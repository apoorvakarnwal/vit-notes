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3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9" r:id="rId9"/>
    <p:sldId id="264" r:id="rId10"/>
    <p:sldId id="265" r:id="rId11"/>
    <p:sldId id="270" r:id="rId12"/>
    <p:sldId id="271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5" r:id="rId35"/>
    <p:sldId id="296" r:id="rId36"/>
    <p:sldId id="297" r:id="rId37"/>
    <p:sldId id="298" r:id="rId38"/>
    <p:sldId id="299" r:id="rId39"/>
    <p:sldId id="300" r:id="rId40"/>
    <p:sldId id="301" r:id="rId41"/>
    <p:sldId id="302" r:id="rId42"/>
    <p:sldId id="303" r:id="rId43"/>
    <p:sldId id="304" r:id="rId44"/>
    <p:sldId id="305" r:id="rId45"/>
    <p:sldId id="306" r:id="rId46"/>
    <p:sldId id="307" r:id="rId47"/>
    <p:sldId id="308" r:id="rId48"/>
    <p:sldId id="309" r:id="rId49"/>
    <p:sldId id="310" r:id="rId50"/>
    <p:sldId id="311" r:id="rId51"/>
    <p:sldId id="312" r:id="rId5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485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CB19E6-489F-4E9B-9585-5B172EDD78ED}" type="datetimeFigureOut">
              <a:rPr lang="en-US" smtClean="0"/>
              <a:t>7/24/2024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43EAEA-6BBC-43A6-9E9C-FBF5B9248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83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192C4-1362-4BBE-9949-F6525E953936}" type="slidenum">
              <a:rPr lang="en-IN" smtClean="0"/>
              <a:t>51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6214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7/24/2024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7/24/2024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7/24/2024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7/24/2024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7/24/2024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7/24/2024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7/24/2024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7/24/2024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7/24/2024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7/24/2024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7/24/2024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7/24/2024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71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12" Type="http://schemas.openxmlformats.org/officeDocument/2006/relationships/image" Target="../media/image7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11" Type="http://schemas.openxmlformats.org/officeDocument/2006/relationships/image" Target="../media/image69.png"/><Relationship Id="rId5" Type="http://schemas.openxmlformats.org/officeDocument/2006/relationships/image" Target="../media/image63.png"/><Relationship Id="rId15" Type="http://schemas.openxmlformats.org/officeDocument/2006/relationships/image" Target="../media/image73.png"/><Relationship Id="rId10" Type="http://schemas.openxmlformats.org/officeDocument/2006/relationships/image" Target="../media/image68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Relationship Id="rId14" Type="http://schemas.openxmlformats.org/officeDocument/2006/relationships/image" Target="../media/image72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80.png"/><Relationship Id="rId18" Type="http://schemas.openxmlformats.org/officeDocument/2006/relationships/image" Target="../media/image85.png"/><Relationship Id="rId26" Type="http://schemas.openxmlformats.org/officeDocument/2006/relationships/image" Target="../media/image64.png"/><Relationship Id="rId3" Type="http://schemas.openxmlformats.org/officeDocument/2006/relationships/image" Target="../media/image61.png"/><Relationship Id="rId21" Type="http://schemas.openxmlformats.org/officeDocument/2006/relationships/image" Target="../media/image69.png"/><Relationship Id="rId7" Type="http://schemas.openxmlformats.org/officeDocument/2006/relationships/image" Target="../media/image75.png"/><Relationship Id="rId12" Type="http://schemas.openxmlformats.org/officeDocument/2006/relationships/image" Target="../media/image79.png"/><Relationship Id="rId17" Type="http://schemas.openxmlformats.org/officeDocument/2006/relationships/image" Target="../media/image84.png"/><Relationship Id="rId25" Type="http://schemas.openxmlformats.org/officeDocument/2006/relationships/image" Target="../media/image89.png"/><Relationship Id="rId2" Type="http://schemas.openxmlformats.org/officeDocument/2006/relationships/image" Target="../media/image60.png"/><Relationship Id="rId16" Type="http://schemas.openxmlformats.org/officeDocument/2006/relationships/image" Target="../media/image83.png"/><Relationship Id="rId20" Type="http://schemas.openxmlformats.org/officeDocument/2006/relationships/image" Target="../media/image68.png"/><Relationship Id="rId29" Type="http://schemas.openxmlformats.org/officeDocument/2006/relationships/image" Target="../media/image7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11" Type="http://schemas.openxmlformats.org/officeDocument/2006/relationships/image" Target="../media/image78.png"/><Relationship Id="rId24" Type="http://schemas.openxmlformats.org/officeDocument/2006/relationships/image" Target="../media/image88.png"/><Relationship Id="rId5" Type="http://schemas.openxmlformats.org/officeDocument/2006/relationships/image" Target="../media/image63.png"/><Relationship Id="rId15" Type="http://schemas.openxmlformats.org/officeDocument/2006/relationships/image" Target="../media/image82.png"/><Relationship Id="rId23" Type="http://schemas.openxmlformats.org/officeDocument/2006/relationships/image" Target="../media/image87.png"/><Relationship Id="rId28" Type="http://schemas.openxmlformats.org/officeDocument/2006/relationships/image" Target="../media/image70.png"/><Relationship Id="rId10" Type="http://schemas.openxmlformats.org/officeDocument/2006/relationships/image" Target="../media/image66.png"/><Relationship Id="rId19" Type="http://schemas.openxmlformats.org/officeDocument/2006/relationships/image" Target="../media/image67.png"/><Relationship Id="rId31" Type="http://schemas.openxmlformats.org/officeDocument/2006/relationships/image" Target="../media/image73.png"/><Relationship Id="rId4" Type="http://schemas.openxmlformats.org/officeDocument/2006/relationships/image" Target="../media/image62.png"/><Relationship Id="rId9" Type="http://schemas.openxmlformats.org/officeDocument/2006/relationships/image" Target="../media/image77.png"/><Relationship Id="rId14" Type="http://schemas.openxmlformats.org/officeDocument/2006/relationships/image" Target="../media/image81.png"/><Relationship Id="rId22" Type="http://schemas.openxmlformats.org/officeDocument/2006/relationships/image" Target="../media/image86.png"/><Relationship Id="rId27" Type="http://schemas.openxmlformats.org/officeDocument/2006/relationships/image" Target="../media/image65.png"/><Relationship Id="rId30" Type="http://schemas.openxmlformats.org/officeDocument/2006/relationships/image" Target="../media/image72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image" Target="../media/image93.png"/><Relationship Id="rId18" Type="http://schemas.openxmlformats.org/officeDocument/2006/relationships/image" Target="../media/image95.png"/><Relationship Id="rId26" Type="http://schemas.openxmlformats.org/officeDocument/2006/relationships/image" Target="../media/image99.png"/><Relationship Id="rId39" Type="http://schemas.openxmlformats.org/officeDocument/2006/relationships/image" Target="../media/image107.png"/><Relationship Id="rId3" Type="http://schemas.openxmlformats.org/officeDocument/2006/relationships/image" Target="../media/image61.png"/><Relationship Id="rId21" Type="http://schemas.openxmlformats.org/officeDocument/2006/relationships/image" Target="../media/image81.png"/><Relationship Id="rId34" Type="http://schemas.openxmlformats.org/officeDocument/2006/relationships/image" Target="../media/image102.png"/><Relationship Id="rId42" Type="http://schemas.openxmlformats.org/officeDocument/2006/relationships/image" Target="../media/image110.png"/><Relationship Id="rId7" Type="http://schemas.openxmlformats.org/officeDocument/2006/relationships/image" Target="../media/image90.png"/><Relationship Id="rId12" Type="http://schemas.openxmlformats.org/officeDocument/2006/relationships/image" Target="../media/image77.png"/><Relationship Id="rId17" Type="http://schemas.openxmlformats.org/officeDocument/2006/relationships/image" Target="../media/image79.png"/><Relationship Id="rId25" Type="http://schemas.openxmlformats.org/officeDocument/2006/relationships/image" Target="../media/image83.png"/><Relationship Id="rId33" Type="http://schemas.openxmlformats.org/officeDocument/2006/relationships/image" Target="../media/image69.png"/><Relationship Id="rId38" Type="http://schemas.openxmlformats.org/officeDocument/2006/relationships/image" Target="../media/image106.png"/><Relationship Id="rId2" Type="http://schemas.openxmlformats.org/officeDocument/2006/relationships/image" Target="../media/image60.png"/><Relationship Id="rId16" Type="http://schemas.openxmlformats.org/officeDocument/2006/relationships/image" Target="../media/image94.png"/><Relationship Id="rId20" Type="http://schemas.openxmlformats.org/officeDocument/2006/relationships/image" Target="../media/image96.png"/><Relationship Id="rId29" Type="http://schemas.openxmlformats.org/officeDocument/2006/relationships/image" Target="../media/image85.png"/><Relationship Id="rId41" Type="http://schemas.openxmlformats.org/officeDocument/2006/relationships/image" Target="../media/image10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11" Type="http://schemas.openxmlformats.org/officeDocument/2006/relationships/image" Target="../media/image92.png"/><Relationship Id="rId24" Type="http://schemas.openxmlformats.org/officeDocument/2006/relationships/image" Target="../media/image98.png"/><Relationship Id="rId32" Type="http://schemas.openxmlformats.org/officeDocument/2006/relationships/image" Target="../media/image68.png"/><Relationship Id="rId37" Type="http://schemas.openxmlformats.org/officeDocument/2006/relationships/image" Target="../media/image105.png"/><Relationship Id="rId40" Type="http://schemas.openxmlformats.org/officeDocument/2006/relationships/image" Target="../media/image108.png"/><Relationship Id="rId5" Type="http://schemas.openxmlformats.org/officeDocument/2006/relationships/image" Target="../media/image63.png"/><Relationship Id="rId15" Type="http://schemas.openxmlformats.org/officeDocument/2006/relationships/image" Target="../media/image78.png"/><Relationship Id="rId23" Type="http://schemas.openxmlformats.org/officeDocument/2006/relationships/image" Target="../media/image82.png"/><Relationship Id="rId28" Type="http://schemas.openxmlformats.org/officeDocument/2006/relationships/image" Target="../media/image100.png"/><Relationship Id="rId36" Type="http://schemas.openxmlformats.org/officeDocument/2006/relationships/image" Target="../media/image104.png"/><Relationship Id="rId10" Type="http://schemas.openxmlformats.org/officeDocument/2006/relationships/image" Target="../media/image76.png"/><Relationship Id="rId19" Type="http://schemas.openxmlformats.org/officeDocument/2006/relationships/image" Target="../media/image80.png"/><Relationship Id="rId31" Type="http://schemas.openxmlformats.org/officeDocument/2006/relationships/image" Target="../media/image67.png"/><Relationship Id="rId4" Type="http://schemas.openxmlformats.org/officeDocument/2006/relationships/image" Target="../media/image62.png"/><Relationship Id="rId9" Type="http://schemas.openxmlformats.org/officeDocument/2006/relationships/image" Target="../media/image91.png"/><Relationship Id="rId14" Type="http://schemas.openxmlformats.org/officeDocument/2006/relationships/image" Target="../media/image66.png"/><Relationship Id="rId22" Type="http://schemas.openxmlformats.org/officeDocument/2006/relationships/image" Target="../media/image97.png"/><Relationship Id="rId27" Type="http://schemas.openxmlformats.org/officeDocument/2006/relationships/image" Target="../media/image84.png"/><Relationship Id="rId30" Type="http://schemas.openxmlformats.org/officeDocument/2006/relationships/image" Target="../media/image101.png"/><Relationship Id="rId35" Type="http://schemas.openxmlformats.org/officeDocument/2006/relationships/image" Target="../media/image103.png"/><Relationship Id="rId43" Type="http://schemas.openxmlformats.org/officeDocument/2006/relationships/image" Target="../media/image111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image" Target="../media/image93.png"/><Relationship Id="rId18" Type="http://schemas.openxmlformats.org/officeDocument/2006/relationships/image" Target="../media/image95.png"/><Relationship Id="rId26" Type="http://schemas.openxmlformats.org/officeDocument/2006/relationships/image" Target="../media/image99.png"/><Relationship Id="rId39" Type="http://schemas.openxmlformats.org/officeDocument/2006/relationships/image" Target="../media/image107.png"/><Relationship Id="rId3" Type="http://schemas.openxmlformats.org/officeDocument/2006/relationships/image" Target="../media/image61.png"/><Relationship Id="rId21" Type="http://schemas.openxmlformats.org/officeDocument/2006/relationships/image" Target="../media/image81.png"/><Relationship Id="rId34" Type="http://schemas.openxmlformats.org/officeDocument/2006/relationships/image" Target="../media/image102.png"/><Relationship Id="rId42" Type="http://schemas.openxmlformats.org/officeDocument/2006/relationships/image" Target="../media/image114.png"/><Relationship Id="rId7" Type="http://schemas.openxmlformats.org/officeDocument/2006/relationships/image" Target="../media/image90.png"/><Relationship Id="rId12" Type="http://schemas.openxmlformats.org/officeDocument/2006/relationships/image" Target="../media/image77.png"/><Relationship Id="rId17" Type="http://schemas.openxmlformats.org/officeDocument/2006/relationships/image" Target="../media/image79.png"/><Relationship Id="rId25" Type="http://schemas.openxmlformats.org/officeDocument/2006/relationships/image" Target="../media/image83.png"/><Relationship Id="rId33" Type="http://schemas.openxmlformats.org/officeDocument/2006/relationships/image" Target="../media/image69.png"/><Relationship Id="rId38" Type="http://schemas.openxmlformats.org/officeDocument/2006/relationships/image" Target="../media/image106.png"/><Relationship Id="rId46" Type="http://schemas.openxmlformats.org/officeDocument/2006/relationships/image" Target="../media/image118.png"/><Relationship Id="rId2" Type="http://schemas.openxmlformats.org/officeDocument/2006/relationships/image" Target="../media/image60.png"/><Relationship Id="rId16" Type="http://schemas.openxmlformats.org/officeDocument/2006/relationships/image" Target="../media/image94.png"/><Relationship Id="rId20" Type="http://schemas.openxmlformats.org/officeDocument/2006/relationships/image" Target="../media/image96.png"/><Relationship Id="rId29" Type="http://schemas.openxmlformats.org/officeDocument/2006/relationships/image" Target="../media/image85.png"/><Relationship Id="rId41" Type="http://schemas.openxmlformats.org/officeDocument/2006/relationships/image" Target="../media/image1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11" Type="http://schemas.openxmlformats.org/officeDocument/2006/relationships/image" Target="../media/image92.png"/><Relationship Id="rId24" Type="http://schemas.openxmlformats.org/officeDocument/2006/relationships/image" Target="../media/image98.png"/><Relationship Id="rId32" Type="http://schemas.openxmlformats.org/officeDocument/2006/relationships/image" Target="../media/image68.png"/><Relationship Id="rId37" Type="http://schemas.openxmlformats.org/officeDocument/2006/relationships/image" Target="../media/image105.png"/><Relationship Id="rId40" Type="http://schemas.openxmlformats.org/officeDocument/2006/relationships/image" Target="../media/image112.png"/><Relationship Id="rId45" Type="http://schemas.openxmlformats.org/officeDocument/2006/relationships/image" Target="../media/image117.png"/><Relationship Id="rId5" Type="http://schemas.openxmlformats.org/officeDocument/2006/relationships/image" Target="../media/image63.png"/><Relationship Id="rId15" Type="http://schemas.openxmlformats.org/officeDocument/2006/relationships/image" Target="../media/image78.png"/><Relationship Id="rId23" Type="http://schemas.openxmlformats.org/officeDocument/2006/relationships/image" Target="../media/image82.png"/><Relationship Id="rId28" Type="http://schemas.openxmlformats.org/officeDocument/2006/relationships/image" Target="../media/image100.png"/><Relationship Id="rId36" Type="http://schemas.openxmlformats.org/officeDocument/2006/relationships/image" Target="../media/image104.png"/><Relationship Id="rId10" Type="http://schemas.openxmlformats.org/officeDocument/2006/relationships/image" Target="../media/image76.png"/><Relationship Id="rId19" Type="http://schemas.openxmlformats.org/officeDocument/2006/relationships/image" Target="../media/image80.png"/><Relationship Id="rId31" Type="http://schemas.openxmlformats.org/officeDocument/2006/relationships/image" Target="../media/image67.png"/><Relationship Id="rId44" Type="http://schemas.openxmlformats.org/officeDocument/2006/relationships/image" Target="../media/image116.png"/><Relationship Id="rId4" Type="http://schemas.openxmlformats.org/officeDocument/2006/relationships/image" Target="../media/image62.png"/><Relationship Id="rId9" Type="http://schemas.openxmlformats.org/officeDocument/2006/relationships/image" Target="../media/image91.png"/><Relationship Id="rId14" Type="http://schemas.openxmlformats.org/officeDocument/2006/relationships/image" Target="../media/image66.png"/><Relationship Id="rId22" Type="http://schemas.openxmlformats.org/officeDocument/2006/relationships/image" Target="../media/image97.png"/><Relationship Id="rId27" Type="http://schemas.openxmlformats.org/officeDocument/2006/relationships/image" Target="../media/image84.png"/><Relationship Id="rId30" Type="http://schemas.openxmlformats.org/officeDocument/2006/relationships/image" Target="../media/image101.png"/><Relationship Id="rId35" Type="http://schemas.openxmlformats.org/officeDocument/2006/relationships/image" Target="../media/image103.png"/><Relationship Id="rId43" Type="http://schemas.openxmlformats.org/officeDocument/2006/relationships/image" Target="../media/image115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image" Target="../media/image93.png"/><Relationship Id="rId18" Type="http://schemas.openxmlformats.org/officeDocument/2006/relationships/image" Target="../media/image95.png"/><Relationship Id="rId26" Type="http://schemas.openxmlformats.org/officeDocument/2006/relationships/image" Target="../media/image99.png"/><Relationship Id="rId39" Type="http://schemas.openxmlformats.org/officeDocument/2006/relationships/image" Target="../media/image107.png"/><Relationship Id="rId3" Type="http://schemas.openxmlformats.org/officeDocument/2006/relationships/image" Target="../media/image61.png"/><Relationship Id="rId21" Type="http://schemas.openxmlformats.org/officeDocument/2006/relationships/image" Target="../media/image81.png"/><Relationship Id="rId34" Type="http://schemas.openxmlformats.org/officeDocument/2006/relationships/image" Target="../media/image102.png"/><Relationship Id="rId42" Type="http://schemas.openxmlformats.org/officeDocument/2006/relationships/image" Target="../media/image120.png"/><Relationship Id="rId7" Type="http://schemas.openxmlformats.org/officeDocument/2006/relationships/image" Target="../media/image90.png"/><Relationship Id="rId12" Type="http://schemas.openxmlformats.org/officeDocument/2006/relationships/image" Target="../media/image77.png"/><Relationship Id="rId17" Type="http://schemas.openxmlformats.org/officeDocument/2006/relationships/image" Target="../media/image79.png"/><Relationship Id="rId25" Type="http://schemas.openxmlformats.org/officeDocument/2006/relationships/image" Target="../media/image83.png"/><Relationship Id="rId33" Type="http://schemas.openxmlformats.org/officeDocument/2006/relationships/image" Target="../media/image69.png"/><Relationship Id="rId38" Type="http://schemas.openxmlformats.org/officeDocument/2006/relationships/image" Target="../media/image106.png"/><Relationship Id="rId46" Type="http://schemas.openxmlformats.org/officeDocument/2006/relationships/image" Target="../media/image122.png"/><Relationship Id="rId2" Type="http://schemas.openxmlformats.org/officeDocument/2006/relationships/image" Target="../media/image60.png"/><Relationship Id="rId16" Type="http://schemas.openxmlformats.org/officeDocument/2006/relationships/image" Target="../media/image94.png"/><Relationship Id="rId20" Type="http://schemas.openxmlformats.org/officeDocument/2006/relationships/image" Target="../media/image96.png"/><Relationship Id="rId29" Type="http://schemas.openxmlformats.org/officeDocument/2006/relationships/image" Target="../media/image85.png"/><Relationship Id="rId41" Type="http://schemas.openxmlformats.org/officeDocument/2006/relationships/image" Target="../media/image1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11" Type="http://schemas.openxmlformats.org/officeDocument/2006/relationships/image" Target="../media/image92.png"/><Relationship Id="rId24" Type="http://schemas.openxmlformats.org/officeDocument/2006/relationships/image" Target="../media/image98.png"/><Relationship Id="rId32" Type="http://schemas.openxmlformats.org/officeDocument/2006/relationships/image" Target="../media/image68.png"/><Relationship Id="rId37" Type="http://schemas.openxmlformats.org/officeDocument/2006/relationships/image" Target="../media/image105.png"/><Relationship Id="rId40" Type="http://schemas.openxmlformats.org/officeDocument/2006/relationships/image" Target="../media/image112.png"/><Relationship Id="rId45" Type="http://schemas.openxmlformats.org/officeDocument/2006/relationships/image" Target="../media/image117.png"/><Relationship Id="rId5" Type="http://schemas.openxmlformats.org/officeDocument/2006/relationships/image" Target="../media/image63.png"/><Relationship Id="rId15" Type="http://schemas.openxmlformats.org/officeDocument/2006/relationships/image" Target="../media/image78.png"/><Relationship Id="rId23" Type="http://schemas.openxmlformats.org/officeDocument/2006/relationships/image" Target="../media/image82.png"/><Relationship Id="rId28" Type="http://schemas.openxmlformats.org/officeDocument/2006/relationships/image" Target="../media/image100.png"/><Relationship Id="rId36" Type="http://schemas.openxmlformats.org/officeDocument/2006/relationships/image" Target="../media/image104.png"/><Relationship Id="rId10" Type="http://schemas.openxmlformats.org/officeDocument/2006/relationships/image" Target="../media/image76.png"/><Relationship Id="rId19" Type="http://schemas.openxmlformats.org/officeDocument/2006/relationships/image" Target="../media/image80.png"/><Relationship Id="rId31" Type="http://schemas.openxmlformats.org/officeDocument/2006/relationships/image" Target="../media/image67.png"/><Relationship Id="rId44" Type="http://schemas.openxmlformats.org/officeDocument/2006/relationships/image" Target="../media/image116.png"/><Relationship Id="rId4" Type="http://schemas.openxmlformats.org/officeDocument/2006/relationships/image" Target="../media/image62.png"/><Relationship Id="rId9" Type="http://schemas.openxmlformats.org/officeDocument/2006/relationships/image" Target="../media/image91.png"/><Relationship Id="rId14" Type="http://schemas.openxmlformats.org/officeDocument/2006/relationships/image" Target="../media/image66.png"/><Relationship Id="rId22" Type="http://schemas.openxmlformats.org/officeDocument/2006/relationships/image" Target="../media/image97.png"/><Relationship Id="rId27" Type="http://schemas.openxmlformats.org/officeDocument/2006/relationships/image" Target="../media/image84.png"/><Relationship Id="rId30" Type="http://schemas.openxmlformats.org/officeDocument/2006/relationships/image" Target="../media/image101.png"/><Relationship Id="rId35" Type="http://schemas.openxmlformats.org/officeDocument/2006/relationships/image" Target="../media/image103.png"/><Relationship Id="rId43" Type="http://schemas.openxmlformats.org/officeDocument/2006/relationships/image" Target="../media/image121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image" Target="../media/image93.png"/><Relationship Id="rId18" Type="http://schemas.openxmlformats.org/officeDocument/2006/relationships/image" Target="../media/image95.png"/><Relationship Id="rId26" Type="http://schemas.openxmlformats.org/officeDocument/2006/relationships/image" Target="../media/image99.png"/><Relationship Id="rId39" Type="http://schemas.openxmlformats.org/officeDocument/2006/relationships/image" Target="../media/image107.png"/><Relationship Id="rId3" Type="http://schemas.openxmlformats.org/officeDocument/2006/relationships/image" Target="../media/image61.png"/><Relationship Id="rId21" Type="http://schemas.openxmlformats.org/officeDocument/2006/relationships/image" Target="../media/image81.png"/><Relationship Id="rId34" Type="http://schemas.openxmlformats.org/officeDocument/2006/relationships/image" Target="../media/image102.png"/><Relationship Id="rId42" Type="http://schemas.openxmlformats.org/officeDocument/2006/relationships/image" Target="../media/image124.png"/><Relationship Id="rId7" Type="http://schemas.openxmlformats.org/officeDocument/2006/relationships/image" Target="../media/image90.png"/><Relationship Id="rId12" Type="http://schemas.openxmlformats.org/officeDocument/2006/relationships/image" Target="../media/image77.png"/><Relationship Id="rId17" Type="http://schemas.openxmlformats.org/officeDocument/2006/relationships/image" Target="../media/image79.png"/><Relationship Id="rId25" Type="http://schemas.openxmlformats.org/officeDocument/2006/relationships/image" Target="../media/image83.png"/><Relationship Id="rId33" Type="http://schemas.openxmlformats.org/officeDocument/2006/relationships/image" Target="../media/image69.png"/><Relationship Id="rId38" Type="http://schemas.openxmlformats.org/officeDocument/2006/relationships/image" Target="../media/image106.png"/><Relationship Id="rId46" Type="http://schemas.openxmlformats.org/officeDocument/2006/relationships/image" Target="../media/image126.png"/><Relationship Id="rId2" Type="http://schemas.openxmlformats.org/officeDocument/2006/relationships/image" Target="../media/image60.png"/><Relationship Id="rId16" Type="http://schemas.openxmlformats.org/officeDocument/2006/relationships/image" Target="../media/image94.png"/><Relationship Id="rId20" Type="http://schemas.openxmlformats.org/officeDocument/2006/relationships/image" Target="../media/image96.png"/><Relationship Id="rId29" Type="http://schemas.openxmlformats.org/officeDocument/2006/relationships/image" Target="../media/image85.png"/><Relationship Id="rId41" Type="http://schemas.openxmlformats.org/officeDocument/2006/relationships/image" Target="../media/image1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11" Type="http://schemas.openxmlformats.org/officeDocument/2006/relationships/image" Target="../media/image92.png"/><Relationship Id="rId24" Type="http://schemas.openxmlformats.org/officeDocument/2006/relationships/image" Target="../media/image98.png"/><Relationship Id="rId32" Type="http://schemas.openxmlformats.org/officeDocument/2006/relationships/image" Target="../media/image68.png"/><Relationship Id="rId37" Type="http://schemas.openxmlformats.org/officeDocument/2006/relationships/image" Target="../media/image105.png"/><Relationship Id="rId40" Type="http://schemas.openxmlformats.org/officeDocument/2006/relationships/image" Target="../media/image112.png"/><Relationship Id="rId45" Type="http://schemas.openxmlformats.org/officeDocument/2006/relationships/image" Target="../media/image117.png"/><Relationship Id="rId5" Type="http://schemas.openxmlformats.org/officeDocument/2006/relationships/image" Target="../media/image63.png"/><Relationship Id="rId15" Type="http://schemas.openxmlformats.org/officeDocument/2006/relationships/image" Target="../media/image78.png"/><Relationship Id="rId23" Type="http://schemas.openxmlformats.org/officeDocument/2006/relationships/image" Target="../media/image82.png"/><Relationship Id="rId28" Type="http://schemas.openxmlformats.org/officeDocument/2006/relationships/image" Target="../media/image100.png"/><Relationship Id="rId36" Type="http://schemas.openxmlformats.org/officeDocument/2006/relationships/image" Target="../media/image104.png"/><Relationship Id="rId10" Type="http://schemas.openxmlformats.org/officeDocument/2006/relationships/image" Target="../media/image76.png"/><Relationship Id="rId19" Type="http://schemas.openxmlformats.org/officeDocument/2006/relationships/image" Target="../media/image80.png"/><Relationship Id="rId31" Type="http://schemas.openxmlformats.org/officeDocument/2006/relationships/image" Target="../media/image67.png"/><Relationship Id="rId44" Type="http://schemas.openxmlformats.org/officeDocument/2006/relationships/image" Target="../media/image116.png"/><Relationship Id="rId4" Type="http://schemas.openxmlformats.org/officeDocument/2006/relationships/image" Target="../media/image62.png"/><Relationship Id="rId9" Type="http://schemas.openxmlformats.org/officeDocument/2006/relationships/image" Target="../media/image91.png"/><Relationship Id="rId14" Type="http://schemas.openxmlformats.org/officeDocument/2006/relationships/image" Target="../media/image66.png"/><Relationship Id="rId22" Type="http://schemas.openxmlformats.org/officeDocument/2006/relationships/image" Target="../media/image97.png"/><Relationship Id="rId27" Type="http://schemas.openxmlformats.org/officeDocument/2006/relationships/image" Target="../media/image84.png"/><Relationship Id="rId30" Type="http://schemas.openxmlformats.org/officeDocument/2006/relationships/image" Target="../media/image101.png"/><Relationship Id="rId35" Type="http://schemas.openxmlformats.org/officeDocument/2006/relationships/image" Target="../media/image103.png"/><Relationship Id="rId43" Type="http://schemas.openxmlformats.org/officeDocument/2006/relationships/image" Target="../media/image125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image" Target="../media/image93.png"/><Relationship Id="rId18" Type="http://schemas.openxmlformats.org/officeDocument/2006/relationships/image" Target="../media/image95.png"/><Relationship Id="rId26" Type="http://schemas.openxmlformats.org/officeDocument/2006/relationships/image" Target="../media/image99.png"/><Relationship Id="rId39" Type="http://schemas.openxmlformats.org/officeDocument/2006/relationships/image" Target="../media/image107.png"/><Relationship Id="rId3" Type="http://schemas.openxmlformats.org/officeDocument/2006/relationships/image" Target="../media/image61.png"/><Relationship Id="rId21" Type="http://schemas.openxmlformats.org/officeDocument/2006/relationships/image" Target="../media/image81.png"/><Relationship Id="rId34" Type="http://schemas.openxmlformats.org/officeDocument/2006/relationships/image" Target="../media/image102.png"/><Relationship Id="rId42" Type="http://schemas.openxmlformats.org/officeDocument/2006/relationships/image" Target="../media/image129.png"/><Relationship Id="rId7" Type="http://schemas.openxmlformats.org/officeDocument/2006/relationships/image" Target="../media/image90.png"/><Relationship Id="rId12" Type="http://schemas.openxmlformats.org/officeDocument/2006/relationships/image" Target="../media/image77.png"/><Relationship Id="rId17" Type="http://schemas.openxmlformats.org/officeDocument/2006/relationships/image" Target="../media/image79.png"/><Relationship Id="rId25" Type="http://schemas.openxmlformats.org/officeDocument/2006/relationships/image" Target="../media/image83.png"/><Relationship Id="rId33" Type="http://schemas.openxmlformats.org/officeDocument/2006/relationships/image" Target="../media/image69.png"/><Relationship Id="rId38" Type="http://schemas.openxmlformats.org/officeDocument/2006/relationships/image" Target="../media/image106.png"/><Relationship Id="rId46" Type="http://schemas.openxmlformats.org/officeDocument/2006/relationships/image" Target="../media/image131.png"/><Relationship Id="rId2" Type="http://schemas.openxmlformats.org/officeDocument/2006/relationships/image" Target="../media/image60.png"/><Relationship Id="rId16" Type="http://schemas.openxmlformats.org/officeDocument/2006/relationships/image" Target="../media/image94.png"/><Relationship Id="rId20" Type="http://schemas.openxmlformats.org/officeDocument/2006/relationships/image" Target="../media/image96.png"/><Relationship Id="rId29" Type="http://schemas.openxmlformats.org/officeDocument/2006/relationships/image" Target="../media/image85.png"/><Relationship Id="rId41" Type="http://schemas.openxmlformats.org/officeDocument/2006/relationships/image" Target="../media/image1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11" Type="http://schemas.openxmlformats.org/officeDocument/2006/relationships/image" Target="../media/image92.png"/><Relationship Id="rId24" Type="http://schemas.openxmlformats.org/officeDocument/2006/relationships/image" Target="../media/image98.png"/><Relationship Id="rId32" Type="http://schemas.openxmlformats.org/officeDocument/2006/relationships/image" Target="../media/image68.png"/><Relationship Id="rId37" Type="http://schemas.openxmlformats.org/officeDocument/2006/relationships/image" Target="../media/image105.png"/><Relationship Id="rId40" Type="http://schemas.openxmlformats.org/officeDocument/2006/relationships/image" Target="../media/image127.png"/><Relationship Id="rId45" Type="http://schemas.openxmlformats.org/officeDocument/2006/relationships/image" Target="../media/image117.png"/><Relationship Id="rId5" Type="http://schemas.openxmlformats.org/officeDocument/2006/relationships/image" Target="../media/image63.png"/><Relationship Id="rId15" Type="http://schemas.openxmlformats.org/officeDocument/2006/relationships/image" Target="../media/image78.png"/><Relationship Id="rId23" Type="http://schemas.openxmlformats.org/officeDocument/2006/relationships/image" Target="../media/image82.png"/><Relationship Id="rId28" Type="http://schemas.openxmlformats.org/officeDocument/2006/relationships/image" Target="../media/image100.png"/><Relationship Id="rId36" Type="http://schemas.openxmlformats.org/officeDocument/2006/relationships/image" Target="../media/image104.png"/><Relationship Id="rId10" Type="http://schemas.openxmlformats.org/officeDocument/2006/relationships/image" Target="../media/image76.png"/><Relationship Id="rId19" Type="http://schemas.openxmlformats.org/officeDocument/2006/relationships/image" Target="../media/image80.png"/><Relationship Id="rId31" Type="http://schemas.openxmlformats.org/officeDocument/2006/relationships/image" Target="../media/image67.png"/><Relationship Id="rId44" Type="http://schemas.openxmlformats.org/officeDocument/2006/relationships/image" Target="../media/image116.png"/><Relationship Id="rId4" Type="http://schemas.openxmlformats.org/officeDocument/2006/relationships/image" Target="../media/image62.png"/><Relationship Id="rId9" Type="http://schemas.openxmlformats.org/officeDocument/2006/relationships/image" Target="../media/image91.png"/><Relationship Id="rId14" Type="http://schemas.openxmlformats.org/officeDocument/2006/relationships/image" Target="../media/image66.png"/><Relationship Id="rId22" Type="http://schemas.openxmlformats.org/officeDocument/2006/relationships/image" Target="../media/image97.png"/><Relationship Id="rId27" Type="http://schemas.openxmlformats.org/officeDocument/2006/relationships/image" Target="../media/image84.png"/><Relationship Id="rId30" Type="http://schemas.openxmlformats.org/officeDocument/2006/relationships/image" Target="../media/image101.png"/><Relationship Id="rId35" Type="http://schemas.openxmlformats.org/officeDocument/2006/relationships/image" Target="../media/image103.png"/><Relationship Id="rId43" Type="http://schemas.openxmlformats.org/officeDocument/2006/relationships/image" Target="../media/image130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image" Target="../media/image93.png"/><Relationship Id="rId18" Type="http://schemas.openxmlformats.org/officeDocument/2006/relationships/image" Target="../media/image95.png"/><Relationship Id="rId26" Type="http://schemas.openxmlformats.org/officeDocument/2006/relationships/image" Target="../media/image99.png"/><Relationship Id="rId39" Type="http://schemas.openxmlformats.org/officeDocument/2006/relationships/image" Target="../media/image107.png"/><Relationship Id="rId3" Type="http://schemas.openxmlformats.org/officeDocument/2006/relationships/image" Target="../media/image61.png"/><Relationship Id="rId21" Type="http://schemas.openxmlformats.org/officeDocument/2006/relationships/image" Target="../media/image81.png"/><Relationship Id="rId34" Type="http://schemas.openxmlformats.org/officeDocument/2006/relationships/image" Target="../media/image102.png"/><Relationship Id="rId42" Type="http://schemas.openxmlformats.org/officeDocument/2006/relationships/image" Target="../media/image134.png"/><Relationship Id="rId7" Type="http://schemas.openxmlformats.org/officeDocument/2006/relationships/image" Target="../media/image90.png"/><Relationship Id="rId12" Type="http://schemas.openxmlformats.org/officeDocument/2006/relationships/image" Target="../media/image77.png"/><Relationship Id="rId17" Type="http://schemas.openxmlformats.org/officeDocument/2006/relationships/image" Target="../media/image79.png"/><Relationship Id="rId25" Type="http://schemas.openxmlformats.org/officeDocument/2006/relationships/image" Target="../media/image83.png"/><Relationship Id="rId33" Type="http://schemas.openxmlformats.org/officeDocument/2006/relationships/image" Target="../media/image69.png"/><Relationship Id="rId38" Type="http://schemas.openxmlformats.org/officeDocument/2006/relationships/image" Target="../media/image106.png"/><Relationship Id="rId2" Type="http://schemas.openxmlformats.org/officeDocument/2006/relationships/image" Target="../media/image60.png"/><Relationship Id="rId16" Type="http://schemas.openxmlformats.org/officeDocument/2006/relationships/image" Target="../media/image94.png"/><Relationship Id="rId20" Type="http://schemas.openxmlformats.org/officeDocument/2006/relationships/image" Target="../media/image96.png"/><Relationship Id="rId29" Type="http://schemas.openxmlformats.org/officeDocument/2006/relationships/image" Target="../media/image85.png"/><Relationship Id="rId41" Type="http://schemas.openxmlformats.org/officeDocument/2006/relationships/image" Target="../media/image1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11" Type="http://schemas.openxmlformats.org/officeDocument/2006/relationships/image" Target="../media/image92.png"/><Relationship Id="rId24" Type="http://schemas.openxmlformats.org/officeDocument/2006/relationships/image" Target="../media/image98.png"/><Relationship Id="rId32" Type="http://schemas.openxmlformats.org/officeDocument/2006/relationships/image" Target="../media/image68.png"/><Relationship Id="rId37" Type="http://schemas.openxmlformats.org/officeDocument/2006/relationships/image" Target="../media/image105.png"/><Relationship Id="rId40" Type="http://schemas.openxmlformats.org/officeDocument/2006/relationships/image" Target="../media/image132.png"/><Relationship Id="rId5" Type="http://schemas.openxmlformats.org/officeDocument/2006/relationships/image" Target="../media/image63.png"/><Relationship Id="rId15" Type="http://schemas.openxmlformats.org/officeDocument/2006/relationships/image" Target="../media/image78.png"/><Relationship Id="rId23" Type="http://schemas.openxmlformats.org/officeDocument/2006/relationships/image" Target="../media/image82.png"/><Relationship Id="rId28" Type="http://schemas.openxmlformats.org/officeDocument/2006/relationships/image" Target="../media/image100.png"/><Relationship Id="rId36" Type="http://schemas.openxmlformats.org/officeDocument/2006/relationships/image" Target="../media/image104.png"/><Relationship Id="rId10" Type="http://schemas.openxmlformats.org/officeDocument/2006/relationships/image" Target="../media/image76.png"/><Relationship Id="rId19" Type="http://schemas.openxmlformats.org/officeDocument/2006/relationships/image" Target="../media/image80.png"/><Relationship Id="rId31" Type="http://schemas.openxmlformats.org/officeDocument/2006/relationships/image" Target="../media/image67.png"/><Relationship Id="rId4" Type="http://schemas.openxmlformats.org/officeDocument/2006/relationships/image" Target="../media/image62.png"/><Relationship Id="rId9" Type="http://schemas.openxmlformats.org/officeDocument/2006/relationships/image" Target="../media/image91.png"/><Relationship Id="rId14" Type="http://schemas.openxmlformats.org/officeDocument/2006/relationships/image" Target="../media/image66.png"/><Relationship Id="rId22" Type="http://schemas.openxmlformats.org/officeDocument/2006/relationships/image" Target="../media/image97.png"/><Relationship Id="rId27" Type="http://schemas.openxmlformats.org/officeDocument/2006/relationships/image" Target="../media/image84.png"/><Relationship Id="rId30" Type="http://schemas.openxmlformats.org/officeDocument/2006/relationships/image" Target="../media/image101.png"/><Relationship Id="rId35" Type="http://schemas.openxmlformats.org/officeDocument/2006/relationships/image" Target="../media/image103.png"/><Relationship Id="rId43" Type="http://schemas.openxmlformats.org/officeDocument/2006/relationships/image" Target="../media/image135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5325" y="802298"/>
            <a:ext cx="10359527" cy="2541431"/>
          </a:xfrm>
        </p:spPr>
        <p:txBody>
          <a:bodyPr>
            <a:normAutofit/>
          </a:bodyPr>
          <a:lstStyle/>
          <a:p>
            <a:r>
              <a:rPr lang="en-US" dirty="0"/>
              <a:t>Compiler Design</a:t>
            </a:r>
            <a:br>
              <a:rPr lang="en-US" dirty="0"/>
            </a:br>
            <a:r>
              <a:rPr lang="en-US" dirty="0" smtClean="0"/>
              <a:t>Finite automata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09825" y="3531204"/>
            <a:ext cx="8645027" cy="1555146"/>
          </a:xfrm>
        </p:spPr>
        <p:txBody>
          <a:bodyPr>
            <a:normAutofit/>
          </a:bodyPr>
          <a:lstStyle/>
          <a:p>
            <a:r>
              <a:rPr lang="en-US" dirty="0" smtClean="0"/>
              <a:t>Dr. Bhawana </a:t>
            </a:r>
            <a:r>
              <a:rPr lang="en-US" dirty="0" smtClean="0"/>
              <a:t>Tyagi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32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1867502" y="2252115"/>
            <a:ext cx="8637587" cy="2541587"/>
          </a:xfrm>
        </p:spPr>
        <p:txBody>
          <a:bodyPr>
            <a:normAutofit/>
          </a:bodyPr>
          <a:lstStyle/>
          <a:p>
            <a:pPr algn="ctr"/>
            <a:r>
              <a:rPr lang="en-US" sz="7200" dirty="0" smtClean="0"/>
              <a:t>Finite Automata</a:t>
            </a:r>
            <a:endParaRPr lang="en-US" sz="7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Automata</a:t>
            </a: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609600" y="1939159"/>
            <a:ext cx="10972800" cy="4187005"/>
          </a:xfrm>
        </p:spPr>
        <p:txBody>
          <a:bodyPr/>
          <a:lstStyle/>
          <a:p>
            <a:pPr algn="just"/>
            <a:r>
              <a:rPr lang="en-US" dirty="0" smtClean="0">
                <a:latin typeface="Arial" pitchFamily="34" charset="0"/>
                <a:cs typeface="Arial" pitchFamily="34" charset="0"/>
              </a:rPr>
              <a:t>It is a simplified, formalized model of a computer. It may be used to compute the membership for a language.</a:t>
            </a:r>
          </a:p>
          <a:p>
            <a:pPr algn="just"/>
            <a:r>
              <a:rPr lang="en-US" dirty="0" smtClean="0">
                <a:latin typeface="Arial" pitchFamily="34" charset="0"/>
                <a:cs typeface="Arial" pitchFamily="34" charset="0"/>
              </a:rPr>
              <a:t>Model of a discrete automaton is:</a:t>
            </a:r>
          </a:p>
          <a:p>
            <a:pPr algn="just">
              <a:buNone/>
            </a:pP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25601" y="3429000"/>
            <a:ext cx="659130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Characteristics of an Automata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880571"/>
          </a:xfrm>
        </p:spPr>
        <p:txBody>
          <a:bodyPr>
            <a:normAutofit fontScale="92500" lnSpcReduction="20000"/>
          </a:bodyPr>
          <a:lstStyle/>
          <a:p>
            <a:pPr marL="514350" indent="-514350" algn="just">
              <a:buAutoNum type="arabicPeriod"/>
            </a:pPr>
            <a:r>
              <a:rPr lang="en-US" b="1" dirty="0" smtClean="0">
                <a:latin typeface="Arial" pitchFamily="34" charset="0"/>
                <a:cs typeface="Arial" pitchFamily="34" charset="0"/>
              </a:rPr>
              <a:t>Input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: At each of the discrete instant of time t1,t2,…. input values I1,I2…, each of which can a finite number of fixed values from the input alphabet ∑ , are applied to the input side of model.</a:t>
            </a:r>
          </a:p>
          <a:p>
            <a:pPr marL="514350" indent="-514350" algn="just">
              <a:buAutoNum type="arabicPeriod"/>
            </a:pPr>
            <a:r>
              <a:rPr lang="en-US" b="1" dirty="0" smtClean="0">
                <a:latin typeface="Arial" pitchFamily="34" charset="0"/>
                <a:cs typeface="Arial" pitchFamily="34" charset="0"/>
              </a:rPr>
              <a:t>Output: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O1,O2… are outputs of the model, each of which can take finite numbers of fixed values from an output.</a:t>
            </a:r>
          </a:p>
          <a:p>
            <a:pPr marL="514350" indent="-514350" algn="just">
              <a:buAutoNum type="arabicPeriod"/>
            </a:pPr>
            <a:r>
              <a:rPr lang="en-US" b="1" dirty="0" smtClean="0">
                <a:latin typeface="Arial" pitchFamily="34" charset="0"/>
                <a:cs typeface="Arial" pitchFamily="34" charset="0"/>
              </a:rPr>
              <a:t>States: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At any instant of time the automaton can be in one of the states q1,q2,…qn.</a:t>
            </a:r>
          </a:p>
          <a:p>
            <a:pPr marL="514350" indent="-514350" algn="just">
              <a:buAutoNum type="arabicPeriod"/>
            </a:pPr>
            <a:r>
              <a:rPr lang="en-US" b="1" dirty="0" smtClean="0">
                <a:latin typeface="Arial" pitchFamily="34" charset="0"/>
                <a:cs typeface="Arial" pitchFamily="34" charset="0"/>
              </a:rPr>
              <a:t>State relation: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the next state of an automaton at any instant of time is determined by the present state and present input.</a:t>
            </a:r>
          </a:p>
          <a:p>
            <a:pPr marL="514350" indent="-514350" algn="just">
              <a:buAutoNum type="arabicPeriod"/>
            </a:pPr>
            <a:r>
              <a:rPr lang="en-US" b="1" dirty="0" smtClean="0">
                <a:latin typeface="Arial" pitchFamily="34" charset="0"/>
                <a:cs typeface="Arial" pitchFamily="34" charset="0"/>
              </a:rPr>
              <a:t>Output relation: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Output is related to either state only or to both the input and the state.</a:t>
            </a:r>
          </a:p>
          <a:p>
            <a:pPr marL="514350" indent="-514350" algn="just">
              <a:buAutoNum type="arabicPeriod"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Block Diagram of Finite Automata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418897" y="1600202"/>
            <a:ext cx="9758855" cy="42488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Deterministic Finite Automata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2015731"/>
            <a:ext cx="9603275" cy="3975165"/>
          </a:xfrm>
        </p:spPr>
        <p:txBody>
          <a:bodyPr/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A DFA can be represented by a 5-tuple (Q,Σ,δ,q</a:t>
            </a:r>
            <a:r>
              <a:rPr lang="en-US" baseline="-25000" dirty="0" smtClean="0">
                <a:latin typeface="Arial" pitchFamily="34" charset="0"/>
                <a:cs typeface="Arial" pitchFamily="34" charset="0"/>
              </a:rPr>
              <a:t>0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,F) where –</a:t>
            </a:r>
          </a:p>
          <a:p>
            <a:pPr lvl="1"/>
            <a:r>
              <a:rPr lang="en-US" dirty="0" smtClean="0">
                <a:latin typeface="Arial" pitchFamily="34" charset="0"/>
                <a:cs typeface="Arial" pitchFamily="34" charset="0"/>
              </a:rPr>
              <a:t> Q is a set of states </a:t>
            </a:r>
          </a:p>
          <a:p>
            <a:pPr lvl="1"/>
            <a:r>
              <a:rPr lang="en-US" dirty="0" smtClean="0">
                <a:latin typeface="Arial" pitchFamily="34" charset="0"/>
                <a:cs typeface="Arial" pitchFamily="34" charset="0"/>
              </a:rPr>
              <a:t>Σ is the alphabet (of input symbols)</a:t>
            </a:r>
          </a:p>
          <a:p>
            <a:pPr lvl="1"/>
            <a:r>
              <a:rPr lang="en-US" dirty="0" smtClean="0">
                <a:latin typeface="Arial" pitchFamily="34" charset="0"/>
                <a:cs typeface="Arial" pitchFamily="34" charset="0"/>
              </a:rPr>
              <a:t>δ: Q × Σ → Q is the transition function</a:t>
            </a:r>
          </a:p>
          <a:p>
            <a:pPr lvl="1"/>
            <a:r>
              <a:rPr lang="en-US" dirty="0" smtClean="0">
                <a:latin typeface="Arial" pitchFamily="34" charset="0"/>
                <a:cs typeface="Arial" pitchFamily="34" charset="0"/>
              </a:rPr>
              <a:t>q0 ∈ Q -- the start state or initial state</a:t>
            </a:r>
          </a:p>
          <a:p>
            <a:pPr lvl="1"/>
            <a:r>
              <a:rPr lang="en-US" dirty="0" smtClean="0">
                <a:latin typeface="Arial" pitchFamily="34" charset="0"/>
                <a:cs typeface="Arial" pitchFamily="34" charset="0"/>
              </a:rPr>
              <a:t>F ⊆ Q – is the set of final states</a:t>
            </a:r>
          </a:p>
          <a:p>
            <a:pPr>
              <a:lnSpc>
                <a:spcPct val="90000"/>
              </a:lnSpc>
              <a:buNone/>
            </a:pPr>
            <a:r>
              <a:rPr lang="en-US" altLang="en-US" sz="1800" dirty="0" smtClean="0">
                <a:latin typeface="Arial" pitchFamily="34" charset="0"/>
                <a:cs typeface="Arial" pitchFamily="34" charset="0"/>
              </a:rPr>
              <a:t>		δ: (Q x Σ) –</a:t>
            </a:r>
            <a:r>
              <a:rPr lang="en-US" altLang="en-US" sz="1800" baseline="-2000" dirty="0" smtClean="0">
                <a:latin typeface="Arial" pitchFamily="34" charset="0"/>
                <a:cs typeface="Arial" pitchFamily="34" charset="0"/>
              </a:rPr>
              <a:t>&gt;</a:t>
            </a:r>
            <a:r>
              <a:rPr lang="en-US" altLang="en-US" sz="1800" dirty="0" smtClean="0">
                <a:latin typeface="Arial" pitchFamily="34" charset="0"/>
                <a:cs typeface="Arial" pitchFamily="34" charset="0"/>
              </a:rPr>
              <a:t> Q	   δ is defined for any q in Q and s in Σ, and </a:t>
            </a:r>
          </a:p>
          <a:p>
            <a:pPr>
              <a:lnSpc>
                <a:spcPct val="90000"/>
              </a:lnSpc>
              <a:buNone/>
            </a:pPr>
            <a:r>
              <a:rPr lang="en-US" altLang="en-US" sz="1800" dirty="0" smtClean="0">
                <a:latin typeface="Arial" pitchFamily="34" charset="0"/>
                <a:cs typeface="Arial" pitchFamily="34" charset="0"/>
              </a:rPr>
              <a:t>		 δ(</a:t>
            </a:r>
            <a:r>
              <a:rPr lang="en-US" altLang="en-US" sz="1800" dirty="0" err="1" smtClean="0">
                <a:latin typeface="Arial" pitchFamily="34" charset="0"/>
                <a:cs typeface="Arial" pitchFamily="34" charset="0"/>
              </a:rPr>
              <a:t>q,s</a:t>
            </a:r>
            <a:r>
              <a:rPr lang="en-US" altLang="en-US" sz="1800" dirty="0" smtClean="0">
                <a:latin typeface="Arial" pitchFamily="34" charset="0"/>
                <a:cs typeface="Arial" pitchFamily="34" charset="0"/>
              </a:rPr>
              <a:t>) = q’	   is equal to some state q’ in Q, could be q’=q</a:t>
            </a:r>
          </a:p>
          <a:p>
            <a:pPr lvl="1">
              <a:buNone/>
            </a:pPr>
            <a:endParaRPr lang="en-US" dirty="0" smtClean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6715" y="841095"/>
            <a:ext cx="9603275" cy="713385"/>
          </a:xfrm>
        </p:spPr>
        <p:txBody>
          <a:bodyPr>
            <a:normAutofit fontScale="90000"/>
          </a:bodyPr>
          <a:lstStyle/>
          <a:p>
            <a:r>
              <a:rPr lang="en-US" altLang="en-US" b="1" dirty="0" smtClean="0">
                <a:cs typeface="Times New Roman" charset="0"/>
              </a:rPr>
              <a:t>Example of DFA</a:t>
            </a:r>
            <a:br>
              <a:rPr lang="en-US" altLang="en-US" b="1" dirty="0" smtClean="0">
                <a:cs typeface="Times New Roman" charset="0"/>
              </a:rPr>
            </a:b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719072" y="1956815"/>
            <a:ext cx="8613647" cy="40340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2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443655" y="2017986"/>
            <a:ext cx="7078717" cy="37079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Acceptability of a string by a Finite Automata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2015732"/>
            <a:ext cx="10451387" cy="4038227"/>
          </a:xfrm>
        </p:spPr>
        <p:txBody>
          <a:bodyPr>
            <a:normAutofit fontScale="47500" lnSpcReduction="20000"/>
          </a:bodyPr>
          <a:lstStyle/>
          <a:p>
            <a:pPr>
              <a:spcBef>
                <a:spcPts val="0"/>
              </a:spcBef>
            </a:pPr>
            <a:r>
              <a:rPr lang="en-US" sz="4900" dirty="0" smtClean="0">
                <a:latin typeface="Arial" pitchFamily="34" charset="0"/>
                <a:cs typeface="Arial" pitchFamily="34" charset="0"/>
              </a:rPr>
              <a:t>A string x is accepted by a finite automaton M=(Q,Σ,δ,q</a:t>
            </a:r>
            <a:r>
              <a:rPr lang="en-US" sz="4900" baseline="-25000" dirty="0" smtClean="0">
                <a:latin typeface="Arial" pitchFamily="34" charset="0"/>
                <a:cs typeface="Arial" pitchFamily="34" charset="0"/>
              </a:rPr>
              <a:t>0</a:t>
            </a:r>
            <a:r>
              <a:rPr lang="en-US" sz="4900" dirty="0" smtClean="0">
                <a:latin typeface="Arial" pitchFamily="34" charset="0"/>
                <a:cs typeface="Arial" pitchFamily="34" charset="0"/>
              </a:rPr>
              <a:t>,F) if δ(q0,x)=q for some q</a:t>
            </a:r>
            <a:r>
              <a:rPr lang="el-GR" sz="4900" dirty="0" smtClean="0">
                <a:latin typeface="Arial" pitchFamily="34" charset="0"/>
                <a:cs typeface="Arial" pitchFamily="34" charset="0"/>
              </a:rPr>
              <a:t>ϵ</a:t>
            </a:r>
            <a:r>
              <a:rPr lang="en-US" sz="4900" dirty="0" smtClean="0">
                <a:latin typeface="Arial" pitchFamily="34" charset="0"/>
                <a:cs typeface="Arial" pitchFamily="34" charset="0"/>
              </a:rPr>
              <a:t> F. </a:t>
            </a:r>
          </a:p>
          <a:p>
            <a:pPr>
              <a:spcBef>
                <a:spcPts val="0"/>
              </a:spcBef>
            </a:pPr>
            <a:r>
              <a:rPr lang="en-US" sz="4900" dirty="0" smtClean="0">
                <a:latin typeface="Arial" pitchFamily="34" charset="0"/>
                <a:cs typeface="Arial" pitchFamily="34" charset="0"/>
              </a:rPr>
              <a:t>The acceptability of a string by the final state.</a:t>
            </a:r>
          </a:p>
          <a:p>
            <a:pPr>
              <a:spcBef>
                <a:spcPts val="0"/>
              </a:spcBef>
              <a:buNone/>
            </a:pPr>
            <a:r>
              <a:rPr lang="en-US" sz="4900" b="1" dirty="0" smtClean="0">
                <a:latin typeface="Arial" pitchFamily="34" charset="0"/>
                <a:cs typeface="Arial" pitchFamily="34" charset="0"/>
              </a:rPr>
              <a:t>Example</a:t>
            </a:r>
            <a:r>
              <a:rPr lang="en-US" sz="4900" dirty="0" smtClean="0">
                <a:latin typeface="Arial" pitchFamily="34" charset="0"/>
                <a:cs typeface="Arial" pitchFamily="34" charset="0"/>
              </a:rPr>
              <a:t>: Check S=1001 is acceptable by the</a:t>
            </a:r>
          </a:p>
          <a:p>
            <a:pPr>
              <a:spcBef>
                <a:spcPts val="0"/>
              </a:spcBef>
              <a:buNone/>
            </a:pPr>
            <a:r>
              <a:rPr lang="en-US" sz="4900" dirty="0" smtClean="0">
                <a:latin typeface="Arial" pitchFamily="34" charset="0"/>
                <a:cs typeface="Arial" pitchFamily="34" charset="0"/>
              </a:rPr>
              <a:t> given transition diagram?</a:t>
            </a:r>
          </a:p>
          <a:p>
            <a:pPr>
              <a:spcBef>
                <a:spcPts val="0"/>
              </a:spcBef>
              <a:buNone/>
            </a:pPr>
            <a:r>
              <a:rPr lang="en-US" sz="4900" dirty="0" smtClean="0">
                <a:latin typeface="Arial" pitchFamily="34" charset="0"/>
                <a:cs typeface="Arial" pitchFamily="34" charset="0"/>
              </a:rPr>
              <a:t>δ(q0,1001)=δ(q0,001)</a:t>
            </a:r>
          </a:p>
          <a:p>
            <a:pPr>
              <a:spcBef>
                <a:spcPts val="0"/>
              </a:spcBef>
              <a:buNone/>
            </a:pPr>
            <a:r>
              <a:rPr lang="en-US" sz="4900" dirty="0" smtClean="0">
                <a:latin typeface="Arial" pitchFamily="34" charset="0"/>
                <a:cs typeface="Arial" pitchFamily="34" charset="0"/>
              </a:rPr>
              <a:t>		   =δ(q1,01)</a:t>
            </a:r>
          </a:p>
          <a:p>
            <a:pPr>
              <a:spcBef>
                <a:spcPts val="0"/>
              </a:spcBef>
              <a:buNone/>
            </a:pPr>
            <a:r>
              <a:rPr lang="en-US" sz="4900" dirty="0" smtClean="0">
                <a:latin typeface="Arial" pitchFamily="34" charset="0"/>
                <a:cs typeface="Arial" pitchFamily="34" charset="0"/>
              </a:rPr>
              <a:t>		   =δ(q0,1)</a:t>
            </a:r>
          </a:p>
          <a:p>
            <a:pPr>
              <a:spcBef>
                <a:spcPts val="0"/>
              </a:spcBef>
              <a:buNone/>
            </a:pPr>
            <a:r>
              <a:rPr lang="en-US" sz="4900" dirty="0" smtClean="0">
                <a:latin typeface="Arial" pitchFamily="34" charset="0"/>
                <a:cs typeface="Arial" pitchFamily="34" charset="0"/>
              </a:rPr>
              <a:t>		   =δ(q0,^)=q0</a:t>
            </a:r>
          </a:p>
          <a:p>
            <a:pPr>
              <a:spcBef>
                <a:spcPts val="0"/>
              </a:spcBef>
              <a:buNone/>
            </a:pPr>
            <a:r>
              <a:rPr lang="en-US" sz="4900" dirty="0" smtClean="0">
                <a:latin typeface="Arial" pitchFamily="34" charset="0"/>
                <a:cs typeface="Arial" pitchFamily="34" charset="0"/>
              </a:rPr>
              <a:t>Hence, q0 is the final state so the given string is </a:t>
            </a:r>
          </a:p>
          <a:p>
            <a:pPr>
              <a:spcBef>
                <a:spcPts val="0"/>
              </a:spcBef>
              <a:buNone/>
            </a:pPr>
            <a:r>
              <a:rPr lang="en-US" sz="4900" dirty="0" smtClean="0">
                <a:latin typeface="Arial" pitchFamily="34" charset="0"/>
                <a:cs typeface="Arial" pitchFamily="34" charset="0"/>
              </a:rPr>
              <a:t>Acceptable by the given automata.</a:t>
            </a:r>
          </a:p>
          <a:p>
            <a:pPr>
              <a:buNone/>
            </a:pPr>
            <a:endParaRPr lang="en-US" sz="1800" dirty="0" smtClean="0">
              <a:latin typeface="Calibri"/>
              <a:cs typeface="Calibri"/>
            </a:endParaRPr>
          </a:p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119242" y="2569042"/>
            <a:ext cx="3484179" cy="130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275846" y="4185429"/>
            <a:ext cx="3111500" cy="169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Non Deterministic Finite Automata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2246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1800" dirty="0" smtClean="0">
                <a:latin typeface="Arial" pitchFamily="34" charset="0"/>
                <a:cs typeface="Arial" pitchFamily="34" charset="0"/>
              </a:rPr>
              <a:t>An NFA can be represented by a five-</a:t>
            </a:r>
            <a:r>
              <a:rPr lang="en-US" altLang="en-US" sz="1800" dirty="0" err="1" smtClean="0">
                <a:latin typeface="Arial" pitchFamily="34" charset="0"/>
                <a:cs typeface="Arial" pitchFamily="34" charset="0"/>
              </a:rPr>
              <a:t>tuple</a:t>
            </a:r>
            <a:r>
              <a:rPr lang="en-US" altLang="en-US" sz="1800" dirty="0" smtClean="0">
                <a:latin typeface="Arial" pitchFamily="34" charset="0"/>
                <a:cs typeface="Arial" pitchFamily="34" charset="0"/>
              </a:rPr>
              <a:t> (Q, Σ, δ, q</a:t>
            </a:r>
            <a:r>
              <a:rPr lang="en-US" altLang="en-US" sz="1800" baseline="-25000" dirty="0" smtClean="0">
                <a:latin typeface="Arial" pitchFamily="34" charset="0"/>
                <a:cs typeface="Arial" pitchFamily="34" charset="0"/>
              </a:rPr>
              <a:t>0</a:t>
            </a:r>
            <a:r>
              <a:rPr lang="en-US" altLang="en-US" sz="1800" dirty="0" smtClean="0">
                <a:latin typeface="Arial" pitchFamily="34" charset="0"/>
                <a:cs typeface="Arial" pitchFamily="34" charset="0"/>
              </a:rPr>
              <a:t>, F) where</a:t>
            </a:r>
          </a:p>
          <a:p>
            <a:pPr>
              <a:lnSpc>
                <a:spcPct val="90000"/>
              </a:lnSpc>
            </a:pPr>
            <a:endParaRPr lang="en-US" altLang="en-US" sz="1800" dirty="0" smtClean="0">
              <a:latin typeface="Arial" pitchFamily="34" charset="0"/>
              <a:cs typeface="Arial" pitchFamily="34" charset="0"/>
            </a:endParaRP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en-US" dirty="0" smtClean="0">
                <a:latin typeface="Arial" pitchFamily="34" charset="0"/>
                <a:cs typeface="Arial" pitchFamily="34" charset="0"/>
              </a:rPr>
              <a:t>Q: A finite set of states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en-US" dirty="0" smtClean="0">
                <a:latin typeface="Arial" pitchFamily="34" charset="0"/>
                <a:cs typeface="Arial" pitchFamily="34" charset="0"/>
              </a:rPr>
              <a:t>Σ	: A finite input alphabet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en-US" dirty="0" smtClean="0">
                <a:latin typeface="Arial" pitchFamily="34" charset="0"/>
                <a:cs typeface="Arial" pitchFamily="34" charset="0"/>
              </a:rPr>
              <a:t>q</a:t>
            </a:r>
            <a:r>
              <a:rPr lang="en-US" altLang="en-US" baseline="-25000" dirty="0" smtClean="0">
                <a:latin typeface="Arial" pitchFamily="34" charset="0"/>
                <a:cs typeface="Arial" pitchFamily="34" charset="0"/>
              </a:rPr>
              <a:t>0:</a:t>
            </a:r>
            <a:r>
              <a:rPr lang="en-US" altLang="en-US" dirty="0" smtClean="0">
                <a:latin typeface="Arial" pitchFamily="34" charset="0"/>
                <a:cs typeface="Arial" pitchFamily="34" charset="0"/>
              </a:rPr>
              <a:t> The initial/starting state, q</a:t>
            </a:r>
            <a:r>
              <a:rPr lang="en-US" altLang="en-US" baseline="-25000" dirty="0" smtClean="0">
                <a:latin typeface="Arial" pitchFamily="34" charset="0"/>
                <a:cs typeface="Arial" pitchFamily="34" charset="0"/>
              </a:rPr>
              <a:t>0</a:t>
            </a:r>
            <a:r>
              <a:rPr lang="en-US" altLang="en-US" dirty="0" smtClean="0">
                <a:latin typeface="Arial" pitchFamily="34" charset="0"/>
                <a:cs typeface="Arial" pitchFamily="34" charset="0"/>
              </a:rPr>
              <a:t> is in Q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en-US" dirty="0" smtClean="0">
                <a:latin typeface="Arial" pitchFamily="34" charset="0"/>
                <a:cs typeface="Arial" pitchFamily="34" charset="0"/>
              </a:rPr>
              <a:t>F: A set of final/accepting states, which is a subset of Q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en-US" dirty="0" smtClean="0">
                <a:latin typeface="Arial" pitchFamily="34" charset="0"/>
                <a:cs typeface="Arial" pitchFamily="34" charset="0"/>
              </a:rPr>
              <a:t>δ	: A transition function, which is a total function from Q x Σ to 2</a:t>
            </a:r>
            <a:r>
              <a:rPr lang="en-US" altLang="en-US" baseline="30000" dirty="0" smtClean="0">
                <a:latin typeface="Arial" pitchFamily="34" charset="0"/>
                <a:cs typeface="Arial" pitchFamily="34" charset="0"/>
              </a:rPr>
              <a:t>Q</a:t>
            </a:r>
          </a:p>
          <a:p>
            <a:pPr>
              <a:lnSpc>
                <a:spcPct val="90000"/>
              </a:lnSpc>
              <a:buNone/>
            </a:pPr>
            <a:endParaRPr lang="en-US" altLang="en-US" sz="1800" dirty="0" smtClean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en-US" sz="1800" dirty="0" smtClean="0">
                <a:latin typeface="Arial" pitchFamily="34" charset="0"/>
                <a:cs typeface="Arial" pitchFamily="34" charset="0"/>
              </a:rPr>
              <a:t>	δ: (Q x Σ) –</a:t>
            </a:r>
            <a:r>
              <a:rPr lang="en-US" altLang="en-US" sz="1800" baseline="-2000" dirty="0" smtClean="0">
                <a:latin typeface="Arial" pitchFamily="34" charset="0"/>
                <a:cs typeface="Arial" pitchFamily="34" charset="0"/>
              </a:rPr>
              <a:t>&gt;</a:t>
            </a:r>
            <a:r>
              <a:rPr lang="en-US" altLang="en-US" sz="1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altLang="en-US" sz="18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altLang="en-US" sz="1800" b="1" baseline="30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Q</a:t>
            </a:r>
            <a:r>
              <a:rPr lang="en-US" altLang="en-US" sz="18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   </a:t>
            </a:r>
            <a:r>
              <a:rPr lang="en-US" altLang="en-US" sz="1800" dirty="0" smtClean="0">
                <a:latin typeface="Arial" pitchFamily="34" charset="0"/>
                <a:cs typeface="Arial" pitchFamily="34" charset="0"/>
              </a:rPr>
              <a:t>:2</a:t>
            </a:r>
            <a:r>
              <a:rPr lang="en-US" altLang="en-US" sz="1800" baseline="30000" dirty="0" smtClean="0">
                <a:latin typeface="Arial" pitchFamily="34" charset="0"/>
                <a:cs typeface="Arial" pitchFamily="34" charset="0"/>
              </a:rPr>
              <a:t>Q</a:t>
            </a:r>
            <a:r>
              <a:rPr lang="en-US" altLang="en-US" sz="1800" dirty="0" smtClean="0">
                <a:latin typeface="Arial" pitchFamily="34" charset="0"/>
                <a:cs typeface="Arial" pitchFamily="34" charset="0"/>
              </a:rPr>
              <a:t> is the power set of Q, the set of </a:t>
            </a:r>
            <a:r>
              <a:rPr lang="en-US" altLang="en-US" sz="1800" i="1" dirty="0" smtClean="0">
                <a:latin typeface="Arial" pitchFamily="34" charset="0"/>
                <a:cs typeface="Arial" pitchFamily="34" charset="0"/>
              </a:rPr>
              <a:t>all subsets </a:t>
            </a:r>
            <a:r>
              <a:rPr lang="en-US" altLang="en-US" sz="1800" dirty="0" smtClean="0">
                <a:latin typeface="Arial" pitchFamily="34" charset="0"/>
                <a:cs typeface="Arial" pitchFamily="34" charset="0"/>
              </a:rPr>
              <a:t>of Q δ(</a:t>
            </a:r>
            <a:r>
              <a:rPr lang="en-US" altLang="en-US" sz="1800" dirty="0" err="1" smtClean="0">
                <a:latin typeface="Arial" pitchFamily="34" charset="0"/>
                <a:cs typeface="Arial" pitchFamily="34" charset="0"/>
              </a:rPr>
              <a:t>q,s</a:t>
            </a:r>
            <a:r>
              <a:rPr lang="en-US" altLang="en-US" sz="1800" dirty="0" smtClean="0">
                <a:latin typeface="Arial" pitchFamily="34" charset="0"/>
                <a:cs typeface="Arial" pitchFamily="34" charset="0"/>
              </a:rPr>
              <a:t>)                    :The </a:t>
            </a:r>
            <a:r>
              <a:rPr lang="en-US" altLang="en-US" sz="18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set of all states </a:t>
            </a:r>
            <a:r>
              <a:rPr lang="en-US" altLang="en-US" sz="1800" dirty="0" smtClean="0">
                <a:latin typeface="Arial" pitchFamily="34" charset="0"/>
                <a:cs typeface="Arial" pitchFamily="34" charset="0"/>
              </a:rPr>
              <a:t>p such that there is a transition labeled s from q to p</a:t>
            </a:r>
          </a:p>
          <a:p>
            <a:pPr>
              <a:lnSpc>
                <a:spcPct val="90000"/>
              </a:lnSpc>
              <a:buNone/>
            </a:pPr>
            <a:r>
              <a:rPr lang="en-US" altLang="en-US" sz="1800" dirty="0" smtClean="0">
                <a:latin typeface="Arial" pitchFamily="34" charset="0"/>
                <a:cs typeface="Arial" pitchFamily="34" charset="0"/>
              </a:rPr>
              <a:t>	</a:t>
            </a:r>
          </a:p>
          <a:p>
            <a:pPr>
              <a:lnSpc>
                <a:spcPct val="90000"/>
              </a:lnSpc>
              <a:buNone/>
            </a:pPr>
            <a:r>
              <a:rPr lang="en-US" altLang="en-US" sz="1800" dirty="0" smtClean="0">
                <a:latin typeface="Arial" pitchFamily="34" charset="0"/>
                <a:cs typeface="Arial" pitchFamily="34" charset="0"/>
              </a:rPr>
              <a:t>	δ(</a:t>
            </a:r>
            <a:r>
              <a:rPr lang="en-US" altLang="en-US" sz="1800" dirty="0" err="1" smtClean="0">
                <a:latin typeface="Arial" pitchFamily="34" charset="0"/>
                <a:cs typeface="Arial" pitchFamily="34" charset="0"/>
              </a:rPr>
              <a:t>q,s</a:t>
            </a:r>
            <a:r>
              <a:rPr lang="en-US" altLang="en-US" sz="1800" dirty="0" smtClean="0">
                <a:latin typeface="Arial" pitchFamily="34" charset="0"/>
                <a:cs typeface="Arial" pitchFamily="34" charset="0"/>
              </a:rPr>
              <a:t>) is a function from Q x S to 2</a:t>
            </a:r>
            <a:r>
              <a:rPr lang="en-US" altLang="en-US" sz="1800" baseline="30000" dirty="0" smtClean="0">
                <a:latin typeface="Arial" pitchFamily="34" charset="0"/>
                <a:cs typeface="Arial" pitchFamily="34" charset="0"/>
              </a:rPr>
              <a:t>Q</a:t>
            </a:r>
            <a:r>
              <a:rPr lang="en-US" altLang="en-US" sz="1800" dirty="0" smtClean="0">
                <a:latin typeface="Arial" pitchFamily="34" charset="0"/>
                <a:cs typeface="Arial" pitchFamily="34" charset="0"/>
              </a:rPr>
              <a:t> (but not only to Q)</a:t>
            </a:r>
          </a:p>
          <a:p>
            <a:endParaRPr lang="en-US" sz="1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 smtClean="0">
                <a:cs typeface="Times New Roman" charset="0"/>
              </a:rPr>
              <a:t>Example  : one or more 0’s followed by one or more 1’s</a:t>
            </a:r>
            <a:br>
              <a:rPr lang="en-US" altLang="en-US" dirty="0" smtClean="0">
                <a:cs typeface="Times New Roman" charset="0"/>
              </a:rPr>
            </a:b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963917" y="2065282"/>
            <a:ext cx="6582596" cy="37837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 smtClean="0">
                <a:cs typeface="Times New Roman" charset="0"/>
              </a:rPr>
              <a:t>Example : pair of 0’s </a:t>
            </a:r>
            <a:r>
              <a:rPr lang="en-US" altLang="en-US" b="1" i="1" dirty="0" smtClean="0">
                <a:cs typeface="Times New Roman" charset="0"/>
              </a:rPr>
              <a:t>or</a:t>
            </a:r>
            <a:r>
              <a:rPr lang="en-US" altLang="en-US" b="1" dirty="0" smtClean="0">
                <a:cs typeface="Times New Roman" charset="0"/>
              </a:rPr>
              <a:t> pair of 1’s as substring</a:t>
            </a:r>
            <a:br>
              <a:rPr lang="en-US" altLang="en-US" b="1" dirty="0" smtClean="0">
                <a:cs typeface="Times New Roman" charset="0"/>
              </a:rPr>
            </a:br>
            <a:endParaRPr lang="en-US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263462" y="1907628"/>
            <a:ext cx="5444975" cy="4067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7943630-9389-6EDB-1526-F69304B54FF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sz="4000" dirty="0"/>
              <a:t>Regular expression to NFA using Thompson's rule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449A3CA1-455C-803D-7DF7-B3BF9FE9CD0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80" y="863444"/>
                <a:ext cx="5458251" cy="5590565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1pPr>
                <a:lvl2pPr marL="6858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>
                  <a:buFont typeface="+mj-lt"/>
                  <a:buAutoNum type="arabicPeriod"/>
                </a:pPr>
                <a:r>
                  <a:rPr lang="en-US"/>
                  <a:t>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/>
                  <a:t> , construct the NFA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/>
              </a:p>
              <a:p>
                <a:pPr marL="457200" indent="-457200">
                  <a:buFont typeface="+mj-lt"/>
                  <a:buAutoNum type="arabicPeriod"/>
                </a:pPr>
                <a:endParaRPr lang="en-US"/>
              </a:p>
              <a:p>
                <a:pPr marL="457200" indent="-457200">
                  <a:buFont typeface="+mj-lt"/>
                  <a:buAutoNum type="arabicPeriod"/>
                </a:pPr>
                <a:endParaRPr lang="en-US"/>
              </a:p>
              <a:p>
                <a:pPr marL="457200" indent="-457200">
                  <a:buFont typeface="+mj-lt"/>
                  <a:buAutoNum type="arabicPeriod"/>
                </a:pPr>
                <a:endParaRPr lang="en-US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/>
                  <a:t>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/>
                  <a:t> in </a:t>
                </a:r>
                <a14:m>
                  <m:oMath xmlns:m="http://schemas.openxmlformats.org/officeDocument/2006/math">
                    <m:r>
                      <a:rPr lang="el-GR" i="1">
                        <a:latin typeface="Cambria Math" panose="02040503050406030204" pitchFamily="18" charset="0"/>
                      </a:rPr>
                      <m:t>𝛴</m:t>
                    </m:r>
                  </m:oMath>
                </a14:m>
                <a:r>
                  <a:rPr lang="en-US"/>
                  <a:t>, construct the NFA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/>
              </a:p>
              <a:p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449A3CA1-455C-803D-7DF7-B3BF9FE9CD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0" y="863444"/>
                <a:ext cx="5458251" cy="5590565"/>
              </a:xfrm>
              <a:prstGeom prst="rect">
                <a:avLst/>
              </a:prstGeom>
              <a:blipFill rotWithShape="0">
                <a:blip r:embed="rId2"/>
                <a:stretch>
                  <a:fillRect l="-2793" t="-28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xmlns="" id="{AEDC860D-EF50-A7C9-EBDF-EAE08ECE1D6A}"/>
                  </a:ext>
                </a:extLst>
              </p:cNvPr>
              <p:cNvSpPr/>
              <p:nvPr/>
            </p:nvSpPr>
            <p:spPr>
              <a:xfrm>
                <a:off x="2430931" y="1950485"/>
                <a:ext cx="564285" cy="624381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EDC860D-EF50-A7C9-EBDF-EAE08ECE1D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0931" y="1950485"/>
                <a:ext cx="564285" cy="624381"/>
              </a:xfrm>
              <a:prstGeom prst="ellipse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xmlns="" id="{B0AACF9B-A8B8-04C5-3434-D13043863176}"/>
                  </a:ext>
                </a:extLst>
              </p:cNvPr>
              <p:cNvSpPr/>
              <p:nvPr/>
            </p:nvSpPr>
            <p:spPr>
              <a:xfrm>
                <a:off x="3667612" y="1953760"/>
                <a:ext cx="564285" cy="624381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0AACF9B-A8B8-04C5-3434-D130438631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7612" y="1953760"/>
                <a:ext cx="564285" cy="624381"/>
              </a:xfrm>
              <a:prstGeom prst="ellipse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xmlns="" id="{31C9FB02-BD6B-DA24-E4AD-8329DFC3A129}"/>
              </a:ext>
            </a:extLst>
          </p:cNvPr>
          <p:cNvCxnSpPr>
            <a:endCxn id="4" idx="2"/>
          </p:cNvCxnSpPr>
          <p:nvPr/>
        </p:nvCxnSpPr>
        <p:spPr>
          <a:xfrm>
            <a:off x="1776017" y="2255286"/>
            <a:ext cx="654914" cy="7390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xmlns="" id="{CB484489-B0AA-DC47-C7C5-2C0F7C2D3027}"/>
              </a:ext>
            </a:extLst>
          </p:cNvPr>
          <p:cNvSpPr/>
          <p:nvPr/>
        </p:nvSpPr>
        <p:spPr>
          <a:xfrm>
            <a:off x="3738147" y="2031807"/>
            <a:ext cx="423214" cy="468286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xmlns="" id="{E24A0496-6918-0A44-E13D-FAC97A4C3CFC}"/>
              </a:ext>
            </a:extLst>
          </p:cNvPr>
          <p:cNvCxnSpPr>
            <a:stCxn id="4" idx="6"/>
            <a:endCxn id="5" idx="2"/>
          </p:cNvCxnSpPr>
          <p:nvPr/>
        </p:nvCxnSpPr>
        <p:spPr>
          <a:xfrm>
            <a:off x="2995216" y="2262676"/>
            <a:ext cx="672396" cy="3275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F828E355-3350-DA0B-F78F-CDF1E04971AD}"/>
              </a:ext>
            </a:extLst>
          </p:cNvPr>
          <p:cNvSpPr/>
          <p:nvPr/>
        </p:nvSpPr>
        <p:spPr>
          <a:xfrm>
            <a:off x="3142444" y="1898099"/>
            <a:ext cx="330625" cy="3170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8BBE2B97-D072-FE82-2E16-D581244DEBD8}"/>
              </a:ext>
            </a:extLst>
          </p:cNvPr>
          <p:cNvSpPr/>
          <p:nvPr/>
        </p:nvSpPr>
        <p:spPr>
          <a:xfrm>
            <a:off x="1651065" y="1869524"/>
            <a:ext cx="667906" cy="3170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start</a:t>
            </a:r>
            <a:endParaRPr lang="en-US" dirty="0">
              <a:solidFill>
                <a:schemeClr val="tx1"/>
              </a:solidFill>
              <a:latin typeface="+mj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xmlns="" id="{C70CCD32-22D7-2837-ADDB-B32B80E0D585}"/>
                  </a:ext>
                </a:extLst>
              </p:cNvPr>
              <p:cNvSpPr/>
              <p:nvPr/>
            </p:nvSpPr>
            <p:spPr>
              <a:xfrm>
                <a:off x="2532844" y="4617502"/>
                <a:ext cx="609600" cy="609600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70CCD32-22D7-2837-ADDB-B32B80E0D5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2844" y="4617502"/>
                <a:ext cx="609600" cy="609600"/>
              </a:xfrm>
              <a:prstGeom prst="ellipse">
                <a:avLst/>
              </a:prstGeom>
              <a:blipFill rotWithShape="0"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xmlns="" id="{0EF33229-C230-6DE0-78E5-0CABC2E55EA7}"/>
                  </a:ext>
                </a:extLst>
              </p:cNvPr>
              <p:cNvSpPr/>
              <p:nvPr/>
            </p:nvSpPr>
            <p:spPr>
              <a:xfrm>
                <a:off x="3752900" y="4620777"/>
                <a:ext cx="609600" cy="609600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EF33229-C230-6DE0-78E5-0CABC2E55E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2900" y="4620777"/>
                <a:ext cx="609600" cy="609600"/>
              </a:xfrm>
              <a:prstGeom prst="ellipse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xmlns="" id="{D2C99499-A299-B494-9FC6-288E2F552DBF}"/>
              </a:ext>
            </a:extLst>
          </p:cNvPr>
          <p:cNvCxnSpPr>
            <a:endCxn id="11" idx="2"/>
          </p:cNvCxnSpPr>
          <p:nvPr/>
        </p:nvCxnSpPr>
        <p:spPr>
          <a:xfrm>
            <a:off x="1899436" y="4922302"/>
            <a:ext cx="633408" cy="0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xmlns="" id="{1927DF50-463F-45F4-84BA-E637E4227F49}"/>
              </a:ext>
            </a:extLst>
          </p:cNvPr>
          <p:cNvSpPr/>
          <p:nvPr/>
        </p:nvSpPr>
        <p:spPr>
          <a:xfrm>
            <a:off x="3829100" y="4696977"/>
            <a:ext cx="457200" cy="4572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xmlns="" id="{904D941B-9833-C1A2-6F73-13C6F7E969C0}"/>
              </a:ext>
            </a:extLst>
          </p:cNvPr>
          <p:cNvCxnSpPr>
            <a:stCxn id="11" idx="6"/>
            <a:endCxn id="12" idx="2"/>
          </p:cNvCxnSpPr>
          <p:nvPr/>
        </p:nvCxnSpPr>
        <p:spPr>
          <a:xfrm>
            <a:off x="3142444" y="4922302"/>
            <a:ext cx="610456" cy="3275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8FAF98C3-A658-92E1-58FC-223762FA25A3}"/>
              </a:ext>
            </a:extLst>
          </p:cNvPr>
          <p:cNvSpPr/>
          <p:nvPr/>
        </p:nvSpPr>
        <p:spPr>
          <a:xfrm>
            <a:off x="3263121" y="456511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1B6F70B2-98BA-56E3-0AE4-72374B90A185}"/>
              </a:ext>
            </a:extLst>
          </p:cNvPr>
          <p:cNvSpPr/>
          <p:nvPr/>
        </p:nvSpPr>
        <p:spPr>
          <a:xfrm>
            <a:off x="1712877" y="4565106"/>
            <a:ext cx="721543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start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Content Placeholder 2">
                <a:extLst>
                  <a:ext uri="{FF2B5EF4-FFF2-40B4-BE49-F238E27FC236}">
                    <a16:creationId xmlns:a16="http://schemas.microsoft.com/office/drawing/2014/main" xmlns="" id="{05A3D6C9-A38A-FE0E-CC6F-3F9C94137E87}"/>
                  </a:ext>
                </a:extLst>
              </p:cNvPr>
              <p:cNvSpPr txBox="1"/>
              <p:nvPr/>
            </p:nvSpPr>
            <p:spPr>
              <a:xfrm>
                <a:off x="6011551" y="863444"/>
                <a:ext cx="5458251" cy="559056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0E47A1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E47A1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E47A1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E47A1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E47A1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>
                  <a:buFont typeface="+mj-lt"/>
                  <a:buAutoNum type="arabicPeriod" startAt="3"/>
                </a:pPr>
                <a:r>
                  <a:rPr lang="en-US"/>
                  <a:t>For regular expression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𝑠𝑡</m:t>
                    </m:r>
                  </m:oMath>
                </a14:m>
                <a:r>
                  <a:rPr lang="en-US"/>
                  <a:t> 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457200" indent="-457200">
                  <a:buFont typeface="+mj-lt"/>
                  <a:buAutoNum type="arabicPeriod"/>
                </a:pPr>
                <a:endParaRPr lang="en-US"/>
              </a:p>
              <a:p>
                <a:pPr marL="457200" indent="-457200">
                  <a:buFont typeface="+mj-lt"/>
                  <a:buAutoNum type="arabicPeriod"/>
                </a:pPr>
                <a:endParaRPr lang="en-US"/>
              </a:p>
              <a:p>
                <a:pPr marL="457200" indent="-457200">
                  <a:buFont typeface="+mj-lt"/>
                  <a:buAutoNum type="arabicPeriod"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Ex: ab</a:t>
                </a:r>
              </a:p>
              <a:p>
                <a:pPr marL="0" indent="0">
                  <a:buFont typeface="Wingdings 3" panose="05040102010807070707" pitchFamily="18" charset="2"/>
                  <a:buNone/>
                </a:pPr>
                <a:endParaRPr lang="en-US"/>
              </a:p>
              <a:p>
                <a:endParaRPr lang="en-US"/>
              </a:p>
            </p:txBody>
          </p:sp>
        </mc:Choice>
        <mc:Fallback>
          <p:sp>
            <p:nvSpPr>
              <p:cNvPr id="18" name="Content Placeholder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5A3D6C9-A38A-FE0E-CC6F-3F9C94137E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1551" y="863444"/>
                <a:ext cx="5458251" cy="5590565"/>
              </a:xfrm>
              <a:prstGeom prst="rect">
                <a:avLst/>
              </a:prstGeom>
              <a:blipFill rotWithShape="0">
                <a:blip r:embed="rId7"/>
                <a:stretch>
                  <a:fillRect l="-1674" t="-15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xmlns="" id="{0FC0A97E-A372-DA3A-51BE-61BDFF731137}"/>
                  </a:ext>
                </a:extLst>
              </p:cNvPr>
              <p:cNvSpPr/>
              <p:nvPr/>
            </p:nvSpPr>
            <p:spPr>
              <a:xfrm>
                <a:off x="7175254" y="1722586"/>
                <a:ext cx="609600" cy="609600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FC0A97E-A372-DA3A-51BE-61BDFF7311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5254" y="1722586"/>
                <a:ext cx="609600" cy="609600"/>
              </a:xfrm>
              <a:prstGeom prst="ellipse">
                <a:avLst/>
              </a:prstGeom>
              <a:blipFill rotWithShape="0"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xmlns="" id="{73D2E296-3971-0F69-5752-D7B5AE5129C1}"/>
                  </a:ext>
                </a:extLst>
              </p:cNvPr>
              <p:cNvSpPr/>
              <p:nvPr/>
            </p:nvSpPr>
            <p:spPr>
              <a:xfrm>
                <a:off x="9647794" y="1732398"/>
                <a:ext cx="609600" cy="609600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3D2E296-3971-0F69-5752-D7B5AE5129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7794" y="1732398"/>
                <a:ext cx="609600" cy="609600"/>
              </a:xfrm>
              <a:prstGeom prst="ellipse">
                <a:avLst/>
              </a:prstGeom>
              <a:blipFill rotWithShape="0"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xmlns="" id="{C75734D6-D474-90E7-960C-82D8F2074549}"/>
              </a:ext>
            </a:extLst>
          </p:cNvPr>
          <p:cNvCxnSpPr>
            <a:endCxn id="19" idx="2"/>
          </p:cNvCxnSpPr>
          <p:nvPr/>
        </p:nvCxnSpPr>
        <p:spPr>
          <a:xfrm flipV="1">
            <a:off x="6439411" y="2027386"/>
            <a:ext cx="735843" cy="19338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xmlns="" id="{72007E5D-8455-803E-B460-078836471F72}"/>
              </a:ext>
            </a:extLst>
          </p:cNvPr>
          <p:cNvSpPr/>
          <p:nvPr/>
        </p:nvSpPr>
        <p:spPr>
          <a:xfrm>
            <a:off x="9723994" y="1808598"/>
            <a:ext cx="457200" cy="4572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B55D57D5-97B3-A12F-310B-6B86CF22F855}"/>
              </a:ext>
            </a:extLst>
          </p:cNvPr>
          <p:cNvSpPr/>
          <p:nvPr/>
        </p:nvSpPr>
        <p:spPr>
          <a:xfrm>
            <a:off x="6321524" y="1680004"/>
            <a:ext cx="731520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start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xmlns="" id="{953E58D9-E407-52A9-E37D-12776BFF0813}"/>
              </a:ext>
            </a:extLst>
          </p:cNvPr>
          <p:cNvSpPr/>
          <p:nvPr/>
        </p:nvSpPr>
        <p:spPr>
          <a:xfrm>
            <a:off x="6878438" y="1577564"/>
            <a:ext cx="2270932" cy="957856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N(s)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xmlns="" id="{EBE366B3-732E-9E16-BDE4-9DA0B475ED03}"/>
              </a:ext>
            </a:extLst>
          </p:cNvPr>
          <p:cNvSpPr/>
          <p:nvPr/>
        </p:nvSpPr>
        <p:spPr>
          <a:xfrm>
            <a:off x="8228861" y="1549784"/>
            <a:ext cx="2270932" cy="957856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N(t)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xmlns="" id="{C12D8D6C-8C84-8F3B-1A96-01E85F37D350}"/>
              </a:ext>
            </a:extLst>
          </p:cNvPr>
          <p:cNvSpPr/>
          <p:nvPr/>
        </p:nvSpPr>
        <p:spPr>
          <a:xfrm>
            <a:off x="6764893" y="4722128"/>
            <a:ext cx="612648" cy="612648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+mj-lt"/>
              </a:rPr>
              <a:t>1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xmlns="" id="{C9223F24-DD35-51CB-D895-5654C16AB6E8}"/>
              </a:ext>
            </a:extLst>
          </p:cNvPr>
          <p:cNvSpPr/>
          <p:nvPr/>
        </p:nvSpPr>
        <p:spPr>
          <a:xfrm>
            <a:off x="7918896" y="4716562"/>
            <a:ext cx="612648" cy="612648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+mj-lt"/>
              </a:rPr>
              <a:t>2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xmlns="" id="{5C9ABAB0-E0B8-6C6B-70CC-95CA077AEBEE}"/>
              </a:ext>
            </a:extLst>
          </p:cNvPr>
          <p:cNvSpPr/>
          <p:nvPr/>
        </p:nvSpPr>
        <p:spPr>
          <a:xfrm>
            <a:off x="9101018" y="4708469"/>
            <a:ext cx="612648" cy="612648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+mj-lt"/>
              </a:rPr>
              <a:t>3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xmlns="" id="{A76B1427-FA13-CDD4-4FC4-CEA42BE70CCF}"/>
              </a:ext>
            </a:extLst>
          </p:cNvPr>
          <p:cNvCxnSpPr>
            <a:endCxn id="28" idx="2"/>
          </p:cNvCxnSpPr>
          <p:nvPr/>
        </p:nvCxnSpPr>
        <p:spPr>
          <a:xfrm flipV="1">
            <a:off x="8528874" y="5014793"/>
            <a:ext cx="572144" cy="8093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xmlns="" id="{66B2043D-8444-351F-08F9-EBA1D8F6678B}"/>
              </a:ext>
            </a:extLst>
          </p:cNvPr>
          <p:cNvSpPr/>
          <p:nvPr/>
        </p:nvSpPr>
        <p:spPr>
          <a:xfrm>
            <a:off x="7427678" y="4631412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xmlns="" id="{EE185D09-AF5C-087B-FF51-37158966B299}"/>
              </a:ext>
            </a:extLst>
          </p:cNvPr>
          <p:cNvSpPr/>
          <p:nvPr/>
        </p:nvSpPr>
        <p:spPr>
          <a:xfrm>
            <a:off x="8623434" y="4631412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xmlns="" id="{18C14B03-B111-27C4-2D92-2A66ECDAE423}"/>
              </a:ext>
            </a:extLst>
          </p:cNvPr>
          <p:cNvCxnSpPr>
            <a:stCxn id="26" idx="6"/>
            <a:endCxn id="27" idx="2"/>
          </p:cNvCxnSpPr>
          <p:nvPr/>
        </p:nvCxnSpPr>
        <p:spPr>
          <a:xfrm flipV="1">
            <a:off x="7377541" y="5022886"/>
            <a:ext cx="541355" cy="5566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xmlns="" id="{55598334-7BE9-040F-E75B-81500CA2C76C}"/>
              </a:ext>
            </a:extLst>
          </p:cNvPr>
          <p:cNvCxnSpPr/>
          <p:nvPr/>
        </p:nvCxnSpPr>
        <p:spPr>
          <a:xfrm>
            <a:off x="6357915" y="5061646"/>
            <a:ext cx="419092" cy="1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xmlns="" id="{4EFCF1CB-29E7-A40C-B12E-236BA7C47F6C}"/>
              </a:ext>
            </a:extLst>
          </p:cNvPr>
          <p:cNvSpPr/>
          <p:nvPr/>
        </p:nvSpPr>
        <p:spPr>
          <a:xfrm>
            <a:off x="9178742" y="4786193"/>
            <a:ext cx="457200" cy="4572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xmlns="" id="{DF9A8DF0-86B2-8545-F2EE-71D516D01738}"/>
              </a:ext>
            </a:extLst>
          </p:cNvPr>
          <p:cNvCxnSpPr/>
          <p:nvPr/>
        </p:nvCxnSpPr>
        <p:spPr>
          <a:xfrm rot="5400000">
            <a:off x="2846231" y="3606644"/>
            <a:ext cx="5486400" cy="0"/>
          </a:xfrm>
          <a:prstGeom prst="line">
            <a:avLst/>
          </a:prstGeom>
          <a:ln>
            <a:solidFill>
              <a:srgbClr val="0E47A1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1418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/>
      <p:bldP spid="10" grpId="0"/>
      <p:bldP spid="11" grpId="0" animBg="1"/>
      <p:bldP spid="12" grpId="0" animBg="1"/>
      <p:bldP spid="14" grpId="0" animBg="1"/>
      <p:bldP spid="16" grpId="0"/>
      <p:bldP spid="17" grpId="0"/>
      <p:bldP spid="19" grpId="0" animBg="1"/>
      <p:bldP spid="20" grpId="0" animBg="1"/>
      <p:bldP spid="22" grpId="0" animBg="1"/>
      <p:bldP spid="23" grpId="0"/>
      <p:bldP spid="24" grpId="0" animBg="1"/>
      <p:bldP spid="25" grpId="0" animBg="1"/>
      <p:bldP spid="26" grpId="0" animBg="1"/>
      <p:bldP spid="27" grpId="0" animBg="1"/>
      <p:bldP spid="28" grpId="0" animBg="1"/>
      <p:bldP spid="30" grpId="0"/>
      <p:bldP spid="31" grpId="0"/>
      <p:bldP spid="3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5742F80-CEC7-1D9A-379D-4C799B4CD34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16812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sz="4000" dirty="0"/>
              <a:t>Regular expression to NFA using Thompson's rule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0BF6B9A6-CD46-83AC-F8B7-C6191B605F1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80" y="863444"/>
                <a:ext cx="5728707" cy="5590565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1pPr>
                <a:lvl2pPr marL="6858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>
                  <a:buFont typeface="+mj-lt"/>
                  <a:buAutoNum type="arabicPeriod" startAt="4"/>
                </a:pPr>
                <a:r>
                  <a:rPr lang="en-US" dirty="0"/>
                  <a:t>For regular expression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dirty="0"/>
              </a:p>
              <a:p>
                <a:pPr marL="457200" indent="-457200">
                  <a:buFont typeface="+mj-lt"/>
                  <a:buAutoNum type="arabicPeriod" startAt="4"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457200" indent="-457200">
                  <a:buFont typeface="+mj-lt"/>
                  <a:buAutoNum type="arabicPeriod" startAt="3"/>
                </a:pPr>
                <a:endParaRPr lang="en-US" dirty="0"/>
              </a:p>
              <a:p>
                <a:pPr marL="457200" indent="-457200">
                  <a:buFont typeface="+mj-lt"/>
                  <a:buAutoNum type="arabicPeriod" startAt="3"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Ex: (</a:t>
                </a:r>
                <a:r>
                  <a:rPr lang="en-US" dirty="0" err="1"/>
                  <a:t>a|b</a:t>
                </a:r>
                <a:r>
                  <a:rPr lang="en-US" dirty="0"/>
                  <a:t>)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dirty="0"/>
              </a:p>
              <a:p>
                <a:pPr marL="457200" indent="-457200">
                  <a:buFont typeface="+mj-lt"/>
                  <a:buAutoNum type="arabicPeriod" startAt="3"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BF6B9A6-CD46-83AC-F8B7-C6191B605F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0" y="863444"/>
                <a:ext cx="5728707" cy="5590565"/>
              </a:xfrm>
              <a:prstGeom prst="rect">
                <a:avLst/>
              </a:prstGeom>
              <a:blipFill rotWithShape="0">
                <a:blip r:embed="rId2"/>
                <a:stretch>
                  <a:fillRect l="-2662" t="-28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xmlns="" id="{BCCAF5A9-9F83-0BFF-8E43-A945BD0185AC}"/>
                  </a:ext>
                </a:extLst>
              </p:cNvPr>
              <p:cNvSpPr/>
              <p:nvPr/>
            </p:nvSpPr>
            <p:spPr>
              <a:xfrm>
                <a:off x="1447303" y="2367949"/>
                <a:ext cx="609600" cy="609600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CCAF5A9-9F83-0BFF-8E43-A945BD0185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303" y="2367949"/>
                <a:ext cx="609600" cy="609600"/>
              </a:xfrm>
              <a:prstGeom prst="ellipse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xmlns="" id="{CFB62B48-E52D-D16E-02D9-45CF593F5C55}"/>
                  </a:ext>
                </a:extLst>
              </p:cNvPr>
              <p:cNvSpPr/>
              <p:nvPr/>
            </p:nvSpPr>
            <p:spPr>
              <a:xfrm>
                <a:off x="5072397" y="2379841"/>
                <a:ext cx="609600" cy="609600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FB62B48-E52D-D16E-02D9-45CF593F5C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2397" y="2379841"/>
                <a:ext cx="609600" cy="609600"/>
              </a:xfrm>
              <a:prstGeom prst="ellipse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xmlns="" id="{05210927-AFD3-6563-8D95-0DE3F4C3E0F6}"/>
              </a:ext>
            </a:extLst>
          </p:cNvPr>
          <p:cNvCxnSpPr/>
          <p:nvPr/>
        </p:nvCxnSpPr>
        <p:spPr>
          <a:xfrm>
            <a:off x="861516" y="2698921"/>
            <a:ext cx="609600" cy="0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xmlns="" id="{34156873-33E4-03A9-DCD0-CD7B7CD673A6}"/>
              </a:ext>
            </a:extLst>
          </p:cNvPr>
          <p:cNvSpPr/>
          <p:nvPr/>
        </p:nvSpPr>
        <p:spPr>
          <a:xfrm>
            <a:off x="5148597" y="2456041"/>
            <a:ext cx="457200" cy="4572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0A2DAE70-6A49-C453-E214-C78165765EC4}"/>
              </a:ext>
            </a:extLst>
          </p:cNvPr>
          <p:cNvSpPr/>
          <p:nvPr/>
        </p:nvSpPr>
        <p:spPr>
          <a:xfrm>
            <a:off x="703141" y="2313159"/>
            <a:ext cx="721543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start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xmlns="" id="{8337C0AD-B4A1-BAD9-B632-9E2631BF416C}"/>
              </a:ext>
            </a:extLst>
          </p:cNvPr>
          <p:cNvSpPr/>
          <p:nvPr/>
        </p:nvSpPr>
        <p:spPr>
          <a:xfrm>
            <a:off x="2590253" y="1498835"/>
            <a:ext cx="2240280" cy="100584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N(s)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7557E7B2-88B8-7F0C-D5FA-A02714688697}"/>
              </a:ext>
            </a:extLst>
          </p:cNvPr>
          <p:cNvSpPr/>
          <p:nvPr/>
        </p:nvSpPr>
        <p:spPr>
          <a:xfrm>
            <a:off x="2583331" y="2895438"/>
            <a:ext cx="2240280" cy="100584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N(t)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xmlns="" id="{325ACB82-ECB2-BFA7-557E-496388B42538}"/>
              </a:ext>
            </a:extLst>
          </p:cNvPr>
          <p:cNvSpPr/>
          <p:nvPr/>
        </p:nvSpPr>
        <p:spPr>
          <a:xfrm>
            <a:off x="2857036" y="1691050"/>
            <a:ext cx="612648" cy="612648"/>
          </a:xfrm>
          <a:prstGeom prst="ellipse">
            <a:avLst/>
          </a:prstGeom>
          <a:noFill/>
          <a:ln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xmlns="" id="{B9FC4DE8-6439-9440-3E36-AE2B3BFC6C3E}"/>
              </a:ext>
            </a:extLst>
          </p:cNvPr>
          <p:cNvSpPr/>
          <p:nvPr/>
        </p:nvSpPr>
        <p:spPr>
          <a:xfrm>
            <a:off x="3973040" y="1691050"/>
            <a:ext cx="612648" cy="612648"/>
          </a:xfrm>
          <a:prstGeom prst="ellipse">
            <a:avLst/>
          </a:prstGeom>
          <a:noFill/>
          <a:ln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xmlns="" id="{16E8E8FE-AFE2-BCC8-09B3-96FB1CF7640F}"/>
              </a:ext>
            </a:extLst>
          </p:cNvPr>
          <p:cNvSpPr/>
          <p:nvPr/>
        </p:nvSpPr>
        <p:spPr>
          <a:xfrm>
            <a:off x="2857036" y="3091247"/>
            <a:ext cx="612648" cy="612648"/>
          </a:xfrm>
          <a:prstGeom prst="ellipse">
            <a:avLst/>
          </a:prstGeom>
          <a:noFill/>
          <a:ln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xmlns="" id="{D1B01F24-9B4F-9ACA-4831-D1D91F10D732}"/>
              </a:ext>
            </a:extLst>
          </p:cNvPr>
          <p:cNvSpPr/>
          <p:nvPr/>
        </p:nvSpPr>
        <p:spPr>
          <a:xfrm>
            <a:off x="3973040" y="3076343"/>
            <a:ext cx="612648" cy="612648"/>
          </a:xfrm>
          <a:prstGeom prst="ellipse">
            <a:avLst/>
          </a:prstGeom>
          <a:noFill/>
          <a:ln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xmlns="" id="{DAC348F3-0019-1D0D-F9B5-75840C31CB34}"/>
              </a:ext>
            </a:extLst>
          </p:cNvPr>
          <p:cNvCxnSpPr>
            <a:stCxn id="4" idx="7"/>
            <a:endCxn id="11" idx="2"/>
          </p:cNvCxnSpPr>
          <p:nvPr/>
        </p:nvCxnSpPr>
        <p:spPr>
          <a:xfrm flipV="1">
            <a:off x="1967629" y="1997374"/>
            <a:ext cx="889407" cy="459849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xmlns="" id="{4C0FD59A-1F3B-EAFB-648D-C65CFD7B7A2D}"/>
              </a:ext>
            </a:extLst>
          </p:cNvPr>
          <p:cNvCxnSpPr>
            <a:stCxn id="12" idx="6"/>
            <a:endCxn id="5" idx="0"/>
          </p:cNvCxnSpPr>
          <p:nvPr/>
        </p:nvCxnSpPr>
        <p:spPr>
          <a:xfrm>
            <a:off x="4585688" y="1997374"/>
            <a:ext cx="791509" cy="382467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xmlns="" id="{DAB1B5CF-0973-56F9-6B2B-605A3E730677}"/>
              </a:ext>
            </a:extLst>
          </p:cNvPr>
          <p:cNvCxnSpPr>
            <a:stCxn id="4" idx="5"/>
            <a:endCxn id="13" idx="2"/>
          </p:cNvCxnSpPr>
          <p:nvPr/>
        </p:nvCxnSpPr>
        <p:spPr>
          <a:xfrm>
            <a:off x="1967629" y="2888275"/>
            <a:ext cx="889407" cy="509296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xmlns="" id="{07F4E7D9-232A-D940-0942-9A9EF5D92C8A}"/>
              </a:ext>
            </a:extLst>
          </p:cNvPr>
          <p:cNvCxnSpPr>
            <a:stCxn id="14" idx="6"/>
            <a:endCxn id="5" idx="4"/>
          </p:cNvCxnSpPr>
          <p:nvPr/>
        </p:nvCxnSpPr>
        <p:spPr>
          <a:xfrm flipV="1">
            <a:off x="4585688" y="2989441"/>
            <a:ext cx="791509" cy="393226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13417BFF-F546-5F1E-3AE8-E2B35998F511}"/>
              </a:ext>
            </a:extLst>
          </p:cNvPr>
          <p:cNvSpPr/>
          <p:nvPr/>
        </p:nvSpPr>
        <p:spPr>
          <a:xfrm>
            <a:off x="1928408" y="188898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7829EDAE-7700-E96C-5B9D-CF2D6D1BBBFE}"/>
              </a:ext>
            </a:extLst>
          </p:cNvPr>
          <p:cNvSpPr/>
          <p:nvPr/>
        </p:nvSpPr>
        <p:spPr>
          <a:xfrm>
            <a:off x="1981542" y="316352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AF94FF81-C666-F139-6CF1-1C2AEBEB13E5}"/>
              </a:ext>
            </a:extLst>
          </p:cNvPr>
          <p:cNvSpPr/>
          <p:nvPr/>
        </p:nvSpPr>
        <p:spPr>
          <a:xfrm>
            <a:off x="4914436" y="173420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29922872-D4D9-7DB2-9115-B56B5CC08815}"/>
              </a:ext>
            </a:extLst>
          </p:cNvPr>
          <p:cNvSpPr/>
          <p:nvPr/>
        </p:nvSpPr>
        <p:spPr>
          <a:xfrm>
            <a:off x="4914436" y="319153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xmlns="" id="{1AB00F20-CDF0-9D40-C875-F3488BC55F80}"/>
              </a:ext>
            </a:extLst>
          </p:cNvPr>
          <p:cNvSpPr/>
          <p:nvPr/>
        </p:nvSpPr>
        <p:spPr>
          <a:xfrm>
            <a:off x="1701377" y="5008691"/>
            <a:ext cx="612648" cy="612648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+mj-lt"/>
              </a:rPr>
              <a:t>1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xmlns="" id="{B62826C6-21CC-722B-E868-04045558A626}"/>
              </a:ext>
            </a:extLst>
          </p:cNvPr>
          <p:cNvSpPr/>
          <p:nvPr/>
        </p:nvSpPr>
        <p:spPr>
          <a:xfrm>
            <a:off x="2694453" y="4241230"/>
            <a:ext cx="612648" cy="612648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+mj-lt"/>
              </a:rPr>
              <a:t>2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xmlns="" id="{81A760FD-A769-965F-5ECB-2CEB4329A0E8}"/>
              </a:ext>
            </a:extLst>
          </p:cNvPr>
          <p:cNvSpPr/>
          <p:nvPr/>
        </p:nvSpPr>
        <p:spPr>
          <a:xfrm>
            <a:off x="3792582" y="5742392"/>
            <a:ext cx="612648" cy="612648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+mj-lt"/>
              </a:rPr>
              <a:t>5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xmlns="" id="{62AE8F0D-5BDA-113A-A542-385F1EF9D643}"/>
              </a:ext>
            </a:extLst>
          </p:cNvPr>
          <p:cNvSpPr/>
          <p:nvPr/>
        </p:nvSpPr>
        <p:spPr>
          <a:xfrm>
            <a:off x="3750646" y="4235112"/>
            <a:ext cx="612648" cy="612648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+mj-lt"/>
              </a:rPr>
              <a:t>3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xmlns="" id="{04C07EC8-E728-8CB3-BEA7-A11466B4B47F}"/>
              </a:ext>
            </a:extLst>
          </p:cNvPr>
          <p:cNvSpPr/>
          <p:nvPr/>
        </p:nvSpPr>
        <p:spPr>
          <a:xfrm>
            <a:off x="2679492" y="5770063"/>
            <a:ext cx="612648" cy="612648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+mj-lt"/>
              </a:rPr>
              <a:t>4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xmlns="" id="{16A46E06-1CA2-D54A-F884-F0CF6F7A7D5F}"/>
              </a:ext>
            </a:extLst>
          </p:cNvPr>
          <p:cNvSpPr/>
          <p:nvPr/>
        </p:nvSpPr>
        <p:spPr>
          <a:xfrm>
            <a:off x="4764549" y="5008691"/>
            <a:ext cx="612648" cy="612648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+mj-lt"/>
              </a:rPr>
              <a:t>6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xmlns="" id="{EA7EA92A-DAF0-7E2B-8E27-19C40D9D931F}"/>
              </a:ext>
            </a:extLst>
          </p:cNvPr>
          <p:cNvCxnSpPr>
            <a:stCxn id="24" idx="6"/>
            <a:endCxn id="26" idx="2"/>
          </p:cNvCxnSpPr>
          <p:nvPr/>
        </p:nvCxnSpPr>
        <p:spPr>
          <a:xfrm flipV="1">
            <a:off x="3307101" y="4541436"/>
            <a:ext cx="443545" cy="6118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xmlns="" id="{9F896A63-ACAD-9406-8819-C85ED774053E}"/>
              </a:ext>
            </a:extLst>
          </p:cNvPr>
          <p:cNvSpPr/>
          <p:nvPr/>
        </p:nvSpPr>
        <p:spPr>
          <a:xfrm>
            <a:off x="3324904" y="4176532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xmlns="" id="{A5B29659-6AAC-EEFA-53FE-B7C1BC47F125}"/>
              </a:ext>
            </a:extLst>
          </p:cNvPr>
          <p:cNvSpPr/>
          <p:nvPr/>
        </p:nvSpPr>
        <p:spPr>
          <a:xfrm>
            <a:off x="3324904" y="612179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xmlns="" id="{56D4EF30-CA6B-1692-E255-DFAB415CFD0D}"/>
              </a:ext>
            </a:extLst>
          </p:cNvPr>
          <p:cNvCxnSpPr>
            <a:stCxn id="26" idx="5"/>
          </p:cNvCxnSpPr>
          <p:nvPr/>
        </p:nvCxnSpPr>
        <p:spPr>
          <a:xfrm>
            <a:off x="4273574" y="4758040"/>
            <a:ext cx="575811" cy="380659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xmlns="" id="{7833D027-DCA5-0DC0-B26B-A458E91CBE18}"/>
              </a:ext>
            </a:extLst>
          </p:cNvPr>
          <p:cNvCxnSpPr>
            <a:endCxn id="28" idx="3"/>
          </p:cNvCxnSpPr>
          <p:nvPr/>
        </p:nvCxnSpPr>
        <p:spPr>
          <a:xfrm flipV="1">
            <a:off x="4341857" y="5531619"/>
            <a:ext cx="512412" cy="381436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xmlns="" id="{E4B4CF1C-E833-07AF-6014-BAE8B933AB40}"/>
              </a:ext>
            </a:extLst>
          </p:cNvPr>
          <p:cNvSpPr/>
          <p:nvPr/>
        </p:nvSpPr>
        <p:spPr>
          <a:xfrm>
            <a:off x="2135437" y="5695701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xmlns="" id="{E8634159-F3CA-2734-98BC-F82DFADB260E}"/>
              </a:ext>
            </a:extLst>
          </p:cNvPr>
          <p:cNvSpPr/>
          <p:nvPr/>
        </p:nvSpPr>
        <p:spPr>
          <a:xfrm>
            <a:off x="2163983" y="4656233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xmlns="" id="{EC0DB5F1-6A33-03E5-FF28-98513AC78101}"/>
              </a:ext>
            </a:extLst>
          </p:cNvPr>
          <p:cNvSpPr/>
          <p:nvPr/>
        </p:nvSpPr>
        <p:spPr>
          <a:xfrm>
            <a:off x="4447415" y="459144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xmlns="" id="{4FD65372-6D86-388A-CAE8-301AA2E9EF02}"/>
              </a:ext>
            </a:extLst>
          </p:cNvPr>
          <p:cNvSpPr/>
          <p:nvPr/>
        </p:nvSpPr>
        <p:spPr>
          <a:xfrm>
            <a:off x="4458094" y="5756981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xmlns="" id="{0846214E-6E32-173D-7E48-F8A35F8C6D7C}"/>
              </a:ext>
            </a:extLst>
          </p:cNvPr>
          <p:cNvCxnSpPr>
            <a:stCxn id="23" idx="7"/>
            <a:endCxn id="24" idx="3"/>
          </p:cNvCxnSpPr>
          <p:nvPr/>
        </p:nvCxnSpPr>
        <p:spPr>
          <a:xfrm flipV="1">
            <a:off x="2224305" y="4764158"/>
            <a:ext cx="559868" cy="334253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xmlns="" id="{3FD26681-AC1D-7A4F-9040-1769B8C35D0B}"/>
              </a:ext>
            </a:extLst>
          </p:cNvPr>
          <p:cNvCxnSpPr>
            <a:stCxn id="23" idx="5"/>
            <a:endCxn id="27" idx="1"/>
          </p:cNvCxnSpPr>
          <p:nvPr/>
        </p:nvCxnSpPr>
        <p:spPr>
          <a:xfrm>
            <a:off x="2224305" y="5531619"/>
            <a:ext cx="544907" cy="328164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xmlns="" id="{5E20BD9E-17DD-C66C-2C90-2EF926C66549}"/>
              </a:ext>
            </a:extLst>
          </p:cNvPr>
          <p:cNvCxnSpPr/>
          <p:nvPr/>
        </p:nvCxnSpPr>
        <p:spPr>
          <a:xfrm>
            <a:off x="1276036" y="5315015"/>
            <a:ext cx="419092" cy="1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xmlns="" id="{3DB27F14-56B9-CAE7-0378-8CDCAF7F4916}"/>
              </a:ext>
            </a:extLst>
          </p:cNvPr>
          <p:cNvSpPr/>
          <p:nvPr/>
        </p:nvSpPr>
        <p:spPr>
          <a:xfrm>
            <a:off x="4842273" y="5086415"/>
            <a:ext cx="457200" cy="4572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xmlns="" id="{5FBE2E3B-7C8C-1422-40D5-48CA498FC588}"/>
              </a:ext>
            </a:extLst>
          </p:cNvPr>
          <p:cNvCxnSpPr>
            <a:stCxn id="27" idx="6"/>
          </p:cNvCxnSpPr>
          <p:nvPr/>
        </p:nvCxnSpPr>
        <p:spPr>
          <a:xfrm flipV="1">
            <a:off x="3292140" y="6067264"/>
            <a:ext cx="514048" cy="9123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Content Placeholder 2">
                <a:extLst>
                  <a:ext uri="{FF2B5EF4-FFF2-40B4-BE49-F238E27FC236}">
                    <a16:creationId xmlns:a16="http://schemas.microsoft.com/office/drawing/2014/main" xmlns="" id="{5BA62692-7251-951F-3405-C42D2A7EDC60}"/>
                  </a:ext>
                </a:extLst>
              </p:cNvPr>
              <p:cNvSpPr txBox="1"/>
              <p:nvPr/>
            </p:nvSpPr>
            <p:spPr>
              <a:xfrm>
                <a:off x="6189257" y="863443"/>
                <a:ext cx="5728707" cy="559056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0E47A1"/>
                  </a:buClr>
                  <a:buFont typeface="Wingdings 3" panose="05040102010807070707" pitchFamily="18" charset="2"/>
                  <a:buChar char="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809625" indent="-352425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E47A1"/>
                  </a:buClr>
                  <a:buFont typeface="Wingdings 3" panose="05040102010807070707" pitchFamily="18" charset="2"/>
                  <a:buChar char="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E47A1"/>
                  </a:buClr>
                  <a:buFont typeface="Wingdings" panose="05000000000000000000" pitchFamily="2" charset="2"/>
                  <a:buChar char="§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E47A1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0E47A1"/>
                  </a:buClr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>
                  <a:buFont typeface="+mj-lt"/>
                  <a:buAutoNum type="arabicPeriod" startAt="5"/>
                </a:pPr>
                <a:r>
                  <a:rPr lang="en-US"/>
                  <a:t>For regular expression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/>
                  <a:t>* </a:t>
                </a:r>
              </a:p>
              <a:p>
                <a:pPr marL="457200" indent="-457200">
                  <a:buFont typeface="+mj-lt"/>
                  <a:buAutoNum type="arabicPeriod" startAt="5"/>
                </a:pPr>
                <a:endParaRPr lang="en-US"/>
              </a:p>
              <a:p>
                <a:pPr marL="457200" indent="-457200">
                  <a:buFont typeface="+mj-lt"/>
                  <a:buAutoNum type="arabicPeriod" startAt="5"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457200" indent="-457200">
                  <a:buFont typeface="+mj-lt"/>
                  <a:buAutoNum type="arabicPeriod" startAt="3"/>
                </a:pPr>
                <a:endParaRPr lang="en-US"/>
              </a:p>
              <a:p>
                <a:pPr marL="457200" indent="-457200">
                  <a:buFont typeface="+mj-lt"/>
                  <a:buAutoNum type="arabicPeriod" startAt="3"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Ex: a*</a:t>
                </a:r>
              </a:p>
              <a:p>
                <a:endParaRPr lang="en-US"/>
              </a:p>
            </p:txBody>
          </p:sp>
        </mc:Choice>
        <mc:Fallback>
          <p:sp>
            <p:nvSpPr>
              <p:cNvPr id="43" name="Content Placeholder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BA62692-7251-951F-3405-C42D2A7EDC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9257" y="863443"/>
                <a:ext cx="5728707" cy="5590565"/>
              </a:xfrm>
              <a:prstGeom prst="rect">
                <a:avLst/>
              </a:prstGeom>
              <a:blipFill rotWithShape="0">
                <a:blip r:embed="rId5"/>
                <a:stretch>
                  <a:fillRect l="-1596" t="-15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xmlns="" id="{0BFEC4C4-A67E-FA4A-995F-15DBD45A7325}"/>
                  </a:ext>
                </a:extLst>
              </p:cNvPr>
              <p:cNvSpPr/>
              <p:nvPr/>
            </p:nvSpPr>
            <p:spPr>
              <a:xfrm>
                <a:off x="7069689" y="2230213"/>
                <a:ext cx="609600" cy="609600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BFEC4C4-A67E-FA4A-995F-15DBD45A73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9689" y="2230213"/>
                <a:ext cx="609600" cy="609600"/>
              </a:xfrm>
              <a:prstGeom prst="ellipse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xmlns="" id="{DDF3DFFB-1481-2BE6-AF4F-D0CD907F4024}"/>
                  </a:ext>
                </a:extLst>
              </p:cNvPr>
              <p:cNvSpPr/>
              <p:nvPr/>
            </p:nvSpPr>
            <p:spPr>
              <a:xfrm>
                <a:off x="10694783" y="2242105"/>
                <a:ext cx="609600" cy="609600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DDF3DFFB-1481-2BE6-AF4F-D0CD907F40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4783" y="2242105"/>
                <a:ext cx="609600" cy="609600"/>
              </a:xfrm>
              <a:prstGeom prst="ellipse">
                <a:avLst/>
              </a:prstGeom>
              <a:blipFill rotWithShape="0"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xmlns="" id="{77847FB6-C1E7-F526-EF0A-60EF8E22F203}"/>
              </a:ext>
            </a:extLst>
          </p:cNvPr>
          <p:cNvCxnSpPr/>
          <p:nvPr/>
        </p:nvCxnSpPr>
        <p:spPr>
          <a:xfrm>
            <a:off x="6483902" y="2561185"/>
            <a:ext cx="609600" cy="0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xmlns="" id="{C9EB3455-37CC-9227-3ADC-6A90CFD55F2D}"/>
              </a:ext>
            </a:extLst>
          </p:cNvPr>
          <p:cNvSpPr/>
          <p:nvPr/>
        </p:nvSpPr>
        <p:spPr>
          <a:xfrm>
            <a:off x="10770983" y="2318305"/>
            <a:ext cx="457200" cy="4572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xmlns="" id="{9396E685-E390-0C45-A265-46115A18850A}"/>
              </a:ext>
            </a:extLst>
          </p:cNvPr>
          <p:cNvSpPr/>
          <p:nvPr/>
        </p:nvSpPr>
        <p:spPr>
          <a:xfrm>
            <a:off x="6325527" y="2175423"/>
            <a:ext cx="721543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start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xmlns="" id="{69C0B07F-901C-2A3E-C093-6011CCBCE96A}"/>
              </a:ext>
            </a:extLst>
          </p:cNvPr>
          <p:cNvSpPr/>
          <p:nvPr/>
        </p:nvSpPr>
        <p:spPr>
          <a:xfrm>
            <a:off x="8312038" y="2121294"/>
            <a:ext cx="2057400" cy="76676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N(s)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xmlns="" id="{C5334EEF-A1FB-8F07-C14A-7A2B40DBC8CD}"/>
              </a:ext>
            </a:extLst>
          </p:cNvPr>
          <p:cNvSpPr/>
          <p:nvPr/>
        </p:nvSpPr>
        <p:spPr>
          <a:xfrm>
            <a:off x="8622329" y="2323670"/>
            <a:ext cx="436544" cy="408391"/>
          </a:xfrm>
          <a:prstGeom prst="ellipse">
            <a:avLst/>
          </a:prstGeom>
          <a:noFill/>
          <a:ln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xmlns="" id="{CB816C8A-82D3-B812-8C18-CB89F2467868}"/>
              </a:ext>
            </a:extLst>
          </p:cNvPr>
          <p:cNvSpPr/>
          <p:nvPr/>
        </p:nvSpPr>
        <p:spPr>
          <a:xfrm>
            <a:off x="9598949" y="2330097"/>
            <a:ext cx="436544" cy="408391"/>
          </a:xfrm>
          <a:prstGeom prst="ellipse">
            <a:avLst/>
          </a:prstGeom>
          <a:noFill/>
          <a:ln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xmlns="" id="{6C036B21-2F5D-196A-C703-048C48DB3522}"/>
              </a:ext>
            </a:extLst>
          </p:cNvPr>
          <p:cNvCxnSpPr>
            <a:stCxn id="44" idx="6"/>
            <a:endCxn id="50" idx="2"/>
          </p:cNvCxnSpPr>
          <p:nvPr/>
        </p:nvCxnSpPr>
        <p:spPr>
          <a:xfrm flipV="1">
            <a:off x="7679289" y="2527866"/>
            <a:ext cx="943040" cy="7147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xmlns="" id="{9EF5DA32-625C-DD0B-0AF5-6303C47A106B}"/>
              </a:ext>
            </a:extLst>
          </p:cNvPr>
          <p:cNvCxnSpPr>
            <a:stCxn id="51" idx="6"/>
            <a:endCxn id="45" idx="2"/>
          </p:cNvCxnSpPr>
          <p:nvPr/>
        </p:nvCxnSpPr>
        <p:spPr>
          <a:xfrm>
            <a:off x="10035493" y="2534293"/>
            <a:ext cx="659290" cy="12612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xmlns="" id="{BD997A1A-0BC1-4CFC-67B1-A4AAD82C5845}"/>
              </a:ext>
            </a:extLst>
          </p:cNvPr>
          <p:cNvSpPr/>
          <p:nvPr/>
        </p:nvSpPr>
        <p:spPr>
          <a:xfrm>
            <a:off x="7826046" y="216531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xmlns="" id="{474FC81E-C243-602F-E447-24C7C675CA33}"/>
              </a:ext>
            </a:extLst>
          </p:cNvPr>
          <p:cNvSpPr/>
          <p:nvPr/>
        </p:nvSpPr>
        <p:spPr>
          <a:xfrm>
            <a:off x="10348874" y="2169971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56" name="Curved Connector 55">
            <a:extLst>
              <a:ext uri="{FF2B5EF4-FFF2-40B4-BE49-F238E27FC236}">
                <a16:creationId xmlns:a16="http://schemas.microsoft.com/office/drawing/2014/main" xmlns="" id="{CBD3154A-AC22-813A-AD62-20B9D17DC384}"/>
              </a:ext>
            </a:extLst>
          </p:cNvPr>
          <p:cNvCxnSpPr>
            <a:stCxn id="51" idx="0"/>
            <a:endCxn id="50" idx="0"/>
          </p:cNvCxnSpPr>
          <p:nvPr/>
        </p:nvCxnSpPr>
        <p:spPr>
          <a:xfrm rot="16200000" flipV="1">
            <a:off x="9325698" y="1838574"/>
            <a:ext cx="6427" cy="976620"/>
          </a:xfrm>
          <a:prstGeom prst="curvedConnector3">
            <a:avLst>
              <a:gd name="adj1" fmla="val 8547565"/>
            </a:avLst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urved Connector 56">
            <a:extLst>
              <a:ext uri="{FF2B5EF4-FFF2-40B4-BE49-F238E27FC236}">
                <a16:creationId xmlns:a16="http://schemas.microsoft.com/office/drawing/2014/main" xmlns="" id="{3B79FDA9-F7C9-86C3-E026-A4F48C47FE9B}"/>
              </a:ext>
            </a:extLst>
          </p:cNvPr>
          <p:cNvCxnSpPr>
            <a:stCxn id="44" idx="4"/>
            <a:endCxn id="45" idx="4"/>
          </p:cNvCxnSpPr>
          <p:nvPr/>
        </p:nvCxnSpPr>
        <p:spPr>
          <a:xfrm rot="16200000" flipH="1">
            <a:off x="9181090" y="1033212"/>
            <a:ext cx="11892" cy="3625094"/>
          </a:xfrm>
          <a:prstGeom prst="curvedConnector3">
            <a:avLst>
              <a:gd name="adj1" fmla="val 6093054"/>
            </a:avLst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xmlns="" id="{8B98DC24-5AD0-237F-C5A5-92B0AE41B091}"/>
              </a:ext>
            </a:extLst>
          </p:cNvPr>
          <p:cNvSpPr/>
          <p:nvPr/>
        </p:nvSpPr>
        <p:spPr>
          <a:xfrm>
            <a:off x="9040057" y="319817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xmlns="" id="{BE6B2E3C-7B72-9761-BBBD-533ADD1745EC}"/>
              </a:ext>
            </a:extLst>
          </p:cNvPr>
          <p:cNvSpPr/>
          <p:nvPr/>
        </p:nvSpPr>
        <p:spPr>
          <a:xfrm>
            <a:off x="9225862" y="142819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xmlns="" id="{764E3BE5-EEE2-56BE-F056-AE5784BD12E0}"/>
              </a:ext>
            </a:extLst>
          </p:cNvPr>
          <p:cNvSpPr/>
          <p:nvPr/>
        </p:nvSpPr>
        <p:spPr>
          <a:xfrm>
            <a:off x="6741769" y="4662608"/>
            <a:ext cx="609600" cy="609600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>
                <a:latin typeface="+mj-lt"/>
              </a:rPr>
              <a:t>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xmlns="" id="{B3A2784D-2A92-6063-6868-2A8521DFBAB7}"/>
                  </a:ext>
                </a:extLst>
              </p:cNvPr>
              <p:cNvSpPr/>
              <p:nvPr/>
            </p:nvSpPr>
            <p:spPr>
              <a:xfrm>
                <a:off x="10366863" y="4687947"/>
                <a:ext cx="609600" cy="609600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3A2784D-2A92-6063-6868-2A8521DFBA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6863" y="4687947"/>
                <a:ext cx="609600" cy="609600"/>
              </a:xfrm>
              <a:prstGeom prst="ellipse">
                <a:avLst/>
              </a:prstGeom>
              <a:blipFill rotWithShape="0"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xmlns="" id="{924A56B3-EE56-9390-B3B4-14321D61E282}"/>
              </a:ext>
            </a:extLst>
          </p:cNvPr>
          <p:cNvCxnSpPr/>
          <p:nvPr/>
        </p:nvCxnSpPr>
        <p:spPr>
          <a:xfrm>
            <a:off x="6155982" y="4993580"/>
            <a:ext cx="609600" cy="0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Oval 62">
            <a:extLst>
              <a:ext uri="{FF2B5EF4-FFF2-40B4-BE49-F238E27FC236}">
                <a16:creationId xmlns:a16="http://schemas.microsoft.com/office/drawing/2014/main" xmlns="" id="{BAB2E8AC-F546-61CD-BD4F-1230A0EA2F21}"/>
              </a:ext>
            </a:extLst>
          </p:cNvPr>
          <p:cNvSpPr/>
          <p:nvPr/>
        </p:nvSpPr>
        <p:spPr>
          <a:xfrm>
            <a:off x="10452102" y="4772224"/>
            <a:ext cx="438912" cy="441046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xmlns="" id="{9E5B4AFA-0846-CBBB-77AF-EA0BAA49FAA0}"/>
              </a:ext>
            </a:extLst>
          </p:cNvPr>
          <p:cNvCxnSpPr>
            <a:stCxn id="60" idx="6"/>
            <a:endCxn id="71" idx="2"/>
          </p:cNvCxnSpPr>
          <p:nvPr/>
        </p:nvCxnSpPr>
        <p:spPr>
          <a:xfrm>
            <a:off x="7351369" y="4967408"/>
            <a:ext cx="601643" cy="11892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xmlns="" id="{C461BA13-B7A3-7478-CB86-8074AC366692}"/>
              </a:ext>
            </a:extLst>
          </p:cNvPr>
          <p:cNvCxnSpPr>
            <a:stCxn id="72" idx="6"/>
            <a:endCxn id="61" idx="2"/>
          </p:cNvCxnSpPr>
          <p:nvPr/>
        </p:nvCxnSpPr>
        <p:spPr>
          <a:xfrm>
            <a:off x="9734255" y="4980853"/>
            <a:ext cx="632608" cy="11894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xmlns="" id="{B2C1281F-81F9-409A-3FF0-14CAEDDBA418}"/>
              </a:ext>
            </a:extLst>
          </p:cNvPr>
          <p:cNvSpPr/>
          <p:nvPr/>
        </p:nvSpPr>
        <p:spPr>
          <a:xfrm>
            <a:off x="7498126" y="4597714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xmlns="" id="{6E2495B4-558D-32C0-6366-0E2CF90406F4}"/>
              </a:ext>
            </a:extLst>
          </p:cNvPr>
          <p:cNvSpPr/>
          <p:nvPr/>
        </p:nvSpPr>
        <p:spPr>
          <a:xfrm>
            <a:off x="9831966" y="4597714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68" name="Curved Connector 67">
            <a:extLst>
              <a:ext uri="{FF2B5EF4-FFF2-40B4-BE49-F238E27FC236}">
                <a16:creationId xmlns:a16="http://schemas.microsoft.com/office/drawing/2014/main" xmlns="" id="{36EE9E25-70FD-5982-E0D2-229AFA5B912D}"/>
              </a:ext>
            </a:extLst>
          </p:cNvPr>
          <p:cNvCxnSpPr/>
          <p:nvPr/>
        </p:nvCxnSpPr>
        <p:spPr>
          <a:xfrm rot="16200000" flipH="1">
            <a:off x="8853170" y="3465607"/>
            <a:ext cx="11892" cy="3625094"/>
          </a:xfrm>
          <a:prstGeom prst="curvedConnector3">
            <a:avLst>
              <a:gd name="adj1" fmla="val 6347477"/>
            </a:avLst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 68">
            <a:extLst>
              <a:ext uri="{FF2B5EF4-FFF2-40B4-BE49-F238E27FC236}">
                <a16:creationId xmlns:a16="http://schemas.microsoft.com/office/drawing/2014/main" xmlns="" id="{081A8545-4F55-5150-7180-68D7FAFE76C7}"/>
              </a:ext>
            </a:extLst>
          </p:cNvPr>
          <p:cNvSpPr/>
          <p:nvPr/>
        </p:nvSpPr>
        <p:spPr>
          <a:xfrm>
            <a:off x="8680528" y="564437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xmlns="" id="{C9793C6A-556B-0728-09DD-EFF521F4A3B0}"/>
              </a:ext>
            </a:extLst>
          </p:cNvPr>
          <p:cNvSpPr/>
          <p:nvPr/>
        </p:nvSpPr>
        <p:spPr>
          <a:xfrm>
            <a:off x="8625474" y="3822232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xmlns="" id="{407D5945-B6A1-BFD2-B3A2-6D16657FEED6}"/>
              </a:ext>
            </a:extLst>
          </p:cNvPr>
          <p:cNvSpPr/>
          <p:nvPr/>
        </p:nvSpPr>
        <p:spPr>
          <a:xfrm>
            <a:off x="7953012" y="4674500"/>
            <a:ext cx="609600" cy="609600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>
                <a:latin typeface="+mj-lt"/>
              </a:rPr>
              <a:t>2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xmlns="" id="{E0707E6E-A8F4-6289-6367-FD5602E4F341}"/>
              </a:ext>
            </a:extLst>
          </p:cNvPr>
          <p:cNvSpPr/>
          <p:nvPr/>
        </p:nvSpPr>
        <p:spPr>
          <a:xfrm>
            <a:off x="9124655" y="4676053"/>
            <a:ext cx="609600" cy="609600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>
                <a:latin typeface="+mj-lt"/>
              </a:rPr>
              <a:t>3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xmlns="" id="{C8B92A9E-7533-2F73-4B5D-8C990FC3BA84}"/>
              </a:ext>
            </a:extLst>
          </p:cNvPr>
          <p:cNvCxnSpPr>
            <a:stCxn id="71" idx="6"/>
            <a:endCxn id="72" idx="2"/>
          </p:cNvCxnSpPr>
          <p:nvPr/>
        </p:nvCxnSpPr>
        <p:spPr>
          <a:xfrm>
            <a:off x="8562612" y="4979300"/>
            <a:ext cx="562043" cy="1553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xmlns="" id="{AF3D7DF7-8E83-C468-44C3-96124B09566B}"/>
                  </a:ext>
                </a:extLst>
              </p:cNvPr>
              <p:cNvSpPr/>
              <p:nvPr/>
            </p:nvSpPr>
            <p:spPr>
              <a:xfrm>
                <a:off x="8688932" y="4563824"/>
                <a:ext cx="357176" cy="30956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F3D7DF7-8E83-C468-44C3-96124B0956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8932" y="4563824"/>
                <a:ext cx="357176" cy="309562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5" name="Curved Connector 74">
            <a:extLst>
              <a:ext uri="{FF2B5EF4-FFF2-40B4-BE49-F238E27FC236}">
                <a16:creationId xmlns:a16="http://schemas.microsoft.com/office/drawing/2014/main" xmlns="" id="{632908E3-A3A6-37DE-5385-611F2D3029DD}"/>
              </a:ext>
            </a:extLst>
          </p:cNvPr>
          <p:cNvCxnSpPr>
            <a:stCxn id="72" idx="0"/>
            <a:endCxn id="71" idx="0"/>
          </p:cNvCxnSpPr>
          <p:nvPr/>
        </p:nvCxnSpPr>
        <p:spPr>
          <a:xfrm rot="16200000" flipV="1">
            <a:off x="8842858" y="4089455"/>
            <a:ext cx="1553" cy="1171643"/>
          </a:xfrm>
          <a:prstGeom prst="curvedConnector3">
            <a:avLst>
              <a:gd name="adj1" fmla="val 33869156"/>
            </a:avLst>
          </a:prstGeom>
          <a:ln w="25400">
            <a:solidFill>
              <a:srgbClr val="0E47A1"/>
            </a:solidFill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xmlns="" id="{B95F2EA6-B72C-B000-6080-4F0415478DC8}"/>
              </a:ext>
            </a:extLst>
          </p:cNvPr>
          <p:cNvCxnSpPr/>
          <p:nvPr/>
        </p:nvCxnSpPr>
        <p:spPr>
          <a:xfrm rot="5400000">
            <a:off x="3171592" y="3545520"/>
            <a:ext cx="5486400" cy="0"/>
          </a:xfrm>
          <a:prstGeom prst="line">
            <a:avLst/>
          </a:prstGeom>
          <a:ln>
            <a:solidFill>
              <a:srgbClr val="0E47A1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8084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" fill="hold">
                            <p:stCondLst>
                              <p:cond delay="500"/>
                            </p:stCondLst>
                            <p:childTnLst>
                              <p:par>
                                <p:cTn id="248" presetID="22" presetClass="entr" presetSubtype="8" dur="5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1" fill="hold">
                            <p:stCondLst>
                              <p:cond delay="1500"/>
                            </p:stCondLst>
                            <p:childTnLst>
                              <p:par>
                                <p:cTn id="252" presetID="22" presetClass="entr" presetSubtype="8" dur="5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9" grpId="0"/>
      <p:bldP spid="20" grpId="0"/>
      <p:bldP spid="21" grpId="0"/>
      <p:bldP spid="22" grpId="0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0" grpId="0"/>
      <p:bldP spid="31" grpId="0"/>
      <p:bldP spid="34" grpId="0"/>
      <p:bldP spid="35" grpId="0"/>
      <p:bldP spid="36" grpId="0"/>
      <p:bldP spid="37" grpId="0"/>
      <p:bldP spid="41" grpId="0" animBg="1"/>
      <p:bldP spid="44" grpId="0" animBg="1"/>
      <p:bldP spid="45" grpId="0" animBg="1"/>
      <p:bldP spid="47" grpId="0" animBg="1"/>
      <p:bldP spid="48" grpId="0"/>
      <p:bldP spid="49" grpId="0" animBg="1"/>
      <p:bldP spid="50" grpId="0" animBg="1"/>
      <p:bldP spid="51" grpId="0" animBg="1"/>
      <p:bldP spid="54" grpId="0"/>
      <p:bldP spid="55" grpId="0"/>
      <p:bldP spid="58" grpId="0"/>
      <p:bldP spid="59" grpId="0"/>
      <p:bldP spid="60" grpId="0" animBg="1"/>
      <p:bldP spid="61" grpId="0" animBg="1"/>
      <p:bldP spid="63" grpId="0" animBg="1"/>
      <p:bldP spid="66" grpId="0"/>
      <p:bldP spid="67" grpId="0"/>
      <p:bldP spid="69" grpId="0"/>
      <p:bldP spid="70" grpId="0"/>
      <p:bldP spid="71" grpId="0" animBg="1"/>
      <p:bldP spid="72" grpId="0" animBg="1"/>
      <p:bldP spid="7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0C8734-805E-94F8-9AAD-6FD6A1525EEB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sz="4000" dirty="0"/>
              <a:t>Regular expression to NFA using Thompson's rule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40559BF-E69B-750B-82E1-26368FF2EBF8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a*b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b*ab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F8B573F9-6F4A-80E7-4DB6-34239D312A14}"/>
              </a:ext>
            </a:extLst>
          </p:cNvPr>
          <p:cNvSpPr/>
          <p:nvPr/>
        </p:nvSpPr>
        <p:spPr>
          <a:xfrm>
            <a:off x="2512220" y="1872260"/>
            <a:ext cx="609600" cy="609600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>
                <a:latin typeface="+mj-lt"/>
              </a:rPr>
              <a:t>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xmlns="" id="{C3E523B3-5983-930C-28F8-EAC447F4A3FB}"/>
                  </a:ext>
                </a:extLst>
              </p:cNvPr>
              <p:cNvSpPr/>
              <p:nvPr/>
            </p:nvSpPr>
            <p:spPr>
              <a:xfrm>
                <a:off x="6162698" y="1881180"/>
                <a:ext cx="609600" cy="609600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3E523B3-5983-930C-28F8-EAC447F4A3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2698" y="1881180"/>
                <a:ext cx="609600" cy="609600"/>
              </a:xfrm>
              <a:prstGeom prst="ellipse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xmlns="" id="{1B2CE671-CFE5-9CD3-648F-89139A68802D}"/>
              </a:ext>
            </a:extLst>
          </p:cNvPr>
          <p:cNvCxnSpPr/>
          <p:nvPr/>
        </p:nvCxnSpPr>
        <p:spPr>
          <a:xfrm>
            <a:off x="1926433" y="2185972"/>
            <a:ext cx="609600" cy="0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xmlns="" id="{10B870F8-9620-76A8-87FB-A29EF9606EF3}"/>
              </a:ext>
            </a:extLst>
          </p:cNvPr>
          <p:cNvCxnSpPr>
            <a:endCxn id="5" idx="2"/>
          </p:cNvCxnSpPr>
          <p:nvPr/>
        </p:nvCxnSpPr>
        <p:spPr>
          <a:xfrm>
            <a:off x="5410200" y="2185979"/>
            <a:ext cx="752498" cy="1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66FC1748-3992-6DB0-5BFF-EE54F799305D}"/>
              </a:ext>
            </a:extLst>
          </p:cNvPr>
          <p:cNvSpPr/>
          <p:nvPr/>
        </p:nvSpPr>
        <p:spPr>
          <a:xfrm>
            <a:off x="3268577" y="1804394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5ADA0C98-4229-5AE3-7AF9-4B65DD0600DC}"/>
              </a:ext>
            </a:extLst>
          </p:cNvPr>
          <p:cNvSpPr/>
          <p:nvPr/>
        </p:nvSpPr>
        <p:spPr>
          <a:xfrm>
            <a:off x="5602417" y="1804394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0" name="Curved Connector 9">
            <a:extLst>
              <a:ext uri="{FF2B5EF4-FFF2-40B4-BE49-F238E27FC236}">
                <a16:creationId xmlns:a16="http://schemas.microsoft.com/office/drawing/2014/main" xmlns="" id="{A3DAA771-80C6-F61E-BDC8-06C5ADDA8BE3}"/>
              </a:ext>
            </a:extLst>
          </p:cNvPr>
          <p:cNvCxnSpPr>
            <a:stCxn id="4" idx="4"/>
            <a:endCxn id="5" idx="4"/>
          </p:cNvCxnSpPr>
          <p:nvPr/>
        </p:nvCxnSpPr>
        <p:spPr>
          <a:xfrm rot="16200000" flipH="1">
            <a:off x="4637799" y="661081"/>
            <a:ext cx="8920" cy="3650478"/>
          </a:xfrm>
          <a:prstGeom prst="curvedConnector3">
            <a:avLst>
              <a:gd name="adj1" fmla="val 9446614"/>
            </a:avLst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6D5E5FC3-A982-96A4-A148-FB19564A21CA}"/>
              </a:ext>
            </a:extLst>
          </p:cNvPr>
          <p:cNvSpPr/>
          <p:nvPr/>
        </p:nvSpPr>
        <p:spPr>
          <a:xfrm>
            <a:off x="4450979" y="285105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xmlns="" id="{BB831D7F-DB95-5172-4570-D99425590863}"/>
              </a:ext>
            </a:extLst>
          </p:cNvPr>
          <p:cNvSpPr/>
          <p:nvPr/>
        </p:nvSpPr>
        <p:spPr>
          <a:xfrm>
            <a:off x="3729046" y="1878206"/>
            <a:ext cx="609600" cy="609600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>
                <a:latin typeface="+mj-lt"/>
              </a:rPr>
              <a:t>2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xmlns="" id="{86911B81-4B3A-B160-9A97-68B3BC53F53B}"/>
              </a:ext>
            </a:extLst>
          </p:cNvPr>
          <p:cNvSpPr/>
          <p:nvPr/>
        </p:nvSpPr>
        <p:spPr>
          <a:xfrm>
            <a:off x="4945872" y="1869286"/>
            <a:ext cx="609600" cy="609600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>
                <a:latin typeface="+mj-lt"/>
              </a:rPr>
              <a:t>3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xmlns="" id="{79E59E2D-C141-209A-5A06-4D6B37B3C428}"/>
              </a:ext>
            </a:extLst>
          </p:cNvPr>
          <p:cNvCxnSpPr/>
          <p:nvPr/>
        </p:nvCxnSpPr>
        <p:spPr>
          <a:xfrm flipV="1">
            <a:off x="4352092" y="2180032"/>
            <a:ext cx="594360" cy="2974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xmlns="" id="{9D95935E-0CB4-F9CA-FBA2-9DFA3BAF0373}"/>
                  </a:ext>
                </a:extLst>
              </p:cNvPr>
              <p:cNvSpPr/>
              <p:nvPr/>
            </p:nvSpPr>
            <p:spPr>
              <a:xfrm>
                <a:off x="4459383" y="1770504"/>
                <a:ext cx="357176" cy="30956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9D95935E-0CB4-F9CA-FBA2-9DFA3BAF03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9383" y="1770504"/>
                <a:ext cx="357176" cy="30956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Curved Connector 15">
            <a:extLst>
              <a:ext uri="{FF2B5EF4-FFF2-40B4-BE49-F238E27FC236}">
                <a16:creationId xmlns:a16="http://schemas.microsoft.com/office/drawing/2014/main" xmlns="" id="{88CAB0C1-2E8D-0F64-3BE9-D8FB4CFE33A2}"/>
              </a:ext>
            </a:extLst>
          </p:cNvPr>
          <p:cNvCxnSpPr/>
          <p:nvPr/>
        </p:nvCxnSpPr>
        <p:spPr>
          <a:xfrm rot="16200000" flipH="1" flipV="1">
            <a:off x="4608138" y="1289412"/>
            <a:ext cx="11894" cy="1171643"/>
          </a:xfrm>
          <a:prstGeom prst="curvedConnector3">
            <a:avLst>
              <a:gd name="adj1" fmla="val -4444611"/>
            </a:avLst>
          </a:prstGeom>
          <a:ln w="25400">
            <a:solidFill>
              <a:srgbClr val="0E47A1"/>
            </a:solidFill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xmlns="" id="{DAC01303-D559-3556-38B3-F4BB225561C4}"/>
                  </a:ext>
                </a:extLst>
              </p:cNvPr>
              <p:cNvSpPr/>
              <p:nvPr/>
            </p:nvSpPr>
            <p:spPr>
              <a:xfrm>
                <a:off x="7379522" y="1875233"/>
                <a:ext cx="609600" cy="609600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DAC01303-D559-3556-38B3-F4BB225561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9522" y="1875233"/>
                <a:ext cx="609600" cy="609600"/>
              </a:xfrm>
              <a:prstGeom prst="ellipse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xmlns="" id="{033BC7D1-5D90-756C-9DD2-33F2C15C42BE}"/>
                  </a:ext>
                </a:extLst>
              </p:cNvPr>
              <p:cNvSpPr/>
              <p:nvPr/>
            </p:nvSpPr>
            <p:spPr>
              <a:xfrm>
                <a:off x="6884630" y="1757315"/>
                <a:ext cx="357176" cy="30956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33BC7D1-5D90-756C-9DD2-33F2C15C42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4630" y="1757315"/>
                <a:ext cx="357176" cy="309562"/>
              </a:xfrm>
              <a:prstGeom prst="rect">
                <a:avLst/>
              </a:prstGeom>
              <a:blipFill rotWithShape="0">
                <a:blip r:embed="rId5"/>
                <a:stretch>
                  <a:fillRect b="-39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Oval 18">
            <a:extLst>
              <a:ext uri="{FF2B5EF4-FFF2-40B4-BE49-F238E27FC236}">
                <a16:creationId xmlns:a16="http://schemas.microsoft.com/office/drawing/2014/main" xmlns="" id="{E6615C72-3A71-B9E1-3EB3-08954CEEF85E}"/>
              </a:ext>
            </a:extLst>
          </p:cNvPr>
          <p:cNvSpPr/>
          <p:nvPr/>
        </p:nvSpPr>
        <p:spPr>
          <a:xfrm>
            <a:off x="7455722" y="1951433"/>
            <a:ext cx="457200" cy="4572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xmlns="" id="{ABE067A4-B0F6-444F-F7A3-31C3587C8635}"/>
              </a:ext>
            </a:extLst>
          </p:cNvPr>
          <p:cNvCxnSpPr/>
          <p:nvPr/>
        </p:nvCxnSpPr>
        <p:spPr>
          <a:xfrm flipV="1">
            <a:off x="3128142" y="2197701"/>
            <a:ext cx="594360" cy="2974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xmlns="" id="{D6F9FD9D-5083-BBF6-0438-C95C5F15EA8E}"/>
              </a:ext>
            </a:extLst>
          </p:cNvPr>
          <p:cNvCxnSpPr/>
          <p:nvPr/>
        </p:nvCxnSpPr>
        <p:spPr>
          <a:xfrm flipV="1">
            <a:off x="6760351" y="2197701"/>
            <a:ext cx="594360" cy="2974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xmlns="" id="{2B2355EC-98A6-C6F3-24FC-A43125E73425}"/>
              </a:ext>
            </a:extLst>
          </p:cNvPr>
          <p:cNvSpPr/>
          <p:nvPr/>
        </p:nvSpPr>
        <p:spPr>
          <a:xfrm>
            <a:off x="1643413" y="4738128"/>
            <a:ext cx="609600" cy="609600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>
                <a:latin typeface="+mj-lt"/>
              </a:rPr>
              <a:t>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xmlns="" id="{4FEF34CB-30DE-D37F-C39C-34CD355D93A6}"/>
                  </a:ext>
                </a:extLst>
              </p:cNvPr>
              <p:cNvSpPr/>
              <p:nvPr/>
            </p:nvSpPr>
            <p:spPr>
              <a:xfrm>
                <a:off x="5286001" y="4761874"/>
                <a:ext cx="609600" cy="609600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4FEF34CB-30DE-D37F-C39C-34CD355D93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6001" y="4761874"/>
                <a:ext cx="609600" cy="609600"/>
              </a:xfrm>
              <a:prstGeom prst="ellipse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xmlns="" id="{8C4616CC-8E62-06D1-142C-253015EBDE53}"/>
              </a:ext>
            </a:extLst>
          </p:cNvPr>
          <p:cNvCxnSpPr/>
          <p:nvPr/>
        </p:nvCxnSpPr>
        <p:spPr>
          <a:xfrm>
            <a:off x="1057626" y="5057229"/>
            <a:ext cx="609600" cy="0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xmlns="" id="{73C2B9E7-017F-853F-C442-726346BE2F86}"/>
              </a:ext>
            </a:extLst>
          </p:cNvPr>
          <p:cNvCxnSpPr>
            <a:stCxn id="22" idx="6"/>
            <a:endCxn id="31" idx="2"/>
          </p:cNvCxnSpPr>
          <p:nvPr/>
        </p:nvCxnSpPr>
        <p:spPr>
          <a:xfrm flipV="1">
            <a:off x="2253013" y="5042057"/>
            <a:ext cx="632772" cy="871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398A6EAA-51DB-2F87-8767-63BC187AD8DF}"/>
              </a:ext>
            </a:extLst>
          </p:cNvPr>
          <p:cNvSpPr/>
          <p:nvPr/>
        </p:nvSpPr>
        <p:spPr>
          <a:xfrm>
            <a:off x="2399770" y="4661363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5B817812-C47C-F398-446F-7F12C8A5FCDC}"/>
              </a:ext>
            </a:extLst>
          </p:cNvPr>
          <p:cNvSpPr/>
          <p:nvPr/>
        </p:nvSpPr>
        <p:spPr>
          <a:xfrm>
            <a:off x="4733610" y="4661363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8" name="Curved Connector 27">
            <a:extLst>
              <a:ext uri="{FF2B5EF4-FFF2-40B4-BE49-F238E27FC236}">
                <a16:creationId xmlns:a16="http://schemas.microsoft.com/office/drawing/2014/main" xmlns="" id="{41226D5A-EB19-9089-7057-F2DD658807AA}"/>
              </a:ext>
            </a:extLst>
          </p:cNvPr>
          <p:cNvCxnSpPr>
            <a:stCxn id="22" idx="4"/>
            <a:endCxn id="23" idx="4"/>
          </p:cNvCxnSpPr>
          <p:nvPr/>
        </p:nvCxnSpPr>
        <p:spPr>
          <a:xfrm rot="16200000" flipH="1">
            <a:off x="3757634" y="3538307"/>
            <a:ext cx="23746" cy="3642588"/>
          </a:xfrm>
          <a:prstGeom prst="curvedConnector3">
            <a:avLst>
              <a:gd name="adj1" fmla="val 3610983"/>
            </a:avLst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xmlns="" id="{AE57D9E2-157B-8EAD-EE47-F94C4187D6D6}"/>
              </a:ext>
            </a:extLst>
          </p:cNvPr>
          <p:cNvSpPr/>
          <p:nvPr/>
        </p:nvSpPr>
        <p:spPr>
          <a:xfrm>
            <a:off x="3590919" y="581441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xmlns="" id="{187C0DD7-55CE-5B56-88CE-6F98E7D2B53D}"/>
              </a:ext>
            </a:extLst>
          </p:cNvPr>
          <p:cNvSpPr/>
          <p:nvPr/>
        </p:nvSpPr>
        <p:spPr>
          <a:xfrm>
            <a:off x="3527118" y="3885881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xmlns="" id="{F6C4FEDB-0D07-B201-468A-20F658BCA126}"/>
              </a:ext>
            </a:extLst>
          </p:cNvPr>
          <p:cNvSpPr/>
          <p:nvPr/>
        </p:nvSpPr>
        <p:spPr>
          <a:xfrm>
            <a:off x="2885785" y="4737257"/>
            <a:ext cx="609600" cy="609600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>
                <a:latin typeface="+mj-lt"/>
              </a:rPr>
              <a:t>2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xmlns="" id="{F5E5C92B-9FCE-1461-F6AA-2C5C78534B78}"/>
              </a:ext>
            </a:extLst>
          </p:cNvPr>
          <p:cNvSpPr/>
          <p:nvPr/>
        </p:nvSpPr>
        <p:spPr>
          <a:xfrm>
            <a:off x="4085252" y="4750001"/>
            <a:ext cx="609600" cy="609600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>
                <a:latin typeface="+mj-lt"/>
              </a:rPr>
              <a:t>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xmlns="" id="{3D62A6F2-EA2A-1C1D-611D-B0CD684EADC6}"/>
                  </a:ext>
                </a:extLst>
              </p:cNvPr>
              <p:cNvSpPr/>
              <p:nvPr/>
            </p:nvSpPr>
            <p:spPr>
              <a:xfrm>
                <a:off x="3564291" y="4680972"/>
                <a:ext cx="357176" cy="30956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3D62A6F2-EA2A-1C1D-611D-B0CD684EAD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4291" y="4680972"/>
                <a:ext cx="357176" cy="309562"/>
              </a:xfrm>
              <a:prstGeom prst="rect">
                <a:avLst/>
              </a:prstGeom>
              <a:blipFill rotWithShape="0">
                <a:blip r:embed="rId7"/>
                <a:stretch>
                  <a:fillRect b="-39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Curved Connector 33">
            <a:extLst>
              <a:ext uri="{FF2B5EF4-FFF2-40B4-BE49-F238E27FC236}">
                <a16:creationId xmlns:a16="http://schemas.microsoft.com/office/drawing/2014/main" xmlns="" id="{A50C64E5-5F31-C14D-0A27-1C4F12DDEECC}"/>
              </a:ext>
            </a:extLst>
          </p:cNvPr>
          <p:cNvCxnSpPr/>
          <p:nvPr/>
        </p:nvCxnSpPr>
        <p:spPr>
          <a:xfrm rot="16200000" flipH="1" flipV="1">
            <a:off x="3752778" y="4173275"/>
            <a:ext cx="11894" cy="1171643"/>
          </a:xfrm>
          <a:prstGeom prst="curvedConnector3">
            <a:avLst>
              <a:gd name="adj1" fmla="val -4444611"/>
            </a:avLst>
          </a:prstGeom>
          <a:ln w="25400">
            <a:solidFill>
              <a:srgbClr val="0E47A1"/>
            </a:solidFill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xmlns="" id="{4742BCDA-6CC9-2C4E-C570-4C9D6A748F3A}"/>
                  </a:ext>
                </a:extLst>
              </p:cNvPr>
              <p:cNvSpPr/>
              <p:nvPr/>
            </p:nvSpPr>
            <p:spPr>
              <a:xfrm>
                <a:off x="7714394" y="4773747"/>
                <a:ext cx="609600" cy="612648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4742BCDA-6CC9-2C4E-C570-4C9D6A748F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4394" y="4773747"/>
                <a:ext cx="609600" cy="612648"/>
              </a:xfrm>
              <a:prstGeom prst="ellipse">
                <a:avLst/>
              </a:prstGeom>
              <a:blipFill rotWithShape="0"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xmlns="" id="{D21D8AC4-9518-FE30-DC5C-672535BC6CBA}"/>
              </a:ext>
            </a:extLst>
          </p:cNvPr>
          <p:cNvCxnSpPr>
            <a:stCxn id="37" idx="6"/>
            <a:endCxn id="35" idx="2"/>
          </p:cNvCxnSpPr>
          <p:nvPr/>
        </p:nvCxnSpPr>
        <p:spPr>
          <a:xfrm>
            <a:off x="7109797" y="5078547"/>
            <a:ext cx="604597" cy="1524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xmlns="" id="{83119142-ED89-40BD-0CB9-FE4922C155FF}"/>
              </a:ext>
            </a:extLst>
          </p:cNvPr>
          <p:cNvSpPr/>
          <p:nvPr/>
        </p:nvSpPr>
        <p:spPr>
          <a:xfrm>
            <a:off x="6500197" y="4773747"/>
            <a:ext cx="609600" cy="609600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>
                <a:latin typeface="+mj-lt"/>
              </a:rPr>
              <a:t>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xmlns="" id="{0F9F5A0D-4BC4-5EE2-F9E2-9769D2DEBC06}"/>
                  </a:ext>
                </a:extLst>
              </p:cNvPr>
              <p:cNvSpPr/>
              <p:nvPr/>
            </p:nvSpPr>
            <p:spPr>
              <a:xfrm>
                <a:off x="6005208" y="4661363"/>
                <a:ext cx="357176" cy="30956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F9F5A0D-4BC4-5EE2-F9E2-9769D2DEBC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5208" y="4661363"/>
                <a:ext cx="357176" cy="309562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xmlns="" id="{3C7AEF59-9C39-90E3-874B-737DAFC1A270}"/>
                  </a:ext>
                </a:extLst>
              </p:cNvPr>
              <p:cNvSpPr/>
              <p:nvPr/>
            </p:nvSpPr>
            <p:spPr>
              <a:xfrm>
                <a:off x="7219502" y="4661755"/>
                <a:ext cx="357176" cy="30956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3C7AEF59-9C39-90E3-874B-737DAFC1A2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9502" y="4661755"/>
                <a:ext cx="357176" cy="309562"/>
              </a:xfrm>
              <a:prstGeom prst="rect">
                <a:avLst/>
              </a:prstGeom>
              <a:blipFill rotWithShape="0">
                <a:blip r:embed="rId10"/>
                <a:stretch>
                  <a:fillRect b="-39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Oval 39">
            <a:extLst>
              <a:ext uri="{FF2B5EF4-FFF2-40B4-BE49-F238E27FC236}">
                <a16:creationId xmlns:a16="http://schemas.microsoft.com/office/drawing/2014/main" xmlns="" id="{F41EFC44-68BE-5608-0F7C-AE806F1977BC}"/>
              </a:ext>
            </a:extLst>
          </p:cNvPr>
          <p:cNvSpPr/>
          <p:nvPr/>
        </p:nvSpPr>
        <p:spPr>
          <a:xfrm>
            <a:off x="7790594" y="4851471"/>
            <a:ext cx="457200" cy="4572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xmlns="" id="{F0927F0F-6BD9-559E-749A-BDB63B2D2CFB}"/>
              </a:ext>
            </a:extLst>
          </p:cNvPr>
          <p:cNvCxnSpPr/>
          <p:nvPr/>
        </p:nvCxnSpPr>
        <p:spPr>
          <a:xfrm flipV="1">
            <a:off x="3467209" y="5069843"/>
            <a:ext cx="632772" cy="871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xmlns="" id="{7CDEAFE7-3A2D-8500-8424-51C3AE1C1405}"/>
              </a:ext>
            </a:extLst>
          </p:cNvPr>
          <p:cNvCxnSpPr/>
          <p:nvPr/>
        </p:nvCxnSpPr>
        <p:spPr>
          <a:xfrm flipV="1">
            <a:off x="4696565" y="5075892"/>
            <a:ext cx="632772" cy="871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xmlns="" id="{4532D5C4-DF0B-48DC-1709-D8A02B8BBA89}"/>
              </a:ext>
            </a:extLst>
          </p:cNvPr>
          <p:cNvCxnSpPr/>
          <p:nvPr/>
        </p:nvCxnSpPr>
        <p:spPr>
          <a:xfrm flipV="1">
            <a:off x="5906956" y="5085437"/>
            <a:ext cx="632772" cy="871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6827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8" grpId="0"/>
      <p:bldP spid="9" grpId="0"/>
      <p:bldP spid="11" grpId="0"/>
      <p:bldP spid="12" grpId="0" animBg="1"/>
      <p:bldP spid="13" grpId="0" animBg="1"/>
      <p:bldP spid="15" grpId="0"/>
      <p:bldP spid="17" grpId="0" animBg="1"/>
      <p:bldP spid="18" grpId="0"/>
      <p:bldP spid="19" grpId="0" animBg="1"/>
      <p:bldP spid="22" grpId="0" animBg="1"/>
      <p:bldP spid="23" grpId="0" animBg="1"/>
      <p:bldP spid="26" grpId="0"/>
      <p:bldP spid="27" grpId="0"/>
      <p:bldP spid="29" grpId="0"/>
      <p:bldP spid="30" grpId="0"/>
      <p:bldP spid="31" grpId="0" animBg="1"/>
      <p:bldP spid="32" grpId="0" animBg="1"/>
      <p:bldP spid="33" grpId="0"/>
      <p:bldP spid="35" grpId="0" animBg="1"/>
      <p:bldP spid="37" grpId="0" animBg="1"/>
      <p:bldP spid="38" grpId="0"/>
      <p:bldP spid="39" grpId="0"/>
      <p:bldP spid="4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0F27D25-9C0C-4D63-6D05-41E8D22EFE13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F9726CC-6774-3C01-2D1B-D80D5A55D47D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200" dirty="0"/>
              <a:t>Convert following regular expression to NFA: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 err="1"/>
              <a:t>abba</a:t>
            </a:r>
            <a:endParaRPr lang="en-US" sz="2200" dirty="0"/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bb(a)*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(</a:t>
            </a:r>
            <a:r>
              <a:rPr lang="en-US" sz="2200" dirty="0" err="1"/>
              <a:t>a|b</a:t>
            </a:r>
            <a:r>
              <a:rPr lang="en-US" sz="2200" dirty="0"/>
              <a:t>)*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a* | b*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a(a)*</a:t>
            </a:r>
            <a:r>
              <a:rPr lang="en-US" sz="2200" dirty="0" err="1"/>
              <a:t>ab</a:t>
            </a:r>
            <a:r>
              <a:rPr lang="en-US" sz="2200" dirty="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 err="1"/>
              <a:t>aa</a:t>
            </a:r>
            <a:r>
              <a:rPr lang="en-US" sz="2200" dirty="0"/>
              <a:t>*+ bb*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(</a:t>
            </a:r>
            <a:r>
              <a:rPr lang="en-US" sz="2200" dirty="0" err="1"/>
              <a:t>a+b</a:t>
            </a:r>
            <a:r>
              <a:rPr lang="en-US" sz="2200" dirty="0"/>
              <a:t>)*</a:t>
            </a:r>
            <a:r>
              <a:rPr lang="en-US" sz="2200" dirty="0" err="1"/>
              <a:t>abb</a:t>
            </a:r>
            <a:endParaRPr lang="en-US" sz="2200" dirty="0"/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10(0+1)*1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(</a:t>
            </a:r>
            <a:r>
              <a:rPr lang="en-US" sz="2200" dirty="0" err="1"/>
              <a:t>a+b</a:t>
            </a:r>
            <a:r>
              <a:rPr lang="en-US" sz="2200" dirty="0"/>
              <a:t>)*a(</a:t>
            </a:r>
            <a:r>
              <a:rPr lang="en-US" sz="2200" dirty="0" err="1"/>
              <a:t>a+b</a:t>
            </a:r>
            <a:r>
              <a:rPr lang="en-US" sz="2200" dirty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(0+1)*010(0+1)*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(010+00)*(10)*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73544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64C56AF-6D09-BED6-1142-10B0B35F67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Conversion from NFA to DFA using subset construction method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C435FAA-0620-B619-8393-CA3E1A7476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69388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C7AF97-3561-8A5D-9326-30CEFBDC9A84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Subset construction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8FBD3493-BF50-461B-2F36-9C52C96F6D0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1pPr>
                <a:lvl2pPr marL="6858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b="1">
                    <a:solidFill>
                      <a:srgbClr val="0E47A1"/>
                    </a:solidFill>
                  </a:rPr>
                  <a:t>Input</a:t>
                </a:r>
                <a:r>
                  <a:rPr lang="en-US">
                    <a:solidFill>
                      <a:srgbClr val="0E47A1"/>
                    </a:solidFill>
                  </a:rPr>
                  <a:t>: </a:t>
                </a:r>
                <a:r>
                  <a:rPr lang="en-US"/>
                  <a:t>An NFA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/>
                  <a:t>.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b="1">
                    <a:solidFill>
                      <a:srgbClr val="0E47A1"/>
                    </a:solidFill>
                  </a:rPr>
                  <a:t>Output</a:t>
                </a:r>
                <a:r>
                  <a:rPr lang="en-US">
                    <a:solidFill>
                      <a:srgbClr val="0E47A1"/>
                    </a:solidFill>
                  </a:rPr>
                  <a:t>: </a:t>
                </a:r>
                <a:r>
                  <a:rPr lang="en-US"/>
                  <a:t>A DFA  D accepting the same language.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b="1">
                    <a:solidFill>
                      <a:srgbClr val="0E47A1"/>
                    </a:solidFill>
                  </a:rPr>
                  <a:t>Method</a:t>
                </a:r>
                <a:r>
                  <a:rPr lang="en-US">
                    <a:solidFill>
                      <a:srgbClr val="0E47A1"/>
                    </a:solidFill>
                  </a:rPr>
                  <a:t>: </a:t>
                </a:r>
                <a:r>
                  <a:rPr lang="en-US"/>
                  <a:t>Algorithm construct a transition table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𝐷𝑡𝑟𝑎𝑛</m:t>
                    </m:r>
                  </m:oMath>
                </a14:m>
                <a:r>
                  <a:rPr lang="en-US"/>
                  <a:t> for D. We use the following operation:</a:t>
                </a:r>
              </a:p>
              <a:p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FBD3493-BF50-461B-2F36-9C52C96F6D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  <a:blipFill rotWithShape="0">
                <a:blip r:embed="rId2"/>
                <a:stretch>
                  <a:fillRect l="-1074" t="-1963" r="-10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76F768BC-0B85-F498-96F5-DED480957B99}"/>
              </a:ext>
            </a:extLst>
          </p:cNvPr>
          <p:cNvGraphicFramePr/>
          <p:nvPr>
            <p:extLst/>
          </p:nvPr>
        </p:nvGraphicFramePr>
        <p:xfrm>
          <a:off x="1133477" y="2887982"/>
          <a:ext cx="8648701" cy="4267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28650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OPERATION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DESCRIPTION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Content Placeholder 3">
                <a:extLst>
                  <a:ext uri="{FF2B5EF4-FFF2-40B4-BE49-F238E27FC236}">
                    <a16:creationId xmlns:a16="http://schemas.microsoft.com/office/drawing/2014/main" xmlns="" id="{D70FBA49-A95A-6780-2F72-2668443DAB92}"/>
                  </a:ext>
                </a:extLst>
              </p:cNvPr>
              <p:cNvGraphicFramePr/>
              <p:nvPr>
                <p:extLst/>
              </p:nvPr>
            </p:nvGraphicFramePr>
            <p:xfrm>
              <a:off x="1133479" y="3314702"/>
              <a:ext cx="8648701" cy="784035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23622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6286501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  <a:sym typeface="Symbol" pitchFamily="18" charset="2"/>
                                  </a:rPr>
                                  <m:t></m:t>
                                </m:r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𝑐𝑙𝑜𝑠𝑢𝑟𝑒</m:t>
                                </m:r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200" b="0">
                            <a:solidFill>
                              <a:schemeClr val="tx1"/>
                            </a:solidFill>
                            <a:latin typeface="+mj-lt"/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vl="1" algn="l"/>
                          <a:r>
                            <a:rPr lang="en-US" sz="2200" b="0">
                              <a:latin typeface="+mj-lt"/>
                            </a:rPr>
                            <a:t>Set</a:t>
                          </a:r>
                          <a:r>
                            <a:rPr lang="en-US" sz="2200" b="0" baseline="0">
                              <a:latin typeface="+mj-lt"/>
                            </a:rPr>
                            <a:t> of NFA states reachable from NFA state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b="0" i="1" baseline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oMath>
                          </a14:m>
                          <a:r>
                            <a:rPr lang="en-US" sz="2200" b="0" baseline="0">
                              <a:latin typeface="+mj-lt"/>
                            </a:rPr>
                            <a:t> on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  <a:sym typeface="Symbol" pitchFamily="18" charset="2"/>
                                </a:rPr>
                                <m:t></m:t>
                              </m:r>
                            </m:oMath>
                          </a14:m>
                          <a:r>
                            <a:rPr lang="en-US" sz="2200" b="0" baseline="0">
                              <a:latin typeface="+mj-lt"/>
                            </a:rPr>
                            <a:t>– transition alone.</a:t>
                          </a:r>
                          <a:endParaRPr lang="en-US" sz="2200" b="0">
                            <a:latin typeface="+mj-lt"/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Content Placeholder 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D70FBA49-A95A-6780-2F72-2668443DAB92}"/>
                  </a:ext>
                </a:extLst>
              </p:cNvPr>
              <p:cNvGraphicFramePr/>
              <p:nvPr>
                <p:extLst/>
              </p:nvPr>
            </p:nvGraphicFramePr>
            <p:xfrm>
              <a:off x="1133479" y="3314702"/>
              <a:ext cx="8648701" cy="784035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23622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6286501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</a:tblGrid>
                  <a:tr h="78403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258" t="-4615" r="-266495" b="-153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37694" t="-4615" r="-194" b="-153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Content Placeholder 3">
                <a:extLst>
                  <a:ext uri="{FF2B5EF4-FFF2-40B4-BE49-F238E27FC236}">
                    <a16:creationId xmlns:a16="http://schemas.microsoft.com/office/drawing/2014/main" xmlns="" id="{E7CCE7A7-9676-A37F-DDA3-B1AEA11A0FA8}"/>
                  </a:ext>
                </a:extLst>
              </p:cNvPr>
              <p:cNvGraphicFramePr/>
              <p:nvPr>
                <p:extLst/>
              </p:nvPr>
            </p:nvGraphicFramePr>
            <p:xfrm>
              <a:off x="1133478" y="4098737"/>
              <a:ext cx="8648701" cy="784035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23622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6286501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  <a:sym typeface="Symbol" pitchFamily="18" charset="2"/>
                                  </a:rPr>
                                  <m:t></m:t>
                                </m:r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𝑐𝑙𝑜𝑠𝑢𝑟𝑒</m:t>
                                </m:r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200" b="0">
                            <a:solidFill>
                              <a:schemeClr val="tx1"/>
                            </a:solidFill>
                            <a:latin typeface="+mj-lt"/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vl="1" algn="l"/>
                          <a:r>
                            <a:rPr lang="en-US" sz="2200" b="0">
                              <a:latin typeface="+mj-lt"/>
                            </a:rPr>
                            <a:t>Set</a:t>
                          </a:r>
                          <a:r>
                            <a:rPr lang="en-US" sz="2200" b="0" baseline="0">
                              <a:latin typeface="+mj-lt"/>
                            </a:rPr>
                            <a:t> of NFA states reachable from some NFA state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b="0" i="1" baseline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oMath>
                          </a14:m>
                          <a:r>
                            <a:rPr lang="en-US" sz="2200" b="0" baseline="0">
                              <a:latin typeface="+mj-lt"/>
                            </a:rPr>
                            <a:t> in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b="0" i="1" baseline="0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oMath>
                          </a14:m>
                          <a:r>
                            <a:rPr lang="en-US" sz="2200" b="0" baseline="0">
                              <a:latin typeface="+mj-lt"/>
                            </a:rPr>
                            <a:t> on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  <a:sym typeface="Symbol" pitchFamily="18" charset="2"/>
                                </a:rPr>
                                <m:t></m:t>
                              </m:r>
                            </m:oMath>
                          </a14:m>
                          <a:r>
                            <a:rPr lang="en-US" sz="2200" b="0" baseline="0">
                              <a:latin typeface="+mj-lt"/>
                            </a:rPr>
                            <a:t>– transition alone.</a:t>
                          </a:r>
                          <a:endParaRPr lang="en-US" sz="2200" b="0">
                            <a:latin typeface="+mj-lt"/>
                          </a:endParaRP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Content Placeholder 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7CCE7A7-9676-A37F-DDA3-B1AEA11A0FA8}"/>
                  </a:ext>
                </a:extLst>
              </p:cNvPr>
              <p:cNvGraphicFramePr/>
              <p:nvPr>
                <p:extLst/>
              </p:nvPr>
            </p:nvGraphicFramePr>
            <p:xfrm>
              <a:off x="1133478" y="4098737"/>
              <a:ext cx="8648701" cy="784035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23622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6286501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</a:tblGrid>
                  <a:tr h="78403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258" t="-4651" r="-266495" b="-16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37694" t="-4651" r="-194" b="-16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Content Placeholder 3">
                <a:extLst>
                  <a:ext uri="{FF2B5EF4-FFF2-40B4-BE49-F238E27FC236}">
                    <a16:creationId xmlns:a16="http://schemas.microsoft.com/office/drawing/2014/main" xmlns="" id="{D4DEF91A-351C-0F0E-5323-298574E3EC4A}"/>
                  </a:ext>
                </a:extLst>
              </p:cNvPr>
              <p:cNvGraphicFramePr/>
              <p:nvPr>
                <p:extLst/>
              </p:nvPr>
            </p:nvGraphicFramePr>
            <p:xfrm>
              <a:off x="1133477" y="4882772"/>
              <a:ext cx="8648701" cy="76200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23622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6286501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sym typeface="Symbol" pitchFamily="18" charset="2"/>
                                  </a:rPr>
                                  <m:t>𝑴𝒐𝒗𝒆</m:t>
                                </m:r>
                                <m:r>
                                  <a:rPr lang="en-US" sz="2000" b="1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sym typeface="Symbol" pitchFamily="18" charset="2"/>
                                  </a:rPr>
                                  <m:t> </m:t>
                                </m:r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200" b="0">
                            <a:solidFill>
                              <a:schemeClr val="tx1"/>
                            </a:solidFill>
                            <a:latin typeface="+mj-lt"/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lvl="1" algn="l"/>
                          <a:r>
                            <a:rPr lang="en-US" sz="2200" b="0">
                              <a:latin typeface="+mj-lt"/>
                            </a:rPr>
                            <a:t>Set</a:t>
                          </a:r>
                          <a:r>
                            <a:rPr lang="en-US" sz="2200" b="0" baseline="0">
                              <a:latin typeface="+mj-lt"/>
                            </a:rPr>
                            <a:t> of NFA states to which there is a transition on input symbol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b="0" i="1" baseline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oMath>
                          </a14:m>
                          <a:r>
                            <a:rPr lang="en-US" sz="2200" b="0" baseline="0">
                              <a:latin typeface="+mj-lt"/>
                            </a:rPr>
                            <a:t> from some NFA state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b="0" i="1" baseline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oMath>
                          </a14:m>
                          <a:r>
                            <a:rPr lang="en-US" sz="2200" b="0" baseline="0">
                              <a:latin typeface="+mj-lt"/>
                            </a:rPr>
                            <a:t> in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b="0" i="1" baseline="0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oMath>
                          </a14:m>
                          <a:r>
                            <a:rPr lang="en-US" sz="2200" b="0">
                              <a:latin typeface="+mj-lt"/>
                            </a:rPr>
                            <a:t>.</a:t>
                          </a:r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Content Placeholder 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D4DEF91A-351C-0F0E-5323-298574E3EC4A}"/>
                  </a:ext>
                </a:extLst>
              </p:cNvPr>
              <p:cNvGraphicFramePr/>
              <p:nvPr>
                <p:extLst/>
              </p:nvPr>
            </p:nvGraphicFramePr>
            <p:xfrm>
              <a:off x="1133477" y="4882772"/>
              <a:ext cx="8648701" cy="762000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23622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6286501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</a:tblGrid>
                  <a:tr h="762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5"/>
                          <a:stretch>
                            <a:fillRect l="-258" t="-4762" r="-266495" b="-158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5"/>
                          <a:stretch>
                            <a:fillRect l="-37694" t="-4762" r="-194" b="-158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518650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9AC94B6-58B4-000F-059E-DE1C94B840FA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Subset construction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2C9FCCC5-89EC-7CE3-7DCF-6A2EEECB05A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1pPr>
                <a:lvl2pPr marL="6858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initially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sym typeface="Symbol" pitchFamily="18" charset="2"/>
                      </a:rPr>
                      <m:t>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𝑐𝑙𝑜𝑠𝑢𝑟𝑒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  </m:t>
                    </m:r>
                  </m:oMath>
                </a14:m>
                <a:r>
                  <a:rPr lang="en-US" dirty="0"/>
                  <a:t>be the only state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𝐷𝑠𝑡𝑎𝑡𝑒𝑠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it is unmarked;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while there is unmarked states </a:t>
                </a:r>
                <a:r>
                  <a:rPr lang="en-US" i="1" dirty="0"/>
                  <a:t>T</a:t>
                </a:r>
                <a:r>
                  <a:rPr lang="en-US" dirty="0"/>
                  <a:t>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𝐷𝑠𝑡𝑎𝑡𝑒𝑠</m:t>
                    </m:r>
                  </m:oMath>
                </a14:m>
                <a:r>
                  <a:rPr lang="en-US" dirty="0"/>
                  <a:t>  </a:t>
                </a:r>
                <a:r>
                  <a:rPr lang="en-US" b="1" i="1" dirty="0"/>
                  <a:t>do begin</a:t>
                </a:r>
              </a:p>
              <a:p>
                <a:pPr marL="0" indent="0" defTabSz="1028700">
                  <a:buFont typeface="Arial" panose="020B0604020202020204" pitchFamily="34" charset="0"/>
                  <a:buNone/>
                </a:pPr>
                <a:r>
                  <a:rPr lang="en-US" dirty="0"/>
                  <a:t>	mark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i="1" dirty="0"/>
                  <a:t>;</a:t>
                </a: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		for each input symbol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 </a:t>
                </a:r>
                <a:r>
                  <a:rPr lang="en-US" b="1" i="1" dirty="0"/>
                  <a:t>do begin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		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𝑐𝑙𝑜𝑠𝑢𝑟𝑒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𝑚𝑜𝑣𝑒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			</a:t>
                </a:r>
                <a:r>
                  <a:rPr lang="en-US" b="1" i="1" dirty="0"/>
                  <a:t>if</a:t>
                </a:r>
                <a:r>
                  <a:rPr lang="en-US" dirty="0"/>
                  <a:t>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dirty="0"/>
                  <a:t>  is not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𝐷𝑠𝑡𝑎𝑡𝑒𝑠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i="1" dirty="0"/>
                  <a:t>then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				add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dirty="0"/>
                  <a:t>  as unmarked state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𝐷𝑠𝑡𝑎𝑡𝑒𝑠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		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𝐷𝑡𝑟𝑎𝑛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[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] =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		</a:t>
                </a:r>
                <a:r>
                  <a:rPr lang="en-US" b="1" i="1" dirty="0"/>
                  <a:t>end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b="1" i="1" dirty="0"/>
                  <a:t>	end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C9FCCC5-89EC-7CE3-7DCF-6A2EEECB0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  <a:blipFill rotWithShape="0">
                <a:blip r:embed="rId2"/>
                <a:stretch>
                  <a:fillRect l="-1074" t="-19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4684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5D111A8-FF84-2A37-1058-D29494FA0D5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Conversion from NFA to DFA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xmlns="" id="{DDCA5275-E9E3-1B61-4E60-83DBBF093713}"/>
              </a:ext>
            </a:extLst>
          </p:cNvPr>
          <p:cNvSpPr/>
          <p:nvPr/>
        </p:nvSpPr>
        <p:spPr>
          <a:xfrm>
            <a:off x="3241523" y="283227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38B9B901-6F49-F969-F7DD-09658A5E2F0C}"/>
              </a:ext>
            </a:extLst>
          </p:cNvPr>
          <p:cNvSpPr/>
          <p:nvPr/>
        </p:nvSpPr>
        <p:spPr>
          <a:xfrm>
            <a:off x="224307" y="1112367"/>
            <a:ext cx="9906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+mj-lt"/>
              </a:rPr>
              <a:t>(a|b)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A48FC4DF-A208-0215-1489-2F0D59ED7F90}"/>
              </a:ext>
            </a:extLst>
          </p:cNvPr>
          <p:cNvSpPr/>
          <p:nvPr/>
        </p:nvSpPr>
        <p:spPr>
          <a:xfrm>
            <a:off x="876769" y="1039470"/>
            <a:ext cx="338138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+mj-lt"/>
              </a:rPr>
              <a:t>*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A6287D14-1448-22E1-9BAF-40288CAD324B}"/>
              </a:ext>
            </a:extLst>
          </p:cNvPr>
          <p:cNvSpPr/>
          <p:nvPr/>
        </p:nvSpPr>
        <p:spPr>
          <a:xfrm>
            <a:off x="994322" y="1112367"/>
            <a:ext cx="6858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err="1">
                <a:solidFill>
                  <a:schemeClr val="tx1"/>
                </a:solidFill>
                <a:latin typeface="+mj-lt"/>
              </a:rPr>
              <a:t>abb</a:t>
            </a:r>
            <a:endParaRPr lang="en-US" sz="24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0C92F0F0-838D-7A4D-17F0-2EE7E7BE4295}"/>
              </a:ext>
            </a:extLst>
          </p:cNvPr>
          <p:cNvSpPr/>
          <p:nvPr/>
        </p:nvSpPr>
        <p:spPr>
          <a:xfrm>
            <a:off x="4013288" y="2129740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xmlns="" id="{E9D36A74-1B35-892F-7CD2-2D8B5E71BA0F}"/>
              </a:ext>
            </a:extLst>
          </p:cNvPr>
          <p:cNvSpPr/>
          <p:nvPr/>
        </p:nvSpPr>
        <p:spPr>
          <a:xfrm>
            <a:off x="5007152" y="3504837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xmlns="" id="{20FD4582-6D00-CCB6-C133-04D69622BB5B}"/>
              </a:ext>
            </a:extLst>
          </p:cNvPr>
          <p:cNvSpPr/>
          <p:nvPr/>
        </p:nvSpPr>
        <p:spPr>
          <a:xfrm>
            <a:off x="5007152" y="2148542"/>
            <a:ext cx="457200" cy="438011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15809ECE-D673-D853-9D7E-9188EE1989C7}"/>
              </a:ext>
            </a:extLst>
          </p:cNvPr>
          <p:cNvSpPr/>
          <p:nvPr/>
        </p:nvSpPr>
        <p:spPr>
          <a:xfrm>
            <a:off x="3996431" y="3503790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4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xmlns="" id="{1CB56659-BC24-6A33-32F0-09CB94D85FB9}"/>
              </a:ext>
            </a:extLst>
          </p:cNvPr>
          <p:cNvSpPr/>
          <p:nvPr/>
        </p:nvSpPr>
        <p:spPr>
          <a:xfrm>
            <a:off x="5740629" y="2817990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6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xmlns="" id="{01464716-EE50-6201-F6B3-23694EE803F6}"/>
              </a:ext>
            </a:extLst>
          </p:cNvPr>
          <p:cNvSpPr/>
          <p:nvPr/>
        </p:nvSpPr>
        <p:spPr>
          <a:xfrm>
            <a:off x="6763118" y="2793056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xmlns="" id="{0AF5D4A9-05F4-CF69-406E-0448B8781DF6}"/>
              </a:ext>
            </a:extLst>
          </p:cNvPr>
          <p:cNvSpPr/>
          <p:nvPr/>
        </p:nvSpPr>
        <p:spPr>
          <a:xfrm>
            <a:off x="7785607" y="2793056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xmlns="" id="{31C30EDC-D0BB-33F6-02ED-C4D2DD49C962}"/>
              </a:ext>
            </a:extLst>
          </p:cNvPr>
          <p:cNvSpPr/>
          <p:nvPr/>
        </p:nvSpPr>
        <p:spPr>
          <a:xfrm>
            <a:off x="8801666" y="2803038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9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xmlns="" id="{F621C44F-0605-F856-6AE7-A6B44EF05D64}"/>
              </a:ext>
            </a:extLst>
          </p:cNvPr>
          <p:cNvSpPr/>
          <p:nvPr/>
        </p:nvSpPr>
        <p:spPr>
          <a:xfrm>
            <a:off x="2365231" y="2832278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0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xmlns="" id="{83405E45-2351-7310-0425-2C9432937CD3}"/>
              </a:ext>
            </a:extLst>
          </p:cNvPr>
          <p:cNvSpPr/>
          <p:nvPr/>
        </p:nvSpPr>
        <p:spPr>
          <a:xfrm>
            <a:off x="9824972" y="2791938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10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xmlns="" id="{F059B94C-DD73-17BC-2D9C-1D15971D6BC5}"/>
              </a:ext>
            </a:extLst>
          </p:cNvPr>
          <p:cNvCxnSpPr/>
          <p:nvPr/>
        </p:nvCxnSpPr>
        <p:spPr>
          <a:xfrm>
            <a:off x="2835530" y="3052261"/>
            <a:ext cx="419092" cy="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4B816F55-64EF-E0DB-9459-0FD1A4049703}"/>
              </a:ext>
            </a:extLst>
          </p:cNvPr>
          <p:cNvSpPr/>
          <p:nvPr/>
        </p:nvSpPr>
        <p:spPr>
          <a:xfrm>
            <a:off x="2853399" y="267987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xmlns="" id="{C5B6380A-1663-4F74-C7D6-552D26CDEEE5}"/>
              </a:ext>
            </a:extLst>
          </p:cNvPr>
          <p:cNvCxnSpPr/>
          <p:nvPr/>
        </p:nvCxnSpPr>
        <p:spPr>
          <a:xfrm>
            <a:off x="4474530" y="2364431"/>
            <a:ext cx="53949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BFBF1BD7-AB3C-49E8-A26D-28F8165119B3}"/>
              </a:ext>
            </a:extLst>
          </p:cNvPr>
          <p:cNvSpPr/>
          <p:nvPr/>
        </p:nvSpPr>
        <p:spPr>
          <a:xfrm>
            <a:off x="4548806" y="194692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xmlns="" id="{6E20A967-1491-24EC-4D09-357CA75C08A4}"/>
              </a:ext>
            </a:extLst>
          </p:cNvPr>
          <p:cNvCxnSpPr>
            <a:stCxn id="10" idx="6"/>
            <a:endCxn id="8" idx="2"/>
          </p:cNvCxnSpPr>
          <p:nvPr/>
        </p:nvCxnSpPr>
        <p:spPr>
          <a:xfrm>
            <a:off x="4453631" y="3732390"/>
            <a:ext cx="553521" cy="104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3933802C-F655-9A35-90F1-0A64169C592C}"/>
              </a:ext>
            </a:extLst>
          </p:cNvPr>
          <p:cNvSpPr/>
          <p:nvPr/>
        </p:nvSpPr>
        <p:spPr>
          <a:xfrm>
            <a:off x="4548806" y="374428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xmlns="" id="{89B761DE-0CD7-C329-D17F-452EF4E5F0F6}"/>
              </a:ext>
            </a:extLst>
          </p:cNvPr>
          <p:cNvCxnSpPr>
            <a:stCxn id="3" idx="7"/>
            <a:endCxn id="7" idx="3"/>
          </p:cNvCxnSpPr>
          <p:nvPr/>
        </p:nvCxnSpPr>
        <p:spPr>
          <a:xfrm flipV="1">
            <a:off x="3631768" y="2519985"/>
            <a:ext cx="448475" cy="379249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xmlns="" id="{B9835035-6D47-E5AA-EEFE-3C1CCC776033}"/>
              </a:ext>
            </a:extLst>
          </p:cNvPr>
          <p:cNvCxnSpPr>
            <a:stCxn id="3" idx="5"/>
            <a:endCxn id="10" idx="1"/>
          </p:cNvCxnSpPr>
          <p:nvPr/>
        </p:nvCxnSpPr>
        <p:spPr>
          <a:xfrm>
            <a:off x="3631768" y="3222524"/>
            <a:ext cx="431618" cy="34822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xmlns="" id="{BBF25D46-5F2B-E02A-84AB-99F2DADAFE2C}"/>
              </a:ext>
            </a:extLst>
          </p:cNvPr>
          <p:cNvCxnSpPr>
            <a:stCxn id="9" idx="5"/>
            <a:endCxn id="11" idx="1"/>
          </p:cNvCxnSpPr>
          <p:nvPr/>
        </p:nvCxnSpPr>
        <p:spPr>
          <a:xfrm>
            <a:off x="5397397" y="2522408"/>
            <a:ext cx="410187" cy="36253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xmlns="" id="{083B381D-7254-8C99-1A23-4443037A55F4}"/>
              </a:ext>
            </a:extLst>
          </p:cNvPr>
          <p:cNvCxnSpPr>
            <a:stCxn id="8" idx="7"/>
            <a:endCxn id="11" idx="3"/>
          </p:cNvCxnSpPr>
          <p:nvPr/>
        </p:nvCxnSpPr>
        <p:spPr>
          <a:xfrm flipV="1">
            <a:off x="5397397" y="3208235"/>
            <a:ext cx="410187" cy="36355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xmlns="" id="{88A56CAB-AE8B-F02D-5ABE-75BEF0149C1F}"/>
              </a:ext>
            </a:extLst>
          </p:cNvPr>
          <p:cNvCxnSpPr/>
          <p:nvPr/>
        </p:nvCxnSpPr>
        <p:spPr>
          <a:xfrm>
            <a:off x="6203602" y="3021656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xmlns="" id="{705A0433-43B8-85F0-C2E1-93EB76E9B681}"/>
              </a:ext>
            </a:extLst>
          </p:cNvPr>
          <p:cNvSpPr/>
          <p:nvPr/>
        </p:nvSpPr>
        <p:spPr>
          <a:xfrm>
            <a:off x="6283558" y="266751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xmlns="" id="{8265D74B-1868-7EEB-33E7-A39048CBC7C0}"/>
              </a:ext>
            </a:extLst>
          </p:cNvPr>
          <p:cNvCxnSpPr/>
          <p:nvPr/>
        </p:nvCxnSpPr>
        <p:spPr>
          <a:xfrm>
            <a:off x="7212992" y="3031638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xmlns="" id="{F47FE56F-283C-FF44-462B-696B5163AC13}"/>
              </a:ext>
            </a:extLst>
          </p:cNvPr>
          <p:cNvSpPr/>
          <p:nvPr/>
        </p:nvSpPr>
        <p:spPr>
          <a:xfrm>
            <a:off x="7292948" y="2677497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xmlns="" id="{17747869-4065-19F6-727E-1DF3C8E2CA7D}"/>
              </a:ext>
            </a:extLst>
          </p:cNvPr>
          <p:cNvCxnSpPr/>
          <p:nvPr/>
        </p:nvCxnSpPr>
        <p:spPr>
          <a:xfrm>
            <a:off x="8240498" y="3007824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xmlns="" id="{375F2504-07F3-4A88-A45E-E08EA8B28927}"/>
              </a:ext>
            </a:extLst>
          </p:cNvPr>
          <p:cNvSpPr/>
          <p:nvPr/>
        </p:nvSpPr>
        <p:spPr>
          <a:xfrm>
            <a:off x="8357095" y="2677497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xmlns="" id="{004CB0E6-C227-EBF7-D655-2B9DBE3D46E3}"/>
              </a:ext>
            </a:extLst>
          </p:cNvPr>
          <p:cNvCxnSpPr/>
          <p:nvPr/>
        </p:nvCxnSpPr>
        <p:spPr>
          <a:xfrm>
            <a:off x="9266423" y="3019731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xmlns="" id="{7D6AE585-249F-6E43-B27B-201785C8EAE5}"/>
              </a:ext>
            </a:extLst>
          </p:cNvPr>
          <p:cNvSpPr/>
          <p:nvPr/>
        </p:nvSpPr>
        <p:spPr>
          <a:xfrm>
            <a:off x="9353698" y="2677497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xmlns="" id="{185A73EA-B71F-80E2-D492-4C11D0B1E0A7}"/>
              </a:ext>
            </a:extLst>
          </p:cNvPr>
          <p:cNvCxnSpPr/>
          <p:nvPr/>
        </p:nvCxnSpPr>
        <p:spPr>
          <a:xfrm>
            <a:off x="2122331" y="3060878"/>
            <a:ext cx="242900" cy="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xmlns="" id="{9888F11F-28B5-FB56-13D8-38E7A3A2207C}"/>
              </a:ext>
            </a:extLst>
          </p:cNvPr>
          <p:cNvSpPr/>
          <p:nvPr/>
        </p:nvSpPr>
        <p:spPr>
          <a:xfrm>
            <a:off x="9870692" y="2837658"/>
            <a:ext cx="365760" cy="36576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xmlns="" id="{1CE6BC46-39D5-2386-885B-EE6D564EBA4C}"/>
              </a:ext>
            </a:extLst>
          </p:cNvPr>
          <p:cNvSpPr/>
          <p:nvPr/>
        </p:nvSpPr>
        <p:spPr>
          <a:xfrm>
            <a:off x="3455831" y="3383534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xmlns="" id="{12F27EF4-31D3-B018-9039-13066D63E9FF}"/>
              </a:ext>
            </a:extLst>
          </p:cNvPr>
          <p:cNvSpPr/>
          <p:nvPr/>
        </p:nvSpPr>
        <p:spPr>
          <a:xfrm>
            <a:off x="3514987" y="2381906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xmlns="" id="{2A570DA5-F290-54FE-89F1-51AD1BC0800D}"/>
              </a:ext>
            </a:extLst>
          </p:cNvPr>
          <p:cNvSpPr/>
          <p:nvPr/>
        </p:nvSpPr>
        <p:spPr>
          <a:xfrm>
            <a:off x="5536137" y="2371502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xmlns="" id="{11D08E81-E880-77B4-A12E-4572E9D101BB}"/>
              </a:ext>
            </a:extLst>
          </p:cNvPr>
          <p:cNvSpPr/>
          <p:nvPr/>
        </p:nvSpPr>
        <p:spPr>
          <a:xfrm>
            <a:off x="5548806" y="3396634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41" name="Curved Connector 41">
            <a:extLst>
              <a:ext uri="{FF2B5EF4-FFF2-40B4-BE49-F238E27FC236}">
                <a16:creationId xmlns:a16="http://schemas.microsoft.com/office/drawing/2014/main" xmlns="" id="{957B6A99-F710-EC20-61ED-E3D2A7F6C03F}"/>
              </a:ext>
            </a:extLst>
          </p:cNvPr>
          <p:cNvCxnSpPr/>
          <p:nvPr/>
        </p:nvCxnSpPr>
        <p:spPr>
          <a:xfrm rot="16200000" flipH="1" flipV="1">
            <a:off x="4697894" y="1553550"/>
            <a:ext cx="36576" cy="2569464"/>
          </a:xfrm>
          <a:prstGeom prst="curvedConnector3">
            <a:avLst>
              <a:gd name="adj1" fmla="val -3059900"/>
            </a:avLst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xmlns="" id="{85B821F7-BFEF-BE30-2656-4193C4576D9C}"/>
              </a:ext>
            </a:extLst>
          </p:cNvPr>
          <p:cNvSpPr/>
          <p:nvPr/>
        </p:nvSpPr>
        <p:spPr>
          <a:xfrm>
            <a:off x="4548806" y="13073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xmlns="" id="{EF95FE93-40AE-2F3E-1908-A5EB0F8101B0}"/>
              </a:ext>
            </a:extLst>
          </p:cNvPr>
          <p:cNvSpPr/>
          <p:nvPr/>
        </p:nvSpPr>
        <p:spPr>
          <a:xfrm>
            <a:off x="5727394" y="428794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44" name="Curved Connector 44">
            <a:extLst>
              <a:ext uri="{FF2B5EF4-FFF2-40B4-BE49-F238E27FC236}">
                <a16:creationId xmlns:a16="http://schemas.microsoft.com/office/drawing/2014/main" xmlns="" id="{2D5ED8B0-7E8C-6FB0-B49E-300688BC6208}"/>
              </a:ext>
            </a:extLst>
          </p:cNvPr>
          <p:cNvCxnSpPr/>
          <p:nvPr/>
        </p:nvCxnSpPr>
        <p:spPr>
          <a:xfrm rot="5400000" flipH="1" flipV="1">
            <a:off x="4773166" y="1070923"/>
            <a:ext cx="39222" cy="4397887"/>
          </a:xfrm>
          <a:prstGeom prst="curvedConnector3">
            <a:avLst>
              <a:gd name="adj1" fmla="val -3059900"/>
            </a:avLst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7596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dur="50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0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0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6" presetClass="emph" presetSubtype="0" dur="5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0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0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1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12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3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6" presetClass="emph" presetSubtype="0" dur="50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1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0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0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/>
      <p:bldP spid="20" grpId="0"/>
      <p:bldP spid="22" grpId="0"/>
      <p:bldP spid="28" grpId="0"/>
      <p:bldP spid="30" grpId="0"/>
      <p:bldP spid="32" grpId="0"/>
      <p:bldP spid="34" grpId="0"/>
      <p:bldP spid="36" grpId="0" animBg="1"/>
      <p:bldP spid="37" grpId="0"/>
      <p:bldP spid="38" grpId="0"/>
      <p:bldP spid="39" grpId="0"/>
      <p:bldP spid="40" grpId="0"/>
      <p:bldP spid="42" grpId="0"/>
      <p:bldP spid="4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788242C-A2BD-126B-94A2-D23FB6EBFB6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Conversion from NFA to DFA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xmlns="" id="{45BD82D5-619A-90F2-91DE-95377CBD3736}"/>
              </a:ext>
            </a:extLst>
          </p:cNvPr>
          <p:cNvSpPr/>
          <p:nvPr/>
        </p:nvSpPr>
        <p:spPr>
          <a:xfrm>
            <a:off x="1309692" y="2819400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1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666267C3-F89B-F638-E944-43DA01A0CFEF}"/>
              </a:ext>
            </a:extLst>
          </p:cNvPr>
          <p:cNvSpPr/>
          <p:nvPr/>
        </p:nvSpPr>
        <p:spPr>
          <a:xfrm>
            <a:off x="2081457" y="211686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2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xmlns="" id="{F279C2BB-CB7B-2EFD-3010-E19018696A10}"/>
              </a:ext>
            </a:extLst>
          </p:cNvPr>
          <p:cNvSpPr/>
          <p:nvPr/>
        </p:nvSpPr>
        <p:spPr>
          <a:xfrm>
            <a:off x="3075321" y="3491958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5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6102CBB2-5992-7C86-26FD-92EF33CC6976}"/>
              </a:ext>
            </a:extLst>
          </p:cNvPr>
          <p:cNvSpPr/>
          <p:nvPr/>
        </p:nvSpPr>
        <p:spPr>
          <a:xfrm>
            <a:off x="3075321" y="2135663"/>
            <a:ext cx="457200" cy="438011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C9669E15-9ABD-D949-EDB5-0BE5E9FB71E5}"/>
              </a:ext>
            </a:extLst>
          </p:cNvPr>
          <p:cNvSpPr/>
          <p:nvPr/>
        </p:nvSpPr>
        <p:spPr>
          <a:xfrm>
            <a:off x="2064600" y="349091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xmlns="" id="{C9CDDACF-F869-EA9C-EBE4-DEA6B11AFD8A}"/>
              </a:ext>
            </a:extLst>
          </p:cNvPr>
          <p:cNvSpPr/>
          <p:nvPr/>
        </p:nvSpPr>
        <p:spPr>
          <a:xfrm>
            <a:off x="3808798" y="280511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6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xmlns="" id="{EF132A45-9610-75C4-754E-849222B72003}"/>
              </a:ext>
            </a:extLst>
          </p:cNvPr>
          <p:cNvSpPr/>
          <p:nvPr/>
        </p:nvSpPr>
        <p:spPr>
          <a:xfrm>
            <a:off x="4831287" y="2780177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7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22B587D6-B45F-CE26-80A5-CFF9C362A94B}"/>
              </a:ext>
            </a:extLst>
          </p:cNvPr>
          <p:cNvSpPr/>
          <p:nvPr/>
        </p:nvSpPr>
        <p:spPr>
          <a:xfrm>
            <a:off x="5853776" y="2780177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8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xmlns="" id="{9823EC83-DA31-6A07-D72C-371778DB25D7}"/>
              </a:ext>
            </a:extLst>
          </p:cNvPr>
          <p:cNvSpPr/>
          <p:nvPr/>
        </p:nvSpPr>
        <p:spPr>
          <a:xfrm>
            <a:off x="6869835" y="279015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9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xmlns="" id="{DAADCD95-57F8-84C2-0033-A9DAD770C895}"/>
              </a:ext>
            </a:extLst>
          </p:cNvPr>
          <p:cNvSpPr/>
          <p:nvPr/>
        </p:nvSpPr>
        <p:spPr>
          <a:xfrm>
            <a:off x="433400" y="281939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0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xmlns="" id="{178D19F3-2A5C-CACD-7308-18FA50687544}"/>
              </a:ext>
            </a:extLst>
          </p:cNvPr>
          <p:cNvCxnSpPr/>
          <p:nvPr/>
        </p:nvCxnSpPr>
        <p:spPr>
          <a:xfrm>
            <a:off x="903699" y="3039382"/>
            <a:ext cx="419092" cy="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6F4C5E99-1DB8-CFF7-0230-38F73AB61A79}"/>
              </a:ext>
            </a:extLst>
          </p:cNvPr>
          <p:cNvSpPr/>
          <p:nvPr/>
        </p:nvSpPr>
        <p:spPr>
          <a:xfrm>
            <a:off x="921568" y="2667000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xmlns="" id="{77B920DE-5220-CB2C-3C9E-A4FF9C227BCA}"/>
              </a:ext>
            </a:extLst>
          </p:cNvPr>
          <p:cNvCxnSpPr/>
          <p:nvPr/>
        </p:nvCxnSpPr>
        <p:spPr>
          <a:xfrm>
            <a:off x="2542699" y="2351552"/>
            <a:ext cx="53949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44AF8B8E-D13A-AB89-C299-227080C28778}"/>
              </a:ext>
            </a:extLst>
          </p:cNvPr>
          <p:cNvSpPr/>
          <p:nvPr/>
        </p:nvSpPr>
        <p:spPr>
          <a:xfrm>
            <a:off x="2616975" y="1934046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xmlns="" id="{83E58F95-551F-5E58-F553-ED8889A1EA12}"/>
              </a:ext>
            </a:extLst>
          </p:cNvPr>
          <p:cNvCxnSpPr>
            <a:stCxn id="7" idx="6"/>
            <a:endCxn id="5" idx="2"/>
          </p:cNvCxnSpPr>
          <p:nvPr/>
        </p:nvCxnSpPr>
        <p:spPr>
          <a:xfrm>
            <a:off x="2521800" y="3719511"/>
            <a:ext cx="553521" cy="104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2158848A-0963-FE27-6232-2EF461F008A3}"/>
              </a:ext>
            </a:extLst>
          </p:cNvPr>
          <p:cNvSpPr/>
          <p:nvPr/>
        </p:nvSpPr>
        <p:spPr>
          <a:xfrm>
            <a:off x="2616975" y="373140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xmlns="" id="{CF970F93-D21D-56E7-D4F9-911063E3DD49}"/>
              </a:ext>
            </a:extLst>
          </p:cNvPr>
          <p:cNvCxnSpPr>
            <a:stCxn id="3" idx="7"/>
            <a:endCxn id="4" idx="3"/>
          </p:cNvCxnSpPr>
          <p:nvPr/>
        </p:nvCxnSpPr>
        <p:spPr>
          <a:xfrm flipV="1">
            <a:off x="1699937" y="2507106"/>
            <a:ext cx="448475" cy="379249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xmlns="" id="{44680BA4-EEF5-21D8-1886-F2B944E71932}"/>
              </a:ext>
            </a:extLst>
          </p:cNvPr>
          <p:cNvCxnSpPr>
            <a:stCxn id="6" idx="5"/>
            <a:endCxn id="8" idx="1"/>
          </p:cNvCxnSpPr>
          <p:nvPr/>
        </p:nvCxnSpPr>
        <p:spPr>
          <a:xfrm>
            <a:off x="3465566" y="2509529"/>
            <a:ext cx="410187" cy="36253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xmlns="" id="{EF153FCD-7B75-6FF4-F46A-03EE2E51799E}"/>
              </a:ext>
            </a:extLst>
          </p:cNvPr>
          <p:cNvCxnSpPr>
            <a:stCxn id="5" idx="7"/>
            <a:endCxn id="8" idx="3"/>
          </p:cNvCxnSpPr>
          <p:nvPr/>
        </p:nvCxnSpPr>
        <p:spPr>
          <a:xfrm flipV="1">
            <a:off x="3465566" y="3195356"/>
            <a:ext cx="410187" cy="36355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xmlns="" id="{6EE170FD-D32D-5312-BFF9-401F792F5A39}"/>
              </a:ext>
            </a:extLst>
          </p:cNvPr>
          <p:cNvCxnSpPr/>
          <p:nvPr/>
        </p:nvCxnSpPr>
        <p:spPr>
          <a:xfrm>
            <a:off x="4271771" y="3008777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C9968F77-1CF1-F960-9A39-FFDE7A1145D2}"/>
              </a:ext>
            </a:extLst>
          </p:cNvPr>
          <p:cNvSpPr/>
          <p:nvPr/>
        </p:nvSpPr>
        <p:spPr>
          <a:xfrm>
            <a:off x="4351727" y="2654636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xmlns="" id="{97D611CB-83F4-F341-15C2-21C6CA110DE1}"/>
              </a:ext>
            </a:extLst>
          </p:cNvPr>
          <p:cNvCxnSpPr/>
          <p:nvPr/>
        </p:nvCxnSpPr>
        <p:spPr>
          <a:xfrm>
            <a:off x="5281161" y="3018759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xmlns="" id="{FB732FC6-B155-D2A4-9B6F-4124EE1E2652}"/>
              </a:ext>
            </a:extLst>
          </p:cNvPr>
          <p:cNvSpPr/>
          <p:nvPr/>
        </p:nvSpPr>
        <p:spPr>
          <a:xfrm>
            <a:off x="5361117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xmlns="" id="{875CB006-F1CE-9003-90FB-0577663C0FC7}"/>
              </a:ext>
            </a:extLst>
          </p:cNvPr>
          <p:cNvCxnSpPr/>
          <p:nvPr/>
        </p:nvCxnSpPr>
        <p:spPr>
          <a:xfrm>
            <a:off x="6308667" y="2994945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34916FA3-01CE-FC85-C940-345B8DAF35FA}"/>
              </a:ext>
            </a:extLst>
          </p:cNvPr>
          <p:cNvSpPr/>
          <p:nvPr/>
        </p:nvSpPr>
        <p:spPr>
          <a:xfrm>
            <a:off x="6425264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xmlns="" id="{F834B27F-A4BA-1963-BB1C-DA866C6C6E5D}"/>
              </a:ext>
            </a:extLst>
          </p:cNvPr>
          <p:cNvCxnSpPr/>
          <p:nvPr/>
        </p:nvCxnSpPr>
        <p:spPr>
          <a:xfrm>
            <a:off x="7334592" y="3006852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xmlns="" id="{FE8D8E84-F853-340D-EAB5-C4BFFDFEAD28}"/>
              </a:ext>
            </a:extLst>
          </p:cNvPr>
          <p:cNvSpPr/>
          <p:nvPr/>
        </p:nvSpPr>
        <p:spPr>
          <a:xfrm>
            <a:off x="7421867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xmlns="" id="{6F38991D-A381-9CC2-30BB-7758640190D9}"/>
              </a:ext>
            </a:extLst>
          </p:cNvPr>
          <p:cNvCxnSpPr/>
          <p:nvPr/>
        </p:nvCxnSpPr>
        <p:spPr>
          <a:xfrm>
            <a:off x="190500" y="3047999"/>
            <a:ext cx="242900" cy="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xmlns="" id="{0C0E09FE-80CE-D662-E511-9423D5ACE0C1}"/>
              </a:ext>
            </a:extLst>
          </p:cNvPr>
          <p:cNvSpPr/>
          <p:nvPr/>
        </p:nvSpPr>
        <p:spPr>
          <a:xfrm>
            <a:off x="1524000" y="337065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xmlns="" id="{BEA74C73-F0E0-5169-6DE7-933F804C374E}"/>
              </a:ext>
            </a:extLst>
          </p:cNvPr>
          <p:cNvSpPr/>
          <p:nvPr/>
        </p:nvSpPr>
        <p:spPr>
          <a:xfrm>
            <a:off x="1583156" y="2369027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xmlns="" id="{5E94EF6B-6FE4-4591-755D-58D1ED501D5A}"/>
              </a:ext>
            </a:extLst>
          </p:cNvPr>
          <p:cNvSpPr/>
          <p:nvPr/>
        </p:nvSpPr>
        <p:spPr>
          <a:xfrm>
            <a:off x="3604306" y="2358623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xmlns="" id="{044B3EFE-288A-781D-0C81-3BCA0C3F9AD9}"/>
              </a:ext>
            </a:extLst>
          </p:cNvPr>
          <p:cNvSpPr/>
          <p:nvPr/>
        </p:nvSpPr>
        <p:spPr>
          <a:xfrm>
            <a:off x="3616975" y="338375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5" name="Curved Connector 35">
            <a:extLst>
              <a:ext uri="{FF2B5EF4-FFF2-40B4-BE49-F238E27FC236}">
                <a16:creationId xmlns:a16="http://schemas.microsoft.com/office/drawing/2014/main" xmlns="" id="{AEF992B1-5213-1EC8-9275-DE7111FA392C}"/>
              </a:ext>
            </a:extLst>
          </p:cNvPr>
          <p:cNvCxnSpPr/>
          <p:nvPr/>
        </p:nvCxnSpPr>
        <p:spPr>
          <a:xfrm rot="16200000" flipH="1" flipV="1">
            <a:off x="2766063" y="1524629"/>
            <a:ext cx="36576" cy="2569464"/>
          </a:xfrm>
          <a:prstGeom prst="curvedConnector3">
            <a:avLst>
              <a:gd name="adj1" fmla="val -3059900"/>
            </a:avLst>
          </a:prstGeom>
          <a:ln w="25400"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xmlns="" id="{C6F08F7D-DC09-78EA-AC20-9302E948C4BE}"/>
              </a:ext>
            </a:extLst>
          </p:cNvPr>
          <p:cNvSpPr/>
          <p:nvPr/>
        </p:nvSpPr>
        <p:spPr>
          <a:xfrm>
            <a:off x="2616975" y="129443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xmlns="" id="{511ECB9C-E16D-A52B-4A10-A70A60980051}"/>
              </a:ext>
            </a:extLst>
          </p:cNvPr>
          <p:cNvSpPr/>
          <p:nvPr/>
        </p:nvSpPr>
        <p:spPr>
          <a:xfrm>
            <a:off x="3795563" y="4275070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xmlns="" id="{A0A01541-FFC2-8322-CF8B-D46E1E44D3FE}"/>
              </a:ext>
            </a:extLst>
          </p:cNvPr>
          <p:cNvCxnSpPr/>
          <p:nvPr/>
        </p:nvCxnSpPr>
        <p:spPr>
          <a:xfrm flipV="1">
            <a:off x="1699939" y="2507106"/>
            <a:ext cx="448475" cy="379249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xmlns="" id="{2DFF8CCB-7BC6-35B7-A772-2736C853AE1A}"/>
              </a:ext>
            </a:extLst>
          </p:cNvPr>
          <p:cNvCxnSpPr>
            <a:stCxn id="3" idx="5"/>
            <a:endCxn id="7" idx="1"/>
          </p:cNvCxnSpPr>
          <p:nvPr/>
        </p:nvCxnSpPr>
        <p:spPr>
          <a:xfrm>
            <a:off x="1699937" y="3209645"/>
            <a:ext cx="431618" cy="34822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xmlns="" id="{8A698EE0-FAD4-78FE-3214-580D7A85184C}"/>
              </a:ext>
            </a:extLst>
          </p:cNvPr>
          <p:cNvCxnSpPr/>
          <p:nvPr/>
        </p:nvCxnSpPr>
        <p:spPr>
          <a:xfrm>
            <a:off x="903700" y="3039382"/>
            <a:ext cx="419092" cy="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urved Connector 41">
            <a:extLst>
              <a:ext uri="{FF2B5EF4-FFF2-40B4-BE49-F238E27FC236}">
                <a16:creationId xmlns:a16="http://schemas.microsoft.com/office/drawing/2014/main" xmlns="" id="{7114EF28-7946-EE35-2EF3-4FFD202EF3F1}"/>
              </a:ext>
            </a:extLst>
          </p:cNvPr>
          <p:cNvCxnSpPr/>
          <p:nvPr/>
        </p:nvCxnSpPr>
        <p:spPr>
          <a:xfrm rot="16200000" flipH="1" flipV="1">
            <a:off x="2766064" y="1524629"/>
            <a:ext cx="36576" cy="2569464"/>
          </a:xfrm>
          <a:prstGeom prst="curvedConnector3">
            <a:avLst>
              <a:gd name="adj1" fmla="val -3059900"/>
            </a:avLst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urved Connector 42">
            <a:extLst>
              <a:ext uri="{FF2B5EF4-FFF2-40B4-BE49-F238E27FC236}">
                <a16:creationId xmlns:a16="http://schemas.microsoft.com/office/drawing/2014/main" xmlns="" id="{9AA09583-7725-948B-B025-CBF527C920D1}"/>
              </a:ext>
            </a:extLst>
          </p:cNvPr>
          <p:cNvCxnSpPr/>
          <p:nvPr/>
        </p:nvCxnSpPr>
        <p:spPr>
          <a:xfrm rot="5400000" flipH="1" flipV="1">
            <a:off x="2841336" y="1058044"/>
            <a:ext cx="39222" cy="4397887"/>
          </a:xfrm>
          <a:prstGeom prst="curvedConnector3">
            <a:avLst>
              <a:gd name="adj1" fmla="val -3059900"/>
            </a:avLst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xmlns="" id="{A7ABEA65-BBB6-05B2-BF29-18B130D561E9}"/>
              </a:ext>
            </a:extLst>
          </p:cNvPr>
          <p:cNvSpPr/>
          <p:nvPr/>
        </p:nvSpPr>
        <p:spPr>
          <a:xfrm>
            <a:off x="7893141" y="277905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10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xmlns="" id="{D1B405AB-6038-693C-E789-3C5F64249B86}"/>
              </a:ext>
            </a:extLst>
          </p:cNvPr>
          <p:cNvSpPr/>
          <p:nvPr/>
        </p:nvSpPr>
        <p:spPr>
          <a:xfrm>
            <a:off x="7938861" y="2824779"/>
            <a:ext cx="365760" cy="36576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xmlns="" id="{77EFD8F6-B44C-5F91-2C2C-595F494ADF08}"/>
              </a:ext>
            </a:extLst>
          </p:cNvPr>
          <p:cNvSpPr/>
          <p:nvPr/>
        </p:nvSpPr>
        <p:spPr>
          <a:xfrm>
            <a:off x="2324646" y="4995319"/>
            <a:ext cx="1790476" cy="3902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 {0, 1, 7, 2, 4}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xmlns="" id="{F5A8D119-FD06-361A-99F6-34E269027FED}"/>
              </a:ext>
            </a:extLst>
          </p:cNvPr>
          <p:cNvSpPr/>
          <p:nvPr/>
        </p:nvSpPr>
        <p:spPr>
          <a:xfrm>
            <a:off x="3843706" y="5603553"/>
            <a:ext cx="1170319" cy="3502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tx1"/>
                </a:solidFill>
              </a:rPr>
              <a:t>---- A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xmlns="" id="{92D3BB4F-56F4-4AD9-978A-FD87C870D16E}"/>
              </a:ext>
            </a:extLst>
          </p:cNvPr>
          <p:cNvSpPr/>
          <p:nvPr/>
        </p:nvSpPr>
        <p:spPr>
          <a:xfrm>
            <a:off x="759397" y="4962979"/>
            <a:ext cx="2700790" cy="4689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𝜖- </a:t>
            </a:r>
            <a:r>
              <a:rPr lang="en-US" sz="2200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Closure(0</a:t>
            </a:r>
            <a:r>
              <a:rPr lang="en-US" sz="2200">
                <a:solidFill>
                  <a:schemeClr val="tx1"/>
                </a:solidFill>
              </a:rPr>
              <a:t>)=</a:t>
            </a:r>
            <a:endParaRPr lang="en-US" sz="220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xmlns="" id="{AC87B80E-CA09-B40E-08BE-ABDAD78D016A}"/>
              </a:ext>
            </a:extLst>
          </p:cNvPr>
          <p:cNvSpPr/>
          <p:nvPr/>
        </p:nvSpPr>
        <p:spPr>
          <a:xfrm>
            <a:off x="2147290" y="5578274"/>
            <a:ext cx="1790476" cy="3902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=  {0,1,2,4,7}</a:t>
            </a:r>
          </a:p>
        </p:txBody>
      </p:sp>
    </p:spTree>
    <p:extLst>
      <p:ext uri="{BB962C8B-B14F-4D97-AF65-F5344CB8AC3E}">
        <p14:creationId xmlns:p14="http://schemas.microsoft.com/office/powerpoint/2010/main" val="693616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7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0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3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3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6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7" grpId="0"/>
      <p:bldP spid="5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4C73706-D278-6D00-FA94-BF6C4D18974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Conversion from NFA to DFA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xmlns="" id="{B2DD2929-93FE-9673-02FD-F651A9EB03EF}"/>
              </a:ext>
            </a:extLst>
          </p:cNvPr>
          <p:cNvSpPr/>
          <p:nvPr/>
        </p:nvSpPr>
        <p:spPr>
          <a:xfrm>
            <a:off x="1309692" y="2819400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1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35FBB7F2-2916-2D05-2D93-D42DE9126335}"/>
              </a:ext>
            </a:extLst>
          </p:cNvPr>
          <p:cNvSpPr/>
          <p:nvPr/>
        </p:nvSpPr>
        <p:spPr>
          <a:xfrm>
            <a:off x="2081457" y="211686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2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xmlns="" id="{5DA66F13-BB82-A20A-BA59-B6013D0A92C9}"/>
              </a:ext>
            </a:extLst>
          </p:cNvPr>
          <p:cNvSpPr/>
          <p:nvPr/>
        </p:nvSpPr>
        <p:spPr>
          <a:xfrm>
            <a:off x="3075321" y="3491958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5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50FF886A-6FE6-4D07-D2CC-AA81107E028A}"/>
              </a:ext>
            </a:extLst>
          </p:cNvPr>
          <p:cNvSpPr/>
          <p:nvPr/>
        </p:nvSpPr>
        <p:spPr>
          <a:xfrm>
            <a:off x="3075321" y="2135663"/>
            <a:ext cx="457200" cy="438011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6D6F61D4-799E-4793-EB33-D7DE094D56BE}"/>
              </a:ext>
            </a:extLst>
          </p:cNvPr>
          <p:cNvSpPr/>
          <p:nvPr/>
        </p:nvSpPr>
        <p:spPr>
          <a:xfrm>
            <a:off x="2064600" y="349091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xmlns="" id="{06E64297-5557-8778-7E9C-17D8F06B5769}"/>
              </a:ext>
            </a:extLst>
          </p:cNvPr>
          <p:cNvSpPr/>
          <p:nvPr/>
        </p:nvSpPr>
        <p:spPr>
          <a:xfrm>
            <a:off x="3808798" y="280511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6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xmlns="" id="{7F1B5AD4-E567-D164-1955-C32A49665483}"/>
              </a:ext>
            </a:extLst>
          </p:cNvPr>
          <p:cNvSpPr/>
          <p:nvPr/>
        </p:nvSpPr>
        <p:spPr>
          <a:xfrm>
            <a:off x="4831287" y="2780177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7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13DA2BFD-5BAE-9364-3740-700D6E02F08E}"/>
              </a:ext>
            </a:extLst>
          </p:cNvPr>
          <p:cNvSpPr/>
          <p:nvPr/>
        </p:nvSpPr>
        <p:spPr>
          <a:xfrm>
            <a:off x="5853776" y="2780177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8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xmlns="" id="{63199200-8B32-5779-6C28-C607C6A6A8D8}"/>
              </a:ext>
            </a:extLst>
          </p:cNvPr>
          <p:cNvSpPr/>
          <p:nvPr/>
        </p:nvSpPr>
        <p:spPr>
          <a:xfrm>
            <a:off x="6869835" y="279015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9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xmlns="" id="{7DBB0F12-ECAE-6424-24EC-C8F5F937CFED}"/>
              </a:ext>
            </a:extLst>
          </p:cNvPr>
          <p:cNvSpPr/>
          <p:nvPr/>
        </p:nvSpPr>
        <p:spPr>
          <a:xfrm>
            <a:off x="433400" y="281939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0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xmlns="" id="{AC63D383-ADEE-D103-0AF5-EA8491EFF19C}"/>
              </a:ext>
            </a:extLst>
          </p:cNvPr>
          <p:cNvCxnSpPr/>
          <p:nvPr/>
        </p:nvCxnSpPr>
        <p:spPr>
          <a:xfrm>
            <a:off x="903699" y="3039382"/>
            <a:ext cx="419092" cy="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BA1FD85D-46C2-2237-19B6-C39996149283}"/>
              </a:ext>
            </a:extLst>
          </p:cNvPr>
          <p:cNvSpPr/>
          <p:nvPr/>
        </p:nvSpPr>
        <p:spPr>
          <a:xfrm>
            <a:off x="921568" y="2667000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xmlns="" id="{F1672155-07E4-121F-4704-4CD868829937}"/>
              </a:ext>
            </a:extLst>
          </p:cNvPr>
          <p:cNvCxnSpPr/>
          <p:nvPr/>
        </p:nvCxnSpPr>
        <p:spPr>
          <a:xfrm>
            <a:off x="2530319" y="2351552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FA937995-55B3-D076-A9DF-2990BD46CB56}"/>
              </a:ext>
            </a:extLst>
          </p:cNvPr>
          <p:cNvSpPr/>
          <p:nvPr/>
        </p:nvSpPr>
        <p:spPr>
          <a:xfrm>
            <a:off x="2616975" y="1934046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xmlns="" id="{D94EE86E-757C-0C50-4B40-4A3D3F5C6F9C}"/>
              </a:ext>
            </a:extLst>
          </p:cNvPr>
          <p:cNvCxnSpPr>
            <a:stCxn id="7" idx="6"/>
            <a:endCxn id="5" idx="2"/>
          </p:cNvCxnSpPr>
          <p:nvPr/>
        </p:nvCxnSpPr>
        <p:spPr>
          <a:xfrm>
            <a:off x="2521800" y="3719511"/>
            <a:ext cx="553521" cy="104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AC29B32D-A33F-55D5-14F8-EABF39E642CE}"/>
              </a:ext>
            </a:extLst>
          </p:cNvPr>
          <p:cNvSpPr/>
          <p:nvPr/>
        </p:nvSpPr>
        <p:spPr>
          <a:xfrm>
            <a:off x="2616975" y="373140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xmlns="" id="{F24E1D91-3C5A-5D50-9B06-D64904985712}"/>
              </a:ext>
            </a:extLst>
          </p:cNvPr>
          <p:cNvCxnSpPr>
            <a:stCxn id="3" idx="7"/>
            <a:endCxn id="4" idx="3"/>
          </p:cNvCxnSpPr>
          <p:nvPr/>
        </p:nvCxnSpPr>
        <p:spPr>
          <a:xfrm flipV="1">
            <a:off x="1699937" y="2507106"/>
            <a:ext cx="448475" cy="379249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xmlns="" id="{64A33298-A1E4-2004-0D61-3A65116C3433}"/>
              </a:ext>
            </a:extLst>
          </p:cNvPr>
          <p:cNvCxnSpPr>
            <a:stCxn id="3" idx="5"/>
          </p:cNvCxnSpPr>
          <p:nvPr/>
        </p:nvCxnSpPr>
        <p:spPr>
          <a:xfrm>
            <a:off x="1699937" y="3209645"/>
            <a:ext cx="433971" cy="32889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xmlns="" id="{2128D135-63B3-B356-E8E5-02BE4665B2E2}"/>
              </a:ext>
            </a:extLst>
          </p:cNvPr>
          <p:cNvCxnSpPr>
            <a:stCxn id="6" idx="5"/>
            <a:endCxn id="8" idx="1"/>
          </p:cNvCxnSpPr>
          <p:nvPr/>
        </p:nvCxnSpPr>
        <p:spPr>
          <a:xfrm>
            <a:off x="3465566" y="2509529"/>
            <a:ext cx="410187" cy="36253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xmlns="" id="{AFC5CC80-F3B5-8847-6C95-7228794ED451}"/>
              </a:ext>
            </a:extLst>
          </p:cNvPr>
          <p:cNvCxnSpPr>
            <a:stCxn id="5" idx="7"/>
            <a:endCxn id="8" idx="3"/>
          </p:cNvCxnSpPr>
          <p:nvPr/>
        </p:nvCxnSpPr>
        <p:spPr>
          <a:xfrm flipV="1">
            <a:off x="3465566" y="3195356"/>
            <a:ext cx="410187" cy="36355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xmlns="" id="{C1751346-6FD7-98AE-C4C8-5DABF1B6AC66}"/>
              </a:ext>
            </a:extLst>
          </p:cNvPr>
          <p:cNvCxnSpPr/>
          <p:nvPr/>
        </p:nvCxnSpPr>
        <p:spPr>
          <a:xfrm>
            <a:off x="4271771" y="3008777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xmlns="" id="{A603883D-3132-88D2-396B-51EB230A16DC}"/>
              </a:ext>
            </a:extLst>
          </p:cNvPr>
          <p:cNvSpPr/>
          <p:nvPr/>
        </p:nvSpPr>
        <p:spPr>
          <a:xfrm>
            <a:off x="4351727" y="2654636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xmlns="" id="{90CC9E72-44F3-530D-E85A-EC9606110284}"/>
              </a:ext>
            </a:extLst>
          </p:cNvPr>
          <p:cNvCxnSpPr/>
          <p:nvPr/>
        </p:nvCxnSpPr>
        <p:spPr>
          <a:xfrm>
            <a:off x="5281161" y="3018759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B9D16F7F-8B2C-C311-BAF1-0F098B74D3CC}"/>
              </a:ext>
            </a:extLst>
          </p:cNvPr>
          <p:cNvSpPr/>
          <p:nvPr/>
        </p:nvSpPr>
        <p:spPr>
          <a:xfrm>
            <a:off x="5361117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xmlns="" id="{4D4094C1-BA36-73E1-0B27-0D6A16E7E1F8}"/>
              </a:ext>
            </a:extLst>
          </p:cNvPr>
          <p:cNvCxnSpPr/>
          <p:nvPr/>
        </p:nvCxnSpPr>
        <p:spPr>
          <a:xfrm>
            <a:off x="6308667" y="2994945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xmlns="" id="{B7395C94-8806-79B8-E244-1F0E0F064EDC}"/>
              </a:ext>
            </a:extLst>
          </p:cNvPr>
          <p:cNvSpPr/>
          <p:nvPr/>
        </p:nvSpPr>
        <p:spPr>
          <a:xfrm>
            <a:off x="6425264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xmlns="" id="{AA159ECC-FD22-71F7-8344-32B4554DA80E}"/>
              </a:ext>
            </a:extLst>
          </p:cNvPr>
          <p:cNvCxnSpPr/>
          <p:nvPr/>
        </p:nvCxnSpPr>
        <p:spPr>
          <a:xfrm>
            <a:off x="7334592" y="3006852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xmlns="" id="{30F3D4D0-3F86-FC9A-F4F7-1F3220F8233F}"/>
              </a:ext>
            </a:extLst>
          </p:cNvPr>
          <p:cNvSpPr/>
          <p:nvPr/>
        </p:nvSpPr>
        <p:spPr>
          <a:xfrm>
            <a:off x="7421867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xmlns="" id="{20B84E74-5FC8-6FC8-4DAF-24383C1A0771}"/>
              </a:ext>
            </a:extLst>
          </p:cNvPr>
          <p:cNvCxnSpPr/>
          <p:nvPr/>
        </p:nvCxnSpPr>
        <p:spPr>
          <a:xfrm>
            <a:off x="190500" y="3047999"/>
            <a:ext cx="242900" cy="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xmlns="" id="{8A10C808-43A4-51C4-53FA-E8839EC71EEE}"/>
              </a:ext>
            </a:extLst>
          </p:cNvPr>
          <p:cNvSpPr/>
          <p:nvPr/>
        </p:nvSpPr>
        <p:spPr>
          <a:xfrm>
            <a:off x="1524000" y="337065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xmlns="" id="{27B015F8-633E-C145-53C1-C824E6FEF4E4}"/>
              </a:ext>
            </a:extLst>
          </p:cNvPr>
          <p:cNvSpPr/>
          <p:nvPr/>
        </p:nvSpPr>
        <p:spPr>
          <a:xfrm>
            <a:off x="1583156" y="2369027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xmlns="" id="{E32B6C9F-22E0-E9D0-F754-218FC4BEA0D3}"/>
              </a:ext>
            </a:extLst>
          </p:cNvPr>
          <p:cNvSpPr/>
          <p:nvPr/>
        </p:nvSpPr>
        <p:spPr>
          <a:xfrm>
            <a:off x="3604306" y="2358623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xmlns="" id="{D15F9DE5-BF64-D875-5977-9E2A91736E12}"/>
              </a:ext>
            </a:extLst>
          </p:cNvPr>
          <p:cNvSpPr/>
          <p:nvPr/>
        </p:nvSpPr>
        <p:spPr>
          <a:xfrm>
            <a:off x="3616975" y="338375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6" name="Curved Connector 36">
            <a:extLst>
              <a:ext uri="{FF2B5EF4-FFF2-40B4-BE49-F238E27FC236}">
                <a16:creationId xmlns:a16="http://schemas.microsoft.com/office/drawing/2014/main" xmlns="" id="{C955D7D1-9496-91CE-C6E5-D617BA2746F8}"/>
              </a:ext>
            </a:extLst>
          </p:cNvPr>
          <p:cNvCxnSpPr/>
          <p:nvPr/>
        </p:nvCxnSpPr>
        <p:spPr>
          <a:xfrm rot="16200000" flipH="1" flipV="1">
            <a:off x="2766063" y="1540671"/>
            <a:ext cx="36576" cy="2569464"/>
          </a:xfrm>
          <a:prstGeom prst="curvedConnector3">
            <a:avLst>
              <a:gd name="adj1" fmla="val -3059900"/>
            </a:avLst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xmlns="" id="{0D237E73-DDFC-148F-2E6B-07C255407026}"/>
              </a:ext>
            </a:extLst>
          </p:cNvPr>
          <p:cNvSpPr/>
          <p:nvPr/>
        </p:nvSpPr>
        <p:spPr>
          <a:xfrm>
            <a:off x="2616975" y="129443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xmlns="" id="{3712FD93-6E48-9138-B0F5-9505D19A16AD}"/>
              </a:ext>
            </a:extLst>
          </p:cNvPr>
          <p:cNvSpPr/>
          <p:nvPr/>
        </p:nvSpPr>
        <p:spPr>
          <a:xfrm>
            <a:off x="3795563" y="4275070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xmlns="" id="{36F9A515-A9E8-9523-DEF7-EDC868E0D718}"/>
              </a:ext>
            </a:extLst>
          </p:cNvPr>
          <p:cNvCxnSpPr/>
          <p:nvPr/>
        </p:nvCxnSpPr>
        <p:spPr>
          <a:xfrm flipV="1">
            <a:off x="1699939" y="2507106"/>
            <a:ext cx="448475" cy="379249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xmlns="" id="{B1753FEC-9E66-4D21-6C5B-8E2A07510745}"/>
              </a:ext>
            </a:extLst>
          </p:cNvPr>
          <p:cNvCxnSpPr/>
          <p:nvPr/>
        </p:nvCxnSpPr>
        <p:spPr>
          <a:xfrm>
            <a:off x="1699939" y="3209645"/>
            <a:ext cx="433971" cy="32889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xmlns="" id="{B3949874-3B33-620E-A4AB-D21C3381FBC9}"/>
              </a:ext>
            </a:extLst>
          </p:cNvPr>
          <p:cNvCxnSpPr/>
          <p:nvPr/>
        </p:nvCxnSpPr>
        <p:spPr>
          <a:xfrm>
            <a:off x="903700" y="3039382"/>
            <a:ext cx="419092" cy="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xmlns="" id="{25815E36-8F49-3E3C-BA41-DCE541F3ABE2}"/>
              </a:ext>
            </a:extLst>
          </p:cNvPr>
          <p:cNvCxnSpPr/>
          <p:nvPr/>
        </p:nvCxnSpPr>
        <p:spPr>
          <a:xfrm flipV="1">
            <a:off x="1699940" y="2507106"/>
            <a:ext cx="448475" cy="379249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xmlns="" id="{8C7622C9-09ED-3435-FE17-73D6C52FAB35}"/>
              </a:ext>
            </a:extLst>
          </p:cNvPr>
          <p:cNvCxnSpPr/>
          <p:nvPr/>
        </p:nvCxnSpPr>
        <p:spPr>
          <a:xfrm>
            <a:off x="1699940" y="3209645"/>
            <a:ext cx="433971" cy="32889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xmlns="" id="{B027398B-3EB2-5552-AA75-608B65E31D59}"/>
              </a:ext>
            </a:extLst>
          </p:cNvPr>
          <p:cNvCxnSpPr/>
          <p:nvPr/>
        </p:nvCxnSpPr>
        <p:spPr>
          <a:xfrm>
            <a:off x="903701" y="3039382"/>
            <a:ext cx="419092" cy="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urved Connector 45">
            <a:extLst>
              <a:ext uri="{FF2B5EF4-FFF2-40B4-BE49-F238E27FC236}">
                <a16:creationId xmlns:a16="http://schemas.microsoft.com/office/drawing/2014/main" xmlns="" id="{D93F8191-B9DD-B41E-66D6-A8FCFDD8BE25}"/>
              </a:ext>
            </a:extLst>
          </p:cNvPr>
          <p:cNvCxnSpPr/>
          <p:nvPr/>
        </p:nvCxnSpPr>
        <p:spPr>
          <a:xfrm rot="5400000" flipH="1" flipV="1">
            <a:off x="2841336" y="1058044"/>
            <a:ext cx="39222" cy="4397887"/>
          </a:xfrm>
          <a:prstGeom prst="curvedConnector3">
            <a:avLst>
              <a:gd name="adj1" fmla="val -3059900"/>
            </a:avLst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xmlns="" id="{1EFCB8B2-04BE-18B2-5833-5C66437F5F15}"/>
              </a:ext>
            </a:extLst>
          </p:cNvPr>
          <p:cNvSpPr/>
          <p:nvPr/>
        </p:nvSpPr>
        <p:spPr>
          <a:xfrm>
            <a:off x="320701" y="4626954"/>
            <a:ext cx="2167393" cy="3587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chemeClr val="tx1"/>
                </a:solidFill>
                <a:latin typeface="+mj-lt"/>
              </a:rPr>
              <a:t>A= {0, 1, 2, 4, 7}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xmlns="" id="{A359E9F7-3A43-CF8E-C979-9766BAA0B95C}"/>
              </a:ext>
            </a:extLst>
          </p:cNvPr>
          <p:cNvSpPr/>
          <p:nvPr/>
        </p:nvSpPr>
        <p:spPr>
          <a:xfrm>
            <a:off x="368004" y="5104591"/>
            <a:ext cx="1490483" cy="4689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>
                <a:solidFill>
                  <a:schemeClr val="tx1"/>
                </a:solidFill>
                <a:latin typeface="+mj-lt"/>
              </a:rPr>
              <a:t>Move(A,a)</a:t>
            </a:r>
            <a:endParaRPr lang="en-US" sz="2200">
              <a:latin typeface="+mj-lt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xmlns="" id="{509D24E2-B318-AC06-836C-C0E82C7C9F1C}"/>
              </a:ext>
            </a:extLst>
          </p:cNvPr>
          <p:cNvSpPr/>
          <p:nvPr/>
        </p:nvSpPr>
        <p:spPr>
          <a:xfrm>
            <a:off x="1218464" y="5148578"/>
            <a:ext cx="1725988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= {3,8}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xmlns="" id="{140AE2D0-FA67-1368-C798-FE2092BF7C94}"/>
              </a:ext>
            </a:extLst>
          </p:cNvPr>
          <p:cNvSpPr/>
          <p:nvPr/>
        </p:nvSpPr>
        <p:spPr>
          <a:xfrm>
            <a:off x="374532" y="5534752"/>
            <a:ext cx="2700790" cy="4689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dirty="0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𝜖- </a:t>
            </a:r>
            <a:r>
              <a:rPr lang="en-US" sz="2200" dirty="0" smtClean="0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closure(</a:t>
            </a:r>
            <a:r>
              <a:rPr lang="en-US" sz="2200" dirty="0" smtClean="0">
                <a:solidFill>
                  <a:schemeClr val="tx1"/>
                </a:solidFill>
                <a:latin typeface="+mj-lt"/>
              </a:rPr>
              <a:t>Move(</a:t>
            </a:r>
            <a:r>
              <a:rPr lang="en-US" sz="2200" dirty="0" err="1" smtClean="0">
                <a:solidFill>
                  <a:schemeClr val="tx1"/>
                </a:solidFill>
                <a:latin typeface="+mj-lt"/>
              </a:rPr>
              <a:t>A,a</a:t>
            </a:r>
            <a:r>
              <a:rPr lang="en-US" sz="2200" dirty="0">
                <a:solidFill>
                  <a:schemeClr val="tx1"/>
                </a:solidFill>
                <a:latin typeface="+mj-lt"/>
              </a:rPr>
              <a:t>))</a:t>
            </a:r>
            <a:endParaRPr lang="en-US" sz="2200" dirty="0">
              <a:latin typeface="+mj-lt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xmlns="" id="{996E3A0B-0E1E-FFEB-176A-198C59A4C80B}"/>
              </a:ext>
            </a:extLst>
          </p:cNvPr>
          <p:cNvSpPr/>
          <p:nvPr/>
        </p:nvSpPr>
        <p:spPr>
          <a:xfrm>
            <a:off x="2807308" y="5635900"/>
            <a:ext cx="253642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= {3, 6, 7, 1, 2, 4, 8}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xmlns="" id="{A55ABFA5-A256-7CBA-26A0-AB7F9E35A72B}"/>
              </a:ext>
            </a:extLst>
          </p:cNvPr>
          <p:cNvSpPr/>
          <p:nvPr/>
        </p:nvSpPr>
        <p:spPr>
          <a:xfrm>
            <a:off x="6925310" y="5633992"/>
            <a:ext cx="87266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+mj-lt"/>
              </a:rPr>
              <a:t>---- B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xmlns="" id="{77843FB4-A2C4-285C-8D4F-0BC3B10461F3}"/>
              </a:ext>
            </a:extLst>
          </p:cNvPr>
          <p:cNvSpPr/>
          <p:nvPr/>
        </p:nvSpPr>
        <p:spPr>
          <a:xfrm>
            <a:off x="9371748" y="2070186"/>
            <a:ext cx="471465" cy="3626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xmlns="" id="{D954D33B-7436-804A-3DC0-E55108EAC56C}"/>
              </a:ext>
            </a:extLst>
          </p:cNvPr>
          <p:cNvSpPr/>
          <p:nvPr/>
        </p:nvSpPr>
        <p:spPr>
          <a:xfrm>
            <a:off x="9371748" y="2070186"/>
            <a:ext cx="414313" cy="3626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xmlns="" id="{8046794A-9BE3-D20B-F247-E0AAB30FD7B5}"/>
              </a:ext>
            </a:extLst>
          </p:cNvPr>
          <p:cNvSpPr/>
          <p:nvPr/>
        </p:nvSpPr>
        <p:spPr>
          <a:xfrm>
            <a:off x="10979067" y="2647785"/>
            <a:ext cx="473773" cy="2514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xmlns="" id="{D9A98D7B-2C4E-DEE8-BF02-02E536EC6BCE}"/>
              </a:ext>
            </a:extLst>
          </p:cNvPr>
          <p:cNvSpPr/>
          <p:nvPr/>
        </p:nvSpPr>
        <p:spPr>
          <a:xfrm>
            <a:off x="5688655" y="5252992"/>
            <a:ext cx="253642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= {1,2,3,4,6,7,8}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xmlns="" id="{BEDD13DB-F3B3-6BBB-B5A6-2CB22A947E94}"/>
              </a:ext>
            </a:extLst>
          </p:cNvPr>
          <p:cNvSpPr/>
          <p:nvPr/>
        </p:nvSpPr>
        <p:spPr>
          <a:xfrm>
            <a:off x="10534274" y="2098762"/>
            <a:ext cx="376111" cy="211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xmlns="" id="{39341EF1-F37E-B927-7150-55D3B65A4D28}"/>
              </a:ext>
            </a:extLst>
          </p:cNvPr>
          <p:cNvCxnSpPr>
            <a:stCxn id="46" idx="2"/>
          </p:cNvCxnSpPr>
          <p:nvPr/>
        </p:nvCxnSpPr>
        <p:spPr>
          <a:xfrm>
            <a:off x="1404398" y="4985664"/>
            <a:ext cx="267829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xmlns="" id="{3F46CDC6-4BB9-31B6-9B74-EC6D0531F9C0}"/>
              </a:ext>
            </a:extLst>
          </p:cNvPr>
          <p:cNvCxnSpPr/>
          <p:nvPr/>
        </p:nvCxnSpPr>
        <p:spPr>
          <a:xfrm>
            <a:off x="2020498" y="4985664"/>
            <a:ext cx="267829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al 63">
            <a:extLst>
              <a:ext uri="{FF2B5EF4-FFF2-40B4-BE49-F238E27FC236}">
                <a16:creationId xmlns:a16="http://schemas.microsoft.com/office/drawing/2014/main" xmlns="" id="{AD128E71-CB74-4B72-E20E-AED466E821FC}"/>
              </a:ext>
            </a:extLst>
          </p:cNvPr>
          <p:cNvSpPr/>
          <p:nvPr/>
        </p:nvSpPr>
        <p:spPr>
          <a:xfrm>
            <a:off x="7893141" y="277905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10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xmlns="" id="{E4B336AA-2448-B332-36B1-67FA3838315A}"/>
              </a:ext>
            </a:extLst>
          </p:cNvPr>
          <p:cNvSpPr/>
          <p:nvPr/>
        </p:nvSpPr>
        <p:spPr>
          <a:xfrm>
            <a:off x="7938861" y="2828648"/>
            <a:ext cx="365760" cy="36576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>
              <a:latin typeface="+mj-lt"/>
            </a:endParaRPr>
          </a:p>
        </p:txBody>
      </p:sp>
      <p:graphicFrame>
        <p:nvGraphicFramePr>
          <p:cNvPr id="66" name="Table 65">
            <a:extLst>
              <a:ext uri="{FF2B5EF4-FFF2-40B4-BE49-F238E27FC236}">
                <a16:creationId xmlns:a16="http://schemas.microsoft.com/office/drawing/2014/main" xmlns="" id="{13743E40-CC9A-C63C-882C-46BF9A188652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724270" y="2030248"/>
          <a:ext cx="3177041" cy="4267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States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n-US" sz="22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b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xmlns="" id="{0386D07A-7860-FC1D-4D4C-DAC34BC9084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724271" y="2453188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A = {0,1,2,4,7}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xmlns="" id="{E04C7506-283F-121C-D036-715723DFA0D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724271" y="2818948"/>
          <a:ext cx="3177040" cy="6400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 = {1,2,3,4,6,7,8}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xmlns="" id="{3AA63667-A7E2-5C4B-6095-02C0ACF79C5A}"/>
              </a:ext>
            </a:extLst>
          </p:cNvPr>
          <p:cNvCxnSpPr/>
          <p:nvPr/>
        </p:nvCxnSpPr>
        <p:spPr>
          <a:xfrm rot="5400000">
            <a:off x="5770212" y="3683283"/>
            <a:ext cx="5486400" cy="0"/>
          </a:xfrm>
          <a:prstGeom prst="line">
            <a:avLst/>
          </a:prstGeom>
          <a:ln>
            <a:solidFill>
              <a:srgbClr val="0E47A1"/>
            </a:solidFill>
            <a:prstDash val="soli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687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990000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990000"/>
                                      </p:to>
                                    </p:animClr>
                                    <p:set>
                                      <p:cBhvr>
                                        <p:cTn id="2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5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6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9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9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4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7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2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5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9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xit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49" grpId="0"/>
      <p:bldP spid="51" grpId="0"/>
      <p:bldP spid="55" grpId="0"/>
      <p:bldP spid="5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98FF5ED-43A8-B8A7-F05A-68A8406DCC32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Conversion from NFA to DFA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xmlns="" id="{71122A1C-85E8-CD70-E8C5-65FACBECFFA1}"/>
              </a:ext>
            </a:extLst>
          </p:cNvPr>
          <p:cNvSpPr/>
          <p:nvPr/>
        </p:nvSpPr>
        <p:spPr>
          <a:xfrm>
            <a:off x="1309692" y="2819400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1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CEAB37FF-B439-7375-428E-BFE01594A7DD}"/>
              </a:ext>
            </a:extLst>
          </p:cNvPr>
          <p:cNvSpPr/>
          <p:nvPr/>
        </p:nvSpPr>
        <p:spPr>
          <a:xfrm>
            <a:off x="2081457" y="211686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2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xmlns="" id="{F291B0F3-0669-9AC5-E692-DB7B24100B58}"/>
              </a:ext>
            </a:extLst>
          </p:cNvPr>
          <p:cNvSpPr/>
          <p:nvPr/>
        </p:nvSpPr>
        <p:spPr>
          <a:xfrm>
            <a:off x="3075321" y="3491958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5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735E406A-16CE-4817-A621-F51E141C7CA4}"/>
              </a:ext>
            </a:extLst>
          </p:cNvPr>
          <p:cNvSpPr/>
          <p:nvPr/>
        </p:nvSpPr>
        <p:spPr>
          <a:xfrm>
            <a:off x="3075321" y="2135663"/>
            <a:ext cx="457200" cy="438011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E713D532-9FA0-82D7-399F-20889905C326}"/>
              </a:ext>
            </a:extLst>
          </p:cNvPr>
          <p:cNvSpPr/>
          <p:nvPr/>
        </p:nvSpPr>
        <p:spPr>
          <a:xfrm>
            <a:off x="2064600" y="349091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xmlns="" id="{59A18112-8E92-7D04-0A33-B7C5AEF4B234}"/>
              </a:ext>
            </a:extLst>
          </p:cNvPr>
          <p:cNvSpPr/>
          <p:nvPr/>
        </p:nvSpPr>
        <p:spPr>
          <a:xfrm>
            <a:off x="3808798" y="280511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6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xmlns="" id="{E695141E-FB9A-A653-D439-10717A49F84B}"/>
              </a:ext>
            </a:extLst>
          </p:cNvPr>
          <p:cNvSpPr/>
          <p:nvPr/>
        </p:nvSpPr>
        <p:spPr>
          <a:xfrm>
            <a:off x="4831287" y="2780177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7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7F4C71D3-6356-2354-8A47-8E89C8381C99}"/>
              </a:ext>
            </a:extLst>
          </p:cNvPr>
          <p:cNvSpPr/>
          <p:nvPr/>
        </p:nvSpPr>
        <p:spPr>
          <a:xfrm>
            <a:off x="5853776" y="2780177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8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xmlns="" id="{13562053-A706-1405-668D-90C7D9CE3CB6}"/>
              </a:ext>
            </a:extLst>
          </p:cNvPr>
          <p:cNvSpPr/>
          <p:nvPr/>
        </p:nvSpPr>
        <p:spPr>
          <a:xfrm>
            <a:off x="433400" y="281939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0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xmlns="" id="{352F114C-E9DF-9E64-AEB7-76AED451529A}"/>
              </a:ext>
            </a:extLst>
          </p:cNvPr>
          <p:cNvCxnSpPr/>
          <p:nvPr/>
        </p:nvCxnSpPr>
        <p:spPr>
          <a:xfrm>
            <a:off x="903699" y="3039382"/>
            <a:ext cx="419092" cy="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45D02D30-FBFC-F806-1B03-E72480E8DDCD}"/>
              </a:ext>
            </a:extLst>
          </p:cNvPr>
          <p:cNvSpPr/>
          <p:nvPr/>
        </p:nvSpPr>
        <p:spPr>
          <a:xfrm>
            <a:off x="921568" y="2667000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xmlns="" id="{CC1F8395-B4B3-35AA-FBDB-384AEC7BDC43}"/>
              </a:ext>
            </a:extLst>
          </p:cNvPr>
          <p:cNvCxnSpPr/>
          <p:nvPr/>
        </p:nvCxnSpPr>
        <p:spPr>
          <a:xfrm>
            <a:off x="2530319" y="2351552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7565B445-CC79-3903-4A2A-E58E6B73FFD5}"/>
              </a:ext>
            </a:extLst>
          </p:cNvPr>
          <p:cNvSpPr/>
          <p:nvPr/>
        </p:nvSpPr>
        <p:spPr>
          <a:xfrm>
            <a:off x="2616975" y="1934046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xmlns="" id="{35630A3A-D96C-E360-7F25-9811FB5D7053}"/>
              </a:ext>
            </a:extLst>
          </p:cNvPr>
          <p:cNvCxnSpPr>
            <a:stCxn id="7" idx="6"/>
            <a:endCxn id="5" idx="2"/>
          </p:cNvCxnSpPr>
          <p:nvPr/>
        </p:nvCxnSpPr>
        <p:spPr>
          <a:xfrm>
            <a:off x="2521800" y="3719511"/>
            <a:ext cx="553521" cy="104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50C1FBFB-9E50-9077-EF0F-71ABB5326ADF}"/>
              </a:ext>
            </a:extLst>
          </p:cNvPr>
          <p:cNvSpPr/>
          <p:nvPr/>
        </p:nvSpPr>
        <p:spPr>
          <a:xfrm>
            <a:off x="2616975" y="373140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xmlns="" id="{FC2DD419-2B71-304F-16BA-01530C9CC77C}"/>
              </a:ext>
            </a:extLst>
          </p:cNvPr>
          <p:cNvCxnSpPr>
            <a:stCxn id="3" idx="7"/>
            <a:endCxn id="4" idx="3"/>
          </p:cNvCxnSpPr>
          <p:nvPr/>
        </p:nvCxnSpPr>
        <p:spPr>
          <a:xfrm flipV="1">
            <a:off x="1699937" y="2507106"/>
            <a:ext cx="448475" cy="379249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xmlns="" id="{DBDBAAC9-504F-3DA9-6DE8-C07F8C760111}"/>
              </a:ext>
            </a:extLst>
          </p:cNvPr>
          <p:cNvCxnSpPr>
            <a:stCxn id="3" idx="5"/>
          </p:cNvCxnSpPr>
          <p:nvPr/>
        </p:nvCxnSpPr>
        <p:spPr>
          <a:xfrm>
            <a:off x="1699937" y="3209645"/>
            <a:ext cx="433971" cy="32889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xmlns="" id="{8CE20CE9-6EDA-53BB-CD69-F1F2E6A69362}"/>
              </a:ext>
            </a:extLst>
          </p:cNvPr>
          <p:cNvCxnSpPr>
            <a:stCxn id="6" idx="5"/>
            <a:endCxn id="8" idx="1"/>
          </p:cNvCxnSpPr>
          <p:nvPr/>
        </p:nvCxnSpPr>
        <p:spPr>
          <a:xfrm>
            <a:off x="3465566" y="2509529"/>
            <a:ext cx="410187" cy="36253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xmlns="" id="{5F574B11-70BF-30E6-9AB0-A46C2C97216F}"/>
              </a:ext>
            </a:extLst>
          </p:cNvPr>
          <p:cNvCxnSpPr>
            <a:stCxn id="5" idx="7"/>
            <a:endCxn id="8" idx="3"/>
          </p:cNvCxnSpPr>
          <p:nvPr/>
        </p:nvCxnSpPr>
        <p:spPr>
          <a:xfrm flipV="1">
            <a:off x="3465566" y="3195356"/>
            <a:ext cx="410187" cy="36355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xmlns="" id="{56176161-016C-A574-7742-D82A26D13DC8}"/>
              </a:ext>
            </a:extLst>
          </p:cNvPr>
          <p:cNvCxnSpPr/>
          <p:nvPr/>
        </p:nvCxnSpPr>
        <p:spPr>
          <a:xfrm>
            <a:off x="4271771" y="3008777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FA6A1665-13F0-5737-657F-BC2EA68F9AD6}"/>
              </a:ext>
            </a:extLst>
          </p:cNvPr>
          <p:cNvSpPr/>
          <p:nvPr/>
        </p:nvSpPr>
        <p:spPr>
          <a:xfrm>
            <a:off x="4351727" y="2654636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xmlns="" id="{3213CA26-40F9-2887-2258-DBCF84E7A59D}"/>
              </a:ext>
            </a:extLst>
          </p:cNvPr>
          <p:cNvCxnSpPr/>
          <p:nvPr/>
        </p:nvCxnSpPr>
        <p:spPr>
          <a:xfrm>
            <a:off x="5281161" y="3018759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xmlns="" id="{9412F72B-F252-6972-948D-2DF775152F2E}"/>
              </a:ext>
            </a:extLst>
          </p:cNvPr>
          <p:cNvSpPr/>
          <p:nvPr/>
        </p:nvSpPr>
        <p:spPr>
          <a:xfrm>
            <a:off x="5361117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723F9517-8671-B486-81FF-3F9FF78F4D55}"/>
              </a:ext>
            </a:extLst>
          </p:cNvPr>
          <p:cNvSpPr/>
          <p:nvPr/>
        </p:nvSpPr>
        <p:spPr>
          <a:xfrm>
            <a:off x="6425264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EFD34B41-07FE-B8FA-3352-2680481D8D8A}"/>
              </a:ext>
            </a:extLst>
          </p:cNvPr>
          <p:cNvSpPr/>
          <p:nvPr/>
        </p:nvSpPr>
        <p:spPr>
          <a:xfrm>
            <a:off x="7421867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xmlns="" id="{77EA6366-FBF7-89FB-A16B-1F81D1559D85}"/>
              </a:ext>
            </a:extLst>
          </p:cNvPr>
          <p:cNvCxnSpPr/>
          <p:nvPr/>
        </p:nvCxnSpPr>
        <p:spPr>
          <a:xfrm>
            <a:off x="190500" y="3047999"/>
            <a:ext cx="242900" cy="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xmlns="" id="{8149FDB1-E9D8-7140-A8AF-E8C543CCE5E4}"/>
              </a:ext>
            </a:extLst>
          </p:cNvPr>
          <p:cNvSpPr/>
          <p:nvPr/>
        </p:nvSpPr>
        <p:spPr>
          <a:xfrm>
            <a:off x="1524000" y="337065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xmlns="" id="{9561BB84-E87D-2A96-00A1-DA9FB7E02C90}"/>
              </a:ext>
            </a:extLst>
          </p:cNvPr>
          <p:cNvSpPr/>
          <p:nvPr/>
        </p:nvSpPr>
        <p:spPr>
          <a:xfrm>
            <a:off x="1583156" y="2369027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xmlns="" id="{45B4EF51-F573-7CF8-87C3-ED9EC939DE34}"/>
              </a:ext>
            </a:extLst>
          </p:cNvPr>
          <p:cNvSpPr/>
          <p:nvPr/>
        </p:nvSpPr>
        <p:spPr>
          <a:xfrm>
            <a:off x="3604306" y="2358623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xmlns="" id="{922B7C60-EC2B-333E-0DAE-8A628CE2F00C}"/>
              </a:ext>
            </a:extLst>
          </p:cNvPr>
          <p:cNvSpPr/>
          <p:nvPr/>
        </p:nvSpPr>
        <p:spPr>
          <a:xfrm>
            <a:off x="3616975" y="338375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3" name="Curved Connector 33">
            <a:extLst>
              <a:ext uri="{FF2B5EF4-FFF2-40B4-BE49-F238E27FC236}">
                <a16:creationId xmlns:a16="http://schemas.microsoft.com/office/drawing/2014/main" xmlns="" id="{F11CDB41-3DD8-B911-EFF2-BB818DB7145B}"/>
              </a:ext>
            </a:extLst>
          </p:cNvPr>
          <p:cNvCxnSpPr/>
          <p:nvPr/>
        </p:nvCxnSpPr>
        <p:spPr>
          <a:xfrm rot="16200000" flipH="1" flipV="1">
            <a:off x="2766063" y="1540671"/>
            <a:ext cx="36576" cy="2569464"/>
          </a:xfrm>
          <a:prstGeom prst="curvedConnector3">
            <a:avLst>
              <a:gd name="adj1" fmla="val -3059900"/>
            </a:avLst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xmlns="" id="{981DF344-B66D-408B-7E8A-C23F2C682A6B}"/>
              </a:ext>
            </a:extLst>
          </p:cNvPr>
          <p:cNvSpPr/>
          <p:nvPr/>
        </p:nvSpPr>
        <p:spPr>
          <a:xfrm>
            <a:off x="2616975" y="129443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xmlns="" id="{5E6C518B-D271-C165-3567-3078B43FA83E}"/>
              </a:ext>
            </a:extLst>
          </p:cNvPr>
          <p:cNvSpPr/>
          <p:nvPr/>
        </p:nvSpPr>
        <p:spPr>
          <a:xfrm>
            <a:off x="3795563" y="4275070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xmlns="" id="{3351AA3A-BFC4-E264-095E-D268ACB09832}"/>
              </a:ext>
            </a:extLst>
          </p:cNvPr>
          <p:cNvCxnSpPr/>
          <p:nvPr/>
        </p:nvCxnSpPr>
        <p:spPr>
          <a:xfrm flipV="1">
            <a:off x="1699939" y="2507106"/>
            <a:ext cx="448475" cy="379249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xmlns="" id="{B586F084-3F0A-5F19-A7F1-BC090E81AC30}"/>
              </a:ext>
            </a:extLst>
          </p:cNvPr>
          <p:cNvCxnSpPr/>
          <p:nvPr/>
        </p:nvCxnSpPr>
        <p:spPr>
          <a:xfrm>
            <a:off x="1699939" y="3209645"/>
            <a:ext cx="433971" cy="32889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urved Connector 38">
            <a:extLst>
              <a:ext uri="{FF2B5EF4-FFF2-40B4-BE49-F238E27FC236}">
                <a16:creationId xmlns:a16="http://schemas.microsoft.com/office/drawing/2014/main" xmlns="" id="{78EE6210-455C-F153-A4D0-5AF1866FBC35}"/>
              </a:ext>
            </a:extLst>
          </p:cNvPr>
          <p:cNvCxnSpPr/>
          <p:nvPr/>
        </p:nvCxnSpPr>
        <p:spPr>
          <a:xfrm rot="5400000" flipH="1" flipV="1">
            <a:off x="2841333" y="1058044"/>
            <a:ext cx="39222" cy="4397887"/>
          </a:xfrm>
          <a:prstGeom prst="curvedConnector3">
            <a:avLst>
              <a:gd name="adj1" fmla="val -3059900"/>
            </a:avLst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xmlns="" id="{192076E0-6142-C38A-E78F-DA24E8B7E2FF}"/>
              </a:ext>
            </a:extLst>
          </p:cNvPr>
          <p:cNvCxnSpPr/>
          <p:nvPr/>
        </p:nvCxnSpPr>
        <p:spPr>
          <a:xfrm>
            <a:off x="903700" y="3039382"/>
            <a:ext cx="419092" cy="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xmlns="" id="{6C7D853B-57A9-BBF2-CE89-376DEF823629}"/>
              </a:ext>
            </a:extLst>
          </p:cNvPr>
          <p:cNvCxnSpPr/>
          <p:nvPr/>
        </p:nvCxnSpPr>
        <p:spPr>
          <a:xfrm flipV="1">
            <a:off x="1699940" y="2507106"/>
            <a:ext cx="448475" cy="379249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xmlns="" id="{6222C009-7D47-B8AB-FC84-869791FCEB47}"/>
              </a:ext>
            </a:extLst>
          </p:cNvPr>
          <p:cNvCxnSpPr/>
          <p:nvPr/>
        </p:nvCxnSpPr>
        <p:spPr>
          <a:xfrm>
            <a:off x="1699940" y="3209645"/>
            <a:ext cx="433971" cy="32889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xmlns="" id="{ABD2ACFC-C19B-ED50-DFD1-5A8E9BE0FDBA}"/>
              </a:ext>
            </a:extLst>
          </p:cNvPr>
          <p:cNvCxnSpPr/>
          <p:nvPr/>
        </p:nvCxnSpPr>
        <p:spPr>
          <a:xfrm>
            <a:off x="903701" y="3039382"/>
            <a:ext cx="419092" cy="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xmlns="" id="{D84476C7-0D39-BC56-2CB9-02F1AC2955DE}"/>
              </a:ext>
            </a:extLst>
          </p:cNvPr>
          <p:cNvSpPr/>
          <p:nvPr/>
        </p:nvSpPr>
        <p:spPr>
          <a:xfrm>
            <a:off x="119703" y="4669492"/>
            <a:ext cx="2167393" cy="3938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chemeClr val="tx1"/>
                </a:solidFill>
                <a:latin typeface="+mj-lt"/>
              </a:rPr>
              <a:t>A= {0, 1, 2, 4, 7}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xmlns="" id="{A0621DC5-E01C-DAF6-8971-90AA28DE465E}"/>
              </a:ext>
            </a:extLst>
          </p:cNvPr>
          <p:cNvSpPr/>
          <p:nvPr/>
        </p:nvSpPr>
        <p:spPr>
          <a:xfrm>
            <a:off x="186367" y="5118443"/>
            <a:ext cx="1726386" cy="4991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>
                <a:solidFill>
                  <a:schemeClr val="tx1"/>
                </a:solidFill>
                <a:latin typeface="+mj-lt"/>
              </a:rPr>
              <a:t>Move(A,b) =</a:t>
            </a:r>
            <a:endParaRPr lang="en-US" sz="2200">
              <a:latin typeface="+mj-lt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xmlns="" id="{CDCE6874-4CA0-9620-B50D-EA81882ED437}"/>
              </a:ext>
            </a:extLst>
          </p:cNvPr>
          <p:cNvSpPr/>
          <p:nvPr/>
        </p:nvSpPr>
        <p:spPr>
          <a:xfrm>
            <a:off x="974471" y="5177521"/>
            <a:ext cx="1725988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 {5}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xmlns="" id="{B29C1621-8C6D-C8C8-9E81-86CE71E51CA8}"/>
              </a:ext>
            </a:extLst>
          </p:cNvPr>
          <p:cNvSpPr/>
          <p:nvPr/>
        </p:nvSpPr>
        <p:spPr>
          <a:xfrm>
            <a:off x="190499" y="5534752"/>
            <a:ext cx="3043553" cy="4504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𝜖- Closure(</a:t>
            </a:r>
            <a:r>
              <a:rPr lang="en-US" sz="2200">
                <a:solidFill>
                  <a:schemeClr val="tx1"/>
                </a:solidFill>
                <a:latin typeface="+mj-lt"/>
              </a:rPr>
              <a:t>Move(A,b)) =</a:t>
            </a:r>
            <a:endParaRPr lang="en-US" sz="2200">
              <a:latin typeface="+mj-lt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xmlns="" id="{65EB5F16-D7FE-BBE3-2F35-EC208AA53618}"/>
              </a:ext>
            </a:extLst>
          </p:cNvPr>
          <p:cNvSpPr/>
          <p:nvPr/>
        </p:nvSpPr>
        <p:spPr>
          <a:xfrm>
            <a:off x="2704666" y="5593830"/>
            <a:ext cx="253642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 {5, 6, 7, 1, 2, 4}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xmlns="" id="{666A8BD5-3620-D78E-EF9F-205EC1E4B43B}"/>
              </a:ext>
            </a:extLst>
          </p:cNvPr>
          <p:cNvSpPr/>
          <p:nvPr/>
        </p:nvSpPr>
        <p:spPr>
          <a:xfrm>
            <a:off x="5390310" y="5593830"/>
            <a:ext cx="87266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  <a:latin typeface="+mj-lt"/>
              </a:rPr>
              <a:t>- --- </a:t>
            </a:r>
            <a:r>
              <a:rPr lang="en-US" sz="2400" b="1" dirty="0">
                <a:solidFill>
                  <a:schemeClr val="tx1"/>
                </a:solidFill>
                <a:latin typeface="+mj-lt"/>
              </a:rPr>
              <a:t>C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xmlns="" id="{7921A1F4-2B41-B4AB-B347-611E8DC7F7EE}"/>
              </a:ext>
            </a:extLst>
          </p:cNvPr>
          <p:cNvSpPr/>
          <p:nvPr/>
        </p:nvSpPr>
        <p:spPr>
          <a:xfrm>
            <a:off x="6482416" y="4401275"/>
            <a:ext cx="471465" cy="3626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xmlns="" id="{3A6DCC01-F0F3-A565-BD4F-8C70D3129518}"/>
              </a:ext>
            </a:extLst>
          </p:cNvPr>
          <p:cNvSpPr/>
          <p:nvPr/>
        </p:nvSpPr>
        <p:spPr>
          <a:xfrm>
            <a:off x="6482416" y="4401275"/>
            <a:ext cx="414313" cy="3626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xmlns="" id="{AF7437C9-00D5-51E2-2342-435DA520C814}"/>
              </a:ext>
            </a:extLst>
          </p:cNvPr>
          <p:cNvSpPr/>
          <p:nvPr/>
        </p:nvSpPr>
        <p:spPr>
          <a:xfrm>
            <a:off x="2348762" y="6057409"/>
            <a:ext cx="253642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= {1,2,4,5,6,7}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xmlns="" id="{03BEFDA3-B13D-30F9-1C63-EDFBF62C93FB}"/>
              </a:ext>
            </a:extLst>
          </p:cNvPr>
          <p:cNvCxnSpPr/>
          <p:nvPr/>
        </p:nvCxnSpPr>
        <p:spPr>
          <a:xfrm>
            <a:off x="1516271" y="5063358"/>
            <a:ext cx="267829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58">
            <a:extLst>
              <a:ext uri="{FF2B5EF4-FFF2-40B4-BE49-F238E27FC236}">
                <a16:creationId xmlns:a16="http://schemas.microsoft.com/office/drawing/2014/main" xmlns="" id="{F32A2CB4-870B-0881-F483-BB4AAB2B2252}"/>
              </a:ext>
            </a:extLst>
          </p:cNvPr>
          <p:cNvSpPr/>
          <p:nvPr/>
        </p:nvSpPr>
        <p:spPr>
          <a:xfrm>
            <a:off x="7893141" y="277905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10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xmlns="" id="{6413593B-1F3C-3ABA-77F9-EED02F84160B}"/>
              </a:ext>
            </a:extLst>
          </p:cNvPr>
          <p:cNvSpPr/>
          <p:nvPr/>
        </p:nvSpPr>
        <p:spPr>
          <a:xfrm>
            <a:off x="7938861" y="2828648"/>
            <a:ext cx="365760" cy="36576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xmlns="" id="{689D226B-E21B-7C5B-10DB-C8D8A1336A90}"/>
              </a:ext>
            </a:extLst>
          </p:cNvPr>
          <p:cNvSpPr/>
          <p:nvPr/>
        </p:nvSpPr>
        <p:spPr>
          <a:xfrm>
            <a:off x="6869835" y="279015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9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xmlns="" id="{7C57C957-8EC6-38FC-27CA-1929018BF1C2}"/>
              </a:ext>
            </a:extLst>
          </p:cNvPr>
          <p:cNvCxnSpPr/>
          <p:nvPr/>
        </p:nvCxnSpPr>
        <p:spPr>
          <a:xfrm>
            <a:off x="6308667" y="2994945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xmlns="" id="{2871C4E5-C4E7-AEF6-4F00-D6803F3DC40F}"/>
              </a:ext>
            </a:extLst>
          </p:cNvPr>
          <p:cNvCxnSpPr/>
          <p:nvPr/>
        </p:nvCxnSpPr>
        <p:spPr>
          <a:xfrm>
            <a:off x="7334592" y="3006852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4" name="Table 63">
            <a:extLst>
              <a:ext uri="{FF2B5EF4-FFF2-40B4-BE49-F238E27FC236}">
                <a16:creationId xmlns:a16="http://schemas.microsoft.com/office/drawing/2014/main" xmlns="" id="{F89629CB-627E-0438-463E-5C75AAE550A1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724270" y="2030248"/>
          <a:ext cx="3177041" cy="4267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States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n-US" sz="22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b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5" name="Table 64">
            <a:extLst>
              <a:ext uri="{FF2B5EF4-FFF2-40B4-BE49-F238E27FC236}">
                <a16:creationId xmlns:a16="http://schemas.microsoft.com/office/drawing/2014/main" xmlns="" id="{49C76C28-7669-EC63-F9ED-107AC7AE590D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724271" y="2453188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A = {0,1,2,4,7}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6" name="Table 65">
            <a:extLst>
              <a:ext uri="{FF2B5EF4-FFF2-40B4-BE49-F238E27FC236}">
                <a16:creationId xmlns:a16="http://schemas.microsoft.com/office/drawing/2014/main" xmlns="" id="{93407BAD-EFD4-4FDB-9679-F6FFA80A4D52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724271" y="2818948"/>
          <a:ext cx="3177040" cy="6400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B = {1,2,3,4,6,7,8}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xmlns="" id="{8E610C38-359A-F959-1047-219BF2D5B6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6023773"/>
              </p:ext>
            </p:extLst>
          </p:nvPr>
        </p:nvGraphicFramePr>
        <p:xfrm>
          <a:off x="8724271" y="3440947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C = {1,2,4,5,6,7}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xmlns="" id="{34354444-0016-B48E-8ECD-60121F28DDB8}"/>
              </a:ext>
            </a:extLst>
          </p:cNvPr>
          <p:cNvCxnSpPr/>
          <p:nvPr/>
        </p:nvCxnSpPr>
        <p:spPr>
          <a:xfrm rot="5400000">
            <a:off x="5770212" y="3683283"/>
            <a:ext cx="5486400" cy="0"/>
          </a:xfrm>
          <a:prstGeom prst="line">
            <a:avLst/>
          </a:prstGeom>
          <a:ln>
            <a:solidFill>
              <a:srgbClr val="0E47A1"/>
            </a:solidFill>
            <a:prstDash val="soli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2137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1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2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5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0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0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3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3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6" grpId="0"/>
      <p:bldP spid="48" grpId="0"/>
      <p:bldP spid="5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2DA3D82-C174-8736-CC6D-B14710E0FBD3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Conversion from NFA to DFA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xmlns="" id="{8B791B49-4B89-D779-0459-9069F9862B73}"/>
              </a:ext>
            </a:extLst>
          </p:cNvPr>
          <p:cNvSpPr/>
          <p:nvPr/>
        </p:nvSpPr>
        <p:spPr>
          <a:xfrm>
            <a:off x="1309692" y="2819400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1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ED0031A2-4FA0-1E34-FD5B-41D28EE299CF}"/>
              </a:ext>
            </a:extLst>
          </p:cNvPr>
          <p:cNvSpPr/>
          <p:nvPr/>
        </p:nvSpPr>
        <p:spPr>
          <a:xfrm>
            <a:off x="2081457" y="211686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2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xmlns="" id="{7DF24656-821A-1647-B456-BF7B0E501912}"/>
              </a:ext>
            </a:extLst>
          </p:cNvPr>
          <p:cNvSpPr/>
          <p:nvPr/>
        </p:nvSpPr>
        <p:spPr>
          <a:xfrm>
            <a:off x="3075321" y="3491958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5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C5C4D3BA-A89C-5FEE-8513-5C14945E91FA}"/>
              </a:ext>
            </a:extLst>
          </p:cNvPr>
          <p:cNvSpPr/>
          <p:nvPr/>
        </p:nvSpPr>
        <p:spPr>
          <a:xfrm>
            <a:off x="3075321" y="2135663"/>
            <a:ext cx="457200" cy="438011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6E1AA675-3A23-90A3-7B47-AE031C9C22AA}"/>
              </a:ext>
            </a:extLst>
          </p:cNvPr>
          <p:cNvSpPr/>
          <p:nvPr/>
        </p:nvSpPr>
        <p:spPr>
          <a:xfrm>
            <a:off x="2064600" y="349091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xmlns="" id="{9A95B1EF-6B33-D53D-26E4-8D6B427577A2}"/>
              </a:ext>
            </a:extLst>
          </p:cNvPr>
          <p:cNvSpPr/>
          <p:nvPr/>
        </p:nvSpPr>
        <p:spPr>
          <a:xfrm>
            <a:off x="3808798" y="280511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6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xmlns="" id="{3A1334EC-66F4-2ED8-51CF-38C360060513}"/>
              </a:ext>
            </a:extLst>
          </p:cNvPr>
          <p:cNvSpPr/>
          <p:nvPr/>
        </p:nvSpPr>
        <p:spPr>
          <a:xfrm>
            <a:off x="4831287" y="2780177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7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4EFD35B9-4873-6A9B-9A02-172A60EC4DD4}"/>
              </a:ext>
            </a:extLst>
          </p:cNvPr>
          <p:cNvSpPr/>
          <p:nvPr/>
        </p:nvSpPr>
        <p:spPr>
          <a:xfrm>
            <a:off x="5853776" y="2780177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8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xmlns="" id="{FD4B6F06-4AF7-00D7-D46E-4F2D0619005F}"/>
              </a:ext>
            </a:extLst>
          </p:cNvPr>
          <p:cNvSpPr/>
          <p:nvPr/>
        </p:nvSpPr>
        <p:spPr>
          <a:xfrm>
            <a:off x="433400" y="281939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0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xmlns="" id="{1C863468-FC3B-48D6-D1EF-B18D206A306A}"/>
              </a:ext>
            </a:extLst>
          </p:cNvPr>
          <p:cNvCxnSpPr/>
          <p:nvPr/>
        </p:nvCxnSpPr>
        <p:spPr>
          <a:xfrm>
            <a:off x="903699" y="3039382"/>
            <a:ext cx="419092" cy="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ECC4476E-7859-7DA1-1999-D4DFA8A42BC0}"/>
              </a:ext>
            </a:extLst>
          </p:cNvPr>
          <p:cNvSpPr/>
          <p:nvPr/>
        </p:nvSpPr>
        <p:spPr>
          <a:xfrm>
            <a:off x="921568" y="2667000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xmlns="" id="{D18C84AD-1D78-E42C-B6EE-EFD121AE8BC8}"/>
              </a:ext>
            </a:extLst>
          </p:cNvPr>
          <p:cNvCxnSpPr/>
          <p:nvPr/>
        </p:nvCxnSpPr>
        <p:spPr>
          <a:xfrm>
            <a:off x="2530319" y="2351552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181BFB9A-A4F3-DC46-30E6-09D9CE102DF4}"/>
              </a:ext>
            </a:extLst>
          </p:cNvPr>
          <p:cNvSpPr/>
          <p:nvPr/>
        </p:nvSpPr>
        <p:spPr>
          <a:xfrm>
            <a:off x="2616975" y="1934046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xmlns="" id="{6F305C44-D4B5-3510-F5F5-24F48124A8B6}"/>
              </a:ext>
            </a:extLst>
          </p:cNvPr>
          <p:cNvCxnSpPr>
            <a:stCxn id="7" idx="6"/>
            <a:endCxn id="5" idx="2"/>
          </p:cNvCxnSpPr>
          <p:nvPr/>
        </p:nvCxnSpPr>
        <p:spPr>
          <a:xfrm>
            <a:off x="2521800" y="3719511"/>
            <a:ext cx="553521" cy="104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DF7B43C7-70AD-C8AD-EFC0-9CDD3ECEF842}"/>
              </a:ext>
            </a:extLst>
          </p:cNvPr>
          <p:cNvSpPr/>
          <p:nvPr/>
        </p:nvSpPr>
        <p:spPr>
          <a:xfrm>
            <a:off x="2616975" y="373140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xmlns="" id="{649C99CA-2E9B-40FF-7500-2778292FD25A}"/>
              </a:ext>
            </a:extLst>
          </p:cNvPr>
          <p:cNvCxnSpPr>
            <a:stCxn id="3" idx="7"/>
            <a:endCxn id="4" idx="3"/>
          </p:cNvCxnSpPr>
          <p:nvPr/>
        </p:nvCxnSpPr>
        <p:spPr>
          <a:xfrm flipV="1">
            <a:off x="1699937" y="2507106"/>
            <a:ext cx="448475" cy="379249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xmlns="" id="{D8E2DF54-71A5-2D03-1A9A-8DBA341BF135}"/>
              </a:ext>
            </a:extLst>
          </p:cNvPr>
          <p:cNvCxnSpPr>
            <a:stCxn id="3" idx="5"/>
          </p:cNvCxnSpPr>
          <p:nvPr/>
        </p:nvCxnSpPr>
        <p:spPr>
          <a:xfrm>
            <a:off x="1699937" y="3209645"/>
            <a:ext cx="433971" cy="32889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xmlns="" id="{7903F3CB-C398-ADD3-912D-EB266B351036}"/>
              </a:ext>
            </a:extLst>
          </p:cNvPr>
          <p:cNvCxnSpPr>
            <a:stCxn id="6" idx="5"/>
            <a:endCxn id="8" idx="1"/>
          </p:cNvCxnSpPr>
          <p:nvPr/>
        </p:nvCxnSpPr>
        <p:spPr>
          <a:xfrm>
            <a:off x="3465566" y="2509529"/>
            <a:ext cx="410187" cy="36253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xmlns="" id="{549B93E9-3B1B-B28F-68BE-005FC6CAEDDA}"/>
              </a:ext>
            </a:extLst>
          </p:cNvPr>
          <p:cNvCxnSpPr>
            <a:stCxn id="5" idx="7"/>
            <a:endCxn id="8" idx="3"/>
          </p:cNvCxnSpPr>
          <p:nvPr/>
        </p:nvCxnSpPr>
        <p:spPr>
          <a:xfrm flipV="1">
            <a:off x="3465566" y="3195356"/>
            <a:ext cx="410187" cy="36355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xmlns="" id="{332A31FD-02BF-EA4F-BF17-32C3E8E8E810}"/>
              </a:ext>
            </a:extLst>
          </p:cNvPr>
          <p:cNvCxnSpPr/>
          <p:nvPr/>
        </p:nvCxnSpPr>
        <p:spPr>
          <a:xfrm>
            <a:off x="4271771" y="3008777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132B2690-7DBC-3E85-C012-4337E9ACB452}"/>
              </a:ext>
            </a:extLst>
          </p:cNvPr>
          <p:cNvSpPr/>
          <p:nvPr/>
        </p:nvSpPr>
        <p:spPr>
          <a:xfrm>
            <a:off x="4351727" y="2654636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xmlns="" id="{04737E7A-9C4C-37B8-5CF5-AC0A33BBD8EA}"/>
              </a:ext>
            </a:extLst>
          </p:cNvPr>
          <p:cNvCxnSpPr/>
          <p:nvPr/>
        </p:nvCxnSpPr>
        <p:spPr>
          <a:xfrm>
            <a:off x="5281161" y="3018759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xmlns="" id="{ABC0D3D5-411E-9006-3BB5-28FAEC83C9F4}"/>
              </a:ext>
            </a:extLst>
          </p:cNvPr>
          <p:cNvSpPr/>
          <p:nvPr/>
        </p:nvSpPr>
        <p:spPr>
          <a:xfrm>
            <a:off x="5361117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xmlns="" id="{3E89A4A8-BBF5-D290-3DCD-A461F2BB2E81}"/>
              </a:ext>
            </a:extLst>
          </p:cNvPr>
          <p:cNvCxnSpPr/>
          <p:nvPr/>
        </p:nvCxnSpPr>
        <p:spPr>
          <a:xfrm>
            <a:off x="6308667" y="2994945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340AD7A3-A6C4-FE2F-7348-29FACA18B2FB}"/>
              </a:ext>
            </a:extLst>
          </p:cNvPr>
          <p:cNvSpPr/>
          <p:nvPr/>
        </p:nvSpPr>
        <p:spPr>
          <a:xfrm>
            <a:off x="6425264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xmlns="" id="{8C4DAA97-C375-2C51-E283-E5F67B42C725}"/>
              </a:ext>
            </a:extLst>
          </p:cNvPr>
          <p:cNvCxnSpPr/>
          <p:nvPr/>
        </p:nvCxnSpPr>
        <p:spPr>
          <a:xfrm>
            <a:off x="190500" y="3047999"/>
            <a:ext cx="242900" cy="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xmlns="" id="{3A23758A-B3B4-B707-0A85-FC61BCA1D25A}"/>
              </a:ext>
            </a:extLst>
          </p:cNvPr>
          <p:cNvSpPr/>
          <p:nvPr/>
        </p:nvSpPr>
        <p:spPr>
          <a:xfrm>
            <a:off x="1524000" y="337065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xmlns="" id="{EAC854B0-6D6F-231D-EB40-497ABFE2AA66}"/>
              </a:ext>
            </a:extLst>
          </p:cNvPr>
          <p:cNvSpPr/>
          <p:nvPr/>
        </p:nvSpPr>
        <p:spPr>
          <a:xfrm>
            <a:off x="1583156" y="2369027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xmlns="" id="{6DE9EB44-3C8C-2FFD-59BB-BC1599518C1F}"/>
              </a:ext>
            </a:extLst>
          </p:cNvPr>
          <p:cNvSpPr/>
          <p:nvPr/>
        </p:nvSpPr>
        <p:spPr>
          <a:xfrm>
            <a:off x="3604306" y="2358623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xmlns="" id="{53DCB105-283F-2741-10CF-9F3EE3FB8972}"/>
              </a:ext>
            </a:extLst>
          </p:cNvPr>
          <p:cNvSpPr/>
          <p:nvPr/>
        </p:nvSpPr>
        <p:spPr>
          <a:xfrm>
            <a:off x="3616975" y="338375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3" name="Curved Connector 34">
            <a:extLst>
              <a:ext uri="{FF2B5EF4-FFF2-40B4-BE49-F238E27FC236}">
                <a16:creationId xmlns:a16="http://schemas.microsoft.com/office/drawing/2014/main" xmlns="" id="{3A279353-3C5E-49AB-0B2E-DC70893E09D3}"/>
              </a:ext>
            </a:extLst>
          </p:cNvPr>
          <p:cNvCxnSpPr>
            <a:stCxn id="11" idx="4"/>
            <a:endCxn id="9" idx="4"/>
          </p:cNvCxnSpPr>
          <p:nvPr/>
        </p:nvCxnSpPr>
        <p:spPr>
          <a:xfrm rot="5400000" flipH="1" flipV="1">
            <a:off x="2841332" y="1058044"/>
            <a:ext cx="39222" cy="4397887"/>
          </a:xfrm>
          <a:prstGeom prst="curvedConnector3">
            <a:avLst>
              <a:gd name="adj1" fmla="val -3059900"/>
            </a:avLst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urved Connector 35">
            <a:extLst>
              <a:ext uri="{FF2B5EF4-FFF2-40B4-BE49-F238E27FC236}">
                <a16:creationId xmlns:a16="http://schemas.microsoft.com/office/drawing/2014/main" xmlns="" id="{3EA074B0-008B-F758-B342-C5C40DF7365A}"/>
              </a:ext>
            </a:extLst>
          </p:cNvPr>
          <p:cNvCxnSpPr/>
          <p:nvPr/>
        </p:nvCxnSpPr>
        <p:spPr>
          <a:xfrm rot="16200000" flipH="1" flipV="1">
            <a:off x="2766063" y="1524629"/>
            <a:ext cx="36576" cy="2569464"/>
          </a:xfrm>
          <a:prstGeom prst="curvedConnector3">
            <a:avLst>
              <a:gd name="adj1" fmla="val -3059900"/>
            </a:avLst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xmlns="" id="{F1F04A8A-BEAD-FF47-21F1-7BABBD424E0E}"/>
              </a:ext>
            </a:extLst>
          </p:cNvPr>
          <p:cNvSpPr/>
          <p:nvPr/>
        </p:nvSpPr>
        <p:spPr>
          <a:xfrm>
            <a:off x="2616975" y="129443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xmlns="" id="{A28A876D-289D-83FF-40AD-3DFE7B567600}"/>
              </a:ext>
            </a:extLst>
          </p:cNvPr>
          <p:cNvSpPr/>
          <p:nvPr/>
        </p:nvSpPr>
        <p:spPr>
          <a:xfrm>
            <a:off x="3795563" y="4275070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xmlns="" id="{EBBE97B5-EA51-1EEC-83DB-48CBA94FDCC2}"/>
              </a:ext>
            </a:extLst>
          </p:cNvPr>
          <p:cNvCxnSpPr/>
          <p:nvPr/>
        </p:nvCxnSpPr>
        <p:spPr>
          <a:xfrm flipV="1">
            <a:off x="1699939" y="2507106"/>
            <a:ext cx="448475" cy="379249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xmlns="" id="{1BAD08DF-2E49-E581-ADA6-32855340B4C5}"/>
              </a:ext>
            </a:extLst>
          </p:cNvPr>
          <p:cNvCxnSpPr/>
          <p:nvPr/>
        </p:nvCxnSpPr>
        <p:spPr>
          <a:xfrm>
            <a:off x="1699939" y="3209645"/>
            <a:ext cx="433971" cy="32889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xmlns="" id="{9DEFC01A-65BE-CBF8-F8BE-1734EBA0D132}"/>
              </a:ext>
            </a:extLst>
          </p:cNvPr>
          <p:cNvCxnSpPr/>
          <p:nvPr/>
        </p:nvCxnSpPr>
        <p:spPr>
          <a:xfrm>
            <a:off x="903700" y="3039382"/>
            <a:ext cx="419092" cy="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xmlns="" id="{59469535-EFD7-53A4-6F9A-9C6F122A15E0}"/>
              </a:ext>
            </a:extLst>
          </p:cNvPr>
          <p:cNvCxnSpPr/>
          <p:nvPr/>
        </p:nvCxnSpPr>
        <p:spPr>
          <a:xfrm flipV="1">
            <a:off x="1699940" y="2507106"/>
            <a:ext cx="448475" cy="379249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xmlns="" id="{E20E3BA6-71DE-0BC6-6372-F621B07F5A7B}"/>
              </a:ext>
            </a:extLst>
          </p:cNvPr>
          <p:cNvCxnSpPr/>
          <p:nvPr/>
        </p:nvCxnSpPr>
        <p:spPr>
          <a:xfrm>
            <a:off x="1699940" y="3209645"/>
            <a:ext cx="433971" cy="32889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xmlns="" id="{5273F421-431C-855B-E5C8-AB974511A4EB}"/>
              </a:ext>
            </a:extLst>
          </p:cNvPr>
          <p:cNvCxnSpPr/>
          <p:nvPr/>
        </p:nvCxnSpPr>
        <p:spPr>
          <a:xfrm>
            <a:off x="903701" y="3039382"/>
            <a:ext cx="419092" cy="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xmlns="" id="{211FD441-2674-1878-1E47-BF27B56E9BDA}"/>
              </a:ext>
            </a:extLst>
          </p:cNvPr>
          <p:cNvSpPr/>
          <p:nvPr/>
        </p:nvSpPr>
        <p:spPr>
          <a:xfrm>
            <a:off x="219103" y="4655982"/>
            <a:ext cx="2928189" cy="3587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chemeClr val="tx1"/>
                </a:solidFill>
                <a:latin typeface="+mj-lt"/>
              </a:rPr>
              <a:t>B = {1, 2, 3, 4, 6, 7, 8}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xmlns="" id="{146E335B-8673-E715-F6C8-29E2AB5F96AE}"/>
              </a:ext>
            </a:extLst>
          </p:cNvPr>
          <p:cNvSpPr/>
          <p:nvPr/>
        </p:nvSpPr>
        <p:spPr>
          <a:xfrm>
            <a:off x="368004" y="5104591"/>
            <a:ext cx="1490483" cy="4689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>
                <a:solidFill>
                  <a:schemeClr val="tx1"/>
                </a:solidFill>
                <a:latin typeface="+mj-lt"/>
              </a:rPr>
              <a:t>Move(B,a)</a:t>
            </a:r>
            <a:endParaRPr lang="en-US" sz="2200">
              <a:latin typeface="+mj-lt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xmlns="" id="{BBCA6004-91A0-6933-AE53-CF4387315D7B}"/>
              </a:ext>
            </a:extLst>
          </p:cNvPr>
          <p:cNvSpPr/>
          <p:nvPr/>
        </p:nvSpPr>
        <p:spPr>
          <a:xfrm>
            <a:off x="1218464" y="5148578"/>
            <a:ext cx="1725988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= {3,8}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xmlns="" id="{0173F047-CDE9-0B2B-11E9-9D45E91DD214}"/>
              </a:ext>
            </a:extLst>
          </p:cNvPr>
          <p:cNvSpPr/>
          <p:nvPr/>
        </p:nvSpPr>
        <p:spPr>
          <a:xfrm>
            <a:off x="374532" y="5534752"/>
            <a:ext cx="2700790" cy="4689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𝜖- Closure(</a:t>
            </a:r>
            <a:r>
              <a:rPr lang="en-US" sz="2200">
                <a:solidFill>
                  <a:schemeClr val="tx1"/>
                </a:solidFill>
                <a:latin typeface="+mj-lt"/>
              </a:rPr>
              <a:t>Move(B,a))</a:t>
            </a:r>
            <a:endParaRPr lang="en-US" sz="2200">
              <a:latin typeface="+mj-lt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xmlns="" id="{6A6FAD46-8ABC-29BE-DAA7-5F99D36DDD08}"/>
              </a:ext>
            </a:extLst>
          </p:cNvPr>
          <p:cNvSpPr/>
          <p:nvPr/>
        </p:nvSpPr>
        <p:spPr>
          <a:xfrm>
            <a:off x="2807308" y="5609266"/>
            <a:ext cx="253642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= {3, 6, 7, 1, 2, 4, 8}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xmlns="" id="{EADBDAE9-E52A-8EA4-62DC-E3A521124BCC}"/>
              </a:ext>
            </a:extLst>
          </p:cNvPr>
          <p:cNvSpPr/>
          <p:nvPr/>
        </p:nvSpPr>
        <p:spPr>
          <a:xfrm>
            <a:off x="4800325" y="5965890"/>
            <a:ext cx="87266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+mj-lt"/>
              </a:rPr>
              <a:t>---- B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xmlns="" id="{D4C07A9A-71F7-2BF4-3203-DD3BBD48AC16}"/>
              </a:ext>
            </a:extLst>
          </p:cNvPr>
          <p:cNvSpPr/>
          <p:nvPr/>
        </p:nvSpPr>
        <p:spPr>
          <a:xfrm>
            <a:off x="6482416" y="4401275"/>
            <a:ext cx="471465" cy="3626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xmlns="" id="{6810836C-40BB-9198-9969-5FE777C965BF}"/>
              </a:ext>
            </a:extLst>
          </p:cNvPr>
          <p:cNvSpPr/>
          <p:nvPr/>
        </p:nvSpPr>
        <p:spPr>
          <a:xfrm>
            <a:off x="6482416" y="4401275"/>
            <a:ext cx="414313" cy="3626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xmlns="" id="{324BF2EA-2FC0-9B33-9020-50F0FD90E8F4}"/>
              </a:ext>
            </a:extLst>
          </p:cNvPr>
          <p:cNvSpPr/>
          <p:nvPr/>
        </p:nvSpPr>
        <p:spPr>
          <a:xfrm>
            <a:off x="2616975" y="5989841"/>
            <a:ext cx="253642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= {1,2,3,4,6,7,8}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xmlns="" id="{AB58E6BA-A9FC-FA3C-F46C-4E7FA4094FD7}"/>
              </a:ext>
            </a:extLst>
          </p:cNvPr>
          <p:cNvCxnSpPr/>
          <p:nvPr/>
        </p:nvCxnSpPr>
        <p:spPr>
          <a:xfrm flipH="1">
            <a:off x="1193052" y="5014692"/>
            <a:ext cx="22935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xmlns="" id="{B5BCDFB8-970F-7610-13BF-34FB7B04BFD4}"/>
              </a:ext>
            </a:extLst>
          </p:cNvPr>
          <p:cNvCxnSpPr/>
          <p:nvPr/>
        </p:nvCxnSpPr>
        <p:spPr>
          <a:xfrm>
            <a:off x="2298154" y="5007902"/>
            <a:ext cx="267829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xmlns="" id="{D6712EAC-BABE-60F0-69FF-80554BE2CBBA}"/>
              </a:ext>
            </a:extLst>
          </p:cNvPr>
          <p:cNvSpPr/>
          <p:nvPr/>
        </p:nvSpPr>
        <p:spPr>
          <a:xfrm>
            <a:off x="7421867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xmlns="" id="{B5E55B74-3B93-A8D5-5C3D-F05B8658277C}"/>
              </a:ext>
            </a:extLst>
          </p:cNvPr>
          <p:cNvSpPr/>
          <p:nvPr/>
        </p:nvSpPr>
        <p:spPr>
          <a:xfrm>
            <a:off x="7893141" y="277905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10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xmlns="" id="{F29B6B2A-E391-7632-9185-8A5383A81CEC}"/>
              </a:ext>
            </a:extLst>
          </p:cNvPr>
          <p:cNvSpPr/>
          <p:nvPr/>
        </p:nvSpPr>
        <p:spPr>
          <a:xfrm>
            <a:off x="7938861" y="2828648"/>
            <a:ext cx="365760" cy="36576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xmlns="" id="{E7253D09-5013-6DC2-E386-9FCB11AA3D9F}"/>
              </a:ext>
            </a:extLst>
          </p:cNvPr>
          <p:cNvSpPr/>
          <p:nvPr/>
        </p:nvSpPr>
        <p:spPr>
          <a:xfrm>
            <a:off x="6869835" y="279015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9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xmlns="" id="{33421244-6D32-00EE-DFDA-7F0D25E15D3D}"/>
              </a:ext>
            </a:extLst>
          </p:cNvPr>
          <p:cNvCxnSpPr/>
          <p:nvPr/>
        </p:nvCxnSpPr>
        <p:spPr>
          <a:xfrm>
            <a:off x="7334592" y="3006852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5" name="Table 64">
            <a:extLst>
              <a:ext uri="{FF2B5EF4-FFF2-40B4-BE49-F238E27FC236}">
                <a16:creationId xmlns:a16="http://schemas.microsoft.com/office/drawing/2014/main" xmlns="" id="{4E140333-9D42-619B-DE7F-62BB109370F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724270" y="2030248"/>
          <a:ext cx="3177041" cy="4267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States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n-US" sz="22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b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6" name="Table 65">
            <a:extLst>
              <a:ext uri="{FF2B5EF4-FFF2-40B4-BE49-F238E27FC236}">
                <a16:creationId xmlns:a16="http://schemas.microsoft.com/office/drawing/2014/main" xmlns="" id="{3747507B-3F64-735A-13B6-D756BA51D24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724271" y="2453188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A = {0,1,2,4,7}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xmlns="" id="{D53CAD2E-C1A6-5A61-2206-FB3F506D8A4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724271" y="2818948"/>
          <a:ext cx="3177040" cy="6400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B = {1,2,3,4,6,7,8}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xmlns="" id="{5C4C3C19-8004-177E-EB21-DC8ECD29E9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8969863"/>
              </p:ext>
            </p:extLst>
          </p:nvPr>
        </p:nvGraphicFramePr>
        <p:xfrm>
          <a:off x="8750905" y="3489901"/>
          <a:ext cx="3177040" cy="78516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785169"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C = {1,2,4,5,6,7}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xmlns="" id="{7BA2A156-6C39-61A2-6D51-DC0175037841}"/>
              </a:ext>
            </a:extLst>
          </p:cNvPr>
          <p:cNvCxnSpPr/>
          <p:nvPr/>
        </p:nvCxnSpPr>
        <p:spPr>
          <a:xfrm rot="5400000">
            <a:off x="5770212" y="3683283"/>
            <a:ext cx="5486400" cy="0"/>
          </a:xfrm>
          <a:prstGeom prst="line">
            <a:avLst/>
          </a:prstGeom>
          <a:ln>
            <a:solidFill>
              <a:srgbClr val="0E47A1"/>
            </a:solidFill>
            <a:prstDash val="soli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373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990000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990000"/>
                                      </p:to>
                                    </p:animClr>
                                    <p:set>
                                      <p:cBhvr>
                                        <p:cTn id="2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5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6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9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9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4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7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2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5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9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46" grpId="0"/>
      <p:bldP spid="48" grpId="0"/>
      <p:bldP spid="5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6DA5486-6297-6712-8307-F9E72F2E99B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Conversion from NFA to DFA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xmlns="" id="{127F778B-65E4-731D-6542-2A4A8432B15B}"/>
              </a:ext>
            </a:extLst>
          </p:cNvPr>
          <p:cNvSpPr/>
          <p:nvPr/>
        </p:nvSpPr>
        <p:spPr>
          <a:xfrm>
            <a:off x="1309692" y="2819400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1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5A2BAC2A-3BC1-4097-D963-8A3B6D37D314}"/>
              </a:ext>
            </a:extLst>
          </p:cNvPr>
          <p:cNvSpPr/>
          <p:nvPr/>
        </p:nvSpPr>
        <p:spPr>
          <a:xfrm>
            <a:off x="2081457" y="211686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2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xmlns="" id="{CF4E218E-D8E1-625E-58F5-CE8C9D662867}"/>
              </a:ext>
            </a:extLst>
          </p:cNvPr>
          <p:cNvSpPr/>
          <p:nvPr/>
        </p:nvSpPr>
        <p:spPr>
          <a:xfrm>
            <a:off x="3075321" y="349129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5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4011AE85-4694-D67D-415F-37050E2EF4F5}"/>
              </a:ext>
            </a:extLst>
          </p:cNvPr>
          <p:cNvSpPr/>
          <p:nvPr/>
        </p:nvSpPr>
        <p:spPr>
          <a:xfrm>
            <a:off x="3075321" y="2135663"/>
            <a:ext cx="457200" cy="438011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FDDB1315-A5BB-1C42-DA20-FFBE1372E5C3}"/>
              </a:ext>
            </a:extLst>
          </p:cNvPr>
          <p:cNvSpPr/>
          <p:nvPr/>
        </p:nvSpPr>
        <p:spPr>
          <a:xfrm>
            <a:off x="2064600" y="349091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xmlns="" id="{2A64B9B6-4C0F-D23D-1475-F3D1BF015596}"/>
              </a:ext>
            </a:extLst>
          </p:cNvPr>
          <p:cNvSpPr/>
          <p:nvPr/>
        </p:nvSpPr>
        <p:spPr>
          <a:xfrm>
            <a:off x="3808798" y="280511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6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xmlns="" id="{CD9C348D-0E16-D609-9E1B-6BE69C31F35B}"/>
              </a:ext>
            </a:extLst>
          </p:cNvPr>
          <p:cNvSpPr/>
          <p:nvPr/>
        </p:nvSpPr>
        <p:spPr>
          <a:xfrm>
            <a:off x="4831287" y="2780177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7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32E18D82-DE9D-BDF8-ADAB-790E1C5735CD}"/>
              </a:ext>
            </a:extLst>
          </p:cNvPr>
          <p:cNvSpPr/>
          <p:nvPr/>
        </p:nvSpPr>
        <p:spPr>
          <a:xfrm>
            <a:off x="5853776" y="2780177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8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xmlns="" id="{2DDAF287-859B-78EC-6242-D7EEECF4C109}"/>
              </a:ext>
            </a:extLst>
          </p:cNvPr>
          <p:cNvSpPr/>
          <p:nvPr/>
        </p:nvSpPr>
        <p:spPr>
          <a:xfrm>
            <a:off x="433400" y="281939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0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xmlns="" id="{01897B93-7574-97C9-B0C3-1AAA5759D481}"/>
              </a:ext>
            </a:extLst>
          </p:cNvPr>
          <p:cNvCxnSpPr/>
          <p:nvPr/>
        </p:nvCxnSpPr>
        <p:spPr>
          <a:xfrm>
            <a:off x="903699" y="3039382"/>
            <a:ext cx="419092" cy="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367AC900-9428-FD40-41CF-98FBC5407F6D}"/>
              </a:ext>
            </a:extLst>
          </p:cNvPr>
          <p:cNvSpPr/>
          <p:nvPr/>
        </p:nvSpPr>
        <p:spPr>
          <a:xfrm>
            <a:off x="921568" y="2667000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xmlns="" id="{B1B6532D-77A3-7E29-9241-7103EC1CE9C6}"/>
              </a:ext>
            </a:extLst>
          </p:cNvPr>
          <p:cNvCxnSpPr/>
          <p:nvPr/>
        </p:nvCxnSpPr>
        <p:spPr>
          <a:xfrm>
            <a:off x="2530319" y="2351552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53748677-A2D7-C159-D615-B0F54DE01186}"/>
              </a:ext>
            </a:extLst>
          </p:cNvPr>
          <p:cNvSpPr/>
          <p:nvPr/>
        </p:nvSpPr>
        <p:spPr>
          <a:xfrm>
            <a:off x="2616975" y="1934046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xmlns="" id="{DB579461-9E93-5DE7-D789-2817ECEBED1A}"/>
              </a:ext>
            </a:extLst>
          </p:cNvPr>
          <p:cNvCxnSpPr>
            <a:stCxn id="7" idx="6"/>
            <a:endCxn id="5" idx="2"/>
          </p:cNvCxnSpPr>
          <p:nvPr/>
        </p:nvCxnSpPr>
        <p:spPr>
          <a:xfrm>
            <a:off x="2521800" y="3719511"/>
            <a:ext cx="553521" cy="38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CBA14C92-DFC9-D795-0AC4-06A5E15123E6}"/>
              </a:ext>
            </a:extLst>
          </p:cNvPr>
          <p:cNvSpPr/>
          <p:nvPr/>
        </p:nvSpPr>
        <p:spPr>
          <a:xfrm>
            <a:off x="2616975" y="373140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xmlns="" id="{F4076AE5-E9ED-FAD8-F8F9-96D5E0E88E71}"/>
              </a:ext>
            </a:extLst>
          </p:cNvPr>
          <p:cNvCxnSpPr>
            <a:stCxn id="3" idx="7"/>
            <a:endCxn id="4" idx="3"/>
          </p:cNvCxnSpPr>
          <p:nvPr/>
        </p:nvCxnSpPr>
        <p:spPr>
          <a:xfrm flipV="1">
            <a:off x="1699937" y="2507106"/>
            <a:ext cx="448475" cy="379249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xmlns="" id="{07BBDF0C-9879-6A12-FFD9-103893C68013}"/>
              </a:ext>
            </a:extLst>
          </p:cNvPr>
          <p:cNvCxnSpPr>
            <a:stCxn id="3" idx="5"/>
          </p:cNvCxnSpPr>
          <p:nvPr/>
        </p:nvCxnSpPr>
        <p:spPr>
          <a:xfrm>
            <a:off x="1699937" y="3209645"/>
            <a:ext cx="433971" cy="32889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xmlns="" id="{2590D476-6306-E761-B40C-DB67CA3A8854}"/>
              </a:ext>
            </a:extLst>
          </p:cNvPr>
          <p:cNvCxnSpPr>
            <a:stCxn id="6" idx="5"/>
            <a:endCxn id="8" idx="1"/>
          </p:cNvCxnSpPr>
          <p:nvPr/>
        </p:nvCxnSpPr>
        <p:spPr>
          <a:xfrm>
            <a:off x="3465566" y="2509529"/>
            <a:ext cx="410187" cy="36253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xmlns="" id="{7016C829-FF1B-BBBB-79D6-A64E6F3E9FE8}"/>
              </a:ext>
            </a:extLst>
          </p:cNvPr>
          <p:cNvCxnSpPr>
            <a:stCxn id="5" idx="7"/>
            <a:endCxn id="8" idx="3"/>
          </p:cNvCxnSpPr>
          <p:nvPr/>
        </p:nvCxnSpPr>
        <p:spPr>
          <a:xfrm flipV="1">
            <a:off x="3465566" y="3195356"/>
            <a:ext cx="410187" cy="36289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xmlns="" id="{9A4FAA3C-5C10-B697-E26C-9487A61F1CD2}"/>
              </a:ext>
            </a:extLst>
          </p:cNvPr>
          <p:cNvCxnSpPr/>
          <p:nvPr/>
        </p:nvCxnSpPr>
        <p:spPr>
          <a:xfrm>
            <a:off x="4271771" y="3008777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39981F26-B250-FF0A-F023-B8C5DE668312}"/>
              </a:ext>
            </a:extLst>
          </p:cNvPr>
          <p:cNvSpPr/>
          <p:nvPr/>
        </p:nvSpPr>
        <p:spPr>
          <a:xfrm>
            <a:off x="4351727" y="2654636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xmlns="" id="{82ABEDB1-121B-CDCE-A65D-C530A5111157}"/>
              </a:ext>
            </a:extLst>
          </p:cNvPr>
          <p:cNvCxnSpPr/>
          <p:nvPr/>
        </p:nvCxnSpPr>
        <p:spPr>
          <a:xfrm>
            <a:off x="5281161" y="3018759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xmlns="" id="{05A9A959-73D4-BF99-2EAD-FE4DE416A4BB}"/>
              </a:ext>
            </a:extLst>
          </p:cNvPr>
          <p:cNvSpPr/>
          <p:nvPr/>
        </p:nvSpPr>
        <p:spPr>
          <a:xfrm>
            <a:off x="5361117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xmlns="" id="{F84F82BC-D096-E703-C370-F0C5960B9044}"/>
              </a:ext>
            </a:extLst>
          </p:cNvPr>
          <p:cNvCxnSpPr/>
          <p:nvPr/>
        </p:nvCxnSpPr>
        <p:spPr>
          <a:xfrm>
            <a:off x="6308667" y="2994945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98927B67-EA67-ECE7-41A8-F4F6075CBFE1}"/>
              </a:ext>
            </a:extLst>
          </p:cNvPr>
          <p:cNvSpPr/>
          <p:nvPr/>
        </p:nvSpPr>
        <p:spPr>
          <a:xfrm>
            <a:off x="6425264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xmlns="" id="{B6F12DC6-0CDC-3802-7F4F-82EFA4EC79DC}"/>
              </a:ext>
            </a:extLst>
          </p:cNvPr>
          <p:cNvCxnSpPr/>
          <p:nvPr/>
        </p:nvCxnSpPr>
        <p:spPr>
          <a:xfrm>
            <a:off x="190500" y="3047999"/>
            <a:ext cx="242900" cy="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xmlns="" id="{B0B0C0EB-B62A-1CD0-B029-057AC705236B}"/>
              </a:ext>
            </a:extLst>
          </p:cNvPr>
          <p:cNvSpPr/>
          <p:nvPr/>
        </p:nvSpPr>
        <p:spPr>
          <a:xfrm>
            <a:off x="1524000" y="337065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xmlns="" id="{032B0E3A-4E0A-5933-277B-8524907A2BBF}"/>
              </a:ext>
            </a:extLst>
          </p:cNvPr>
          <p:cNvSpPr/>
          <p:nvPr/>
        </p:nvSpPr>
        <p:spPr>
          <a:xfrm>
            <a:off x="1583156" y="2369027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xmlns="" id="{C119B5A0-4B10-BD51-B688-49256099C6D9}"/>
              </a:ext>
            </a:extLst>
          </p:cNvPr>
          <p:cNvSpPr/>
          <p:nvPr/>
        </p:nvSpPr>
        <p:spPr>
          <a:xfrm>
            <a:off x="3604306" y="2358623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xmlns="" id="{36C4F64A-73C1-2C84-FD8A-D3A7469A5147}"/>
              </a:ext>
            </a:extLst>
          </p:cNvPr>
          <p:cNvSpPr/>
          <p:nvPr/>
        </p:nvSpPr>
        <p:spPr>
          <a:xfrm>
            <a:off x="3616975" y="338375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3" name="Curved Connector 33">
            <a:extLst>
              <a:ext uri="{FF2B5EF4-FFF2-40B4-BE49-F238E27FC236}">
                <a16:creationId xmlns:a16="http://schemas.microsoft.com/office/drawing/2014/main" xmlns="" id="{9CB0A3F9-20CC-8EFC-C474-F3DF33E5A870}"/>
              </a:ext>
            </a:extLst>
          </p:cNvPr>
          <p:cNvCxnSpPr>
            <a:stCxn id="11" idx="4"/>
            <a:endCxn id="9" idx="4"/>
          </p:cNvCxnSpPr>
          <p:nvPr/>
        </p:nvCxnSpPr>
        <p:spPr>
          <a:xfrm rot="5400000" flipH="1" flipV="1">
            <a:off x="2841332" y="1058044"/>
            <a:ext cx="39222" cy="4397887"/>
          </a:xfrm>
          <a:prstGeom prst="curvedConnector3">
            <a:avLst>
              <a:gd name="adj1" fmla="val -3059900"/>
            </a:avLst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urved Connector 34">
            <a:extLst>
              <a:ext uri="{FF2B5EF4-FFF2-40B4-BE49-F238E27FC236}">
                <a16:creationId xmlns:a16="http://schemas.microsoft.com/office/drawing/2014/main" xmlns="" id="{8868D20F-3875-0E9A-2545-8B5924F8191F}"/>
              </a:ext>
            </a:extLst>
          </p:cNvPr>
          <p:cNvCxnSpPr/>
          <p:nvPr/>
        </p:nvCxnSpPr>
        <p:spPr>
          <a:xfrm rot="16200000" flipH="1" flipV="1">
            <a:off x="2766063" y="1540671"/>
            <a:ext cx="36576" cy="2569464"/>
          </a:xfrm>
          <a:prstGeom prst="curvedConnector3">
            <a:avLst>
              <a:gd name="adj1" fmla="val -3059900"/>
            </a:avLst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xmlns="" id="{C1A571EA-6B3B-CDFE-E001-AE6CF5E19BDB}"/>
              </a:ext>
            </a:extLst>
          </p:cNvPr>
          <p:cNvSpPr/>
          <p:nvPr/>
        </p:nvSpPr>
        <p:spPr>
          <a:xfrm>
            <a:off x="2616975" y="129443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xmlns="" id="{A0DCABFB-D958-3656-D026-F3850E0EE5AB}"/>
              </a:ext>
            </a:extLst>
          </p:cNvPr>
          <p:cNvSpPr/>
          <p:nvPr/>
        </p:nvSpPr>
        <p:spPr>
          <a:xfrm>
            <a:off x="3795563" y="4275070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xmlns="" id="{0FC08A0D-7EEE-9207-B11A-231EEDCE48C8}"/>
              </a:ext>
            </a:extLst>
          </p:cNvPr>
          <p:cNvCxnSpPr/>
          <p:nvPr/>
        </p:nvCxnSpPr>
        <p:spPr>
          <a:xfrm flipV="1">
            <a:off x="1699939" y="2507106"/>
            <a:ext cx="448475" cy="379249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xmlns="" id="{42C5D8BF-3B50-A823-2569-90536F64D3CF}"/>
              </a:ext>
            </a:extLst>
          </p:cNvPr>
          <p:cNvCxnSpPr/>
          <p:nvPr/>
        </p:nvCxnSpPr>
        <p:spPr>
          <a:xfrm>
            <a:off x="1699939" y="3209645"/>
            <a:ext cx="433971" cy="32889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xmlns="" id="{52A19066-D706-92F2-1611-1A4FF93D80E6}"/>
              </a:ext>
            </a:extLst>
          </p:cNvPr>
          <p:cNvCxnSpPr/>
          <p:nvPr/>
        </p:nvCxnSpPr>
        <p:spPr>
          <a:xfrm>
            <a:off x="903700" y="3039382"/>
            <a:ext cx="419092" cy="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xmlns="" id="{2E60D6A4-070A-7891-8BC6-812299A2866A}"/>
              </a:ext>
            </a:extLst>
          </p:cNvPr>
          <p:cNvCxnSpPr/>
          <p:nvPr/>
        </p:nvCxnSpPr>
        <p:spPr>
          <a:xfrm flipV="1">
            <a:off x="1699940" y="2507106"/>
            <a:ext cx="448475" cy="379249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xmlns="" id="{4AC4DF60-303A-149B-CAAB-21916701E5E9}"/>
              </a:ext>
            </a:extLst>
          </p:cNvPr>
          <p:cNvCxnSpPr/>
          <p:nvPr/>
        </p:nvCxnSpPr>
        <p:spPr>
          <a:xfrm>
            <a:off x="1699940" y="3209645"/>
            <a:ext cx="433971" cy="32889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xmlns="" id="{C5085249-4D06-4A42-4D6B-25F83C95BFF0}"/>
              </a:ext>
            </a:extLst>
          </p:cNvPr>
          <p:cNvCxnSpPr/>
          <p:nvPr/>
        </p:nvCxnSpPr>
        <p:spPr>
          <a:xfrm>
            <a:off x="903701" y="3039382"/>
            <a:ext cx="419092" cy="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xmlns="" id="{450CC151-1241-E21F-18D6-E53AC90AB15B}"/>
              </a:ext>
            </a:extLst>
          </p:cNvPr>
          <p:cNvSpPr/>
          <p:nvPr/>
        </p:nvSpPr>
        <p:spPr>
          <a:xfrm>
            <a:off x="342119" y="4685445"/>
            <a:ext cx="256992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chemeClr val="tx1"/>
                </a:solidFill>
                <a:latin typeface="+mj-lt"/>
              </a:rPr>
              <a:t>B= {1, 2, 3, 4, 6, 7, 8}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xmlns="" id="{062B58F1-318C-1F7A-ED42-F36653B4976B}"/>
              </a:ext>
            </a:extLst>
          </p:cNvPr>
          <p:cNvSpPr/>
          <p:nvPr/>
        </p:nvSpPr>
        <p:spPr>
          <a:xfrm>
            <a:off x="368004" y="5104591"/>
            <a:ext cx="1490483" cy="4689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>
                <a:solidFill>
                  <a:schemeClr val="tx1"/>
                </a:solidFill>
                <a:latin typeface="+mj-lt"/>
              </a:rPr>
              <a:t>Move(B,b)</a:t>
            </a:r>
            <a:endParaRPr lang="en-US" sz="2200">
              <a:latin typeface="+mj-lt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xmlns="" id="{CBF8B3C7-8574-3C5D-7DAC-CD417DB90E0E}"/>
              </a:ext>
            </a:extLst>
          </p:cNvPr>
          <p:cNvSpPr/>
          <p:nvPr/>
        </p:nvSpPr>
        <p:spPr>
          <a:xfrm>
            <a:off x="1218464" y="5148578"/>
            <a:ext cx="1725988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= {5,9}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xmlns="" id="{157F0A24-AFE4-6FC7-B298-E2E12A526717}"/>
              </a:ext>
            </a:extLst>
          </p:cNvPr>
          <p:cNvSpPr/>
          <p:nvPr/>
        </p:nvSpPr>
        <p:spPr>
          <a:xfrm>
            <a:off x="374532" y="5534752"/>
            <a:ext cx="2700790" cy="4689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𝜖- Closure(</a:t>
            </a:r>
            <a:r>
              <a:rPr lang="en-US" sz="2200">
                <a:solidFill>
                  <a:schemeClr val="tx1"/>
                </a:solidFill>
                <a:latin typeface="+mj-lt"/>
              </a:rPr>
              <a:t>Move(B,b))</a:t>
            </a:r>
            <a:endParaRPr lang="en-US" sz="2200">
              <a:latin typeface="+mj-lt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xmlns="" id="{FAA641E6-364B-E83A-77CA-A59B9B74F206}"/>
              </a:ext>
            </a:extLst>
          </p:cNvPr>
          <p:cNvSpPr/>
          <p:nvPr/>
        </p:nvSpPr>
        <p:spPr>
          <a:xfrm>
            <a:off x="2824691" y="5594553"/>
            <a:ext cx="253642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= {5, 6, 7, 1, 2, 4, 9}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xmlns="" id="{DE7802E2-DD1D-35C8-55DE-454522E4FCBB}"/>
              </a:ext>
            </a:extLst>
          </p:cNvPr>
          <p:cNvSpPr/>
          <p:nvPr/>
        </p:nvSpPr>
        <p:spPr>
          <a:xfrm>
            <a:off x="4800325" y="5965890"/>
            <a:ext cx="87266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+mj-lt"/>
              </a:rPr>
              <a:t>---- D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xmlns="" id="{910F64C8-7650-098F-697F-B0E70E6D40B9}"/>
              </a:ext>
            </a:extLst>
          </p:cNvPr>
          <p:cNvSpPr/>
          <p:nvPr/>
        </p:nvSpPr>
        <p:spPr>
          <a:xfrm>
            <a:off x="6482416" y="4401275"/>
            <a:ext cx="471465" cy="3626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xmlns="" id="{552A48CF-ECA8-BC7A-1BD5-76B4A9A531C5}"/>
              </a:ext>
            </a:extLst>
          </p:cNvPr>
          <p:cNvSpPr/>
          <p:nvPr/>
        </p:nvSpPr>
        <p:spPr>
          <a:xfrm>
            <a:off x="6482416" y="4401275"/>
            <a:ext cx="414313" cy="3626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xmlns="" id="{F9E3329B-0E90-10D4-1A27-9F0D7A3693B9}"/>
              </a:ext>
            </a:extLst>
          </p:cNvPr>
          <p:cNvSpPr/>
          <p:nvPr/>
        </p:nvSpPr>
        <p:spPr>
          <a:xfrm>
            <a:off x="2616975" y="5989841"/>
            <a:ext cx="253642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= {1,2,4,5,6,7,9}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xmlns="" id="{C3C82C1C-65F1-4DC5-EDC3-0EC0946BD442}"/>
              </a:ext>
            </a:extLst>
          </p:cNvPr>
          <p:cNvSpPr/>
          <p:nvPr/>
        </p:nvSpPr>
        <p:spPr>
          <a:xfrm>
            <a:off x="7421867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xmlns="" id="{18F7EC87-C6AA-9A7B-30C2-32DA8C6B7E1E}"/>
              </a:ext>
            </a:extLst>
          </p:cNvPr>
          <p:cNvSpPr/>
          <p:nvPr/>
        </p:nvSpPr>
        <p:spPr>
          <a:xfrm>
            <a:off x="7893141" y="277905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10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xmlns="" id="{58B5769E-030D-CAB0-0A52-2D02062C8ACC}"/>
              </a:ext>
            </a:extLst>
          </p:cNvPr>
          <p:cNvSpPr/>
          <p:nvPr/>
        </p:nvSpPr>
        <p:spPr>
          <a:xfrm>
            <a:off x="7938861" y="2828648"/>
            <a:ext cx="365760" cy="36576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xmlns="" id="{566BED15-E28A-F36C-A1B6-58A500E9DCDA}"/>
              </a:ext>
            </a:extLst>
          </p:cNvPr>
          <p:cNvSpPr/>
          <p:nvPr/>
        </p:nvSpPr>
        <p:spPr>
          <a:xfrm>
            <a:off x="6869835" y="279015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9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xmlns="" id="{983CBE35-FEBA-59B5-6821-A48AC388D0B4}"/>
              </a:ext>
            </a:extLst>
          </p:cNvPr>
          <p:cNvCxnSpPr/>
          <p:nvPr/>
        </p:nvCxnSpPr>
        <p:spPr>
          <a:xfrm>
            <a:off x="7334592" y="3006852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5" name="Table 64">
            <a:extLst>
              <a:ext uri="{FF2B5EF4-FFF2-40B4-BE49-F238E27FC236}">
                <a16:creationId xmlns:a16="http://schemas.microsoft.com/office/drawing/2014/main" xmlns="" id="{47AFFC30-F8CE-E654-3F1A-B25CBEB7721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724270" y="2030248"/>
          <a:ext cx="3177041" cy="4267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States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n-US" sz="22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b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6" name="Table 65">
            <a:extLst>
              <a:ext uri="{FF2B5EF4-FFF2-40B4-BE49-F238E27FC236}">
                <a16:creationId xmlns:a16="http://schemas.microsoft.com/office/drawing/2014/main" xmlns="" id="{62772431-F0EB-5365-0EA8-ECCB010DCD7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724271" y="2453188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A = {0,1,2,4,7}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xmlns="" id="{59EBE4F2-2C5B-1C90-E8CD-07D02BA856BD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724271" y="2818948"/>
          <a:ext cx="3177040" cy="6400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B = {1,2,3,4,6,7,8}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D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xmlns="" id="{52D791D3-3ADF-A505-ED20-29F16FFB38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9535677"/>
              </p:ext>
            </p:extLst>
          </p:nvPr>
        </p:nvGraphicFramePr>
        <p:xfrm>
          <a:off x="8724271" y="3440947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C = {1,2,4,5,6,7}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9" name="Table 68">
            <a:extLst>
              <a:ext uri="{FF2B5EF4-FFF2-40B4-BE49-F238E27FC236}">
                <a16:creationId xmlns:a16="http://schemas.microsoft.com/office/drawing/2014/main" xmlns="" id="{85AD61FF-E5E7-D1BF-6A22-12D71E5C6E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584495"/>
              </p:ext>
            </p:extLst>
          </p:nvPr>
        </p:nvGraphicFramePr>
        <p:xfrm>
          <a:off x="8724271" y="3799644"/>
          <a:ext cx="3177040" cy="6400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601632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D = {</a:t>
                      </a:r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1,2,4,5,6,7,9</a:t>
                      </a:r>
                      <a:r>
                        <a:rPr lang="en-US" sz="1800"/>
                        <a:t>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xmlns="" id="{D3B76942-8E2C-1B9A-451D-3CE0BD5F6E0A}"/>
              </a:ext>
            </a:extLst>
          </p:cNvPr>
          <p:cNvCxnSpPr/>
          <p:nvPr/>
        </p:nvCxnSpPr>
        <p:spPr>
          <a:xfrm rot="5400000">
            <a:off x="5770212" y="3683283"/>
            <a:ext cx="5486400" cy="0"/>
          </a:xfrm>
          <a:prstGeom prst="line">
            <a:avLst/>
          </a:prstGeom>
          <a:ln>
            <a:solidFill>
              <a:srgbClr val="0E47A1"/>
            </a:solidFill>
            <a:prstDash val="soli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4652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5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1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4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9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3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9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2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1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46" grpId="0"/>
      <p:bldP spid="48" grpId="0"/>
      <p:bldP spid="5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C8A47E0-0391-987A-25BF-0B691DE28E17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Conversion from NFA to DFA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xmlns="" id="{402E32E3-E674-84B8-23F5-37B894A282FE}"/>
              </a:ext>
            </a:extLst>
          </p:cNvPr>
          <p:cNvSpPr/>
          <p:nvPr/>
        </p:nvSpPr>
        <p:spPr>
          <a:xfrm>
            <a:off x="1309692" y="2819400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1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9DEB59A6-E59F-3279-9205-1BABDB4CEED6}"/>
              </a:ext>
            </a:extLst>
          </p:cNvPr>
          <p:cNvSpPr/>
          <p:nvPr/>
        </p:nvSpPr>
        <p:spPr>
          <a:xfrm>
            <a:off x="2081457" y="211686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2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xmlns="" id="{F60DC674-81BA-449A-4005-3FB4A3965D66}"/>
              </a:ext>
            </a:extLst>
          </p:cNvPr>
          <p:cNvSpPr/>
          <p:nvPr/>
        </p:nvSpPr>
        <p:spPr>
          <a:xfrm>
            <a:off x="3075321" y="3491958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5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725FBD83-AD6C-09CC-31EA-C5BE6DF8C67E}"/>
              </a:ext>
            </a:extLst>
          </p:cNvPr>
          <p:cNvSpPr/>
          <p:nvPr/>
        </p:nvSpPr>
        <p:spPr>
          <a:xfrm>
            <a:off x="3075321" y="2135663"/>
            <a:ext cx="457200" cy="438011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622961C4-3670-0DD7-CFFB-A3F5D9190085}"/>
              </a:ext>
            </a:extLst>
          </p:cNvPr>
          <p:cNvSpPr/>
          <p:nvPr/>
        </p:nvSpPr>
        <p:spPr>
          <a:xfrm>
            <a:off x="2064600" y="349091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xmlns="" id="{02DD4951-3C70-7E0C-21CD-C85F27AFE221}"/>
              </a:ext>
            </a:extLst>
          </p:cNvPr>
          <p:cNvSpPr/>
          <p:nvPr/>
        </p:nvSpPr>
        <p:spPr>
          <a:xfrm>
            <a:off x="3808798" y="280511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6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xmlns="" id="{5CC23E88-1600-A9EC-9FA7-D71B6327BB3C}"/>
              </a:ext>
            </a:extLst>
          </p:cNvPr>
          <p:cNvSpPr/>
          <p:nvPr/>
        </p:nvSpPr>
        <p:spPr>
          <a:xfrm>
            <a:off x="4831287" y="2780177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7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61A532DC-6BB6-8C4A-8E69-F9CC6BE2BD6F}"/>
              </a:ext>
            </a:extLst>
          </p:cNvPr>
          <p:cNvSpPr/>
          <p:nvPr/>
        </p:nvSpPr>
        <p:spPr>
          <a:xfrm>
            <a:off x="5853776" y="2780177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8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xmlns="" id="{B323988D-3F1C-B587-4065-DE6CD3557187}"/>
              </a:ext>
            </a:extLst>
          </p:cNvPr>
          <p:cNvSpPr/>
          <p:nvPr/>
        </p:nvSpPr>
        <p:spPr>
          <a:xfrm>
            <a:off x="433400" y="281939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0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xmlns="" id="{7360DCEC-8033-D5C8-73DC-FBED86692E3A}"/>
              </a:ext>
            </a:extLst>
          </p:cNvPr>
          <p:cNvCxnSpPr/>
          <p:nvPr/>
        </p:nvCxnSpPr>
        <p:spPr>
          <a:xfrm>
            <a:off x="903699" y="3039382"/>
            <a:ext cx="419092" cy="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2037B9C1-FBEF-BA96-DC07-D14526D4FDEB}"/>
              </a:ext>
            </a:extLst>
          </p:cNvPr>
          <p:cNvSpPr/>
          <p:nvPr/>
        </p:nvSpPr>
        <p:spPr>
          <a:xfrm>
            <a:off x="921568" y="2667000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xmlns="" id="{892A5C8A-C092-BC9A-4B30-3A3C0B502462}"/>
              </a:ext>
            </a:extLst>
          </p:cNvPr>
          <p:cNvCxnSpPr/>
          <p:nvPr/>
        </p:nvCxnSpPr>
        <p:spPr>
          <a:xfrm>
            <a:off x="2530319" y="2351552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E8DF94B4-CC32-D4B8-689E-C4541E2A4647}"/>
              </a:ext>
            </a:extLst>
          </p:cNvPr>
          <p:cNvSpPr/>
          <p:nvPr/>
        </p:nvSpPr>
        <p:spPr>
          <a:xfrm>
            <a:off x="2616975" y="1934046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xmlns="" id="{8E9517D5-995F-C765-AEB9-21D2EF6E2CE9}"/>
              </a:ext>
            </a:extLst>
          </p:cNvPr>
          <p:cNvCxnSpPr>
            <a:stCxn id="7" idx="6"/>
            <a:endCxn id="5" idx="2"/>
          </p:cNvCxnSpPr>
          <p:nvPr/>
        </p:nvCxnSpPr>
        <p:spPr>
          <a:xfrm>
            <a:off x="2521800" y="3719511"/>
            <a:ext cx="553521" cy="104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D06CF1A0-7BF1-76A3-93F8-2F33A1BC24CA}"/>
              </a:ext>
            </a:extLst>
          </p:cNvPr>
          <p:cNvSpPr/>
          <p:nvPr/>
        </p:nvSpPr>
        <p:spPr>
          <a:xfrm>
            <a:off x="2616975" y="373140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xmlns="" id="{9C86D44C-0BAE-6836-8E77-374184F916A0}"/>
              </a:ext>
            </a:extLst>
          </p:cNvPr>
          <p:cNvCxnSpPr>
            <a:stCxn id="3" idx="7"/>
            <a:endCxn id="4" idx="3"/>
          </p:cNvCxnSpPr>
          <p:nvPr/>
        </p:nvCxnSpPr>
        <p:spPr>
          <a:xfrm flipV="1">
            <a:off x="1699937" y="2507106"/>
            <a:ext cx="448475" cy="379249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xmlns="" id="{083782F9-9F71-EFB0-D736-71F1E136F6EE}"/>
              </a:ext>
            </a:extLst>
          </p:cNvPr>
          <p:cNvCxnSpPr>
            <a:stCxn id="3" idx="5"/>
          </p:cNvCxnSpPr>
          <p:nvPr/>
        </p:nvCxnSpPr>
        <p:spPr>
          <a:xfrm>
            <a:off x="1699937" y="3209645"/>
            <a:ext cx="433971" cy="32889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xmlns="" id="{6E7B9A37-D633-D3B8-667D-453BCD6397DC}"/>
              </a:ext>
            </a:extLst>
          </p:cNvPr>
          <p:cNvCxnSpPr>
            <a:stCxn id="6" idx="5"/>
            <a:endCxn id="8" idx="1"/>
          </p:cNvCxnSpPr>
          <p:nvPr/>
        </p:nvCxnSpPr>
        <p:spPr>
          <a:xfrm>
            <a:off x="3465566" y="2509529"/>
            <a:ext cx="410187" cy="36253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xmlns="" id="{CB4554CB-8578-751E-C37B-67026F5A3BFE}"/>
              </a:ext>
            </a:extLst>
          </p:cNvPr>
          <p:cNvCxnSpPr>
            <a:stCxn id="5" idx="7"/>
            <a:endCxn id="8" idx="3"/>
          </p:cNvCxnSpPr>
          <p:nvPr/>
        </p:nvCxnSpPr>
        <p:spPr>
          <a:xfrm flipV="1">
            <a:off x="3465566" y="3195356"/>
            <a:ext cx="410187" cy="36355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xmlns="" id="{CA255A0B-7680-FBD0-22A3-670071BC00A1}"/>
              </a:ext>
            </a:extLst>
          </p:cNvPr>
          <p:cNvCxnSpPr/>
          <p:nvPr/>
        </p:nvCxnSpPr>
        <p:spPr>
          <a:xfrm>
            <a:off x="4271771" y="3008777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4EE055CA-1D42-9834-42AE-5AF4F852C241}"/>
              </a:ext>
            </a:extLst>
          </p:cNvPr>
          <p:cNvSpPr/>
          <p:nvPr/>
        </p:nvSpPr>
        <p:spPr>
          <a:xfrm>
            <a:off x="4351727" y="2654636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xmlns="" id="{7A708F9B-A624-6639-726A-FDCA881E2759}"/>
              </a:ext>
            </a:extLst>
          </p:cNvPr>
          <p:cNvCxnSpPr/>
          <p:nvPr/>
        </p:nvCxnSpPr>
        <p:spPr>
          <a:xfrm>
            <a:off x="5281161" y="3018759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xmlns="" id="{0F197552-927A-4F88-88D2-049D02476031}"/>
              </a:ext>
            </a:extLst>
          </p:cNvPr>
          <p:cNvSpPr/>
          <p:nvPr/>
        </p:nvSpPr>
        <p:spPr>
          <a:xfrm>
            <a:off x="5361117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xmlns="" id="{D1F04C65-0DA0-6206-9D92-F9ABCC974CD0}"/>
              </a:ext>
            </a:extLst>
          </p:cNvPr>
          <p:cNvCxnSpPr/>
          <p:nvPr/>
        </p:nvCxnSpPr>
        <p:spPr>
          <a:xfrm>
            <a:off x="6308667" y="2994945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D87933CB-0BE2-A2B6-C1D0-8207E5EE278D}"/>
              </a:ext>
            </a:extLst>
          </p:cNvPr>
          <p:cNvSpPr/>
          <p:nvPr/>
        </p:nvSpPr>
        <p:spPr>
          <a:xfrm>
            <a:off x="6425264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xmlns="" id="{974DA364-D889-0FE2-5605-B1A8CE12D308}"/>
              </a:ext>
            </a:extLst>
          </p:cNvPr>
          <p:cNvCxnSpPr/>
          <p:nvPr/>
        </p:nvCxnSpPr>
        <p:spPr>
          <a:xfrm>
            <a:off x="190500" y="3047999"/>
            <a:ext cx="242900" cy="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xmlns="" id="{3423DDB8-8682-B68D-621E-B491D8D8FAC2}"/>
              </a:ext>
            </a:extLst>
          </p:cNvPr>
          <p:cNvSpPr/>
          <p:nvPr/>
        </p:nvSpPr>
        <p:spPr>
          <a:xfrm>
            <a:off x="1524000" y="337065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xmlns="" id="{FDDEAD28-C6BC-9CE0-BE10-C41A81A843AC}"/>
              </a:ext>
            </a:extLst>
          </p:cNvPr>
          <p:cNvSpPr/>
          <p:nvPr/>
        </p:nvSpPr>
        <p:spPr>
          <a:xfrm>
            <a:off x="1583156" y="2369027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xmlns="" id="{DF71E35F-9AEA-7418-7B1D-CDC4D77834A5}"/>
              </a:ext>
            </a:extLst>
          </p:cNvPr>
          <p:cNvSpPr/>
          <p:nvPr/>
        </p:nvSpPr>
        <p:spPr>
          <a:xfrm>
            <a:off x="3604306" y="2358623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xmlns="" id="{DBAC3E5F-37D0-0EC0-E867-8BE247B4B986}"/>
              </a:ext>
            </a:extLst>
          </p:cNvPr>
          <p:cNvSpPr/>
          <p:nvPr/>
        </p:nvSpPr>
        <p:spPr>
          <a:xfrm>
            <a:off x="3616975" y="338375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3" name="Curved Connector 33">
            <a:extLst>
              <a:ext uri="{FF2B5EF4-FFF2-40B4-BE49-F238E27FC236}">
                <a16:creationId xmlns:a16="http://schemas.microsoft.com/office/drawing/2014/main" xmlns="" id="{91933669-DEE1-4F87-43F2-6FD283DE2A49}"/>
              </a:ext>
            </a:extLst>
          </p:cNvPr>
          <p:cNvCxnSpPr>
            <a:stCxn id="11" idx="4"/>
            <a:endCxn id="9" idx="4"/>
          </p:cNvCxnSpPr>
          <p:nvPr/>
        </p:nvCxnSpPr>
        <p:spPr>
          <a:xfrm rot="5400000" flipH="1" flipV="1">
            <a:off x="2841332" y="1058044"/>
            <a:ext cx="39222" cy="4397887"/>
          </a:xfrm>
          <a:prstGeom prst="curvedConnector3">
            <a:avLst>
              <a:gd name="adj1" fmla="val -3059900"/>
            </a:avLst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urved Connector 34">
            <a:extLst>
              <a:ext uri="{FF2B5EF4-FFF2-40B4-BE49-F238E27FC236}">
                <a16:creationId xmlns:a16="http://schemas.microsoft.com/office/drawing/2014/main" xmlns="" id="{EC69F0D6-3CDE-EB08-6494-36E5EE9871BA}"/>
              </a:ext>
            </a:extLst>
          </p:cNvPr>
          <p:cNvCxnSpPr/>
          <p:nvPr/>
        </p:nvCxnSpPr>
        <p:spPr>
          <a:xfrm rot="16200000" flipH="1" flipV="1">
            <a:off x="2766063" y="1540671"/>
            <a:ext cx="36576" cy="2569464"/>
          </a:xfrm>
          <a:prstGeom prst="curvedConnector3">
            <a:avLst>
              <a:gd name="adj1" fmla="val -3059900"/>
            </a:avLst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xmlns="" id="{41359103-498C-222D-ED44-8EAED02B7B67}"/>
              </a:ext>
            </a:extLst>
          </p:cNvPr>
          <p:cNvSpPr/>
          <p:nvPr/>
        </p:nvSpPr>
        <p:spPr>
          <a:xfrm>
            <a:off x="2616975" y="129443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xmlns="" id="{B65BABDB-580D-5AFE-E60E-31815E91E2F3}"/>
              </a:ext>
            </a:extLst>
          </p:cNvPr>
          <p:cNvSpPr/>
          <p:nvPr/>
        </p:nvSpPr>
        <p:spPr>
          <a:xfrm>
            <a:off x="3795563" y="4275070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xmlns="" id="{3189159D-7572-F45F-1F00-9CBA0B40CA50}"/>
              </a:ext>
            </a:extLst>
          </p:cNvPr>
          <p:cNvCxnSpPr/>
          <p:nvPr/>
        </p:nvCxnSpPr>
        <p:spPr>
          <a:xfrm flipV="1">
            <a:off x="1699939" y="2507106"/>
            <a:ext cx="448475" cy="379249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xmlns="" id="{BAFF5B77-5D12-7ADA-F149-13EA3AC0E085}"/>
              </a:ext>
            </a:extLst>
          </p:cNvPr>
          <p:cNvCxnSpPr/>
          <p:nvPr/>
        </p:nvCxnSpPr>
        <p:spPr>
          <a:xfrm>
            <a:off x="1699939" y="3209645"/>
            <a:ext cx="433971" cy="32889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xmlns="" id="{881C6098-8937-E94B-77CA-976D5FE9AD75}"/>
              </a:ext>
            </a:extLst>
          </p:cNvPr>
          <p:cNvCxnSpPr/>
          <p:nvPr/>
        </p:nvCxnSpPr>
        <p:spPr>
          <a:xfrm>
            <a:off x="903700" y="3039382"/>
            <a:ext cx="419092" cy="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xmlns="" id="{38FB03B6-3A10-5E0E-8AC0-6EAE0DAD4421}"/>
              </a:ext>
            </a:extLst>
          </p:cNvPr>
          <p:cNvCxnSpPr/>
          <p:nvPr/>
        </p:nvCxnSpPr>
        <p:spPr>
          <a:xfrm flipV="1">
            <a:off x="1699940" y="2507106"/>
            <a:ext cx="448475" cy="379249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xmlns="" id="{ABF57CCB-4F36-8B9F-8A96-5DF0DDAD089C}"/>
              </a:ext>
            </a:extLst>
          </p:cNvPr>
          <p:cNvCxnSpPr/>
          <p:nvPr/>
        </p:nvCxnSpPr>
        <p:spPr>
          <a:xfrm>
            <a:off x="1699940" y="3209645"/>
            <a:ext cx="433971" cy="32889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xmlns="" id="{5F4CA94E-3CC8-1768-F3CB-81E9697F7E3E}"/>
              </a:ext>
            </a:extLst>
          </p:cNvPr>
          <p:cNvCxnSpPr/>
          <p:nvPr/>
        </p:nvCxnSpPr>
        <p:spPr>
          <a:xfrm>
            <a:off x="903701" y="3039382"/>
            <a:ext cx="419092" cy="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xmlns="" id="{CD7036F8-F01C-F616-A472-B7328E06B9C8}"/>
              </a:ext>
            </a:extLst>
          </p:cNvPr>
          <p:cNvSpPr/>
          <p:nvPr/>
        </p:nvSpPr>
        <p:spPr>
          <a:xfrm>
            <a:off x="368004" y="5104591"/>
            <a:ext cx="1490483" cy="4689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>
                <a:solidFill>
                  <a:schemeClr val="tx1"/>
                </a:solidFill>
                <a:latin typeface="+mj-lt"/>
              </a:rPr>
              <a:t>Move(C,a)</a:t>
            </a:r>
            <a:endParaRPr lang="en-US" sz="2200">
              <a:latin typeface="+mj-lt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xmlns="" id="{D0D28366-C699-0D17-5074-66E514BCE57D}"/>
              </a:ext>
            </a:extLst>
          </p:cNvPr>
          <p:cNvSpPr/>
          <p:nvPr/>
        </p:nvSpPr>
        <p:spPr>
          <a:xfrm>
            <a:off x="1218464" y="5148578"/>
            <a:ext cx="1725988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= {3,8}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xmlns="" id="{2194497B-49BA-C887-AC57-1E5745F594D2}"/>
              </a:ext>
            </a:extLst>
          </p:cNvPr>
          <p:cNvSpPr/>
          <p:nvPr/>
        </p:nvSpPr>
        <p:spPr>
          <a:xfrm>
            <a:off x="374532" y="5534752"/>
            <a:ext cx="2700790" cy="4689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𝜖- Closure(</a:t>
            </a:r>
            <a:r>
              <a:rPr lang="en-US" sz="2200">
                <a:solidFill>
                  <a:schemeClr val="tx1"/>
                </a:solidFill>
                <a:latin typeface="+mj-lt"/>
              </a:rPr>
              <a:t>Move(C,a))</a:t>
            </a:r>
            <a:endParaRPr lang="en-US" sz="2200">
              <a:latin typeface="+mj-lt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xmlns="" id="{DB6C563B-0B7F-FF0D-0BF3-ED8E4AF020CD}"/>
              </a:ext>
            </a:extLst>
          </p:cNvPr>
          <p:cNvSpPr/>
          <p:nvPr/>
        </p:nvSpPr>
        <p:spPr>
          <a:xfrm>
            <a:off x="2807308" y="5609266"/>
            <a:ext cx="253642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= {3, 6, 7, 1, 2, 4, 8}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xmlns="" id="{C8754828-F331-6CAA-448D-71042F811525}"/>
              </a:ext>
            </a:extLst>
          </p:cNvPr>
          <p:cNvSpPr/>
          <p:nvPr/>
        </p:nvSpPr>
        <p:spPr>
          <a:xfrm>
            <a:off x="4800325" y="5965890"/>
            <a:ext cx="87266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+mj-lt"/>
              </a:rPr>
              <a:t>---- B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xmlns="" id="{23FE631E-BCBB-9AD4-D91E-B1BC2DFBC2F3}"/>
              </a:ext>
            </a:extLst>
          </p:cNvPr>
          <p:cNvSpPr/>
          <p:nvPr/>
        </p:nvSpPr>
        <p:spPr>
          <a:xfrm>
            <a:off x="2616975" y="5989841"/>
            <a:ext cx="253642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= {1,2,3,4,6,7,8}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xmlns="" id="{D0BEE817-192A-9BFA-BCFA-3A24609B52A1}"/>
              </a:ext>
            </a:extLst>
          </p:cNvPr>
          <p:cNvCxnSpPr/>
          <p:nvPr/>
        </p:nvCxnSpPr>
        <p:spPr>
          <a:xfrm>
            <a:off x="1144829" y="5082311"/>
            <a:ext cx="267829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xmlns="" id="{4801E282-D50A-95AD-205C-D76450122152}"/>
              </a:ext>
            </a:extLst>
          </p:cNvPr>
          <p:cNvCxnSpPr/>
          <p:nvPr/>
        </p:nvCxnSpPr>
        <p:spPr>
          <a:xfrm>
            <a:off x="2190173" y="5063183"/>
            <a:ext cx="267829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xmlns="" id="{6F1AD501-5A24-6AA7-70D2-31A797A08231}"/>
              </a:ext>
            </a:extLst>
          </p:cNvPr>
          <p:cNvSpPr/>
          <p:nvPr/>
        </p:nvSpPr>
        <p:spPr>
          <a:xfrm>
            <a:off x="210553" y="4682183"/>
            <a:ext cx="2568214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chemeClr val="tx1"/>
                </a:solidFill>
                <a:latin typeface="+mj-lt"/>
              </a:rPr>
              <a:t>C= {1, 2, 4, 5, 6 ,7}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xmlns="" id="{B11F1CA9-C166-62E9-AF94-BDBA00B9227C}"/>
              </a:ext>
            </a:extLst>
          </p:cNvPr>
          <p:cNvSpPr/>
          <p:nvPr/>
        </p:nvSpPr>
        <p:spPr>
          <a:xfrm>
            <a:off x="7421867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xmlns="" id="{6315E277-EB38-FF4C-293D-32FB9A9D3221}"/>
              </a:ext>
            </a:extLst>
          </p:cNvPr>
          <p:cNvSpPr/>
          <p:nvPr/>
        </p:nvSpPr>
        <p:spPr>
          <a:xfrm>
            <a:off x="7893141" y="277905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10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xmlns="" id="{DF12BAF4-F965-C16F-ABF9-F8C5D0F4ED68}"/>
              </a:ext>
            </a:extLst>
          </p:cNvPr>
          <p:cNvSpPr/>
          <p:nvPr/>
        </p:nvSpPr>
        <p:spPr>
          <a:xfrm>
            <a:off x="7938861" y="2828648"/>
            <a:ext cx="365760" cy="36576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xmlns="" id="{BFAF2C04-9458-178F-2892-C903513CB159}"/>
              </a:ext>
            </a:extLst>
          </p:cNvPr>
          <p:cNvSpPr/>
          <p:nvPr/>
        </p:nvSpPr>
        <p:spPr>
          <a:xfrm>
            <a:off x="6869835" y="279015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9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xmlns="" id="{7351E691-2860-1930-3491-BBB4E720CF55}"/>
              </a:ext>
            </a:extLst>
          </p:cNvPr>
          <p:cNvCxnSpPr/>
          <p:nvPr/>
        </p:nvCxnSpPr>
        <p:spPr>
          <a:xfrm>
            <a:off x="7334592" y="3006852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2" name="Table 61">
            <a:extLst>
              <a:ext uri="{FF2B5EF4-FFF2-40B4-BE49-F238E27FC236}">
                <a16:creationId xmlns:a16="http://schemas.microsoft.com/office/drawing/2014/main" xmlns="" id="{C880B532-8414-B658-4496-B535E8B1AEDC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724270" y="2030248"/>
          <a:ext cx="3177041" cy="4267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States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n-US" sz="22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b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3" name="Table 62">
            <a:extLst>
              <a:ext uri="{FF2B5EF4-FFF2-40B4-BE49-F238E27FC236}">
                <a16:creationId xmlns:a16="http://schemas.microsoft.com/office/drawing/2014/main" xmlns="" id="{C49353D0-52D9-82CC-DB79-A66038D4D561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724271" y="2453188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A = {0,1,2,4,7}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4" name="Table 63">
            <a:extLst>
              <a:ext uri="{FF2B5EF4-FFF2-40B4-BE49-F238E27FC236}">
                <a16:creationId xmlns:a16="http://schemas.microsoft.com/office/drawing/2014/main" xmlns="" id="{FBE757E9-BFCC-D125-6B53-AAAE2EB60F08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724271" y="2818948"/>
          <a:ext cx="3177040" cy="6400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B = {1,2,3,4,6,7,8}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D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5" name="Table 64">
            <a:extLst>
              <a:ext uri="{FF2B5EF4-FFF2-40B4-BE49-F238E27FC236}">
                <a16:creationId xmlns:a16="http://schemas.microsoft.com/office/drawing/2014/main" xmlns="" id="{5B5C1657-A94A-89AF-8AAB-E56F450C5E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3426700"/>
              </p:ext>
            </p:extLst>
          </p:nvPr>
        </p:nvGraphicFramePr>
        <p:xfrm>
          <a:off x="8724271" y="3478271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53120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C = {1,2,4,5,6,7}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6" name="Table 65">
            <a:extLst>
              <a:ext uri="{FF2B5EF4-FFF2-40B4-BE49-F238E27FC236}">
                <a16:creationId xmlns:a16="http://schemas.microsoft.com/office/drawing/2014/main" xmlns="" id="{73B227F5-B414-43CA-08CD-D47D7E48A9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8898521"/>
              </p:ext>
            </p:extLst>
          </p:nvPr>
        </p:nvGraphicFramePr>
        <p:xfrm>
          <a:off x="8724271" y="3835153"/>
          <a:ext cx="3177040" cy="6400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51615"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D = {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1,2,4,5,6,7,9</a:t>
                      </a:r>
                      <a:r>
                        <a:rPr lang="en-US" sz="1800" dirty="0"/>
                        <a:t>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xmlns="" id="{801978B7-A58C-FE30-763A-BEF8A778B517}"/>
              </a:ext>
            </a:extLst>
          </p:cNvPr>
          <p:cNvCxnSpPr/>
          <p:nvPr/>
        </p:nvCxnSpPr>
        <p:spPr>
          <a:xfrm rot="5400000">
            <a:off x="5770212" y="3683283"/>
            <a:ext cx="5486400" cy="0"/>
          </a:xfrm>
          <a:prstGeom prst="line">
            <a:avLst/>
          </a:prstGeom>
          <a:ln>
            <a:solidFill>
              <a:srgbClr val="0E47A1"/>
            </a:solidFill>
            <a:prstDash val="soli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068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990000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990000"/>
                                      </p:to>
                                    </p:animClr>
                                    <p:set>
                                      <p:cBhvr>
                                        <p:cTn id="2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5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6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9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9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4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7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2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5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9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/>
      <p:bldP spid="45" grpId="0"/>
      <p:bldP spid="47" grpId="0"/>
      <p:bldP spid="4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DBEFF17-7D21-A424-A4F2-73E5912B6842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Conversion from NFA to DFA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xmlns="" id="{076E7422-5C30-608B-5DCE-89CD231FEFF9}"/>
              </a:ext>
            </a:extLst>
          </p:cNvPr>
          <p:cNvSpPr/>
          <p:nvPr/>
        </p:nvSpPr>
        <p:spPr>
          <a:xfrm>
            <a:off x="1309692" y="2819400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1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EBBFA5E6-BF49-7658-4550-27B9037F97E7}"/>
              </a:ext>
            </a:extLst>
          </p:cNvPr>
          <p:cNvSpPr/>
          <p:nvPr/>
        </p:nvSpPr>
        <p:spPr>
          <a:xfrm>
            <a:off x="2081457" y="211686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2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xmlns="" id="{22812BE1-68B9-9B4F-B1CF-5A09555D369B}"/>
              </a:ext>
            </a:extLst>
          </p:cNvPr>
          <p:cNvSpPr/>
          <p:nvPr/>
        </p:nvSpPr>
        <p:spPr>
          <a:xfrm>
            <a:off x="3075321" y="3491958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5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F903E0E1-6650-1761-4444-84F514BED81E}"/>
              </a:ext>
            </a:extLst>
          </p:cNvPr>
          <p:cNvSpPr/>
          <p:nvPr/>
        </p:nvSpPr>
        <p:spPr>
          <a:xfrm>
            <a:off x="3075321" y="2135663"/>
            <a:ext cx="457200" cy="438011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2A8CE6E8-0B9C-4AA8-AA74-7EA795D61983}"/>
              </a:ext>
            </a:extLst>
          </p:cNvPr>
          <p:cNvSpPr/>
          <p:nvPr/>
        </p:nvSpPr>
        <p:spPr>
          <a:xfrm>
            <a:off x="2064600" y="349091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xmlns="" id="{7E83D12A-4428-668B-E34D-227BCEC2DFA1}"/>
              </a:ext>
            </a:extLst>
          </p:cNvPr>
          <p:cNvSpPr/>
          <p:nvPr/>
        </p:nvSpPr>
        <p:spPr>
          <a:xfrm>
            <a:off x="3808798" y="280511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6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xmlns="" id="{2256F8F8-E774-F137-ACC8-DDE8DC61107B}"/>
              </a:ext>
            </a:extLst>
          </p:cNvPr>
          <p:cNvSpPr/>
          <p:nvPr/>
        </p:nvSpPr>
        <p:spPr>
          <a:xfrm>
            <a:off x="4831287" y="2780177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7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A4044361-5E08-0954-E6A6-C3E4E6A28DC9}"/>
              </a:ext>
            </a:extLst>
          </p:cNvPr>
          <p:cNvSpPr/>
          <p:nvPr/>
        </p:nvSpPr>
        <p:spPr>
          <a:xfrm>
            <a:off x="5853776" y="2780177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8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xmlns="" id="{C53B289C-E69F-4939-CE6E-E3EA8AF2639E}"/>
              </a:ext>
            </a:extLst>
          </p:cNvPr>
          <p:cNvSpPr/>
          <p:nvPr/>
        </p:nvSpPr>
        <p:spPr>
          <a:xfrm>
            <a:off x="433400" y="281939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0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xmlns="" id="{E3F3994F-9691-3AFD-E616-4C4189661286}"/>
              </a:ext>
            </a:extLst>
          </p:cNvPr>
          <p:cNvCxnSpPr/>
          <p:nvPr/>
        </p:nvCxnSpPr>
        <p:spPr>
          <a:xfrm>
            <a:off x="903699" y="3039382"/>
            <a:ext cx="419092" cy="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71C8F588-C4B7-C9B9-54F5-90CECADA3554}"/>
              </a:ext>
            </a:extLst>
          </p:cNvPr>
          <p:cNvSpPr/>
          <p:nvPr/>
        </p:nvSpPr>
        <p:spPr>
          <a:xfrm>
            <a:off x="921568" y="2667000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xmlns="" id="{FFFCEFC9-32A0-E503-4F45-E1F73A24FD05}"/>
              </a:ext>
            </a:extLst>
          </p:cNvPr>
          <p:cNvCxnSpPr/>
          <p:nvPr/>
        </p:nvCxnSpPr>
        <p:spPr>
          <a:xfrm>
            <a:off x="2530319" y="2351552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2A47E289-18E2-27C2-4E1D-1186DA9A5BF5}"/>
              </a:ext>
            </a:extLst>
          </p:cNvPr>
          <p:cNvSpPr/>
          <p:nvPr/>
        </p:nvSpPr>
        <p:spPr>
          <a:xfrm>
            <a:off x="2616975" y="1934046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xmlns="" id="{F8D2A74A-13AF-7DC9-F37D-C9687CDA00C3}"/>
              </a:ext>
            </a:extLst>
          </p:cNvPr>
          <p:cNvCxnSpPr>
            <a:stCxn id="7" idx="6"/>
            <a:endCxn id="5" idx="2"/>
          </p:cNvCxnSpPr>
          <p:nvPr/>
        </p:nvCxnSpPr>
        <p:spPr>
          <a:xfrm>
            <a:off x="2521800" y="3719511"/>
            <a:ext cx="553521" cy="104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509C7CF6-BD90-CFDE-4DB3-A54A97A89E54}"/>
              </a:ext>
            </a:extLst>
          </p:cNvPr>
          <p:cNvSpPr/>
          <p:nvPr/>
        </p:nvSpPr>
        <p:spPr>
          <a:xfrm>
            <a:off x="2616975" y="373140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xmlns="" id="{5841CD8D-9FA4-2234-4D2B-F0AFE9C1DA1A}"/>
              </a:ext>
            </a:extLst>
          </p:cNvPr>
          <p:cNvCxnSpPr>
            <a:stCxn id="3" idx="7"/>
            <a:endCxn id="4" idx="3"/>
          </p:cNvCxnSpPr>
          <p:nvPr/>
        </p:nvCxnSpPr>
        <p:spPr>
          <a:xfrm flipV="1">
            <a:off x="1699937" y="2507106"/>
            <a:ext cx="448475" cy="379249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xmlns="" id="{17D4BD9F-07D6-7D60-3D48-AA84D779D2BE}"/>
              </a:ext>
            </a:extLst>
          </p:cNvPr>
          <p:cNvCxnSpPr>
            <a:stCxn id="3" idx="5"/>
          </p:cNvCxnSpPr>
          <p:nvPr/>
        </p:nvCxnSpPr>
        <p:spPr>
          <a:xfrm>
            <a:off x="1699937" y="3209645"/>
            <a:ext cx="433971" cy="32889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xmlns="" id="{215DC5C1-217C-BA59-9AA6-F7A39A22FB24}"/>
              </a:ext>
            </a:extLst>
          </p:cNvPr>
          <p:cNvCxnSpPr>
            <a:stCxn id="6" idx="5"/>
            <a:endCxn id="8" idx="1"/>
          </p:cNvCxnSpPr>
          <p:nvPr/>
        </p:nvCxnSpPr>
        <p:spPr>
          <a:xfrm>
            <a:off x="3465566" y="2509529"/>
            <a:ext cx="410187" cy="36253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xmlns="" id="{14825C81-C2C1-72EC-8C23-DB0BE75509A2}"/>
              </a:ext>
            </a:extLst>
          </p:cNvPr>
          <p:cNvCxnSpPr>
            <a:stCxn id="5" idx="7"/>
            <a:endCxn id="8" idx="3"/>
          </p:cNvCxnSpPr>
          <p:nvPr/>
        </p:nvCxnSpPr>
        <p:spPr>
          <a:xfrm flipV="1">
            <a:off x="3465566" y="3195356"/>
            <a:ext cx="410187" cy="36355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xmlns="" id="{1C320C2F-B87F-6DF8-20C3-2367BB055FAB}"/>
              </a:ext>
            </a:extLst>
          </p:cNvPr>
          <p:cNvCxnSpPr/>
          <p:nvPr/>
        </p:nvCxnSpPr>
        <p:spPr>
          <a:xfrm>
            <a:off x="4271771" y="3008777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B110D6BD-4A9C-935A-9ADB-2C24DFAF17B6}"/>
              </a:ext>
            </a:extLst>
          </p:cNvPr>
          <p:cNvSpPr/>
          <p:nvPr/>
        </p:nvSpPr>
        <p:spPr>
          <a:xfrm>
            <a:off x="4351727" y="2654636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xmlns="" id="{B7E21EFB-39EF-219C-97FB-91A6210A6019}"/>
              </a:ext>
            </a:extLst>
          </p:cNvPr>
          <p:cNvCxnSpPr/>
          <p:nvPr/>
        </p:nvCxnSpPr>
        <p:spPr>
          <a:xfrm>
            <a:off x="5281161" y="3018759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xmlns="" id="{5C80BC25-D304-60E6-2512-ADEDEDF484B3}"/>
              </a:ext>
            </a:extLst>
          </p:cNvPr>
          <p:cNvSpPr/>
          <p:nvPr/>
        </p:nvSpPr>
        <p:spPr>
          <a:xfrm>
            <a:off x="5361117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xmlns="" id="{799FF395-DA4F-19B4-9BEF-819C77EDA68D}"/>
              </a:ext>
            </a:extLst>
          </p:cNvPr>
          <p:cNvCxnSpPr/>
          <p:nvPr/>
        </p:nvCxnSpPr>
        <p:spPr>
          <a:xfrm>
            <a:off x="6308667" y="2994945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124F4354-5D14-688F-2913-F9E25C178D8A}"/>
              </a:ext>
            </a:extLst>
          </p:cNvPr>
          <p:cNvSpPr/>
          <p:nvPr/>
        </p:nvSpPr>
        <p:spPr>
          <a:xfrm>
            <a:off x="6425264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xmlns="" id="{4BC5E43D-A2E6-786D-6224-2A8546C2CE61}"/>
              </a:ext>
            </a:extLst>
          </p:cNvPr>
          <p:cNvSpPr/>
          <p:nvPr/>
        </p:nvSpPr>
        <p:spPr>
          <a:xfrm>
            <a:off x="7421867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xmlns="" id="{0D3CADCA-25BC-D4E8-3CCF-39186BD6FF7E}"/>
              </a:ext>
            </a:extLst>
          </p:cNvPr>
          <p:cNvCxnSpPr/>
          <p:nvPr/>
        </p:nvCxnSpPr>
        <p:spPr>
          <a:xfrm>
            <a:off x="190500" y="3047999"/>
            <a:ext cx="242900" cy="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xmlns="" id="{9E551CF7-F069-8372-5D6B-6411D3AC5A97}"/>
              </a:ext>
            </a:extLst>
          </p:cNvPr>
          <p:cNvSpPr/>
          <p:nvPr/>
        </p:nvSpPr>
        <p:spPr>
          <a:xfrm>
            <a:off x="1524000" y="337065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xmlns="" id="{AE7F018E-0FC6-2404-FB6A-417A5F98AD2C}"/>
              </a:ext>
            </a:extLst>
          </p:cNvPr>
          <p:cNvSpPr/>
          <p:nvPr/>
        </p:nvSpPr>
        <p:spPr>
          <a:xfrm>
            <a:off x="1583156" y="2369027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xmlns="" id="{FFA868FB-6E95-8A8D-7E88-0BF079A7E61E}"/>
              </a:ext>
            </a:extLst>
          </p:cNvPr>
          <p:cNvSpPr/>
          <p:nvPr/>
        </p:nvSpPr>
        <p:spPr>
          <a:xfrm>
            <a:off x="3604306" y="2358623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xmlns="" id="{A956E034-6439-A07E-8399-2B80F7FDFA0B}"/>
              </a:ext>
            </a:extLst>
          </p:cNvPr>
          <p:cNvSpPr/>
          <p:nvPr/>
        </p:nvSpPr>
        <p:spPr>
          <a:xfrm>
            <a:off x="3616975" y="338375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4" name="Curved Connector 34">
            <a:extLst>
              <a:ext uri="{FF2B5EF4-FFF2-40B4-BE49-F238E27FC236}">
                <a16:creationId xmlns:a16="http://schemas.microsoft.com/office/drawing/2014/main" xmlns="" id="{E80612C2-2C56-C9C3-1654-B1A79E1BB137}"/>
              </a:ext>
            </a:extLst>
          </p:cNvPr>
          <p:cNvCxnSpPr>
            <a:stCxn id="11" idx="4"/>
            <a:endCxn id="9" idx="4"/>
          </p:cNvCxnSpPr>
          <p:nvPr/>
        </p:nvCxnSpPr>
        <p:spPr>
          <a:xfrm rot="5400000" flipH="1" flipV="1">
            <a:off x="2841332" y="1058044"/>
            <a:ext cx="39222" cy="4397887"/>
          </a:xfrm>
          <a:prstGeom prst="curvedConnector3">
            <a:avLst>
              <a:gd name="adj1" fmla="val -3059900"/>
            </a:avLst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urved Connector 35">
            <a:extLst>
              <a:ext uri="{FF2B5EF4-FFF2-40B4-BE49-F238E27FC236}">
                <a16:creationId xmlns:a16="http://schemas.microsoft.com/office/drawing/2014/main" xmlns="" id="{0F2543B8-24D2-18A2-06FC-6092D78FFF4C}"/>
              </a:ext>
            </a:extLst>
          </p:cNvPr>
          <p:cNvCxnSpPr/>
          <p:nvPr/>
        </p:nvCxnSpPr>
        <p:spPr>
          <a:xfrm rot="16200000" flipH="1" flipV="1">
            <a:off x="2766063" y="1524629"/>
            <a:ext cx="36576" cy="2569464"/>
          </a:xfrm>
          <a:prstGeom prst="curvedConnector3">
            <a:avLst>
              <a:gd name="adj1" fmla="val -3059900"/>
            </a:avLst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xmlns="" id="{0B1FA393-24B5-4385-8A81-5D621DD8EADF}"/>
              </a:ext>
            </a:extLst>
          </p:cNvPr>
          <p:cNvSpPr/>
          <p:nvPr/>
        </p:nvSpPr>
        <p:spPr>
          <a:xfrm>
            <a:off x="2616975" y="129443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xmlns="" id="{381B168F-42FA-C0DD-8948-F755FB4DDD74}"/>
              </a:ext>
            </a:extLst>
          </p:cNvPr>
          <p:cNvSpPr/>
          <p:nvPr/>
        </p:nvSpPr>
        <p:spPr>
          <a:xfrm>
            <a:off x="3795563" y="4275070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xmlns="" id="{CB1E60DA-68D2-A6ED-846D-EA2EC27081FB}"/>
              </a:ext>
            </a:extLst>
          </p:cNvPr>
          <p:cNvCxnSpPr/>
          <p:nvPr/>
        </p:nvCxnSpPr>
        <p:spPr>
          <a:xfrm flipV="1">
            <a:off x="1699939" y="2507106"/>
            <a:ext cx="448475" cy="379249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xmlns="" id="{53F978C9-0B55-E539-04D1-4273F15F1994}"/>
              </a:ext>
            </a:extLst>
          </p:cNvPr>
          <p:cNvCxnSpPr/>
          <p:nvPr/>
        </p:nvCxnSpPr>
        <p:spPr>
          <a:xfrm>
            <a:off x="1699939" y="3209645"/>
            <a:ext cx="433971" cy="32889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xmlns="" id="{013D224F-351C-3B58-8CCD-20C42625BC44}"/>
              </a:ext>
            </a:extLst>
          </p:cNvPr>
          <p:cNvCxnSpPr/>
          <p:nvPr/>
        </p:nvCxnSpPr>
        <p:spPr>
          <a:xfrm>
            <a:off x="903700" y="3039382"/>
            <a:ext cx="419092" cy="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xmlns="" id="{D563D2C6-823F-B605-34AD-3C93C0598DE3}"/>
              </a:ext>
            </a:extLst>
          </p:cNvPr>
          <p:cNvCxnSpPr/>
          <p:nvPr/>
        </p:nvCxnSpPr>
        <p:spPr>
          <a:xfrm flipV="1">
            <a:off x="1699940" y="2507106"/>
            <a:ext cx="448475" cy="379249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xmlns="" id="{CF2F4B73-529C-7A66-D0DF-AAA73C2B5449}"/>
              </a:ext>
            </a:extLst>
          </p:cNvPr>
          <p:cNvCxnSpPr/>
          <p:nvPr/>
        </p:nvCxnSpPr>
        <p:spPr>
          <a:xfrm>
            <a:off x="1699940" y="3209645"/>
            <a:ext cx="433971" cy="32889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xmlns="" id="{9B759E7A-4980-C32E-1DAF-CA1DE157AFC0}"/>
              </a:ext>
            </a:extLst>
          </p:cNvPr>
          <p:cNvCxnSpPr/>
          <p:nvPr/>
        </p:nvCxnSpPr>
        <p:spPr>
          <a:xfrm>
            <a:off x="903701" y="3039382"/>
            <a:ext cx="419092" cy="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xmlns="" id="{1551C58C-09B1-DA09-BDC1-76F6F1C7C2F5}"/>
              </a:ext>
            </a:extLst>
          </p:cNvPr>
          <p:cNvSpPr/>
          <p:nvPr/>
        </p:nvSpPr>
        <p:spPr>
          <a:xfrm>
            <a:off x="194759" y="5104591"/>
            <a:ext cx="1575377" cy="4991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>
                <a:solidFill>
                  <a:schemeClr val="tx1"/>
                </a:solidFill>
                <a:latin typeface="+mj-lt"/>
              </a:rPr>
              <a:t>Move(C,b) =</a:t>
            </a:r>
            <a:endParaRPr lang="en-US" sz="2200">
              <a:latin typeface="+mj-lt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xmlns="" id="{FFD155A0-603A-7F1C-C439-DA69471004F4}"/>
              </a:ext>
            </a:extLst>
          </p:cNvPr>
          <p:cNvSpPr/>
          <p:nvPr/>
        </p:nvSpPr>
        <p:spPr>
          <a:xfrm>
            <a:off x="1015556" y="5162230"/>
            <a:ext cx="1725988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 {5}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xmlns="" id="{2548678A-BC80-5486-8976-BD5BEFAADA79}"/>
              </a:ext>
            </a:extLst>
          </p:cNvPr>
          <p:cNvSpPr/>
          <p:nvPr/>
        </p:nvSpPr>
        <p:spPr>
          <a:xfrm>
            <a:off x="190500" y="5534752"/>
            <a:ext cx="2868584" cy="4504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𝜖- Closure(</a:t>
            </a:r>
            <a:r>
              <a:rPr lang="en-US" sz="2200">
                <a:solidFill>
                  <a:schemeClr val="tx1"/>
                </a:solidFill>
                <a:latin typeface="+mj-lt"/>
              </a:rPr>
              <a:t>Move(C,b))=</a:t>
            </a:r>
            <a:endParaRPr lang="en-US" sz="2200">
              <a:latin typeface="+mj-lt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xmlns="" id="{58247053-9D0C-DF46-2F0E-8295E17DA7A3}"/>
              </a:ext>
            </a:extLst>
          </p:cNvPr>
          <p:cNvSpPr/>
          <p:nvPr/>
        </p:nvSpPr>
        <p:spPr>
          <a:xfrm>
            <a:off x="2510583" y="5601088"/>
            <a:ext cx="253642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  <a:latin typeface="+mj-lt"/>
              </a:rPr>
              <a:t> {5, 6, </a:t>
            </a:r>
            <a:r>
              <a:rPr lang="en-US" sz="2200" dirty="0" smtClean="0">
                <a:solidFill>
                  <a:schemeClr val="tx1"/>
                </a:solidFill>
                <a:latin typeface="+mj-lt"/>
              </a:rPr>
              <a:t>7, </a:t>
            </a:r>
            <a:r>
              <a:rPr lang="en-US" sz="2200" dirty="0">
                <a:solidFill>
                  <a:schemeClr val="tx1"/>
                </a:solidFill>
                <a:latin typeface="+mj-lt"/>
              </a:rPr>
              <a:t>1, 2, 4}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xmlns="" id="{1A714AC0-8052-DB9E-CAAC-57BF62A165EF}"/>
              </a:ext>
            </a:extLst>
          </p:cNvPr>
          <p:cNvSpPr/>
          <p:nvPr/>
        </p:nvSpPr>
        <p:spPr>
          <a:xfrm>
            <a:off x="4368432" y="6064587"/>
            <a:ext cx="87266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+mj-lt"/>
              </a:rPr>
              <a:t>---- C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xmlns="" id="{974C96E3-4220-E10A-D42B-00D912409450}"/>
              </a:ext>
            </a:extLst>
          </p:cNvPr>
          <p:cNvSpPr/>
          <p:nvPr/>
        </p:nvSpPr>
        <p:spPr>
          <a:xfrm>
            <a:off x="6482416" y="4401275"/>
            <a:ext cx="471465" cy="3626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xmlns="" id="{691CD312-CFFC-0CBC-F427-FAEDC91367B9}"/>
              </a:ext>
            </a:extLst>
          </p:cNvPr>
          <p:cNvSpPr/>
          <p:nvPr/>
        </p:nvSpPr>
        <p:spPr>
          <a:xfrm>
            <a:off x="6482416" y="4401275"/>
            <a:ext cx="414313" cy="3626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xmlns="" id="{319394B1-DE28-2CF6-C63D-1855B6AD29CC}"/>
              </a:ext>
            </a:extLst>
          </p:cNvPr>
          <p:cNvSpPr/>
          <p:nvPr/>
        </p:nvSpPr>
        <p:spPr>
          <a:xfrm>
            <a:off x="2284499" y="6056266"/>
            <a:ext cx="253642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= {1,2,4,5,6,7}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xmlns="" id="{DD6B979F-B96C-2A15-D7A9-366F737257EB}"/>
              </a:ext>
            </a:extLst>
          </p:cNvPr>
          <p:cNvCxnSpPr/>
          <p:nvPr/>
        </p:nvCxnSpPr>
        <p:spPr>
          <a:xfrm>
            <a:off x="1231790" y="5049836"/>
            <a:ext cx="267829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xmlns="" id="{D4565333-FCDF-2294-745D-0B2AAF21D437}"/>
              </a:ext>
            </a:extLst>
          </p:cNvPr>
          <p:cNvSpPr/>
          <p:nvPr/>
        </p:nvSpPr>
        <p:spPr>
          <a:xfrm>
            <a:off x="151207" y="4668836"/>
            <a:ext cx="2343167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chemeClr val="tx1"/>
                </a:solidFill>
                <a:latin typeface="+mj-lt"/>
              </a:rPr>
              <a:t>C= {1, 2, 4, 5, 6, 7}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xmlns="" id="{4C8FB6E0-46CF-B056-AD25-447E87CB230D}"/>
              </a:ext>
            </a:extLst>
          </p:cNvPr>
          <p:cNvSpPr/>
          <p:nvPr/>
        </p:nvSpPr>
        <p:spPr>
          <a:xfrm>
            <a:off x="7893141" y="277905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10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xmlns="" id="{ABB2774B-6C55-8965-B5C6-A9A3F1A73102}"/>
              </a:ext>
            </a:extLst>
          </p:cNvPr>
          <p:cNvSpPr/>
          <p:nvPr/>
        </p:nvSpPr>
        <p:spPr>
          <a:xfrm>
            <a:off x="7938861" y="2828648"/>
            <a:ext cx="365760" cy="36576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xmlns="" id="{7F4B8CDA-7958-63BE-4B8A-58504EF75F03}"/>
              </a:ext>
            </a:extLst>
          </p:cNvPr>
          <p:cNvSpPr/>
          <p:nvPr/>
        </p:nvSpPr>
        <p:spPr>
          <a:xfrm>
            <a:off x="6869835" y="279015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9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xmlns="" id="{0A26D628-38E6-307F-C2C9-6BF9D9A162D7}"/>
              </a:ext>
            </a:extLst>
          </p:cNvPr>
          <p:cNvCxnSpPr/>
          <p:nvPr/>
        </p:nvCxnSpPr>
        <p:spPr>
          <a:xfrm>
            <a:off x="7334592" y="3006852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4" name="Table 63">
            <a:extLst>
              <a:ext uri="{FF2B5EF4-FFF2-40B4-BE49-F238E27FC236}">
                <a16:creationId xmlns:a16="http://schemas.microsoft.com/office/drawing/2014/main" xmlns="" id="{7516F916-EC37-9FFE-BFE5-809C5A4A49D2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724270" y="2030248"/>
          <a:ext cx="3177041" cy="4267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States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n-US" sz="22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b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5" name="Table 64">
            <a:extLst>
              <a:ext uri="{FF2B5EF4-FFF2-40B4-BE49-F238E27FC236}">
                <a16:creationId xmlns:a16="http://schemas.microsoft.com/office/drawing/2014/main" xmlns="" id="{7E53701A-9702-412E-2CF8-6EC687C15503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724271" y="2453188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A = {0,1,2,4,7}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6" name="Table 65">
            <a:extLst>
              <a:ext uri="{FF2B5EF4-FFF2-40B4-BE49-F238E27FC236}">
                <a16:creationId xmlns:a16="http://schemas.microsoft.com/office/drawing/2014/main" xmlns="" id="{B6B6941B-5B5D-D266-EB44-B3C8922872B2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724271" y="2818948"/>
          <a:ext cx="3177040" cy="6400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B = {1,2,3,4,6,7,8}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D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xmlns="" id="{9F17B79E-EB08-BA1B-CBCF-8BDED8A9B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7825329"/>
              </p:ext>
            </p:extLst>
          </p:nvPr>
        </p:nvGraphicFramePr>
        <p:xfrm>
          <a:off x="8724271" y="3440947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C = {1,2,4,5,6,7}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xmlns="" id="{9D6E2307-4201-6571-B2F1-AD1B3AE5FF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5298086"/>
              </p:ext>
            </p:extLst>
          </p:nvPr>
        </p:nvGraphicFramePr>
        <p:xfrm>
          <a:off x="8742027" y="3776498"/>
          <a:ext cx="3177040" cy="6400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70623"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D = {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1,2,4,5,6,7,9</a:t>
                      </a:r>
                      <a:r>
                        <a:rPr lang="en-US" sz="1800" dirty="0"/>
                        <a:t>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xmlns="" id="{D9091A28-7083-FA51-07FF-9B2BD2FE9F79}"/>
              </a:ext>
            </a:extLst>
          </p:cNvPr>
          <p:cNvCxnSpPr/>
          <p:nvPr/>
        </p:nvCxnSpPr>
        <p:spPr>
          <a:xfrm rot="5400000">
            <a:off x="5770212" y="3683283"/>
            <a:ext cx="5486400" cy="0"/>
          </a:xfrm>
          <a:prstGeom prst="line">
            <a:avLst/>
          </a:prstGeom>
          <a:ln>
            <a:solidFill>
              <a:srgbClr val="0E47A1"/>
            </a:solidFill>
            <a:prstDash val="soli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8154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1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2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5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0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0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3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3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6" grpId="0"/>
      <p:bldP spid="48" grpId="0"/>
      <p:bldP spid="5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9829579-AAB4-9C56-5277-EBFBEF4ACDBA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Conversion from NFA to DFA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xmlns="" id="{D5BE9001-D448-B244-0263-3137838C06F9}"/>
              </a:ext>
            </a:extLst>
          </p:cNvPr>
          <p:cNvSpPr/>
          <p:nvPr/>
        </p:nvSpPr>
        <p:spPr>
          <a:xfrm>
            <a:off x="1309692" y="2819400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1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F2483247-581B-5F62-98BA-218697B85ADA}"/>
              </a:ext>
            </a:extLst>
          </p:cNvPr>
          <p:cNvSpPr/>
          <p:nvPr/>
        </p:nvSpPr>
        <p:spPr>
          <a:xfrm>
            <a:off x="2081457" y="211686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2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xmlns="" id="{8F934512-5C47-8F69-8DE6-3CE58E05E6D0}"/>
              </a:ext>
            </a:extLst>
          </p:cNvPr>
          <p:cNvSpPr/>
          <p:nvPr/>
        </p:nvSpPr>
        <p:spPr>
          <a:xfrm>
            <a:off x="3075321" y="3491958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5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A712F125-5A5A-E50A-E9AB-1ACBE33C914B}"/>
              </a:ext>
            </a:extLst>
          </p:cNvPr>
          <p:cNvSpPr/>
          <p:nvPr/>
        </p:nvSpPr>
        <p:spPr>
          <a:xfrm>
            <a:off x="3075321" y="2135663"/>
            <a:ext cx="457200" cy="438011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3DA3B8E6-ABDD-EBE3-EF57-DCF14CAADFF4}"/>
              </a:ext>
            </a:extLst>
          </p:cNvPr>
          <p:cNvSpPr/>
          <p:nvPr/>
        </p:nvSpPr>
        <p:spPr>
          <a:xfrm>
            <a:off x="2064600" y="349091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xmlns="" id="{080FF319-95E9-48A4-3DE9-F157FA5A2740}"/>
              </a:ext>
            </a:extLst>
          </p:cNvPr>
          <p:cNvSpPr/>
          <p:nvPr/>
        </p:nvSpPr>
        <p:spPr>
          <a:xfrm>
            <a:off x="3808798" y="280511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6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xmlns="" id="{F02AD638-268C-C66C-660C-B3CCA70C6752}"/>
              </a:ext>
            </a:extLst>
          </p:cNvPr>
          <p:cNvSpPr/>
          <p:nvPr/>
        </p:nvSpPr>
        <p:spPr>
          <a:xfrm>
            <a:off x="4831287" y="2780177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7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F374276F-8285-8AB9-5670-DF3A517CE04F}"/>
              </a:ext>
            </a:extLst>
          </p:cNvPr>
          <p:cNvSpPr/>
          <p:nvPr/>
        </p:nvSpPr>
        <p:spPr>
          <a:xfrm>
            <a:off x="5853776" y="2780177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8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xmlns="" id="{624CB8D3-16F5-5559-783E-6CC9B986856D}"/>
              </a:ext>
            </a:extLst>
          </p:cNvPr>
          <p:cNvSpPr/>
          <p:nvPr/>
        </p:nvSpPr>
        <p:spPr>
          <a:xfrm>
            <a:off x="433400" y="281939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0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xmlns="" id="{52BCF178-F81D-B7A9-22C2-858490AF3625}"/>
              </a:ext>
            </a:extLst>
          </p:cNvPr>
          <p:cNvCxnSpPr/>
          <p:nvPr/>
        </p:nvCxnSpPr>
        <p:spPr>
          <a:xfrm>
            <a:off x="903699" y="3039382"/>
            <a:ext cx="419092" cy="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DF8B2A2A-7DF0-AB6C-5AB3-2E47D4635DA5}"/>
              </a:ext>
            </a:extLst>
          </p:cNvPr>
          <p:cNvSpPr/>
          <p:nvPr/>
        </p:nvSpPr>
        <p:spPr>
          <a:xfrm>
            <a:off x="921568" y="2667000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xmlns="" id="{CF818DFE-6EBE-1EAE-A0F0-DBD46E164839}"/>
              </a:ext>
            </a:extLst>
          </p:cNvPr>
          <p:cNvCxnSpPr/>
          <p:nvPr/>
        </p:nvCxnSpPr>
        <p:spPr>
          <a:xfrm>
            <a:off x="2530319" y="2351552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5EEDD6C4-D2BE-2A05-0623-2FD106827A11}"/>
              </a:ext>
            </a:extLst>
          </p:cNvPr>
          <p:cNvSpPr/>
          <p:nvPr/>
        </p:nvSpPr>
        <p:spPr>
          <a:xfrm>
            <a:off x="2616975" y="1934046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xmlns="" id="{4E586D87-2D72-55D9-764F-B9F639973DA8}"/>
              </a:ext>
            </a:extLst>
          </p:cNvPr>
          <p:cNvCxnSpPr>
            <a:stCxn id="7" idx="6"/>
            <a:endCxn id="5" idx="2"/>
          </p:cNvCxnSpPr>
          <p:nvPr/>
        </p:nvCxnSpPr>
        <p:spPr>
          <a:xfrm>
            <a:off x="2521800" y="3719511"/>
            <a:ext cx="553521" cy="104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E8D7B80B-FFBC-8627-2F2E-C0AB93230B78}"/>
              </a:ext>
            </a:extLst>
          </p:cNvPr>
          <p:cNvSpPr/>
          <p:nvPr/>
        </p:nvSpPr>
        <p:spPr>
          <a:xfrm>
            <a:off x="2616975" y="373140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xmlns="" id="{0E0848F4-2302-0E53-7A6F-3E0EE6FABA42}"/>
              </a:ext>
            </a:extLst>
          </p:cNvPr>
          <p:cNvCxnSpPr>
            <a:stCxn id="3" idx="7"/>
            <a:endCxn id="4" idx="3"/>
          </p:cNvCxnSpPr>
          <p:nvPr/>
        </p:nvCxnSpPr>
        <p:spPr>
          <a:xfrm flipV="1">
            <a:off x="1699937" y="2507106"/>
            <a:ext cx="448475" cy="379249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xmlns="" id="{DF847786-4C21-A662-C6EB-80851A561E27}"/>
              </a:ext>
            </a:extLst>
          </p:cNvPr>
          <p:cNvCxnSpPr>
            <a:stCxn id="3" idx="5"/>
          </p:cNvCxnSpPr>
          <p:nvPr/>
        </p:nvCxnSpPr>
        <p:spPr>
          <a:xfrm>
            <a:off x="1699937" y="3209645"/>
            <a:ext cx="433971" cy="32889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xmlns="" id="{1D3D9F17-2B2B-1636-9506-5739A08D6C88}"/>
              </a:ext>
            </a:extLst>
          </p:cNvPr>
          <p:cNvCxnSpPr>
            <a:stCxn id="6" idx="5"/>
            <a:endCxn id="8" idx="1"/>
          </p:cNvCxnSpPr>
          <p:nvPr/>
        </p:nvCxnSpPr>
        <p:spPr>
          <a:xfrm>
            <a:off x="3465566" y="2509529"/>
            <a:ext cx="410187" cy="36253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xmlns="" id="{4DE3309B-4D3D-8AB8-5244-A6DF5242D167}"/>
              </a:ext>
            </a:extLst>
          </p:cNvPr>
          <p:cNvCxnSpPr>
            <a:stCxn id="5" idx="7"/>
            <a:endCxn id="8" idx="3"/>
          </p:cNvCxnSpPr>
          <p:nvPr/>
        </p:nvCxnSpPr>
        <p:spPr>
          <a:xfrm flipV="1">
            <a:off x="3465566" y="3195356"/>
            <a:ext cx="410187" cy="36355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xmlns="" id="{C31CAA6A-DBA2-7683-4FE7-DC5DB12185DD}"/>
              </a:ext>
            </a:extLst>
          </p:cNvPr>
          <p:cNvCxnSpPr/>
          <p:nvPr/>
        </p:nvCxnSpPr>
        <p:spPr>
          <a:xfrm>
            <a:off x="4271771" y="3008777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84B1C4EF-D854-97EE-E0E1-253113C3B22A}"/>
              </a:ext>
            </a:extLst>
          </p:cNvPr>
          <p:cNvSpPr/>
          <p:nvPr/>
        </p:nvSpPr>
        <p:spPr>
          <a:xfrm>
            <a:off x="4351727" y="2654636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xmlns="" id="{74D74425-EE81-D1F0-F4F9-407A4F7402E0}"/>
              </a:ext>
            </a:extLst>
          </p:cNvPr>
          <p:cNvCxnSpPr/>
          <p:nvPr/>
        </p:nvCxnSpPr>
        <p:spPr>
          <a:xfrm>
            <a:off x="5281161" y="3018759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xmlns="" id="{FC808190-286E-0DC7-98BE-A6E2AC677EB2}"/>
              </a:ext>
            </a:extLst>
          </p:cNvPr>
          <p:cNvSpPr/>
          <p:nvPr/>
        </p:nvSpPr>
        <p:spPr>
          <a:xfrm>
            <a:off x="5361117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xmlns="" id="{DC4C7ABA-73D0-76B8-6E92-643430045458}"/>
              </a:ext>
            </a:extLst>
          </p:cNvPr>
          <p:cNvCxnSpPr/>
          <p:nvPr/>
        </p:nvCxnSpPr>
        <p:spPr>
          <a:xfrm>
            <a:off x="6308667" y="2994945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A6F2D6B5-4CF5-1245-F110-642E1B237506}"/>
              </a:ext>
            </a:extLst>
          </p:cNvPr>
          <p:cNvSpPr/>
          <p:nvPr/>
        </p:nvSpPr>
        <p:spPr>
          <a:xfrm>
            <a:off x="6425264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xmlns="" id="{AEE8A3C8-55BF-5D4F-E5EE-0B3A832DC8EC}"/>
              </a:ext>
            </a:extLst>
          </p:cNvPr>
          <p:cNvSpPr/>
          <p:nvPr/>
        </p:nvSpPr>
        <p:spPr>
          <a:xfrm>
            <a:off x="7421867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xmlns="" id="{583EB221-40DD-51C2-C8D1-0CC4216FA4F3}"/>
              </a:ext>
            </a:extLst>
          </p:cNvPr>
          <p:cNvCxnSpPr/>
          <p:nvPr/>
        </p:nvCxnSpPr>
        <p:spPr>
          <a:xfrm>
            <a:off x="190500" y="3047999"/>
            <a:ext cx="242900" cy="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xmlns="" id="{9CFE46AD-C661-6785-E820-6C2951A32976}"/>
              </a:ext>
            </a:extLst>
          </p:cNvPr>
          <p:cNvSpPr/>
          <p:nvPr/>
        </p:nvSpPr>
        <p:spPr>
          <a:xfrm>
            <a:off x="1524000" y="337065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xmlns="" id="{0FC09AFA-D032-5680-3E52-529F2146D639}"/>
              </a:ext>
            </a:extLst>
          </p:cNvPr>
          <p:cNvSpPr/>
          <p:nvPr/>
        </p:nvSpPr>
        <p:spPr>
          <a:xfrm>
            <a:off x="1583156" y="2369027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xmlns="" id="{0A6E5DBD-E5A1-228F-C591-D9EE911F7249}"/>
              </a:ext>
            </a:extLst>
          </p:cNvPr>
          <p:cNvSpPr/>
          <p:nvPr/>
        </p:nvSpPr>
        <p:spPr>
          <a:xfrm>
            <a:off x="3604306" y="2358623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xmlns="" id="{59311F8E-282F-7E25-1210-EDF46AF95758}"/>
              </a:ext>
            </a:extLst>
          </p:cNvPr>
          <p:cNvSpPr/>
          <p:nvPr/>
        </p:nvSpPr>
        <p:spPr>
          <a:xfrm>
            <a:off x="3616975" y="338375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4" name="Curved Connector 34">
            <a:extLst>
              <a:ext uri="{FF2B5EF4-FFF2-40B4-BE49-F238E27FC236}">
                <a16:creationId xmlns:a16="http://schemas.microsoft.com/office/drawing/2014/main" xmlns="" id="{76C67407-7156-0B7D-BC71-49C74637F9F8}"/>
              </a:ext>
            </a:extLst>
          </p:cNvPr>
          <p:cNvCxnSpPr>
            <a:stCxn id="11" idx="4"/>
            <a:endCxn id="9" idx="4"/>
          </p:cNvCxnSpPr>
          <p:nvPr/>
        </p:nvCxnSpPr>
        <p:spPr>
          <a:xfrm rot="5400000" flipH="1" flipV="1">
            <a:off x="2841332" y="1058044"/>
            <a:ext cx="39222" cy="4397887"/>
          </a:xfrm>
          <a:prstGeom prst="curvedConnector3">
            <a:avLst>
              <a:gd name="adj1" fmla="val -3059900"/>
            </a:avLst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urved Connector 35">
            <a:extLst>
              <a:ext uri="{FF2B5EF4-FFF2-40B4-BE49-F238E27FC236}">
                <a16:creationId xmlns:a16="http://schemas.microsoft.com/office/drawing/2014/main" xmlns="" id="{F4BF1D06-E733-96BA-B8DB-C8BEA8E086AB}"/>
              </a:ext>
            </a:extLst>
          </p:cNvPr>
          <p:cNvCxnSpPr/>
          <p:nvPr/>
        </p:nvCxnSpPr>
        <p:spPr>
          <a:xfrm rot="16200000" flipH="1" flipV="1">
            <a:off x="2766063" y="1540671"/>
            <a:ext cx="36576" cy="2569464"/>
          </a:xfrm>
          <a:prstGeom prst="curvedConnector3">
            <a:avLst>
              <a:gd name="adj1" fmla="val -3059900"/>
            </a:avLst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xmlns="" id="{8CBCBC2E-33DD-42C3-9D70-8EEF49059565}"/>
              </a:ext>
            </a:extLst>
          </p:cNvPr>
          <p:cNvSpPr/>
          <p:nvPr/>
        </p:nvSpPr>
        <p:spPr>
          <a:xfrm>
            <a:off x="2616975" y="129443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xmlns="" id="{CB9820B9-D8DB-56EF-8F84-CCE6A1B66F90}"/>
              </a:ext>
            </a:extLst>
          </p:cNvPr>
          <p:cNvSpPr/>
          <p:nvPr/>
        </p:nvSpPr>
        <p:spPr>
          <a:xfrm>
            <a:off x="3795563" y="4275070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xmlns="" id="{823B3199-0C86-499C-2FDB-5CF10C0DDE7C}"/>
              </a:ext>
            </a:extLst>
          </p:cNvPr>
          <p:cNvCxnSpPr/>
          <p:nvPr/>
        </p:nvCxnSpPr>
        <p:spPr>
          <a:xfrm flipV="1">
            <a:off x="1699939" y="2507106"/>
            <a:ext cx="448475" cy="379249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xmlns="" id="{23558D52-969E-C3F7-8E05-7AA8680FF8AC}"/>
              </a:ext>
            </a:extLst>
          </p:cNvPr>
          <p:cNvCxnSpPr/>
          <p:nvPr/>
        </p:nvCxnSpPr>
        <p:spPr>
          <a:xfrm>
            <a:off x="1699939" y="3209645"/>
            <a:ext cx="433971" cy="32889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xmlns="" id="{7ACA5B6A-DAEA-51A8-CCD4-4DCBAEC2ABCD}"/>
              </a:ext>
            </a:extLst>
          </p:cNvPr>
          <p:cNvCxnSpPr/>
          <p:nvPr/>
        </p:nvCxnSpPr>
        <p:spPr>
          <a:xfrm>
            <a:off x="903700" y="3039382"/>
            <a:ext cx="419092" cy="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xmlns="" id="{D7ECC2E7-BF69-998B-91D6-56A12DC55EE4}"/>
              </a:ext>
            </a:extLst>
          </p:cNvPr>
          <p:cNvCxnSpPr/>
          <p:nvPr/>
        </p:nvCxnSpPr>
        <p:spPr>
          <a:xfrm flipV="1">
            <a:off x="1699940" y="2507106"/>
            <a:ext cx="448475" cy="379249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xmlns="" id="{8B278B92-91C6-659B-5797-040146196FFE}"/>
              </a:ext>
            </a:extLst>
          </p:cNvPr>
          <p:cNvCxnSpPr/>
          <p:nvPr/>
        </p:nvCxnSpPr>
        <p:spPr>
          <a:xfrm>
            <a:off x="1699940" y="3209645"/>
            <a:ext cx="433971" cy="32889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xmlns="" id="{4EB740DE-EC19-7841-8D69-5B5F8301C572}"/>
              </a:ext>
            </a:extLst>
          </p:cNvPr>
          <p:cNvCxnSpPr/>
          <p:nvPr/>
        </p:nvCxnSpPr>
        <p:spPr>
          <a:xfrm>
            <a:off x="903701" y="3039382"/>
            <a:ext cx="419092" cy="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xmlns="" id="{E428FFCC-6511-0F2B-5DD2-EF4051A47B01}"/>
              </a:ext>
            </a:extLst>
          </p:cNvPr>
          <p:cNvSpPr/>
          <p:nvPr/>
        </p:nvSpPr>
        <p:spPr>
          <a:xfrm>
            <a:off x="368004" y="5104591"/>
            <a:ext cx="1490483" cy="4689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>
                <a:solidFill>
                  <a:schemeClr val="tx1"/>
                </a:solidFill>
                <a:latin typeface="+mj-lt"/>
              </a:rPr>
              <a:t>Move(D,a)</a:t>
            </a:r>
            <a:endParaRPr lang="en-US" sz="2200">
              <a:latin typeface="+mj-lt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xmlns="" id="{DDEE6D3E-2368-F31E-CE4D-9935EAFE3ED3}"/>
              </a:ext>
            </a:extLst>
          </p:cNvPr>
          <p:cNvSpPr/>
          <p:nvPr/>
        </p:nvSpPr>
        <p:spPr>
          <a:xfrm>
            <a:off x="1218464" y="5148578"/>
            <a:ext cx="1725988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= {3,8}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xmlns="" id="{0334AA7E-68C6-3B18-A2E8-BAD711C2DF4B}"/>
              </a:ext>
            </a:extLst>
          </p:cNvPr>
          <p:cNvSpPr/>
          <p:nvPr/>
        </p:nvSpPr>
        <p:spPr>
          <a:xfrm>
            <a:off x="374532" y="5534752"/>
            <a:ext cx="2700790" cy="4689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𝜖- Closure(</a:t>
            </a:r>
            <a:r>
              <a:rPr lang="en-US" sz="2200">
                <a:solidFill>
                  <a:schemeClr val="tx1"/>
                </a:solidFill>
                <a:latin typeface="+mj-lt"/>
              </a:rPr>
              <a:t>Move(D,a))</a:t>
            </a:r>
            <a:endParaRPr lang="en-US" sz="2200">
              <a:latin typeface="+mj-lt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xmlns="" id="{0AC6F994-1AFE-B295-8D56-46C034B16C1C}"/>
              </a:ext>
            </a:extLst>
          </p:cNvPr>
          <p:cNvSpPr/>
          <p:nvPr/>
        </p:nvSpPr>
        <p:spPr>
          <a:xfrm>
            <a:off x="2807308" y="5609266"/>
            <a:ext cx="253642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  <a:latin typeface="+mj-lt"/>
              </a:rPr>
              <a:t>= {3, 6, 7, 1, 2, 4, 8}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xmlns="" id="{65B8627D-152E-D69C-476C-6473EBEB4898}"/>
              </a:ext>
            </a:extLst>
          </p:cNvPr>
          <p:cNvSpPr/>
          <p:nvPr/>
        </p:nvSpPr>
        <p:spPr>
          <a:xfrm>
            <a:off x="4800325" y="5965890"/>
            <a:ext cx="87266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+mj-lt"/>
              </a:rPr>
              <a:t>---- B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xmlns="" id="{6AC4961B-B9C3-F715-BB45-8BD490E9B33D}"/>
              </a:ext>
            </a:extLst>
          </p:cNvPr>
          <p:cNvSpPr/>
          <p:nvPr/>
        </p:nvSpPr>
        <p:spPr>
          <a:xfrm>
            <a:off x="6482416" y="4401275"/>
            <a:ext cx="471465" cy="3626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xmlns="" id="{2A460915-5601-7C79-1930-177CA5D8F3CA}"/>
              </a:ext>
            </a:extLst>
          </p:cNvPr>
          <p:cNvSpPr/>
          <p:nvPr/>
        </p:nvSpPr>
        <p:spPr>
          <a:xfrm>
            <a:off x="6482416" y="4401275"/>
            <a:ext cx="414313" cy="3626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xmlns="" id="{84C83F58-1275-0403-4084-7D0F9B67104C}"/>
              </a:ext>
            </a:extLst>
          </p:cNvPr>
          <p:cNvSpPr/>
          <p:nvPr/>
        </p:nvSpPr>
        <p:spPr>
          <a:xfrm>
            <a:off x="2616975" y="5989841"/>
            <a:ext cx="253642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= {1,2,3,4,6,7,8}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xmlns="" id="{F734F52B-B4D0-7B5E-59B8-74CBEF30B597}"/>
              </a:ext>
            </a:extLst>
          </p:cNvPr>
          <p:cNvCxnSpPr/>
          <p:nvPr/>
        </p:nvCxnSpPr>
        <p:spPr>
          <a:xfrm>
            <a:off x="1131938" y="5059144"/>
            <a:ext cx="267829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xmlns="" id="{E90AC257-6662-47D5-F62A-0D992E363C99}"/>
              </a:ext>
            </a:extLst>
          </p:cNvPr>
          <p:cNvCxnSpPr/>
          <p:nvPr/>
        </p:nvCxnSpPr>
        <p:spPr>
          <a:xfrm>
            <a:off x="2202480" y="5059144"/>
            <a:ext cx="267829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xmlns="" id="{605F663F-0D3C-AEDB-09AC-20357CC76271}"/>
              </a:ext>
            </a:extLst>
          </p:cNvPr>
          <p:cNvSpPr/>
          <p:nvPr/>
        </p:nvSpPr>
        <p:spPr>
          <a:xfrm>
            <a:off x="366018" y="4708984"/>
            <a:ext cx="303413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  <a:latin typeface="+mj-lt"/>
              </a:rPr>
              <a:t>D= {1, 2, 4, 5, 6, 7, 9}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xmlns="" id="{016B79F5-8A1B-17A3-B9A0-F4C7377FD4C0}"/>
              </a:ext>
            </a:extLst>
          </p:cNvPr>
          <p:cNvSpPr/>
          <p:nvPr/>
        </p:nvSpPr>
        <p:spPr>
          <a:xfrm>
            <a:off x="7893141" y="277905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10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xmlns="" id="{6A97E7CC-6B89-A71A-A265-976DDCB781BA}"/>
              </a:ext>
            </a:extLst>
          </p:cNvPr>
          <p:cNvSpPr/>
          <p:nvPr/>
        </p:nvSpPr>
        <p:spPr>
          <a:xfrm>
            <a:off x="7938861" y="2828648"/>
            <a:ext cx="365760" cy="36576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xmlns="" id="{B2A52B20-84D0-928F-17A7-E9D4844C21ED}"/>
              </a:ext>
            </a:extLst>
          </p:cNvPr>
          <p:cNvSpPr/>
          <p:nvPr/>
        </p:nvSpPr>
        <p:spPr>
          <a:xfrm>
            <a:off x="6869835" y="279015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9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xmlns="" id="{D3F3124B-0C45-D2AF-A439-016D9F50BBD1}"/>
              </a:ext>
            </a:extLst>
          </p:cNvPr>
          <p:cNvCxnSpPr/>
          <p:nvPr/>
        </p:nvCxnSpPr>
        <p:spPr>
          <a:xfrm>
            <a:off x="7334592" y="3006852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5" name="Table 64">
            <a:extLst>
              <a:ext uri="{FF2B5EF4-FFF2-40B4-BE49-F238E27FC236}">
                <a16:creationId xmlns:a16="http://schemas.microsoft.com/office/drawing/2014/main" xmlns="" id="{AC1E89C2-C84A-CD98-CED2-1B9EB1210B52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724270" y="2030248"/>
          <a:ext cx="3177041" cy="4267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States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n-US" sz="22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b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6" name="Table 65">
            <a:extLst>
              <a:ext uri="{FF2B5EF4-FFF2-40B4-BE49-F238E27FC236}">
                <a16:creationId xmlns:a16="http://schemas.microsoft.com/office/drawing/2014/main" xmlns="" id="{C3FC6F76-EE0B-C430-F05D-0F82F3142DF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724271" y="2453188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A = {0,1,2,4,7}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xmlns="" id="{188EF320-ADAF-D12A-7163-BE544CCC776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724271" y="2818948"/>
          <a:ext cx="3177040" cy="6400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B = {1,2,3,4,6,7,8}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D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xmlns="" id="{3DE04B4D-262A-F611-F62F-A36FBEB44D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3954747"/>
              </p:ext>
            </p:extLst>
          </p:nvPr>
        </p:nvGraphicFramePr>
        <p:xfrm>
          <a:off x="8724271" y="3490911"/>
          <a:ext cx="3177040" cy="379753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79753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C = {1,2,4,5,6,7}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9" name="Table 68">
            <a:extLst>
              <a:ext uri="{FF2B5EF4-FFF2-40B4-BE49-F238E27FC236}">
                <a16:creationId xmlns:a16="http://schemas.microsoft.com/office/drawing/2014/main" xmlns="" id="{B31AC5DC-A682-2312-0BC6-EECBBA2CBA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4799211"/>
              </p:ext>
            </p:extLst>
          </p:nvPr>
        </p:nvGraphicFramePr>
        <p:xfrm>
          <a:off x="8724271" y="3870664"/>
          <a:ext cx="3177040" cy="6400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16104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D = {</a:t>
                      </a:r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1,2,4,5,6,7,9</a:t>
                      </a:r>
                      <a:r>
                        <a:rPr lang="en-US" sz="1800"/>
                        <a:t>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xmlns="" id="{1542C35A-EF9B-FC60-38F9-90C9A378AD0F}"/>
              </a:ext>
            </a:extLst>
          </p:cNvPr>
          <p:cNvCxnSpPr/>
          <p:nvPr/>
        </p:nvCxnSpPr>
        <p:spPr>
          <a:xfrm rot="5400000">
            <a:off x="5770212" y="3683283"/>
            <a:ext cx="5486400" cy="0"/>
          </a:xfrm>
          <a:prstGeom prst="line">
            <a:avLst/>
          </a:prstGeom>
          <a:ln>
            <a:solidFill>
              <a:srgbClr val="0E47A1"/>
            </a:solidFill>
            <a:prstDash val="soli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7702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990000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990000"/>
                                      </p:to>
                                    </p:animClr>
                                    <p:set>
                                      <p:cBhvr>
                                        <p:cTn id="2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5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6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9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9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4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7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2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5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9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46" grpId="0"/>
      <p:bldP spid="48" grpId="0"/>
      <p:bldP spid="5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318FC5-4287-B926-E57D-F91E96B7196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Conversion from NFA to DFA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xmlns="" id="{C1CD9ACC-B1CD-2C92-5A57-96462955509C}"/>
              </a:ext>
            </a:extLst>
          </p:cNvPr>
          <p:cNvSpPr/>
          <p:nvPr/>
        </p:nvSpPr>
        <p:spPr>
          <a:xfrm>
            <a:off x="1309692" y="2819400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1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36B56479-C5B2-80BB-2882-BCE846F4FD6F}"/>
              </a:ext>
            </a:extLst>
          </p:cNvPr>
          <p:cNvSpPr/>
          <p:nvPr/>
        </p:nvSpPr>
        <p:spPr>
          <a:xfrm>
            <a:off x="2081457" y="211686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2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xmlns="" id="{44825897-AC0F-7328-C677-8D3439229A7E}"/>
              </a:ext>
            </a:extLst>
          </p:cNvPr>
          <p:cNvSpPr/>
          <p:nvPr/>
        </p:nvSpPr>
        <p:spPr>
          <a:xfrm>
            <a:off x="3075321" y="3498382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5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64B2AD49-D8AE-2C58-08D0-F5FF7D9CB370}"/>
              </a:ext>
            </a:extLst>
          </p:cNvPr>
          <p:cNvSpPr/>
          <p:nvPr/>
        </p:nvSpPr>
        <p:spPr>
          <a:xfrm>
            <a:off x="3075321" y="2135663"/>
            <a:ext cx="457200" cy="438011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C613070C-B99A-8358-91A2-26FEF2916204}"/>
              </a:ext>
            </a:extLst>
          </p:cNvPr>
          <p:cNvSpPr/>
          <p:nvPr/>
        </p:nvSpPr>
        <p:spPr>
          <a:xfrm>
            <a:off x="2064600" y="349091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xmlns="" id="{C5B343DC-362E-4582-B75F-602C72D76AC1}"/>
              </a:ext>
            </a:extLst>
          </p:cNvPr>
          <p:cNvSpPr/>
          <p:nvPr/>
        </p:nvSpPr>
        <p:spPr>
          <a:xfrm>
            <a:off x="3808798" y="280511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6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xmlns="" id="{3504E2E5-6617-261E-D117-B9174FB5F4C5}"/>
              </a:ext>
            </a:extLst>
          </p:cNvPr>
          <p:cNvSpPr/>
          <p:nvPr/>
        </p:nvSpPr>
        <p:spPr>
          <a:xfrm>
            <a:off x="4831287" y="2780177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7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B4F4C0C1-0770-EAD4-2B54-EB75D28001ED}"/>
              </a:ext>
            </a:extLst>
          </p:cNvPr>
          <p:cNvSpPr/>
          <p:nvPr/>
        </p:nvSpPr>
        <p:spPr>
          <a:xfrm>
            <a:off x="5853776" y="2780177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8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xmlns="" id="{ABD614A0-FC0F-95FD-B2BC-34FF48C19E1F}"/>
              </a:ext>
            </a:extLst>
          </p:cNvPr>
          <p:cNvSpPr/>
          <p:nvPr/>
        </p:nvSpPr>
        <p:spPr>
          <a:xfrm>
            <a:off x="433400" y="281939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0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xmlns="" id="{6330F6D0-4B67-E2FE-19FA-8A7E429626BC}"/>
              </a:ext>
            </a:extLst>
          </p:cNvPr>
          <p:cNvCxnSpPr/>
          <p:nvPr/>
        </p:nvCxnSpPr>
        <p:spPr>
          <a:xfrm>
            <a:off x="903699" y="3039382"/>
            <a:ext cx="419092" cy="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1EABCAEC-BC6D-1C3B-32A5-61FD7C1C43EA}"/>
              </a:ext>
            </a:extLst>
          </p:cNvPr>
          <p:cNvSpPr/>
          <p:nvPr/>
        </p:nvSpPr>
        <p:spPr>
          <a:xfrm>
            <a:off x="921568" y="2667000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xmlns="" id="{421F703A-7456-6877-F762-307B4F2010B6}"/>
              </a:ext>
            </a:extLst>
          </p:cNvPr>
          <p:cNvCxnSpPr/>
          <p:nvPr/>
        </p:nvCxnSpPr>
        <p:spPr>
          <a:xfrm>
            <a:off x="2530319" y="2351552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59C73F03-9DEB-483C-20E8-55E047E57689}"/>
              </a:ext>
            </a:extLst>
          </p:cNvPr>
          <p:cNvSpPr/>
          <p:nvPr/>
        </p:nvSpPr>
        <p:spPr>
          <a:xfrm>
            <a:off x="2616975" y="1934046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xmlns="" id="{4D1D59D6-A484-256D-2757-F54D1100094F}"/>
              </a:ext>
            </a:extLst>
          </p:cNvPr>
          <p:cNvCxnSpPr>
            <a:stCxn id="7" idx="6"/>
            <a:endCxn id="5" idx="2"/>
          </p:cNvCxnSpPr>
          <p:nvPr/>
        </p:nvCxnSpPr>
        <p:spPr>
          <a:xfrm>
            <a:off x="2521800" y="3719511"/>
            <a:ext cx="553521" cy="747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5C8E0D37-3CD6-8AD8-C656-F25B38D3B956}"/>
              </a:ext>
            </a:extLst>
          </p:cNvPr>
          <p:cNvSpPr/>
          <p:nvPr/>
        </p:nvSpPr>
        <p:spPr>
          <a:xfrm>
            <a:off x="2616975" y="373140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xmlns="" id="{FA770BA4-7C93-7D52-EE03-488E419BBCDD}"/>
              </a:ext>
            </a:extLst>
          </p:cNvPr>
          <p:cNvCxnSpPr>
            <a:stCxn id="3" idx="7"/>
            <a:endCxn id="4" idx="3"/>
          </p:cNvCxnSpPr>
          <p:nvPr/>
        </p:nvCxnSpPr>
        <p:spPr>
          <a:xfrm flipV="1">
            <a:off x="1699937" y="2507106"/>
            <a:ext cx="448475" cy="379249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xmlns="" id="{E88134DA-32A2-9E76-60E6-9E9FD45D6228}"/>
              </a:ext>
            </a:extLst>
          </p:cNvPr>
          <p:cNvCxnSpPr>
            <a:stCxn id="3" idx="5"/>
          </p:cNvCxnSpPr>
          <p:nvPr/>
        </p:nvCxnSpPr>
        <p:spPr>
          <a:xfrm>
            <a:off x="1699937" y="3209645"/>
            <a:ext cx="433971" cy="32889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xmlns="" id="{07A74578-3708-BAC9-FA5F-85551F674592}"/>
              </a:ext>
            </a:extLst>
          </p:cNvPr>
          <p:cNvCxnSpPr>
            <a:stCxn id="6" idx="5"/>
            <a:endCxn id="8" idx="1"/>
          </p:cNvCxnSpPr>
          <p:nvPr/>
        </p:nvCxnSpPr>
        <p:spPr>
          <a:xfrm>
            <a:off x="3465566" y="2509529"/>
            <a:ext cx="410187" cy="36253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xmlns="" id="{A2080C75-CC2F-1313-74C1-44D53F2E4C40}"/>
              </a:ext>
            </a:extLst>
          </p:cNvPr>
          <p:cNvCxnSpPr>
            <a:stCxn id="5" idx="7"/>
            <a:endCxn id="8" idx="3"/>
          </p:cNvCxnSpPr>
          <p:nvPr/>
        </p:nvCxnSpPr>
        <p:spPr>
          <a:xfrm flipV="1">
            <a:off x="3465566" y="3195356"/>
            <a:ext cx="410187" cy="369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xmlns="" id="{5CF1DCA2-161E-181B-3C4B-3B1A2CFC6053}"/>
              </a:ext>
            </a:extLst>
          </p:cNvPr>
          <p:cNvCxnSpPr/>
          <p:nvPr/>
        </p:nvCxnSpPr>
        <p:spPr>
          <a:xfrm>
            <a:off x="4271771" y="3008777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6B9D63BA-55D2-F0FE-6C8C-C8EE4D05F60E}"/>
              </a:ext>
            </a:extLst>
          </p:cNvPr>
          <p:cNvSpPr/>
          <p:nvPr/>
        </p:nvSpPr>
        <p:spPr>
          <a:xfrm>
            <a:off x="4351727" y="2654636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xmlns="" id="{5BC878A7-4B9A-9039-404D-064C6E3919F4}"/>
              </a:ext>
            </a:extLst>
          </p:cNvPr>
          <p:cNvCxnSpPr/>
          <p:nvPr/>
        </p:nvCxnSpPr>
        <p:spPr>
          <a:xfrm>
            <a:off x="5281161" y="3018759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xmlns="" id="{9BF5DBA6-EA0A-F9E7-F38C-EBB294B48DE9}"/>
              </a:ext>
            </a:extLst>
          </p:cNvPr>
          <p:cNvSpPr/>
          <p:nvPr/>
        </p:nvSpPr>
        <p:spPr>
          <a:xfrm>
            <a:off x="5361117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xmlns="" id="{95A1FDBB-3247-30C9-A5A1-1B65D513CC25}"/>
              </a:ext>
            </a:extLst>
          </p:cNvPr>
          <p:cNvCxnSpPr/>
          <p:nvPr/>
        </p:nvCxnSpPr>
        <p:spPr>
          <a:xfrm>
            <a:off x="6308667" y="2994945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42F340AF-7D8E-9BDB-BCE4-1CA9D2B188F5}"/>
              </a:ext>
            </a:extLst>
          </p:cNvPr>
          <p:cNvSpPr/>
          <p:nvPr/>
        </p:nvSpPr>
        <p:spPr>
          <a:xfrm>
            <a:off x="6425264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xmlns="" id="{69B20F7A-EB50-4A8B-193C-67E3E235B811}"/>
              </a:ext>
            </a:extLst>
          </p:cNvPr>
          <p:cNvSpPr/>
          <p:nvPr/>
        </p:nvSpPr>
        <p:spPr>
          <a:xfrm>
            <a:off x="7421867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xmlns="" id="{A4FFEBF2-4336-3ADD-A961-85D396B77DA8}"/>
              </a:ext>
            </a:extLst>
          </p:cNvPr>
          <p:cNvCxnSpPr/>
          <p:nvPr/>
        </p:nvCxnSpPr>
        <p:spPr>
          <a:xfrm>
            <a:off x="190500" y="3047999"/>
            <a:ext cx="242900" cy="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xmlns="" id="{C3226E49-FDB5-437E-5FE0-F39BEB9BE869}"/>
              </a:ext>
            </a:extLst>
          </p:cNvPr>
          <p:cNvSpPr/>
          <p:nvPr/>
        </p:nvSpPr>
        <p:spPr>
          <a:xfrm>
            <a:off x="1524000" y="337065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xmlns="" id="{F6F44388-0789-8E2B-CCCE-264604B0DBA5}"/>
              </a:ext>
            </a:extLst>
          </p:cNvPr>
          <p:cNvSpPr/>
          <p:nvPr/>
        </p:nvSpPr>
        <p:spPr>
          <a:xfrm>
            <a:off x="1583156" y="2369027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xmlns="" id="{6FF329A4-FBFE-1991-7B82-391662D40FF3}"/>
              </a:ext>
            </a:extLst>
          </p:cNvPr>
          <p:cNvSpPr/>
          <p:nvPr/>
        </p:nvSpPr>
        <p:spPr>
          <a:xfrm>
            <a:off x="3604306" y="2358623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xmlns="" id="{8F200AA7-4334-71A0-F33B-2187C6631941}"/>
              </a:ext>
            </a:extLst>
          </p:cNvPr>
          <p:cNvSpPr/>
          <p:nvPr/>
        </p:nvSpPr>
        <p:spPr>
          <a:xfrm>
            <a:off x="3616975" y="338375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4" name="Curved Connector 34">
            <a:extLst>
              <a:ext uri="{FF2B5EF4-FFF2-40B4-BE49-F238E27FC236}">
                <a16:creationId xmlns:a16="http://schemas.microsoft.com/office/drawing/2014/main" xmlns="" id="{80575E6A-AE29-853B-96B2-53294E234BD3}"/>
              </a:ext>
            </a:extLst>
          </p:cNvPr>
          <p:cNvCxnSpPr>
            <a:stCxn id="11" idx="4"/>
            <a:endCxn id="9" idx="4"/>
          </p:cNvCxnSpPr>
          <p:nvPr/>
        </p:nvCxnSpPr>
        <p:spPr>
          <a:xfrm rot="5400000" flipH="1" flipV="1">
            <a:off x="2841332" y="1058044"/>
            <a:ext cx="39222" cy="4397887"/>
          </a:xfrm>
          <a:prstGeom prst="curvedConnector3">
            <a:avLst>
              <a:gd name="adj1" fmla="val -3059900"/>
            </a:avLst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urved Connector 35">
            <a:extLst>
              <a:ext uri="{FF2B5EF4-FFF2-40B4-BE49-F238E27FC236}">
                <a16:creationId xmlns:a16="http://schemas.microsoft.com/office/drawing/2014/main" xmlns="" id="{F8F7BF5B-DE79-0B3C-4F73-0466ACCE05FC}"/>
              </a:ext>
            </a:extLst>
          </p:cNvPr>
          <p:cNvCxnSpPr/>
          <p:nvPr/>
        </p:nvCxnSpPr>
        <p:spPr>
          <a:xfrm rot="16200000" flipH="1" flipV="1">
            <a:off x="2766063" y="1540671"/>
            <a:ext cx="36576" cy="2569464"/>
          </a:xfrm>
          <a:prstGeom prst="curvedConnector3">
            <a:avLst>
              <a:gd name="adj1" fmla="val -3059900"/>
            </a:avLst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xmlns="" id="{7521B546-F3BD-5EBE-FF3A-D8A7EF5500AA}"/>
              </a:ext>
            </a:extLst>
          </p:cNvPr>
          <p:cNvSpPr/>
          <p:nvPr/>
        </p:nvSpPr>
        <p:spPr>
          <a:xfrm>
            <a:off x="2616975" y="129443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xmlns="" id="{725B838A-CB36-67DD-59C2-38C2D7B1FE6E}"/>
              </a:ext>
            </a:extLst>
          </p:cNvPr>
          <p:cNvSpPr/>
          <p:nvPr/>
        </p:nvSpPr>
        <p:spPr>
          <a:xfrm>
            <a:off x="3795563" y="4275070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xmlns="" id="{64D7B598-925F-984B-D1AA-9B77C2855591}"/>
              </a:ext>
            </a:extLst>
          </p:cNvPr>
          <p:cNvCxnSpPr/>
          <p:nvPr/>
        </p:nvCxnSpPr>
        <p:spPr>
          <a:xfrm flipV="1">
            <a:off x="1699939" y="2507106"/>
            <a:ext cx="448475" cy="379249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xmlns="" id="{59BFBE7D-FDEC-C845-A1BF-8177B37EF3B5}"/>
              </a:ext>
            </a:extLst>
          </p:cNvPr>
          <p:cNvCxnSpPr/>
          <p:nvPr/>
        </p:nvCxnSpPr>
        <p:spPr>
          <a:xfrm>
            <a:off x="1699939" y="3209645"/>
            <a:ext cx="433971" cy="32889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xmlns="" id="{520BE659-0A70-4BCE-E7C3-B1659E5E65CE}"/>
              </a:ext>
            </a:extLst>
          </p:cNvPr>
          <p:cNvCxnSpPr/>
          <p:nvPr/>
        </p:nvCxnSpPr>
        <p:spPr>
          <a:xfrm>
            <a:off x="903700" y="3039382"/>
            <a:ext cx="419092" cy="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xmlns="" id="{EAA3D4EB-947B-90DA-904C-0C41B4CBAE84}"/>
              </a:ext>
            </a:extLst>
          </p:cNvPr>
          <p:cNvCxnSpPr/>
          <p:nvPr/>
        </p:nvCxnSpPr>
        <p:spPr>
          <a:xfrm flipV="1">
            <a:off x="1699940" y="2507106"/>
            <a:ext cx="448475" cy="379249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xmlns="" id="{5047ED88-12E1-E799-4747-BB4A904CEFE2}"/>
              </a:ext>
            </a:extLst>
          </p:cNvPr>
          <p:cNvCxnSpPr/>
          <p:nvPr/>
        </p:nvCxnSpPr>
        <p:spPr>
          <a:xfrm>
            <a:off x="1699940" y="3209645"/>
            <a:ext cx="433971" cy="32889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xmlns="" id="{0D1F1FD4-7A0F-7B38-F3AA-CF74B8F6CCCE}"/>
              </a:ext>
            </a:extLst>
          </p:cNvPr>
          <p:cNvCxnSpPr/>
          <p:nvPr/>
        </p:nvCxnSpPr>
        <p:spPr>
          <a:xfrm>
            <a:off x="903701" y="3039382"/>
            <a:ext cx="419092" cy="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xmlns="" id="{378944D3-73D1-687B-C973-7F5AD392EF35}"/>
              </a:ext>
            </a:extLst>
          </p:cNvPr>
          <p:cNvSpPr/>
          <p:nvPr/>
        </p:nvSpPr>
        <p:spPr>
          <a:xfrm>
            <a:off x="314216" y="5104591"/>
            <a:ext cx="1490483" cy="4689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>
                <a:solidFill>
                  <a:schemeClr val="tx1"/>
                </a:solidFill>
                <a:latin typeface="+mj-lt"/>
              </a:rPr>
              <a:t>Move(D,b)</a:t>
            </a:r>
            <a:endParaRPr lang="en-US" sz="2200">
              <a:latin typeface="+mj-lt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xmlns="" id="{E639E5ED-1911-65E6-8B65-11716AC19560}"/>
              </a:ext>
            </a:extLst>
          </p:cNvPr>
          <p:cNvSpPr/>
          <p:nvPr/>
        </p:nvSpPr>
        <p:spPr>
          <a:xfrm>
            <a:off x="1164676" y="5148578"/>
            <a:ext cx="1725988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= {5,10}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xmlns="" id="{36E36F85-EC75-4ECD-D0EF-FE8B582983FD}"/>
              </a:ext>
            </a:extLst>
          </p:cNvPr>
          <p:cNvSpPr/>
          <p:nvPr/>
        </p:nvSpPr>
        <p:spPr>
          <a:xfrm>
            <a:off x="308032" y="5534752"/>
            <a:ext cx="2700790" cy="4689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𝜖- Closure(</a:t>
            </a:r>
            <a:r>
              <a:rPr lang="en-US" sz="2200">
                <a:solidFill>
                  <a:schemeClr val="tx1"/>
                </a:solidFill>
                <a:latin typeface="+mj-lt"/>
              </a:rPr>
              <a:t>Move(D,b))</a:t>
            </a:r>
            <a:endParaRPr lang="en-US" sz="2200">
              <a:latin typeface="+mj-lt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xmlns="" id="{18A92DD1-4F70-C892-0C5B-D018BCE78DD0}"/>
              </a:ext>
            </a:extLst>
          </p:cNvPr>
          <p:cNvSpPr/>
          <p:nvPr/>
        </p:nvSpPr>
        <p:spPr>
          <a:xfrm>
            <a:off x="2824691" y="5594553"/>
            <a:ext cx="253642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= {5, 6, 7, 1, 2, 4, 10}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xmlns="" id="{1AF97C26-8562-3433-74FF-E76F571C04E5}"/>
              </a:ext>
            </a:extLst>
          </p:cNvPr>
          <p:cNvSpPr/>
          <p:nvPr/>
        </p:nvSpPr>
        <p:spPr>
          <a:xfrm>
            <a:off x="4800325" y="5965890"/>
            <a:ext cx="87266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+mj-lt"/>
              </a:rPr>
              <a:t>---- 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xmlns="" id="{4314E8A9-6D2E-9EE5-E2C0-722EDB79A799}"/>
              </a:ext>
            </a:extLst>
          </p:cNvPr>
          <p:cNvSpPr/>
          <p:nvPr/>
        </p:nvSpPr>
        <p:spPr>
          <a:xfrm>
            <a:off x="6482416" y="4401275"/>
            <a:ext cx="471465" cy="3626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xmlns="" id="{66B9449A-09A2-1BA5-AFFC-6234A83F3356}"/>
              </a:ext>
            </a:extLst>
          </p:cNvPr>
          <p:cNvSpPr/>
          <p:nvPr/>
        </p:nvSpPr>
        <p:spPr>
          <a:xfrm>
            <a:off x="6482416" y="4401275"/>
            <a:ext cx="414313" cy="3626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xmlns="" id="{58682E13-2556-3566-F5C7-7A5D14EB6480}"/>
              </a:ext>
            </a:extLst>
          </p:cNvPr>
          <p:cNvSpPr/>
          <p:nvPr/>
        </p:nvSpPr>
        <p:spPr>
          <a:xfrm>
            <a:off x="2616975" y="5989841"/>
            <a:ext cx="253642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</a:rPr>
              <a:t>= {1,2,4,5,6,7,10}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xmlns="" id="{D1D12B43-666E-3E42-EB6B-21668A837462}"/>
              </a:ext>
            </a:extLst>
          </p:cNvPr>
          <p:cNvCxnSpPr/>
          <p:nvPr/>
        </p:nvCxnSpPr>
        <p:spPr>
          <a:xfrm flipH="1">
            <a:off x="1398440" y="5067602"/>
            <a:ext cx="22935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xmlns="" id="{EF9A76CC-64C5-C890-A174-0F9984FE16C3}"/>
              </a:ext>
            </a:extLst>
          </p:cNvPr>
          <p:cNvCxnSpPr/>
          <p:nvPr/>
        </p:nvCxnSpPr>
        <p:spPr>
          <a:xfrm>
            <a:off x="2476180" y="5066564"/>
            <a:ext cx="267829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xmlns="" id="{04BD47EB-26E8-BDAE-9BE9-71F72FFD0097}"/>
              </a:ext>
            </a:extLst>
          </p:cNvPr>
          <p:cNvSpPr/>
          <p:nvPr/>
        </p:nvSpPr>
        <p:spPr>
          <a:xfrm>
            <a:off x="320744" y="4699011"/>
            <a:ext cx="2568214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chemeClr val="tx1"/>
                </a:solidFill>
                <a:latin typeface="+mj-lt"/>
              </a:rPr>
              <a:t>D= {1, 2, 4, 5, 6, 7, 9}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xmlns="" id="{9E2A1DBD-91BD-B2CA-B7F1-98216F7EF35E}"/>
              </a:ext>
            </a:extLst>
          </p:cNvPr>
          <p:cNvSpPr/>
          <p:nvPr/>
        </p:nvSpPr>
        <p:spPr>
          <a:xfrm>
            <a:off x="7893141" y="277905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10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xmlns="" id="{90D4411A-F742-B2B3-B663-0ACB0890658E}"/>
              </a:ext>
            </a:extLst>
          </p:cNvPr>
          <p:cNvSpPr/>
          <p:nvPr/>
        </p:nvSpPr>
        <p:spPr>
          <a:xfrm>
            <a:off x="7938861" y="2828648"/>
            <a:ext cx="365760" cy="36576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xmlns="" id="{515F3F2F-FE89-3A27-0EB7-1338D53B048F}"/>
              </a:ext>
            </a:extLst>
          </p:cNvPr>
          <p:cNvSpPr/>
          <p:nvPr/>
        </p:nvSpPr>
        <p:spPr>
          <a:xfrm>
            <a:off x="6869835" y="279015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9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xmlns="" id="{9097DD77-E8F3-F028-5D43-637DEC93EB35}"/>
              </a:ext>
            </a:extLst>
          </p:cNvPr>
          <p:cNvCxnSpPr/>
          <p:nvPr/>
        </p:nvCxnSpPr>
        <p:spPr>
          <a:xfrm>
            <a:off x="7334592" y="3006852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5" name="Table 64">
            <a:extLst>
              <a:ext uri="{FF2B5EF4-FFF2-40B4-BE49-F238E27FC236}">
                <a16:creationId xmlns:a16="http://schemas.microsoft.com/office/drawing/2014/main" xmlns="" id="{01EAB4D6-D829-594C-C93B-3982E240A52D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724270" y="2030248"/>
          <a:ext cx="3177041" cy="4267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States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n-US" sz="22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b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6" name="Table 65">
            <a:extLst>
              <a:ext uri="{FF2B5EF4-FFF2-40B4-BE49-F238E27FC236}">
                <a16:creationId xmlns:a16="http://schemas.microsoft.com/office/drawing/2014/main" xmlns="" id="{62517AA8-0DE5-4E84-7C26-2079996019C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724271" y="2453188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A = {0,1,2,4,7}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xmlns="" id="{E6E29998-F2E5-59B7-BA55-DB2FEE075CF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724271" y="2818948"/>
          <a:ext cx="3177040" cy="6400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B = {1,2,3,4,6,7,8}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D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xmlns="" id="{DA757510-CCEE-BAF4-071E-B737BB313A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1301801"/>
              </p:ext>
            </p:extLst>
          </p:nvPr>
        </p:nvGraphicFramePr>
        <p:xfrm>
          <a:off x="8759782" y="3489358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C = {1,2,4,5,6,7}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9" name="Table 68">
            <a:extLst>
              <a:ext uri="{FF2B5EF4-FFF2-40B4-BE49-F238E27FC236}">
                <a16:creationId xmlns:a16="http://schemas.microsoft.com/office/drawing/2014/main" xmlns="" id="{9389298B-F9F8-714D-3085-3543E65126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9481583"/>
              </p:ext>
            </p:extLst>
          </p:nvPr>
        </p:nvGraphicFramePr>
        <p:xfrm>
          <a:off x="8759781" y="3866284"/>
          <a:ext cx="3177040" cy="6400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D = {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1,2,4,5,6,7,9</a:t>
                      </a:r>
                      <a:r>
                        <a:rPr lang="en-US" sz="1800" dirty="0"/>
                        <a:t>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70" name="Table 69">
            <a:extLst>
              <a:ext uri="{FF2B5EF4-FFF2-40B4-BE49-F238E27FC236}">
                <a16:creationId xmlns:a16="http://schemas.microsoft.com/office/drawing/2014/main" xmlns="" id="{8FAF0E89-E293-CF20-2B08-7D424E70C3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5168463"/>
              </p:ext>
            </p:extLst>
          </p:nvPr>
        </p:nvGraphicFramePr>
        <p:xfrm>
          <a:off x="8759781" y="4538978"/>
          <a:ext cx="3177040" cy="6096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700" b="1" dirty="0"/>
                        <a:t>E = {</a:t>
                      </a:r>
                      <a:r>
                        <a:rPr lang="en-US" sz="17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1,2,4,5,6,7,10</a:t>
                      </a:r>
                      <a:r>
                        <a:rPr lang="en-US" sz="1700" b="1" dirty="0"/>
                        <a:t>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xmlns="" id="{86C5F764-8BD4-65B6-8840-3CC75ECB6DD4}"/>
              </a:ext>
            </a:extLst>
          </p:cNvPr>
          <p:cNvCxnSpPr/>
          <p:nvPr/>
        </p:nvCxnSpPr>
        <p:spPr>
          <a:xfrm rot="5400000">
            <a:off x="5770212" y="3683283"/>
            <a:ext cx="5486400" cy="0"/>
          </a:xfrm>
          <a:prstGeom prst="line">
            <a:avLst/>
          </a:prstGeom>
          <a:ln>
            <a:solidFill>
              <a:srgbClr val="0E47A1"/>
            </a:solidFill>
            <a:prstDash val="soli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9458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6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2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9" dur="2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2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9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2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1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7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0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5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95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6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46" grpId="0"/>
      <p:bldP spid="48" grpId="0"/>
      <p:bldP spid="5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09484A8-0CCB-36BC-F879-AC2051AC3EF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Conversion from NFA to DFA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xmlns="" id="{40B2D0F9-964E-4A91-1128-B8ED086C7EF6}"/>
              </a:ext>
            </a:extLst>
          </p:cNvPr>
          <p:cNvSpPr/>
          <p:nvPr/>
        </p:nvSpPr>
        <p:spPr>
          <a:xfrm>
            <a:off x="1309692" y="2819400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1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8D34166C-2040-DD57-26BC-65D112D3D1A8}"/>
              </a:ext>
            </a:extLst>
          </p:cNvPr>
          <p:cNvSpPr/>
          <p:nvPr/>
        </p:nvSpPr>
        <p:spPr>
          <a:xfrm>
            <a:off x="2081457" y="211686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2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xmlns="" id="{07B29E2B-E75C-CDD8-61D2-02F06C3BA366}"/>
              </a:ext>
            </a:extLst>
          </p:cNvPr>
          <p:cNvSpPr/>
          <p:nvPr/>
        </p:nvSpPr>
        <p:spPr>
          <a:xfrm>
            <a:off x="3075321" y="3491958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5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966B4757-5435-C4F4-4014-D2DCFF500B26}"/>
              </a:ext>
            </a:extLst>
          </p:cNvPr>
          <p:cNvSpPr/>
          <p:nvPr/>
        </p:nvSpPr>
        <p:spPr>
          <a:xfrm>
            <a:off x="3075321" y="2135663"/>
            <a:ext cx="457200" cy="438011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E7E4CE4A-772C-825C-7F1C-A8DC5383E6DE}"/>
              </a:ext>
            </a:extLst>
          </p:cNvPr>
          <p:cNvSpPr/>
          <p:nvPr/>
        </p:nvSpPr>
        <p:spPr>
          <a:xfrm>
            <a:off x="2064600" y="349091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xmlns="" id="{68A812C6-BF1C-8AC8-327D-F88C9443627D}"/>
              </a:ext>
            </a:extLst>
          </p:cNvPr>
          <p:cNvSpPr/>
          <p:nvPr/>
        </p:nvSpPr>
        <p:spPr>
          <a:xfrm>
            <a:off x="3808798" y="280511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6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xmlns="" id="{69E5257F-3670-B3C9-8274-CD9C215554F9}"/>
              </a:ext>
            </a:extLst>
          </p:cNvPr>
          <p:cNvSpPr/>
          <p:nvPr/>
        </p:nvSpPr>
        <p:spPr>
          <a:xfrm>
            <a:off x="4831287" y="2780177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7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A4731103-A3D2-BE79-A5F8-B52E394153FE}"/>
              </a:ext>
            </a:extLst>
          </p:cNvPr>
          <p:cNvSpPr/>
          <p:nvPr/>
        </p:nvSpPr>
        <p:spPr>
          <a:xfrm>
            <a:off x="5853776" y="2780177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8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xmlns="" id="{A2C20BEB-350B-9D72-BDDA-A239F5562D81}"/>
              </a:ext>
            </a:extLst>
          </p:cNvPr>
          <p:cNvSpPr/>
          <p:nvPr/>
        </p:nvSpPr>
        <p:spPr>
          <a:xfrm>
            <a:off x="433400" y="281939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0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xmlns="" id="{4DE5FF13-DA63-ED5D-5261-E200ECF9B7FF}"/>
              </a:ext>
            </a:extLst>
          </p:cNvPr>
          <p:cNvCxnSpPr/>
          <p:nvPr/>
        </p:nvCxnSpPr>
        <p:spPr>
          <a:xfrm>
            <a:off x="903699" y="3039382"/>
            <a:ext cx="419092" cy="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E5AF7888-B7C4-32ED-EC9B-DD477D5792FE}"/>
              </a:ext>
            </a:extLst>
          </p:cNvPr>
          <p:cNvSpPr/>
          <p:nvPr/>
        </p:nvSpPr>
        <p:spPr>
          <a:xfrm>
            <a:off x="921568" y="2667000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xmlns="" id="{12A1B454-944E-52BA-EBC0-9DB68CEC46BF}"/>
              </a:ext>
            </a:extLst>
          </p:cNvPr>
          <p:cNvCxnSpPr/>
          <p:nvPr/>
        </p:nvCxnSpPr>
        <p:spPr>
          <a:xfrm>
            <a:off x="2530319" y="2351552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335DF499-2CA6-CD99-B3B5-3B941E26EB81}"/>
              </a:ext>
            </a:extLst>
          </p:cNvPr>
          <p:cNvSpPr/>
          <p:nvPr/>
        </p:nvSpPr>
        <p:spPr>
          <a:xfrm>
            <a:off x="2616975" y="1934046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xmlns="" id="{CDA82D90-13A4-F1F6-E51B-3CE7C8E8C52F}"/>
              </a:ext>
            </a:extLst>
          </p:cNvPr>
          <p:cNvCxnSpPr>
            <a:stCxn id="7" idx="6"/>
            <a:endCxn id="5" idx="2"/>
          </p:cNvCxnSpPr>
          <p:nvPr/>
        </p:nvCxnSpPr>
        <p:spPr>
          <a:xfrm>
            <a:off x="2521800" y="3719511"/>
            <a:ext cx="553521" cy="104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04B618F0-AB1D-92EB-4EE1-7F871499F9B6}"/>
              </a:ext>
            </a:extLst>
          </p:cNvPr>
          <p:cNvSpPr/>
          <p:nvPr/>
        </p:nvSpPr>
        <p:spPr>
          <a:xfrm>
            <a:off x="2616975" y="373140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xmlns="" id="{69B8FD17-CB9F-96BF-A159-C72A984D5788}"/>
              </a:ext>
            </a:extLst>
          </p:cNvPr>
          <p:cNvCxnSpPr>
            <a:stCxn id="3" idx="7"/>
            <a:endCxn id="4" idx="3"/>
          </p:cNvCxnSpPr>
          <p:nvPr/>
        </p:nvCxnSpPr>
        <p:spPr>
          <a:xfrm flipV="1">
            <a:off x="1699937" y="2507106"/>
            <a:ext cx="448475" cy="379249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xmlns="" id="{DE191330-BF35-167F-4A23-C4987FEEF4B9}"/>
              </a:ext>
            </a:extLst>
          </p:cNvPr>
          <p:cNvCxnSpPr>
            <a:stCxn id="3" idx="5"/>
          </p:cNvCxnSpPr>
          <p:nvPr/>
        </p:nvCxnSpPr>
        <p:spPr>
          <a:xfrm>
            <a:off x="1699937" y="3209645"/>
            <a:ext cx="433971" cy="32889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xmlns="" id="{191094CB-3E79-A9D1-05DC-D22916491629}"/>
              </a:ext>
            </a:extLst>
          </p:cNvPr>
          <p:cNvCxnSpPr>
            <a:stCxn id="6" idx="5"/>
            <a:endCxn id="8" idx="1"/>
          </p:cNvCxnSpPr>
          <p:nvPr/>
        </p:nvCxnSpPr>
        <p:spPr>
          <a:xfrm>
            <a:off x="3465566" y="2509529"/>
            <a:ext cx="410187" cy="36253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xmlns="" id="{AD3E217F-536B-C98E-9AFE-309808FFB5CD}"/>
              </a:ext>
            </a:extLst>
          </p:cNvPr>
          <p:cNvCxnSpPr>
            <a:stCxn id="5" idx="7"/>
            <a:endCxn id="8" idx="3"/>
          </p:cNvCxnSpPr>
          <p:nvPr/>
        </p:nvCxnSpPr>
        <p:spPr>
          <a:xfrm flipV="1">
            <a:off x="3465566" y="3195356"/>
            <a:ext cx="410187" cy="36355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xmlns="" id="{37D0FC8F-AD90-FC2B-BA62-8E2485DC3810}"/>
              </a:ext>
            </a:extLst>
          </p:cNvPr>
          <p:cNvCxnSpPr/>
          <p:nvPr/>
        </p:nvCxnSpPr>
        <p:spPr>
          <a:xfrm>
            <a:off x="4271771" y="3008777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C8554FDF-9619-9F13-EE08-2E016E7124C2}"/>
              </a:ext>
            </a:extLst>
          </p:cNvPr>
          <p:cNvSpPr/>
          <p:nvPr/>
        </p:nvSpPr>
        <p:spPr>
          <a:xfrm>
            <a:off x="4351727" y="2654636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xmlns="" id="{7BDA82AA-F1F3-C193-BD57-46411D2CFE91}"/>
              </a:ext>
            </a:extLst>
          </p:cNvPr>
          <p:cNvCxnSpPr/>
          <p:nvPr/>
        </p:nvCxnSpPr>
        <p:spPr>
          <a:xfrm>
            <a:off x="5281161" y="3018759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xmlns="" id="{5317B657-94CA-A7E3-02C9-976C757DB746}"/>
              </a:ext>
            </a:extLst>
          </p:cNvPr>
          <p:cNvSpPr/>
          <p:nvPr/>
        </p:nvSpPr>
        <p:spPr>
          <a:xfrm>
            <a:off x="5361117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xmlns="" id="{2122A7A7-2195-545B-DB1D-CE67C4E1A9BE}"/>
              </a:ext>
            </a:extLst>
          </p:cNvPr>
          <p:cNvCxnSpPr/>
          <p:nvPr/>
        </p:nvCxnSpPr>
        <p:spPr>
          <a:xfrm>
            <a:off x="6308667" y="2994945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218D8A53-CD5B-4A57-1031-87213B36BB13}"/>
              </a:ext>
            </a:extLst>
          </p:cNvPr>
          <p:cNvSpPr/>
          <p:nvPr/>
        </p:nvSpPr>
        <p:spPr>
          <a:xfrm>
            <a:off x="6425264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xmlns="" id="{80166BCF-8B97-D5FD-2D7F-C001E826FF73}"/>
              </a:ext>
            </a:extLst>
          </p:cNvPr>
          <p:cNvSpPr/>
          <p:nvPr/>
        </p:nvSpPr>
        <p:spPr>
          <a:xfrm>
            <a:off x="7421867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xmlns="" id="{BBDCB285-1BDF-5B96-A455-B591BE8262D3}"/>
              </a:ext>
            </a:extLst>
          </p:cNvPr>
          <p:cNvCxnSpPr/>
          <p:nvPr/>
        </p:nvCxnSpPr>
        <p:spPr>
          <a:xfrm>
            <a:off x="190500" y="3047999"/>
            <a:ext cx="242900" cy="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xmlns="" id="{70170411-D4CC-1173-2B0F-2363FA25DF97}"/>
              </a:ext>
            </a:extLst>
          </p:cNvPr>
          <p:cNvSpPr/>
          <p:nvPr/>
        </p:nvSpPr>
        <p:spPr>
          <a:xfrm>
            <a:off x="1524000" y="337065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xmlns="" id="{01259B62-A130-B60D-D2F5-7004A08F78BA}"/>
              </a:ext>
            </a:extLst>
          </p:cNvPr>
          <p:cNvSpPr/>
          <p:nvPr/>
        </p:nvSpPr>
        <p:spPr>
          <a:xfrm>
            <a:off x="1583156" y="2369027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xmlns="" id="{844F7CAA-E13B-B9D7-68E6-5B9CF35D9E97}"/>
              </a:ext>
            </a:extLst>
          </p:cNvPr>
          <p:cNvSpPr/>
          <p:nvPr/>
        </p:nvSpPr>
        <p:spPr>
          <a:xfrm>
            <a:off x="3604306" y="2358623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xmlns="" id="{DE57FE49-72D1-7AAB-011A-9BFA7FEA5E59}"/>
              </a:ext>
            </a:extLst>
          </p:cNvPr>
          <p:cNvSpPr/>
          <p:nvPr/>
        </p:nvSpPr>
        <p:spPr>
          <a:xfrm>
            <a:off x="3616975" y="338375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4" name="Curved Connector 34">
            <a:extLst>
              <a:ext uri="{FF2B5EF4-FFF2-40B4-BE49-F238E27FC236}">
                <a16:creationId xmlns:a16="http://schemas.microsoft.com/office/drawing/2014/main" xmlns="" id="{3C961D4C-8C7D-F16D-1FAC-A0091DC73E69}"/>
              </a:ext>
            </a:extLst>
          </p:cNvPr>
          <p:cNvCxnSpPr>
            <a:stCxn id="11" idx="4"/>
            <a:endCxn id="9" idx="4"/>
          </p:cNvCxnSpPr>
          <p:nvPr/>
        </p:nvCxnSpPr>
        <p:spPr>
          <a:xfrm rot="5400000" flipH="1" flipV="1">
            <a:off x="2841332" y="1058044"/>
            <a:ext cx="39222" cy="4397887"/>
          </a:xfrm>
          <a:prstGeom prst="curvedConnector3">
            <a:avLst>
              <a:gd name="adj1" fmla="val -3059900"/>
            </a:avLst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urved Connector 35">
            <a:extLst>
              <a:ext uri="{FF2B5EF4-FFF2-40B4-BE49-F238E27FC236}">
                <a16:creationId xmlns:a16="http://schemas.microsoft.com/office/drawing/2014/main" xmlns="" id="{47BD1CDE-372B-518C-E13C-B45BA6EE4BB2}"/>
              </a:ext>
            </a:extLst>
          </p:cNvPr>
          <p:cNvCxnSpPr/>
          <p:nvPr/>
        </p:nvCxnSpPr>
        <p:spPr>
          <a:xfrm rot="16200000" flipH="1" flipV="1">
            <a:off x="2766063" y="1540671"/>
            <a:ext cx="36576" cy="2569464"/>
          </a:xfrm>
          <a:prstGeom prst="curvedConnector3">
            <a:avLst>
              <a:gd name="adj1" fmla="val -3059900"/>
            </a:avLst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xmlns="" id="{D132D042-4C93-0737-83A2-B3C94B424164}"/>
              </a:ext>
            </a:extLst>
          </p:cNvPr>
          <p:cNvSpPr/>
          <p:nvPr/>
        </p:nvSpPr>
        <p:spPr>
          <a:xfrm>
            <a:off x="2616975" y="129443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xmlns="" id="{9F995EE7-7FD1-3FEF-1676-3DC72F37F30F}"/>
              </a:ext>
            </a:extLst>
          </p:cNvPr>
          <p:cNvSpPr/>
          <p:nvPr/>
        </p:nvSpPr>
        <p:spPr>
          <a:xfrm>
            <a:off x="3795563" y="4275070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xmlns="" id="{A42E0A41-FFD8-CB04-5171-32213327E8D3}"/>
              </a:ext>
            </a:extLst>
          </p:cNvPr>
          <p:cNvCxnSpPr/>
          <p:nvPr/>
        </p:nvCxnSpPr>
        <p:spPr>
          <a:xfrm flipV="1">
            <a:off x="1699939" y="2507106"/>
            <a:ext cx="448475" cy="379249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xmlns="" id="{6237141B-4C25-F800-7FD8-FABC0A37433B}"/>
              </a:ext>
            </a:extLst>
          </p:cNvPr>
          <p:cNvCxnSpPr/>
          <p:nvPr/>
        </p:nvCxnSpPr>
        <p:spPr>
          <a:xfrm>
            <a:off x="1699939" y="3209645"/>
            <a:ext cx="433971" cy="32889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xmlns="" id="{EBB5BFAE-84F9-37C6-CEE9-300B5EEA1F65}"/>
              </a:ext>
            </a:extLst>
          </p:cNvPr>
          <p:cNvCxnSpPr/>
          <p:nvPr/>
        </p:nvCxnSpPr>
        <p:spPr>
          <a:xfrm>
            <a:off x="903700" y="3039382"/>
            <a:ext cx="419092" cy="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xmlns="" id="{35BF647B-A8E3-EC70-E960-0401284A3400}"/>
              </a:ext>
            </a:extLst>
          </p:cNvPr>
          <p:cNvCxnSpPr/>
          <p:nvPr/>
        </p:nvCxnSpPr>
        <p:spPr>
          <a:xfrm flipV="1">
            <a:off x="1699940" y="2507106"/>
            <a:ext cx="448475" cy="379249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xmlns="" id="{36C74AA2-499F-E2A4-74D5-120F35945A71}"/>
              </a:ext>
            </a:extLst>
          </p:cNvPr>
          <p:cNvCxnSpPr/>
          <p:nvPr/>
        </p:nvCxnSpPr>
        <p:spPr>
          <a:xfrm>
            <a:off x="1699940" y="3209645"/>
            <a:ext cx="433971" cy="32889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xmlns="" id="{5868F0F9-FC68-FECA-186F-CD3AF9262993}"/>
              </a:ext>
            </a:extLst>
          </p:cNvPr>
          <p:cNvCxnSpPr/>
          <p:nvPr/>
        </p:nvCxnSpPr>
        <p:spPr>
          <a:xfrm>
            <a:off x="903701" y="3039382"/>
            <a:ext cx="419092" cy="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xmlns="" id="{E308C795-F982-4719-2F52-FCBFBAE1D68C}"/>
              </a:ext>
            </a:extLst>
          </p:cNvPr>
          <p:cNvSpPr/>
          <p:nvPr/>
        </p:nvSpPr>
        <p:spPr>
          <a:xfrm>
            <a:off x="368004" y="5104591"/>
            <a:ext cx="1490483" cy="4689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>
                <a:solidFill>
                  <a:schemeClr val="tx1"/>
                </a:solidFill>
                <a:latin typeface="+mj-lt"/>
              </a:rPr>
              <a:t>Move(E,a)</a:t>
            </a:r>
            <a:endParaRPr lang="en-US" sz="2200">
              <a:latin typeface="+mj-lt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xmlns="" id="{F3370A7D-49C9-EA3B-2BDA-3087B4616405}"/>
              </a:ext>
            </a:extLst>
          </p:cNvPr>
          <p:cNvSpPr/>
          <p:nvPr/>
        </p:nvSpPr>
        <p:spPr>
          <a:xfrm>
            <a:off x="1218464" y="5148578"/>
            <a:ext cx="1725988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= {3,8}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xmlns="" id="{1476289E-E413-9433-F39A-E9A849B523BD}"/>
              </a:ext>
            </a:extLst>
          </p:cNvPr>
          <p:cNvSpPr/>
          <p:nvPr/>
        </p:nvSpPr>
        <p:spPr>
          <a:xfrm>
            <a:off x="374532" y="5534752"/>
            <a:ext cx="2700790" cy="4689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𝜖- Closure(</a:t>
            </a:r>
            <a:r>
              <a:rPr lang="en-US" sz="2200">
                <a:solidFill>
                  <a:schemeClr val="tx1"/>
                </a:solidFill>
                <a:latin typeface="+mj-lt"/>
              </a:rPr>
              <a:t>Move(E,a))</a:t>
            </a:r>
            <a:endParaRPr lang="en-US" sz="2200">
              <a:latin typeface="+mj-lt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xmlns="" id="{82904C70-DC00-A735-0731-89F0251DC51B}"/>
              </a:ext>
            </a:extLst>
          </p:cNvPr>
          <p:cNvSpPr/>
          <p:nvPr/>
        </p:nvSpPr>
        <p:spPr>
          <a:xfrm>
            <a:off x="2807308" y="5609266"/>
            <a:ext cx="253642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= {3, 6, 7, 1, 2, 4, 8}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xmlns="" id="{FD26E7E3-75E4-2C63-8BD7-2A8DF6864162}"/>
              </a:ext>
            </a:extLst>
          </p:cNvPr>
          <p:cNvSpPr/>
          <p:nvPr/>
        </p:nvSpPr>
        <p:spPr>
          <a:xfrm>
            <a:off x="4800325" y="5965890"/>
            <a:ext cx="87266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tx1"/>
                </a:solidFill>
              </a:rPr>
              <a:t>---- B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xmlns="" id="{288ACDF9-53AE-3BDA-B8EF-266454A7DA72}"/>
              </a:ext>
            </a:extLst>
          </p:cNvPr>
          <p:cNvSpPr/>
          <p:nvPr/>
        </p:nvSpPr>
        <p:spPr>
          <a:xfrm>
            <a:off x="6482416" y="4401275"/>
            <a:ext cx="471465" cy="3626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xmlns="" id="{45656894-8818-C9A1-47A4-CBD4F6D43EAD}"/>
              </a:ext>
            </a:extLst>
          </p:cNvPr>
          <p:cNvSpPr/>
          <p:nvPr/>
        </p:nvSpPr>
        <p:spPr>
          <a:xfrm>
            <a:off x="6482416" y="4401275"/>
            <a:ext cx="414313" cy="3626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xmlns="" id="{E0A97FE1-8618-0CC9-1E46-6BD8BA84AD5B}"/>
              </a:ext>
            </a:extLst>
          </p:cNvPr>
          <p:cNvSpPr/>
          <p:nvPr/>
        </p:nvSpPr>
        <p:spPr>
          <a:xfrm>
            <a:off x="2616975" y="5989841"/>
            <a:ext cx="253642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</a:rPr>
              <a:t>= {1,2,3,4,6,7,8}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xmlns="" id="{3B5D4C10-36DD-DC1E-54E8-5584D9E4C584}"/>
              </a:ext>
            </a:extLst>
          </p:cNvPr>
          <p:cNvCxnSpPr/>
          <p:nvPr/>
        </p:nvCxnSpPr>
        <p:spPr>
          <a:xfrm>
            <a:off x="1084549" y="4978874"/>
            <a:ext cx="267829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xmlns="" id="{07F9207B-571E-DE0B-DD08-D32255177E38}"/>
              </a:ext>
            </a:extLst>
          </p:cNvPr>
          <p:cNvCxnSpPr/>
          <p:nvPr/>
        </p:nvCxnSpPr>
        <p:spPr>
          <a:xfrm>
            <a:off x="2159285" y="4999563"/>
            <a:ext cx="267829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xmlns="" id="{FA4768C1-0861-D6A9-A7AD-D1F481067C9B}"/>
              </a:ext>
            </a:extLst>
          </p:cNvPr>
          <p:cNvSpPr/>
          <p:nvPr/>
        </p:nvSpPr>
        <p:spPr>
          <a:xfrm>
            <a:off x="325095" y="4677269"/>
            <a:ext cx="2741806" cy="3222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chemeClr val="tx1"/>
                </a:solidFill>
                <a:latin typeface="+mj-lt"/>
              </a:rPr>
              <a:t>E= {1, 2, 4, 5, 6, 7, 10}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xmlns="" id="{16E753B3-2D96-638D-05C4-A7D19D94573D}"/>
              </a:ext>
            </a:extLst>
          </p:cNvPr>
          <p:cNvSpPr/>
          <p:nvPr/>
        </p:nvSpPr>
        <p:spPr>
          <a:xfrm>
            <a:off x="7893141" y="277905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10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xmlns="" id="{F937650E-ACA3-7F94-E006-CDCD354CA9AF}"/>
              </a:ext>
            </a:extLst>
          </p:cNvPr>
          <p:cNvSpPr/>
          <p:nvPr/>
        </p:nvSpPr>
        <p:spPr>
          <a:xfrm>
            <a:off x="7938861" y="2828648"/>
            <a:ext cx="365760" cy="36576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xmlns="" id="{2886C72B-0F48-9102-EDA2-3ADF37136220}"/>
              </a:ext>
            </a:extLst>
          </p:cNvPr>
          <p:cNvSpPr/>
          <p:nvPr/>
        </p:nvSpPr>
        <p:spPr>
          <a:xfrm>
            <a:off x="6869835" y="279015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9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xmlns="" id="{FE268581-9C74-5D19-2654-04B175D820A9}"/>
              </a:ext>
            </a:extLst>
          </p:cNvPr>
          <p:cNvCxnSpPr/>
          <p:nvPr/>
        </p:nvCxnSpPr>
        <p:spPr>
          <a:xfrm>
            <a:off x="7334592" y="3006852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5" name="Table 64">
            <a:extLst>
              <a:ext uri="{FF2B5EF4-FFF2-40B4-BE49-F238E27FC236}">
                <a16:creationId xmlns:a16="http://schemas.microsoft.com/office/drawing/2014/main" xmlns="" id="{FD7E84E6-E12B-B24C-8D0E-36816D7337C5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724270" y="2030248"/>
          <a:ext cx="3177041" cy="4267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States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n-US" sz="22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b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6" name="Table 65">
            <a:extLst>
              <a:ext uri="{FF2B5EF4-FFF2-40B4-BE49-F238E27FC236}">
                <a16:creationId xmlns:a16="http://schemas.microsoft.com/office/drawing/2014/main" xmlns="" id="{B0C65CA1-306D-B3A4-C6FB-6E2993C27FD2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724271" y="2453188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A = {0,1,2,4,7}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xmlns="" id="{1D67811F-43DF-87E5-A99D-40F752214F62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724271" y="2818948"/>
          <a:ext cx="3177040" cy="6400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B = {1,2,3,4,6,7,8}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D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xmlns="" id="{1B88A2C9-F9DC-B2C6-8985-700F22C013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1191368"/>
              </p:ext>
            </p:extLst>
          </p:nvPr>
        </p:nvGraphicFramePr>
        <p:xfrm>
          <a:off x="8724271" y="3490911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C = {1,2,4,5,6,7}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9" name="Table 68">
            <a:extLst>
              <a:ext uri="{FF2B5EF4-FFF2-40B4-BE49-F238E27FC236}">
                <a16:creationId xmlns:a16="http://schemas.microsoft.com/office/drawing/2014/main" xmlns="" id="{D9EA8AEF-BC5C-78E1-EC96-FFA60C6F94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9957718"/>
              </p:ext>
            </p:extLst>
          </p:nvPr>
        </p:nvGraphicFramePr>
        <p:xfrm>
          <a:off x="8724271" y="3844031"/>
          <a:ext cx="3177040" cy="6400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42737"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D = {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1,2,4,5,6,7,9</a:t>
                      </a:r>
                      <a:r>
                        <a:rPr lang="en-US" sz="1800" dirty="0"/>
                        <a:t>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E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70" name="Table 69">
            <a:extLst>
              <a:ext uri="{FF2B5EF4-FFF2-40B4-BE49-F238E27FC236}">
                <a16:creationId xmlns:a16="http://schemas.microsoft.com/office/drawing/2014/main" xmlns="" id="{EC69FF90-5E02-FDE5-F5D5-C33E51ED87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3736214"/>
              </p:ext>
            </p:extLst>
          </p:nvPr>
        </p:nvGraphicFramePr>
        <p:xfrm>
          <a:off x="8724270" y="4402907"/>
          <a:ext cx="3177040" cy="6096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700" b="1"/>
                        <a:t>E = {</a:t>
                      </a:r>
                      <a:r>
                        <a:rPr lang="en-US" sz="17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1,2,4,5,6,7,10</a:t>
                      </a:r>
                      <a:r>
                        <a:rPr lang="en-US" sz="1700" b="1"/>
                        <a:t>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xmlns="" id="{A3FAFD4E-3337-09D1-00A5-95B37BBD657D}"/>
              </a:ext>
            </a:extLst>
          </p:cNvPr>
          <p:cNvCxnSpPr/>
          <p:nvPr/>
        </p:nvCxnSpPr>
        <p:spPr>
          <a:xfrm rot="5400000">
            <a:off x="5770212" y="3683283"/>
            <a:ext cx="5486400" cy="0"/>
          </a:xfrm>
          <a:prstGeom prst="line">
            <a:avLst/>
          </a:prstGeom>
          <a:ln>
            <a:solidFill>
              <a:srgbClr val="0E47A1"/>
            </a:solidFill>
            <a:prstDash val="soli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3077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990000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990000"/>
                                      </p:to>
                                    </p:animClr>
                                    <p:set>
                                      <p:cBhvr>
                                        <p:cTn id="2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5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6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9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9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4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7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2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5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9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46" grpId="0"/>
      <p:bldP spid="48" grpId="0"/>
      <p:bldP spid="5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419A239-A972-49CF-9B72-1D2E10BEF742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Conversion from NFA to DFA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xmlns="" id="{3261ABD0-AD9C-D435-0079-EA5A43E211EB}"/>
              </a:ext>
            </a:extLst>
          </p:cNvPr>
          <p:cNvSpPr/>
          <p:nvPr/>
        </p:nvSpPr>
        <p:spPr>
          <a:xfrm>
            <a:off x="1309692" y="2819400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1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06CA14A0-7ABD-ACED-6F48-43A8DDDD0BD0}"/>
              </a:ext>
            </a:extLst>
          </p:cNvPr>
          <p:cNvSpPr/>
          <p:nvPr/>
        </p:nvSpPr>
        <p:spPr>
          <a:xfrm>
            <a:off x="2081457" y="211686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2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xmlns="" id="{B6DBBD2A-2BFB-2FF8-29ED-30BE823A6557}"/>
              </a:ext>
            </a:extLst>
          </p:cNvPr>
          <p:cNvSpPr/>
          <p:nvPr/>
        </p:nvSpPr>
        <p:spPr>
          <a:xfrm>
            <a:off x="3075321" y="3491958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5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EB3CE8E0-7D0D-C87A-8ADE-36F958E1E203}"/>
              </a:ext>
            </a:extLst>
          </p:cNvPr>
          <p:cNvSpPr/>
          <p:nvPr/>
        </p:nvSpPr>
        <p:spPr>
          <a:xfrm>
            <a:off x="3075321" y="2135663"/>
            <a:ext cx="457200" cy="438011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B89321AF-4EA3-9CF4-7281-77E4C68F6D46}"/>
              </a:ext>
            </a:extLst>
          </p:cNvPr>
          <p:cNvSpPr/>
          <p:nvPr/>
        </p:nvSpPr>
        <p:spPr>
          <a:xfrm>
            <a:off x="2064600" y="349091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xmlns="" id="{D83A72A2-D6E3-D6A7-F4E7-E8E6EE7BC160}"/>
              </a:ext>
            </a:extLst>
          </p:cNvPr>
          <p:cNvSpPr/>
          <p:nvPr/>
        </p:nvSpPr>
        <p:spPr>
          <a:xfrm>
            <a:off x="3808798" y="280511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6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xmlns="" id="{90F40F37-85BA-13DE-5DF5-748ECDACE009}"/>
              </a:ext>
            </a:extLst>
          </p:cNvPr>
          <p:cNvSpPr/>
          <p:nvPr/>
        </p:nvSpPr>
        <p:spPr>
          <a:xfrm>
            <a:off x="4831287" y="2780177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7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9D308FB9-1DF6-C7BB-B535-D56EBE239998}"/>
              </a:ext>
            </a:extLst>
          </p:cNvPr>
          <p:cNvSpPr/>
          <p:nvPr/>
        </p:nvSpPr>
        <p:spPr>
          <a:xfrm>
            <a:off x="5853776" y="2780177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8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xmlns="" id="{E21AF716-F204-82E5-D051-DF3D6C2C03A2}"/>
              </a:ext>
            </a:extLst>
          </p:cNvPr>
          <p:cNvSpPr/>
          <p:nvPr/>
        </p:nvSpPr>
        <p:spPr>
          <a:xfrm>
            <a:off x="433400" y="281939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0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xmlns="" id="{7898C429-20FF-587C-73C7-43C309815715}"/>
              </a:ext>
            </a:extLst>
          </p:cNvPr>
          <p:cNvCxnSpPr/>
          <p:nvPr/>
        </p:nvCxnSpPr>
        <p:spPr>
          <a:xfrm>
            <a:off x="903699" y="3039382"/>
            <a:ext cx="419092" cy="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5550AE46-CBA6-97F8-58E3-44CAE25EFCB6}"/>
              </a:ext>
            </a:extLst>
          </p:cNvPr>
          <p:cNvSpPr/>
          <p:nvPr/>
        </p:nvSpPr>
        <p:spPr>
          <a:xfrm>
            <a:off x="921568" y="2667000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xmlns="" id="{055CD505-5C03-E009-E5A8-DC2AB830B227}"/>
              </a:ext>
            </a:extLst>
          </p:cNvPr>
          <p:cNvCxnSpPr/>
          <p:nvPr/>
        </p:nvCxnSpPr>
        <p:spPr>
          <a:xfrm>
            <a:off x="2530319" y="2351552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0F94BA7F-D552-5970-ADB2-0A1EA1869DD6}"/>
              </a:ext>
            </a:extLst>
          </p:cNvPr>
          <p:cNvSpPr/>
          <p:nvPr/>
        </p:nvSpPr>
        <p:spPr>
          <a:xfrm>
            <a:off x="2616975" y="1934046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xmlns="" id="{97C15152-4564-565B-FCD3-FDBDBCADD170}"/>
              </a:ext>
            </a:extLst>
          </p:cNvPr>
          <p:cNvCxnSpPr>
            <a:stCxn id="7" idx="6"/>
            <a:endCxn id="5" idx="2"/>
          </p:cNvCxnSpPr>
          <p:nvPr/>
        </p:nvCxnSpPr>
        <p:spPr>
          <a:xfrm>
            <a:off x="2521800" y="3719511"/>
            <a:ext cx="553521" cy="104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D9161BBF-4295-B309-A636-E953B7C28BC3}"/>
              </a:ext>
            </a:extLst>
          </p:cNvPr>
          <p:cNvSpPr/>
          <p:nvPr/>
        </p:nvSpPr>
        <p:spPr>
          <a:xfrm>
            <a:off x="2616975" y="373140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xmlns="" id="{8A8917C6-3F7B-7FBD-C689-ED0076F24D6E}"/>
              </a:ext>
            </a:extLst>
          </p:cNvPr>
          <p:cNvCxnSpPr>
            <a:stCxn id="3" idx="7"/>
            <a:endCxn id="4" idx="3"/>
          </p:cNvCxnSpPr>
          <p:nvPr/>
        </p:nvCxnSpPr>
        <p:spPr>
          <a:xfrm flipV="1">
            <a:off x="1699937" y="2507106"/>
            <a:ext cx="448475" cy="379249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xmlns="" id="{C2BAC517-3DE6-2853-87A2-F1B27946ACFD}"/>
              </a:ext>
            </a:extLst>
          </p:cNvPr>
          <p:cNvCxnSpPr>
            <a:stCxn id="3" idx="5"/>
          </p:cNvCxnSpPr>
          <p:nvPr/>
        </p:nvCxnSpPr>
        <p:spPr>
          <a:xfrm>
            <a:off x="1699937" y="3209645"/>
            <a:ext cx="433971" cy="32889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xmlns="" id="{70B777C0-5645-CF08-3598-CFB6F4649EB9}"/>
              </a:ext>
            </a:extLst>
          </p:cNvPr>
          <p:cNvCxnSpPr>
            <a:stCxn id="6" idx="5"/>
            <a:endCxn id="8" idx="1"/>
          </p:cNvCxnSpPr>
          <p:nvPr/>
        </p:nvCxnSpPr>
        <p:spPr>
          <a:xfrm>
            <a:off x="3465566" y="2509529"/>
            <a:ext cx="410187" cy="36253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xmlns="" id="{432BC564-39E1-56F9-1237-564B81CF205E}"/>
              </a:ext>
            </a:extLst>
          </p:cNvPr>
          <p:cNvCxnSpPr>
            <a:stCxn id="5" idx="7"/>
            <a:endCxn id="8" idx="3"/>
          </p:cNvCxnSpPr>
          <p:nvPr/>
        </p:nvCxnSpPr>
        <p:spPr>
          <a:xfrm flipV="1">
            <a:off x="3465566" y="3195356"/>
            <a:ext cx="410187" cy="363557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xmlns="" id="{15D1C842-403D-4CEC-1A81-2EC7F78FD23C}"/>
              </a:ext>
            </a:extLst>
          </p:cNvPr>
          <p:cNvCxnSpPr/>
          <p:nvPr/>
        </p:nvCxnSpPr>
        <p:spPr>
          <a:xfrm>
            <a:off x="4271771" y="3008777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2ADF42AB-83A2-85C0-E58F-82DBBB2E3FFD}"/>
              </a:ext>
            </a:extLst>
          </p:cNvPr>
          <p:cNvSpPr/>
          <p:nvPr/>
        </p:nvSpPr>
        <p:spPr>
          <a:xfrm>
            <a:off x="4351727" y="2654636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xmlns="" id="{9341CE66-0E9F-B7E4-4EE1-58B2F3C0ABB4}"/>
              </a:ext>
            </a:extLst>
          </p:cNvPr>
          <p:cNvCxnSpPr/>
          <p:nvPr/>
        </p:nvCxnSpPr>
        <p:spPr>
          <a:xfrm>
            <a:off x="5281161" y="3018759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xmlns="" id="{0E20AAC8-8F12-7DEB-EE36-8C6543973DB9}"/>
              </a:ext>
            </a:extLst>
          </p:cNvPr>
          <p:cNvSpPr/>
          <p:nvPr/>
        </p:nvSpPr>
        <p:spPr>
          <a:xfrm>
            <a:off x="5361117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A61A2D75-7F81-0582-2C1D-03FF411FC61C}"/>
              </a:ext>
            </a:extLst>
          </p:cNvPr>
          <p:cNvSpPr/>
          <p:nvPr/>
        </p:nvSpPr>
        <p:spPr>
          <a:xfrm>
            <a:off x="6425264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B013799B-5F0B-46B0-545F-0EF67C0651FC}"/>
              </a:ext>
            </a:extLst>
          </p:cNvPr>
          <p:cNvSpPr/>
          <p:nvPr/>
        </p:nvSpPr>
        <p:spPr>
          <a:xfrm>
            <a:off x="7421867" y="2664618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xmlns="" id="{238DAD41-DD02-5520-5540-9485781B4BFA}"/>
              </a:ext>
            </a:extLst>
          </p:cNvPr>
          <p:cNvCxnSpPr/>
          <p:nvPr/>
        </p:nvCxnSpPr>
        <p:spPr>
          <a:xfrm>
            <a:off x="190500" y="3047999"/>
            <a:ext cx="242900" cy="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xmlns="" id="{50691E8E-319B-DF99-DE08-3B9D31DA02FB}"/>
              </a:ext>
            </a:extLst>
          </p:cNvPr>
          <p:cNvSpPr/>
          <p:nvPr/>
        </p:nvSpPr>
        <p:spPr>
          <a:xfrm>
            <a:off x="1524000" y="337065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xmlns="" id="{809E0204-A54B-EFE7-7C18-135079FFB211}"/>
              </a:ext>
            </a:extLst>
          </p:cNvPr>
          <p:cNvSpPr/>
          <p:nvPr/>
        </p:nvSpPr>
        <p:spPr>
          <a:xfrm>
            <a:off x="1583156" y="2369027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xmlns="" id="{232462A8-D0F2-29BE-2DAF-E03D0C9B6E01}"/>
              </a:ext>
            </a:extLst>
          </p:cNvPr>
          <p:cNvSpPr/>
          <p:nvPr/>
        </p:nvSpPr>
        <p:spPr>
          <a:xfrm>
            <a:off x="3604306" y="2358623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xmlns="" id="{AC79B017-C2AA-2CAA-3FD6-9538AA1FA03C}"/>
              </a:ext>
            </a:extLst>
          </p:cNvPr>
          <p:cNvSpPr/>
          <p:nvPr/>
        </p:nvSpPr>
        <p:spPr>
          <a:xfrm>
            <a:off x="3616975" y="338375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3" name="Curved Connector 33">
            <a:extLst>
              <a:ext uri="{FF2B5EF4-FFF2-40B4-BE49-F238E27FC236}">
                <a16:creationId xmlns:a16="http://schemas.microsoft.com/office/drawing/2014/main" xmlns="" id="{1D874D41-7F54-580F-14B2-C9FF716932AF}"/>
              </a:ext>
            </a:extLst>
          </p:cNvPr>
          <p:cNvCxnSpPr>
            <a:stCxn id="11" idx="4"/>
            <a:endCxn id="9" idx="4"/>
          </p:cNvCxnSpPr>
          <p:nvPr/>
        </p:nvCxnSpPr>
        <p:spPr>
          <a:xfrm rot="5400000" flipH="1" flipV="1">
            <a:off x="2841332" y="1058044"/>
            <a:ext cx="39222" cy="4397887"/>
          </a:xfrm>
          <a:prstGeom prst="curvedConnector3">
            <a:avLst>
              <a:gd name="adj1" fmla="val -3059900"/>
            </a:avLst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urved Connector 34">
            <a:extLst>
              <a:ext uri="{FF2B5EF4-FFF2-40B4-BE49-F238E27FC236}">
                <a16:creationId xmlns:a16="http://schemas.microsoft.com/office/drawing/2014/main" xmlns="" id="{67F60CB9-F73D-45D6-4B3A-7A4836B0C2DB}"/>
              </a:ext>
            </a:extLst>
          </p:cNvPr>
          <p:cNvCxnSpPr/>
          <p:nvPr/>
        </p:nvCxnSpPr>
        <p:spPr>
          <a:xfrm rot="16200000" flipH="1" flipV="1">
            <a:off x="2766063" y="1540671"/>
            <a:ext cx="36576" cy="2569464"/>
          </a:xfrm>
          <a:prstGeom prst="curvedConnector3">
            <a:avLst>
              <a:gd name="adj1" fmla="val -3059900"/>
            </a:avLst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xmlns="" id="{5EFAFDA9-E3F8-3644-680E-40EBF93A8128}"/>
              </a:ext>
            </a:extLst>
          </p:cNvPr>
          <p:cNvSpPr/>
          <p:nvPr/>
        </p:nvSpPr>
        <p:spPr>
          <a:xfrm>
            <a:off x="2616975" y="1294439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xmlns="" id="{D928CDDB-7C41-9D70-458D-1074E07E8105}"/>
              </a:ext>
            </a:extLst>
          </p:cNvPr>
          <p:cNvSpPr/>
          <p:nvPr/>
        </p:nvSpPr>
        <p:spPr>
          <a:xfrm>
            <a:off x="3795563" y="4275070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xmlns="" id="{142E11AA-D414-4D18-8874-E62BEC81B387}"/>
              </a:ext>
            </a:extLst>
          </p:cNvPr>
          <p:cNvCxnSpPr/>
          <p:nvPr/>
        </p:nvCxnSpPr>
        <p:spPr>
          <a:xfrm flipV="1">
            <a:off x="1699939" y="2507106"/>
            <a:ext cx="448475" cy="379249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xmlns="" id="{76629E74-C836-CCBB-7986-58CC2A03DD9C}"/>
              </a:ext>
            </a:extLst>
          </p:cNvPr>
          <p:cNvCxnSpPr/>
          <p:nvPr/>
        </p:nvCxnSpPr>
        <p:spPr>
          <a:xfrm>
            <a:off x="1699939" y="3209645"/>
            <a:ext cx="433971" cy="32889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xmlns="" id="{7CAA3BB9-30C3-73D9-ADFE-3E5B5F632F3F}"/>
              </a:ext>
            </a:extLst>
          </p:cNvPr>
          <p:cNvCxnSpPr/>
          <p:nvPr/>
        </p:nvCxnSpPr>
        <p:spPr>
          <a:xfrm>
            <a:off x="903700" y="3039382"/>
            <a:ext cx="419092" cy="1"/>
          </a:xfrm>
          <a:prstGeom prst="straightConnector1">
            <a:avLst/>
          </a:prstGeom>
          <a:ln w="2540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xmlns="" id="{2724FB90-04AB-6FB4-D6AB-EEBBCD4FA868}"/>
              </a:ext>
            </a:extLst>
          </p:cNvPr>
          <p:cNvCxnSpPr/>
          <p:nvPr/>
        </p:nvCxnSpPr>
        <p:spPr>
          <a:xfrm flipV="1">
            <a:off x="1699940" y="2507106"/>
            <a:ext cx="448475" cy="379249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xmlns="" id="{CF747943-CCEA-E39D-58BE-E4B15BC458B6}"/>
              </a:ext>
            </a:extLst>
          </p:cNvPr>
          <p:cNvCxnSpPr/>
          <p:nvPr/>
        </p:nvCxnSpPr>
        <p:spPr>
          <a:xfrm>
            <a:off x="1699940" y="3209645"/>
            <a:ext cx="433971" cy="32889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xmlns="" id="{40B931F8-5615-57C8-7910-924DBC017665}"/>
              </a:ext>
            </a:extLst>
          </p:cNvPr>
          <p:cNvCxnSpPr/>
          <p:nvPr/>
        </p:nvCxnSpPr>
        <p:spPr>
          <a:xfrm>
            <a:off x="903701" y="3039382"/>
            <a:ext cx="419092" cy="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xmlns="" id="{8EC94B6E-2ACE-3C59-9008-D9F001D48E7D}"/>
              </a:ext>
            </a:extLst>
          </p:cNvPr>
          <p:cNvSpPr/>
          <p:nvPr/>
        </p:nvSpPr>
        <p:spPr>
          <a:xfrm>
            <a:off x="194759" y="5104591"/>
            <a:ext cx="1575377" cy="4991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>
                <a:solidFill>
                  <a:schemeClr val="tx1"/>
                </a:solidFill>
                <a:latin typeface="+mj-lt"/>
              </a:rPr>
              <a:t>Move(E,b)=</a:t>
            </a:r>
            <a:endParaRPr lang="en-US" sz="2200">
              <a:latin typeface="+mj-lt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xmlns="" id="{B0EFEAAC-B0DD-9CF8-A2C9-2AB109594FE3}"/>
              </a:ext>
            </a:extLst>
          </p:cNvPr>
          <p:cNvSpPr/>
          <p:nvPr/>
        </p:nvSpPr>
        <p:spPr>
          <a:xfrm>
            <a:off x="920635" y="5162502"/>
            <a:ext cx="1725988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 {5}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xmlns="" id="{B0537C3A-0B11-66BD-5524-5C6261154D03}"/>
              </a:ext>
            </a:extLst>
          </p:cNvPr>
          <p:cNvSpPr/>
          <p:nvPr/>
        </p:nvSpPr>
        <p:spPr>
          <a:xfrm>
            <a:off x="190500" y="5534752"/>
            <a:ext cx="2868584" cy="4504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𝜖- Closure(</a:t>
            </a:r>
            <a:r>
              <a:rPr lang="en-US" sz="2200">
                <a:solidFill>
                  <a:schemeClr val="tx1"/>
                </a:solidFill>
                <a:latin typeface="+mj-lt"/>
              </a:rPr>
              <a:t>Move(E,b))=</a:t>
            </a:r>
            <a:endParaRPr lang="en-US" sz="2200">
              <a:latin typeface="+mj-lt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xmlns="" id="{2993F8BC-672F-729F-8BA8-00DB76F26B91}"/>
              </a:ext>
            </a:extLst>
          </p:cNvPr>
          <p:cNvSpPr/>
          <p:nvPr/>
        </p:nvSpPr>
        <p:spPr>
          <a:xfrm>
            <a:off x="2455163" y="5545668"/>
            <a:ext cx="253642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 {5,6,7,1,2,4}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xmlns="" id="{C5717377-605C-F885-44DB-8A2A0536B537}"/>
              </a:ext>
            </a:extLst>
          </p:cNvPr>
          <p:cNvSpPr/>
          <p:nvPr/>
        </p:nvSpPr>
        <p:spPr>
          <a:xfrm>
            <a:off x="4368432" y="6064587"/>
            <a:ext cx="87266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+mj-lt"/>
              </a:rPr>
              <a:t>---- C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xmlns="" id="{9B8B1C25-D828-5B89-F459-554A47C9E923}"/>
              </a:ext>
            </a:extLst>
          </p:cNvPr>
          <p:cNvSpPr/>
          <p:nvPr/>
        </p:nvSpPr>
        <p:spPr>
          <a:xfrm>
            <a:off x="6482416" y="4401275"/>
            <a:ext cx="471465" cy="3626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xmlns="" id="{99FEE6BA-8F19-DE5B-9763-C8EF69151E20}"/>
              </a:ext>
            </a:extLst>
          </p:cNvPr>
          <p:cNvSpPr/>
          <p:nvPr/>
        </p:nvSpPr>
        <p:spPr>
          <a:xfrm>
            <a:off x="6482416" y="4401275"/>
            <a:ext cx="414313" cy="3626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xmlns="" id="{995664C6-7D50-9E0F-99EC-3B1763E78FA9}"/>
              </a:ext>
            </a:extLst>
          </p:cNvPr>
          <p:cNvSpPr/>
          <p:nvPr/>
        </p:nvSpPr>
        <p:spPr>
          <a:xfrm>
            <a:off x="2284499" y="6056266"/>
            <a:ext cx="253642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+mj-lt"/>
              </a:rPr>
              <a:t>= {1,2,4,5,6,7}</a:t>
            </a:r>
          </a:p>
        </p:txBody>
      </p:sp>
      <p:graphicFrame>
        <p:nvGraphicFramePr>
          <p:cNvPr id="52" name="Table 51">
            <a:extLst>
              <a:ext uri="{FF2B5EF4-FFF2-40B4-BE49-F238E27FC236}">
                <a16:creationId xmlns:a16="http://schemas.microsoft.com/office/drawing/2014/main" xmlns="" id="{2BDAA493-FAA6-7416-791A-C5C362F086E2}"/>
              </a:ext>
            </a:extLst>
          </p:cNvPr>
          <p:cNvGraphicFramePr>
            <a:graphicFrameLocks noGrp="1"/>
          </p:cNvGraphicFramePr>
          <p:nvPr/>
        </p:nvGraphicFramePr>
        <p:xfrm>
          <a:off x="8724270" y="2030248"/>
          <a:ext cx="3177041" cy="4267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States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n-US" sz="22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b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53" name="Table 52">
            <a:extLst>
              <a:ext uri="{FF2B5EF4-FFF2-40B4-BE49-F238E27FC236}">
                <a16:creationId xmlns:a16="http://schemas.microsoft.com/office/drawing/2014/main" xmlns="" id="{50A39FEA-B09D-5FAC-8ADC-2BF91D5AAF1B}"/>
              </a:ext>
            </a:extLst>
          </p:cNvPr>
          <p:cNvGraphicFramePr>
            <a:graphicFrameLocks noGrp="1"/>
          </p:cNvGraphicFramePr>
          <p:nvPr/>
        </p:nvGraphicFramePr>
        <p:xfrm>
          <a:off x="8724271" y="2453188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A = {0,1,2,4,7}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xmlns="" id="{39454BE6-F3C5-BF64-5DEA-74AF8EBF254E}"/>
              </a:ext>
            </a:extLst>
          </p:cNvPr>
          <p:cNvCxnSpPr/>
          <p:nvPr/>
        </p:nvCxnSpPr>
        <p:spPr>
          <a:xfrm>
            <a:off x="1219573" y="5024624"/>
            <a:ext cx="267829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0" name="Table 59">
            <a:extLst>
              <a:ext uri="{FF2B5EF4-FFF2-40B4-BE49-F238E27FC236}">
                <a16:creationId xmlns:a16="http://schemas.microsoft.com/office/drawing/2014/main" xmlns="" id="{11D437FB-64CC-18BE-2EB3-C11D252ED1C3}"/>
              </a:ext>
            </a:extLst>
          </p:cNvPr>
          <p:cNvGraphicFramePr>
            <a:graphicFrameLocks noGrp="1"/>
          </p:cNvGraphicFramePr>
          <p:nvPr/>
        </p:nvGraphicFramePr>
        <p:xfrm>
          <a:off x="8724271" y="2818948"/>
          <a:ext cx="3177040" cy="6400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B = {1,2,3,4,6,7,8}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D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1" name="Table 60">
            <a:extLst>
              <a:ext uri="{FF2B5EF4-FFF2-40B4-BE49-F238E27FC236}">
                <a16:creationId xmlns:a16="http://schemas.microsoft.com/office/drawing/2014/main" xmlns="" id="{B75A9962-C7C6-2298-AE59-552A97974D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1583257"/>
              </p:ext>
            </p:extLst>
          </p:nvPr>
        </p:nvGraphicFramePr>
        <p:xfrm>
          <a:off x="8724271" y="3440947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C = {1,2,4,5,6,7}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63" name="Rectangle 62">
            <a:extLst>
              <a:ext uri="{FF2B5EF4-FFF2-40B4-BE49-F238E27FC236}">
                <a16:creationId xmlns:a16="http://schemas.microsoft.com/office/drawing/2014/main" xmlns="" id="{B5E2B840-9B9E-20DC-88F8-04399E596E09}"/>
              </a:ext>
            </a:extLst>
          </p:cNvPr>
          <p:cNvSpPr/>
          <p:nvPr/>
        </p:nvSpPr>
        <p:spPr>
          <a:xfrm>
            <a:off x="169609" y="4705845"/>
            <a:ext cx="2741806" cy="3222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chemeClr val="tx1"/>
                </a:solidFill>
                <a:latin typeface="+mj-lt"/>
              </a:rPr>
              <a:t>E= {1, 2, 4, 5, 6, 7, 10}</a:t>
            </a:r>
          </a:p>
        </p:txBody>
      </p:sp>
      <p:graphicFrame>
        <p:nvGraphicFramePr>
          <p:cNvPr id="64" name="Table 63">
            <a:extLst>
              <a:ext uri="{FF2B5EF4-FFF2-40B4-BE49-F238E27FC236}">
                <a16:creationId xmlns:a16="http://schemas.microsoft.com/office/drawing/2014/main" xmlns="" id="{BCBD5356-549F-9920-BADF-1598F86CAE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9343594"/>
              </p:ext>
            </p:extLst>
          </p:nvPr>
        </p:nvGraphicFramePr>
        <p:xfrm>
          <a:off x="8724271" y="3835153"/>
          <a:ext cx="3177040" cy="6400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18450">
                <a:tc>
                  <a:txBody>
                    <a:bodyPr/>
                    <a:lstStyle/>
                    <a:p>
                      <a:pPr algn="l"/>
                      <a:r>
                        <a:rPr lang="en-US" sz="1800"/>
                        <a:t>D = {</a:t>
                      </a:r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1,2,4,5,6,7,9</a:t>
                      </a:r>
                      <a:r>
                        <a:rPr lang="en-US" sz="1800"/>
                        <a:t>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5" name="Table 64">
            <a:extLst>
              <a:ext uri="{FF2B5EF4-FFF2-40B4-BE49-F238E27FC236}">
                <a16:creationId xmlns:a16="http://schemas.microsoft.com/office/drawing/2014/main" xmlns="" id="{001E0DAF-9A43-C6A1-B6C9-BD02DFDD9C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3129903"/>
              </p:ext>
            </p:extLst>
          </p:nvPr>
        </p:nvGraphicFramePr>
        <p:xfrm>
          <a:off x="8724270" y="4494991"/>
          <a:ext cx="3177040" cy="6096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11731">
                <a:tc>
                  <a:txBody>
                    <a:bodyPr/>
                    <a:lstStyle/>
                    <a:p>
                      <a:pPr algn="l"/>
                      <a:r>
                        <a:rPr lang="en-US" sz="1700" b="1"/>
                        <a:t>E = {</a:t>
                      </a:r>
                      <a:r>
                        <a:rPr lang="en-US" sz="17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1,2,4,5,6,7,10</a:t>
                      </a:r>
                      <a:r>
                        <a:rPr lang="en-US" sz="1700" b="1"/>
                        <a:t>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67" name="Oval 66">
            <a:extLst>
              <a:ext uri="{FF2B5EF4-FFF2-40B4-BE49-F238E27FC236}">
                <a16:creationId xmlns:a16="http://schemas.microsoft.com/office/drawing/2014/main" xmlns="" id="{80E55CFF-10B1-A158-200F-2497773319BD}"/>
              </a:ext>
            </a:extLst>
          </p:cNvPr>
          <p:cNvSpPr/>
          <p:nvPr/>
        </p:nvSpPr>
        <p:spPr>
          <a:xfrm>
            <a:off x="7893141" y="277905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10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xmlns="" id="{676C0491-8F6F-AB71-A3E8-0A3FD34283DC}"/>
              </a:ext>
            </a:extLst>
          </p:cNvPr>
          <p:cNvSpPr/>
          <p:nvPr/>
        </p:nvSpPr>
        <p:spPr>
          <a:xfrm>
            <a:off x="7938861" y="2828648"/>
            <a:ext cx="365760" cy="36576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xmlns="" id="{524E034D-9E2D-45BD-840C-0B2AED6D9F82}"/>
              </a:ext>
            </a:extLst>
          </p:cNvPr>
          <p:cNvSpPr/>
          <p:nvPr/>
        </p:nvSpPr>
        <p:spPr>
          <a:xfrm>
            <a:off x="6869835" y="279015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9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xmlns="" id="{63E3202D-97B5-7FC1-E2FE-F741E9EB45AA}"/>
              </a:ext>
            </a:extLst>
          </p:cNvPr>
          <p:cNvCxnSpPr/>
          <p:nvPr/>
        </p:nvCxnSpPr>
        <p:spPr>
          <a:xfrm>
            <a:off x="7334592" y="3006852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xmlns="" id="{A371DD32-FE73-AEC1-2A30-A270D877CD91}"/>
              </a:ext>
            </a:extLst>
          </p:cNvPr>
          <p:cNvCxnSpPr/>
          <p:nvPr/>
        </p:nvCxnSpPr>
        <p:spPr>
          <a:xfrm>
            <a:off x="6308667" y="2994945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5798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1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2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5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0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60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63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3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5" grpId="0"/>
      <p:bldP spid="47" grpId="0"/>
      <p:bldP spid="5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0E5E67F-C3E2-13DD-AFCD-B20CDD7CCC23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Conversion from NFA to DFA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xmlns="" id="{C09024F1-6254-6C26-4DEA-9E62E63CAD38}"/>
                  </a:ext>
                </a:extLst>
              </p:cNvPr>
              <p:cNvSpPr/>
              <p:nvPr/>
            </p:nvSpPr>
            <p:spPr>
              <a:xfrm>
                <a:off x="6602545" y="3057289"/>
                <a:ext cx="609600" cy="609600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A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09024F1-6254-6C26-4DEA-9E62E63CAD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2545" y="3057289"/>
                <a:ext cx="609600" cy="609600"/>
              </a:xfrm>
              <a:prstGeom prst="ellipse">
                <a:avLst/>
              </a:prstGeom>
              <a:blipFill rotWithShape="0"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xmlns="" id="{183F99D1-9D02-6589-689A-A98A0FF990D8}"/>
                  </a:ext>
                </a:extLst>
              </p:cNvPr>
              <p:cNvSpPr/>
              <p:nvPr/>
            </p:nvSpPr>
            <p:spPr>
              <a:xfrm>
                <a:off x="7831300" y="2206015"/>
                <a:ext cx="609600" cy="609600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B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83F99D1-9D02-6589-689A-A98A0FF990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1300" y="2206015"/>
                <a:ext cx="609600" cy="609600"/>
              </a:xfrm>
              <a:prstGeom prst="ellipse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xmlns="" id="{2D87CE12-1272-002B-BD83-D712D84F7F38}"/>
                  </a:ext>
                </a:extLst>
              </p:cNvPr>
              <p:cNvSpPr/>
              <p:nvPr/>
            </p:nvSpPr>
            <p:spPr>
              <a:xfrm>
                <a:off x="7831300" y="3784177"/>
                <a:ext cx="609600" cy="609600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C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D87CE12-1272-002B-BD83-D712D84F7F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1300" y="3784177"/>
                <a:ext cx="609600" cy="609600"/>
              </a:xfrm>
              <a:prstGeom prst="ellipse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xmlns="" id="{9A743F00-C8A6-6B4F-6567-6CE357CD9AC9}"/>
              </a:ext>
            </a:extLst>
          </p:cNvPr>
          <p:cNvCxnSpPr>
            <a:stCxn id="3" idx="7"/>
            <a:endCxn id="4" idx="2"/>
          </p:cNvCxnSpPr>
          <p:nvPr/>
        </p:nvCxnSpPr>
        <p:spPr>
          <a:xfrm flipV="1">
            <a:off x="7122871" y="2510815"/>
            <a:ext cx="708429" cy="635748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xmlns="" id="{EDB3C624-722A-330A-4083-375585ED1A9F}"/>
              </a:ext>
            </a:extLst>
          </p:cNvPr>
          <p:cNvCxnSpPr>
            <a:stCxn id="3" idx="5"/>
            <a:endCxn id="5" idx="2"/>
          </p:cNvCxnSpPr>
          <p:nvPr/>
        </p:nvCxnSpPr>
        <p:spPr>
          <a:xfrm>
            <a:off x="7122871" y="3577615"/>
            <a:ext cx="708429" cy="511362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urved Connector 8">
            <a:extLst>
              <a:ext uri="{FF2B5EF4-FFF2-40B4-BE49-F238E27FC236}">
                <a16:creationId xmlns:a16="http://schemas.microsoft.com/office/drawing/2014/main" xmlns="" id="{B8E73AFC-C968-E0E1-D35E-0437818488E6}"/>
              </a:ext>
            </a:extLst>
          </p:cNvPr>
          <p:cNvCxnSpPr>
            <a:stCxn id="4" idx="1"/>
            <a:endCxn id="4" idx="7"/>
          </p:cNvCxnSpPr>
          <p:nvPr/>
        </p:nvCxnSpPr>
        <p:spPr>
          <a:xfrm rot="5400000" flipH="1" flipV="1">
            <a:off x="8136100" y="2079763"/>
            <a:ext cx="12700" cy="431052"/>
          </a:xfrm>
          <a:prstGeom prst="curvedConnector3">
            <a:avLst>
              <a:gd name="adj1" fmla="val 5090449"/>
            </a:avLst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37">
            <a:extLst>
              <a:ext uri="{FF2B5EF4-FFF2-40B4-BE49-F238E27FC236}">
                <a16:creationId xmlns:a16="http://schemas.microsoft.com/office/drawing/2014/main" xmlns="" id="{1BBA811E-5EBB-5CCB-23AD-3A11AFB80E6A}"/>
              </a:ext>
            </a:extLst>
          </p:cNvPr>
          <p:cNvSpPr txBox="1"/>
          <p:nvPr/>
        </p:nvSpPr>
        <p:spPr>
          <a:xfrm>
            <a:off x="7148614" y="2463191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+mj-lt"/>
              </a:rPr>
              <a:t>a</a:t>
            </a:r>
          </a:p>
        </p:txBody>
      </p:sp>
      <p:sp>
        <p:nvSpPr>
          <p:cNvPr id="10" name="TextBox 38">
            <a:extLst>
              <a:ext uri="{FF2B5EF4-FFF2-40B4-BE49-F238E27FC236}">
                <a16:creationId xmlns:a16="http://schemas.microsoft.com/office/drawing/2014/main" xmlns="" id="{2B531EE2-BBF8-E9DA-59AA-EA88357B5684}"/>
              </a:ext>
            </a:extLst>
          </p:cNvPr>
          <p:cNvSpPr txBox="1"/>
          <p:nvPr/>
        </p:nvSpPr>
        <p:spPr>
          <a:xfrm>
            <a:off x="7062864" y="37402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+mj-lt"/>
              </a:rPr>
              <a:t>b</a:t>
            </a:r>
          </a:p>
        </p:txBody>
      </p:sp>
      <p:sp>
        <p:nvSpPr>
          <p:cNvPr id="11" name="TextBox 41">
            <a:extLst>
              <a:ext uri="{FF2B5EF4-FFF2-40B4-BE49-F238E27FC236}">
                <a16:creationId xmlns:a16="http://schemas.microsoft.com/office/drawing/2014/main" xmlns="" id="{9783F399-C5BA-CD79-842B-04ACAC9CDCBE}"/>
              </a:ext>
            </a:extLst>
          </p:cNvPr>
          <p:cNvSpPr txBox="1"/>
          <p:nvPr/>
        </p:nvSpPr>
        <p:spPr>
          <a:xfrm>
            <a:off x="7991607" y="1313878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+mj-lt"/>
              </a:rPr>
              <a:t>a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xmlns="" id="{2610DFD4-5252-A60C-A9A0-A3503D18FE4D}"/>
              </a:ext>
            </a:extLst>
          </p:cNvPr>
          <p:cNvCxnSpPr/>
          <p:nvPr/>
        </p:nvCxnSpPr>
        <p:spPr>
          <a:xfrm>
            <a:off x="6292987" y="3382102"/>
            <a:ext cx="309558" cy="0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urved Connector 13">
            <a:extLst>
              <a:ext uri="{FF2B5EF4-FFF2-40B4-BE49-F238E27FC236}">
                <a16:creationId xmlns:a16="http://schemas.microsoft.com/office/drawing/2014/main" xmlns="" id="{A70E423B-7D7E-5AC1-19D0-3DA69FA67F70}"/>
              </a:ext>
            </a:extLst>
          </p:cNvPr>
          <p:cNvCxnSpPr/>
          <p:nvPr/>
        </p:nvCxnSpPr>
        <p:spPr>
          <a:xfrm rot="16200000" flipH="1" flipV="1">
            <a:off x="8143197" y="4072500"/>
            <a:ext cx="12700" cy="431052"/>
          </a:xfrm>
          <a:prstGeom prst="curvedConnector3">
            <a:avLst>
              <a:gd name="adj1" fmla="val 5090449"/>
            </a:avLst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41">
            <a:extLst>
              <a:ext uri="{FF2B5EF4-FFF2-40B4-BE49-F238E27FC236}">
                <a16:creationId xmlns:a16="http://schemas.microsoft.com/office/drawing/2014/main" xmlns="" id="{4098962D-9CB1-30CF-DD81-CA703DCBBC3E}"/>
              </a:ext>
            </a:extLst>
          </p:cNvPr>
          <p:cNvSpPr txBox="1"/>
          <p:nvPr/>
        </p:nvSpPr>
        <p:spPr>
          <a:xfrm>
            <a:off x="7994813" y="491605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+mj-lt"/>
              </a:rPr>
              <a:t>b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xmlns="" id="{BA52AA36-CC3C-DADA-D9F5-C843344AE2EC}"/>
              </a:ext>
            </a:extLst>
          </p:cNvPr>
          <p:cNvCxnSpPr>
            <a:stCxn id="5" idx="0"/>
          </p:cNvCxnSpPr>
          <p:nvPr/>
        </p:nvCxnSpPr>
        <p:spPr>
          <a:xfrm flipH="1" flipV="1">
            <a:off x="8136100" y="2822152"/>
            <a:ext cx="0" cy="962025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37">
            <a:extLst>
              <a:ext uri="{FF2B5EF4-FFF2-40B4-BE49-F238E27FC236}">
                <a16:creationId xmlns:a16="http://schemas.microsoft.com/office/drawing/2014/main" xmlns="" id="{61D688AF-B4D0-056A-66AB-D83CE4B37354}"/>
              </a:ext>
            </a:extLst>
          </p:cNvPr>
          <p:cNvSpPr txBox="1"/>
          <p:nvPr/>
        </p:nvSpPr>
        <p:spPr>
          <a:xfrm>
            <a:off x="7859246" y="3226911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+mj-lt"/>
              </a:rPr>
              <a:t>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xmlns="" id="{42FE08FE-045D-5533-8114-21516E4FEC0B}"/>
                  </a:ext>
                </a:extLst>
              </p:cNvPr>
              <p:cNvSpPr/>
              <p:nvPr/>
            </p:nvSpPr>
            <p:spPr>
              <a:xfrm>
                <a:off x="9412473" y="2201252"/>
                <a:ext cx="609600" cy="609600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D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42FE08FE-045D-5533-8114-21516E4FEC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2473" y="2201252"/>
                <a:ext cx="609600" cy="609600"/>
              </a:xfrm>
              <a:prstGeom prst="ellipse">
                <a:avLst/>
              </a:prstGeom>
              <a:blipFill rotWithShape="0"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xmlns="" id="{9E7A1C33-E4BE-E6A4-0436-ABA9E7477239}"/>
                  </a:ext>
                </a:extLst>
              </p:cNvPr>
              <p:cNvSpPr/>
              <p:nvPr/>
            </p:nvSpPr>
            <p:spPr>
              <a:xfrm>
                <a:off x="9474379" y="3763467"/>
                <a:ext cx="609600" cy="609600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E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9E7A1C33-E4BE-E6A4-0436-ABA9E74772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4379" y="3763467"/>
                <a:ext cx="609600" cy="609600"/>
              </a:xfrm>
              <a:prstGeom prst="ellipse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Oval 18">
            <a:extLst>
              <a:ext uri="{FF2B5EF4-FFF2-40B4-BE49-F238E27FC236}">
                <a16:creationId xmlns:a16="http://schemas.microsoft.com/office/drawing/2014/main" xmlns="" id="{BABF40A2-96B0-4052-6F83-68CC8ED9B628}"/>
              </a:ext>
            </a:extLst>
          </p:cNvPr>
          <p:cNvSpPr/>
          <p:nvPr/>
        </p:nvSpPr>
        <p:spPr>
          <a:xfrm>
            <a:off x="9550579" y="3839667"/>
            <a:ext cx="457200" cy="4572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atin typeface="+mj-lt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xmlns="" id="{794AED99-ED6E-B053-6D93-88A07AF17A56}"/>
              </a:ext>
            </a:extLst>
          </p:cNvPr>
          <p:cNvCxnSpPr>
            <a:stCxn id="4" idx="7"/>
            <a:endCxn id="17" idx="1"/>
          </p:cNvCxnSpPr>
          <p:nvPr/>
        </p:nvCxnSpPr>
        <p:spPr>
          <a:xfrm flipV="1">
            <a:off x="8351626" y="2290526"/>
            <a:ext cx="1150121" cy="4763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xmlns="" id="{24270542-5888-D48B-1253-785CD7EB0599}"/>
              </a:ext>
            </a:extLst>
          </p:cNvPr>
          <p:cNvCxnSpPr/>
          <p:nvPr/>
        </p:nvCxnSpPr>
        <p:spPr>
          <a:xfrm rot="10800000" flipV="1">
            <a:off x="8376673" y="2639462"/>
            <a:ext cx="1150121" cy="4763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41">
            <a:extLst>
              <a:ext uri="{FF2B5EF4-FFF2-40B4-BE49-F238E27FC236}">
                <a16:creationId xmlns:a16="http://schemas.microsoft.com/office/drawing/2014/main" xmlns="" id="{F7F8E21E-F0ED-F8DF-AC57-09BB1C389801}"/>
              </a:ext>
            </a:extLst>
          </p:cNvPr>
          <p:cNvSpPr txBox="1"/>
          <p:nvPr/>
        </p:nvSpPr>
        <p:spPr>
          <a:xfrm>
            <a:off x="8776361" y="1907215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+mj-lt"/>
              </a:rPr>
              <a:t>b</a:t>
            </a:r>
          </a:p>
        </p:txBody>
      </p:sp>
      <p:sp>
        <p:nvSpPr>
          <p:cNvPr id="23" name="TextBox 41">
            <a:extLst>
              <a:ext uri="{FF2B5EF4-FFF2-40B4-BE49-F238E27FC236}">
                <a16:creationId xmlns:a16="http://schemas.microsoft.com/office/drawing/2014/main" xmlns="" id="{B7959B63-396C-29D2-2F35-F8A84C6CFBF3}"/>
              </a:ext>
            </a:extLst>
          </p:cNvPr>
          <p:cNvSpPr txBox="1"/>
          <p:nvPr/>
        </p:nvSpPr>
        <p:spPr>
          <a:xfrm>
            <a:off x="8843471" y="2603360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+mj-lt"/>
              </a:rPr>
              <a:t>a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xmlns="" id="{5B436A6C-5CF6-3B74-2B98-11A9445126E3}"/>
              </a:ext>
            </a:extLst>
          </p:cNvPr>
          <p:cNvCxnSpPr/>
          <p:nvPr/>
        </p:nvCxnSpPr>
        <p:spPr>
          <a:xfrm rot="10800000" flipH="1" flipV="1">
            <a:off x="9745821" y="2818011"/>
            <a:ext cx="0" cy="962025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41">
            <a:extLst>
              <a:ext uri="{FF2B5EF4-FFF2-40B4-BE49-F238E27FC236}">
                <a16:creationId xmlns:a16="http://schemas.microsoft.com/office/drawing/2014/main" xmlns="" id="{BE22DFE3-FB62-A94C-5D2E-82B020C542DD}"/>
              </a:ext>
            </a:extLst>
          </p:cNvPr>
          <p:cNvSpPr txBox="1"/>
          <p:nvPr/>
        </p:nvSpPr>
        <p:spPr>
          <a:xfrm>
            <a:off x="9717273" y="3195209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+mj-lt"/>
              </a:rPr>
              <a:t>b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xmlns="" id="{ABC02653-68B7-6EC0-939D-9D49F879A30B}"/>
              </a:ext>
            </a:extLst>
          </p:cNvPr>
          <p:cNvCxnSpPr/>
          <p:nvPr/>
        </p:nvCxnSpPr>
        <p:spPr>
          <a:xfrm flipH="1" flipV="1">
            <a:off x="8414403" y="4109532"/>
            <a:ext cx="1087344" cy="51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41">
            <a:extLst>
              <a:ext uri="{FF2B5EF4-FFF2-40B4-BE49-F238E27FC236}">
                <a16:creationId xmlns:a16="http://schemas.microsoft.com/office/drawing/2014/main" xmlns="" id="{8140D57D-C795-E092-7933-0B677F1091DA}"/>
              </a:ext>
            </a:extLst>
          </p:cNvPr>
          <p:cNvSpPr txBox="1"/>
          <p:nvPr/>
        </p:nvSpPr>
        <p:spPr>
          <a:xfrm>
            <a:off x="8783796" y="4109532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+mj-lt"/>
              </a:rPr>
              <a:t>b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xmlns="" id="{2AE06D9E-F4D1-B927-1015-630C28450E25}"/>
              </a:ext>
            </a:extLst>
          </p:cNvPr>
          <p:cNvCxnSpPr/>
          <p:nvPr/>
        </p:nvCxnSpPr>
        <p:spPr>
          <a:xfrm flipH="1" flipV="1">
            <a:off x="8367668" y="2742383"/>
            <a:ext cx="1212027" cy="1126400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41">
            <a:extLst>
              <a:ext uri="{FF2B5EF4-FFF2-40B4-BE49-F238E27FC236}">
                <a16:creationId xmlns:a16="http://schemas.microsoft.com/office/drawing/2014/main" xmlns="" id="{7947372E-81F1-EB6D-174C-F587664DB9B9}"/>
              </a:ext>
            </a:extLst>
          </p:cNvPr>
          <p:cNvSpPr txBox="1"/>
          <p:nvPr/>
        </p:nvSpPr>
        <p:spPr>
          <a:xfrm>
            <a:off x="8735546" y="3198738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+mj-lt"/>
              </a:rPr>
              <a:t>a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xmlns="" id="{4640BA0A-7837-2B70-7CB1-91C2361C2EFE}"/>
              </a:ext>
            </a:extLst>
          </p:cNvPr>
          <p:cNvSpPr/>
          <p:nvPr/>
        </p:nvSpPr>
        <p:spPr>
          <a:xfrm>
            <a:off x="1352407" y="4525594"/>
            <a:ext cx="1936294" cy="4390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0E47A1"/>
                </a:solidFill>
                <a:latin typeface="+mj-lt"/>
              </a:rPr>
              <a:t>Transition Table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xmlns="" id="{1BBC8E8D-9E14-0981-1E27-29CFA0615635}"/>
              </a:ext>
            </a:extLst>
          </p:cNvPr>
          <p:cNvSpPr/>
          <p:nvPr/>
        </p:nvSpPr>
        <p:spPr>
          <a:xfrm>
            <a:off x="7559843" y="5195909"/>
            <a:ext cx="2523418" cy="4390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0E47A1"/>
                </a:solidFill>
                <a:latin typeface="+mj-lt"/>
              </a:rPr>
              <a:t>DFA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xmlns="" id="{CABAB7F4-7B70-701D-2B4E-776FCBAFA372}"/>
              </a:ext>
            </a:extLst>
          </p:cNvPr>
          <p:cNvSpPr/>
          <p:nvPr/>
        </p:nvSpPr>
        <p:spPr>
          <a:xfrm>
            <a:off x="1608636" y="5094425"/>
            <a:ext cx="3801565" cy="11494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solidFill>
                  <a:srgbClr val="C00000"/>
                </a:solidFill>
                <a:latin typeface="+mj-lt"/>
              </a:rPr>
              <a:t>Note: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C00000"/>
                </a:solidFill>
                <a:latin typeface="+mj-lt"/>
              </a:rPr>
              <a:t>Accepting state in NFA is 10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C00000"/>
                </a:solidFill>
                <a:latin typeface="+mj-lt"/>
              </a:rPr>
              <a:t>10 is element of 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C00000"/>
                </a:solidFill>
                <a:latin typeface="+mj-lt"/>
              </a:rPr>
              <a:t> So, E is acceptance state in DFA</a:t>
            </a:r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xmlns="" id="{02DA4C34-787B-6434-161B-D03B15E96943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73808" y="2224917"/>
          <a:ext cx="3177041" cy="4267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States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n-US" sz="22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b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xmlns="" id="{D680A75A-8FC9-FB4D-FA99-BD47A82AD57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73809" y="2647857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800" b="0"/>
                        <a:t>A = {0,1,2,4,7}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xmlns="" id="{820BDA6F-E86D-510B-F6F5-77C231DD9BE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73809" y="3013617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B = {1,2,3,4,6,7,8}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D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xmlns="" id="{0678B779-B1CA-61C8-F161-10F16DDBB969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73809" y="3386696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800" b="0"/>
                        <a:t>C = {1,2,4,5,6,7}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xmlns="" id="{35DBA903-482A-3489-D5A5-C1CBA1BDBD8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73808" y="3745218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800" b="0"/>
                        <a:t>D = {</a:t>
                      </a:r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1,2,4,5,6,7,9</a:t>
                      </a:r>
                      <a:r>
                        <a:rPr lang="en-US" sz="1800" b="0"/>
                        <a:t>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E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xmlns="" id="{0722E473-E675-4F90-0734-003C487B33E8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73808" y="4107198"/>
          <a:ext cx="3177040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88163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l"/>
                      <a:r>
                        <a:rPr lang="en-US" sz="1700" b="0"/>
                        <a:t>E = {</a:t>
                      </a:r>
                      <a:r>
                        <a:rPr lang="en-US" sz="17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1,2,4,5,6,7,</a:t>
                      </a:r>
                      <a:r>
                        <a:rPr lang="en-US" sz="1700" b="0" kern="120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lang="en-US" sz="1700" b="0"/>
                        <a:t>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8745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9" grpId="0"/>
      <p:bldP spid="10" grpId="0"/>
      <p:bldP spid="11" grpId="0"/>
      <p:bldP spid="14" grpId="0"/>
      <p:bldP spid="16" grpId="0"/>
      <p:bldP spid="17" grpId="0" animBg="1"/>
      <p:bldP spid="18" grpId="0" animBg="1"/>
      <p:bldP spid="19" grpId="0" animBg="1"/>
      <p:bldP spid="22" grpId="0"/>
      <p:bldP spid="23" grpId="0"/>
      <p:bldP spid="25" grpId="0"/>
      <p:bldP spid="27" grpId="0"/>
      <p:bldP spid="29" grpId="0"/>
      <p:bldP spid="3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F8B189A-4621-25E0-DE95-C9A5802845ED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0D08772-E8C0-973A-1CE5-0E04FE0D837C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Convert following regular expression to DFA using subset construction method: </a:t>
            </a:r>
          </a:p>
          <a:p>
            <a:pPr marL="1001712" lvl="1" indent="-457200">
              <a:buFont typeface="+mj-lt"/>
              <a:buAutoNum type="arabicPeriod"/>
            </a:pPr>
            <a:r>
              <a:rPr lang="en-US"/>
              <a:t>(a+b)*a(a+b)</a:t>
            </a:r>
          </a:p>
          <a:p>
            <a:pPr marL="1001712" lvl="1" indent="-457200">
              <a:buFont typeface="+mj-lt"/>
              <a:buAutoNum type="arabicPeriod"/>
            </a:pPr>
            <a:r>
              <a:rPr lang="en-US"/>
              <a:t>(a+b)*ab*a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0652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8FBAFB1-7BE6-AE61-D382-3D1421536FA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DFA optimization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A34A64DA-4C48-75BC-0B0F-DBD426789BA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1pPr>
                <a:lvl2pPr marL="6858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>
                  <a:lnSpc>
                    <a:spcPct val="114000"/>
                  </a:lnSpc>
                  <a:spcBef>
                    <a:spcPct val="0"/>
                  </a:spcBef>
                  <a:buFont typeface="+mj-lt"/>
                  <a:buAutoNum type="arabicPeriod"/>
                </a:pPr>
                <a:r>
                  <a:rPr lang="en-US" sz="2400" dirty="0"/>
                  <a:t>Construct an initial partition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lang="en-US" sz="2400" dirty="0"/>
                  <a:t> of the set of states with two groups: the accepting states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400" dirty="0"/>
                  <a:t> and the non-accepting states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400" dirty="0"/>
                  <a:t>. </a:t>
                </a:r>
              </a:p>
              <a:p>
                <a:pPr marL="457200" indent="-457200">
                  <a:lnSpc>
                    <a:spcPct val="114000"/>
                  </a:lnSpc>
                  <a:spcBef>
                    <a:spcPct val="0"/>
                  </a:spcBef>
                  <a:buFont typeface="+mj-lt"/>
                  <a:buAutoNum type="arabicPeriod"/>
                </a:pPr>
                <a:r>
                  <a:rPr lang="en-US" sz="2400" dirty="0"/>
                  <a:t>Apply the repartition procedure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lang="en-US" sz="2400" dirty="0"/>
                  <a:t> to construct a new partition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sz="2400" i="1" err="1">
                        <a:latin typeface="Cambria Math" panose="02040503050406030204" pitchFamily="18" charset="0"/>
                      </a:rPr>
                      <m:t>𝑛𝑒𝑤</m:t>
                    </m:r>
                  </m:oMath>
                </a14:m>
                <a:r>
                  <a:rPr lang="en-US" sz="2400" dirty="0"/>
                  <a:t>. </a:t>
                </a:r>
              </a:p>
              <a:p>
                <a:pPr marL="457200" indent="-457200">
                  <a:lnSpc>
                    <a:spcPct val="114000"/>
                  </a:lnSpc>
                  <a:spcBef>
                    <a:spcPct val="0"/>
                  </a:spcBef>
                  <a:buFont typeface="+mj-lt"/>
                  <a:buAutoNum type="arabicPeriod"/>
                </a:pPr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𝑛𝑒𝑤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lang="en-US" sz="2400" dirty="0"/>
                  <a:t>, 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sz="2400" i="1" err="1">
                        <a:latin typeface="Cambria Math" panose="02040503050406030204" pitchFamily="18" charset="0"/>
                      </a:rPr>
                      <m:t>𝑓𝑖𝑛𝑎𝑙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and continue with step (4). Otherwise, repeat step (2)   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sty m:val="p"/>
                      </m:rPr>
                      <a:rPr lang="en-US" sz="2400" err="1"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sz="2400" i="1" err="1">
                        <a:latin typeface="Cambria Math" panose="02040503050406030204" pitchFamily="18" charset="0"/>
                      </a:rPr>
                      <m:t>𝑛𝑒𝑤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0" indent="0" defTabSz="600075">
                  <a:lnSpc>
                    <a:spcPct val="114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sz="2400" dirty="0"/>
                  <a:t>		</a:t>
                </a:r>
                <a:r>
                  <a:rPr lang="en-US" sz="2400" b="1" dirty="0"/>
                  <a:t>for</a:t>
                </a:r>
                <a:r>
                  <a:rPr lang="en-US" sz="2400" dirty="0"/>
                  <a:t> each group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400" dirty="0"/>
                  <a:t>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b="1" dirty="0"/>
                  <a:t>do begin </a:t>
                </a:r>
              </a:p>
              <a:p>
                <a:pPr marL="0" indent="0" defTabSz="704850">
                  <a:lnSpc>
                    <a:spcPct val="114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sz="2400" dirty="0"/>
                  <a:t>			partition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400" dirty="0"/>
                  <a:t> into subgroups such that two states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2400" dirty="0"/>
              </a:p>
              <a:p>
                <a:pPr marL="0" indent="0" defTabSz="642938">
                  <a:lnSpc>
                    <a:spcPct val="114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sz="2400" dirty="0"/>
                  <a:t>				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400" dirty="0"/>
                  <a:t> are in the same subgroup if and only if for all </a:t>
                </a:r>
              </a:p>
              <a:p>
                <a:pPr marL="0" indent="0" defTabSz="198438">
                  <a:lnSpc>
                    <a:spcPct val="114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  <a:tabLst>
                    <a:tab pos="2057400" algn="l"/>
                  </a:tabLst>
                </a:pPr>
                <a:r>
                  <a:rPr lang="en-US" sz="2400" dirty="0"/>
                  <a:t>				input symbols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/>
                  <a:t>, states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400" dirty="0"/>
                  <a:t> have transitions 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sz="2400" dirty="0"/>
              </a:p>
              <a:p>
                <a:pPr marL="0" indent="0" defTabSz="657225">
                  <a:lnSpc>
                    <a:spcPct val="114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sz="2400" dirty="0"/>
                  <a:t>				to states in the same group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lang="en-US" sz="2400" dirty="0"/>
                  <a:t>. </a:t>
                </a:r>
              </a:p>
              <a:p>
                <a:pPr marL="0" indent="0" defTabSz="704850">
                  <a:lnSpc>
                    <a:spcPct val="114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sz="2400" dirty="0"/>
                  <a:t>			replace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400" dirty="0"/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sz="2400" i="1" err="1">
                        <a:latin typeface="Cambria Math" panose="02040503050406030204" pitchFamily="18" charset="0"/>
                      </a:rPr>
                      <m:t>𝑛𝑒𝑤</m:t>
                    </m:r>
                  </m:oMath>
                </a14:m>
                <a:r>
                  <a:rPr lang="en-US" sz="2400" dirty="0"/>
                  <a:t> by the set of all subgroups formed.</a:t>
                </a:r>
              </a:p>
              <a:p>
                <a:pPr marL="1200150" indent="0" defTabSz="704850">
                  <a:lnSpc>
                    <a:spcPct val="114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sz="2400" b="1" dirty="0"/>
                  <a:t>end</a:t>
                </a:r>
              </a:p>
              <a:p>
                <a:endParaRPr lang="en-US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34A64DA-4C48-75BC-0B0F-DBD426789B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  <a:blipFill rotWithShape="0">
                <a:blip r:embed="rId2"/>
                <a:stretch>
                  <a:fillRect l="-971" t="-1200" r="-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9576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9C127DA-A0DD-C085-DC9B-EAD728C704B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DFA optimization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3130E0A5-771D-D1F8-5C94-93E923DB84E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1pPr>
                <a:lvl2pPr marL="6858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>
                  <a:lnSpc>
                    <a:spcPct val="114000"/>
                  </a:lnSpc>
                  <a:spcBef>
                    <a:spcPts val="600"/>
                  </a:spcBef>
                  <a:spcAft>
                    <a:spcPts val="600"/>
                  </a:spcAft>
                  <a:buFont typeface="+mj-lt"/>
                  <a:buAutoNum type="arabicPeriod" startAt="4"/>
                </a:pPr>
                <a:r>
                  <a:rPr lang="en-US"/>
                  <a:t>Choose one state in each group of the partition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i="1" err="1">
                        <a:latin typeface="Cambria Math" panose="02040503050406030204" pitchFamily="18" charset="0"/>
                      </a:rPr>
                      <m:t>𝑓𝑖𝑛𝑎𝑙</m:t>
                    </m:r>
                  </m:oMath>
                </a14:m>
                <a:r>
                  <a:rPr lang="en-US"/>
                  <a:t> as the representative for that group. The representatives will be the states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/>
                  <a:t>. Let s be a representative state, and suppose on input a there is a transition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/>
                  <a:t> from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/>
                  <a:t>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/>
                  <a:t>. Let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/>
                  <a:t> be the representative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/>
                  <a:t>s group. Then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/>
                  <a:t> has a transition from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/>
                  <a:t>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/>
                  <a:t> 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/>
                  <a:t>. Let the start state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/>
                  <a:t> be the representative of the group containing start state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baseline="-2500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/>
                  <a:t>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/>
                  <a:t>, and let the accepting states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/>
                  <a:t> be the representatives that are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/>
                  <a:t>. </a:t>
                </a:r>
              </a:p>
              <a:p>
                <a:pPr marL="457200" indent="-457200">
                  <a:lnSpc>
                    <a:spcPct val="114000"/>
                  </a:lnSpc>
                  <a:spcBef>
                    <a:spcPts val="600"/>
                  </a:spcBef>
                  <a:spcAft>
                    <a:spcPts val="600"/>
                  </a:spcAft>
                  <a:buFont typeface="+mj-lt"/>
                  <a:buAutoNum type="arabicPeriod" startAt="4"/>
                </a:pPr>
                <a:r>
                  <a:rPr lang="en-US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/>
                  <a:t> has a dead state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/>
                  <a:t>, then remove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/>
                  <a:t> from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/>
                  <a:t>. Also remove any state not reachable from the start state.</a:t>
                </a:r>
              </a:p>
              <a:p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3130E0A5-771D-D1F8-5C94-93E923DB84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  <a:blipFill rotWithShape="0">
                <a:blip r:embed="rId2"/>
                <a:stretch>
                  <a:fillRect l="-1278" t="-1527" r="-10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8553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D4F04D8-68D2-EBBF-DF00-86F806937904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DFA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77930CF-5E29-C45B-7E19-F53CE19AC1AA}"/>
              </a:ext>
            </a:extLst>
          </p:cNvPr>
          <p:cNvSpPr txBox="1">
            <a:spLocks/>
          </p:cNvSpPr>
          <p:nvPr/>
        </p:nvSpPr>
        <p:spPr>
          <a:xfrm>
            <a:off x="131180" y="4969345"/>
            <a:ext cx="5920221" cy="1484663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Now no more splitting is possible.</a:t>
            </a:r>
          </a:p>
          <a:p>
            <a:r>
              <a:rPr lang="en-US" sz="2000" dirty="0"/>
              <a:t>If we chose A as the representative for group (AC), then we obtain reduced transition table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5E383E3F-8239-DF80-7D7F-7DCC71E574F9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7312486" y="1482516"/>
          <a:ext cx="2347906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250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A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xmlns="" id="{9B27AE1D-909A-8C37-34C0-ED3EB1ABDDD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7312487" y="1848276"/>
          <a:ext cx="2347905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250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D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xmlns="" id="{F2020882-8A9D-E19B-89C9-50AE1557BEC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7312486" y="2221355"/>
          <a:ext cx="2347906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250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C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xmlns="" id="{13C0C473-B683-42AE-82C4-93FF447037FD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7312486" y="2588198"/>
          <a:ext cx="2347906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250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D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E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xmlns="" id="{C4DAA7CE-2323-6D3B-60EE-F4BC653EB74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7312486" y="2953958"/>
          <a:ext cx="2342114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4671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700" b="0"/>
                        <a:t>E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xmlns="" id="{E1381AD1-8773-A1E6-D58C-E5D890AA230B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7312485" y="1113097"/>
          <a:ext cx="2347906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250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 b="1"/>
                        <a:t>States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n-US" sz="1800" b="1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/>
                        <a:t>b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xmlns="" id="{9AD2AE98-70BD-4F3B-FCFE-C1CF5EADFB8C}"/>
                  </a:ext>
                </a:extLst>
              </p:cNvPr>
              <p:cNvSpPr/>
              <p:nvPr/>
            </p:nvSpPr>
            <p:spPr>
              <a:xfrm>
                <a:off x="2667000" y="1295977"/>
                <a:ext cx="1524000" cy="381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9AD2AE98-70BD-4F3B-FCFE-C1CF5EADFB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0" y="1295977"/>
                <a:ext cx="1524000" cy="381000"/>
              </a:xfrm>
              <a:prstGeom prst="rect">
                <a:avLst/>
              </a:prstGeom>
              <a:blipFill rotWithShape="0">
                <a:blip r:embed="rId2"/>
                <a:stretch>
                  <a:fillRect l="-7200" r="-2400" b="-2096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xmlns="" id="{1D747EC7-5348-FE2A-EA90-E8F3605B436B}"/>
                  </a:ext>
                </a:extLst>
              </p:cNvPr>
              <p:cNvSpPr/>
              <p:nvPr/>
            </p:nvSpPr>
            <p:spPr>
              <a:xfrm>
                <a:off x="533400" y="1947285"/>
                <a:ext cx="2876550" cy="82271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>
                    <a:solidFill>
                      <a:schemeClr val="tx1"/>
                    </a:solidFill>
                  </a:rPr>
                  <a:t>Nonaccepting States 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D747EC7-5348-FE2A-EA90-E8F3605B43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1947285"/>
                <a:ext cx="2876550" cy="822710"/>
              </a:xfrm>
              <a:prstGeom prst="rect">
                <a:avLst/>
              </a:prstGeom>
              <a:blipFill rotWithShape="0">
                <a:blip r:embed="rId3"/>
                <a:stretch>
                  <a:fillRect b="-148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xmlns="" id="{D7D62578-A04B-AC40-AECD-80241793581C}"/>
                  </a:ext>
                </a:extLst>
              </p:cNvPr>
              <p:cNvSpPr/>
              <p:nvPr/>
            </p:nvSpPr>
            <p:spPr>
              <a:xfrm>
                <a:off x="3052770" y="1947285"/>
                <a:ext cx="2876550" cy="82271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>
                    <a:solidFill>
                      <a:schemeClr val="tx1"/>
                    </a:solidFill>
                  </a:rPr>
                  <a:t>Accepting States 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D7D62578-A04B-AC40-AECD-8024179358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2770" y="1947285"/>
                <a:ext cx="2876550" cy="822710"/>
              </a:xfrm>
              <a:prstGeom prst="rect">
                <a:avLst/>
              </a:prstGeom>
              <a:blipFill rotWithShape="0">
                <a:blip r:embed="rId4"/>
                <a:stretch>
                  <a:fillRect b="-148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xmlns="" id="{48DAD0CA-C87E-9837-FA9D-C24B6D911395}"/>
              </a:ext>
            </a:extLst>
          </p:cNvPr>
          <p:cNvCxnSpPr/>
          <p:nvPr/>
        </p:nvCxnSpPr>
        <p:spPr>
          <a:xfrm flipH="1">
            <a:off x="2667000" y="1676977"/>
            <a:ext cx="742950" cy="354179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xmlns="" id="{6C0A67CA-C825-054D-EEFB-C84A83E82C22}"/>
              </a:ext>
            </a:extLst>
          </p:cNvPr>
          <p:cNvCxnSpPr/>
          <p:nvPr/>
        </p:nvCxnSpPr>
        <p:spPr>
          <a:xfrm>
            <a:off x="3395662" y="1677906"/>
            <a:ext cx="781050" cy="396114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xmlns="" id="{48F21F6F-895A-1C76-1AE0-A45B919E706B}"/>
                  </a:ext>
                </a:extLst>
              </p:cNvPr>
              <p:cNvSpPr/>
              <p:nvPr/>
            </p:nvSpPr>
            <p:spPr>
              <a:xfrm>
                <a:off x="344672" y="2905644"/>
                <a:ext cx="1766896" cy="82271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48F21F6F-895A-1C76-1AE0-A45B919E70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672" y="2905644"/>
                <a:ext cx="1766896" cy="82271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xmlns="" id="{23BD3F25-6B64-EAAF-539C-253175A4AB2B}"/>
                  </a:ext>
                </a:extLst>
              </p:cNvPr>
              <p:cNvSpPr/>
              <p:nvPr/>
            </p:nvSpPr>
            <p:spPr>
              <a:xfrm>
                <a:off x="2642906" y="2919932"/>
                <a:ext cx="695317" cy="82271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3BD3F25-6B64-EAAF-539C-253175A4AB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2906" y="2919932"/>
                <a:ext cx="695317" cy="82271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xmlns="" id="{9AD5B6AC-1DAE-186C-656E-8E4559D20A6D}"/>
              </a:ext>
            </a:extLst>
          </p:cNvPr>
          <p:cNvCxnSpPr/>
          <p:nvPr/>
        </p:nvCxnSpPr>
        <p:spPr>
          <a:xfrm flipH="1">
            <a:off x="1368618" y="2721064"/>
            <a:ext cx="742950" cy="354179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xmlns="" id="{E5635B12-F50F-B46A-5FD4-318C867F569F}"/>
              </a:ext>
            </a:extLst>
          </p:cNvPr>
          <p:cNvCxnSpPr/>
          <p:nvPr/>
        </p:nvCxnSpPr>
        <p:spPr>
          <a:xfrm>
            <a:off x="2097280" y="2721993"/>
            <a:ext cx="781050" cy="396114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xmlns="" id="{5164992A-1B8F-2209-F848-5E3B54C10F03}"/>
              </a:ext>
            </a:extLst>
          </p:cNvPr>
          <p:cNvCxnSpPr/>
          <p:nvPr/>
        </p:nvCxnSpPr>
        <p:spPr>
          <a:xfrm flipH="1">
            <a:off x="595145" y="3527869"/>
            <a:ext cx="742950" cy="354179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xmlns="" id="{DF2605AA-DEB7-5E60-3AF2-9545BC99EB8D}"/>
              </a:ext>
            </a:extLst>
          </p:cNvPr>
          <p:cNvCxnSpPr/>
          <p:nvPr/>
        </p:nvCxnSpPr>
        <p:spPr>
          <a:xfrm>
            <a:off x="1323807" y="3528798"/>
            <a:ext cx="781050" cy="396114"/>
          </a:xfrm>
          <a:prstGeom prst="straightConnector1">
            <a:avLst/>
          </a:prstGeom>
          <a:ln w="25400">
            <a:solidFill>
              <a:srgbClr val="0E47A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xmlns="" id="{F30E1ACC-DE9C-E99A-80CC-00C21486FE13}"/>
                  </a:ext>
                </a:extLst>
              </p:cNvPr>
              <p:cNvSpPr/>
              <p:nvPr/>
            </p:nvSpPr>
            <p:spPr>
              <a:xfrm>
                <a:off x="1198140" y="3699388"/>
                <a:ext cx="1766896" cy="82271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30E1ACC-DE9C-E99A-80CC-00C21486FE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8140" y="3699388"/>
                <a:ext cx="1766896" cy="82271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xmlns="" id="{0CB34ECF-DCFD-A82D-2460-E2DD5502953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7314986" y="4183238"/>
          <a:ext cx="2347906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250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A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A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xmlns="" id="{09094BF8-C04E-7EC7-5860-CCB26D27CFA5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7314987" y="4548998"/>
          <a:ext cx="2347905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250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D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xmlns="" id="{BEA12274-240F-BA9A-40B1-C982389134D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7320777" y="4915740"/>
          <a:ext cx="2347906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250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D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E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xmlns="" id="{58BD6CCB-DDC1-E0BB-8BD0-95FEAC643CC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7323673" y="5282482"/>
          <a:ext cx="2342114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4671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700" b="0"/>
                        <a:t>E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A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xmlns="" id="{E309214A-B43C-D167-1119-E9CD0BCB1DA5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7314985" y="3813819"/>
          <a:ext cx="2347906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250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200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 b="1"/>
                        <a:t>States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n-US" sz="1800" b="1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/>
                        <a:t>b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7A6AB370-3636-C47D-E620-9670E22AB49F}"/>
              </a:ext>
            </a:extLst>
          </p:cNvPr>
          <p:cNvSpPr txBox="1"/>
          <p:nvPr/>
        </p:nvSpPr>
        <p:spPr>
          <a:xfrm>
            <a:off x="7542230" y="5643245"/>
            <a:ext cx="1905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0E47A1"/>
                </a:solidFill>
              </a:rPr>
              <a:t>Optimized Transition Table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xmlns="" id="{324ABFD4-09EC-0238-E39B-3116429E59CD}"/>
              </a:ext>
            </a:extLst>
          </p:cNvPr>
          <p:cNvCxnSpPr/>
          <p:nvPr/>
        </p:nvCxnSpPr>
        <p:spPr>
          <a:xfrm rot="5400000">
            <a:off x="3861202" y="3598933"/>
            <a:ext cx="5486400" cy="0"/>
          </a:xfrm>
          <a:prstGeom prst="line">
            <a:avLst/>
          </a:prstGeom>
          <a:ln>
            <a:solidFill>
              <a:srgbClr val="0E47A1"/>
            </a:solidFill>
            <a:prstDash val="soli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xmlns="" id="{338658A7-FDB3-3EC2-BA54-DB9C5BEE4577}"/>
                  </a:ext>
                </a:extLst>
              </p:cNvPr>
              <p:cNvSpPr/>
              <p:nvPr/>
            </p:nvSpPr>
            <p:spPr>
              <a:xfrm>
                <a:off x="-331163" y="3699388"/>
                <a:ext cx="1766896" cy="82271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338658A7-FDB3-3EC2-BA54-DB9C5BEE45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31163" y="3699388"/>
                <a:ext cx="1766896" cy="82271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7736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5" grpId="0"/>
      <p:bldP spid="16" grpId="0"/>
      <p:bldP spid="21" grpId="0"/>
      <p:bldP spid="29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91A4B17-7A71-3C70-98CB-3EBEDCB472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Conversion from regular expression to DFA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65D7061F-1A65-4CDD-6AA1-B246D3C1DC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50039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41178C1-3809-2F10-624B-081D1F1D4F43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altLang="zh-TW"/>
              <a:t>Rules to compute nullable, firstpos, lastpos</a:t>
            </a: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93FFF093-DE02-42BF-5B16-8ACF4C5DE86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1pPr>
                <a:lvl2pPr marL="6858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14000"/>
                  </a:lnSpc>
                </a:pPr>
                <a:r>
                  <a:rPr lang="en-US" altLang="zh-TW" sz="2600" dirty="0">
                    <a:solidFill>
                      <a:srgbClr val="0E47A1"/>
                    </a:solidFill>
                  </a:rPr>
                  <a:t>nullable(n)</a:t>
                </a:r>
              </a:p>
              <a:p>
                <a:pPr lvl="1">
                  <a:lnSpc>
                    <a:spcPct val="114000"/>
                  </a:lnSpc>
                </a:pPr>
                <a:r>
                  <a:rPr lang="en-US" altLang="zh-TW" sz="2200" dirty="0"/>
                  <a:t>The subtree at node </a:t>
                </a:r>
                <a14:m>
                  <m:oMath xmlns:m="http://schemas.openxmlformats.org/officeDocument/2006/math">
                    <m:r>
                      <a:rPr lang="en-US" altLang="zh-TW" sz="22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TW" sz="2200" dirty="0"/>
                  <a:t> generates languages including the empty string.</a:t>
                </a:r>
              </a:p>
              <a:p>
                <a:pPr>
                  <a:lnSpc>
                    <a:spcPct val="114000"/>
                  </a:lnSpc>
                </a:pPr>
                <a:r>
                  <a:rPr lang="en-US" altLang="zh-TW" sz="2600" dirty="0" err="1">
                    <a:solidFill>
                      <a:srgbClr val="0E47A1"/>
                    </a:solidFill>
                  </a:rPr>
                  <a:t>firstpos</a:t>
                </a:r>
                <a:r>
                  <a:rPr lang="en-US" altLang="zh-TW" sz="2600" dirty="0">
                    <a:solidFill>
                      <a:srgbClr val="0E47A1"/>
                    </a:solidFill>
                  </a:rPr>
                  <a:t>(n)</a:t>
                </a:r>
              </a:p>
              <a:p>
                <a:pPr lvl="1">
                  <a:lnSpc>
                    <a:spcPct val="114000"/>
                  </a:lnSpc>
                </a:pPr>
                <a:r>
                  <a:rPr lang="en-US" altLang="zh-TW" sz="2200" dirty="0"/>
                  <a:t>The set of positions that can match the first symbol of a string generated by the subtree at node </a:t>
                </a:r>
                <a14:m>
                  <m:oMath xmlns:m="http://schemas.openxmlformats.org/officeDocument/2006/math">
                    <m:r>
                      <a:rPr lang="en-US" altLang="zh-TW" sz="22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220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TW" sz="2200" dirty="0"/>
              </a:p>
              <a:p>
                <a:pPr>
                  <a:lnSpc>
                    <a:spcPct val="114000"/>
                  </a:lnSpc>
                </a:pPr>
                <a:r>
                  <a:rPr lang="en-US" altLang="zh-TW" sz="2600" dirty="0" err="1">
                    <a:solidFill>
                      <a:srgbClr val="0E47A1"/>
                    </a:solidFill>
                  </a:rPr>
                  <a:t>lastpos</a:t>
                </a:r>
                <a:r>
                  <a:rPr lang="en-US" altLang="zh-TW" sz="2600" dirty="0">
                    <a:solidFill>
                      <a:srgbClr val="0E47A1"/>
                    </a:solidFill>
                  </a:rPr>
                  <a:t>(n)</a:t>
                </a:r>
              </a:p>
              <a:p>
                <a:pPr lvl="1">
                  <a:lnSpc>
                    <a:spcPct val="114000"/>
                  </a:lnSpc>
                </a:pPr>
                <a:r>
                  <a:rPr lang="en-US" altLang="zh-TW" sz="2200" dirty="0"/>
                  <a:t>The set of positions that can match the last symbol of a string generated be the subtree at node </a:t>
                </a:r>
                <a14:m>
                  <m:oMath xmlns:m="http://schemas.openxmlformats.org/officeDocument/2006/math">
                    <m:r>
                      <a:rPr lang="en-US" altLang="zh-TW" sz="22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220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TW" sz="2200" dirty="0"/>
              </a:p>
              <a:p>
                <a:pPr>
                  <a:lnSpc>
                    <a:spcPct val="114000"/>
                  </a:lnSpc>
                </a:pPr>
                <a:r>
                  <a:rPr lang="en-US" altLang="zh-TW" sz="2600" dirty="0" err="1">
                    <a:solidFill>
                      <a:srgbClr val="0E47A1"/>
                    </a:solidFill>
                  </a:rPr>
                  <a:t>followpos</a:t>
                </a:r>
                <a:r>
                  <a:rPr lang="en-US" altLang="zh-TW" sz="2600" dirty="0">
                    <a:solidFill>
                      <a:srgbClr val="0E47A1"/>
                    </a:solidFill>
                  </a:rPr>
                  <a:t>(</a:t>
                </a:r>
                <a:r>
                  <a:rPr lang="en-US" altLang="zh-TW" sz="2600" dirty="0" err="1">
                    <a:solidFill>
                      <a:srgbClr val="0E47A1"/>
                    </a:solidFill>
                  </a:rPr>
                  <a:t>i</a:t>
                </a:r>
                <a:r>
                  <a:rPr lang="en-US" altLang="zh-TW" sz="2600" dirty="0">
                    <a:solidFill>
                      <a:srgbClr val="0E47A1"/>
                    </a:solidFill>
                  </a:rPr>
                  <a:t>)</a:t>
                </a:r>
              </a:p>
              <a:p>
                <a:pPr lvl="1">
                  <a:lnSpc>
                    <a:spcPct val="114000"/>
                  </a:lnSpc>
                </a:pPr>
                <a:r>
                  <a:rPr lang="en-US" altLang="zh-TW" sz="2200" dirty="0"/>
                  <a:t> The set of positions that can follow position </a:t>
                </a:r>
                <a14:m>
                  <m:oMath xmlns:m="http://schemas.openxmlformats.org/officeDocument/2006/math">
                    <m:r>
                      <a:rPr lang="en-US" altLang="zh-TW" sz="22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TW" sz="2200" dirty="0"/>
                  <a:t> in the tree.</a:t>
                </a:r>
                <a:endParaRPr lang="en-US" altLang="zh-TW" sz="2200" i="1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93FFF093-DE02-42BF-5B16-8ACF4C5DE8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  <a:blipFill rotWithShape="0">
                <a:blip r:embed="rId2"/>
                <a:stretch>
                  <a:fillRect l="-818" t="-545" r="-7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5749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1E187EC-32AF-E2D4-2A07-22ED688707D6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altLang="zh-TW"/>
              <a:t>Rules to compute nullable, firstpos, lastpos</a:t>
            </a:r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xmlns="" id="{40F6C726-7DB7-7970-DD40-1DD160F605A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054769" y="1062789"/>
          <a:ext cx="8458200" cy="39624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1145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95791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27118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11455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Node n</a:t>
                      </a:r>
                    </a:p>
                  </a:txBody>
                  <a:tcPr marT="45723" marB="45723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000" b="1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nullable(n)</a:t>
                      </a:r>
                    </a:p>
                  </a:txBody>
                  <a:tcPr marT="45723" marB="45723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000" b="1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firstpos(n)</a:t>
                      </a:r>
                    </a:p>
                  </a:txBody>
                  <a:tcPr marT="45723" marB="45723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000" b="1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lastpos(n)</a:t>
                      </a:r>
                    </a:p>
                  </a:txBody>
                  <a:tcPr marT="45723" marB="45723" anchor="ctr" horzOverflow="overflow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xmlns="" id="{AB0D3D24-DD46-79F8-0EFA-A124839998E2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1054769" y="1455231"/>
              <a:ext cx="8458200" cy="396246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211455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1957916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2271182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2114552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65000"/>
                            <a:buFont typeface="Wingdings" panose="05000000000000000000" pitchFamily="2" charset="2"/>
                            <a:buNone/>
                          </a:pPr>
                          <a:r>
                            <a:rPr kumimoji="1" lang="en-US" altLang="zh-TW" sz="20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  <a:ea typeface="新細明體" panose="02020500000000000000" pitchFamily="18" charset="-120"/>
                            </a:rPr>
                            <a:t>A leaf labeled by</a:t>
                          </a:r>
                          <a:r>
                            <a:rPr kumimoji="1" lang="en-US" altLang="zh-TW" sz="20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  <a:ea typeface="新細明體" panose="02020500000000000000" pitchFamily="18" charset="-12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zh-TW" sz="2000" b="1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2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新細明體" pitchFamily="18" charset="-120"/>
                                  <a:sym typeface="Symbol" pitchFamily="18" charset="2"/>
                                </a:rPr>
                                <m:t></m:t>
                              </m:r>
                            </m:oMath>
                          </a14:m>
                          <a:endParaRPr kumimoji="1" lang="en-US" altLang="zh-TW" sz="2000" b="1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j-lt"/>
                            <a:ea typeface="新細明體" panose="02020500000000000000" pitchFamily="18" charset="-120"/>
                            <a:sym typeface="Symbol" pitchFamily="18" charset="2"/>
                          </a:endParaRPr>
                        </a:p>
                      </a:txBody>
                      <a:tcPr marT="45723" marB="45723" anchor="ctr" horzOverflow="overflow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65000"/>
                            <a:buFont typeface="Wingdings" panose="05000000000000000000" pitchFamily="2" charset="2"/>
                            <a:buNone/>
                          </a:pPr>
                          <a:r>
                            <a:rPr kumimoji="1" lang="en-US" altLang="zh-TW" sz="20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  <a:ea typeface="新細明體" panose="02020500000000000000" pitchFamily="18" charset="-120"/>
                            </a:rPr>
                            <a:t>true</a:t>
                          </a:r>
                        </a:p>
                      </a:txBody>
                      <a:tcPr marT="45723" marB="45723" anchor="ctr" horzOverflow="overflow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65000"/>
                            <a:buFont typeface="Wingdings" panose="05000000000000000000" pitchFamily="2" charset="2"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TW" sz="20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Symbol" pitchFamily="18" charset="2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kumimoji="1" lang="en-US" altLang="zh-TW" sz="20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j-lt"/>
                            <a:ea typeface="新細明體" panose="02020500000000000000" pitchFamily="18" charset="-120"/>
                          </a:endParaRPr>
                        </a:p>
                      </a:txBody>
                      <a:tcPr marT="45723" marB="45723" anchor="ctr" horzOverflow="overflow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65000"/>
                            <a:buFont typeface="Wingdings" panose="05000000000000000000" pitchFamily="2" charset="2"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TW" sz="20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Symbol" pitchFamily="18" charset="2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kumimoji="1" lang="en-US" altLang="zh-TW" sz="2000" b="0" i="0" u="none" strike="noStrike" kern="1200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T="45723" marB="45723" anchor="ctr" horzOverflow="overflow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B0D3D24-DD46-79F8-0EFA-A124839998E2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1054769" y="1455231"/>
              <a:ext cx="8458200" cy="396246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211455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1957916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2271182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  <a:gridCol w="2114552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3"/>
                        </a:ext>
                      </a:extLst>
                    </a:gridCol>
                  </a:tblGrid>
                  <a:tr h="39624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23" marB="45723" anchor="ctr" horzOverflow="overflow">
                        <a:blipFill rotWithShape="0">
                          <a:blip r:embed="rId2"/>
                          <a:stretch>
                            <a:fillRect l="-1441" t="-7576" r="-300576" b="-2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65000"/>
                            <a:buFont typeface="Wingdings" panose="05000000000000000000" pitchFamily="2" charset="2"/>
                            <a:buNone/>
                          </a:pPr>
                          <a:r>
                            <a:rPr kumimoji="1" lang="en-US" altLang="zh-TW" sz="20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  <a:ea typeface="新細明體" panose="02020500000000000000" pitchFamily="18" charset="-120"/>
                            </a:rPr>
                            <a:t>true</a:t>
                          </a:r>
                        </a:p>
                      </a:txBody>
                      <a:tcPr marT="45723" marB="45723" anchor="ctr" horzOverflow="overflow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23" marB="45723" anchor="ctr" horzOverflow="overflow">
                        <a:blipFill rotWithShape="0">
                          <a:blip r:embed="rId2"/>
                          <a:stretch>
                            <a:fillRect l="-180429" t="-7576" r="-93566" b="-2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23" marB="45723" anchor="ctr" horzOverflow="overflow">
                        <a:blipFill rotWithShape="0">
                          <a:blip r:embed="rId2"/>
                          <a:stretch>
                            <a:fillRect l="-301441" t="-7576" r="-576" b="-272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xmlns="" id="{3AB349CA-2C34-87BE-7E7F-1EAF037230ED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1054769" y="1854352"/>
              <a:ext cx="8458200" cy="701046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211455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1957916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2271182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2114552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65000"/>
                            <a:buFont typeface="Wingdings" panose="05000000000000000000" pitchFamily="2" charset="2"/>
                            <a:buNone/>
                          </a:pPr>
                          <a:r>
                            <a:rPr kumimoji="1" lang="en-US" altLang="zh-TW" sz="20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  <a:ea typeface="新細明體" panose="02020500000000000000" pitchFamily="18" charset="-120"/>
                            </a:rPr>
                            <a:t>A leaf with position</a:t>
                          </a:r>
                          <a:r>
                            <a:rPr kumimoji="1" lang="en-US" altLang="zh-TW" sz="20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  <a:ea typeface="新細明體" panose="02020500000000000000" pitchFamily="18" charset="-12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zh-TW" sz="2000" b="1" i="0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2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新細明體" pitchFamily="18" charset="-120"/>
                                </a:rPr>
                                <m:t>𝐢</m:t>
                              </m:r>
                            </m:oMath>
                          </a14:m>
                          <a:endParaRPr kumimoji="1" lang="en-US" altLang="zh-TW" sz="2000" b="1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2"/>
                            </a:solidFill>
                            <a:effectLst/>
                            <a:latin typeface="+mj-lt"/>
                            <a:ea typeface="新細明體" panose="02020500000000000000" pitchFamily="18" charset="-120"/>
                          </a:endParaRPr>
                        </a:p>
                      </a:txBody>
                      <a:tcPr marT="45723" marB="45723" anchor="ctr" horzOverflow="overflow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65000"/>
                            <a:buFont typeface="Wingdings" panose="05000000000000000000" pitchFamily="2" charset="2"/>
                            <a:buNone/>
                          </a:pPr>
                          <a:r>
                            <a:rPr kumimoji="1" lang="en-US" altLang="zh-TW" sz="20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  <a:ea typeface="新細明體" panose="02020500000000000000" pitchFamily="18" charset="-120"/>
                            </a:rPr>
                            <a:t>false</a:t>
                          </a:r>
                        </a:p>
                      </a:txBody>
                      <a:tcPr marT="45723" marB="45723" anchor="ctr" horzOverflow="overflow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65000"/>
                            <a:buFont typeface="Wingdings" panose="05000000000000000000" pitchFamily="2" charset="2"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TW" sz="2000" b="0" i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itchFamily="18" charset="-120"/>
                                  </a:rPr>
                                  <m:t>{</m:t>
                                </m:r>
                                <m:r>
                                  <m:rPr>
                                    <m:sty m:val="p"/>
                                  </m:rPr>
                                  <a:rPr kumimoji="1" lang="en-US" altLang="zh-TW" sz="2000" b="0" i="0" u="none" strike="noStrike" cap="none" normalizeH="0" baseline="0" err="1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itchFamily="18" charset="-120"/>
                                  </a:rPr>
                                  <m:t>i</m:t>
                                </m:r>
                                <m:r>
                                  <a:rPr kumimoji="1" lang="en-US" altLang="zh-TW" sz="2000" b="0" i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itchFamily="18" charset="-12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kumimoji="1" lang="en-US" altLang="zh-TW" sz="20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j-lt"/>
                            <a:ea typeface="新細明體" panose="02020500000000000000" pitchFamily="18" charset="-120"/>
                          </a:endParaRPr>
                        </a:p>
                      </a:txBody>
                      <a:tcPr marT="45723" marB="45723" anchor="ctr" horzOverflow="overflow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65000"/>
                            <a:buFont typeface="Wingdings" panose="05000000000000000000" pitchFamily="2" charset="2"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TW" sz="2000" b="0" i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itchFamily="18" charset="-120"/>
                                  </a:rPr>
                                  <m:t>{</m:t>
                                </m:r>
                                <m:r>
                                  <m:rPr>
                                    <m:sty m:val="p"/>
                                  </m:rPr>
                                  <a:rPr kumimoji="1" lang="en-US" altLang="zh-TW" sz="2000" b="0" i="0" u="none" strike="noStrike" cap="none" normalizeH="0" baseline="0" err="1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itchFamily="18" charset="-120"/>
                                  </a:rPr>
                                  <m:t>i</m:t>
                                </m:r>
                                <m:r>
                                  <a:rPr kumimoji="1" lang="en-US" altLang="zh-TW" sz="2000" b="0" i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itchFamily="18" charset="-12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kumimoji="1" lang="en-US" altLang="zh-TW" sz="20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j-lt"/>
                            <a:ea typeface="新細明體" panose="02020500000000000000" pitchFamily="18" charset="-120"/>
                          </a:endParaRPr>
                        </a:p>
                      </a:txBody>
                      <a:tcPr marT="45723" marB="45723" anchor="ctr" horzOverflow="overflow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3AB349CA-2C34-87BE-7E7F-1EAF037230ED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1054769" y="1854352"/>
              <a:ext cx="8458200" cy="701046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211455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1957916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2271182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  <a:gridCol w="2114552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3"/>
                        </a:ext>
                      </a:extLst>
                    </a:gridCol>
                  </a:tblGrid>
                  <a:tr h="70104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23" marB="45723" anchor="ctr" horzOverflow="overflow">
                        <a:blipFill rotWithShape="0">
                          <a:blip r:embed="rId3"/>
                          <a:stretch>
                            <a:fillRect l="-576" t="-4310" r="-300576" b="-146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65000"/>
                            <a:buFont typeface="Wingdings" panose="05000000000000000000" pitchFamily="2" charset="2"/>
                            <a:buNone/>
                          </a:pPr>
                          <a:r>
                            <a:rPr kumimoji="1" lang="en-US" altLang="zh-TW" sz="20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  <a:ea typeface="新細明體" panose="02020500000000000000" pitchFamily="18" charset="-120"/>
                            </a:rPr>
                            <a:t>false</a:t>
                          </a:r>
                        </a:p>
                      </a:txBody>
                      <a:tcPr marT="45723" marB="45723" anchor="ctr" horzOverflow="overflow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23" marB="45723" anchor="ctr" horzOverflow="overflow">
                        <a:blipFill rotWithShape="0">
                          <a:blip r:embed="rId3"/>
                          <a:stretch>
                            <a:fillRect l="-179625" t="-4310" r="-93566" b="-146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23" marB="45723" anchor="ctr" horzOverflow="overflow">
                        <a:blipFill rotWithShape="0">
                          <a:blip r:embed="rId3"/>
                          <a:stretch>
                            <a:fillRect l="-300576" t="-4310" r="-576" b="-146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xmlns="" id="{CD4A7BE9-A4BE-4A04-49D3-7A0E988F27A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054769" y="2555398"/>
          <a:ext cx="8458200" cy="1341123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1145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95791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27118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11455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13411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endParaRPr kumimoji="1" lang="en-US" altLang="zh-TW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T="45723" marB="45723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nullable(c</a:t>
                      </a:r>
                      <a:r>
                        <a:rPr kumimoji="1" lang="en-US" altLang="zh-TW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1</a:t>
                      </a: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)</a:t>
                      </a:r>
                      <a:b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</a:br>
                      <a:r>
                        <a:rPr kumimoji="1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or</a:t>
                      </a: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/>
                      </a:r>
                      <a:b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</a:b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nullable(c</a:t>
                      </a:r>
                      <a:r>
                        <a:rPr kumimoji="1" lang="en-US" altLang="zh-TW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2</a:t>
                      </a: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)</a:t>
                      </a:r>
                    </a:p>
                  </a:txBody>
                  <a:tcPr marT="45723" marB="45723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firstpos</a:t>
                      </a: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(c</a:t>
                      </a:r>
                      <a:r>
                        <a:rPr kumimoji="1" lang="en-US" altLang="zh-TW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1</a:t>
                      </a: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)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  <a:sym typeface="Symbol" pitchFamily="18" charset="2"/>
                        </a:rPr>
                        <a:t></a:t>
                      </a: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firstpos</a:t>
                      </a: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(c</a:t>
                      </a:r>
                      <a:r>
                        <a:rPr kumimoji="1" lang="en-US" altLang="zh-TW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2</a:t>
                      </a: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)</a:t>
                      </a:r>
                    </a:p>
                  </a:txBody>
                  <a:tcPr marT="45723" marB="45723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lastpos</a:t>
                      </a: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(c</a:t>
                      </a:r>
                      <a:r>
                        <a:rPr kumimoji="1" lang="en-US" altLang="zh-TW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1</a:t>
                      </a: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)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  <a:sym typeface="Symbol" pitchFamily="18" charset="2"/>
                        </a:rPr>
                        <a:t></a:t>
                      </a: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lastpos</a:t>
                      </a: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(c</a:t>
                      </a:r>
                      <a:r>
                        <a:rPr kumimoji="1" lang="en-US" altLang="zh-TW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2</a:t>
                      </a: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)</a:t>
                      </a:r>
                    </a:p>
                  </a:txBody>
                  <a:tcPr marT="45723" marB="45723" anchor="ctr" horzOverflow="overflow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xmlns="" id="{C40AE9CA-A9F8-5BC9-E9C7-42230D326C0D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054769" y="3895109"/>
          <a:ext cx="8458200" cy="137160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1145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95791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27118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11455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13411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endParaRPr kumimoji="1" lang="en-US" altLang="zh-TW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T="45723" marB="45723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nullable(c</a:t>
                      </a:r>
                      <a:r>
                        <a:rPr kumimoji="1" lang="en-US" altLang="zh-TW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1</a:t>
                      </a: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) </a:t>
                      </a:r>
                      <a:b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</a:br>
                      <a:r>
                        <a:rPr kumimoji="1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and</a:t>
                      </a: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/>
                      </a:r>
                      <a:b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</a:b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nullable(c</a:t>
                      </a:r>
                      <a:r>
                        <a:rPr kumimoji="1" lang="en-US" altLang="zh-TW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2</a:t>
                      </a: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)</a:t>
                      </a:r>
                    </a:p>
                  </a:txBody>
                  <a:tcPr marT="45723" marB="45723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if  </a:t>
                      </a: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(nullable(c</a:t>
                      </a:r>
                      <a:r>
                        <a:rPr kumimoji="1" lang="en-US" altLang="zh-TW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1</a:t>
                      </a: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))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then </a:t>
                      </a:r>
                      <a:r>
                        <a:rPr kumimoji="1" lang="en-US" altLang="zh-TW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firstpos</a:t>
                      </a: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(c</a:t>
                      </a:r>
                      <a:r>
                        <a:rPr kumimoji="1" lang="en-US" altLang="zh-TW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1</a:t>
                      </a: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) </a:t>
                      </a:r>
                      <a:r>
                        <a:rPr kumimoji="1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  <a:sym typeface="Symbol" pitchFamily="18" charset="2"/>
                        </a:rPr>
                        <a:t></a:t>
                      </a: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 </a:t>
                      </a:r>
                      <a:r>
                        <a:rPr kumimoji="1" lang="en-US" altLang="zh-TW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firstpos</a:t>
                      </a: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(c</a:t>
                      </a:r>
                      <a:r>
                        <a:rPr kumimoji="1" lang="en-US" altLang="zh-TW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2</a:t>
                      </a: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)</a:t>
                      </a:r>
                      <a:b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</a:br>
                      <a:r>
                        <a:rPr kumimoji="1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else  </a:t>
                      </a:r>
                      <a:r>
                        <a:rPr kumimoji="1" lang="en-US" altLang="zh-TW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firstpos</a:t>
                      </a: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(c</a:t>
                      </a:r>
                      <a:r>
                        <a:rPr kumimoji="1" lang="en-US" altLang="zh-TW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1</a:t>
                      </a: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)</a:t>
                      </a:r>
                    </a:p>
                  </a:txBody>
                  <a:tcPr marT="45723" marB="45723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if  </a:t>
                      </a: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(nullable(c</a:t>
                      </a:r>
                      <a:r>
                        <a:rPr kumimoji="1" lang="en-US" altLang="zh-TW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2</a:t>
                      </a: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)) </a:t>
                      </a:r>
                      <a:r>
                        <a:rPr kumimoji="1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then</a:t>
                      </a: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 </a:t>
                      </a:r>
                      <a:r>
                        <a:rPr kumimoji="1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 </a:t>
                      </a:r>
                      <a:r>
                        <a:rPr kumimoji="1" lang="en-US" altLang="zh-TW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lastpos</a:t>
                      </a: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(c</a:t>
                      </a:r>
                      <a:r>
                        <a:rPr kumimoji="1" lang="en-US" altLang="zh-TW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1</a:t>
                      </a: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) </a:t>
                      </a:r>
                      <a:r>
                        <a:rPr kumimoji="1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  <a:sym typeface="Symbol" pitchFamily="18" charset="2"/>
                        </a:rPr>
                        <a:t></a:t>
                      </a: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 </a:t>
                      </a:r>
                      <a:r>
                        <a:rPr kumimoji="1" lang="en-US" altLang="zh-TW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lastpos</a:t>
                      </a: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(c</a:t>
                      </a:r>
                      <a:r>
                        <a:rPr kumimoji="1" lang="en-US" altLang="zh-TW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2</a:t>
                      </a: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)</a:t>
                      </a:r>
                      <a:b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</a:br>
                      <a:r>
                        <a:rPr kumimoji="1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else </a:t>
                      </a:r>
                      <a:r>
                        <a:rPr kumimoji="1" lang="en-US" altLang="zh-TW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lastpos</a:t>
                      </a: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(c</a:t>
                      </a:r>
                      <a:r>
                        <a:rPr kumimoji="1" lang="en-US" altLang="zh-TW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2</a:t>
                      </a: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)</a:t>
                      </a:r>
                    </a:p>
                  </a:txBody>
                  <a:tcPr marT="45723" marB="45723" anchor="ctr" horzOverflow="overflow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xmlns="" id="{1894F92C-A15B-10A7-2DE9-2D02208F4CC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054769" y="5266715"/>
          <a:ext cx="8458200" cy="10951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1145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95791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27118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11455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10951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endParaRPr kumimoji="1" lang="en-US" altLang="zh-TW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T="45723" marB="45723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true</a:t>
                      </a:r>
                    </a:p>
                  </a:txBody>
                  <a:tcPr marT="45723" marB="45723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firstpos</a:t>
                      </a: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(c</a:t>
                      </a:r>
                      <a:r>
                        <a:rPr kumimoji="1" lang="en-US" altLang="zh-TW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1</a:t>
                      </a: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)</a:t>
                      </a:r>
                    </a:p>
                  </a:txBody>
                  <a:tcPr marT="45723" marB="45723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lastpos</a:t>
                      </a: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(c</a:t>
                      </a:r>
                      <a:r>
                        <a:rPr kumimoji="1" lang="en-US" altLang="zh-TW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1</a:t>
                      </a: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)</a:t>
                      </a:r>
                    </a:p>
                  </a:txBody>
                  <a:tcPr marT="45723" marB="45723" anchor="ctr" horzOverflow="overflow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xmlns="" id="{D0D8A8D8-1719-7752-5168-53BC70B83BDA}"/>
                  </a:ext>
                </a:extLst>
              </p:cNvPr>
              <p:cNvSpPr/>
              <p:nvPr/>
            </p:nvSpPr>
            <p:spPr>
              <a:xfrm>
                <a:off x="1898795" y="2794862"/>
                <a:ext cx="552716" cy="396326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|</m:t>
                      </m:r>
                    </m:oMath>
                  </m:oMathPara>
                </a14:m>
                <a:endParaRPr lang="en-US" i="1">
                  <a:latin typeface="+mj-lt"/>
                </a:endParaRPr>
              </a:p>
            </p:txBody>
          </p:sp>
        </mc:Choice>
        <mc:Fallback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D0D8A8D8-1719-7752-5168-53BC70B83B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8795" y="2794862"/>
                <a:ext cx="552716" cy="396326"/>
              </a:xfrm>
              <a:prstGeom prst="ellipse">
                <a:avLst/>
              </a:prstGeom>
              <a:blipFill rotWithShape="0">
                <a:blip r:embed="rId4"/>
                <a:stretch>
                  <a:fillRect b="-735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38">
            <a:extLst>
              <a:ext uri="{FF2B5EF4-FFF2-40B4-BE49-F238E27FC236}">
                <a16:creationId xmlns:a16="http://schemas.microsoft.com/office/drawing/2014/main" xmlns="" id="{EB408148-0390-D926-F775-25EC336B6026}"/>
              </a:ext>
            </a:extLst>
          </p:cNvPr>
          <p:cNvSpPr txBox="1"/>
          <p:nvPr/>
        </p:nvSpPr>
        <p:spPr>
          <a:xfrm>
            <a:off x="1599893" y="2750959"/>
            <a:ext cx="29367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i="1">
                <a:latin typeface="+mj-lt"/>
              </a:rPr>
              <a:t>n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xmlns="" id="{7204F929-15E8-3DC5-33CF-C55D9D654B58}"/>
              </a:ext>
            </a:extLst>
          </p:cNvPr>
          <p:cNvSpPr/>
          <p:nvPr/>
        </p:nvSpPr>
        <p:spPr>
          <a:xfrm>
            <a:off x="1370387" y="3355076"/>
            <a:ext cx="536000" cy="422526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 i="1">
                <a:latin typeface="+mj-lt"/>
              </a:rPr>
              <a:t>c</a:t>
            </a:r>
            <a:r>
              <a:rPr lang="en-US" b="0" i="1" baseline="-25000">
                <a:latin typeface="+mj-lt"/>
              </a:rPr>
              <a:t>1</a:t>
            </a:r>
            <a:endParaRPr lang="en-US" i="1" baseline="-25000">
              <a:latin typeface="+mj-lt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240C6FBF-4FED-1084-72E5-B0AF8B974A66}"/>
              </a:ext>
            </a:extLst>
          </p:cNvPr>
          <p:cNvCxnSpPr>
            <a:stCxn id="9" idx="5"/>
            <a:endCxn id="14" idx="0"/>
          </p:cNvCxnSpPr>
          <p:nvPr/>
        </p:nvCxnSpPr>
        <p:spPr>
          <a:xfrm>
            <a:off x="2370568" y="3133147"/>
            <a:ext cx="334439" cy="252649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xmlns="" id="{9AE53CD1-5980-62B0-2407-34DC65156316}"/>
              </a:ext>
            </a:extLst>
          </p:cNvPr>
          <p:cNvCxnSpPr>
            <a:stCxn id="9" idx="3"/>
            <a:endCxn id="11" idx="0"/>
          </p:cNvCxnSpPr>
          <p:nvPr/>
        </p:nvCxnSpPr>
        <p:spPr>
          <a:xfrm flipH="1">
            <a:off x="1638387" y="3133147"/>
            <a:ext cx="341351" cy="221929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xmlns="" id="{C827A7C6-C40F-3EA8-F9D8-594C8BAC304A}"/>
              </a:ext>
            </a:extLst>
          </p:cNvPr>
          <p:cNvSpPr/>
          <p:nvPr/>
        </p:nvSpPr>
        <p:spPr>
          <a:xfrm>
            <a:off x="2437007" y="3385796"/>
            <a:ext cx="536000" cy="422526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 i="1">
                <a:latin typeface="+mj-lt"/>
              </a:rPr>
              <a:t>c</a:t>
            </a:r>
            <a:r>
              <a:rPr lang="en-US" i="1" baseline="-25000">
                <a:latin typeface="+mj-lt"/>
              </a:rPr>
              <a:t>2</a:t>
            </a:r>
          </a:p>
        </p:txBody>
      </p:sp>
      <p:sp>
        <p:nvSpPr>
          <p:cNvPr id="15" name="TextBox 38">
            <a:extLst>
              <a:ext uri="{FF2B5EF4-FFF2-40B4-BE49-F238E27FC236}">
                <a16:creationId xmlns:a16="http://schemas.microsoft.com/office/drawing/2014/main" xmlns="" id="{30D944D4-4A33-B1F3-95A2-6DD1C06712AB}"/>
              </a:ext>
            </a:extLst>
          </p:cNvPr>
          <p:cNvSpPr txBox="1"/>
          <p:nvPr/>
        </p:nvSpPr>
        <p:spPr>
          <a:xfrm>
            <a:off x="1632373" y="4057592"/>
            <a:ext cx="29367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i="1">
                <a:latin typeface="+mj-lt"/>
              </a:rPr>
              <a:t>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xmlns="" id="{C3A8D9E7-C708-DF6A-FEBE-07C819A545B5}"/>
                  </a:ext>
                </a:extLst>
              </p:cNvPr>
              <p:cNvSpPr/>
              <p:nvPr/>
            </p:nvSpPr>
            <p:spPr>
              <a:xfrm>
                <a:off x="1991724" y="5321410"/>
                <a:ext cx="498464" cy="403720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∗</m:t>
                      </m:r>
                    </m:oMath>
                  </m:oMathPara>
                </a14:m>
                <a:endParaRPr lang="en-US" i="1">
                  <a:solidFill>
                    <a:schemeClr val="bg1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3A8D9E7-C708-DF6A-FEBE-07C819A545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1724" y="5321410"/>
                <a:ext cx="498464" cy="403720"/>
              </a:xfrm>
              <a:prstGeom prst="ellipse">
                <a:avLst/>
              </a:prstGeom>
              <a:blipFill rotWithShape="0"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38">
            <a:extLst>
              <a:ext uri="{FF2B5EF4-FFF2-40B4-BE49-F238E27FC236}">
                <a16:creationId xmlns:a16="http://schemas.microsoft.com/office/drawing/2014/main" xmlns="" id="{E7ACAA6A-B5BB-10F5-FD4F-8FD2333CCAD1}"/>
              </a:ext>
            </a:extLst>
          </p:cNvPr>
          <p:cNvSpPr txBox="1"/>
          <p:nvPr/>
        </p:nvSpPr>
        <p:spPr>
          <a:xfrm>
            <a:off x="1639419" y="5361223"/>
            <a:ext cx="29367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i="1">
                <a:latin typeface="+mj-lt"/>
              </a:rPr>
              <a:t>n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xmlns="" id="{AE82C526-538F-E519-1983-4E90A1ADFD75}"/>
              </a:ext>
            </a:extLst>
          </p:cNvPr>
          <p:cNvCxnSpPr>
            <a:stCxn id="16" idx="4"/>
          </p:cNvCxnSpPr>
          <p:nvPr/>
        </p:nvCxnSpPr>
        <p:spPr>
          <a:xfrm>
            <a:off x="2240956" y="5725130"/>
            <a:ext cx="1528" cy="197465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xmlns="" id="{BE2CE9FB-0866-4A8E-A489-DC7DF8B5DACB}"/>
                  </a:ext>
                </a:extLst>
              </p:cNvPr>
              <p:cNvSpPr/>
              <p:nvPr/>
            </p:nvSpPr>
            <p:spPr>
              <a:xfrm>
                <a:off x="1946267" y="4086510"/>
                <a:ext cx="552716" cy="396326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200" b="1" i="1">
                  <a:solidFill>
                    <a:schemeClr val="bg1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E2CE9FB-0866-4A8E-A489-DC7DF8B5DA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6267" y="4086510"/>
                <a:ext cx="552716" cy="396326"/>
              </a:xfrm>
              <a:prstGeom prst="ellipse">
                <a:avLst/>
              </a:prstGeom>
              <a:blipFill rotWithShape="0"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Oval 19">
            <a:extLst>
              <a:ext uri="{FF2B5EF4-FFF2-40B4-BE49-F238E27FC236}">
                <a16:creationId xmlns:a16="http://schemas.microsoft.com/office/drawing/2014/main" xmlns="" id="{23A1CBF7-EE64-592D-236B-1C8D350AD044}"/>
              </a:ext>
            </a:extLst>
          </p:cNvPr>
          <p:cNvSpPr/>
          <p:nvPr/>
        </p:nvSpPr>
        <p:spPr>
          <a:xfrm>
            <a:off x="1417859" y="4646724"/>
            <a:ext cx="536000" cy="422526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 i="1">
                <a:solidFill>
                  <a:schemeClr val="bg1"/>
                </a:solidFill>
                <a:latin typeface="+mj-lt"/>
              </a:rPr>
              <a:t>c</a:t>
            </a:r>
            <a:r>
              <a:rPr lang="en-US" b="0" i="1" baseline="-25000">
                <a:solidFill>
                  <a:schemeClr val="bg1"/>
                </a:solidFill>
                <a:latin typeface="+mj-lt"/>
              </a:rPr>
              <a:t>1</a:t>
            </a:r>
            <a:endParaRPr lang="en-US" i="1" baseline="-2500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xmlns="" id="{EC717FD4-1FE3-86A9-EC93-AAF9D8C513C6}"/>
              </a:ext>
            </a:extLst>
          </p:cNvPr>
          <p:cNvCxnSpPr>
            <a:stCxn id="19" idx="5"/>
            <a:endCxn id="23" idx="0"/>
          </p:cNvCxnSpPr>
          <p:nvPr/>
        </p:nvCxnSpPr>
        <p:spPr>
          <a:xfrm>
            <a:off x="2418040" y="4424795"/>
            <a:ext cx="334439" cy="252649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C9659883-4DA1-0907-8443-650D82D6C71F}"/>
              </a:ext>
            </a:extLst>
          </p:cNvPr>
          <p:cNvCxnSpPr>
            <a:stCxn id="19" idx="3"/>
            <a:endCxn id="20" idx="0"/>
          </p:cNvCxnSpPr>
          <p:nvPr/>
        </p:nvCxnSpPr>
        <p:spPr>
          <a:xfrm flipH="1">
            <a:off x="1685859" y="4424795"/>
            <a:ext cx="341351" cy="221929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xmlns="" id="{EB86CBBC-68F3-C602-4508-0FDD2B76F2E1}"/>
              </a:ext>
            </a:extLst>
          </p:cNvPr>
          <p:cNvSpPr/>
          <p:nvPr/>
        </p:nvSpPr>
        <p:spPr>
          <a:xfrm>
            <a:off x="2484479" y="4677444"/>
            <a:ext cx="536000" cy="422526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 i="1">
                <a:solidFill>
                  <a:schemeClr val="bg1"/>
                </a:solidFill>
                <a:latin typeface="+mj-lt"/>
              </a:rPr>
              <a:t>c</a:t>
            </a:r>
            <a:r>
              <a:rPr lang="en-US" i="1" baseline="-25000">
                <a:solidFill>
                  <a:schemeClr val="bg1"/>
                </a:solidFill>
                <a:latin typeface="+mj-lt"/>
              </a:rPr>
              <a:t>2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xmlns="" id="{C013D478-104F-4860-8E47-0B722EC59C28}"/>
              </a:ext>
            </a:extLst>
          </p:cNvPr>
          <p:cNvSpPr/>
          <p:nvPr/>
        </p:nvSpPr>
        <p:spPr>
          <a:xfrm>
            <a:off x="1986797" y="5924379"/>
            <a:ext cx="536000" cy="374705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 i="1">
                <a:solidFill>
                  <a:schemeClr val="bg1"/>
                </a:solidFill>
                <a:latin typeface="+mj-lt"/>
              </a:rPr>
              <a:t>c</a:t>
            </a:r>
            <a:r>
              <a:rPr lang="en-US" b="0" i="1" baseline="-25000">
                <a:solidFill>
                  <a:schemeClr val="bg1"/>
                </a:solidFill>
                <a:latin typeface="+mj-lt"/>
              </a:rPr>
              <a:t>1</a:t>
            </a:r>
            <a:endParaRPr lang="en-US" i="1" baseline="-2500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09144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 animBg="1"/>
      <p:bldP spid="14" grpId="0" animBg="1"/>
      <p:bldP spid="15" grpId="0"/>
      <p:bldP spid="16" grpId="0" animBg="1"/>
      <p:bldP spid="17" grpId="0"/>
      <p:bldP spid="19" grpId="0" animBg="1"/>
      <p:bldP spid="20" grpId="0" animBg="1"/>
      <p:bldP spid="23" grpId="0" animBg="1"/>
      <p:bldP spid="2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8303A15-2324-ECEC-5C59-08A59CC231AA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Rules to compute followpos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13CAD53-7EEA-A3F9-D2D1-2138CBD66783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spcBef>
                <a:spcPct val="0"/>
              </a:spcBef>
              <a:buFont typeface="+mj-lt"/>
              <a:buAutoNum type="arabicPeriod"/>
            </a:pPr>
            <a:r>
              <a:rPr lang="en-US" altLang="zh-TW"/>
              <a:t>If n is </a:t>
            </a:r>
            <a:r>
              <a:rPr lang="en-US" altLang="zh-TW" b="1"/>
              <a:t>concatenation</a:t>
            </a:r>
            <a:r>
              <a:rPr lang="en-US" altLang="zh-TW"/>
              <a:t> node with left child c1 and right child c2 and </a:t>
            </a:r>
            <a:r>
              <a:rPr lang="en-US" altLang="zh-TW" b="1" i="1"/>
              <a:t>i</a:t>
            </a:r>
            <a:r>
              <a:rPr lang="en-US" altLang="zh-TW"/>
              <a:t> is a position in </a:t>
            </a:r>
            <a:r>
              <a:rPr lang="en-US" altLang="zh-TW">
                <a:solidFill>
                  <a:srgbClr val="0E47A1"/>
                </a:solidFill>
              </a:rPr>
              <a:t>lastpos(c1)</a:t>
            </a:r>
            <a:r>
              <a:rPr lang="en-US" altLang="zh-TW"/>
              <a:t>, then all position in </a:t>
            </a:r>
            <a:r>
              <a:rPr lang="en-US" altLang="zh-TW">
                <a:solidFill>
                  <a:srgbClr val="0E47A1"/>
                </a:solidFill>
              </a:rPr>
              <a:t>firstpos(c2)</a:t>
            </a:r>
            <a:r>
              <a:rPr lang="en-US" altLang="zh-TW"/>
              <a:t> are in </a:t>
            </a:r>
            <a:r>
              <a:rPr lang="en-US" altLang="zh-TW">
                <a:solidFill>
                  <a:srgbClr val="C00000"/>
                </a:solidFill>
              </a:rPr>
              <a:t>followpos(i)</a:t>
            </a:r>
          </a:p>
          <a:p>
            <a:pPr marL="0" indent="0"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zh-TW">
              <a:solidFill>
                <a:schemeClr val="accent1">
                  <a:lumMod val="75000"/>
                </a:schemeClr>
              </a:solidFill>
            </a:endParaRPr>
          </a:p>
          <a:p>
            <a:pPr marL="514350" indent="-514350">
              <a:spcBef>
                <a:spcPct val="0"/>
              </a:spcBef>
              <a:buFont typeface="+mj-lt"/>
              <a:buAutoNum type="arabicPeriod" startAt="2"/>
            </a:pPr>
            <a:r>
              <a:rPr lang="en-US" altLang="zh-TW"/>
              <a:t>If n is </a:t>
            </a:r>
            <a:r>
              <a:rPr lang="en-US" altLang="zh-TW" b="1"/>
              <a:t>*</a:t>
            </a:r>
            <a:r>
              <a:rPr lang="en-US" altLang="zh-TW"/>
              <a:t> node and </a:t>
            </a:r>
            <a:r>
              <a:rPr lang="en-US" altLang="zh-TW" b="1" i="1"/>
              <a:t>i</a:t>
            </a:r>
            <a:r>
              <a:rPr lang="en-US" altLang="zh-TW"/>
              <a:t> is position in </a:t>
            </a:r>
            <a:r>
              <a:rPr lang="en-US" altLang="zh-TW">
                <a:solidFill>
                  <a:srgbClr val="0E47A1"/>
                </a:solidFill>
              </a:rPr>
              <a:t>lastpos(n)</a:t>
            </a:r>
            <a:r>
              <a:rPr lang="en-US" altLang="zh-TW"/>
              <a:t>, then all position in </a:t>
            </a:r>
            <a:r>
              <a:rPr lang="en-US" altLang="zh-TW">
                <a:solidFill>
                  <a:srgbClr val="0E47A1"/>
                </a:solidFill>
              </a:rPr>
              <a:t>firstpos(n)</a:t>
            </a:r>
            <a:r>
              <a:rPr lang="en-US" altLang="zh-TW"/>
              <a:t> are in </a:t>
            </a:r>
            <a:r>
              <a:rPr lang="en-US" altLang="zh-TW">
                <a:solidFill>
                  <a:srgbClr val="C00000"/>
                </a:solidFill>
              </a:rPr>
              <a:t>followpos(i)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0281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FD9B52B-BAA8-69B6-A105-1C3A56E76BAB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Conversion from regular expression to DFA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xmlns="" id="{DD38A469-9F38-26A3-2E9E-CEA7A2BD778B}"/>
                  </a:ext>
                </a:extLst>
              </p:cNvPr>
              <p:cNvSpPr txBox="1"/>
              <p:nvPr/>
            </p:nvSpPr>
            <p:spPr>
              <a:xfrm>
                <a:off x="738189" y="555997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DD38A469-9F38-26A3-2E9E-CEA7A2BD77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189" y="5559972"/>
                <a:ext cx="381000" cy="369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xmlns="" id="{C284344C-2DA2-A37D-FC1E-9BF8A245B390}"/>
                  </a:ext>
                </a:extLst>
              </p:cNvPr>
              <p:cNvSpPr txBox="1"/>
              <p:nvPr/>
            </p:nvSpPr>
            <p:spPr>
              <a:xfrm>
                <a:off x="1838325" y="5574260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284344C-2DA2-A37D-FC1E-9BF8A245B3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325" y="5574260"/>
                <a:ext cx="381000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596A88AC-0F4E-A1AF-BD59-28DFF1354533}"/>
                  </a:ext>
                </a:extLst>
              </p:cNvPr>
              <p:cNvSpPr txBox="1"/>
              <p:nvPr/>
            </p:nvSpPr>
            <p:spPr>
              <a:xfrm>
                <a:off x="1295400" y="4857744"/>
                <a:ext cx="381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sz="2000" b="1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96A88AC-0F4E-A1AF-BD59-28DFF13545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4857744"/>
                <a:ext cx="381000" cy="400110"/>
              </a:xfrm>
              <a:prstGeom prst="rect">
                <a:avLst/>
              </a:prstGeom>
              <a:blipFill rotWithShape="0">
                <a:blip r:embed="rId4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xmlns="" id="{59A314D4-557D-0332-A604-F4CFD1076306}"/>
              </a:ext>
            </a:extLst>
          </p:cNvPr>
          <p:cNvCxnSpPr>
            <a:stCxn id="3" idx="0"/>
          </p:cNvCxnSpPr>
          <p:nvPr/>
        </p:nvCxnSpPr>
        <p:spPr>
          <a:xfrm flipV="1">
            <a:off x="928689" y="5260797"/>
            <a:ext cx="557211" cy="299175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8711067D-3713-70C6-F646-FD40FD456B11}"/>
              </a:ext>
            </a:extLst>
          </p:cNvPr>
          <p:cNvCxnSpPr>
            <a:endCxn id="4" idx="0"/>
          </p:cNvCxnSpPr>
          <p:nvPr/>
        </p:nvCxnSpPr>
        <p:spPr>
          <a:xfrm>
            <a:off x="1485900" y="5272142"/>
            <a:ext cx="542925" cy="302118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2305FE44-91A1-D4BA-3071-77655BAD3B90}"/>
              </a:ext>
            </a:extLst>
          </p:cNvPr>
          <p:cNvCxnSpPr>
            <a:stCxn id="11" idx="0"/>
          </p:cNvCxnSpPr>
          <p:nvPr/>
        </p:nvCxnSpPr>
        <p:spPr>
          <a:xfrm flipV="1">
            <a:off x="1485900" y="3700464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6C367EB8-F704-BE57-863E-78CB2F82E6BB}"/>
              </a:ext>
            </a:extLst>
          </p:cNvPr>
          <p:cNvCxnSpPr/>
          <p:nvPr/>
        </p:nvCxnSpPr>
        <p:spPr>
          <a:xfrm>
            <a:off x="2025185" y="3705087"/>
            <a:ext cx="609586" cy="360557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8B84064A-A2C8-3831-1F90-86DF86CDCC2A}"/>
              </a:ext>
            </a:extLst>
          </p:cNvPr>
          <p:cNvCxnSpPr/>
          <p:nvPr/>
        </p:nvCxnSpPr>
        <p:spPr>
          <a:xfrm flipH="1" flipV="1">
            <a:off x="1485900" y="4452936"/>
            <a:ext cx="0" cy="361944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xmlns="" id="{F3CB0D10-7C49-493C-D61E-F76556CDD6CC}"/>
                  </a:ext>
                </a:extLst>
              </p:cNvPr>
              <p:cNvSpPr txBox="1"/>
              <p:nvPr/>
            </p:nvSpPr>
            <p:spPr>
              <a:xfrm>
                <a:off x="1295400" y="4067106"/>
                <a:ext cx="381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US" sz="2000" b="1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3CB0D10-7C49-493C-D61E-F76556CDD6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4067106"/>
                <a:ext cx="381000" cy="40011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3CC32A3C-B1AC-4A72-BB74-07CFCFBFC57D}"/>
              </a:ext>
            </a:extLst>
          </p:cNvPr>
          <p:cNvSpPr txBox="1"/>
          <p:nvPr/>
        </p:nvSpPr>
        <p:spPr>
          <a:xfrm>
            <a:off x="1947914" y="3289199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="" id="{3B91858A-FCC8-4F7D-0603-C24D3C4D08E8}"/>
                  </a:ext>
                </a:extLst>
              </p:cNvPr>
              <p:cNvSpPr txBox="1"/>
              <p:nvPr/>
            </p:nvSpPr>
            <p:spPr>
              <a:xfrm>
                <a:off x="731045" y="588681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3B91858A-FCC8-4F7D-0603-C24D3C4D08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045" y="5886814"/>
                <a:ext cx="381000" cy="36933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5388500A-8646-68F6-DE27-580A55ECAF36}"/>
                  </a:ext>
                </a:extLst>
              </p:cNvPr>
              <p:cNvSpPr txBox="1"/>
              <p:nvPr/>
            </p:nvSpPr>
            <p:spPr>
              <a:xfrm>
                <a:off x="1838325" y="5870621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388500A-8646-68F6-DE27-580A55ECAF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325" y="5870621"/>
                <a:ext cx="381000" cy="36933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xmlns="" id="{2D22BE1A-3A2E-DCB9-5FCE-E4A809EE92A3}"/>
                  </a:ext>
                </a:extLst>
              </p:cNvPr>
              <p:cNvSpPr txBox="1"/>
              <p:nvPr/>
            </p:nvSpPr>
            <p:spPr>
              <a:xfrm>
                <a:off x="2447911" y="4040373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D22BE1A-3A2E-DCB9-5FCE-E4A809EE92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7911" y="4040373"/>
                <a:ext cx="381000" cy="369332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xmlns="" id="{D05C77F3-3384-8C53-648E-8A35FE98E134}"/>
              </a:ext>
            </a:extLst>
          </p:cNvPr>
          <p:cNvCxnSpPr/>
          <p:nvPr/>
        </p:nvCxnSpPr>
        <p:spPr>
          <a:xfrm flipV="1">
            <a:off x="2124085" y="3138482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xmlns="" id="{144727BF-EED0-ABEA-C87F-30CE0A349149}"/>
              </a:ext>
            </a:extLst>
          </p:cNvPr>
          <p:cNvCxnSpPr/>
          <p:nvPr/>
        </p:nvCxnSpPr>
        <p:spPr>
          <a:xfrm>
            <a:off x="2652699" y="3141738"/>
            <a:ext cx="642975" cy="365416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6ECD8955-61AA-5FF2-0720-1409917C76E6}"/>
              </a:ext>
            </a:extLst>
          </p:cNvPr>
          <p:cNvSpPr txBox="1"/>
          <p:nvPr/>
        </p:nvSpPr>
        <p:spPr>
          <a:xfrm>
            <a:off x="2589585" y="2742439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xmlns="" id="{D164186C-33AA-A9B0-7B14-8B0F25AE44E8}"/>
              </a:ext>
            </a:extLst>
          </p:cNvPr>
          <p:cNvCxnSpPr/>
          <p:nvPr/>
        </p:nvCxnSpPr>
        <p:spPr>
          <a:xfrm flipV="1">
            <a:off x="2790846" y="2619367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8D5FB185-2FB6-0941-87B6-5E69A132604C}"/>
              </a:ext>
            </a:extLst>
          </p:cNvPr>
          <p:cNvCxnSpPr/>
          <p:nvPr/>
        </p:nvCxnSpPr>
        <p:spPr>
          <a:xfrm>
            <a:off x="3315879" y="2623916"/>
            <a:ext cx="652579" cy="370050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73884AB3-0228-A982-A042-7FE397A254E0}"/>
              </a:ext>
            </a:extLst>
          </p:cNvPr>
          <p:cNvSpPr txBox="1"/>
          <p:nvPr/>
        </p:nvSpPr>
        <p:spPr>
          <a:xfrm>
            <a:off x="3240817" y="2223048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FABC6F7B-CA37-9F2D-481B-9B69E3D06DC6}"/>
              </a:ext>
            </a:extLst>
          </p:cNvPr>
          <p:cNvCxnSpPr/>
          <p:nvPr/>
        </p:nvCxnSpPr>
        <p:spPr>
          <a:xfrm flipV="1">
            <a:off x="3419496" y="2105011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xmlns="" id="{40B7C82F-7529-BAC8-2FF9-74A6D0501A89}"/>
              </a:ext>
            </a:extLst>
          </p:cNvPr>
          <p:cNvCxnSpPr/>
          <p:nvPr/>
        </p:nvCxnSpPr>
        <p:spPr>
          <a:xfrm>
            <a:off x="3956506" y="2105011"/>
            <a:ext cx="615488" cy="376217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hlinkClick r:id="" action="ppaction://noaction"/>
            <a:extLst>
              <a:ext uri="{FF2B5EF4-FFF2-40B4-BE49-F238E27FC236}">
                <a16:creationId xmlns:a16="http://schemas.microsoft.com/office/drawing/2014/main" xmlns="" id="{F8FF8D04-10EC-CB80-979F-CFBFFDDBC508}"/>
              </a:ext>
            </a:extLst>
          </p:cNvPr>
          <p:cNvSpPr txBox="1"/>
          <p:nvPr/>
        </p:nvSpPr>
        <p:spPr>
          <a:xfrm>
            <a:off x="3843953" y="1696510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xmlns="" id="{EED52DB3-7542-2EBC-7BF4-31BECD32B546}"/>
                  </a:ext>
                </a:extLst>
              </p:cNvPr>
              <p:cNvSpPr txBox="1"/>
              <p:nvPr/>
            </p:nvSpPr>
            <p:spPr>
              <a:xfrm>
                <a:off x="3090886" y="349884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ED52DB3-7542-2EBC-7BF4-31BECD32B5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0886" y="3498842"/>
                <a:ext cx="381000" cy="369332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xmlns="" id="{E8571809-EEBA-04F8-633D-3D36A2314085}"/>
                  </a:ext>
                </a:extLst>
              </p:cNvPr>
              <p:cNvSpPr txBox="1"/>
              <p:nvPr/>
            </p:nvSpPr>
            <p:spPr>
              <a:xfrm>
                <a:off x="3757694" y="299630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8571809-EEBA-04F8-633D-3D36A23140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7694" y="2996302"/>
                <a:ext cx="381000" cy="369332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xmlns="" id="{21B4BFBE-417A-7BE4-A582-E065338F4F2C}"/>
                  </a:ext>
                </a:extLst>
              </p:cNvPr>
              <p:cNvSpPr txBox="1"/>
              <p:nvPr/>
            </p:nvSpPr>
            <p:spPr>
              <a:xfrm>
                <a:off x="4387470" y="248122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#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1B4BFBE-417A-7BE4-A582-E065338F4F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7470" y="2481228"/>
                <a:ext cx="381000" cy="369332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 27">
            <a:extLst>
              <a:ext uri="{FF2B5EF4-FFF2-40B4-BE49-F238E27FC236}">
                <a16:creationId xmlns:a16="http://schemas.microsoft.com/office/drawing/2014/main" xmlns="" id="{D12075A2-E30E-46B5-B880-F99944CDF0D1}"/>
              </a:ext>
            </a:extLst>
          </p:cNvPr>
          <p:cNvSpPr/>
          <p:nvPr/>
        </p:nvSpPr>
        <p:spPr>
          <a:xfrm>
            <a:off x="533400" y="1143000"/>
            <a:ext cx="9906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(a|b)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xmlns="" id="{9DB321B4-3AA4-CB97-2FF4-9EF31B0A7C90}"/>
              </a:ext>
            </a:extLst>
          </p:cNvPr>
          <p:cNvSpPr/>
          <p:nvPr/>
        </p:nvSpPr>
        <p:spPr>
          <a:xfrm>
            <a:off x="1247776" y="1143000"/>
            <a:ext cx="338138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xmlns="" id="{41DF4C53-FAF3-8C83-C72A-84983DFFADE1}"/>
              </a:ext>
            </a:extLst>
          </p:cNvPr>
          <p:cNvSpPr/>
          <p:nvPr/>
        </p:nvSpPr>
        <p:spPr>
          <a:xfrm>
            <a:off x="1423992" y="1142999"/>
            <a:ext cx="6858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err="1">
                <a:solidFill>
                  <a:schemeClr val="tx1"/>
                </a:solidFill>
              </a:rPr>
              <a:t>abb</a:t>
            </a:r>
            <a:endParaRPr lang="en-US" sz="240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xmlns="" id="{AD9C504E-6BBF-2F2D-0B87-417786CC211F}"/>
                  </a:ext>
                </a:extLst>
              </p:cNvPr>
              <p:cNvSpPr txBox="1"/>
              <p:nvPr/>
            </p:nvSpPr>
            <p:spPr>
              <a:xfrm>
                <a:off x="3114683" y="380200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D9C504E-6BBF-2F2D-0B87-417786CC21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4683" y="3802008"/>
                <a:ext cx="381000" cy="369332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xmlns="" id="{1FB78783-863D-E045-A60E-30EBD6EADFCE}"/>
                  </a:ext>
                </a:extLst>
              </p:cNvPr>
              <p:cNvSpPr txBox="1"/>
              <p:nvPr/>
            </p:nvSpPr>
            <p:spPr>
              <a:xfrm>
                <a:off x="2462199" y="4382950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FB78783-863D-E045-A60E-30EBD6EADF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2199" y="4382950"/>
                <a:ext cx="381000" cy="369332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xmlns="" id="{49183706-1CED-E9FF-1931-EE3B2C674300}"/>
                  </a:ext>
                </a:extLst>
              </p:cNvPr>
              <p:cNvSpPr txBox="1"/>
              <p:nvPr/>
            </p:nvSpPr>
            <p:spPr>
              <a:xfrm>
                <a:off x="3767138" y="3285655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49183706-1CED-E9FF-1931-EE3B2C6743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7138" y="3285655"/>
                <a:ext cx="381000" cy="369332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xmlns="" id="{D38BA060-A520-B8D8-48DD-BB7A60D34319}"/>
                  </a:ext>
                </a:extLst>
              </p:cNvPr>
              <p:cNvSpPr txBox="1"/>
              <p:nvPr/>
            </p:nvSpPr>
            <p:spPr>
              <a:xfrm>
                <a:off x="4394564" y="2742439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D38BA060-A520-B8D8-48DD-BB7A60D34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4564" y="2742439"/>
                <a:ext cx="381000" cy="369332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 34">
            <a:extLst>
              <a:ext uri="{FF2B5EF4-FFF2-40B4-BE49-F238E27FC236}">
                <a16:creationId xmlns:a16="http://schemas.microsoft.com/office/drawing/2014/main" xmlns="" id="{4223C207-54E3-6F14-8825-7F431D3E8AF0}"/>
              </a:ext>
            </a:extLst>
          </p:cNvPr>
          <p:cNvSpPr/>
          <p:nvPr/>
        </p:nvSpPr>
        <p:spPr>
          <a:xfrm>
            <a:off x="1990776" y="1152554"/>
            <a:ext cx="338138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#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xmlns="" id="{A5EF0015-EFF0-B6A7-28C8-288B35A8A2DD}"/>
              </a:ext>
            </a:extLst>
          </p:cNvPr>
          <p:cNvSpPr txBox="1"/>
          <p:nvPr/>
        </p:nvSpPr>
        <p:spPr>
          <a:xfrm>
            <a:off x="6316377" y="1794948"/>
            <a:ext cx="37600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Step 2: Nullable node</a:t>
            </a:r>
          </a:p>
          <a:p>
            <a:endParaRPr lang="en-US" sz="2400"/>
          </a:p>
          <a:p>
            <a:r>
              <a:rPr lang="en-US" sz="2400"/>
              <a:t>Here, </a:t>
            </a:r>
            <a:r>
              <a:rPr lang="en-US" sz="2400">
                <a:solidFill>
                  <a:srgbClr val="C00000"/>
                </a:solidFill>
              </a:rPr>
              <a:t>*</a:t>
            </a:r>
            <a:r>
              <a:rPr lang="en-US" sz="2400"/>
              <a:t> is only nullable node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xmlns="" id="{4FF7800E-9C2A-FFE6-A56E-6F478D7114E9}"/>
              </a:ext>
            </a:extLst>
          </p:cNvPr>
          <p:cNvSpPr/>
          <p:nvPr/>
        </p:nvSpPr>
        <p:spPr>
          <a:xfrm>
            <a:off x="1364032" y="4072764"/>
            <a:ext cx="252408" cy="37946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  <a:latin typeface="+mj-lt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xmlns="" id="{9F4B68C9-3B59-DBCD-E89C-2CBFA8EEC1B9}"/>
              </a:ext>
            </a:extLst>
          </p:cNvPr>
          <p:cNvSpPr txBox="1"/>
          <p:nvPr/>
        </p:nvSpPr>
        <p:spPr>
          <a:xfrm>
            <a:off x="6343140" y="1136512"/>
            <a:ext cx="3821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Step 1: Construct Syntax Tree</a:t>
            </a:r>
          </a:p>
        </p:txBody>
      </p:sp>
    </p:spTree>
    <p:extLst>
      <p:ext uri="{BB962C8B-B14F-4D97-AF65-F5344CB8AC3E}">
        <p14:creationId xmlns:p14="http://schemas.microsoft.com/office/powerpoint/2010/main" val="2394225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mph" presetSubtype="0" dur="50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0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0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mph" presetSubtype="0" dur="5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0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0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mph" presetSubtype="0" dur="50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0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8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0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9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6" presetClass="emph" presetSubtype="0" dur="5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9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11" grpId="0"/>
      <p:bldP spid="12" grpId="0"/>
      <p:bldP spid="13" grpId="0"/>
      <p:bldP spid="14" grpId="0"/>
      <p:bldP spid="15" grpId="0"/>
      <p:bldP spid="18" grpId="0"/>
      <p:bldP spid="21" grpId="0"/>
      <p:bldP spid="24" grpId="0"/>
      <p:bldP spid="25" grpId="0"/>
      <p:bldP spid="26" grpId="0"/>
      <p:bldP spid="27" grpId="0"/>
      <p:bldP spid="29" grpId="0"/>
      <p:bldP spid="31" grpId="0"/>
      <p:bldP spid="32" grpId="0"/>
      <p:bldP spid="33" grpId="0"/>
      <p:bldP spid="34" grpId="0"/>
      <p:bldP spid="35" grpId="0"/>
      <p:bldP spid="37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F1D27D6-8E79-BA58-7B96-AB37CFD0077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Conversion from regular expression to DFA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xmlns="" id="{8A4193C3-157D-E040-8372-85835597C033}"/>
                  </a:ext>
                </a:extLst>
              </p:cNvPr>
              <p:cNvSpPr txBox="1"/>
              <p:nvPr/>
            </p:nvSpPr>
            <p:spPr>
              <a:xfrm>
                <a:off x="738189" y="555997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A4193C3-157D-E040-8372-85835597C0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189" y="5559972"/>
                <a:ext cx="381000" cy="369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xmlns="" id="{749816A2-8429-EF12-016C-AA16C13BFE32}"/>
                  </a:ext>
                </a:extLst>
              </p:cNvPr>
              <p:cNvSpPr txBox="1"/>
              <p:nvPr/>
            </p:nvSpPr>
            <p:spPr>
              <a:xfrm>
                <a:off x="1838325" y="5574260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49816A2-8429-EF12-016C-AA16C13BFE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325" y="5574260"/>
                <a:ext cx="381000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A45B3176-04CC-8EE8-7561-B35E32151F67}"/>
                  </a:ext>
                </a:extLst>
              </p:cNvPr>
              <p:cNvSpPr txBox="1"/>
              <p:nvPr/>
            </p:nvSpPr>
            <p:spPr>
              <a:xfrm>
                <a:off x="1295400" y="4857744"/>
                <a:ext cx="381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sz="2000" b="1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45B3176-04CC-8EE8-7561-B35E32151F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4857744"/>
                <a:ext cx="381000" cy="400110"/>
              </a:xfrm>
              <a:prstGeom prst="rect">
                <a:avLst/>
              </a:prstGeom>
              <a:blipFill rotWithShape="0">
                <a:blip r:embed="rId4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xmlns="" id="{7A346F69-61D4-0816-8183-CA542C07020F}"/>
              </a:ext>
            </a:extLst>
          </p:cNvPr>
          <p:cNvCxnSpPr>
            <a:stCxn id="3" idx="0"/>
          </p:cNvCxnSpPr>
          <p:nvPr/>
        </p:nvCxnSpPr>
        <p:spPr>
          <a:xfrm flipV="1">
            <a:off x="928689" y="5260797"/>
            <a:ext cx="557211" cy="299175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49FA0401-64E8-8EA9-02BD-AE891E0713AA}"/>
              </a:ext>
            </a:extLst>
          </p:cNvPr>
          <p:cNvCxnSpPr/>
          <p:nvPr/>
        </p:nvCxnSpPr>
        <p:spPr>
          <a:xfrm>
            <a:off x="1476122" y="5259038"/>
            <a:ext cx="542925" cy="302118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3D68C700-F5AC-9C78-9CA4-FA1EEFE87B15}"/>
              </a:ext>
            </a:extLst>
          </p:cNvPr>
          <p:cNvCxnSpPr>
            <a:stCxn id="11" idx="0"/>
          </p:cNvCxnSpPr>
          <p:nvPr/>
        </p:nvCxnSpPr>
        <p:spPr>
          <a:xfrm flipV="1">
            <a:off x="1485900" y="3700464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4ADC8FAA-0A8B-C0D8-DBA1-89D9434044B2}"/>
              </a:ext>
            </a:extLst>
          </p:cNvPr>
          <p:cNvCxnSpPr/>
          <p:nvPr/>
        </p:nvCxnSpPr>
        <p:spPr>
          <a:xfrm>
            <a:off x="2028825" y="3705924"/>
            <a:ext cx="609586" cy="360557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FF9A04E6-2B59-880B-60A6-CBE03E2C9EE2}"/>
              </a:ext>
            </a:extLst>
          </p:cNvPr>
          <p:cNvCxnSpPr/>
          <p:nvPr/>
        </p:nvCxnSpPr>
        <p:spPr>
          <a:xfrm flipH="1" flipV="1">
            <a:off x="1485900" y="4452936"/>
            <a:ext cx="0" cy="361944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xmlns="" id="{EF8DE7D8-4CC3-5C25-9D67-2691608B69BA}"/>
                  </a:ext>
                </a:extLst>
              </p:cNvPr>
              <p:cNvSpPr txBox="1"/>
              <p:nvPr/>
            </p:nvSpPr>
            <p:spPr>
              <a:xfrm>
                <a:off x="1295400" y="4067106"/>
                <a:ext cx="381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US" sz="2000" b="1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F8DE7D8-4CC3-5C25-9D67-2691608B69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4067106"/>
                <a:ext cx="381000" cy="40011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9BE61C86-1588-D2A6-B0CE-276BEC6FD127}"/>
              </a:ext>
            </a:extLst>
          </p:cNvPr>
          <p:cNvSpPr txBox="1"/>
          <p:nvPr/>
        </p:nvSpPr>
        <p:spPr>
          <a:xfrm>
            <a:off x="1947914" y="3289199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="" id="{5A7E691A-DD24-1F02-0F31-617DFE210FDB}"/>
                  </a:ext>
                </a:extLst>
              </p:cNvPr>
              <p:cNvSpPr txBox="1"/>
              <p:nvPr/>
            </p:nvSpPr>
            <p:spPr>
              <a:xfrm>
                <a:off x="442914" y="5784876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A7E691A-DD24-1F02-0F31-617DFE210F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914" y="5784876"/>
                <a:ext cx="381000" cy="369332"/>
              </a:xfrm>
              <a:prstGeom prst="rect">
                <a:avLst/>
              </a:prstGeom>
              <a:blipFill rotWithShape="0">
                <a:blip r:embed="rId6"/>
                <a:stretch>
                  <a:fillRect l="-6452" r="-35484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BB6360E0-784B-2148-8406-D77F45FB266D}"/>
                  </a:ext>
                </a:extLst>
              </p:cNvPr>
              <p:cNvSpPr txBox="1"/>
              <p:nvPr/>
            </p:nvSpPr>
            <p:spPr>
              <a:xfrm>
                <a:off x="1566872" y="578010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{2}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B6360E0-784B-2148-8406-D77F45FB26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6872" y="5780108"/>
                <a:ext cx="381000" cy="369332"/>
              </a:xfrm>
              <a:prstGeom prst="rect">
                <a:avLst/>
              </a:prstGeom>
              <a:blipFill rotWithShape="0">
                <a:blip r:embed="rId7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xmlns="" id="{52B68759-C54A-C1EC-059F-5C7ED344EF87}"/>
                  </a:ext>
                </a:extLst>
              </p:cNvPr>
              <p:cNvSpPr txBox="1"/>
              <p:nvPr/>
            </p:nvSpPr>
            <p:spPr>
              <a:xfrm>
                <a:off x="823914" y="490856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2B68759-C54A-C1EC-059F-5C7ED344EF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914" y="4908567"/>
                <a:ext cx="381000" cy="369332"/>
              </a:xfrm>
              <a:prstGeom prst="rect">
                <a:avLst/>
              </a:prstGeom>
              <a:blipFill rotWithShape="0">
                <a:blip r:embed="rId8"/>
                <a:stretch>
                  <a:fillRect l="-4762" r="-80952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xmlns="" id="{1D3E1764-1735-122D-6CC2-7CEE21C4ADBA}"/>
                  </a:ext>
                </a:extLst>
              </p:cNvPr>
              <p:cNvSpPr txBox="1"/>
              <p:nvPr/>
            </p:nvSpPr>
            <p:spPr>
              <a:xfrm>
                <a:off x="758216" y="407491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D3E1764-1735-122D-6CC2-7CEE21C4AD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216" y="4074918"/>
                <a:ext cx="381000" cy="369332"/>
              </a:xfrm>
              <a:prstGeom prst="rect">
                <a:avLst/>
              </a:prstGeom>
              <a:blipFill rotWithShape="0">
                <a:blip r:embed="rId9"/>
                <a:stretch>
                  <a:fillRect l="-4762" r="-80952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xmlns="" id="{9533E23E-6B46-1EB4-9909-15D9BF1FECC7}"/>
                  </a:ext>
                </a:extLst>
              </p:cNvPr>
              <p:cNvSpPr txBox="1"/>
              <p:nvPr/>
            </p:nvSpPr>
            <p:spPr>
              <a:xfrm>
                <a:off x="2447911" y="4040373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9533E23E-6B46-1EB4-9909-15D9BF1FEC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7911" y="4040373"/>
                <a:ext cx="381000" cy="369332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xmlns="" id="{A530375E-F093-F792-E35F-D7393479B2C6}"/>
                  </a:ext>
                </a:extLst>
              </p:cNvPr>
              <p:cNvSpPr txBox="1"/>
              <p:nvPr/>
            </p:nvSpPr>
            <p:spPr>
              <a:xfrm>
                <a:off x="2128875" y="406082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530375E-F093-F792-E35F-D7393479B2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8875" y="4060824"/>
                <a:ext cx="381000" cy="369332"/>
              </a:xfrm>
              <a:prstGeom prst="rect">
                <a:avLst/>
              </a:prstGeom>
              <a:blipFill rotWithShape="0">
                <a:blip r:embed="rId11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xmlns="" id="{87EB668E-BAD0-5768-15E0-8177A01DE5E8}"/>
                  </a:ext>
                </a:extLst>
              </p:cNvPr>
              <p:cNvSpPr txBox="1"/>
              <p:nvPr/>
            </p:nvSpPr>
            <p:spPr>
              <a:xfrm>
                <a:off x="1171554" y="3400656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7EB668E-BAD0-5768-15E0-8177A01DE5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1554" y="3400656"/>
                <a:ext cx="381000" cy="369332"/>
              </a:xfrm>
              <a:prstGeom prst="rect">
                <a:avLst/>
              </a:prstGeom>
              <a:blipFill rotWithShape="0">
                <a:blip r:embed="rId12"/>
                <a:stretch>
                  <a:fillRect l="-4762" r="-125397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E7E68345-C73C-C6E4-9927-4CA49A873DFD}"/>
              </a:ext>
            </a:extLst>
          </p:cNvPr>
          <p:cNvCxnSpPr/>
          <p:nvPr/>
        </p:nvCxnSpPr>
        <p:spPr>
          <a:xfrm flipV="1">
            <a:off x="2124085" y="3138482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xmlns="" id="{1A9BAA72-C909-2969-E079-8947610DB79C}"/>
              </a:ext>
            </a:extLst>
          </p:cNvPr>
          <p:cNvCxnSpPr/>
          <p:nvPr/>
        </p:nvCxnSpPr>
        <p:spPr>
          <a:xfrm>
            <a:off x="2652699" y="3141738"/>
            <a:ext cx="642975" cy="365416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5C10D5FB-ED3D-C109-7EAE-615C5813B47F}"/>
              </a:ext>
            </a:extLst>
          </p:cNvPr>
          <p:cNvSpPr txBox="1"/>
          <p:nvPr/>
        </p:nvSpPr>
        <p:spPr>
          <a:xfrm>
            <a:off x="2589585" y="2742439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xmlns="" id="{1B929A6F-7FFF-7971-7B30-28A462FAAA56}"/>
                  </a:ext>
                </a:extLst>
              </p:cNvPr>
              <p:cNvSpPr txBox="1"/>
              <p:nvPr/>
            </p:nvSpPr>
            <p:spPr>
              <a:xfrm>
                <a:off x="2767060" y="349884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{4}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B929A6F-7FFF-7971-7B30-28A462FAAA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7060" y="3498842"/>
                <a:ext cx="381000" cy="369332"/>
              </a:xfrm>
              <a:prstGeom prst="rect">
                <a:avLst/>
              </a:prstGeom>
              <a:blipFill rotWithShape="0">
                <a:blip r:embed="rId13"/>
                <a:stretch>
                  <a:fillRect l="-6452" r="-35484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xmlns="" id="{4A332CF0-63CE-0E67-1D0B-257F6DA6B57F}"/>
                  </a:ext>
                </a:extLst>
              </p:cNvPr>
              <p:cNvSpPr txBox="1"/>
              <p:nvPr/>
            </p:nvSpPr>
            <p:spPr>
              <a:xfrm>
                <a:off x="1783597" y="285089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4A332CF0-63CE-0E67-1D0B-257F6DA6B5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3597" y="2850892"/>
                <a:ext cx="381000" cy="369332"/>
              </a:xfrm>
              <a:prstGeom prst="rect">
                <a:avLst/>
              </a:prstGeom>
              <a:blipFill rotWithShape="0">
                <a:blip r:embed="rId14"/>
                <a:stretch>
                  <a:fillRect l="-6452" r="-127419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xmlns="" id="{0B659C2A-92D9-1BCD-222D-F90705438125}"/>
              </a:ext>
            </a:extLst>
          </p:cNvPr>
          <p:cNvCxnSpPr/>
          <p:nvPr/>
        </p:nvCxnSpPr>
        <p:spPr>
          <a:xfrm flipV="1">
            <a:off x="2790846" y="2619367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xmlns="" id="{81DEFC7E-FF1A-CD71-B741-36538FB52BF3}"/>
              </a:ext>
            </a:extLst>
          </p:cNvPr>
          <p:cNvCxnSpPr/>
          <p:nvPr/>
        </p:nvCxnSpPr>
        <p:spPr>
          <a:xfrm>
            <a:off x="3315879" y="2617940"/>
            <a:ext cx="652579" cy="370050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680C9154-A47D-7881-A125-25DCCA8F8AE0}"/>
              </a:ext>
            </a:extLst>
          </p:cNvPr>
          <p:cNvSpPr txBox="1"/>
          <p:nvPr/>
        </p:nvSpPr>
        <p:spPr>
          <a:xfrm>
            <a:off x="3240817" y="2223048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xmlns="" id="{712702DC-A58E-7260-11AE-7770B11DFFFC}"/>
                  </a:ext>
                </a:extLst>
              </p:cNvPr>
              <p:cNvSpPr txBox="1"/>
              <p:nvPr/>
            </p:nvSpPr>
            <p:spPr>
              <a:xfrm>
                <a:off x="3433821" y="297972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{5}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12702DC-A58E-7260-11AE-7770B11DFF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821" y="2979727"/>
                <a:ext cx="381000" cy="369332"/>
              </a:xfrm>
              <a:prstGeom prst="rect">
                <a:avLst/>
              </a:prstGeom>
              <a:blipFill rotWithShape="0">
                <a:blip r:embed="rId15"/>
                <a:stretch>
                  <a:fillRect l="-4762" r="-34921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xmlns="" id="{5E900076-2157-FABD-EFB4-6816255FDD8E}"/>
                  </a:ext>
                </a:extLst>
              </p:cNvPr>
              <p:cNvSpPr txBox="1"/>
              <p:nvPr/>
            </p:nvSpPr>
            <p:spPr>
              <a:xfrm>
                <a:off x="2505063" y="2303199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E900076-2157-FABD-EFB4-6816255FDD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5063" y="2303199"/>
                <a:ext cx="381000" cy="369332"/>
              </a:xfrm>
              <a:prstGeom prst="rect">
                <a:avLst/>
              </a:prstGeom>
              <a:blipFill rotWithShape="0">
                <a:blip r:embed="rId16"/>
                <a:stretch>
                  <a:fillRect l="-6452" r="-127419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xmlns="" id="{5A09D107-119E-EEFD-6EE7-43911DC655D0}"/>
              </a:ext>
            </a:extLst>
          </p:cNvPr>
          <p:cNvCxnSpPr/>
          <p:nvPr/>
        </p:nvCxnSpPr>
        <p:spPr>
          <a:xfrm flipV="1">
            <a:off x="3419496" y="2105011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xmlns="" id="{C7402C6B-1A08-ADF4-2465-EC6DC1CDA20E}"/>
              </a:ext>
            </a:extLst>
          </p:cNvPr>
          <p:cNvCxnSpPr/>
          <p:nvPr/>
        </p:nvCxnSpPr>
        <p:spPr>
          <a:xfrm>
            <a:off x="3956506" y="2105011"/>
            <a:ext cx="615488" cy="376217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AF82F89E-B522-11D5-0C17-56F7C9A16ACF}"/>
              </a:ext>
            </a:extLst>
          </p:cNvPr>
          <p:cNvSpPr txBox="1"/>
          <p:nvPr/>
        </p:nvSpPr>
        <p:spPr>
          <a:xfrm>
            <a:off x="3843953" y="1696510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</a:rPr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xmlns="" id="{698EDA17-407B-DE19-37FC-750F0982A038}"/>
                  </a:ext>
                </a:extLst>
              </p:cNvPr>
              <p:cNvSpPr txBox="1"/>
              <p:nvPr/>
            </p:nvSpPr>
            <p:spPr>
              <a:xfrm>
                <a:off x="4062471" y="2465371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{6}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98EDA17-407B-DE19-37FC-750F0982A0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2471" y="2465371"/>
                <a:ext cx="381000" cy="369332"/>
              </a:xfrm>
              <a:prstGeom prst="rect">
                <a:avLst/>
              </a:prstGeom>
              <a:blipFill rotWithShape="0">
                <a:blip r:embed="rId17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xmlns="" id="{C209B9B8-C098-E23B-7462-C6F2F49CEF89}"/>
                  </a:ext>
                </a:extLst>
              </p:cNvPr>
              <p:cNvSpPr txBox="1"/>
              <p:nvPr/>
            </p:nvSpPr>
            <p:spPr>
              <a:xfrm>
                <a:off x="3133713" y="1788843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209B9B8-C098-E23B-7462-C6F2F49CEF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3713" y="1788843"/>
                <a:ext cx="381000" cy="369332"/>
              </a:xfrm>
              <a:prstGeom prst="rect">
                <a:avLst/>
              </a:prstGeom>
              <a:blipFill rotWithShape="0">
                <a:blip r:embed="rId18"/>
                <a:stretch>
                  <a:fillRect l="-4762" r="-125397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xmlns="" id="{2B62C77B-258E-237A-D20F-8CFAE65273C0}"/>
                  </a:ext>
                </a:extLst>
              </p:cNvPr>
              <p:cNvSpPr txBox="1"/>
              <p:nvPr/>
            </p:nvSpPr>
            <p:spPr>
              <a:xfrm>
                <a:off x="3090886" y="349884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B62C77B-258E-237A-D20F-8CFAE65273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0886" y="3498842"/>
                <a:ext cx="381000" cy="369332"/>
              </a:xfrm>
              <a:prstGeom prst="rect">
                <a:avLst/>
              </a:prstGeom>
              <a:blipFill rotWithShape="0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xmlns="" id="{91F41934-4830-411E-5A49-8B0583F63A74}"/>
                  </a:ext>
                </a:extLst>
              </p:cNvPr>
              <p:cNvSpPr txBox="1"/>
              <p:nvPr/>
            </p:nvSpPr>
            <p:spPr>
              <a:xfrm>
                <a:off x="3757694" y="299630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91F41934-4830-411E-5A49-8B0583F63A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7694" y="2996302"/>
                <a:ext cx="381000" cy="369332"/>
              </a:xfrm>
              <a:prstGeom prst="rect">
                <a:avLst/>
              </a:prstGeom>
              <a:blipFill rotWithShape="0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xmlns="" id="{6494DB21-FC6B-C401-63DA-C51FF643D9BB}"/>
                  </a:ext>
                </a:extLst>
              </p:cNvPr>
              <p:cNvSpPr txBox="1"/>
              <p:nvPr/>
            </p:nvSpPr>
            <p:spPr>
              <a:xfrm>
                <a:off x="4387470" y="248122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#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494DB21-FC6B-C401-63DA-C51FF643D9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7470" y="2481228"/>
                <a:ext cx="381000" cy="369332"/>
              </a:xfrm>
              <a:prstGeom prst="rect">
                <a:avLst/>
              </a:prstGeom>
              <a:blipFill rotWithShape="0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Oval 37">
            <a:extLst>
              <a:ext uri="{FF2B5EF4-FFF2-40B4-BE49-F238E27FC236}">
                <a16:creationId xmlns:a16="http://schemas.microsoft.com/office/drawing/2014/main" xmlns="" id="{00DF98A1-E2D9-40D0-FB89-8E6DFD5813AB}"/>
              </a:ext>
            </a:extLst>
          </p:cNvPr>
          <p:cNvSpPr/>
          <p:nvPr/>
        </p:nvSpPr>
        <p:spPr>
          <a:xfrm>
            <a:off x="1364032" y="4072764"/>
            <a:ext cx="252408" cy="37946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xmlns="" id="{C10503CD-0C6F-E4F4-C9C6-C8842505A546}"/>
              </a:ext>
            </a:extLst>
          </p:cNvPr>
          <p:cNvSpPr txBox="1"/>
          <p:nvPr/>
        </p:nvSpPr>
        <p:spPr>
          <a:xfrm>
            <a:off x="384551" y="1038503"/>
            <a:ext cx="4410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Step 3: Calculate firstpos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xmlns="" id="{69AE2835-FDD5-CDF0-E5DF-5E0C744FA975}"/>
              </a:ext>
            </a:extLst>
          </p:cNvPr>
          <p:cNvSpPr/>
          <p:nvPr/>
        </p:nvSpPr>
        <p:spPr>
          <a:xfrm>
            <a:off x="6549590" y="1154872"/>
            <a:ext cx="2140820" cy="633971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err="1">
                <a:solidFill>
                  <a:srgbClr val="FF0000"/>
                </a:solidFill>
              </a:rPr>
              <a:t>Firstpos</a:t>
            </a:r>
            <a:r>
              <a:rPr lang="en-US">
                <a:solidFill>
                  <a:srgbClr val="FF0000"/>
                </a:solidFill>
              </a:rPr>
              <a:t> 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xmlns="" id="{69C93C38-03D4-11A6-A7BD-8DD7241E2DA8}"/>
              </a:ext>
            </a:extLst>
          </p:cNvPr>
          <p:cNvCxnSpPr/>
          <p:nvPr/>
        </p:nvCxnSpPr>
        <p:spPr>
          <a:xfrm>
            <a:off x="8101762" y="1477683"/>
            <a:ext cx="30480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xmlns="" id="{9228FD73-BF87-BE37-3FB6-61DCE9C55301}"/>
                  </a:ext>
                </a:extLst>
              </p:cNvPr>
              <p:cNvSpPr/>
              <p:nvPr/>
            </p:nvSpPr>
            <p:spPr>
              <a:xfrm>
                <a:off x="6432370" y="2321220"/>
                <a:ext cx="275613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 algn="ctr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</a:pPr>
                <a:r>
                  <a:rPr kumimoji="1" lang="en-US" altLang="zh-TW">
                    <a:latin typeface="+mj-lt"/>
                  </a:rPr>
                  <a:t>A leaf with position</a:t>
                </a:r>
                <a:r>
                  <a:rPr kumimoji="1" lang="en-US" altLang="zh-TW" b="1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TW" b="1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kumimoji="1" lang="en-US" altLang="zh-TW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TW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kumimoji="1" lang="en-US" altLang="zh-TW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kumimoji="1" lang="en-US" altLang="zh-TW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endParaRPr kumimoji="1" lang="en-US" altLang="zh-TW" b="1">
                  <a:solidFill>
                    <a:schemeClr val="tx2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9228FD73-BF87-BE37-3FB6-61DCE9C553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2370" y="2321220"/>
                <a:ext cx="2756139" cy="369332"/>
              </a:xfrm>
              <a:prstGeom prst="rect">
                <a:avLst/>
              </a:prstGeom>
              <a:blipFill rotWithShape="0">
                <a:blip r:embed="rId22"/>
                <a:stretch>
                  <a:fillRect l="-1770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xmlns="" id="{C9A7FA1C-992A-28CA-1628-ECAF12D2CEFA}"/>
                  </a:ext>
                </a:extLst>
              </p:cNvPr>
              <p:cNvSpPr/>
              <p:nvPr/>
            </p:nvSpPr>
            <p:spPr>
              <a:xfrm>
                <a:off x="6777535" y="3104973"/>
                <a:ext cx="552716" cy="396326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|</m:t>
                      </m:r>
                    </m:oMath>
                  </m:oMathPara>
                </a14:m>
                <a:endParaRPr lang="en-US">
                  <a:solidFill>
                    <a:schemeClr val="bg1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9A7FA1C-992A-28CA-1628-ECAF12D2CE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7535" y="3104973"/>
                <a:ext cx="552716" cy="396326"/>
              </a:xfrm>
              <a:prstGeom prst="ellipse">
                <a:avLst/>
              </a:prstGeom>
              <a:blipFill rotWithShape="0">
                <a:blip r:embed="rId23"/>
                <a:stretch>
                  <a:fillRect b="-735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38">
            <a:extLst>
              <a:ext uri="{FF2B5EF4-FFF2-40B4-BE49-F238E27FC236}">
                <a16:creationId xmlns:a16="http://schemas.microsoft.com/office/drawing/2014/main" xmlns="" id="{E37FBEB4-096A-8340-45D2-BF3DCA603ED1}"/>
              </a:ext>
            </a:extLst>
          </p:cNvPr>
          <p:cNvSpPr txBox="1"/>
          <p:nvPr/>
        </p:nvSpPr>
        <p:spPr>
          <a:xfrm>
            <a:off x="6500388" y="299169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+mj-lt"/>
              </a:rPr>
              <a:t>n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xmlns="" id="{E1DA5478-D186-717F-D696-F496C0F919CC}"/>
              </a:ext>
            </a:extLst>
          </p:cNvPr>
          <p:cNvSpPr/>
          <p:nvPr/>
        </p:nvSpPr>
        <p:spPr>
          <a:xfrm>
            <a:off x="6249127" y="3665187"/>
            <a:ext cx="536000" cy="422526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>
                <a:solidFill>
                  <a:schemeClr val="bg1"/>
                </a:solidFill>
                <a:latin typeface="+mj-lt"/>
              </a:rPr>
              <a:t>c</a:t>
            </a:r>
            <a:r>
              <a:rPr lang="en-US" b="0" baseline="-25000">
                <a:solidFill>
                  <a:schemeClr val="bg1"/>
                </a:solidFill>
                <a:latin typeface="+mj-lt"/>
              </a:rPr>
              <a:t>1</a:t>
            </a:r>
            <a:endParaRPr lang="en-US" baseline="-2500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xmlns="" id="{9BF32959-DB19-29E2-015D-87FBAA8578C7}"/>
              </a:ext>
            </a:extLst>
          </p:cNvPr>
          <p:cNvCxnSpPr>
            <a:stCxn id="43" idx="5"/>
            <a:endCxn id="48" idx="0"/>
          </p:cNvCxnSpPr>
          <p:nvPr/>
        </p:nvCxnSpPr>
        <p:spPr>
          <a:xfrm>
            <a:off x="7249308" y="3443258"/>
            <a:ext cx="334439" cy="252649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xmlns="" id="{9F807BE2-ECEF-4ADA-3168-9DE4FED84346}"/>
              </a:ext>
            </a:extLst>
          </p:cNvPr>
          <p:cNvCxnSpPr>
            <a:stCxn id="43" idx="3"/>
            <a:endCxn id="45" idx="0"/>
          </p:cNvCxnSpPr>
          <p:nvPr/>
        </p:nvCxnSpPr>
        <p:spPr>
          <a:xfrm flipH="1">
            <a:off x="6517127" y="3443258"/>
            <a:ext cx="341351" cy="221929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xmlns="" id="{91AE2D42-8DDD-A16A-FA93-CD6BC0DABC83}"/>
              </a:ext>
            </a:extLst>
          </p:cNvPr>
          <p:cNvSpPr/>
          <p:nvPr/>
        </p:nvSpPr>
        <p:spPr>
          <a:xfrm>
            <a:off x="7315747" y="3695907"/>
            <a:ext cx="536000" cy="422526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>
                <a:solidFill>
                  <a:schemeClr val="bg1"/>
                </a:solidFill>
                <a:latin typeface="+mj-lt"/>
              </a:rPr>
              <a:t>c</a:t>
            </a:r>
            <a:r>
              <a:rPr lang="en-US" baseline="-25000">
                <a:solidFill>
                  <a:schemeClr val="bg1"/>
                </a:solidFill>
                <a:latin typeface="+mj-lt"/>
              </a:rPr>
              <a:t>2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xmlns="" id="{22B6A53B-5EDE-8427-D6AD-871921C5F5FB}"/>
              </a:ext>
            </a:extLst>
          </p:cNvPr>
          <p:cNvSpPr/>
          <p:nvPr/>
        </p:nvSpPr>
        <p:spPr>
          <a:xfrm>
            <a:off x="7830717" y="3283418"/>
            <a:ext cx="25843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</a:pPr>
            <a:r>
              <a:rPr kumimoji="1" lang="en-US" altLang="zh-TW" i="1" err="1">
                <a:latin typeface="+mj-lt"/>
              </a:rPr>
              <a:t>firstpos</a:t>
            </a:r>
            <a:r>
              <a:rPr kumimoji="1" lang="en-US" altLang="zh-TW">
                <a:latin typeface="+mj-lt"/>
              </a:rPr>
              <a:t>(</a:t>
            </a:r>
            <a:r>
              <a:rPr kumimoji="1" lang="en-US" altLang="zh-TW" i="1">
                <a:latin typeface="+mj-lt"/>
              </a:rPr>
              <a:t>c</a:t>
            </a:r>
            <a:r>
              <a:rPr kumimoji="1" lang="en-US" altLang="zh-TW" baseline="-25000">
                <a:latin typeface="+mj-lt"/>
              </a:rPr>
              <a:t>1</a:t>
            </a:r>
            <a:r>
              <a:rPr kumimoji="1" lang="en-US" altLang="zh-TW">
                <a:latin typeface="+mj-lt"/>
              </a:rPr>
              <a:t>) </a:t>
            </a:r>
            <a:r>
              <a:rPr kumimoji="1" lang="en-US" altLang="zh-TW" b="1">
                <a:latin typeface="+mj-lt"/>
                <a:sym typeface="Symbol" pitchFamily="18" charset="2"/>
              </a:rPr>
              <a:t></a:t>
            </a:r>
            <a:r>
              <a:rPr kumimoji="1" lang="en-US" altLang="zh-TW">
                <a:latin typeface="+mj-lt"/>
              </a:rPr>
              <a:t> </a:t>
            </a:r>
            <a:r>
              <a:rPr kumimoji="1" lang="en-US" altLang="zh-TW" i="1" err="1">
                <a:latin typeface="+mj-lt"/>
              </a:rPr>
              <a:t>firstpos</a:t>
            </a:r>
            <a:r>
              <a:rPr kumimoji="1" lang="en-US" altLang="zh-TW">
                <a:latin typeface="+mj-lt"/>
              </a:rPr>
              <a:t>(</a:t>
            </a:r>
            <a:r>
              <a:rPr kumimoji="1" lang="en-US" altLang="zh-TW" i="1">
                <a:latin typeface="+mj-lt"/>
              </a:rPr>
              <a:t>c</a:t>
            </a:r>
            <a:r>
              <a:rPr kumimoji="1" lang="en-US" altLang="zh-TW" baseline="-25000">
                <a:latin typeface="+mj-lt"/>
              </a:rPr>
              <a:t>2</a:t>
            </a:r>
            <a:r>
              <a:rPr kumimoji="1" lang="en-US" altLang="zh-TW">
                <a:latin typeface="+mj-lt"/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xmlns="" id="{6CEA9304-AB20-99B0-996D-8B37D586B681}"/>
                  </a:ext>
                </a:extLst>
              </p:cNvPr>
              <p:cNvSpPr/>
              <p:nvPr/>
            </p:nvSpPr>
            <p:spPr>
              <a:xfrm>
                <a:off x="6785127" y="4167924"/>
                <a:ext cx="498464" cy="403720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∗</m:t>
                      </m:r>
                    </m:oMath>
                  </m:oMathPara>
                </a14:m>
                <a:endParaRPr lang="en-US">
                  <a:solidFill>
                    <a:schemeClr val="bg1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CEA9304-AB20-99B0-996D-8B37D586B6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5127" y="4167924"/>
                <a:ext cx="498464" cy="403720"/>
              </a:xfrm>
              <a:prstGeom prst="ellipse">
                <a:avLst/>
              </a:prstGeom>
              <a:blipFill rotWithShape="0">
                <a:blip r:embed="rId2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TextBox 38">
            <a:extLst>
              <a:ext uri="{FF2B5EF4-FFF2-40B4-BE49-F238E27FC236}">
                <a16:creationId xmlns:a16="http://schemas.microsoft.com/office/drawing/2014/main" xmlns="" id="{1AE342A8-F876-99DC-C728-05E6DDE1DA0A}"/>
              </a:ext>
            </a:extLst>
          </p:cNvPr>
          <p:cNvSpPr txBox="1"/>
          <p:nvPr/>
        </p:nvSpPr>
        <p:spPr>
          <a:xfrm>
            <a:off x="6509561" y="4194082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+mj-lt"/>
              </a:rPr>
              <a:t>n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xmlns="" id="{DD423A99-2C54-73F1-CC2D-0311ADD63C19}"/>
              </a:ext>
            </a:extLst>
          </p:cNvPr>
          <p:cNvCxnSpPr>
            <a:stCxn id="50" idx="4"/>
          </p:cNvCxnSpPr>
          <p:nvPr/>
        </p:nvCxnSpPr>
        <p:spPr>
          <a:xfrm>
            <a:off x="7034359" y="4571644"/>
            <a:ext cx="1528" cy="197465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Oval 52">
            <a:extLst>
              <a:ext uri="{FF2B5EF4-FFF2-40B4-BE49-F238E27FC236}">
                <a16:creationId xmlns:a16="http://schemas.microsoft.com/office/drawing/2014/main" xmlns="" id="{C2651510-71A5-5182-6E08-F366466266DD}"/>
              </a:ext>
            </a:extLst>
          </p:cNvPr>
          <p:cNvSpPr/>
          <p:nvPr/>
        </p:nvSpPr>
        <p:spPr>
          <a:xfrm>
            <a:off x="6780200" y="4770893"/>
            <a:ext cx="536000" cy="374705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>
                <a:solidFill>
                  <a:schemeClr val="bg1"/>
                </a:solidFill>
                <a:latin typeface="+mj-lt"/>
              </a:rPr>
              <a:t>c</a:t>
            </a:r>
            <a:r>
              <a:rPr lang="en-US" b="0" baseline="-25000">
                <a:solidFill>
                  <a:schemeClr val="bg1"/>
                </a:solidFill>
                <a:latin typeface="+mj-lt"/>
              </a:rPr>
              <a:t>1</a:t>
            </a:r>
            <a:endParaRPr lang="en-US" baseline="-250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xmlns="" id="{C52F3461-2ADD-2854-BA09-4EA4649EB3C2}"/>
              </a:ext>
            </a:extLst>
          </p:cNvPr>
          <p:cNvSpPr/>
          <p:nvPr/>
        </p:nvSpPr>
        <p:spPr>
          <a:xfrm>
            <a:off x="7591766" y="4430156"/>
            <a:ext cx="22622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</a:pPr>
            <a:r>
              <a:rPr kumimoji="1" lang="en-US" altLang="zh-TW" i="1" err="1">
                <a:latin typeface="+mj-lt"/>
              </a:rPr>
              <a:t>firstpos</a:t>
            </a:r>
            <a:r>
              <a:rPr kumimoji="1" lang="en-US" altLang="zh-TW">
                <a:latin typeface="+mj-lt"/>
              </a:rPr>
              <a:t>(</a:t>
            </a:r>
            <a:r>
              <a:rPr kumimoji="1" lang="en-US" altLang="zh-TW" i="1">
                <a:latin typeface="+mj-lt"/>
              </a:rPr>
              <a:t>c</a:t>
            </a:r>
            <a:r>
              <a:rPr kumimoji="1" lang="en-US" altLang="zh-TW" baseline="-25000">
                <a:latin typeface="+mj-lt"/>
              </a:rPr>
              <a:t>1</a:t>
            </a:r>
            <a:r>
              <a:rPr kumimoji="1" lang="en-US" altLang="zh-TW">
                <a:latin typeface="+mj-lt"/>
              </a:rPr>
              <a:t>)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xmlns="" id="{9B768A88-0324-FA7F-9F96-948F42BCAE4A}"/>
                  </a:ext>
                </a:extLst>
              </p:cNvPr>
              <p:cNvSpPr/>
              <p:nvPr/>
            </p:nvSpPr>
            <p:spPr>
              <a:xfrm>
                <a:off x="6735112" y="5355524"/>
                <a:ext cx="552716" cy="396326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.</m:t>
                      </m:r>
                    </m:oMath>
                  </m:oMathPara>
                </a14:m>
                <a:endParaRPr lang="en-US">
                  <a:solidFill>
                    <a:schemeClr val="bg1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9B768A88-0324-FA7F-9F96-948F42BCAE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5112" y="5355524"/>
                <a:ext cx="552716" cy="396326"/>
              </a:xfrm>
              <a:prstGeom prst="ellipse">
                <a:avLst/>
              </a:prstGeom>
              <a:blipFill rotWithShape="0">
                <a:blip r:embed="rId2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Box 38">
            <a:extLst>
              <a:ext uri="{FF2B5EF4-FFF2-40B4-BE49-F238E27FC236}">
                <a16:creationId xmlns:a16="http://schemas.microsoft.com/office/drawing/2014/main" xmlns="" id="{9FA343A4-0C04-2DCF-CDD2-7FE4ADC1B8D7}"/>
              </a:ext>
            </a:extLst>
          </p:cNvPr>
          <p:cNvSpPr txBox="1"/>
          <p:nvPr/>
        </p:nvSpPr>
        <p:spPr>
          <a:xfrm>
            <a:off x="6457965" y="5242245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+mj-lt"/>
              </a:rPr>
              <a:t>n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xmlns="" id="{953C2B5A-77A0-0A6D-356D-ECD591E7F419}"/>
              </a:ext>
            </a:extLst>
          </p:cNvPr>
          <p:cNvSpPr/>
          <p:nvPr/>
        </p:nvSpPr>
        <p:spPr>
          <a:xfrm>
            <a:off x="6206704" y="5915738"/>
            <a:ext cx="536000" cy="422526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>
                <a:solidFill>
                  <a:schemeClr val="bg1"/>
                </a:solidFill>
                <a:latin typeface="+mj-lt"/>
              </a:rPr>
              <a:t>c</a:t>
            </a:r>
            <a:r>
              <a:rPr lang="en-US" b="0" baseline="-25000">
                <a:solidFill>
                  <a:schemeClr val="bg1"/>
                </a:solidFill>
                <a:latin typeface="+mj-lt"/>
              </a:rPr>
              <a:t>1</a:t>
            </a:r>
            <a:endParaRPr lang="en-US" baseline="-2500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xmlns="" id="{CEE5251F-7AD7-4D8F-1C11-5E284BECB1FE}"/>
              </a:ext>
            </a:extLst>
          </p:cNvPr>
          <p:cNvCxnSpPr>
            <a:stCxn id="55" idx="5"/>
            <a:endCxn id="60" idx="0"/>
          </p:cNvCxnSpPr>
          <p:nvPr/>
        </p:nvCxnSpPr>
        <p:spPr>
          <a:xfrm>
            <a:off x="7206885" y="5693809"/>
            <a:ext cx="334439" cy="252649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xmlns="" id="{F203DC1E-CA88-C6E8-208F-73124F5486C8}"/>
              </a:ext>
            </a:extLst>
          </p:cNvPr>
          <p:cNvCxnSpPr>
            <a:stCxn id="55" idx="3"/>
            <a:endCxn id="57" idx="0"/>
          </p:cNvCxnSpPr>
          <p:nvPr/>
        </p:nvCxnSpPr>
        <p:spPr>
          <a:xfrm flipH="1">
            <a:off x="6474704" y="5693809"/>
            <a:ext cx="341351" cy="221929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xmlns="" id="{8DEB971E-F6FB-F517-969D-24F298C320EF}"/>
              </a:ext>
            </a:extLst>
          </p:cNvPr>
          <p:cNvSpPr/>
          <p:nvPr/>
        </p:nvSpPr>
        <p:spPr>
          <a:xfrm>
            <a:off x="7273324" y="5946458"/>
            <a:ext cx="536000" cy="422526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>
                <a:solidFill>
                  <a:schemeClr val="bg1"/>
                </a:solidFill>
                <a:latin typeface="+mj-lt"/>
              </a:rPr>
              <a:t>c</a:t>
            </a:r>
            <a:r>
              <a:rPr lang="en-US" baseline="-25000">
                <a:solidFill>
                  <a:schemeClr val="bg1"/>
                </a:solidFill>
                <a:latin typeface="+mj-lt"/>
              </a:rPr>
              <a:t>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xmlns="" id="{082BF278-E55B-9A5D-2BF9-2002F1B39073}"/>
                  </a:ext>
                </a:extLst>
              </p:cNvPr>
              <p:cNvSpPr txBox="1"/>
              <p:nvPr/>
            </p:nvSpPr>
            <p:spPr>
              <a:xfrm>
                <a:off x="731045" y="588681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82BF278-E55B-9A5D-2BF9-2002F1B390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045" y="5886814"/>
                <a:ext cx="381000" cy="369332"/>
              </a:xfrm>
              <a:prstGeom prst="rect">
                <a:avLst/>
              </a:prstGeom>
              <a:blipFill rotWithShape="0"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xmlns="" id="{44487F53-D2FB-AC7E-A463-42A63ECDF79C}"/>
                  </a:ext>
                </a:extLst>
              </p:cNvPr>
              <p:cNvSpPr txBox="1"/>
              <p:nvPr/>
            </p:nvSpPr>
            <p:spPr>
              <a:xfrm>
                <a:off x="1838325" y="5870621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44487F53-D2FB-AC7E-A463-42A63ECDF7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325" y="5870621"/>
                <a:ext cx="381000" cy="369332"/>
              </a:xfrm>
              <a:prstGeom prst="rect">
                <a:avLst/>
              </a:prstGeom>
              <a:blipFill rotWithShape="0"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xmlns="" id="{7749E16C-D610-944E-22C6-B42DA102EC9B}"/>
                  </a:ext>
                </a:extLst>
              </p:cNvPr>
              <p:cNvSpPr txBox="1"/>
              <p:nvPr/>
            </p:nvSpPr>
            <p:spPr>
              <a:xfrm>
                <a:off x="3114683" y="380200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749E16C-D610-944E-22C6-B42DA102EC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4683" y="3802008"/>
                <a:ext cx="381000" cy="369332"/>
              </a:xfrm>
              <a:prstGeom prst="rect">
                <a:avLst/>
              </a:prstGeom>
              <a:blipFill rotWithShape="0"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xmlns="" id="{263C1F3C-7A05-13C8-27A4-F44D090EA95B}"/>
                  </a:ext>
                </a:extLst>
              </p:cNvPr>
              <p:cNvSpPr txBox="1"/>
              <p:nvPr/>
            </p:nvSpPr>
            <p:spPr>
              <a:xfrm>
                <a:off x="2462199" y="4382950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63C1F3C-7A05-13C8-27A4-F44D090EA9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2199" y="4382950"/>
                <a:ext cx="381000" cy="369332"/>
              </a:xfrm>
              <a:prstGeom prst="rect">
                <a:avLst/>
              </a:prstGeom>
              <a:blipFill rotWithShape="0"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xmlns="" id="{1702A417-6313-B398-1AE3-541D18831706}"/>
                  </a:ext>
                </a:extLst>
              </p:cNvPr>
              <p:cNvSpPr txBox="1"/>
              <p:nvPr/>
            </p:nvSpPr>
            <p:spPr>
              <a:xfrm>
                <a:off x="3767138" y="3285655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702A417-6313-B398-1AE3-541D188317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7138" y="3285655"/>
                <a:ext cx="381000" cy="369332"/>
              </a:xfrm>
              <a:prstGeom prst="rect">
                <a:avLst/>
              </a:prstGeom>
              <a:blipFill rotWithShape="0"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xmlns="" id="{9B5C8FC0-8AE9-DBF1-4B48-BB2ABBB22D6F}"/>
                  </a:ext>
                </a:extLst>
              </p:cNvPr>
              <p:cNvSpPr txBox="1"/>
              <p:nvPr/>
            </p:nvSpPr>
            <p:spPr>
              <a:xfrm>
                <a:off x="4394564" y="2742439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9B5C8FC0-8AE9-DBF1-4B48-BB2ABBB22D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4564" y="2742439"/>
                <a:ext cx="381000" cy="369332"/>
              </a:xfrm>
              <a:prstGeom prst="rect">
                <a:avLst/>
              </a:prstGeom>
              <a:blipFill rotWithShape="0"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Rectangle 66">
            <a:extLst>
              <a:ext uri="{FF2B5EF4-FFF2-40B4-BE49-F238E27FC236}">
                <a16:creationId xmlns:a16="http://schemas.microsoft.com/office/drawing/2014/main" xmlns="" id="{3D39EE63-1C96-5D70-527C-A6F8BD5A59EE}"/>
              </a:ext>
            </a:extLst>
          </p:cNvPr>
          <p:cNvSpPr/>
          <p:nvPr/>
        </p:nvSpPr>
        <p:spPr>
          <a:xfrm>
            <a:off x="7558101" y="5167300"/>
            <a:ext cx="2551938" cy="1255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</a:pPr>
            <a:r>
              <a:rPr kumimoji="1" lang="en-US" altLang="zh-TW" b="1">
                <a:ea typeface="新細明體" panose="02020500000000000000" pitchFamily="18" charset="-120"/>
              </a:rPr>
              <a:t>if  </a:t>
            </a:r>
            <a:r>
              <a:rPr kumimoji="1" lang="en-US" altLang="zh-TW">
                <a:ea typeface="新細明體" panose="02020500000000000000" pitchFamily="18" charset="-120"/>
              </a:rPr>
              <a:t>(</a:t>
            </a:r>
            <a:r>
              <a:rPr kumimoji="1" lang="en-US" altLang="zh-TW" i="1" err="1">
                <a:ea typeface="新細明體" panose="02020500000000000000" pitchFamily="18" charset="-120"/>
              </a:rPr>
              <a:t>nullable</a:t>
            </a:r>
            <a:r>
              <a:rPr kumimoji="1" lang="en-US" altLang="zh-TW">
                <a:ea typeface="新細明體" panose="02020500000000000000" pitchFamily="18" charset="-120"/>
              </a:rPr>
              <a:t>(</a:t>
            </a:r>
            <a:r>
              <a:rPr kumimoji="1" lang="en-US" altLang="zh-TW" i="1">
                <a:ea typeface="新細明體" panose="02020500000000000000" pitchFamily="18" charset="-120"/>
              </a:rPr>
              <a:t>c</a:t>
            </a:r>
            <a:r>
              <a:rPr kumimoji="1" lang="en-US" altLang="zh-TW" baseline="-25000">
                <a:ea typeface="新細明體" panose="02020500000000000000" pitchFamily="18" charset="-120"/>
              </a:rPr>
              <a:t>1</a:t>
            </a:r>
            <a:r>
              <a:rPr kumimoji="1" lang="en-US" altLang="zh-TW">
                <a:ea typeface="新細明體" panose="02020500000000000000" pitchFamily="18" charset="-120"/>
              </a:rPr>
              <a:t>)) </a:t>
            </a:r>
          </a:p>
          <a:p>
            <a:pPr lvl="0" algn="ctr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</a:pPr>
            <a:r>
              <a:rPr kumimoji="1" lang="en-US" altLang="zh-TW" b="1" err="1"/>
              <a:t>then</a:t>
            </a:r>
            <a:r>
              <a:rPr kumimoji="1" lang="en-US" altLang="zh-TW" i="1" err="1">
                <a:ea typeface="新細明體" panose="02020500000000000000" pitchFamily="18" charset="-120"/>
              </a:rPr>
              <a:t>firstpos</a:t>
            </a:r>
            <a:r>
              <a:rPr kumimoji="1" lang="en-US" altLang="zh-TW">
                <a:ea typeface="新細明體" panose="02020500000000000000" pitchFamily="18" charset="-120"/>
              </a:rPr>
              <a:t>(</a:t>
            </a:r>
            <a:r>
              <a:rPr kumimoji="1" lang="en-US" altLang="zh-TW" i="1">
                <a:ea typeface="新細明體" panose="02020500000000000000" pitchFamily="18" charset="-120"/>
              </a:rPr>
              <a:t>c</a:t>
            </a:r>
            <a:r>
              <a:rPr kumimoji="1" lang="en-US" altLang="zh-TW" baseline="-25000">
                <a:ea typeface="新細明體" panose="02020500000000000000" pitchFamily="18" charset="-120"/>
              </a:rPr>
              <a:t>1</a:t>
            </a:r>
            <a:r>
              <a:rPr kumimoji="1" lang="en-US" altLang="zh-TW">
                <a:ea typeface="新細明體" panose="02020500000000000000" pitchFamily="18" charset="-120"/>
              </a:rPr>
              <a:t>) </a:t>
            </a:r>
            <a:r>
              <a:rPr kumimoji="1" lang="en-US" altLang="zh-TW" b="1">
                <a:ea typeface="新細明體" panose="02020500000000000000" pitchFamily="18" charset="-120"/>
                <a:sym typeface="Symbol" pitchFamily="18" charset="2"/>
              </a:rPr>
              <a:t></a:t>
            </a:r>
            <a:r>
              <a:rPr kumimoji="1" lang="en-US" altLang="zh-TW">
                <a:ea typeface="新細明體" panose="02020500000000000000" pitchFamily="18" charset="-120"/>
              </a:rPr>
              <a:t> </a:t>
            </a:r>
            <a:r>
              <a:rPr kumimoji="1" lang="en-US" altLang="zh-TW" i="1" err="1">
                <a:ea typeface="新細明體" panose="02020500000000000000" pitchFamily="18" charset="-120"/>
              </a:rPr>
              <a:t>firstpos</a:t>
            </a:r>
            <a:r>
              <a:rPr kumimoji="1" lang="en-US" altLang="zh-TW">
                <a:ea typeface="新細明體" panose="02020500000000000000" pitchFamily="18" charset="-120"/>
              </a:rPr>
              <a:t>(</a:t>
            </a:r>
            <a:r>
              <a:rPr kumimoji="1" lang="en-US" altLang="zh-TW" i="1">
                <a:ea typeface="新細明體" panose="02020500000000000000" pitchFamily="18" charset="-120"/>
              </a:rPr>
              <a:t>c</a:t>
            </a:r>
            <a:r>
              <a:rPr kumimoji="1" lang="en-US" altLang="zh-TW" baseline="-25000">
                <a:ea typeface="新細明體" panose="02020500000000000000" pitchFamily="18" charset="-120"/>
              </a:rPr>
              <a:t>2</a:t>
            </a:r>
            <a:r>
              <a:rPr kumimoji="1" lang="en-US" altLang="zh-TW">
                <a:ea typeface="新細明體" panose="02020500000000000000" pitchFamily="18" charset="-120"/>
              </a:rPr>
              <a:t>)</a:t>
            </a:r>
            <a:br>
              <a:rPr kumimoji="1" lang="en-US" altLang="zh-TW">
                <a:ea typeface="新細明體" panose="02020500000000000000" pitchFamily="18" charset="-120"/>
              </a:rPr>
            </a:br>
            <a:r>
              <a:rPr kumimoji="1" lang="en-US" altLang="zh-TW" b="1">
                <a:ea typeface="新細明體" panose="02020500000000000000" pitchFamily="18" charset="-120"/>
              </a:rPr>
              <a:t>else  </a:t>
            </a:r>
            <a:r>
              <a:rPr kumimoji="1" lang="en-US" altLang="zh-TW" i="1" err="1">
                <a:ea typeface="新細明體" panose="02020500000000000000" pitchFamily="18" charset="-120"/>
              </a:rPr>
              <a:t>firstpos</a:t>
            </a:r>
            <a:r>
              <a:rPr kumimoji="1" lang="en-US" altLang="zh-TW">
                <a:ea typeface="新細明體" panose="02020500000000000000" pitchFamily="18" charset="-120"/>
              </a:rPr>
              <a:t>(</a:t>
            </a:r>
            <a:r>
              <a:rPr kumimoji="1" lang="en-US" altLang="zh-TW" i="1">
                <a:ea typeface="新細明體" panose="02020500000000000000" pitchFamily="18" charset="-120"/>
              </a:rPr>
              <a:t>c</a:t>
            </a:r>
            <a:r>
              <a:rPr kumimoji="1" lang="en-US" altLang="zh-TW" baseline="-25000">
                <a:ea typeface="新細明體" panose="02020500000000000000" pitchFamily="18" charset="-120"/>
              </a:rPr>
              <a:t>1</a:t>
            </a:r>
            <a:r>
              <a:rPr kumimoji="1" lang="en-US" altLang="zh-TW">
                <a:ea typeface="新細明體" panose="02020500000000000000" pitchFamily="18" charset="-120"/>
              </a:rPr>
              <a:t>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522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  <p:bldP spid="18" grpId="0"/>
      <p:bldP spid="19" grpId="0"/>
      <p:bldP spid="23" grpId="0"/>
      <p:bldP spid="24" grpId="0"/>
      <p:bldP spid="28" grpId="0"/>
      <p:bldP spid="29" grpId="0"/>
      <p:bldP spid="33" grpId="0"/>
      <p:bldP spid="40" grpId="0" animBg="1"/>
      <p:bldP spid="42" grpId="0"/>
      <p:bldP spid="43" grpId="0" animBg="1"/>
      <p:bldP spid="44" grpId="0"/>
      <p:bldP spid="45" grpId="0" animBg="1"/>
      <p:bldP spid="48" grpId="0" animBg="1"/>
      <p:bldP spid="49" grpId="0"/>
      <p:bldP spid="50" grpId="0" animBg="1"/>
      <p:bldP spid="51" grpId="0"/>
      <p:bldP spid="53" grpId="0" animBg="1"/>
      <p:bldP spid="54" grpId="0"/>
      <p:bldP spid="55" grpId="0" animBg="1"/>
      <p:bldP spid="56" grpId="0"/>
      <p:bldP spid="57" grpId="0" animBg="1"/>
      <p:bldP spid="60" grpId="0" animBg="1"/>
      <p:bldP spid="67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F9098F8-C61F-A16D-FE75-CB02E1F808E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Conversion from regular expression to DFA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xmlns="" id="{BDFC7A8C-3BB8-6EA7-B6E6-90D9F7D89E9C}"/>
                  </a:ext>
                </a:extLst>
              </p:cNvPr>
              <p:cNvSpPr txBox="1"/>
              <p:nvPr/>
            </p:nvSpPr>
            <p:spPr>
              <a:xfrm>
                <a:off x="738189" y="555997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DFC7A8C-3BB8-6EA7-B6E6-90D9F7D89E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189" y="5559972"/>
                <a:ext cx="381000" cy="369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xmlns="" id="{4A20CFAD-21F4-6D69-69B3-6860D35E23BD}"/>
                  </a:ext>
                </a:extLst>
              </p:cNvPr>
              <p:cNvSpPr txBox="1"/>
              <p:nvPr/>
            </p:nvSpPr>
            <p:spPr>
              <a:xfrm>
                <a:off x="1838325" y="5574260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4A20CFAD-21F4-6D69-69B3-6860D35E23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325" y="5574260"/>
                <a:ext cx="381000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C5852EAD-11C6-24A1-4A05-97A09F4CCB3E}"/>
                  </a:ext>
                </a:extLst>
              </p:cNvPr>
              <p:cNvSpPr txBox="1"/>
              <p:nvPr/>
            </p:nvSpPr>
            <p:spPr>
              <a:xfrm>
                <a:off x="1295400" y="4857744"/>
                <a:ext cx="381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sz="2000" b="1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5852EAD-11C6-24A1-4A05-97A09F4CCB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4857744"/>
                <a:ext cx="381000" cy="400110"/>
              </a:xfrm>
              <a:prstGeom prst="rect">
                <a:avLst/>
              </a:prstGeom>
              <a:blipFill rotWithShape="0">
                <a:blip r:embed="rId4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xmlns="" id="{759037D3-211D-6682-B8ED-CEC11815DB04}"/>
              </a:ext>
            </a:extLst>
          </p:cNvPr>
          <p:cNvCxnSpPr>
            <a:stCxn id="3" idx="0"/>
          </p:cNvCxnSpPr>
          <p:nvPr/>
        </p:nvCxnSpPr>
        <p:spPr>
          <a:xfrm flipV="1">
            <a:off x="928689" y="5260797"/>
            <a:ext cx="557211" cy="299175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D0AD6A6E-0203-3E9C-67C1-A7674826B471}"/>
              </a:ext>
            </a:extLst>
          </p:cNvPr>
          <p:cNvCxnSpPr/>
          <p:nvPr/>
        </p:nvCxnSpPr>
        <p:spPr>
          <a:xfrm>
            <a:off x="1471298" y="5258643"/>
            <a:ext cx="542925" cy="302118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4AEA9F8F-0654-8AC8-AE7A-F9DA6109F42B}"/>
              </a:ext>
            </a:extLst>
          </p:cNvPr>
          <p:cNvCxnSpPr>
            <a:stCxn id="11" idx="0"/>
          </p:cNvCxnSpPr>
          <p:nvPr/>
        </p:nvCxnSpPr>
        <p:spPr>
          <a:xfrm flipV="1">
            <a:off x="1485900" y="3700464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08E06FC8-0727-BD93-FF51-DDD820F391AB}"/>
              </a:ext>
            </a:extLst>
          </p:cNvPr>
          <p:cNvCxnSpPr/>
          <p:nvPr/>
        </p:nvCxnSpPr>
        <p:spPr>
          <a:xfrm>
            <a:off x="2028825" y="3705924"/>
            <a:ext cx="609586" cy="360557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DCFFFBB7-3046-6A8E-8252-B58B8BF5E7A3}"/>
              </a:ext>
            </a:extLst>
          </p:cNvPr>
          <p:cNvCxnSpPr/>
          <p:nvPr/>
        </p:nvCxnSpPr>
        <p:spPr>
          <a:xfrm flipH="1" flipV="1">
            <a:off x="1485900" y="4452936"/>
            <a:ext cx="0" cy="361944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xmlns="" id="{8DB50587-9C7F-54CE-1316-1897DE80A524}"/>
                  </a:ext>
                </a:extLst>
              </p:cNvPr>
              <p:cNvSpPr txBox="1"/>
              <p:nvPr/>
            </p:nvSpPr>
            <p:spPr>
              <a:xfrm>
                <a:off x="1295400" y="4067106"/>
                <a:ext cx="381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US" sz="2000" b="1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DB50587-9C7F-54CE-1316-1897DE80A5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4067106"/>
                <a:ext cx="381000" cy="40011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CD0ECEF5-A54D-6757-CFAD-4772370D2CCA}"/>
              </a:ext>
            </a:extLst>
          </p:cNvPr>
          <p:cNvSpPr txBox="1"/>
          <p:nvPr/>
        </p:nvSpPr>
        <p:spPr>
          <a:xfrm>
            <a:off x="1947914" y="3289199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</a:rPr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="" id="{98BBC86B-09EA-B3A9-8F3B-3D52B98D813F}"/>
                  </a:ext>
                </a:extLst>
              </p:cNvPr>
              <p:cNvSpPr txBox="1"/>
              <p:nvPr/>
            </p:nvSpPr>
            <p:spPr>
              <a:xfrm>
                <a:off x="442914" y="5784876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98BBC86B-09EA-B3A9-8F3B-3D52B98D81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914" y="5784876"/>
                <a:ext cx="381000" cy="369332"/>
              </a:xfrm>
              <a:prstGeom prst="rect">
                <a:avLst/>
              </a:prstGeom>
              <a:blipFill rotWithShape="0">
                <a:blip r:embed="rId6"/>
                <a:stretch>
                  <a:fillRect l="-6452" r="-35484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563031A0-3B2F-CEBC-1A13-12E7F4DBD45B}"/>
                  </a:ext>
                </a:extLst>
              </p:cNvPr>
              <p:cNvSpPr txBox="1"/>
              <p:nvPr/>
            </p:nvSpPr>
            <p:spPr>
              <a:xfrm>
                <a:off x="892968" y="5784876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{1}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63031A0-3B2F-CEBC-1A13-12E7F4DBD4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968" y="5784876"/>
                <a:ext cx="381000" cy="369332"/>
              </a:xfrm>
              <a:prstGeom prst="rect">
                <a:avLst/>
              </a:prstGeom>
              <a:blipFill rotWithShape="0">
                <a:blip r:embed="rId7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xmlns="" id="{58B228D8-FEB2-1458-3160-061FF925B23C}"/>
                  </a:ext>
                </a:extLst>
              </p:cNvPr>
              <p:cNvSpPr txBox="1"/>
              <p:nvPr/>
            </p:nvSpPr>
            <p:spPr>
              <a:xfrm>
                <a:off x="1566872" y="578010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{2}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8B228D8-FEB2-1458-3160-061FF925B2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6872" y="5780108"/>
                <a:ext cx="381000" cy="369332"/>
              </a:xfrm>
              <a:prstGeom prst="rect">
                <a:avLst/>
              </a:prstGeom>
              <a:blipFill rotWithShape="0">
                <a:blip r:embed="rId8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xmlns="" id="{4F964F76-31BE-913F-9482-41304C528420}"/>
                  </a:ext>
                </a:extLst>
              </p:cNvPr>
              <p:cNvSpPr txBox="1"/>
              <p:nvPr/>
            </p:nvSpPr>
            <p:spPr>
              <a:xfrm>
                <a:off x="2016926" y="578010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9644"/>
                          </a:solidFill>
                          <a:latin typeface="Cambria Math" panose="02040503050406030204" pitchFamily="18" charset="0"/>
                        </a:rPr>
                        <m:t>{2}</m:t>
                      </m:r>
                    </m:oMath>
                  </m:oMathPara>
                </a14:m>
                <a:endParaRPr lang="en-US">
                  <a:solidFill>
                    <a:srgbClr val="009644"/>
                  </a:solidFill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4F964F76-31BE-913F-9482-41304C5284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6926" y="5780108"/>
                <a:ext cx="381000" cy="369332"/>
              </a:xfrm>
              <a:prstGeom prst="rect">
                <a:avLst/>
              </a:prstGeom>
              <a:blipFill rotWithShape="0">
                <a:blip r:embed="rId9"/>
                <a:stretch>
                  <a:fillRect l="-6452" r="-35484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xmlns="" id="{96448E89-D518-591E-A49B-ECDE13B5DB2F}"/>
                  </a:ext>
                </a:extLst>
              </p:cNvPr>
              <p:cNvSpPr txBox="1"/>
              <p:nvPr/>
            </p:nvSpPr>
            <p:spPr>
              <a:xfrm>
                <a:off x="823914" y="490856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96448E89-D518-591E-A49B-ECDE13B5DB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914" y="4908567"/>
                <a:ext cx="381000" cy="369332"/>
              </a:xfrm>
              <a:prstGeom prst="rect">
                <a:avLst/>
              </a:prstGeom>
              <a:blipFill rotWithShape="0">
                <a:blip r:embed="rId10"/>
                <a:stretch>
                  <a:fillRect l="-4762" r="-80952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xmlns="" id="{206C9819-4E0D-6270-EFCB-77F551E60C81}"/>
                  </a:ext>
                </a:extLst>
              </p:cNvPr>
              <p:cNvSpPr txBox="1"/>
              <p:nvPr/>
            </p:nvSpPr>
            <p:spPr>
              <a:xfrm>
                <a:off x="1473996" y="490856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06C9819-4E0D-6270-EFCB-77F551E60C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3996" y="4908567"/>
                <a:ext cx="381000" cy="369332"/>
              </a:xfrm>
              <a:prstGeom prst="rect">
                <a:avLst/>
              </a:prstGeom>
              <a:blipFill rotWithShape="0">
                <a:blip r:embed="rId11"/>
                <a:stretch>
                  <a:fillRect l="-6452" r="-82258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xmlns="" id="{3589597A-5B6E-7973-F733-18D44EE254DD}"/>
                  </a:ext>
                </a:extLst>
              </p:cNvPr>
              <p:cNvSpPr txBox="1"/>
              <p:nvPr/>
            </p:nvSpPr>
            <p:spPr>
              <a:xfrm>
                <a:off x="758216" y="407491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3589597A-5B6E-7973-F733-18D44EE254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216" y="4074918"/>
                <a:ext cx="381000" cy="369332"/>
              </a:xfrm>
              <a:prstGeom prst="rect">
                <a:avLst/>
              </a:prstGeom>
              <a:blipFill rotWithShape="0">
                <a:blip r:embed="rId12"/>
                <a:stretch>
                  <a:fillRect l="-4762" r="-80952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xmlns="" id="{6B9B7D75-2D3E-5E86-3937-A00165557E18}"/>
                  </a:ext>
                </a:extLst>
              </p:cNvPr>
              <p:cNvSpPr txBox="1"/>
              <p:nvPr/>
            </p:nvSpPr>
            <p:spPr>
              <a:xfrm>
                <a:off x="1591691" y="4090038"/>
                <a:ext cx="4071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B9B7D75-2D3E-5E86-3937-A00165557E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1691" y="4090038"/>
                <a:ext cx="407191" cy="369332"/>
              </a:xfrm>
              <a:prstGeom prst="rect">
                <a:avLst/>
              </a:prstGeom>
              <a:blipFill rotWithShape="0">
                <a:blip r:embed="rId13"/>
                <a:stretch>
                  <a:fillRect l="-4478" r="-70149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xmlns="" id="{B17323F3-0AE1-DDEE-2E99-FACFAA1BF14E}"/>
                  </a:ext>
                </a:extLst>
              </p:cNvPr>
              <p:cNvSpPr txBox="1"/>
              <p:nvPr/>
            </p:nvSpPr>
            <p:spPr>
              <a:xfrm>
                <a:off x="2447911" y="4040373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17323F3-0AE1-DDEE-2E99-FACFAA1BF1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7911" y="4040373"/>
                <a:ext cx="381000" cy="369332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xmlns="" id="{AD3EB836-D66A-FD3C-1F35-189EB3D6C87F}"/>
                  </a:ext>
                </a:extLst>
              </p:cNvPr>
              <p:cNvSpPr txBox="1"/>
              <p:nvPr/>
            </p:nvSpPr>
            <p:spPr>
              <a:xfrm>
                <a:off x="2128875" y="406082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D3EB836-D66A-FD3C-1F35-189EB3D6C8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8875" y="4060824"/>
                <a:ext cx="381000" cy="369332"/>
              </a:xfrm>
              <a:prstGeom prst="rect">
                <a:avLst/>
              </a:prstGeom>
              <a:blipFill rotWithShape="0">
                <a:blip r:embed="rId15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xmlns="" id="{CA89A27D-CEDA-EDB6-E04E-0B266A954426}"/>
                  </a:ext>
                </a:extLst>
              </p:cNvPr>
              <p:cNvSpPr txBox="1"/>
              <p:nvPr/>
            </p:nvSpPr>
            <p:spPr>
              <a:xfrm>
                <a:off x="2640822" y="406082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{3}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A89A27D-CEDA-EDB6-E04E-0B266A9544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0822" y="4060824"/>
                <a:ext cx="381000" cy="369332"/>
              </a:xfrm>
              <a:prstGeom prst="rect">
                <a:avLst/>
              </a:prstGeom>
              <a:blipFill rotWithShape="0">
                <a:blip r:embed="rId16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xmlns="" id="{973B0965-BF77-918E-93C6-E7D392A6968D}"/>
                  </a:ext>
                </a:extLst>
              </p:cNvPr>
              <p:cNvSpPr txBox="1"/>
              <p:nvPr/>
            </p:nvSpPr>
            <p:spPr>
              <a:xfrm>
                <a:off x="1171554" y="3400656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973B0965-BF77-918E-93C6-E7D392A696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1554" y="3400656"/>
                <a:ext cx="381000" cy="369332"/>
              </a:xfrm>
              <a:prstGeom prst="rect">
                <a:avLst/>
              </a:prstGeom>
              <a:blipFill rotWithShape="0">
                <a:blip r:embed="rId17"/>
                <a:stretch>
                  <a:fillRect l="-4762" r="-125397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xmlns="" id="{127219C7-1E49-34D4-9A33-9EC60244EC09}"/>
                  </a:ext>
                </a:extLst>
              </p:cNvPr>
              <p:cNvSpPr txBox="1"/>
              <p:nvPr/>
            </p:nvSpPr>
            <p:spPr>
              <a:xfrm>
                <a:off x="2171777" y="3425739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{3}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27219C7-1E49-34D4-9A33-9EC60244EC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1777" y="3425739"/>
                <a:ext cx="381000" cy="369332"/>
              </a:xfrm>
              <a:prstGeom prst="rect">
                <a:avLst/>
              </a:prstGeom>
              <a:blipFill rotWithShape="0">
                <a:blip r:embed="rId18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xmlns="" id="{8B04F3B1-FCD6-C3F1-5A7E-5C650A7B509F}"/>
              </a:ext>
            </a:extLst>
          </p:cNvPr>
          <p:cNvCxnSpPr/>
          <p:nvPr/>
        </p:nvCxnSpPr>
        <p:spPr>
          <a:xfrm flipV="1">
            <a:off x="2124085" y="3138482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xmlns="" id="{F7EF9410-7848-9873-DDDA-E3E36E411393}"/>
              </a:ext>
            </a:extLst>
          </p:cNvPr>
          <p:cNvCxnSpPr/>
          <p:nvPr/>
        </p:nvCxnSpPr>
        <p:spPr>
          <a:xfrm>
            <a:off x="2652699" y="3135762"/>
            <a:ext cx="642975" cy="365416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C6A9E95B-8291-9612-5314-EBB37C15F536}"/>
              </a:ext>
            </a:extLst>
          </p:cNvPr>
          <p:cNvSpPr txBox="1"/>
          <p:nvPr/>
        </p:nvSpPr>
        <p:spPr>
          <a:xfrm>
            <a:off x="2589585" y="2742439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</a:rPr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xmlns="" id="{D6AF5219-399A-52BA-F510-DBA3316CEB04}"/>
                  </a:ext>
                </a:extLst>
              </p:cNvPr>
              <p:cNvSpPr txBox="1"/>
              <p:nvPr/>
            </p:nvSpPr>
            <p:spPr>
              <a:xfrm>
                <a:off x="2767060" y="349884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{4}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D6AF5219-399A-52BA-F510-DBA3316CEB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7060" y="3498842"/>
                <a:ext cx="381000" cy="369332"/>
              </a:xfrm>
              <a:prstGeom prst="rect">
                <a:avLst/>
              </a:prstGeom>
              <a:blipFill rotWithShape="0">
                <a:blip r:embed="rId19"/>
                <a:stretch>
                  <a:fillRect l="-6452" r="-35484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xmlns="" id="{4C5AFECD-71AA-A2A4-68D0-F0F3FC7A238A}"/>
                  </a:ext>
                </a:extLst>
              </p:cNvPr>
              <p:cNvSpPr txBox="1"/>
              <p:nvPr/>
            </p:nvSpPr>
            <p:spPr>
              <a:xfrm>
                <a:off x="3279007" y="349884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{4}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4C5AFECD-71AA-A2A4-68D0-F0F3FC7A23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9007" y="3498842"/>
                <a:ext cx="381000" cy="369332"/>
              </a:xfrm>
              <a:prstGeom prst="rect">
                <a:avLst/>
              </a:prstGeom>
              <a:blipFill rotWithShape="0">
                <a:blip r:embed="rId20"/>
                <a:stretch>
                  <a:fillRect l="-6452" r="-35484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xmlns="" id="{8B9FF94C-4044-9454-5D67-B2AE5548C5CA}"/>
                  </a:ext>
                </a:extLst>
              </p:cNvPr>
              <p:cNvSpPr txBox="1"/>
              <p:nvPr/>
            </p:nvSpPr>
            <p:spPr>
              <a:xfrm>
                <a:off x="1783597" y="285089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B9FF94C-4044-9454-5D67-B2AE5548C5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3597" y="2850892"/>
                <a:ext cx="381000" cy="369332"/>
              </a:xfrm>
              <a:prstGeom prst="rect">
                <a:avLst/>
              </a:prstGeom>
              <a:blipFill rotWithShape="0">
                <a:blip r:embed="rId21"/>
                <a:stretch>
                  <a:fillRect l="-6452" r="-127419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xmlns="" id="{D9BAD556-4FA6-7966-5DF1-7AC810B2C899}"/>
                  </a:ext>
                </a:extLst>
              </p:cNvPr>
              <p:cNvSpPr txBox="1"/>
              <p:nvPr/>
            </p:nvSpPr>
            <p:spPr>
              <a:xfrm>
                <a:off x="2795623" y="289275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{4}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D9BAD556-4FA6-7966-5DF1-7AC810B2C8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5623" y="2892754"/>
                <a:ext cx="381000" cy="369332"/>
              </a:xfrm>
              <a:prstGeom prst="rect">
                <a:avLst/>
              </a:prstGeom>
              <a:blipFill rotWithShape="0">
                <a:blip r:embed="rId22"/>
                <a:stretch>
                  <a:fillRect l="-6452" r="-35484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xmlns="" id="{72B1B798-B32B-1DA6-C899-09B131B158B4}"/>
              </a:ext>
            </a:extLst>
          </p:cNvPr>
          <p:cNvCxnSpPr/>
          <p:nvPr/>
        </p:nvCxnSpPr>
        <p:spPr>
          <a:xfrm flipV="1">
            <a:off x="2790846" y="2619367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xmlns="" id="{FFBEF54E-6423-AE70-7F9E-A0997C1678AE}"/>
              </a:ext>
            </a:extLst>
          </p:cNvPr>
          <p:cNvCxnSpPr/>
          <p:nvPr/>
        </p:nvCxnSpPr>
        <p:spPr>
          <a:xfrm>
            <a:off x="3315879" y="2617940"/>
            <a:ext cx="652579" cy="370050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xmlns="" id="{DEE1D22F-A5A3-BCD3-CB7E-6A9D7C873E38}"/>
              </a:ext>
            </a:extLst>
          </p:cNvPr>
          <p:cNvSpPr txBox="1"/>
          <p:nvPr/>
        </p:nvSpPr>
        <p:spPr>
          <a:xfrm>
            <a:off x="3240817" y="2223048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</a:rPr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xmlns="" id="{CD5DC92E-770F-4DEE-8BDD-806AF2DBBF9A}"/>
                  </a:ext>
                </a:extLst>
              </p:cNvPr>
              <p:cNvSpPr txBox="1"/>
              <p:nvPr/>
            </p:nvSpPr>
            <p:spPr>
              <a:xfrm>
                <a:off x="3433821" y="297972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{5}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D5DC92E-770F-4DEE-8BDD-806AF2DBBF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821" y="2979727"/>
                <a:ext cx="381000" cy="369332"/>
              </a:xfrm>
              <a:prstGeom prst="rect">
                <a:avLst/>
              </a:prstGeom>
              <a:blipFill rotWithShape="0">
                <a:blip r:embed="rId23"/>
                <a:stretch>
                  <a:fillRect l="-4762" r="-34921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xmlns="" id="{1E50283C-2C75-5712-9C00-D6C3D9027EE8}"/>
                  </a:ext>
                </a:extLst>
              </p:cNvPr>
              <p:cNvSpPr txBox="1"/>
              <p:nvPr/>
            </p:nvSpPr>
            <p:spPr>
              <a:xfrm>
                <a:off x="3945768" y="297972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{5}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E50283C-2C75-5712-9C00-D6C3D9027E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5768" y="2979727"/>
                <a:ext cx="381000" cy="369332"/>
              </a:xfrm>
              <a:prstGeom prst="rect">
                <a:avLst/>
              </a:prstGeom>
              <a:blipFill rotWithShape="0">
                <a:blip r:embed="rId24"/>
                <a:stretch>
                  <a:fillRect l="-4762" r="-34921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xmlns="" id="{13D31219-7B6B-F4BD-E0FE-8671AB6816AA}"/>
                  </a:ext>
                </a:extLst>
              </p:cNvPr>
              <p:cNvSpPr txBox="1"/>
              <p:nvPr/>
            </p:nvSpPr>
            <p:spPr>
              <a:xfrm>
                <a:off x="2505063" y="2303199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3D31219-7B6B-F4BD-E0FE-8671AB6816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5063" y="2303199"/>
                <a:ext cx="381000" cy="369332"/>
              </a:xfrm>
              <a:prstGeom prst="rect">
                <a:avLst/>
              </a:prstGeom>
              <a:blipFill rotWithShape="0">
                <a:blip r:embed="rId25"/>
                <a:stretch>
                  <a:fillRect l="-6452" r="-127419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xmlns="" id="{877C4E86-2122-4731-B09D-D8A083CFC1DE}"/>
                  </a:ext>
                </a:extLst>
              </p:cNvPr>
              <p:cNvSpPr txBox="1"/>
              <p:nvPr/>
            </p:nvSpPr>
            <p:spPr>
              <a:xfrm>
                <a:off x="3433790" y="2316473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{5}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77C4E86-2122-4731-B09D-D8A083CFC1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790" y="2316473"/>
                <a:ext cx="381000" cy="369332"/>
              </a:xfrm>
              <a:prstGeom prst="rect">
                <a:avLst/>
              </a:prstGeom>
              <a:blipFill rotWithShape="0">
                <a:blip r:embed="rId26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xmlns="" id="{B0C75935-6399-52BB-2E62-6BC9B0DE3444}"/>
              </a:ext>
            </a:extLst>
          </p:cNvPr>
          <p:cNvCxnSpPr/>
          <p:nvPr/>
        </p:nvCxnSpPr>
        <p:spPr>
          <a:xfrm flipV="1">
            <a:off x="3419496" y="2105011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xmlns="" id="{48A6AF16-3588-4D0A-2588-CC9C8E25D547}"/>
              </a:ext>
            </a:extLst>
          </p:cNvPr>
          <p:cNvCxnSpPr/>
          <p:nvPr/>
        </p:nvCxnSpPr>
        <p:spPr>
          <a:xfrm>
            <a:off x="3956506" y="2105011"/>
            <a:ext cx="615488" cy="376217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xmlns="" id="{4A1B1A6D-663B-92EF-8B72-618E73444A2E}"/>
              </a:ext>
            </a:extLst>
          </p:cNvPr>
          <p:cNvSpPr txBox="1"/>
          <p:nvPr/>
        </p:nvSpPr>
        <p:spPr>
          <a:xfrm>
            <a:off x="3843953" y="1696510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</a:rPr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xmlns="" id="{4B3C80F8-68C6-7C24-4922-757C656E89C8}"/>
                  </a:ext>
                </a:extLst>
              </p:cNvPr>
              <p:cNvSpPr txBox="1"/>
              <p:nvPr/>
            </p:nvSpPr>
            <p:spPr>
              <a:xfrm>
                <a:off x="4062471" y="2465371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{6}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4B3C80F8-68C6-7C24-4922-757C656E89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2471" y="2465371"/>
                <a:ext cx="381000" cy="369332"/>
              </a:xfrm>
              <a:prstGeom prst="rect">
                <a:avLst/>
              </a:prstGeom>
              <a:blipFill rotWithShape="0">
                <a:blip r:embed="rId27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xmlns="" id="{91FCC10C-9FDE-E98B-593E-7927A151DE9D}"/>
                  </a:ext>
                </a:extLst>
              </p:cNvPr>
              <p:cNvSpPr txBox="1"/>
              <p:nvPr/>
            </p:nvSpPr>
            <p:spPr>
              <a:xfrm>
                <a:off x="4574418" y="2465371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{6}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91FCC10C-9FDE-E98B-593E-7927A151DE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4418" y="2465371"/>
                <a:ext cx="381000" cy="369332"/>
              </a:xfrm>
              <a:prstGeom prst="rect">
                <a:avLst/>
              </a:prstGeom>
              <a:blipFill rotWithShape="0">
                <a:blip r:embed="rId28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xmlns="" id="{B004AFAF-AA0C-FE79-C816-547EB307AEC8}"/>
                  </a:ext>
                </a:extLst>
              </p:cNvPr>
              <p:cNvSpPr txBox="1"/>
              <p:nvPr/>
            </p:nvSpPr>
            <p:spPr>
              <a:xfrm>
                <a:off x="3133713" y="1788843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004AFAF-AA0C-FE79-C816-547EB307AE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3713" y="1788843"/>
                <a:ext cx="381000" cy="369332"/>
              </a:xfrm>
              <a:prstGeom prst="rect">
                <a:avLst/>
              </a:prstGeom>
              <a:blipFill rotWithShape="0">
                <a:blip r:embed="rId29"/>
                <a:stretch>
                  <a:fillRect l="-4762" r="-125397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xmlns="" id="{6E0644F9-0187-E5C4-AF1F-423CA66F2005}"/>
                  </a:ext>
                </a:extLst>
              </p:cNvPr>
              <p:cNvSpPr txBox="1"/>
              <p:nvPr/>
            </p:nvSpPr>
            <p:spPr>
              <a:xfrm>
                <a:off x="4062440" y="180211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{6}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E0644F9-0187-E5C4-AF1F-423CA66F20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2440" y="1802117"/>
                <a:ext cx="381000" cy="369332"/>
              </a:xfrm>
              <a:prstGeom prst="rect">
                <a:avLst/>
              </a:prstGeom>
              <a:blipFill rotWithShape="0">
                <a:blip r:embed="rId30"/>
                <a:stretch>
                  <a:fillRect l="-4762" r="-34921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xmlns="" id="{C6DFE4E7-26B8-C98E-C7EA-11DC2CF9A9AA}"/>
                  </a:ext>
                </a:extLst>
              </p:cNvPr>
              <p:cNvSpPr txBox="1"/>
              <p:nvPr/>
            </p:nvSpPr>
            <p:spPr>
              <a:xfrm>
                <a:off x="3090886" y="349884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6DFE4E7-26B8-C98E-C7EA-11DC2CF9A9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0886" y="3498842"/>
                <a:ext cx="381000" cy="369332"/>
              </a:xfrm>
              <a:prstGeom prst="rect">
                <a:avLst/>
              </a:prstGeom>
              <a:blipFill rotWithShape="0"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xmlns="" id="{C73F5273-4F2D-7A26-0973-069128A755A6}"/>
                  </a:ext>
                </a:extLst>
              </p:cNvPr>
              <p:cNvSpPr txBox="1"/>
              <p:nvPr/>
            </p:nvSpPr>
            <p:spPr>
              <a:xfrm>
                <a:off x="3757694" y="299630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73F5273-4F2D-7A26-0973-069128A755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7694" y="2996302"/>
                <a:ext cx="381000" cy="369332"/>
              </a:xfrm>
              <a:prstGeom prst="rect">
                <a:avLst/>
              </a:prstGeom>
              <a:blipFill rotWithShape="0"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xmlns="" id="{00668259-5629-0213-4217-08558EDD587F}"/>
                  </a:ext>
                </a:extLst>
              </p:cNvPr>
              <p:cNvSpPr txBox="1"/>
              <p:nvPr/>
            </p:nvSpPr>
            <p:spPr>
              <a:xfrm>
                <a:off x="4387470" y="248122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#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0668259-5629-0213-4217-08558EDD58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7470" y="2481228"/>
                <a:ext cx="381000" cy="369332"/>
              </a:xfrm>
              <a:prstGeom prst="rect">
                <a:avLst/>
              </a:prstGeom>
              <a:blipFill rotWithShape="0"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Oval 49">
            <a:extLst>
              <a:ext uri="{FF2B5EF4-FFF2-40B4-BE49-F238E27FC236}">
                <a16:creationId xmlns:a16="http://schemas.microsoft.com/office/drawing/2014/main" xmlns="" id="{7E78B7BA-E0E9-B8EF-5CBF-21F23299213E}"/>
              </a:ext>
            </a:extLst>
          </p:cNvPr>
          <p:cNvSpPr/>
          <p:nvPr/>
        </p:nvSpPr>
        <p:spPr>
          <a:xfrm>
            <a:off x="1364032" y="4072764"/>
            <a:ext cx="252408" cy="37946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xmlns="" id="{0124F09B-7949-E2A9-21FF-EA909587E9A4}"/>
              </a:ext>
            </a:extLst>
          </p:cNvPr>
          <p:cNvSpPr txBox="1"/>
          <p:nvPr/>
        </p:nvSpPr>
        <p:spPr>
          <a:xfrm>
            <a:off x="384551" y="1038503"/>
            <a:ext cx="44100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Step 3: Calculate lastpos</a:t>
            </a:r>
          </a:p>
          <a:p>
            <a:endParaRPr lang="en-US" sz="2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xmlns="" id="{E1895470-F30E-B884-02D6-3842F5730527}"/>
                  </a:ext>
                </a:extLst>
              </p:cNvPr>
              <p:cNvSpPr txBox="1"/>
              <p:nvPr/>
            </p:nvSpPr>
            <p:spPr>
              <a:xfrm>
                <a:off x="731045" y="591679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/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1895470-F30E-B884-02D6-3842F57305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045" y="5916794"/>
                <a:ext cx="381000" cy="369332"/>
              </a:xfrm>
              <a:prstGeom prst="rect">
                <a:avLst/>
              </a:prstGeom>
              <a:blipFill rotWithShape="0"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xmlns="" id="{EDBB7E6A-FBE8-EC16-E973-DC9A411E75C0}"/>
                  </a:ext>
                </a:extLst>
              </p:cNvPr>
              <p:cNvSpPr txBox="1"/>
              <p:nvPr/>
            </p:nvSpPr>
            <p:spPr>
              <a:xfrm>
                <a:off x="1838325" y="5900601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DBB7E6A-FBE8-EC16-E973-DC9A411E75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325" y="5900601"/>
                <a:ext cx="381000" cy="369332"/>
              </a:xfrm>
              <a:prstGeom prst="rect">
                <a:avLst/>
              </a:prstGeom>
              <a:blipFill rotWithShape="0"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xmlns="" id="{A435BF9F-A72E-9C8B-09C1-6FDDE8166A63}"/>
                  </a:ext>
                </a:extLst>
              </p:cNvPr>
              <p:cNvSpPr txBox="1"/>
              <p:nvPr/>
            </p:nvSpPr>
            <p:spPr>
              <a:xfrm>
                <a:off x="3114683" y="383198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b="1"/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435BF9F-A72E-9C8B-09C1-6FDDE8166A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4683" y="3831988"/>
                <a:ext cx="381000" cy="369332"/>
              </a:xfrm>
              <a:prstGeom prst="rect">
                <a:avLst/>
              </a:prstGeom>
              <a:blipFill rotWithShape="0"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xmlns="" id="{EB547267-574B-1AF8-1467-4BBCD6B8AA2D}"/>
                  </a:ext>
                </a:extLst>
              </p:cNvPr>
              <p:cNvSpPr txBox="1"/>
              <p:nvPr/>
            </p:nvSpPr>
            <p:spPr>
              <a:xfrm>
                <a:off x="2462199" y="4412930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/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B547267-574B-1AF8-1467-4BBCD6B8AA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2199" y="4412930"/>
                <a:ext cx="381000" cy="369332"/>
              </a:xfrm>
              <a:prstGeom prst="rect">
                <a:avLst/>
              </a:prstGeom>
              <a:blipFill rotWithShape="0"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xmlns="" id="{E76CB75E-3EF3-B319-2ABC-2B62F9734EBD}"/>
                  </a:ext>
                </a:extLst>
              </p:cNvPr>
              <p:cNvSpPr txBox="1"/>
              <p:nvPr/>
            </p:nvSpPr>
            <p:spPr>
              <a:xfrm>
                <a:off x="3767138" y="3315635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b="1"/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76CB75E-3EF3-B319-2ABC-2B62F9734E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7138" y="3315635"/>
                <a:ext cx="381000" cy="369332"/>
              </a:xfrm>
              <a:prstGeom prst="rect">
                <a:avLst/>
              </a:prstGeom>
              <a:blipFill rotWithShape="0"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xmlns="" id="{96689474-875F-5F4B-4F9F-B5CFA85E45BB}"/>
                  </a:ext>
                </a:extLst>
              </p:cNvPr>
              <p:cNvSpPr txBox="1"/>
              <p:nvPr/>
            </p:nvSpPr>
            <p:spPr>
              <a:xfrm>
                <a:off x="4394564" y="2772419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96689474-875F-5F4B-4F9F-B5CFA85E45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4564" y="2772419"/>
                <a:ext cx="381000" cy="369332"/>
              </a:xfrm>
              <a:prstGeom prst="rect">
                <a:avLst/>
              </a:prstGeom>
              <a:blipFill rotWithShape="0"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Rectangle 57">
            <a:extLst>
              <a:ext uri="{FF2B5EF4-FFF2-40B4-BE49-F238E27FC236}">
                <a16:creationId xmlns:a16="http://schemas.microsoft.com/office/drawing/2014/main" xmlns="" id="{31017826-17E1-FDA3-1E12-6426B1A998BB}"/>
              </a:ext>
            </a:extLst>
          </p:cNvPr>
          <p:cNvSpPr/>
          <p:nvPr/>
        </p:nvSpPr>
        <p:spPr>
          <a:xfrm>
            <a:off x="6613945" y="1215510"/>
            <a:ext cx="2140820" cy="714628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err="1">
                <a:solidFill>
                  <a:srgbClr val="009644"/>
                </a:solidFill>
              </a:rPr>
              <a:t>Lastpos</a:t>
            </a:r>
            <a:r>
              <a:rPr lang="en-US">
                <a:solidFill>
                  <a:srgbClr val="FF0000"/>
                </a:solidFill>
              </a:rPr>
              <a:t> 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xmlns="" id="{9E2F9AC0-F5C3-9716-0882-2ED7D0B53719}"/>
              </a:ext>
            </a:extLst>
          </p:cNvPr>
          <p:cNvCxnSpPr/>
          <p:nvPr/>
        </p:nvCxnSpPr>
        <p:spPr>
          <a:xfrm>
            <a:off x="8206984" y="1588558"/>
            <a:ext cx="304800" cy="0"/>
          </a:xfrm>
          <a:prstGeom prst="line">
            <a:avLst/>
          </a:prstGeom>
          <a:ln w="25400">
            <a:solidFill>
              <a:srgbClr val="0096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xmlns="" id="{A241D83F-C09B-5DFF-7F98-23BE95849C6F}"/>
                  </a:ext>
                </a:extLst>
              </p:cNvPr>
              <p:cNvSpPr/>
              <p:nvPr/>
            </p:nvSpPr>
            <p:spPr>
              <a:xfrm>
                <a:off x="6613945" y="2387986"/>
                <a:ext cx="275613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 algn="ctr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</a:pPr>
                <a:r>
                  <a:rPr kumimoji="1" lang="en-US" altLang="zh-TW"/>
                  <a:t>A leaf with position</a:t>
                </a:r>
                <a:r>
                  <a:rPr kumimoji="1" lang="en-US" altLang="zh-TW" b="1"/>
                  <a:t> </a:t>
                </a:r>
                <a14:m>
                  <m:oMath xmlns:m="http://schemas.openxmlformats.org/officeDocument/2006/math">
                    <m:r>
                      <a:rPr kumimoji="1" lang="en-US" altLang="zh-TW" b="1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kumimoji="1" lang="en-US" altLang="zh-TW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TW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kumimoji="1" lang="en-US" altLang="zh-TW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kumimoji="1" lang="en-US" altLang="zh-TW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endParaRPr kumimoji="1" lang="en-US" altLang="zh-TW" b="1">
                  <a:solidFill>
                    <a:schemeClr val="tx2"/>
                  </a:solidFill>
                </a:endParaRPr>
              </a:p>
            </p:txBody>
          </p:sp>
        </mc:Choice>
        <mc:Fallback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241D83F-C09B-5DFF-7F98-23BE95849C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3945" y="2387986"/>
                <a:ext cx="2756139" cy="369332"/>
              </a:xfrm>
              <a:prstGeom prst="rect">
                <a:avLst/>
              </a:prstGeom>
              <a:blipFill rotWithShape="0">
                <a:blip r:embed="rId40"/>
                <a:stretch>
                  <a:fillRect l="-1770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xmlns="" id="{D5469095-5BA8-AF5B-2E0C-8DDD2D92C5EE}"/>
                  </a:ext>
                </a:extLst>
              </p:cNvPr>
              <p:cNvSpPr/>
              <p:nvPr/>
            </p:nvSpPr>
            <p:spPr>
              <a:xfrm>
                <a:off x="6936903" y="3068062"/>
                <a:ext cx="552716" cy="396326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|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D5469095-5BA8-AF5B-2E0C-8DDD2D92C5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6903" y="3068062"/>
                <a:ext cx="552716" cy="396326"/>
              </a:xfrm>
              <a:prstGeom prst="ellipse">
                <a:avLst/>
              </a:prstGeom>
              <a:blipFill rotWithShape="0">
                <a:blip r:embed="rId41"/>
                <a:stretch>
                  <a:fillRect b="-735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Box 38">
            <a:extLst>
              <a:ext uri="{FF2B5EF4-FFF2-40B4-BE49-F238E27FC236}">
                <a16:creationId xmlns:a16="http://schemas.microsoft.com/office/drawing/2014/main" xmlns="" id="{F6A4F018-36E4-85AB-DD6E-990A2DAD74CB}"/>
              </a:ext>
            </a:extLst>
          </p:cNvPr>
          <p:cNvSpPr txBox="1"/>
          <p:nvPr/>
        </p:nvSpPr>
        <p:spPr>
          <a:xfrm>
            <a:off x="6659756" y="295478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n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xmlns="" id="{45902EE5-8A96-B32D-11A9-3DED6BD2403F}"/>
              </a:ext>
            </a:extLst>
          </p:cNvPr>
          <p:cNvSpPr/>
          <p:nvPr/>
        </p:nvSpPr>
        <p:spPr>
          <a:xfrm>
            <a:off x="6408495" y="3628276"/>
            <a:ext cx="536000" cy="422526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/>
              <a:t>c</a:t>
            </a:r>
            <a:r>
              <a:rPr lang="en-US" b="0" baseline="-25000"/>
              <a:t>1</a:t>
            </a:r>
            <a:endParaRPr lang="en-US" baseline="-25000"/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xmlns="" id="{A87DA36B-3D86-0C48-EA4A-1001A8F96DEB}"/>
              </a:ext>
            </a:extLst>
          </p:cNvPr>
          <p:cNvCxnSpPr>
            <a:stCxn id="61" idx="5"/>
            <a:endCxn id="66" idx="0"/>
          </p:cNvCxnSpPr>
          <p:nvPr/>
        </p:nvCxnSpPr>
        <p:spPr>
          <a:xfrm>
            <a:off x="7408676" y="3406347"/>
            <a:ext cx="334439" cy="252649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xmlns="" id="{C2EE9BBC-50F3-3E7F-DF9D-F2A7C5A53180}"/>
              </a:ext>
            </a:extLst>
          </p:cNvPr>
          <p:cNvCxnSpPr>
            <a:stCxn id="61" idx="3"/>
            <a:endCxn id="63" idx="0"/>
          </p:cNvCxnSpPr>
          <p:nvPr/>
        </p:nvCxnSpPr>
        <p:spPr>
          <a:xfrm flipH="1">
            <a:off x="6676495" y="3406347"/>
            <a:ext cx="341351" cy="221929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Oval 65">
            <a:extLst>
              <a:ext uri="{FF2B5EF4-FFF2-40B4-BE49-F238E27FC236}">
                <a16:creationId xmlns:a16="http://schemas.microsoft.com/office/drawing/2014/main" xmlns="" id="{CC85F8A1-96AB-D629-B5AF-2A36E4892917}"/>
              </a:ext>
            </a:extLst>
          </p:cNvPr>
          <p:cNvSpPr/>
          <p:nvPr/>
        </p:nvSpPr>
        <p:spPr>
          <a:xfrm>
            <a:off x="7475115" y="3658996"/>
            <a:ext cx="536000" cy="422526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/>
              <a:t>c</a:t>
            </a:r>
            <a:r>
              <a:rPr lang="en-US" baseline="-25000"/>
              <a:t>2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xmlns="" id="{0B72EE57-CC81-EF4E-A162-F18EBBCDC437}"/>
              </a:ext>
            </a:extLst>
          </p:cNvPr>
          <p:cNvSpPr/>
          <p:nvPr/>
        </p:nvSpPr>
        <p:spPr>
          <a:xfrm>
            <a:off x="7585731" y="5208377"/>
            <a:ext cx="258432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</a:pPr>
            <a:r>
              <a:rPr kumimoji="1" lang="en-US" altLang="zh-TW" b="1">
                <a:ea typeface="新細明體" panose="02020500000000000000" pitchFamily="18" charset="-120"/>
              </a:rPr>
              <a:t>if  </a:t>
            </a:r>
            <a:r>
              <a:rPr kumimoji="1" lang="en-US" altLang="zh-TW">
                <a:ea typeface="新細明體" panose="02020500000000000000" pitchFamily="18" charset="-120"/>
              </a:rPr>
              <a:t>(</a:t>
            </a:r>
            <a:r>
              <a:rPr kumimoji="1" lang="en-US" altLang="zh-TW" sz="2000" i="1" err="1">
                <a:ea typeface="新細明體" panose="02020500000000000000" pitchFamily="18" charset="-120"/>
              </a:rPr>
              <a:t>nullable</a:t>
            </a:r>
            <a:r>
              <a:rPr kumimoji="1" lang="en-US" altLang="zh-TW" sz="2000">
                <a:ea typeface="新細明體" panose="02020500000000000000" pitchFamily="18" charset="-120"/>
              </a:rPr>
              <a:t>(</a:t>
            </a:r>
            <a:r>
              <a:rPr kumimoji="1" lang="en-US" altLang="zh-TW" sz="2000" i="1">
                <a:ea typeface="新細明體" panose="02020500000000000000" pitchFamily="18" charset="-120"/>
              </a:rPr>
              <a:t>c</a:t>
            </a:r>
            <a:r>
              <a:rPr kumimoji="1" lang="en-US" altLang="zh-TW" sz="2000" baseline="-25000">
                <a:ea typeface="新細明體" panose="02020500000000000000" pitchFamily="18" charset="-120"/>
              </a:rPr>
              <a:t>2</a:t>
            </a:r>
            <a:r>
              <a:rPr kumimoji="1" lang="en-US" altLang="zh-TW">
                <a:ea typeface="新細明體" panose="02020500000000000000" pitchFamily="18" charset="-120"/>
              </a:rPr>
              <a:t>)) </a:t>
            </a:r>
            <a:r>
              <a:rPr kumimoji="1" lang="en-US" altLang="zh-TW" b="1">
                <a:ea typeface="新細明體" panose="02020500000000000000" pitchFamily="18" charset="-120"/>
              </a:rPr>
              <a:t>then</a:t>
            </a:r>
            <a:r>
              <a:rPr kumimoji="1" lang="en-US" altLang="zh-TW">
                <a:ea typeface="新細明體" panose="02020500000000000000" pitchFamily="18" charset="-120"/>
              </a:rPr>
              <a:t> </a:t>
            </a:r>
            <a:r>
              <a:rPr kumimoji="1" lang="en-US" altLang="zh-TW" b="1" i="1">
                <a:ea typeface="新細明體" panose="02020500000000000000" pitchFamily="18" charset="-120"/>
              </a:rPr>
              <a:t> </a:t>
            </a:r>
            <a:r>
              <a:rPr kumimoji="1" lang="en-US" altLang="zh-TW" i="1" err="1">
                <a:ea typeface="新細明體" panose="02020500000000000000" pitchFamily="18" charset="-120"/>
              </a:rPr>
              <a:t>lastpos</a:t>
            </a:r>
            <a:r>
              <a:rPr kumimoji="1" lang="en-US" altLang="zh-TW">
                <a:ea typeface="新細明體" panose="02020500000000000000" pitchFamily="18" charset="-120"/>
              </a:rPr>
              <a:t>(</a:t>
            </a:r>
            <a:r>
              <a:rPr kumimoji="1" lang="en-US" altLang="zh-TW" i="1">
                <a:ea typeface="新細明體" panose="02020500000000000000" pitchFamily="18" charset="-120"/>
              </a:rPr>
              <a:t>c</a:t>
            </a:r>
            <a:r>
              <a:rPr kumimoji="1" lang="en-US" altLang="zh-TW" baseline="-25000">
                <a:ea typeface="新細明體" panose="02020500000000000000" pitchFamily="18" charset="-120"/>
              </a:rPr>
              <a:t>1</a:t>
            </a:r>
            <a:r>
              <a:rPr kumimoji="1" lang="en-US" altLang="zh-TW">
                <a:ea typeface="新細明體" panose="02020500000000000000" pitchFamily="18" charset="-120"/>
              </a:rPr>
              <a:t>) </a:t>
            </a:r>
            <a:r>
              <a:rPr kumimoji="1" lang="en-US" altLang="zh-TW" b="1">
                <a:ea typeface="新細明體" panose="02020500000000000000" pitchFamily="18" charset="-120"/>
                <a:sym typeface="Symbol" pitchFamily="18" charset="2"/>
              </a:rPr>
              <a:t></a:t>
            </a:r>
            <a:r>
              <a:rPr kumimoji="1" lang="en-US" altLang="zh-TW">
                <a:ea typeface="新細明體" panose="02020500000000000000" pitchFamily="18" charset="-120"/>
              </a:rPr>
              <a:t> </a:t>
            </a:r>
            <a:r>
              <a:rPr kumimoji="1" lang="en-US" altLang="zh-TW" i="1" err="1">
                <a:ea typeface="新細明體" panose="02020500000000000000" pitchFamily="18" charset="-120"/>
              </a:rPr>
              <a:t>lastpos</a:t>
            </a:r>
            <a:r>
              <a:rPr kumimoji="1" lang="en-US" altLang="zh-TW">
                <a:ea typeface="新細明體" panose="02020500000000000000" pitchFamily="18" charset="-120"/>
              </a:rPr>
              <a:t>(</a:t>
            </a:r>
            <a:r>
              <a:rPr kumimoji="1" lang="en-US" altLang="zh-TW" i="1">
                <a:ea typeface="新細明體" panose="02020500000000000000" pitchFamily="18" charset="-120"/>
              </a:rPr>
              <a:t>c</a:t>
            </a:r>
            <a:r>
              <a:rPr kumimoji="1" lang="en-US" altLang="zh-TW" baseline="-25000">
                <a:ea typeface="新細明體" panose="02020500000000000000" pitchFamily="18" charset="-120"/>
              </a:rPr>
              <a:t>2</a:t>
            </a:r>
            <a:r>
              <a:rPr kumimoji="1" lang="en-US" altLang="zh-TW">
                <a:ea typeface="新細明體" panose="02020500000000000000" pitchFamily="18" charset="-120"/>
              </a:rPr>
              <a:t>)</a:t>
            </a:r>
            <a:br>
              <a:rPr kumimoji="1" lang="en-US" altLang="zh-TW">
                <a:ea typeface="新細明體" panose="02020500000000000000" pitchFamily="18" charset="-120"/>
              </a:rPr>
            </a:br>
            <a:r>
              <a:rPr kumimoji="1" lang="en-US" altLang="zh-TW" b="1">
                <a:ea typeface="新細明體" panose="02020500000000000000" pitchFamily="18" charset="-120"/>
              </a:rPr>
              <a:t>else </a:t>
            </a:r>
            <a:r>
              <a:rPr kumimoji="1" lang="en-US" altLang="zh-TW" i="1" err="1">
                <a:ea typeface="新細明體" panose="02020500000000000000" pitchFamily="18" charset="-120"/>
              </a:rPr>
              <a:t>lastpos</a:t>
            </a:r>
            <a:r>
              <a:rPr kumimoji="1" lang="en-US" altLang="zh-TW">
                <a:ea typeface="新細明體" panose="02020500000000000000" pitchFamily="18" charset="-120"/>
              </a:rPr>
              <a:t>(</a:t>
            </a:r>
            <a:r>
              <a:rPr kumimoji="1" lang="en-US" altLang="zh-TW" i="1">
                <a:ea typeface="新細明體" panose="02020500000000000000" pitchFamily="18" charset="-120"/>
              </a:rPr>
              <a:t>c</a:t>
            </a:r>
            <a:r>
              <a:rPr kumimoji="1" lang="en-US" altLang="zh-TW" baseline="-25000">
                <a:ea typeface="新細明體" panose="02020500000000000000" pitchFamily="18" charset="-120"/>
              </a:rPr>
              <a:t>2</a:t>
            </a:r>
            <a:r>
              <a:rPr kumimoji="1" lang="en-US" altLang="zh-TW">
                <a:ea typeface="新細明體" panose="02020500000000000000" pitchFamily="18" charset="-120"/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xmlns="" id="{9A3CC0FC-EAAF-E830-4296-016E76443676}"/>
                  </a:ext>
                </a:extLst>
              </p:cNvPr>
              <p:cNvSpPr/>
              <p:nvPr/>
            </p:nvSpPr>
            <p:spPr>
              <a:xfrm>
                <a:off x="6944495" y="4131013"/>
                <a:ext cx="498464" cy="403720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∗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9A3CC0FC-EAAF-E830-4296-016E764436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4495" y="4131013"/>
                <a:ext cx="498464" cy="403720"/>
              </a:xfrm>
              <a:prstGeom prst="ellipse">
                <a:avLst/>
              </a:prstGeom>
              <a:blipFill rotWithShape="0">
                <a:blip r:embed="rId4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TextBox 38">
            <a:extLst>
              <a:ext uri="{FF2B5EF4-FFF2-40B4-BE49-F238E27FC236}">
                <a16:creationId xmlns:a16="http://schemas.microsoft.com/office/drawing/2014/main" xmlns="" id="{87C0D99A-4A69-A2FA-E26D-FEC58FEE4A95}"/>
              </a:ext>
            </a:extLst>
          </p:cNvPr>
          <p:cNvSpPr txBox="1"/>
          <p:nvPr/>
        </p:nvSpPr>
        <p:spPr>
          <a:xfrm>
            <a:off x="6668929" y="415717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n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xmlns="" id="{4B5733AA-F393-677A-8EA3-997F1F52E398}"/>
              </a:ext>
            </a:extLst>
          </p:cNvPr>
          <p:cNvCxnSpPr>
            <a:stCxn id="68" idx="4"/>
          </p:cNvCxnSpPr>
          <p:nvPr/>
        </p:nvCxnSpPr>
        <p:spPr>
          <a:xfrm>
            <a:off x="7193727" y="4534733"/>
            <a:ext cx="1528" cy="197465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Oval 70">
            <a:extLst>
              <a:ext uri="{FF2B5EF4-FFF2-40B4-BE49-F238E27FC236}">
                <a16:creationId xmlns:a16="http://schemas.microsoft.com/office/drawing/2014/main" xmlns="" id="{D6A25640-71B4-B537-E84F-9E8EDCC69945}"/>
              </a:ext>
            </a:extLst>
          </p:cNvPr>
          <p:cNvSpPr/>
          <p:nvPr/>
        </p:nvSpPr>
        <p:spPr>
          <a:xfrm>
            <a:off x="6939568" y="4733982"/>
            <a:ext cx="536000" cy="374705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/>
              <a:t>c</a:t>
            </a:r>
            <a:r>
              <a:rPr lang="en-US" b="0" baseline="-25000"/>
              <a:t>1</a:t>
            </a:r>
            <a:endParaRPr lang="en-US" baseline="-2500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xmlns="" id="{5FA5FDA5-CA4B-9E3B-39D4-9EEEF0D2FCB9}"/>
              </a:ext>
            </a:extLst>
          </p:cNvPr>
          <p:cNvSpPr/>
          <p:nvPr/>
        </p:nvSpPr>
        <p:spPr>
          <a:xfrm>
            <a:off x="7563115" y="4381197"/>
            <a:ext cx="22622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</a:pPr>
            <a:r>
              <a:rPr kumimoji="1" lang="en-US" altLang="zh-TW" i="1" err="1"/>
              <a:t>lastpos</a:t>
            </a:r>
            <a:r>
              <a:rPr kumimoji="1" lang="en-US" altLang="zh-TW"/>
              <a:t>(</a:t>
            </a:r>
            <a:r>
              <a:rPr kumimoji="1" lang="en-US" altLang="zh-TW" i="1"/>
              <a:t>c</a:t>
            </a:r>
            <a:r>
              <a:rPr kumimoji="1" lang="en-US" altLang="zh-TW" baseline="-25000"/>
              <a:t>1</a:t>
            </a:r>
            <a:r>
              <a:rPr kumimoji="1" lang="en-US" altLang="zh-TW"/>
              <a:t>)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xmlns="" id="{9902877A-0D47-2AE1-99AA-F068A43C5527}"/>
                  </a:ext>
                </a:extLst>
              </p:cNvPr>
              <p:cNvSpPr/>
              <p:nvPr/>
            </p:nvSpPr>
            <p:spPr>
              <a:xfrm>
                <a:off x="6894480" y="5318613"/>
                <a:ext cx="552716" cy="396326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.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9902877A-0D47-2AE1-99AA-F068A43C55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4480" y="5318613"/>
                <a:ext cx="552716" cy="396326"/>
              </a:xfrm>
              <a:prstGeom prst="ellipse">
                <a:avLst/>
              </a:prstGeom>
              <a:blipFill rotWithShape="0">
                <a:blip r:embed="rId4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TextBox 38">
            <a:extLst>
              <a:ext uri="{FF2B5EF4-FFF2-40B4-BE49-F238E27FC236}">
                <a16:creationId xmlns:a16="http://schemas.microsoft.com/office/drawing/2014/main" xmlns="" id="{ED68D83F-53FC-2677-B1DA-F4383E1DB153}"/>
              </a:ext>
            </a:extLst>
          </p:cNvPr>
          <p:cNvSpPr txBox="1"/>
          <p:nvPr/>
        </p:nvSpPr>
        <p:spPr>
          <a:xfrm>
            <a:off x="6617333" y="520533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n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xmlns="" id="{B6908D54-7721-DB5C-5B3E-39F4ADB65E8B}"/>
              </a:ext>
            </a:extLst>
          </p:cNvPr>
          <p:cNvSpPr/>
          <p:nvPr/>
        </p:nvSpPr>
        <p:spPr>
          <a:xfrm>
            <a:off x="6366072" y="5878827"/>
            <a:ext cx="536000" cy="422526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/>
              <a:t>c</a:t>
            </a:r>
            <a:r>
              <a:rPr lang="en-US" b="0" baseline="-25000"/>
              <a:t>1</a:t>
            </a:r>
            <a:endParaRPr lang="en-US" baseline="-25000"/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xmlns="" id="{93624159-A7BC-C536-7331-27B5E34E0064}"/>
              </a:ext>
            </a:extLst>
          </p:cNvPr>
          <p:cNvCxnSpPr>
            <a:stCxn id="73" idx="5"/>
            <a:endCxn id="78" idx="0"/>
          </p:cNvCxnSpPr>
          <p:nvPr/>
        </p:nvCxnSpPr>
        <p:spPr>
          <a:xfrm>
            <a:off x="7366253" y="5656898"/>
            <a:ext cx="334439" cy="252649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xmlns="" id="{2132B7F6-5E00-F609-8E66-D5270E92C2E4}"/>
              </a:ext>
            </a:extLst>
          </p:cNvPr>
          <p:cNvCxnSpPr>
            <a:stCxn id="73" idx="3"/>
            <a:endCxn id="75" idx="0"/>
          </p:cNvCxnSpPr>
          <p:nvPr/>
        </p:nvCxnSpPr>
        <p:spPr>
          <a:xfrm flipH="1">
            <a:off x="6634072" y="5656898"/>
            <a:ext cx="341351" cy="221929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Oval 77">
            <a:extLst>
              <a:ext uri="{FF2B5EF4-FFF2-40B4-BE49-F238E27FC236}">
                <a16:creationId xmlns:a16="http://schemas.microsoft.com/office/drawing/2014/main" xmlns="" id="{93201CA0-4188-B002-7BAB-22804C360A37}"/>
              </a:ext>
            </a:extLst>
          </p:cNvPr>
          <p:cNvSpPr/>
          <p:nvPr/>
        </p:nvSpPr>
        <p:spPr>
          <a:xfrm>
            <a:off x="7432692" y="5909547"/>
            <a:ext cx="536000" cy="422526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/>
              <a:t>c</a:t>
            </a:r>
            <a:r>
              <a:rPr lang="en-US" baseline="-25000"/>
              <a:t>2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xmlns="" id="{E6FEE14D-6C09-E26A-19CB-BA39E70D2E03}"/>
              </a:ext>
            </a:extLst>
          </p:cNvPr>
          <p:cNvSpPr/>
          <p:nvPr/>
        </p:nvSpPr>
        <p:spPr>
          <a:xfrm>
            <a:off x="8056756" y="3302130"/>
            <a:ext cx="26266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</a:pPr>
            <a:r>
              <a:rPr kumimoji="1" lang="en-US" altLang="zh-TW" i="1" err="1">
                <a:ea typeface="新細明體" panose="02020500000000000000" pitchFamily="18" charset="-120"/>
              </a:rPr>
              <a:t>lastpos</a:t>
            </a:r>
            <a:r>
              <a:rPr kumimoji="1" lang="en-US" altLang="zh-TW">
                <a:ea typeface="新細明體" panose="02020500000000000000" pitchFamily="18" charset="-120"/>
              </a:rPr>
              <a:t>(</a:t>
            </a:r>
            <a:r>
              <a:rPr kumimoji="1" lang="en-US" altLang="zh-TW" i="1">
                <a:ea typeface="新細明體" panose="02020500000000000000" pitchFamily="18" charset="-120"/>
              </a:rPr>
              <a:t>c</a:t>
            </a:r>
            <a:r>
              <a:rPr kumimoji="1" lang="en-US" altLang="zh-TW" baseline="-25000">
                <a:ea typeface="新細明體" panose="02020500000000000000" pitchFamily="18" charset="-120"/>
              </a:rPr>
              <a:t>1</a:t>
            </a:r>
            <a:r>
              <a:rPr kumimoji="1" lang="en-US" altLang="zh-TW">
                <a:ea typeface="新細明體" panose="02020500000000000000" pitchFamily="18" charset="-120"/>
              </a:rPr>
              <a:t>) </a:t>
            </a:r>
            <a:r>
              <a:rPr kumimoji="1" lang="en-US" altLang="zh-TW" b="1">
                <a:ea typeface="新細明體" panose="02020500000000000000" pitchFamily="18" charset="-120"/>
                <a:sym typeface="Symbol" pitchFamily="18" charset="2"/>
              </a:rPr>
              <a:t></a:t>
            </a:r>
            <a:r>
              <a:rPr kumimoji="1" lang="en-US" altLang="zh-TW">
                <a:ea typeface="新細明體" panose="02020500000000000000" pitchFamily="18" charset="-120"/>
              </a:rPr>
              <a:t> </a:t>
            </a:r>
            <a:r>
              <a:rPr kumimoji="1" lang="en-US" altLang="zh-TW" i="1" err="1">
                <a:ea typeface="新細明體" panose="02020500000000000000" pitchFamily="18" charset="-120"/>
              </a:rPr>
              <a:t>lastpos</a:t>
            </a:r>
            <a:r>
              <a:rPr kumimoji="1" lang="en-US" altLang="zh-TW">
                <a:ea typeface="新細明體" panose="02020500000000000000" pitchFamily="18" charset="-120"/>
              </a:rPr>
              <a:t>(</a:t>
            </a:r>
            <a:r>
              <a:rPr kumimoji="1" lang="en-US" altLang="zh-TW" i="1">
                <a:ea typeface="新細明體" panose="02020500000000000000" pitchFamily="18" charset="-120"/>
              </a:rPr>
              <a:t>c</a:t>
            </a:r>
            <a:r>
              <a:rPr kumimoji="1" lang="en-US" altLang="zh-TW" baseline="-25000">
                <a:ea typeface="新細明體" panose="02020500000000000000" pitchFamily="18" charset="-120"/>
              </a:rPr>
              <a:t>2</a:t>
            </a:r>
            <a:r>
              <a:rPr kumimoji="1" lang="en-US" altLang="zh-TW">
                <a:ea typeface="新細明體" panose="02020500000000000000" pitchFamily="18" charset="-12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01313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dur="1" fill="hold" grpId="0" nodeType="click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  <p:bldP spid="23" grpId="0"/>
      <p:bldP spid="25" grpId="0"/>
      <p:bldP spid="30" grpId="0"/>
      <p:bldP spid="32" grpId="0"/>
      <p:bldP spid="37" grpId="0"/>
      <p:bldP spid="44" grpId="0"/>
      <p:bldP spid="46" grpId="0"/>
      <p:bldP spid="58" grpId="0" animBg="1"/>
      <p:bldP spid="60" grpId="0"/>
      <p:bldP spid="61" grpId="0" animBg="1"/>
      <p:bldP spid="62" grpId="0"/>
      <p:bldP spid="63" grpId="0" animBg="1"/>
      <p:bldP spid="66" grpId="0" animBg="1"/>
      <p:bldP spid="67" grpId="0"/>
      <p:bldP spid="68" grpId="0" animBg="1"/>
      <p:bldP spid="69" grpId="0"/>
      <p:bldP spid="71" grpId="0" animBg="1"/>
      <p:bldP spid="72" grpId="0"/>
      <p:bldP spid="73" grpId="0" animBg="1"/>
      <p:bldP spid="74" grpId="0"/>
      <p:bldP spid="75" grpId="0" animBg="1"/>
      <p:bldP spid="78" grpId="0" animBg="1"/>
      <p:bldP spid="79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B349198-C1E8-9533-15A1-50CF4092E42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Conversion from regular expression to DFA</a:t>
            </a:r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xmlns="" id="{BEBFFD32-8A8F-06C5-F33A-6658E2E5FCA6}"/>
              </a:ext>
            </a:extLst>
          </p:cNvPr>
          <p:cNvGraphicFramePr/>
          <p:nvPr>
            <p:extLst/>
          </p:nvPr>
        </p:nvGraphicFramePr>
        <p:xfrm>
          <a:off x="6400800" y="1141245"/>
          <a:ext cx="2349312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Position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err="1"/>
                        <a:t>followpos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xmlns="" id="{D8E124FC-7168-DAEC-5D30-13A2B9400918}"/>
                  </a:ext>
                </a:extLst>
              </p:cNvPr>
              <p:cNvSpPr txBox="1"/>
              <p:nvPr/>
            </p:nvSpPr>
            <p:spPr>
              <a:xfrm>
                <a:off x="738189" y="555997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D8E124FC-7168-DAEC-5D30-13A2B94009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189" y="5559972"/>
                <a:ext cx="381000" cy="369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C23BA177-A91F-CFCB-89F3-BB2C4B498C4C}"/>
                  </a:ext>
                </a:extLst>
              </p:cNvPr>
              <p:cNvSpPr txBox="1"/>
              <p:nvPr/>
            </p:nvSpPr>
            <p:spPr>
              <a:xfrm>
                <a:off x="1838325" y="5574260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23BA177-A91F-CFCB-89F3-BB2C4B498C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325" y="5574260"/>
                <a:ext cx="381000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="" id="{C284EF45-F090-4304-9877-08312298FB8D}"/>
                  </a:ext>
                </a:extLst>
              </p:cNvPr>
              <p:cNvSpPr txBox="1"/>
              <p:nvPr/>
            </p:nvSpPr>
            <p:spPr>
              <a:xfrm>
                <a:off x="1295400" y="4857744"/>
                <a:ext cx="381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sz="2000" b="1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284EF45-F090-4304-9877-08312298FB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4857744"/>
                <a:ext cx="381000" cy="400110"/>
              </a:xfrm>
              <a:prstGeom prst="rect">
                <a:avLst/>
              </a:prstGeom>
              <a:blipFill rotWithShape="0">
                <a:blip r:embed="rId4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3D938FE8-4189-C03A-20DF-ABBAE71D0C4C}"/>
              </a:ext>
            </a:extLst>
          </p:cNvPr>
          <p:cNvCxnSpPr>
            <a:stCxn id="4" idx="0"/>
          </p:cNvCxnSpPr>
          <p:nvPr/>
        </p:nvCxnSpPr>
        <p:spPr>
          <a:xfrm flipV="1">
            <a:off x="928689" y="5260797"/>
            <a:ext cx="557211" cy="299175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82F4FAAD-98D3-1D16-7DB3-DFBEAB76B2F8}"/>
              </a:ext>
            </a:extLst>
          </p:cNvPr>
          <p:cNvCxnSpPr/>
          <p:nvPr/>
        </p:nvCxnSpPr>
        <p:spPr>
          <a:xfrm>
            <a:off x="1473948" y="5266166"/>
            <a:ext cx="542925" cy="302118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7094DC0B-B628-8368-8E1E-6DC54F721C93}"/>
              </a:ext>
            </a:extLst>
          </p:cNvPr>
          <p:cNvCxnSpPr>
            <a:stCxn id="12" idx="0"/>
          </p:cNvCxnSpPr>
          <p:nvPr/>
        </p:nvCxnSpPr>
        <p:spPr>
          <a:xfrm flipV="1">
            <a:off x="1485900" y="3700464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D6EBF539-E9AD-9390-B811-793CF5A254B3}"/>
              </a:ext>
            </a:extLst>
          </p:cNvPr>
          <p:cNvCxnSpPr/>
          <p:nvPr/>
        </p:nvCxnSpPr>
        <p:spPr>
          <a:xfrm>
            <a:off x="2028825" y="3705924"/>
            <a:ext cx="609586" cy="360557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xmlns="" id="{6BBE6B36-B740-ACE7-354E-A0A781E27637}"/>
              </a:ext>
            </a:extLst>
          </p:cNvPr>
          <p:cNvCxnSpPr/>
          <p:nvPr/>
        </p:nvCxnSpPr>
        <p:spPr>
          <a:xfrm flipH="1" flipV="1">
            <a:off x="1485900" y="4452936"/>
            <a:ext cx="0" cy="361944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943D0EC6-AF44-D230-D793-6C3BD5F99FC0}"/>
                  </a:ext>
                </a:extLst>
              </p:cNvPr>
              <p:cNvSpPr txBox="1"/>
              <p:nvPr/>
            </p:nvSpPr>
            <p:spPr>
              <a:xfrm>
                <a:off x="1295400" y="4067106"/>
                <a:ext cx="381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US" sz="2000" b="1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943D0EC6-AF44-D230-D793-6C3BD5F99F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4067106"/>
                <a:ext cx="381000" cy="40011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621E6A15-9F67-2881-4D41-3C395AFF03F3}"/>
              </a:ext>
            </a:extLst>
          </p:cNvPr>
          <p:cNvSpPr txBox="1"/>
          <p:nvPr/>
        </p:nvSpPr>
        <p:spPr>
          <a:xfrm>
            <a:off x="1947914" y="3289199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CB9A952A-6CF5-0B62-EFEB-FCF950F44F30}"/>
                  </a:ext>
                </a:extLst>
              </p:cNvPr>
              <p:cNvSpPr txBox="1"/>
              <p:nvPr/>
            </p:nvSpPr>
            <p:spPr>
              <a:xfrm>
                <a:off x="442914" y="5784876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B9A952A-6CF5-0B62-EFEB-FCF950F44F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914" y="5784876"/>
                <a:ext cx="381000" cy="369332"/>
              </a:xfrm>
              <a:prstGeom prst="rect">
                <a:avLst/>
              </a:prstGeom>
              <a:blipFill rotWithShape="0">
                <a:blip r:embed="rId6"/>
                <a:stretch>
                  <a:fillRect l="-6452" r="-35484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xmlns="" id="{17680C32-DCC0-C21B-918E-CB26DFD1386F}"/>
                  </a:ext>
                </a:extLst>
              </p:cNvPr>
              <p:cNvSpPr txBox="1"/>
              <p:nvPr/>
            </p:nvSpPr>
            <p:spPr>
              <a:xfrm>
                <a:off x="892968" y="5784876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{1}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7680C32-DCC0-C21B-918E-CB26DFD138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968" y="5784876"/>
                <a:ext cx="381000" cy="369332"/>
              </a:xfrm>
              <a:prstGeom prst="rect">
                <a:avLst/>
              </a:prstGeom>
              <a:blipFill rotWithShape="0">
                <a:blip r:embed="rId7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xmlns="" id="{E9662299-B1DB-A261-BA5A-C2657440F697}"/>
                  </a:ext>
                </a:extLst>
              </p:cNvPr>
              <p:cNvSpPr txBox="1"/>
              <p:nvPr/>
            </p:nvSpPr>
            <p:spPr>
              <a:xfrm>
                <a:off x="1566872" y="578010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{2}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9662299-B1DB-A261-BA5A-C2657440F6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6872" y="5780108"/>
                <a:ext cx="381000" cy="369332"/>
              </a:xfrm>
              <a:prstGeom prst="rect">
                <a:avLst/>
              </a:prstGeom>
              <a:blipFill rotWithShape="0">
                <a:blip r:embed="rId8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xmlns="" id="{E88C3CBB-335A-3040-3A61-F36D6D58AC83}"/>
                  </a:ext>
                </a:extLst>
              </p:cNvPr>
              <p:cNvSpPr txBox="1"/>
              <p:nvPr/>
            </p:nvSpPr>
            <p:spPr>
              <a:xfrm>
                <a:off x="2016926" y="578010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9644"/>
                          </a:solidFill>
                          <a:latin typeface="Cambria Math" panose="02040503050406030204" pitchFamily="18" charset="0"/>
                        </a:rPr>
                        <m:t>{2}</m:t>
                      </m:r>
                    </m:oMath>
                  </m:oMathPara>
                </a14:m>
                <a:endParaRPr lang="en-US">
                  <a:solidFill>
                    <a:srgbClr val="009644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88C3CBB-335A-3040-3A61-F36D6D58AC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6926" y="5780108"/>
                <a:ext cx="381000" cy="369332"/>
              </a:xfrm>
              <a:prstGeom prst="rect">
                <a:avLst/>
              </a:prstGeom>
              <a:blipFill rotWithShape="0">
                <a:blip r:embed="rId9"/>
                <a:stretch>
                  <a:fillRect l="-6452" r="-35484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xmlns="" id="{219B0645-62DC-3D44-15E2-9BCDCE0F64FB}"/>
                  </a:ext>
                </a:extLst>
              </p:cNvPr>
              <p:cNvSpPr txBox="1"/>
              <p:nvPr/>
            </p:nvSpPr>
            <p:spPr>
              <a:xfrm>
                <a:off x="823914" y="490856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19B0645-62DC-3D44-15E2-9BCDCE0F64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914" y="4908567"/>
                <a:ext cx="381000" cy="369332"/>
              </a:xfrm>
              <a:prstGeom prst="rect">
                <a:avLst/>
              </a:prstGeom>
              <a:blipFill rotWithShape="0">
                <a:blip r:embed="rId10"/>
                <a:stretch>
                  <a:fillRect l="-4762" r="-80952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xmlns="" id="{896E36E8-DDA1-2405-6B5B-4F830EF39A73}"/>
                  </a:ext>
                </a:extLst>
              </p:cNvPr>
              <p:cNvSpPr txBox="1"/>
              <p:nvPr/>
            </p:nvSpPr>
            <p:spPr>
              <a:xfrm>
                <a:off x="1473996" y="490856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96E36E8-DDA1-2405-6B5B-4F830EF39A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3996" y="4908567"/>
                <a:ext cx="381000" cy="369332"/>
              </a:xfrm>
              <a:prstGeom prst="rect">
                <a:avLst/>
              </a:prstGeom>
              <a:blipFill rotWithShape="0">
                <a:blip r:embed="rId11"/>
                <a:stretch>
                  <a:fillRect l="-6452" r="-82258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xmlns="" id="{F6E10EC1-49B5-8B7E-58B0-A86CD784B938}"/>
                  </a:ext>
                </a:extLst>
              </p:cNvPr>
              <p:cNvSpPr txBox="1"/>
              <p:nvPr/>
            </p:nvSpPr>
            <p:spPr>
              <a:xfrm>
                <a:off x="758216" y="407491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6E10EC1-49B5-8B7E-58B0-A86CD784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216" y="4074918"/>
                <a:ext cx="381000" cy="369332"/>
              </a:xfrm>
              <a:prstGeom prst="rect">
                <a:avLst/>
              </a:prstGeom>
              <a:blipFill rotWithShape="0">
                <a:blip r:embed="rId12"/>
                <a:stretch>
                  <a:fillRect l="-4762" r="-80952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xmlns="" id="{DA3EDD23-091E-92A0-5286-9437EAF7EDF0}"/>
                  </a:ext>
                </a:extLst>
              </p:cNvPr>
              <p:cNvSpPr txBox="1"/>
              <p:nvPr/>
            </p:nvSpPr>
            <p:spPr>
              <a:xfrm>
                <a:off x="1591691" y="4090038"/>
                <a:ext cx="4071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DA3EDD23-091E-92A0-5286-9437EAF7ED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1691" y="4090038"/>
                <a:ext cx="407191" cy="369332"/>
              </a:xfrm>
              <a:prstGeom prst="rect">
                <a:avLst/>
              </a:prstGeom>
              <a:blipFill rotWithShape="0">
                <a:blip r:embed="rId13"/>
                <a:stretch>
                  <a:fillRect l="-4478" r="-70149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xmlns="" id="{B5241452-DCD9-3D6C-8CCF-C03084A6E8E5}"/>
                  </a:ext>
                </a:extLst>
              </p:cNvPr>
              <p:cNvSpPr txBox="1"/>
              <p:nvPr/>
            </p:nvSpPr>
            <p:spPr>
              <a:xfrm>
                <a:off x="2447911" y="4040373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5241452-DCD9-3D6C-8CCF-C03084A6E8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7911" y="4040373"/>
                <a:ext cx="381000" cy="369332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xmlns="" id="{503CC6AF-A4E1-7AD1-8E05-B38A2D19D803}"/>
                  </a:ext>
                </a:extLst>
              </p:cNvPr>
              <p:cNvSpPr txBox="1"/>
              <p:nvPr/>
            </p:nvSpPr>
            <p:spPr>
              <a:xfrm>
                <a:off x="2128875" y="406082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03CC6AF-A4E1-7AD1-8E05-B38A2D19D8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8875" y="4060824"/>
                <a:ext cx="381000" cy="369332"/>
              </a:xfrm>
              <a:prstGeom prst="rect">
                <a:avLst/>
              </a:prstGeom>
              <a:blipFill rotWithShape="0">
                <a:blip r:embed="rId15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xmlns="" id="{74B7F09E-4D6B-2C9F-8446-AE3960AD7C9C}"/>
                  </a:ext>
                </a:extLst>
              </p:cNvPr>
              <p:cNvSpPr txBox="1"/>
              <p:nvPr/>
            </p:nvSpPr>
            <p:spPr>
              <a:xfrm>
                <a:off x="2640822" y="406082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{3}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4B7F09E-4D6B-2C9F-8446-AE3960AD7C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0822" y="4060824"/>
                <a:ext cx="381000" cy="369332"/>
              </a:xfrm>
              <a:prstGeom prst="rect">
                <a:avLst/>
              </a:prstGeom>
              <a:blipFill rotWithShape="0">
                <a:blip r:embed="rId16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xmlns="" id="{8097768D-98AB-0D68-F54A-7EDBF8221A2D}"/>
                  </a:ext>
                </a:extLst>
              </p:cNvPr>
              <p:cNvSpPr txBox="1"/>
              <p:nvPr/>
            </p:nvSpPr>
            <p:spPr>
              <a:xfrm>
                <a:off x="1171554" y="3400656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097768D-98AB-0D68-F54A-7EDBF8221A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1554" y="3400656"/>
                <a:ext cx="381000" cy="369332"/>
              </a:xfrm>
              <a:prstGeom prst="rect">
                <a:avLst/>
              </a:prstGeom>
              <a:blipFill rotWithShape="0">
                <a:blip r:embed="rId17"/>
                <a:stretch>
                  <a:fillRect l="-4762" r="-125397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xmlns="" id="{D4EA61A1-117F-9226-E4A6-2C1B319756E3}"/>
                  </a:ext>
                </a:extLst>
              </p:cNvPr>
              <p:cNvSpPr txBox="1"/>
              <p:nvPr/>
            </p:nvSpPr>
            <p:spPr>
              <a:xfrm>
                <a:off x="2171777" y="3425739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{3}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D4EA61A1-117F-9226-E4A6-2C1B319756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1777" y="3425739"/>
                <a:ext cx="381000" cy="369332"/>
              </a:xfrm>
              <a:prstGeom prst="rect">
                <a:avLst/>
              </a:prstGeom>
              <a:blipFill rotWithShape="0">
                <a:blip r:embed="rId18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xmlns="" id="{17B00B95-EBAC-D2B1-68C3-CA0468F3249B}"/>
              </a:ext>
            </a:extLst>
          </p:cNvPr>
          <p:cNvCxnSpPr/>
          <p:nvPr/>
        </p:nvCxnSpPr>
        <p:spPr>
          <a:xfrm flipV="1">
            <a:off x="2124085" y="3138482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xmlns="" id="{021CBC4B-394A-3BEB-0259-5147360097F2}"/>
              </a:ext>
            </a:extLst>
          </p:cNvPr>
          <p:cNvCxnSpPr/>
          <p:nvPr/>
        </p:nvCxnSpPr>
        <p:spPr>
          <a:xfrm>
            <a:off x="2652699" y="3141738"/>
            <a:ext cx="642975" cy="365416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729C198C-A65D-47B8-1D42-624C74265C6E}"/>
              </a:ext>
            </a:extLst>
          </p:cNvPr>
          <p:cNvSpPr txBox="1"/>
          <p:nvPr/>
        </p:nvSpPr>
        <p:spPr>
          <a:xfrm>
            <a:off x="2589585" y="2742439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xmlns="" id="{388EDA36-D723-F24A-502A-A044DA5BFA47}"/>
                  </a:ext>
                </a:extLst>
              </p:cNvPr>
              <p:cNvSpPr txBox="1"/>
              <p:nvPr/>
            </p:nvSpPr>
            <p:spPr>
              <a:xfrm>
                <a:off x="2767060" y="349884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{4}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388EDA36-D723-F24A-502A-A044DA5BFA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7060" y="3498842"/>
                <a:ext cx="381000" cy="369332"/>
              </a:xfrm>
              <a:prstGeom prst="rect">
                <a:avLst/>
              </a:prstGeom>
              <a:blipFill rotWithShape="0">
                <a:blip r:embed="rId19"/>
                <a:stretch>
                  <a:fillRect l="-6452" r="-35484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xmlns="" id="{44E3DE77-CC1E-0FE6-DC8D-9E5DD5332ED2}"/>
                  </a:ext>
                </a:extLst>
              </p:cNvPr>
              <p:cNvSpPr txBox="1"/>
              <p:nvPr/>
            </p:nvSpPr>
            <p:spPr>
              <a:xfrm>
                <a:off x="3279007" y="349884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{4}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44E3DE77-CC1E-0FE6-DC8D-9E5DD5332E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9007" y="3498842"/>
                <a:ext cx="381000" cy="369332"/>
              </a:xfrm>
              <a:prstGeom prst="rect">
                <a:avLst/>
              </a:prstGeom>
              <a:blipFill rotWithShape="0">
                <a:blip r:embed="rId20"/>
                <a:stretch>
                  <a:fillRect l="-6452" r="-35484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xmlns="" id="{5A61B4F3-49D9-82A2-1733-B04D8DC8650F}"/>
                  </a:ext>
                </a:extLst>
              </p:cNvPr>
              <p:cNvSpPr txBox="1"/>
              <p:nvPr/>
            </p:nvSpPr>
            <p:spPr>
              <a:xfrm>
                <a:off x="1783597" y="285089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A61B4F3-49D9-82A2-1733-B04D8DC865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3597" y="2850892"/>
                <a:ext cx="381000" cy="369332"/>
              </a:xfrm>
              <a:prstGeom prst="rect">
                <a:avLst/>
              </a:prstGeom>
              <a:blipFill rotWithShape="0">
                <a:blip r:embed="rId21"/>
                <a:stretch>
                  <a:fillRect l="-6452" r="-127419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xmlns="" id="{4F69E0A2-F018-C494-4B07-BE2A0228B28D}"/>
                  </a:ext>
                </a:extLst>
              </p:cNvPr>
              <p:cNvSpPr txBox="1"/>
              <p:nvPr/>
            </p:nvSpPr>
            <p:spPr>
              <a:xfrm>
                <a:off x="2795623" y="289275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{4}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4F69E0A2-F018-C494-4B07-BE2A0228B2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5623" y="2892754"/>
                <a:ext cx="381000" cy="369332"/>
              </a:xfrm>
              <a:prstGeom prst="rect">
                <a:avLst/>
              </a:prstGeom>
              <a:blipFill rotWithShape="0">
                <a:blip r:embed="rId22"/>
                <a:stretch>
                  <a:fillRect l="-6452" r="-35484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xmlns="" id="{E7719C08-A19C-71A6-3A98-A9000DA48832}"/>
              </a:ext>
            </a:extLst>
          </p:cNvPr>
          <p:cNvCxnSpPr/>
          <p:nvPr/>
        </p:nvCxnSpPr>
        <p:spPr>
          <a:xfrm flipV="1">
            <a:off x="2790846" y="2619367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xmlns="" id="{64A29840-885B-A38F-2CD4-75FA2636A177}"/>
              </a:ext>
            </a:extLst>
          </p:cNvPr>
          <p:cNvCxnSpPr/>
          <p:nvPr/>
        </p:nvCxnSpPr>
        <p:spPr>
          <a:xfrm>
            <a:off x="3315879" y="2617940"/>
            <a:ext cx="652579" cy="370050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xmlns="" id="{7588F9BE-8F2B-073D-7078-4AB1A8AF202C}"/>
              </a:ext>
            </a:extLst>
          </p:cNvPr>
          <p:cNvSpPr txBox="1"/>
          <p:nvPr/>
        </p:nvSpPr>
        <p:spPr>
          <a:xfrm>
            <a:off x="3240817" y="2223048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xmlns="" id="{429585A8-04C2-BD83-80FC-7DEBAE466B4C}"/>
                  </a:ext>
                </a:extLst>
              </p:cNvPr>
              <p:cNvSpPr txBox="1"/>
              <p:nvPr/>
            </p:nvSpPr>
            <p:spPr>
              <a:xfrm>
                <a:off x="3433821" y="297972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{5}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429585A8-04C2-BD83-80FC-7DEBAE466B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821" y="2979727"/>
                <a:ext cx="381000" cy="369332"/>
              </a:xfrm>
              <a:prstGeom prst="rect">
                <a:avLst/>
              </a:prstGeom>
              <a:blipFill rotWithShape="0">
                <a:blip r:embed="rId23"/>
                <a:stretch>
                  <a:fillRect l="-4762" r="-34921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xmlns="" id="{B1F0889F-3FA8-29EF-9CD7-C4B935D0F865}"/>
                  </a:ext>
                </a:extLst>
              </p:cNvPr>
              <p:cNvSpPr txBox="1"/>
              <p:nvPr/>
            </p:nvSpPr>
            <p:spPr>
              <a:xfrm>
                <a:off x="3945768" y="297972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{5}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1F0889F-3FA8-29EF-9CD7-C4B935D0F8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5768" y="2979727"/>
                <a:ext cx="381000" cy="369332"/>
              </a:xfrm>
              <a:prstGeom prst="rect">
                <a:avLst/>
              </a:prstGeom>
              <a:blipFill rotWithShape="0">
                <a:blip r:embed="rId24"/>
                <a:stretch>
                  <a:fillRect l="-4762" r="-34921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xmlns="" id="{50A7B663-DFB5-A525-F6EC-0F901E637527}"/>
                  </a:ext>
                </a:extLst>
              </p:cNvPr>
              <p:cNvSpPr txBox="1"/>
              <p:nvPr/>
            </p:nvSpPr>
            <p:spPr>
              <a:xfrm>
                <a:off x="2505063" y="2303199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0A7B663-DFB5-A525-F6EC-0F901E6375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5063" y="2303199"/>
                <a:ext cx="381000" cy="369332"/>
              </a:xfrm>
              <a:prstGeom prst="rect">
                <a:avLst/>
              </a:prstGeom>
              <a:blipFill rotWithShape="0">
                <a:blip r:embed="rId25"/>
                <a:stretch>
                  <a:fillRect l="-6452" r="-127419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xmlns="" id="{0C61D962-EB2F-9A87-AC87-B639D75A4CC4}"/>
                  </a:ext>
                </a:extLst>
              </p:cNvPr>
              <p:cNvSpPr txBox="1"/>
              <p:nvPr/>
            </p:nvSpPr>
            <p:spPr>
              <a:xfrm>
                <a:off x="3433790" y="2316473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{5}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C61D962-EB2F-9A87-AC87-B639D75A4C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790" y="2316473"/>
                <a:ext cx="381000" cy="369332"/>
              </a:xfrm>
              <a:prstGeom prst="rect">
                <a:avLst/>
              </a:prstGeom>
              <a:blipFill rotWithShape="0">
                <a:blip r:embed="rId26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xmlns="" id="{940EFB89-B964-2844-B0AB-09736DD7329B}"/>
              </a:ext>
            </a:extLst>
          </p:cNvPr>
          <p:cNvCxnSpPr/>
          <p:nvPr/>
        </p:nvCxnSpPr>
        <p:spPr>
          <a:xfrm flipV="1">
            <a:off x="3419496" y="2105011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xmlns="" id="{46FB6F46-D0D4-8463-1E9D-BDC837834C8B}"/>
              </a:ext>
            </a:extLst>
          </p:cNvPr>
          <p:cNvCxnSpPr/>
          <p:nvPr/>
        </p:nvCxnSpPr>
        <p:spPr>
          <a:xfrm>
            <a:off x="3956506" y="2105011"/>
            <a:ext cx="615488" cy="376217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E7C3ED5E-9B14-5F60-984F-980FDE30EDDA}"/>
              </a:ext>
            </a:extLst>
          </p:cNvPr>
          <p:cNvSpPr txBox="1"/>
          <p:nvPr/>
        </p:nvSpPr>
        <p:spPr>
          <a:xfrm>
            <a:off x="3843953" y="1696510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xmlns="" id="{73DC3A88-14BB-2AF9-44B5-BBB08D309081}"/>
                  </a:ext>
                </a:extLst>
              </p:cNvPr>
              <p:cNvSpPr txBox="1"/>
              <p:nvPr/>
            </p:nvSpPr>
            <p:spPr>
              <a:xfrm>
                <a:off x="4062471" y="2465371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{6}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3DC3A88-14BB-2AF9-44B5-BBB08D3090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2471" y="2465371"/>
                <a:ext cx="381000" cy="369332"/>
              </a:xfrm>
              <a:prstGeom prst="rect">
                <a:avLst/>
              </a:prstGeom>
              <a:blipFill rotWithShape="0">
                <a:blip r:embed="rId27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xmlns="" id="{5957D6F5-BBB7-0302-36CD-E062F1411D39}"/>
                  </a:ext>
                </a:extLst>
              </p:cNvPr>
              <p:cNvSpPr txBox="1"/>
              <p:nvPr/>
            </p:nvSpPr>
            <p:spPr>
              <a:xfrm>
                <a:off x="4574418" y="2465371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{6}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957D6F5-BBB7-0302-36CD-E062F1411D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4418" y="2465371"/>
                <a:ext cx="381000" cy="369332"/>
              </a:xfrm>
              <a:prstGeom prst="rect">
                <a:avLst/>
              </a:prstGeom>
              <a:blipFill rotWithShape="0">
                <a:blip r:embed="rId28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xmlns="" id="{BDB391FC-09E1-5089-F80D-03C2BB2B7BCB}"/>
                  </a:ext>
                </a:extLst>
              </p:cNvPr>
              <p:cNvSpPr txBox="1"/>
              <p:nvPr/>
            </p:nvSpPr>
            <p:spPr>
              <a:xfrm>
                <a:off x="3133713" y="1788843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DB391FC-09E1-5089-F80D-03C2BB2B7B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3713" y="1788843"/>
                <a:ext cx="381000" cy="369332"/>
              </a:xfrm>
              <a:prstGeom prst="rect">
                <a:avLst/>
              </a:prstGeom>
              <a:blipFill rotWithShape="0">
                <a:blip r:embed="rId29"/>
                <a:stretch>
                  <a:fillRect l="-4762" r="-125397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xmlns="" id="{41B05CEA-CFCD-60A7-FF2E-777C6F737ED0}"/>
                  </a:ext>
                </a:extLst>
              </p:cNvPr>
              <p:cNvSpPr txBox="1"/>
              <p:nvPr/>
            </p:nvSpPr>
            <p:spPr>
              <a:xfrm>
                <a:off x="4062440" y="180211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{6}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41B05CEA-CFCD-60A7-FF2E-777C6F737E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2440" y="1802117"/>
                <a:ext cx="381000" cy="369332"/>
              </a:xfrm>
              <a:prstGeom prst="rect">
                <a:avLst/>
              </a:prstGeom>
              <a:blipFill rotWithShape="0">
                <a:blip r:embed="rId30"/>
                <a:stretch>
                  <a:fillRect l="-4762" r="-34921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xmlns="" id="{6FD37D45-6F7C-E023-09AB-C6F46BCD7F88}"/>
                  </a:ext>
                </a:extLst>
              </p:cNvPr>
              <p:cNvSpPr txBox="1"/>
              <p:nvPr/>
            </p:nvSpPr>
            <p:spPr>
              <a:xfrm>
                <a:off x="3090886" y="349884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FD37D45-6F7C-E023-09AB-C6F46BCD7F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0886" y="3498842"/>
                <a:ext cx="381000" cy="369332"/>
              </a:xfrm>
              <a:prstGeom prst="rect">
                <a:avLst/>
              </a:prstGeom>
              <a:blipFill rotWithShape="0"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xmlns="" id="{F85CC00B-64FE-494D-B765-C0E43E06636E}"/>
                  </a:ext>
                </a:extLst>
              </p:cNvPr>
              <p:cNvSpPr txBox="1"/>
              <p:nvPr/>
            </p:nvSpPr>
            <p:spPr>
              <a:xfrm>
                <a:off x="3757694" y="299630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85CC00B-64FE-494D-B765-C0E43E0663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7694" y="2996302"/>
                <a:ext cx="381000" cy="369332"/>
              </a:xfrm>
              <a:prstGeom prst="rect">
                <a:avLst/>
              </a:prstGeom>
              <a:blipFill rotWithShape="0"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xmlns="" id="{DA986FDD-EF7A-AA86-3F1B-DBFFF96F147F}"/>
                  </a:ext>
                </a:extLst>
              </p:cNvPr>
              <p:cNvSpPr txBox="1"/>
              <p:nvPr/>
            </p:nvSpPr>
            <p:spPr>
              <a:xfrm>
                <a:off x="4387470" y="248122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#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DA986FDD-EF7A-AA86-3F1B-DBFFF96F14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7470" y="2481228"/>
                <a:ext cx="381000" cy="369332"/>
              </a:xfrm>
              <a:prstGeom prst="rect">
                <a:avLst/>
              </a:prstGeom>
              <a:blipFill rotWithShape="0"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Oval 50">
            <a:extLst>
              <a:ext uri="{FF2B5EF4-FFF2-40B4-BE49-F238E27FC236}">
                <a16:creationId xmlns:a16="http://schemas.microsoft.com/office/drawing/2014/main" xmlns="" id="{FE8F742E-F5ED-8EB1-79CE-7B76379D3E11}"/>
              </a:ext>
            </a:extLst>
          </p:cNvPr>
          <p:cNvSpPr/>
          <p:nvPr/>
        </p:nvSpPr>
        <p:spPr>
          <a:xfrm>
            <a:off x="1364032" y="4072764"/>
            <a:ext cx="252408" cy="37946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xmlns="" id="{12878ED8-974B-D07D-953B-B32FFB3B846E}"/>
              </a:ext>
            </a:extLst>
          </p:cNvPr>
          <p:cNvSpPr txBox="1"/>
          <p:nvPr/>
        </p:nvSpPr>
        <p:spPr>
          <a:xfrm>
            <a:off x="384551" y="1038503"/>
            <a:ext cx="4410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+mj-lt"/>
              </a:rPr>
              <a:t>Step 4: Calculate followpos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xmlns="" id="{3C9C3D55-0467-5FAC-9C30-C8F6E5369B60}"/>
                  </a:ext>
                </a:extLst>
              </p:cNvPr>
              <p:cNvSpPr txBox="1"/>
              <p:nvPr/>
            </p:nvSpPr>
            <p:spPr>
              <a:xfrm>
                <a:off x="731045" y="591679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3C9C3D55-0467-5FAC-9C30-C8F6E5369B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045" y="5916794"/>
                <a:ext cx="381000" cy="369332"/>
              </a:xfrm>
              <a:prstGeom prst="rect">
                <a:avLst/>
              </a:prstGeom>
              <a:blipFill rotWithShape="0"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xmlns="" id="{AB384275-8B6B-C498-F4C8-2A0286A320E7}"/>
                  </a:ext>
                </a:extLst>
              </p:cNvPr>
              <p:cNvSpPr txBox="1"/>
              <p:nvPr/>
            </p:nvSpPr>
            <p:spPr>
              <a:xfrm>
                <a:off x="1838325" y="5900601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B384275-8B6B-C498-F4C8-2A0286A320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325" y="5900601"/>
                <a:ext cx="381000" cy="369332"/>
              </a:xfrm>
              <a:prstGeom prst="rect">
                <a:avLst/>
              </a:prstGeom>
              <a:blipFill rotWithShape="0"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xmlns="" id="{043926A9-517E-F921-1FE9-BBB4E4CD15EA}"/>
                  </a:ext>
                </a:extLst>
              </p:cNvPr>
              <p:cNvSpPr txBox="1"/>
              <p:nvPr/>
            </p:nvSpPr>
            <p:spPr>
              <a:xfrm>
                <a:off x="3114683" y="383198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43926A9-517E-F921-1FE9-BBB4E4CD15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4683" y="3831988"/>
                <a:ext cx="381000" cy="369332"/>
              </a:xfrm>
              <a:prstGeom prst="rect">
                <a:avLst/>
              </a:prstGeom>
              <a:blipFill rotWithShape="0"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xmlns="" id="{0600BFAB-71E2-E4B5-E7FE-658945E1E414}"/>
                  </a:ext>
                </a:extLst>
              </p:cNvPr>
              <p:cNvSpPr txBox="1"/>
              <p:nvPr/>
            </p:nvSpPr>
            <p:spPr>
              <a:xfrm>
                <a:off x="2462199" y="4412930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600BFAB-71E2-E4B5-E7FE-658945E1E4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2199" y="4412930"/>
                <a:ext cx="381000" cy="369332"/>
              </a:xfrm>
              <a:prstGeom prst="rect">
                <a:avLst/>
              </a:prstGeom>
              <a:blipFill rotWithShape="0"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xmlns="" id="{BB7B4835-822A-DFB7-AB14-350B213B0863}"/>
                  </a:ext>
                </a:extLst>
              </p:cNvPr>
              <p:cNvSpPr txBox="1"/>
              <p:nvPr/>
            </p:nvSpPr>
            <p:spPr>
              <a:xfrm>
                <a:off x="3767138" y="3315635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B7B4835-822A-DFB7-AB14-350B213B08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7138" y="3315635"/>
                <a:ext cx="381000" cy="369332"/>
              </a:xfrm>
              <a:prstGeom prst="rect">
                <a:avLst/>
              </a:prstGeom>
              <a:blipFill rotWithShape="0"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xmlns="" id="{84CD7CC9-B1D9-38CB-0830-C6F5F8FF0E61}"/>
                  </a:ext>
                </a:extLst>
              </p:cNvPr>
              <p:cNvSpPr txBox="1"/>
              <p:nvPr/>
            </p:nvSpPr>
            <p:spPr>
              <a:xfrm>
                <a:off x="4394564" y="2772419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4CD7CC9-B1D9-38CB-0830-C6F5F8FF0E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4564" y="2772419"/>
                <a:ext cx="381000" cy="369332"/>
              </a:xfrm>
              <a:prstGeom prst="rect">
                <a:avLst/>
              </a:prstGeom>
              <a:blipFill rotWithShape="0"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Rectangle 58">
            <a:extLst>
              <a:ext uri="{FF2B5EF4-FFF2-40B4-BE49-F238E27FC236}">
                <a16:creationId xmlns:a16="http://schemas.microsoft.com/office/drawing/2014/main" xmlns="" id="{0D4FA20D-341C-DFC2-BA95-BFC66AF5964E}"/>
              </a:ext>
            </a:extLst>
          </p:cNvPr>
          <p:cNvSpPr/>
          <p:nvPr/>
        </p:nvSpPr>
        <p:spPr>
          <a:xfrm>
            <a:off x="4443390" y="3430275"/>
            <a:ext cx="4306722" cy="2945336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graphicFrame>
        <p:nvGraphicFramePr>
          <p:cNvPr id="60" name="Content Placeholder 3">
            <a:extLst>
              <a:ext uri="{FF2B5EF4-FFF2-40B4-BE49-F238E27FC236}">
                <a16:creationId xmlns:a16="http://schemas.microsoft.com/office/drawing/2014/main" xmlns="" id="{EE932ADF-21FF-8479-7B9F-F3BD821F8BA6}"/>
              </a:ext>
            </a:extLst>
          </p:cNvPr>
          <p:cNvGraphicFramePr/>
          <p:nvPr>
            <p:extLst/>
          </p:nvPr>
        </p:nvGraphicFramePr>
        <p:xfrm>
          <a:off x="6400800" y="1510275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6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xmlns="" id="{70442FE7-5D55-361B-2DF3-9F9B65438FDD}"/>
                  </a:ext>
                </a:extLst>
              </p:cNvPr>
              <p:cNvSpPr txBox="1"/>
              <p:nvPr/>
            </p:nvSpPr>
            <p:spPr>
              <a:xfrm>
                <a:off x="5174437" y="4040373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0442FE7-5D55-361B-2DF3-9F9B65438F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4437" y="4040373"/>
                <a:ext cx="381000" cy="369332"/>
              </a:xfrm>
              <a:prstGeom prst="rect">
                <a:avLst/>
              </a:prstGeom>
              <a:blipFill rotWithShape="0">
                <a:blip r:embed="rId40"/>
                <a:stretch>
                  <a:fillRect l="-6452" r="-127419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xmlns="" id="{437FB55B-7227-6F52-B1AC-7CC20B2BC548}"/>
                  </a:ext>
                </a:extLst>
              </p:cNvPr>
              <p:cNvSpPr txBox="1"/>
              <p:nvPr/>
            </p:nvSpPr>
            <p:spPr>
              <a:xfrm>
                <a:off x="6146119" y="405605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{5}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437FB55B-7227-6F52-B1AC-7CC20B2BC5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6119" y="4056057"/>
                <a:ext cx="381000" cy="369332"/>
              </a:xfrm>
              <a:prstGeom prst="rect">
                <a:avLst/>
              </a:prstGeom>
              <a:blipFill rotWithShape="0">
                <a:blip r:embed="rId41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xmlns="" id="{5116CA61-C29C-D995-CCC1-68F0F5484B01}"/>
              </a:ext>
            </a:extLst>
          </p:cNvPr>
          <p:cNvCxnSpPr/>
          <p:nvPr/>
        </p:nvCxnSpPr>
        <p:spPr>
          <a:xfrm flipV="1">
            <a:off x="6115080" y="3757610"/>
            <a:ext cx="547692" cy="366642"/>
          </a:xfrm>
          <a:prstGeom prst="line">
            <a:avLst/>
          </a:prstGeom>
          <a:ln w="25400">
            <a:solidFill>
              <a:srgbClr val="9C1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xmlns="" id="{4B5C3F44-4895-29D3-489E-58730C778244}"/>
              </a:ext>
            </a:extLst>
          </p:cNvPr>
          <p:cNvCxnSpPr/>
          <p:nvPr/>
        </p:nvCxnSpPr>
        <p:spPr>
          <a:xfrm>
            <a:off x="6658066" y="3757610"/>
            <a:ext cx="615488" cy="376217"/>
          </a:xfrm>
          <a:prstGeom prst="line">
            <a:avLst/>
          </a:prstGeom>
          <a:ln w="25400">
            <a:solidFill>
              <a:srgbClr val="9C1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xmlns="" id="{AB6DBE1B-D9AB-9B07-E983-0C9897E89CFA}"/>
              </a:ext>
            </a:extLst>
          </p:cNvPr>
          <p:cNvSpPr txBox="1"/>
          <p:nvPr/>
        </p:nvSpPr>
        <p:spPr>
          <a:xfrm>
            <a:off x="6539537" y="3349109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xmlns="" id="{8DCD7F8A-7CAD-98C8-6AD6-B63ED9CA351C}"/>
                  </a:ext>
                </a:extLst>
              </p:cNvPr>
              <p:cNvSpPr txBox="1"/>
              <p:nvPr/>
            </p:nvSpPr>
            <p:spPr>
              <a:xfrm>
                <a:off x="6687811" y="407491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{6}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DCD7F8A-7CAD-98C8-6AD6-B63ED9CA35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7811" y="4074918"/>
                <a:ext cx="381000" cy="369332"/>
              </a:xfrm>
              <a:prstGeom prst="rect">
                <a:avLst/>
              </a:prstGeom>
              <a:blipFill rotWithShape="0">
                <a:blip r:embed="rId42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xmlns="" id="{6BBDFACC-D327-A8C3-9B19-8FC6C5F40EF5}"/>
                  </a:ext>
                </a:extLst>
              </p:cNvPr>
              <p:cNvSpPr txBox="1"/>
              <p:nvPr/>
            </p:nvSpPr>
            <p:spPr>
              <a:xfrm>
                <a:off x="7357969" y="405903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{6}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BBDFACC-D327-A8C3-9B19-8FC6C5F40E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7969" y="4059037"/>
                <a:ext cx="381000" cy="369332"/>
              </a:xfrm>
              <a:prstGeom prst="rect">
                <a:avLst/>
              </a:prstGeom>
              <a:blipFill rotWithShape="0">
                <a:blip r:embed="rId43"/>
                <a:stretch>
                  <a:fillRect l="-4762" r="-34921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xmlns="" id="{4806D8FB-C731-E82E-C85C-9705639C7161}"/>
                  </a:ext>
                </a:extLst>
              </p:cNvPr>
              <p:cNvSpPr txBox="1"/>
              <p:nvPr/>
            </p:nvSpPr>
            <p:spPr>
              <a:xfrm>
                <a:off x="5898993" y="412425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b="1" i="1" baseline="-2500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>
                  <a:latin typeface="+mj-lt"/>
                </a:endParaRPr>
              </a:p>
            </p:txBody>
          </p:sp>
        </mc:Choice>
        <mc:Fallback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4806D8FB-C731-E82E-C85C-9705639C71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8993" y="4124252"/>
                <a:ext cx="381000" cy="369332"/>
              </a:xfrm>
              <a:prstGeom prst="rect">
                <a:avLst/>
              </a:prstGeom>
              <a:blipFill rotWithShape="0"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xmlns="" id="{733F6006-0209-8AFA-2E95-09FB876B72D7}"/>
                  </a:ext>
                </a:extLst>
              </p:cNvPr>
              <p:cNvSpPr txBox="1"/>
              <p:nvPr/>
            </p:nvSpPr>
            <p:spPr>
              <a:xfrm>
                <a:off x="7093850" y="412425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b="1" i="1" baseline="-25000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baseline="-25000">
                  <a:latin typeface="+mj-lt"/>
                </a:endParaRPr>
              </a:p>
            </p:txBody>
          </p:sp>
        </mc:Choice>
        <mc:Fallback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33F6006-0209-8AFA-2E95-09FB876B72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3850" y="4124252"/>
                <a:ext cx="381000" cy="369332"/>
              </a:xfrm>
              <a:prstGeom prst="rect">
                <a:avLst/>
              </a:prstGeom>
              <a:blipFill rotWithShape="0"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xmlns="" id="{11E897D1-F162-0768-1FB5-AC7EBBF9E093}"/>
                  </a:ext>
                </a:extLst>
              </p:cNvPr>
              <p:cNvSpPr txBox="1"/>
              <p:nvPr/>
            </p:nvSpPr>
            <p:spPr>
              <a:xfrm>
                <a:off x="4450534" y="5011295"/>
                <a:ext cx="4299578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000" i="1" err="1" smtClean="0">
                          <a:latin typeface="Cambria Math" panose="02040503050406030204" pitchFamily="18" charset="0"/>
                        </a:rPr>
                        <m:t>𝑙𝑎𝑠𝑡𝑝𝑜𝑠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00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) = {5}</m:t>
                      </m:r>
                    </m:oMath>
                  </m:oMathPara>
                </a14:m>
                <a:endParaRPr lang="en-US" sz="2000">
                  <a:latin typeface="+mj-lt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err="1" smtClean="0">
                          <a:latin typeface="Cambria Math" panose="02040503050406030204" pitchFamily="18" charset="0"/>
                        </a:rPr>
                        <m:t>𝑓𝑖𝑟𝑠𝑡𝑝𝑜𝑠</m:t>
                      </m:r>
                      <m:d>
                        <m:d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000" i="1" baseline="-2500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d>
                    </m:oMath>
                  </m:oMathPara>
                </a14:m>
                <a:endParaRPr lang="en-US" sz="2000">
                  <a:latin typeface="+mj-lt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𝑜𝑙𝑙𝑜𝑤𝑝𝑜𝑠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n-US" sz="2000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d>
                    </m:oMath>
                  </m:oMathPara>
                </a14:m>
                <a:endParaRPr lang="en-US" sz="2000">
                  <a:solidFill>
                    <a:srgbClr val="0E47A1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1E897D1-F162-0768-1FB5-AC7EBBF9E0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0534" y="5011295"/>
                <a:ext cx="4299578" cy="1015663"/>
              </a:xfrm>
              <a:prstGeom prst="rect">
                <a:avLst/>
              </a:prstGeom>
              <a:blipFill rotWithShape="0">
                <a:blip r:embed="rId46"/>
                <a:stretch>
                  <a:fillRect b="-5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Rectangle 70">
            <a:extLst>
              <a:ext uri="{FF2B5EF4-FFF2-40B4-BE49-F238E27FC236}">
                <a16:creationId xmlns:a16="http://schemas.microsoft.com/office/drawing/2014/main" xmlns="" id="{F2C50AF4-CB7E-2821-D3AF-0C826D412A0D}"/>
              </a:ext>
            </a:extLst>
          </p:cNvPr>
          <p:cNvSpPr/>
          <p:nvPr/>
        </p:nvSpPr>
        <p:spPr>
          <a:xfrm>
            <a:off x="-285030" y="1494750"/>
            <a:ext cx="2140820" cy="11102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err="1">
                <a:solidFill>
                  <a:srgbClr val="FF0000"/>
                </a:solidFill>
                <a:latin typeface="+mj-lt"/>
              </a:rPr>
              <a:t>Firstpos</a:t>
            </a:r>
            <a:endParaRPr lang="en-US" sz="2000" b="1">
              <a:solidFill>
                <a:srgbClr val="FF0000"/>
              </a:solidFill>
              <a:latin typeface="+mj-lt"/>
            </a:endParaRPr>
          </a:p>
          <a:p>
            <a:pPr algn="ctr"/>
            <a:r>
              <a:rPr lang="en-US" sz="2000" b="1" err="1">
                <a:solidFill>
                  <a:srgbClr val="009644"/>
                </a:solidFill>
                <a:latin typeface="+mj-lt"/>
              </a:rPr>
              <a:t>Lastpos</a:t>
            </a:r>
            <a:r>
              <a:rPr lang="en-US">
                <a:solidFill>
                  <a:srgbClr val="FF0000"/>
                </a:solidFill>
                <a:latin typeface="+mj-lt"/>
              </a:rPr>
              <a:t> 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xmlns="" id="{58E13632-8AA2-F1D4-24D4-E90139082E8B}"/>
              </a:ext>
            </a:extLst>
          </p:cNvPr>
          <p:cNvCxnSpPr/>
          <p:nvPr/>
        </p:nvCxnSpPr>
        <p:spPr>
          <a:xfrm>
            <a:off x="1246190" y="1928449"/>
            <a:ext cx="30480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xmlns="" id="{9B58B046-6FDF-9FEE-70DF-10A72142D78A}"/>
              </a:ext>
            </a:extLst>
          </p:cNvPr>
          <p:cNvCxnSpPr/>
          <p:nvPr/>
        </p:nvCxnSpPr>
        <p:spPr>
          <a:xfrm>
            <a:off x="1246190" y="2244617"/>
            <a:ext cx="304800" cy="0"/>
          </a:xfrm>
          <a:prstGeom prst="line">
            <a:avLst/>
          </a:prstGeom>
          <a:ln w="25400">
            <a:solidFill>
              <a:srgbClr val="0096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urved Connector 74">
            <a:extLst>
              <a:ext uri="{FF2B5EF4-FFF2-40B4-BE49-F238E27FC236}">
                <a16:creationId xmlns:a16="http://schemas.microsoft.com/office/drawing/2014/main" xmlns="" id="{DB8EBB97-E14B-6C16-B826-A0CC6215DE54}"/>
              </a:ext>
            </a:extLst>
          </p:cNvPr>
          <p:cNvCxnSpPr/>
          <p:nvPr/>
        </p:nvCxnSpPr>
        <p:spPr>
          <a:xfrm rot="5400000" flipH="1">
            <a:off x="3933206" y="2402197"/>
            <a:ext cx="148898" cy="628681"/>
          </a:xfrm>
          <a:prstGeom prst="curvedConnector3">
            <a:avLst>
              <a:gd name="adj1" fmla="val -86360"/>
            </a:avLst>
          </a:prstGeom>
          <a:ln w="22225">
            <a:solidFill>
              <a:schemeClr val="accent2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8653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9C107E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9C107E"/>
                                      </p:to>
                                    </p:animClr>
                                    <p:set>
                                      <p:cBhvr>
                                        <p:cTn id="10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2" presetClass="emph" presetSubtype="0" dur="1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32" presetClass="emph" presetSubtype="0" dur="1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61" grpId="0"/>
      <p:bldP spid="62" grpId="0"/>
      <p:bldP spid="65" grpId="0"/>
      <p:bldP spid="66" grpId="0"/>
      <p:bldP spid="67" grpId="0"/>
      <p:bldP spid="68" grpId="0"/>
      <p:bldP spid="69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2872F5E-1DC3-80ED-B40C-C9D5AAC7AFE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Conversion from regular expression to DFA</a:t>
            </a:r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xmlns="" id="{9071179A-7844-EA29-B4E8-0B35CFC22872}"/>
              </a:ext>
            </a:extLst>
          </p:cNvPr>
          <p:cNvGraphicFramePr/>
          <p:nvPr>
            <p:extLst/>
          </p:nvPr>
        </p:nvGraphicFramePr>
        <p:xfrm>
          <a:off x="6400800" y="1141245"/>
          <a:ext cx="2349312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Position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err="1"/>
                        <a:t>followpos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xmlns="" id="{36AD9988-A388-943B-8F98-9AD45F704422}"/>
                  </a:ext>
                </a:extLst>
              </p:cNvPr>
              <p:cNvSpPr txBox="1"/>
              <p:nvPr/>
            </p:nvSpPr>
            <p:spPr>
              <a:xfrm>
                <a:off x="738189" y="555997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36AD9988-A388-943B-8F98-9AD45F7044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189" y="5559972"/>
                <a:ext cx="381000" cy="369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3CE767BB-9D4F-C549-058B-6C7BD49276D8}"/>
                  </a:ext>
                </a:extLst>
              </p:cNvPr>
              <p:cNvSpPr txBox="1"/>
              <p:nvPr/>
            </p:nvSpPr>
            <p:spPr>
              <a:xfrm>
                <a:off x="1838325" y="5574260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3CE767BB-9D4F-C549-058B-6C7BD49276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325" y="5574260"/>
                <a:ext cx="381000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="" id="{222F4670-947C-D5AE-DD60-080B16B2E346}"/>
                  </a:ext>
                </a:extLst>
              </p:cNvPr>
              <p:cNvSpPr txBox="1"/>
              <p:nvPr/>
            </p:nvSpPr>
            <p:spPr>
              <a:xfrm>
                <a:off x="1295400" y="4857744"/>
                <a:ext cx="381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sz="2000" b="1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22F4670-947C-D5AE-DD60-080B16B2E3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4857744"/>
                <a:ext cx="381000" cy="400110"/>
              </a:xfrm>
              <a:prstGeom prst="rect">
                <a:avLst/>
              </a:prstGeom>
              <a:blipFill rotWithShape="0">
                <a:blip r:embed="rId4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7B638405-333F-33F7-45CC-AFDD4B45F31C}"/>
              </a:ext>
            </a:extLst>
          </p:cNvPr>
          <p:cNvCxnSpPr>
            <a:stCxn id="4" idx="0"/>
          </p:cNvCxnSpPr>
          <p:nvPr/>
        </p:nvCxnSpPr>
        <p:spPr>
          <a:xfrm flipV="1">
            <a:off x="928689" y="5260797"/>
            <a:ext cx="557211" cy="299175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507091F0-42EC-7598-8F8B-36A4FED278C7}"/>
              </a:ext>
            </a:extLst>
          </p:cNvPr>
          <p:cNvCxnSpPr/>
          <p:nvPr/>
        </p:nvCxnSpPr>
        <p:spPr>
          <a:xfrm>
            <a:off x="1467972" y="5266166"/>
            <a:ext cx="542925" cy="302118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AB5B4405-CF33-5ACF-5601-AF55DF436408}"/>
              </a:ext>
            </a:extLst>
          </p:cNvPr>
          <p:cNvCxnSpPr>
            <a:stCxn id="12" idx="0"/>
          </p:cNvCxnSpPr>
          <p:nvPr/>
        </p:nvCxnSpPr>
        <p:spPr>
          <a:xfrm flipV="1">
            <a:off x="1485900" y="3700464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2AE4F4DC-B8BD-2F14-0154-0643479E7D45}"/>
              </a:ext>
            </a:extLst>
          </p:cNvPr>
          <p:cNvCxnSpPr/>
          <p:nvPr/>
        </p:nvCxnSpPr>
        <p:spPr>
          <a:xfrm>
            <a:off x="2028825" y="3705924"/>
            <a:ext cx="609586" cy="360557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xmlns="" id="{2F672A84-700E-0134-5F61-070D32F44725}"/>
              </a:ext>
            </a:extLst>
          </p:cNvPr>
          <p:cNvCxnSpPr/>
          <p:nvPr/>
        </p:nvCxnSpPr>
        <p:spPr>
          <a:xfrm flipH="1" flipV="1">
            <a:off x="1485900" y="4452936"/>
            <a:ext cx="0" cy="361944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6141D3BB-B1FD-73D4-0606-EB018E0ECF36}"/>
                  </a:ext>
                </a:extLst>
              </p:cNvPr>
              <p:cNvSpPr txBox="1"/>
              <p:nvPr/>
            </p:nvSpPr>
            <p:spPr>
              <a:xfrm>
                <a:off x="1295400" y="4067106"/>
                <a:ext cx="381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US" sz="2000" b="1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141D3BB-B1FD-73D4-0606-EB018E0ECF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4067106"/>
                <a:ext cx="381000" cy="40011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6579F42D-FADE-1DA0-7090-17FC1B9B972B}"/>
              </a:ext>
            </a:extLst>
          </p:cNvPr>
          <p:cNvSpPr txBox="1"/>
          <p:nvPr/>
        </p:nvSpPr>
        <p:spPr>
          <a:xfrm>
            <a:off x="1947914" y="3289199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3DA9361C-1473-BA5E-35FA-59459BA45393}"/>
                  </a:ext>
                </a:extLst>
              </p:cNvPr>
              <p:cNvSpPr txBox="1"/>
              <p:nvPr/>
            </p:nvSpPr>
            <p:spPr>
              <a:xfrm>
                <a:off x="442914" y="5784876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3DA9361C-1473-BA5E-35FA-59459BA453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914" y="5784876"/>
                <a:ext cx="381000" cy="369332"/>
              </a:xfrm>
              <a:prstGeom prst="rect">
                <a:avLst/>
              </a:prstGeom>
              <a:blipFill rotWithShape="0">
                <a:blip r:embed="rId6"/>
                <a:stretch>
                  <a:fillRect l="-6452" r="-35484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xmlns="" id="{AC4ED28D-5A68-6ECD-7589-174E749BF93F}"/>
                  </a:ext>
                </a:extLst>
              </p:cNvPr>
              <p:cNvSpPr txBox="1"/>
              <p:nvPr/>
            </p:nvSpPr>
            <p:spPr>
              <a:xfrm>
                <a:off x="892968" y="5784876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{1}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C4ED28D-5A68-6ECD-7589-174E749BF9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968" y="5784876"/>
                <a:ext cx="381000" cy="369332"/>
              </a:xfrm>
              <a:prstGeom prst="rect">
                <a:avLst/>
              </a:prstGeom>
              <a:blipFill rotWithShape="0">
                <a:blip r:embed="rId7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xmlns="" id="{F0A3A6A4-B702-7FAE-195A-A80575A44974}"/>
                  </a:ext>
                </a:extLst>
              </p:cNvPr>
              <p:cNvSpPr txBox="1"/>
              <p:nvPr/>
            </p:nvSpPr>
            <p:spPr>
              <a:xfrm>
                <a:off x="1566872" y="578010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{2}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0A3A6A4-B702-7FAE-195A-A80575A449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6872" y="5780108"/>
                <a:ext cx="381000" cy="369332"/>
              </a:xfrm>
              <a:prstGeom prst="rect">
                <a:avLst/>
              </a:prstGeom>
              <a:blipFill rotWithShape="0">
                <a:blip r:embed="rId8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xmlns="" id="{25C265BF-59B3-8FDC-91D7-D6347AEFDBDC}"/>
                  </a:ext>
                </a:extLst>
              </p:cNvPr>
              <p:cNvSpPr txBox="1"/>
              <p:nvPr/>
            </p:nvSpPr>
            <p:spPr>
              <a:xfrm>
                <a:off x="2016926" y="578010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9644"/>
                          </a:solidFill>
                          <a:latin typeface="Cambria Math" panose="02040503050406030204" pitchFamily="18" charset="0"/>
                        </a:rPr>
                        <m:t>{2}</m:t>
                      </m:r>
                    </m:oMath>
                  </m:oMathPara>
                </a14:m>
                <a:endParaRPr lang="en-US">
                  <a:solidFill>
                    <a:srgbClr val="009644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5C265BF-59B3-8FDC-91D7-D6347AEFDB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6926" y="5780108"/>
                <a:ext cx="381000" cy="369332"/>
              </a:xfrm>
              <a:prstGeom prst="rect">
                <a:avLst/>
              </a:prstGeom>
              <a:blipFill rotWithShape="0">
                <a:blip r:embed="rId9"/>
                <a:stretch>
                  <a:fillRect l="-6452" r="-35484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xmlns="" id="{633716F1-A2E1-727D-B656-561C063D193D}"/>
                  </a:ext>
                </a:extLst>
              </p:cNvPr>
              <p:cNvSpPr txBox="1"/>
              <p:nvPr/>
            </p:nvSpPr>
            <p:spPr>
              <a:xfrm>
                <a:off x="823914" y="490856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33716F1-A2E1-727D-B656-561C063D19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914" y="4908567"/>
                <a:ext cx="381000" cy="369332"/>
              </a:xfrm>
              <a:prstGeom prst="rect">
                <a:avLst/>
              </a:prstGeom>
              <a:blipFill rotWithShape="0">
                <a:blip r:embed="rId10"/>
                <a:stretch>
                  <a:fillRect l="-4762" r="-80952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xmlns="" id="{6A33AF1B-0A59-C845-4BF2-0C215AD5DC69}"/>
                  </a:ext>
                </a:extLst>
              </p:cNvPr>
              <p:cNvSpPr txBox="1"/>
              <p:nvPr/>
            </p:nvSpPr>
            <p:spPr>
              <a:xfrm>
                <a:off x="1473996" y="490856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A33AF1B-0A59-C845-4BF2-0C215AD5DC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3996" y="4908567"/>
                <a:ext cx="381000" cy="369332"/>
              </a:xfrm>
              <a:prstGeom prst="rect">
                <a:avLst/>
              </a:prstGeom>
              <a:blipFill rotWithShape="0">
                <a:blip r:embed="rId11"/>
                <a:stretch>
                  <a:fillRect l="-6452" r="-82258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xmlns="" id="{9FDACE83-1F31-34BA-EE86-9615546038EF}"/>
                  </a:ext>
                </a:extLst>
              </p:cNvPr>
              <p:cNvSpPr txBox="1"/>
              <p:nvPr/>
            </p:nvSpPr>
            <p:spPr>
              <a:xfrm>
                <a:off x="758216" y="407491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9FDACE83-1F31-34BA-EE86-9615546038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216" y="4074918"/>
                <a:ext cx="381000" cy="369332"/>
              </a:xfrm>
              <a:prstGeom prst="rect">
                <a:avLst/>
              </a:prstGeom>
              <a:blipFill rotWithShape="0">
                <a:blip r:embed="rId12"/>
                <a:stretch>
                  <a:fillRect l="-4762" r="-80952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xmlns="" id="{6F2AC603-DCBA-9107-3274-ACE941D44230}"/>
                  </a:ext>
                </a:extLst>
              </p:cNvPr>
              <p:cNvSpPr txBox="1"/>
              <p:nvPr/>
            </p:nvSpPr>
            <p:spPr>
              <a:xfrm>
                <a:off x="1591691" y="4090038"/>
                <a:ext cx="4071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F2AC603-DCBA-9107-3274-ACE941D442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1691" y="4090038"/>
                <a:ext cx="407191" cy="369332"/>
              </a:xfrm>
              <a:prstGeom prst="rect">
                <a:avLst/>
              </a:prstGeom>
              <a:blipFill rotWithShape="0">
                <a:blip r:embed="rId13"/>
                <a:stretch>
                  <a:fillRect l="-4478" r="-70149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xmlns="" id="{E7E5A37C-FD22-3B35-02ED-242DAA09B463}"/>
                  </a:ext>
                </a:extLst>
              </p:cNvPr>
              <p:cNvSpPr txBox="1"/>
              <p:nvPr/>
            </p:nvSpPr>
            <p:spPr>
              <a:xfrm>
                <a:off x="2447911" y="4040373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7E5A37C-FD22-3B35-02ED-242DAA09B4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7911" y="4040373"/>
                <a:ext cx="381000" cy="369332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xmlns="" id="{BD3B84DA-5ACB-D569-96FA-18DB2B0A0041}"/>
                  </a:ext>
                </a:extLst>
              </p:cNvPr>
              <p:cNvSpPr txBox="1"/>
              <p:nvPr/>
            </p:nvSpPr>
            <p:spPr>
              <a:xfrm>
                <a:off x="2128875" y="406082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D3B84DA-5ACB-D569-96FA-18DB2B0A00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8875" y="4060824"/>
                <a:ext cx="381000" cy="369332"/>
              </a:xfrm>
              <a:prstGeom prst="rect">
                <a:avLst/>
              </a:prstGeom>
              <a:blipFill rotWithShape="0">
                <a:blip r:embed="rId15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xmlns="" id="{DF98E1D1-FE49-620E-AE64-40B3664FDBD6}"/>
                  </a:ext>
                </a:extLst>
              </p:cNvPr>
              <p:cNvSpPr txBox="1"/>
              <p:nvPr/>
            </p:nvSpPr>
            <p:spPr>
              <a:xfrm>
                <a:off x="2640822" y="406082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{3}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DF98E1D1-FE49-620E-AE64-40B3664FDB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0822" y="4060824"/>
                <a:ext cx="381000" cy="369332"/>
              </a:xfrm>
              <a:prstGeom prst="rect">
                <a:avLst/>
              </a:prstGeom>
              <a:blipFill rotWithShape="0">
                <a:blip r:embed="rId16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xmlns="" id="{64F7549D-FE62-73DF-D1D8-18D7862363A4}"/>
                  </a:ext>
                </a:extLst>
              </p:cNvPr>
              <p:cNvSpPr txBox="1"/>
              <p:nvPr/>
            </p:nvSpPr>
            <p:spPr>
              <a:xfrm>
                <a:off x="1171554" y="3400656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4F7549D-FE62-73DF-D1D8-18D7862363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1554" y="3400656"/>
                <a:ext cx="381000" cy="369332"/>
              </a:xfrm>
              <a:prstGeom prst="rect">
                <a:avLst/>
              </a:prstGeom>
              <a:blipFill rotWithShape="0">
                <a:blip r:embed="rId17"/>
                <a:stretch>
                  <a:fillRect l="-4762" r="-125397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xmlns="" id="{87D96B9B-F4D9-D7CB-E15B-2C593C38AB44}"/>
                  </a:ext>
                </a:extLst>
              </p:cNvPr>
              <p:cNvSpPr txBox="1"/>
              <p:nvPr/>
            </p:nvSpPr>
            <p:spPr>
              <a:xfrm>
                <a:off x="2171777" y="3425739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{3}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7D96B9B-F4D9-D7CB-E15B-2C593C38AB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1777" y="3425739"/>
                <a:ext cx="381000" cy="369332"/>
              </a:xfrm>
              <a:prstGeom prst="rect">
                <a:avLst/>
              </a:prstGeom>
              <a:blipFill rotWithShape="0">
                <a:blip r:embed="rId18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xmlns="" id="{4BD73963-8250-A8F9-F262-298FA9FC9840}"/>
              </a:ext>
            </a:extLst>
          </p:cNvPr>
          <p:cNvCxnSpPr/>
          <p:nvPr/>
        </p:nvCxnSpPr>
        <p:spPr>
          <a:xfrm flipV="1">
            <a:off x="2124085" y="3138482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xmlns="" id="{3BDBC5CF-CC9D-B5B0-C689-7EF795E16696}"/>
              </a:ext>
            </a:extLst>
          </p:cNvPr>
          <p:cNvCxnSpPr/>
          <p:nvPr/>
        </p:nvCxnSpPr>
        <p:spPr>
          <a:xfrm>
            <a:off x="2652699" y="3141738"/>
            <a:ext cx="642975" cy="365416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BD70E133-2910-F92F-8456-BAE60BC415B0}"/>
              </a:ext>
            </a:extLst>
          </p:cNvPr>
          <p:cNvSpPr txBox="1"/>
          <p:nvPr/>
        </p:nvSpPr>
        <p:spPr>
          <a:xfrm>
            <a:off x="2589585" y="2742439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xmlns="" id="{BE653AE8-DAD6-ED3C-7951-5140634A9ABA}"/>
                  </a:ext>
                </a:extLst>
              </p:cNvPr>
              <p:cNvSpPr txBox="1"/>
              <p:nvPr/>
            </p:nvSpPr>
            <p:spPr>
              <a:xfrm>
                <a:off x="2767060" y="349884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{4}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E653AE8-DAD6-ED3C-7951-5140634A9A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7060" y="3498842"/>
                <a:ext cx="381000" cy="369332"/>
              </a:xfrm>
              <a:prstGeom prst="rect">
                <a:avLst/>
              </a:prstGeom>
              <a:blipFill rotWithShape="0">
                <a:blip r:embed="rId19"/>
                <a:stretch>
                  <a:fillRect l="-6452" r="-35484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xmlns="" id="{3DC48932-C555-9756-F235-A0B26DB84636}"/>
                  </a:ext>
                </a:extLst>
              </p:cNvPr>
              <p:cNvSpPr txBox="1"/>
              <p:nvPr/>
            </p:nvSpPr>
            <p:spPr>
              <a:xfrm>
                <a:off x="3279007" y="349884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{4}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3DC48932-C555-9756-F235-A0B26DB846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9007" y="3498842"/>
                <a:ext cx="381000" cy="369332"/>
              </a:xfrm>
              <a:prstGeom prst="rect">
                <a:avLst/>
              </a:prstGeom>
              <a:blipFill rotWithShape="0">
                <a:blip r:embed="rId20"/>
                <a:stretch>
                  <a:fillRect l="-6452" r="-35484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xmlns="" id="{756963F5-5637-6DD5-0816-5D491D1FEDA9}"/>
                  </a:ext>
                </a:extLst>
              </p:cNvPr>
              <p:cNvSpPr txBox="1"/>
              <p:nvPr/>
            </p:nvSpPr>
            <p:spPr>
              <a:xfrm>
                <a:off x="1783597" y="285089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56963F5-5637-6DD5-0816-5D491D1FED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3597" y="2850892"/>
                <a:ext cx="381000" cy="369332"/>
              </a:xfrm>
              <a:prstGeom prst="rect">
                <a:avLst/>
              </a:prstGeom>
              <a:blipFill rotWithShape="0">
                <a:blip r:embed="rId21"/>
                <a:stretch>
                  <a:fillRect l="-6452" r="-127419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xmlns="" id="{1DE818A9-7396-0A67-AE2E-DEE96E912926}"/>
                  </a:ext>
                </a:extLst>
              </p:cNvPr>
              <p:cNvSpPr txBox="1"/>
              <p:nvPr/>
            </p:nvSpPr>
            <p:spPr>
              <a:xfrm>
                <a:off x="2795623" y="289275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{4}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DE818A9-7396-0A67-AE2E-DEE96E9129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5623" y="2892754"/>
                <a:ext cx="381000" cy="369332"/>
              </a:xfrm>
              <a:prstGeom prst="rect">
                <a:avLst/>
              </a:prstGeom>
              <a:blipFill rotWithShape="0">
                <a:blip r:embed="rId22"/>
                <a:stretch>
                  <a:fillRect l="-6452" r="-35484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xmlns="" id="{BD05FEEA-F71E-DC33-248D-5CE6C3E602F1}"/>
              </a:ext>
            </a:extLst>
          </p:cNvPr>
          <p:cNvCxnSpPr/>
          <p:nvPr/>
        </p:nvCxnSpPr>
        <p:spPr>
          <a:xfrm flipV="1">
            <a:off x="2790846" y="2619367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xmlns="" id="{569EAC75-9F85-ACF0-3152-A890E089D0C4}"/>
              </a:ext>
            </a:extLst>
          </p:cNvPr>
          <p:cNvCxnSpPr/>
          <p:nvPr/>
        </p:nvCxnSpPr>
        <p:spPr>
          <a:xfrm>
            <a:off x="3315879" y="2617940"/>
            <a:ext cx="652579" cy="370050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xmlns="" id="{EB2131D1-C6A0-2F22-0105-906900DEFEB2}"/>
              </a:ext>
            </a:extLst>
          </p:cNvPr>
          <p:cNvSpPr txBox="1"/>
          <p:nvPr/>
        </p:nvSpPr>
        <p:spPr>
          <a:xfrm>
            <a:off x="3240817" y="2223048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xmlns="" id="{67FF6B3A-5CFD-8799-468C-BA46F9CB506C}"/>
                  </a:ext>
                </a:extLst>
              </p:cNvPr>
              <p:cNvSpPr txBox="1"/>
              <p:nvPr/>
            </p:nvSpPr>
            <p:spPr>
              <a:xfrm>
                <a:off x="3433821" y="297972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{5}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7FF6B3A-5CFD-8799-468C-BA46F9CB50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821" y="2979727"/>
                <a:ext cx="381000" cy="369332"/>
              </a:xfrm>
              <a:prstGeom prst="rect">
                <a:avLst/>
              </a:prstGeom>
              <a:blipFill rotWithShape="0">
                <a:blip r:embed="rId23"/>
                <a:stretch>
                  <a:fillRect l="-4762" r="-34921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xmlns="" id="{D3D2098B-41BA-82C2-0684-09B3154FEEFE}"/>
                  </a:ext>
                </a:extLst>
              </p:cNvPr>
              <p:cNvSpPr txBox="1"/>
              <p:nvPr/>
            </p:nvSpPr>
            <p:spPr>
              <a:xfrm>
                <a:off x="3945768" y="297972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{5}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D3D2098B-41BA-82C2-0684-09B3154FEE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5768" y="2979727"/>
                <a:ext cx="381000" cy="369332"/>
              </a:xfrm>
              <a:prstGeom prst="rect">
                <a:avLst/>
              </a:prstGeom>
              <a:blipFill rotWithShape="0">
                <a:blip r:embed="rId24"/>
                <a:stretch>
                  <a:fillRect l="-4762" r="-34921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xmlns="" id="{E41742D7-6939-A6E3-8713-EECE2F8D4893}"/>
                  </a:ext>
                </a:extLst>
              </p:cNvPr>
              <p:cNvSpPr txBox="1"/>
              <p:nvPr/>
            </p:nvSpPr>
            <p:spPr>
              <a:xfrm>
                <a:off x="2505063" y="2303199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41742D7-6939-A6E3-8713-EECE2F8D48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5063" y="2303199"/>
                <a:ext cx="381000" cy="369332"/>
              </a:xfrm>
              <a:prstGeom prst="rect">
                <a:avLst/>
              </a:prstGeom>
              <a:blipFill rotWithShape="0">
                <a:blip r:embed="rId25"/>
                <a:stretch>
                  <a:fillRect l="-6452" r="-127419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xmlns="" id="{2DE55935-C25B-A114-AD6B-CF1343477090}"/>
                  </a:ext>
                </a:extLst>
              </p:cNvPr>
              <p:cNvSpPr txBox="1"/>
              <p:nvPr/>
            </p:nvSpPr>
            <p:spPr>
              <a:xfrm>
                <a:off x="3433790" y="2316473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{5}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DE55935-C25B-A114-AD6B-CF13434770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790" y="2316473"/>
                <a:ext cx="381000" cy="369332"/>
              </a:xfrm>
              <a:prstGeom prst="rect">
                <a:avLst/>
              </a:prstGeom>
              <a:blipFill rotWithShape="0">
                <a:blip r:embed="rId26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xmlns="" id="{ED3F26DE-9938-FF37-994C-CC9A969CDB24}"/>
              </a:ext>
            </a:extLst>
          </p:cNvPr>
          <p:cNvCxnSpPr/>
          <p:nvPr/>
        </p:nvCxnSpPr>
        <p:spPr>
          <a:xfrm flipV="1">
            <a:off x="3419496" y="2105011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xmlns="" id="{DF3E4183-33A0-FF87-30F9-335B9E6DD99F}"/>
              </a:ext>
            </a:extLst>
          </p:cNvPr>
          <p:cNvCxnSpPr/>
          <p:nvPr/>
        </p:nvCxnSpPr>
        <p:spPr>
          <a:xfrm>
            <a:off x="3956506" y="2105011"/>
            <a:ext cx="615488" cy="376217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E8F75348-3E58-3D3D-851D-3E03A80A3BCC}"/>
              </a:ext>
            </a:extLst>
          </p:cNvPr>
          <p:cNvSpPr txBox="1"/>
          <p:nvPr/>
        </p:nvSpPr>
        <p:spPr>
          <a:xfrm>
            <a:off x="3843953" y="1696510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xmlns="" id="{E515B1FE-EE73-698E-4F4A-9F798885CCDB}"/>
                  </a:ext>
                </a:extLst>
              </p:cNvPr>
              <p:cNvSpPr txBox="1"/>
              <p:nvPr/>
            </p:nvSpPr>
            <p:spPr>
              <a:xfrm>
                <a:off x="4062471" y="2465371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{6}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515B1FE-EE73-698E-4F4A-9F798885CC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2471" y="2465371"/>
                <a:ext cx="381000" cy="369332"/>
              </a:xfrm>
              <a:prstGeom prst="rect">
                <a:avLst/>
              </a:prstGeom>
              <a:blipFill rotWithShape="0">
                <a:blip r:embed="rId27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xmlns="" id="{E5983C6B-3B0D-1275-E072-C722CEECF609}"/>
                  </a:ext>
                </a:extLst>
              </p:cNvPr>
              <p:cNvSpPr txBox="1"/>
              <p:nvPr/>
            </p:nvSpPr>
            <p:spPr>
              <a:xfrm>
                <a:off x="4574418" y="2465371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{6}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5983C6B-3B0D-1275-E072-C722CEECF6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4418" y="2465371"/>
                <a:ext cx="381000" cy="369332"/>
              </a:xfrm>
              <a:prstGeom prst="rect">
                <a:avLst/>
              </a:prstGeom>
              <a:blipFill rotWithShape="0">
                <a:blip r:embed="rId28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xmlns="" id="{8C6A2090-75BC-D7D2-7070-BA901D1308F8}"/>
                  </a:ext>
                </a:extLst>
              </p:cNvPr>
              <p:cNvSpPr txBox="1"/>
              <p:nvPr/>
            </p:nvSpPr>
            <p:spPr>
              <a:xfrm>
                <a:off x="3133713" y="1788843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C6A2090-75BC-D7D2-7070-BA901D1308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3713" y="1788843"/>
                <a:ext cx="381000" cy="369332"/>
              </a:xfrm>
              <a:prstGeom prst="rect">
                <a:avLst/>
              </a:prstGeom>
              <a:blipFill rotWithShape="0">
                <a:blip r:embed="rId29"/>
                <a:stretch>
                  <a:fillRect l="-4762" r="-125397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xmlns="" id="{2E06E8E7-BE26-6C5D-C05E-BCF79B0D7644}"/>
                  </a:ext>
                </a:extLst>
              </p:cNvPr>
              <p:cNvSpPr txBox="1"/>
              <p:nvPr/>
            </p:nvSpPr>
            <p:spPr>
              <a:xfrm>
                <a:off x="4062440" y="180211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{6}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E06E8E7-BE26-6C5D-C05E-BCF79B0D76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2440" y="1802117"/>
                <a:ext cx="381000" cy="369332"/>
              </a:xfrm>
              <a:prstGeom prst="rect">
                <a:avLst/>
              </a:prstGeom>
              <a:blipFill rotWithShape="0">
                <a:blip r:embed="rId30"/>
                <a:stretch>
                  <a:fillRect l="-4762" r="-34921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xmlns="" id="{B0286FCD-B096-CC3C-95E8-8E9A67992B92}"/>
                  </a:ext>
                </a:extLst>
              </p:cNvPr>
              <p:cNvSpPr txBox="1"/>
              <p:nvPr/>
            </p:nvSpPr>
            <p:spPr>
              <a:xfrm>
                <a:off x="3090886" y="349884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0286FCD-B096-CC3C-95E8-8E9A67992B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0886" y="3498842"/>
                <a:ext cx="381000" cy="369332"/>
              </a:xfrm>
              <a:prstGeom prst="rect">
                <a:avLst/>
              </a:prstGeom>
              <a:blipFill rotWithShape="0"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xmlns="" id="{3B3C4CD0-EABD-4295-A6DF-3752CED4A5DC}"/>
                  </a:ext>
                </a:extLst>
              </p:cNvPr>
              <p:cNvSpPr txBox="1"/>
              <p:nvPr/>
            </p:nvSpPr>
            <p:spPr>
              <a:xfrm>
                <a:off x="3757694" y="299630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3B3C4CD0-EABD-4295-A6DF-3752CED4A5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7694" y="2996302"/>
                <a:ext cx="381000" cy="369332"/>
              </a:xfrm>
              <a:prstGeom prst="rect">
                <a:avLst/>
              </a:prstGeom>
              <a:blipFill rotWithShape="0"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xmlns="" id="{A92CACFB-C22C-20BA-90CA-FCA135ED26FA}"/>
                  </a:ext>
                </a:extLst>
              </p:cNvPr>
              <p:cNvSpPr txBox="1"/>
              <p:nvPr/>
            </p:nvSpPr>
            <p:spPr>
              <a:xfrm>
                <a:off x="4387470" y="248122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#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92CACFB-C22C-20BA-90CA-FCA135ED26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7470" y="2481228"/>
                <a:ext cx="381000" cy="369332"/>
              </a:xfrm>
              <a:prstGeom prst="rect">
                <a:avLst/>
              </a:prstGeom>
              <a:blipFill rotWithShape="0"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Oval 50">
            <a:extLst>
              <a:ext uri="{FF2B5EF4-FFF2-40B4-BE49-F238E27FC236}">
                <a16:creationId xmlns:a16="http://schemas.microsoft.com/office/drawing/2014/main" xmlns="" id="{153ACDEB-347A-1428-1491-FFD4C18A5C61}"/>
              </a:ext>
            </a:extLst>
          </p:cNvPr>
          <p:cNvSpPr/>
          <p:nvPr/>
        </p:nvSpPr>
        <p:spPr>
          <a:xfrm>
            <a:off x="1364032" y="4072764"/>
            <a:ext cx="252408" cy="37946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xmlns="" id="{DEF84E15-F7D0-D78D-D3F2-DC42086B47DD}"/>
              </a:ext>
            </a:extLst>
          </p:cNvPr>
          <p:cNvSpPr txBox="1"/>
          <p:nvPr/>
        </p:nvSpPr>
        <p:spPr>
          <a:xfrm>
            <a:off x="384551" y="1038503"/>
            <a:ext cx="4410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+mj-lt"/>
              </a:rPr>
              <a:t>Step 4: Calculate followpos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xmlns="" id="{C7975146-B5C8-0654-61DF-837A0169B291}"/>
                  </a:ext>
                </a:extLst>
              </p:cNvPr>
              <p:cNvSpPr txBox="1"/>
              <p:nvPr/>
            </p:nvSpPr>
            <p:spPr>
              <a:xfrm>
                <a:off x="731045" y="591679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7975146-B5C8-0654-61DF-837A0169B2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045" y="5916794"/>
                <a:ext cx="381000" cy="369332"/>
              </a:xfrm>
              <a:prstGeom prst="rect">
                <a:avLst/>
              </a:prstGeom>
              <a:blipFill rotWithShape="0"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xmlns="" id="{B99A4E6F-2ED0-D0AD-1D4E-2D668562D4D6}"/>
                  </a:ext>
                </a:extLst>
              </p:cNvPr>
              <p:cNvSpPr txBox="1"/>
              <p:nvPr/>
            </p:nvSpPr>
            <p:spPr>
              <a:xfrm>
                <a:off x="1838325" y="5900601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99A4E6F-2ED0-D0AD-1D4E-2D668562D4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325" y="5900601"/>
                <a:ext cx="381000" cy="369332"/>
              </a:xfrm>
              <a:prstGeom prst="rect">
                <a:avLst/>
              </a:prstGeom>
              <a:blipFill rotWithShape="0"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xmlns="" id="{C25C1683-DF3D-FE91-00FE-0AF693F70B96}"/>
                  </a:ext>
                </a:extLst>
              </p:cNvPr>
              <p:cNvSpPr txBox="1"/>
              <p:nvPr/>
            </p:nvSpPr>
            <p:spPr>
              <a:xfrm>
                <a:off x="3114683" y="383198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25C1683-DF3D-FE91-00FE-0AF693F70B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4683" y="3831988"/>
                <a:ext cx="381000" cy="369332"/>
              </a:xfrm>
              <a:prstGeom prst="rect">
                <a:avLst/>
              </a:prstGeom>
              <a:blipFill rotWithShape="0"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xmlns="" id="{280E4717-31B7-8B9F-4F14-73735CE64FF8}"/>
                  </a:ext>
                </a:extLst>
              </p:cNvPr>
              <p:cNvSpPr txBox="1"/>
              <p:nvPr/>
            </p:nvSpPr>
            <p:spPr>
              <a:xfrm>
                <a:off x="2462199" y="4412930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80E4717-31B7-8B9F-4F14-73735CE64F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2199" y="4412930"/>
                <a:ext cx="381000" cy="369332"/>
              </a:xfrm>
              <a:prstGeom prst="rect">
                <a:avLst/>
              </a:prstGeom>
              <a:blipFill rotWithShape="0"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xmlns="" id="{F7ECCC40-51D4-772A-DD38-13E569933996}"/>
                  </a:ext>
                </a:extLst>
              </p:cNvPr>
              <p:cNvSpPr txBox="1"/>
              <p:nvPr/>
            </p:nvSpPr>
            <p:spPr>
              <a:xfrm>
                <a:off x="3767138" y="3315635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7ECCC40-51D4-772A-DD38-13E5699339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7138" y="3315635"/>
                <a:ext cx="381000" cy="369332"/>
              </a:xfrm>
              <a:prstGeom prst="rect">
                <a:avLst/>
              </a:prstGeom>
              <a:blipFill rotWithShape="0"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xmlns="" id="{3B907BF8-C014-ABD7-1634-43C1F46F5B07}"/>
                  </a:ext>
                </a:extLst>
              </p:cNvPr>
              <p:cNvSpPr txBox="1"/>
              <p:nvPr/>
            </p:nvSpPr>
            <p:spPr>
              <a:xfrm>
                <a:off x="4394564" y="2772419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3B907BF8-C014-ABD7-1634-43C1F46F5B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4564" y="2772419"/>
                <a:ext cx="381000" cy="369332"/>
              </a:xfrm>
              <a:prstGeom prst="rect">
                <a:avLst/>
              </a:prstGeom>
              <a:blipFill rotWithShape="0"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Rectangle 58">
            <a:extLst>
              <a:ext uri="{FF2B5EF4-FFF2-40B4-BE49-F238E27FC236}">
                <a16:creationId xmlns:a16="http://schemas.microsoft.com/office/drawing/2014/main" xmlns="" id="{52E4FF1C-AFBF-6EF4-3A05-FE0210A20AA1}"/>
              </a:ext>
            </a:extLst>
          </p:cNvPr>
          <p:cNvSpPr/>
          <p:nvPr/>
        </p:nvSpPr>
        <p:spPr>
          <a:xfrm>
            <a:off x="4443390" y="3430275"/>
            <a:ext cx="4306722" cy="2945336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graphicFrame>
        <p:nvGraphicFramePr>
          <p:cNvPr id="60" name="Content Placeholder 3">
            <a:extLst>
              <a:ext uri="{FF2B5EF4-FFF2-40B4-BE49-F238E27FC236}">
                <a16:creationId xmlns:a16="http://schemas.microsoft.com/office/drawing/2014/main" xmlns="" id="{2E6C73BC-80DF-BAA7-6DD4-7EC920AAA2FE}"/>
              </a:ext>
            </a:extLst>
          </p:cNvPr>
          <p:cNvGraphicFramePr/>
          <p:nvPr>
            <p:extLst/>
          </p:nvPr>
        </p:nvGraphicFramePr>
        <p:xfrm>
          <a:off x="6400800" y="1510275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6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xmlns="" id="{79EAC126-AAFE-87D6-CDBC-07584AA251FE}"/>
                  </a:ext>
                </a:extLst>
              </p:cNvPr>
              <p:cNvSpPr txBox="1"/>
              <p:nvPr/>
            </p:nvSpPr>
            <p:spPr>
              <a:xfrm>
                <a:off x="5174437" y="4040373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9EAC126-AAFE-87D6-CDBC-07584AA251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4437" y="4040373"/>
                <a:ext cx="381000" cy="369332"/>
              </a:xfrm>
              <a:prstGeom prst="rect">
                <a:avLst/>
              </a:prstGeom>
              <a:blipFill rotWithShape="0">
                <a:blip r:embed="rId40"/>
                <a:stretch>
                  <a:fillRect l="-6452" r="-127419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xmlns="" id="{3802728B-260D-242A-7F96-83E2D316E9E1}"/>
                  </a:ext>
                </a:extLst>
              </p:cNvPr>
              <p:cNvSpPr txBox="1"/>
              <p:nvPr/>
            </p:nvSpPr>
            <p:spPr>
              <a:xfrm>
                <a:off x="6146119" y="405605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{4}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3802728B-260D-242A-7F96-83E2D316E9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6119" y="4056057"/>
                <a:ext cx="381000" cy="369332"/>
              </a:xfrm>
              <a:prstGeom prst="rect">
                <a:avLst/>
              </a:prstGeom>
              <a:blipFill rotWithShape="0">
                <a:blip r:embed="rId41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xmlns="" id="{600B2568-EE47-F361-6BFE-B291CA8147FA}"/>
              </a:ext>
            </a:extLst>
          </p:cNvPr>
          <p:cNvCxnSpPr/>
          <p:nvPr/>
        </p:nvCxnSpPr>
        <p:spPr>
          <a:xfrm flipV="1">
            <a:off x="6115080" y="3757610"/>
            <a:ext cx="547692" cy="366642"/>
          </a:xfrm>
          <a:prstGeom prst="line">
            <a:avLst/>
          </a:prstGeom>
          <a:ln w="25400">
            <a:solidFill>
              <a:srgbClr val="9C1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xmlns="" id="{5B9AC5FE-891D-8410-DB66-00954B726426}"/>
              </a:ext>
            </a:extLst>
          </p:cNvPr>
          <p:cNvCxnSpPr/>
          <p:nvPr/>
        </p:nvCxnSpPr>
        <p:spPr>
          <a:xfrm>
            <a:off x="6658066" y="3757610"/>
            <a:ext cx="615488" cy="376217"/>
          </a:xfrm>
          <a:prstGeom prst="line">
            <a:avLst/>
          </a:prstGeom>
          <a:ln w="25400">
            <a:solidFill>
              <a:srgbClr val="9C1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xmlns="" id="{F3017F32-8AAD-15FB-DD51-65B52448EB69}"/>
              </a:ext>
            </a:extLst>
          </p:cNvPr>
          <p:cNvSpPr txBox="1"/>
          <p:nvPr/>
        </p:nvSpPr>
        <p:spPr>
          <a:xfrm>
            <a:off x="6539537" y="3349109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xmlns="" id="{EE9C6C9F-434F-6067-F0DC-031CFF1344A3}"/>
                  </a:ext>
                </a:extLst>
              </p:cNvPr>
              <p:cNvSpPr txBox="1"/>
              <p:nvPr/>
            </p:nvSpPr>
            <p:spPr>
              <a:xfrm>
                <a:off x="6687811" y="407491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{5}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E9C6C9F-434F-6067-F0DC-031CFF1344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7811" y="4074918"/>
                <a:ext cx="381000" cy="369332"/>
              </a:xfrm>
              <a:prstGeom prst="rect">
                <a:avLst/>
              </a:prstGeom>
              <a:blipFill rotWithShape="0">
                <a:blip r:embed="rId42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xmlns="" id="{C6962482-7702-4DA5-BAAD-514F80C9D2BE}"/>
                  </a:ext>
                </a:extLst>
              </p:cNvPr>
              <p:cNvSpPr txBox="1"/>
              <p:nvPr/>
            </p:nvSpPr>
            <p:spPr>
              <a:xfrm>
                <a:off x="7357969" y="405903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{5}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6962482-7702-4DA5-BAAD-514F80C9D2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7969" y="4059037"/>
                <a:ext cx="381000" cy="369332"/>
              </a:xfrm>
              <a:prstGeom prst="rect">
                <a:avLst/>
              </a:prstGeom>
              <a:blipFill rotWithShape="0">
                <a:blip r:embed="rId43"/>
                <a:stretch>
                  <a:fillRect l="-4762" r="-34921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xmlns="" id="{55138D53-E1E8-B621-F0A2-1A2CA5519CD3}"/>
                  </a:ext>
                </a:extLst>
              </p:cNvPr>
              <p:cNvSpPr txBox="1"/>
              <p:nvPr/>
            </p:nvSpPr>
            <p:spPr>
              <a:xfrm>
                <a:off x="5898993" y="412425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b="1" i="1" baseline="-2500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>
                  <a:latin typeface="+mj-lt"/>
                </a:endParaRPr>
              </a:p>
            </p:txBody>
          </p:sp>
        </mc:Choice>
        <mc:Fallback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5138D53-E1E8-B621-F0A2-1A2CA5519C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8993" y="4124252"/>
                <a:ext cx="381000" cy="369332"/>
              </a:xfrm>
              <a:prstGeom prst="rect">
                <a:avLst/>
              </a:prstGeom>
              <a:blipFill rotWithShape="0"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xmlns="" id="{B435944E-9592-27D4-3797-D6630C608220}"/>
                  </a:ext>
                </a:extLst>
              </p:cNvPr>
              <p:cNvSpPr txBox="1"/>
              <p:nvPr/>
            </p:nvSpPr>
            <p:spPr>
              <a:xfrm>
                <a:off x="7093850" y="412425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b="1" i="1" baseline="-25000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baseline="-25000">
                  <a:latin typeface="+mj-lt"/>
                </a:endParaRPr>
              </a:p>
            </p:txBody>
          </p:sp>
        </mc:Choice>
        <mc:Fallback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435944E-9592-27D4-3797-D6630C6082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3850" y="4124252"/>
                <a:ext cx="381000" cy="369332"/>
              </a:xfrm>
              <a:prstGeom prst="rect">
                <a:avLst/>
              </a:prstGeom>
              <a:blipFill rotWithShape="0"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xmlns="" id="{1D0E496A-B26F-738F-8614-04C9ED371F8B}"/>
                  </a:ext>
                </a:extLst>
              </p:cNvPr>
              <p:cNvSpPr txBox="1"/>
              <p:nvPr/>
            </p:nvSpPr>
            <p:spPr>
              <a:xfrm>
                <a:off x="4450534" y="5011295"/>
                <a:ext cx="4299578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000" i="1" err="1">
                          <a:latin typeface="Cambria Math" panose="02040503050406030204" pitchFamily="18" charset="0"/>
                        </a:rPr>
                        <m:t>𝑙𝑎𝑠𝑡𝑝𝑜𝑠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000" i="1" baseline="-2500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 = {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000">
                  <a:latin typeface="+mj-lt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err="1">
                          <a:latin typeface="Cambria Math" panose="02040503050406030204" pitchFamily="18" charset="0"/>
                        </a:rPr>
                        <m:t>𝑓𝑖𝑟𝑠𝑡𝑝𝑜𝑠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000" i="1" baseline="-25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</m:oMath>
                  </m:oMathPara>
                </a14:m>
                <a:endParaRPr lang="en-US" sz="2000">
                  <a:latin typeface="+mj-lt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𝑓𝑜𝑙𝑙𝑜𝑤𝑝𝑜𝑠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en-US" sz="2000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</m:oMath>
                  </m:oMathPara>
                </a14:m>
                <a:endParaRPr lang="en-US" sz="2000">
                  <a:latin typeface="+mj-lt"/>
                </a:endParaRPr>
              </a:p>
            </p:txBody>
          </p:sp>
        </mc:Choice>
        <mc:Fallback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D0E496A-B26F-738F-8614-04C9ED371F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0534" y="5011295"/>
                <a:ext cx="4299578" cy="1015663"/>
              </a:xfrm>
              <a:prstGeom prst="rect">
                <a:avLst/>
              </a:prstGeom>
              <a:blipFill rotWithShape="0">
                <a:blip r:embed="rId46"/>
                <a:stretch>
                  <a:fillRect b="-5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1" name="Content Placeholder 3">
            <a:extLst>
              <a:ext uri="{FF2B5EF4-FFF2-40B4-BE49-F238E27FC236}">
                <a16:creationId xmlns:a16="http://schemas.microsoft.com/office/drawing/2014/main" xmlns="" id="{70CEC7C7-DC43-50C0-7F5F-8C52D8541C96}"/>
              </a:ext>
            </a:extLst>
          </p:cNvPr>
          <p:cNvGraphicFramePr/>
          <p:nvPr>
            <p:extLst/>
          </p:nvPr>
        </p:nvGraphicFramePr>
        <p:xfrm>
          <a:off x="6400800" y="1905214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5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xmlns="" id="{B52CCCA5-DA75-3CA4-431A-9BA539CCB728}"/>
              </a:ext>
            </a:extLst>
          </p:cNvPr>
          <p:cNvCxnSpPr/>
          <p:nvPr/>
        </p:nvCxnSpPr>
        <p:spPr>
          <a:xfrm>
            <a:off x="1246190" y="1928449"/>
            <a:ext cx="30480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xmlns="" id="{05C328C5-7D11-2ED2-5CD9-CD4EAFAEB290}"/>
              </a:ext>
            </a:extLst>
          </p:cNvPr>
          <p:cNvCxnSpPr/>
          <p:nvPr/>
        </p:nvCxnSpPr>
        <p:spPr>
          <a:xfrm>
            <a:off x="1246190" y="2244617"/>
            <a:ext cx="304800" cy="0"/>
          </a:xfrm>
          <a:prstGeom prst="line">
            <a:avLst/>
          </a:prstGeom>
          <a:ln w="25400">
            <a:solidFill>
              <a:srgbClr val="0096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urved Connector 74">
            <a:extLst>
              <a:ext uri="{FF2B5EF4-FFF2-40B4-BE49-F238E27FC236}">
                <a16:creationId xmlns:a16="http://schemas.microsoft.com/office/drawing/2014/main" xmlns="" id="{87976F90-1F6C-196C-F9D2-F7C19FFA45E5}"/>
              </a:ext>
            </a:extLst>
          </p:cNvPr>
          <p:cNvCxnSpPr/>
          <p:nvPr/>
        </p:nvCxnSpPr>
        <p:spPr>
          <a:xfrm rot="5400000" flipH="1">
            <a:off x="3303526" y="2931294"/>
            <a:ext cx="148898" cy="628681"/>
          </a:xfrm>
          <a:prstGeom prst="curvedConnector3">
            <a:avLst>
              <a:gd name="adj1" fmla="val -86360"/>
            </a:avLst>
          </a:prstGeom>
          <a:ln w="22225">
            <a:solidFill>
              <a:schemeClr val="accent2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334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9C107E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9C107E"/>
                                      </p:to>
                                    </p:animClr>
                                    <p:set>
                                      <p:cBhvr>
                                        <p:cTn id="10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2" presetClass="emph" presetSubtype="0" dur="1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32" presetClass="emph" presetSubtype="0" dur="1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61" grpId="0"/>
      <p:bldP spid="62" grpId="0"/>
      <p:bldP spid="65" grpId="0"/>
      <p:bldP spid="66" grpId="0"/>
      <p:bldP spid="67" grpId="0"/>
      <p:bldP spid="68" grpId="0"/>
      <p:bldP spid="69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D44F7A6-402A-1489-3CE3-22A57A1A66B3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Conversion from regular expression to DFA</a:t>
            </a:r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xmlns="" id="{97EC6FF6-3FA3-F26E-E9DC-34DD816C092A}"/>
              </a:ext>
            </a:extLst>
          </p:cNvPr>
          <p:cNvGraphicFramePr/>
          <p:nvPr>
            <p:extLst/>
          </p:nvPr>
        </p:nvGraphicFramePr>
        <p:xfrm>
          <a:off x="6400800" y="1141245"/>
          <a:ext cx="2349312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Position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err="1"/>
                        <a:t>followpos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xmlns="" id="{ADDDBC88-7B5D-4B01-AE89-8C33E81F6A70}"/>
                  </a:ext>
                </a:extLst>
              </p:cNvPr>
              <p:cNvSpPr txBox="1"/>
              <p:nvPr/>
            </p:nvSpPr>
            <p:spPr>
              <a:xfrm>
                <a:off x="738189" y="555997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DDDBC88-7B5D-4B01-AE89-8C33E81F6A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189" y="5559972"/>
                <a:ext cx="381000" cy="369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8B4A32A5-1FF5-47F4-9D45-ADFE8D551963}"/>
                  </a:ext>
                </a:extLst>
              </p:cNvPr>
              <p:cNvSpPr txBox="1"/>
              <p:nvPr/>
            </p:nvSpPr>
            <p:spPr>
              <a:xfrm>
                <a:off x="1838325" y="5574260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B4A32A5-1FF5-47F4-9D45-ADFE8D5519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325" y="5574260"/>
                <a:ext cx="381000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="" id="{63936AB9-C637-8249-E6C7-110F4C21E3A8}"/>
                  </a:ext>
                </a:extLst>
              </p:cNvPr>
              <p:cNvSpPr txBox="1"/>
              <p:nvPr/>
            </p:nvSpPr>
            <p:spPr>
              <a:xfrm>
                <a:off x="1295400" y="4857744"/>
                <a:ext cx="381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sz="2000" b="1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3936AB9-C637-8249-E6C7-110F4C21E3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4857744"/>
                <a:ext cx="381000" cy="400110"/>
              </a:xfrm>
              <a:prstGeom prst="rect">
                <a:avLst/>
              </a:prstGeom>
              <a:blipFill rotWithShape="0">
                <a:blip r:embed="rId4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23377C80-21D8-A40D-ADCB-9C25B33C078E}"/>
              </a:ext>
            </a:extLst>
          </p:cNvPr>
          <p:cNvCxnSpPr>
            <a:stCxn id="4" idx="0"/>
          </p:cNvCxnSpPr>
          <p:nvPr/>
        </p:nvCxnSpPr>
        <p:spPr>
          <a:xfrm flipV="1">
            <a:off x="928689" y="5260797"/>
            <a:ext cx="557211" cy="299175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B1324C38-091A-1AAE-8A82-A111245C4890}"/>
              </a:ext>
            </a:extLst>
          </p:cNvPr>
          <p:cNvCxnSpPr/>
          <p:nvPr/>
        </p:nvCxnSpPr>
        <p:spPr>
          <a:xfrm>
            <a:off x="1473948" y="5266166"/>
            <a:ext cx="542925" cy="302118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72EA4273-2EBD-25E8-7A04-BC497B7D6BC7}"/>
              </a:ext>
            </a:extLst>
          </p:cNvPr>
          <p:cNvCxnSpPr>
            <a:stCxn id="12" idx="0"/>
          </p:cNvCxnSpPr>
          <p:nvPr/>
        </p:nvCxnSpPr>
        <p:spPr>
          <a:xfrm flipV="1">
            <a:off x="1485900" y="3700464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972FFD0E-EF8D-281C-8DB1-A12D48DEBABF}"/>
              </a:ext>
            </a:extLst>
          </p:cNvPr>
          <p:cNvCxnSpPr/>
          <p:nvPr/>
        </p:nvCxnSpPr>
        <p:spPr>
          <a:xfrm>
            <a:off x="2028825" y="3705924"/>
            <a:ext cx="609586" cy="360557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xmlns="" id="{15B6CEB2-D31B-083A-C71E-35131BBE8609}"/>
              </a:ext>
            </a:extLst>
          </p:cNvPr>
          <p:cNvCxnSpPr/>
          <p:nvPr/>
        </p:nvCxnSpPr>
        <p:spPr>
          <a:xfrm flipH="1" flipV="1">
            <a:off x="1485900" y="4452936"/>
            <a:ext cx="0" cy="361944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E24AD20B-53AF-46E0-9562-51073A713DE7}"/>
                  </a:ext>
                </a:extLst>
              </p:cNvPr>
              <p:cNvSpPr txBox="1"/>
              <p:nvPr/>
            </p:nvSpPr>
            <p:spPr>
              <a:xfrm>
                <a:off x="1295400" y="4067106"/>
                <a:ext cx="381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US" sz="2000" b="1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24AD20B-53AF-46E0-9562-51073A713D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4067106"/>
                <a:ext cx="381000" cy="40011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117AB9F6-10CF-D3DA-61CB-3817B36B0C43}"/>
              </a:ext>
            </a:extLst>
          </p:cNvPr>
          <p:cNvSpPr txBox="1"/>
          <p:nvPr/>
        </p:nvSpPr>
        <p:spPr>
          <a:xfrm>
            <a:off x="1947914" y="3289199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5C2F9721-BF38-F992-FDD8-B2CC3598AD78}"/>
                  </a:ext>
                </a:extLst>
              </p:cNvPr>
              <p:cNvSpPr txBox="1"/>
              <p:nvPr/>
            </p:nvSpPr>
            <p:spPr>
              <a:xfrm>
                <a:off x="442914" y="5784876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C2F9721-BF38-F992-FDD8-B2CC3598AD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914" y="5784876"/>
                <a:ext cx="381000" cy="369332"/>
              </a:xfrm>
              <a:prstGeom prst="rect">
                <a:avLst/>
              </a:prstGeom>
              <a:blipFill rotWithShape="0">
                <a:blip r:embed="rId6"/>
                <a:stretch>
                  <a:fillRect l="-6452" r="-35484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xmlns="" id="{4D155EA7-C9E2-F000-1610-81304C6BD36F}"/>
                  </a:ext>
                </a:extLst>
              </p:cNvPr>
              <p:cNvSpPr txBox="1"/>
              <p:nvPr/>
            </p:nvSpPr>
            <p:spPr>
              <a:xfrm>
                <a:off x="892968" y="5784876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{1}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4D155EA7-C9E2-F000-1610-81304C6BD3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968" y="5784876"/>
                <a:ext cx="381000" cy="369332"/>
              </a:xfrm>
              <a:prstGeom prst="rect">
                <a:avLst/>
              </a:prstGeom>
              <a:blipFill rotWithShape="0">
                <a:blip r:embed="rId7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xmlns="" id="{26C1A734-F049-912B-36A0-08FB36EA7F0C}"/>
                  </a:ext>
                </a:extLst>
              </p:cNvPr>
              <p:cNvSpPr txBox="1"/>
              <p:nvPr/>
            </p:nvSpPr>
            <p:spPr>
              <a:xfrm>
                <a:off x="1566872" y="578010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{2}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6C1A734-F049-912B-36A0-08FB36EA7F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6872" y="5780108"/>
                <a:ext cx="381000" cy="369332"/>
              </a:xfrm>
              <a:prstGeom prst="rect">
                <a:avLst/>
              </a:prstGeom>
              <a:blipFill rotWithShape="0">
                <a:blip r:embed="rId8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xmlns="" id="{3D8DAEC4-612E-E804-29AE-E1125B05E406}"/>
                  </a:ext>
                </a:extLst>
              </p:cNvPr>
              <p:cNvSpPr txBox="1"/>
              <p:nvPr/>
            </p:nvSpPr>
            <p:spPr>
              <a:xfrm>
                <a:off x="2016926" y="578010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9644"/>
                          </a:solidFill>
                          <a:latin typeface="Cambria Math" panose="02040503050406030204" pitchFamily="18" charset="0"/>
                        </a:rPr>
                        <m:t>{2}</m:t>
                      </m:r>
                    </m:oMath>
                  </m:oMathPara>
                </a14:m>
                <a:endParaRPr lang="en-US">
                  <a:solidFill>
                    <a:srgbClr val="009644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3D8DAEC4-612E-E804-29AE-E1125B05E4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6926" y="5780108"/>
                <a:ext cx="381000" cy="369332"/>
              </a:xfrm>
              <a:prstGeom prst="rect">
                <a:avLst/>
              </a:prstGeom>
              <a:blipFill rotWithShape="0">
                <a:blip r:embed="rId9"/>
                <a:stretch>
                  <a:fillRect l="-6452" r="-35484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xmlns="" id="{8888ACFF-CCED-F00C-931D-2A1BB78FBA6E}"/>
                  </a:ext>
                </a:extLst>
              </p:cNvPr>
              <p:cNvSpPr txBox="1"/>
              <p:nvPr/>
            </p:nvSpPr>
            <p:spPr>
              <a:xfrm>
                <a:off x="823914" y="490856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888ACFF-CCED-F00C-931D-2A1BB78FBA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914" y="4908567"/>
                <a:ext cx="381000" cy="369332"/>
              </a:xfrm>
              <a:prstGeom prst="rect">
                <a:avLst/>
              </a:prstGeom>
              <a:blipFill rotWithShape="0">
                <a:blip r:embed="rId10"/>
                <a:stretch>
                  <a:fillRect l="-4762" r="-80952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xmlns="" id="{CF5EE851-1DF1-D4B1-274D-6A9D264FB690}"/>
                  </a:ext>
                </a:extLst>
              </p:cNvPr>
              <p:cNvSpPr txBox="1"/>
              <p:nvPr/>
            </p:nvSpPr>
            <p:spPr>
              <a:xfrm>
                <a:off x="1473996" y="490856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F5EE851-1DF1-D4B1-274D-6A9D264FB6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3996" y="4908567"/>
                <a:ext cx="381000" cy="369332"/>
              </a:xfrm>
              <a:prstGeom prst="rect">
                <a:avLst/>
              </a:prstGeom>
              <a:blipFill rotWithShape="0">
                <a:blip r:embed="rId11"/>
                <a:stretch>
                  <a:fillRect l="-6452" r="-82258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xmlns="" id="{4D6B1618-DEB8-47BD-A417-AB0B32F22DEE}"/>
                  </a:ext>
                </a:extLst>
              </p:cNvPr>
              <p:cNvSpPr txBox="1"/>
              <p:nvPr/>
            </p:nvSpPr>
            <p:spPr>
              <a:xfrm>
                <a:off x="758216" y="407491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4D6B1618-DEB8-47BD-A417-AB0B32F22D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216" y="4074918"/>
                <a:ext cx="381000" cy="369332"/>
              </a:xfrm>
              <a:prstGeom prst="rect">
                <a:avLst/>
              </a:prstGeom>
              <a:blipFill rotWithShape="0">
                <a:blip r:embed="rId12"/>
                <a:stretch>
                  <a:fillRect l="-4762" r="-80952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xmlns="" id="{1603B24A-5E72-C396-1280-BF872F86A811}"/>
                  </a:ext>
                </a:extLst>
              </p:cNvPr>
              <p:cNvSpPr txBox="1"/>
              <p:nvPr/>
            </p:nvSpPr>
            <p:spPr>
              <a:xfrm>
                <a:off x="1591691" y="4090038"/>
                <a:ext cx="4071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603B24A-5E72-C396-1280-BF872F86A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1691" y="4090038"/>
                <a:ext cx="407191" cy="369332"/>
              </a:xfrm>
              <a:prstGeom prst="rect">
                <a:avLst/>
              </a:prstGeom>
              <a:blipFill rotWithShape="0">
                <a:blip r:embed="rId13"/>
                <a:stretch>
                  <a:fillRect l="-4478" r="-70149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xmlns="" id="{DDF1C13B-FEA7-1194-0A18-39E97CAC59F0}"/>
                  </a:ext>
                </a:extLst>
              </p:cNvPr>
              <p:cNvSpPr txBox="1"/>
              <p:nvPr/>
            </p:nvSpPr>
            <p:spPr>
              <a:xfrm>
                <a:off x="2447911" y="4040373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DDF1C13B-FEA7-1194-0A18-39E97CAC59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7911" y="4040373"/>
                <a:ext cx="381000" cy="369332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xmlns="" id="{ED6C2DE4-4867-B40B-6A6E-5CB7D5C8D679}"/>
                  </a:ext>
                </a:extLst>
              </p:cNvPr>
              <p:cNvSpPr txBox="1"/>
              <p:nvPr/>
            </p:nvSpPr>
            <p:spPr>
              <a:xfrm>
                <a:off x="2128875" y="406082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D6C2DE4-4867-B40B-6A6E-5CB7D5C8D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8875" y="4060824"/>
                <a:ext cx="381000" cy="369332"/>
              </a:xfrm>
              <a:prstGeom prst="rect">
                <a:avLst/>
              </a:prstGeom>
              <a:blipFill rotWithShape="0">
                <a:blip r:embed="rId15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xmlns="" id="{B9E0777F-D389-786C-5808-FA93C2913DC2}"/>
                  </a:ext>
                </a:extLst>
              </p:cNvPr>
              <p:cNvSpPr txBox="1"/>
              <p:nvPr/>
            </p:nvSpPr>
            <p:spPr>
              <a:xfrm>
                <a:off x="2640822" y="406082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{3}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9E0777F-D389-786C-5808-FA93C2913D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0822" y="4060824"/>
                <a:ext cx="381000" cy="369332"/>
              </a:xfrm>
              <a:prstGeom prst="rect">
                <a:avLst/>
              </a:prstGeom>
              <a:blipFill rotWithShape="0">
                <a:blip r:embed="rId16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xmlns="" id="{B4CEBDDE-7EB5-3303-92F7-B2C856D7B34B}"/>
                  </a:ext>
                </a:extLst>
              </p:cNvPr>
              <p:cNvSpPr txBox="1"/>
              <p:nvPr/>
            </p:nvSpPr>
            <p:spPr>
              <a:xfrm>
                <a:off x="1171554" y="3400656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4CEBDDE-7EB5-3303-92F7-B2C856D7B3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1554" y="3400656"/>
                <a:ext cx="381000" cy="369332"/>
              </a:xfrm>
              <a:prstGeom prst="rect">
                <a:avLst/>
              </a:prstGeom>
              <a:blipFill rotWithShape="0">
                <a:blip r:embed="rId17"/>
                <a:stretch>
                  <a:fillRect l="-4762" r="-125397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xmlns="" id="{84E3CEF5-B70C-4E2C-AFE9-460F2B6C86F5}"/>
                  </a:ext>
                </a:extLst>
              </p:cNvPr>
              <p:cNvSpPr txBox="1"/>
              <p:nvPr/>
            </p:nvSpPr>
            <p:spPr>
              <a:xfrm>
                <a:off x="2171777" y="3425739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{3}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4E3CEF5-B70C-4E2C-AFE9-460F2B6C86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1777" y="3425739"/>
                <a:ext cx="381000" cy="369332"/>
              </a:xfrm>
              <a:prstGeom prst="rect">
                <a:avLst/>
              </a:prstGeom>
              <a:blipFill rotWithShape="0">
                <a:blip r:embed="rId18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xmlns="" id="{B3D4FF47-2030-6FF2-3364-B2844A327220}"/>
              </a:ext>
            </a:extLst>
          </p:cNvPr>
          <p:cNvCxnSpPr/>
          <p:nvPr/>
        </p:nvCxnSpPr>
        <p:spPr>
          <a:xfrm flipV="1">
            <a:off x="2124085" y="3138482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xmlns="" id="{8A37DD66-C4F8-3B33-E7B8-3203AE7C1217}"/>
              </a:ext>
            </a:extLst>
          </p:cNvPr>
          <p:cNvCxnSpPr/>
          <p:nvPr/>
        </p:nvCxnSpPr>
        <p:spPr>
          <a:xfrm>
            <a:off x="2652699" y="3141738"/>
            <a:ext cx="642975" cy="365416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C2F0BB43-795B-7898-720A-BA9D199AC409}"/>
              </a:ext>
            </a:extLst>
          </p:cNvPr>
          <p:cNvSpPr txBox="1"/>
          <p:nvPr/>
        </p:nvSpPr>
        <p:spPr>
          <a:xfrm>
            <a:off x="2589585" y="2742439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xmlns="" id="{F1D16992-9A95-D7BD-48DA-161695F93DD1}"/>
                  </a:ext>
                </a:extLst>
              </p:cNvPr>
              <p:cNvSpPr txBox="1"/>
              <p:nvPr/>
            </p:nvSpPr>
            <p:spPr>
              <a:xfrm>
                <a:off x="2767060" y="349884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{4}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1D16992-9A95-D7BD-48DA-161695F93D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7060" y="3498842"/>
                <a:ext cx="381000" cy="369332"/>
              </a:xfrm>
              <a:prstGeom prst="rect">
                <a:avLst/>
              </a:prstGeom>
              <a:blipFill rotWithShape="0">
                <a:blip r:embed="rId19"/>
                <a:stretch>
                  <a:fillRect l="-6452" r="-35484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xmlns="" id="{ADEA44E2-B27F-598B-8A37-339456940436}"/>
                  </a:ext>
                </a:extLst>
              </p:cNvPr>
              <p:cNvSpPr txBox="1"/>
              <p:nvPr/>
            </p:nvSpPr>
            <p:spPr>
              <a:xfrm>
                <a:off x="3279007" y="349884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{4}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DEA44E2-B27F-598B-8A37-3394569404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9007" y="3498842"/>
                <a:ext cx="381000" cy="369332"/>
              </a:xfrm>
              <a:prstGeom prst="rect">
                <a:avLst/>
              </a:prstGeom>
              <a:blipFill rotWithShape="0">
                <a:blip r:embed="rId20"/>
                <a:stretch>
                  <a:fillRect l="-6452" r="-35484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xmlns="" id="{F5BFB1C0-0429-589B-6137-8D35368D4533}"/>
                  </a:ext>
                </a:extLst>
              </p:cNvPr>
              <p:cNvSpPr txBox="1"/>
              <p:nvPr/>
            </p:nvSpPr>
            <p:spPr>
              <a:xfrm>
                <a:off x="1783597" y="285089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5BFB1C0-0429-589B-6137-8D35368D45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3597" y="2850892"/>
                <a:ext cx="381000" cy="369332"/>
              </a:xfrm>
              <a:prstGeom prst="rect">
                <a:avLst/>
              </a:prstGeom>
              <a:blipFill rotWithShape="0">
                <a:blip r:embed="rId21"/>
                <a:stretch>
                  <a:fillRect l="-6452" r="-127419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xmlns="" id="{DF14578F-9227-03AD-99DF-26493E7C51AB}"/>
                  </a:ext>
                </a:extLst>
              </p:cNvPr>
              <p:cNvSpPr txBox="1"/>
              <p:nvPr/>
            </p:nvSpPr>
            <p:spPr>
              <a:xfrm>
                <a:off x="2795623" y="289275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{4}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DF14578F-9227-03AD-99DF-26493E7C51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5623" y="2892754"/>
                <a:ext cx="381000" cy="369332"/>
              </a:xfrm>
              <a:prstGeom prst="rect">
                <a:avLst/>
              </a:prstGeom>
              <a:blipFill rotWithShape="0">
                <a:blip r:embed="rId22"/>
                <a:stretch>
                  <a:fillRect l="-6452" r="-35484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xmlns="" id="{A30D7C96-8559-F143-1271-BD9062DDC7D0}"/>
              </a:ext>
            </a:extLst>
          </p:cNvPr>
          <p:cNvCxnSpPr/>
          <p:nvPr/>
        </p:nvCxnSpPr>
        <p:spPr>
          <a:xfrm flipV="1">
            <a:off x="2790846" y="2619367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xmlns="" id="{8F6448A4-8BF5-D2D3-A38E-009AEAC3E897}"/>
              </a:ext>
            </a:extLst>
          </p:cNvPr>
          <p:cNvCxnSpPr/>
          <p:nvPr/>
        </p:nvCxnSpPr>
        <p:spPr>
          <a:xfrm>
            <a:off x="3315879" y="2617940"/>
            <a:ext cx="652579" cy="370050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xmlns="" id="{89454487-6A46-B5ED-35E2-38B7F5A4C2DA}"/>
              </a:ext>
            </a:extLst>
          </p:cNvPr>
          <p:cNvSpPr txBox="1"/>
          <p:nvPr/>
        </p:nvSpPr>
        <p:spPr>
          <a:xfrm>
            <a:off x="3240817" y="2223048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xmlns="" id="{09C9FA3D-7B4A-D548-4FE4-0473523067C4}"/>
                  </a:ext>
                </a:extLst>
              </p:cNvPr>
              <p:cNvSpPr txBox="1"/>
              <p:nvPr/>
            </p:nvSpPr>
            <p:spPr>
              <a:xfrm>
                <a:off x="3433821" y="297972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{5}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9C9FA3D-7B4A-D548-4FE4-0473523067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821" y="2979727"/>
                <a:ext cx="381000" cy="369332"/>
              </a:xfrm>
              <a:prstGeom prst="rect">
                <a:avLst/>
              </a:prstGeom>
              <a:blipFill rotWithShape="0">
                <a:blip r:embed="rId23"/>
                <a:stretch>
                  <a:fillRect l="-4762" r="-34921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xmlns="" id="{4C9BE60F-41EA-A90D-8897-37D9888A2DD1}"/>
                  </a:ext>
                </a:extLst>
              </p:cNvPr>
              <p:cNvSpPr txBox="1"/>
              <p:nvPr/>
            </p:nvSpPr>
            <p:spPr>
              <a:xfrm>
                <a:off x="3945768" y="297972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{5}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4C9BE60F-41EA-A90D-8897-37D9888A2D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5768" y="2979727"/>
                <a:ext cx="381000" cy="369332"/>
              </a:xfrm>
              <a:prstGeom prst="rect">
                <a:avLst/>
              </a:prstGeom>
              <a:blipFill rotWithShape="0">
                <a:blip r:embed="rId24"/>
                <a:stretch>
                  <a:fillRect l="-4762" r="-34921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xmlns="" id="{BEEF355A-8FCC-47FC-C5A7-FFAEF751B472}"/>
                  </a:ext>
                </a:extLst>
              </p:cNvPr>
              <p:cNvSpPr txBox="1"/>
              <p:nvPr/>
            </p:nvSpPr>
            <p:spPr>
              <a:xfrm>
                <a:off x="2505063" y="2303199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EEF355A-8FCC-47FC-C5A7-FFAEF751B4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5063" y="2303199"/>
                <a:ext cx="381000" cy="369332"/>
              </a:xfrm>
              <a:prstGeom prst="rect">
                <a:avLst/>
              </a:prstGeom>
              <a:blipFill rotWithShape="0">
                <a:blip r:embed="rId25"/>
                <a:stretch>
                  <a:fillRect l="-6452" r="-127419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xmlns="" id="{3938CA2D-9EDA-8459-7A8E-0136C0C0A45A}"/>
                  </a:ext>
                </a:extLst>
              </p:cNvPr>
              <p:cNvSpPr txBox="1"/>
              <p:nvPr/>
            </p:nvSpPr>
            <p:spPr>
              <a:xfrm>
                <a:off x="3433790" y="2316473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{5}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3938CA2D-9EDA-8459-7A8E-0136C0C0A4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790" y="2316473"/>
                <a:ext cx="381000" cy="369332"/>
              </a:xfrm>
              <a:prstGeom prst="rect">
                <a:avLst/>
              </a:prstGeom>
              <a:blipFill rotWithShape="0">
                <a:blip r:embed="rId26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xmlns="" id="{735AB74C-B622-7996-0AAD-CB4C3E92BE2B}"/>
              </a:ext>
            </a:extLst>
          </p:cNvPr>
          <p:cNvCxnSpPr/>
          <p:nvPr/>
        </p:nvCxnSpPr>
        <p:spPr>
          <a:xfrm flipV="1">
            <a:off x="3419496" y="2105011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xmlns="" id="{C3F8100A-44E6-7D1B-FEAD-8D4CFC6FFEB3}"/>
              </a:ext>
            </a:extLst>
          </p:cNvPr>
          <p:cNvCxnSpPr/>
          <p:nvPr/>
        </p:nvCxnSpPr>
        <p:spPr>
          <a:xfrm>
            <a:off x="3956506" y="2110987"/>
            <a:ext cx="615488" cy="376217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892BCC58-33E8-276B-D77C-B70628B916BC}"/>
              </a:ext>
            </a:extLst>
          </p:cNvPr>
          <p:cNvSpPr txBox="1"/>
          <p:nvPr/>
        </p:nvSpPr>
        <p:spPr>
          <a:xfrm>
            <a:off x="3843953" y="1696510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xmlns="" id="{5D5D56B7-A387-2046-86DA-DD94F9821D6A}"/>
                  </a:ext>
                </a:extLst>
              </p:cNvPr>
              <p:cNvSpPr txBox="1"/>
              <p:nvPr/>
            </p:nvSpPr>
            <p:spPr>
              <a:xfrm>
                <a:off x="4062471" y="2465371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{6}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D5D56B7-A387-2046-86DA-DD94F9821D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2471" y="2465371"/>
                <a:ext cx="381000" cy="369332"/>
              </a:xfrm>
              <a:prstGeom prst="rect">
                <a:avLst/>
              </a:prstGeom>
              <a:blipFill rotWithShape="0">
                <a:blip r:embed="rId27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xmlns="" id="{904E27B8-CB0A-7479-CB4E-2862D6E3F3CC}"/>
                  </a:ext>
                </a:extLst>
              </p:cNvPr>
              <p:cNvSpPr txBox="1"/>
              <p:nvPr/>
            </p:nvSpPr>
            <p:spPr>
              <a:xfrm>
                <a:off x="4574418" y="2465371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{6}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904E27B8-CB0A-7479-CB4E-2862D6E3F3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4418" y="2465371"/>
                <a:ext cx="381000" cy="369332"/>
              </a:xfrm>
              <a:prstGeom prst="rect">
                <a:avLst/>
              </a:prstGeom>
              <a:blipFill rotWithShape="0">
                <a:blip r:embed="rId28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xmlns="" id="{2D2BA8C8-5042-57DE-AE24-6EA3A2F3C8E7}"/>
                  </a:ext>
                </a:extLst>
              </p:cNvPr>
              <p:cNvSpPr txBox="1"/>
              <p:nvPr/>
            </p:nvSpPr>
            <p:spPr>
              <a:xfrm>
                <a:off x="3133713" y="1788843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D2BA8C8-5042-57DE-AE24-6EA3A2F3C8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3713" y="1788843"/>
                <a:ext cx="381000" cy="369332"/>
              </a:xfrm>
              <a:prstGeom prst="rect">
                <a:avLst/>
              </a:prstGeom>
              <a:blipFill rotWithShape="0">
                <a:blip r:embed="rId29"/>
                <a:stretch>
                  <a:fillRect l="-4762" r="-125397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xmlns="" id="{AA7D6085-ACE6-8071-5662-2729C739A66E}"/>
                  </a:ext>
                </a:extLst>
              </p:cNvPr>
              <p:cNvSpPr txBox="1"/>
              <p:nvPr/>
            </p:nvSpPr>
            <p:spPr>
              <a:xfrm>
                <a:off x="4062440" y="180211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{6}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A7D6085-ACE6-8071-5662-2729C739A6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2440" y="1802117"/>
                <a:ext cx="381000" cy="369332"/>
              </a:xfrm>
              <a:prstGeom prst="rect">
                <a:avLst/>
              </a:prstGeom>
              <a:blipFill rotWithShape="0">
                <a:blip r:embed="rId30"/>
                <a:stretch>
                  <a:fillRect l="-4762" r="-34921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xmlns="" id="{6A26D427-D185-8BF9-3F69-BB58D9B9B223}"/>
                  </a:ext>
                </a:extLst>
              </p:cNvPr>
              <p:cNvSpPr txBox="1"/>
              <p:nvPr/>
            </p:nvSpPr>
            <p:spPr>
              <a:xfrm>
                <a:off x="3090886" y="349884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A26D427-D185-8BF9-3F69-BB58D9B9B2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0886" y="3498842"/>
                <a:ext cx="381000" cy="369332"/>
              </a:xfrm>
              <a:prstGeom prst="rect">
                <a:avLst/>
              </a:prstGeom>
              <a:blipFill rotWithShape="0"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xmlns="" id="{6475D015-2917-297A-E6D8-539AD2E035C3}"/>
                  </a:ext>
                </a:extLst>
              </p:cNvPr>
              <p:cNvSpPr txBox="1"/>
              <p:nvPr/>
            </p:nvSpPr>
            <p:spPr>
              <a:xfrm>
                <a:off x="3757694" y="299630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475D015-2917-297A-E6D8-539AD2E035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7694" y="2996302"/>
                <a:ext cx="381000" cy="369332"/>
              </a:xfrm>
              <a:prstGeom prst="rect">
                <a:avLst/>
              </a:prstGeom>
              <a:blipFill rotWithShape="0"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xmlns="" id="{238493D3-1744-803B-056A-21BE0D5D1A4F}"/>
                  </a:ext>
                </a:extLst>
              </p:cNvPr>
              <p:cNvSpPr txBox="1"/>
              <p:nvPr/>
            </p:nvSpPr>
            <p:spPr>
              <a:xfrm>
                <a:off x="4387470" y="248122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#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38493D3-1744-803B-056A-21BE0D5D1A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7470" y="2481228"/>
                <a:ext cx="381000" cy="369332"/>
              </a:xfrm>
              <a:prstGeom prst="rect">
                <a:avLst/>
              </a:prstGeom>
              <a:blipFill rotWithShape="0"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Oval 50">
            <a:extLst>
              <a:ext uri="{FF2B5EF4-FFF2-40B4-BE49-F238E27FC236}">
                <a16:creationId xmlns:a16="http://schemas.microsoft.com/office/drawing/2014/main" xmlns="" id="{FAB4C45B-DC35-F571-AADD-C88EE341EE91}"/>
              </a:ext>
            </a:extLst>
          </p:cNvPr>
          <p:cNvSpPr/>
          <p:nvPr/>
        </p:nvSpPr>
        <p:spPr>
          <a:xfrm>
            <a:off x="1364032" y="4072764"/>
            <a:ext cx="252408" cy="37946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xmlns="" id="{5673DDC6-C843-76D1-1125-61F5DE954B87}"/>
              </a:ext>
            </a:extLst>
          </p:cNvPr>
          <p:cNvSpPr txBox="1"/>
          <p:nvPr/>
        </p:nvSpPr>
        <p:spPr>
          <a:xfrm>
            <a:off x="384551" y="1038503"/>
            <a:ext cx="4410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+mj-lt"/>
              </a:rPr>
              <a:t>Step 4: Calculate followpos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xmlns="" id="{383B1B4A-E4BE-8D8C-DA1D-B58809E5373C}"/>
                  </a:ext>
                </a:extLst>
              </p:cNvPr>
              <p:cNvSpPr txBox="1"/>
              <p:nvPr/>
            </p:nvSpPr>
            <p:spPr>
              <a:xfrm>
                <a:off x="731045" y="591679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383B1B4A-E4BE-8D8C-DA1D-B58809E53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045" y="5916794"/>
                <a:ext cx="381000" cy="369332"/>
              </a:xfrm>
              <a:prstGeom prst="rect">
                <a:avLst/>
              </a:prstGeom>
              <a:blipFill rotWithShape="0"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xmlns="" id="{1314C1D9-6934-D630-DD60-6B5D41476CAD}"/>
                  </a:ext>
                </a:extLst>
              </p:cNvPr>
              <p:cNvSpPr txBox="1"/>
              <p:nvPr/>
            </p:nvSpPr>
            <p:spPr>
              <a:xfrm>
                <a:off x="1838325" y="5900601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314C1D9-6934-D630-DD60-6B5D41476C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325" y="5900601"/>
                <a:ext cx="381000" cy="369332"/>
              </a:xfrm>
              <a:prstGeom prst="rect">
                <a:avLst/>
              </a:prstGeom>
              <a:blipFill rotWithShape="0"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xmlns="" id="{0BAC94E1-4989-97A1-C5BC-5CCA5F1A39B5}"/>
                  </a:ext>
                </a:extLst>
              </p:cNvPr>
              <p:cNvSpPr txBox="1"/>
              <p:nvPr/>
            </p:nvSpPr>
            <p:spPr>
              <a:xfrm>
                <a:off x="3114683" y="383198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BAC94E1-4989-97A1-C5BC-5CCA5F1A39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4683" y="3831988"/>
                <a:ext cx="381000" cy="369332"/>
              </a:xfrm>
              <a:prstGeom prst="rect">
                <a:avLst/>
              </a:prstGeom>
              <a:blipFill rotWithShape="0"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xmlns="" id="{D995A803-F30B-186D-59F1-08DE34E5A2F2}"/>
                  </a:ext>
                </a:extLst>
              </p:cNvPr>
              <p:cNvSpPr txBox="1"/>
              <p:nvPr/>
            </p:nvSpPr>
            <p:spPr>
              <a:xfrm>
                <a:off x="2462199" y="4412930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D995A803-F30B-186D-59F1-08DE34E5A2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2199" y="4412930"/>
                <a:ext cx="381000" cy="369332"/>
              </a:xfrm>
              <a:prstGeom prst="rect">
                <a:avLst/>
              </a:prstGeom>
              <a:blipFill rotWithShape="0"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xmlns="" id="{B1B1CFBA-AA4F-79EF-8723-04F92504E20C}"/>
                  </a:ext>
                </a:extLst>
              </p:cNvPr>
              <p:cNvSpPr txBox="1"/>
              <p:nvPr/>
            </p:nvSpPr>
            <p:spPr>
              <a:xfrm>
                <a:off x="3767138" y="3315635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1B1CFBA-AA4F-79EF-8723-04F92504E2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7138" y="3315635"/>
                <a:ext cx="381000" cy="369332"/>
              </a:xfrm>
              <a:prstGeom prst="rect">
                <a:avLst/>
              </a:prstGeom>
              <a:blipFill rotWithShape="0"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xmlns="" id="{27752F03-1A83-DFE2-EE9B-B79318CCE34C}"/>
                  </a:ext>
                </a:extLst>
              </p:cNvPr>
              <p:cNvSpPr txBox="1"/>
              <p:nvPr/>
            </p:nvSpPr>
            <p:spPr>
              <a:xfrm>
                <a:off x="4394564" y="2772419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7752F03-1A83-DFE2-EE9B-B79318CCE3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4564" y="2772419"/>
                <a:ext cx="381000" cy="369332"/>
              </a:xfrm>
              <a:prstGeom prst="rect">
                <a:avLst/>
              </a:prstGeom>
              <a:blipFill rotWithShape="0"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Rectangle 58">
            <a:extLst>
              <a:ext uri="{FF2B5EF4-FFF2-40B4-BE49-F238E27FC236}">
                <a16:creationId xmlns:a16="http://schemas.microsoft.com/office/drawing/2014/main" xmlns="" id="{30A18D0A-AA0B-CB46-2AA4-C69A083DF499}"/>
              </a:ext>
            </a:extLst>
          </p:cNvPr>
          <p:cNvSpPr/>
          <p:nvPr/>
        </p:nvSpPr>
        <p:spPr>
          <a:xfrm>
            <a:off x="4443390" y="3430275"/>
            <a:ext cx="4306722" cy="2945336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graphicFrame>
        <p:nvGraphicFramePr>
          <p:cNvPr id="60" name="Content Placeholder 3">
            <a:extLst>
              <a:ext uri="{FF2B5EF4-FFF2-40B4-BE49-F238E27FC236}">
                <a16:creationId xmlns:a16="http://schemas.microsoft.com/office/drawing/2014/main" xmlns="" id="{A7B9D554-A08E-380E-4F38-1B2B0C4ED8DC}"/>
              </a:ext>
            </a:extLst>
          </p:cNvPr>
          <p:cNvGraphicFramePr/>
          <p:nvPr>
            <p:extLst/>
          </p:nvPr>
        </p:nvGraphicFramePr>
        <p:xfrm>
          <a:off x="6400800" y="1510275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6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xmlns="" id="{71FC8889-1796-A0A2-04A7-50A32CD03141}"/>
                  </a:ext>
                </a:extLst>
              </p:cNvPr>
              <p:cNvSpPr txBox="1"/>
              <p:nvPr/>
            </p:nvSpPr>
            <p:spPr>
              <a:xfrm>
                <a:off x="5174437" y="4040373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1FC8889-1796-A0A2-04A7-50A32CD031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4437" y="4040373"/>
                <a:ext cx="381000" cy="369332"/>
              </a:xfrm>
              <a:prstGeom prst="rect">
                <a:avLst/>
              </a:prstGeom>
              <a:blipFill rotWithShape="0">
                <a:blip r:embed="rId40"/>
                <a:stretch>
                  <a:fillRect l="-6452" r="-127419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xmlns="" id="{24FA0E85-1191-54D9-E733-44BA1D21ECF4}"/>
                  </a:ext>
                </a:extLst>
              </p:cNvPr>
              <p:cNvSpPr txBox="1"/>
              <p:nvPr/>
            </p:nvSpPr>
            <p:spPr>
              <a:xfrm>
                <a:off x="6146119" y="405605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{3}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4FA0E85-1191-54D9-E733-44BA1D21EC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6119" y="4056057"/>
                <a:ext cx="381000" cy="369332"/>
              </a:xfrm>
              <a:prstGeom prst="rect">
                <a:avLst/>
              </a:prstGeom>
              <a:blipFill rotWithShape="0">
                <a:blip r:embed="rId41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xmlns="" id="{18B79759-9EBA-6209-B1C6-F479F5CF8A67}"/>
              </a:ext>
            </a:extLst>
          </p:cNvPr>
          <p:cNvCxnSpPr/>
          <p:nvPr/>
        </p:nvCxnSpPr>
        <p:spPr>
          <a:xfrm flipV="1">
            <a:off x="6115080" y="3757610"/>
            <a:ext cx="547692" cy="366642"/>
          </a:xfrm>
          <a:prstGeom prst="line">
            <a:avLst/>
          </a:prstGeom>
          <a:ln w="25400">
            <a:solidFill>
              <a:srgbClr val="9C1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xmlns="" id="{42F32E3E-B305-4856-AFBB-90F18F7FA877}"/>
              </a:ext>
            </a:extLst>
          </p:cNvPr>
          <p:cNvCxnSpPr/>
          <p:nvPr/>
        </p:nvCxnSpPr>
        <p:spPr>
          <a:xfrm>
            <a:off x="6658066" y="3757610"/>
            <a:ext cx="615488" cy="376217"/>
          </a:xfrm>
          <a:prstGeom prst="line">
            <a:avLst/>
          </a:prstGeom>
          <a:ln w="25400">
            <a:solidFill>
              <a:srgbClr val="9C1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xmlns="" id="{8B611178-099C-D872-E2BE-0C81E16B58B9}"/>
              </a:ext>
            </a:extLst>
          </p:cNvPr>
          <p:cNvSpPr txBox="1"/>
          <p:nvPr/>
        </p:nvSpPr>
        <p:spPr>
          <a:xfrm>
            <a:off x="6539537" y="3349109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xmlns="" id="{8AC66D95-1442-B2B2-A181-743052B7B81E}"/>
                  </a:ext>
                </a:extLst>
              </p:cNvPr>
              <p:cNvSpPr txBox="1"/>
              <p:nvPr/>
            </p:nvSpPr>
            <p:spPr>
              <a:xfrm>
                <a:off x="6687811" y="407491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{4}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AC66D95-1442-B2B2-A181-743052B7B8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7811" y="4074918"/>
                <a:ext cx="381000" cy="369332"/>
              </a:xfrm>
              <a:prstGeom prst="rect">
                <a:avLst/>
              </a:prstGeom>
              <a:blipFill rotWithShape="0">
                <a:blip r:embed="rId42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xmlns="" id="{09354203-0704-3DFC-B74F-0DCE46D30A78}"/>
                  </a:ext>
                </a:extLst>
              </p:cNvPr>
              <p:cNvSpPr txBox="1"/>
              <p:nvPr/>
            </p:nvSpPr>
            <p:spPr>
              <a:xfrm>
                <a:off x="7357969" y="405903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{4}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9354203-0704-3DFC-B74F-0DCE46D30A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7969" y="4059037"/>
                <a:ext cx="381000" cy="369332"/>
              </a:xfrm>
              <a:prstGeom prst="rect">
                <a:avLst/>
              </a:prstGeom>
              <a:blipFill rotWithShape="0">
                <a:blip r:embed="rId43"/>
                <a:stretch>
                  <a:fillRect l="-4762" r="-34921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xmlns="" id="{FFE6322D-2ACD-00D7-59AA-61BADE98E4BB}"/>
                  </a:ext>
                </a:extLst>
              </p:cNvPr>
              <p:cNvSpPr txBox="1"/>
              <p:nvPr/>
            </p:nvSpPr>
            <p:spPr>
              <a:xfrm>
                <a:off x="5898993" y="412425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b="1" i="1" baseline="-2500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>
                  <a:latin typeface="+mj-lt"/>
                </a:endParaRPr>
              </a:p>
            </p:txBody>
          </p:sp>
        </mc:Choice>
        <mc:Fallback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FE6322D-2ACD-00D7-59AA-61BADE98E4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8993" y="4124252"/>
                <a:ext cx="381000" cy="369332"/>
              </a:xfrm>
              <a:prstGeom prst="rect">
                <a:avLst/>
              </a:prstGeom>
              <a:blipFill rotWithShape="0"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xmlns="" id="{1C94D0D4-4555-AB6A-2257-54FE9EBD19AD}"/>
                  </a:ext>
                </a:extLst>
              </p:cNvPr>
              <p:cNvSpPr txBox="1"/>
              <p:nvPr/>
            </p:nvSpPr>
            <p:spPr>
              <a:xfrm>
                <a:off x="7093850" y="412425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b="1" i="1" baseline="-25000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baseline="-25000">
                  <a:latin typeface="+mj-lt"/>
                </a:endParaRPr>
              </a:p>
            </p:txBody>
          </p:sp>
        </mc:Choice>
        <mc:Fallback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C94D0D4-4555-AB6A-2257-54FE9EBD19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3850" y="4124252"/>
                <a:ext cx="381000" cy="369332"/>
              </a:xfrm>
              <a:prstGeom prst="rect">
                <a:avLst/>
              </a:prstGeom>
              <a:blipFill rotWithShape="0"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xmlns="" id="{3201A2BF-C064-A437-CB51-4BB0BBF841C7}"/>
                  </a:ext>
                </a:extLst>
              </p:cNvPr>
              <p:cNvSpPr txBox="1"/>
              <p:nvPr/>
            </p:nvSpPr>
            <p:spPr>
              <a:xfrm>
                <a:off x="4450534" y="5011295"/>
                <a:ext cx="4299578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000" i="1" err="1">
                          <a:latin typeface="Cambria Math" panose="02040503050406030204" pitchFamily="18" charset="0"/>
                        </a:rPr>
                        <m:t>𝑙𝑎𝑠𝑡𝑝𝑜𝑠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000" i="1" baseline="-2500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 = {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000">
                  <a:latin typeface="+mj-lt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err="1">
                          <a:latin typeface="Cambria Math" panose="02040503050406030204" pitchFamily="18" charset="0"/>
                        </a:rPr>
                        <m:t>𝑓𝑖𝑟𝑠𝑡𝑝𝑜𝑠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000" i="1" baseline="-25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</m:oMath>
                  </m:oMathPara>
                </a14:m>
                <a:endParaRPr lang="en-US" sz="2000">
                  <a:latin typeface="+mj-lt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𝑓𝑜𝑙𝑙𝑜𝑤𝑝𝑜𝑠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sz="2000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</m:oMath>
                  </m:oMathPara>
                </a14:m>
                <a:endParaRPr lang="en-US" sz="2000">
                  <a:latin typeface="+mj-lt"/>
                </a:endParaRPr>
              </a:p>
            </p:txBody>
          </p:sp>
        </mc:Choice>
        <mc:Fallback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3201A2BF-C064-A437-CB51-4BB0BBF841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0534" y="5011295"/>
                <a:ext cx="4299578" cy="1015663"/>
              </a:xfrm>
              <a:prstGeom prst="rect">
                <a:avLst/>
              </a:prstGeom>
              <a:blipFill rotWithShape="0">
                <a:blip r:embed="rId46"/>
                <a:stretch>
                  <a:fillRect b="-5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1" name="Content Placeholder 3">
            <a:extLst>
              <a:ext uri="{FF2B5EF4-FFF2-40B4-BE49-F238E27FC236}">
                <a16:creationId xmlns:a16="http://schemas.microsoft.com/office/drawing/2014/main" xmlns="" id="{51FC5272-8798-139E-1706-478117FC53EC}"/>
              </a:ext>
            </a:extLst>
          </p:cNvPr>
          <p:cNvGraphicFramePr/>
          <p:nvPr>
            <p:extLst/>
          </p:nvPr>
        </p:nvGraphicFramePr>
        <p:xfrm>
          <a:off x="6400800" y="1905214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5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72" name="Content Placeholder 3">
            <a:extLst>
              <a:ext uri="{FF2B5EF4-FFF2-40B4-BE49-F238E27FC236}">
                <a16:creationId xmlns:a16="http://schemas.microsoft.com/office/drawing/2014/main" xmlns="" id="{A274B94F-F2A1-50A1-FBC6-95A424EF1734}"/>
              </a:ext>
            </a:extLst>
          </p:cNvPr>
          <p:cNvGraphicFramePr/>
          <p:nvPr>
            <p:extLst/>
          </p:nvPr>
        </p:nvGraphicFramePr>
        <p:xfrm>
          <a:off x="6400800" y="2290502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4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73" name="Rectangle 72">
            <a:extLst>
              <a:ext uri="{FF2B5EF4-FFF2-40B4-BE49-F238E27FC236}">
                <a16:creationId xmlns:a16="http://schemas.microsoft.com/office/drawing/2014/main" xmlns="" id="{BFAFC4B0-65A1-5F31-947F-AB63D8E0A16F}"/>
              </a:ext>
            </a:extLst>
          </p:cNvPr>
          <p:cNvSpPr/>
          <p:nvPr/>
        </p:nvSpPr>
        <p:spPr>
          <a:xfrm>
            <a:off x="-285030" y="1494750"/>
            <a:ext cx="2140820" cy="11102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err="1">
                <a:solidFill>
                  <a:srgbClr val="FF0000"/>
                </a:solidFill>
                <a:latin typeface="+mj-lt"/>
              </a:rPr>
              <a:t>Firstpos</a:t>
            </a:r>
            <a:endParaRPr lang="en-US" sz="2000" b="1">
              <a:solidFill>
                <a:srgbClr val="FF0000"/>
              </a:solidFill>
              <a:latin typeface="+mj-lt"/>
            </a:endParaRPr>
          </a:p>
          <a:p>
            <a:pPr algn="ctr"/>
            <a:r>
              <a:rPr lang="en-US" sz="2000" b="1" err="1">
                <a:solidFill>
                  <a:srgbClr val="009644"/>
                </a:solidFill>
                <a:latin typeface="+mj-lt"/>
              </a:rPr>
              <a:t>Lastpos</a:t>
            </a:r>
            <a:r>
              <a:rPr lang="en-US">
                <a:solidFill>
                  <a:srgbClr val="FF0000"/>
                </a:solidFill>
                <a:latin typeface="+mj-lt"/>
              </a:rPr>
              <a:t> 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xmlns="" id="{797A3EAD-02D5-ABDA-5E4C-AA069710B7C1}"/>
              </a:ext>
            </a:extLst>
          </p:cNvPr>
          <p:cNvCxnSpPr/>
          <p:nvPr/>
        </p:nvCxnSpPr>
        <p:spPr>
          <a:xfrm>
            <a:off x="1246190" y="1928449"/>
            <a:ext cx="30480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xmlns="" id="{716FB9AB-97B9-651B-12F9-99E2515C4DA1}"/>
              </a:ext>
            </a:extLst>
          </p:cNvPr>
          <p:cNvCxnSpPr/>
          <p:nvPr/>
        </p:nvCxnSpPr>
        <p:spPr>
          <a:xfrm>
            <a:off x="1246190" y="2244617"/>
            <a:ext cx="304800" cy="0"/>
          </a:xfrm>
          <a:prstGeom prst="line">
            <a:avLst/>
          </a:prstGeom>
          <a:ln w="25400">
            <a:solidFill>
              <a:srgbClr val="0096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urved Connector 76">
            <a:extLst>
              <a:ext uri="{FF2B5EF4-FFF2-40B4-BE49-F238E27FC236}">
                <a16:creationId xmlns:a16="http://schemas.microsoft.com/office/drawing/2014/main" xmlns="" id="{36014B83-A688-E3CF-AF4C-46FC4391DD87}"/>
              </a:ext>
            </a:extLst>
          </p:cNvPr>
          <p:cNvCxnSpPr/>
          <p:nvPr/>
        </p:nvCxnSpPr>
        <p:spPr>
          <a:xfrm rot="5400000" flipH="1">
            <a:off x="2659380" y="3457904"/>
            <a:ext cx="148898" cy="628681"/>
          </a:xfrm>
          <a:prstGeom prst="curvedConnector3">
            <a:avLst>
              <a:gd name="adj1" fmla="val -86360"/>
            </a:avLst>
          </a:prstGeom>
          <a:ln w="22225">
            <a:solidFill>
              <a:schemeClr val="accent2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3628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9C107E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9C107E"/>
                                      </p:to>
                                    </p:animClr>
                                    <p:set>
                                      <p:cBhvr>
                                        <p:cTn id="10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2" presetClass="emph" presetSubtype="0" dur="1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32" presetClass="emph" presetSubtype="0" dur="1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61" grpId="0"/>
      <p:bldP spid="62" grpId="0"/>
      <p:bldP spid="65" grpId="0"/>
      <p:bldP spid="66" grpId="0"/>
      <p:bldP spid="67" grpId="0"/>
      <p:bldP spid="68" grpId="0"/>
      <p:bldP spid="69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E155311-044C-16E5-FD2E-E638DDDC8826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Conversion from regular expression to DFA</a:t>
            </a:r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xmlns="" id="{082242EA-99E5-305F-ADB5-007ADFA4F33C}"/>
              </a:ext>
            </a:extLst>
          </p:cNvPr>
          <p:cNvGraphicFramePr/>
          <p:nvPr>
            <p:extLst/>
          </p:nvPr>
        </p:nvGraphicFramePr>
        <p:xfrm>
          <a:off x="6400800" y="1141245"/>
          <a:ext cx="2349312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Position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err="1"/>
                        <a:t>followpos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xmlns="" id="{804796C1-ABBE-597A-2D5D-BA6140635D93}"/>
                  </a:ext>
                </a:extLst>
              </p:cNvPr>
              <p:cNvSpPr txBox="1"/>
              <p:nvPr/>
            </p:nvSpPr>
            <p:spPr>
              <a:xfrm>
                <a:off x="738189" y="555997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04796C1-ABBE-597A-2D5D-BA6140635D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189" y="5559972"/>
                <a:ext cx="381000" cy="369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5800C063-E4D0-361F-5BE2-F0B9EB3C8E59}"/>
                  </a:ext>
                </a:extLst>
              </p:cNvPr>
              <p:cNvSpPr txBox="1"/>
              <p:nvPr/>
            </p:nvSpPr>
            <p:spPr>
              <a:xfrm>
                <a:off x="1838325" y="5574260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800C063-E4D0-361F-5BE2-F0B9EB3C8E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325" y="5574260"/>
                <a:ext cx="381000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="" id="{B3A16723-ADDE-163D-0266-F93FCB0C486D}"/>
                  </a:ext>
                </a:extLst>
              </p:cNvPr>
              <p:cNvSpPr txBox="1"/>
              <p:nvPr/>
            </p:nvSpPr>
            <p:spPr>
              <a:xfrm>
                <a:off x="1295400" y="4857744"/>
                <a:ext cx="381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sz="2000" b="1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3A16723-ADDE-163D-0266-F93FCB0C48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4857744"/>
                <a:ext cx="381000" cy="400110"/>
              </a:xfrm>
              <a:prstGeom prst="rect">
                <a:avLst/>
              </a:prstGeom>
              <a:blipFill rotWithShape="0">
                <a:blip r:embed="rId4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A34C7103-E3E4-C16D-A0A3-FBDB58E3F9B0}"/>
              </a:ext>
            </a:extLst>
          </p:cNvPr>
          <p:cNvCxnSpPr>
            <a:stCxn id="4" idx="0"/>
          </p:cNvCxnSpPr>
          <p:nvPr/>
        </p:nvCxnSpPr>
        <p:spPr>
          <a:xfrm flipV="1">
            <a:off x="928689" y="5260797"/>
            <a:ext cx="557211" cy="299175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2E4DED68-FCAF-B3CF-3406-0996B67C56FD}"/>
              </a:ext>
            </a:extLst>
          </p:cNvPr>
          <p:cNvCxnSpPr/>
          <p:nvPr/>
        </p:nvCxnSpPr>
        <p:spPr>
          <a:xfrm>
            <a:off x="1473948" y="5266166"/>
            <a:ext cx="542925" cy="302118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5F852E79-BFA3-367E-7F72-820D37F163C8}"/>
              </a:ext>
            </a:extLst>
          </p:cNvPr>
          <p:cNvCxnSpPr>
            <a:stCxn id="12" idx="0"/>
          </p:cNvCxnSpPr>
          <p:nvPr/>
        </p:nvCxnSpPr>
        <p:spPr>
          <a:xfrm flipV="1">
            <a:off x="1485900" y="3700464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CA055D06-90A6-F86D-7104-9CE9068D5DAC}"/>
              </a:ext>
            </a:extLst>
          </p:cNvPr>
          <p:cNvCxnSpPr/>
          <p:nvPr/>
        </p:nvCxnSpPr>
        <p:spPr>
          <a:xfrm>
            <a:off x="2028825" y="3711900"/>
            <a:ext cx="609586" cy="360557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xmlns="" id="{3B2436E0-3976-90D2-3FE8-41CB553A1D35}"/>
              </a:ext>
            </a:extLst>
          </p:cNvPr>
          <p:cNvCxnSpPr/>
          <p:nvPr/>
        </p:nvCxnSpPr>
        <p:spPr>
          <a:xfrm flipH="1" flipV="1">
            <a:off x="1485900" y="4452936"/>
            <a:ext cx="0" cy="361944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ABBA02C8-9138-8F6B-B246-E2A62A815F95}"/>
                  </a:ext>
                </a:extLst>
              </p:cNvPr>
              <p:cNvSpPr txBox="1"/>
              <p:nvPr/>
            </p:nvSpPr>
            <p:spPr>
              <a:xfrm>
                <a:off x="1295400" y="4067106"/>
                <a:ext cx="381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US" sz="2000" b="1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BBA02C8-9138-8F6B-B246-E2A62A815F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4067106"/>
                <a:ext cx="381000" cy="40011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9A6D8245-0BC1-53C9-277D-A9AFAA3EB4E3}"/>
              </a:ext>
            </a:extLst>
          </p:cNvPr>
          <p:cNvSpPr txBox="1"/>
          <p:nvPr/>
        </p:nvSpPr>
        <p:spPr>
          <a:xfrm>
            <a:off x="1947914" y="3289199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0ACA3037-9913-AF7A-F20B-A7F8A6A144CD}"/>
                  </a:ext>
                </a:extLst>
              </p:cNvPr>
              <p:cNvSpPr txBox="1"/>
              <p:nvPr/>
            </p:nvSpPr>
            <p:spPr>
              <a:xfrm>
                <a:off x="442914" y="5784876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ACA3037-9913-AF7A-F20B-A7F8A6A144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914" y="5784876"/>
                <a:ext cx="381000" cy="369332"/>
              </a:xfrm>
              <a:prstGeom prst="rect">
                <a:avLst/>
              </a:prstGeom>
              <a:blipFill rotWithShape="0">
                <a:blip r:embed="rId6"/>
                <a:stretch>
                  <a:fillRect l="-6452" r="-35484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xmlns="" id="{77F7505A-1DE1-BC39-9DBD-08A8A2B3C042}"/>
                  </a:ext>
                </a:extLst>
              </p:cNvPr>
              <p:cNvSpPr txBox="1"/>
              <p:nvPr/>
            </p:nvSpPr>
            <p:spPr>
              <a:xfrm>
                <a:off x="892968" y="5784876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{1}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7F7505A-1DE1-BC39-9DBD-08A8A2B3C0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968" y="5784876"/>
                <a:ext cx="381000" cy="369332"/>
              </a:xfrm>
              <a:prstGeom prst="rect">
                <a:avLst/>
              </a:prstGeom>
              <a:blipFill rotWithShape="0">
                <a:blip r:embed="rId7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xmlns="" id="{8751C493-2CA4-71FF-2D6E-920949219B41}"/>
                  </a:ext>
                </a:extLst>
              </p:cNvPr>
              <p:cNvSpPr txBox="1"/>
              <p:nvPr/>
            </p:nvSpPr>
            <p:spPr>
              <a:xfrm>
                <a:off x="1566872" y="578010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{2}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751C493-2CA4-71FF-2D6E-920949219B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6872" y="5780108"/>
                <a:ext cx="381000" cy="369332"/>
              </a:xfrm>
              <a:prstGeom prst="rect">
                <a:avLst/>
              </a:prstGeom>
              <a:blipFill rotWithShape="0">
                <a:blip r:embed="rId8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xmlns="" id="{22662A6E-B518-B1EF-9593-EEFE4CA8A926}"/>
                  </a:ext>
                </a:extLst>
              </p:cNvPr>
              <p:cNvSpPr txBox="1"/>
              <p:nvPr/>
            </p:nvSpPr>
            <p:spPr>
              <a:xfrm>
                <a:off x="2016926" y="578010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9644"/>
                          </a:solidFill>
                          <a:latin typeface="Cambria Math" panose="02040503050406030204" pitchFamily="18" charset="0"/>
                        </a:rPr>
                        <m:t>{2}</m:t>
                      </m:r>
                    </m:oMath>
                  </m:oMathPara>
                </a14:m>
                <a:endParaRPr lang="en-US">
                  <a:solidFill>
                    <a:srgbClr val="009644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2662A6E-B518-B1EF-9593-EEFE4CA8A9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6926" y="5780108"/>
                <a:ext cx="381000" cy="369332"/>
              </a:xfrm>
              <a:prstGeom prst="rect">
                <a:avLst/>
              </a:prstGeom>
              <a:blipFill rotWithShape="0">
                <a:blip r:embed="rId9"/>
                <a:stretch>
                  <a:fillRect l="-6452" r="-35484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xmlns="" id="{C45D40B3-11EC-5550-8032-448D7A60FCE2}"/>
                  </a:ext>
                </a:extLst>
              </p:cNvPr>
              <p:cNvSpPr txBox="1"/>
              <p:nvPr/>
            </p:nvSpPr>
            <p:spPr>
              <a:xfrm>
                <a:off x="823914" y="490856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45D40B3-11EC-5550-8032-448D7A60FC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914" y="4908567"/>
                <a:ext cx="381000" cy="369332"/>
              </a:xfrm>
              <a:prstGeom prst="rect">
                <a:avLst/>
              </a:prstGeom>
              <a:blipFill rotWithShape="0">
                <a:blip r:embed="rId10"/>
                <a:stretch>
                  <a:fillRect l="-4762" r="-80952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xmlns="" id="{A8942838-DE6E-2B0B-1F3C-28432115895C}"/>
                  </a:ext>
                </a:extLst>
              </p:cNvPr>
              <p:cNvSpPr txBox="1"/>
              <p:nvPr/>
            </p:nvSpPr>
            <p:spPr>
              <a:xfrm>
                <a:off x="1473996" y="490856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8942838-DE6E-2B0B-1F3C-2843211589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3996" y="4908567"/>
                <a:ext cx="381000" cy="369332"/>
              </a:xfrm>
              <a:prstGeom prst="rect">
                <a:avLst/>
              </a:prstGeom>
              <a:blipFill rotWithShape="0">
                <a:blip r:embed="rId11"/>
                <a:stretch>
                  <a:fillRect l="-6452" r="-82258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xmlns="" id="{034BFE78-0860-FD77-ED10-EE0F14F7B31D}"/>
                  </a:ext>
                </a:extLst>
              </p:cNvPr>
              <p:cNvSpPr txBox="1"/>
              <p:nvPr/>
            </p:nvSpPr>
            <p:spPr>
              <a:xfrm>
                <a:off x="758216" y="407491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34BFE78-0860-FD77-ED10-EE0F14F7B3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216" y="4074918"/>
                <a:ext cx="381000" cy="369332"/>
              </a:xfrm>
              <a:prstGeom prst="rect">
                <a:avLst/>
              </a:prstGeom>
              <a:blipFill rotWithShape="0">
                <a:blip r:embed="rId12"/>
                <a:stretch>
                  <a:fillRect l="-4762" r="-80952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xmlns="" id="{F68AD329-EC50-19D8-7F8E-BD3E389F12EF}"/>
                  </a:ext>
                </a:extLst>
              </p:cNvPr>
              <p:cNvSpPr txBox="1"/>
              <p:nvPr/>
            </p:nvSpPr>
            <p:spPr>
              <a:xfrm>
                <a:off x="1591691" y="4090038"/>
                <a:ext cx="4071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68AD329-EC50-19D8-7F8E-BD3E389F12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1691" y="4090038"/>
                <a:ext cx="407191" cy="369332"/>
              </a:xfrm>
              <a:prstGeom prst="rect">
                <a:avLst/>
              </a:prstGeom>
              <a:blipFill rotWithShape="0">
                <a:blip r:embed="rId13"/>
                <a:stretch>
                  <a:fillRect l="-4478" r="-70149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xmlns="" id="{AFD2E2AE-E941-371F-BD06-8DE06F9D73BF}"/>
                  </a:ext>
                </a:extLst>
              </p:cNvPr>
              <p:cNvSpPr txBox="1"/>
              <p:nvPr/>
            </p:nvSpPr>
            <p:spPr>
              <a:xfrm>
                <a:off x="2447911" y="4040373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FD2E2AE-E941-371F-BD06-8DE06F9D73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7911" y="4040373"/>
                <a:ext cx="381000" cy="369332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xmlns="" id="{30FA349C-3869-647B-B448-8B820DDE9D52}"/>
                  </a:ext>
                </a:extLst>
              </p:cNvPr>
              <p:cNvSpPr txBox="1"/>
              <p:nvPr/>
            </p:nvSpPr>
            <p:spPr>
              <a:xfrm>
                <a:off x="2128875" y="406082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30FA349C-3869-647B-B448-8B820DDE9D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8875" y="4060824"/>
                <a:ext cx="381000" cy="369332"/>
              </a:xfrm>
              <a:prstGeom prst="rect">
                <a:avLst/>
              </a:prstGeom>
              <a:blipFill rotWithShape="0">
                <a:blip r:embed="rId15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xmlns="" id="{5067C8C6-83C5-606D-2E67-AF90300E4F15}"/>
                  </a:ext>
                </a:extLst>
              </p:cNvPr>
              <p:cNvSpPr txBox="1"/>
              <p:nvPr/>
            </p:nvSpPr>
            <p:spPr>
              <a:xfrm>
                <a:off x="2640822" y="406082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{3}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067C8C6-83C5-606D-2E67-AF90300E4F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0822" y="4060824"/>
                <a:ext cx="381000" cy="369332"/>
              </a:xfrm>
              <a:prstGeom prst="rect">
                <a:avLst/>
              </a:prstGeom>
              <a:blipFill rotWithShape="0">
                <a:blip r:embed="rId16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xmlns="" id="{C65A377E-F3EC-C1FF-19FC-0A34A5E8F323}"/>
                  </a:ext>
                </a:extLst>
              </p:cNvPr>
              <p:cNvSpPr txBox="1"/>
              <p:nvPr/>
            </p:nvSpPr>
            <p:spPr>
              <a:xfrm>
                <a:off x="1171554" y="3400656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65A377E-F3EC-C1FF-19FC-0A34A5E8F3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1554" y="3400656"/>
                <a:ext cx="381000" cy="369332"/>
              </a:xfrm>
              <a:prstGeom prst="rect">
                <a:avLst/>
              </a:prstGeom>
              <a:blipFill rotWithShape="0">
                <a:blip r:embed="rId17"/>
                <a:stretch>
                  <a:fillRect l="-4762" r="-125397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xmlns="" id="{0E8FC6BD-7AE2-5770-5DD2-C8803B433E9D}"/>
                  </a:ext>
                </a:extLst>
              </p:cNvPr>
              <p:cNvSpPr txBox="1"/>
              <p:nvPr/>
            </p:nvSpPr>
            <p:spPr>
              <a:xfrm>
                <a:off x="2171777" y="3425739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{3}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E8FC6BD-7AE2-5770-5DD2-C8803B433E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1777" y="3425739"/>
                <a:ext cx="381000" cy="369332"/>
              </a:xfrm>
              <a:prstGeom prst="rect">
                <a:avLst/>
              </a:prstGeom>
              <a:blipFill rotWithShape="0">
                <a:blip r:embed="rId18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xmlns="" id="{A089F339-A661-F1A0-0D0B-68FAAF16C83E}"/>
              </a:ext>
            </a:extLst>
          </p:cNvPr>
          <p:cNvCxnSpPr/>
          <p:nvPr/>
        </p:nvCxnSpPr>
        <p:spPr>
          <a:xfrm flipV="1">
            <a:off x="2124085" y="3138482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xmlns="" id="{C6EA925C-61F7-3AAD-C933-FB2BAB266FA6}"/>
              </a:ext>
            </a:extLst>
          </p:cNvPr>
          <p:cNvCxnSpPr/>
          <p:nvPr/>
        </p:nvCxnSpPr>
        <p:spPr>
          <a:xfrm>
            <a:off x="2652699" y="3141738"/>
            <a:ext cx="642975" cy="365416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482D81A4-3C69-B7CC-1C4B-94C8F4BC71B1}"/>
              </a:ext>
            </a:extLst>
          </p:cNvPr>
          <p:cNvSpPr txBox="1"/>
          <p:nvPr/>
        </p:nvSpPr>
        <p:spPr>
          <a:xfrm>
            <a:off x="2589585" y="2742439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xmlns="" id="{7B37E921-ADA2-D2CA-7EE3-BA30FD89C4DF}"/>
                  </a:ext>
                </a:extLst>
              </p:cNvPr>
              <p:cNvSpPr txBox="1"/>
              <p:nvPr/>
            </p:nvSpPr>
            <p:spPr>
              <a:xfrm>
                <a:off x="2767060" y="349884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{4}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B37E921-ADA2-D2CA-7EE3-BA30FD89C4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7060" y="3498842"/>
                <a:ext cx="381000" cy="369332"/>
              </a:xfrm>
              <a:prstGeom prst="rect">
                <a:avLst/>
              </a:prstGeom>
              <a:blipFill rotWithShape="0">
                <a:blip r:embed="rId19"/>
                <a:stretch>
                  <a:fillRect l="-6452" r="-35484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xmlns="" id="{B564D240-8F13-45EE-6031-3BA407CF73B7}"/>
                  </a:ext>
                </a:extLst>
              </p:cNvPr>
              <p:cNvSpPr txBox="1"/>
              <p:nvPr/>
            </p:nvSpPr>
            <p:spPr>
              <a:xfrm>
                <a:off x="3279007" y="349884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{4}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564D240-8F13-45EE-6031-3BA407CF73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9007" y="3498842"/>
                <a:ext cx="381000" cy="369332"/>
              </a:xfrm>
              <a:prstGeom prst="rect">
                <a:avLst/>
              </a:prstGeom>
              <a:blipFill rotWithShape="0">
                <a:blip r:embed="rId20"/>
                <a:stretch>
                  <a:fillRect l="-6452" r="-35484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xmlns="" id="{0BB14331-B1B7-17EB-BFDD-A8C7634B59EF}"/>
                  </a:ext>
                </a:extLst>
              </p:cNvPr>
              <p:cNvSpPr txBox="1"/>
              <p:nvPr/>
            </p:nvSpPr>
            <p:spPr>
              <a:xfrm>
                <a:off x="1783597" y="285089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BB14331-B1B7-17EB-BFDD-A8C7634B59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3597" y="2850892"/>
                <a:ext cx="381000" cy="369332"/>
              </a:xfrm>
              <a:prstGeom prst="rect">
                <a:avLst/>
              </a:prstGeom>
              <a:blipFill rotWithShape="0">
                <a:blip r:embed="rId21"/>
                <a:stretch>
                  <a:fillRect l="-6452" r="-127419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xmlns="" id="{67D24F09-C961-0E16-60AB-B53C1FF72194}"/>
                  </a:ext>
                </a:extLst>
              </p:cNvPr>
              <p:cNvSpPr txBox="1"/>
              <p:nvPr/>
            </p:nvSpPr>
            <p:spPr>
              <a:xfrm>
                <a:off x="2795623" y="289275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{4}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7D24F09-C961-0E16-60AB-B53C1FF721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5623" y="2892754"/>
                <a:ext cx="381000" cy="369332"/>
              </a:xfrm>
              <a:prstGeom prst="rect">
                <a:avLst/>
              </a:prstGeom>
              <a:blipFill rotWithShape="0">
                <a:blip r:embed="rId22"/>
                <a:stretch>
                  <a:fillRect l="-6452" r="-35484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xmlns="" id="{712F7E02-C1A0-A3C6-7AE6-6320D5F3D2ED}"/>
              </a:ext>
            </a:extLst>
          </p:cNvPr>
          <p:cNvCxnSpPr/>
          <p:nvPr/>
        </p:nvCxnSpPr>
        <p:spPr>
          <a:xfrm flipV="1">
            <a:off x="2790846" y="2619367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xmlns="" id="{4A3D4F3C-7A07-9305-1FA7-2075461F6C97}"/>
              </a:ext>
            </a:extLst>
          </p:cNvPr>
          <p:cNvCxnSpPr/>
          <p:nvPr/>
        </p:nvCxnSpPr>
        <p:spPr>
          <a:xfrm>
            <a:off x="3315879" y="2617940"/>
            <a:ext cx="652579" cy="370050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xmlns="" id="{0C1F58B8-CB03-B0FB-B176-7CE1AD4ABEB4}"/>
              </a:ext>
            </a:extLst>
          </p:cNvPr>
          <p:cNvSpPr txBox="1"/>
          <p:nvPr/>
        </p:nvSpPr>
        <p:spPr>
          <a:xfrm>
            <a:off x="3240817" y="2223048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xmlns="" id="{F6AD7293-904A-455A-FB4E-D4F455BCBFCD}"/>
                  </a:ext>
                </a:extLst>
              </p:cNvPr>
              <p:cNvSpPr txBox="1"/>
              <p:nvPr/>
            </p:nvSpPr>
            <p:spPr>
              <a:xfrm>
                <a:off x="3433821" y="297972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{5}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6AD7293-904A-455A-FB4E-D4F455BCBF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821" y="2979727"/>
                <a:ext cx="381000" cy="369332"/>
              </a:xfrm>
              <a:prstGeom prst="rect">
                <a:avLst/>
              </a:prstGeom>
              <a:blipFill rotWithShape="0">
                <a:blip r:embed="rId23"/>
                <a:stretch>
                  <a:fillRect l="-4762" r="-34921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xmlns="" id="{C2680FB8-4D10-D1C2-709C-D98890C4240E}"/>
                  </a:ext>
                </a:extLst>
              </p:cNvPr>
              <p:cNvSpPr txBox="1"/>
              <p:nvPr/>
            </p:nvSpPr>
            <p:spPr>
              <a:xfrm>
                <a:off x="3945768" y="297972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{5}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2680FB8-4D10-D1C2-709C-D98890C424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5768" y="2979727"/>
                <a:ext cx="381000" cy="369332"/>
              </a:xfrm>
              <a:prstGeom prst="rect">
                <a:avLst/>
              </a:prstGeom>
              <a:blipFill rotWithShape="0">
                <a:blip r:embed="rId24"/>
                <a:stretch>
                  <a:fillRect l="-4762" r="-34921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xmlns="" id="{5795301A-EB7B-E178-AA48-D6C51B0FB8E9}"/>
                  </a:ext>
                </a:extLst>
              </p:cNvPr>
              <p:cNvSpPr txBox="1"/>
              <p:nvPr/>
            </p:nvSpPr>
            <p:spPr>
              <a:xfrm>
                <a:off x="2505063" y="2303199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795301A-EB7B-E178-AA48-D6C51B0FB8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5063" y="2303199"/>
                <a:ext cx="381000" cy="369332"/>
              </a:xfrm>
              <a:prstGeom prst="rect">
                <a:avLst/>
              </a:prstGeom>
              <a:blipFill rotWithShape="0">
                <a:blip r:embed="rId25"/>
                <a:stretch>
                  <a:fillRect l="-6452" r="-127419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xmlns="" id="{97B3528B-D65A-5691-AFA9-3508FBCC3BA7}"/>
                  </a:ext>
                </a:extLst>
              </p:cNvPr>
              <p:cNvSpPr txBox="1"/>
              <p:nvPr/>
            </p:nvSpPr>
            <p:spPr>
              <a:xfrm>
                <a:off x="3433790" y="2316473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{5}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97B3528B-D65A-5691-AFA9-3508FBCC3B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790" y="2316473"/>
                <a:ext cx="381000" cy="369332"/>
              </a:xfrm>
              <a:prstGeom prst="rect">
                <a:avLst/>
              </a:prstGeom>
              <a:blipFill rotWithShape="0">
                <a:blip r:embed="rId26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xmlns="" id="{5AAF5837-B073-6305-81C8-592AD42CDB1B}"/>
              </a:ext>
            </a:extLst>
          </p:cNvPr>
          <p:cNvCxnSpPr/>
          <p:nvPr/>
        </p:nvCxnSpPr>
        <p:spPr>
          <a:xfrm flipV="1">
            <a:off x="3419496" y="2105011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xmlns="" id="{088BF11B-6CEE-EE80-1770-F65298AC7D22}"/>
              </a:ext>
            </a:extLst>
          </p:cNvPr>
          <p:cNvCxnSpPr/>
          <p:nvPr/>
        </p:nvCxnSpPr>
        <p:spPr>
          <a:xfrm>
            <a:off x="3956506" y="2105011"/>
            <a:ext cx="615488" cy="376217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312AF020-F943-6DE3-38AC-590BDF8979F5}"/>
              </a:ext>
            </a:extLst>
          </p:cNvPr>
          <p:cNvSpPr txBox="1"/>
          <p:nvPr/>
        </p:nvSpPr>
        <p:spPr>
          <a:xfrm>
            <a:off x="3843953" y="1696510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xmlns="" id="{B49F763A-1579-357D-1AAF-34A2FBB40993}"/>
                  </a:ext>
                </a:extLst>
              </p:cNvPr>
              <p:cNvSpPr txBox="1"/>
              <p:nvPr/>
            </p:nvSpPr>
            <p:spPr>
              <a:xfrm>
                <a:off x="4062471" y="2465371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{6}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49F763A-1579-357D-1AAF-34A2FBB409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2471" y="2465371"/>
                <a:ext cx="381000" cy="369332"/>
              </a:xfrm>
              <a:prstGeom prst="rect">
                <a:avLst/>
              </a:prstGeom>
              <a:blipFill rotWithShape="0">
                <a:blip r:embed="rId27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xmlns="" id="{24182E93-9161-D1B8-964D-7C28A7FBA31C}"/>
                  </a:ext>
                </a:extLst>
              </p:cNvPr>
              <p:cNvSpPr txBox="1"/>
              <p:nvPr/>
            </p:nvSpPr>
            <p:spPr>
              <a:xfrm>
                <a:off x="4574418" y="2465371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{6}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4182E93-9161-D1B8-964D-7C28A7FBA3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4418" y="2465371"/>
                <a:ext cx="381000" cy="369332"/>
              </a:xfrm>
              <a:prstGeom prst="rect">
                <a:avLst/>
              </a:prstGeom>
              <a:blipFill rotWithShape="0">
                <a:blip r:embed="rId28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xmlns="" id="{A94AAE15-A7E2-4859-D917-7DDE2EDC005E}"/>
                  </a:ext>
                </a:extLst>
              </p:cNvPr>
              <p:cNvSpPr txBox="1"/>
              <p:nvPr/>
            </p:nvSpPr>
            <p:spPr>
              <a:xfrm>
                <a:off x="3133713" y="1788843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94AAE15-A7E2-4859-D917-7DDE2EDC00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3713" y="1788843"/>
                <a:ext cx="381000" cy="369332"/>
              </a:xfrm>
              <a:prstGeom prst="rect">
                <a:avLst/>
              </a:prstGeom>
              <a:blipFill rotWithShape="0">
                <a:blip r:embed="rId29"/>
                <a:stretch>
                  <a:fillRect l="-4762" r="-125397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xmlns="" id="{D65B201C-3AD6-DAAE-E426-838ECDE124E7}"/>
                  </a:ext>
                </a:extLst>
              </p:cNvPr>
              <p:cNvSpPr txBox="1"/>
              <p:nvPr/>
            </p:nvSpPr>
            <p:spPr>
              <a:xfrm>
                <a:off x="4062440" y="180211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{6}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D65B201C-3AD6-DAAE-E426-838ECDE124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2440" y="1802117"/>
                <a:ext cx="381000" cy="369332"/>
              </a:xfrm>
              <a:prstGeom prst="rect">
                <a:avLst/>
              </a:prstGeom>
              <a:blipFill rotWithShape="0">
                <a:blip r:embed="rId30"/>
                <a:stretch>
                  <a:fillRect l="-4762" r="-34921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xmlns="" id="{8F37BC13-3488-6AE2-6A84-5E62E1182FA5}"/>
                  </a:ext>
                </a:extLst>
              </p:cNvPr>
              <p:cNvSpPr txBox="1"/>
              <p:nvPr/>
            </p:nvSpPr>
            <p:spPr>
              <a:xfrm>
                <a:off x="3090886" y="349884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F37BC13-3488-6AE2-6A84-5E62E1182F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0886" y="3498842"/>
                <a:ext cx="381000" cy="369332"/>
              </a:xfrm>
              <a:prstGeom prst="rect">
                <a:avLst/>
              </a:prstGeom>
              <a:blipFill rotWithShape="0"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xmlns="" id="{0F2BBA69-8EBA-561C-9A32-C10AFD68FE64}"/>
                  </a:ext>
                </a:extLst>
              </p:cNvPr>
              <p:cNvSpPr txBox="1"/>
              <p:nvPr/>
            </p:nvSpPr>
            <p:spPr>
              <a:xfrm>
                <a:off x="3757694" y="299630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F2BBA69-8EBA-561C-9A32-C10AFD68FE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7694" y="2996302"/>
                <a:ext cx="381000" cy="369332"/>
              </a:xfrm>
              <a:prstGeom prst="rect">
                <a:avLst/>
              </a:prstGeom>
              <a:blipFill rotWithShape="0"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xmlns="" id="{0BACD426-0AB5-2C91-160F-87340EAEED6A}"/>
                  </a:ext>
                </a:extLst>
              </p:cNvPr>
              <p:cNvSpPr txBox="1"/>
              <p:nvPr/>
            </p:nvSpPr>
            <p:spPr>
              <a:xfrm>
                <a:off x="4387470" y="248122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#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BACD426-0AB5-2C91-160F-87340EAEED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7470" y="2481228"/>
                <a:ext cx="381000" cy="369332"/>
              </a:xfrm>
              <a:prstGeom prst="rect">
                <a:avLst/>
              </a:prstGeom>
              <a:blipFill rotWithShape="0"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Oval 50">
            <a:extLst>
              <a:ext uri="{FF2B5EF4-FFF2-40B4-BE49-F238E27FC236}">
                <a16:creationId xmlns:a16="http://schemas.microsoft.com/office/drawing/2014/main" xmlns="" id="{1FB05F53-D554-DA48-E885-12E8E06ECAC0}"/>
              </a:ext>
            </a:extLst>
          </p:cNvPr>
          <p:cNvSpPr/>
          <p:nvPr/>
        </p:nvSpPr>
        <p:spPr>
          <a:xfrm>
            <a:off x="1364032" y="4072764"/>
            <a:ext cx="252408" cy="37946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xmlns="" id="{92BE4A80-383F-6655-6CE7-D5B5CEA263EB}"/>
              </a:ext>
            </a:extLst>
          </p:cNvPr>
          <p:cNvSpPr txBox="1"/>
          <p:nvPr/>
        </p:nvSpPr>
        <p:spPr>
          <a:xfrm>
            <a:off x="384551" y="1038503"/>
            <a:ext cx="4410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+mj-lt"/>
              </a:rPr>
              <a:t>Step 4: Calculate followpos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xmlns="" id="{5C0CA72C-C1AB-98FE-32D5-9161A0E82719}"/>
                  </a:ext>
                </a:extLst>
              </p:cNvPr>
              <p:cNvSpPr txBox="1"/>
              <p:nvPr/>
            </p:nvSpPr>
            <p:spPr>
              <a:xfrm>
                <a:off x="731045" y="591679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C0CA72C-C1AB-98FE-32D5-9161A0E827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045" y="5916794"/>
                <a:ext cx="381000" cy="369332"/>
              </a:xfrm>
              <a:prstGeom prst="rect">
                <a:avLst/>
              </a:prstGeom>
              <a:blipFill rotWithShape="0"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xmlns="" id="{D24DF0DA-875C-7213-A263-ACBED2200778}"/>
                  </a:ext>
                </a:extLst>
              </p:cNvPr>
              <p:cNvSpPr txBox="1"/>
              <p:nvPr/>
            </p:nvSpPr>
            <p:spPr>
              <a:xfrm>
                <a:off x="1838325" y="5900601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D24DF0DA-875C-7213-A263-ACBED22007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325" y="5900601"/>
                <a:ext cx="381000" cy="369332"/>
              </a:xfrm>
              <a:prstGeom prst="rect">
                <a:avLst/>
              </a:prstGeom>
              <a:blipFill rotWithShape="0"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xmlns="" id="{3B85B820-4615-5086-5144-3E062F49BC0F}"/>
                  </a:ext>
                </a:extLst>
              </p:cNvPr>
              <p:cNvSpPr txBox="1"/>
              <p:nvPr/>
            </p:nvSpPr>
            <p:spPr>
              <a:xfrm>
                <a:off x="3114683" y="383198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3B85B820-4615-5086-5144-3E062F49BC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4683" y="3831988"/>
                <a:ext cx="381000" cy="369332"/>
              </a:xfrm>
              <a:prstGeom prst="rect">
                <a:avLst/>
              </a:prstGeom>
              <a:blipFill rotWithShape="0"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xmlns="" id="{18E6F396-EB9C-2225-A398-C49F74B1E36A}"/>
                  </a:ext>
                </a:extLst>
              </p:cNvPr>
              <p:cNvSpPr txBox="1"/>
              <p:nvPr/>
            </p:nvSpPr>
            <p:spPr>
              <a:xfrm>
                <a:off x="2462199" y="4412930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8E6F396-EB9C-2225-A398-C49F74B1E3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2199" y="4412930"/>
                <a:ext cx="381000" cy="369332"/>
              </a:xfrm>
              <a:prstGeom prst="rect">
                <a:avLst/>
              </a:prstGeom>
              <a:blipFill rotWithShape="0"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xmlns="" id="{154FD4AB-80C9-E7B2-48DE-16D992F4E415}"/>
                  </a:ext>
                </a:extLst>
              </p:cNvPr>
              <p:cNvSpPr txBox="1"/>
              <p:nvPr/>
            </p:nvSpPr>
            <p:spPr>
              <a:xfrm>
                <a:off x="3767138" y="3315635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54FD4AB-80C9-E7B2-48DE-16D992F4E4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7138" y="3315635"/>
                <a:ext cx="381000" cy="369332"/>
              </a:xfrm>
              <a:prstGeom prst="rect">
                <a:avLst/>
              </a:prstGeom>
              <a:blipFill rotWithShape="0"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xmlns="" id="{8CAB885E-CA90-4C0C-05AD-FE1171896B8B}"/>
                  </a:ext>
                </a:extLst>
              </p:cNvPr>
              <p:cNvSpPr txBox="1"/>
              <p:nvPr/>
            </p:nvSpPr>
            <p:spPr>
              <a:xfrm>
                <a:off x="4394564" y="2772419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CAB885E-CA90-4C0C-05AD-FE1171896B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4564" y="2772419"/>
                <a:ext cx="381000" cy="369332"/>
              </a:xfrm>
              <a:prstGeom prst="rect">
                <a:avLst/>
              </a:prstGeom>
              <a:blipFill rotWithShape="0"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Rectangle 58">
            <a:extLst>
              <a:ext uri="{FF2B5EF4-FFF2-40B4-BE49-F238E27FC236}">
                <a16:creationId xmlns:a16="http://schemas.microsoft.com/office/drawing/2014/main" xmlns="" id="{727AC66F-1DFC-2B71-A527-839EC7B4FE8C}"/>
              </a:ext>
            </a:extLst>
          </p:cNvPr>
          <p:cNvSpPr/>
          <p:nvPr/>
        </p:nvSpPr>
        <p:spPr>
          <a:xfrm>
            <a:off x="4443390" y="3520951"/>
            <a:ext cx="4306722" cy="2854660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graphicFrame>
        <p:nvGraphicFramePr>
          <p:cNvPr id="60" name="Content Placeholder 3">
            <a:extLst>
              <a:ext uri="{FF2B5EF4-FFF2-40B4-BE49-F238E27FC236}">
                <a16:creationId xmlns:a16="http://schemas.microsoft.com/office/drawing/2014/main" xmlns="" id="{5446CC3B-7EE1-88C8-0BB4-4E6DB4D55EF2}"/>
              </a:ext>
            </a:extLst>
          </p:cNvPr>
          <p:cNvGraphicFramePr/>
          <p:nvPr>
            <p:extLst/>
          </p:nvPr>
        </p:nvGraphicFramePr>
        <p:xfrm>
          <a:off x="6400800" y="1510275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6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xmlns="" id="{7E2EF70F-B5DF-8632-385F-67A43E9FDF50}"/>
                  </a:ext>
                </a:extLst>
              </p:cNvPr>
              <p:cNvSpPr txBox="1"/>
              <p:nvPr/>
            </p:nvSpPr>
            <p:spPr>
              <a:xfrm>
                <a:off x="5358802" y="4067355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E2EF70F-B5DF-8632-385F-67A43E9FDF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8802" y="4067355"/>
                <a:ext cx="381000" cy="369332"/>
              </a:xfrm>
              <a:prstGeom prst="rect">
                <a:avLst/>
              </a:prstGeom>
              <a:blipFill rotWithShape="0">
                <a:blip r:embed="rId40"/>
                <a:stretch>
                  <a:fillRect l="-4762" r="-80952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xmlns="" id="{743D3F2A-FE6F-537F-0D0C-D56AEE9B6F34}"/>
                  </a:ext>
                </a:extLst>
              </p:cNvPr>
              <p:cNvSpPr txBox="1"/>
              <p:nvPr/>
            </p:nvSpPr>
            <p:spPr>
              <a:xfrm>
                <a:off x="6146119" y="405605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43D3F2A-FE6F-537F-0D0C-D56AEE9B6F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6119" y="4056057"/>
                <a:ext cx="381000" cy="369332"/>
              </a:xfrm>
              <a:prstGeom prst="rect">
                <a:avLst/>
              </a:prstGeom>
              <a:blipFill rotWithShape="0">
                <a:blip r:embed="rId41"/>
                <a:stretch>
                  <a:fillRect l="-4762" r="-80952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xmlns="" id="{9D5A1B6F-1D5B-3527-91E5-6DBA4E0AAB6E}"/>
              </a:ext>
            </a:extLst>
          </p:cNvPr>
          <p:cNvCxnSpPr/>
          <p:nvPr/>
        </p:nvCxnSpPr>
        <p:spPr>
          <a:xfrm flipV="1">
            <a:off x="6115080" y="3757610"/>
            <a:ext cx="547692" cy="366642"/>
          </a:xfrm>
          <a:prstGeom prst="line">
            <a:avLst/>
          </a:prstGeom>
          <a:ln w="25400">
            <a:solidFill>
              <a:srgbClr val="9C1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xmlns="" id="{EE30F969-772B-8CF0-A525-E3C10E8124B7}"/>
              </a:ext>
            </a:extLst>
          </p:cNvPr>
          <p:cNvCxnSpPr/>
          <p:nvPr/>
        </p:nvCxnSpPr>
        <p:spPr>
          <a:xfrm>
            <a:off x="6658066" y="3757610"/>
            <a:ext cx="615488" cy="376217"/>
          </a:xfrm>
          <a:prstGeom prst="line">
            <a:avLst/>
          </a:prstGeom>
          <a:ln w="25400">
            <a:solidFill>
              <a:srgbClr val="9C1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xmlns="" id="{08A21487-EE87-C374-88EB-D37D68A93A29}"/>
              </a:ext>
            </a:extLst>
          </p:cNvPr>
          <p:cNvSpPr txBox="1"/>
          <p:nvPr/>
        </p:nvSpPr>
        <p:spPr>
          <a:xfrm>
            <a:off x="6539537" y="3349109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xmlns="" id="{5C666842-BFAD-2CFE-90CB-25C9F5A337E4}"/>
                  </a:ext>
                </a:extLst>
              </p:cNvPr>
              <p:cNvSpPr txBox="1"/>
              <p:nvPr/>
            </p:nvSpPr>
            <p:spPr>
              <a:xfrm>
                <a:off x="6687811" y="407491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C666842-BFAD-2CFE-90CB-25C9F5A337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7811" y="4074918"/>
                <a:ext cx="381000" cy="369332"/>
              </a:xfrm>
              <a:prstGeom prst="rect">
                <a:avLst/>
              </a:prstGeom>
              <a:blipFill rotWithShape="0">
                <a:blip r:embed="rId42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xmlns="" id="{A8DA6003-C8A8-9604-7CE1-DF420D11D511}"/>
                  </a:ext>
                </a:extLst>
              </p:cNvPr>
              <p:cNvSpPr txBox="1"/>
              <p:nvPr/>
            </p:nvSpPr>
            <p:spPr>
              <a:xfrm>
                <a:off x="7357969" y="405903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{3}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8DA6003-C8A8-9604-7CE1-DF420D11D5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7969" y="4059037"/>
                <a:ext cx="381000" cy="369332"/>
              </a:xfrm>
              <a:prstGeom prst="rect">
                <a:avLst/>
              </a:prstGeom>
              <a:blipFill rotWithShape="0">
                <a:blip r:embed="rId43"/>
                <a:stretch>
                  <a:fillRect l="-4762" r="-34921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xmlns="" id="{5C765F73-D12A-991E-1508-4E5EB386FC0B}"/>
                  </a:ext>
                </a:extLst>
              </p:cNvPr>
              <p:cNvSpPr txBox="1"/>
              <p:nvPr/>
            </p:nvSpPr>
            <p:spPr>
              <a:xfrm>
                <a:off x="5898993" y="412425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b="1" i="1" baseline="-2500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>
                  <a:latin typeface="+mj-lt"/>
                </a:endParaRPr>
              </a:p>
            </p:txBody>
          </p:sp>
        </mc:Choice>
        <mc:Fallback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C765F73-D12A-991E-1508-4E5EB386FC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8993" y="4124252"/>
                <a:ext cx="381000" cy="369332"/>
              </a:xfrm>
              <a:prstGeom prst="rect">
                <a:avLst/>
              </a:prstGeom>
              <a:blipFill rotWithShape="0"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xmlns="" id="{C2227580-3128-59A7-7F0A-AD94985D83D5}"/>
                  </a:ext>
                </a:extLst>
              </p:cNvPr>
              <p:cNvSpPr txBox="1"/>
              <p:nvPr/>
            </p:nvSpPr>
            <p:spPr>
              <a:xfrm>
                <a:off x="7093850" y="412425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b="1" i="1" baseline="-25000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baseline="-25000">
                  <a:latin typeface="+mj-lt"/>
                </a:endParaRPr>
              </a:p>
            </p:txBody>
          </p:sp>
        </mc:Choice>
        <mc:Fallback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2227580-3128-59A7-7F0A-AD94985D83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3850" y="4124252"/>
                <a:ext cx="381000" cy="369332"/>
              </a:xfrm>
              <a:prstGeom prst="rect">
                <a:avLst/>
              </a:prstGeom>
              <a:blipFill rotWithShape="0"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0" name="Content Placeholder 3">
            <a:extLst>
              <a:ext uri="{FF2B5EF4-FFF2-40B4-BE49-F238E27FC236}">
                <a16:creationId xmlns:a16="http://schemas.microsoft.com/office/drawing/2014/main" xmlns="" id="{F4A22C98-C28A-A450-6FD9-8D5B8938CA99}"/>
              </a:ext>
            </a:extLst>
          </p:cNvPr>
          <p:cNvGraphicFramePr/>
          <p:nvPr>
            <p:extLst/>
          </p:nvPr>
        </p:nvGraphicFramePr>
        <p:xfrm>
          <a:off x="6400800" y="1905214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5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71" name="Content Placeholder 3">
            <a:extLst>
              <a:ext uri="{FF2B5EF4-FFF2-40B4-BE49-F238E27FC236}">
                <a16:creationId xmlns:a16="http://schemas.microsoft.com/office/drawing/2014/main" xmlns="" id="{EB87E30E-FC1B-0EE6-AB46-04972C4391E0}"/>
              </a:ext>
            </a:extLst>
          </p:cNvPr>
          <p:cNvGraphicFramePr/>
          <p:nvPr>
            <p:extLst/>
          </p:nvPr>
        </p:nvGraphicFramePr>
        <p:xfrm>
          <a:off x="6400800" y="2290502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4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72" name="Content Placeholder 3">
            <a:extLst>
              <a:ext uri="{FF2B5EF4-FFF2-40B4-BE49-F238E27FC236}">
                <a16:creationId xmlns:a16="http://schemas.microsoft.com/office/drawing/2014/main" xmlns="" id="{8118ED1E-6DF9-A1D1-A027-595D0E90C5DF}"/>
              </a:ext>
            </a:extLst>
          </p:cNvPr>
          <p:cNvGraphicFramePr/>
          <p:nvPr>
            <p:extLst/>
          </p:nvPr>
        </p:nvGraphicFramePr>
        <p:xfrm>
          <a:off x="6400800" y="2684713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73" name="Content Placeholder 3">
            <a:extLst>
              <a:ext uri="{FF2B5EF4-FFF2-40B4-BE49-F238E27FC236}">
                <a16:creationId xmlns:a16="http://schemas.microsoft.com/office/drawing/2014/main" xmlns="" id="{98EDEA9C-DE4C-A07B-30B6-3845F682EF47}"/>
              </a:ext>
            </a:extLst>
          </p:cNvPr>
          <p:cNvGraphicFramePr/>
          <p:nvPr>
            <p:extLst/>
          </p:nvPr>
        </p:nvGraphicFramePr>
        <p:xfrm>
          <a:off x="6400800" y="3078406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74" name="Rectangle 73">
            <a:extLst>
              <a:ext uri="{FF2B5EF4-FFF2-40B4-BE49-F238E27FC236}">
                <a16:creationId xmlns:a16="http://schemas.microsoft.com/office/drawing/2014/main" xmlns="" id="{587CC7AB-6148-BC01-C6F3-FFB35DC34651}"/>
              </a:ext>
            </a:extLst>
          </p:cNvPr>
          <p:cNvSpPr/>
          <p:nvPr/>
        </p:nvSpPr>
        <p:spPr>
          <a:xfrm>
            <a:off x="-285030" y="1494750"/>
            <a:ext cx="2140820" cy="11102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err="1">
                <a:solidFill>
                  <a:srgbClr val="FF0000"/>
                </a:solidFill>
                <a:latin typeface="+mj-lt"/>
              </a:rPr>
              <a:t>Firstpos</a:t>
            </a:r>
            <a:endParaRPr lang="en-US" sz="2000" b="1">
              <a:solidFill>
                <a:srgbClr val="FF0000"/>
              </a:solidFill>
              <a:latin typeface="+mj-lt"/>
            </a:endParaRPr>
          </a:p>
          <a:p>
            <a:pPr algn="ctr"/>
            <a:r>
              <a:rPr lang="en-US" sz="2000" b="1" err="1">
                <a:solidFill>
                  <a:srgbClr val="009644"/>
                </a:solidFill>
                <a:latin typeface="+mj-lt"/>
              </a:rPr>
              <a:t>Lastpos</a:t>
            </a:r>
            <a:r>
              <a:rPr lang="en-US">
                <a:solidFill>
                  <a:srgbClr val="FF0000"/>
                </a:solidFill>
                <a:latin typeface="+mj-lt"/>
              </a:rPr>
              <a:t> 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xmlns="" id="{E97C8A45-42AE-EA76-5AC1-551672BDFEFB}"/>
              </a:ext>
            </a:extLst>
          </p:cNvPr>
          <p:cNvCxnSpPr/>
          <p:nvPr/>
        </p:nvCxnSpPr>
        <p:spPr>
          <a:xfrm>
            <a:off x="1246190" y="1928449"/>
            <a:ext cx="30480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xmlns="" id="{EB98CEA3-DE57-B772-44E5-F5FBA9E07962}"/>
              </a:ext>
            </a:extLst>
          </p:cNvPr>
          <p:cNvCxnSpPr/>
          <p:nvPr/>
        </p:nvCxnSpPr>
        <p:spPr>
          <a:xfrm>
            <a:off x="1246190" y="2244617"/>
            <a:ext cx="304800" cy="0"/>
          </a:xfrm>
          <a:prstGeom prst="line">
            <a:avLst/>
          </a:prstGeom>
          <a:ln w="25400">
            <a:solidFill>
              <a:srgbClr val="0096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urved Connector 77">
            <a:extLst>
              <a:ext uri="{FF2B5EF4-FFF2-40B4-BE49-F238E27FC236}">
                <a16:creationId xmlns:a16="http://schemas.microsoft.com/office/drawing/2014/main" xmlns="" id="{43D5FD57-AC81-D1B8-F101-8F3A248E73FC}"/>
              </a:ext>
            </a:extLst>
          </p:cNvPr>
          <p:cNvCxnSpPr>
            <a:stCxn id="23" idx="2"/>
          </p:cNvCxnSpPr>
          <p:nvPr/>
        </p:nvCxnSpPr>
        <p:spPr>
          <a:xfrm rot="5400000" flipH="1">
            <a:off x="2040595" y="4151377"/>
            <a:ext cx="45311" cy="512249"/>
          </a:xfrm>
          <a:prstGeom prst="curvedConnector4">
            <a:avLst>
              <a:gd name="adj1" fmla="val -504513"/>
              <a:gd name="adj2" fmla="val 90907"/>
            </a:avLst>
          </a:prstGeom>
          <a:ln w="22225">
            <a:solidFill>
              <a:schemeClr val="accent2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xmlns="" id="{DE3A8975-A119-3635-C677-9EC6B04CF54E}"/>
                  </a:ext>
                </a:extLst>
              </p:cNvPr>
              <p:cNvSpPr txBox="1"/>
              <p:nvPr/>
            </p:nvSpPr>
            <p:spPr>
              <a:xfrm>
                <a:off x="4450534" y="5011295"/>
                <a:ext cx="4299578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000" i="1" err="1">
                          <a:latin typeface="Cambria Math" panose="02040503050406030204" pitchFamily="18" charset="0"/>
                        </a:rPr>
                        <m:t>𝑙𝑎𝑠𝑡𝑝𝑜𝑠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000" i="1" baseline="-2500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 = {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1,2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0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err="1">
                          <a:latin typeface="Cambria Math" panose="02040503050406030204" pitchFamily="18" charset="0"/>
                        </a:rPr>
                        <m:t>𝑓𝑖𝑟𝑠𝑡𝑝𝑜𝑠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000" i="1" baseline="-25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en-US" sz="20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𝑓𝑜𝑙𝑙𝑜𝑤𝑝𝑜𝑠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000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en-US" sz="2000">
                  <a:solidFill>
                    <a:srgbClr val="0E47A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𝑓𝑜𝑙𝑙𝑜𝑤𝑝𝑜𝑠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000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en-US" sz="2000"/>
              </a:p>
              <a:p>
                <a:pPr algn="ctr"/>
                <a:endParaRPr lang="en-US" sz="2000"/>
              </a:p>
            </p:txBody>
          </p:sp>
        </mc:Choice>
        <mc:Fallback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DE3A8975-A119-3635-C677-9EC6B04CF5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0534" y="5011295"/>
                <a:ext cx="4299578" cy="1631216"/>
              </a:xfrm>
              <a:prstGeom prst="rect">
                <a:avLst/>
              </a:prstGeom>
              <a:blipFill rotWithShape="0"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874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9C107E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9C107E"/>
                                      </p:to>
                                    </p:animClr>
                                    <p:set>
                                      <p:cBhvr>
                                        <p:cTn id="1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2" presetClass="emph" presetSubtype="0" dur="1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32" presetClass="emph" presetSubtype="0" dur="1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61" grpId="0"/>
      <p:bldP spid="62" grpId="0"/>
      <p:bldP spid="65" grpId="0"/>
      <p:bldP spid="66" grpId="0"/>
      <p:bldP spid="67" grpId="0"/>
      <p:bldP spid="68" grpId="0"/>
      <p:bldP spid="69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FDF6911-9AFC-F2F3-82F8-55C633719482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Conversion from regular expression to DFA</a:t>
            </a:r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xmlns="" id="{99FC5B28-E40E-B1AE-98B3-D9FE09571E46}"/>
              </a:ext>
            </a:extLst>
          </p:cNvPr>
          <p:cNvGraphicFramePr/>
          <p:nvPr>
            <p:extLst/>
          </p:nvPr>
        </p:nvGraphicFramePr>
        <p:xfrm>
          <a:off x="6400800" y="1141245"/>
          <a:ext cx="2349312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Position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err="1"/>
                        <a:t>followpos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xmlns="" id="{7EF1365D-6400-1837-208D-38539D552911}"/>
                  </a:ext>
                </a:extLst>
              </p:cNvPr>
              <p:cNvSpPr txBox="1"/>
              <p:nvPr/>
            </p:nvSpPr>
            <p:spPr>
              <a:xfrm>
                <a:off x="738189" y="555997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EF1365D-6400-1837-208D-38539D5529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189" y="5559972"/>
                <a:ext cx="381000" cy="369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87497C56-5367-5C9A-EB40-C2D6568482E8}"/>
                  </a:ext>
                </a:extLst>
              </p:cNvPr>
              <p:cNvSpPr txBox="1"/>
              <p:nvPr/>
            </p:nvSpPr>
            <p:spPr>
              <a:xfrm>
                <a:off x="1838325" y="5574260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7497C56-5367-5C9A-EB40-C2D6568482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325" y="5574260"/>
                <a:ext cx="381000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="" id="{6BABC9DD-2719-837A-6FAA-8E46A5942F89}"/>
                  </a:ext>
                </a:extLst>
              </p:cNvPr>
              <p:cNvSpPr txBox="1"/>
              <p:nvPr/>
            </p:nvSpPr>
            <p:spPr>
              <a:xfrm>
                <a:off x="1295400" y="4857744"/>
                <a:ext cx="381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sz="2000" b="1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BABC9DD-2719-837A-6FAA-8E46A5942F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4857744"/>
                <a:ext cx="381000" cy="400110"/>
              </a:xfrm>
              <a:prstGeom prst="rect">
                <a:avLst/>
              </a:prstGeom>
              <a:blipFill rotWithShape="0">
                <a:blip r:embed="rId4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328758D3-0568-98E4-891C-451BFD4AFF36}"/>
              </a:ext>
            </a:extLst>
          </p:cNvPr>
          <p:cNvCxnSpPr>
            <a:stCxn id="4" idx="0"/>
          </p:cNvCxnSpPr>
          <p:nvPr/>
        </p:nvCxnSpPr>
        <p:spPr>
          <a:xfrm flipV="1">
            <a:off x="928689" y="5260797"/>
            <a:ext cx="557211" cy="299175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D47A8134-27EC-6ECD-3599-32EA36BAEC21}"/>
              </a:ext>
            </a:extLst>
          </p:cNvPr>
          <p:cNvCxnSpPr>
            <a:endCxn id="5" idx="0"/>
          </p:cNvCxnSpPr>
          <p:nvPr/>
        </p:nvCxnSpPr>
        <p:spPr>
          <a:xfrm>
            <a:off x="1485900" y="5272142"/>
            <a:ext cx="542925" cy="302118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43E3D376-B219-1455-48DF-8CB63088BB89}"/>
              </a:ext>
            </a:extLst>
          </p:cNvPr>
          <p:cNvCxnSpPr>
            <a:stCxn id="12" idx="0"/>
          </p:cNvCxnSpPr>
          <p:nvPr/>
        </p:nvCxnSpPr>
        <p:spPr>
          <a:xfrm flipV="1">
            <a:off x="1485900" y="3700464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23FFC5E7-707D-F31D-5662-39E20A4112EC}"/>
              </a:ext>
            </a:extLst>
          </p:cNvPr>
          <p:cNvCxnSpPr/>
          <p:nvPr/>
        </p:nvCxnSpPr>
        <p:spPr>
          <a:xfrm>
            <a:off x="2028825" y="3712483"/>
            <a:ext cx="609586" cy="360557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xmlns="" id="{464B2198-86F9-29AF-A3F0-FCD2CCE3BBDE}"/>
              </a:ext>
            </a:extLst>
          </p:cNvPr>
          <p:cNvCxnSpPr/>
          <p:nvPr/>
        </p:nvCxnSpPr>
        <p:spPr>
          <a:xfrm flipH="1" flipV="1">
            <a:off x="1485900" y="4452936"/>
            <a:ext cx="0" cy="361944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A9B6489E-B647-BA3F-EDEC-CD8E4B6CDC44}"/>
                  </a:ext>
                </a:extLst>
              </p:cNvPr>
              <p:cNvSpPr txBox="1"/>
              <p:nvPr/>
            </p:nvSpPr>
            <p:spPr>
              <a:xfrm>
                <a:off x="1295400" y="4067106"/>
                <a:ext cx="381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US" sz="2000" b="1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9B6489E-B647-BA3F-EDEC-CD8E4B6CDC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4067106"/>
                <a:ext cx="381000" cy="40011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79ED7028-9678-C6FF-FDBA-807DAB35E838}"/>
              </a:ext>
            </a:extLst>
          </p:cNvPr>
          <p:cNvSpPr txBox="1"/>
          <p:nvPr/>
        </p:nvSpPr>
        <p:spPr>
          <a:xfrm>
            <a:off x="1947914" y="3289199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B70EE12-4DBC-BB12-C45E-772C945A0A80}"/>
                  </a:ext>
                </a:extLst>
              </p:cNvPr>
              <p:cNvSpPr txBox="1"/>
              <p:nvPr/>
            </p:nvSpPr>
            <p:spPr>
              <a:xfrm>
                <a:off x="442914" y="5784876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B70EE12-4DBC-BB12-C45E-772C945A0A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914" y="5784876"/>
                <a:ext cx="381000" cy="369332"/>
              </a:xfrm>
              <a:prstGeom prst="rect">
                <a:avLst/>
              </a:prstGeom>
              <a:blipFill rotWithShape="0">
                <a:blip r:embed="rId6"/>
                <a:stretch>
                  <a:fillRect l="-6452" r="-35484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xmlns="" id="{43CD9E36-DEE4-5EF3-2551-B598BDDE1DFC}"/>
                  </a:ext>
                </a:extLst>
              </p:cNvPr>
              <p:cNvSpPr txBox="1"/>
              <p:nvPr/>
            </p:nvSpPr>
            <p:spPr>
              <a:xfrm>
                <a:off x="892968" y="5784876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{1}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43CD9E36-DEE4-5EF3-2551-B598BDDE1D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968" y="5784876"/>
                <a:ext cx="381000" cy="369332"/>
              </a:xfrm>
              <a:prstGeom prst="rect">
                <a:avLst/>
              </a:prstGeom>
              <a:blipFill rotWithShape="0">
                <a:blip r:embed="rId7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xmlns="" id="{35B9F28C-EF8A-DB51-F531-74CFF4F90065}"/>
                  </a:ext>
                </a:extLst>
              </p:cNvPr>
              <p:cNvSpPr txBox="1"/>
              <p:nvPr/>
            </p:nvSpPr>
            <p:spPr>
              <a:xfrm>
                <a:off x="1566872" y="578010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{2}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35B9F28C-EF8A-DB51-F531-74CFF4F900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6872" y="5780108"/>
                <a:ext cx="381000" cy="369332"/>
              </a:xfrm>
              <a:prstGeom prst="rect">
                <a:avLst/>
              </a:prstGeom>
              <a:blipFill rotWithShape="0">
                <a:blip r:embed="rId8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xmlns="" id="{476F20FD-AA2D-0716-EC1A-422BC7A4290A}"/>
                  </a:ext>
                </a:extLst>
              </p:cNvPr>
              <p:cNvSpPr txBox="1"/>
              <p:nvPr/>
            </p:nvSpPr>
            <p:spPr>
              <a:xfrm>
                <a:off x="2016926" y="578010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9644"/>
                          </a:solidFill>
                          <a:latin typeface="Cambria Math" panose="02040503050406030204" pitchFamily="18" charset="0"/>
                        </a:rPr>
                        <m:t>{2}</m:t>
                      </m:r>
                    </m:oMath>
                  </m:oMathPara>
                </a14:m>
                <a:endParaRPr lang="en-US">
                  <a:solidFill>
                    <a:srgbClr val="009644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476F20FD-AA2D-0716-EC1A-422BC7A429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6926" y="5780108"/>
                <a:ext cx="381000" cy="369332"/>
              </a:xfrm>
              <a:prstGeom prst="rect">
                <a:avLst/>
              </a:prstGeom>
              <a:blipFill rotWithShape="0">
                <a:blip r:embed="rId9"/>
                <a:stretch>
                  <a:fillRect l="-6452" r="-35484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xmlns="" id="{BFE06E0E-7D13-1886-673D-D4F271BF8C01}"/>
                  </a:ext>
                </a:extLst>
              </p:cNvPr>
              <p:cNvSpPr txBox="1"/>
              <p:nvPr/>
            </p:nvSpPr>
            <p:spPr>
              <a:xfrm>
                <a:off x="823914" y="490856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FE06E0E-7D13-1886-673D-D4F271BF8C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914" y="4908567"/>
                <a:ext cx="381000" cy="369332"/>
              </a:xfrm>
              <a:prstGeom prst="rect">
                <a:avLst/>
              </a:prstGeom>
              <a:blipFill rotWithShape="0">
                <a:blip r:embed="rId10"/>
                <a:stretch>
                  <a:fillRect l="-4762" r="-80952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xmlns="" id="{B0C9627D-1B8D-AC5D-917C-41BB19C3A957}"/>
                  </a:ext>
                </a:extLst>
              </p:cNvPr>
              <p:cNvSpPr txBox="1"/>
              <p:nvPr/>
            </p:nvSpPr>
            <p:spPr>
              <a:xfrm>
                <a:off x="1473996" y="490856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0C9627D-1B8D-AC5D-917C-41BB19C3A9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3996" y="4908567"/>
                <a:ext cx="381000" cy="369332"/>
              </a:xfrm>
              <a:prstGeom prst="rect">
                <a:avLst/>
              </a:prstGeom>
              <a:blipFill rotWithShape="0">
                <a:blip r:embed="rId11"/>
                <a:stretch>
                  <a:fillRect l="-6452" r="-82258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xmlns="" id="{84932AC5-5CBB-498F-80D7-18836F5F100A}"/>
                  </a:ext>
                </a:extLst>
              </p:cNvPr>
              <p:cNvSpPr txBox="1"/>
              <p:nvPr/>
            </p:nvSpPr>
            <p:spPr>
              <a:xfrm>
                <a:off x="758216" y="407491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4932AC5-5CBB-498F-80D7-18836F5F10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216" y="4074918"/>
                <a:ext cx="381000" cy="369332"/>
              </a:xfrm>
              <a:prstGeom prst="rect">
                <a:avLst/>
              </a:prstGeom>
              <a:blipFill rotWithShape="0">
                <a:blip r:embed="rId12"/>
                <a:stretch>
                  <a:fillRect l="-4762" r="-80952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xmlns="" id="{82948DAA-580E-B5CA-917B-7236857E6F0A}"/>
                  </a:ext>
                </a:extLst>
              </p:cNvPr>
              <p:cNvSpPr txBox="1"/>
              <p:nvPr/>
            </p:nvSpPr>
            <p:spPr>
              <a:xfrm>
                <a:off x="1591691" y="4090038"/>
                <a:ext cx="4071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2948DAA-580E-B5CA-917B-7236857E6F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1691" y="4090038"/>
                <a:ext cx="407191" cy="369332"/>
              </a:xfrm>
              <a:prstGeom prst="rect">
                <a:avLst/>
              </a:prstGeom>
              <a:blipFill rotWithShape="0">
                <a:blip r:embed="rId13"/>
                <a:stretch>
                  <a:fillRect l="-4478" r="-70149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xmlns="" id="{3514D877-79E0-C6C8-757B-58D0B4FD2893}"/>
                  </a:ext>
                </a:extLst>
              </p:cNvPr>
              <p:cNvSpPr txBox="1"/>
              <p:nvPr/>
            </p:nvSpPr>
            <p:spPr>
              <a:xfrm>
                <a:off x="2447911" y="4040373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3514D877-79E0-C6C8-757B-58D0B4FD28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7911" y="4040373"/>
                <a:ext cx="381000" cy="369332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xmlns="" id="{ED03C4EF-8B15-7375-997B-EF225D2B7467}"/>
                  </a:ext>
                </a:extLst>
              </p:cNvPr>
              <p:cNvSpPr txBox="1"/>
              <p:nvPr/>
            </p:nvSpPr>
            <p:spPr>
              <a:xfrm>
                <a:off x="2128875" y="406082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D03C4EF-8B15-7375-997B-EF225D2B74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8875" y="4060824"/>
                <a:ext cx="381000" cy="369332"/>
              </a:xfrm>
              <a:prstGeom prst="rect">
                <a:avLst/>
              </a:prstGeom>
              <a:blipFill rotWithShape="0">
                <a:blip r:embed="rId15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xmlns="" id="{1EA30331-B337-3536-7905-957ADFE53F6F}"/>
                  </a:ext>
                </a:extLst>
              </p:cNvPr>
              <p:cNvSpPr txBox="1"/>
              <p:nvPr/>
            </p:nvSpPr>
            <p:spPr>
              <a:xfrm>
                <a:off x="2640822" y="406082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{3}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EA30331-B337-3536-7905-957ADFE53F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0822" y="4060824"/>
                <a:ext cx="381000" cy="369332"/>
              </a:xfrm>
              <a:prstGeom prst="rect">
                <a:avLst/>
              </a:prstGeom>
              <a:blipFill rotWithShape="0">
                <a:blip r:embed="rId16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xmlns="" id="{49A1AEB7-817B-AA91-E116-BF5484B63979}"/>
                  </a:ext>
                </a:extLst>
              </p:cNvPr>
              <p:cNvSpPr txBox="1"/>
              <p:nvPr/>
            </p:nvSpPr>
            <p:spPr>
              <a:xfrm>
                <a:off x="1171554" y="3400656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49A1AEB7-817B-AA91-E116-BF5484B639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1554" y="3400656"/>
                <a:ext cx="381000" cy="369332"/>
              </a:xfrm>
              <a:prstGeom prst="rect">
                <a:avLst/>
              </a:prstGeom>
              <a:blipFill rotWithShape="0">
                <a:blip r:embed="rId17"/>
                <a:stretch>
                  <a:fillRect l="-4762" r="-125397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xmlns="" id="{4ED0D0BB-A89A-C923-67A0-1821AAB07E3C}"/>
                  </a:ext>
                </a:extLst>
              </p:cNvPr>
              <p:cNvSpPr txBox="1"/>
              <p:nvPr/>
            </p:nvSpPr>
            <p:spPr>
              <a:xfrm>
                <a:off x="2171777" y="3425739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{3}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4ED0D0BB-A89A-C923-67A0-1821AAB07E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1777" y="3425739"/>
                <a:ext cx="381000" cy="369332"/>
              </a:xfrm>
              <a:prstGeom prst="rect">
                <a:avLst/>
              </a:prstGeom>
              <a:blipFill rotWithShape="0">
                <a:blip r:embed="rId18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xmlns="" id="{B9B9DA1B-E1D6-886E-9714-FD8B4E06FDE3}"/>
              </a:ext>
            </a:extLst>
          </p:cNvPr>
          <p:cNvCxnSpPr/>
          <p:nvPr/>
        </p:nvCxnSpPr>
        <p:spPr>
          <a:xfrm flipV="1">
            <a:off x="2124085" y="3138482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xmlns="" id="{112E507E-E97E-0B70-2C2D-DB294DA158CF}"/>
              </a:ext>
            </a:extLst>
          </p:cNvPr>
          <p:cNvCxnSpPr/>
          <p:nvPr/>
        </p:nvCxnSpPr>
        <p:spPr>
          <a:xfrm>
            <a:off x="2652699" y="3147714"/>
            <a:ext cx="642975" cy="365416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BE44513C-78D0-ED3E-22ED-455E4466527F}"/>
              </a:ext>
            </a:extLst>
          </p:cNvPr>
          <p:cNvSpPr txBox="1"/>
          <p:nvPr/>
        </p:nvSpPr>
        <p:spPr>
          <a:xfrm>
            <a:off x="2589585" y="2742439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xmlns="" id="{E261D76D-1791-4B2A-9C70-979E1C20B4DA}"/>
                  </a:ext>
                </a:extLst>
              </p:cNvPr>
              <p:cNvSpPr txBox="1"/>
              <p:nvPr/>
            </p:nvSpPr>
            <p:spPr>
              <a:xfrm>
                <a:off x="2767060" y="349884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{4}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261D76D-1791-4B2A-9C70-979E1C20B4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7060" y="3498842"/>
                <a:ext cx="381000" cy="369332"/>
              </a:xfrm>
              <a:prstGeom prst="rect">
                <a:avLst/>
              </a:prstGeom>
              <a:blipFill rotWithShape="0">
                <a:blip r:embed="rId19"/>
                <a:stretch>
                  <a:fillRect l="-6452" r="-35484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xmlns="" id="{61EEAF80-7D92-2534-A632-87F699AB0EB8}"/>
                  </a:ext>
                </a:extLst>
              </p:cNvPr>
              <p:cNvSpPr txBox="1"/>
              <p:nvPr/>
            </p:nvSpPr>
            <p:spPr>
              <a:xfrm>
                <a:off x="3279007" y="349884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{4}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1EEAF80-7D92-2534-A632-87F699AB0E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9007" y="3498842"/>
                <a:ext cx="381000" cy="369332"/>
              </a:xfrm>
              <a:prstGeom prst="rect">
                <a:avLst/>
              </a:prstGeom>
              <a:blipFill rotWithShape="0">
                <a:blip r:embed="rId20"/>
                <a:stretch>
                  <a:fillRect l="-6452" r="-35484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xmlns="" id="{C7903106-C716-7548-4555-76D0C82ED75F}"/>
                  </a:ext>
                </a:extLst>
              </p:cNvPr>
              <p:cNvSpPr txBox="1"/>
              <p:nvPr/>
            </p:nvSpPr>
            <p:spPr>
              <a:xfrm>
                <a:off x="1783597" y="285089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7903106-C716-7548-4555-76D0C82ED7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3597" y="2850892"/>
                <a:ext cx="381000" cy="369332"/>
              </a:xfrm>
              <a:prstGeom prst="rect">
                <a:avLst/>
              </a:prstGeom>
              <a:blipFill rotWithShape="0">
                <a:blip r:embed="rId21"/>
                <a:stretch>
                  <a:fillRect l="-6452" r="-127419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xmlns="" id="{78321B96-EF73-2BFC-F973-D4370FBAEF99}"/>
                  </a:ext>
                </a:extLst>
              </p:cNvPr>
              <p:cNvSpPr txBox="1"/>
              <p:nvPr/>
            </p:nvSpPr>
            <p:spPr>
              <a:xfrm>
                <a:off x="2795623" y="289275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{4}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8321B96-EF73-2BFC-F973-D4370FBAEF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5623" y="2892754"/>
                <a:ext cx="381000" cy="369332"/>
              </a:xfrm>
              <a:prstGeom prst="rect">
                <a:avLst/>
              </a:prstGeom>
              <a:blipFill rotWithShape="0">
                <a:blip r:embed="rId22"/>
                <a:stretch>
                  <a:fillRect l="-6452" r="-35484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xmlns="" id="{E8034F1A-712D-A65F-D551-D2E2B4350E23}"/>
              </a:ext>
            </a:extLst>
          </p:cNvPr>
          <p:cNvCxnSpPr/>
          <p:nvPr/>
        </p:nvCxnSpPr>
        <p:spPr>
          <a:xfrm flipV="1">
            <a:off x="2790846" y="2619367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xmlns="" id="{EDDD95C6-523E-4446-7F34-1B4CBF1B56B1}"/>
              </a:ext>
            </a:extLst>
          </p:cNvPr>
          <p:cNvCxnSpPr/>
          <p:nvPr/>
        </p:nvCxnSpPr>
        <p:spPr>
          <a:xfrm>
            <a:off x="3309903" y="2611964"/>
            <a:ext cx="652579" cy="370050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xmlns="" id="{286F2D35-AF62-DFA1-8942-D6738A5A8C9B}"/>
              </a:ext>
            </a:extLst>
          </p:cNvPr>
          <p:cNvSpPr txBox="1"/>
          <p:nvPr/>
        </p:nvSpPr>
        <p:spPr>
          <a:xfrm>
            <a:off x="3240817" y="2223048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xmlns="" id="{569F3AAF-7441-2649-07B5-D0B2AEF722B7}"/>
                  </a:ext>
                </a:extLst>
              </p:cNvPr>
              <p:cNvSpPr txBox="1"/>
              <p:nvPr/>
            </p:nvSpPr>
            <p:spPr>
              <a:xfrm>
                <a:off x="3433821" y="297972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{5}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69F3AAF-7441-2649-07B5-D0B2AEF722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821" y="2979727"/>
                <a:ext cx="381000" cy="369332"/>
              </a:xfrm>
              <a:prstGeom prst="rect">
                <a:avLst/>
              </a:prstGeom>
              <a:blipFill rotWithShape="0">
                <a:blip r:embed="rId23"/>
                <a:stretch>
                  <a:fillRect l="-4762" r="-34921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xmlns="" id="{055C52B0-F334-EF8A-3EEB-18C23447980F}"/>
                  </a:ext>
                </a:extLst>
              </p:cNvPr>
              <p:cNvSpPr txBox="1"/>
              <p:nvPr/>
            </p:nvSpPr>
            <p:spPr>
              <a:xfrm>
                <a:off x="3945768" y="297972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{5}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55C52B0-F334-EF8A-3EEB-18C2344798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5768" y="2979727"/>
                <a:ext cx="381000" cy="369332"/>
              </a:xfrm>
              <a:prstGeom prst="rect">
                <a:avLst/>
              </a:prstGeom>
              <a:blipFill rotWithShape="0">
                <a:blip r:embed="rId24"/>
                <a:stretch>
                  <a:fillRect l="-4762" r="-34921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xmlns="" id="{41B0F45C-5E29-A102-67F0-FBC9B61A0C47}"/>
                  </a:ext>
                </a:extLst>
              </p:cNvPr>
              <p:cNvSpPr txBox="1"/>
              <p:nvPr/>
            </p:nvSpPr>
            <p:spPr>
              <a:xfrm>
                <a:off x="2505063" y="2303199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41B0F45C-5E29-A102-67F0-FBC9B61A0C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5063" y="2303199"/>
                <a:ext cx="381000" cy="369332"/>
              </a:xfrm>
              <a:prstGeom prst="rect">
                <a:avLst/>
              </a:prstGeom>
              <a:blipFill rotWithShape="0">
                <a:blip r:embed="rId25"/>
                <a:stretch>
                  <a:fillRect l="-6452" r="-127419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xmlns="" id="{7FF97958-DBA3-9E13-9F85-714453EA0206}"/>
                  </a:ext>
                </a:extLst>
              </p:cNvPr>
              <p:cNvSpPr txBox="1"/>
              <p:nvPr/>
            </p:nvSpPr>
            <p:spPr>
              <a:xfrm>
                <a:off x="3433790" y="2316473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{5}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FF97958-DBA3-9E13-9F85-714453EA02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790" y="2316473"/>
                <a:ext cx="381000" cy="369332"/>
              </a:xfrm>
              <a:prstGeom prst="rect">
                <a:avLst/>
              </a:prstGeom>
              <a:blipFill rotWithShape="0">
                <a:blip r:embed="rId26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xmlns="" id="{0CA95C1D-75AA-3B39-C060-EA64B53682B9}"/>
              </a:ext>
            </a:extLst>
          </p:cNvPr>
          <p:cNvCxnSpPr/>
          <p:nvPr/>
        </p:nvCxnSpPr>
        <p:spPr>
          <a:xfrm flipV="1">
            <a:off x="3419496" y="2105011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xmlns="" id="{FD5B89C8-9FE4-0A7B-3F65-1E74AB5647D0}"/>
              </a:ext>
            </a:extLst>
          </p:cNvPr>
          <p:cNvCxnSpPr>
            <a:endCxn id="50" idx="0"/>
          </p:cNvCxnSpPr>
          <p:nvPr/>
        </p:nvCxnSpPr>
        <p:spPr>
          <a:xfrm>
            <a:off x="3962482" y="2105011"/>
            <a:ext cx="615488" cy="376217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04292C8E-5D05-E1F6-65F5-84D2C0B63800}"/>
              </a:ext>
            </a:extLst>
          </p:cNvPr>
          <p:cNvSpPr txBox="1"/>
          <p:nvPr/>
        </p:nvSpPr>
        <p:spPr>
          <a:xfrm>
            <a:off x="3843953" y="1696510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xmlns="" id="{C3353AA3-D993-851E-53C8-C5D6AC8D8150}"/>
                  </a:ext>
                </a:extLst>
              </p:cNvPr>
              <p:cNvSpPr txBox="1"/>
              <p:nvPr/>
            </p:nvSpPr>
            <p:spPr>
              <a:xfrm>
                <a:off x="4062471" y="2465371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{6}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3353AA3-D993-851E-53C8-C5D6AC8D81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2471" y="2465371"/>
                <a:ext cx="381000" cy="369332"/>
              </a:xfrm>
              <a:prstGeom prst="rect">
                <a:avLst/>
              </a:prstGeom>
              <a:blipFill rotWithShape="0">
                <a:blip r:embed="rId27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xmlns="" id="{3046BA7A-B158-B983-CFCA-CC3CBF631A84}"/>
                  </a:ext>
                </a:extLst>
              </p:cNvPr>
              <p:cNvSpPr txBox="1"/>
              <p:nvPr/>
            </p:nvSpPr>
            <p:spPr>
              <a:xfrm>
                <a:off x="4574418" y="2465371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{6}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3046BA7A-B158-B983-CFCA-CC3CBF631A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4418" y="2465371"/>
                <a:ext cx="381000" cy="369332"/>
              </a:xfrm>
              <a:prstGeom prst="rect">
                <a:avLst/>
              </a:prstGeom>
              <a:blipFill rotWithShape="0">
                <a:blip r:embed="rId28"/>
                <a:stretch>
                  <a:fillRect l="-4762" r="-34921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xmlns="" id="{227FE753-067A-4029-A274-8C8543B4A4E9}"/>
                  </a:ext>
                </a:extLst>
              </p:cNvPr>
              <p:cNvSpPr txBox="1"/>
              <p:nvPr/>
            </p:nvSpPr>
            <p:spPr>
              <a:xfrm>
                <a:off x="3133713" y="1788843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27FE753-067A-4029-A274-8C8543B4A4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3713" y="1788843"/>
                <a:ext cx="381000" cy="369332"/>
              </a:xfrm>
              <a:prstGeom prst="rect">
                <a:avLst/>
              </a:prstGeom>
              <a:blipFill rotWithShape="0">
                <a:blip r:embed="rId29"/>
                <a:stretch>
                  <a:fillRect l="-4762" r="-125397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xmlns="" id="{F513206F-EE3E-F49A-8034-524F4004AFA7}"/>
                  </a:ext>
                </a:extLst>
              </p:cNvPr>
              <p:cNvSpPr txBox="1"/>
              <p:nvPr/>
            </p:nvSpPr>
            <p:spPr>
              <a:xfrm>
                <a:off x="4062440" y="180211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{6}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513206F-EE3E-F49A-8034-524F4004A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2440" y="1802117"/>
                <a:ext cx="381000" cy="369332"/>
              </a:xfrm>
              <a:prstGeom prst="rect">
                <a:avLst/>
              </a:prstGeom>
              <a:blipFill rotWithShape="0">
                <a:blip r:embed="rId30"/>
                <a:stretch>
                  <a:fillRect l="-4762" r="-34921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xmlns="" id="{4E1A086B-14E4-19FA-1B9D-A96F6B25D323}"/>
                  </a:ext>
                </a:extLst>
              </p:cNvPr>
              <p:cNvSpPr txBox="1"/>
              <p:nvPr/>
            </p:nvSpPr>
            <p:spPr>
              <a:xfrm>
                <a:off x="3090886" y="349884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4E1A086B-14E4-19FA-1B9D-A96F6B25D3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0886" y="3498842"/>
                <a:ext cx="381000" cy="369332"/>
              </a:xfrm>
              <a:prstGeom prst="rect">
                <a:avLst/>
              </a:prstGeom>
              <a:blipFill rotWithShape="0"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xmlns="" id="{FE0D766C-6262-1943-6214-013512E7436E}"/>
                  </a:ext>
                </a:extLst>
              </p:cNvPr>
              <p:cNvSpPr txBox="1"/>
              <p:nvPr/>
            </p:nvSpPr>
            <p:spPr>
              <a:xfrm>
                <a:off x="3757694" y="299630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E0D766C-6262-1943-6214-013512E743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7694" y="2996302"/>
                <a:ext cx="381000" cy="369332"/>
              </a:xfrm>
              <a:prstGeom prst="rect">
                <a:avLst/>
              </a:prstGeom>
              <a:blipFill rotWithShape="0"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xmlns="" id="{BFB8E71E-51DC-1CB6-A80A-49DC986DCE1C}"/>
                  </a:ext>
                </a:extLst>
              </p:cNvPr>
              <p:cNvSpPr txBox="1"/>
              <p:nvPr/>
            </p:nvSpPr>
            <p:spPr>
              <a:xfrm>
                <a:off x="4387470" y="248122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#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FB8E71E-51DC-1CB6-A80A-49DC986DCE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7470" y="2481228"/>
                <a:ext cx="381000" cy="369332"/>
              </a:xfrm>
              <a:prstGeom prst="rect">
                <a:avLst/>
              </a:prstGeom>
              <a:blipFill rotWithShape="0"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Oval 50">
            <a:extLst>
              <a:ext uri="{FF2B5EF4-FFF2-40B4-BE49-F238E27FC236}">
                <a16:creationId xmlns:a16="http://schemas.microsoft.com/office/drawing/2014/main" xmlns="" id="{0E7DB0FB-FF3C-4AA9-9AB7-AFC3FED30F41}"/>
              </a:ext>
            </a:extLst>
          </p:cNvPr>
          <p:cNvSpPr/>
          <p:nvPr/>
        </p:nvSpPr>
        <p:spPr>
          <a:xfrm>
            <a:off x="1364032" y="4072764"/>
            <a:ext cx="252408" cy="37946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xmlns="" id="{11CE2635-6A99-682B-B9AF-47F645F91031}"/>
              </a:ext>
            </a:extLst>
          </p:cNvPr>
          <p:cNvSpPr txBox="1"/>
          <p:nvPr/>
        </p:nvSpPr>
        <p:spPr>
          <a:xfrm>
            <a:off x="384551" y="1038503"/>
            <a:ext cx="4410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+mj-lt"/>
              </a:rPr>
              <a:t>Step 4: Calculate followpos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xmlns="" id="{59D8D126-5C35-A24D-E90A-53FBCD35752C}"/>
                  </a:ext>
                </a:extLst>
              </p:cNvPr>
              <p:cNvSpPr txBox="1"/>
              <p:nvPr/>
            </p:nvSpPr>
            <p:spPr>
              <a:xfrm>
                <a:off x="731045" y="591679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9D8D126-5C35-A24D-E90A-53FBCD3575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045" y="5916794"/>
                <a:ext cx="381000" cy="369332"/>
              </a:xfrm>
              <a:prstGeom prst="rect">
                <a:avLst/>
              </a:prstGeom>
              <a:blipFill rotWithShape="0"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xmlns="" id="{A32A6CE2-EE83-18AE-783E-B3AEC1AF0833}"/>
                  </a:ext>
                </a:extLst>
              </p:cNvPr>
              <p:cNvSpPr txBox="1"/>
              <p:nvPr/>
            </p:nvSpPr>
            <p:spPr>
              <a:xfrm>
                <a:off x="1838325" y="5900601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32A6CE2-EE83-18AE-783E-B3AEC1AF08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325" y="5900601"/>
                <a:ext cx="381000" cy="369332"/>
              </a:xfrm>
              <a:prstGeom prst="rect">
                <a:avLst/>
              </a:prstGeom>
              <a:blipFill rotWithShape="0"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xmlns="" id="{84939645-2656-E5D1-72D0-2F7C6304C315}"/>
                  </a:ext>
                </a:extLst>
              </p:cNvPr>
              <p:cNvSpPr txBox="1"/>
              <p:nvPr/>
            </p:nvSpPr>
            <p:spPr>
              <a:xfrm>
                <a:off x="3114683" y="383198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4939645-2656-E5D1-72D0-2F7C6304C3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4683" y="3831988"/>
                <a:ext cx="381000" cy="369332"/>
              </a:xfrm>
              <a:prstGeom prst="rect">
                <a:avLst/>
              </a:prstGeom>
              <a:blipFill rotWithShape="0"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xmlns="" id="{11DC413C-E7DA-40F8-7900-4457291DF017}"/>
                  </a:ext>
                </a:extLst>
              </p:cNvPr>
              <p:cNvSpPr txBox="1"/>
              <p:nvPr/>
            </p:nvSpPr>
            <p:spPr>
              <a:xfrm>
                <a:off x="2462199" y="4412930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1DC413C-E7DA-40F8-7900-4457291DF0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2199" y="4412930"/>
                <a:ext cx="381000" cy="369332"/>
              </a:xfrm>
              <a:prstGeom prst="rect">
                <a:avLst/>
              </a:prstGeom>
              <a:blipFill rotWithShape="0"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xmlns="" id="{56EF3592-A826-F3F4-80B1-D1D725252E23}"/>
                  </a:ext>
                </a:extLst>
              </p:cNvPr>
              <p:cNvSpPr txBox="1"/>
              <p:nvPr/>
            </p:nvSpPr>
            <p:spPr>
              <a:xfrm>
                <a:off x="3767138" y="3315635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6EF3592-A826-F3F4-80B1-D1D725252E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7138" y="3315635"/>
                <a:ext cx="381000" cy="369332"/>
              </a:xfrm>
              <a:prstGeom prst="rect">
                <a:avLst/>
              </a:prstGeom>
              <a:blipFill rotWithShape="0"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xmlns="" id="{966F6B83-EC87-15D7-D3B2-EEA21C1D018D}"/>
                  </a:ext>
                </a:extLst>
              </p:cNvPr>
              <p:cNvSpPr txBox="1"/>
              <p:nvPr/>
            </p:nvSpPr>
            <p:spPr>
              <a:xfrm>
                <a:off x="4394564" y="2772419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966F6B83-EC87-15D7-D3B2-EEA21C1D01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4564" y="2772419"/>
                <a:ext cx="381000" cy="369332"/>
              </a:xfrm>
              <a:prstGeom prst="rect">
                <a:avLst/>
              </a:prstGeom>
              <a:blipFill rotWithShape="0"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Rectangle 58">
            <a:extLst>
              <a:ext uri="{FF2B5EF4-FFF2-40B4-BE49-F238E27FC236}">
                <a16:creationId xmlns:a16="http://schemas.microsoft.com/office/drawing/2014/main" xmlns="" id="{2367F2DA-100A-C542-0F60-7E25303C3A03}"/>
              </a:ext>
            </a:extLst>
          </p:cNvPr>
          <p:cNvSpPr/>
          <p:nvPr/>
        </p:nvSpPr>
        <p:spPr>
          <a:xfrm>
            <a:off x="4443390" y="3520951"/>
            <a:ext cx="4306722" cy="2854660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graphicFrame>
        <p:nvGraphicFramePr>
          <p:cNvPr id="60" name="Content Placeholder 3">
            <a:extLst>
              <a:ext uri="{FF2B5EF4-FFF2-40B4-BE49-F238E27FC236}">
                <a16:creationId xmlns:a16="http://schemas.microsoft.com/office/drawing/2014/main" xmlns="" id="{96C83FBB-E095-AA95-514D-CAC76F1AEFFF}"/>
              </a:ext>
            </a:extLst>
          </p:cNvPr>
          <p:cNvGraphicFramePr/>
          <p:nvPr>
            <p:extLst/>
          </p:nvPr>
        </p:nvGraphicFramePr>
        <p:xfrm>
          <a:off x="6400800" y="1510275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6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xmlns="" id="{54076CF1-DBDF-B2BB-616D-6CB84052DBC4}"/>
                  </a:ext>
                </a:extLst>
              </p:cNvPr>
              <p:cNvSpPr txBox="1"/>
              <p:nvPr/>
            </p:nvSpPr>
            <p:spPr>
              <a:xfrm>
                <a:off x="6392542" y="4153981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en-US" b="1" baseline="-25000">
                  <a:latin typeface="+mj-lt"/>
                </a:endParaRPr>
              </a:p>
            </p:txBody>
          </p:sp>
        </mc:Choice>
        <mc:Fallback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4076CF1-DBDF-B2BB-616D-6CB84052DB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2542" y="4153981"/>
                <a:ext cx="381000" cy="369332"/>
              </a:xfrm>
              <a:prstGeom prst="rect">
                <a:avLst/>
              </a:prstGeom>
              <a:blipFill rotWithShape="0"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2" name="Content Placeholder 3">
            <a:extLst>
              <a:ext uri="{FF2B5EF4-FFF2-40B4-BE49-F238E27FC236}">
                <a16:creationId xmlns:a16="http://schemas.microsoft.com/office/drawing/2014/main" xmlns="" id="{E80A1F1B-8FB6-C125-A920-EA2C69213AF3}"/>
              </a:ext>
            </a:extLst>
          </p:cNvPr>
          <p:cNvGraphicFramePr/>
          <p:nvPr>
            <p:extLst/>
          </p:nvPr>
        </p:nvGraphicFramePr>
        <p:xfrm>
          <a:off x="6400800" y="1905214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5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3" name="Content Placeholder 3">
            <a:extLst>
              <a:ext uri="{FF2B5EF4-FFF2-40B4-BE49-F238E27FC236}">
                <a16:creationId xmlns:a16="http://schemas.microsoft.com/office/drawing/2014/main" xmlns="" id="{2035F6D5-6BED-ED90-2387-9C975861316F}"/>
              </a:ext>
            </a:extLst>
          </p:cNvPr>
          <p:cNvGraphicFramePr/>
          <p:nvPr>
            <p:extLst/>
          </p:nvPr>
        </p:nvGraphicFramePr>
        <p:xfrm>
          <a:off x="6400800" y="2290502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4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4" name="Content Placeholder 3">
            <a:extLst>
              <a:ext uri="{FF2B5EF4-FFF2-40B4-BE49-F238E27FC236}">
                <a16:creationId xmlns:a16="http://schemas.microsoft.com/office/drawing/2014/main" xmlns="" id="{51FC7D84-402A-3916-8CD7-F9ACBDDA3FE0}"/>
              </a:ext>
            </a:extLst>
          </p:cNvPr>
          <p:cNvGraphicFramePr/>
          <p:nvPr>
            <p:extLst/>
          </p:nvPr>
        </p:nvGraphicFramePr>
        <p:xfrm>
          <a:off x="6400800" y="2684713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5" name="Content Placeholder 3">
            <a:extLst>
              <a:ext uri="{FF2B5EF4-FFF2-40B4-BE49-F238E27FC236}">
                <a16:creationId xmlns:a16="http://schemas.microsoft.com/office/drawing/2014/main" xmlns="" id="{F439BF8C-38E7-0A86-B822-762B9D43B95B}"/>
              </a:ext>
            </a:extLst>
          </p:cNvPr>
          <p:cNvGraphicFramePr/>
          <p:nvPr>
            <p:extLst/>
          </p:nvPr>
        </p:nvGraphicFramePr>
        <p:xfrm>
          <a:off x="6400800" y="3078406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xmlns="" id="{B4903267-B0C4-8FC0-0DFD-067ABDD4FECB}"/>
                  </a:ext>
                </a:extLst>
              </p:cNvPr>
              <p:cNvSpPr txBox="1"/>
              <p:nvPr/>
            </p:nvSpPr>
            <p:spPr>
              <a:xfrm>
                <a:off x="5854098" y="3826219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4903267-B0C4-8FC0-0DFD-067ABDD4FE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4098" y="3826219"/>
                <a:ext cx="381000" cy="369332"/>
              </a:xfrm>
              <a:prstGeom prst="rect">
                <a:avLst/>
              </a:prstGeom>
              <a:blipFill rotWithShape="0">
                <a:blip r:embed="rId41"/>
                <a:stretch>
                  <a:fillRect l="-4762" r="-80952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xmlns="" id="{C50FD48A-DD4A-AA2E-2F00-5F9F8ADCCC96}"/>
                  </a:ext>
                </a:extLst>
              </p:cNvPr>
              <p:cNvSpPr txBox="1"/>
              <p:nvPr/>
            </p:nvSpPr>
            <p:spPr>
              <a:xfrm>
                <a:off x="6687573" y="3841339"/>
                <a:ext cx="4071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50FD48A-DD4A-AA2E-2F00-5F9F8ADCCC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7573" y="3841339"/>
                <a:ext cx="407191" cy="369332"/>
              </a:xfrm>
              <a:prstGeom prst="rect">
                <a:avLst/>
              </a:prstGeom>
              <a:blipFill rotWithShape="0">
                <a:blip r:embed="rId42"/>
                <a:stretch>
                  <a:fillRect l="-4478" r="-70149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Oval 67">
            <a:extLst>
              <a:ext uri="{FF2B5EF4-FFF2-40B4-BE49-F238E27FC236}">
                <a16:creationId xmlns:a16="http://schemas.microsoft.com/office/drawing/2014/main" xmlns="" id="{F67D69D5-96E6-872F-8BD1-85C18F29D402}"/>
              </a:ext>
            </a:extLst>
          </p:cNvPr>
          <p:cNvSpPr/>
          <p:nvPr/>
        </p:nvSpPr>
        <p:spPr>
          <a:xfrm>
            <a:off x="6459914" y="3824065"/>
            <a:ext cx="252408" cy="37946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*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xmlns="" id="{7F68EBA1-1764-5FB1-B513-DB134E15FFB1}"/>
              </a:ext>
            </a:extLst>
          </p:cNvPr>
          <p:cNvSpPr txBox="1"/>
          <p:nvPr/>
        </p:nvSpPr>
        <p:spPr>
          <a:xfrm>
            <a:off x="7594506" y="2686573"/>
            <a:ext cx="631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+mj-lt"/>
              </a:rPr>
              <a:t>1,2,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xmlns="" id="{A9A6C268-36BF-D26A-4FCA-786A70D279E1}"/>
              </a:ext>
            </a:extLst>
          </p:cNvPr>
          <p:cNvSpPr txBox="1"/>
          <p:nvPr/>
        </p:nvSpPr>
        <p:spPr>
          <a:xfrm>
            <a:off x="7594506" y="3079752"/>
            <a:ext cx="631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+mj-lt"/>
              </a:rPr>
              <a:t>1,2,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xmlns="" id="{9600BAC3-2531-EC4F-DC8C-8F94E69DD337}"/>
              </a:ext>
            </a:extLst>
          </p:cNvPr>
          <p:cNvSpPr/>
          <p:nvPr/>
        </p:nvSpPr>
        <p:spPr>
          <a:xfrm>
            <a:off x="-285030" y="1494750"/>
            <a:ext cx="2140820" cy="11102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err="1">
                <a:solidFill>
                  <a:srgbClr val="FF0000"/>
                </a:solidFill>
                <a:latin typeface="+mj-lt"/>
              </a:rPr>
              <a:t>Firstpos</a:t>
            </a:r>
            <a:endParaRPr lang="en-US" sz="2000" b="1">
              <a:solidFill>
                <a:srgbClr val="FF0000"/>
              </a:solidFill>
              <a:latin typeface="+mj-lt"/>
            </a:endParaRPr>
          </a:p>
          <a:p>
            <a:pPr algn="ctr"/>
            <a:r>
              <a:rPr lang="en-US" sz="2000" b="1" err="1">
                <a:solidFill>
                  <a:srgbClr val="009644"/>
                </a:solidFill>
                <a:latin typeface="+mj-lt"/>
              </a:rPr>
              <a:t>Lastpos</a:t>
            </a:r>
            <a:r>
              <a:rPr lang="en-US">
                <a:solidFill>
                  <a:srgbClr val="FF0000"/>
                </a:solidFill>
                <a:latin typeface="+mj-lt"/>
              </a:rPr>
              <a:t> 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xmlns="" id="{C01E7434-6810-ADD5-2A5E-3B5C7BCCECE9}"/>
              </a:ext>
            </a:extLst>
          </p:cNvPr>
          <p:cNvCxnSpPr/>
          <p:nvPr/>
        </p:nvCxnSpPr>
        <p:spPr>
          <a:xfrm>
            <a:off x="1246190" y="1928449"/>
            <a:ext cx="30480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xmlns="" id="{82CD45F9-CF94-F095-CDEA-E87643CAC47F}"/>
              </a:ext>
            </a:extLst>
          </p:cNvPr>
          <p:cNvCxnSpPr/>
          <p:nvPr/>
        </p:nvCxnSpPr>
        <p:spPr>
          <a:xfrm>
            <a:off x="1246190" y="2244617"/>
            <a:ext cx="304800" cy="0"/>
          </a:xfrm>
          <a:prstGeom prst="line">
            <a:avLst/>
          </a:prstGeom>
          <a:ln w="25400">
            <a:solidFill>
              <a:srgbClr val="0096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xmlns="" id="{1055EF5F-6013-01C7-5E74-06C8A3DF918F}"/>
                  </a:ext>
                </a:extLst>
              </p:cNvPr>
              <p:cNvSpPr txBox="1"/>
              <p:nvPr/>
            </p:nvSpPr>
            <p:spPr>
              <a:xfrm>
                <a:off x="4450534" y="5011295"/>
                <a:ext cx="4299578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000" i="1" err="1">
                          <a:latin typeface="Cambria Math" panose="02040503050406030204" pitchFamily="18" charset="0"/>
                        </a:rPr>
                        <m:t>𝑙𝑎𝑠𝑡𝑝𝑜𝑠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 = {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1,2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0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err="1">
                          <a:latin typeface="Cambria Math" panose="02040503050406030204" pitchFamily="18" charset="0"/>
                        </a:rPr>
                        <m:t>𝑓𝑖𝑟𝑠𝑡𝑝𝑜𝑠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US" sz="20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𝑓𝑜𝑙𝑙𝑜𝑤𝑝𝑜𝑠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000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US" sz="2000">
                  <a:solidFill>
                    <a:srgbClr val="0E47A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𝑓𝑜𝑙𝑙𝑜𝑤𝑝𝑜𝑠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000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US" sz="200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 algn="ctr"/>
                <a:endParaRPr lang="en-US" sz="2000"/>
              </a:p>
            </p:txBody>
          </p:sp>
        </mc:Choice>
        <mc:Fallback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055EF5F-6013-01C7-5E74-06C8A3DF91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0534" y="5011295"/>
                <a:ext cx="4299578" cy="1631216"/>
              </a:xfrm>
              <a:prstGeom prst="rect">
                <a:avLst/>
              </a:prstGeom>
              <a:blipFill rotWithShape="0"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7158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9C107E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mph" presetSubtype="0" dur="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9" grpId="0" animBg="1"/>
      <p:bldP spid="61" grpId="0"/>
      <p:bldP spid="66" grpId="0"/>
      <p:bldP spid="67" grpId="0"/>
      <p:bldP spid="68" grpId="0" animBg="1"/>
      <p:bldP spid="69" grpId="0"/>
      <p:bldP spid="70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51AEC1A-7EB4-BB8A-9253-C092D8541A6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Conversion from regular expression to DFA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1BE41EB0-CF09-6283-4255-AA710B305A7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81" y="863444"/>
                <a:ext cx="6285662" cy="5590565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1pPr>
                <a:lvl2pPr marL="6858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>
                    <a:latin typeface="+mj-lt"/>
                  </a:rPr>
                  <a:t>Initial state =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err="1">
                        <a:latin typeface="Cambria Math" panose="02040503050406030204" pitchFamily="18" charset="0"/>
                      </a:rPr>
                      <m:t>𝑖𝑟𝑠𝑡𝑝𝑜𝑠</m:t>
                    </m:r>
                  </m:oMath>
                </a14:m>
                <a:r>
                  <a:rPr lang="en-US">
                    <a:latin typeface="+mj-lt"/>
                  </a:rPr>
                  <a:t> of root = {1,2,3} ----- A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b="1" u="sng">
                    <a:latin typeface="+mj-lt"/>
                  </a:rPr>
                  <a:t>State A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l-GR">
                    <a:latin typeface="+mj-lt"/>
                  </a:rPr>
                  <a:t>δ</a:t>
                </a:r>
                <a:r>
                  <a:rPr lang="en-US">
                    <a:latin typeface="+mj-lt"/>
                  </a:rPr>
                  <a:t>( (1,2,3),a) = followpos(1) U followpos(3)</a:t>
                </a:r>
              </a:p>
              <a:p>
                <a:pPr marL="0" indent="0" defTabSz="742950">
                  <a:buFont typeface="Arial" panose="020B0604020202020204" pitchFamily="34" charset="0"/>
                  <a:buNone/>
                </a:pPr>
                <a:r>
                  <a:rPr lang="en-US">
                    <a:latin typeface="+mj-lt"/>
                  </a:rPr>
                  <a:t>		=(1,2,3) U (4) = {1,2,3,4} ----- B</a:t>
                </a:r>
              </a:p>
              <a:p>
                <a:pPr marL="0" indent="0" defTabSz="742950">
                  <a:buFont typeface="Arial" panose="020B0604020202020204" pitchFamily="34" charset="0"/>
                  <a:buNone/>
                </a:pPr>
                <a:endParaRPr lang="en-US">
                  <a:latin typeface="+mj-lt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l-GR">
                    <a:latin typeface="+mj-lt"/>
                  </a:rPr>
                  <a:t>δ</a:t>
                </a:r>
                <a:r>
                  <a:rPr lang="en-US">
                    <a:latin typeface="+mj-lt"/>
                  </a:rPr>
                  <a:t>( (1,2,3),b) = followpos(2) </a:t>
                </a:r>
              </a:p>
              <a:p>
                <a:pPr marL="0" indent="0" defTabSz="742950">
                  <a:buFont typeface="Arial" panose="020B0604020202020204" pitchFamily="34" charset="0"/>
                  <a:buNone/>
                </a:pPr>
                <a:r>
                  <a:rPr lang="en-US">
                    <a:latin typeface="+mj-lt"/>
                  </a:rPr>
                  <a:t>		=(1,2,3) ----- A</a:t>
                </a:r>
              </a:p>
              <a:p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BE41EB0-CF09-6283-4255-AA710B305A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1" y="863444"/>
                <a:ext cx="6285662" cy="5590565"/>
              </a:xfrm>
              <a:prstGeom prst="rect">
                <a:avLst/>
              </a:prstGeom>
              <a:blipFill rotWithShape="0">
                <a:blip r:embed="rId2"/>
                <a:stretch>
                  <a:fillRect l="-2037" t="-1963" r="-19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0215DCEF-86B3-A038-F15F-6E108B57FBA7}"/>
              </a:ext>
            </a:extLst>
          </p:cNvPr>
          <p:cNvGraphicFramePr/>
          <p:nvPr>
            <p:extLst/>
          </p:nvPr>
        </p:nvGraphicFramePr>
        <p:xfrm>
          <a:off x="6400800" y="1141245"/>
          <a:ext cx="2349312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Position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err="1"/>
                        <a:t>followpos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xmlns="" id="{31CE973D-F9B8-94F4-948F-4FF05282EDB7}"/>
              </a:ext>
            </a:extLst>
          </p:cNvPr>
          <p:cNvGraphicFramePr/>
          <p:nvPr>
            <p:extLst/>
          </p:nvPr>
        </p:nvGraphicFramePr>
        <p:xfrm>
          <a:off x="6400800" y="1510275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6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xmlns="" id="{3F31F04C-2434-9F23-E9F8-1ACE049E34F8}"/>
              </a:ext>
            </a:extLst>
          </p:cNvPr>
          <p:cNvGraphicFramePr/>
          <p:nvPr>
            <p:extLst/>
          </p:nvPr>
        </p:nvGraphicFramePr>
        <p:xfrm>
          <a:off x="6400800" y="1905214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5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xmlns="" id="{C286ACCA-466D-3CDE-091F-55394AF9EB67}"/>
              </a:ext>
            </a:extLst>
          </p:cNvPr>
          <p:cNvGraphicFramePr/>
          <p:nvPr>
            <p:extLst/>
          </p:nvPr>
        </p:nvGraphicFramePr>
        <p:xfrm>
          <a:off x="6400800" y="2290502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4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xmlns="" id="{963B1838-786D-7AF1-ECF6-C19D9E1A4833}"/>
              </a:ext>
            </a:extLst>
          </p:cNvPr>
          <p:cNvGraphicFramePr/>
          <p:nvPr>
            <p:extLst/>
          </p:nvPr>
        </p:nvGraphicFramePr>
        <p:xfrm>
          <a:off x="6400800" y="2684713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1,2,3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xmlns="" id="{5E71E73B-64BF-B987-CE75-E566779F758C}"/>
              </a:ext>
            </a:extLst>
          </p:cNvPr>
          <p:cNvGraphicFramePr/>
          <p:nvPr>
            <p:extLst/>
          </p:nvPr>
        </p:nvGraphicFramePr>
        <p:xfrm>
          <a:off x="6400800" y="3078406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1,2,3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xmlns="" id="{43E5762B-B291-1938-A68D-23CCE99F3B3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419371" y="3981961"/>
          <a:ext cx="2606995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5302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4436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 b="1"/>
                        <a:t>States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n-US" sz="1800" b="1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/>
                        <a:t>b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xmlns="" id="{4F5529B7-1ECE-1CC5-7578-3BB31B738C31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419371" y="4347721"/>
          <a:ext cx="2606995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5302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4436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A={1,2,3}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A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xmlns="" id="{9B380305-2841-D4E4-38DB-AC0C1AB451DC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419371" y="4711284"/>
          <a:ext cx="2606995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5302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4436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B={1,2,3,4}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9852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4D62030-7C90-8C54-5AB1-165F3E2D35E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Conversion from regular expression to DFA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029D46A-D8A5-C3D6-F798-8B29A911D7F0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u="sng" dirty="0"/>
              <a:t>State B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l-GR" sz="2400" dirty="0"/>
              <a:t>δ</a:t>
            </a:r>
            <a:r>
              <a:rPr lang="en-US" sz="2400" dirty="0"/>
              <a:t>( (1,2,3,4),a) = </a:t>
            </a:r>
            <a:r>
              <a:rPr lang="en-US" sz="2400" dirty="0" err="1"/>
              <a:t>followpos</a:t>
            </a:r>
            <a:r>
              <a:rPr lang="en-US" sz="2400" dirty="0"/>
              <a:t>(1) U </a:t>
            </a:r>
            <a:r>
              <a:rPr lang="en-US" sz="2400" dirty="0" err="1"/>
              <a:t>followpos</a:t>
            </a:r>
            <a:r>
              <a:rPr lang="en-US" sz="2400" dirty="0"/>
              <a:t>(3)</a:t>
            </a:r>
          </a:p>
          <a:p>
            <a:pPr marL="0" indent="0" defTabSz="857250">
              <a:buFont typeface="Arial" panose="020B0604020202020204" pitchFamily="34" charset="0"/>
              <a:buNone/>
            </a:pPr>
            <a:r>
              <a:rPr lang="en-US" sz="2400" dirty="0"/>
              <a:t>		=(1,2,3) U (4) = {1,2,3,4} ----- B</a:t>
            </a:r>
          </a:p>
          <a:p>
            <a:pPr marL="0" indent="0" defTabSz="742950">
              <a:buFont typeface="Arial" panose="020B0604020202020204" pitchFamily="34" charset="0"/>
              <a:buNone/>
            </a:pPr>
            <a:endParaRPr lang="en-US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l-GR" sz="2400" dirty="0"/>
              <a:t>δ</a:t>
            </a:r>
            <a:r>
              <a:rPr lang="en-US" sz="2400" dirty="0"/>
              <a:t>( (1,2,3,4),b) = </a:t>
            </a:r>
            <a:r>
              <a:rPr lang="en-US" sz="2400" dirty="0" err="1"/>
              <a:t>followpos</a:t>
            </a:r>
            <a:r>
              <a:rPr lang="en-US" sz="2400" dirty="0"/>
              <a:t>(2) U </a:t>
            </a:r>
            <a:r>
              <a:rPr lang="en-US" sz="2400" dirty="0" err="1"/>
              <a:t>followpos</a:t>
            </a:r>
            <a:r>
              <a:rPr lang="en-US" sz="2400" dirty="0"/>
              <a:t>(4)</a:t>
            </a:r>
          </a:p>
          <a:p>
            <a:pPr marL="0" indent="0" defTabSz="857250">
              <a:buFont typeface="Arial" panose="020B0604020202020204" pitchFamily="34" charset="0"/>
              <a:buNone/>
            </a:pPr>
            <a:r>
              <a:rPr lang="en-US" sz="2400" dirty="0"/>
              <a:t> 		=(1,2,3) U (5) = {1,2,3,5} ----- C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b="1" u="sng" dirty="0"/>
              <a:t>State C</a:t>
            </a:r>
            <a:endParaRPr lang="en-US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l-GR" sz="2400" dirty="0"/>
              <a:t>δ</a:t>
            </a:r>
            <a:r>
              <a:rPr lang="en-US" sz="2400" dirty="0"/>
              <a:t>( (1,2,3,5),a) = </a:t>
            </a:r>
            <a:r>
              <a:rPr lang="en-US" sz="2400" dirty="0" err="1"/>
              <a:t>followpos</a:t>
            </a:r>
            <a:r>
              <a:rPr lang="en-US" sz="2400" dirty="0"/>
              <a:t>(1) U </a:t>
            </a:r>
            <a:r>
              <a:rPr lang="en-US" sz="2400" dirty="0" err="1"/>
              <a:t>followpos</a:t>
            </a:r>
            <a:r>
              <a:rPr lang="en-US" sz="2400" dirty="0"/>
              <a:t>(3)</a:t>
            </a:r>
          </a:p>
          <a:p>
            <a:pPr marL="0" indent="0" defTabSz="857250">
              <a:buFont typeface="Arial" panose="020B0604020202020204" pitchFamily="34" charset="0"/>
              <a:buNone/>
            </a:pPr>
            <a:r>
              <a:rPr lang="en-US" sz="2400" dirty="0"/>
              <a:t>		=(1,2,3) U (4) = {1,2,3,4} ----- B</a:t>
            </a:r>
          </a:p>
          <a:p>
            <a:pPr marL="0" indent="0" defTabSz="742950">
              <a:buFont typeface="Arial" panose="020B0604020202020204" pitchFamily="34" charset="0"/>
              <a:buNone/>
            </a:pPr>
            <a:endParaRPr lang="en-US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l-GR" sz="2400" dirty="0"/>
              <a:t>δ</a:t>
            </a:r>
            <a:r>
              <a:rPr lang="en-US" sz="2400" dirty="0"/>
              <a:t>( (1,2,3,5),b) = </a:t>
            </a:r>
            <a:r>
              <a:rPr lang="en-US" sz="2400" dirty="0" err="1"/>
              <a:t>followpos</a:t>
            </a:r>
            <a:r>
              <a:rPr lang="en-US" sz="2400" dirty="0"/>
              <a:t>(2) U </a:t>
            </a:r>
            <a:r>
              <a:rPr lang="en-US" sz="2400" dirty="0" err="1"/>
              <a:t>followpos</a:t>
            </a:r>
            <a:r>
              <a:rPr lang="en-US" sz="2400" dirty="0"/>
              <a:t>(5)</a:t>
            </a:r>
          </a:p>
          <a:p>
            <a:pPr marL="0" indent="0" defTabSz="857250">
              <a:buFont typeface="Arial" panose="020B0604020202020204" pitchFamily="34" charset="0"/>
              <a:buNone/>
            </a:pPr>
            <a:r>
              <a:rPr lang="en-US" sz="2400" dirty="0"/>
              <a:t> 		=(1,2,3) U (6) = {1,2,3,6} ----- D</a:t>
            </a:r>
          </a:p>
          <a:p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463BEA79-091A-42E3-2111-95BFB492779C}"/>
              </a:ext>
            </a:extLst>
          </p:cNvPr>
          <p:cNvGraphicFramePr/>
          <p:nvPr>
            <p:extLst/>
          </p:nvPr>
        </p:nvGraphicFramePr>
        <p:xfrm>
          <a:off x="6400800" y="1141245"/>
          <a:ext cx="2349312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Position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err="1"/>
                        <a:t>followpos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xmlns="" id="{27169B43-2ABE-4619-357E-CFFF521BFDD6}"/>
              </a:ext>
            </a:extLst>
          </p:cNvPr>
          <p:cNvGraphicFramePr/>
          <p:nvPr>
            <p:extLst/>
          </p:nvPr>
        </p:nvGraphicFramePr>
        <p:xfrm>
          <a:off x="6400800" y="1510275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6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xmlns="" id="{B5C9129A-AB96-2CC9-7B72-101B0EFB8D65}"/>
              </a:ext>
            </a:extLst>
          </p:cNvPr>
          <p:cNvGraphicFramePr/>
          <p:nvPr>
            <p:extLst/>
          </p:nvPr>
        </p:nvGraphicFramePr>
        <p:xfrm>
          <a:off x="6400800" y="1905214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5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xmlns="" id="{85BBB96C-3809-8059-CC5A-B5F48D6892B6}"/>
              </a:ext>
            </a:extLst>
          </p:cNvPr>
          <p:cNvGraphicFramePr/>
          <p:nvPr>
            <p:extLst/>
          </p:nvPr>
        </p:nvGraphicFramePr>
        <p:xfrm>
          <a:off x="6400800" y="2290502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4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xmlns="" id="{5F434426-87D4-77CA-CACA-7438066FB669}"/>
              </a:ext>
            </a:extLst>
          </p:cNvPr>
          <p:cNvGraphicFramePr/>
          <p:nvPr>
            <p:extLst/>
          </p:nvPr>
        </p:nvGraphicFramePr>
        <p:xfrm>
          <a:off x="6400800" y="2684713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1,2,3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xmlns="" id="{04C73F4B-CA44-867A-14F2-2D69CD36CA47}"/>
              </a:ext>
            </a:extLst>
          </p:cNvPr>
          <p:cNvGraphicFramePr/>
          <p:nvPr>
            <p:extLst/>
          </p:nvPr>
        </p:nvGraphicFramePr>
        <p:xfrm>
          <a:off x="6400800" y="3078406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1,2,3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xmlns="" id="{073B6D53-AA0D-96AF-9C5B-D88CB9BAB46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419371" y="3981961"/>
          <a:ext cx="2606995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5302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4436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 b="1"/>
                        <a:t>States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n-US" sz="1800" b="1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/>
                        <a:t>b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xmlns="" id="{AA809AF4-5C3C-4B5A-453D-A123029907AC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419371" y="4347721"/>
          <a:ext cx="2606995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5302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4436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A={1,2,3}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A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xmlns="" id="{B658090D-DA42-3C62-31B2-A63EB7A53F4B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419371" y="4713481"/>
          <a:ext cx="2606995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5302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4436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B={1,2,3,4}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xmlns="" id="{F8AC0322-467C-7559-6D51-792B077F1C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5567638"/>
              </p:ext>
            </p:extLst>
          </p:nvPr>
        </p:nvGraphicFramePr>
        <p:xfrm>
          <a:off x="6419371" y="5079241"/>
          <a:ext cx="2606995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5302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4436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C={1,2,3,5}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D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xmlns="" id="{C3EABD34-746A-1FC2-369D-051B59A14E03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419371" y="5445001"/>
          <a:ext cx="2606995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5302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4436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D={1,2,3,6}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0177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60869B8-357D-B1F6-CF67-56F22541AE03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Conversion from regular expression to DFA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619B9E3-8AC1-82A6-75C8-7940E5424F22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u="sng" dirty="0"/>
              <a:t>State D</a:t>
            </a: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l-GR" sz="2400" dirty="0"/>
              <a:t>δ</a:t>
            </a:r>
            <a:r>
              <a:rPr lang="en-US" sz="2400" dirty="0"/>
              <a:t>( (1,2,3,6),a) = </a:t>
            </a:r>
            <a:r>
              <a:rPr lang="en-US" sz="2400" dirty="0" err="1"/>
              <a:t>followpos</a:t>
            </a:r>
            <a:r>
              <a:rPr lang="en-US" sz="2400" dirty="0"/>
              <a:t>(1) U </a:t>
            </a:r>
            <a:r>
              <a:rPr lang="en-US" sz="2400" dirty="0" err="1"/>
              <a:t>followpos</a:t>
            </a:r>
            <a:r>
              <a:rPr lang="en-US" sz="2400" dirty="0"/>
              <a:t>(3)</a:t>
            </a:r>
          </a:p>
          <a:p>
            <a:pPr marL="0" indent="0" defTabSz="857250">
              <a:buFont typeface="Arial" panose="020B0604020202020204" pitchFamily="34" charset="0"/>
              <a:buNone/>
            </a:pPr>
            <a:r>
              <a:rPr lang="en-US" sz="2400" dirty="0"/>
              <a:t>		=(1,2,3) U (4) = {1,2,3,4} ----- B</a:t>
            </a:r>
          </a:p>
          <a:p>
            <a:pPr marL="0" indent="0" defTabSz="742950">
              <a:buFont typeface="Arial" panose="020B0604020202020204" pitchFamily="34" charset="0"/>
              <a:buNone/>
            </a:pPr>
            <a:endParaRPr lang="en-US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l-GR" sz="2400" dirty="0"/>
              <a:t>δ</a:t>
            </a:r>
            <a:r>
              <a:rPr lang="en-US" sz="2400" dirty="0"/>
              <a:t>( (1,2,3,6),b) = </a:t>
            </a:r>
            <a:r>
              <a:rPr lang="en-US" sz="2400" dirty="0" err="1"/>
              <a:t>followpos</a:t>
            </a:r>
            <a:r>
              <a:rPr lang="en-US" sz="2400" dirty="0"/>
              <a:t>(2) </a:t>
            </a:r>
          </a:p>
          <a:p>
            <a:pPr marL="0" indent="0" defTabSz="857250">
              <a:buFont typeface="Arial" panose="020B0604020202020204" pitchFamily="34" charset="0"/>
              <a:buNone/>
            </a:pPr>
            <a:r>
              <a:rPr lang="en-US" sz="2400" dirty="0"/>
              <a:t> 		=(1,2,3)  ----- A</a:t>
            </a:r>
          </a:p>
          <a:p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1E1BD449-4905-AB24-C79C-6463BEA7806D}"/>
              </a:ext>
            </a:extLst>
          </p:cNvPr>
          <p:cNvGraphicFramePr/>
          <p:nvPr>
            <p:extLst/>
          </p:nvPr>
        </p:nvGraphicFramePr>
        <p:xfrm>
          <a:off x="6400800" y="1141245"/>
          <a:ext cx="2349312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Position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err="1"/>
                        <a:t>followpos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xmlns="" id="{0146CABE-56C4-4AB7-E87C-4401BF86A8A9}"/>
              </a:ext>
            </a:extLst>
          </p:cNvPr>
          <p:cNvGraphicFramePr/>
          <p:nvPr>
            <p:extLst/>
          </p:nvPr>
        </p:nvGraphicFramePr>
        <p:xfrm>
          <a:off x="6400800" y="1510275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6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xmlns="" id="{A43F2498-03B8-C6CA-67FB-DC5A315F2170}"/>
              </a:ext>
            </a:extLst>
          </p:cNvPr>
          <p:cNvGraphicFramePr/>
          <p:nvPr>
            <p:extLst/>
          </p:nvPr>
        </p:nvGraphicFramePr>
        <p:xfrm>
          <a:off x="6400800" y="1905214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5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xmlns="" id="{75A4D74F-BB26-8AE8-DD0A-6D00524DFA0F}"/>
              </a:ext>
            </a:extLst>
          </p:cNvPr>
          <p:cNvGraphicFramePr/>
          <p:nvPr>
            <p:extLst/>
          </p:nvPr>
        </p:nvGraphicFramePr>
        <p:xfrm>
          <a:off x="6400800" y="2290502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4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xmlns="" id="{AA83AAEB-0DD1-FB94-9940-BDE6E53FD0C9}"/>
              </a:ext>
            </a:extLst>
          </p:cNvPr>
          <p:cNvGraphicFramePr/>
          <p:nvPr>
            <p:extLst/>
          </p:nvPr>
        </p:nvGraphicFramePr>
        <p:xfrm>
          <a:off x="6400800" y="2684713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1,2,3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xmlns="" id="{D95E5DC6-244F-B634-E3F9-121CBB900C7F}"/>
              </a:ext>
            </a:extLst>
          </p:cNvPr>
          <p:cNvGraphicFramePr/>
          <p:nvPr>
            <p:extLst/>
          </p:nvPr>
        </p:nvGraphicFramePr>
        <p:xfrm>
          <a:off x="6400800" y="3078406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1,2,3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xmlns="" id="{4A2539F8-93DF-7AEB-E958-EB7D1CE73D5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419371" y="3981961"/>
          <a:ext cx="2606995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5302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4436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 b="1"/>
                        <a:t>States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n-US" sz="1800" b="1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/>
                        <a:t>b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xmlns="" id="{C32B7CD5-8F01-C608-2E81-23D18F8D3E43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419371" y="4347721"/>
          <a:ext cx="2606995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5302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4436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A={1,2,3}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A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xmlns="" id="{809F2EF9-CA77-C656-8A4D-8B001BC9CFA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419371" y="4713481"/>
          <a:ext cx="2606995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5302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4436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B={1,2,3,4}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xmlns="" id="{61126C9A-A135-E7A7-5762-A5A660A65FB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419371" y="5079241"/>
          <a:ext cx="2606995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5302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4436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C={1,2,3,5}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D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xmlns="" id="{F109B087-F244-0E87-9F26-545855D672B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419371" y="5445001"/>
          <a:ext cx="2606995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5302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4436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D={1,2,3,6}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A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17" name="Oval 16">
            <a:extLst>
              <a:ext uri="{FF2B5EF4-FFF2-40B4-BE49-F238E27FC236}">
                <a16:creationId xmlns:a16="http://schemas.microsoft.com/office/drawing/2014/main" xmlns="" id="{FC98A0C8-144B-07FB-C4AD-A09015EC0C60}"/>
              </a:ext>
            </a:extLst>
          </p:cNvPr>
          <p:cNvSpPr/>
          <p:nvPr/>
        </p:nvSpPr>
        <p:spPr>
          <a:xfrm>
            <a:off x="2011878" y="477567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A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xmlns="" id="{0E60BAC4-8CB0-1F32-4A6B-1169E733EED5}"/>
              </a:ext>
            </a:extLst>
          </p:cNvPr>
          <p:cNvSpPr/>
          <p:nvPr/>
        </p:nvSpPr>
        <p:spPr>
          <a:xfrm>
            <a:off x="3034367" y="477567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B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xmlns="" id="{00E1BCBF-DDFF-3EA8-FFAF-5E605F98661E}"/>
              </a:ext>
            </a:extLst>
          </p:cNvPr>
          <p:cNvSpPr/>
          <p:nvPr/>
        </p:nvSpPr>
        <p:spPr>
          <a:xfrm>
            <a:off x="4060695" y="478566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C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xmlns="" id="{78D9CA33-40C6-4B2D-77B3-F7920DFF14F9}"/>
              </a:ext>
            </a:extLst>
          </p:cNvPr>
          <p:cNvSpPr/>
          <p:nvPr/>
        </p:nvSpPr>
        <p:spPr>
          <a:xfrm>
            <a:off x="5080823" y="4775679"/>
            <a:ext cx="548640" cy="54864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D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xmlns="" id="{D72D6E34-697A-B9CB-368A-BA2E892C1CDE}"/>
              </a:ext>
            </a:extLst>
          </p:cNvPr>
          <p:cNvCxnSpPr/>
          <p:nvPr/>
        </p:nvCxnSpPr>
        <p:spPr>
          <a:xfrm>
            <a:off x="1452362" y="5004279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xmlns="" id="{EA06B480-59A8-D8D9-58D8-F2CC8198A060}"/>
              </a:ext>
            </a:extLst>
          </p:cNvPr>
          <p:cNvCxnSpPr/>
          <p:nvPr/>
        </p:nvCxnSpPr>
        <p:spPr>
          <a:xfrm>
            <a:off x="2461752" y="5014261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B63A5FED-0644-0995-3B9D-E04F4361BF4A}"/>
              </a:ext>
            </a:extLst>
          </p:cNvPr>
          <p:cNvSpPr/>
          <p:nvPr/>
        </p:nvSpPr>
        <p:spPr>
          <a:xfrm>
            <a:off x="2541708" y="4660120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xmlns="" id="{4A0C5319-1BC6-B1C2-E0FF-9327240296C0}"/>
              </a:ext>
            </a:extLst>
          </p:cNvPr>
          <p:cNvCxnSpPr/>
          <p:nvPr/>
        </p:nvCxnSpPr>
        <p:spPr>
          <a:xfrm>
            <a:off x="3489258" y="4990447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xmlns="" id="{36692605-8304-BCFD-B929-74F20C14F8E3}"/>
              </a:ext>
            </a:extLst>
          </p:cNvPr>
          <p:cNvSpPr/>
          <p:nvPr/>
        </p:nvSpPr>
        <p:spPr>
          <a:xfrm>
            <a:off x="3605855" y="4660120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xmlns="" id="{42C6DF7C-DEE8-BFB2-2C46-304BD8CAE3E2}"/>
              </a:ext>
            </a:extLst>
          </p:cNvPr>
          <p:cNvCxnSpPr/>
          <p:nvPr/>
        </p:nvCxnSpPr>
        <p:spPr>
          <a:xfrm>
            <a:off x="4525452" y="4989466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014DF248-0B37-6DD5-E433-E3181DB07869}"/>
              </a:ext>
            </a:extLst>
          </p:cNvPr>
          <p:cNvSpPr/>
          <p:nvPr/>
        </p:nvSpPr>
        <p:spPr>
          <a:xfrm>
            <a:off x="4602458" y="4660120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xmlns="" id="{6EA8D88F-09CA-AA3F-B9BB-9C469BB33840}"/>
              </a:ext>
            </a:extLst>
          </p:cNvPr>
          <p:cNvSpPr/>
          <p:nvPr/>
        </p:nvSpPr>
        <p:spPr>
          <a:xfrm>
            <a:off x="5149403" y="4844259"/>
            <a:ext cx="411480" cy="41148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xmlns="" id="{3D22FECD-B8DF-EA1F-AD70-2F68EECCAAB6}"/>
              </a:ext>
            </a:extLst>
          </p:cNvPr>
          <p:cNvCxnSpPr/>
          <p:nvPr/>
        </p:nvCxnSpPr>
        <p:spPr>
          <a:xfrm rot="5400000" flipV="1">
            <a:off x="2222698" y="4991379"/>
            <a:ext cx="12700" cy="323290"/>
          </a:xfrm>
          <a:prstGeom prst="curvedConnector3">
            <a:avLst>
              <a:gd name="adj1" fmla="val 3902205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xmlns="" id="{0EFCD1B7-4A61-119A-EB7C-35FA9C27B078}"/>
              </a:ext>
            </a:extLst>
          </p:cNvPr>
          <p:cNvSpPr/>
          <p:nvPr/>
        </p:nvSpPr>
        <p:spPr>
          <a:xfrm>
            <a:off x="2068239" y="5649911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b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xmlns="" id="{78CE8192-F3D0-65D1-F74E-1BEA18515024}"/>
              </a:ext>
            </a:extLst>
          </p:cNvPr>
          <p:cNvSpPr/>
          <p:nvPr/>
        </p:nvSpPr>
        <p:spPr>
          <a:xfrm>
            <a:off x="4127332" y="5271776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xmlns="" id="{573E99C9-001C-2765-21B4-CFA5A66AC017}"/>
              </a:ext>
            </a:extLst>
          </p:cNvPr>
          <p:cNvSpPr/>
          <p:nvPr/>
        </p:nvSpPr>
        <p:spPr>
          <a:xfrm>
            <a:off x="4904484" y="5400837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xmlns="" id="{484DF8AB-E62F-319B-4C2B-313ED0493988}"/>
              </a:ext>
            </a:extLst>
          </p:cNvPr>
          <p:cNvSpPr/>
          <p:nvPr/>
        </p:nvSpPr>
        <p:spPr>
          <a:xfrm>
            <a:off x="4844097" y="3852636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4" name="Curved Connector 33">
            <a:extLst>
              <a:ext uri="{FF2B5EF4-FFF2-40B4-BE49-F238E27FC236}">
                <a16:creationId xmlns:a16="http://schemas.microsoft.com/office/drawing/2014/main" xmlns="" id="{76C77C40-9E32-439A-D3E1-FAD7A94052E2}"/>
              </a:ext>
            </a:extLst>
          </p:cNvPr>
          <p:cNvCxnSpPr/>
          <p:nvPr/>
        </p:nvCxnSpPr>
        <p:spPr>
          <a:xfrm rot="5400000" flipH="1">
            <a:off x="3783930" y="4749473"/>
            <a:ext cx="76937" cy="881308"/>
          </a:xfrm>
          <a:prstGeom prst="curvedConnector3">
            <a:avLst>
              <a:gd name="adj1" fmla="val -445692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urved Connector 34">
            <a:extLst>
              <a:ext uri="{FF2B5EF4-FFF2-40B4-BE49-F238E27FC236}">
                <a16:creationId xmlns:a16="http://schemas.microsoft.com/office/drawing/2014/main" xmlns="" id="{13B84A59-4844-2BFA-9F47-FA8F6B460273}"/>
              </a:ext>
            </a:extLst>
          </p:cNvPr>
          <p:cNvCxnSpPr/>
          <p:nvPr/>
        </p:nvCxnSpPr>
        <p:spPr>
          <a:xfrm rot="5400000" flipH="1">
            <a:off x="4220891" y="4262638"/>
            <a:ext cx="66955" cy="2011247"/>
          </a:xfrm>
          <a:prstGeom prst="curvedConnector3">
            <a:avLst>
              <a:gd name="adj1" fmla="val -1258998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urved Connector 35">
            <a:extLst>
              <a:ext uri="{FF2B5EF4-FFF2-40B4-BE49-F238E27FC236}">
                <a16:creationId xmlns:a16="http://schemas.microsoft.com/office/drawing/2014/main" xmlns="" id="{8C7F2D1E-39CF-224C-013E-263AA5965554}"/>
              </a:ext>
            </a:extLst>
          </p:cNvPr>
          <p:cNvCxnSpPr/>
          <p:nvPr/>
        </p:nvCxnSpPr>
        <p:spPr>
          <a:xfrm rot="16200000" flipV="1">
            <a:off x="3261161" y="4702758"/>
            <a:ext cx="12700" cy="323290"/>
          </a:xfrm>
          <a:prstGeom prst="curvedConnector3">
            <a:avLst>
              <a:gd name="adj1" fmla="val 3902205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xmlns="" id="{0E24BB25-9BC6-CB7C-667F-2992B7779C53}"/>
              </a:ext>
            </a:extLst>
          </p:cNvPr>
          <p:cNvSpPr/>
          <p:nvPr/>
        </p:nvSpPr>
        <p:spPr>
          <a:xfrm>
            <a:off x="3105866" y="403709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xmlns="" id="{24FA8494-88B1-AA6F-DB03-FE207AB95E7F}"/>
              </a:ext>
            </a:extLst>
          </p:cNvPr>
          <p:cNvSpPr/>
          <p:nvPr/>
        </p:nvSpPr>
        <p:spPr>
          <a:xfrm>
            <a:off x="2746997" y="6058715"/>
            <a:ext cx="2523418" cy="584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C00000"/>
                </a:solidFill>
                <a:latin typeface="+mj-lt"/>
              </a:rPr>
              <a:t>DFA</a:t>
            </a:r>
          </a:p>
        </p:txBody>
      </p:sp>
      <p:cxnSp>
        <p:nvCxnSpPr>
          <p:cNvPr id="39" name="Curved Connector 38">
            <a:extLst>
              <a:ext uri="{FF2B5EF4-FFF2-40B4-BE49-F238E27FC236}">
                <a16:creationId xmlns:a16="http://schemas.microsoft.com/office/drawing/2014/main" xmlns="" id="{309E92C9-1818-165A-0BA6-49A92471B371}"/>
              </a:ext>
            </a:extLst>
          </p:cNvPr>
          <p:cNvCxnSpPr/>
          <p:nvPr/>
        </p:nvCxnSpPr>
        <p:spPr>
          <a:xfrm rot="16200000" flipV="1">
            <a:off x="3838169" y="3177986"/>
            <a:ext cx="12700" cy="3195381"/>
          </a:xfrm>
          <a:prstGeom prst="curvedConnector3">
            <a:avLst>
              <a:gd name="adj1" fmla="val 6524969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0671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2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2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2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3" grpId="0"/>
      <p:bldP spid="25" grpId="0"/>
      <p:bldP spid="27" grpId="0"/>
      <p:bldP spid="28" grpId="0" animBg="1"/>
      <p:bldP spid="30" grpId="0"/>
      <p:bldP spid="31" grpId="0"/>
      <p:bldP spid="32" grpId="0"/>
      <p:bldP spid="33" grpId="0"/>
      <p:bldP spid="37" grpId="0"/>
      <p:bldP spid="38" grpId="0"/>
    </p:bldLst>
  </p:timing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tf00001245_wac</Template>
  <TotalTime>131</TotalTime>
  <Words>3655</Words>
  <Application>Microsoft Office PowerPoint</Application>
  <PresentationFormat>Widescreen</PresentationFormat>
  <Paragraphs>1429</Paragraphs>
  <Slides>51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62" baseType="lpstr">
      <vt:lpstr>Arial</vt:lpstr>
      <vt:lpstr>Calibri</vt:lpstr>
      <vt:lpstr>Cambria Math</vt:lpstr>
      <vt:lpstr>Gill Sans MT</vt:lpstr>
      <vt:lpstr>Palatino Linotype</vt:lpstr>
      <vt:lpstr>新細明體</vt:lpstr>
      <vt:lpstr>Symbol</vt:lpstr>
      <vt:lpstr>Times New Roman</vt:lpstr>
      <vt:lpstr>Wingdings</vt:lpstr>
      <vt:lpstr>Wingdings 3</vt:lpstr>
      <vt:lpstr>Gallery</vt:lpstr>
      <vt:lpstr>Compiler Design Finite automata</vt:lpstr>
      <vt:lpstr>Finite Automata</vt:lpstr>
      <vt:lpstr>Automata</vt:lpstr>
      <vt:lpstr>Characteristics of an Automata</vt:lpstr>
      <vt:lpstr>Block Diagram of Finite Automata</vt:lpstr>
      <vt:lpstr>Deterministic Finite Automata</vt:lpstr>
      <vt:lpstr>Example of DFA </vt:lpstr>
      <vt:lpstr>Example 2</vt:lpstr>
      <vt:lpstr>Acceptability of a string by a Finite Automata</vt:lpstr>
      <vt:lpstr>Non Deterministic Finite Automata</vt:lpstr>
      <vt:lpstr>Example  : one or more 0’s followed by one or more 1’s </vt:lpstr>
      <vt:lpstr>Example : pair of 0’s or pair of 1’s as substring </vt:lpstr>
      <vt:lpstr>PowerPoint Presentation</vt:lpstr>
      <vt:lpstr>PowerPoint Presentation</vt:lpstr>
      <vt:lpstr>PowerPoint Presentation</vt:lpstr>
      <vt:lpstr>PowerPoint Presentation</vt:lpstr>
      <vt:lpstr>Conversion from NFA to DFA using subset construction method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Conversion from regular expression to DFA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Compiler Design Motivation &amp; Application</dc:title>
  <dc:creator>Dipanwita Thakur</dc:creator>
  <cp:lastModifiedBy>dell</cp:lastModifiedBy>
  <cp:revision>16</cp:revision>
  <dcterms:created xsi:type="dcterms:W3CDTF">2021-03-11T16:03:12Z</dcterms:created>
  <dcterms:modified xsi:type="dcterms:W3CDTF">2024-07-24T08:08:23Z</dcterms:modified>
</cp:coreProperties>
</file>