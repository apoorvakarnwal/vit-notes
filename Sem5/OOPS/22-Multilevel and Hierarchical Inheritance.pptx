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91" r:id="rId9"/>
    <p:sldId id="306" r:id="rId10"/>
    <p:sldId id="264" r:id="rId11"/>
    <p:sldId id="267" r:id="rId12"/>
    <p:sldId id="307" r:id="rId13"/>
    <p:sldId id="265" r:id="rId14"/>
    <p:sldId id="268" r:id="rId15"/>
    <p:sldId id="308" r:id="rId16"/>
    <p:sldId id="269" r:id="rId17"/>
    <p:sldId id="271" r:id="rId18"/>
    <p:sldId id="309" r:id="rId19"/>
    <p:sldId id="272" r:id="rId20"/>
    <p:sldId id="274" r:id="rId21"/>
    <p:sldId id="310" r:id="rId22"/>
    <p:sldId id="311" r:id="rId23"/>
    <p:sldId id="275" r:id="rId24"/>
    <p:sldId id="277" r:id="rId25"/>
    <p:sldId id="278" r:id="rId26"/>
    <p:sldId id="279" r:id="rId27"/>
    <p:sldId id="281" r:id="rId28"/>
    <p:sldId id="312" r:id="rId29"/>
    <p:sldId id="314" r:id="rId30"/>
    <p:sldId id="315" r:id="rId31"/>
    <p:sldId id="316" r:id="rId32"/>
    <p:sldId id="284" r:id="rId33"/>
    <p:sldId id="285" r:id="rId34"/>
    <p:sldId id="286" r:id="rId35"/>
    <p:sldId id="288" r:id="rId36"/>
    <p:sldId id="290" r:id="rId37"/>
    <p:sldId id="303" r:id="rId38"/>
    <p:sldId id="304" r:id="rId39"/>
    <p:sldId id="305" r:id="rId40"/>
    <p:sldId id="294" r:id="rId41"/>
    <p:sldId id="313" r:id="rId42"/>
    <p:sldId id="293" r:id="rId43"/>
    <p:sldId id="295" r:id="rId44"/>
    <p:sldId id="296" r:id="rId45"/>
    <p:sldId id="297" r:id="rId46"/>
    <p:sldId id="317" r:id="rId47"/>
    <p:sldId id="31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2BE9C-6D9A-40C6-B397-913C0719A7A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4D6A4-FC6D-4860-BE6F-D792B4262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98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E22FCC-B900-4F01-9E5D-08BD7AE15090}" type="slidenum">
              <a:rPr lang="en-US" altLang="zh-TW"/>
              <a:pPr/>
              <a:t>37</a:t>
            </a:fld>
            <a:endParaRPr lang="en-US" altLang="zh-TW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15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30893-D749-43BE-B71F-2175E2E23B07}" type="slidenum">
              <a:rPr lang="en-US" altLang="zh-TW"/>
              <a:pPr/>
              <a:t>38</a:t>
            </a:fld>
            <a:endParaRPr lang="en-US" altLang="zh-TW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470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E17BDE-83EB-4EFB-B7F5-9B9A3B13BCAF}" type="slidenum">
              <a:rPr lang="en-US" altLang="zh-TW"/>
              <a:pPr/>
              <a:t>39</a:t>
            </a:fld>
            <a:endParaRPr lang="en-US" altLang="zh-TW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2238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31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37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46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44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48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896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84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53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06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63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CFFCF-E59C-414B-9351-B38E182ABADD}" type="datetimeFigureOut">
              <a:rPr lang="en-IN" smtClean="0"/>
              <a:t>05-05-2022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E7FF2-61CD-4C6A-BB73-000ECD275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81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6988"/>
            <a:ext cx="10515600" cy="4351338"/>
          </a:xfrm>
        </p:spPr>
        <p:txBody>
          <a:bodyPr/>
          <a:lstStyle/>
          <a:p>
            <a:pPr algn="just"/>
            <a:r>
              <a:rPr lang="en-IN" dirty="0"/>
              <a:t>Inheritance is the ability of one class to inherit the properties of another class. A new class can be created from an existing class. The existing class is called </a:t>
            </a:r>
            <a:r>
              <a:rPr lang="en-IN" dirty="0">
                <a:solidFill>
                  <a:srgbClr val="FF0000"/>
                </a:solidFill>
              </a:rPr>
              <a:t>BASE CLASS or SUPER CLASS </a:t>
            </a:r>
            <a:r>
              <a:rPr lang="en-IN" dirty="0"/>
              <a:t>and the new class is called </a:t>
            </a:r>
            <a:r>
              <a:rPr lang="en-IN" dirty="0">
                <a:solidFill>
                  <a:srgbClr val="FF0000"/>
                </a:solidFill>
              </a:rPr>
              <a:t>DERIVED CLASS or SUB CLASS.</a:t>
            </a:r>
          </a:p>
          <a:p>
            <a:endParaRPr lang="en-IN" dirty="0"/>
          </a:p>
          <a:p>
            <a:r>
              <a:rPr lang="en-IN" dirty="0"/>
              <a:t>Example: 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/>
              <a:t>Car inherits from another class </a:t>
            </a:r>
            <a:r>
              <a:rPr lang="en-IN" dirty="0" err="1"/>
              <a:t>auto_mobile</a:t>
            </a:r>
            <a:endParaRPr lang="en-IN" dirty="0"/>
          </a:p>
          <a:p>
            <a:pPr marL="457200" lvl="1" indent="0">
              <a:buNone/>
            </a:pPr>
            <a:r>
              <a:rPr lang="en-IN" dirty="0" err="1"/>
              <a:t>Computer_student</a:t>
            </a:r>
            <a:r>
              <a:rPr lang="en-IN" dirty="0"/>
              <a:t> inherits from another class student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1796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7127" y="381000"/>
            <a:ext cx="10419008" cy="1371600"/>
          </a:xfrm>
        </p:spPr>
        <p:txBody>
          <a:bodyPr/>
          <a:lstStyle/>
          <a:p>
            <a:r>
              <a:rPr lang="en-US" altLang="en-US" sz="4000" dirty="0">
                <a:ea typeface="MS Mincho" charset="-128"/>
              </a:rPr>
              <a:t>Arrange concepts into an inheritance hierarchy</a:t>
            </a:r>
            <a:r>
              <a:rPr lang="en-US" altLang="en-US" dirty="0"/>
              <a:t>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77724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ea typeface="MS Mincho" charset="-128"/>
              </a:rPr>
              <a:t>Concepts at higher levels are more general</a:t>
            </a:r>
            <a:endParaRPr lang="en-US" altLang="en-US" sz="2800" dirty="0"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ea typeface="MS Mincho" charset="-128"/>
              </a:rPr>
              <a:t>Concepts at lower levels are more specific (inherit properties of concepts at higher levels)</a:t>
            </a:r>
            <a:r>
              <a:rPr lang="en-US" altLang="en-US" sz="2800" dirty="0"/>
              <a:t> </a:t>
            </a: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5867400" y="3429000"/>
            <a:ext cx="1447800" cy="369332"/>
          </a:xfrm>
          <a:prstGeom prst="rect">
            <a:avLst/>
          </a:prstGeom>
          <a:solidFill>
            <a:srgbClr val="00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Vehicle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3429000" y="4343400"/>
            <a:ext cx="2667000" cy="369332"/>
          </a:xfrm>
          <a:prstGeom prst="rect">
            <a:avLst/>
          </a:prstGeom>
          <a:solidFill>
            <a:srgbClr val="00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Wheeled vehicle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7239000" y="4343400"/>
            <a:ext cx="1066800" cy="369332"/>
          </a:xfrm>
          <a:prstGeom prst="rect">
            <a:avLst/>
          </a:prstGeom>
          <a:solidFill>
            <a:srgbClr val="00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Boat</a:t>
            </a:r>
          </a:p>
        </p:txBody>
      </p:sp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3200400" y="5105400"/>
            <a:ext cx="1066800" cy="369332"/>
          </a:xfrm>
          <a:prstGeom prst="rect">
            <a:avLst/>
          </a:prstGeom>
          <a:solidFill>
            <a:srgbClr val="33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Car</a:t>
            </a:r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5029200" y="5105400"/>
            <a:ext cx="1295400" cy="369332"/>
          </a:xfrm>
          <a:prstGeom prst="rect">
            <a:avLst/>
          </a:prstGeom>
          <a:solidFill>
            <a:srgbClr val="33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Bicycle</a:t>
            </a:r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4038600" y="5867400"/>
            <a:ext cx="1447800" cy="369332"/>
          </a:xfrm>
          <a:prstGeom prst="rect">
            <a:avLst/>
          </a:prstGeom>
          <a:solidFill>
            <a:srgbClr val="33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4-door</a:t>
            </a:r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2362200" y="5867400"/>
            <a:ext cx="1219200" cy="369332"/>
          </a:xfrm>
          <a:prstGeom prst="rect">
            <a:avLst/>
          </a:prstGeom>
          <a:solidFill>
            <a:srgbClr val="33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2-door</a:t>
            </a:r>
          </a:p>
        </p:txBody>
      </p:sp>
      <p:cxnSp>
        <p:nvCxnSpPr>
          <p:cNvPr id="1045" name="AutoShape 21"/>
          <p:cNvCxnSpPr>
            <a:cxnSpLocks noChangeShapeType="1"/>
            <a:stCxn id="1038" idx="2"/>
            <a:endCxn id="1039" idx="0"/>
          </p:cNvCxnSpPr>
          <p:nvPr/>
        </p:nvCxnSpPr>
        <p:spPr bwMode="auto">
          <a:xfrm rot="5400000">
            <a:off x="5404366" y="3156466"/>
            <a:ext cx="545068" cy="1828800"/>
          </a:xfrm>
          <a:prstGeom prst="bentConnector3">
            <a:avLst>
              <a:gd name="adj1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AutoShape 22"/>
          <p:cNvCxnSpPr>
            <a:cxnSpLocks noChangeShapeType="1"/>
            <a:stCxn id="1039" idx="2"/>
            <a:endCxn id="1041" idx="0"/>
          </p:cNvCxnSpPr>
          <p:nvPr/>
        </p:nvCxnSpPr>
        <p:spPr bwMode="auto">
          <a:xfrm rot="5400000">
            <a:off x="4051816" y="4394716"/>
            <a:ext cx="392668" cy="1028700"/>
          </a:xfrm>
          <a:prstGeom prst="bentConnector3">
            <a:avLst>
              <a:gd name="adj1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AutoShape 23"/>
          <p:cNvCxnSpPr>
            <a:cxnSpLocks noChangeShapeType="1"/>
            <a:stCxn id="1039" idx="2"/>
            <a:endCxn id="1042" idx="0"/>
          </p:cNvCxnSpPr>
          <p:nvPr/>
        </p:nvCxnSpPr>
        <p:spPr bwMode="auto">
          <a:xfrm rot="16200000" flipH="1">
            <a:off x="5023366" y="4451866"/>
            <a:ext cx="392668" cy="914400"/>
          </a:xfrm>
          <a:prstGeom prst="bentConnector3">
            <a:avLst>
              <a:gd name="adj1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" name="AutoShape 24"/>
          <p:cNvCxnSpPr>
            <a:cxnSpLocks noChangeShapeType="1"/>
            <a:stCxn id="1038" idx="2"/>
            <a:endCxn id="1040" idx="0"/>
          </p:cNvCxnSpPr>
          <p:nvPr/>
        </p:nvCxnSpPr>
        <p:spPr bwMode="auto">
          <a:xfrm rot="16200000" flipH="1">
            <a:off x="6909316" y="3480316"/>
            <a:ext cx="545068" cy="1181100"/>
          </a:xfrm>
          <a:prstGeom prst="bentConnector3">
            <a:avLst>
              <a:gd name="adj1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AutoShape 25"/>
          <p:cNvCxnSpPr>
            <a:cxnSpLocks noChangeShapeType="1"/>
            <a:stCxn id="1041" idx="2"/>
            <a:endCxn id="1044" idx="0"/>
          </p:cNvCxnSpPr>
          <p:nvPr/>
        </p:nvCxnSpPr>
        <p:spPr bwMode="auto">
          <a:xfrm rot="5400000">
            <a:off x="3156466" y="5290066"/>
            <a:ext cx="392668" cy="762000"/>
          </a:xfrm>
          <a:prstGeom prst="bentConnector3">
            <a:avLst>
              <a:gd name="adj1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AutoShape 26"/>
          <p:cNvCxnSpPr>
            <a:cxnSpLocks noChangeShapeType="1"/>
            <a:stCxn id="1041" idx="2"/>
            <a:endCxn id="1043" idx="0"/>
          </p:cNvCxnSpPr>
          <p:nvPr/>
        </p:nvCxnSpPr>
        <p:spPr bwMode="auto">
          <a:xfrm rot="16200000" flipH="1">
            <a:off x="4051816" y="5156716"/>
            <a:ext cx="392668" cy="1028700"/>
          </a:xfrm>
          <a:prstGeom prst="bentConnector3">
            <a:avLst>
              <a:gd name="adj1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35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MS Mincho" charset="-128"/>
              </a:rPr>
              <a:t>Advantages of inheritance</a:t>
            </a:r>
            <a:endParaRPr lang="en-US" altLang="en-US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59" y="1752600"/>
            <a:ext cx="10019764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Mincho" charset="-128"/>
              </a:rPr>
              <a:t>When a class inherits from another class, there are </a:t>
            </a: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MS Mincho" charset="-128"/>
              </a:rPr>
              <a:t>three</a:t>
            </a:r>
            <a:r>
              <a:rPr lang="en-US" altLang="en-US" dirty="0">
                <a:ea typeface="MS Mincho" charset="-128"/>
              </a:rPr>
              <a:t> benefits: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Mincho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Mincho" charset="-128"/>
              </a:rPr>
              <a:t>   (1) You can </a:t>
            </a:r>
            <a:r>
              <a:rPr lang="en-US" altLang="en-US" i="1" u="sng" dirty="0">
                <a:solidFill>
                  <a:srgbClr val="FF0000"/>
                </a:solidFill>
                <a:ea typeface="MS Mincho" charset="-128"/>
              </a:rPr>
              <a:t>reuse</a:t>
            </a:r>
            <a:r>
              <a:rPr lang="en-US" altLang="en-US" dirty="0">
                <a:solidFill>
                  <a:srgbClr val="FF0000"/>
                </a:solidFill>
                <a:ea typeface="MS Mincho" charset="-128"/>
              </a:rPr>
              <a:t> </a:t>
            </a:r>
            <a:r>
              <a:rPr lang="en-US" altLang="en-US" dirty="0">
                <a:ea typeface="MS Mincho" charset="-128"/>
              </a:rPr>
              <a:t>the methods and data of the existing class</a:t>
            </a:r>
            <a:endParaRPr lang="en-US" altLang="en-US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>
                <a:ea typeface="MS Mincho" charset="-128"/>
              </a:rPr>
              <a:t>	(2) You can </a:t>
            </a:r>
            <a:r>
              <a:rPr lang="en-US" altLang="en-US" i="1" u="sng" dirty="0">
                <a:solidFill>
                  <a:srgbClr val="FF0000"/>
                </a:solidFill>
                <a:ea typeface="MS Mincho" charset="-128"/>
              </a:rPr>
              <a:t>extend</a:t>
            </a:r>
            <a:r>
              <a:rPr lang="en-US" altLang="en-US" dirty="0">
                <a:ea typeface="MS Mincho" charset="-128"/>
              </a:rPr>
              <a:t> the existing class by adding new data and new methods</a:t>
            </a:r>
            <a:endParaRPr lang="en-US" altLang="en-US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>
                <a:ea typeface="MS Mincho" charset="-128"/>
              </a:rPr>
              <a:t>	(3) You can </a:t>
            </a:r>
            <a:r>
              <a:rPr lang="en-US" altLang="en-US" i="1" u="sng" dirty="0">
                <a:solidFill>
                  <a:srgbClr val="FF0000"/>
                </a:solidFill>
                <a:ea typeface="MS Mincho" charset="-128"/>
              </a:rPr>
              <a:t>modify</a:t>
            </a:r>
            <a:r>
              <a:rPr lang="en-US" altLang="en-US" dirty="0">
                <a:ea typeface="MS Mincho" charset="-128"/>
              </a:rPr>
              <a:t> the existing class by overloading its methods with your own implementations</a:t>
            </a: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131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86000" y="2286000"/>
            <a:ext cx="2438400" cy="18288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76475E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Lucida Sans Unicode" panose="020B0602030504020204" pitchFamily="34" charset="0"/>
            </a:endParaRPr>
          </a:p>
        </p:txBody>
      </p:sp>
      <p:sp>
        <p:nvSpPr>
          <p:cNvPr id="13315" name="AutoShape 4"/>
          <p:cNvSpPr>
            <a:spLocks noChangeArrowheads="1"/>
          </p:cNvSpPr>
          <p:nvPr/>
        </p:nvSpPr>
        <p:spPr bwMode="auto">
          <a:xfrm rot="-5380308">
            <a:off x="6019800" y="2212975"/>
            <a:ext cx="304800" cy="2286000"/>
          </a:xfrm>
          <a:prstGeom prst="downArrow">
            <a:avLst>
              <a:gd name="adj1" fmla="val 50000"/>
              <a:gd name="adj2" fmla="val 18750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Lucida Sans Unicode" panose="020B0602030504020204" pitchFamily="34" charset="0"/>
            </a:endParaRP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7391400" y="2133600"/>
            <a:ext cx="2590800" cy="20574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Lucida Sans Unicode" panose="020B0602030504020204" pitchFamily="34" charset="0"/>
            </a:endParaRPr>
          </a:p>
        </p:txBody>
      </p:sp>
      <p:sp>
        <p:nvSpPr>
          <p:cNvPr id="13317" name="Text Box 7"/>
          <p:cNvSpPr txBox="1">
            <a:spLocks noChangeArrowheads="1"/>
          </p:cNvSpPr>
          <p:nvPr/>
        </p:nvSpPr>
        <p:spPr bwMode="auto">
          <a:xfrm>
            <a:off x="7772400" y="23622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Derived class</a:t>
            </a:r>
          </a:p>
        </p:txBody>
      </p:sp>
      <p:grpSp>
        <p:nvGrpSpPr>
          <p:cNvPr id="13318" name="Group 14"/>
          <p:cNvGrpSpPr>
            <a:grpSpLocks/>
          </p:cNvGrpSpPr>
          <p:nvPr/>
        </p:nvGrpSpPr>
        <p:grpSpPr bwMode="auto">
          <a:xfrm>
            <a:off x="2286000" y="2362201"/>
            <a:ext cx="2438400" cy="1733729"/>
            <a:chOff x="762000" y="2362200"/>
            <a:chExt cx="2438400" cy="1733729"/>
          </a:xfrm>
        </p:grpSpPr>
        <p:sp>
          <p:nvSpPr>
            <p:cNvPr id="13322" name="Text Box 3"/>
            <p:cNvSpPr txBox="1">
              <a:spLocks noChangeArrowheads="1"/>
            </p:cNvSpPr>
            <p:nvPr/>
          </p:nvSpPr>
          <p:spPr bwMode="auto">
            <a:xfrm>
              <a:off x="1143000" y="2362200"/>
              <a:ext cx="1828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Base Class</a:t>
              </a:r>
            </a:p>
          </p:txBody>
        </p:sp>
        <p:sp>
          <p:nvSpPr>
            <p:cNvPr id="13323" name="Text Box 5"/>
            <p:cNvSpPr txBox="1">
              <a:spLocks noChangeArrowheads="1"/>
            </p:cNvSpPr>
            <p:nvPr/>
          </p:nvSpPr>
          <p:spPr bwMode="auto">
            <a:xfrm>
              <a:off x="914400" y="2895600"/>
              <a:ext cx="1752600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latin typeface="Times New Roman" panose="02020603050405020304" pitchFamily="18" charset="0"/>
                </a:rPr>
                <a:t>Methods</a:t>
              </a:r>
              <a:br>
                <a:rPr lang="en-US" altLang="en-US" sz="2400" dirty="0">
                  <a:latin typeface="Times New Roman" panose="02020603050405020304" pitchFamily="18" charset="0"/>
                </a:rPr>
              </a:br>
              <a:r>
                <a:rPr lang="en-US" altLang="en-US" sz="2400" dirty="0">
                  <a:latin typeface="Times New Roman" panose="02020603050405020304" pitchFamily="18" charset="0"/>
                </a:rPr>
                <a:t>and Properties</a:t>
              </a:r>
            </a:p>
          </p:txBody>
        </p:sp>
        <p:sp>
          <p:nvSpPr>
            <p:cNvPr id="13324" name="Line 8"/>
            <p:cNvSpPr>
              <a:spLocks noChangeShapeType="1"/>
            </p:cNvSpPr>
            <p:nvPr/>
          </p:nvSpPr>
          <p:spPr bwMode="auto">
            <a:xfrm>
              <a:off x="762000" y="28956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13319" name="Line 9"/>
          <p:cNvSpPr>
            <a:spLocks noChangeShapeType="1"/>
          </p:cNvSpPr>
          <p:nvPr/>
        </p:nvSpPr>
        <p:spPr bwMode="auto">
          <a:xfrm>
            <a:off x="7391400" y="28956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7391400" y="2971801"/>
            <a:ext cx="2743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Base class methods + </a:t>
            </a:r>
            <a:br>
              <a:rPr lang="en-US" altLang="en-US" sz="2400">
                <a:latin typeface="Times New Roman" panose="02020603050405020304" pitchFamily="18" charset="0"/>
              </a:rPr>
            </a:br>
            <a:r>
              <a:rPr lang="en-US" altLang="en-US" sz="2400">
                <a:latin typeface="Times New Roman" panose="02020603050405020304" pitchFamily="18" charset="0"/>
              </a:rPr>
              <a:t>Additional methods</a:t>
            </a: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2057400" y="685801"/>
            <a:ext cx="8305800" cy="1076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0099"/>
                </a:solidFill>
                <a:latin typeface="Times New Roman" panose="02020603050405020304" pitchFamily="18" charset="0"/>
              </a:rPr>
              <a:t>Inheritance is the property that allows the reuse of an existing class to build a new class</a:t>
            </a:r>
          </a:p>
        </p:txBody>
      </p:sp>
    </p:spTree>
    <p:extLst>
      <p:ext uri="{BB962C8B-B14F-4D97-AF65-F5344CB8AC3E}">
        <p14:creationId xmlns:p14="http://schemas.microsoft.com/office/powerpoint/2010/main" val="254944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</a:rPr>
              <a:t>General Syntax for Inheritance</a:t>
            </a:r>
            <a:br>
              <a:rPr lang="en-US" dirty="0">
                <a:latin typeface="Times New Roman" pitchFamily="18" charset="0"/>
              </a:rPr>
            </a:br>
            <a:endParaRPr lang="en-US" dirty="0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676400" y="1219200"/>
            <a:ext cx="8991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class &lt;derived classname &gt; :  access-specifier   &lt;base classname &gt;</a:t>
            </a:r>
          </a:p>
          <a:p>
            <a:r>
              <a:rPr lang="en-US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{</a:t>
            </a:r>
          </a:p>
          <a:p>
            <a:r>
              <a:rPr lang="en-US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      ---</a:t>
            </a:r>
          </a:p>
          <a:p>
            <a:r>
              <a:rPr lang="en-US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      ----</a:t>
            </a:r>
          </a:p>
          <a:p>
            <a:r>
              <a:rPr lang="en-US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 };</a:t>
            </a:r>
            <a:endParaRPr lang="en-US" altLang="en-US" sz="2400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84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 specifier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828800" y="1600200"/>
            <a:ext cx="8458200" cy="3505200"/>
          </a:xfrm>
        </p:spPr>
        <p:txBody>
          <a:bodyPr/>
          <a:lstStyle/>
          <a:p>
            <a:pPr algn="just" eaLnBrk="1" hangingPunct="1"/>
            <a:r>
              <a:rPr lang="en-US" altLang="en-US" b="1"/>
              <a:t>Public</a:t>
            </a:r>
            <a:r>
              <a:rPr lang="en-US" altLang="en-US"/>
              <a:t> - The members declared as Public are accessible from outside the Class through an object of the class.</a:t>
            </a:r>
          </a:p>
          <a:p>
            <a:pPr algn="just" eaLnBrk="1" hangingPunct="1"/>
            <a:r>
              <a:rPr lang="en-US" altLang="en-US" b="1"/>
              <a:t>Protected</a:t>
            </a:r>
            <a:r>
              <a:rPr lang="en-US" altLang="en-US"/>
              <a:t> - The members declared as Protected are accessible from outside the class </a:t>
            </a:r>
            <a:r>
              <a:rPr lang="en-US" altLang="en-US" b="1"/>
              <a:t>BUT</a:t>
            </a:r>
            <a:r>
              <a:rPr lang="en-US" altLang="en-US"/>
              <a:t> only in a class derived from it.</a:t>
            </a:r>
          </a:p>
          <a:p>
            <a:pPr algn="just" eaLnBrk="1" hangingPunct="1"/>
            <a:r>
              <a:rPr lang="en-US" altLang="en-US" b="1"/>
              <a:t>Private</a:t>
            </a:r>
            <a:r>
              <a:rPr lang="en-US" altLang="en-US"/>
              <a:t> - These members are only accessible from within the class. No outside Access is allowed.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145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/>
          <p:cNvSpPr>
            <a:spLocks noChangeArrowheads="1"/>
          </p:cNvSpPr>
          <p:nvPr/>
        </p:nvSpPr>
        <p:spPr bwMode="auto">
          <a:xfrm>
            <a:off x="1981200" y="304800"/>
            <a:ext cx="82296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2133600" y="304800"/>
            <a:ext cx="80343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</a:rPr>
              <a:t>Accessibility of base class member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7A591EF-C13D-47AD-BDEB-E602BBA97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78" y="1315822"/>
            <a:ext cx="11198244" cy="442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1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4573-85B0-4CF9-BD81-8BE072B37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952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FF00FF"/>
                </a:solidFill>
              </a:rPr>
              <a:t>Types of Inheritance</a:t>
            </a:r>
            <a:endParaRPr lang="en-IN" sz="4800" b="1" dirty="0">
              <a:solidFill>
                <a:srgbClr val="FF00FF"/>
              </a:solidFill>
            </a:endParaRPr>
          </a:p>
        </p:txBody>
      </p:sp>
      <p:pic>
        <p:nvPicPr>
          <p:cNvPr id="2050" name="Picture 2" descr="C++ Inheritance - javatpoint">
            <a:extLst>
              <a:ext uri="{FF2B5EF4-FFF2-40B4-BE49-F238E27FC236}">
                <a16:creationId xmlns:a16="http://schemas.microsoft.com/office/drawing/2014/main" id="{3816FBDE-B9D4-441A-B70F-7006D55205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767" y="1055078"/>
            <a:ext cx="7588465" cy="521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19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WordArt 16"/>
          <p:cNvSpPr>
            <a:spLocks noChangeArrowheads="1" noChangeShapeType="1" noTextEdit="1"/>
          </p:cNvSpPr>
          <p:nvPr/>
        </p:nvSpPr>
        <p:spPr bwMode="auto">
          <a:xfrm>
            <a:off x="3152336" y="195775"/>
            <a:ext cx="54864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Types Of Inheritance</a:t>
            </a:r>
          </a:p>
        </p:txBody>
      </p:sp>
      <p:pic>
        <p:nvPicPr>
          <p:cNvPr id="3074" name="Picture 2" descr="Inheritance in C++ | Types of Inheritance - Simple Snippets">
            <a:extLst>
              <a:ext uri="{FF2B5EF4-FFF2-40B4-BE49-F238E27FC236}">
                <a16:creationId xmlns:a16="http://schemas.microsoft.com/office/drawing/2014/main" id="{2999687A-8375-4FC2-9CE1-F19F4C302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43" y="1000314"/>
            <a:ext cx="9463314" cy="532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770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662114" y="312738"/>
            <a:ext cx="892968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Single Inheritance </a:t>
            </a:r>
          </a:p>
          <a:p>
            <a:pPr algn="ctr" eaLnBrk="1" hangingPunct="1"/>
            <a:endParaRPr lang="en-US" altLang="en-US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class can be derived from a single base class is called single inheritance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4724400" y="2362200"/>
            <a:ext cx="2514600" cy="2514600"/>
            <a:chOff x="1872" y="2016"/>
            <a:chExt cx="1584" cy="1584"/>
          </a:xfrm>
        </p:grpSpPr>
        <p:sp>
          <p:nvSpPr>
            <p:cNvPr id="15364" name="Text Box 4"/>
            <p:cNvSpPr txBox="1">
              <a:spLocks noChangeArrowheads="1"/>
            </p:cNvSpPr>
            <p:nvPr/>
          </p:nvSpPr>
          <p:spPr bwMode="auto">
            <a:xfrm>
              <a:off x="1872" y="2016"/>
              <a:ext cx="1584" cy="53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6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Person</a:t>
              </a:r>
            </a:p>
          </p:txBody>
        </p:sp>
        <p:sp>
          <p:nvSpPr>
            <p:cNvPr id="15365" name="Text Box 5"/>
            <p:cNvSpPr txBox="1">
              <a:spLocks noChangeArrowheads="1"/>
            </p:cNvSpPr>
            <p:nvPr/>
          </p:nvSpPr>
          <p:spPr bwMode="auto">
            <a:xfrm>
              <a:off x="1872" y="3067"/>
              <a:ext cx="1584" cy="53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Employee</a:t>
              </a:r>
              <a:endParaRPr lang="en-US" altLang="en-US" sz="4400" b="1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52" name="Line 6"/>
            <p:cNvSpPr>
              <a:spLocks noChangeShapeType="1"/>
            </p:cNvSpPr>
            <p:nvPr/>
          </p:nvSpPr>
          <p:spPr bwMode="auto">
            <a:xfrm>
              <a:off x="2592" y="2536"/>
              <a:ext cx="0" cy="533"/>
            </a:xfrm>
            <a:prstGeom prst="line">
              <a:avLst/>
            </a:prstGeom>
            <a:ln>
              <a:headE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2867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8AD3B7-7BBD-42EE-ACB1-8D5D2984BB08}"/>
              </a:ext>
            </a:extLst>
          </p:cNvPr>
          <p:cNvSpPr txBox="1"/>
          <p:nvPr/>
        </p:nvSpPr>
        <p:spPr>
          <a:xfrm>
            <a:off x="379828" y="225083"/>
            <a:ext cx="499403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Parent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public:</a:t>
            </a:r>
          </a:p>
          <a:p>
            <a:r>
              <a:rPr lang="en-US" dirty="0"/>
              <a:t>    int </a:t>
            </a:r>
            <a:r>
              <a:rPr lang="en-US" dirty="0" err="1"/>
              <a:t>id_p</a:t>
            </a:r>
            <a:r>
              <a:rPr lang="en-US" dirty="0"/>
              <a:t>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  // Sub class inheriting from Base Class(Parent)</a:t>
            </a:r>
          </a:p>
          <a:p>
            <a:r>
              <a:rPr lang="en-US" dirty="0">
                <a:solidFill>
                  <a:srgbClr val="FF0000"/>
                </a:solidFill>
              </a:rPr>
              <a:t>class Child : public Parent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public:</a:t>
            </a:r>
          </a:p>
          <a:p>
            <a:r>
              <a:rPr lang="en-US" dirty="0"/>
              <a:t>    int </a:t>
            </a:r>
            <a:r>
              <a:rPr lang="en-US" dirty="0" err="1"/>
              <a:t>id_c</a:t>
            </a:r>
            <a:r>
              <a:rPr lang="en-US" dirty="0"/>
              <a:t>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Child obj1;</a:t>
            </a:r>
          </a:p>
          <a:p>
            <a:r>
              <a:rPr lang="en-US" dirty="0"/>
              <a:t>          </a:t>
            </a:r>
          </a:p>
          <a:p>
            <a:r>
              <a:rPr lang="en-US" dirty="0"/>
              <a:t>    // An object of class child has all data members</a:t>
            </a:r>
          </a:p>
          <a:p>
            <a:r>
              <a:rPr lang="en-US" dirty="0"/>
              <a:t>    // and member functions of class parent</a:t>
            </a:r>
          </a:p>
          <a:p>
            <a:r>
              <a:rPr lang="en-US" dirty="0"/>
              <a:t>    obj1.id_c = 7;</a:t>
            </a:r>
          </a:p>
          <a:p>
            <a:r>
              <a:rPr lang="en-US" dirty="0"/>
              <a:t>    obj1.id_p = 91;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"Child id is: " &lt;&lt;  obj1.id_c &lt;&lt; '\n';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"Parent id is: " &lt;&lt;  obj1.id_p &lt;&lt; '\n';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85A4A-4FC5-4AA3-AAE0-BED52E0AD025}"/>
              </a:ext>
            </a:extLst>
          </p:cNvPr>
          <p:cNvSpPr txBox="1"/>
          <p:nvPr/>
        </p:nvSpPr>
        <p:spPr>
          <a:xfrm>
            <a:off x="6931855" y="1444507"/>
            <a:ext cx="2732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 :</a:t>
            </a:r>
          </a:p>
          <a:p>
            <a:endParaRPr lang="en-US" dirty="0"/>
          </a:p>
          <a:p>
            <a:r>
              <a:rPr lang="en-US" dirty="0"/>
              <a:t>Child id is 7</a:t>
            </a:r>
          </a:p>
          <a:p>
            <a:r>
              <a:rPr lang="en-US" dirty="0"/>
              <a:t>Parent id is 91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001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56" y="210343"/>
            <a:ext cx="4953000" cy="643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3CCD3D-BDD7-42FA-BD04-4354E3497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856" y="332935"/>
            <a:ext cx="584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483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1"/>
          <p:cNvSpPr>
            <a:spLocks noChangeArrowheads="1"/>
          </p:cNvSpPr>
          <p:nvPr/>
        </p:nvSpPr>
        <p:spPr bwMode="auto">
          <a:xfrm>
            <a:off x="3733800" y="381001"/>
            <a:ext cx="4114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000066"/>
                </a:solidFill>
                <a:latin typeface="Lucida Sans Unicode" panose="020B0602030504020204" pitchFamily="34" charset="0"/>
              </a:rPr>
              <a:t>Multilevel Inheritance</a:t>
            </a:r>
          </a:p>
        </p:txBody>
      </p:sp>
      <p:grpSp>
        <p:nvGrpSpPr>
          <p:cNvPr id="24579" name="Group 19"/>
          <p:cNvGrpSpPr>
            <a:grpSpLocks/>
          </p:cNvGrpSpPr>
          <p:nvPr/>
        </p:nvGrpSpPr>
        <p:grpSpPr bwMode="auto">
          <a:xfrm>
            <a:off x="2438401" y="2354264"/>
            <a:ext cx="3198813" cy="3055937"/>
            <a:chOff x="914400" y="1752600"/>
            <a:chExt cx="3198813" cy="3055938"/>
          </a:xfrm>
        </p:grpSpPr>
        <p:grpSp>
          <p:nvGrpSpPr>
            <p:cNvPr id="24587" name="Group 2"/>
            <p:cNvGrpSpPr>
              <a:grpSpLocks/>
            </p:cNvGrpSpPr>
            <p:nvPr/>
          </p:nvGrpSpPr>
          <p:grpSpPr bwMode="auto">
            <a:xfrm>
              <a:off x="914400" y="1752600"/>
              <a:ext cx="3198813" cy="3055938"/>
              <a:chOff x="432" y="1152"/>
              <a:chExt cx="2015" cy="1925"/>
            </a:xfrm>
          </p:grpSpPr>
          <p:sp>
            <p:nvSpPr>
              <p:cNvPr id="24589" name="Rectangle 3"/>
              <p:cNvSpPr>
                <a:spLocks noChangeArrowheads="1"/>
              </p:cNvSpPr>
              <p:nvPr/>
            </p:nvSpPr>
            <p:spPr bwMode="auto">
              <a:xfrm>
                <a:off x="465" y="1152"/>
                <a:ext cx="1982" cy="424"/>
              </a:xfrm>
              <a:prstGeom prst="rect">
                <a:avLst/>
              </a:prstGeom>
              <a:solidFill>
                <a:srgbClr val="C5C5FF"/>
              </a:solidFill>
              <a:ln w="9525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Lucida Sans Unicode" panose="020B0602030504020204" pitchFamily="34" charset="0"/>
                </a:endParaRPr>
              </a:p>
            </p:txBody>
          </p:sp>
          <p:sp>
            <p:nvSpPr>
              <p:cNvPr id="24590" name="Rectangle 4"/>
              <p:cNvSpPr>
                <a:spLocks noChangeArrowheads="1"/>
              </p:cNvSpPr>
              <p:nvPr/>
            </p:nvSpPr>
            <p:spPr bwMode="auto">
              <a:xfrm>
                <a:off x="432" y="2653"/>
                <a:ext cx="1982" cy="424"/>
              </a:xfrm>
              <a:prstGeom prst="rect">
                <a:avLst/>
              </a:prstGeom>
              <a:solidFill>
                <a:srgbClr val="80D212"/>
              </a:solidFill>
              <a:ln w="9525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Lucida Sans Unicode" panose="020B0602030504020204" pitchFamily="34" charset="0"/>
                </a:endParaRPr>
              </a:p>
            </p:txBody>
          </p:sp>
          <p:sp>
            <p:nvSpPr>
              <p:cNvPr id="24591" name="Rectangle 5"/>
              <p:cNvSpPr>
                <a:spLocks noChangeArrowheads="1"/>
              </p:cNvSpPr>
              <p:nvPr/>
            </p:nvSpPr>
            <p:spPr bwMode="auto">
              <a:xfrm>
                <a:off x="465" y="1907"/>
                <a:ext cx="1982" cy="424"/>
              </a:xfrm>
              <a:prstGeom prst="rect">
                <a:avLst/>
              </a:prstGeom>
              <a:solidFill>
                <a:srgbClr val="FBF6C9"/>
              </a:solidFill>
              <a:ln w="9525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Lucida Sans Unicode" panose="020B0602030504020204" pitchFamily="34" charset="0"/>
                </a:endParaRPr>
              </a:p>
            </p:txBody>
          </p:sp>
          <p:sp>
            <p:nvSpPr>
              <p:cNvPr id="24592" name="Line 6"/>
              <p:cNvSpPr>
                <a:spLocks noChangeShapeType="1"/>
              </p:cNvSpPr>
              <p:nvPr/>
            </p:nvSpPr>
            <p:spPr bwMode="auto">
              <a:xfrm>
                <a:off x="1422" y="1576"/>
                <a:ext cx="0" cy="331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441" name="Text Box 8"/>
              <p:cNvSpPr txBox="1">
                <a:spLocks noChangeArrowheads="1"/>
              </p:cNvSpPr>
              <p:nvPr/>
            </p:nvSpPr>
            <p:spPr bwMode="auto">
              <a:xfrm>
                <a:off x="533" y="1200"/>
                <a:ext cx="1846" cy="273"/>
              </a:xfrm>
              <a:prstGeom prst="rect">
                <a:avLst/>
              </a:prstGeom>
              <a:noFill/>
              <a:ln w="9525" cap="sq">
                <a:noFill/>
                <a:miter lim="800000"/>
                <a:headEnd/>
                <a:tailEnd/>
              </a:ln>
            </p:spPr>
            <p:txBody>
              <a:bodyPr lIns="64008" tIns="32004" rIns="64008" bIns="32004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Verdana" pitchFamily="34" charset="0"/>
                    <a:cs typeface="Arial" charset="0"/>
                  </a:rPr>
                  <a:t>Vehicle</a:t>
                </a:r>
              </a:p>
            </p:txBody>
          </p:sp>
          <p:sp>
            <p:nvSpPr>
              <p:cNvPr id="18442" name="Text Box 9"/>
              <p:cNvSpPr txBox="1">
                <a:spLocks noChangeArrowheads="1"/>
              </p:cNvSpPr>
              <p:nvPr/>
            </p:nvSpPr>
            <p:spPr bwMode="auto">
              <a:xfrm>
                <a:off x="533" y="1953"/>
                <a:ext cx="1846" cy="273"/>
              </a:xfrm>
              <a:prstGeom prst="rect">
                <a:avLst/>
              </a:prstGeom>
              <a:noFill/>
              <a:ln w="9525" cap="sq">
                <a:noFill/>
                <a:miter lim="800000"/>
                <a:headEnd/>
                <a:tailEnd/>
              </a:ln>
            </p:spPr>
            <p:txBody>
              <a:bodyPr lIns="64008" tIns="32004" rIns="64008" bIns="32004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Verdana" pitchFamily="34" charset="0"/>
                    <a:cs typeface="Arial" charset="0"/>
                  </a:rPr>
                  <a:t>Car</a:t>
                </a:r>
              </a:p>
            </p:txBody>
          </p:sp>
          <p:sp>
            <p:nvSpPr>
              <p:cNvPr id="18443" name="Text Box 10"/>
              <p:cNvSpPr txBox="1">
                <a:spLocks noChangeArrowheads="1"/>
              </p:cNvSpPr>
              <p:nvPr/>
            </p:nvSpPr>
            <p:spPr bwMode="auto">
              <a:xfrm>
                <a:off x="506" y="2716"/>
                <a:ext cx="1846" cy="273"/>
              </a:xfrm>
              <a:prstGeom prst="rect">
                <a:avLst/>
              </a:prstGeom>
              <a:noFill/>
              <a:ln w="9525" cap="sq">
                <a:noFill/>
                <a:miter lim="800000"/>
                <a:headEnd/>
                <a:tailEnd/>
              </a:ln>
            </p:spPr>
            <p:txBody>
              <a:bodyPr lIns="64008" tIns="32004" rIns="64008" bIns="32004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Verdana" pitchFamily="34" charset="0"/>
                    <a:cs typeface="Arial" charset="0"/>
                  </a:rPr>
                  <a:t>Racing car</a:t>
                </a:r>
              </a:p>
            </p:txBody>
          </p:sp>
        </p:grpSp>
        <p:sp>
          <p:nvSpPr>
            <p:cNvPr id="24588" name="Line 6"/>
            <p:cNvSpPr>
              <a:spLocks noChangeShapeType="1"/>
            </p:cNvSpPr>
            <p:nvPr/>
          </p:nvSpPr>
          <p:spPr bwMode="auto">
            <a:xfrm>
              <a:off x="2514600" y="3665538"/>
              <a:ext cx="0" cy="52546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580" name="Group 18"/>
          <p:cNvGrpSpPr>
            <a:grpSpLocks/>
          </p:cNvGrpSpPr>
          <p:nvPr/>
        </p:nvGrpSpPr>
        <p:grpSpPr bwMode="auto">
          <a:xfrm>
            <a:off x="6858000" y="2286000"/>
            <a:ext cx="2057400" cy="3429000"/>
            <a:chOff x="5334000" y="1676400"/>
            <a:chExt cx="2057400" cy="3429000"/>
          </a:xfrm>
        </p:grpSpPr>
        <p:sp>
          <p:nvSpPr>
            <p:cNvPr id="24582" name="Text Box 4"/>
            <p:cNvSpPr txBox="1">
              <a:spLocks noChangeArrowheads="1"/>
            </p:cNvSpPr>
            <p:nvPr/>
          </p:nvSpPr>
          <p:spPr bwMode="auto">
            <a:xfrm>
              <a:off x="5334000" y="1676400"/>
              <a:ext cx="2057400" cy="692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Person</a:t>
              </a:r>
            </a:p>
          </p:txBody>
        </p:sp>
        <p:sp>
          <p:nvSpPr>
            <p:cNvPr id="24583" name="Text Box 5"/>
            <p:cNvSpPr txBox="1">
              <a:spLocks noChangeArrowheads="1"/>
            </p:cNvSpPr>
            <p:nvPr/>
          </p:nvSpPr>
          <p:spPr bwMode="auto">
            <a:xfrm>
              <a:off x="5334000" y="3041506"/>
              <a:ext cx="2057400" cy="692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Employee</a:t>
              </a:r>
              <a:endParaRPr lang="en-US" altLang="en-US" sz="3600" b="1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6269038" y="2351088"/>
              <a:ext cx="0" cy="693737"/>
            </a:xfrm>
            <a:prstGeom prst="line">
              <a:avLst/>
            </a:prstGeom>
            <a:ln>
              <a:headE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585" name="Text Box 5"/>
            <p:cNvSpPr txBox="1">
              <a:spLocks noChangeArrowheads="1"/>
            </p:cNvSpPr>
            <p:nvPr/>
          </p:nvSpPr>
          <p:spPr bwMode="auto">
            <a:xfrm>
              <a:off x="5334000" y="4413106"/>
              <a:ext cx="2057400" cy="692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Part time Employee</a:t>
              </a:r>
              <a:endParaRPr lang="en-US" altLang="en-US" sz="3200" b="1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6324600" y="3727450"/>
              <a:ext cx="0" cy="692150"/>
            </a:xfrm>
            <a:prstGeom prst="line">
              <a:avLst/>
            </a:prstGeom>
            <a:ln>
              <a:headE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4581" name="Rectangle 18"/>
          <p:cNvSpPr>
            <a:spLocks noChangeArrowheads="1"/>
          </p:cNvSpPr>
          <p:nvPr/>
        </p:nvSpPr>
        <p:spPr bwMode="auto">
          <a:xfrm>
            <a:off x="1752600" y="990601"/>
            <a:ext cx="8534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 A class be can derived from a derived class which is known as multilevel inheritance.</a:t>
            </a:r>
          </a:p>
        </p:txBody>
      </p:sp>
    </p:spTree>
    <p:extLst>
      <p:ext uri="{BB962C8B-B14F-4D97-AF65-F5344CB8AC3E}">
        <p14:creationId xmlns:p14="http://schemas.microsoft.com/office/powerpoint/2010/main" val="3953862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56443-0E8D-42CE-938F-F59C86A6213B}"/>
              </a:ext>
            </a:extLst>
          </p:cNvPr>
          <p:cNvSpPr txBox="1"/>
          <p:nvPr/>
        </p:nvSpPr>
        <p:spPr>
          <a:xfrm>
            <a:off x="249701" y="207457"/>
            <a:ext cx="609834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C++ program to implement</a:t>
            </a:r>
          </a:p>
          <a:p>
            <a:r>
              <a:rPr lang="en-IN" dirty="0"/>
              <a:t>// Multilevel Inheritance</a:t>
            </a:r>
          </a:p>
          <a:p>
            <a:r>
              <a:rPr lang="en-IN" dirty="0"/>
              <a:t>#include&lt;iostream&gt;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/>
              <a:t> // base class</a:t>
            </a:r>
          </a:p>
          <a:p>
            <a:r>
              <a:rPr lang="en-IN" dirty="0">
                <a:solidFill>
                  <a:srgbClr val="FF0000"/>
                </a:solidFill>
              </a:rPr>
              <a:t>class Vehicle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public:</a:t>
            </a:r>
          </a:p>
          <a:p>
            <a:r>
              <a:rPr lang="en-IN" dirty="0"/>
              <a:t>    Vehicle()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"This is a Vehicle\n";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// first </a:t>
            </a:r>
            <a:r>
              <a:rPr lang="en-IN" dirty="0" err="1"/>
              <a:t>sub_class</a:t>
            </a:r>
            <a:r>
              <a:rPr lang="en-IN" dirty="0"/>
              <a:t> derived from class vehicle</a:t>
            </a:r>
          </a:p>
          <a:p>
            <a:r>
              <a:rPr lang="en-IN" dirty="0">
                <a:solidFill>
                  <a:srgbClr val="FF0000"/>
                </a:solidFill>
              </a:rPr>
              <a:t>class </a:t>
            </a:r>
            <a:r>
              <a:rPr lang="en-IN" dirty="0" err="1">
                <a:solidFill>
                  <a:srgbClr val="FF0000"/>
                </a:solidFill>
              </a:rPr>
              <a:t>fourWheeler</a:t>
            </a:r>
            <a:r>
              <a:rPr lang="en-IN" dirty="0">
                <a:solidFill>
                  <a:srgbClr val="FF0000"/>
                </a:solidFill>
              </a:rPr>
              <a:t>: public Vehicle</a:t>
            </a:r>
          </a:p>
          <a:p>
            <a:r>
              <a:rPr lang="en-IN" dirty="0"/>
              <a:t>{  public:</a:t>
            </a:r>
          </a:p>
          <a:p>
            <a:r>
              <a:rPr lang="en-IN" dirty="0"/>
              <a:t>    </a:t>
            </a:r>
            <a:r>
              <a:rPr lang="en-IN" dirty="0" err="1"/>
              <a:t>fourWheeler</a:t>
            </a:r>
            <a:r>
              <a:rPr lang="en-IN" dirty="0"/>
              <a:t>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"Objects with 4 wheels are vehicles\n";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6C52-052D-4E7A-BC63-75622EAD67AB}"/>
              </a:ext>
            </a:extLst>
          </p:cNvPr>
          <p:cNvSpPr txBox="1"/>
          <p:nvPr/>
        </p:nvSpPr>
        <p:spPr>
          <a:xfrm>
            <a:off x="5703278" y="464234"/>
            <a:ext cx="60983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sub class derived from the derived base class </a:t>
            </a:r>
            <a:r>
              <a:rPr lang="en-US" dirty="0" err="1"/>
              <a:t>fourWheeler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class Car: public </a:t>
            </a:r>
            <a:r>
              <a:rPr lang="en-US" dirty="0" err="1">
                <a:solidFill>
                  <a:srgbClr val="FF0000"/>
                </a:solidFill>
              </a:rPr>
              <a:t>fourWheeler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{</a:t>
            </a:r>
          </a:p>
          <a:p>
            <a:r>
              <a:rPr lang="en-US" dirty="0"/>
              <a:t>   public:</a:t>
            </a:r>
          </a:p>
          <a:p>
            <a:r>
              <a:rPr lang="en-US" dirty="0"/>
              <a:t>     Car()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</a:t>
            </a:r>
            <a:r>
              <a:rPr lang="en-US" dirty="0" err="1"/>
              <a:t>cout</a:t>
            </a:r>
            <a:r>
              <a:rPr lang="en-US" dirty="0"/>
              <a:t> &lt;&lt; "Car has 4 Wheels\n";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// main function</a:t>
            </a:r>
          </a:p>
          <a:p>
            <a:r>
              <a:rPr lang="en-US" dirty="0"/>
              <a:t>int main()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// Creating object of sub class will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// invoke the constructor of base classes.</a:t>
            </a:r>
          </a:p>
          <a:p>
            <a:r>
              <a:rPr lang="en-US" dirty="0"/>
              <a:t>    Car obj;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3332B-F25F-4060-B97E-18CBE0C8F1BC}"/>
              </a:ext>
            </a:extLst>
          </p:cNvPr>
          <p:cNvSpPr txBox="1"/>
          <p:nvPr/>
        </p:nvSpPr>
        <p:spPr>
          <a:xfrm>
            <a:off x="7188004" y="5265548"/>
            <a:ext cx="37736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This is a Vehicle</a:t>
            </a:r>
          </a:p>
          <a:p>
            <a:r>
              <a:rPr lang="en-US" dirty="0"/>
              <a:t>Objects with 4 wheels are vehicles</a:t>
            </a:r>
          </a:p>
          <a:p>
            <a:r>
              <a:rPr lang="en-US" dirty="0"/>
              <a:t>Car has 4 Wheels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44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47" y="176140"/>
            <a:ext cx="4572000" cy="57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8FBCBA-839C-4E02-BFE8-B281E9C82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023" y="152840"/>
            <a:ext cx="6030913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232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752600" y="1143001"/>
            <a:ext cx="8458200" cy="4124325"/>
          </a:xfrm>
          <a:prstGeom prst="rect">
            <a:avLst/>
          </a:prstGeom>
          <a:noFill/>
          <a:ln w="9525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It is the process of creating new class from more than one base classes.</a:t>
            </a:r>
          </a:p>
          <a:p>
            <a:r>
              <a:rPr lang="en-US" altLang="en-US" sz="2400" u="sng" dirty="0">
                <a:solidFill>
                  <a:srgbClr val="000066"/>
                </a:solidFill>
                <a:latin typeface="Lucida Sans Unicode" panose="020B0602030504020204" pitchFamily="34" charset="0"/>
              </a:rPr>
              <a:t>Syntax :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Lucida Sans Unicode" panose="020B0602030504020204" pitchFamily="34" charset="0"/>
              </a:rPr>
              <a:t>class  &lt;derived class &gt;:&lt;access specifier&gt;          </a:t>
            </a:r>
          </a:p>
          <a:p>
            <a:r>
              <a:rPr lang="en-US" altLang="en-US" sz="2000" dirty="0">
                <a:solidFill>
                  <a:srgbClr val="FF0000"/>
                </a:solidFill>
                <a:latin typeface="Lucida Sans Unicode" panose="020B0602030504020204" pitchFamily="34" charset="0"/>
              </a:rPr>
              <a:t>         base_class1,&lt;access specifier&gt; base_class2...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{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private :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         // members;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protected :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         // members;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public :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	//</a:t>
            </a:r>
            <a:r>
              <a:rPr lang="en-US" altLang="en-US" sz="2000" dirty="0" err="1">
                <a:solidFill>
                  <a:srgbClr val="000066"/>
                </a:solidFill>
                <a:latin typeface="Lucida Sans Unicode" panose="020B0602030504020204" pitchFamily="34" charset="0"/>
              </a:rPr>
              <a:t>memebers</a:t>
            </a:r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;</a:t>
            </a:r>
          </a:p>
          <a:p>
            <a:r>
              <a:rPr lang="en-US" altLang="en-US" sz="2000" dirty="0">
                <a:solidFill>
                  <a:srgbClr val="000066"/>
                </a:solidFill>
                <a:latin typeface="Lucida Sans Unicode" panose="020B0602030504020204" pitchFamily="34" charset="0"/>
              </a:rPr>
              <a:t>}; </a:t>
            </a:r>
          </a:p>
        </p:txBody>
      </p:sp>
      <p:sp>
        <p:nvSpPr>
          <p:cNvPr id="27651" name="Rectangle 7"/>
          <p:cNvSpPr>
            <a:spLocks noChangeArrowheads="1"/>
          </p:cNvSpPr>
          <p:nvPr/>
        </p:nvSpPr>
        <p:spPr bwMode="auto">
          <a:xfrm>
            <a:off x="4191000" y="1524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66"/>
                </a:solidFill>
                <a:latin typeface="Verdana" panose="020B0604030504040204" pitchFamily="34" charset="0"/>
              </a:rPr>
              <a:t>Multiple Inheritance</a:t>
            </a:r>
          </a:p>
        </p:txBody>
      </p:sp>
      <p:grpSp>
        <p:nvGrpSpPr>
          <p:cNvPr id="27652" name="Group 8"/>
          <p:cNvGrpSpPr>
            <a:grpSpLocks/>
          </p:cNvGrpSpPr>
          <p:nvPr/>
        </p:nvGrpSpPr>
        <p:grpSpPr bwMode="auto">
          <a:xfrm>
            <a:off x="6324600" y="3733800"/>
            <a:ext cx="3352800" cy="2057400"/>
            <a:chOff x="2960" y="2208"/>
            <a:chExt cx="2368" cy="1680"/>
          </a:xfrm>
        </p:grpSpPr>
        <p:sp>
          <p:nvSpPr>
            <p:cNvPr id="27653" name="Rectangle 9"/>
            <p:cNvSpPr>
              <a:spLocks noChangeArrowheads="1"/>
            </p:cNvSpPr>
            <p:nvPr/>
          </p:nvSpPr>
          <p:spPr bwMode="auto">
            <a:xfrm>
              <a:off x="2960" y="2208"/>
              <a:ext cx="1063" cy="448"/>
            </a:xfrm>
            <a:prstGeom prst="rect">
              <a:avLst/>
            </a:prstGeom>
            <a:solidFill>
              <a:srgbClr val="C5C5FF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7654" name="Rectangle 10"/>
            <p:cNvSpPr>
              <a:spLocks noChangeArrowheads="1"/>
            </p:cNvSpPr>
            <p:nvPr/>
          </p:nvSpPr>
          <p:spPr bwMode="auto">
            <a:xfrm>
              <a:off x="3619" y="3560"/>
              <a:ext cx="1069" cy="328"/>
            </a:xfrm>
            <a:prstGeom prst="rect">
              <a:avLst/>
            </a:prstGeom>
            <a:solidFill>
              <a:srgbClr val="80D212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7655" name="Rectangle 11"/>
            <p:cNvSpPr>
              <a:spLocks noChangeArrowheads="1"/>
            </p:cNvSpPr>
            <p:nvPr/>
          </p:nvSpPr>
          <p:spPr bwMode="auto">
            <a:xfrm>
              <a:off x="4256" y="2208"/>
              <a:ext cx="1072" cy="400"/>
            </a:xfrm>
            <a:prstGeom prst="rect">
              <a:avLst/>
            </a:prstGeom>
            <a:solidFill>
              <a:srgbClr val="FBF6C9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7656" name="Line 12"/>
            <p:cNvSpPr>
              <a:spLocks noChangeShapeType="1"/>
            </p:cNvSpPr>
            <p:nvPr/>
          </p:nvSpPr>
          <p:spPr bwMode="auto">
            <a:xfrm>
              <a:off x="3510" y="2616"/>
              <a:ext cx="522" cy="93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57" name="Line 13"/>
            <p:cNvSpPr>
              <a:spLocks noChangeShapeType="1"/>
            </p:cNvSpPr>
            <p:nvPr/>
          </p:nvSpPr>
          <p:spPr bwMode="auto">
            <a:xfrm flipH="1">
              <a:off x="4188" y="2616"/>
              <a:ext cx="756" cy="93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58" name="Text Box 14"/>
            <p:cNvSpPr txBox="1">
              <a:spLocks noChangeArrowheads="1"/>
            </p:cNvSpPr>
            <p:nvPr/>
          </p:nvSpPr>
          <p:spPr bwMode="auto">
            <a:xfrm>
              <a:off x="2960" y="2284"/>
              <a:ext cx="10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solidFill>
                    <a:srgbClr val="000000"/>
                  </a:solidFill>
                  <a:latin typeface="Verdana" panose="020B0604030504040204" pitchFamily="34" charset="0"/>
                </a:rPr>
                <a:t>Person</a:t>
              </a:r>
              <a:endParaRPr lang="en-US" altLang="en-US" sz="2000" b="1">
                <a:latin typeface="Verdana" panose="020B0604030504040204" pitchFamily="34" charset="0"/>
              </a:endParaRPr>
            </a:p>
          </p:txBody>
        </p:sp>
        <p:sp>
          <p:nvSpPr>
            <p:cNvPr id="27659" name="Text Box 15"/>
            <p:cNvSpPr txBox="1">
              <a:spLocks noChangeArrowheads="1"/>
            </p:cNvSpPr>
            <p:nvPr/>
          </p:nvSpPr>
          <p:spPr bwMode="auto">
            <a:xfrm>
              <a:off x="4198" y="2270"/>
              <a:ext cx="111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1">
                  <a:solidFill>
                    <a:srgbClr val="000000"/>
                  </a:solidFill>
                  <a:latin typeface="Verdana" panose="020B0604030504040204" pitchFamily="34" charset="0"/>
                </a:rPr>
                <a:t>Employee</a:t>
              </a:r>
              <a:endParaRPr lang="en-US" altLang="en-US" b="1">
                <a:latin typeface="Verdana" panose="020B0604030504040204" pitchFamily="34" charset="0"/>
              </a:endParaRPr>
            </a:p>
          </p:txBody>
        </p:sp>
        <p:sp>
          <p:nvSpPr>
            <p:cNvPr id="27660" name="Text Box 16"/>
            <p:cNvSpPr txBox="1">
              <a:spLocks noChangeArrowheads="1"/>
            </p:cNvSpPr>
            <p:nvPr/>
          </p:nvSpPr>
          <p:spPr bwMode="auto">
            <a:xfrm>
              <a:off x="3653" y="3617"/>
              <a:ext cx="93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1">
                  <a:solidFill>
                    <a:srgbClr val="000000"/>
                  </a:solidFill>
                  <a:latin typeface="Verdana" panose="020B0604030504040204" pitchFamily="34" charset="0"/>
                </a:rPr>
                <a:t>Teacher</a:t>
              </a:r>
              <a:endParaRPr lang="en-US" altLang="en-US" b="1"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5564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0345F4-C3D6-412E-8376-FE142A2D0937}"/>
              </a:ext>
            </a:extLst>
          </p:cNvPr>
          <p:cNvSpPr txBox="1"/>
          <p:nvPr/>
        </p:nvSpPr>
        <p:spPr>
          <a:xfrm>
            <a:off x="558019" y="299620"/>
            <a:ext cx="50690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C++ program to explain</a:t>
            </a:r>
          </a:p>
          <a:p>
            <a:r>
              <a:rPr lang="en-IN" dirty="0"/>
              <a:t>// multiple inheritance</a:t>
            </a:r>
          </a:p>
          <a:p>
            <a:r>
              <a:rPr lang="en-IN" dirty="0"/>
              <a:t>#include&lt;iostream&gt;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// first base class</a:t>
            </a:r>
          </a:p>
          <a:p>
            <a:r>
              <a:rPr lang="en-IN" dirty="0"/>
              <a:t>class Vehicle {</a:t>
            </a:r>
          </a:p>
          <a:p>
            <a:r>
              <a:rPr lang="en-IN" dirty="0"/>
              <a:t>  public:</a:t>
            </a:r>
          </a:p>
          <a:p>
            <a:r>
              <a:rPr lang="en-IN" dirty="0"/>
              <a:t>    Vehicle()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"This is a Vehicle\n";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// second base class</a:t>
            </a:r>
          </a:p>
          <a:p>
            <a:r>
              <a:rPr lang="en-IN" dirty="0"/>
              <a:t>class </a:t>
            </a:r>
            <a:r>
              <a:rPr lang="en-IN" dirty="0" err="1"/>
              <a:t>FourWheeler</a:t>
            </a:r>
            <a:r>
              <a:rPr lang="en-IN" dirty="0"/>
              <a:t> {</a:t>
            </a:r>
          </a:p>
          <a:p>
            <a:r>
              <a:rPr lang="en-IN" dirty="0"/>
              <a:t>  public:</a:t>
            </a:r>
          </a:p>
          <a:p>
            <a:r>
              <a:rPr lang="en-IN" dirty="0"/>
              <a:t>    </a:t>
            </a:r>
            <a:r>
              <a:rPr lang="en-IN" dirty="0" err="1"/>
              <a:t>FourWheeler</a:t>
            </a:r>
            <a:r>
              <a:rPr lang="en-IN" dirty="0"/>
              <a:t>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"This is a 4 wheeler Vehicle\n";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A8580-A7DF-4C56-B184-D54714511E7C}"/>
              </a:ext>
            </a:extLst>
          </p:cNvPr>
          <p:cNvSpPr txBox="1"/>
          <p:nvPr/>
        </p:nvSpPr>
        <p:spPr>
          <a:xfrm>
            <a:off x="5398476" y="299620"/>
            <a:ext cx="60983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sub class derived from two base classes</a:t>
            </a:r>
          </a:p>
          <a:p>
            <a:r>
              <a:rPr lang="en-US" dirty="0">
                <a:solidFill>
                  <a:srgbClr val="FF0000"/>
                </a:solidFill>
              </a:rPr>
              <a:t>class Car : public Vehicle, public </a:t>
            </a:r>
            <a:r>
              <a:rPr lang="en-US" dirty="0" err="1">
                <a:solidFill>
                  <a:srgbClr val="FF0000"/>
                </a:solidFill>
              </a:rPr>
              <a:t>FourWheeler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// main function</a:t>
            </a:r>
          </a:p>
          <a:p>
            <a:r>
              <a:rPr lang="en-US" dirty="0"/>
              <a:t>int main()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// Creating object of sub class will</a:t>
            </a:r>
          </a:p>
          <a:p>
            <a:r>
              <a:rPr lang="en-US" dirty="0"/>
              <a:t>    // invoke the constructor of base classes.</a:t>
            </a:r>
          </a:p>
          <a:p>
            <a:r>
              <a:rPr lang="en-US" dirty="0"/>
              <a:t>    Car obj;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0DF14-7C0E-4AA2-BDB5-EDE6EAAE2410}"/>
              </a:ext>
            </a:extLst>
          </p:cNvPr>
          <p:cNvSpPr txBox="1"/>
          <p:nvPr/>
        </p:nvSpPr>
        <p:spPr>
          <a:xfrm>
            <a:off x="6564925" y="4916268"/>
            <a:ext cx="38451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This is a Vehicle</a:t>
            </a:r>
          </a:p>
          <a:p>
            <a:r>
              <a:rPr lang="en-US" dirty="0"/>
              <a:t>This is a 4 wheeler Vehicle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248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077" y="148770"/>
            <a:ext cx="39941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F30F218-D6B9-427C-BA94-914C94BC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085" y="148770"/>
            <a:ext cx="5684838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39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u="sng" dirty="0">
                <a:solidFill>
                  <a:srgbClr val="000066"/>
                </a:solidFill>
                <a:latin typeface="Times New Roman" pitchFamily="18" charset="0"/>
              </a:rPr>
              <a:t>Hierarchical Inheritance</a:t>
            </a:r>
            <a:br>
              <a:rPr lang="en-US" u="sng" dirty="0">
                <a:solidFill>
                  <a:srgbClr val="000066"/>
                </a:solidFill>
                <a:latin typeface="Times New Roman" pitchFamily="18" charset="0"/>
              </a:rPr>
            </a:br>
            <a:endParaRPr lang="en-US" dirty="0"/>
          </a:p>
        </p:txBody>
      </p:sp>
      <p:grpSp>
        <p:nvGrpSpPr>
          <p:cNvPr id="35843" name="Group 13"/>
          <p:cNvGrpSpPr>
            <a:grpSpLocks/>
          </p:cNvGrpSpPr>
          <p:nvPr/>
        </p:nvGrpSpPr>
        <p:grpSpPr bwMode="auto">
          <a:xfrm>
            <a:off x="2667000" y="2819400"/>
            <a:ext cx="7010400" cy="1866900"/>
            <a:chOff x="384" y="1392"/>
            <a:chExt cx="4416" cy="1176"/>
          </a:xfrm>
        </p:grpSpPr>
        <p:sp>
          <p:nvSpPr>
            <p:cNvPr id="35845" name="Text Box 14"/>
            <p:cNvSpPr txBox="1">
              <a:spLocks noChangeArrowheads="1"/>
            </p:cNvSpPr>
            <p:nvPr/>
          </p:nvSpPr>
          <p:spPr bwMode="auto">
            <a:xfrm>
              <a:off x="1872" y="1392"/>
              <a:ext cx="1296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Employee</a:t>
              </a:r>
            </a:p>
          </p:txBody>
        </p:sp>
        <p:sp>
          <p:nvSpPr>
            <p:cNvPr id="35846" name="Line 17"/>
            <p:cNvSpPr>
              <a:spLocks noChangeShapeType="1"/>
            </p:cNvSpPr>
            <p:nvPr/>
          </p:nvSpPr>
          <p:spPr bwMode="auto">
            <a:xfrm flipH="1">
              <a:off x="1248" y="1824"/>
              <a:ext cx="1176" cy="3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47" name="Line 18"/>
            <p:cNvSpPr>
              <a:spLocks noChangeShapeType="1"/>
            </p:cNvSpPr>
            <p:nvPr/>
          </p:nvSpPr>
          <p:spPr bwMode="auto">
            <a:xfrm>
              <a:off x="2544" y="1824"/>
              <a:ext cx="1152" cy="3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48" name="Text Box 19"/>
            <p:cNvSpPr txBox="1">
              <a:spLocks noChangeArrowheads="1"/>
            </p:cNvSpPr>
            <p:nvPr/>
          </p:nvSpPr>
          <p:spPr bwMode="auto">
            <a:xfrm>
              <a:off x="384" y="2160"/>
              <a:ext cx="1344" cy="40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Permanent Employee</a:t>
              </a:r>
            </a:p>
          </p:txBody>
        </p:sp>
        <p:sp>
          <p:nvSpPr>
            <p:cNvPr id="35849" name="Text Box 20"/>
            <p:cNvSpPr txBox="1">
              <a:spLocks noChangeArrowheads="1"/>
            </p:cNvSpPr>
            <p:nvPr/>
          </p:nvSpPr>
          <p:spPr bwMode="auto">
            <a:xfrm>
              <a:off x="3456" y="2160"/>
              <a:ext cx="1344" cy="40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Temporary Employee</a:t>
              </a:r>
            </a:p>
          </p:txBody>
        </p:sp>
      </p:grpSp>
      <p:sp>
        <p:nvSpPr>
          <p:cNvPr id="35844" name="Rectangle 8"/>
          <p:cNvSpPr>
            <a:spLocks noChangeArrowheads="1"/>
          </p:cNvSpPr>
          <p:nvPr/>
        </p:nvSpPr>
        <p:spPr bwMode="auto">
          <a:xfrm>
            <a:off x="1828800" y="1066800"/>
            <a:ext cx="84582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/>
              <a:t>If more than one class is inherited from a base class, it's known as hierarchical inheritance. In general, all features that are common in child classes are included in base class in hierarchical inheritance. </a:t>
            </a:r>
          </a:p>
        </p:txBody>
      </p:sp>
    </p:spTree>
    <p:extLst>
      <p:ext uri="{BB962C8B-B14F-4D97-AF65-F5344CB8AC3E}">
        <p14:creationId xmlns:p14="http://schemas.microsoft.com/office/powerpoint/2010/main" val="3989896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0975-1C0E-4C1D-A8F5-E83F5B39E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286"/>
            <a:ext cx="10515600" cy="59096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base_class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//data members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//member functions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derived_class1 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visibility_mode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base_class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//data members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//member functions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derived_class2 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visibility_mode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base_class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//data members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//member functions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71610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B274DB-E58A-4DF7-B728-811CCD5CF502}"/>
              </a:ext>
            </a:extLst>
          </p:cNvPr>
          <p:cNvSpPr txBox="1"/>
          <p:nvPr/>
        </p:nvSpPr>
        <p:spPr>
          <a:xfrm>
            <a:off x="4962378" y="681037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second sub class</a:t>
            </a:r>
          </a:p>
          <a:p>
            <a:r>
              <a:rPr lang="en-US" dirty="0"/>
              <a:t>class Bus: public Vehicle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// main function</a:t>
            </a:r>
          </a:p>
          <a:p>
            <a:r>
              <a:rPr lang="en-US" dirty="0"/>
              <a:t>int main()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// Creating object of sub class will</a:t>
            </a:r>
          </a:p>
          <a:p>
            <a:r>
              <a:rPr lang="en-US" dirty="0"/>
              <a:t>    // invoke the constructor of base class.</a:t>
            </a:r>
          </a:p>
          <a:p>
            <a:r>
              <a:rPr lang="en-US" dirty="0"/>
              <a:t>    Car obj1;</a:t>
            </a:r>
          </a:p>
          <a:p>
            <a:r>
              <a:rPr lang="en-US" dirty="0"/>
              <a:t>    Bus obj2;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44A8A-60FE-4259-A019-1B17DD15FAD2}"/>
              </a:ext>
            </a:extLst>
          </p:cNvPr>
          <p:cNvSpPr txBox="1"/>
          <p:nvPr/>
        </p:nvSpPr>
        <p:spPr>
          <a:xfrm>
            <a:off x="432582" y="819536"/>
            <a:ext cx="41781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base class</a:t>
            </a:r>
          </a:p>
          <a:p>
            <a:r>
              <a:rPr lang="en-US" dirty="0"/>
              <a:t>class Vehicle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public:</a:t>
            </a:r>
          </a:p>
          <a:p>
            <a:r>
              <a:rPr lang="en-US" dirty="0"/>
              <a:t>    Vehicle()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"This is a Vehicle\n";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// first sub class</a:t>
            </a:r>
          </a:p>
          <a:p>
            <a:r>
              <a:rPr lang="en-US" dirty="0"/>
              <a:t>class Car: public Vehicle</a:t>
            </a:r>
          </a:p>
          <a:p>
            <a:r>
              <a:rPr lang="en-US" dirty="0"/>
              <a:t>{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};</a:t>
            </a:r>
          </a:p>
          <a:p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299B6-9E01-478A-85BE-22097E9C95CB}"/>
              </a:ext>
            </a:extLst>
          </p:cNvPr>
          <p:cNvSpPr txBox="1"/>
          <p:nvPr/>
        </p:nvSpPr>
        <p:spPr>
          <a:xfrm>
            <a:off x="6481689" y="5159185"/>
            <a:ext cx="4941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This is a Vehicle</a:t>
            </a:r>
          </a:p>
          <a:p>
            <a:r>
              <a:rPr lang="en-US" dirty="0"/>
              <a:t>This is a Vehicle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529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54" y="186397"/>
            <a:ext cx="6006904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AF2AE8-ED8B-4B50-95F8-478D0AC64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237" y="0"/>
            <a:ext cx="6006904" cy="62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86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1981200" y="219075"/>
            <a:ext cx="80772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 u="sng">
                <a:solidFill>
                  <a:srgbClr val="000066"/>
                </a:solidFill>
                <a:latin typeface="Times New Roman" panose="02020603050405020304" pitchFamily="18" charset="0"/>
              </a:rPr>
              <a:t>Hybrid Inheritance</a:t>
            </a:r>
          </a:p>
          <a:p>
            <a:pPr algn="ctr"/>
            <a:endParaRPr lang="en-US" altLang="en-US" sz="2000" b="1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>
                <a:solidFill>
                  <a:srgbClr val="000066"/>
                </a:solidFill>
                <a:latin typeface="Times New Roman" panose="02020603050405020304" pitchFamily="18" charset="0"/>
              </a:rPr>
              <a:t>Hybrid is nothing but the combination of Multilevel  and multiple Inheritance</a:t>
            </a:r>
          </a:p>
        </p:txBody>
      </p:sp>
      <p:pic>
        <p:nvPicPr>
          <p:cNvPr id="38915" name="Picture 19" descr="http://imgs.g4estatic.com/articles/cpp/encapsulation-inheritance-polymorphism/hybrid-inheritan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09801"/>
            <a:ext cx="50292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4542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609600"/>
            <a:ext cx="884872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266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70549-8AC0-4BF2-97F6-373EE3E3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67" y="392943"/>
            <a:ext cx="6248400" cy="5762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704E91-6055-4AA7-BA15-177E7427B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2943"/>
            <a:ext cx="5295900" cy="536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89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26" y="336453"/>
            <a:ext cx="613092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6353EE-59B6-44C7-9680-31C6C40A1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88" y="336453"/>
            <a:ext cx="5438103" cy="46882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FD27C8-1CF3-418D-802B-0B5B9A1F1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967" y="2066128"/>
            <a:ext cx="2371550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45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F302E4-31C6-463D-8167-E0E2867A1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34" y="105013"/>
            <a:ext cx="4536831" cy="66479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libri body"/>
              </a:rPr>
              <a:t>#include&lt;iostream&gt;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{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libri body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a;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};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{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libri body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b;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};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{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libri body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};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ClassC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 {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alibri body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libri body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d;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 body"/>
              </a:rPr>
              <a:t>};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 body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CB0D-83D4-468E-8D0E-75A1854AF5C8}"/>
              </a:ext>
            </a:extLst>
          </p:cNvPr>
          <p:cNvSpPr txBox="1"/>
          <p:nvPr/>
        </p:nvSpPr>
        <p:spPr>
          <a:xfrm>
            <a:off x="5001065" y="874454"/>
            <a:ext cx="60983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    </a:t>
            </a:r>
            <a:r>
              <a:rPr lang="en-IN" dirty="0" err="1"/>
              <a:t>ClassD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;</a:t>
            </a:r>
          </a:p>
          <a:p>
            <a:r>
              <a:rPr lang="en-IN" dirty="0"/>
              <a:t>     // </a:t>
            </a:r>
            <a:r>
              <a:rPr lang="en-IN" dirty="0" err="1"/>
              <a:t>obj.a</a:t>
            </a:r>
            <a:r>
              <a:rPr lang="en-IN" dirty="0"/>
              <a:t> = 10;                  // Statement 1, Error    [</a:t>
            </a:r>
            <a:r>
              <a:rPr lang="en-IN" dirty="0">
                <a:solidFill>
                  <a:srgbClr val="FF0000"/>
                </a:solidFill>
              </a:rPr>
              <a:t>ambiguous</a:t>
            </a:r>
            <a:r>
              <a:rPr lang="en-IN" dirty="0"/>
              <a:t>]</a:t>
            </a:r>
          </a:p>
          <a:p>
            <a:r>
              <a:rPr lang="en-IN" dirty="0"/>
              <a:t>    // </a:t>
            </a:r>
            <a:r>
              <a:rPr lang="en-IN" dirty="0" err="1"/>
              <a:t>obj.a</a:t>
            </a:r>
            <a:r>
              <a:rPr lang="en-IN" dirty="0"/>
              <a:t> = 100;                 // Statement 2, Error    [</a:t>
            </a:r>
            <a:r>
              <a:rPr lang="en-IN" dirty="0">
                <a:solidFill>
                  <a:srgbClr val="FF0000"/>
                </a:solidFill>
              </a:rPr>
              <a:t>ambiguous</a:t>
            </a:r>
            <a:r>
              <a:rPr lang="en-IN" dirty="0"/>
              <a:t>]</a:t>
            </a:r>
          </a:p>
          <a:p>
            <a:r>
              <a:rPr lang="en-IN" dirty="0"/>
              <a:t>    </a:t>
            </a:r>
          </a:p>
          <a:p>
            <a:r>
              <a:rPr lang="en-IN" dirty="0"/>
              <a:t>     </a:t>
            </a:r>
            <a:r>
              <a:rPr lang="en-IN" dirty="0" err="1">
                <a:solidFill>
                  <a:srgbClr val="FF0000"/>
                </a:solidFill>
              </a:rPr>
              <a:t>obj.ClassB</a:t>
            </a:r>
            <a:r>
              <a:rPr lang="en-IN" dirty="0">
                <a:solidFill>
                  <a:srgbClr val="FF0000"/>
                </a:solidFill>
              </a:rPr>
              <a:t>::a = 10;  </a:t>
            </a:r>
            <a:r>
              <a:rPr lang="en-IN" dirty="0"/>
              <a:t>// Statement 3</a:t>
            </a:r>
          </a:p>
          <a:p>
            <a:r>
              <a:rPr lang="en-IN" dirty="0">
                <a:solidFill>
                  <a:srgbClr val="FF0000"/>
                </a:solidFill>
              </a:rPr>
              <a:t>    </a:t>
            </a:r>
            <a:r>
              <a:rPr lang="en-IN" dirty="0" err="1">
                <a:solidFill>
                  <a:srgbClr val="FF0000"/>
                </a:solidFill>
              </a:rPr>
              <a:t>obj.ClassC</a:t>
            </a:r>
            <a:r>
              <a:rPr lang="en-IN" dirty="0">
                <a:solidFill>
                  <a:srgbClr val="FF0000"/>
                </a:solidFill>
              </a:rPr>
              <a:t>::a = 100; </a:t>
            </a:r>
            <a:r>
              <a:rPr lang="en-IN" dirty="0"/>
              <a:t>// Statement 4</a:t>
            </a:r>
          </a:p>
          <a:p>
            <a:r>
              <a:rPr lang="en-IN" dirty="0"/>
              <a:t>    </a:t>
            </a:r>
          </a:p>
          <a:p>
            <a:r>
              <a:rPr lang="en-IN" dirty="0"/>
              <a:t>    </a:t>
            </a:r>
            <a:r>
              <a:rPr lang="en-IN" dirty="0" err="1"/>
              <a:t>obj.b</a:t>
            </a:r>
            <a:r>
              <a:rPr lang="en-IN" dirty="0"/>
              <a:t> = 20;</a:t>
            </a:r>
          </a:p>
          <a:p>
            <a:r>
              <a:rPr lang="en-IN" dirty="0"/>
              <a:t>    </a:t>
            </a:r>
            <a:r>
              <a:rPr lang="en-IN" dirty="0" err="1"/>
              <a:t>obj.c</a:t>
            </a:r>
            <a:r>
              <a:rPr lang="en-IN" dirty="0"/>
              <a:t> = 30;</a:t>
            </a:r>
          </a:p>
          <a:p>
            <a:r>
              <a:rPr lang="en-IN" dirty="0"/>
              <a:t>    </a:t>
            </a:r>
            <a:r>
              <a:rPr lang="en-IN" dirty="0" err="1"/>
              <a:t>obj.d</a:t>
            </a:r>
            <a:r>
              <a:rPr lang="en-IN" dirty="0"/>
              <a:t> = 40;</a:t>
            </a:r>
            <a:r>
              <a:rPr lang="en-US" dirty="0"/>
              <a:t> Output: 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   </a:t>
            </a:r>
            <a:r>
              <a:rPr lang="en-IN" dirty="0" err="1"/>
              <a:t>cout</a:t>
            </a:r>
            <a:r>
              <a:rPr lang="en-IN" dirty="0"/>
              <a:t> &lt;&lt; " a from </a:t>
            </a:r>
            <a:r>
              <a:rPr lang="en-IN" dirty="0" err="1"/>
              <a:t>ClassB</a:t>
            </a:r>
            <a:r>
              <a:rPr lang="en-IN" dirty="0"/>
              <a:t>  : " &lt;&lt; </a:t>
            </a:r>
            <a:r>
              <a:rPr lang="en-IN" dirty="0" err="1"/>
              <a:t>obj.ClassB</a:t>
            </a:r>
            <a:r>
              <a:rPr lang="en-IN" dirty="0"/>
              <a:t>::a;</a:t>
            </a:r>
          </a:p>
          <a:p>
            <a:r>
              <a:rPr lang="en-IN" dirty="0"/>
              <a:t>    </a:t>
            </a:r>
            <a:r>
              <a:rPr lang="en-IN" dirty="0" err="1"/>
              <a:t>cout</a:t>
            </a:r>
            <a:r>
              <a:rPr lang="en-IN" dirty="0"/>
              <a:t> &lt;&lt; "\n a from </a:t>
            </a:r>
            <a:r>
              <a:rPr lang="en-IN" dirty="0" err="1"/>
              <a:t>ClassC</a:t>
            </a:r>
            <a:r>
              <a:rPr lang="en-IN" dirty="0"/>
              <a:t>  : " &lt;&lt; </a:t>
            </a:r>
            <a:r>
              <a:rPr lang="en-IN" dirty="0" err="1"/>
              <a:t>obj.ClassC</a:t>
            </a:r>
            <a:r>
              <a:rPr lang="en-IN" dirty="0"/>
              <a:t>::a;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   </a:t>
            </a:r>
            <a:r>
              <a:rPr lang="en-IN" dirty="0" err="1"/>
              <a:t>cout</a:t>
            </a:r>
            <a:r>
              <a:rPr lang="en-IN" dirty="0"/>
              <a:t> &lt;&lt; "\n b : " &lt;&lt; </a:t>
            </a:r>
            <a:r>
              <a:rPr lang="en-IN" dirty="0" err="1"/>
              <a:t>obj.b</a:t>
            </a:r>
            <a:r>
              <a:rPr lang="en-IN" dirty="0"/>
              <a:t>;</a:t>
            </a:r>
          </a:p>
          <a:p>
            <a:r>
              <a:rPr lang="en-IN" dirty="0"/>
              <a:t>    </a:t>
            </a:r>
            <a:r>
              <a:rPr lang="en-IN" dirty="0" err="1"/>
              <a:t>cout</a:t>
            </a:r>
            <a:r>
              <a:rPr lang="en-IN" dirty="0"/>
              <a:t> &lt;&lt; "\n c : " &lt;&lt; </a:t>
            </a:r>
            <a:r>
              <a:rPr lang="en-IN" dirty="0" err="1"/>
              <a:t>obj.c</a:t>
            </a:r>
            <a:r>
              <a:rPr lang="en-IN" dirty="0"/>
              <a:t>;</a:t>
            </a:r>
          </a:p>
          <a:p>
            <a:r>
              <a:rPr lang="en-IN" dirty="0"/>
              <a:t>    </a:t>
            </a:r>
            <a:r>
              <a:rPr lang="en-IN" dirty="0" err="1"/>
              <a:t>cout</a:t>
            </a:r>
            <a:r>
              <a:rPr lang="en-IN" dirty="0"/>
              <a:t> &lt;&lt; "\n d : " &lt;&lt; </a:t>
            </a:r>
            <a:r>
              <a:rPr lang="en-IN" dirty="0" err="1"/>
              <a:t>obj.d</a:t>
            </a:r>
            <a:r>
              <a:rPr lang="en-IN" dirty="0"/>
              <a:t> &lt;&lt; '\n';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72805-9A12-47AC-AFAA-F623E98474EA}"/>
              </a:ext>
            </a:extLst>
          </p:cNvPr>
          <p:cNvSpPr txBox="1"/>
          <p:nvPr/>
        </p:nvSpPr>
        <p:spPr>
          <a:xfrm>
            <a:off x="2518117" y="220429"/>
            <a:ext cx="652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MULTIPATH Inheritance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168E1-2859-4A7F-B684-AE9D7A1D1409}"/>
              </a:ext>
            </a:extLst>
          </p:cNvPr>
          <p:cNvSpPr txBox="1"/>
          <p:nvPr/>
        </p:nvSpPr>
        <p:spPr>
          <a:xfrm>
            <a:off x="9924757" y="2551837"/>
            <a:ext cx="213661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a from </a:t>
            </a:r>
            <a:r>
              <a:rPr lang="en-US" dirty="0" err="1"/>
              <a:t>ClassB</a:t>
            </a:r>
            <a:r>
              <a:rPr lang="en-US" dirty="0"/>
              <a:t> : 10</a:t>
            </a:r>
          </a:p>
          <a:p>
            <a:r>
              <a:rPr lang="en-US" dirty="0"/>
              <a:t>a from </a:t>
            </a:r>
            <a:r>
              <a:rPr lang="en-US" dirty="0" err="1"/>
              <a:t>ClassC</a:t>
            </a:r>
            <a:r>
              <a:rPr lang="en-US" dirty="0"/>
              <a:t> : 100</a:t>
            </a:r>
          </a:p>
          <a:p>
            <a:r>
              <a:rPr lang="en-US" dirty="0"/>
              <a:t>b : 20</a:t>
            </a:r>
          </a:p>
          <a:p>
            <a:r>
              <a:rPr lang="en-US" dirty="0"/>
              <a:t>c : 30</a:t>
            </a:r>
          </a:p>
          <a:p>
            <a:r>
              <a:rPr lang="en-US" dirty="0"/>
              <a:t>d : 40</a:t>
            </a:r>
          </a:p>
        </p:txBody>
      </p:sp>
    </p:spTree>
    <p:extLst>
      <p:ext uri="{BB962C8B-B14F-4D97-AF65-F5344CB8AC3E}">
        <p14:creationId xmlns:p14="http://schemas.microsoft.com/office/powerpoint/2010/main" val="1089361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79D1DE-D245-426B-9A1F-3A9F61A76BC9}"/>
              </a:ext>
            </a:extLst>
          </p:cNvPr>
          <p:cNvSpPr txBox="1"/>
          <p:nvPr/>
        </p:nvSpPr>
        <p:spPr>
          <a:xfrm>
            <a:off x="2293257" y="232229"/>
            <a:ext cx="772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VIRTUAL BASE CLASS</a:t>
            </a:r>
            <a:endParaRPr lang="en-IN" sz="40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81B5E1-88E0-436A-9257-4D653E6A7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7" y="842672"/>
            <a:ext cx="5262840" cy="563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936263-52A2-440A-AD1C-E5CB80CC5E8E}"/>
              </a:ext>
            </a:extLst>
          </p:cNvPr>
          <p:cNvSpPr txBox="1"/>
          <p:nvPr/>
        </p:nvSpPr>
        <p:spPr>
          <a:xfrm>
            <a:off x="5537981" y="986971"/>
            <a:ext cx="5262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As we can see from the figure that data members/function of class A are inherited twice to class D. One through class B and second through class C. When any data / function member of class A is accessed by an object of class D, ambiguity arises as to which data/function member would be called? One inherited through B or the other inherited through C. This confuses compiler and it displays error.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A44C7-E9FD-4001-B794-92BCD9FAA3FF}"/>
              </a:ext>
            </a:extLst>
          </p:cNvPr>
          <p:cNvSpPr txBox="1"/>
          <p:nvPr/>
        </p:nvSpPr>
        <p:spPr>
          <a:xfrm>
            <a:off x="5537981" y="3342151"/>
            <a:ext cx="508312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Syntax for Virtual Base Classes:</a:t>
            </a:r>
          </a:p>
          <a:p>
            <a:endParaRPr lang="en-IN" dirty="0"/>
          </a:p>
          <a:p>
            <a:r>
              <a:rPr lang="en-IN" dirty="0"/>
              <a:t>Syntax 1:</a:t>
            </a:r>
          </a:p>
          <a:p>
            <a:r>
              <a:rPr lang="en-IN" dirty="0"/>
              <a:t>class B : virtual public A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Syntax 2:</a:t>
            </a:r>
          </a:p>
          <a:p>
            <a:r>
              <a:rPr lang="en-IN" dirty="0"/>
              <a:t>class C : public virtual A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53495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F30C7-3BB3-43E9-86EF-FA631F9F24BF}"/>
              </a:ext>
            </a:extLst>
          </p:cNvPr>
          <p:cNvSpPr txBox="1"/>
          <p:nvPr/>
        </p:nvSpPr>
        <p:spPr>
          <a:xfrm>
            <a:off x="309488" y="553791"/>
            <a:ext cx="34043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using namespace std;</a:t>
            </a:r>
          </a:p>
          <a:p>
            <a:r>
              <a:rPr lang="en-IN" dirty="0"/>
              <a:t>class A {</a:t>
            </a:r>
          </a:p>
          <a:p>
            <a:r>
              <a:rPr lang="en-IN" dirty="0"/>
              <a:t>public:</a:t>
            </a:r>
          </a:p>
          <a:p>
            <a:r>
              <a:rPr lang="en-IN" dirty="0"/>
              <a:t>    int a;</a:t>
            </a:r>
          </a:p>
          <a:p>
            <a:r>
              <a:rPr lang="en-IN" dirty="0"/>
              <a:t>    A() // constructor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a = 10;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  <a:p>
            <a:r>
              <a:rPr lang="en-IN" dirty="0">
                <a:solidFill>
                  <a:srgbClr val="FF0000"/>
                </a:solidFill>
              </a:rPr>
              <a:t>class B : public virtual A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};</a:t>
            </a:r>
          </a:p>
          <a:p>
            <a:r>
              <a:rPr lang="en-IN" dirty="0">
                <a:solidFill>
                  <a:srgbClr val="FF0000"/>
                </a:solidFill>
              </a:rPr>
              <a:t>class C : public virtual A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class D : public B, public C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1910C-5522-4AE8-B2FA-3B2709FE1603}"/>
              </a:ext>
            </a:extLst>
          </p:cNvPr>
          <p:cNvSpPr txBox="1"/>
          <p:nvPr/>
        </p:nvSpPr>
        <p:spPr>
          <a:xfrm>
            <a:off x="3274255" y="553791"/>
            <a:ext cx="40409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D object; // object creation of class d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 = " &lt;&lt; </a:t>
            </a:r>
            <a:r>
              <a:rPr lang="en-IN" dirty="0" err="1"/>
              <a:t>object.a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B3077-7845-43C5-9590-62DAA7C8C1BA}"/>
              </a:ext>
            </a:extLst>
          </p:cNvPr>
          <p:cNvSpPr txBox="1"/>
          <p:nvPr/>
        </p:nvSpPr>
        <p:spPr>
          <a:xfrm>
            <a:off x="5294727" y="2892478"/>
            <a:ext cx="60983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NOTE :</a:t>
            </a:r>
          </a:p>
          <a:p>
            <a:pPr algn="just"/>
            <a:r>
              <a:rPr lang="en-US" dirty="0"/>
              <a:t>virtual can be written before or after the public. Now only one copy of data/function member will be copied to class C and class B and class A becomes the virtual base class.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Virtual base classes offer a way to save space and avoid ambiguities in class hierarchies that use multiple inheritances. When a base class is specified as a virtual base, it can act as an indirect base more than once without duplication of its data members. A single copy of its data members is shared by all the base classes that use virtual 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493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9CAD78-F6F4-4AA6-A5F2-8603D94E7C61}"/>
              </a:ext>
            </a:extLst>
          </p:cNvPr>
          <p:cNvSpPr txBox="1"/>
          <p:nvPr/>
        </p:nvSpPr>
        <p:spPr>
          <a:xfrm>
            <a:off x="426720" y="309489"/>
            <a:ext cx="372324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class A {</a:t>
            </a:r>
          </a:p>
          <a:p>
            <a:r>
              <a:rPr lang="en-IN" dirty="0"/>
              <a:t>public:</a:t>
            </a:r>
          </a:p>
          <a:p>
            <a:r>
              <a:rPr lang="en-IN" dirty="0"/>
              <a:t>    void show()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"Hello from A \n";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class B : public virtual A {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class C : public virtual A {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class D : public B, public C {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13D7F-DC2A-4638-AF80-33901D369517}"/>
              </a:ext>
            </a:extLst>
          </p:cNvPr>
          <p:cNvSpPr txBox="1"/>
          <p:nvPr/>
        </p:nvSpPr>
        <p:spPr>
          <a:xfrm>
            <a:off x="5257800" y="492259"/>
            <a:ext cx="6098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D object;</a:t>
            </a:r>
          </a:p>
          <a:p>
            <a:r>
              <a:rPr lang="en-IN" dirty="0"/>
              <a:t>    </a:t>
            </a:r>
            <a:r>
              <a:rPr lang="en-IN" dirty="0" err="1"/>
              <a:t>object.show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E0D7F-D272-4A9E-9896-381D8C1496BF}"/>
              </a:ext>
            </a:extLst>
          </p:cNvPr>
          <p:cNvSpPr txBox="1"/>
          <p:nvPr/>
        </p:nvSpPr>
        <p:spPr>
          <a:xfrm>
            <a:off x="5356274" y="310583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IN" dirty="0"/>
              <a:t>Hello from A</a:t>
            </a:r>
          </a:p>
        </p:txBody>
      </p:sp>
    </p:spTree>
    <p:extLst>
      <p:ext uri="{BB962C8B-B14F-4D97-AF65-F5344CB8AC3E}">
        <p14:creationId xmlns:p14="http://schemas.microsoft.com/office/powerpoint/2010/main" val="2208593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972" y="0"/>
            <a:ext cx="11870028" cy="1325563"/>
          </a:xfrm>
        </p:spPr>
        <p:txBody>
          <a:bodyPr/>
          <a:lstStyle/>
          <a:p>
            <a:r>
              <a:rPr lang="en-GB" altLang="en-US" b="1" dirty="0"/>
              <a:t>Same Data Member Name in Base and Derived Class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89397" y="1081824"/>
            <a:ext cx="4241439" cy="5776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</a:t>
            </a:r>
            <a:r>
              <a:rPr lang="en-IN" dirty="0" err="1">
                <a:solidFill>
                  <a:srgbClr val="FF0000"/>
                </a:solidFill>
              </a:rPr>
              <a:t>iostream</a:t>
            </a:r>
            <a:r>
              <a:rPr lang="en-IN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using namespace </a:t>
            </a:r>
            <a:r>
              <a:rPr lang="en-IN" dirty="0" err="1">
                <a:solidFill>
                  <a:srgbClr val="FF0000"/>
                </a:solidFill>
              </a:rPr>
              <a:t>std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class A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protected:	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x;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public: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	A(){x=5;}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void print()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cout</a:t>
            </a:r>
            <a:r>
              <a:rPr lang="en-IN" dirty="0">
                <a:solidFill>
                  <a:srgbClr val="FF0000"/>
                </a:solidFill>
              </a:rPr>
              <a:t>&lt;&lt;"inside A"&lt;&lt;</a:t>
            </a:r>
            <a:r>
              <a:rPr lang="en-IN" dirty="0" err="1">
                <a:solidFill>
                  <a:srgbClr val="FF0000"/>
                </a:solidFill>
              </a:rPr>
              <a:t>endl</a:t>
            </a:r>
            <a:r>
              <a:rPr lang="en-IN" dirty="0">
                <a:solidFill>
                  <a:srgbClr val="FF0000"/>
                </a:solidFill>
              </a:rPr>
              <a:t>;}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};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81091" y="1081823"/>
            <a:ext cx="4473265" cy="5776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class B:public A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int</a:t>
            </a:r>
            <a:r>
              <a:rPr lang="en-IN" dirty="0">
                <a:solidFill>
                  <a:srgbClr val="0070C0"/>
                </a:solidFill>
              </a:rPr>
              <a:t> x;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public: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	B(){x=10;}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	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void print()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</a:t>
            </a:r>
            <a:r>
              <a:rPr lang="en-IN" dirty="0" err="1">
                <a:solidFill>
                  <a:srgbClr val="0070C0"/>
                </a:solidFill>
              </a:rPr>
              <a:t>cout</a:t>
            </a:r>
            <a:r>
              <a:rPr lang="en-IN" dirty="0">
                <a:solidFill>
                  <a:srgbClr val="0070C0"/>
                </a:solidFill>
              </a:rPr>
              <a:t>&lt;&lt;"inside B"&lt;&lt;</a:t>
            </a:r>
            <a:r>
              <a:rPr lang="en-IN" dirty="0" err="1">
                <a:solidFill>
                  <a:srgbClr val="0070C0"/>
                </a:solidFill>
              </a:rPr>
              <a:t>endl</a:t>
            </a:r>
            <a:r>
              <a:rPr lang="en-IN" dirty="0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</a:t>
            </a:r>
            <a:r>
              <a:rPr lang="en-IN" dirty="0" err="1">
                <a:solidFill>
                  <a:srgbClr val="0070C0"/>
                </a:solidFill>
              </a:rPr>
              <a:t>cout</a:t>
            </a:r>
            <a:r>
              <a:rPr lang="en-IN" dirty="0">
                <a:solidFill>
                  <a:srgbClr val="0070C0"/>
                </a:solidFill>
              </a:rPr>
              <a:t>&lt;&lt;x&lt;&lt;</a:t>
            </a:r>
            <a:r>
              <a:rPr lang="en-IN" dirty="0" err="1">
                <a:solidFill>
                  <a:srgbClr val="0070C0"/>
                </a:solidFill>
              </a:rPr>
              <a:t>endl</a:t>
            </a:r>
            <a:r>
              <a:rPr lang="en-IN" dirty="0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}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4356" y="1325563"/>
            <a:ext cx="268739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rgbClr val="00B050"/>
                </a:solidFill>
              </a:rPr>
              <a:t>main()</a:t>
            </a:r>
          </a:p>
          <a:p>
            <a:r>
              <a:rPr lang="en-IN" sz="2600" dirty="0">
                <a:solidFill>
                  <a:srgbClr val="00B050"/>
                </a:solidFill>
              </a:rPr>
              <a:t>{</a:t>
            </a:r>
          </a:p>
          <a:p>
            <a:r>
              <a:rPr lang="en-IN" sz="2600" dirty="0">
                <a:solidFill>
                  <a:srgbClr val="00B050"/>
                </a:solidFill>
              </a:rPr>
              <a:t>    B </a:t>
            </a:r>
            <a:r>
              <a:rPr lang="en-IN" sz="2600" dirty="0" err="1">
                <a:solidFill>
                  <a:srgbClr val="00B050"/>
                </a:solidFill>
              </a:rPr>
              <a:t>b</a:t>
            </a:r>
            <a:r>
              <a:rPr lang="en-IN" sz="2600" dirty="0">
                <a:solidFill>
                  <a:srgbClr val="00B050"/>
                </a:solidFill>
              </a:rPr>
              <a:t>;</a:t>
            </a:r>
          </a:p>
          <a:p>
            <a:r>
              <a:rPr lang="en-IN" sz="2600" dirty="0">
                <a:solidFill>
                  <a:srgbClr val="00B050"/>
                </a:solidFill>
              </a:rPr>
              <a:t>    A </a:t>
            </a:r>
            <a:r>
              <a:rPr lang="en-IN" sz="2600" dirty="0" err="1">
                <a:solidFill>
                  <a:srgbClr val="00B050"/>
                </a:solidFill>
              </a:rPr>
              <a:t>a</a:t>
            </a:r>
            <a:r>
              <a:rPr lang="en-IN" sz="2600" dirty="0">
                <a:solidFill>
                  <a:srgbClr val="00B050"/>
                </a:solidFill>
              </a:rPr>
              <a:t>;</a:t>
            </a:r>
          </a:p>
          <a:p>
            <a:r>
              <a:rPr lang="en-IN" sz="2600" dirty="0">
                <a:solidFill>
                  <a:srgbClr val="00B050"/>
                </a:solidFill>
              </a:rPr>
              <a:t>    </a:t>
            </a:r>
            <a:r>
              <a:rPr lang="en-IN" sz="2600" dirty="0" err="1">
                <a:solidFill>
                  <a:srgbClr val="00B050"/>
                </a:solidFill>
              </a:rPr>
              <a:t>a.print</a:t>
            </a:r>
            <a:r>
              <a:rPr lang="en-IN" sz="2600" dirty="0">
                <a:solidFill>
                  <a:srgbClr val="00B050"/>
                </a:solidFill>
              </a:rPr>
              <a:t>();</a:t>
            </a:r>
          </a:p>
          <a:p>
            <a:r>
              <a:rPr lang="en-IN" sz="2600" dirty="0">
                <a:solidFill>
                  <a:srgbClr val="00B050"/>
                </a:solidFill>
              </a:rPr>
              <a:t>    </a:t>
            </a:r>
            <a:r>
              <a:rPr lang="en-IN" sz="2600" dirty="0" err="1">
                <a:solidFill>
                  <a:srgbClr val="00B050"/>
                </a:solidFill>
              </a:rPr>
              <a:t>b.print</a:t>
            </a:r>
            <a:r>
              <a:rPr lang="en-IN" sz="2600" dirty="0">
                <a:solidFill>
                  <a:srgbClr val="00B050"/>
                </a:solidFill>
              </a:rPr>
              <a:t>();</a:t>
            </a:r>
          </a:p>
          <a:p>
            <a:r>
              <a:rPr lang="en-IN" sz="2600" dirty="0">
                <a:solidFill>
                  <a:srgbClr val="00B05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0850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ChangeArrowheads="1"/>
          </p:cNvSpPr>
          <p:nvPr/>
        </p:nvSpPr>
        <p:spPr bwMode="auto">
          <a:xfrm>
            <a:off x="1752600" y="-65088"/>
            <a:ext cx="8610600" cy="627062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9331" rIns="0" bIns="17933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 dirty="0">
                <a:solidFill>
                  <a:srgbClr val="000000"/>
                </a:solidFill>
                <a:latin typeface="Roboto"/>
              </a:rPr>
              <a:t>Order of Constructor Call</a:t>
            </a:r>
          </a:p>
          <a:p>
            <a:pPr algn="just"/>
            <a:endParaRPr lang="en-US" altLang="en-US" sz="3200" b="1" dirty="0">
              <a:solidFill>
                <a:srgbClr val="000000"/>
              </a:solidFill>
              <a:latin typeface="Roboto"/>
            </a:endParaRPr>
          </a:p>
          <a:p>
            <a:pPr algn="just"/>
            <a:r>
              <a:rPr lang="en-US" altLang="en-US" sz="2000" dirty="0">
                <a:solidFill>
                  <a:srgbClr val="000000"/>
                </a:solidFill>
              </a:rPr>
              <a:t>Base class constructors are always called in the derived class constructors. Whenever you create derived class object, first </a:t>
            </a:r>
            <a:r>
              <a:rPr lang="en-US" altLang="en-US" sz="2000" dirty="0">
                <a:solidFill>
                  <a:srgbClr val="FF0000"/>
                </a:solidFill>
              </a:rPr>
              <a:t>the base class default constructor is executed</a:t>
            </a:r>
            <a:r>
              <a:rPr lang="en-US" altLang="en-US" sz="2000" dirty="0">
                <a:solidFill>
                  <a:srgbClr val="000000"/>
                </a:solidFill>
              </a:rPr>
              <a:t> and then the </a:t>
            </a:r>
            <a:r>
              <a:rPr lang="en-US" altLang="en-US" sz="2000" dirty="0">
                <a:solidFill>
                  <a:srgbClr val="FF0000"/>
                </a:solidFill>
              </a:rPr>
              <a:t>derived class's constructor finishes execution.</a:t>
            </a:r>
          </a:p>
          <a:p>
            <a:pPr algn="just"/>
            <a:endParaRPr lang="en-US" altLang="en-US" sz="2000" dirty="0">
              <a:solidFill>
                <a:srgbClr val="000000"/>
              </a:solidFill>
            </a:endParaRPr>
          </a:p>
          <a:p>
            <a:pPr algn="just"/>
            <a:endParaRPr lang="en-US" altLang="en-US" sz="2000" dirty="0">
              <a:solidFill>
                <a:srgbClr val="000000"/>
              </a:solidFill>
            </a:endParaRPr>
          </a:p>
          <a:p>
            <a:pPr algn="just"/>
            <a:r>
              <a:rPr lang="en-US" altLang="en-US" sz="2000" b="1" dirty="0">
                <a:solidFill>
                  <a:srgbClr val="A52A2A"/>
                </a:solidFill>
                <a:latin typeface="Roboto"/>
              </a:rPr>
              <a:t>Points to Remember</a:t>
            </a:r>
          </a:p>
          <a:p>
            <a:pPr algn="just">
              <a:buFontTx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</a:rPr>
              <a:t>Whether derived class's default constructor is called or </a:t>
            </a:r>
            <a:r>
              <a:rPr lang="en-US" altLang="en-US" sz="2000" dirty="0" err="1">
                <a:solidFill>
                  <a:srgbClr val="000000"/>
                </a:solidFill>
              </a:rPr>
              <a:t>parameterised</a:t>
            </a:r>
            <a:r>
              <a:rPr lang="en-US" altLang="en-US" sz="2000" dirty="0">
                <a:solidFill>
                  <a:srgbClr val="000000"/>
                </a:solidFill>
              </a:rPr>
              <a:t> is called, </a:t>
            </a:r>
            <a:r>
              <a:rPr lang="en-US" altLang="en-US" sz="2000" dirty="0">
                <a:solidFill>
                  <a:srgbClr val="FF0000"/>
                </a:solidFill>
              </a:rPr>
              <a:t>base class's default constructor is always called inside them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  <a:br>
              <a:rPr lang="en-US" altLang="en-US" sz="2000" dirty="0">
                <a:solidFill>
                  <a:srgbClr val="000000"/>
                </a:solidFill>
              </a:rPr>
            </a:br>
            <a:endParaRPr lang="en-US" altLang="en-US" sz="2000" dirty="0">
              <a:solidFill>
                <a:srgbClr val="000000"/>
              </a:solidFill>
            </a:endParaRPr>
          </a:p>
          <a:p>
            <a:pPr algn="just">
              <a:buFontTx/>
              <a:buAutoNum type="arabicPeriod" startAt="2"/>
            </a:pPr>
            <a:r>
              <a:rPr lang="en-US" altLang="en-US" sz="2000" dirty="0">
                <a:solidFill>
                  <a:srgbClr val="000000"/>
                </a:solidFill>
              </a:rPr>
              <a:t>To call base class's </a:t>
            </a:r>
            <a:r>
              <a:rPr lang="en-US" altLang="en-US" sz="2000" dirty="0" err="1">
                <a:solidFill>
                  <a:srgbClr val="000000"/>
                </a:solidFill>
              </a:rPr>
              <a:t>parameterised</a:t>
            </a:r>
            <a:r>
              <a:rPr lang="en-US" altLang="en-US" sz="2000" dirty="0">
                <a:solidFill>
                  <a:srgbClr val="000000"/>
                </a:solidFill>
              </a:rPr>
              <a:t> constructor inside derived class's </a:t>
            </a:r>
            <a:r>
              <a:rPr lang="en-US" altLang="en-US" sz="2000" dirty="0" err="1">
                <a:solidFill>
                  <a:srgbClr val="000000"/>
                </a:solidFill>
              </a:rPr>
              <a:t>parameterised</a:t>
            </a:r>
            <a:r>
              <a:rPr lang="en-US" altLang="en-US" sz="2000" dirty="0">
                <a:solidFill>
                  <a:srgbClr val="000000"/>
                </a:solidFill>
              </a:rPr>
              <a:t> constructor, we must </a:t>
            </a:r>
            <a:r>
              <a:rPr lang="en-US" altLang="en-US" sz="2000" dirty="0">
                <a:solidFill>
                  <a:srgbClr val="FF0000"/>
                </a:solidFill>
              </a:rPr>
              <a:t>mention it explicitly while declaring derived class's parameterized constructor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</a:p>
          <a:p>
            <a:pPr algn="just"/>
            <a:br>
              <a:rPr lang="en-US" altLang="en-US" sz="2000" dirty="0"/>
            </a:br>
            <a:endParaRPr lang="en-US" altLang="en-US" sz="2000" dirty="0"/>
          </a:p>
          <a:p>
            <a:pPr algn="just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21858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885826"/>
            <a:ext cx="892810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A200FD-3498-480E-9246-9FEBC8511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39" y="4325258"/>
            <a:ext cx="4629150" cy="185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0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ChangeArrowheads="1"/>
          </p:cNvSpPr>
          <p:nvPr/>
        </p:nvSpPr>
        <p:spPr bwMode="auto">
          <a:xfrm>
            <a:off x="1905000" y="295276"/>
            <a:ext cx="8305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Base class Parameterized Constructor in Derived class Constructor</a:t>
            </a:r>
          </a:p>
          <a:p>
            <a:pPr eaLnBrk="1" hangingPunct="1"/>
            <a:r>
              <a:rPr lang="en-US" altLang="en-US"/>
              <a:t>We can explicitly mention to call the Base class's parameterized constructor when Derived class's parameterized constructor is called.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F8E60-AD37-4938-BA67-055FDCE2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489" y="4385236"/>
            <a:ext cx="4733925" cy="188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25050E-A8F0-19EB-10E4-605DF2033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51" y="1400174"/>
            <a:ext cx="57435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64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822008" y="427306"/>
            <a:ext cx="8772158" cy="4152900"/>
          </a:xfrm>
          <a:prstGeom prst="rect">
            <a:avLst/>
          </a:prstGeom>
          <a:solidFill>
            <a:srgbClr val="F9F9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88872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A52A2A"/>
                </a:solidFill>
                <a:latin typeface="Roboto"/>
              </a:rPr>
              <a:t>Constructor call in Multiple Inheritance</a:t>
            </a:r>
          </a:p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rgbClr val="000000"/>
                </a:solidFill>
              </a:rPr>
              <a:t>Its almost the same, all the Base class's constructors are called inside derived class's constructor, in the same order in which they are inherited.</a:t>
            </a:r>
            <a:endParaRPr lang="en-US" altLang="en-US" sz="1600" dirty="0">
              <a:solidFill>
                <a:srgbClr val="111111"/>
              </a:solidFill>
              <a:latin typeface="Monaco"/>
            </a:endParaRPr>
          </a:p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rgbClr val="111111"/>
                </a:solidFill>
                <a:latin typeface="Monaco"/>
              </a:rPr>
              <a:t>class A : public B, public C ; </a:t>
            </a:r>
            <a:endParaRPr lang="en-US" altLang="en-US" sz="1200" dirty="0"/>
          </a:p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rgbClr val="000000"/>
                </a:solidFill>
              </a:rPr>
              <a:t>In this case, first class B constructor will be called, then class C constructor and then class A constructor.</a:t>
            </a:r>
            <a:endParaRPr lang="en-US" altLang="en-US" sz="1200" dirty="0"/>
          </a:p>
          <a:p>
            <a:pPr>
              <a:lnSpc>
                <a:spcPct val="150000"/>
              </a:lnSpc>
            </a:pPr>
            <a:br>
              <a:rPr lang="en-US" altLang="en-US" sz="3600" dirty="0"/>
            </a:b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38282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280400" cy="1143000"/>
          </a:xfrm>
        </p:spPr>
        <p:txBody>
          <a:bodyPr/>
          <a:lstStyle/>
          <a:p>
            <a:r>
              <a:rPr lang="en-US" altLang="zh-TW">
                <a:ea typeface="新細明體" pitchFamily="18" charset="-120"/>
              </a:rPr>
              <a:t>3 Types of Access Specifiers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8077200" cy="4114800"/>
          </a:xfrm>
        </p:spPr>
        <p:txBody>
          <a:bodyPr/>
          <a:lstStyle/>
          <a:p>
            <a:r>
              <a:rPr lang="en-US" altLang="zh-TW">
                <a:solidFill>
                  <a:srgbClr val="FF0000"/>
                </a:solidFill>
                <a:ea typeface="新細明體" pitchFamily="18" charset="-120"/>
              </a:rPr>
              <a:t>Type 1:  inherit as private</a:t>
            </a:r>
          </a:p>
          <a:p>
            <a:endParaRPr lang="en-US" altLang="zh-TW">
              <a:solidFill>
                <a:srgbClr val="FF0000"/>
              </a:solidFill>
              <a:ea typeface="新細明體" pitchFamily="18" charset="-120"/>
            </a:endParaRPr>
          </a:p>
        </p:txBody>
      </p:sp>
      <p:graphicFrame>
        <p:nvGraphicFramePr>
          <p:cNvPr id="19477" name="Group 21"/>
          <p:cNvGraphicFramePr>
            <a:graphicFrameLocks noGrp="1"/>
          </p:cNvGraphicFramePr>
          <p:nvPr/>
        </p:nvGraphicFramePr>
        <p:xfrm>
          <a:off x="3048000" y="2743200"/>
          <a:ext cx="6096000" cy="31242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Base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Derived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private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inaccessible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protected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private members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public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private members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955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356600" cy="1143000"/>
          </a:xfrm>
        </p:spPr>
        <p:txBody>
          <a:bodyPr/>
          <a:lstStyle/>
          <a:p>
            <a:r>
              <a:rPr lang="en-US" altLang="zh-TW">
                <a:ea typeface="新細明體" pitchFamily="18" charset="-120"/>
              </a:rPr>
              <a:t>3 Types of Access Specifiers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0000"/>
                </a:solidFill>
                <a:ea typeface="新細明體" pitchFamily="18" charset="-120"/>
              </a:rPr>
              <a:t>Type 2:  inherit as protected</a:t>
            </a:r>
          </a:p>
          <a:p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22532" name="Group 4"/>
          <p:cNvGraphicFramePr>
            <a:graphicFrameLocks noGrp="1"/>
          </p:cNvGraphicFramePr>
          <p:nvPr/>
        </p:nvGraphicFramePr>
        <p:xfrm>
          <a:off x="3048000" y="2743200"/>
          <a:ext cx="6096000" cy="31242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Base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Derived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private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inaccessible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protected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protected members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public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protected members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999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509000" cy="1143000"/>
          </a:xfrm>
        </p:spPr>
        <p:txBody>
          <a:bodyPr/>
          <a:lstStyle/>
          <a:p>
            <a:r>
              <a:rPr lang="en-US" altLang="zh-TW">
                <a:ea typeface="新細明體" pitchFamily="18" charset="-120"/>
              </a:rPr>
              <a:t>3 Types of Access Specifiers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0000"/>
                </a:solidFill>
                <a:ea typeface="新細明體" pitchFamily="18" charset="-120"/>
              </a:rPr>
              <a:t>Type 3:  inherit as public</a:t>
            </a:r>
          </a:p>
          <a:p>
            <a:endParaRPr lang="en-US" altLang="zh-TW">
              <a:ea typeface="新細明體" pitchFamily="18" charset="-120"/>
            </a:endParaRPr>
          </a:p>
        </p:txBody>
      </p:sp>
      <p:graphicFrame>
        <p:nvGraphicFramePr>
          <p:cNvPr id="23556" name="Group 4"/>
          <p:cNvGraphicFramePr>
            <a:graphicFrameLocks noGrp="1"/>
          </p:cNvGraphicFramePr>
          <p:nvPr/>
        </p:nvGraphicFramePr>
        <p:xfrm>
          <a:off x="3048000" y="2743200"/>
          <a:ext cx="6096000" cy="31242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Base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Derived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private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inaccessible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protected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protected members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public members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Monotype Sort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public members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114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923" y="754856"/>
            <a:ext cx="80010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325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E8A51E-8827-4556-BED0-660714B6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931" y="1333500"/>
            <a:ext cx="5867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22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28600"/>
            <a:ext cx="8610600" cy="6629400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sz="2400" b="1" dirty="0"/>
              <a:t>Public Inheritance:</a:t>
            </a:r>
          </a:p>
          <a:p>
            <a:pPr marL="284163" indent="-284163" algn="just">
              <a:buNone/>
              <a:defRPr/>
            </a:pPr>
            <a:r>
              <a:rPr lang="en-US" sz="1600" dirty="0"/>
              <a:t>	</a:t>
            </a:r>
            <a:r>
              <a:rPr lang="en-US" sz="1800" dirty="0"/>
              <a:t>All Public members of the Base Class become Public Members of the derived class &amp; All Protected members of the Base Class  become Protected Members of the Derived Class.</a:t>
            </a:r>
          </a:p>
          <a:p>
            <a:pPr>
              <a:spcBef>
                <a:spcPts val="0"/>
              </a:spcBef>
              <a:buNone/>
              <a:defRPr/>
            </a:pPr>
            <a:endParaRPr lang="en-US" sz="1800" dirty="0"/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class Base  {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  public: </a:t>
            </a:r>
            <a:r>
              <a:rPr lang="en-US" sz="1800" dirty="0" err="1"/>
              <a:t>int</a:t>
            </a:r>
            <a:r>
              <a:rPr lang="en-US" sz="1800" dirty="0"/>
              <a:t> a;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  protected: </a:t>
            </a:r>
            <a:r>
              <a:rPr lang="en-US" sz="1800" dirty="0" err="1"/>
              <a:t>int</a:t>
            </a:r>
            <a:r>
              <a:rPr lang="en-US" sz="1800" dirty="0"/>
              <a:t> b;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  private: </a:t>
            </a:r>
            <a:r>
              <a:rPr lang="en-US" sz="1800" dirty="0" err="1"/>
              <a:t>int</a:t>
            </a:r>
            <a:r>
              <a:rPr lang="en-US" sz="1800" dirty="0"/>
              <a:t> c;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};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class </a:t>
            </a:r>
            <a:r>
              <a:rPr lang="en-US" sz="1800" dirty="0" err="1"/>
              <a:t>Derived:public</a:t>
            </a:r>
            <a:r>
              <a:rPr lang="en-US" sz="1800" dirty="0"/>
              <a:t> Base  {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    void </a:t>
            </a:r>
            <a:r>
              <a:rPr lang="en-US" sz="1800" dirty="0" err="1"/>
              <a:t>doSomething</a:t>
            </a:r>
            <a:r>
              <a:rPr lang="en-US" sz="1800" dirty="0"/>
              <a:t>()   {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		a = 10; //Allowed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		 b = 20; //Allowed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		c = 30; //Not Allowed, Compiler Error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          }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};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 err="1"/>
              <a:t>int</a:t>
            </a:r>
            <a:r>
              <a:rPr lang="en-US" sz="1800" dirty="0"/>
              <a:t> main() {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Derived </a:t>
            </a:r>
            <a:r>
              <a:rPr lang="en-US" sz="1800" dirty="0" err="1"/>
              <a:t>obj</a:t>
            </a:r>
            <a:r>
              <a:rPr lang="en-US" sz="1800" dirty="0"/>
              <a:t>;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</a:t>
            </a:r>
            <a:r>
              <a:rPr lang="en-US" sz="1800" dirty="0" err="1"/>
              <a:t>obj.a</a:t>
            </a:r>
            <a:r>
              <a:rPr lang="en-US" sz="1800" dirty="0"/>
              <a:t> = 10; //Allowed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</a:t>
            </a:r>
            <a:r>
              <a:rPr lang="en-US" sz="1800" dirty="0" err="1"/>
              <a:t>obj.b</a:t>
            </a:r>
            <a:r>
              <a:rPr lang="en-US" sz="1800" dirty="0"/>
              <a:t> = 20; //Not Allowed, Compiler Error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 err="1"/>
              <a:t>obj.c</a:t>
            </a:r>
            <a:r>
              <a:rPr lang="en-US" sz="1800" dirty="0"/>
              <a:t> = 30; //Not Allowed, Compiler Error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18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273373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2"/>
          <p:cNvSpPr>
            <a:spLocks noGrp="1"/>
          </p:cNvSpPr>
          <p:nvPr>
            <p:ph idx="1"/>
          </p:nvPr>
        </p:nvSpPr>
        <p:spPr>
          <a:xfrm>
            <a:off x="2880360" y="222739"/>
            <a:ext cx="8915400" cy="61722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Private Inheritance: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800" dirty="0"/>
              <a:t>	All Public members of the Base Class become Private Members of the Derived class &amp; All Protected members of the Base Class become Private Members of the Derived Class.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2B91AF"/>
                </a:solidFill>
              </a:rPr>
              <a:t>Class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Base</a:t>
            </a:r>
            <a:r>
              <a:rPr lang="en-US" altLang="en-US" sz="1800" dirty="0">
                <a:solidFill>
                  <a:srgbClr val="000000"/>
                </a:solidFill>
              </a:rPr>
              <a:t>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</a:t>
            </a:r>
            <a:r>
              <a:rPr lang="en-US" altLang="en-US" sz="1800" dirty="0">
                <a:solidFill>
                  <a:srgbClr val="00008B"/>
                </a:solidFill>
              </a:rPr>
              <a:t>public</a:t>
            </a:r>
            <a:r>
              <a:rPr lang="en-US" altLang="en-US" sz="1800" dirty="0">
                <a:solidFill>
                  <a:srgbClr val="000000"/>
                </a:solidFill>
              </a:rPr>
              <a:t>: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a;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</a:t>
            </a:r>
            <a:r>
              <a:rPr lang="en-US" altLang="en-US" sz="1800" dirty="0">
                <a:solidFill>
                  <a:srgbClr val="00008B"/>
                </a:solidFill>
              </a:rPr>
              <a:t>protected</a:t>
            </a:r>
            <a:r>
              <a:rPr lang="en-US" altLang="en-US" sz="1800" dirty="0">
                <a:solidFill>
                  <a:srgbClr val="000000"/>
                </a:solidFill>
              </a:rPr>
              <a:t>: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b;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</a:t>
            </a:r>
            <a:r>
              <a:rPr lang="en-US" altLang="en-US" sz="1800" dirty="0">
                <a:solidFill>
                  <a:srgbClr val="00008B"/>
                </a:solidFill>
              </a:rPr>
              <a:t>private</a:t>
            </a:r>
            <a:r>
              <a:rPr lang="en-US" altLang="en-US" sz="1800" dirty="0">
                <a:solidFill>
                  <a:srgbClr val="000000"/>
                </a:solidFill>
              </a:rPr>
              <a:t>: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c; };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8B"/>
                </a:solidFill>
              </a:rPr>
              <a:t>class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2B91AF"/>
                </a:solidFill>
              </a:rPr>
              <a:t>Derived</a:t>
            </a:r>
            <a:r>
              <a:rPr lang="en-US" altLang="en-US" sz="1800" dirty="0" err="1">
                <a:solidFill>
                  <a:srgbClr val="000000"/>
                </a:solidFill>
              </a:rPr>
              <a:t>:</a:t>
            </a:r>
            <a:r>
              <a:rPr lang="en-US" altLang="en-US" sz="1800" dirty="0" err="1">
                <a:solidFill>
                  <a:srgbClr val="00008B"/>
                </a:solidFill>
              </a:rPr>
              <a:t>private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Base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808080"/>
                </a:solidFill>
              </a:rPr>
              <a:t>//defaults access specifier is private </a:t>
            </a:r>
            <a:r>
              <a:rPr lang="en-US" altLang="en-US" sz="1800" dirty="0">
                <a:solidFill>
                  <a:srgbClr val="000000"/>
                </a:solidFill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 </a:t>
            </a:r>
            <a:r>
              <a:rPr lang="en-US" altLang="en-US" sz="1800" dirty="0">
                <a:solidFill>
                  <a:srgbClr val="00008B"/>
                </a:solidFill>
              </a:rPr>
              <a:t>void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</a:rPr>
              <a:t>doSomething</a:t>
            </a:r>
            <a:r>
              <a:rPr lang="en-US" altLang="en-US" sz="1800" dirty="0">
                <a:solidFill>
                  <a:srgbClr val="000000"/>
                </a:solidFill>
              </a:rPr>
              <a:t>() {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 a = </a:t>
            </a:r>
            <a:r>
              <a:rPr lang="en-US" altLang="en-US" sz="1800" dirty="0">
                <a:solidFill>
                  <a:srgbClr val="800000"/>
                </a:solidFill>
              </a:rPr>
              <a:t>10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//Allowed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808080"/>
                </a:solidFill>
              </a:rPr>
              <a:t>		 </a:t>
            </a:r>
            <a:r>
              <a:rPr lang="en-US" altLang="en-US" sz="1800" dirty="0">
                <a:solidFill>
                  <a:srgbClr val="000000"/>
                </a:solidFill>
              </a:rPr>
              <a:t>b = </a:t>
            </a:r>
            <a:r>
              <a:rPr lang="en-US" altLang="en-US" sz="1800" dirty="0">
                <a:solidFill>
                  <a:srgbClr val="800000"/>
                </a:solidFill>
              </a:rPr>
              <a:t>20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//Allowed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c = </a:t>
            </a:r>
            <a:r>
              <a:rPr lang="en-US" altLang="en-US" sz="1800" dirty="0">
                <a:solidFill>
                  <a:srgbClr val="800000"/>
                </a:solidFill>
              </a:rPr>
              <a:t>30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</a:t>
            </a:r>
            <a:r>
              <a:rPr lang="en-US" altLang="en-US" sz="1800" dirty="0">
                <a:solidFill>
                  <a:srgbClr val="000000"/>
                </a:solidFill>
              </a:rPr>
              <a:t> }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            };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00008B"/>
                </a:solidFill>
              </a:rPr>
              <a:t>class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Derived2</a:t>
            </a:r>
            <a:r>
              <a:rPr lang="en-US" altLang="en-US" sz="1800" dirty="0">
                <a:solidFill>
                  <a:srgbClr val="000000"/>
                </a:solidFill>
              </a:rPr>
              <a:t>:</a:t>
            </a:r>
            <a:r>
              <a:rPr lang="en-US" altLang="en-US" sz="1800" dirty="0">
                <a:solidFill>
                  <a:srgbClr val="00008B"/>
                </a:solidFill>
              </a:rPr>
              <a:t>public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Derived</a:t>
            </a:r>
            <a:r>
              <a:rPr lang="en-US" altLang="en-US" sz="1800" dirty="0">
                <a:solidFill>
                  <a:srgbClr val="000000"/>
                </a:solidFill>
              </a:rPr>
              <a:t>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      </a:t>
            </a:r>
            <a:r>
              <a:rPr lang="en-US" altLang="en-US" sz="1800" dirty="0">
                <a:solidFill>
                  <a:srgbClr val="00008B"/>
                </a:solidFill>
              </a:rPr>
              <a:t>void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</a:rPr>
              <a:t>doSomethingMore</a:t>
            </a:r>
            <a:r>
              <a:rPr lang="en-US" altLang="en-US" sz="1800" dirty="0">
                <a:solidFill>
                  <a:srgbClr val="000000"/>
                </a:solidFill>
              </a:rPr>
              <a:t>() {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            a = </a:t>
            </a:r>
            <a:r>
              <a:rPr lang="en-US" altLang="en-US" sz="1800" dirty="0">
                <a:solidFill>
                  <a:srgbClr val="800000"/>
                </a:solidFill>
              </a:rPr>
              <a:t>10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Error, a is private member of Derived now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808080"/>
                </a:solidFill>
              </a:rPr>
              <a:t>                 </a:t>
            </a:r>
            <a:r>
              <a:rPr lang="en-US" altLang="en-US" sz="1800" dirty="0">
                <a:solidFill>
                  <a:srgbClr val="000000"/>
                </a:solidFill>
              </a:rPr>
              <a:t> b = </a:t>
            </a:r>
            <a:r>
              <a:rPr lang="en-US" altLang="en-US" sz="1800" dirty="0">
                <a:solidFill>
                  <a:srgbClr val="800000"/>
                </a:solidFill>
              </a:rPr>
              <a:t>20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Error, b is private member of Derived now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808080"/>
                </a:solidFill>
              </a:rPr>
              <a:t>                 </a:t>
            </a:r>
            <a:r>
              <a:rPr lang="en-US" altLang="en-US" sz="1800" dirty="0">
                <a:solidFill>
                  <a:srgbClr val="000000"/>
                </a:solidFill>
              </a:rPr>
              <a:t> c = </a:t>
            </a:r>
            <a:r>
              <a:rPr lang="en-US" altLang="en-US" sz="1800" dirty="0">
                <a:solidFill>
                  <a:srgbClr val="800000"/>
                </a:solidFill>
              </a:rPr>
              <a:t>30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</a:t>
            </a:r>
            <a:r>
              <a:rPr lang="en-US" altLang="en-US" sz="1800" dirty="0">
                <a:solidFill>
                  <a:srgbClr val="000000"/>
                </a:solidFill>
              </a:rPr>
              <a:t> }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           };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main() {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              </a:t>
            </a:r>
            <a:r>
              <a:rPr lang="en-US" altLang="en-US" sz="1800" dirty="0">
                <a:solidFill>
                  <a:srgbClr val="2B91AF"/>
                </a:solidFill>
              </a:rPr>
              <a:t>Derived</a:t>
            </a:r>
            <a:r>
              <a:rPr lang="en-US" altLang="en-US" sz="1800" dirty="0">
                <a:solidFill>
                  <a:srgbClr val="000000"/>
                </a:solidFill>
              </a:rPr>
              <a:t> obj; </a:t>
            </a:r>
            <a:r>
              <a:rPr lang="en-US" altLang="en-US" sz="1800" dirty="0" err="1">
                <a:solidFill>
                  <a:srgbClr val="000000"/>
                </a:solidFill>
              </a:rPr>
              <a:t>obj.a</a:t>
            </a:r>
            <a:r>
              <a:rPr lang="en-US" altLang="en-US" sz="1800" dirty="0">
                <a:solidFill>
                  <a:srgbClr val="000000"/>
                </a:solidFill>
              </a:rPr>
              <a:t> = </a:t>
            </a:r>
            <a:r>
              <a:rPr lang="en-US" altLang="en-US" sz="1800" dirty="0">
                <a:solidFill>
                  <a:srgbClr val="800000"/>
                </a:solidFill>
              </a:rPr>
              <a:t>10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808080"/>
                </a:solidFill>
              </a:rPr>
              <a:t>               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</a:rPr>
              <a:t>obj.b</a:t>
            </a:r>
            <a:r>
              <a:rPr lang="en-US" altLang="en-US" sz="1800" dirty="0">
                <a:solidFill>
                  <a:srgbClr val="000000"/>
                </a:solidFill>
              </a:rPr>
              <a:t> = </a:t>
            </a:r>
            <a:r>
              <a:rPr lang="en-US" altLang="en-US" sz="1800" dirty="0">
                <a:solidFill>
                  <a:srgbClr val="800000"/>
                </a:solidFill>
              </a:rPr>
              <a:t>20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808080"/>
                </a:solidFill>
              </a:rPr>
              <a:t>               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</a:rPr>
              <a:t>obj.c</a:t>
            </a:r>
            <a:r>
              <a:rPr lang="en-US" altLang="en-US" sz="1800" dirty="0">
                <a:solidFill>
                  <a:srgbClr val="000000"/>
                </a:solidFill>
              </a:rPr>
              <a:t> = </a:t>
            </a:r>
            <a:r>
              <a:rPr lang="en-US" altLang="en-US" sz="1800" dirty="0">
                <a:solidFill>
                  <a:srgbClr val="800000"/>
                </a:solidFill>
              </a:rPr>
              <a:t>30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   </a:t>
            </a:r>
            <a:r>
              <a:rPr lang="en-US" altLang="en-US" sz="1800" dirty="0">
                <a:solidFill>
                  <a:srgbClr val="000000"/>
                </a:solidFill>
              </a:rPr>
              <a:t> }</a:t>
            </a:r>
            <a:endParaRPr lang="en-US" alt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55033-F722-D860-BC08-13BC92AA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48" y="1203909"/>
            <a:ext cx="1400175" cy="445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49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1569720" y="266700"/>
            <a:ext cx="8458200" cy="63246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</a:pPr>
            <a:r>
              <a:rPr lang="en-US" altLang="en-US" sz="2400" b="1" dirty="0"/>
              <a:t>Protected Inheritance: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 b="1" dirty="0"/>
              <a:t>	</a:t>
            </a:r>
            <a:r>
              <a:rPr lang="en-US" altLang="en-US" sz="1800" dirty="0"/>
              <a:t>All Public members of the Base Class become Protected Members of the derived class  &amp; All Protected members of the Base Class become Protected Members of the Derived Class.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2B91AF"/>
                </a:solidFill>
              </a:rPr>
              <a:t>Class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Base</a:t>
            </a:r>
            <a:r>
              <a:rPr lang="en-US" altLang="en-US" sz="1800" dirty="0">
                <a:solidFill>
                  <a:srgbClr val="000000"/>
                </a:solidFill>
              </a:rPr>
              <a:t>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 </a:t>
            </a:r>
            <a:r>
              <a:rPr lang="en-US" altLang="en-US" sz="1800" dirty="0">
                <a:solidFill>
                  <a:srgbClr val="00008B"/>
                </a:solidFill>
              </a:rPr>
              <a:t>public</a:t>
            </a:r>
            <a:r>
              <a:rPr lang="en-US" altLang="en-US" sz="1800" dirty="0">
                <a:solidFill>
                  <a:srgbClr val="000000"/>
                </a:solidFill>
              </a:rPr>
              <a:t>: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a;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 </a:t>
            </a:r>
            <a:r>
              <a:rPr lang="en-US" altLang="en-US" sz="1800" dirty="0">
                <a:solidFill>
                  <a:srgbClr val="00008B"/>
                </a:solidFill>
              </a:rPr>
              <a:t>protected</a:t>
            </a:r>
            <a:r>
              <a:rPr lang="en-US" altLang="en-US" sz="1800" dirty="0">
                <a:solidFill>
                  <a:srgbClr val="000000"/>
                </a:solidFill>
              </a:rPr>
              <a:t>: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b;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</a:t>
            </a:r>
            <a:r>
              <a:rPr lang="en-US" altLang="en-US" sz="1800" dirty="0">
                <a:solidFill>
                  <a:srgbClr val="00008B"/>
                </a:solidFill>
              </a:rPr>
              <a:t>private</a:t>
            </a:r>
            <a:r>
              <a:rPr lang="en-US" altLang="en-US" sz="1800" dirty="0">
                <a:solidFill>
                  <a:srgbClr val="000000"/>
                </a:solidFill>
              </a:rPr>
              <a:t>: </a:t>
            </a:r>
            <a:r>
              <a:rPr lang="en-US" altLang="en-US" sz="1800" dirty="0">
                <a:solidFill>
                  <a:srgbClr val="2B91AF"/>
                </a:solidFill>
              </a:rPr>
              <a:t>int</a:t>
            </a:r>
            <a:r>
              <a:rPr lang="en-US" altLang="en-US" sz="1800" dirty="0">
                <a:solidFill>
                  <a:srgbClr val="000000"/>
                </a:solidFill>
              </a:rPr>
              <a:t> c; };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8B"/>
                </a:solidFill>
              </a:rPr>
              <a:t>class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2B91AF"/>
                </a:solidFill>
              </a:rPr>
              <a:t>Derived</a:t>
            </a:r>
            <a:r>
              <a:rPr lang="en-US" altLang="en-US" sz="1800" dirty="0" err="1">
                <a:solidFill>
                  <a:srgbClr val="000000"/>
                </a:solidFill>
              </a:rPr>
              <a:t>:</a:t>
            </a:r>
            <a:r>
              <a:rPr lang="en-US" altLang="en-US" sz="1800" dirty="0" err="1">
                <a:solidFill>
                  <a:srgbClr val="00008B"/>
                </a:solidFill>
              </a:rPr>
              <a:t>protected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Base</a:t>
            </a:r>
            <a:r>
              <a:rPr lang="en-US" altLang="en-US" sz="1800" dirty="0">
                <a:solidFill>
                  <a:srgbClr val="000000"/>
                </a:solidFill>
              </a:rPr>
              <a:t>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 </a:t>
            </a:r>
            <a:r>
              <a:rPr lang="en-US" altLang="en-US" sz="1800" dirty="0">
                <a:solidFill>
                  <a:srgbClr val="00008B"/>
                </a:solidFill>
              </a:rPr>
              <a:t>void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</a:rPr>
              <a:t>doSomething</a:t>
            </a:r>
            <a:r>
              <a:rPr lang="en-US" altLang="en-US" sz="1800" dirty="0">
                <a:solidFill>
                  <a:srgbClr val="000000"/>
                </a:solidFill>
              </a:rPr>
              <a:t>()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 a = </a:t>
            </a:r>
            <a:r>
              <a:rPr lang="en-US" altLang="en-US" sz="1800" dirty="0">
                <a:solidFill>
                  <a:srgbClr val="800000"/>
                </a:solidFill>
              </a:rPr>
              <a:t>10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//Allowed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808080"/>
                </a:solidFill>
              </a:rPr>
              <a:t>		</a:t>
            </a:r>
            <a:r>
              <a:rPr lang="en-US" altLang="en-US" sz="1800" dirty="0">
                <a:solidFill>
                  <a:srgbClr val="000000"/>
                </a:solidFill>
              </a:rPr>
              <a:t>b = </a:t>
            </a:r>
            <a:r>
              <a:rPr lang="en-US" altLang="en-US" sz="1800" dirty="0">
                <a:solidFill>
                  <a:srgbClr val="800000"/>
                </a:solidFill>
              </a:rPr>
              <a:t>20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//Allowed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c = </a:t>
            </a:r>
            <a:r>
              <a:rPr lang="en-US" altLang="en-US" sz="1800" dirty="0">
                <a:solidFill>
                  <a:srgbClr val="800000"/>
                </a:solidFill>
              </a:rPr>
              <a:t>30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Allowed, Compiler Error</a:t>
            </a:r>
            <a:r>
              <a:rPr lang="en-US" altLang="en-US" sz="1800" dirty="0">
                <a:solidFill>
                  <a:srgbClr val="000000"/>
                </a:solidFill>
              </a:rPr>
              <a:t> }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 };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00008B"/>
                </a:solidFill>
              </a:rPr>
              <a:t>class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Derived2</a:t>
            </a:r>
            <a:r>
              <a:rPr lang="en-US" altLang="en-US" sz="1800" dirty="0">
                <a:solidFill>
                  <a:srgbClr val="000000"/>
                </a:solidFill>
              </a:rPr>
              <a:t>:</a:t>
            </a:r>
            <a:r>
              <a:rPr lang="en-US" altLang="en-US" sz="1800" dirty="0">
                <a:solidFill>
                  <a:srgbClr val="00008B"/>
                </a:solidFill>
              </a:rPr>
              <a:t>public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2B91AF"/>
                </a:solidFill>
              </a:rPr>
              <a:t>Derived</a:t>
            </a:r>
            <a:r>
              <a:rPr lang="en-US" altLang="en-US" sz="1800" dirty="0">
                <a:solidFill>
                  <a:srgbClr val="000000"/>
                </a:solidFill>
              </a:rPr>
              <a:t>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 </a:t>
            </a:r>
            <a:r>
              <a:rPr lang="en-US" altLang="en-US" sz="1800" dirty="0">
                <a:solidFill>
                  <a:srgbClr val="00008B"/>
                </a:solidFill>
              </a:rPr>
              <a:t>void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</a:rPr>
              <a:t>doSomethingMore</a:t>
            </a:r>
            <a:r>
              <a:rPr lang="en-US" altLang="en-US" sz="1800" dirty="0">
                <a:solidFill>
                  <a:srgbClr val="000000"/>
                </a:solidFill>
              </a:rPr>
              <a:t>()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 a = </a:t>
            </a:r>
            <a:r>
              <a:rPr lang="en-US" altLang="en-US" sz="1800" dirty="0">
                <a:solidFill>
                  <a:srgbClr val="800000"/>
                </a:solidFill>
              </a:rPr>
              <a:t>10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//Allowed, a is protected member inside Derived &amp; Derived2 is public derivation from Derived, a is now protected member of Derived2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b = </a:t>
            </a:r>
            <a:r>
              <a:rPr lang="en-US" altLang="en-US" sz="1800" dirty="0">
                <a:solidFill>
                  <a:srgbClr val="800000"/>
                </a:solidFill>
              </a:rPr>
              <a:t>20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//Allowed, b is protected member inside Derived &amp; Derived2 is public derivation from Derived, b is now protected member of Derived2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	c = </a:t>
            </a:r>
            <a:r>
              <a:rPr lang="en-US" altLang="en-US" sz="1800" dirty="0">
                <a:solidFill>
                  <a:srgbClr val="800000"/>
                </a:solidFill>
              </a:rPr>
              <a:t>30</a:t>
            </a:r>
            <a:r>
              <a:rPr lang="en-US" altLang="en-US" sz="1800" dirty="0">
                <a:solidFill>
                  <a:srgbClr val="000000"/>
                </a:solidFill>
              </a:rPr>
              <a:t>; </a:t>
            </a:r>
            <a:r>
              <a:rPr lang="en-US" altLang="en-US" sz="1800" dirty="0">
                <a:solidFill>
                  <a:srgbClr val="808080"/>
                </a:solidFill>
              </a:rPr>
              <a:t>//Not Allow	ed, Compiler Error</a:t>
            </a:r>
            <a:r>
              <a:rPr lang="en-US" altLang="en-US" sz="1800" dirty="0">
                <a:solidFill>
                  <a:srgbClr val="000000"/>
                </a:solidFill>
              </a:rPr>
              <a:t> }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};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696513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rgbClr val="2B91AF"/>
              </a:solidFill>
            </a:endParaRP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 int main() {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 </a:t>
            </a:r>
            <a:r>
              <a:rPr lang="en-US" altLang="en-US" sz="1800">
                <a:solidFill>
                  <a:srgbClr val="2B91AF"/>
                </a:solidFill>
              </a:rPr>
              <a:t>Derived</a:t>
            </a:r>
            <a:r>
              <a:rPr lang="en-US" altLang="en-US" sz="1800">
                <a:solidFill>
                  <a:srgbClr val="000000"/>
                </a:solidFill>
              </a:rPr>
              <a:t> obj; obj.a = </a:t>
            </a:r>
            <a:r>
              <a:rPr lang="en-US" altLang="en-US" sz="1800">
                <a:solidFill>
                  <a:srgbClr val="800000"/>
                </a:solidFill>
              </a:rPr>
              <a:t>10</a:t>
            </a:r>
            <a:r>
              <a:rPr lang="en-US" altLang="en-US" sz="1800">
                <a:solidFill>
                  <a:srgbClr val="000000"/>
                </a:solidFill>
              </a:rPr>
              <a:t>; </a:t>
            </a:r>
            <a:r>
              <a:rPr lang="en-US" altLang="en-US" sz="1800">
                <a:solidFill>
                  <a:srgbClr val="808080"/>
                </a:solidFill>
              </a:rPr>
              <a:t>//Not Allowed, Compiler Error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                 obj.b = </a:t>
            </a:r>
            <a:r>
              <a:rPr lang="en-US" altLang="en-US" sz="1800">
                <a:solidFill>
                  <a:srgbClr val="800000"/>
                </a:solidFill>
              </a:rPr>
              <a:t>20</a:t>
            </a:r>
            <a:r>
              <a:rPr lang="en-US" altLang="en-US" sz="1800">
                <a:solidFill>
                  <a:srgbClr val="000000"/>
                </a:solidFill>
              </a:rPr>
              <a:t>; </a:t>
            </a:r>
            <a:r>
              <a:rPr lang="en-US" altLang="en-US" sz="1800">
                <a:solidFill>
                  <a:srgbClr val="808080"/>
                </a:solidFill>
              </a:rPr>
              <a:t>//Not Allowed, Compiler Error</a:t>
            </a:r>
            <a:r>
              <a:rPr lang="en-US" altLang="en-US" sz="1800">
                <a:solidFill>
                  <a:srgbClr val="000000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		obj.c = </a:t>
            </a:r>
            <a:r>
              <a:rPr lang="en-US" altLang="en-US" sz="1800">
                <a:solidFill>
                  <a:srgbClr val="800000"/>
                </a:solidFill>
              </a:rPr>
              <a:t>30</a:t>
            </a:r>
            <a:r>
              <a:rPr lang="en-US" altLang="en-US" sz="1800">
                <a:solidFill>
                  <a:srgbClr val="000000"/>
                </a:solidFill>
              </a:rPr>
              <a:t>; </a:t>
            </a:r>
            <a:r>
              <a:rPr lang="en-US" altLang="en-US" sz="1800">
                <a:solidFill>
                  <a:srgbClr val="808080"/>
                </a:solidFill>
              </a:rPr>
              <a:t>//Not Allowed, Compiler Error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 }</a:t>
            </a:r>
            <a:br>
              <a:rPr lang="en-US" altLang="en-US" sz="1800">
                <a:solidFill>
                  <a:srgbClr val="000000"/>
                </a:solidFill>
              </a:rPr>
            </a:br>
            <a:endParaRPr lang="en-US" altLang="en-US" sz="1800">
              <a:solidFill>
                <a:srgbClr val="000000"/>
              </a:solidFill>
            </a:endParaRP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4816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A9C9-D2F3-8509-CA30-83F10A8E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1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AE868-3922-EC2E-4B9A-F1F24543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Create a class called building that stores the number of floors, number of rooms and the total square footage in the building.  Create a derived class called house that inherits building and stores the number of bedrooms and the number of bathrooms.  Then create a derived class office that inherits building and stores the number of fire extinguishers and the number of telephones.   Implement these class with member functions to input and output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1071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2942-B2D0-9E18-0D63-E078A7495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04EA9-7225-92DA-D748-46FB31A4F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class </a:t>
            </a:r>
            <a:r>
              <a:rPr lang="en-US" b="1" dirty="0"/>
              <a:t>person</a:t>
            </a:r>
            <a:r>
              <a:rPr lang="en-US" dirty="0"/>
              <a:t> stores name and code of workers.  The derived class </a:t>
            </a:r>
            <a:r>
              <a:rPr lang="en-US" b="1" dirty="0"/>
              <a:t>account </a:t>
            </a:r>
            <a:r>
              <a:rPr lang="en-US" dirty="0"/>
              <a:t>stores their pay and another derived class </a:t>
            </a:r>
            <a:r>
              <a:rPr lang="en-US" b="1" dirty="0"/>
              <a:t>admin</a:t>
            </a:r>
            <a:r>
              <a:rPr lang="en-US" dirty="0"/>
              <a:t> stores data on experience.  The class </a:t>
            </a:r>
            <a:r>
              <a:rPr lang="en-US" b="1" dirty="0"/>
              <a:t>master</a:t>
            </a:r>
            <a:r>
              <a:rPr lang="en-US" dirty="0"/>
              <a:t> derived from account and admin stores name, code pay and experience. Define all the four classes and write a program to create, update and display the information contained to master objects.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92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2855</Words>
  <Application>Microsoft Office PowerPoint</Application>
  <PresentationFormat>Widescreen</PresentationFormat>
  <Paragraphs>508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Arial</vt:lpstr>
      <vt:lpstr>Arial Black</vt:lpstr>
      <vt:lpstr>Calibri</vt:lpstr>
      <vt:lpstr>Calibri body</vt:lpstr>
      <vt:lpstr>Calibri Light</vt:lpstr>
      <vt:lpstr>Consolas</vt:lpstr>
      <vt:lpstr>Courier New</vt:lpstr>
      <vt:lpstr>Lucida Sans Unicode</vt:lpstr>
      <vt:lpstr>Monaco</vt:lpstr>
      <vt:lpstr>Roboto</vt:lpstr>
      <vt:lpstr>Times New Roman</vt:lpstr>
      <vt:lpstr>Verdana</vt:lpstr>
      <vt:lpstr>Office Theme</vt:lpstr>
      <vt:lpstr>Inheritance</vt:lpstr>
      <vt:lpstr>Inheritance</vt:lpstr>
      <vt:lpstr>Arrange concepts into an inheritance hierarchy </vt:lpstr>
      <vt:lpstr>Advantages of inheritance</vt:lpstr>
      <vt:lpstr>PowerPoint Presentation</vt:lpstr>
      <vt:lpstr>General Syntax for Inheritance </vt:lpstr>
      <vt:lpstr>Access specifier</vt:lpstr>
      <vt:lpstr>PowerPoint Presentation</vt:lpstr>
      <vt:lpstr>Types of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Inheritance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Same Data Member Name in Base and Derived Class</vt:lpstr>
      <vt:lpstr>PowerPoint Presentation</vt:lpstr>
      <vt:lpstr>PowerPoint Presentation</vt:lpstr>
      <vt:lpstr>PowerPoint Presentation</vt:lpstr>
      <vt:lpstr>PowerPoint Presentation</vt:lpstr>
      <vt:lpstr>3 Types of Access Specifiers</vt:lpstr>
      <vt:lpstr>3 Types of Access Specifiers</vt:lpstr>
      <vt:lpstr>3 Types of Access Specifiers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Problem 1 :</vt:lpstr>
      <vt:lpstr>Practice Problem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Admin</dc:creator>
  <cp:lastModifiedBy>Joshva Devadas</cp:lastModifiedBy>
  <cp:revision>26</cp:revision>
  <dcterms:created xsi:type="dcterms:W3CDTF">2018-02-20T11:24:14Z</dcterms:created>
  <dcterms:modified xsi:type="dcterms:W3CDTF">2022-05-05T08:54:01Z</dcterms:modified>
</cp:coreProperties>
</file>