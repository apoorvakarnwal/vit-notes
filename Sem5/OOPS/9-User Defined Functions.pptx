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Default Extension="png" ContentType="image/png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8805" y="107696"/>
            <a:ext cx="11594388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40816" y="1297050"/>
            <a:ext cx="4992370" cy="47199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8805" y="107696"/>
            <a:ext cx="11594388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51026" y="2757881"/>
            <a:ext cx="7439659" cy="1855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68811" y="6464909"/>
            <a:ext cx="2317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35170" y="391160"/>
            <a:ext cx="301244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FUNCTIONS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5100" y="2106167"/>
            <a:ext cx="6670548" cy="42504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3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301244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95883"/>
            <a:ext cx="11308715" cy="364997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-15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 block of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code that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performs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specific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5">
                <a:latin typeface="Times New Roman"/>
                <a:cs typeface="Times New Roman"/>
              </a:rPr>
              <a:t>task.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Times New Roman"/>
              <a:cs typeface="Times New Roman"/>
            </a:endParaRPr>
          </a:p>
          <a:p>
            <a:pPr marL="241300" marR="541020" indent="-228600">
              <a:lnSpc>
                <a:spcPts val="303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Dividing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complex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problem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into small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components makes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program </a:t>
            </a:r>
            <a:r>
              <a:rPr dirty="0" sz="2800" spc="-10">
                <a:latin typeface="Times New Roman"/>
                <a:cs typeface="Times New Roman"/>
              </a:rPr>
              <a:t>easy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to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understand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use.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300">
              <a:latin typeface="Times New Roman"/>
              <a:cs typeface="Times New Roman"/>
            </a:endParaRPr>
          </a:p>
          <a:p>
            <a:pPr algn="ctr" marL="40005" marR="5080">
              <a:lnSpc>
                <a:spcPct val="90000"/>
              </a:lnSpc>
            </a:pP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dirty="0" sz="2800" b="1" i="1">
                <a:solidFill>
                  <a:srgbClr val="00AF50"/>
                </a:solidFill>
                <a:latin typeface="Times New Roman"/>
                <a:cs typeface="Times New Roman"/>
              </a:rPr>
              <a:t> idea</a:t>
            </a:r>
            <a:r>
              <a:rPr dirty="0" sz="2800" spc="5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is to</a:t>
            </a:r>
            <a:r>
              <a:rPr dirty="0" sz="2800" spc="10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put</a:t>
            </a:r>
            <a:r>
              <a:rPr dirty="0" sz="2800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some</a:t>
            </a:r>
            <a:r>
              <a:rPr dirty="0" sz="2800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commonly</a:t>
            </a:r>
            <a:r>
              <a:rPr dirty="0" sz="2800" spc="5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or</a:t>
            </a:r>
            <a:r>
              <a:rPr dirty="0" sz="2800" spc="5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repeatedly</a:t>
            </a:r>
            <a:r>
              <a:rPr dirty="0" sz="2800" spc="-25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done</a:t>
            </a:r>
            <a:r>
              <a:rPr dirty="0" sz="2800" spc="5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task</a:t>
            </a:r>
            <a:r>
              <a:rPr dirty="0" sz="2800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together</a:t>
            </a:r>
            <a:r>
              <a:rPr dirty="0" sz="2800" spc="-10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and</a:t>
            </a:r>
            <a:r>
              <a:rPr dirty="0" sz="2800" spc="5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make </a:t>
            </a:r>
            <a:r>
              <a:rPr dirty="0" sz="2800" spc="-685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a </a:t>
            </a:r>
            <a:r>
              <a:rPr dirty="0" sz="2800" b="1" i="1">
                <a:solidFill>
                  <a:srgbClr val="00AF50"/>
                </a:solidFill>
                <a:latin typeface="Times New Roman"/>
                <a:cs typeface="Times New Roman"/>
              </a:rPr>
              <a:t>function,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so that instead of writing the same code </a:t>
            </a:r>
            <a:r>
              <a:rPr dirty="0" sz="2800" b="1" i="1">
                <a:solidFill>
                  <a:srgbClr val="00AF50"/>
                </a:solidFill>
                <a:latin typeface="Times New Roman"/>
                <a:cs typeface="Times New Roman"/>
              </a:rPr>
              <a:t>again and again for </a:t>
            </a:r>
            <a:r>
              <a:rPr dirty="0" sz="2800" spc="5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00AF50"/>
                </a:solidFill>
                <a:latin typeface="Times New Roman"/>
                <a:cs typeface="Times New Roman"/>
              </a:rPr>
              <a:t>different</a:t>
            </a:r>
            <a:r>
              <a:rPr dirty="0" sz="2800" spc="-15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00AF50"/>
                </a:solidFill>
                <a:latin typeface="Times New Roman"/>
                <a:cs typeface="Times New Roman"/>
              </a:rPr>
              <a:t>inputs,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 i="1">
                <a:solidFill>
                  <a:srgbClr val="00AF50"/>
                </a:solidFill>
                <a:latin typeface="Times New Roman"/>
                <a:cs typeface="Times New Roman"/>
              </a:rPr>
              <a:t>we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 can</a:t>
            </a:r>
            <a:r>
              <a:rPr dirty="0" sz="2800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call</a:t>
            </a:r>
            <a:r>
              <a:rPr dirty="0" sz="2800" spc="-15" b="1" i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00AF50"/>
                </a:solidFill>
                <a:latin typeface="Times New Roman"/>
                <a:cs typeface="Times New Roman"/>
              </a:rPr>
              <a:t>the </a:t>
            </a:r>
            <a:r>
              <a:rPr dirty="0" sz="2800" b="1" i="1">
                <a:solidFill>
                  <a:srgbClr val="00AF50"/>
                </a:solidFill>
                <a:latin typeface="Times New Roman"/>
                <a:cs typeface="Times New Roman"/>
              </a:rPr>
              <a:t>function.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805" y="5314594"/>
            <a:ext cx="68751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0" b="1" i="1">
                <a:solidFill>
                  <a:srgbClr val="FF0000"/>
                </a:solidFill>
                <a:latin typeface="Times New Roman"/>
                <a:cs typeface="Times New Roman"/>
              </a:rPr>
              <a:t>Two</a:t>
            </a:r>
            <a:r>
              <a:rPr dirty="0" sz="2800" spc="1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types:</a:t>
            </a:r>
            <a:r>
              <a:rPr dirty="0" sz="2800" spc="1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Library</a:t>
            </a:r>
            <a:r>
              <a:rPr dirty="0" sz="2800" spc="-10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dirty="0" sz="2800" spc="1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User-defined</a:t>
            </a:r>
            <a:r>
              <a:rPr dirty="0" sz="2800" spc="5" b="1" i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0000"/>
                </a:solidFill>
                <a:latin typeface="Times New Roman"/>
                <a:cs typeface="Times New Roman"/>
              </a:rPr>
              <a:t>functions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36518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About</a:t>
            </a:r>
            <a:r>
              <a:rPr dirty="0" spc="-45"/>
              <a:t> </a:t>
            </a:r>
            <a:r>
              <a:rPr dirty="0" spc="-5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896873"/>
            <a:ext cx="11344275" cy="569341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527685" marR="5080" indent="-515620">
              <a:lnSpc>
                <a:spcPts val="3020"/>
              </a:lnSpc>
              <a:spcBef>
                <a:spcPts val="48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Every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</a:t>
            </a:r>
            <a:r>
              <a:rPr dirty="0" sz="2800" spc="13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has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1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unique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name.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This</a:t>
            </a:r>
            <a:r>
              <a:rPr dirty="0" sz="2800" spc="1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name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is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used</a:t>
            </a:r>
            <a:r>
              <a:rPr dirty="0" sz="2800" spc="14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to</a:t>
            </a:r>
            <a:r>
              <a:rPr dirty="0" sz="2800" spc="1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call</a:t>
            </a:r>
            <a:r>
              <a:rPr dirty="0" sz="2800" spc="1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</a:t>
            </a:r>
            <a:r>
              <a:rPr dirty="0" sz="2800" spc="1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from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“main()”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other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function.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3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-15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can</a:t>
            </a:r>
            <a:r>
              <a:rPr dirty="0" sz="2800">
                <a:latin typeface="Times New Roman"/>
                <a:cs typeface="Times New Roman"/>
              </a:rPr>
              <a:t> be</a:t>
            </a:r>
            <a:r>
              <a:rPr dirty="0" sz="2800" spc="-5">
                <a:latin typeface="Times New Roman"/>
                <a:cs typeface="Times New Roman"/>
              </a:rPr>
              <a:t> called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from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within</a:t>
            </a:r>
            <a:r>
              <a:rPr dirty="0" sz="2800">
                <a:latin typeface="Times New Roman"/>
                <a:cs typeface="Times New Roman"/>
              </a:rPr>
              <a:t> another</a:t>
            </a:r>
            <a:r>
              <a:rPr dirty="0" sz="2800" spc="-5">
                <a:latin typeface="Times New Roman"/>
                <a:cs typeface="Times New Roman"/>
              </a:rPr>
              <a:t> function</a:t>
            </a:r>
            <a:endParaRPr sz="2800">
              <a:latin typeface="Times New Roman"/>
              <a:cs typeface="Times New Roman"/>
            </a:endParaRPr>
          </a:p>
          <a:p>
            <a:pPr marL="527685" marR="8255" indent="-515620">
              <a:lnSpc>
                <a:spcPts val="3020"/>
              </a:lnSpc>
              <a:spcBef>
                <a:spcPts val="104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114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</a:t>
            </a:r>
            <a:r>
              <a:rPr dirty="0" sz="2800" spc="27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is</a:t>
            </a:r>
            <a:r>
              <a:rPr dirty="0" sz="2800" spc="27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independent</a:t>
            </a:r>
            <a:r>
              <a:rPr dirty="0" sz="2800" spc="28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 spc="26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it</a:t>
            </a:r>
            <a:r>
              <a:rPr dirty="0" sz="2800" spc="27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can</a:t>
            </a:r>
            <a:r>
              <a:rPr dirty="0" sz="2800" spc="27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perform</a:t>
            </a:r>
            <a:r>
              <a:rPr dirty="0" sz="2800" spc="27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its</a:t>
            </a:r>
            <a:r>
              <a:rPr dirty="0" sz="2800" spc="27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task</a:t>
            </a:r>
            <a:r>
              <a:rPr dirty="0" sz="2800" spc="27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without</a:t>
            </a:r>
            <a:r>
              <a:rPr dirty="0" sz="2800" spc="26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intervention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from</a:t>
            </a:r>
            <a:r>
              <a:rPr dirty="0" sz="2800">
                <a:latin typeface="Times New Roman"/>
                <a:cs typeface="Times New Roman"/>
              </a:rPr>
              <a:t> or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interfering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with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other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parts</a:t>
            </a:r>
            <a:r>
              <a:rPr dirty="0" sz="2800">
                <a:latin typeface="Times New Roman"/>
                <a:cs typeface="Times New Roman"/>
              </a:rPr>
              <a:t> of the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program.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-15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 performs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specific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task.</a:t>
            </a:r>
            <a:endParaRPr sz="2800">
              <a:latin typeface="Times New Roman"/>
              <a:cs typeface="Times New Roman"/>
            </a:endParaRPr>
          </a:p>
          <a:p>
            <a:pPr marL="527685" marR="5715" indent="-515620">
              <a:lnSpc>
                <a:spcPts val="3030"/>
              </a:lnSpc>
              <a:spcBef>
                <a:spcPts val="1050"/>
              </a:spcBef>
              <a:buAutoNum type="arabicPeriod"/>
              <a:tabLst>
                <a:tab pos="527685" algn="l"/>
                <a:tab pos="528320" algn="l"/>
                <a:tab pos="926465" algn="l"/>
                <a:tab pos="2273935" algn="l"/>
                <a:tab pos="3424554" algn="l"/>
                <a:tab pos="3743960" algn="l"/>
                <a:tab pos="4674870" algn="l"/>
                <a:tab pos="5113655" algn="l"/>
                <a:tab pos="5709920" algn="l"/>
                <a:tab pos="6838950" algn="l"/>
                <a:tab pos="8296275" algn="l"/>
                <a:tab pos="9090660" algn="l"/>
                <a:tab pos="9491345" algn="l"/>
                <a:tab pos="10819130" algn="l"/>
              </a:tabLst>
            </a:pP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-5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f</a:t>
            </a:r>
            <a:r>
              <a:rPr dirty="0" sz="2800">
                <a:latin typeface="Times New Roman"/>
                <a:cs typeface="Times New Roman"/>
              </a:rPr>
              <a:t>u</a:t>
            </a:r>
            <a:r>
              <a:rPr dirty="0" sz="2800" spc="-5">
                <a:latin typeface="Times New Roman"/>
                <a:cs typeface="Times New Roman"/>
              </a:rPr>
              <a:t>nction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retu</a:t>
            </a:r>
            <a:r>
              <a:rPr dirty="0" sz="2800">
                <a:latin typeface="Times New Roman"/>
                <a:cs typeface="Times New Roman"/>
              </a:rPr>
              <a:t>r</a:t>
            </a:r>
            <a:r>
              <a:rPr dirty="0" sz="2800" spc="-5">
                <a:latin typeface="Times New Roman"/>
                <a:cs typeface="Times New Roman"/>
              </a:rPr>
              <a:t>ns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value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to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c</a:t>
            </a:r>
            <a:r>
              <a:rPr dirty="0" sz="2800" spc="-20">
                <a:latin typeface="Times New Roman"/>
                <a:cs typeface="Times New Roman"/>
              </a:rPr>
              <a:t>a</a:t>
            </a:r>
            <a:r>
              <a:rPr dirty="0" sz="2800" spc="-5">
                <a:latin typeface="Times New Roman"/>
                <a:cs typeface="Times New Roman"/>
              </a:rPr>
              <a:t>lli</a:t>
            </a:r>
            <a:r>
              <a:rPr dirty="0" sz="2800">
                <a:latin typeface="Times New Roman"/>
                <a:cs typeface="Times New Roman"/>
              </a:rPr>
              <a:t>n</a:t>
            </a:r>
            <a:r>
              <a:rPr dirty="0" sz="2800" spc="-5">
                <a:latin typeface="Times New Roman"/>
                <a:cs typeface="Times New Roman"/>
              </a:rPr>
              <a:t>g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p</a:t>
            </a:r>
            <a:r>
              <a:rPr dirty="0" sz="2800">
                <a:latin typeface="Times New Roman"/>
                <a:cs typeface="Times New Roman"/>
              </a:rPr>
              <a:t>r</a:t>
            </a:r>
            <a:r>
              <a:rPr dirty="0" sz="2800" spc="-5">
                <a:latin typeface="Times New Roman"/>
                <a:cs typeface="Times New Roman"/>
              </a:rPr>
              <a:t>o</a:t>
            </a:r>
            <a:r>
              <a:rPr dirty="0" sz="2800">
                <a:latin typeface="Times New Roman"/>
                <a:cs typeface="Times New Roman"/>
              </a:rPr>
              <a:t>g</a:t>
            </a:r>
            <a:r>
              <a:rPr dirty="0" sz="2800" spc="-5">
                <a:latin typeface="Times New Roman"/>
                <a:cs typeface="Times New Roman"/>
              </a:rPr>
              <a:t>ram.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This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is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5">
                <a:latin typeface="Times New Roman"/>
                <a:cs typeface="Times New Roman"/>
              </a:rPr>
              <a:t>o</a:t>
            </a:r>
            <a:r>
              <a:rPr dirty="0" sz="2800">
                <a:latin typeface="Times New Roman"/>
                <a:cs typeface="Times New Roman"/>
              </a:rPr>
              <a:t>p</a:t>
            </a:r>
            <a:r>
              <a:rPr dirty="0" sz="2800" spc="-20">
                <a:latin typeface="Times New Roman"/>
                <a:cs typeface="Times New Roman"/>
              </a:rPr>
              <a:t>t</a:t>
            </a:r>
            <a:r>
              <a:rPr dirty="0" sz="2800" spc="-5">
                <a:latin typeface="Times New Roman"/>
                <a:cs typeface="Times New Roman"/>
              </a:rPr>
              <a:t>io</a:t>
            </a:r>
            <a:r>
              <a:rPr dirty="0" sz="2800">
                <a:latin typeface="Times New Roman"/>
                <a:cs typeface="Times New Roman"/>
              </a:rPr>
              <a:t>n</a:t>
            </a:r>
            <a:r>
              <a:rPr dirty="0" sz="2800" spc="-5">
                <a:latin typeface="Times New Roman"/>
                <a:cs typeface="Times New Roman"/>
              </a:rPr>
              <a:t>al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a</a:t>
            </a:r>
            <a:r>
              <a:rPr dirty="0" sz="2800" spc="-5">
                <a:latin typeface="Times New Roman"/>
                <a:cs typeface="Times New Roman"/>
              </a:rPr>
              <a:t>nd  </a:t>
            </a:r>
            <a:r>
              <a:rPr dirty="0" sz="2800" spc="-5">
                <a:latin typeface="Times New Roman"/>
                <a:cs typeface="Times New Roman"/>
              </a:rPr>
              <a:t>depends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upon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task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your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 is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going</a:t>
            </a:r>
            <a:r>
              <a:rPr dirty="0" sz="2800" spc="-5">
                <a:latin typeface="Times New Roman"/>
                <a:cs typeface="Times New Roman"/>
              </a:rPr>
              <a:t> to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accomplish.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1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It facilitates top-down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modular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programming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Length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of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 </a:t>
            </a:r>
            <a:r>
              <a:rPr dirty="0" sz="2800">
                <a:latin typeface="Times New Roman"/>
                <a:cs typeface="Times New Roman"/>
              </a:rPr>
              <a:t>program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reduced </a:t>
            </a:r>
            <a:r>
              <a:rPr dirty="0" sz="2800">
                <a:latin typeface="Times New Roman"/>
                <a:cs typeface="Times New Roman"/>
              </a:rPr>
              <a:t>through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functions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Saves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time</a:t>
            </a:r>
            <a:r>
              <a:rPr dirty="0" sz="2800" spc="-5">
                <a:latin typeface="Times New Roman"/>
                <a:cs typeface="Times New Roman"/>
              </a:rPr>
              <a:t> and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space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Easy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to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understand,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test,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debug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maintain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59779" y="91439"/>
            <a:ext cx="5009387" cy="66294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4492" y="13842"/>
            <a:ext cx="5197475" cy="1183640"/>
          </a:xfrm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dirty="0" spc="-5"/>
              <a:t>Flow of </a:t>
            </a:r>
            <a:r>
              <a:rPr dirty="0" spc="-15"/>
              <a:t>control </a:t>
            </a:r>
            <a:r>
              <a:rPr dirty="0"/>
              <a:t>in </a:t>
            </a:r>
            <a:r>
              <a:rPr dirty="0" spc="-5"/>
              <a:t>a </a:t>
            </a:r>
            <a:r>
              <a:rPr dirty="0"/>
              <a:t> </a:t>
            </a:r>
            <a:r>
              <a:rPr dirty="0" spc="-5"/>
              <a:t>multi-function</a:t>
            </a:r>
            <a:r>
              <a:rPr dirty="0" spc="5"/>
              <a:t> </a:t>
            </a:r>
            <a:r>
              <a:rPr dirty="0" spc="-15"/>
              <a:t>program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3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335026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Function</a:t>
            </a:r>
            <a:r>
              <a:rPr dirty="0" spc="-125"/>
              <a:t> </a:t>
            </a:r>
            <a:r>
              <a:rPr dirty="0" spc="-65"/>
              <a:t>Types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4639" y="1707250"/>
            <a:ext cx="6265164" cy="377854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3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50749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User-defined </a:t>
            </a:r>
            <a:r>
              <a:rPr dirty="0" spc="-5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607947"/>
            <a:ext cx="3470275" cy="2495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Elements: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05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Function</a:t>
            </a:r>
            <a:r>
              <a:rPr dirty="0" sz="2800" spc="-4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declaration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Function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definition</a:t>
            </a:r>
            <a:endParaRPr sz="2800">
              <a:latin typeface="Times New Roman"/>
              <a:cs typeface="Times New Roman"/>
            </a:endParaRPr>
          </a:p>
          <a:p>
            <a:pPr marL="527685" indent="-515620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dirty="0" sz="2800" spc="-5">
                <a:latin typeface="Times New Roman"/>
                <a:cs typeface="Times New Roman"/>
              </a:rPr>
              <a:t>Function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call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1146535" y="6464909"/>
            <a:ext cx="15367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50749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User-defined </a:t>
            </a:r>
            <a:r>
              <a:rPr dirty="0" spc="-5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607947"/>
            <a:ext cx="10560050" cy="2495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Syntax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for</a:t>
            </a:r>
            <a:r>
              <a:rPr dirty="0" sz="2800" spc="-4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function</a:t>
            </a:r>
            <a:r>
              <a:rPr dirty="0" sz="2800" spc="2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declaration: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050">
              <a:latin typeface="Times New Roman"/>
              <a:cs typeface="Times New Roman"/>
            </a:endParaRPr>
          </a:p>
          <a:p>
            <a:pPr algn="ctr" marL="779780">
              <a:lnSpc>
                <a:spcPct val="100000"/>
              </a:lnSpc>
            </a:pPr>
            <a:r>
              <a:rPr dirty="0" sz="2800">
                <a:latin typeface="Times New Roman"/>
                <a:cs typeface="Times New Roman"/>
              </a:rPr>
              <a:t>return_type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function_Name(type1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parameter1,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type2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parameter2,...);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050">
              <a:latin typeface="Times New Roman"/>
              <a:cs typeface="Times New Roman"/>
            </a:endParaRPr>
          </a:p>
          <a:p>
            <a:pPr algn="ctr" marL="779145">
              <a:lnSpc>
                <a:spcPct val="100000"/>
              </a:lnSpc>
            </a:pPr>
            <a:r>
              <a:rPr dirty="0" sz="2800" spc="-5" b="1">
                <a:latin typeface="Times New Roman"/>
                <a:cs typeface="Times New Roman"/>
              </a:rPr>
              <a:t>Example: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int</a:t>
            </a:r>
            <a:r>
              <a:rPr dirty="0" sz="2800" spc="2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multiply(int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a, int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b);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50749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"/>
              <a:t>User-defined </a:t>
            </a:r>
            <a:r>
              <a:rPr dirty="0" spc="-5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95883"/>
            <a:ext cx="9798050" cy="1474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Times New Roman"/>
                <a:cs typeface="Times New Roman"/>
              </a:rPr>
              <a:t>Syntax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for</a:t>
            </a:r>
            <a:r>
              <a:rPr dirty="0" sz="2800" spc="-6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function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definition: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spc="-5">
                <a:latin typeface="Times New Roman"/>
                <a:cs typeface="Times New Roman"/>
              </a:rPr>
              <a:t>Return_type function_Name(type1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parameter1,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type2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parameter2,...)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805" y="2543327"/>
            <a:ext cx="3810000" cy="309372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2800" spc="-5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latin typeface="Times New Roman"/>
                <a:cs typeface="Times New Roman"/>
              </a:rPr>
              <a:t>//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body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800" spc="-5">
                <a:latin typeface="Times New Roman"/>
                <a:cs typeface="Times New Roman"/>
              </a:rPr>
              <a:t>//local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variable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declaration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800" spc="-5">
                <a:latin typeface="Times New Roman"/>
                <a:cs typeface="Times New Roman"/>
              </a:rPr>
              <a:t>//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executable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statements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5">
                <a:latin typeface="Times New Roman"/>
                <a:cs typeface="Times New Roman"/>
              </a:rPr>
              <a:t>//return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statement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2800" spc="-5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16216" y="2629280"/>
            <a:ext cx="29667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Times New Roman"/>
                <a:cs typeface="Times New Roman"/>
              </a:rPr>
              <a:t>//</a:t>
            </a:r>
            <a:r>
              <a:rPr dirty="0" sz="2800" spc="-30" i="1">
                <a:latin typeface="Times New Roman"/>
                <a:cs typeface="Times New Roman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formal</a:t>
            </a:r>
            <a:r>
              <a:rPr dirty="0" sz="2800" spc="-20" i="1">
                <a:latin typeface="Times New Roman"/>
                <a:cs typeface="Times New Roman"/>
              </a:rPr>
              <a:t> </a:t>
            </a:r>
            <a:r>
              <a:rPr dirty="0" sz="2800" spc="-5" i="1">
                <a:latin typeface="Times New Roman"/>
                <a:cs typeface="Times New Roman"/>
              </a:rPr>
              <a:t>parameters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171935" y="6426809"/>
            <a:ext cx="102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4138" y="4489145"/>
            <a:ext cx="3447415" cy="2159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Calibri"/>
                <a:cs typeface="Calibri"/>
              </a:rPr>
              <a:t>Example</a:t>
            </a:r>
            <a:r>
              <a:rPr dirty="0" sz="2800" spc="-1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-15" b="1">
                <a:solidFill>
                  <a:srgbClr val="00AF50"/>
                </a:solidFill>
                <a:latin typeface="Calibri"/>
                <a:cs typeface="Calibri"/>
              </a:rPr>
              <a:t>int</a:t>
            </a:r>
            <a:r>
              <a:rPr dirty="0" sz="2800" spc="-10" b="1">
                <a:solidFill>
                  <a:srgbClr val="00AF50"/>
                </a:solidFill>
                <a:latin typeface="Calibri"/>
                <a:cs typeface="Calibri"/>
              </a:rPr>
              <a:t> multiply(int</a:t>
            </a:r>
            <a:r>
              <a:rPr dirty="0" sz="2800" spc="15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AF50"/>
                </a:solidFill>
                <a:latin typeface="Calibri"/>
                <a:cs typeface="Calibri"/>
              </a:rPr>
              <a:t>a,</a:t>
            </a:r>
            <a:r>
              <a:rPr dirty="0" sz="2800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800" spc="-15" b="1">
                <a:solidFill>
                  <a:srgbClr val="00AF50"/>
                </a:solidFill>
                <a:latin typeface="Calibri"/>
                <a:cs typeface="Calibri"/>
              </a:rPr>
              <a:t>int</a:t>
            </a:r>
            <a:r>
              <a:rPr dirty="0" sz="2800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AF50"/>
                </a:solidFill>
                <a:latin typeface="Calibri"/>
                <a:cs typeface="Calibri"/>
              </a:rPr>
              <a:t>b)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 spc="-5" b="1">
                <a:solidFill>
                  <a:srgbClr val="00AF50"/>
                </a:solidFill>
                <a:latin typeface="Calibri"/>
                <a:cs typeface="Calibri"/>
              </a:rPr>
              <a:t>{</a:t>
            </a:r>
            <a:endParaRPr sz="2800">
              <a:latin typeface="Calibri"/>
              <a:cs typeface="Calibri"/>
            </a:endParaRPr>
          </a:p>
          <a:p>
            <a:pPr marL="335280">
              <a:lnSpc>
                <a:spcPct val="100000"/>
              </a:lnSpc>
            </a:pPr>
            <a:r>
              <a:rPr dirty="0" sz="2800" spc="-15" b="1">
                <a:solidFill>
                  <a:srgbClr val="00AF50"/>
                </a:solidFill>
                <a:latin typeface="Calibri"/>
                <a:cs typeface="Calibri"/>
              </a:rPr>
              <a:t>return</a:t>
            </a:r>
            <a:r>
              <a:rPr dirty="0" sz="2800" spc="5" b="1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dirty="0" sz="2800" spc="-5" b="1">
                <a:solidFill>
                  <a:srgbClr val="00AF50"/>
                </a:solidFill>
                <a:latin typeface="Calibri"/>
                <a:cs typeface="Calibri"/>
              </a:rPr>
              <a:t>(a*b);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 spc="-5" b="1">
                <a:solidFill>
                  <a:srgbClr val="00AF50"/>
                </a:solidFill>
                <a:latin typeface="Calibri"/>
                <a:cs typeface="Calibri"/>
              </a:rPr>
              <a:t>}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300164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Function</a:t>
            </a:r>
            <a:r>
              <a:rPr dirty="0" spc="-55"/>
              <a:t> </a:t>
            </a:r>
            <a:r>
              <a:rPr dirty="0" spc="-5"/>
              <a:t>Call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1412" y="1222247"/>
            <a:ext cx="5812780" cy="531723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311404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Return</a:t>
            </a:r>
            <a:r>
              <a:rPr dirty="0" spc="-114"/>
              <a:t> </a:t>
            </a:r>
            <a:r>
              <a:rPr dirty="0" spc="-70"/>
              <a:t>Values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09929"/>
            <a:ext cx="10977880" cy="330581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2800" spc="-5">
                <a:latin typeface="Times New Roman"/>
                <a:cs typeface="Times New Roman"/>
              </a:rPr>
              <a:t>A</a:t>
            </a:r>
            <a:r>
              <a:rPr dirty="0" sz="2800" spc="-15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may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may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not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return</a:t>
            </a:r>
            <a:r>
              <a:rPr dirty="0" sz="2800" spc="-5">
                <a:latin typeface="Times New Roman"/>
                <a:cs typeface="Times New Roman"/>
              </a:rPr>
              <a:t> send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back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any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value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to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calling function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2800" spc="-5" b="1" i="1">
                <a:latin typeface="Times New Roman"/>
                <a:cs typeface="Times New Roman"/>
              </a:rPr>
              <a:t>It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return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one</a:t>
            </a:r>
            <a:r>
              <a:rPr dirty="0" sz="2800" spc="-5" b="1" i="1">
                <a:latin typeface="Times New Roman"/>
                <a:cs typeface="Times New Roman"/>
              </a:rPr>
              <a:t> value</a:t>
            </a:r>
            <a:r>
              <a:rPr dirty="0" sz="2800" spc="-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per</a:t>
            </a:r>
            <a:r>
              <a:rPr dirty="0" sz="2800" spc="-2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call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2800" spc="-5">
                <a:latin typeface="Times New Roman"/>
                <a:cs typeface="Times New Roman"/>
              </a:rPr>
              <a:t>All functions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by </a:t>
            </a:r>
            <a:r>
              <a:rPr dirty="0" sz="2800" spc="-5">
                <a:latin typeface="Times New Roman"/>
                <a:cs typeface="Times New Roman"/>
              </a:rPr>
              <a:t>default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return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int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types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b="1">
                <a:latin typeface="Times New Roman"/>
                <a:cs typeface="Times New Roman"/>
              </a:rPr>
              <a:t>Syntax:</a:t>
            </a:r>
            <a:endParaRPr sz="2800">
              <a:latin typeface="Times New Roman"/>
              <a:cs typeface="Times New Roman"/>
            </a:endParaRPr>
          </a:p>
          <a:p>
            <a:pPr marL="1841500" marR="3547745">
              <a:lnSpc>
                <a:spcPct val="109600"/>
              </a:lnSpc>
              <a:tabLst>
                <a:tab pos="3670300" algn="l"/>
              </a:tabLst>
            </a:pPr>
            <a:r>
              <a:rPr dirty="0" sz="2800">
                <a:latin typeface="Times New Roman"/>
                <a:cs typeface="Times New Roman"/>
              </a:rPr>
              <a:t>return;	</a:t>
            </a:r>
            <a:r>
              <a:rPr dirty="0" sz="2800" spc="-5">
                <a:latin typeface="Times New Roman"/>
                <a:cs typeface="Times New Roman"/>
              </a:rPr>
              <a:t>//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does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not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return</a:t>
            </a:r>
            <a:r>
              <a:rPr dirty="0" sz="2800" spc="-5">
                <a:latin typeface="Times New Roman"/>
                <a:cs typeface="Times New Roman"/>
              </a:rPr>
              <a:t> anything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return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(expression);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805" y="4801361"/>
            <a:ext cx="14871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Example: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7885" y="4759655"/>
            <a:ext cx="2456180" cy="14312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9900"/>
              </a:lnSpc>
              <a:spcBef>
                <a:spcPts val="90"/>
              </a:spcBef>
            </a:pPr>
            <a:r>
              <a:rPr dirty="0" sz="2800">
                <a:latin typeface="Times New Roman"/>
                <a:cs typeface="Times New Roman"/>
              </a:rPr>
              <a:t>return(p);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return(x*y);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return(2.5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*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3.0);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1465" y="5738876"/>
            <a:ext cx="28067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//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return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value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7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8805" y="107696"/>
            <a:ext cx="736600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dirty="0" sz="4000" spc="-7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4000" spc="-5" b="1">
                <a:solidFill>
                  <a:srgbClr val="FF0000"/>
                </a:solidFill>
                <a:latin typeface="Times New Roman"/>
                <a:cs typeface="Times New Roman"/>
              </a:rPr>
              <a:t>Defined</a:t>
            </a:r>
            <a:r>
              <a:rPr dirty="0" sz="4000" spc="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4000" spc="-5" b="1">
                <a:solidFill>
                  <a:srgbClr val="FF0000"/>
                </a:solidFill>
                <a:latin typeface="Times New Roman"/>
                <a:cs typeface="Times New Roman"/>
              </a:rPr>
              <a:t>Function</a:t>
            </a:r>
            <a:r>
              <a:rPr dirty="0" sz="40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4000" spc="-5" b="1">
                <a:solidFill>
                  <a:srgbClr val="FF0000"/>
                </a:solidFill>
                <a:latin typeface="Times New Roman"/>
                <a:cs typeface="Times New Roman"/>
              </a:rPr>
              <a:t>Categories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8805" y="1095883"/>
            <a:ext cx="757618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Times New Roman"/>
                <a:cs typeface="Times New Roman"/>
              </a:rPr>
              <a:t>1. Functions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with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no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arguments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no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return </a:t>
            </a:r>
            <a:r>
              <a:rPr dirty="0" sz="2800" spc="-5">
                <a:latin typeface="Times New Roman"/>
                <a:cs typeface="Times New Roman"/>
              </a:rPr>
              <a:t>values.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4432" y="2279904"/>
            <a:ext cx="6355080" cy="29367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736600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User</a:t>
            </a:r>
            <a:r>
              <a:rPr dirty="0" spc="-75"/>
              <a:t> </a:t>
            </a:r>
            <a:r>
              <a:rPr dirty="0" spc="-5"/>
              <a:t>Defined</a:t>
            </a:r>
            <a:r>
              <a:rPr dirty="0" spc="15"/>
              <a:t> </a:t>
            </a:r>
            <a:r>
              <a:rPr dirty="0" spc="-5"/>
              <a:t>Function</a:t>
            </a:r>
            <a:r>
              <a:rPr dirty="0" spc="5"/>
              <a:t> </a:t>
            </a:r>
            <a:r>
              <a:rPr dirty="0" spc="-5"/>
              <a:t>Categories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896873"/>
            <a:ext cx="81419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1.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Functions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with</a:t>
            </a:r>
            <a:r>
              <a:rPr dirty="0" sz="2800" spc="4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no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arguments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and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no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15" b="1">
                <a:latin typeface="Times New Roman"/>
                <a:cs typeface="Times New Roman"/>
              </a:rPr>
              <a:t>return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values.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805" y="1408937"/>
            <a:ext cx="13684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Exam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le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7814" y="1668017"/>
            <a:ext cx="5601970" cy="4781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8389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#include</a:t>
            </a:r>
            <a:r>
              <a:rPr dirty="0" sz="2400" spc="-10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&lt;stdio.h&gt;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void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sum();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 marR="4104004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sum(); 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return</a:t>
            </a:r>
            <a:r>
              <a:rPr dirty="0" sz="2400" spc="-8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void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sum()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a,b;</a:t>
            </a:r>
            <a:endParaRPr sz="2400">
              <a:latin typeface="Times New Roman"/>
              <a:cs typeface="Times New Roman"/>
            </a:endParaRPr>
          </a:p>
          <a:p>
            <a:pPr marL="317500" marR="508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print</a:t>
            </a:r>
            <a:r>
              <a:rPr dirty="0" sz="2400" b="1">
                <a:latin typeface="Times New Roman"/>
                <a:cs typeface="Times New Roman"/>
              </a:rPr>
              <a:t>f</a:t>
            </a:r>
            <a:r>
              <a:rPr dirty="0" sz="2400" spc="5" b="1">
                <a:latin typeface="Times New Roman"/>
                <a:cs typeface="Times New Roman"/>
              </a:rPr>
              <a:t>(</a:t>
            </a:r>
            <a:r>
              <a:rPr dirty="0" sz="2400" b="1">
                <a:latin typeface="Times New Roman"/>
                <a:cs typeface="Times New Roman"/>
              </a:rPr>
              <a:t>"Enter</a:t>
            </a:r>
            <a:r>
              <a:rPr dirty="0" sz="2400" spc="-6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the</a:t>
            </a:r>
            <a:r>
              <a:rPr dirty="0" sz="2400" b="1">
                <a:latin typeface="Times New Roman"/>
                <a:cs typeface="Times New Roman"/>
              </a:rPr>
              <a:t> va</a:t>
            </a:r>
            <a:r>
              <a:rPr dirty="0" sz="2400" spc="5" b="1">
                <a:latin typeface="Times New Roman"/>
                <a:cs typeface="Times New Roman"/>
              </a:rPr>
              <a:t>l</a:t>
            </a:r>
            <a:r>
              <a:rPr dirty="0" sz="2400" spc="-5" b="1">
                <a:latin typeface="Times New Roman"/>
                <a:cs typeface="Times New Roman"/>
              </a:rPr>
              <a:t>ue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13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A</a:t>
            </a:r>
            <a:r>
              <a:rPr dirty="0" sz="2400" spc="-14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and</a:t>
            </a:r>
            <a:r>
              <a:rPr dirty="0" sz="2400" b="1">
                <a:latin typeface="Times New Roman"/>
                <a:cs typeface="Times New Roman"/>
              </a:rPr>
              <a:t> B:</a:t>
            </a:r>
            <a:r>
              <a:rPr dirty="0" sz="2400" spc="15" b="1">
                <a:latin typeface="Times New Roman"/>
                <a:cs typeface="Times New Roman"/>
              </a:rPr>
              <a:t> </a:t>
            </a:r>
            <a:r>
              <a:rPr dirty="0" sz="2400" spc="5" b="1">
                <a:latin typeface="Times New Roman"/>
                <a:cs typeface="Times New Roman"/>
              </a:rPr>
              <a:t>\</a:t>
            </a:r>
            <a:r>
              <a:rPr dirty="0" sz="2400" spc="-5" b="1">
                <a:latin typeface="Times New Roman"/>
                <a:cs typeface="Times New Roman"/>
              </a:rPr>
              <a:t>n");  </a:t>
            </a:r>
            <a:r>
              <a:rPr dirty="0" sz="2400" spc="-5" b="1">
                <a:latin typeface="Times New Roman"/>
                <a:cs typeface="Times New Roman"/>
              </a:rPr>
              <a:t>scanf("%d</a:t>
            </a:r>
            <a:r>
              <a:rPr dirty="0" sz="2400" spc="1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%d",</a:t>
            </a:r>
            <a:r>
              <a:rPr dirty="0" sz="2400" spc="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&amp;a, </a:t>
            </a:r>
            <a:r>
              <a:rPr dirty="0" sz="2400" spc="-5" b="1">
                <a:latin typeface="Times New Roman"/>
                <a:cs typeface="Times New Roman"/>
              </a:rPr>
              <a:t>&amp;b);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  <a:tabLst>
                <a:tab pos="5468620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print</a:t>
            </a:r>
            <a:r>
              <a:rPr dirty="0" sz="2400" b="1">
                <a:latin typeface="Times New Roman"/>
                <a:cs typeface="Times New Roman"/>
              </a:rPr>
              <a:t>f</a:t>
            </a:r>
            <a:r>
              <a:rPr dirty="0" sz="2400" spc="5" b="1">
                <a:latin typeface="Times New Roman"/>
                <a:cs typeface="Times New Roman"/>
              </a:rPr>
              <a:t>(</a:t>
            </a:r>
            <a:r>
              <a:rPr dirty="0" sz="2400" spc="-5" b="1">
                <a:latin typeface="Times New Roman"/>
                <a:cs typeface="Times New Roman"/>
              </a:rPr>
              <a:t>"The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sum</a:t>
            </a:r>
            <a:r>
              <a:rPr dirty="0" sz="2400" spc="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1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A+B </a:t>
            </a:r>
            <a:r>
              <a:rPr dirty="0" sz="2400" spc="-5" b="1">
                <a:latin typeface="Times New Roman"/>
                <a:cs typeface="Times New Roman"/>
              </a:rPr>
              <a:t>is</a:t>
            </a:r>
            <a:r>
              <a:rPr dirty="0" sz="2400" b="1">
                <a:latin typeface="Times New Roman"/>
                <a:cs typeface="Times New Roman"/>
              </a:rPr>
              <a:t> </a:t>
            </a:r>
            <a:r>
              <a:rPr dirty="0" sz="2400" spc="-30" b="1">
                <a:latin typeface="Times New Roman"/>
                <a:cs typeface="Times New Roman"/>
              </a:rPr>
              <a:t>%</a:t>
            </a:r>
            <a:r>
              <a:rPr dirty="0" sz="2400" spc="-5" b="1">
                <a:latin typeface="Times New Roman"/>
                <a:cs typeface="Times New Roman"/>
              </a:rPr>
              <a:t>d",</a:t>
            </a:r>
            <a:r>
              <a:rPr dirty="0" sz="2400" spc="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a+</a:t>
            </a:r>
            <a:r>
              <a:rPr dirty="0" sz="2400" spc="-5" b="1">
                <a:latin typeface="Times New Roman"/>
                <a:cs typeface="Times New Roman"/>
              </a:rPr>
              <a:t>b</a:t>
            </a:r>
            <a:r>
              <a:rPr dirty="0" sz="2400" b="1">
                <a:latin typeface="Times New Roman"/>
                <a:cs typeface="Times New Roman"/>
              </a:rPr>
              <a:t>);	</a:t>
            </a:r>
            <a:r>
              <a:rPr dirty="0" sz="2400" spc="-5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8805" y="107696"/>
            <a:ext cx="448564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 b="1">
                <a:solidFill>
                  <a:srgbClr val="FF0000"/>
                </a:solidFill>
                <a:latin typeface="Times New Roman"/>
                <a:cs typeface="Times New Roman"/>
              </a:rPr>
              <a:t>FUNCTION</a:t>
            </a:r>
            <a:r>
              <a:rPr dirty="0" sz="4000" spc="-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4000" spc="-10" b="1">
                <a:solidFill>
                  <a:srgbClr val="FF0000"/>
                </a:solidFill>
                <a:latin typeface="Times New Roman"/>
                <a:cs typeface="Times New Roman"/>
              </a:rPr>
              <a:t>TYPES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8805" y="1095883"/>
            <a:ext cx="71367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imes New Roman"/>
                <a:cs typeface="Times New Roman"/>
              </a:rPr>
              <a:t>2.</a:t>
            </a:r>
            <a:r>
              <a:rPr dirty="0" sz="2800" spc="-5">
                <a:latin typeface="Times New Roman"/>
                <a:cs typeface="Times New Roman"/>
              </a:rPr>
              <a:t> Functions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with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arguments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no</a:t>
            </a:r>
            <a:r>
              <a:rPr dirty="0" sz="2800" spc="-5">
                <a:latin typeface="Times New Roman"/>
                <a:cs typeface="Times New Roman"/>
              </a:rPr>
              <a:t> return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values.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6104" y="2106167"/>
            <a:ext cx="7380731" cy="34320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12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8805" y="107696"/>
            <a:ext cx="448564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 b="1">
                <a:solidFill>
                  <a:srgbClr val="FF0000"/>
                </a:solidFill>
                <a:latin typeface="Times New Roman"/>
                <a:cs typeface="Times New Roman"/>
              </a:rPr>
              <a:t>FUNCTION</a:t>
            </a:r>
            <a:r>
              <a:rPr dirty="0" sz="4000" spc="-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4000" spc="-10" b="1">
                <a:solidFill>
                  <a:srgbClr val="FF0000"/>
                </a:solidFill>
                <a:latin typeface="Times New Roman"/>
                <a:cs typeface="Times New Roman"/>
              </a:rPr>
              <a:t>TYPES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8805" y="1095883"/>
            <a:ext cx="71367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Times New Roman"/>
                <a:cs typeface="Times New Roman"/>
              </a:rPr>
              <a:t>2.</a:t>
            </a:r>
            <a:r>
              <a:rPr dirty="0" sz="2800" spc="-5">
                <a:latin typeface="Times New Roman"/>
                <a:cs typeface="Times New Roman"/>
              </a:rPr>
              <a:t> Functions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with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arguments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 </a:t>
            </a:r>
            <a:r>
              <a:rPr dirty="0" sz="2800">
                <a:latin typeface="Times New Roman"/>
                <a:cs typeface="Times New Roman"/>
              </a:rPr>
              <a:t>no</a:t>
            </a:r>
            <a:r>
              <a:rPr dirty="0" sz="2800" spc="-5">
                <a:latin typeface="Times New Roman"/>
                <a:cs typeface="Times New Roman"/>
              </a:rPr>
              <a:t> return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values.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1411" y="2052827"/>
            <a:ext cx="6618732" cy="45857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455921" y="6403847"/>
            <a:ext cx="6974840" cy="2787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65"/>
              </a:lnSpc>
            </a:pPr>
            <a:r>
              <a:rPr dirty="0" sz="1800" b="1">
                <a:solidFill>
                  <a:srgbClr val="FF0000"/>
                </a:solidFill>
                <a:latin typeface="Times New Roman"/>
                <a:cs typeface="Times New Roman"/>
              </a:rPr>
              <a:t>Fig.</a:t>
            </a:r>
            <a:r>
              <a:rPr dirty="0" sz="1800" spc="-10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spc="-5" b="1">
                <a:solidFill>
                  <a:srgbClr val="FF0000"/>
                </a:solidFill>
                <a:latin typeface="Times New Roman"/>
                <a:cs typeface="Times New Roman"/>
              </a:rPr>
              <a:t>Arguments</a:t>
            </a:r>
            <a:r>
              <a:rPr dirty="0" sz="18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spc="-5" b="1">
                <a:solidFill>
                  <a:srgbClr val="FF0000"/>
                </a:solidFill>
                <a:latin typeface="Times New Roman"/>
                <a:cs typeface="Times New Roman"/>
              </a:rPr>
              <a:t>matching</a:t>
            </a:r>
            <a:r>
              <a:rPr dirty="0" sz="1800" spc="46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FF0000"/>
                </a:solidFill>
                <a:latin typeface="Times New Roman"/>
                <a:cs typeface="Times New Roman"/>
              </a:rPr>
              <a:t>between</a:t>
            </a:r>
            <a:r>
              <a:rPr dirty="0" sz="18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spc="-5" b="1">
                <a:solidFill>
                  <a:srgbClr val="FF0000"/>
                </a:solidFill>
                <a:latin typeface="Times New Roman"/>
                <a:cs typeface="Times New Roman"/>
              </a:rPr>
              <a:t>function</a:t>
            </a:r>
            <a:r>
              <a:rPr dirty="0" sz="1800" spc="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FF0000"/>
                </a:solidFill>
                <a:latin typeface="Times New Roman"/>
                <a:cs typeface="Times New Roman"/>
              </a:rPr>
              <a:t>call</a:t>
            </a:r>
            <a:r>
              <a:rPr dirty="0" sz="1800" spc="-5" b="1">
                <a:solidFill>
                  <a:srgbClr val="FF0000"/>
                </a:solidFill>
                <a:latin typeface="Times New Roman"/>
                <a:cs typeface="Times New Roman"/>
              </a:rPr>
              <a:t> and</a:t>
            </a:r>
            <a:r>
              <a:rPr dirty="0" sz="180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spc="-5" b="1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1800" spc="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FF0000"/>
                </a:solidFill>
                <a:latin typeface="Times New Roman"/>
                <a:cs typeface="Times New Roman"/>
              </a:rPr>
              <a:t>called</a:t>
            </a:r>
            <a:r>
              <a:rPr dirty="0" sz="18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1800" spc="-165" b="1">
                <a:solidFill>
                  <a:srgbClr val="FF0000"/>
                </a:solidFill>
                <a:latin typeface="Times New Roman"/>
                <a:cs typeface="Times New Roman"/>
              </a:rPr>
              <a:t>funct</a:t>
            </a:r>
            <a:r>
              <a:rPr dirty="0" baseline="9259" sz="1800" spc="-247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r>
              <a:rPr dirty="0" sz="1800" spc="-165" b="1">
                <a:solidFill>
                  <a:srgbClr val="FF0000"/>
                </a:solidFill>
                <a:latin typeface="Times New Roman"/>
                <a:cs typeface="Times New Roman"/>
              </a:rPr>
              <a:t>io</a:t>
            </a:r>
            <a:r>
              <a:rPr dirty="0" baseline="9259" sz="1800" spc="-247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r>
              <a:rPr dirty="0" baseline="9259" sz="1800" spc="-67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1800" spc="-5" b="1">
                <a:solidFill>
                  <a:srgbClr val="FF0000"/>
                </a:solidFill>
                <a:latin typeface="Times New Roman"/>
                <a:cs typeface="Times New Roman"/>
              </a:rPr>
              <a:t>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48564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FUNCTION</a:t>
            </a:r>
            <a:r>
              <a:rPr dirty="0" spc="-85"/>
              <a:t> </a:t>
            </a:r>
            <a:r>
              <a:rPr dirty="0" spc="-1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810920"/>
            <a:ext cx="7683500" cy="39738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dirty="0" sz="2800" b="1">
                <a:latin typeface="Times New Roman"/>
                <a:cs typeface="Times New Roman"/>
              </a:rPr>
              <a:t>2.</a:t>
            </a:r>
            <a:r>
              <a:rPr dirty="0" sz="2800" spc="-5" b="1">
                <a:latin typeface="Times New Roman"/>
                <a:cs typeface="Times New Roman"/>
              </a:rPr>
              <a:t> Functions</a:t>
            </a:r>
            <a:r>
              <a:rPr dirty="0" sz="2800" spc="2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with</a:t>
            </a:r>
            <a:r>
              <a:rPr dirty="0" sz="2800" spc="5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arguments</a:t>
            </a:r>
            <a:r>
              <a:rPr dirty="0" sz="2800" spc="2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and no</a:t>
            </a:r>
            <a:r>
              <a:rPr dirty="0" sz="2800" spc="20" b="1">
                <a:latin typeface="Times New Roman"/>
                <a:cs typeface="Times New Roman"/>
              </a:rPr>
              <a:t> </a:t>
            </a:r>
            <a:r>
              <a:rPr dirty="0" sz="2800" spc="-15" b="1">
                <a:latin typeface="Times New Roman"/>
                <a:cs typeface="Times New Roman"/>
              </a:rPr>
              <a:t>return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values. </a:t>
            </a:r>
            <a:r>
              <a:rPr dirty="0" sz="2800" spc="-685" b="1"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endParaRPr sz="2800">
              <a:latin typeface="Times New Roman"/>
              <a:cs typeface="Times New Roman"/>
            </a:endParaRPr>
          </a:p>
          <a:p>
            <a:pPr marL="2840355">
              <a:lnSpc>
                <a:spcPts val="2855"/>
              </a:lnSpc>
            </a:pPr>
            <a:r>
              <a:rPr dirty="0" sz="2400" b="1">
                <a:latin typeface="Times New Roman"/>
                <a:cs typeface="Times New Roman"/>
              </a:rPr>
              <a:t>#include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&lt;stdio.h&gt;</a:t>
            </a:r>
            <a:endParaRPr sz="2400">
              <a:latin typeface="Times New Roman"/>
              <a:cs typeface="Times New Roman"/>
            </a:endParaRPr>
          </a:p>
          <a:p>
            <a:pPr marL="2840355" marR="3352165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void</a:t>
            </a:r>
            <a:r>
              <a:rPr dirty="0" sz="2400" spc="-7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sum(); </a:t>
            </a:r>
            <a:r>
              <a:rPr dirty="0" sz="2400" spc="-59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2840355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45155" marR="256286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int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a=20,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b=30;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sum(a,b); 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return </a:t>
            </a:r>
            <a:r>
              <a:rPr dirty="0" sz="2400" b="1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2840355">
              <a:lnSpc>
                <a:spcPct val="100000"/>
              </a:lnSpc>
              <a:spcBef>
                <a:spcPts val="5"/>
              </a:spcBef>
            </a:pPr>
            <a:r>
              <a:rPr dirty="0" sz="2400" spc="-5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6994" y="5124958"/>
            <a:ext cx="531304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void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sum(int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c,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int d)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printf("The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sum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1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A+B</a:t>
            </a:r>
            <a:r>
              <a:rPr dirty="0" sz="2400" spc="-5" b="1">
                <a:latin typeface="Times New Roman"/>
                <a:cs typeface="Times New Roman"/>
              </a:rPr>
              <a:t> is</a:t>
            </a:r>
            <a:r>
              <a:rPr dirty="0" sz="2400" spc="-10" b="1">
                <a:latin typeface="Times New Roman"/>
                <a:cs typeface="Times New Roman"/>
              </a:rPr>
              <a:t> %d",</a:t>
            </a:r>
            <a:r>
              <a:rPr dirty="0" sz="2400" spc="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c+d);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8805" y="107696"/>
            <a:ext cx="448564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 b="1">
                <a:solidFill>
                  <a:srgbClr val="FF0000"/>
                </a:solidFill>
                <a:latin typeface="Times New Roman"/>
                <a:cs typeface="Times New Roman"/>
              </a:rPr>
              <a:t>FUNCTION</a:t>
            </a:r>
            <a:r>
              <a:rPr dirty="0" sz="4000" spc="-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4000" spc="-10" b="1">
                <a:solidFill>
                  <a:srgbClr val="FF0000"/>
                </a:solidFill>
                <a:latin typeface="Times New Roman"/>
                <a:cs typeface="Times New Roman"/>
              </a:rPr>
              <a:t>TYPES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8805" y="1095883"/>
            <a:ext cx="72116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3.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Functions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with</a:t>
            </a:r>
            <a:r>
              <a:rPr dirty="0" sz="2800" spc="4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arguments</a:t>
            </a:r>
            <a:r>
              <a:rPr dirty="0" sz="2800" spc="2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and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15" b="1">
                <a:latin typeface="Times New Roman"/>
                <a:cs typeface="Times New Roman"/>
              </a:rPr>
              <a:t>return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values.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75560" y="2255519"/>
            <a:ext cx="7566659" cy="35372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48564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FUNCTION</a:t>
            </a:r>
            <a:r>
              <a:rPr dirty="0" spc="-85"/>
              <a:t> </a:t>
            </a:r>
            <a:r>
              <a:rPr dirty="0" spc="-1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09929"/>
            <a:ext cx="8266430" cy="53714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59180">
              <a:lnSpc>
                <a:spcPct val="120000"/>
              </a:lnSpc>
              <a:spcBef>
                <a:spcPts val="100"/>
              </a:spcBef>
            </a:pPr>
            <a:r>
              <a:rPr dirty="0" sz="2800" spc="-5" b="1">
                <a:latin typeface="Times New Roman"/>
                <a:cs typeface="Times New Roman"/>
              </a:rPr>
              <a:t>3.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Functions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with</a:t>
            </a:r>
            <a:r>
              <a:rPr dirty="0" sz="2800" spc="4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arguments</a:t>
            </a:r>
            <a:r>
              <a:rPr dirty="0" sz="2800" spc="2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and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15" b="1">
                <a:latin typeface="Times New Roman"/>
                <a:cs typeface="Times New Roman"/>
              </a:rPr>
              <a:t>return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values. </a:t>
            </a:r>
            <a:r>
              <a:rPr dirty="0" sz="2800" spc="-685" b="1"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Example:</a:t>
            </a:r>
            <a:endParaRPr sz="2800">
              <a:latin typeface="Times New Roman"/>
              <a:cs typeface="Times New Roman"/>
            </a:endParaRPr>
          </a:p>
          <a:p>
            <a:pPr marL="3312160">
              <a:lnSpc>
                <a:spcPts val="2340"/>
              </a:lnSpc>
            </a:pPr>
            <a:r>
              <a:rPr dirty="0" sz="2400" b="1">
                <a:latin typeface="Times New Roman"/>
                <a:cs typeface="Times New Roman"/>
              </a:rPr>
              <a:t>#include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&lt;stdio.h&gt;</a:t>
            </a:r>
            <a:endParaRPr sz="2400">
              <a:latin typeface="Times New Roman"/>
              <a:cs typeface="Times New Roman"/>
            </a:endParaRPr>
          </a:p>
          <a:p>
            <a:pPr marL="3312160" marR="2802255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sum(int,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int);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int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331216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617595" marR="2465705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5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a=20,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b=30,c; </a:t>
            </a:r>
            <a:r>
              <a:rPr dirty="0" sz="2400" spc="-59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c=sum(a,b);</a:t>
            </a:r>
            <a:endParaRPr sz="2400">
              <a:latin typeface="Times New Roman"/>
              <a:cs typeface="Times New Roman"/>
            </a:endParaRPr>
          </a:p>
          <a:p>
            <a:pPr marL="3617595" marR="508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printf("The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sum</a:t>
            </a:r>
            <a:r>
              <a:rPr dirty="0" sz="2400" b="1">
                <a:latin typeface="Times New Roman"/>
                <a:cs typeface="Times New Roman"/>
              </a:rPr>
              <a:t> of</a:t>
            </a:r>
            <a:r>
              <a:rPr dirty="0" sz="2400" spc="-1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A+B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is</a:t>
            </a:r>
            <a:r>
              <a:rPr dirty="0" sz="2400" spc="-10" b="1">
                <a:latin typeface="Times New Roman"/>
                <a:cs typeface="Times New Roman"/>
              </a:rPr>
              <a:t> %d",</a:t>
            </a:r>
            <a:r>
              <a:rPr dirty="0" sz="2400" spc="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c);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return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3312160">
              <a:lnSpc>
                <a:spcPct val="100000"/>
              </a:lnSpc>
              <a:spcBef>
                <a:spcPts val="5"/>
              </a:spcBef>
            </a:pPr>
            <a:r>
              <a:rPr dirty="0" sz="2400" spc="-5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31216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sum(int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c,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d)</a:t>
            </a:r>
            <a:endParaRPr sz="2400">
              <a:latin typeface="Times New Roman"/>
              <a:cs typeface="Times New Roman"/>
            </a:endParaRPr>
          </a:p>
          <a:p>
            <a:pPr marL="331216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617595">
              <a:lnSpc>
                <a:spcPct val="100000"/>
              </a:lnSpc>
              <a:tabLst>
                <a:tab pos="6078855" algn="l"/>
              </a:tabLst>
            </a:pPr>
            <a:r>
              <a:rPr dirty="0" sz="2400" spc="-5" b="1">
                <a:latin typeface="Times New Roman"/>
                <a:cs typeface="Times New Roman"/>
              </a:rPr>
              <a:t>return(c+d);	</a:t>
            </a:r>
            <a:r>
              <a:rPr dirty="0" sz="2400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8805" y="107696"/>
            <a:ext cx="4485640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 b="1">
                <a:solidFill>
                  <a:srgbClr val="FF0000"/>
                </a:solidFill>
                <a:latin typeface="Times New Roman"/>
                <a:cs typeface="Times New Roman"/>
              </a:rPr>
              <a:t>FUNCTION</a:t>
            </a:r>
            <a:r>
              <a:rPr dirty="0" sz="4000" spc="-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4000" spc="-10" b="1">
                <a:solidFill>
                  <a:srgbClr val="FF0000"/>
                </a:solidFill>
                <a:latin typeface="Times New Roman"/>
                <a:cs typeface="Times New Roman"/>
              </a:rPr>
              <a:t>TYPES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8805" y="1095883"/>
            <a:ext cx="76835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Times New Roman"/>
                <a:cs typeface="Times New Roman"/>
              </a:rPr>
              <a:t>4.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Functions</a:t>
            </a:r>
            <a:r>
              <a:rPr dirty="0" sz="2800" spc="2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with</a:t>
            </a:r>
            <a:r>
              <a:rPr dirty="0" sz="2800" spc="4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no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arguments</a:t>
            </a:r>
            <a:r>
              <a:rPr dirty="0" sz="2800" spc="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15" b="1">
                <a:latin typeface="Times New Roman"/>
                <a:cs typeface="Times New Roman"/>
              </a:rPr>
              <a:t>return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values.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5351" y="2028443"/>
            <a:ext cx="7239000" cy="336804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16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48564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FUNCTION</a:t>
            </a:r>
            <a:r>
              <a:rPr dirty="0" spc="-85"/>
              <a:t> </a:t>
            </a:r>
            <a:r>
              <a:rPr dirty="0" spc="-10"/>
              <a:t>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896873"/>
            <a:ext cx="76835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Times New Roman"/>
                <a:cs typeface="Times New Roman"/>
              </a:rPr>
              <a:t>4.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Functions</a:t>
            </a:r>
            <a:r>
              <a:rPr dirty="0" sz="2800" spc="20" b="1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Times New Roman"/>
                <a:cs typeface="Times New Roman"/>
              </a:rPr>
              <a:t>with</a:t>
            </a:r>
            <a:r>
              <a:rPr dirty="0" sz="2800" spc="4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no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arguments</a:t>
            </a:r>
            <a:r>
              <a:rPr dirty="0" sz="2800" spc="2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and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15" b="1">
                <a:latin typeface="Times New Roman"/>
                <a:cs typeface="Times New Roman"/>
              </a:rPr>
              <a:t>return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values.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805" y="1408937"/>
            <a:ext cx="14865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Exam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le: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19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12770" y="1617726"/>
            <a:ext cx="4966335" cy="5147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548255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#include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&lt;stdio.h&gt;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sum();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 marR="3482975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int </a:t>
            </a:r>
            <a:r>
              <a:rPr dirty="0" sz="2400" b="1">
                <a:latin typeface="Times New Roman"/>
                <a:cs typeface="Times New Roman"/>
              </a:rPr>
              <a:t>c; </a:t>
            </a:r>
            <a:r>
              <a:rPr dirty="0" sz="2400" spc="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c=sum(</a:t>
            </a:r>
            <a:r>
              <a:rPr dirty="0" sz="2400" spc="5" b="1">
                <a:latin typeface="Times New Roman"/>
                <a:cs typeface="Times New Roman"/>
              </a:rPr>
              <a:t>)</a:t>
            </a:r>
            <a:r>
              <a:rPr dirty="0" sz="2400" b="1">
                <a:latin typeface="Times New Roman"/>
                <a:cs typeface="Times New Roman"/>
              </a:rPr>
              <a:t>;</a:t>
            </a:r>
            <a:endParaRPr sz="2400">
              <a:latin typeface="Times New Roman"/>
              <a:cs typeface="Times New Roman"/>
            </a:endParaRPr>
          </a:p>
          <a:p>
            <a:pPr marL="317500" marR="508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printf("The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sum</a:t>
            </a:r>
            <a:r>
              <a:rPr dirty="0" sz="2400" b="1">
                <a:latin typeface="Times New Roman"/>
                <a:cs typeface="Times New Roman"/>
              </a:rPr>
              <a:t> of</a:t>
            </a:r>
            <a:r>
              <a:rPr dirty="0" sz="2400" spc="-1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A+B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is</a:t>
            </a:r>
            <a:r>
              <a:rPr dirty="0" sz="2400" spc="-10" b="1">
                <a:latin typeface="Times New Roman"/>
                <a:cs typeface="Times New Roman"/>
              </a:rPr>
              <a:t> %d",</a:t>
            </a:r>
            <a:r>
              <a:rPr dirty="0" sz="2400" spc="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c);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return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-5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int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sum()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 marR="2238375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c=10;</a:t>
            </a:r>
            <a:r>
              <a:rPr dirty="0" sz="2400" spc="-3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d=20;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return(c+d);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21449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Function</a:t>
            </a:r>
            <a:r>
              <a:rPr dirty="0" spc="-45"/>
              <a:t> </a:t>
            </a:r>
            <a:r>
              <a:rPr dirty="0" spc="-5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6226" y="929132"/>
            <a:ext cx="3200400" cy="1854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#include&lt;stdio.h&gt;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4471C4"/>
                </a:solidFill>
                <a:latin typeface="Times New Roman"/>
                <a:cs typeface="Times New Roman"/>
              </a:rPr>
              <a:t>int</a:t>
            </a:r>
            <a:r>
              <a:rPr dirty="0" sz="2400" spc="-30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4471C4"/>
                </a:solidFill>
                <a:latin typeface="Times New Roman"/>
                <a:cs typeface="Times New Roman"/>
              </a:rPr>
              <a:t>multiply(int</a:t>
            </a:r>
            <a:r>
              <a:rPr dirty="0" sz="2400" spc="-55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4471C4"/>
                </a:solidFill>
                <a:latin typeface="Times New Roman"/>
                <a:cs typeface="Times New Roman"/>
              </a:rPr>
              <a:t>a,</a:t>
            </a:r>
            <a:r>
              <a:rPr dirty="0" sz="2400" spc="-20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4471C4"/>
                </a:solidFill>
                <a:latin typeface="Times New Roman"/>
                <a:cs typeface="Times New Roman"/>
              </a:rPr>
              <a:t>int</a:t>
            </a:r>
            <a:r>
              <a:rPr dirty="0" sz="2400" spc="-20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4471C4"/>
                </a:solidFill>
                <a:latin typeface="Times New Roman"/>
                <a:cs typeface="Times New Roman"/>
              </a:rPr>
              <a:t>b);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main()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i,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j,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result;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04435" y="1294587"/>
            <a:ext cx="2989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471C4"/>
                </a:solidFill>
                <a:latin typeface="Times New Roman"/>
                <a:cs typeface="Times New Roman"/>
              </a:rPr>
              <a:t>//</a:t>
            </a:r>
            <a:r>
              <a:rPr dirty="0" sz="2400" spc="-45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4471C4"/>
                </a:solidFill>
                <a:latin typeface="Times New Roman"/>
                <a:cs typeface="Times New Roman"/>
              </a:rPr>
              <a:t>Function</a:t>
            </a:r>
            <a:r>
              <a:rPr dirty="0" sz="2400" spc="-20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4471C4"/>
                </a:solidFill>
                <a:latin typeface="Times New Roman"/>
                <a:cs typeface="Times New Roman"/>
              </a:rPr>
              <a:t>declaration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printf("Please</a:t>
            </a:r>
            <a:r>
              <a:rPr dirty="0" spc="-35"/>
              <a:t> </a:t>
            </a:r>
            <a:r>
              <a:rPr dirty="0"/>
              <a:t>enter</a:t>
            </a:r>
            <a:r>
              <a:rPr dirty="0" spc="-45"/>
              <a:t> </a:t>
            </a:r>
            <a:r>
              <a:rPr dirty="0"/>
              <a:t>2 </a:t>
            </a:r>
            <a:r>
              <a:rPr dirty="0" spc="-5"/>
              <a:t>numbers</a:t>
            </a:r>
            <a:r>
              <a:rPr dirty="0"/>
              <a:t> you</a:t>
            </a:r>
            <a:r>
              <a:rPr dirty="0" spc="5"/>
              <a:t> </a:t>
            </a:r>
            <a:r>
              <a:rPr dirty="0" spc="-10"/>
              <a:t>want</a:t>
            </a:r>
            <a:r>
              <a:rPr dirty="0" spc="15"/>
              <a:t> </a:t>
            </a:r>
            <a:r>
              <a:rPr dirty="0"/>
              <a:t>to </a:t>
            </a:r>
            <a:r>
              <a:rPr dirty="0" spc="-10"/>
              <a:t>multiply...");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5"/>
              <a:t>scanf("%d%d",</a:t>
            </a:r>
            <a:r>
              <a:rPr dirty="0" spc="30"/>
              <a:t> </a:t>
            </a:r>
            <a:r>
              <a:rPr dirty="0"/>
              <a:t>&amp;i,</a:t>
            </a:r>
            <a:r>
              <a:rPr dirty="0" spc="-35"/>
              <a:t> </a:t>
            </a:r>
            <a:r>
              <a:rPr dirty="0"/>
              <a:t>&amp;j);</a:t>
            </a:r>
          </a:p>
          <a:p>
            <a:pPr marL="12700" marR="633095">
              <a:lnSpc>
                <a:spcPct val="100000"/>
              </a:lnSpc>
              <a:tabLst>
                <a:tab pos="3365500" algn="l"/>
              </a:tabLst>
            </a:pPr>
            <a:r>
              <a:rPr dirty="0" spc="-10">
                <a:solidFill>
                  <a:srgbClr val="4471C4"/>
                </a:solidFill>
              </a:rPr>
              <a:t>result</a:t>
            </a:r>
            <a:r>
              <a:rPr dirty="0">
                <a:solidFill>
                  <a:srgbClr val="4471C4"/>
                </a:solidFill>
              </a:rPr>
              <a:t> =</a:t>
            </a:r>
            <a:r>
              <a:rPr dirty="0" spc="-1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multiply(i,</a:t>
            </a:r>
            <a:r>
              <a:rPr dirty="0" spc="-30">
                <a:solidFill>
                  <a:srgbClr val="4471C4"/>
                </a:solidFill>
              </a:rPr>
              <a:t> </a:t>
            </a:r>
            <a:r>
              <a:rPr dirty="0">
                <a:solidFill>
                  <a:srgbClr val="4471C4"/>
                </a:solidFill>
              </a:rPr>
              <a:t>j);	// </a:t>
            </a:r>
            <a:r>
              <a:rPr dirty="0" spc="-5">
                <a:solidFill>
                  <a:srgbClr val="4471C4"/>
                </a:solidFill>
              </a:rPr>
              <a:t>Function </a:t>
            </a:r>
            <a:r>
              <a:rPr dirty="0">
                <a:solidFill>
                  <a:srgbClr val="4471C4"/>
                </a:solidFill>
              </a:rPr>
              <a:t>Call </a:t>
            </a:r>
            <a:r>
              <a:rPr dirty="0" spc="5">
                <a:solidFill>
                  <a:srgbClr val="4471C4"/>
                </a:solidFill>
              </a:rPr>
              <a:t> </a:t>
            </a:r>
            <a:r>
              <a:rPr dirty="0"/>
              <a:t>printf("The </a:t>
            </a:r>
            <a:r>
              <a:rPr dirty="0" spc="-10"/>
              <a:t>result </a:t>
            </a:r>
            <a:r>
              <a:rPr dirty="0"/>
              <a:t>of multiplication </a:t>
            </a:r>
            <a:r>
              <a:rPr dirty="0" spc="-5"/>
              <a:t>is: </a:t>
            </a:r>
            <a:r>
              <a:rPr dirty="0" spc="-10"/>
              <a:t>%d", result); </a:t>
            </a:r>
            <a:r>
              <a:rPr dirty="0" spc="-585"/>
              <a:t> </a:t>
            </a:r>
            <a:r>
              <a:rPr dirty="0" spc="-10"/>
              <a:t>return</a:t>
            </a:r>
            <a:r>
              <a:rPr dirty="0" spc="-5"/>
              <a:t> </a:t>
            </a:r>
            <a:r>
              <a:rPr dirty="0"/>
              <a:t>0;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46226" y="4587620"/>
            <a:ext cx="3097530" cy="1854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solidFill>
                  <a:srgbClr val="4471C4"/>
                </a:solidFill>
                <a:latin typeface="Times New Roman"/>
                <a:cs typeface="Times New Roman"/>
              </a:rPr>
              <a:t>int</a:t>
            </a:r>
            <a:r>
              <a:rPr dirty="0" sz="2400" spc="-25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4471C4"/>
                </a:solidFill>
                <a:latin typeface="Times New Roman"/>
                <a:cs typeface="Times New Roman"/>
              </a:rPr>
              <a:t>multiply(int</a:t>
            </a:r>
            <a:r>
              <a:rPr dirty="0" sz="2400" spc="-50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4471C4"/>
                </a:solidFill>
                <a:latin typeface="Times New Roman"/>
                <a:cs typeface="Times New Roman"/>
              </a:rPr>
              <a:t>a,</a:t>
            </a:r>
            <a:r>
              <a:rPr dirty="0" sz="2400" spc="-10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4471C4"/>
                </a:solidFill>
                <a:latin typeface="Times New Roman"/>
                <a:cs typeface="Times New Roman"/>
              </a:rPr>
              <a:t>int</a:t>
            </a:r>
            <a:r>
              <a:rPr dirty="0" sz="2400" spc="-10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4471C4"/>
                </a:solidFill>
                <a:latin typeface="Times New Roman"/>
                <a:cs typeface="Times New Roman"/>
              </a:rPr>
              <a:t>b)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dirty="0" sz="2400" spc="-10" b="1">
                <a:latin typeface="Times New Roman"/>
                <a:cs typeface="Times New Roman"/>
              </a:rPr>
              <a:t>return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(a*b);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80635" y="4953380"/>
            <a:ext cx="2768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4471C4"/>
                </a:solidFill>
                <a:latin typeface="Times New Roman"/>
                <a:cs typeface="Times New Roman"/>
              </a:rPr>
              <a:t>//</a:t>
            </a:r>
            <a:r>
              <a:rPr dirty="0" sz="2400" spc="-30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4471C4"/>
                </a:solidFill>
                <a:latin typeface="Times New Roman"/>
                <a:cs typeface="Times New Roman"/>
              </a:rPr>
              <a:t>Function</a:t>
            </a:r>
            <a:r>
              <a:rPr dirty="0" sz="2400" spc="-10" b="1">
                <a:solidFill>
                  <a:srgbClr val="4471C4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4471C4"/>
                </a:solidFill>
                <a:latin typeface="Times New Roman"/>
                <a:cs typeface="Times New Roman"/>
              </a:rPr>
              <a:t>definition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677481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Parameter</a:t>
            </a:r>
            <a:r>
              <a:rPr dirty="0" spc="-70"/>
              <a:t> </a:t>
            </a:r>
            <a:r>
              <a:rPr dirty="0" spc="-5"/>
              <a:t>Passing</a:t>
            </a:r>
            <a:r>
              <a:rPr dirty="0" spc="10"/>
              <a:t> </a:t>
            </a:r>
            <a:r>
              <a:rPr dirty="0" spc="-5"/>
              <a:t>to</a:t>
            </a:r>
            <a:r>
              <a:rPr dirty="0" spc="5"/>
              <a:t> </a:t>
            </a:r>
            <a:r>
              <a:rPr dirty="0" spc="-5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09929"/>
            <a:ext cx="11343640" cy="501459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parameters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passed to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are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called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actual</a:t>
            </a:r>
            <a:r>
              <a:rPr dirty="0" sz="2800" spc="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parameters</a:t>
            </a:r>
            <a:r>
              <a:rPr dirty="0" sz="2800" spc="-5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The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parameters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received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by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are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called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formal</a:t>
            </a:r>
            <a:r>
              <a:rPr dirty="0" sz="2800" spc="10" b="1" i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parameters</a:t>
            </a:r>
            <a:r>
              <a:rPr dirty="0" sz="2800" spc="-5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>
              <a:latin typeface="Times New Roman"/>
              <a:cs typeface="Times New Roman"/>
            </a:endParaRPr>
          </a:p>
          <a:p>
            <a:pPr algn="just" marL="241300" marR="5080" indent="-228600">
              <a:lnSpc>
                <a:spcPts val="302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800" spc="-5" b="1" i="1">
                <a:latin typeface="Times New Roman"/>
                <a:cs typeface="Times New Roman"/>
              </a:rPr>
              <a:t>Pass </a:t>
            </a:r>
            <a:r>
              <a:rPr dirty="0" sz="2800" b="1" i="1">
                <a:latin typeface="Times New Roman"/>
                <a:cs typeface="Times New Roman"/>
              </a:rPr>
              <a:t>by </a:t>
            </a:r>
            <a:r>
              <a:rPr dirty="0" sz="2800" spc="-55" b="1" i="1">
                <a:latin typeface="Times New Roman"/>
                <a:cs typeface="Times New Roman"/>
              </a:rPr>
              <a:t>Value: </a:t>
            </a:r>
            <a:r>
              <a:rPr dirty="0" sz="2800" spc="-5">
                <a:latin typeface="Times New Roman"/>
                <a:cs typeface="Times New Roman"/>
              </a:rPr>
              <a:t>In this parameter passing method, values </a:t>
            </a:r>
            <a:r>
              <a:rPr dirty="0" sz="2800">
                <a:latin typeface="Times New Roman"/>
                <a:cs typeface="Times New Roman"/>
              </a:rPr>
              <a:t>of </a:t>
            </a:r>
            <a:r>
              <a:rPr dirty="0" sz="2800" spc="-5">
                <a:latin typeface="Times New Roman"/>
                <a:cs typeface="Times New Roman"/>
              </a:rPr>
              <a:t>actual parameters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are</a:t>
            </a:r>
            <a:r>
              <a:rPr dirty="0" sz="2800" spc="30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copied</a:t>
            </a:r>
            <a:r>
              <a:rPr dirty="0" sz="2800" spc="3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to</a:t>
            </a:r>
            <a:r>
              <a:rPr dirty="0" sz="2800" spc="320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function’s</a:t>
            </a:r>
            <a:r>
              <a:rPr dirty="0" sz="2800" spc="3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formal</a:t>
            </a:r>
            <a:r>
              <a:rPr dirty="0" sz="2800" spc="3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parameters</a:t>
            </a:r>
            <a:r>
              <a:rPr dirty="0" sz="2800" spc="3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 spc="3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3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two</a:t>
            </a:r>
            <a:r>
              <a:rPr dirty="0" sz="2800" spc="3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types</a:t>
            </a:r>
            <a:r>
              <a:rPr dirty="0" sz="2800" spc="3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3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parameters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are</a:t>
            </a:r>
            <a:r>
              <a:rPr dirty="0" sz="2800">
                <a:latin typeface="Times New Roman"/>
                <a:cs typeface="Times New Roman"/>
              </a:rPr>
              <a:t> stored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different</a:t>
            </a:r>
            <a:r>
              <a:rPr dirty="0" sz="2800" spc="-5">
                <a:latin typeface="Times New Roman"/>
                <a:cs typeface="Times New Roman"/>
              </a:rPr>
              <a:t> memory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locations.</a:t>
            </a:r>
            <a:r>
              <a:rPr dirty="0" sz="2800">
                <a:latin typeface="Times New Roman"/>
                <a:cs typeface="Times New Roman"/>
              </a:rPr>
              <a:t> So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any</a:t>
            </a:r>
            <a:r>
              <a:rPr dirty="0" sz="2800" spc="-5">
                <a:latin typeface="Times New Roman"/>
                <a:cs typeface="Times New Roman"/>
              </a:rPr>
              <a:t> changes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made</a:t>
            </a:r>
            <a:r>
              <a:rPr dirty="0" sz="2800" spc="-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inside 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functions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are not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reflected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actual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parameters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of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caller.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4350">
              <a:latin typeface="Times New Roman"/>
              <a:cs typeface="Times New Roman"/>
            </a:endParaRPr>
          </a:p>
          <a:p>
            <a:pPr algn="just" marL="241300" marR="5080" indent="-228600">
              <a:lnSpc>
                <a:spcPts val="302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800" spc="-5" b="1" i="1">
                <a:latin typeface="Times New Roman"/>
                <a:cs typeface="Times New Roman"/>
              </a:rPr>
              <a:t>Pass </a:t>
            </a:r>
            <a:r>
              <a:rPr dirty="0" sz="2800" b="1" i="1">
                <a:latin typeface="Times New Roman"/>
                <a:cs typeface="Times New Roman"/>
              </a:rPr>
              <a:t>by </a:t>
            </a:r>
            <a:r>
              <a:rPr dirty="0" sz="2800" spc="-5" b="1" i="1">
                <a:latin typeface="Times New Roman"/>
                <a:cs typeface="Times New Roman"/>
              </a:rPr>
              <a:t>Reference </a:t>
            </a:r>
            <a:r>
              <a:rPr dirty="0" sz="2800" spc="-5">
                <a:latin typeface="Times New Roman"/>
                <a:cs typeface="Times New Roman"/>
              </a:rPr>
              <a:t>Both </a:t>
            </a:r>
            <a:r>
              <a:rPr dirty="0" sz="2800" spc="-10">
                <a:latin typeface="Times New Roman"/>
                <a:cs typeface="Times New Roman"/>
              </a:rPr>
              <a:t>actual </a:t>
            </a:r>
            <a:r>
              <a:rPr dirty="0" sz="2800" spc="-5">
                <a:latin typeface="Times New Roman"/>
                <a:cs typeface="Times New Roman"/>
              </a:rPr>
              <a:t>and formal parameters refer to same locations,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so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any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changes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made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inside</a:t>
            </a:r>
            <a:r>
              <a:rPr dirty="0" sz="2800">
                <a:latin typeface="Times New Roman"/>
                <a:cs typeface="Times New Roman"/>
              </a:rPr>
              <a:t> the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are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actually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reflected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actual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parameters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of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caller.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875" y="23240"/>
            <a:ext cx="343789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Pass</a:t>
            </a:r>
            <a:r>
              <a:rPr dirty="0" sz="3200" spc="-20"/>
              <a:t> </a:t>
            </a:r>
            <a:r>
              <a:rPr dirty="0" sz="3200"/>
              <a:t>/</a:t>
            </a:r>
            <a:r>
              <a:rPr dirty="0" sz="3200" spc="-30"/>
              <a:t> </a:t>
            </a:r>
            <a:r>
              <a:rPr dirty="0" sz="3200"/>
              <a:t>Call</a:t>
            </a:r>
            <a:r>
              <a:rPr dirty="0" sz="3200" spc="-20"/>
              <a:t> </a:t>
            </a:r>
            <a:r>
              <a:rPr dirty="0" sz="3200"/>
              <a:t>by</a:t>
            </a:r>
            <a:r>
              <a:rPr dirty="0" sz="3200" spc="-85"/>
              <a:t> </a:t>
            </a:r>
            <a:r>
              <a:rPr dirty="0" sz="3200" spc="-60"/>
              <a:t>Value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60095" y="812418"/>
            <a:ext cx="9189085" cy="2756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void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swap(int</a:t>
            </a:r>
            <a:r>
              <a:rPr dirty="0" sz="2800" spc="2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x,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int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y)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025"/>
              </a:lnSpc>
            </a:pPr>
            <a:r>
              <a:rPr dirty="0" sz="2800" spc="-5" b="1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367665" marR="7016115">
              <a:lnSpc>
                <a:spcPts val="3030"/>
              </a:lnSpc>
              <a:spcBef>
                <a:spcPts val="204"/>
              </a:spcBef>
            </a:pPr>
            <a:r>
              <a:rPr dirty="0" sz="2800" spc="-5" b="1">
                <a:latin typeface="Times New Roman"/>
                <a:cs typeface="Times New Roman"/>
              </a:rPr>
              <a:t>int tmp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=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x; </a:t>
            </a:r>
            <a:r>
              <a:rPr dirty="0" sz="2800" spc="-68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x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=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y;</a:t>
            </a:r>
            <a:endParaRPr sz="2800">
              <a:latin typeface="Times New Roman"/>
              <a:cs typeface="Times New Roman"/>
            </a:endParaRPr>
          </a:p>
          <a:p>
            <a:pPr marL="367665">
              <a:lnSpc>
                <a:spcPts val="2805"/>
              </a:lnSpc>
            </a:pPr>
            <a:r>
              <a:rPr dirty="0" sz="2800" spc="-5" b="1">
                <a:latin typeface="Times New Roman"/>
                <a:cs typeface="Times New Roman"/>
              </a:rPr>
              <a:t>y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=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tmp;</a:t>
            </a:r>
            <a:endParaRPr sz="2800">
              <a:latin typeface="Times New Roman"/>
              <a:cs typeface="Times New Roman"/>
            </a:endParaRPr>
          </a:p>
          <a:p>
            <a:pPr marL="367665">
              <a:lnSpc>
                <a:spcPts val="3025"/>
              </a:lnSpc>
            </a:pPr>
            <a:r>
              <a:rPr dirty="0" sz="2800" spc="-5" b="1">
                <a:latin typeface="Times New Roman"/>
                <a:cs typeface="Times New Roman"/>
              </a:rPr>
              <a:t>printf("Swapped</a:t>
            </a:r>
            <a:r>
              <a:rPr dirty="0" sz="2800" spc="5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values</a:t>
            </a:r>
            <a:r>
              <a:rPr dirty="0" sz="2800" b="1">
                <a:latin typeface="Times New Roman"/>
                <a:cs typeface="Times New Roman"/>
              </a:rPr>
              <a:t> (x,y) evaluate </a:t>
            </a:r>
            <a:r>
              <a:rPr dirty="0" sz="2800" spc="-5" b="1">
                <a:latin typeface="Times New Roman"/>
                <a:cs typeface="Times New Roman"/>
              </a:rPr>
              <a:t>to:</a:t>
            </a:r>
            <a:r>
              <a:rPr dirty="0" sz="2800" spc="2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%d,%d\n",x,y);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190"/>
              </a:lnSpc>
            </a:pPr>
            <a:r>
              <a:rPr dirty="0" sz="2800" spc="-5" b="1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0095" y="3885438"/>
            <a:ext cx="1537335" cy="835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int</a:t>
            </a:r>
            <a:r>
              <a:rPr dirty="0" sz="2800" spc="-5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main()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190"/>
              </a:lnSpc>
            </a:pPr>
            <a:r>
              <a:rPr dirty="0" sz="2800" spc="-5" b="1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5187" y="4653229"/>
            <a:ext cx="9219565" cy="1604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95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int</a:t>
            </a:r>
            <a:r>
              <a:rPr dirty="0" sz="280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m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= </a:t>
            </a:r>
            <a:r>
              <a:rPr dirty="0" sz="2800" b="1">
                <a:latin typeface="Times New Roman"/>
                <a:cs typeface="Times New Roman"/>
              </a:rPr>
              <a:t>6; </a:t>
            </a:r>
            <a:r>
              <a:rPr dirty="0" sz="2800" spc="-5" b="1">
                <a:latin typeface="Times New Roman"/>
                <a:cs typeface="Times New Roman"/>
              </a:rPr>
              <a:t>int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n</a:t>
            </a:r>
            <a:r>
              <a:rPr dirty="0" sz="2800" spc="-1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=</a:t>
            </a:r>
            <a:r>
              <a:rPr dirty="0" sz="2800" b="1">
                <a:latin typeface="Times New Roman"/>
                <a:cs typeface="Times New Roman"/>
              </a:rPr>
              <a:t> 10;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ts val="3020"/>
              </a:lnSpc>
              <a:spcBef>
                <a:spcPts val="220"/>
              </a:spcBef>
            </a:pPr>
            <a:r>
              <a:rPr dirty="0" sz="2800" spc="-10" b="1">
                <a:latin typeface="Times New Roman"/>
                <a:cs typeface="Times New Roman"/>
              </a:rPr>
              <a:t>printf("Before</a:t>
            </a:r>
            <a:r>
              <a:rPr dirty="0" sz="2800" spc="2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swapping</a:t>
            </a:r>
            <a:r>
              <a:rPr dirty="0" sz="2800" spc="35" b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Times New Roman"/>
                <a:cs typeface="Times New Roman"/>
              </a:rPr>
              <a:t>(m,n)</a:t>
            </a:r>
            <a:r>
              <a:rPr dirty="0" sz="2800" spc="3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evaluate </a:t>
            </a:r>
            <a:r>
              <a:rPr dirty="0" sz="2800" b="1">
                <a:latin typeface="Times New Roman"/>
                <a:cs typeface="Times New Roman"/>
              </a:rPr>
              <a:t>to:</a:t>
            </a:r>
            <a:r>
              <a:rPr dirty="0" sz="2800" spc="2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%d,%d\n",m,n); </a:t>
            </a:r>
            <a:r>
              <a:rPr dirty="0" sz="2800" spc="-685" b="1"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swap(m,n);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2985"/>
              </a:lnSpc>
            </a:pPr>
            <a:r>
              <a:rPr dirty="0" sz="2800" spc="-5" b="1">
                <a:latin typeface="Times New Roman"/>
                <a:cs typeface="Times New Roman"/>
              </a:rPr>
              <a:t>printf("After</a:t>
            </a:r>
            <a:r>
              <a:rPr dirty="0" sz="2800" spc="-3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swapping</a:t>
            </a:r>
            <a:r>
              <a:rPr dirty="0" sz="2800" spc="60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m,n</a:t>
            </a:r>
            <a:r>
              <a:rPr dirty="0" sz="2800" spc="1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evaluate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to:</a:t>
            </a:r>
            <a:r>
              <a:rPr dirty="0" sz="2800" spc="25" b="1">
                <a:latin typeface="Times New Roman"/>
                <a:cs typeface="Times New Roman"/>
              </a:rPr>
              <a:t> </a:t>
            </a:r>
            <a:r>
              <a:rPr dirty="0" sz="2800" spc="-5" b="1">
                <a:latin typeface="Times New Roman"/>
                <a:cs typeface="Times New Roman"/>
              </a:rPr>
              <a:t>%d,%d\n",m,n);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0095" y="6189979"/>
            <a:ext cx="1657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22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36130" y="3419297"/>
            <a:ext cx="4750435" cy="1367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Output</a:t>
            </a:r>
            <a:endParaRPr sz="22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2200" spc="-10" b="1">
                <a:solidFill>
                  <a:srgbClr val="FF0000"/>
                </a:solidFill>
                <a:latin typeface="Times New Roman"/>
                <a:cs typeface="Times New Roman"/>
              </a:rPr>
              <a:t>Before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 swapping</a:t>
            </a:r>
            <a:r>
              <a:rPr dirty="0" sz="22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(m,n)</a:t>
            </a:r>
            <a:r>
              <a:rPr dirty="0" sz="2200" spc="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evaluate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to: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6,10 </a:t>
            </a:r>
            <a:r>
              <a:rPr dirty="0" sz="2200" spc="-5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Swapped values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(x,y) 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evaluate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to: 10,6 </a:t>
            </a:r>
            <a:r>
              <a:rPr dirty="0" sz="22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After</a:t>
            </a:r>
            <a:r>
              <a:rPr dirty="0" sz="2200" spc="-3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swapping</a:t>
            </a:r>
            <a:r>
              <a:rPr dirty="0" sz="22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(m,n)</a:t>
            </a:r>
            <a:r>
              <a:rPr dirty="0" sz="2200" spc="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evaluate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to:</a:t>
            </a:r>
            <a:r>
              <a:rPr dirty="0" sz="2200" spc="-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200" b="1">
                <a:solidFill>
                  <a:srgbClr val="FF0000"/>
                </a:solidFill>
                <a:latin typeface="Times New Roman"/>
                <a:cs typeface="Times New Roman"/>
              </a:rPr>
              <a:t>6,10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2897" y="211581"/>
            <a:ext cx="77431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Sample </a:t>
            </a:r>
            <a:r>
              <a:rPr dirty="0" sz="2800" spc="-10"/>
              <a:t>Program</a:t>
            </a:r>
            <a:r>
              <a:rPr dirty="0" sz="2800" spc="5"/>
              <a:t> </a:t>
            </a:r>
            <a:r>
              <a:rPr dirty="0" sz="2800" spc="-5"/>
              <a:t>– </a:t>
            </a:r>
            <a:r>
              <a:rPr dirty="0" sz="2800"/>
              <a:t>find</a:t>
            </a:r>
            <a:r>
              <a:rPr dirty="0" sz="2800" spc="-5"/>
              <a:t> largest element</a:t>
            </a:r>
            <a:r>
              <a:rPr dirty="0" sz="2800" spc="10"/>
              <a:t> </a:t>
            </a:r>
            <a:r>
              <a:rPr dirty="0" sz="2800"/>
              <a:t>of</a:t>
            </a:r>
            <a:r>
              <a:rPr dirty="0" sz="2800" spc="-5"/>
              <a:t> </a:t>
            </a:r>
            <a:r>
              <a:rPr dirty="0" sz="2800"/>
              <a:t>an</a:t>
            </a:r>
            <a:r>
              <a:rPr dirty="0" sz="2800" spc="-15"/>
              <a:t> </a:t>
            </a:r>
            <a:r>
              <a:rPr dirty="0" sz="2800" spc="-5"/>
              <a:t>array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2897" y="1090040"/>
            <a:ext cx="5750560" cy="5513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3794125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#include</a:t>
            </a:r>
            <a:r>
              <a:rPr dirty="0" sz="2000" spc="-5" b="1">
                <a:latin typeface="Times New Roman"/>
                <a:cs typeface="Times New Roman"/>
              </a:rPr>
              <a:t>&lt;</a:t>
            </a:r>
            <a:r>
              <a:rPr dirty="0" sz="2000" b="1">
                <a:latin typeface="Times New Roman"/>
                <a:cs typeface="Times New Roman"/>
              </a:rPr>
              <a:t>std</a:t>
            </a:r>
            <a:r>
              <a:rPr dirty="0" sz="2000" spc="-10" b="1">
                <a:latin typeface="Times New Roman"/>
                <a:cs typeface="Times New Roman"/>
              </a:rPr>
              <a:t>i</a:t>
            </a:r>
            <a:r>
              <a:rPr dirty="0" sz="2000" b="1">
                <a:latin typeface="Times New Roman"/>
                <a:cs typeface="Times New Roman"/>
              </a:rPr>
              <a:t>o.</a:t>
            </a:r>
            <a:r>
              <a:rPr dirty="0" sz="2000" spc="-5" b="1">
                <a:latin typeface="Times New Roman"/>
                <a:cs typeface="Times New Roman"/>
              </a:rPr>
              <a:t>h</a:t>
            </a:r>
            <a:r>
              <a:rPr dirty="0" sz="2000" b="1">
                <a:latin typeface="Times New Roman"/>
                <a:cs typeface="Times New Roman"/>
              </a:rPr>
              <a:t>&gt;  </a:t>
            </a:r>
            <a:r>
              <a:rPr dirty="0" sz="2000" b="1">
                <a:latin typeface="Times New Roman"/>
                <a:cs typeface="Times New Roman"/>
              </a:rPr>
              <a:t>#define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MAX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5" b="1">
                <a:latin typeface="Times New Roman"/>
                <a:cs typeface="Times New Roman"/>
              </a:rPr>
              <a:t>100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309435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int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findMaxElem(int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[]); </a:t>
            </a:r>
            <a:r>
              <a:rPr dirty="0" sz="2000" spc="-48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int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n;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int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main()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26733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int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a[MAX],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mxelem,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5" b="1">
                <a:latin typeface="Times New Roman"/>
                <a:cs typeface="Times New Roman"/>
              </a:rPr>
              <a:t>i;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5" b="1">
                <a:latin typeface="Times New Roman"/>
                <a:cs typeface="Times New Roman"/>
              </a:rPr>
              <a:t>printf(“Input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no.</a:t>
            </a:r>
            <a:r>
              <a:rPr dirty="0" sz="2000" spc="-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elements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 be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5" b="1">
                <a:latin typeface="Times New Roman"/>
                <a:cs typeface="Times New Roman"/>
              </a:rPr>
              <a:t>stored</a:t>
            </a:r>
            <a:endParaRPr sz="2000">
              <a:latin typeface="Times New Roman"/>
              <a:cs typeface="Times New Roman"/>
            </a:endParaRPr>
          </a:p>
          <a:p>
            <a:pPr marL="401383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in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array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: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“);</a:t>
            </a:r>
            <a:endParaRPr sz="2000">
              <a:latin typeface="Times New Roman"/>
              <a:cs typeface="Times New Roman"/>
            </a:endParaRPr>
          </a:p>
          <a:p>
            <a:pPr marL="457834">
              <a:lnSpc>
                <a:spcPct val="100000"/>
              </a:lnSpc>
              <a:spcBef>
                <a:spcPts val="5"/>
              </a:spcBef>
            </a:pPr>
            <a:r>
              <a:rPr dirty="0" sz="2000" spc="-5" b="1">
                <a:latin typeface="Times New Roman"/>
                <a:cs typeface="Times New Roman"/>
              </a:rPr>
              <a:t>scanf(“%d”,</a:t>
            </a:r>
            <a:r>
              <a:rPr dirty="0" sz="2000" spc="-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&amp;n);</a:t>
            </a:r>
            <a:endParaRPr sz="2000">
              <a:latin typeface="Times New Roman"/>
              <a:cs typeface="Times New Roman"/>
            </a:endParaRPr>
          </a:p>
          <a:p>
            <a:pPr marL="457834" marR="5080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printf("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Input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%d</a:t>
            </a:r>
            <a:r>
              <a:rPr dirty="0" sz="2000" spc="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elements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array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:\n",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n); </a:t>
            </a:r>
            <a:r>
              <a:rPr dirty="0" sz="2000" spc="-484" b="1">
                <a:latin typeface="Times New Roman"/>
                <a:cs typeface="Times New Roman"/>
              </a:rPr>
              <a:t> </a:t>
            </a:r>
            <a:r>
              <a:rPr dirty="0" sz="2000" spc="-5" b="1">
                <a:latin typeface="Times New Roman"/>
                <a:cs typeface="Times New Roman"/>
              </a:rPr>
              <a:t>for(i=0;i&lt;n;i++)</a:t>
            </a:r>
            <a:endParaRPr sz="200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308100">
              <a:lnSpc>
                <a:spcPct val="100000"/>
              </a:lnSpc>
            </a:pPr>
            <a:r>
              <a:rPr dirty="0" sz="2000" spc="-5" b="1">
                <a:latin typeface="Times New Roman"/>
                <a:cs typeface="Times New Roman"/>
              </a:rPr>
              <a:t>printf(“Element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-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%d</a:t>
            </a:r>
            <a:r>
              <a:rPr dirty="0" sz="2000" spc="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: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“,i);</a:t>
            </a:r>
            <a:endParaRPr sz="2000">
              <a:latin typeface="Times New Roman"/>
              <a:cs typeface="Times New Roman"/>
            </a:endParaRPr>
          </a:p>
          <a:p>
            <a:pPr marL="1308100">
              <a:lnSpc>
                <a:spcPct val="100000"/>
              </a:lnSpc>
            </a:pPr>
            <a:r>
              <a:rPr dirty="0" sz="2000" spc="-5" b="1">
                <a:latin typeface="Times New Roman"/>
                <a:cs typeface="Times New Roman"/>
              </a:rPr>
              <a:t>scanf(“%d”,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&amp;a[i]);</a:t>
            </a:r>
            <a:endParaRPr sz="2000">
              <a:latin typeface="Times New Roman"/>
              <a:cs typeface="Times New Roman"/>
            </a:endParaRPr>
          </a:p>
          <a:p>
            <a:pPr marL="118173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9791" y="1238503"/>
            <a:ext cx="5641975" cy="5208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mxelem=findMaxElem(a);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printf(“</a:t>
            </a:r>
            <a:r>
              <a:rPr dirty="0" sz="2000" spc="-7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The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largest</a:t>
            </a:r>
            <a:r>
              <a:rPr dirty="0" sz="2000" spc="-3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element</a:t>
            </a:r>
            <a:r>
              <a:rPr dirty="0" sz="2000" spc="-4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in the</a:t>
            </a:r>
            <a:r>
              <a:rPr dirty="0" sz="2000" spc="-3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array</a:t>
            </a:r>
            <a:r>
              <a:rPr dirty="0" sz="2000" spc="-2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is</a:t>
            </a:r>
            <a:r>
              <a:rPr dirty="0" sz="2000" spc="-1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: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 %d\n”,</a:t>
            </a:r>
            <a:endParaRPr sz="2000">
              <a:latin typeface="Times New Roman"/>
              <a:cs typeface="Times New Roman"/>
            </a:endParaRPr>
          </a:p>
          <a:p>
            <a:pPr marL="4394835">
              <a:lnSpc>
                <a:spcPct val="100000"/>
              </a:lnSpc>
            </a:pP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mxelem);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</a:pP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return</a:t>
            </a:r>
            <a:r>
              <a:rPr dirty="0" sz="2000" spc="-6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0;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int</a:t>
            </a:r>
            <a:r>
              <a:rPr dirty="0" sz="2000" spc="-2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findMaxElem(int</a:t>
            </a:r>
            <a:r>
              <a:rPr dirty="0" sz="2000" spc="-4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a[])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266700" marR="3608070">
              <a:lnSpc>
                <a:spcPct val="100000"/>
              </a:lnSpc>
            </a:pP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int</a:t>
            </a:r>
            <a:r>
              <a:rPr dirty="0" sz="2000" spc="-6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i=1,</a:t>
            </a:r>
            <a:r>
              <a:rPr dirty="0" sz="2000" spc="-6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mxelem; </a:t>
            </a:r>
            <a:r>
              <a:rPr dirty="0" sz="2000" spc="-484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mxelem=a[0];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while(i</a:t>
            </a:r>
            <a:r>
              <a:rPr dirty="0" sz="2000" spc="-2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&lt;</a:t>
            </a:r>
            <a:r>
              <a:rPr dirty="0" sz="2000" spc="-2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n)</a:t>
            </a:r>
            <a:endParaRPr sz="20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710565" marR="3479165" indent="-317500">
              <a:lnSpc>
                <a:spcPct val="100000"/>
              </a:lnSpc>
            </a:pP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if(mxelem&lt;a[i])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mxele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m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=a</a:t>
            </a:r>
            <a:r>
              <a:rPr dirty="0" sz="2000" spc="5" b="1">
                <a:solidFill>
                  <a:srgbClr val="00AF50"/>
                </a:solidFill>
                <a:latin typeface="Times New Roman"/>
                <a:cs typeface="Times New Roman"/>
              </a:rPr>
              <a:t>[</a:t>
            </a: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i</a:t>
            </a:r>
            <a:r>
              <a:rPr dirty="0" sz="2000" spc="-10" b="1">
                <a:solidFill>
                  <a:srgbClr val="00AF50"/>
                </a:solidFill>
                <a:latin typeface="Times New Roman"/>
                <a:cs typeface="Times New Roman"/>
              </a:rPr>
              <a:t>];</a:t>
            </a:r>
            <a:endParaRPr sz="20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</a:pP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i++;</a:t>
            </a:r>
            <a:endParaRPr sz="2000">
              <a:latin typeface="Times New Roman"/>
              <a:cs typeface="Times New Roman"/>
            </a:endParaRPr>
          </a:p>
          <a:p>
            <a:pPr marL="266700">
              <a:lnSpc>
                <a:spcPct val="100000"/>
              </a:lnSpc>
            </a:pP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895475" algn="l"/>
              </a:tabLst>
            </a:pPr>
            <a:r>
              <a:rPr dirty="0" sz="2000" spc="-5" b="1">
                <a:solidFill>
                  <a:srgbClr val="00AF50"/>
                </a:solidFill>
                <a:latin typeface="Times New Roman"/>
                <a:cs typeface="Times New Roman"/>
              </a:rPr>
              <a:t>return</a:t>
            </a:r>
            <a:r>
              <a:rPr dirty="0" sz="2000" spc="-15" b="1">
                <a:solidFill>
                  <a:srgbClr val="00AF5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0AF50"/>
                </a:solidFill>
                <a:latin typeface="Times New Roman"/>
                <a:cs typeface="Times New Roman"/>
              </a:rPr>
              <a:t>mxelem;	}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24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1932" y="405384"/>
            <a:ext cx="8516112" cy="59512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875" y="23240"/>
            <a:ext cx="419862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Pass</a:t>
            </a:r>
            <a:r>
              <a:rPr dirty="0" sz="3200" spc="-20"/>
              <a:t> </a:t>
            </a:r>
            <a:r>
              <a:rPr dirty="0" sz="3200"/>
              <a:t>/</a:t>
            </a:r>
            <a:r>
              <a:rPr dirty="0" sz="3200" spc="-30"/>
              <a:t> </a:t>
            </a:r>
            <a:r>
              <a:rPr dirty="0" sz="3200"/>
              <a:t>Call</a:t>
            </a:r>
            <a:r>
              <a:rPr dirty="0" sz="3200" spc="-20"/>
              <a:t> </a:t>
            </a:r>
            <a:r>
              <a:rPr dirty="0" sz="3200"/>
              <a:t>by</a:t>
            </a:r>
            <a:r>
              <a:rPr dirty="0" sz="3200" spc="-25"/>
              <a:t> </a:t>
            </a:r>
            <a:r>
              <a:rPr dirty="0" sz="3200" spc="-5"/>
              <a:t>Reference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260095" y="858138"/>
            <a:ext cx="20256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#include</a:t>
            </a:r>
            <a:r>
              <a:rPr dirty="0" sz="2000" spc="-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&lt;stdio.h&gt;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0095" y="1466215"/>
            <a:ext cx="6313805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06705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void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swap(int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 *x,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int</a:t>
            </a: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*y); </a:t>
            </a:r>
            <a:r>
              <a:rPr dirty="0" sz="2400" spc="-5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int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main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()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40665" marR="457962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int </a:t>
            </a:r>
            <a:r>
              <a:rPr dirty="0" sz="2400" b="1">
                <a:latin typeface="Times New Roman"/>
                <a:cs typeface="Times New Roman"/>
              </a:rPr>
              <a:t>a = 100;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int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b</a:t>
            </a:r>
            <a:r>
              <a:rPr dirty="0" sz="2400" spc="-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4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200;</a:t>
            </a:r>
            <a:endParaRPr sz="24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printf("Before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swap,</a:t>
            </a:r>
            <a:r>
              <a:rPr dirty="0" sz="2400" spc="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value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: </a:t>
            </a:r>
            <a:r>
              <a:rPr dirty="0" sz="2400" spc="-5" b="1">
                <a:latin typeface="Times New Roman"/>
                <a:cs typeface="Times New Roman"/>
              </a:rPr>
              <a:t>%d\n",</a:t>
            </a:r>
            <a:r>
              <a:rPr dirty="0" sz="2400" spc="2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a );</a:t>
            </a:r>
            <a:endParaRPr sz="2400">
              <a:latin typeface="Times New Roman"/>
              <a:cs typeface="Times New Roman"/>
            </a:endParaRPr>
          </a:p>
          <a:p>
            <a:pPr marL="240665">
              <a:lnSpc>
                <a:spcPct val="100000"/>
              </a:lnSpc>
              <a:spcBef>
                <a:spcPts val="5"/>
              </a:spcBef>
            </a:pPr>
            <a:r>
              <a:rPr dirty="0" sz="2400" spc="-5" b="1">
                <a:latin typeface="Times New Roman"/>
                <a:cs typeface="Times New Roman"/>
              </a:rPr>
              <a:t>printf("Before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swap,</a:t>
            </a:r>
            <a:r>
              <a:rPr dirty="0" sz="2400" spc="2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value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5" b="1">
                <a:latin typeface="Times New Roman"/>
                <a:cs typeface="Times New Roman"/>
              </a:rPr>
              <a:t> b</a:t>
            </a:r>
            <a:r>
              <a:rPr dirty="0" sz="2400" b="1">
                <a:latin typeface="Times New Roman"/>
                <a:cs typeface="Times New Roman"/>
              </a:rPr>
              <a:t> :</a:t>
            </a:r>
            <a:r>
              <a:rPr dirty="0" sz="2400" spc="-5" b="1">
                <a:latin typeface="Times New Roman"/>
                <a:cs typeface="Times New Roman"/>
              </a:rPr>
              <a:t> %d\n\n",</a:t>
            </a:r>
            <a:r>
              <a:rPr dirty="0" sz="2400" spc="1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b</a:t>
            </a:r>
            <a:r>
              <a:rPr dirty="0" sz="2400" b="1">
                <a:latin typeface="Times New Roman"/>
                <a:cs typeface="Times New Roman"/>
              </a:rPr>
              <a:t> 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695" y="4392929"/>
            <a:ext cx="197548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swap(&amp;a,</a:t>
            </a:r>
            <a:r>
              <a:rPr dirty="0" sz="2400" spc="-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&amp;b);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695" y="5124703"/>
            <a:ext cx="566229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printf("After </a:t>
            </a:r>
            <a:r>
              <a:rPr dirty="0" sz="2400" spc="-5" b="1">
                <a:latin typeface="Times New Roman"/>
                <a:cs typeface="Times New Roman"/>
              </a:rPr>
              <a:t>swap, </a:t>
            </a:r>
            <a:r>
              <a:rPr dirty="0" sz="2400" b="1">
                <a:latin typeface="Times New Roman"/>
                <a:cs typeface="Times New Roman"/>
              </a:rPr>
              <a:t>value of a : </a:t>
            </a:r>
            <a:r>
              <a:rPr dirty="0" sz="2400" spc="-5" b="1">
                <a:latin typeface="Times New Roman"/>
                <a:cs typeface="Times New Roman"/>
              </a:rPr>
              <a:t>%d\n", </a:t>
            </a:r>
            <a:r>
              <a:rPr dirty="0" sz="2400" b="1">
                <a:latin typeface="Times New Roman"/>
                <a:cs typeface="Times New Roman"/>
              </a:rPr>
              <a:t>a );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printf("After</a:t>
            </a:r>
            <a:r>
              <a:rPr dirty="0" sz="2400" spc="-6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swap,</a:t>
            </a:r>
            <a:r>
              <a:rPr dirty="0" sz="2400" spc="1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value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of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b </a:t>
            </a:r>
            <a:r>
              <a:rPr dirty="0" sz="2400" b="1">
                <a:latin typeface="Times New Roman"/>
                <a:cs typeface="Times New Roman"/>
              </a:rPr>
              <a:t>:</a:t>
            </a:r>
            <a:r>
              <a:rPr dirty="0" sz="2400" spc="-10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%d\n",</a:t>
            </a:r>
            <a:r>
              <a:rPr dirty="0" sz="2400" spc="25" b="1">
                <a:latin typeface="Times New Roman"/>
                <a:cs typeface="Times New Roman"/>
              </a:rPr>
              <a:t> </a:t>
            </a:r>
            <a:r>
              <a:rPr dirty="0" sz="2400" spc="-5" b="1">
                <a:latin typeface="Times New Roman"/>
                <a:cs typeface="Times New Roman"/>
              </a:rPr>
              <a:t>b </a:t>
            </a:r>
            <a:r>
              <a:rPr dirty="0" sz="2400" b="1">
                <a:latin typeface="Times New Roman"/>
                <a:cs typeface="Times New Roman"/>
              </a:rPr>
              <a:t>); </a:t>
            </a:r>
            <a:r>
              <a:rPr dirty="0" sz="2400" spc="-590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return</a:t>
            </a:r>
            <a:r>
              <a:rPr dirty="0" sz="2400" spc="-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0;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095" y="6221984"/>
            <a:ext cx="1460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94726" y="5672124"/>
            <a:ext cx="3585845" cy="9632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After swap,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value of a : 200 </a:t>
            </a:r>
            <a:r>
              <a:rPr dirty="0" sz="2400" spc="-5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After</a:t>
            </a:r>
            <a:r>
              <a:rPr dirty="0" sz="2400" spc="-5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swap,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 value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: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100</a:t>
            </a:r>
            <a:endParaRPr sz="2400">
              <a:latin typeface="Times New Roman"/>
              <a:cs typeface="Times New Roman"/>
            </a:endParaRPr>
          </a:p>
          <a:p>
            <a:pPr algn="r" marR="410209">
              <a:lnSpc>
                <a:spcPct val="100000"/>
              </a:lnSpc>
              <a:spcBef>
                <a:spcPts val="180"/>
              </a:spcBef>
            </a:pPr>
            <a:r>
              <a:rPr dirty="0" sz="1200">
                <a:solidFill>
                  <a:srgbClr val="888888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94726" y="550545"/>
            <a:ext cx="3149600" cy="2952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void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swap(int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 *x,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int</a:t>
            </a:r>
            <a:r>
              <a:rPr dirty="0" sz="24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*y)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5" b="1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int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temp;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temp</a:t>
            </a:r>
            <a:r>
              <a:rPr dirty="0" sz="2400" spc="-4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3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*x;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*x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*y;</a:t>
            </a:r>
            <a:endParaRPr sz="2400">
              <a:latin typeface="Times New Roman"/>
              <a:cs typeface="Times New Roman"/>
            </a:endParaRPr>
          </a:p>
          <a:p>
            <a:pPr marL="241300" marR="1506855">
              <a:lnSpc>
                <a:spcPct val="100000"/>
              </a:lnSpc>
            </a:pPr>
            <a:r>
              <a:rPr dirty="0" sz="2400" b="1">
                <a:latin typeface="Times New Roman"/>
                <a:cs typeface="Times New Roman"/>
              </a:rPr>
              <a:t>*y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50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temp; </a:t>
            </a:r>
            <a:r>
              <a:rPr dirty="0" sz="2400" spc="-585" b="1">
                <a:latin typeface="Times New Roman"/>
                <a:cs typeface="Times New Roman"/>
              </a:rPr>
              <a:t> </a:t>
            </a:r>
            <a:r>
              <a:rPr dirty="0" sz="2400" spc="-10" b="1">
                <a:latin typeface="Times New Roman"/>
                <a:cs typeface="Times New Roman"/>
              </a:rPr>
              <a:t>return;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-5" b="1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94726" y="3843020"/>
            <a:ext cx="9747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Ou</a:t>
            </a:r>
            <a:r>
              <a:rPr dirty="0" sz="2400" b="1">
                <a:solidFill>
                  <a:srgbClr val="00AF50"/>
                </a:solidFill>
                <a:latin typeface="Times New Roman"/>
                <a:cs typeface="Times New Roman"/>
              </a:rPr>
              <a:t>t</a:t>
            </a:r>
            <a:r>
              <a:rPr dirty="0" sz="2400" spc="-5" b="1">
                <a:solidFill>
                  <a:srgbClr val="00AF50"/>
                </a:solidFill>
                <a:latin typeface="Times New Roman"/>
                <a:cs typeface="Times New Roman"/>
              </a:rPr>
              <a:t>put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94726" y="4574794"/>
            <a:ext cx="375412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Before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swap,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value of a : 100 </a:t>
            </a:r>
            <a:r>
              <a:rPr dirty="0" sz="2400" spc="-5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Before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swap,</a:t>
            </a:r>
            <a:r>
              <a:rPr dirty="0" sz="2400" spc="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value</a:t>
            </a:r>
            <a:r>
              <a:rPr dirty="0" sz="24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dirty="0" sz="2400" spc="-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>
                <a:solidFill>
                  <a:srgbClr val="FF0000"/>
                </a:solidFill>
                <a:latin typeface="Times New Roman"/>
                <a:cs typeface="Times New Roman"/>
              </a:rPr>
              <a:t>b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 :</a:t>
            </a:r>
            <a:r>
              <a:rPr dirty="0" sz="24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0000"/>
                </a:solidFill>
                <a:latin typeface="Times New Roman"/>
                <a:cs typeface="Times New Roman"/>
              </a:rPr>
              <a:t>200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595058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FUNCTIONS</a:t>
            </a:r>
            <a:r>
              <a:rPr dirty="0" spc="20"/>
              <a:t> </a:t>
            </a:r>
            <a:r>
              <a:rPr dirty="0" spc="-5"/>
              <a:t>-</a:t>
            </a:r>
            <a:r>
              <a:rPr dirty="0" spc="-225"/>
              <a:t> </a:t>
            </a:r>
            <a:r>
              <a:rPr dirty="0" spc="-5"/>
              <a:t>Advantages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09929"/>
            <a:ext cx="10266045" cy="29673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It </a:t>
            </a:r>
            <a:r>
              <a:rPr dirty="0" sz="2800">
                <a:latin typeface="Times New Roman"/>
                <a:cs typeface="Times New Roman"/>
              </a:rPr>
              <a:t>provides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modularity to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your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program's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structure.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It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makes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your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code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reusable.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In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case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of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15">
                <a:latin typeface="Times New Roman"/>
                <a:cs typeface="Times New Roman"/>
              </a:rPr>
              <a:t>large</a:t>
            </a:r>
            <a:r>
              <a:rPr dirty="0" sz="2800" spc="-5">
                <a:latin typeface="Times New Roman"/>
                <a:cs typeface="Times New Roman"/>
              </a:rPr>
              <a:t> programs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with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thousands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of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code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lines,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debugging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editing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becomes easier if you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use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functions.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It makes</a:t>
            </a:r>
            <a:r>
              <a:rPr dirty="0" sz="2800" spc="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program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more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readable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easy to </a:t>
            </a:r>
            <a:r>
              <a:rPr dirty="0" sz="2800">
                <a:latin typeface="Times New Roman"/>
                <a:cs typeface="Times New Roman"/>
              </a:rPr>
              <a:t>understand.</a:t>
            </a:r>
            <a:endParaRPr sz="2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5">
                <a:latin typeface="Times New Roman"/>
                <a:cs typeface="Times New Roman"/>
              </a:rPr>
              <a:t>It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saves</a:t>
            </a:r>
            <a:r>
              <a:rPr dirty="0" sz="2800" spc="-10">
                <a:latin typeface="Times New Roman"/>
                <a:cs typeface="Times New Roman"/>
              </a:rPr>
              <a:t> time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space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49707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Recursion</a:t>
            </a:r>
            <a:r>
              <a:rPr dirty="0" spc="-40"/>
              <a:t> </a:t>
            </a:r>
            <a:r>
              <a:rPr dirty="0" spc="-5"/>
              <a:t>Functions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805" y="1059307"/>
            <a:ext cx="10857865" cy="518160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725"/>
              </a:spcBef>
            </a:pPr>
            <a:r>
              <a:rPr dirty="0" sz="2600">
                <a:latin typeface="Times New Roman"/>
                <a:cs typeface="Times New Roman"/>
              </a:rPr>
              <a:t>When </a:t>
            </a:r>
            <a:r>
              <a:rPr dirty="0" sz="2600" spc="-5">
                <a:latin typeface="Times New Roman"/>
                <a:cs typeface="Times New Roman"/>
              </a:rPr>
              <a:t>some statement </a:t>
            </a:r>
            <a:r>
              <a:rPr dirty="0" sz="2600">
                <a:latin typeface="Times New Roman"/>
                <a:cs typeface="Times New Roman"/>
              </a:rPr>
              <a:t>in a function </a:t>
            </a:r>
            <a:r>
              <a:rPr dirty="0" sz="2600" spc="-5">
                <a:latin typeface="Times New Roman"/>
                <a:cs typeface="Times New Roman"/>
              </a:rPr>
              <a:t>calls </a:t>
            </a:r>
            <a:r>
              <a:rPr dirty="0" sz="2600">
                <a:latin typeface="Times New Roman"/>
                <a:cs typeface="Times New Roman"/>
              </a:rPr>
              <a:t>the </a:t>
            </a:r>
            <a:r>
              <a:rPr dirty="0" sz="2600" spc="-10">
                <a:latin typeface="Times New Roman"/>
                <a:cs typeface="Times New Roman"/>
              </a:rPr>
              <a:t>same </a:t>
            </a:r>
            <a:r>
              <a:rPr dirty="0" sz="2600">
                <a:latin typeface="Times New Roman"/>
                <a:cs typeface="Times New Roman"/>
              </a:rPr>
              <a:t>function it is in, a </a:t>
            </a:r>
            <a:r>
              <a:rPr dirty="0" sz="2600" spc="-5">
                <a:latin typeface="Times New Roman"/>
                <a:cs typeface="Times New Roman"/>
              </a:rPr>
              <a:t>recursion </a:t>
            </a:r>
            <a:r>
              <a:rPr dirty="0" sz="2600">
                <a:latin typeface="Times New Roman"/>
                <a:cs typeface="Times New Roman"/>
              </a:rPr>
              <a:t>has </a:t>
            </a:r>
            <a:r>
              <a:rPr dirty="0" sz="2600" spc="-6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occurred.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Such</a:t>
            </a:r>
            <a:r>
              <a:rPr dirty="0" sz="2600" spc="-2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a </a:t>
            </a:r>
            <a:r>
              <a:rPr dirty="0" sz="2600" spc="-5">
                <a:latin typeface="Times New Roman"/>
                <a:cs typeface="Times New Roman"/>
              </a:rPr>
              <a:t>function</a:t>
            </a:r>
            <a:r>
              <a:rPr dirty="0" sz="2600" spc="-2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is</a:t>
            </a:r>
            <a:r>
              <a:rPr dirty="0" sz="2600" spc="-5">
                <a:latin typeface="Times New Roman"/>
                <a:cs typeface="Times New Roman"/>
              </a:rPr>
              <a:t> called</a:t>
            </a:r>
            <a:r>
              <a:rPr dirty="0" sz="2600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recursive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function.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600" spc="-85">
                <a:latin typeface="Times New Roman"/>
                <a:cs typeface="Times New Roman"/>
              </a:rPr>
              <a:t>Void</a:t>
            </a:r>
            <a:r>
              <a:rPr dirty="0" sz="2600" spc="-40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fact()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600"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84"/>
              </a:spcBef>
            </a:pPr>
            <a:r>
              <a:rPr dirty="0" sz="2600" spc="-5">
                <a:latin typeface="Times New Roman"/>
                <a:cs typeface="Times New Roman"/>
              </a:rPr>
              <a:t>fact();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2600"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600">
                <a:latin typeface="Times New Roman"/>
                <a:cs typeface="Times New Roman"/>
              </a:rPr>
              <a:t>Int</a:t>
            </a:r>
            <a:r>
              <a:rPr dirty="0" sz="2600" spc="-35">
                <a:latin typeface="Times New Roman"/>
                <a:cs typeface="Times New Roman"/>
              </a:rPr>
              <a:t> </a:t>
            </a:r>
            <a:r>
              <a:rPr dirty="0" sz="2600" spc="-5">
                <a:latin typeface="Times New Roman"/>
                <a:cs typeface="Times New Roman"/>
              </a:rPr>
              <a:t>main()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2600"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370"/>
              </a:spcBef>
            </a:pPr>
            <a:r>
              <a:rPr dirty="0" sz="2600" spc="-5">
                <a:latin typeface="Times New Roman"/>
                <a:cs typeface="Times New Roman"/>
              </a:rPr>
              <a:t>fact();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2600"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26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" y="107696"/>
            <a:ext cx="456882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Recursion</a:t>
            </a:r>
            <a:r>
              <a:rPr dirty="0" spc="-10"/>
              <a:t> </a:t>
            </a:r>
            <a:r>
              <a:rPr dirty="0" spc="-5"/>
              <a:t>-</a:t>
            </a:r>
            <a:r>
              <a:rPr dirty="0" spc="-15"/>
              <a:t> </a:t>
            </a:r>
            <a:r>
              <a:rPr dirty="0" spc="-5"/>
              <a:t>Example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229997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#include</a:t>
            </a:r>
            <a:r>
              <a:rPr dirty="0" spc="-85"/>
              <a:t> </a:t>
            </a:r>
            <a:r>
              <a:rPr dirty="0"/>
              <a:t>&lt;stdio.h&gt; </a:t>
            </a:r>
            <a:r>
              <a:rPr dirty="0" spc="-685"/>
              <a:t> </a:t>
            </a:r>
            <a:r>
              <a:rPr dirty="0"/>
              <a:t>int</a:t>
            </a:r>
            <a:r>
              <a:rPr dirty="0" spc="-15"/>
              <a:t> </a:t>
            </a:r>
            <a:r>
              <a:rPr dirty="0" spc="-5"/>
              <a:t>rect();</a:t>
            </a:r>
          </a:p>
          <a:p>
            <a:pPr marL="12700">
              <a:lnSpc>
                <a:spcPct val="100000"/>
              </a:lnSpc>
            </a:pPr>
            <a:r>
              <a:rPr dirty="0"/>
              <a:t>int</a:t>
            </a:r>
            <a:r>
              <a:rPr dirty="0" spc="-100"/>
              <a:t> </a:t>
            </a:r>
            <a:r>
              <a:rPr dirty="0" spc="-5"/>
              <a:t>main()</a:t>
            </a:r>
          </a:p>
          <a:p>
            <a:pPr marL="12700">
              <a:lnSpc>
                <a:spcPct val="100000"/>
              </a:lnSpc>
            </a:pPr>
            <a:r>
              <a:rPr dirty="0" spc="-5"/>
              <a:t>{</a:t>
            </a:r>
          </a:p>
          <a:p>
            <a:pPr marL="12700">
              <a:lnSpc>
                <a:spcPct val="100000"/>
              </a:lnSpc>
            </a:pPr>
            <a:r>
              <a:rPr dirty="0" spc="-5"/>
              <a:t>int</a:t>
            </a:r>
            <a:r>
              <a:rPr dirty="0" spc="-45"/>
              <a:t> </a:t>
            </a:r>
            <a:r>
              <a:rPr dirty="0" spc="-10"/>
              <a:t>a,</a:t>
            </a:r>
            <a:r>
              <a:rPr dirty="0" spc="-35"/>
              <a:t> </a:t>
            </a:r>
            <a:r>
              <a:rPr dirty="0" spc="-5"/>
              <a:t>fact;</a:t>
            </a:r>
          </a:p>
          <a:p>
            <a:pPr marL="12700" marR="1176655">
              <a:lnSpc>
                <a:spcPct val="100000"/>
              </a:lnSpc>
              <a:spcBef>
                <a:spcPts val="5"/>
              </a:spcBef>
            </a:pPr>
            <a:r>
              <a:rPr dirty="0"/>
              <a:t>printf("Enter</a:t>
            </a:r>
            <a:r>
              <a:rPr dirty="0" spc="-35"/>
              <a:t> </a:t>
            </a:r>
            <a:r>
              <a:rPr dirty="0" spc="-5"/>
              <a:t>a</a:t>
            </a:r>
            <a:r>
              <a:rPr dirty="0" spc="-25"/>
              <a:t> </a:t>
            </a:r>
            <a:r>
              <a:rPr dirty="0" spc="-5"/>
              <a:t>number:</a:t>
            </a:r>
            <a:r>
              <a:rPr dirty="0" spc="-20"/>
              <a:t> </a:t>
            </a:r>
            <a:r>
              <a:rPr dirty="0" spc="-5"/>
              <a:t>"); </a:t>
            </a:r>
            <a:r>
              <a:rPr dirty="0" spc="-685"/>
              <a:t> </a:t>
            </a:r>
            <a:r>
              <a:rPr dirty="0" spc="-5"/>
              <a:t>scanf(“%d”,</a:t>
            </a:r>
            <a:r>
              <a:rPr dirty="0" spc="-15"/>
              <a:t> </a:t>
            </a:r>
            <a:r>
              <a:rPr dirty="0" spc="-5"/>
              <a:t>&amp;a);</a:t>
            </a:r>
          </a:p>
          <a:p>
            <a:pPr marL="12700">
              <a:lnSpc>
                <a:spcPct val="100000"/>
              </a:lnSpc>
            </a:pPr>
            <a:r>
              <a:rPr dirty="0" spc="-5" b="1">
                <a:solidFill>
                  <a:srgbClr val="FF0000"/>
                </a:solidFill>
                <a:latin typeface="Times New Roman"/>
                <a:cs typeface="Times New Roman"/>
              </a:rPr>
              <a:t>fact</a:t>
            </a:r>
            <a:r>
              <a:rPr dirty="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pc="-5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pc="-10" b="1">
                <a:solidFill>
                  <a:srgbClr val="FF0000"/>
                </a:solidFill>
                <a:latin typeface="Times New Roman"/>
                <a:cs typeface="Times New Roman"/>
              </a:rPr>
              <a:t> rect(a);</a:t>
            </a:r>
          </a:p>
          <a:p>
            <a:pPr marL="12700" marR="5080">
              <a:lnSpc>
                <a:spcPct val="100000"/>
              </a:lnSpc>
            </a:pPr>
            <a:r>
              <a:rPr dirty="0" spc="-5"/>
              <a:t>printf(“Factorial</a:t>
            </a:r>
            <a:r>
              <a:rPr dirty="0" spc="-75"/>
              <a:t> </a:t>
            </a:r>
            <a:r>
              <a:rPr dirty="0" spc="-55"/>
              <a:t>Value:</a:t>
            </a:r>
            <a:r>
              <a:rPr dirty="0" spc="5"/>
              <a:t> </a:t>
            </a:r>
            <a:r>
              <a:rPr dirty="0" spc="-5"/>
              <a:t>%d”,</a:t>
            </a:r>
            <a:r>
              <a:rPr dirty="0" spc="5"/>
              <a:t> </a:t>
            </a:r>
            <a:r>
              <a:rPr dirty="0" spc="-5"/>
              <a:t>fact); </a:t>
            </a:r>
            <a:r>
              <a:rPr dirty="0" spc="-685"/>
              <a:t> </a:t>
            </a:r>
            <a:r>
              <a:rPr dirty="0"/>
              <a:t>return 0;</a:t>
            </a:r>
          </a:p>
          <a:p>
            <a:pPr marL="12700">
              <a:lnSpc>
                <a:spcPct val="100000"/>
              </a:lnSpc>
            </a:pPr>
            <a:r>
              <a:rPr dirty="0" spc="-5"/>
              <a:t>}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74891" y="700786"/>
            <a:ext cx="2868295" cy="55733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int</a:t>
            </a:r>
            <a:r>
              <a:rPr dirty="0" sz="28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rect(int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x)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 marR="1631950">
              <a:lnSpc>
                <a:spcPct val="100000"/>
              </a:lnSpc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int f;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if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x=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=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1)</a:t>
            </a:r>
            <a:endParaRPr sz="2800">
              <a:latin typeface="Times New Roman"/>
              <a:cs typeface="Times New Roman"/>
            </a:endParaRPr>
          </a:p>
          <a:p>
            <a:pPr marL="634365">
              <a:lnSpc>
                <a:spcPct val="100000"/>
              </a:lnSpc>
            </a:pPr>
            <a:r>
              <a:rPr dirty="0" sz="2800" spc="-15" b="1">
                <a:solidFill>
                  <a:srgbClr val="FF0000"/>
                </a:solidFill>
                <a:latin typeface="Times New Roman"/>
                <a:cs typeface="Times New Roman"/>
              </a:rPr>
              <a:t>return</a:t>
            </a:r>
            <a:r>
              <a:rPr dirty="0" sz="28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1;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else</a:t>
            </a:r>
            <a:endParaRPr sz="2800">
              <a:latin typeface="Times New Roman"/>
              <a:cs typeface="Times New Roman"/>
            </a:endParaRPr>
          </a:p>
          <a:p>
            <a:pPr marL="546100" marR="42545">
              <a:lnSpc>
                <a:spcPct val="100000"/>
              </a:lnSpc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f = 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x*rect(x-1); </a:t>
            </a:r>
            <a:r>
              <a:rPr dirty="0" sz="2800" spc="-6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0000"/>
                </a:solidFill>
                <a:latin typeface="Times New Roman"/>
                <a:cs typeface="Times New Roman"/>
              </a:rPr>
              <a:t>return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f;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Output:</a:t>
            </a:r>
            <a:endParaRPr sz="28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Enter a number: 4 </a:t>
            </a:r>
            <a:r>
              <a:rPr dirty="0" sz="2800" spc="-6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Factorial</a:t>
            </a:r>
            <a:r>
              <a:rPr dirty="0" sz="28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value:</a:t>
            </a:r>
            <a:r>
              <a:rPr dirty="0" sz="2800" spc="-4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0000"/>
                </a:solidFill>
                <a:latin typeface="Times New Roman"/>
                <a:cs typeface="Times New Roman"/>
              </a:rPr>
              <a:t>24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:title>INTRODUCTION TO C</dc:title>
  <dcterms:created xsi:type="dcterms:W3CDTF">2023-03-15T17:02:19Z</dcterms:created>
  <dcterms:modified xsi:type="dcterms:W3CDTF">2023-03-15T17:02:19Z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2023-03-15T00:00:00Z</vt:filetime>
  </property>
</Properties>
</file>