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7" r:id="rId9"/>
    <p:sldId id="263" r:id="rId10"/>
    <p:sldId id="264" r:id="rId11"/>
    <p:sldId id="266" r:id="rId12"/>
    <p:sldId id="265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142"/>
    <p:restoredTop sz="94694"/>
  </p:normalViewPr>
  <p:slideViewPr>
    <p:cSldViewPr>
      <p:cViewPr varScale="1">
        <p:scale>
          <a:sx n="71" d="100"/>
          <a:sy n="71" d="100"/>
        </p:scale>
        <p:origin x="176" y="125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F2BB7-D73A-4061-ADD6-6C3ABDF0CC3F}" type="datetimeFigureOut">
              <a:rPr lang="en-IN" smtClean="0"/>
              <a:t>07/10/24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E18962-D470-4A35-89B5-9BB227C559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83926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F2BB7-D73A-4061-ADD6-6C3ABDF0CC3F}" type="datetimeFigureOut">
              <a:rPr lang="en-IN" smtClean="0"/>
              <a:t>07/10/24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E18962-D470-4A35-89B5-9BB227C559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20389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F2BB7-D73A-4061-ADD6-6C3ABDF0CC3F}" type="datetimeFigureOut">
              <a:rPr lang="en-IN" smtClean="0"/>
              <a:t>07/10/24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E18962-D470-4A35-89B5-9BB227C559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22908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F2BB7-D73A-4061-ADD6-6C3ABDF0CC3F}" type="datetimeFigureOut">
              <a:rPr lang="en-IN" smtClean="0"/>
              <a:t>07/10/24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E18962-D470-4A35-89B5-9BB227C559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4432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F2BB7-D73A-4061-ADD6-6C3ABDF0CC3F}" type="datetimeFigureOut">
              <a:rPr lang="en-IN" smtClean="0"/>
              <a:t>07/10/24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E18962-D470-4A35-89B5-9BB227C559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791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F2BB7-D73A-4061-ADD6-6C3ABDF0CC3F}" type="datetimeFigureOut">
              <a:rPr lang="en-IN" smtClean="0"/>
              <a:t>07/10/24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E18962-D470-4A35-89B5-9BB227C559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35882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F2BB7-D73A-4061-ADD6-6C3ABDF0CC3F}" type="datetimeFigureOut">
              <a:rPr lang="en-IN" smtClean="0"/>
              <a:t>07/10/24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E18962-D470-4A35-89B5-9BB227C559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41673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F2BB7-D73A-4061-ADD6-6C3ABDF0CC3F}" type="datetimeFigureOut">
              <a:rPr lang="en-IN" smtClean="0"/>
              <a:t>07/10/24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E18962-D470-4A35-89B5-9BB227C559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74383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F2BB7-D73A-4061-ADD6-6C3ABDF0CC3F}" type="datetimeFigureOut">
              <a:rPr lang="en-IN" smtClean="0"/>
              <a:t>07/10/24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E18962-D470-4A35-89B5-9BB227C559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01750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F2BB7-D73A-4061-ADD6-6C3ABDF0CC3F}" type="datetimeFigureOut">
              <a:rPr lang="en-IN" smtClean="0"/>
              <a:t>07/10/24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E18962-D470-4A35-89B5-9BB227C559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91877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F2BB7-D73A-4061-ADD6-6C3ABDF0CC3F}" type="datetimeFigureOut">
              <a:rPr lang="en-IN" smtClean="0"/>
              <a:t>07/10/24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E18962-D470-4A35-89B5-9BB227C559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33568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2F2BB7-D73A-4061-ADD6-6C3ABDF0CC3F}" type="datetimeFigureOut">
              <a:rPr lang="en-IN" smtClean="0"/>
              <a:t>07/10/24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E18962-D470-4A35-89B5-9BB227C559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62455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Constructor-Destructor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41920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395536" y="5796"/>
            <a:ext cx="8229600" cy="686900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Constructor</a:t>
            </a:r>
            <a:endParaRPr lang="en-IN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107504" y="692696"/>
            <a:ext cx="9036496" cy="6165304"/>
          </a:xfrm>
        </p:spPr>
        <p:txBody>
          <a:bodyPr>
            <a:normAutofit/>
          </a:bodyPr>
          <a:lstStyle/>
          <a:p>
            <a:pPr>
              <a:lnSpc>
                <a:spcPct val="170000"/>
              </a:lnSpc>
            </a:pPr>
            <a:r>
              <a:rPr lang="en-IN" sz="2200" dirty="0"/>
              <a:t>It is a member function having same name as it’s class </a:t>
            </a:r>
          </a:p>
          <a:p>
            <a:pPr>
              <a:lnSpc>
                <a:spcPct val="170000"/>
              </a:lnSpc>
            </a:pPr>
            <a:r>
              <a:rPr lang="en-IN" sz="2200" dirty="0"/>
              <a:t>It is used to initialize the objects of that class type with a legal initial value. </a:t>
            </a:r>
          </a:p>
          <a:p>
            <a:pPr>
              <a:lnSpc>
                <a:spcPct val="170000"/>
              </a:lnSpc>
            </a:pPr>
            <a:r>
              <a:rPr lang="en-IN" sz="2200" dirty="0"/>
              <a:t>Constructor is automatically called/invoked when object is created.</a:t>
            </a:r>
          </a:p>
          <a:p>
            <a:pPr>
              <a:lnSpc>
                <a:spcPct val="170000"/>
              </a:lnSpc>
            </a:pPr>
            <a:r>
              <a:rPr lang="en-IN" sz="2200" dirty="0"/>
              <a:t>They should be declared in the public section.</a:t>
            </a:r>
          </a:p>
          <a:p>
            <a:pPr>
              <a:lnSpc>
                <a:spcPct val="170000"/>
              </a:lnSpc>
            </a:pPr>
            <a:r>
              <a:rPr lang="en-IN" sz="2200" dirty="0"/>
              <a:t>They do not have any return type.</a:t>
            </a:r>
          </a:p>
          <a:p>
            <a:pPr>
              <a:lnSpc>
                <a:spcPct val="170000"/>
              </a:lnSpc>
            </a:pPr>
            <a:r>
              <a:rPr lang="en-IN" sz="2200" b="1" dirty="0"/>
              <a:t>Types of Constructors</a:t>
            </a:r>
          </a:p>
          <a:p>
            <a:pPr lvl="1">
              <a:lnSpc>
                <a:spcPct val="170000"/>
              </a:lnSpc>
            </a:pPr>
            <a:r>
              <a:rPr lang="en-IN" sz="2200" dirty="0"/>
              <a:t>Default Constructor</a:t>
            </a:r>
          </a:p>
          <a:p>
            <a:pPr lvl="1">
              <a:lnSpc>
                <a:spcPct val="170000"/>
              </a:lnSpc>
            </a:pPr>
            <a:r>
              <a:rPr lang="en-IN" sz="2200" dirty="0"/>
              <a:t>Parametrized Constructor</a:t>
            </a:r>
          </a:p>
          <a:p>
            <a:pPr lvl="1">
              <a:lnSpc>
                <a:spcPct val="170000"/>
              </a:lnSpc>
            </a:pPr>
            <a:r>
              <a:rPr lang="en-IN" sz="2200" dirty="0"/>
              <a:t>Copy Constructor</a:t>
            </a:r>
          </a:p>
          <a:p>
            <a:endParaRPr lang="en-IN" sz="2200" dirty="0"/>
          </a:p>
          <a:p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24464028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36712"/>
          </a:xfrm>
        </p:spPr>
        <p:txBody>
          <a:bodyPr>
            <a:normAutofit/>
          </a:bodyPr>
          <a:lstStyle/>
          <a:p>
            <a:pPr lvl="1" algn="ctr" rtl="0">
              <a:spcBef>
                <a:spcPct val="0"/>
              </a:spcBef>
            </a:pPr>
            <a:r>
              <a:rPr lang="en-IN" sz="3600" dirty="0"/>
              <a:t>Default Constructor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929411"/>
          </a:xfrm>
        </p:spPr>
        <p:txBody>
          <a:bodyPr/>
          <a:lstStyle/>
          <a:p>
            <a:r>
              <a:rPr lang="en-IN" dirty="0"/>
              <a:t>A constructor that accepts no parameters is known as default constructor.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Circle()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{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    radius = 0;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935134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94122"/>
          </a:xfrm>
        </p:spPr>
        <p:txBody>
          <a:bodyPr/>
          <a:lstStyle/>
          <a:p>
            <a:r>
              <a:rPr lang="en-IN" dirty="0"/>
              <a:t>Default constructor -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4784"/>
            <a:ext cx="4038600" cy="511256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dirty="0"/>
              <a:t>#include&lt;</a:t>
            </a:r>
            <a:r>
              <a:rPr lang="en-IN" dirty="0" err="1"/>
              <a:t>iostream</a:t>
            </a:r>
            <a:r>
              <a:rPr lang="en-IN" dirty="0"/>
              <a:t>&gt;</a:t>
            </a:r>
          </a:p>
          <a:p>
            <a:pPr marL="0" indent="0">
              <a:buNone/>
            </a:pPr>
            <a:r>
              <a:rPr lang="en-IN" dirty="0"/>
              <a:t>using namespace </a:t>
            </a:r>
            <a:r>
              <a:rPr lang="en-IN" dirty="0" err="1"/>
              <a:t>std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class Marks</a:t>
            </a:r>
          </a:p>
          <a:p>
            <a:pPr marL="0" indent="0">
              <a:buNone/>
            </a:pPr>
            <a:r>
              <a:rPr lang="en-IN" dirty="0"/>
              <a:t>{</a:t>
            </a:r>
          </a:p>
          <a:p>
            <a:pPr marL="0" indent="0">
              <a:buNone/>
            </a:pPr>
            <a:r>
              <a:rPr lang="en-IN" dirty="0"/>
              <a:t>public:</a:t>
            </a:r>
          </a:p>
          <a:p>
            <a:pPr marL="0" indent="0">
              <a:buNone/>
            </a:pPr>
            <a:r>
              <a:rPr lang="en-IN" dirty="0"/>
              <a:t>   </a:t>
            </a:r>
            <a:r>
              <a:rPr lang="en-IN" dirty="0" err="1"/>
              <a:t>int</a:t>
            </a:r>
            <a:r>
              <a:rPr lang="en-IN" dirty="0"/>
              <a:t> maths;</a:t>
            </a:r>
          </a:p>
          <a:p>
            <a:pPr marL="0" indent="0">
              <a:buNone/>
            </a:pPr>
            <a:r>
              <a:rPr lang="en-IN" dirty="0"/>
              <a:t>   </a:t>
            </a:r>
            <a:r>
              <a:rPr lang="en-IN" dirty="0" err="1"/>
              <a:t>int</a:t>
            </a:r>
            <a:r>
              <a:rPr lang="en-IN" dirty="0"/>
              <a:t> science;</a:t>
            </a:r>
          </a:p>
          <a:p>
            <a:pPr marL="0" indent="0">
              <a:buNone/>
            </a:pPr>
            <a:r>
              <a:rPr lang="en-IN" dirty="0"/>
              <a:t>      </a:t>
            </a:r>
          </a:p>
          <a:p>
            <a:pPr marL="0" indent="0">
              <a:buNone/>
            </a:pPr>
            <a:r>
              <a:rPr lang="en-IN" dirty="0"/>
              <a:t>   </a:t>
            </a:r>
            <a:r>
              <a:rPr lang="en-IN" dirty="0">
                <a:solidFill>
                  <a:srgbClr val="FF0000"/>
                </a:solidFill>
              </a:rPr>
              <a:t>Marks() 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{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      maths=0;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      science=0;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   }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23928" y="1412776"/>
            <a:ext cx="5220072" cy="544522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300" dirty="0"/>
              <a:t> void display() </a:t>
            </a:r>
          </a:p>
          <a:p>
            <a:pPr marL="0" indent="0">
              <a:buNone/>
            </a:pPr>
            <a:r>
              <a:rPr lang="en-IN" sz="2300" dirty="0"/>
              <a:t>   {</a:t>
            </a:r>
          </a:p>
          <a:p>
            <a:pPr marL="0" indent="0">
              <a:buNone/>
            </a:pPr>
            <a:r>
              <a:rPr lang="en-IN" sz="2300" dirty="0"/>
              <a:t>      </a:t>
            </a:r>
            <a:r>
              <a:rPr lang="en-IN" sz="2300" dirty="0" err="1"/>
              <a:t>cout</a:t>
            </a:r>
            <a:r>
              <a:rPr lang="en-IN" sz="2300" dirty="0"/>
              <a:t> &lt;&lt; "Maths :  " &lt;&lt; maths &lt;&lt;</a:t>
            </a:r>
            <a:r>
              <a:rPr lang="en-IN" sz="2300" dirty="0" err="1"/>
              <a:t>endl</a:t>
            </a:r>
            <a:r>
              <a:rPr lang="en-IN" sz="2300" dirty="0"/>
              <a:t>;</a:t>
            </a:r>
          </a:p>
          <a:p>
            <a:pPr marL="0" indent="0">
              <a:buNone/>
            </a:pPr>
            <a:r>
              <a:rPr lang="en-IN" sz="2300" dirty="0"/>
              <a:t>      </a:t>
            </a:r>
            <a:r>
              <a:rPr lang="en-IN" sz="2300" dirty="0" err="1"/>
              <a:t>cout</a:t>
            </a:r>
            <a:r>
              <a:rPr lang="en-IN" sz="2300" dirty="0"/>
              <a:t> &lt;&lt; "Science :" &lt;&lt; science &lt;&lt; </a:t>
            </a:r>
            <a:r>
              <a:rPr lang="en-IN" sz="2300" dirty="0" err="1"/>
              <a:t>endl</a:t>
            </a:r>
            <a:r>
              <a:rPr lang="en-IN" sz="2300" dirty="0"/>
              <a:t>;</a:t>
            </a:r>
          </a:p>
          <a:p>
            <a:pPr marL="0" indent="0">
              <a:buNone/>
            </a:pPr>
            <a:r>
              <a:rPr lang="en-IN" sz="2300" dirty="0"/>
              <a:t>   }</a:t>
            </a:r>
          </a:p>
          <a:p>
            <a:pPr marL="0" indent="0">
              <a:buNone/>
            </a:pPr>
            <a:r>
              <a:rPr lang="en-IN" sz="2300" dirty="0"/>
              <a:t>};</a:t>
            </a:r>
          </a:p>
          <a:p>
            <a:pPr marL="0" indent="0">
              <a:buNone/>
            </a:pPr>
            <a:r>
              <a:rPr lang="en-IN" sz="2300" dirty="0"/>
              <a:t>   </a:t>
            </a:r>
            <a:r>
              <a:rPr lang="en-IN" sz="2300" dirty="0" err="1"/>
              <a:t>int</a:t>
            </a:r>
            <a:r>
              <a:rPr lang="en-IN" sz="2300" dirty="0"/>
              <a:t> main() </a:t>
            </a:r>
          </a:p>
          <a:p>
            <a:pPr marL="0" indent="0">
              <a:buNone/>
            </a:pPr>
            <a:r>
              <a:rPr lang="en-IN" sz="2300" dirty="0"/>
              <a:t>{</a:t>
            </a:r>
          </a:p>
          <a:p>
            <a:pPr marL="0" indent="0">
              <a:buNone/>
            </a:pPr>
            <a:r>
              <a:rPr lang="en-IN" sz="2300" dirty="0"/>
              <a:t>   </a:t>
            </a:r>
            <a:r>
              <a:rPr lang="en-IN" sz="2300" dirty="0">
                <a:solidFill>
                  <a:srgbClr val="00B050"/>
                </a:solidFill>
              </a:rPr>
              <a:t>Marks m;</a:t>
            </a:r>
          </a:p>
          <a:p>
            <a:pPr marL="0" indent="0">
              <a:buNone/>
            </a:pPr>
            <a:r>
              <a:rPr lang="en-IN" sz="2300" dirty="0"/>
              <a:t>   </a:t>
            </a:r>
            <a:r>
              <a:rPr lang="en-IN" sz="2300" dirty="0" err="1"/>
              <a:t>m.display</a:t>
            </a:r>
            <a:r>
              <a:rPr lang="en-IN" sz="2300" dirty="0"/>
              <a:t>();</a:t>
            </a:r>
          </a:p>
          <a:p>
            <a:pPr marL="0" indent="0">
              <a:buNone/>
            </a:pPr>
            <a:r>
              <a:rPr lang="en-IN" sz="2300" dirty="0"/>
              <a:t>   return 0;</a:t>
            </a:r>
          </a:p>
          <a:p>
            <a:pPr marL="0" indent="0">
              <a:buNone/>
            </a:pPr>
            <a:r>
              <a:rPr lang="en-IN" sz="23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6145681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36712"/>
          </a:xfrm>
        </p:spPr>
        <p:txBody>
          <a:bodyPr>
            <a:normAutofit/>
          </a:bodyPr>
          <a:lstStyle/>
          <a:p>
            <a:pPr lvl="1" algn="ctr" rtl="0">
              <a:spcBef>
                <a:spcPct val="0"/>
              </a:spcBef>
            </a:pPr>
            <a:r>
              <a:rPr lang="en-IN" sz="3600" dirty="0"/>
              <a:t>Parameterized Constructor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196752"/>
            <a:ext cx="8712968" cy="4929411"/>
          </a:xfrm>
        </p:spPr>
        <p:txBody>
          <a:bodyPr/>
          <a:lstStyle/>
          <a:p>
            <a:r>
              <a:rPr lang="en-IN" dirty="0"/>
              <a:t>A constructor that receives arguments/parameters, is called parameterized constructor.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Circle(double r) 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{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 radius = r;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 }</a:t>
            </a:r>
          </a:p>
        </p:txBody>
      </p:sp>
    </p:spTree>
    <p:extLst>
      <p:ext uri="{BB962C8B-B14F-4D97-AF65-F5344CB8AC3E}">
        <p14:creationId xmlns:p14="http://schemas.microsoft.com/office/powerpoint/2010/main" val="42503459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94122"/>
          </a:xfrm>
        </p:spPr>
        <p:txBody>
          <a:bodyPr>
            <a:normAutofit fontScale="90000"/>
          </a:bodyPr>
          <a:lstStyle/>
          <a:p>
            <a:r>
              <a:rPr lang="en-IN" dirty="0"/>
              <a:t>Parameterized constructor -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0" y="1484784"/>
            <a:ext cx="4038600" cy="511256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300" dirty="0"/>
              <a:t>#include&lt;</a:t>
            </a:r>
            <a:r>
              <a:rPr lang="en-IN" sz="2300" dirty="0" err="1"/>
              <a:t>iostream</a:t>
            </a:r>
            <a:r>
              <a:rPr lang="en-IN" sz="2300" dirty="0"/>
              <a:t>&gt;</a:t>
            </a:r>
          </a:p>
          <a:p>
            <a:pPr marL="0" indent="0">
              <a:buNone/>
            </a:pPr>
            <a:r>
              <a:rPr lang="en-IN" sz="2300" dirty="0"/>
              <a:t>using namespace </a:t>
            </a:r>
            <a:r>
              <a:rPr lang="en-IN" sz="2300" dirty="0" err="1"/>
              <a:t>std</a:t>
            </a:r>
            <a:r>
              <a:rPr lang="en-IN" sz="2300" dirty="0"/>
              <a:t>;</a:t>
            </a:r>
          </a:p>
          <a:p>
            <a:pPr marL="0" indent="0">
              <a:buNone/>
            </a:pPr>
            <a:r>
              <a:rPr lang="en-IN" sz="2300" dirty="0"/>
              <a:t> class Marks</a:t>
            </a:r>
          </a:p>
          <a:p>
            <a:pPr marL="0" indent="0">
              <a:buNone/>
            </a:pPr>
            <a:r>
              <a:rPr lang="en-IN" sz="2300" dirty="0"/>
              <a:t>{</a:t>
            </a:r>
          </a:p>
          <a:p>
            <a:pPr marL="0" indent="0">
              <a:buNone/>
            </a:pPr>
            <a:r>
              <a:rPr lang="en-IN" sz="2300" dirty="0"/>
              <a:t>public:</a:t>
            </a:r>
          </a:p>
          <a:p>
            <a:pPr marL="0" indent="0">
              <a:buNone/>
            </a:pPr>
            <a:r>
              <a:rPr lang="en-IN" sz="2300" dirty="0"/>
              <a:t>   </a:t>
            </a:r>
            <a:r>
              <a:rPr lang="en-IN" sz="2300" dirty="0" err="1"/>
              <a:t>int</a:t>
            </a:r>
            <a:r>
              <a:rPr lang="en-IN" sz="2300" dirty="0"/>
              <a:t> maths;</a:t>
            </a:r>
          </a:p>
          <a:p>
            <a:pPr marL="0" indent="0">
              <a:buNone/>
            </a:pPr>
            <a:r>
              <a:rPr lang="en-IN" sz="2300" dirty="0"/>
              <a:t>   </a:t>
            </a:r>
            <a:r>
              <a:rPr lang="en-IN" sz="2300" dirty="0" err="1"/>
              <a:t>int</a:t>
            </a:r>
            <a:r>
              <a:rPr lang="en-IN" sz="2300" dirty="0"/>
              <a:t> science;</a:t>
            </a:r>
          </a:p>
          <a:p>
            <a:pPr marL="0" indent="0">
              <a:buNone/>
            </a:pPr>
            <a:r>
              <a:rPr lang="en-IN" sz="2300" dirty="0"/>
              <a:t>   </a:t>
            </a:r>
            <a:r>
              <a:rPr lang="en-IN" sz="2300" dirty="0">
                <a:solidFill>
                  <a:srgbClr val="FF0000"/>
                </a:solidFill>
              </a:rPr>
              <a:t>Marks(</a:t>
            </a:r>
            <a:r>
              <a:rPr lang="en-IN" sz="2300" dirty="0" err="1">
                <a:solidFill>
                  <a:srgbClr val="FF0000"/>
                </a:solidFill>
              </a:rPr>
              <a:t>int</a:t>
            </a:r>
            <a:r>
              <a:rPr lang="en-IN" sz="2300" dirty="0">
                <a:solidFill>
                  <a:srgbClr val="FF0000"/>
                </a:solidFill>
              </a:rPr>
              <a:t> mark1,int mark2) </a:t>
            </a:r>
          </a:p>
          <a:p>
            <a:pPr marL="0" indent="0">
              <a:buNone/>
            </a:pPr>
            <a:r>
              <a:rPr lang="en-IN" sz="2300" dirty="0">
                <a:solidFill>
                  <a:srgbClr val="FF0000"/>
                </a:solidFill>
              </a:rPr>
              <a:t>   {</a:t>
            </a:r>
          </a:p>
          <a:p>
            <a:pPr marL="0" indent="0">
              <a:buNone/>
            </a:pPr>
            <a:r>
              <a:rPr lang="en-IN" sz="2300" dirty="0">
                <a:solidFill>
                  <a:srgbClr val="FF0000"/>
                </a:solidFill>
              </a:rPr>
              <a:t>      maths = mark1;</a:t>
            </a:r>
          </a:p>
          <a:p>
            <a:pPr marL="0" indent="0">
              <a:buNone/>
            </a:pPr>
            <a:r>
              <a:rPr lang="en-IN" sz="2300" dirty="0">
                <a:solidFill>
                  <a:srgbClr val="FF0000"/>
                </a:solidFill>
              </a:rPr>
              <a:t>      science = mark2;</a:t>
            </a:r>
          </a:p>
          <a:p>
            <a:pPr marL="0" indent="0">
              <a:buNone/>
            </a:pPr>
            <a:r>
              <a:rPr lang="en-IN" sz="2300" dirty="0">
                <a:solidFill>
                  <a:srgbClr val="FF0000"/>
                </a:solidFill>
              </a:rPr>
              <a:t>   }</a:t>
            </a:r>
          </a:p>
          <a:p>
            <a:pPr marL="0" indent="0">
              <a:buNone/>
            </a:pPr>
            <a:r>
              <a:rPr lang="en-IN" sz="2300" dirty="0"/>
              <a:t> </a:t>
            </a:r>
          </a:p>
          <a:p>
            <a:pPr marL="0" indent="0">
              <a:buNone/>
            </a:pPr>
            <a:endParaRPr lang="en-IN" sz="230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23928" y="1412776"/>
            <a:ext cx="5220072" cy="544522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300" dirty="0"/>
              <a:t>  void display() {</a:t>
            </a:r>
          </a:p>
          <a:p>
            <a:pPr marL="0" indent="0">
              <a:buNone/>
            </a:pPr>
            <a:r>
              <a:rPr lang="en-IN" sz="2300" dirty="0"/>
              <a:t>      </a:t>
            </a:r>
            <a:r>
              <a:rPr lang="en-IN" sz="2300" dirty="0" err="1"/>
              <a:t>cout</a:t>
            </a:r>
            <a:r>
              <a:rPr lang="en-IN" sz="2300" dirty="0"/>
              <a:t> &lt;&lt; "Maths :  " &lt;&lt; maths &lt;&lt;</a:t>
            </a:r>
            <a:r>
              <a:rPr lang="en-IN" sz="2300" dirty="0" err="1"/>
              <a:t>endl</a:t>
            </a:r>
            <a:r>
              <a:rPr lang="en-IN" sz="2300" dirty="0"/>
              <a:t>;</a:t>
            </a:r>
          </a:p>
          <a:p>
            <a:pPr marL="0" indent="0">
              <a:buNone/>
            </a:pPr>
            <a:r>
              <a:rPr lang="en-IN" sz="2300" dirty="0"/>
              <a:t>      </a:t>
            </a:r>
            <a:r>
              <a:rPr lang="en-IN" sz="2300" dirty="0" err="1"/>
              <a:t>cout</a:t>
            </a:r>
            <a:r>
              <a:rPr lang="en-IN" sz="2300" dirty="0"/>
              <a:t> &lt;&lt; "Science :" &lt;&lt; science &lt;&lt; </a:t>
            </a:r>
            <a:r>
              <a:rPr lang="en-IN" sz="2300" dirty="0" err="1"/>
              <a:t>endl</a:t>
            </a:r>
            <a:r>
              <a:rPr lang="en-IN" sz="2300" dirty="0"/>
              <a:t>;</a:t>
            </a:r>
          </a:p>
          <a:p>
            <a:pPr marL="0" indent="0">
              <a:buNone/>
            </a:pPr>
            <a:r>
              <a:rPr lang="en-IN" sz="2300" dirty="0"/>
              <a:t>   }</a:t>
            </a:r>
          </a:p>
          <a:p>
            <a:pPr marL="0" indent="0">
              <a:buNone/>
            </a:pPr>
            <a:r>
              <a:rPr lang="en-IN" sz="2300" dirty="0"/>
              <a:t>};</a:t>
            </a:r>
          </a:p>
          <a:p>
            <a:pPr marL="0" indent="0">
              <a:buNone/>
            </a:pPr>
            <a:r>
              <a:rPr lang="en-IN" sz="2300" dirty="0"/>
              <a:t>   </a:t>
            </a:r>
          </a:p>
          <a:p>
            <a:pPr marL="0" indent="0">
              <a:buNone/>
            </a:pPr>
            <a:r>
              <a:rPr lang="en-IN" sz="2300" dirty="0" err="1"/>
              <a:t>int</a:t>
            </a:r>
            <a:r>
              <a:rPr lang="en-IN" sz="2300" dirty="0"/>
              <a:t> main() {</a:t>
            </a:r>
          </a:p>
          <a:p>
            <a:pPr marL="0" indent="0">
              <a:buNone/>
            </a:pPr>
            <a:r>
              <a:rPr lang="en-IN" sz="2300" dirty="0"/>
              <a:t>  </a:t>
            </a:r>
          </a:p>
          <a:p>
            <a:pPr marL="0" indent="0">
              <a:buNone/>
            </a:pPr>
            <a:r>
              <a:rPr lang="en-IN" sz="2300" dirty="0"/>
              <a:t>  </a:t>
            </a:r>
            <a:r>
              <a:rPr lang="en-IN" sz="2300" dirty="0">
                <a:solidFill>
                  <a:srgbClr val="00B050"/>
                </a:solidFill>
              </a:rPr>
              <a:t>Marks m(90,85);</a:t>
            </a:r>
          </a:p>
          <a:p>
            <a:pPr marL="0" indent="0">
              <a:buNone/>
            </a:pPr>
            <a:r>
              <a:rPr lang="en-IN" sz="2300" dirty="0"/>
              <a:t>  </a:t>
            </a:r>
            <a:r>
              <a:rPr lang="en-IN" sz="2300" dirty="0" err="1"/>
              <a:t>m.display</a:t>
            </a:r>
            <a:r>
              <a:rPr lang="en-IN" sz="2300" dirty="0"/>
              <a:t>();</a:t>
            </a:r>
          </a:p>
          <a:p>
            <a:pPr marL="0" indent="0">
              <a:buNone/>
            </a:pPr>
            <a:r>
              <a:rPr lang="en-IN" sz="2300" dirty="0"/>
              <a:t>  return 0;</a:t>
            </a:r>
          </a:p>
          <a:p>
            <a:pPr marL="0" indent="0">
              <a:buNone/>
            </a:pPr>
            <a:r>
              <a:rPr lang="en-IN" sz="23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9248996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36712"/>
          </a:xfrm>
        </p:spPr>
        <p:txBody>
          <a:bodyPr>
            <a:normAutofit/>
          </a:bodyPr>
          <a:lstStyle/>
          <a:p>
            <a:pPr lvl="1" algn="ctr" rtl="0">
              <a:spcBef>
                <a:spcPct val="0"/>
              </a:spcBef>
            </a:pPr>
            <a:r>
              <a:rPr lang="en-IN" sz="3600" dirty="0"/>
              <a:t>Copy Constructor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196752"/>
            <a:ext cx="8712968" cy="4929411"/>
          </a:xfrm>
        </p:spPr>
        <p:txBody>
          <a:bodyPr>
            <a:normAutofit lnSpcReduction="10000"/>
          </a:bodyPr>
          <a:lstStyle/>
          <a:p>
            <a:r>
              <a:rPr lang="en-IN" dirty="0"/>
              <a:t>A constructor that initializes an object using values of another object passed to it as parameter, is called copy constructor. It creates the copy of the passed object.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Circle(Circle &amp;t)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 {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 radius = t.radius;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 }</a:t>
            </a:r>
          </a:p>
        </p:txBody>
      </p:sp>
    </p:spTree>
    <p:extLst>
      <p:ext uri="{BB962C8B-B14F-4D97-AF65-F5344CB8AC3E}">
        <p14:creationId xmlns:p14="http://schemas.microsoft.com/office/powerpoint/2010/main" val="31478568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648072"/>
          </a:xfrm>
        </p:spPr>
        <p:txBody>
          <a:bodyPr>
            <a:normAutofit fontScale="90000"/>
          </a:bodyPr>
          <a:lstStyle/>
          <a:p>
            <a:r>
              <a:rPr lang="en-IN" dirty="0"/>
              <a:t>Copy constructor -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0201" y="548539"/>
            <a:ext cx="4506144" cy="6336704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dirty="0"/>
              <a:t>#include&lt;</a:t>
            </a:r>
            <a:r>
              <a:rPr lang="en-IN" dirty="0" err="1"/>
              <a:t>iostream</a:t>
            </a:r>
            <a:r>
              <a:rPr lang="en-IN" dirty="0"/>
              <a:t>&gt;</a:t>
            </a:r>
          </a:p>
          <a:p>
            <a:pPr marL="0" indent="0">
              <a:buNone/>
            </a:pPr>
            <a:r>
              <a:rPr lang="en-IN" dirty="0"/>
              <a:t>using namespace </a:t>
            </a:r>
            <a:r>
              <a:rPr lang="en-IN" dirty="0" err="1"/>
              <a:t>std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class Marks</a:t>
            </a:r>
          </a:p>
          <a:p>
            <a:pPr marL="0" indent="0">
              <a:buNone/>
            </a:pPr>
            <a:r>
              <a:rPr lang="en-IN" dirty="0"/>
              <a:t>{</a:t>
            </a:r>
          </a:p>
          <a:p>
            <a:pPr marL="0" indent="0">
              <a:buNone/>
            </a:pPr>
            <a:r>
              <a:rPr lang="en-IN" dirty="0"/>
              <a:t>public:</a:t>
            </a:r>
          </a:p>
          <a:p>
            <a:pPr marL="0" indent="0">
              <a:buNone/>
            </a:pPr>
            <a:r>
              <a:rPr lang="en-IN" dirty="0"/>
              <a:t>   </a:t>
            </a:r>
            <a:r>
              <a:rPr lang="en-IN" dirty="0" err="1"/>
              <a:t>int</a:t>
            </a:r>
            <a:r>
              <a:rPr lang="en-IN" dirty="0"/>
              <a:t> maths;</a:t>
            </a:r>
          </a:p>
          <a:p>
            <a:pPr marL="0" indent="0">
              <a:buNone/>
            </a:pPr>
            <a:r>
              <a:rPr lang="en-IN" dirty="0"/>
              <a:t>   </a:t>
            </a:r>
            <a:r>
              <a:rPr lang="en-IN" dirty="0" err="1"/>
              <a:t>int</a:t>
            </a:r>
            <a:r>
              <a:rPr lang="en-IN" dirty="0"/>
              <a:t> science;</a:t>
            </a:r>
          </a:p>
          <a:p>
            <a:pPr marL="0" indent="0">
              <a:buNone/>
            </a:pPr>
            <a:r>
              <a:rPr lang="en-IN" dirty="0"/>
              <a:t>      </a:t>
            </a:r>
          </a:p>
          <a:p>
            <a:pPr marL="0" indent="0">
              <a:buNone/>
            </a:pPr>
            <a:r>
              <a:rPr lang="en-IN" dirty="0"/>
              <a:t>   </a:t>
            </a:r>
            <a:r>
              <a:rPr lang="en-IN" dirty="0">
                <a:solidFill>
                  <a:srgbClr val="FF0000"/>
                </a:solidFill>
              </a:rPr>
              <a:t>Marks() 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{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      maths=10;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      science=5;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   }</a:t>
            </a:r>
          </a:p>
          <a:p>
            <a:pPr marL="0" indent="0">
              <a:buNone/>
            </a:pPr>
            <a:r>
              <a:rPr lang="en-IN" dirty="0"/>
              <a:t> </a:t>
            </a:r>
            <a:r>
              <a:rPr lang="en-IN" dirty="0">
                <a:solidFill>
                  <a:srgbClr val="FF0000"/>
                </a:solidFill>
              </a:rPr>
              <a:t>Marks(Marks  &amp;t) 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{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      maths=</a:t>
            </a:r>
            <a:r>
              <a:rPr lang="en-IN" dirty="0" err="1">
                <a:solidFill>
                  <a:srgbClr val="FF0000"/>
                </a:solidFill>
              </a:rPr>
              <a:t>t.maths</a:t>
            </a:r>
            <a:r>
              <a:rPr lang="en-IN" dirty="0">
                <a:solidFill>
                  <a:srgbClr val="FF0000"/>
                </a:solidFill>
              </a:rPr>
              <a:t>;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      science=</a:t>
            </a:r>
            <a:r>
              <a:rPr lang="en-IN" dirty="0" err="1">
                <a:solidFill>
                  <a:srgbClr val="FF0000"/>
                </a:solidFill>
              </a:rPr>
              <a:t>t.science</a:t>
            </a:r>
            <a:r>
              <a:rPr lang="en-IN" dirty="0">
                <a:solidFill>
                  <a:srgbClr val="FF0000"/>
                </a:solidFill>
              </a:rPr>
              <a:t>;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}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23928" y="836712"/>
            <a:ext cx="5220072" cy="558924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300" dirty="0"/>
              <a:t> void display() </a:t>
            </a:r>
          </a:p>
          <a:p>
            <a:pPr marL="0" indent="0">
              <a:buNone/>
            </a:pPr>
            <a:r>
              <a:rPr lang="en-IN" sz="2300" dirty="0"/>
              <a:t>   {</a:t>
            </a:r>
          </a:p>
          <a:p>
            <a:pPr marL="0" indent="0">
              <a:buNone/>
            </a:pPr>
            <a:r>
              <a:rPr lang="en-IN" sz="2300" dirty="0"/>
              <a:t>      </a:t>
            </a:r>
            <a:r>
              <a:rPr lang="en-IN" sz="2300" dirty="0" err="1"/>
              <a:t>cout</a:t>
            </a:r>
            <a:r>
              <a:rPr lang="en-IN" sz="2300" dirty="0"/>
              <a:t> &lt;&lt; "Maths :  " &lt;&lt; maths &lt;&lt;</a:t>
            </a:r>
            <a:r>
              <a:rPr lang="en-IN" sz="2300" dirty="0" err="1"/>
              <a:t>endl</a:t>
            </a:r>
            <a:r>
              <a:rPr lang="en-IN" sz="2300" dirty="0"/>
              <a:t>;</a:t>
            </a:r>
          </a:p>
          <a:p>
            <a:pPr marL="0" indent="0">
              <a:buNone/>
            </a:pPr>
            <a:r>
              <a:rPr lang="en-IN" sz="2300" dirty="0"/>
              <a:t>      </a:t>
            </a:r>
            <a:r>
              <a:rPr lang="en-IN" sz="2300" dirty="0" err="1"/>
              <a:t>cout</a:t>
            </a:r>
            <a:r>
              <a:rPr lang="en-IN" sz="2300" dirty="0"/>
              <a:t> &lt;&lt; "Science :" &lt;&lt; science &lt;&lt; </a:t>
            </a:r>
            <a:r>
              <a:rPr lang="en-IN" sz="2300" dirty="0" err="1"/>
              <a:t>endl</a:t>
            </a:r>
            <a:r>
              <a:rPr lang="en-IN" sz="2300" dirty="0"/>
              <a:t>;</a:t>
            </a:r>
          </a:p>
          <a:p>
            <a:pPr marL="0" indent="0">
              <a:buNone/>
            </a:pPr>
            <a:r>
              <a:rPr lang="en-IN" sz="2300" dirty="0"/>
              <a:t>   }</a:t>
            </a:r>
          </a:p>
          <a:p>
            <a:pPr marL="0" indent="0">
              <a:buNone/>
            </a:pPr>
            <a:r>
              <a:rPr lang="en-IN" sz="2300" dirty="0"/>
              <a:t>};</a:t>
            </a:r>
          </a:p>
          <a:p>
            <a:pPr marL="0" indent="0">
              <a:buNone/>
            </a:pPr>
            <a:r>
              <a:rPr lang="en-IN" sz="2300" dirty="0"/>
              <a:t>   </a:t>
            </a:r>
            <a:r>
              <a:rPr lang="en-IN" sz="2300" dirty="0" err="1"/>
              <a:t>int</a:t>
            </a:r>
            <a:r>
              <a:rPr lang="en-IN" sz="2300" dirty="0"/>
              <a:t> main() </a:t>
            </a:r>
          </a:p>
          <a:p>
            <a:pPr marL="0" indent="0">
              <a:buNone/>
            </a:pPr>
            <a:r>
              <a:rPr lang="en-IN" sz="2300" dirty="0"/>
              <a:t>{</a:t>
            </a:r>
          </a:p>
          <a:p>
            <a:pPr marL="0" indent="0">
              <a:buNone/>
            </a:pPr>
            <a:r>
              <a:rPr lang="en-IN" sz="2300" dirty="0"/>
              <a:t>   </a:t>
            </a:r>
            <a:r>
              <a:rPr lang="en-IN" sz="2300" dirty="0">
                <a:solidFill>
                  <a:srgbClr val="00B050"/>
                </a:solidFill>
              </a:rPr>
              <a:t>Marks m1;</a:t>
            </a:r>
          </a:p>
          <a:p>
            <a:pPr marL="0" indent="0">
              <a:buNone/>
            </a:pPr>
            <a:r>
              <a:rPr lang="en-IN" sz="2300" dirty="0">
                <a:solidFill>
                  <a:srgbClr val="00B050"/>
                </a:solidFill>
              </a:rPr>
              <a:t>   Marks m2(m1);</a:t>
            </a:r>
          </a:p>
          <a:p>
            <a:pPr marL="0" indent="0">
              <a:buNone/>
            </a:pPr>
            <a:r>
              <a:rPr lang="en-IN" sz="2300" dirty="0"/>
              <a:t>   m1.display();</a:t>
            </a:r>
          </a:p>
          <a:p>
            <a:pPr marL="0" indent="0">
              <a:buNone/>
            </a:pPr>
            <a:r>
              <a:rPr lang="en-US" sz="2300" dirty="0"/>
              <a:t>   m2.display();</a:t>
            </a:r>
            <a:endParaRPr lang="en-IN" sz="2300" dirty="0"/>
          </a:p>
          <a:p>
            <a:pPr marL="0" indent="0">
              <a:buNone/>
            </a:pPr>
            <a:r>
              <a:rPr lang="en-IN" sz="2300" dirty="0"/>
              <a:t>   return 0;</a:t>
            </a:r>
          </a:p>
          <a:p>
            <a:pPr marL="0" indent="0">
              <a:buNone/>
            </a:pPr>
            <a:r>
              <a:rPr lang="en-IN" sz="23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1400832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94122"/>
          </a:xfrm>
        </p:spPr>
        <p:txBody>
          <a:bodyPr>
            <a:normAutofit/>
          </a:bodyPr>
          <a:lstStyle/>
          <a:p>
            <a:r>
              <a:rPr lang="en-IN" dirty="0"/>
              <a:t>Copy constructor -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0" y="1484784"/>
            <a:ext cx="4038600" cy="511256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300" dirty="0"/>
              <a:t>#include&lt;</a:t>
            </a:r>
            <a:r>
              <a:rPr lang="en-IN" sz="2300" dirty="0" err="1"/>
              <a:t>iostream</a:t>
            </a:r>
            <a:r>
              <a:rPr lang="en-IN" sz="2300" dirty="0"/>
              <a:t>&gt;</a:t>
            </a:r>
          </a:p>
          <a:p>
            <a:pPr marL="0" indent="0">
              <a:buNone/>
            </a:pPr>
            <a:r>
              <a:rPr lang="en-IN" sz="2300" dirty="0"/>
              <a:t>using namespace </a:t>
            </a:r>
            <a:r>
              <a:rPr lang="en-IN" sz="2300" dirty="0" err="1"/>
              <a:t>std</a:t>
            </a:r>
            <a:r>
              <a:rPr lang="en-IN" sz="2300" dirty="0"/>
              <a:t>;</a:t>
            </a:r>
          </a:p>
          <a:p>
            <a:pPr marL="0" indent="0">
              <a:buNone/>
            </a:pPr>
            <a:r>
              <a:rPr lang="en-IN" sz="2300" dirty="0"/>
              <a:t> class Circle</a:t>
            </a:r>
          </a:p>
          <a:p>
            <a:pPr marL="0" indent="0">
              <a:buNone/>
            </a:pPr>
            <a:r>
              <a:rPr lang="en-IN" sz="2300" dirty="0"/>
              <a:t>{</a:t>
            </a:r>
          </a:p>
          <a:p>
            <a:pPr marL="0" indent="0">
              <a:buNone/>
            </a:pPr>
            <a:r>
              <a:rPr lang="en-IN" sz="2300" dirty="0"/>
              <a:t>    private :</a:t>
            </a:r>
          </a:p>
          <a:p>
            <a:pPr marL="0" indent="0">
              <a:buNone/>
            </a:pPr>
            <a:r>
              <a:rPr lang="en-IN" sz="2300" dirty="0"/>
              <a:t>        double radius;</a:t>
            </a:r>
          </a:p>
          <a:p>
            <a:pPr marL="0" indent="0">
              <a:buNone/>
            </a:pPr>
            <a:r>
              <a:rPr lang="en-IN" sz="2300" dirty="0"/>
              <a:t>public:</a:t>
            </a:r>
          </a:p>
          <a:p>
            <a:pPr marL="0" indent="0">
              <a:buNone/>
            </a:pPr>
            <a:r>
              <a:rPr lang="en-IN" sz="2300" dirty="0"/>
              <a:t>    Circle()</a:t>
            </a:r>
          </a:p>
          <a:p>
            <a:pPr marL="0" indent="0">
              <a:buNone/>
            </a:pPr>
            <a:r>
              <a:rPr lang="en-IN" sz="2300" dirty="0"/>
              <a:t>       {radius=10;}</a:t>
            </a:r>
          </a:p>
          <a:p>
            <a:pPr marL="0" indent="0">
              <a:buNone/>
            </a:pPr>
            <a:r>
              <a:rPr lang="en-IN" sz="2300" dirty="0">
                <a:solidFill>
                  <a:srgbClr val="00B050"/>
                </a:solidFill>
              </a:rPr>
              <a:t>   Circle(Circle &amp;t) {</a:t>
            </a:r>
          </a:p>
          <a:p>
            <a:pPr marL="0" indent="0">
              <a:buNone/>
            </a:pPr>
            <a:r>
              <a:rPr lang="en-IN" sz="2300" dirty="0">
                <a:solidFill>
                  <a:srgbClr val="00B050"/>
                </a:solidFill>
              </a:rPr>
              <a:t>            radius = t.radius;</a:t>
            </a:r>
          </a:p>
          <a:p>
            <a:pPr marL="0" indent="0">
              <a:buNone/>
            </a:pPr>
            <a:r>
              <a:rPr lang="en-IN" sz="2300" dirty="0"/>
              <a:t>        }</a:t>
            </a:r>
          </a:p>
          <a:p>
            <a:pPr marL="0" indent="0">
              <a:buNone/>
            </a:pPr>
            <a:endParaRPr lang="en-IN" sz="230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9992" y="1412776"/>
            <a:ext cx="4644008" cy="544522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300" dirty="0"/>
              <a:t>double </a:t>
            </a:r>
            <a:r>
              <a:rPr lang="en-IN" sz="2300" dirty="0" err="1"/>
              <a:t>getArea</a:t>
            </a:r>
            <a:r>
              <a:rPr lang="en-IN" sz="2300" dirty="0"/>
              <a:t>()</a:t>
            </a:r>
          </a:p>
          <a:p>
            <a:pPr marL="0" indent="0">
              <a:buNone/>
            </a:pPr>
            <a:r>
              <a:rPr lang="en-IN" sz="2300" dirty="0"/>
              <a:t>        {</a:t>
            </a:r>
          </a:p>
          <a:p>
            <a:pPr marL="0" indent="0">
              <a:buNone/>
            </a:pPr>
            <a:r>
              <a:rPr lang="en-IN" sz="2300" dirty="0"/>
              <a:t>            return 3.14 * radius * radius;</a:t>
            </a:r>
          </a:p>
          <a:p>
            <a:pPr marL="0" indent="0">
              <a:buNone/>
            </a:pPr>
            <a:r>
              <a:rPr lang="en-IN" sz="2300" dirty="0"/>
              <a:t>        }</a:t>
            </a:r>
          </a:p>
          <a:p>
            <a:pPr marL="0" indent="0">
              <a:buNone/>
            </a:pPr>
            <a:r>
              <a:rPr lang="en-IN" sz="2300" dirty="0"/>
              <a:t>};         </a:t>
            </a:r>
          </a:p>
          <a:p>
            <a:pPr marL="0" indent="0">
              <a:buNone/>
            </a:pPr>
            <a:r>
              <a:rPr lang="en-IN" sz="2300" dirty="0" err="1"/>
              <a:t>int</a:t>
            </a:r>
            <a:r>
              <a:rPr lang="en-IN" sz="2300" dirty="0"/>
              <a:t> main()</a:t>
            </a:r>
          </a:p>
          <a:p>
            <a:pPr marL="0" indent="0">
              <a:buNone/>
            </a:pPr>
            <a:r>
              <a:rPr lang="en-IN" sz="2300" dirty="0"/>
              <a:t>{</a:t>
            </a:r>
          </a:p>
          <a:p>
            <a:pPr marL="0" indent="0">
              <a:buNone/>
            </a:pPr>
            <a:r>
              <a:rPr lang="en-IN" sz="2300" dirty="0"/>
              <a:t>   Circle c1;</a:t>
            </a:r>
          </a:p>
          <a:p>
            <a:pPr marL="0" indent="0">
              <a:buNone/>
            </a:pPr>
            <a:r>
              <a:rPr lang="en-IN" sz="2300" dirty="0">
                <a:solidFill>
                  <a:srgbClr val="00B050"/>
                </a:solidFill>
              </a:rPr>
              <a:t>   Circle c2(c1);</a:t>
            </a:r>
          </a:p>
          <a:p>
            <a:pPr marL="0" indent="0">
              <a:buNone/>
            </a:pPr>
            <a:r>
              <a:rPr lang="en-IN" sz="2300" dirty="0"/>
              <a:t>   </a:t>
            </a:r>
            <a:r>
              <a:rPr lang="en-IN" sz="2300" dirty="0" err="1"/>
              <a:t>cout</a:t>
            </a:r>
            <a:r>
              <a:rPr lang="en-IN" sz="2300" dirty="0"/>
              <a:t> &lt;&lt; c2.getArea()&lt;&lt;</a:t>
            </a:r>
            <a:r>
              <a:rPr lang="en-IN" sz="2300" dirty="0" err="1"/>
              <a:t>endl</a:t>
            </a:r>
            <a:r>
              <a:rPr lang="en-IN" sz="2300" dirty="0"/>
              <a:t>;</a:t>
            </a:r>
          </a:p>
          <a:p>
            <a:pPr marL="0" indent="0">
              <a:buNone/>
            </a:pPr>
            <a:r>
              <a:rPr lang="en-IN" sz="2300" dirty="0"/>
              <a:t>    return 0;</a:t>
            </a:r>
          </a:p>
          <a:p>
            <a:pPr marL="0" indent="0">
              <a:buNone/>
            </a:pPr>
            <a:r>
              <a:rPr lang="en-IN" sz="23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0538125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/>
          <a:lstStyle/>
          <a:p>
            <a:r>
              <a:rPr lang="en-IN" dirty="0"/>
              <a:t>Destructor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 destructor is a member function having same name as that of its class preceded by ~(tilde) sign and which is used to destroy the objects that have been created by a constructor. It gets invoked when an object’s scope is over.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~Circle()   {}</a:t>
            </a:r>
          </a:p>
        </p:txBody>
      </p:sp>
    </p:spTree>
    <p:extLst>
      <p:ext uri="{BB962C8B-B14F-4D97-AF65-F5344CB8AC3E}">
        <p14:creationId xmlns:p14="http://schemas.microsoft.com/office/powerpoint/2010/main" val="29953829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>
          <a:xfrm>
            <a:off x="0" y="404664"/>
            <a:ext cx="4648200" cy="6453336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dirty="0"/>
              <a:t>#include&lt;</a:t>
            </a:r>
            <a:r>
              <a:rPr lang="en-IN" dirty="0" err="1"/>
              <a:t>iostream</a:t>
            </a:r>
            <a:r>
              <a:rPr lang="en-IN" dirty="0"/>
              <a:t>&gt;</a:t>
            </a:r>
          </a:p>
          <a:p>
            <a:pPr marL="0" indent="0">
              <a:buNone/>
            </a:pPr>
            <a:r>
              <a:rPr lang="en-IN" dirty="0"/>
              <a:t>#include&lt;</a:t>
            </a:r>
            <a:r>
              <a:rPr lang="en-IN" dirty="0" err="1"/>
              <a:t>conio.h</a:t>
            </a:r>
            <a:r>
              <a:rPr lang="en-IN" dirty="0"/>
              <a:t>&gt;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using namespace </a:t>
            </a:r>
            <a:r>
              <a:rPr lang="en-IN" dirty="0" err="1"/>
              <a:t>std</a:t>
            </a:r>
            <a:r>
              <a:rPr lang="en-IN" dirty="0"/>
              <a:t>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class </a:t>
            </a:r>
            <a:r>
              <a:rPr lang="en-IN" dirty="0" err="1"/>
              <a:t>BaseClass</a:t>
            </a:r>
            <a:r>
              <a:rPr lang="en-IN" dirty="0"/>
              <a:t> {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public: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 err="1"/>
              <a:t>BaseClass</a:t>
            </a:r>
            <a:r>
              <a:rPr lang="en-IN" dirty="0"/>
              <a:t>() {</a:t>
            </a:r>
          </a:p>
          <a:p>
            <a:pPr marL="0" indent="0">
              <a:buNone/>
            </a:pPr>
            <a:r>
              <a:rPr lang="en-IN" dirty="0"/>
              <a:t>      </a:t>
            </a:r>
            <a:r>
              <a:rPr lang="en-IN" dirty="0" err="1"/>
              <a:t>cout</a:t>
            </a:r>
            <a:r>
              <a:rPr lang="en-IN" dirty="0"/>
              <a:t> &lt;&lt; "Constructor of the </a:t>
            </a:r>
            <a:r>
              <a:rPr lang="en-IN" dirty="0" err="1"/>
              <a:t>BaseClass</a:t>
            </a:r>
            <a:r>
              <a:rPr lang="en-IN" dirty="0"/>
              <a:t> : Object Created"&lt;&lt;</a:t>
            </a:r>
            <a:r>
              <a:rPr lang="en-IN" dirty="0" err="1"/>
              <a:t>endl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   }</a:t>
            </a:r>
          </a:p>
          <a:p>
            <a:pPr marL="0" indent="0">
              <a:buNone/>
            </a:pPr>
            <a:r>
              <a:rPr lang="en-IN" dirty="0"/>
              <a:t>	</a:t>
            </a:r>
          </a:p>
          <a:p>
            <a:pPr marL="0" indent="0">
              <a:buNone/>
            </a:pPr>
            <a:r>
              <a:rPr lang="en-IN" dirty="0"/>
              <a:t>~</a:t>
            </a:r>
            <a:r>
              <a:rPr lang="en-IN" dirty="0" err="1"/>
              <a:t>BaseClass</a:t>
            </a:r>
            <a:r>
              <a:rPr lang="en-IN" dirty="0"/>
              <a:t>() {</a:t>
            </a:r>
          </a:p>
          <a:p>
            <a:pPr marL="0" indent="0">
              <a:buNone/>
            </a:pPr>
            <a:r>
              <a:rPr lang="en-IN" dirty="0"/>
              <a:t>      </a:t>
            </a:r>
            <a:r>
              <a:rPr lang="en-IN" dirty="0" err="1"/>
              <a:t>cout</a:t>
            </a:r>
            <a:r>
              <a:rPr lang="en-IN" dirty="0"/>
              <a:t> &lt;&lt; "Destructor of the </a:t>
            </a:r>
            <a:r>
              <a:rPr lang="en-IN" dirty="0" err="1"/>
              <a:t>BaseClass</a:t>
            </a:r>
            <a:r>
              <a:rPr lang="en-IN" dirty="0"/>
              <a:t> : Object Destroyed"&lt;&lt;</a:t>
            </a:r>
            <a:r>
              <a:rPr lang="en-IN" dirty="0" err="1"/>
              <a:t>endl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   }</a:t>
            </a:r>
          </a:p>
          <a:p>
            <a:pPr marL="0" indent="0">
              <a:buNone/>
            </a:pPr>
            <a:r>
              <a:rPr lang="en-IN" dirty="0"/>
              <a:t>};</a:t>
            </a:r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>
          <a:xfrm>
            <a:off x="5105400" y="274638"/>
            <a:ext cx="3859088" cy="6583362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dirty="0" err="1"/>
              <a:t>int</a:t>
            </a:r>
            <a:r>
              <a:rPr lang="en-IN" dirty="0"/>
              <a:t> main ()</a:t>
            </a:r>
          </a:p>
          <a:p>
            <a:pPr marL="0" indent="0">
              <a:buNone/>
            </a:pPr>
            <a:r>
              <a:rPr lang="en-IN" dirty="0"/>
              <a:t>{</a:t>
            </a:r>
          </a:p>
          <a:p>
            <a:pPr marL="0" indent="0">
              <a:buNone/>
            </a:pPr>
            <a:r>
              <a:rPr lang="en-IN" dirty="0"/>
              <a:t>		</a:t>
            </a:r>
            <a:r>
              <a:rPr lang="en-IN" dirty="0" err="1"/>
              <a:t>BaseClass</a:t>
            </a:r>
            <a:r>
              <a:rPr lang="en-IN" dirty="0"/>
              <a:t> des;</a:t>
            </a:r>
          </a:p>
          <a:p>
            <a:pPr marL="0" indent="0">
              <a:buNone/>
            </a:pPr>
            <a:r>
              <a:rPr lang="en-IN" dirty="0"/>
              <a:t>    </a:t>
            </a:r>
          </a:p>
          <a:p>
            <a:pPr marL="0" indent="0">
              <a:buNone/>
            </a:pPr>
            <a:r>
              <a:rPr lang="en-IN" dirty="0"/>
              <a:t>		</a:t>
            </a:r>
            <a:r>
              <a:rPr lang="en-IN" dirty="0" err="1"/>
              <a:t>getch</a:t>
            </a:r>
            <a:r>
              <a:rPr lang="en-IN" dirty="0"/>
              <a:t>();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		return 0;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2924469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11266"/>
            <a:ext cx="8229600" cy="753438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Constructor Example</a:t>
            </a:r>
            <a:endParaRPr lang="en-IN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692696"/>
            <a:ext cx="4038600" cy="6165304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IN" dirty="0"/>
              <a:t>#include&lt;</a:t>
            </a:r>
            <a:r>
              <a:rPr lang="en-IN" dirty="0" err="1"/>
              <a:t>iostream</a:t>
            </a:r>
            <a:r>
              <a:rPr lang="en-IN" dirty="0"/>
              <a:t>&gt;</a:t>
            </a:r>
          </a:p>
          <a:p>
            <a:pPr marL="0" indent="0">
              <a:buNone/>
            </a:pPr>
            <a:r>
              <a:rPr lang="en-IN" dirty="0"/>
              <a:t>using namespace </a:t>
            </a:r>
            <a:r>
              <a:rPr lang="en-IN" dirty="0" err="1"/>
              <a:t>std</a:t>
            </a:r>
            <a:r>
              <a:rPr lang="en-IN" dirty="0"/>
              <a:t>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class Area</a:t>
            </a:r>
          </a:p>
          <a:p>
            <a:pPr marL="0" indent="0">
              <a:buNone/>
            </a:pPr>
            <a:r>
              <a:rPr lang="en-IN" dirty="0"/>
              <a:t>{</a:t>
            </a:r>
          </a:p>
          <a:p>
            <a:pPr marL="0" indent="0">
              <a:buNone/>
            </a:pPr>
            <a:r>
              <a:rPr lang="en-IN" dirty="0"/>
              <a:t>    private:</a:t>
            </a:r>
          </a:p>
          <a:p>
            <a:pPr marL="0" indent="0">
              <a:buNone/>
            </a:pPr>
            <a:r>
              <a:rPr lang="en-IN" dirty="0"/>
              <a:t>       </a:t>
            </a:r>
            <a:r>
              <a:rPr lang="en-IN" dirty="0" err="1"/>
              <a:t>int</a:t>
            </a:r>
            <a:r>
              <a:rPr lang="en-IN" dirty="0"/>
              <a:t> length;</a:t>
            </a:r>
          </a:p>
          <a:p>
            <a:pPr marL="0" indent="0">
              <a:buNone/>
            </a:pPr>
            <a:r>
              <a:rPr lang="en-IN" dirty="0"/>
              <a:t>       </a:t>
            </a:r>
            <a:r>
              <a:rPr lang="en-IN" dirty="0" err="1"/>
              <a:t>int</a:t>
            </a:r>
            <a:r>
              <a:rPr lang="en-IN" dirty="0"/>
              <a:t> breadth;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public:</a:t>
            </a:r>
          </a:p>
          <a:p>
            <a:pPr marL="0" indent="0">
              <a:buNone/>
            </a:pPr>
            <a:r>
              <a:rPr lang="en-IN" dirty="0"/>
              <a:t>       // Constructor with no arguments</a:t>
            </a:r>
          </a:p>
          <a:p>
            <a:pPr marL="0" indent="0">
              <a:buNone/>
            </a:pPr>
            <a:r>
              <a:rPr lang="en-IN" dirty="0"/>
              <a:t>       </a:t>
            </a:r>
            <a:r>
              <a:rPr lang="en-IN" dirty="0">
                <a:solidFill>
                  <a:srgbClr val="FF0000"/>
                </a:solidFill>
              </a:rPr>
              <a:t>Area(){length=5; breadth=2 ;}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   // Constructor with two arguments</a:t>
            </a:r>
          </a:p>
          <a:p>
            <a:pPr marL="0" indent="0">
              <a:buNone/>
            </a:pPr>
            <a:r>
              <a:rPr lang="en-IN" dirty="0">
                <a:solidFill>
                  <a:srgbClr val="00B050"/>
                </a:solidFill>
              </a:rPr>
              <a:t>       Area(</a:t>
            </a:r>
            <a:r>
              <a:rPr lang="en-IN" dirty="0" err="1">
                <a:solidFill>
                  <a:srgbClr val="00B050"/>
                </a:solidFill>
              </a:rPr>
              <a:t>int</a:t>
            </a:r>
            <a:r>
              <a:rPr lang="en-IN" dirty="0">
                <a:solidFill>
                  <a:srgbClr val="00B050"/>
                </a:solidFill>
              </a:rPr>
              <a:t> l, </a:t>
            </a:r>
            <a:r>
              <a:rPr lang="en-IN" dirty="0" err="1">
                <a:solidFill>
                  <a:srgbClr val="00B050"/>
                </a:solidFill>
              </a:rPr>
              <a:t>int</a:t>
            </a:r>
            <a:r>
              <a:rPr lang="en-IN" dirty="0">
                <a:solidFill>
                  <a:srgbClr val="00B050"/>
                </a:solidFill>
              </a:rPr>
              <a:t> b): length(l), breadth(b){ 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  //copy constructor</a:t>
            </a:r>
          </a:p>
          <a:p>
            <a:pPr marL="0" indent="0">
              <a:buNone/>
            </a:pPr>
            <a:r>
              <a:rPr lang="en-IN" dirty="0">
                <a:solidFill>
                  <a:srgbClr val="0070C0"/>
                </a:solidFill>
              </a:rPr>
              <a:t>       Area(Area &amp;a)</a:t>
            </a:r>
          </a:p>
          <a:p>
            <a:pPr marL="0" indent="0">
              <a:buNone/>
            </a:pPr>
            <a:r>
              <a:rPr lang="en-IN" dirty="0">
                <a:solidFill>
                  <a:srgbClr val="0070C0"/>
                </a:solidFill>
              </a:rPr>
              <a:t>      {</a:t>
            </a:r>
          </a:p>
          <a:p>
            <a:pPr marL="0" indent="0">
              <a:buNone/>
            </a:pPr>
            <a:r>
              <a:rPr lang="en-IN" dirty="0">
                <a:solidFill>
                  <a:srgbClr val="0070C0"/>
                </a:solidFill>
              </a:rPr>
              <a:t>        length=</a:t>
            </a:r>
            <a:r>
              <a:rPr lang="en-IN" dirty="0" err="1">
                <a:solidFill>
                  <a:srgbClr val="0070C0"/>
                </a:solidFill>
              </a:rPr>
              <a:t>a.length</a:t>
            </a:r>
            <a:r>
              <a:rPr lang="en-IN" dirty="0">
                <a:solidFill>
                  <a:srgbClr val="0070C0"/>
                </a:solidFill>
              </a:rPr>
              <a:t>;</a:t>
            </a:r>
          </a:p>
          <a:p>
            <a:pPr marL="0" indent="0">
              <a:buNone/>
            </a:pPr>
            <a:r>
              <a:rPr lang="en-IN" dirty="0">
                <a:solidFill>
                  <a:srgbClr val="0070C0"/>
                </a:solidFill>
              </a:rPr>
              <a:t>        breadth=</a:t>
            </a:r>
            <a:r>
              <a:rPr lang="en-IN" dirty="0" err="1">
                <a:solidFill>
                  <a:srgbClr val="0070C0"/>
                </a:solidFill>
              </a:rPr>
              <a:t>a.breadth</a:t>
            </a:r>
            <a:r>
              <a:rPr lang="en-IN" dirty="0">
                <a:solidFill>
                  <a:srgbClr val="0070C0"/>
                </a:solidFill>
              </a:rPr>
              <a:t>;</a:t>
            </a:r>
          </a:p>
          <a:p>
            <a:pPr marL="0" indent="0">
              <a:buNone/>
            </a:pPr>
            <a:r>
              <a:rPr lang="en-IN" dirty="0">
                <a:solidFill>
                  <a:srgbClr val="0070C0"/>
                </a:solidFill>
              </a:rPr>
              <a:t>      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   void </a:t>
            </a:r>
            <a:r>
              <a:rPr lang="en-IN" dirty="0" err="1"/>
              <a:t>GetLength</a:t>
            </a:r>
            <a:r>
              <a:rPr lang="en-IN" dirty="0"/>
              <a:t>()</a:t>
            </a:r>
          </a:p>
          <a:p>
            <a:pPr marL="0" indent="0">
              <a:buNone/>
            </a:pPr>
            <a:r>
              <a:rPr lang="en-IN" dirty="0"/>
              <a:t>       {</a:t>
            </a:r>
          </a:p>
          <a:p>
            <a:pPr marL="0" indent="0">
              <a:buNone/>
            </a:pPr>
            <a:r>
              <a:rPr lang="en-IN" dirty="0"/>
              <a:t>           </a:t>
            </a:r>
            <a:r>
              <a:rPr lang="en-IN" dirty="0" err="1"/>
              <a:t>cout</a:t>
            </a:r>
            <a:r>
              <a:rPr lang="en-IN" dirty="0"/>
              <a:t>&lt;&lt; "Enter length and breadth respectively: ";</a:t>
            </a:r>
          </a:p>
          <a:p>
            <a:pPr marL="0" indent="0">
              <a:buNone/>
            </a:pPr>
            <a:r>
              <a:rPr lang="en-IN" dirty="0"/>
              <a:t>           </a:t>
            </a:r>
            <a:r>
              <a:rPr lang="en-IN" dirty="0" err="1"/>
              <a:t>cin</a:t>
            </a:r>
            <a:r>
              <a:rPr lang="en-IN" dirty="0"/>
              <a:t>&gt;&gt;length&gt;&gt;breadth;</a:t>
            </a:r>
          </a:p>
          <a:p>
            <a:pPr marL="0" indent="0">
              <a:buNone/>
            </a:pPr>
            <a:r>
              <a:rPr lang="en-IN" dirty="0"/>
              <a:t>       }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4648200" y="692696"/>
            <a:ext cx="4038600" cy="6165304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IN" dirty="0"/>
              <a:t> </a:t>
            </a:r>
            <a:r>
              <a:rPr lang="en-IN" dirty="0" err="1"/>
              <a:t>int</a:t>
            </a:r>
            <a:r>
              <a:rPr lang="en-IN" dirty="0"/>
              <a:t> </a:t>
            </a:r>
            <a:r>
              <a:rPr lang="en-IN" dirty="0" err="1"/>
              <a:t>AreaCalculation</a:t>
            </a:r>
            <a:r>
              <a:rPr lang="en-IN" dirty="0"/>
              <a:t>() {  return length * breadth;  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   void </a:t>
            </a:r>
            <a:r>
              <a:rPr lang="en-IN" dirty="0" err="1"/>
              <a:t>DisplayArea</a:t>
            </a:r>
            <a:r>
              <a:rPr lang="en-IN" dirty="0"/>
              <a:t>(</a:t>
            </a:r>
            <a:r>
              <a:rPr lang="en-IN" dirty="0" err="1"/>
              <a:t>int</a:t>
            </a:r>
            <a:r>
              <a:rPr lang="en-IN" dirty="0"/>
              <a:t> temp)</a:t>
            </a:r>
          </a:p>
          <a:p>
            <a:pPr marL="0" indent="0">
              <a:buNone/>
            </a:pPr>
            <a:r>
              <a:rPr lang="en-IN" dirty="0"/>
              <a:t>       {</a:t>
            </a:r>
          </a:p>
          <a:p>
            <a:pPr marL="0" indent="0">
              <a:buNone/>
            </a:pPr>
            <a:r>
              <a:rPr lang="en-IN" dirty="0"/>
              <a:t>           </a:t>
            </a:r>
            <a:r>
              <a:rPr lang="en-IN" dirty="0" err="1"/>
              <a:t>cout</a:t>
            </a:r>
            <a:r>
              <a:rPr lang="en-IN" dirty="0"/>
              <a:t> &lt;&lt; "Area: " &lt;&lt; temp &lt;&lt; </a:t>
            </a:r>
            <a:r>
              <a:rPr lang="en-IN" dirty="0" err="1"/>
              <a:t>endl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       }</a:t>
            </a:r>
          </a:p>
          <a:p>
            <a:pPr marL="0" indent="0">
              <a:buNone/>
            </a:pPr>
            <a:r>
              <a:rPr lang="en-IN" dirty="0"/>
              <a:t>};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 err="1"/>
              <a:t>int</a:t>
            </a:r>
            <a:r>
              <a:rPr lang="en-IN" dirty="0"/>
              <a:t> main()</a:t>
            </a:r>
          </a:p>
          <a:p>
            <a:pPr marL="0" indent="0">
              <a:buNone/>
            </a:pPr>
            <a:r>
              <a:rPr lang="en-IN" dirty="0"/>
              <a:t>{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6">
                    <a:lumMod val="75000"/>
                  </a:schemeClr>
                </a:solidFill>
              </a:rPr>
              <a:t>    Area A1, A2(2, 1);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6">
                    <a:lumMod val="75000"/>
                  </a:schemeClr>
                </a:solidFill>
              </a:rPr>
              <a:t>    Area A3(A2);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int</a:t>
            </a:r>
            <a:r>
              <a:rPr lang="en-IN" dirty="0"/>
              <a:t> temp;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cout</a:t>
            </a:r>
            <a:r>
              <a:rPr lang="en-IN" dirty="0"/>
              <a:t> &lt;&lt; "Default Area when no argument is passed." &lt;&lt; </a:t>
            </a:r>
            <a:r>
              <a:rPr lang="en-IN" dirty="0" err="1"/>
              <a:t>endl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    temp = A1.AreaCalculation();</a:t>
            </a:r>
          </a:p>
          <a:p>
            <a:pPr marL="0" indent="0">
              <a:buNone/>
            </a:pPr>
            <a:r>
              <a:rPr lang="en-IN" dirty="0"/>
              <a:t>    A1.DisplayArea(temp);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cout</a:t>
            </a:r>
            <a:r>
              <a:rPr lang="en-IN" dirty="0"/>
              <a:t> &lt;&lt; "Area when (2,1) is passed as argument." &lt;&lt; </a:t>
            </a:r>
            <a:r>
              <a:rPr lang="en-IN" dirty="0" err="1"/>
              <a:t>endl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    temp = A2.AreaCalculation();</a:t>
            </a:r>
          </a:p>
          <a:p>
            <a:pPr marL="0" indent="0">
              <a:buNone/>
            </a:pPr>
            <a:r>
              <a:rPr lang="en-IN" dirty="0"/>
              <a:t>    A2.DisplayArea(temp);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</a:t>
            </a:r>
            <a:r>
              <a:rPr lang="en-IN" dirty="0" err="1"/>
              <a:t>cout</a:t>
            </a:r>
            <a:r>
              <a:rPr lang="en-IN" dirty="0"/>
              <a:t> &lt;&lt; "Area when A1 (object ) is passed as argument." &lt;&lt; </a:t>
            </a:r>
            <a:r>
              <a:rPr lang="en-IN" dirty="0" err="1"/>
              <a:t>endl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    temp = A3.AreaCalculation();</a:t>
            </a:r>
          </a:p>
          <a:p>
            <a:pPr marL="0" indent="0">
              <a:buNone/>
            </a:pPr>
            <a:r>
              <a:rPr lang="en-IN" dirty="0"/>
              <a:t>    A3.DisplayArea(temp);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return 0;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5732468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2417</TotalTime>
  <Words>1001</Words>
  <Application>Microsoft Macintosh PowerPoint</Application>
  <PresentationFormat>On-screen Show (4:3)</PresentationFormat>
  <Paragraphs>228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Constructor-Destructor</vt:lpstr>
      <vt:lpstr>Constructor</vt:lpstr>
      <vt:lpstr>Default Constructor</vt:lpstr>
      <vt:lpstr>Default constructor - Example</vt:lpstr>
      <vt:lpstr>Parameterized Constructor</vt:lpstr>
      <vt:lpstr>Parameterized constructor - Example</vt:lpstr>
      <vt:lpstr>Copy Constructor</vt:lpstr>
      <vt:lpstr>Copy constructor - Example</vt:lpstr>
      <vt:lpstr>Copy constructor - Example</vt:lpstr>
      <vt:lpstr>Destructor</vt:lpstr>
      <vt:lpstr>PowerPoint Presentation</vt:lpstr>
      <vt:lpstr>Constructor Example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Constructor-Destructor</dc:title>
  <dc:creator>Gladys</dc:creator>
  <cp:lastModifiedBy>Apoorva Karnwal</cp:lastModifiedBy>
  <cp:revision>11</cp:revision>
  <dcterms:created xsi:type="dcterms:W3CDTF">2017-02-10T10:52:18Z</dcterms:created>
  <dcterms:modified xsi:type="dcterms:W3CDTF">2024-10-07T11:44:02Z</dcterms:modified>
</cp:coreProperties>
</file>