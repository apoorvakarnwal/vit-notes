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805" y="92455"/>
            <a:ext cx="1159438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23135" y="1965705"/>
            <a:ext cx="6290309" cy="395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146535" y="6464909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917" y="2829560"/>
            <a:ext cx="316230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Pointers</a:t>
            </a:r>
            <a:r>
              <a:rPr dirty="0" sz="4400" spc="-20"/>
              <a:t> </a:t>
            </a:r>
            <a:r>
              <a:rPr dirty="0" sz="4400"/>
              <a:t>in </a:t>
            </a:r>
            <a:r>
              <a:rPr dirty="0" sz="4400" spc="-50"/>
              <a:t>C</a:t>
            </a:r>
            <a:endParaRPr sz="4400"/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316" y="402716"/>
            <a:ext cx="930084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Memory</a:t>
            </a:r>
            <a:r>
              <a:rPr dirty="0" sz="3200" spc="-50"/>
              <a:t> </a:t>
            </a:r>
            <a:r>
              <a:rPr dirty="0" sz="3200"/>
              <a:t>Organizations</a:t>
            </a:r>
            <a:r>
              <a:rPr dirty="0" sz="3200" spc="-55"/>
              <a:t> </a:t>
            </a:r>
            <a:r>
              <a:rPr dirty="0" sz="3200"/>
              <a:t>and</a:t>
            </a:r>
            <a:r>
              <a:rPr dirty="0" sz="3200" spc="-90"/>
              <a:t> </a:t>
            </a:r>
            <a:r>
              <a:rPr dirty="0" sz="3200" spc="-25"/>
              <a:t>Variable</a:t>
            </a:r>
            <a:r>
              <a:rPr dirty="0" sz="3200" spc="-55"/>
              <a:t> </a:t>
            </a:r>
            <a:r>
              <a:rPr dirty="0" sz="3200" spc="-10"/>
              <a:t>Representations</a:t>
            </a:r>
            <a:endParaRPr sz="3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729739"/>
            <a:ext cx="2679192" cy="494538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7279" y="1802892"/>
            <a:ext cx="3528060" cy="207416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7279" y="4145279"/>
            <a:ext cx="4030979" cy="257556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 b="0">
                <a:latin typeface="Calibri Light"/>
                <a:cs typeface="Calibri Light"/>
              </a:rPr>
              <a:t>Pointers</a:t>
            </a:r>
            <a:r>
              <a:rPr dirty="0" spc="-105" b="0">
                <a:latin typeface="Calibri Light"/>
                <a:cs typeface="Calibri Light"/>
              </a:rPr>
              <a:t> </a:t>
            </a:r>
            <a:r>
              <a:rPr dirty="0" b="0">
                <a:latin typeface="Calibri Light"/>
                <a:cs typeface="Calibri Light"/>
              </a:rPr>
              <a:t>in</a:t>
            </a:r>
            <a:r>
              <a:rPr dirty="0" spc="-95" b="0">
                <a:latin typeface="Calibri Light"/>
                <a:cs typeface="Calibri Light"/>
              </a:rPr>
              <a:t> </a:t>
            </a:r>
            <a:r>
              <a:rPr dirty="0" spc="-50" b="0">
                <a:latin typeface="Calibri Light"/>
                <a:cs typeface="Calibri Light"/>
              </a:rPr>
              <a:t>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8805" y="873963"/>
            <a:ext cx="11341735" cy="4072254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45"/>
              </a:spcBef>
              <a:tabLst>
                <a:tab pos="352425" algn="l"/>
                <a:tab pos="1570355" algn="l"/>
                <a:tab pos="1923414" algn="l"/>
                <a:tab pos="2228215" algn="l"/>
                <a:tab pos="3508375" algn="l"/>
                <a:tab pos="4587875" algn="l"/>
                <a:tab pos="5491480" algn="l"/>
                <a:tab pos="5845175" algn="l"/>
                <a:tab pos="6463030" algn="l"/>
                <a:tab pos="7717155" algn="l"/>
                <a:tab pos="8147050" algn="l"/>
                <a:tab pos="9433560" algn="l"/>
                <a:tab pos="10800715" algn="l"/>
              </a:tabLst>
            </a:pPr>
            <a:r>
              <a:rPr dirty="0" sz="2800" spc="-50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 b="1">
                <a:latin typeface="Calibri"/>
                <a:cs typeface="Calibri"/>
              </a:rPr>
              <a:t>pointer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0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variable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whose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value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is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address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another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variable,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i.e., </a:t>
            </a:r>
            <a:r>
              <a:rPr dirty="0" sz="2800">
                <a:latin typeface="Calibri"/>
                <a:cs typeface="Calibri"/>
              </a:rPr>
              <a:t>direct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address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memory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location.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2800" spc="-10" b="1" i="1">
                <a:solidFill>
                  <a:srgbClr val="6F2F9F"/>
                </a:solidFill>
                <a:latin typeface="Calibri"/>
                <a:cs typeface="Calibri"/>
              </a:rPr>
              <a:t>Reference</a:t>
            </a:r>
            <a:r>
              <a:rPr dirty="0" sz="2800" spc="-35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6F2F9F"/>
                </a:solidFill>
                <a:latin typeface="Calibri"/>
                <a:cs typeface="Calibri"/>
              </a:rPr>
              <a:t>operator</a:t>
            </a:r>
            <a:r>
              <a:rPr dirty="0" sz="2800" spc="-5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6F2F9F"/>
                </a:solidFill>
                <a:latin typeface="Calibri"/>
                <a:cs typeface="Calibri"/>
              </a:rPr>
              <a:t>(&amp;)</a:t>
            </a:r>
            <a:r>
              <a:rPr dirty="0" sz="2800" spc="-45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6F2F9F"/>
                </a:solidFill>
                <a:latin typeface="Calibri"/>
                <a:cs typeface="Calibri"/>
              </a:rPr>
              <a:t>-</a:t>
            </a:r>
            <a:r>
              <a:rPr dirty="0" sz="2800" spc="-55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gives</a:t>
            </a:r>
            <a:r>
              <a:rPr dirty="0" sz="2800" spc="-70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you</a:t>
            </a:r>
            <a:r>
              <a:rPr dirty="0" sz="2800" spc="-60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dirty="0" sz="2800" spc="-65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address</a:t>
            </a:r>
            <a:r>
              <a:rPr dirty="0" sz="2800" spc="-60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dirty="0" sz="2800" spc="-75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dirty="0" sz="2800" spc="-65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spc="-10" i="1">
                <a:solidFill>
                  <a:srgbClr val="6F2F9F"/>
                </a:solidFill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2800" spc="-10" b="1" i="1">
                <a:solidFill>
                  <a:srgbClr val="6F2F9F"/>
                </a:solidFill>
                <a:latin typeface="Calibri"/>
                <a:cs typeface="Calibri"/>
              </a:rPr>
              <a:t>Dereference</a:t>
            </a:r>
            <a:r>
              <a:rPr dirty="0" sz="2800" spc="-3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6F2F9F"/>
                </a:solidFill>
                <a:latin typeface="Calibri"/>
                <a:cs typeface="Calibri"/>
              </a:rPr>
              <a:t>operator</a:t>
            </a:r>
            <a:r>
              <a:rPr dirty="0" sz="2800" spc="-5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6F2F9F"/>
                </a:solidFill>
                <a:latin typeface="Calibri"/>
                <a:cs typeface="Calibri"/>
              </a:rPr>
              <a:t>(*)</a:t>
            </a:r>
            <a:r>
              <a:rPr dirty="0" sz="2800" spc="-45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6F2F9F"/>
                </a:solidFill>
                <a:latin typeface="Calibri"/>
                <a:cs typeface="Calibri"/>
              </a:rPr>
              <a:t>-</a:t>
            </a:r>
            <a:r>
              <a:rPr dirty="0" sz="2800" spc="-60" b="1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gets</a:t>
            </a:r>
            <a:r>
              <a:rPr dirty="0" sz="2800" spc="-75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you</a:t>
            </a:r>
            <a:r>
              <a:rPr dirty="0" sz="2800" spc="-65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dirty="0" sz="2800" spc="-60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value</a:t>
            </a:r>
            <a:r>
              <a:rPr dirty="0" sz="2800" spc="-75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from</a:t>
            </a:r>
            <a:r>
              <a:rPr dirty="0" sz="2800" spc="-50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i="1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dirty="0" sz="2800" spc="-70" i="1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 sz="2800" spc="-10" i="1">
                <a:solidFill>
                  <a:srgbClr val="6F2F9F"/>
                </a:solidFill>
                <a:latin typeface="Calibri"/>
                <a:cs typeface="Calibri"/>
              </a:rPr>
              <a:t>address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 i="1">
                <a:solidFill>
                  <a:srgbClr val="FF0000"/>
                </a:solidFill>
                <a:latin typeface="Calibri"/>
                <a:cs typeface="Calibri"/>
              </a:rPr>
              <a:t>Accessing</a:t>
            </a:r>
            <a:r>
              <a:rPr dirty="0" sz="2800" spc="-50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800" spc="-50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Calibri"/>
                <a:cs typeface="Calibri"/>
              </a:rPr>
              <a:t>address</a:t>
            </a:r>
            <a:r>
              <a:rPr dirty="0" sz="2800" spc="-65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dirty="0" sz="2800" spc="-55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z="2800" spc="-55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 b="1" i="1">
                <a:solidFill>
                  <a:srgbClr val="FF0000"/>
                </a:solidFill>
                <a:latin typeface="Calibri"/>
                <a:cs typeface="Calibri"/>
              </a:rPr>
              <a:t>variable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  <a:tabLst>
                <a:tab pos="2755900" algn="l"/>
              </a:tabLst>
            </a:pPr>
            <a:r>
              <a:rPr dirty="0" sz="2800" i="1">
                <a:latin typeface="Calibri"/>
                <a:cs typeface="Calibri"/>
              </a:rPr>
              <a:t>p</a:t>
            </a:r>
            <a:r>
              <a:rPr dirty="0" sz="2800" spc="-1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= </a:t>
            </a:r>
            <a:r>
              <a:rPr dirty="0" sz="2800" spc="-25" i="1">
                <a:latin typeface="Calibri"/>
                <a:cs typeface="Calibri"/>
              </a:rPr>
              <a:t>&amp;a;</a:t>
            </a:r>
            <a:r>
              <a:rPr dirty="0" sz="2800" i="1">
                <a:latin typeface="Calibri"/>
                <a:cs typeface="Calibri"/>
              </a:rPr>
              <a:t>	//</a:t>
            </a:r>
            <a:r>
              <a:rPr dirty="0" sz="2800" spc="-4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will</a:t>
            </a:r>
            <a:r>
              <a:rPr dirty="0" sz="2800" spc="-4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assign</a:t>
            </a:r>
            <a:r>
              <a:rPr dirty="0" sz="2800" spc="-7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the</a:t>
            </a:r>
            <a:r>
              <a:rPr dirty="0" sz="2800" spc="-4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address</a:t>
            </a:r>
            <a:r>
              <a:rPr dirty="0" sz="2800" spc="-55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of</a:t>
            </a:r>
            <a:r>
              <a:rPr dirty="0" sz="2800" spc="-5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the</a:t>
            </a:r>
            <a:r>
              <a:rPr dirty="0" sz="2800" spc="-4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variable</a:t>
            </a:r>
            <a:r>
              <a:rPr dirty="0" sz="2800" spc="-6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a</a:t>
            </a:r>
            <a:r>
              <a:rPr dirty="0" sz="2800" spc="-50" i="1">
                <a:latin typeface="Calibri"/>
                <a:cs typeface="Calibri"/>
              </a:rPr>
              <a:t> </a:t>
            </a:r>
            <a:r>
              <a:rPr dirty="0" sz="2800" i="1">
                <a:latin typeface="Calibri"/>
                <a:cs typeface="Calibri"/>
              </a:rPr>
              <a:t>to</a:t>
            </a:r>
            <a:r>
              <a:rPr dirty="0" sz="2800" spc="-45" i="1">
                <a:latin typeface="Calibri"/>
                <a:cs typeface="Calibri"/>
              </a:rPr>
              <a:t> </a:t>
            </a:r>
            <a:r>
              <a:rPr dirty="0" sz="2800" spc="-50" i="1">
                <a:latin typeface="Calibri"/>
                <a:cs typeface="Calibri"/>
              </a:rPr>
              <a:t>p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x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55">
                <a:latin typeface="Calibri"/>
                <a:cs typeface="Calibri"/>
              </a:rPr>
              <a:t>array,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expressions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E5496"/>
                </a:solidFill>
                <a:latin typeface="Calibri"/>
                <a:cs typeface="Calibri"/>
              </a:rPr>
              <a:t>&amp;x[0]</a:t>
            </a:r>
            <a:r>
              <a:rPr dirty="0" sz="2800" spc="-3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E5496"/>
                </a:solidFill>
                <a:latin typeface="Calibri"/>
                <a:cs typeface="Calibri"/>
              </a:rPr>
              <a:t>or</a:t>
            </a:r>
            <a:r>
              <a:rPr dirty="0" sz="2800" spc="-4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E5496"/>
                </a:solidFill>
                <a:latin typeface="Calibri"/>
                <a:cs typeface="Calibri"/>
              </a:rPr>
              <a:t>&amp;x[i+3]</a:t>
            </a:r>
            <a:r>
              <a:rPr dirty="0" sz="2800" spc="-20" b="1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valid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79755" y="5065521"/>
          <a:ext cx="10170795" cy="1290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8340"/>
                <a:gridCol w="2767330"/>
                <a:gridCol w="4175125"/>
              </a:tblGrid>
              <a:tr h="411480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Some</a:t>
                      </a:r>
                      <a:r>
                        <a:rPr dirty="0" sz="2800" spc="-1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illegal</a:t>
                      </a:r>
                      <a:r>
                        <a:rPr dirty="0" sz="2800" spc="-114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usage: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ts val="2655"/>
                        </a:lnSpc>
                      </a:pPr>
                      <a:r>
                        <a:rPr dirty="0" sz="28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&amp;125;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ts val="2655"/>
                        </a:lnSpc>
                      </a:pP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//point</a:t>
                      </a:r>
                      <a:r>
                        <a:rPr dirty="0" sz="2800" spc="-65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800" spc="-9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constants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67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ts val="3100"/>
                        </a:lnSpc>
                      </a:pP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int</a:t>
                      </a:r>
                      <a:r>
                        <a:rPr dirty="0" sz="2800" spc="-7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x[10];</a:t>
                      </a:r>
                      <a:r>
                        <a:rPr dirty="0" sz="2800" spc="-4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25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&amp;x;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ts val="3100"/>
                        </a:lnSpc>
                      </a:pP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//pointing</a:t>
                      </a:r>
                      <a:r>
                        <a:rPr dirty="0" sz="2800" spc="-8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800" spc="-1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array</a:t>
                      </a:r>
                      <a:r>
                        <a:rPr dirty="0" sz="2800" spc="-13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names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ts val="3100"/>
                        </a:lnSpc>
                      </a:pPr>
                      <a:r>
                        <a:rPr dirty="0" sz="28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&amp;(x+y)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7515">
                        <a:lnSpc>
                          <a:spcPts val="3100"/>
                        </a:lnSpc>
                      </a:pP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//pointing</a:t>
                      </a:r>
                      <a:r>
                        <a:rPr dirty="0" sz="2800" spc="-7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2800" spc="-12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00" spc="-1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expressions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88162"/>
            <a:ext cx="594169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0000"/>
                </a:solidFill>
              </a:rPr>
              <a:t>Declaring</a:t>
            </a:r>
            <a:r>
              <a:rPr dirty="0" spc="-1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pointer</a:t>
            </a:r>
            <a:r>
              <a:rPr dirty="0" spc="-204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variables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18005" y="3932885"/>
            <a:ext cx="1586865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dirty="0" sz="3400" spc="-25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400" spc="-20">
                <a:solidFill>
                  <a:srgbClr val="FF0000"/>
                </a:solidFill>
                <a:latin typeface="Times New Roman"/>
                <a:cs typeface="Times New Roman"/>
              </a:rPr>
              <a:t>*ip;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18005" y="4412107"/>
            <a:ext cx="2079625" cy="10217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770"/>
              </a:lnSpc>
              <a:spcBef>
                <a:spcPts val="480"/>
              </a:spcBef>
              <a:tabLst>
                <a:tab pos="1021715" algn="l"/>
              </a:tabLst>
            </a:pP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double</a:t>
            </a:r>
            <a:r>
              <a:rPr dirty="0" sz="3400" spc="-8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 spc="-20">
                <a:solidFill>
                  <a:srgbClr val="FF0000"/>
                </a:solidFill>
                <a:latin typeface="Times New Roman"/>
                <a:cs typeface="Times New Roman"/>
              </a:rPr>
              <a:t>*dp; </a:t>
            </a:r>
            <a:r>
              <a:rPr dirty="0" sz="3400" spc="-10">
                <a:solidFill>
                  <a:srgbClr val="FF0000"/>
                </a:solidFill>
                <a:latin typeface="Times New Roman"/>
                <a:cs typeface="Times New Roman"/>
              </a:rPr>
              <a:t>float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400" spc="-20">
                <a:solidFill>
                  <a:srgbClr val="FF0000"/>
                </a:solidFill>
                <a:latin typeface="Times New Roman"/>
                <a:cs typeface="Times New Roman"/>
              </a:rPr>
              <a:t>*fp;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18005" y="5367324"/>
            <a:ext cx="1718945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79500" algn="l"/>
              </a:tabLst>
            </a:pPr>
            <a:r>
              <a:rPr dirty="0" sz="3400" spc="-20">
                <a:solidFill>
                  <a:srgbClr val="FF0000"/>
                </a:solidFill>
                <a:latin typeface="Times New Roman"/>
                <a:cs typeface="Times New Roman"/>
              </a:rPr>
              <a:t>char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400" spc="-25">
                <a:solidFill>
                  <a:srgbClr val="FF0000"/>
                </a:solidFill>
                <a:latin typeface="Times New Roman"/>
                <a:cs typeface="Times New Roman"/>
              </a:rPr>
              <a:t>*ch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75175" y="3932885"/>
            <a:ext cx="4576445" cy="1978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925"/>
              </a:lnSpc>
              <a:spcBef>
                <a:spcPts val="95"/>
              </a:spcBef>
            </a:pP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/*</a:t>
            </a:r>
            <a:r>
              <a:rPr dirty="0" sz="3400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pointer</a:t>
            </a:r>
            <a:r>
              <a:rPr dirty="0" sz="3400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dirty="0" sz="340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dirty="0" sz="340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integer</a:t>
            </a:r>
            <a:r>
              <a:rPr dirty="0" sz="3400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FF0000"/>
                </a:solidFill>
                <a:latin typeface="Times New Roman"/>
                <a:cs typeface="Times New Roman"/>
              </a:rPr>
              <a:t>*/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ts val="3770"/>
              </a:lnSpc>
            </a:pP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/*</a:t>
            </a:r>
            <a:r>
              <a:rPr dirty="0" sz="34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pointer</a:t>
            </a:r>
            <a:r>
              <a:rPr dirty="0" sz="340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dirty="0" sz="34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340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double</a:t>
            </a:r>
            <a:r>
              <a:rPr dirty="0" sz="34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FF0000"/>
                </a:solidFill>
                <a:latin typeface="Times New Roman"/>
                <a:cs typeface="Times New Roman"/>
              </a:rPr>
              <a:t>*/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ts val="3760"/>
              </a:lnSpc>
            </a:pP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/*</a:t>
            </a:r>
            <a:r>
              <a:rPr dirty="0" sz="34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pointer</a:t>
            </a:r>
            <a:r>
              <a:rPr dirty="0" sz="3400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dirty="0" sz="3400" spc="-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3400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float</a:t>
            </a:r>
            <a:r>
              <a:rPr dirty="0" sz="34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FF0000"/>
                </a:solidFill>
                <a:latin typeface="Times New Roman"/>
                <a:cs typeface="Times New Roman"/>
              </a:rPr>
              <a:t>*/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ts val="3920"/>
              </a:lnSpc>
            </a:pP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/*</a:t>
            </a:r>
            <a:r>
              <a:rPr dirty="0" sz="3400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pointer</a:t>
            </a:r>
            <a:r>
              <a:rPr dirty="0" sz="3400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dirty="0" sz="340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3400" spc="-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FF0000"/>
                </a:solidFill>
                <a:latin typeface="Times New Roman"/>
                <a:cs typeface="Times New Roman"/>
              </a:rPr>
              <a:t>character</a:t>
            </a:r>
            <a:r>
              <a:rPr dirty="0" sz="3400" spc="-3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400" spc="-25">
                <a:solidFill>
                  <a:srgbClr val="FF0000"/>
                </a:solidFill>
                <a:latin typeface="Times New Roman"/>
                <a:cs typeface="Times New Roman"/>
              </a:rPr>
              <a:t>*/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939" y="1568272"/>
            <a:ext cx="6710045" cy="2431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Times New Roman"/>
                <a:cs typeface="Times New Roman"/>
              </a:rPr>
              <a:t>Syntax:</a:t>
            </a:r>
            <a:r>
              <a:rPr dirty="0" sz="2800" spc="-120" b="1"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data_type</a:t>
            </a:r>
            <a:r>
              <a:rPr dirty="0" sz="2800" spc="-1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*pointer_variable_name;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dirty="0" sz="2800" spc="-25" b="1">
                <a:solidFill>
                  <a:srgbClr val="FF0000"/>
                </a:solidFill>
                <a:latin typeface="Times New Roman"/>
                <a:cs typeface="Times New Roman"/>
              </a:rPr>
              <a:t> *p;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15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5"/>
              </a:spcBef>
            </a:pPr>
            <a:r>
              <a:rPr dirty="0" sz="3400" spc="-10" b="1">
                <a:latin typeface="Times New Roman"/>
                <a:cs typeface="Times New Roman"/>
              </a:rPr>
              <a:t>Example: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361" y="350901"/>
            <a:ext cx="316230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Pointers</a:t>
            </a:r>
            <a:r>
              <a:rPr dirty="0" sz="4400" spc="-20"/>
              <a:t> </a:t>
            </a:r>
            <a:r>
              <a:rPr dirty="0" sz="4400"/>
              <a:t>in </a:t>
            </a:r>
            <a:r>
              <a:rPr dirty="0" sz="4400" spc="-50"/>
              <a:t>C</a:t>
            </a:r>
            <a:endParaRPr sz="44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3471545">
              <a:lnSpc>
                <a:spcPct val="100000"/>
              </a:lnSpc>
              <a:spcBef>
                <a:spcPts val="95"/>
              </a:spcBef>
            </a:pPr>
            <a:r>
              <a:rPr dirty="0"/>
              <a:t>#include</a:t>
            </a:r>
            <a:r>
              <a:rPr dirty="0" spc="-100"/>
              <a:t> </a:t>
            </a:r>
            <a:r>
              <a:rPr dirty="0" spc="-10"/>
              <a:t>&lt;stdio.h&gt; </a:t>
            </a:r>
            <a:r>
              <a:rPr dirty="0"/>
              <a:t>int</a:t>
            </a:r>
            <a:r>
              <a:rPr dirty="0" spc="-25"/>
              <a:t> </a:t>
            </a:r>
            <a:r>
              <a:rPr dirty="0" spc="-10"/>
              <a:t>main()</a:t>
            </a:r>
          </a:p>
          <a:p>
            <a:pPr marL="12700">
              <a:lnSpc>
                <a:spcPct val="100000"/>
              </a:lnSpc>
            </a:pPr>
            <a:r>
              <a:rPr dirty="0" spc="-5"/>
              <a:t>{</a:t>
            </a:r>
          </a:p>
          <a:p>
            <a:pPr marL="190500">
              <a:lnSpc>
                <a:spcPct val="100000"/>
              </a:lnSpc>
            </a:pPr>
            <a:r>
              <a:rPr dirty="0"/>
              <a:t>int</a:t>
            </a:r>
            <a:r>
              <a:rPr dirty="0" spc="-30"/>
              <a:t> </a:t>
            </a:r>
            <a:r>
              <a:rPr dirty="0"/>
              <a:t>var</a:t>
            </a:r>
            <a:r>
              <a:rPr dirty="0" spc="-95"/>
              <a:t> </a:t>
            </a:r>
            <a:r>
              <a:rPr dirty="0"/>
              <a:t>=</a:t>
            </a:r>
            <a:r>
              <a:rPr dirty="0" spc="-25"/>
              <a:t> </a:t>
            </a:r>
            <a:r>
              <a:rPr dirty="0" spc="-35"/>
              <a:t>5;</a:t>
            </a:r>
          </a:p>
          <a:p>
            <a:pPr marL="190500" marR="508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printf("Value:</a:t>
            </a:r>
            <a:r>
              <a:rPr dirty="0" spc="-60"/>
              <a:t> </a:t>
            </a:r>
            <a:r>
              <a:rPr dirty="0"/>
              <a:t>%d\n",</a:t>
            </a:r>
            <a:r>
              <a:rPr dirty="0" spc="-65"/>
              <a:t> </a:t>
            </a:r>
            <a:r>
              <a:rPr dirty="0" spc="-10"/>
              <a:t>var); printf("Address:</a:t>
            </a:r>
            <a:r>
              <a:rPr dirty="0" spc="-80"/>
              <a:t> </a:t>
            </a:r>
            <a:r>
              <a:rPr dirty="0"/>
              <a:t>%u",</a:t>
            </a:r>
            <a:r>
              <a:rPr dirty="0" spc="-70"/>
              <a:t> </a:t>
            </a:r>
            <a:r>
              <a:rPr dirty="0"/>
              <a:t>&amp;var);</a:t>
            </a:r>
            <a:r>
              <a:rPr dirty="0" spc="-85"/>
              <a:t> </a:t>
            </a:r>
            <a:r>
              <a:rPr dirty="0"/>
              <a:t>return</a:t>
            </a:r>
            <a:r>
              <a:rPr dirty="0" spc="-60"/>
              <a:t> </a:t>
            </a:r>
            <a:r>
              <a:rPr dirty="0" spc="-25"/>
              <a:t>0;</a:t>
            </a:r>
          </a:p>
          <a:p>
            <a:pPr marL="12700">
              <a:lnSpc>
                <a:spcPct val="100000"/>
              </a:lnSpc>
            </a:pPr>
            <a:r>
              <a:rPr dirty="0" spc="-5"/>
              <a:t>}</a:t>
            </a:r>
          </a:p>
          <a:p>
            <a:pPr marL="1725295" marR="3550285">
              <a:lnSpc>
                <a:spcPct val="100000"/>
              </a:lnSpc>
              <a:spcBef>
                <a:spcPts val="944"/>
              </a:spcBef>
            </a:pPr>
            <a:r>
              <a:rPr dirty="0" sz="1800" spc="-10" b="0">
                <a:solidFill>
                  <a:srgbClr val="FF0000"/>
                </a:solidFill>
                <a:latin typeface="Arial Black"/>
                <a:cs typeface="Arial Black"/>
              </a:rPr>
              <a:t>Output: </a:t>
            </a:r>
            <a:r>
              <a:rPr dirty="0" sz="1800" b="0">
                <a:latin typeface="Arial Black"/>
                <a:cs typeface="Arial Black"/>
              </a:rPr>
              <a:t>Value:</a:t>
            </a:r>
            <a:r>
              <a:rPr dirty="0" sz="1800" spc="-90" b="0">
                <a:latin typeface="Arial Black"/>
                <a:cs typeface="Arial Black"/>
              </a:rPr>
              <a:t> </a:t>
            </a:r>
            <a:r>
              <a:rPr dirty="0" sz="1800" spc="-50" b="0">
                <a:latin typeface="Arial Black"/>
                <a:cs typeface="Arial Black"/>
              </a:rPr>
              <a:t>5</a:t>
            </a:r>
            <a:endParaRPr sz="1800">
              <a:latin typeface="Arial Black"/>
              <a:cs typeface="Arial Black"/>
            </a:endParaRPr>
          </a:p>
          <a:p>
            <a:pPr marL="1725295">
              <a:lnSpc>
                <a:spcPct val="100000"/>
              </a:lnSpc>
            </a:pPr>
            <a:r>
              <a:rPr dirty="0" sz="1800" b="0">
                <a:latin typeface="Arial Black"/>
                <a:cs typeface="Arial Black"/>
              </a:rPr>
              <a:t>Address:</a:t>
            </a:r>
            <a:r>
              <a:rPr dirty="0" sz="1800" spc="20" b="0">
                <a:latin typeface="Arial Black"/>
                <a:cs typeface="Arial Black"/>
              </a:rPr>
              <a:t> </a:t>
            </a:r>
            <a:r>
              <a:rPr dirty="0" sz="1800" spc="-10" b="0">
                <a:latin typeface="Arial Black"/>
                <a:cs typeface="Arial Black"/>
              </a:rPr>
              <a:t>2686778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Pointer</a:t>
            </a:r>
            <a:r>
              <a:rPr dirty="0" spc="-240"/>
              <a:t> </a:t>
            </a:r>
            <a:r>
              <a:rPr dirty="0" spc="-10"/>
              <a:t>Assignments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5851" y="911352"/>
            <a:ext cx="6897624" cy="580948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-70"/>
              <a:t> </a:t>
            </a:r>
            <a:r>
              <a:rPr dirty="0" spc="-10"/>
              <a:t>Pointer</a:t>
            </a:r>
            <a:r>
              <a:rPr dirty="0" spc="-210"/>
              <a:t> </a:t>
            </a:r>
            <a:r>
              <a:rPr dirty="0" spc="-10"/>
              <a:t>Works?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4629" y="769061"/>
            <a:ext cx="4713605" cy="258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#include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Times New Roman"/>
                <a:cs typeface="Times New Roman"/>
              </a:rPr>
              <a:t>int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41300" marR="3187065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int*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pc,</a:t>
            </a:r>
            <a:r>
              <a:rPr dirty="0" sz="2400" spc="-25" b="1">
                <a:latin typeface="Times New Roman"/>
                <a:cs typeface="Times New Roman"/>
              </a:rPr>
              <a:t> c; </a:t>
            </a:r>
            <a:r>
              <a:rPr dirty="0" sz="2400" b="1">
                <a:latin typeface="Times New Roman"/>
                <a:cs typeface="Times New Roman"/>
              </a:rPr>
              <a:t>c =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22;</a:t>
            </a:r>
            <a:endParaRPr sz="2400">
              <a:latin typeface="Times New Roman"/>
              <a:cs typeface="Times New Roman"/>
            </a:endParaRPr>
          </a:p>
          <a:p>
            <a:pPr marL="241300" marR="508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printf("Address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c: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%u\n",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&amp;c); </a:t>
            </a:r>
            <a:r>
              <a:rPr dirty="0" sz="2400" spc="-25" b="1">
                <a:latin typeface="Times New Roman"/>
                <a:cs typeface="Times New Roman"/>
              </a:rPr>
              <a:t>printf("Value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c: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%d\n\n",</a:t>
            </a:r>
            <a:r>
              <a:rPr dirty="0" sz="2400" spc="-25" b="1">
                <a:latin typeface="Times New Roman"/>
                <a:cs typeface="Times New Roman"/>
              </a:rPr>
              <a:t> c);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3229" y="3695776"/>
            <a:ext cx="5984875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pc = </a:t>
            </a:r>
            <a:r>
              <a:rPr dirty="0" sz="2400" spc="-25" b="1">
                <a:latin typeface="Times New Roman"/>
                <a:cs typeface="Times New Roman"/>
              </a:rPr>
              <a:t>&amp;c;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400" spc="-10" b="1">
                <a:latin typeface="Times New Roman"/>
                <a:cs typeface="Times New Roman"/>
              </a:rPr>
              <a:t>printf("Address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pointer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pc: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%u\n",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pc); </a:t>
            </a:r>
            <a:r>
              <a:rPr dirty="0" sz="2400" spc="-10" b="1">
                <a:latin typeface="Times New Roman"/>
                <a:cs typeface="Times New Roman"/>
              </a:rPr>
              <a:t>printf("Content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pointer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pc: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%d\n\n", </a:t>
            </a:r>
            <a:r>
              <a:rPr dirty="0" sz="2400" spc="-10" b="1">
                <a:latin typeface="Times New Roman"/>
                <a:cs typeface="Times New Roman"/>
              </a:rPr>
              <a:t>*pc);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43229" y="5159502"/>
            <a:ext cx="448564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*pc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2;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335405" algn="l"/>
              </a:tabLst>
            </a:pPr>
            <a:r>
              <a:rPr dirty="0" sz="2400" b="1">
                <a:latin typeface="Times New Roman"/>
                <a:cs typeface="Times New Roman"/>
              </a:rPr>
              <a:t>printf("Address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c: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%u\n",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&amp;c); </a:t>
            </a:r>
            <a:r>
              <a:rPr dirty="0" sz="2400" spc="-25" b="1">
                <a:latin typeface="Times New Roman"/>
                <a:cs typeface="Times New Roman"/>
              </a:rPr>
              <a:t>printf("Value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c: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%d\n\n",</a:t>
            </a:r>
            <a:r>
              <a:rPr dirty="0" sz="2400" spc="-25" b="1">
                <a:latin typeface="Times New Roman"/>
                <a:cs typeface="Times New Roman"/>
              </a:rPr>
              <a:t> c); </a:t>
            </a:r>
            <a:r>
              <a:rPr dirty="0" sz="2400" b="1">
                <a:latin typeface="Times New Roman"/>
                <a:cs typeface="Times New Roman"/>
              </a:rPr>
              <a:t>return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0;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50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09129" y="1091565"/>
            <a:ext cx="978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509129" y="1640204"/>
            <a:ext cx="21615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Address</a:t>
            </a:r>
            <a:r>
              <a:rPr dirty="0" sz="1800" spc="-2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dirty="0" sz="1800" spc="-4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c:</a:t>
            </a:r>
            <a:r>
              <a:rPr dirty="0" sz="1800" spc="-4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6F2F9F"/>
                </a:solidFill>
                <a:latin typeface="Times New Roman"/>
                <a:cs typeface="Times New Roman"/>
              </a:rPr>
              <a:t>2686784 </a:t>
            </a:r>
            <a:r>
              <a:rPr dirty="0" sz="1800" spc="-30" b="1">
                <a:solidFill>
                  <a:srgbClr val="6F2F9F"/>
                </a:solidFill>
                <a:latin typeface="Times New Roman"/>
                <a:cs typeface="Times New Roman"/>
              </a:rPr>
              <a:t>Value</a:t>
            </a:r>
            <a:r>
              <a:rPr dirty="0" sz="1800" spc="-3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dirty="0" sz="1800" spc="-4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c:</a:t>
            </a:r>
            <a:r>
              <a:rPr dirty="0" sz="1800" spc="-4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6F2F9F"/>
                </a:solidFill>
                <a:latin typeface="Times New Roman"/>
                <a:cs typeface="Times New Roman"/>
              </a:rPr>
              <a:t>22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509129" y="2462860"/>
            <a:ext cx="305308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Address</a:t>
            </a:r>
            <a:r>
              <a:rPr dirty="0" sz="1800" spc="-1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dirty="0" sz="1800" spc="-3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pointer</a:t>
            </a:r>
            <a:r>
              <a:rPr dirty="0" sz="1800" spc="-5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pc:</a:t>
            </a:r>
            <a:r>
              <a:rPr dirty="0" sz="1800" spc="-1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6F2F9F"/>
                </a:solidFill>
                <a:latin typeface="Times New Roman"/>
                <a:cs typeface="Times New Roman"/>
              </a:rPr>
              <a:t>2686784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Content</a:t>
            </a:r>
            <a:r>
              <a:rPr dirty="0" sz="1800" spc="-4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dirty="0" sz="1800" spc="-3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pointer</a:t>
            </a:r>
            <a:r>
              <a:rPr dirty="0" sz="1800" spc="-7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pc:</a:t>
            </a:r>
            <a:r>
              <a:rPr dirty="0" sz="1800" spc="-3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6F2F9F"/>
                </a:solidFill>
                <a:latin typeface="Times New Roman"/>
                <a:cs typeface="Times New Roman"/>
              </a:rPr>
              <a:t>22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509129" y="3286505"/>
            <a:ext cx="21609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Address</a:t>
            </a:r>
            <a:r>
              <a:rPr dirty="0" sz="1800" spc="-3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dirty="0" sz="1800" spc="-4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c:</a:t>
            </a:r>
            <a:r>
              <a:rPr dirty="0" sz="1800" spc="-4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6F2F9F"/>
                </a:solidFill>
                <a:latin typeface="Times New Roman"/>
                <a:cs typeface="Times New Roman"/>
              </a:rPr>
              <a:t>2686784 </a:t>
            </a:r>
            <a:r>
              <a:rPr dirty="0" sz="1800" spc="-30" b="1">
                <a:solidFill>
                  <a:srgbClr val="6F2F9F"/>
                </a:solidFill>
                <a:latin typeface="Times New Roman"/>
                <a:cs typeface="Times New Roman"/>
              </a:rPr>
              <a:t>Value</a:t>
            </a:r>
            <a:r>
              <a:rPr dirty="0" sz="1800" spc="-3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dirty="0" sz="1800" spc="-4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c:</a:t>
            </a:r>
            <a:r>
              <a:rPr dirty="0" sz="1800" spc="-4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spc="-50" b="1">
                <a:solidFill>
                  <a:srgbClr val="6F2F9F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9214" y="802640"/>
            <a:ext cx="11354435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Black"/>
                <a:cs typeface="Arial Black"/>
              </a:rPr>
              <a:t>int</a:t>
            </a:r>
            <a:r>
              <a:rPr dirty="0" sz="2400" spc="-2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c,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 spc="-20">
                <a:latin typeface="Arial Black"/>
                <a:cs typeface="Arial Black"/>
              </a:rPr>
              <a:t>*pc;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pc</a:t>
            </a:r>
            <a:r>
              <a:rPr dirty="0" sz="2400" spc="-1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=</a:t>
            </a:r>
            <a:r>
              <a:rPr dirty="0" sz="2400" spc="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Arial Black"/>
                <a:cs typeface="Arial Black"/>
              </a:rPr>
              <a:t>c;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Black"/>
                <a:cs typeface="Arial Black"/>
              </a:rPr>
              <a:t>//</a:t>
            </a:r>
            <a:r>
              <a:rPr dirty="0" sz="2400" spc="-2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Wrong! pc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is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address</a:t>
            </a:r>
            <a:r>
              <a:rPr dirty="0" sz="2400" spc="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whereas,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c is not an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address.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*pc</a:t>
            </a:r>
            <a:r>
              <a:rPr dirty="0" sz="2400" spc="-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=</a:t>
            </a:r>
            <a:r>
              <a:rPr dirty="0" sz="2400" spc="-1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Arial Black"/>
                <a:cs typeface="Arial Black"/>
              </a:rPr>
              <a:t>&amp;c;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Black"/>
                <a:cs typeface="Arial Black"/>
              </a:rPr>
              <a:t>//</a:t>
            </a:r>
            <a:r>
              <a:rPr dirty="0" sz="2400" spc="-2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Wrong!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*pc is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the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value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pointed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by</a:t>
            </a:r>
            <a:r>
              <a:rPr dirty="0" sz="2400" spc="10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address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885"/>
              </a:spcBef>
            </a:pP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pc</a:t>
            </a:r>
            <a:r>
              <a:rPr dirty="0" sz="2400" spc="-1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=</a:t>
            </a:r>
            <a:r>
              <a:rPr dirty="0" sz="2400" spc="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Arial Black"/>
                <a:cs typeface="Arial Black"/>
              </a:rPr>
              <a:t>&amp;c;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Black"/>
                <a:cs typeface="Arial Black"/>
              </a:rPr>
              <a:t>//</a:t>
            </a:r>
            <a:r>
              <a:rPr dirty="0" sz="2400" spc="-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Correct!</a:t>
            </a:r>
            <a:r>
              <a:rPr dirty="0" sz="2400" spc="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pc is an</a:t>
            </a:r>
            <a:r>
              <a:rPr dirty="0" sz="2400" spc="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address</a:t>
            </a:r>
            <a:r>
              <a:rPr dirty="0" sz="2400" spc="-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and,</a:t>
            </a:r>
            <a:r>
              <a:rPr dirty="0" sz="2400" spc="3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%amp;pc</a:t>
            </a:r>
            <a:r>
              <a:rPr dirty="0" sz="2400" spc="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is</a:t>
            </a:r>
            <a:r>
              <a:rPr dirty="0" sz="2400" spc="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also</a:t>
            </a:r>
            <a:r>
              <a:rPr dirty="0" sz="2400" spc="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an</a:t>
            </a:r>
            <a:r>
              <a:rPr dirty="0" sz="2400" spc="20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address.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*pc</a:t>
            </a:r>
            <a:r>
              <a:rPr dirty="0" sz="2400" spc="-5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>
                <a:solidFill>
                  <a:srgbClr val="FF0000"/>
                </a:solidFill>
                <a:latin typeface="Arial Black"/>
                <a:cs typeface="Arial Black"/>
              </a:rPr>
              <a:t>=</a:t>
            </a:r>
            <a:r>
              <a:rPr dirty="0" sz="2400" spc="-1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Arial Black"/>
                <a:cs typeface="Arial Black"/>
              </a:rPr>
              <a:t>c;</a:t>
            </a:r>
            <a:endParaRPr sz="2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Black"/>
                <a:cs typeface="Arial Black"/>
              </a:rPr>
              <a:t>//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Correct!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*pc</a:t>
            </a:r>
            <a:r>
              <a:rPr dirty="0" sz="2400" spc="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is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the value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pointed</a:t>
            </a:r>
            <a:r>
              <a:rPr dirty="0" sz="2400" spc="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by</a:t>
            </a:r>
            <a:r>
              <a:rPr dirty="0" sz="2400" spc="-1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address</a:t>
            </a:r>
            <a:r>
              <a:rPr dirty="0" sz="2400" spc="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and, c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is</a:t>
            </a:r>
            <a:r>
              <a:rPr dirty="0" sz="2400" spc="-10">
                <a:latin typeface="Arial Black"/>
                <a:cs typeface="Arial Black"/>
              </a:rPr>
              <a:t> </a:t>
            </a:r>
            <a:r>
              <a:rPr dirty="0" sz="2400">
                <a:latin typeface="Arial Black"/>
                <a:cs typeface="Arial Black"/>
              </a:rPr>
              <a:t>also a</a:t>
            </a:r>
            <a:r>
              <a:rPr dirty="0" sz="2400" spc="5">
                <a:latin typeface="Arial Black"/>
                <a:cs typeface="Arial Black"/>
              </a:rPr>
              <a:t> </a:t>
            </a:r>
            <a:r>
              <a:rPr dirty="0" sz="2400" spc="-10">
                <a:latin typeface="Arial Black"/>
                <a:cs typeface="Arial Black"/>
              </a:rPr>
              <a:t>value.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101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Pointer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Analysis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–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Correct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Wrong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360" y="-18796"/>
            <a:ext cx="34239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NULL</a:t>
            </a:r>
            <a:r>
              <a:rPr dirty="0" sz="3600" spc="90"/>
              <a:t> </a:t>
            </a:r>
            <a:r>
              <a:rPr dirty="0" sz="4400" spc="-10"/>
              <a:t>Pointers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656336" y="853186"/>
            <a:ext cx="10897235" cy="365696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It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always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good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practice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assign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NULL</a:t>
            </a:r>
            <a:r>
              <a:rPr dirty="0" sz="2800" spc="-1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value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pointer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variable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in </a:t>
            </a:r>
            <a:r>
              <a:rPr dirty="0" sz="2800">
                <a:latin typeface="Times New Roman"/>
                <a:cs typeface="Times New Roman"/>
              </a:rPr>
              <a:t>case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you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do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have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exact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address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assigned.</a:t>
            </a:r>
            <a:endParaRPr sz="2800">
              <a:latin typeface="Times New Roman"/>
              <a:cs typeface="Times New Roman"/>
            </a:endParaRPr>
          </a:p>
          <a:p>
            <a:pPr marL="1680210" marR="6811009">
              <a:lnSpc>
                <a:spcPct val="100000"/>
              </a:lnSpc>
              <a:spcBef>
                <a:spcPts val="111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#include</a:t>
            </a:r>
            <a:r>
              <a:rPr dirty="0" sz="2400" spc="-1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&lt;stdio.h&gt;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main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60" b="1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908810">
              <a:lnSpc>
                <a:spcPct val="100000"/>
              </a:lnSpc>
              <a:tabLst>
                <a:tab pos="2416810" algn="l"/>
              </a:tabLst>
            </a:pP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	*ptr</a:t>
            </a:r>
            <a:r>
              <a:rPr dirty="0" sz="2400" spc="-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NULL;</a:t>
            </a:r>
            <a:endParaRPr sz="2400">
              <a:latin typeface="Times New Roman"/>
              <a:cs typeface="Times New Roman"/>
            </a:endParaRPr>
          </a:p>
          <a:p>
            <a:pPr marL="1908810">
              <a:lnSpc>
                <a:spcPct val="100000"/>
              </a:lnSpc>
              <a:tabLst>
                <a:tab pos="7149465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printf("The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ptr</a:t>
            </a:r>
            <a:r>
              <a:rPr dirty="0" sz="2400" spc="-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%x\n",</a:t>
            </a:r>
            <a:r>
              <a:rPr dirty="0" sz="2400" spc="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ptr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908810">
              <a:lnSpc>
                <a:spcPct val="100000"/>
              </a:lnSpc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return</a:t>
            </a:r>
            <a:r>
              <a:rPr dirty="0" sz="2400" spc="-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680210">
              <a:lnSpc>
                <a:spcPct val="100000"/>
              </a:lnSpc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8905">
              <a:lnSpc>
                <a:spcPct val="100000"/>
              </a:lnSpc>
              <a:spcBef>
                <a:spcPts val="894"/>
              </a:spcBef>
            </a:pPr>
            <a:r>
              <a:rPr dirty="0" sz="2400" spc="-3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check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null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pointer,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you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'if'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follows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−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3074" y="4849114"/>
            <a:ext cx="107378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if(ptr) if(!ptr)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47728" y="4849114"/>
            <a:ext cx="424243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/*</a:t>
            </a:r>
            <a:r>
              <a:rPr dirty="0" sz="28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succeeds</a:t>
            </a:r>
            <a:r>
              <a:rPr dirty="0" sz="28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dirty="0" sz="28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8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dirty="0" sz="28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dirty="0" sz="28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null</a:t>
            </a:r>
            <a:r>
              <a:rPr dirty="0" sz="28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FF0000"/>
                </a:solidFill>
                <a:latin typeface="Times New Roman"/>
                <a:cs typeface="Times New Roman"/>
              </a:rPr>
              <a:t>*/</a:t>
            </a:r>
            <a:endParaRPr sz="2800">
              <a:latin typeface="Times New Roman"/>
              <a:cs typeface="Times New Roman"/>
            </a:endParaRPr>
          </a:p>
          <a:p>
            <a:pPr marL="42545">
              <a:lnSpc>
                <a:spcPct val="100000"/>
              </a:lnSpc>
            </a:pP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/*</a:t>
            </a:r>
            <a:r>
              <a:rPr dirty="0" sz="2800" spc="-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succeeds</a:t>
            </a:r>
            <a:r>
              <a:rPr dirty="0" sz="28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dirty="0" sz="28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8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dirty="0" sz="28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null</a:t>
            </a:r>
            <a:r>
              <a:rPr dirty="0" sz="28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FF0000"/>
                </a:solidFill>
                <a:latin typeface="Times New Roman"/>
                <a:cs typeface="Times New Roman"/>
              </a:rPr>
              <a:t>*/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3074" y="6188894"/>
            <a:ext cx="85185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Note:</a:t>
            </a:r>
            <a:r>
              <a:rPr dirty="0" sz="1900" spc="90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spc="95" b="1" i="1">
                <a:solidFill>
                  <a:srgbClr val="2E5496"/>
                </a:solidFill>
                <a:latin typeface="Arial"/>
                <a:cs typeface="Arial"/>
              </a:rPr>
              <a:t>Except</a:t>
            </a: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spc="75" b="1" i="1">
                <a:solidFill>
                  <a:srgbClr val="2E5496"/>
                </a:solidFill>
                <a:latin typeface="Arial"/>
                <a:cs typeface="Arial"/>
              </a:rPr>
              <a:t>NULL</a:t>
            </a: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spc="65" b="1" i="1">
                <a:solidFill>
                  <a:srgbClr val="2E5496"/>
                </a:solidFill>
                <a:latin typeface="Arial"/>
                <a:cs typeface="Arial"/>
              </a:rPr>
              <a:t>and</a:t>
            </a: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spc="100" b="1" i="1">
                <a:solidFill>
                  <a:srgbClr val="2E5496"/>
                </a:solidFill>
                <a:latin typeface="Arial"/>
                <a:cs typeface="Arial"/>
              </a:rPr>
              <a:t>0,</a:t>
            </a: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b="1" i="1">
                <a:solidFill>
                  <a:srgbClr val="2E5496"/>
                </a:solidFill>
                <a:latin typeface="Arial"/>
                <a:cs typeface="Arial"/>
              </a:rPr>
              <a:t>no</a:t>
            </a: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 other</a:t>
            </a:r>
            <a:r>
              <a:rPr dirty="0" sz="1900" spc="75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value </a:t>
            </a:r>
            <a:r>
              <a:rPr dirty="0" sz="1900" spc="105" b="1" i="1">
                <a:solidFill>
                  <a:srgbClr val="2E5496"/>
                </a:solidFill>
                <a:latin typeface="Arial"/>
                <a:cs typeface="Arial"/>
              </a:rPr>
              <a:t>can</a:t>
            </a:r>
            <a:r>
              <a:rPr dirty="0" sz="1900" spc="85" b="1" i="1">
                <a:solidFill>
                  <a:srgbClr val="2E5496"/>
                </a:solidFill>
                <a:latin typeface="Arial"/>
                <a:cs typeface="Arial"/>
              </a:rPr>
              <a:t> be </a:t>
            </a:r>
            <a:r>
              <a:rPr dirty="0" sz="1900" spc="65" b="1" i="1">
                <a:solidFill>
                  <a:srgbClr val="2E5496"/>
                </a:solidFill>
                <a:latin typeface="Arial"/>
                <a:cs typeface="Arial"/>
              </a:rPr>
              <a:t>assigned</a:t>
            </a:r>
            <a:r>
              <a:rPr dirty="0" sz="1900" spc="75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spc="95" b="1" i="1">
                <a:solidFill>
                  <a:srgbClr val="2E5496"/>
                </a:solidFill>
                <a:latin typeface="Arial"/>
                <a:cs typeface="Arial"/>
              </a:rPr>
              <a:t>to</a:t>
            </a:r>
            <a:r>
              <a:rPr dirty="0" sz="1900" spc="90" b="1" i="1">
                <a:solidFill>
                  <a:srgbClr val="2E5496"/>
                </a:solidFill>
                <a:latin typeface="Arial"/>
                <a:cs typeface="Arial"/>
              </a:rPr>
              <a:t> </a:t>
            </a:r>
            <a:r>
              <a:rPr dirty="0" sz="1900" spc="65" b="1" i="1">
                <a:solidFill>
                  <a:srgbClr val="2E5496"/>
                </a:solidFill>
                <a:latin typeface="Arial"/>
                <a:cs typeface="Arial"/>
              </a:rPr>
              <a:t>pointer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Pointer</a:t>
            </a:r>
            <a:r>
              <a:rPr dirty="0" spc="-240"/>
              <a:t> </a:t>
            </a:r>
            <a:r>
              <a:rPr dirty="0" spc="-10"/>
              <a:t>Arithmetic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17651" y="958367"/>
            <a:ext cx="9660890" cy="360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limited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set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arithmetic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operations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can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performed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pointers.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pointer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may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be: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incremented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++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decremented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-</a:t>
            </a:r>
            <a:r>
              <a:rPr dirty="0" sz="2800">
                <a:latin typeface="Times New Roman"/>
                <a:cs typeface="Times New Roman"/>
              </a:rPr>
              <a:t>-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integer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may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added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pointer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+=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Times New Roman"/>
                <a:cs typeface="Times New Roman"/>
              </a:rPr>
              <a:t>an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integer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may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subtracted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pointer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-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101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4810" y="930402"/>
            <a:ext cx="23101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#include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&lt;stdio.h&gt; </a:t>
            </a:r>
            <a:r>
              <a:rPr dirty="0" sz="2200" b="1">
                <a:latin typeface="Times New Roman"/>
                <a:cs typeface="Times New Roman"/>
              </a:rPr>
              <a:t>const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MAX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=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3;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4810" y="1936242"/>
            <a:ext cx="3300095" cy="1701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int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main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()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5" b="1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20979">
              <a:lnSpc>
                <a:spcPct val="100000"/>
              </a:lnSpc>
              <a:tabLst>
                <a:tab pos="688975" algn="l"/>
              </a:tabLst>
            </a:pPr>
            <a:r>
              <a:rPr dirty="0" sz="2200" spc="-25" b="1">
                <a:latin typeface="Times New Roman"/>
                <a:cs typeface="Times New Roman"/>
              </a:rPr>
              <a:t>int</a:t>
            </a:r>
            <a:r>
              <a:rPr dirty="0" sz="2200" b="1">
                <a:latin typeface="Times New Roman"/>
                <a:cs typeface="Times New Roman"/>
              </a:rPr>
              <a:t>	var[]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=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{10,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100,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200};</a:t>
            </a:r>
            <a:endParaRPr sz="2200">
              <a:latin typeface="Times New Roman"/>
              <a:cs typeface="Times New Roman"/>
            </a:endParaRPr>
          </a:p>
          <a:p>
            <a:pPr marL="220979">
              <a:lnSpc>
                <a:spcPct val="100000"/>
              </a:lnSpc>
              <a:tabLst>
                <a:tab pos="688975" algn="l"/>
              </a:tabLst>
            </a:pPr>
            <a:r>
              <a:rPr dirty="0" sz="2200" spc="-25" b="1">
                <a:latin typeface="Times New Roman"/>
                <a:cs typeface="Times New Roman"/>
              </a:rPr>
              <a:t>int</a:t>
            </a:r>
            <a:r>
              <a:rPr dirty="0" sz="2200" b="1">
                <a:latin typeface="Times New Roman"/>
                <a:cs typeface="Times New Roman"/>
              </a:rPr>
              <a:t>	i,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*ptr;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dirty="0" sz="2200" b="1">
                <a:latin typeface="Times New Roman"/>
                <a:cs typeface="Times New Roman"/>
              </a:rPr>
              <a:t>ptr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=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var;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4810" y="3948429"/>
            <a:ext cx="5852795" cy="2372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(</a:t>
            </a:r>
            <a:r>
              <a:rPr dirty="0" sz="2200" spc="-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=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0;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&lt;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MAX;</a:t>
            </a:r>
            <a:r>
              <a:rPr dirty="0" sz="2200" spc="-1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i++)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spc="-50" b="1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431800" marR="5080">
              <a:lnSpc>
                <a:spcPct val="100000"/>
              </a:lnSpc>
            </a:pPr>
            <a:r>
              <a:rPr dirty="0" sz="2200" spc="-10" b="1">
                <a:latin typeface="Times New Roman"/>
                <a:cs typeface="Times New Roman"/>
              </a:rPr>
              <a:t>printf("Address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var[%d]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=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%x\n",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ptr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); </a:t>
            </a:r>
            <a:r>
              <a:rPr dirty="0" sz="2200" spc="-20" b="1">
                <a:latin typeface="Times New Roman"/>
                <a:cs typeface="Times New Roman"/>
              </a:rPr>
              <a:t>printf("Value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var[%d]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=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%d\n",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*ptr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solidFill>
                  <a:srgbClr val="FF0000"/>
                </a:solidFill>
                <a:latin typeface="Times New Roman"/>
                <a:cs typeface="Times New Roman"/>
              </a:rPr>
              <a:t>ptr++;</a:t>
            </a:r>
            <a:endParaRPr sz="2200">
              <a:latin typeface="Times New Roman"/>
              <a:cs typeface="Times New Roman"/>
            </a:endParaRPr>
          </a:p>
          <a:p>
            <a:pPr marL="220979">
              <a:lnSpc>
                <a:spcPct val="100000"/>
              </a:lnSpc>
            </a:pPr>
            <a:r>
              <a:rPr dirty="0" sz="2200" spc="-5" b="1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20979">
              <a:lnSpc>
                <a:spcPct val="100000"/>
              </a:lnSpc>
            </a:pPr>
            <a:r>
              <a:rPr dirty="0" sz="2200" b="1">
                <a:latin typeface="Times New Roman"/>
                <a:cs typeface="Times New Roman"/>
              </a:rPr>
              <a:t>return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0;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5" b="1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81747" y="930401"/>
            <a:ext cx="10864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81747" y="1540001"/>
            <a:ext cx="3187700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Address</a:t>
            </a:r>
            <a:r>
              <a:rPr dirty="0" sz="20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0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var[0]</a:t>
            </a:r>
            <a:r>
              <a:rPr dirty="0" sz="20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bf882b30 </a:t>
            </a:r>
            <a:r>
              <a:rPr dirty="0" sz="2000" spc="-20" b="1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dirty="0" sz="20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var[0]</a:t>
            </a:r>
            <a:r>
              <a:rPr dirty="0" sz="2000" spc="-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0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Address</a:t>
            </a:r>
            <a:r>
              <a:rPr dirty="0" sz="20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var[1]</a:t>
            </a:r>
            <a:r>
              <a:rPr dirty="0" sz="2000" spc="-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bf882b34 </a:t>
            </a:r>
            <a:r>
              <a:rPr dirty="0" sz="2000" spc="-20" b="1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dirty="0" sz="20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var[1]</a:t>
            </a:r>
            <a:r>
              <a:rPr dirty="0" sz="2000" spc="-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0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100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Address</a:t>
            </a:r>
            <a:r>
              <a:rPr dirty="0" sz="20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0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var[2]</a:t>
            </a:r>
            <a:r>
              <a:rPr dirty="0" sz="2000" spc="-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0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FF0000"/>
                </a:solidFill>
                <a:latin typeface="Times New Roman"/>
                <a:cs typeface="Times New Roman"/>
              </a:rPr>
              <a:t>bf882b38 </a:t>
            </a:r>
            <a:r>
              <a:rPr dirty="0" sz="2000" spc="-20" b="1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dirty="0" sz="20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var[2]</a:t>
            </a:r>
            <a:r>
              <a:rPr dirty="0" sz="2000" spc="-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0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FF0000"/>
                </a:solidFill>
                <a:latin typeface="Times New Roman"/>
                <a:cs typeface="Times New Roman"/>
              </a:rPr>
              <a:t>200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95"/>
              </a:spcBef>
            </a:pPr>
            <a:r>
              <a:rPr dirty="0"/>
              <a:t>Chain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Pointers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17651" y="2362833"/>
            <a:ext cx="3744595" cy="377634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2800" spc="-10"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800" spc="-5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27100" marR="468630">
              <a:lnSpc>
                <a:spcPct val="109600"/>
              </a:lnSpc>
            </a:pPr>
            <a:r>
              <a:rPr dirty="0" sz="2800">
                <a:latin typeface="Times New Roman"/>
                <a:cs typeface="Times New Roman"/>
              </a:rPr>
              <a:t>int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x,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*p1,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**p2; </a:t>
            </a:r>
            <a:r>
              <a:rPr dirty="0" sz="2800">
                <a:latin typeface="Times New Roman"/>
                <a:cs typeface="Times New Roman"/>
              </a:rPr>
              <a:t>x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spc="-20">
                <a:latin typeface="Times New Roman"/>
                <a:cs typeface="Times New Roman"/>
              </a:rPr>
              <a:t> 100;</a:t>
            </a:r>
            <a:endParaRPr sz="2800">
              <a:latin typeface="Times New Roman"/>
              <a:cs typeface="Times New Roman"/>
            </a:endParaRPr>
          </a:p>
          <a:p>
            <a:pPr marL="927100" marR="1345565">
              <a:lnSpc>
                <a:spcPct val="109600"/>
              </a:lnSpc>
              <a:spcBef>
                <a:spcPts val="15"/>
              </a:spcBef>
            </a:pPr>
            <a:r>
              <a:rPr dirty="0" sz="2800">
                <a:latin typeface="Times New Roman"/>
                <a:cs typeface="Times New Roman"/>
              </a:rPr>
              <a:t>p1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&amp;x; </a:t>
            </a:r>
            <a:r>
              <a:rPr dirty="0" sz="2800">
                <a:latin typeface="Times New Roman"/>
                <a:cs typeface="Times New Roman"/>
              </a:rPr>
              <a:t>p2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&amp;p1;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25"/>
              </a:spcBef>
            </a:pPr>
            <a:r>
              <a:rPr dirty="0" sz="2800">
                <a:latin typeface="Times New Roman"/>
                <a:cs typeface="Times New Roman"/>
              </a:rPr>
              <a:t>printf(“%d”,</a:t>
            </a:r>
            <a:r>
              <a:rPr dirty="0" sz="2800" spc="-1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**p2);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800" spc="-5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90286" y="5687364"/>
            <a:ext cx="22218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1">
                <a:latin typeface="Times New Roman"/>
                <a:cs typeface="Times New Roman"/>
              </a:rPr>
              <a:t>OUTPUT:</a:t>
            </a:r>
            <a:r>
              <a:rPr dirty="0" sz="2800" spc="-12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100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467" y="873252"/>
            <a:ext cx="6504432" cy="1356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INTRODUCTION TO C</dc:title>
  <dcterms:created xsi:type="dcterms:W3CDTF">2023-03-15T17:03:11Z</dcterms:created>
  <dcterms:modified xsi:type="dcterms:W3CDTF">2023-03-15T17:03:11Z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2023-03-15T00:00:00Z</vt:filetime>
  </property>
  <property fmtid="{D5CDD505-2E9C-101B-9397-08002B2CF9AE}" pid="5" name="Producer">
    <vt:lpwstr>Microsoft® PowerPoint® 2016</vt:lpwstr>
  </property>
</Properties>
</file>