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6"/>
  </p:notesMasterIdLst>
  <p:sldIdLst>
    <p:sldId id="256" r:id="rId2"/>
    <p:sldId id="293" r:id="rId3"/>
    <p:sldId id="294" r:id="rId4"/>
    <p:sldId id="299" r:id="rId5"/>
    <p:sldId id="286" r:id="rId6"/>
    <p:sldId id="287" r:id="rId7"/>
    <p:sldId id="288" r:id="rId8"/>
    <p:sldId id="303" r:id="rId9"/>
    <p:sldId id="302" r:id="rId10"/>
    <p:sldId id="304" r:id="rId11"/>
    <p:sldId id="305" r:id="rId12"/>
    <p:sldId id="306" r:id="rId13"/>
    <p:sldId id="307" r:id="rId14"/>
    <p:sldId id="308" r:id="rId15"/>
    <p:sldId id="310" r:id="rId16"/>
    <p:sldId id="296" r:id="rId17"/>
    <p:sldId id="314" r:id="rId18"/>
    <p:sldId id="313" r:id="rId19"/>
    <p:sldId id="280" r:id="rId20"/>
    <p:sldId id="297" r:id="rId21"/>
    <p:sldId id="281" r:id="rId22"/>
    <p:sldId id="300" r:id="rId23"/>
    <p:sldId id="301" r:id="rId24"/>
    <p:sldId id="278" r:id="rId25"/>
    <p:sldId id="285" r:id="rId26"/>
    <p:sldId id="284" r:id="rId27"/>
    <p:sldId id="317" r:id="rId28"/>
    <p:sldId id="257" r:id="rId29"/>
    <p:sldId id="259" r:id="rId30"/>
    <p:sldId id="260" r:id="rId31"/>
    <p:sldId id="298" r:id="rId32"/>
    <p:sldId id="270" r:id="rId33"/>
    <p:sldId id="272" r:id="rId34"/>
    <p:sldId id="273" r:id="rId35"/>
  </p:sldIdLst>
  <p:sldSz cx="9144000" cy="6858000" type="screen4x3"/>
  <p:notesSz cx="7099300" cy="102346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000" kern="1200">
        <a:solidFill>
          <a:schemeClr val="bg1"/>
        </a:solidFill>
        <a:latin typeface="Comic Sans MS" pitchFamily="64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000" kern="1200">
        <a:solidFill>
          <a:schemeClr val="bg1"/>
        </a:solidFill>
        <a:latin typeface="Comic Sans MS" pitchFamily="64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000" kern="1200">
        <a:solidFill>
          <a:schemeClr val="bg1"/>
        </a:solidFill>
        <a:latin typeface="Comic Sans MS" pitchFamily="64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000" kern="1200">
        <a:solidFill>
          <a:schemeClr val="bg1"/>
        </a:solidFill>
        <a:latin typeface="Comic Sans MS" pitchFamily="64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000" kern="1200">
        <a:solidFill>
          <a:schemeClr val="bg1"/>
        </a:solidFill>
        <a:latin typeface="Comic Sans MS" pitchFamily="6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bg1"/>
        </a:solidFill>
        <a:latin typeface="Comic Sans MS" pitchFamily="6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bg1"/>
        </a:solidFill>
        <a:latin typeface="Comic Sans MS" pitchFamily="6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bg1"/>
        </a:solidFill>
        <a:latin typeface="Comic Sans MS" pitchFamily="6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bg1"/>
        </a:solidFill>
        <a:latin typeface="Comic Sans MS" pitchFamily="6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49" autoAdjust="0"/>
  </p:normalViewPr>
  <p:slideViewPr>
    <p:cSldViewPr>
      <p:cViewPr varScale="1">
        <p:scale>
          <a:sx n="68" d="100"/>
          <a:sy n="68" d="100"/>
        </p:scale>
        <p:origin x="492" y="6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725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92188" y="768350"/>
            <a:ext cx="5113337" cy="383540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709613" y="4860925"/>
            <a:ext cx="5678487" cy="46037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9000" tIns="49680" rIns="99000" bIns="4968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9000" tIns="49680" rIns="99000" bIns="4968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300" smtClean="0">
                <a:solidFill>
                  <a:srgbClr val="000000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6BCA3E88-77BB-4132-819C-9FDD6A68AE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640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B56908B5-01CB-4A7B-A0E5-B9B6FCD8070D}" type="slidenum">
              <a:rPr lang="en-US"/>
              <a:pPr/>
              <a:t>1</a:t>
            </a:fld>
            <a:endParaRPr lang="en-US"/>
          </a:p>
        </p:txBody>
      </p:sp>
      <p:sp>
        <p:nvSpPr>
          <p:cNvPr id="3174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3174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E677119-4D51-4BA0-A85B-A358B32346B2}" type="slidenum">
              <a:rPr lang="en-US"/>
              <a:pPr/>
              <a:t>2</a:t>
            </a:fld>
            <a:endParaRPr lang="en-US"/>
          </a:p>
        </p:txBody>
      </p:sp>
      <p:sp>
        <p:nvSpPr>
          <p:cNvPr id="36867" name="Text Box 1"/>
          <p:cNvSpPr txBox="1">
            <a:spLocks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9000" tIns="49680" rIns="99000" bIns="49680" anchor="b"/>
          <a:lstStyle/>
          <a:p>
            <a: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0BBA602-B31B-468F-B31F-4D2C01B785F5}" type="slidenum">
              <a:rPr lang="en-US" sz="1300">
                <a:solidFill>
                  <a:srgbClr val="000000"/>
                </a:solidFill>
                <a:latin typeface="Arial" charset="0"/>
                <a:ea typeface="宋体" charset="-122"/>
              </a:rPr>
              <a:pPr algn="r" eaLnBrk="1" hangingPunct="1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</a:t>
            </a:fld>
            <a:endParaRPr lang="en-US" sz="130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686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3686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2295CE9-818C-42F2-B9DF-1ABDA030E53B}" type="slidenum">
              <a:rPr lang="en-US"/>
              <a:pPr/>
              <a:t>3</a:t>
            </a:fld>
            <a:endParaRPr lang="en-US"/>
          </a:p>
        </p:txBody>
      </p:sp>
      <p:sp>
        <p:nvSpPr>
          <p:cNvPr id="37891" name="Text Box 1"/>
          <p:cNvSpPr txBox="1">
            <a:spLocks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9000" tIns="49680" rIns="99000" bIns="49680" anchor="b"/>
          <a:lstStyle/>
          <a:p>
            <a: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3C34657-3656-4A75-9FD9-B3D3F2FC588C}" type="slidenum">
              <a:rPr lang="en-US" sz="1300">
                <a:solidFill>
                  <a:srgbClr val="000000"/>
                </a:solidFill>
                <a:latin typeface="Arial" charset="0"/>
                <a:ea typeface="宋体" charset="-122"/>
              </a:rPr>
              <a:pPr algn="r" eaLnBrk="1" hangingPunct="1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</a:t>
            </a:fld>
            <a:endParaRPr lang="en-US" sz="130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789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3789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347585B1-7C96-4C73-92A3-31FB8475473B}" type="slidenum">
              <a:rPr lang="en-US"/>
              <a:pPr/>
              <a:t>16</a:t>
            </a:fld>
            <a:endParaRPr lang="en-US"/>
          </a:p>
        </p:txBody>
      </p:sp>
      <p:sp>
        <p:nvSpPr>
          <p:cNvPr id="4403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4403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44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328DA6F-2B4D-480F-BAE2-DA9AAD4CA571}" type="slidenum">
              <a:rPr lang="en-US"/>
              <a:pPr/>
              <a:t>19</a:t>
            </a:fld>
            <a:endParaRPr lang="en-US"/>
          </a:p>
        </p:txBody>
      </p:sp>
      <p:sp>
        <p:nvSpPr>
          <p:cNvPr id="56323" name="Text Box 1"/>
          <p:cNvSpPr txBox="1">
            <a:spLocks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9000" tIns="49680" rIns="99000" bIns="49680" anchor="b"/>
          <a:lstStyle/>
          <a:p>
            <a: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3D6208A-2A83-40F5-BAD1-6DF0004D9323}" type="slidenum">
              <a:rPr lang="en-US" sz="1300">
                <a:solidFill>
                  <a:srgbClr val="000000"/>
                </a:solidFill>
                <a:latin typeface="Arial" charset="0"/>
                <a:ea typeface="宋体" charset="-122"/>
              </a:rPr>
              <a:pPr algn="r" eaLnBrk="1" hangingPunct="1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19</a:t>
            </a:fld>
            <a:endParaRPr lang="en-US" sz="130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5632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5632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1028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AEFEFF04-251D-4328-86E9-7D0B23FB1826}" type="slidenum">
              <a:rPr lang="en-US"/>
              <a:pPr/>
              <a:t>20</a:t>
            </a:fld>
            <a:endParaRPr lang="en-US"/>
          </a:p>
        </p:txBody>
      </p:sp>
      <p:sp>
        <p:nvSpPr>
          <p:cNvPr id="4505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4506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08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6A3E7112-A877-4A48-806E-903691ECC1E1}" type="slidenum">
              <a:rPr lang="en-US"/>
              <a:pPr/>
              <a:t>21</a:t>
            </a:fld>
            <a:endParaRPr lang="en-US"/>
          </a:p>
        </p:txBody>
      </p:sp>
      <p:sp>
        <p:nvSpPr>
          <p:cNvPr id="5734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5734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87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A20639AF-BFEA-4DB4-A4E2-3599774ABD4F}" type="slidenum">
              <a:rPr lang="en-US"/>
              <a:pPr/>
              <a:t>24</a:t>
            </a:fld>
            <a:endParaRPr lang="en-US"/>
          </a:p>
        </p:txBody>
      </p:sp>
      <p:sp>
        <p:nvSpPr>
          <p:cNvPr id="5427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5427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74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FBDC60E-066D-4549-AAAC-083AE35D8A88}" type="slidenum">
              <a:rPr lang="en-US"/>
              <a:pPr/>
              <a:t>28</a:t>
            </a:fld>
            <a:endParaRPr lang="en-US"/>
          </a:p>
        </p:txBody>
      </p:sp>
      <p:sp>
        <p:nvSpPr>
          <p:cNvPr id="3277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3277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EFAA3D24-A2D5-4FFE-A289-C84397C5B944}" type="slidenum">
              <a:rPr lang="en-US"/>
              <a:pPr/>
              <a:t>29</a:t>
            </a:fld>
            <a:endParaRPr lang="en-US"/>
          </a:p>
        </p:txBody>
      </p:sp>
      <p:sp>
        <p:nvSpPr>
          <p:cNvPr id="3481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3482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B253F650-D80B-4885-A983-6ED90A3D2596}" type="slidenum">
              <a:rPr lang="en-US"/>
              <a:pPr/>
              <a:t>30</a:t>
            </a:fld>
            <a:endParaRPr lang="en-US"/>
          </a:p>
        </p:txBody>
      </p:sp>
      <p:sp>
        <p:nvSpPr>
          <p:cNvPr id="35843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35844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1B350FD-BCF0-431E-BB4E-03FD67D1FB65}" type="slidenum">
              <a:rPr lang="en-US"/>
              <a:pPr/>
              <a:t>31</a:t>
            </a:fld>
            <a:endParaRPr lang="en-US"/>
          </a:p>
        </p:txBody>
      </p:sp>
      <p:sp>
        <p:nvSpPr>
          <p:cNvPr id="5325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5325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2F9B8A7B-EA31-4C92-9E3F-B3C913D85620}" type="slidenum">
              <a:rPr lang="en-US"/>
              <a:pPr/>
              <a:t>32</a:t>
            </a:fld>
            <a:endParaRPr lang="en-US"/>
          </a:p>
        </p:txBody>
      </p:sp>
      <p:sp>
        <p:nvSpPr>
          <p:cNvPr id="46083" name="Text Box 1"/>
          <p:cNvSpPr txBox="1">
            <a:spLocks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9000" tIns="49680" rIns="99000" bIns="49680" anchor="b"/>
          <a:lstStyle/>
          <a:p>
            <a: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770FB3E-113E-4065-A0EA-BB3471C32D1D}" type="slidenum">
              <a:rPr lang="en-US" sz="1300">
                <a:solidFill>
                  <a:srgbClr val="000000"/>
                </a:solidFill>
                <a:latin typeface="Arial" charset="0"/>
                <a:ea typeface="宋体" charset="-122"/>
              </a:rPr>
              <a:pPr algn="r" eaLnBrk="1" hangingPunct="1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32</a:t>
            </a:fld>
            <a:endParaRPr lang="en-US" sz="130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608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4608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8E9B7DAA-8679-4366-9789-50376599305C}" type="slidenum">
              <a:rPr lang="en-US"/>
              <a:pPr/>
              <a:t>33</a:t>
            </a:fld>
            <a:endParaRPr lang="en-US"/>
          </a:p>
        </p:txBody>
      </p:sp>
      <p:sp>
        <p:nvSpPr>
          <p:cNvPr id="48131" name="Text Box 1"/>
          <p:cNvSpPr txBox="1">
            <a:spLocks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9000" tIns="49680" rIns="99000" bIns="49680" anchor="b"/>
          <a:lstStyle/>
          <a:p>
            <a: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F7F9D8A-3A80-4F00-8A11-2B7689336EA4}" type="slidenum">
              <a:rPr lang="en-US" sz="1300">
                <a:solidFill>
                  <a:srgbClr val="000000"/>
                </a:solidFill>
                <a:latin typeface="Arial" charset="0"/>
                <a:ea typeface="宋体" charset="-122"/>
              </a:rPr>
              <a:pPr algn="r" eaLnBrk="1" hangingPunct="1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33</a:t>
            </a:fld>
            <a:endParaRPr lang="en-US" sz="130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813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4813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C0499426-DC4A-484E-83E4-A26CDAA4AE4C}" type="slidenum">
              <a:rPr lang="en-US"/>
              <a:pPr/>
              <a:t>34</a:t>
            </a:fld>
            <a:endParaRPr lang="en-US"/>
          </a:p>
        </p:txBody>
      </p:sp>
      <p:sp>
        <p:nvSpPr>
          <p:cNvPr id="49155" name="Text Box 1"/>
          <p:cNvSpPr txBox="1">
            <a:spLocks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9000" tIns="49680" rIns="99000" bIns="49680" anchor="b"/>
          <a:lstStyle/>
          <a:p>
            <a: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D3A006A-9F56-4FBF-A5F9-5A947D8AA0C4}" type="slidenum">
              <a:rPr lang="en-US" sz="1300">
                <a:solidFill>
                  <a:srgbClr val="000000"/>
                </a:solidFill>
                <a:latin typeface="Arial" charset="0"/>
                <a:ea typeface="宋体" charset="-122"/>
              </a:rPr>
              <a:pPr algn="r" eaLnBrk="1" hangingPunct="1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34</a:t>
            </a:fld>
            <a:endParaRPr lang="en-US" sz="130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915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4915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noFill/>
          <a:ln/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02/18/16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BE3E50-47E8-45CA-9AB7-4A19FE3093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02/18/16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6D4ED8-1832-497B-A2EF-4C43DBBB12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02/18/16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AF05D-2B10-4E22-ADC3-40860AC86B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02/18/16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5E8FF-632C-4F62-8357-7D7558A0E1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02/18/16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B40D5-B725-4FC7-A85D-1E6914BAE3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02/18/16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B5C983-342C-48E6-A60A-81EFDEAF40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D8C19-A0D1-4719-B3C1-5E62DC25BA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1F5418-F4CB-4805-9A3A-05586D233A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FB9F8A-B43D-42F7-AC3C-BD0E2385F7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C64648-EABE-4914-99DD-7C9DE70657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5813" cy="58499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499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D21E95-E264-4F76-9915-4AF178BB2D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5225"/>
            <a:ext cx="2132013" cy="474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宋体" charset="-122"/>
              </a:defRPr>
            </a:lvl1pPr>
          </a:lstStyle>
          <a:p>
            <a:pPr>
              <a:defRPr/>
            </a:pPr>
            <a:r>
              <a:rPr lang="en-US"/>
              <a:t>02/18/16</a:t>
            </a: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5225"/>
            <a:ext cx="2132013" cy="474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宋体" charset="-122"/>
              </a:defRPr>
            </a:lvl1pPr>
          </a:lstStyle>
          <a:p>
            <a:pPr>
              <a:defRPr/>
            </a:pPr>
            <a:fld id="{EEDD9847-DEEB-40FA-8DC8-2F650086D6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WenQuanYi Micro Hei" charset="0"/>
          <a:cs typeface="WenQuanYi Micro Hei" charset="0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WenQuanYi Micro Hei" charset="0"/>
          <a:cs typeface="WenQuanYi Micro Hei" charset="0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WenQuanYi Micro Hei" charset="0"/>
          <a:cs typeface="WenQuanYi Micro Hei" charset="0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WenQuanYi Micro Hei" charset="0"/>
          <a:cs typeface="WenQuanYi Micro Hei" charset="0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WenQuanYi Micro Hei" charset="0"/>
          <a:cs typeface="WenQuanYi Micro Hei" charset="0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WenQuanYi Micro Hei" charset="0"/>
          <a:cs typeface="WenQuanYi Micro Hei" charset="0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WenQuanYi Micro Hei" charset="0"/>
          <a:cs typeface="WenQuanYi Micro Hei" charset="0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WenQuanYi Micro Hei" charset="0"/>
          <a:cs typeface="WenQuanYi Micro Hei" charset="0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1"/>
          <p:cNvSpPr txBox="1">
            <a:spLocks noChangeArrowheads="1"/>
          </p:cNvSpPr>
          <p:nvPr/>
        </p:nvSpPr>
        <p:spPr bwMode="auto">
          <a:xfrm>
            <a:off x="685800" y="1752601"/>
            <a:ext cx="7772400" cy="1847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400" b="1" dirty="0">
                <a:solidFill>
                  <a:srgbClr val="FF00FF"/>
                </a:solidFill>
                <a:latin typeface="Arial" charset="0"/>
              </a:rPr>
              <a:t>Virtual Functions</a:t>
            </a:r>
          </a:p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400" b="1" dirty="0">
                <a:solidFill>
                  <a:srgbClr val="FF00FF"/>
                </a:solidFill>
                <a:latin typeface="Arial" charset="0"/>
              </a:rPr>
              <a:t>and </a:t>
            </a:r>
          </a:p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400" b="1" dirty="0">
                <a:solidFill>
                  <a:srgbClr val="FF00FF"/>
                </a:solidFill>
                <a:latin typeface="Arial" charset="0"/>
              </a:rPr>
              <a:t>Pure Virtual Function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/>
          <p:cNvSpPr txBox="1">
            <a:spLocks noChangeArrowheads="1"/>
          </p:cNvSpPr>
          <p:nvPr/>
        </p:nvSpPr>
        <p:spPr bwMode="auto">
          <a:xfrm>
            <a:off x="457200" y="304800"/>
            <a:ext cx="8118475" cy="1216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solidFill>
                  <a:srgbClr val="000000"/>
                </a:solidFill>
                <a:latin typeface="Arial" charset="0"/>
                <a:ea typeface="宋体" charset="-122"/>
              </a:rPr>
              <a:t>Runtime Polymorphism</a:t>
            </a:r>
          </a:p>
        </p:txBody>
      </p:sp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600">
                <a:solidFill>
                  <a:srgbClr val="000000"/>
                </a:solidFill>
                <a:latin typeface="Arial" charset="0"/>
                <a:ea typeface="宋体" charset="-122"/>
              </a:rPr>
              <a:t>Definition</a:t>
            </a:r>
          </a:p>
          <a:p>
            <a:pPr marL="741363" lvl="1" indent="-284163">
              <a:spcBef>
                <a:spcPts val="700"/>
              </a:spcBef>
              <a:buClr>
                <a:srgbClr val="FF0000"/>
              </a:buClr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i="1">
                <a:solidFill>
                  <a:srgbClr val="FF0000"/>
                </a:solidFill>
                <a:latin typeface="Arial" charset="0"/>
                <a:ea typeface="宋体" charset="-122"/>
              </a:rPr>
              <a:t>Ability to take more than one form</a:t>
            </a:r>
          </a:p>
          <a:p>
            <a:pPr marL="341313" indent="-341313"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600">
                <a:solidFill>
                  <a:srgbClr val="000000"/>
                </a:solidFill>
                <a:latin typeface="Arial" charset="0"/>
                <a:ea typeface="宋体" charset="-122"/>
              </a:rPr>
              <a:t>An essential feature of an OO Language</a:t>
            </a:r>
          </a:p>
          <a:p>
            <a:pPr marL="341313" indent="-341313"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600">
                <a:solidFill>
                  <a:srgbClr val="000000"/>
                </a:solidFill>
                <a:latin typeface="Arial" charset="0"/>
                <a:ea typeface="宋体" charset="-122"/>
              </a:rPr>
              <a:t>It builds upon Inheritance</a:t>
            </a:r>
          </a:p>
          <a:p>
            <a:pPr marL="341313" indent="-341313"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600">
                <a:solidFill>
                  <a:srgbClr val="000000"/>
                </a:solidFill>
                <a:latin typeface="Arial" charset="0"/>
                <a:ea typeface="宋体" charset="-122"/>
              </a:rPr>
              <a:t>Allows </a:t>
            </a:r>
            <a:r>
              <a:rPr lang="en-US" sz="2600" u="sng">
                <a:solidFill>
                  <a:srgbClr val="FF0000"/>
                </a:solidFill>
                <a:latin typeface="Arial" charset="0"/>
                <a:ea typeface="宋体" charset="-122"/>
              </a:rPr>
              <a:t>run-time</a:t>
            </a:r>
            <a:r>
              <a:rPr lang="en-US" sz="2600">
                <a:solidFill>
                  <a:srgbClr val="000000"/>
                </a:solidFill>
                <a:latin typeface="Arial" charset="0"/>
                <a:ea typeface="宋体" charset="-122"/>
              </a:rPr>
              <a:t> interpretation of object type for a given class hierarchy</a:t>
            </a:r>
          </a:p>
          <a:p>
            <a:pPr marL="741363" lvl="1" indent="-284163">
              <a:spcBef>
                <a:spcPts val="700"/>
              </a:spcBef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>
                <a:solidFill>
                  <a:srgbClr val="000000"/>
                </a:solidFill>
                <a:latin typeface="Arial" charset="0"/>
                <a:ea typeface="宋体" charset="-122"/>
              </a:rPr>
              <a:t>Also Known as “</a:t>
            </a:r>
            <a:r>
              <a:rPr lang="en-US" sz="2800">
                <a:solidFill>
                  <a:srgbClr val="FF0000"/>
                </a:solidFill>
                <a:latin typeface="Arial" charset="0"/>
                <a:ea typeface="宋体" charset="-122"/>
              </a:rPr>
              <a:t>Late Binding</a:t>
            </a:r>
            <a:r>
              <a:rPr lang="en-US" sz="2800">
                <a:solidFill>
                  <a:srgbClr val="000000"/>
                </a:solidFill>
                <a:latin typeface="Arial" charset="0"/>
                <a:ea typeface="宋体" charset="-122"/>
              </a:rPr>
              <a:t>”</a:t>
            </a:r>
          </a:p>
          <a:p>
            <a:pPr marL="341313" indent="-341313"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600">
                <a:solidFill>
                  <a:srgbClr val="000000"/>
                </a:solidFill>
                <a:latin typeface="Arial" charset="0"/>
                <a:ea typeface="宋体" charset="-122"/>
              </a:rPr>
              <a:t>Implemented in C++ using </a:t>
            </a:r>
            <a:r>
              <a:rPr lang="en-US" sz="2600" u="sng">
                <a:solidFill>
                  <a:srgbClr val="000000"/>
                </a:solidFill>
                <a:latin typeface="Arial" charset="0"/>
                <a:ea typeface="宋体" charset="-122"/>
              </a:rPr>
              <a:t>virtual functions</a:t>
            </a:r>
          </a:p>
          <a:p>
            <a:pPr marL="341313" indent="-341313">
              <a:spcBef>
                <a:spcPts val="650"/>
              </a:spcBef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600" u="sng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>
                <a:solidFill>
                  <a:srgbClr val="000000"/>
                </a:solidFill>
                <a:latin typeface="Arial" charset="0"/>
                <a:ea typeface="宋体" charset="-122"/>
              </a:rPr>
              <a:t>Dynamic Binding</a:t>
            </a: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457200" y="1752600"/>
            <a:ext cx="8305800" cy="426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600">
                <a:solidFill>
                  <a:srgbClr val="000000"/>
                </a:solidFill>
                <a:latin typeface="Arial" charset="0"/>
                <a:ea typeface="宋体" charset="-122"/>
              </a:rPr>
              <a:t>Is the </a:t>
            </a:r>
            <a:r>
              <a:rPr lang="en-US" sz="2600">
                <a:solidFill>
                  <a:srgbClr val="FF0000"/>
                </a:solidFill>
                <a:latin typeface="Arial" charset="0"/>
                <a:ea typeface="宋体" charset="-122"/>
              </a:rPr>
              <a:t>run-time determination </a:t>
            </a:r>
            <a:r>
              <a:rPr lang="en-US" sz="2600">
                <a:solidFill>
                  <a:srgbClr val="000000"/>
                </a:solidFill>
                <a:latin typeface="Arial" charset="0"/>
                <a:ea typeface="宋体" charset="-122"/>
              </a:rPr>
              <a:t>of which function to call for a particular object of a derived class based on the type of the argument </a:t>
            </a:r>
          </a:p>
          <a:p>
            <a:pPr marL="341313" indent="-341313"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600">
                <a:solidFill>
                  <a:srgbClr val="000000"/>
                </a:solidFill>
                <a:latin typeface="Arial" charset="0"/>
                <a:ea typeface="宋体" charset="-122"/>
              </a:rPr>
              <a:t>Declaring a member function to be </a:t>
            </a:r>
            <a:r>
              <a:rPr lang="en-US" sz="2600">
                <a:solidFill>
                  <a:srgbClr val="FF0000"/>
                </a:solidFill>
                <a:latin typeface="Arial" charset="0"/>
                <a:ea typeface="宋体" charset="-122"/>
              </a:rPr>
              <a:t>virtual</a:t>
            </a:r>
            <a:r>
              <a:rPr lang="en-US" sz="2600">
                <a:solidFill>
                  <a:srgbClr val="000000"/>
                </a:solidFill>
                <a:latin typeface="Arial" charset="0"/>
                <a:ea typeface="宋体" charset="-122"/>
              </a:rPr>
              <a:t> instructs the compiler to generate code that guarantees dynamic binding</a:t>
            </a:r>
          </a:p>
          <a:p>
            <a:pPr marL="341313" indent="-341313">
              <a:spcBef>
                <a:spcPts val="65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600">
                <a:solidFill>
                  <a:srgbClr val="000000"/>
                </a:solidFill>
                <a:latin typeface="Arial" charset="0"/>
                <a:ea typeface="宋体" charset="-122"/>
              </a:rPr>
              <a:t>Dynamic binding requires </a:t>
            </a:r>
            <a:r>
              <a:rPr lang="en-US" sz="2600">
                <a:solidFill>
                  <a:srgbClr val="FF0000"/>
                </a:solidFill>
                <a:latin typeface="Arial" charset="0"/>
                <a:ea typeface="宋体" charset="-122"/>
              </a:rPr>
              <a:t>pass-by-reference</a:t>
            </a:r>
          </a:p>
          <a:p>
            <a:pPr marL="341313" indent="-341313">
              <a:spcBef>
                <a:spcPts val="250"/>
              </a:spcBef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1000">
              <a:solidFill>
                <a:srgbClr val="000000"/>
              </a:solidFill>
              <a:latin typeface="Times New Roman" pitchFamily="16" charset="0"/>
              <a:ea typeface="宋体" charset="-122"/>
            </a:endParaRPr>
          </a:p>
          <a:p>
            <a:pPr marL="341313" indent="-341313">
              <a:spcBef>
                <a:spcPts val="2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1000">
              <a:solidFill>
                <a:srgbClr val="000000"/>
              </a:solidFill>
              <a:latin typeface="Times New Roman" pitchFamily="16" charset="0"/>
              <a:ea typeface="宋体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7FF2A2-A299-F951-DDF1-AA3AA9A06172}"/>
              </a:ext>
            </a:extLst>
          </p:cNvPr>
          <p:cNvSpPr txBox="1"/>
          <p:nvPr/>
        </p:nvSpPr>
        <p:spPr>
          <a:xfrm>
            <a:off x="381000" y="457200"/>
            <a:ext cx="8382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essential requirement of the polymorphism is therefore the ability to refer to objects without any regard to their classes.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of single pointer variable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we may refer to the objects of different classes.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we use the same function name in both the base and the derived class, the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in base class should be declared as virtual.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function to use at run time based on the type of object pointed to by the base pointer, rather than the type of the pointer.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Thus, by making the base pointer to point to different objects, we can execute different versions of the virtual function 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06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7950"/>
            <a:ext cx="8228013" cy="1416050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Whether constructors and destructors can be virtual??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40000"/>
              </a:lnSpc>
              <a:buFont typeface="Arial" pitchFamily="34" charset="0"/>
              <a:buChar char="•"/>
            </a:pPr>
            <a:r>
              <a:rPr lang="en-GB" sz="2800" dirty="0"/>
              <a:t>Virtual constructors not allowed</a:t>
            </a:r>
          </a:p>
          <a:p>
            <a:pPr>
              <a:lnSpc>
                <a:spcPct val="140000"/>
              </a:lnSpc>
              <a:buFont typeface="Arial" pitchFamily="34" charset="0"/>
              <a:buChar char="•"/>
            </a:pPr>
            <a:r>
              <a:rPr lang="en-GB" sz="2800" dirty="0"/>
              <a:t>But virtual destructors are allowed </a:t>
            </a:r>
          </a:p>
          <a:p>
            <a:pPr>
              <a:lnSpc>
                <a:spcPct val="140000"/>
              </a:lnSpc>
              <a:buFont typeface="Arial" pitchFamily="34" charset="0"/>
              <a:buChar char="•"/>
            </a:pPr>
            <a:r>
              <a:rPr lang="en-US" sz="2800" dirty="0"/>
              <a:t>when a constructor of a class is executed, there is no virtual table in the memory, means no virtual pointer defined yet.</a:t>
            </a:r>
            <a:endParaRPr lang="en-GB" sz="2800" dirty="0"/>
          </a:p>
          <a:p>
            <a:pPr>
              <a:lnSpc>
                <a:spcPct val="140000"/>
              </a:lnSpc>
              <a:buFont typeface="Arial" pitchFamily="34" charset="0"/>
              <a:buChar char="•"/>
            </a:pPr>
            <a:r>
              <a:rPr lang="en-GB" sz="2800" dirty="0"/>
              <a:t>To do dynamic binding make destructors as virtual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1D871D-86EB-FEFA-3D0B-12367A746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85750"/>
            <a:ext cx="5343525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590800"/>
            <a:ext cx="8762999" cy="950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8F1438-39D3-D3DC-62B4-DFF2C75BA80D}"/>
              </a:ext>
            </a:extLst>
          </p:cNvPr>
          <p:cNvSpPr txBox="1"/>
          <p:nvPr/>
        </p:nvSpPr>
        <p:spPr>
          <a:xfrm>
            <a:off x="1143000" y="2133600"/>
            <a:ext cx="6934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Program illustrates how a base class pointer is used to access a derived class</a:t>
            </a:r>
            <a:endParaRPr lang="en-IN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042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27684E-8417-F1E3-C284-F8C62D32FFA3}"/>
              </a:ext>
            </a:extLst>
          </p:cNvPr>
          <p:cNvSpPr txBox="1"/>
          <p:nvPr/>
        </p:nvSpPr>
        <p:spPr>
          <a:xfrm>
            <a:off x="284813" y="228600"/>
            <a:ext cx="4038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#include&lt;opstrea,.h&gt;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class base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int x;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public: 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void </a:t>
            </a:r>
            <a:r>
              <a:rPr lang="en-US" sz="1600" dirty="0" err="1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setx</a:t>
            </a:r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 int </a:t>
            </a:r>
            <a:r>
              <a:rPr lang="en-US" sz="1600" dirty="0" err="1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) { x=</a:t>
            </a:r>
            <a:r>
              <a:rPr lang="en-US" sz="1600" dirty="0" err="1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; }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 int </a:t>
            </a:r>
            <a:r>
              <a:rPr lang="en-US" sz="1600" dirty="0" err="1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getx</a:t>
            </a:r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() { return x;}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};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class derived: public base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  int y;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public :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   void </a:t>
            </a:r>
            <a:r>
              <a:rPr lang="en-US" sz="1600" dirty="0" err="1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sety</a:t>
            </a:r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 int </a:t>
            </a:r>
            <a:r>
              <a:rPr lang="en-US" sz="1600" dirty="0" err="1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) { y=</a:t>
            </a:r>
            <a:r>
              <a:rPr lang="en-US" sz="1600" dirty="0" err="1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; }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    int </a:t>
            </a:r>
            <a:r>
              <a:rPr lang="en-US" sz="1600" dirty="0" err="1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gety</a:t>
            </a:r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()  { return y; }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};</a:t>
            </a:r>
          </a:p>
          <a:p>
            <a:endParaRPr lang="en-US" sz="1600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void main()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{ 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base *p;  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base bob;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derived dob;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p=&amp;bob;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p-&gt;</a:t>
            </a:r>
            <a:r>
              <a:rPr lang="en-US" sz="1600" dirty="0" err="1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setx</a:t>
            </a:r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(54);</a:t>
            </a:r>
          </a:p>
          <a:p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&lt;&lt;“ Base Obj x :”&lt;&lt;p-&gt;</a:t>
            </a:r>
            <a:r>
              <a:rPr lang="en-US" sz="1600" dirty="0" err="1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getx</a:t>
            </a:r>
            <a:r>
              <a:rPr lang="en-US" sz="160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()&lt;&lt;“\n”;</a:t>
            </a:r>
            <a:endParaRPr 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F849FB-8B16-923D-36CE-71713EDDA8AB}"/>
              </a:ext>
            </a:extLst>
          </p:cNvPr>
          <p:cNvSpPr txBox="1"/>
          <p:nvPr/>
        </p:nvSpPr>
        <p:spPr>
          <a:xfrm>
            <a:off x="4520784" y="228600"/>
            <a:ext cx="4606977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p=&amp;dob;</a:t>
            </a:r>
          </a:p>
          <a:p>
            <a:r>
              <a:rPr lang="en-US" sz="1600" dirty="0">
                <a:solidFill>
                  <a:schemeClr val="tx1"/>
                </a:solidFill>
              </a:rPr>
              <a:t>p-&gt;</a:t>
            </a:r>
            <a:r>
              <a:rPr lang="en-US" sz="1600" dirty="0" err="1">
                <a:solidFill>
                  <a:schemeClr val="tx1"/>
                </a:solidFill>
              </a:rPr>
              <a:t>setx</a:t>
            </a:r>
            <a:r>
              <a:rPr lang="en-US" sz="1600" dirty="0">
                <a:solidFill>
                  <a:schemeClr val="tx1"/>
                </a:solidFill>
              </a:rPr>
              <a:t>(89);</a:t>
            </a:r>
          </a:p>
          <a:p>
            <a:r>
              <a:rPr lang="en-US" sz="1600" dirty="0" err="1">
                <a:solidFill>
                  <a:schemeClr val="tx1"/>
                </a:solidFill>
              </a:rPr>
              <a:t>dob.sety</a:t>
            </a:r>
            <a:r>
              <a:rPr lang="en-US" sz="1600" dirty="0">
                <a:solidFill>
                  <a:schemeClr val="tx1"/>
                </a:solidFill>
              </a:rPr>
              <a:t>(65);</a:t>
            </a:r>
          </a:p>
          <a:p>
            <a:r>
              <a:rPr lang="en-US" sz="1600" dirty="0" err="1">
                <a:solidFill>
                  <a:schemeClr val="tx1"/>
                </a:solidFill>
              </a:rPr>
              <a:t>cout</a:t>
            </a:r>
            <a:r>
              <a:rPr lang="en-US" sz="1600" dirty="0">
                <a:solidFill>
                  <a:schemeClr val="tx1"/>
                </a:solidFill>
              </a:rPr>
              <a:t>&lt;&lt; “ Derived Obj x: “&lt;&lt;p-&gt;</a:t>
            </a:r>
            <a:r>
              <a:rPr lang="en-US" sz="1600" dirty="0" err="1">
                <a:solidFill>
                  <a:schemeClr val="tx1"/>
                </a:solidFill>
              </a:rPr>
              <a:t>getx</a:t>
            </a:r>
            <a:r>
              <a:rPr lang="en-US" sz="1600" dirty="0">
                <a:solidFill>
                  <a:schemeClr val="tx1"/>
                </a:solidFill>
              </a:rPr>
              <a:t>()&lt;&lt;“\n”;</a:t>
            </a:r>
          </a:p>
          <a:p>
            <a:r>
              <a:rPr lang="en-US" sz="1600" dirty="0" err="1">
                <a:solidFill>
                  <a:schemeClr val="tx1"/>
                </a:solidFill>
              </a:rPr>
              <a:t>cout</a:t>
            </a:r>
            <a:r>
              <a:rPr lang="en-US" sz="1600" dirty="0">
                <a:solidFill>
                  <a:schemeClr val="tx1"/>
                </a:solidFill>
              </a:rPr>
              <a:t>&lt;&lt; “ Derived Obj y: “&lt;&lt;</a:t>
            </a:r>
            <a:r>
              <a:rPr lang="en-US" sz="1600" dirty="0" err="1">
                <a:solidFill>
                  <a:schemeClr val="tx1"/>
                </a:solidFill>
              </a:rPr>
              <a:t>dob.gety</a:t>
            </a:r>
            <a:r>
              <a:rPr lang="en-US" sz="1600" dirty="0">
                <a:solidFill>
                  <a:schemeClr val="tx1"/>
                </a:solidFill>
              </a:rPr>
              <a:t>()&lt;&lt;“\n”;</a:t>
            </a:r>
          </a:p>
          <a:p>
            <a:r>
              <a:rPr lang="en-US" sz="1600" dirty="0">
                <a:solidFill>
                  <a:schemeClr val="tx1"/>
                </a:solidFill>
              </a:rPr>
              <a:t>}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rgbClr val="FF0000"/>
                </a:solidFill>
              </a:rPr>
              <a:t>Output :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Base Obj x : 54</a:t>
            </a:r>
          </a:p>
          <a:p>
            <a:r>
              <a:rPr lang="en-US" sz="1600" dirty="0">
                <a:solidFill>
                  <a:schemeClr val="tx1"/>
                </a:solidFill>
              </a:rPr>
              <a:t>Derived Obj x : 89</a:t>
            </a:r>
          </a:p>
          <a:p>
            <a:r>
              <a:rPr lang="en-US" sz="1600" dirty="0">
                <a:solidFill>
                  <a:schemeClr val="tx1"/>
                </a:solidFill>
              </a:rPr>
              <a:t>Derived Obj y : 65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IN" sz="1600" dirty="0">
              <a:solidFill>
                <a:schemeClr val="tx1"/>
              </a:solidFill>
            </a:endParaRPr>
          </a:p>
          <a:p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137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38B53F-9C70-CA20-713A-AB9262373AB6}"/>
              </a:ext>
            </a:extLst>
          </p:cNvPr>
          <p:cNvSpPr txBox="1"/>
          <p:nvPr/>
        </p:nvSpPr>
        <p:spPr>
          <a:xfrm>
            <a:off x="304800" y="304800"/>
            <a:ext cx="815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Program illustrate the use of Virtual Function and </a:t>
            </a:r>
            <a:r>
              <a:rPr lang="en-US" dirty="0" err="1">
                <a:solidFill>
                  <a:srgbClr val="FF0000"/>
                </a:solidFill>
              </a:rPr>
              <a:t>Overridding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ACCB6-B0C0-0571-6565-3C3781629A43}"/>
              </a:ext>
            </a:extLst>
          </p:cNvPr>
          <p:cNvSpPr txBox="1"/>
          <p:nvPr/>
        </p:nvSpPr>
        <p:spPr>
          <a:xfrm>
            <a:off x="190500" y="704910"/>
            <a:ext cx="42672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80808"/>
                </a:solidFill>
              </a:rPr>
              <a:t>#include&lt;iostream.h&gt;</a:t>
            </a:r>
          </a:p>
          <a:p>
            <a:r>
              <a:rPr lang="en-US" sz="1600" dirty="0">
                <a:solidFill>
                  <a:srgbClr val="080808"/>
                </a:solidFill>
              </a:rPr>
              <a:t>Class base</a:t>
            </a:r>
          </a:p>
          <a:p>
            <a:r>
              <a:rPr lang="en-US" sz="1600" dirty="0">
                <a:solidFill>
                  <a:srgbClr val="080808"/>
                </a:solidFill>
              </a:rPr>
              <a:t>{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public :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 int i;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 base (int x) { </a:t>
            </a:r>
            <a:r>
              <a:rPr lang="en-US" sz="1600" dirty="0" err="1">
                <a:solidFill>
                  <a:srgbClr val="080808"/>
                </a:solidFill>
              </a:rPr>
              <a:t>i</a:t>
            </a:r>
            <a:r>
              <a:rPr lang="en-US" sz="1600" dirty="0">
                <a:solidFill>
                  <a:srgbClr val="080808"/>
                </a:solidFill>
              </a:rPr>
              <a:t>=x; }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   virtual void </a:t>
            </a:r>
            <a:r>
              <a:rPr lang="en-US" sz="1600" dirty="0" err="1">
                <a:solidFill>
                  <a:srgbClr val="FF0000"/>
                </a:solidFill>
              </a:rPr>
              <a:t>func</a:t>
            </a:r>
            <a:r>
              <a:rPr lang="en-US" sz="1600" dirty="0">
                <a:solidFill>
                  <a:srgbClr val="FF0000"/>
                </a:solidFill>
              </a:rPr>
              <a:t>()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{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 </a:t>
            </a:r>
            <a:r>
              <a:rPr lang="en-US" sz="1600" dirty="0" err="1">
                <a:solidFill>
                  <a:srgbClr val="080808"/>
                </a:solidFill>
              </a:rPr>
              <a:t>cout</a:t>
            </a:r>
            <a:r>
              <a:rPr lang="en-US" sz="1600" dirty="0">
                <a:solidFill>
                  <a:srgbClr val="080808"/>
                </a:solidFill>
              </a:rPr>
              <a:t>&lt;&lt;“ Base class </a:t>
            </a:r>
            <a:r>
              <a:rPr lang="en-US" sz="1600" dirty="0" err="1">
                <a:solidFill>
                  <a:srgbClr val="080808"/>
                </a:solidFill>
              </a:rPr>
              <a:t>func</a:t>
            </a:r>
            <a:r>
              <a:rPr lang="en-US" sz="1600" dirty="0">
                <a:solidFill>
                  <a:srgbClr val="080808"/>
                </a:solidFill>
              </a:rPr>
              <a:t>() “&lt;&lt;</a:t>
            </a:r>
            <a:r>
              <a:rPr lang="en-US" sz="1600" dirty="0" err="1">
                <a:solidFill>
                  <a:srgbClr val="080808"/>
                </a:solidFill>
              </a:rPr>
              <a:t>i</a:t>
            </a:r>
            <a:r>
              <a:rPr lang="en-US" sz="1600" dirty="0">
                <a:solidFill>
                  <a:srgbClr val="080808"/>
                </a:solidFill>
              </a:rPr>
              <a:t>&lt;&lt;“\n”;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}</a:t>
            </a:r>
          </a:p>
          <a:p>
            <a:r>
              <a:rPr lang="en-US" sz="1600" dirty="0">
                <a:solidFill>
                  <a:srgbClr val="080808"/>
                </a:solidFill>
              </a:rPr>
              <a:t>};</a:t>
            </a:r>
          </a:p>
          <a:p>
            <a:endParaRPr lang="en-US" sz="1600" dirty="0">
              <a:solidFill>
                <a:srgbClr val="080808"/>
              </a:solidFill>
            </a:endParaRPr>
          </a:p>
          <a:p>
            <a:r>
              <a:rPr lang="en-US" sz="1600" dirty="0">
                <a:solidFill>
                  <a:srgbClr val="080808"/>
                </a:solidFill>
              </a:rPr>
              <a:t>Class der1: public base</a:t>
            </a:r>
          </a:p>
          <a:p>
            <a:r>
              <a:rPr lang="en-US" sz="1600" dirty="0">
                <a:solidFill>
                  <a:srgbClr val="080808"/>
                </a:solidFill>
              </a:rPr>
              <a:t>{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public :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 der1(int x) : base(x) {  }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 </a:t>
            </a:r>
            <a:r>
              <a:rPr lang="en-US" sz="1600" dirty="0">
                <a:solidFill>
                  <a:srgbClr val="FF0000"/>
                </a:solidFill>
              </a:rPr>
              <a:t>void </a:t>
            </a:r>
            <a:r>
              <a:rPr lang="en-US" sz="1600" dirty="0" err="1">
                <a:solidFill>
                  <a:srgbClr val="FF0000"/>
                </a:solidFill>
              </a:rPr>
              <a:t>func</a:t>
            </a:r>
            <a:r>
              <a:rPr lang="en-US" sz="1600" dirty="0">
                <a:solidFill>
                  <a:srgbClr val="FF0000"/>
                </a:solidFill>
              </a:rPr>
              <a:t>()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{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 </a:t>
            </a:r>
            <a:r>
              <a:rPr lang="en-US" sz="1600" dirty="0" err="1">
                <a:solidFill>
                  <a:srgbClr val="080808"/>
                </a:solidFill>
              </a:rPr>
              <a:t>cout</a:t>
            </a:r>
            <a:r>
              <a:rPr lang="en-US" sz="1600" dirty="0">
                <a:solidFill>
                  <a:srgbClr val="080808"/>
                </a:solidFill>
              </a:rPr>
              <a:t>&lt;&lt;“ Derived class1 </a:t>
            </a:r>
            <a:r>
              <a:rPr lang="en-US" sz="1600" dirty="0" err="1">
                <a:solidFill>
                  <a:srgbClr val="080808"/>
                </a:solidFill>
              </a:rPr>
              <a:t>func</a:t>
            </a:r>
            <a:r>
              <a:rPr lang="en-US" sz="1600" dirty="0">
                <a:solidFill>
                  <a:srgbClr val="080808"/>
                </a:solidFill>
              </a:rPr>
              <a:t>() “&lt;&lt;</a:t>
            </a:r>
            <a:r>
              <a:rPr lang="en-US" sz="1600" dirty="0" err="1">
                <a:solidFill>
                  <a:srgbClr val="080808"/>
                </a:solidFill>
              </a:rPr>
              <a:t>i</a:t>
            </a:r>
            <a:r>
              <a:rPr lang="en-US" sz="1600" dirty="0">
                <a:solidFill>
                  <a:srgbClr val="080808"/>
                </a:solidFill>
              </a:rPr>
              <a:t>*</a:t>
            </a:r>
            <a:r>
              <a:rPr lang="en-US" sz="1600" dirty="0" err="1">
                <a:solidFill>
                  <a:srgbClr val="080808"/>
                </a:solidFill>
              </a:rPr>
              <a:t>i</a:t>
            </a:r>
            <a:r>
              <a:rPr lang="en-US" sz="1600" dirty="0">
                <a:solidFill>
                  <a:srgbClr val="080808"/>
                </a:solidFill>
              </a:rPr>
              <a:t>&lt;&lt;“\n”;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}</a:t>
            </a:r>
          </a:p>
          <a:p>
            <a:r>
              <a:rPr lang="en-US" sz="1600" dirty="0">
                <a:solidFill>
                  <a:srgbClr val="080808"/>
                </a:solidFill>
              </a:rPr>
              <a:t>};</a:t>
            </a:r>
          </a:p>
          <a:p>
            <a:endParaRPr lang="en-IN" sz="1600" dirty="0">
              <a:solidFill>
                <a:srgbClr val="08080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1137C3-3FCD-0F6F-F7EA-310439058242}"/>
              </a:ext>
            </a:extLst>
          </p:cNvPr>
          <p:cNvSpPr txBox="1"/>
          <p:nvPr/>
        </p:nvSpPr>
        <p:spPr>
          <a:xfrm>
            <a:off x="4191000" y="704910"/>
            <a:ext cx="4572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80808"/>
                </a:solidFill>
              </a:rPr>
              <a:t>Class der2: public base</a:t>
            </a:r>
          </a:p>
          <a:p>
            <a:r>
              <a:rPr lang="en-US" sz="1600" dirty="0">
                <a:solidFill>
                  <a:srgbClr val="080808"/>
                </a:solidFill>
              </a:rPr>
              <a:t>{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public :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 der2(int x) : base(x) {  }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 </a:t>
            </a:r>
            <a:r>
              <a:rPr lang="en-US" sz="1600" dirty="0">
                <a:solidFill>
                  <a:srgbClr val="FF0000"/>
                </a:solidFill>
              </a:rPr>
              <a:t>void </a:t>
            </a:r>
            <a:r>
              <a:rPr lang="en-US" sz="1600" dirty="0" err="1">
                <a:solidFill>
                  <a:srgbClr val="FF0000"/>
                </a:solidFill>
              </a:rPr>
              <a:t>func</a:t>
            </a:r>
            <a:r>
              <a:rPr lang="en-US" sz="1600" dirty="0">
                <a:solidFill>
                  <a:srgbClr val="FF0000"/>
                </a:solidFill>
              </a:rPr>
              <a:t>()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{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 </a:t>
            </a:r>
            <a:r>
              <a:rPr lang="en-US" sz="1600" dirty="0" err="1">
                <a:solidFill>
                  <a:srgbClr val="080808"/>
                </a:solidFill>
              </a:rPr>
              <a:t>cout</a:t>
            </a:r>
            <a:r>
              <a:rPr lang="en-US" sz="1600" dirty="0">
                <a:solidFill>
                  <a:srgbClr val="080808"/>
                </a:solidFill>
              </a:rPr>
              <a:t>&lt;&lt;“ Derived class2 </a:t>
            </a:r>
            <a:r>
              <a:rPr lang="en-US" sz="1600" dirty="0" err="1">
                <a:solidFill>
                  <a:srgbClr val="080808"/>
                </a:solidFill>
              </a:rPr>
              <a:t>func</a:t>
            </a:r>
            <a:r>
              <a:rPr lang="en-US" sz="1600" dirty="0">
                <a:solidFill>
                  <a:srgbClr val="080808"/>
                </a:solidFill>
              </a:rPr>
              <a:t>() “&lt;&lt;</a:t>
            </a:r>
            <a:r>
              <a:rPr lang="en-US" sz="1600" dirty="0" err="1">
                <a:solidFill>
                  <a:srgbClr val="080808"/>
                </a:solidFill>
              </a:rPr>
              <a:t>i+i</a:t>
            </a:r>
            <a:r>
              <a:rPr lang="en-US" sz="1600" dirty="0">
                <a:solidFill>
                  <a:srgbClr val="080808"/>
                </a:solidFill>
              </a:rPr>
              <a:t>&lt;&lt;“\n”;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}</a:t>
            </a:r>
          </a:p>
          <a:p>
            <a:r>
              <a:rPr lang="en-US" sz="1600" dirty="0">
                <a:solidFill>
                  <a:srgbClr val="080808"/>
                </a:solidFill>
              </a:rPr>
              <a:t>};</a:t>
            </a:r>
          </a:p>
          <a:p>
            <a:endParaRPr lang="en-US" sz="1600" dirty="0">
              <a:solidFill>
                <a:srgbClr val="080808"/>
              </a:solidFill>
            </a:endParaRPr>
          </a:p>
          <a:p>
            <a:r>
              <a:rPr lang="en-US" sz="1600" dirty="0">
                <a:solidFill>
                  <a:srgbClr val="080808"/>
                </a:solidFill>
              </a:rPr>
              <a:t>Void main()</a:t>
            </a:r>
          </a:p>
          <a:p>
            <a:r>
              <a:rPr lang="en-US" sz="1600" dirty="0">
                <a:solidFill>
                  <a:srgbClr val="080808"/>
                </a:solidFill>
              </a:rPr>
              <a:t>{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base *p;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base bob(10);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der1 dob1(10);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der2 dob2(10);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p=&amp;bob;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P-&gt;</a:t>
            </a:r>
            <a:r>
              <a:rPr lang="en-US" sz="1600" dirty="0" err="1">
                <a:solidFill>
                  <a:srgbClr val="080808"/>
                </a:solidFill>
              </a:rPr>
              <a:t>func</a:t>
            </a:r>
            <a:r>
              <a:rPr lang="en-US" sz="1600" dirty="0">
                <a:solidFill>
                  <a:srgbClr val="080808"/>
                </a:solidFill>
              </a:rPr>
              <a:t>();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p=&amp;dob1;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P-&gt;</a:t>
            </a:r>
            <a:r>
              <a:rPr lang="en-US" sz="1600" dirty="0" err="1">
                <a:solidFill>
                  <a:srgbClr val="080808"/>
                </a:solidFill>
              </a:rPr>
              <a:t>func</a:t>
            </a:r>
            <a:r>
              <a:rPr lang="en-US" sz="1600" dirty="0">
                <a:solidFill>
                  <a:srgbClr val="080808"/>
                </a:solidFill>
              </a:rPr>
              <a:t>();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p=&amp;dob2;</a:t>
            </a:r>
          </a:p>
          <a:p>
            <a:r>
              <a:rPr lang="en-US" sz="1600" dirty="0">
                <a:solidFill>
                  <a:srgbClr val="080808"/>
                </a:solidFill>
              </a:rPr>
              <a:t>   P-&gt;</a:t>
            </a:r>
            <a:r>
              <a:rPr lang="en-US" sz="1600" dirty="0" err="1">
                <a:solidFill>
                  <a:srgbClr val="080808"/>
                </a:solidFill>
              </a:rPr>
              <a:t>func</a:t>
            </a:r>
            <a:r>
              <a:rPr lang="en-US" sz="1600" dirty="0">
                <a:solidFill>
                  <a:srgbClr val="080808"/>
                </a:solidFill>
              </a:rPr>
              <a:t>();</a:t>
            </a:r>
          </a:p>
          <a:p>
            <a:r>
              <a:rPr lang="en-US" sz="1600" dirty="0">
                <a:solidFill>
                  <a:srgbClr val="080808"/>
                </a:solidFill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7009-9A12-4C4B-A8D5-9EE2B389CB26}"/>
              </a:ext>
            </a:extLst>
          </p:cNvPr>
          <p:cNvSpPr txBox="1"/>
          <p:nvPr/>
        </p:nvSpPr>
        <p:spPr>
          <a:xfrm>
            <a:off x="5919240" y="4114800"/>
            <a:ext cx="32247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:</a:t>
            </a:r>
          </a:p>
          <a:p>
            <a:r>
              <a:rPr lang="en-US" dirty="0">
                <a:solidFill>
                  <a:srgbClr val="FF0000"/>
                </a:solidFill>
              </a:rPr>
              <a:t>Base class fun() : 10</a:t>
            </a:r>
          </a:p>
          <a:p>
            <a:r>
              <a:rPr lang="en-US" dirty="0">
                <a:solidFill>
                  <a:srgbClr val="FF0000"/>
                </a:solidFill>
              </a:rPr>
              <a:t>Derived class1 fun() : 100</a:t>
            </a:r>
          </a:p>
          <a:p>
            <a:r>
              <a:rPr lang="en-US" dirty="0">
                <a:solidFill>
                  <a:srgbClr val="FF0000"/>
                </a:solidFill>
              </a:rPr>
              <a:t>Derived class2 fun() : 20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339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A99217-68EC-382E-3C29-0C7A9DDC80B7}"/>
              </a:ext>
            </a:extLst>
          </p:cNvPr>
          <p:cNvSpPr txBox="1"/>
          <p:nvPr/>
        </p:nvSpPr>
        <p:spPr>
          <a:xfrm>
            <a:off x="381000" y="32479"/>
            <a:ext cx="815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Program illustrate how appropriate version of a Virtual Function is fixed at run time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00E50-13EE-A961-3CA9-A969931A3238}"/>
              </a:ext>
            </a:extLst>
          </p:cNvPr>
          <p:cNvSpPr txBox="1"/>
          <p:nvPr/>
        </p:nvSpPr>
        <p:spPr>
          <a:xfrm>
            <a:off x="190500" y="704910"/>
            <a:ext cx="4267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80808"/>
                </a:solidFill>
              </a:rPr>
              <a:t>#include&lt;iostream.h&gt;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#include &lt;</a:t>
            </a:r>
            <a:r>
              <a:rPr lang="en-US" sz="1500" dirty="0" err="1">
                <a:solidFill>
                  <a:srgbClr val="080808"/>
                </a:solidFill>
              </a:rPr>
              <a:t>stdlib.h</a:t>
            </a:r>
            <a:r>
              <a:rPr lang="en-US" sz="1500" dirty="0">
                <a:solidFill>
                  <a:srgbClr val="080808"/>
                </a:solidFill>
              </a:rPr>
              <a:t>&gt;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#include &lt;</a:t>
            </a:r>
            <a:r>
              <a:rPr lang="en-US" sz="1500" dirty="0" err="1">
                <a:solidFill>
                  <a:srgbClr val="080808"/>
                </a:solidFill>
              </a:rPr>
              <a:t>iomanip.h</a:t>
            </a:r>
            <a:r>
              <a:rPr lang="en-US" sz="1500" dirty="0">
                <a:solidFill>
                  <a:srgbClr val="080808"/>
                </a:solidFill>
              </a:rPr>
              <a:t>&gt;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Class base</a:t>
            </a:r>
          </a:p>
          <a:p>
            <a:r>
              <a:rPr lang="en-US" sz="1500" dirty="0">
                <a:solidFill>
                  <a:srgbClr val="080808"/>
                </a:solidFill>
              </a:rPr>
              <a:t>{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public :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int i;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base (int x) { </a:t>
            </a:r>
            <a:r>
              <a:rPr lang="en-US" sz="1500" dirty="0" err="1">
                <a:solidFill>
                  <a:srgbClr val="080808"/>
                </a:solidFill>
              </a:rPr>
              <a:t>i</a:t>
            </a:r>
            <a:r>
              <a:rPr lang="en-US" sz="1500" dirty="0">
                <a:solidFill>
                  <a:srgbClr val="080808"/>
                </a:solidFill>
              </a:rPr>
              <a:t>=x; }</a:t>
            </a:r>
          </a:p>
          <a:p>
            <a:r>
              <a:rPr lang="en-US" sz="1500" dirty="0">
                <a:solidFill>
                  <a:srgbClr val="FF0000"/>
                </a:solidFill>
              </a:rPr>
              <a:t>    virtual void </a:t>
            </a:r>
            <a:r>
              <a:rPr lang="en-US" sz="1500" dirty="0" err="1">
                <a:solidFill>
                  <a:srgbClr val="FF0000"/>
                </a:solidFill>
              </a:rPr>
              <a:t>func</a:t>
            </a:r>
            <a:r>
              <a:rPr lang="en-US" sz="1500" dirty="0">
                <a:solidFill>
                  <a:srgbClr val="FF0000"/>
                </a:solidFill>
              </a:rPr>
              <a:t>()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{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</a:t>
            </a:r>
            <a:r>
              <a:rPr lang="en-US" sz="1500" dirty="0" err="1">
                <a:solidFill>
                  <a:srgbClr val="080808"/>
                </a:solidFill>
              </a:rPr>
              <a:t>cout</a:t>
            </a:r>
            <a:r>
              <a:rPr lang="en-US" sz="1500" dirty="0">
                <a:solidFill>
                  <a:srgbClr val="080808"/>
                </a:solidFill>
              </a:rPr>
              <a:t>&lt;&lt;“ Base class </a:t>
            </a:r>
            <a:r>
              <a:rPr lang="en-US" sz="1500" dirty="0" err="1">
                <a:solidFill>
                  <a:srgbClr val="080808"/>
                </a:solidFill>
              </a:rPr>
              <a:t>func</a:t>
            </a:r>
            <a:r>
              <a:rPr lang="en-US" sz="1500" dirty="0">
                <a:solidFill>
                  <a:srgbClr val="080808"/>
                </a:solidFill>
              </a:rPr>
              <a:t>() “&lt;&lt;</a:t>
            </a:r>
            <a:r>
              <a:rPr lang="en-US" sz="1500" dirty="0" err="1">
                <a:solidFill>
                  <a:srgbClr val="080808"/>
                </a:solidFill>
              </a:rPr>
              <a:t>i</a:t>
            </a:r>
            <a:r>
              <a:rPr lang="en-US" sz="1500" dirty="0">
                <a:solidFill>
                  <a:srgbClr val="080808"/>
                </a:solidFill>
              </a:rPr>
              <a:t>&lt;&lt;“\n”;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}</a:t>
            </a:r>
          </a:p>
          <a:p>
            <a:r>
              <a:rPr lang="en-US" sz="1500" dirty="0">
                <a:solidFill>
                  <a:srgbClr val="080808"/>
                </a:solidFill>
              </a:rPr>
              <a:t>};</a:t>
            </a:r>
          </a:p>
          <a:p>
            <a:endParaRPr lang="en-US" sz="1500" dirty="0">
              <a:solidFill>
                <a:srgbClr val="080808"/>
              </a:solidFill>
            </a:endParaRPr>
          </a:p>
          <a:p>
            <a:r>
              <a:rPr lang="en-US" sz="1500" dirty="0">
                <a:solidFill>
                  <a:srgbClr val="080808"/>
                </a:solidFill>
              </a:rPr>
              <a:t>Class der1: public base</a:t>
            </a:r>
          </a:p>
          <a:p>
            <a:r>
              <a:rPr lang="en-US" sz="1500" dirty="0">
                <a:solidFill>
                  <a:srgbClr val="080808"/>
                </a:solidFill>
              </a:rPr>
              <a:t>{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public :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der1(int x) : base(x) {  }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</a:t>
            </a:r>
            <a:r>
              <a:rPr lang="en-US" sz="1500" dirty="0">
                <a:solidFill>
                  <a:srgbClr val="FF0000"/>
                </a:solidFill>
              </a:rPr>
              <a:t>void </a:t>
            </a:r>
            <a:r>
              <a:rPr lang="en-US" sz="1500" dirty="0" err="1">
                <a:solidFill>
                  <a:srgbClr val="FF0000"/>
                </a:solidFill>
              </a:rPr>
              <a:t>func</a:t>
            </a:r>
            <a:r>
              <a:rPr lang="en-US" sz="1500" dirty="0">
                <a:solidFill>
                  <a:srgbClr val="FF0000"/>
                </a:solidFill>
              </a:rPr>
              <a:t>()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{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</a:t>
            </a:r>
            <a:r>
              <a:rPr lang="en-US" sz="1500" dirty="0" err="1">
                <a:solidFill>
                  <a:srgbClr val="080808"/>
                </a:solidFill>
              </a:rPr>
              <a:t>cout</a:t>
            </a:r>
            <a:r>
              <a:rPr lang="en-US" sz="1500" dirty="0">
                <a:solidFill>
                  <a:srgbClr val="080808"/>
                </a:solidFill>
              </a:rPr>
              <a:t>&lt;&lt;“ Derived class1 </a:t>
            </a:r>
            <a:r>
              <a:rPr lang="en-US" sz="1500" dirty="0" err="1">
                <a:solidFill>
                  <a:srgbClr val="080808"/>
                </a:solidFill>
              </a:rPr>
              <a:t>func</a:t>
            </a:r>
            <a:r>
              <a:rPr lang="en-US" sz="1500" dirty="0">
                <a:solidFill>
                  <a:srgbClr val="080808"/>
                </a:solidFill>
              </a:rPr>
              <a:t>() “&lt;&lt;</a:t>
            </a:r>
            <a:r>
              <a:rPr lang="en-US" sz="1500" dirty="0" err="1">
                <a:solidFill>
                  <a:srgbClr val="080808"/>
                </a:solidFill>
              </a:rPr>
              <a:t>i</a:t>
            </a:r>
            <a:r>
              <a:rPr lang="en-US" sz="1500" dirty="0">
                <a:solidFill>
                  <a:srgbClr val="080808"/>
                </a:solidFill>
              </a:rPr>
              <a:t>*</a:t>
            </a:r>
            <a:r>
              <a:rPr lang="en-US" sz="1500" dirty="0" err="1">
                <a:solidFill>
                  <a:srgbClr val="080808"/>
                </a:solidFill>
              </a:rPr>
              <a:t>i</a:t>
            </a:r>
            <a:r>
              <a:rPr lang="en-US" sz="1500" dirty="0">
                <a:solidFill>
                  <a:srgbClr val="080808"/>
                </a:solidFill>
              </a:rPr>
              <a:t>&lt;&lt;“\n”;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}</a:t>
            </a:r>
          </a:p>
          <a:p>
            <a:r>
              <a:rPr lang="en-US" sz="1500" dirty="0">
                <a:solidFill>
                  <a:srgbClr val="080808"/>
                </a:solidFill>
              </a:rPr>
              <a:t>};base</a:t>
            </a:r>
          </a:p>
          <a:p>
            <a:endParaRPr lang="en-IN" sz="1500" dirty="0">
              <a:solidFill>
                <a:srgbClr val="080808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294CA-ACB3-840D-8057-1779619BCAD9}"/>
              </a:ext>
            </a:extLst>
          </p:cNvPr>
          <p:cNvSpPr txBox="1"/>
          <p:nvPr/>
        </p:nvSpPr>
        <p:spPr>
          <a:xfrm>
            <a:off x="4718781" y="709804"/>
            <a:ext cx="4267200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80808"/>
                </a:solidFill>
              </a:rPr>
              <a:t>Class der2: public base</a:t>
            </a:r>
          </a:p>
          <a:p>
            <a:r>
              <a:rPr lang="en-US" sz="1500" dirty="0">
                <a:solidFill>
                  <a:srgbClr val="080808"/>
                </a:solidFill>
              </a:rPr>
              <a:t>{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public :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der2(int x) : base(x) {  }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</a:t>
            </a:r>
            <a:r>
              <a:rPr lang="en-US" sz="1500" dirty="0">
                <a:solidFill>
                  <a:srgbClr val="FF0000"/>
                </a:solidFill>
              </a:rPr>
              <a:t>void </a:t>
            </a:r>
            <a:r>
              <a:rPr lang="en-US" sz="1500" dirty="0" err="1">
                <a:solidFill>
                  <a:srgbClr val="FF0000"/>
                </a:solidFill>
              </a:rPr>
              <a:t>func</a:t>
            </a:r>
            <a:r>
              <a:rPr lang="en-US" sz="1500" dirty="0">
                <a:solidFill>
                  <a:srgbClr val="FF0000"/>
                </a:solidFill>
              </a:rPr>
              <a:t>()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{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</a:t>
            </a:r>
            <a:r>
              <a:rPr lang="en-US" sz="1500" dirty="0" err="1">
                <a:solidFill>
                  <a:srgbClr val="080808"/>
                </a:solidFill>
              </a:rPr>
              <a:t>cout</a:t>
            </a:r>
            <a:r>
              <a:rPr lang="en-US" sz="1500" dirty="0">
                <a:solidFill>
                  <a:srgbClr val="080808"/>
                </a:solidFill>
              </a:rPr>
              <a:t>&lt;&lt;“ Derived class2 </a:t>
            </a:r>
            <a:r>
              <a:rPr lang="en-US" sz="1500" dirty="0" err="1">
                <a:solidFill>
                  <a:srgbClr val="080808"/>
                </a:solidFill>
              </a:rPr>
              <a:t>func</a:t>
            </a:r>
            <a:r>
              <a:rPr lang="en-US" sz="1500" dirty="0">
                <a:solidFill>
                  <a:srgbClr val="080808"/>
                </a:solidFill>
              </a:rPr>
              <a:t>() “&lt;&lt;</a:t>
            </a:r>
            <a:r>
              <a:rPr lang="en-US" sz="1500" dirty="0" err="1">
                <a:solidFill>
                  <a:srgbClr val="080808"/>
                </a:solidFill>
              </a:rPr>
              <a:t>i+i</a:t>
            </a:r>
            <a:r>
              <a:rPr lang="en-US" sz="1500" dirty="0">
                <a:solidFill>
                  <a:srgbClr val="080808"/>
                </a:solidFill>
              </a:rPr>
              <a:t>&lt;&lt;“\n”;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}</a:t>
            </a:r>
          </a:p>
          <a:p>
            <a:r>
              <a:rPr lang="en-US" sz="1500" dirty="0">
                <a:solidFill>
                  <a:srgbClr val="080808"/>
                </a:solidFill>
              </a:rPr>
              <a:t>};</a:t>
            </a:r>
          </a:p>
          <a:p>
            <a:endParaRPr lang="en-US" sz="1500" dirty="0">
              <a:solidFill>
                <a:srgbClr val="080808"/>
              </a:solidFill>
            </a:endParaRPr>
          </a:p>
          <a:p>
            <a:r>
              <a:rPr lang="en-US" sz="1500" dirty="0">
                <a:solidFill>
                  <a:srgbClr val="080808"/>
                </a:solidFill>
              </a:rPr>
              <a:t>void main()</a:t>
            </a:r>
          </a:p>
          <a:p>
            <a:r>
              <a:rPr lang="en-US" sz="1500" dirty="0">
                <a:solidFill>
                  <a:srgbClr val="080808"/>
                </a:solidFill>
              </a:rPr>
              <a:t>{  int </a:t>
            </a:r>
            <a:r>
              <a:rPr lang="en-US" sz="1500" dirty="0" err="1">
                <a:solidFill>
                  <a:srgbClr val="080808"/>
                </a:solidFill>
              </a:rPr>
              <a:t>i,j</a:t>
            </a:r>
            <a:r>
              <a:rPr lang="en-US" sz="1500" dirty="0">
                <a:solidFill>
                  <a:srgbClr val="080808"/>
                </a:solidFill>
              </a:rPr>
              <a:t>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base *p;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der1 dob1(10);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der2 dob2(10);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for(</a:t>
            </a:r>
            <a:r>
              <a:rPr lang="en-US" sz="1500" dirty="0" err="1">
                <a:solidFill>
                  <a:srgbClr val="080808"/>
                </a:solidFill>
              </a:rPr>
              <a:t>i</a:t>
            </a:r>
            <a:r>
              <a:rPr lang="en-US" sz="1500" dirty="0">
                <a:solidFill>
                  <a:srgbClr val="080808"/>
                </a:solidFill>
              </a:rPr>
              <a:t>=0; </a:t>
            </a:r>
            <a:r>
              <a:rPr lang="en-US" sz="1500" dirty="0" err="1">
                <a:solidFill>
                  <a:srgbClr val="080808"/>
                </a:solidFill>
              </a:rPr>
              <a:t>i</a:t>
            </a:r>
            <a:r>
              <a:rPr lang="en-US" sz="1500" dirty="0">
                <a:solidFill>
                  <a:srgbClr val="080808"/>
                </a:solidFill>
              </a:rPr>
              <a:t>&lt;4; </a:t>
            </a:r>
            <a:r>
              <a:rPr lang="en-US" sz="1500" dirty="0" err="1">
                <a:solidFill>
                  <a:srgbClr val="080808"/>
                </a:solidFill>
              </a:rPr>
              <a:t>i</a:t>
            </a:r>
            <a:r>
              <a:rPr lang="en-US" sz="1500" dirty="0">
                <a:solidFill>
                  <a:srgbClr val="080808"/>
                </a:solidFill>
              </a:rPr>
              <a:t>++)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{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 j=rand()/7;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 </a:t>
            </a:r>
            <a:r>
              <a:rPr lang="en-US" sz="1500" dirty="0" err="1">
                <a:solidFill>
                  <a:srgbClr val="080808"/>
                </a:solidFill>
              </a:rPr>
              <a:t>cout</a:t>
            </a:r>
            <a:r>
              <a:rPr lang="en-US" sz="1500" dirty="0">
                <a:solidFill>
                  <a:srgbClr val="080808"/>
                </a:solidFill>
              </a:rPr>
              <a:t>&lt;&lt;</a:t>
            </a:r>
            <a:r>
              <a:rPr lang="en-US" sz="1500" dirty="0" err="1">
                <a:solidFill>
                  <a:srgbClr val="080808"/>
                </a:solidFill>
              </a:rPr>
              <a:t>setw</a:t>
            </a:r>
            <a:r>
              <a:rPr lang="en-US" sz="1500" dirty="0">
                <a:solidFill>
                  <a:srgbClr val="080808"/>
                </a:solidFill>
              </a:rPr>
              <a:t>(10)&lt;&lt;j&lt;&lt;“  “;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 if(j%2)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   p=&amp;dob1;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else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   p=&amp;dob2;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p-&gt;</a:t>
            </a:r>
            <a:r>
              <a:rPr lang="en-US" sz="1500" dirty="0" err="1">
                <a:solidFill>
                  <a:srgbClr val="080808"/>
                </a:solidFill>
              </a:rPr>
              <a:t>func</a:t>
            </a:r>
            <a:r>
              <a:rPr lang="en-US" sz="1500" dirty="0">
                <a:solidFill>
                  <a:srgbClr val="080808"/>
                </a:solidFill>
              </a:rPr>
              <a:t>();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}</a:t>
            </a:r>
          </a:p>
          <a:p>
            <a:r>
              <a:rPr lang="en-US" sz="1500" dirty="0">
                <a:solidFill>
                  <a:srgbClr val="080808"/>
                </a:solidFill>
              </a:rPr>
              <a:t>}</a:t>
            </a:r>
          </a:p>
          <a:p>
            <a:endParaRPr lang="en-US" sz="15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466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593F9B-2498-D0B7-4741-C7BAA81313E7}"/>
              </a:ext>
            </a:extLst>
          </p:cNvPr>
          <p:cNvSpPr txBox="1"/>
          <p:nvPr/>
        </p:nvSpPr>
        <p:spPr>
          <a:xfrm>
            <a:off x="914400" y="1371600"/>
            <a:ext cx="7086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      49   Derived class1 </a:t>
            </a:r>
            <a:r>
              <a:rPr lang="en-US" dirty="0" err="1">
                <a:solidFill>
                  <a:srgbClr val="FF0000"/>
                </a:solidFill>
              </a:rPr>
              <a:t>func</a:t>
            </a:r>
            <a:r>
              <a:rPr lang="en-US" dirty="0">
                <a:solidFill>
                  <a:srgbClr val="FF0000"/>
                </a:solidFill>
              </a:rPr>
              <a:t>()  : 100</a:t>
            </a:r>
          </a:p>
          <a:p>
            <a:r>
              <a:rPr lang="en-US" dirty="0">
                <a:solidFill>
                  <a:srgbClr val="FF0000"/>
                </a:solidFill>
              </a:rPr>
              <a:t>        18    Derived class2 </a:t>
            </a:r>
            <a:r>
              <a:rPr lang="en-US" dirty="0" err="1">
                <a:solidFill>
                  <a:srgbClr val="FF0000"/>
                </a:solidFill>
              </a:rPr>
              <a:t>func</a:t>
            </a:r>
            <a:r>
              <a:rPr lang="en-US" dirty="0">
                <a:solidFill>
                  <a:srgbClr val="FF0000"/>
                </a:solidFill>
              </a:rPr>
              <a:t>() : 20</a:t>
            </a:r>
          </a:p>
          <a:p>
            <a:r>
              <a:rPr lang="en-US" dirty="0">
                <a:solidFill>
                  <a:srgbClr val="FF0000"/>
                </a:solidFill>
              </a:rPr>
              <a:t>    1568    Derived class2 </a:t>
            </a:r>
            <a:r>
              <a:rPr lang="en-US" dirty="0" err="1">
                <a:solidFill>
                  <a:srgbClr val="FF0000"/>
                </a:solidFill>
              </a:rPr>
              <a:t>func</a:t>
            </a:r>
            <a:r>
              <a:rPr lang="en-US" dirty="0">
                <a:solidFill>
                  <a:srgbClr val="FF0000"/>
                </a:solidFill>
              </a:rPr>
              <a:t>() : 20</a:t>
            </a:r>
          </a:p>
          <a:p>
            <a:r>
              <a:rPr lang="en-US" dirty="0">
                <a:solidFill>
                  <a:srgbClr val="FF0000"/>
                </a:solidFill>
              </a:rPr>
              <a:t>      155    Derived class1 </a:t>
            </a:r>
            <a:r>
              <a:rPr lang="en-US" dirty="0" err="1">
                <a:solidFill>
                  <a:srgbClr val="FF0000"/>
                </a:solidFill>
              </a:rPr>
              <a:t>func</a:t>
            </a:r>
            <a:r>
              <a:rPr lang="en-US" dirty="0">
                <a:solidFill>
                  <a:srgbClr val="FF0000"/>
                </a:solidFill>
              </a:rPr>
              <a:t>()  : 100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075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8339A4-B18B-21A7-4975-83392F4C0ADC}"/>
              </a:ext>
            </a:extLst>
          </p:cNvPr>
          <p:cNvSpPr txBox="1"/>
          <p:nvPr/>
        </p:nvSpPr>
        <p:spPr>
          <a:xfrm>
            <a:off x="381000" y="32479"/>
            <a:ext cx="815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Program illustrate Inheritance of virtual functions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427F2-D9DB-2381-6AD6-77AF1DB80C2F}"/>
              </a:ext>
            </a:extLst>
          </p:cNvPr>
          <p:cNvSpPr txBox="1"/>
          <p:nvPr/>
        </p:nvSpPr>
        <p:spPr>
          <a:xfrm>
            <a:off x="53090" y="685800"/>
            <a:ext cx="42672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80808"/>
                </a:solidFill>
              </a:rPr>
              <a:t>#include&lt;iostream.h&gt;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class base</a:t>
            </a:r>
          </a:p>
          <a:p>
            <a:r>
              <a:rPr lang="en-US" sz="1500" dirty="0">
                <a:solidFill>
                  <a:srgbClr val="080808"/>
                </a:solidFill>
              </a:rPr>
              <a:t>{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public :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int i;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base (int x) { </a:t>
            </a:r>
            <a:r>
              <a:rPr lang="en-US" sz="1500" dirty="0" err="1">
                <a:solidFill>
                  <a:srgbClr val="080808"/>
                </a:solidFill>
              </a:rPr>
              <a:t>i</a:t>
            </a:r>
            <a:r>
              <a:rPr lang="en-US" sz="1500" dirty="0">
                <a:solidFill>
                  <a:srgbClr val="080808"/>
                </a:solidFill>
              </a:rPr>
              <a:t>=x; }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virtual void </a:t>
            </a:r>
            <a:r>
              <a:rPr lang="en-US" sz="1500" dirty="0" err="1">
                <a:solidFill>
                  <a:srgbClr val="080808"/>
                </a:solidFill>
              </a:rPr>
              <a:t>func</a:t>
            </a:r>
            <a:r>
              <a:rPr lang="en-US" sz="1500" dirty="0">
                <a:solidFill>
                  <a:srgbClr val="080808"/>
                </a:solidFill>
              </a:rPr>
              <a:t>()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{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</a:t>
            </a:r>
            <a:r>
              <a:rPr lang="en-US" sz="1500" dirty="0" err="1">
                <a:solidFill>
                  <a:srgbClr val="080808"/>
                </a:solidFill>
              </a:rPr>
              <a:t>cout</a:t>
            </a:r>
            <a:r>
              <a:rPr lang="en-US" sz="1500" dirty="0">
                <a:solidFill>
                  <a:srgbClr val="080808"/>
                </a:solidFill>
              </a:rPr>
              <a:t>&lt;&lt;“ Base class </a:t>
            </a:r>
            <a:r>
              <a:rPr lang="en-US" sz="1500" dirty="0" err="1">
                <a:solidFill>
                  <a:srgbClr val="080808"/>
                </a:solidFill>
              </a:rPr>
              <a:t>func</a:t>
            </a:r>
            <a:r>
              <a:rPr lang="en-US" sz="1500" dirty="0">
                <a:solidFill>
                  <a:srgbClr val="080808"/>
                </a:solidFill>
              </a:rPr>
              <a:t>() :\n”;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}</a:t>
            </a:r>
          </a:p>
          <a:p>
            <a:r>
              <a:rPr lang="en-US" sz="1500" dirty="0">
                <a:solidFill>
                  <a:srgbClr val="080808"/>
                </a:solidFill>
              </a:rPr>
              <a:t>};</a:t>
            </a:r>
          </a:p>
          <a:p>
            <a:endParaRPr lang="en-US" sz="1500" dirty="0">
              <a:solidFill>
                <a:srgbClr val="080808"/>
              </a:solidFill>
            </a:endParaRPr>
          </a:p>
          <a:p>
            <a:r>
              <a:rPr lang="en-US" sz="1500" dirty="0">
                <a:solidFill>
                  <a:srgbClr val="080808"/>
                </a:solidFill>
              </a:rPr>
              <a:t>Class der1: public base</a:t>
            </a:r>
          </a:p>
          <a:p>
            <a:r>
              <a:rPr lang="en-US" sz="1500" dirty="0">
                <a:solidFill>
                  <a:srgbClr val="080808"/>
                </a:solidFill>
              </a:rPr>
              <a:t>{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public :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der1(int x) : base(x) {  }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void </a:t>
            </a:r>
            <a:r>
              <a:rPr lang="en-US" sz="1500" dirty="0" err="1">
                <a:solidFill>
                  <a:srgbClr val="080808"/>
                </a:solidFill>
              </a:rPr>
              <a:t>func</a:t>
            </a:r>
            <a:r>
              <a:rPr lang="en-US" sz="1500" dirty="0">
                <a:solidFill>
                  <a:srgbClr val="080808"/>
                </a:solidFill>
              </a:rPr>
              <a:t>()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{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</a:t>
            </a:r>
            <a:r>
              <a:rPr lang="en-US" sz="1500" dirty="0" err="1">
                <a:solidFill>
                  <a:srgbClr val="080808"/>
                </a:solidFill>
              </a:rPr>
              <a:t>cout</a:t>
            </a:r>
            <a:r>
              <a:rPr lang="en-US" sz="1500" dirty="0">
                <a:solidFill>
                  <a:srgbClr val="080808"/>
                </a:solidFill>
              </a:rPr>
              <a:t>&lt;&lt;“ Derived class1 </a:t>
            </a:r>
            <a:r>
              <a:rPr lang="en-US" sz="1500" dirty="0" err="1">
                <a:solidFill>
                  <a:srgbClr val="080808"/>
                </a:solidFill>
              </a:rPr>
              <a:t>func</a:t>
            </a:r>
            <a:r>
              <a:rPr lang="en-US" sz="1500" dirty="0">
                <a:solidFill>
                  <a:srgbClr val="080808"/>
                </a:solidFill>
              </a:rPr>
              <a:t>() :\n”;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}</a:t>
            </a:r>
          </a:p>
          <a:p>
            <a:r>
              <a:rPr lang="en-US" sz="1500" dirty="0">
                <a:solidFill>
                  <a:srgbClr val="080808"/>
                </a:solidFill>
              </a:rPr>
              <a:t>};</a:t>
            </a:r>
          </a:p>
          <a:p>
            <a:endParaRPr lang="en-IN" sz="1500" dirty="0">
              <a:solidFill>
                <a:srgbClr val="08080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B2E64C-9BDE-C07C-A53E-542ED2AD70D0}"/>
              </a:ext>
            </a:extLst>
          </p:cNvPr>
          <p:cNvSpPr txBox="1"/>
          <p:nvPr/>
        </p:nvSpPr>
        <p:spPr>
          <a:xfrm>
            <a:off x="3429000" y="460444"/>
            <a:ext cx="5400207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80808"/>
                </a:solidFill>
              </a:rPr>
              <a:t>Class der2: public der1</a:t>
            </a:r>
          </a:p>
          <a:p>
            <a:r>
              <a:rPr lang="en-US" sz="1500" dirty="0">
                <a:solidFill>
                  <a:srgbClr val="080808"/>
                </a:solidFill>
              </a:rPr>
              <a:t>{  int x;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public :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void </a:t>
            </a:r>
            <a:r>
              <a:rPr lang="en-US" sz="1500" dirty="0" err="1">
                <a:solidFill>
                  <a:srgbClr val="080808"/>
                </a:solidFill>
              </a:rPr>
              <a:t>initx</a:t>
            </a:r>
            <a:r>
              <a:rPr lang="en-US" sz="1500" dirty="0">
                <a:solidFill>
                  <a:srgbClr val="080808"/>
                </a:solidFill>
              </a:rPr>
              <a:t>()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{  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x=15;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 </a:t>
            </a:r>
            <a:r>
              <a:rPr lang="en-US" sz="1500" dirty="0" err="1">
                <a:solidFill>
                  <a:srgbClr val="080808"/>
                </a:solidFill>
              </a:rPr>
              <a:t>cout</a:t>
            </a:r>
            <a:r>
              <a:rPr lang="en-US" sz="1500" dirty="0">
                <a:solidFill>
                  <a:srgbClr val="080808"/>
                </a:solidFill>
              </a:rPr>
              <a:t>&lt;&lt;“ The value of x : “&lt;&lt;x&lt;&lt;“\n”;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}</a:t>
            </a:r>
          </a:p>
          <a:p>
            <a:r>
              <a:rPr lang="en-US" sz="1500" dirty="0">
                <a:solidFill>
                  <a:srgbClr val="080808"/>
                </a:solidFill>
              </a:rPr>
              <a:t>};</a:t>
            </a:r>
          </a:p>
          <a:p>
            <a:endParaRPr lang="en-US" sz="1500" dirty="0">
              <a:solidFill>
                <a:srgbClr val="080808"/>
              </a:solidFill>
            </a:endParaRPr>
          </a:p>
          <a:p>
            <a:r>
              <a:rPr lang="en-US" sz="1500" dirty="0">
                <a:solidFill>
                  <a:srgbClr val="080808"/>
                </a:solidFill>
              </a:rPr>
              <a:t>void main()</a:t>
            </a:r>
          </a:p>
          <a:p>
            <a:r>
              <a:rPr lang="en-US" sz="1500" dirty="0">
                <a:solidFill>
                  <a:srgbClr val="080808"/>
                </a:solidFill>
              </a:rPr>
              <a:t>{  base *p;;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base bob;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der1 dob1;</a:t>
            </a:r>
          </a:p>
          <a:p>
            <a:r>
              <a:rPr lang="en-US" sz="1500" dirty="0">
                <a:solidFill>
                  <a:srgbClr val="080808"/>
                </a:solidFill>
              </a:rPr>
              <a:t>   der2 dob2;</a:t>
            </a:r>
          </a:p>
          <a:p>
            <a:r>
              <a:rPr lang="en-US" sz="1400" dirty="0">
                <a:solidFill>
                  <a:srgbClr val="080808"/>
                </a:solidFill>
              </a:rPr>
              <a:t>   p=&amp;bob;</a:t>
            </a:r>
          </a:p>
          <a:p>
            <a:r>
              <a:rPr lang="en-US" sz="1400" dirty="0">
                <a:solidFill>
                  <a:srgbClr val="080808"/>
                </a:solidFill>
              </a:rPr>
              <a:t>   P-&gt;</a:t>
            </a:r>
            <a:r>
              <a:rPr lang="en-US" sz="1400" dirty="0" err="1">
                <a:solidFill>
                  <a:srgbClr val="080808"/>
                </a:solidFill>
              </a:rPr>
              <a:t>func</a:t>
            </a:r>
            <a:r>
              <a:rPr lang="en-US" sz="1400" dirty="0">
                <a:solidFill>
                  <a:srgbClr val="080808"/>
                </a:solidFill>
              </a:rPr>
              <a:t>();</a:t>
            </a:r>
          </a:p>
          <a:p>
            <a:r>
              <a:rPr lang="en-US" sz="1400" dirty="0">
                <a:solidFill>
                  <a:srgbClr val="080808"/>
                </a:solidFill>
              </a:rPr>
              <a:t>   p=&amp;dob1;</a:t>
            </a:r>
          </a:p>
          <a:p>
            <a:r>
              <a:rPr lang="en-US" sz="1400" dirty="0">
                <a:solidFill>
                  <a:srgbClr val="080808"/>
                </a:solidFill>
              </a:rPr>
              <a:t>   P-&gt;</a:t>
            </a:r>
            <a:r>
              <a:rPr lang="en-US" sz="1400" dirty="0" err="1">
                <a:solidFill>
                  <a:srgbClr val="080808"/>
                </a:solidFill>
              </a:rPr>
              <a:t>func</a:t>
            </a:r>
            <a:r>
              <a:rPr lang="en-US" sz="1400" dirty="0">
                <a:solidFill>
                  <a:srgbClr val="080808"/>
                </a:solidFill>
              </a:rPr>
              <a:t>();</a:t>
            </a:r>
          </a:p>
          <a:p>
            <a:r>
              <a:rPr lang="en-US" sz="1400" dirty="0">
                <a:solidFill>
                  <a:srgbClr val="080808"/>
                </a:solidFill>
              </a:rPr>
              <a:t>   p=&amp;dob2;</a:t>
            </a:r>
          </a:p>
          <a:p>
            <a:r>
              <a:rPr lang="en-US" sz="1400" dirty="0">
                <a:solidFill>
                  <a:srgbClr val="080808"/>
                </a:solidFill>
              </a:rPr>
              <a:t>   P-&gt;</a:t>
            </a:r>
            <a:r>
              <a:rPr lang="en-US" sz="1400" dirty="0" err="1">
                <a:solidFill>
                  <a:srgbClr val="080808"/>
                </a:solidFill>
              </a:rPr>
              <a:t>func</a:t>
            </a:r>
            <a:r>
              <a:rPr lang="en-US" sz="1400" dirty="0">
                <a:solidFill>
                  <a:srgbClr val="080808"/>
                </a:solidFill>
              </a:rPr>
              <a:t>();</a:t>
            </a:r>
          </a:p>
          <a:p>
            <a:r>
              <a:rPr lang="en-US" sz="1400" dirty="0">
                <a:solidFill>
                  <a:srgbClr val="080808"/>
                </a:solidFill>
              </a:rPr>
              <a:t> //  </a:t>
            </a:r>
            <a:r>
              <a:rPr lang="en-US" sz="1400" dirty="0">
                <a:solidFill>
                  <a:srgbClr val="FF0000"/>
                </a:solidFill>
              </a:rPr>
              <a:t>P-&gt;</a:t>
            </a:r>
            <a:r>
              <a:rPr lang="en-US" sz="1400" dirty="0" err="1">
                <a:solidFill>
                  <a:srgbClr val="FF0000"/>
                </a:solidFill>
              </a:rPr>
              <a:t>initx</a:t>
            </a:r>
            <a:r>
              <a:rPr lang="en-US" sz="1400" dirty="0">
                <a:solidFill>
                  <a:srgbClr val="FF0000"/>
                </a:solidFill>
              </a:rPr>
              <a:t>();     Error as </a:t>
            </a:r>
            <a:r>
              <a:rPr lang="en-US" sz="1400" dirty="0" err="1">
                <a:solidFill>
                  <a:srgbClr val="FF0000"/>
                </a:solidFill>
              </a:rPr>
              <a:t>initx</a:t>
            </a:r>
            <a:r>
              <a:rPr lang="en-US" sz="1400" dirty="0">
                <a:solidFill>
                  <a:srgbClr val="FF0000"/>
                </a:solidFill>
              </a:rPr>
              <a:t>() not a member of base class</a:t>
            </a:r>
          </a:p>
          <a:p>
            <a:r>
              <a:rPr lang="en-US" sz="1400" dirty="0">
                <a:solidFill>
                  <a:srgbClr val="080808"/>
                </a:solidFill>
              </a:rPr>
              <a:t>    dob2.initx();        //</a:t>
            </a:r>
            <a:r>
              <a:rPr lang="en-US" sz="1400" dirty="0" err="1">
                <a:solidFill>
                  <a:srgbClr val="080808"/>
                </a:solidFill>
              </a:rPr>
              <a:t>initx</a:t>
            </a:r>
            <a:r>
              <a:rPr lang="en-US" sz="1400" dirty="0">
                <a:solidFill>
                  <a:srgbClr val="080808"/>
                </a:solidFill>
              </a:rPr>
              <a:t>() as member of dob2</a:t>
            </a:r>
          </a:p>
          <a:p>
            <a:r>
              <a:rPr lang="en-US" sz="1400" dirty="0">
                <a:solidFill>
                  <a:srgbClr val="080808"/>
                </a:solidFill>
              </a:rPr>
              <a:t>}</a:t>
            </a:r>
            <a:endParaRPr lang="en-US" sz="1500" dirty="0">
              <a:solidFill>
                <a:srgbClr val="080808"/>
              </a:solidFill>
            </a:endParaRPr>
          </a:p>
          <a:p>
            <a:endParaRPr lang="en-US" sz="15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899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4231CB-F982-09D2-70D6-976CC6CAD0AA}"/>
              </a:ext>
            </a:extLst>
          </p:cNvPr>
          <p:cNvSpPr txBox="1"/>
          <p:nvPr/>
        </p:nvSpPr>
        <p:spPr>
          <a:xfrm>
            <a:off x="990600" y="1219200"/>
            <a:ext cx="6477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Base class </a:t>
            </a:r>
            <a:r>
              <a:rPr lang="en-US" dirty="0" err="1">
                <a:solidFill>
                  <a:srgbClr val="FF0000"/>
                </a:solidFill>
              </a:rPr>
              <a:t>func</a:t>
            </a:r>
            <a:r>
              <a:rPr lang="en-US" dirty="0">
                <a:solidFill>
                  <a:srgbClr val="FF0000"/>
                </a:solidFill>
              </a:rPr>
              <a:t>() :</a:t>
            </a:r>
          </a:p>
          <a:p>
            <a:r>
              <a:rPr lang="en-US" dirty="0">
                <a:solidFill>
                  <a:srgbClr val="FF0000"/>
                </a:solidFill>
              </a:rPr>
              <a:t>Der1 class </a:t>
            </a:r>
            <a:r>
              <a:rPr lang="en-US" dirty="0" err="1">
                <a:solidFill>
                  <a:srgbClr val="FF0000"/>
                </a:solidFill>
              </a:rPr>
              <a:t>func</a:t>
            </a:r>
            <a:r>
              <a:rPr lang="en-US" dirty="0">
                <a:solidFill>
                  <a:srgbClr val="FF0000"/>
                </a:solidFill>
              </a:rPr>
              <a:t>() :</a:t>
            </a:r>
          </a:p>
          <a:p>
            <a:r>
              <a:rPr lang="en-US" dirty="0">
                <a:solidFill>
                  <a:srgbClr val="FF0000"/>
                </a:solidFill>
              </a:rPr>
              <a:t>Der1 class </a:t>
            </a:r>
            <a:r>
              <a:rPr lang="en-US" dirty="0" err="1">
                <a:solidFill>
                  <a:srgbClr val="FF0000"/>
                </a:solidFill>
              </a:rPr>
              <a:t>func</a:t>
            </a:r>
            <a:r>
              <a:rPr lang="en-US" dirty="0">
                <a:solidFill>
                  <a:srgbClr val="FF0000"/>
                </a:solidFill>
              </a:rPr>
              <a:t>() :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The Value of X : 15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307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3C42-FE2B-1080-E8BA-E6E447C53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8013" cy="63976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Pure Virtual Function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85CEC-E96B-0B93-62D8-985B19B61502}"/>
              </a:ext>
            </a:extLst>
          </p:cNvPr>
          <p:cNvSpPr txBox="1"/>
          <p:nvPr/>
        </p:nvSpPr>
        <p:spPr>
          <a:xfrm>
            <a:off x="457200" y="914400"/>
            <a:ext cx="8534400" cy="558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Sometimes the virtual function declared in the base class may not have meaningful operation to perform.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 that situation, base class supplies only the prototype of the virtual function, and the implication is the derived class must override this function.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 virtual function is said to be Pure Virtual Function  when it has no definition relative to the base class. Only the function’s prototype is included in the base class.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This forces every derived class  to override it.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create a Pure Virtual function, The general form is “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     virtual return type function name (</a:t>
            </a:r>
            <a:r>
              <a:rPr lang="en-US" dirty="0" err="1">
                <a:solidFill>
                  <a:srgbClr val="FF0000"/>
                </a:solidFill>
              </a:rPr>
              <a:t>arg</a:t>
            </a:r>
            <a:r>
              <a:rPr lang="en-US" dirty="0">
                <a:solidFill>
                  <a:srgbClr val="FF0000"/>
                </a:solidFill>
              </a:rPr>
              <a:t>-list ) =0;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785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/>
          <p:cNvSpPr txBox="1">
            <a:spLocks noChangeArrowheads="1"/>
          </p:cNvSpPr>
          <p:nvPr/>
        </p:nvSpPr>
        <p:spPr bwMode="auto">
          <a:xfrm>
            <a:off x="457200" y="130175"/>
            <a:ext cx="8229600" cy="14319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4400" b="1">
                <a:solidFill>
                  <a:srgbClr val="000000"/>
                </a:solidFill>
                <a:latin typeface="Arial" charset="0"/>
              </a:rPr>
              <a:t>The pure specifier</a:t>
            </a:r>
            <a:br>
              <a:rPr lang="en-IN" sz="4400" b="1">
                <a:solidFill>
                  <a:srgbClr val="000000"/>
                </a:solidFill>
                <a:latin typeface="Arial" charset="0"/>
              </a:rPr>
            </a:br>
            <a:endParaRPr lang="en-IN" sz="44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457200" y="1219200"/>
            <a:ext cx="8229600" cy="488741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spcBef>
                <a:spcPts val="6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2800" dirty="0">
                <a:solidFill>
                  <a:srgbClr val="000000"/>
                </a:solidFill>
                <a:latin typeface="Arial" charset="0"/>
              </a:rPr>
              <a:t>The "= 0" portion of a pure virtual function is also known as the pure specifier, because it’s what makes a pure virtual function “pure”. </a:t>
            </a:r>
          </a:p>
          <a:p>
            <a:pPr marL="341313" indent="-341313">
              <a:spcBef>
                <a:spcPts val="6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2800" dirty="0">
                <a:solidFill>
                  <a:srgbClr val="000000"/>
                </a:solidFill>
                <a:latin typeface="Arial" charset="0"/>
              </a:rPr>
              <a:t>Pure specifier appended to the end of the virtual function definition may look like the function is being assigned a value of 0, that is not true. </a:t>
            </a:r>
          </a:p>
          <a:p>
            <a:pPr marL="341313" indent="-341313">
              <a:spcBef>
                <a:spcPts val="6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2800" dirty="0">
                <a:solidFill>
                  <a:srgbClr val="000000"/>
                </a:solidFill>
                <a:latin typeface="Arial" charset="0"/>
              </a:rPr>
              <a:t>The notation "= 0" is just there to indicate that the virtual function is a pure virtual function, and that the function has no body or definition. </a:t>
            </a:r>
          </a:p>
        </p:txBody>
      </p:sp>
      <p:sp>
        <p:nvSpPr>
          <p:cNvPr id="14340" name="Text Box 3"/>
          <p:cNvSpPr txBox="1">
            <a:spLocks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E08F987-B1B3-49A9-A9D1-988FC494FE39}" type="slidenum">
              <a:rPr lang="en-US" sz="1400">
                <a:solidFill>
                  <a:srgbClr val="000000"/>
                </a:solidFill>
                <a:latin typeface="Arial" charset="0"/>
                <a:ea typeface="宋体" charset="-122"/>
              </a:rPr>
              <a:pPr algn="r" eaLnBrk="1" hangingPunct="1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16</a:t>
            </a:fld>
            <a:endParaRPr lang="en-US" sz="140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20766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09505F-09C8-CB0F-7C7F-B24689C34736}"/>
              </a:ext>
            </a:extLst>
          </p:cNvPr>
          <p:cNvSpPr txBox="1"/>
          <p:nvPr/>
        </p:nvSpPr>
        <p:spPr>
          <a:xfrm>
            <a:off x="9379" y="225415"/>
            <a:ext cx="471502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tx1"/>
                </a:solidFill>
              </a:rPr>
              <a:t>#include&lt;iostream.h&gt;</a:t>
            </a:r>
          </a:p>
          <a:p>
            <a:r>
              <a:rPr lang="en-US" sz="1500" dirty="0">
                <a:solidFill>
                  <a:schemeClr val="tx1"/>
                </a:solidFill>
              </a:rPr>
              <a:t>#include&lt;conio.h&gt;</a:t>
            </a:r>
          </a:p>
          <a:p>
            <a:r>
              <a:rPr lang="en-US" sz="1500" dirty="0">
                <a:solidFill>
                  <a:schemeClr val="tx1"/>
                </a:solidFill>
              </a:rPr>
              <a:t>Class volume</a:t>
            </a:r>
          </a:p>
          <a:p>
            <a:r>
              <a:rPr lang="en-US" sz="1500" dirty="0">
                <a:solidFill>
                  <a:schemeClr val="tx1"/>
                </a:solidFill>
              </a:rPr>
              <a:t>{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double dim1,dim2,dim3;</a:t>
            </a:r>
          </a:p>
          <a:p>
            <a:r>
              <a:rPr lang="en-US" sz="1500" dirty="0">
                <a:solidFill>
                  <a:schemeClr val="tx1"/>
                </a:solidFill>
              </a:rPr>
              <a:t> public :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void </a:t>
            </a:r>
            <a:r>
              <a:rPr lang="en-US" sz="1500" dirty="0" err="1">
                <a:solidFill>
                  <a:schemeClr val="tx1"/>
                </a:solidFill>
              </a:rPr>
              <a:t>setdim</a:t>
            </a:r>
            <a:r>
              <a:rPr lang="en-US" sz="1500" dirty="0">
                <a:solidFill>
                  <a:schemeClr val="tx1"/>
                </a:solidFill>
              </a:rPr>
              <a:t>(double d1, double d2=0,double d3=0)</a:t>
            </a:r>
          </a:p>
          <a:p>
            <a:r>
              <a:rPr lang="en-US" sz="1500" dirty="0">
                <a:solidFill>
                  <a:schemeClr val="tx1"/>
                </a:solidFill>
              </a:rPr>
              <a:t>{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dim1=d1; dim2=d2; dim3=d3;</a:t>
            </a:r>
          </a:p>
          <a:p>
            <a:r>
              <a:rPr lang="en-US" sz="1500" dirty="0">
                <a:solidFill>
                  <a:schemeClr val="tx1"/>
                </a:solidFill>
              </a:rPr>
              <a:t>}</a:t>
            </a:r>
          </a:p>
          <a:p>
            <a:r>
              <a:rPr lang="en-US" sz="1500" dirty="0">
                <a:solidFill>
                  <a:schemeClr val="tx1"/>
                </a:solidFill>
              </a:rPr>
              <a:t> void </a:t>
            </a:r>
            <a:r>
              <a:rPr lang="en-US" sz="1500" dirty="0" err="1">
                <a:solidFill>
                  <a:schemeClr val="tx1"/>
                </a:solidFill>
              </a:rPr>
              <a:t>getdim</a:t>
            </a:r>
            <a:r>
              <a:rPr lang="en-US" sz="1500" dirty="0">
                <a:solidFill>
                  <a:schemeClr val="tx1"/>
                </a:solidFill>
              </a:rPr>
              <a:t>(double &amp;d1, double &amp;d2,double &amp;d3)</a:t>
            </a:r>
          </a:p>
          <a:p>
            <a:r>
              <a:rPr lang="en-US" sz="1500" dirty="0">
                <a:solidFill>
                  <a:schemeClr val="tx1"/>
                </a:solidFill>
              </a:rPr>
              <a:t>{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d1=dim1; d2=dim2; d2=dim3;</a:t>
            </a:r>
          </a:p>
          <a:p>
            <a:r>
              <a:rPr lang="en-US" sz="1500" dirty="0">
                <a:solidFill>
                  <a:schemeClr val="tx1"/>
                </a:solidFill>
              </a:rPr>
              <a:t>}</a:t>
            </a:r>
          </a:p>
          <a:p>
            <a:r>
              <a:rPr lang="en-US" sz="1500" dirty="0">
                <a:solidFill>
                  <a:srgbClr val="FF0000"/>
                </a:solidFill>
              </a:rPr>
              <a:t>virtual double </a:t>
            </a:r>
            <a:r>
              <a:rPr lang="en-US" sz="1500" dirty="0" err="1">
                <a:solidFill>
                  <a:srgbClr val="FF0000"/>
                </a:solidFill>
              </a:rPr>
              <a:t>getvolume</a:t>
            </a:r>
            <a:r>
              <a:rPr lang="en-US" sz="1500" dirty="0">
                <a:solidFill>
                  <a:srgbClr val="FF0000"/>
                </a:solidFill>
              </a:rPr>
              <a:t>()=0;</a:t>
            </a:r>
          </a:p>
          <a:p>
            <a:r>
              <a:rPr lang="en-US" sz="1500" dirty="0">
                <a:solidFill>
                  <a:schemeClr val="tx1"/>
                </a:solidFill>
              </a:rPr>
              <a:t>};</a:t>
            </a:r>
            <a:endParaRPr lang="en-IN" sz="15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3B1B28-0FF6-1DBF-1E94-1EDE22F4FEAA}"/>
              </a:ext>
            </a:extLst>
          </p:cNvPr>
          <p:cNvSpPr txBox="1"/>
          <p:nvPr/>
        </p:nvSpPr>
        <p:spPr>
          <a:xfrm>
            <a:off x="4724400" y="225415"/>
            <a:ext cx="4419600" cy="663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tx1"/>
                </a:solidFill>
              </a:rPr>
              <a:t>Class solid : public volume</a:t>
            </a:r>
          </a:p>
          <a:p>
            <a:r>
              <a:rPr lang="en-US" sz="1500" dirty="0">
                <a:solidFill>
                  <a:schemeClr val="tx1"/>
                </a:solidFill>
              </a:rPr>
              <a:t>{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public :</a:t>
            </a:r>
          </a:p>
          <a:p>
            <a:r>
              <a:rPr lang="en-US" sz="1500" dirty="0">
                <a:solidFill>
                  <a:srgbClr val="FF0000"/>
                </a:solidFill>
              </a:rPr>
              <a:t>  double </a:t>
            </a:r>
            <a:r>
              <a:rPr lang="en-US" sz="1500" dirty="0" err="1">
                <a:solidFill>
                  <a:srgbClr val="FF0000"/>
                </a:solidFill>
              </a:rPr>
              <a:t>getvolume</a:t>
            </a:r>
            <a:r>
              <a:rPr lang="en-US" sz="1500" dirty="0">
                <a:solidFill>
                  <a:srgbClr val="FF0000"/>
                </a:solidFill>
              </a:rPr>
              <a:t>()</a:t>
            </a:r>
          </a:p>
          <a:p>
            <a:r>
              <a:rPr lang="en-US" sz="1500" dirty="0">
                <a:solidFill>
                  <a:schemeClr val="tx1"/>
                </a:solidFill>
              </a:rPr>
              <a:t>{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 double d1,d2,d3;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 </a:t>
            </a:r>
            <a:r>
              <a:rPr lang="en-US" sz="1500" dirty="0" err="1">
                <a:solidFill>
                  <a:schemeClr val="tx1"/>
                </a:solidFill>
              </a:rPr>
              <a:t>getdim</a:t>
            </a:r>
            <a:r>
              <a:rPr lang="en-US" sz="1500" dirty="0">
                <a:solidFill>
                  <a:schemeClr val="tx1"/>
                </a:solidFill>
              </a:rPr>
              <a:t>(d1,d2,d3);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 return (d1 *d2*d3);</a:t>
            </a:r>
          </a:p>
          <a:p>
            <a:r>
              <a:rPr lang="en-US" sz="1500" dirty="0">
                <a:solidFill>
                  <a:schemeClr val="tx1"/>
                </a:solidFill>
              </a:rPr>
              <a:t>};</a:t>
            </a:r>
          </a:p>
          <a:p>
            <a:r>
              <a:rPr lang="en-US" sz="1500" dirty="0">
                <a:solidFill>
                  <a:schemeClr val="tx1"/>
                </a:solidFill>
              </a:rPr>
              <a:t>Class cone : public volume</a:t>
            </a:r>
          </a:p>
          <a:p>
            <a:r>
              <a:rPr lang="en-US" sz="1500" dirty="0">
                <a:solidFill>
                  <a:schemeClr val="tx1"/>
                </a:solidFill>
              </a:rPr>
              <a:t>{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public :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</a:t>
            </a:r>
            <a:r>
              <a:rPr lang="en-US" sz="1500" dirty="0">
                <a:solidFill>
                  <a:srgbClr val="FF0000"/>
                </a:solidFill>
              </a:rPr>
              <a:t>double </a:t>
            </a:r>
            <a:r>
              <a:rPr lang="en-US" sz="1500" dirty="0" err="1">
                <a:solidFill>
                  <a:srgbClr val="FF0000"/>
                </a:solidFill>
              </a:rPr>
              <a:t>getvolume</a:t>
            </a:r>
            <a:r>
              <a:rPr lang="en-US" sz="1500" dirty="0">
                <a:solidFill>
                  <a:srgbClr val="FF0000"/>
                </a:solidFill>
              </a:rPr>
              <a:t>()</a:t>
            </a:r>
          </a:p>
          <a:p>
            <a:r>
              <a:rPr lang="en-US" sz="1500" dirty="0">
                <a:solidFill>
                  <a:schemeClr val="tx1"/>
                </a:solidFill>
              </a:rPr>
              <a:t>{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 double d1,d2,d3;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 </a:t>
            </a:r>
            <a:r>
              <a:rPr lang="en-US" sz="1500" dirty="0" err="1">
                <a:solidFill>
                  <a:schemeClr val="tx1"/>
                </a:solidFill>
              </a:rPr>
              <a:t>getdim</a:t>
            </a:r>
            <a:r>
              <a:rPr lang="en-US" sz="1500" dirty="0">
                <a:solidFill>
                  <a:schemeClr val="tx1"/>
                </a:solidFill>
              </a:rPr>
              <a:t>(d1,d2,d3);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 return ((1.0/3.0)*(22.0/7.0)*(d1 *d2*d3));</a:t>
            </a:r>
          </a:p>
          <a:p>
            <a:r>
              <a:rPr lang="en-US" sz="1500" dirty="0">
                <a:solidFill>
                  <a:schemeClr val="tx1"/>
                </a:solidFill>
              </a:rPr>
              <a:t>};</a:t>
            </a:r>
          </a:p>
          <a:p>
            <a:r>
              <a:rPr lang="en-US" sz="1500" dirty="0">
                <a:solidFill>
                  <a:schemeClr val="tx1"/>
                </a:solidFill>
              </a:rPr>
              <a:t>Class sphere : public volume</a:t>
            </a:r>
          </a:p>
          <a:p>
            <a:r>
              <a:rPr lang="en-US" sz="1500" dirty="0">
                <a:solidFill>
                  <a:schemeClr val="tx1"/>
                </a:solidFill>
              </a:rPr>
              <a:t>{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public :</a:t>
            </a:r>
          </a:p>
          <a:p>
            <a:r>
              <a:rPr lang="en-US" sz="1500" dirty="0">
                <a:solidFill>
                  <a:srgbClr val="FF0000"/>
                </a:solidFill>
              </a:rPr>
              <a:t>  double </a:t>
            </a:r>
            <a:r>
              <a:rPr lang="en-US" sz="1500" dirty="0" err="1">
                <a:solidFill>
                  <a:srgbClr val="FF0000"/>
                </a:solidFill>
              </a:rPr>
              <a:t>getvolume</a:t>
            </a:r>
            <a:r>
              <a:rPr lang="en-US" sz="1500" dirty="0">
                <a:solidFill>
                  <a:srgbClr val="FF0000"/>
                </a:solidFill>
              </a:rPr>
              <a:t>()</a:t>
            </a:r>
          </a:p>
          <a:p>
            <a:r>
              <a:rPr lang="en-US" sz="1500" dirty="0">
                <a:solidFill>
                  <a:schemeClr val="tx1"/>
                </a:solidFill>
              </a:rPr>
              <a:t>{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 double d1,d2,d3;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 </a:t>
            </a:r>
            <a:r>
              <a:rPr lang="en-US" sz="1500" dirty="0" err="1">
                <a:solidFill>
                  <a:schemeClr val="tx1"/>
                </a:solidFill>
              </a:rPr>
              <a:t>getdim</a:t>
            </a:r>
            <a:r>
              <a:rPr lang="en-US" sz="1500" dirty="0">
                <a:solidFill>
                  <a:schemeClr val="tx1"/>
                </a:solidFill>
              </a:rPr>
              <a:t>(d1,d2,d3);</a:t>
            </a:r>
          </a:p>
          <a:p>
            <a:r>
              <a:rPr lang="en-US" sz="1500" dirty="0">
                <a:solidFill>
                  <a:schemeClr val="tx1"/>
                </a:solidFill>
              </a:rPr>
              <a:t>   return ((4.0/3.0)*(22.0/7.0)*(d1 *d2*d3));</a:t>
            </a:r>
          </a:p>
          <a:p>
            <a:r>
              <a:rPr lang="en-US" sz="1500" dirty="0">
                <a:solidFill>
                  <a:schemeClr val="tx1"/>
                </a:solidFill>
              </a:rPr>
              <a:t>};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5F869-AD6D-A389-729D-83795A2D1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267200"/>
            <a:ext cx="4089242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76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068597-CE41-EAF0-87E0-AEBD9C59217A}"/>
              </a:ext>
            </a:extLst>
          </p:cNvPr>
          <p:cNvSpPr txBox="1"/>
          <p:nvPr/>
        </p:nvSpPr>
        <p:spPr>
          <a:xfrm>
            <a:off x="457200" y="1518657"/>
            <a:ext cx="65532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Void main()</a:t>
            </a:r>
          </a:p>
          <a:p>
            <a:r>
              <a:rPr lang="en-US" sz="1600" dirty="0">
                <a:solidFill>
                  <a:schemeClr val="tx1"/>
                </a:solidFill>
              </a:rPr>
              <a:t>{</a:t>
            </a:r>
          </a:p>
          <a:p>
            <a:r>
              <a:rPr lang="en-US" sz="1600" dirty="0">
                <a:solidFill>
                  <a:schemeClr val="tx1"/>
                </a:solidFill>
              </a:rPr>
              <a:t>   volume *p;</a:t>
            </a:r>
          </a:p>
          <a:p>
            <a:r>
              <a:rPr lang="en-US" sz="1600" dirty="0">
                <a:solidFill>
                  <a:schemeClr val="tx1"/>
                </a:solidFill>
              </a:rPr>
              <a:t>   solid s;</a:t>
            </a:r>
          </a:p>
          <a:p>
            <a:r>
              <a:rPr lang="en-US" sz="1600" dirty="0">
                <a:solidFill>
                  <a:schemeClr val="tx1"/>
                </a:solidFill>
              </a:rPr>
              <a:t>   cone c;</a:t>
            </a:r>
          </a:p>
          <a:p>
            <a:r>
              <a:rPr lang="en-US" sz="1600" dirty="0">
                <a:solidFill>
                  <a:schemeClr val="tx1"/>
                </a:solidFill>
              </a:rPr>
              <a:t>   sphere </a:t>
            </a:r>
            <a:r>
              <a:rPr lang="en-US" sz="1600" dirty="0" err="1">
                <a:solidFill>
                  <a:schemeClr val="tx1"/>
                </a:solidFill>
              </a:rPr>
              <a:t>sp</a:t>
            </a:r>
            <a:r>
              <a:rPr lang="en-US" sz="1600" dirty="0">
                <a:solidFill>
                  <a:schemeClr val="tx1"/>
                </a:solidFill>
              </a:rPr>
              <a:t>;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</a:t>
            </a:r>
            <a:r>
              <a:rPr lang="en-IN" sz="1600" dirty="0" err="1">
                <a:solidFill>
                  <a:schemeClr val="tx1"/>
                </a:solidFill>
              </a:rPr>
              <a:t>s.setdim</a:t>
            </a:r>
            <a:r>
              <a:rPr lang="en-IN" sz="1600" dirty="0">
                <a:solidFill>
                  <a:schemeClr val="tx1"/>
                </a:solidFill>
              </a:rPr>
              <a:t>(4.0,5.0,2.0);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</a:t>
            </a:r>
            <a:r>
              <a:rPr lang="en-IN" sz="1600" dirty="0" err="1">
                <a:solidFill>
                  <a:schemeClr val="tx1"/>
                </a:solidFill>
              </a:rPr>
              <a:t>c.setdim</a:t>
            </a:r>
            <a:r>
              <a:rPr lang="en-IN" sz="1600" dirty="0">
                <a:solidFill>
                  <a:schemeClr val="tx1"/>
                </a:solidFill>
              </a:rPr>
              <a:t>(4.0,5.0);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</a:t>
            </a:r>
            <a:r>
              <a:rPr lang="en-IN" sz="1600" dirty="0" err="1">
                <a:solidFill>
                  <a:schemeClr val="tx1"/>
                </a:solidFill>
              </a:rPr>
              <a:t>sp</a:t>
            </a:r>
            <a:r>
              <a:rPr lang="en-IN" sz="1600" dirty="0">
                <a:solidFill>
                  <a:schemeClr val="tx1"/>
                </a:solidFill>
              </a:rPr>
              <a:t>=</a:t>
            </a:r>
            <a:r>
              <a:rPr lang="en-IN" sz="1600" dirty="0" err="1">
                <a:solidFill>
                  <a:schemeClr val="tx1"/>
                </a:solidFill>
              </a:rPr>
              <a:t>setdim</a:t>
            </a:r>
            <a:r>
              <a:rPr lang="en-IN" sz="1600" dirty="0">
                <a:solidFill>
                  <a:schemeClr val="tx1"/>
                </a:solidFill>
              </a:rPr>
              <a:t>(4.0);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p=&amp;s;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</a:t>
            </a:r>
            <a:r>
              <a:rPr lang="en-IN" sz="1600" dirty="0" err="1">
                <a:solidFill>
                  <a:schemeClr val="tx1"/>
                </a:solidFill>
              </a:rPr>
              <a:t>cout</a:t>
            </a:r>
            <a:r>
              <a:rPr lang="en-IN" sz="1600" dirty="0">
                <a:solidFill>
                  <a:schemeClr val="tx1"/>
                </a:solidFill>
              </a:rPr>
              <a:t> &lt;&lt; “volume of solid : “&lt;&lt;p-&gt;</a:t>
            </a:r>
            <a:r>
              <a:rPr lang="en-IN" sz="1600" dirty="0" err="1">
                <a:solidFill>
                  <a:schemeClr val="tx1"/>
                </a:solidFill>
              </a:rPr>
              <a:t>getvolume</a:t>
            </a:r>
            <a:r>
              <a:rPr lang="en-IN" sz="1600" dirty="0">
                <a:solidFill>
                  <a:schemeClr val="tx1"/>
                </a:solidFill>
              </a:rPr>
              <a:t>()&lt;&lt;“\n”;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p=&amp;c;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</a:t>
            </a:r>
            <a:r>
              <a:rPr lang="en-IN" sz="1600" dirty="0" err="1">
                <a:solidFill>
                  <a:schemeClr val="tx1"/>
                </a:solidFill>
              </a:rPr>
              <a:t>cout</a:t>
            </a:r>
            <a:r>
              <a:rPr lang="en-IN" sz="1600" dirty="0">
                <a:solidFill>
                  <a:schemeClr val="tx1"/>
                </a:solidFill>
              </a:rPr>
              <a:t> &lt;&lt; “volume of cone : “&lt;&lt;p-&gt;</a:t>
            </a:r>
            <a:r>
              <a:rPr lang="en-IN" sz="1600" dirty="0" err="1">
                <a:solidFill>
                  <a:schemeClr val="tx1"/>
                </a:solidFill>
              </a:rPr>
              <a:t>getvolume</a:t>
            </a:r>
            <a:r>
              <a:rPr lang="en-IN" sz="1600" dirty="0">
                <a:solidFill>
                  <a:schemeClr val="tx1"/>
                </a:solidFill>
              </a:rPr>
              <a:t>()&lt;&lt;“\n”;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p=&amp;</a:t>
            </a:r>
            <a:r>
              <a:rPr lang="en-IN" sz="1600" dirty="0" err="1">
                <a:solidFill>
                  <a:schemeClr val="tx1"/>
                </a:solidFill>
              </a:rPr>
              <a:t>sp</a:t>
            </a:r>
            <a:r>
              <a:rPr lang="en-IN" sz="1600" dirty="0">
                <a:solidFill>
                  <a:schemeClr val="tx1"/>
                </a:solidFill>
              </a:rPr>
              <a:t>;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</a:t>
            </a:r>
            <a:r>
              <a:rPr lang="en-IN" sz="1600" dirty="0" err="1">
                <a:solidFill>
                  <a:schemeClr val="tx1"/>
                </a:solidFill>
              </a:rPr>
              <a:t>cout</a:t>
            </a:r>
            <a:r>
              <a:rPr lang="en-IN" sz="1600" dirty="0">
                <a:solidFill>
                  <a:schemeClr val="tx1"/>
                </a:solidFill>
              </a:rPr>
              <a:t> &lt;&lt; “volume of sphere: “&lt;&lt;p-&gt;</a:t>
            </a:r>
            <a:r>
              <a:rPr lang="en-IN" sz="1600" dirty="0" err="1">
                <a:solidFill>
                  <a:schemeClr val="tx1"/>
                </a:solidFill>
              </a:rPr>
              <a:t>getvolume</a:t>
            </a:r>
            <a:r>
              <a:rPr lang="en-IN" sz="1600" dirty="0">
                <a:solidFill>
                  <a:schemeClr val="tx1"/>
                </a:solidFill>
              </a:rPr>
              <a:t>()&lt;&lt;“\n”;</a:t>
            </a:r>
          </a:p>
          <a:p>
            <a:r>
              <a:rPr lang="en-IN" sz="1600" dirty="0">
                <a:solidFill>
                  <a:schemeClr val="tx1"/>
                </a:solidFill>
              </a:rPr>
              <a:t>};</a:t>
            </a:r>
          </a:p>
          <a:p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57AE4A-4154-CE09-2E5F-6EF0659867C6}"/>
              </a:ext>
            </a:extLst>
          </p:cNvPr>
          <p:cNvSpPr txBox="1"/>
          <p:nvPr/>
        </p:nvSpPr>
        <p:spPr>
          <a:xfrm>
            <a:off x="4572000" y="399529"/>
            <a:ext cx="4114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Volume of solid : 40</a:t>
            </a:r>
          </a:p>
          <a:p>
            <a:r>
              <a:rPr lang="en-US" dirty="0">
                <a:solidFill>
                  <a:srgbClr val="FF0000"/>
                </a:solidFill>
              </a:rPr>
              <a:t>Volume of cone : 83.809524</a:t>
            </a:r>
          </a:p>
          <a:p>
            <a:r>
              <a:rPr lang="en-US" dirty="0">
                <a:solidFill>
                  <a:srgbClr val="FF0000"/>
                </a:solidFill>
              </a:rPr>
              <a:t>Volume of sphere : 268.190476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523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>
                <a:solidFill>
                  <a:srgbClr val="000000"/>
                </a:solidFill>
                <a:latin typeface="Arial" charset="0"/>
                <a:ea typeface="宋体" charset="-122"/>
              </a:rPr>
              <a:t>Pure Virtual Functions: Summary</a:t>
            </a:r>
          </a:p>
        </p:txBody>
      </p:sp>
      <p:sp>
        <p:nvSpPr>
          <p:cNvPr id="26627" name="Text Box 2"/>
          <p:cNvSpPr txBox="1">
            <a:spLocks noChangeArrowheads="1"/>
          </p:cNvSpPr>
          <p:nvPr/>
        </p:nvSpPr>
        <p:spPr bwMode="auto">
          <a:xfrm>
            <a:off x="457200" y="1752600"/>
            <a:ext cx="8305800" cy="426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spcBef>
                <a:spcPts val="7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dirty="0">
                <a:solidFill>
                  <a:srgbClr val="000000"/>
                </a:solidFill>
                <a:latin typeface="Arial" charset="0"/>
                <a:ea typeface="宋体" charset="-122"/>
              </a:rPr>
              <a:t>Pure virtual functions are useful because they make explicit the abstractness of a class</a:t>
            </a:r>
          </a:p>
          <a:p>
            <a:pPr marL="341313" indent="-341313">
              <a:spcBef>
                <a:spcPts val="7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dirty="0">
                <a:solidFill>
                  <a:srgbClr val="000000"/>
                </a:solidFill>
                <a:latin typeface="Arial" charset="0"/>
                <a:ea typeface="宋体" charset="-122"/>
              </a:rPr>
              <a:t>Tell both the user and the compiler how it was intended to be used  </a:t>
            </a:r>
          </a:p>
          <a:p>
            <a:pPr marL="341313" indent="-341313">
              <a:spcBef>
                <a:spcPts val="700"/>
              </a:spcBef>
              <a:buClr>
                <a:srgbClr val="0000FF"/>
              </a:buClr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dirty="0">
                <a:solidFill>
                  <a:srgbClr val="0000FF"/>
                </a:solidFill>
                <a:latin typeface="Arial" charset="0"/>
                <a:ea typeface="宋体" charset="-122"/>
              </a:rPr>
              <a:t>Note</a:t>
            </a:r>
            <a:r>
              <a:rPr lang="en-US" sz="2800" dirty="0">
                <a:solidFill>
                  <a:srgbClr val="000000"/>
                </a:solidFill>
                <a:latin typeface="Arial" charset="0"/>
                <a:ea typeface="宋体" charset="-122"/>
              </a:rPr>
              <a:t> : It is a good idea to keep the common code as close as possible to the root of your hierarchy</a:t>
            </a:r>
          </a:p>
        </p:txBody>
      </p:sp>
      <p:sp>
        <p:nvSpPr>
          <p:cNvPr id="26628" name="Text Box 3"/>
          <p:cNvSpPr txBox="1">
            <a:spLocks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F65664F-A067-4CAB-9AF2-B1B084D31073}" type="slidenum">
              <a:rPr lang="en-US" sz="1400">
                <a:solidFill>
                  <a:srgbClr val="000000"/>
                </a:solidFill>
                <a:latin typeface="Arial" charset="0"/>
                <a:ea typeface="宋体" charset="-122"/>
              </a:rPr>
              <a:pPr algn="r" eaLnBrk="1" hangingPunct="1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19</a:t>
            </a:fld>
            <a:endParaRPr lang="en-US" sz="140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9769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"/>
          <p:cNvSpPr txBox="1"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1" dirty="0">
                <a:solidFill>
                  <a:srgbClr val="FF0000"/>
                </a:solidFill>
                <a:latin typeface="Verdana" pitchFamily="32" charset="0"/>
                <a:ea typeface="宋体" charset="-122"/>
              </a:rPr>
              <a:t>Abstract Classes</a:t>
            </a:r>
          </a:p>
        </p:txBody>
      </p:sp>
      <p:sp>
        <p:nvSpPr>
          <p:cNvPr id="15364" name="Text Box 3"/>
          <p:cNvSpPr txBox="1">
            <a:spLocks noChangeArrowheads="1"/>
          </p:cNvSpPr>
          <p:nvPr/>
        </p:nvSpPr>
        <p:spPr bwMode="auto">
          <a:xfrm>
            <a:off x="228600" y="990600"/>
            <a:ext cx="8229600" cy="56546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 algn="just">
              <a:spcBef>
                <a:spcPts val="1500"/>
              </a:spcBef>
              <a:buFont typeface="Verdana" pitchFamily="32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宋体" charset="-122"/>
              </a:rPr>
              <a:t>A class with one or more pure virtual  functions is an </a:t>
            </a:r>
            <a:r>
              <a:rPr lang="en-US" sz="2400" dirty="0">
                <a:solidFill>
                  <a:srgbClr val="0000FF"/>
                </a:solidFill>
                <a:latin typeface="Verdana" pitchFamily="32" charset="0"/>
                <a:ea typeface="宋体" charset="-122"/>
              </a:rPr>
              <a:t>Abstract Class</a:t>
            </a:r>
          </a:p>
          <a:p>
            <a:pPr marL="341313" indent="-341313" algn="just">
              <a:spcBef>
                <a:spcPts val="1500"/>
              </a:spcBef>
              <a:buFont typeface="Verdana" pitchFamily="32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宋体" charset="-122"/>
              </a:rPr>
              <a:t> Objects of abstract class can’t be created</a:t>
            </a:r>
          </a:p>
          <a:p>
            <a:pPr marL="341313" indent="-341313" algn="just">
              <a:spcBef>
                <a:spcPts val="1500"/>
              </a:spcBef>
              <a:buFont typeface="Verdana" pitchFamily="32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2400" dirty="0">
                <a:solidFill>
                  <a:srgbClr val="000000"/>
                </a:solidFill>
                <a:latin typeface="Verdana" pitchFamily="32" charset="0"/>
                <a:ea typeface="宋体" charset="-122"/>
              </a:rPr>
              <a:t>Abstract Class is a class which contains at least one Pure Virtual function in it. </a:t>
            </a:r>
          </a:p>
          <a:p>
            <a:pPr marL="341313" indent="-341313" algn="just">
              <a:spcBef>
                <a:spcPts val="1500"/>
              </a:spcBef>
              <a:buFont typeface="Verdana" pitchFamily="32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2400" dirty="0">
                <a:solidFill>
                  <a:srgbClr val="000000"/>
                </a:solidFill>
                <a:latin typeface="Verdana" pitchFamily="32" charset="0"/>
                <a:ea typeface="宋体" charset="-122"/>
              </a:rPr>
              <a:t>Abstract classes are used to provide an Interface for its sub classes. </a:t>
            </a:r>
          </a:p>
          <a:p>
            <a:pPr marL="341313" indent="-341313" algn="just">
              <a:spcBef>
                <a:spcPts val="1500"/>
              </a:spcBef>
              <a:buFont typeface="Verdana" pitchFamily="32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2400" dirty="0">
                <a:solidFill>
                  <a:srgbClr val="000000"/>
                </a:solidFill>
                <a:latin typeface="Verdana" pitchFamily="32" charset="0"/>
                <a:ea typeface="宋体" charset="-122"/>
              </a:rPr>
              <a:t>Classes inheriting an Abstract Class must provide definition to the pure virtual function, otherwise they will also become abstract class.</a:t>
            </a:r>
          </a:p>
          <a:p>
            <a:pPr marL="341313" indent="-341313" algn="just">
              <a:spcBef>
                <a:spcPts val="1500"/>
              </a:spcBef>
              <a:buFont typeface="Verdana" pitchFamily="32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2400" dirty="0">
                <a:solidFill>
                  <a:srgbClr val="000000"/>
                </a:solidFill>
                <a:latin typeface="Verdana" pitchFamily="32" charset="0"/>
                <a:ea typeface="宋体" charset="-122"/>
              </a:rPr>
              <a:t>But </a:t>
            </a:r>
            <a:r>
              <a:rPr lang="en-IN" sz="2400" dirty="0">
                <a:solidFill>
                  <a:srgbClr val="FF0000"/>
                </a:solidFill>
                <a:latin typeface="Verdana" pitchFamily="32" charset="0"/>
                <a:ea typeface="宋体" charset="-122"/>
              </a:rPr>
              <a:t>pointer of abstract class can hold address of derived class</a:t>
            </a:r>
          </a:p>
          <a:p>
            <a:pPr marL="341313" indent="-341313">
              <a:spcBef>
                <a:spcPts val="600"/>
              </a:spcBef>
              <a:buFont typeface="Verdana" pitchFamily="32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 dirty="0">
              <a:solidFill>
                <a:srgbClr val="000000"/>
              </a:solidFill>
              <a:latin typeface="Verdana" pitchFamily="32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88413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1"/>
          <p:cNvSpPr txBox="1">
            <a:spLocks noChangeArrowheads="1"/>
          </p:cNvSpPr>
          <p:nvPr/>
        </p:nvSpPr>
        <p:spPr bwMode="auto">
          <a:xfrm>
            <a:off x="457200" y="130175"/>
            <a:ext cx="8229600" cy="14319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4400">
                <a:solidFill>
                  <a:srgbClr val="FF0000"/>
                </a:solidFill>
                <a:latin typeface="Arial" charset="0"/>
              </a:rPr>
              <a:t>Difference b/w Virtual and Pure Virtual Function</a:t>
            </a:r>
          </a:p>
        </p:txBody>
      </p:sp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 algn="just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3000" dirty="0">
                <a:solidFill>
                  <a:srgbClr val="000000"/>
                </a:solidFill>
                <a:latin typeface="Arial" charset="0"/>
              </a:rPr>
              <a:t>A </a:t>
            </a:r>
            <a:r>
              <a:rPr lang="en-IN" sz="3000" b="1" dirty="0">
                <a:solidFill>
                  <a:srgbClr val="000000"/>
                </a:solidFill>
                <a:latin typeface="Arial" charset="0"/>
              </a:rPr>
              <a:t>pure virtual function</a:t>
            </a:r>
            <a:r>
              <a:rPr lang="en-IN" sz="3000" dirty="0">
                <a:solidFill>
                  <a:srgbClr val="000000"/>
                </a:solidFill>
                <a:latin typeface="Arial" charset="0"/>
              </a:rPr>
              <a:t> makes the class it is defined for abstract. </a:t>
            </a:r>
          </a:p>
          <a:p>
            <a:pPr marL="341313" indent="-341313" algn="just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3000" dirty="0">
                <a:solidFill>
                  <a:srgbClr val="000000"/>
                </a:solidFill>
                <a:latin typeface="Arial" charset="0"/>
              </a:rPr>
              <a:t>Abstract classes cannot be instantiated.</a:t>
            </a:r>
          </a:p>
          <a:p>
            <a:pPr marL="341313" indent="-341313" algn="just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3000" dirty="0">
                <a:solidFill>
                  <a:srgbClr val="000000"/>
                </a:solidFill>
                <a:latin typeface="Arial" charset="0"/>
              </a:rPr>
              <a:t>Derived classes need to override/implement all inherited </a:t>
            </a:r>
            <a:r>
              <a:rPr lang="en-IN" sz="3000" b="1" dirty="0">
                <a:solidFill>
                  <a:srgbClr val="000000"/>
                </a:solidFill>
                <a:latin typeface="Arial" charset="0"/>
              </a:rPr>
              <a:t>pure virtual functions</a:t>
            </a:r>
            <a:r>
              <a:rPr lang="en-IN" sz="3000" dirty="0">
                <a:solidFill>
                  <a:srgbClr val="000000"/>
                </a:solidFill>
                <a:latin typeface="Arial" charset="0"/>
              </a:rPr>
              <a:t>. </a:t>
            </a:r>
          </a:p>
          <a:p>
            <a:pPr marL="341313" indent="-341313" algn="just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3000" dirty="0">
                <a:solidFill>
                  <a:srgbClr val="000000"/>
                </a:solidFill>
                <a:latin typeface="Arial" charset="0"/>
              </a:rPr>
              <a:t>If they do not, they too will become abstract. In C++, a class can define a </a:t>
            </a:r>
            <a:r>
              <a:rPr lang="en-IN" sz="3000" b="1" dirty="0">
                <a:solidFill>
                  <a:srgbClr val="000000"/>
                </a:solidFill>
                <a:latin typeface="Arial" charset="0"/>
              </a:rPr>
              <a:t>pure virtual function</a:t>
            </a:r>
            <a:r>
              <a:rPr lang="en-IN" sz="3000" dirty="0">
                <a:solidFill>
                  <a:srgbClr val="000000"/>
                </a:solidFill>
                <a:latin typeface="Arial" charset="0"/>
              </a:rPr>
              <a:t> that has an implementation.</a:t>
            </a:r>
          </a:p>
        </p:txBody>
      </p:sp>
      <p:sp>
        <p:nvSpPr>
          <p:cNvPr id="27652" name="Text Box 3"/>
          <p:cNvSpPr txBox="1">
            <a:spLocks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dirty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36009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3FD9E-8BA3-8FE2-D9A6-FD571CD14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8013" cy="5635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Rules for Virtual Functions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987B0-B525-F691-4FD8-0C77BF9AF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228013" cy="528637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Virtual function must be a class member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Virtual function cannot be static member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keyword virtual is used only in the base class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virtual function and its derived class should have the same type and number of arguments and same return type.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Constructors cannot be virtual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There can be virtual destructors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8571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40A6B-AAD5-382B-95E8-2AF82F61B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6700"/>
            <a:ext cx="8534400" cy="63246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Virtual function in the base class must be defined even if it may not be used.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 virtual function can be a friend of another class.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Virtual functions are hierarchical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Virtual functions are </a:t>
            </a:r>
            <a:r>
              <a:rPr lang="en-US" sz="3000"/>
              <a:t>accessed using </a:t>
            </a:r>
            <a:r>
              <a:rPr lang="en-US" sz="3000" dirty="0"/>
              <a:t>pointers to objects.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 base pointer can point toa derived object, but the reverse is not true.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 virtual function defined in base </a:t>
            </a:r>
            <a:r>
              <a:rPr lang="en-US" sz="3000" dirty="0" err="1"/>
              <a:t>neednot</a:t>
            </a:r>
            <a:r>
              <a:rPr lang="en-US" sz="3000" dirty="0"/>
              <a:t> necessarily redefined in the derived class, in that case, a call will invoke base function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861763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"/>
          <p:cNvSpPr txBox="1">
            <a:spLocks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542E739-A6B8-41DE-BD95-FDE9D4718724}" type="slidenum">
              <a:rPr lang="en-US" sz="1400">
                <a:solidFill>
                  <a:srgbClr val="000000"/>
                </a:solidFill>
                <a:latin typeface="Arial" charset="0"/>
                <a:ea typeface="宋体" charset="-122"/>
              </a:rPr>
              <a:pPr algn="r" eaLnBrk="1" hangingPunct="1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24</a:t>
            </a:fld>
            <a:endParaRPr lang="en-US" sz="140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228600" y="190500"/>
            <a:ext cx="8686800" cy="609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>
                <a:solidFill>
                  <a:srgbClr val="CC0000"/>
                </a:solidFill>
                <a:latin typeface="Arial" charset="0"/>
                <a:ea typeface="ＭＳ Ｐゴシック" pitchFamily="32" charset="-128"/>
              </a:rPr>
              <a:t>Example: Pure Virtual Functions</a:t>
            </a: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152400" y="800100"/>
            <a:ext cx="4267200" cy="5867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class A {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public: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333399"/>
                </a:solidFill>
                <a:latin typeface="Courier New" pitchFamily="49" charset="0"/>
                <a:ea typeface="ＭＳ Ｐゴシック" pitchFamily="32" charset="-128"/>
              </a:rPr>
              <a:t>  virtual void x() = 0;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333399"/>
                </a:solidFill>
                <a:latin typeface="Courier New" pitchFamily="49" charset="0"/>
                <a:ea typeface="ＭＳ Ｐゴシック" pitchFamily="32" charset="-128"/>
              </a:rPr>
              <a:t>  virtual void y() = 0;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};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endParaRPr lang="en-US" sz="1600" b="1" dirty="0">
              <a:solidFill>
                <a:srgbClr val="000000"/>
              </a:solidFill>
              <a:latin typeface="Courier New" pitchFamily="49" charset="0"/>
              <a:ea typeface="ＭＳ Ｐゴシック" pitchFamily="32" charset="-128"/>
            </a:endParaRP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class B : public A {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public: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  virtual void x();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};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endParaRPr lang="en-US" sz="1600" b="1" dirty="0">
              <a:solidFill>
                <a:srgbClr val="000000"/>
              </a:solidFill>
              <a:latin typeface="Courier New" pitchFamily="49" charset="0"/>
              <a:ea typeface="ＭＳ Ｐゴシック" pitchFamily="32" charset="-128"/>
            </a:endParaRP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class C : public B {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public: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  virtual void y();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};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endParaRPr lang="en-US" sz="1600" b="1" dirty="0">
              <a:solidFill>
                <a:srgbClr val="000000"/>
              </a:solidFill>
              <a:latin typeface="Courier New" pitchFamily="49" charset="0"/>
              <a:ea typeface="ＭＳ Ｐゴシック" pitchFamily="32" charset="-128"/>
            </a:endParaRP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 main () {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  A *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ap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 = new C;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 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ap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-&gt;x ();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 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ap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-&gt;y ();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  delete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ap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;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  return 0;</a:t>
            </a:r>
          </a:p>
          <a:p>
            <a:pPr marL="342900" indent="-341313" eaLnBrk="1" hangingPunct="1">
              <a:lnSpc>
                <a:spcPct val="80000"/>
              </a:lnSpc>
              <a:spcBef>
                <a:spcPts val="400"/>
              </a:spcBef>
              <a:buClrTx/>
              <a:buFontTx/>
              <a:buNone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};</a:t>
            </a:r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3124200" y="800100"/>
            <a:ext cx="5867400" cy="5715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341313" indent="-341313" eaLnBrk="1" hangingPunct="1">
              <a:lnSpc>
                <a:spcPct val="80000"/>
              </a:lnSpc>
              <a:spcBef>
                <a:spcPts val="600"/>
              </a:spcBef>
              <a:buFont typeface="Arial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 sz="2400">
                <a:solidFill>
                  <a:srgbClr val="000000"/>
                </a:solidFill>
                <a:latin typeface="Arial" charset="0"/>
                <a:ea typeface="ＭＳ Ｐゴシック" pitchFamily="32" charset="-128"/>
              </a:rPr>
              <a:t>A is an abstract (base) class</a:t>
            </a:r>
          </a:p>
          <a:p>
            <a:pPr marL="741363" lvl="1" indent="-28416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–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>
                <a:solidFill>
                  <a:srgbClr val="000000"/>
                </a:solidFill>
                <a:latin typeface="Arial" charset="0"/>
                <a:ea typeface="ＭＳ Ｐゴシック" pitchFamily="32" charset="-128"/>
              </a:rPr>
              <a:t>Similar to an interface in Java</a:t>
            </a:r>
          </a:p>
          <a:p>
            <a:pPr marL="741363" lvl="1" indent="-28416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–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>
                <a:solidFill>
                  <a:srgbClr val="000000"/>
                </a:solidFill>
                <a:latin typeface="Arial" charset="0"/>
                <a:ea typeface="ＭＳ Ｐゴシック" pitchFamily="32" charset="-128"/>
              </a:rPr>
              <a:t>Declares pure virtual functions (</a:t>
            </a:r>
            <a:r>
              <a:rPr lang="en-US" b="1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=0</a:t>
            </a:r>
            <a:r>
              <a:rPr lang="en-US">
                <a:solidFill>
                  <a:srgbClr val="000000"/>
                </a:solidFill>
                <a:latin typeface="Arial" charset="0"/>
                <a:ea typeface="ＭＳ Ｐゴシック" pitchFamily="32" charset="-128"/>
              </a:rPr>
              <a:t>)</a:t>
            </a:r>
          </a:p>
          <a:p>
            <a:pPr marL="741363" lvl="1" indent="-28416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–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>
                <a:solidFill>
                  <a:srgbClr val="000000"/>
                </a:solidFill>
                <a:latin typeface="Arial" charset="0"/>
                <a:ea typeface="ＭＳ Ｐゴシック" pitchFamily="32" charset="-128"/>
              </a:rPr>
              <a:t>May also have non-virtual methods, as well as virtual methods that are not pure virtual</a:t>
            </a:r>
          </a:p>
          <a:p>
            <a:pPr marL="741363" lvl="1" indent="-28416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None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endParaRPr lang="en-US">
              <a:solidFill>
                <a:srgbClr val="000000"/>
              </a:solidFill>
              <a:latin typeface="Arial" charset="0"/>
              <a:ea typeface="ＭＳ Ｐゴシック" pitchFamily="32" charset="-128"/>
            </a:endParaRPr>
          </a:p>
          <a:p>
            <a:pPr marL="341313" indent="-341313" eaLnBrk="1" hangingPunct="1">
              <a:lnSpc>
                <a:spcPct val="80000"/>
              </a:lnSpc>
              <a:spcBef>
                <a:spcPts val="600"/>
              </a:spcBef>
              <a:buFont typeface="Arial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 sz="2400">
                <a:solidFill>
                  <a:srgbClr val="000000"/>
                </a:solidFill>
                <a:latin typeface="Arial" charset="0"/>
                <a:ea typeface="ＭＳ Ｐゴシック" pitchFamily="32" charset="-128"/>
              </a:rPr>
              <a:t>Derived classes override pure virtual methods</a:t>
            </a:r>
          </a:p>
          <a:p>
            <a:pPr marL="741363" lvl="1" indent="-28416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–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>
                <a:solidFill>
                  <a:srgbClr val="000000"/>
                </a:solidFill>
                <a:latin typeface="Arial" charset="0"/>
                <a:ea typeface="ＭＳ Ｐゴシック" pitchFamily="32" charset="-128"/>
              </a:rPr>
              <a:t>B overrides </a:t>
            </a:r>
            <a:r>
              <a:rPr lang="en-US" b="1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x()</a:t>
            </a:r>
            <a:r>
              <a:rPr lang="en-US">
                <a:solidFill>
                  <a:srgbClr val="000000"/>
                </a:solidFill>
                <a:latin typeface="Arial" charset="0"/>
                <a:ea typeface="ＭＳ Ｐゴシック" pitchFamily="32" charset="-128"/>
              </a:rPr>
              <a:t>, C overrides </a:t>
            </a:r>
            <a:r>
              <a:rPr lang="en-US" b="1">
                <a:solidFill>
                  <a:srgbClr val="000000"/>
                </a:solidFill>
                <a:latin typeface="Courier New" pitchFamily="49" charset="0"/>
                <a:ea typeface="ＭＳ Ｐゴシック" pitchFamily="32" charset="-128"/>
              </a:rPr>
              <a:t>y()</a:t>
            </a:r>
          </a:p>
          <a:p>
            <a:pPr marL="741363" lvl="1" indent="-284163" eaLnBrk="1" hangingPunct="1">
              <a:lnSpc>
                <a:spcPct val="80000"/>
              </a:lnSpc>
              <a:spcBef>
                <a:spcPts val="500"/>
              </a:spcBef>
              <a:buFont typeface="Courier New" pitchFamily="49" charset="0"/>
              <a:buNone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endParaRPr lang="en-US" b="1">
              <a:solidFill>
                <a:srgbClr val="000000"/>
              </a:solidFill>
              <a:latin typeface="Courier New" pitchFamily="49" charset="0"/>
              <a:ea typeface="ＭＳ Ｐゴシック" pitchFamily="32" charset="-128"/>
            </a:endParaRPr>
          </a:p>
          <a:p>
            <a:pPr marL="341313" indent="-341313" eaLnBrk="1" hangingPunct="1">
              <a:lnSpc>
                <a:spcPct val="80000"/>
              </a:lnSpc>
              <a:spcBef>
                <a:spcPts val="600"/>
              </a:spcBef>
              <a:buFont typeface="Arial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 sz="2400">
                <a:solidFill>
                  <a:srgbClr val="000000"/>
                </a:solidFill>
                <a:latin typeface="Arial" charset="0"/>
                <a:ea typeface="ＭＳ Ｐゴシック" pitchFamily="32" charset="-128"/>
              </a:rPr>
              <a:t>Can’t instantiate an abstract class </a:t>
            </a:r>
          </a:p>
          <a:p>
            <a:pPr marL="741363" lvl="1" indent="-28416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–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>
                <a:solidFill>
                  <a:srgbClr val="000000"/>
                </a:solidFill>
                <a:latin typeface="Arial" charset="0"/>
                <a:ea typeface="ＭＳ Ｐゴシック" pitchFamily="32" charset="-128"/>
              </a:rPr>
              <a:t>class that declares pure virtual functions </a:t>
            </a:r>
          </a:p>
          <a:p>
            <a:pPr marL="741363" lvl="1" indent="-28416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–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>
                <a:solidFill>
                  <a:srgbClr val="000000"/>
                </a:solidFill>
                <a:latin typeface="Arial" charset="0"/>
                <a:ea typeface="ＭＳ Ｐゴシック" pitchFamily="32" charset="-128"/>
              </a:rPr>
              <a:t>or inherits ones that are not overridden</a:t>
            </a:r>
          </a:p>
          <a:p>
            <a:pPr marL="741363" lvl="1" indent="-28416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–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>
                <a:solidFill>
                  <a:srgbClr val="000000"/>
                </a:solidFill>
                <a:latin typeface="Arial" charset="0"/>
                <a:ea typeface="ＭＳ Ｐゴシック" pitchFamily="32" charset="-128"/>
              </a:rPr>
              <a:t>A and B are abstract, can create a C</a:t>
            </a:r>
          </a:p>
          <a:p>
            <a:pPr marL="741363" lvl="1" indent="-28416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None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endParaRPr lang="en-US">
              <a:solidFill>
                <a:srgbClr val="000000"/>
              </a:solidFill>
              <a:latin typeface="Arial" charset="0"/>
              <a:ea typeface="ＭＳ Ｐゴシック" pitchFamily="32" charset="-128"/>
            </a:endParaRPr>
          </a:p>
          <a:p>
            <a:pPr marL="341313" indent="-341313" eaLnBrk="1" hangingPunct="1">
              <a:lnSpc>
                <a:spcPct val="80000"/>
              </a:lnSpc>
              <a:spcBef>
                <a:spcPts val="600"/>
              </a:spcBef>
              <a:buFont typeface="Arial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 sz="2400">
                <a:solidFill>
                  <a:srgbClr val="000000"/>
                </a:solidFill>
                <a:latin typeface="Arial" charset="0"/>
                <a:ea typeface="ＭＳ Ｐゴシック" pitchFamily="32" charset="-128"/>
              </a:rPr>
              <a:t>Can still have a pointer or reference to an abstract class type</a:t>
            </a:r>
          </a:p>
          <a:p>
            <a:pPr marL="741363" lvl="1" indent="-284163" eaLnBrk="1" hangingPunct="1">
              <a:lnSpc>
                <a:spcPct val="80000"/>
              </a:lnSpc>
              <a:spcBef>
                <a:spcPts val="500"/>
              </a:spcBef>
              <a:buFont typeface="Arial" charset="0"/>
              <a:buChar char="–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>
                <a:solidFill>
                  <a:srgbClr val="000000"/>
                </a:solidFill>
                <a:latin typeface="Arial" charset="0"/>
                <a:ea typeface="ＭＳ Ｐゴシック" pitchFamily="32" charset="-128"/>
              </a:rPr>
              <a:t>Useful for polymorphism</a:t>
            </a:r>
          </a:p>
        </p:txBody>
      </p:sp>
    </p:spTree>
    <p:extLst>
      <p:ext uri="{BB962C8B-B14F-4D97-AF65-F5344CB8AC3E}">
        <p14:creationId xmlns:p14="http://schemas.microsoft.com/office/powerpoint/2010/main" val="13999620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Problem: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711" y="1295400"/>
            <a:ext cx="8475689" cy="5287962"/>
          </a:xfrm>
        </p:spPr>
        <p:txBody>
          <a:bodyPr/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Different types of employees based on the way in which salary is calculated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All employees has salary but that cannot be determined in base class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Force any derived class to implement it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/>
              <a:t>Make it as </a:t>
            </a:r>
            <a:r>
              <a:rPr lang="en-GB" dirty="0">
                <a:solidFill>
                  <a:srgbClr val="FF0000"/>
                </a:solidFill>
              </a:rPr>
              <a:t>pure virtual functions</a:t>
            </a:r>
          </a:p>
        </p:txBody>
      </p:sp>
    </p:spTree>
    <p:extLst>
      <p:ext uri="{BB962C8B-B14F-4D97-AF65-F5344CB8AC3E}">
        <p14:creationId xmlns:p14="http://schemas.microsoft.com/office/powerpoint/2010/main" val="4036649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064" y="990600"/>
            <a:ext cx="8641872" cy="5489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82274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943F4-C605-2EBF-D10F-E1CBECAD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Problems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883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"/>
          <p:cNvSpPr txBox="1">
            <a:spLocks noChangeArrowheads="1"/>
          </p:cNvSpPr>
          <p:nvPr/>
        </p:nvSpPr>
        <p:spPr bwMode="auto">
          <a:xfrm>
            <a:off x="485775" y="417512"/>
            <a:ext cx="8229600" cy="7254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b="1" dirty="0">
                <a:solidFill>
                  <a:srgbClr val="000000"/>
                </a:solidFill>
                <a:latin typeface="Arial" charset="0"/>
              </a:rPr>
              <a:t>Simple Example</a:t>
            </a:r>
          </a:p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b="1" dirty="0">
                <a:solidFill>
                  <a:srgbClr val="000000"/>
                </a:solidFill>
                <a:latin typeface="Arial" charset="0"/>
              </a:rPr>
              <a:t>Math Symbol Problem</a:t>
            </a:r>
          </a:p>
        </p:txBody>
      </p:sp>
      <p:sp>
        <p:nvSpPr>
          <p:cNvPr id="3075" name="Text Box 2"/>
          <p:cNvSpPr txBox="1">
            <a:spLocks noChangeArrowheads="1"/>
          </p:cNvSpPr>
          <p:nvPr/>
        </p:nvSpPr>
        <p:spPr bwMode="auto">
          <a:xfrm>
            <a:off x="142875" y="1371600"/>
            <a:ext cx="8858250" cy="5272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 algn="just">
              <a:lnSpc>
                <a:spcPct val="150000"/>
              </a:lnSpc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dirty="0">
                <a:solidFill>
                  <a:srgbClr val="000000"/>
                </a:solidFill>
                <a:latin typeface="Arial" charset="0"/>
              </a:rPr>
              <a:t> Create a</a:t>
            </a:r>
            <a:r>
              <a:rPr lang="en-IN" sz="2800" dirty="0">
                <a:solidFill>
                  <a:srgbClr val="000000"/>
                </a:solidFill>
                <a:latin typeface="Arial" charset="0"/>
              </a:rPr>
              <a:t>n abstract class </a:t>
            </a:r>
            <a:r>
              <a:rPr lang="en-IN" sz="2800" dirty="0" err="1">
                <a:solidFill>
                  <a:srgbClr val="000000"/>
                </a:solidFill>
                <a:latin typeface="Arial" charset="0"/>
              </a:rPr>
              <a:t>MathSymbol</a:t>
            </a:r>
            <a:r>
              <a:rPr lang="en-IN" sz="2800" dirty="0">
                <a:solidFill>
                  <a:srgbClr val="000000"/>
                </a:solidFill>
                <a:latin typeface="Arial" charset="0"/>
              </a:rPr>
              <a:t> may provide a pure virtual function </a:t>
            </a:r>
            <a:r>
              <a:rPr lang="en-IN" sz="2800" dirty="0" err="1">
                <a:solidFill>
                  <a:srgbClr val="000000"/>
                </a:solidFill>
                <a:latin typeface="Arial" charset="0"/>
              </a:rPr>
              <a:t>doOperation</a:t>
            </a:r>
            <a:r>
              <a:rPr lang="en-IN" sz="2800" dirty="0">
                <a:solidFill>
                  <a:srgbClr val="000000"/>
                </a:solidFill>
                <a:latin typeface="Arial" charset="0"/>
              </a:rPr>
              <a:t>(), and create two more classes Plus and Minus implement </a:t>
            </a:r>
            <a:r>
              <a:rPr lang="en-IN" sz="2800" dirty="0" err="1">
                <a:solidFill>
                  <a:srgbClr val="000000"/>
                </a:solidFill>
                <a:latin typeface="Arial" charset="0"/>
              </a:rPr>
              <a:t>doOperation</a:t>
            </a:r>
            <a:r>
              <a:rPr lang="en-IN" sz="2800" dirty="0">
                <a:solidFill>
                  <a:srgbClr val="000000"/>
                </a:solidFill>
                <a:latin typeface="Arial" charset="0"/>
              </a:rPr>
              <a:t>() to provide concrete implementations of addition in Plus class and subtraction in Minus class.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"/>
          <p:cNvSpPr txBox="1">
            <a:spLocks noChangeArrowheads="1"/>
          </p:cNvSpPr>
          <p:nvPr/>
        </p:nvSpPr>
        <p:spPr bwMode="auto">
          <a:xfrm>
            <a:off x="485775" y="0"/>
            <a:ext cx="8229600" cy="7254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 b="1">
                <a:solidFill>
                  <a:srgbClr val="000000"/>
                </a:solidFill>
                <a:latin typeface="Arial" charset="0"/>
              </a:rPr>
              <a:t>Algorithm for Math Symbol Problem</a:t>
            </a:r>
          </a:p>
        </p:txBody>
      </p:sp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285750" y="785813"/>
            <a:ext cx="8643938" cy="59293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 algn="just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3200">
                <a:solidFill>
                  <a:srgbClr val="000000"/>
                </a:solidFill>
                <a:latin typeface="Arial" charset="0"/>
              </a:rPr>
              <a:t>Create Mathsymbol abstract class with doOperation() pure virtual function.</a:t>
            </a:r>
          </a:p>
          <a:p>
            <a:pPr marL="341313" indent="-341313" algn="just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3200">
                <a:solidFill>
                  <a:srgbClr val="000000"/>
                </a:solidFill>
                <a:latin typeface="Arial" charset="0"/>
              </a:rPr>
              <a:t>Create plus class derived from Mathsymbol.</a:t>
            </a:r>
          </a:p>
          <a:p>
            <a:pPr marL="341313" indent="-341313" algn="just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3200">
                <a:solidFill>
                  <a:srgbClr val="000000"/>
                </a:solidFill>
                <a:latin typeface="Arial" charset="0"/>
              </a:rPr>
              <a:t>Create minus class dervied from Mathsymbol.</a:t>
            </a:r>
          </a:p>
          <a:p>
            <a:pPr marL="341313" indent="-341313" algn="just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3200">
                <a:solidFill>
                  <a:srgbClr val="000000"/>
                </a:solidFill>
                <a:latin typeface="Arial" charset="0"/>
              </a:rPr>
              <a:t>Perform addition in plus class using doOperation() pure virtual function.</a:t>
            </a:r>
          </a:p>
          <a:p>
            <a:pPr marL="341313" indent="-341313" algn="just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3200">
                <a:solidFill>
                  <a:srgbClr val="000000"/>
                </a:solidFill>
                <a:latin typeface="Arial" charset="0"/>
              </a:rPr>
              <a:t>Perform subtraction in minus class using doOperation() pure virtual function.</a:t>
            </a:r>
          </a:p>
          <a:p>
            <a:pPr marL="341313" indent="-341313" algn="just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3200">
                <a:solidFill>
                  <a:srgbClr val="000000"/>
                </a:solidFill>
                <a:latin typeface="Arial" charset="0"/>
              </a:rPr>
              <a:t>Print  each values in respective classes.</a:t>
            </a:r>
          </a:p>
        </p:txBody>
      </p:sp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6B773AA-293A-477F-A512-81F3DE5C3C04}" type="slidenum">
              <a:rPr lang="en-US" sz="1400">
                <a:solidFill>
                  <a:srgbClr val="000000"/>
                </a:solidFill>
                <a:latin typeface="Arial" charset="0"/>
                <a:ea typeface="宋体" charset="-122"/>
              </a:rPr>
              <a:pPr algn="r" eaLnBrk="1" hangingPunct="1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29</a:t>
            </a:fld>
            <a:endParaRPr lang="en-US" sz="140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485775" y="0"/>
            <a:ext cx="8229600" cy="7254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b="1">
                <a:solidFill>
                  <a:srgbClr val="000000"/>
                </a:solidFill>
                <a:latin typeface="Arial" charset="0"/>
              </a:rPr>
              <a:t>Implementation in C++</a:t>
            </a:r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285750" y="928688"/>
            <a:ext cx="8643938" cy="51435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3200">
                <a:solidFill>
                  <a:srgbClr val="000000"/>
                </a:solidFill>
                <a:latin typeface="Arial" charset="0"/>
              </a:rPr>
              <a:t>Already learnt creating classes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3200">
                <a:solidFill>
                  <a:srgbClr val="000000"/>
                </a:solidFill>
                <a:latin typeface="Arial" charset="0"/>
              </a:rPr>
              <a:t>Learnt about Inheritance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3200">
                <a:solidFill>
                  <a:srgbClr val="000000"/>
                </a:solidFill>
                <a:latin typeface="Arial" charset="0"/>
              </a:rPr>
              <a:t>Define Pure virtual function in Abstract(base) class.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3200">
                <a:solidFill>
                  <a:srgbClr val="000000"/>
                </a:solidFill>
                <a:latin typeface="Arial" charset="0"/>
              </a:rPr>
              <a:t>Inherit virtual function for distinct operations.</a:t>
            </a:r>
          </a:p>
          <a:p>
            <a:pPr marL="341313" indent="-341313">
              <a:spcBef>
                <a:spcPts val="8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3200">
                <a:solidFill>
                  <a:srgbClr val="000000"/>
                </a:solidFill>
                <a:latin typeface="Arial" charset="0"/>
              </a:rPr>
              <a:t>Already learnt about how to display the output.</a:t>
            </a:r>
          </a:p>
        </p:txBody>
      </p:sp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4842417-27A4-41B3-B75B-641C59FCC01B}" type="slidenum">
              <a:rPr lang="en-US" sz="1400">
                <a:solidFill>
                  <a:srgbClr val="000000"/>
                </a:solidFill>
                <a:latin typeface="Arial" charset="0"/>
                <a:ea typeface="宋体" charset="-122"/>
              </a:rPr>
              <a:pPr algn="r" eaLnBrk="1" hangingPunct="1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30</a:t>
            </a:fld>
            <a:endParaRPr lang="en-US" sz="140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4400">
                <a:solidFill>
                  <a:srgbClr val="000000"/>
                </a:solidFill>
                <a:latin typeface="Arial" charset="0"/>
              </a:rPr>
              <a:t>Class Diagram using Dia</a:t>
            </a:r>
          </a:p>
        </p:txBody>
      </p:sp>
      <p:pic>
        <p:nvPicPr>
          <p:cNvPr id="2355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23963" y="1728788"/>
            <a:ext cx="6480175" cy="3816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"/>
          <p:cNvSpPr txBox="1">
            <a:spLocks noChangeArrowheads="1"/>
          </p:cNvSpPr>
          <p:nvPr/>
        </p:nvSpPr>
        <p:spPr bwMode="auto">
          <a:xfrm>
            <a:off x="457200" y="457200"/>
            <a:ext cx="8229600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>
                <a:solidFill>
                  <a:srgbClr val="000000"/>
                </a:solidFill>
                <a:latin typeface="Verdana" pitchFamily="32" charset="0"/>
                <a:ea typeface="宋体" charset="-122"/>
              </a:rPr>
              <a:t>Example</a:t>
            </a:r>
          </a:p>
        </p:txBody>
      </p:sp>
      <p:sp>
        <p:nvSpPr>
          <p:cNvPr id="16387" name="Text Box 2"/>
          <p:cNvSpPr txBox="1">
            <a:spLocks noChangeArrowheads="1"/>
          </p:cNvSpPr>
          <p:nvPr/>
        </p:nvSpPr>
        <p:spPr bwMode="auto">
          <a:xfrm>
            <a:off x="838200" y="3868738"/>
            <a:ext cx="7543800" cy="1739900"/>
          </a:xfrm>
          <a:prstGeom prst="rect">
            <a:avLst/>
          </a:prstGeom>
          <a:solidFill>
            <a:srgbClr val="FFFFC5"/>
          </a:solidFill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FF"/>
                </a:solidFill>
                <a:ea typeface="宋体" charset="-122"/>
              </a:rPr>
              <a:t>class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Mathsymbol </a:t>
            </a:r>
            <a:r>
              <a:rPr lang="en-US">
                <a:solidFill>
                  <a:srgbClr val="339933"/>
                </a:solidFill>
                <a:ea typeface="宋体" charset="-122"/>
              </a:rPr>
              <a:t>//Abstract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</a:t>
            </a:r>
          </a:p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宋体" charset="-122"/>
              </a:rPr>
              <a:t>{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00"/>
                </a:solidFill>
                <a:ea typeface="宋体" charset="-122"/>
              </a:rPr>
              <a:t>  </a:t>
            </a:r>
            <a:r>
              <a:rPr lang="en-US">
                <a:solidFill>
                  <a:srgbClr val="0000FF"/>
                </a:solidFill>
                <a:ea typeface="宋体" charset="-122"/>
              </a:rPr>
              <a:t>public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: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00"/>
                </a:solidFill>
                <a:ea typeface="宋体" charset="-122"/>
              </a:rPr>
              <a:t>  </a:t>
            </a:r>
            <a:r>
              <a:rPr lang="en-US">
                <a:solidFill>
                  <a:srgbClr val="339933"/>
                </a:solidFill>
                <a:ea typeface="宋体" charset="-122"/>
              </a:rPr>
              <a:t>//Pure virtual Function</a:t>
            </a:r>
            <a:br>
              <a:rPr lang="en-US">
                <a:solidFill>
                  <a:srgbClr val="339933"/>
                </a:solidFill>
                <a:ea typeface="宋体" charset="-122"/>
              </a:rPr>
            </a:br>
            <a:r>
              <a:rPr lang="en-US">
                <a:solidFill>
                  <a:srgbClr val="000000"/>
                </a:solidFill>
                <a:ea typeface="宋体" charset="-122"/>
              </a:rPr>
              <a:t>  </a:t>
            </a:r>
            <a:r>
              <a:rPr lang="en-US">
                <a:solidFill>
                  <a:srgbClr val="0000FF"/>
                </a:solidFill>
                <a:ea typeface="宋体" charset="-122"/>
              </a:rPr>
              <a:t>virtual void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doOperation() </a:t>
            </a:r>
            <a:r>
              <a:rPr lang="en-US" u="sng">
                <a:solidFill>
                  <a:srgbClr val="000000"/>
                </a:solidFill>
                <a:ea typeface="宋体" charset="-122"/>
              </a:rPr>
              <a:t>= 0;</a:t>
            </a:r>
          </a:p>
          <a:p>
            <a:pPr>
              <a:lnSpc>
                <a:spcPct val="90000"/>
              </a:lnSpc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宋体" charset="-122"/>
              </a:rPr>
              <a:t>}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584325" y="5888038"/>
            <a:ext cx="6918325" cy="3984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latin typeface="Verdana" pitchFamily="32" charset="0"/>
                <a:ea typeface="宋体" charset="-122"/>
              </a:rPr>
              <a:t>Mathsymbol M; </a:t>
            </a:r>
            <a:r>
              <a:rPr lang="en-US">
                <a:solidFill>
                  <a:srgbClr val="FF0000"/>
                </a:solidFill>
                <a:latin typeface="Verdana" pitchFamily="32" charset="0"/>
                <a:ea typeface="宋体" charset="-122"/>
              </a:rPr>
              <a:t>// error : variable of an abstract class</a:t>
            </a:r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304800" y="1295400"/>
            <a:ext cx="8610600" cy="2438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46800" rIns="0" bIns="46800"/>
          <a:lstStyle/>
          <a:p>
            <a:pPr marL="341313" indent="-341313">
              <a:spcBef>
                <a:spcPts val="550"/>
              </a:spcBef>
              <a:buClr>
                <a:srgbClr val="CC6600"/>
              </a:buClr>
              <a:buFont typeface="Verdana" pitchFamily="32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 sz="2200">
                <a:solidFill>
                  <a:srgbClr val="CC6600"/>
                </a:solidFill>
                <a:latin typeface="Verdana" pitchFamily="32" charset="0"/>
                <a:ea typeface="宋体" charset="-122"/>
              </a:rPr>
              <a:t>Some classes exist logically but not physically</a:t>
            </a:r>
            <a:r>
              <a:rPr lang="en-US" sz="2200">
                <a:solidFill>
                  <a:srgbClr val="000000"/>
                </a:solidFill>
                <a:latin typeface="Verdana" pitchFamily="32" charset="0"/>
                <a:ea typeface="宋体" charset="-122"/>
              </a:rPr>
              <a:t>.</a:t>
            </a:r>
          </a:p>
          <a:p>
            <a:pPr marL="341313" indent="-341313">
              <a:spcBef>
                <a:spcPts val="550"/>
              </a:spcBef>
              <a:buFont typeface="Verdana" pitchFamily="32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 sz="2200">
                <a:solidFill>
                  <a:srgbClr val="000000"/>
                </a:solidFill>
                <a:latin typeface="Verdana" pitchFamily="32" charset="0"/>
                <a:ea typeface="宋体" charset="-122"/>
              </a:rPr>
              <a:t>Example : Mathsymbol</a:t>
            </a:r>
          </a:p>
          <a:p>
            <a:pPr marL="741363" lvl="1" indent="-284163">
              <a:spcBef>
                <a:spcPts val="550"/>
              </a:spcBef>
              <a:buFont typeface="Verdana" pitchFamily="32" charset="0"/>
              <a:buChar char="–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 sz="2200">
                <a:solidFill>
                  <a:srgbClr val="000000"/>
                </a:solidFill>
                <a:latin typeface="Verdana" pitchFamily="32" charset="0"/>
                <a:ea typeface="宋体" charset="-122"/>
              </a:rPr>
              <a:t>Mathsymbol M; </a:t>
            </a:r>
          </a:p>
          <a:p>
            <a:pPr marL="741363" lvl="1" indent="-284163">
              <a:spcBef>
                <a:spcPts val="550"/>
              </a:spcBef>
              <a:buFont typeface="Verdana" pitchFamily="32" charset="0"/>
              <a:buChar char="–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 sz="2200">
                <a:solidFill>
                  <a:srgbClr val="000000"/>
                </a:solidFill>
                <a:latin typeface="Verdana" pitchFamily="32" charset="0"/>
                <a:ea typeface="宋体" charset="-122"/>
              </a:rPr>
              <a:t>Mathssymbol makes sense only as a base of some classes derived from it. Serves as a “category”</a:t>
            </a:r>
          </a:p>
          <a:p>
            <a:pPr marL="741363" lvl="1" indent="-284163">
              <a:spcBef>
                <a:spcPts val="550"/>
              </a:spcBef>
              <a:buFont typeface="Verdana" pitchFamily="32" charset="0"/>
              <a:buChar char="–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 sz="2200">
                <a:solidFill>
                  <a:srgbClr val="000000"/>
                </a:solidFill>
                <a:latin typeface="Verdana" pitchFamily="32" charset="0"/>
                <a:ea typeface="宋体" charset="-122"/>
              </a:rPr>
              <a:t>Hence instantiation of such a class must be prevented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click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457200" y="457200"/>
            <a:ext cx="82296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341313" indent="-341313">
              <a:lnSpc>
                <a:spcPct val="90000"/>
              </a:lnSpc>
              <a:spcBef>
                <a:spcPts val="650"/>
              </a:spcBef>
              <a:buFont typeface="Verdana" pitchFamily="32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 sz="2600">
                <a:solidFill>
                  <a:srgbClr val="000000"/>
                </a:solidFill>
                <a:latin typeface="Verdana" pitchFamily="32" charset="0"/>
                <a:ea typeface="Verdana" pitchFamily="32" charset="0"/>
                <a:cs typeface="Verdana" pitchFamily="32" charset="0"/>
              </a:rPr>
              <a:t>A pure virtual function </a:t>
            </a:r>
            <a:r>
              <a:rPr lang="en-US" sz="2600" u="sng">
                <a:solidFill>
                  <a:srgbClr val="000000"/>
                </a:solidFill>
                <a:latin typeface="Verdana" pitchFamily="32" charset="0"/>
                <a:ea typeface="Verdana" pitchFamily="32" charset="0"/>
                <a:cs typeface="Verdana" pitchFamily="32" charset="0"/>
              </a:rPr>
              <a:t>not defined</a:t>
            </a:r>
            <a:r>
              <a:rPr lang="en-US" sz="2600">
                <a:solidFill>
                  <a:srgbClr val="000000"/>
                </a:solidFill>
                <a:latin typeface="Verdana" pitchFamily="32" charset="0"/>
                <a:ea typeface="Verdana" pitchFamily="32" charset="0"/>
                <a:cs typeface="Verdana" pitchFamily="32" charset="0"/>
              </a:rPr>
              <a:t> in the derived class remains a pure virtual function.</a:t>
            </a:r>
          </a:p>
          <a:p>
            <a:pPr marL="341313" indent="-341313">
              <a:lnSpc>
                <a:spcPct val="90000"/>
              </a:lnSpc>
              <a:spcBef>
                <a:spcPts val="650"/>
              </a:spcBef>
              <a:buFont typeface="Verdana" pitchFamily="32" charset="0"/>
              <a:buChar char="•"/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</a:pPr>
            <a:r>
              <a:rPr lang="en-US" sz="2600">
                <a:solidFill>
                  <a:srgbClr val="000000"/>
                </a:solidFill>
                <a:latin typeface="Verdana" pitchFamily="32" charset="0"/>
                <a:ea typeface="Verdana" pitchFamily="32" charset="0"/>
                <a:cs typeface="Verdana" pitchFamily="32" charset="0"/>
              </a:rPr>
              <a:t>Hence derived class also becomes abstract</a:t>
            </a: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533400" y="1828800"/>
            <a:ext cx="8229600" cy="3124200"/>
          </a:xfrm>
          <a:prstGeom prst="rect">
            <a:avLst/>
          </a:prstGeom>
          <a:solidFill>
            <a:srgbClr val="CCFFFF"/>
          </a:solidFill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342900" indent="-341313">
              <a:lnSpc>
                <a:spcPct val="90000"/>
              </a:lnSpc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>
                <a:solidFill>
                  <a:srgbClr val="000000"/>
                </a:solidFill>
                <a:ea typeface="宋体" charset="-122"/>
              </a:rPr>
              <a:t>class </a:t>
            </a:r>
            <a:r>
              <a:rPr lang="en-US">
                <a:solidFill>
                  <a:srgbClr val="FF0000"/>
                </a:solidFill>
                <a:ea typeface="宋体" charset="-122"/>
              </a:rPr>
              <a:t>Plus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: public Mathsymbol{	     </a:t>
            </a:r>
            <a:r>
              <a:rPr lang="en-US">
                <a:solidFill>
                  <a:srgbClr val="0000FF"/>
                </a:solidFill>
                <a:ea typeface="宋体" charset="-122"/>
              </a:rPr>
              <a:t>//No doOperation() - Abstract</a:t>
            </a:r>
            <a:br>
              <a:rPr lang="en-US">
                <a:solidFill>
                  <a:srgbClr val="339933"/>
                </a:solidFill>
                <a:ea typeface="宋体" charset="-122"/>
              </a:rPr>
            </a:br>
            <a:r>
              <a:rPr lang="en-US">
                <a:solidFill>
                  <a:srgbClr val="0000FF"/>
                </a:solidFill>
                <a:ea typeface="宋体" charset="-122"/>
              </a:rPr>
              <a:t>public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: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FF"/>
                </a:solidFill>
                <a:ea typeface="宋体" charset="-122"/>
              </a:rPr>
              <a:t>void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print(){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00"/>
                </a:solidFill>
                <a:ea typeface="宋体" charset="-122"/>
              </a:rPr>
              <a:t>  </a:t>
            </a:r>
            <a:r>
              <a:rPr lang="en-US">
                <a:solidFill>
                  <a:srgbClr val="0000FF"/>
                </a:solidFill>
                <a:ea typeface="宋体" charset="-122"/>
              </a:rPr>
              <a:t>cout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&lt;&lt; “Doing Addition” &lt;&lt; endl;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00"/>
                </a:solidFill>
                <a:ea typeface="宋体" charset="-122"/>
              </a:rPr>
              <a:t>}</a:t>
            </a:r>
          </a:p>
          <a:p>
            <a:pPr marL="342900" indent="-341313">
              <a:lnSpc>
                <a:spcPct val="90000"/>
              </a:lnSpc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>
                <a:solidFill>
                  <a:srgbClr val="000000"/>
                </a:solidFill>
                <a:ea typeface="宋体" charset="-122"/>
              </a:rPr>
              <a:t>class </a:t>
            </a:r>
            <a:r>
              <a:rPr lang="en-US">
                <a:solidFill>
                  <a:srgbClr val="FF0000"/>
                </a:solidFill>
                <a:ea typeface="宋体" charset="-122"/>
              </a:rPr>
              <a:t>Minus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: public Mathsymbol {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FF"/>
                </a:solidFill>
                <a:ea typeface="宋体" charset="-122"/>
              </a:rPr>
              <a:t>public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: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FF"/>
                </a:solidFill>
                <a:ea typeface="宋体" charset="-122"/>
              </a:rPr>
              <a:t>void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doOperation(){    </a:t>
            </a:r>
            <a:r>
              <a:rPr lang="en-US">
                <a:solidFill>
                  <a:srgbClr val="0000FF"/>
                </a:solidFill>
                <a:ea typeface="宋体" charset="-122"/>
              </a:rPr>
              <a:t>// Override Mathsymbol:: doOperation() </a:t>
            </a:r>
            <a:br>
              <a:rPr lang="en-US">
                <a:solidFill>
                  <a:srgbClr val="0000FF"/>
                </a:solidFill>
                <a:ea typeface="宋体" charset="-122"/>
              </a:rPr>
            </a:br>
            <a:r>
              <a:rPr lang="en-US">
                <a:solidFill>
                  <a:srgbClr val="000000"/>
                </a:solidFill>
                <a:ea typeface="宋体" charset="-122"/>
              </a:rPr>
              <a:t>    	int a=10,b=5;	</a:t>
            </a:r>
          </a:p>
          <a:p>
            <a:pPr marL="342900" indent="-341313">
              <a:lnSpc>
                <a:spcPct val="90000"/>
              </a:lnSpc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>
                <a:solidFill>
                  <a:srgbClr val="0000FF"/>
                </a:solidFill>
                <a:ea typeface="宋体" charset="-122"/>
              </a:rPr>
              <a:t>		cout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&lt;&lt; “Subtration is = ” &lt;&lt;a-b&lt;&lt; endl;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00"/>
                </a:solidFill>
                <a:ea typeface="宋体" charset="-122"/>
              </a:rPr>
              <a:t>}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685800" y="5105400"/>
            <a:ext cx="7772400" cy="762000"/>
          </a:xfrm>
          <a:prstGeom prst="rect">
            <a:avLst/>
          </a:prstGeom>
          <a:solidFill>
            <a:srgbClr val="FFE4C9"/>
          </a:solidFill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342900" indent="-341313">
              <a:lnSpc>
                <a:spcPct val="90000"/>
              </a:lnSpc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>
                <a:solidFill>
                  <a:srgbClr val="000000"/>
                </a:solidFill>
                <a:ea typeface="宋体" charset="-122"/>
              </a:rPr>
              <a:t>Minus m; 		</a:t>
            </a:r>
            <a:r>
              <a:rPr lang="en-US">
                <a:solidFill>
                  <a:srgbClr val="0000FF"/>
                </a:solidFill>
                <a:ea typeface="宋体" charset="-122"/>
              </a:rPr>
              <a:t>// Valid</a:t>
            </a:r>
          </a:p>
          <a:p>
            <a:pPr marL="342900" indent="-341313">
              <a:lnSpc>
                <a:spcPct val="90000"/>
              </a:lnSpc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>
                <a:solidFill>
                  <a:srgbClr val="000000"/>
                </a:solidFill>
                <a:ea typeface="宋体" charset="-122"/>
              </a:rPr>
              <a:t>Plus p; 			</a:t>
            </a:r>
            <a:r>
              <a:rPr lang="en-US">
                <a:solidFill>
                  <a:srgbClr val="FF0000"/>
                </a:solidFill>
                <a:ea typeface="宋体" charset="-122"/>
              </a:rPr>
              <a:t>// error : variable of an abstract class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click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"/>
          <p:cNvSpPr txBox="1">
            <a:spLocks noChangeArrowheads="1"/>
          </p:cNvSpPr>
          <p:nvPr/>
        </p:nvSpPr>
        <p:spPr bwMode="auto">
          <a:xfrm>
            <a:off x="457200" y="533400"/>
            <a:ext cx="8305800" cy="3200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1313" indent="-341313">
              <a:lnSpc>
                <a:spcPct val="90000"/>
              </a:lnSpc>
              <a:spcBef>
                <a:spcPts val="7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>
                <a:solidFill>
                  <a:srgbClr val="000000"/>
                </a:solidFill>
                <a:latin typeface="Arial" charset="0"/>
                <a:ea typeface="宋体" charset="-122"/>
              </a:rPr>
              <a:t>It is still possible to provide definition of a pure virtual function in the base class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>
                <a:solidFill>
                  <a:srgbClr val="000000"/>
                </a:solidFill>
                <a:latin typeface="Arial" charset="0"/>
                <a:ea typeface="宋体" charset="-122"/>
              </a:rPr>
              <a:t>The class still remains abstract and functions must be redefined in the derived classes, but a common piece of code can be kept there to facilitate reuse</a:t>
            </a:r>
          </a:p>
          <a:p>
            <a:pPr marL="341313" indent="-341313">
              <a:lnSpc>
                <a:spcPct val="90000"/>
              </a:lnSpc>
              <a:spcBef>
                <a:spcPts val="700"/>
              </a:spcBef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>
                <a:solidFill>
                  <a:srgbClr val="000000"/>
                </a:solidFill>
                <a:latin typeface="Arial" charset="0"/>
                <a:ea typeface="宋体" charset="-122"/>
              </a:rPr>
              <a:t>In this case, they can not be declared </a:t>
            </a:r>
            <a:r>
              <a:rPr lang="en-US" sz="2800">
                <a:solidFill>
                  <a:srgbClr val="0000FF"/>
                </a:solidFill>
                <a:latin typeface="Arial" charset="0"/>
                <a:ea typeface="宋体" charset="-122"/>
              </a:rPr>
              <a:t>inline</a:t>
            </a:r>
          </a:p>
        </p:txBody>
      </p:sp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r"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39765F3-E9D5-4919-BF21-A5A9F6B85005}" type="slidenum">
              <a:rPr lang="en-US" sz="1400">
                <a:solidFill>
                  <a:srgbClr val="000000"/>
                </a:solidFill>
                <a:latin typeface="Arial" charset="0"/>
                <a:ea typeface="宋体" charset="-122"/>
              </a:rPr>
              <a:pPr algn="r" eaLnBrk="1" hangingPunct="1">
                <a:buClr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34</a:t>
            </a:fld>
            <a:endParaRPr lang="en-US" sz="140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19460" name="Text Box 3"/>
          <p:cNvSpPr txBox="1">
            <a:spLocks noChangeArrowheads="1"/>
          </p:cNvSpPr>
          <p:nvPr/>
        </p:nvSpPr>
        <p:spPr bwMode="auto">
          <a:xfrm>
            <a:off x="228600" y="3810000"/>
            <a:ext cx="4114800" cy="3752850"/>
          </a:xfrm>
          <a:prstGeom prst="rect">
            <a:avLst/>
          </a:prstGeom>
          <a:solidFill>
            <a:srgbClr val="CCFFFF"/>
          </a:solidFill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FF0000"/>
                </a:solidFill>
                <a:ea typeface="宋体" charset="-122"/>
              </a:rPr>
              <a:t>class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Mathsymbol { </a:t>
            </a:r>
            <a:r>
              <a:rPr lang="en-US">
                <a:solidFill>
                  <a:srgbClr val="0000FF"/>
                </a:solidFill>
                <a:ea typeface="宋体" charset="-122"/>
              </a:rPr>
              <a:t>//Abstract </a:t>
            </a:r>
            <a:br>
              <a:rPr lang="en-US">
                <a:solidFill>
                  <a:srgbClr val="0000FF"/>
                </a:solidFill>
                <a:ea typeface="宋体" charset="-122"/>
              </a:rPr>
            </a:br>
            <a:r>
              <a:rPr lang="en-US">
                <a:solidFill>
                  <a:srgbClr val="FF0000"/>
                </a:solidFill>
                <a:ea typeface="宋体" charset="-122"/>
              </a:rPr>
              <a:t>public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: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00"/>
                </a:solidFill>
                <a:ea typeface="宋体" charset="-122"/>
              </a:rPr>
              <a:t> </a:t>
            </a:r>
            <a:r>
              <a:rPr lang="en-US">
                <a:solidFill>
                  <a:srgbClr val="FF0000"/>
                </a:solidFill>
                <a:ea typeface="宋体" charset="-122"/>
              </a:rPr>
              <a:t>virtual void 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doOperation() </a:t>
            </a:r>
            <a:r>
              <a:rPr lang="en-US" u="sng">
                <a:solidFill>
                  <a:srgbClr val="000000"/>
                </a:solidFill>
                <a:ea typeface="宋体" charset="-122"/>
              </a:rPr>
              <a:t>= 0;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宋体" charset="-122"/>
              </a:rPr>
              <a:t>};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FF"/>
                </a:solidFill>
                <a:ea typeface="宋体" charset="-122"/>
              </a:rPr>
              <a:t>// OK, not defined inline </a:t>
            </a:r>
          </a:p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FF0000"/>
                </a:solidFill>
                <a:ea typeface="宋体" charset="-122"/>
              </a:rPr>
              <a:t>void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Mathsymbol::doOperation(){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00"/>
                </a:solidFill>
                <a:ea typeface="宋体" charset="-122"/>
              </a:rPr>
              <a:t> cout &lt;&lt; “Arithmetic" &lt;&lt; endl;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00"/>
                </a:solidFill>
                <a:ea typeface="宋体" charset="-122"/>
              </a:rPr>
              <a:t>}</a:t>
            </a:r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4495800" y="4038600"/>
            <a:ext cx="4648200" cy="2692400"/>
          </a:xfrm>
          <a:prstGeom prst="rect">
            <a:avLst/>
          </a:prstGeom>
          <a:solidFill>
            <a:srgbClr val="FFE4C9"/>
          </a:solidFill>
          <a:ln w="9525">
            <a:noFill/>
            <a:round/>
            <a:headEnd/>
            <a:tailEnd/>
          </a:ln>
        </p:spPr>
        <p:txBody>
          <a:bodyPr lIns="0" tIns="46800" rIns="0" bIns="46800">
            <a:spAutoFit/>
          </a:bodyPr>
          <a:lstStyle/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宋体" charset="-122"/>
              </a:rPr>
              <a:t>class Minus : public Mathsymbol</a:t>
            </a:r>
          </a:p>
          <a:p>
            <a:pPr>
              <a:spcBef>
                <a:spcPts val="12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ea typeface="宋体" charset="-122"/>
              </a:rPr>
              <a:t>{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00"/>
                </a:solidFill>
                <a:ea typeface="宋体" charset="-122"/>
              </a:rPr>
              <a:t>  </a:t>
            </a:r>
            <a:r>
              <a:rPr lang="en-US">
                <a:solidFill>
                  <a:srgbClr val="FF0000"/>
                </a:solidFill>
                <a:ea typeface="宋体" charset="-122"/>
              </a:rPr>
              <a:t>public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: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00"/>
                </a:solidFill>
                <a:ea typeface="宋体" charset="-122"/>
              </a:rPr>
              <a:t>   </a:t>
            </a:r>
            <a:r>
              <a:rPr lang="en-US">
                <a:solidFill>
                  <a:srgbClr val="FF0000"/>
                </a:solidFill>
                <a:ea typeface="宋体" charset="-122"/>
              </a:rPr>
              <a:t>void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doOperation(){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00"/>
                </a:solidFill>
                <a:ea typeface="宋体" charset="-122"/>
              </a:rPr>
              <a:t>   </a:t>
            </a:r>
            <a:r>
              <a:rPr lang="en-US">
                <a:solidFill>
                  <a:srgbClr val="FF0000"/>
                </a:solidFill>
                <a:ea typeface="宋体" charset="-122"/>
              </a:rPr>
              <a:t>Mathsymbol::doOperation(); </a:t>
            </a:r>
            <a:r>
              <a:rPr lang="en-US">
                <a:solidFill>
                  <a:srgbClr val="0000FF"/>
                </a:solidFill>
                <a:ea typeface="宋体" charset="-122"/>
              </a:rPr>
              <a:t>//Reuse</a:t>
            </a:r>
            <a:br>
              <a:rPr lang="en-US">
                <a:solidFill>
                  <a:srgbClr val="0000FF"/>
                </a:solidFill>
                <a:ea typeface="宋体" charset="-122"/>
              </a:rPr>
            </a:br>
            <a:r>
              <a:rPr lang="en-US">
                <a:solidFill>
                  <a:srgbClr val="000000"/>
                </a:solidFill>
                <a:ea typeface="宋体" charset="-122"/>
              </a:rPr>
              <a:t>     </a:t>
            </a:r>
            <a:r>
              <a:rPr lang="en-US">
                <a:solidFill>
                  <a:srgbClr val="FF0000"/>
                </a:solidFill>
                <a:ea typeface="宋体" charset="-122"/>
              </a:rPr>
              <a:t>cout</a:t>
            </a:r>
            <a:r>
              <a:rPr lang="en-US">
                <a:solidFill>
                  <a:srgbClr val="000000"/>
                </a:solidFill>
                <a:ea typeface="宋体" charset="-122"/>
              </a:rPr>
              <a:t> &lt;&lt;“Subtraction”&lt;&lt; endl;</a:t>
            </a:r>
            <a:br>
              <a:rPr lang="en-US">
                <a:solidFill>
                  <a:srgbClr val="000000"/>
                </a:solidFill>
                <a:ea typeface="宋体" charset="-122"/>
              </a:rPr>
            </a:br>
            <a:r>
              <a:rPr lang="en-US">
                <a:solidFill>
                  <a:srgbClr val="000000"/>
                </a:solidFill>
                <a:ea typeface="宋体" charset="-122"/>
              </a:rP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WenQuanYi Micro Hei"/>
        <a:cs typeface="WenQuanYi Micro Hei"/>
      </a:majorFont>
      <a:minorFont>
        <a:latin typeface="Arial"/>
        <a:ea typeface="WenQuanYi Micro Hei"/>
        <a:cs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omic Sans MS" pitchFamily="6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omic Sans MS" pitchFamily="6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1757</TotalTime>
  <Words>2837</Words>
  <Application>Microsoft Office PowerPoint</Application>
  <PresentationFormat>On-screen Show (4:3)</PresentationFormat>
  <Paragraphs>452</Paragraphs>
  <Slides>34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Comic Sans MS</vt:lpstr>
      <vt:lpstr>Courier New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Whether constructors and destructors can be virtual??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Pure Virtual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Rules for Virtual Functions</vt:lpstr>
      <vt:lpstr>PowerPoint Presentation</vt:lpstr>
      <vt:lpstr>PowerPoint Presentation</vt:lpstr>
      <vt:lpstr>Practice Problem: </vt:lpstr>
      <vt:lpstr>PowerPoint Presentation</vt:lpstr>
      <vt:lpstr>Additional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Joshva Devadas</cp:lastModifiedBy>
  <cp:revision>269</cp:revision>
  <cp:lastPrinted>1601-01-01T00:00:00Z</cp:lastPrinted>
  <dcterms:created xsi:type="dcterms:W3CDTF">1601-01-01T00:00:00Z</dcterms:created>
  <dcterms:modified xsi:type="dcterms:W3CDTF">2022-05-25T10:46:16Z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