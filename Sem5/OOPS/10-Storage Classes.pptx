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8805" y="107696"/>
            <a:ext cx="387731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0829" y="2058161"/>
            <a:ext cx="6204584" cy="3683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68811" y="6464909"/>
            <a:ext cx="2317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8801" y="2606801"/>
            <a:ext cx="606679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STORAGE</a:t>
            </a:r>
            <a:r>
              <a:rPr dirty="0"/>
              <a:t> </a:t>
            </a:r>
            <a:r>
              <a:rPr dirty="0" spc="-10"/>
              <a:t>CLASSES</a:t>
            </a:r>
            <a:r>
              <a:rPr dirty="0" spc="10"/>
              <a:t> </a:t>
            </a:r>
            <a:r>
              <a:rPr dirty="0" spc="-5"/>
              <a:t>IN</a:t>
            </a:r>
            <a:r>
              <a:rPr dirty="0" spc="-20"/>
              <a:t> </a:t>
            </a:r>
            <a:r>
              <a:rPr dirty="0" spc="-5"/>
              <a:t>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46535" y="6464909"/>
            <a:ext cx="15367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283273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Storage</a:t>
            </a:r>
            <a:r>
              <a:rPr dirty="0" spc="-75"/>
              <a:t> </a:t>
            </a:r>
            <a:r>
              <a:rPr dirty="0"/>
              <a:t>class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46535" y="6464909"/>
            <a:ext cx="15367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8805" y="1095883"/>
            <a:ext cx="11337925" cy="5073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Times New Roman"/>
                <a:cs typeface="Times New Roman"/>
              </a:rPr>
              <a:t>Why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storage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class?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Times New Roman"/>
              <a:cs typeface="Times New Roman"/>
            </a:endParaRPr>
          </a:p>
          <a:p>
            <a:pPr marL="2088514" marR="5080" indent="-2076450">
              <a:lnSpc>
                <a:spcPct val="119700"/>
              </a:lnSpc>
              <a:tabLst>
                <a:tab pos="5415280" algn="l"/>
                <a:tab pos="7063105" algn="l"/>
              </a:tabLst>
            </a:pPr>
            <a:r>
              <a:rPr dirty="0" sz="2800" spc="-5" b="1">
                <a:latin typeface="Times New Roman"/>
                <a:cs typeface="Times New Roman"/>
              </a:rPr>
              <a:t>Definition:</a:t>
            </a:r>
            <a:r>
              <a:rPr dirty="0" sz="2800" spc="-120" b="1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</a:t>
            </a:r>
            <a:r>
              <a:rPr dirty="0" sz="2800" spc="-14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storage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class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controls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the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duration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of</a:t>
            </a:r>
            <a:r>
              <a:rPr dirty="0" sz="2800" spc="45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storage,</a:t>
            </a:r>
            <a:r>
              <a:rPr dirty="0" sz="2800" spc="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scope</a:t>
            </a:r>
            <a:r>
              <a:rPr dirty="0" sz="2800" spc="1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and</a:t>
            </a:r>
            <a:r>
              <a:rPr dirty="0" sz="2800" spc="1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linkage </a:t>
            </a:r>
            <a:r>
              <a:rPr dirty="0" sz="2800" spc="-68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Syntax:</a:t>
            </a:r>
            <a:r>
              <a:rPr dirty="0" sz="2800" spc="20" b="1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storage_class	data_type	variable_name;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400">
              <a:latin typeface="Times New Roman"/>
              <a:cs typeface="Times New Roman"/>
            </a:endParaRPr>
          </a:p>
          <a:p>
            <a:pPr marL="241300" marR="514350" indent="-228600">
              <a:lnSpc>
                <a:spcPts val="3020"/>
              </a:lnSpc>
              <a:buFont typeface="Arial MT"/>
              <a:buChar char="•"/>
              <a:tabLst>
                <a:tab pos="241300" algn="l"/>
              </a:tabLst>
            </a:pPr>
            <a:r>
              <a:rPr dirty="0" sz="2800" spc="-5">
                <a:latin typeface="Times New Roman"/>
                <a:cs typeface="Times New Roman"/>
              </a:rPr>
              <a:t>The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scope</a:t>
            </a:r>
            <a:r>
              <a:rPr dirty="0" sz="2800" b="1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of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the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variable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is</a:t>
            </a:r>
            <a:r>
              <a:rPr dirty="0" sz="2800">
                <a:latin typeface="Times New Roman"/>
                <a:cs typeface="Times New Roman"/>
              </a:rPr>
              <a:t> the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portion of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 </a:t>
            </a:r>
            <a:r>
              <a:rPr dirty="0" sz="2800">
                <a:latin typeface="Times New Roman"/>
                <a:cs typeface="Times New Roman"/>
              </a:rPr>
              <a:t>program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in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which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5">
                <a:latin typeface="Times New Roman"/>
                <a:cs typeface="Times New Roman"/>
              </a:rPr>
              <a:t> variable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may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be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visible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or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available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–</a:t>
            </a:r>
            <a:endParaRPr sz="28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400">
                <a:latin typeface="Times New Roman"/>
                <a:cs typeface="Times New Roman"/>
              </a:rPr>
              <a:t>block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scope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local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variable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private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variable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internal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variable</a:t>
            </a:r>
            <a:endParaRPr sz="24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400">
                <a:latin typeface="Times New Roman"/>
                <a:cs typeface="Times New Roman"/>
              </a:rPr>
              <a:t>file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scope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global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variable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5">
                <a:latin typeface="Times New Roman"/>
                <a:cs typeface="Times New Roman"/>
              </a:rPr>
              <a:t> public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variable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 external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variable</a:t>
            </a:r>
            <a:endParaRPr sz="2400">
              <a:latin typeface="Times New Roman"/>
              <a:cs typeface="Times New Roman"/>
            </a:endParaRPr>
          </a:p>
          <a:p>
            <a:pPr marL="241300" marR="208279" indent="-228600">
              <a:lnSpc>
                <a:spcPts val="303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  <a:tab pos="2087245" algn="l"/>
              </a:tabLst>
            </a:pPr>
            <a:r>
              <a:rPr dirty="0" sz="2800" spc="-5" b="1">
                <a:latin typeface="Times New Roman"/>
                <a:cs typeface="Times New Roman"/>
              </a:rPr>
              <a:t>Lifetime</a:t>
            </a:r>
            <a:r>
              <a:rPr dirty="0" sz="2800" spc="10" b="1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of	a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variable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refers</a:t>
            </a:r>
            <a:r>
              <a:rPr dirty="0" sz="2800" spc="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to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the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duration</a:t>
            </a:r>
            <a:r>
              <a:rPr dirty="0" sz="2800">
                <a:latin typeface="Times New Roman"/>
                <a:cs typeface="Times New Roman"/>
              </a:rPr>
              <a:t> for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which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the</a:t>
            </a:r>
            <a:r>
              <a:rPr dirty="0" sz="2800" spc="30">
                <a:latin typeface="Times New Roman"/>
                <a:cs typeface="Times New Roman"/>
              </a:rPr>
              <a:t> </a:t>
            </a:r>
            <a:r>
              <a:rPr dirty="0" sz="2800" spc="-5" i="1">
                <a:latin typeface="Times New Roman"/>
                <a:cs typeface="Times New Roman"/>
              </a:rPr>
              <a:t>variable</a:t>
            </a:r>
            <a:r>
              <a:rPr dirty="0" sz="2800" spc="-20" i="1">
                <a:latin typeface="Times New Roman"/>
                <a:cs typeface="Times New Roman"/>
              </a:rPr>
              <a:t> retains</a:t>
            </a:r>
            <a:r>
              <a:rPr dirty="0" sz="2800" i="1">
                <a:latin typeface="Times New Roman"/>
                <a:cs typeface="Times New Roman"/>
              </a:rPr>
              <a:t> </a:t>
            </a:r>
            <a:r>
              <a:rPr dirty="0" sz="2800" spc="-5" i="1">
                <a:latin typeface="Times New Roman"/>
                <a:cs typeface="Times New Roman"/>
              </a:rPr>
              <a:t>a </a:t>
            </a:r>
            <a:r>
              <a:rPr dirty="0" sz="2800" spc="-685" i="1">
                <a:latin typeface="Times New Roman"/>
                <a:cs typeface="Times New Roman"/>
              </a:rPr>
              <a:t> </a:t>
            </a:r>
            <a:r>
              <a:rPr dirty="0" sz="2800" spc="-5" i="1">
                <a:latin typeface="Times New Roman"/>
                <a:cs typeface="Times New Roman"/>
              </a:rPr>
              <a:t>given</a:t>
            </a:r>
            <a:r>
              <a:rPr dirty="0" sz="2800" spc="-15" i="1">
                <a:latin typeface="Times New Roman"/>
                <a:cs typeface="Times New Roman"/>
              </a:rPr>
              <a:t> </a:t>
            </a:r>
            <a:r>
              <a:rPr dirty="0" sz="2800" spc="-5" i="1">
                <a:latin typeface="Times New Roman"/>
                <a:cs typeface="Times New Roman"/>
              </a:rPr>
              <a:t>value</a:t>
            </a:r>
            <a:r>
              <a:rPr dirty="0" sz="2800" i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during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execution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of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 program.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146535" y="6464909"/>
            <a:ext cx="15367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283273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Storage</a:t>
            </a:r>
            <a:r>
              <a:rPr dirty="0" spc="-75"/>
              <a:t> </a:t>
            </a:r>
            <a:r>
              <a:rPr dirty="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805" y="1011173"/>
            <a:ext cx="11344910" cy="5374005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960"/>
              </a:spcBef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7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same</a:t>
            </a:r>
            <a:r>
              <a:rPr dirty="0" sz="2400" spc="7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variable</a:t>
            </a:r>
            <a:r>
              <a:rPr dirty="0" sz="2400" spc="7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name</a:t>
            </a:r>
            <a:r>
              <a:rPr dirty="0" sz="2400" spc="7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may</a:t>
            </a:r>
            <a:r>
              <a:rPr dirty="0" sz="2400" spc="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appear</a:t>
            </a:r>
            <a:r>
              <a:rPr dirty="0" sz="2400" spc="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7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different</a:t>
            </a:r>
            <a:r>
              <a:rPr dirty="0" sz="2400" spc="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scopes.</a:t>
            </a:r>
            <a:r>
              <a:rPr dirty="0" sz="2400" spc="7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It</a:t>
            </a:r>
            <a:r>
              <a:rPr dirty="0" sz="2400" spc="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7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function</a:t>
            </a:r>
            <a:r>
              <a:rPr dirty="0" sz="2400" spc="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6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compiler</a:t>
            </a:r>
            <a:r>
              <a:rPr dirty="0" sz="2400" spc="70">
                <a:latin typeface="Times New Roman"/>
                <a:cs typeface="Times New Roman"/>
              </a:rPr>
              <a:t> </a:t>
            </a:r>
            <a:r>
              <a:rPr dirty="0" sz="2400" spc="5">
                <a:latin typeface="Times New Roman"/>
                <a:cs typeface="Times New Roman"/>
              </a:rPr>
              <a:t>to </a:t>
            </a:r>
            <a:r>
              <a:rPr dirty="0" sz="2400" spc="-5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decide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whether 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different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occurrences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 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variable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refer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5">
                <a:latin typeface="Times New Roman"/>
                <a:cs typeface="Times New Roman"/>
              </a:rPr>
              <a:t> same</a:t>
            </a:r>
            <a:r>
              <a:rPr dirty="0" sz="2400">
                <a:latin typeface="Times New Roman"/>
                <a:cs typeface="Times New Roman"/>
              </a:rPr>
              <a:t> variable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not.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450">
              <a:latin typeface="Times New Roman"/>
              <a:cs typeface="Times New Roman"/>
            </a:endParaRPr>
          </a:p>
          <a:p>
            <a:pPr marL="12700" marR="8255">
              <a:lnSpc>
                <a:spcPct val="70000"/>
              </a:lnSpc>
              <a:tabLst>
                <a:tab pos="929640" algn="l"/>
                <a:tab pos="1405255" algn="l"/>
                <a:tab pos="1949450" algn="l"/>
                <a:tab pos="2814955" algn="l"/>
                <a:tab pos="3239135" algn="l"/>
                <a:tab pos="3546475" algn="l"/>
                <a:tab pos="4773930" algn="l"/>
                <a:tab pos="5318125" algn="l"/>
                <a:tab pos="6570980" algn="l"/>
                <a:tab pos="7654290" algn="l"/>
                <a:tab pos="8197215" algn="l"/>
                <a:tab pos="9317355" algn="l"/>
                <a:tab pos="9742805" algn="l"/>
                <a:tab pos="10287000" algn="l"/>
              </a:tabLst>
            </a:pPr>
            <a:r>
              <a:rPr dirty="0" sz="2400" spc="-5">
                <a:latin typeface="Times New Roman"/>
                <a:cs typeface="Times New Roman"/>
              </a:rPr>
              <a:t>Based	on	t</a:t>
            </a:r>
            <a:r>
              <a:rPr dirty="0" sz="2400" spc="-15">
                <a:latin typeface="Times New Roman"/>
                <a:cs typeface="Times New Roman"/>
              </a:rPr>
              <a:t>h</a:t>
            </a:r>
            <a:r>
              <a:rPr dirty="0" sz="2400" spc="-5">
                <a:latin typeface="Times New Roman"/>
                <a:cs typeface="Times New Roman"/>
              </a:rPr>
              <a:t>e	sco</a:t>
            </a:r>
            <a:r>
              <a:rPr dirty="0" sz="2400" spc="-15">
                <a:latin typeface="Times New Roman"/>
                <a:cs typeface="Times New Roman"/>
              </a:rPr>
              <a:t>p</a:t>
            </a:r>
            <a:r>
              <a:rPr dirty="0" sz="2400" spc="-5">
                <a:latin typeface="Times New Roman"/>
                <a:cs typeface="Times New Roman"/>
              </a:rPr>
              <a:t>e	</a:t>
            </a:r>
            <a:r>
              <a:rPr dirty="0" sz="2400" spc="-20">
                <a:latin typeface="Times New Roman"/>
                <a:cs typeface="Times New Roman"/>
              </a:rPr>
              <a:t>o</a:t>
            </a:r>
            <a:r>
              <a:rPr dirty="0" sz="2400" spc="-5">
                <a:latin typeface="Times New Roman"/>
                <a:cs typeface="Times New Roman"/>
              </a:rPr>
              <a:t>f	a	variab</a:t>
            </a:r>
            <a:r>
              <a:rPr dirty="0" sz="2400" spc="-15">
                <a:latin typeface="Times New Roman"/>
                <a:cs typeface="Times New Roman"/>
              </a:rPr>
              <a:t>l</a:t>
            </a:r>
            <a:r>
              <a:rPr dirty="0" sz="2400" spc="-15">
                <a:latin typeface="Times New Roman"/>
                <a:cs typeface="Times New Roman"/>
              </a:rPr>
              <a:t>e</a:t>
            </a:r>
            <a:r>
              <a:rPr dirty="0" sz="2400" spc="-5">
                <a:latin typeface="Times New Roman"/>
                <a:cs typeface="Times New Roman"/>
              </a:rPr>
              <a:t>,	t</a:t>
            </a:r>
            <a:r>
              <a:rPr dirty="0" sz="2400" spc="-15">
                <a:latin typeface="Times New Roman"/>
                <a:cs typeface="Times New Roman"/>
              </a:rPr>
              <a:t>h</a:t>
            </a:r>
            <a:r>
              <a:rPr dirty="0" sz="2400" spc="-5">
                <a:latin typeface="Times New Roman"/>
                <a:cs typeface="Times New Roman"/>
              </a:rPr>
              <a:t>e	co</a:t>
            </a:r>
            <a:r>
              <a:rPr dirty="0" sz="2400" spc="-25">
                <a:latin typeface="Times New Roman"/>
                <a:cs typeface="Times New Roman"/>
              </a:rPr>
              <a:t>m</a:t>
            </a:r>
            <a:r>
              <a:rPr dirty="0" sz="2400" spc="-5">
                <a:latin typeface="Times New Roman"/>
                <a:cs typeface="Times New Roman"/>
              </a:rPr>
              <a:t>p</a:t>
            </a:r>
            <a:r>
              <a:rPr dirty="0" sz="2400" spc="-10">
                <a:latin typeface="Times New Roman"/>
                <a:cs typeface="Times New Roman"/>
              </a:rPr>
              <a:t>i</a:t>
            </a:r>
            <a:r>
              <a:rPr dirty="0" sz="2400" spc="-5">
                <a:latin typeface="Times New Roman"/>
                <a:cs typeface="Times New Roman"/>
              </a:rPr>
              <a:t>ler	d</a:t>
            </a:r>
            <a:r>
              <a:rPr dirty="0" sz="2400" spc="-15">
                <a:latin typeface="Times New Roman"/>
                <a:cs typeface="Times New Roman"/>
              </a:rPr>
              <a:t>ec</a:t>
            </a:r>
            <a:r>
              <a:rPr dirty="0" sz="2400" spc="-5">
                <a:latin typeface="Times New Roman"/>
                <a:cs typeface="Times New Roman"/>
              </a:rPr>
              <a:t>ides	t</a:t>
            </a:r>
            <a:r>
              <a:rPr dirty="0" sz="2400" spc="-15">
                <a:latin typeface="Times New Roman"/>
                <a:cs typeface="Times New Roman"/>
              </a:rPr>
              <a:t>h</a:t>
            </a:r>
            <a:r>
              <a:rPr dirty="0" sz="2400" spc="-5">
                <a:latin typeface="Times New Roman"/>
                <a:cs typeface="Times New Roman"/>
              </a:rPr>
              <a:t>e	</a:t>
            </a:r>
            <a:r>
              <a:rPr dirty="0" sz="2400" spc="-5" b="1">
                <a:latin typeface="Times New Roman"/>
                <a:cs typeface="Times New Roman"/>
              </a:rPr>
              <a:t>lin</a:t>
            </a:r>
            <a:r>
              <a:rPr dirty="0" sz="2400" b="1">
                <a:latin typeface="Times New Roman"/>
                <a:cs typeface="Times New Roman"/>
              </a:rPr>
              <a:t>k</a:t>
            </a: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-10" b="1">
                <a:latin typeface="Times New Roman"/>
                <a:cs typeface="Times New Roman"/>
              </a:rPr>
              <a:t>g</a:t>
            </a:r>
            <a:r>
              <a:rPr dirty="0" sz="2400" b="1">
                <a:latin typeface="Times New Roman"/>
                <a:cs typeface="Times New Roman"/>
              </a:rPr>
              <a:t>e	</a:t>
            </a:r>
            <a:r>
              <a:rPr dirty="0" sz="2400">
                <a:latin typeface="Times New Roman"/>
                <a:cs typeface="Times New Roman"/>
              </a:rPr>
              <a:t>of	t</a:t>
            </a:r>
            <a:r>
              <a:rPr dirty="0" sz="2400" spc="-10">
                <a:latin typeface="Times New Roman"/>
                <a:cs typeface="Times New Roman"/>
              </a:rPr>
              <a:t>h</a:t>
            </a:r>
            <a:r>
              <a:rPr dirty="0" sz="2400">
                <a:latin typeface="Times New Roman"/>
                <a:cs typeface="Times New Roman"/>
              </a:rPr>
              <a:t>e	</a:t>
            </a:r>
            <a:r>
              <a:rPr dirty="0" sz="2400" spc="-15">
                <a:latin typeface="Times New Roman"/>
                <a:cs typeface="Times New Roman"/>
              </a:rPr>
              <a:t>d</a:t>
            </a:r>
            <a:r>
              <a:rPr dirty="0" sz="2400">
                <a:latin typeface="Times New Roman"/>
                <a:cs typeface="Times New Roman"/>
              </a:rPr>
              <a:t>i</a:t>
            </a:r>
            <a:r>
              <a:rPr dirty="0" sz="2400" spc="-55">
                <a:latin typeface="Times New Roman"/>
                <a:cs typeface="Times New Roman"/>
              </a:rPr>
              <a:t>f</a:t>
            </a:r>
            <a:r>
              <a:rPr dirty="0" sz="2400">
                <a:latin typeface="Times New Roman"/>
                <a:cs typeface="Times New Roman"/>
              </a:rPr>
              <a:t>ferent  </a:t>
            </a:r>
            <a:r>
              <a:rPr dirty="0" sz="2400">
                <a:latin typeface="Times New Roman"/>
                <a:cs typeface="Times New Roman"/>
              </a:rPr>
              <a:t>occurrences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of</a:t>
            </a:r>
            <a:r>
              <a:rPr dirty="0" sz="2400">
                <a:latin typeface="Times New Roman"/>
                <a:cs typeface="Times New Roman"/>
              </a:rPr>
              <a:t> 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same</a:t>
            </a:r>
            <a:r>
              <a:rPr dirty="0" sz="2400">
                <a:latin typeface="Times New Roman"/>
                <a:cs typeface="Times New Roman"/>
              </a:rPr>
              <a:t> variable.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5">
                <a:latin typeface="Times New Roman"/>
                <a:cs typeface="Times New Roman"/>
              </a:rPr>
              <a:t>A</a:t>
            </a:r>
            <a:r>
              <a:rPr dirty="0" sz="2400" spc="-1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change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value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 variable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block</a:t>
            </a:r>
            <a:r>
              <a:rPr dirty="0" sz="2400" spc="-5">
                <a:latin typeface="Times New Roman"/>
                <a:cs typeface="Times New Roman"/>
              </a:rPr>
              <a:t> might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leads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some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side</a:t>
            </a:r>
            <a:r>
              <a:rPr dirty="0" sz="2400" spc="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effects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ts val="2450"/>
              </a:lnSpc>
              <a:spcBef>
                <a:spcPts val="5"/>
              </a:spcBef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18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form</a:t>
            </a:r>
            <a:r>
              <a:rPr dirty="0" sz="2400" spc="1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18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place</a:t>
            </a:r>
            <a:r>
              <a:rPr dirty="0" sz="2400" spc="18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of</a:t>
            </a:r>
            <a:r>
              <a:rPr dirty="0" sz="2400" spc="17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the</a:t>
            </a:r>
            <a:r>
              <a:rPr dirty="0" sz="2400" spc="18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declaration</a:t>
            </a:r>
            <a:r>
              <a:rPr dirty="0" sz="2400" spc="18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where</a:t>
            </a:r>
            <a:r>
              <a:rPr dirty="0" sz="2400" spc="17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the</a:t>
            </a:r>
            <a:r>
              <a:rPr dirty="0" sz="2400" spc="18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variable</a:t>
            </a:r>
            <a:r>
              <a:rPr dirty="0" sz="2400" spc="1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17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declared</a:t>
            </a:r>
            <a:r>
              <a:rPr dirty="0" sz="2400" spc="18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determine</a:t>
            </a:r>
            <a:r>
              <a:rPr dirty="0" sz="2400" spc="1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18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linkage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450"/>
              </a:lnSpc>
            </a:pP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variable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variables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may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 linked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three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different</a:t>
            </a:r>
            <a:r>
              <a:rPr dirty="0" sz="2400" spc="-5">
                <a:latin typeface="Times New Roman"/>
                <a:cs typeface="Times New Roman"/>
              </a:rPr>
              <a:t> ways:</a:t>
            </a:r>
            <a:endParaRPr sz="24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130"/>
              </a:spcBef>
              <a:buAutoNum type="alphaLcParenR"/>
              <a:tabLst>
                <a:tab pos="527685" algn="l"/>
                <a:tab pos="528320" algn="l"/>
              </a:tabLst>
            </a:pPr>
            <a:r>
              <a:rPr dirty="0" sz="2400">
                <a:latin typeface="Times New Roman"/>
                <a:cs typeface="Times New Roman"/>
              </a:rPr>
              <a:t>External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linkage</a:t>
            </a:r>
            <a:endParaRPr sz="24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135"/>
              </a:spcBef>
              <a:buAutoNum type="alphaLcParenR"/>
              <a:tabLst>
                <a:tab pos="527685" algn="l"/>
                <a:tab pos="528320" algn="l"/>
              </a:tabLst>
            </a:pPr>
            <a:r>
              <a:rPr dirty="0" sz="2400">
                <a:latin typeface="Times New Roman"/>
                <a:cs typeface="Times New Roman"/>
              </a:rPr>
              <a:t>Internal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linkage</a:t>
            </a:r>
            <a:endParaRPr sz="24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145"/>
              </a:spcBef>
              <a:buAutoNum type="alphaLcParenR"/>
              <a:tabLst>
                <a:tab pos="527685" algn="l"/>
                <a:tab pos="528320" algn="l"/>
              </a:tabLst>
            </a:pPr>
            <a:r>
              <a:rPr dirty="0" sz="2400" spc="-5">
                <a:latin typeface="Times New Roman"/>
                <a:cs typeface="Times New Roman"/>
              </a:rPr>
              <a:t>No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linkage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492" y="288162"/>
            <a:ext cx="533463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65"/>
              <a:t>Types</a:t>
            </a:r>
            <a:r>
              <a:rPr dirty="0" spc="5"/>
              <a:t> </a:t>
            </a:r>
            <a:r>
              <a:rPr dirty="0" spc="-5"/>
              <a:t>of</a:t>
            </a:r>
            <a:r>
              <a:rPr dirty="0" spc="-10"/>
              <a:t> </a:t>
            </a:r>
            <a:r>
              <a:rPr dirty="0" spc="-5"/>
              <a:t>Storage</a:t>
            </a:r>
            <a:r>
              <a:rPr dirty="0" spc="-10"/>
              <a:t> </a:t>
            </a:r>
            <a:r>
              <a:rPr dirty="0" spc="-5"/>
              <a:t>Classes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039" y="1944623"/>
            <a:ext cx="9963912" cy="30784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146535" y="6464909"/>
            <a:ext cx="15367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146535" y="6464909"/>
            <a:ext cx="15367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489458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1.</a:t>
            </a:r>
            <a:r>
              <a:rPr dirty="0" spc="-235"/>
              <a:t> </a:t>
            </a:r>
            <a:r>
              <a:rPr dirty="0" spc="-5"/>
              <a:t>Automatic</a:t>
            </a:r>
            <a:r>
              <a:rPr dirty="0" spc="10"/>
              <a:t> </a:t>
            </a:r>
            <a:r>
              <a:rPr dirty="0" spc="-5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805" y="1095883"/>
            <a:ext cx="11274425" cy="492569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 marR="137795">
              <a:lnSpc>
                <a:spcPts val="3020"/>
              </a:lnSpc>
              <a:spcBef>
                <a:spcPts val="480"/>
              </a:spcBef>
            </a:pPr>
            <a:r>
              <a:rPr dirty="0" sz="2800" spc="-5">
                <a:latin typeface="Times New Roman"/>
                <a:cs typeface="Times New Roman"/>
              </a:rPr>
              <a:t>Each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time</a:t>
            </a:r>
            <a:r>
              <a:rPr dirty="0" sz="2800">
                <a:latin typeface="Times New Roman"/>
                <a:cs typeface="Times New Roman"/>
              </a:rPr>
              <a:t> the</a:t>
            </a:r>
            <a:r>
              <a:rPr dirty="0" sz="2800" spc="-5">
                <a:latin typeface="Times New Roman"/>
                <a:cs typeface="Times New Roman"/>
              </a:rPr>
              <a:t> execution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enters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block where</a:t>
            </a:r>
            <a:r>
              <a:rPr dirty="0" sz="2800" spc="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auto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variable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is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declared,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new instance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of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the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variable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is </a:t>
            </a:r>
            <a:r>
              <a:rPr dirty="0" sz="2800" spc="-10">
                <a:latin typeface="Times New Roman"/>
                <a:cs typeface="Times New Roman"/>
              </a:rPr>
              <a:t>created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in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35">
                <a:latin typeface="Times New Roman"/>
                <a:cs typeface="Times New Roman"/>
              </a:rPr>
              <a:t>memory.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2800" spc="-5">
                <a:latin typeface="Times New Roman"/>
                <a:cs typeface="Times New Roman"/>
              </a:rPr>
              <a:t>The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value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of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the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auto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variable is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discarded when</a:t>
            </a:r>
            <a:r>
              <a:rPr dirty="0" sz="2800" spc="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 </a:t>
            </a:r>
            <a:r>
              <a:rPr dirty="0" sz="2800" spc="-5">
                <a:latin typeface="Times New Roman"/>
                <a:cs typeface="Times New Roman"/>
              </a:rPr>
              <a:t>execution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leaves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the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block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0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dirty="0" sz="2800" spc="-5">
                <a:latin typeface="Times New Roman"/>
                <a:cs typeface="Times New Roman"/>
              </a:rPr>
              <a:t>Auto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variables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have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temporary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sto</a:t>
            </a:r>
            <a:r>
              <a:rPr dirty="0" sz="2800">
                <a:latin typeface="Times New Roman"/>
                <a:cs typeface="Times New Roman"/>
              </a:rPr>
              <a:t>rage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and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their scope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is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block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scope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5">
                <a:latin typeface="Times New Roman"/>
                <a:cs typeface="Times New Roman"/>
              </a:rPr>
              <a:t>The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auto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variables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has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no</a:t>
            </a:r>
            <a:r>
              <a:rPr dirty="0" sz="2800" spc="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linkage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800" spc="-5" b="1">
                <a:latin typeface="Times New Roman"/>
                <a:cs typeface="Times New Roman"/>
              </a:rPr>
              <a:t>Example:</a:t>
            </a:r>
            <a:endParaRPr sz="28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dirty="0" sz="2800" spc="-5">
                <a:latin typeface="Times New Roman"/>
                <a:cs typeface="Times New Roman"/>
              </a:rPr>
              <a:t>auto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int </a:t>
            </a:r>
            <a:r>
              <a:rPr dirty="0" sz="2800" spc="-5">
                <a:latin typeface="Times New Roman"/>
                <a:cs typeface="Times New Roman"/>
              </a:rPr>
              <a:t>a,b,c=0; </a:t>
            </a:r>
            <a:r>
              <a:rPr dirty="0" sz="2800" b="1">
                <a:latin typeface="Times New Roman"/>
                <a:cs typeface="Times New Roman"/>
              </a:rPr>
              <a:t>or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int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a,b,c=0;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or</a:t>
            </a:r>
            <a:r>
              <a:rPr dirty="0" sz="2800" spc="-15" b="1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auto a,b,c=0;</a:t>
            </a:r>
            <a:endParaRPr sz="28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dirty="0" sz="2800" spc="-5">
                <a:latin typeface="Times New Roman"/>
                <a:cs typeface="Times New Roman"/>
              </a:rPr>
              <a:t>auto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float</a:t>
            </a:r>
            <a:r>
              <a:rPr dirty="0" sz="2800" spc="-5">
                <a:latin typeface="Times New Roman"/>
                <a:cs typeface="Times New Roman"/>
              </a:rPr>
              <a:t> x=1.0, y;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or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float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x=1.0,y;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489458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1.</a:t>
            </a:r>
            <a:r>
              <a:rPr dirty="0" spc="-235"/>
              <a:t> </a:t>
            </a:r>
            <a:r>
              <a:rPr dirty="0" spc="-5"/>
              <a:t>Automatic</a:t>
            </a:r>
            <a:r>
              <a:rPr dirty="0" spc="10"/>
              <a:t> </a:t>
            </a:r>
            <a:r>
              <a:rPr dirty="0" spc="-5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805" y="1053211"/>
            <a:ext cx="25952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Sample</a:t>
            </a:r>
            <a:r>
              <a:rPr dirty="0" sz="2800" spc="-6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Program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8805" y="1949053"/>
            <a:ext cx="4813935" cy="4709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122170">
              <a:lnSpc>
                <a:spcPct val="109600"/>
              </a:lnSpc>
              <a:spcBef>
                <a:spcPts val="100"/>
              </a:spcBef>
            </a:pPr>
            <a:r>
              <a:rPr dirty="0" sz="2800" spc="-5">
                <a:latin typeface="Times New Roman"/>
                <a:cs typeface="Times New Roman"/>
              </a:rPr>
              <a:t>#include</a:t>
            </a:r>
            <a:r>
              <a:rPr dirty="0" sz="2800" spc="-9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&lt;stdio.h&gt;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void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main()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2800" spc="-5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325"/>
              </a:spcBef>
            </a:pPr>
            <a:r>
              <a:rPr dirty="0" sz="2800" spc="-5" b="1">
                <a:latin typeface="Times New Roman"/>
                <a:cs typeface="Times New Roman"/>
              </a:rPr>
              <a:t>auto float</a:t>
            </a:r>
            <a:r>
              <a:rPr dirty="0" sz="2800" spc="-1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f1</a:t>
            </a:r>
            <a:r>
              <a:rPr dirty="0" sz="2800" spc="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=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20.4;</a:t>
            </a:r>
            <a:endParaRPr sz="2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325"/>
              </a:spcBef>
            </a:pPr>
            <a:r>
              <a:rPr dirty="0" sz="2800" spc="-5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340"/>
              </a:spcBef>
            </a:pPr>
            <a:r>
              <a:rPr dirty="0" sz="2800" spc="-5" b="1">
                <a:latin typeface="Times New Roman"/>
                <a:cs typeface="Times New Roman"/>
              </a:rPr>
              <a:t>auto float</a:t>
            </a:r>
            <a:r>
              <a:rPr dirty="0" sz="2800" spc="-1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f1</a:t>
            </a:r>
            <a:r>
              <a:rPr dirty="0" sz="280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=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10.2;</a:t>
            </a:r>
            <a:endParaRPr sz="28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320"/>
              </a:spcBef>
            </a:pPr>
            <a:r>
              <a:rPr dirty="0" sz="2800" spc="-5">
                <a:latin typeface="Times New Roman"/>
                <a:cs typeface="Times New Roman"/>
              </a:rPr>
              <a:t>printf("%f",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f1);</a:t>
            </a:r>
            <a:endParaRPr sz="2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325"/>
              </a:spcBef>
            </a:pPr>
            <a:r>
              <a:rPr dirty="0" sz="2800" spc="-5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340"/>
              </a:spcBef>
            </a:pPr>
            <a:r>
              <a:rPr dirty="0" sz="2800">
                <a:latin typeface="Times New Roman"/>
                <a:cs typeface="Times New Roman"/>
              </a:rPr>
              <a:t>printf("\n%f",f1);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2800" spc="-5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71935" y="6426809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489458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1.</a:t>
            </a:r>
            <a:r>
              <a:rPr dirty="0" spc="-235"/>
              <a:t> </a:t>
            </a:r>
            <a:r>
              <a:rPr dirty="0" spc="-5"/>
              <a:t>Automatic</a:t>
            </a:r>
            <a:r>
              <a:rPr dirty="0" spc="10"/>
              <a:t> </a:t>
            </a:r>
            <a:r>
              <a:rPr dirty="0" spc="-5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805" y="892301"/>
            <a:ext cx="4650740" cy="567944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2030095">
              <a:lnSpc>
                <a:spcPct val="101899"/>
              </a:lnSpc>
              <a:spcBef>
                <a:spcPts val="45"/>
              </a:spcBef>
            </a:pPr>
            <a:r>
              <a:rPr dirty="0" sz="2600" b="1">
                <a:latin typeface="Times New Roman"/>
                <a:cs typeface="Times New Roman"/>
              </a:rPr>
              <a:t>#include</a:t>
            </a:r>
            <a:r>
              <a:rPr dirty="0" sz="2600" spc="-9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&lt;stdio.h&gt; </a:t>
            </a:r>
            <a:r>
              <a:rPr dirty="0" sz="2600" spc="-63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void</a:t>
            </a:r>
            <a:r>
              <a:rPr dirty="0" sz="2600" spc="-2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main()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2600" b="1"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70"/>
              </a:spcBef>
            </a:pPr>
            <a:r>
              <a:rPr dirty="0" sz="2600" b="1">
                <a:latin typeface="Times New Roman"/>
                <a:cs typeface="Times New Roman"/>
              </a:rPr>
              <a:t>auto</a:t>
            </a:r>
            <a:r>
              <a:rPr dirty="0" sz="2600" spc="-2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float</a:t>
            </a:r>
            <a:r>
              <a:rPr dirty="0" sz="2600" spc="-3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f1</a:t>
            </a:r>
            <a:r>
              <a:rPr dirty="0" sz="2600" spc="-2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=</a:t>
            </a:r>
            <a:r>
              <a:rPr dirty="0" sz="2600" spc="-1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20.4;</a:t>
            </a:r>
            <a:endParaRPr sz="26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60"/>
              </a:spcBef>
            </a:pPr>
            <a:r>
              <a:rPr dirty="0" sz="2600" b="1"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60"/>
              </a:spcBef>
            </a:pPr>
            <a:r>
              <a:rPr dirty="0" sz="2600" b="1">
                <a:latin typeface="Times New Roman"/>
                <a:cs typeface="Times New Roman"/>
              </a:rPr>
              <a:t>f1</a:t>
            </a:r>
            <a:r>
              <a:rPr dirty="0" sz="2600" spc="-5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=</a:t>
            </a:r>
            <a:r>
              <a:rPr dirty="0" sz="2600" spc="-4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10.8;</a:t>
            </a:r>
            <a:endParaRPr sz="2600">
              <a:latin typeface="Times New Roman"/>
              <a:cs typeface="Times New Roman"/>
            </a:endParaRPr>
          </a:p>
          <a:p>
            <a:pPr marL="1829435">
              <a:lnSpc>
                <a:spcPct val="100000"/>
              </a:lnSpc>
              <a:spcBef>
                <a:spcPts val="75"/>
              </a:spcBef>
            </a:pPr>
            <a:r>
              <a:rPr dirty="0" sz="2600" b="1"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1993900">
              <a:lnSpc>
                <a:spcPct val="100000"/>
              </a:lnSpc>
              <a:spcBef>
                <a:spcPts val="60"/>
              </a:spcBef>
            </a:pPr>
            <a:r>
              <a:rPr dirty="0" sz="2600" b="1">
                <a:latin typeface="Times New Roman"/>
                <a:cs typeface="Times New Roman"/>
              </a:rPr>
              <a:t>f1</a:t>
            </a:r>
            <a:r>
              <a:rPr dirty="0" sz="2600" spc="-5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=</a:t>
            </a:r>
            <a:r>
              <a:rPr dirty="0" sz="2600" spc="-4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5.3;</a:t>
            </a:r>
            <a:endParaRPr sz="2600">
              <a:latin typeface="Times New Roman"/>
              <a:cs typeface="Times New Roman"/>
            </a:endParaRPr>
          </a:p>
          <a:p>
            <a:pPr marL="2005964">
              <a:lnSpc>
                <a:spcPct val="100000"/>
              </a:lnSpc>
              <a:spcBef>
                <a:spcPts val="60"/>
              </a:spcBef>
            </a:pPr>
            <a:r>
              <a:rPr dirty="0" sz="2600" spc="-5" b="1">
                <a:latin typeface="Times New Roman"/>
                <a:cs typeface="Times New Roman"/>
              </a:rPr>
              <a:t>printf(“%.2f",</a:t>
            </a:r>
            <a:r>
              <a:rPr dirty="0" sz="2600" spc="-6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f1);</a:t>
            </a:r>
            <a:endParaRPr sz="26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75"/>
              </a:spcBef>
            </a:pPr>
            <a:r>
              <a:rPr dirty="0" sz="2600" b="1"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60"/>
              </a:spcBef>
            </a:pPr>
            <a:r>
              <a:rPr dirty="0" sz="2600" spc="-5" b="1">
                <a:latin typeface="Times New Roman"/>
                <a:cs typeface="Times New Roman"/>
              </a:rPr>
              <a:t>printf("\n%.2f",f1);</a:t>
            </a:r>
            <a:endParaRPr sz="2600">
              <a:latin typeface="Times New Roman"/>
              <a:cs typeface="Times New Roman"/>
            </a:endParaRPr>
          </a:p>
          <a:p>
            <a:pPr marL="508000">
              <a:lnSpc>
                <a:spcPct val="100000"/>
              </a:lnSpc>
              <a:spcBef>
                <a:spcPts val="60"/>
              </a:spcBef>
            </a:pPr>
            <a:r>
              <a:rPr dirty="0" sz="2600" b="1"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  <a:p>
            <a:pPr marL="1167765">
              <a:lnSpc>
                <a:spcPct val="100000"/>
              </a:lnSpc>
              <a:spcBef>
                <a:spcPts val="75"/>
              </a:spcBef>
            </a:pPr>
            <a:r>
              <a:rPr dirty="0" sz="2600" spc="-5" b="1">
                <a:latin typeface="Times New Roman"/>
                <a:cs typeface="Times New Roman"/>
              </a:rPr>
              <a:t>printf("\n%.2f",f1);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2600" b="1"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14135" y="1701546"/>
            <a:ext cx="46431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What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 is</a:t>
            </a: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output</a:t>
            </a:r>
            <a:r>
              <a:rPr dirty="0" sz="2400" spc="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of the</a:t>
            </a:r>
            <a:r>
              <a:rPr dirty="0" sz="2400" spc="-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program?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489458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1.</a:t>
            </a:r>
            <a:r>
              <a:rPr dirty="0" spc="-235"/>
              <a:t> </a:t>
            </a:r>
            <a:r>
              <a:rPr dirty="0" spc="-5"/>
              <a:t>Automatic</a:t>
            </a:r>
            <a:r>
              <a:rPr dirty="0" spc="10"/>
              <a:t> </a:t>
            </a:r>
            <a:r>
              <a:rPr dirty="0" spc="-5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805" y="1095883"/>
            <a:ext cx="8780780" cy="30079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Advantages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05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buAutoNum type="alphaLcPeriod"/>
              <a:tabLst>
                <a:tab pos="527685" algn="l"/>
                <a:tab pos="528320" algn="l"/>
              </a:tabLst>
            </a:pPr>
            <a:r>
              <a:rPr dirty="0" sz="2800" spc="-5">
                <a:latin typeface="Times New Roman"/>
                <a:cs typeface="Times New Roman"/>
              </a:rPr>
              <a:t>The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same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variable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name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can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be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used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in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different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blocks.</a:t>
            </a:r>
            <a:endParaRPr sz="28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660"/>
              </a:spcBef>
              <a:buAutoNum type="alphaLcPeriod"/>
              <a:tabLst>
                <a:tab pos="527685" algn="l"/>
                <a:tab pos="528320" algn="l"/>
              </a:tabLst>
            </a:pPr>
            <a:r>
              <a:rPr dirty="0" sz="2800" spc="-5">
                <a:latin typeface="Times New Roman"/>
                <a:cs typeface="Times New Roman"/>
              </a:rPr>
              <a:t>There is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no </a:t>
            </a:r>
            <a:r>
              <a:rPr dirty="0" sz="2800">
                <a:latin typeface="Times New Roman"/>
                <a:cs typeface="Times New Roman"/>
              </a:rPr>
              <a:t>side</a:t>
            </a:r>
            <a:r>
              <a:rPr dirty="0" sz="2800" spc="-10">
                <a:latin typeface="Times New Roman"/>
                <a:cs typeface="Times New Roman"/>
              </a:rPr>
              <a:t> effect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by changing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values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in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 block</a:t>
            </a:r>
            <a:endParaRPr sz="28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675"/>
              </a:spcBef>
              <a:buAutoNum type="alphaLcPeriod"/>
              <a:tabLst>
                <a:tab pos="527685" algn="l"/>
                <a:tab pos="528320" algn="l"/>
              </a:tabLst>
            </a:pPr>
            <a:r>
              <a:rPr dirty="0" sz="2800" spc="-5">
                <a:latin typeface="Times New Roman"/>
                <a:cs typeface="Times New Roman"/>
              </a:rPr>
              <a:t>The</a:t>
            </a:r>
            <a:r>
              <a:rPr dirty="0" sz="2800" spc="-10">
                <a:latin typeface="Times New Roman"/>
                <a:cs typeface="Times New Roman"/>
              </a:rPr>
              <a:t> memory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is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economically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used</a:t>
            </a:r>
            <a:endParaRPr sz="28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660"/>
              </a:spcBef>
              <a:buAutoNum type="alphaLcPeriod"/>
              <a:tabLst>
                <a:tab pos="527685" algn="l"/>
                <a:tab pos="528320" algn="l"/>
              </a:tabLst>
            </a:pPr>
            <a:r>
              <a:rPr dirty="0" sz="2800" spc="-5">
                <a:latin typeface="Times New Roman"/>
                <a:cs typeface="Times New Roman"/>
              </a:rPr>
              <a:t>Inherent protection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to </a:t>
            </a:r>
            <a:r>
              <a:rPr dirty="0" sz="2800">
                <a:latin typeface="Times New Roman"/>
                <a:cs typeface="Times New Roman"/>
              </a:rPr>
              <a:t>the </a:t>
            </a:r>
            <a:r>
              <a:rPr dirty="0" sz="2800" spc="-5">
                <a:latin typeface="Times New Roman"/>
                <a:cs typeface="Times New Roman"/>
              </a:rPr>
              <a:t>variables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because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of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local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scope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443166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2.</a:t>
            </a:r>
            <a:r>
              <a:rPr dirty="0" spc="-15"/>
              <a:t> </a:t>
            </a:r>
            <a:r>
              <a:rPr dirty="0" spc="-5"/>
              <a:t>Register</a:t>
            </a:r>
            <a:r>
              <a:rPr dirty="0" spc="-80"/>
              <a:t> </a:t>
            </a:r>
            <a:r>
              <a:rPr dirty="0" spc="-5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805" y="1095883"/>
            <a:ext cx="11320145" cy="4541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5">
                <a:latin typeface="Times New Roman"/>
                <a:cs typeface="Times New Roman"/>
              </a:rPr>
              <a:t>Similar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to auto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but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5">
                <a:latin typeface="Times New Roman"/>
                <a:cs typeface="Times New Roman"/>
              </a:rPr>
              <a:t> data will </a:t>
            </a:r>
            <a:r>
              <a:rPr dirty="0" sz="2800">
                <a:latin typeface="Times New Roman"/>
                <a:cs typeface="Times New Roman"/>
              </a:rPr>
              <a:t>be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stored</a:t>
            </a:r>
            <a:r>
              <a:rPr dirty="0" sz="2800" spc="-5">
                <a:latin typeface="Times New Roman"/>
                <a:cs typeface="Times New Roman"/>
              </a:rPr>
              <a:t> in CPU</a:t>
            </a:r>
            <a:r>
              <a:rPr dirty="0" sz="2800" spc="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registers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instead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memory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40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dirty="0" sz="2800" spc="-5">
                <a:latin typeface="Times New Roman"/>
                <a:cs typeface="Times New Roman"/>
              </a:rPr>
              <a:t>The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scope,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lifetime and</a:t>
            </a:r>
            <a:r>
              <a:rPr dirty="0" sz="2800" spc="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linkage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register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variable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is </a:t>
            </a:r>
            <a:r>
              <a:rPr dirty="0" sz="2800" spc="-10">
                <a:latin typeface="Times New Roman"/>
                <a:cs typeface="Times New Roman"/>
              </a:rPr>
              <a:t>same</a:t>
            </a:r>
            <a:r>
              <a:rPr dirty="0" sz="2800" spc="2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as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auto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variable.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40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dirty="0" sz="2800" spc="-5">
                <a:latin typeface="Times New Roman"/>
                <a:cs typeface="Times New Roman"/>
              </a:rPr>
              <a:t>Heavily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used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variable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can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be </a:t>
            </a:r>
            <a:r>
              <a:rPr dirty="0" sz="2800" spc="-5">
                <a:latin typeface="Times New Roman"/>
                <a:cs typeface="Times New Roman"/>
              </a:rPr>
              <a:t>declared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as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register variables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 MT"/>
              <a:buChar char="•"/>
            </a:pPr>
            <a:endParaRPr sz="40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dirty="0" sz="2800" spc="-5">
                <a:latin typeface="Times New Roman"/>
                <a:cs typeface="Times New Roman"/>
              </a:rPr>
              <a:t>Only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few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values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can</a:t>
            </a:r>
            <a:r>
              <a:rPr dirty="0" sz="2800">
                <a:latin typeface="Times New Roman"/>
                <a:cs typeface="Times New Roman"/>
              </a:rPr>
              <a:t> be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stored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in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register.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800" spc="-5">
                <a:latin typeface="Times New Roman"/>
                <a:cs typeface="Times New Roman"/>
              </a:rPr>
              <a:t>Example: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register</a:t>
            </a:r>
            <a:r>
              <a:rPr dirty="0" sz="2800" spc="-8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int</a:t>
            </a:r>
            <a:r>
              <a:rPr dirty="0" sz="2800" spc="1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a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= </a:t>
            </a:r>
            <a:r>
              <a:rPr dirty="0" sz="2800" b="1">
                <a:latin typeface="Times New Roman"/>
                <a:cs typeface="Times New Roman"/>
              </a:rPr>
              <a:t>5;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443166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2.</a:t>
            </a:r>
            <a:r>
              <a:rPr dirty="0" spc="-15"/>
              <a:t> </a:t>
            </a:r>
            <a:r>
              <a:rPr dirty="0" spc="-5"/>
              <a:t>Register</a:t>
            </a:r>
            <a:r>
              <a:rPr dirty="0" spc="-80"/>
              <a:t> </a:t>
            </a:r>
            <a:r>
              <a:rPr dirty="0" spc="-5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805" y="1095883"/>
            <a:ext cx="8086725" cy="44615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Example</a:t>
            </a:r>
            <a:r>
              <a:rPr dirty="0" sz="2800" spc="-2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Program: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050">
              <a:latin typeface="Times New Roman"/>
              <a:cs typeface="Times New Roman"/>
            </a:endParaRPr>
          </a:p>
          <a:p>
            <a:pPr marL="2924810" marR="1957070">
              <a:lnSpc>
                <a:spcPct val="100000"/>
              </a:lnSpc>
            </a:pPr>
            <a:r>
              <a:rPr dirty="0" sz="3200" b="1">
                <a:latin typeface="Times New Roman"/>
                <a:cs typeface="Times New Roman"/>
              </a:rPr>
              <a:t>#include</a:t>
            </a:r>
            <a:r>
              <a:rPr dirty="0" sz="3200" spc="-10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&lt;stdio.h&gt; </a:t>
            </a:r>
            <a:r>
              <a:rPr dirty="0" sz="3200" spc="-785" b="1">
                <a:latin typeface="Times New Roman"/>
                <a:cs typeface="Times New Roman"/>
              </a:rPr>
              <a:t> </a:t>
            </a:r>
            <a:r>
              <a:rPr dirty="0" sz="3200" spc="-75" b="1">
                <a:latin typeface="Times New Roman"/>
                <a:cs typeface="Times New Roman"/>
              </a:rPr>
              <a:t>Void</a:t>
            </a:r>
            <a:r>
              <a:rPr dirty="0" sz="3200" spc="-3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main()</a:t>
            </a:r>
            <a:endParaRPr sz="3200">
              <a:latin typeface="Times New Roman"/>
              <a:cs typeface="Times New Roman"/>
            </a:endParaRPr>
          </a:p>
          <a:p>
            <a:pPr marL="2924810">
              <a:lnSpc>
                <a:spcPct val="100000"/>
              </a:lnSpc>
            </a:pPr>
            <a:r>
              <a:rPr dirty="0" sz="3200" b="1">
                <a:latin typeface="Times New Roman"/>
                <a:cs typeface="Times New Roman"/>
              </a:rPr>
              <a:t>{</a:t>
            </a:r>
            <a:endParaRPr sz="3200">
              <a:latin typeface="Times New Roman"/>
              <a:cs typeface="Times New Roman"/>
            </a:endParaRPr>
          </a:p>
          <a:p>
            <a:pPr marL="3331845">
              <a:lnSpc>
                <a:spcPct val="100000"/>
              </a:lnSpc>
              <a:spcBef>
                <a:spcPts val="5"/>
              </a:spcBef>
            </a:pPr>
            <a:r>
              <a:rPr dirty="0" sz="3200" spc="-5" b="1">
                <a:latin typeface="Times New Roman"/>
                <a:cs typeface="Times New Roman"/>
              </a:rPr>
              <a:t>register</a:t>
            </a:r>
            <a:r>
              <a:rPr dirty="0" sz="3200" spc="-9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int</a:t>
            </a:r>
            <a:r>
              <a:rPr dirty="0" sz="3200" spc="-45" b="1">
                <a:latin typeface="Times New Roman"/>
                <a:cs typeface="Times New Roman"/>
              </a:rPr>
              <a:t> </a:t>
            </a:r>
            <a:r>
              <a:rPr dirty="0" sz="3200" spc="-5" b="1">
                <a:latin typeface="Times New Roman"/>
                <a:cs typeface="Times New Roman"/>
              </a:rPr>
              <a:t>i;</a:t>
            </a:r>
            <a:endParaRPr sz="3200">
              <a:latin typeface="Times New Roman"/>
              <a:cs typeface="Times New Roman"/>
            </a:endParaRPr>
          </a:p>
          <a:p>
            <a:pPr marL="3331845" marR="5080">
              <a:lnSpc>
                <a:spcPct val="100000"/>
              </a:lnSpc>
            </a:pPr>
            <a:r>
              <a:rPr dirty="0" sz="3200" b="1">
                <a:latin typeface="Times New Roman"/>
                <a:cs typeface="Times New Roman"/>
              </a:rPr>
              <a:t>for(int i=0;i&lt;1000;i++) </a:t>
            </a:r>
            <a:r>
              <a:rPr dirty="0" sz="3200" spc="5" b="1">
                <a:latin typeface="Times New Roman"/>
                <a:cs typeface="Times New Roman"/>
              </a:rPr>
              <a:t> </a:t>
            </a:r>
            <a:r>
              <a:rPr dirty="0" sz="3200" spc="-25" b="1">
                <a:latin typeface="Times New Roman"/>
                <a:cs typeface="Times New Roman"/>
              </a:rPr>
              <a:t>printf(“Value</a:t>
            </a:r>
            <a:r>
              <a:rPr dirty="0" sz="3200" spc="-6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of</a:t>
            </a:r>
            <a:r>
              <a:rPr dirty="0" sz="3200" spc="-1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i</a:t>
            </a:r>
            <a:r>
              <a:rPr dirty="0" sz="3200" spc="-3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=%d”,</a:t>
            </a:r>
            <a:r>
              <a:rPr dirty="0" sz="3200" spc="-1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i);</a:t>
            </a:r>
            <a:endParaRPr sz="3200">
              <a:latin typeface="Times New Roman"/>
              <a:cs typeface="Times New Roman"/>
            </a:endParaRPr>
          </a:p>
          <a:p>
            <a:pPr marL="2924810">
              <a:lnSpc>
                <a:spcPct val="100000"/>
              </a:lnSpc>
            </a:pPr>
            <a:r>
              <a:rPr dirty="0" sz="3200" b="1"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51257"/>
            <a:ext cx="10378440" cy="5594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/>
              <a:t>2.</a:t>
            </a:r>
            <a:r>
              <a:rPr dirty="0" sz="3500" spc="-5"/>
              <a:t> </a:t>
            </a:r>
            <a:r>
              <a:rPr dirty="0" sz="3500"/>
              <a:t>Register</a:t>
            </a:r>
            <a:r>
              <a:rPr dirty="0" sz="3500" spc="-110"/>
              <a:t> </a:t>
            </a:r>
            <a:r>
              <a:rPr dirty="0" sz="3500"/>
              <a:t>variables</a:t>
            </a:r>
            <a:r>
              <a:rPr dirty="0" sz="3500" spc="-15"/>
              <a:t> </a:t>
            </a:r>
            <a:r>
              <a:rPr dirty="0" sz="3500"/>
              <a:t>-</a:t>
            </a:r>
            <a:r>
              <a:rPr dirty="0" sz="3500" spc="-10"/>
              <a:t> </a:t>
            </a:r>
            <a:r>
              <a:rPr dirty="0" sz="3500">
                <a:solidFill>
                  <a:srgbClr val="000000"/>
                </a:solidFill>
              </a:rPr>
              <a:t>Understanding</a:t>
            </a:r>
            <a:r>
              <a:rPr dirty="0" sz="3500" spc="-15">
                <a:solidFill>
                  <a:srgbClr val="000000"/>
                </a:solidFill>
              </a:rPr>
              <a:t> </a:t>
            </a:r>
            <a:r>
              <a:rPr dirty="0" sz="3500">
                <a:solidFill>
                  <a:srgbClr val="000000"/>
                </a:solidFill>
              </a:rPr>
              <a:t>the</a:t>
            </a:r>
            <a:r>
              <a:rPr dirty="0" sz="3500" spc="-5">
                <a:solidFill>
                  <a:srgbClr val="000000"/>
                </a:solidFill>
              </a:rPr>
              <a:t> </a:t>
            </a:r>
            <a:r>
              <a:rPr dirty="0" sz="3500">
                <a:solidFill>
                  <a:srgbClr val="000000"/>
                </a:solidFill>
              </a:rPr>
              <a:t>Performance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1407413" y="1021207"/>
            <a:ext cx="9327515" cy="5147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909434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#include</a:t>
            </a:r>
            <a:r>
              <a:rPr dirty="0" sz="2400" spc="-7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&lt;stdio.h&gt; </a:t>
            </a:r>
            <a:r>
              <a:rPr dirty="0" sz="2400" spc="-58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#include&lt;time.h&gt; </a:t>
            </a:r>
            <a:r>
              <a:rPr dirty="0" sz="2400" spc="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void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main()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17500" marR="7321550">
              <a:lnSpc>
                <a:spcPct val="100000"/>
              </a:lnSpc>
            </a:pPr>
            <a:r>
              <a:rPr dirty="0" sz="2400" spc="-10" b="1">
                <a:latin typeface="Times New Roman"/>
                <a:cs typeface="Times New Roman"/>
              </a:rPr>
              <a:t>register</a:t>
            </a:r>
            <a:r>
              <a:rPr dirty="0" sz="2400" spc="-9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int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i; </a:t>
            </a:r>
            <a:r>
              <a:rPr dirty="0" sz="2400" spc="-58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clock_t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t;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dirty="0" sz="2400" b="1">
                <a:latin typeface="Times New Roman"/>
                <a:cs typeface="Times New Roman"/>
              </a:rPr>
              <a:t>t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=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clock();</a:t>
            </a:r>
            <a:endParaRPr sz="2400">
              <a:latin typeface="Times New Roman"/>
              <a:cs typeface="Times New Roman"/>
            </a:endParaRPr>
          </a:p>
          <a:p>
            <a:pPr marL="317500" marR="5078730">
              <a:lnSpc>
                <a:spcPct val="100000"/>
              </a:lnSpc>
              <a:spcBef>
                <a:spcPts val="5"/>
              </a:spcBef>
            </a:pPr>
            <a:r>
              <a:rPr dirty="0" sz="2400" b="1">
                <a:latin typeface="Times New Roman"/>
                <a:cs typeface="Times New Roman"/>
              </a:rPr>
              <a:t>for(int </a:t>
            </a:r>
            <a:r>
              <a:rPr dirty="0" sz="2400" spc="-5" b="1">
                <a:latin typeface="Times New Roman"/>
                <a:cs typeface="Times New Roman"/>
              </a:rPr>
              <a:t>i=0;i&lt;10000;i++) </a:t>
            </a:r>
            <a:r>
              <a:rPr dirty="0" sz="2400" b="1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Times New Roman"/>
                <a:cs typeface="Times New Roman"/>
              </a:rPr>
              <a:t>printf("Value </a:t>
            </a:r>
            <a:r>
              <a:rPr dirty="0" sz="2400" spc="-5" b="1">
                <a:latin typeface="Times New Roman"/>
                <a:cs typeface="Times New Roman"/>
              </a:rPr>
              <a:t>of i </a:t>
            </a:r>
            <a:r>
              <a:rPr dirty="0" sz="2400" spc="-10" b="1">
                <a:latin typeface="Times New Roman"/>
                <a:cs typeface="Times New Roman"/>
              </a:rPr>
              <a:t>=%d</a:t>
            </a:r>
            <a:r>
              <a:rPr dirty="0" sz="2400" spc="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\n",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i); </a:t>
            </a:r>
            <a:r>
              <a:rPr dirty="0" sz="2400" spc="-58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=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clock()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-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t;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tabLst>
                <a:tab pos="7656195" algn="l"/>
              </a:tabLst>
            </a:pPr>
            <a:r>
              <a:rPr dirty="0" sz="2400" spc="-5" b="1">
                <a:latin typeface="Times New Roman"/>
                <a:cs typeface="Times New Roman"/>
              </a:rPr>
              <a:t>double</a:t>
            </a:r>
            <a:r>
              <a:rPr dirty="0" sz="2400" spc="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time_taken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=</a:t>
            </a:r>
            <a:r>
              <a:rPr dirty="0" sz="2400" spc="3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((double)t)/CLOCKS_PER_SEC;	</a:t>
            </a:r>
            <a:r>
              <a:rPr dirty="0" sz="2400" b="1" i="1">
                <a:latin typeface="Times New Roman"/>
                <a:cs typeface="Times New Roman"/>
              </a:rPr>
              <a:t>//</a:t>
            </a:r>
            <a:r>
              <a:rPr dirty="0" sz="2400" spc="-40" b="1" i="1">
                <a:latin typeface="Times New Roman"/>
                <a:cs typeface="Times New Roman"/>
              </a:rPr>
              <a:t> </a:t>
            </a:r>
            <a:r>
              <a:rPr dirty="0" sz="2400" spc="-5" b="1" i="1">
                <a:latin typeface="Times New Roman"/>
                <a:cs typeface="Times New Roman"/>
              </a:rPr>
              <a:t>in</a:t>
            </a:r>
            <a:r>
              <a:rPr dirty="0" sz="2400" spc="-25" b="1" i="1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seconds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dirty="0" sz="2400" b="1">
                <a:latin typeface="Times New Roman"/>
                <a:cs typeface="Times New Roman"/>
              </a:rPr>
              <a:t>printf(“Implementation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took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spc="-15" b="1">
                <a:latin typeface="Times New Roman"/>
                <a:cs typeface="Times New Roman"/>
              </a:rPr>
              <a:t>%f</a:t>
            </a:r>
            <a:r>
              <a:rPr dirty="0" sz="2400" spc="2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seconds </a:t>
            </a:r>
            <a:r>
              <a:rPr dirty="0" sz="2400" b="1">
                <a:latin typeface="Times New Roman"/>
                <a:cs typeface="Times New Roman"/>
              </a:rPr>
              <a:t>to execute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\n",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time_taken);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443166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2.</a:t>
            </a:r>
            <a:r>
              <a:rPr dirty="0" spc="-15"/>
              <a:t> </a:t>
            </a:r>
            <a:r>
              <a:rPr dirty="0" spc="-5"/>
              <a:t>Register</a:t>
            </a:r>
            <a:r>
              <a:rPr dirty="0" spc="-80"/>
              <a:t> </a:t>
            </a:r>
            <a:r>
              <a:rPr dirty="0" spc="-5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805" y="1095883"/>
            <a:ext cx="10498455" cy="19850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Advantages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05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buAutoNum type="alphaLcPeriod"/>
              <a:tabLst>
                <a:tab pos="527685" algn="l"/>
                <a:tab pos="528320" algn="l"/>
              </a:tabLst>
            </a:pPr>
            <a:r>
              <a:rPr dirty="0" sz="2800" spc="-5">
                <a:latin typeface="Times New Roman"/>
                <a:cs typeface="Times New Roman"/>
              </a:rPr>
              <a:t>Data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access </a:t>
            </a:r>
            <a:r>
              <a:rPr dirty="0" sz="2800" spc="-5">
                <a:latin typeface="Times New Roman"/>
                <a:cs typeface="Times New Roman"/>
              </a:rPr>
              <a:t>is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faster</a:t>
            </a:r>
            <a:endParaRPr sz="28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660"/>
              </a:spcBef>
              <a:buAutoNum type="alphaLcPeriod"/>
              <a:tabLst>
                <a:tab pos="527685" algn="l"/>
                <a:tab pos="528320" algn="l"/>
              </a:tabLst>
            </a:pPr>
            <a:r>
              <a:rPr dirty="0" sz="2800" spc="-5">
                <a:latin typeface="Times New Roman"/>
                <a:cs typeface="Times New Roman"/>
              </a:rPr>
              <a:t>Performs</a:t>
            </a:r>
            <a:r>
              <a:rPr dirty="0" sz="2800" spc="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optimization operation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by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placing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data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in</a:t>
            </a:r>
            <a:r>
              <a:rPr dirty="0" sz="2800">
                <a:latin typeface="Times New Roman"/>
                <a:cs typeface="Times New Roman"/>
              </a:rPr>
              <a:t> the</a:t>
            </a:r>
            <a:r>
              <a:rPr dirty="0" sz="2800" spc="-5">
                <a:latin typeface="Times New Roman"/>
                <a:cs typeface="Times New Roman"/>
              </a:rPr>
              <a:t> register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387731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3.</a:t>
            </a:r>
            <a:r>
              <a:rPr dirty="0" spc="-20"/>
              <a:t> </a:t>
            </a:r>
            <a:r>
              <a:rPr dirty="0" spc="-5"/>
              <a:t>Static</a:t>
            </a:r>
            <a:r>
              <a:rPr dirty="0" spc="-15"/>
              <a:t> </a:t>
            </a:r>
            <a:r>
              <a:rPr dirty="0" spc="-5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805" y="1009929"/>
            <a:ext cx="11341735" cy="2967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589405">
              <a:lnSpc>
                <a:spcPct val="120000"/>
              </a:lnSpc>
              <a:spcBef>
                <a:spcPts val="100"/>
              </a:spcBef>
            </a:pPr>
            <a:r>
              <a:rPr dirty="0" sz="2800" spc="-5">
                <a:latin typeface="Times New Roman"/>
                <a:cs typeface="Times New Roman"/>
              </a:rPr>
              <a:t>A variable declared with a keyword static is treated </a:t>
            </a:r>
            <a:r>
              <a:rPr dirty="0" sz="2800" spc="-10">
                <a:latin typeface="Times New Roman"/>
                <a:cs typeface="Times New Roman"/>
              </a:rPr>
              <a:t>as </a:t>
            </a:r>
            <a:r>
              <a:rPr dirty="0" sz="2800" spc="-5">
                <a:latin typeface="Times New Roman"/>
                <a:cs typeface="Times New Roman"/>
              </a:rPr>
              <a:t>static variable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Internal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static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or </a:t>
            </a:r>
            <a:r>
              <a:rPr dirty="0" sz="2800" spc="-5">
                <a:latin typeface="Times New Roman"/>
                <a:cs typeface="Times New Roman"/>
              </a:rPr>
              <a:t>External static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ts val="3030"/>
              </a:lnSpc>
              <a:spcBef>
                <a:spcPts val="1035"/>
              </a:spcBef>
              <a:tabLst>
                <a:tab pos="702945" algn="l"/>
                <a:tab pos="1868805" algn="l"/>
                <a:tab pos="2660015" algn="l"/>
                <a:tab pos="3153410" algn="l"/>
                <a:tab pos="3627754" algn="l"/>
                <a:tab pos="4851400" algn="l"/>
                <a:tab pos="5738495" algn="l"/>
                <a:tab pos="6113780" algn="l"/>
                <a:tab pos="6708140" algn="l"/>
                <a:tab pos="7359015" algn="l"/>
                <a:tab pos="8148320" algn="l"/>
                <a:tab pos="8721725" algn="l"/>
                <a:tab pos="10457180" algn="l"/>
                <a:tab pos="10893425" algn="l"/>
              </a:tabLst>
            </a:pPr>
            <a:r>
              <a:rPr dirty="0" sz="2800" spc="-5">
                <a:latin typeface="Times New Roman"/>
                <a:cs typeface="Times New Roman"/>
              </a:rPr>
              <a:t>The</a:t>
            </a:r>
            <a:r>
              <a:rPr dirty="0" sz="2800" spc="-5">
                <a:latin typeface="Times New Roman"/>
                <a:cs typeface="Times New Roman"/>
              </a:rPr>
              <a:t>	</a:t>
            </a:r>
            <a:r>
              <a:rPr dirty="0" sz="2800" spc="-5">
                <a:latin typeface="Times New Roman"/>
                <a:cs typeface="Times New Roman"/>
              </a:rPr>
              <a:t>st</a:t>
            </a:r>
            <a:r>
              <a:rPr dirty="0" sz="2800" spc="5">
                <a:latin typeface="Times New Roman"/>
                <a:cs typeface="Times New Roman"/>
              </a:rPr>
              <a:t>o</a:t>
            </a:r>
            <a:r>
              <a:rPr dirty="0" sz="2800" spc="-5">
                <a:latin typeface="Times New Roman"/>
                <a:cs typeface="Times New Roman"/>
              </a:rPr>
              <a:t>rage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">
                <a:latin typeface="Times New Roman"/>
                <a:cs typeface="Times New Roman"/>
              </a:rPr>
              <a:t>u</a:t>
            </a:r>
            <a:r>
              <a:rPr dirty="0" sz="2800">
                <a:latin typeface="Times New Roman"/>
                <a:cs typeface="Times New Roman"/>
              </a:rPr>
              <a:t>s</a:t>
            </a:r>
            <a:r>
              <a:rPr dirty="0" sz="2800" spc="-5">
                <a:latin typeface="Times New Roman"/>
                <a:cs typeface="Times New Roman"/>
              </a:rPr>
              <a:t>ed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5">
                <a:latin typeface="Times New Roman"/>
                <a:cs typeface="Times New Roman"/>
              </a:rPr>
              <a:t>b</a:t>
            </a:r>
            <a:r>
              <a:rPr dirty="0" sz="2800" spc="-5">
                <a:latin typeface="Times New Roman"/>
                <a:cs typeface="Times New Roman"/>
              </a:rPr>
              <a:t>y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5">
                <a:latin typeface="Times New Roman"/>
                <a:cs typeface="Times New Roman"/>
              </a:rPr>
              <a:t>a</a:t>
            </a:r>
            <a:r>
              <a:rPr dirty="0" sz="2800" spc="-5">
                <a:latin typeface="Times New Roman"/>
                <a:cs typeface="Times New Roman"/>
              </a:rPr>
              <a:t>n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">
                <a:latin typeface="Times New Roman"/>
                <a:cs typeface="Times New Roman"/>
              </a:rPr>
              <a:t>i</a:t>
            </a:r>
            <a:r>
              <a:rPr dirty="0" sz="2800">
                <a:latin typeface="Times New Roman"/>
                <a:cs typeface="Times New Roman"/>
              </a:rPr>
              <a:t>n</a:t>
            </a:r>
            <a:r>
              <a:rPr dirty="0" sz="2800" spc="-5">
                <a:latin typeface="Times New Roman"/>
                <a:cs typeface="Times New Roman"/>
              </a:rPr>
              <a:t>te</a:t>
            </a:r>
            <a:r>
              <a:rPr dirty="0" sz="2800" spc="-15">
                <a:latin typeface="Times New Roman"/>
                <a:cs typeface="Times New Roman"/>
              </a:rPr>
              <a:t>r</a:t>
            </a:r>
            <a:r>
              <a:rPr dirty="0" sz="2800" spc="-5">
                <a:latin typeface="Times New Roman"/>
                <a:cs typeface="Times New Roman"/>
              </a:rPr>
              <a:t>nal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">
                <a:latin typeface="Times New Roman"/>
                <a:cs typeface="Times New Roman"/>
              </a:rPr>
              <a:t>static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5">
                <a:latin typeface="Times New Roman"/>
                <a:cs typeface="Times New Roman"/>
              </a:rPr>
              <a:t>i</a:t>
            </a:r>
            <a:r>
              <a:rPr dirty="0" sz="2800" spc="-5">
                <a:latin typeface="Times New Roman"/>
                <a:cs typeface="Times New Roman"/>
              </a:rPr>
              <a:t>s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no</a:t>
            </a:r>
            <a:r>
              <a:rPr dirty="0" sz="2800" spc="-5">
                <a:latin typeface="Times New Roman"/>
                <a:cs typeface="Times New Roman"/>
              </a:rPr>
              <a:t>t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">
                <a:latin typeface="Times New Roman"/>
                <a:cs typeface="Times New Roman"/>
              </a:rPr>
              <a:t>lost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">
                <a:latin typeface="Times New Roman"/>
                <a:cs typeface="Times New Roman"/>
              </a:rPr>
              <a:t>after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">
                <a:latin typeface="Times New Roman"/>
                <a:cs typeface="Times New Roman"/>
              </a:rPr>
              <a:t>t</a:t>
            </a:r>
            <a:r>
              <a:rPr dirty="0" sz="2800">
                <a:latin typeface="Times New Roman"/>
                <a:cs typeface="Times New Roman"/>
              </a:rPr>
              <a:t>h</a:t>
            </a:r>
            <a:r>
              <a:rPr dirty="0" sz="2800" spc="-5">
                <a:latin typeface="Times New Roman"/>
                <a:cs typeface="Times New Roman"/>
              </a:rPr>
              <a:t>e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">
                <a:latin typeface="Times New Roman"/>
                <a:cs typeface="Times New Roman"/>
              </a:rPr>
              <a:t>co</a:t>
            </a:r>
            <a:r>
              <a:rPr dirty="0" sz="2800" spc="-20">
                <a:latin typeface="Times New Roman"/>
                <a:cs typeface="Times New Roman"/>
              </a:rPr>
              <a:t>m</a:t>
            </a:r>
            <a:r>
              <a:rPr dirty="0" sz="2800" spc="-5">
                <a:latin typeface="Times New Roman"/>
                <a:cs typeface="Times New Roman"/>
              </a:rPr>
              <a:t>p</a:t>
            </a:r>
            <a:r>
              <a:rPr dirty="0" sz="2800">
                <a:latin typeface="Times New Roman"/>
                <a:cs typeface="Times New Roman"/>
              </a:rPr>
              <a:t>l</a:t>
            </a:r>
            <a:r>
              <a:rPr dirty="0" sz="2800" spc="-5">
                <a:latin typeface="Times New Roman"/>
                <a:cs typeface="Times New Roman"/>
              </a:rPr>
              <a:t>etion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o</a:t>
            </a:r>
            <a:r>
              <a:rPr dirty="0" sz="2800" spc="-5">
                <a:latin typeface="Times New Roman"/>
                <a:cs typeface="Times New Roman"/>
              </a:rPr>
              <a:t>f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">
                <a:latin typeface="Times New Roman"/>
                <a:cs typeface="Times New Roman"/>
              </a:rPr>
              <a:t>t</a:t>
            </a:r>
            <a:r>
              <a:rPr dirty="0" sz="2800">
                <a:latin typeface="Times New Roman"/>
                <a:cs typeface="Times New Roman"/>
              </a:rPr>
              <a:t>h</a:t>
            </a:r>
            <a:r>
              <a:rPr dirty="0" sz="2800" spc="-5">
                <a:latin typeface="Times New Roman"/>
                <a:cs typeface="Times New Roman"/>
              </a:rPr>
              <a:t>e  </a:t>
            </a:r>
            <a:r>
              <a:rPr dirty="0" sz="2800" spc="-5">
                <a:latin typeface="Times New Roman"/>
                <a:cs typeface="Times New Roman"/>
              </a:rPr>
              <a:t>execution.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Even after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5">
                <a:latin typeface="Times New Roman"/>
                <a:cs typeface="Times New Roman"/>
              </a:rPr>
              <a:t> termination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 the </a:t>
            </a:r>
            <a:r>
              <a:rPr dirty="0" sz="2800" spc="-5">
                <a:latin typeface="Times New Roman"/>
                <a:cs typeface="Times New Roman"/>
              </a:rPr>
              <a:t>block,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value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remains.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800" spc="-5" b="1">
                <a:latin typeface="Times New Roman"/>
                <a:cs typeface="Times New Roman"/>
              </a:rPr>
              <a:t>Internal</a:t>
            </a:r>
            <a:r>
              <a:rPr dirty="0" sz="2800" spc="1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static</a:t>
            </a:r>
            <a:r>
              <a:rPr dirty="0" sz="2800" spc="10" b="1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–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persistent storage,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block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scope,</a:t>
            </a:r>
            <a:r>
              <a:rPr dirty="0" sz="2800">
                <a:latin typeface="Times New Roman"/>
                <a:cs typeface="Times New Roman"/>
              </a:rPr>
              <a:t> no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linkage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2800" spc="-5" b="1">
                <a:latin typeface="Times New Roman"/>
                <a:cs typeface="Times New Roman"/>
              </a:rPr>
              <a:t>External</a:t>
            </a:r>
            <a:r>
              <a:rPr dirty="0" sz="2800" spc="1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static</a:t>
            </a:r>
            <a:r>
              <a:rPr dirty="0" sz="2800" spc="10" b="1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–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permanent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storage,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file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scope,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internal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linkage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8805" y="4546853"/>
            <a:ext cx="14871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Example: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27885" y="4460900"/>
            <a:ext cx="3503295" cy="1560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28015">
              <a:lnSpc>
                <a:spcPct val="120000"/>
              </a:lnSpc>
              <a:spcBef>
                <a:spcPts val="100"/>
              </a:spcBef>
            </a:pPr>
            <a:r>
              <a:rPr dirty="0" sz="2800" spc="-5">
                <a:latin typeface="Times New Roman"/>
                <a:cs typeface="Times New Roman"/>
              </a:rPr>
              <a:t>static </a:t>
            </a:r>
            <a:r>
              <a:rPr dirty="0" sz="2800">
                <a:latin typeface="Times New Roman"/>
                <a:cs typeface="Times New Roman"/>
              </a:rPr>
              <a:t>int </a:t>
            </a:r>
            <a:r>
              <a:rPr dirty="0" sz="2800" spc="-5">
                <a:latin typeface="Times New Roman"/>
                <a:cs typeface="Times New Roman"/>
              </a:rPr>
              <a:t>a,b,c=10;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static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float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x=5.0,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y;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2800" spc="-5">
                <a:latin typeface="Times New Roman"/>
                <a:cs typeface="Times New Roman"/>
              </a:rPr>
              <a:t>static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char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ch1=‘+’,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ch2;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3.</a:t>
            </a:r>
            <a:r>
              <a:rPr dirty="0" spc="-20"/>
              <a:t> </a:t>
            </a:r>
            <a:r>
              <a:rPr dirty="0" spc="-5"/>
              <a:t>Static</a:t>
            </a:r>
            <a:r>
              <a:rPr dirty="0" spc="-15"/>
              <a:t> </a:t>
            </a:r>
            <a:r>
              <a:rPr dirty="0" spc="-5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805" y="705078"/>
            <a:ext cx="6814820" cy="579945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2600" b="1">
                <a:latin typeface="Times New Roman"/>
                <a:cs typeface="Times New Roman"/>
              </a:rPr>
              <a:t>Sample</a:t>
            </a:r>
            <a:r>
              <a:rPr dirty="0" sz="2600" spc="-25" b="1">
                <a:latin typeface="Times New Roman"/>
                <a:cs typeface="Times New Roman"/>
              </a:rPr>
              <a:t> </a:t>
            </a:r>
            <a:r>
              <a:rPr dirty="0" sz="2600" spc="-5" b="1">
                <a:latin typeface="Times New Roman"/>
                <a:cs typeface="Times New Roman"/>
              </a:rPr>
              <a:t>Program</a:t>
            </a:r>
            <a:r>
              <a:rPr dirty="0" sz="2600" spc="-5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for</a:t>
            </a:r>
            <a:r>
              <a:rPr dirty="0" sz="2600" spc="-7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Internal</a:t>
            </a:r>
            <a:r>
              <a:rPr dirty="0" sz="2600" spc="-1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Static</a:t>
            </a:r>
            <a:endParaRPr sz="2600">
              <a:latin typeface="Times New Roman"/>
              <a:cs typeface="Times New Roman"/>
            </a:endParaRPr>
          </a:p>
          <a:p>
            <a:pPr marL="12700" marR="4310380">
              <a:lnSpc>
                <a:spcPct val="111900"/>
              </a:lnSpc>
              <a:spcBef>
                <a:spcPts val="15"/>
              </a:spcBef>
            </a:pPr>
            <a:r>
              <a:rPr dirty="0" sz="2600">
                <a:latin typeface="Times New Roman"/>
                <a:cs typeface="Times New Roman"/>
              </a:rPr>
              <a:t>#include</a:t>
            </a:r>
            <a:r>
              <a:rPr dirty="0" sz="2600" spc="-10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&lt;stdio.h&gt; </a:t>
            </a:r>
            <a:r>
              <a:rPr dirty="0" sz="2600" spc="-6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void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5">
                <a:latin typeface="Times New Roman"/>
                <a:cs typeface="Times New Roman"/>
              </a:rPr>
              <a:t>main()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2600"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927100" marR="1981835">
              <a:lnSpc>
                <a:spcPct val="111900"/>
              </a:lnSpc>
              <a:spcBef>
                <a:spcPts val="10"/>
              </a:spcBef>
            </a:pPr>
            <a:r>
              <a:rPr dirty="0" sz="2600">
                <a:latin typeface="Times New Roman"/>
                <a:cs typeface="Times New Roman"/>
              </a:rPr>
              <a:t>int </a:t>
            </a:r>
            <a:r>
              <a:rPr dirty="0" sz="2600" spc="-5">
                <a:latin typeface="Times New Roman"/>
                <a:cs typeface="Times New Roman"/>
              </a:rPr>
              <a:t>i, </a:t>
            </a:r>
            <a:r>
              <a:rPr dirty="0" sz="2600">
                <a:latin typeface="Times New Roman"/>
                <a:cs typeface="Times New Roman"/>
              </a:rPr>
              <a:t>x=2, y=10; 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printf("x=%d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5">
                <a:latin typeface="Times New Roman"/>
                <a:cs typeface="Times New Roman"/>
              </a:rPr>
              <a:t>y=%d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\n",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x,y); </a:t>
            </a:r>
            <a:r>
              <a:rPr dirty="0" sz="2600" spc="-635">
                <a:latin typeface="Times New Roman"/>
                <a:cs typeface="Times New Roman"/>
              </a:rPr>
              <a:t> </a:t>
            </a:r>
            <a:r>
              <a:rPr dirty="0" sz="2600" spc="-5">
                <a:latin typeface="Times New Roman"/>
                <a:cs typeface="Times New Roman"/>
              </a:rPr>
              <a:t>for(i=0;i&lt;=5;i++)</a:t>
            </a:r>
            <a:endParaRPr sz="26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390"/>
              </a:spcBef>
            </a:pPr>
            <a:r>
              <a:rPr dirty="0" sz="2600"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370"/>
              </a:spcBef>
            </a:pPr>
            <a:r>
              <a:rPr dirty="0" sz="2600" spc="-5">
                <a:latin typeface="Times New Roman"/>
                <a:cs typeface="Times New Roman"/>
              </a:rPr>
              <a:t>static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int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z=100;</a:t>
            </a:r>
            <a:endParaRPr sz="2600">
              <a:latin typeface="Times New Roman"/>
              <a:cs typeface="Times New Roman"/>
            </a:endParaRPr>
          </a:p>
          <a:p>
            <a:pPr marL="1841500" marR="5080">
              <a:lnSpc>
                <a:spcPts val="3510"/>
              </a:lnSpc>
              <a:spcBef>
                <a:spcPts val="165"/>
              </a:spcBef>
            </a:pPr>
            <a:r>
              <a:rPr dirty="0" sz="2600">
                <a:latin typeface="Times New Roman"/>
                <a:cs typeface="Times New Roman"/>
              </a:rPr>
              <a:t>printf("x=%d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5">
                <a:latin typeface="Times New Roman"/>
                <a:cs typeface="Times New Roman"/>
              </a:rPr>
              <a:t>y=%d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5">
                <a:latin typeface="Times New Roman"/>
                <a:cs typeface="Times New Roman"/>
              </a:rPr>
              <a:t>z=%d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\n",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x,y,z); </a:t>
            </a:r>
            <a:r>
              <a:rPr dirty="0" sz="2600" spc="-6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z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=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z/x;</a:t>
            </a:r>
            <a:endParaRPr sz="26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185"/>
              </a:spcBef>
            </a:pPr>
            <a:r>
              <a:rPr dirty="0" sz="2600">
                <a:latin typeface="Times New Roman"/>
                <a:cs typeface="Times New Roman"/>
              </a:rPr>
              <a:t>y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=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y+z;</a:t>
            </a:r>
            <a:endParaRPr sz="26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375"/>
              </a:spcBef>
              <a:tabLst>
                <a:tab pos="1841500" algn="l"/>
              </a:tabLst>
            </a:pPr>
            <a:r>
              <a:rPr dirty="0" sz="2600">
                <a:latin typeface="Times New Roman"/>
                <a:cs typeface="Times New Roman"/>
              </a:rPr>
              <a:t>}	}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1730" y="1300098"/>
            <a:ext cx="9747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Ou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put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91730" y="2031619"/>
            <a:ext cx="2049780" cy="2586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x=2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y=10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dirty="0" sz="2400" b="1">
                <a:latin typeface="Times New Roman"/>
                <a:cs typeface="Times New Roman"/>
              </a:rPr>
              <a:t>x=2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y=10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z=100 </a:t>
            </a:r>
            <a:r>
              <a:rPr dirty="0" sz="2400" spc="-58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x=2 y=60 </a:t>
            </a:r>
            <a:r>
              <a:rPr dirty="0" sz="2400" spc="-10" b="1">
                <a:latin typeface="Times New Roman"/>
                <a:cs typeface="Times New Roman"/>
              </a:rPr>
              <a:t>z=50 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x=2 y=85 </a:t>
            </a:r>
            <a:r>
              <a:rPr dirty="0" sz="2400" spc="-10" b="1">
                <a:latin typeface="Times New Roman"/>
                <a:cs typeface="Times New Roman"/>
              </a:rPr>
              <a:t>z=25 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x=2 y=97 </a:t>
            </a:r>
            <a:r>
              <a:rPr dirty="0" sz="2400" spc="-10" b="1">
                <a:latin typeface="Times New Roman"/>
                <a:cs typeface="Times New Roman"/>
              </a:rPr>
              <a:t>z=12 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x=2 y=103 </a:t>
            </a:r>
            <a:r>
              <a:rPr dirty="0" sz="2400" spc="-10" b="1">
                <a:latin typeface="Times New Roman"/>
                <a:cs typeface="Times New Roman"/>
              </a:rPr>
              <a:t>z=6 </a:t>
            </a:r>
            <a:r>
              <a:rPr dirty="0" sz="2400" spc="-5" b="1">
                <a:latin typeface="Times New Roman"/>
                <a:cs typeface="Times New Roman"/>
              </a:rPr>
              <a:t> x=2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y=106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15" b="1">
                <a:latin typeface="Times New Roman"/>
                <a:cs typeface="Times New Roman"/>
              </a:rPr>
              <a:t>z=3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3.</a:t>
            </a:r>
            <a:r>
              <a:rPr dirty="0" spc="-20"/>
              <a:t> </a:t>
            </a:r>
            <a:r>
              <a:rPr dirty="0" spc="-5"/>
              <a:t>Static</a:t>
            </a:r>
            <a:r>
              <a:rPr dirty="0" spc="-15"/>
              <a:t> </a:t>
            </a:r>
            <a:r>
              <a:rPr dirty="0" spc="-5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805" y="563165"/>
            <a:ext cx="5628640" cy="4897755"/>
          </a:xfrm>
          <a:prstGeom prst="rect">
            <a:avLst/>
          </a:prstGeom>
        </p:spPr>
        <p:txBody>
          <a:bodyPr wrap="square" lIns="0" tIns="23876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880"/>
              </a:spcBef>
            </a:pPr>
            <a:r>
              <a:rPr dirty="0" sz="2800" spc="-5" b="1">
                <a:latin typeface="Times New Roman"/>
                <a:cs typeface="Times New Roman"/>
              </a:rPr>
              <a:t>Sample</a:t>
            </a:r>
            <a:r>
              <a:rPr dirty="0" sz="280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Program</a:t>
            </a:r>
            <a:r>
              <a:rPr dirty="0" sz="2800" b="1">
                <a:latin typeface="Times New Roman"/>
                <a:cs typeface="Times New Roman"/>
              </a:rPr>
              <a:t> for</a:t>
            </a:r>
            <a:r>
              <a:rPr dirty="0" sz="2800" spc="-6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External </a:t>
            </a:r>
            <a:r>
              <a:rPr dirty="0" sz="2800" b="1">
                <a:latin typeface="Times New Roman"/>
                <a:cs typeface="Times New Roman"/>
              </a:rPr>
              <a:t>Static</a:t>
            </a:r>
            <a:endParaRPr sz="2800">
              <a:latin typeface="Times New Roman"/>
              <a:cs typeface="Times New Roman"/>
            </a:endParaRPr>
          </a:p>
          <a:p>
            <a:pPr algn="just" marL="596265" marR="2732405">
              <a:lnSpc>
                <a:spcPct val="100000"/>
              </a:lnSpc>
              <a:spcBef>
                <a:spcPts val="1535"/>
              </a:spcBef>
            </a:pPr>
            <a:r>
              <a:rPr dirty="0" sz="2400">
                <a:latin typeface="Times New Roman"/>
                <a:cs typeface="Times New Roman"/>
              </a:rPr>
              <a:t>#include</a:t>
            </a:r>
            <a:r>
              <a:rPr dirty="0" sz="2400" spc="-1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&lt;stdio.h&gt; </a:t>
            </a:r>
            <a:r>
              <a:rPr dirty="0" sz="2400" spc="-5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static</a:t>
            </a:r>
            <a:r>
              <a:rPr dirty="0" sz="2400" spc="-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float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x=6.14; </a:t>
            </a:r>
            <a:r>
              <a:rPr dirty="0" sz="2400" spc="-5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void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main()</a:t>
            </a:r>
            <a:endParaRPr sz="2400">
              <a:latin typeface="Times New Roman"/>
              <a:cs typeface="Times New Roman"/>
            </a:endParaRPr>
          </a:p>
          <a:p>
            <a:pPr marL="596265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1510665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float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y=2;</a:t>
            </a:r>
            <a:endParaRPr sz="2400">
              <a:latin typeface="Times New Roman"/>
              <a:cs typeface="Times New Roman"/>
            </a:endParaRPr>
          </a:p>
          <a:p>
            <a:pPr marL="1510665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Times New Roman"/>
                <a:cs typeface="Times New Roman"/>
              </a:rPr>
              <a:t>printf("x=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%.2f,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y=%.2f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\n",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x,y);</a:t>
            </a:r>
            <a:endParaRPr sz="2400">
              <a:latin typeface="Times New Roman"/>
              <a:cs typeface="Times New Roman"/>
            </a:endParaRPr>
          </a:p>
          <a:p>
            <a:pPr marL="1510665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2425065" marR="1618615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float</a:t>
            </a:r>
            <a:r>
              <a:rPr dirty="0" sz="2400" spc="-1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y=3.14; </a:t>
            </a:r>
            <a:r>
              <a:rPr dirty="0" sz="2400" spc="-5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x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=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y*4;</a:t>
            </a:r>
            <a:endParaRPr sz="2400">
              <a:latin typeface="Times New Roman"/>
              <a:cs typeface="Times New Roman"/>
            </a:endParaRPr>
          </a:p>
          <a:p>
            <a:pPr marL="1282065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printf("x=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%.2f,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y=%.2f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\n",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x,y);</a:t>
            </a:r>
            <a:endParaRPr sz="2400">
              <a:latin typeface="Times New Roman"/>
              <a:cs typeface="Times New Roman"/>
            </a:endParaRPr>
          </a:p>
          <a:p>
            <a:pPr marL="1205865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2497" y="5801055"/>
            <a:ext cx="443547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printf("x=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%.2f,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y=%.2f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\n",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x,y);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53427" y="3567176"/>
            <a:ext cx="10833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0000"/>
                </a:solidFill>
                <a:latin typeface="Calibri"/>
                <a:cs typeface="Calibri"/>
              </a:rPr>
              <a:t>Output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53427" y="4420615"/>
            <a:ext cx="2418715" cy="1305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Calibri"/>
                <a:cs typeface="Calibri"/>
              </a:rPr>
              <a:t>x=</a:t>
            </a:r>
            <a:r>
              <a:rPr dirty="0" sz="2800" spc="-15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6.14,</a:t>
            </a:r>
            <a:r>
              <a:rPr dirty="0" sz="2800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y=2.00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800" spc="-5" b="1">
                <a:latin typeface="Calibri"/>
                <a:cs typeface="Calibri"/>
              </a:rPr>
              <a:t>x=</a:t>
            </a:r>
            <a:r>
              <a:rPr dirty="0" sz="2800" spc="-25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12.56,</a:t>
            </a:r>
            <a:r>
              <a:rPr dirty="0" sz="2800" spc="1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y=3.14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800" spc="-5" b="1">
                <a:latin typeface="Calibri"/>
                <a:cs typeface="Calibri"/>
              </a:rPr>
              <a:t>x=</a:t>
            </a:r>
            <a:r>
              <a:rPr dirty="0" sz="2800" spc="-35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12.56,</a:t>
            </a:r>
            <a:r>
              <a:rPr dirty="0" sz="2800" spc="5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y=2.00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452564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4.</a:t>
            </a:r>
            <a:r>
              <a:rPr dirty="0" spc="-15"/>
              <a:t> </a:t>
            </a:r>
            <a:r>
              <a:rPr dirty="0" spc="-5"/>
              <a:t>External</a:t>
            </a:r>
            <a:r>
              <a:rPr dirty="0" spc="-15"/>
              <a:t> </a:t>
            </a:r>
            <a:r>
              <a:rPr dirty="0" spc="-5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829" y="1326641"/>
            <a:ext cx="11127740" cy="4780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The </a:t>
            </a:r>
            <a:r>
              <a:rPr dirty="0" sz="2400" spc="-5">
                <a:latin typeface="Times New Roman"/>
                <a:cs typeface="Times New Roman"/>
              </a:rPr>
              <a:t>extern </a:t>
            </a:r>
            <a:r>
              <a:rPr dirty="0" sz="2400">
                <a:latin typeface="Times New Roman"/>
                <a:cs typeface="Times New Roman"/>
              </a:rPr>
              <a:t>keyword in C is used </a:t>
            </a:r>
            <a:r>
              <a:rPr dirty="0" sz="2400" spc="-5">
                <a:latin typeface="Times New Roman"/>
                <a:cs typeface="Times New Roman"/>
              </a:rPr>
              <a:t>to declare </a:t>
            </a:r>
            <a:r>
              <a:rPr dirty="0" sz="2400">
                <a:latin typeface="Times New Roman"/>
                <a:cs typeface="Times New Roman"/>
              </a:rPr>
              <a:t>a </a:t>
            </a:r>
            <a:r>
              <a:rPr dirty="0" sz="2400" spc="-5">
                <a:latin typeface="Times New Roman"/>
                <a:cs typeface="Times New Roman"/>
              </a:rPr>
              <a:t>variable as </a:t>
            </a:r>
            <a:r>
              <a:rPr dirty="0" sz="2400">
                <a:latin typeface="Times New Roman"/>
                <a:cs typeface="Times New Roman"/>
              </a:rPr>
              <a:t>a </a:t>
            </a:r>
            <a:r>
              <a:rPr dirty="0" sz="2400" spc="-5">
                <a:latin typeface="Times New Roman"/>
                <a:cs typeface="Times New Roman"/>
              </a:rPr>
              <a:t>global variable </a:t>
            </a:r>
            <a:r>
              <a:rPr dirty="0" sz="2400">
                <a:latin typeface="Times New Roman"/>
                <a:cs typeface="Times New Roman"/>
              </a:rPr>
              <a:t>such </a:t>
            </a:r>
            <a:r>
              <a:rPr dirty="0" sz="2400" spc="-5">
                <a:latin typeface="Times New Roman"/>
                <a:cs typeface="Times New Roman"/>
              </a:rPr>
              <a:t>that </a:t>
            </a:r>
            <a:r>
              <a:rPr dirty="0" sz="2400">
                <a:latin typeface="Times New Roman"/>
                <a:cs typeface="Times New Roman"/>
              </a:rPr>
              <a:t>a 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variable declared </a:t>
            </a:r>
            <a:r>
              <a:rPr dirty="0" sz="2400">
                <a:latin typeface="Times New Roman"/>
                <a:cs typeface="Times New Roman"/>
              </a:rPr>
              <a:t>in </a:t>
            </a:r>
            <a:r>
              <a:rPr dirty="0" sz="2400" spc="-5">
                <a:latin typeface="Times New Roman"/>
                <a:cs typeface="Times New Roman"/>
              </a:rPr>
              <a:t>another </a:t>
            </a:r>
            <a:r>
              <a:rPr dirty="0" sz="2400">
                <a:latin typeface="Times New Roman"/>
                <a:cs typeface="Times New Roman"/>
              </a:rPr>
              <a:t>scope </a:t>
            </a:r>
            <a:r>
              <a:rPr dirty="0" sz="2400" spc="-10">
                <a:latin typeface="Times New Roman"/>
                <a:cs typeface="Times New Roman"/>
              </a:rPr>
              <a:t>of </a:t>
            </a:r>
            <a:r>
              <a:rPr dirty="0" sz="2400">
                <a:latin typeface="Times New Roman"/>
                <a:cs typeface="Times New Roman"/>
              </a:rPr>
              <a:t>the </a:t>
            </a:r>
            <a:r>
              <a:rPr dirty="0" sz="2400" spc="-5">
                <a:latin typeface="Times New Roman"/>
                <a:cs typeface="Times New Roman"/>
              </a:rPr>
              <a:t>same </a:t>
            </a:r>
            <a:r>
              <a:rPr dirty="0" sz="2400">
                <a:latin typeface="Times New Roman"/>
                <a:cs typeface="Times New Roman"/>
              </a:rPr>
              <a:t>file or </a:t>
            </a:r>
            <a:r>
              <a:rPr dirty="0" sz="2400" spc="-5">
                <a:latin typeface="Times New Roman"/>
                <a:cs typeface="Times New Roman"/>
              </a:rPr>
              <a:t>another file can </a:t>
            </a:r>
            <a:r>
              <a:rPr dirty="0" sz="2400">
                <a:latin typeface="Times New Roman"/>
                <a:cs typeface="Times New Roman"/>
              </a:rPr>
              <a:t>be </a:t>
            </a:r>
            <a:r>
              <a:rPr dirty="0" sz="2400" spc="-5">
                <a:latin typeface="Times New Roman"/>
                <a:cs typeface="Times New Roman"/>
              </a:rPr>
              <a:t>accessed </a:t>
            </a:r>
            <a:r>
              <a:rPr dirty="0" sz="2400">
                <a:latin typeface="Times New Roman"/>
                <a:cs typeface="Times New Roman"/>
              </a:rPr>
              <a:t>from 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anywhere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5">
                <a:latin typeface="Times New Roman"/>
                <a:cs typeface="Times New Roman"/>
              </a:rPr>
              <a:t> program.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algn="just" marL="12700" marR="5715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variables</a:t>
            </a:r>
            <a:r>
              <a:rPr dirty="0" sz="2400">
                <a:latin typeface="Times New Roman"/>
                <a:cs typeface="Times New Roman"/>
              </a:rPr>
              <a:t> or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functions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declared</a:t>
            </a:r>
            <a:r>
              <a:rPr dirty="0" sz="2400">
                <a:latin typeface="Times New Roman"/>
                <a:cs typeface="Times New Roman"/>
              </a:rPr>
              <a:t> with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the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extern</a:t>
            </a:r>
            <a:r>
              <a:rPr dirty="0" sz="2400" spc="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keyword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will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be</a:t>
            </a:r>
            <a:r>
              <a:rPr dirty="0" sz="2400" spc="-5">
                <a:latin typeface="Times New Roman"/>
                <a:cs typeface="Times New Roman"/>
              </a:rPr>
              <a:t> linked 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externally(external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linkage).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main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cases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extern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variable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are,</a:t>
            </a:r>
            <a:endParaRPr sz="2400">
              <a:latin typeface="Times New Roman"/>
              <a:cs typeface="Times New Roman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alphaLcPeriod"/>
              <a:tabLst>
                <a:tab pos="469900" algn="l"/>
                <a:tab pos="470534" algn="l"/>
              </a:tabLst>
            </a:pPr>
            <a:r>
              <a:rPr dirty="0" sz="2400" spc="-5">
                <a:latin typeface="Times New Roman"/>
                <a:cs typeface="Times New Roman"/>
              </a:rPr>
              <a:t>Access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variable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defined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another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file.</a:t>
            </a:r>
            <a:endParaRPr sz="2400">
              <a:latin typeface="Times New Roman"/>
              <a:cs typeface="Times New Roman"/>
            </a:endParaRPr>
          </a:p>
          <a:p>
            <a:pPr marL="469900" indent="-457834">
              <a:lnSpc>
                <a:spcPct val="100000"/>
              </a:lnSpc>
              <a:buAutoNum type="alphaLcPeriod"/>
              <a:tabLst>
                <a:tab pos="469900" algn="l"/>
                <a:tab pos="470534" algn="l"/>
              </a:tabLst>
            </a:pPr>
            <a:r>
              <a:rPr dirty="0" sz="2400">
                <a:latin typeface="Times New Roman"/>
                <a:cs typeface="Times New Roman"/>
              </a:rPr>
              <a:t>Create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global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common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variable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 </a:t>
            </a:r>
            <a:r>
              <a:rPr dirty="0" sz="2400" spc="-5">
                <a:latin typeface="Times New Roman"/>
                <a:cs typeface="Times New Roman"/>
              </a:rPr>
              <a:t>used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all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files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linked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5">
                <a:latin typeface="Times New Roman"/>
                <a:cs typeface="Times New Roman"/>
              </a:rPr>
              <a:t>together.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Syntax: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extern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data_type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variable_name;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452564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4.</a:t>
            </a:r>
            <a:r>
              <a:rPr dirty="0" spc="-15"/>
              <a:t> </a:t>
            </a:r>
            <a:r>
              <a:rPr dirty="0" spc="-5"/>
              <a:t>External</a:t>
            </a:r>
            <a:r>
              <a:rPr dirty="0" spc="-15"/>
              <a:t> </a:t>
            </a:r>
            <a:r>
              <a:rPr dirty="0" spc="-5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94211" y="6426809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829" y="1326641"/>
            <a:ext cx="26346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Times New Roman"/>
                <a:cs typeface="Times New Roman"/>
              </a:rPr>
              <a:t>Example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Programs: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3966845">
              <a:lnSpc>
                <a:spcPct val="100000"/>
              </a:lnSpc>
              <a:spcBef>
                <a:spcPts val="100"/>
              </a:spcBef>
            </a:pPr>
            <a:r>
              <a:rPr dirty="0"/>
              <a:t>#inc</a:t>
            </a:r>
            <a:r>
              <a:rPr dirty="0" spc="5"/>
              <a:t>l</a:t>
            </a:r>
            <a:r>
              <a:rPr dirty="0"/>
              <a:t>ude</a:t>
            </a:r>
            <a:r>
              <a:rPr dirty="0" spc="10"/>
              <a:t>&lt;</a:t>
            </a:r>
            <a:r>
              <a:rPr dirty="0"/>
              <a:t>stdio.h&gt;  </a:t>
            </a:r>
            <a:r>
              <a:rPr dirty="0"/>
              <a:t>int</a:t>
            </a:r>
            <a:r>
              <a:rPr dirty="0" spc="-20"/>
              <a:t> </a:t>
            </a:r>
            <a:r>
              <a:rPr dirty="0"/>
              <a:t>i;</a:t>
            </a:r>
          </a:p>
          <a:p>
            <a:pPr marL="12700">
              <a:lnSpc>
                <a:spcPct val="100000"/>
              </a:lnSpc>
            </a:pPr>
            <a:r>
              <a:rPr dirty="0" spc="-5"/>
              <a:t>main()</a:t>
            </a:r>
          </a:p>
          <a:p>
            <a:pPr marL="12700">
              <a:lnSpc>
                <a:spcPct val="100000"/>
              </a:lnSpc>
            </a:pPr>
            <a:r>
              <a:rPr dirty="0"/>
              <a:t>{</a:t>
            </a:r>
          </a:p>
          <a:p>
            <a:pPr marL="927100">
              <a:lnSpc>
                <a:spcPct val="100000"/>
              </a:lnSpc>
            </a:pPr>
            <a:r>
              <a:rPr dirty="0"/>
              <a:t>auto</a:t>
            </a:r>
            <a:r>
              <a:rPr dirty="0" spc="-20"/>
              <a:t> </a:t>
            </a:r>
            <a:r>
              <a:rPr dirty="0"/>
              <a:t>int</a:t>
            </a:r>
            <a:r>
              <a:rPr dirty="0" spc="-40"/>
              <a:t> </a:t>
            </a:r>
            <a:r>
              <a:rPr dirty="0"/>
              <a:t>i</a:t>
            </a:r>
            <a:r>
              <a:rPr dirty="0" spc="-30"/>
              <a:t> </a:t>
            </a:r>
            <a:r>
              <a:rPr dirty="0"/>
              <a:t>=</a:t>
            </a:r>
            <a:r>
              <a:rPr dirty="0" spc="-15"/>
              <a:t> </a:t>
            </a:r>
            <a:r>
              <a:rPr dirty="0"/>
              <a:t>10;</a:t>
            </a:r>
          </a:p>
          <a:p>
            <a:pPr marL="927100">
              <a:lnSpc>
                <a:spcPct val="100000"/>
              </a:lnSpc>
            </a:pPr>
            <a:r>
              <a:rPr dirty="0"/>
              <a:t>printf(“i</a:t>
            </a:r>
            <a:r>
              <a:rPr dirty="0" spc="-45"/>
              <a:t> </a:t>
            </a:r>
            <a:r>
              <a:rPr dirty="0"/>
              <a:t>=</a:t>
            </a:r>
            <a:r>
              <a:rPr dirty="0" spc="-10"/>
              <a:t> </a:t>
            </a:r>
            <a:r>
              <a:rPr dirty="0"/>
              <a:t>%d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outer</a:t>
            </a:r>
            <a:r>
              <a:rPr dirty="0" spc="-15"/>
              <a:t> </a:t>
            </a:r>
            <a:r>
              <a:rPr dirty="0"/>
              <a:t>block”,i);</a:t>
            </a:r>
          </a:p>
          <a:p>
            <a:pPr marL="927100">
              <a:lnSpc>
                <a:spcPct val="100000"/>
              </a:lnSpc>
            </a:pPr>
            <a:r>
              <a:rPr dirty="0"/>
              <a:t>{</a:t>
            </a:r>
          </a:p>
          <a:p>
            <a:pPr marL="1841500">
              <a:lnSpc>
                <a:spcPct val="100000"/>
              </a:lnSpc>
            </a:pPr>
            <a:r>
              <a:rPr dirty="0"/>
              <a:t>extern</a:t>
            </a:r>
            <a:r>
              <a:rPr dirty="0" spc="-50"/>
              <a:t> </a:t>
            </a:r>
            <a:r>
              <a:rPr dirty="0"/>
              <a:t>int</a:t>
            </a:r>
            <a:r>
              <a:rPr dirty="0" spc="-35"/>
              <a:t> </a:t>
            </a:r>
            <a:r>
              <a:rPr dirty="0"/>
              <a:t>i;</a:t>
            </a:r>
          </a:p>
          <a:p>
            <a:pPr marL="1841500">
              <a:lnSpc>
                <a:spcPct val="100000"/>
              </a:lnSpc>
              <a:spcBef>
                <a:spcPts val="5"/>
              </a:spcBef>
            </a:pPr>
            <a:r>
              <a:rPr dirty="0"/>
              <a:t>printf(“i=%d</a:t>
            </a:r>
            <a:r>
              <a:rPr dirty="0" spc="-60"/>
              <a:t> </a:t>
            </a:r>
            <a:r>
              <a:rPr dirty="0"/>
              <a:t>in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/>
              <a:t>inner</a:t>
            </a:r>
            <a:r>
              <a:rPr dirty="0" spc="-15"/>
              <a:t> </a:t>
            </a:r>
            <a:r>
              <a:rPr dirty="0"/>
              <a:t>block”,</a:t>
            </a:r>
            <a:r>
              <a:rPr dirty="0" spc="-35"/>
              <a:t> </a:t>
            </a:r>
            <a:r>
              <a:rPr dirty="0"/>
              <a:t>i);</a:t>
            </a:r>
          </a:p>
          <a:p>
            <a:pPr marL="927100">
              <a:lnSpc>
                <a:spcPct val="100000"/>
              </a:lnSpc>
            </a:pPr>
            <a:r>
              <a:rPr dirty="0"/>
              <a:t>}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90829" y="5716015"/>
            <a:ext cx="17208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08926" y="2158695"/>
            <a:ext cx="2423160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#include</a:t>
            </a:r>
            <a:r>
              <a:rPr dirty="0" sz="2400" spc="-9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&lt;stdio.h&gt;</a:t>
            </a:r>
            <a:endParaRPr sz="2400">
              <a:latin typeface="Times New Roman"/>
              <a:cs typeface="Times New Roman"/>
            </a:endParaRPr>
          </a:p>
          <a:p>
            <a:pPr marL="12700" marR="523875">
              <a:lnSpc>
                <a:spcPct val="100000"/>
              </a:lnSpc>
              <a:spcBef>
                <a:spcPts val="5"/>
              </a:spcBef>
            </a:pPr>
            <a:r>
              <a:rPr dirty="0" sz="2400" b="1">
                <a:latin typeface="Times New Roman"/>
                <a:cs typeface="Times New Roman"/>
              </a:rPr>
              <a:t>extern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int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var; </a:t>
            </a:r>
            <a:r>
              <a:rPr dirty="0" sz="2400" spc="-58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int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main()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13726" y="3988434"/>
            <a:ext cx="242189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Times New Roman"/>
                <a:cs typeface="Times New Roman"/>
              </a:rPr>
              <a:t>int </a:t>
            </a:r>
            <a:r>
              <a:rPr dirty="0" sz="2400" b="1">
                <a:latin typeface="Times New Roman"/>
                <a:cs typeface="Times New Roman"/>
              </a:rPr>
              <a:t>var=10; </a:t>
            </a:r>
            <a:r>
              <a:rPr dirty="0" sz="2400" spc="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print</a:t>
            </a:r>
            <a:r>
              <a:rPr dirty="0" sz="2400" b="1">
                <a:latin typeface="Times New Roman"/>
                <a:cs typeface="Times New Roman"/>
              </a:rPr>
              <a:t>f</a:t>
            </a:r>
            <a:r>
              <a:rPr dirty="0" sz="2400" spc="5" b="1">
                <a:latin typeface="Times New Roman"/>
                <a:cs typeface="Times New Roman"/>
              </a:rPr>
              <a:t>(</a:t>
            </a:r>
            <a:r>
              <a:rPr dirty="0" sz="2400" b="1">
                <a:latin typeface="Times New Roman"/>
                <a:cs typeface="Times New Roman"/>
              </a:rPr>
              <a:t>"</a:t>
            </a:r>
            <a:r>
              <a:rPr dirty="0" sz="2400" spc="-25" b="1">
                <a:latin typeface="Times New Roman"/>
                <a:cs typeface="Times New Roman"/>
              </a:rPr>
              <a:t>%</a:t>
            </a:r>
            <a:r>
              <a:rPr dirty="0" sz="2400" spc="-5" b="1">
                <a:latin typeface="Times New Roman"/>
                <a:cs typeface="Times New Roman"/>
              </a:rPr>
              <a:t>d",</a:t>
            </a:r>
            <a:r>
              <a:rPr dirty="0" sz="2400" b="1">
                <a:latin typeface="Times New Roman"/>
                <a:cs typeface="Times New Roman"/>
              </a:rPr>
              <a:t>var);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08926" y="4719954"/>
            <a:ext cx="1460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08926" y="5451754"/>
            <a:ext cx="14573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Output:</a:t>
            </a:r>
            <a:r>
              <a:rPr dirty="0" sz="2400" spc="-8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10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88007" y="5640730"/>
            <a:ext cx="2591435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Output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dirty="0" sz="2000" spc="-3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dirty="0" sz="2000" spc="-1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10</a:t>
            </a:r>
            <a:r>
              <a:rPr dirty="0" sz="2000" spc="-2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dirty="0" sz="2000" spc="-2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dirty="0" sz="2000" spc="-2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outer</a:t>
            </a:r>
            <a:r>
              <a:rPr dirty="0" sz="2000" spc="-6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block </a:t>
            </a:r>
            <a:r>
              <a:rPr dirty="0" sz="2000" spc="-484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i=0</a:t>
            </a:r>
            <a:r>
              <a:rPr dirty="0" sz="2000" spc="-1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dirty="0" sz="2000" spc="-2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dirty="0" sz="2000" spc="-3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inner</a:t>
            </a:r>
            <a:r>
              <a:rPr dirty="0" sz="2000" spc="-6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block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452564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4.</a:t>
            </a:r>
            <a:r>
              <a:rPr dirty="0" spc="-15"/>
              <a:t> </a:t>
            </a:r>
            <a:r>
              <a:rPr dirty="0" spc="-5"/>
              <a:t>External</a:t>
            </a:r>
            <a:r>
              <a:rPr dirty="0" spc="-15"/>
              <a:t> </a:t>
            </a:r>
            <a:r>
              <a:rPr dirty="0" spc="-5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94211" y="6426809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829" y="1326641"/>
            <a:ext cx="36709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Times New Roman"/>
                <a:cs typeface="Times New Roman"/>
              </a:rPr>
              <a:t>Another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Example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Program: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0829" y="2058161"/>
            <a:ext cx="27419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imes New Roman"/>
                <a:cs typeface="Times New Roman"/>
              </a:rPr>
              <a:t>File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name: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variables.c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0829" y="2789935"/>
            <a:ext cx="30702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float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extern_var</a:t>
            </a:r>
            <a:r>
              <a:rPr dirty="0" sz="2400" spc="-10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=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19.0;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41975" y="2089480"/>
            <a:ext cx="2712085" cy="758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#include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&lt;stdio.h&gt;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Times New Roman"/>
                <a:cs typeface="Times New Roman"/>
              </a:rPr>
              <a:t>#include</a:t>
            </a:r>
            <a:r>
              <a:rPr dirty="0" sz="2400" spc="-1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"variables.c"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1975" y="3187446"/>
            <a:ext cx="4966970" cy="2952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08407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extern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float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extern_var; </a:t>
            </a:r>
            <a:r>
              <a:rPr dirty="0" sz="2400" spc="-5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main()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dirty="0" sz="2400" b="1" i="1">
                <a:latin typeface="Times New Roman"/>
                <a:cs typeface="Times New Roman"/>
              </a:rPr>
              <a:t>//</a:t>
            </a:r>
            <a:r>
              <a:rPr dirty="0" sz="2400" spc="-20" b="1" i="1">
                <a:latin typeface="Times New Roman"/>
                <a:cs typeface="Times New Roman"/>
              </a:rPr>
              <a:t> </a:t>
            </a:r>
            <a:r>
              <a:rPr dirty="0" sz="2400" spc="-5" b="1" i="1">
                <a:latin typeface="Times New Roman"/>
                <a:cs typeface="Times New Roman"/>
              </a:rPr>
              <a:t>print the</a:t>
            </a:r>
            <a:r>
              <a:rPr dirty="0" sz="2400" spc="5" b="1" i="1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variable</a:t>
            </a:r>
            <a:r>
              <a:rPr dirty="0" sz="2400" spc="-35" b="1" i="1">
                <a:latin typeface="Times New Roman"/>
                <a:cs typeface="Times New Roman"/>
              </a:rPr>
              <a:t> </a:t>
            </a:r>
            <a:r>
              <a:rPr dirty="0" sz="2400" spc="-5" b="1" i="1">
                <a:latin typeface="Times New Roman"/>
                <a:cs typeface="Times New Roman"/>
              </a:rPr>
              <a:t>from</a:t>
            </a:r>
            <a:r>
              <a:rPr dirty="0" sz="2400" spc="-10" b="1" i="1">
                <a:latin typeface="Times New Roman"/>
                <a:cs typeface="Times New Roman"/>
              </a:rPr>
              <a:t> </a:t>
            </a:r>
            <a:r>
              <a:rPr dirty="0" sz="2400" spc="-5" b="1" i="1">
                <a:latin typeface="Times New Roman"/>
                <a:cs typeface="Times New Roman"/>
              </a:rPr>
              <a:t>another</a:t>
            </a:r>
            <a:r>
              <a:rPr dirty="0" sz="2400" spc="5" b="1" i="1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file</a:t>
            </a:r>
            <a:endParaRPr sz="2400">
              <a:latin typeface="Times New Roman"/>
              <a:cs typeface="Times New Roman"/>
            </a:endParaRPr>
          </a:p>
          <a:p>
            <a:pPr marL="317500" marR="1614170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printf("%f",</a:t>
            </a:r>
            <a:r>
              <a:rPr dirty="0" sz="2400" spc="-1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extern_var); </a:t>
            </a:r>
            <a:r>
              <a:rPr dirty="0" sz="2400" spc="-5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return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0;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Output:</a:t>
            </a:r>
            <a:r>
              <a:rPr dirty="0" sz="2400" spc="-4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19.000000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dc:title>INTRODUCTION TO C</dc:title>
  <dcterms:created xsi:type="dcterms:W3CDTF">2023-03-15T17:04:39Z</dcterms:created>
  <dcterms:modified xsi:type="dcterms:W3CDTF">2023-03-15T17:04:39Z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2023-03-07T00:00:00Z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2023-03-15T00:00:00Z</vt:filetime>
  </property>
</Properties>
</file>