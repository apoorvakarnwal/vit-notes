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86" r:id="rId3"/>
    <p:sldId id="28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8" r:id="rId30"/>
    <p:sldId id="284" r:id="rId31"/>
    <p:sldId id="282" r:id="rId32"/>
    <p:sldId id="283" r:id="rId33"/>
    <p:sldId id="289" r:id="rId34"/>
    <p:sldId id="290" r:id="rId3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6963" y="203454"/>
            <a:ext cx="11498072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004" y="208610"/>
            <a:ext cx="1161999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4154" y="1291297"/>
            <a:ext cx="11143691" cy="4631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366" y="6439276"/>
            <a:ext cx="243840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1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pPr marL="50165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154" y="457200"/>
            <a:ext cx="11143691" cy="4924425"/>
          </a:xfrm>
        </p:spPr>
        <p:txBody>
          <a:bodyPr/>
          <a:lstStyle/>
          <a:p>
            <a:pPr algn="ctr"/>
            <a:r>
              <a:rPr lang="en-US" sz="5400" dirty="0" smtClean="0">
                <a:solidFill>
                  <a:srgbClr val="FF0000"/>
                </a:solidFill>
              </a:rPr>
              <a:t>BCSE102L Structured and Object Oriented Programming </a:t>
            </a:r>
          </a:p>
          <a:p>
            <a:endParaRPr lang="en-US" dirty="0" smtClean="0"/>
          </a:p>
          <a:p>
            <a:pPr algn="ctr"/>
            <a:r>
              <a:rPr lang="en-US" sz="4400" b="1" dirty="0" err="1" smtClean="0">
                <a:solidFill>
                  <a:schemeClr val="tx2"/>
                </a:solidFill>
              </a:rPr>
              <a:t>Dr.S.Sreethar</a:t>
            </a:r>
            <a:endParaRPr lang="en-US" sz="4400" b="1" dirty="0" smtClean="0">
              <a:solidFill>
                <a:schemeClr val="tx2"/>
              </a:solidFill>
            </a:endParaRPr>
          </a:p>
          <a:p>
            <a:pPr algn="ctr"/>
            <a:r>
              <a:rPr lang="en-US" b="1" dirty="0" smtClean="0">
                <a:solidFill>
                  <a:schemeClr val="tx2"/>
                </a:solidFill>
              </a:rPr>
              <a:t> Associate Professor</a:t>
            </a:r>
          </a:p>
          <a:p>
            <a:pPr algn="ctr"/>
            <a:r>
              <a:rPr lang="en-US" b="1" dirty="0" smtClean="0">
                <a:solidFill>
                  <a:schemeClr val="tx2"/>
                </a:solidFill>
              </a:rPr>
              <a:t> School of Computer Science and Engineering </a:t>
            </a:r>
          </a:p>
          <a:p>
            <a:pPr algn="ctr"/>
            <a:r>
              <a:rPr lang="en-US" b="1" dirty="0" smtClean="0">
                <a:solidFill>
                  <a:schemeClr val="tx2"/>
                </a:solidFill>
              </a:rPr>
              <a:t>Cabin: PRP217[1]</a:t>
            </a:r>
          </a:p>
          <a:p>
            <a:pPr algn="ctr"/>
            <a:r>
              <a:rPr lang="en-US" b="1" dirty="0" smtClean="0">
                <a:solidFill>
                  <a:schemeClr val="tx2"/>
                </a:solidFill>
              </a:rPr>
              <a:t> Email: sreethar.s@vit.ac.in </a:t>
            </a:r>
          </a:p>
          <a:p>
            <a:pPr algn="ctr"/>
            <a:r>
              <a:rPr lang="en-US" b="1" dirty="0" smtClean="0">
                <a:solidFill>
                  <a:schemeClr val="tx2"/>
                </a:solidFill>
              </a:rPr>
              <a:t>+91 8220123102</a:t>
            </a:r>
            <a:endParaRPr 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154" y="228600"/>
            <a:ext cx="11286846" cy="6400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04800"/>
            <a:ext cx="10139140" cy="601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2450" y="2562225"/>
            <a:ext cx="110871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82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History</a:t>
            </a:r>
            <a:r>
              <a:rPr spc="-155" dirty="0"/>
              <a:t> </a:t>
            </a:r>
            <a:r>
              <a:rPr spc="-15" dirty="0"/>
              <a:t>of</a:t>
            </a:r>
            <a:r>
              <a:rPr spc="-105" dirty="0"/>
              <a:t> 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358120" cy="2456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  <a:tab pos="611505" algn="l"/>
              </a:tabLst>
            </a:pPr>
            <a:r>
              <a:rPr sz="2800" spc="-5" dirty="0">
                <a:latin typeface="Calibri"/>
                <a:cs typeface="Calibri"/>
              </a:rPr>
              <a:t>It	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most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popular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Structured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machine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independent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 </a:t>
            </a:r>
            <a:r>
              <a:rPr sz="2800" spc="-15" dirty="0">
                <a:latin typeface="Calibri"/>
                <a:cs typeface="Calibri"/>
              </a:rPr>
              <a:t>was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evolved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ALGOL</a:t>
            </a:r>
            <a:r>
              <a:rPr sz="28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CPL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BCPL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28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Unix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popular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network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operating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entirely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495" y="228092"/>
            <a:ext cx="5717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Who?</a:t>
            </a:r>
            <a:r>
              <a:rPr sz="4000" spc="-100" dirty="0"/>
              <a:t> </a:t>
            </a:r>
            <a:r>
              <a:rPr sz="4000" spc="-35" dirty="0"/>
              <a:t>When?</a:t>
            </a:r>
            <a:r>
              <a:rPr sz="4000" spc="-105" dirty="0"/>
              <a:t> </a:t>
            </a:r>
            <a:r>
              <a:rPr sz="4000" spc="-45" dirty="0"/>
              <a:t>Where?</a:t>
            </a:r>
            <a:r>
              <a:rPr sz="4000" spc="-110" dirty="0"/>
              <a:t> </a:t>
            </a:r>
            <a:r>
              <a:rPr sz="4000" spc="-55" dirty="0"/>
              <a:t>Why?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031619" y="1360169"/>
            <a:ext cx="971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Wh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1801" y="1360169"/>
            <a:ext cx="16084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Calibri"/>
                <a:cs typeface="Calibri"/>
              </a:rPr>
              <a:t>Dennis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Ritche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1619" y="2105101"/>
            <a:ext cx="136271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Calibri"/>
                <a:cs typeface="Calibri"/>
              </a:rPr>
              <a:t>Whe</a:t>
            </a:r>
            <a:r>
              <a:rPr sz="2600" spc="-4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e?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3152" y="2105101"/>
            <a:ext cx="437832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0" dirty="0">
                <a:latin typeface="Calibri"/>
                <a:cs typeface="Calibri"/>
              </a:rPr>
              <a:t>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T’s </a:t>
            </a:r>
            <a:r>
              <a:rPr sz="2600" dirty="0">
                <a:latin typeface="Calibri"/>
                <a:cs typeface="Calibri"/>
              </a:rPr>
              <a:t>Bell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Laboratories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USA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1619" y="2914904"/>
            <a:ext cx="12604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Calibri"/>
                <a:cs typeface="Calibri"/>
              </a:rPr>
              <a:t>When?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5818" y="2914904"/>
            <a:ext cx="780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1972.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1619" y="3724402"/>
            <a:ext cx="44513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  <a:tab pos="1722120" algn="l"/>
              </a:tabLst>
            </a:pPr>
            <a:r>
              <a:rPr sz="2600" spc="-15" dirty="0">
                <a:latin typeface="Calibri"/>
                <a:cs typeface="Calibri"/>
              </a:rPr>
              <a:t>Why?	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reliable,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friendly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1619" y="4532121"/>
            <a:ext cx="185038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Calibri"/>
                <a:cs typeface="Calibri"/>
              </a:rPr>
              <a:t>What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next?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4810" y="5297525"/>
            <a:ext cx="22275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079" indent="-247015">
              <a:lnSpc>
                <a:spcPct val="100000"/>
              </a:lnSpc>
              <a:spcBef>
                <a:spcPts val="95"/>
              </a:spcBef>
              <a:buFont typeface="Segoe UI Symbol"/>
              <a:buChar char="⚫"/>
              <a:tabLst>
                <a:tab pos="259715" algn="l"/>
              </a:tabLst>
            </a:pPr>
            <a:r>
              <a:rPr sz="2200" spc="-5" dirty="0">
                <a:latin typeface="Calibri"/>
                <a:cs typeface="Calibri"/>
              </a:rPr>
              <a:t>C++, </a:t>
            </a:r>
            <a:r>
              <a:rPr sz="2200" spc="-25" dirty="0">
                <a:latin typeface="Calibri"/>
                <a:cs typeface="Calibri"/>
              </a:rPr>
              <a:t>Java </a:t>
            </a:r>
            <a:r>
              <a:rPr sz="2200" spc="-5" dirty="0">
                <a:latin typeface="Calibri"/>
                <a:cs typeface="Calibri"/>
              </a:rPr>
              <a:t>=&gt; </a:t>
            </a:r>
            <a:r>
              <a:rPr sz="2200" spc="-10" dirty="0">
                <a:latin typeface="Calibri"/>
                <a:cs typeface="Calibri"/>
              </a:rPr>
              <a:t>OOP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19357" y="4489703"/>
            <a:ext cx="2211705" cy="713740"/>
            <a:chOff x="4119357" y="4489703"/>
            <a:chExt cx="2211705" cy="71374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9357" y="4509537"/>
              <a:ext cx="976911" cy="6324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3775" y="4489703"/>
              <a:ext cx="608076" cy="7132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3" y="4539995"/>
              <a:ext cx="876300" cy="5242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3395" y="4654295"/>
              <a:ext cx="304800" cy="3337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2831" y="4693919"/>
              <a:ext cx="185927" cy="2164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7047" y="4500371"/>
              <a:ext cx="993648" cy="6416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8863" y="4489703"/>
              <a:ext cx="886967" cy="7132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6483" y="4539995"/>
              <a:ext cx="874776" cy="52425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520946" y="4589475"/>
            <a:ext cx="15398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8550" algn="l"/>
              </a:tabLst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C	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200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300215" y="4489703"/>
            <a:ext cx="1257300" cy="713740"/>
            <a:chOff x="6300215" y="4489703"/>
            <a:chExt cx="1257300" cy="71374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0215" y="4654295"/>
              <a:ext cx="304799" cy="3337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9651" y="4693919"/>
              <a:ext cx="185927" cy="2164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62343" y="4500371"/>
              <a:ext cx="995172" cy="6416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92823" y="4489703"/>
              <a:ext cx="932687" cy="7132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21779" y="4539995"/>
              <a:ext cx="876300" cy="52425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810247" y="4589475"/>
            <a:ext cx="4997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53949"/>
            <a:ext cx="67443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/>
              <a:t>Why</a:t>
            </a:r>
            <a:r>
              <a:rPr sz="4000" spc="-85" dirty="0"/>
              <a:t> </a:t>
            </a:r>
            <a:r>
              <a:rPr sz="4000" spc="-5" dirty="0"/>
              <a:t>C</a:t>
            </a:r>
            <a:r>
              <a:rPr sz="4000" spc="-70" dirty="0"/>
              <a:t> </a:t>
            </a:r>
            <a:r>
              <a:rPr sz="4000" spc="-5" dirty="0"/>
              <a:t>is</a:t>
            </a:r>
            <a:r>
              <a:rPr sz="4000" spc="-65" dirty="0"/>
              <a:t> </a:t>
            </a:r>
            <a:r>
              <a:rPr sz="4000" spc="-30" dirty="0"/>
              <a:t>Middle</a:t>
            </a:r>
            <a:r>
              <a:rPr sz="4000" spc="-100" dirty="0"/>
              <a:t> </a:t>
            </a:r>
            <a:r>
              <a:rPr sz="4000" spc="-35" dirty="0"/>
              <a:t>Level</a:t>
            </a:r>
            <a:r>
              <a:rPr sz="4000" spc="-90" dirty="0"/>
              <a:t> </a:t>
            </a:r>
            <a:r>
              <a:rPr sz="4000" spc="-35" dirty="0"/>
              <a:t>Language</a:t>
            </a:r>
            <a:r>
              <a:rPr sz="4000" spc="-100" dirty="0"/>
              <a:t> </a:t>
            </a:r>
            <a:r>
              <a:rPr sz="4000" spc="-5" dirty="0"/>
              <a:t>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95071" y="1286151"/>
            <a:ext cx="10358755" cy="335152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Programming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supports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Inline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Assembly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Programs</a:t>
            </a:r>
            <a:endParaRPr sz="2800">
              <a:latin typeface="Calibri"/>
              <a:cs typeface="Calibri"/>
            </a:endParaRPr>
          </a:p>
          <a:p>
            <a:pPr marL="240665" marR="508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1177925" algn="l"/>
                <a:tab pos="2106295" algn="l"/>
                <a:tab pos="3578860" algn="l"/>
                <a:tab pos="5015865" algn="l"/>
                <a:tab pos="6194425" algn="l"/>
                <a:tab pos="6595109" algn="l"/>
                <a:tab pos="7006590" algn="l"/>
                <a:tab pos="7569200" algn="l"/>
                <a:tab pos="8208009" algn="l"/>
                <a:tab pos="9418320" algn="l"/>
              </a:tabLst>
            </a:pPr>
            <a:r>
              <a:rPr sz="2800" spc="-5" dirty="0">
                <a:latin typeface="Calibri"/>
                <a:cs typeface="Calibri"/>
              </a:rPr>
              <a:t>Using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2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line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assembly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la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gua</a:t>
            </a:r>
            <a:r>
              <a:rPr sz="2800" spc="-30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tu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w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di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ectly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ac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ess 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registers.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Programming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directly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pointer.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 </a:t>
            </a:r>
            <a:r>
              <a:rPr sz="2800" spc="-15" dirty="0">
                <a:latin typeface="Calibri"/>
                <a:cs typeface="Calibri"/>
              </a:rPr>
              <a:t>Programming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also </a:t>
            </a:r>
            <a:r>
              <a:rPr sz="2800" spc="-10" dirty="0">
                <a:latin typeface="Calibri"/>
                <a:cs typeface="Calibri"/>
              </a:rPr>
              <a:t>Supports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Level </a:t>
            </a:r>
            <a:r>
              <a:rPr sz="2800" spc="-10" dirty="0">
                <a:latin typeface="Calibri"/>
                <a:cs typeface="Calibri"/>
              </a:rPr>
              <a:t>Language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Features.</a:t>
            </a:r>
            <a:endParaRPr sz="2800">
              <a:latin typeface="Calibri"/>
              <a:cs typeface="Calibri"/>
            </a:endParaRPr>
          </a:p>
          <a:p>
            <a:pPr marL="240665" marR="6350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  <a:tab pos="628015" algn="l"/>
                <a:tab pos="1027430" algn="l"/>
                <a:tab pos="1972310" algn="l"/>
                <a:tab pos="2820035" algn="l"/>
                <a:tab pos="4103370" algn="l"/>
                <a:tab pos="4591050" algn="l"/>
                <a:tab pos="6042025" algn="l"/>
                <a:tab pos="6525259" algn="l"/>
                <a:tab pos="7936230" algn="l"/>
                <a:tab pos="9648190" algn="l"/>
                <a:tab pos="10154285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mo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User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fr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endly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com</a:t>
            </a:r>
            <a:r>
              <a:rPr sz="2800" spc="-20" dirty="0">
                <a:latin typeface="Calibri"/>
                <a:cs typeface="Calibri"/>
              </a:rPr>
              <a:t>p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v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5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u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ngua</a:t>
            </a:r>
            <a:r>
              <a:rPr sz="2800" spc="-30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  </a:t>
            </a:r>
            <a:r>
              <a:rPr sz="2800" spc="-20" dirty="0">
                <a:latin typeface="Calibri"/>
                <a:cs typeface="Calibri"/>
              </a:rPr>
              <a:t>programming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Middle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Level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0"/>
            <a:ext cx="67443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/>
              <a:t>Why</a:t>
            </a:r>
            <a:r>
              <a:rPr sz="4000" spc="-85" dirty="0"/>
              <a:t> </a:t>
            </a:r>
            <a:r>
              <a:rPr sz="4000" spc="-5" dirty="0"/>
              <a:t>C</a:t>
            </a:r>
            <a:r>
              <a:rPr sz="4000" spc="-75" dirty="0"/>
              <a:t> </a:t>
            </a:r>
            <a:r>
              <a:rPr sz="4000" spc="-5" dirty="0"/>
              <a:t>is</a:t>
            </a:r>
            <a:r>
              <a:rPr sz="4000" spc="-65" dirty="0"/>
              <a:t> </a:t>
            </a:r>
            <a:r>
              <a:rPr sz="4000" spc="-30" dirty="0"/>
              <a:t>Middle</a:t>
            </a:r>
            <a:r>
              <a:rPr sz="4000" spc="-105" dirty="0"/>
              <a:t> </a:t>
            </a:r>
            <a:r>
              <a:rPr sz="4000" spc="-35" dirty="0"/>
              <a:t>Level</a:t>
            </a:r>
            <a:r>
              <a:rPr sz="4000" spc="-85" dirty="0"/>
              <a:t> </a:t>
            </a:r>
            <a:r>
              <a:rPr sz="4000" spc="-35" dirty="0"/>
              <a:t>Language</a:t>
            </a:r>
            <a:r>
              <a:rPr sz="4000" spc="-105" dirty="0"/>
              <a:t> </a:t>
            </a:r>
            <a:r>
              <a:rPr sz="4000" spc="-5" dirty="0"/>
              <a:t>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64363" y="1166824"/>
            <a:ext cx="11012805" cy="46716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 algn="just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</a:t>
            </a:r>
            <a:r>
              <a:rPr sz="2800" spc="-5" dirty="0">
                <a:latin typeface="Calibri"/>
                <a:cs typeface="Calibri"/>
              </a:rPr>
              <a:t> middle-level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because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-5" dirty="0">
                <a:latin typeface="Calibri"/>
                <a:cs typeface="Calibri"/>
              </a:rPr>
              <a:t> actually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bind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gap 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machine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level </a:t>
            </a:r>
            <a:r>
              <a:rPr sz="2800" spc="-5" dirty="0">
                <a:latin typeface="Calibri"/>
                <a:cs typeface="Calibri"/>
              </a:rPr>
              <a:t>language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high-level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languages.</a:t>
            </a:r>
            <a:endParaRPr sz="2800">
              <a:latin typeface="Calibri"/>
              <a:cs typeface="Calibri"/>
            </a:endParaRPr>
          </a:p>
          <a:p>
            <a:pPr marL="241300" marR="7620" indent="-228600" algn="just">
              <a:lnSpc>
                <a:spcPts val="303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User </a:t>
            </a:r>
            <a:r>
              <a:rPr sz="2800" spc="-10" dirty="0">
                <a:latin typeface="Calibri"/>
                <a:cs typeface="Calibri"/>
              </a:rPr>
              <a:t>can use </a:t>
            </a:r>
            <a:r>
              <a:rPr sz="2800" spc="-5" dirty="0">
                <a:latin typeface="Calibri"/>
                <a:cs typeface="Calibri"/>
              </a:rPr>
              <a:t>c language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do </a:t>
            </a:r>
            <a:r>
              <a:rPr sz="2800" b="1" spc="-30" dirty="0">
                <a:latin typeface="Calibri"/>
                <a:cs typeface="Calibri"/>
              </a:rPr>
              <a:t>System </a:t>
            </a:r>
            <a:r>
              <a:rPr sz="2800" b="1" spc="-15" dirty="0">
                <a:latin typeface="Calibri"/>
                <a:cs typeface="Calibri"/>
              </a:rPr>
              <a:t>Programming </a:t>
            </a:r>
            <a:r>
              <a:rPr sz="2800" spc="-20" dirty="0">
                <a:latin typeface="Calibri"/>
                <a:cs typeface="Calibri"/>
              </a:rPr>
              <a:t>(for </a:t>
            </a:r>
            <a:r>
              <a:rPr sz="2800" spc="-5" dirty="0">
                <a:latin typeface="Calibri"/>
                <a:cs typeface="Calibri"/>
              </a:rPr>
              <a:t>writing </a:t>
            </a:r>
            <a:r>
              <a:rPr sz="2800" spc="-20" dirty="0">
                <a:latin typeface="Calibri"/>
                <a:cs typeface="Calibri"/>
              </a:rPr>
              <a:t>operating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system)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well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b="1" spc="-10" dirty="0">
                <a:latin typeface="Calibri"/>
                <a:cs typeface="Calibri"/>
              </a:rPr>
              <a:t>Application </a:t>
            </a:r>
            <a:r>
              <a:rPr sz="2800" b="1" spc="-15" dirty="0">
                <a:latin typeface="Calibri"/>
                <a:cs typeface="Calibri"/>
              </a:rPr>
              <a:t>Programming </a:t>
            </a:r>
            <a:r>
              <a:rPr sz="2800" spc="-20" dirty="0">
                <a:latin typeface="Calibri"/>
                <a:cs typeface="Calibri"/>
              </a:rPr>
              <a:t>(for generate </a:t>
            </a:r>
            <a:r>
              <a:rPr sz="2800" spc="-5" dirty="0">
                <a:latin typeface="Calibri"/>
                <a:cs typeface="Calibri"/>
              </a:rPr>
              <a:t>menu </a:t>
            </a:r>
            <a:r>
              <a:rPr sz="2800" spc="-10" dirty="0">
                <a:latin typeface="Calibri"/>
                <a:cs typeface="Calibri"/>
              </a:rPr>
              <a:t>driven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customer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billing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).</a:t>
            </a:r>
            <a:endParaRPr sz="2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800" spc="-10" dirty="0">
                <a:latin typeface="Calibri"/>
                <a:cs typeface="Calibri"/>
              </a:rPr>
              <a:t>That's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middle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level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High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level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Modula-2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Pascal,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COBOL,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FORTRAN,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BASIC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Middle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level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Java,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C++,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FORTH,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Macro-assemble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Low </a:t>
            </a:r>
            <a:r>
              <a:rPr sz="2800" b="1" spc="-15" dirty="0">
                <a:latin typeface="Calibri"/>
                <a:cs typeface="Calibri"/>
              </a:rPr>
              <a:t>level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 Assembler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919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Features</a:t>
            </a:r>
            <a:r>
              <a:rPr spc="-140" dirty="0"/>
              <a:t> </a:t>
            </a:r>
            <a:r>
              <a:rPr spc="-15" dirty="0"/>
              <a:t>of</a:t>
            </a:r>
            <a:r>
              <a:rPr spc="-110" dirty="0"/>
              <a:t> 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83987"/>
            <a:ext cx="8013065" cy="49104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spc="-5" dirty="0">
                <a:latin typeface="Calibri"/>
                <a:cs typeface="Calibri"/>
              </a:rPr>
              <a:t>General-purpose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Structured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language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spc="-10" dirty="0">
                <a:latin typeface="Calibri"/>
                <a:cs typeface="Calibri"/>
              </a:rPr>
              <a:t>Free</a:t>
            </a:r>
            <a:r>
              <a:rPr sz="2600" spc="-20" dirty="0">
                <a:latin typeface="Calibri"/>
                <a:cs typeface="Calibri"/>
              </a:rPr>
              <a:t> format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" dirty="0">
                <a:latin typeface="Calibri"/>
                <a:cs typeface="Calibri"/>
              </a:rPr>
              <a:t> case-sensitive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language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spc="-20" dirty="0">
                <a:latin typeface="Calibri"/>
                <a:cs typeface="Calibri"/>
              </a:rPr>
              <a:t>System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Programming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language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spc="-25" dirty="0">
                <a:latin typeface="Calibri"/>
                <a:cs typeface="Calibri"/>
              </a:rPr>
              <a:t>Fast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running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efficient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language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independent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hence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portable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84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spc="-5" dirty="0">
                <a:latin typeface="Calibri"/>
                <a:cs typeface="Calibri"/>
              </a:rPr>
              <a:t>Supports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limited</a:t>
            </a:r>
            <a:r>
              <a:rPr sz="2600" spc="-10" dirty="0">
                <a:latin typeface="Calibri"/>
                <a:cs typeface="Calibri"/>
              </a:rPr>
              <a:t> data-types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Commands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inserted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anywhere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program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address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directly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using</a:t>
            </a:r>
            <a:r>
              <a:rPr sz="2600" spc="-15" dirty="0">
                <a:latin typeface="Calibri"/>
                <a:cs typeface="Calibri"/>
              </a:rPr>
              <a:t> pointers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84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spc="-5" dirty="0">
                <a:latin typeface="Calibri"/>
                <a:cs typeface="Calibri"/>
              </a:rPr>
              <a:t>Supports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modularity</a:t>
            </a:r>
            <a:endParaRPr sz="26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70"/>
              </a:spcBef>
              <a:buAutoNum type="arabicPeriod"/>
              <a:tabLst>
                <a:tab pos="528320" algn="l"/>
              </a:tabLst>
            </a:pPr>
            <a:r>
              <a:rPr sz="2600" spc="-5" dirty="0">
                <a:latin typeface="Calibri"/>
                <a:cs typeface="Calibri"/>
              </a:rPr>
              <a:t>Permits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recursion</a:t>
            </a:r>
            <a:endParaRPr sz="2600">
              <a:latin typeface="Calibri"/>
              <a:cs typeface="Calibri"/>
            </a:endParaRPr>
          </a:p>
          <a:p>
            <a:pPr marL="602615" indent="-59055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602615" algn="l"/>
                <a:tab pos="603250" algn="l"/>
              </a:tabLst>
            </a:pPr>
            <a:r>
              <a:rPr sz="2600" spc="-10" dirty="0">
                <a:latin typeface="Calibri"/>
                <a:cs typeface="Calibri"/>
              </a:rPr>
              <a:t>More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built-in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63525"/>
            <a:ext cx="4705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All</a:t>
            </a:r>
            <a:r>
              <a:rPr spc="-75" dirty="0"/>
              <a:t> </a:t>
            </a:r>
            <a:r>
              <a:rPr spc="-20" dirty="0"/>
              <a:t>the</a:t>
            </a:r>
            <a:r>
              <a:rPr spc="-105" dirty="0"/>
              <a:t> </a:t>
            </a:r>
            <a:r>
              <a:rPr spc="-35" dirty="0"/>
              <a:t>world</a:t>
            </a:r>
            <a:r>
              <a:rPr spc="-125" dirty="0"/>
              <a:t> </a:t>
            </a:r>
            <a:r>
              <a:rPr spc="-10" dirty="0"/>
              <a:t>is</a:t>
            </a:r>
            <a:r>
              <a:rPr spc="-70" dirty="0"/>
              <a:t> </a:t>
            </a:r>
            <a:r>
              <a:rPr spc="-10" dirty="0"/>
              <a:t>in</a:t>
            </a:r>
            <a:r>
              <a:rPr spc="-100" dirty="0"/>
              <a:t> </a:t>
            </a:r>
            <a:r>
              <a:rPr spc="55" dirty="0"/>
              <a:t>“C”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603" y="1297520"/>
            <a:ext cx="10159365" cy="35433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Windows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/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UNIX /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LINUX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Device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Drivers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Mobile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Microprocessor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washing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machine,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digital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camera,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microwave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oven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3D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Games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still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written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3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best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736" y="311658"/>
            <a:ext cx="4609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000000"/>
                </a:solidFill>
              </a:rPr>
              <a:t>Structure</a:t>
            </a:r>
            <a:r>
              <a:rPr sz="4000" spc="-125" dirty="0">
                <a:solidFill>
                  <a:srgbClr val="000000"/>
                </a:solidFill>
              </a:rPr>
              <a:t> </a:t>
            </a:r>
            <a:r>
              <a:rPr sz="4000" spc="-15" dirty="0">
                <a:solidFill>
                  <a:srgbClr val="000000"/>
                </a:solidFill>
              </a:rPr>
              <a:t>of</a:t>
            </a:r>
            <a:r>
              <a:rPr sz="4000" spc="-65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C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spc="-55" dirty="0">
                <a:solidFill>
                  <a:srgbClr val="000000"/>
                </a:solidFill>
              </a:rPr>
              <a:t>Program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9096" y="268224"/>
            <a:ext cx="6760464" cy="60883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736" y="311658"/>
            <a:ext cx="4559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000000"/>
                </a:solidFill>
              </a:rPr>
              <a:t>An</a:t>
            </a:r>
            <a:r>
              <a:rPr sz="4000" spc="-85" dirty="0">
                <a:solidFill>
                  <a:srgbClr val="000000"/>
                </a:solidFill>
              </a:rPr>
              <a:t> </a:t>
            </a:r>
            <a:r>
              <a:rPr sz="4000" spc="-45" dirty="0">
                <a:solidFill>
                  <a:srgbClr val="000000"/>
                </a:solidFill>
              </a:rPr>
              <a:t>Example</a:t>
            </a:r>
            <a:r>
              <a:rPr sz="4000" spc="-120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C</a:t>
            </a:r>
            <a:r>
              <a:rPr sz="4000" spc="-75" dirty="0">
                <a:solidFill>
                  <a:srgbClr val="000000"/>
                </a:solidFill>
              </a:rPr>
              <a:t> </a:t>
            </a:r>
            <a:r>
              <a:rPr sz="4000" spc="-55" dirty="0">
                <a:solidFill>
                  <a:srgbClr val="000000"/>
                </a:solidFill>
              </a:rPr>
              <a:t>Program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60603" y="1297520"/>
            <a:ext cx="4641215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Calibri"/>
                <a:cs typeface="Calibri"/>
              </a:rPr>
              <a:t>main(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15" dirty="0">
                <a:latin typeface="Calibri"/>
                <a:cs typeface="Calibri"/>
              </a:rPr>
              <a:t>printf(“Welcome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BCSE102L”);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-5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7561" y="1297520"/>
            <a:ext cx="4213860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Calibri"/>
                <a:cs typeface="Calibri"/>
              </a:rPr>
              <a:t>//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name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Calibri"/>
                <a:cs typeface="Calibri"/>
              </a:rPr>
              <a:t>//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Start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Calibri"/>
                <a:cs typeface="Calibri"/>
              </a:rPr>
              <a:t>//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-5" dirty="0">
                <a:latin typeface="Calibri"/>
                <a:cs typeface="Calibri"/>
              </a:rPr>
              <a:t>// </a:t>
            </a:r>
            <a:r>
              <a:rPr sz="2800" spc="-10" dirty="0">
                <a:latin typeface="Calibri"/>
                <a:cs typeface="Calibri"/>
              </a:rPr>
              <a:t>End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603" y="3855556"/>
            <a:ext cx="3253740" cy="10477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b="1" spc="-10" dirty="0">
                <a:latin typeface="Calibri"/>
                <a:cs typeface="Calibri"/>
              </a:rPr>
              <a:t>Output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25" dirty="0">
                <a:latin typeface="Calibri"/>
                <a:cs typeface="Calibri"/>
              </a:rPr>
              <a:t>Welcome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BCSE102L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736" y="311658"/>
            <a:ext cx="34721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000000"/>
                </a:solidFill>
              </a:rPr>
              <a:t>Another</a:t>
            </a:r>
            <a:r>
              <a:rPr sz="4000" spc="-140" dirty="0">
                <a:solidFill>
                  <a:srgbClr val="000000"/>
                </a:solidFill>
              </a:rPr>
              <a:t> </a:t>
            </a:r>
            <a:r>
              <a:rPr sz="4000" spc="-45" dirty="0">
                <a:solidFill>
                  <a:srgbClr val="000000"/>
                </a:solidFill>
              </a:rPr>
              <a:t>Example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60603" y="1088777"/>
            <a:ext cx="2482850" cy="509016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2200" spc="-5" dirty="0">
                <a:latin typeface="Calibri"/>
                <a:cs typeface="Calibri"/>
              </a:rPr>
              <a:t>main(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Calibri"/>
                <a:cs typeface="Calibri"/>
              </a:rPr>
              <a:t>{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 spc="-15" dirty="0">
                <a:latin typeface="Calibri"/>
                <a:cs typeface="Calibri"/>
              </a:rPr>
              <a:t>int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b="1" spc="-15" dirty="0">
                <a:latin typeface="Calibri"/>
                <a:cs typeface="Calibri"/>
              </a:rPr>
              <a:t>int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amount;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07900"/>
              </a:lnSpc>
            </a:pPr>
            <a:r>
              <a:rPr sz="2200" spc="-5" dirty="0">
                <a:latin typeface="Calibri"/>
                <a:cs typeface="Calibri"/>
              </a:rPr>
              <a:t>number=100;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amount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=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50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+ 40;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printf(“%d”, </a:t>
            </a:r>
            <a:r>
              <a:rPr sz="2200" spc="-10" dirty="0">
                <a:latin typeface="Calibri"/>
                <a:cs typeface="Calibri"/>
              </a:rPr>
              <a:t>number);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printf(“%d”,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amount);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spc="-5" dirty="0">
                <a:latin typeface="Calibri"/>
                <a:cs typeface="Calibri"/>
              </a:rPr>
              <a:t>}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latin typeface="Calibri"/>
                <a:cs typeface="Calibri"/>
              </a:rPr>
              <a:t>Output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spc="-5" dirty="0">
                <a:latin typeface="Calibri"/>
                <a:cs typeface="Calibri"/>
              </a:rPr>
              <a:t>100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Calibri"/>
                <a:cs typeface="Calibri"/>
              </a:rPr>
              <a:t>90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7561" y="1451000"/>
            <a:ext cx="2880995" cy="328167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200" spc="-5" dirty="0">
                <a:latin typeface="Calibri"/>
                <a:cs typeface="Calibri"/>
              </a:rPr>
              <a:t>//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Start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 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program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200" spc="-5" dirty="0">
                <a:latin typeface="Calibri"/>
                <a:cs typeface="Calibri"/>
              </a:rPr>
              <a:t>//</a:t>
            </a:r>
            <a:r>
              <a:rPr sz="2200" spc="-15" dirty="0">
                <a:latin typeface="Calibri"/>
                <a:cs typeface="Calibri"/>
              </a:rPr>
              <a:t> Declaration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// </a:t>
            </a:r>
            <a:r>
              <a:rPr sz="2200" spc="-10" dirty="0">
                <a:latin typeface="Calibri"/>
                <a:cs typeface="Calibri"/>
              </a:rPr>
              <a:t>assignment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statement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// </a:t>
            </a:r>
            <a:r>
              <a:rPr sz="2200" spc="-10" dirty="0">
                <a:latin typeface="Calibri"/>
                <a:cs typeface="Calibri"/>
              </a:rPr>
              <a:t>printing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output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//</a:t>
            </a:r>
            <a:r>
              <a:rPr sz="2200" spc="-10" dirty="0">
                <a:latin typeface="Calibri"/>
                <a:cs typeface="Calibri"/>
              </a:rPr>
              <a:t> End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program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713" y="204596"/>
            <a:ext cx="39687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000000"/>
                </a:solidFill>
              </a:rPr>
              <a:t>Execution</a:t>
            </a:r>
            <a:r>
              <a:rPr spc="-15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1301496"/>
            <a:ext cx="5550408" cy="43144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4264" y="2692907"/>
            <a:ext cx="5113020" cy="35920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450926"/>
            <a:ext cx="1943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135" dirty="0"/>
              <a:t> </a:t>
            </a:r>
            <a:r>
              <a:rPr spc="-125" dirty="0"/>
              <a:t>Tokens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1455419"/>
            <a:ext cx="8845296" cy="4725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46963"/>
            <a:ext cx="43014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Keywords</a:t>
            </a:r>
            <a:r>
              <a:rPr spc="-110" dirty="0"/>
              <a:t> </a:t>
            </a:r>
            <a:r>
              <a:rPr spc="-15" dirty="0"/>
              <a:t>of</a:t>
            </a:r>
            <a:r>
              <a:rPr spc="-90" dirty="0"/>
              <a:t> </a:t>
            </a:r>
            <a:r>
              <a:rPr spc="-30" dirty="0"/>
              <a:t>ANSI</a:t>
            </a:r>
            <a:r>
              <a:rPr spc="-95" dirty="0"/>
              <a:t> 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674" y="5931509"/>
            <a:ext cx="6912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Note: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Keywords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should</a:t>
            </a:r>
            <a:r>
              <a:rPr sz="2400" b="1" spc="-5" dirty="0">
                <a:latin typeface="Calibri"/>
                <a:cs typeface="Calibri"/>
              </a:rPr>
              <a:t> not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used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Variable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Names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483" y="1712976"/>
            <a:ext cx="9852660" cy="28468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46963"/>
            <a:ext cx="22491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Identifiers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221485"/>
            <a:ext cx="9427845" cy="458978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400" b="1" spc="-10" dirty="0">
                <a:latin typeface="Calibri"/>
                <a:cs typeface="Calibri"/>
              </a:rPr>
              <a:t>Identifiers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refer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to</a:t>
            </a:r>
            <a:r>
              <a:rPr sz="2400" b="1" dirty="0">
                <a:latin typeface="Calibri"/>
                <a:cs typeface="Calibri"/>
              </a:rPr>
              <a:t> names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 </a:t>
            </a:r>
            <a:r>
              <a:rPr sz="2400" b="1" spc="-5" dirty="0">
                <a:latin typeface="Calibri"/>
                <a:cs typeface="Calibri"/>
              </a:rPr>
              <a:t>variables,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functions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arrays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24600"/>
              </a:lnSpc>
              <a:spcBef>
                <a:spcPts val="15"/>
              </a:spcBef>
            </a:pPr>
            <a:r>
              <a:rPr sz="2400" b="1" spc="-5" dirty="0">
                <a:latin typeface="Calibri"/>
                <a:cs typeface="Calibri"/>
              </a:rPr>
              <a:t>These </a:t>
            </a:r>
            <a:r>
              <a:rPr sz="2400" b="1" spc="-10" dirty="0">
                <a:latin typeface="Calibri"/>
                <a:cs typeface="Calibri"/>
              </a:rPr>
              <a:t>are </a:t>
            </a:r>
            <a:r>
              <a:rPr sz="2400" b="1" spc="-5" dirty="0">
                <a:latin typeface="Calibri"/>
                <a:cs typeface="Calibri"/>
              </a:rPr>
              <a:t>user-defined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names and</a:t>
            </a:r>
            <a:r>
              <a:rPr sz="2400" b="1" spc="-10" dirty="0">
                <a:latin typeface="Calibri"/>
                <a:cs typeface="Calibri"/>
              </a:rPr>
              <a:t> consist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 </a:t>
            </a:r>
            <a:r>
              <a:rPr sz="2400" b="1" spc="-5" dirty="0">
                <a:latin typeface="Calibri"/>
                <a:cs typeface="Calibri"/>
              </a:rPr>
              <a:t>sequence</a:t>
            </a:r>
            <a:r>
              <a:rPr sz="2400" b="1" dirty="0">
                <a:latin typeface="Calibri"/>
                <a:cs typeface="Calibri"/>
              </a:rPr>
              <a:t> of </a:t>
            </a:r>
            <a:r>
              <a:rPr sz="2400" b="1" spc="-15" dirty="0">
                <a:latin typeface="Calibri"/>
                <a:cs typeface="Calibri"/>
              </a:rPr>
              <a:t>letters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digits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Example: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int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sample;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Rules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05"/>
              </a:spcBef>
              <a:buClr>
                <a:srgbClr val="A4A4A4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character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should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alphabet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10"/>
              </a:spcBef>
              <a:buClr>
                <a:srgbClr val="A4A4A4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contain</a:t>
            </a:r>
            <a:r>
              <a:rPr sz="2400" spc="-5" dirty="0">
                <a:latin typeface="Calibri"/>
                <a:cs typeface="Calibri"/>
              </a:rPr>
              <a:t> only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letters,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digits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underscore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20"/>
              </a:spcBef>
              <a:buClr>
                <a:srgbClr val="A4A4A4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Only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first </a:t>
            </a:r>
            <a:r>
              <a:rPr sz="2400" dirty="0">
                <a:latin typeface="Calibri"/>
                <a:cs typeface="Calibri"/>
              </a:rPr>
              <a:t>31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characters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significant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10"/>
              </a:spcBef>
              <a:buClr>
                <a:srgbClr val="A4A4A4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Cannot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keyword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05"/>
              </a:spcBef>
              <a:buClr>
                <a:srgbClr val="A4A4A4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contain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White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0095" y="378332"/>
            <a:ext cx="22085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>
                <a:solidFill>
                  <a:srgbClr val="FF0000"/>
                </a:solidFill>
                <a:latin typeface="Calibri Light"/>
                <a:cs typeface="Calibri Light"/>
              </a:rPr>
              <a:t>Constants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736" y="1316558"/>
            <a:ext cx="10356850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sz="2800" spc="-20" dirty="0">
                <a:latin typeface="Calibri"/>
                <a:cs typeface="Calibri"/>
              </a:rPr>
              <a:t>Constant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hold </a:t>
            </a:r>
            <a:r>
              <a:rPr sz="2800" spc="-20" dirty="0">
                <a:latin typeface="Calibri"/>
                <a:cs typeface="Calibri"/>
              </a:rPr>
              <a:t>fixed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 that</a:t>
            </a:r>
            <a:r>
              <a:rPr sz="2800" spc="-5" dirty="0">
                <a:latin typeface="Calibri"/>
                <a:cs typeface="Calibri"/>
              </a:rPr>
              <a:t> do not </a:t>
            </a:r>
            <a:r>
              <a:rPr sz="2800" spc="-10" dirty="0">
                <a:latin typeface="Calibri"/>
                <a:cs typeface="Calibri"/>
              </a:rPr>
              <a:t>change</a:t>
            </a:r>
            <a:r>
              <a:rPr sz="2800" spc="-5" dirty="0">
                <a:latin typeface="Calibri"/>
                <a:cs typeface="Calibri"/>
              </a:rPr>
              <a:t> during the </a:t>
            </a:r>
            <a:r>
              <a:rPr sz="2800" spc="-15" dirty="0">
                <a:latin typeface="Calibri"/>
                <a:cs typeface="Calibri"/>
              </a:rPr>
              <a:t>execution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7879" y="2211323"/>
            <a:ext cx="7894320" cy="43281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52806"/>
            <a:ext cx="4227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1.</a:t>
            </a:r>
            <a:r>
              <a:rPr spc="-65" dirty="0"/>
              <a:t> </a:t>
            </a:r>
            <a:r>
              <a:rPr spc="-45" dirty="0"/>
              <a:t>Integer</a:t>
            </a:r>
            <a:r>
              <a:rPr spc="-110" dirty="0"/>
              <a:t> </a:t>
            </a:r>
            <a:r>
              <a:rPr spc="-55" dirty="0"/>
              <a:t>Constant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6790" y="1299108"/>
            <a:ext cx="9940925" cy="462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76855">
              <a:lnSpc>
                <a:spcPct val="120000"/>
              </a:lnSpc>
              <a:spcBef>
                <a:spcPts val="100"/>
              </a:spcBef>
            </a:pP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integer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refers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sequence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digits.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Eg: 426,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-8900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Rules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-15" dirty="0">
                <a:latin typeface="Calibri"/>
                <a:cs typeface="Calibri"/>
              </a:rPr>
              <a:t> must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-10" dirty="0">
                <a:latin typeface="Calibri"/>
                <a:cs typeface="Calibri"/>
              </a:rPr>
              <a:t> least one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digit.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decimal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point.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be either</a:t>
            </a:r>
            <a:r>
              <a:rPr sz="2800" spc="-10" dirty="0">
                <a:latin typeface="Calibri"/>
                <a:cs typeface="Calibri"/>
              </a:rPr>
              <a:t> positive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15" dirty="0">
                <a:latin typeface="Calibri"/>
                <a:cs typeface="Calibri"/>
              </a:rPr>
              <a:t> negative.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10" dirty="0">
                <a:latin typeface="Calibri"/>
                <a:cs typeface="Calibri"/>
              </a:rPr>
              <a:t>no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precedes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integer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assumed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positive.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commas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blanks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allowed</a:t>
            </a:r>
            <a:r>
              <a:rPr sz="2800" spc="-5" dirty="0">
                <a:latin typeface="Calibri"/>
                <a:cs typeface="Calibri"/>
              </a:rPr>
              <a:t> within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integer </a:t>
            </a:r>
            <a:r>
              <a:rPr sz="2800" spc="-20" dirty="0">
                <a:latin typeface="Calibri"/>
                <a:cs typeface="Calibri"/>
              </a:rPr>
              <a:t>constant.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A4A4A4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allowable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range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integer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-32768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32767.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52806"/>
            <a:ext cx="36906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Integer</a:t>
            </a:r>
            <a:r>
              <a:rPr spc="-135" dirty="0"/>
              <a:t> </a:t>
            </a:r>
            <a:r>
              <a:rPr spc="-55" dirty="0"/>
              <a:t>Constant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6790" y="1299108"/>
            <a:ext cx="10982960" cy="2839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5" dirty="0">
                <a:latin typeface="Calibri"/>
                <a:cs typeface="Calibri"/>
              </a:rPr>
              <a:t>Three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types: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Clr>
                <a:srgbClr val="A4A4A4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Decimal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integer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consists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set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digits,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through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9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(Eg. 129,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-921,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0)</a:t>
            </a:r>
            <a:endParaRPr sz="2800">
              <a:latin typeface="Calibri"/>
              <a:cs typeface="Calibri"/>
            </a:endParaRPr>
          </a:p>
          <a:p>
            <a:pPr marL="527685" marR="5080" indent="-515620">
              <a:lnSpc>
                <a:spcPts val="3030"/>
              </a:lnSpc>
              <a:spcBef>
                <a:spcPts val="1035"/>
              </a:spcBef>
              <a:buClr>
                <a:srgbClr val="A4A4A4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2800" spc="-15" dirty="0">
                <a:latin typeface="Calibri"/>
                <a:cs typeface="Calibri"/>
              </a:rPr>
              <a:t>Octal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integers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consists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digits,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through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7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leading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0.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(Eg.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0123,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051)</a:t>
            </a:r>
            <a:endParaRPr sz="2800">
              <a:latin typeface="Calibri"/>
              <a:cs typeface="Calibri"/>
            </a:endParaRPr>
          </a:p>
          <a:p>
            <a:pPr marL="527685" marR="809625" indent="-515620">
              <a:lnSpc>
                <a:spcPts val="3020"/>
              </a:lnSpc>
              <a:spcBef>
                <a:spcPts val="994"/>
              </a:spcBef>
              <a:buClr>
                <a:srgbClr val="A4A4A4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2800" spc="-15" dirty="0">
                <a:latin typeface="Calibri"/>
                <a:cs typeface="Calibri"/>
              </a:rPr>
              <a:t>Hexadecimal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integers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consists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set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digits,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through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9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through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40" dirty="0">
                <a:latin typeface="Calibri"/>
                <a:cs typeface="Calibri"/>
              </a:rPr>
              <a:t>F.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Digits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preceded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0x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0X</a:t>
            </a:r>
            <a:r>
              <a:rPr sz="2800" spc="5" dirty="0">
                <a:latin typeface="Calibri"/>
                <a:cs typeface="Calibri"/>
              </a:rPr>
              <a:t> (Eg.</a:t>
            </a:r>
            <a:r>
              <a:rPr sz="2800" spc="-5" dirty="0">
                <a:latin typeface="Calibri"/>
                <a:cs typeface="Calibri"/>
              </a:rPr>
              <a:t> 0x123,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0Xbcd,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0X9F)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55219"/>
            <a:ext cx="6654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2.</a:t>
            </a:r>
            <a:r>
              <a:rPr sz="4000" spc="-60" dirty="0"/>
              <a:t> </a:t>
            </a:r>
            <a:r>
              <a:rPr sz="4000" spc="-30" dirty="0"/>
              <a:t>Floating</a:t>
            </a:r>
            <a:r>
              <a:rPr sz="4000" spc="-90" dirty="0"/>
              <a:t> </a:t>
            </a:r>
            <a:r>
              <a:rPr sz="4000" spc="-50" dirty="0"/>
              <a:t>Point</a:t>
            </a:r>
            <a:r>
              <a:rPr sz="4000" spc="-95" dirty="0"/>
              <a:t> </a:t>
            </a:r>
            <a:r>
              <a:rPr sz="4000" spc="-15" dirty="0"/>
              <a:t>or</a:t>
            </a:r>
            <a:r>
              <a:rPr sz="4000" spc="-60" dirty="0"/>
              <a:t> </a:t>
            </a:r>
            <a:r>
              <a:rPr sz="4000" spc="-45" dirty="0"/>
              <a:t>Real</a:t>
            </a:r>
            <a:r>
              <a:rPr sz="4000" spc="-85" dirty="0"/>
              <a:t> </a:t>
            </a:r>
            <a:r>
              <a:rPr sz="4000" spc="-50" dirty="0"/>
              <a:t>Constant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0778" y="1176654"/>
            <a:ext cx="10587355" cy="47993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27685" marR="6350" indent="-515620">
              <a:lnSpc>
                <a:spcPts val="3020"/>
              </a:lnSpc>
              <a:spcBef>
                <a:spcPts val="480"/>
              </a:spcBef>
              <a:buAutoNum type="arabicPeriod"/>
              <a:tabLst>
                <a:tab pos="527685" algn="l"/>
                <a:tab pos="528320" algn="l"/>
                <a:tab pos="1931670" algn="l"/>
                <a:tab pos="2638425" algn="l"/>
                <a:tab pos="4514850" algn="l"/>
                <a:tab pos="5057140" algn="l"/>
                <a:tab pos="6696075" algn="l"/>
                <a:tab pos="8382000" algn="l"/>
                <a:tab pos="9215755" algn="l"/>
                <a:tab pos="9960610" algn="l"/>
              </a:tabLst>
            </a:pP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ad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qu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2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qu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ti</a:t>
            </a:r>
            <a:r>
              <a:rPr sz="2800" spc="-1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ies</a:t>
            </a:r>
            <a:r>
              <a:rPr sz="2800" dirty="0">
                <a:latin typeface="Calibri"/>
                <a:cs typeface="Calibri"/>
              </a:rPr>
              <a:t>	t</a:t>
            </a:r>
            <a:r>
              <a:rPr sz="2800" spc="-10" dirty="0">
                <a:latin typeface="Calibri"/>
                <a:cs typeface="Calibri"/>
              </a:rPr>
              <a:t>h</a:t>
            </a:r>
            <a:r>
              <a:rPr sz="2800" spc="-3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y  </a:t>
            </a:r>
            <a:r>
              <a:rPr sz="2800" spc="-10" dirty="0">
                <a:latin typeface="Calibri"/>
                <a:cs typeface="Calibri"/>
              </a:rPr>
              <a:t>continuously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distances,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heights,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temperatures,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prices,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527685" marR="5080" indent="-515620">
              <a:lnSpc>
                <a:spcPts val="3030"/>
              </a:lnSpc>
              <a:spcBef>
                <a:spcPts val="1005"/>
              </a:spcBef>
              <a:buAutoNum type="arabicPeriod"/>
              <a:tabLst>
                <a:tab pos="527685" algn="l"/>
                <a:tab pos="528320" algn="l"/>
                <a:tab pos="1525905" algn="l"/>
                <a:tab pos="3115310" algn="l"/>
                <a:tab pos="3728720" algn="l"/>
                <a:tab pos="5630545" algn="l"/>
                <a:tab pos="6122670" algn="l"/>
                <a:tab pos="7547609" algn="l"/>
                <a:tab pos="9203055" algn="l"/>
              </a:tabLst>
            </a:pPr>
            <a:r>
              <a:rPr sz="2800" spc="-10" dirty="0">
                <a:latin typeface="Calibri"/>
                <a:cs typeface="Calibri"/>
              </a:rPr>
              <a:t>Thes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qua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ep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ese</a:t>
            </a:r>
            <a:r>
              <a:rPr sz="2800" spc="-40" dirty="0">
                <a:latin typeface="Calibri"/>
                <a:cs typeface="Calibri"/>
              </a:rPr>
              <a:t>n</a:t>
            </a:r>
            <a:r>
              <a:rPr sz="2800" spc="-2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</a:t>
            </a:r>
            <a:r>
              <a:rPr sz="2800" spc="5" dirty="0">
                <a:latin typeface="Calibri"/>
                <a:cs typeface="Calibri"/>
              </a:rPr>
              <a:t>u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spc="-15" dirty="0">
                <a:latin typeface="Calibri"/>
                <a:cs typeface="Calibri"/>
              </a:rPr>
              <a:t>b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5" dirty="0">
                <a:latin typeface="Calibri"/>
                <a:cs typeface="Calibri"/>
              </a:rPr>
              <a:t>o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aining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</a:t>
            </a:r>
            <a:r>
              <a:rPr sz="2800" spc="-7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actional  </a:t>
            </a:r>
            <a:r>
              <a:rPr sz="2800" spc="-10" dirty="0">
                <a:latin typeface="Calibri"/>
                <a:cs typeface="Calibri"/>
              </a:rPr>
              <a:t>parts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like</a:t>
            </a:r>
            <a:r>
              <a:rPr sz="2800" spc="-10" dirty="0">
                <a:latin typeface="Calibri"/>
                <a:cs typeface="Calibri"/>
              </a:rPr>
              <a:t> 15.234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Rules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least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digit.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decimal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point.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-10" dirty="0">
                <a:latin typeface="Calibri"/>
                <a:cs typeface="Calibri"/>
              </a:rPr>
              <a:t> could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either </a:t>
            </a:r>
            <a:r>
              <a:rPr sz="2800" spc="-10" dirty="0">
                <a:latin typeface="Calibri"/>
                <a:cs typeface="Calibri"/>
              </a:rPr>
              <a:t>positive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negative.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Default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positive.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commas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blanks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allowed</a:t>
            </a:r>
            <a:r>
              <a:rPr sz="2800" spc="-5" dirty="0">
                <a:latin typeface="Calibri"/>
                <a:cs typeface="Calibri"/>
              </a:rPr>
              <a:t> within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real </a:t>
            </a:r>
            <a:r>
              <a:rPr sz="2800" spc="-20" dirty="0">
                <a:latin typeface="Calibri"/>
                <a:cs typeface="Calibri"/>
              </a:rPr>
              <a:t>constant.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963" y="203454"/>
            <a:ext cx="4364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3.</a:t>
            </a:r>
            <a:r>
              <a:rPr sz="4000" spc="-70" dirty="0"/>
              <a:t> </a:t>
            </a:r>
            <a:r>
              <a:rPr sz="4000" spc="-45" dirty="0"/>
              <a:t>Character</a:t>
            </a:r>
            <a:r>
              <a:rPr sz="4000" spc="-105" dirty="0"/>
              <a:t> </a:t>
            </a:r>
            <a:r>
              <a:rPr sz="4000" spc="-45" dirty="0"/>
              <a:t>Constant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26465" y="1377518"/>
            <a:ext cx="10350500" cy="49263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single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alphabet,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digit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single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symbol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enclosed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inverted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commas.</a:t>
            </a:r>
            <a:endParaRPr sz="2800">
              <a:latin typeface="Calibri"/>
              <a:cs typeface="Calibri"/>
            </a:endParaRPr>
          </a:p>
          <a:p>
            <a:pPr marL="12700" marR="867410">
              <a:lnSpc>
                <a:spcPts val="402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  <a:tab pos="1029335" algn="l"/>
                <a:tab pos="1551940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maximum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length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character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character.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Eg: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20" dirty="0">
                <a:latin typeface="Calibri"/>
                <a:cs typeface="Calibri"/>
              </a:rPr>
              <a:t>‘A’	</a:t>
            </a:r>
            <a:r>
              <a:rPr sz="2800" spc="-5" dirty="0">
                <a:latin typeface="Calibri"/>
                <a:cs typeface="Calibri"/>
              </a:rPr>
              <a:t>‘5’	‘%’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Calibri"/>
              <a:cs typeface="Calibri"/>
            </a:endParaRPr>
          </a:p>
          <a:p>
            <a:pPr marL="12700" marR="1402080">
              <a:lnSpc>
                <a:spcPct val="119700"/>
              </a:lnSpc>
            </a:pPr>
            <a:r>
              <a:rPr sz="2800" spc="-15" dirty="0">
                <a:latin typeface="Calibri"/>
                <a:cs typeface="Calibri"/>
              </a:rPr>
              <a:t>Character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integer</a:t>
            </a:r>
            <a:r>
              <a:rPr sz="2800" spc="-10" dirty="0">
                <a:latin typeface="Calibri"/>
                <a:cs typeface="Calibri"/>
              </a:rPr>
              <a:t> values </a:t>
            </a:r>
            <a:r>
              <a:rPr sz="2800" spc="-5" dirty="0">
                <a:latin typeface="Calibri"/>
                <a:cs typeface="Calibri"/>
              </a:rPr>
              <a:t>known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ASCII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values.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Eg.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ASCII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value</a:t>
            </a:r>
            <a:r>
              <a:rPr sz="2800" spc="-5" dirty="0">
                <a:latin typeface="Calibri"/>
                <a:cs typeface="Calibri"/>
              </a:rPr>
              <a:t> of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letter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97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20" dirty="0">
                <a:latin typeface="Calibri"/>
                <a:cs typeface="Calibri"/>
              </a:rPr>
              <a:t>So,</a:t>
            </a:r>
            <a:endParaRPr sz="2800">
              <a:latin typeface="Calibri"/>
              <a:cs typeface="Calibri"/>
            </a:endParaRPr>
          </a:p>
          <a:p>
            <a:pPr marL="927100" marR="3395979">
              <a:lnSpc>
                <a:spcPct val="119700"/>
              </a:lnSpc>
              <a:spcBef>
                <a:spcPts val="10"/>
              </a:spcBef>
            </a:pPr>
            <a:r>
              <a:rPr sz="2800" spc="-30" dirty="0">
                <a:latin typeface="Calibri"/>
                <a:cs typeface="Calibri"/>
              </a:rPr>
              <a:t>printf(“%d”,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‘a’)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-&gt;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would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print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97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printf(“%c”,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’97’)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&gt;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would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print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letter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‘a’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963" y="203454"/>
            <a:ext cx="3580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4.</a:t>
            </a:r>
            <a:r>
              <a:rPr sz="4000" spc="-95" dirty="0"/>
              <a:t> </a:t>
            </a:r>
            <a:r>
              <a:rPr sz="4000" spc="-20" dirty="0"/>
              <a:t>String</a:t>
            </a:r>
            <a:r>
              <a:rPr sz="4000" spc="-130" dirty="0"/>
              <a:t> </a:t>
            </a:r>
            <a:r>
              <a:rPr sz="4000" spc="-45" dirty="0"/>
              <a:t>Constant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26465" y="1291297"/>
            <a:ext cx="11038840" cy="2456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sequence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characters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enclosed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quotes.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  <a:tab pos="954405" algn="l"/>
                <a:tab pos="2626360" algn="l"/>
                <a:tab pos="3411220" algn="l"/>
                <a:tab pos="3950970" algn="l"/>
                <a:tab pos="5136515" algn="l"/>
                <a:tab pos="6682105" algn="l"/>
                <a:tab pos="7844790" algn="l"/>
                <a:tab pos="9515475" algn="l"/>
                <a:tab pos="10239375" algn="l"/>
              </a:tabLst>
            </a:pPr>
            <a:r>
              <a:rPr sz="2800" spc="-10" dirty="0">
                <a:latin typeface="Calibri"/>
                <a:cs typeface="Calibri"/>
              </a:rPr>
              <a:t>Th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cha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c</a:t>
            </a:r>
            <a:r>
              <a:rPr sz="2800" spc="-2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spc="-2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</a:t>
            </a:r>
            <a:r>
              <a:rPr sz="2800" spc="5" dirty="0">
                <a:latin typeface="Calibri"/>
                <a:cs typeface="Calibri"/>
              </a:rPr>
              <a:t>u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1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s</a:t>
            </a:r>
            <a:r>
              <a:rPr sz="2800" spc="-10" dirty="0">
                <a:latin typeface="Calibri"/>
                <a:cs typeface="Calibri"/>
              </a:rPr>
              <a:t>pecia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cha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</a:t>
            </a:r>
            <a:r>
              <a:rPr sz="2800" spc="-20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k  space.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Calibri"/>
                <a:cs typeface="Calibri"/>
              </a:rPr>
              <a:t>Eg: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“Computer”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“Computer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Science”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“2022”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29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963" y="203454"/>
            <a:ext cx="2699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/>
              <a:t>Variables</a:t>
            </a:r>
            <a:r>
              <a:rPr sz="4000" spc="-105" dirty="0"/>
              <a:t> </a:t>
            </a:r>
            <a:r>
              <a:rPr sz="4000" spc="-5" dirty="0"/>
              <a:t>in</a:t>
            </a:r>
            <a:r>
              <a:rPr sz="4000" spc="-100" dirty="0"/>
              <a:t> </a:t>
            </a:r>
            <a:r>
              <a:rPr sz="4000" spc="-5" dirty="0"/>
              <a:t>C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43535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43535" algn="l"/>
              </a:tabLst>
            </a:pPr>
            <a:r>
              <a:rPr spc="-5" dirty="0"/>
              <a:t>A</a:t>
            </a:r>
            <a:r>
              <a:rPr spc="10" dirty="0"/>
              <a:t> </a:t>
            </a:r>
            <a:r>
              <a:rPr spc="-10" dirty="0"/>
              <a:t>variable</a:t>
            </a:r>
            <a:r>
              <a:rPr spc="-5" dirty="0"/>
              <a:t> </a:t>
            </a:r>
            <a:r>
              <a:rPr spc="-10" dirty="0"/>
              <a:t>is</a:t>
            </a:r>
            <a:r>
              <a:rPr spc="1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20" dirty="0"/>
              <a:t>data</a:t>
            </a:r>
            <a:r>
              <a:rPr spc="5" dirty="0"/>
              <a:t> </a:t>
            </a:r>
            <a:r>
              <a:rPr spc="-5" dirty="0"/>
              <a:t>name</a:t>
            </a:r>
            <a:r>
              <a:rPr spc="10" dirty="0"/>
              <a:t> </a:t>
            </a:r>
            <a:r>
              <a:rPr spc="-10" dirty="0"/>
              <a:t>used</a:t>
            </a:r>
            <a:r>
              <a:rPr spc="15" dirty="0"/>
              <a:t> </a:t>
            </a:r>
            <a:r>
              <a:rPr spc="-20" dirty="0"/>
              <a:t>to</a:t>
            </a:r>
            <a:r>
              <a:rPr dirty="0"/>
              <a:t> </a:t>
            </a:r>
            <a:r>
              <a:rPr spc="-25" dirty="0"/>
              <a:t>store</a:t>
            </a:r>
            <a:r>
              <a:rPr spc="5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20" dirty="0"/>
              <a:t>data</a:t>
            </a:r>
            <a:r>
              <a:rPr spc="5" dirty="0"/>
              <a:t> </a:t>
            </a:r>
            <a:r>
              <a:rPr spc="-15" dirty="0"/>
              <a:t>value</a:t>
            </a:r>
          </a:p>
          <a:p>
            <a:pPr marL="343535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43535" algn="l"/>
              </a:tabLst>
            </a:pPr>
            <a:r>
              <a:rPr spc="-5" dirty="0"/>
              <a:t>It</a:t>
            </a:r>
            <a:r>
              <a:rPr dirty="0"/>
              <a:t> </a:t>
            </a:r>
            <a:r>
              <a:rPr spc="-20" dirty="0"/>
              <a:t>may</a:t>
            </a:r>
            <a:r>
              <a:rPr spc="-15" dirty="0"/>
              <a:t> </a:t>
            </a:r>
            <a:r>
              <a:rPr spc="-35" dirty="0"/>
              <a:t>take</a:t>
            </a:r>
            <a:r>
              <a:rPr spc="10" dirty="0"/>
              <a:t> </a:t>
            </a:r>
            <a:r>
              <a:rPr spc="-25" dirty="0"/>
              <a:t>different</a:t>
            </a:r>
            <a:r>
              <a:rPr spc="15" dirty="0"/>
              <a:t> </a:t>
            </a:r>
            <a:r>
              <a:rPr spc="-10" dirty="0"/>
              <a:t>values</a:t>
            </a:r>
            <a:r>
              <a:rPr spc="10" dirty="0"/>
              <a:t> </a:t>
            </a:r>
            <a:r>
              <a:rPr spc="-15" dirty="0"/>
              <a:t>at</a:t>
            </a:r>
            <a:r>
              <a:rPr spc="-5" dirty="0"/>
              <a:t> </a:t>
            </a:r>
            <a:r>
              <a:rPr spc="-25" dirty="0"/>
              <a:t>different</a:t>
            </a:r>
            <a:r>
              <a:rPr spc="15" dirty="0"/>
              <a:t> </a:t>
            </a:r>
            <a:r>
              <a:rPr spc="-5" dirty="0"/>
              <a:t>times</a:t>
            </a:r>
            <a:r>
              <a:rPr spc="20" dirty="0"/>
              <a:t> </a:t>
            </a:r>
            <a:r>
              <a:rPr spc="-10" dirty="0"/>
              <a:t>during</a:t>
            </a:r>
            <a:r>
              <a:rPr spc="45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20" dirty="0"/>
              <a:t>execution</a:t>
            </a:r>
          </a:p>
          <a:p>
            <a:pPr marL="114935">
              <a:lnSpc>
                <a:spcPct val="100000"/>
              </a:lnSpc>
              <a:spcBef>
                <a:spcPts val="660"/>
              </a:spcBef>
            </a:pPr>
            <a:r>
              <a:rPr b="1" spc="-5" dirty="0">
                <a:latin typeface="Calibri"/>
                <a:cs typeface="Calibri"/>
              </a:rPr>
              <a:t>Rules</a:t>
            </a:r>
          </a:p>
          <a:p>
            <a:pPr marL="572135" indent="-457200">
              <a:lnSpc>
                <a:spcPct val="100000"/>
              </a:lnSpc>
              <a:spcBef>
                <a:spcPts val="740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10" dirty="0"/>
              <a:t>Must</a:t>
            </a:r>
            <a:r>
              <a:rPr sz="2400" spc="-35" dirty="0"/>
              <a:t> </a:t>
            </a:r>
            <a:r>
              <a:rPr sz="2400" spc="-5" dirty="0"/>
              <a:t>begin </a:t>
            </a:r>
            <a:r>
              <a:rPr sz="2400" dirty="0"/>
              <a:t>with</a:t>
            </a:r>
            <a:r>
              <a:rPr sz="2400" spc="-30" dirty="0"/>
              <a:t> </a:t>
            </a:r>
            <a:r>
              <a:rPr sz="2400" dirty="0"/>
              <a:t>a</a:t>
            </a:r>
            <a:r>
              <a:rPr sz="2400" spc="-15" dirty="0"/>
              <a:t> letter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It</a:t>
            </a:r>
            <a:r>
              <a:rPr sz="2400" spc="-20" dirty="0"/>
              <a:t> </a:t>
            </a:r>
            <a:r>
              <a:rPr sz="2400" spc="-15" dirty="0"/>
              <a:t>may </a:t>
            </a:r>
            <a:r>
              <a:rPr sz="2400" spc="-10" dirty="0"/>
              <a:t>consists </a:t>
            </a:r>
            <a:r>
              <a:rPr sz="2400" spc="-5" dirty="0"/>
              <a:t>of</a:t>
            </a:r>
            <a:r>
              <a:rPr sz="2400" spc="-10" dirty="0"/>
              <a:t> </a:t>
            </a:r>
            <a:r>
              <a:rPr sz="2400" spc="-15" dirty="0"/>
              <a:t>letters,</a:t>
            </a:r>
            <a:r>
              <a:rPr sz="2400" spc="-25" dirty="0"/>
              <a:t> </a:t>
            </a:r>
            <a:r>
              <a:rPr sz="2400" spc="-5" dirty="0"/>
              <a:t>digits</a:t>
            </a:r>
            <a:r>
              <a:rPr sz="2400" spc="-15" dirty="0"/>
              <a:t> </a:t>
            </a:r>
            <a:r>
              <a:rPr sz="2400" dirty="0"/>
              <a:t>and</a:t>
            </a:r>
            <a:r>
              <a:rPr sz="2400" spc="-10" dirty="0"/>
              <a:t> </a:t>
            </a:r>
            <a:r>
              <a:rPr sz="2400" spc="-15" dirty="0"/>
              <a:t>underscore</a:t>
            </a:r>
            <a:endParaRPr sz="2400"/>
          </a:p>
          <a:p>
            <a:pPr marL="572135" marR="5080" indent="-457200">
              <a:lnSpc>
                <a:spcPts val="2590"/>
              </a:lnSpc>
              <a:spcBef>
                <a:spcPts val="1035"/>
              </a:spcBef>
              <a:buAutoNum type="arabicPeriod"/>
              <a:tabLst>
                <a:tab pos="571500" algn="l"/>
                <a:tab pos="572135" algn="l"/>
                <a:tab pos="1310640" algn="l"/>
                <a:tab pos="2763520" algn="l"/>
                <a:tab pos="3059430" algn="l"/>
                <a:tab pos="3990340" algn="l"/>
                <a:tab pos="4392930" algn="l"/>
                <a:tab pos="4848860" algn="l"/>
                <a:tab pos="6278245" algn="l"/>
                <a:tab pos="6849745" algn="l"/>
                <a:tab pos="7619365" algn="l"/>
                <a:tab pos="8970010" algn="l"/>
                <a:tab pos="10299065" algn="l"/>
                <a:tab pos="10975975" algn="l"/>
              </a:tabLst>
            </a:pPr>
            <a:r>
              <a:rPr sz="2400" dirty="0"/>
              <a:t>ANSI	</a:t>
            </a:r>
            <a:r>
              <a:rPr sz="2400" spc="-35" dirty="0"/>
              <a:t>r</a:t>
            </a:r>
            <a:r>
              <a:rPr sz="2400" dirty="0"/>
              <a:t>e</a:t>
            </a:r>
            <a:r>
              <a:rPr sz="2400" spc="-15" dirty="0"/>
              <a:t>c</a:t>
            </a:r>
            <a:r>
              <a:rPr sz="2400" spc="-5" dirty="0"/>
              <a:t>o</a:t>
            </a:r>
            <a:r>
              <a:rPr sz="2400" spc="-20" dirty="0"/>
              <a:t>g</a:t>
            </a:r>
            <a:r>
              <a:rPr sz="2400" spc="-5" dirty="0"/>
              <a:t>nise</a:t>
            </a:r>
            <a:r>
              <a:rPr sz="2400" dirty="0"/>
              <a:t>s	a	le</a:t>
            </a:r>
            <a:r>
              <a:rPr sz="2400" spc="-10" dirty="0"/>
              <a:t>n</a:t>
            </a:r>
            <a:r>
              <a:rPr sz="2400" spc="-40" dirty="0"/>
              <a:t>g</a:t>
            </a:r>
            <a:r>
              <a:rPr sz="2400" dirty="0"/>
              <a:t>th	</a:t>
            </a:r>
            <a:r>
              <a:rPr sz="2400" spc="-5" dirty="0"/>
              <a:t>o</a:t>
            </a:r>
            <a:r>
              <a:rPr sz="2400" dirty="0"/>
              <a:t>f	</a:t>
            </a:r>
            <a:r>
              <a:rPr sz="2400" spc="-5" dirty="0"/>
              <a:t>3</a:t>
            </a:r>
            <a:r>
              <a:rPr sz="2400" dirty="0"/>
              <a:t>1	</a:t>
            </a:r>
            <a:r>
              <a:rPr sz="2400" spc="-10" dirty="0"/>
              <a:t>c</a:t>
            </a:r>
            <a:r>
              <a:rPr sz="2400" spc="-5" dirty="0"/>
              <a:t>ha</a:t>
            </a:r>
            <a:r>
              <a:rPr sz="2400" spc="-45" dirty="0"/>
              <a:t>r</a:t>
            </a:r>
            <a:r>
              <a:rPr sz="2400" dirty="0"/>
              <a:t>ac</a:t>
            </a:r>
            <a:r>
              <a:rPr sz="2400" spc="-30" dirty="0"/>
              <a:t>t</a:t>
            </a:r>
            <a:r>
              <a:rPr sz="2400" dirty="0"/>
              <a:t>e</a:t>
            </a:r>
            <a:r>
              <a:rPr sz="2400" spc="-30" dirty="0"/>
              <a:t>r</a:t>
            </a:r>
            <a:r>
              <a:rPr sz="2400" dirty="0"/>
              <a:t>s	</a:t>
            </a:r>
            <a:r>
              <a:rPr sz="2400" spc="-5" dirty="0"/>
              <a:t>bu</a:t>
            </a:r>
            <a:r>
              <a:rPr sz="2400" dirty="0"/>
              <a:t>t	mo</a:t>
            </a:r>
            <a:r>
              <a:rPr sz="2400" spc="-30" dirty="0"/>
              <a:t>s</a:t>
            </a:r>
            <a:r>
              <a:rPr sz="2400" dirty="0"/>
              <a:t>t	</a:t>
            </a:r>
            <a:r>
              <a:rPr sz="2400" spc="-20" dirty="0"/>
              <a:t>co</a:t>
            </a:r>
            <a:r>
              <a:rPr sz="2400" dirty="0"/>
              <a:t>mpil</a:t>
            </a:r>
            <a:r>
              <a:rPr sz="2400" spc="5" dirty="0"/>
              <a:t>e</a:t>
            </a:r>
            <a:r>
              <a:rPr sz="2400" spc="-35" dirty="0"/>
              <a:t>r</a:t>
            </a:r>
            <a:r>
              <a:rPr sz="2400" dirty="0"/>
              <a:t>s	</a:t>
            </a:r>
            <a:r>
              <a:rPr sz="2400" spc="-35" dirty="0"/>
              <a:t>r</a:t>
            </a:r>
            <a:r>
              <a:rPr sz="2400" dirty="0"/>
              <a:t>e</a:t>
            </a:r>
            <a:r>
              <a:rPr sz="2400" spc="-30" dirty="0"/>
              <a:t>c</a:t>
            </a:r>
            <a:r>
              <a:rPr sz="2400" spc="-5" dirty="0"/>
              <a:t>ogni</a:t>
            </a:r>
            <a:r>
              <a:rPr sz="2400" spc="-55" dirty="0"/>
              <a:t>z</a:t>
            </a:r>
            <a:r>
              <a:rPr sz="2400" dirty="0"/>
              <a:t>e	</a:t>
            </a:r>
            <a:r>
              <a:rPr sz="2400" spc="-5" dirty="0"/>
              <a:t>onl</a:t>
            </a:r>
            <a:r>
              <a:rPr sz="2400" dirty="0"/>
              <a:t>y	8  </a:t>
            </a:r>
            <a:r>
              <a:rPr sz="2400" spc="-10" dirty="0"/>
              <a:t>characters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Case</a:t>
            </a:r>
            <a:r>
              <a:rPr sz="2400" spc="-40" dirty="0"/>
              <a:t> </a:t>
            </a:r>
            <a:r>
              <a:rPr sz="2400" spc="-10" dirty="0"/>
              <a:t>sensitive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It</a:t>
            </a:r>
            <a:r>
              <a:rPr sz="2400" spc="-35" dirty="0"/>
              <a:t> </a:t>
            </a:r>
            <a:r>
              <a:rPr sz="2400" spc="-5" dirty="0"/>
              <a:t>should not</a:t>
            </a:r>
            <a:r>
              <a:rPr sz="2400" spc="-25" dirty="0"/>
              <a:t> </a:t>
            </a:r>
            <a:r>
              <a:rPr sz="2400" spc="-5" dirty="0"/>
              <a:t>be</a:t>
            </a:r>
            <a:r>
              <a:rPr sz="2400" spc="-15" dirty="0"/>
              <a:t> </a:t>
            </a:r>
            <a:r>
              <a:rPr sz="2400" spc="-20" dirty="0"/>
              <a:t>keyword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White</a:t>
            </a:r>
            <a:r>
              <a:rPr sz="2400" spc="-30" dirty="0"/>
              <a:t> </a:t>
            </a:r>
            <a:r>
              <a:rPr sz="2400" spc="-5" dirty="0"/>
              <a:t>space</a:t>
            </a:r>
            <a:r>
              <a:rPr sz="2400" spc="-10" dirty="0"/>
              <a:t> </a:t>
            </a:r>
            <a:r>
              <a:rPr sz="2400" dirty="0"/>
              <a:t>is</a:t>
            </a:r>
            <a:r>
              <a:rPr sz="2400" spc="-20" dirty="0"/>
              <a:t> </a:t>
            </a:r>
            <a:r>
              <a:rPr sz="2400" spc="-5" dirty="0"/>
              <a:t>not</a:t>
            </a:r>
            <a:r>
              <a:rPr sz="2400" spc="-30" dirty="0"/>
              <a:t> </a:t>
            </a:r>
            <a:r>
              <a:rPr sz="2400" spc="-10" dirty="0"/>
              <a:t>allowed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30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963" y="203454"/>
            <a:ext cx="2699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/>
              <a:t>Variables</a:t>
            </a:r>
            <a:r>
              <a:rPr sz="4000" spc="-105" dirty="0"/>
              <a:t> </a:t>
            </a:r>
            <a:r>
              <a:rPr sz="4000" spc="-5" dirty="0"/>
              <a:t>in</a:t>
            </a:r>
            <a:r>
              <a:rPr sz="4000" spc="-100" dirty="0"/>
              <a:t> </a:t>
            </a:r>
            <a:r>
              <a:rPr sz="4000" spc="-5" dirty="0"/>
              <a:t>C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43535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43535" algn="l"/>
              </a:tabLst>
            </a:pPr>
            <a:r>
              <a:rPr spc="-5" dirty="0"/>
              <a:t>A</a:t>
            </a:r>
            <a:r>
              <a:rPr spc="10" dirty="0"/>
              <a:t> </a:t>
            </a:r>
            <a:r>
              <a:rPr spc="-10" dirty="0"/>
              <a:t>variable</a:t>
            </a:r>
            <a:r>
              <a:rPr spc="-5" dirty="0"/>
              <a:t> </a:t>
            </a:r>
            <a:r>
              <a:rPr spc="-10" dirty="0"/>
              <a:t>is</a:t>
            </a:r>
            <a:r>
              <a:rPr spc="1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20" dirty="0"/>
              <a:t>data</a:t>
            </a:r>
            <a:r>
              <a:rPr spc="5" dirty="0"/>
              <a:t> </a:t>
            </a:r>
            <a:r>
              <a:rPr spc="-5" dirty="0"/>
              <a:t>name</a:t>
            </a:r>
            <a:r>
              <a:rPr spc="10" dirty="0"/>
              <a:t> </a:t>
            </a:r>
            <a:r>
              <a:rPr spc="-10" dirty="0"/>
              <a:t>used</a:t>
            </a:r>
            <a:r>
              <a:rPr spc="15" dirty="0"/>
              <a:t> </a:t>
            </a:r>
            <a:r>
              <a:rPr spc="-20" dirty="0"/>
              <a:t>to</a:t>
            </a:r>
            <a:r>
              <a:rPr dirty="0"/>
              <a:t> </a:t>
            </a:r>
            <a:r>
              <a:rPr spc="-25" dirty="0"/>
              <a:t>store</a:t>
            </a:r>
            <a:r>
              <a:rPr spc="5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20" dirty="0"/>
              <a:t>data</a:t>
            </a:r>
            <a:r>
              <a:rPr spc="5" dirty="0"/>
              <a:t> </a:t>
            </a:r>
            <a:r>
              <a:rPr spc="-15" dirty="0"/>
              <a:t>value</a:t>
            </a:r>
          </a:p>
          <a:p>
            <a:pPr marL="343535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43535" algn="l"/>
              </a:tabLst>
            </a:pPr>
            <a:r>
              <a:rPr spc="-5" dirty="0"/>
              <a:t>It</a:t>
            </a:r>
            <a:r>
              <a:rPr dirty="0"/>
              <a:t> </a:t>
            </a:r>
            <a:r>
              <a:rPr spc="-20" dirty="0"/>
              <a:t>may</a:t>
            </a:r>
            <a:r>
              <a:rPr spc="-15" dirty="0"/>
              <a:t> </a:t>
            </a:r>
            <a:r>
              <a:rPr spc="-35" dirty="0"/>
              <a:t>take</a:t>
            </a:r>
            <a:r>
              <a:rPr spc="10" dirty="0"/>
              <a:t> </a:t>
            </a:r>
            <a:r>
              <a:rPr spc="-25" dirty="0"/>
              <a:t>different</a:t>
            </a:r>
            <a:r>
              <a:rPr spc="15" dirty="0"/>
              <a:t> </a:t>
            </a:r>
            <a:r>
              <a:rPr spc="-10" dirty="0"/>
              <a:t>values</a:t>
            </a:r>
            <a:r>
              <a:rPr spc="10" dirty="0"/>
              <a:t> </a:t>
            </a:r>
            <a:r>
              <a:rPr spc="-15" dirty="0"/>
              <a:t>at</a:t>
            </a:r>
            <a:r>
              <a:rPr spc="-5" dirty="0"/>
              <a:t> </a:t>
            </a:r>
            <a:r>
              <a:rPr spc="-25" dirty="0"/>
              <a:t>different</a:t>
            </a:r>
            <a:r>
              <a:rPr spc="15" dirty="0"/>
              <a:t> </a:t>
            </a:r>
            <a:r>
              <a:rPr spc="-5" dirty="0"/>
              <a:t>times</a:t>
            </a:r>
            <a:r>
              <a:rPr spc="20" dirty="0"/>
              <a:t> </a:t>
            </a:r>
            <a:r>
              <a:rPr spc="-10" dirty="0"/>
              <a:t>during</a:t>
            </a:r>
            <a:r>
              <a:rPr spc="45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20" dirty="0"/>
              <a:t>execution</a:t>
            </a:r>
          </a:p>
          <a:p>
            <a:pPr marL="114935">
              <a:lnSpc>
                <a:spcPct val="100000"/>
              </a:lnSpc>
              <a:spcBef>
                <a:spcPts val="660"/>
              </a:spcBef>
            </a:pPr>
            <a:r>
              <a:rPr b="1" spc="-5" dirty="0">
                <a:latin typeface="Calibri"/>
                <a:cs typeface="Calibri"/>
              </a:rPr>
              <a:t>Rules</a:t>
            </a:r>
          </a:p>
          <a:p>
            <a:pPr marL="572135" indent="-457200">
              <a:lnSpc>
                <a:spcPct val="100000"/>
              </a:lnSpc>
              <a:spcBef>
                <a:spcPts val="740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10" dirty="0"/>
              <a:t>Must</a:t>
            </a:r>
            <a:r>
              <a:rPr sz="2400" spc="-35" dirty="0"/>
              <a:t> </a:t>
            </a:r>
            <a:r>
              <a:rPr sz="2400" spc="-5" dirty="0"/>
              <a:t>begin </a:t>
            </a:r>
            <a:r>
              <a:rPr sz="2400" dirty="0"/>
              <a:t>with</a:t>
            </a:r>
            <a:r>
              <a:rPr sz="2400" spc="-30" dirty="0"/>
              <a:t> </a:t>
            </a:r>
            <a:r>
              <a:rPr sz="2400" dirty="0"/>
              <a:t>a</a:t>
            </a:r>
            <a:r>
              <a:rPr sz="2400" spc="-15" dirty="0"/>
              <a:t> letter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It</a:t>
            </a:r>
            <a:r>
              <a:rPr sz="2400" spc="-20" dirty="0"/>
              <a:t> </a:t>
            </a:r>
            <a:r>
              <a:rPr sz="2400" spc="-15" dirty="0"/>
              <a:t>may </a:t>
            </a:r>
            <a:r>
              <a:rPr sz="2400" spc="-10" dirty="0"/>
              <a:t>consists </a:t>
            </a:r>
            <a:r>
              <a:rPr sz="2400" spc="-5" dirty="0"/>
              <a:t>of</a:t>
            </a:r>
            <a:r>
              <a:rPr sz="2400" spc="-10" dirty="0"/>
              <a:t> </a:t>
            </a:r>
            <a:r>
              <a:rPr sz="2400" spc="-15" dirty="0"/>
              <a:t>letters,</a:t>
            </a:r>
            <a:r>
              <a:rPr sz="2400" spc="-25" dirty="0"/>
              <a:t> </a:t>
            </a:r>
            <a:r>
              <a:rPr sz="2400" spc="-5" dirty="0"/>
              <a:t>digits</a:t>
            </a:r>
            <a:r>
              <a:rPr sz="2400" spc="-15" dirty="0"/>
              <a:t> </a:t>
            </a:r>
            <a:r>
              <a:rPr sz="2400" dirty="0"/>
              <a:t>and</a:t>
            </a:r>
            <a:r>
              <a:rPr sz="2400" spc="-10" dirty="0"/>
              <a:t> </a:t>
            </a:r>
            <a:r>
              <a:rPr sz="2400" spc="-15" dirty="0"/>
              <a:t>underscore</a:t>
            </a:r>
            <a:endParaRPr sz="2400"/>
          </a:p>
          <a:p>
            <a:pPr marL="572135" marR="5080" indent="-457200">
              <a:lnSpc>
                <a:spcPts val="2590"/>
              </a:lnSpc>
              <a:spcBef>
                <a:spcPts val="1035"/>
              </a:spcBef>
              <a:buAutoNum type="arabicPeriod"/>
              <a:tabLst>
                <a:tab pos="571500" algn="l"/>
                <a:tab pos="572135" algn="l"/>
                <a:tab pos="1310640" algn="l"/>
                <a:tab pos="2763520" algn="l"/>
                <a:tab pos="3059430" algn="l"/>
                <a:tab pos="3990340" algn="l"/>
                <a:tab pos="4392930" algn="l"/>
                <a:tab pos="4848860" algn="l"/>
                <a:tab pos="6278245" algn="l"/>
                <a:tab pos="6849745" algn="l"/>
                <a:tab pos="7619365" algn="l"/>
                <a:tab pos="8970010" algn="l"/>
                <a:tab pos="10299065" algn="l"/>
                <a:tab pos="10975975" algn="l"/>
              </a:tabLst>
            </a:pPr>
            <a:r>
              <a:rPr sz="2400" dirty="0"/>
              <a:t>ANSI	</a:t>
            </a:r>
            <a:r>
              <a:rPr sz="2400" spc="-35" dirty="0"/>
              <a:t>r</a:t>
            </a:r>
            <a:r>
              <a:rPr sz="2400" dirty="0"/>
              <a:t>e</a:t>
            </a:r>
            <a:r>
              <a:rPr sz="2400" spc="-15" dirty="0"/>
              <a:t>c</a:t>
            </a:r>
            <a:r>
              <a:rPr sz="2400" spc="-5" dirty="0"/>
              <a:t>o</a:t>
            </a:r>
            <a:r>
              <a:rPr sz="2400" spc="-20" dirty="0"/>
              <a:t>g</a:t>
            </a:r>
            <a:r>
              <a:rPr sz="2400" spc="-5" dirty="0"/>
              <a:t>nise</a:t>
            </a:r>
            <a:r>
              <a:rPr sz="2400" dirty="0"/>
              <a:t>s	a	le</a:t>
            </a:r>
            <a:r>
              <a:rPr sz="2400" spc="-10" dirty="0"/>
              <a:t>n</a:t>
            </a:r>
            <a:r>
              <a:rPr sz="2400" spc="-40" dirty="0"/>
              <a:t>g</a:t>
            </a:r>
            <a:r>
              <a:rPr sz="2400" dirty="0"/>
              <a:t>th	</a:t>
            </a:r>
            <a:r>
              <a:rPr sz="2400" spc="-5" dirty="0"/>
              <a:t>o</a:t>
            </a:r>
            <a:r>
              <a:rPr sz="2400" dirty="0"/>
              <a:t>f	</a:t>
            </a:r>
            <a:r>
              <a:rPr sz="2400" spc="-5" dirty="0"/>
              <a:t>3</a:t>
            </a:r>
            <a:r>
              <a:rPr sz="2400" dirty="0"/>
              <a:t>1	</a:t>
            </a:r>
            <a:r>
              <a:rPr sz="2400" spc="-10" dirty="0"/>
              <a:t>c</a:t>
            </a:r>
            <a:r>
              <a:rPr sz="2400" spc="-5" dirty="0"/>
              <a:t>ha</a:t>
            </a:r>
            <a:r>
              <a:rPr sz="2400" spc="-45" dirty="0"/>
              <a:t>r</a:t>
            </a:r>
            <a:r>
              <a:rPr sz="2400" dirty="0"/>
              <a:t>ac</a:t>
            </a:r>
            <a:r>
              <a:rPr sz="2400" spc="-30" dirty="0"/>
              <a:t>t</a:t>
            </a:r>
            <a:r>
              <a:rPr sz="2400" dirty="0"/>
              <a:t>e</a:t>
            </a:r>
            <a:r>
              <a:rPr sz="2400" spc="-30" dirty="0"/>
              <a:t>r</a:t>
            </a:r>
            <a:r>
              <a:rPr sz="2400" dirty="0"/>
              <a:t>s	</a:t>
            </a:r>
            <a:r>
              <a:rPr sz="2400" spc="-5" dirty="0"/>
              <a:t>bu</a:t>
            </a:r>
            <a:r>
              <a:rPr sz="2400" dirty="0"/>
              <a:t>t	mo</a:t>
            </a:r>
            <a:r>
              <a:rPr sz="2400" spc="-30" dirty="0"/>
              <a:t>s</a:t>
            </a:r>
            <a:r>
              <a:rPr sz="2400" dirty="0"/>
              <a:t>t	</a:t>
            </a:r>
            <a:r>
              <a:rPr sz="2400" spc="-20" dirty="0"/>
              <a:t>co</a:t>
            </a:r>
            <a:r>
              <a:rPr sz="2400" dirty="0"/>
              <a:t>mpil</a:t>
            </a:r>
            <a:r>
              <a:rPr sz="2400" spc="5" dirty="0"/>
              <a:t>e</a:t>
            </a:r>
            <a:r>
              <a:rPr sz="2400" spc="-35" dirty="0"/>
              <a:t>r</a:t>
            </a:r>
            <a:r>
              <a:rPr sz="2400" dirty="0"/>
              <a:t>s	</a:t>
            </a:r>
            <a:r>
              <a:rPr sz="2400" spc="-35" dirty="0"/>
              <a:t>r</a:t>
            </a:r>
            <a:r>
              <a:rPr sz="2400" dirty="0"/>
              <a:t>e</a:t>
            </a:r>
            <a:r>
              <a:rPr sz="2400" spc="-30" dirty="0"/>
              <a:t>c</a:t>
            </a:r>
            <a:r>
              <a:rPr sz="2400" spc="-5" dirty="0"/>
              <a:t>ogni</a:t>
            </a:r>
            <a:r>
              <a:rPr sz="2400" spc="-55" dirty="0"/>
              <a:t>z</a:t>
            </a:r>
            <a:r>
              <a:rPr sz="2400" dirty="0"/>
              <a:t>e	</a:t>
            </a:r>
            <a:r>
              <a:rPr sz="2400" spc="-5" dirty="0"/>
              <a:t>onl</a:t>
            </a:r>
            <a:r>
              <a:rPr sz="2400" dirty="0"/>
              <a:t>y	8  </a:t>
            </a:r>
            <a:r>
              <a:rPr sz="2400" spc="-10" dirty="0"/>
              <a:t>characters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Case</a:t>
            </a:r>
            <a:r>
              <a:rPr sz="2400" spc="-40" dirty="0"/>
              <a:t> </a:t>
            </a:r>
            <a:r>
              <a:rPr sz="2400" spc="-10" dirty="0"/>
              <a:t>sensitive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It</a:t>
            </a:r>
            <a:r>
              <a:rPr sz="2400" spc="-35" dirty="0"/>
              <a:t> </a:t>
            </a:r>
            <a:r>
              <a:rPr sz="2400" spc="-5" dirty="0"/>
              <a:t>should not</a:t>
            </a:r>
            <a:r>
              <a:rPr sz="2400" spc="-25" dirty="0"/>
              <a:t> </a:t>
            </a:r>
            <a:r>
              <a:rPr sz="2400" spc="-5" dirty="0"/>
              <a:t>be</a:t>
            </a:r>
            <a:r>
              <a:rPr sz="2400" spc="-15" dirty="0"/>
              <a:t> </a:t>
            </a:r>
            <a:r>
              <a:rPr sz="2400" spc="-20" dirty="0"/>
              <a:t>keyword</a:t>
            </a:r>
            <a:endParaRPr sz="2400"/>
          </a:p>
          <a:p>
            <a:pPr marL="572135" indent="-45720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571500" algn="l"/>
                <a:tab pos="572135" algn="l"/>
              </a:tabLst>
            </a:pPr>
            <a:r>
              <a:rPr sz="2400" spc="-5" dirty="0"/>
              <a:t>White</a:t>
            </a:r>
            <a:r>
              <a:rPr sz="2400" spc="-30" dirty="0"/>
              <a:t> </a:t>
            </a:r>
            <a:r>
              <a:rPr sz="2400" spc="-5" dirty="0"/>
              <a:t>space</a:t>
            </a:r>
            <a:r>
              <a:rPr sz="2400" spc="-10" dirty="0"/>
              <a:t> </a:t>
            </a:r>
            <a:r>
              <a:rPr sz="2400" dirty="0"/>
              <a:t>is</a:t>
            </a:r>
            <a:r>
              <a:rPr sz="2400" spc="-20" dirty="0"/>
              <a:t> </a:t>
            </a:r>
            <a:r>
              <a:rPr sz="2400" spc="-5" dirty="0"/>
              <a:t>not</a:t>
            </a:r>
            <a:r>
              <a:rPr sz="2400" spc="-30" dirty="0"/>
              <a:t> </a:t>
            </a:r>
            <a:r>
              <a:rPr sz="2400" spc="-10" dirty="0"/>
              <a:t>allowed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963" y="203454"/>
            <a:ext cx="2699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>
                <a:solidFill>
                  <a:srgbClr val="FF0000"/>
                </a:solidFill>
                <a:latin typeface="Calibri Light"/>
                <a:cs typeface="Calibri Light"/>
              </a:rPr>
              <a:t>Variables</a:t>
            </a:r>
            <a:r>
              <a:rPr sz="4000" spc="-10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alibri Light"/>
                <a:cs typeface="Calibri Light"/>
              </a:rPr>
              <a:t>in</a:t>
            </a:r>
            <a:r>
              <a:rPr sz="4000" spc="-10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alibri Light"/>
                <a:cs typeface="Calibri Light"/>
              </a:rPr>
              <a:t>C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6465" y="1377518"/>
            <a:ext cx="1420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Examples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2253995"/>
            <a:ext cx="8926068" cy="26654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32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95986"/>
            <a:ext cx="89700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Declaration</a:t>
            </a:r>
            <a:r>
              <a:rPr spc="-95" dirty="0"/>
              <a:t> </a:t>
            </a:r>
            <a:r>
              <a:rPr spc="-25" dirty="0"/>
              <a:t>and</a:t>
            </a:r>
            <a:r>
              <a:rPr spc="-80" dirty="0"/>
              <a:t> </a:t>
            </a:r>
            <a:r>
              <a:rPr spc="-40" dirty="0"/>
              <a:t>initialization</a:t>
            </a:r>
            <a:r>
              <a:rPr spc="-95" dirty="0"/>
              <a:t> </a:t>
            </a:r>
            <a:r>
              <a:rPr spc="-15" dirty="0"/>
              <a:t>of</a:t>
            </a:r>
            <a:r>
              <a:rPr spc="-55" dirty="0"/>
              <a:t> </a:t>
            </a:r>
            <a:r>
              <a:rPr spc="-6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420113"/>
            <a:ext cx="7427595" cy="3011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Syntax: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data-type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variable_name;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Calibri"/>
              <a:cs typeface="Calibri"/>
            </a:endParaRPr>
          </a:p>
          <a:p>
            <a:pPr marL="927100" marR="1017905">
              <a:lnSpc>
                <a:spcPct val="119000"/>
              </a:lnSpc>
              <a:tabLst>
                <a:tab pos="1567815" algn="l"/>
                <a:tab pos="4584700" algn="l"/>
              </a:tabLst>
            </a:pPr>
            <a:r>
              <a:rPr sz="2800" b="1" spc="-15" dirty="0">
                <a:latin typeface="Calibri"/>
                <a:cs typeface="Calibri"/>
              </a:rPr>
              <a:t>int	</a:t>
            </a:r>
            <a:r>
              <a:rPr sz="2800" b="1" spc="-10" dirty="0">
                <a:latin typeface="Calibri"/>
                <a:cs typeface="Calibri"/>
              </a:rPr>
              <a:t>student_marks;	</a:t>
            </a: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Declaring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float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s1,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s2,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s3;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800" b="1" spc="-15" dirty="0">
                <a:latin typeface="Calibri"/>
                <a:cs typeface="Calibri"/>
              </a:rPr>
              <a:t>int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student_marks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=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48;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assigning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963" y="203454"/>
            <a:ext cx="3010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Data</a:t>
            </a:r>
            <a:r>
              <a:rPr sz="4000" spc="-105" dirty="0"/>
              <a:t> </a:t>
            </a:r>
            <a:r>
              <a:rPr sz="4000" spc="-20" dirty="0"/>
              <a:t>types</a:t>
            </a:r>
            <a:r>
              <a:rPr sz="4000" spc="-105" dirty="0"/>
              <a:t> </a:t>
            </a:r>
            <a:r>
              <a:rPr sz="4000" spc="-5" dirty="0"/>
              <a:t>in</a:t>
            </a:r>
            <a:r>
              <a:rPr sz="4000" spc="-110" dirty="0"/>
              <a:t> </a:t>
            </a:r>
            <a:r>
              <a:rPr sz="4000" spc="-5" dirty="0"/>
              <a:t>C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26465" y="1266409"/>
            <a:ext cx="11040745" cy="4091304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spc="-5" dirty="0">
                <a:latin typeface="Calibri"/>
                <a:cs typeface="Calibri"/>
              </a:rPr>
              <a:t>ANSI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supports </a:t>
            </a:r>
            <a:r>
              <a:rPr sz="2800" b="1" spc="-10" dirty="0">
                <a:latin typeface="Calibri"/>
                <a:cs typeface="Calibri"/>
              </a:rPr>
              <a:t>three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classes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of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datatypes.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10" dirty="0">
                <a:latin typeface="Calibri"/>
                <a:cs typeface="Calibri"/>
              </a:rPr>
              <a:t>Derived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User-defined</a:t>
            </a:r>
            <a:r>
              <a:rPr sz="2400" spc="-15" dirty="0">
                <a:latin typeface="Calibri"/>
                <a:cs typeface="Calibri"/>
              </a:rPr>
              <a:t> 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Primary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data </a:t>
            </a:r>
            <a:r>
              <a:rPr sz="2400" b="1" spc="-5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5" dirty="0">
                <a:latin typeface="Calibri"/>
                <a:cs typeface="Calibri"/>
              </a:rPr>
              <a:t>Supports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five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fundamental</a:t>
            </a:r>
            <a:r>
              <a:rPr sz="2400" spc="-15" dirty="0">
                <a:latin typeface="Calibri"/>
                <a:cs typeface="Calibri"/>
              </a:rPr>
              <a:t> 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1050"/>
              </a:spcBef>
              <a:tabLst>
                <a:tab pos="1057910" algn="l"/>
                <a:tab pos="1807845" algn="l"/>
                <a:tab pos="3168650" algn="l"/>
                <a:tab pos="4132579" algn="l"/>
                <a:tab pos="5235575" algn="l"/>
                <a:tab pos="6045200" algn="l"/>
                <a:tab pos="7035800" algn="l"/>
                <a:tab pos="9274810" algn="l"/>
                <a:tab pos="10378440" algn="l"/>
              </a:tabLst>
            </a:pPr>
            <a:r>
              <a:rPr sz="2400" dirty="0">
                <a:latin typeface="Calibri"/>
                <a:cs typeface="Calibri"/>
              </a:rPr>
              <a:t>I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er	</a:t>
            </a:r>
            <a:r>
              <a:rPr sz="2400" spc="-5" dirty="0">
                <a:latin typeface="Calibri"/>
                <a:cs typeface="Calibri"/>
              </a:rPr>
              <a:t>(i</a:t>
            </a:r>
            <a:r>
              <a:rPr sz="2400" spc="-3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,	</a:t>
            </a:r>
            <a:r>
              <a:rPr sz="2400" spc="-5" dirty="0">
                <a:latin typeface="Calibri"/>
                <a:cs typeface="Calibri"/>
              </a:rPr>
              <a:t>Ch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ac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er	</a:t>
            </a:r>
            <a:r>
              <a:rPr sz="2400" spc="-5" dirty="0">
                <a:latin typeface="Calibri"/>
                <a:cs typeface="Calibri"/>
              </a:rPr>
              <a:t>(char</a:t>
            </a:r>
            <a:r>
              <a:rPr sz="2400" dirty="0">
                <a:latin typeface="Calibri"/>
                <a:cs typeface="Calibri"/>
              </a:rPr>
              <a:t>),	</a:t>
            </a:r>
            <a:r>
              <a:rPr sz="2400" spc="-5" dirty="0">
                <a:latin typeface="Calibri"/>
                <a:cs typeface="Calibri"/>
              </a:rPr>
              <a:t>flo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ting	</a:t>
            </a:r>
            <a:r>
              <a:rPr sz="2400" spc="-5" dirty="0">
                <a:latin typeface="Calibri"/>
                <a:cs typeface="Calibri"/>
              </a:rPr>
              <a:t>poi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	</a:t>
            </a:r>
            <a:r>
              <a:rPr sz="2400" spc="-5" dirty="0">
                <a:latin typeface="Calibri"/>
                <a:cs typeface="Calibri"/>
              </a:rPr>
              <a:t>(flo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,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ubl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-p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isi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	</a:t>
            </a:r>
            <a:r>
              <a:rPr sz="2400" spc="-5" dirty="0">
                <a:latin typeface="Calibri"/>
                <a:cs typeface="Calibri"/>
              </a:rPr>
              <a:t>flo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ting	</a:t>
            </a:r>
            <a:r>
              <a:rPr sz="2400" spc="-5" dirty="0">
                <a:latin typeface="Calibri"/>
                <a:cs typeface="Calibri"/>
              </a:rPr>
              <a:t>poi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  </a:t>
            </a:r>
            <a:r>
              <a:rPr sz="2400" spc="-5" dirty="0">
                <a:latin typeface="Calibri"/>
                <a:cs typeface="Calibri"/>
              </a:rPr>
              <a:t>(double)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void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963" y="203454"/>
            <a:ext cx="3010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FF0000"/>
                </a:solidFill>
                <a:latin typeface="Calibri Light"/>
                <a:cs typeface="Calibri Light"/>
              </a:rPr>
              <a:t>Data</a:t>
            </a:r>
            <a:r>
              <a:rPr sz="4000" spc="-10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000" spc="-20" dirty="0">
                <a:solidFill>
                  <a:srgbClr val="FF0000"/>
                </a:solidFill>
                <a:latin typeface="Calibri Light"/>
                <a:cs typeface="Calibri Light"/>
              </a:rPr>
              <a:t>types</a:t>
            </a:r>
            <a:r>
              <a:rPr sz="4000" spc="-10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alibri Light"/>
                <a:cs typeface="Calibri Light"/>
              </a:rPr>
              <a:t>in</a:t>
            </a:r>
            <a:r>
              <a:rPr sz="4000" spc="-11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alibri Light"/>
                <a:cs typeface="Calibri Light"/>
              </a:rPr>
              <a:t>C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6465" y="1386662"/>
            <a:ext cx="24136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Primary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data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579" y="1862327"/>
            <a:ext cx="7508748" cy="44942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154" y="228600"/>
            <a:ext cx="11143691" cy="569438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457200"/>
            <a:ext cx="8610599" cy="520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004" y="208610"/>
            <a:ext cx="11619991" cy="1354217"/>
          </a:xfrm>
        </p:spPr>
        <p:txBody>
          <a:bodyPr/>
          <a:lstStyle/>
          <a:p>
            <a:r>
              <a:rPr lang="en-US" b="1" dirty="0" smtClean="0"/>
              <a:t>Get the Exact Size of Any Data Type in C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154" y="1291296"/>
            <a:ext cx="11143691" cy="2585323"/>
          </a:xfrm>
        </p:spPr>
        <p:txBody>
          <a:bodyPr/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r>
              <a:rPr lang="en-US" dirty="0" smtClean="0"/>
              <a:t> {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("'</a:t>
            </a:r>
            <a:r>
              <a:rPr lang="en-US" dirty="0" err="1" smtClean="0"/>
              <a:t>int</a:t>
            </a:r>
            <a:r>
              <a:rPr lang="en-US" dirty="0" smtClean="0"/>
              <a:t>' storage size = %d\n", </a:t>
            </a:r>
            <a:r>
              <a:rPr lang="en-US" dirty="0" err="1" smtClean="0"/>
              <a:t>sizeof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));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011" y="179019"/>
            <a:ext cx="3864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Primary</a:t>
            </a:r>
            <a:r>
              <a:rPr sz="4000" spc="-135" dirty="0"/>
              <a:t> </a:t>
            </a:r>
            <a:r>
              <a:rPr sz="4000" spc="-50" dirty="0"/>
              <a:t>Data</a:t>
            </a:r>
            <a:r>
              <a:rPr sz="4000" spc="-100" dirty="0"/>
              <a:t> </a:t>
            </a:r>
            <a:r>
              <a:rPr sz="4000" spc="-70" dirty="0"/>
              <a:t>Types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1196" y="1105216"/>
            <a:ext cx="7990293" cy="54297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dirty="0"/>
              <a:t>37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08610"/>
            <a:ext cx="6245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Defining</a:t>
            </a:r>
            <a:r>
              <a:rPr spc="-114" dirty="0"/>
              <a:t> </a:t>
            </a:r>
            <a:r>
              <a:rPr spc="-45" dirty="0"/>
              <a:t>Symbolic</a:t>
            </a:r>
            <a:r>
              <a:rPr spc="-110" dirty="0"/>
              <a:t> </a:t>
            </a:r>
            <a:r>
              <a:rPr spc="-50" dirty="0"/>
              <a:t>Constants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559" y="1355293"/>
            <a:ext cx="10361295" cy="18592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constant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value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assigned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these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names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beginning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of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25" dirty="0">
                <a:latin typeface="Calibri"/>
                <a:cs typeface="Calibri"/>
              </a:rPr>
              <a:t>Syntax: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#define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Symbolic-name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value-of-constant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559" y="3785361"/>
            <a:ext cx="1374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E</a:t>
            </a:r>
            <a:r>
              <a:rPr sz="2800" b="1" spc="-50" dirty="0">
                <a:latin typeface="Calibri"/>
                <a:cs typeface="Calibri"/>
              </a:rPr>
              <a:t>x</a:t>
            </a:r>
            <a:r>
              <a:rPr sz="2800" b="1" spc="-5" dirty="0">
                <a:latin typeface="Calibri"/>
                <a:cs typeface="Calibri"/>
              </a:rPr>
              <a:t>ampl</a:t>
            </a:r>
            <a:r>
              <a:rPr sz="2800" b="1" spc="-15" dirty="0">
                <a:latin typeface="Calibri"/>
                <a:cs typeface="Calibri"/>
              </a:rPr>
              <a:t>e</a:t>
            </a:r>
            <a:r>
              <a:rPr sz="2800" b="1" spc="-5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2614" y="3701309"/>
            <a:ext cx="3364865" cy="104648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800" spc="-15" dirty="0">
                <a:latin typeface="Calibri"/>
                <a:cs typeface="Calibri"/>
              </a:rPr>
              <a:t>#define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STRENGTH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100</a:t>
            </a:r>
            <a:endParaRPr sz="2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latin typeface="Calibri"/>
                <a:cs typeface="Calibri"/>
              </a:rPr>
              <a:t>#define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PASSMARK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50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154" y="1291297"/>
            <a:ext cx="11143691" cy="4308872"/>
          </a:xfrm>
        </p:spPr>
        <p:txBody>
          <a:bodyPr/>
          <a:lstStyle/>
          <a:p>
            <a:r>
              <a:rPr lang="en-US" dirty="0" smtClean="0"/>
              <a:t>#</a:t>
            </a:r>
            <a:r>
              <a:rPr lang="en-US" dirty="0" smtClean="0"/>
              <a:t>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void </a:t>
            </a:r>
            <a:r>
              <a:rPr lang="en-US" dirty="0" smtClean="0"/>
              <a:t>main</a:t>
            </a:r>
            <a:r>
              <a:rPr lang="en-US" dirty="0" smtClean="0"/>
              <a:t>()</a:t>
            </a:r>
          </a:p>
          <a:p>
            <a:r>
              <a:rPr lang="en-US" dirty="0" smtClean="0"/>
              <a:t>{   </a:t>
            </a:r>
          </a:p>
          <a:p>
            <a:r>
              <a:rPr lang="en-US" dirty="0" smtClean="0"/>
              <a:t> </a:t>
            </a:r>
            <a:r>
              <a:rPr lang="en-US" dirty="0" smtClean="0"/>
              <a:t>void print();  </a:t>
            </a:r>
            <a:endParaRPr lang="en-US" dirty="0" smtClean="0"/>
          </a:p>
          <a:p>
            <a:r>
              <a:rPr lang="en-US" dirty="0" smtClean="0"/>
              <a:t>  </a:t>
            </a:r>
            <a:r>
              <a:rPr lang="en-US" dirty="0" smtClean="0"/>
              <a:t>print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void </a:t>
            </a:r>
            <a:r>
              <a:rPr lang="en-US" dirty="0" smtClean="0">
                <a:solidFill>
                  <a:srgbClr val="FF0000"/>
                </a:solidFill>
              </a:rPr>
              <a:t>print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</a:p>
          <a:p>
            <a:r>
              <a:rPr lang="en-US" dirty="0" smtClean="0"/>
              <a:t>{   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("Welcome</a:t>
            </a:r>
            <a:r>
              <a:rPr lang="en-US" dirty="0" smtClean="0"/>
              <a:t>");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154" y="228600"/>
            <a:ext cx="11143691" cy="689419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//</a:t>
            </a:r>
            <a:r>
              <a:rPr lang="en-US" b="1" dirty="0" smtClean="0">
                <a:solidFill>
                  <a:srgbClr val="FF0000"/>
                </a:solidFill>
              </a:rPr>
              <a:t>Swap Numbers Without Using Temporary Variables</a:t>
            </a:r>
          </a:p>
          <a:p>
            <a:r>
              <a:rPr lang="en-US" dirty="0" smtClean="0"/>
              <a:t>#</a:t>
            </a:r>
            <a:r>
              <a:rPr lang="en-US" dirty="0" smtClean="0"/>
              <a:t>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{</a:t>
            </a:r>
          </a:p>
          <a:p>
            <a:r>
              <a:rPr lang="en-US" dirty="0" smtClean="0"/>
              <a:t>  double a, b;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 smtClean="0"/>
              <a:t>("Enter a: ");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scanf</a:t>
            </a:r>
            <a:r>
              <a:rPr lang="en-US" dirty="0" smtClean="0"/>
              <a:t>("%lf", &amp;a);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 smtClean="0"/>
              <a:t>("Enter b: ");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scanf</a:t>
            </a:r>
            <a:r>
              <a:rPr lang="en-US" dirty="0" smtClean="0"/>
              <a:t>("%lf", &amp;b);</a:t>
            </a:r>
          </a:p>
          <a:p>
            <a:r>
              <a:rPr lang="en-US" dirty="0" smtClean="0"/>
              <a:t>  </a:t>
            </a:r>
            <a:r>
              <a:rPr lang="en-US" dirty="0" smtClean="0"/>
              <a:t>a = a - b;   </a:t>
            </a:r>
          </a:p>
          <a:p>
            <a:r>
              <a:rPr lang="en-US" dirty="0" smtClean="0"/>
              <a:t>  </a:t>
            </a:r>
            <a:r>
              <a:rPr lang="en-US" dirty="0" smtClean="0"/>
              <a:t>b = a + b;</a:t>
            </a:r>
          </a:p>
          <a:p>
            <a:r>
              <a:rPr lang="en-US" dirty="0" smtClean="0"/>
              <a:t>  </a:t>
            </a:r>
            <a:r>
              <a:rPr lang="en-US" dirty="0" smtClean="0"/>
              <a:t>a = b - a;</a:t>
            </a:r>
          </a:p>
          <a:p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// %.2lf displays numbers up to 2 decimal places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 smtClean="0"/>
              <a:t>("After swapping, a = %.2lf</a:t>
            </a:r>
            <a:r>
              <a:rPr lang="en-US" dirty="0" smtClean="0">
                <a:solidFill>
                  <a:srgbClr val="FF0000"/>
                </a:solidFill>
              </a:rPr>
              <a:t>\n</a:t>
            </a:r>
            <a:r>
              <a:rPr lang="en-US" dirty="0" smtClean="0"/>
              <a:t>", a);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 smtClean="0"/>
              <a:t>("After swapping, b = %.2lf", b);</a:t>
            </a:r>
          </a:p>
          <a:p>
            <a:r>
              <a:rPr lang="en-US" dirty="0" smtClean="0"/>
              <a:t>  </a:t>
            </a:r>
            <a:r>
              <a:rPr lang="en-US" dirty="0" smtClean="0"/>
              <a:t>return 0;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1070</Words>
  <Application>Microsoft Office PowerPoint</Application>
  <PresentationFormat>Custom</PresentationFormat>
  <Paragraphs>250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Slide 1</vt:lpstr>
      <vt:lpstr>Slide 2</vt:lpstr>
      <vt:lpstr>Slide 3</vt:lpstr>
      <vt:lpstr>History of C</vt:lpstr>
      <vt:lpstr>Who? When? Where? Why?</vt:lpstr>
      <vt:lpstr>Why C is Middle Level Language ?</vt:lpstr>
      <vt:lpstr>Why C is Middle Level Language ?</vt:lpstr>
      <vt:lpstr>Features of C</vt:lpstr>
      <vt:lpstr>All the world is in “C”</vt:lpstr>
      <vt:lpstr>Structure of C Program</vt:lpstr>
      <vt:lpstr>An Example C Program</vt:lpstr>
      <vt:lpstr>Another Example</vt:lpstr>
      <vt:lpstr>Execution Process</vt:lpstr>
      <vt:lpstr>C Tokens</vt:lpstr>
      <vt:lpstr>Keywords of ANSI C</vt:lpstr>
      <vt:lpstr>Identifiers</vt:lpstr>
      <vt:lpstr>Slide 17</vt:lpstr>
      <vt:lpstr>1. Integer Constant</vt:lpstr>
      <vt:lpstr>Integer Constant</vt:lpstr>
      <vt:lpstr>2. Floating Point or Real Constant</vt:lpstr>
      <vt:lpstr>3. Character Constant</vt:lpstr>
      <vt:lpstr>4. String Constant</vt:lpstr>
      <vt:lpstr>Variables in C</vt:lpstr>
      <vt:lpstr>Variables in C</vt:lpstr>
      <vt:lpstr>Slide 25</vt:lpstr>
      <vt:lpstr>Declaration and initialization of Variables</vt:lpstr>
      <vt:lpstr>Data types in C</vt:lpstr>
      <vt:lpstr>Slide 28</vt:lpstr>
      <vt:lpstr>Slide 29</vt:lpstr>
      <vt:lpstr>Get the Exact Size of Any Data Type in C </vt:lpstr>
      <vt:lpstr>Primary Data Types</vt:lpstr>
      <vt:lpstr>Defining Symbolic Constants</vt:lpstr>
      <vt:lpstr>Slide 33</vt:lpstr>
      <vt:lpstr>Slide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of C</dc:title>
  <cp:lastModifiedBy>ELCOT</cp:lastModifiedBy>
  <cp:revision>29</cp:revision>
  <dcterms:created xsi:type="dcterms:W3CDTF">2023-02-15T16:43:22Z</dcterms:created>
  <dcterms:modified xsi:type="dcterms:W3CDTF">2023-02-21T07:43:59Z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2023-02-15T00:00:00Z</vt:filetime>
  </property>
</Properties>
</file>