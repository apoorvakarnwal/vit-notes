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66" r:id="rId6"/>
    <p:sldId id="259" r:id="rId7"/>
    <p:sldId id="260" r:id="rId8"/>
    <p:sldId id="267" r:id="rId9"/>
    <p:sldId id="261" r:id="rId10"/>
    <p:sldId id="262" r:id="rId11"/>
    <p:sldId id="263" r:id="rId12"/>
    <p:sldId id="264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F3A37-06D5-4F3F-AD9D-50083676AFA6}" type="datetimeFigureOut">
              <a:rPr lang="en-IN" smtClean="0"/>
              <a:pPr/>
              <a:t>21-03-2023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14774-211A-4222-AD1A-C2BC0714DF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618068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F3A37-06D5-4F3F-AD9D-50083676AFA6}" type="datetimeFigureOut">
              <a:rPr lang="en-IN" smtClean="0"/>
              <a:pPr/>
              <a:t>21-03-2023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14774-211A-4222-AD1A-C2BC0714DF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640717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F3A37-06D5-4F3F-AD9D-50083676AFA6}" type="datetimeFigureOut">
              <a:rPr lang="en-IN" smtClean="0"/>
              <a:pPr/>
              <a:t>21-03-2023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14774-211A-4222-AD1A-C2BC0714DF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4285529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F3A37-06D5-4F3F-AD9D-50083676AFA6}" type="datetimeFigureOut">
              <a:rPr lang="en-IN" smtClean="0"/>
              <a:pPr/>
              <a:t>21-03-2023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14774-211A-4222-AD1A-C2BC0714DF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7842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F3A37-06D5-4F3F-AD9D-50083676AFA6}" type="datetimeFigureOut">
              <a:rPr lang="en-IN" smtClean="0"/>
              <a:pPr/>
              <a:t>21-03-2023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14774-211A-4222-AD1A-C2BC0714DF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010931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F3A37-06D5-4F3F-AD9D-50083676AFA6}" type="datetimeFigureOut">
              <a:rPr lang="en-IN" smtClean="0"/>
              <a:pPr/>
              <a:t>21-03-2023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14774-211A-4222-AD1A-C2BC0714DF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117392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F3A37-06D5-4F3F-AD9D-50083676AFA6}" type="datetimeFigureOut">
              <a:rPr lang="en-IN" smtClean="0"/>
              <a:pPr/>
              <a:t>21-03-2023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14774-211A-4222-AD1A-C2BC0714DF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71094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F3A37-06D5-4F3F-AD9D-50083676AFA6}" type="datetimeFigureOut">
              <a:rPr lang="en-IN" smtClean="0"/>
              <a:pPr/>
              <a:t>21-03-2023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14774-211A-4222-AD1A-C2BC0714DF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429556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F3A37-06D5-4F3F-AD9D-50083676AFA6}" type="datetimeFigureOut">
              <a:rPr lang="en-IN" smtClean="0"/>
              <a:pPr/>
              <a:t>21-03-2023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14774-211A-4222-AD1A-C2BC0714DF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832492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F3A37-06D5-4F3F-AD9D-50083676AFA6}" type="datetimeFigureOut">
              <a:rPr lang="en-IN" smtClean="0"/>
              <a:pPr/>
              <a:t>21-03-2023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14774-211A-4222-AD1A-C2BC0714DF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63599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F3A37-06D5-4F3F-AD9D-50083676AFA6}" type="datetimeFigureOut">
              <a:rPr lang="en-IN" smtClean="0"/>
              <a:pPr/>
              <a:t>21-03-2023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14774-211A-4222-AD1A-C2BC0714DF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441197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F3A37-06D5-4F3F-AD9D-50083676AFA6}" type="datetimeFigureOut">
              <a:rPr lang="en-IN" smtClean="0"/>
              <a:pPr/>
              <a:t>21-03-2023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714774-211A-4222-AD1A-C2BC0714DF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450707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rogramiz.com/c-programming/c-dynamic-memory-allocation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Dynamic Memory Allocation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567952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Allocation of Memory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r>
              <a:rPr lang="en-US" i="1" dirty="0" smtClean="0"/>
              <a:t>Static Allocation</a:t>
            </a:r>
            <a:r>
              <a:rPr lang="en-US" dirty="0" smtClean="0"/>
              <a:t>: Allocation of memory space when execution begins.</a:t>
            </a:r>
          </a:p>
          <a:p>
            <a:pPr>
              <a:spcBef>
                <a:spcPct val="0"/>
              </a:spcBef>
            </a:pPr>
            <a:endParaRPr lang="en-US" dirty="0" smtClean="0"/>
          </a:p>
          <a:p>
            <a:pPr>
              <a:spcBef>
                <a:spcPct val="0"/>
              </a:spcBef>
            </a:pPr>
            <a:r>
              <a:rPr lang="en-US" i="1" dirty="0" smtClean="0"/>
              <a:t>Dynamic Allocation</a:t>
            </a:r>
            <a:r>
              <a:rPr lang="en-US" dirty="0" smtClean="0"/>
              <a:t>: Allocation of memory space at run time.</a:t>
            </a:r>
          </a:p>
        </p:txBody>
      </p:sp>
    </p:spTree>
    <p:extLst>
      <p:ext uri="{BB962C8B-B14F-4D97-AF65-F5344CB8AC3E}">
        <p14:creationId xmlns="" xmlns:p14="http://schemas.microsoft.com/office/powerpoint/2010/main" val="744061688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1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IN" dirty="0" smtClean="0"/>
              <a:t>Dynamic memory Allocation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96752"/>
            <a:ext cx="8363272" cy="5400600"/>
          </a:xfrm>
        </p:spPr>
        <p:txBody>
          <a:bodyPr>
            <a:normAutofit/>
          </a:bodyPr>
          <a:lstStyle/>
          <a:p>
            <a:r>
              <a:rPr lang="en-IN" sz="2400" dirty="0" smtClean="0"/>
              <a:t>Dynamic memory allocation allows your program to obtain more memory space while running, or to release it if it's not required.</a:t>
            </a:r>
          </a:p>
          <a:p>
            <a:r>
              <a:rPr lang="en-US" sz="2400" dirty="0" smtClean="0"/>
              <a:t>There are 4 library functions provided by C defined under</a:t>
            </a:r>
            <a:r>
              <a:rPr lang="en-US" sz="2400" dirty="0" smtClean="0">
                <a:solidFill>
                  <a:srgbClr val="FF0000"/>
                </a:solidFill>
              </a:rPr>
              <a:t> </a:t>
            </a:r>
            <a:r>
              <a:rPr lang="en-US" sz="2400" b="1" dirty="0" smtClean="0">
                <a:solidFill>
                  <a:srgbClr val="FF0000"/>
                </a:solidFill>
              </a:rPr>
              <a:t>&lt;</a:t>
            </a:r>
            <a:r>
              <a:rPr lang="en-US" sz="2400" b="1" dirty="0" err="1" smtClean="0">
                <a:solidFill>
                  <a:srgbClr val="FF0000"/>
                </a:solidFill>
              </a:rPr>
              <a:t>stdlib.h</a:t>
            </a:r>
            <a:r>
              <a:rPr lang="en-US" sz="2400" b="1" dirty="0" smtClean="0">
                <a:solidFill>
                  <a:srgbClr val="FF0000"/>
                </a:solidFill>
              </a:rPr>
              <a:t>&gt;</a:t>
            </a:r>
            <a:r>
              <a:rPr lang="en-US" sz="2400" dirty="0" smtClean="0">
                <a:solidFill>
                  <a:srgbClr val="FF0000"/>
                </a:solidFill>
              </a:rPr>
              <a:t> </a:t>
            </a:r>
            <a:r>
              <a:rPr lang="en-US" sz="2400" dirty="0" smtClean="0"/>
              <a:t>header file to facilitate dynamic memory allocation in C programming.</a:t>
            </a:r>
            <a:endParaRPr lang="en-IN" sz="2400" dirty="0" smtClean="0"/>
          </a:p>
          <a:p>
            <a:endParaRPr lang="en-IN" sz="2400" dirty="0" smtClean="0"/>
          </a:p>
          <a:p>
            <a:r>
              <a:rPr lang="en-IN" sz="2400" dirty="0" smtClean="0"/>
              <a:t>Dynamically allocate memory in your C program using C standard library functions: </a:t>
            </a:r>
            <a:r>
              <a:rPr lang="en-IN" sz="2400" dirty="0" err="1" smtClean="0"/>
              <a:t>malloc</a:t>
            </a:r>
            <a:r>
              <a:rPr lang="en-IN" sz="2400" dirty="0" smtClean="0"/>
              <a:t>(), </a:t>
            </a:r>
            <a:r>
              <a:rPr lang="en-IN" sz="2400" dirty="0" err="1" smtClean="0"/>
              <a:t>calloc</a:t>
            </a:r>
            <a:r>
              <a:rPr lang="en-IN" sz="2400" dirty="0" smtClean="0"/>
              <a:t>(), free() and </a:t>
            </a:r>
            <a:r>
              <a:rPr lang="en-IN" sz="2400" dirty="0" err="1" smtClean="0"/>
              <a:t>realloc</a:t>
            </a:r>
            <a:r>
              <a:rPr lang="en-IN" sz="2400" dirty="0" smtClean="0"/>
              <a:t>()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472080883"/>
              </p:ext>
            </p:extLst>
          </p:nvPr>
        </p:nvGraphicFramePr>
        <p:xfrm>
          <a:off x="539552" y="3645024"/>
          <a:ext cx="8229600" cy="2920365"/>
        </p:xfrm>
        <a:graphic>
          <a:graphicData uri="http://schemas.openxmlformats.org/drawingml/2006/table">
            <a:tbl>
              <a:tblPr/>
              <a:tblGrid>
                <a:gridCol w="1728192"/>
                <a:gridCol w="6501408"/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b="0" dirty="0">
                          <a:effectLst/>
                        </a:rPr>
                        <a:t>Function</a:t>
                      </a:r>
                    </a:p>
                  </a:txBody>
                  <a:tcPr marL="95250" marR="76200" marT="142875" marB="133350" anchor="ctr">
                    <a:lnL w="9525" cap="flat" cmpd="sng" algn="ctr">
                      <a:solidFill>
                        <a:srgbClr val="EA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0" dirty="0">
                          <a:effectLst/>
                        </a:rPr>
                        <a:t>Use of Function</a:t>
                      </a:r>
                    </a:p>
                  </a:txBody>
                  <a:tcPr marL="95250" marR="76200" marT="142875" marB="133350" anchor="ctr">
                    <a:lnL w="9525" cap="flat" cmpd="sng" algn="ctr">
                      <a:solidFill>
                        <a:srgbClr val="EA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u="none" strike="noStrike">
                          <a:solidFill>
                            <a:srgbClr val="2B6DAD"/>
                          </a:solidFill>
                          <a:effectLst/>
                          <a:hlinkClick r:id="rId2"/>
                        </a:rPr>
                        <a:t>malloc()</a:t>
                      </a:r>
                      <a:endParaRPr lang="en-IN">
                        <a:effectLst/>
                      </a:endParaRPr>
                    </a:p>
                  </a:txBody>
                  <a:tcPr marL="95250" marR="76200" marT="95250" marB="85725" anchor="ctr">
                    <a:lnL w="9525" cap="flat" cmpd="sng" algn="ctr">
                      <a:solidFill>
                        <a:srgbClr val="EA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Allocates requested size of bytes and returns a pointer first byte of allocated space</a:t>
                      </a:r>
                    </a:p>
                  </a:txBody>
                  <a:tcPr marL="95250" marR="76200" marT="95250" marB="85725" anchor="ctr">
                    <a:lnL w="9525" cap="flat" cmpd="sng" algn="ctr">
                      <a:solidFill>
                        <a:srgbClr val="EA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u="none" strike="noStrike">
                          <a:solidFill>
                            <a:srgbClr val="2B6DAD"/>
                          </a:solidFill>
                          <a:effectLst/>
                          <a:hlinkClick r:id="rId2"/>
                        </a:rPr>
                        <a:t>calloc()</a:t>
                      </a:r>
                      <a:endParaRPr lang="en-IN">
                        <a:effectLst/>
                      </a:endParaRPr>
                    </a:p>
                  </a:txBody>
                  <a:tcPr marL="95250" marR="76200" marT="95250" marB="85725" anchor="ctr">
                    <a:lnL w="9525" cap="flat" cmpd="sng" algn="ctr">
                      <a:solidFill>
                        <a:srgbClr val="EA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Allocates space for an array elements, initializes to zero and then returns a pointer to memory</a:t>
                      </a:r>
                    </a:p>
                  </a:txBody>
                  <a:tcPr marL="95250" marR="76200" marT="95250" marB="85725" anchor="ctr">
                    <a:lnL w="9525" cap="flat" cmpd="sng" algn="ctr">
                      <a:solidFill>
                        <a:srgbClr val="EA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u="none" strike="noStrike">
                          <a:solidFill>
                            <a:srgbClr val="2B6DAD"/>
                          </a:solidFill>
                          <a:effectLst/>
                          <a:hlinkClick r:id="rId2"/>
                        </a:rPr>
                        <a:t>free()</a:t>
                      </a:r>
                      <a:endParaRPr lang="en-IN">
                        <a:effectLst/>
                      </a:endParaRPr>
                    </a:p>
                  </a:txBody>
                  <a:tcPr marL="95250" marR="76200" marT="95250" marB="85725" anchor="ctr">
                    <a:lnL w="9525" cap="flat" cmpd="sng" algn="ctr">
                      <a:solidFill>
                        <a:srgbClr val="EA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deallocate the previously allocated space</a:t>
                      </a:r>
                    </a:p>
                  </a:txBody>
                  <a:tcPr marL="95250" marR="76200" marT="95250" marB="85725" anchor="ctr">
                    <a:lnL w="9525" cap="flat" cmpd="sng" algn="ctr">
                      <a:solidFill>
                        <a:srgbClr val="EA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u="none" strike="noStrike">
                          <a:solidFill>
                            <a:srgbClr val="2B6DAD"/>
                          </a:solidFill>
                          <a:effectLst/>
                          <a:hlinkClick r:id="rId2"/>
                        </a:rPr>
                        <a:t>realloc()</a:t>
                      </a:r>
                      <a:endParaRPr lang="en-IN">
                        <a:effectLst/>
                      </a:endParaRPr>
                    </a:p>
                  </a:txBody>
                  <a:tcPr marL="95250" marR="76200" marT="95250" marB="85725" anchor="ctr">
                    <a:lnL w="9525" cap="flat" cmpd="sng" algn="ctr">
                      <a:solidFill>
                        <a:srgbClr val="EA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Change the size of previously allocated space</a:t>
                      </a:r>
                    </a:p>
                  </a:txBody>
                  <a:tcPr marL="95250" marR="76200" marT="95250" marB="85725" anchor="ctr">
                    <a:lnL w="9525" cap="flat" cmpd="sng" algn="ctr">
                      <a:solidFill>
                        <a:srgbClr val="EA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4042899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IN" dirty="0" err="1" smtClean="0"/>
              <a:t>malloc</a:t>
            </a:r>
            <a:r>
              <a:rPr lang="en-IN" dirty="0" smtClean="0"/>
              <a:t>()   &amp;   free()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620688"/>
            <a:ext cx="8928992" cy="6237312"/>
          </a:xfrm>
        </p:spPr>
        <p:txBody>
          <a:bodyPr>
            <a:normAutofit fontScale="70000" lnSpcReduction="20000"/>
          </a:bodyPr>
          <a:lstStyle/>
          <a:p>
            <a:r>
              <a:rPr lang="en-IN" dirty="0" err="1"/>
              <a:t>m</a:t>
            </a:r>
            <a:r>
              <a:rPr lang="en-IN" dirty="0" err="1" smtClean="0"/>
              <a:t>alloc</a:t>
            </a:r>
            <a:r>
              <a:rPr lang="en-IN" dirty="0" smtClean="0"/>
              <a:t>()</a:t>
            </a:r>
          </a:p>
          <a:p>
            <a:r>
              <a:rPr lang="en-IN" dirty="0"/>
              <a:t>The name </a:t>
            </a:r>
            <a:r>
              <a:rPr lang="en-IN" dirty="0" err="1"/>
              <a:t>malloc</a:t>
            </a:r>
            <a:r>
              <a:rPr lang="en-IN" dirty="0"/>
              <a:t> stands for "memory allocation".</a:t>
            </a:r>
            <a:endParaRPr lang="en-IN" dirty="0" smtClean="0"/>
          </a:p>
          <a:p>
            <a:pPr marL="0" indent="0" algn="just">
              <a:buNone/>
            </a:pPr>
            <a:r>
              <a:rPr lang="en-IN" dirty="0"/>
              <a:t>The function </a:t>
            </a:r>
            <a:r>
              <a:rPr lang="en-IN" dirty="0" err="1" smtClean="0"/>
              <a:t>malloc</a:t>
            </a:r>
            <a:r>
              <a:rPr lang="en-IN" dirty="0" smtClean="0"/>
              <a:t>()</a:t>
            </a:r>
            <a:r>
              <a:rPr lang="en-IN" dirty="0"/>
              <a:t> reserves a block of memory of specified size and return a </a:t>
            </a:r>
            <a:r>
              <a:rPr lang="en-IN" dirty="0" smtClean="0"/>
              <a:t>pointer of </a:t>
            </a:r>
            <a:r>
              <a:rPr lang="en-IN" dirty="0"/>
              <a:t>type </a:t>
            </a:r>
            <a:r>
              <a:rPr lang="en-IN" dirty="0" smtClean="0"/>
              <a:t>void</a:t>
            </a:r>
            <a:r>
              <a:rPr lang="en-IN" dirty="0"/>
              <a:t> which can be casted into pointer of any form</a:t>
            </a:r>
            <a:r>
              <a:rPr lang="en-IN" dirty="0" smtClean="0"/>
              <a:t>.</a:t>
            </a:r>
          </a:p>
          <a:p>
            <a:pPr marL="0" indent="0" algn="just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	Syntax of </a:t>
            </a:r>
            <a:r>
              <a:rPr lang="en-IN" dirty="0" err="1" smtClean="0"/>
              <a:t>malloc</a:t>
            </a:r>
            <a:r>
              <a:rPr lang="en-IN" dirty="0" smtClean="0"/>
              <a:t>()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sz="3400" dirty="0" err="1" smtClean="0">
                <a:solidFill>
                  <a:srgbClr val="FF0000"/>
                </a:solidFill>
              </a:rPr>
              <a:t>ptr</a:t>
            </a:r>
            <a:r>
              <a:rPr lang="en-IN" sz="3400" dirty="0" smtClean="0">
                <a:solidFill>
                  <a:srgbClr val="FF0000"/>
                </a:solidFill>
              </a:rPr>
              <a:t> = (cast-type*) </a:t>
            </a:r>
            <a:r>
              <a:rPr lang="en-IN" sz="3400" dirty="0" err="1" smtClean="0">
                <a:solidFill>
                  <a:srgbClr val="FF0000"/>
                </a:solidFill>
              </a:rPr>
              <a:t>malloc</a:t>
            </a:r>
            <a:r>
              <a:rPr lang="en-IN" sz="3400" dirty="0" smtClean="0">
                <a:solidFill>
                  <a:srgbClr val="FF0000"/>
                </a:solidFill>
              </a:rPr>
              <a:t>(byte-size)</a:t>
            </a:r>
          </a:p>
          <a:p>
            <a:pPr marL="0" indent="0">
              <a:buNone/>
            </a:pPr>
            <a:r>
              <a:rPr lang="en-IN" dirty="0" smtClean="0"/>
              <a:t>	Example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sz="3400" dirty="0" err="1" smtClean="0">
                <a:solidFill>
                  <a:srgbClr val="FF0000"/>
                </a:solidFill>
              </a:rPr>
              <a:t>ptr</a:t>
            </a:r>
            <a:r>
              <a:rPr lang="en-IN" sz="3400" dirty="0" smtClean="0">
                <a:solidFill>
                  <a:srgbClr val="FF0000"/>
                </a:solidFill>
              </a:rPr>
              <a:t> = (</a:t>
            </a:r>
            <a:r>
              <a:rPr lang="en-IN" sz="3400" dirty="0" err="1" smtClean="0">
                <a:solidFill>
                  <a:srgbClr val="FF0000"/>
                </a:solidFill>
              </a:rPr>
              <a:t>int</a:t>
            </a:r>
            <a:r>
              <a:rPr lang="en-IN" sz="3400" dirty="0" smtClean="0">
                <a:solidFill>
                  <a:srgbClr val="FF0000"/>
                </a:solidFill>
              </a:rPr>
              <a:t>*) </a:t>
            </a:r>
            <a:r>
              <a:rPr lang="en-IN" sz="3400" dirty="0" err="1" smtClean="0">
                <a:solidFill>
                  <a:srgbClr val="FF0000"/>
                </a:solidFill>
              </a:rPr>
              <a:t>malloc</a:t>
            </a:r>
            <a:r>
              <a:rPr lang="en-IN" sz="3400" dirty="0" smtClean="0">
                <a:solidFill>
                  <a:srgbClr val="FF0000"/>
                </a:solidFill>
              </a:rPr>
              <a:t>(100 * </a:t>
            </a:r>
            <a:r>
              <a:rPr lang="en-IN" sz="3400" dirty="0" err="1" smtClean="0">
                <a:solidFill>
                  <a:srgbClr val="FF0000"/>
                </a:solidFill>
              </a:rPr>
              <a:t>sizeof</a:t>
            </a:r>
            <a:r>
              <a:rPr lang="en-IN" sz="3400" dirty="0" smtClean="0">
                <a:solidFill>
                  <a:srgbClr val="FF0000"/>
                </a:solidFill>
              </a:rPr>
              <a:t>(</a:t>
            </a:r>
            <a:r>
              <a:rPr lang="en-IN" sz="3400" dirty="0" err="1" smtClean="0">
                <a:solidFill>
                  <a:srgbClr val="FF0000"/>
                </a:solidFill>
              </a:rPr>
              <a:t>int</a:t>
            </a:r>
            <a:r>
              <a:rPr lang="en-IN" sz="3400" dirty="0" smtClean="0">
                <a:solidFill>
                  <a:srgbClr val="FF0000"/>
                </a:solidFill>
              </a:rPr>
              <a:t>));</a:t>
            </a:r>
          </a:p>
          <a:p>
            <a:pPr marL="0" indent="0">
              <a:buNone/>
            </a:pPr>
            <a:endParaRPr lang="en-IN" sz="3400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dirty="0" smtClean="0">
              <a:solidFill>
                <a:srgbClr val="FF0000"/>
              </a:solidFill>
            </a:endParaRPr>
          </a:p>
          <a:p>
            <a:r>
              <a:rPr lang="en-IN" dirty="0"/>
              <a:t>f</a:t>
            </a:r>
            <a:r>
              <a:rPr lang="en-IN" dirty="0" smtClean="0"/>
              <a:t>ree()</a:t>
            </a:r>
          </a:p>
          <a:p>
            <a:pPr marL="0" indent="0" algn="just">
              <a:buNone/>
            </a:pPr>
            <a:r>
              <a:rPr lang="en-IN" dirty="0"/>
              <a:t>Dynamically allocated memory created with either </a:t>
            </a:r>
            <a:r>
              <a:rPr lang="en-IN" dirty="0" err="1"/>
              <a:t>calloc</a:t>
            </a:r>
            <a:r>
              <a:rPr lang="en-IN" dirty="0"/>
              <a:t>() or </a:t>
            </a:r>
            <a:r>
              <a:rPr lang="en-IN" dirty="0" err="1"/>
              <a:t>malloc</a:t>
            </a:r>
            <a:r>
              <a:rPr lang="en-IN" dirty="0"/>
              <a:t>() doesn't get freed on its own. You must explicitly use free() to release the space</a:t>
            </a:r>
            <a:r>
              <a:rPr lang="en-IN" dirty="0" smtClean="0"/>
              <a:t>.</a:t>
            </a:r>
          </a:p>
          <a:p>
            <a:pPr marL="0" indent="0" algn="just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b="1" dirty="0" smtClean="0"/>
              <a:t>	</a:t>
            </a:r>
            <a:r>
              <a:rPr lang="en-IN" dirty="0" smtClean="0"/>
              <a:t>syntax </a:t>
            </a:r>
            <a:r>
              <a:rPr lang="en-IN" dirty="0"/>
              <a:t>of free()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sz="3400" dirty="0" smtClean="0">
                <a:solidFill>
                  <a:srgbClr val="FF0000"/>
                </a:solidFill>
              </a:rPr>
              <a:t>free(</a:t>
            </a:r>
            <a:r>
              <a:rPr lang="en-IN" sz="3400" dirty="0" err="1" smtClean="0">
                <a:solidFill>
                  <a:srgbClr val="FF0000"/>
                </a:solidFill>
              </a:rPr>
              <a:t>ptr</a:t>
            </a:r>
            <a:r>
              <a:rPr lang="en-IN" sz="3400" dirty="0" smtClean="0">
                <a:solidFill>
                  <a:srgbClr val="FF0000"/>
                </a:solidFill>
              </a:rPr>
              <a:t>);</a:t>
            </a:r>
            <a:endParaRPr lang="en-IN" sz="3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51266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85786" y="2143116"/>
            <a:ext cx="7881920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0"/>
            <a:ext cx="8229600" cy="692696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Sum of N elements using </a:t>
            </a:r>
            <a:r>
              <a:rPr lang="en-IN" dirty="0" err="1" smtClean="0"/>
              <a:t>malloc</a:t>
            </a:r>
            <a:r>
              <a:rPr lang="en-IN" dirty="0" smtClean="0"/>
              <a:t>()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548680"/>
            <a:ext cx="5004048" cy="648072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 smtClean="0"/>
              <a:t>#include &lt;</a:t>
            </a:r>
            <a:r>
              <a:rPr lang="en-IN" dirty="0" err="1" smtClean="0"/>
              <a:t>stdio.h</a:t>
            </a:r>
            <a:r>
              <a:rPr lang="en-IN" dirty="0" smtClean="0"/>
              <a:t>&gt;</a:t>
            </a:r>
          </a:p>
          <a:p>
            <a:pPr marL="0" indent="0">
              <a:buNone/>
            </a:pPr>
            <a:r>
              <a:rPr lang="en-IN" sz="5200" dirty="0" smtClean="0">
                <a:solidFill>
                  <a:srgbClr val="FF0000"/>
                </a:solidFill>
              </a:rPr>
              <a:t>#include &lt;</a:t>
            </a:r>
            <a:r>
              <a:rPr lang="en-IN" sz="5200" dirty="0" err="1" smtClean="0">
                <a:solidFill>
                  <a:srgbClr val="FF0000"/>
                </a:solidFill>
              </a:rPr>
              <a:t>stdlib.h</a:t>
            </a:r>
            <a:r>
              <a:rPr lang="en-IN" sz="5200" dirty="0" smtClean="0">
                <a:solidFill>
                  <a:srgbClr val="FF0000"/>
                </a:solidFill>
              </a:rPr>
              <a:t>&gt;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int</a:t>
            </a:r>
            <a:r>
              <a:rPr lang="en-IN" dirty="0" smtClean="0"/>
              <a:t> main()</a:t>
            </a:r>
          </a:p>
          <a:p>
            <a:pPr marL="0" indent="0">
              <a:buNone/>
            </a:pPr>
            <a:r>
              <a:rPr lang="en-IN" dirty="0" smtClean="0"/>
              <a:t>{</a:t>
            </a:r>
          </a:p>
          <a:p>
            <a:pPr marL="0" indent="0">
              <a:buNone/>
            </a:pPr>
            <a:r>
              <a:rPr lang="en-IN" dirty="0" smtClean="0"/>
              <a:t>    </a:t>
            </a: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 err="1" smtClean="0"/>
              <a:t>num</a:t>
            </a:r>
            <a:r>
              <a:rPr lang="en-IN" dirty="0" smtClean="0"/>
              <a:t>, </a:t>
            </a:r>
            <a:r>
              <a:rPr lang="en-IN" dirty="0" err="1" smtClean="0"/>
              <a:t>i</a:t>
            </a:r>
            <a:r>
              <a:rPr lang="en-IN" dirty="0" smtClean="0"/>
              <a:t>, *</a:t>
            </a:r>
            <a:r>
              <a:rPr lang="en-IN" dirty="0" err="1" smtClean="0"/>
              <a:t>ptr</a:t>
            </a:r>
            <a:r>
              <a:rPr lang="en-IN" dirty="0" smtClean="0"/>
              <a:t>, sum = 0;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  </a:t>
            </a:r>
            <a:r>
              <a:rPr lang="en-IN" dirty="0" err="1" smtClean="0"/>
              <a:t>printf</a:t>
            </a:r>
            <a:r>
              <a:rPr lang="en-IN" dirty="0" smtClean="0"/>
              <a:t>("Enter number of elements: ");</a:t>
            </a:r>
          </a:p>
          <a:p>
            <a:pPr marL="0" indent="0">
              <a:buNone/>
            </a:pPr>
            <a:r>
              <a:rPr lang="en-IN" dirty="0" smtClean="0"/>
              <a:t>    </a:t>
            </a:r>
            <a:r>
              <a:rPr lang="en-IN" dirty="0" err="1" smtClean="0"/>
              <a:t>scanf</a:t>
            </a:r>
            <a:r>
              <a:rPr lang="en-IN" dirty="0" smtClean="0"/>
              <a:t>("%d", &amp;num</a:t>
            </a:r>
            <a:r>
              <a:rPr lang="en-IN" dirty="0" smtClean="0"/>
              <a:t>);	</a:t>
            </a: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3100" b="1" dirty="0" err="1" smtClean="0">
                <a:solidFill>
                  <a:srgbClr val="FF0000"/>
                </a:solidFill>
              </a:rPr>
              <a:t>ptr</a:t>
            </a:r>
            <a:r>
              <a:rPr lang="en-IN" sz="3100" b="1" dirty="0" smtClean="0">
                <a:solidFill>
                  <a:srgbClr val="FF0000"/>
                </a:solidFill>
              </a:rPr>
              <a:t> = (</a:t>
            </a:r>
            <a:r>
              <a:rPr lang="en-IN" sz="3100" b="1" dirty="0" err="1" smtClean="0">
                <a:solidFill>
                  <a:srgbClr val="FF0000"/>
                </a:solidFill>
              </a:rPr>
              <a:t>int</a:t>
            </a:r>
            <a:r>
              <a:rPr lang="en-IN" sz="3100" b="1" dirty="0" smtClean="0">
                <a:solidFill>
                  <a:srgbClr val="FF0000"/>
                </a:solidFill>
              </a:rPr>
              <a:t>*) </a:t>
            </a:r>
            <a:r>
              <a:rPr lang="en-IN" sz="3100" b="1" dirty="0" err="1" smtClean="0">
                <a:solidFill>
                  <a:srgbClr val="FF0000"/>
                </a:solidFill>
              </a:rPr>
              <a:t>malloc</a:t>
            </a:r>
            <a:r>
              <a:rPr lang="en-IN" sz="3100" b="1" dirty="0" smtClean="0">
                <a:solidFill>
                  <a:srgbClr val="FF0000"/>
                </a:solidFill>
              </a:rPr>
              <a:t>(</a:t>
            </a:r>
            <a:r>
              <a:rPr lang="en-IN" sz="3100" b="1" dirty="0" err="1" smtClean="0">
                <a:solidFill>
                  <a:srgbClr val="FF0000"/>
                </a:solidFill>
              </a:rPr>
              <a:t>num</a:t>
            </a:r>
            <a:r>
              <a:rPr lang="en-IN" sz="3100" b="1" dirty="0" smtClean="0">
                <a:solidFill>
                  <a:srgbClr val="FF0000"/>
                </a:solidFill>
              </a:rPr>
              <a:t> * </a:t>
            </a:r>
            <a:r>
              <a:rPr lang="en-IN" sz="3100" b="1" dirty="0" err="1" smtClean="0">
                <a:solidFill>
                  <a:srgbClr val="FF0000"/>
                </a:solidFill>
              </a:rPr>
              <a:t>sizeof</a:t>
            </a:r>
            <a:r>
              <a:rPr lang="en-IN" sz="3100" b="1" dirty="0" smtClean="0">
                <a:solidFill>
                  <a:srgbClr val="FF0000"/>
                </a:solidFill>
              </a:rPr>
              <a:t>(</a:t>
            </a:r>
            <a:r>
              <a:rPr lang="en-IN" sz="3100" b="1" dirty="0" err="1" smtClean="0">
                <a:solidFill>
                  <a:srgbClr val="FF0000"/>
                </a:solidFill>
              </a:rPr>
              <a:t>int</a:t>
            </a:r>
            <a:r>
              <a:rPr lang="en-IN" sz="3100" b="1" dirty="0" smtClean="0">
                <a:solidFill>
                  <a:srgbClr val="FF0000"/>
                </a:solidFill>
              </a:rPr>
              <a:t>));  </a:t>
            </a:r>
            <a:r>
              <a:rPr lang="en-IN" dirty="0" smtClean="0"/>
              <a:t>//memory allocated using </a:t>
            </a:r>
            <a:r>
              <a:rPr lang="en-IN" dirty="0" err="1" smtClean="0"/>
              <a:t>malloc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  if(</a:t>
            </a:r>
            <a:r>
              <a:rPr lang="en-IN" dirty="0" err="1" smtClean="0"/>
              <a:t>ptr</a:t>
            </a:r>
            <a:r>
              <a:rPr lang="en-IN" dirty="0" smtClean="0"/>
              <a:t> == NULL)                     </a:t>
            </a:r>
          </a:p>
          <a:p>
            <a:pPr marL="0" indent="0">
              <a:buNone/>
            </a:pPr>
            <a:r>
              <a:rPr lang="en-IN" dirty="0" smtClean="0"/>
              <a:t>    {</a:t>
            </a:r>
          </a:p>
          <a:p>
            <a:pPr marL="0" indent="0">
              <a:buNone/>
            </a:pPr>
            <a:r>
              <a:rPr lang="en-IN" dirty="0" smtClean="0"/>
              <a:t>        </a:t>
            </a:r>
            <a:r>
              <a:rPr lang="en-IN" dirty="0" err="1" smtClean="0"/>
              <a:t>printf</a:t>
            </a:r>
            <a:r>
              <a:rPr lang="en-IN" dirty="0" smtClean="0"/>
              <a:t>("Error! memory not allocated.");</a:t>
            </a:r>
          </a:p>
          <a:p>
            <a:pPr marL="0" indent="0">
              <a:buNone/>
            </a:pPr>
            <a:r>
              <a:rPr lang="en-IN" dirty="0" smtClean="0"/>
              <a:t>        exit(0);</a:t>
            </a:r>
          </a:p>
          <a:p>
            <a:pPr marL="0" indent="0">
              <a:buNone/>
            </a:pPr>
            <a:r>
              <a:rPr lang="en-IN" dirty="0" smtClean="0"/>
              <a:t>    }</a:t>
            </a:r>
          </a:p>
          <a:p>
            <a:pPr marL="0" indent="0">
              <a:buNone/>
            </a:pPr>
            <a:endParaRPr lang="en-IN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32040" y="1124744"/>
            <a:ext cx="4211960" cy="500141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 smtClean="0"/>
              <a:t> </a:t>
            </a:r>
            <a:r>
              <a:rPr lang="en-IN" dirty="0" err="1" smtClean="0"/>
              <a:t>printf</a:t>
            </a:r>
            <a:r>
              <a:rPr lang="en-IN" dirty="0" smtClean="0"/>
              <a:t>("Enter elements of array: ");</a:t>
            </a:r>
          </a:p>
          <a:p>
            <a:pPr marL="0" indent="0">
              <a:buNone/>
            </a:pPr>
            <a:r>
              <a:rPr lang="en-IN" dirty="0" smtClean="0"/>
              <a:t>    for(</a:t>
            </a:r>
            <a:r>
              <a:rPr lang="en-IN" dirty="0" err="1" smtClean="0"/>
              <a:t>i</a:t>
            </a:r>
            <a:r>
              <a:rPr lang="en-IN" dirty="0" smtClean="0"/>
              <a:t> = 0; </a:t>
            </a:r>
            <a:r>
              <a:rPr lang="en-IN" dirty="0" err="1" smtClean="0"/>
              <a:t>i</a:t>
            </a:r>
            <a:r>
              <a:rPr lang="en-IN" dirty="0" smtClean="0"/>
              <a:t> &lt; </a:t>
            </a:r>
            <a:r>
              <a:rPr lang="en-IN" dirty="0" err="1" smtClean="0"/>
              <a:t>num</a:t>
            </a:r>
            <a:r>
              <a:rPr lang="en-IN" dirty="0" smtClean="0"/>
              <a:t>; ++</a:t>
            </a:r>
            <a:r>
              <a:rPr lang="en-IN" dirty="0" err="1" smtClean="0"/>
              <a:t>i</a:t>
            </a:r>
            <a:r>
              <a:rPr lang="en-IN" dirty="0" smtClean="0"/>
              <a:t>)</a:t>
            </a:r>
          </a:p>
          <a:p>
            <a:pPr marL="0" indent="0">
              <a:buNone/>
            </a:pPr>
            <a:r>
              <a:rPr lang="en-IN" dirty="0" smtClean="0"/>
              <a:t>    {</a:t>
            </a:r>
          </a:p>
          <a:p>
            <a:pPr marL="0" indent="0">
              <a:buNone/>
            </a:pPr>
            <a:r>
              <a:rPr lang="en-IN" dirty="0" smtClean="0"/>
              <a:t>        </a:t>
            </a:r>
            <a:r>
              <a:rPr lang="en-IN" dirty="0" err="1" smtClean="0">
                <a:solidFill>
                  <a:srgbClr val="FF0000"/>
                </a:solidFill>
              </a:rPr>
              <a:t>scanf</a:t>
            </a:r>
            <a:r>
              <a:rPr lang="en-IN" dirty="0" smtClean="0">
                <a:solidFill>
                  <a:srgbClr val="FF0000"/>
                </a:solidFill>
              </a:rPr>
              <a:t>("%d", </a:t>
            </a:r>
            <a:r>
              <a:rPr lang="en-IN" dirty="0" err="1" smtClean="0">
                <a:solidFill>
                  <a:srgbClr val="FF0000"/>
                </a:solidFill>
              </a:rPr>
              <a:t>ptr</a:t>
            </a:r>
            <a:r>
              <a:rPr lang="en-IN" dirty="0" smtClean="0">
                <a:solidFill>
                  <a:srgbClr val="FF0000"/>
                </a:solidFill>
              </a:rPr>
              <a:t> + </a:t>
            </a:r>
            <a:r>
              <a:rPr lang="en-IN" dirty="0" err="1" smtClean="0">
                <a:solidFill>
                  <a:srgbClr val="FF0000"/>
                </a:solidFill>
              </a:rPr>
              <a:t>i</a:t>
            </a:r>
            <a:r>
              <a:rPr lang="en-IN" dirty="0" smtClean="0">
                <a:solidFill>
                  <a:srgbClr val="FF0000"/>
                </a:solidFill>
              </a:rPr>
              <a:t>);</a:t>
            </a:r>
          </a:p>
          <a:p>
            <a:pPr marL="0" indent="0">
              <a:buNone/>
            </a:pPr>
            <a:r>
              <a:rPr lang="en-IN" dirty="0" smtClean="0"/>
              <a:t>        </a:t>
            </a:r>
            <a:r>
              <a:rPr lang="en-IN" dirty="0" smtClean="0">
                <a:solidFill>
                  <a:srgbClr val="FF0000"/>
                </a:solidFill>
              </a:rPr>
              <a:t>sum += *(</a:t>
            </a:r>
            <a:r>
              <a:rPr lang="en-IN" dirty="0" err="1" smtClean="0">
                <a:solidFill>
                  <a:srgbClr val="FF0000"/>
                </a:solidFill>
              </a:rPr>
              <a:t>ptr</a:t>
            </a:r>
            <a:r>
              <a:rPr lang="en-IN" dirty="0" smtClean="0">
                <a:solidFill>
                  <a:srgbClr val="FF0000"/>
                </a:solidFill>
              </a:rPr>
              <a:t> + </a:t>
            </a:r>
            <a:r>
              <a:rPr lang="en-IN" dirty="0" err="1" smtClean="0">
                <a:solidFill>
                  <a:srgbClr val="FF0000"/>
                </a:solidFill>
              </a:rPr>
              <a:t>i</a:t>
            </a:r>
            <a:r>
              <a:rPr lang="en-IN" dirty="0" smtClean="0">
                <a:solidFill>
                  <a:srgbClr val="FF0000"/>
                </a:solidFill>
              </a:rPr>
              <a:t>);</a:t>
            </a:r>
          </a:p>
          <a:p>
            <a:pPr marL="0" indent="0">
              <a:buNone/>
            </a:pPr>
            <a:r>
              <a:rPr lang="en-IN" dirty="0" smtClean="0"/>
              <a:t>    }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  </a:t>
            </a:r>
            <a:r>
              <a:rPr lang="en-IN" dirty="0" err="1" smtClean="0"/>
              <a:t>printf</a:t>
            </a:r>
            <a:r>
              <a:rPr lang="en-IN" dirty="0" smtClean="0"/>
              <a:t>("Sum = %d", sum);</a:t>
            </a:r>
          </a:p>
          <a:p>
            <a:pPr marL="0" indent="0">
              <a:buNone/>
            </a:pPr>
            <a:r>
              <a:rPr lang="en-IN" dirty="0" smtClean="0"/>
              <a:t>    free(</a:t>
            </a:r>
            <a:r>
              <a:rPr lang="en-IN" dirty="0" err="1" smtClean="0"/>
              <a:t>ptr</a:t>
            </a:r>
            <a:r>
              <a:rPr lang="en-IN" dirty="0" smtClean="0"/>
              <a:t>);</a:t>
            </a:r>
          </a:p>
          <a:p>
            <a:pPr marL="0" indent="0">
              <a:buNone/>
            </a:pPr>
            <a:r>
              <a:rPr lang="en-IN" dirty="0" smtClean="0"/>
              <a:t>    return 0;</a:t>
            </a:r>
          </a:p>
          <a:p>
            <a:pPr marL="0" indent="0">
              <a:buNone/>
            </a:pPr>
            <a:r>
              <a:rPr lang="en-IN" dirty="0" smtClean="0"/>
              <a:t>}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170161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c</a:t>
            </a:r>
            <a:r>
              <a:rPr lang="en-IN" dirty="0" err="1" smtClean="0"/>
              <a:t>alloc</a:t>
            </a:r>
            <a:r>
              <a:rPr lang="en-IN" dirty="0" smtClean="0"/>
              <a:t>()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95536" y="908720"/>
            <a:ext cx="8496944" cy="5544616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The name </a:t>
            </a:r>
            <a:r>
              <a:rPr lang="en-IN" dirty="0" err="1"/>
              <a:t>calloc</a:t>
            </a:r>
            <a:r>
              <a:rPr lang="en-IN" dirty="0"/>
              <a:t> stands for "contiguous allocation</a:t>
            </a:r>
            <a:r>
              <a:rPr lang="en-IN" dirty="0" smtClean="0"/>
              <a:t>".</a:t>
            </a:r>
          </a:p>
          <a:p>
            <a:endParaRPr lang="en-IN" dirty="0" smtClean="0"/>
          </a:p>
          <a:p>
            <a:r>
              <a:rPr lang="en-IN" dirty="0"/>
              <a:t>The only difference between </a:t>
            </a:r>
            <a:r>
              <a:rPr lang="en-IN" dirty="0" err="1"/>
              <a:t>malloc</a:t>
            </a:r>
            <a:r>
              <a:rPr lang="en-IN" dirty="0"/>
              <a:t>() and </a:t>
            </a:r>
            <a:r>
              <a:rPr lang="en-IN" dirty="0" err="1"/>
              <a:t>calloc</a:t>
            </a:r>
            <a:r>
              <a:rPr lang="en-IN" dirty="0"/>
              <a:t>() is that, </a:t>
            </a:r>
            <a:r>
              <a:rPr lang="en-IN" dirty="0" err="1"/>
              <a:t>malloc</a:t>
            </a:r>
            <a:r>
              <a:rPr lang="en-IN" dirty="0"/>
              <a:t>() allocates single block of memory whereas </a:t>
            </a:r>
            <a:r>
              <a:rPr lang="en-IN" dirty="0" err="1"/>
              <a:t>calloc</a:t>
            </a:r>
            <a:r>
              <a:rPr lang="en-IN" dirty="0"/>
              <a:t>() allocates multiple blocks of memory each of same size and sets all bytes to zero</a:t>
            </a:r>
            <a:r>
              <a:rPr lang="en-IN" dirty="0" smtClean="0"/>
              <a:t>.</a:t>
            </a:r>
          </a:p>
          <a:p>
            <a:endParaRPr lang="en-IN" dirty="0" smtClean="0"/>
          </a:p>
          <a:p>
            <a:r>
              <a:rPr lang="en-IN" dirty="0"/>
              <a:t>Syntax of </a:t>
            </a:r>
            <a:r>
              <a:rPr lang="en-IN" dirty="0" err="1"/>
              <a:t>calloc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 smtClean="0">
                <a:solidFill>
                  <a:srgbClr val="FF0000"/>
                </a:solidFill>
              </a:rPr>
              <a:t>	</a:t>
            </a:r>
            <a:r>
              <a:rPr lang="en-IN" dirty="0" err="1" smtClean="0">
                <a:solidFill>
                  <a:srgbClr val="FF0000"/>
                </a:solidFill>
              </a:rPr>
              <a:t>ptr</a:t>
            </a:r>
            <a:r>
              <a:rPr lang="en-IN" dirty="0" smtClean="0">
                <a:solidFill>
                  <a:srgbClr val="FF0000"/>
                </a:solidFill>
              </a:rPr>
              <a:t> = (cast-type*)</a:t>
            </a:r>
            <a:r>
              <a:rPr lang="en-IN" dirty="0" err="1" smtClean="0">
                <a:solidFill>
                  <a:srgbClr val="FF0000"/>
                </a:solidFill>
              </a:rPr>
              <a:t>calloc</a:t>
            </a:r>
            <a:r>
              <a:rPr lang="en-IN" dirty="0" smtClean="0">
                <a:solidFill>
                  <a:srgbClr val="FF0000"/>
                </a:solidFill>
              </a:rPr>
              <a:t>(n, element-size);</a:t>
            </a:r>
          </a:p>
          <a:p>
            <a:pPr marL="0" indent="0">
              <a:buNone/>
            </a:pPr>
            <a:r>
              <a:rPr lang="en-US" dirty="0" smtClean="0"/>
              <a:t>n is the no. of elements and element-size is the size of each element.</a:t>
            </a:r>
            <a:endParaRPr lang="en-IN" dirty="0" smtClean="0">
              <a:solidFill>
                <a:srgbClr val="FF0000"/>
              </a:solidFill>
            </a:endParaRPr>
          </a:p>
          <a:p>
            <a:r>
              <a:rPr lang="en-IN" dirty="0" smtClean="0"/>
              <a:t>Example</a:t>
            </a:r>
            <a:r>
              <a:rPr lang="en-IN" dirty="0"/>
              <a:t>:</a:t>
            </a:r>
          </a:p>
          <a:p>
            <a:pPr marL="0" indent="0">
              <a:buNone/>
            </a:pPr>
            <a:r>
              <a:rPr lang="en-IN" dirty="0" smtClean="0">
                <a:solidFill>
                  <a:srgbClr val="FF0000"/>
                </a:solidFill>
              </a:rPr>
              <a:t>	</a:t>
            </a:r>
            <a:r>
              <a:rPr lang="en-IN" dirty="0" err="1" smtClean="0">
                <a:solidFill>
                  <a:srgbClr val="FF0000"/>
                </a:solidFill>
              </a:rPr>
              <a:t>ptr</a:t>
            </a:r>
            <a:r>
              <a:rPr lang="en-IN" dirty="0" smtClean="0">
                <a:solidFill>
                  <a:srgbClr val="FF0000"/>
                </a:solidFill>
              </a:rPr>
              <a:t> = (float*) </a:t>
            </a:r>
            <a:r>
              <a:rPr lang="en-IN" dirty="0" err="1" smtClean="0">
                <a:solidFill>
                  <a:srgbClr val="FF0000"/>
                </a:solidFill>
              </a:rPr>
              <a:t>calloc</a:t>
            </a:r>
            <a:r>
              <a:rPr lang="en-IN" dirty="0" smtClean="0">
                <a:solidFill>
                  <a:srgbClr val="FF0000"/>
                </a:solidFill>
              </a:rPr>
              <a:t>(25, </a:t>
            </a:r>
            <a:r>
              <a:rPr lang="en-IN" dirty="0" err="1" smtClean="0">
                <a:solidFill>
                  <a:srgbClr val="FF0000"/>
                </a:solidFill>
              </a:rPr>
              <a:t>sizeof</a:t>
            </a:r>
            <a:r>
              <a:rPr lang="en-IN" dirty="0" smtClean="0">
                <a:solidFill>
                  <a:srgbClr val="FF0000"/>
                </a:solidFill>
              </a:rPr>
              <a:t>(float));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93458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62187" y="1785926"/>
            <a:ext cx="5524523" cy="3334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95536" y="25121"/>
            <a:ext cx="8229600" cy="883599"/>
          </a:xfrm>
        </p:spPr>
        <p:txBody>
          <a:bodyPr/>
          <a:lstStyle/>
          <a:p>
            <a:r>
              <a:rPr lang="en-IN" dirty="0" smtClean="0"/>
              <a:t>Sum of N elements using </a:t>
            </a:r>
            <a:r>
              <a:rPr lang="en-IN" dirty="0" err="1"/>
              <a:t>c</a:t>
            </a:r>
            <a:r>
              <a:rPr lang="en-IN" dirty="0" err="1" smtClean="0"/>
              <a:t>alloc</a:t>
            </a:r>
            <a:r>
              <a:rPr lang="en-IN" dirty="0" smtClean="0"/>
              <a:t>()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251520" y="908720"/>
            <a:ext cx="4038600" cy="594928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 smtClean="0"/>
              <a:t>#include &lt;</a:t>
            </a:r>
            <a:r>
              <a:rPr lang="en-IN" dirty="0" err="1" smtClean="0"/>
              <a:t>stdio.h</a:t>
            </a:r>
            <a:r>
              <a:rPr lang="en-IN" dirty="0" smtClean="0"/>
              <a:t>&gt;</a:t>
            </a:r>
          </a:p>
          <a:p>
            <a:pPr marL="0" indent="0">
              <a:buNone/>
            </a:pPr>
            <a:r>
              <a:rPr lang="en-IN" dirty="0" smtClean="0"/>
              <a:t>#include &lt;</a:t>
            </a:r>
            <a:r>
              <a:rPr lang="en-IN" dirty="0" err="1" smtClean="0"/>
              <a:t>stdlib.h</a:t>
            </a:r>
            <a:r>
              <a:rPr lang="en-IN" dirty="0" smtClean="0"/>
              <a:t>&gt;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int</a:t>
            </a:r>
            <a:r>
              <a:rPr lang="en-IN" dirty="0" smtClean="0"/>
              <a:t> main()</a:t>
            </a:r>
          </a:p>
          <a:p>
            <a:pPr marL="0" indent="0">
              <a:buNone/>
            </a:pPr>
            <a:r>
              <a:rPr lang="en-IN" dirty="0" smtClean="0"/>
              <a:t>{</a:t>
            </a:r>
          </a:p>
          <a:p>
            <a:pPr marL="0" indent="0">
              <a:buNone/>
            </a:pPr>
            <a:r>
              <a:rPr lang="en-IN" dirty="0" smtClean="0"/>
              <a:t>    </a:t>
            </a: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 err="1" smtClean="0"/>
              <a:t>num</a:t>
            </a:r>
            <a:r>
              <a:rPr lang="en-IN" dirty="0" smtClean="0"/>
              <a:t>, </a:t>
            </a:r>
            <a:r>
              <a:rPr lang="en-IN" dirty="0" err="1" smtClean="0"/>
              <a:t>i</a:t>
            </a:r>
            <a:r>
              <a:rPr lang="en-IN" dirty="0" smtClean="0"/>
              <a:t>, *</a:t>
            </a:r>
            <a:r>
              <a:rPr lang="en-IN" dirty="0" err="1" smtClean="0"/>
              <a:t>ptr</a:t>
            </a:r>
            <a:r>
              <a:rPr lang="en-IN" dirty="0" smtClean="0"/>
              <a:t>, sum = 0;</a:t>
            </a:r>
          </a:p>
          <a:p>
            <a:pPr marL="0" indent="0">
              <a:buNone/>
            </a:pPr>
            <a:r>
              <a:rPr lang="en-IN" dirty="0" smtClean="0"/>
              <a:t>    </a:t>
            </a:r>
            <a:r>
              <a:rPr lang="en-IN" dirty="0" err="1" smtClean="0"/>
              <a:t>printf</a:t>
            </a:r>
            <a:r>
              <a:rPr lang="en-IN" dirty="0" smtClean="0"/>
              <a:t>("Enter number of elements: ");</a:t>
            </a:r>
          </a:p>
          <a:p>
            <a:pPr marL="0" indent="0">
              <a:buNone/>
            </a:pPr>
            <a:r>
              <a:rPr lang="en-IN" dirty="0" smtClean="0"/>
              <a:t>    </a:t>
            </a:r>
            <a:r>
              <a:rPr lang="en-IN" dirty="0" err="1" smtClean="0"/>
              <a:t>scanf</a:t>
            </a:r>
            <a:r>
              <a:rPr lang="en-IN" dirty="0" smtClean="0"/>
              <a:t>("%d", &amp;</a:t>
            </a:r>
            <a:r>
              <a:rPr lang="en-IN" dirty="0" err="1" smtClean="0"/>
              <a:t>num</a:t>
            </a:r>
            <a:r>
              <a:rPr lang="en-IN" dirty="0" smtClean="0"/>
              <a:t>);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  </a:t>
            </a:r>
            <a:r>
              <a:rPr lang="en-IN" dirty="0" err="1" smtClean="0"/>
              <a:t>ptr</a:t>
            </a:r>
            <a:r>
              <a:rPr lang="en-IN" dirty="0" smtClean="0"/>
              <a:t> = (</a:t>
            </a:r>
            <a:r>
              <a:rPr lang="en-IN" dirty="0" err="1" smtClean="0"/>
              <a:t>int</a:t>
            </a:r>
            <a:r>
              <a:rPr lang="en-IN" dirty="0" smtClean="0"/>
              <a:t>*) </a:t>
            </a:r>
            <a:r>
              <a:rPr lang="en-IN" dirty="0" err="1" smtClean="0"/>
              <a:t>calloc</a:t>
            </a:r>
            <a:r>
              <a:rPr lang="en-IN" dirty="0" smtClean="0"/>
              <a:t>(</a:t>
            </a:r>
            <a:r>
              <a:rPr lang="en-IN" dirty="0" err="1" smtClean="0"/>
              <a:t>num</a:t>
            </a:r>
            <a:r>
              <a:rPr lang="en-IN" dirty="0" smtClean="0"/>
              <a:t>, </a:t>
            </a:r>
            <a:r>
              <a:rPr lang="en-IN" dirty="0" err="1" smtClean="0"/>
              <a:t>sizeof</a:t>
            </a:r>
            <a:r>
              <a:rPr lang="en-IN" dirty="0" smtClean="0"/>
              <a:t>(</a:t>
            </a:r>
            <a:r>
              <a:rPr lang="en-IN" dirty="0" err="1" smtClean="0"/>
              <a:t>int</a:t>
            </a:r>
            <a:r>
              <a:rPr lang="en-IN" dirty="0" smtClean="0"/>
              <a:t>));</a:t>
            </a:r>
          </a:p>
          <a:p>
            <a:pPr marL="0" indent="0">
              <a:buNone/>
            </a:pPr>
            <a:r>
              <a:rPr lang="en-IN" dirty="0" smtClean="0"/>
              <a:t>    if(</a:t>
            </a:r>
            <a:r>
              <a:rPr lang="en-IN" dirty="0" err="1" smtClean="0"/>
              <a:t>ptr</a:t>
            </a:r>
            <a:r>
              <a:rPr lang="en-IN" dirty="0" smtClean="0"/>
              <a:t> == NULL)</a:t>
            </a:r>
          </a:p>
          <a:p>
            <a:pPr marL="0" indent="0">
              <a:buNone/>
            </a:pPr>
            <a:r>
              <a:rPr lang="en-IN" dirty="0" smtClean="0"/>
              <a:t>    {</a:t>
            </a:r>
          </a:p>
          <a:p>
            <a:pPr marL="0" indent="0">
              <a:buNone/>
            </a:pPr>
            <a:r>
              <a:rPr lang="en-IN" dirty="0" smtClean="0"/>
              <a:t>        </a:t>
            </a:r>
            <a:r>
              <a:rPr lang="en-IN" dirty="0" err="1" smtClean="0"/>
              <a:t>printf</a:t>
            </a:r>
            <a:r>
              <a:rPr lang="en-IN" dirty="0" smtClean="0"/>
              <a:t>("Error! memory not allocated.");</a:t>
            </a:r>
          </a:p>
          <a:p>
            <a:pPr marL="0" indent="0">
              <a:buNone/>
            </a:pPr>
            <a:r>
              <a:rPr lang="en-IN" dirty="0" smtClean="0"/>
              <a:t>        exit(0);</a:t>
            </a:r>
          </a:p>
          <a:p>
            <a:pPr marL="0" indent="0">
              <a:buNone/>
            </a:pPr>
            <a:r>
              <a:rPr lang="en-IN" dirty="0" smtClean="0"/>
              <a:t>    }</a:t>
            </a:r>
          </a:p>
          <a:p>
            <a:pPr marL="0" indent="0">
              <a:buNone/>
            </a:pPr>
            <a:endParaRPr lang="en-IN" dirty="0" smtClean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648200" y="1052736"/>
            <a:ext cx="4038600" cy="580526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 smtClean="0"/>
              <a:t> </a:t>
            </a:r>
            <a:r>
              <a:rPr lang="en-IN" dirty="0" err="1" smtClean="0"/>
              <a:t>printf</a:t>
            </a:r>
            <a:r>
              <a:rPr lang="en-IN" dirty="0" smtClean="0"/>
              <a:t>("Enter elements of array: ");</a:t>
            </a:r>
          </a:p>
          <a:p>
            <a:pPr marL="0" indent="0">
              <a:buNone/>
            </a:pPr>
            <a:r>
              <a:rPr lang="en-IN" dirty="0" smtClean="0"/>
              <a:t>    for(</a:t>
            </a:r>
            <a:r>
              <a:rPr lang="en-IN" dirty="0" err="1" smtClean="0"/>
              <a:t>i</a:t>
            </a:r>
            <a:r>
              <a:rPr lang="en-IN" dirty="0" smtClean="0"/>
              <a:t> = 0; </a:t>
            </a:r>
            <a:r>
              <a:rPr lang="en-IN" dirty="0" err="1" smtClean="0"/>
              <a:t>i</a:t>
            </a:r>
            <a:r>
              <a:rPr lang="en-IN" dirty="0" smtClean="0"/>
              <a:t> &lt; </a:t>
            </a:r>
            <a:r>
              <a:rPr lang="en-IN" dirty="0" err="1" smtClean="0"/>
              <a:t>num</a:t>
            </a:r>
            <a:r>
              <a:rPr lang="en-IN" dirty="0" smtClean="0"/>
              <a:t>; ++</a:t>
            </a:r>
            <a:r>
              <a:rPr lang="en-IN" dirty="0" err="1" smtClean="0"/>
              <a:t>i</a:t>
            </a:r>
            <a:r>
              <a:rPr lang="en-IN" dirty="0" smtClean="0"/>
              <a:t>)</a:t>
            </a:r>
          </a:p>
          <a:p>
            <a:pPr marL="0" indent="0">
              <a:buNone/>
            </a:pPr>
            <a:r>
              <a:rPr lang="en-IN" dirty="0" smtClean="0"/>
              <a:t>    {</a:t>
            </a:r>
          </a:p>
          <a:p>
            <a:pPr marL="0" indent="0">
              <a:buNone/>
            </a:pPr>
            <a:r>
              <a:rPr lang="en-IN" dirty="0" smtClean="0"/>
              <a:t>        </a:t>
            </a:r>
            <a:r>
              <a:rPr lang="en-IN" dirty="0" err="1" smtClean="0"/>
              <a:t>scanf</a:t>
            </a:r>
            <a:r>
              <a:rPr lang="en-IN" dirty="0" smtClean="0"/>
              <a:t>("%d", </a:t>
            </a:r>
            <a:r>
              <a:rPr lang="en-IN" dirty="0" err="1" smtClean="0"/>
              <a:t>ptr</a:t>
            </a:r>
            <a:r>
              <a:rPr lang="en-IN" dirty="0" smtClean="0"/>
              <a:t> + </a:t>
            </a:r>
            <a:r>
              <a:rPr lang="en-IN" dirty="0" err="1" smtClean="0"/>
              <a:t>i</a:t>
            </a:r>
            <a:r>
              <a:rPr lang="en-IN" dirty="0" smtClean="0"/>
              <a:t>);</a:t>
            </a:r>
          </a:p>
          <a:p>
            <a:pPr marL="0" indent="0">
              <a:buNone/>
            </a:pPr>
            <a:r>
              <a:rPr lang="en-IN" dirty="0" smtClean="0"/>
              <a:t>        sum += *(</a:t>
            </a:r>
            <a:r>
              <a:rPr lang="en-IN" dirty="0" err="1" smtClean="0"/>
              <a:t>ptr</a:t>
            </a:r>
            <a:r>
              <a:rPr lang="en-IN" dirty="0" smtClean="0"/>
              <a:t> + </a:t>
            </a:r>
            <a:r>
              <a:rPr lang="en-IN" dirty="0" err="1" smtClean="0"/>
              <a:t>i</a:t>
            </a:r>
            <a:r>
              <a:rPr lang="en-IN" dirty="0" smtClean="0"/>
              <a:t>);</a:t>
            </a:r>
          </a:p>
          <a:p>
            <a:pPr marL="0" indent="0">
              <a:buNone/>
            </a:pPr>
            <a:r>
              <a:rPr lang="en-IN" dirty="0" smtClean="0"/>
              <a:t>    }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  </a:t>
            </a:r>
            <a:r>
              <a:rPr lang="en-IN" dirty="0" err="1" smtClean="0"/>
              <a:t>printf</a:t>
            </a:r>
            <a:r>
              <a:rPr lang="en-IN" dirty="0" smtClean="0"/>
              <a:t>("Sum = %d", sum);</a:t>
            </a:r>
          </a:p>
          <a:p>
            <a:pPr marL="0" indent="0">
              <a:buNone/>
            </a:pPr>
            <a:r>
              <a:rPr lang="en-IN" dirty="0" smtClean="0"/>
              <a:t>    free(</a:t>
            </a:r>
            <a:r>
              <a:rPr lang="en-IN" dirty="0" err="1" smtClean="0"/>
              <a:t>ptr</a:t>
            </a:r>
            <a:r>
              <a:rPr lang="en-IN" dirty="0" smtClean="0"/>
              <a:t>);</a:t>
            </a:r>
          </a:p>
          <a:p>
            <a:pPr marL="0" indent="0">
              <a:buNone/>
            </a:pPr>
            <a:r>
              <a:rPr lang="en-IN" dirty="0" smtClean="0"/>
              <a:t>    return 0;</a:t>
            </a:r>
          </a:p>
          <a:p>
            <a:pPr marL="0" indent="0">
              <a:buNone/>
            </a:pPr>
            <a:r>
              <a:rPr lang="en-IN" dirty="0" smtClean="0"/>
              <a:t>}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577502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err="1"/>
              <a:t>realloc</a:t>
            </a:r>
            <a:r>
              <a:rPr lang="en-IN" b="1" dirty="0" smtClean="0"/>
              <a:t>()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If the previously allocated memory is insufficient or more than required, you can change the previously allocated memory size using </a:t>
            </a:r>
            <a:r>
              <a:rPr lang="en-IN" dirty="0" err="1" smtClean="0"/>
              <a:t>realloc</a:t>
            </a:r>
            <a:r>
              <a:rPr lang="en-IN" dirty="0" smtClean="0"/>
              <a:t>().</a:t>
            </a:r>
          </a:p>
          <a:p>
            <a:endParaRPr lang="en-IN" dirty="0" smtClean="0"/>
          </a:p>
          <a:p>
            <a:r>
              <a:rPr lang="en-IN" dirty="0" smtClean="0"/>
              <a:t>Syntax of </a:t>
            </a:r>
            <a:r>
              <a:rPr lang="en-IN" dirty="0" err="1" smtClean="0"/>
              <a:t>realloc</a:t>
            </a:r>
            <a:r>
              <a:rPr lang="en-IN" dirty="0" smtClean="0"/>
              <a:t>()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>
                <a:solidFill>
                  <a:srgbClr val="FF0000"/>
                </a:solidFill>
              </a:rPr>
              <a:t>ptr</a:t>
            </a:r>
            <a:r>
              <a:rPr lang="en-IN" dirty="0" smtClean="0">
                <a:solidFill>
                  <a:srgbClr val="FF0000"/>
                </a:solidFill>
              </a:rPr>
              <a:t> = </a:t>
            </a:r>
            <a:r>
              <a:rPr lang="en-IN" dirty="0" err="1" smtClean="0">
                <a:solidFill>
                  <a:srgbClr val="FF0000"/>
                </a:solidFill>
              </a:rPr>
              <a:t>realloc</a:t>
            </a:r>
            <a:r>
              <a:rPr lang="en-IN" dirty="0" smtClean="0">
                <a:solidFill>
                  <a:srgbClr val="FF0000"/>
                </a:solidFill>
              </a:rPr>
              <a:t>(</a:t>
            </a:r>
            <a:r>
              <a:rPr lang="en-IN" dirty="0" err="1" smtClean="0">
                <a:solidFill>
                  <a:srgbClr val="FF0000"/>
                </a:solidFill>
              </a:rPr>
              <a:t>ptr</a:t>
            </a:r>
            <a:r>
              <a:rPr lang="en-IN" dirty="0" smtClean="0">
                <a:solidFill>
                  <a:srgbClr val="FF0000"/>
                </a:solidFill>
              </a:rPr>
              <a:t>, </a:t>
            </a:r>
            <a:r>
              <a:rPr lang="en-IN" dirty="0" err="1" smtClean="0">
                <a:solidFill>
                  <a:srgbClr val="FF0000"/>
                </a:solidFill>
              </a:rPr>
              <a:t>newsize</a:t>
            </a:r>
            <a:r>
              <a:rPr lang="en-IN" dirty="0" smtClean="0">
                <a:solidFill>
                  <a:srgbClr val="FF0000"/>
                </a:solidFill>
              </a:rPr>
              <a:t>);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05174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-28097"/>
            <a:ext cx="8229600" cy="864809"/>
          </a:xfrm>
        </p:spPr>
        <p:txBody>
          <a:bodyPr>
            <a:normAutofit/>
          </a:bodyPr>
          <a:lstStyle/>
          <a:p>
            <a:r>
              <a:rPr lang="en-IN" dirty="0"/>
              <a:t>Using </a:t>
            </a:r>
            <a:r>
              <a:rPr lang="en-IN" dirty="0" err="1"/>
              <a:t>realloc</a:t>
            </a:r>
            <a:r>
              <a:rPr lang="en-IN" dirty="0" smtClean="0"/>
              <a:t>()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836712"/>
            <a:ext cx="4038600" cy="602128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 smtClean="0"/>
              <a:t>#include &lt;</a:t>
            </a:r>
            <a:r>
              <a:rPr lang="en-IN" dirty="0" err="1" smtClean="0"/>
              <a:t>stdio.h</a:t>
            </a:r>
            <a:r>
              <a:rPr lang="en-IN" dirty="0" smtClean="0"/>
              <a:t>&gt;</a:t>
            </a:r>
          </a:p>
          <a:p>
            <a:pPr marL="0" indent="0">
              <a:buNone/>
            </a:pPr>
            <a:r>
              <a:rPr lang="en-IN" dirty="0" smtClean="0"/>
              <a:t>#include &lt;</a:t>
            </a:r>
            <a:r>
              <a:rPr lang="en-IN" dirty="0" err="1" smtClean="0"/>
              <a:t>stdlib.h</a:t>
            </a:r>
            <a:r>
              <a:rPr lang="en-IN" dirty="0" smtClean="0"/>
              <a:t>&gt;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int</a:t>
            </a:r>
            <a:r>
              <a:rPr lang="en-IN" dirty="0" smtClean="0"/>
              <a:t> main()</a:t>
            </a:r>
          </a:p>
          <a:p>
            <a:pPr marL="0" indent="0">
              <a:buNone/>
            </a:pPr>
            <a:r>
              <a:rPr lang="en-IN" dirty="0" smtClean="0"/>
              <a:t>{</a:t>
            </a:r>
          </a:p>
          <a:p>
            <a:pPr marL="0" indent="0">
              <a:buNone/>
            </a:pPr>
            <a:r>
              <a:rPr lang="en-IN" dirty="0" smtClean="0"/>
              <a:t>    </a:t>
            </a:r>
            <a:r>
              <a:rPr lang="en-IN" dirty="0" err="1" smtClean="0"/>
              <a:t>int</a:t>
            </a:r>
            <a:r>
              <a:rPr lang="en-IN" dirty="0" smtClean="0"/>
              <a:t> *</a:t>
            </a:r>
            <a:r>
              <a:rPr lang="en-IN" dirty="0" err="1" smtClean="0"/>
              <a:t>ptr</a:t>
            </a:r>
            <a:r>
              <a:rPr lang="en-IN" dirty="0" smtClean="0"/>
              <a:t>, </a:t>
            </a:r>
            <a:r>
              <a:rPr lang="en-IN" dirty="0" err="1" smtClean="0"/>
              <a:t>i</a:t>
            </a:r>
            <a:r>
              <a:rPr lang="en-IN" dirty="0" smtClean="0"/>
              <a:t> , n1, n2;</a:t>
            </a:r>
          </a:p>
          <a:p>
            <a:pPr marL="0" indent="0">
              <a:buNone/>
            </a:pPr>
            <a:r>
              <a:rPr lang="en-IN" dirty="0" smtClean="0"/>
              <a:t>    </a:t>
            </a:r>
            <a:r>
              <a:rPr lang="en-IN" dirty="0" err="1" smtClean="0"/>
              <a:t>printf</a:t>
            </a:r>
            <a:r>
              <a:rPr lang="en-IN" dirty="0" smtClean="0"/>
              <a:t>("Enter size of array: ");</a:t>
            </a:r>
          </a:p>
          <a:p>
            <a:pPr marL="0" indent="0">
              <a:buNone/>
            </a:pPr>
            <a:r>
              <a:rPr lang="en-IN" dirty="0" smtClean="0"/>
              <a:t>    </a:t>
            </a:r>
            <a:r>
              <a:rPr lang="en-IN" dirty="0" err="1" smtClean="0"/>
              <a:t>scanf</a:t>
            </a:r>
            <a:r>
              <a:rPr lang="en-IN" dirty="0" smtClean="0"/>
              <a:t>("%d", &amp;n1);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  </a:t>
            </a:r>
            <a:r>
              <a:rPr lang="en-IN" b="1" dirty="0" err="1" smtClean="0"/>
              <a:t>ptr</a:t>
            </a:r>
            <a:r>
              <a:rPr lang="en-IN" b="1" dirty="0" smtClean="0"/>
              <a:t> = (</a:t>
            </a:r>
            <a:r>
              <a:rPr lang="en-IN" b="1" dirty="0" err="1" smtClean="0"/>
              <a:t>int</a:t>
            </a:r>
            <a:r>
              <a:rPr lang="en-IN" b="1" dirty="0" smtClean="0"/>
              <a:t>*) </a:t>
            </a:r>
            <a:r>
              <a:rPr lang="en-IN" b="1" dirty="0" err="1" smtClean="0"/>
              <a:t>malloc</a:t>
            </a:r>
            <a:r>
              <a:rPr lang="en-IN" b="1" dirty="0" smtClean="0"/>
              <a:t>(n1 * </a:t>
            </a:r>
            <a:r>
              <a:rPr lang="en-IN" b="1" dirty="0" err="1" smtClean="0"/>
              <a:t>sizeof</a:t>
            </a:r>
            <a:r>
              <a:rPr lang="en-IN" b="1" dirty="0" smtClean="0"/>
              <a:t>(</a:t>
            </a:r>
            <a:r>
              <a:rPr lang="en-IN" b="1" dirty="0" err="1" smtClean="0"/>
              <a:t>int</a:t>
            </a:r>
            <a:r>
              <a:rPr lang="en-IN" b="1" dirty="0" smtClean="0"/>
              <a:t>));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  </a:t>
            </a:r>
            <a:r>
              <a:rPr lang="en-IN" dirty="0" err="1" smtClean="0"/>
              <a:t>printf</a:t>
            </a:r>
            <a:r>
              <a:rPr lang="en-IN" dirty="0" smtClean="0"/>
              <a:t>("Address of previously allocated memory: ");</a:t>
            </a:r>
          </a:p>
          <a:p>
            <a:pPr marL="0" indent="0">
              <a:buNone/>
            </a:pPr>
            <a:r>
              <a:rPr lang="en-IN" dirty="0" smtClean="0"/>
              <a:t>    for(</a:t>
            </a:r>
            <a:r>
              <a:rPr lang="en-IN" dirty="0" err="1" smtClean="0"/>
              <a:t>i</a:t>
            </a:r>
            <a:r>
              <a:rPr lang="en-IN" dirty="0" smtClean="0"/>
              <a:t> = 0; </a:t>
            </a:r>
            <a:r>
              <a:rPr lang="en-IN" dirty="0" err="1" smtClean="0"/>
              <a:t>i</a:t>
            </a:r>
            <a:r>
              <a:rPr lang="en-IN" dirty="0" smtClean="0"/>
              <a:t> &lt; n1; ++</a:t>
            </a:r>
            <a:r>
              <a:rPr lang="en-IN" dirty="0" err="1" smtClean="0"/>
              <a:t>i</a:t>
            </a:r>
            <a:r>
              <a:rPr lang="en-IN" dirty="0" smtClean="0"/>
              <a:t>)</a:t>
            </a:r>
          </a:p>
          <a:p>
            <a:pPr marL="0" indent="0">
              <a:buNone/>
            </a:pPr>
            <a:r>
              <a:rPr lang="en-IN" dirty="0" smtClean="0"/>
              <a:t>         </a:t>
            </a:r>
            <a:r>
              <a:rPr lang="en-IN" dirty="0" err="1" smtClean="0"/>
              <a:t>printf</a:t>
            </a:r>
            <a:r>
              <a:rPr lang="en-IN" dirty="0" smtClean="0"/>
              <a:t>("%u\t",</a:t>
            </a:r>
            <a:r>
              <a:rPr lang="en-IN" dirty="0" err="1" smtClean="0"/>
              <a:t>ptr</a:t>
            </a:r>
            <a:r>
              <a:rPr lang="en-IN" dirty="0" smtClean="0"/>
              <a:t> + </a:t>
            </a:r>
            <a:r>
              <a:rPr lang="en-IN" dirty="0" err="1" smtClean="0"/>
              <a:t>i</a:t>
            </a:r>
            <a:r>
              <a:rPr lang="en-IN" dirty="0" smtClean="0"/>
              <a:t>);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  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68760"/>
            <a:ext cx="4038600" cy="485740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 err="1" smtClean="0"/>
              <a:t>printf</a:t>
            </a:r>
            <a:r>
              <a:rPr lang="en-IN" dirty="0" smtClean="0"/>
              <a:t>("\</a:t>
            </a:r>
            <a:r>
              <a:rPr lang="en-IN" dirty="0" err="1" smtClean="0"/>
              <a:t>nEnter</a:t>
            </a:r>
            <a:r>
              <a:rPr lang="en-IN" dirty="0" smtClean="0"/>
              <a:t> new size of array: ");</a:t>
            </a:r>
          </a:p>
          <a:p>
            <a:pPr marL="0" indent="0">
              <a:buNone/>
            </a:pPr>
            <a:r>
              <a:rPr lang="en-IN" dirty="0" smtClean="0"/>
              <a:t>    </a:t>
            </a:r>
            <a:r>
              <a:rPr lang="en-IN" dirty="0" err="1" smtClean="0"/>
              <a:t>scanf</a:t>
            </a:r>
            <a:r>
              <a:rPr lang="en-IN" dirty="0" smtClean="0"/>
              <a:t>("%d", &amp;n2);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b="1" dirty="0" smtClean="0"/>
              <a:t>    </a:t>
            </a:r>
            <a:r>
              <a:rPr lang="en-IN" b="1" dirty="0" err="1" smtClean="0"/>
              <a:t>ptr</a:t>
            </a:r>
            <a:r>
              <a:rPr lang="en-IN" b="1" dirty="0" smtClean="0"/>
              <a:t> = </a:t>
            </a:r>
            <a:r>
              <a:rPr lang="en-IN" b="1" dirty="0" err="1" smtClean="0"/>
              <a:t>realloc</a:t>
            </a:r>
            <a:r>
              <a:rPr lang="en-IN" b="1" dirty="0" smtClean="0"/>
              <a:t>(</a:t>
            </a:r>
            <a:r>
              <a:rPr lang="en-IN" b="1" dirty="0" err="1" smtClean="0"/>
              <a:t>ptr</a:t>
            </a:r>
            <a:r>
              <a:rPr lang="en-IN" b="1" dirty="0" smtClean="0"/>
              <a:t>, n2);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  for(</a:t>
            </a:r>
            <a:r>
              <a:rPr lang="en-IN" dirty="0" err="1" smtClean="0"/>
              <a:t>i</a:t>
            </a:r>
            <a:r>
              <a:rPr lang="en-IN" dirty="0" smtClean="0"/>
              <a:t> = 0; </a:t>
            </a:r>
            <a:r>
              <a:rPr lang="en-IN" dirty="0" err="1" smtClean="0"/>
              <a:t>i</a:t>
            </a:r>
            <a:r>
              <a:rPr lang="en-IN" dirty="0" smtClean="0"/>
              <a:t> &lt; n2; ++</a:t>
            </a:r>
            <a:r>
              <a:rPr lang="en-IN" dirty="0" err="1" smtClean="0"/>
              <a:t>i</a:t>
            </a:r>
            <a:r>
              <a:rPr lang="en-IN" dirty="0" smtClean="0"/>
              <a:t>)</a:t>
            </a:r>
          </a:p>
          <a:p>
            <a:pPr marL="0" indent="0">
              <a:buNone/>
            </a:pPr>
            <a:r>
              <a:rPr lang="en-IN" dirty="0" smtClean="0"/>
              <a:t>         </a:t>
            </a:r>
            <a:r>
              <a:rPr lang="en-IN" dirty="0" err="1" smtClean="0"/>
              <a:t>printf</a:t>
            </a:r>
            <a:r>
              <a:rPr lang="en-IN" dirty="0" smtClean="0"/>
              <a:t>("%u\t", </a:t>
            </a:r>
            <a:r>
              <a:rPr lang="en-IN" dirty="0" err="1" smtClean="0"/>
              <a:t>ptr</a:t>
            </a:r>
            <a:r>
              <a:rPr lang="en-IN" dirty="0" smtClean="0"/>
              <a:t> + </a:t>
            </a:r>
            <a:r>
              <a:rPr lang="en-IN" dirty="0" err="1" smtClean="0"/>
              <a:t>i</a:t>
            </a:r>
            <a:r>
              <a:rPr lang="en-IN" dirty="0" smtClean="0"/>
              <a:t>);</a:t>
            </a:r>
          </a:p>
          <a:p>
            <a:pPr marL="0" indent="0">
              <a:buNone/>
            </a:pPr>
            <a:r>
              <a:rPr lang="en-IN" dirty="0" smtClean="0"/>
              <a:t>    return 0;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764917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1143000"/>
          </a:xfrm>
        </p:spPr>
        <p:txBody>
          <a:bodyPr>
            <a:noAutofit/>
          </a:bodyPr>
          <a:lstStyle/>
          <a:p>
            <a:r>
              <a:rPr lang="en-IN" sz="3600" dirty="0" smtClean="0"/>
              <a:t>Dynamic Memory Allocation for Structure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124744"/>
            <a:ext cx="4506144" cy="573325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 smtClean="0"/>
              <a:t>#include &lt;</a:t>
            </a:r>
            <a:r>
              <a:rPr lang="en-IN" dirty="0" err="1" smtClean="0"/>
              <a:t>stdio.h</a:t>
            </a:r>
            <a:r>
              <a:rPr lang="en-IN" dirty="0" smtClean="0"/>
              <a:t>&gt;</a:t>
            </a:r>
          </a:p>
          <a:p>
            <a:pPr marL="0" indent="0">
              <a:buNone/>
            </a:pPr>
            <a:r>
              <a:rPr lang="en-IN" dirty="0" smtClean="0"/>
              <a:t>#include &lt;</a:t>
            </a:r>
            <a:r>
              <a:rPr lang="en-IN" dirty="0" err="1" smtClean="0"/>
              <a:t>stdlib.h</a:t>
            </a:r>
            <a:r>
              <a:rPr lang="en-IN" dirty="0" smtClean="0"/>
              <a:t>&gt;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struct</a:t>
            </a:r>
            <a:r>
              <a:rPr lang="en-IN" dirty="0" smtClean="0"/>
              <a:t> person {</a:t>
            </a:r>
          </a:p>
          <a:p>
            <a:pPr marL="0" indent="0">
              <a:buNone/>
            </a:pPr>
            <a:r>
              <a:rPr lang="en-IN" dirty="0" smtClean="0"/>
              <a:t>   </a:t>
            </a:r>
            <a:r>
              <a:rPr lang="en-IN" dirty="0" err="1" smtClean="0"/>
              <a:t>int</a:t>
            </a:r>
            <a:r>
              <a:rPr lang="en-IN" dirty="0" smtClean="0"/>
              <a:t> age;</a:t>
            </a:r>
          </a:p>
          <a:p>
            <a:pPr marL="0" indent="0">
              <a:buNone/>
            </a:pPr>
            <a:r>
              <a:rPr lang="en-IN" dirty="0" smtClean="0"/>
              <a:t>   float weight;</a:t>
            </a:r>
          </a:p>
          <a:p>
            <a:pPr marL="0" indent="0">
              <a:buNone/>
            </a:pPr>
            <a:r>
              <a:rPr lang="en-IN" dirty="0" smtClean="0"/>
              <a:t>   char name[30];</a:t>
            </a:r>
          </a:p>
          <a:p>
            <a:pPr marL="0" indent="0">
              <a:buNone/>
            </a:pPr>
            <a:r>
              <a:rPr lang="en-IN" dirty="0" smtClean="0"/>
              <a:t>};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int</a:t>
            </a:r>
            <a:r>
              <a:rPr lang="en-IN" dirty="0" smtClean="0"/>
              <a:t> main()</a:t>
            </a:r>
          </a:p>
          <a:p>
            <a:pPr marL="0" indent="0">
              <a:buNone/>
            </a:pPr>
            <a:r>
              <a:rPr lang="en-IN" dirty="0" smtClean="0"/>
              <a:t>{</a:t>
            </a:r>
          </a:p>
          <a:p>
            <a:pPr marL="0" indent="0">
              <a:buNone/>
            </a:pPr>
            <a:r>
              <a:rPr lang="en-IN" dirty="0" smtClean="0"/>
              <a:t>   </a:t>
            </a:r>
            <a:r>
              <a:rPr lang="en-IN" dirty="0" err="1" smtClean="0"/>
              <a:t>struct</a:t>
            </a:r>
            <a:r>
              <a:rPr lang="en-IN" dirty="0" smtClean="0"/>
              <a:t> person *</a:t>
            </a:r>
            <a:r>
              <a:rPr lang="en-IN" dirty="0" err="1" smtClean="0"/>
              <a:t>ptr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 smtClean="0"/>
              <a:t>   </a:t>
            </a: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 err="1" smtClean="0"/>
              <a:t>i</a:t>
            </a:r>
            <a:r>
              <a:rPr lang="en-IN" dirty="0" smtClean="0"/>
              <a:t>, </a:t>
            </a:r>
            <a:r>
              <a:rPr lang="en-IN" dirty="0" err="1" smtClean="0"/>
              <a:t>num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 smtClean="0"/>
              <a:t>   </a:t>
            </a:r>
            <a:r>
              <a:rPr lang="en-IN" dirty="0" err="1" smtClean="0"/>
              <a:t>printf</a:t>
            </a:r>
            <a:r>
              <a:rPr lang="en-IN" dirty="0" smtClean="0"/>
              <a:t>("Enter number of persons: ");</a:t>
            </a:r>
          </a:p>
          <a:p>
            <a:pPr marL="0" indent="0">
              <a:buNone/>
            </a:pPr>
            <a:r>
              <a:rPr lang="en-IN" dirty="0" smtClean="0"/>
              <a:t>   </a:t>
            </a:r>
            <a:r>
              <a:rPr lang="en-IN" dirty="0" err="1" smtClean="0"/>
              <a:t>scanf</a:t>
            </a:r>
            <a:r>
              <a:rPr lang="en-IN" dirty="0" smtClean="0"/>
              <a:t>("%d", &amp;</a:t>
            </a:r>
            <a:r>
              <a:rPr lang="en-IN" dirty="0" err="1" smtClean="0"/>
              <a:t>num</a:t>
            </a:r>
            <a:r>
              <a:rPr lang="en-IN" dirty="0" smtClean="0"/>
              <a:t>);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 </a:t>
            </a:r>
            <a:r>
              <a:rPr lang="en-IN" b="1" dirty="0" err="1" smtClean="0"/>
              <a:t>ptr</a:t>
            </a:r>
            <a:r>
              <a:rPr lang="en-IN" b="1" dirty="0" smtClean="0"/>
              <a:t> = (</a:t>
            </a:r>
            <a:r>
              <a:rPr lang="en-IN" b="1" dirty="0" err="1" smtClean="0"/>
              <a:t>struct</a:t>
            </a:r>
            <a:r>
              <a:rPr lang="en-IN" b="1" dirty="0" smtClean="0"/>
              <a:t>  person*) </a:t>
            </a:r>
            <a:r>
              <a:rPr lang="en-IN" b="1" dirty="0" err="1" smtClean="0"/>
              <a:t>malloc</a:t>
            </a:r>
            <a:r>
              <a:rPr lang="en-IN" b="1" dirty="0" smtClean="0"/>
              <a:t>(</a:t>
            </a:r>
            <a:r>
              <a:rPr lang="en-IN" b="1" dirty="0" err="1" smtClean="0"/>
              <a:t>num</a:t>
            </a:r>
            <a:r>
              <a:rPr lang="en-IN" b="1" dirty="0" smtClean="0"/>
              <a:t> * </a:t>
            </a:r>
            <a:r>
              <a:rPr lang="en-IN" b="1" dirty="0" err="1" smtClean="0"/>
              <a:t>sizeof</a:t>
            </a:r>
            <a:r>
              <a:rPr lang="en-IN" b="1" dirty="0" smtClean="0"/>
              <a:t>(</a:t>
            </a:r>
            <a:r>
              <a:rPr lang="en-IN" b="1" dirty="0" err="1" smtClean="0"/>
              <a:t>struct</a:t>
            </a:r>
            <a:r>
              <a:rPr lang="en-IN" b="1" dirty="0" smtClean="0"/>
              <a:t>  person));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27984" y="1196752"/>
            <a:ext cx="4716016" cy="485740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 smtClean="0"/>
              <a:t> for(</a:t>
            </a:r>
            <a:r>
              <a:rPr lang="en-IN" dirty="0" err="1" smtClean="0"/>
              <a:t>i</a:t>
            </a:r>
            <a:r>
              <a:rPr lang="en-IN" dirty="0" smtClean="0"/>
              <a:t> = 0; </a:t>
            </a:r>
            <a:r>
              <a:rPr lang="en-IN" dirty="0" err="1" smtClean="0"/>
              <a:t>i</a:t>
            </a:r>
            <a:r>
              <a:rPr lang="en-IN" dirty="0" smtClean="0"/>
              <a:t> &lt; </a:t>
            </a:r>
            <a:r>
              <a:rPr lang="en-IN" dirty="0" err="1" smtClean="0"/>
              <a:t>num</a:t>
            </a:r>
            <a:r>
              <a:rPr lang="en-IN" dirty="0" smtClean="0"/>
              <a:t>; ++</a:t>
            </a:r>
            <a:r>
              <a:rPr lang="en-IN" dirty="0" err="1" smtClean="0"/>
              <a:t>i</a:t>
            </a:r>
            <a:r>
              <a:rPr lang="en-IN" dirty="0" smtClean="0"/>
              <a:t>)</a:t>
            </a:r>
          </a:p>
          <a:p>
            <a:pPr marL="0" indent="0">
              <a:buNone/>
            </a:pPr>
            <a:r>
              <a:rPr lang="en-IN" dirty="0" smtClean="0"/>
              <a:t>   {</a:t>
            </a:r>
          </a:p>
          <a:p>
            <a:pPr marL="0" indent="0">
              <a:buNone/>
            </a:pPr>
            <a:r>
              <a:rPr lang="en-IN" dirty="0" smtClean="0"/>
              <a:t>       </a:t>
            </a:r>
            <a:r>
              <a:rPr lang="en-IN" dirty="0" err="1" smtClean="0"/>
              <a:t>printf</a:t>
            </a:r>
            <a:r>
              <a:rPr lang="en-IN" dirty="0" smtClean="0"/>
              <a:t>("Enter name, age and weight of the person respectively:\n");</a:t>
            </a:r>
          </a:p>
          <a:p>
            <a:pPr marL="0" indent="0">
              <a:buNone/>
            </a:pPr>
            <a:r>
              <a:rPr lang="en-IN" dirty="0" smtClean="0"/>
              <a:t>       </a:t>
            </a:r>
            <a:r>
              <a:rPr lang="en-IN" dirty="0" err="1" smtClean="0"/>
              <a:t>scanf</a:t>
            </a:r>
            <a:r>
              <a:rPr lang="en-IN" dirty="0" smtClean="0"/>
              <a:t>("%</a:t>
            </a:r>
            <a:r>
              <a:rPr lang="en-IN" dirty="0" err="1" smtClean="0"/>
              <a:t>s%d%f</a:t>
            </a:r>
            <a:r>
              <a:rPr lang="en-IN" dirty="0" smtClean="0"/>
              <a:t>", &amp;(</a:t>
            </a:r>
            <a:r>
              <a:rPr lang="en-IN" dirty="0" err="1" smtClean="0"/>
              <a:t>ptr+i</a:t>
            </a:r>
            <a:r>
              <a:rPr lang="en-IN" dirty="0" smtClean="0"/>
              <a:t>)-&gt;name, &amp;(</a:t>
            </a:r>
            <a:r>
              <a:rPr lang="en-IN" dirty="0" err="1" smtClean="0"/>
              <a:t>ptr+i</a:t>
            </a:r>
            <a:r>
              <a:rPr lang="en-IN" dirty="0" smtClean="0"/>
              <a:t>)-&gt;age, &amp;(</a:t>
            </a:r>
            <a:r>
              <a:rPr lang="en-IN" dirty="0" err="1" smtClean="0"/>
              <a:t>ptr+i</a:t>
            </a:r>
            <a:r>
              <a:rPr lang="en-IN" dirty="0" smtClean="0"/>
              <a:t>)-&gt;weight);</a:t>
            </a:r>
          </a:p>
          <a:p>
            <a:pPr marL="0" indent="0">
              <a:buNone/>
            </a:pPr>
            <a:r>
              <a:rPr lang="en-IN" dirty="0" smtClean="0"/>
              <a:t>   }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 </a:t>
            </a:r>
            <a:r>
              <a:rPr lang="en-IN" dirty="0" err="1" smtClean="0"/>
              <a:t>printf</a:t>
            </a:r>
            <a:r>
              <a:rPr lang="en-IN" dirty="0" smtClean="0"/>
              <a:t>("Displaying </a:t>
            </a:r>
            <a:r>
              <a:rPr lang="en-IN" dirty="0" err="1" smtClean="0"/>
              <a:t>Infromation</a:t>
            </a:r>
            <a:r>
              <a:rPr lang="en-IN" dirty="0" smtClean="0"/>
              <a:t>:\n");</a:t>
            </a:r>
          </a:p>
          <a:p>
            <a:pPr marL="0" indent="0">
              <a:buNone/>
            </a:pPr>
            <a:r>
              <a:rPr lang="en-IN" dirty="0" smtClean="0"/>
              <a:t>   for(</a:t>
            </a:r>
            <a:r>
              <a:rPr lang="en-IN" dirty="0" err="1" smtClean="0"/>
              <a:t>i</a:t>
            </a:r>
            <a:r>
              <a:rPr lang="en-IN" dirty="0" smtClean="0"/>
              <a:t> = 0; </a:t>
            </a:r>
            <a:r>
              <a:rPr lang="en-IN" dirty="0" err="1" smtClean="0"/>
              <a:t>i</a:t>
            </a:r>
            <a:r>
              <a:rPr lang="en-IN" dirty="0" smtClean="0"/>
              <a:t> &lt; </a:t>
            </a:r>
            <a:r>
              <a:rPr lang="en-IN" dirty="0" err="1" smtClean="0"/>
              <a:t>num</a:t>
            </a:r>
            <a:r>
              <a:rPr lang="en-IN" dirty="0" smtClean="0"/>
              <a:t>; ++</a:t>
            </a:r>
            <a:r>
              <a:rPr lang="en-IN" dirty="0" err="1" smtClean="0"/>
              <a:t>i</a:t>
            </a:r>
            <a:r>
              <a:rPr lang="en-IN" dirty="0" smtClean="0"/>
              <a:t>)</a:t>
            </a:r>
          </a:p>
          <a:p>
            <a:pPr marL="0" indent="0">
              <a:buNone/>
            </a:pPr>
            <a:r>
              <a:rPr lang="en-IN" dirty="0" smtClean="0"/>
              <a:t>       </a:t>
            </a:r>
            <a:r>
              <a:rPr lang="en-IN" dirty="0" err="1" smtClean="0"/>
              <a:t>printf</a:t>
            </a:r>
            <a:r>
              <a:rPr lang="en-IN" dirty="0" smtClean="0"/>
              <a:t>("%s\</a:t>
            </a:r>
            <a:r>
              <a:rPr lang="en-IN" dirty="0" err="1" smtClean="0"/>
              <a:t>t%d</a:t>
            </a:r>
            <a:r>
              <a:rPr lang="en-IN" dirty="0" smtClean="0"/>
              <a:t>\t%.2f\n", (</a:t>
            </a:r>
            <a:r>
              <a:rPr lang="en-IN" dirty="0" err="1" smtClean="0"/>
              <a:t>ptr+i</a:t>
            </a:r>
            <a:r>
              <a:rPr lang="en-IN" dirty="0" smtClean="0"/>
              <a:t>)-&gt;name, (</a:t>
            </a:r>
            <a:r>
              <a:rPr lang="en-IN" dirty="0" err="1" smtClean="0"/>
              <a:t>ptr+i</a:t>
            </a:r>
            <a:r>
              <a:rPr lang="en-IN" dirty="0" smtClean="0"/>
              <a:t>)-&gt;age, (</a:t>
            </a:r>
            <a:r>
              <a:rPr lang="en-IN" dirty="0" err="1" smtClean="0"/>
              <a:t>ptr+i</a:t>
            </a:r>
            <a:r>
              <a:rPr lang="en-IN" dirty="0" smtClean="0"/>
              <a:t>)-&gt;weight);</a:t>
            </a:r>
          </a:p>
          <a:p>
            <a:pPr marL="0" indent="0">
              <a:buNone/>
            </a:pPr>
            <a:r>
              <a:rPr lang="en-IN" dirty="0" smtClean="0"/>
              <a:t>   return 0;</a:t>
            </a:r>
          </a:p>
          <a:p>
            <a:pPr marL="0" indent="0">
              <a:buNone/>
            </a:pPr>
            <a:r>
              <a:rPr lang="en-IN" dirty="0" smtClean="0"/>
              <a:t>}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951735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</TotalTime>
  <Words>784</Words>
  <Application>Microsoft Office PowerPoint</Application>
  <PresentationFormat>On-screen Show (4:3)</PresentationFormat>
  <Paragraphs>161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Dynamic Memory Allocation</vt:lpstr>
      <vt:lpstr>Allocation of Memory</vt:lpstr>
      <vt:lpstr>Dynamic memory Allocation</vt:lpstr>
      <vt:lpstr>malloc()   &amp;   free() </vt:lpstr>
      <vt:lpstr>Slide 5</vt:lpstr>
      <vt:lpstr>Sum of N elements using malloc()</vt:lpstr>
      <vt:lpstr>calloc()</vt:lpstr>
      <vt:lpstr>Slide 8</vt:lpstr>
      <vt:lpstr>Sum of N elements using calloc()</vt:lpstr>
      <vt:lpstr>realloc()</vt:lpstr>
      <vt:lpstr>Using realloc()</vt:lpstr>
      <vt:lpstr>Dynamic Memory Allocation for Structure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Memory Allocation</dc:title>
  <dc:creator>Gladys</dc:creator>
  <cp:lastModifiedBy>ELCOT</cp:lastModifiedBy>
  <cp:revision>17</cp:revision>
  <dcterms:created xsi:type="dcterms:W3CDTF">2017-01-23T11:41:52Z</dcterms:created>
  <dcterms:modified xsi:type="dcterms:W3CDTF">2023-03-21T02:23:28Z</dcterms:modified>
</cp:coreProperties>
</file>