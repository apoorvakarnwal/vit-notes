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2216" y="191769"/>
            <a:ext cx="8519566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6B72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6B72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6B72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A6B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6B72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6B72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A6B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>
                <a:moveTo>
                  <a:pt x="8778240" y="0"/>
                </a:moveTo>
                <a:lnTo>
                  <a:pt x="0" y="0"/>
                </a:lnTo>
                <a:lnTo>
                  <a:pt x="0" y="6492240"/>
                </a:lnTo>
                <a:lnTo>
                  <a:pt x="8778240" y="6492240"/>
                </a:lnTo>
                <a:lnTo>
                  <a:pt x="8778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244" y="863853"/>
            <a:ext cx="3792854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0873" y="1211554"/>
            <a:ext cx="8382253" cy="3385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007984" y="6328759"/>
            <a:ext cx="216534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6B727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>
                <a:moveTo>
                  <a:pt x="0" y="6492240"/>
                </a:moveTo>
                <a:lnTo>
                  <a:pt x="8778240" y="6492240"/>
                </a:lnTo>
                <a:lnTo>
                  <a:pt x="8778240" y="0"/>
                </a:lnTo>
                <a:lnTo>
                  <a:pt x="0" y="0"/>
                </a:lnTo>
                <a:lnTo>
                  <a:pt x="0" y="649224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85138" y="3734561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1066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58695" y="2985897"/>
            <a:ext cx="4622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0" dirty="0">
                <a:solidFill>
                  <a:srgbClr val="FFFFFF"/>
                </a:solidFill>
                <a:latin typeface="Corbel"/>
                <a:cs typeface="Corbel"/>
              </a:rPr>
              <a:t>POLYMORPHISM</a:t>
            </a:r>
            <a:endParaRPr sz="4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8089" y="6328759"/>
            <a:ext cx="14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1</a:t>
            </a:fld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>
                <a:moveTo>
                  <a:pt x="8778240" y="0"/>
                </a:moveTo>
                <a:lnTo>
                  <a:pt x="0" y="0"/>
                </a:lnTo>
                <a:lnTo>
                  <a:pt x="0" y="6492240"/>
                </a:lnTo>
                <a:lnTo>
                  <a:pt x="8778240" y="6492240"/>
                </a:lnTo>
                <a:lnTo>
                  <a:pt x="8778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576" y="1905000"/>
            <a:ext cx="7930896" cy="2819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2760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Introd</a:t>
            </a:r>
            <a:r>
              <a:rPr sz="4000" spc="-25" dirty="0">
                <a:latin typeface="Corbel"/>
                <a:cs typeface="Corbel"/>
              </a:rPr>
              <a:t>u</a:t>
            </a:r>
            <a:r>
              <a:rPr sz="4000" spc="-5" dirty="0">
                <a:latin typeface="Corbel"/>
                <a:cs typeface="Corbel"/>
              </a:rPr>
              <a:t>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8089" y="6328759"/>
            <a:ext cx="14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2</a:t>
            </a:fld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216" y="191769"/>
            <a:ext cx="41611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FF0000"/>
                </a:solidFill>
                <a:latin typeface="Corbel"/>
                <a:cs typeface="Corbel"/>
              </a:rPr>
              <a:t>Overloading in</a:t>
            </a:r>
            <a:r>
              <a:rPr sz="4000" b="1" spc="-18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Corbel"/>
                <a:cs typeface="Corbel"/>
              </a:rPr>
              <a:t>C++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791" y="1212850"/>
            <a:ext cx="72421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A6B727"/>
                </a:solidFill>
                <a:latin typeface="Times New Roman"/>
                <a:cs typeface="Times New Roman"/>
              </a:rPr>
              <a:t>-</a:t>
            </a:r>
            <a:r>
              <a:rPr sz="1600" spc="145" dirty="0">
                <a:solidFill>
                  <a:srgbClr val="A6B727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Overloading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dirty="0">
                <a:latin typeface="Times New Roman"/>
                <a:cs typeface="Times New Roman"/>
              </a:rPr>
              <a:t> thing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purposes.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2286000"/>
            <a:ext cx="5181600" cy="34899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78089" y="6328759"/>
            <a:ext cx="14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3</a:t>
            </a:fld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4739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Function</a:t>
            </a:r>
            <a:r>
              <a:rPr sz="4000" spc="-19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78089" y="6328759"/>
            <a:ext cx="14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FFFFFF"/>
                </a:solidFill>
                <a:latin typeface="Arial MT"/>
                <a:cs typeface="Arial MT"/>
              </a:rPr>
              <a:t>4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091" y="1310386"/>
            <a:ext cx="8388350" cy="2760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overloading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feature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C++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where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or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more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functions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different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argument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ts val="2160"/>
              </a:lnSpc>
              <a:spcBef>
                <a:spcPts val="1664"/>
              </a:spcBef>
              <a:tabLst>
                <a:tab pos="648335" algn="l"/>
                <a:tab pos="1732914" algn="l"/>
                <a:tab pos="2595880" algn="l"/>
                <a:tab pos="3665854" algn="l"/>
                <a:tab pos="4773930" algn="l"/>
                <a:tab pos="6156960" algn="l"/>
                <a:tab pos="7540625" algn="l"/>
                <a:tab pos="8020684" algn="l"/>
              </a:tabLst>
            </a:pPr>
            <a:r>
              <a:rPr sz="2000" dirty="0">
                <a:latin typeface="Arial MT"/>
                <a:cs typeface="Arial MT"/>
              </a:rPr>
              <a:t>The	fu</a:t>
            </a:r>
            <a:r>
              <a:rPr sz="2000" spc="-15" dirty="0">
                <a:latin typeface="Arial MT"/>
                <a:cs typeface="Arial MT"/>
              </a:rPr>
              <a:t>n</a:t>
            </a:r>
            <a:r>
              <a:rPr sz="2000" dirty="0">
                <a:latin typeface="Arial MT"/>
                <a:cs typeface="Arial MT"/>
              </a:rPr>
              <a:t>ction	would	p</a:t>
            </a:r>
            <a:r>
              <a:rPr sz="2000" spc="-10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-15" dirty="0">
                <a:latin typeface="Arial MT"/>
                <a:cs typeface="Arial MT"/>
              </a:rPr>
              <a:t>f</a:t>
            </a:r>
            <a:r>
              <a:rPr sz="2000" dirty="0">
                <a:latin typeface="Arial MT"/>
                <a:cs typeface="Arial MT"/>
              </a:rPr>
              <a:t>orm	di</a:t>
            </a:r>
            <a:r>
              <a:rPr sz="2000" spc="-45" dirty="0">
                <a:latin typeface="Arial MT"/>
                <a:cs typeface="Arial MT"/>
              </a:rPr>
              <a:t>f</a:t>
            </a:r>
            <a:r>
              <a:rPr sz="2000" dirty="0">
                <a:latin typeface="Arial MT"/>
                <a:cs typeface="Arial MT"/>
              </a:rPr>
              <a:t>f</a:t>
            </a:r>
            <a:r>
              <a:rPr sz="2000" spc="-20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rent	op</a:t>
            </a:r>
            <a:r>
              <a:rPr sz="2000" spc="-10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ratio</a:t>
            </a:r>
            <a:r>
              <a:rPr sz="2000" spc="-15" dirty="0">
                <a:latin typeface="Arial MT"/>
                <a:cs typeface="Arial MT"/>
              </a:rPr>
              <a:t>n</a:t>
            </a:r>
            <a:r>
              <a:rPr sz="2000" dirty="0">
                <a:latin typeface="Arial MT"/>
                <a:cs typeface="Arial MT"/>
              </a:rPr>
              <a:t>s	dep</a:t>
            </a:r>
            <a:r>
              <a:rPr sz="2000" spc="5" dirty="0">
                <a:latin typeface="Arial MT"/>
                <a:cs typeface="Arial MT"/>
              </a:rPr>
              <a:t>e</a:t>
            </a:r>
            <a:r>
              <a:rPr sz="2000" spc="-10" dirty="0">
                <a:latin typeface="Arial MT"/>
                <a:cs typeface="Arial MT"/>
              </a:rPr>
              <a:t>n</a:t>
            </a:r>
            <a:r>
              <a:rPr sz="2000" dirty="0">
                <a:latin typeface="Arial MT"/>
                <a:cs typeface="Arial MT"/>
              </a:rPr>
              <a:t>ding	on	the  arguments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>
              <a:latin typeface="Arial MT"/>
              <a:cs typeface="Arial MT"/>
            </a:endParaRPr>
          </a:p>
          <a:p>
            <a:pPr marL="12700" marR="5715">
              <a:lnSpc>
                <a:spcPts val="2160"/>
              </a:lnSpc>
              <a:spcBef>
                <a:spcPts val="164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function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invoked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determined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checking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number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type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arguments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type.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4739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Function</a:t>
            </a:r>
            <a:r>
              <a:rPr sz="4000" spc="-19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03489" y="6316776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solidFill>
                  <a:srgbClr val="A6B727"/>
                </a:solidFill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4303" y="293319"/>
            <a:ext cx="261429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long</a:t>
            </a:r>
            <a:r>
              <a:rPr sz="1800" b="1" i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add(long</a:t>
            </a:r>
            <a:r>
              <a:rPr sz="1800" b="1" i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c,</a:t>
            </a:r>
            <a:r>
              <a:rPr sz="1800" b="1" i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long</a:t>
            </a:r>
            <a:r>
              <a:rPr sz="1800" b="1" i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76200" marR="1196340">
              <a:lnSpc>
                <a:spcPct val="100000"/>
              </a:lnSpc>
            </a:pP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long sum; </a:t>
            </a:r>
            <a:r>
              <a:rPr sz="1800" b="1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sum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c</a:t>
            </a:r>
            <a:r>
              <a:rPr sz="1800" b="1" i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g; </a:t>
            </a:r>
            <a:r>
              <a:rPr sz="1800" b="1" i="1" spc="-48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return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sum;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4303" y="2214498"/>
            <a:ext cx="261556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float</a:t>
            </a:r>
            <a:r>
              <a:rPr sz="1800" b="1" i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add(float</a:t>
            </a:r>
            <a:r>
              <a:rPr sz="1800" b="1" i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c,</a:t>
            </a:r>
            <a:r>
              <a:rPr sz="1800" b="1" i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float</a:t>
            </a:r>
            <a:r>
              <a:rPr sz="1800" b="1" i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76200" marR="1196975">
              <a:lnSpc>
                <a:spcPct val="100000"/>
              </a:lnSpc>
            </a:pP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float sum; </a:t>
            </a:r>
            <a:r>
              <a:rPr sz="1800" b="1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sum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r>
              <a:rPr sz="1800" b="1" i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c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+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g; </a:t>
            </a:r>
            <a:r>
              <a:rPr sz="1800" b="1" i="1" spc="-48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return</a:t>
            </a:r>
            <a:r>
              <a:rPr sz="1800" b="1" i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sum;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039" y="1538732"/>
            <a:ext cx="5043170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225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#include </a:t>
            </a:r>
            <a:r>
              <a:rPr sz="1800" b="1" spc="-5" dirty="0">
                <a:latin typeface="Arial"/>
                <a:cs typeface="Arial"/>
              </a:rPr>
              <a:t>&lt;iostream&gt; </a:t>
            </a:r>
            <a:r>
              <a:rPr sz="1800" b="1" dirty="0">
                <a:latin typeface="Arial"/>
                <a:cs typeface="Arial"/>
              </a:rPr>
              <a:t> using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namespace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std;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long add(long, long);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float add(float, float);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76200" marR="368935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long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a,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b,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float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e,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f,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g;</a:t>
            </a:r>
            <a:endParaRPr sz="1800">
              <a:latin typeface="Arial"/>
              <a:cs typeface="Arial"/>
            </a:endParaRPr>
          </a:p>
          <a:p>
            <a:pPr marL="76200" marR="159258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cout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&lt;&lt; </a:t>
            </a:r>
            <a:r>
              <a:rPr sz="1800" b="1" spc="-5" dirty="0">
                <a:latin typeface="Arial"/>
                <a:cs typeface="Arial"/>
              </a:rPr>
              <a:t>"Enter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two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integers\n";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cin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&gt;&gt;</a:t>
            </a:r>
            <a:r>
              <a:rPr sz="1800" b="1" spc="-5" dirty="0">
                <a:latin typeface="Arial"/>
                <a:cs typeface="Arial"/>
              </a:rPr>
              <a:t> 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&gt;&gt;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b;</a:t>
            </a:r>
            <a:endParaRPr sz="18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c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add(a,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b);</a:t>
            </a:r>
            <a:endParaRPr sz="1800">
              <a:latin typeface="Arial"/>
              <a:cs typeface="Arial"/>
            </a:endParaRPr>
          </a:p>
          <a:p>
            <a:pPr marL="76200" marR="508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cout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&lt;&lt;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"Sum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integers: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"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&lt;&lt;</a:t>
            </a:r>
            <a:r>
              <a:rPr sz="1800" b="1" spc="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</a:t>
            </a:r>
            <a:r>
              <a:rPr sz="1800" b="1" spc="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&lt;&lt;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endl;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cout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&lt;&lt;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"Enter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two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floating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point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numbers\n";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cin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&gt;&gt; </a:t>
            </a:r>
            <a:r>
              <a:rPr sz="1800" b="1" spc="-5" dirty="0">
                <a:latin typeface="Arial"/>
                <a:cs typeface="Arial"/>
              </a:rPr>
              <a:t>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&gt;&gt;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f;</a:t>
            </a:r>
            <a:endParaRPr sz="18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g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add(e,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f);</a:t>
            </a:r>
            <a:endParaRPr sz="18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cout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&lt;&lt;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"Sum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5" dirty="0">
                <a:latin typeface="Arial"/>
                <a:cs typeface="Arial"/>
              </a:rPr>
              <a:t>floats: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" </a:t>
            </a:r>
            <a:r>
              <a:rPr sz="1800" b="1" dirty="0">
                <a:latin typeface="Arial"/>
                <a:cs typeface="Arial"/>
              </a:rPr>
              <a:t>&lt;&lt;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 &lt;&lt;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endl;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039" y="987678"/>
            <a:ext cx="1282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001F5F"/>
                </a:solidFill>
                <a:latin typeface="Arial"/>
                <a:cs typeface="Arial"/>
              </a:rPr>
              <a:t>Example</a:t>
            </a:r>
            <a:r>
              <a:rPr sz="1800" b="1" i="1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001F5F"/>
                </a:solidFill>
                <a:latin typeface="Arial"/>
                <a:cs typeface="Arial"/>
              </a:rPr>
              <a:t>01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4504" y="4134739"/>
            <a:ext cx="3209290" cy="219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Enter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18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integers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Sum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integers: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14"/>
              </a:lnSpc>
              <a:spcBef>
                <a:spcPts val="10"/>
              </a:spcBef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Enter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5" dirty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floating</a:t>
            </a:r>
            <a:r>
              <a:rPr sz="1600" b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point</a:t>
            </a:r>
            <a:r>
              <a:rPr sz="16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numbers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2155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2.2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1.2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4504" y="6299403"/>
            <a:ext cx="1930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Sum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floats: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3.4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4739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Function</a:t>
            </a:r>
            <a:r>
              <a:rPr sz="4000" spc="-19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039" y="6398460"/>
            <a:ext cx="93345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039" y="831159"/>
            <a:ext cx="4250055" cy="55733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800" b="1" i="1" spc="-5" dirty="0">
                <a:solidFill>
                  <a:srgbClr val="001F5F"/>
                </a:solidFill>
                <a:latin typeface="Arial"/>
                <a:cs typeface="Arial"/>
              </a:rPr>
              <a:t>Example</a:t>
            </a:r>
            <a:r>
              <a:rPr sz="1800" b="1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001F5F"/>
                </a:solidFill>
                <a:latin typeface="Arial"/>
                <a:cs typeface="Arial"/>
              </a:rPr>
              <a:t>02</a:t>
            </a:r>
            <a:endParaRPr sz="1800">
              <a:latin typeface="Arial"/>
              <a:cs typeface="Arial"/>
            </a:endParaRPr>
          </a:p>
          <a:p>
            <a:pPr marL="12700" marR="2254885">
              <a:lnSpc>
                <a:spcPct val="100000"/>
              </a:lnSpc>
              <a:spcBef>
                <a:spcPts val="560"/>
              </a:spcBef>
            </a:pPr>
            <a:r>
              <a:rPr sz="1600" spc="-5" dirty="0">
                <a:latin typeface="Arial MT"/>
                <a:cs typeface="Arial MT"/>
              </a:rPr>
              <a:t>#include &lt;iostream&gt;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using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namespace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std;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long add(long, long);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add(float,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float);</a:t>
            </a:r>
            <a:endParaRPr sz="1600">
              <a:latin typeface="Arial MT"/>
              <a:cs typeface="Arial MT"/>
            </a:endParaRPr>
          </a:p>
          <a:p>
            <a:pPr marL="12700" marR="1936114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float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add(float,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float,float);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main()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68580" marR="2994025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long a, b, c;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f,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g,h;</a:t>
            </a:r>
            <a:endParaRPr sz="1600">
              <a:latin typeface="Arial MT"/>
              <a:cs typeface="Arial MT"/>
            </a:endParaRPr>
          </a:p>
          <a:p>
            <a:pPr marL="68580" marR="1426845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cout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"Enter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two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integers\n"; </a:t>
            </a:r>
            <a:r>
              <a:rPr sz="1600" spc="-4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cin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&gt;&gt;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&gt;&gt;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b;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c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=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add(a,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b);</a:t>
            </a:r>
            <a:endParaRPr sz="1600">
              <a:latin typeface="Arial"/>
              <a:cs typeface="Arial"/>
            </a:endParaRPr>
          </a:p>
          <a:p>
            <a:pPr marL="68580" marR="15303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cout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"Sum 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integers: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 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endl;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cout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"Enter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two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floating point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numbers\n";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cin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&gt;&gt;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 &gt;&gt;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f;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g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=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add(e, f);</a:t>
            </a:r>
            <a:endParaRPr sz="16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cout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"Sum 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floats: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 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 &lt;&lt;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endl;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cout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"Enter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three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floating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point</a:t>
            </a:r>
            <a:r>
              <a:rPr sz="1600" dirty="0">
                <a:latin typeface="Arial MT"/>
                <a:cs typeface="Arial MT"/>
              </a:rPr>
              <a:t> numbers\n";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cin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&gt;&gt;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&gt;&gt;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&gt;&gt; h;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g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= add(e, f,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h);</a:t>
            </a:r>
            <a:endParaRPr sz="16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cout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"Sum 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floats: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 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 &lt;&lt;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endl;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0728" y="1119073"/>
            <a:ext cx="3402965" cy="537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long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add(long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76200" marR="206121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long </a:t>
            </a:r>
            <a:r>
              <a:rPr sz="1800" dirty="0">
                <a:latin typeface="Arial MT"/>
                <a:cs typeface="Arial MT"/>
              </a:rPr>
              <a:t>sum;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sum;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float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add(float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float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76200" marR="206121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float </a:t>
            </a:r>
            <a:r>
              <a:rPr sz="1800" dirty="0">
                <a:latin typeface="Arial MT"/>
                <a:cs typeface="Arial MT"/>
              </a:rPr>
              <a:t>sum;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sum;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float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add(float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float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float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z)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float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sum;</a:t>
            </a:r>
            <a:endParaRPr sz="1800">
              <a:latin typeface="Arial MT"/>
              <a:cs typeface="Arial MT"/>
            </a:endParaRPr>
          </a:p>
          <a:p>
            <a:pPr marL="76200" marR="168592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sum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z;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sum;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095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  <a:p>
            <a:pPr marR="279400" algn="r">
              <a:lnSpc>
                <a:spcPts val="1135"/>
              </a:lnSpc>
            </a:pPr>
            <a:r>
              <a:rPr sz="1000" spc="-5" dirty="0">
                <a:solidFill>
                  <a:srgbClr val="A6B727"/>
                </a:solidFill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0"/>
            <a:ext cx="4739640" cy="1265555"/>
          </a:xfrm>
          <a:prstGeom prst="rect">
            <a:avLst/>
          </a:prstGeom>
        </p:spPr>
        <p:txBody>
          <a:bodyPr vert="horz" wrap="square" lIns="0" tIns="257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sz="4000" spc="-5" dirty="0">
                <a:latin typeface="Corbel"/>
                <a:cs typeface="Corbel"/>
              </a:rPr>
              <a:t>Function</a:t>
            </a:r>
            <a:r>
              <a:rPr sz="4000" spc="-19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  <a:p>
            <a:pPr marL="39370">
              <a:lnSpc>
                <a:spcPct val="100000"/>
              </a:lnSpc>
              <a:spcBef>
                <a:spcPts val="869"/>
              </a:spcBef>
            </a:pPr>
            <a:r>
              <a:rPr sz="1800" i="1" spc="-5" dirty="0">
                <a:solidFill>
                  <a:srgbClr val="001F5F"/>
                </a:solidFill>
                <a:latin typeface="Arial"/>
                <a:cs typeface="Arial"/>
              </a:rPr>
              <a:t>Example</a:t>
            </a:r>
            <a:r>
              <a:rPr sz="1800" i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001F5F"/>
                </a:solidFill>
                <a:latin typeface="Arial"/>
                <a:cs typeface="Arial"/>
              </a:rPr>
              <a:t>02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7984" y="632875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A6B727"/>
                </a:solidFill>
                <a:latin typeface="Arial MT"/>
                <a:cs typeface="Arial MT"/>
              </a:rPr>
              <a:t>7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244" y="1749933"/>
            <a:ext cx="346519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 marR="16046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Enter </a:t>
            </a:r>
            <a:r>
              <a:rPr sz="1800" spc="-15" dirty="0">
                <a:latin typeface="Arial MT"/>
                <a:cs typeface="Arial MT"/>
              </a:rPr>
              <a:t>two </a:t>
            </a:r>
            <a:r>
              <a:rPr sz="1800" spc="-5" dirty="0">
                <a:latin typeface="Arial MT"/>
                <a:cs typeface="Arial MT"/>
              </a:rPr>
              <a:t>integers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Sum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integers: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  <a:p>
            <a:pPr marL="12700" marR="16954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Enter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floating point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numbers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2.2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1.2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floats: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3.4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Enter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three floating point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numbers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1.1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2.2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3.3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Sum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floats: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6.6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4812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orbel"/>
                <a:cs typeface="Corbel"/>
              </a:rPr>
              <a:t>Operator</a:t>
            </a:r>
            <a:r>
              <a:rPr sz="4000" spc="-18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7984" y="632875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A6B727"/>
                </a:solidFill>
                <a:latin typeface="Arial MT"/>
                <a:cs typeface="Arial MT"/>
              </a:rPr>
              <a:t>8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791" y="1359153"/>
            <a:ext cx="7886700" cy="35331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6985" algn="just">
              <a:lnSpc>
                <a:spcPts val="2600"/>
              </a:lnSpc>
              <a:spcBef>
                <a:spcPts val="420"/>
              </a:spcBef>
            </a:pPr>
            <a:r>
              <a:rPr sz="2400" spc="-5" dirty="0">
                <a:latin typeface="Arial MT"/>
                <a:cs typeface="Arial MT"/>
              </a:rPr>
              <a:t>C++ has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ability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provide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operators </a:t>
            </a:r>
            <a:r>
              <a:rPr sz="2400" dirty="0">
                <a:latin typeface="Arial MT"/>
                <a:cs typeface="Arial MT"/>
              </a:rPr>
              <a:t>with </a:t>
            </a:r>
            <a:r>
              <a:rPr sz="2400" spc="-5" dirty="0">
                <a:latin typeface="Arial MT"/>
                <a:cs typeface="Arial MT"/>
              </a:rPr>
              <a:t>a special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meaning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950">
              <a:latin typeface="Arial MT"/>
              <a:cs typeface="Arial MT"/>
            </a:endParaRPr>
          </a:p>
          <a:p>
            <a:pPr marL="12700" marR="6985" algn="just">
              <a:lnSpc>
                <a:spcPts val="2590"/>
              </a:lnSpc>
            </a:pP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mechanism </a:t>
            </a:r>
            <a:r>
              <a:rPr sz="2400" spc="-5" dirty="0">
                <a:latin typeface="Arial MT"/>
                <a:cs typeface="Arial MT"/>
              </a:rPr>
              <a:t>of giving </a:t>
            </a:r>
            <a:r>
              <a:rPr sz="2400" dirty="0">
                <a:latin typeface="Arial MT"/>
                <a:cs typeface="Arial MT"/>
              </a:rPr>
              <a:t>such </a:t>
            </a:r>
            <a:r>
              <a:rPr sz="2400" spc="-5" dirty="0">
                <a:latin typeface="Arial MT"/>
                <a:cs typeface="Arial MT"/>
              </a:rPr>
              <a:t>a special </a:t>
            </a:r>
            <a:r>
              <a:rPr sz="2400" dirty="0">
                <a:latin typeface="Arial MT"/>
                <a:cs typeface="Arial MT"/>
              </a:rPr>
              <a:t>meaning to </a:t>
            </a:r>
            <a:r>
              <a:rPr sz="2400" spc="-10" dirty="0">
                <a:latin typeface="Arial MT"/>
                <a:cs typeface="Arial MT"/>
              </a:rPr>
              <a:t>an </a:t>
            </a:r>
            <a:r>
              <a:rPr sz="2400" spc="-5" dirty="0">
                <a:latin typeface="Arial MT"/>
                <a:cs typeface="Arial MT"/>
              </a:rPr>
              <a:t> operator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known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1F5F"/>
                </a:solidFill>
                <a:latin typeface="Arial MT"/>
                <a:cs typeface="Arial MT"/>
              </a:rPr>
              <a:t>Operator</a:t>
            </a:r>
            <a:r>
              <a:rPr sz="2400" spc="-5" dirty="0">
                <a:solidFill>
                  <a:srgbClr val="001F5F"/>
                </a:solidFill>
                <a:latin typeface="Arial MT"/>
                <a:cs typeface="Arial MT"/>
              </a:rPr>
              <a:t> Overloading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50">
              <a:latin typeface="Arial MT"/>
              <a:cs typeface="Arial MT"/>
            </a:endParaRPr>
          </a:p>
          <a:p>
            <a:pPr marL="12700" marR="5080" algn="just">
              <a:lnSpc>
                <a:spcPct val="90100"/>
              </a:lnSpc>
            </a:pPr>
            <a:r>
              <a:rPr sz="2400" b="1" i="1" spc="-5" dirty="0">
                <a:latin typeface="Arial"/>
                <a:cs typeface="Arial"/>
              </a:rPr>
              <a:t>The process of </a:t>
            </a:r>
            <a:r>
              <a:rPr sz="2400" b="1" i="1" dirty="0">
                <a:latin typeface="Arial"/>
                <a:cs typeface="Arial"/>
              </a:rPr>
              <a:t>making </a:t>
            </a:r>
            <a:r>
              <a:rPr sz="2400" b="1" i="1" spc="-5" dirty="0">
                <a:latin typeface="Arial"/>
                <a:cs typeface="Arial"/>
              </a:rPr>
              <a:t>an operator </a:t>
            </a:r>
            <a:r>
              <a:rPr sz="2400" b="1" i="1" dirty="0">
                <a:latin typeface="Arial"/>
                <a:cs typeface="Arial"/>
              </a:rPr>
              <a:t>to </a:t>
            </a:r>
            <a:r>
              <a:rPr sz="2400" b="1" i="1" spc="-5" dirty="0">
                <a:latin typeface="Arial"/>
                <a:cs typeface="Arial"/>
              </a:rPr>
              <a:t>exhibit </a:t>
            </a:r>
            <a:r>
              <a:rPr sz="2400" b="1" i="1" spc="-10" dirty="0">
                <a:latin typeface="Arial"/>
                <a:cs typeface="Arial"/>
              </a:rPr>
              <a:t>different </a:t>
            </a:r>
            <a:r>
              <a:rPr sz="2400" b="1" i="1" spc="-655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behaviors </a:t>
            </a:r>
            <a:r>
              <a:rPr sz="2400" b="1" i="1" dirty="0">
                <a:latin typeface="Arial"/>
                <a:cs typeface="Arial"/>
              </a:rPr>
              <a:t>in </a:t>
            </a:r>
            <a:r>
              <a:rPr sz="2400" b="1" i="1" spc="-10" dirty="0">
                <a:latin typeface="Arial"/>
                <a:cs typeface="Arial"/>
              </a:rPr>
              <a:t>different </a:t>
            </a:r>
            <a:r>
              <a:rPr sz="2400" b="1" i="1" dirty="0">
                <a:latin typeface="Arial"/>
                <a:cs typeface="Arial"/>
              </a:rPr>
              <a:t>instances is </a:t>
            </a:r>
            <a:r>
              <a:rPr sz="2400" b="1" i="1" spc="-10" dirty="0">
                <a:latin typeface="Arial"/>
                <a:cs typeface="Arial"/>
              </a:rPr>
              <a:t>known </a:t>
            </a:r>
            <a:r>
              <a:rPr sz="2400" b="1" i="1" spc="-5" dirty="0">
                <a:latin typeface="Arial"/>
                <a:cs typeface="Arial"/>
              </a:rPr>
              <a:t>as operator </a:t>
            </a:r>
            <a:r>
              <a:rPr sz="2400" b="1" i="1" dirty="0">
                <a:latin typeface="Arial"/>
                <a:cs typeface="Arial"/>
              </a:rPr>
              <a:t> </a:t>
            </a:r>
            <a:r>
              <a:rPr sz="2400" b="1" i="1" spc="-5" dirty="0">
                <a:latin typeface="Arial"/>
                <a:cs typeface="Arial"/>
              </a:rPr>
              <a:t>overloading.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6771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Defining</a:t>
            </a:r>
            <a:r>
              <a:rPr sz="4000" spc="-15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Operator</a:t>
            </a:r>
            <a:r>
              <a:rPr sz="4000" spc="-14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7984" y="632875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A6B727"/>
                </a:solidFill>
                <a:latin typeface="Arial MT"/>
                <a:cs typeface="Arial MT"/>
              </a:rPr>
              <a:t>9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791" y="1304290"/>
            <a:ext cx="8124825" cy="503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general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Return_type</a:t>
            </a:r>
            <a:r>
              <a:rPr sz="24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classname</a:t>
            </a:r>
            <a:r>
              <a:rPr sz="24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::</a:t>
            </a:r>
            <a:r>
              <a:rPr sz="24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operator</a:t>
            </a:r>
            <a:r>
              <a:rPr sz="2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op(arg)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518795">
              <a:lnSpc>
                <a:spcPct val="100000"/>
              </a:lnSpc>
              <a:spcBef>
                <a:spcPts val="71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//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body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 marR="156210">
              <a:lnSpc>
                <a:spcPts val="2590"/>
              </a:lnSpc>
              <a:spcBef>
                <a:spcPts val="1035"/>
              </a:spcBef>
              <a:buChar char="-"/>
              <a:tabLst>
                <a:tab pos="198755" algn="l"/>
              </a:tabLst>
            </a:pPr>
            <a:r>
              <a:rPr sz="2400" dirty="0">
                <a:latin typeface="Arial MT"/>
                <a:cs typeface="Arial MT"/>
              </a:rPr>
              <a:t>Operator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either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member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friend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ts val="2590"/>
              </a:lnSpc>
              <a:spcBef>
                <a:spcPts val="1000"/>
              </a:spcBef>
              <a:buChar char="-"/>
              <a:tabLst>
                <a:tab pos="19875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" dirty="0">
                <a:latin typeface="Arial MT"/>
                <a:cs typeface="Arial MT"/>
              </a:rPr>
              <a:t> 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friend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function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will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argument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operators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 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binary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operators</a:t>
            </a:r>
            <a:endParaRPr sz="2400">
              <a:latin typeface="Arial MT"/>
              <a:cs typeface="Arial MT"/>
            </a:endParaRPr>
          </a:p>
          <a:p>
            <a:pPr marL="198120" indent="-186055">
              <a:lnSpc>
                <a:spcPts val="2735"/>
              </a:lnSpc>
              <a:spcBef>
                <a:spcPts val="685"/>
              </a:spcBef>
              <a:buChar char="-"/>
              <a:tabLst>
                <a:tab pos="19875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 member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 </a:t>
            </a:r>
            <a:r>
              <a:rPr sz="2400" dirty="0">
                <a:latin typeface="Arial MT"/>
                <a:cs typeface="Arial MT"/>
              </a:rPr>
              <a:t>no arguments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unary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735"/>
              </a:lnSpc>
            </a:pPr>
            <a:r>
              <a:rPr sz="2400" spc="-5" dirty="0">
                <a:latin typeface="Arial MT"/>
                <a:cs typeface="Arial MT"/>
              </a:rPr>
              <a:t>operators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5" dirty="0">
                <a:latin typeface="Arial MT"/>
                <a:cs typeface="Arial MT"/>
              </a:rPr>
              <a:t>binary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operators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>
                <a:moveTo>
                  <a:pt x="8778240" y="0"/>
                </a:moveTo>
                <a:lnTo>
                  <a:pt x="0" y="0"/>
                </a:lnTo>
                <a:lnTo>
                  <a:pt x="0" y="6492240"/>
                </a:lnTo>
                <a:lnTo>
                  <a:pt x="8778240" y="6492240"/>
                </a:lnTo>
                <a:lnTo>
                  <a:pt x="8778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4812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orbel"/>
                <a:cs typeface="Corbel"/>
              </a:rPr>
              <a:t>Operator</a:t>
            </a:r>
            <a:r>
              <a:rPr sz="4000" spc="-18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23" y="1200911"/>
            <a:ext cx="7580376" cy="53888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07984" y="632875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A6B727"/>
                </a:solidFill>
                <a:latin typeface="Arial MT"/>
                <a:cs typeface="Arial MT"/>
              </a:rPr>
              <a:t>10</a:t>
            </a:fld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>
                <a:moveTo>
                  <a:pt x="8778240" y="0"/>
                </a:moveTo>
                <a:lnTo>
                  <a:pt x="0" y="0"/>
                </a:lnTo>
                <a:lnTo>
                  <a:pt x="0" y="6492240"/>
                </a:lnTo>
                <a:lnTo>
                  <a:pt x="8778240" y="6492240"/>
                </a:lnTo>
                <a:lnTo>
                  <a:pt x="8778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5568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A6B727"/>
                </a:solidFill>
                <a:latin typeface="Corbel"/>
                <a:cs typeface="Corbel"/>
              </a:rPr>
              <a:t>Overloaded</a:t>
            </a:r>
            <a:r>
              <a:rPr sz="4000" spc="-170" dirty="0">
                <a:solidFill>
                  <a:srgbClr val="A6B727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A6B727"/>
                </a:solidFill>
                <a:latin typeface="Corbel"/>
                <a:cs typeface="Corbel"/>
              </a:rPr>
              <a:t>Operator</a:t>
            </a:r>
            <a:r>
              <a:rPr sz="4000" spc="-155" dirty="0">
                <a:solidFill>
                  <a:srgbClr val="A6B727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A6B727"/>
                </a:solidFill>
                <a:latin typeface="Corbel"/>
                <a:cs typeface="Corbel"/>
              </a:rPr>
              <a:t>Call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371600"/>
            <a:ext cx="6364224" cy="38679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07984" y="6328759"/>
            <a:ext cx="217170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A6B727"/>
                </a:solidFill>
                <a:latin typeface="Arial MT"/>
                <a:cs typeface="Arial MT"/>
              </a:rPr>
              <a:t>11</a:t>
            </a:fld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191769"/>
            <a:ext cx="62344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orbel"/>
                <a:cs typeface="Corbel"/>
              </a:rPr>
              <a:t>Unary</a:t>
            </a:r>
            <a:r>
              <a:rPr sz="4000" spc="-165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Operator</a:t>
            </a:r>
            <a:r>
              <a:rPr sz="4000" spc="-15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Overloading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33384" y="6316776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A6B727"/>
                </a:solidFill>
                <a:latin typeface="Arial MT"/>
                <a:cs typeface="Arial MT"/>
              </a:rPr>
              <a:t>12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216" y="1536268"/>
            <a:ext cx="3457575" cy="496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namespace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std;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class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40" dirty="0">
                <a:latin typeface="Arial"/>
                <a:cs typeface="Arial"/>
              </a:rPr>
              <a:t>Test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private: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count;</a:t>
            </a:r>
            <a:endParaRPr sz="18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public: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25" dirty="0">
                <a:latin typeface="Arial"/>
                <a:cs typeface="Arial"/>
              </a:rPr>
              <a:t>Test()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count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5;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void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operator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++()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count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count+1;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void</a:t>
            </a:r>
            <a:r>
              <a:rPr sz="1800" b="1" spc="-5" dirty="0">
                <a:latin typeface="Arial"/>
                <a:cs typeface="Arial"/>
              </a:rPr>
              <a:t> Display()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7105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cout&lt;&lt;"Count: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"&lt;&lt;count;</a:t>
            </a:r>
            <a:endParaRPr sz="1800">
              <a:latin typeface="Arial"/>
              <a:cs typeface="Arial"/>
            </a:endParaRPr>
          </a:p>
          <a:p>
            <a:pPr marL="7105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1803" y="1565528"/>
            <a:ext cx="145923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sz="1800" b="1" spc="-40" dirty="0">
                <a:latin typeface="Arial"/>
                <a:cs typeface="Arial"/>
              </a:rPr>
              <a:t>Test </a:t>
            </a:r>
            <a:r>
              <a:rPr sz="1800" b="1" dirty="0">
                <a:latin typeface="Arial"/>
                <a:cs typeface="Arial"/>
              </a:rPr>
              <a:t>t;</a:t>
            </a:r>
            <a:endParaRPr sz="18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++t;</a:t>
            </a:r>
            <a:endParaRPr sz="1800">
              <a:latin typeface="Arial"/>
              <a:cs typeface="Arial"/>
            </a:endParaRPr>
          </a:p>
          <a:p>
            <a:pPr marL="266700" marR="508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t.Disp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spc="-5" dirty="0">
                <a:latin typeface="Arial"/>
                <a:cs typeface="Arial"/>
              </a:rPr>
              <a:t>a</a:t>
            </a:r>
            <a:r>
              <a:rPr sz="1800" b="1" spc="-30" dirty="0">
                <a:latin typeface="Arial"/>
                <a:cs typeface="Arial"/>
              </a:rPr>
              <a:t>y</a:t>
            </a:r>
            <a:r>
              <a:rPr sz="1800" b="1" dirty="0">
                <a:latin typeface="Arial"/>
                <a:cs typeface="Arial"/>
              </a:rPr>
              <a:t>();  </a:t>
            </a:r>
            <a:r>
              <a:rPr sz="1800" b="1" spc="-5" dirty="0">
                <a:latin typeface="Arial"/>
                <a:cs typeface="Arial"/>
              </a:rPr>
              <a:t>return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0;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216" y="751565"/>
            <a:ext cx="4327525" cy="81089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3057525">
              <a:lnSpc>
                <a:spcPct val="100000"/>
              </a:lnSpc>
              <a:spcBef>
                <a:spcPts val="1030"/>
              </a:spcBef>
            </a:pPr>
            <a:r>
              <a:rPr sz="1800" b="1" i="1" spc="-5" dirty="0">
                <a:solidFill>
                  <a:srgbClr val="1F455A"/>
                </a:solidFill>
                <a:latin typeface="Arial"/>
                <a:cs typeface="Arial"/>
              </a:rPr>
              <a:t>Example</a:t>
            </a:r>
            <a:r>
              <a:rPr sz="1800" b="1" i="1" spc="-75" dirty="0">
                <a:solidFill>
                  <a:srgbClr val="1F455A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1F455A"/>
                </a:solidFill>
                <a:latin typeface="Arial"/>
                <a:cs typeface="Arial"/>
              </a:rPr>
              <a:t>03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latin typeface="Arial"/>
                <a:cs typeface="Arial"/>
              </a:rPr>
              <a:t>#include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&lt;iostream&gt;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6028" y="4236466"/>
            <a:ext cx="776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tp</a:t>
            </a:r>
            <a:r>
              <a:rPr sz="1800" b="1" spc="5" dirty="0">
                <a:latin typeface="Arial"/>
                <a:cs typeface="Arial"/>
              </a:rPr>
              <a:t>u</a:t>
            </a:r>
            <a:r>
              <a:rPr sz="1800" b="1" dirty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6028" y="4785105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Count: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365" y="528573"/>
            <a:ext cx="427355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844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#include&lt;iostream&gt; 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using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namespace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std;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class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int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a,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b;</a:t>
            </a:r>
            <a:endParaRPr sz="18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public:</a:t>
            </a:r>
            <a:endParaRPr sz="18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void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accept()</a:t>
            </a:r>
            <a:endParaRPr sz="18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4008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cout&lt;&lt;"\n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Enter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Times New Roman"/>
                <a:cs typeface="Times New Roman"/>
              </a:rPr>
              <a:t>Two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Numbers</a:t>
            </a:r>
            <a:r>
              <a:rPr sz="1800" b="1" dirty="0">
                <a:latin typeface="Times New Roman"/>
                <a:cs typeface="Times New Roman"/>
              </a:rPr>
              <a:t> : </a:t>
            </a:r>
            <a:r>
              <a:rPr sz="1800" b="1" spc="-5" dirty="0">
                <a:latin typeface="Times New Roman"/>
                <a:cs typeface="Times New Roman"/>
              </a:rPr>
              <a:t>\n";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cout&lt;&lt;"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";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Times New Roman"/>
                <a:cs typeface="Times New Roman"/>
              </a:rPr>
              <a:t>cin&gt;&gt;a;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070" y="3546729"/>
            <a:ext cx="1092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cout&lt;&lt;"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"; </a:t>
            </a:r>
            <a:r>
              <a:rPr sz="1800" b="1" spc="-434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cin&gt;&gt;b;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2353" y="4095369"/>
            <a:ext cx="208407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void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operator--()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a--;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b--;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void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operator++() {</a:t>
            </a:r>
            <a:endParaRPr sz="180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a++;</a:t>
            </a:r>
            <a:endParaRPr sz="180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b++;</a:t>
            </a:r>
            <a:endParaRPr sz="1800">
              <a:latin typeface="Times New Roman"/>
              <a:cs typeface="Times New Roman"/>
            </a:endParaRPr>
          </a:p>
          <a:p>
            <a:pPr marL="184785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56428" y="481330"/>
            <a:ext cx="14439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Times New Roman"/>
                <a:cs typeface="Times New Roman"/>
              </a:rPr>
              <a:t>void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display()</a:t>
            </a:r>
          </a:p>
          <a:p>
            <a:pPr marR="273050" algn="ctr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{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56428" y="1090930"/>
            <a:ext cx="3083560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28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co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&lt;"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\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: "&lt;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a;  cout&lt;&lt;"\n</a:t>
            </a:r>
            <a:r>
              <a:rPr sz="2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"&lt;&lt;b;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};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main()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ID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id;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id.accept();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7332" y="3529965"/>
            <a:ext cx="3521075" cy="296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--id;</a:t>
            </a:r>
            <a:endParaRPr sz="2000">
              <a:latin typeface="Times New Roman"/>
              <a:cs typeface="Times New Roman"/>
            </a:endParaRPr>
          </a:p>
          <a:p>
            <a:pPr marL="29209" marR="508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co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"\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Decre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enting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";  id.display();</a:t>
            </a:r>
            <a:endParaRPr sz="20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</a:pP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++id;</a:t>
            </a:r>
            <a:endParaRPr sz="20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</a:pP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++id;</a:t>
            </a:r>
            <a:endParaRPr sz="2000">
              <a:latin typeface="Times New Roman"/>
              <a:cs typeface="Times New Roman"/>
            </a:endParaRPr>
          </a:p>
          <a:p>
            <a:pPr marL="12700" marR="129539" indent="1651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co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"\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\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cre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enting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: 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id.display();</a:t>
            </a:r>
            <a:endParaRPr sz="200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return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 marL="28321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R="773430" algn="r">
              <a:lnSpc>
                <a:spcPct val="100000"/>
              </a:lnSpc>
              <a:spcBef>
                <a:spcPts val="334"/>
              </a:spcBef>
            </a:pPr>
            <a:r>
              <a:rPr sz="1000" spc="-10" dirty="0">
                <a:solidFill>
                  <a:srgbClr val="A6B727"/>
                </a:solidFill>
                <a:latin typeface="Arial MT"/>
                <a:cs typeface="Arial MT"/>
              </a:rPr>
              <a:t>13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9775" y="255219"/>
            <a:ext cx="1282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Example</a:t>
            </a:r>
            <a:r>
              <a:rPr sz="1800" b="1" i="1" spc="-7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6F2F9F"/>
                </a:solidFill>
                <a:latin typeface="Arial"/>
                <a:cs typeface="Arial"/>
              </a:rPr>
              <a:t>04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8848" y="3813366"/>
            <a:ext cx="2414905" cy="2451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 marL="63500" marR="125730" indent="-64135">
              <a:lnSpc>
                <a:spcPct val="100000"/>
              </a:lnSpc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Enter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40" dirty="0">
                <a:solidFill>
                  <a:srgbClr val="6F2F9F"/>
                </a:solidFill>
                <a:latin typeface="Arial"/>
                <a:cs typeface="Arial"/>
              </a:rPr>
              <a:t>Two</a:t>
            </a:r>
            <a:r>
              <a:rPr sz="1800" b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Numbers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: </a:t>
            </a:r>
            <a:r>
              <a:rPr sz="1800" b="1" spc="-48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r>
              <a:rPr sz="1800" b="1" spc="4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54610" marR="92710">
              <a:lnSpc>
                <a:spcPct val="100000"/>
              </a:lnSpc>
            </a:pP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After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Decrementing</a:t>
            </a:r>
            <a:r>
              <a:rPr sz="1800" b="1" spc="-2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: </a:t>
            </a:r>
            <a:r>
              <a:rPr sz="1800" b="1" spc="-48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800" b="1" spc="-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: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 2</a:t>
            </a:r>
            <a:endParaRPr sz="1800">
              <a:latin typeface="Arial"/>
              <a:cs typeface="Arial"/>
            </a:endParaRPr>
          </a:p>
          <a:p>
            <a:pPr marL="63500">
              <a:lnSpc>
                <a:spcPts val="2060"/>
              </a:lnSpc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B</a:t>
            </a:r>
            <a:r>
              <a:rPr sz="1800" b="1" spc="-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:</a:t>
            </a:r>
            <a:r>
              <a:rPr sz="1800" b="1" spc="-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54610">
              <a:lnSpc>
                <a:spcPts val="2160"/>
              </a:lnSpc>
              <a:spcBef>
                <a:spcPts val="175"/>
              </a:spcBef>
            </a:pP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After</a:t>
            </a:r>
            <a:r>
              <a:rPr sz="1800" b="1" spc="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Incrementing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35" dirty="0">
                <a:solidFill>
                  <a:srgbClr val="6F2F9F"/>
                </a:solidFill>
                <a:latin typeface="Arial"/>
                <a:cs typeface="Arial"/>
              </a:rPr>
              <a:t>:</a:t>
            </a:r>
            <a:r>
              <a:rPr sz="3000" spc="52" baseline="8333" dirty="0">
                <a:solidFill>
                  <a:srgbClr val="FF0000"/>
                </a:solidFill>
                <a:latin typeface="Times New Roman"/>
                <a:cs typeface="Times New Roman"/>
              </a:rPr>
              <a:t>"; </a:t>
            </a:r>
            <a:r>
              <a:rPr sz="3000" spc="-735" baseline="833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A</a:t>
            </a:r>
            <a:r>
              <a:rPr sz="1800" b="1" spc="-8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: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 4</a:t>
            </a:r>
            <a:endParaRPr sz="1800">
              <a:latin typeface="Arial"/>
              <a:cs typeface="Arial"/>
            </a:endParaRPr>
          </a:p>
          <a:p>
            <a:pPr marL="63500">
              <a:lnSpc>
                <a:spcPts val="2090"/>
              </a:lnSpc>
            </a:pP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B</a:t>
            </a:r>
            <a:r>
              <a:rPr sz="1800" b="1" spc="-5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:</a:t>
            </a:r>
            <a:r>
              <a:rPr sz="1800" b="1" spc="-5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7761" y="3810761"/>
            <a:ext cx="2560320" cy="2597150"/>
          </a:xfrm>
          <a:prstGeom prst="rect">
            <a:avLst/>
          </a:prstGeom>
          <a:solidFill>
            <a:srgbClr val="A6B727"/>
          </a:solidFill>
          <a:ln w="19811">
            <a:solidFill>
              <a:srgbClr val="79851A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85"/>
              </a:spcBef>
            </a:pP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Output:</a:t>
            </a:r>
            <a:endParaRPr sz="1800">
              <a:latin typeface="Corbel"/>
              <a:cs typeface="Corbel"/>
            </a:endParaRPr>
          </a:p>
          <a:p>
            <a:pPr marL="138430" marR="403860" indent="-47625">
              <a:lnSpc>
                <a:spcPct val="100000"/>
              </a:lnSpc>
            </a:pP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Enter</a:t>
            </a:r>
            <a:r>
              <a:rPr sz="1800" b="1" spc="-114" dirty="0">
                <a:solidFill>
                  <a:srgbClr val="6F2F9F"/>
                </a:solidFill>
                <a:latin typeface="Corbel"/>
                <a:cs typeface="Corbel"/>
              </a:rPr>
              <a:t> T</a:t>
            </a: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w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o</a:t>
            </a:r>
            <a:r>
              <a:rPr sz="1800" b="1" spc="1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Nu</a:t>
            </a: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m</a:t>
            </a:r>
            <a:r>
              <a:rPr sz="1800" b="1" spc="10" dirty="0">
                <a:solidFill>
                  <a:srgbClr val="6F2F9F"/>
                </a:solidFill>
                <a:latin typeface="Corbel"/>
                <a:cs typeface="Corbel"/>
              </a:rPr>
              <a:t>b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e</a:t>
            </a: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r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s</a:t>
            </a: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:  3</a:t>
            </a:r>
            <a:r>
              <a:rPr sz="1800" b="1" spc="5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  <a:p>
            <a:pPr marL="128905" marR="343535">
              <a:lnSpc>
                <a:spcPct val="100000"/>
              </a:lnSpc>
            </a:pP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After Decrementing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: </a:t>
            </a:r>
            <a:r>
              <a:rPr sz="1800" b="1" spc="-36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A</a:t>
            </a: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:</a:t>
            </a:r>
            <a:r>
              <a:rPr sz="1800" b="1" spc="-1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2</a:t>
            </a:r>
            <a:endParaRPr sz="1800">
              <a:latin typeface="Corbel"/>
              <a:cs typeface="Corbel"/>
            </a:endParaRPr>
          </a:p>
          <a:p>
            <a:pPr marL="13843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B</a:t>
            </a:r>
            <a:r>
              <a:rPr sz="1800" b="1" spc="-5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:</a:t>
            </a:r>
            <a:r>
              <a:rPr sz="1800" b="1" spc="-5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3</a:t>
            </a:r>
            <a:endParaRPr sz="1800">
              <a:latin typeface="Corbel"/>
              <a:cs typeface="Corbel"/>
            </a:endParaRPr>
          </a:p>
          <a:p>
            <a:pPr marL="128905" marR="428625">
              <a:lnSpc>
                <a:spcPct val="100000"/>
              </a:lnSpc>
            </a:pP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After Incrementing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: </a:t>
            </a:r>
            <a:r>
              <a:rPr sz="1800" b="1" spc="-36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A</a:t>
            </a:r>
            <a:r>
              <a:rPr sz="1800" b="1" spc="-5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:</a:t>
            </a:r>
            <a:r>
              <a:rPr sz="1800" b="1" spc="-1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  <a:p>
            <a:pPr marL="138430">
              <a:lnSpc>
                <a:spcPct val="100000"/>
              </a:lnSpc>
            </a:pP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B</a:t>
            </a:r>
            <a:r>
              <a:rPr sz="1800" b="1" spc="-5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:</a:t>
            </a:r>
            <a:r>
              <a:rPr sz="1800" b="1" spc="-50" dirty="0">
                <a:solidFill>
                  <a:srgbClr val="6F2F9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Corbel"/>
                <a:cs typeface="Corbel"/>
              </a:rPr>
              <a:t>5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33384" y="6316776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A6B727"/>
                </a:solidFill>
                <a:latin typeface="Arial MT"/>
                <a:cs typeface="Arial MT"/>
              </a:rPr>
              <a:t>14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560578"/>
            <a:ext cx="3676650" cy="606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603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#include </a:t>
            </a:r>
            <a:r>
              <a:rPr sz="1800" b="1" spc="-5" dirty="0">
                <a:latin typeface="Arial"/>
                <a:cs typeface="Arial"/>
              </a:rPr>
              <a:t>&lt;iostream&gt; </a:t>
            </a:r>
            <a:r>
              <a:rPr sz="1800" b="1" dirty="0">
                <a:latin typeface="Arial"/>
                <a:cs typeface="Arial"/>
              </a:rPr>
              <a:t> using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namespace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std;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class </a:t>
            </a:r>
            <a:r>
              <a:rPr sz="1800" b="1" dirty="0">
                <a:latin typeface="Arial"/>
                <a:cs typeface="Arial"/>
              </a:rPr>
              <a:t>Complex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private:</a:t>
            </a:r>
            <a:endParaRPr sz="1800">
              <a:latin typeface="Arial"/>
              <a:cs typeface="Arial"/>
            </a:endParaRPr>
          </a:p>
          <a:p>
            <a:pPr marL="266700" marR="2120265" indent="126364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float </a:t>
            </a:r>
            <a:r>
              <a:rPr sz="1800" b="1" spc="-5" dirty="0">
                <a:latin typeface="Arial"/>
                <a:cs typeface="Arial"/>
              </a:rPr>
              <a:t>real; </a:t>
            </a:r>
            <a:r>
              <a:rPr sz="1800" b="1" dirty="0">
                <a:latin typeface="Arial"/>
                <a:cs typeface="Arial"/>
              </a:rPr>
              <a:t> float </a:t>
            </a:r>
            <a:r>
              <a:rPr sz="1800" b="1" spc="-5" dirty="0">
                <a:latin typeface="Arial"/>
                <a:cs typeface="Arial"/>
              </a:rPr>
              <a:t>imag; </a:t>
            </a:r>
            <a:r>
              <a:rPr sz="1800" b="1" dirty="0">
                <a:latin typeface="Arial"/>
                <a:cs typeface="Arial"/>
              </a:rPr>
              <a:t> public: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Complex()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457200" marR="218948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real </a:t>
            </a:r>
            <a:r>
              <a:rPr sz="1800" b="1" dirty="0">
                <a:latin typeface="Arial"/>
                <a:cs typeface="Arial"/>
              </a:rPr>
              <a:t>=0;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imag=0;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void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input()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cout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&lt;&lt;</a:t>
            </a:r>
            <a:r>
              <a:rPr sz="1800" b="1" spc="-5" dirty="0">
                <a:latin typeface="Arial"/>
                <a:cs typeface="Arial"/>
              </a:rPr>
              <a:t> "Enter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real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and imaginary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Parts </a:t>
            </a:r>
            <a:r>
              <a:rPr sz="1800" b="1" spc="-10" dirty="0">
                <a:latin typeface="Arial"/>
                <a:cs typeface="Arial"/>
              </a:rPr>
              <a:t>respectively:</a:t>
            </a:r>
            <a:r>
              <a:rPr sz="1800" b="1" spc="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";</a:t>
            </a:r>
            <a:endParaRPr sz="1800">
              <a:latin typeface="Arial"/>
              <a:cs typeface="Arial"/>
            </a:endParaRPr>
          </a:p>
          <a:p>
            <a:pPr marL="710565" marR="16249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cin &gt;&gt; </a:t>
            </a:r>
            <a:r>
              <a:rPr sz="1800" b="1" spc="-5" dirty="0">
                <a:latin typeface="Arial"/>
                <a:cs typeface="Arial"/>
              </a:rPr>
              <a:t>real; </a:t>
            </a:r>
            <a:r>
              <a:rPr sz="1800" b="1" dirty="0">
                <a:latin typeface="Arial"/>
                <a:cs typeface="Arial"/>
              </a:rPr>
              <a:t> cin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&gt;&gt;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imag;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Complex</a:t>
            </a:r>
            <a:r>
              <a:rPr sz="1800" b="1" spc="-5" dirty="0">
                <a:latin typeface="Arial"/>
                <a:cs typeface="Arial"/>
              </a:rPr>
              <a:t> operator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5" dirty="0">
                <a:latin typeface="Arial"/>
                <a:cs typeface="Arial"/>
              </a:rPr>
              <a:t> (Complex c2)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7105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Complex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temp;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9826" y="6195771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2216" y="192735"/>
            <a:ext cx="35096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Binary</a:t>
            </a:r>
            <a:r>
              <a:rPr u="heavy" spc="-30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 </a:t>
            </a:r>
            <a:r>
              <a:rPr u="heavy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Operator</a:t>
            </a:r>
            <a:r>
              <a:rPr u="heavy" spc="-45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 </a:t>
            </a:r>
            <a:r>
              <a:rPr u="heavy" spc="-5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Overloading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9826" y="265303"/>
            <a:ext cx="4464050" cy="595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Example</a:t>
            </a:r>
            <a:r>
              <a:rPr sz="1800" b="1" i="1" spc="-3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6F2F9F"/>
                </a:solidFill>
                <a:latin typeface="Arial"/>
                <a:cs typeface="Arial"/>
              </a:rPr>
              <a:t>05</a:t>
            </a:r>
            <a:endParaRPr sz="1800">
              <a:latin typeface="Arial"/>
              <a:cs typeface="Arial"/>
            </a:endParaRPr>
          </a:p>
          <a:p>
            <a:pPr marL="12700" marR="1377315" indent="63500">
              <a:lnSpc>
                <a:spcPct val="100000"/>
              </a:lnSpc>
              <a:spcBef>
                <a:spcPts val="1325"/>
              </a:spcBef>
            </a:pPr>
            <a:r>
              <a:rPr sz="1800" b="1" spc="-5" dirty="0">
                <a:latin typeface="Arial"/>
                <a:cs typeface="Arial"/>
              </a:rPr>
              <a:t>temp.real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real </a:t>
            </a:r>
            <a:r>
              <a:rPr sz="1800" b="1" dirty="0">
                <a:latin typeface="Arial"/>
                <a:cs typeface="Arial"/>
              </a:rPr>
              <a:t>- </a:t>
            </a:r>
            <a:r>
              <a:rPr sz="1800" b="1" spc="-5" dirty="0">
                <a:latin typeface="Arial"/>
                <a:cs typeface="Arial"/>
              </a:rPr>
              <a:t>c2.real;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temp.imag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imag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c2.imag;</a:t>
            </a:r>
            <a:endParaRPr sz="1800">
              <a:latin typeface="Arial"/>
              <a:cs typeface="Arial"/>
            </a:endParaRPr>
          </a:p>
          <a:p>
            <a:pPr marL="7105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return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temp;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void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output()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2700" marR="5080" indent="697865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cout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&lt;&lt;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"Output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Complex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number: </a:t>
            </a:r>
            <a:r>
              <a:rPr sz="1800" b="1" spc="-48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"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&lt;&lt;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real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&lt;&lt;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"+"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&lt;&lt;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imag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&lt;&lt; "i";</a:t>
            </a:r>
            <a:endParaRPr sz="18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Complex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c1,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c2,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result;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cout&lt;&lt;"Enter</a:t>
            </a:r>
            <a:r>
              <a:rPr sz="160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first</a:t>
            </a:r>
            <a:r>
              <a:rPr sz="1600" b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complex</a:t>
            </a:r>
            <a:r>
              <a:rPr sz="1600" b="1" spc="4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number:</a:t>
            </a:r>
            <a:r>
              <a:rPr sz="160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\n";</a:t>
            </a:r>
            <a:endParaRPr sz="16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4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c1.input();</a:t>
            </a:r>
            <a:endParaRPr sz="18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cout&lt;&lt;"Enter</a:t>
            </a:r>
            <a:r>
              <a:rPr sz="16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second complex</a:t>
            </a:r>
            <a:r>
              <a:rPr sz="16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number:\n";</a:t>
            </a:r>
            <a:endParaRPr sz="1600">
              <a:latin typeface="Arial"/>
              <a:cs typeface="Arial"/>
            </a:endParaRPr>
          </a:p>
          <a:p>
            <a:pPr marL="266700" marR="2520315">
              <a:lnSpc>
                <a:spcPct val="100000"/>
              </a:lnSpc>
              <a:spcBef>
                <a:spcPts val="4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c2.input();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Arial"/>
                <a:cs typeface="Arial"/>
              </a:rPr>
              <a:t>result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=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c1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F2F9F"/>
                </a:solidFill>
                <a:latin typeface="Arial"/>
                <a:cs typeface="Arial"/>
              </a:rPr>
              <a:t>-</a:t>
            </a:r>
            <a:r>
              <a:rPr sz="1800" b="1" spc="-1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2F9F"/>
                </a:solidFill>
                <a:latin typeface="Arial"/>
                <a:cs typeface="Arial"/>
              </a:rPr>
              <a:t>c2; </a:t>
            </a:r>
            <a:r>
              <a:rPr sz="1800" b="1" spc="-484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result.output(); </a:t>
            </a:r>
            <a:r>
              <a:rPr sz="1800" b="1" spc="-4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return 0;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16" y="192735"/>
            <a:ext cx="35096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heavy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Binary</a:t>
            </a:r>
            <a:r>
              <a:rPr u="heavy" spc="-30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 </a:t>
            </a:r>
            <a:r>
              <a:rPr u="heavy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Operator</a:t>
            </a:r>
            <a:r>
              <a:rPr u="heavy" spc="-45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 </a:t>
            </a:r>
            <a:r>
              <a:rPr u="heavy" spc="-5" dirty="0">
                <a:solidFill>
                  <a:srgbClr val="306885"/>
                </a:solidFill>
                <a:uFill>
                  <a:solidFill>
                    <a:srgbClr val="306885"/>
                  </a:solidFill>
                </a:uFill>
              </a:rPr>
              <a:t>Overloading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753102" y="265303"/>
            <a:ext cx="1282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6F2F9F"/>
                </a:solidFill>
                <a:latin typeface="Arial"/>
                <a:cs typeface="Arial"/>
              </a:rPr>
              <a:t>Example</a:t>
            </a:r>
            <a:r>
              <a:rPr sz="1800" b="1" i="1" spc="-6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6F2F9F"/>
                </a:solidFill>
                <a:latin typeface="Arial"/>
                <a:cs typeface="Arial"/>
              </a:rPr>
              <a:t>05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1703273"/>
            <a:ext cx="463613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030730" algn="l"/>
              </a:tabLst>
            </a:pPr>
            <a:r>
              <a:rPr sz="1800" spc="-5" dirty="0">
                <a:latin typeface="Arial MT"/>
                <a:cs typeface="Arial MT"/>
              </a:rPr>
              <a:t>Enter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 </a:t>
            </a:r>
            <a:r>
              <a:rPr sz="1800" spc="-5" dirty="0">
                <a:latin typeface="Arial MT"/>
                <a:cs typeface="Arial MT"/>
              </a:rPr>
              <a:t>complex	number: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Enter real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 imaginary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Parts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respectively: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4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Enter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second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complex number: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Enter real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 imaginary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Parts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respectively: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2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Output Complex number: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2+2i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>
                <a:moveTo>
                  <a:pt x="8778240" y="0"/>
                </a:moveTo>
                <a:lnTo>
                  <a:pt x="0" y="0"/>
                </a:lnTo>
                <a:lnTo>
                  <a:pt x="0" y="6492240"/>
                </a:lnTo>
                <a:lnTo>
                  <a:pt x="8778240" y="6492240"/>
                </a:lnTo>
                <a:lnTo>
                  <a:pt x="8778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452373"/>
            <a:ext cx="4225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orbel"/>
                <a:cs typeface="Corbel"/>
              </a:rPr>
              <a:t>How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overloaded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module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works?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080516"/>
            <a:ext cx="6477000" cy="4914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6600" y="6134096"/>
            <a:ext cx="3703252" cy="3945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79" y="182879"/>
            <a:ext cx="8778240" cy="6492240"/>
          </a:xfrm>
          <a:custGeom>
            <a:avLst/>
            <a:gdLst/>
            <a:ahLst/>
            <a:cxnLst/>
            <a:rect l="l" t="t" r="r" b="b"/>
            <a:pathLst>
              <a:path w="8778240" h="6492240">
                <a:moveTo>
                  <a:pt x="8778240" y="0"/>
                </a:moveTo>
                <a:lnTo>
                  <a:pt x="0" y="0"/>
                </a:lnTo>
                <a:lnTo>
                  <a:pt x="0" y="6492240"/>
                </a:lnTo>
                <a:lnTo>
                  <a:pt x="8778240" y="6492240"/>
                </a:lnTo>
                <a:lnTo>
                  <a:pt x="8778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467613"/>
            <a:ext cx="5758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Operators</a:t>
            </a:r>
            <a:r>
              <a:rPr sz="2800" spc="10" dirty="0"/>
              <a:t> </a:t>
            </a:r>
            <a:r>
              <a:rPr sz="2800" spc="-5" dirty="0"/>
              <a:t>that</a:t>
            </a:r>
            <a:r>
              <a:rPr sz="2800" spc="15" dirty="0"/>
              <a:t> </a:t>
            </a:r>
            <a:r>
              <a:rPr sz="2800" spc="-5" dirty="0"/>
              <a:t>can</a:t>
            </a:r>
            <a:r>
              <a:rPr sz="2800" spc="5" dirty="0"/>
              <a:t> </a:t>
            </a:r>
            <a:r>
              <a:rPr sz="2800" spc="-5" dirty="0"/>
              <a:t>be Overloaded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308" y="1295400"/>
            <a:ext cx="7152132" cy="3048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67613"/>
            <a:ext cx="6312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Operators</a:t>
            </a:r>
            <a:r>
              <a:rPr sz="2800" spc="10" dirty="0"/>
              <a:t> </a:t>
            </a:r>
            <a:r>
              <a:rPr sz="2800" spc="-5" dirty="0"/>
              <a:t>that</a:t>
            </a:r>
            <a:r>
              <a:rPr sz="2800" spc="15" dirty="0"/>
              <a:t> </a:t>
            </a:r>
            <a:r>
              <a:rPr sz="2800" spc="-5" dirty="0"/>
              <a:t>cannot</a:t>
            </a:r>
            <a:r>
              <a:rPr sz="2800" spc="20" dirty="0"/>
              <a:t> </a:t>
            </a:r>
            <a:r>
              <a:rPr sz="2800" spc="-5" dirty="0"/>
              <a:t>be</a:t>
            </a:r>
            <a:r>
              <a:rPr sz="2800" spc="5" dirty="0"/>
              <a:t> </a:t>
            </a:r>
            <a:r>
              <a:rPr sz="2800" spc="-5" dirty="0"/>
              <a:t>Overloaded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145844" y="1778634"/>
            <a:ext cx="51727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1790" algn="l"/>
                <a:tab pos="4199255" algn="l"/>
              </a:tabLst>
            </a:pPr>
            <a:r>
              <a:rPr sz="2400" spc="-5" dirty="0">
                <a:latin typeface="Arial MT"/>
                <a:cs typeface="Arial MT"/>
              </a:rPr>
              <a:t>Scope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Resolution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Operator	(::)</a:t>
            </a:r>
            <a:endParaRPr sz="2400">
              <a:latin typeface="Arial MT"/>
              <a:cs typeface="Arial MT"/>
            </a:endParaRPr>
          </a:p>
          <a:p>
            <a:pPr marL="351155" indent="-339090">
              <a:lnSpc>
                <a:spcPct val="100000"/>
              </a:lnSpc>
              <a:buAutoNum type="arabicPeriod"/>
              <a:tabLst>
                <a:tab pos="351790" algn="l"/>
              </a:tabLst>
            </a:pPr>
            <a:r>
              <a:rPr sz="2400" spc="-5" dirty="0">
                <a:latin typeface="Arial MT"/>
                <a:cs typeface="Arial MT"/>
              </a:rPr>
              <a:t>Pointer-to-member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(.*)</a:t>
            </a:r>
            <a:endParaRPr sz="2400">
              <a:latin typeface="Arial MT"/>
              <a:cs typeface="Arial MT"/>
            </a:endParaRPr>
          </a:p>
          <a:p>
            <a:pPr marL="351155" indent="-339090">
              <a:lnSpc>
                <a:spcPct val="100000"/>
              </a:lnSpc>
              <a:buAutoNum type="arabicPeriod"/>
              <a:tabLst>
                <a:tab pos="351790" algn="l"/>
                <a:tab pos="4822825" algn="l"/>
              </a:tabLst>
            </a:pPr>
            <a:r>
              <a:rPr sz="2400" spc="-5" dirty="0">
                <a:latin typeface="Arial MT"/>
                <a:cs typeface="Arial MT"/>
              </a:rPr>
              <a:t>Member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Access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operator	</a:t>
            </a:r>
            <a:r>
              <a:rPr sz="2400" dirty="0">
                <a:latin typeface="Arial MT"/>
                <a:cs typeface="Arial MT"/>
              </a:rPr>
              <a:t>(.)</a:t>
            </a:r>
            <a:endParaRPr sz="2400">
              <a:latin typeface="Arial MT"/>
              <a:cs typeface="Arial MT"/>
            </a:endParaRPr>
          </a:p>
          <a:p>
            <a:pPr marL="344805" indent="-332740">
              <a:lnSpc>
                <a:spcPct val="100000"/>
              </a:lnSpc>
              <a:buAutoNum type="arabicPeriod"/>
              <a:tabLst>
                <a:tab pos="345440" algn="l"/>
              </a:tabLst>
            </a:pPr>
            <a:r>
              <a:rPr sz="2400" spc="-40" dirty="0">
                <a:latin typeface="Arial MT"/>
                <a:cs typeface="Arial MT"/>
              </a:rPr>
              <a:t>Ternary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Conditional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(?:)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5844" y="3241928"/>
            <a:ext cx="3193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351790" algn="l"/>
              </a:tabLst>
            </a:pPr>
            <a:r>
              <a:rPr sz="2400" dirty="0">
                <a:latin typeface="Arial MT"/>
                <a:cs typeface="Arial MT"/>
              </a:rPr>
              <a:t>Object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size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Operator</a:t>
            </a:r>
            <a:endParaRPr sz="2400">
              <a:latin typeface="Arial MT"/>
              <a:cs typeface="Arial MT"/>
            </a:endParaRPr>
          </a:p>
          <a:p>
            <a:pPr marL="351155" indent="-339090">
              <a:lnSpc>
                <a:spcPct val="100000"/>
              </a:lnSpc>
              <a:buAutoNum type="arabicPeriod" startAt="5"/>
              <a:tabLst>
                <a:tab pos="351790" algn="l"/>
              </a:tabLst>
            </a:pPr>
            <a:r>
              <a:rPr sz="2400" dirty="0">
                <a:latin typeface="Arial MT"/>
                <a:cs typeface="Arial MT"/>
              </a:rPr>
              <a:t>Object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1867" y="3241928"/>
            <a:ext cx="1075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 marR="5080" indent="-3429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(sizeof)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(typeid)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467613"/>
            <a:ext cx="5933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Operator</a:t>
            </a:r>
            <a:r>
              <a:rPr sz="2800" spc="10" dirty="0"/>
              <a:t> </a:t>
            </a:r>
            <a:r>
              <a:rPr sz="2800" spc="-5" dirty="0"/>
              <a:t>Overloading</a:t>
            </a:r>
            <a:r>
              <a:rPr sz="2800" spc="15" dirty="0"/>
              <a:t> </a:t>
            </a:r>
            <a:r>
              <a:rPr sz="2800" spc="-5" dirty="0"/>
              <a:t>using</a:t>
            </a:r>
            <a:r>
              <a:rPr sz="2800" spc="15" dirty="0"/>
              <a:t> </a:t>
            </a:r>
            <a:r>
              <a:rPr sz="2800" spc="-5" dirty="0"/>
              <a:t>Friend</a:t>
            </a:r>
            <a:endParaRPr sz="28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457020"/>
            <a:ext cx="80721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Verdana"/>
                <a:cs typeface="Verdana"/>
              </a:rPr>
              <a:t>Friend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2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using</a:t>
            </a:r>
            <a:r>
              <a:rPr sz="1800" spc="2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operator</a:t>
            </a:r>
            <a:r>
              <a:rPr sz="1800" spc="2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overloading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offers</a:t>
            </a:r>
            <a:r>
              <a:rPr sz="1800" spc="29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better</a:t>
            </a:r>
            <a:r>
              <a:rPr sz="1800" spc="2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flexibility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class.</a:t>
            </a:r>
            <a:endParaRPr sz="1800">
              <a:latin typeface="Verdana"/>
              <a:cs typeface="Verdana"/>
            </a:endParaRPr>
          </a:p>
          <a:p>
            <a:pPr marL="299085" marR="63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These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functions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are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2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members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2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2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they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do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not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have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'this'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pointer.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47770" y="2554985"/>
            <a:ext cx="52101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  <a:tabLst>
                <a:tab pos="347345" algn="l"/>
                <a:tab pos="1187450" algn="l"/>
                <a:tab pos="2341245" algn="l"/>
                <a:tab pos="2938780" algn="l"/>
                <a:tab pos="3667760" algn="l"/>
                <a:tab pos="4077335" algn="l"/>
                <a:tab pos="4777105" algn="l"/>
              </a:tabLst>
            </a:pPr>
            <a:r>
              <a:rPr sz="1800" dirty="0">
                <a:latin typeface="Verdana"/>
                <a:cs typeface="Verdana"/>
              </a:rPr>
              <a:t>a	una</a:t>
            </a:r>
            <a:r>
              <a:rPr sz="1800" spc="-1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y	o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4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ator	</a:t>
            </a:r>
            <a:r>
              <a:rPr sz="1800" spc="-25" dirty="0">
                <a:latin typeface="Verdana"/>
                <a:cs typeface="Verdana"/>
              </a:rPr>
              <a:t>y</a:t>
            </a:r>
            <a:r>
              <a:rPr sz="1800" dirty="0">
                <a:latin typeface="Verdana"/>
                <a:cs typeface="Verdana"/>
              </a:rPr>
              <a:t>ou	</a:t>
            </a:r>
            <a:r>
              <a:rPr sz="1800" spc="-15" dirty="0">
                <a:latin typeface="Verdana"/>
                <a:cs typeface="Verdana"/>
              </a:rPr>
              <a:t>ha</a:t>
            </a:r>
            <a:r>
              <a:rPr sz="1800" spc="-25" dirty="0">
                <a:latin typeface="Verdana"/>
                <a:cs typeface="Verdana"/>
              </a:rPr>
              <a:t>v</a:t>
            </a:r>
            <a:r>
              <a:rPr sz="1800" dirty="0">
                <a:latin typeface="Verdana"/>
                <a:cs typeface="Verdana"/>
              </a:rPr>
              <a:t>e	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o	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ass	one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24485" algn="l"/>
                <a:tab pos="1219200" algn="l"/>
                <a:tab pos="2367280" algn="l"/>
                <a:tab pos="2958465" algn="l"/>
                <a:tab pos="3681095" algn="l"/>
                <a:tab pos="4084954" algn="l"/>
                <a:tab pos="4777105" algn="l"/>
              </a:tabLst>
            </a:pPr>
            <a:r>
              <a:rPr sz="1800" dirty="0">
                <a:latin typeface="Verdana"/>
                <a:cs typeface="Verdana"/>
              </a:rPr>
              <a:t>a	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na</a:t>
            </a:r>
            <a:r>
              <a:rPr sz="1800" spc="-1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y	o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4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ator	</a:t>
            </a:r>
            <a:r>
              <a:rPr sz="1800" spc="-25" dirty="0">
                <a:latin typeface="Verdana"/>
                <a:cs typeface="Verdana"/>
              </a:rPr>
              <a:t>y</a:t>
            </a:r>
            <a:r>
              <a:rPr sz="1800" dirty="0">
                <a:latin typeface="Verdana"/>
                <a:cs typeface="Verdana"/>
              </a:rPr>
              <a:t>ou	</a:t>
            </a:r>
            <a:r>
              <a:rPr sz="1800" spc="-15" dirty="0">
                <a:latin typeface="Verdana"/>
                <a:cs typeface="Verdana"/>
              </a:rPr>
              <a:t>ha</a:t>
            </a:r>
            <a:r>
              <a:rPr sz="1800" spc="-10" dirty="0">
                <a:latin typeface="Verdana"/>
                <a:cs typeface="Verdana"/>
              </a:rPr>
              <a:t>v</a:t>
            </a:r>
            <a:r>
              <a:rPr sz="1800" dirty="0">
                <a:latin typeface="Verdana"/>
                <a:cs typeface="Verdana"/>
              </a:rPr>
              <a:t>e	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o	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ass	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w</a:t>
            </a:r>
            <a:r>
              <a:rPr sz="1800" dirty="0">
                <a:latin typeface="Verdana"/>
                <a:cs typeface="Verdana"/>
              </a:rPr>
              <a:t>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2554985"/>
            <a:ext cx="27254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  <a:tab pos="1130935" algn="l"/>
                <a:tab pos="1728470" algn="l"/>
              </a:tabLst>
            </a:pPr>
            <a:r>
              <a:rPr sz="1800" spc="-5" dirty="0">
                <a:latin typeface="Verdana"/>
                <a:cs typeface="Verdana"/>
              </a:rPr>
              <a:t>When	you	</a:t>
            </a:r>
            <a:r>
              <a:rPr sz="1800" spc="-10" dirty="0">
                <a:latin typeface="Verdana"/>
                <a:cs typeface="Verdana"/>
              </a:rPr>
              <a:t>overload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argument.</a:t>
            </a:r>
            <a:endParaRPr sz="1800">
              <a:latin typeface="Verdana"/>
              <a:cs typeface="Verdana"/>
            </a:endParaRPr>
          </a:p>
          <a:p>
            <a:pPr marL="299085" marR="1524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  <a:tab pos="1125220" algn="l"/>
                <a:tab pos="1717675" algn="l"/>
              </a:tabLst>
            </a:pPr>
            <a:r>
              <a:rPr sz="1800" dirty="0">
                <a:latin typeface="Verdana"/>
                <a:cs typeface="Verdana"/>
              </a:rPr>
              <a:t>Wh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	</a:t>
            </a:r>
            <a:r>
              <a:rPr sz="1800" spc="-10" dirty="0">
                <a:latin typeface="Verdana"/>
                <a:cs typeface="Verdana"/>
              </a:rPr>
              <a:t>y</a:t>
            </a:r>
            <a:r>
              <a:rPr sz="1800" dirty="0">
                <a:latin typeface="Verdana"/>
                <a:cs typeface="Verdana"/>
              </a:rPr>
              <a:t>ou	</a:t>
            </a:r>
            <a:r>
              <a:rPr sz="1800" spc="-30" dirty="0">
                <a:latin typeface="Verdana"/>
                <a:cs typeface="Verdana"/>
              </a:rPr>
              <a:t>o</a:t>
            </a:r>
            <a:r>
              <a:rPr sz="1800" spc="-10" dirty="0">
                <a:latin typeface="Verdana"/>
                <a:cs typeface="Verdana"/>
              </a:rPr>
              <a:t>v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dirty="0">
                <a:latin typeface="Verdana"/>
                <a:cs typeface="Verdana"/>
              </a:rPr>
              <a:t>ad  </a:t>
            </a:r>
            <a:r>
              <a:rPr sz="1800" spc="-5" dirty="0">
                <a:latin typeface="Verdana"/>
                <a:cs typeface="Verdana"/>
              </a:rPr>
              <a:t>arguments.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3652520"/>
            <a:ext cx="7619365" cy="181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Verdana"/>
                <a:cs typeface="Verdana"/>
              </a:rPr>
              <a:t>Friend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function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private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members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class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directly.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Verdana"/>
                <a:cs typeface="Verdana"/>
              </a:rPr>
              <a:t>friend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 return-type</a:t>
            </a:r>
            <a:r>
              <a:rPr sz="18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operator</a:t>
            </a:r>
            <a:r>
              <a:rPr sz="18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Verdana"/>
                <a:cs typeface="Verdana"/>
              </a:rPr>
              <a:t>operator-symbol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(Var</a:t>
            </a:r>
            <a:r>
              <a:rPr sz="18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1,</a:t>
            </a:r>
            <a:r>
              <a:rPr sz="18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Var 2)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400685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Verdana"/>
                <a:cs typeface="Verdana"/>
              </a:rPr>
              <a:t>//Statements;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91" y="194563"/>
            <a:ext cx="5933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Operator</a:t>
            </a:r>
            <a:r>
              <a:rPr sz="2800" spc="10" dirty="0"/>
              <a:t> </a:t>
            </a:r>
            <a:r>
              <a:rPr sz="2800" spc="-5" dirty="0"/>
              <a:t>Overloading</a:t>
            </a:r>
            <a:r>
              <a:rPr sz="2800" spc="15" dirty="0"/>
              <a:t> </a:t>
            </a:r>
            <a:r>
              <a:rPr sz="2800" spc="-5" dirty="0"/>
              <a:t>using</a:t>
            </a:r>
            <a:r>
              <a:rPr sz="2800" spc="15" dirty="0"/>
              <a:t> </a:t>
            </a:r>
            <a:r>
              <a:rPr sz="2800" spc="-5" dirty="0"/>
              <a:t>Friend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984630"/>
            <a:ext cx="5467350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292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#include&lt;iostream&gt;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namespace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std;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class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UnaryFriend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329565" marR="4182745" algn="just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 </a:t>
            </a:r>
            <a:r>
              <a:rPr sz="1800" b="1" spc="-5" dirty="0">
                <a:latin typeface="Arial"/>
                <a:cs typeface="Arial"/>
              </a:rPr>
              <a:t>a=10;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b=20;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 </a:t>
            </a:r>
            <a:r>
              <a:rPr sz="1800" b="1" spc="-5" dirty="0">
                <a:latin typeface="Arial"/>
                <a:cs typeface="Arial"/>
              </a:rPr>
              <a:t>c=30;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public: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void </a:t>
            </a:r>
            <a:r>
              <a:rPr sz="1800" b="1" spc="-5" dirty="0">
                <a:latin typeface="Arial"/>
                <a:cs typeface="Arial"/>
              </a:rPr>
              <a:t>getvalues()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901065" marR="508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Arial"/>
                <a:cs typeface="Arial"/>
              </a:rPr>
              <a:t>cout&lt;&lt;"Values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30" dirty="0">
                <a:latin typeface="Arial"/>
                <a:cs typeface="Arial"/>
              </a:rPr>
              <a:t>A, </a:t>
            </a:r>
            <a:r>
              <a:rPr sz="1800" b="1" spc="-5" dirty="0">
                <a:latin typeface="Arial"/>
                <a:cs typeface="Arial"/>
              </a:rPr>
              <a:t>B &amp; </a:t>
            </a:r>
            <a:r>
              <a:rPr sz="1800" b="1" dirty="0">
                <a:latin typeface="Arial"/>
                <a:cs typeface="Arial"/>
              </a:rPr>
              <a:t>C\n";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cout&lt;&lt;a&lt;&lt;"\n"&lt;&lt;b&lt;&lt;"\n"&lt;&lt;c&lt;&lt;"\n"&lt;&lt;endl;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void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show()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9010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cout&lt;&lt;a&lt;&lt;"\n"&lt;&lt;b&lt;&lt;"\n"&lt;&lt;c&lt;&lt;"\n"&lt;&lt;endl;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void</a:t>
            </a:r>
            <a:r>
              <a:rPr sz="18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friend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operator-(UnaryFriend</a:t>
            </a:r>
            <a:r>
              <a:rPr sz="18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&amp;x);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2957" y="800227"/>
            <a:ext cx="115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sz="18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void</a:t>
            </a:r>
            <a:r>
              <a:rPr spc="10" dirty="0"/>
              <a:t> </a:t>
            </a:r>
            <a:r>
              <a:rPr spc="-5" dirty="0"/>
              <a:t>operator-(UnaryFriend</a:t>
            </a:r>
            <a:r>
              <a:rPr spc="-25" dirty="0"/>
              <a:t> </a:t>
            </a:r>
            <a:r>
              <a:rPr dirty="0"/>
              <a:t>&amp;x)</a:t>
            </a:r>
          </a:p>
          <a:p>
            <a:pPr marL="12700">
              <a:lnSpc>
                <a:spcPct val="100000"/>
              </a:lnSpc>
            </a:pPr>
            <a:r>
              <a:rPr dirty="0"/>
              <a:t>{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473149"/>
            <a:ext cx="4115435" cy="490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x.a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-x.a;</a:t>
            </a:r>
            <a:endParaRPr sz="2000">
              <a:latin typeface="Arial"/>
              <a:cs typeface="Arial"/>
            </a:endParaRPr>
          </a:p>
          <a:p>
            <a:pPr marL="361315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x.b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-x.b;</a:t>
            </a:r>
            <a:endParaRPr sz="2000">
              <a:latin typeface="Arial"/>
              <a:cs typeface="Arial"/>
            </a:endParaRPr>
          </a:p>
          <a:p>
            <a:pPr marL="361315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x.c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0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-x.c;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int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main()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361315" marR="181102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UnaryFriend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x1; </a:t>
            </a:r>
            <a:r>
              <a:rPr sz="2000" b="1" spc="-5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x1.getvalues();</a:t>
            </a:r>
            <a:endParaRPr sz="2000">
              <a:latin typeface="Arial"/>
              <a:cs typeface="Arial"/>
            </a:endParaRPr>
          </a:p>
          <a:p>
            <a:pPr marL="36131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cout&lt;&lt;"Before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Overloading\n";</a:t>
            </a:r>
            <a:endParaRPr sz="2000">
              <a:latin typeface="Arial"/>
              <a:cs typeface="Arial"/>
            </a:endParaRPr>
          </a:p>
          <a:p>
            <a:pPr marL="36131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x1.show();</a:t>
            </a:r>
            <a:endParaRPr sz="2000">
              <a:latin typeface="Arial"/>
              <a:cs typeface="Arial"/>
            </a:endParaRPr>
          </a:p>
          <a:p>
            <a:pPr marL="36131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cout&lt;&lt;"After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Overloading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\n";</a:t>
            </a:r>
            <a:endParaRPr sz="2000">
              <a:latin typeface="Arial"/>
              <a:cs typeface="Arial"/>
            </a:endParaRPr>
          </a:p>
          <a:p>
            <a:pPr marL="361315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-x1;</a:t>
            </a:r>
            <a:endParaRPr sz="200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x1.show();</a:t>
            </a:r>
            <a:endParaRPr sz="2000">
              <a:latin typeface="Arial"/>
              <a:cs typeface="Arial"/>
            </a:endParaRPr>
          </a:p>
          <a:p>
            <a:pPr marL="43116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return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0828" y="481076"/>
            <a:ext cx="275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sz="18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r>
              <a:rPr sz="1800" b="1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Arial"/>
                <a:cs typeface="Arial"/>
              </a:rPr>
              <a:t>Continuation..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91" y="194563"/>
            <a:ext cx="5933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Operator</a:t>
            </a:r>
            <a:r>
              <a:rPr sz="2800" spc="10" dirty="0"/>
              <a:t> </a:t>
            </a:r>
            <a:r>
              <a:rPr sz="2800" spc="-5" dirty="0"/>
              <a:t>Overloading</a:t>
            </a:r>
            <a:r>
              <a:rPr sz="2800" spc="15" dirty="0"/>
              <a:t> </a:t>
            </a:r>
            <a:r>
              <a:rPr sz="2800" spc="-5" dirty="0"/>
              <a:t>using</a:t>
            </a:r>
            <a:r>
              <a:rPr sz="2800" spc="15" dirty="0"/>
              <a:t> </a:t>
            </a:r>
            <a:r>
              <a:rPr sz="2800" spc="-5" dirty="0"/>
              <a:t>Friend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902957" y="800227"/>
            <a:ext cx="1155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sz="18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894079"/>
            <a:ext cx="2425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#include&lt;iostream&gt; </a:t>
            </a:r>
            <a:r>
              <a:rPr sz="1800" b="1" dirty="0">
                <a:latin typeface="Arial"/>
                <a:cs typeface="Arial"/>
              </a:rPr>
              <a:t> using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namespace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std;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1717040"/>
            <a:ext cx="617728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class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Complex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67335" marR="3883660" indent="252729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num1,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num2;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public:</a:t>
            </a:r>
            <a:endParaRPr sz="180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void </a:t>
            </a:r>
            <a:r>
              <a:rPr sz="1800" b="1" spc="-5" dirty="0">
                <a:latin typeface="Arial"/>
                <a:cs typeface="Arial"/>
              </a:rPr>
              <a:t>accept()</a:t>
            </a:r>
            <a:endParaRPr sz="180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02933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cout&lt;&lt;"\n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Enter </a:t>
            </a:r>
            <a:r>
              <a:rPr sz="1800" b="1" spc="-35" dirty="0">
                <a:latin typeface="Arial"/>
                <a:cs typeface="Arial"/>
              </a:rPr>
              <a:t>Two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Complex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Numbers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";</a:t>
            </a:r>
            <a:endParaRPr sz="1800">
              <a:latin typeface="Arial"/>
              <a:cs typeface="Arial"/>
            </a:endParaRPr>
          </a:p>
          <a:p>
            <a:pPr marL="102933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cin&gt;&gt;num1&gt;&gt;num2;</a:t>
            </a:r>
            <a:endParaRPr sz="180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friend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Complex operator+(Complex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c1,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Complex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c2);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void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display()</a:t>
            </a:r>
            <a:endParaRPr sz="180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02933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cout&lt;&lt;num1&lt;&lt;"+"&lt;&lt;num2&lt;&lt;"i"&lt;&lt;"\n";</a:t>
            </a:r>
            <a:endParaRPr sz="180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9818" y="331419"/>
            <a:ext cx="4958080" cy="4690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Complex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operator+(Complex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c1,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Complex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c2)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520065" marR="143256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Complex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c;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c.num1=c1.num1+c2.num1; </a:t>
            </a:r>
            <a:r>
              <a:rPr sz="1800" b="1" spc="-4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c.num2=c1.num2+c2.num2; </a:t>
            </a:r>
            <a:r>
              <a:rPr sz="1800" b="1" spc="-4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return(c);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Complex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c1,c2,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sum;</a:t>
            </a:r>
            <a:endParaRPr sz="1800">
              <a:latin typeface="Arial"/>
              <a:cs typeface="Arial"/>
            </a:endParaRPr>
          </a:p>
          <a:p>
            <a:pPr marL="5200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c1.accept();</a:t>
            </a:r>
            <a:endParaRPr sz="1800">
              <a:latin typeface="Arial"/>
              <a:cs typeface="Arial"/>
            </a:endParaRPr>
          </a:p>
          <a:p>
            <a:pPr marL="520065" marR="298323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c2.accept();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sum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c1+c2;</a:t>
            </a:r>
            <a:endParaRPr sz="1800">
              <a:latin typeface="Arial"/>
              <a:cs typeface="Arial"/>
            </a:endParaRPr>
          </a:p>
          <a:p>
            <a:pPr marL="520065" marR="107505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cout&lt;&lt;"\n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Entered </a:t>
            </a:r>
            <a:r>
              <a:rPr sz="1800" b="1" spc="-20" dirty="0">
                <a:latin typeface="Arial"/>
                <a:cs typeface="Arial"/>
              </a:rPr>
              <a:t>Values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\n";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cout&lt;&lt;"\t";</a:t>
            </a:r>
            <a:endParaRPr sz="1800">
              <a:latin typeface="Arial"/>
              <a:cs typeface="Arial"/>
            </a:endParaRPr>
          </a:p>
          <a:p>
            <a:pPr marL="520065" marR="184785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c1.display();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cout&lt;&lt;"\t";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c2.display();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629818" y="4996433"/>
            <a:ext cx="678815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 marR="5080" indent="12763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cout&lt;&lt;"\n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Addition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Real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 Imaginary</a:t>
            </a:r>
            <a:r>
              <a:rPr sz="1800" b="1" spc="-5" dirty="0">
                <a:latin typeface="Arial"/>
                <a:cs typeface="Arial"/>
              </a:rPr>
              <a:t> Numbers</a:t>
            </a:r>
            <a:r>
              <a:rPr sz="1800" b="1" dirty="0">
                <a:latin typeface="Arial"/>
                <a:cs typeface="Arial"/>
              </a:rPr>
              <a:t> :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\n";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cout&lt;&lt;"\t";</a:t>
            </a:r>
            <a:endParaRPr sz="1800">
              <a:latin typeface="Arial"/>
              <a:cs typeface="Arial"/>
            </a:endParaRPr>
          </a:p>
          <a:p>
            <a:pPr marL="520065" marR="4711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sum.d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spla</a:t>
            </a:r>
            <a:r>
              <a:rPr sz="1800" b="1" spc="-25" dirty="0">
                <a:latin typeface="Arial"/>
                <a:cs typeface="Arial"/>
              </a:rPr>
              <a:t>y</a:t>
            </a:r>
            <a:r>
              <a:rPr sz="1800" b="1" dirty="0">
                <a:latin typeface="Arial"/>
                <a:cs typeface="Arial"/>
              </a:rPr>
              <a:t>();  </a:t>
            </a:r>
            <a:r>
              <a:rPr sz="1800" b="1" spc="-5" dirty="0">
                <a:latin typeface="Arial"/>
                <a:cs typeface="Arial"/>
              </a:rPr>
              <a:t>return 0;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8428" y="1017778"/>
            <a:ext cx="275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sz="1800" b="1" i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r>
              <a:rPr sz="1800" b="1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Arial"/>
                <a:cs typeface="Arial"/>
              </a:rPr>
              <a:t>Continuation..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63" y="264921"/>
            <a:ext cx="79394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A6B727"/>
                </a:solidFill>
                <a:latin typeface="Corbel"/>
                <a:cs typeface="Corbel"/>
              </a:rPr>
              <a:t>List</a:t>
            </a:r>
            <a:r>
              <a:rPr sz="3200" spc="-5" dirty="0">
                <a:solidFill>
                  <a:srgbClr val="A6B727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A6B727"/>
                </a:solidFill>
                <a:latin typeface="Corbel"/>
                <a:cs typeface="Corbel"/>
              </a:rPr>
              <a:t>of</a:t>
            </a:r>
            <a:r>
              <a:rPr sz="3200" spc="5" dirty="0">
                <a:solidFill>
                  <a:srgbClr val="A6B727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A6B727"/>
                </a:solidFill>
                <a:latin typeface="Corbel"/>
                <a:cs typeface="Corbel"/>
              </a:rPr>
              <a:t>operators</a:t>
            </a:r>
            <a:r>
              <a:rPr sz="3200" spc="10" dirty="0">
                <a:solidFill>
                  <a:srgbClr val="A6B727"/>
                </a:solidFill>
                <a:latin typeface="Corbel"/>
                <a:cs typeface="Corbel"/>
              </a:rPr>
              <a:t> </a:t>
            </a:r>
            <a:r>
              <a:rPr sz="3200" spc="-5" dirty="0">
                <a:solidFill>
                  <a:srgbClr val="A6B727"/>
                </a:solidFill>
                <a:latin typeface="Corbel"/>
                <a:cs typeface="Corbel"/>
              </a:rPr>
              <a:t>where friend</a:t>
            </a:r>
            <a:r>
              <a:rPr sz="3200" dirty="0">
                <a:solidFill>
                  <a:srgbClr val="A6B727"/>
                </a:solidFill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cannot</a:t>
            </a:r>
            <a:r>
              <a:rPr sz="3200" spc="-10" dirty="0">
                <a:latin typeface="Corbel"/>
                <a:cs typeface="Corbel"/>
              </a:rPr>
              <a:t> </a:t>
            </a:r>
            <a:r>
              <a:rPr sz="3200" spc="-5" dirty="0">
                <a:solidFill>
                  <a:srgbClr val="A6B727"/>
                </a:solidFill>
                <a:latin typeface="Corbel"/>
                <a:cs typeface="Corbel"/>
              </a:rPr>
              <a:t>be</a:t>
            </a:r>
            <a:r>
              <a:rPr sz="3200" spc="-10" dirty="0">
                <a:solidFill>
                  <a:srgbClr val="A6B727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A6B727"/>
                </a:solidFill>
                <a:latin typeface="Corbel"/>
                <a:cs typeface="Corbel"/>
              </a:rPr>
              <a:t>used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18591" y="1617700"/>
            <a:ext cx="4540250" cy="16306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855"/>
              </a:spcBef>
              <a:buClr>
                <a:srgbClr val="A6B727"/>
              </a:buClr>
              <a:buSzPct val="80000"/>
              <a:buAutoNum type="arabicPeriod"/>
              <a:tabLst>
                <a:tab pos="469900" algn="l"/>
                <a:tab pos="470534" algn="l"/>
              </a:tabLst>
            </a:pPr>
            <a:r>
              <a:rPr sz="2000" b="1" dirty="0">
                <a:latin typeface="Arial"/>
                <a:cs typeface="Arial"/>
              </a:rPr>
              <a:t>Assignment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operator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755"/>
              </a:spcBef>
              <a:buClr>
                <a:srgbClr val="A6B727"/>
              </a:buClr>
              <a:buSzPct val="80000"/>
              <a:buAutoNum type="arabicPeriod"/>
              <a:tabLst>
                <a:tab pos="469900" algn="l"/>
                <a:tab pos="470534" algn="l"/>
              </a:tabLst>
            </a:pPr>
            <a:r>
              <a:rPr sz="2000" b="1" dirty="0">
                <a:latin typeface="Arial"/>
                <a:cs typeface="Arial"/>
              </a:rPr>
              <a:t>Function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call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755"/>
              </a:spcBef>
              <a:buClr>
                <a:srgbClr val="A6B727"/>
              </a:buClr>
              <a:buSzPct val="80000"/>
              <a:buAutoNum type="arabicPeriod"/>
              <a:tabLst>
                <a:tab pos="469900" algn="l"/>
                <a:tab pos="470534" algn="l"/>
              </a:tabLst>
            </a:pPr>
            <a:r>
              <a:rPr sz="2000" b="1" dirty="0">
                <a:latin typeface="Arial"/>
                <a:cs typeface="Arial"/>
              </a:rPr>
              <a:t>Subscripting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operator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[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770"/>
              </a:spcBef>
              <a:buClr>
                <a:srgbClr val="A6B727"/>
              </a:buClr>
              <a:buSzPct val="80000"/>
              <a:buAutoNum type="arabicPeriod"/>
              <a:tabLst>
                <a:tab pos="469900" algn="l"/>
                <a:tab pos="470534" algn="l"/>
              </a:tabLst>
            </a:pPr>
            <a:r>
              <a:rPr sz="2000" b="1" dirty="0">
                <a:latin typeface="Arial"/>
                <a:cs typeface="Arial"/>
              </a:rPr>
              <a:t>Class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member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access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operator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-&gt;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63" y="264921"/>
            <a:ext cx="54692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orbel"/>
                <a:cs typeface="Corbel"/>
              </a:rPr>
              <a:t>Rules</a:t>
            </a:r>
            <a:r>
              <a:rPr sz="3200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for</a:t>
            </a:r>
            <a:r>
              <a:rPr sz="3200" spc="-12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Operator</a:t>
            </a:r>
            <a:r>
              <a:rPr sz="3200" spc="-14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Overloading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87325" indent="-137160">
              <a:lnSpc>
                <a:spcPct val="100000"/>
              </a:lnSpc>
              <a:spcBef>
                <a:spcPts val="869"/>
              </a:spcBef>
              <a:buClr>
                <a:srgbClr val="A6B727"/>
              </a:buClr>
              <a:buSzPct val="80000"/>
              <a:buFont typeface="Corbel"/>
              <a:buChar char="•"/>
              <a:tabLst>
                <a:tab pos="187325" algn="l"/>
              </a:tabLst>
            </a:pPr>
            <a:r>
              <a:rPr dirty="0"/>
              <a:t>Only</a:t>
            </a:r>
            <a:r>
              <a:rPr spc="-25" dirty="0"/>
              <a:t> </a:t>
            </a:r>
            <a:r>
              <a:rPr dirty="0"/>
              <a:t>existing</a:t>
            </a:r>
            <a:r>
              <a:rPr spc="-25" dirty="0"/>
              <a:t> </a:t>
            </a:r>
            <a:r>
              <a:rPr dirty="0"/>
              <a:t>operators</a:t>
            </a:r>
            <a:r>
              <a:rPr spc="-45" dirty="0"/>
              <a:t> </a:t>
            </a:r>
            <a:r>
              <a:rPr spc="-5" dirty="0"/>
              <a:t>can</a:t>
            </a:r>
            <a:r>
              <a:rPr spc="-10" dirty="0"/>
              <a:t> </a:t>
            </a:r>
            <a:r>
              <a:rPr dirty="0"/>
              <a:t>be</a:t>
            </a:r>
            <a:r>
              <a:rPr spc="-10" dirty="0"/>
              <a:t> </a:t>
            </a:r>
            <a:r>
              <a:rPr dirty="0"/>
              <a:t>overloaded</a:t>
            </a:r>
          </a:p>
          <a:p>
            <a:pPr marL="187325" indent="-137160">
              <a:lnSpc>
                <a:spcPct val="100000"/>
              </a:lnSpc>
              <a:spcBef>
                <a:spcPts val="770"/>
              </a:spcBef>
              <a:buClr>
                <a:srgbClr val="A6B727"/>
              </a:buClr>
              <a:buSzPct val="80000"/>
              <a:buFont typeface="Corbel"/>
              <a:buChar char="•"/>
              <a:tabLst>
                <a:tab pos="187325" algn="l"/>
              </a:tabLst>
            </a:pPr>
            <a:r>
              <a:rPr dirty="0"/>
              <a:t>The overloaded</a:t>
            </a:r>
            <a:r>
              <a:rPr spc="-40" dirty="0"/>
              <a:t> </a:t>
            </a:r>
            <a:r>
              <a:rPr dirty="0"/>
              <a:t>operator</a:t>
            </a:r>
            <a:r>
              <a:rPr spc="-30" dirty="0"/>
              <a:t> </a:t>
            </a:r>
            <a:r>
              <a:rPr spc="-5" dirty="0"/>
              <a:t>must</a:t>
            </a:r>
            <a:r>
              <a:rPr spc="5" dirty="0"/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spc="-5" dirty="0"/>
              <a:t>atleast</a:t>
            </a:r>
            <a:r>
              <a:rPr spc="-10" dirty="0"/>
              <a:t> </a:t>
            </a:r>
            <a:r>
              <a:rPr spc="5" dirty="0"/>
              <a:t>one</a:t>
            </a:r>
            <a:r>
              <a:rPr spc="-20" dirty="0"/>
              <a:t> </a:t>
            </a:r>
            <a:r>
              <a:rPr dirty="0"/>
              <a:t>operand</a:t>
            </a:r>
            <a:r>
              <a:rPr spc="-30" dirty="0"/>
              <a:t> </a:t>
            </a:r>
            <a:r>
              <a:rPr spc="-5" dirty="0"/>
              <a:t>i.e.</a:t>
            </a:r>
            <a:r>
              <a:rPr dirty="0"/>
              <a:t> </a:t>
            </a:r>
            <a:r>
              <a:rPr spc="-5" dirty="0"/>
              <a:t>user-defined</a:t>
            </a:r>
            <a:r>
              <a:rPr spc="-35" dirty="0"/>
              <a:t> </a:t>
            </a:r>
            <a:r>
              <a:rPr spc="-5" dirty="0"/>
              <a:t>type</a:t>
            </a:r>
          </a:p>
          <a:p>
            <a:pPr marL="187325" indent="-137160">
              <a:lnSpc>
                <a:spcPct val="100000"/>
              </a:lnSpc>
              <a:spcBef>
                <a:spcPts val="755"/>
              </a:spcBef>
              <a:buClr>
                <a:srgbClr val="A6B727"/>
              </a:buClr>
              <a:buSzPct val="80000"/>
              <a:buFont typeface="Corbel"/>
              <a:buChar char="•"/>
              <a:tabLst>
                <a:tab pos="187325" algn="l"/>
              </a:tabLst>
            </a:pPr>
            <a:r>
              <a:rPr spc="-5" dirty="0"/>
              <a:t>Some</a:t>
            </a:r>
            <a:r>
              <a:rPr dirty="0"/>
              <a:t> operators</a:t>
            </a:r>
            <a:r>
              <a:rPr spc="-55" dirty="0"/>
              <a:t> </a:t>
            </a:r>
            <a:r>
              <a:rPr dirty="0"/>
              <a:t>cannot</a:t>
            </a:r>
            <a:r>
              <a:rPr spc="-15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overloaded</a:t>
            </a:r>
          </a:p>
          <a:p>
            <a:pPr marL="187325" indent="-137160">
              <a:lnSpc>
                <a:spcPct val="100000"/>
              </a:lnSpc>
              <a:spcBef>
                <a:spcPts val="755"/>
              </a:spcBef>
              <a:buClr>
                <a:srgbClr val="A6B727"/>
              </a:buClr>
              <a:buSzPct val="80000"/>
              <a:buFont typeface="Corbel"/>
              <a:buChar char="•"/>
              <a:tabLst>
                <a:tab pos="187325" algn="l"/>
              </a:tabLst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precedence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operators</a:t>
            </a:r>
            <a:r>
              <a:rPr spc="-50" dirty="0"/>
              <a:t> </a:t>
            </a:r>
            <a:r>
              <a:rPr spc="-5" dirty="0"/>
              <a:t>remains same</a:t>
            </a:r>
          </a:p>
          <a:p>
            <a:pPr marL="187325" indent="-137160">
              <a:lnSpc>
                <a:spcPct val="100000"/>
              </a:lnSpc>
              <a:spcBef>
                <a:spcPts val="770"/>
              </a:spcBef>
              <a:buClr>
                <a:srgbClr val="A6B727"/>
              </a:buClr>
              <a:buSzPct val="80000"/>
              <a:buFont typeface="Corbel"/>
              <a:buChar char="•"/>
              <a:tabLst>
                <a:tab pos="187325" algn="l"/>
              </a:tabLst>
            </a:pPr>
            <a:r>
              <a:rPr dirty="0"/>
              <a:t>Overloaded</a:t>
            </a:r>
            <a:r>
              <a:rPr spc="-40" dirty="0"/>
              <a:t> </a:t>
            </a:r>
            <a:r>
              <a:rPr dirty="0"/>
              <a:t>operators</a:t>
            </a:r>
            <a:r>
              <a:rPr spc="-40" dirty="0"/>
              <a:t> </a:t>
            </a:r>
            <a:r>
              <a:rPr dirty="0"/>
              <a:t>cannot</a:t>
            </a:r>
            <a:r>
              <a:rPr spc="-20" dirty="0"/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dirty="0"/>
              <a:t>default</a:t>
            </a:r>
            <a:r>
              <a:rPr spc="-35" dirty="0"/>
              <a:t> </a:t>
            </a:r>
            <a:r>
              <a:rPr spc="-5" dirty="0"/>
              <a:t>arguments.</a:t>
            </a:r>
          </a:p>
          <a:p>
            <a:pPr marL="186690" marR="5080" indent="-137160">
              <a:lnSpc>
                <a:spcPts val="2160"/>
              </a:lnSpc>
              <a:spcBef>
                <a:spcPts val="1030"/>
              </a:spcBef>
              <a:buClr>
                <a:srgbClr val="A6B727"/>
              </a:buClr>
              <a:buSzPct val="80000"/>
              <a:buFont typeface="Corbel"/>
              <a:buChar char="•"/>
              <a:tabLst>
                <a:tab pos="187325" algn="l"/>
                <a:tab pos="476250" algn="l"/>
                <a:tab pos="920115" algn="l"/>
                <a:tab pos="2180590" algn="l"/>
                <a:tab pos="3161030" algn="l"/>
                <a:tab pos="3462654" algn="l"/>
                <a:tab pos="3709670" algn="l"/>
                <a:tab pos="4448810" algn="l"/>
                <a:tab pos="5428615" algn="l"/>
                <a:tab pos="6000115" algn="l"/>
                <a:tab pos="6273800" algn="l"/>
                <a:tab pos="6802120" algn="l"/>
                <a:tab pos="7414895" algn="l"/>
                <a:tab pos="8000365" algn="l"/>
              </a:tabLst>
            </a:pPr>
            <a:r>
              <a:rPr spc="-5" dirty="0"/>
              <a:t>i</a:t>
            </a:r>
            <a:r>
              <a:rPr dirty="0"/>
              <a:t>f	</a:t>
            </a:r>
            <a:r>
              <a:rPr spc="-20" dirty="0"/>
              <a:t>t</a:t>
            </a:r>
            <a:r>
              <a:rPr spc="5" dirty="0"/>
              <a:t>h</a:t>
            </a:r>
            <a:r>
              <a:rPr dirty="0"/>
              <a:t>e	ov</a:t>
            </a:r>
            <a:r>
              <a:rPr spc="-15" dirty="0"/>
              <a:t>e</a:t>
            </a:r>
            <a:r>
              <a:rPr dirty="0"/>
              <a:t>r</a:t>
            </a:r>
            <a:r>
              <a:rPr spc="-15" dirty="0"/>
              <a:t>l</a:t>
            </a:r>
            <a:r>
              <a:rPr dirty="0"/>
              <a:t>o</a:t>
            </a:r>
            <a:r>
              <a:rPr spc="-10" dirty="0"/>
              <a:t>a</a:t>
            </a:r>
            <a:r>
              <a:rPr dirty="0"/>
              <a:t>ded	</a:t>
            </a:r>
            <a:r>
              <a:rPr spc="-10" dirty="0"/>
              <a:t>f</a:t>
            </a:r>
            <a:r>
              <a:rPr dirty="0"/>
              <a:t>u</a:t>
            </a:r>
            <a:r>
              <a:rPr spc="10" dirty="0"/>
              <a:t>n</a:t>
            </a:r>
            <a:r>
              <a:rPr spc="-15" dirty="0"/>
              <a:t>c</a:t>
            </a:r>
            <a:r>
              <a:rPr dirty="0"/>
              <a:t>t</a:t>
            </a:r>
            <a:r>
              <a:rPr spc="-10" dirty="0"/>
              <a:t>i</a:t>
            </a:r>
            <a:r>
              <a:rPr dirty="0"/>
              <a:t>on	</a:t>
            </a:r>
            <a:r>
              <a:rPr spc="-20" dirty="0"/>
              <a:t>i</a:t>
            </a:r>
            <a:r>
              <a:rPr dirty="0"/>
              <a:t>s	a	</a:t>
            </a:r>
            <a:r>
              <a:rPr spc="-10" dirty="0"/>
              <a:t>f</a:t>
            </a:r>
            <a:r>
              <a:rPr dirty="0"/>
              <a:t>ri</a:t>
            </a:r>
            <a:r>
              <a:rPr spc="-15" dirty="0"/>
              <a:t>e</a:t>
            </a:r>
            <a:r>
              <a:rPr dirty="0"/>
              <a:t>nd	</a:t>
            </a:r>
            <a:r>
              <a:rPr spc="-10" dirty="0"/>
              <a:t>f</a:t>
            </a:r>
            <a:r>
              <a:rPr dirty="0"/>
              <a:t>unc</a:t>
            </a:r>
            <a:r>
              <a:rPr spc="-10" dirty="0"/>
              <a:t>t</a:t>
            </a:r>
            <a:r>
              <a:rPr dirty="0"/>
              <a:t>i</a:t>
            </a:r>
            <a:r>
              <a:rPr spc="-15" dirty="0"/>
              <a:t>o</a:t>
            </a:r>
            <a:r>
              <a:rPr dirty="0"/>
              <a:t>n	th</a:t>
            </a:r>
            <a:r>
              <a:rPr spc="-15" dirty="0"/>
              <a:t>e</a:t>
            </a:r>
            <a:r>
              <a:rPr dirty="0"/>
              <a:t>n	</a:t>
            </a:r>
            <a:r>
              <a:rPr spc="-5" dirty="0"/>
              <a:t>i</a:t>
            </a:r>
            <a:r>
              <a:rPr dirty="0"/>
              <a:t>t	will	h</a:t>
            </a:r>
            <a:r>
              <a:rPr spc="-10" dirty="0"/>
              <a:t>a</a:t>
            </a:r>
            <a:r>
              <a:rPr dirty="0"/>
              <a:t>ve	o</a:t>
            </a:r>
            <a:r>
              <a:rPr spc="10" dirty="0"/>
              <a:t>n</a:t>
            </a:r>
            <a:r>
              <a:rPr spc="-20" dirty="0"/>
              <a:t>l</a:t>
            </a:r>
            <a:r>
              <a:rPr dirty="0"/>
              <a:t>y	</a:t>
            </a:r>
            <a:r>
              <a:rPr spc="5" dirty="0"/>
              <a:t>o</a:t>
            </a:r>
            <a:r>
              <a:rPr dirty="0"/>
              <a:t>ne  </a:t>
            </a:r>
            <a:r>
              <a:rPr spc="-5" dirty="0"/>
              <a:t>argument</a:t>
            </a:r>
            <a:r>
              <a:rPr spc="-1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unary</a:t>
            </a:r>
            <a:r>
              <a:rPr spc="-25" dirty="0"/>
              <a:t> </a:t>
            </a:r>
            <a:r>
              <a:rPr dirty="0"/>
              <a:t>operators</a:t>
            </a:r>
            <a:r>
              <a:rPr spc="-45" dirty="0"/>
              <a:t> </a:t>
            </a:r>
            <a:r>
              <a:rPr dirty="0"/>
              <a:t>and two</a:t>
            </a:r>
            <a:r>
              <a:rPr spc="-1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binary</a:t>
            </a:r>
            <a:r>
              <a:rPr spc="-20" dirty="0"/>
              <a:t> </a:t>
            </a:r>
            <a:r>
              <a:rPr dirty="0"/>
              <a:t>operators</a:t>
            </a:r>
          </a:p>
          <a:p>
            <a:pPr marL="187325" indent="-137160">
              <a:lnSpc>
                <a:spcPts val="2280"/>
              </a:lnSpc>
              <a:spcBef>
                <a:spcPts val="725"/>
              </a:spcBef>
              <a:buClr>
                <a:srgbClr val="A6B727"/>
              </a:buClr>
              <a:buSzPct val="80000"/>
              <a:buFont typeface="Corbel"/>
              <a:buChar char="•"/>
              <a:tabLst>
                <a:tab pos="187325" algn="l"/>
              </a:tabLst>
            </a:pPr>
            <a:r>
              <a:rPr spc="-5" dirty="0"/>
              <a:t>if</a:t>
            </a:r>
            <a:r>
              <a:rPr spc="270" dirty="0"/>
              <a:t> </a:t>
            </a:r>
            <a:r>
              <a:rPr spc="-5" dirty="0"/>
              <a:t>the</a:t>
            </a:r>
            <a:r>
              <a:rPr spc="275" dirty="0"/>
              <a:t> </a:t>
            </a:r>
            <a:r>
              <a:rPr spc="-5" dirty="0"/>
              <a:t>overloaded</a:t>
            </a:r>
            <a:r>
              <a:rPr spc="280" dirty="0"/>
              <a:t> </a:t>
            </a:r>
            <a:r>
              <a:rPr spc="-5" dirty="0"/>
              <a:t>function</a:t>
            </a:r>
            <a:r>
              <a:rPr spc="285" dirty="0"/>
              <a:t> </a:t>
            </a:r>
            <a:r>
              <a:rPr spc="-10" dirty="0"/>
              <a:t>is</a:t>
            </a:r>
            <a:r>
              <a:rPr spc="270" dirty="0"/>
              <a:t> </a:t>
            </a:r>
            <a:r>
              <a:rPr dirty="0"/>
              <a:t>a</a:t>
            </a:r>
            <a:r>
              <a:rPr spc="280" dirty="0"/>
              <a:t> </a:t>
            </a:r>
            <a:r>
              <a:rPr spc="-10" dirty="0"/>
              <a:t>member</a:t>
            </a:r>
            <a:r>
              <a:rPr spc="280" dirty="0"/>
              <a:t> </a:t>
            </a:r>
            <a:r>
              <a:rPr spc="-5" dirty="0"/>
              <a:t>function</a:t>
            </a:r>
            <a:r>
              <a:rPr spc="280" dirty="0"/>
              <a:t> </a:t>
            </a:r>
            <a:r>
              <a:rPr spc="-5" dirty="0"/>
              <a:t>then</a:t>
            </a:r>
            <a:r>
              <a:rPr spc="275" dirty="0"/>
              <a:t> </a:t>
            </a:r>
            <a:r>
              <a:rPr spc="-5" dirty="0"/>
              <a:t>it</a:t>
            </a:r>
            <a:r>
              <a:rPr spc="254" dirty="0"/>
              <a:t> </a:t>
            </a:r>
            <a:r>
              <a:rPr dirty="0"/>
              <a:t>has</a:t>
            </a:r>
            <a:r>
              <a:rPr spc="265" dirty="0"/>
              <a:t> </a:t>
            </a:r>
            <a:r>
              <a:rPr spc="-5" dirty="0"/>
              <a:t>no</a:t>
            </a:r>
            <a:r>
              <a:rPr spc="290" dirty="0"/>
              <a:t> </a:t>
            </a:r>
            <a:r>
              <a:rPr spc="-10" dirty="0"/>
              <a:t>arguments</a:t>
            </a:r>
            <a:r>
              <a:rPr spc="275" dirty="0"/>
              <a:t> </a:t>
            </a:r>
            <a:r>
              <a:rPr spc="-5" dirty="0"/>
              <a:t>for</a:t>
            </a:r>
          </a:p>
          <a:p>
            <a:pPr marL="186690">
              <a:lnSpc>
                <a:spcPts val="2280"/>
              </a:lnSpc>
            </a:pPr>
            <a:r>
              <a:rPr dirty="0"/>
              <a:t>unary</a:t>
            </a:r>
            <a:r>
              <a:rPr spc="-25" dirty="0"/>
              <a:t> </a:t>
            </a:r>
            <a:r>
              <a:rPr dirty="0"/>
              <a:t>operators</a:t>
            </a:r>
            <a:r>
              <a:rPr spc="-50" dirty="0"/>
              <a:t> </a:t>
            </a:r>
            <a:r>
              <a:rPr dirty="0"/>
              <a:t>and only</a:t>
            </a:r>
            <a:r>
              <a:rPr spc="-30" dirty="0"/>
              <a:t> </a:t>
            </a:r>
            <a:r>
              <a:rPr dirty="0"/>
              <a:t>one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binary</a:t>
            </a:r>
            <a:r>
              <a:rPr spc="-30" dirty="0"/>
              <a:t> </a:t>
            </a:r>
            <a:r>
              <a:rPr dirty="0"/>
              <a:t>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142" y="907796"/>
            <a:ext cx="2441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0" dirty="0">
                <a:solidFill>
                  <a:srgbClr val="DF5227"/>
                </a:solidFill>
                <a:latin typeface="Corbel"/>
                <a:cs typeface="Corbel"/>
              </a:rPr>
              <a:t>R</a:t>
            </a:r>
            <a:r>
              <a:rPr sz="4000" spc="-5" dirty="0">
                <a:solidFill>
                  <a:srgbClr val="DF5227"/>
                </a:solidFill>
                <a:latin typeface="Corbel"/>
                <a:cs typeface="Corbel"/>
              </a:rPr>
              <a:t>eferences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45794" y="2043811"/>
            <a:ext cx="7037070" cy="12807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8100" marR="30480">
              <a:lnSpc>
                <a:spcPts val="2160"/>
              </a:lnSpc>
              <a:spcBef>
                <a:spcPts val="375"/>
              </a:spcBef>
              <a:buAutoNum type="arabicPeriod"/>
              <a:tabLst>
                <a:tab pos="292100" algn="l"/>
              </a:tabLst>
            </a:pPr>
            <a:r>
              <a:rPr sz="2000" b="1" spc="-5" dirty="0">
                <a:latin typeface="Corbel"/>
                <a:cs typeface="Corbel"/>
              </a:rPr>
              <a:t>Herbert</a:t>
            </a:r>
            <a:r>
              <a:rPr sz="2000" b="1" spc="-6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Schildt,</a:t>
            </a:r>
            <a:r>
              <a:rPr sz="2000" b="1" spc="-7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C++:</a:t>
            </a:r>
            <a:r>
              <a:rPr sz="2000" b="1" spc="-140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The</a:t>
            </a:r>
            <a:r>
              <a:rPr sz="2000" b="1" spc="-6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Complete</a:t>
            </a:r>
            <a:r>
              <a:rPr sz="2000" b="1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Reference,</a:t>
            </a:r>
            <a:r>
              <a:rPr sz="2000" b="1" spc="-25" dirty="0">
                <a:latin typeface="Corbel"/>
                <a:cs typeface="Corbel"/>
              </a:rPr>
              <a:t> </a:t>
            </a:r>
            <a:r>
              <a:rPr sz="2000" b="1" spc="15" dirty="0">
                <a:latin typeface="Corbel"/>
                <a:cs typeface="Corbel"/>
              </a:rPr>
              <a:t>4</a:t>
            </a:r>
            <a:r>
              <a:rPr sz="1950" b="1" spc="22" baseline="25641" dirty="0">
                <a:latin typeface="Corbel"/>
                <a:cs typeface="Corbel"/>
              </a:rPr>
              <a:t>th</a:t>
            </a:r>
            <a:r>
              <a:rPr sz="1950" b="1" spc="217" baseline="25641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edition,</a:t>
            </a:r>
            <a:r>
              <a:rPr sz="2000" b="1" spc="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Mc </a:t>
            </a:r>
            <a:r>
              <a:rPr sz="2000" b="1" spc="-400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Graw</a:t>
            </a:r>
            <a:r>
              <a:rPr sz="2000" b="1" dirty="0">
                <a:latin typeface="Corbel"/>
                <a:cs typeface="Corbel"/>
              </a:rPr>
              <a:t> Hill</a:t>
            </a:r>
            <a:r>
              <a:rPr sz="2000" b="1" spc="-20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Education,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spc="-20" dirty="0">
                <a:latin typeface="Corbel"/>
                <a:cs typeface="Corbel"/>
              </a:rPr>
              <a:t>2017.</a:t>
            </a:r>
            <a:endParaRPr sz="2000">
              <a:latin typeface="Corbel"/>
              <a:cs typeface="Corbel"/>
            </a:endParaRPr>
          </a:p>
          <a:p>
            <a:pPr marL="291465" indent="-254000">
              <a:lnSpc>
                <a:spcPts val="2280"/>
              </a:lnSpc>
              <a:spcBef>
                <a:spcPts val="725"/>
              </a:spcBef>
              <a:buAutoNum type="arabicPeriod"/>
              <a:tabLst>
                <a:tab pos="292100" algn="l"/>
              </a:tabLst>
            </a:pPr>
            <a:r>
              <a:rPr sz="2000" b="1" spc="-10" dirty="0">
                <a:latin typeface="Corbel"/>
                <a:cs typeface="Corbel"/>
              </a:rPr>
              <a:t>E.Balagurusamy,</a:t>
            </a:r>
            <a:r>
              <a:rPr sz="2000" b="1" spc="-114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Object</a:t>
            </a:r>
            <a:r>
              <a:rPr sz="2000" b="1" spc="-8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Oriented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Programming with</a:t>
            </a:r>
            <a:r>
              <a:rPr sz="2000" b="1" spc="-70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C++</a:t>
            </a:r>
            <a:r>
              <a:rPr sz="2000" b="1" dirty="0">
                <a:latin typeface="Corbel"/>
                <a:cs typeface="Corbel"/>
              </a:rPr>
              <a:t> </a:t>
            </a:r>
            <a:r>
              <a:rPr sz="2000" b="1" spc="10" dirty="0">
                <a:latin typeface="Corbel"/>
                <a:cs typeface="Corbel"/>
              </a:rPr>
              <a:t>(6</a:t>
            </a:r>
            <a:r>
              <a:rPr sz="1950" b="1" spc="15" baseline="25641" dirty="0">
                <a:latin typeface="Corbel"/>
                <a:cs typeface="Corbel"/>
              </a:rPr>
              <a:t>th</a:t>
            </a:r>
            <a:endParaRPr sz="1950" baseline="25641">
              <a:latin typeface="Corbel"/>
              <a:cs typeface="Corbel"/>
            </a:endParaRPr>
          </a:p>
          <a:p>
            <a:pPr marL="38100">
              <a:lnSpc>
                <a:spcPts val="2280"/>
              </a:lnSpc>
            </a:pPr>
            <a:r>
              <a:rPr sz="2000" b="1" spc="-5" dirty="0">
                <a:latin typeface="Corbel"/>
                <a:cs typeface="Corbel"/>
              </a:rPr>
              <a:t>edition),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Mc</a:t>
            </a:r>
            <a:r>
              <a:rPr sz="2000" b="1" spc="-95" dirty="0">
                <a:latin typeface="Corbel"/>
                <a:cs typeface="Corbel"/>
              </a:rPr>
              <a:t> </a:t>
            </a:r>
            <a:r>
              <a:rPr sz="2000" b="1" spc="-5" dirty="0">
                <a:latin typeface="Corbel"/>
                <a:cs typeface="Corbel"/>
              </a:rPr>
              <a:t>Graw </a:t>
            </a:r>
            <a:r>
              <a:rPr sz="2000" b="1" dirty="0">
                <a:latin typeface="Corbel"/>
                <a:cs typeface="Corbel"/>
              </a:rPr>
              <a:t>Hill</a:t>
            </a:r>
            <a:r>
              <a:rPr sz="2000" b="1" spc="-15" dirty="0">
                <a:latin typeface="Corbel"/>
                <a:cs typeface="Corbel"/>
              </a:rPr>
              <a:t> </a:t>
            </a:r>
            <a:r>
              <a:rPr sz="2000" b="1" dirty="0">
                <a:latin typeface="Corbel"/>
                <a:cs typeface="Corbel"/>
              </a:rPr>
              <a:t>Education,</a:t>
            </a:r>
            <a:r>
              <a:rPr sz="2000" b="1" spc="-20" dirty="0">
                <a:latin typeface="Corbel"/>
                <a:cs typeface="Corbel"/>
              </a:rPr>
              <a:t> </a:t>
            </a:r>
            <a:r>
              <a:rPr sz="2000" b="1" spc="-10" dirty="0">
                <a:latin typeface="Corbel"/>
                <a:cs typeface="Corbel"/>
              </a:rPr>
              <a:t>2016.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1897</Words>
  <Application>Microsoft Office PowerPoint</Application>
  <PresentationFormat>On-screen Show (4:3)</PresentationFormat>
  <Paragraphs>358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 MT</vt:lpstr>
      <vt:lpstr>Arial</vt:lpstr>
      <vt:lpstr>Calibri</vt:lpstr>
      <vt:lpstr>Corbel</vt:lpstr>
      <vt:lpstr>Times New Roman</vt:lpstr>
      <vt:lpstr>Verdana</vt:lpstr>
      <vt:lpstr>Office Theme</vt:lpstr>
      <vt:lpstr>POLYMORPHISM</vt:lpstr>
      <vt:lpstr>Introduction</vt:lpstr>
      <vt:lpstr>PowerPoint Presentation</vt:lpstr>
      <vt:lpstr>Function Overloading</vt:lpstr>
      <vt:lpstr>Function Overloading</vt:lpstr>
      <vt:lpstr>Function Overloading</vt:lpstr>
      <vt:lpstr>Function Overloading Example 02</vt:lpstr>
      <vt:lpstr>Operator Overloading</vt:lpstr>
      <vt:lpstr>Defining Operator Overloading</vt:lpstr>
      <vt:lpstr>Operator Overloading</vt:lpstr>
      <vt:lpstr>Overloaded Operator Call</vt:lpstr>
      <vt:lpstr>Unary Operator Overloading</vt:lpstr>
      <vt:lpstr>void display() {</vt:lpstr>
      <vt:lpstr>Binary Operator Overloading</vt:lpstr>
      <vt:lpstr>Binary Operator Overloading</vt:lpstr>
      <vt:lpstr>How overloaded module works?</vt:lpstr>
      <vt:lpstr>Operators that can be Overloaded</vt:lpstr>
      <vt:lpstr>Operators that cannot be Overloaded</vt:lpstr>
      <vt:lpstr>Operator Overloading using Friend</vt:lpstr>
      <vt:lpstr>Operator Overloading using Friend</vt:lpstr>
      <vt:lpstr>void operator-(UnaryFriend &amp;x) {</vt:lpstr>
      <vt:lpstr>Operator Overloading using Friend</vt:lpstr>
      <vt:lpstr>PowerPoint Presentation</vt:lpstr>
      <vt:lpstr>List of operators where friend cannot be used</vt:lpstr>
      <vt:lpstr>Rules for Operator Overloading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Overview of C++</dc:title>
  <dc:creator>Admin</dc:creator>
  <cp:lastModifiedBy>sreethar Sree Krishnan</cp:lastModifiedBy>
  <cp:revision>1</cp:revision>
  <dcterms:created xsi:type="dcterms:W3CDTF">2023-05-16T00:03:08Z</dcterms:created>
  <dcterms:modified xsi:type="dcterms:W3CDTF">2023-05-18T06:36:46Z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2023-05-16T00:00:00Z</vt:filetime>
  </property>
</Properties>
</file>