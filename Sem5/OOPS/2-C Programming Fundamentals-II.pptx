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798" y="-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2/27/2023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5016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pPr marL="50165">
                <a:lnSpc>
                  <a:spcPct val="100000"/>
                </a:lnSpc>
                <a:spcBef>
                  <a:spcPts val="5"/>
                </a:spcBef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rgbClr val="FF000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2/27/2023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5016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pPr marL="50165">
                <a:lnSpc>
                  <a:spcPct val="100000"/>
                </a:lnSpc>
                <a:spcBef>
                  <a:spcPts val="5"/>
                </a:spcBef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rgbClr val="FF000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2/27/2023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5016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pPr marL="50165">
                <a:lnSpc>
                  <a:spcPct val="100000"/>
                </a:lnSpc>
                <a:spcBef>
                  <a:spcPts val="5"/>
                </a:spcBef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rgbClr val="FF000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2/27/2023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5016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pPr marL="50165">
                <a:lnSpc>
                  <a:spcPct val="100000"/>
                </a:lnSpc>
                <a:spcBef>
                  <a:spcPts val="5"/>
                </a:spcBef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2/27/2023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5016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pPr marL="50165">
                <a:lnSpc>
                  <a:spcPct val="100000"/>
                </a:lnSpc>
                <a:spcBef>
                  <a:spcPts val="5"/>
                </a:spcBef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4492" y="211912"/>
            <a:ext cx="11723014" cy="4686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rgbClr val="FF000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6371" y="1275664"/>
            <a:ext cx="11119256" cy="47821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2/27/2023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56366" y="6439276"/>
            <a:ext cx="243840" cy="204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5016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pPr marL="50165">
                <a:lnSpc>
                  <a:spcPct val="100000"/>
                </a:lnSpc>
                <a:spcBef>
                  <a:spcPts val="5"/>
                </a:spcBef>
              </a:pPr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004" y="208610"/>
            <a:ext cx="31750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65" dirty="0"/>
              <a:t>Operators</a:t>
            </a:r>
            <a:r>
              <a:rPr sz="4400" spc="-114" dirty="0"/>
              <a:t> </a:t>
            </a:r>
            <a:r>
              <a:rPr sz="4400" spc="-10" dirty="0"/>
              <a:t>in</a:t>
            </a:r>
            <a:r>
              <a:rPr sz="4400" spc="-105" dirty="0"/>
              <a:t> </a:t>
            </a:r>
            <a:r>
              <a:rPr sz="4400" dirty="0"/>
              <a:t>C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440537" y="1012467"/>
            <a:ext cx="10357485" cy="143383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spc="-5" dirty="0">
                <a:latin typeface="Calibri"/>
                <a:cs typeface="Calibri"/>
              </a:rPr>
              <a:t>C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supports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rich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built-in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operators.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ts val="3030"/>
              </a:lnSpc>
              <a:spcBef>
                <a:spcPts val="1045"/>
              </a:spcBef>
              <a:tabLst>
                <a:tab pos="558165" algn="l"/>
                <a:tab pos="1972310" algn="l"/>
                <a:tab pos="2345690" algn="l"/>
                <a:tab pos="2670175" algn="l"/>
                <a:tab pos="3856354" algn="l"/>
                <a:tab pos="4601845" algn="l"/>
                <a:tab pos="5346700" algn="l"/>
                <a:tab pos="5985510" algn="l"/>
                <a:tab pos="7547609" algn="l"/>
                <a:tab pos="8004809" algn="l"/>
                <a:tab pos="9340215" algn="l"/>
              </a:tabLst>
            </a:pPr>
            <a:r>
              <a:rPr sz="2800" spc="-5" dirty="0">
                <a:latin typeface="Calibri"/>
                <a:cs typeface="Calibri"/>
              </a:rPr>
              <a:t>An	</a:t>
            </a:r>
            <a:r>
              <a:rPr sz="2800" spc="5" dirty="0">
                <a:latin typeface="Calibri"/>
                <a:cs typeface="Calibri"/>
              </a:rPr>
              <a:t>o</a:t>
            </a:r>
            <a:r>
              <a:rPr sz="2800" spc="-10" dirty="0">
                <a:latin typeface="Calibri"/>
                <a:cs typeface="Calibri"/>
              </a:rPr>
              <a:t>pe</a:t>
            </a:r>
            <a:r>
              <a:rPr sz="2800" spc="-80" dirty="0">
                <a:latin typeface="Calibri"/>
                <a:cs typeface="Calibri"/>
              </a:rPr>
              <a:t>r</a:t>
            </a:r>
            <a:r>
              <a:rPr sz="2800" spc="-25" dirty="0">
                <a:latin typeface="Calibri"/>
                <a:cs typeface="Calibri"/>
              </a:rPr>
              <a:t>a</a:t>
            </a:r>
            <a:r>
              <a:rPr sz="2800" spc="-35" dirty="0">
                <a:latin typeface="Calibri"/>
                <a:cs typeface="Calibri"/>
              </a:rPr>
              <a:t>t</a:t>
            </a:r>
            <a:r>
              <a:rPr sz="2800" spc="-10" dirty="0">
                <a:latin typeface="Calibri"/>
                <a:cs typeface="Calibri"/>
              </a:rPr>
              <a:t>o</a:t>
            </a:r>
            <a:r>
              <a:rPr sz="2800" spc="-5" dirty="0">
                <a:latin typeface="Calibri"/>
                <a:cs typeface="Calibri"/>
              </a:rPr>
              <a:t>r</a:t>
            </a:r>
            <a:r>
              <a:rPr sz="2800" dirty="0">
                <a:latin typeface="Calibri"/>
                <a:cs typeface="Calibri"/>
              </a:rPr>
              <a:t>	i</a:t>
            </a:r>
            <a:r>
              <a:rPr sz="2800" spc="-5" dirty="0">
                <a:latin typeface="Calibri"/>
                <a:cs typeface="Calibri"/>
              </a:rPr>
              <a:t>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60" dirty="0">
                <a:latin typeface="Calibri"/>
                <a:cs typeface="Calibri"/>
              </a:rPr>
              <a:t>s</a:t>
            </a:r>
            <a:r>
              <a:rPr sz="2800" spc="-5" dirty="0">
                <a:latin typeface="Calibri"/>
                <a:cs typeface="Calibri"/>
              </a:rPr>
              <a:t>ymbol</a:t>
            </a:r>
            <a:r>
              <a:rPr sz="2800" dirty="0">
                <a:latin typeface="Calibri"/>
                <a:cs typeface="Calibri"/>
              </a:rPr>
              <a:t>	t</a:t>
            </a:r>
            <a:r>
              <a:rPr sz="2800" spc="-10" dirty="0">
                <a:latin typeface="Calibri"/>
                <a:cs typeface="Calibri"/>
              </a:rPr>
              <a:t>h</a:t>
            </a:r>
            <a:r>
              <a:rPr sz="2800" spc="-35" dirty="0">
                <a:latin typeface="Calibri"/>
                <a:cs typeface="Calibri"/>
              </a:rPr>
              <a:t>a</a:t>
            </a:r>
            <a:r>
              <a:rPr sz="2800" spc="-5" dirty="0">
                <a:latin typeface="Calibri"/>
                <a:cs typeface="Calibri"/>
              </a:rPr>
              <a:t>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35" dirty="0">
                <a:latin typeface="Calibri"/>
                <a:cs typeface="Calibri"/>
              </a:rPr>
              <a:t>t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15" dirty="0">
                <a:latin typeface="Calibri"/>
                <a:cs typeface="Calibri"/>
              </a:rPr>
              <a:t>l</a:t>
            </a:r>
            <a:r>
              <a:rPr sz="2800" spc="-5" dirty="0">
                <a:latin typeface="Calibri"/>
                <a:cs typeface="Calibri"/>
              </a:rPr>
              <a:t>ls</a:t>
            </a:r>
            <a:r>
              <a:rPr sz="2800" dirty="0">
                <a:latin typeface="Calibri"/>
                <a:cs typeface="Calibri"/>
              </a:rPr>
              <a:t>	t</a:t>
            </a:r>
            <a:r>
              <a:rPr sz="2800" spc="-10" dirty="0">
                <a:latin typeface="Calibri"/>
                <a:cs typeface="Calibri"/>
              </a:rPr>
              <a:t>h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c</a:t>
            </a:r>
            <a:r>
              <a:rPr sz="2800" spc="-10" dirty="0">
                <a:latin typeface="Calibri"/>
                <a:cs typeface="Calibri"/>
              </a:rPr>
              <a:t>ompu</a:t>
            </a:r>
            <a:r>
              <a:rPr sz="2800" spc="-35" dirty="0">
                <a:latin typeface="Calibri"/>
                <a:cs typeface="Calibri"/>
              </a:rPr>
              <a:t>t</a:t>
            </a:r>
            <a:r>
              <a:rPr sz="2800" spc="-5" dirty="0">
                <a:latin typeface="Calibri"/>
                <a:cs typeface="Calibri"/>
              </a:rPr>
              <a:t>er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35" dirty="0">
                <a:latin typeface="Calibri"/>
                <a:cs typeface="Calibri"/>
              </a:rPr>
              <a:t>t</a:t>
            </a:r>
            <a:r>
              <a:rPr sz="2800" spc="-5" dirty="0">
                <a:latin typeface="Calibri"/>
                <a:cs typeface="Calibri"/>
              </a:rPr>
              <a:t>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pe</a:t>
            </a:r>
            <a:r>
              <a:rPr sz="2800" spc="-20" dirty="0">
                <a:latin typeface="Calibri"/>
                <a:cs typeface="Calibri"/>
              </a:rPr>
              <a:t>r</a:t>
            </a:r>
            <a:r>
              <a:rPr sz="2800" spc="-70" dirty="0">
                <a:latin typeface="Calibri"/>
                <a:cs typeface="Calibri"/>
              </a:rPr>
              <a:t>f</a:t>
            </a:r>
            <a:r>
              <a:rPr sz="2800" spc="-10" dirty="0">
                <a:latin typeface="Calibri"/>
                <a:cs typeface="Calibri"/>
              </a:rPr>
              <a:t>o</a:t>
            </a:r>
            <a:r>
              <a:rPr sz="2800" spc="-5" dirty="0">
                <a:latin typeface="Calibri"/>
                <a:cs typeface="Calibri"/>
              </a:rPr>
              <a:t>rm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cer</a:t>
            </a:r>
            <a:r>
              <a:rPr sz="2800" spc="-45" dirty="0">
                <a:latin typeface="Calibri"/>
                <a:cs typeface="Calibri"/>
              </a:rPr>
              <a:t>t</a:t>
            </a:r>
            <a:r>
              <a:rPr sz="2800" spc="-5" dirty="0">
                <a:latin typeface="Calibri"/>
                <a:cs typeface="Calibri"/>
              </a:rPr>
              <a:t>ain  </a:t>
            </a:r>
            <a:r>
              <a:rPr sz="2800" spc="-10" dirty="0">
                <a:latin typeface="Calibri"/>
                <a:cs typeface="Calibri"/>
              </a:rPr>
              <a:t>mathematical</a:t>
            </a:r>
            <a:r>
              <a:rPr sz="2800" spc="-5" dirty="0">
                <a:latin typeface="Calibri"/>
                <a:cs typeface="Calibri"/>
              </a:rPr>
              <a:t> or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logical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manipulations.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1300" y="2705100"/>
            <a:ext cx="4701540" cy="394106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pPr marL="50165">
                <a:lnSpc>
                  <a:spcPct val="100000"/>
                </a:lnSpc>
                <a:spcBef>
                  <a:spcPts val="5"/>
                </a:spcBef>
              </a:pPr>
              <a:t>1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pPr marL="50165">
                <a:lnSpc>
                  <a:spcPct val="100000"/>
                </a:lnSpc>
                <a:spcBef>
                  <a:spcPts val="5"/>
                </a:spcBef>
              </a:pPr>
              <a:t>2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004" y="208610"/>
            <a:ext cx="31750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65" dirty="0"/>
              <a:t>Operators</a:t>
            </a:r>
            <a:r>
              <a:rPr sz="4400" spc="-114" dirty="0"/>
              <a:t> </a:t>
            </a:r>
            <a:r>
              <a:rPr sz="4400" spc="-10" dirty="0"/>
              <a:t>in</a:t>
            </a:r>
            <a:r>
              <a:rPr sz="4400" spc="-105" dirty="0"/>
              <a:t> </a:t>
            </a:r>
            <a:r>
              <a:rPr sz="4400" dirty="0"/>
              <a:t>C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440537" y="1050797"/>
            <a:ext cx="4359910" cy="1540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Calibri"/>
                <a:cs typeface="Calibri"/>
              </a:rPr>
              <a:t>Arithmetic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Operators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00" spc="-15" dirty="0">
                <a:latin typeface="Calibri"/>
                <a:cs typeface="Calibri"/>
              </a:rPr>
              <a:t>Operates </a:t>
            </a:r>
            <a:r>
              <a:rPr sz="2400" spc="-5" dirty="0">
                <a:latin typeface="Calibri"/>
                <a:cs typeface="Calibri"/>
              </a:rPr>
              <a:t>on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any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built-in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data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Example</a:t>
            </a:r>
            <a:r>
              <a:rPr sz="2400" spc="-20" dirty="0">
                <a:latin typeface="Calibri"/>
                <a:cs typeface="Calibri"/>
              </a:rPr>
              <a:t> operators: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0537" y="2582671"/>
            <a:ext cx="7758430" cy="115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7685" algn="l"/>
              </a:tabLst>
            </a:pPr>
            <a:r>
              <a:rPr sz="2400" b="1" spc="-5" dirty="0">
                <a:latin typeface="Calibri"/>
                <a:cs typeface="Calibri"/>
              </a:rPr>
              <a:t>1)	</a:t>
            </a:r>
            <a:r>
              <a:rPr sz="2400" b="1" dirty="0">
                <a:latin typeface="Calibri"/>
                <a:cs typeface="Calibri"/>
              </a:rPr>
              <a:t>+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(Plus)</a:t>
            </a:r>
            <a:r>
              <a:rPr sz="2400" b="1" dirty="0">
                <a:latin typeface="Calibri"/>
                <a:cs typeface="Calibri"/>
              </a:rPr>
              <a:t> –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Give</a:t>
            </a:r>
            <a:r>
              <a:rPr sz="2400" spc="-5" dirty="0">
                <a:latin typeface="Calibri"/>
                <a:cs typeface="Calibri"/>
              </a:rPr>
              <a:t> sum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result.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Example: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3+2=5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  <a:tabLst>
                <a:tab pos="527685" algn="l"/>
              </a:tabLst>
            </a:pPr>
            <a:r>
              <a:rPr sz="2400" b="1" spc="-5" dirty="0">
                <a:latin typeface="Calibri"/>
                <a:cs typeface="Calibri"/>
              </a:rPr>
              <a:t>2)	</a:t>
            </a:r>
            <a:r>
              <a:rPr sz="2400" b="1" dirty="0">
                <a:latin typeface="Calibri"/>
                <a:cs typeface="Calibri"/>
              </a:rPr>
              <a:t>– </a:t>
            </a:r>
            <a:r>
              <a:rPr sz="2400" b="1" spc="-5" dirty="0">
                <a:latin typeface="Calibri"/>
                <a:cs typeface="Calibri"/>
              </a:rPr>
              <a:t>(Minus)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 </a:t>
            </a:r>
            <a:r>
              <a:rPr sz="2400" spc="-10" dirty="0">
                <a:latin typeface="Calibri"/>
                <a:cs typeface="Calibri"/>
              </a:rPr>
              <a:t>Give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difference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result. </a:t>
            </a:r>
            <a:r>
              <a:rPr sz="2400" spc="-5" dirty="0">
                <a:latin typeface="Calibri"/>
                <a:cs typeface="Calibri"/>
              </a:rPr>
              <a:t>Example: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4-2=2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00" b="1" spc="-5" dirty="0">
                <a:latin typeface="Calibri"/>
                <a:cs typeface="Calibri"/>
              </a:rPr>
              <a:t>3)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5649" y="3349497"/>
            <a:ext cx="1694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1965" algn="l"/>
              </a:tabLst>
            </a:pPr>
            <a:r>
              <a:rPr sz="2400" b="1" dirty="0">
                <a:latin typeface="Calibri"/>
                <a:cs typeface="Calibri"/>
              </a:rPr>
              <a:t>*	</a:t>
            </a:r>
            <a:r>
              <a:rPr sz="2400" b="1" spc="-10" dirty="0">
                <a:latin typeface="Calibri"/>
                <a:cs typeface="Calibri"/>
              </a:rPr>
              <a:t>(Asterisk)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41701" y="3349497"/>
            <a:ext cx="84816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1965" algn="l"/>
                <a:tab pos="1424940" algn="l"/>
                <a:tab pos="2096135" algn="l"/>
                <a:tab pos="4119879" algn="l"/>
                <a:tab pos="4903470" algn="l"/>
                <a:tab pos="5720080" algn="l"/>
                <a:tab pos="6451600" algn="l"/>
                <a:tab pos="7741284" algn="l"/>
                <a:tab pos="8322309" algn="l"/>
              </a:tabLst>
            </a:pPr>
            <a:r>
              <a:rPr sz="2400" dirty="0">
                <a:latin typeface="Calibri"/>
                <a:cs typeface="Calibri"/>
              </a:rPr>
              <a:t>–	U</a:t>
            </a:r>
            <a:r>
              <a:rPr sz="2400" spc="-10" dirty="0">
                <a:latin typeface="Calibri"/>
                <a:cs typeface="Calibri"/>
              </a:rPr>
              <a:t>s</a:t>
            </a:r>
            <a:r>
              <a:rPr sz="2400" dirty="0">
                <a:latin typeface="Calibri"/>
                <a:cs typeface="Calibri"/>
              </a:rPr>
              <a:t>ed	</a:t>
            </a:r>
            <a:r>
              <a:rPr sz="2400" spc="-50" dirty="0">
                <a:latin typeface="Calibri"/>
                <a:cs typeface="Calibri"/>
              </a:rPr>
              <a:t>f</a:t>
            </a:r>
            <a:r>
              <a:rPr sz="2400" spc="-5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r	multipli</a:t>
            </a:r>
            <a:r>
              <a:rPr sz="2400" spc="-20" dirty="0">
                <a:latin typeface="Calibri"/>
                <a:cs typeface="Calibri"/>
              </a:rPr>
              <a:t>c</a:t>
            </a:r>
            <a:r>
              <a:rPr sz="2400" spc="-25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ion	and	gi</a:t>
            </a:r>
            <a:r>
              <a:rPr sz="2400" spc="-35" dirty="0">
                <a:latin typeface="Calibri"/>
                <a:cs typeface="Calibri"/>
              </a:rPr>
              <a:t>v</a:t>
            </a:r>
            <a:r>
              <a:rPr sz="2400" dirty="0">
                <a:latin typeface="Calibri"/>
                <a:cs typeface="Calibri"/>
              </a:rPr>
              <a:t>e	the	</a:t>
            </a:r>
            <a:r>
              <a:rPr sz="2400" spc="-5" dirty="0">
                <a:latin typeface="Calibri"/>
                <a:cs typeface="Calibri"/>
              </a:rPr>
              <a:t>p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spc="-5" dirty="0">
                <a:latin typeface="Calibri"/>
                <a:cs typeface="Calibri"/>
              </a:rPr>
              <a:t>oduc</a:t>
            </a:r>
            <a:r>
              <a:rPr sz="2400" dirty="0">
                <a:latin typeface="Calibri"/>
                <a:cs typeface="Calibri"/>
              </a:rPr>
              <a:t>t	as	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5649" y="3605529"/>
            <a:ext cx="8083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result.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24708" y="3605529"/>
            <a:ext cx="19894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libri"/>
                <a:cs typeface="Calibri"/>
              </a:rPr>
              <a:t>Example: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4*2=8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0537" y="3988054"/>
            <a:ext cx="8439785" cy="64770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527685" marR="5080" indent="-515620">
              <a:lnSpc>
                <a:spcPct val="70000"/>
              </a:lnSpc>
              <a:spcBef>
                <a:spcPts val="965"/>
              </a:spcBef>
              <a:tabLst>
                <a:tab pos="527685" algn="l"/>
                <a:tab pos="1013460" algn="l"/>
                <a:tab pos="2516505" algn="l"/>
                <a:tab pos="2606675" algn="l"/>
                <a:tab pos="3601720" algn="l"/>
                <a:tab pos="4109085" algn="l"/>
                <a:tab pos="5092700" algn="l"/>
                <a:tab pos="5801360" algn="l"/>
                <a:tab pos="7104380" algn="l"/>
                <a:tab pos="7927340" algn="l"/>
              </a:tabLst>
            </a:pPr>
            <a:r>
              <a:rPr sz="2400" b="1" spc="-5" dirty="0">
                <a:latin typeface="Calibri"/>
                <a:cs typeface="Calibri"/>
              </a:rPr>
              <a:t>4</a:t>
            </a:r>
            <a:r>
              <a:rPr sz="2400" b="1" dirty="0">
                <a:latin typeface="Calibri"/>
                <a:cs typeface="Calibri"/>
              </a:rPr>
              <a:t>)	/	(</a:t>
            </a:r>
            <a:r>
              <a:rPr sz="2400" b="1" spc="-30" dirty="0">
                <a:latin typeface="Calibri"/>
                <a:cs typeface="Calibri"/>
              </a:rPr>
              <a:t>F</a:t>
            </a:r>
            <a:r>
              <a:rPr sz="2400" b="1" dirty="0">
                <a:latin typeface="Calibri"/>
                <a:cs typeface="Calibri"/>
              </a:rPr>
              <a:t>o</a:t>
            </a:r>
            <a:r>
              <a:rPr sz="2400" b="1" spc="15" dirty="0">
                <a:latin typeface="Calibri"/>
                <a:cs typeface="Calibri"/>
              </a:rPr>
              <a:t>r</a:t>
            </a:r>
            <a:r>
              <a:rPr sz="2400" b="1" spc="-25" dirty="0">
                <a:latin typeface="Calibri"/>
                <a:cs typeface="Calibri"/>
              </a:rPr>
              <a:t>w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35" dirty="0">
                <a:latin typeface="Calibri"/>
                <a:cs typeface="Calibri"/>
              </a:rPr>
              <a:t>r</a:t>
            </a:r>
            <a:r>
              <a:rPr sz="2400" b="1" dirty="0">
                <a:latin typeface="Calibri"/>
                <a:cs typeface="Calibri"/>
              </a:rPr>
              <a:t>d	slas</a:t>
            </a:r>
            <a:r>
              <a:rPr sz="2400" b="1" spc="5" dirty="0">
                <a:latin typeface="Calibri"/>
                <a:cs typeface="Calibri"/>
              </a:rPr>
              <a:t>h</a:t>
            </a:r>
            <a:r>
              <a:rPr sz="2400" b="1" dirty="0">
                <a:latin typeface="Calibri"/>
                <a:cs typeface="Calibri"/>
              </a:rPr>
              <a:t>)	</a:t>
            </a:r>
            <a:r>
              <a:rPr sz="2400" dirty="0">
                <a:latin typeface="Calibri"/>
                <a:cs typeface="Calibri"/>
              </a:rPr>
              <a:t>–	Used	</a:t>
            </a:r>
            <a:r>
              <a:rPr sz="2400" spc="-50" dirty="0">
                <a:latin typeface="Calibri"/>
                <a:cs typeface="Calibri"/>
              </a:rPr>
              <a:t>f</a:t>
            </a:r>
            <a:r>
              <a:rPr sz="2400" spc="-5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r	</a:t>
            </a:r>
            <a:r>
              <a:rPr sz="2400" spc="-5" dirty="0">
                <a:latin typeface="Calibri"/>
                <a:cs typeface="Calibri"/>
              </a:rPr>
              <a:t>div</a:t>
            </a:r>
            <a:r>
              <a:rPr sz="2400" dirty="0">
                <a:latin typeface="Calibri"/>
                <a:cs typeface="Calibri"/>
              </a:rPr>
              <a:t>i</a:t>
            </a:r>
            <a:r>
              <a:rPr sz="2400" spc="-5" dirty="0">
                <a:latin typeface="Calibri"/>
                <a:cs typeface="Calibri"/>
              </a:rPr>
              <a:t>si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n	and	gi</a:t>
            </a:r>
            <a:r>
              <a:rPr sz="2400" spc="-35" dirty="0">
                <a:latin typeface="Calibri"/>
                <a:cs typeface="Calibri"/>
              </a:rPr>
              <a:t>v</a:t>
            </a:r>
            <a:r>
              <a:rPr sz="2400" dirty="0">
                <a:latin typeface="Calibri"/>
                <a:cs typeface="Calibri"/>
              </a:rPr>
              <a:t>e  </a:t>
            </a:r>
            <a:r>
              <a:rPr sz="2400" spc="-10" dirty="0">
                <a:latin typeface="Calibri"/>
                <a:cs typeface="Calibri"/>
              </a:rPr>
              <a:t>result.		</a:t>
            </a:r>
            <a:r>
              <a:rPr sz="2400" spc="-5" dirty="0">
                <a:latin typeface="Calibri"/>
                <a:cs typeface="Calibri"/>
              </a:rPr>
              <a:t>Example: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4/2=2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10547" y="3988054"/>
            <a:ext cx="2212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33195" algn="l"/>
                <a:tab pos="2052955" algn="l"/>
              </a:tabLst>
            </a:pPr>
            <a:r>
              <a:rPr sz="2400" spc="-5" dirty="0">
                <a:latin typeface="Calibri"/>
                <a:cs typeface="Calibri"/>
              </a:rPr>
              <a:t>q</a:t>
            </a:r>
            <a:r>
              <a:rPr sz="2400" spc="5" dirty="0">
                <a:latin typeface="Calibri"/>
                <a:cs typeface="Calibri"/>
              </a:rPr>
              <a:t>u</a:t>
            </a:r>
            <a:r>
              <a:rPr sz="2400" spc="-5" dirty="0">
                <a:latin typeface="Calibri"/>
                <a:cs typeface="Calibri"/>
              </a:rPr>
              <a:t>otie</a:t>
            </a:r>
            <a:r>
              <a:rPr sz="2400" spc="-25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t	as	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0537" y="4628515"/>
            <a:ext cx="8298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7685" algn="l"/>
              </a:tabLst>
            </a:pPr>
            <a:r>
              <a:rPr sz="2400" b="1" spc="-5" dirty="0">
                <a:latin typeface="Calibri"/>
                <a:cs typeface="Calibri"/>
              </a:rPr>
              <a:t>5)	</a:t>
            </a:r>
            <a:r>
              <a:rPr sz="2400" b="1" dirty="0">
                <a:latin typeface="Calibri"/>
                <a:cs typeface="Calibri"/>
              </a:rPr>
              <a:t>%</a:t>
            </a:r>
            <a:r>
              <a:rPr sz="2400" b="1" spc="-5" dirty="0">
                <a:latin typeface="Calibri"/>
                <a:cs typeface="Calibri"/>
              </a:rPr>
              <a:t> (modulus)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 </a:t>
            </a:r>
            <a:r>
              <a:rPr sz="2400" spc="-10" dirty="0">
                <a:latin typeface="Calibri"/>
                <a:cs typeface="Calibri"/>
              </a:rPr>
              <a:t>Give</a:t>
            </a:r>
            <a:r>
              <a:rPr sz="2400" dirty="0">
                <a:latin typeface="Calibri"/>
                <a:cs typeface="Calibri"/>
              </a:rPr>
              <a:t> the </a:t>
            </a:r>
            <a:r>
              <a:rPr sz="2400" spc="-5" dirty="0">
                <a:latin typeface="Calibri"/>
                <a:cs typeface="Calibri"/>
              </a:rPr>
              <a:t>remainder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result.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Example: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7%2=1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004" y="208610"/>
            <a:ext cx="31750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65" dirty="0"/>
              <a:t>Operators</a:t>
            </a:r>
            <a:r>
              <a:rPr sz="4400" spc="-114" dirty="0"/>
              <a:t> </a:t>
            </a:r>
            <a:r>
              <a:rPr sz="4400" spc="-10" dirty="0"/>
              <a:t>in</a:t>
            </a:r>
            <a:r>
              <a:rPr sz="4400" spc="-105" dirty="0"/>
              <a:t> </a:t>
            </a:r>
            <a:r>
              <a:rPr sz="4400" dirty="0"/>
              <a:t>C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440537" y="1012467"/>
            <a:ext cx="10981055" cy="194437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b="1" spc="-15" dirty="0">
                <a:latin typeface="Calibri"/>
                <a:cs typeface="Calibri"/>
              </a:rPr>
              <a:t>Relational</a:t>
            </a:r>
            <a:r>
              <a:rPr sz="2800" b="1" spc="15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Operators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ts val="3030"/>
              </a:lnSpc>
              <a:spcBef>
                <a:spcPts val="1045"/>
              </a:spcBef>
              <a:tabLst>
                <a:tab pos="471170" algn="l"/>
                <a:tab pos="1873250" algn="l"/>
                <a:tab pos="2560955" algn="l"/>
                <a:tab pos="4222115" algn="l"/>
                <a:tab pos="4897120" algn="l"/>
                <a:tab pos="6563359" algn="l"/>
                <a:tab pos="7067550" algn="l"/>
                <a:tab pos="7884795" algn="l"/>
                <a:tab pos="9221470" algn="l"/>
                <a:tab pos="9963785" algn="l"/>
              </a:tabLst>
            </a:pPr>
            <a:r>
              <a:rPr sz="2800" spc="-254" dirty="0">
                <a:latin typeface="Calibri"/>
                <a:cs typeface="Calibri"/>
              </a:rPr>
              <a:t>T</a:t>
            </a:r>
            <a:r>
              <a:rPr sz="2800" spc="-5" dirty="0">
                <a:latin typeface="Calibri"/>
                <a:cs typeface="Calibri"/>
              </a:rPr>
              <a:t>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c</a:t>
            </a:r>
            <a:r>
              <a:rPr sz="2800" spc="-10" dirty="0">
                <a:latin typeface="Calibri"/>
                <a:cs typeface="Calibri"/>
              </a:rPr>
              <a:t>ompa</a:t>
            </a:r>
            <a:r>
              <a:rPr sz="2800" spc="-40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t</a:t>
            </a:r>
            <a:r>
              <a:rPr sz="2800" spc="-30" dirty="0">
                <a:latin typeface="Calibri"/>
                <a:cs typeface="Calibri"/>
              </a:rPr>
              <a:t>w</a:t>
            </a:r>
            <a:r>
              <a:rPr sz="2800" spc="-5" dirty="0">
                <a:latin typeface="Calibri"/>
                <a:cs typeface="Calibri"/>
              </a:rPr>
              <a:t>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q</a:t>
            </a:r>
            <a:r>
              <a:rPr sz="2800" spc="-20" dirty="0">
                <a:latin typeface="Calibri"/>
                <a:cs typeface="Calibri"/>
              </a:rPr>
              <a:t>u</a:t>
            </a:r>
            <a:r>
              <a:rPr sz="2800" spc="5" dirty="0">
                <a:latin typeface="Calibri"/>
                <a:cs typeface="Calibri"/>
              </a:rPr>
              <a:t>a</a:t>
            </a:r>
            <a:r>
              <a:rPr sz="2800" spc="-3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t</a:t>
            </a:r>
            <a:r>
              <a:rPr sz="2800" spc="-15" dirty="0">
                <a:latin typeface="Calibri"/>
                <a:cs typeface="Calibri"/>
              </a:rPr>
              <a:t>i</a:t>
            </a:r>
            <a:r>
              <a:rPr sz="2800" spc="-5" dirty="0">
                <a:latin typeface="Calibri"/>
                <a:cs typeface="Calibri"/>
              </a:rPr>
              <a:t>t</a:t>
            </a:r>
            <a:r>
              <a:rPr sz="2800" spc="-15" dirty="0">
                <a:latin typeface="Calibri"/>
                <a:cs typeface="Calibri"/>
              </a:rPr>
              <a:t>i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10" dirty="0">
                <a:latin typeface="Calibri"/>
                <a:cs typeface="Calibri"/>
              </a:rPr>
              <a:t>s</a:t>
            </a:r>
            <a:r>
              <a:rPr sz="2800" spc="-5" dirty="0">
                <a:latin typeface="Calibri"/>
                <a:cs typeface="Calibri"/>
              </a:rPr>
              <a:t>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dependin</a:t>
            </a:r>
            <a:r>
              <a:rPr sz="2800" spc="-5" dirty="0">
                <a:latin typeface="Calibri"/>
                <a:cs typeface="Calibri"/>
              </a:rPr>
              <a:t>g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on</a:t>
            </a:r>
            <a:r>
              <a:rPr sz="2800" dirty="0">
                <a:latin typeface="Calibri"/>
                <a:cs typeface="Calibri"/>
              </a:rPr>
              <a:t>	t</a:t>
            </a:r>
            <a:r>
              <a:rPr sz="2800" spc="-10" dirty="0">
                <a:latin typeface="Calibri"/>
                <a:cs typeface="Calibri"/>
              </a:rPr>
              <a:t>he</a:t>
            </a:r>
            <a:r>
              <a:rPr sz="2800" spc="-25" dirty="0">
                <a:latin typeface="Calibri"/>
                <a:cs typeface="Calibri"/>
              </a:rPr>
              <a:t>i</a:t>
            </a:r>
            <a:r>
              <a:rPr sz="2800" spc="-5" dirty="0">
                <a:latin typeface="Calibri"/>
                <a:cs typeface="Calibri"/>
              </a:rPr>
              <a:t>r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0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15" dirty="0">
                <a:latin typeface="Calibri"/>
                <a:cs typeface="Calibri"/>
              </a:rPr>
              <a:t>l</a:t>
            </a:r>
            <a:r>
              <a:rPr sz="2800" spc="-25" dirty="0">
                <a:latin typeface="Calibri"/>
                <a:cs typeface="Calibri"/>
              </a:rPr>
              <a:t>a</a:t>
            </a:r>
            <a:r>
              <a:rPr sz="2800" spc="-5" dirty="0">
                <a:latin typeface="Calibri"/>
                <a:cs typeface="Calibri"/>
              </a:rPr>
              <a:t>t</a:t>
            </a:r>
            <a:r>
              <a:rPr sz="2800" spc="-15" dirty="0">
                <a:latin typeface="Calibri"/>
                <a:cs typeface="Calibri"/>
              </a:rPr>
              <a:t>i</a:t>
            </a:r>
            <a:r>
              <a:rPr sz="2800" spc="-10" dirty="0">
                <a:latin typeface="Calibri"/>
                <a:cs typeface="Calibri"/>
              </a:rPr>
              <a:t>on</a:t>
            </a:r>
            <a:r>
              <a:rPr sz="2800" spc="-5" dirty="0">
                <a:latin typeface="Calibri"/>
                <a:cs typeface="Calibri"/>
              </a:rPr>
              <a:t>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45" dirty="0">
                <a:latin typeface="Calibri"/>
                <a:cs typeface="Calibri"/>
              </a:rPr>
              <a:t>t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-90" dirty="0">
                <a:latin typeface="Calibri"/>
                <a:cs typeface="Calibri"/>
              </a:rPr>
              <a:t>k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cer</a:t>
            </a:r>
            <a:r>
              <a:rPr sz="2800" spc="-45" dirty="0">
                <a:latin typeface="Calibri"/>
                <a:cs typeface="Calibri"/>
              </a:rPr>
              <a:t>t</a:t>
            </a:r>
            <a:r>
              <a:rPr sz="2800" spc="-5" dirty="0">
                <a:latin typeface="Calibri"/>
                <a:cs typeface="Calibri"/>
              </a:rPr>
              <a:t>ain  </a:t>
            </a:r>
            <a:r>
              <a:rPr sz="2800" spc="-10" dirty="0">
                <a:latin typeface="Calibri"/>
                <a:cs typeface="Calibri"/>
              </a:rPr>
              <a:t>decisions.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2800" spc="-5" dirty="0">
                <a:latin typeface="Calibri"/>
                <a:cs typeface="Calibri"/>
              </a:rPr>
              <a:t>Eg.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a&gt;b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60548" y="2819400"/>
            <a:ext cx="6051804" cy="277063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pPr marL="50165">
                <a:lnSpc>
                  <a:spcPct val="100000"/>
                </a:lnSpc>
                <a:spcBef>
                  <a:spcPts val="5"/>
                </a:spcBef>
              </a:pPr>
              <a:t>3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pPr marL="50165">
                <a:lnSpc>
                  <a:spcPct val="100000"/>
                </a:lnSpc>
                <a:spcBef>
                  <a:spcPts val="5"/>
                </a:spcBef>
              </a:pPr>
              <a:t>4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004" y="208610"/>
            <a:ext cx="31750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65" dirty="0"/>
              <a:t>Operators</a:t>
            </a:r>
            <a:r>
              <a:rPr sz="4400" spc="-114" dirty="0"/>
              <a:t> </a:t>
            </a:r>
            <a:r>
              <a:rPr sz="4400" spc="-10" dirty="0"/>
              <a:t>in</a:t>
            </a:r>
            <a:r>
              <a:rPr sz="4400" spc="-105" dirty="0"/>
              <a:t> </a:t>
            </a:r>
            <a:r>
              <a:rPr sz="4400" dirty="0"/>
              <a:t>C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440537" y="1012467"/>
            <a:ext cx="10981055" cy="245491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b="1" spc="-5" dirty="0">
                <a:latin typeface="Calibri"/>
                <a:cs typeface="Calibri"/>
              </a:rPr>
              <a:t>Logical</a:t>
            </a:r>
            <a:r>
              <a:rPr sz="2800" b="1" spc="-30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Operators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ts val="3030"/>
              </a:lnSpc>
              <a:spcBef>
                <a:spcPts val="1045"/>
              </a:spcBef>
            </a:pP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logical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operators</a:t>
            </a:r>
            <a:r>
              <a:rPr sz="2800" spc="23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used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test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more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than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one</a:t>
            </a:r>
            <a:r>
              <a:rPr sz="2800" spc="229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conditions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make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decisions.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b="1" spc="-10" dirty="0">
                <a:latin typeface="Calibri"/>
                <a:cs typeface="Calibri"/>
              </a:rPr>
              <a:t>Example</a:t>
            </a:r>
            <a:r>
              <a:rPr sz="2800" b="1" spc="-25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Operators: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0537" y="3443376"/>
            <a:ext cx="1743075" cy="1557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9700"/>
              </a:lnSpc>
              <a:spcBef>
                <a:spcPts val="95"/>
              </a:spcBef>
            </a:pPr>
            <a:r>
              <a:rPr sz="2800" spc="-10" dirty="0">
                <a:latin typeface="Calibri"/>
                <a:cs typeface="Calibri"/>
              </a:rPr>
              <a:t>Logical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Logical OR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Logical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NOT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84017" y="3443376"/>
            <a:ext cx="510540" cy="155765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2800" spc="-5" dirty="0">
                <a:latin typeface="Calibri"/>
                <a:cs typeface="Calibri"/>
              </a:rPr>
              <a:t>&amp;&amp;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800" spc="-10" dirty="0">
                <a:latin typeface="Calibri"/>
                <a:cs typeface="Calibri"/>
              </a:rPr>
              <a:t>||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800" spc="-5" dirty="0">
                <a:latin typeface="Calibri"/>
                <a:cs typeface="Calibri"/>
              </a:rPr>
              <a:t>!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0537" y="5571540"/>
            <a:ext cx="22167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alibri"/>
                <a:cs typeface="Calibri"/>
              </a:rPr>
              <a:t>Eg.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a&gt;b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&amp;&amp;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a&gt;c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pPr marL="50165">
                <a:lnSpc>
                  <a:spcPct val="100000"/>
                </a:lnSpc>
                <a:spcBef>
                  <a:spcPts val="5"/>
                </a:spcBef>
              </a:pPr>
              <a:t>5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004" y="208610"/>
            <a:ext cx="31750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65" dirty="0"/>
              <a:t>Operators</a:t>
            </a:r>
            <a:r>
              <a:rPr sz="4400" spc="-114" dirty="0"/>
              <a:t> </a:t>
            </a:r>
            <a:r>
              <a:rPr sz="4400" spc="-10" dirty="0"/>
              <a:t>in</a:t>
            </a:r>
            <a:r>
              <a:rPr sz="4400" spc="-105" dirty="0"/>
              <a:t> </a:t>
            </a:r>
            <a:r>
              <a:rPr sz="4400" dirty="0"/>
              <a:t>C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440537" y="1012467"/>
            <a:ext cx="8650605" cy="10496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b="1" spc="-10" dirty="0">
                <a:latin typeface="Calibri"/>
                <a:cs typeface="Calibri"/>
              </a:rPr>
              <a:t>Assignment </a:t>
            </a:r>
            <a:r>
              <a:rPr sz="2800" b="1" spc="-20" dirty="0">
                <a:latin typeface="Calibri"/>
                <a:cs typeface="Calibri"/>
              </a:rPr>
              <a:t>Operators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800" spc="-5" dirty="0">
                <a:latin typeface="Calibri"/>
                <a:cs typeface="Calibri"/>
              </a:rPr>
              <a:t>It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used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assign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results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expression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-10" dirty="0">
                <a:latin typeface="Calibri"/>
                <a:cs typeface="Calibri"/>
              </a:rPr>
              <a:t> variable.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0537" y="2631439"/>
            <a:ext cx="10579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F0000"/>
                </a:solidFill>
                <a:latin typeface="Calibri"/>
                <a:cs typeface="Calibri"/>
              </a:rPr>
              <a:t>Syntax: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13197" y="2545232"/>
            <a:ext cx="2790825" cy="156083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Example:</a:t>
            </a:r>
            <a:endParaRPr sz="28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670"/>
              </a:spcBef>
            </a:pPr>
            <a:r>
              <a:rPr sz="2800" b="1" spc="-5" dirty="0">
                <a:latin typeface="Calibri"/>
                <a:cs typeface="Calibri"/>
              </a:rPr>
              <a:t>x</a:t>
            </a:r>
            <a:r>
              <a:rPr sz="2800" b="1" spc="-2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+=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y+1</a:t>
            </a:r>
            <a:endParaRPr sz="28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660"/>
              </a:spcBef>
            </a:pPr>
            <a:r>
              <a:rPr sz="2800" b="1" spc="-5" dirty="0">
                <a:latin typeface="Calibri"/>
                <a:cs typeface="Calibri"/>
              </a:rPr>
              <a:t>x</a:t>
            </a:r>
            <a:r>
              <a:rPr sz="2800" b="1" spc="-2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= x</a:t>
            </a:r>
            <a:r>
              <a:rPr sz="2800" b="1" spc="-1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+</a:t>
            </a:r>
            <a:r>
              <a:rPr sz="2800" b="1" spc="-1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(y+1);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69617" y="3059328"/>
            <a:ext cx="2687320" cy="104648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2800" b="1" spc="-20" dirty="0">
                <a:latin typeface="Calibri"/>
                <a:cs typeface="Calibri"/>
              </a:rPr>
              <a:t>var</a:t>
            </a:r>
            <a:r>
              <a:rPr sz="2800" b="1" spc="-5" dirty="0">
                <a:latin typeface="Calibri"/>
                <a:cs typeface="Calibri"/>
              </a:rPr>
              <a:t> op</a:t>
            </a:r>
            <a:r>
              <a:rPr sz="2800" b="1" spc="-1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= </a:t>
            </a:r>
            <a:r>
              <a:rPr sz="2800" b="1" spc="-20" dirty="0">
                <a:latin typeface="Calibri"/>
                <a:cs typeface="Calibri"/>
              </a:rPr>
              <a:t>exp;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800" b="1" spc="-20" dirty="0">
                <a:latin typeface="Calibri"/>
                <a:cs typeface="Calibri"/>
              </a:rPr>
              <a:t>var</a:t>
            </a:r>
            <a:r>
              <a:rPr sz="2800" b="1" spc="-5" dirty="0">
                <a:latin typeface="Calibri"/>
                <a:cs typeface="Calibri"/>
              </a:rPr>
              <a:t> = </a:t>
            </a:r>
            <a:r>
              <a:rPr sz="2800" b="1" spc="-20" dirty="0">
                <a:latin typeface="Calibri"/>
                <a:cs typeface="Calibri"/>
              </a:rPr>
              <a:t>var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op</a:t>
            </a:r>
            <a:r>
              <a:rPr sz="2800" b="1" spc="-1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(exp);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0537" y="4164533"/>
            <a:ext cx="9128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5" dirty="0">
                <a:latin typeface="Calibri"/>
                <a:cs typeface="Calibri"/>
              </a:rPr>
              <a:t>var</a:t>
            </a:r>
            <a:r>
              <a:rPr sz="2800" spc="-5" dirty="0">
                <a:latin typeface="Calibri"/>
                <a:cs typeface="Calibri"/>
              </a:rPr>
              <a:t> –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variable,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op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–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binary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arithmetic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45" dirty="0">
                <a:latin typeface="Calibri"/>
                <a:cs typeface="Calibri"/>
              </a:rPr>
              <a:t>operator,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exp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-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expression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pPr marL="50165">
                <a:lnSpc>
                  <a:spcPct val="100000"/>
                </a:lnSpc>
                <a:spcBef>
                  <a:spcPts val="5"/>
                </a:spcBef>
              </a:pPr>
              <a:t>6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004" y="208610"/>
            <a:ext cx="31750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65" dirty="0"/>
              <a:t>Operators</a:t>
            </a:r>
            <a:r>
              <a:rPr sz="4400" spc="-114" dirty="0"/>
              <a:t> </a:t>
            </a:r>
            <a:r>
              <a:rPr sz="4400" spc="-10" dirty="0"/>
              <a:t>in</a:t>
            </a:r>
            <a:r>
              <a:rPr sz="4400" spc="-105" dirty="0"/>
              <a:t> </a:t>
            </a:r>
            <a:r>
              <a:rPr sz="4400" dirty="0"/>
              <a:t>C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440537" y="1064513"/>
            <a:ext cx="10982325" cy="4413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Calibri"/>
                <a:cs typeface="Calibri"/>
              </a:rPr>
              <a:t>Increment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and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Decrement</a:t>
            </a:r>
            <a:r>
              <a:rPr sz="2800" b="1" spc="25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Operators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250">
              <a:latin typeface="Calibri"/>
              <a:cs typeface="Calibri"/>
            </a:endParaRPr>
          </a:p>
          <a:p>
            <a:pPr marL="364490" indent="-352425">
              <a:lnSpc>
                <a:spcPct val="100000"/>
              </a:lnSpc>
              <a:buAutoNum type="arabicPeriod"/>
              <a:tabLst>
                <a:tab pos="365125" algn="l"/>
              </a:tabLst>
            </a:pPr>
            <a:r>
              <a:rPr sz="2800" spc="-10" dirty="0">
                <a:latin typeface="Calibri"/>
                <a:cs typeface="Calibri"/>
              </a:rPr>
              <a:t>Increment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operators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(++):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Example: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(++x)</a:t>
            </a:r>
            <a:endParaRPr sz="2800">
              <a:latin typeface="Calibri"/>
              <a:cs typeface="Calibri"/>
            </a:endParaRPr>
          </a:p>
          <a:p>
            <a:pPr marL="364490" indent="-352425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365125" algn="l"/>
              </a:tabLst>
            </a:pPr>
            <a:r>
              <a:rPr sz="2800" spc="-15" dirty="0">
                <a:latin typeface="Calibri"/>
                <a:cs typeface="Calibri"/>
              </a:rPr>
              <a:t>Decrement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operators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(–):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Example: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(--m)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spc="-10" dirty="0">
                <a:latin typeface="Calibri"/>
                <a:cs typeface="Calibri"/>
              </a:rPr>
              <a:t>These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operators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prefix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operator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postfix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operator.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  <a:tabLst>
                <a:tab pos="4086225" algn="l"/>
              </a:tabLst>
            </a:pPr>
            <a:r>
              <a:rPr sz="2800" b="1" spc="-15" dirty="0">
                <a:latin typeface="Calibri"/>
                <a:cs typeface="Calibri"/>
              </a:rPr>
              <a:t>Prefix</a:t>
            </a:r>
            <a:r>
              <a:rPr sz="2800" b="1" spc="3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increment</a:t>
            </a:r>
            <a:r>
              <a:rPr sz="2800" b="1" spc="35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operator:	</a:t>
            </a:r>
            <a:r>
              <a:rPr sz="2800" dirty="0">
                <a:latin typeface="Calibri"/>
                <a:cs typeface="Calibri"/>
              </a:rPr>
              <a:t>++m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equivalent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m=m+1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m+=1</a:t>
            </a:r>
            <a:endParaRPr sz="2800">
              <a:latin typeface="Calibri"/>
              <a:cs typeface="Calibri"/>
            </a:endParaRPr>
          </a:p>
          <a:p>
            <a:pPr marL="12065" marR="5080" algn="ctr">
              <a:lnSpc>
                <a:spcPct val="80000"/>
              </a:lnSpc>
              <a:spcBef>
                <a:spcPts val="1000"/>
              </a:spcBef>
              <a:tabLst>
                <a:tab pos="1139825" algn="l"/>
                <a:tab pos="2780030" algn="l"/>
                <a:tab pos="4300220" algn="l"/>
                <a:tab pos="4603115" algn="l"/>
                <a:tab pos="4911090" algn="l"/>
                <a:tab pos="5685155" algn="l"/>
                <a:tab pos="6637655" algn="l"/>
                <a:tab pos="7037070" algn="l"/>
                <a:tab pos="7695565" algn="l"/>
                <a:tab pos="8460740" algn="l"/>
                <a:tab pos="9074785" algn="l"/>
                <a:tab pos="10746740" algn="l"/>
              </a:tabLst>
            </a:pPr>
            <a:r>
              <a:rPr sz="2800" b="1" spc="-55" dirty="0">
                <a:latin typeface="Calibri"/>
                <a:cs typeface="Calibri"/>
              </a:rPr>
              <a:t>P</a:t>
            </a:r>
            <a:r>
              <a:rPr sz="2800" b="1" spc="-5" dirty="0">
                <a:latin typeface="Calibri"/>
                <a:cs typeface="Calibri"/>
              </a:rPr>
              <a:t>o</a:t>
            </a:r>
            <a:r>
              <a:rPr sz="2800" b="1" spc="-50" dirty="0">
                <a:latin typeface="Calibri"/>
                <a:cs typeface="Calibri"/>
              </a:rPr>
              <a:t>s</a:t>
            </a:r>
            <a:r>
              <a:rPr sz="2800" b="1" spc="-5" dirty="0">
                <a:latin typeface="Calibri"/>
                <a:cs typeface="Calibri"/>
              </a:rPr>
              <a:t>tfix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b="1" spc="-5" dirty="0">
                <a:latin typeface="Calibri"/>
                <a:cs typeface="Calibri"/>
              </a:rPr>
              <a:t>in</a:t>
            </a:r>
            <a:r>
              <a:rPr sz="2800" b="1" dirty="0">
                <a:latin typeface="Calibri"/>
                <a:cs typeface="Calibri"/>
              </a:rPr>
              <a:t>c</a:t>
            </a:r>
            <a:r>
              <a:rPr sz="2800" b="1" spc="-40" dirty="0">
                <a:latin typeface="Calibri"/>
                <a:cs typeface="Calibri"/>
              </a:rPr>
              <a:t>r</a:t>
            </a:r>
            <a:r>
              <a:rPr sz="2800" b="1" spc="-10" dirty="0">
                <a:latin typeface="Calibri"/>
                <a:cs typeface="Calibri"/>
              </a:rPr>
              <a:t>e</a:t>
            </a:r>
            <a:r>
              <a:rPr sz="2800" b="1" spc="5" dirty="0">
                <a:latin typeface="Calibri"/>
                <a:cs typeface="Calibri"/>
              </a:rPr>
              <a:t>m</a:t>
            </a:r>
            <a:r>
              <a:rPr sz="2800" b="1" spc="-10" dirty="0">
                <a:latin typeface="Calibri"/>
                <a:cs typeface="Calibri"/>
              </a:rPr>
              <a:t>e</a:t>
            </a:r>
            <a:r>
              <a:rPr sz="2800" b="1" spc="-40" dirty="0">
                <a:latin typeface="Calibri"/>
                <a:cs typeface="Calibri"/>
              </a:rPr>
              <a:t>n</a:t>
            </a:r>
            <a:r>
              <a:rPr sz="2800" b="1" spc="-5" dirty="0">
                <a:latin typeface="Calibri"/>
                <a:cs typeface="Calibri"/>
              </a:rPr>
              <a:t>t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b="1" spc="-5" dirty="0">
                <a:latin typeface="Calibri"/>
                <a:cs typeface="Calibri"/>
              </a:rPr>
              <a:t>ope</a:t>
            </a:r>
            <a:r>
              <a:rPr sz="2800" b="1" spc="-60" dirty="0">
                <a:latin typeface="Calibri"/>
                <a:cs typeface="Calibri"/>
              </a:rPr>
              <a:t>r</a:t>
            </a:r>
            <a:r>
              <a:rPr sz="2800" b="1" spc="-30" dirty="0">
                <a:latin typeface="Calibri"/>
                <a:cs typeface="Calibri"/>
              </a:rPr>
              <a:t>at</a:t>
            </a:r>
            <a:r>
              <a:rPr sz="2800" b="1" spc="-5" dirty="0">
                <a:latin typeface="Calibri"/>
                <a:cs typeface="Calibri"/>
              </a:rPr>
              <a:t>o</a:t>
            </a:r>
            <a:r>
              <a:rPr sz="2800" b="1" spc="-10" dirty="0">
                <a:latin typeface="Calibri"/>
                <a:cs typeface="Calibri"/>
              </a:rPr>
              <a:t>r</a:t>
            </a:r>
            <a:r>
              <a:rPr sz="2800" b="1" spc="-5" dirty="0">
                <a:latin typeface="Calibri"/>
                <a:cs typeface="Calibri"/>
              </a:rPr>
              <a:t>: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=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m</a:t>
            </a:r>
            <a:r>
              <a:rPr sz="2800" spc="20" dirty="0">
                <a:latin typeface="Calibri"/>
                <a:cs typeface="Calibri"/>
              </a:rPr>
              <a:t>+</a:t>
            </a:r>
            <a:r>
              <a:rPr sz="2800" spc="-5" dirty="0">
                <a:latin typeface="Calibri"/>
                <a:cs typeface="Calibri"/>
              </a:rPr>
              <a:t>+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-</a:t>
            </a:r>
            <a:r>
              <a:rPr sz="2800" spc="5" dirty="0">
                <a:latin typeface="Calibri"/>
                <a:cs typeface="Calibri"/>
              </a:rPr>
              <a:t>j</a:t>
            </a:r>
            <a:r>
              <a:rPr sz="2800" spc="-10" dirty="0">
                <a:latin typeface="Calibri"/>
                <a:cs typeface="Calibri"/>
              </a:rPr>
              <a:t>+</a:t>
            </a:r>
            <a:r>
              <a:rPr sz="2800" dirty="0">
                <a:latin typeface="Calibri"/>
                <a:cs typeface="Calibri"/>
              </a:rPr>
              <a:t>1</a:t>
            </a:r>
            <a:r>
              <a:rPr sz="2800" spc="-10" dirty="0">
                <a:latin typeface="Calibri"/>
                <a:cs typeface="Calibri"/>
              </a:rPr>
              <a:t>0</a:t>
            </a:r>
            <a:r>
              <a:rPr sz="2800" spc="-5" dirty="0">
                <a:latin typeface="Calibri"/>
                <a:cs typeface="Calibri"/>
              </a:rPr>
              <a:t>,</a:t>
            </a:r>
            <a:r>
              <a:rPr sz="2800" dirty="0">
                <a:latin typeface="Calibri"/>
                <a:cs typeface="Calibri"/>
              </a:rPr>
              <a:t>	i</a:t>
            </a:r>
            <a:r>
              <a:rPr sz="2800" spc="-5" dirty="0">
                <a:latin typeface="Calibri"/>
                <a:cs typeface="Calibri"/>
              </a:rPr>
              <a:t>n</a:t>
            </a:r>
            <a:r>
              <a:rPr sz="2800" dirty="0">
                <a:latin typeface="Calibri"/>
                <a:cs typeface="Calibri"/>
              </a:rPr>
              <a:t>	t</a:t>
            </a:r>
            <a:r>
              <a:rPr sz="2800" spc="-10" dirty="0">
                <a:latin typeface="Calibri"/>
                <a:cs typeface="Calibri"/>
              </a:rPr>
              <a:t>hi</a:t>
            </a:r>
            <a:r>
              <a:rPr sz="2800" spc="-5" dirty="0">
                <a:latin typeface="Calibri"/>
                <a:cs typeface="Calibri"/>
              </a:rPr>
              <a:t>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c</a:t>
            </a:r>
            <a:r>
              <a:rPr sz="2800" spc="-5" dirty="0">
                <a:latin typeface="Calibri"/>
                <a:cs typeface="Calibri"/>
              </a:rPr>
              <a:t>ase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5" dirty="0">
                <a:latin typeface="Calibri"/>
                <a:cs typeface="Calibri"/>
              </a:rPr>
              <a:t>e</a:t>
            </a:r>
            <a:r>
              <a:rPr sz="2800" spc="-10" dirty="0">
                <a:latin typeface="Calibri"/>
                <a:cs typeface="Calibri"/>
              </a:rPr>
              <a:t>xp</a:t>
            </a:r>
            <a:r>
              <a:rPr sz="2800" spc="-50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s</a:t>
            </a:r>
            <a:r>
              <a:rPr sz="2800" spc="-10" dirty="0">
                <a:latin typeface="Calibri"/>
                <a:cs typeface="Calibri"/>
              </a:rPr>
              <a:t>s</a:t>
            </a:r>
            <a:r>
              <a:rPr sz="2800" spc="-20" dirty="0">
                <a:latin typeface="Calibri"/>
                <a:cs typeface="Calibri"/>
              </a:rPr>
              <a:t>i</a:t>
            </a:r>
            <a:r>
              <a:rPr sz="2800" spc="5" dirty="0">
                <a:latin typeface="Calibri"/>
                <a:cs typeface="Calibri"/>
              </a:rPr>
              <a:t>o</a:t>
            </a:r>
            <a:r>
              <a:rPr sz="2800" spc="-5" dirty="0">
                <a:latin typeface="Calibri"/>
                <a:cs typeface="Calibri"/>
              </a:rPr>
              <a:t>n</a:t>
            </a:r>
            <a:r>
              <a:rPr sz="2800" dirty="0">
                <a:latin typeface="Calibri"/>
                <a:cs typeface="Calibri"/>
              </a:rPr>
              <a:t>	is  </a:t>
            </a:r>
            <a:r>
              <a:rPr sz="2800" spc="-20" dirty="0">
                <a:latin typeface="Calibri"/>
                <a:cs typeface="Calibri"/>
              </a:rPr>
              <a:t>evaluated</a:t>
            </a:r>
            <a:r>
              <a:rPr sz="2800" spc="2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first</a:t>
            </a:r>
            <a:r>
              <a:rPr sz="2800" spc="3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using</a:t>
            </a:r>
            <a:r>
              <a:rPr sz="2800" spc="29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2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original</a:t>
            </a:r>
            <a:r>
              <a:rPr sz="2800" spc="2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value</a:t>
            </a:r>
            <a:r>
              <a:rPr sz="2800" spc="28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27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28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variable</a:t>
            </a:r>
            <a:r>
              <a:rPr sz="2800" spc="2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27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then</a:t>
            </a:r>
            <a:r>
              <a:rPr sz="2800" spc="2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variable</a:t>
            </a:r>
            <a:r>
              <a:rPr sz="2800" spc="29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is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incremented.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004" y="208610"/>
            <a:ext cx="31750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65" dirty="0"/>
              <a:t>Operators</a:t>
            </a:r>
            <a:r>
              <a:rPr sz="4400" spc="-114" dirty="0"/>
              <a:t> </a:t>
            </a:r>
            <a:r>
              <a:rPr sz="4400" spc="-10" dirty="0"/>
              <a:t>in</a:t>
            </a:r>
            <a:r>
              <a:rPr sz="4400" spc="-105" dirty="0"/>
              <a:t> </a:t>
            </a:r>
            <a:r>
              <a:rPr sz="4400" dirty="0"/>
              <a:t>C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440537" y="1012467"/>
            <a:ext cx="10980420" cy="29673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b="1" spc="-5" dirty="0">
                <a:latin typeface="Calibri"/>
                <a:cs typeface="Calibri"/>
              </a:rPr>
              <a:t>Conditional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Operator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ts val="3030"/>
              </a:lnSpc>
              <a:spcBef>
                <a:spcPts val="1045"/>
              </a:spcBef>
              <a:tabLst>
                <a:tab pos="407034" algn="l"/>
                <a:tab pos="1655445" algn="l"/>
                <a:tab pos="3104515" algn="l"/>
                <a:tab pos="3854450" algn="l"/>
                <a:tab pos="4610735" algn="l"/>
                <a:tab pos="5019040" algn="l"/>
                <a:tab pos="6474460" algn="l"/>
                <a:tab pos="6932295" algn="l"/>
                <a:tab pos="7311390" algn="l"/>
                <a:tab pos="7804150" algn="l"/>
                <a:tab pos="9349740" algn="l"/>
              </a:tabLst>
            </a:pPr>
            <a:r>
              <a:rPr sz="2800" spc="-5" dirty="0">
                <a:latin typeface="Calibri"/>
                <a:cs typeface="Calibri"/>
              </a:rPr>
              <a:t>A	</a:t>
            </a:r>
            <a:r>
              <a:rPr sz="2800" spc="-35" dirty="0">
                <a:latin typeface="Calibri"/>
                <a:cs typeface="Calibri"/>
              </a:rPr>
              <a:t>t</a:t>
            </a:r>
            <a:r>
              <a:rPr sz="2800" spc="-5" dirty="0">
                <a:latin typeface="Calibri"/>
                <a:cs typeface="Calibri"/>
              </a:rPr>
              <a:t>er</a:t>
            </a:r>
            <a:r>
              <a:rPr sz="2800" spc="-1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y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ope</a:t>
            </a:r>
            <a:r>
              <a:rPr sz="2800" spc="-70" dirty="0">
                <a:latin typeface="Calibri"/>
                <a:cs typeface="Calibri"/>
              </a:rPr>
              <a:t>r</a:t>
            </a:r>
            <a:r>
              <a:rPr sz="2800" spc="-25" dirty="0">
                <a:latin typeface="Calibri"/>
                <a:cs typeface="Calibri"/>
              </a:rPr>
              <a:t>a</a:t>
            </a:r>
            <a:r>
              <a:rPr sz="2800" spc="-35" dirty="0">
                <a:latin typeface="Calibri"/>
                <a:cs typeface="Calibri"/>
              </a:rPr>
              <a:t>t</a:t>
            </a:r>
            <a:r>
              <a:rPr sz="2800" spc="-10" dirty="0">
                <a:latin typeface="Calibri"/>
                <a:cs typeface="Calibri"/>
              </a:rPr>
              <a:t>o</a:t>
            </a:r>
            <a:r>
              <a:rPr sz="2800" spc="-5" dirty="0">
                <a:latin typeface="Calibri"/>
                <a:cs typeface="Calibri"/>
              </a:rPr>
              <a:t>r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pa</a:t>
            </a:r>
            <a:r>
              <a:rPr sz="2800" spc="-15" dirty="0">
                <a:latin typeface="Calibri"/>
                <a:cs typeface="Calibri"/>
              </a:rPr>
              <a:t>i</a:t>
            </a:r>
            <a:r>
              <a:rPr sz="2800" spc="-5" dirty="0">
                <a:latin typeface="Calibri"/>
                <a:cs typeface="Calibri"/>
              </a:rPr>
              <a:t>r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10" dirty="0">
                <a:latin typeface="Calibri"/>
                <a:cs typeface="Calibri"/>
              </a:rPr>
              <a:t>“</a:t>
            </a:r>
            <a:r>
              <a:rPr sz="2800" spc="-10" dirty="0">
                <a:latin typeface="Calibri"/>
                <a:cs typeface="Calibri"/>
              </a:rPr>
              <a:t>:</a:t>
            </a:r>
            <a:r>
              <a:rPr sz="2800" spc="40" dirty="0">
                <a:latin typeface="Calibri"/>
                <a:cs typeface="Calibri"/>
              </a:rPr>
              <a:t>?</a:t>
            </a:r>
            <a:r>
              <a:rPr sz="2800" spc="-5" dirty="0">
                <a:latin typeface="Calibri"/>
                <a:cs typeface="Calibri"/>
              </a:rPr>
              <a:t>”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5" dirty="0">
                <a:latin typeface="Calibri"/>
                <a:cs typeface="Calibri"/>
              </a:rPr>
              <a:t>i</a:t>
            </a:r>
            <a:r>
              <a:rPr sz="2800" spc="-5" dirty="0">
                <a:latin typeface="Calibri"/>
                <a:cs typeface="Calibri"/>
              </a:rPr>
              <a:t>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0" dirty="0">
                <a:latin typeface="Calibri"/>
                <a:cs typeface="Calibri"/>
              </a:rPr>
              <a:t>av</a:t>
            </a:r>
            <a:r>
              <a:rPr sz="2800" spc="-5" dirty="0">
                <a:latin typeface="Calibri"/>
                <a:cs typeface="Calibri"/>
              </a:rPr>
              <a:t>ai</a:t>
            </a:r>
            <a:r>
              <a:rPr sz="2800" spc="-20" dirty="0">
                <a:latin typeface="Calibri"/>
                <a:cs typeface="Calibri"/>
              </a:rPr>
              <a:t>l</a:t>
            </a:r>
            <a:r>
              <a:rPr sz="2800" spc="-5" dirty="0">
                <a:latin typeface="Calibri"/>
                <a:cs typeface="Calibri"/>
              </a:rPr>
              <a:t>ab</a:t>
            </a:r>
            <a:r>
              <a:rPr sz="2800" spc="-15" dirty="0">
                <a:latin typeface="Calibri"/>
                <a:cs typeface="Calibri"/>
              </a:rPr>
              <a:t>l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	i</a:t>
            </a:r>
            <a:r>
              <a:rPr sz="2800" spc="-5" dirty="0">
                <a:latin typeface="Calibri"/>
                <a:cs typeface="Calibri"/>
              </a:rPr>
              <a:t>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C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35" dirty="0">
                <a:latin typeface="Calibri"/>
                <a:cs typeface="Calibri"/>
              </a:rPr>
              <a:t>t</a:t>
            </a:r>
            <a:r>
              <a:rPr sz="2800" spc="-5" dirty="0">
                <a:latin typeface="Calibri"/>
                <a:cs typeface="Calibri"/>
              </a:rPr>
              <a:t>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c</a:t>
            </a:r>
            <a:r>
              <a:rPr sz="2800" spc="-10" dirty="0">
                <a:latin typeface="Calibri"/>
                <a:cs typeface="Calibri"/>
              </a:rPr>
              <a:t>on</a:t>
            </a:r>
            <a:r>
              <a:rPr sz="2800" spc="-40" dirty="0">
                <a:latin typeface="Calibri"/>
                <a:cs typeface="Calibri"/>
              </a:rPr>
              <a:t>s</a:t>
            </a:r>
            <a:r>
              <a:rPr sz="2800" spc="-5" dirty="0">
                <a:latin typeface="Calibri"/>
                <a:cs typeface="Calibri"/>
              </a:rPr>
              <a:t>truct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c</a:t>
            </a:r>
            <a:r>
              <a:rPr sz="2800" spc="5" dirty="0">
                <a:latin typeface="Calibri"/>
                <a:cs typeface="Calibri"/>
              </a:rPr>
              <a:t>o</a:t>
            </a:r>
            <a:r>
              <a:rPr sz="2800" spc="-10" dirty="0">
                <a:latin typeface="Calibri"/>
                <a:cs typeface="Calibri"/>
              </a:rPr>
              <a:t>ndition</a:t>
            </a:r>
            <a:r>
              <a:rPr sz="2800" spc="-5" dirty="0">
                <a:latin typeface="Calibri"/>
                <a:cs typeface="Calibri"/>
              </a:rPr>
              <a:t>al  </a:t>
            </a:r>
            <a:r>
              <a:rPr sz="2800" spc="-15" dirty="0">
                <a:latin typeface="Calibri"/>
                <a:cs typeface="Calibri"/>
              </a:rPr>
              <a:t>expressions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form: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200">
              <a:latin typeface="Calibri"/>
              <a:cs typeface="Calibri"/>
            </a:endParaRPr>
          </a:p>
          <a:p>
            <a:pPr marL="927100" marR="6179185">
              <a:lnSpc>
                <a:spcPct val="120100"/>
              </a:lnSpc>
            </a:pPr>
            <a:r>
              <a:rPr sz="2800" b="1" spc="-20" dirty="0">
                <a:solidFill>
                  <a:srgbClr val="FF0000"/>
                </a:solidFill>
                <a:latin typeface="Calibri"/>
                <a:cs typeface="Calibri"/>
              </a:rPr>
              <a:t>Syntax:</a:t>
            </a:r>
            <a:r>
              <a:rPr sz="280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exp1</a:t>
            </a:r>
            <a:r>
              <a:rPr sz="2800" b="1" spc="1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?</a:t>
            </a:r>
            <a:r>
              <a:rPr sz="2800" b="1" spc="-10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exp2</a:t>
            </a:r>
            <a:r>
              <a:rPr sz="2800" b="1" spc="2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:</a:t>
            </a:r>
            <a:r>
              <a:rPr sz="2800" b="1" spc="-15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exp3 </a:t>
            </a:r>
            <a:r>
              <a:rPr sz="2800" b="1" spc="-620" dirty="0"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Example:</a:t>
            </a:r>
            <a:r>
              <a:rPr sz="280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x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= (a&gt;b)</a:t>
            </a:r>
            <a:r>
              <a:rPr sz="2800" b="1" spc="2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?</a:t>
            </a:r>
            <a:r>
              <a:rPr sz="2800" b="1" spc="-1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a</a:t>
            </a:r>
            <a:r>
              <a:rPr sz="2800" b="1" spc="1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:</a:t>
            </a:r>
            <a:r>
              <a:rPr sz="2800" b="1" spc="-1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b;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17903" y="2573660"/>
            <a:ext cx="3596629" cy="330668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pPr marL="50165">
                <a:lnSpc>
                  <a:spcPct val="100000"/>
                </a:lnSpc>
                <a:spcBef>
                  <a:spcPts val="5"/>
                </a:spcBef>
              </a:pPr>
              <a:t>7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004" y="208610"/>
            <a:ext cx="31750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65" dirty="0"/>
              <a:t>Operators</a:t>
            </a:r>
            <a:r>
              <a:rPr sz="4400" spc="-114" dirty="0"/>
              <a:t> </a:t>
            </a:r>
            <a:r>
              <a:rPr sz="4400" spc="-10" dirty="0"/>
              <a:t>in</a:t>
            </a:r>
            <a:r>
              <a:rPr sz="4400" spc="-105" dirty="0"/>
              <a:t> </a:t>
            </a:r>
            <a:r>
              <a:rPr sz="4400" dirty="0"/>
              <a:t>C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440537" y="1012467"/>
            <a:ext cx="7673975" cy="156019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b="1" spc="-5" dirty="0">
                <a:latin typeface="Calibri"/>
                <a:cs typeface="Calibri"/>
              </a:rPr>
              <a:t>Bitwise </a:t>
            </a:r>
            <a:r>
              <a:rPr sz="2800" b="1" spc="-20" dirty="0">
                <a:latin typeface="Calibri"/>
                <a:cs typeface="Calibri"/>
              </a:rPr>
              <a:t>Operator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800" spc="-5" dirty="0">
                <a:latin typeface="Calibri"/>
                <a:cs typeface="Calibri"/>
              </a:rPr>
              <a:t>Used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manipulation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45" dirty="0">
                <a:latin typeface="Calibri"/>
                <a:cs typeface="Calibri"/>
              </a:rPr>
              <a:t>data’s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at </a:t>
            </a:r>
            <a:r>
              <a:rPr sz="2800" spc="-10" dirty="0">
                <a:latin typeface="Calibri"/>
                <a:cs typeface="Calibri"/>
              </a:rPr>
              <a:t>bit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level.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800" spc="-5" dirty="0">
                <a:latin typeface="Calibri"/>
                <a:cs typeface="Calibri"/>
              </a:rPr>
              <a:t>Used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testing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bits,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shifting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them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right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left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85032" y="3012948"/>
            <a:ext cx="4325112" cy="354316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pPr marL="50165">
                <a:lnSpc>
                  <a:spcPct val="100000"/>
                </a:lnSpc>
                <a:spcBef>
                  <a:spcPts val="5"/>
                </a:spcBef>
              </a:pPr>
              <a:t>8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pPr marL="50165">
                <a:lnSpc>
                  <a:spcPct val="100000"/>
                </a:lnSpc>
                <a:spcBef>
                  <a:spcPts val="5"/>
                </a:spcBef>
              </a:pPr>
              <a:t>9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004" y="208610"/>
            <a:ext cx="31750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65" dirty="0"/>
              <a:t>Operators</a:t>
            </a:r>
            <a:r>
              <a:rPr sz="4400" spc="-114" dirty="0"/>
              <a:t> </a:t>
            </a:r>
            <a:r>
              <a:rPr sz="4400" spc="-10" dirty="0"/>
              <a:t>in</a:t>
            </a:r>
            <a:r>
              <a:rPr sz="4400" spc="-105" dirty="0"/>
              <a:t> </a:t>
            </a:r>
            <a:r>
              <a:rPr sz="4400" dirty="0"/>
              <a:t>C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440537" y="1098042"/>
            <a:ext cx="10982325" cy="37763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Calibri"/>
                <a:cs typeface="Calibri"/>
              </a:rPr>
              <a:t>Special</a:t>
            </a:r>
            <a:r>
              <a:rPr sz="2800" b="1" spc="-20" dirty="0">
                <a:latin typeface="Calibri"/>
                <a:cs typeface="Calibri"/>
              </a:rPr>
              <a:t> Operators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4150">
              <a:latin typeface="Calibri"/>
              <a:cs typeface="Calibri"/>
            </a:endParaRPr>
          </a:p>
          <a:p>
            <a:pPr marL="527685" marR="5080" indent="-527685">
              <a:lnSpc>
                <a:spcPts val="3020"/>
              </a:lnSpc>
              <a:buAutoNum type="arabicPeriod"/>
              <a:tabLst>
                <a:tab pos="527685" algn="l"/>
                <a:tab pos="528320" algn="l"/>
                <a:tab pos="1208405" algn="l"/>
                <a:tab pos="2428240" algn="l"/>
                <a:tab pos="3833495" algn="l"/>
                <a:tab pos="4157979" algn="l"/>
                <a:tab pos="4993640" algn="l"/>
                <a:tab pos="5441315" algn="l"/>
                <a:tab pos="6098540" algn="l"/>
                <a:tab pos="6726555" algn="l"/>
                <a:tab pos="7893684" algn="l"/>
                <a:tab pos="9719945" algn="l"/>
              </a:tabLst>
            </a:pPr>
            <a:r>
              <a:rPr sz="2800" spc="-10" dirty="0">
                <a:latin typeface="Calibri"/>
                <a:cs typeface="Calibri"/>
              </a:rPr>
              <a:t>Th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c</a:t>
            </a:r>
            <a:r>
              <a:rPr sz="2800" spc="-10" dirty="0">
                <a:latin typeface="Calibri"/>
                <a:cs typeface="Calibri"/>
              </a:rPr>
              <a:t>o</a:t>
            </a:r>
            <a:r>
              <a:rPr sz="2800" dirty="0">
                <a:latin typeface="Calibri"/>
                <a:cs typeface="Calibri"/>
              </a:rPr>
              <a:t>m</a:t>
            </a:r>
            <a:r>
              <a:rPr sz="2800" spc="-5" dirty="0">
                <a:latin typeface="Calibri"/>
                <a:cs typeface="Calibri"/>
              </a:rPr>
              <a:t>ma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ope</a:t>
            </a:r>
            <a:r>
              <a:rPr sz="2800" spc="-75" dirty="0">
                <a:latin typeface="Calibri"/>
                <a:cs typeface="Calibri"/>
              </a:rPr>
              <a:t>r</a:t>
            </a:r>
            <a:r>
              <a:rPr sz="2800" spc="-25" dirty="0">
                <a:latin typeface="Calibri"/>
                <a:cs typeface="Calibri"/>
              </a:rPr>
              <a:t>a</a:t>
            </a:r>
            <a:r>
              <a:rPr sz="2800" spc="-35" dirty="0">
                <a:latin typeface="Calibri"/>
                <a:cs typeface="Calibri"/>
              </a:rPr>
              <a:t>t</a:t>
            </a:r>
            <a:r>
              <a:rPr sz="2800" spc="-10" dirty="0">
                <a:latin typeface="Calibri"/>
                <a:cs typeface="Calibri"/>
              </a:rPr>
              <a:t>o</a:t>
            </a:r>
            <a:r>
              <a:rPr sz="2800" spc="-5" dirty="0">
                <a:latin typeface="Calibri"/>
                <a:cs typeface="Calibri"/>
              </a:rPr>
              <a:t>r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–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us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5" dirty="0">
                <a:latin typeface="Calibri"/>
                <a:cs typeface="Calibri"/>
              </a:rPr>
              <a:t>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30" dirty="0">
                <a:latin typeface="Calibri"/>
                <a:cs typeface="Calibri"/>
              </a:rPr>
              <a:t>t</a:t>
            </a:r>
            <a:r>
              <a:rPr sz="2800" spc="-5" dirty="0">
                <a:latin typeface="Calibri"/>
                <a:cs typeface="Calibri"/>
              </a:rPr>
              <a:t>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link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el</a:t>
            </a:r>
            <a:r>
              <a:rPr sz="2800" spc="-35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t</a:t>
            </a:r>
            <a:r>
              <a:rPr sz="2800" spc="-5" dirty="0">
                <a:latin typeface="Calibri"/>
                <a:cs typeface="Calibri"/>
              </a:rPr>
              <a:t>ed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5" dirty="0">
                <a:latin typeface="Calibri"/>
                <a:cs typeface="Calibri"/>
              </a:rPr>
              <a:t>e</a:t>
            </a:r>
            <a:r>
              <a:rPr sz="2800" spc="-10" dirty="0">
                <a:latin typeface="Calibri"/>
                <a:cs typeface="Calibri"/>
              </a:rPr>
              <a:t>xp</a:t>
            </a:r>
            <a:r>
              <a:rPr sz="2800" spc="-50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s</a:t>
            </a:r>
            <a:r>
              <a:rPr sz="2800" spc="-10" dirty="0">
                <a:latin typeface="Calibri"/>
                <a:cs typeface="Calibri"/>
              </a:rPr>
              <a:t>sio</a:t>
            </a:r>
            <a:r>
              <a:rPr sz="2800" spc="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35" dirty="0">
                <a:latin typeface="Calibri"/>
                <a:cs typeface="Calibri"/>
              </a:rPr>
              <a:t>t</a:t>
            </a:r>
            <a:r>
              <a:rPr sz="2800" spc="-10" dirty="0">
                <a:latin typeface="Calibri"/>
                <a:cs typeface="Calibri"/>
              </a:rPr>
              <a:t>o</a:t>
            </a:r>
            <a:r>
              <a:rPr sz="2800" spc="-30" dirty="0">
                <a:latin typeface="Calibri"/>
                <a:cs typeface="Calibri"/>
              </a:rPr>
              <a:t>g</a:t>
            </a:r>
            <a:r>
              <a:rPr sz="2800" spc="-15" dirty="0">
                <a:latin typeface="Calibri"/>
                <a:cs typeface="Calibri"/>
              </a:rPr>
              <a:t>e</a:t>
            </a:r>
            <a:r>
              <a:rPr sz="2800" spc="-5" dirty="0">
                <a:latin typeface="Calibri"/>
                <a:cs typeface="Calibri"/>
              </a:rPr>
              <a:t>ther  </a:t>
            </a:r>
            <a:r>
              <a:rPr sz="2800" spc="-10" dirty="0">
                <a:latin typeface="Calibri"/>
                <a:cs typeface="Calibri"/>
              </a:rPr>
              <a:t>Example: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value</a:t>
            </a:r>
            <a:r>
              <a:rPr sz="2800" spc="-5" dirty="0">
                <a:latin typeface="Calibri"/>
                <a:cs typeface="Calibri"/>
              </a:rPr>
              <a:t> =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(x=10,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y=5,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x+5);</a:t>
            </a:r>
            <a:endParaRPr sz="2800">
              <a:latin typeface="Calibri"/>
              <a:cs typeface="Calibri"/>
            </a:endParaRPr>
          </a:p>
          <a:p>
            <a:pPr marL="527685" marR="5715" indent="-515620">
              <a:lnSpc>
                <a:spcPts val="3030"/>
              </a:lnSpc>
              <a:spcBef>
                <a:spcPts val="100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sizeof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operator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–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returns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number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bytes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operand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occupies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Example: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=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sizeof(sum);</a:t>
            </a:r>
            <a:endParaRPr sz="2800">
              <a:latin typeface="Calibri"/>
              <a:cs typeface="Calibri"/>
            </a:endParaRPr>
          </a:p>
          <a:p>
            <a:pPr marL="527685" indent="-515620">
              <a:lnSpc>
                <a:spcPct val="100000"/>
              </a:lnSpc>
              <a:spcBef>
                <a:spcPts val="62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spc="-25" dirty="0">
                <a:latin typeface="Calibri"/>
                <a:cs typeface="Calibri"/>
              </a:rPr>
              <a:t>Pointer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operator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(&amp;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*)</a:t>
            </a:r>
            <a:endParaRPr sz="2800">
              <a:latin typeface="Calibri"/>
              <a:cs typeface="Calibri"/>
            </a:endParaRPr>
          </a:p>
          <a:p>
            <a:pPr marL="527685" indent="-515620">
              <a:lnSpc>
                <a:spcPct val="100000"/>
              </a:lnSpc>
              <a:spcBef>
                <a:spcPts val="66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spc="-10" dirty="0">
                <a:latin typeface="Calibri"/>
                <a:cs typeface="Calibri"/>
              </a:rPr>
              <a:t>Member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selection </a:t>
            </a:r>
            <a:r>
              <a:rPr sz="2800" spc="-20" dirty="0">
                <a:latin typeface="Calibri"/>
                <a:cs typeface="Calibri"/>
              </a:rPr>
              <a:t>operator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(.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-&gt;)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pPr marL="50165">
                <a:lnSpc>
                  <a:spcPct val="100000"/>
                </a:lnSpc>
                <a:spcBef>
                  <a:spcPts val="5"/>
                </a:spcBef>
              </a:pPr>
              <a:t>10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004" y="208610"/>
            <a:ext cx="85172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5" dirty="0"/>
              <a:t>Operator</a:t>
            </a:r>
            <a:r>
              <a:rPr sz="4400" spc="-100" dirty="0"/>
              <a:t> </a:t>
            </a:r>
            <a:r>
              <a:rPr sz="4400" spc="-45" dirty="0"/>
              <a:t>Precedence</a:t>
            </a:r>
            <a:r>
              <a:rPr sz="4400" spc="-105" dirty="0"/>
              <a:t> </a:t>
            </a:r>
            <a:r>
              <a:rPr sz="4400" spc="-25" dirty="0"/>
              <a:t>and</a:t>
            </a:r>
            <a:r>
              <a:rPr sz="4400" spc="-95" dirty="0"/>
              <a:t> </a:t>
            </a:r>
            <a:r>
              <a:rPr sz="4400" spc="-35" dirty="0"/>
              <a:t>Associativity</a:t>
            </a:r>
            <a:endParaRPr sz="4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536371" y="1275664"/>
            <a:ext cx="11119256" cy="48449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1285">
              <a:lnSpc>
                <a:spcPct val="100000"/>
              </a:lnSpc>
              <a:spcBef>
                <a:spcPts val="100"/>
              </a:spcBef>
            </a:pPr>
            <a:r>
              <a:rPr dirty="0"/>
              <a:t>C</a:t>
            </a:r>
            <a:r>
              <a:rPr spc="-20" dirty="0"/>
              <a:t> </a:t>
            </a:r>
            <a:r>
              <a:rPr dirty="0"/>
              <a:t>has</a:t>
            </a:r>
            <a:r>
              <a:rPr spc="-10" dirty="0"/>
              <a:t> </a:t>
            </a:r>
            <a:r>
              <a:rPr dirty="0"/>
              <a:t>precedence</a:t>
            </a:r>
            <a:r>
              <a:rPr spc="-40" dirty="0"/>
              <a:t> </a:t>
            </a:r>
            <a:r>
              <a:rPr dirty="0"/>
              <a:t>associated</a:t>
            </a:r>
            <a:r>
              <a:rPr spc="-40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dirty="0"/>
              <a:t>it.</a:t>
            </a:r>
          </a:p>
          <a:p>
            <a:pPr marL="121285" marR="6350">
              <a:lnSpc>
                <a:spcPct val="100000"/>
              </a:lnSpc>
              <a:spcBef>
                <a:spcPts val="5"/>
              </a:spcBef>
              <a:tabLst>
                <a:tab pos="830580" algn="l"/>
                <a:tab pos="2362200" algn="l"/>
                <a:tab pos="2732405" algn="l"/>
                <a:tab pos="3456304" algn="l"/>
                <a:tab pos="3858895" algn="l"/>
                <a:tab pos="5240020" algn="l"/>
                <a:tab pos="5930265" algn="l"/>
                <a:tab pos="6384290" algn="l"/>
                <a:tab pos="7852409" algn="l"/>
                <a:tab pos="9184640" algn="l"/>
                <a:tab pos="9975215" algn="l"/>
                <a:tab pos="10664825" algn="l"/>
              </a:tabLst>
            </a:pPr>
            <a:r>
              <a:rPr spc="-5" dirty="0"/>
              <a:t>This	</a:t>
            </a:r>
            <a:r>
              <a:rPr spc="-20" dirty="0"/>
              <a:t>p</a:t>
            </a:r>
            <a:r>
              <a:rPr spc="-5" dirty="0"/>
              <a:t>rece</a:t>
            </a:r>
            <a:r>
              <a:rPr spc="-20" dirty="0"/>
              <a:t>d</a:t>
            </a:r>
            <a:r>
              <a:rPr spc="-5" dirty="0"/>
              <a:t>ence	</a:t>
            </a:r>
            <a:r>
              <a:rPr dirty="0"/>
              <a:t>i</a:t>
            </a:r>
            <a:r>
              <a:rPr spc="-5" dirty="0"/>
              <a:t>s</a:t>
            </a:r>
            <a:r>
              <a:rPr dirty="0"/>
              <a:t>	</a:t>
            </a:r>
            <a:r>
              <a:rPr spc="-5" dirty="0"/>
              <a:t>us</a:t>
            </a:r>
            <a:r>
              <a:rPr spc="-15" dirty="0"/>
              <a:t>e</a:t>
            </a:r>
            <a:r>
              <a:rPr dirty="0"/>
              <a:t>d	</a:t>
            </a:r>
            <a:r>
              <a:rPr spc="5" dirty="0"/>
              <a:t>t</a:t>
            </a:r>
            <a:r>
              <a:rPr dirty="0"/>
              <a:t>o	d</a:t>
            </a:r>
            <a:r>
              <a:rPr spc="-10" dirty="0"/>
              <a:t>e</a:t>
            </a:r>
            <a:r>
              <a:rPr dirty="0"/>
              <a:t>te</a:t>
            </a:r>
            <a:r>
              <a:rPr spc="-15" dirty="0"/>
              <a:t>r</a:t>
            </a:r>
            <a:r>
              <a:rPr spc="-20" dirty="0"/>
              <a:t>m</a:t>
            </a:r>
            <a:r>
              <a:rPr dirty="0"/>
              <a:t>ine	how	an	ex</a:t>
            </a:r>
            <a:r>
              <a:rPr spc="-10" dirty="0"/>
              <a:t>p</a:t>
            </a:r>
            <a:r>
              <a:rPr spc="-5" dirty="0"/>
              <a:t>re</a:t>
            </a:r>
            <a:r>
              <a:rPr dirty="0"/>
              <a:t>s</a:t>
            </a:r>
            <a:r>
              <a:rPr spc="-15" dirty="0"/>
              <a:t>s</a:t>
            </a:r>
            <a:r>
              <a:rPr dirty="0"/>
              <a:t>i</a:t>
            </a:r>
            <a:r>
              <a:rPr spc="-10" dirty="0"/>
              <a:t>o</a:t>
            </a:r>
            <a:r>
              <a:rPr dirty="0"/>
              <a:t>n	inv</a:t>
            </a:r>
            <a:r>
              <a:rPr spc="-10" dirty="0"/>
              <a:t>o</a:t>
            </a:r>
            <a:r>
              <a:rPr dirty="0"/>
              <a:t>l</a:t>
            </a:r>
            <a:r>
              <a:rPr spc="-10" dirty="0"/>
              <a:t>v</a:t>
            </a:r>
            <a:r>
              <a:rPr dirty="0"/>
              <a:t>i</a:t>
            </a:r>
            <a:r>
              <a:rPr spc="-10" dirty="0"/>
              <a:t>n</a:t>
            </a:r>
            <a:r>
              <a:rPr dirty="0"/>
              <a:t>g	</a:t>
            </a:r>
            <a:r>
              <a:rPr spc="-20" dirty="0"/>
              <a:t>m</a:t>
            </a:r>
            <a:r>
              <a:rPr dirty="0"/>
              <a:t>ore	t</a:t>
            </a:r>
            <a:r>
              <a:rPr spc="-10" dirty="0"/>
              <a:t>ha</a:t>
            </a:r>
            <a:r>
              <a:rPr dirty="0"/>
              <a:t>n	one  operator</a:t>
            </a:r>
            <a:r>
              <a:rPr spc="-15" dirty="0"/>
              <a:t> </a:t>
            </a:r>
            <a:r>
              <a:rPr dirty="0"/>
              <a:t>is</a:t>
            </a:r>
            <a:r>
              <a:rPr spc="-10" dirty="0"/>
              <a:t> </a:t>
            </a:r>
            <a:r>
              <a:rPr dirty="0"/>
              <a:t>evaluated</a:t>
            </a:r>
          </a:p>
          <a:p>
            <a:pPr marL="108585">
              <a:lnSpc>
                <a:spcPct val="100000"/>
              </a:lnSpc>
              <a:spcBef>
                <a:spcPts val="5"/>
              </a:spcBef>
            </a:pPr>
            <a:endParaRPr sz="2500"/>
          </a:p>
          <a:p>
            <a:pPr marL="121285">
              <a:lnSpc>
                <a:spcPct val="100000"/>
              </a:lnSpc>
            </a:pPr>
            <a:r>
              <a:rPr spc="-5" dirty="0">
                <a:solidFill>
                  <a:srgbClr val="FF0000"/>
                </a:solidFill>
              </a:rPr>
              <a:t>The</a:t>
            </a:r>
            <a:r>
              <a:rPr spc="-1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operators</a:t>
            </a:r>
            <a:r>
              <a:rPr spc="-2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at</a:t>
            </a:r>
            <a:r>
              <a:rPr spc="-1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the</a:t>
            </a:r>
            <a:r>
              <a:rPr spc="-1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highest</a:t>
            </a:r>
            <a:r>
              <a:rPr spc="-1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level</a:t>
            </a:r>
            <a:r>
              <a:rPr spc="-3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are</a:t>
            </a:r>
            <a:r>
              <a:rPr spc="-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evaluated</a:t>
            </a:r>
            <a:r>
              <a:rPr spc="-35"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first</a:t>
            </a:r>
          </a:p>
          <a:p>
            <a:pPr marL="121285" marR="5080">
              <a:lnSpc>
                <a:spcPct val="100000"/>
              </a:lnSpc>
            </a:pPr>
            <a:r>
              <a:rPr dirty="0">
                <a:solidFill>
                  <a:srgbClr val="FF0000"/>
                </a:solidFill>
              </a:rPr>
              <a:t>The</a:t>
            </a:r>
            <a:r>
              <a:rPr spc="95"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operators</a:t>
            </a:r>
            <a:r>
              <a:rPr spc="10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at</a:t>
            </a:r>
            <a:r>
              <a:rPr spc="8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the</a:t>
            </a:r>
            <a:r>
              <a:rPr spc="10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same</a:t>
            </a:r>
            <a:r>
              <a:rPr spc="9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precedence</a:t>
            </a:r>
            <a:r>
              <a:rPr spc="9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are</a:t>
            </a:r>
            <a:r>
              <a:rPr spc="95"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evaluated</a:t>
            </a:r>
            <a:r>
              <a:rPr spc="90"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either</a:t>
            </a:r>
            <a:r>
              <a:rPr spc="11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from</a:t>
            </a:r>
            <a:r>
              <a:rPr spc="7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left</a:t>
            </a:r>
            <a:r>
              <a:rPr spc="10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to</a:t>
            </a:r>
            <a:r>
              <a:rPr spc="95"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right</a:t>
            </a:r>
            <a:r>
              <a:rPr spc="10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or</a:t>
            </a:r>
            <a:r>
              <a:rPr spc="10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from</a:t>
            </a:r>
            <a:r>
              <a:rPr spc="85"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right </a:t>
            </a:r>
            <a:r>
              <a:rPr spc="-58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to</a:t>
            </a:r>
            <a:r>
              <a:rPr spc="-1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left,</a:t>
            </a:r>
            <a:r>
              <a:rPr spc="-10" dirty="0">
                <a:solidFill>
                  <a:srgbClr val="FF0000"/>
                </a:solidFill>
              </a:rPr>
              <a:t> </a:t>
            </a:r>
            <a:r>
              <a:rPr dirty="0"/>
              <a:t>depending</a:t>
            </a:r>
            <a:r>
              <a:rPr spc="-25" dirty="0"/>
              <a:t> </a:t>
            </a:r>
            <a:r>
              <a:rPr dirty="0"/>
              <a:t>on the level.</a:t>
            </a:r>
            <a:r>
              <a:rPr spc="-75" dirty="0"/>
              <a:t> </a:t>
            </a:r>
            <a:r>
              <a:rPr dirty="0"/>
              <a:t>This</a:t>
            </a:r>
            <a:r>
              <a:rPr spc="-10" dirty="0"/>
              <a:t> </a:t>
            </a:r>
            <a:r>
              <a:rPr dirty="0"/>
              <a:t>is</a:t>
            </a:r>
            <a:r>
              <a:rPr spc="-10" dirty="0"/>
              <a:t> </a:t>
            </a:r>
            <a:r>
              <a:rPr dirty="0"/>
              <a:t>known</a:t>
            </a:r>
            <a:r>
              <a:rPr spc="10" dirty="0"/>
              <a:t> </a:t>
            </a:r>
            <a:r>
              <a:rPr spc="-5" dirty="0"/>
              <a:t>as</a:t>
            </a:r>
            <a:r>
              <a:rPr spc="5" dirty="0"/>
              <a:t> </a:t>
            </a:r>
            <a:r>
              <a:rPr spc="-5" dirty="0"/>
              <a:t>associativity</a:t>
            </a:r>
            <a:r>
              <a:rPr spc="-35" dirty="0"/>
              <a:t> </a:t>
            </a:r>
            <a:r>
              <a:rPr dirty="0"/>
              <a:t>property</a:t>
            </a:r>
            <a:r>
              <a:rPr spc="-2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an </a:t>
            </a:r>
            <a:r>
              <a:rPr spc="-15" dirty="0"/>
              <a:t>operator.</a:t>
            </a:r>
          </a:p>
          <a:p>
            <a:pPr marL="108585">
              <a:lnSpc>
                <a:spcPct val="100000"/>
              </a:lnSpc>
              <a:spcBef>
                <a:spcPts val="5"/>
              </a:spcBef>
            </a:pPr>
            <a:endParaRPr sz="2500"/>
          </a:p>
          <a:p>
            <a:pPr marL="1035685" marR="6580505" indent="-915035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Consider </a:t>
            </a:r>
            <a:r>
              <a:rPr dirty="0"/>
              <a:t>the conditional </a:t>
            </a:r>
            <a:r>
              <a:rPr spc="-5" dirty="0"/>
              <a:t>statement, </a:t>
            </a:r>
            <a:r>
              <a:rPr dirty="0"/>
              <a:t> </a:t>
            </a:r>
            <a:r>
              <a:rPr b="1" dirty="0">
                <a:latin typeface="Times New Roman"/>
                <a:cs typeface="Times New Roman"/>
              </a:rPr>
              <a:t>if</a:t>
            </a:r>
            <a:r>
              <a:rPr b="1" spc="-1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(x</a:t>
            </a:r>
            <a:r>
              <a:rPr b="1" spc="-5" dirty="0">
                <a:latin typeface="Times New Roman"/>
                <a:cs typeface="Times New Roman"/>
              </a:rPr>
              <a:t> ==</a:t>
            </a:r>
            <a:r>
              <a:rPr b="1" spc="-15" dirty="0">
                <a:latin typeface="Times New Roman"/>
                <a:cs typeface="Times New Roman"/>
              </a:rPr>
              <a:t> </a:t>
            </a:r>
            <a:r>
              <a:rPr b="1" spc="-5" dirty="0">
                <a:latin typeface="Times New Roman"/>
                <a:cs typeface="Times New Roman"/>
              </a:rPr>
              <a:t>10 +</a:t>
            </a:r>
            <a:r>
              <a:rPr b="1" spc="-15" dirty="0">
                <a:latin typeface="Times New Roman"/>
                <a:cs typeface="Times New Roman"/>
              </a:rPr>
              <a:t> </a:t>
            </a:r>
            <a:r>
              <a:rPr b="1" spc="-5" dirty="0">
                <a:latin typeface="Times New Roman"/>
                <a:cs typeface="Times New Roman"/>
              </a:rPr>
              <a:t>15 &amp;&amp; y</a:t>
            </a:r>
            <a:r>
              <a:rPr b="1" dirty="0">
                <a:latin typeface="Times New Roman"/>
                <a:cs typeface="Times New Roman"/>
              </a:rPr>
              <a:t> </a:t>
            </a:r>
            <a:r>
              <a:rPr b="1" spc="-5" dirty="0">
                <a:latin typeface="Times New Roman"/>
                <a:cs typeface="Times New Roman"/>
              </a:rPr>
              <a:t>&lt;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b="1" spc="-5" dirty="0">
                <a:latin typeface="Times New Roman"/>
                <a:cs typeface="Times New Roman"/>
              </a:rPr>
              <a:t>10) </a:t>
            </a:r>
            <a:r>
              <a:rPr b="1" spc="-58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if</a:t>
            </a:r>
            <a:r>
              <a:rPr b="1" spc="-1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(x</a:t>
            </a:r>
            <a:r>
              <a:rPr b="1" spc="-5" dirty="0">
                <a:latin typeface="Times New Roman"/>
                <a:cs typeface="Times New Roman"/>
              </a:rPr>
              <a:t> ==</a:t>
            </a:r>
            <a:r>
              <a:rPr b="1" spc="-15" dirty="0">
                <a:latin typeface="Times New Roman"/>
                <a:cs typeface="Times New Roman"/>
              </a:rPr>
              <a:t> </a:t>
            </a:r>
            <a:r>
              <a:rPr b="1" spc="-5" dirty="0">
                <a:latin typeface="Times New Roman"/>
                <a:cs typeface="Times New Roman"/>
              </a:rPr>
              <a:t>25 &amp;&amp;</a:t>
            </a:r>
            <a:r>
              <a:rPr b="1" spc="-10" dirty="0">
                <a:latin typeface="Times New Roman"/>
                <a:cs typeface="Times New Roman"/>
              </a:rPr>
              <a:t> </a:t>
            </a:r>
            <a:r>
              <a:rPr b="1" spc="-5" dirty="0">
                <a:solidFill>
                  <a:srgbClr val="FF0000"/>
                </a:solidFill>
                <a:latin typeface="Times New Roman"/>
                <a:cs typeface="Times New Roman"/>
              </a:rPr>
              <a:t>y &lt;</a:t>
            </a:r>
            <a:r>
              <a:rPr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b="1" spc="-5" dirty="0">
                <a:solidFill>
                  <a:srgbClr val="FF0000"/>
                </a:solidFill>
                <a:latin typeface="Times New Roman"/>
                <a:cs typeface="Times New Roman"/>
              </a:rPr>
              <a:t>10</a:t>
            </a:r>
            <a:r>
              <a:rPr b="1" spc="-5" dirty="0">
                <a:latin typeface="Times New Roman"/>
                <a:cs typeface="Times New Roman"/>
              </a:rPr>
              <a:t>)</a:t>
            </a:r>
          </a:p>
          <a:p>
            <a:pPr marL="121285">
              <a:lnSpc>
                <a:spcPct val="100000"/>
              </a:lnSpc>
              <a:tabLst>
                <a:tab pos="447675" algn="l"/>
                <a:tab pos="1988820" algn="l"/>
                <a:tab pos="2703195" algn="l"/>
                <a:tab pos="3857625" algn="l"/>
                <a:tab pos="5029200" algn="l"/>
                <a:tab pos="5591810" algn="l"/>
                <a:tab pos="6628130" algn="l"/>
                <a:tab pos="7696834" algn="l"/>
                <a:tab pos="8376920" algn="l"/>
                <a:tab pos="9362440" algn="l"/>
                <a:tab pos="9958705" algn="l"/>
              </a:tabLst>
            </a:pPr>
            <a:r>
              <a:rPr spc="-10" dirty="0"/>
              <a:t>/</a:t>
            </a:r>
            <a:r>
              <a:rPr dirty="0"/>
              <a:t>/	Pr</a:t>
            </a:r>
            <a:r>
              <a:rPr spc="-10" dirty="0"/>
              <a:t>e</a:t>
            </a:r>
            <a:r>
              <a:rPr dirty="0"/>
              <a:t>ce</a:t>
            </a:r>
            <a:r>
              <a:rPr spc="-10" dirty="0"/>
              <a:t>d</a:t>
            </a:r>
            <a:r>
              <a:rPr dirty="0"/>
              <a:t>e</a:t>
            </a:r>
            <a:r>
              <a:rPr spc="-15" dirty="0"/>
              <a:t>n</a:t>
            </a:r>
            <a:r>
              <a:rPr dirty="0"/>
              <a:t>ce	rul</a:t>
            </a:r>
            <a:r>
              <a:rPr spc="-15" dirty="0"/>
              <a:t>e</a:t>
            </a:r>
            <a:r>
              <a:rPr dirty="0"/>
              <a:t>:	a</a:t>
            </a:r>
            <a:r>
              <a:rPr spc="-15" dirty="0"/>
              <a:t>d</a:t>
            </a:r>
            <a:r>
              <a:rPr dirty="0"/>
              <a:t>d</a:t>
            </a:r>
            <a:r>
              <a:rPr spc="-10" dirty="0"/>
              <a:t>i</a:t>
            </a:r>
            <a:r>
              <a:rPr dirty="0"/>
              <a:t>t</a:t>
            </a:r>
            <a:r>
              <a:rPr spc="5" dirty="0"/>
              <a:t>i</a:t>
            </a:r>
            <a:r>
              <a:rPr dirty="0"/>
              <a:t>on	ope</a:t>
            </a:r>
            <a:r>
              <a:rPr spc="-10" dirty="0"/>
              <a:t>ra</a:t>
            </a:r>
            <a:r>
              <a:rPr dirty="0"/>
              <a:t>tor	</a:t>
            </a:r>
            <a:r>
              <a:rPr spc="-15" dirty="0"/>
              <a:t>h</a:t>
            </a:r>
            <a:r>
              <a:rPr dirty="0"/>
              <a:t>as	</a:t>
            </a:r>
            <a:r>
              <a:rPr spc="-15" dirty="0"/>
              <a:t>h</a:t>
            </a:r>
            <a:r>
              <a:rPr dirty="0"/>
              <a:t>i</a:t>
            </a:r>
            <a:r>
              <a:rPr spc="-10" dirty="0"/>
              <a:t>g</a:t>
            </a:r>
            <a:r>
              <a:rPr dirty="0"/>
              <a:t>hest	</a:t>
            </a:r>
            <a:r>
              <a:rPr spc="-15" dirty="0"/>
              <a:t>p</a:t>
            </a:r>
            <a:r>
              <a:rPr spc="-10" dirty="0"/>
              <a:t>r</a:t>
            </a:r>
            <a:r>
              <a:rPr dirty="0"/>
              <a:t>iori</a:t>
            </a:r>
            <a:r>
              <a:rPr spc="-10" dirty="0"/>
              <a:t>t</a:t>
            </a:r>
            <a:r>
              <a:rPr dirty="0"/>
              <a:t>y	t</a:t>
            </a:r>
            <a:r>
              <a:rPr spc="-10" dirty="0"/>
              <a:t>h</a:t>
            </a:r>
            <a:r>
              <a:rPr dirty="0"/>
              <a:t>an	logic</a:t>
            </a:r>
            <a:r>
              <a:rPr spc="-15" dirty="0"/>
              <a:t>a</a:t>
            </a:r>
            <a:r>
              <a:rPr dirty="0"/>
              <a:t>l	and	</a:t>
            </a:r>
            <a:r>
              <a:rPr spc="-10" dirty="0"/>
              <a:t>r</a:t>
            </a:r>
            <a:r>
              <a:rPr dirty="0"/>
              <a:t>ela</a:t>
            </a:r>
            <a:r>
              <a:rPr spc="-15" dirty="0"/>
              <a:t>t</a:t>
            </a:r>
            <a:r>
              <a:rPr dirty="0"/>
              <a:t>io</a:t>
            </a:r>
            <a:r>
              <a:rPr spc="-10" dirty="0"/>
              <a:t>na</a:t>
            </a:r>
            <a:r>
              <a:rPr dirty="0"/>
              <a:t>l</a:t>
            </a:r>
          </a:p>
          <a:p>
            <a:pPr marL="121285">
              <a:lnSpc>
                <a:spcPct val="100000"/>
              </a:lnSpc>
            </a:pPr>
            <a:r>
              <a:rPr dirty="0"/>
              <a:t>operators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02964" y="1014537"/>
            <a:ext cx="5833872" cy="552494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004" y="208610"/>
            <a:ext cx="794765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45" dirty="0"/>
              <a:t>Precedence</a:t>
            </a:r>
            <a:r>
              <a:rPr sz="4400" spc="-114" dirty="0"/>
              <a:t> </a:t>
            </a:r>
            <a:r>
              <a:rPr sz="4400" spc="-15" dirty="0"/>
              <a:t>of</a:t>
            </a:r>
            <a:r>
              <a:rPr sz="4400" spc="-80" dirty="0"/>
              <a:t> </a:t>
            </a:r>
            <a:r>
              <a:rPr sz="4400" spc="-35" dirty="0"/>
              <a:t>Arithmetic</a:t>
            </a:r>
            <a:r>
              <a:rPr sz="4400" spc="-90" dirty="0"/>
              <a:t> </a:t>
            </a:r>
            <a:r>
              <a:rPr sz="4400" spc="-65" dirty="0"/>
              <a:t>Operators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pPr marL="50165">
                <a:lnSpc>
                  <a:spcPct val="100000"/>
                </a:lnSpc>
                <a:spcBef>
                  <a:spcPts val="5"/>
                </a:spcBef>
              </a:pPr>
              <a:t>11</a:t>
            </a:fld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pPr marL="50165">
                <a:lnSpc>
                  <a:spcPct val="100000"/>
                </a:lnSpc>
                <a:spcBef>
                  <a:spcPts val="5"/>
                </a:spcBef>
              </a:pPr>
              <a:t>12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004" y="208610"/>
            <a:ext cx="794765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45" dirty="0"/>
              <a:t>Precedence</a:t>
            </a:r>
            <a:r>
              <a:rPr sz="4400" spc="-114" dirty="0"/>
              <a:t> </a:t>
            </a:r>
            <a:r>
              <a:rPr sz="4400" spc="-15" dirty="0"/>
              <a:t>of</a:t>
            </a:r>
            <a:r>
              <a:rPr sz="4400" spc="-80" dirty="0"/>
              <a:t> </a:t>
            </a:r>
            <a:r>
              <a:rPr sz="4400" spc="-35" dirty="0"/>
              <a:t>Arithmetic</a:t>
            </a:r>
            <a:r>
              <a:rPr sz="4400" spc="-90" dirty="0"/>
              <a:t> </a:t>
            </a:r>
            <a:r>
              <a:rPr sz="4400" spc="-65" dirty="0"/>
              <a:t>Operators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117803" y="1467433"/>
            <a:ext cx="181673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dirty="0">
                <a:latin typeface="Times New Roman"/>
                <a:cs typeface="Times New Roman"/>
              </a:rPr>
              <a:t>An</a:t>
            </a:r>
            <a:r>
              <a:rPr sz="2600" b="1" spc="-8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example: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7803" y="2260473"/>
            <a:ext cx="2991485" cy="35928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487045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Times New Roman"/>
                <a:cs typeface="Times New Roman"/>
              </a:rPr>
              <a:t>#include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&lt;stdio.h&gt;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int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main()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dirty="0">
                <a:latin typeface="Times New Roman"/>
                <a:cs typeface="Times New Roman"/>
              </a:rPr>
              <a:t>{</a:t>
            </a:r>
            <a:endParaRPr sz="2600">
              <a:latin typeface="Times New Roman"/>
              <a:cs typeface="Times New Roman"/>
            </a:endParaRPr>
          </a:p>
          <a:p>
            <a:pPr marL="12700" marR="854075">
              <a:lnSpc>
                <a:spcPct val="100000"/>
              </a:lnSpc>
            </a:pPr>
            <a:r>
              <a:rPr sz="2600" dirty="0">
                <a:latin typeface="Times New Roman"/>
                <a:cs typeface="Times New Roman"/>
              </a:rPr>
              <a:t>float a,b,c,x; 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a=9;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b=12;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c=3;</a:t>
            </a:r>
            <a:endParaRPr sz="26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600" spc="5" dirty="0">
                <a:latin typeface="Times New Roman"/>
                <a:cs typeface="Times New Roman"/>
              </a:rPr>
              <a:t>x=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-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/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3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+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*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2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-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1;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printf("x=%f", x); 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return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0;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600" dirty="0">
                <a:latin typeface="Times New Roman"/>
                <a:cs typeface="Times New Roman"/>
              </a:rPr>
              <a:t>}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92115" y="5431028"/>
            <a:ext cx="157289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26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U</a:t>
            </a: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U</a:t>
            </a: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?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pPr marL="50165">
                <a:lnSpc>
                  <a:spcPct val="100000"/>
                </a:lnSpc>
                <a:spcBef>
                  <a:spcPts val="5"/>
                </a:spcBef>
              </a:pPr>
              <a:t>13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004" y="208610"/>
            <a:ext cx="742378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30" dirty="0"/>
              <a:t>How</a:t>
            </a:r>
            <a:r>
              <a:rPr sz="4400" spc="-135" dirty="0"/>
              <a:t> </a:t>
            </a:r>
            <a:r>
              <a:rPr sz="4400" spc="-35" dirty="0"/>
              <a:t>to</a:t>
            </a:r>
            <a:r>
              <a:rPr sz="4400" spc="-80" dirty="0"/>
              <a:t> </a:t>
            </a:r>
            <a:r>
              <a:rPr sz="4400" spc="-35" dirty="0"/>
              <a:t>read</a:t>
            </a:r>
            <a:r>
              <a:rPr sz="4400" spc="-125" dirty="0"/>
              <a:t> </a:t>
            </a:r>
            <a:r>
              <a:rPr sz="4400" spc="-50" dirty="0"/>
              <a:t>data</a:t>
            </a:r>
            <a:r>
              <a:rPr sz="4400" spc="-95" dirty="0"/>
              <a:t> </a:t>
            </a:r>
            <a:r>
              <a:rPr sz="4400" spc="-40" dirty="0"/>
              <a:t>from</a:t>
            </a:r>
            <a:r>
              <a:rPr sz="4400" spc="-155" dirty="0"/>
              <a:t> </a:t>
            </a:r>
            <a:r>
              <a:rPr sz="4400" spc="-60" dirty="0"/>
              <a:t>keyboard?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440537" y="1098042"/>
            <a:ext cx="72358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0" dirty="0">
                <a:latin typeface="Calibri"/>
                <a:cs typeface="Calibri"/>
              </a:rPr>
              <a:t>Scanf(“control</a:t>
            </a:r>
            <a:r>
              <a:rPr sz="2800" b="1" spc="15" dirty="0">
                <a:latin typeface="Calibri"/>
                <a:cs typeface="Calibri"/>
              </a:rPr>
              <a:t> </a:t>
            </a:r>
            <a:r>
              <a:rPr sz="2800" b="1" spc="-30" dirty="0">
                <a:latin typeface="Calibri"/>
                <a:cs typeface="Calibri"/>
              </a:rPr>
              <a:t>string”,</a:t>
            </a:r>
            <a:r>
              <a:rPr sz="2800" b="1" spc="3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&amp;variable1,</a:t>
            </a:r>
            <a:r>
              <a:rPr sz="2800" b="1" spc="7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&amp;variable2,..);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0537" y="2120899"/>
            <a:ext cx="34505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30" dirty="0">
                <a:latin typeface="Calibri"/>
                <a:cs typeface="Calibri"/>
              </a:rPr>
              <a:t>Scanf(“%d”,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&amp;number);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37175" y="2127250"/>
            <a:ext cx="4731385" cy="4050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Example: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#include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&lt;stdio.h&gt;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int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main()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int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a,b,sum;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printf("Enter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B: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");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scanf("%d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%d",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&amp;a,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&amp;b);</a:t>
            </a:r>
            <a:endParaRPr sz="2400">
              <a:latin typeface="Times New Roman"/>
              <a:cs typeface="Times New Roman"/>
            </a:endParaRPr>
          </a:p>
          <a:p>
            <a:pPr marL="12700" marR="170243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sum=a+b;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printf("Sum=%d",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sum);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return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pPr marL="50165">
                <a:lnSpc>
                  <a:spcPct val="100000"/>
                </a:lnSpc>
                <a:spcBef>
                  <a:spcPts val="5"/>
                </a:spcBef>
              </a:pPr>
              <a:t>14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1306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30" dirty="0"/>
              <a:t>Simple</a:t>
            </a:r>
            <a:r>
              <a:rPr sz="4400" spc="-140" dirty="0"/>
              <a:t> </a:t>
            </a:r>
            <a:r>
              <a:rPr sz="4400" dirty="0"/>
              <a:t>C</a:t>
            </a:r>
            <a:r>
              <a:rPr sz="4400" spc="-105" dirty="0"/>
              <a:t> </a:t>
            </a:r>
            <a:r>
              <a:rPr sz="4400" spc="-60" dirty="0"/>
              <a:t>Programs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3735704" cy="40309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0" dirty="0">
                <a:latin typeface="Calibri"/>
                <a:cs typeface="Calibri"/>
              </a:rPr>
              <a:t>Program:</a:t>
            </a:r>
            <a:r>
              <a:rPr sz="2800" b="1" spc="15" dirty="0">
                <a:latin typeface="Calibri"/>
                <a:cs typeface="Calibri"/>
              </a:rPr>
              <a:t> </a:t>
            </a:r>
            <a:r>
              <a:rPr sz="2800" b="1" spc="-125" dirty="0">
                <a:latin typeface="Calibri"/>
                <a:cs typeface="Calibri"/>
              </a:rPr>
              <a:t>To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print</a:t>
            </a:r>
            <a:r>
              <a:rPr sz="2800" b="1" spc="-5" dirty="0">
                <a:latin typeface="Calibri"/>
                <a:cs typeface="Calibri"/>
              </a:rPr>
              <a:t> a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30" dirty="0">
                <a:latin typeface="Calibri"/>
                <a:cs typeface="Calibri"/>
              </a:rPr>
              <a:t>text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300">
              <a:latin typeface="Calibri"/>
              <a:cs typeface="Calibri"/>
            </a:endParaRPr>
          </a:p>
          <a:p>
            <a:pPr marL="12700" marR="1071880">
              <a:lnSpc>
                <a:spcPct val="119600"/>
              </a:lnSpc>
              <a:spcBef>
                <a:spcPts val="5"/>
              </a:spcBef>
            </a:pPr>
            <a:r>
              <a:rPr sz="2800" spc="-10" dirty="0">
                <a:latin typeface="Calibri"/>
                <a:cs typeface="Calibri"/>
              </a:rPr>
              <a:t>#include </a:t>
            </a:r>
            <a:r>
              <a:rPr sz="2800" spc="-15" dirty="0">
                <a:latin typeface="Calibri"/>
                <a:cs typeface="Calibri"/>
              </a:rPr>
              <a:t>&lt;stdio.h&gt;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main()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800" spc="-5" dirty="0">
                <a:latin typeface="Calibri"/>
                <a:cs typeface="Calibri"/>
              </a:rPr>
              <a:t>{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ts val="4020"/>
              </a:lnSpc>
              <a:spcBef>
                <a:spcPts val="245"/>
              </a:spcBef>
            </a:pPr>
            <a:r>
              <a:rPr sz="2800" spc="-15" dirty="0">
                <a:latin typeface="Calibri"/>
                <a:cs typeface="Calibri"/>
              </a:rPr>
              <a:t>printf("Hello,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World!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\n");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return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0;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2800" spc="-5" dirty="0">
                <a:latin typeface="Calibri"/>
                <a:cs typeface="Calibri"/>
              </a:rPr>
              <a:t>}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pPr marL="50165">
                <a:lnSpc>
                  <a:spcPct val="100000"/>
                </a:lnSpc>
                <a:spcBef>
                  <a:spcPts val="5"/>
                </a:spcBef>
              </a:pPr>
              <a:t>15</a:t>
            </a:fld>
            <a:endParaRPr dirty="0"/>
          </a:p>
        </p:txBody>
      </p:sp>
      <p:sp>
        <p:nvSpPr>
          <p:cNvPr id="2" name="object 2"/>
          <p:cNvSpPr txBox="1"/>
          <p:nvPr/>
        </p:nvSpPr>
        <p:spPr>
          <a:xfrm>
            <a:off x="459740" y="548716"/>
            <a:ext cx="38188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5" dirty="0">
                <a:solidFill>
                  <a:srgbClr val="FF0000"/>
                </a:solidFill>
                <a:latin typeface="Calibri Light"/>
                <a:cs typeface="Calibri Light"/>
              </a:rPr>
              <a:t>Program:</a:t>
            </a:r>
            <a:r>
              <a:rPr sz="2400" spc="-60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Calibri Light"/>
                <a:cs typeface="Calibri Light"/>
              </a:rPr>
              <a:t>Display</a:t>
            </a:r>
            <a:r>
              <a:rPr sz="2400" spc="-70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2400" spc="-30" dirty="0">
                <a:solidFill>
                  <a:srgbClr val="FF0000"/>
                </a:solidFill>
                <a:latin typeface="Calibri Light"/>
                <a:cs typeface="Calibri Light"/>
              </a:rPr>
              <a:t>Variable</a:t>
            </a:r>
            <a:r>
              <a:rPr sz="2400" spc="-75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2400" spc="-35" dirty="0">
                <a:solidFill>
                  <a:srgbClr val="FF0000"/>
                </a:solidFill>
                <a:latin typeface="Calibri Light"/>
                <a:cs typeface="Calibri Light"/>
              </a:rPr>
              <a:t>Value</a:t>
            </a:r>
            <a:endParaRPr sz="2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9358" y="1450362"/>
            <a:ext cx="2668905" cy="3604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95"/>
              </a:spcBef>
            </a:pPr>
            <a:r>
              <a:rPr sz="2800" spc="-10" dirty="0">
                <a:latin typeface="Calibri"/>
                <a:cs typeface="Calibri"/>
              </a:rPr>
              <a:t>#include </a:t>
            </a:r>
            <a:r>
              <a:rPr sz="2800" spc="-15" dirty="0">
                <a:latin typeface="Calibri"/>
                <a:cs typeface="Calibri"/>
              </a:rPr>
              <a:t>&lt;stdio.h&gt;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main()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2800" spc="-5" dirty="0">
                <a:latin typeface="Calibri"/>
                <a:cs typeface="Calibri"/>
              </a:rPr>
              <a:t>{</a:t>
            </a:r>
            <a:endParaRPr sz="2800">
              <a:latin typeface="Calibri"/>
              <a:cs typeface="Calibri"/>
            </a:endParaRPr>
          </a:p>
          <a:p>
            <a:pPr marL="417830" marR="975994">
              <a:lnSpc>
                <a:spcPts val="4029"/>
              </a:lnSpc>
              <a:spcBef>
                <a:spcPts val="235"/>
              </a:spcBef>
            </a:pPr>
            <a:r>
              <a:rPr sz="2800" spc="-15" dirty="0">
                <a:latin typeface="Calibri"/>
                <a:cs typeface="Calibri"/>
              </a:rPr>
              <a:t>int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a=50;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int </a:t>
            </a:r>
            <a:r>
              <a:rPr sz="2800" spc="-10" dirty="0">
                <a:latin typeface="Calibri"/>
                <a:cs typeface="Calibri"/>
              </a:rPr>
              <a:t>b=5;</a:t>
            </a:r>
            <a:endParaRPr sz="2800">
              <a:latin typeface="Calibri"/>
              <a:cs typeface="Calibri"/>
            </a:endParaRPr>
          </a:p>
          <a:p>
            <a:pPr marL="417830" marR="455930">
              <a:lnSpc>
                <a:spcPts val="4020"/>
              </a:lnSpc>
            </a:pPr>
            <a:r>
              <a:rPr sz="2800" spc="-10" dirty="0">
                <a:latin typeface="Calibri"/>
                <a:cs typeface="Calibri"/>
              </a:rPr>
              <a:t>//a=50,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b=5;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int</a:t>
            </a:r>
            <a:r>
              <a:rPr sz="2800" spc="-5" dirty="0">
                <a:latin typeface="Calibri"/>
                <a:cs typeface="Calibri"/>
              </a:rPr>
              <a:t> c=a+b;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9358" y="5030927"/>
            <a:ext cx="6449695" cy="104648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417830">
              <a:lnSpc>
                <a:spcPct val="100000"/>
              </a:lnSpc>
              <a:spcBef>
                <a:spcPts val="760"/>
              </a:spcBef>
            </a:pPr>
            <a:r>
              <a:rPr sz="2800" spc="-10" dirty="0">
                <a:latin typeface="Calibri"/>
                <a:cs typeface="Calibri"/>
              </a:rPr>
              <a:t>printf("Sum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%d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%d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is: %d",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a,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b,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10" dirty="0">
                <a:latin typeface="Calibri"/>
                <a:cs typeface="Calibri"/>
              </a:rPr>
              <a:t>c);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800" spc="-5" dirty="0">
                <a:latin typeface="Calibri"/>
                <a:cs typeface="Calibri"/>
              </a:rPr>
              <a:t>}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52893" y="1030351"/>
            <a:ext cx="3418840" cy="4050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85215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Calibri"/>
                <a:cs typeface="Calibri"/>
              </a:rPr>
              <a:t>#include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&lt;stdio.h&gt; </a:t>
            </a:r>
            <a:r>
              <a:rPr sz="2400" b="1" spc="-53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main()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Calibri"/>
                <a:cs typeface="Calibri"/>
              </a:rPr>
              <a:t>{</a:t>
            </a:r>
            <a:endParaRPr sz="2400">
              <a:latin typeface="Calibri"/>
              <a:cs typeface="Calibri"/>
            </a:endParaRPr>
          </a:p>
          <a:p>
            <a:pPr marL="12700" marR="1664335">
              <a:lnSpc>
                <a:spcPct val="100000"/>
              </a:lnSpc>
            </a:pPr>
            <a:r>
              <a:rPr sz="2400" b="1" spc="-15" dirty="0">
                <a:latin typeface="Calibri"/>
                <a:cs typeface="Calibri"/>
              </a:rPr>
              <a:t>int </a:t>
            </a:r>
            <a:r>
              <a:rPr sz="2400" b="1" spc="-5" dirty="0">
                <a:latin typeface="Calibri"/>
                <a:cs typeface="Calibri"/>
              </a:rPr>
              <a:t>number; 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float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amount; </a:t>
            </a:r>
            <a:r>
              <a:rPr sz="2400" b="1" spc="-52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number=100;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400" b="1" spc="-5" dirty="0">
                <a:latin typeface="Calibri"/>
                <a:cs typeface="Calibri"/>
              </a:rPr>
              <a:t>amount=32.75+53.50; 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printf("%d",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number); 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printf("\n%4.2f",</a:t>
            </a:r>
            <a:r>
              <a:rPr sz="2400" b="1" spc="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amount);</a:t>
            </a:r>
            <a:endParaRPr sz="2400">
              <a:latin typeface="Calibri"/>
              <a:cs typeface="Calibri"/>
            </a:endParaRPr>
          </a:p>
          <a:p>
            <a:pPr marL="149225">
              <a:lnSpc>
                <a:spcPct val="100000"/>
              </a:lnSpc>
            </a:pPr>
            <a:r>
              <a:rPr sz="2400" b="1" spc="-10" dirty="0">
                <a:latin typeface="Calibri"/>
                <a:cs typeface="Calibri"/>
              </a:rPr>
              <a:t>//return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0;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Calibri"/>
                <a:cs typeface="Calibri"/>
              </a:rPr>
              <a:t>}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pPr marL="50165">
                <a:lnSpc>
                  <a:spcPct val="100000"/>
                </a:lnSpc>
                <a:spcBef>
                  <a:spcPts val="5"/>
                </a:spcBef>
              </a:pPr>
              <a:t>16</a:t>
            </a:fld>
            <a:endParaRPr dirty="0"/>
          </a:p>
        </p:txBody>
      </p:sp>
      <p:sp>
        <p:nvSpPr>
          <p:cNvPr id="2" name="object 2"/>
          <p:cNvSpPr txBox="1"/>
          <p:nvPr/>
        </p:nvSpPr>
        <p:spPr>
          <a:xfrm>
            <a:off x="459740" y="866394"/>
            <a:ext cx="5029200" cy="4953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Program:</a:t>
            </a:r>
            <a:r>
              <a:rPr sz="24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Find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the 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area</a:t>
            </a:r>
            <a:r>
              <a:rPr sz="24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4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square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900">
              <a:latin typeface="Calibri"/>
              <a:cs typeface="Calibri"/>
            </a:endParaRPr>
          </a:p>
          <a:p>
            <a:pPr marL="80645" marR="2807970" indent="-68580">
              <a:lnSpc>
                <a:spcPct val="125000"/>
              </a:lnSpc>
            </a:pPr>
            <a:r>
              <a:rPr sz="2400" dirty="0">
                <a:latin typeface="Calibri"/>
                <a:cs typeface="Calibri"/>
              </a:rPr>
              <a:t>#includ</a:t>
            </a:r>
            <a:r>
              <a:rPr sz="2400" spc="5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&lt;</a:t>
            </a:r>
            <a:r>
              <a:rPr sz="2400" spc="-30" dirty="0">
                <a:latin typeface="Calibri"/>
                <a:cs typeface="Calibri"/>
              </a:rPr>
              <a:t>s</a:t>
            </a:r>
            <a:r>
              <a:rPr sz="2400" spc="-25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dio</a:t>
            </a:r>
            <a:r>
              <a:rPr sz="2400" spc="-15" dirty="0">
                <a:latin typeface="Calibri"/>
                <a:cs typeface="Calibri"/>
              </a:rPr>
              <a:t>.</a:t>
            </a:r>
            <a:r>
              <a:rPr sz="2400" dirty="0">
                <a:latin typeface="Calibri"/>
                <a:cs typeface="Calibri"/>
              </a:rPr>
              <a:t>h&gt;  </a:t>
            </a:r>
            <a:r>
              <a:rPr sz="2400" spc="-10" dirty="0">
                <a:latin typeface="Calibri"/>
                <a:cs typeface="Calibri"/>
              </a:rPr>
              <a:t>int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main()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{</a:t>
            </a:r>
            <a:endParaRPr sz="2400">
              <a:latin typeface="Calibri"/>
              <a:cs typeface="Calibri"/>
            </a:endParaRPr>
          </a:p>
          <a:p>
            <a:pPr marL="216535">
              <a:lnSpc>
                <a:spcPct val="100000"/>
              </a:lnSpc>
              <a:spcBef>
                <a:spcPts val="710"/>
              </a:spcBef>
            </a:pPr>
            <a:r>
              <a:rPr sz="2400" spc="-10" dirty="0">
                <a:latin typeface="Calibri"/>
                <a:cs typeface="Calibri"/>
              </a:rPr>
              <a:t>int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side,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area;</a:t>
            </a:r>
            <a:endParaRPr sz="2400">
              <a:latin typeface="Calibri"/>
              <a:cs typeface="Calibri"/>
            </a:endParaRPr>
          </a:p>
          <a:p>
            <a:pPr marL="216535" marR="5080" indent="68580">
              <a:lnSpc>
                <a:spcPts val="3600"/>
              </a:lnSpc>
              <a:spcBef>
                <a:spcPts val="229"/>
              </a:spcBef>
            </a:pPr>
            <a:r>
              <a:rPr sz="2400" spc="-5" dirty="0">
                <a:latin typeface="Calibri"/>
                <a:cs typeface="Calibri"/>
              </a:rPr>
              <a:t>printf("\n </a:t>
            </a:r>
            <a:r>
              <a:rPr sz="2400" spc="-15" dirty="0">
                <a:latin typeface="Calibri"/>
                <a:cs typeface="Calibri"/>
              </a:rPr>
              <a:t>Enter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Length </a:t>
            </a:r>
            <a:r>
              <a:rPr sz="2400" spc="-5" dirty="0">
                <a:latin typeface="Calibri"/>
                <a:cs typeface="Calibri"/>
              </a:rPr>
              <a:t>of Side </a:t>
            </a:r>
            <a:r>
              <a:rPr sz="2400" dirty="0">
                <a:latin typeface="Calibri"/>
                <a:cs typeface="Calibri"/>
              </a:rPr>
              <a:t>: ");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scanf("%d", </a:t>
            </a:r>
            <a:r>
              <a:rPr sz="2400" spc="-5" dirty="0">
                <a:latin typeface="Calibri"/>
                <a:cs typeface="Calibri"/>
              </a:rPr>
              <a:t>&amp;side);</a:t>
            </a:r>
            <a:endParaRPr sz="2400">
              <a:latin typeface="Calibri"/>
              <a:cs typeface="Calibri"/>
            </a:endParaRPr>
          </a:p>
          <a:p>
            <a:pPr marL="285115">
              <a:lnSpc>
                <a:spcPct val="100000"/>
              </a:lnSpc>
              <a:spcBef>
                <a:spcPts val="465"/>
              </a:spcBef>
            </a:pPr>
            <a:r>
              <a:rPr sz="2400" spc="-10" dirty="0">
                <a:latin typeface="Calibri"/>
                <a:cs typeface="Calibri"/>
              </a:rPr>
              <a:t>area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side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*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side;</a:t>
            </a:r>
            <a:endParaRPr sz="2400">
              <a:latin typeface="Calibri"/>
              <a:cs typeface="Calibri"/>
            </a:endParaRPr>
          </a:p>
          <a:p>
            <a:pPr marL="285115" marR="142875" indent="-68580">
              <a:lnSpc>
                <a:spcPts val="3600"/>
              </a:lnSpc>
              <a:spcBef>
                <a:spcPts val="234"/>
              </a:spcBef>
            </a:pPr>
            <a:r>
              <a:rPr sz="2400" spc="-5" dirty="0">
                <a:latin typeface="Calibri"/>
                <a:cs typeface="Calibri"/>
              </a:rPr>
              <a:t>printf("\n </a:t>
            </a:r>
            <a:r>
              <a:rPr sz="2400" spc="-10" dirty="0">
                <a:latin typeface="Calibri"/>
                <a:cs typeface="Calibri"/>
              </a:rPr>
              <a:t>Area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spc="-10" dirty="0">
                <a:latin typeface="Calibri"/>
                <a:cs typeface="Calibri"/>
              </a:rPr>
              <a:t>Square </a:t>
            </a:r>
            <a:r>
              <a:rPr sz="2400" dirty="0">
                <a:latin typeface="Calibri"/>
                <a:cs typeface="Calibri"/>
              </a:rPr>
              <a:t>: %d", </a:t>
            </a:r>
            <a:r>
              <a:rPr sz="2400" spc="-10" dirty="0">
                <a:latin typeface="Calibri"/>
                <a:cs typeface="Calibri"/>
              </a:rPr>
              <a:t>area);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return</a:t>
            </a:r>
            <a:r>
              <a:rPr sz="2400" spc="-5" dirty="0">
                <a:latin typeface="Calibri"/>
                <a:cs typeface="Calibri"/>
              </a:rPr>
              <a:t> (0);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2400" dirty="0">
                <a:latin typeface="Calibri"/>
                <a:cs typeface="Calibri"/>
              </a:rPr>
              <a:t>}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pPr marL="50165">
                <a:lnSpc>
                  <a:spcPct val="100000"/>
                </a:lnSpc>
                <a:spcBef>
                  <a:spcPts val="5"/>
                </a:spcBef>
              </a:pPr>
              <a:t>17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584" y="44957"/>
            <a:ext cx="532320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Program</a:t>
            </a:r>
            <a:r>
              <a:rPr spc="-85" dirty="0"/>
              <a:t> </a:t>
            </a:r>
            <a:r>
              <a:rPr spc="-20" dirty="0"/>
              <a:t>to</a:t>
            </a:r>
            <a:r>
              <a:rPr spc="-45" dirty="0"/>
              <a:t> </a:t>
            </a:r>
            <a:r>
              <a:rPr spc="-30" dirty="0"/>
              <a:t>calculate</a:t>
            </a:r>
            <a:r>
              <a:rPr spc="-80" dirty="0"/>
              <a:t> </a:t>
            </a:r>
            <a:r>
              <a:rPr spc="-20" dirty="0"/>
              <a:t>simple</a:t>
            </a:r>
            <a:r>
              <a:rPr spc="-80" dirty="0"/>
              <a:t> </a:t>
            </a:r>
            <a:r>
              <a:rPr spc="-35" dirty="0"/>
              <a:t>interest.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3851" y="582096"/>
            <a:ext cx="3514090" cy="58820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1702435" algn="just">
              <a:lnSpc>
                <a:spcPct val="136400"/>
              </a:lnSpc>
              <a:spcBef>
                <a:spcPts val="90"/>
              </a:spcBef>
            </a:pPr>
            <a:r>
              <a:rPr sz="1800" b="1" spc="-5" dirty="0">
                <a:latin typeface="Times New Roman"/>
                <a:cs typeface="Times New Roman"/>
              </a:rPr>
              <a:t>#include</a:t>
            </a:r>
            <a:r>
              <a:rPr sz="1800" spc="-5" dirty="0">
                <a:latin typeface="Times New Roman"/>
                <a:cs typeface="Times New Roman"/>
              </a:rPr>
              <a:t>&lt;</a:t>
            </a:r>
            <a:r>
              <a:rPr sz="1800" b="1" spc="-5" dirty="0">
                <a:latin typeface="Times New Roman"/>
                <a:cs typeface="Times New Roman"/>
              </a:rPr>
              <a:t>stdio.h</a:t>
            </a:r>
            <a:r>
              <a:rPr sz="1800" spc="-5" dirty="0">
                <a:latin typeface="Times New Roman"/>
                <a:cs typeface="Times New Roman"/>
              </a:rPr>
              <a:t>&gt; </a:t>
            </a:r>
            <a:r>
              <a:rPr sz="1800" spc="-4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#inclu</a:t>
            </a:r>
            <a:r>
              <a:rPr sz="1800" b="1" spc="-15" dirty="0">
                <a:latin typeface="Times New Roman"/>
                <a:cs typeface="Times New Roman"/>
              </a:rPr>
              <a:t>d</a:t>
            </a:r>
            <a:r>
              <a:rPr sz="1800" b="1" spc="5" dirty="0">
                <a:latin typeface="Times New Roman"/>
                <a:cs typeface="Times New Roman"/>
              </a:rPr>
              <a:t>e</a:t>
            </a:r>
            <a:r>
              <a:rPr sz="1800" dirty="0">
                <a:latin typeface="Times New Roman"/>
                <a:cs typeface="Times New Roman"/>
              </a:rPr>
              <a:t>&lt;</a:t>
            </a:r>
            <a:r>
              <a:rPr sz="1800" b="1" dirty="0">
                <a:latin typeface="Times New Roman"/>
                <a:cs typeface="Times New Roman"/>
              </a:rPr>
              <a:t>conio.</a:t>
            </a:r>
            <a:r>
              <a:rPr sz="1800" b="1" spc="-5" dirty="0">
                <a:latin typeface="Times New Roman"/>
                <a:cs typeface="Times New Roman"/>
              </a:rPr>
              <a:t>h</a:t>
            </a:r>
            <a:r>
              <a:rPr sz="1800" dirty="0">
                <a:latin typeface="Times New Roman"/>
                <a:cs typeface="Times New Roman"/>
              </a:rPr>
              <a:t>&gt;  </a:t>
            </a:r>
            <a:r>
              <a:rPr sz="1800" b="1" spc="-5" dirty="0">
                <a:latin typeface="Times New Roman"/>
                <a:cs typeface="Times New Roman"/>
              </a:rPr>
              <a:t>int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main()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800" b="1" spc="-5" dirty="0">
                <a:latin typeface="Times New Roman"/>
                <a:cs typeface="Times New Roman"/>
              </a:rPr>
              <a:t>{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800" dirty="0">
                <a:latin typeface="Times New Roman"/>
                <a:cs typeface="Times New Roman"/>
              </a:rPr>
              <a:t>float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p,rate,time,si;</a:t>
            </a:r>
            <a:endParaRPr sz="1800">
              <a:latin typeface="Times New Roman"/>
              <a:cs typeface="Times New Roman"/>
            </a:endParaRPr>
          </a:p>
          <a:p>
            <a:pPr marL="68580" marR="239395">
              <a:lnSpc>
                <a:spcPct val="136100"/>
              </a:lnSpc>
              <a:spcBef>
                <a:spcPts val="15"/>
              </a:spcBef>
            </a:pPr>
            <a:r>
              <a:rPr sz="1800" dirty="0">
                <a:latin typeface="Times New Roman"/>
                <a:cs typeface="Times New Roman"/>
              </a:rPr>
              <a:t>printf("Enter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principal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amount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: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");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scanf("%f", </a:t>
            </a:r>
            <a:r>
              <a:rPr sz="1800" b="1" dirty="0">
                <a:latin typeface="Times New Roman"/>
                <a:cs typeface="Times New Roman"/>
              </a:rPr>
              <a:t>&amp;</a:t>
            </a:r>
            <a:r>
              <a:rPr sz="1800" dirty="0">
                <a:latin typeface="Times New Roman"/>
                <a:cs typeface="Times New Roman"/>
              </a:rPr>
              <a:t>p);</a:t>
            </a:r>
            <a:endParaRPr sz="1800">
              <a:latin typeface="Times New Roman"/>
              <a:cs typeface="Times New Roman"/>
            </a:endParaRPr>
          </a:p>
          <a:p>
            <a:pPr marL="68580">
              <a:lnSpc>
                <a:spcPct val="100000"/>
              </a:lnSpc>
              <a:spcBef>
                <a:spcPts val="780"/>
              </a:spcBef>
            </a:pPr>
            <a:r>
              <a:rPr sz="1800" dirty="0">
                <a:latin typeface="Times New Roman"/>
                <a:cs typeface="Times New Roman"/>
              </a:rPr>
              <a:t>printf("Enter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rate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interest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: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");</a:t>
            </a:r>
            <a:endParaRPr sz="1800">
              <a:latin typeface="Times New Roman"/>
              <a:cs typeface="Times New Roman"/>
            </a:endParaRPr>
          </a:p>
          <a:p>
            <a:pPr marL="68580">
              <a:lnSpc>
                <a:spcPct val="100000"/>
              </a:lnSpc>
              <a:spcBef>
                <a:spcPts val="790"/>
              </a:spcBef>
            </a:pPr>
            <a:r>
              <a:rPr sz="1800" dirty="0">
                <a:latin typeface="Times New Roman"/>
                <a:cs typeface="Times New Roman"/>
              </a:rPr>
              <a:t>scanf("%f",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&amp;</a:t>
            </a:r>
            <a:r>
              <a:rPr sz="1800" dirty="0">
                <a:latin typeface="Times New Roman"/>
                <a:cs typeface="Times New Roman"/>
              </a:rPr>
              <a:t>rate);</a:t>
            </a:r>
            <a:endParaRPr sz="1800">
              <a:latin typeface="Times New Roman"/>
              <a:cs typeface="Times New Roman"/>
            </a:endParaRPr>
          </a:p>
          <a:p>
            <a:pPr marL="68580" marR="5080">
              <a:lnSpc>
                <a:spcPct val="136100"/>
              </a:lnSpc>
              <a:spcBef>
                <a:spcPts val="5"/>
              </a:spcBef>
            </a:pPr>
            <a:r>
              <a:rPr sz="1800" dirty="0">
                <a:latin typeface="Times New Roman"/>
                <a:cs typeface="Times New Roman"/>
              </a:rPr>
              <a:t>printf("Enter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time </a:t>
            </a:r>
            <a:r>
              <a:rPr sz="1800" dirty="0">
                <a:latin typeface="Times New Roman"/>
                <a:cs typeface="Times New Roman"/>
              </a:rPr>
              <a:t>period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year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:</a:t>
            </a:r>
            <a:r>
              <a:rPr sz="1800" spc="-5" dirty="0">
                <a:latin typeface="Times New Roman"/>
                <a:cs typeface="Times New Roman"/>
              </a:rPr>
              <a:t> ");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scanf("%f", </a:t>
            </a:r>
            <a:r>
              <a:rPr sz="1800" b="1" spc="-5" dirty="0">
                <a:latin typeface="Times New Roman"/>
                <a:cs typeface="Times New Roman"/>
              </a:rPr>
              <a:t>&amp;</a:t>
            </a:r>
            <a:r>
              <a:rPr sz="1800" spc="-5" dirty="0">
                <a:latin typeface="Times New Roman"/>
                <a:cs typeface="Times New Roman"/>
              </a:rPr>
              <a:t>time);</a:t>
            </a:r>
            <a:endParaRPr sz="1800">
              <a:latin typeface="Times New Roman"/>
              <a:cs typeface="Times New Roman"/>
            </a:endParaRPr>
          </a:p>
          <a:p>
            <a:pPr marL="68580" marR="235585" indent="-56515">
              <a:lnSpc>
                <a:spcPct val="136200"/>
              </a:lnSpc>
              <a:spcBef>
                <a:spcPts val="10"/>
              </a:spcBef>
            </a:pPr>
            <a:r>
              <a:rPr sz="1800" dirty="0">
                <a:latin typeface="Times New Roman"/>
                <a:cs typeface="Times New Roman"/>
              </a:rPr>
              <a:t>/*calculating </a:t>
            </a:r>
            <a:r>
              <a:rPr sz="1800" spc="-5" dirty="0">
                <a:latin typeface="Times New Roman"/>
                <a:cs typeface="Times New Roman"/>
              </a:rPr>
              <a:t>simple </a:t>
            </a:r>
            <a:r>
              <a:rPr sz="1800" dirty="0">
                <a:latin typeface="Times New Roman"/>
                <a:cs typeface="Times New Roman"/>
              </a:rPr>
              <a:t>interest*/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si=(p*time*rate)/100;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printf("\nSimple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Interest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%f",si);</a:t>
            </a:r>
            <a:endParaRPr sz="1800">
              <a:latin typeface="Times New Roman"/>
              <a:cs typeface="Times New Roman"/>
            </a:endParaRPr>
          </a:p>
          <a:p>
            <a:pPr marR="2494915" algn="r">
              <a:lnSpc>
                <a:spcPts val="1945"/>
              </a:lnSpc>
            </a:pPr>
            <a:r>
              <a:rPr sz="1800" dirty="0">
                <a:latin typeface="Times New Roman"/>
                <a:cs typeface="Times New Roman"/>
              </a:rPr>
              <a:t>getch();</a:t>
            </a:r>
            <a:endParaRPr sz="1800">
              <a:latin typeface="Times New Roman"/>
              <a:cs typeface="Times New Roman"/>
            </a:endParaRPr>
          </a:p>
          <a:p>
            <a:pPr marR="2479040" algn="r">
              <a:lnSpc>
                <a:spcPct val="100000"/>
              </a:lnSpc>
              <a:spcBef>
                <a:spcPts val="790"/>
              </a:spcBef>
            </a:pPr>
            <a:r>
              <a:rPr sz="1800" b="1" spc="-10" dirty="0">
                <a:latin typeface="Times New Roman"/>
                <a:cs typeface="Times New Roman"/>
              </a:rPr>
              <a:t>return</a:t>
            </a:r>
            <a:r>
              <a:rPr sz="1800" b="1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0;</a:t>
            </a:r>
            <a:r>
              <a:rPr sz="1800" b="1" dirty="0"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9465" y="1311881"/>
            <a:ext cx="3755359" cy="507066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4492" y="211912"/>
            <a:ext cx="4569460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Program</a:t>
            </a:r>
            <a:r>
              <a:rPr spc="-85" dirty="0"/>
              <a:t> </a:t>
            </a:r>
            <a:r>
              <a:rPr spc="-15" dirty="0"/>
              <a:t>to</a:t>
            </a:r>
            <a:r>
              <a:rPr spc="-50" dirty="0"/>
              <a:t> </a:t>
            </a:r>
            <a:r>
              <a:rPr spc="-30" dirty="0"/>
              <a:t>swap</a:t>
            </a:r>
            <a:r>
              <a:rPr spc="-80" dirty="0"/>
              <a:t> </a:t>
            </a:r>
            <a:r>
              <a:rPr spc="-20" dirty="0"/>
              <a:t>two</a:t>
            </a:r>
            <a:r>
              <a:rPr spc="-70" dirty="0"/>
              <a:t> </a:t>
            </a:r>
            <a:r>
              <a:rPr spc="-35" dirty="0"/>
              <a:t>numbers.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pPr marL="50165">
                <a:lnSpc>
                  <a:spcPct val="100000"/>
                </a:lnSpc>
                <a:spcBef>
                  <a:spcPts val="5"/>
                </a:spcBef>
              </a:pPr>
              <a:t>18</a:t>
            </a:fld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</TotalTime>
  <Words>651</Words>
  <Application>Microsoft Office PowerPoint</Application>
  <PresentationFormat>Custom</PresentationFormat>
  <Paragraphs>155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Operators in C</vt:lpstr>
      <vt:lpstr>Operators in C</vt:lpstr>
      <vt:lpstr>Operators in C</vt:lpstr>
      <vt:lpstr>Operators in C</vt:lpstr>
      <vt:lpstr>Operators in C</vt:lpstr>
      <vt:lpstr>Operators in C</vt:lpstr>
      <vt:lpstr>Operators in C</vt:lpstr>
      <vt:lpstr>Operators in C</vt:lpstr>
      <vt:lpstr>Operators in C</vt:lpstr>
      <vt:lpstr>Operator Precedence and Associativity</vt:lpstr>
      <vt:lpstr>Precedence of Arithmetic Operators</vt:lpstr>
      <vt:lpstr>Precedence of Arithmetic Operators</vt:lpstr>
      <vt:lpstr>How to read data from keyboard?</vt:lpstr>
      <vt:lpstr>Simple C Programs</vt:lpstr>
      <vt:lpstr>Slide 15</vt:lpstr>
      <vt:lpstr>Slide 16</vt:lpstr>
      <vt:lpstr>Program to calculate simple interest.</vt:lpstr>
      <vt:lpstr>Program to swap two numbers.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</dc:title>
  <dc:creator>Admin</dc:creator>
  <cp:lastModifiedBy>ELCOT</cp:lastModifiedBy>
  <cp:revision>6</cp:revision>
  <dcterms:created xsi:type="dcterms:W3CDTF">2023-02-15T17:42:32Z</dcterms:created>
  <dcterms:modified xsi:type="dcterms:W3CDTF">2023-02-27T15:23:16Z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2022-02-18T00:00:00Z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2023-02-15T00:00:00Z</vt:filetime>
  </property>
</Properties>
</file>