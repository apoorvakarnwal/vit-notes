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70" r:id="rId5"/>
    <p:sldId id="258" r:id="rId6"/>
    <p:sldId id="266" r:id="rId7"/>
    <p:sldId id="259" r:id="rId8"/>
    <p:sldId id="274" r:id="rId9"/>
    <p:sldId id="267" r:id="rId10"/>
    <p:sldId id="260" r:id="rId11"/>
    <p:sldId id="268" r:id="rId12"/>
    <p:sldId id="269" r:id="rId13"/>
    <p:sldId id="271" r:id="rId14"/>
    <p:sldId id="272" r:id="rId15"/>
    <p:sldId id="273" r:id="rId16"/>
    <p:sldId id="262" r:id="rId17"/>
    <p:sldId id="27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3FF9CAD-C6B9-4B25-A20C-296A01DE191D}" type="datetimeFigureOut">
              <a:rPr lang="en-IN" smtClean="0"/>
              <a:t>21-02-2022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2940215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FF9CAD-C6B9-4B25-A20C-296A01DE191D}" type="datetimeFigureOut">
              <a:rPr lang="en-IN" smtClean="0"/>
              <a:t>21-02-2022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2653637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FF9CAD-C6B9-4B25-A20C-296A01DE191D}" type="datetimeFigureOut">
              <a:rPr lang="en-IN" smtClean="0"/>
              <a:t>21-02-2022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4078383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3FF9CAD-C6B9-4B25-A20C-296A01DE191D}" type="datetimeFigureOut">
              <a:rPr lang="en-IN" smtClean="0"/>
              <a:t>21-02-2022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3377865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3FF9CAD-C6B9-4B25-A20C-296A01DE191D}" type="datetimeFigureOut">
              <a:rPr lang="en-IN" smtClean="0"/>
              <a:t>21-02-2022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3865082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3FF9CAD-C6B9-4B25-A20C-296A01DE191D}" type="datetimeFigureOut">
              <a:rPr lang="en-IN" smtClean="0"/>
              <a:t>21-02-2022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1584151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FF9CAD-C6B9-4B25-A20C-296A01DE191D}" type="datetimeFigureOut">
              <a:rPr lang="en-IN" smtClean="0"/>
              <a:t>21-02-2022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1457755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FF9CAD-C6B9-4B25-A20C-296A01DE191D}" type="datetimeFigureOut">
              <a:rPr lang="en-IN" smtClean="0"/>
              <a:t>21-02-2022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7666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FF9CAD-C6B9-4B25-A20C-296A01DE191D}" type="datetimeFigureOut">
              <a:rPr lang="en-IN" smtClean="0"/>
              <a:t>21-02-2022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2641001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FF9CAD-C6B9-4B25-A20C-296A01DE191D}" type="datetimeFigureOut">
              <a:rPr lang="en-IN" smtClean="0"/>
              <a:t>21-02-2022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3406523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FF9CAD-C6B9-4B25-A20C-296A01DE191D}" type="datetimeFigureOut">
              <a:rPr lang="en-IN" smtClean="0"/>
              <a:t>21-02-2022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9D086-A2EE-4E62-B1B9-CCF67F1EC983}" type="slidenum">
              <a:rPr lang="en-IN" smtClean="0"/>
              <a:t>‹#›</a:t>
            </a:fld>
            <a:endParaRPr lang="en-IN"/>
          </a:p>
        </p:txBody>
      </p:sp>
    </p:spTree>
    <p:extLst>
      <p:ext uri="{BB962C8B-B14F-4D97-AF65-F5344CB8AC3E}">
        <p14:creationId xmlns:p14="http://schemas.microsoft.com/office/powerpoint/2010/main" val="423588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F9CAD-C6B9-4B25-A20C-296A01DE191D}" type="datetimeFigureOut">
              <a:rPr lang="en-IN" smtClean="0"/>
              <a:t>21-02-2022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A9D086-A2EE-4E62-B1B9-CCF67F1EC983}" type="slidenum">
              <a:rPr lang="en-IN" smtClean="0"/>
              <a:t>‹#›</a:t>
            </a:fld>
            <a:endParaRPr lang="en-IN"/>
          </a:p>
        </p:txBody>
      </p:sp>
    </p:spTree>
    <p:extLst>
      <p:ext uri="{BB962C8B-B14F-4D97-AF65-F5344CB8AC3E}">
        <p14:creationId xmlns:p14="http://schemas.microsoft.com/office/powerpoint/2010/main" val="3004488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tutorialspoint.com/cprogramming/nested_switch_statements_in_c.ht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Selection statements</a:t>
            </a:r>
            <a:endParaRPr lang="en-IN" dirty="0"/>
          </a:p>
        </p:txBody>
      </p:sp>
      <p:sp>
        <p:nvSpPr>
          <p:cNvPr id="3" name="Subtitle 2"/>
          <p:cNvSpPr>
            <a:spLocks noGrp="1"/>
          </p:cNvSpPr>
          <p:nvPr>
            <p:ph type="subTitle" idx="1"/>
          </p:nvPr>
        </p:nvSpPr>
        <p:spPr/>
        <p:txBody>
          <a:bodyPr>
            <a:normAutofit/>
          </a:bodyPr>
          <a:lstStyle/>
          <a:p>
            <a:pPr algn="l"/>
            <a:endParaRPr lang="en-IN" dirty="0"/>
          </a:p>
        </p:txBody>
      </p:sp>
    </p:spTree>
    <p:extLst>
      <p:ext uri="{BB962C8B-B14F-4D97-AF65-F5344CB8AC3E}">
        <p14:creationId xmlns:p14="http://schemas.microsoft.com/office/powerpoint/2010/main" val="3962822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dirty="0"/>
              <a:t>Decision Making</a:t>
            </a:r>
            <a:br>
              <a:rPr lang="en-IN" dirty="0"/>
            </a:br>
            <a:endParaRPr lang="en-IN" dirty="0"/>
          </a:p>
        </p:txBody>
      </p:sp>
      <p:sp>
        <p:nvSpPr>
          <p:cNvPr id="3" name="Rectangle 2"/>
          <p:cNvSpPr/>
          <p:nvPr/>
        </p:nvSpPr>
        <p:spPr>
          <a:xfrm>
            <a:off x="4355976" y="1368930"/>
            <a:ext cx="4572000" cy="2246769"/>
          </a:xfrm>
          <a:prstGeom prst="rect">
            <a:avLst/>
          </a:prstGeom>
        </p:spPr>
        <p:txBody>
          <a:bodyPr>
            <a:spAutoFit/>
          </a:bodyPr>
          <a:lstStyle/>
          <a:p>
            <a:r>
              <a:rPr lang="en-US" sz="2800" dirty="0"/>
              <a:t>Conditional statements are used in the C programming language for making certain decisions on the basis of the available conditions.</a:t>
            </a:r>
            <a:endParaRPr lang="en-IN"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484784"/>
            <a:ext cx="3407626"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1210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If </a:t>
            </a:r>
            <a:r>
              <a:rPr lang="en-IN" dirty="0" smtClean="0"/>
              <a:t>Statements</a:t>
            </a:r>
            <a:endParaRPr lang="en-IN" dirty="0"/>
          </a:p>
        </p:txBody>
      </p:sp>
      <p:sp>
        <p:nvSpPr>
          <p:cNvPr id="3" name="Content Placeholder 2"/>
          <p:cNvSpPr>
            <a:spLocks noGrp="1"/>
          </p:cNvSpPr>
          <p:nvPr>
            <p:ph idx="1"/>
          </p:nvPr>
        </p:nvSpPr>
        <p:spPr/>
        <p:txBody>
          <a:bodyPr/>
          <a:lstStyle/>
          <a:p>
            <a:r>
              <a:rPr lang="en-US" dirty="0"/>
              <a:t>Simple else or Null </a:t>
            </a:r>
            <a:r>
              <a:rPr lang="en-US" dirty="0" smtClean="0"/>
              <a:t>else</a:t>
            </a:r>
          </a:p>
          <a:p>
            <a:r>
              <a:rPr lang="en-US" dirty="0"/>
              <a:t>If… </a:t>
            </a:r>
            <a:r>
              <a:rPr lang="en-US" dirty="0" smtClean="0"/>
              <a:t>else</a:t>
            </a:r>
          </a:p>
          <a:p>
            <a:r>
              <a:rPr lang="en-US" dirty="0"/>
              <a:t>Nested if</a:t>
            </a:r>
          </a:p>
          <a:p>
            <a:r>
              <a:rPr lang="en-US" dirty="0" smtClean="0"/>
              <a:t>Else </a:t>
            </a:r>
            <a:r>
              <a:rPr lang="en-US" dirty="0"/>
              <a:t>if ladder</a:t>
            </a:r>
          </a:p>
          <a:p>
            <a:endParaRPr lang="en-IN" dirty="0"/>
          </a:p>
        </p:txBody>
      </p:sp>
    </p:spTree>
    <p:extLst>
      <p:ext uri="{BB962C8B-B14F-4D97-AF65-F5344CB8AC3E}">
        <p14:creationId xmlns:p14="http://schemas.microsoft.com/office/powerpoint/2010/main" val="139018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Simple Else or Null </a:t>
            </a:r>
            <a:r>
              <a:rPr lang="en-US" dirty="0" smtClean="0"/>
              <a:t>Else</a:t>
            </a:r>
            <a:endParaRPr lang="en-IN" dirty="0"/>
          </a:p>
        </p:txBody>
      </p:sp>
      <p:sp>
        <p:nvSpPr>
          <p:cNvPr id="5" name="Content Placeholder 4"/>
          <p:cNvSpPr>
            <a:spLocks noGrp="1"/>
          </p:cNvSpPr>
          <p:nvPr>
            <p:ph sz="half" idx="1"/>
          </p:nvPr>
        </p:nvSpPr>
        <p:spPr>
          <a:xfrm>
            <a:off x="457200" y="1600201"/>
            <a:ext cx="4474840" cy="1324744"/>
          </a:xfrm>
        </p:spPr>
        <p:txBody>
          <a:bodyPr>
            <a:normAutofit fontScale="77500" lnSpcReduction="20000"/>
          </a:bodyPr>
          <a:lstStyle/>
          <a:p>
            <a:r>
              <a:rPr lang="en-US" dirty="0"/>
              <a:t>This condition occurs when a programmer can skip or execute a set of various instructions on the basis of the condition value.</a:t>
            </a:r>
            <a:endParaRPr lang="en-IN" dirty="0"/>
          </a:p>
        </p:txBody>
      </p:sp>
      <p:sp>
        <p:nvSpPr>
          <p:cNvPr id="6" name="Content Placeholder 5"/>
          <p:cNvSpPr>
            <a:spLocks noGrp="1"/>
          </p:cNvSpPr>
          <p:nvPr>
            <p:ph sz="half" idx="2"/>
          </p:nvPr>
        </p:nvSpPr>
        <p:spPr>
          <a:xfrm>
            <a:off x="5508104" y="1600200"/>
            <a:ext cx="3178696" cy="4525963"/>
          </a:xfrm>
        </p:spPr>
        <p:txBody>
          <a:bodyPr>
            <a:normAutofit fontScale="77500" lnSpcReduction="20000"/>
          </a:bodyPr>
          <a:lstStyle/>
          <a:p>
            <a:pPr marL="0" indent="0">
              <a:buNone/>
            </a:pPr>
            <a:r>
              <a:rPr lang="en-US" dirty="0"/>
              <a:t>If (condition1)</a:t>
            </a:r>
          </a:p>
          <a:p>
            <a:pPr marL="0" indent="0">
              <a:buNone/>
            </a:pPr>
            <a:r>
              <a:rPr lang="en-US" dirty="0"/>
              <a:t>{</a:t>
            </a:r>
          </a:p>
          <a:p>
            <a:pPr marL="0" indent="0">
              <a:buNone/>
            </a:pPr>
            <a:r>
              <a:rPr lang="en-US" dirty="0"/>
              <a:t>Statement 1 (s1);</a:t>
            </a:r>
          </a:p>
          <a:p>
            <a:pPr marL="0" indent="0">
              <a:buNone/>
            </a:pPr>
            <a:r>
              <a:rPr lang="en-US" dirty="0"/>
              <a:t>}</a:t>
            </a:r>
          </a:p>
          <a:p>
            <a:pPr marL="0" indent="0">
              <a:buNone/>
            </a:pPr>
            <a:r>
              <a:rPr lang="en-US" dirty="0"/>
              <a:t>Statement 2 (s2);</a:t>
            </a:r>
          </a:p>
          <a:p>
            <a:endParaRPr lang="en-IN"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852936"/>
            <a:ext cx="2827246" cy="35730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200" dirty="0"/>
              <a:t>Simple Else or Null </a:t>
            </a:r>
            <a:r>
              <a:rPr lang="en-US" sz="3200" dirty="0" smtClean="0"/>
              <a:t>Else Example</a:t>
            </a:r>
            <a:r>
              <a:rPr lang="en-IN" sz="3200" dirty="0" smtClean="0"/>
              <a:t/>
            </a:r>
            <a:br>
              <a:rPr lang="en-IN" sz="3200" dirty="0" smtClean="0"/>
            </a:br>
            <a:endParaRPr lang="en-IN" sz="3200" dirty="0"/>
          </a:p>
        </p:txBody>
      </p:sp>
      <p:sp>
        <p:nvSpPr>
          <p:cNvPr id="5" name="Content Placeholder 4"/>
          <p:cNvSpPr>
            <a:spLocks noGrp="1"/>
          </p:cNvSpPr>
          <p:nvPr>
            <p:ph idx="1"/>
          </p:nvPr>
        </p:nvSpPr>
        <p:spPr/>
        <p:txBody>
          <a:bodyPr>
            <a:normAutofit fontScale="70000" lnSpcReduction="20000"/>
          </a:bodyPr>
          <a:lstStyle/>
          <a:p>
            <a:pPr marL="0" indent="0">
              <a:buNone/>
            </a:pPr>
            <a:r>
              <a:rPr lang="en-IN" dirty="0" smtClean="0"/>
              <a:t>#include &lt;</a:t>
            </a:r>
            <a:r>
              <a:rPr lang="en-IN" dirty="0" err="1" smtClean="0"/>
              <a:t>stdio.h</a:t>
            </a:r>
            <a:r>
              <a:rPr lang="en-IN" dirty="0" smtClean="0"/>
              <a:t>&gt;</a:t>
            </a:r>
          </a:p>
          <a:p>
            <a:pPr marL="0" indent="0">
              <a:buNone/>
            </a:pPr>
            <a:r>
              <a:rPr lang="en-IN" dirty="0" err="1" smtClean="0"/>
              <a:t>int</a:t>
            </a:r>
            <a:r>
              <a:rPr lang="en-IN" dirty="0" smtClean="0"/>
              <a:t> main ()</a:t>
            </a:r>
          </a:p>
          <a:p>
            <a:pPr marL="0" indent="0">
              <a:buNone/>
            </a:pPr>
            <a:r>
              <a:rPr lang="en-IN" dirty="0" smtClean="0"/>
              <a:t> {</a:t>
            </a:r>
          </a:p>
          <a:p>
            <a:pPr marL="0" indent="0">
              <a:buNone/>
            </a:pPr>
            <a:r>
              <a:rPr lang="en-IN" dirty="0" smtClean="0"/>
              <a:t>    </a:t>
            </a:r>
            <a:r>
              <a:rPr lang="en-IN" dirty="0" err="1" smtClean="0"/>
              <a:t>int</a:t>
            </a:r>
            <a:r>
              <a:rPr lang="en-IN" dirty="0" smtClean="0"/>
              <a:t> a </a:t>
            </a:r>
            <a:r>
              <a:rPr lang="en-IN" dirty="0" smtClean="0"/>
              <a:t>;</a:t>
            </a:r>
          </a:p>
          <a:p>
            <a:pPr marL="0" indent="0">
              <a:buNone/>
            </a:pPr>
            <a:endParaRPr lang="en-IN" dirty="0" smtClean="0"/>
          </a:p>
          <a:p>
            <a:pPr marL="0" indent="0">
              <a:buNone/>
            </a:pPr>
            <a:r>
              <a:rPr lang="en-IN" dirty="0" smtClean="0"/>
              <a:t>    if( a &lt; 20 )</a:t>
            </a:r>
          </a:p>
          <a:p>
            <a:pPr marL="0" indent="0">
              <a:buNone/>
            </a:pPr>
            <a:r>
              <a:rPr lang="en-IN" dirty="0" smtClean="0"/>
              <a:t>   {</a:t>
            </a:r>
          </a:p>
          <a:p>
            <a:pPr marL="0" indent="0">
              <a:buNone/>
            </a:pPr>
            <a:r>
              <a:rPr lang="en-IN" dirty="0" smtClean="0"/>
              <a:t>     </a:t>
            </a:r>
            <a:r>
              <a:rPr lang="en-IN" dirty="0" err="1" smtClean="0"/>
              <a:t>printf</a:t>
            </a:r>
            <a:r>
              <a:rPr lang="en-IN" dirty="0" smtClean="0"/>
              <a:t>("a is less than 20\n" );</a:t>
            </a:r>
          </a:p>
          <a:p>
            <a:pPr marL="0" indent="0">
              <a:buNone/>
            </a:pPr>
            <a:r>
              <a:rPr lang="en-IN" dirty="0" smtClean="0"/>
              <a:t>    }</a:t>
            </a:r>
          </a:p>
          <a:p>
            <a:pPr marL="0" indent="0">
              <a:buNone/>
            </a:pPr>
            <a:r>
              <a:rPr lang="en-IN" dirty="0" smtClean="0"/>
              <a:t>   </a:t>
            </a:r>
            <a:r>
              <a:rPr lang="en-IN" dirty="0" err="1" smtClean="0"/>
              <a:t>printf</a:t>
            </a:r>
            <a:r>
              <a:rPr lang="en-IN" dirty="0" smtClean="0"/>
              <a:t>("value of a is : %d\n", a);</a:t>
            </a:r>
          </a:p>
          <a:p>
            <a:pPr marL="0" indent="0">
              <a:buNone/>
            </a:pPr>
            <a:r>
              <a:rPr lang="en-IN" dirty="0" smtClean="0"/>
              <a:t>   return 0;</a:t>
            </a:r>
          </a:p>
          <a:p>
            <a:pPr marL="0" indent="0">
              <a:buNone/>
            </a:pPr>
            <a:r>
              <a:rPr lang="en-IN" dirty="0" smtClean="0"/>
              <a:t>}</a:t>
            </a:r>
            <a:endParaRPr lang="en-IN" dirty="0"/>
          </a:p>
        </p:txBody>
      </p:sp>
    </p:spTree>
    <p:extLst>
      <p:ext uri="{BB962C8B-B14F-4D97-AF65-F5344CB8AC3E}">
        <p14:creationId xmlns:p14="http://schemas.microsoft.com/office/powerpoint/2010/main" val="19159766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8680"/>
            <a:ext cx="8229600" cy="868958"/>
          </a:xfrm>
        </p:spPr>
        <p:txBody>
          <a:bodyPr>
            <a:noAutofit/>
          </a:bodyPr>
          <a:lstStyle/>
          <a:p>
            <a:r>
              <a:rPr lang="en-IN" sz="3600" dirty="0"/>
              <a:t>If… Else Statement </a:t>
            </a:r>
            <a:r>
              <a:rPr lang="en-IN" sz="2400" dirty="0" smtClean="0"/>
              <a:t/>
            </a:r>
            <a:br>
              <a:rPr lang="en-IN" sz="2400" dirty="0" smtClean="0"/>
            </a:br>
            <a:r>
              <a:rPr lang="en-IN" sz="2400" b="1" dirty="0" smtClean="0"/>
              <a:t>	</a:t>
            </a:r>
            <a:r>
              <a:rPr lang="en-IN" sz="2400" dirty="0" smtClean="0"/>
              <a:t>An </a:t>
            </a:r>
            <a:r>
              <a:rPr lang="en-IN" sz="2400" b="1" dirty="0" smtClean="0"/>
              <a:t>if statement</a:t>
            </a:r>
            <a:r>
              <a:rPr lang="en-IN" sz="2400" dirty="0" smtClean="0"/>
              <a:t> consists of a </a:t>
            </a:r>
            <a:r>
              <a:rPr lang="en-IN" sz="2400" dirty="0" smtClean="0"/>
              <a:t>Boolean </a:t>
            </a:r>
            <a:r>
              <a:rPr lang="en-IN" sz="2400" dirty="0" smtClean="0"/>
              <a:t>expression followed by one or more statements.</a:t>
            </a:r>
            <a:br>
              <a:rPr lang="en-IN" sz="2400" dirty="0" smtClean="0"/>
            </a:br>
            <a:endParaRPr lang="en-IN" sz="2400" dirty="0"/>
          </a:p>
        </p:txBody>
      </p:sp>
      <p:sp>
        <p:nvSpPr>
          <p:cNvPr id="5" name="Content Placeholder 4"/>
          <p:cNvSpPr>
            <a:spLocks noGrp="1"/>
          </p:cNvSpPr>
          <p:nvPr>
            <p:ph sz="half" idx="2"/>
          </p:nvPr>
        </p:nvSpPr>
        <p:spPr>
          <a:xfrm>
            <a:off x="4283968" y="1600200"/>
            <a:ext cx="4402832" cy="4525963"/>
          </a:xfrm>
        </p:spPr>
        <p:txBody>
          <a:bodyPr>
            <a:normAutofit lnSpcReduction="10000"/>
          </a:bodyPr>
          <a:lstStyle/>
          <a:p>
            <a:pPr marL="0" indent="0">
              <a:buNone/>
            </a:pPr>
            <a:r>
              <a:rPr lang="en-US" dirty="0" smtClean="0"/>
              <a:t>If </a:t>
            </a:r>
            <a:r>
              <a:rPr lang="en-US" dirty="0"/>
              <a:t>(condition 1)</a:t>
            </a:r>
          </a:p>
          <a:p>
            <a:pPr marL="0" indent="0">
              <a:buNone/>
            </a:pPr>
            <a:r>
              <a:rPr lang="en-US" dirty="0"/>
              <a:t>{</a:t>
            </a:r>
          </a:p>
          <a:p>
            <a:pPr marL="0" indent="0">
              <a:buNone/>
            </a:pPr>
            <a:r>
              <a:rPr lang="en-US" dirty="0" smtClean="0"/>
              <a:t>  Statement </a:t>
            </a:r>
            <a:r>
              <a:rPr lang="en-US" dirty="0"/>
              <a:t>1 (s1);</a:t>
            </a:r>
          </a:p>
          <a:p>
            <a:pPr marL="0" indent="0">
              <a:buNone/>
            </a:pPr>
            <a:r>
              <a:rPr lang="en-US" dirty="0"/>
              <a:t>}</a:t>
            </a:r>
          </a:p>
          <a:p>
            <a:pPr marL="0" indent="0">
              <a:buNone/>
            </a:pPr>
            <a:r>
              <a:rPr lang="en-US" dirty="0"/>
              <a:t>else</a:t>
            </a:r>
          </a:p>
          <a:p>
            <a:pPr marL="0" indent="0">
              <a:buNone/>
            </a:pPr>
            <a:r>
              <a:rPr lang="en-US" dirty="0"/>
              <a:t>{</a:t>
            </a:r>
          </a:p>
          <a:p>
            <a:pPr marL="0" indent="0">
              <a:buNone/>
            </a:pPr>
            <a:r>
              <a:rPr lang="en-US" dirty="0" smtClean="0"/>
              <a:t>  Statement </a:t>
            </a:r>
            <a:r>
              <a:rPr lang="en-US" dirty="0"/>
              <a:t>2 (s2)</a:t>
            </a:r>
          </a:p>
          <a:p>
            <a:pPr marL="0" indent="0">
              <a:buNone/>
            </a:pPr>
            <a:r>
              <a:rPr lang="en-US" dirty="0"/>
              <a:t>}</a:t>
            </a:r>
          </a:p>
          <a:p>
            <a:pPr marL="0" indent="0">
              <a:buNone/>
            </a:pPr>
            <a:r>
              <a:rPr lang="en-US" dirty="0" smtClean="0"/>
              <a:t>Statement 3</a:t>
            </a:r>
            <a:endParaRPr lang="en-US" dirty="0"/>
          </a:p>
        </p:txBody>
      </p:sp>
      <p:pic>
        <p:nvPicPr>
          <p:cNvPr id="614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83568" y="1916832"/>
            <a:ext cx="3143693" cy="39729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443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t>If… Else </a:t>
            </a:r>
            <a:r>
              <a:rPr lang="en-IN" sz="3600" dirty="0" smtClean="0"/>
              <a:t>Statement Example</a:t>
            </a:r>
            <a:r>
              <a:rPr lang="en-IN" sz="2800" dirty="0" smtClean="0"/>
              <a:t/>
            </a:r>
            <a:br>
              <a:rPr lang="en-IN" sz="2800" dirty="0" smtClean="0"/>
            </a:br>
            <a:endParaRPr lang="en-IN" sz="2800" dirty="0"/>
          </a:p>
        </p:txBody>
      </p:sp>
      <p:sp>
        <p:nvSpPr>
          <p:cNvPr id="4" name="Content Placeholder 3"/>
          <p:cNvSpPr>
            <a:spLocks noGrp="1"/>
          </p:cNvSpPr>
          <p:nvPr>
            <p:ph idx="1"/>
          </p:nvPr>
        </p:nvSpPr>
        <p:spPr>
          <a:xfrm>
            <a:off x="467544" y="1124744"/>
            <a:ext cx="8229600" cy="4525963"/>
          </a:xfrm>
        </p:spPr>
        <p:txBody>
          <a:bodyPr>
            <a:noAutofit/>
          </a:bodyPr>
          <a:lstStyle/>
          <a:p>
            <a:pPr marL="0" indent="0">
              <a:buNone/>
            </a:pPr>
            <a:r>
              <a:rPr lang="en-IN" sz="2000" dirty="0" smtClean="0"/>
              <a:t>#include &lt;</a:t>
            </a:r>
            <a:r>
              <a:rPr lang="en-IN" sz="2000" dirty="0" err="1" smtClean="0"/>
              <a:t>stdio.h</a:t>
            </a:r>
            <a:r>
              <a:rPr lang="en-IN" sz="2000" dirty="0" smtClean="0"/>
              <a:t>&gt;</a:t>
            </a:r>
          </a:p>
          <a:p>
            <a:pPr marL="0" indent="0">
              <a:buNone/>
            </a:pPr>
            <a:r>
              <a:rPr lang="en-IN" sz="2000" dirty="0" smtClean="0"/>
              <a:t> </a:t>
            </a:r>
            <a:r>
              <a:rPr lang="en-IN" sz="2000" dirty="0" err="1" smtClean="0"/>
              <a:t>int</a:t>
            </a:r>
            <a:r>
              <a:rPr lang="en-IN" sz="2000" dirty="0" smtClean="0"/>
              <a:t> main () </a:t>
            </a:r>
          </a:p>
          <a:p>
            <a:pPr marL="0" indent="0">
              <a:buNone/>
            </a:pPr>
            <a:r>
              <a:rPr lang="en-IN" sz="2000" dirty="0" smtClean="0"/>
              <a:t>{</a:t>
            </a:r>
          </a:p>
          <a:p>
            <a:pPr marL="0" indent="0">
              <a:buNone/>
            </a:pPr>
            <a:r>
              <a:rPr lang="en-IN" sz="2000" dirty="0" smtClean="0"/>
              <a:t>   </a:t>
            </a:r>
            <a:r>
              <a:rPr lang="en-IN" sz="2000" dirty="0" err="1" smtClean="0"/>
              <a:t>int</a:t>
            </a:r>
            <a:r>
              <a:rPr lang="en-IN" sz="2000" dirty="0" smtClean="0"/>
              <a:t> a = 100;</a:t>
            </a:r>
          </a:p>
          <a:p>
            <a:pPr marL="0" indent="0">
              <a:buNone/>
            </a:pPr>
            <a:r>
              <a:rPr lang="en-IN" sz="2000" dirty="0" smtClean="0"/>
              <a:t>   if( a &lt; 20 )</a:t>
            </a:r>
          </a:p>
          <a:p>
            <a:pPr marL="0" indent="0">
              <a:buNone/>
            </a:pPr>
            <a:r>
              <a:rPr lang="en-IN" sz="2000" dirty="0"/>
              <a:t> </a:t>
            </a:r>
            <a:r>
              <a:rPr lang="en-IN" sz="2000" dirty="0" smtClean="0"/>
              <a:t> {</a:t>
            </a:r>
          </a:p>
          <a:p>
            <a:pPr marL="0" indent="0">
              <a:buNone/>
            </a:pPr>
            <a:r>
              <a:rPr lang="en-IN" sz="2000" dirty="0" smtClean="0"/>
              <a:t>       </a:t>
            </a:r>
            <a:r>
              <a:rPr lang="en-IN" sz="2000" dirty="0" err="1" smtClean="0"/>
              <a:t>printf</a:t>
            </a:r>
            <a:r>
              <a:rPr lang="en-IN" sz="2000" dirty="0" smtClean="0"/>
              <a:t>("a is less than 20\n" );</a:t>
            </a:r>
          </a:p>
          <a:p>
            <a:pPr marL="0" indent="0">
              <a:buNone/>
            </a:pPr>
            <a:r>
              <a:rPr lang="en-IN" sz="2000" dirty="0" smtClean="0"/>
              <a:t>   }</a:t>
            </a:r>
          </a:p>
          <a:p>
            <a:pPr marL="0" indent="0">
              <a:buNone/>
            </a:pPr>
            <a:r>
              <a:rPr lang="en-IN" sz="2000" dirty="0" smtClean="0"/>
              <a:t>  else </a:t>
            </a:r>
          </a:p>
          <a:p>
            <a:pPr marL="0" indent="0">
              <a:buNone/>
            </a:pPr>
            <a:r>
              <a:rPr lang="en-IN" sz="2000" dirty="0"/>
              <a:t> </a:t>
            </a:r>
            <a:r>
              <a:rPr lang="en-IN" sz="2000" dirty="0" smtClean="0"/>
              <a:t> {</a:t>
            </a:r>
          </a:p>
          <a:p>
            <a:pPr marL="0" indent="0">
              <a:buNone/>
            </a:pPr>
            <a:r>
              <a:rPr lang="en-IN" sz="2000" dirty="0" smtClean="0"/>
              <a:t>     </a:t>
            </a:r>
            <a:r>
              <a:rPr lang="en-IN" sz="2000" dirty="0" err="1" smtClean="0"/>
              <a:t>printf</a:t>
            </a:r>
            <a:r>
              <a:rPr lang="en-IN" sz="2000" dirty="0" smtClean="0"/>
              <a:t>("a is not less than 20\n" );</a:t>
            </a:r>
          </a:p>
          <a:p>
            <a:pPr marL="0" indent="0">
              <a:buNone/>
            </a:pPr>
            <a:r>
              <a:rPr lang="en-IN" sz="2000" dirty="0" smtClean="0"/>
              <a:t>   }</a:t>
            </a:r>
          </a:p>
          <a:p>
            <a:pPr marL="0" indent="0">
              <a:buNone/>
            </a:pPr>
            <a:r>
              <a:rPr lang="en-IN" sz="2000" dirty="0" smtClean="0"/>
              <a:t>   </a:t>
            </a:r>
            <a:r>
              <a:rPr lang="en-IN" sz="2000" dirty="0" err="1" smtClean="0"/>
              <a:t>printf</a:t>
            </a:r>
            <a:r>
              <a:rPr lang="en-IN" sz="2000" dirty="0" smtClean="0"/>
              <a:t>("value of a is : %d\n", a);</a:t>
            </a:r>
          </a:p>
          <a:p>
            <a:pPr marL="0" indent="0">
              <a:buNone/>
            </a:pPr>
            <a:r>
              <a:rPr lang="en-IN" sz="2000" dirty="0" smtClean="0"/>
              <a:t>    return 0;</a:t>
            </a:r>
          </a:p>
          <a:p>
            <a:pPr marL="0" indent="0">
              <a:buNone/>
            </a:pPr>
            <a:r>
              <a:rPr lang="en-IN" sz="2000" dirty="0" smtClean="0"/>
              <a:t>}</a:t>
            </a:r>
            <a:endParaRPr lang="en-IN" sz="2000" dirty="0"/>
          </a:p>
        </p:txBody>
      </p:sp>
    </p:spTree>
    <p:extLst>
      <p:ext uri="{BB962C8B-B14F-4D97-AF65-F5344CB8AC3E}">
        <p14:creationId xmlns:p14="http://schemas.microsoft.com/office/powerpoint/2010/main" val="28964935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IN"/>
          </a:p>
        </p:txBody>
      </p:sp>
      <p:sp>
        <p:nvSpPr>
          <p:cNvPr id="3" name="Content Placeholder 2"/>
          <p:cNvSpPr>
            <a:spLocks noGrp="1"/>
          </p:cNvSpPr>
          <p:nvPr>
            <p:ph sz="half" idx="1"/>
          </p:nvPr>
        </p:nvSpPr>
        <p:spPr/>
        <p:txBody>
          <a:bodyPr/>
          <a:lstStyle/>
          <a:p>
            <a:r>
              <a:rPr lang="en-US" dirty="0" smtClean="0"/>
              <a:t>&lt;=12  - Child</a:t>
            </a:r>
          </a:p>
          <a:p>
            <a:r>
              <a:rPr lang="en-US" dirty="0" smtClean="0"/>
              <a:t>13-19 – Teen</a:t>
            </a:r>
          </a:p>
          <a:p>
            <a:r>
              <a:rPr lang="en-US" dirty="0" smtClean="0"/>
              <a:t>20-35 – adult</a:t>
            </a:r>
          </a:p>
          <a:p>
            <a:r>
              <a:rPr lang="en-US" dirty="0" smtClean="0"/>
              <a:t>36-60 – old</a:t>
            </a:r>
          </a:p>
          <a:p>
            <a:r>
              <a:rPr lang="en-US" dirty="0" smtClean="0"/>
              <a:t>&gt;65 – Very old</a:t>
            </a:r>
            <a:endParaRPr lang="en-IN" dirty="0"/>
          </a:p>
        </p:txBody>
      </p:sp>
      <p:sp>
        <p:nvSpPr>
          <p:cNvPr id="5" name="Content Placeholder 4"/>
          <p:cNvSpPr>
            <a:spLocks noGrp="1"/>
          </p:cNvSpPr>
          <p:nvPr>
            <p:ph sz="half" idx="2"/>
          </p:nvPr>
        </p:nvSpPr>
        <p:spPr/>
        <p:txBody>
          <a:bodyPr/>
          <a:lstStyle/>
          <a:p>
            <a:r>
              <a:rPr lang="en-US" dirty="0" smtClean="0"/>
              <a:t>&gt;=90 – S</a:t>
            </a:r>
          </a:p>
          <a:p>
            <a:r>
              <a:rPr lang="en-US" dirty="0" smtClean="0"/>
              <a:t>80-89 – A</a:t>
            </a:r>
          </a:p>
          <a:p>
            <a:r>
              <a:rPr lang="en-US" dirty="0" smtClean="0"/>
              <a:t>70-79 – B</a:t>
            </a:r>
          </a:p>
          <a:p>
            <a:r>
              <a:rPr lang="en-US" dirty="0" smtClean="0"/>
              <a:t>60-69 – C</a:t>
            </a:r>
          </a:p>
          <a:p>
            <a:r>
              <a:rPr lang="en-US" dirty="0" smtClean="0"/>
              <a:t>50- 59 –D</a:t>
            </a:r>
          </a:p>
          <a:p>
            <a:r>
              <a:rPr lang="en-US" dirty="0" smtClean="0"/>
              <a:t>&lt;50 - F</a:t>
            </a:r>
          </a:p>
          <a:p>
            <a:endParaRPr lang="en-IN" dirty="0"/>
          </a:p>
        </p:txBody>
      </p:sp>
    </p:spTree>
    <p:extLst>
      <p:ext uri="{BB962C8B-B14F-4D97-AF65-F5344CB8AC3E}">
        <p14:creationId xmlns:p14="http://schemas.microsoft.com/office/powerpoint/2010/main" val="2723625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Nested If </a:t>
            </a:r>
            <a:r>
              <a:rPr lang="en-IN" dirty="0" smtClean="0"/>
              <a:t>Statement</a:t>
            </a:r>
            <a:endParaRPr lang="en-IN" dirty="0"/>
          </a:p>
        </p:txBody>
      </p:sp>
      <p:sp>
        <p:nvSpPr>
          <p:cNvPr id="3" name="Content Placeholder 2"/>
          <p:cNvSpPr>
            <a:spLocks noGrp="1"/>
          </p:cNvSpPr>
          <p:nvPr>
            <p:ph sz="half" idx="1"/>
          </p:nvPr>
        </p:nvSpPr>
        <p:spPr/>
        <p:txBody>
          <a:bodyPr>
            <a:normAutofit fontScale="92500" lnSpcReduction="20000"/>
          </a:bodyPr>
          <a:lstStyle/>
          <a:p>
            <a:pPr marL="0" indent="0">
              <a:buNone/>
            </a:pPr>
            <a:r>
              <a:rPr lang="en-US" dirty="0"/>
              <a:t>If (condition 1)</a:t>
            </a:r>
          </a:p>
          <a:p>
            <a:pPr marL="0" indent="0">
              <a:buNone/>
            </a:pPr>
            <a:r>
              <a:rPr lang="en-US" dirty="0"/>
              <a:t>{</a:t>
            </a:r>
          </a:p>
          <a:p>
            <a:pPr marL="0" indent="0">
              <a:buNone/>
            </a:pPr>
            <a:r>
              <a:rPr lang="en-US" dirty="0" smtClean="0"/>
              <a:t>    If </a:t>
            </a:r>
            <a:r>
              <a:rPr lang="en-US" dirty="0"/>
              <a:t>(condition 2)</a:t>
            </a:r>
          </a:p>
          <a:p>
            <a:pPr marL="0" indent="0">
              <a:buNone/>
            </a:pPr>
            <a:r>
              <a:rPr lang="en-US" dirty="0" smtClean="0"/>
              <a:t>   {</a:t>
            </a:r>
            <a:endParaRPr lang="en-US" dirty="0"/>
          </a:p>
          <a:p>
            <a:pPr marL="0" indent="0">
              <a:buNone/>
            </a:pPr>
            <a:r>
              <a:rPr lang="en-US" dirty="0" smtClean="0"/>
              <a:t>        Statement </a:t>
            </a:r>
            <a:r>
              <a:rPr lang="en-US" dirty="0"/>
              <a:t>1 (s1);</a:t>
            </a:r>
          </a:p>
          <a:p>
            <a:pPr marL="0" indent="0">
              <a:buNone/>
            </a:pPr>
            <a:r>
              <a:rPr lang="en-US" dirty="0" smtClean="0"/>
              <a:t>   }</a:t>
            </a:r>
            <a:endParaRPr lang="en-US" dirty="0"/>
          </a:p>
          <a:p>
            <a:pPr marL="0" indent="0">
              <a:buNone/>
            </a:pPr>
            <a:r>
              <a:rPr lang="en-US" dirty="0" smtClean="0"/>
              <a:t>   Else</a:t>
            </a:r>
            <a:endParaRPr lang="en-US" dirty="0"/>
          </a:p>
          <a:p>
            <a:pPr marL="0" indent="0">
              <a:buNone/>
            </a:pPr>
            <a:r>
              <a:rPr lang="en-US" dirty="0" smtClean="0"/>
              <a:t>   {</a:t>
            </a:r>
            <a:endParaRPr lang="en-US" dirty="0"/>
          </a:p>
          <a:p>
            <a:pPr marL="0" indent="0">
              <a:buNone/>
            </a:pPr>
            <a:r>
              <a:rPr lang="en-US" dirty="0" smtClean="0"/>
              <a:t>       Statement </a:t>
            </a:r>
            <a:r>
              <a:rPr lang="en-US" dirty="0"/>
              <a:t>2 (s2)</a:t>
            </a:r>
          </a:p>
          <a:p>
            <a:pPr marL="0" indent="0">
              <a:buNone/>
            </a:pPr>
            <a:r>
              <a:rPr lang="en-US" dirty="0" smtClean="0"/>
              <a:t>    }</a:t>
            </a:r>
            <a:endParaRPr lang="en-US" dirty="0"/>
          </a:p>
          <a:p>
            <a:pPr marL="0" indent="0">
              <a:buNone/>
            </a:pPr>
            <a:r>
              <a:rPr lang="en-US" dirty="0" smtClean="0"/>
              <a:t>}</a:t>
            </a:r>
            <a:endParaRPr lang="en-US" dirty="0"/>
          </a:p>
          <a:p>
            <a:endParaRPr lang="en-IN" dirty="0"/>
          </a:p>
        </p:txBody>
      </p:sp>
      <p:sp>
        <p:nvSpPr>
          <p:cNvPr id="4" name="Content Placeholder 3"/>
          <p:cNvSpPr>
            <a:spLocks noGrp="1"/>
          </p:cNvSpPr>
          <p:nvPr>
            <p:ph sz="half" idx="2"/>
          </p:nvPr>
        </p:nvSpPr>
        <p:spPr/>
        <p:txBody>
          <a:bodyPr>
            <a:normAutofit fontScale="92500" lnSpcReduction="20000"/>
          </a:bodyPr>
          <a:lstStyle/>
          <a:p>
            <a:r>
              <a:rPr lang="en-US" dirty="0"/>
              <a:t>In this case, the condition available in the next if statement (the second statement) will only get evaluated if the evaluation of the condition available in the first statement turns out to be true. This occurs throughout the program that has a nested statement.</a:t>
            </a:r>
            <a:endParaRPr lang="en-IN" dirty="0"/>
          </a:p>
        </p:txBody>
      </p:sp>
    </p:spTree>
    <p:extLst>
      <p:ext uri="{BB962C8B-B14F-4D97-AF65-F5344CB8AC3E}">
        <p14:creationId xmlns:p14="http://schemas.microsoft.com/office/powerpoint/2010/main" val="3986802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Autofit/>
          </a:bodyPr>
          <a:lstStyle/>
          <a:p>
            <a:pPr fontAlgn="t"/>
            <a:r>
              <a:rPr lang="en-IN" dirty="0"/>
              <a:t>Nested If </a:t>
            </a:r>
            <a:r>
              <a:rPr lang="en-IN" dirty="0"/>
              <a:t>Statement Example</a:t>
            </a:r>
            <a:r>
              <a:rPr lang="en-IN" sz="2800" b="1" dirty="0" smtClean="0"/>
              <a:t>	</a:t>
            </a:r>
            <a:endParaRPr lang="en-IN" sz="2800" dirty="0"/>
          </a:p>
        </p:txBody>
      </p:sp>
      <p:sp>
        <p:nvSpPr>
          <p:cNvPr id="5" name="Content Placeholder 4"/>
          <p:cNvSpPr>
            <a:spLocks noGrp="1"/>
          </p:cNvSpPr>
          <p:nvPr>
            <p:ph idx="1"/>
          </p:nvPr>
        </p:nvSpPr>
        <p:spPr>
          <a:xfrm>
            <a:off x="1115616" y="1628800"/>
            <a:ext cx="7056784" cy="5112568"/>
          </a:xfrm>
        </p:spPr>
        <p:txBody>
          <a:bodyPr>
            <a:normAutofit fontScale="62500" lnSpcReduction="20000"/>
          </a:bodyPr>
          <a:lstStyle/>
          <a:p>
            <a:pPr marL="0" indent="0">
              <a:buNone/>
            </a:pPr>
            <a:r>
              <a:rPr lang="en-IN" dirty="0" smtClean="0"/>
              <a:t>#include &lt;</a:t>
            </a:r>
            <a:r>
              <a:rPr lang="en-IN" dirty="0" err="1" smtClean="0"/>
              <a:t>stdio.h</a:t>
            </a:r>
            <a:r>
              <a:rPr lang="en-IN" dirty="0" smtClean="0"/>
              <a:t>&gt;</a:t>
            </a:r>
          </a:p>
          <a:p>
            <a:pPr marL="0" indent="0">
              <a:buNone/>
            </a:pPr>
            <a:r>
              <a:rPr lang="en-IN" dirty="0" smtClean="0"/>
              <a:t> </a:t>
            </a:r>
            <a:r>
              <a:rPr lang="en-IN" dirty="0" err="1" smtClean="0"/>
              <a:t>int</a:t>
            </a:r>
            <a:r>
              <a:rPr lang="en-IN" dirty="0" smtClean="0"/>
              <a:t> main ()</a:t>
            </a:r>
          </a:p>
          <a:p>
            <a:pPr marL="0" indent="0">
              <a:buNone/>
            </a:pPr>
            <a:r>
              <a:rPr lang="en-IN" dirty="0" smtClean="0"/>
              <a:t> {</a:t>
            </a:r>
          </a:p>
          <a:p>
            <a:pPr marL="0" indent="0">
              <a:buNone/>
            </a:pPr>
            <a:r>
              <a:rPr lang="en-IN" dirty="0" smtClean="0"/>
              <a:t>     </a:t>
            </a:r>
            <a:r>
              <a:rPr lang="en-IN" dirty="0" err="1" smtClean="0"/>
              <a:t>int</a:t>
            </a:r>
            <a:r>
              <a:rPr lang="en-IN" dirty="0" smtClean="0"/>
              <a:t> a = 100;</a:t>
            </a:r>
          </a:p>
          <a:p>
            <a:pPr marL="0" indent="0">
              <a:buNone/>
            </a:pPr>
            <a:r>
              <a:rPr lang="en-IN" dirty="0" smtClean="0"/>
              <a:t>     </a:t>
            </a:r>
            <a:r>
              <a:rPr lang="en-IN" dirty="0" err="1" smtClean="0"/>
              <a:t>int</a:t>
            </a:r>
            <a:r>
              <a:rPr lang="en-IN" dirty="0" smtClean="0"/>
              <a:t> b = 200;</a:t>
            </a:r>
          </a:p>
          <a:p>
            <a:pPr marL="0" indent="0">
              <a:buNone/>
            </a:pPr>
            <a:r>
              <a:rPr lang="en-IN" dirty="0" smtClean="0"/>
              <a:t>     if( a == 100 ) </a:t>
            </a:r>
          </a:p>
          <a:p>
            <a:pPr marL="0" indent="0">
              <a:buNone/>
            </a:pPr>
            <a:r>
              <a:rPr lang="en-IN" dirty="0"/>
              <a:t> </a:t>
            </a:r>
            <a:r>
              <a:rPr lang="en-IN" dirty="0" smtClean="0"/>
              <a:t>   {</a:t>
            </a:r>
          </a:p>
          <a:p>
            <a:pPr marL="0" indent="0">
              <a:buNone/>
            </a:pPr>
            <a:r>
              <a:rPr lang="en-IN" dirty="0"/>
              <a:t> </a:t>
            </a:r>
            <a:r>
              <a:rPr lang="en-IN" dirty="0" smtClean="0"/>
              <a:t>         if( b == 200 )</a:t>
            </a:r>
          </a:p>
          <a:p>
            <a:pPr marL="0" indent="0">
              <a:buNone/>
            </a:pPr>
            <a:r>
              <a:rPr lang="en-IN" dirty="0"/>
              <a:t> </a:t>
            </a:r>
            <a:r>
              <a:rPr lang="en-IN" dirty="0" smtClean="0"/>
              <a:t>        {</a:t>
            </a:r>
          </a:p>
          <a:p>
            <a:pPr marL="0" indent="0">
              <a:buNone/>
            </a:pPr>
            <a:r>
              <a:rPr lang="en-IN" dirty="0" smtClean="0"/>
              <a:t>              </a:t>
            </a:r>
            <a:r>
              <a:rPr lang="en-IN" dirty="0" err="1" smtClean="0"/>
              <a:t>printf</a:t>
            </a:r>
            <a:r>
              <a:rPr lang="en-IN" dirty="0" smtClean="0"/>
              <a:t>("Value of a is 100 and b is 200\n" );</a:t>
            </a:r>
          </a:p>
          <a:p>
            <a:pPr marL="0" indent="0">
              <a:buNone/>
            </a:pPr>
            <a:r>
              <a:rPr lang="en-IN" dirty="0" smtClean="0"/>
              <a:t>         }</a:t>
            </a:r>
          </a:p>
          <a:p>
            <a:pPr marL="0" indent="0">
              <a:buNone/>
            </a:pPr>
            <a:r>
              <a:rPr lang="en-IN" dirty="0" smtClean="0"/>
              <a:t>   }</a:t>
            </a:r>
          </a:p>
          <a:p>
            <a:pPr marL="0" indent="0">
              <a:buNone/>
            </a:pPr>
            <a:r>
              <a:rPr lang="en-IN" dirty="0" smtClean="0"/>
              <a:t>   </a:t>
            </a:r>
            <a:r>
              <a:rPr lang="en-IN" dirty="0" err="1" smtClean="0"/>
              <a:t>printf</a:t>
            </a:r>
            <a:r>
              <a:rPr lang="en-IN" dirty="0" smtClean="0"/>
              <a:t>("Exact value of a is : %d\n", a );</a:t>
            </a:r>
          </a:p>
          <a:p>
            <a:pPr marL="0" indent="0">
              <a:buNone/>
            </a:pPr>
            <a:r>
              <a:rPr lang="en-IN" dirty="0" smtClean="0"/>
              <a:t>   </a:t>
            </a:r>
            <a:r>
              <a:rPr lang="en-IN" dirty="0" err="1" smtClean="0"/>
              <a:t>printf</a:t>
            </a:r>
            <a:r>
              <a:rPr lang="en-IN" dirty="0" smtClean="0"/>
              <a:t>("Exact value of b is : %d\n", b );</a:t>
            </a:r>
          </a:p>
          <a:p>
            <a:pPr marL="0" indent="0">
              <a:buNone/>
            </a:pPr>
            <a:r>
              <a:rPr lang="en-IN" dirty="0" smtClean="0"/>
              <a:t>  return 0;</a:t>
            </a:r>
          </a:p>
          <a:p>
            <a:pPr marL="0" indent="0">
              <a:buNone/>
            </a:pPr>
            <a:r>
              <a:rPr lang="en-IN" dirty="0" smtClean="0"/>
              <a:t>}</a:t>
            </a:r>
            <a:endParaRPr lang="en-IN" dirty="0"/>
          </a:p>
        </p:txBody>
      </p:sp>
    </p:spTree>
    <p:extLst>
      <p:ext uri="{BB962C8B-B14F-4D97-AF65-F5344CB8AC3E}">
        <p14:creationId xmlns:p14="http://schemas.microsoft.com/office/powerpoint/2010/main" val="29359078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Else If </a:t>
            </a:r>
            <a:r>
              <a:rPr lang="en-IN" dirty="0" smtClean="0"/>
              <a:t>Ladder</a:t>
            </a:r>
            <a:endParaRPr lang="en-IN" dirty="0"/>
          </a:p>
        </p:txBody>
      </p:sp>
      <p:sp>
        <p:nvSpPr>
          <p:cNvPr id="4" name="Content Placeholder 3"/>
          <p:cNvSpPr>
            <a:spLocks noGrp="1"/>
          </p:cNvSpPr>
          <p:nvPr>
            <p:ph sz="half" idx="1"/>
          </p:nvPr>
        </p:nvSpPr>
        <p:spPr/>
        <p:txBody>
          <a:bodyPr>
            <a:normAutofit fontScale="62500" lnSpcReduction="20000"/>
          </a:bodyPr>
          <a:lstStyle/>
          <a:p>
            <a:pPr algn="just"/>
            <a:r>
              <a:rPr lang="en-US" dirty="0"/>
              <a:t>In this statement, the execution of an array of instructions occurs only when the available condition is correct. The verification of the next condition occurs when this first condition is incorrect. In case all of the specifications fail even after the verification, then there will be an execution of the default block </a:t>
            </a:r>
            <a:r>
              <a:rPr lang="en-US" dirty="0" smtClean="0"/>
              <a:t>statements</a:t>
            </a:r>
            <a:endParaRPr lang="en-IN" dirty="0"/>
          </a:p>
        </p:txBody>
      </p:sp>
      <p:sp>
        <p:nvSpPr>
          <p:cNvPr id="5" name="Content Placeholder 4"/>
          <p:cNvSpPr>
            <a:spLocks noGrp="1"/>
          </p:cNvSpPr>
          <p:nvPr>
            <p:ph sz="half" idx="2"/>
          </p:nvPr>
        </p:nvSpPr>
        <p:spPr>
          <a:xfrm>
            <a:off x="4788024" y="1412776"/>
            <a:ext cx="3898776" cy="5256584"/>
          </a:xfrm>
        </p:spPr>
        <p:txBody>
          <a:bodyPr>
            <a:normAutofit fontScale="62500" lnSpcReduction="20000"/>
          </a:bodyPr>
          <a:lstStyle/>
          <a:p>
            <a:pPr marL="0" indent="0">
              <a:buNone/>
            </a:pPr>
            <a:r>
              <a:rPr lang="en-US" dirty="0"/>
              <a:t>If (condition 1)</a:t>
            </a:r>
          </a:p>
          <a:p>
            <a:pPr marL="0" indent="0">
              <a:buNone/>
            </a:pPr>
            <a:r>
              <a:rPr lang="en-US" dirty="0"/>
              <a:t>{</a:t>
            </a:r>
          </a:p>
          <a:p>
            <a:pPr marL="0" indent="0">
              <a:buNone/>
            </a:pPr>
            <a:r>
              <a:rPr lang="en-US" dirty="0"/>
              <a:t>Statement 1 (s1);</a:t>
            </a:r>
          </a:p>
          <a:p>
            <a:pPr marL="0" indent="0">
              <a:buNone/>
            </a:pPr>
            <a:r>
              <a:rPr lang="en-US" dirty="0"/>
              <a:t>}</a:t>
            </a:r>
          </a:p>
          <a:p>
            <a:pPr marL="0" indent="0">
              <a:buNone/>
            </a:pPr>
            <a:r>
              <a:rPr lang="en-US" dirty="0"/>
              <a:t>Else if (condition 2)</a:t>
            </a:r>
          </a:p>
          <a:p>
            <a:pPr marL="0" indent="0">
              <a:buNone/>
            </a:pPr>
            <a:r>
              <a:rPr lang="en-US" dirty="0"/>
              <a:t>{</a:t>
            </a:r>
          </a:p>
          <a:p>
            <a:pPr marL="0" indent="0">
              <a:buNone/>
            </a:pPr>
            <a:r>
              <a:rPr lang="en-US" dirty="0"/>
              <a:t>Statement 2 (s2);</a:t>
            </a:r>
          </a:p>
          <a:p>
            <a:pPr marL="0" indent="0">
              <a:buNone/>
            </a:pPr>
            <a:r>
              <a:rPr lang="en-US" dirty="0"/>
              <a:t>}</a:t>
            </a:r>
          </a:p>
          <a:p>
            <a:pPr marL="0" indent="0">
              <a:buNone/>
            </a:pPr>
            <a:r>
              <a:rPr lang="en-US" dirty="0"/>
              <a:t>else if (condition 3)</a:t>
            </a:r>
          </a:p>
          <a:p>
            <a:pPr marL="0" indent="0">
              <a:buNone/>
            </a:pPr>
            <a:r>
              <a:rPr lang="en-US" dirty="0"/>
              <a:t>{</a:t>
            </a:r>
          </a:p>
          <a:p>
            <a:pPr marL="0" indent="0">
              <a:buNone/>
            </a:pPr>
            <a:r>
              <a:rPr lang="en-US" dirty="0"/>
              <a:t>Statement 3 (s3)</a:t>
            </a:r>
          </a:p>
          <a:p>
            <a:pPr marL="0" indent="0">
              <a:buNone/>
            </a:pPr>
            <a:r>
              <a:rPr lang="en-US" dirty="0"/>
              <a:t>}</a:t>
            </a:r>
          </a:p>
          <a:p>
            <a:pPr marL="0" indent="0">
              <a:buNone/>
            </a:pPr>
            <a:r>
              <a:rPr lang="en-US" dirty="0"/>
              <a:t>…</a:t>
            </a:r>
          </a:p>
          <a:p>
            <a:pPr marL="0" indent="0">
              <a:buNone/>
            </a:pPr>
            <a:r>
              <a:rPr lang="en-US" dirty="0"/>
              <a:t>Else</a:t>
            </a:r>
          </a:p>
          <a:p>
            <a:pPr marL="0" indent="0">
              <a:buNone/>
            </a:pPr>
            <a:r>
              <a:rPr lang="en-US" dirty="0"/>
              <a:t>{</a:t>
            </a:r>
          </a:p>
          <a:p>
            <a:pPr marL="0" indent="0">
              <a:buNone/>
            </a:pPr>
            <a:r>
              <a:rPr lang="en-US" dirty="0"/>
              <a:t>Statement 4 (s4)</a:t>
            </a:r>
          </a:p>
          <a:p>
            <a:pPr marL="0" indent="0">
              <a:buNone/>
            </a:pPr>
            <a:r>
              <a:rPr lang="en-US" dirty="0"/>
              <a:t>}</a:t>
            </a:r>
          </a:p>
          <a:p>
            <a:pPr marL="0" indent="0">
              <a:buNone/>
            </a:pPr>
            <a:r>
              <a:rPr lang="en-US" dirty="0"/>
              <a:t>Statement (s);</a:t>
            </a:r>
          </a:p>
          <a:p>
            <a:endParaRPr lang="en-IN" dirty="0"/>
          </a:p>
        </p:txBody>
      </p:sp>
    </p:spTree>
    <p:extLst>
      <p:ext uri="{BB962C8B-B14F-4D97-AF65-F5344CB8AC3E}">
        <p14:creationId xmlns:p14="http://schemas.microsoft.com/office/powerpoint/2010/main" val="649988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Else If </a:t>
            </a:r>
            <a:r>
              <a:rPr lang="en-IN" dirty="0" smtClean="0"/>
              <a:t>Ladder Example</a:t>
            </a:r>
            <a:endParaRPr lang="en-IN" dirty="0"/>
          </a:p>
        </p:txBody>
      </p:sp>
      <p:sp>
        <p:nvSpPr>
          <p:cNvPr id="4" name="Content Placeholder 3"/>
          <p:cNvSpPr>
            <a:spLocks noGrp="1"/>
          </p:cNvSpPr>
          <p:nvPr>
            <p:ph idx="1"/>
          </p:nvPr>
        </p:nvSpPr>
        <p:spPr>
          <a:xfrm>
            <a:off x="467544" y="1340768"/>
            <a:ext cx="8219256" cy="5400600"/>
          </a:xfrm>
        </p:spPr>
        <p:txBody>
          <a:bodyPr>
            <a:noAutofit/>
          </a:bodyPr>
          <a:lstStyle/>
          <a:p>
            <a:pPr marL="0" indent="0" algn="just">
              <a:buNone/>
            </a:pPr>
            <a:r>
              <a:rPr lang="en-IN" sz="1400" dirty="0"/>
              <a:t>#include&lt;</a:t>
            </a:r>
            <a:r>
              <a:rPr lang="en-IN" sz="1400" dirty="0" err="1"/>
              <a:t>stdio.h</a:t>
            </a:r>
            <a:r>
              <a:rPr lang="en-IN" sz="1400" dirty="0"/>
              <a:t>&gt;</a:t>
            </a:r>
          </a:p>
          <a:p>
            <a:pPr marL="0" indent="0" algn="just">
              <a:buNone/>
            </a:pPr>
            <a:r>
              <a:rPr lang="en-IN" sz="1400" dirty="0" err="1" smtClean="0"/>
              <a:t>int</a:t>
            </a:r>
            <a:r>
              <a:rPr lang="en-IN" sz="1400" dirty="0" smtClean="0"/>
              <a:t> </a:t>
            </a:r>
            <a:r>
              <a:rPr lang="en-IN" sz="1400" dirty="0"/>
              <a:t>main()</a:t>
            </a:r>
          </a:p>
          <a:p>
            <a:pPr marL="0" indent="0" algn="just">
              <a:buNone/>
            </a:pPr>
            <a:r>
              <a:rPr lang="en-IN" sz="1400" dirty="0"/>
              <a:t>{</a:t>
            </a:r>
          </a:p>
          <a:p>
            <a:pPr marL="0" indent="0" algn="just">
              <a:buNone/>
            </a:pPr>
            <a:r>
              <a:rPr lang="en-IN" sz="1400" dirty="0"/>
              <a:t>	 </a:t>
            </a:r>
            <a:r>
              <a:rPr lang="en-IN" sz="1400" dirty="0" err="1"/>
              <a:t>int</a:t>
            </a:r>
            <a:r>
              <a:rPr lang="en-IN" sz="1400" dirty="0"/>
              <a:t> </a:t>
            </a:r>
            <a:r>
              <a:rPr lang="en-IN" sz="1400" dirty="0" err="1"/>
              <a:t>a,b,c</a:t>
            </a:r>
            <a:r>
              <a:rPr lang="en-IN" sz="1400" dirty="0"/>
              <a:t>;</a:t>
            </a:r>
          </a:p>
          <a:p>
            <a:pPr marL="0" indent="0" algn="just">
              <a:buNone/>
            </a:pPr>
            <a:r>
              <a:rPr lang="en-IN" sz="1400" dirty="0"/>
              <a:t>	 </a:t>
            </a:r>
            <a:r>
              <a:rPr lang="en-IN" sz="1400" dirty="0" err="1"/>
              <a:t>printf</a:t>
            </a:r>
            <a:r>
              <a:rPr lang="en-IN" sz="1400" dirty="0"/>
              <a:t>("Enter three numbers: \n");</a:t>
            </a:r>
          </a:p>
          <a:p>
            <a:pPr marL="0" indent="0" algn="just">
              <a:buNone/>
            </a:pPr>
            <a:r>
              <a:rPr lang="en-IN" sz="1400" dirty="0"/>
              <a:t>	 </a:t>
            </a:r>
            <a:r>
              <a:rPr lang="en-IN" sz="1400" dirty="0" err="1"/>
              <a:t>scanf</a:t>
            </a:r>
            <a:r>
              <a:rPr lang="en-IN" sz="1400" dirty="0"/>
              <a:t>("%</a:t>
            </a:r>
            <a:r>
              <a:rPr lang="en-IN" sz="1400" dirty="0" err="1"/>
              <a:t>d%d%d</a:t>
            </a:r>
            <a:r>
              <a:rPr lang="en-IN" sz="1400" dirty="0"/>
              <a:t>", &amp;a, &amp;b, &amp;c);</a:t>
            </a:r>
          </a:p>
          <a:p>
            <a:pPr marL="0" indent="0" algn="just">
              <a:buNone/>
            </a:pPr>
            <a:r>
              <a:rPr lang="en-IN" sz="1400" dirty="0"/>
              <a:t>	 if(a&gt;b &amp;&amp; a&gt;c)</a:t>
            </a:r>
          </a:p>
          <a:p>
            <a:pPr marL="0" indent="0" algn="just">
              <a:buNone/>
            </a:pPr>
            <a:r>
              <a:rPr lang="en-IN" sz="1400" dirty="0"/>
              <a:t>	 {</a:t>
            </a:r>
          </a:p>
          <a:p>
            <a:pPr marL="0" indent="0" algn="just">
              <a:buNone/>
            </a:pPr>
            <a:r>
              <a:rPr lang="en-IN" sz="1400" dirty="0"/>
              <a:t>	  	</a:t>
            </a:r>
            <a:r>
              <a:rPr lang="en-IN" sz="1400" dirty="0" err="1"/>
              <a:t>printf</a:t>
            </a:r>
            <a:r>
              <a:rPr lang="en-IN" sz="1400" dirty="0"/>
              <a:t>("Largest = %d", a);</a:t>
            </a:r>
          </a:p>
          <a:p>
            <a:pPr marL="0" indent="0" algn="just">
              <a:buNone/>
            </a:pPr>
            <a:r>
              <a:rPr lang="en-IN" sz="1400" dirty="0"/>
              <a:t>	 }</a:t>
            </a:r>
          </a:p>
          <a:p>
            <a:pPr marL="0" indent="0" algn="just">
              <a:buNone/>
            </a:pPr>
            <a:r>
              <a:rPr lang="en-IN" sz="1400" dirty="0"/>
              <a:t>	 else if(b&gt;a &amp;&amp; b&gt;c)</a:t>
            </a:r>
          </a:p>
          <a:p>
            <a:pPr marL="0" indent="0" algn="just">
              <a:buNone/>
            </a:pPr>
            <a:r>
              <a:rPr lang="en-IN" sz="1400" dirty="0"/>
              <a:t>	 {</a:t>
            </a:r>
          </a:p>
          <a:p>
            <a:pPr marL="0" indent="0" algn="just">
              <a:buNone/>
            </a:pPr>
            <a:r>
              <a:rPr lang="en-IN" sz="1400" dirty="0"/>
              <a:t>	  	</a:t>
            </a:r>
            <a:r>
              <a:rPr lang="en-IN" sz="1400" dirty="0" err="1"/>
              <a:t>printf</a:t>
            </a:r>
            <a:r>
              <a:rPr lang="en-IN" sz="1400" dirty="0"/>
              <a:t>("Largest = %d", b);</a:t>
            </a:r>
          </a:p>
          <a:p>
            <a:pPr marL="0" indent="0" algn="just">
              <a:buNone/>
            </a:pPr>
            <a:r>
              <a:rPr lang="en-IN" sz="1400" dirty="0"/>
              <a:t>	 }</a:t>
            </a:r>
          </a:p>
          <a:p>
            <a:pPr marL="0" indent="0" algn="just">
              <a:buNone/>
            </a:pPr>
            <a:r>
              <a:rPr lang="en-IN" sz="1400" dirty="0"/>
              <a:t>	 else</a:t>
            </a:r>
          </a:p>
          <a:p>
            <a:pPr marL="0" indent="0" algn="just">
              <a:buNone/>
            </a:pPr>
            <a:r>
              <a:rPr lang="en-IN" sz="1400" dirty="0"/>
              <a:t>	 {</a:t>
            </a:r>
          </a:p>
          <a:p>
            <a:pPr marL="0" indent="0" algn="just">
              <a:buNone/>
            </a:pPr>
            <a:r>
              <a:rPr lang="en-IN" sz="1400" dirty="0"/>
              <a:t>	  	</a:t>
            </a:r>
            <a:r>
              <a:rPr lang="en-IN" sz="1400" dirty="0" err="1"/>
              <a:t>printf</a:t>
            </a:r>
            <a:r>
              <a:rPr lang="en-IN" sz="1400" dirty="0"/>
              <a:t>("Largest = %d", c);</a:t>
            </a:r>
          </a:p>
          <a:p>
            <a:pPr marL="0" indent="0" algn="just">
              <a:buNone/>
            </a:pPr>
            <a:r>
              <a:rPr lang="en-IN" sz="1400" dirty="0"/>
              <a:t>	 }</a:t>
            </a:r>
          </a:p>
          <a:p>
            <a:pPr marL="0" indent="0" algn="just">
              <a:buNone/>
            </a:pPr>
            <a:r>
              <a:rPr lang="en-IN" sz="1400" dirty="0"/>
              <a:t>	 return(0);</a:t>
            </a:r>
          </a:p>
          <a:p>
            <a:pPr marL="0" indent="0" algn="just">
              <a:buNone/>
            </a:pPr>
            <a:r>
              <a:rPr lang="en-IN" sz="1400" dirty="0"/>
              <a:t>}</a:t>
            </a:r>
          </a:p>
        </p:txBody>
      </p:sp>
    </p:spTree>
    <p:extLst>
      <p:ext uri="{BB962C8B-B14F-4D97-AF65-F5344CB8AC3E}">
        <p14:creationId xmlns:p14="http://schemas.microsoft.com/office/powerpoint/2010/main" val="1027727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Switch </a:t>
            </a:r>
            <a:r>
              <a:rPr lang="en-IN" dirty="0" smtClean="0"/>
              <a:t>Statements</a:t>
            </a:r>
            <a:endParaRPr lang="en-IN" dirty="0"/>
          </a:p>
        </p:txBody>
      </p:sp>
      <p:sp>
        <p:nvSpPr>
          <p:cNvPr id="4" name="Content Placeholder 3"/>
          <p:cNvSpPr>
            <a:spLocks noGrp="1"/>
          </p:cNvSpPr>
          <p:nvPr>
            <p:ph sz="half" idx="2"/>
          </p:nvPr>
        </p:nvSpPr>
        <p:spPr/>
        <p:txBody>
          <a:bodyPr>
            <a:normAutofit fontScale="92500"/>
          </a:bodyPr>
          <a:lstStyle/>
          <a:p>
            <a:r>
              <a:rPr lang="en-US" dirty="0"/>
              <a:t>The C language offers its users with a selection statement in various ways in case a program becomes difficult to read with an increased number of conditions. A switch statement is a multi-way type of selection statement that would resolve this issue.</a:t>
            </a:r>
            <a:endParaRPr lang="en-IN"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765" y="1412776"/>
            <a:ext cx="3704945" cy="4968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5031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Switch </a:t>
            </a:r>
            <a:r>
              <a:rPr lang="en-IN" dirty="0" smtClean="0"/>
              <a:t>Statements Syntax</a:t>
            </a:r>
            <a:endParaRPr lang="en-IN" dirty="0"/>
          </a:p>
        </p:txBody>
      </p:sp>
      <p:sp>
        <p:nvSpPr>
          <p:cNvPr id="3" name="Content Placeholder 2"/>
          <p:cNvSpPr>
            <a:spLocks noGrp="1"/>
          </p:cNvSpPr>
          <p:nvPr>
            <p:ph idx="1"/>
          </p:nvPr>
        </p:nvSpPr>
        <p:spPr>
          <a:xfrm>
            <a:off x="457200" y="1196752"/>
            <a:ext cx="8363272" cy="5661248"/>
          </a:xfrm>
        </p:spPr>
        <p:txBody>
          <a:bodyPr>
            <a:normAutofit fontScale="55000" lnSpcReduction="20000"/>
          </a:bodyPr>
          <a:lstStyle/>
          <a:p>
            <a:pPr marL="0" indent="0">
              <a:buNone/>
            </a:pPr>
            <a:r>
              <a:rPr lang="en-IN" dirty="0"/>
              <a:t>Switch (</a:t>
            </a:r>
            <a:r>
              <a:rPr lang="en-IN" dirty="0" smtClean="0"/>
              <a:t>expression/</a:t>
            </a:r>
            <a:r>
              <a:rPr lang="en-IN" dirty="0" err="1" smtClean="0"/>
              <a:t>var</a:t>
            </a:r>
            <a:r>
              <a:rPr lang="en-IN" dirty="0" smtClean="0"/>
              <a:t>)</a:t>
            </a:r>
            <a:endParaRPr lang="en-IN" dirty="0"/>
          </a:p>
          <a:p>
            <a:pPr marL="0" indent="0">
              <a:buNone/>
            </a:pPr>
            <a:r>
              <a:rPr lang="en-IN" dirty="0"/>
              <a:t>{</a:t>
            </a:r>
          </a:p>
          <a:p>
            <a:pPr marL="0" indent="0">
              <a:buNone/>
            </a:pPr>
            <a:r>
              <a:rPr lang="en-IN" dirty="0" err="1" smtClean="0"/>
              <a:t>case_A</a:t>
            </a:r>
            <a:r>
              <a:rPr lang="en-IN" dirty="0"/>
              <a:t>:</a:t>
            </a:r>
          </a:p>
          <a:p>
            <a:pPr marL="0" indent="0">
              <a:buNone/>
            </a:pPr>
            <a:r>
              <a:rPr lang="en-IN" dirty="0" smtClean="0"/>
              <a:t>       Statement </a:t>
            </a:r>
            <a:r>
              <a:rPr lang="en-IN" dirty="0"/>
              <a:t>A (</a:t>
            </a:r>
            <a:r>
              <a:rPr lang="en-IN" dirty="0" err="1"/>
              <a:t>sA</a:t>
            </a:r>
            <a:r>
              <a:rPr lang="en-IN" dirty="0"/>
              <a:t>);</a:t>
            </a:r>
          </a:p>
          <a:p>
            <a:pPr marL="0" indent="0">
              <a:buNone/>
            </a:pPr>
            <a:r>
              <a:rPr lang="en-IN" dirty="0" smtClean="0"/>
              <a:t>       Break</a:t>
            </a:r>
            <a:r>
              <a:rPr lang="en-IN" dirty="0"/>
              <a:t>;</a:t>
            </a:r>
          </a:p>
          <a:p>
            <a:pPr marL="0" indent="0">
              <a:buNone/>
            </a:pPr>
            <a:r>
              <a:rPr lang="en-IN" dirty="0" err="1" smtClean="0"/>
              <a:t>case_B</a:t>
            </a:r>
            <a:r>
              <a:rPr lang="en-IN" dirty="0"/>
              <a:t>:</a:t>
            </a:r>
          </a:p>
          <a:p>
            <a:pPr marL="0" indent="0">
              <a:buNone/>
            </a:pPr>
            <a:r>
              <a:rPr lang="en-IN" dirty="0" smtClean="0"/>
              <a:t>       Statement </a:t>
            </a:r>
            <a:r>
              <a:rPr lang="en-IN" dirty="0"/>
              <a:t>B (</a:t>
            </a:r>
            <a:r>
              <a:rPr lang="en-IN" dirty="0" err="1"/>
              <a:t>sB</a:t>
            </a:r>
            <a:r>
              <a:rPr lang="en-IN" dirty="0"/>
              <a:t>);</a:t>
            </a:r>
          </a:p>
          <a:p>
            <a:pPr marL="0" indent="0">
              <a:buNone/>
            </a:pPr>
            <a:r>
              <a:rPr lang="en-IN" dirty="0" smtClean="0"/>
              <a:t>        Break</a:t>
            </a:r>
            <a:r>
              <a:rPr lang="en-IN" dirty="0"/>
              <a:t>;</a:t>
            </a:r>
          </a:p>
          <a:p>
            <a:pPr marL="0" indent="0">
              <a:buNone/>
            </a:pPr>
            <a:r>
              <a:rPr lang="en-IN" dirty="0" err="1" smtClean="0"/>
              <a:t>case_C</a:t>
            </a:r>
            <a:r>
              <a:rPr lang="en-IN" dirty="0"/>
              <a:t>;</a:t>
            </a:r>
          </a:p>
          <a:p>
            <a:pPr marL="0" indent="0">
              <a:buNone/>
            </a:pPr>
            <a:r>
              <a:rPr lang="en-IN" dirty="0" smtClean="0"/>
              <a:t>       Statement </a:t>
            </a:r>
            <a:r>
              <a:rPr lang="en-IN" dirty="0"/>
              <a:t>C (</a:t>
            </a:r>
            <a:r>
              <a:rPr lang="en-IN" dirty="0" err="1"/>
              <a:t>sC</a:t>
            </a:r>
            <a:r>
              <a:rPr lang="en-IN" dirty="0"/>
              <a:t>);</a:t>
            </a:r>
          </a:p>
          <a:p>
            <a:pPr marL="0" indent="0">
              <a:buNone/>
            </a:pPr>
            <a:r>
              <a:rPr lang="en-IN" dirty="0" smtClean="0"/>
              <a:t>       Break</a:t>
            </a:r>
            <a:r>
              <a:rPr lang="en-IN" dirty="0"/>
              <a:t>;</a:t>
            </a:r>
          </a:p>
          <a:p>
            <a:pPr marL="0" indent="0">
              <a:buNone/>
            </a:pPr>
            <a:r>
              <a:rPr lang="en-IN" dirty="0"/>
              <a:t>….</a:t>
            </a:r>
          </a:p>
          <a:p>
            <a:pPr marL="0" indent="0">
              <a:buNone/>
            </a:pPr>
            <a:r>
              <a:rPr lang="en-IN" dirty="0" err="1" smtClean="0"/>
              <a:t>case_Z</a:t>
            </a:r>
            <a:r>
              <a:rPr lang="en-IN" dirty="0"/>
              <a:t>:</a:t>
            </a:r>
          </a:p>
          <a:p>
            <a:pPr marL="0" indent="0">
              <a:buNone/>
            </a:pPr>
            <a:r>
              <a:rPr lang="en-IN" dirty="0" smtClean="0"/>
              <a:t>       Statement </a:t>
            </a:r>
            <a:r>
              <a:rPr lang="en-IN" dirty="0"/>
              <a:t>Z (</a:t>
            </a:r>
            <a:r>
              <a:rPr lang="en-IN" dirty="0" err="1"/>
              <a:t>sZ</a:t>
            </a:r>
            <a:r>
              <a:rPr lang="en-IN" dirty="0"/>
              <a:t>);</a:t>
            </a:r>
          </a:p>
          <a:p>
            <a:pPr marL="0" indent="0">
              <a:buNone/>
            </a:pPr>
            <a:r>
              <a:rPr lang="en-IN" dirty="0" smtClean="0"/>
              <a:t>       Break</a:t>
            </a:r>
            <a:r>
              <a:rPr lang="en-IN" dirty="0"/>
              <a:t>;</a:t>
            </a:r>
          </a:p>
          <a:p>
            <a:pPr marL="0" indent="0">
              <a:buNone/>
            </a:pPr>
            <a:r>
              <a:rPr lang="en-IN" dirty="0"/>
              <a:t>Default:</a:t>
            </a:r>
          </a:p>
          <a:p>
            <a:pPr marL="0" indent="0">
              <a:buNone/>
            </a:pPr>
            <a:r>
              <a:rPr lang="en-IN" dirty="0" smtClean="0"/>
              <a:t>      Statement_1 </a:t>
            </a:r>
            <a:r>
              <a:rPr lang="en-IN" dirty="0"/>
              <a:t>(s1);</a:t>
            </a:r>
          </a:p>
          <a:p>
            <a:pPr marL="0" indent="0">
              <a:buNone/>
            </a:pPr>
            <a:r>
              <a:rPr lang="en-IN" dirty="0" smtClean="0"/>
              <a:t>      Break</a:t>
            </a:r>
            <a:r>
              <a:rPr lang="en-IN" dirty="0"/>
              <a:t>;</a:t>
            </a:r>
          </a:p>
          <a:p>
            <a:pPr marL="0" indent="0">
              <a:buNone/>
            </a:pPr>
            <a:r>
              <a:rPr lang="en-IN" dirty="0"/>
              <a:t>}</a:t>
            </a:r>
          </a:p>
          <a:p>
            <a:endParaRPr lang="en-IN" dirty="0"/>
          </a:p>
        </p:txBody>
      </p:sp>
    </p:spTree>
    <p:extLst>
      <p:ext uri="{BB962C8B-B14F-4D97-AF65-F5344CB8AC3E}">
        <p14:creationId xmlns:p14="http://schemas.microsoft.com/office/powerpoint/2010/main" val="1492244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Switch </a:t>
            </a:r>
            <a:r>
              <a:rPr lang="en-IN" dirty="0" smtClean="0"/>
              <a:t>Statements Example</a:t>
            </a:r>
            <a:endParaRPr lang="en-IN" dirty="0"/>
          </a:p>
        </p:txBody>
      </p:sp>
      <p:sp>
        <p:nvSpPr>
          <p:cNvPr id="3" name="Content Placeholder 2"/>
          <p:cNvSpPr>
            <a:spLocks noGrp="1"/>
          </p:cNvSpPr>
          <p:nvPr>
            <p:ph idx="1"/>
          </p:nvPr>
        </p:nvSpPr>
        <p:spPr>
          <a:xfrm>
            <a:off x="457200" y="1196752"/>
            <a:ext cx="8363272" cy="5661248"/>
          </a:xfrm>
        </p:spPr>
        <p:txBody>
          <a:bodyPr>
            <a:normAutofit fontScale="40000" lnSpcReduction="20000"/>
          </a:bodyPr>
          <a:lstStyle/>
          <a:p>
            <a:pPr marL="0" indent="0">
              <a:buNone/>
            </a:pPr>
            <a:r>
              <a:rPr lang="en-IN" dirty="0"/>
              <a:t>#include &lt;</a:t>
            </a:r>
            <a:r>
              <a:rPr lang="en-IN" dirty="0" err="1"/>
              <a:t>stdio.h</a:t>
            </a:r>
            <a:r>
              <a:rPr lang="en-IN" dirty="0"/>
              <a:t>&gt;</a:t>
            </a:r>
          </a:p>
          <a:p>
            <a:pPr marL="0" indent="0">
              <a:buNone/>
            </a:pPr>
            <a:r>
              <a:rPr lang="en-IN" dirty="0"/>
              <a:t> </a:t>
            </a:r>
            <a:r>
              <a:rPr lang="en-IN" dirty="0" err="1"/>
              <a:t>int</a:t>
            </a:r>
            <a:r>
              <a:rPr lang="en-IN" dirty="0"/>
              <a:t> main ()</a:t>
            </a:r>
          </a:p>
          <a:p>
            <a:pPr marL="0" indent="0">
              <a:buNone/>
            </a:pPr>
            <a:r>
              <a:rPr lang="en-IN" dirty="0"/>
              <a:t> {</a:t>
            </a:r>
          </a:p>
          <a:p>
            <a:pPr marL="0" indent="0">
              <a:buNone/>
            </a:pPr>
            <a:r>
              <a:rPr lang="en-IN" dirty="0"/>
              <a:t>   char grade = 'B';</a:t>
            </a:r>
          </a:p>
          <a:p>
            <a:pPr marL="0" indent="0">
              <a:buNone/>
            </a:pPr>
            <a:r>
              <a:rPr lang="en-IN" dirty="0"/>
              <a:t>   switch(grade) </a:t>
            </a:r>
          </a:p>
          <a:p>
            <a:pPr marL="0" indent="0">
              <a:buNone/>
            </a:pPr>
            <a:r>
              <a:rPr lang="en-IN" dirty="0"/>
              <a:t>{</a:t>
            </a:r>
          </a:p>
          <a:p>
            <a:pPr marL="0" indent="0">
              <a:buNone/>
            </a:pPr>
            <a:r>
              <a:rPr lang="en-IN" dirty="0"/>
              <a:t>      case 'A' :</a:t>
            </a:r>
          </a:p>
          <a:p>
            <a:pPr marL="0" indent="0">
              <a:buNone/>
            </a:pPr>
            <a:r>
              <a:rPr lang="en-IN" dirty="0"/>
              <a:t>         </a:t>
            </a:r>
            <a:r>
              <a:rPr lang="en-IN" dirty="0" err="1"/>
              <a:t>printf</a:t>
            </a:r>
            <a:r>
              <a:rPr lang="en-IN" dirty="0"/>
              <a:t>("Excellent!\n" );</a:t>
            </a:r>
          </a:p>
          <a:p>
            <a:pPr marL="0" indent="0">
              <a:buNone/>
            </a:pPr>
            <a:r>
              <a:rPr lang="en-IN" dirty="0"/>
              <a:t>         break;</a:t>
            </a:r>
          </a:p>
          <a:p>
            <a:pPr marL="0" indent="0">
              <a:buNone/>
            </a:pPr>
            <a:r>
              <a:rPr lang="en-IN" dirty="0"/>
              <a:t>      case 'B' :</a:t>
            </a:r>
          </a:p>
          <a:p>
            <a:pPr marL="0" indent="0">
              <a:buNone/>
            </a:pPr>
            <a:r>
              <a:rPr lang="en-IN" dirty="0"/>
              <a:t>      case 'C' :</a:t>
            </a:r>
          </a:p>
          <a:p>
            <a:pPr marL="0" indent="0">
              <a:buNone/>
            </a:pPr>
            <a:r>
              <a:rPr lang="en-IN" dirty="0"/>
              <a:t>         </a:t>
            </a:r>
            <a:r>
              <a:rPr lang="en-IN" dirty="0" err="1"/>
              <a:t>printf</a:t>
            </a:r>
            <a:r>
              <a:rPr lang="en-IN" dirty="0"/>
              <a:t>("Well done\n" );</a:t>
            </a:r>
          </a:p>
          <a:p>
            <a:pPr marL="0" indent="0">
              <a:buNone/>
            </a:pPr>
            <a:r>
              <a:rPr lang="en-IN" dirty="0"/>
              <a:t>         break;</a:t>
            </a:r>
          </a:p>
          <a:p>
            <a:pPr marL="0" indent="0">
              <a:buNone/>
            </a:pPr>
            <a:r>
              <a:rPr lang="en-IN" dirty="0"/>
              <a:t>      case 'D' :</a:t>
            </a:r>
          </a:p>
          <a:p>
            <a:pPr marL="0" indent="0">
              <a:buNone/>
            </a:pPr>
            <a:r>
              <a:rPr lang="en-IN" dirty="0"/>
              <a:t>         </a:t>
            </a:r>
            <a:r>
              <a:rPr lang="en-IN" dirty="0" err="1"/>
              <a:t>printf</a:t>
            </a:r>
            <a:r>
              <a:rPr lang="en-IN" dirty="0"/>
              <a:t>("You passed\n" );</a:t>
            </a:r>
          </a:p>
          <a:p>
            <a:pPr marL="0" indent="0">
              <a:buNone/>
            </a:pPr>
            <a:r>
              <a:rPr lang="en-IN" dirty="0"/>
              <a:t>         break;</a:t>
            </a:r>
          </a:p>
          <a:p>
            <a:pPr marL="0" indent="0">
              <a:buNone/>
            </a:pPr>
            <a:r>
              <a:rPr lang="en-IN" dirty="0"/>
              <a:t>      case 'F' :</a:t>
            </a:r>
          </a:p>
          <a:p>
            <a:pPr marL="0" indent="0">
              <a:buNone/>
            </a:pPr>
            <a:r>
              <a:rPr lang="en-IN" dirty="0"/>
              <a:t>         </a:t>
            </a:r>
            <a:r>
              <a:rPr lang="en-IN" dirty="0" err="1"/>
              <a:t>printf</a:t>
            </a:r>
            <a:r>
              <a:rPr lang="en-IN" dirty="0"/>
              <a:t>("Better try again\n" );</a:t>
            </a:r>
          </a:p>
          <a:p>
            <a:pPr marL="0" indent="0">
              <a:buNone/>
            </a:pPr>
            <a:r>
              <a:rPr lang="en-IN" dirty="0"/>
              <a:t>         break;</a:t>
            </a:r>
          </a:p>
          <a:p>
            <a:pPr marL="0" indent="0">
              <a:buNone/>
            </a:pPr>
            <a:r>
              <a:rPr lang="en-IN" dirty="0"/>
              <a:t>      default :</a:t>
            </a:r>
          </a:p>
          <a:p>
            <a:pPr marL="0" indent="0">
              <a:buNone/>
            </a:pPr>
            <a:r>
              <a:rPr lang="en-IN" dirty="0"/>
              <a:t>         </a:t>
            </a:r>
            <a:r>
              <a:rPr lang="en-IN" dirty="0" err="1"/>
              <a:t>printf</a:t>
            </a:r>
            <a:r>
              <a:rPr lang="en-IN" dirty="0"/>
              <a:t>("Invalid grade\n" );</a:t>
            </a:r>
          </a:p>
          <a:p>
            <a:pPr marL="0" indent="0">
              <a:buNone/>
            </a:pPr>
            <a:r>
              <a:rPr lang="en-IN" dirty="0"/>
              <a:t>   }</a:t>
            </a:r>
          </a:p>
          <a:p>
            <a:pPr marL="0" indent="0">
              <a:buNone/>
            </a:pPr>
            <a:r>
              <a:rPr lang="en-IN" dirty="0"/>
              <a:t>   </a:t>
            </a:r>
            <a:r>
              <a:rPr lang="en-IN" dirty="0" err="1"/>
              <a:t>printf</a:t>
            </a:r>
            <a:r>
              <a:rPr lang="en-IN" dirty="0"/>
              <a:t>("Your grade is  %c\n", grade );</a:t>
            </a:r>
          </a:p>
          <a:p>
            <a:pPr marL="0" indent="0">
              <a:buNone/>
            </a:pPr>
            <a:r>
              <a:rPr lang="en-IN" dirty="0"/>
              <a:t>   return 0;</a:t>
            </a:r>
          </a:p>
          <a:p>
            <a:pPr marL="0" indent="0">
              <a:buNone/>
            </a:pPr>
            <a:r>
              <a:rPr lang="en-IN" dirty="0"/>
              <a:t>}</a:t>
            </a:r>
          </a:p>
          <a:p>
            <a:endParaRPr lang="en-IN" dirty="0"/>
          </a:p>
        </p:txBody>
      </p:sp>
    </p:spTree>
    <p:extLst>
      <p:ext uri="{BB962C8B-B14F-4D97-AF65-F5344CB8AC3E}">
        <p14:creationId xmlns:p14="http://schemas.microsoft.com/office/powerpoint/2010/main" val="2911187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Autofit/>
          </a:bodyPr>
          <a:lstStyle/>
          <a:p>
            <a:pPr algn="l"/>
            <a:r>
              <a:rPr lang="en-IN" sz="2800" b="1" dirty="0" smtClean="0">
                <a:hlinkClick r:id="rId2"/>
              </a:rPr>
              <a:t>nested switch statements</a:t>
            </a:r>
            <a:r>
              <a:rPr lang="en-IN" sz="2800" b="1" dirty="0" smtClean="0"/>
              <a:t>	</a:t>
            </a:r>
            <a:r>
              <a:rPr lang="en-IN" sz="2800" dirty="0" smtClean="0"/>
              <a:t>You can use one </a:t>
            </a:r>
            <a:r>
              <a:rPr lang="en-IN" sz="2800" b="1" dirty="0" smtClean="0"/>
              <a:t>switch</a:t>
            </a:r>
            <a:r>
              <a:rPr lang="en-IN" sz="2800" dirty="0" smtClean="0"/>
              <a:t> statement inside another switch statement(s).</a:t>
            </a:r>
            <a:br>
              <a:rPr lang="en-IN" sz="2800" dirty="0" smtClean="0"/>
            </a:br>
            <a:endParaRPr lang="en-IN" sz="2800" dirty="0"/>
          </a:p>
        </p:txBody>
      </p:sp>
      <p:sp>
        <p:nvSpPr>
          <p:cNvPr id="5" name="Content Placeholder 4"/>
          <p:cNvSpPr>
            <a:spLocks noGrp="1"/>
          </p:cNvSpPr>
          <p:nvPr>
            <p:ph idx="1"/>
          </p:nvPr>
        </p:nvSpPr>
        <p:spPr>
          <a:xfrm>
            <a:off x="457200" y="1124744"/>
            <a:ext cx="8229600" cy="5616624"/>
          </a:xfrm>
        </p:spPr>
        <p:txBody>
          <a:bodyPr>
            <a:normAutofit fontScale="47500" lnSpcReduction="20000"/>
          </a:bodyPr>
          <a:lstStyle/>
          <a:p>
            <a:pPr marL="0" indent="0">
              <a:buNone/>
            </a:pPr>
            <a:r>
              <a:rPr lang="en-IN" dirty="0" smtClean="0"/>
              <a:t>#include &lt;</a:t>
            </a:r>
            <a:r>
              <a:rPr lang="en-IN" dirty="0" err="1" smtClean="0"/>
              <a:t>stdio.h</a:t>
            </a:r>
            <a:r>
              <a:rPr lang="en-IN" dirty="0" smtClean="0"/>
              <a:t>&gt;</a:t>
            </a:r>
          </a:p>
          <a:p>
            <a:pPr marL="0" indent="0">
              <a:buNone/>
            </a:pPr>
            <a:r>
              <a:rPr lang="en-IN" dirty="0" smtClean="0"/>
              <a:t> </a:t>
            </a:r>
            <a:r>
              <a:rPr lang="en-IN" dirty="0" err="1" smtClean="0"/>
              <a:t>int</a:t>
            </a:r>
            <a:r>
              <a:rPr lang="en-IN" dirty="0" smtClean="0"/>
              <a:t> main () </a:t>
            </a:r>
          </a:p>
          <a:p>
            <a:pPr marL="0" indent="0">
              <a:buNone/>
            </a:pPr>
            <a:r>
              <a:rPr lang="en-IN" dirty="0" smtClean="0"/>
              <a:t>{</a:t>
            </a:r>
          </a:p>
          <a:p>
            <a:pPr marL="0" indent="0">
              <a:buNone/>
            </a:pPr>
            <a:r>
              <a:rPr lang="en-IN" dirty="0" smtClean="0"/>
              <a:t>   </a:t>
            </a:r>
            <a:r>
              <a:rPr lang="en-IN" dirty="0" err="1" smtClean="0"/>
              <a:t>int</a:t>
            </a:r>
            <a:r>
              <a:rPr lang="en-IN" dirty="0" smtClean="0"/>
              <a:t> a = 100;</a:t>
            </a:r>
          </a:p>
          <a:p>
            <a:pPr marL="0" indent="0">
              <a:buNone/>
            </a:pPr>
            <a:r>
              <a:rPr lang="en-IN" dirty="0" smtClean="0"/>
              <a:t>   </a:t>
            </a:r>
            <a:r>
              <a:rPr lang="en-IN" dirty="0" err="1" smtClean="0"/>
              <a:t>int</a:t>
            </a:r>
            <a:r>
              <a:rPr lang="en-IN" dirty="0" smtClean="0"/>
              <a:t> b = 200;</a:t>
            </a:r>
          </a:p>
          <a:p>
            <a:pPr marL="0" indent="0">
              <a:buNone/>
            </a:pPr>
            <a:r>
              <a:rPr lang="en-IN" dirty="0" smtClean="0"/>
              <a:t>    switch(a) </a:t>
            </a:r>
          </a:p>
          <a:p>
            <a:pPr marL="0" indent="0">
              <a:buNone/>
            </a:pPr>
            <a:r>
              <a:rPr lang="en-IN" dirty="0"/>
              <a:t> </a:t>
            </a:r>
            <a:r>
              <a:rPr lang="en-IN" dirty="0" smtClean="0"/>
              <a:t>   {</a:t>
            </a:r>
          </a:p>
          <a:p>
            <a:pPr marL="0" indent="0">
              <a:buNone/>
            </a:pPr>
            <a:r>
              <a:rPr lang="en-IN" dirty="0" smtClean="0"/>
              <a:t>         case 100: </a:t>
            </a:r>
          </a:p>
          <a:p>
            <a:pPr marL="0" indent="0">
              <a:buNone/>
            </a:pPr>
            <a:r>
              <a:rPr lang="en-IN" dirty="0" smtClean="0"/>
              <a:t>              </a:t>
            </a:r>
            <a:r>
              <a:rPr lang="en-IN" dirty="0" err="1" smtClean="0"/>
              <a:t>printf</a:t>
            </a:r>
            <a:r>
              <a:rPr lang="en-IN" dirty="0" smtClean="0"/>
              <a:t>("This is part of outer switch\n", a );</a:t>
            </a:r>
          </a:p>
          <a:p>
            <a:pPr marL="0" indent="0">
              <a:buNone/>
            </a:pPr>
            <a:r>
              <a:rPr lang="en-IN" dirty="0" smtClean="0"/>
              <a:t>              switch(b)</a:t>
            </a:r>
          </a:p>
          <a:p>
            <a:pPr marL="0" indent="0">
              <a:buNone/>
            </a:pPr>
            <a:r>
              <a:rPr lang="en-IN" dirty="0"/>
              <a:t> </a:t>
            </a:r>
            <a:r>
              <a:rPr lang="en-IN" dirty="0" smtClean="0"/>
              <a:t>            {</a:t>
            </a:r>
          </a:p>
          <a:p>
            <a:pPr marL="0" indent="0">
              <a:buNone/>
            </a:pPr>
            <a:r>
              <a:rPr lang="en-IN" dirty="0" smtClean="0"/>
              <a:t>                   case 200:</a:t>
            </a:r>
          </a:p>
          <a:p>
            <a:pPr marL="0" indent="0">
              <a:buNone/>
            </a:pPr>
            <a:r>
              <a:rPr lang="en-IN" dirty="0" smtClean="0"/>
              <a:t>                       </a:t>
            </a:r>
            <a:r>
              <a:rPr lang="en-IN" dirty="0" err="1" smtClean="0"/>
              <a:t>printf</a:t>
            </a:r>
            <a:r>
              <a:rPr lang="en-IN" dirty="0" smtClean="0"/>
              <a:t>("This is part of inner switch\n", a </a:t>
            </a:r>
            <a:r>
              <a:rPr lang="en-IN" dirty="0" smtClean="0"/>
              <a:t>);</a:t>
            </a:r>
          </a:p>
          <a:p>
            <a:pPr marL="0" indent="0">
              <a:buNone/>
            </a:pPr>
            <a:r>
              <a:rPr lang="en-US" dirty="0"/>
              <a:t> </a:t>
            </a:r>
            <a:r>
              <a:rPr lang="en-US" dirty="0" smtClean="0"/>
              <a:t>                  case 300:</a:t>
            </a:r>
            <a:endParaRPr lang="en-IN" dirty="0" smtClean="0"/>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r>
              <a:rPr lang="en-IN" dirty="0" smtClean="0"/>
              <a:t>   </a:t>
            </a:r>
            <a:r>
              <a:rPr lang="en-IN" dirty="0" err="1" smtClean="0"/>
              <a:t>printf</a:t>
            </a:r>
            <a:r>
              <a:rPr lang="en-IN" dirty="0" smtClean="0"/>
              <a:t>("Exact value of a is : %d\n", a );</a:t>
            </a:r>
          </a:p>
          <a:p>
            <a:pPr marL="0" indent="0">
              <a:buNone/>
            </a:pPr>
            <a:r>
              <a:rPr lang="en-IN" dirty="0" smtClean="0"/>
              <a:t>   </a:t>
            </a:r>
            <a:r>
              <a:rPr lang="en-IN" dirty="0" err="1" smtClean="0"/>
              <a:t>printf</a:t>
            </a:r>
            <a:r>
              <a:rPr lang="en-IN" dirty="0" smtClean="0"/>
              <a:t>("Exact value of b is : %d\n", b );</a:t>
            </a:r>
          </a:p>
          <a:p>
            <a:pPr marL="0" indent="0">
              <a:buNone/>
            </a:pPr>
            <a:r>
              <a:rPr lang="en-IN" dirty="0" smtClean="0"/>
              <a:t>    return 0;</a:t>
            </a:r>
          </a:p>
          <a:p>
            <a:pPr marL="0" indent="0">
              <a:buNone/>
            </a:pPr>
            <a:r>
              <a:rPr lang="en-IN" dirty="0" smtClean="0"/>
              <a:t>}</a:t>
            </a:r>
            <a:endParaRPr lang="en-IN" dirty="0"/>
          </a:p>
        </p:txBody>
      </p:sp>
    </p:spTree>
    <p:extLst>
      <p:ext uri="{BB962C8B-B14F-4D97-AF65-F5344CB8AC3E}">
        <p14:creationId xmlns:p14="http://schemas.microsoft.com/office/powerpoint/2010/main" val="5186455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Problems</a:t>
            </a:r>
            <a:endParaRPr lang="en-IN" dirty="0"/>
          </a:p>
        </p:txBody>
      </p:sp>
      <p:sp>
        <p:nvSpPr>
          <p:cNvPr id="3" name="Content Placeholder 2"/>
          <p:cNvSpPr>
            <a:spLocks noGrp="1"/>
          </p:cNvSpPr>
          <p:nvPr>
            <p:ph idx="1"/>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Write a C program to check whether a given number is even or </a:t>
            </a:r>
            <a:r>
              <a:rPr lang="en-US" sz="2000" dirty="0" smtClean="0">
                <a:latin typeface="Times New Roman" panose="02020603050405020304" pitchFamily="18" charset="0"/>
                <a:cs typeface="Times New Roman" panose="02020603050405020304" pitchFamily="18" charset="0"/>
              </a:rPr>
              <a:t>odd</a:t>
            </a:r>
          </a:p>
          <a:p>
            <a:pPr>
              <a:lnSpc>
                <a:spcPct val="150000"/>
              </a:lnSpc>
              <a:spcBef>
                <a:spcPts val="0"/>
              </a:spcBef>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Write a C program to find whether a given year is a leap year or </a:t>
            </a:r>
            <a:r>
              <a:rPr lang="en-US" sz="2000" dirty="0" smtClean="0">
                <a:latin typeface="Times New Roman" panose="02020603050405020304" pitchFamily="18" charset="0"/>
                <a:cs typeface="Times New Roman" panose="02020603050405020304" pitchFamily="18" charset="0"/>
              </a:rPr>
              <a:t>not</a:t>
            </a:r>
          </a:p>
          <a:p>
            <a:pPr>
              <a:lnSpc>
                <a:spcPct val="150000"/>
              </a:lnSpc>
            </a:pPr>
            <a:r>
              <a:rPr lang="en-US" sz="2000" dirty="0">
                <a:latin typeface="Times New Roman" panose="02020603050405020304" pitchFamily="18" charset="0"/>
                <a:cs typeface="Times New Roman" panose="02020603050405020304" pitchFamily="18" charset="0"/>
              </a:rPr>
              <a:t>Write a C program to find the largest of three </a:t>
            </a:r>
            <a:r>
              <a:rPr lang="en-US" sz="2000" dirty="0" smtClean="0">
                <a:latin typeface="Times New Roman" panose="02020603050405020304" pitchFamily="18" charset="0"/>
                <a:cs typeface="Times New Roman" panose="02020603050405020304" pitchFamily="18" charset="0"/>
              </a:rPr>
              <a:t>numbers</a:t>
            </a:r>
          </a:p>
          <a:p>
            <a:pPr>
              <a:lnSpc>
                <a:spcPct val="150000"/>
              </a:lnSpc>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Write a C program to read roll no, name and marks of three subjects and calculate the total, percentage and division</a:t>
            </a:r>
            <a:r>
              <a:rPr lang="en-US" sz="2000" dirty="0" smtClean="0">
                <a:latin typeface="Times New Roman" panose="02020603050405020304" pitchFamily="18" charset="0"/>
                <a:cs typeface="Times New Roman" panose="02020603050405020304" pitchFamily="18" charset="0"/>
              </a:rPr>
              <a:t>.</a:t>
            </a:r>
          </a:p>
          <a:p>
            <a:pPr>
              <a:lnSpc>
                <a:spcPct val="150000"/>
              </a:lnSpc>
            </a:pPr>
            <a:r>
              <a:rPr lang="en-US" sz="2000" dirty="0">
                <a:latin typeface="Times New Roman" panose="02020603050405020304" pitchFamily="18" charset="0"/>
                <a:cs typeface="Times New Roman" panose="02020603050405020304" pitchFamily="18" charset="0"/>
              </a:rPr>
              <a:t>Write a C program to check whether a triangle is Equilateral, Isosceles or </a:t>
            </a:r>
            <a:r>
              <a:rPr lang="en-US" sz="2000" dirty="0" smtClean="0">
                <a:latin typeface="Times New Roman" panose="02020603050405020304" pitchFamily="18" charset="0"/>
                <a:cs typeface="Times New Roman" panose="02020603050405020304" pitchFamily="18" charset="0"/>
              </a:rPr>
              <a:t>Scalene</a:t>
            </a:r>
          </a:p>
          <a:p>
            <a:pPr>
              <a:lnSpc>
                <a:spcPct val="150000"/>
              </a:lnSpc>
            </a:pPr>
            <a:r>
              <a:rPr lang="en-US" sz="2000" dirty="0">
                <a:latin typeface="Times New Roman" panose="02020603050405020304" pitchFamily="18" charset="0"/>
                <a:cs typeface="Times New Roman" panose="02020603050405020304" pitchFamily="18" charset="0"/>
              </a:rPr>
              <a:t>Write a C program to check whether a number is positive, negative or zero using switch case.</a:t>
            </a:r>
          </a:p>
          <a:p>
            <a:pPr>
              <a:lnSpc>
                <a:spcPct val="150000"/>
              </a:lnSpc>
            </a:pPr>
            <a:r>
              <a:rPr lang="en-US" sz="2000" dirty="0" smtClean="0">
                <a:latin typeface="Times New Roman" panose="02020603050405020304" pitchFamily="18" charset="0"/>
                <a:cs typeface="Times New Roman" panose="02020603050405020304" pitchFamily="18" charset="0"/>
              </a:rPr>
              <a:t>Write </a:t>
            </a:r>
            <a:r>
              <a:rPr lang="en-US" sz="2000" dirty="0">
                <a:latin typeface="Times New Roman" panose="02020603050405020304" pitchFamily="18" charset="0"/>
                <a:cs typeface="Times New Roman" panose="02020603050405020304" pitchFamily="18" charset="0"/>
              </a:rPr>
              <a:t>a C program to create Simple Calculator using switch case.</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273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2817</TotalTime>
  <Words>932</Words>
  <Application>Microsoft Office PowerPoint</Application>
  <PresentationFormat>On-screen Show (4:3)</PresentationFormat>
  <Paragraphs>214</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Selection statements</vt:lpstr>
      <vt:lpstr>Decision Making </vt:lpstr>
      <vt:lpstr>If Statements</vt:lpstr>
      <vt:lpstr>Simple Else or Null Else</vt:lpstr>
      <vt:lpstr>Simple Else or Null Else Example </vt:lpstr>
      <vt:lpstr>If… Else Statement   An if statement consists of a Boolean expression followed by one or more statements. </vt:lpstr>
      <vt:lpstr>If… Else Statement Example </vt:lpstr>
      <vt:lpstr>PowerPoint Presentation</vt:lpstr>
      <vt:lpstr>Nested If Statement</vt:lpstr>
      <vt:lpstr>Nested If Statement Example </vt:lpstr>
      <vt:lpstr>Else If Ladder</vt:lpstr>
      <vt:lpstr>Else If Ladder Example</vt:lpstr>
      <vt:lpstr>Switch Statements</vt:lpstr>
      <vt:lpstr>Switch Statements Syntax</vt:lpstr>
      <vt:lpstr>Switch Statements Example</vt:lpstr>
      <vt:lpstr>nested switch statements You can use one switch statement inside another switch statement(s). </vt:lpstr>
      <vt:lpstr>Practice Problems</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Selection statements</dc:title>
  <dc:creator>Gladys</dc:creator>
  <cp:lastModifiedBy>Admin</cp:lastModifiedBy>
  <cp:revision>18</cp:revision>
  <dcterms:created xsi:type="dcterms:W3CDTF">2017-01-20T06:27:19Z</dcterms:created>
  <dcterms:modified xsi:type="dcterms:W3CDTF">2022-02-23T07:30:42Z</dcterms:modified>
</cp:coreProperties>
</file>