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798" y="-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3/20/2023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pPr marL="38100">
                <a:lnSpc>
                  <a:spcPts val="1240"/>
                </a:lnSpc>
              </a:pPr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3/20/2023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pPr marL="38100">
                <a:lnSpc>
                  <a:spcPts val="1240"/>
                </a:lnSpc>
              </a:pPr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3/20/2023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pPr marL="38100">
                <a:lnSpc>
                  <a:spcPts val="1240"/>
                </a:lnSpc>
              </a:pPr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3/20/2023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pPr marL="38100">
                <a:lnSpc>
                  <a:spcPts val="1240"/>
                </a:lnSpc>
              </a:pPr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3/20/2023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pPr marL="38100">
                <a:lnSpc>
                  <a:spcPts val="1240"/>
                </a:lnSpc>
              </a:pPr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94182" y="2238501"/>
            <a:ext cx="2222500" cy="13665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43915" y="1755394"/>
            <a:ext cx="11504168" cy="44157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3/20/2023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068811" y="6464909"/>
            <a:ext cx="231775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pPr marL="38100">
                <a:lnSpc>
                  <a:spcPts val="1240"/>
                </a:lnSpc>
              </a:pPr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13917" y="2829560"/>
            <a:ext cx="484124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FF0000"/>
                </a:solidFill>
              </a:rPr>
              <a:t>Pointers</a:t>
            </a:r>
            <a:r>
              <a:rPr sz="4400" spc="-55" dirty="0">
                <a:solidFill>
                  <a:srgbClr val="FF0000"/>
                </a:solidFill>
              </a:rPr>
              <a:t> </a:t>
            </a:r>
            <a:r>
              <a:rPr sz="4400" dirty="0">
                <a:solidFill>
                  <a:srgbClr val="FF0000"/>
                </a:solidFill>
              </a:rPr>
              <a:t>and</a:t>
            </a:r>
            <a:r>
              <a:rPr sz="4400" spc="-275" dirty="0">
                <a:solidFill>
                  <a:srgbClr val="FF0000"/>
                </a:solidFill>
              </a:rPr>
              <a:t> </a:t>
            </a:r>
            <a:r>
              <a:rPr sz="4400" dirty="0">
                <a:solidFill>
                  <a:srgbClr val="FF0000"/>
                </a:solidFill>
              </a:rPr>
              <a:t>Arrays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11146535" y="6464909"/>
            <a:ext cx="15367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z="1200" dirty="0">
                <a:solidFill>
                  <a:srgbClr val="888888"/>
                </a:solidFill>
                <a:latin typeface="Calibri"/>
                <a:cs typeface="Calibri"/>
              </a:rPr>
              <a:pPr marL="38100">
                <a:lnSpc>
                  <a:spcPts val="1240"/>
                </a:lnSpc>
              </a:pPr>
              <a:t>1</a:t>
            </a:fld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1198" y="141859"/>
            <a:ext cx="419925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FF0000"/>
                </a:solidFill>
              </a:rPr>
              <a:t>POINTERS</a:t>
            </a:r>
            <a:r>
              <a:rPr sz="2800" spc="-165" dirty="0">
                <a:solidFill>
                  <a:srgbClr val="FF0000"/>
                </a:solidFill>
              </a:rPr>
              <a:t> </a:t>
            </a:r>
            <a:r>
              <a:rPr sz="2800" spc="-5" dirty="0">
                <a:solidFill>
                  <a:srgbClr val="FF0000"/>
                </a:solidFill>
              </a:rPr>
              <a:t>AND</a:t>
            </a:r>
            <a:r>
              <a:rPr sz="2800" spc="-170" dirty="0">
                <a:solidFill>
                  <a:srgbClr val="FF0000"/>
                </a:solidFill>
              </a:rPr>
              <a:t> </a:t>
            </a:r>
            <a:r>
              <a:rPr sz="2800" spc="-50" dirty="0">
                <a:solidFill>
                  <a:srgbClr val="FF0000"/>
                </a:solidFill>
              </a:rPr>
              <a:t>ARRAYS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343915" y="1025144"/>
            <a:ext cx="11129645" cy="1855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When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array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declared,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5" dirty="0">
                <a:latin typeface="Times New Roman"/>
                <a:cs typeface="Times New Roman"/>
              </a:rPr>
              <a:t> compiler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allocates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base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address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 </a:t>
            </a:r>
            <a:r>
              <a:rPr sz="2000" spc="-5" dirty="0">
                <a:latin typeface="Times New Roman"/>
                <a:cs typeface="Times New Roman"/>
              </a:rPr>
              <a:t>sufficient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memory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storage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contain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all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elements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 the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array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contagious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memory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locations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The </a:t>
            </a:r>
            <a:r>
              <a:rPr sz="2000" spc="-5" dirty="0">
                <a:latin typeface="Times New Roman"/>
                <a:cs typeface="Times New Roman"/>
              </a:rPr>
              <a:t>compiler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defines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array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name</a:t>
            </a:r>
            <a:r>
              <a:rPr sz="2000" dirty="0">
                <a:latin typeface="Times New Roman"/>
                <a:cs typeface="Times New Roman"/>
              </a:rPr>
              <a:t> as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constant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pointer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first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element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050">
              <a:latin typeface="Times New Roman"/>
              <a:cs typeface="Times New Roman"/>
            </a:endParaRPr>
          </a:p>
          <a:p>
            <a:pPr marL="69215" algn="ctr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int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x[5]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=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{1,2,3,4,5};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3915" y="4988433"/>
            <a:ext cx="6647815" cy="15506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Times New Roman"/>
                <a:cs typeface="Times New Roman"/>
              </a:rPr>
              <a:t>Use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pointer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to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point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array,</a:t>
            </a:r>
            <a:endParaRPr sz="2000">
              <a:latin typeface="Times New Roman"/>
              <a:cs typeface="Times New Roman"/>
            </a:endParaRPr>
          </a:p>
          <a:p>
            <a:pPr marL="3670300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int*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p;</a:t>
            </a:r>
            <a:endParaRPr sz="2000">
              <a:latin typeface="Times New Roman"/>
              <a:cs typeface="Times New Roman"/>
            </a:endParaRPr>
          </a:p>
          <a:p>
            <a:pPr marL="3670300">
              <a:lnSpc>
                <a:spcPct val="100000"/>
              </a:lnSpc>
              <a:spcBef>
                <a:spcPts val="5"/>
              </a:spcBef>
              <a:tabLst>
                <a:tab pos="4584700" algn="l"/>
                <a:tab pos="5499100" algn="l"/>
              </a:tabLst>
            </a:pPr>
            <a:r>
              <a:rPr sz="2000" b="1" dirty="0">
                <a:latin typeface="Times New Roman"/>
                <a:cs typeface="Times New Roman"/>
              </a:rPr>
              <a:t>p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=</a:t>
            </a:r>
            <a:r>
              <a:rPr sz="2000" b="1" spc="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x;	or	p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=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&amp;x[0];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-</a:t>
            </a:r>
            <a:r>
              <a:rPr sz="2000" spc="-5" dirty="0">
                <a:latin typeface="Times New Roman"/>
                <a:cs typeface="Times New Roman"/>
              </a:rPr>
              <a:t> increment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pointer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to </a:t>
            </a:r>
            <a:r>
              <a:rPr sz="2000" dirty="0">
                <a:latin typeface="Times New Roman"/>
                <a:cs typeface="Times New Roman"/>
              </a:rPr>
              <a:t>access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further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locations,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i.e.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p++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37588" y="3145535"/>
            <a:ext cx="8077200" cy="204063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1146535" y="6464909"/>
            <a:ext cx="15367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z="1200" dirty="0">
                <a:solidFill>
                  <a:srgbClr val="888888"/>
                </a:solidFill>
                <a:latin typeface="Calibri"/>
                <a:cs typeface="Calibri"/>
              </a:rPr>
              <a:pPr marL="38100">
                <a:lnSpc>
                  <a:spcPts val="1240"/>
                </a:lnSpc>
              </a:pPr>
              <a:t>2</a:t>
            </a:fld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11146535" y="6464909"/>
            <a:ext cx="15367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z="1200" dirty="0">
                <a:solidFill>
                  <a:srgbClr val="888888"/>
                </a:solidFill>
                <a:latin typeface="Calibri"/>
                <a:cs typeface="Calibri"/>
              </a:rPr>
              <a:pPr marL="38100">
                <a:lnSpc>
                  <a:spcPts val="1240"/>
                </a:lnSpc>
              </a:pPr>
              <a:t>3</a:t>
            </a:fld>
            <a:endParaRPr sz="1200">
              <a:latin typeface="Calibri"/>
              <a:cs typeface="Calibri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1198" y="141859"/>
            <a:ext cx="373761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60" dirty="0">
                <a:solidFill>
                  <a:srgbClr val="FF0000"/>
                </a:solidFill>
              </a:rPr>
              <a:t>ARRAY</a:t>
            </a:r>
            <a:r>
              <a:rPr sz="2800" spc="-110" dirty="0">
                <a:solidFill>
                  <a:srgbClr val="FF0000"/>
                </a:solidFill>
              </a:rPr>
              <a:t> </a:t>
            </a:r>
            <a:r>
              <a:rPr sz="2800" spc="-5" dirty="0">
                <a:solidFill>
                  <a:srgbClr val="FF0000"/>
                </a:solidFill>
              </a:rPr>
              <a:t>OF</a:t>
            </a:r>
            <a:r>
              <a:rPr sz="2800" spc="-135" dirty="0">
                <a:solidFill>
                  <a:srgbClr val="FF0000"/>
                </a:solidFill>
              </a:rPr>
              <a:t> </a:t>
            </a:r>
            <a:r>
              <a:rPr sz="2800" spc="-5" dirty="0">
                <a:solidFill>
                  <a:srgbClr val="FF0000"/>
                </a:solidFill>
              </a:rPr>
              <a:t>POINTERS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343915" y="1025144"/>
            <a:ext cx="8745855" cy="9410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Address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element </a:t>
            </a:r>
            <a:r>
              <a:rPr sz="2000" dirty="0">
                <a:latin typeface="Times New Roman"/>
                <a:cs typeface="Times New Roman"/>
              </a:rPr>
              <a:t>can be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calculated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using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its </a:t>
            </a:r>
            <a:r>
              <a:rPr sz="2000" dirty="0">
                <a:latin typeface="Times New Roman"/>
                <a:cs typeface="Times New Roman"/>
              </a:rPr>
              <a:t>index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scale </a:t>
            </a:r>
            <a:r>
              <a:rPr sz="2000" dirty="0">
                <a:latin typeface="Times New Roman"/>
                <a:cs typeface="Times New Roman"/>
              </a:rPr>
              <a:t>of the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data-type.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example,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72970" y="1939798"/>
            <a:ext cx="154876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address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x[3]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01770" y="1939798"/>
            <a:ext cx="4093210" cy="9404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base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address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+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(3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x</a:t>
            </a:r>
            <a:r>
              <a:rPr sz="2000" spc="-5" dirty="0">
                <a:latin typeface="Times New Roman"/>
                <a:cs typeface="Times New Roman"/>
              </a:rPr>
              <a:t> scale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factor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int)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1000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+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(3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x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2)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1006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43915" y="3158693"/>
            <a:ext cx="9241790" cy="219867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Using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pointers,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access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5" dirty="0">
                <a:latin typeface="Times New Roman"/>
                <a:cs typeface="Times New Roman"/>
              </a:rPr>
              <a:t> elements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 </a:t>
            </a:r>
            <a:r>
              <a:rPr sz="2000" spc="-5" dirty="0">
                <a:latin typeface="Times New Roman"/>
                <a:cs typeface="Times New Roman"/>
              </a:rPr>
              <a:t>one-dimension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array,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 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expression:</a:t>
            </a:r>
            <a:r>
              <a:rPr sz="2000" spc="47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*(p+1).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b="1" i="1" spc="-95" dirty="0">
                <a:latin typeface="Times New Roman"/>
                <a:cs typeface="Times New Roman"/>
              </a:rPr>
              <a:t>To</a:t>
            </a:r>
            <a:r>
              <a:rPr sz="2000" b="1" i="1" spc="-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access</a:t>
            </a:r>
            <a:r>
              <a:rPr sz="2000" b="1" i="1" spc="-2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the</a:t>
            </a:r>
            <a:r>
              <a:rPr sz="2000" b="1" i="1" spc="-1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element</a:t>
            </a:r>
            <a:r>
              <a:rPr sz="2000" b="1" i="1" spc="-30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x[3],</a:t>
            </a:r>
            <a:r>
              <a:rPr sz="2000" b="1" i="1" spc="-30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we</a:t>
            </a:r>
            <a:r>
              <a:rPr sz="2000" b="1" i="1" spc="-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can</a:t>
            </a:r>
            <a:r>
              <a:rPr sz="2000" b="1" i="1" spc="-2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use</a:t>
            </a:r>
            <a:r>
              <a:rPr sz="2000" b="1" i="1" spc="-10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*(p+3)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spc="-75" dirty="0">
                <a:latin typeface="Times New Roman"/>
                <a:cs typeface="Times New Roman"/>
              </a:rPr>
              <a:t>To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access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array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elements,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one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array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indexing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pointers.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b="1" i="1" dirty="0">
                <a:solidFill>
                  <a:srgbClr val="FF0000"/>
                </a:solidFill>
                <a:latin typeface="Times New Roman"/>
                <a:cs typeface="Times New Roman"/>
              </a:rPr>
              <a:t>Pointer</a:t>
            </a:r>
            <a:r>
              <a:rPr sz="2000" b="1" i="1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FF0000"/>
                </a:solidFill>
                <a:latin typeface="Times New Roman"/>
                <a:cs typeface="Times New Roman"/>
              </a:rPr>
              <a:t>accessing</a:t>
            </a:r>
            <a:r>
              <a:rPr sz="2000" b="1" i="1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FF0000"/>
                </a:solidFill>
                <a:latin typeface="Times New Roman"/>
                <a:cs typeface="Times New Roman"/>
              </a:rPr>
              <a:t>method</a:t>
            </a:r>
            <a:r>
              <a:rPr sz="2000" b="1" i="1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FF0000"/>
                </a:solidFill>
                <a:latin typeface="Times New Roman"/>
                <a:cs typeface="Times New Roman"/>
              </a:rPr>
              <a:t>is</a:t>
            </a:r>
            <a:r>
              <a:rPr sz="2000" b="1" i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FF0000"/>
                </a:solidFill>
                <a:latin typeface="Times New Roman"/>
                <a:cs typeface="Times New Roman"/>
              </a:rPr>
              <a:t>much</a:t>
            </a:r>
            <a:r>
              <a:rPr sz="2000" b="1" i="1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FF0000"/>
                </a:solidFill>
                <a:latin typeface="Times New Roman"/>
                <a:cs typeface="Times New Roman"/>
              </a:rPr>
              <a:t>faster</a:t>
            </a:r>
            <a:r>
              <a:rPr sz="2000" b="1" i="1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FF0000"/>
                </a:solidFill>
                <a:latin typeface="Times New Roman"/>
                <a:cs typeface="Times New Roman"/>
              </a:rPr>
              <a:t>than array</a:t>
            </a:r>
            <a:r>
              <a:rPr sz="2000" b="1" i="1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FF0000"/>
                </a:solidFill>
                <a:latin typeface="Times New Roman"/>
                <a:cs typeface="Times New Roman"/>
              </a:rPr>
              <a:t>indexing.</a:t>
            </a:r>
            <a:endParaRPr sz="2000">
              <a:solidFill>
                <a:srgbClr val="FF0000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11146535" y="6464909"/>
            <a:ext cx="15367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z="1200" dirty="0">
                <a:solidFill>
                  <a:srgbClr val="888888"/>
                </a:solidFill>
                <a:latin typeface="Calibri"/>
                <a:cs typeface="Calibri"/>
              </a:rPr>
              <a:pPr marL="38100">
                <a:lnSpc>
                  <a:spcPts val="1240"/>
                </a:lnSpc>
              </a:pPr>
              <a:t>4</a:t>
            </a:fld>
            <a:endParaRPr sz="1200">
              <a:latin typeface="Calibri"/>
              <a:cs typeface="Calibri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1198" y="141859"/>
            <a:ext cx="373761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60" dirty="0">
                <a:solidFill>
                  <a:srgbClr val="FF0000"/>
                </a:solidFill>
              </a:rPr>
              <a:t>ARRAY</a:t>
            </a:r>
            <a:r>
              <a:rPr sz="2800" spc="-110" dirty="0">
                <a:solidFill>
                  <a:srgbClr val="FF0000"/>
                </a:solidFill>
              </a:rPr>
              <a:t> </a:t>
            </a:r>
            <a:r>
              <a:rPr sz="2800" spc="-5" dirty="0">
                <a:solidFill>
                  <a:srgbClr val="FF0000"/>
                </a:solidFill>
              </a:rPr>
              <a:t>OF</a:t>
            </a:r>
            <a:r>
              <a:rPr sz="2800" spc="-135" dirty="0">
                <a:solidFill>
                  <a:srgbClr val="FF0000"/>
                </a:solidFill>
              </a:rPr>
              <a:t> </a:t>
            </a:r>
            <a:r>
              <a:rPr sz="2800" spc="-5" dirty="0">
                <a:solidFill>
                  <a:srgbClr val="FF0000"/>
                </a:solidFill>
              </a:rPr>
              <a:t>POINTERS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413105" y="953261"/>
            <a:ext cx="5426710" cy="5497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0000"/>
                </a:solidFill>
                <a:latin typeface="Times New Roman"/>
                <a:cs typeface="Times New Roman"/>
              </a:rPr>
              <a:t>Example:</a:t>
            </a:r>
            <a:r>
              <a:rPr sz="1800" b="1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0000"/>
                </a:solidFill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150">
              <a:latin typeface="Times New Roman"/>
              <a:cs typeface="Times New Roman"/>
            </a:endParaRPr>
          </a:p>
          <a:p>
            <a:pPr marL="76200" marR="3263900" indent="-64135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#include &lt;stdio.h&gt; </a:t>
            </a:r>
            <a:r>
              <a:rPr sz="2000" b="1" spc="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const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int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MAX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=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3;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int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main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()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{</a:t>
            </a:r>
            <a:endParaRPr sz="2000">
              <a:latin typeface="Times New Roman"/>
              <a:cs typeface="Times New Roman"/>
            </a:endParaRPr>
          </a:p>
          <a:p>
            <a:pPr marL="203200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int</a:t>
            </a:r>
            <a:r>
              <a:rPr sz="2000" b="1" spc="47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var[]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=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{10,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100,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200};</a:t>
            </a:r>
            <a:endParaRPr sz="2000">
              <a:latin typeface="Times New Roman"/>
              <a:cs typeface="Times New Roman"/>
            </a:endParaRPr>
          </a:p>
          <a:p>
            <a:pPr marL="203200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int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spc="-5" dirty="0">
                <a:latin typeface="Times New Roman"/>
                <a:cs typeface="Times New Roman"/>
              </a:rPr>
              <a:t>i,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*ptr[MAX];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050">
              <a:latin typeface="Times New Roman"/>
              <a:cs typeface="Times New Roman"/>
            </a:endParaRPr>
          </a:p>
          <a:p>
            <a:pPr marL="393700" marR="2364740" indent="-190500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for</a:t>
            </a:r>
            <a:r>
              <a:rPr sz="2000" b="1" spc="-7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(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=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0;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&lt;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spc="10" dirty="0">
                <a:latin typeface="Times New Roman"/>
                <a:cs typeface="Times New Roman"/>
              </a:rPr>
              <a:t>MAX;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i++)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{ </a:t>
            </a:r>
            <a:r>
              <a:rPr sz="2000" b="1" spc="-484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ptr[i]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=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&amp;var[i];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}</a:t>
            </a:r>
            <a:endParaRPr sz="2000">
              <a:latin typeface="Times New Roman"/>
              <a:cs typeface="Times New Roman"/>
            </a:endParaRPr>
          </a:p>
          <a:p>
            <a:pPr marL="393700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for</a:t>
            </a:r>
            <a:r>
              <a:rPr sz="2000" b="1" spc="-7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(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=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0;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&lt;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spc="10" dirty="0">
                <a:latin typeface="Times New Roman"/>
                <a:cs typeface="Times New Roman"/>
              </a:rPr>
              <a:t>MAX;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i++)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{</a:t>
            </a:r>
            <a:endParaRPr sz="2000">
              <a:latin typeface="Times New Roman"/>
              <a:cs typeface="Times New Roman"/>
            </a:endParaRPr>
          </a:p>
          <a:p>
            <a:pPr marL="393700">
              <a:lnSpc>
                <a:spcPct val="100000"/>
              </a:lnSpc>
            </a:pPr>
            <a:r>
              <a:rPr sz="2000" b="1" spc="-15" dirty="0">
                <a:latin typeface="Times New Roman"/>
                <a:cs typeface="Times New Roman"/>
              </a:rPr>
              <a:t>printf("Value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spc="-5" dirty="0">
                <a:latin typeface="Times New Roman"/>
                <a:cs typeface="Times New Roman"/>
              </a:rPr>
              <a:t>var[%d]</a:t>
            </a:r>
            <a:r>
              <a:rPr sz="2000" b="1" dirty="0">
                <a:latin typeface="Times New Roman"/>
                <a:cs typeface="Times New Roman"/>
              </a:rPr>
              <a:t> =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%d\n",</a:t>
            </a:r>
            <a:r>
              <a:rPr sz="2000" b="1" spc="20" dirty="0">
                <a:latin typeface="Times New Roman"/>
                <a:cs typeface="Times New Roman"/>
              </a:rPr>
              <a:t> </a:t>
            </a:r>
            <a:r>
              <a:rPr sz="2000" b="1" spc="-5" dirty="0">
                <a:latin typeface="Times New Roman"/>
                <a:cs typeface="Times New Roman"/>
              </a:rPr>
              <a:t>i,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*ptr[i]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);</a:t>
            </a:r>
            <a:endParaRPr sz="2000">
              <a:latin typeface="Times New Roman"/>
              <a:cs typeface="Times New Roman"/>
            </a:endParaRPr>
          </a:p>
          <a:p>
            <a:pPr marL="203200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latin typeface="Times New Roman"/>
                <a:cs typeface="Times New Roman"/>
              </a:rPr>
              <a:t>}</a:t>
            </a:r>
            <a:endParaRPr sz="2000">
              <a:latin typeface="Times New Roman"/>
              <a:cs typeface="Times New Roman"/>
            </a:endParaRPr>
          </a:p>
          <a:p>
            <a:pPr marL="393700">
              <a:lnSpc>
                <a:spcPct val="100000"/>
              </a:lnSpc>
            </a:pPr>
            <a:r>
              <a:rPr sz="2000" b="1" spc="-5" dirty="0">
                <a:latin typeface="Times New Roman"/>
                <a:cs typeface="Times New Roman"/>
              </a:rPr>
              <a:t>return</a:t>
            </a:r>
            <a:r>
              <a:rPr sz="2000" b="1" spc="-6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0;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}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675881" y="1757553"/>
            <a:ext cx="9747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Ou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t</a:t>
            </a: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put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675881" y="2489453"/>
            <a:ext cx="274447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Value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sz="2400" b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var[0]</a:t>
            </a: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10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Value</a:t>
            </a: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 of var[1]</a:t>
            </a: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= 100 </a:t>
            </a:r>
            <a:r>
              <a:rPr sz="2400" b="1" spc="-5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Value</a:t>
            </a: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 of var[2]</a:t>
            </a: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= 200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1198" y="141859"/>
            <a:ext cx="373761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60" dirty="0">
                <a:solidFill>
                  <a:srgbClr val="FF0000"/>
                </a:solidFill>
              </a:rPr>
              <a:t>ARRAY</a:t>
            </a:r>
            <a:r>
              <a:rPr sz="2800" spc="-110" dirty="0">
                <a:solidFill>
                  <a:srgbClr val="FF0000"/>
                </a:solidFill>
              </a:rPr>
              <a:t> </a:t>
            </a:r>
            <a:r>
              <a:rPr sz="2800" spc="-5" dirty="0">
                <a:solidFill>
                  <a:srgbClr val="FF0000"/>
                </a:solidFill>
              </a:rPr>
              <a:t>OF</a:t>
            </a:r>
            <a:r>
              <a:rPr sz="2800" spc="-135" dirty="0">
                <a:solidFill>
                  <a:srgbClr val="FF0000"/>
                </a:solidFill>
              </a:rPr>
              <a:t> </a:t>
            </a:r>
            <a:r>
              <a:rPr sz="2800" spc="-5" dirty="0">
                <a:solidFill>
                  <a:srgbClr val="FF0000"/>
                </a:solidFill>
              </a:rPr>
              <a:t>POINTERS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11171935" y="6426809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5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3105" y="953261"/>
            <a:ext cx="11366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0000"/>
                </a:solidFill>
                <a:latin typeface="Times New Roman"/>
                <a:cs typeface="Times New Roman"/>
              </a:rPr>
              <a:t>Example:</a:t>
            </a:r>
            <a:r>
              <a:rPr sz="1800" b="1" spc="-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0000"/>
                </a:solidFill>
                <a:latin typeface="Times New Roman"/>
                <a:cs typeface="Times New Roman"/>
              </a:rPr>
              <a:t>2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52370" y="878535"/>
            <a:ext cx="5110480" cy="58794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#include</a:t>
            </a:r>
            <a:r>
              <a:rPr sz="2400" b="1" spc="-5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&lt;stdio.h&gt;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b="1" spc="-5" dirty="0">
                <a:latin typeface="Times New Roman"/>
                <a:cs typeface="Times New Roman"/>
              </a:rPr>
              <a:t>int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main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()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b="1" spc="-5" dirty="0">
                <a:latin typeface="Times New Roman"/>
                <a:cs typeface="Times New Roman"/>
              </a:rPr>
              <a:t>{</a:t>
            </a:r>
            <a:endParaRPr sz="24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</a:pPr>
            <a:r>
              <a:rPr sz="2400" b="1" spc="-5" dirty="0">
                <a:latin typeface="Times New Roman"/>
                <a:cs typeface="Times New Roman"/>
              </a:rPr>
              <a:t>int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i,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*p,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sum;</a:t>
            </a:r>
            <a:endParaRPr sz="2400">
              <a:latin typeface="Times New Roman"/>
              <a:cs typeface="Times New Roman"/>
            </a:endParaRPr>
          </a:p>
          <a:p>
            <a:pPr marL="241300" marR="1883410">
              <a:lnSpc>
                <a:spcPct val="100000"/>
              </a:lnSpc>
            </a:pPr>
            <a:r>
              <a:rPr sz="2400" b="1" spc="-5" dirty="0">
                <a:latin typeface="Times New Roman"/>
                <a:cs typeface="Times New Roman"/>
              </a:rPr>
              <a:t>int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x[5]</a:t>
            </a:r>
            <a:r>
              <a:rPr sz="2400" b="1" spc="-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=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{4,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6,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2,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8,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1}; </a:t>
            </a:r>
            <a:r>
              <a:rPr sz="2400" b="1" spc="-58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i=0;</a:t>
            </a:r>
            <a:endParaRPr sz="24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</a:pPr>
            <a:r>
              <a:rPr sz="2400" b="1" spc="-5" dirty="0">
                <a:latin typeface="Times New Roman"/>
                <a:cs typeface="Times New Roman"/>
              </a:rPr>
              <a:t>p=x;</a:t>
            </a:r>
            <a:endParaRPr sz="2400">
              <a:latin typeface="Times New Roman"/>
              <a:cs typeface="Times New Roman"/>
            </a:endParaRPr>
          </a:p>
          <a:p>
            <a:pPr marL="241300" marR="113664">
              <a:lnSpc>
                <a:spcPct val="100000"/>
              </a:lnSpc>
            </a:pPr>
            <a:r>
              <a:rPr sz="2400" b="1" spc="-5" dirty="0">
                <a:latin typeface="Times New Roman"/>
                <a:cs typeface="Times New Roman"/>
              </a:rPr>
              <a:t>print</a:t>
            </a:r>
            <a:r>
              <a:rPr sz="2400" b="1" spc="10" dirty="0">
                <a:latin typeface="Times New Roman"/>
                <a:cs typeface="Times New Roman"/>
              </a:rPr>
              <a:t>f</a:t>
            </a:r>
            <a:r>
              <a:rPr sz="2400" b="1" dirty="0">
                <a:latin typeface="Times New Roman"/>
                <a:cs typeface="Times New Roman"/>
              </a:rPr>
              <a:t>("Eleme</a:t>
            </a:r>
            <a:r>
              <a:rPr sz="2400" b="1" spc="-5" dirty="0">
                <a:latin typeface="Times New Roman"/>
                <a:cs typeface="Times New Roman"/>
              </a:rPr>
              <a:t>nt</a:t>
            </a:r>
            <a:r>
              <a:rPr sz="2400" b="1" spc="-70" dirty="0">
                <a:latin typeface="Times New Roman"/>
                <a:cs typeface="Times New Roman"/>
              </a:rPr>
              <a:t> </a:t>
            </a:r>
            <a:r>
              <a:rPr sz="2400" b="1" spc="-229" dirty="0">
                <a:latin typeface="Times New Roman"/>
                <a:cs typeface="Times New Roman"/>
              </a:rPr>
              <a:t>V</a:t>
            </a:r>
            <a:r>
              <a:rPr sz="2400" b="1" spc="-5" dirty="0">
                <a:latin typeface="Times New Roman"/>
                <a:cs typeface="Times New Roman"/>
              </a:rPr>
              <a:t>alue</a:t>
            </a:r>
            <a:r>
              <a:rPr sz="2400" b="1" spc="-135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A</a:t>
            </a:r>
            <a:r>
              <a:rPr sz="2400" b="1" spc="-15" dirty="0">
                <a:latin typeface="Times New Roman"/>
                <a:cs typeface="Times New Roman"/>
              </a:rPr>
              <a:t>d</a:t>
            </a:r>
            <a:r>
              <a:rPr sz="2400" b="1" spc="-5" dirty="0">
                <a:latin typeface="Times New Roman"/>
                <a:cs typeface="Times New Roman"/>
              </a:rPr>
              <a:t>d</a:t>
            </a:r>
            <a:r>
              <a:rPr sz="2400" b="1" spc="-55" dirty="0">
                <a:latin typeface="Times New Roman"/>
                <a:cs typeface="Times New Roman"/>
              </a:rPr>
              <a:t>r</a:t>
            </a:r>
            <a:r>
              <a:rPr sz="2400" b="1" spc="-5" dirty="0">
                <a:latin typeface="Times New Roman"/>
                <a:cs typeface="Times New Roman"/>
              </a:rPr>
              <a:t>ess</a:t>
            </a:r>
            <a:r>
              <a:rPr sz="2400" b="1" spc="25" dirty="0">
                <a:latin typeface="Times New Roman"/>
                <a:cs typeface="Times New Roman"/>
              </a:rPr>
              <a:t> </a:t>
            </a:r>
            <a:r>
              <a:rPr sz="2400" b="1" spc="5" dirty="0">
                <a:latin typeface="Times New Roman"/>
                <a:cs typeface="Times New Roman"/>
              </a:rPr>
              <a:t>\</a:t>
            </a:r>
            <a:r>
              <a:rPr sz="2400" b="1" spc="-5" dirty="0">
                <a:latin typeface="Times New Roman"/>
                <a:cs typeface="Times New Roman"/>
              </a:rPr>
              <a:t>n");  while(i&lt;5)</a:t>
            </a:r>
            <a:endParaRPr sz="24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</a:pPr>
            <a:r>
              <a:rPr sz="2400" b="1" dirty="0">
                <a:latin typeface="Times New Roman"/>
                <a:cs typeface="Times New Roman"/>
              </a:rPr>
              <a:t>{</a:t>
            </a:r>
            <a:endParaRPr sz="2400">
              <a:latin typeface="Times New Roman"/>
              <a:cs typeface="Times New Roman"/>
            </a:endParaRPr>
          </a:p>
          <a:p>
            <a:pPr marL="546100" marR="5080">
              <a:lnSpc>
                <a:spcPct val="100000"/>
              </a:lnSpc>
              <a:spcBef>
                <a:spcPts val="5"/>
              </a:spcBef>
            </a:pPr>
            <a:r>
              <a:rPr sz="2400" b="1" spc="-5" dirty="0">
                <a:latin typeface="Times New Roman"/>
                <a:cs typeface="Times New Roman"/>
              </a:rPr>
              <a:t>printf("x[%d]</a:t>
            </a:r>
            <a:r>
              <a:rPr sz="2400" b="1" spc="10" dirty="0">
                <a:latin typeface="Times New Roman"/>
                <a:cs typeface="Times New Roman"/>
              </a:rPr>
              <a:t> </a:t>
            </a:r>
            <a:r>
              <a:rPr sz="2400" b="1" spc="-15" dirty="0">
                <a:latin typeface="Times New Roman"/>
                <a:cs typeface="Times New Roman"/>
              </a:rPr>
              <a:t>%d</a:t>
            </a:r>
            <a:r>
              <a:rPr sz="2400" b="1" spc="20" dirty="0">
                <a:latin typeface="Times New Roman"/>
                <a:cs typeface="Times New Roman"/>
              </a:rPr>
              <a:t> </a:t>
            </a:r>
            <a:r>
              <a:rPr sz="2400" b="1" spc="-15" dirty="0">
                <a:latin typeface="Times New Roman"/>
                <a:cs typeface="Times New Roman"/>
              </a:rPr>
              <a:t>%u</a:t>
            </a:r>
            <a:r>
              <a:rPr sz="2400" b="1" spc="45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\n",i,*p,</a:t>
            </a:r>
            <a:r>
              <a:rPr sz="2400" b="1" spc="5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p); </a:t>
            </a:r>
            <a:r>
              <a:rPr sz="2400" b="1" spc="-585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sum </a:t>
            </a:r>
            <a:r>
              <a:rPr sz="2400" b="1" dirty="0">
                <a:latin typeface="Times New Roman"/>
                <a:cs typeface="Times New Roman"/>
              </a:rPr>
              <a:t>= </a:t>
            </a:r>
            <a:r>
              <a:rPr sz="2400" b="1" spc="-5" dirty="0">
                <a:latin typeface="Times New Roman"/>
                <a:cs typeface="Times New Roman"/>
              </a:rPr>
              <a:t>sum</a:t>
            </a:r>
            <a:r>
              <a:rPr sz="2400" b="1" dirty="0">
                <a:latin typeface="Times New Roman"/>
                <a:cs typeface="Times New Roman"/>
              </a:rPr>
              <a:t> +</a:t>
            </a:r>
            <a:r>
              <a:rPr sz="2400" b="1" spc="-5" dirty="0">
                <a:latin typeface="Times New Roman"/>
                <a:cs typeface="Times New Roman"/>
              </a:rPr>
              <a:t> *p;</a:t>
            </a:r>
            <a:endParaRPr sz="2400">
              <a:latin typeface="Times New Roman"/>
              <a:cs typeface="Times New Roman"/>
            </a:endParaRPr>
          </a:p>
          <a:p>
            <a:pPr marL="546100">
              <a:lnSpc>
                <a:spcPct val="100000"/>
              </a:lnSpc>
            </a:pPr>
            <a:r>
              <a:rPr sz="2400" b="1" dirty="0">
                <a:latin typeface="Times New Roman"/>
                <a:cs typeface="Times New Roman"/>
              </a:rPr>
              <a:t>i++;</a:t>
            </a:r>
            <a:r>
              <a:rPr sz="2400" b="1" spc="-6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p++;</a:t>
            </a:r>
            <a:endParaRPr sz="24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</a:pPr>
            <a:r>
              <a:rPr sz="2400" b="1" dirty="0"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  <a:p>
            <a:pPr marL="469900" marR="900430">
              <a:lnSpc>
                <a:spcPct val="100000"/>
              </a:lnSpc>
              <a:tabLst>
                <a:tab pos="2173605" algn="l"/>
              </a:tabLst>
            </a:pPr>
            <a:r>
              <a:rPr sz="2400" b="1" spc="-5" dirty="0">
                <a:latin typeface="Times New Roman"/>
                <a:cs typeface="Times New Roman"/>
              </a:rPr>
              <a:t>printf(“\nSum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=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%d",</a:t>
            </a:r>
            <a:r>
              <a:rPr sz="2400" b="1" spc="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sum); </a:t>
            </a:r>
            <a:r>
              <a:rPr sz="2400" b="1" spc="-58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return</a:t>
            </a:r>
            <a:r>
              <a:rPr sz="2400" b="1" dirty="0">
                <a:latin typeface="Times New Roman"/>
                <a:cs typeface="Times New Roman"/>
              </a:rPr>
              <a:t> 0;	</a:t>
            </a:r>
            <a:r>
              <a:rPr sz="2400" b="1" spc="-5" dirty="0"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049259" y="2422397"/>
            <a:ext cx="9747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Times New Roman"/>
                <a:cs typeface="Times New Roman"/>
              </a:rPr>
              <a:t>Ou</a:t>
            </a:r>
            <a:r>
              <a:rPr sz="2400" b="1" dirty="0">
                <a:latin typeface="Times New Roman"/>
                <a:cs typeface="Times New Roman"/>
              </a:rPr>
              <a:t>t</a:t>
            </a:r>
            <a:r>
              <a:rPr sz="2400" b="1" spc="-5" dirty="0">
                <a:latin typeface="Times New Roman"/>
                <a:cs typeface="Times New Roman"/>
              </a:rPr>
              <a:t>put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049259" y="3154171"/>
            <a:ext cx="28606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Ele</a:t>
            </a:r>
            <a:r>
              <a:rPr sz="2400" spc="-15" dirty="0">
                <a:latin typeface="Times New Roman"/>
                <a:cs typeface="Times New Roman"/>
              </a:rPr>
              <a:t>m</a:t>
            </a:r>
            <a:r>
              <a:rPr sz="2400" dirty="0">
                <a:latin typeface="Times New Roman"/>
                <a:cs typeface="Times New Roman"/>
              </a:rPr>
              <a:t>ent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275" dirty="0">
                <a:latin typeface="Times New Roman"/>
                <a:cs typeface="Times New Roman"/>
              </a:rPr>
              <a:t>V</a:t>
            </a:r>
            <a:r>
              <a:rPr sz="2400" dirty="0">
                <a:latin typeface="Times New Roman"/>
                <a:cs typeface="Times New Roman"/>
              </a:rPr>
              <a:t>alue</a:t>
            </a:r>
            <a:r>
              <a:rPr sz="2400" spc="-14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Address</a:t>
            </a:r>
            <a:endParaRPr sz="2400">
              <a:latin typeface="Times New Roman"/>
              <a:cs typeface="Times New Roman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8030209" y="3565820"/>
          <a:ext cx="3419475" cy="253240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73175"/>
                <a:gridCol w="396875"/>
                <a:gridCol w="1749425"/>
              </a:tblGrid>
              <a:tr h="351651">
                <a:tc>
                  <a:txBody>
                    <a:bodyPr/>
                    <a:lstStyle/>
                    <a:p>
                      <a:pPr marL="31750">
                        <a:lnSpc>
                          <a:spcPts val="2620"/>
                        </a:lnSpc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x[0]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ts val="2620"/>
                        </a:lnSpc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4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620"/>
                        </a:lnSpc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3420677920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65760">
                <a:tc>
                  <a:txBody>
                    <a:bodyPr/>
                    <a:lstStyle/>
                    <a:p>
                      <a:pPr marL="31750">
                        <a:lnSpc>
                          <a:spcPts val="2730"/>
                        </a:lnSpc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x[1]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ts val="2730"/>
                        </a:lnSpc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6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730"/>
                        </a:lnSpc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3420677924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65887">
                <a:tc>
                  <a:txBody>
                    <a:bodyPr/>
                    <a:lstStyle/>
                    <a:p>
                      <a:pPr marL="31750">
                        <a:lnSpc>
                          <a:spcPts val="2730"/>
                        </a:lnSpc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x[2]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ts val="2730"/>
                        </a:lnSpc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2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730"/>
                        </a:lnSpc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3420677928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65887">
                <a:tc>
                  <a:txBody>
                    <a:bodyPr/>
                    <a:lstStyle/>
                    <a:p>
                      <a:pPr marL="31750">
                        <a:lnSpc>
                          <a:spcPts val="2730"/>
                        </a:lnSpc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x[3]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ts val="2730"/>
                        </a:lnSpc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8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730"/>
                        </a:lnSpc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3420677932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083221">
                <a:tc>
                  <a:txBody>
                    <a:bodyPr/>
                    <a:lstStyle/>
                    <a:p>
                      <a:pPr marL="31750">
                        <a:lnSpc>
                          <a:spcPts val="2730"/>
                        </a:lnSpc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x[4]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ts val="2820"/>
                        </a:lnSpc>
                      </a:pPr>
                      <a:r>
                        <a:rPr sz="2400" spc="-5" dirty="0">
                          <a:latin typeface="Times New Roman"/>
                          <a:cs typeface="Times New Roman"/>
                        </a:rPr>
                        <a:t>Sum</a:t>
                      </a:r>
                      <a:r>
                        <a:rPr sz="2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5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24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5" dirty="0">
                          <a:latin typeface="Times New Roman"/>
                          <a:cs typeface="Times New Roman"/>
                        </a:rPr>
                        <a:t>21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ts val="2730"/>
                        </a:lnSpc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730"/>
                        </a:lnSpc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3420677936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1198" y="141859"/>
            <a:ext cx="60432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85" dirty="0">
                <a:solidFill>
                  <a:srgbClr val="FF0000"/>
                </a:solidFill>
              </a:rPr>
              <a:t>Two</a:t>
            </a:r>
            <a:r>
              <a:rPr sz="2800" spc="45" dirty="0">
                <a:solidFill>
                  <a:srgbClr val="FF0000"/>
                </a:solidFill>
              </a:rPr>
              <a:t> </a:t>
            </a:r>
            <a:r>
              <a:rPr sz="2800" spc="-5" dirty="0">
                <a:solidFill>
                  <a:srgbClr val="FF0000"/>
                </a:solidFill>
              </a:rPr>
              <a:t>Dimensional</a:t>
            </a:r>
            <a:r>
              <a:rPr sz="2800" spc="-150" dirty="0">
                <a:solidFill>
                  <a:srgbClr val="FF0000"/>
                </a:solidFill>
              </a:rPr>
              <a:t> </a:t>
            </a:r>
            <a:r>
              <a:rPr sz="2800" spc="-10" dirty="0">
                <a:solidFill>
                  <a:srgbClr val="FF0000"/>
                </a:solidFill>
              </a:rPr>
              <a:t>Array</a:t>
            </a:r>
            <a:r>
              <a:rPr sz="2800" spc="25" dirty="0">
                <a:solidFill>
                  <a:srgbClr val="FF0000"/>
                </a:solidFill>
              </a:rPr>
              <a:t> </a:t>
            </a:r>
            <a:r>
              <a:rPr sz="2800" spc="-10" dirty="0">
                <a:solidFill>
                  <a:srgbClr val="FF0000"/>
                </a:solidFill>
              </a:rPr>
              <a:t>Representation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343915" y="1025144"/>
            <a:ext cx="9930130" cy="9410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An </a:t>
            </a:r>
            <a:r>
              <a:rPr sz="2000" spc="-5" dirty="0">
                <a:latin typeface="Times New Roman"/>
                <a:cs typeface="Times New Roman"/>
              </a:rPr>
              <a:t>element</a:t>
            </a:r>
            <a:r>
              <a:rPr sz="2000" dirty="0">
                <a:latin typeface="Times New Roman"/>
                <a:cs typeface="Times New Roman"/>
              </a:rPr>
              <a:t> in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two-dimensional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array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represented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by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pointer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expression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follows: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050">
              <a:latin typeface="Times New Roman"/>
              <a:cs typeface="Times New Roman"/>
            </a:endParaRPr>
          </a:p>
          <a:p>
            <a:pPr marL="1841500">
              <a:lnSpc>
                <a:spcPct val="100000"/>
              </a:lnSpc>
            </a:pPr>
            <a:r>
              <a:rPr sz="2000" spc="-5" dirty="0">
                <a:latin typeface="Times New Roman"/>
                <a:cs typeface="Times New Roman"/>
              </a:rPr>
              <a:t>*(*(a+i)+j)</a:t>
            </a:r>
            <a:r>
              <a:rPr sz="2000" spc="4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*(*(p+i)j)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1920" y="2314955"/>
            <a:ext cx="5855643" cy="410412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93635" y="4114800"/>
            <a:ext cx="5035296" cy="1953768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pPr marL="38100">
                <a:lnSpc>
                  <a:spcPts val="1240"/>
                </a:lnSpc>
              </a:pPr>
              <a:t>6</a:t>
            </a:fld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1198" y="141859"/>
            <a:ext cx="60432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85" dirty="0">
                <a:solidFill>
                  <a:srgbClr val="FF0000"/>
                </a:solidFill>
              </a:rPr>
              <a:t>Two</a:t>
            </a:r>
            <a:r>
              <a:rPr sz="2800" spc="45" dirty="0">
                <a:solidFill>
                  <a:srgbClr val="FF0000"/>
                </a:solidFill>
              </a:rPr>
              <a:t> </a:t>
            </a:r>
            <a:r>
              <a:rPr sz="2800" spc="-5" dirty="0">
                <a:solidFill>
                  <a:srgbClr val="FF0000"/>
                </a:solidFill>
              </a:rPr>
              <a:t>Dimensional</a:t>
            </a:r>
            <a:r>
              <a:rPr sz="2800" spc="-150" dirty="0">
                <a:solidFill>
                  <a:srgbClr val="FF0000"/>
                </a:solidFill>
              </a:rPr>
              <a:t> </a:t>
            </a:r>
            <a:r>
              <a:rPr sz="2800" spc="-10" dirty="0">
                <a:solidFill>
                  <a:srgbClr val="FF0000"/>
                </a:solidFill>
              </a:rPr>
              <a:t>Array</a:t>
            </a:r>
            <a:r>
              <a:rPr sz="2800" spc="25" dirty="0">
                <a:solidFill>
                  <a:srgbClr val="FF0000"/>
                </a:solidFill>
              </a:rPr>
              <a:t> </a:t>
            </a:r>
            <a:r>
              <a:rPr sz="2800" spc="-10" dirty="0">
                <a:solidFill>
                  <a:srgbClr val="FF0000"/>
                </a:solidFill>
              </a:rPr>
              <a:t>Representation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343915" y="1025144"/>
            <a:ext cx="10006965" cy="2160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Let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declare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array,</a:t>
            </a:r>
            <a:endParaRPr sz="2000">
              <a:latin typeface="Times New Roman"/>
              <a:cs typeface="Times New Roman"/>
            </a:endParaRPr>
          </a:p>
          <a:p>
            <a:pPr marL="27559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int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a[3][4]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{{15,27,11,35},{22,19,31,17},{31,23,14,26}};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compiler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allocates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contiguous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space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all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5" dirty="0">
                <a:latin typeface="Times New Roman"/>
                <a:cs typeface="Times New Roman"/>
              </a:rPr>
              <a:t> elements</a:t>
            </a:r>
            <a:r>
              <a:rPr sz="2000" dirty="0">
                <a:latin typeface="Times New Roman"/>
                <a:cs typeface="Times New Roman"/>
              </a:rPr>
              <a:t> row-wise.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i.e.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first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element</a:t>
            </a:r>
            <a:r>
              <a:rPr sz="2000" dirty="0">
                <a:latin typeface="Times New Roman"/>
                <a:cs typeface="Times New Roman"/>
              </a:rPr>
              <a:t> of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second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row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placed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immediately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after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last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element</a:t>
            </a:r>
            <a:r>
              <a:rPr sz="2000" dirty="0">
                <a:latin typeface="Times New Roman"/>
                <a:cs typeface="Times New Roman"/>
              </a:rPr>
              <a:t> of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first</a:t>
            </a:r>
            <a:r>
              <a:rPr sz="2000" spc="-30" dirty="0">
                <a:latin typeface="Times New Roman"/>
                <a:cs typeface="Times New Roman"/>
              </a:rPr>
              <a:t> row.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The </a:t>
            </a:r>
            <a:r>
              <a:rPr sz="2000" spc="-10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l</a:t>
            </a:r>
            <a:r>
              <a:rPr sz="2000" spc="-10" dirty="0">
                <a:latin typeface="Times New Roman"/>
                <a:cs typeface="Times New Roman"/>
              </a:rPr>
              <a:t>e</a:t>
            </a:r>
            <a:r>
              <a:rPr sz="2000" spc="-25" dirty="0">
                <a:latin typeface="Times New Roman"/>
                <a:cs typeface="Times New Roman"/>
              </a:rPr>
              <a:t>m</a:t>
            </a:r>
            <a:r>
              <a:rPr sz="2000" dirty="0">
                <a:latin typeface="Times New Roman"/>
                <a:cs typeface="Times New Roman"/>
              </a:rPr>
              <a:t>ents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 the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‘a’</a:t>
            </a:r>
            <a:r>
              <a:rPr sz="2000" spc="-16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wil</a:t>
            </a:r>
            <a:r>
              <a:rPr sz="2000" dirty="0">
                <a:latin typeface="Times New Roman"/>
                <a:cs typeface="Times New Roman"/>
              </a:rPr>
              <a:t>l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 </a:t>
            </a:r>
            <a:r>
              <a:rPr sz="2000" spc="-5" dirty="0">
                <a:latin typeface="Times New Roman"/>
                <a:cs typeface="Times New Roman"/>
              </a:rPr>
              <a:t>s</a:t>
            </a:r>
            <a:r>
              <a:rPr sz="2000" spc="-15" dirty="0">
                <a:latin typeface="Times New Roman"/>
                <a:cs typeface="Times New Roman"/>
              </a:rPr>
              <a:t>t</a:t>
            </a:r>
            <a:r>
              <a:rPr sz="2000" dirty="0">
                <a:latin typeface="Times New Roman"/>
                <a:cs typeface="Times New Roman"/>
              </a:rPr>
              <a:t>o</a:t>
            </a:r>
            <a:r>
              <a:rPr sz="2000" spc="5" dirty="0">
                <a:latin typeface="Times New Roman"/>
                <a:cs typeface="Times New Roman"/>
              </a:rPr>
              <a:t>r</a:t>
            </a:r>
            <a:r>
              <a:rPr sz="2000" dirty="0">
                <a:latin typeface="Times New Roman"/>
                <a:cs typeface="Times New Roman"/>
              </a:rPr>
              <a:t>ed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as: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3915" y="4988433"/>
            <a:ext cx="7395209" cy="1245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00" marR="5080" indent="-1829435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Times New Roman"/>
                <a:cs typeface="Times New Roman"/>
              </a:rPr>
              <a:t>If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we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declare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 as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pointer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initial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address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&amp;a[0][0],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then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a[i][j]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equivalent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*(p+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spc="5" dirty="0">
                <a:latin typeface="Times New Roman"/>
                <a:cs typeface="Times New Roman"/>
              </a:rPr>
              <a:t>4xi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+</a:t>
            </a:r>
            <a:r>
              <a:rPr sz="2000" b="1" spc="-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j)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example,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5" dirty="0">
                <a:latin typeface="Times New Roman"/>
                <a:cs typeface="Times New Roman"/>
              </a:rPr>
              <a:t> element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a[2][3]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 given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by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*(p+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2x4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+3)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b="1" spc="-15" dirty="0">
                <a:latin typeface="Times New Roman"/>
                <a:cs typeface="Times New Roman"/>
              </a:rPr>
              <a:t>*(p+11)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07920" y="3168395"/>
            <a:ext cx="6556248" cy="149352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pPr marL="38100">
                <a:lnSpc>
                  <a:spcPts val="1240"/>
                </a:lnSpc>
              </a:pPr>
              <a:t>7</a:t>
            </a:fld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pPr marL="38100">
                <a:lnSpc>
                  <a:spcPts val="1240"/>
                </a:lnSpc>
              </a:pPr>
              <a:t>8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1198" y="141859"/>
            <a:ext cx="476758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FF0000"/>
                </a:solidFill>
              </a:rPr>
              <a:t>Pointers and</a:t>
            </a:r>
            <a:r>
              <a:rPr sz="2800" spc="10" dirty="0">
                <a:solidFill>
                  <a:srgbClr val="FF0000"/>
                </a:solidFill>
              </a:rPr>
              <a:t> </a:t>
            </a:r>
            <a:r>
              <a:rPr sz="2800" spc="-5" dirty="0">
                <a:solidFill>
                  <a:srgbClr val="FF0000"/>
                </a:solidFill>
              </a:rPr>
              <a:t>Character</a:t>
            </a:r>
            <a:r>
              <a:rPr sz="2800" spc="-55" dirty="0">
                <a:solidFill>
                  <a:srgbClr val="FF0000"/>
                </a:solidFill>
              </a:rPr>
              <a:t> </a:t>
            </a:r>
            <a:r>
              <a:rPr sz="2800" spc="-5" dirty="0">
                <a:solidFill>
                  <a:srgbClr val="FF0000"/>
                </a:solidFill>
              </a:rPr>
              <a:t>Strings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343915" y="1023620"/>
            <a:ext cx="10711815" cy="4415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C</a:t>
            </a:r>
            <a:r>
              <a:rPr sz="2400" spc="-5" dirty="0">
                <a:latin typeface="Times New Roman"/>
                <a:cs typeface="Times New Roman"/>
              </a:rPr>
              <a:t> supports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 </a:t>
            </a:r>
            <a:r>
              <a:rPr sz="2400" spc="-5" dirty="0">
                <a:latin typeface="Times New Roman"/>
                <a:cs typeface="Times New Roman"/>
              </a:rPr>
              <a:t>method </a:t>
            </a:r>
            <a:r>
              <a:rPr sz="2400" spc="5" dirty="0">
                <a:latin typeface="Times New Roman"/>
                <a:cs typeface="Times New Roman"/>
              </a:rPr>
              <a:t>to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create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strings </a:t>
            </a:r>
            <a:r>
              <a:rPr sz="2400" dirty="0">
                <a:latin typeface="Times New Roman"/>
                <a:cs typeface="Times New Roman"/>
              </a:rPr>
              <a:t>using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pointer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variables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type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10" dirty="0">
                <a:latin typeface="Times New Roman"/>
                <a:cs typeface="Times New Roman"/>
              </a:rPr>
              <a:t>‘char’.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>
              <a:latin typeface="Times New Roman"/>
              <a:cs typeface="Times New Roman"/>
            </a:endParaRPr>
          </a:p>
          <a:p>
            <a:pPr marL="1841500">
              <a:lnSpc>
                <a:spcPct val="100000"/>
              </a:lnSpc>
            </a:pPr>
            <a:r>
              <a:rPr sz="2400" b="1" spc="-5" dirty="0">
                <a:latin typeface="Times New Roman"/>
                <a:cs typeface="Times New Roman"/>
              </a:rPr>
              <a:t>char</a:t>
            </a:r>
            <a:r>
              <a:rPr sz="2400" b="1" spc="-65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*str</a:t>
            </a:r>
            <a:r>
              <a:rPr sz="2400" b="1" spc="-6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=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“good”;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sz="2400" spc="-5" dirty="0">
                <a:latin typeface="Times New Roman"/>
                <a:cs typeface="Times New Roman"/>
              </a:rPr>
              <a:t>This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creates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 string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 stores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 base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address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string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 pointer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variable.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Pointer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now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points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first</a:t>
            </a:r>
            <a:r>
              <a:rPr sz="2400" dirty="0">
                <a:latin typeface="Times New Roman"/>
                <a:cs typeface="Times New Roman"/>
              </a:rPr>
              <a:t> character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 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string.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spc="-90" dirty="0">
                <a:latin typeface="Times New Roman"/>
                <a:cs typeface="Times New Roman"/>
              </a:rPr>
              <a:t>To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print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content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string,</a:t>
            </a:r>
            <a:endParaRPr sz="2400">
              <a:latin typeface="Times New Roman"/>
              <a:cs typeface="Times New Roman"/>
            </a:endParaRPr>
          </a:p>
          <a:p>
            <a:pPr marL="1841500">
              <a:lnSpc>
                <a:spcPct val="100000"/>
              </a:lnSpc>
              <a:tabLst>
                <a:tab pos="4584700" algn="l"/>
                <a:tab pos="5499100" algn="l"/>
              </a:tabLst>
            </a:pPr>
            <a:r>
              <a:rPr sz="2400" b="1" spc="-5" dirty="0">
                <a:latin typeface="Times New Roman"/>
                <a:cs typeface="Times New Roman"/>
              </a:rPr>
              <a:t>print(“%s”,</a:t>
            </a:r>
            <a:r>
              <a:rPr sz="2400" b="1" spc="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str);	or	puts(str);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latin typeface="Times New Roman"/>
                <a:cs typeface="Times New Roman"/>
              </a:rPr>
              <a:t>Using </a:t>
            </a:r>
            <a:r>
              <a:rPr sz="2400" dirty="0">
                <a:latin typeface="Times New Roman"/>
                <a:cs typeface="Times New Roman"/>
              </a:rPr>
              <a:t>pointers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you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access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individual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characters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string.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pPr marL="38100">
                <a:lnSpc>
                  <a:spcPts val="1240"/>
                </a:lnSpc>
              </a:pPr>
              <a:t>9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1198" y="141859"/>
            <a:ext cx="476758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FF0000"/>
                </a:solidFill>
              </a:rPr>
              <a:t>Pointers and</a:t>
            </a:r>
            <a:r>
              <a:rPr sz="2800" spc="10" dirty="0">
                <a:solidFill>
                  <a:srgbClr val="FF0000"/>
                </a:solidFill>
              </a:rPr>
              <a:t> </a:t>
            </a:r>
            <a:r>
              <a:rPr sz="2800" spc="-5" dirty="0">
                <a:solidFill>
                  <a:srgbClr val="FF0000"/>
                </a:solidFill>
              </a:rPr>
              <a:t>Character</a:t>
            </a:r>
            <a:r>
              <a:rPr sz="2800" spc="-55" dirty="0">
                <a:solidFill>
                  <a:srgbClr val="FF0000"/>
                </a:solidFill>
              </a:rPr>
              <a:t> </a:t>
            </a:r>
            <a:r>
              <a:rPr sz="2800" spc="-5" dirty="0">
                <a:solidFill>
                  <a:srgbClr val="FF0000"/>
                </a:solidFill>
              </a:rPr>
              <a:t>Strings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343915" y="1025144"/>
            <a:ext cx="8608695" cy="9410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0" dirty="0">
                <a:latin typeface="Times New Roman"/>
                <a:cs typeface="Times New Roman"/>
              </a:rPr>
              <a:t>Write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 C</a:t>
            </a:r>
            <a:r>
              <a:rPr sz="2000" b="1" spc="5" dirty="0">
                <a:latin typeface="Times New Roman"/>
                <a:cs typeface="Times New Roman"/>
              </a:rPr>
              <a:t> </a:t>
            </a:r>
            <a:r>
              <a:rPr sz="2000" b="1" spc="-5" dirty="0">
                <a:latin typeface="Times New Roman"/>
                <a:cs typeface="Times New Roman"/>
              </a:rPr>
              <a:t>program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using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pointers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to determine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length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 character</a:t>
            </a:r>
            <a:r>
              <a:rPr sz="2000" b="1" spc="-6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string.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Program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3915" y="2244598"/>
            <a:ext cx="4991735" cy="42945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2971165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Times New Roman"/>
                <a:cs typeface="Times New Roman"/>
              </a:rPr>
              <a:t>#include</a:t>
            </a:r>
            <a:r>
              <a:rPr sz="2000" b="1" spc="-8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&lt;stdio.h&gt; </a:t>
            </a:r>
            <a:r>
              <a:rPr sz="2000" b="1" spc="-484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int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main()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{</a:t>
            </a:r>
            <a:endParaRPr sz="2000">
              <a:latin typeface="Times New Roman"/>
              <a:cs typeface="Times New Roman"/>
            </a:endParaRPr>
          </a:p>
          <a:p>
            <a:pPr marL="457200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int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length,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i=0;</a:t>
            </a:r>
            <a:endParaRPr sz="2000">
              <a:latin typeface="Times New Roman"/>
              <a:cs typeface="Times New Roman"/>
            </a:endParaRPr>
          </a:p>
          <a:p>
            <a:pPr marL="520065" marR="5080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char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*cptr</a:t>
            </a:r>
            <a:r>
              <a:rPr sz="2000" b="1" spc="-6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=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"VELLORE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INSTITUTE"; </a:t>
            </a:r>
            <a:r>
              <a:rPr sz="2000" b="1" spc="-484" dirty="0">
                <a:latin typeface="Times New Roman"/>
                <a:cs typeface="Times New Roman"/>
              </a:rPr>
              <a:t> </a:t>
            </a:r>
            <a:r>
              <a:rPr sz="2000" b="1" spc="-5" dirty="0">
                <a:latin typeface="Times New Roman"/>
                <a:cs typeface="Times New Roman"/>
              </a:rPr>
              <a:t>printf("%s\n",cptr);</a:t>
            </a:r>
            <a:endParaRPr sz="2000">
              <a:latin typeface="Times New Roman"/>
              <a:cs typeface="Times New Roman"/>
            </a:endParaRPr>
          </a:p>
          <a:p>
            <a:pPr marL="647700">
              <a:lnSpc>
                <a:spcPct val="100000"/>
              </a:lnSpc>
            </a:pPr>
            <a:r>
              <a:rPr sz="2000" b="1" spc="-5" dirty="0">
                <a:latin typeface="Times New Roman"/>
                <a:cs typeface="Times New Roman"/>
              </a:rPr>
              <a:t>while(*cptr</a:t>
            </a:r>
            <a:r>
              <a:rPr sz="2000" b="1" spc="-7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!=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spc="-5" dirty="0">
                <a:latin typeface="Times New Roman"/>
                <a:cs typeface="Times New Roman"/>
              </a:rPr>
              <a:t>'\0')</a:t>
            </a:r>
            <a:endParaRPr sz="2000">
              <a:latin typeface="Times New Roman"/>
              <a:cs typeface="Times New Roman"/>
            </a:endParaRPr>
          </a:p>
          <a:p>
            <a:pPr marL="647700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{</a:t>
            </a:r>
            <a:endParaRPr sz="2000">
              <a:latin typeface="Times New Roman"/>
              <a:cs typeface="Times New Roman"/>
            </a:endParaRPr>
          </a:p>
          <a:p>
            <a:pPr marL="901065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cptr++;</a:t>
            </a:r>
            <a:endParaRPr sz="2000">
              <a:latin typeface="Times New Roman"/>
              <a:cs typeface="Times New Roman"/>
            </a:endParaRPr>
          </a:p>
          <a:p>
            <a:pPr marL="901065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latin typeface="Times New Roman"/>
                <a:cs typeface="Times New Roman"/>
              </a:rPr>
              <a:t>i++;</a:t>
            </a:r>
            <a:endParaRPr sz="2000">
              <a:latin typeface="Times New Roman"/>
              <a:cs typeface="Times New Roman"/>
            </a:endParaRPr>
          </a:p>
          <a:p>
            <a:pPr marL="647700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}</a:t>
            </a:r>
            <a:endParaRPr sz="2000">
              <a:latin typeface="Times New Roman"/>
              <a:cs typeface="Times New Roman"/>
            </a:endParaRPr>
          </a:p>
          <a:p>
            <a:pPr marL="12700" marR="24130" indent="316865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printf("\n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Length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string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is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spc="-5" dirty="0">
                <a:latin typeface="Times New Roman"/>
                <a:cs typeface="Times New Roman"/>
              </a:rPr>
              <a:t>%d",i-1); </a:t>
            </a:r>
            <a:r>
              <a:rPr sz="2000" b="1" spc="-484" dirty="0">
                <a:latin typeface="Times New Roman"/>
                <a:cs typeface="Times New Roman"/>
              </a:rPr>
              <a:t> </a:t>
            </a:r>
            <a:r>
              <a:rPr sz="2000" b="1" spc="-5" dirty="0">
                <a:latin typeface="Times New Roman"/>
                <a:cs typeface="Times New Roman"/>
              </a:rPr>
              <a:t>return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0;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}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755128" y="2787522"/>
            <a:ext cx="7073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FF0000"/>
                </a:solidFill>
                <a:latin typeface="Calibri"/>
                <a:cs typeface="Calibri"/>
              </a:rPr>
              <a:t>Out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put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755128" y="3336416"/>
            <a:ext cx="23526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5" dirty="0">
                <a:latin typeface="Calibri"/>
                <a:cs typeface="Calibri"/>
              </a:rPr>
              <a:t>VELLORE</a:t>
            </a:r>
            <a:r>
              <a:rPr sz="1800" b="1" spc="-5" dirty="0">
                <a:latin typeface="Calibri"/>
                <a:cs typeface="Calibri"/>
              </a:rPr>
              <a:t> INSTITUTE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b="1" spc="-5" dirty="0">
                <a:latin typeface="Calibri"/>
                <a:cs typeface="Calibri"/>
              </a:rPr>
              <a:t>Length</a:t>
            </a:r>
            <a:r>
              <a:rPr sz="1800" b="1" spc="-4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of</a:t>
            </a:r>
            <a:r>
              <a:rPr sz="1800" b="1" spc="-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the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string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is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16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pPr marL="38100">
                <a:lnSpc>
                  <a:spcPts val="1240"/>
                </a:lnSpc>
              </a:pPr>
              <a:t>10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1198" y="141859"/>
            <a:ext cx="268859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solidFill>
                  <a:srgbClr val="FF0000"/>
                </a:solidFill>
              </a:rPr>
              <a:t>Array</a:t>
            </a:r>
            <a:r>
              <a:rPr sz="2800" spc="-20" dirty="0">
                <a:solidFill>
                  <a:srgbClr val="FF0000"/>
                </a:solidFill>
              </a:rPr>
              <a:t> </a:t>
            </a:r>
            <a:r>
              <a:rPr sz="2800" spc="-5" dirty="0">
                <a:solidFill>
                  <a:srgbClr val="FF0000"/>
                </a:solidFill>
              </a:rPr>
              <a:t>of</a:t>
            </a:r>
            <a:r>
              <a:rPr sz="2800" spc="-20" dirty="0">
                <a:solidFill>
                  <a:srgbClr val="FF0000"/>
                </a:solidFill>
              </a:rPr>
              <a:t> </a:t>
            </a:r>
            <a:r>
              <a:rPr sz="2800" spc="-5" dirty="0">
                <a:solidFill>
                  <a:srgbClr val="FF0000"/>
                </a:solidFill>
              </a:rPr>
              <a:t>Pointers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343915" y="1023620"/>
            <a:ext cx="10327005" cy="4781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Consider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array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strings,</a:t>
            </a:r>
            <a:endParaRPr sz="2400">
              <a:latin typeface="Times New Roman"/>
              <a:cs typeface="Times New Roman"/>
            </a:endParaRPr>
          </a:p>
          <a:p>
            <a:pPr marL="2755900">
              <a:lnSpc>
                <a:spcPct val="100000"/>
              </a:lnSpc>
              <a:tabLst>
                <a:tab pos="5499100" algn="l"/>
              </a:tabLst>
            </a:pPr>
            <a:r>
              <a:rPr sz="2400" b="1" dirty="0">
                <a:latin typeface="Times New Roman"/>
                <a:cs typeface="Times New Roman"/>
              </a:rPr>
              <a:t>char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name[3][25];	</a:t>
            </a:r>
            <a:r>
              <a:rPr sz="2400" dirty="0">
                <a:latin typeface="Times New Roman"/>
                <a:cs typeface="Times New Roman"/>
              </a:rPr>
              <a:t>//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allocate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fixed </a:t>
            </a:r>
            <a:r>
              <a:rPr sz="2400" dirty="0">
                <a:latin typeface="Times New Roman"/>
                <a:cs typeface="Times New Roman"/>
              </a:rPr>
              <a:t>storage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75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bytes</a:t>
            </a:r>
            <a:endParaRPr sz="2400">
              <a:latin typeface="Times New Roman"/>
              <a:cs typeface="Times New Roman"/>
            </a:endParaRPr>
          </a:p>
          <a:p>
            <a:pPr marL="12700" marR="5080">
              <a:lnSpc>
                <a:spcPct val="200000"/>
              </a:lnSpc>
            </a:pPr>
            <a:r>
              <a:rPr sz="2400" spc="-5" dirty="0">
                <a:latin typeface="Times New Roman"/>
                <a:cs typeface="Times New Roman"/>
              </a:rPr>
              <a:t>Use </a:t>
            </a:r>
            <a:r>
              <a:rPr sz="2400" dirty="0">
                <a:latin typeface="Times New Roman"/>
                <a:cs typeface="Times New Roman"/>
              </a:rPr>
              <a:t>pointer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string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so</a:t>
            </a:r>
            <a:r>
              <a:rPr sz="2400" dirty="0">
                <a:latin typeface="Times New Roman"/>
                <a:cs typeface="Times New Roman"/>
              </a:rPr>
              <a:t> that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optimal</a:t>
            </a:r>
            <a:r>
              <a:rPr sz="2400" dirty="0">
                <a:latin typeface="Times New Roman"/>
                <a:cs typeface="Times New Roman"/>
              </a:rPr>
              <a:t> length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 allocated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-&gt;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save lot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30" dirty="0">
                <a:latin typeface="Times New Roman"/>
                <a:cs typeface="Times New Roman"/>
              </a:rPr>
              <a:t>memory.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5" dirty="0">
                <a:latin typeface="Times New Roman"/>
                <a:cs typeface="Times New Roman"/>
              </a:rPr>
              <a:t> example,</a:t>
            </a:r>
            <a:endParaRPr sz="2400">
              <a:latin typeface="Times New Roman"/>
              <a:cs typeface="Times New Roman"/>
            </a:endParaRPr>
          </a:p>
          <a:p>
            <a:pPr marL="18415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Times New Roman"/>
                <a:cs typeface="Times New Roman"/>
              </a:rPr>
              <a:t>char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*name[3]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{“India”,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“France”,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”Germany”};</a:t>
            </a:r>
            <a:endParaRPr sz="2400">
              <a:latin typeface="Times New Roman"/>
              <a:cs typeface="Times New Roman"/>
            </a:endParaRPr>
          </a:p>
          <a:p>
            <a:pPr marL="6185535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//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array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3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pointers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characters</a:t>
            </a:r>
            <a:endParaRPr sz="2400">
              <a:latin typeface="Times New Roman"/>
              <a:cs typeface="Times New Roman"/>
            </a:endParaRPr>
          </a:p>
          <a:p>
            <a:pPr marL="1841500" marR="5904865">
              <a:lnSpc>
                <a:spcPct val="100000"/>
              </a:lnSpc>
            </a:pPr>
            <a:r>
              <a:rPr sz="2400" spc="-5" dirty="0">
                <a:latin typeface="Times New Roman"/>
                <a:cs typeface="Times New Roman"/>
              </a:rPr>
              <a:t>name[0] </a:t>
            </a:r>
            <a:r>
              <a:rPr sz="2400" dirty="0">
                <a:latin typeface="Times New Roman"/>
                <a:cs typeface="Times New Roman"/>
              </a:rPr>
              <a:t>-&gt; India 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name[1] </a:t>
            </a:r>
            <a:r>
              <a:rPr sz="2400" dirty="0">
                <a:latin typeface="Times New Roman"/>
                <a:cs typeface="Times New Roman"/>
              </a:rPr>
              <a:t>-&gt; France 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name[2]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-&gt;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Germany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latin typeface="Times New Roman"/>
                <a:cs typeface="Times New Roman"/>
              </a:rPr>
              <a:t>This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declaration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allocates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only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21</a:t>
            </a:r>
            <a:r>
              <a:rPr sz="2400" spc="-5" dirty="0">
                <a:latin typeface="Times New Roman"/>
                <a:cs typeface="Times New Roman"/>
              </a:rPr>
              <a:t> bytes.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pPr marL="38100">
                <a:lnSpc>
                  <a:spcPts val="1240"/>
                </a:lnSpc>
              </a:pPr>
              <a:t>11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1198" y="141859"/>
            <a:ext cx="268859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solidFill>
                  <a:srgbClr val="FF0000"/>
                </a:solidFill>
              </a:rPr>
              <a:t>Array</a:t>
            </a:r>
            <a:r>
              <a:rPr sz="2800" spc="-20" dirty="0">
                <a:solidFill>
                  <a:srgbClr val="FF0000"/>
                </a:solidFill>
              </a:rPr>
              <a:t> </a:t>
            </a:r>
            <a:r>
              <a:rPr sz="2800" spc="-5" dirty="0">
                <a:solidFill>
                  <a:srgbClr val="FF0000"/>
                </a:solidFill>
              </a:rPr>
              <a:t>of</a:t>
            </a:r>
            <a:r>
              <a:rPr sz="2800" spc="-20" dirty="0">
                <a:solidFill>
                  <a:srgbClr val="FF0000"/>
                </a:solidFill>
              </a:rPr>
              <a:t> </a:t>
            </a:r>
            <a:r>
              <a:rPr sz="2800" spc="-5" dirty="0">
                <a:solidFill>
                  <a:srgbClr val="FF0000"/>
                </a:solidFill>
              </a:rPr>
              <a:t>Pointers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343915" y="1023620"/>
            <a:ext cx="6900545" cy="40500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Times New Roman"/>
                <a:cs typeface="Times New Roman"/>
              </a:rPr>
              <a:t>Example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Program: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>
              <a:latin typeface="Times New Roman"/>
              <a:cs typeface="Times New Roman"/>
            </a:endParaRPr>
          </a:p>
          <a:p>
            <a:pPr marL="12700" marR="4589145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#include</a:t>
            </a:r>
            <a:r>
              <a:rPr sz="2400" spc="-11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&lt;stdio.h&gt;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main()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{</a:t>
            </a:r>
            <a:endParaRPr sz="240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char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*name[3]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{“India”,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“England”,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“Wales”};</a:t>
            </a:r>
            <a:endParaRPr sz="240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Times New Roman"/>
                <a:cs typeface="Times New Roman"/>
              </a:rPr>
              <a:t>int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i;</a:t>
            </a:r>
            <a:endParaRPr sz="2400">
              <a:latin typeface="Times New Roman"/>
              <a:cs typeface="Times New Roman"/>
            </a:endParaRPr>
          </a:p>
          <a:p>
            <a:pPr marL="1841500" marR="2052955">
              <a:lnSpc>
                <a:spcPct val="100000"/>
              </a:lnSpc>
            </a:pPr>
            <a:r>
              <a:rPr sz="2400" spc="-5" dirty="0">
                <a:latin typeface="Times New Roman"/>
                <a:cs typeface="Times New Roman"/>
              </a:rPr>
              <a:t>for(i=0;i&lt;3;i++) </a:t>
            </a:r>
            <a:r>
              <a:rPr sz="2400" dirty="0">
                <a:latin typeface="Times New Roman"/>
                <a:cs typeface="Times New Roman"/>
              </a:rPr>
              <a:t> printf("\n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%s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",name[i]);</a:t>
            </a:r>
            <a:endParaRPr sz="240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return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0;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pPr marL="38100">
                <a:lnSpc>
                  <a:spcPts val="1240"/>
                </a:lnSpc>
              </a:pPr>
              <a:t>12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1198" y="103123"/>
            <a:ext cx="49117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FF0000"/>
                </a:solidFill>
              </a:rPr>
              <a:t>Pointers</a:t>
            </a:r>
            <a:r>
              <a:rPr sz="2800" spc="-10" dirty="0">
                <a:solidFill>
                  <a:srgbClr val="FF0000"/>
                </a:solidFill>
              </a:rPr>
              <a:t> </a:t>
            </a:r>
            <a:r>
              <a:rPr sz="2800" spc="-5" dirty="0">
                <a:solidFill>
                  <a:srgbClr val="FF0000"/>
                </a:solidFill>
              </a:rPr>
              <a:t>as</a:t>
            </a:r>
            <a:r>
              <a:rPr sz="2800" spc="-10" dirty="0">
                <a:solidFill>
                  <a:srgbClr val="FF0000"/>
                </a:solidFill>
              </a:rPr>
              <a:t> </a:t>
            </a:r>
            <a:r>
              <a:rPr sz="2800" spc="-5" dirty="0">
                <a:solidFill>
                  <a:srgbClr val="FF0000"/>
                </a:solidFill>
              </a:rPr>
              <a:t>Function</a:t>
            </a:r>
            <a:r>
              <a:rPr sz="2800" spc="-145" dirty="0">
                <a:solidFill>
                  <a:srgbClr val="FF0000"/>
                </a:solidFill>
              </a:rPr>
              <a:t> </a:t>
            </a:r>
            <a:r>
              <a:rPr sz="2800" spc="-5" dirty="0">
                <a:solidFill>
                  <a:srgbClr val="FF0000"/>
                </a:solidFill>
              </a:rPr>
              <a:t>Arguments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343915" y="1023620"/>
            <a:ext cx="10654030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process</a:t>
            </a:r>
            <a:r>
              <a:rPr sz="2400" dirty="0">
                <a:latin typeface="Times New Roman"/>
                <a:cs typeface="Times New Roman"/>
              </a:rPr>
              <a:t> of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calling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function using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pointers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pass </a:t>
            </a:r>
            <a:r>
              <a:rPr sz="2400" dirty="0">
                <a:latin typeface="Times New Roman"/>
                <a:cs typeface="Times New Roman"/>
              </a:rPr>
              <a:t>the addresses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 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variables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is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known</a:t>
            </a:r>
            <a:r>
              <a:rPr sz="2400" dirty="0">
                <a:latin typeface="Times New Roman"/>
                <a:cs typeface="Times New Roman"/>
              </a:rPr>
              <a:t> as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call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by reference.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b="1" spc="-5" dirty="0">
                <a:latin typeface="Times New Roman"/>
                <a:cs typeface="Times New Roman"/>
              </a:rPr>
              <a:t>Example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Program: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3915" y="2852369"/>
            <a:ext cx="2243455" cy="758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#include</a:t>
            </a:r>
            <a:r>
              <a:rPr sz="2400" spc="5" dirty="0">
                <a:latin typeface="Times New Roman"/>
                <a:cs typeface="Times New Roman"/>
              </a:rPr>
              <a:t>&lt;</a:t>
            </a:r>
            <a:r>
              <a:rPr sz="2400" dirty="0">
                <a:latin typeface="Times New Roman"/>
                <a:cs typeface="Times New Roman"/>
              </a:rPr>
              <a:t>st</a:t>
            </a:r>
            <a:r>
              <a:rPr sz="2400" spc="-10" dirty="0">
                <a:latin typeface="Times New Roman"/>
                <a:cs typeface="Times New Roman"/>
              </a:rPr>
              <a:t>d</a:t>
            </a:r>
            <a:r>
              <a:rPr sz="2400" dirty="0">
                <a:latin typeface="Times New Roman"/>
                <a:cs typeface="Times New Roman"/>
              </a:rPr>
              <a:t>io.h&gt;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Times New Roman"/>
                <a:cs typeface="Times New Roman"/>
              </a:rPr>
              <a:t>void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sample();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43915" y="3950334"/>
            <a:ext cx="2484120" cy="2586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int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main()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{</a:t>
            </a:r>
            <a:endParaRPr sz="2400">
              <a:latin typeface="Times New Roman"/>
              <a:cs typeface="Times New Roman"/>
            </a:endParaRPr>
          </a:p>
          <a:p>
            <a:pPr marL="546100" marR="5080" indent="-7620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int x=20; 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sample(&amp;x); </a:t>
            </a:r>
            <a:r>
              <a:rPr sz="2400" dirty="0">
                <a:latin typeface="Times New Roman"/>
                <a:cs typeface="Times New Roman"/>
              </a:rPr>
              <a:t> printf("%d",</a:t>
            </a:r>
            <a:r>
              <a:rPr sz="2400" spc="-1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x);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return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0;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01770" y="5413654"/>
            <a:ext cx="14300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//</a:t>
            </a:r>
            <a:r>
              <a:rPr sz="2400" b="1" spc="-50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prints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30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852921" y="2686050"/>
            <a:ext cx="2587625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sample(int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*p)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{</a:t>
            </a:r>
            <a:endParaRPr sz="240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*p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*p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+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10;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1198" y="141859"/>
            <a:ext cx="462661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FF0000"/>
                </a:solidFill>
              </a:rPr>
              <a:t>Passing</a:t>
            </a:r>
            <a:r>
              <a:rPr sz="2800" spc="-10" dirty="0">
                <a:solidFill>
                  <a:srgbClr val="FF0000"/>
                </a:solidFill>
              </a:rPr>
              <a:t> </a:t>
            </a:r>
            <a:r>
              <a:rPr sz="2800" spc="-5" dirty="0">
                <a:solidFill>
                  <a:srgbClr val="FF0000"/>
                </a:solidFill>
              </a:rPr>
              <a:t>Pointers</a:t>
            </a:r>
            <a:r>
              <a:rPr sz="2800" spc="-10" dirty="0">
                <a:solidFill>
                  <a:srgbClr val="FF0000"/>
                </a:solidFill>
              </a:rPr>
              <a:t> </a:t>
            </a:r>
            <a:r>
              <a:rPr sz="2800" dirty="0">
                <a:solidFill>
                  <a:srgbClr val="FF0000"/>
                </a:solidFill>
              </a:rPr>
              <a:t>to</a:t>
            </a:r>
            <a:r>
              <a:rPr sz="2800" spc="-5" dirty="0">
                <a:solidFill>
                  <a:srgbClr val="FF0000"/>
                </a:solidFill>
              </a:rPr>
              <a:t> a Function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11094211" y="6426809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13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51180" y="1291590"/>
            <a:ext cx="3711575" cy="1701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5" dirty="0">
                <a:latin typeface="Times New Roman"/>
                <a:cs typeface="Times New Roman"/>
              </a:rPr>
              <a:t>#include</a:t>
            </a:r>
            <a:r>
              <a:rPr sz="2200" b="1" spc="-20" dirty="0">
                <a:latin typeface="Times New Roman"/>
                <a:cs typeface="Times New Roman"/>
              </a:rPr>
              <a:t> </a:t>
            </a:r>
            <a:r>
              <a:rPr sz="2200" b="1" spc="-5" dirty="0">
                <a:latin typeface="Times New Roman"/>
                <a:cs typeface="Times New Roman"/>
              </a:rPr>
              <a:t>&lt;stdio.h&gt;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2396490" algn="l"/>
              </a:tabLst>
            </a:pPr>
            <a:r>
              <a:rPr sz="2200" b="1" spc="-5" dirty="0">
                <a:latin typeface="Times New Roman"/>
                <a:cs typeface="Times New Roman"/>
              </a:rPr>
              <a:t>void</a:t>
            </a:r>
            <a:r>
              <a:rPr sz="2200" b="1" spc="15" dirty="0">
                <a:latin typeface="Times New Roman"/>
                <a:cs typeface="Times New Roman"/>
              </a:rPr>
              <a:t> </a:t>
            </a:r>
            <a:r>
              <a:rPr sz="2200" b="1" spc="-5" dirty="0">
                <a:latin typeface="Times New Roman"/>
                <a:cs typeface="Times New Roman"/>
              </a:rPr>
              <a:t>salaryhike(int	</a:t>
            </a:r>
            <a:r>
              <a:rPr sz="2200" b="1" spc="-40" dirty="0">
                <a:latin typeface="Times New Roman"/>
                <a:cs typeface="Times New Roman"/>
              </a:rPr>
              <a:t>*var, </a:t>
            </a:r>
            <a:r>
              <a:rPr sz="2200" b="1" spc="-5" dirty="0">
                <a:latin typeface="Times New Roman"/>
                <a:cs typeface="Times New Roman"/>
              </a:rPr>
              <a:t>int</a:t>
            </a:r>
            <a:r>
              <a:rPr sz="2200" b="1" spc="-45" dirty="0">
                <a:latin typeface="Times New Roman"/>
                <a:cs typeface="Times New Roman"/>
              </a:rPr>
              <a:t> </a:t>
            </a:r>
            <a:r>
              <a:rPr sz="2200" b="1" spc="-5" dirty="0">
                <a:latin typeface="Times New Roman"/>
                <a:cs typeface="Times New Roman"/>
              </a:rPr>
              <a:t>b)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200" b="1" spc="-5" dirty="0">
                <a:latin typeface="Times New Roman"/>
                <a:cs typeface="Times New Roman"/>
              </a:rPr>
              <a:t>{</a:t>
            </a:r>
            <a:endParaRPr sz="2200">
              <a:latin typeface="Times New Roman"/>
              <a:cs typeface="Times New Roman"/>
            </a:endParaRPr>
          </a:p>
          <a:p>
            <a:pPr marL="291465">
              <a:lnSpc>
                <a:spcPct val="100000"/>
              </a:lnSpc>
            </a:pPr>
            <a:r>
              <a:rPr sz="2200" b="1" dirty="0">
                <a:latin typeface="Times New Roman"/>
                <a:cs typeface="Times New Roman"/>
              </a:rPr>
              <a:t>*var</a:t>
            </a:r>
            <a:r>
              <a:rPr sz="2200" b="1" spc="-70" dirty="0">
                <a:latin typeface="Times New Roman"/>
                <a:cs typeface="Times New Roman"/>
              </a:rPr>
              <a:t> </a:t>
            </a:r>
            <a:r>
              <a:rPr sz="2200" b="1" spc="-5" dirty="0">
                <a:latin typeface="Times New Roman"/>
                <a:cs typeface="Times New Roman"/>
              </a:rPr>
              <a:t>=</a:t>
            </a:r>
            <a:r>
              <a:rPr sz="2200" b="1" spc="-25" dirty="0">
                <a:latin typeface="Times New Roman"/>
                <a:cs typeface="Times New Roman"/>
              </a:rPr>
              <a:t> </a:t>
            </a:r>
            <a:r>
              <a:rPr sz="2200" b="1" spc="-5" dirty="0">
                <a:latin typeface="Times New Roman"/>
                <a:cs typeface="Times New Roman"/>
              </a:rPr>
              <a:t>*var+b;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200" b="1" spc="-5" dirty="0">
                <a:latin typeface="Times New Roman"/>
                <a:cs typeface="Times New Roman"/>
              </a:rPr>
              <a:t>}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51180" y="3303523"/>
            <a:ext cx="2972435" cy="1031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5" dirty="0">
                <a:latin typeface="Times New Roman"/>
                <a:cs typeface="Times New Roman"/>
              </a:rPr>
              <a:t>int</a:t>
            </a:r>
            <a:r>
              <a:rPr sz="2200" b="1" spc="-30" dirty="0">
                <a:latin typeface="Times New Roman"/>
                <a:cs typeface="Times New Roman"/>
              </a:rPr>
              <a:t> </a:t>
            </a:r>
            <a:r>
              <a:rPr sz="2200" b="1" spc="-5" dirty="0">
                <a:latin typeface="Times New Roman"/>
                <a:cs typeface="Times New Roman"/>
              </a:rPr>
              <a:t>main()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200" b="1" spc="-5" dirty="0">
                <a:latin typeface="Times New Roman"/>
                <a:cs typeface="Times New Roman"/>
              </a:rPr>
              <a:t>{</a:t>
            </a:r>
            <a:endParaRPr sz="2200">
              <a:latin typeface="Times New Roman"/>
              <a:cs typeface="Times New Roman"/>
            </a:endParaRPr>
          </a:p>
          <a:p>
            <a:pPr marL="291465">
              <a:lnSpc>
                <a:spcPct val="100000"/>
              </a:lnSpc>
            </a:pPr>
            <a:r>
              <a:rPr sz="2200" b="1" spc="-5" dirty="0">
                <a:latin typeface="Times New Roman"/>
                <a:cs typeface="Times New Roman"/>
              </a:rPr>
              <a:t>int</a:t>
            </a:r>
            <a:r>
              <a:rPr sz="2200" b="1" dirty="0">
                <a:latin typeface="Times New Roman"/>
                <a:cs typeface="Times New Roman"/>
              </a:rPr>
              <a:t> </a:t>
            </a:r>
            <a:r>
              <a:rPr sz="2200" b="1" spc="-5" dirty="0">
                <a:latin typeface="Times New Roman"/>
                <a:cs typeface="Times New Roman"/>
              </a:rPr>
              <a:t>salary=0,</a:t>
            </a:r>
            <a:r>
              <a:rPr sz="2200" b="1" spc="-35" dirty="0">
                <a:latin typeface="Times New Roman"/>
                <a:cs typeface="Times New Roman"/>
              </a:rPr>
              <a:t> </a:t>
            </a:r>
            <a:r>
              <a:rPr sz="2200" b="1" spc="-5" dirty="0">
                <a:latin typeface="Times New Roman"/>
                <a:cs typeface="Times New Roman"/>
              </a:rPr>
              <a:t>bonus=0;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30072" y="4309059"/>
            <a:ext cx="5480685" cy="23729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5" dirty="0">
                <a:latin typeface="Times New Roman"/>
                <a:cs typeface="Times New Roman"/>
              </a:rPr>
              <a:t>printf("Enter the</a:t>
            </a:r>
            <a:r>
              <a:rPr sz="2200" b="1" spc="5" dirty="0">
                <a:latin typeface="Times New Roman"/>
                <a:cs typeface="Times New Roman"/>
              </a:rPr>
              <a:t> </a:t>
            </a:r>
            <a:r>
              <a:rPr sz="2200" b="1" spc="-5" dirty="0">
                <a:latin typeface="Times New Roman"/>
                <a:cs typeface="Times New Roman"/>
              </a:rPr>
              <a:t>employee</a:t>
            </a:r>
            <a:r>
              <a:rPr sz="2200" b="1" spc="25" dirty="0">
                <a:latin typeface="Times New Roman"/>
                <a:cs typeface="Times New Roman"/>
              </a:rPr>
              <a:t> </a:t>
            </a:r>
            <a:r>
              <a:rPr sz="2200" b="1" spc="-10" dirty="0">
                <a:latin typeface="Times New Roman"/>
                <a:cs typeface="Times New Roman"/>
              </a:rPr>
              <a:t>current</a:t>
            </a:r>
            <a:r>
              <a:rPr sz="2200" b="1" spc="15" dirty="0">
                <a:latin typeface="Times New Roman"/>
                <a:cs typeface="Times New Roman"/>
              </a:rPr>
              <a:t> </a:t>
            </a:r>
            <a:r>
              <a:rPr sz="2200" b="1" spc="-5" dirty="0">
                <a:latin typeface="Times New Roman"/>
                <a:cs typeface="Times New Roman"/>
              </a:rPr>
              <a:t>salary:");</a:t>
            </a:r>
            <a:endParaRPr sz="2200">
              <a:latin typeface="Times New Roman"/>
              <a:cs typeface="Times New Roman"/>
            </a:endParaRPr>
          </a:p>
          <a:p>
            <a:pPr marL="12700" marR="1282065">
              <a:lnSpc>
                <a:spcPct val="100000"/>
              </a:lnSpc>
              <a:spcBef>
                <a:spcPts val="5"/>
              </a:spcBef>
              <a:tabLst>
                <a:tab pos="1226820" algn="l"/>
              </a:tabLst>
            </a:pPr>
            <a:r>
              <a:rPr sz="2200" b="1" spc="-5" dirty="0">
                <a:latin typeface="Times New Roman"/>
                <a:cs typeface="Times New Roman"/>
              </a:rPr>
              <a:t>scanf("%d",</a:t>
            </a:r>
            <a:r>
              <a:rPr sz="2200" b="1" spc="10" dirty="0">
                <a:latin typeface="Times New Roman"/>
                <a:cs typeface="Times New Roman"/>
              </a:rPr>
              <a:t> </a:t>
            </a:r>
            <a:r>
              <a:rPr sz="2200" b="1" spc="-5" dirty="0">
                <a:latin typeface="Times New Roman"/>
                <a:cs typeface="Times New Roman"/>
              </a:rPr>
              <a:t>&amp;salary); </a:t>
            </a:r>
            <a:r>
              <a:rPr sz="2200" b="1" dirty="0">
                <a:latin typeface="Times New Roman"/>
                <a:cs typeface="Times New Roman"/>
              </a:rPr>
              <a:t> </a:t>
            </a:r>
            <a:r>
              <a:rPr sz="2200" b="1" spc="-5" dirty="0">
                <a:latin typeface="Times New Roman"/>
                <a:cs typeface="Times New Roman"/>
              </a:rPr>
              <a:t>printf("Enter bonus:"); </a:t>
            </a:r>
            <a:r>
              <a:rPr sz="2200" b="1" dirty="0">
                <a:latin typeface="Times New Roman"/>
                <a:cs typeface="Times New Roman"/>
              </a:rPr>
              <a:t> </a:t>
            </a:r>
            <a:r>
              <a:rPr sz="2200" b="1" spc="-5" dirty="0">
                <a:latin typeface="Times New Roman"/>
                <a:cs typeface="Times New Roman"/>
              </a:rPr>
              <a:t>scanf("%d",</a:t>
            </a:r>
            <a:r>
              <a:rPr sz="2200" b="1" spc="10" dirty="0">
                <a:latin typeface="Times New Roman"/>
                <a:cs typeface="Times New Roman"/>
              </a:rPr>
              <a:t> </a:t>
            </a:r>
            <a:r>
              <a:rPr sz="2200" b="1" spc="-5" dirty="0">
                <a:latin typeface="Times New Roman"/>
                <a:cs typeface="Times New Roman"/>
              </a:rPr>
              <a:t>&amp;bonus); </a:t>
            </a:r>
            <a:r>
              <a:rPr sz="2200" b="1" dirty="0">
                <a:latin typeface="Times New Roman"/>
                <a:cs typeface="Times New Roman"/>
              </a:rPr>
              <a:t> </a:t>
            </a:r>
            <a:r>
              <a:rPr sz="2200" b="1" spc="-10" dirty="0">
                <a:latin typeface="Times New Roman"/>
                <a:cs typeface="Times New Roman"/>
              </a:rPr>
              <a:t>salaryhike(&amp;salary, </a:t>
            </a:r>
            <a:r>
              <a:rPr sz="2200" b="1" spc="-5" dirty="0">
                <a:latin typeface="Times New Roman"/>
                <a:cs typeface="Times New Roman"/>
              </a:rPr>
              <a:t>bonus); </a:t>
            </a:r>
            <a:r>
              <a:rPr sz="2200" b="1" dirty="0">
                <a:latin typeface="Times New Roman"/>
                <a:cs typeface="Times New Roman"/>
              </a:rPr>
              <a:t> </a:t>
            </a:r>
            <a:r>
              <a:rPr sz="2200" b="1" spc="-5" dirty="0">
                <a:latin typeface="Times New Roman"/>
                <a:cs typeface="Times New Roman"/>
              </a:rPr>
              <a:t>printf("Final</a:t>
            </a:r>
            <a:r>
              <a:rPr sz="2200" b="1" spc="35" dirty="0">
                <a:latin typeface="Times New Roman"/>
                <a:cs typeface="Times New Roman"/>
              </a:rPr>
              <a:t> </a:t>
            </a:r>
            <a:r>
              <a:rPr sz="2200" b="1" spc="-5" dirty="0">
                <a:latin typeface="Times New Roman"/>
                <a:cs typeface="Times New Roman"/>
              </a:rPr>
              <a:t>salary:</a:t>
            </a:r>
            <a:r>
              <a:rPr sz="2200" b="1" spc="5" dirty="0">
                <a:latin typeface="Times New Roman"/>
                <a:cs typeface="Times New Roman"/>
              </a:rPr>
              <a:t> </a:t>
            </a:r>
            <a:r>
              <a:rPr sz="2200" b="1" spc="-5" dirty="0">
                <a:latin typeface="Times New Roman"/>
                <a:cs typeface="Times New Roman"/>
              </a:rPr>
              <a:t>%d",</a:t>
            </a:r>
            <a:r>
              <a:rPr sz="2200" b="1" spc="5" dirty="0">
                <a:latin typeface="Times New Roman"/>
                <a:cs typeface="Times New Roman"/>
              </a:rPr>
              <a:t> </a:t>
            </a:r>
            <a:r>
              <a:rPr sz="2200" b="1" spc="-5" dirty="0">
                <a:latin typeface="Times New Roman"/>
                <a:cs typeface="Times New Roman"/>
              </a:rPr>
              <a:t>salary); </a:t>
            </a:r>
            <a:r>
              <a:rPr sz="2200" b="1" spc="-535" dirty="0">
                <a:latin typeface="Times New Roman"/>
                <a:cs typeface="Times New Roman"/>
              </a:rPr>
              <a:t> </a:t>
            </a:r>
            <a:r>
              <a:rPr sz="2200" b="1" spc="-10" dirty="0">
                <a:latin typeface="Times New Roman"/>
                <a:cs typeface="Times New Roman"/>
              </a:rPr>
              <a:t>return</a:t>
            </a:r>
            <a:r>
              <a:rPr sz="2200" b="1" spc="1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0;	</a:t>
            </a:r>
            <a:r>
              <a:rPr sz="2200" b="1" spc="-5" dirty="0">
                <a:latin typeface="Times New Roman"/>
                <a:cs typeface="Times New Roman"/>
              </a:rPr>
              <a:t>}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797677" y="1806397"/>
            <a:ext cx="108775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OUTPUT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797677" y="2416556"/>
            <a:ext cx="4446905" cy="9404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Enter</a:t>
            </a:r>
            <a:r>
              <a:rPr sz="2000" b="1" spc="-6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the</a:t>
            </a:r>
            <a:r>
              <a:rPr sz="2000" b="1" spc="-3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employee</a:t>
            </a:r>
            <a:r>
              <a:rPr sz="2000" b="1" spc="-4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spc="-5" dirty="0">
                <a:solidFill>
                  <a:srgbClr val="00AF50"/>
                </a:solidFill>
                <a:latin typeface="Times New Roman"/>
                <a:cs typeface="Times New Roman"/>
              </a:rPr>
              <a:t>current</a:t>
            </a:r>
            <a:r>
              <a:rPr sz="2000" b="1" spc="-3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salary:10000 </a:t>
            </a:r>
            <a:r>
              <a:rPr sz="2000" b="1" spc="-484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Enter</a:t>
            </a:r>
            <a:r>
              <a:rPr sz="2000" b="1" spc="-5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bonus:2000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Final</a:t>
            </a:r>
            <a:r>
              <a:rPr sz="2000" b="1" spc="-5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F50"/>
                </a:solidFill>
                <a:latin typeface="Times New Roman"/>
                <a:cs typeface="Times New Roman"/>
              </a:rPr>
              <a:t>salary:</a:t>
            </a:r>
            <a:r>
              <a:rPr sz="2000" b="1" spc="-4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b="1" spc="5" dirty="0">
                <a:solidFill>
                  <a:srgbClr val="00AF50"/>
                </a:solidFill>
                <a:latin typeface="Times New Roman"/>
                <a:cs typeface="Times New Roman"/>
              </a:rPr>
              <a:t>12000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93598" y="825753"/>
            <a:ext cx="18954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0000"/>
                </a:solidFill>
                <a:latin typeface="Times New Roman"/>
                <a:cs typeface="Times New Roman"/>
              </a:rPr>
              <a:t>Example</a:t>
            </a:r>
            <a:r>
              <a:rPr sz="1800" b="1" spc="-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Program: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pPr marL="38100">
                <a:lnSpc>
                  <a:spcPts val="1240"/>
                </a:lnSpc>
              </a:pPr>
              <a:t>14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1198" y="267969"/>
            <a:ext cx="42862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FF0000"/>
                </a:solidFill>
              </a:rPr>
              <a:t>Function</a:t>
            </a:r>
            <a:r>
              <a:rPr sz="2800" dirty="0">
                <a:solidFill>
                  <a:srgbClr val="FF0000"/>
                </a:solidFill>
              </a:rPr>
              <a:t> </a:t>
            </a:r>
            <a:r>
              <a:rPr sz="2800" spc="-10" dirty="0">
                <a:solidFill>
                  <a:srgbClr val="FF0000"/>
                </a:solidFill>
              </a:rPr>
              <a:t>returning</a:t>
            </a:r>
            <a:r>
              <a:rPr sz="2800" spc="5" dirty="0">
                <a:solidFill>
                  <a:srgbClr val="FF0000"/>
                </a:solidFill>
              </a:rPr>
              <a:t> </a:t>
            </a:r>
            <a:r>
              <a:rPr sz="2800" spc="-5" dirty="0">
                <a:solidFill>
                  <a:srgbClr val="FF0000"/>
                </a:solidFill>
              </a:rPr>
              <a:t>Pointers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369519" y="1124839"/>
            <a:ext cx="22282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Times New Roman"/>
                <a:cs typeface="Times New Roman"/>
              </a:rPr>
              <a:t>Sample</a:t>
            </a:r>
            <a:r>
              <a:rPr sz="2400" b="1" spc="-5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Program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9519" y="1856359"/>
            <a:ext cx="2818765" cy="3683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#include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&lt;stdio.h&gt;</a:t>
            </a:r>
            <a:endParaRPr sz="24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int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*larger(int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*,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*);</a:t>
            </a:r>
            <a:endParaRPr sz="2400">
              <a:latin typeface="Times New Roman"/>
              <a:cs typeface="Times New Roman"/>
            </a:endParaRPr>
          </a:p>
          <a:p>
            <a:pPr marL="316865" marR="1366520" indent="-304800" algn="just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int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main()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{ </a:t>
            </a:r>
            <a:r>
              <a:rPr sz="2400" spc="-5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 a=10;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 b=20;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*p;</a:t>
            </a:r>
            <a:endParaRPr sz="2400">
              <a:latin typeface="Times New Roman"/>
              <a:cs typeface="Times New Roman"/>
            </a:endParaRPr>
          </a:p>
          <a:p>
            <a:pPr marL="316865" marR="110489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Times New Roman"/>
                <a:cs typeface="Times New Roman"/>
              </a:rPr>
              <a:t>p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larger(&amp;a,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&amp;b);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printf("%d",*p); 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return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0;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060696" y="2825877"/>
            <a:ext cx="3036570" cy="2586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int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*larger(int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*x,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*y)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{</a:t>
            </a:r>
            <a:endParaRPr sz="2400">
              <a:latin typeface="Times New Roman"/>
              <a:cs typeface="Times New Roman"/>
            </a:endParaRPr>
          </a:p>
          <a:p>
            <a:pPr marL="31750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if(*x&gt;*y)</a:t>
            </a:r>
            <a:endParaRPr sz="240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return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(x);</a:t>
            </a:r>
            <a:endParaRPr sz="2400">
              <a:latin typeface="Times New Roman"/>
              <a:cs typeface="Times New Roman"/>
            </a:endParaRPr>
          </a:p>
          <a:p>
            <a:pPr marL="31750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else</a:t>
            </a:r>
            <a:endParaRPr sz="240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return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(y);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pPr marL="38100">
                <a:lnSpc>
                  <a:spcPts val="1240"/>
                </a:lnSpc>
              </a:pPr>
              <a:t>15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1198" y="103123"/>
            <a:ext cx="32492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FF0000"/>
                </a:solidFill>
              </a:rPr>
              <a:t>Pointer</a:t>
            </a:r>
            <a:r>
              <a:rPr sz="2800" spc="-65" dirty="0">
                <a:solidFill>
                  <a:srgbClr val="FF0000"/>
                </a:solidFill>
              </a:rPr>
              <a:t> </a:t>
            </a:r>
            <a:r>
              <a:rPr sz="2800" spc="-5" dirty="0">
                <a:solidFill>
                  <a:srgbClr val="FF0000"/>
                </a:solidFill>
              </a:rPr>
              <a:t>to</a:t>
            </a:r>
            <a:r>
              <a:rPr sz="2800" dirty="0">
                <a:solidFill>
                  <a:srgbClr val="FF0000"/>
                </a:solidFill>
              </a:rPr>
              <a:t> </a:t>
            </a:r>
            <a:r>
              <a:rPr sz="2800" spc="-5" dirty="0">
                <a:solidFill>
                  <a:srgbClr val="FF0000"/>
                </a:solidFill>
              </a:rPr>
              <a:t>a Function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343915" y="1023620"/>
            <a:ext cx="10968990" cy="5147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Functions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stored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memory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like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data.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3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function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has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 address,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like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variable.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function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name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represents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address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 that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function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– </a:t>
            </a:r>
            <a:r>
              <a:rPr sz="2400" spc="-5" dirty="0">
                <a:latin typeface="Times New Roman"/>
                <a:cs typeface="Times New Roman"/>
              </a:rPr>
              <a:t>so </a:t>
            </a:r>
            <a:r>
              <a:rPr sz="2400" dirty="0">
                <a:latin typeface="Times New Roman"/>
                <a:cs typeface="Times New Roman"/>
              </a:rPr>
              <a:t>you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 assign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pointer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>
              <a:latin typeface="Times New Roman"/>
              <a:cs typeface="Times New Roman"/>
            </a:endParaRPr>
          </a:p>
          <a:p>
            <a:pPr marL="927100" marR="3086735" indent="-91440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The declaration of a </a:t>
            </a:r>
            <a:r>
              <a:rPr sz="2400" b="1" i="1" spc="-5" dirty="0">
                <a:latin typeface="Times New Roman"/>
                <a:cs typeface="Times New Roman"/>
              </a:rPr>
              <a:t>pointer </a:t>
            </a:r>
            <a:r>
              <a:rPr sz="2400" b="1" i="1" dirty="0">
                <a:latin typeface="Times New Roman"/>
                <a:cs typeface="Times New Roman"/>
              </a:rPr>
              <a:t>to a function </a:t>
            </a:r>
            <a:r>
              <a:rPr sz="2400" spc="-5" dirty="0">
                <a:latin typeface="Times New Roman"/>
                <a:cs typeface="Times New Roman"/>
              </a:rPr>
              <a:t>has </a:t>
            </a: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-5" dirty="0">
                <a:latin typeface="Times New Roman"/>
                <a:cs typeface="Times New Roman"/>
              </a:rPr>
              <a:t>format: 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data_type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(*function_name)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(datatype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1..datatype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n); </a:t>
            </a:r>
            <a:r>
              <a:rPr sz="2400" b="1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Example: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double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(*sample) </a:t>
            </a:r>
            <a:r>
              <a:rPr sz="2400" dirty="0">
                <a:latin typeface="Times New Roman"/>
                <a:cs typeface="Times New Roman"/>
              </a:rPr>
              <a:t>();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b="1" spc="-5" dirty="0">
                <a:latin typeface="Times New Roman"/>
                <a:cs typeface="Times New Roman"/>
              </a:rPr>
              <a:t>Function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call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format:</a:t>
            </a:r>
            <a:endParaRPr sz="240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</a:pPr>
            <a:r>
              <a:rPr sz="2400" spc="-5" dirty="0">
                <a:latin typeface="Times New Roman"/>
                <a:cs typeface="Times New Roman"/>
              </a:rPr>
              <a:t>(*function_name)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(datatype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1..datatype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n);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If you </a:t>
            </a:r>
            <a:r>
              <a:rPr sz="2400" spc="-5" dirty="0">
                <a:latin typeface="Times New Roman"/>
                <a:cs typeface="Times New Roman"/>
              </a:rPr>
              <a:t>remove</a:t>
            </a:r>
            <a:r>
              <a:rPr sz="2400" dirty="0">
                <a:latin typeface="Times New Roman"/>
                <a:cs typeface="Times New Roman"/>
              </a:rPr>
              <a:t> the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parenthesis,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becomes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b="1" i="1" spc="-5" dirty="0">
                <a:latin typeface="Times New Roman"/>
                <a:cs typeface="Times New Roman"/>
              </a:rPr>
              <a:t>function</a:t>
            </a:r>
            <a:r>
              <a:rPr sz="2400" b="1" i="1" spc="-10" dirty="0">
                <a:latin typeface="Times New Roman"/>
                <a:cs typeface="Times New Roman"/>
              </a:rPr>
              <a:t> </a:t>
            </a:r>
            <a:r>
              <a:rPr sz="2400" b="1" i="1" dirty="0">
                <a:latin typeface="Times New Roman"/>
                <a:cs typeface="Times New Roman"/>
              </a:rPr>
              <a:t>returning</a:t>
            </a:r>
            <a:r>
              <a:rPr sz="2400" b="1" i="1" spc="5" dirty="0">
                <a:latin typeface="Times New Roman"/>
                <a:cs typeface="Times New Roman"/>
              </a:rPr>
              <a:t> </a:t>
            </a:r>
            <a:r>
              <a:rPr sz="2400" b="1" i="1" spc="-5" dirty="0">
                <a:latin typeface="Times New Roman"/>
                <a:cs typeface="Times New Roman"/>
              </a:rPr>
              <a:t>the</a:t>
            </a:r>
            <a:r>
              <a:rPr sz="2400" b="1" i="1" dirty="0">
                <a:latin typeface="Times New Roman"/>
                <a:cs typeface="Times New Roman"/>
              </a:rPr>
              <a:t> pointer</a:t>
            </a:r>
            <a:r>
              <a:rPr sz="2400" dirty="0">
                <a:latin typeface="Times New Roman"/>
                <a:cs typeface="Times New Roman"/>
              </a:rPr>
              <a:t>,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i.e.</a:t>
            </a:r>
            <a:endParaRPr sz="2400">
              <a:latin typeface="Times New Roman"/>
              <a:cs typeface="Times New Roman"/>
            </a:endParaRPr>
          </a:p>
          <a:p>
            <a:pPr marL="1003300">
              <a:lnSpc>
                <a:spcPct val="100000"/>
              </a:lnSpc>
            </a:pPr>
            <a:r>
              <a:rPr sz="2400" b="1" spc="-5" dirty="0">
                <a:latin typeface="Times New Roman"/>
                <a:cs typeface="Times New Roman"/>
              </a:rPr>
              <a:t>data_type</a:t>
            </a:r>
            <a:r>
              <a:rPr sz="2400" b="1" spc="20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*function_name</a:t>
            </a:r>
            <a:r>
              <a:rPr sz="2400" b="1" spc="20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(arguments);</a:t>
            </a:r>
            <a:endParaRPr sz="240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</a:pPr>
            <a:r>
              <a:rPr sz="2400" spc="-5" dirty="0">
                <a:latin typeface="Times New Roman"/>
                <a:cs typeface="Times New Roman"/>
              </a:rPr>
              <a:t>Example: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double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*sample();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pPr marL="38100">
                <a:lnSpc>
                  <a:spcPts val="1240"/>
                </a:lnSpc>
              </a:pPr>
              <a:t>16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1198" y="103123"/>
            <a:ext cx="33667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FF0000"/>
                </a:solidFill>
              </a:rPr>
              <a:t>Poi</a:t>
            </a:r>
            <a:r>
              <a:rPr sz="2800" dirty="0">
                <a:solidFill>
                  <a:srgbClr val="FF0000"/>
                </a:solidFill>
              </a:rPr>
              <a:t>n</a:t>
            </a:r>
            <a:r>
              <a:rPr sz="2800" spc="-5" dirty="0">
                <a:solidFill>
                  <a:srgbClr val="FF0000"/>
                </a:solidFill>
              </a:rPr>
              <a:t>ter</a:t>
            </a:r>
            <a:r>
              <a:rPr sz="2800" spc="-105" dirty="0">
                <a:solidFill>
                  <a:srgbClr val="FF0000"/>
                </a:solidFill>
              </a:rPr>
              <a:t> </a:t>
            </a:r>
            <a:r>
              <a:rPr sz="2800" spc="-265" dirty="0">
                <a:solidFill>
                  <a:srgbClr val="FF0000"/>
                </a:solidFill>
              </a:rPr>
              <a:t>T</a:t>
            </a:r>
            <a:r>
              <a:rPr sz="2800" spc="-5" dirty="0">
                <a:solidFill>
                  <a:srgbClr val="FF0000"/>
                </a:solidFill>
              </a:rPr>
              <a:t>o</a:t>
            </a:r>
            <a:r>
              <a:rPr sz="2800" spc="-155" dirty="0">
                <a:solidFill>
                  <a:srgbClr val="FF0000"/>
                </a:solidFill>
              </a:rPr>
              <a:t> </a:t>
            </a:r>
            <a:r>
              <a:rPr sz="2800" spc="-5" dirty="0">
                <a:solidFill>
                  <a:srgbClr val="FF0000"/>
                </a:solidFill>
              </a:rPr>
              <a:t>A</a:t>
            </a:r>
            <a:r>
              <a:rPr sz="2800" spc="-145" dirty="0">
                <a:solidFill>
                  <a:srgbClr val="FF0000"/>
                </a:solidFill>
              </a:rPr>
              <a:t> </a:t>
            </a:r>
            <a:r>
              <a:rPr sz="2800" spc="-5" dirty="0">
                <a:solidFill>
                  <a:srgbClr val="FF0000"/>
                </a:solidFill>
              </a:rPr>
              <a:t>Funct</a:t>
            </a:r>
            <a:r>
              <a:rPr sz="2800" dirty="0">
                <a:solidFill>
                  <a:srgbClr val="FF0000"/>
                </a:solidFill>
              </a:rPr>
              <a:t>i</a:t>
            </a:r>
            <a:r>
              <a:rPr sz="2800" spc="-5" dirty="0">
                <a:solidFill>
                  <a:srgbClr val="FF0000"/>
                </a:solidFill>
              </a:rPr>
              <a:t>on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343915" y="1023620"/>
            <a:ext cx="5271135" cy="5513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Times New Roman"/>
                <a:cs typeface="Times New Roman"/>
              </a:rPr>
              <a:t>Example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Program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>
              <a:latin typeface="Times New Roman"/>
              <a:cs typeface="Times New Roman"/>
            </a:endParaRPr>
          </a:p>
          <a:p>
            <a:pPr marL="12700" marR="2959735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#include</a:t>
            </a:r>
            <a:r>
              <a:rPr sz="2400" spc="-11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&lt;stdio.h&gt;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main()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{</a:t>
            </a:r>
            <a:endParaRPr sz="2400">
              <a:latin typeface="Times New Roman"/>
              <a:cs typeface="Times New Roman"/>
            </a:endParaRPr>
          </a:p>
          <a:p>
            <a:pPr marL="317500" marR="3086735" indent="-7620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int square(int); 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(*ap)(int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a);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ap=square;</a:t>
            </a:r>
            <a:endParaRPr sz="2400">
              <a:latin typeface="Times New Roman"/>
              <a:cs typeface="Times New Roman"/>
            </a:endParaRPr>
          </a:p>
          <a:p>
            <a:pPr marL="317500" marR="508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Times New Roman"/>
                <a:cs typeface="Times New Roman"/>
              </a:rPr>
              <a:t>printf("Square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%d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%d",5,(*ap)(5));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return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0;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int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square(int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x)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{</a:t>
            </a:r>
            <a:endParaRPr sz="2400">
              <a:latin typeface="Times New Roman"/>
              <a:cs typeface="Times New Roman"/>
            </a:endParaRPr>
          </a:p>
          <a:p>
            <a:pPr marL="31750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return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x*x;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pPr marL="38100">
                <a:lnSpc>
                  <a:spcPts val="1240"/>
                </a:lnSpc>
              </a:pPr>
              <a:t>17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1198" y="103123"/>
            <a:ext cx="33667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FF0000"/>
                </a:solidFill>
              </a:rPr>
              <a:t>Poi</a:t>
            </a:r>
            <a:r>
              <a:rPr sz="2800" dirty="0">
                <a:solidFill>
                  <a:srgbClr val="FF0000"/>
                </a:solidFill>
              </a:rPr>
              <a:t>n</a:t>
            </a:r>
            <a:r>
              <a:rPr sz="2800" spc="-5" dirty="0">
                <a:solidFill>
                  <a:srgbClr val="FF0000"/>
                </a:solidFill>
              </a:rPr>
              <a:t>ter</a:t>
            </a:r>
            <a:r>
              <a:rPr sz="2800" spc="-105" dirty="0">
                <a:solidFill>
                  <a:srgbClr val="FF0000"/>
                </a:solidFill>
              </a:rPr>
              <a:t> </a:t>
            </a:r>
            <a:r>
              <a:rPr sz="2800" spc="-265" dirty="0">
                <a:solidFill>
                  <a:srgbClr val="FF0000"/>
                </a:solidFill>
              </a:rPr>
              <a:t>T</a:t>
            </a:r>
            <a:r>
              <a:rPr sz="2800" spc="-5" dirty="0">
                <a:solidFill>
                  <a:srgbClr val="FF0000"/>
                </a:solidFill>
              </a:rPr>
              <a:t>o</a:t>
            </a:r>
            <a:r>
              <a:rPr sz="2800" spc="-155" dirty="0">
                <a:solidFill>
                  <a:srgbClr val="FF0000"/>
                </a:solidFill>
              </a:rPr>
              <a:t> </a:t>
            </a:r>
            <a:r>
              <a:rPr sz="2800" spc="-5" dirty="0">
                <a:solidFill>
                  <a:srgbClr val="FF0000"/>
                </a:solidFill>
              </a:rPr>
              <a:t>A</a:t>
            </a:r>
            <a:r>
              <a:rPr sz="2800" spc="-145" dirty="0">
                <a:solidFill>
                  <a:srgbClr val="FF0000"/>
                </a:solidFill>
              </a:rPr>
              <a:t> </a:t>
            </a:r>
            <a:r>
              <a:rPr sz="2800" spc="-5" dirty="0">
                <a:solidFill>
                  <a:srgbClr val="FF0000"/>
                </a:solidFill>
              </a:rPr>
              <a:t>Funct</a:t>
            </a:r>
            <a:r>
              <a:rPr sz="2800" dirty="0">
                <a:solidFill>
                  <a:srgbClr val="FF0000"/>
                </a:solidFill>
              </a:rPr>
              <a:t>i</a:t>
            </a:r>
            <a:r>
              <a:rPr sz="2800" spc="-5" dirty="0">
                <a:solidFill>
                  <a:srgbClr val="FF0000"/>
                </a:solidFill>
              </a:rPr>
              <a:t>on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343915" y="1023620"/>
            <a:ext cx="26422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Times New Roman"/>
                <a:cs typeface="Times New Roman"/>
              </a:rPr>
              <a:t>Example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Program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3915" y="1755394"/>
            <a:ext cx="6477635" cy="4415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166235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#include</a:t>
            </a:r>
            <a:r>
              <a:rPr sz="2400" spc="-11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&lt;stdio.h&gt;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main()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{</a:t>
            </a:r>
            <a:endParaRPr sz="2400">
              <a:latin typeface="Times New Roman"/>
              <a:cs typeface="Times New Roman"/>
            </a:endParaRPr>
          </a:p>
          <a:p>
            <a:pPr marL="317500" marR="4304665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int square(int);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 cubic(int); 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 </a:t>
            </a:r>
            <a:r>
              <a:rPr sz="2400" spc="-5" dirty="0">
                <a:latin typeface="Times New Roman"/>
                <a:cs typeface="Times New Roman"/>
              </a:rPr>
              <a:t>(*ap[2])(); </a:t>
            </a:r>
            <a:r>
              <a:rPr sz="2400" dirty="0">
                <a:latin typeface="Times New Roman"/>
                <a:cs typeface="Times New Roman"/>
              </a:rPr>
              <a:t> ap[0]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square;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ap[1]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cubic;</a:t>
            </a:r>
            <a:endParaRPr sz="2400">
              <a:latin typeface="Times New Roman"/>
              <a:cs typeface="Times New Roman"/>
            </a:endParaRPr>
          </a:p>
          <a:p>
            <a:pPr marL="317500" marR="508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printf("Square of %d is %d",5,(*ap[0])(5)); 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printf("\nCubic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value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%d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%d",5,(*ap[1])(5));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return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0;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377810" y="560323"/>
            <a:ext cx="2296795" cy="1732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Times New Roman"/>
                <a:cs typeface="Times New Roman"/>
              </a:rPr>
              <a:t>int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square(int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x)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800" spc="-5" dirty="0">
                <a:latin typeface="Times New Roman"/>
                <a:cs typeface="Times New Roman"/>
              </a:rPr>
              <a:t>{</a:t>
            </a:r>
            <a:endParaRPr sz="2800">
              <a:latin typeface="Times New Roman"/>
              <a:cs typeface="Times New Roman"/>
            </a:endParaRPr>
          </a:p>
          <a:p>
            <a:pPr marL="367665">
              <a:lnSpc>
                <a:spcPct val="100000"/>
              </a:lnSpc>
            </a:pPr>
            <a:r>
              <a:rPr sz="2800" dirty="0">
                <a:latin typeface="Times New Roman"/>
                <a:cs typeface="Times New Roman"/>
              </a:rPr>
              <a:t>return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x*x;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800" spc="-5" dirty="0"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377810" y="2694558"/>
            <a:ext cx="2308225" cy="1732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Times New Roman"/>
                <a:cs typeface="Times New Roman"/>
              </a:rPr>
              <a:t>int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cubic(int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x)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800" spc="-5" dirty="0">
                <a:latin typeface="Times New Roman"/>
                <a:cs typeface="Times New Roman"/>
              </a:rPr>
              <a:t>{</a:t>
            </a:r>
            <a:endParaRPr sz="2800">
              <a:latin typeface="Times New Roman"/>
              <a:cs typeface="Times New Roman"/>
            </a:endParaRPr>
          </a:p>
          <a:p>
            <a:pPr marL="367665">
              <a:lnSpc>
                <a:spcPct val="100000"/>
              </a:lnSpc>
            </a:pPr>
            <a:r>
              <a:rPr sz="2800" dirty="0">
                <a:latin typeface="Times New Roman"/>
                <a:cs typeface="Times New Roman"/>
              </a:rPr>
              <a:t>return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x*x*x;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800" spc="-5" dirty="0"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41198" y="76326"/>
            <a:ext cx="11791950" cy="60515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 marR="5080">
              <a:lnSpc>
                <a:spcPts val="2160"/>
              </a:lnSpc>
              <a:spcBef>
                <a:spcPts val="375"/>
              </a:spcBef>
            </a:pPr>
            <a:r>
              <a:rPr sz="2000" b="1" dirty="0">
                <a:solidFill>
                  <a:srgbClr val="FF0000"/>
                </a:solidFill>
                <a:latin typeface="Arial"/>
                <a:cs typeface="Arial"/>
              </a:rPr>
              <a:t>POINTER</a:t>
            </a:r>
            <a:r>
              <a:rPr sz="2000" b="1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spc="-20" dirty="0">
                <a:solidFill>
                  <a:srgbClr val="FF0000"/>
                </a:solidFill>
                <a:latin typeface="Arial"/>
                <a:cs typeface="Arial"/>
              </a:rPr>
              <a:t>TO</a:t>
            </a:r>
            <a:r>
              <a:rPr sz="2000" b="1" dirty="0">
                <a:solidFill>
                  <a:srgbClr val="FF0000"/>
                </a:solidFill>
                <a:latin typeface="Arial"/>
                <a:cs typeface="Arial"/>
              </a:rPr>
              <a:t> POINTER</a:t>
            </a:r>
            <a:r>
              <a:rPr sz="2000" b="1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0000"/>
                </a:solidFill>
                <a:latin typeface="Arial"/>
                <a:cs typeface="Arial"/>
              </a:rPr>
              <a:t>-</a:t>
            </a:r>
            <a:r>
              <a:rPr sz="2000" b="1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the</a:t>
            </a:r>
            <a:r>
              <a:rPr sz="2000" b="1" spc="-1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first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pointer</a:t>
            </a:r>
            <a:r>
              <a:rPr sz="2000" b="1" spc="-1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contains</a:t>
            </a:r>
            <a:r>
              <a:rPr sz="2000" b="1" spc="-3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the</a:t>
            </a:r>
            <a:r>
              <a:rPr sz="2000" b="1" spc="-1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address</a:t>
            </a:r>
            <a:r>
              <a:rPr sz="2000" b="1" spc="-2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of</a:t>
            </a:r>
            <a:r>
              <a:rPr sz="2000" b="1" spc="-1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the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second</a:t>
            </a:r>
            <a:r>
              <a:rPr sz="2000" b="1" spc="-10" dirty="0">
                <a:latin typeface="Arial"/>
                <a:cs typeface="Arial"/>
              </a:rPr>
              <a:t> </a:t>
            </a:r>
            <a:r>
              <a:rPr sz="2000" b="1" spc="-15" dirty="0">
                <a:latin typeface="Arial"/>
                <a:cs typeface="Arial"/>
              </a:rPr>
              <a:t>pointer,</a:t>
            </a:r>
            <a:r>
              <a:rPr sz="2000" b="1" spc="-3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which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points </a:t>
            </a:r>
            <a:r>
              <a:rPr sz="2000" b="1" spc="-5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to</a:t>
            </a:r>
            <a:r>
              <a:rPr sz="2000" b="1" spc="-2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the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location</a:t>
            </a:r>
            <a:r>
              <a:rPr sz="2000" b="1" spc="-3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that</a:t>
            </a:r>
            <a:r>
              <a:rPr sz="2000" b="1" spc="-2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contains</a:t>
            </a:r>
            <a:r>
              <a:rPr sz="2000" b="1" spc="-2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the</a:t>
            </a:r>
            <a:r>
              <a:rPr sz="2000" b="1" spc="-2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actual</a:t>
            </a:r>
            <a:r>
              <a:rPr sz="2000" b="1" spc="-20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value</a:t>
            </a:r>
            <a:r>
              <a:rPr sz="2000" b="1" spc="-1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as </a:t>
            </a:r>
            <a:r>
              <a:rPr sz="2000" b="1" spc="5" dirty="0">
                <a:latin typeface="Arial"/>
                <a:cs typeface="Arial"/>
              </a:rPr>
              <a:t>shown</a:t>
            </a:r>
            <a:r>
              <a:rPr sz="2000" b="1" spc="-45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below.</a:t>
            </a:r>
            <a:endParaRPr sz="20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094211" y="6426809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18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21635" y="798576"/>
            <a:ext cx="7304531" cy="1146048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2550" marR="5080" indent="-70485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#include</a:t>
            </a:r>
            <a:r>
              <a:rPr spc="-40" dirty="0"/>
              <a:t> </a:t>
            </a:r>
            <a:r>
              <a:rPr spc="-5" dirty="0"/>
              <a:t>&lt;stdio.h&gt; </a:t>
            </a:r>
            <a:r>
              <a:rPr spc="-535" dirty="0"/>
              <a:t> </a:t>
            </a:r>
            <a:r>
              <a:rPr spc="-5" dirty="0"/>
              <a:t>int main</a:t>
            </a:r>
            <a:r>
              <a:rPr spc="10" dirty="0"/>
              <a:t> </a:t>
            </a:r>
            <a:r>
              <a:rPr spc="-5" dirty="0"/>
              <a:t>()</a:t>
            </a:r>
            <a:r>
              <a:rPr spc="5" dirty="0"/>
              <a:t> </a:t>
            </a:r>
            <a:r>
              <a:rPr spc="-5" dirty="0"/>
              <a:t>{</a:t>
            </a:r>
          </a:p>
          <a:p>
            <a:pPr marL="220979" marR="920115">
              <a:lnSpc>
                <a:spcPct val="100000"/>
              </a:lnSpc>
              <a:tabLst>
                <a:tab pos="688340" algn="l"/>
              </a:tabLst>
            </a:pPr>
            <a:r>
              <a:rPr spc="-5" dirty="0"/>
              <a:t>int	var; </a:t>
            </a:r>
            <a:r>
              <a:rPr dirty="0"/>
              <a:t> </a:t>
            </a:r>
            <a:r>
              <a:rPr spc="-5" dirty="0"/>
              <a:t>int</a:t>
            </a:r>
            <a:r>
              <a:rPr dirty="0"/>
              <a:t>	</a:t>
            </a:r>
            <a:r>
              <a:rPr spc="5" dirty="0"/>
              <a:t>*</a:t>
            </a:r>
            <a:r>
              <a:rPr spc="-5" dirty="0"/>
              <a:t>ptr;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94182" y="3579317"/>
            <a:ext cx="6431915" cy="27082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20979">
              <a:lnSpc>
                <a:spcPct val="100000"/>
              </a:lnSpc>
              <a:spcBef>
                <a:spcPts val="95"/>
              </a:spcBef>
              <a:tabLst>
                <a:tab pos="688340" algn="l"/>
              </a:tabLst>
            </a:pPr>
            <a:r>
              <a:rPr sz="2200" b="1" spc="-5" dirty="0">
                <a:latin typeface="Times New Roman"/>
                <a:cs typeface="Times New Roman"/>
              </a:rPr>
              <a:t>int	**pptr;</a:t>
            </a:r>
            <a:endParaRPr sz="2200">
              <a:latin typeface="Times New Roman"/>
              <a:cs typeface="Times New Roman"/>
            </a:endParaRPr>
          </a:p>
          <a:p>
            <a:pPr marL="12700" marR="4851400" indent="208279">
              <a:lnSpc>
                <a:spcPct val="100000"/>
              </a:lnSpc>
              <a:spcBef>
                <a:spcPts val="5"/>
              </a:spcBef>
            </a:pPr>
            <a:r>
              <a:rPr sz="2200" b="1" dirty="0">
                <a:latin typeface="Times New Roman"/>
                <a:cs typeface="Times New Roman"/>
              </a:rPr>
              <a:t>var</a:t>
            </a:r>
            <a:r>
              <a:rPr sz="2200" b="1" spc="-85" dirty="0">
                <a:latin typeface="Times New Roman"/>
                <a:cs typeface="Times New Roman"/>
              </a:rPr>
              <a:t> </a:t>
            </a:r>
            <a:r>
              <a:rPr sz="2200" b="1" spc="-5" dirty="0">
                <a:latin typeface="Times New Roman"/>
                <a:cs typeface="Times New Roman"/>
              </a:rPr>
              <a:t>=</a:t>
            </a:r>
            <a:r>
              <a:rPr sz="2200" b="1" spc="-5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3000; </a:t>
            </a:r>
            <a:r>
              <a:rPr sz="2200" b="1" spc="-535" dirty="0">
                <a:latin typeface="Times New Roman"/>
                <a:cs typeface="Times New Roman"/>
              </a:rPr>
              <a:t> </a:t>
            </a:r>
            <a:r>
              <a:rPr sz="2200" b="1" spc="-5" dirty="0">
                <a:latin typeface="Times New Roman"/>
                <a:cs typeface="Times New Roman"/>
              </a:rPr>
              <a:t>ptr = &amp;var; </a:t>
            </a:r>
            <a:r>
              <a:rPr sz="2200" b="1" dirty="0">
                <a:latin typeface="Times New Roman"/>
                <a:cs typeface="Times New Roman"/>
              </a:rPr>
              <a:t> </a:t>
            </a:r>
            <a:r>
              <a:rPr sz="2200" b="1" spc="-5" dirty="0">
                <a:latin typeface="Times New Roman"/>
                <a:cs typeface="Times New Roman"/>
              </a:rPr>
              <a:t>pptr</a:t>
            </a:r>
            <a:r>
              <a:rPr sz="2200" b="1" spc="-65" dirty="0">
                <a:latin typeface="Times New Roman"/>
                <a:cs typeface="Times New Roman"/>
              </a:rPr>
              <a:t> </a:t>
            </a:r>
            <a:r>
              <a:rPr sz="2200" b="1" spc="-5" dirty="0">
                <a:latin typeface="Times New Roman"/>
                <a:cs typeface="Times New Roman"/>
              </a:rPr>
              <a:t>=</a:t>
            </a:r>
            <a:r>
              <a:rPr sz="2200" b="1" spc="-40" dirty="0">
                <a:latin typeface="Times New Roman"/>
                <a:cs typeface="Times New Roman"/>
              </a:rPr>
              <a:t> </a:t>
            </a:r>
            <a:r>
              <a:rPr sz="2200" b="1" spc="-5" dirty="0">
                <a:latin typeface="Times New Roman"/>
                <a:cs typeface="Times New Roman"/>
              </a:rPr>
              <a:t>&amp;ptr;</a:t>
            </a:r>
            <a:endParaRPr sz="2200">
              <a:latin typeface="Times New Roman"/>
              <a:cs typeface="Times New Roman"/>
            </a:endParaRPr>
          </a:p>
          <a:p>
            <a:pPr marL="220979" marR="530860" indent="-208915">
              <a:lnSpc>
                <a:spcPct val="100000"/>
              </a:lnSpc>
            </a:pPr>
            <a:r>
              <a:rPr sz="2200" b="1" spc="-20" dirty="0">
                <a:latin typeface="Times New Roman"/>
                <a:cs typeface="Times New Roman"/>
              </a:rPr>
              <a:t>printf("Value </a:t>
            </a:r>
            <a:r>
              <a:rPr sz="2200" b="1" spc="-5" dirty="0">
                <a:latin typeface="Times New Roman"/>
                <a:cs typeface="Times New Roman"/>
              </a:rPr>
              <a:t>of </a:t>
            </a:r>
            <a:r>
              <a:rPr sz="2200" b="1" dirty="0">
                <a:latin typeface="Times New Roman"/>
                <a:cs typeface="Times New Roman"/>
              </a:rPr>
              <a:t>var </a:t>
            </a:r>
            <a:r>
              <a:rPr sz="2200" b="1" spc="-5" dirty="0">
                <a:latin typeface="Times New Roman"/>
                <a:cs typeface="Times New Roman"/>
              </a:rPr>
              <a:t>= %d\n", </a:t>
            </a:r>
            <a:r>
              <a:rPr sz="2200" b="1" dirty="0">
                <a:latin typeface="Times New Roman"/>
                <a:cs typeface="Times New Roman"/>
              </a:rPr>
              <a:t>var </a:t>
            </a:r>
            <a:r>
              <a:rPr sz="2200" b="1" spc="-5" dirty="0">
                <a:latin typeface="Times New Roman"/>
                <a:cs typeface="Times New Roman"/>
              </a:rPr>
              <a:t>); </a:t>
            </a:r>
            <a:r>
              <a:rPr sz="2200" b="1" dirty="0">
                <a:latin typeface="Times New Roman"/>
                <a:cs typeface="Times New Roman"/>
              </a:rPr>
              <a:t> </a:t>
            </a:r>
            <a:r>
              <a:rPr sz="2200" b="1" spc="-20" dirty="0">
                <a:latin typeface="Times New Roman"/>
                <a:cs typeface="Times New Roman"/>
              </a:rPr>
              <a:t>printf("Value</a:t>
            </a:r>
            <a:r>
              <a:rPr sz="2200" b="1" spc="35" dirty="0">
                <a:latin typeface="Times New Roman"/>
                <a:cs typeface="Times New Roman"/>
              </a:rPr>
              <a:t> </a:t>
            </a:r>
            <a:r>
              <a:rPr sz="2200" b="1" spc="-5" dirty="0">
                <a:latin typeface="Times New Roman"/>
                <a:cs typeface="Times New Roman"/>
              </a:rPr>
              <a:t>available at</a:t>
            </a:r>
            <a:r>
              <a:rPr sz="2200" b="1" spc="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*ptr</a:t>
            </a:r>
            <a:r>
              <a:rPr sz="2200" b="1" spc="-30" dirty="0">
                <a:latin typeface="Times New Roman"/>
                <a:cs typeface="Times New Roman"/>
              </a:rPr>
              <a:t> </a:t>
            </a:r>
            <a:r>
              <a:rPr sz="2200" b="1" spc="-5" dirty="0">
                <a:latin typeface="Times New Roman"/>
                <a:cs typeface="Times New Roman"/>
              </a:rPr>
              <a:t>=</a:t>
            </a:r>
            <a:r>
              <a:rPr sz="2200" b="1" dirty="0">
                <a:latin typeface="Times New Roman"/>
                <a:cs typeface="Times New Roman"/>
              </a:rPr>
              <a:t> </a:t>
            </a:r>
            <a:r>
              <a:rPr sz="2200" b="1" spc="-5" dirty="0">
                <a:latin typeface="Times New Roman"/>
                <a:cs typeface="Times New Roman"/>
              </a:rPr>
              <a:t>%d\n",</a:t>
            </a:r>
            <a:r>
              <a:rPr sz="2200" b="1" dirty="0">
                <a:latin typeface="Times New Roman"/>
                <a:cs typeface="Times New Roman"/>
              </a:rPr>
              <a:t> *ptr</a:t>
            </a:r>
            <a:r>
              <a:rPr sz="2200" b="1" spc="-30" dirty="0">
                <a:latin typeface="Times New Roman"/>
                <a:cs typeface="Times New Roman"/>
              </a:rPr>
              <a:t> </a:t>
            </a:r>
            <a:r>
              <a:rPr sz="2200" b="1" spc="-5" dirty="0">
                <a:latin typeface="Times New Roman"/>
                <a:cs typeface="Times New Roman"/>
              </a:rPr>
              <a:t>);</a:t>
            </a:r>
            <a:endParaRPr sz="2200">
              <a:latin typeface="Times New Roman"/>
              <a:cs typeface="Times New Roman"/>
            </a:endParaRPr>
          </a:p>
          <a:p>
            <a:pPr marL="220979" marR="5080">
              <a:lnSpc>
                <a:spcPct val="100000"/>
              </a:lnSpc>
            </a:pPr>
            <a:r>
              <a:rPr sz="2200" b="1" spc="-20" dirty="0">
                <a:latin typeface="Times New Roman"/>
                <a:cs typeface="Times New Roman"/>
              </a:rPr>
              <a:t>printf("Value</a:t>
            </a:r>
            <a:r>
              <a:rPr sz="2200" b="1" spc="35" dirty="0">
                <a:latin typeface="Times New Roman"/>
                <a:cs typeface="Times New Roman"/>
              </a:rPr>
              <a:t> </a:t>
            </a:r>
            <a:r>
              <a:rPr sz="2200" b="1" spc="-5" dirty="0">
                <a:latin typeface="Times New Roman"/>
                <a:cs typeface="Times New Roman"/>
              </a:rPr>
              <a:t>available at</a:t>
            </a:r>
            <a:r>
              <a:rPr sz="2200" b="1" spc="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**pptr</a:t>
            </a:r>
            <a:r>
              <a:rPr sz="2200" b="1" spc="-45" dirty="0">
                <a:latin typeface="Times New Roman"/>
                <a:cs typeface="Times New Roman"/>
              </a:rPr>
              <a:t> </a:t>
            </a:r>
            <a:r>
              <a:rPr sz="2200" b="1" spc="-5" dirty="0">
                <a:latin typeface="Times New Roman"/>
                <a:cs typeface="Times New Roman"/>
              </a:rPr>
              <a:t>=</a:t>
            </a:r>
            <a:r>
              <a:rPr sz="2200" b="1" dirty="0">
                <a:latin typeface="Times New Roman"/>
                <a:cs typeface="Times New Roman"/>
              </a:rPr>
              <a:t> </a:t>
            </a:r>
            <a:r>
              <a:rPr sz="2200" b="1" spc="-5" dirty="0">
                <a:latin typeface="Times New Roman"/>
                <a:cs typeface="Times New Roman"/>
              </a:rPr>
              <a:t>%d\n",</a:t>
            </a:r>
            <a:r>
              <a:rPr sz="2200" b="1" spc="1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**pptr); </a:t>
            </a:r>
            <a:r>
              <a:rPr sz="2200" b="1" spc="-535" dirty="0">
                <a:latin typeface="Times New Roman"/>
                <a:cs typeface="Times New Roman"/>
              </a:rPr>
              <a:t> </a:t>
            </a:r>
            <a:r>
              <a:rPr sz="2200" b="1" spc="-10" dirty="0">
                <a:latin typeface="Times New Roman"/>
                <a:cs typeface="Times New Roman"/>
              </a:rPr>
              <a:t>return</a:t>
            </a:r>
            <a:r>
              <a:rPr sz="2200" b="1" spc="5" dirty="0">
                <a:latin typeface="Times New Roman"/>
                <a:cs typeface="Times New Roman"/>
              </a:rPr>
              <a:t> </a:t>
            </a:r>
            <a:r>
              <a:rPr sz="2200" b="1" spc="-5" dirty="0">
                <a:latin typeface="Times New Roman"/>
                <a:cs typeface="Times New Roman"/>
              </a:rPr>
              <a:t>0;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94182" y="6262522"/>
            <a:ext cx="13589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5" dirty="0">
                <a:latin typeface="Times New Roman"/>
                <a:cs typeface="Times New Roman"/>
              </a:rPr>
              <a:t>}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938520" y="3096006"/>
            <a:ext cx="3399790" cy="1245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00AF50"/>
                </a:solidFill>
                <a:latin typeface="Calibri"/>
                <a:cs typeface="Calibri"/>
              </a:rPr>
              <a:t>Output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000" b="1" spc="-25" dirty="0">
                <a:solidFill>
                  <a:srgbClr val="FF0000"/>
                </a:solidFill>
                <a:latin typeface="Calibri"/>
                <a:cs typeface="Calibri"/>
              </a:rPr>
              <a:t>Value</a:t>
            </a:r>
            <a:r>
              <a:rPr sz="2000" b="1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of</a:t>
            </a:r>
            <a:r>
              <a:rPr sz="2000" b="1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Calibri"/>
                <a:cs typeface="Calibri"/>
              </a:rPr>
              <a:t>var</a:t>
            </a:r>
            <a:r>
              <a:rPr sz="2000" b="1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=</a:t>
            </a:r>
            <a:r>
              <a:rPr sz="2000" b="1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3000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000" b="1" spc="-25" dirty="0">
                <a:solidFill>
                  <a:srgbClr val="FF0000"/>
                </a:solidFill>
                <a:latin typeface="Calibri"/>
                <a:cs typeface="Calibri"/>
              </a:rPr>
              <a:t>Value</a:t>
            </a:r>
            <a:r>
              <a:rPr sz="2000" b="1" spc="-10" dirty="0">
                <a:solidFill>
                  <a:srgbClr val="FF0000"/>
                </a:solidFill>
                <a:latin typeface="Calibri"/>
                <a:cs typeface="Calibri"/>
              </a:rPr>
              <a:t> available </a:t>
            </a:r>
            <a:r>
              <a:rPr sz="2000" b="1" spc="-15" dirty="0">
                <a:solidFill>
                  <a:srgbClr val="FF0000"/>
                </a:solidFill>
                <a:latin typeface="Calibri"/>
                <a:cs typeface="Calibri"/>
              </a:rPr>
              <a:t>at </a:t>
            </a:r>
            <a:r>
              <a:rPr sz="2000" b="1" spc="-5" dirty="0">
                <a:solidFill>
                  <a:srgbClr val="FF0000"/>
                </a:solidFill>
                <a:latin typeface="Calibri"/>
                <a:cs typeface="Calibri"/>
              </a:rPr>
              <a:t>*ptr </a:t>
            </a: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=</a:t>
            </a:r>
            <a:r>
              <a:rPr sz="2000" b="1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3000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000" b="1" spc="-25" dirty="0">
                <a:solidFill>
                  <a:srgbClr val="FF0000"/>
                </a:solidFill>
                <a:latin typeface="Calibri"/>
                <a:cs typeface="Calibri"/>
              </a:rPr>
              <a:t>Value</a:t>
            </a:r>
            <a:r>
              <a:rPr sz="2000" b="1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Calibri"/>
                <a:cs typeface="Calibri"/>
              </a:rPr>
              <a:t>available </a:t>
            </a:r>
            <a:r>
              <a:rPr sz="2000" b="1" spc="-15" dirty="0">
                <a:solidFill>
                  <a:srgbClr val="FF0000"/>
                </a:solidFill>
                <a:latin typeface="Calibri"/>
                <a:cs typeface="Calibri"/>
              </a:rPr>
              <a:t>at</a:t>
            </a:r>
            <a:r>
              <a:rPr sz="2000" b="1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FF0000"/>
                </a:solidFill>
                <a:latin typeface="Calibri"/>
                <a:cs typeface="Calibri"/>
              </a:rPr>
              <a:t>**pptr </a:t>
            </a: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=</a:t>
            </a:r>
            <a:r>
              <a:rPr sz="2000" b="1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3000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41198" y="103123"/>
            <a:ext cx="5313680" cy="4114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Some example</a:t>
            </a:r>
            <a:r>
              <a:rPr sz="280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Pointer</a:t>
            </a:r>
            <a:r>
              <a:rPr sz="28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Expressions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3350">
              <a:latin typeface="Times New Roman"/>
              <a:cs typeface="Times New Roman"/>
            </a:endParaRPr>
          </a:p>
          <a:p>
            <a:pPr marL="114935">
              <a:lnSpc>
                <a:spcPct val="100000"/>
              </a:lnSpc>
            </a:pPr>
            <a:r>
              <a:rPr sz="2400" b="1" spc="-5" dirty="0">
                <a:latin typeface="Times New Roman"/>
                <a:cs typeface="Times New Roman"/>
              </a:rPr>
              <a:t>Some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example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pointer</a:t>
            </a:r>
            <a:r>
              <a:rPr sz="2400" b="1" spc="-65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expressions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450">
              <a:latin typeface="Times New Roman"/>
              <a:cs typeface="Times New Roman"/>
            </a:endParaRPr>
          </a:p>
          <a:p>
            <a:pPr marL="114935">
              <a:lnSpc>
                <a:spcPct val="100000"/>
              </a:lnSpc>
            </a:pPr>
            <a:r>
              <a:rPr sz="3200" dirty="0">
                <a:latin typeface="Times New Roman"/>
                <a:cs typeface="Times New Roman"/>
              </a:rPr>
              <a:t>y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=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*p1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+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*p2;</a:t>
            </a:r>
            <a:endParaRPr sz="3200">
              <a:latin typeface="Times New Roman"/>
              <a:cs typeface="Times New Roman"/>
            </a:endParaRPr>
          </a:p>
          <a:p>
            <a:pPr marL="114935" marR="2179320">
              <a:lnSpc>
                <a:spcPts val="7680"/>
              </a:lnSpc>
              <a:spcBef>
                <a:spcPts val="695"/>
              </a:spcBef>
            </a:pPr>
            <a:r>
              <a:rPr sz="3200" dirty="0">
                <a:latin typeface="Times New Roman"/>
                <a:cs typeface="Times New Roman"/>
              </a:rPr>
              <a:t>Sum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=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sum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+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*p1;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z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=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5*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-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*p2/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*p1;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094211" y="6426809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19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Words>1378</Words>
  <Application>Microsoft Office PowerPoint</Application>
  <PresentationFormat>Custom</PresentationFormat>
  <Paragraphs>264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Pointers and Arrays</vt:lpstr>
      <vt:lpstr>POINTERS AND ARRAYS</vt:lpstr>
      <vt:lpstr>ARRAY OF POINTERS</vt:lpstr>
      <vt:lpstr>ARRAY OF POINTERS</vt:lpstr>
      <vt:lpstr>ARRAY OF POINTERS</vt:lpstr>
      <vt:lpstr>Two Dimensional Array Representation</vt:lpstr>
      <vt:lpstr>Two Dimensional Array Representation</vt:lpstr>
      <vt:lpstr>Pointers and Character Strings</vt:lpstr>
      <vt:lpstr>Pointers and Character Strings</vt:lpstr>
      <vt:lpstr>Array of Pointers</vt:lpstr>
      <vt:lpstr>Array of Pointers</vt:lpstr>
      <vt:lpstr>Pointers as Function Arguments</vt:lpstr>
      <vt:lpstr>Passing Pointers to a Function</vt:lpstr>
      <vt:lpstr>Function returning Pointers</vt:lpstr>
      <vt:lpstr>Pointer to a Function</vt:lpstr>
      <vt:lpstr>Pointer To A Function</vt:lpstr>
      <vt:lpstr>Pointer To A Function</vt:lpstr>
      <vt:lpstr>#include &lt;stdio.h&gt;  int main () { int var;  int *ptr;</vt:lpstr>
      <vt:lpstr>Slide 19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C</dc:title>
  <dc:creator>Admin</dc:creator>
  <cp:lastModifiedBy>ELCOT</cp:lastModifiedBy>
  <cp:revision>1</cp:revision>
  <dcterms:created xsi:type="dcterms:W3CDTF">2023-03-15T17:03:54Z</dcterms:created>
  <dcterms:modified xsi:type="dcterms:W3CDTF">2023-03-20T17:33:32Z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2023-03-13T00:00:00Z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2023-03-15T00:00:00Z</vt:filetime>
  </property>
</Properties>
</file>