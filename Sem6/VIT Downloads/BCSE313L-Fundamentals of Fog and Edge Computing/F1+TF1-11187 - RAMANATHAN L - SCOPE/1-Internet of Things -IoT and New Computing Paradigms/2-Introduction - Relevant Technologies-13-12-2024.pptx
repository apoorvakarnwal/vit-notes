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57" r:id="rId3"/>
    <p:sldId id="312" r:id="rId4"/>
    <p:sldId id="311"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313" r:id="rId19"/>
    <p:sldId id="271" r:id="rId20"/>
    <p:sldId id="275" r:id="rId21"/>
    <p:sldId id="272" r:id="rId22"/>
    <p:sldId id="273" r:id="rId23"/>
    <p:sldId id="274" r:id="rId24"/>
    <p:sldId id="276" r:id="rId25"/>
    <p:sldId id="314" r:id="rId26"/>
    <p:sldId id="277" r:id="rId27"/>
    <p:sldId id="278" r:id="rId28"/>
    <p:sldId id="279" r:id="rId29"/>
    <p:sldId id="280" r:id="rId30"/>
    <p:sldId id="315" r:id="rId31"/>
    <p:sldId id="281" r:id="rId32"/>
    <p:sldId id="282" r:id="rId33"/>
    <p:sldId id="283" r:id="rId34"/>
    <p:sldId id="284" r:id="rId35"/>
    <p:sldId id="285" r:id="rId36"/>
    <p:sldId id="286" r:id="rId37"/>
    <p:sldId id="320" r:id="rId38"/>
    <p:sldId id="319" r:id="rId39"/>
    <p:sldId id="287" r:id="rId40"/>
    <p:sldId id="288" r:id="rId41"/>
    <p:sldId id="316" r:id="rId42"/>
    <p:sldId id="289" r:id="rId43"/>
    <p:sldId id="290" r:id="rId44"/>
    <p:sldId id="291" r:id="rId45"/>
    <p:sldId id="292" r:id="rId46"/>
    <p:sldId id="293" r:id="rId47"/>
    <p:sldId id="294" r:id="rId48"/>
    <p:sldId id="295" r:id="rId49"/>
    <p:sldId id="296" r:id="rId50"/>
    <p:sldId id="297" r:id="rId51"/>
    <p:sldId id="318" r:id="rId52"/>
    <p:sldId id="329" r:id="rId53"/>
    <p:sldId id="330" r:id="rId54"/>
    <p:sldId id="331" r:id="rId55"/>
    <p:sldId id="332" r:id="rId56"/>
    <p:sldId id="298" r:id="rId57"/>
    <p:sldId id="299" r:id="rId58"/>
    <p:sldId id="300" r:id="rId59"/>
    <p:sldId id="321" r:id="rId60"/>
    <p:sldId id="322" r:id="rId61"/>
    <p:sldId id="323" r:id="rId62"/>
    <p:sldId id="324" r:id="rId63"/>
    <p:sldId id="302" r:id="rId64"/>
    <p:sldId id="325" r:id="rId65"/>
    <p:sldId id="326" r:id="rId66"/>
    <p:sldId id="327" r:id="rId67"/>
    <p:sldId id="328" r:id="rId68"/>
    <p:sldId id="317" r:id="rId69"/>
    <p:sldId id="301" r:id="rId70"/>
    <p:sldId id="303" r:id="rId71"/>
    <p:sldId id="304" r:id="rId72"/>
    <p:sldId id="305" r:id="rId73"/>
    <p:sldId id="306" r:id="rId74"/>
    <p:sldId id="307" r:id="rId75"/>
    <p:sldId id="308" r:id="rId76"/>
    <p:sldId id="309" r:id="rId77"/>
    <p:sldId id="310"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C06"/>
    <a:srgbClr val="FFD579"/>
    <a:srgbClr val="CE3251"/>
    <a:srgbClr val="FFFC00"/>
    <a:srgbClr val="FFFF00"/>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41"/>
    <p:restoredTop sz="91701"/>
  </p:normalViewPr>
  <p:slideViewPr>
    <p:cSldViewPr snapToGrid="0">
      <p:cViewPr varScale="1">
        <p:scale>
          <a:sx n="86" d="100"/>
          <a:sy n="86" d="100"/>
        </p:scale>
        <p:origin x="224" y="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FDF5DF-011E-474F-AB11-8CE8A66D7EB4}" type="doc">
      <dgm:prSet loTypeId="urn:microsoft.com/office/officeart/2005/8/layout/radial3" loCatId="" qsTypeId="urn:microsoft.com/office/officeart/2005/8/quickstyle/simple1" qsCatId="simple" csTypeId="urn:microsoft.com/office/officeart/2005/8/colors/colorful4" csCatId="colorful" phldr="1"/>
      <dgm:spPr/>
      <dgm:t>
        <a:bodyPr/>
        <a:lstStyle/>
        <a:p>
          <a:endParaRPr lang="en-GB"/>
        </a:p>
      </dgm:t>
    </dgm:pt>
    <dgm:pt modelId="{593AFB03-CEB9-4049-A31B-034CB66988F6}">
      <dgm:prSet phldrT="[Text]" custT="1"/>
      <dgm:spPr/>
      <dgm:t>
        <a:bodyPr/>
        <a:lstStyle/>
        <a:p>
          <a:r>
            <a:rPr lang="en-GB" sz="3200" dirty="0">
              <a:latin typeface="Book Antiqua" panose="02040602050305030304" pitchFamily="18" charset="0"/>
            </a:rPr>
            <a:t>Key Issues</a:t>
          </a:r>
        </a:p>
      </dgm:t>
    </dgm:pt>
    <dgm:pt modelId="{08DB3E63-86E4-294C-9611-30F92B2F05B7}" type="parTrans" cxnId="{C9FC384E-B302-E245-AE5B-336CA91DB0B8}">
      <dgm:prSet/>
      <dgm:spPr/>
      <dgm:t>
        <a:bodyPr/>
        <a:lstStyle/>
        <a:p>
          <a:endParaRPr lang="en-GB"/>
        </a:p>
      </dgm:t>
    </dgm:pt>
    <dgm:pt modelId="{0ED7AEF2-DE67-F64D-A482-637DD16268EE}" type="sibTrans" cxnId="{C9FC384E-B302-E245-AE5B-336CA91DB0B8}">
      <dgm:prSet/>
      <dgm:spPr/>
      <dgm:t>
        <a:bodyPr/>
        <a:lstStyle/>
        <a:p>
          <a:endParaRPr lang="en-GB"/>
        </a:p>
      </dgm:t>
    </dgm:pt>
    <dgm:pt modelId="{4749F096-1D09-6545-B37A-E9C88527FDD9}">
      <dgm:prSet phldrT="[Text]" custT="1"/>
      <dgm:spPr/>
      <dgm:t>
        <a:bodyPr/>
        <a:lstStyle/>
        <a:p>
          <a:r>
            <a:rPr lang="en-GB" sz="1400" dirty="0">
              <a:latin typeface="Book Antiqua" panose="02040602050305030304" pitchFamily="18" charset="0"/>
            </a:rPr>
            <a:t>Interoperability</a:t>
          </a:r>
        </a:p>
      </dgm:t>
    </dgm:pt>
    <dgm:pt modelId="{1F26E269-4AFB-1A47-9DB1-C3572C63A176}" type="parTrans" cxnId="{DA2F769A-AA21-BA4C-A96F-EC8AD9DA9F36}">
      <dgm:prSet/>
      <dgm:spPr/>
      <dgm:t>
        <a:bodyPr/>
        <a:lstStyle/>
        <a:p>
          <a:endParaRPr lang="en-GB"/>
        </a:p>
      </dgm:t>
    </dgm:pt>
    <dgm:pt modelId="{048622AD-F2AA-EA44-9026-44E3C52AB0A7}" type="sibTrans" cxnId="{DA2F769A-AA21-BA4C-A96F-EC8AD9DA9F36}">
      <dgm:prSet/>
      <dgm:spPr/>
      <dgm:t>
        <a:bodyPr/>
        <a:lstStyle/>
        <a:p>
          <a:endParaRPr lang="en-GB"/>
        </a:p>
      </dgm:t>
    </dgm:pt>
    <dgm:pt modelId="{09B168EE-CB3C-9945-A172-8E5061EE45E1}">
      <dgm:prSet phldrT="[Text]" custT="1"/>
      <dgm:spPr/>
      <dgm:t>
        <a:bodyPr/>
        <a:lstStyle/>
        <a:p>
          <a:r>
            <a:rPr lang="en-GB" sz="1400" dirty="0">
              <a:latin typeface="Book Antiqua" panose="02040602050305030304" pitchFamily="18" charset="0"/>
            </a:rPr>
            <a:t>Scale</a:t>
          </a:r>
        </a:p>
      </dgm:t>
    </dgm:pt>
    <dgm:pt modelId="{E7E6B3A8-DEE1-744D-A303-17310C79041E}" type="parTrans" cxnId="{D56116B0-90CD-054C-A67E-7DAB7CE4A143}">
      <dgm:prSet/>
      <dgm:spPr/>
      <dgm:t>
        <a:bodyPr/>
        <a:lstStyle/>
        <a:p>
          <a:endParaRPr lang="en-GB"/>
        </a:p>
      </dgm:t>
    </dgm:pt>
    <dgm:pt modelId="{2DC07FED-40FC-524E-8AEB-6E502A674624}" type="sibTrans" cxnId="{D56116B0-90CD-054C-A67E-7DAB7CE4A143}">
      <dgm:prSet/>
      <dgm:spPr/>
      <dgm:t>
        <a:bodyPr/>
        <a:lstStyle/>
        <a:p>
          <a:endParaRPr lang="en-GB"/>
        </a:p>
      </dgm:t>
    </dgm:pt>
    <dgm:pt modelId="{02FA50E9-802D-EB4A-A2DA-F8BB89250C79}">
      <dgm:prSet phldrT="[Text]" custT="1"/>
      <dgm:spPr/>
      <dgm:t>
        <a:bodyPr/>
        <a:lstStyle/>
        <a:p>
          <a:r>
            <a:rPr lang="en-GB" sz="1400" dirty="0">
              <a:latin typeface="Book Antiqua" panose="02040602050305030304" pitchFamily="18" charset="0"/>
            </a:rPr>
            <a:t>Geographic Distribution</a:t>
          </a:r>
        </a:p>
      </dgm:t>
    </dgm:pt>
    <dgm:pt modelId="{FA633F5B-1619-F64F-8EC0-70FAE3BFFADE}" type="parTrans" cxnId="{0717E1A2-19D1-664B-A305-E5536FC372A7}">
      <dgm:prSet/>
      <dgm:spPr/>
      <dgm:t>
        <a:bodyPr/>
        <a:lstStyle/>
        <a:p>
          <a:endParaRPr lang="en-GB"/>
        </a:p>
      </dgm:t>
    </dgm:pt>
    <dgm:pt modelId="{65A3C66A-8304-1842-9A3E-306172736F10}" type="sibTrans" cxnId="{0717E1A2-19D1-664B-A305-E5536FC372A7}">
      <dgm:prSet/>
      <dgm:spPr/>
      <dgm:t>
        <a:bodyPr/>
        <a:lstStyle/>
        <a:p>
          <a:endParaRPr lang="en-GB"/>
        </a:p>
      </dgm:t>
    </dgm:pt>
    <dgm:pt modelId="{E92FA3CB-5D98-3340-B309-E908DF7A0574}">
      <dgm:prSet phldrT="[Text]" custT="1"/>
      <dgm:spPr/>
      <dgm:t>
        <a:bodyPr/>
        <a:lstStyle/>
        <a:p>
          <a:r>
            <a:rPr lang="en-GB" sz="1400" dirty="0">
              <a:latin typeface="Book Antiqua" panose="02040602050305030304" pitchFamily="18" charset="0"/>
            </a:rPr>
            <a:t>Heterogeneity</a:t>
          </a:r>
        </a:p>
      </dgm:t>
    </dgm:pt>
    <dgm:pt modelId="{9DADC7CC-6CA3-5A4B-B541-A435E12B8AA0}" type="parTrans" cxnId="{A0401862-1A0D-6C43-B754-4A052CDBF209}">
      <dgm:prSet/>
      <dgm:spPr/>
      <dgm:t>
        <a:bodyPr/>
        <a:lstStyle/>
        <a:p>
          <a:endParaRPr lang="en-GB"/>
        </a:p>
      </dgm:t>
    </dgm:pt>
    <dgm:pt modelId="{87AB4A34-F6C3-A545-8F82-0F9ED9B53B29}" type="sibTrans" cxnId="{A0401862-1A0D-6C43-B754-4A052CDBF209}">
      <dgm:prSet/>
      <dgm:spPr/>
      <dgm:t>
        <a:bodyPr/>
        <a:lstStyle/>
        <a:p>
          <a:endParaRPr lang="en-GB"/>
        </a:p>
      </dgm:t>
    </dgm:pt>
    <dgm:pt modelId="{3E401E63-BDBC-484F-A68B-45A30E3E11B3}">
      <dgm:prSet phldrT="[Text]" custT="1"/>
      <dgm:spPr/>
      <dgm:t>
        <a:bodyPr/>
        <a:lstStyle/>
        <a:p>
          <a:r>
            <a:rPr lang="en-GB" sz="1400" dirty="0">
              <a:latin typeface="Book Antiqua" panose="02040602050305030304" pitchFamily="18" charset="0"/>
            </a:rPr>
            <a:t>Constrained Resources</a:t>
          </a:r>
        </a:p>
      </dgm:t>
    </dgm:pt>
    <dgm:pt modelId="{9272019D-5745-E64E-8602-F29761F2194D}" type="parTrans" cxnId="{B5F1B18E-6BCA-F442-9040-D09460C6C797}">
      <dgm:prSet/>
      <dgm:spPr/>
      <dgm:t>
        <a:bodyPr/>
        <a:lstStyle/>
        <a:p>
          <a:endParaRPr lang="en-GB"/>
        </a:p>
      </dgm:t>
    </dgm:pt>
    <dgm:pt modelId="{82D55F95-54DC-684D-B013-81EF8B151864}" type="sibTrans" cxnId="{B5F1B18E-6BCA-F442-9040-D09460C6C797}">
      <dgm:prSet/>
      <dgm:spPr/>
      <dgm:t>
        <a:bodyPr/>
        <a:lstStyle/>
        <a:p>
          <a:endParaRPr lang="en-GB"/>
        </a:p>
      </dgm:t>
    </dgm:pt>
    <dgm:pt modelId="{3E2366A9-64D3-D44B-B64E-F48D904D7F17}">
      <dgm:prSet phldrT="[Text]" custT="1"/>
      <dgm:spPr/>
      <dgm:t>
        <a:bodyPr/>
        <a:lstStyle/>
        <a:p>
          <a:r>
            <a:rPr lang="en-GB" sz="1400" dirty="0">
              <a:latin typeface="Book Antiqua" panose="02040602050305030304" pitchFamily="18" charset="0"/>
            </a:rPr>
            <a:t>Real time Processing</a:t>
          </a:r>
        </a:p>
      </dgm:t>
    </dgm:pt>
    <dgm:pt modelId="{A1DD8FED-78BE-854F-81DA-5721C5872D9D}" type="parTrans" cxnId="{5F119511-4D56-1648-AB62-7AECF0555A39}">
      <dgm:prSet/>
      <dgm:spPr/>
      <dgm:t>
        <a:bodyPr/>
        <a:lstStyle/>
        <a:p>
          <a:endParaRPr lang="en-GB"/>
        </a:p>
      </dgm:t>
    </dgm:pt>
    <dgm:pt modelId="{51AC468A-83BF-7945-8D7C-2BDA6BA38AC7}" type="sibTrans" cxnId="{5F119511-4D56-1648-AB62-7AECF0555A39}">
      <dgm:prSet/>
      <dgm:spPr/>
      <dgm:t>
        <a:bodyPr/>
        <a:lstStyle/>
        <a:p>
          <a:endParaRPr lang="en-GB"/>
        </a:p>
      </dgm:t>
    </dgm:pt>
    <dgm:pt modelId="{3C69F88E-28B9-F344-9305-86C81CB8387A}" type="pres">
      <dgm:prSet presAssocID="{A4FDF5DF-011E-474F-AB11-8CE8A66D7EB4}" presName="composite" presStyleCnt="0">
        <dgm:presLayoutVars>
          <dgm:chMax val="1"/>
          <dgm:dir/>
          <dgm:resizeHandles val="exact"/>
        </dgm:presLayoutVars>
      </dgm:prSet>
      <dgm:spPr/>
    </dgm:pt>
    <dgm:pt modelId="{66F02EA0-9160-694E-A311-DAA859683FF1}" type="pres">
      <dgm:prSet presAssocID="{A4FDF5DF-011E-474F-AB11-8CE8A66D7EB4}" presName="radial" presStyleCnt="0">
        <dgm:presLayoutVars>
          <dgm:animLvl val="ctr"/>
        </dgm:presLayoutVars>
      </dgm:prSet>
      <dgm:spPr/>
    </dgm:pt>
    <dgm:pt modelId="{0DD2052C-74D1-794F-8AEC-3F1C7FECDC63}" type="pres">
      <dgm:prSet presAssocID="{593AFB03-CEB9-4049-A31B-034CB66988F6}" presName="centerShape" presStyleLbl="vennNode1" presStyleIdx="0" presStyleCnt="7"/>
      <dgm:spPr/>
    </dgm:pt>
    <dgm:pt modelId="{8E5A37C9-9CC7-E549-81B5-AAEEFE46E7FC}" type="pres">
      <dgm:prSet presAssocID="{4749F096-1D09-6545-B37A-E9C88527FDD9}" presName="node" presStyleLbl="vennNode1" presStyleIdx="1" presStyleCnt="7">
        <dgm:presLayoutVars>
          <dgm:bulletEnabled val="1"/>
        </dgm:presLayoutVars>
      </dgm:prSet>
      <dgm:spPr/>
    </dgm:pt>
    <dgm:pt modelId="{4CBD67E2-BCD0-304D-80E2-67EEFBF467A9}" type="pres">
      <dgm:prSet presAssocID="{09B168EE-CB3C-9945-A172-8E5061EE45E1}" presName="node" presStyleLbl="vennNode1" presStyleIdx="2" presStyleCnt="7">
        <dgm:presLayoutVars>
          <dgm:bulletEnabled val="1"/>
        </dgm:presLayoutVars>
      </dgm:prSet>
      <dgm:spPr/>
    </dgm:pt>
    <dgm:pt modelId="{F6DFD786-5E7D-B142-A88A-4D28562B6996}" type="pres">
      <dgm:prSet presAssocID="{02FA50E9-802D-EB4A-A2DA-F8BB89250C79}" presName="node" presStyleLbl="vennNode1" presStyleIdx="3" presStyleCnt="7">
        <dgm:presLayoutVars>
          <dgm:bulletEnabled val="1"/>
        </dgm:presLayoutVars>
      </dgm:prSet>
      <dgm:spPr/>
    </dgm:pt>
    <dgm:pt modelId="{E09F6DBB-2999-8D44-8D36-16F5B0678A84}" type="pres">
      <dgm:prSet presAssocID="{E92FA3CB-5D98-3340-B309-E908DF7A0574}" presName="node" presStyleLbl="vennNode1" presStyleIdx="4" presStyleCnt="7">
        <dgm:presLayoutVars>
          <dgm:bulletEnabled val="1"/>
        </dgm:presLayoutVars>
      </dgm:prSet>
      <dgm:spPr/>
    </dgm:pt>
    <dgm:pt modelId="{CA578633-B387-924C-ADED-A193F2C596CB}" type="pres">
      <dgm:prSet presAssocID="{3E401E63-BDBC-484F-A68B-45A30E3E11B3}" presName="node" presStyleLbl="vennNode1" presStyleIdx="5" presStyleCnt="7">
        <dgm:presLayoutVars>
          <dgm:bulletEnabled val="1"/>
        </dgm:presLayoutVars>
      </dgm:prSet>
      <dgm:spPr/>
    </dgm:pt>
    <dgm:pt modelId="{7A3F6041-DA55-2348-B8BC-83C5FE738E07}" type="pres">
      <dgm:prSet presAssocID="{3E2366A9-64D3-D44B-B64E-F48D904D7F17}" presName="node" presStyleLbl="vennNode1" presStyleIdx="6" presStyleCnt="7">
        <dgm:presLayoutVars>
          <dgm:bulletEnabled val="1"/>
        </dgm:presLayoutVars>
      </dgm:prSet>
      <dgm:spPr/>
    </dgm:pt>
  </dgm:ptLst>
  <dgm:cxnLst>
    <dgm:cxn modelId="{24BCB201-9BD3-9643-87E7-9E4E23A60374}" type="presOf" srcId="{A4FDF5DF-011E-474F-AB11-8CE8A66D7EB4}" destId="{3C69F88E-28B9-F344-9305-86C81CB8387A}" srcOrd="0" destOrd="0" presId="urn:microsoft.com/office/officeart/2005/8/layout/radial3"/>
    <dgm:cxn modelId="{5F119511-4D56-1648-AB62-7AECF0555A39}" srcId="{593AFB03-CEB9-4049-A31B-034CB66988F6}" destId="{3E2366A9-64D3-D44B-B64E-F48D904D7F17}" srcOrd="5" destOrd="0" parTransId="{A1DD8FED-78BE-854F-81DA-5721C5872D9D}" sibTransId="{51AC468A-83BF-7945-8D7C-2BDA6BA38AC7}"/>
    <dgm:cxn modelId="{7E7FEC3B-EF37-B64B-9892-3C27F79467D7}" type="presOf" srcId="{3E2366A9-64D3-D44B-B64E-F48D904D7F17}" destId="{7A3F6041-DA55-2348-B8BC-83C5FE738E07}" srcOrd="0" destOrd="0" presId="urn:microsoft.com/office/officeart/2005/8/layout/radial3"/>
    <dgm:cxn modelId="{C9FC384E-B302-E245-AE5B-336CA91DB0B8}" srcId="{A4FDF5DF-011E-474F-AB11-8CE8A66D7EB4}" destId="{593AFB03-CEB9-4049-A31B-034CB66988F6}" srcOrd="0" destOrd="0" parTransId="{08DB3E63-86E4-294C-9611-30F92B2F05B7}" sibTransId="{0ED7AEF2-DE67-F64D-A482-637DD16268EE}"/>
    <dgm:cxn modelId="{8E97B554-61CE-4A42-BFD6-F3759A22D1C0}" type="presOf" srcId="{02FA50E9-802D-EB4A-A2DA-F8BB89250C79}" destId="{F6DFD786-5E7D-B142-A88A-4D28562B6996}" srcOrd="0" destOrd="0" presId="urn:microsoft.com/office/officeart/2005/8/layout/radial3"/>
    <dgm:cxn modelId="{C458CB55-A74D-D649-9249-E43A4D9A1F6D}" type="presOf" srcId="{E92FA3CB-5D98-3340-B309-E908DF7A0574}" destId="{E09F6DBB-2999-8D44-8D36-16F5B0678A84}" srcOrd="0" destOrd="0" presId="urn:microsoft.com/office/officeart/2005/8/layout/radial3"/>
    <dgm:cxn modelId="{A0401862-1A0D-6C43-B754-4A052CDBF209}" srcId="{593AFB03-CEB9-4049-A31B-034CB66988F6}" destId="{E92FA3CB-5D98-3340-B309-E908DF7A0574}" srcOrd="3" destOrd="0" parTransId="{9DADC7CC-6CA3-5A4B-B541-A435E12B8AA0}" sibTransId="{87AB4A34-F6C3-A545-8F82-0F9ED9B53B29}"/>
    <dgm:cxn modelId="{B535586F-1834-A242-9B2B-7CB81A948140}" type="presOf" srcId="{09B168EE-CB3C-9945-A172-8E5061EE45E1}" destId="{4CBD67E2-BCD0-304D-80E2-67EEFBF467A9}" srcOrd="0" destOrd="0" presId="urn:microsoft.com/office/officeart/2005/8/layout/radial3"/>
    <dgm:cxn modelId="{B5F1B18E-6BCA-F442-9040-D09460C6C797}" srcId="{593AFB03-CEB9-4049-A31B-034CB66988F6}" destId="{3E401E63-BDBC-484F-A68B-45A30E3E11B3}" srcOrd="4" destOrd="0" parTransId="{9272019D-5745-E64E-8602-F29761F2194D}" sibTransId="{82D55F95-54DC-684D-B013-81EF8B151864}"/>
    <dgm:cxn modelId="{DA2F769A-AA21-BA4C-A96F-EC8AD9DA9F36}" srcId="{593AFB03-CEB9-4049-A31B-034CB66988F6}" destId="{4749F096-1D09-6545-B37A-E9C88527FDD9}" srcOrd="0" destOrd="0" parTransId="{1F26E269-4AFB-1A47-9DB1-C3572C63A176}" sibTransId="{048622AD-F2AA-EA44-9026-44E3C52AB0A7}"/>
    <dgm:cxn modelId="{0717E1A2-19D1-664B-A305-E5536FC372A7}" srcId="{593AFB03-CEB9-4049-A31B-034CB66988F6}" destId="{02FA50E9-802D-EB4A-A2DA-F8BB89250C79}" srcOrd="2" destOrd="0" parTransId="{FA633F5B-1619-F64F-8EC0-70FAE3BFFADE}" sibTransId="{65A3C66A-8304-1842-9A3E-306172736F10}"/>
    <dgm:cxn modelId="{5E28EDA8-B0C5-9B43-B818-1B4C75517B09}" type="presOf" srcId="{3E401E63-BDBC-484F-A68B-45A30E3E11B3}" destId="{CA578633-B387-924C-ADED-A193F2C596CB}" srcOrd="0" destOrd="0" presId="urn:microsoft.com/office/officeart/2005/8/layout/radial3"/>
    <dgm:cxn modelId="{D56116B0-90CD-054C-A67E-7DAB7CE4A143}" srcId="{593AFB03-CEB9-4049-A31B-034CB66988F6}" destId="{09B168EE-CB3C-9945-A172-8E5061EE45E1}" srcOrd="1" destOrd="0" parTransId="{E7E6B3A8-DEE1-744D-A303-17310C79041E}" sibTransId="{2DC07FED-40FC-524E-8AEB-6E502A674624}"/>
    <dgm:cxn modelId="{313073E6-ED25-3B42-BEBE-A08FFD64D322}" type="presOf" srcId="{4749F096-1D09-6545-B37A-E9C88527FDD9}" destId="{8E5A37C9-9CC7-E549-81B5-AAEEFE46E7FC}" srcOrd="0" destOrd="0" presId="urn:microsoft.com/office/officeart/2005/8/layout/radial3"/>
    <dgm:cxn modelId="{ADC55BF3-9A3C-9646-A676-775F56C7434F}" type="presOf" srcId="{593AFB03-CEB9-4049-A31B-034CB66988F6}" destId="{0DD2052C-74D1-794F-8AEC-3F1C7FECDC63}" srcOrd="0" destOrd="0" presId="urn:microsoft.com/office/officeart/2005/8/layout/radial3"/>
    <dgm:cxn modelId="{D1ED92D0-704F-9A43-9F7E-6BF6D9117F3D}" type="presParOf" srcId="{3C69F88E-28B9-F344-9305-86C81CB8387A}" destId="{66F02EA0-9160-694E-A311-DAA859683FF1}" srcOrd="0" destOrd="0" presId="urn:microsoft.com/office/officeart/2005/8/layout/radial3"/>
    <dgm:cxn modelId="{9E8E657B-7142-3549-8E31-8DB6FA0D903B}" type="presParOf" srcId="{66F02EA0-9160-694E-A311-DAA859683FF1}" destId="{0DD2052C-74D1-794F-8AEC-3F1C7FECDC63}" srcOrd="0" destOrd="0" presId="urn:microsoft.com/office/officeart/2005/8/layout/radial3"/>
    <dgm:cxn modelId="{D958D90A-0017-4248-AF98-1DF0461AC2CE}" type="presParOf" srcId="{66F02EA0-9160-694E-A311-DAA859683FF1}" destId="{8E5A37C9-9CC7-E549-81B5-AAEEFE46E7FC}" srcOrd="1" destOrd="0" presId="urn:microsoft.com/office/officeart/2005/8/layout/radial3"/>
    <dgm:cxn modelId="{F3CF57CA-0F6D-4C46-875B-0620B0AD563B}" type="presParOf" srcId="{66F02EA0-9160-694E-A311-DAA859683FF1}" destId="{4CBD67E2-BCD0-304D-80E2-67EEFBF467A9}" srcOrd="2" destOrd="0" presId="urn:microsoft.com/office/officeart/2005/8/layout/radial3"/>
    <dgm:cxn modelId="{24FA8119-D3AE-DF4D-8150-02BB4BA1D6F2}" type="presParOf" srcId="{66F02EA0-9160-694E-A311-DAA859683FF1}" destId="{F6DFD786-5E7D-B142-A88A-4D28562B6996}" srcOrd="3" destOrd="0" presId="urn:microsoft.com/office/officeart/2005/8/layout/radial3"/>
    <dgm:cxn modelId="{9CE75E84-342F-E843-818B-3F18E1C1E595}" type="presParOf" srcId="{66F02EA0-9160-694E-A311-DAA859683FF1}" destId="{E09F6DBB-2999-8D44-8D36-16F5B0678A84}" srcOrd="4" destOrd="0" presId="urn:microsoft.com/office/officeart/2005/8/layout/radial3"/>
    <dgm:cxn modelId="{21292977-F4ED-2845-AD40-CA32DE2FB175}" type="presParOf" srcId="{66F02EA0-9160-694E-A311-DAA859683FF1}" destId="{CA578633-B387-924C-ADED-A193F2C596CB}" srcOrd="5" destOrd="0" presId="urn:microsoft.com/office/officeart/2005/8/layout/radial3"/>
    <dgm:cxn modelId="{06AF94A7-27E6-564E-81E1-7052BC4BED5C}" type="presParOf" srcId="{66F02EA0-9160-694E-A311-DAA859683FF1}" destId="{7A3F6041-DA55-2348-B8BC-83C5FE738E07}" srcOrd="6"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B0D5B7-99D5-8D4B-8887-E2EED68DF7ED}"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GB"/>
        </a:p>
      </dgm:t>
    </dgm:pt>
    <dgm:pt modelId="{A39538E6-2C0C-A047-BD88-B1417A488C50}">
      <dgm:prSet custT="1"/>
      <dgm:spPr/>
      <dgm:t>
        <a:bodyPr/>
        <a:lstStyle/>
        <a:p>
          <a:r>
            <a:rPr lang="en-US" sz="1400" dirty="0">
              <a:latin typeface="Book Antiqua" panose="02040602050305030304" pitchFamily="18" charset="0"/>
            </a:rPr>
            <a:t>Architecture Modeling</a:t>
          </a:r>
          <a:endParaRPr lang="en-IN" sz="1400" dirty="0">
            <a:latin typeface="Book Antiqua" panose="02040602050305030304" pitchFamily="18" charset="0"/>
          </a:endParaRPr>
        </a:p>
      </dgm:t>
    </dgm:pt>
    <dgm:pt modelId="{D7FA718B-6300-DA4F-8BE2-97DCBE518B48}" type="parTrans" cxnId="{991AAC7F-4FB4-F440-B360-BA045D374C04}">
      <dgm:prSet/>
      <dgm:spPr/>
      <dgm:t>
        <a:bodyPr/>
        <a:lstStyle/>
        <a:p>
          <a:endParaRPr lang="en-GB"/>
        </a:p>
      </dgm:t>
    </dgm:pt>
    <dgm:pt modelId="{ED5A7ED3-AEE7-2C44-A534-31524A9BD2E8}" type="sibTrans" cxnId="{991AAC7F-4FB4-F440-B360-BA045D374C04}">
      <dgm:prSet/>
      <dgm:spPr/>
      <dgm:t>
        <a:bodyPr/>
        <a:lstStyle/>
        <a:p>
          <a:endParaRPr lang="en-GB"/>
        </a:p>
      </dgm:t>
    </dgm:pt>
    <dgm:pt modelId="{C240B210-0B81-BC4B-A009-E6602C860A40}">
      <dgm:prSet custT="1"/>
      <dgm:spPr/>
      <dgm:t>
        <a:bodyPr/>
        <a:lstStyle/>
        <a:p>
          <a:r>
            <a:rPr lang="en-US" sz="1400" dirty="0">
              <a:latin typeface="Book Antiqua" panose="02040602050305030304" pitchFamily="18" charset="0"/>
            </a:rPr>
            <a:t>Gateway Modeling</a:t>
          </a:r>
          <a:endParaRPr lang="en-IN" sz="1400" dirty="0">
            <a:latin typeface="Book Antiqua" panose="02040602050305030304" pitchFamily="18" charset="0"/>
          </a:endParaRPr>
        </a:p>
      </dgm:t>
    </dgm:pt>
    <dgm:pt modelId="{7CA9A7F0-4D3E-5442-85DD-E49FF7C8989D}" type="parTrans" cxnId="{A8A3D1AE-6573-3D48-8BA0-015A8B0D0E21}">
      <dgm:prSet/>
      <dgm:spPr/>
      <dgm:t>
        <a:bodyPr/>
        <a:lstStyle/>
        <a:p>
          <a:endParaRPr lang="en-GB"/>
        </a:p>
      </dgm:t>
    </dgm:pt>
    <dgm:pt modelId="{5CE28F82-B07A-A849-961E-DD72078619BE}" type="sibTrans" cxnId="{A8A3D1AE-6573-3D48-8BA0-015A8B0D0E21}">
      <dgm:prSet/>
      <dgm:spPr/>
      <dgm:t>
        <a:bodyPr/>
        <a:lstStyle/>
        <a:p>
          <a:endParaRPr lang="en-GB"/>
        </a:p>
      </dgm:t>
    </dgm:pt>
    <dgm:pt modelId="{196702A1-5A09-7F4E-B402-279A218E2444}">
      <dgm:prSet custT="1"/>
      <dgm:spPr/>
      <dgm:t>
        <a:bodyPr/>
        <a:lstStyle/>
        <a:p>
          <a:r>
            <a:rPr lang="en-US" sz="1400" dirty="0">
              <a:latin typeface="Book Antiqua" panose="02040602050305030304" pitchFamily="18" charset="0"/>
            </a:rPr>
            <a:t>Scheduling Mechanism</a:t>
          </a:r>
          <a:endParaRPr lang="en-IN" sz="1400" dirty="0">
            <a:latin typeface="Book Antiqua" panose="02040602050305030304" pitchFamily="18" charset="0"/>
          </a:endParaRPr>
        </a:p>
      </dgm:t>
    </dgm:pt>
    <dgm:pt modelId="{7B4E1CC0-92D4-1B48-84CC-3889079D9A4F}" type="parTrans" cxnId="{971EC0E1-7E61-5C49-8806-ED9F8F0DCC97}">
      <dgm:prSet/>
      <dgm:spPr/>
      <dgm:t>
        <a:bodyPr/>
        <a:lstStyle/>
        <a:p>
          <a:endParaRPr lang="en-GB"/>
        </a:p>
      </dgm:t>
    </dgm:pt>
    <dgm:pt modelId="{759791C6-928B-1C40-BDFB-26678BE3A88E}" type="sibTrans" cxnId="{971EC0E1-7E61-5C49-8806-ED9F8F0DCC97}">
      <dgm:prSet/>
      <dgm:spPr/>
      <dgm:t>
        <a:bodyPr/>
        <a:lstStyle/>
        <a:p>
          <a:endParaRPr lang="en-GB"/>
        </a:p>
      </dgm:t>
    </dgm:pt>
    <dgm:pt modelId="{9D1A5D4F-6B07-7E42-97FB-F43B6B7DE93F}">
      <dgm:prSet custT="1"/>
      <dgm:spPr/>
      <dgm:t>
        <a:bodyPr/>
        <a:lstStyle/>
        <a:p>
          <a:r>
            <a:rPr lang="en-US" sz="1400" dirty="0">
              <a:latin typeface="Book Antiqua" panose="02040602050305030304" pitchFamily="18" charset="0"/>
            </a:rPr>
            <a:t>QoS Prediction</a:t>
          </a:r>
          <a:endParaRPr lang="en-IN" sz="1400" dirty="0">
            <a:latin typeface="Book Antiqua" panose="02040602050305030304" pitchFamily="18" charset="0"/>
          </a:endParaRPr>
        </a:p>
      </dgm:t>
    </dgm:pt>
    <dgm:pt modelId="{1B905CCD-6252-5B47-AC88-4CEF14A025C4}" type="parTrans" cxnId="{E8A0D920-8FC4-8E4F-B782-FD1FE64029CA}">
      <dgm:prSet/>
      <dgm:spPr/>
      <dgm:t>
        <a:bodyPr/>
        <a:lstStyle/>
        <a:p>
          <a:endParaRPr lang="en-GB"/>
        </a:p>
      </dgm:t>
    </dgm:pt>
    <dgm:pt modelId="{92F36429-8855-7149-8C43-0BC984AFD089}" type="sibTrans" cxnId="{E8A0D920-8FC4-8E4F-B782-FD1FE64029CA}">
      <dgm:prSet/>
      <dgm:spPr/>
      <dgm:t>
        <a:bodyPr/>
        <a:lstStyle/>
        <a:p>
          <a:endParaRPr lang="en-GB"/>
        </a:p>
      </dgm:t>
    </dgm:pt>
    <dgm:pt modelId="{DF6780DD-C7DA-5947-9DD0-0808C2FAF81D}">
      <dgm:prSet custT="1"/>
      <dgm:spPr/>
      <dgm:t>
        <a:bodyPr/>
        <a:lstStyle/>
        <a:p>
          <a:r>
            <a:rPr lang="en-US" sz="2000" dirty="0">
              <a:latin typeface="Book Antiqua" panose="02040602050305030304" pitchFamily="18" charset="0"/>
            </a:rPr>
            <a:t>Defines an architecture with vectors of associated features for physical and virtual components, using equations to calculate metrics like power consumption and time latency.</a:t>
          </a:r>
          <a:endParaRPr lang="en-IN" sz="2000" dirty="0">
            <a:latin typeface="Book Antiqua" panose="02040602050305030304" pitchFamily="18" charset="0"/>
          </a:endParaRPr>
        </a:p>
      </dgm:t>
    </dgm:pt>
    <dgm:pt modelId="{2DBAA308-8082-7643-83D8-A252015D2EEB}" type="parTrans" cxnId="{0CA1DC76-AFFA-914C-96D5-0047D49F5E8C}">
      <dgm:prSet/>
      <dgm:spPr/>
      <dgm:t>
        <a:bodyPr/>
        <a:lstStyle/>
        <a:p>
          <a:endParaRPr lang="en-GB"/>
        </a:p>
      </dgm:t>
    </dgm:pt>
    <dgm:pt modelId="{F75AE253-8EEE-7349-B704-74EDFE274216}" type="sibTrans" cxnId="{0CA1DC76-AFFA-914C-96D5-0047D49F5E8C}">
      <dgm:prSet/>
      <dgm:spPr/>
      <dgm:t>
        <a:bodyPr/>
        <a:lstStyle/>
        <a:p>
          <a:endParaRPr lang="en-GB"/>
        </a:p>
      </dgm:t>
    </dgm:pt>
    <dgm:pt modelId="{6C07D2E3-1D44-2044-9DD6-38534EA62A02}">
      <dgm:prSet custT="1"/>
      <dgm:spPr/>
      <dgm:t>
        <a:bodyPr/>
        <a:lstStyle/>
        <a:p>
          <a:r>
            <a:rPr lang="en-US" sz="2000" dirty="0">
              <a:latin typeface="Book Antiqua" panose="02040602050305030304" pitchFamily="18" charset="0"/>
            </a:rPr>
            <a:t>Considers the number of gateways, data received, and processing time, proposing equations to represent buffer occupancy and delay.</a:t>
          </a:r>
          <a:endParaRPr lang="en-IN" sz="2000" dirty="0">
            <a:latin typeface="Book Antiqua" panose="02040602050305030304" pitchFamily="18" charset="0"/>
          </a:endParaRPr>
        </a:p>
      </dgm:t>
    </dgm:pt>
    <dgm:pt modelId="{02EBC015-CC9E-7743-A844-69E310D2B1B1}" type="parTrans" cxnId="{C2EDF557-ACBA-1848-85DD-9B63D1A2C6A2}">
      <dgm:prSet/>
      <dgm:spPr/>
      <dgm:t>
        <a:bodyPr/>
        <a:lstStyle/>
        <a:p>
          <a:endParaRPr lang="en-GB"/>
        </a:p>
      </dgm:t>
    </dgm:pt>
    <dgm:pt modelId="{54FB0215-2FBB-404F-9F86-220D750DE0C6}" type="sibTrans" cxnId="{C2EDF557-ACBA-1848-85DD-9B63D1A2C6A2}">
      <dgm:prSet/>
      <dgm:spPr/>
      <dgm:t>
        <a:bodyPr/>
        <a:lstStyle/>
        <a:p>
          <a:endParaRPr lang="en-GB"/>
        </a:p>
      </dgm:t>
    </dgm:pt>
    <dgm:pt modelId="{442734AC-72E8-2B46-BA4C-4595663272DB}">
      <dgm:prSet custT="1"/>
      <dgm:spPr/>
      <dgm:t>
        <a:bodyPr/>
        <a:lstStyle/>
        <a:p>
          <a:r>
            <a:rPr lang="en-US" sz="2000" dirty="0">
              <a:latin typeface="Book Antiqua" panose="02040602050305030304" pitchFamily="18" charset="0"/>
            </a:rPr>
            <a:t>Proposes an analytical model for scheduling in IoT environments, accounting for variables like processor load, memory, and bandwidth.</a:t>
          </a:r>
          <a:endParaRPr lang="en-IN" sz="2000" dirty="0">
            <a:latin typeface="Book Antiqua" panose="02040602050305030304" pitchFamily="18" charset="0"/>
          </a:endParaRPr>
        </a:p>
      </dgm:t>
    </dgm:pt>
    <dgm:pt modelId="{9F2151DF-E6EB-6F4B-A39A-57F429613834}" type="parTrans" cxnId="{D091C63B-1017-4046-8A28-AB5D59504D19}">
      <dgm:prSet/>
      <dgm:spPr/>
      <dgm:t>
        <a:bodyPr/>
        <a:lstStyle/>
        <a:p>
          <a:endParaRPr lang="en-GB"/>
        </a:p>
      </dgm:t>
    </dgm:pt>
    <dgm:pt modelId="{39254420-4427-2748-A016-896D00E05E08}" type="sibTrans" cxnId="{D091C63B-1017-4046-8A28-AB5D59504D19}">
      <dgm:prSet/>
      <dgm:spPr/>
      <dgm:t>
        <a:bodyPr/>
        <a:lstStyle/>
        <a:p>
          <a:endParaRPr lang="en-GB"/>
        </a:p>
      </dgm:t>
    </dgm:pt>
    <dgm:pt modelId="{0C72387F-BC97-9E4C-AB31-2AA5E1D4E88F}">
      <dgm:prSet custT="1"/>
      <dgm:spPr/>
      <dgm:t>
        <a:bodyPr/>
        <a:lstStyle/>
        <a:p>
          <a:r>
            <a:rPr lang="en-US" sz="2000" dirty="0">
              <a:latin typeface="Book Antiqua" panose="02040602050305030304" pitchFamily="18" charset="0"/>
            </a:rPr>
            <a:t>Presents a method to predict QoS of IoT services using a neighborhood collaborative filter and equations to predict latency, response time, and user network condition.</a:t>
          </a:r>
          <a:endParaRPr lang="en-IN" sz="2000" dirty="0">
            <a:latin typeface="Book Antiqua" panose="02040602050305030304" pitchFamily="18" charset="0"/>
          </a:endParaRPr>
        </a:p>
      </dgm:t>
    </dgm:pt>
    <dgm:pt modelId="{4B7650D7-2D73-4F42-A05B-C7CC05DD98B7}" type="parTrans" cxnId="{43CDD451-FA8D-C944-87F5-D6E9D48756AE}">
      <dgm:prSet/>
      <dgm:spPr/>
      <dgm:t>
        <a:bodyPr/>
        <a:lstStyle/>
        <a:p>
          <a:endParaRPr lang="en-GB"/>
        </a:p>
      </dgm:t>
    </dgm:pt>
    <dgm:pt modelId="{B96FE7DB-72C0-9249-8A5E-7C727A9F057E}" type="sibTrans" cxnId="{43CDD451-FA8D-C944-87F5-D6E9D48756AE}">
      <dgm:prSet/>
      <dgm:spPr/>
      <dgm:t>
        <a:bodyPr/>
        <a:lstStyle/>
        <a:p>
          <a:endParaRPr lang="en-GB"/>
        </a:p>
      </dgm:t>
    </dgm:pt>
    <dgm:pt modelId="{5390F3AA-12DF-9E4B-AD7F-860FE8BB0E1C}" type="pres">
      <dgm:prSet presAssocID="{B6B0D5B7-99D5-8D4B-8887-E2EED68DF7ED}" presName="linearFlow" presStyleCnt="0">
        <dgm:presLayoutVars>
          <dgm:dir/>
          <dgm:animLvl val="lvl"/>
          <dgm:resizeHandles val="exact"/>
        </dgm:presLayoutVars>
      </dgm:prSet>
      <dgm:spPr/>
    </dgm:pt>
    <dgm:pt modelId="{85A84F09-46B2-9441-9E0C-24A396086541}" type="pres">
      <dgm:prSet presAssocID="{A39538E6-2C0C-A047-BD88-B1417A488C50}" presName="composite" presStyleCnt="0"/>
      <dgm:spPr/>
    </dgm:pt>
    <dgm:pt modelId="{D9B4541C-8468-484A-9E7F-56339E065C98}" type="pres">
      <dgm:prSet presAssocID="{A39538E6-2C0C-A047-BD88-B1417A488C50}" presName="parentText" presStyleLbl="alignNode1" presStyleIdx="0" presStyleCnt="4">
        <dgm:presLayoutVars>
          <dgm:chMax val="1"/>
          <dgm:bulletEnabled val="1"/>
        </dgm:presLayoutVars>
      </dgm:prSet>
      <dgm:spPr/>
    </dgm:pt>
    <dgm:pt modelId="{E6615C92-BDBB-144C-BC35-E5C5B5B34257}" type="pres">
      <dgm:prSet presAssocID="{A39538E6-2C0C-A047-BD88-B1417A488C50}" presName="descendantText" presStyleLbl="alignAcc1" presStyleIdx="0" presStyleCnt="4">
        <dgm:presLayoutVars>
          <dgm:bulletEnabled val="1"/>
        </dgm:presLayoutVars>
      </dgm:prSet>
      <dgm:spPr/>
    </dgm:pt>
    <dgm:pt modelId="{D72D8AA3-F367-0E43-8FB3-1D0D7FF9A628}" type="pres">
      <dgm:prSet presAssocID="{ED5A7ED3-AEE7-2C44-A534-31524A9BD2E8}" presName="sp" presStyleCnt="0"/>
      <dgm:spPr/>
    </dgm:pt>
    <dgm:pt modelId="{DEF8F5C3-967E-0943-B811-34CC01F0BCF7}" type="pres">
      <dgm:prSet presAssocID="{C240B210-0B81-BC4B-A009-E6602C860A40}" presName="composite" presStyleCnt="0"/>
      <dgm:spPr/>
    </dgm:pt>
    <dgm:pt modelId="{57BC8DEC-306A-2240-A6F5-434140CCEC4D}" type="pres">
      <dgm:prSet presAssocID="{C240B210-0B81-BC4B-A009-E6602C860A40}" presName="parentText" presStyleLbl="alignNode1" presStyleIdx="1" presStyleCnt="4">
        <dgm:presLayoutVars>
          <dgm:chMax val="1"/>
          <dgm:bulletEnabled val="1"/>
        </dgm:presLayoutVars>
      </dgm:prSet>
      <dgm:spPr/>
    </dgm:pt>
    <dgm:pt modelId="{00FB15E3-79A1-8840-9197-9DB4F84AC1F9}" type="pres">
      <dgm:prSet presAssocID="{C240B210-0B81-BC4B-A009-E6602C860A40}" presName="descendantText" presStyleLbl="alignAcc1" presStyleIdx="1" presStyleCnt="4">
        <dgm:presLayoutVars>
          <dgm:bulletEnabled val="1"/>
        </dgm:presLayoutVars>
      </dgm:prSet>
      <dgm:spPr/>
    </dgm:pt>
    <dgm:pt modelId="{6651857C-5FF3-9845-8E8D-A9E128F961E7}" type="pres">
      <dgm:prSet presAssocID="{5CE28F82-B07A-A849-961E-DD72078619BE}" presName="sp" presStyleCnt="0"/>
      <dgm:spPr/>
    </dgm:pt>
    <dgm:pt modelId="{5CE68A0A-A209-0943-88A6-FA42B7C13DE3}" type="pres">
      <dgm:prSet presAssocID="{196702A1-5A09-7F4E-B402-279A218E2444}" presName="composite" presStyleCnt="0"/>
      <dgm:spPr/>
    </dgm:pt>
    <dgm:pt modelId="{35748171-A43B-F64D-B590-67CCA9050F51}" type="pres">
      <dgm:prSet presAssocID="{196702A1-5A09-7F4E-B402-279A218E2444}" presName="parentText" presStyleLbl="alignNode1" presStyleIdx="2" presStyleCnt="4">
        <dgm:presLayoutVars>
          <dgm:chMax val="1"/>
          <dgm:bulletEnabled val="1"/>
        </dgm:presLayoutVars>
      </dgm:prSet>
      <dgm:spPr/>
    </dgm:pt>
    <dgm:pt modelId="{D56EFFD7-E560-CB41-A15B-3D5C17B64B72}" type="pres">
      <dgm:prSet presAssocID="{196702A1-5A09-7F4E-B402-279A218E2444}" presName="descendantText" presStyleLbl="alignAcc1" presStyleIdx="2" presStyleCnt="4">
        <dgm:presLayoutVars>
          <dgm:bulletEnabled val="1"/>
        </dgm:presLayoutVars>
      </dgm:prSet>
      <dgm:spPr/>
    </dgm:pt>
    <dgm:pt modelId="{DFA4249C-9681-2542-890A-B7E7E906FF43}" type="pres">
      <dgm:prSet presAssocID="{759791C6-928B-1C40-BDFB-26678BE3A88E}" presName="sp" presStyleCnt="0"/>
      <dgm:spPr/>
    </dgm:pt>
    <dgm:pt modelId="{32022084-09E7-3648-B21F-FF5D6902121D}" type="pres">
      <dgm:prSet presAssocID="{9D1A5D4F-6B07-7E42-97FB-F43B6B7DE93F}" presName="composite" presStyleCnt="0"/>
      <dgm:spPr/>
    </dgm:pt>
    <dgm:pt modelId="{EDB00937-371A-E64F-9253-5AE607495F4F}" type="pres">
      <dgm:prSet presAssocID="{9D1A5D4F-6B07-7E42-97FB-F43B6B7DE93F}" presName="parentText" presStyleLbl="alignNode1" presStyleIdx="3" presStyleCnt="4">
        <dgm:presLayoutVars>
          <dgm:chMax val="1"/>
          <dgm:bulletEnabled val="1"/>
        </dgm:presLayoutVars>
      </dgm:prSet>
      <dgm:spPr/>
    </dgm:pt>
    <dgm:pt modelId="{FEEC36BE-0722-F041-8690-08D957A245A7}" type="pres">
      <dgm:prSet presAssocID="{9D1A5D4F-6B07-7E42-97FB-F43B6B7DE93F}" presName="descendantText" presStyleLbl="alignAcc1" presStyleIdx="3" presStyleCnt="4">
        <dgm:presLayoutVars>
          <dgm:bulletEnabled val="1"/>
        </dgm:presLayoutVars>
      </dgm:prSet>
      <dgm:spPr/>
    </dgm:pt>
  </dgm:ptLst>
  <dgm:cxnLst>
    <dgm:cxn modelId="{BBA8E817-50C2-D343-B796-8B6E1D03EB89}" type="presOf" srcId="{C240B210-0B81-BC4B-A009-E6602C860A40}" destId="{57BC8DEC-306A-2240-A6F5-434140CCEC4D}" srcOrd="0" destOrd="0" presId="urn:microsoft.com/office/officeart/2005/8/layout/chevron2"/>
    <dgm:cxn modelId="{E8A0D920-8FC4-8E4F-B782-FD1FE64029CA}" srcId="{B6B0D5B7-99D5-8D4B-8887-E2EED68DF7ED}" destId="{9D1A5D4F-6B07-7E42-97FB-F43B6B7DE93F}" srcOrd="3" destOrd="0" parTransId="{1B905CCD-6252-5B47-AC88-4CEF14A025C4}" sibTransId="{92F36429-8855-7149-8C43-0BC984AFD089}"/>
    <dgm:cxn modelId="{3E505425-390F-D740-AC6A-5D81BF381D5F}" type="presOf" srcId="{196702A1-5A09-7F4E-B402-279A218E2444}" destId="{35748171-A43B-F64D-B590-67CCA9050F51}" srcOrd="0" destOrd="0" presId="urn:microsoft.com/office/officeart/2005/8/layout/chevron2"/>
    <dgm:cxn modelId="{D091C63B-1017-4046-8A28-AB5D59504D19}" srcId="{196702A1-5A09-7F4E-B402-279A218E2444}" destId="{442734AC-72E8-2B46-BA4C-4595663272DB}" srcOrd="0" destOrd="0" parTransId="{9F2151DF-E6EB-6F4B-A39A-57F429613834}" sibTransId="{39254420-4427-2748-A016-896D00E05E08}"/>
    <dgm:cxn modelId="{59FC8143-A107-7547-9925-868C114284C1}" type="presOf" srcId="{6C07D2E3-1D44-2044-9DD6-38534EA62A02}" destId="{00FB15E3-79A1-8840-9197-9DB4F84AC1F9}" srcOrd="0" destOrd="0" presId="urn:microsoft.com/office/officeart/2005/8/layout/chevron2"/>
    <dgm:cxn modelId="{43CDD451-FA8D-C944-87F5-D6E9D48756AE}" srcId="{9D1A5D4F-6B07-7E42-97FB-F43B6B7DE93F}" destId="{0C72387F-BC97-9E4C-AB31-2AA5E1D4E88F}" srcOrd="0" destOrd="0" parTransId="{4B7650D7-2D73-4F42-A05B-C7CC05DD98B7}" sibTransId="{B96FE7DB-72C0-9249-8A5E-7C727A9F057E}"/>
    <dgm:cxn modelId="{C2EDF557-ACBA-1848-85DD-9B63D1A2C6A2}" srcId="{C240B210-0B81-BC4B-A009-E6602C860A40}" destId="{6C07D2E3-1D44-2044-9DD6-38534EA62A02}" srcOrd="0" destOrd="0" parTransId="{02EBC015-CC9E-7743-A844-69E310D2B1B1}" sibTransId="{54FB0215-2FBB-404F-9F86-220D750DE0C6}"/>
    <dgm:cxn modelId="{45A78567-E12D-CD43-8216-32FA8BDBB1D5}" type="presOf" srcId="{A39538E6-2C0C-A047-BD88-B1417A488C50}" destId="{D9B4541C-8468-484A-9E7F-56339E065C98}" srcOrd="0" destOrd="0" presId="urn:microsoft.com/office/officeart/2005/8/layout/chevron2"/>
    <dgm:cxn modelId="{9F493475-BC8F-4A48-90C0-AD4093F023C4}" type="presOf" srcId="{442734AC-72E8-2B46-BA4C-4595663272DB}" destId="{D56EFFD7-E560-CB41-A15B-3D5C17B64B72}" srcOrd="0" destOrd="0" presId="urn:microsoft.com/office/officeart/2005/8/layout/chevron2"/>
    <dgm:cxn modelId="{0CA1DC76-AFFA-914C-96D5-0047D49F5E8C}" srcId="{A39538E6-2C0C-A047-BD88-B1417A488C50}" destId="{DF6780DD-C7DA-5947-9DD0-0808C2FAF81D}" srcOrd="0" destOrd="0" parTransId="{2DBAA308-8082-7643-83D8-A252015D2EEB}" sibTransId="{F75AE253-8EEE-7349-B704-74EDFE274216}"/>
    <dgm:cxn modelId="{991AAC7F-4FB4-F440-B360-BA045D374C04}" srcId="{B6B0D5B7-99D5-8D4B-8887-E2EED68DF7ED}" destId="{A39538E6-2C0C-A047-BD88-B1417A488C50}" srcOrd="0" destOrd="0" parTransId="{D7FA718B-6300-DA4F-8BE2-97DCBE518B48}" sibTransId="{ED5A7ED3-AEE7-2C44-A534-31524A9BD2E8}"/>
    <dgm:cxn modelId="{A8A3D1AE-6573-3D48-8BA0-015A8B0D0E21}" srcId="{B6B0D5B7-99D5-8D4B-8887-E2EED68DF7ED}" destId="{C240B210-0B81-BC4B-A009-E6602C860A40}" srcOrd="1" destOrd="0" parTransId="{7CA9A7F0-4D3E-5442-85DD-E49FF7C8989D}" sibTransId="{5CE28F82-B07A-A849-961E-DD72078619BE}"/>
    <dgm:cxn modelId="{329B44D7-58AD-3445-9DBE-30D2E079AC1A}" type="presOf" srcId="{0C72387F-BC97-9E4C-AB31-2AA5E1D4E88F}" destId="{FEEC36BE-0722-F041-8690-08D957A245A7}" srcOrd="0" destOrd="0" presId="urn:microsoft.com/office/officeart/2005/8/layout/chevron2"/>
    <dgm:cxn modelId="{971EC0E1-7E61-5C49-8806-ED9F8F0DCC97}" srcId="{B6B0D5B7-99D5-8D4B-8887-E2EED68DF7ED}" destId="{196702A1-5A09-7F4E-B402-279A218E2444}" srcOrd="2" destOrd="0" parTransId="{7B4E1CC0-92D4-1B48-84CC-3889079D9A4F}" sibTransId="{759791C6-928B-1C40-BDFB-26678BE3A88E}"/>
    <dgm:cxn modelId="{A6BC9EEC-447C-3149-92C2-A5F7D6E09574}" type="presOf" srcId="{9D1A5D4F-6B07-7E42-97FB-F43B6B7DE93F}" destId="{EDB00937-371A-E64F-9253-5AE607495F4F}" srcOrd="0" destOrd="0" presId="urn:microsoft.com/office/officeart/2005/8/layout/chevron2"/>
    <dgm:cxn modelId="{39A4DBF6-7AF3-6C44-870F-9F7C08ABDBD8}" type="presOf" srcId="{B6B0D5B7-99D5-8D4B-8887-E2EED68DF7ED}" destId="{5390F3AA-12DF-9E4B-AD7F-860FE8BB0E1C}" srcOrd="0" destOrd="0" presId="urn:microsoft.com/office/officeart/2005/8/layout/chevron2"/>
    <dgm:cxn modelId="{002D3AFA-A593-C844-A309-CCDD36E52F08}" type="presOf" srcId="{DF6780DD-C7DA-5947-9DD0-0808C2FAF81D}" destId="{E6615C92-BDBB-144C-BC35-E5C5B5B34257}" srcOrd="0" destOrd="0" presId="urn:microsoft.com/office/officeart/2005/8/layout/chevron2"/>
    <dgm:cxn modelId="{20DAE46D-6C11-E141-AC27-7B041DAC250D}" type="presParOf" srcId="{5390F3AA-12DF-9E4B-AD7F-860FE8BB0E1C}" destId="{85A84F09-46B2-9441-9E0C-24A396086541}" srcOrd="0" destOrd="0" presId="urn:microsoft.com/office/officeart/2005/8/layout/chevron2"/>
    <dgm:cxn modelId="{39B6E5AE-A45B-C747-A9F6-826B01340358}" type="presParOf" srcId="{85A84F09-46B2-9441-9E0C-24A396086541}" destId="{D9B4541C-8468-484A-9E7F-56339E065C98}" srcOrd="0" destOrd="0" presId="urn:microsoft.com/office/officeart/2005/8/layout/chevron2"/>
    <dgm:cxn modelId="{E2A47521-E084-594E-813B-9C36E1E50699}" type="presParOf" srcId="{85A84F09-46B2-9441-9E0C-24A396086541}" destId="{E6615C92-BDBB-144C-BC35-E5C5B5B34257}" srcOrd="1" destOrd="0" presId="urn:microsoft.com/office/officeart/2005/8/layout/chevron2"/>
    <dgm:cxn modelId="{982B0A74-DFEB-4243-BBD2-56AC8B9BBB40}" type="presParOf" srcId="{5390F3AA-12DF-9E4B-AD7F-860FE8BB0E1C}" destId="{D72D8AA3-F367-0E43-8FB3-1D0D7FF9A628}" srcOrd="1" destOrd="0" presId="urn:microsoft.com/office/officeart/2005/8/layout/chevron2"/>
    <dgm:cxn modelId="{FA6E58E7-99DF-594E-A0CA-CBBB8EDE99B8}" type="presParOf" srcId="{5390F3AA-12DF-9E4B-AD7F-860FE8BB0E1C}" destId="{DEF8F5C3-967E-0943-B811-34CC01F0BCF7}" srcOrd="2" destOrd="0" presId="urn:microsoft.com/office/officeart/2005/8/layout/chevron2"/>
    <dgm:cxn modelId="{0EA7E933-54C1-334C-822C-7EC63AFD0915}" type="presParOf" srcId="{DEF8F5C3-967E-0943-B811-34CC01F0BCF7}" destId="{57BC8DEC-306A-2240-A6F5-434140CCEC4D}" srcOrd="0" destOrd="0" presId="urn:microsoft.com/office/officeart/2005/8/layout/chevron2"/>
    <dgm:cxn modelId="{590C26A8-7CDB-8340-9DEE-ABC6F32B7F05}" type="presParOf" srcId="{DEF8F5C3-967E-0943-B811-34CC01F0BCF7}" destId="{00FB15E3-79A1-8840-9197-9DB4F84AC1F9}" srcOrd="1" destOrd="0" presId="urn:microsoft.com/office/officeart/2005/8/layout/chevron2"/>
    <dgm:cxn modelId="{535E5AE1-7084-A745-BE64-D2E0DD51B321}" type="presParOf" srcId="{5390F3AA-12DF-9E4B-AD7F-860FE8BB0E1C}" destId="{6651857C-5FF3-9845-8E8D-A9E128F961E7}" srcOrd="3" destOrd="0" presId="urn:microsoft.com/office/officeart/2005/8/layout/chevron2"/>
    <dgm:cxn modelId="{8685A97E-F7EA-7B45-8246-9CF6A4AB255B}" type="presParOf" srcId="{5390F3AA-12DF-9E4B-AD7F-860FE8BB0E1C}" destId="{5CE68A0A-A209-0943-88A6-FA42B7C13DE3}" srcOrd="4" destOrd="0" presId="urn:microsoft.com/office/officeart/2005/8/layout/chevron2"/>
    <dgm:cxn modelId="{CFBABB30-D2AB-9B4D-9407-C32311F9C004}" type="presParOf" srcId="{5CE68A0A-A209-0943-88A6-FA42B7C13DE3}" destId="{35748171-A43B-F64D-B590-67CCA9050F51}" srcOrd="0" destOrd="0" presId="urn:microsoft.com/office/officeart/2005/8/layout/chevron2"/>
    <dgm:cxn modelId="{1DE6E50A-0D60-024E-9960-4E1C0F5D7836}" type="presParOf" srcId="{5CE68A0A-A209-0943-88A6-FA42B7C13DE3}" destId="{D56EFFD7-E560-CB41-A15B-3D5C17B64B72}" srcOrd="1" destOrd="0" presId="urn:microsoft.com/office/officeart/2005/8/layout/chevron2"/>
    <dgm:cxn modelId="{4BD26EDA-5028-5A45-BDB5-EF6D6C7593C6}" type="presParOf" srcId="{5390F3AA-12DF-9E4B-AD7F-860FE8BB0E1C}" destId="{DFA4249C-9681-2542-890A-B7E7E906FF43}" srcOrd="5" destOrd="0" presId="urn:microsoft.com/office/officeart/2005/8/layout/chevron2"/>
    <dgm:cxn modelId="{12C4E4ED-E59A-3246-B4CE-17E6CE46B5D8}" type="presParOf" srcId="{5390F3AA-12DF-9E4B-AD7F-860FE8BB0E1C}" destId="{32022084-09E7-3648-B21F-FF5D6902121D}" srcOrd="6" destOrd="0" presId="urn:microsoft.com/office/officeart/2005/8/layout/chevron2"/>
    <dgm:cxn modelId="{494829DB-EEFC-D44D-B5F6-978E3B63D3ED}" type="presParOf" srcId="{32022084-09E7-3648-B21F-FF5D6902121D}" destId="{EDB00937-371A-E64F-9253-5AE607495F4F}" srcOrd="0" destOrd="0" presId="urn:microsoft.com/office/officeart/2005/8/layout/chevron2"/>
    <dgm:cxn modelId="{A8560763-EEEE-2D49-BF51-B2DD34242635}" type="presParOf" srcId="{32022084-09E7-3648-B21F-FF5D6902121D}" destId="{FEEC36BE-0722-F041-8690-08D957A245A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D2052C-74D1-794F-8AEC-3F1C7FECDC63}">
      <dsp:nvSpPr>
        <dsp:cNvPr id="0" name=""/>
        <dsp:cNvSpPr/>
      </dsp:nvSpPr>
      <dsp:spPr>
        <a:xfrm>
          <a:off x="4206819" y="1192950"/>
          <a:ext cx="2971911" cy="2971911"/>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GB" sz="3200" kern="1200" dirty="0">
              <a:latin typeface="Book Antiqua" panose="02040602050305030304" pitchFamily="18" charset="0"/>
            </a:rPr>
            <a:t>Key Issues</a:t>
          </a:r>
        </a:p>
      </dsp:txBody>
      <dsp:txXfrm>
        <a:off x="4642045" y="1628176"/>
        <a:ext cx="2101459" cy="2101459"/>
      </dsp:txXfrm>
    </dsp:sp>
    <dsp:sp modelId="{8E5A37C9-9CC7-E549-81B5-AAEEFE46E7FC}">
      <dsp:nvSpPr>
        <dsp:cNvPr id="0" name=""/>
        <dsp:cNvSpPr/>
      </dsp:nvSpPr>
      <dsp:spPr>
        <a:xfrm>
          <a:off x="4949797" y="530"/>
          <a:ext cx="1485955" cy="1485955"/>
        </a:xfrm>
        <a:prstGeom prst="ellipse">
          <a:avLst/>
        </a:prstGeom>
        <a:solidFill>
          <a:schemeClr val="accent4">
            <a:alpha val="50000"/>
            <a:hueOff val="-138514"/>
            <a:satOff val="-888"/>
            <a:lumOff val="22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Interoperability</a:t>
          </a:r>
        </a:p>
      </dsp:txBody>
      <dsp:txXfrm>
        <a:off x="5167410" y="218143"/>
        <a:ext cx="1050729" cy="1050729"/>
      </dsp:txXfrm>
    </dsp:sp>
    <dsp:sp modelId="{4CBD67E2-BCD0-304D-80E2-67EEFBF467A9}">
      <dsp:nvSpPr>
        <dsp:cNvPr id="0" name=""/>
        <dsp:cNvSpPr/>
      </dsp:nvSpPr>
      <dsp:spPr>
        <a:xfrm>
          <a:off x="6625900" y="968229"/>
          <a:ext cx="1485955" cy="1485955"/>
        </a:xfrm>
        <a:prstGeom prst="ellipse">
          <a:avLst/>
        </a:prstGeom>
        <a:solidFill>
          <a:schemeClr val="accent4">
            <a:alpha val="50000"/>
            <a:hueOff val="-277028"/>
            <a:satOff val="-1776"/>
            <a:lumOff val="45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Scale</a:t>
          </a:r>
        </a:p>
      </dsp:txBody>
      <dsp:txXfrm>
        <a:off x="6843513" y="1185842"/>
        <a:ext cx="1050729" cy="1050729"/>
      </dsp:txXfrm>
    </dsp:sp>
    <dsp:sp modelId="{F6DFD786-5E7D-B142-A88A-4D28562B6996}">
      <dsp:nvSpPr>
        <dsp:cNvPr id="0" name=""/>
        <dsp:cNvSpPr/>
      </dsp:nvSpPr>
      <dsp:spPr>
        <a:xfrm>
          <a:off x="6625900" y="2903627"/>
          <a:ext cx="1485955" cy="1485955"/>
        </a:xfrm>
        <a:prstGeom prst="ellipse">
          <a:avLst/>
        </a:prstGeom>
        <a:solidFill>
          <a:schemeClr val="accent4">
            <a:alpha val="50000"/>
            <a:hueOff val="-415542"/>
            <a:satOff val="-2665"/>
            <a:lumOff val="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Geographic Distribution</a:t>
          </a:r>
        </a:p>
      </dsp:txBody>
      <dsp:txXfrm>
        <a:off x="6843513" y="3121240"/>
        <a:ext cx="1050729" cy="1050729"/>
      </dsp:txXfrm>
    </dsp:sp>
    <dsp:sp modelId="{E09F6DBB-2999-8D44-8D36-16F5B0678A84}">
      <dsp:nvSpPr>
        <dsp:cNvPr id="0" name=""/>
        <dsp:cNvSpPr/>
      </dsp:nvSpPr>
      <dsp:spPr>
        <a:xfrm>
          <a:off x="4949797" y="3871326"/>
          <a:ext cx="1485955" cy="1485955"/>
        </a:xfrm>
        <a:prstGeom prst="ellipse">
          <a:avLst/>
        </a:prstGeom>
        <a:solidFill>
          <a:schemeClr val="accent4">
            <a:alpha val="50000"/>
            <a:hueOff val="-554057"/>
            <a:satOff val="-3553"/>
            <a:lumOff val="91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Heterogeneity</a:t>
          </a:r>
        </a:p>
      </dsp:txBody>
      <dsp:txXfrm>
        <a:off x="5167410" y="4088939"/>
        <a:ext cx="1050729" cy="1050729"/>
      </dsp:txXfrm>
    </dsp:sp>
    <dsp:sp modelId="{CA578633-B387-924C-ADED-A193F2C596CB}">
      <dsp:nvSpPr>
        <dsp:cNvPr id="0" name=""/>
        <dsp:cNvSpPr/>
      </dsp:nvSpPr>
      <dsp:spPr>
        <a:xfrm>
          <a:off x="3273693" y="2903627"/>
          <a:ext cx="1485955" cy="1485955"/>
        </a:xfrm>
        <a:prstGeom prst="ellipse">
          <a:avLst/>
        </a:prstGeom>
        <a:solidFill>
          <a:schemeClr val="accent4">
            <a:alpha val="50000"/>
            <a:hueOff val="-692571"/>
            <a:satOff val="-4441"/>
            <a:lumOff val="11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Constrained Resources</a:t>
          </a:r>
        </a:p>
      </dsp:txBody>
      <dsp:txXfrm>
        <a:off x="3491306" y="3121240"/>
        <a:ext cx="1050729" cy="1050729"/>
      </dsp:txXfrm>
    </dsp:sp>
    <dsp:sp modelId="{7A3F6041-DA55-2348-B8BC-83C5FE738E07}">
      <dsp:nvSpPr>
        <dsp:cNvPr id="0" name=""/>
        <dsp:cNvSpPr/>
      </dsp:nvSpPr>
      <dsp:spPr>
        <a:xfrm>
          <a:off x="3273693" y="968229"/>
          <a:ext cx="1485955" cy="1485955"/>
        </a:xfrm>
        <a:prstGeom prst="ellipse">
          <a:avLst/>
        </a:prstGeom>
        <a:solidFill>
          <a:schemeClr val="accent4">
            <a:alpha val="50000"/>
            <a:hueOff val="-831085"/>
            <a:satOff val="-5329"/>
            <a:lumOff val="13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Book Antiqua" panose="02040602050305030304" pitchFamily="18" charset="0"/>
            </a:rPr>
            <a:t>Real time Processing</a:t>
          </a:r>
        </a:p>
      </dsp:txBody>
      <dsp:txXfrm>
        <a:off x="3491306" y="1185842"/>
        <a:ext cx="1050729" cy="10507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B4541C-8468-484A-9E7F-56339E065C98}">
      <dsp:nvSpPr>
        <dsp:cNvPr id="0" name=""/>
        <dsp:cNvSpPr/>
      </dsp:nvSpPr>
      <dsp:spPr>
        <a:xfrm rot="5400000">
          <a:off x="-216791" y="221853"/>
          <a:ext cx="1445279" cy="1011695"/>
        </a:xfrm>
        <a:prstGeom prst="chevron">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Architecture Modeling</a:t>
          </a:r>
          <a:endParaRPr lang="en-IN" sz="1400" kern="1200" dirty="0">
            <a:latin typeface="Book Antiqua" panose="02040602050305030304" pitchFamily="18" charset="0"/>
          </a:endParaRPr>
        </a:p>
      </dsp:txBody>
      <dsp:txXfrm rot="-5400000">
        <a:off x="2" y="510909"/>
        <a:ext cx="1011695" cy="433584"/>
      </dsp:txXfrm>
    </dsp:sp>
    <dsp:sp modelId="{E6615C92-BDBB-144C-BC35-E5C5B5B34257}">
      <dsp:nvSpPr>
        <dsp:cNvPr id="0" name=""/>
        <dsp:cNvSpPr/>
      </dsp:nvSpPr>
      <dsp:spPr>
        <a:xfrm rot="5400000">
          <a:off x="5728460" y="-4711703"/>
          <a:ext cx="939431" cy="10372961"/>
        </a:xfrm>
        <a:prstGeom prst="round2Same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Defines an architecture with vectors of associated features for physical and virtual components, using equations to calculate metrics like power consumption and time latency.</a:t>
          </a:r>
          <a:endParaRPr lang="en-IN" sz="2000" kern="1200" dirty="0">
            <a:latin typeface="Book Antiqua" panose="02040602050305030304" pitchFamily="18" charset="0"/>
          </a:endParaRPr>
        </a:p>
      </dsp:txBody>
      <dsp:txXfrm rot="-5400000">
        <a:off x="1011696" y="50920"/>
        <a:ext cx="10327102" cy="847713"/>
      </dsp:txXfrm>
    </dsp:sp>
    <dsp:sp modelId="{57BC8DEC-306A-2240-A6F5-434140CCEC4D}">
      <dsp:nvSpPr>
        <dsp:cNvPr id="0" name=""/>
        <dsp:cNvSpPr/>
      </dsp:nvSpPr>
      <dsp:spPr>
        <a:xfrm rot="5400000">
          <a:off x="-216791" y="1522630"/>
          <a:ext cx="1445279" cy="1011695"/>
        </a:xfrm>
        <a:prstGeom prst="chevron">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Gateway Modeling</a:t>
          </a:r>
          <a:endParaRPr lang="en-IN" sz="1400" kern="1200" dirty="0">
            <a:latin typeface="Book Antiqua" panose="02040602050305030304" pitchFamily="18" charset="0"/>
          </a:endParaRPr>
        </a:p>
      </dsp:txBody>
      <dsp:txXfrm rot="-5400000">
        <a:off x="2" y="1811686"/>
        <a:ext cx="1011695" cy="433584"/>
      </dsp:txXfrm>
    </dsp:sp>
    <dsp:sp modelId="{00FB15E3-79A1-8840-9197-9DB4F84AC1F9}">
      <dsp:nvSpPr>
        <dsp:cNvPr id="0" name=""/>
        <dsp:cNvSpPr/>
      </dsp:nvSpPr>
      <dsp:spPr>
        <a:xfrm rot="5400000">
          <a:off x="5728460" y="-3410926"/>
          <a:ext cx="939431" cy="10372961"/>
        </a:xfrm>
        <a:prstGeom prst="round2Same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Considers the number of gateways, data received, and processing time, proposing equations to represent buffer occupancy and delay.</a:t>
          </a:r>
          <a:endParaRPr lang="en-IN" sz="2000" kern="1200" dirty="0">
            <a:latin typeface="Book Antiqua" panose="02040602050305030304" pitchFamily="18" charset="0"/>
          </a:endParaRPr>
        </a:p>
      </dsp:txBody>
      <dsp:txXfrm rot="-5400000">
        <a:off x="1011696" y="1351697"/>
        <a:ext cx="10327102" cy="847713"/>
      </dsp:txXfrm>
    </dsp:sp>
    <dsp:sp modelId="{35748171-A43B-F64D-B590-67CCA9050F51}">
      <dsp:nvSpPr>
        <dsp:cNvPr id="0" name=""/>
        <dsp:cNvSpPr/>
      </dsp:nvSpPr>
      <dsp:spPr>
        <a:xfrm rot="5400000">
          <a:off x="-216791" y="2823407"/>
          <a:ext cx="1445279" cy="1011695"/>
        </a:xfrm>
        <a:prstGeom prst="chevron">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Scheduling Mechanism</a:t>
          </a:r>
          <a:endParaRPr lang="en-IN" sz="1400" kern="1200" dirty="0">
            <a:latin typeface="Book Antiqua" panose="02040602050305030304" pitchFamily="18" charset="0"/>
          </a:endParaRPr>
        </a:p>
      </dsp:txBody>
      <dsp:txXfrm rot="-5400000">
        <a:off x="2" y="3112463"/>
        <a:ext cx="1011695" cy="433584"/>
      </dsp:txXfrm>
    </dsp:sp>
    <dsp:sp modelId="{D56EFFD7-E560-CB41-A15B-3D5C17B64B72}">
      <dsp:nvSpPr>
        <dsp:cNvPr id="0" name=""/>
        <dsp:cNvSpPr/>
      </dsp:nvSpPr>
      <dsp:spPr>
        <a:xfrm rot="5400000">
          <a:off x="5728460" y="-2110149"/>
          <a:ext cx="939431" cy="10372961"/>
        </a:xfrm>
        <a:prstGeom prst="round2Same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Proposes an analytical model for scheduling in IoT environments, accounting for variables like processor load, memory, and bandwidth.</a:t>
          </a:r>
          <a:endParaRPr lang="en-IN" sz="2000" kern="1200" dirty="0">
            <a:latin typeface="Book Antiqua" panose="02040602050305030304" pitchFamily="18" charset="0"/>
          </a:endParaRPr>
        </a:p>
      </dsp:txBody>
      <dsp:txXfrm rot="-5400000">
        <a:off x="1011696" y="2652474"/>
        <a:ext cx="10327102" cy="847713"/>
      </dsp:txXfrm>
    </dsp:sp>
    <dsp:sp modelId="{EDB00937-371A-E64F-9253-5AE607495F4F}">
      <dsp:nvSpPr>
        <dsp:cNvPr id="0" name=""/>
        <dsp:cNvSpPr/>
      </dsp:nvSpPr>
      <dsp:spPr>
        <a:xfrm rot="5400000">
          <a:off x="-216791" y="4124184"/>
          <a:ext cx="1445279" cy="1011695"/>
        </a:xfrm>
        <a:prstGeom prst="chevron">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Book Antiqua" panose="02040602050305030304" pitchFamily="18" charset="0"/>
            </a:rPr>
            <a:t>QoS Prediction</a:t>
          </a:r>
          <a:endParaRPr lang="en-IN" sz="1400" kern="1200" dirty="0">
            <a:latin typeface="Book Antiqua" panose="02040602050305030304" pitchFamily="18" charset="0"/>
          </a:endParaRPr>
        </a:p>
      </dsp:txBody>
      <dsp:txXfrm rot="-5400000">
        <a:off x="2" y="4413240"/>
        <a:ext cx="1011695" cy="433584"/>
      </dsp:txXfrm>
    </dsp:sp>
    <dsp:sp modelId="{FEEC36BE-0722-F041-8690-08D957A245A7}">
      <dsp:nvSpPr>
        <dsp:cNvPr id="0" name=""/>
        <dsp:cNvSpPr/>
      </dsp:nvSpPr>
      <dsp:spPr>
        <a:xfrm rot="5400000">
          <a:off x="5728460" y="-809372"/>
          <a:ext cx="939431" cy="10372961"/>
        </a:xfrm>
        <a:prstGeom prst="round2Same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Book Antiqua" panose="02040602050305030304" pitchFamily="18" charset="0"/>
            </a:rPr>
            <a:t>Presents a method to predict QoS of IoT services using a neighborhood collaborative filter and equations to predict latency, response time, and user network condition.</a:t>
          </a:r>
          <a:endParaRPr lang="en-IN" sz="2000" kern="1200" dirty="0">
            <a:latin typeface="Book Antiqua" panose="02040602050305030304" pitchFamily="18" charset="0"/>
          </a:endParaRPr>
        </a:p>
      </dsp:txBody>
      <dsp:txXfrm rot="-5400000">
        <a:off x="1011696" y="3953251"/>
        <a:ext cx="10327102" cy="847713"/>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F2A17-6E73-EF4D-BA77-A38FB2EAC68F}" type="datetimeFigureOut">
              <a:rPr lang="en-US" smtClean="0"/>
              <a:t>1/31/25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62A840-9A98-D44D-B9AA-A6C163547BBA}" type="slidenum">
              <a:rPr lang="en-US" smtClean="0"/>
              <a:t>‹#›</a:t>
            </a:fld>
            <a:endParaRPr lang="en-US"/>
          </a:p>
        </p:txBody>
      </p:sp>
    </p:spTree>
    <p:extLst>
      <p:ext uri="{BB962C8B-B14F-4D97-AF65-F5344CB8AC3E}">
        <p14:creationId xmlns:p14="http://schemas.microsoft.com/office/powerpoint/2010/main" val="145677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62A840-9A98-D44D-B9AA-A6C163547BBA}" type="slidenum">
              <a:rPr lang="en-US" smtClean="0"/>
              <a:t>1</a:t>
            </a:fld>
            <a:endParaRPr lang="en-US"/>
          </a:p>
        </p:txBody>
      </p:sp>
    </p:spTree>
    <p:extLst>
      <p:ext uri="{BB962C8B-B14F-4D97-AF65-F5344CB8AC3E}">
        <p14:creationId xmlns:p14="http://schemas.microsoft.com/office/powerpoint/2010/main" val="1065462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77773-4702-EBDA-B5E1-3DC5D1D9EEF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D0CC258-2D94-89CA-DB4C-BFD0E03DFE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99906F1-BB0B-2580-E2CE-598718CC25CD}"/>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5" name="Footer Placeholder 4">
            <a:extLst>
              <a:ext uri="{FF2B5EF4-FFF2-40B4-BE49-F238E27FC236}">
                <a16:creationId xmlns:a16="http://schemas.microsoft.com/office/drawing/2014/main" id="{3737BE97-2532-2218-CA50-49CC747D6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FE608-84EF-180D-0268-256298BCF07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45343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0784B-DB0C-BC5B-9F51-9E68F77840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1FF4E69-F211-E9B8-2A85-E56A4003775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D582BD-1F3F-BA75-3BE4-CD6CE9499AD6}"/>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5" name="Footer Placeholder 4">
            <a:extLst>
              <a:ext uri="{FF2B5EF4-FFF2-40B4-BE49-F238E27FC236}">
                <a16:creationId xmlns:a16="http://schemas.microsoft.com/office/drawing/2014/main" id="{2B108B5D-07C5-127F-12E7-38FEE89E88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B40A2-82F8-837F-6850-464EBE4E6700}"/>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15143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184E-2407-0D1B-EEDC-E86C2566A42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73EB30A-75DB-924C-0118-5ACD8EB3FC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710CAC7-634F-8A5C-10D4-1AD2F29D1F77}"/>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5" name="Footer Placeholder 4">
            <a:extLst>
              <a:ext uri="{FF2B5EF4-FFF2-40B4-BE49-F238E27FC236}">
                <a16:creationId xmlns:a16="http://schemas.microsoft.com/office/drawing/2014/main" id="{8FCB2D69-D57F-E915-F4A8-4D9142C464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B6CE5-1E2F-7B43-F057-6EC7EBEBCAD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9386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6195-1232-7051-15C3-2DD2D226187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BCDBF-45D9-280B-69CE-0041A83E32C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C82DB7-2D75-EA93-16F3-B22B404CDE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CD3688-14DF-1FAD-3698-6611BD9DC283}"/>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6" name="Footer Placeholder 5">
            <a:extLst>
              <a:ext uri="{FF2B5EF4-FFF2-40B4-BE49-F238E27FC236}">
                <a16:creationId xmlns:a16="http://schemas.microsoft.com/office/drawing/2014/main" id="{5671C5F2-20B6-6E78-9DD4-7FB0392B7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577AF-4B37-5FC1-A3F2-FE4B487846C5}"/>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714323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750F-9EFE-E977-E320-A20AC35C765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CF71BF7-3A76-AE89-C3BC-EDA63319B6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1DB16A-E36C-16B6-83B4-EC3FEAE4C5E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2CFDABE-77B6-AB02-2CC8-752F0E9C68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732069F-46E1-AFBB-27FA-2FD22F7366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C6DBD8-06AB-65DF-4B44-6261B9EE382A}"/>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8" name="Footer Placeholder 7">
            <a:extLst>
              <a:ext uri="{FF2B5EF4-FFF2-40B4-BE49-F238E27FC236}">
                <a16:creationId xmlns:a16="http://schemas.microsoft.com/office/drawing/2014/main" id="{6CFB12E5-0586-1672-62D2-B7AC5C064A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4E47EC-D046-0E77-AE10-8379F848DFB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090172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1F22-8C0F-89C4-5459-B7AFF969A98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4E833A8-289C-7DD8-8D79-0DB2C762B3DD}"/>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4" name="Footer Placeholder 3">
            <a:extLst>
              <a:ext uri="{FF2B5EF4-FFF2-40B4-BE49-F238E27FC236}">
                <a16:creationId xmlns:a16="http://schemas.microsoft.com/office/drawing/2014/main" id="{4322702D-B8B6-DC39-485A-2F6AD8FB07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6528C8-945C-F2E5-D329-C13AAADBD2B6}"/>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795366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F13AB-B50B-160B-0DDC-E7086B3D31C7}"/>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3" name="Footer Placeholder 2">
            <a:extLst>
              <a:ext uri="{FF2B5EF4-FFF2-40B4-BE49-F238E27FC236}">
                <a16:creationId xmlns:a16="http://schemas.microsoft.com/office/drawing/2014/main" id="{7905A2D7-18A0-9A5A-E5A0-DEEDE4921D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78DA00-ECEE-F45B-7A8B-4E50084CB41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69690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CAF9C-2408-9625-46A9-048163CC68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42DFCBD-D6CE-E97D-A799-25F72CFD99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DCA4882-2598-F52A-70B4-2C67A2483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7FFFDED-49B1-1987-DBB4-F5F989945E69}"/>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6" name="Footer Placeholder 5">
            <a:extLst>
              <a:ext uri="{FF2B5EF4-FFF2-40B4-BE49-F238E27FC236}">
                <a16:creationId xmlns:a16="http://schemas.microsoft.com/office/drawing/2014/main" id="{02112A7B-0D30-DD6E-02BD-BEC92056EB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A81CE-B132-05E6-4A15-6C68D75D082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319227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1820-C008-FFCB-B59F-D55AEAA443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2F9CE64-2DE2-3235-81AE-71CB6661F3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A0C6FA-1598-97EC-97DB-76E0D3245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64A599A-27A5-3C72-6959-759391597192}"/>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6" name="Footer Placeholder 5">
            <a:extLst>
              <a:ext uri="{FF2B5EF4-FFF2-40B4-BE49-F238E27FC236}">
                <a16:creationId xmlns:a16="http://schemas.microsoft.com/office/drawing/2014/main" id="{DC117E9E-8B4F-1275-EA66-24337BD456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59698-5002-EEAD-0B60-69B54595BAA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6741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B30D-C210-7249-3402-6578D4C1938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5A50AE-0C49-70BA-F412-96F27E69C33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54C488-22AA-5CDB-FB86-0F0C29038C0D}"/>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5" name="Footer Placeholder 4">
            <a:extLst>
              <a:ext uri="{FF2B5EF4-FFF2-40B4-BE49-F238E27FC236}">
                <a16:creationId xmlns:a16="http://schemas.microsoft.com/office/drawing/2014/main" id="{06F15649-CD6A-671A-19BB-F8A140E0B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E95C9-8CD4-E4A5-22FC-59E9E2E6CB3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08917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770C6C-753E-D2EB-B1C8-D5DCF181677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B12B22-CE2A-B938-BDAC-257F9D2DD75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DA9167-7F1C-8B7E-FBFD-FACBB1706E96}"/>
              </a:ext>
            </a:extLst>
          </p:cNvPr>
          <p:cNvSpPr>
            <a:spLocks noGrp="1"/>
          </p:cNvSpPr>
          <p:nvPr>
            <p:ph type="dt" sz="half" idx="10"/>
          </p:nvPr>
        </p:nvSpPr>
        <p:spPr/>
        <p:txBody>
          <a:bodyPr/>
          <a:lstStyle/>
          <a:p>
            <a:fld id="{A721BAF6-5C3C-B34D-B9E9-1D82F8E82212}" type="datetimeFigureOut">
              <a:rPr lang="en-US" smtClean="0"/>
              <a:t>1/31/25</a:t>
            </a:fld>
            <a:endParaRPr lang="en-US"/>
          </a:p>
        </p:txBody>
      </p:sp>
      <p:sp>
        <p:nvSpPr>
          <p:cNvPr id="5" name="Footer Placeholder 4">
            <a:extLst>
              <a:ext uri="{FF2B5EF4-FFF2-40B4-BE49-F238E27FC236}">
                <a16:creationId xmlns:a16="http://schemas.microsoft.com/office/drawing/2014/main" id="{6098CF3C-2075-8BCF-BA89-FA2CC1B7C7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78C9D7-C7DD-46AB-A2FE-31F72EABE9FB}"/>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136223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6C0ACBD3-46E9-B34D-C471-71B6DF483DA8}"/>
              </a:ext>
            </a:extLst>
          </p:cNvPr>
          <p:cNvCxnSpPr/>
          <p:nvPr userDrawn="1"/>
        </p:nvCxnSpPr>
        <p:spPr>
          <a:xfrm>
            <a:off x="235353" y="6653955"/>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FE3E042-CE1D-3D42-6423-E66557975CEF}"/>
              </a:ext>
            </a:extLst>
          </p:cNvPr>
          <p:cNvCxnSpPr>
            <a:cxnSpLocks/>
          </p:cNvCxnSpPr>
          <p:nvPr userDrawn="1"/>
        </p:nvCxnSpPr>
        <p:spPr>
          <a:xfrm>
            <a:off x="258503" y="25464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CF82531-B33C-6FDF-E91D-44D3FC0B90B7}"/>
              </a:ext>
            </a:extLst>
          </p:cNvPr>
          <p:cNvCxnSpPr/>
          <p:nvPr userDrawn="1"/>
        </p:nvCxnSpPr>
        <p:spPr>
          <a:xfrm>
            <a:off x="246928" y="254643"/>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342AED4-CCDC-9D79-EF6E-90DDB4F232EA}"/>
              </a:ext>
            </a:extLst>
          </p:cNvPr>
          <p:cNvCxnSpPr>
            <a:cxnSpLocks/>
          </p:cNvCxnSpPr>
          <p:nvPr userDrawn="1"/>
        </p:nvCxnSpPr>
        <p:spPr>
          <a:xfrm>
            <a:off x="11916137" y="21873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332AC39C-93C4-4AE8-F649-505A9F28FCB0}"/>
              </a:ext>
            </a:extLst>
          </p:cNvPr>
          <p:cNvSpPr>
            <a:spLocks noGrp="1"/>
          </p:cNvSpPr>
          <p:nvPr>
            <p:ph type="title"/>
          </p:nvPr>
        </p:nvSpPr>
        <p:spPr>
          <a:xfrm>
            <a:off x="409935" y="320756"/>
            <a:ext cx="11384667" cy="630298"/>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660ADAE3-7B49-C4AE-5689-8AD9DD722EBE}"/>
              </a:ext>
            </a:extLst>
          </p:cNvPr>
          <p:cNvSpPr>
            <a:spLocks noGrp="1"/>
          </p:cNvSpPr>
          <p:nvPr>
            <p:ph type="body" idx="1"/>
          </p:nvPr>
        </p:nvSpPr>
        <p:spPr>
          <a:xfrm>
            <a:off x="409934" y="1050784"/>
            <a:ext cx="11384657" cy="535773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04FF4BD-6B00-8618-7A2E-76641CCA8E73}"/>
              </a:ext>
            </a:extLst>
          </p:cNvPr>
          <p:cNvSpPr>
            <a:spLocks noGrp="1"/>
          </p:cNvSpPr>
          <p:nvPr>
            <p:ph type="dt" sz="half" idx="2"/>
          </p:nvPr>
        </p:nvSpPr>
        <p:spPr>
          <a:xfrm>
            <a:off x="281652" y="6443684"/>
            <a:ext cx="2743200" cy="183667"/>
          </a:xfrm>
          <a:prstGeom prst="rect">
            <a:avLst/>
          </a:prstGeom>
        </p:spPr>
        <p:txBody>
          <a:bodyPr vert="horz" lIns="91440" tIns="45720" rIns="91440" bIns="45720" rtlCol="0" anchor="ctr"/>
          <a:lstStyle>
            <a:lvl1pPr algn="l">
              <a:defRPr sz="800">
                <a:solidFill>
                  <a:srgbClr val="CE3251"/>
                </a:solidFill>
              </a:defRPr>
            </a:lvl1pPr>
          </a:lstStyle>
          <a:p>
            <a:fld id="{A721BAF6-5C3C-B34D-B9E9-1D82F8E82212}" type="datetimeFigureOut">
              <a:rPr lang="en-US" smtClean="0"/>
              <a:pPr/>
              <a:t>1/31/25</a:t>
            </a:fld>
            <a:endParaRPr lang="en-US" dirty="0"/>
          </a:p>
        </p:txBody>
      </p:sp>
      <p:sp>
        <p:nvSpPr>
          <p:cNvPr id="5" name="Footer Placeholder 4">
            <a:extLst>
              <a:ext uri="{FF2B5EF4-FFF2-40B4-BE49-F238E27FC236}">
                <a16:creationId xmlns:a16="http://schemas.microsoft.com/office/drawing/2014/main" id="{98DF7206-C3A8-41E2-5397-1C3F7DF46A8E}"/>
              </a:ext>
            </a:extLst>
          </p:cNvPr>
          <p:cNvSpPr>
            <a:spLocks noGrp="1"/>
          </p:cNvSpPr>
          <p:nvPr>
            <p:ph type="ftr" sz="quarter" idx="3"/>
          </p:nvPr>
        </p:nvSpPr>
        <p:spPr>
          <a:xfrm>
            <a:off x="3047999" y="6422463"/>
            <a:ext cx="8257547" cy="180894"/>
          </a:xfrm>
          <a:prstGeom prst="rect">
            <a:avLst/>
          </a:prstGeom>
        </p:spPr>
        <p:txBody>
          <a:bodyPr vert="horz" lIns="91440" tIns="45720" rIns="91440" bIns="45720" rtlCol="0" anchor="ctr"/>
          <a:lstStyle>
            <a:lvl1pPr algn="ctr">
              <a:defRPr sz="800">
                <a:solidFill>
                  <a:srgbClr val="CE3251"/>
                </a:solidFill>
              </a:defRPr>
            </a:lvl1pPr>
          </a:lstStyle>
          <a:p>
            <a:endParaRPr lang="en-US" dirty="0"/>
          </a:p>
        </p:txBody>
      </p:sp>
      <p:sp>
        <p:nvSpPr>
          <p:cNvPr id="6" name="Slide Number Placeholder 5">
            <a:extLst>
              <a:ext uri="{FF2B5EF4-FFF2-40B4-BE49-F238E27FC236}">
                <a16:creationId xmlns:a16="http://schemas.microsoft.com/office/drawing/2014/main" id="{14451270-8049-FDB3-FB0F-18D4E77E5C78}"/>
              </a:ext>
            </a:extLst>
          </p:cNvPr>
          <p:cNvSpPr>
            <a:spLocks noGrp="1"/>
          </p:cNvSpPr>
          <p:nvPr>
            <p:ph type="sldNum" sz="quarter" idx="4"/>
          </p:nvPr>
        </p:nvSpPr>
        <p:spPr>
          <a:xfrm>
            <a:off x="11366338" y="6422462"/>
            <a:ext cx="489025" cy="206738"/>
          </a:xfrm>
          <a:prstGeom prst="rect">
            <a:avLst/>
          </a:prstGeom>
        </p:spPr>
        <p:txBody>
          <a:bodyPr vert="horz" lIns="91440" tIns="45720" rIns="91440" bIns="45720" rtlCol="0" anchor="ctr"/>
          <a:lstStyle>
            <a:lvl1pPr algn="r">
              <a:defRPr sz="800">
                <a:solidFill>
                  <a:srgbClr val="CE3251"/>
                </a:solidFill>
              </a:defRPr>
            </a:lvl1pPr>
          </a:lstStyle>
          <a:p>
            <a:fld id="{2414467D-E172-3A41-9EE8-82D5FC89BE9E}" type="slidenum">
              <a:rPr lang="en-US" smtClean="0"/>
              <a:pPr/>
              <a:t>‹#›</a:t>
            </a:fld>
            <a:endParaRPr lang="en-US" dirty="0"/>
          </a:p>
        </p:txBody>
      </p:sp>
      <p:sp>
        <p:nvSpPr>
          <p:cNvPr id="7" name="Rectangle 6">
            <a:extLst>
              <a:ext uri="{FF2B5EF4-FFF2-40B4-BE49-F238E27FC236}">
                <a16:creationId xmlns:a16="http://schemas.microsoft.com/office/drawing/2014/main" id="{67CD3814-5E31-0F84-57E6-1449AC03D434}"/>
              </a:ext>
            </a:extLst>
          </p:cNvPr>
          <p:cNvSpPr/>
          <p:nvPr userDrawn="1"/>
        </p:nvSpPr>
        <p:spPr>
          <a:xfrm>
            <a:off x="0" y="0"/>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3C4D47C-60C0-F03C-E90B-6DC9F787F95E}"/>
              </a:ext>
            </a:extLst>
          </p:cNvPr>
          <p:cNvSpPr/>
          <p:nvPr userDrawn="1"/>
        </p:nvSpPr>
        <p:spPr>
          <a:xfrm>
            <a:off x="0" y="6675177"/>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5438B19-489F-8473-01D9-268521D48F80}"/>
              </a:ext>
            </a:extLst>
          </p:cNvPr>
          <p:cNvSpPr/>
          <p:nvPr userDrawn="1"/>
        </p:nvSpPr>
        <p:spPr>
          <a:xfrm rot="5400000">
            <a:off x="8846694"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99C67A-DEF7-674A-4F4D-E293D6F67476}"/>
              </a:ext>
            </a:extLst>
          </p:cNvPr>
          <p:cNvSpPr/>
          <p:nvPr userDrawn="1"/>
        </p:nvSpPr>
        <p:spPr>
          <a:xfrm rot="5400000">
            <a:off x="-3098377"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D32A8DBD-058D-DE15-491B-14494FA50CDF}"/>
              </a:ext>
            </a:extLst>
          </p:cNvPr>
          <p:cNvCxnSpPr>
            <a:cxnSpLocks/>
          </p:cNvCxnSpPr>
          <p:nvPr userDrawn="1"/>
        </p:nvCxnSpPr>
        <p:spPr>
          <a:xfrm>
            <a:off x="-23446" y="11427"/>
            <a:ext cx="12240000"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F38FF2D-C0D4-CEAE-023B-E3FC2868B5FF}"/>
              </a:ext>
            </a:extLst>
          </p:cNvPr>
          <p:cNvCxnSpPr>
            <a:cxnSpLocks/>
          </p:cNvCxnSpPr>
          <p:nvPr userDrawn="1"/>
        </p:nvCxnSpPr>
        <p:spPr>
          <a:xfrm>
            <a:off x="11279" y="23150"/>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77711B4-5CAA-5385-4647-DCB55FE13B52}"/>
              </a:ext>
            </a:extLst>
          </p:cNvPr>
          <p:cNvCxnSpPr>
            <a:cxnSpLocks/>
          </p:cNvCxnSpPr>
          <p:nvPr userDrawn="1"/>
        </p:nvCxnSpPr>
        <p:spPr>
          <a:xfrm>
            <a:off x="34725" y="6871504"/>
            <a:ext cx="12191999"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AB75460-1779-263E-BCB5-A75F7A7DC9E1}"/>
              </a:ext>
            </a:extLst>
          </p:cNvPr>
          <p:cNvCxnSpPr>
            <a:cxnSpLocks/>
          </p:cNvCxnSpPr>
          <p:nvPr userDrawn="1"/>
        </p:nvCxnSpPr>
        <p:spPr>
          <a:xfrm>
            <a:off x="12191999" y="11427"/>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865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E3251"/>
          </a:solidFill>
          <a:latin typeface="Bookman Old Style" panose="02050604050505020204" pitchFamily="18" charset="0"/>
          <a:ea typeface="+mj-ea"/>
          <a:cs typeface="+mj-cs"/>
        </a:defRPr>
      </a:lvl1pPr>
    </p:titleStyle>
    <p:bodyStyle>
      <a:lvl1pPr marL="228600" indent="-228600" algn="just" defTabSz="914400" rtl="0" eaLnBrk="1" latinLnBrk="0" hangingPunct="1">
        <a:lnSpc>
          <a:spcPct val="150000"/>
        </a:lnSpc>
        <a:spcBef>
          <a:spcPts val="0"/>
        </a:spcBef>
        <a:buFont typeface="Wingdings" pitchFamily="2" charset="2"/>
        <a:buChar char="Ø"/>
        <a:defRPr sz="2800" kern="1200">
          <a:solidFill>
            <a:schemeClr val="tx1"/>
          </a:solidFill>
          <a:latin typeface="Book Antiqua" panose="02040602050305030304" pitchFamily="18" charset="0"/>
          <a:ea typeface="+mn-ea"/>
          <a:cs typeface="+mn-cs"/>
        </a:defRPr>
      </a:lvl1pPr>
      <a:lvl2pPr marL="685800" indent="-228600" algn="just" defTabSz="914400" rtl="0" eaLnBrk="1" latinLnBrk="0" hangingPunct="1">
        <a:lnSpc>
          <a:spcPct val="150000"/>
        </a:lnSpc>
        <a:spcBef>
          <a:spcPts val="0"/>
        </a:spcBef>
        <a:buFont typeface="Wingdings" pitchFamily="2" charset="2"/>
        <a:buChar char="Ø"/>
        <a:defRPr sz="2400" kern="1200">
          <a:solidFill>
            <a:schemeClr val="tx1"/>
          </a:solidFill>
          <a:latin typeface="Book Antiqua" panose="02040602050305030304" pitchFamily="18" charset="0"/>
          <a:ea typeface="+mn-ea"/>
          <a:cs typeface="+mn-cs"/>
        </a:defRPr>
      </a:lvl2pPr>
      <a:lvl3pPr marL="1143000" indent="-228600" algn="just" defTabSz="914400" rtl="0" eaLnBrk="1" latinLnBrk="0" hangingPunct="1">
        <a:lnSpc>
          <a:spcPct val="150000"/>
        </a:lnSpc>
        <a:spcBef>
          <a:spcPts val="0"/>
        </a:spcBef>
        <a:buFont typeface="Wingdings" pitchFamily="2" charset="2"/>
        <a:buChar char="Ø"/>
        <a:defRPr sz="2000" kern="1200">
          <a:solidFill>
            <a:schemeClr val="tx1"/>
          </a:solidFill>
          <a:latin typeface="Book Antiqua" panose="02040602050305030304" pitchFamily="18" charset="0"/>
          <a:ea typeface="+mn-ea"/>
          <a:cs typeface="+mn-cs"/>
        </a:defRPr>
      </a:lvl3pPr>
      <a:lvl4pPr marL="16002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4pPr>
      <a:lvl5pPr marL="20574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0C42F55-DF40-AD94-3ABE-C729D34E87A1}"/>
              </a:ext>
            </a:extLst>
          </p:cNvPr>
          <p:cNvSpPr txBox="1">
            <a:spLocks/>
          </p:cNvSpPr>
          <p:nvPr/>
        </p:nvSpPr>
        <p:spPr>
          <a:xfrm>
            <a:off x="1524000" y="626302"/>
            <a:ext cx="9144000" cy="2342367"/>
          </a:xfrm>
          <a:prstGeom prst="rect">
            <a:avLst/>
          </a:prstGeom>
        </p:spPr>
        <p:txBody>
          <a:bodyPr vert="horz" lIns="91440" tIns="45720" rIns="91440" bIns="45720" rtlCol="0" anchor="ctr">
            <a:normAutofit fontScale="90000"/>
          </a:bodyPr>
          <a:lstStyle>
            <a:lvl1pPr algn="ctr" defTabSz="914400" rtl="0" eaLnBrk="1" latinLnBrk="0" hangingPunct="1">
              <a:lnSpc>
                <a:spcPct val="90000"/>
              </a:lnSpc>
              <a:spcBef>
                <a:spcPct val="0"/>
              </a:spcBef>
              <a:buNone/>
              <a:defRPr sz="6000" kern="1200">
                <a:solidFill>
                  <a:srgbClr val="CE3251"/>
                </a:solidFill>
                <a:latin typeface="Bookman Old Style" panose="02050604050505020204" pitchFamily="18" charset="0"/>
                <a:ea typeface="+mj-ea"/>
                <a:cs typeface="+mj-cs"/>
              </a:defRPr>
            </a:lvl1pPr>
          </a:lstStyle>
          <a:p>
            <a:r>
              <a:rPr lang="en-US" dirty="0"/>
              <a:t>Fundamentals </a:t>
            </a:r>
            <a:br>
              <a:rPr lang="en-US" dirty="0"/>
            </a:br>
            <a:r>
              <a:rPr lang="en-US" dirty="0"/>
              <a:t>of </a:t>
            </a:r>
            <a:br>
              <a:rPr lang="en-US" dirty="0"/>
            </a:br>
            <a:r>
              <a:rPr lang="en-US" dirty="0"/>
              <a:t>Fog and Edge Computing</a:t>
            </a:r>
          </a:p>
        </p:txBody>
      </p:sp>
      <p:sp>
        <p:nvSpPr>
          <p:cNvPr id="11" name="Subtitle 2">
            <a:extLst>
              <a:ext uri="{FF2B5EF4-FFF2-40B4-BE49-F238E27FC236}">
                <a16:creationId xmlns:a16="http://schemas.microsoft.com/office/drawing/2014/main" id="{83D10DA9-85CC-E84A-C5E1-DE4EE13CC67B}"/>
              </a:ext>
            </a:extLst>
          </p:cNvPr>
          <p:cNvSpPr txBox="1">
            <a:spLocks/>
          </p:cNvSpPr>
          <p:nvPr/>
        </p:nvSpPr>
        <p:spPr>
          <a:xfrm>
            <a:off x="1524000" y="3240034"/>
            <a:ext cx="9144000" cy="1298596"/>
          </a:xfrm>
          <a:prstGeom prst="rect">
            <a:avLst/>
          </a:prstGeom>
        </p:spPr>
        <p:txBody>
          <a:bodyPr vert="horz" lIns="91440" tIns="45720" rIns="91440" bIns="45720" rtlCol="0">
            <a:normAutofit/>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BCSE313L</a:t>
            </a:r>
          </a:p>
          <a:p>
            <a:r>
              <a:rPr lang="en-US" b="1" dirty="0"/>
              <a:t>WINTER 2024 - 2025</a:t>
            </a:r>
          </a:p>
        </p:txBody>
      </p:sp>
      <p:sp>
        <p:nvSpPr>
          <p:cNvPr id="12" name="Subtitle 2">
            <a:extLst>
              <a:ext uri="{FF2B5EF4-FFF2-40B4-BE49-F238E27FC236}">
                <a16:creationId xmlns:a16="http://schemas.microsoft.com/office/drawing/2014/main" id="{3135A882-75BD-6212-D6B5-EC0AB472C306}"/>
              </a:ext>
            </a:extLst>
          </p:cNvPr>
          <p:cNvSpPr txBox="1">
            <a:spLocks/>
          </p:cNvSpPr>
          <p:nvPr/>
        </p:nvSpPr>
        <p:spPr>
          <a:xfrm>
            <a:off x="851770" y="4797762"/>
            <a:ext cx="9816230" cy="928721"/>
          </a:xfrm>
          <a:prstGeom prst="rect">
            <a:avLst/>
          </a:prstGeom>
        </p:spPr>
        <p:txBody>
          <a:bodyPr vert="horz" lIns="91440" tIns="45720" rIns="91440" bIns="45720" rtlCol="0">
            <a:normAutofit/>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t>Module 2 - Challenges in Federating Edge Resources</a:t>
            </a:r>
          </a:p>
        </p:txBody>
      </p:sp>
    </p:spTree>
    <p:extLst>
      <p:ext uri="{BB962C8B-B14F-4D97-AF65-F5344CB8AC3E}">
        <p14:creationId xmlns:p14="http://schemas.microsoft.com/office/powerpoint/2010/main" val="148541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92619-C0E7-7E43-D627-3118278AB26B}"/>
              </a:ext>
            </a:extLst>
          </p:cNvPr>
          <p:cNvSpPr>
            <a:spLocks noGrp="1"/>
          </p:cNvSpPr>
          <p:nvPr>
            <p:ph type="title"/>
          </p:nvPr>
        </p:nvSpPr>
        <p:spPr/>
        <p:txBody>
          <a:bodyPr>
            <a:normAutofit fontScale="90000"/>
          </a:bodyPr>
          <a:lstStyle/>
          <a:p>
            <a:r>
              <a:rPr lang="en-US" dirty="0"/>
              <a:t>Introduction – Key issues in Cloud-to-Things</a:t>
            </a:r>
          </a:p>
        </p:txBody>
      </p:sp>
      <p:graphicFrame>
        <p:nvGraphicFramePr>
          <p:cNvPr id="5" name="Content Placeholder 4">
            <a:extLst>
              <a:ext uri="{FF2B5EF4-FFF2-40B4-BE49-F238E27FC236}">
                <a16:creationId xmlns:a16="http://schemas.microsoft.com/office/drawing/2014/main" id="{17CFCC42-EEFF-4E15-1847-3142E43CE2C0}"/>
              </a:ext>
            </a:extLst>
          </p:cNvPr>
          <p:cNvGraphicFramePr>
            <a:graphicFrameLocks noGrp="1"/>
          </p:cNvGraphicFramePr>
          <p:nvPr>
            <p:ph idx="1"/>
            <p:extLst>
              <p:ext uri="{D42A27DB-BD31-4B8C-83A1-F6EECF244321}">
                <p14:modId xmlns:p14="http://schemas.microsoft.com/office/powerpoint/2010/main" val="2278896858"/>
              </p:ext>
            </p:extLst>
          </p:nvPr>
        </p:nvGraphicFramePr>
        <p:xfrm>
          <a:off x="409575" y="1050925"/>
          <a:ext cx="11385550" cy="5357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7576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EC792-9308-697D-10CB-E49421316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0F626-93DA-E709-6A0F-06E336F4618E}"/>
              </a:ext>
            </a:extLst>
          </p:cNvPr>
          <p:cNvSpPr>
            <a:spLocks noGrp="1"/>
          </p:cNvSpPr>
          <p:nvPr>
            <p:ph type="title"/>
          </p:nvPr>
        </p:nvSpPr>
        <p:spPr/>
        <p:txBody>
          <a:bodyPr>
            <a:normAutofit fontScale="90000"/>
          </a:bodyPr>
          <a:lstStyle/>
          <a:p>
            <a:r>
              <a:rPr lang="en-US" dirty="0"/>
              <a:t>Federating Edge Resources - Introduction</a:t>
            </a:r>
          </a:p>
        </p:txBody>
      </p:sp>
      <p:pic>
        <p:nvPicPr>
          <p:cNvPr id="1026" name="Picture 2" descr="Fog computing for IoT applications consisting three layers: (i) Cloud... |  Download Scientific Diagram">
            <a:extLst>
              <a:ext uri="{FF2B5EF4-FFF2-40B4-BE49-F238E27FC236}">
                <a16:creationId xmlns:a16="http://schemas.microsoft.com/office/drawing/2014/main" id="{87339967-02FB-63B2-57D7-DE5483C652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6024" y="951054"/>
            <a:ext cx="10292972" cy="5485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41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C9E3-7F62-5575-A8C3-4B99D1422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51634-FABB-C7C7-616E-BD5609E61087}"/>
              </a:ext>
            </a:extLst>
          </p:cNvPr>
          <p:cNvSpPr>
            <a:spLocks noGrp="1"/>
          </p:cNvSpPr>
          <p:nvPr>
            <p:ph type="title"/>
          </p:nvPr>
        </p:nvSpPr>
        <p:spPr/>
        <p:txBody>
          <a:bodyPr>
            <a:normAutofit fontScale="90000"/>
          </a:bodyPr>
          <a:lstStyle/>
          <a:p>
            <a:r>
              <a:rPr lang="en-US" dirty="0"/>
              <a:t>Federating Edge Resources - Introduction</a:t>
            </a:r>
          </a:p>
        </p:txBody>
      </p:sp>
      <p:sp>
        <p:nvSpPr>
          <p:cNvPr id="3" name="Content Placeholder 2">
            <a:extLst>
              <a:ext uri="{FF2B5EF4-FFF2-40B4-BE49-F238E27FC236}">
                <a16:creationId xmlns:a16="http://schemas.microsoft.com/office/drawing/2014/main" id="{6347DA0E-050B-4A9C-75FF-301A024EA8A2}"/>
              </a:ext>
            </a:extLst>
          </p:cNvPr>
          <p:cNvSpPr>
            <a:spLocks noGrp="1"/>
          </p:cNvSpPr>
          <p:nvPr>
            <p:ph idx="1"/>
          </p:nvPr>
        </p:nvSpPr>
        <p:spPr/>
        <p:txBody>
          <a:bodyPr>
            <a:normAutofit fontScale="92500" lnSpcReduction="10000"/>
          </a:bodyPr>
          <a:lstStyle/>
          <a:p>
            <a:r>
              <a:rPr lang="en-US" sz="3200" dirty="0"/>
              <a:t> The process of </a:t>
            </a:r>
            <a:r>
              <a:rPr lang="en-US" sz="3200" i="1" dirty="0">
                <a:solidFill>
                  <a:srgbClr val="FF0000"/>
                </a:solidFill>
              </a:rPr>
              <a:t>connecting and sharing</a:t>
            </a:r>
            <a:r>
              <a:rPr lang="en-US" sz="3200" dirty="0"/>
              <a:t> </a:t>
            </a:r>
            <a:r>
              <a:rPr lang="en-US" sz="3200" i="1" dirty="0">
                <a:solidFill>
                  <a:srgbClr val="FF0000"/>
                </a:solidFill>
              </a:rPr>
              <a:t>computing resources</a:t>
            </a:r>
            <a:r>
              <a:rPr lang="en-US" sz="3200" dirty="0"/>
              <a:t> located at the </a:t>
            </a:r>
            <a:r>
              <a:rPr lang="en-US" sz="3200" i="1" dirty="0">
                <a:solidFill>
                  <a:srgbClr val="FF0000"/>
                </a:solidFill>
              </a:rPr>
              <a:t>edge of the network</a:t>
            </a:r>
            <a:r>
              <a:rPr lang="en-US" sz="3200" dirty="0"/>
              <a:t>. </a:t>
            </a:r>
          </a:p>
          <a:p>
            <a:r>
              <a:rPr lang="en-US" sz="3200" dirty="0"/>
              <a:t> These resources can include </a:t>
            </a:r>
            <a:r>
              <a:rPr lang="en-US" sz="3200" i="1" dirty="0"/>
              <a:t>servers, storage, and networking equipment</a:t>
            </a:r>
            <a:r>
              <a:rPr lang="en-US" sz="3200" dirty="0"/>
              <a:t>. </a:t>
            </a:r>
          </a:p>
          <a:p>
            <a:r>
              <a:rPr lang="en-US" sz="3200" dirty="0"/>
              <a:t> By federating these resources, organizations can create a </a:t>
            </a:r>
            <a:r>
              <a:rPr lang="en-US" sz="3200" i="1" dirty="0">
                <a:solidFill>
                  <a:srgbClr val="FF0000"/>
                </a:solidFill>
              </a:rPr>
              <a:t>more distributed</a:t>
            </a:r>
            <a:r>
              <a:rPr lang="en-US" sz="3200" dirty="0"/>
              <a:t> and </a:t>
            </a:r>
            <a:r>
              <a:rPr lang="en-US" sz="3200" i="1" dirty="0">
                <a:solidFill>
                  <a:srgbClr val="FF0000"/>
                </a:solidFill>
              </a:rPr>
              <a:t>scalable infrastructure</a:t>
            </a:r>
            <a:r>
              <a:rPr lang="en-US" sz="3200" dirty="0"/>
              <a:t> that can better support </a:t>
            </a:r>
            <a:r>
              <a:rPr lang="en-US" sz="3200" i="1" dirty="0"/>
              <a:t>applications</a:t>
            </a:r>
            <a:r>
              <a:rPr lang="en-US" sz="3200" dirty="0"/>
              <a:t> and services that require </a:t>
            </a:r>
            <a:r>
              <a:rPr lang="en-US" sz="3200" i="1" dirty="0"/>
              <a:t>low latency</a:t>
            </a:r>
            <a:r>
              <a:rPr lang="en-US" sz="3200" dirty="0"/>
              <a:t> and </a:t>
            </a:r>
            <a:r>
              <a:rPr lang="en-US" sz="3200" i="1" dirty="0"/>
              <a:t>high bandwidth</a:t>
            </a:r>
          </a:p>
        </p:txBody>
      </p:sp>
    </p:spTree>
    <p:extLst>
      <p:ext uri="{BB962C8B-B14F-4D97-AF65-F5344CB8AC3E}">
        <p14:creationId xmlns:p14="http://schemas.microsoft.com/office/powerpoint/2010/main" val="1161990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1771B-F763-8251-D17B-6113491B1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21081-D1EF-2105-DC0E-28E5430FBEE6}"/>
              </a:ext>
            </a:extLst>
          </p:cNvPr>
          <p:cNvSpPr>
            <a:spLocks noGrp="1"/>
          </p:cNvSpPr>
          <p:nvPr>
            <p:ph type="title"/>
          </p:nvPr>
        </p:nvSpPr>
        <p:spPr/>
        <p:txBody>
          <a:bodyPr>
            <a:normAutofit fontScale="90000"/>
          </a:bodyPr>
          <a:lstStyle/>
          <a:p>
            <a:r>
              <a:rPr lang="en-US" dirty="0"/>
              <a:t>Federating Edge Resources - Introduction</a:t>
            </a:r>
          </a:p>
        </p:txBody>
      </p:sp>
      <p:sp>
        <p:nvSpPr>
          <p:cNvPr id="3" name="Content Placeholder 2">
            <a:extLst>
              <a:ext uri="{FF2B5EF4-FFF2-40B4-BE49-F238E27FC236}">
                <a16:creationId xmlns:a16="http://schemas.microsoft.com/office/drawing/2014/main" id="{5674889E-1871-7F58-02F0-5A943CF665A3}"/>
              </a:ext>
            </a:extLst>
          </p:cNvPr>
          <p:cNvSpPr>
            <a:spLocks noGrp="1"/>
          </p:cNvSpPr>
          <p:nvPr>
            <p:ph idx="1"/>
          </p:nvPr>
        </p:nvSpPr>
        <p:spPr/>
        <p:txBody>
          <a:bodyPr>
            <a:normAutofit/>
          </a:bodyPr>
          <a:lstStyle/>
          <a:p>
            <a:r>
              <a:rPr lang="en-US" sz="3200" dirty="0"/>
              <a:t> Revisiting Edge of Network</a:t>
            </a:r>
          </a:p>
          <a:p>
            <a:pPr lvl="1"/>
            <a:r>
              <a:rPr lang="en-US" sz="2800" dirty="0"/>
              <a:t> The "edge of the network" refers to the </a:t>
            </a:r>
            <a:r>
              <a:rPr lang="en-US" sz="2800" b="1" i="1" dirty="0"/>
              <a:t>boundary points</a:t>
            </a:r>
            <a:r>
              <a:rPr lang="en-US" sz="2800" dirty="0"/>
              <a:t> where a </a:t>
            </a:r>
            <a:r>
              <a:rPr lang="en-US" sz="2800" b="1" i="1" dirty="0"/>
              <a:t>computer network connects to other networks</a:t>
            </a:r>
            <a:r>
              <a:rPr lang="en-US" sz="2800" dirty="0"/>
              <a:t>. </a:t>
            </a:r>
          </a:p>
          <a:p>
            <a:pPr lvl="1"/>
            <a:r>
              <a:rPr lang="en-US" sz="2800" dirty="0"/>
              <a:t> It's essentially where one network ends and another begins.</a:t>
            </a:r>
          </a:p>
        </p:txBody>
      </p:sp>
    </p:spTree>
    <p:extLst>
      <p:ext uri="{BB962C8B-B14F-4D97-AF65-F5344CB8AC3E}">
        <p14:creationId xmlns:p14="http://schemas.microsoft.com/office/powerpoint/2010/main" val="3365613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C4725-01B4-9A0D-443B-43D699AAD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8866F-407D-D590-3BC9-66030168D62B}"/>
              </a:ext>
            </a:extLst>
          </p:cNvPr>
          <p:cNvSpPr>
            <a:spLocks noGrp="1"/>
          </p:cNvSpPr>
          <p:nvPr>
            <p:ph type="title"/>
          </p:nvPr>
        </p:nvSpPr>
        <p:spPr/>
        <p:txBody>
          <a:bodyPr>
            <a:normAutofit fontScale="90000"/>
          </a:bodyPr>
          <a:lstStyle/>
          <a:p>
            <a:r>
              <a:rPr lang="en-US" dirty="0"/>
              <a:t>Federating Edge Resources - Introduction</a:t>
            </a:r>
          </a:p>
        </p:txBody>
      </p:sp>
      <p:sp>
        <p:nvSpPr>
          <p:cNvPr id="3" name="Content Placeholder 2">
            <a:extLst>
              <a:ext uri="{FF2B5EF4-FFF2-40B4-BE49-F238E27FC236}">
                <a16:creationId xmlns:a16="http://schemas.microsoft.com/office/drawing/2014/main" id="{D5689837-0F43-A508-7C07-24BDE111F795}"/>
              </a:ext>
            </a:extLst>
          </p:cNvPr>
          <p:cNvSpPr>
            <a:spLocks noGrp="1"/>
          </p:cNvSpPr>
          <p:nvPr>
            <p:ph idx="1"/>
          </p:nvPr>
        </p:nvSpPr>
        <p:spPr/>
        <p:txBody>
          <a:bodyPr>
            <a:normAutofit/>
          </a:bodyPr>
          <a:lstStyle/>
          <a:p>
            <a:r>
              <a:rPr lang="en-US" sz="2800" dirty="0"/>
              <a:t> Edge computing aims to </a:t>
            </a:r>
            <a:r>
              <a:rPr lang="en-US" sz="2800" b="1" i="1" dirty="0"/>
              <a:t>improve application performance</a:t>
            </a:r>
            <a:r>
              <a:rPr lang="en-US" sz="2800" dirty="0"/>
              <a:t> by </a:t>
            </a:r>
            <a:r>
              <a:rPr lang="en-US" sz="2800" b="1" i="1" dirty="0"/>
              <a:t>decentralizing resources</a:t>
            </a:r>
            <a:r>
              <a:rPr lang="en-US" sz="2800" dirty="0"/>
              <a:t> from cloud data centers to the network edge.</a:t>
            </a:r>
          </a:p>
          <a:p>
            <a:r>
              <a:rPr lang="en-US" dirty="0"/>
              <a:t> Current edge deployments are often </a:t>
            </a:r>
            <a:r>
              <a:rPr lang="en-US" b="1" i="1" dirty="0"/>
              <a:t>ad hoc, private</a:t>
            </a:r>
            <a:r>
              <a:rPr lang="en-US" dirty="0"/>
              <a:t>, and sporadically </a:t>
            </a:r>
            <a:r>
              <a:rPr lang="en-US" b="1" i="1" dirty="0"/>
              <a:t>distributed</a:t>
            </a:r>
            <a:r>
              <a:rPr lang="en-US" dirty="0"/>
              <a:t>, limiting their global impact.</a:t>
            </a:r>
          </a:p>
          <a:p>
            <a:r>
              <a:rPr lang="en-US" sz="2800" dirty="0"/>
              <a:t> A </a:t>
            </a:r>
            <a:r>
              <a:rPr lang="en-US" sz="2800" b="1" i="1" dirty="0"/>
              <a:t>federated edge</a:t>
            </a:r>
            <a:r>
              <a:rPr lang="en-US" sz="2800" dirty="0"/>
              <a:t>, connecting edge deployments across regions, is </a:t>
            </a:r>
            <a:r>
              <a:rPr lang="en-US" sz="2800" b="1" i="1" dirty="0"/>
              <a:t>needed</a:t>
            </a:r>
            <a:r>
              <a:rPr lang="en-US" sz="2800" dirty="0"/>
              <a:t> for </a:t>
            </a:r>
            <a:r>
              <a:rPr lang="en-US" sz="2800" b="1" i="1" dirty="0"/>
              <a:t>global accessibility and computational fairness </a:t>
            </a:r>
            <a:r>
              <a:rPr lang="en-US" sz="2800" dirty="0"/>
              <a:t>but faces </a:t>
            </a:r>
            <a:r>
              <a:rPr lang="en-US" sz="2800" b="1" i="1" dirty="0"/>
              <a:t>technical, social, legal, and geopolitical challenges</a:t>
            </a:r>
            <a:r>
              <a:rPr lang="en-US" sz="2800" dirty="0"/>
              <a:t>.</a:t>
            </a:r>
          </a:p>
        </p:txBody>
      </p:sp>
    </p:spTree>
    <p:extLst>
      <p:ext uri="{BB962C8B-B14F-4D97-AF65-F5344CB8AC3E}">
        <p14:creationId xmlns:p14="http://schemas.microsoft.com/office/powerpoint/2010/main" val="661346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5C94-D64E-5509-5FB3-363DEBC8A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C7935-0A98-BC35-5F78-331F7DC1EA8A}"/>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54FDC468-5359-2311-39F9-E8FADBB6C05A}"/>
              </a:ext>
            </a:extLst>
          </p:cNvPr>
          <p:cNvSpPr>
            <a:spLocks noGrp="1"/>
          </p:cNvSpPr>
          <p:nvPr>
            <p:ph idx="1"/>
          </p:nvPr>
        </p:nvSpPr>
        <p:spPr/>
        <p:txBody>
          <a:bodyPr>
            <a:normAutofit fontScale="92500" lnSpcReduction="10000"/>
          </a:bodyPr>
          <a:lstStyle/>
          <a:p>
            <a:r>
              <a:rPr lang="en-US" sz="2800" dirty="0"/>
              <a:t> Two key challenges for federated edge are </a:t>
            </a:r>
            <a:r>
              <a:rPr lang="en-US" sz="2800" b="1" i="1" dirty="0"/>
              <a:t>networking and management</a:t>
            </a:r>
            <a:r>
              <a:rPr lang="en-US" sz="2800" dirty="0"/>
              <a:t>.</a:t>
            </a:r>
          </a:p>
          <a:p>
            <a:r>
              <a:rPr lang="en-US" dirty="0"/>
              <a:t> The networking challenge involves creating a </a:t>
            </a:r>
            <a:r>
              <a:rPr lang="en-US" b="1" i="1" dirty="0"/>
              <a:t>dynamic networking environment compatible</a:t>
            </a:r>
            <a:r>
              <a:rPr lang="en-US" dirty="0"/>
              <a:t> with federated edge scenarios.</a:t>
            </a:r>
          </a:p>
          <a:p>
            <a:r>
              <a:rPr lang="en-US" dirty="0"/>
              <a:t> </a:t>
            </a:r>
            <a:r>
              <a:rPr lang="en-US" b="1" i="1" dirty="0"/>
              <a:t>Software-defined networking (SDN) is a potential solution</a:t>
            </a:r>
            <a:r>
              <a:rPr lang="en-US" dirty="0"/>
              <a:t> for </a:t>
            </a:r>
            <a:r>
              <a:rPr lang="en-US" b="1" i="1" dirty="0"/>
              <a:t>orchestrating edge resources</a:t>
            </a:r>
            <a:r>
              <a:rPr lang="en-US" dirty="0"/>
              <a:t>, but global coordination across SDN domains is required in a federated context.</a:t>
            </a:r>
          </a:p>
          <a:p>
            <a:r>
              <a:rPr lang="en-US" dirty="0"/>
              <a:t> Balancing local edge deployments with the federated infrastructure is critical, requiring a potential rethinking of the edge networking model and further development of SDN's east-west interface.</a:t>
            </a:r>
            <a:endParaRPr lang="en-US" sz="2800" dirty="0"/>
          </a:p>
        </p:txBody>
      </p:sp>
    </p:spTree>
    <p:extLst>
      <p:ext uri="{BB962C8B-B14F-4D97-AF65-F5344CB8AC3E}">
        <p14:creationId xmlns:p14="http://schemas.microsoft.com/office/powerpoint/2010/main" val="3645559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EED58-B55F-FEA3-2768-41E6E879A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2FE4A-84C8-ED38-7966-F25C9F186AEB}"/>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371115A9-9188-8895-4FD2-713A67421EB5}"/>
              </a:ext>
            </a:extLst>
          </p:cNvPr>
          <p:cNvSpPr>
            <a:spLocks noGrp="1"/>
          </p:cNvSpPr>
          <p:nvPr>
            <p:ph idx="1"/>
          </p:nvPr>
        </p:nvSpPr>
        <p:spPr/>
        <p:txBody>
          <a:bodyPr>
            <a:normAutofit fontScale="92500" lnSpcReduction="10000"/>
          </a:bodyPr>
          <a:lstStyle/>
          <a:p>
            <a:r>
              <a:rPr lang="en-US" sz="2800" dirty="0"/>
              <a:t> Management challenges are crucial for seamless service delivery in large-scale edge computing infrastructures.</a:t>
            </a:r>
          </a:p>
          <a:p>
            <a:r>
              <a:rPr lang="en-US" sz="2800" dirty="0"/>
              <a:t> Current edge deployments assume </a:t>
            </a:r>
            <a:r>
              <a:rPr lang="en-US" sz="2800" b="1" i="1" dirty="0"/>
              <a:t>service cloning or availability</a:t>
            </a:r>
            <a:r>
              <a:rPr lang="en-US" sz="2800" dirty="0"/>
              <a:t> on alternate nodes, which is insufficient for federated edge scenarios.</a:t>
            </a:r>
          </a:p>
          <a:p>
            <a:r>
              <a:rPr lang="en-US" sz="2800" dirty="0"/>
              <a:t> Rapid service migration between nodes based on demand is needed but faces challenges due to </a:t>
            </a:r>
            <a:r>
              <a:rPr lang="en-US" sz="2800" b="1" i="1" dirty="0"/>
              <a:t>high overhead and unsuitability</a:t>
            </a:r>
            <a:r>
              <a:rPr lang="en-US" sz="2800" dirty="0"/>
              <a:t> for resource-constrained edge environments.</a:t>
            </a:r>
          </a:p>
          <a:p>
            <a:r>
              <a:rPr lang="en-US" sz="2800" dirty="0"/>
              <a:t> Key management issues include benchmarking, provisioning, discovery, scaling, and migration.</a:t>
            </a:r>
          </a:p>
        </p:txBody>
      </p:sp>
    </p:spTree>
    <p:extLst>
      <p:ext uri="{BB962C8B-B14F-4D97-AF65-F5344CB8AC3E}">
        <p14:creationId xmlns:p14="http://schemas.microsoft.com/office/powerpoint/2010/main" val="4253739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F72A-67D2-FC59-94B1-D1B399A9E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74372-153A-6273-FD14-CA0DF51AFD69}"/>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9A6AE6FA-21CE-EFFA-BD45-A4E766353203}"/>
              </a:ext>
            </a:extLst>
          </p:cNvPr>
          <p:cNvSpPr>
            <a:spLocks noGrp="1"/>
          </p:cNvSpPr>
          <p:nvPr>
            <p:ph idx="1"/>
          </p:nvPr>
        </p:nvSpPr>
        <p:spPr/>
        <p:txBody>
          <a:bodyPr>
            <a:normAutofit/>
          </a:bodyPr>
          <a:lstStyle/>
          <a:p>
            <a:r>
              <a:rPr lang="en-US" sz="2800" dirty="0"/>
              <a:t> Resource challenges exist at both hardware and software levels. </a:t>
            </a:r>
          </a:p>
          <a:p>
            <a:r>
              <a:rPr lang="en-US" sz="2800" dirty="0"/>
              <a:t> Hardware solutions are often application-specific, creating significant heterogeneity. </a:t>
            </a:r>
          </a:p>
          <a:p>
            <a:r>
              <a:rPr lang="en-US" sz="2800" dirty="0"/>
              <a:t> Software solutions designed for cloud data centers have high overheads.</a:t>
            </a:r>
          </a:p>
        </p:txBody>
      </p:sp>
    </p:spTree>
    <p:extLst>
      <p:ext uri="{BB962C8B-B14F-4D97-AF65-F5344CB8AC3E}">
        <p14:creationId xmlns:p14="http://schemas.microsoft.com/office/powerpoint/2010/main" val="726875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0202F-3250-C730-AD77-846F9BE6E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9D885-A195-E18D-8D50-C414C1E52122}"/>
              </a:ext>
            </a:extLst>
          </p:cNvPr>
          <p:cNvSpPr>
            <a:spLocks noGrp="1"/>
          </p:cNvSpPr>
          <p:nvPr>
            <p:ph type="title"/>
          </p:nvPr>
        </p:nvSpPr>
        <p:spPr/>
        <p:txBody>
          <a:bodyPr>
            <a:normAutofit fontScale="90000"/>
          </a:bodyPr>
          <a:lstStyle/>
          <a:p>
            <a:r>
              <a:rPr lang="en-US" dirty="0"/>
              <a:t>Federating Edge Resources - Challenges</a:t>
            </a:r>
          </a:p>
        </p:txBody>
      </p:sp>
      <p:sp>
        <p:nvSpPr>
          <p:cNvPr id="3" name="Content Placeholder 2">
            <a:extLst>
              <a:ext uri="{FF2B5EF4-FFF2-40B4-BE49-F238E27FC236}">
                <a16:creationId xmlns:a16="http://schemas.microsoft.com/office/drawing/2014/main" id="{59339954-2BCD-ED4B-E869-C741D0C0590E}"/>
              </a:ext>
            </a:extLst>
          </p:cNvPr>
          <p:cNvSpPr>
            <a:spLocks noGrp="1"/>
          </p:cNvSpPr>
          <p:nvPr>
            <p:ph idx="1"/>
          </p:nvPr>
        </p:nvSpPr>
        <p:spPr/>
        <p:txBody>
          <a:bodyPr>
            <a:normAutofit/>
          </a:bodyPr>
          <a:lstStyle/>
          <a:p>
            <a:r>
              <a:rPr lang="en-US" sz="2800" dirty="0"/>
              <a:t> Modeling challenges arise from integrating the edge into the cloud ecosystem. </a:t>
            </a:r>
          </a:p>
          <a:p>
            <a:r>
              <a:rPr lang="en-US" dirty="0"/>
              <a:t> </a:t>
            </a:r>
            <a:r>
              <a:rPr lang="en-US" sz="2800" dirty="0"/>
              <a:t>Simulators are needed to investigate the implications of large-scale edge deployments, but current understanding of user-edge-cloud interactions is limited.</a:t>
            </a:r>
          </a:p>
        </p:txBody>
      </p:sp>
    </p:spTree>
    <p:extLst>
      <p:ext uri="{BB962C8B-B14F-4D97-AF65-F5344CB8AC3E}">
        <p14:creationId xmlns:p14="http://schemas.microsoft.com/office/powerpoint/2010/main" val="228380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FA1B2-1FFE-D403-0AD0-24C5B12D0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BD1CC-8FF1-FC44-0B17-43948330E82B}"/>
              </a:ext>
            </a:extLst>
          </p:cNvPr>
          <p:cNvSpPr>
            <a:spLocks noGrp="1"/>
          </p:cNvSpPr>
          <p:nvPr>
            <p:ph type="title"/>
          </p:nvPr>
        </p:nvSpPr>
        <p:spPr/>
        <p:txBody>
          <a:bodyPr>
            <a:normAutofit fontScale="90000"/>
          </a:bodyPr>
          <a:lstStyle/>
          <a:p>
            <a:r>
              <a:rPr lang="en-US" dirty="0"/>
              <a:t>Federating Edge Resources - Challenges</a:t>
            </a:r>
          </a:p>
        </p:txBody>
      </p:sp>
      <p:pic>
        <p:nvPicPr>
          <p:cNvPr id="4" name="Content Placeholder 3" descr="A diagram of a network&#10;&#10;Description automatically generated">
            <a:extLst>
              <a:ext uri="{FF2B5EF4-FFF2-40B4-BE49-F238E27FC236}">
                <a16:creationId xmlns:a16="http://schemas.microsoft.com/office/drawing/2014/main" id="{577EC8FC-D7A1-4302-B1B2-793FF9F31967}"/>
              </a:ext>
            </a:extLst>
          </p:cNvPr>
          <p:cNvPicPr>
            <a:picLocks noGrp="1" noChangeAspect="1"/>
          </p:cNvPicPr>
          <p:nvPr>
            <p:ph idx="1"/>
          </p:nvPr>
        </p:nvPicPr>
        <p:blipFill>
          <a:blip r:embed="rId2"/>
          <a:stretch>
            <a:fillRect/>
          </a:stretch>
        </p:blipFill>
        <p:spPr>
          <a:xfrm>
            <a:off x="1688309" y="951054"/>
            <a:ext cx="8815382" cy="5586190"/>
          </a:xfrm>
          <a:prstGeom prst="rect">
            <a:avLst/>
          </a:prstGeom>
        </p:spPr>
      </p:pic>
    </p:spTree>
    <p:extLst>
      <p:ext uri="{BB962C8B-B14F-4D97-AF65-F5344CB8AC3E}">
        <p14:creationId xmlns:p14="http://schemas.microsoft.com/office/powerpoint/2010/main" val="1850418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7974-8634-1871-2210-529762970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939F3-693D-1E85-9A4D-FA4B03D9E88A}"/>
              </a:ext>
            </a:extLst>
          </p:cNvPr>
          <p:cNvSpPr>
            <a:spLocks noGrp="1"/>
          </p:cNvSpPr>
          <p:nvPr>
            <p:ph type="title"/>
          </p:nvPr>
        </p:nvSpPr>
        <p:spPr/>
        <p:txBody>
          <a:bodyPr>
            <a:normAutofit fontScale="90000"/>
          </a:bodyPr>
          <a:lstStyle/>
          <a:p>
            <a:r>
              <a:rPr lang="en-US" dirty="0"/>
              <a:t>Federating Edge Resources - Challenges</a:t>
            </a:r>
          </a:p>
        </p:txBody>
      </p:sp>
      <p:pic>
        <p:nvPicPr>
          <p:cNvPr id="8" name="Content Placeholder 7" descr="A table with text on it&#10;&#10;Description automatically generated">
            <a:extLst>
              <a:ext uri="{FF2B5EF4-FFF2-40B4-BE49-F238E27FC236}">
                <a16:creationId xmlns:a16="http://schemas.microsoft.com/office/drawing/2014/main" id="{F8201039-354B-7B35-0065-296A6BB363DB}"/>
              </a:ext>
            </a:extLst>
          </p:cNvPr>
          <p:cNvPicPr>
            <a:picLocks noGrp="1" noChangeAspect="1"/>
          </p:cNvPicPr>
          <p:nvPr>
            <p:ph idx="1"/>
          </p:nvPr>
        </p:nvPicPr>
        <p:blipFill>
          <a:blip r:embed="rId2"/>
          <a:stretch>
            <a:fillRect/>
          </a:stretch>
        </p:blipFill>
        <p:spPr>
          <a:xfrm>
            <a:off x="1716167" y="951054"/>
            <a:ext cx="8759665" cy="5606780"/>
          </a:xfrm>
          <a:prstGeom prst="rect">
            <a:avLst/>
          </a:prstGeom>
        </p:spPr>
      </p:pic>
    </p:spTree>
    <p:extLst>
      <p:ext uri="{BB962C8B-B14F-4D97-AF65-F5344CB8AC3E}">
        <p14:creationId xmlns:p14="http://schemas.microsoft.com/office/powerpoint/2010/main" val="1358321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6F9B6-D1F8-DB42-8897-C54D27FB9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9DE16-FFC5-1260-A965-DEC38718AA29}"/>
              </a:ext>
            </a:extLst>
          </p:cNvPr>
          <p:cNvSpPr>
            <a:spLocks noGrp="1"/>
          </p:cNvSpPr>
          <p:nvPr>
            <p:ph type="title"/>
          </p:nvPr>
        </p:nvSpPr>
        <p:spPr/>
        <p:txBody>
          <a:bodyPr>
            <a:normAutofit fontScale="90000"/>
          </a:bodyPr>
          <a:lstStyle/>
          <a:p>
            <a:r>
              <a:rPr lang="en-US" dirty="0"/>
              <a:t>Federating Edge Resources - Challenges</a:t>
            </a:r>
          </a:p>
        </p:txBody>
      </p:sp>
      <p:pic>
        <p:nvPicPr>
          <p:cNvPr id="6" name="Content Placeholder 5" descr="A black and white text on a white background&#10;&#10;Description automatically generated">
            <a:extLst>
              <a:ext uri="{FF2B5EF4-FFF2-40B4-BE49-F238E27FC236}">
                <a16:creationId xmlns:a16="http://schemas.microsoft.com/office/drawing/2014/main" id="{A3BEEA83-67CE-9A5F-146C-C2655AF2523E}"/>
              </a:ext>
            </a:extLst>
          </p:cNvPr>
          <p:cNvPicPr>
            <a:picLocks noGrp="1" noChangeAspect="1"/>
          </p:cNvPicPr>
          <p:nvPr>
            <p:ph idx="1"/>
          </p:nvPr>
        </p:nvPicPr>
        <p:blipFill>
          <a:blip r:embed="rId2"/>
          <a:stretch>
            <a:fillRect/>
          </a:stretch>
        </p:blipFill>
        <p:spPr>
          <a:xfrm>
            <a:off x="395304" y="1262945"/>
            <a:ext cx="11399297" cy="5098665"/>
          </a:xfrm>
        </p:spPr>
      </p:pic>
    </p:spTree>
    <p:extLst>
      <p:ext uri="{BB962C8B-B14F-4D97-AF65-F5344CB8AC3E}">
        <p14:creationId xmlns:p14="http://schemas.microsoft.com/office/powerpoint/2010/main" val="1067737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0DED5-A340-8680-4B18-7500CFE86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79EBE-5A18-01E9-ABC5-EFBCD8A5F6DD}"/>
              </a:ext>
            </a:extLst>
          </p:cNvPr>
          <p:cNvSpPr>
            <a:spLocks noGrp="1"/>
          </p:cNvSpPr>
          <p:nvPr>
            <p:ph type="title"/>
          </p:nvPr>
        </p:nvSpPr>
        <p:spPr/>
        <p:txBody>
          <a:bodyPr>
            <a:noAutofit/>
          </a:bodyPr>
          <a:lstStyle/>
          <a:p>
            <a:r>
              <a:rPr lang="en-US" sz="3600" dirty="0"/>
              <a:t>Federating Edge Resources – Review Methodology</a:t>
            </a:r>
          </a:p>
        </p:txBody>
      </p:sp>
      <p:pic>
        <p:nvPicPr>
          <p:cNvPr id="7" name="Content Placeholder 6" descr="A diagram of a research process&#10;&#10;Description automatically generated">
            <a:extLst>
              <a:ext uri="{FF2B5EF4-FFF2-40B4-BE49-F238E27FC236}">
                <a16:creationId xmlns:a16="http://schemas.microsoft.com/office/drawing/2014/main" id="{DBC9F86F-C7DF-5032-A4A3-E2A9D0518FAF}"/>
              </a:ext>
            </a:extLst>
          </p:cNvPr>
          <p:cNvPicPr>
            <a:picLocks noGrp="1" noChangeAspect="1"/>
          </p:cNvPicPr>
          <p:nvPr>
            <p:ph idx="1"/>
          </p:nvPr>
        </p:nvPicPr>
        <p:blipFill>
          <a:blip r:embed="rId2"/>
          <a:stretch>
            <a:fillRect/>
          </a:stretch>
        </p:blipFill>
        <p:spPr>
          <a:xfrm>
            <a:off x="627017" y="1050925"/>
            <a:ext cx="10998926" cy="5357813"/>
          </a:xfrm>
        </p:spPr>
      </p:pic>
    </p:spTree>
    <p:extLst>
      <p:ext uri="{BB962C8B-B14F-4D97-AF65-F5344CB8AC3E}">
        <p14:creationId xmlns:p14="http://schemas.microsoft.com/office/powerpoint/2010/main" val="279843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02796-C6A8-701A-4386-D26DE368F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48E2F-C405-D180-650B-B6D92EC391DC}"/>
              </a:ext>
            </a:extLst>
          </p:cNvPr>
          <p:cNvSpPr>
            <a:spLocks noGrp="1"/>
          </p:cNvSpPr>
          <p:nvPr>
            <p:ph type="title"/>
          </p:nvPr>
        </p:nvSpPr>
        <p:spPr/>
        <p:txBody>
          <a:bodyPr>
            <a:noAutofit/>
          </a:bodyPr>
          <a:lstStyle/>
          <a:p>
            <a:r>
              <a:rPr lang="en-US" sz="2800" dirty="0"/>
              <a:t>Cloud-to-Fog-to-Internet of Things (C2F2T) – Analytical Model</a:t>
            </a:r>
          </a:p>
        </p:txBody>
      </p:sp>
      <p:sp>
        <p:nvSpPr>
          <p:cNvPr id="4" name="Content Placeholder 3">
            <a:extLst>
              <a:ext uri="{FF2B5EF4-FFF2-40B4-BE49-F238E27FC236}">
                <a16:creationId xmlns:a16="http://schemas.microsoft.com/office/drawing/2014/main" id="{5EAF9F3E-F1F0-F8E7-FA47-E8490F6458BD}"/>
              </a:ext>
            </a:extLst>
          </p:cNvPr>
          <p:cNvSpPr>
            <a:spLocks noGrp="1"/>
          </p:cNvSpPr>
          <p:nvPr>
            <p:ph idx="1"/>
          </p:nvPr>
        </p:nvSpPr>
        <p:spPr/>
        <p:txBody>
          <a:bodyPr/>
          <a:lstStyle/>
          <a:p>
            <a:r>
              <a:rPr lang="en-US" dirty="0"/>
              <a:t> Mathematical models that provide a </a:t>
            </a:r>
            <a:r>
              <a:rPr lang="en-US" i="1" dirty="0"/>
              <a:t>closed-form solution</a:t>
            </a:r>
            <a:r>
              <a:rPr lang="en-US" dirty="0"/>
              <a:t>, meaning the solution can be expressed as a </a:t>
            </a:r>
            <a:r>
              <a:rPr lang="en-US" i="1" dirty="0"/>
              <a:t>mathematical function</a:t>
            </a:r>
            <a:r>
              <a:rPr lang="en-US" dirty="0"/>
              <a:t>.</a:t>
            </a:r>
          </a:p>
          <a:p>
            <a:endParaRPr lang="en-US" dirty="0"/>
          </a:p>
          <a:p>
            <a:r>
              <a:rPr lang="en-US" dirty="0"/>
              <a:t> Used to predict </a:t>
            </a:r>
            <a:r>
              <a:rPr lang="en-US" i="1" dirty="0"/>
              <a:t>resource requirements</a:t>
            </a:r>
            <a:r>
              <a:rPr lang="en-US" dirty="0"/>
              <a:t>, </a:t>
            </a:r>
            <a:r>
              <a:rPr lang="en-US" i="1" dirty="0"/>
              <a:t>assess workload behavior</a:t>
            </a:r>
            <a:r>
              <a:rPr lang="en-US" dirty="0"/>
              <a:t>, and </a:t>
            </a:r>
            <a:r>
              <a:rPr lang="en-US" i="1" dirty="0"/>
              <a:t>measure the impact of hardware/software </a:t>
            </a:r>
            <a:r>
              <a:rPr lang="en-US" dirty="0"/>
              <a:t>changes.</a:t>
            </a:r>
          </a:p>
          <a:p>
            <a:endParaRPr lang="en-US" dirty="0"/>
          </a:p>
          <a:p>
            <a:r>
              <a:rPr lang="en-US" dirty="0"/>
              <a:t> Often rely on </a:t>
            </a:r>
            <a:r>
              <a:rPr lang="en-US" i="1" dirty="0"/>
              <a:t>approximations</a:t>
            </a:r>
            <a:r>
              <a:rPr lang="en-US" dirty="0"/>
              <a:t>, which must be carefully considered.</a:t>
            </a:r>
          </a:p>
        </p:txBody>
      </p:sp>
    </p:spTree>
    <p:extLst>
      <p:ext uri="{BB962C8B-B14F-4D97-AF65-F5344CB8AC3E}">
        <p14:creationId xmlns:p14="http://schemas.microsoft.com/office/powerpoint/2010/main" val="530367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4283B-D4F5-945F-D37B-0132809C0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E2338-DB2A-62C2-4F30-C7B3192FB666}"/>
              </a:ext>
            </a:extLst>
          </p:cNvPr>
          <p:cNvSpPr>
            <a:spLocks noGrp="1"/>
          </p:cNvSpPr>
          <p:nvPr>
            <p:ph type="title"/>
          </p:nvPr>
        </p:nvSpPr>
        <p:spPr/>
        <p:txBody>
          <a:bodyPr>
            <a:noAutofit/>
          </a:bodyPr>
          <a:lstStyle/>
          <a:p>
            <a:r>
              <a:rPr lang="en-US" sz="2800" dirty="0"/>
              <a:t>C2F2T – Analytical Model - Examples</a:t>
            </a:r>
          </a:p>
        </p:txBody>
      </p:sp>
      <p:graphicFrame>
        <p:nvGraphicFramePr>
          <p:cNvPr id="3" name="Content Placeholder 2">
            <a:extLst>
              <a:ext uri="{FF2B5EF4-FFF2-40B4-BE49-F238E27FC236}">
                <a16:creationId xmlns:a16="http://schemas.microsoft.com/office/drawing/2014/main" id="{9ABA7843-E1F9-A5D5-18A9-568A12338BCD}"/>
              </a:ext>
            </a:extLst>
          </p:cNvPr>
          <p:cNvGraphicFramePr>
            <a:graphicFrameLocks noGrp="1"/>
          </p:cNvGraphicFramePr>
          <p:nvPr>
            <p:ph idx="1"/>
            <p:extLst>
              <p:ext uri="{D42A27DB-BD31-4B8C-83A1-F6EECF244321}">
                <p14:modId xmlns:p14="http://schemas.microsoft.com/office/powerpoint/2010/main" val="1007060994"/>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6130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43397-9576-D6CA-9B31-C50506789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9AACE-E4B5-516E-904F-52F378EFB191}"/>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9135F759-EC48-4DED-5D04-64394CD8E4E2}"/>
              </a:ext>
            </a:extLst>
          </p:cNvPr>
          <p:cNvSpPr>
            <a:spLocks noGrp="1"/>
          </p:cNvSpPr>
          <p:nvPr>
            <p:ph idx="1"/>
          </p:nvPr>
        </p:nvSpPr>
        <p:spPr>
          <a:xfrm>
            <a:off x="409935" y="1050784"/>
            <a:ext cx="7205712" cy="5357733"/>
          </a:xfrm>
        </p:spPr>
        <p:txBody>
          <a:bodyPr>
            <a:normAutofit/>
          </a:bodyPr>
          <a:lstStyle/>
          <a:p>
            <a:r>
              <a:rPr lang="en-US" dirty="0"/>
              <a:t> This model aims to </a:t>
            </a:r>
            <a:r>
              <a:rPr lang="en-US" b="1" i="1" dirty="0"/>
              <a:t>manage</a:t>
            </a:r>
            <a:r>
              <a:rPr lang="en-US" dirty="0"/>
              <a:t> sensor applications by a gateway, considering the resource requirements of these applications.</a:t>
            </a:r>
          </a:p>
          <a:p>
            <a:r>
              <a:rPr lang="en-US" dirty="0"/>
              <a:t> Equation mathematically represents the </a:t>
            </a:r>
            <a:r>
              <a:rPr lang="en-US" b="1" i="1" dirty="0"/>
              <a:t>optimization problem</a:t>
            </a:r>
            <a:r>
              <a:rPr lang="en-US" dirty="0"/>
              <a:t> formulated in the research</a:t>
            </a:r>
          </a:p>
        </p:txBody>
      </p:sp>
      <p:pic>
        <p:nvPicPr>
          <p:cNvPr id="5" name="Picture 4" descr="A math equations and numbers&#10;&#10;Description automatically generated with medium confidence">
            <a:extLst>
              <a:ext uri="{FF2B5EF4-FFF2-40B4-BE49-F238E27FC236}">
                <a16:creationId xmlns:a16="http://schemas.microsoft.com/office/drawing/2014/main" id="{E839F7DE-3627-704E-78D6-E3B7E140180D}"/>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2831726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03A8-9922-875D-A77B-33ED4B3CA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900B6-7516-AAC4-A99E-E2F6E2876679}"/>
              </a:ext>
            </a:extLst>
          </p:cNvPr>
          <p:cNvSpPr>
            <a:spLocks noGrp="1"/>
          </p:cNvSpPr>
          <p:nvPr>
            <p:ph type="title"/>
          </p:nvPr>
        </p:nvSpPr>
        <p:spPr/>
        <p:txBody>
          <a:bodyPr>
            <a:noAutofit/>
          </a:bodyPr>
          <a:lstStyle/>
          <a:p>
            <a:r>
              <a:rPr lang="en-US" sz="2800" dirty="0"/>
              <a:t>Cloud-to-Fog-to-Internet of Things (C2F2T) – Analytical Model 1</a:t>
            </a:r>
          </a:p>
        </p:txBody>
      </p:sp>
      <p:pic>
        <p:nvPicPr>
          <p:cNvPr id="5" name="Picture 4" descr="A math equations and numbers&#10;&#10;Description automatically generated with medium confidence">
            <a:extLst>
              <a:ext uri="{FF2B5EF4-FFF2-40B4-BE49-F238E27FC236}">
                <a16:creationId xmlns:a16="http://schemas.microsoft.com/office/drawing/2014/main" id="{C6BC33CA-20CC-AC03-A898-825358AADA1F}"/>
              </a:ext>
            </a:extLst>
          </p:cNvPr>
          <p:cNvPicPr>
            <a:picLocks noChangeAspect="1"/>
          </p:cNvPicPr>
          <p:nvPr/>
        </p:nvPicPr>
        <p:blipFill>
          <a:blip r:embed="rId2"/>
          <a:stretch>
            <a:fillRect/>
          </a:stretch>
        </p:blipFill>
        <p:spPr>
          <a:xfrm>
            <a:off x="7615647" y="1252988"/>
            <a:ext cx="4178944" cy="4352024"/>
          </a:xfrm>
          <a:prstGeom prst="rect">
            <a:avLst/>
          </a:prstGeom>
        </p:spPr>
      </p:pic>
      <p:pic>
        <p:nvPicPr>
          <p:cNvPr id="8" name="Content Placeholder 7" descr="A diagram of a cloud data center&#10;&#10;Description automatically generated">
            <a:extLst>
              <a:ext uri="{FF2B5EF4-FFF2-40B4-BE49-F238E27FC236}">
                <a16:creationId xmlns:a16="http://schemas.microsoft.com/office/drawing/2014/main" id="{2C1D733A-7E9B-E5EA-E861-6E27225B1654}"/>
              </a:ext>
            </a:extLst>
          </p:cNvPr>
          <p:cNvPicPr>
            <a:picLocks noGrp="1" noChangeAspect="1"/>
          </p:cNvPicPr>
          <p:nvPr>
            <p:ph idx="1"/>
          </p:nvPr>
        </p:nvPicPr>
        <p:blipFill rotWithShape="1">
          <a:blip r:embed="rId3"/>
          <a:srcRect l="4314"/>
          <a:stretch/>
        </p:blipFill>
        <p:spPr bwMode="auto">
          <a:xfrm>
            <a:off x="409935" y="951054"/>
            <a:ext cx="7205303" cy="5422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192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DB758-35D6-73BA-9680-B6587A5E7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BBE06-321A-48B9-39E2-9A7D3132118E}"/>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FFB80E0F-AF58-0899-7DC4-E535AA7A24A1}"/>
              </a:ext>
            </a:extLst>
          </p:cNvPr>
          <p:cNvSpPr>
            <a:spLocks noGrp="1"/>
          </p:cNvSpPr>
          <p:nvPr>
            <p:ph idx="1"/>
          </p:nvPr>
        </p:nvSpPr>
        <p:spPr>
          <a:xfrm>
            <a:off x="409935" y="1050784"/>
            <a:ext cx="7205712" cy="5357733"/>
          </a:xfrm>
        </p:spPr>
        <p:txBody>
          <a:bodyPr>
            <a:normAutofit fontScale="92500" lnSpcReduction="20000"/>
          </a:bodyPr>
          <a:lstStyle/>
          <a:p>
            <a:r>
              <a:rPr lang="en-US" dirty="0"/>
              <a:t>A: Set of n applications</a:t>
            </a:r>
          </a:p>
          <a:p>
            <a:r>
              <a:rPr lang="en-US" dirty="0"/>
              <a:t>a</a:t>
            </a:r>
            <a:r>
              <a:rPr lang="en-US" baseline="-25000" dirty="0"/>
              <a:t>i</a:t>
            </a:r>
            <a:r>
              <a:rPr lang="en-US" dirty="0"/>
              <a:t>: Individual application, where </a:t>
            </a:r>
            <a:r>
              <a:rPr lang="en-US" dirty="0" err="1"/>
              <a:t>i</a:t>
            </a:r>
            <a:r>
              <a:rPr lang="en-US" dirty="0"/>
              <a:t> = 1, 2, ..., n</a:t>
            </a:r>
          </a:p>
          <a:p>
            <a:r>
              <a:rPr lang="en-US" dirty="0"/>
              <a:t>R</a:t>
            </a:r>
            <a:r>
              <a:rPr lang="en-US" baseline="-25000" dirty="0"/>
              <a:t>i</a:t>
            </a:r>
            <a:r>
              <a:rPr lang="en-US" dirty="0"/>
              <a:t>: Resource requirement vector for application a</a:t>
            </a:r>
            <a:r>
              <a:rPr lang="en-US" baseline="-25000" dirty="0"/>
              <a:t>i</a:t>
            </a:r>
          </a:p>
          <a:p>
            <a:r>
              <a:rPr lang="en-US" dirty="0" err="1"/>
              <a:t>r</a:t>
            </a:r>
            <a:r>
              <a:rPr lang="en-US" baseline="-25000" dirty="0" err="1"/>
              <a:t>i</a:t>
            </a:r>
            <a:r>
              <a:rPr lang="en-US" dirty="0"/>
              <a:t>: Priority of application a</a:t>
            </a:r>
            <a:r>
              <a:rPr lang="en-US" baseline="-25000" dirty="0"/>
              <a:t>i</a:t>
            </a:r>
            <a:r>
              <a:rPr lang="en-US" dirty="0"/>
              <a:t>, ranging from 0 to 1</a:t>
            </a:r>
          </a:p>
          <a:p>
            <a:r>
              <a:rPr lang="en-US" dirty="0" err="1"/>
              <a:t>w</a:t>
            </a:r>
            <a:r>
              <a:rPr lang="en-US" baseline="-25000" dirty="0" err="1"/>
              <a:t>i</a:t>
            </a:r>
            <a:r>
              <a:rPr lang="en-US" dirty="0"/>
              <a:t>(t): Required work status of application a</a:t>
            </a:r>
            <a:r>
              <a:rPr lang="en-US" baseline="-25000" dirty="0"/>
              <a:t>i</a:t>
            </a:r>
            <a:r>
              <a:rPr lang="en-US" dirty="0"/>
              <a:t> at time t</a:t>
            </a:r>
          </a:p>
          <a:p>
            <a:r>
              <a:rPr lang="en-US" dirty="0" err="1"/>
              <a:t>s</a:t>
            </a:r>
            <a:r>
              <a:rPr lang="en-US" baseline="-25000" dirty="0" err="1"/>
              <a:t>i</a:t>
            </a:r>
            <a:r>
              <a:rPr lang="en-US" dirty="0"/>
              <a:t>(t): Actual working status of application a</a:t>
            </a:r>
            <a:r>
              <a:rPr lang="en-US" baseline="-25000" dirty="0"/>
              <a:t>i</a:t>
            </a:r>
            <a:r>
              <a:rPr lang="en-US" dirty="0"/>
              <a:t> at time t</a:t>
            </a:r>
          </a:p>
        </p:txBody>
      </p:sp>
      <p:pic>
        <p:nvPicPr>
          <p:cNvPr id="5" name="Picture 4" descr="A math equations and numbers&#10;&#10;Description automatically generated with medium confidence">
            <a:extLst>
              <a:ext uri="{FF2B5EF4-FFF2-40B4-BE49-F238E27FC236}">
                <a16:creationId xmlns:a16="http://schemas.microsoft.com/office/drawing/2014/main" id="{DF4843CD-C5C6-7AB5-28CF-751DA7E26F4A}"/>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3301970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C9CD-EB6F-8527-0992-D234B6E30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82AE5-D6A3-7341-1E29-057FBEA03E2F}"/>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CC00577B-3174-40D3-A323-5589E4F13B3D}"/>
              </a:ext>
            </a:extLst>
          </p:cNvPr>
          <p:cNvSpPr>
            <a:spLocks noGrp="1"/>
          </p:cNvSpPr>
          <p:nvPr>
            <p:ph idx="1"/>
          </p:nvPr>
        </p:nvSpPr>
        <p:spPr>
          <a:xfrm>
            <a:off x="409935" y="1050784"/>
            <a:ext cx="7205712" cy="5357733"/>
          </a:xfrm>
        </p:spPr>
        <p:txBody>
          <a:bodyPr>
            <a:normAutofit fontScale="85000" lnSpcReduction="10000"/>
          </a:bodyPr>
          <a:lstStyle/>
          <a:p>
            <a:r>
              <a:rPr lang="en-US" b="1" i="1" dirty="0"/>
              <a:t> n Applications:</a:t>
            </a:r>
          </a:p>
          <a:p>
            <a:pPr lvl="1"/>
            <a:r>
              <a:rPr lang="en-US" dirty="0"/>
              <a:t>Represented by the set A = {a1(Ri, </a:t>
            </a:r>
            <a:r>
              <a:rPr lang="en-US" dirty="0" err="1"/>
              <a:t>r</a:t>
            </a:r>
            <a:r>
              <a:rPr lang="en-US" baseline="-25000" dirty="0" err="1"/>
              <a:t>i</a:t>
            </a:r>
            <a:r>
              <a:rPr lang="en-US" dirty="0"/>
              <a:t>, </a:t>
            </a:r>
            <a:r>
              <a:rPr lang="en-US" dirty="0" err="1"/>
              <a:t>w</a:t>
            </a:r>
            <a:r>
              <a:rPr lang="en-US" baseline="-25000" dirty="0" err="1"/>
              <a:t>i</a:t>
            </a:r>
            <a:r>
              <a:rPr lang="en-US" dirty="0"/>
              <a:t>(t), </a:t>
            </a:r>
            <a:r>
              <a:rPr lang="en-US" dirty="0" err="1"/>
              <a:t>s</a:t>
            </a:r>
            <a:r>
              <a:rPr lang="en-US" baseline="-25000" dirty="0" err="1"/>
              <a:t>i</a:t>
            </a:r>
            <a:r>
              <a:rPr lang="en-US" dirty="0"/>
              <a:t>(t)), a2(R2, r</a:t>
            </a:r>
            <a:r>
              <a:rPr lang="en-US" baseline="-25000" dirty="0"/>
              <a:t>2</a:t>
            </a:r>
            <a:r>
              <a:rPr lang="en-US" dirty="0"/>
              <a:t>, w</a:t>
            </a:r>
            <a:r>
              <a:rPr lang="en-US" baseline="-25000" dirty="0"/>
              <a:t>2</a:t>
            </a:r>
            <a:r>
              <a:rPr lang="en-US" dirty="0"/>
              <a:t>(t), s</a:t>
            </a:r>
            <a:r>
              <a:rPr lang="en-US" baseline="-25000" dirty="0"/>
              <a:t>2</a:t>
            </a:r>
            <a:r>
              <a:rPr lang="en-US" dirty="0"/>
              <a:t>(t)), ..., an(Rn, </a:t>
            </a:r>
            <a:r>
              <a:rPr lang="en-US" dirty="0" err="1"/>
              <a:t>r</a:t>
            </a:r>
            <a:r>
              <a:rPr lang="en-US" baseline="-25000" dirty="0" err="1"/>
              <a:t>n</a:t>
            </a:r>
            <a:r>
              <a:rPr lang="en-US" dirty="0"/>
              <a:t>, </a:t>
            </a:r>
            <a:r>
              <a:rPr lang="en-US" dirty="0" err="1"/>
              <a:t>w</a:t>
            </a:r>
            <a:r>
              <a:rPr lang="en-US" baseline="-25000" dirty="0" err="1"/>
              <a:t>n</a:t>
            </a:r>
            <a:r>
              <a:rPr lang="en-US" dirty="0"/>
              <a:t>(t), </a:t>
            </a:r>
            <a:r>
              <a:rPr lang="en-US" dirty="0" err="1"/>
              <a:t>s</a:t>
            </a:r>
            <a:r>
              <a:rPr lang="en-US" baseline="-25000" dirty="0" err="1"/>
              <a:t>n</a:t>
            </a:r>
            <a:r>
              <a:rPr lang="en-US" dirty="0"/>
              <a:t>(t))}</a:t>
            </a:r>
          </a:p>
          <a:p>
            <a:pPr marL="457200" lvl="1" indent="0">
              <a:buNone/>
            </a:pPr>
            <a:endParaRPr lang="en-US" dirty="0"/>
          </a:p>
          <a:p>
            <a:r>
              <a:rPr lang="en-US" b="1" i="1" dirty="0"/>
              <a:t>Each application (ai) is characterized by:</a:t>
            </a:r>
          </a:p>
          <a:p>
            <a:pPr lvl="1"/>
            <a:r>
              <a:rPr lang="en-US" dirty="0"/>
              <a:t>R</a:t>
            </a:r>
            <a:r>
              <a:rPr lang="en-US" baseline="-25000" dirty="0"/>
              <a:t>i</a:t>
            </a:r>
            <a:r>
              <a:rPr lang="en-US" dirty="0"/>
              <a:t>: Resource requirement vector (specifies the resources needed by the application)</a:t>
            </a:r>
          </a:p>
          <a:p>
            <a:pPr lvl="1"/>
            <a:r>
              <a:rPr lang="en-US" dirty="0" err="1"/>
              <a:t>r</a:t>
            </a:r>
            <a:r>
              <a:rPr lang="en-US" baseline="-25000" dirty="0" err="1"/>
              <a:t>i</a:t>
            </a:r>
            <a:r>
              <a:rPr lang="en-US" dirty="0"/>
              <a:t> ∈ [0, 1]: Priority of the application (a value between 0 and 1)</a:t>
            </a:r>
          </a:p>
          <a:p>
            <a:pPr lvl="1"/>
            <a:r>
              <a:rPr lang="en-US" dirty="0" err="1"/>
              <a:t>w</a:t>
            </a:r>
            <a:r>
              <a:rPr lang="en-US" baseline="-25000" dirty="0" err="1"/>
              <a:t>i</a:t>
            </a:r>
            <a:r>
              <a:rPr lang="en-US" dirty="0"/>
              <a:t>(t): Required work status of the application at time 't'</a:t>
            </a:r>
          </a:p>
          <a:p>
            <a:pPr lvl="1"/>
            <a:r>
              <a:rPr lang="en-US" dirty="0" err="1"/>
              <a:t>s</a:t>
            </a:r>
            <a:r>
              <a:rPr lang="en-US" baseline="-25000" dirty="0" err="1"/>
              <a:t>i</a:t>
            </a:r>
            <a:r>
              <a:rPr lang="en-US" dirty="0"/>
              <a:t>(t): Actual working status of the application at time 't'</a:t>
            </a:r>
          </a:p>
        </p:txBody>
      </p:sp>
      <p:pic>
        <p:nvPicPr>
          <p:cNvPr id="5" name="Picture 4" descr="A math equations and numbers&#10;&#10;Description automatically generated with medium confidence">
            <a:extLst>
              <a:ext uri="{FF2B5EF4-FFF2-40B4-BE49-F238E27FC236}">
                <a16:creationId xmlns:a16="http://schemas.microsoft.com/office/drawing/2014/main" id="{FB2A3F1E-1473-AE8A-3F22-4FC8B2CC4D87}"/>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3157686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D19A-2D02-775F-DFAB-F85608CCD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A081F-97FE-199E-1CA6-38C7B76D12E4}"/>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C9FEDA33-47C6-DCCD-6E63-A33A086E788D}"/>
              </a:ext>
            </a:extLst>
          </p:cNvPr>
          <p:cNvSpPr>
            <a:spLocks noGrp="1"/>
          </p:cNvSpPr>
          <p:nvPr>
            <p:ph idx="1"/>
          </p:nvPr>
        </p:nvSpPr>
        <p:spPr>
          <a:xfrm>
            <a:off x="409935" y="1050784"/>
            <a:ext cx="7205712" cy="5357733"/>
          </a:xfrm>
        </p:spPr>
        <p:txBody>
          <a:bodyPr>
            <a:normAutofit/>
          </a:bodyPr>
          <a:lstStyle/>
          <a:p>
            <a:r>
              <a:rPr lang="en-US" b="1" i="1" dirty="0"/>
              <a:t> Objective Function (min.</a:t>
            </a:r>
            <a:r>
              <a:rPr lang="el-GR" b="1" i="1" dirty="0"/>
              <a:t>φ):</a:t>
            </a:r>
          </a:p>
          <a:p>
            <a:pPr lvl="1"/>
            <a:r>
              <a:rPr lang="en-US" dirty="0"/>
              <a:t>The goal is to minimize the value of '</a:t>
            </a:r>
            <a:r>
              <a:rPr lang="el-GR" dirty="0"/>
              <a:t>φ', </a:t>
            </a:r>
            <a:r>
              <a:rPr lang="en-US" dirty="0"/>
              <a:t>which likely represents the </a:t>
            </a:r>
            <a:r>
              <a:rPr lang="en-US" b="1" i="1" dirty="0">
                <a:solidFill>
                  <a:srgbClr val="FF0000"/>
                </a:solidFill>
              </a:rPr>
              <a:t>total waiting time of all tasks</a:t>
            </a:r>
            <a:r>
              <a:rPr lang="en-US" dirty="0">
                <a:solidFill>
                  <a:srgbClr val="FF0000"/>
                </a:solidFill>
              </a:rPr>
              <a:t> </a:t>
            </a:r>
            <a:r>
              <a:rPr lang="en-US" dirty="0"/>
              <a:t>(applications) being processed by the gateway.</a:t>
            </a:r>
          </a:p>
          <a:p>
            <a:pPr lvl="1"/>
            <a:r>
              <a:rPr lang="en-US" dirty="0"/>
              <a:t>The </a:t>
            </a:r>
            <a:r>
              <a:rPr lang="en-US" b="1" i="1" dirty="0"/>
              <a:t>integral within the summation</a:t>
            </a:r>
            <a:r>
              <a:rPr lang="en-US" dirty="0"/>
              <a:t> calculates the </a:t>
            </a:r>
            <a:r>
              <a:rPr lang="en-US" i="1" dirty="0"/>
              <a:t>waiting time for each application over the evaluation time 'T</a:t>
            </a:r>
            <a:r>
              <a:rPr lang="en-US" dirty="0"/>
              <a:t>'.</a:t>
            </a:r>
          </a:p>
        </p:txBody>
      </p:sp>
      <p:pic>
        <p:nvPicPr>
          <p:cNvPr id="5" name="Picture 4" descr="A math equations and numbers&#10;&#10;Description automatically generated with medium confidence">
            <a:extLst>
              <a:ext uri="{FF2B5EF4-FFF2-40B4-BE49-F238E27FC236}">
                <a16:creationId xmlns:a16="http://schemas.microsoft.com/office/drawing/2014/main" id="{4CA67BE4-4EA8-84F7-A336-00A486184D46}"/>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3137364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2B930-7E9C-3374-AB69-590A0CCA0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8831E-F5A4-8190-C021-C9C094991F7A}"/>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011913CD-EC7A-F6E4-92F2-52BC29603A72}"/>
              </a:ext>
            </a:extLst>
          </p:cNvPr>
          <p:cNvSpPr>
            <a:spLocks noGrp="1"/>
          </p:cNvSpPr>
          <p:nvPr>
            <p:ph idx="1"/>
          </p:nvPr>
        </p:nvSpPr>
        <p:spPr>
          <a:xfrm>
            <a:off x="409935" y="1050784"/>
            <a:ext cx="7205712" cy="5357733"/>
          </a:xfrm>
        </p:spPr>
        <p:txBody>
          <a:bodyPr>
            <a:normAutofit fontScale="70000" lnSpcReduction="20000"/>
          </a:bodyPr>
          <a:lstStyle/>
          <a:p>
            <a:r>
              <a:rPr lang="en-US" b="1" i="1" dirty="0"/>
              <a:t>Constraints:</a:t>
            </a:r>
            <a:endParaRPr lang="en-US" dirty="0"/>
          </a:p>
          <a:p>
            <a:pPr lvl="1"/>
            <a:r>
              <a:rPr lang="en-US" dirty="0"/>
              <a:t>The equations below "</a:t>
            </a:r>
            <a:r>
              <a:rPr lang="en-US" dirty="0" err="1"/>
              <a:t>s.t.</a:t>
            </a:r>
            <a:r>
              <a:rPr lang="en-US" dirty="0"/>
              <a:t>" represent constraints that must be satisfied during the scheduling process.</a:t>
            </a:r>
          </a:p>
          <a:p>
            <a:pPr lvl="1"/>
            <a:r>
              <a:rPr lang="en-US" b="1" dirty="0"/>
              <a:t>Constraint 1</a:t>
            </a:r>
            <a:r>
              <a:rPr lang="en-US" dirty="0"/>
              <a:t>: Limits the total CPU utilization (u</a:t>
            </a:r>
            <a:r>
              <a:rPr lang="en-US" baseline="-25000" dirty="0"/>
              <a:t>c</a:t>
            </a:r>
            <a:r>
              <a:rPr lang="en-US" dirty="0"/>
              <a:t>) to a certain threshold (</a:t>
            </a:r>
            <a:r>
              <a:rPr lang="el-GR" dirty="0"/>
              <a:t>α</a:t>
            </a:r>
            <a:r>
              <a:rPr lang="en-US" baseline="-25000" dirty="0"/>
              <a:t>c</a:t>
            </a:r>
            <a:r>
              <a:rPr lang="en-US" dirty="0"/>
              <a:t>).</a:t>
            </a:r>
          </a:p>
          <a:p>
            <a:pPr lvl="1"/>
            <a:r>
              <a:rPr lang="en-US" b="1" dirty="0"/>
              <a:t>Constraint 2</a:t>
            </a:r>
            <a:r>
              <a:rPr lang="en-US" dirty="0"/>
              <a:t>: Limits the total memory consumption (c</a:t>
            </a:r>
            <a:r>
              <a:rPr lang="en-US" baseline="-25000" dirty="0"/>
              <a:t>m</a:t>
            </a:r>
            <a:r>
              <a:rPr lang="en-US" dirty="0"/>
              <a:t>) to a certain threshold (</a:t>
            </a:r>
            <a:r>
              <a:rPr lang="el-GR" dirty="0"/>
              <a:t>α</a:t>
            </a:r>
            <a:r>
              <a:rPr lang="en-US" baseline="-25000" dirty="0"/>
              <a:t>m</a:t>
            </a:r>
            <a:r>
              <a:rPr lang="en-US" dirty="0"/>
              <a:t>).</a:t>
            </a:r>
          </a:p>
          <a:p>
            <a:pPr lvl="1"/>
            <a:r>
              <a:rPr lang="en-US" b="1" dirty="0"/>
              <a:t>Constraint 3</a:t>
            </a:r>
            <a:r>
              <a:rPr lang="en-US" dirty="0"/>
              <a:t>: Limits the input bandwidth usage (b</a:t>
            </a:r>
            <a:r>
              <a:rPr lang="en-US" baseline="-25000" dirty="0"/>
              <a:t>l</a:t>
            </a:r>
            <a:r>
              <a:rPr lang="en-US" dirty="0"/>
              <a:t>) to a certain threshold (</a:t>
            </a:r>
            <a:r>
              <a:rPr lang="el-GR" dirty="0"/>
              <a:t>α</a:t>
            </a:r>
            <a:r>
              <a:rPr lang="en-US" baseline="-25000" dirty="0"/>
              <a:t>l</a:t>
            </a:r>
            <a:r>
              <a:rPr lang="en-US" dirty="0"/>
              <a:t>).</a:t>
            </a:r>
          </a:p>
          <a:p>
            <a:pPr lvl="1"/>
            <a:r>
              <a:rPr lang="en-US" b="1" dirty="0"/>
              <a:t>Constraint 4</a:t>
            </a:r>
            <a:r>
              <a:rPr lang="en-US" dirty="0"/>
              <a:t>: Limits the output bandwidth usage (</a:t>
            </a:r>
            <a:r>
              <a:rPr lang="en-US" dirty="0" err="1"/>
              <a:t>b</a:t>
            </a:r>
            <a:r>
              <a:rPr lang="en-US" baseline="-25000" dirty="0" err="1"/>
              <a:t>o</a:t>
            </a:r>
            <a:r>
              <a:rPr lang="en-US" dirty="0"/>
              <a:t>) to a certain threshold (</a:t>
            </a:r>
            <a:r>
              <a:rPr lang="el-GR" dirty="0"/>
              <a:t>α</a:t>
            </a:r>
            <a:r>
              <a:rPr lang="en-US" baseline="-25000" dirty="0"/>
              <a:t>o</a:t>
            </a:r>
            <a:r>
              <a:rPr lang="en-US" dirty="0"/>
              <a:t>).</a:t>
            </a:r>
          </a:p>
          <a:p>
            <a:pPr lvl="1"/>
            <a:r>
              <a:rPr lang="el-GR" b="1" dirty="0"/>
              <a:t>α</a:t>
            </a:r>
            <a:r>
              <a:rPr lang="en-US" b="1" baseline="-25000" dirty="0"/>
              <a:t>c</a:t>
            </a:r>
            <a:r>
              <a:rPr lang="en-US" b="1" dirty="0"/>
              <a:t>, </a:t>
            </a:r>
            <a:r>
              <a:rPr lang="el-GR" b="1" dirty="0"/>
              <a:t>α</a:t>
            </a:r>
            <a:r>
              <a:rPr lang="en-US" b="1" baseline="-25000" dirty="0"/>
              <a:t>m</a:t>
            </a:r>
            <a:r>
              <a:rPr lang="en-US" b="1" dirty="0"/>
              <a:t>, </a:t>
            </a:r>
            <a:r>
              <a:rPr lang="el-GR" b="1" dirty="0"/>
              <a:t>α</a:t>
            </a:r>
            <a:r>
              <a:rPr lang="en-US" b="1" baseline="-25000" dirty="0"/>
              <a:t>l</a:t>
            </a:r>
            <a:r>
              <a:rPr lang="en-US" b="1" dirty="0"/>
              <a:t>, </a:t>
            </a:r>
            <a:r>
              <a:rPr lang="el-GR" b="1" dirty="0"/>
              <a:t>α</a:t>
            </a:r>
            <a:r>
              <a:rPr lang="en-US" b="1" baseline="-25000" dirty="0"/>
              <a:t>o</a:t>
            </a:r>
            <a:r>
              <a:rPr lang="en-US" dirty="0"/>
              <a:t>: These are overloading factors that indicate the extent to which the system can tolerate resource usage exceeding the ideal limits while still maintaining smooth operation.</a:t>
            </a:r>
          </a:p>
        </p:txBody>
      </p:sp>
      <p:pic>
        <p:nvPicPr>
          <p:cNvPr id="5" name="Picture 4" descr="A math equations and numbers&#10;&#10;Description automatically generated with medium confidence">
            <a:extLst>
              <a:ext uri="{FF2B5EF4-FFF2-40B4-BE49-F238E27FC236}">
                <a16:creationId xmlns:a16="http://schemas.microsoft.com/office/drawing/2014/main" id="{067C5258-17BD-5596-93EC-F94C8554B382}"/>
              </a:ext>
            </a:extLst>
          </p:cNvPr>
          <p:cNvPicPr>
            <a:picLocks noChangeAspect="1"/>
          </p:cNvPicPr>
          <p:nvPr/>
        </p:nvPicPr>
        <p:blipFill>
          <a:blip r:embed="rId2"/>
          <a:stretch>
            <a:fillRect/>
          </a:stretch>
        </p:blipFill>
        <p:spPr>
          <a:xfrm>
            <a:off x="7615647" y="1239925"/>
            <a:ext cx="4178944" cy="4352024"/>
          </a:xfrm>
          <a:prstGeom prst="rect">
            <a:avLst/>
          </a:prstGeom>
        </p:spPr>
      </p:pic>
    </p:spTree>
    <p:extLst>
      <p:ext uri="{BB962C8B-B14F-4D97-AF65-F5344CB8AC3E}">
        <p14:creationId xmlns:p14="http://schemas.microsoft.com/office/powerpoint/2010/main" val="1938470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634A-ED6B-2514-34CE-7C5B68A08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242E7-EFB9-C0DD-BA28-74D2241481E5}"/>
              </a:ext>
            </a:extLst>
          </p:cNvPr>
          <p:cNvSpPr>
            <a:spLocks noGrp="1"/>
          </p:cNvSpPr>
          <p:nvPr>
            <p:ph type="title"/>
          </p:nvPr>
        </p:nvSpPr>
        <p:spPr/>
        <p:txBody>
          <a:bodyPr>
            <a:noAutofit/>
          </a:bodyPr>
          <a:lstStyle/>
          <a:p>
            <a:r>
              <a:rPr lang="en-US" sz="2800" dirty="0"/>
              <a:t>Cloud-to-Fog-to-Internet of Things (C2F2T) – Analytical Model 1</a:t>
            </a:r>
          </a:p>
        </p:txBody>
      </p:sp>
      <p:sp>
        <p:nvSpPr>
          <p:cNvPr id="4" name="Content Placeholder 3">
            <a:extLst>
              <a:ext uri="{FF2B5EF4-FFF2-40B4-BE49-F238E27FC236}">
                <a16:creationId xmlns:a16="http://schemas.microsoft.com/office/drawing/2014/main" id="{9C4B3FCF-FFD9-BA65-CDFE-BFD1B86D7CD2}"/>
              </a:ext>
            </a:extLst>
          </p:cNvPr>
          <p:cNvSpPr>
            <a:spLocks noGrp="1"/>
          </p:cNvSpPr>
          <p:nvPr>
            <p:ph idx="1"/>
          </p:nvPr>
        </p:nvSpPr>
        <p:spPr>
          <a:xfrm>
            <a:off x="409935" y="1050784"/>
            <a:ext cx="7205712" cy="5357733"/>
          </a:xfrm>
        </p:spPr>
        <p:txBody>
          <a:bodyPr>
            <a:normAutofit fontScale="92500" lnSpcReduction="10000"/>
          </a:bodyPr>
          <a:lstStyle/>
          <a:p>
            <a:r>
              <a:rPr lang="en-US" dirty="0"/>
              <a:t>Equation formulates </a:t>
            </a:r>
            <a:r>
              <a:rPr lang="en-US" b="1" i="1" dirty="0"/>
              <a:t>an optimization problem</a:t>
            </a:r>
            <a:r>
              <a:rPr lang="en-US" dirty="0"/>
              <a:t> where the objective is to </a:t>
            </a:r>
            <a:r>
              <a:rPr lang="en-US" b="1" i="1" dirty="0"/>
              <a:t>minimize the total waiting time of sensor applications</a:t>
            </a:r>
            <a:r>
              <a:rPr lang="en-US" dirty="0"/>
              <a:t> while </a:t>
            </a:r>
            <a:r>
              <a:rPr lang="en-US" b="1" i="1" dirty="0"/>
              <a:t>ensuring that the gateway's resources</a:t>
            </a:r>
            <a:r>
              <a:rPr lang="en-US" dirty="0"/>
              <a:t> (CPU, memory, bandwidth) are </a:t>
            </a:r>
            <a:r>
              <a:rPr lang="en-US" b="1" i="1" dirty="0"/>
              <a:t>not overloaded</a:t>
            </a:r>
            <a:r>
              <a:rPr lang="en-US" dirty="0"/>
              <a:t>. </a:t>
            </a:r>
          </a:p>
          <a:p>
            <a:r>
              <a:rPr lang="en-US" dirty="0"/>
              <a:t>The model considers factors like application </a:t>
            </a:r>
          </a:p>
          <a:p>
            <a:pPr lvl="1"/>
            <a:r>
              <a:rPr lang="en-US" b="1" i="1" dirty="0"/>
              <a:t>priorities, </a:t>
            </a:r>
          </a:p>
          <a:p>
            <a:pPr lvl="1"/>
            <a:r>
              <a:rPr lang="en-US" b="1" i="1" dirty="0"/>
              <a:t>resource requirements, and </a:t>
            </a:r>
          </a:p>
          <a:p>
            <a:pPr lvl="1"/>
            <a:r>
              <a:rPr lang="en-US" b="1" i="1" dirty="0"/>
              <a:t>desired work status to schedule applications efficiently.</a:t>
            </a:r>
          </a:p>
        </p:txBody>
      </p:sp>
      <p:pic>
        <p:nvPicPr>
          <p:cNvPr id="5" name="Picture 4" descr="A math equations and numbers&#10;&#10;Description automatically generated with medium confidence">
            <a:extLst>
              <a:ext uri="{FF2B5EF4-FFF2-40B4-BE49-F238E27FC236}">
                <a16:creationId xmlns:a16="http://schemas.microsoft.com/office/drawing/2014/main" id="{616282EF-A581-A614-7BC2-73A98D9C7694}"/>
              </a:ext>
            </a:extLst>
          </p:cNvPr>
          <p:cNvPicPr>
            <a:picLocks noChangeAspect="1"/>
          </p:cNvPicPr>
          <p:nvPr/>
        </p:nvPicPr>
        <p:blipFill>
          <a:blip r:embed="rId2"/>
          <a:stretch>
            <a:fillRect/>
          </a:stretch>
        </p:blipFill>
        <p:spPr>
          <a:xfrm>
            <a:off x="7615647" y="1252988"/>
            <a:ext cx="4178944" cy="4352024"/>
          </a:xfrm>
          <a:prstGeom prst="rect">
            <a:avLst/>
          </a:prstGeom>
        </p:spPr>
      </p:pic>
    </p:spTree>
    <p:extLst>
      <p:ext uri="{BB962C8B-B14F-4D97-AF65-F5344CB8AC3E}">
        <p14:creationId xmlns:p14="http://schemas.microsoft.com/office/powerpoint/2010/main" val="1015137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CA33-0D47-618A-C005-002C9513A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7CCEB-16F8-CCAE-17AB-CEE1C4C3F910}"/>
              </a:ext>
            </a:extLst>
          </p:cNvPr>
          <p:cNvSpPr>
            <a:spLocks noGrp="1"/>
          </p:cNvSpPr>
          <p:nvPr>
            <p:ph type="title"/>
          </p:nvPr>
        </p:nvSpPr>
        <p:spPr/>
        <p:txBody>
          <a:bodyPr>
            <a:noAutofit/>
          </a:bodyPr>
          <a:lstStyle/>
          <a:p>
            <a:r>
              <a:rPr lang="en-US" sz="2800" dirty="0"/>
              <a:t>Cloud-to-Fog-to-Internet of Things (C2F2T) – Analytical Model 2</a:t>
            </a:r>
          </a:p>
        </p:txBody>
      </p:sp>
      <p:pic>
        <p:nvPicPr>
          <p:cNvPr id="10" name="Content Placeholder 6" descr="A diagram of a computer network&#10;&#10;Description automatically generated">
            <a:extLst>
              <a:ext uri="{FF2B5EF4-FFF2-40B4-BE49-F238E27FC236}">
                <a16:creationId xmlns:a16="http://schemas.microsoft.com/office/drawing/2014/main" id="{D50E12C7-4D15-A2A7-E8CB-EC8976DCBB73}"/>
              </a:ext>
            </a:extLst>
          </p:cNvPr>
          <p:cNvPicPr>
            <a:picLocks noGrp="1" noChangeAspect="1"/>
          </p:cNvPicPr>
          <p:nvPr>
            <p:ph idx="1"/>
          </p:nvPr>
        </p:nvPicPr>
        <p:blipFill>
          <a:blip r:embed="rId2"/>
          <a:stretch>
            <a:fillRect/>
          </a:stretch>
        </p:blipFill>
        <p:spPr>
          <a:xfrm>
            <a:off x="409935" y="1345531"/>
            <a:ext cx="7148740" cy="4558882"/>
          </a:xfrm>
          <a:prstGeom prst="rect">
            <a:avLst/>
          </a:prstGeom>
        </p:spPr>
      </p:pic>
      <p:sp>
        <p:nvSpPr>
          <p:cNvPr id="11" name="Content Placeholder 3">
            <a:extLst>
              <a:ext uri="{FF2B5EF4-FFF2-40B4-BE49-F238E27FC236}">
                <a16:creationId xmlns:a16="http://schemas.microsoft.com/office/drawing/2014/main" id="{90281CD0-82F4-E7DA-AB34-7482EA14317D}"/>
              </a:ext>
            </a:extLst>
          </p:cNvPr>
          <p:cNvSpPr txBox="1">
            <a:spLocks/>
          </p:cNvSpPr>
          <p:nvPr/>
        </p:nvSpPr>
        <p:spPr>
          <a:xfrm>
            <a:off x="7558675" y="1050784"/>
            <a:ext cx="4235926" cy="5357733"/>
          </a:xfrm>
          <a:prstGeom prst="rect">
            <a:avLst/>
          </a:prstGeom>
        </p:spPr>
        <p:txBody>
          <a:bodyPr vert="horz" lIns="91440" tIns="45720" rIns="91440" bIns="45720" rtlCol="0">
            <a:normAutofit fontScale="92500"/>
          </a:bodyPr>
          <a:lstStyle>
            <a:lvl1pPr marL="228600" indent="-228600" algn="just" defTabSz="914400" rtl="0" eaLnBrk="1" latinLnBrk="0" hangingPunct="1">
              <a:lnSpc>
                <a:spcPct val="150000"/>
              </a:lnSpc>
              <a:spcBef>
                <a:spcPts val="0"/>
              </a:spcBef>
              <a:buFont typeface="Wingdings" pitchFamily="2" charset="2"/>
              <a:buChar char="Ø"/>
              <a:defRPr sz="2800" kern="1200">
                <a:solidFill>
                  <a:schemeClr val="tx1"/>
                </a:solidFill>
                <a:latin typeface="Book Antiqua" panose="02040602050305030304" pitchFamily="18" charset="0"/>
                <a:ea typeface="+mn-ea"/>
                <a:cs typeface="+mn-cs"/>
              </a:defRPr>
            </a:lvl1pPr>
            <a:lvl2pPr marL="685800" indent="-228600" algn="just" defTabSz="914400" rtl="0" eaLnBrk="1" latinLnBrk="0" hangingPunct="1">
              <a:lnSpc>
                <a:spcPct val="150000"/>
              </a:lnSpc>
              <a:spcBef>
                <a:spcPts val="0"/>
              </a:spcBef>
              <a:buFont typeface="Wingdings" pitchFamily="2" charset="2"/>
              <a:buChar char="Ø"/>
              <a:defRPr sz="2400" kern="1200">
                <a:solidFill>
                  <a:schemeClr val="tx1"/>
                </a:solidFill>
                <a:latin typeface="Book Antiqua" panose="02040602050305030304" pitchFamily="18" charset="0"/>
                <a:ea typeface="+mn-ea"/>
                <a:cs typeface="+mn-cs"/>
              </a:defRPr>
            </a:lvl2pPr>
            <a:lvl3pPr marL="1143000" indent="-228600" algn="just" defTabSz="914400" rtl="0" eaLnBrk="1" latinLnBrk="0" hangingPunct="1">
              <a:lnSpc>
                <a:spcPct val="150000"/>
              </a:lnSpc>
              <a:spcBef>
                <a:spcPts val="0"/>
              </a:spcBef>
              <a:buFont typeface="Wingdings" pitchFamily="2" charset="2"/>
              <a:buChar char="Ø"/>
              <a:defRPr sz="2000" kern="1200">
                <a:solidFill>
                  <a:schemeClr val="tx1"/>
                </a:solidFill>
                <a:latin typeface="Book Antiqua" panose="02040602050305030304" pitchFamily="18" charset="0"/>
                <a:ea typeface="+mn-ea"/>
                <a:cs typeface="+mn-cs"/>
              </a:defRPr>
            </a:lvl3pPr>
            <a:lvl4pPr marL="16002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4pPr>
            <a:lvl5pPr marL="20574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Functions of Aggregator</a:t>
            </a:r>
          </a:p>
          <a:p>
            <a:r>
              <a:rPr lang="en-US" dirty="0"/>
              <a:t>Data Collection</a:t>
            </a:r>
          </a:p>
          <a:p>
            <a:r>
              <a:rPr lang="en-US" dirty="0"/>
              <a:t>Data Processing and Analysis</a:t>
            </a:r>
          </a:p>
          <a:p>
            <a:r>
              <a:rPr lang="en-US" dirty="0"/>
              <a:t>Command and Control</a:t>
            </a:r>
          </a:p>
          <a:p>
            <a:r>
              <a:rPr lang="en-US" dirty="0"/>
              <a:t>Data Storage and Management</a:t>
            </a:r>
          </a:p>
          <a:p>
            <a:r>
              <a:rPr lang="en-US" dirty="0"/>
              <a:t>Communication Gateway</a:t>
            </a:r>
          </a:p>
        </p:txBody>
      </p:sp>
    </p:spTree>
    <p:extLst>
      <p:ext uri="{BB962C8B-B14F-4D97-AF65-F5344CB8AC3E}">
        <p14:creationId xmlns:p14="http://schemas.microsoft.com/office/powerpoint/2010/main" val="557808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4FD9F-CDA8-2D1B-E0BE-957469240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1A21A-D0FC-9EB4-535E-F0CD56AA4402}"/>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6C2843E2-2681-1A8E-3107-CAEF011BC7AE}"/>
              </a:ext>
            </a:extLst>
          </p:cNvPr>
          <p:cNvSpPr>
            <a:spLocks noGrp="1"/>
          </p:cNvSpPr>
          <p:nvPr>
            <p:ph idx="1"/>
          </p:nvPr>
        </p:nvSpPr>
        <p:spPr>
          <a:xfrm>
            <a:off x="409934" y="1050784"/>
            <a:ext cx="11384667" cy="5357733"/>
          </a:xfrm>
        </p:spPr>
        <p:txBody>
          <a:bodyPr>
            <a:normAutofit/>
          </a:bodyPr>
          <a:lstStyle/>
          <a:p>
            <a:r>
              <a:rPr lang="en-US" dirty="0"/>
              <a:t> Analytic expressions for representing the </a:t>
            </a:r>
            <a:r>
              <a:rPr lang="en-US" b="1" i="1" dirty="0"/>
              <a:t>expected energy consumption of devices</a:t>
            </a:r>
            <a:r>
              <a:rPr lang="en-US" dirty="0"/>
              <a:t> and </a:t>
            </a:r>
            <a:r>
              <a:rPr lang="en-US" b="1" i="1" dirty="0"/>
              <a:t>a cloud billing</a:t>
            </a:r>
            <a:r>
              <a:rPr lang="en-US" dirty="0"/>
              <a:t> method for a group of devices on an IoT aggregator.</a:t>
            </a:r>
          </a:p>
          <a:p>
            <a:endParaRPr lang="en-US" dirty="0"/>
          </a:p>
          <a:p>
            <a:pPr marL="0" indent="0">
              <a:buNone/>
            </a:pPr>
            <a:r>
              <a:rPr lang="en-US" dirty="0"/>
              <a:t> </a:t>
            </a:r>
          </a:p>
          <a:p>
            <a:r>
              <a:rPr lang="en-US" dirty="0"/>
              <a:t>Computes the energy consumption of each device over the monitoring period, T</a:t>
            </a:r>
          </a:p>
          <a:p>
            <a:endParaRPr lang="en-US" dirty="0"/>
          </a:p>
        </p:txBody>
      </p:sp>
      <p:pic>
        <p:nvPicPr>
          <p:cNvPr id="6" name="Picture 5">
            <a:extLst>
              <a:ext uri="{FF2B5EF4-FFF2-40B4-BE49-F238E27FC236}">
                <a16:creationId xmlns:a16="http://schemas.microsoft.com/office/drawing/2014/main" id="{CBBBE1E0-19FC-19D3-B6FE-BE44992691C5}"/>
              </a:ext>
            </a:extLst>
          </p:cNvPr>
          <p:cNvPicPr>
            <a:picLocks noChangeAspect="1"/>
          </p:cNvPicPr>
          <p:nvPr/>
        </p:nvPicPr>
        <p:blipFill>
          <a:blip r:embed="rId2"/>
          <a:stretch>
            <a:fillRect/>
          </a:stretch>
        </p:blipFill>
        <p:spPr>
          <a:xfrm>
            <a:off x="2567359" y="3143613"/>
            <a:ext cx="7057282" cy="984250"/>
          </a:xfrm>
          <a:prstGeom prst="rect">
            <a:avLst/>
          </a:prstGeom>
        </p:spPr>
      </p:pic>
    </p:spTree>
    <p:extLst>
      <p:ext uri="{BB962C8B-B14F-4D97-AF65-F5344CB8AC3E}">
        <p14:creationId xmlns:p14="http://schemas.microsoft.com/office/powerpoint/2010/main" val="4170904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BAB6-D50D-4CEC-4D71-9E69DD3BC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87C6A-F993-26D3-DFB7-2C019A46510B}"/>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7703A18D-3DA3-7427-01A8-FBB015E5B53A}"/>
              </a:ext>
            </a:extLst>
          </p:cNvPr>
          <p:cNvSpPr>
            <a:spLocks noGrp="1"/>
          </p:cNvSpPr>
          <p:nvPr>
            <p:ph idx="1"/>
          </p:nvPr>
        </p:nvSpPr>
        <p:spPr>
          <a:xfrm>
            <a:off x="409934" y="1050784"/>
            <a:ext cx="11384667" cy="5357733"/>
          </a:xfrm>
        </p:spPr>
        <p:txBody>
          <a:bodyPr>
            <a:normAutofit fontScale="85000" lnSpcReduction="10000"/>
          </a:bodyPr>
          <a:lstStyle/>
          <a:p>
            <a:r>
              <a:rPr lang="en-US" dirty="0"/>
              <a:t> </a:t>
            </a:r>
            <a:r>
              <a:rPr lang="en-US" b="1" i="1" dirty="0"/>
              <a:t>expected energy consumption of devices </a:t>
            </a:r>
            <a:r>
              <a:rPr lang="en-US" i="1" dirty="0"/>
              <a:t>t</a:t>
            </a:r>
            <a:r>
              <a:rPr lang="en-US" dirty="0"/>
              <a:t>akes into account:</a:t>
            </a:r>
          </a:p>
          <a:p>
            <a:pPr lvl="1"/>
            <a:r>
              <a:rPr lang="en-US" dirty="0"/>
              <a:t> Query data volume of devices (E[</a:t>
            </a:r>
            <a:r>
              <a:rPr lang="el-GR" dirty="0"/>
              <a:t>Ψ</a:t>
            </a:r>
            <a:r>
              <a:rPr lang="en-US" baseline="-25000" dirty="0"/>
              <a:t>e</a:t>
            </a:r>
            <a:r>
              <a:rPr lang="en-US" dirty="0"/>
              <a:t>]) - it's the average amount of data that devices send or receive in a given time period.</a:t>
            </a:r>
          </a:p>
          <a:p>
            <a:pPr lvl="1"/>
            <a:r>
              <a:rPr lang="en-US" dirty="0"/>
              <a:t> Consumption rate (</a:t>
            </a:r>
            <a:r>
              <a:rPr lang="en-US" dirty="0" err="1"/>
              <a:t>lg</a:t>
            </a:r>
            <a:r>
              <a:rPr lang="en-US" baseline="-25000" dirty="0" err="1"/>
              <a:t>e</a:t>
            </a:r>
            <a:r>
              <a:rPr lang="en-US" dirty="0"/>
              <a:t>, joule-per-bit) - It represents the amount of energy consumed by a device to process or transmit one bit of data.</a:t>
            </a:r>
          </a:p>
          <a:p>
            <a:pPr lvl="1"/>
            <a:r>
              <a:rPr lang="en-US" dirty="0"/>
              <a:t> "Idle" energy consumption by each device (</a:t>
            </a:r>
            <a:r>
              <a:rPr lang="en-US" dirty="0" err="1"/>
              <a:t>i</a:t>
            </a:r>
            <a:r>
              <a:rPr lang="en-US" baseline="-25000" dirty="0" err="1"/>
              <a:t>e</a:t>
            </a:r>
            <a:r>
              <a:rPr lang="en-US" dirty="0"/>
              <a:t>) - Idle mode refers to the state when a device is not actively processing or transmitting data but is still powered on.</a:t>
            </a:r>
          </a:p>
          <a:p>
            <a:pPr lvl="1"/>
            <a:r>
              <a:rPr lang="en-US" dirty="0"/>
              <a:t> Threshold for activating "idle" mode (</a:t>
            </a:r>
            <a:r>
              <a:rPr lang="en-US" dirty="0" err="1"/>
              <a:t>c</a:t>
            </a:r>
            <a:r>
              <a:rPr lang="en-US" baseline="-25000" dirty="0" err="1"/>
              <a:t>e</a:t>
            </a:r>
            <a:r>
              <a:rPr lang="en-US" dirty="0" err="1"/>
              <a:t>E</a:t>
            </a:r>
            <a:r>
              <a:rPr lang="en-US" dirty="0"/>
              <a:t>[</a:t>
            </a:r>
            <a:r>
              <a:rPr lang="el-GR" dirty="0"/>
              <a:t>Ψ</a:t>
            </a:r>
            <a:r>
              <a:rPr lang="en-US" baseline="-25000" dirty="0"/>
              <a:t>e</a:t>
            </a:r>
            <a:r>
              <a:rPr lang="en-US" dirty="0"/>
              <a:t>]) - This threshold determines when a device should switch to idle mode based on its expected query data volume.</a:t>
            </a:r>
          </a:p>
          <a:p>
            <a:pPr lvl="1"/>
            <a:r>
              <a:rPr lang="en-US" dirty="0"/>
              <a:t> Probability density function of </a:t>
            </a:r>
            <a:r>
              <a:rPr lang="el-GR" dirty="0"/>
              <a:t>Ψ</a:t>
            </a:r>
            <a:r>
              <a:rPr lang="en-US" baseline="-25000" dirty="0"/>
              <a:t>e</a:t>
            </a:r>
            <a:r>
              <a:rPr lang="en-US" dirty="0"/>
              <a:t> (P</a:t>
            </a:r>
            <a:r>
              <a:rPr lang="en-US" baseline="-25000" dirty="0"/>
              <a:t>e</a:t>
            </a:r>
            <a:r>
              <a:rPr lang="en-US" dirty="0"/>
              <a:t>(</a:t>
            </a:r>
            <a:r>
              <a:rPr lang="el-GR" dirty="0"/>
              <a:t>ω</a:t>
            </a:r>
            <a:r>
              <a:rPr lang="en-US" baseline="-25000" dirty="0"/>
              <a:t>e</a:t>
            </a:r>
            <a:r>
              <a:rPr lang="en-US" dirty="0"/>
              <a:t>)) - the probability distribution of the query data volume of devices, which can be used to model and analyze the behavior of the devices.</a:t>
            </a:r>
          </a:p>
        </p:txBody>
      </p:sp>
    </p:spTree>
    <p:extLst>
      <p:ext uri="{BB962C8B-B14F-4D97-AF65-F5344CB8AC3E}">
        <p14:creationId xmlns:p14="http://schemas.microsoft.com/office/powerpoint/2010/main" val="216551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64C64-E6AA-98C2-48F2-1DCBC60DF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D57E9-2D47-D74A-2986-DB993E51184E}"/>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5735AF77-B6F3-13C0-863E-430FEA2B45BE}"/>
              </a:ext>
            </a:extLst>
          </p:cNvPr>
          <p:cNvSpPr>
            <a:spLocks noGrp="1"/>
          </p:cNvSpPr>
          <p:nvPr>
            <p:ph idx="1"/>
          </p:nvPr>
        </p:nvSpPr>
        <p:spPr>
          <a:xfrm>
            <a:off x="409934" y="1050784"/>
            <a:ext cx="11384667" cy="5357733"/>
          </a:xfrm>
        </p:spPr>
        <p:txBody>
          <a:bodyPr>
            <a:normAutofit/>
          </a:bodyPr>
          <a:lstStyle/>
          <a:p>
            <a:r>
              <a:rPr lang="en-US" dirty="0"/>
              <a:t> Cloud Billing Cost Model</a:t>
            </a:r>
          </a:p>
          <a:p>
            <a:endParaRPr lang="en-US" dirty="0"/>
          </a:p>
          <a:p>
            <a:endParaRPr lang="en-US" dirty="0"/>
          </a:p>
          <a:p>
            <a:r>
              <a:rPr lang="en-US" dirty="0"/>
              <a:t> Calculates the expected cloud billing cost for n aggregated query volumes from n devices</a:t>
            </a:r>
          </a:p>
          <a:p>
            <a:endParaRPr lang="en-US" dirty="0"/>
          </a:p>
          <a:p>
            <a:endParaRPr lang="en-US" dirty="0"/>
          </a:p>
        </p:txBody>
      </p:sp>
      <p:pic>
        <p:nvPicPr>
          <p:cNvPr id="5" name="Picture 4" descr="A group of math equations&#10;&#10;Description automatically generated">
            <a:extLst>
              <a:ext uri="{FF2B5EF4-FFF2-40B4-BE49-F238E27FC236}">
                <a16:creationId xmlns:a16="http://schemas.microsoft.com/office/drawing/2014/main" id="{F7D49EF7-D05D-C3B2-DBF7-9320CFDD3131}"/>
              </a:ext>
            </a:extLst>
          </p:cNvPr>
          <p:cNvPicPr>
            <a:picLocks noChangeAspect="1"/>
          </p:cNvPicPr>
          <p:nvPr/>
        </p:nvPicPr>
        <p:blipFill>
          <a:blip r:embed="rId2"/>
          <a:stretch>
            <a:fillRect/>
          </a:stretch>
        </p:blipFill>
        <p:spPr>
          <a:xfrm>
            <a:off x="5024483" y="1070378"/>
            <a:ext cx="5987506" cy="1905116"/>
          </a:xfrm>
          <a:prstGeom prst="rect">
            <a:avLst/>
          </a:prstGeom>
        </p:spPr>
      </p:pic>
    </p:spTree>
    <p:extLst>
      <p:ext uri="{BB962C8B-B14F-4D97-AF65-F5344CB8AC3E}">
        <p14:creationId xmlns:p14="http://schemas.microsoft.com/office/powerpoint/2010/main" val="3927853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C51AE-7176-1219-56CF-01B3E722D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FAC43-00FE-8F5D-5344-87D393834FD7}"/>
              </a:ext>
            </a:extLst>
          </p:cNvPr>
          <p:cNvSpPr>
            <a:spLocks noGrp="1"/>
          </p:cNvSpPr>
          <p:nvPr>
            <p:ph type="title"/>
          </p:nvPr>
        </p:nvSpPr>
        <p:spPr/>
        <p:txBody>
          <a:bodyPr>
            <a:noAutofit/>
          </a:bodyPr>
          <a:lstStyle/>
          <a:p>
            <a:r>
              <a:rPr lang="en-US" sz="2800" dirty="0"/>
              <a:t>Cloud-to-Fog-to-Internet of Things (C2F2T) – Analytical Model 2</a:t>
            </a:r>
          </a:p>
        </p:txBody>
      </p:sp>
      <p:sp>
        <p:nvSpPr>
          <p:cNvPr id="4" name="Content Placeholder 3">
            <a:extLst>
              <a:ext uri="{FF2B5EF4-FFF2-40B4-BE49-F238E27FC236}">
                <a16:creationId xmlns:a16="http://schemas.microsoft.com/office/drawing/2014/main" id="{FC638433-3ACE-5BEB-3834-38DA7D6A018A}"/>
              </a:ext>
            </a:extLst>
          </p:cNvPr>
          <p:cNvSpPr>
            <a:spLocks noGrp="1"/>
          </p:cNvSpPr>
          <p:nvPr>
            <p:ph idx="1"/>
          </p:nvPr>
        </p:nvSpPr>
        <p:spPr>
          <a:xfrm>
            <a:off x="409934" y="1050784"/>
            <a:ext cx="11384667" cy="5357733"/>
          </a:xfrm>
        </p:spPr>
        <p:txBody>
          <a:bodyPr>
            <a:normAutofit fontScale="92500" lnSpcReduction="10000"/>
          </a:bodyPr>
          <a:lstStyle/>
          <a:p>
            <a:r>
              <a:rPr lang="en-US" dirty="0"/>
              <a:t> Cloud Billing Cost Model takes into account </a:t>
            </a:r>
          </a:p>
          <a:p>
            <a:pPr lvl="1"/>
            <a:r>
              <a:rPr lang="en-US" dirty="0"/>
              <a:t> Transfer/storage costs (E[</a:t>
            </a:r>
            <a:r>
              <a:rPr lang="el-GR" dirty="0"/>
              <a:t>Ψ</a:t>
            </a:r>
            <a:r>
              <a:rPr lang="en-US" baseline="-25000" dirty="0"/>
              <a:t>b</a:t>
            </a:r>
            <a:r>
              <a:rPr lang="en-US" dirty="0"/>
              <a:t>]</a:t>
            </a:r>
            <a:r>
              <a:rPr lang="en-US" dirty="0" err="1"/>
              <a:t>g</a:t>
            </a:r>
            <a:r>
              <a:rPr lang="en-US" baseline="-25000" dirty="0" err="1"/>
              <a:t>b</a:t>
            </a:r>
            <a:r>
              <a:rPr lang="en-US" dirty="0"/>
              <a:t>) - This represents the cost of transferring or storing data in the cloud.</a:t>
            </a:r>
          </a:p>
          <a:p>
            <a:pPr lvl="1"/>
            <a:r>
              <a:rPr lang="en-US" dirty="0"/>
              <a:t> Idle billing cost (first integral) - the cost incurred when devices are in idle mode but still connected to the cloud.</a:t>
            </a:r>
          </a:p>
          <a:p>
            <a:pPr lvl="1"/>
            <a:r>
              <a:rPr lang="en-US" dirty="0"/>
              <a:t> Active billing cost (second integral) - the cost incurred when devices are actively transmitting or receiving data</a:t>
            </a:r>
          </a:p>
          <a:p>
            <a:pPr lvl="1"/>
            <a:r>
              <a:rPr lang="en-US" dirty="0"/>
              <a:t> Cost of transferring one bit (</a:t>
            </a:r>
            <a:r>
              <a:rPr lang="en-US" dirty="0" err="1"/>
              <a:t>i</a:t>
            </a:r>
            <a:r>
              <a:rPr lang="en-US" baseline="-25000" dirty="0" err="1"/>
              <a:t>b</a:t>
            </a:r>
            <a:r>
              <a:rPr lang="en-US" dirty="0"/>
              <a:t>, dollars-per-query-bit) - the cost of transferring a single unit of data (one bit).</a:t>
            </a:r>
          </a:p>
          <a:p>
            <a:pPr lvl="1"/>
            <a:r>
              <a:rPr lang="en-US" dirty="0"/>
              <a:t> Coupling point defining the expected billing cost (</a:t>
            </a:r>
            <a:r>
              <a:rPr lang="en-US" dirty="0" err="1"/>
              <a:t>c</a:t>
            </a:r>
            <a:r>
              <a:rPr lang="en-US" baseline="-25000" dirty="0" err="1"/>
              <a:t>b</a:t>
            </a:r>
            <a:r>
              <a:rPr lang="en-US" dirty="0"/>
              <a:t>) - determines when the expected billing cost is incurred.</a:t>
            </a:r>
          </a:p>
        </p:txBody>
      </p:sp>
    </p:spTree>
    <p:extLst>
      <p:ext uri="{BB962C8B-B14F-4D97-AF65-F5344CB8AC3E}">
        <p14:creationId xmlns:p14="http://schemas.microsoft.com/office/powerpoint/2010/main" val="1392326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ECED6-9AD7-8562-887E-42D9C7864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DF49C-AFEB-2F63-C32A-7789576F857C}"/>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4E395621-E9D1-E306-EE5E-4328D8F63CF5}"/>
              </a:ext>
            </a:extLst>
          </p:cNvPr>
          <p:cNvSpPr>
            <a:spLocks noGrp="1"/>
          </p:cNvSpPr>
          <p:nvPr>
            <p:ph idx="1"/>
          </p:nvPr>
        </p:nvSpPr>
        <p:spPr>
          <a:xfrm>
            <a:off x="409934" y="1050784"/>
            <a:ext cx="11384667" cy="5357733"/>
          </a:xfrm>
        </p:spPr>
        <p:txBody>
          <a:bodyPr>
            <a:normAutofit/>
          </a:bodyPr>
          <a:lstStyle/>
          <a:p>
            <a:r>
              <a:rPr lang="en-US" dirty="0"/>
              <a:t> Proposes a strategy using </a:t>
            </a:r>
            <a:r>
              <a:rPr lang="en-US" b="1" i="1" dirty="0"/>
              <a:t>fog computing with microgrids </a:t>
            </a:r>
            <a:r>
              <a:rPr lang="en-US" dirty="0"/>
              <a:t>to </a:t>
            </a:r>
            <a:r>
              <a:rPr lang="en-US" b="1" i="1" dirty="0"/>
              <a:t>reduce</a:t>
            </a:r>
            <a:r>
              <a:rPr lang="en-US" dirty="0"/>
              <a:t> </a:t>
            </a:r>
            <a:r>
              <a:rPr lang="en-US" b="1" i="1" dirty="0"/>
              <a:t>energy consumption</a:t>
            </a:r>
            <a:r>
              <a:rPr lang="en-US" dirty="0"/>
              <a:t> of IoT applications.</a:t>
            </a:r>
          </a:p>
        </p:txBody>
      </p:sp>
      <p:pic>
        <p:nvPicPr>
          <p:cNvPr id="2050" name="Picture 2" descr="Fog Computing Model to Orchestrate the Consumption and Production of Energy  in Microgrids">
            <a:extLst>
              <a:ext uri="{FF2B5EF4-FFF2-40B4-BE49-F238E27FC236}">
                <a16:creationId xmlns:a16="http://schemas.microsoft.com/office/drawing/2014/main" id="{D12134B6-CC0A-56F5-1EA8-9A344010A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4590" y="2470204"/>
            <a:ext cx="6962820" cy="4038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4705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F05A4-390A-BDC3-8D42-7A491ADFC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BBA3D-CBF7-19D0-D86B-8726BF2C9DC2}"/>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BFA8E930-2068-91C7-CEE9-CEE6C2C5C6A8}"/>
              </a:ext>
            </a:extLst>
          </p:cNvPr>
          <p:cNvSpPr>
            <a:spLocks noGrp="1"/>
          </p:cNvSpPr>
          <p:nvPr>
            <p:ph idx="1"/>
          </p:nvPr>
        </p:nvSpPr>
        <p:spPr>
          <a:xfrm>
            <a:off x="409934" y="1050784"/>
            <a:ext cx="11384667" cy="5357733"/>
          </a:xfrm>
        </p:spPr>
        <p:txBody>
          <a:bodyPr>
            <a:normAutofit/>
          </a:bodyPr>
          <a:lstStyle/>
          <a:p>
            <a:r>
              <a:rPr lang="en-US" dirty="0"/>
              <a:t> Proposes a strategy using </a:t>
            </a:r>
            <a:r>
              <a:rPr lang="en-US" b="1" i="1" dirty="0"/>
              <a:t>fog computing with microgrids </a:t>
            </a:r>
            <a:r>
              <a:rPr lang="en-US" dirty="0"/>
              <a:t>to </a:t>
            </a:r>
            <a:r>
              <a:rPr lang="en-US" b="1" i="1" dirty="0"/>
              <a:t>reduce</a:t>
            </a:r>
            <a:r>
              <a:rPr lang="en-US" dirty="0"/>
              <a:t> </a:t>
            </a:r>
            <a:r>
              <a:rPr lang="en-US" b="1" i="1" dirty="0"/>
              <a:t>energy consumption</a:t>
            </a:r>
            <a:r>
              <a:rPr lang="en-US" dirty="0"/>
              <a:t> of IoT applications.</a:t>
            </a:r>
          </a:p>
          <a:p>
            <a:r>
              <a:rPr lang="en-US" dirty="0"/>
              <a:t> Equation specifically </a:t>
            </a:r>
            <a:r>
              <a:rPr lang="en-US" b="1" i="1" dirty="0"/>
              <a:t>calculates the energy consumed by an IoT</a:t>
            </a:r>
            <a:r>
              <a:rPr lang="en-US" dirty="0"/>
              <a:t> </a:t>
            </a:r>
            <a:r>
              <a:rPr lang="en-US" b="1" i="1" dirty="0"/>
              <a:t>service</a:t>
            </a:r>
            <a:r>
              <a:rPr lang="en-US" dirty="0"/>
              <a:t> using cloud computing.</a:t>
            </a:r>
          </a:p>
          <a:p>
            <a:pPr marL="0" indent="0">
              <a:buNone/>
            </a:pPr>
            <a:endParaRPr lang="en-US" dirty="0"/>
          </a:p>
        </p:txBody>
      </p:sp>
      <p:pic>
        <p:nvPicPr>
          <p:cNvPr id="5" name="Picture 4">
            <a:extLst>
              <a:ext uri="{FF2B5EF4-FFF2-40B4-BE49-F238E27FC236}">
                <a16:creationId xmlns:a16="http://schemas.microsoft.com/office/drawing/2014/main" id="{47C3F67A-C4A9-155B-8761-E7F1E1ABCDDC}"/>
              </a:ext>
            </a:extLst>
          </p:cNvPr>
          <p:cNvPicPr>
            <a:picLocks noChangeAspect="1"/>
          </p:cNvPicPr>
          <p:nvPr/>
        </p:nvPicPr>
        <p:blipFill>
          <a:blip r:embed="rId2"/>
          <a:stretch>
            <a:fillRect/>
          </a:stretch>
        </p:blipFill>
        <p:spPr>
          <a:xfrm>
            <a:off x="2195122" y="3872593"/>
            <a:ext cx="7801756" cy="960664"/>
          </a:xfrm>
          <a:prstGeom prst="rect">
            <a:avLst/>
          </a:prstGeom>
        </p:spPr>
      </p:pic>
    </p:spTree>
    <p:extLst>
      <p:ext uri="{BB962C8B-B14F-4D97-AF65-F5344CB8AC3E}">
        <p14:creationId xmlns:p14="http://schemas.microsoft.com/office/powerpoint/2010/main" val="2382590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69CA9-1E86-AAE0-85E4-DAB07D64A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88A9E-A819-4A79-8ECD-0F872E3DFC8E}"/>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A556FA78-B9FE-7C79-BF76-DAFE84566B7D}"/>
              </a:ext>
            </a:extLst>
          </p:cNvPr>
          <p:cNvSpPr>
            <a:spLocks noGrp="1"/>
          </p:cNvSpPr>
          <p:nvPr>
            <p:ph idx="1"/>
          </p:nvPr>
        </p:nvSpPr>
        <p:spPr>
          <a:xfrm>
            <a:off x="409934" y="1050784"/>
            <a:ext cx="11384667" cy="5357733"/>
          </a:xfrm>
        </p:spPr>
        <p:txBody>
          <a:bodyPr>
            <a:normAutofit/>
          </a:bodyPr>
          <a:lstStyle/>
          <a:p>
            <a:r>
              <a:rPr lang="en-US" dirty="0"/>
              <a:t> E</a:t>
            </a:r>
            <a:r>
              <a:rPr lang="en-US" baseline="-25000" dirty="0"/>
              <a:t>GW-r</a:t>
            </a:r>
            <a:r>
              <a:rPr lang="en-US" dirty="0"/>
              <a:t>: Energy consumed by IoT gateways when receiving data from IoT devices and sensors.</a:t>
            </a:r>
          </a:p>
          <a:p>
            <a:r>
              <a:rPr lang="en-US" dirty="0"/>
              <a:t> E</a:t>
            </a:r>
            <a:r>
              <a:rPr lang="en-US" baseline="-25000" dirty="0"/>
              <a:t>GW-t</a:t>
            </a:r>
            <a:r>
              <a:rPr lang="en-US" dirty="0"/>
              <a:t>: Energy consumed by IoT gateways to transmit data to the cloud data center.</a:t>
            </a:r>
          </a:p>
          <a:p>
            <a:r>
              <a:rPr lang="en-US" dirty="0"/>
              <a:t> </a:t>
            </a:r>
            <a:r>
              <a:rPr lang="en-US" dirty="0" err="1"/>
              <a:t>E</a:t>
            </a:r>
            <a:r>
              <a:rPr lang="en-US" baseline="-25000" dirty="0" err="1"/>
              <a:t>net</a:t>
            </a:r>
            <a:r>
              <a:rPr lang="en-US" dirty="0"/>
              <a:t>: Energy consumed by the transport network between IoT gateways and the cloud.</a:t>
            </a:r>
          </a:p>
          <a:p>
            <a:r>
              <a:rPr lang="en-US" dirty="0"/>
              <a:t> E</a:t>
            </a:r>
            <a:r>
              <a:rPr lang="en-US" baseline="-25000" dirty="0"/>
              <a:t>DC</a:t>
            </a:r>
            <a:r>
              <a:rPr lang="en-US" dirty="0"/>
              <a:t>: Energy consumed by components of the data center.</a:t>
            </a:r>
          </a:p>
        </p:txBody>
      </p:sp>
      <p:pic>
        <p:nvPicPr>
          <p:cNvPr id="5" name="Picture 4">
            <a:extLst>
              <a:ext uri="{FF2B5EF4-FFF2-40B4-BE49-F238E27FC236}">
                <a16:creationId xmlns:a16="http://schemas.microsoft.com/office/drawing/2014/main" id="{1102F13C-055F-5922-469B-A318B55C2EB9}"/>
              </a:ext>
            </a:extLst>
          </p:cNvPr>
          <p:cNvPicPr>
            <a:picLocks noChangeAspect="1"/>
          </p:cNvPicPr>
          <p:nvPr/>
        </p:nvPicPr>
        <p:blipFill>
          <a:blip r:embed="rId2"/>
          <a:stretch>
            <a:fillRect/>
          </a:stretch>
        </p:blipFill>
        <p:spPr>
          <a:xfrm>
            <a:off x="2195122" y="5576580"/>
            <a:ext cx="7801756" cy="960664"/>
          </a:xfrm>
          <a:prstGeom prst="rect">
            <a:avLst/>
          </a:prstGeom>
        </p:spPr>
      </p:pic>
    </p:spTree>
    <p:extLst>
      <p:ext uri="{BB962C8B-B14F-4D97-AF65-F5344CB8AC3E}">
        <p14:creationId xmlns:p14="http://schemas.microsoft.com/office/powerpoint/2010/main" val="3245957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126E-B865-C5AB-8CBF-0B24DA06D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7EC77-6080-B288-D563-1F71B50C0B59}"/>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045461E8-4822-6F16-1A8C-B34B3019EEC0}"/>
              </a:ext>
            </a:extLst>
          </p:cNvPr>
          <p:cNvSpPr>
            <a:spLocks noGrp="1"/>
          </p:cNvSpPr>
          <p:nvPr>
            <p:ph idx="1"/>
          </p:nvPr>
        </p:nvSpPr>
        <p:spPr>
          <a:xfrm>
            <a:off x="409934" y="1050784"/>
            <a:ext cx="11384667" cy="5357733"/>
          </a:xfrm>
        </p:spPr>
        <p:txBody>
          <a:bodyPr>
            <a:normAutofit/>
          </a:bodyPr>
          <a:lstStyle/>
          <a:p>
            <a:r>
              <a:rPr lang="en-US" dirty="0"/>
              <a:t> Equation calculates the </a:t>
            </a:r>
            <a:r>
              <a:rPr lang="en-US" b="1" i="1" dirty="0"/>
              <a:t>energy consumption of communication between the IoT and the fog</a:t>
            </a:r>
            <a:r>
              <a:rPr lang="en-US" dirty="0"/>
              <a:t>.</a:t>
            </a:r>
          </a:p>
        </p:txBody>
      </p:sp>
      <p:pic>
        <p:nvPicPr>
          <p:cNvPr id="6" name="Picture 5">
            <a:extLst>
              <a:ext uri="{FF2B5EF4-FFF2-40B4-BE49-F238E27FC236}">
                <a16:creationId xmlns:a16="http://schemas.microsoft.com/office/drawing/2014/main" id="{C27EF5A0-7F8B-9935-F75E-793D8B8DE0C5}"/>
              </a:ext>
            </a:extLst>
          </p:cNvPr>
          <p:cNvPicPr>
            <a:picLocks noChangeAspect="1"/>
          </p:cNvPicPr>
          <p:nvPr/>
        </p:nvPicPr>
        <p:blipFill>
          <a:blip r:embed="rId2"/>
          <a:stretch>
            <a:fillRect/>
          </a:stretch>
        </p:blipFill>
        <p:spPr>
          <a:xfrm>
            <a:off x="2432115" y="2683147"/>
            <a:ext cx="7327769" cy="647882"/>
          </a:xfrm>
          <a:prstGeom prst="rect">
            <a:avLst/>
          </a:prstGeom>
        </p:spPr>
      </p:pic>
    </p:spTree>
    <p:extLst>
      <p:ext uri="{BB962C8B-B14F-4D97-AF65-F5344CB8AC3E}">
        <p14:creationId xmlns:p14="http://schemas.microsoft.com/office/powerpoint/2010/main" val="1452500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2FD59-4EA7-D127-374B-23441ED87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A6C10-657E-4E6F-FFBA-50D2B2A90C4C}"/>
              </a:ext>
            </a:extLst>
          </p:cNvPr>
          <p:cNvSpPr>
            <a:spLocks noGrp="1"/>
          </p:cNvSpPr>
          <p:nvPr>
            <p:ph type="title"/>
          </p:nvPr>
        </p:nvSpPr>
        <p:spPr/>
        <p:txBody>
          <a:bodyPr>
            <a:noAutofit/>
          </a:bodyPr>
          <a:lstStyle/>
          <a:p>
            <a:r>
              <a:rPr lang="en-US" sz="2800" dirty="0"/>
              <a:t>Cloud-to-Fog-to-Internet of Things (C2F2T) – Analytical Model 3</a:t>
            </a:r>
          </a:p>
        </p:txBody>
      </p:sp>
      <p:sp>
        <p:nvSpPr>
          <p:cNvPr id="4" name="Content Placeholder 3">
            <a:extLst>
              <a:ext uri="{FF2B5EF4-FFF2-40B4-BE49-F238E27FC236}">
                <a16:creationId xmlns:a16="http://schemas.microsoft.com/office/drawing/2014/main" id="{7F874937-61A4-A02D-7D8F-1683260FB8B1}"/>
              </a:ext>
            </a:extLst>
          </p:cNvPr>
          <p:cNvSpPr>
            <a:spLocks noGrp="1"/>
          </p:cNvSpPr>
          <p:nvPr>
            <p:ph idx="1"/>
          </p:nvPr>
        </p:nvSpPr>
        <p:spPr>
          <a:xfrm>
            <a:off x="409934" y="1050784"/>
            <a:ext cx="11384667" cy="5357733"/>
          </a:xfrm>
        </p:spPr>
        <p:txBody>
          <a:bodyPr>
            <a:normAutofit fontScale="92500" lnSpcReduction="20000"/>
          </a:bodyPr>
          <a:lstStyle/>
          <a:p>
            <a:r>
              <a:rPr lang="en-US" dirty="0">
                <a:solidFill>
                  <a:schemeClr val="tx1">
                    <a:lumMod val="85000"/>
                    <a:lumOff val="15000"/>
                  </a:schemeClr>
                </a:solidFill>
              </a:rPr>
              <a:t> E</a:t>
            </a:r>
            <a:r>
              <a:rPr lang="en-US" baseline="-25000" dirty="0">
                <a:solidFill>
                  <a:schemeClr val="tx1">
                    <a:lumMod val="85000"/>
                    <a:lumOff val="15000"/>
                  </a:schemeClr>
                </a:solidFill>
              </a:rPr>
              <a:t>GW-r</a:t>
            </a:r>
            <a:r>
              <a:rPr lang="en-US" dirty="0">
                <a:solidFill>
                  <a:schemeClr val="tx1">
                    <a:lumMod val="85000"/>
                    <a:lumOff val="15000"/>
                  </a:schemeClr>
                </a:solidFill>
              </a:rPr>
              <a:t>: Energy consumed by IoT gateways when receiving data from IoT devices and sensors.</a:t>
            </a:r>
          </a:p>
          <a:p>
            <a:r>
              <a:rPr lang="en-US" dirty="0">
                <a:solidFill>
                  <a:schemeClr val="tx1">
                    <a:lumMod val="85000"/>
                    <a:lumOff val="15000"/>
                  </a:schemeClr>
                </a:solidFill>
              </a:rPr>
              <a:t>E</a:t>
            </a:r>
            <a:r>
              <a:rPr lang="en-US" baseline="-25000" dirty="0">
                <a:solidFill>
                  <a:schemeClr val="tx1">
                    <a:lumMod val="85000"/>
                    <a:lumOff val="15000"/>
                  </a:schemeClr>
                </a:solidFill>
              </a:rPr>
              <a:t>GW-t</a:t>
            </a:r>
            <a:r>
              <a:rPr lang="en-US" dirty="0">
                <a:solidFill>
                  <a:schemeClr val="tx1">
                    <a:lumMod val="85000"/>
                    <a:lumOff val="15000"/>
                  </a:schemeClr>
                </a:solidFill>
              </a:rPr>
              <a:t>: Energy consumed by IoT gateways to transmit data to the fog.</a:t>
            </a:r>
          </a:p>
          <a:p>
            <a:r>
              <a:rPr lang="en-US" dirty="0" err="1">
                <a:solidFill>
                  <a:schemeClr val="tx1">
                    <a:lumMod val="85000"/>
                    <a:lumOff val="15000"/>
                  </a:schemeClr>
                </a:solidFill>
              </a:rPr>
              <a:t>E</a:t>
            </a:r>
            <a:r>
              <a:rPr lang="en-US" baseline="-25000" dirty="0" err="1">
                <a:solidFill>
                  <a:schemeClr val="tx1">
                    <a:lumMod val="85000"/>
                    <a:lumOff val="15000"/>
                  </a:schemeClr>
                </a:solidFill>
              </a:rPr>
              <a:t>net</a:t>
            </a:r>
            <a:r>
              <a:rPr lang="en-US" dirty="0">
                <a:solidFill>
                  <a:schemeClr val="tx1">
                    <a:lumMod val="85000"/>
                    <a:lumOff val="15000"/>
                  </a:schemeClr>
                </a:solidFill>
              </a:rPr>
              <a:t>: Energy consumed by the transport network between IoT gateways and the fog.</a:t>
            </a:r>
          </a:p>
          <a:p>
            <a:r>
              <a:rPr lang="en-US" dirty="0">
                <a:solidFill>
                  <a:schemeClr val="tx1">
                    <a:lumMod val="85000"/>
                    <a:lumOff val="15000"/>
                  </a:schemeClr>
                </a:solidFill>
              </a:rPr>
              <a:t>E</a:t>
            </a:r>
            <a:r>
              <a:rPr lang="en-US" baseline="-25000" dirty="0">
                <a:solidFill>
                  <a:schemeClr val="tx1">
                    <a:lumMod val="85000"/>
                    <a:lumOff val="15000"/>
                  </a:schemeClr>
                </a:solidFill>
              </a:rPr>
              <a:t>DC</a:t>
            </a:r>
            <a:r>
              <a:rPr lang="en-US" dirty="0">
                <a:solidFill>
                  <a:schemeClr val="tx1">
                    <a:lumMod val="85000"/>
                    <a:lumOff val="15000"/>
                  </a:schemeClr>
                </a:solidFill>
              </a:rPr>
              <a:t>: Energy consumed by components of the fog.</a:t>
            </a:r>
          </a:p>
          <a:p>
            <a:r>
              <a:rPr lang="en-IN" b="1" i="0" u="none" strike="noStrike" dirty="0">
                <a:solidFill>
                  <a:schemeClr val="tx1">
                    <a:lumMod val="85000"/>
                    <a:lumOff val="15000"/>
                  </a:schemeClr>
                </a:solidFill>
                <a:effectLst/>
              </a:rPr>
              <a:t>E</a:t>
            </a:r>
            <a:r>
              <a:rPr lang="en-IN" b="1" i="0" u="none" strike="noStrike" baseline="-25000" dirty="0">
                <a:solidFill>
                  <a:schemeClr val="tx1">
                    <a:lumMod val="85000"/>
                    <a:lumOff val="15000"/>
                  </a:schemeClr>
                </a:solidFill>
                <a:effectLst/>
              </a:rPr>
              <a:t>GW-c</a:t>
            </a:r>
            <a:r>
              <a:rPr lang="en-IN" b="0" i="0" u="none" strike="noStrike" dirty="0">
                <a:solidFill>
                  <a:schemeClr val="tx1">
                    <a:lumMod val="85000"/>
                    <a:lumOff val="15000"/>
                  </a:schemeClr>
                </a:solidFill>
                <a:effectLst/>
              </a:rPr>
              <a:t>: Energy consumed by IoT gateways for local computation and processing.</a:t>
            </a:r>
          </a:p>
          <a:p>
            <a:r>
              <a:rPr lang="en-IN" b="1" i="0" u="none" strike="noStrike" dirty="0">
                <a:solidFill>
                  <a:schemeClr val="tx1">
                    <a:lumMod val="85000"/>
                    <a:lumOff val="15000"/>
                  </a:schemeClr>
                </a:solidFill>
                <a:effectLst/>
              </a:rPr>
              <a:t>𝛽</a:t>
            </a:r>
            <a:r>
              <a:rPr lang="en-IN" b="0" i="0" u="none" strike="noStrike" dirty="0">
                <a:solidFill>
                  <a:schemeClr val="tx1">
                    <a:lumMod val="85000"/>
                    <a:lumOff val="15000"/>
                  </a:schemeClr>
                </a:solidFill>
                <a:effectLst/>
              </a:rPr>
              <a:t>: Ratio of the number of updates from the fog to the cloud for synchronization.</a:t>
            </a:r>
          </a:p>
        </p:txBody>
      </p:sp>
    </p:spTree>
    <p:extLst>
      <p:ext uri="{BB962C8B-B14F-4D97-AF65-F5344CB8AC3E}">
        <p14:creationId xmlns:p14="http://schemas.microsoft.com/office/powerpoint/2010/main" val="3507419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E33DC-BEA0-8734-6CED-8BEF87126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471D8-4B07-8C3D-8D47-046D2F2C5F8B}"/>
              </a:ext>
            </a:extLst>
          </p:cNvPr>
          <p:cNvSpPr>
            <a:spLocks noGrp="1"/>
          </p:cNvSpPr>
          <p:nvPr>
            <p:ph type="title"/>
          </p:nvPr>
        </p:nvSpPr>
        <p:spPr/>
        <p:txBody>
          <a:bodyPr>
            <a:noAutofit/>
          </a:bodyPr>
          <a:lstStyle/>
          <a:p>
            <a:r>
              <a:rPr lang="en-US" sz="2800" dirty="0"/>
              <a:t>Cloud-to-Fog-to-Internet of Things (C2F2T) – Analytical Model 4</a:t>
            </a:r>
          </a:p>
        </p:txBody>
      </p:sp>
      <p:sp>
        <p:nvSpPr>
          <p:cNvPr id="4" name="Content Placeholder 3">
            <a:extLst>
              <a:ext uri="{FF2B5EF4-FFF2-40B4-BE49-F238E27FC236}">
                <a16:creationId xmlns:a16="http://schemas.microsoft.com/office/drawing/2014/main" id="{8CA50A9A-7BF9-16D1-1B51-84BC20652C95}"/>
              </a:ext>
            </a:extLst>
          </p:cNvPr>
          <p:cNvSpPr>
            <a:spLocks noGrp="1"/>
          </p:cNvSpPr>
          <p:nvPr>
            <p:ph idx="1"/>
          </p:nvPr>
        </p:nvSpPr>
        <p:spPr>
          <a:xfrm>
            <a:off x="409934" y="1050784"/>
            <a:ext cx="11384667" cy="5357733"/>
          </a:xfrm>
        </p:spPr>
        <p:txBody>
          <a:bodyPr>
            <a:normAutofit fontScale="92500" lnSpcReduction="10000"/>
          </a:bodyPr>
          <a:lstStyle/>
          <a:p>
            <a:r>
              <a:rPr lang="en-IN" dirty="0">
                <a:solidFill>
                  <a:schemeClr val="tx1">
                    <a:lumMod val="85000"/>
                    <a:lumOff val="15000"/>
                  </a:schemeClr>
                </a:solidFill>
              </a:rPr>
              <a:t> P</a:t>
            </a:r>
            <a:r>
              <a:rPr lang="en-IN" b="0" i="0" u="none" strike="noStrike" dirty="0">
                <a:solidFill>
                  <a:schemeClr val="tx1">
                    <a:lumMod val="85000"/>
                    <a:lumOff val="15000"/>
                  </a:schemeClr>
                </a:solidFill>
                <a:effectLst/>
              </a:rPr>
              <a:t>roposes an analytical modelling approach to </a:t>
            </a:r>
            <a:r>
              <a:rPr lang="en-IN" b="1" i="1" u="none" strike="noStrike" dirty="0">
                <a:solidFill>
                  <a:schemeClr val="tx1">
                    <a:lumMod val="85000"/>
                    <a:lumOff val="15000"/>
                  </a:schemeClr>
                </a:solidFill>
                <a:effectLst/>
              </a:rPr>
              <a:t>estimate the reliability of an IoT scenario </a:t>
            </a:r>
            <a:r>
              <a:rPr lang="en-IN" b="0" i="0" u="none" strike="noStrike" dirty="0">
                <a:solidFill>
                  <a:schemeClr val="tx1">
                    <a:lumMod val="85000"/>
                    <a:lumOff val="15000"/>
                  </a:schemeClr>
                </a:solidFill>
                <a:effectLst/>
              </a:rPr>
              <a:t>in a smart home context.</a:t>
            </a:r>
          </a:p>
          <a:p>
            <a:r>
              <a:rPr lang="en-IN" b="0" i="0" u="none" strike="noStrike" dirty="0">
                <a:solidFill>
                  <a:srgbClr val="FF0000"/>
                </a:solidFill>
                <a:effectLst/>
              </a:rPr>
              <a:t>The algorithm estimates the reliability of the IoT service, which consists of n subsystems.</a:t>
            </a:r>
            <a:endParaRPr lang="en-IN" dirty="0">
              <a:solidFill>
                <a:srgbClr val="FF0000"/>
              </a:solidFill>
            </a:endParaRPr>
          </a:p>
          <a:p>
            <a:r>
              <a:rPr lang="en-IN" b="1" i="0" u="none" strike="noStrike" dirty="0">
                <a:solidFill>
                  <a:schemeClr val="tx1">
                    <a:lumMod val="85000"/>
                    <a:lumOff val="15000"/>
                  </a:schemeClr>
                </a:solidFill>
                <a:effectLst/>
              </a:rPr>
              <a:t>The calculation considers three factors:</a:t>
            </a:r>
          </a:p>
          <a:p>
            <a:pPr lvl="1"/>
            <a:r>
              <a:rPr lang="en-IN" b="1" i="0" u="none" strike="noStrike" dirty="0">
                <a:solidFill>
                  <a:schemeClr val="tx1">
                    <a:lumMod val="85000"/>
                    <a:lumOff val="15000"/>
                  </a:schemeClr>
                </a:solidFill>
                <a:effectLst/>
              </a:rPr>
              <a:t>Availability of programs (Ppr): </a:t>
            </a:r>
            <a:r>
              <a:rPr lang="en-IN" b="0" i="0" u="none" strike="noStrike" dirty="0">
                <a:solidFill>
                  <a:schemeClr val="tx1">
                    <a:lumMod val="85000"/>
                    <a:lumOff val="15000"/>
                  </a:schemeClr>
                </a:solidFill>
                <a:effectLst/>
              </a:rPr>
              <a:t>Availability of all k programs running on virtual machines.</a:t>
            </a:r>
          </a:p>
          <a:p>
            <a:pPr lvl="1"/>
            <a:r>
              <a:rPr lang="en-IN" b="1" i="0" u="none" strike="noStrike" dirty="0">
                <a:solidFill>
                  <a:schemeClr val="tx1">
                    <a:lumMod val="85000"/>
                    <a:lumOff val="15000"/>
                  </a:schemeClr>
                </a:solidFill>
                <a:effectLst/>
              </a:rPr>
              <a:t>Availability of input files (</a:t>
            </a:r>
            <a:r>
              <a:rPr lang="en-IN" b="1" i="0" u="none" strike="noStrike" dirty="0" err="1">
                <a:solidFill>
                  <a:schemeClr val="tx1">
                    <a:lumMod val="85000"/>
                    <a:lumOff val="15000"/>
                  </a:schemeClr>
                </a:solidFill>
                <a:effectLst/>
              </a:rPr>
              <a:t>Pf</a:t>
            </a:r>
            <a:r>
              <a:rPr lang="en-IN" b="1" i="0" u="none" strike="noStrike" dirty="0">
                <a:solidFill>
                  <a:schemeClr val="tx1">
                    <a:lumMod val="85000"/>
                    <a:lumOff val="15000"/>
                  </a:schemeClr>
                </a:solidFill>
                <a:effectLst/>
              </a:rPr>
              <a:t>): </a:t>
            </a:r>
            <a:r>
              <a:rPr lang="en-IN" b="0" i="0" u="none" strike="noStrike" dirty="0">
                <a:solidFill>
                  <a:schemeClr val="tx1">
                    <a:lumMod val="85000"/>
                    <a:lumOff val="15000"/>
                  </a:schemeClr>
                </a:solidFill>
                <a:effectLst/>
              </a:rPr>
              <a:t>Availability of f input files for the programs.</a:t>
            </a:r>
          </a:p>
          <a:p>
            <a:pPr lvl="1"/>
            <a:r>
              <a:rPr lang="en-IN" b="1" i="0" u="none" strike="noStrike" dirty="0">
                <a:solidFill>
                  <a:schemeClr val="tx1">
                    <a:lumMod val="85000"/>
                    <a:lumOff val="15000"/>
                  </a:schemeClr>
                </a:solidFill>
                <a:effectLst/>
              </a:rPr>
              <a:t>Reliability of each subsystem (ISR): </a:t>
            </a:r>
            <a:r>
              <a:rPr lang="en-IN" b="0" i="0" u="none" strike="noStrike" dirty="0">
                <a:solidFill>
                  <a:schemeClr val="tx1">
                    <a:lumMod val="85000"/>
                    <a:lumOff val="15000"/>
                  </a:schemeClr>
                </a:solidFill>
                <a:effectLst/>
              </a:rPr>
              <a:t>Reliability of each virtual machine being executed.</a:t>
            </a:r>
          </a:p>
        </p:txBody>
      </p:sp>
    </p:spTree>
    <p:extLst>
      <p:ext uri="{BB962C8B-B14F-4D97-AF65-F5344CB8AC3E}">
        <p14:creationId xmlns:p14="http://schemas.microsoft.com/office/powerpoint/2010/main" val="476981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4DCD-5E4F-CA84-A82A-B8BA411DC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B59E1-91D4-1810-8F0F-F5EC8A56A8E2}"/>
              </a:ext>
            </a:extLst>
          </p:cNvPr>
          <p:cNvSpPr>
            <a:spLocks noGrp="1"/>
          </p:cNvSpPr>
          <p:nvPr>
            <p:ph type="title"/>
          </p:nvPr>
        </p:nvSpPr>
        <p:spPr/>
        <p:txBody>
          <a:bodyPr>
            <a:noAutofit/>
          </a:bodyPr>
          <a:lstStyle/>
          <a:p>
            <a:r>
              <a:rPr lang="en-US" sz="2800" dirty="0"/>
              <a:t>Cloud-to-Fog-to-Internet of Things (C2F2T) – Analytical Model 4</a:t>
            </a:r>
          </a:p>
        </p:txBody>
      </p:sp>
      <p:pic>
        <p:nvPicPr>
          <p:cNvPr id="5" name="Content Placeholder 4" descr="A black and white math equation&#10;&#10;Description automatically generated">
            <a:extLst>
              <a:ext uri="{FF2B5EF4-FFF2-40B4-BE49-F238E27FC236}">
                <a16:creationId xmlns:a16="http://schemas.microsoft.com/office/drawing/2014/main" id="{01F1C60B-F79C-C3B9-7EE0-56368FF9E9AD}"/>
              </a:ext>
            </a:extLst>
          </p:cNvPr>
          <p:cNvPicPr>
            <a:picLocks noGrp="1" noChangeAspect="1"/>
          </p:cNvPicPr>
          <p:nvPr>
            <p:ph idx="1"/>
          </p:nvPr>
        </p:nvPicPr>
        <p:blipFill>
          <a:blip r:embed="rId2"/>
          <a:stretch>
            <a:fillRect/>
          </a:stretch>
        </p:blipFill>
        <p:spPr>
          <a:xfrm>
            <a:off x="1955309" y="1097280"/>
            <a:ext cx="8281382" cy="1593668"/>
          </a:xfrm>
        </p:spPr>
      </p:pic>
    </p:spTree>
    <p:extLst>
      <p:ext uri="{BB962C8B-B14F-4D97-AF65-F5344CB8AC3E}">
        <p14:creationId xmlns:p14="http://schemas.microsoft.com/office/powerpoint/2010/main" val="472710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CFCAF-847C-679C-945E-73A1C1619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B9EAF-2309-F0D9-20DC-579381CE660E}"/>
              </a:ext>
            </a:extLst>
          </p:cNvPr>
          <p:cNvSpPr>
            <a:spLocks noGrp="1"/>
          </p:cNvSpPr>
          <p:nvPr>
            <p:ph type="title"/>
          </p:nvPr>
        </p:nvSpPr>
        <p:spPr/>
        <p:txBody>
          <a:bodyPr>
            <a:noAutofit/>
          </a:bodyPr>
          <a:lstStyle/>
          <a:p>
            <a:r>
              <a:rPr lang="en-US" sz="2400" dirty="0"/>
              <a:t>Cloud-to-Fog-to-Internet of Things (C2F2T) – Other Analytical Model </a:t>
            </a:r>
          </a:p>
        </p:txBody>
      </p:sp>
      <p:graphicFrame>
        <p:nvGraphicFramePr>
          <p:cNvPr id="6" name="Content Placeholder 5">
            <a:extLst>
              <a:ext uri="{FF2B5EF4-FFF2-40B4-BE49-F238E27FC236}">
                <a16:creationId xmlns:a16="http://schemas.microsoft.com/office/drawing/2014/main" id="{4C7D45C8-B42B-E4E5-28CA-03912A4EA927}"/>
              </a:ext>
            </a:extLst>
          </p:cNvPr>
          <p:cNvGraphicFramePr>
            <a:graphicFrameLocks noGrp="1"/>
          </p:cNvGraphicFramePr>
          <p:nvPr>
            <p:ph idx="1"/>
            <p:extLst>
              <p:ext uri="{D42A27DB-BD31-4B8C-83A1-F6EECF244321}">
                <p14:modId xmlns:p14="http://schemas.microsoft.com/office/powerpoint/2010/main" val="1511685637"/>
              </p:ext>
            </p:extLst>
          </p:nvPr>
        </p:nvGraphicFramePr>
        <p:xfrm>
          <a:off x="409575" y="1050925"/>
          <a:ext cx="11385548" cy="5308600"/>
        </p:xfrm>
        <a:graphic>
          <a:graphicData uri="http://schemas.openxmlformats.org/drawingml/2006/table">
            <a:tbl>
              <a:tblPr firstRow="1" bandRow="1">
                <a:tableStyleId>{912C8C85-51F0-491E-9774-3900AFEF0FD7}</a:tableStyleId>
              </a:tblPr>
              <a:tblGrid>
                <a:gridCol w="2846387">
                  <a:extLst>
                    <a:ext uri="{9D8B030D-6E8A-4147-A177-3AD203B41FA5}">
                      <a16:colId xmlns:a16="http://schemas.microsoft.com/office/drawing/2014/main" val="1659772581"/>
                    </a:ext>
                  </a:extLst>
                </a:gridCol>
                <a:gridCol w="2846387">
                  <a:extLst>
                    <a:ext uri="{9D8B030D-6E8A-4147-A177-3AD203B41FA5}">
                      <a16:colId xmlns:a16="http://schemas.microsoft.com/office/drawing/2014/main" val="83849183"/>
                    </a:ext>
                  </a:extLst>
                </a:gridCol>
                <a:gridCol w="2846387">
                  <a:extLst>
                    <a:ext uri="{9D8B030D-6E8A-4147-A177-3AD203B41FA5}">
                      <a16:colId xmlns:a16="http://schemas.microsoft.com/office/drawing/2014/main" val="184943073"/>
                    </a:ext>
                  </a:extLst>
                </a:gridCol>
                <a:gridCol w="2846387">
                  <a:extLst>
                    <a:ext uri="{9D8B030D-6E8A-4147-A177-3AD203B41FA5}">
                      <a16:colId xmlns:a16="http://schemas.microsoft.com/office/drawing/2014/main" val="1565107620"/>
                    </a:ext>
                  </a:extLst>
                </a:gridCol>
              </a:tblGrid>
              <a:tr h="370840">
                <a:tc>
                  <a:txBody>
                    <a:bodyPr/>
                    <a:lstStyle/>
                    <a:p>
                      <a:pPr algn="ctr"/>
                      <a:r>
                        <a:rPr lang="en-US" sz="1800" dirty="0">
                          <a:latin typeface="Book Antiqua" panose="02040602050305030304" pitchFamily="18" charset="0"/>
                        </a:rPr>
                        <a:t>Model Name</a:t>
                      </a:r>
                    </a:p>
                  </a:txBody>
                  <a:tcPr anchor="ctr"/>
                </a:tc>
                <a:tc>
                  <a:txBody>
                    <a:bodyPr/>
                    <a:lstStyle/>
                    <a:p>
                      <a:pPr algn="ctr"/>
                      <a:r>
                        <a:rPr lang="en-US" sz="1800" dirty="0">
                          <a:latin typeface="Book Antiqua" panose="02040602050305030304" pitchFamily="18" charset="0"/>
                        </a:rPr>
                        <a:t>Purpose</a:t>
                      </a:r>
                    </a:p>
                  </a:txBody>
                  <a:tcPr anchor="ctr"/>
                </a:tc>
                <a:tc>
                  <a:txBody>
                    <a:bodyPr/>
                    <a:lstStyle/>
                    <a:p>
                      <a:pPr algn="ctr"/>
                      <a:r>
                        <a:rPr lang="en-US" sz="1800" dirty="0">
                          <a:latin typeface="Book Antiqua" panose="02040602050305030304" pitchFamily="18" charset="0"/>
                        </a:rPr>
                        <a:t>Use case</a:t>
                      </a:r>
                    </a:p>
                  </a:txBody>
                  <a:tcPr anchor="ctr"/>
                </a:tc>
                <a:tc>
                  <a:txBody>
                    <a:bodyPr/>
                    <a:lstStyle/>
                    <a:p>
                      <a:pPr algn="ctr"/>
                      <a:r>
                        <a:rPr lang="en-US" sz="1800" dirty="0">
                          <a:latin typeface="Book Antiqua" panose="02040602050305030304" pitchFamily="18" charset="0"/>
                        </a:rPr>
                        <a:t>Calculated</a:t>
                      </a:r>
                    </a:p>
                  </a:txBody>
                  <a:tcPr anchor="ctr"/>
                </a:tc>
                <a:extLst>
                  <a:ext uri="{0D108BD9-81ED-4DB2-BD59-A6C34878D82A}">
                    <a16:rowId xmlns:a16="http://schemas.microsoft.com/office/drawing/2014/main" val="3642784348"/>
                  </a:ext>
                </a:extLst>
              </a:tr>
              <a:tr h="370840">
                <a:tc>
                  <a:txBody>
                    <a:bodyPr/>
                    <a:lstStyle/>
                    <a:p>
                      <a:pPr algn="l"/>
                      <a:r>
                        <a:rPr lang="en-US" sz="1800" dirty="0">
                          <a:latin typeface="Book Antiqua" panose="02040602050305030304" pitchFamily="18" charset="0"/>
                        </a:rPr>
                        <a:t>Fuzzy Ontology</a:t>
                      </a:r>
                    </a:p>
                  </a:txBody>
                  <a:tcPr/>
                </a:tc>
                <a:tc>
                  <a:txBody>
                    <a:bodyPr/>
                    <a:lstStyle/>
                    <a:p>
                      <a:pPr algn="l"/>
                      <a:r>
                        <a:rPr lang="en-US" sz="1800" dirty="0">
                          <a:latin typeface="Book Antiqua" panose="02040602050305030304" pitchFamily="18" charset="0"/>
                        </a:rPr>
                        <a:t>Fault classification in WSNs; Handles uncertainty in sensor data; Improves fault diagnosis accuracy.</a:t>
                      </a:r>
                    </a:p>
                  </a:txBody>
                  <a:tcPr/>
                </a:tc>
                <a:tc>
                  <a:txBody>
                    <a:bodyPr/>
                    <a:lstStyle/>
                    <a:p>
                      <a:pPr algn="l"/>
                      <a:r>
                        <a:rPr lang="en-US" sz="1800" dirty="0">
                          <a:latin typeface="Book Antiqua" panose="02040602050305030304" pitchFamily="18" charset="0"/>
                        </a:rPr>
                        <a:t>Fault types in WSNs, their relationships, and membership degrees.</a:t>
                      </a:r>
                    </a:p>
                  </a:txBody>
                  <a:tcPr/>
                </a:tc>
                <a:tc>
                  <a:txBody>
                    <a:bodyPr/>
                    <a:lstStyle/>
                    <a:p>
                      <a:pPr algn="l"/>
                      <a:r>
                        <a:rPr lang="en-US" sz="1800" dirty="0">
                          <a:latin typeface="Book Antiqua" panose="02040602050305030304" pitchFamily="18" charset="0"/>
                        </a:rPr>
                        <a:t>Degree of membership of a sensor reading to different fault types; Most probable fault type.</a:t>
                      </a:r>
                    </a:p>
                  </a:txBody>
                  <a:tcPr/>
                </a:tc>
                <a:extLst>
                  <a:ext uri="{0D108BD9-81ED-4DB2-BD59-A6C34878D82A}">
                    <a16:rowId xmlns:a16="http://schemas.microsoft.com/office/drawing/2014/main" val="3793897091"/>
                  </a:ext>
                </a:extLst>
              </a:tr>
              <a:tr h="370840">
                <a:tc>
                  <a:txBody>
                    <a:bodyPr/>
                    <a:lstStyle/>
                    <a:p>
                      <a:pPr algn="l"/>
                      <a:r>
                        <a:rPr lang="en-US" sz="1800" dirty="0">
                          <a:latin typeface="Book Antiqua" panose="02040602050305030304" pitchFamily="18" charset="0"/>
                        </a:rPr>
                        <a:t>Bayesian Probability</a:t>
                      </a:r>
                    </a:p>
                  </a:txBody>
                  <a:tcPr/>
                </a:tc>
                <a:tc>
                  <a:txBody>
                    <a:bodyPr/>
                    <a:lstStyle/>
                    <a:p>
                      <a:pPr algn="l"/>
                      <a:r>
                        <a:rPr lang="en-US" sz="1800" dirty="0">
                          <a:latin typeface="Book Antiqua" panose="02040602050305030304" pitchFamily="18" charset="0"/>
                        </a:rPr>
                        <a:t>Predicting future events in IoT applications; Handling uncertainty in predictions; Incorporating prior knowledge and updating with new data.</a:t>
                      </a:r>
                    </a:p>
                  </a:txBody>
                  <a:tcPr/>
                </a:tc>
                <a:tc>
                  <a:txBody>
                    <a:bodyPr/>
                    <a:lstStyle/>
                    <a:p>
                      <a:pPr algn="l"/>
                      <a:r>
                        <a:rPr lang="en-US" sz="1800" dirty="0">
                          <a:latin typeface="Book Antiqua" panose="02040602050305030304" pitchFamily="18" charset="0"/>
                        </a:rPr>
                        <a:t>Occurrence of future events in IoT systems (e.g., flight delays, equipment failures).</a:t>
                      </a:r>
                    </a:p>
                  </a:txBody>
                  <a:tcPr/>
                </a:tc>
                <a:tc>
                  <a:txBody>
                    <a:bodyPr/>
                    <a:lstStyle/>
                    <a:p>
                      <a:pPr algn="l"/>
                      <a:r>
                        <a:rPr lang="en-US" sz="1800" dirty="0">
                          <a:latin typeface="Book Antiqua" panose="02040602050305030304" pitchFamily="18" charset="0"/>
                        </a:rPr>
                        <a:t>Probabilities of future events; Likelihood of chain events occurring.</a:t>
                      </a:r>
                    </a:p>
                  </a:txBody>
                  <a:tcPr/>
                </a:tc>
                <a:extLst>
                  <a:ext uri="{0D108BD9-81ED-4DB2-BD59-A6C34878D82A}">
                    <a16:rowId xmlns:a16="http://schemas.microsoft.com/office/drawing/2014/main" val="1000508896"/>
                  </a:ext>
                </a:extLst>
              </a:tr>
              <a:tr h="370840">
                <a:tc>
                  <a:txBody>
                    <a:bodyPr/>
                    <a:lstStyle/>
                    <a:p>
                      <a:pPr algn="l"/>
                      <a:r>
                        <a:rPr lang="en-US" sz="1800" dirty="0">
                          <a:latin typeface="Book Antiqua" panose="02040602050305030304" pitchFamily="18" charset="0"/>
                        </a:rPr>
                        <a:t>Markov Chains</a:t>
                      </a:r>
                    </a:p>
                  </a:txBody>
                  <a:tcPr/>
                </a:tc>
                <a:tc>
                  <a:txBody>
                    <a:bodyPr/>
                    <a:lstStyle/>
                    <a:p>
                      <a:pPr algn="l"/>
                      <a:r>
                        <a:rPr lang="en-US" sz="1800" dirty="0">
                          <a:latin typeface="Book Antiqua" panose="02040602050305030304" pitchFamily="18" charset="0"/>
                        </a:rPr>
                        <a:t>Modeling energy consumption in IoT devices; Predicting energy consumption patterns; Optimizing energy usage.</a:t>
                      </a:r>
                    </a:p>
                  </a:txBody>
                  <a:tcPr/>
                </a:tc>
                <a:tc>
                  <a:txBody>
                    <a:bodyPr/>
                    <a:lstStyle/>
                    <a:p>
                      <a:pPr algn="l"/>
                      <a:r>
                        <a:rPr lang="en-US" sz="1800" dirty="0">
                          <a:latin typeface="Book Antiqua" panose="02040602050305030304" pitchFamily="18" charset="0"/>
                        </a:rPr>
                        <a:t>Device states (e.g., active, idle, sleep), state transitions, and energy consumption in each state.</a:t>
                      </a:r>
                    </a:p>
                  </a:txBody>
                  <a:tcPr/>
                </a:tc>
                <a:tc>
                  <a:txBody>
                    <a:bodyPr/>
                    <a:lstStyle/>
                    <a:p>
                      <a:pPr algn="l"/>
                      <a:r>
                        <a:rPr lang="en-US" sz="1800" dirty="0">
                          <a:latin typeface="Book Antiqua" panose="02040602050305030304" pitchFamily="18" charset="0"/>
                        </a:rPr>
                        <a:t>Long-term energy consumption of devices; Optimal energy-saving strategies.</a:t>
                      </a:r>
                    </a:p>
                  </a:txBody>
                  <a:tcPr/>
                </a:tc>
                <a:extLst>
                  <a:ext uri="{0D108BD9-81ED-4DB2-BD59-A6C34878D82A}">
                    <a16:rowId xmlns:a16="http://schemas.microsoft.com/office/drawing/2014/main" val="1305062322"/>
                  </a:ext>
                </a:extLst>
              </a:tr>
            </a:tbl>
          </a:graphicData>
        </a:graphic>
      </p:graphicFrame>
    </p:spTree>
    <p:extLst>
      <p:ext uri="{BB962C8B-B14F-4D97-AF65-F5344CB8AC3E}">
        <p14:creationId xmlns:p14="http://schemas.microsoft.com/office/powerpoint/2010/main" val="6205991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AFE01-F1DC-F5F5-754A-FE69D1B57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C3C45-BB74-AD56-7D53-9175D69EC4CB}"/>
              </a:ext>
            </a:extLst>
          </p:cNvPr>
          <p:cNvSpPr>
            <a:spLocks noGrp="1"/>
          </p:cNvSpPr>
          <p:nvPr>
            <p:ph type="title"/>
          </p:nvPr>
        </p:nvSpPr>
        <p:spPr/>
        <p:txBody>
          <a:bodyPr>
            <a:noAutofit/>
          </a:bodyPr>
          <a:lstStyle/>
          <a:p>
            <a:r>
              <a:rPr lang="en-US" sz="2400" dirty="0"/>
              <a:t>Cloud-to-Fog-to-Internet of Things (C2F2T) – Other Analytical Model </a:t>
            </a:r>
          </a:p>
        </p:txBody>
      </p:sp>
      <p:graphicFrame>
        <p:nvGraphicFramePr>
          <p:cNvPr id="6" name="Content Placeholder 5">
            <a:extLst>
              <a:ext uri="{FF2B5EF4-FFF2-40B4-BE49-F238E27FC236}">
                <a16:creationId xmlns:a16="http://schemas.microsoft.com/office/drawing/2014/main" id="{46277A14-9BD3-B608-80D2-91C3ACEB42C8}"/>
              </a:ext>
            </a:extLst>
          </p:cNvPr>
          <p:cNvGraphicFramePr>
            <a:graphicFrameLocks noGrp="1"/>
          </p:cNvGraphicFramePr>
          <p:nvPr>
            <p:ph idx="1"/>
            <p:extLst>
              <p:ext uri="{D42A27DB-BD31-4B8C-83A1-F6EECF244321}">
                <p14:modId xmlns:p14="http://schemas.microsoft.com/office/powerpoint/2010/main" val="3529188972"/>
              </p:ext>
            </p:extLst>
          </p:nvPr>
        </p:nvGraphicFramePr>
        <p:xfrm>
          <a:off x="409575" y="1050924"/>
          <a:ext cx="11385548" cy="5486319"/>
        </p:xfrm>
        <a:graphic>
          <a:graphicData uri="http://schemas.openxmlformats.org/drawingml/2006/table">
            <a:tbl>
              <a:tblPr firstRow="1" bandRow="1">
                <a:tableStyleId>{912C8C85-51F0-491E-9774-3900AFEF0FD7}</a:tableStyleId>
              </a:tblPr>
              <a:tblGrid>
                <a:gridCol w="2846387">
                  <a:extLst>
                    <a:ext uri="{9D8B030D-6E8A-4147-A177-3AD203B41FA5}">
                      <a16:colId xmlns:a16="http://schemas.microsoft.com/office/drawing/2014/main" val="1659772581"/>
                    </a:ext>
                  </a:extLst>
                </a:gridCol>
                <a:gridCol w="2846387">
                  <a:extLst>
                    <a:ext uri="{9D8B030D-6E8A-4147-A177-3AD203B41FA5}">
                      <a16:colId xmlns:a16="http://schemas.microsoft.com/office/drawing/2014/main" val="83849183"/>
                    </a:ext>
                  </a:extLst>
                </a:gridCol>
                <a:gridCol w="2846387">
                  <a:extLst>
                    <a:ext uri="{9D8B030D-6E8A-4147-A177-3AD203B41FA5}">
                      <a16:colId xmlns:a16="http://schemas.microsoft.com/office/drawing/2014/main" val="184943073"/>
                    </a:ext>
                  </a:extLst>
                </a:gridCol>
                <a:gridCol w="2846387">
                  <a:extLst>
                    <a:ext uri="{9D8B030D-6E8A-4147-A177-3AD203B41FA5}">
                      <a16:colId xmlns:a16="http://schemas.microsoft.com/office/drawing/2014/main" val="1565107620"/>
                    </a:ext>
                  </a:extLst>
                </a:gridCol>
              </a:tblGrid>
              <a:tr h="435801">
                <a:tc>
                  <a:txBody>
                    <a:bodyPr/>
                    <a:lstStyle/>
                    <a:p>
                      <a:pPr algn="ctr"/>
                      <a:r>
                        <a:rPr lang="en-US" sz="1800" dirty="0">
                          <a:latin typeface="Book Antiqua" panose="02040602050305030304" pitchFamily="18" charset="0"/>
                        </a:rPr>
                        <a:t>Model Name</a:t>
                      </a:r>
                    </a:p>
                  </a:txBody>
                  <a:tcPr anchor="ctr"/>
                </a:tc>
                <a:tc>
                  <a:txBody>
                    <a:bodyPr/>
                    <a:lstStyle/>
                    <a:p>
                      <a:pPr algn="ctr"/>
                      <a:r>
                        <a:rPr lang="en-US" sz="1800" dirty="0">
                          <a:latin typeface="Book Antiqua" panose="02040602050305030304" pitchFamily="18" charset="0"/>
                        </a:rPr>
                        <a:t>Purpose</a:t>
                      </a:r>
                    </a:p>
                  </a:txBody>
                  <a:tcPr anchor="ctr"/>
                </a:tc>
                <a:tc>
                  <a:txBody>
                    <a:bodyPr/>
                    <a:lstStyle/>
                    <a:p>
                      <a:pPr algn="ctr"/>
                      <a:r>
                        <a:rPr lang="en-US" sz="1800" dirty="0">
                          <a:latin typeface="Book Antiqua" panose="02040602050305030304" pitchFamily="18" charset="0"/>
                        </a:rPr>
                        <a:t>Use case</a:t>
                      </a:r>
                    </a:p>
                  </a:txBody>
                  <a:tcPr anchor="ctr"/>
                </a:tc>
                <a:tc>
                  <a:txBody>
                    <a:bodyPr/>
                    <a:lstStyle/>
                    <a:p>
                      <a:pPr algn="ctr"/>
                      <a:r>
                        <a:rPr lang="en-US" sz="1800" dirty="0">
                          <a:latin typeface="Book Antiqua" panose="02040602050305030304" pitchFamily="18" charset="0"/>
                        </a:rPr>
                        <a:t>Calculated</a:t>
                      </a:r>
                    </a:p>
                  </a:txBody>
                  <a:tcPr anchor="ctr"/>
                </a:tc>
                <a:extLst>
                  <a:ext uri="{0D108BD9-81ED-4DB2-BD59-A6C34878D82A}">
                    <a16:rowId xmlns:a16="http://schemas.microsoft.com/office/drawing/2014/main" val="3642784348"/>
                  </a:ext>
                </a:extLst>
              </a:tr>
              <a:tr h="2041699">
                <a:tc>
                  <a:txBody>
                    <a:bodyPr/>
                    <a:lstStyle/>
                    <a:p>
                      <a:pPr algn="just"/>
                      <a:r>
                        <a:rPr lang="en-US" sz="1800" dirty="0">
                          <a:latin typeface="Book Antiqua" panose="02040602050305030304" pitchFamily="18" charset="0"/>
                        </a:rPr>
                        <a:t>Integer Linear Programming (ILP) &amp; Mixed-Integer Linear Programming (MILP)</a:t>
                      </a:r>
                    </a:p>
                  </a:txBody>
                  <a:tcPr/>
                </a:tc>
                <a:tc>
                  <a:txBody>
                    <a:bodyPr/>
                    <a:lstStyle/>
                    <a:p>
                      <a:pPr algn="just"/>
                      <a:r>
                        <a:rPr lang="en-US" sz="1800" dirty="0">
                          <a:latin typeface="Book Antiqua" panose="02040602050305030304" pitchFamily="18" charset="0"/>
                        </a:rPr>
                        <a:t>Minimizing cost in IoT and cloud computing; Optimizing resource allocation, task scheduling, and network design.</a:t>
                      </a:r>
                    </a:p>
                  </a:txBody>
                  <a:tcPr/>
                </a:tc>
                <a:tc>
                  <a:txBody>
                    <a:bodyPr/>
                    <a:lstStyle/>
                    <a:p>
                      <a:pPr algn="just"/>
                      <a:r>
                        <a:rPr lang="en-US" sz="1800" dirty="0">
                          <a:latin typeface="Book Antiqua" panose="02040602050305030304" pitchFamily="18" charset="0"/>
                        </a:rPr>
                        <a:t>Resource allocation, task scheduling, network design, and other optimization problems.</a:t>
                      </a:r>
                    </a:p>
                  </a:txBody>
                  <a:tcPr/>
                </a:tc>
                <a:tc>
                  <a:txBody>
                    <a:bodyPr/>
                    <a:lstStyle/>
                    <a:p>
                      <a:pPr algn="just"/>
                      <a:r>
                        <a:rPr lang="en-US" sz="1800" dirty="0">
                          <a:latin typeface="Book Antiqua" panose="02040602050305030304" pitchFamily="18" charset="0"/>
                        </a:rPr>
                        <a:t>Optimal resource allocation, task schedules, network configurations to minimize cost.</a:t>
                      </a:r>
                    </a:p>
                  </a:txBody>
                  <a:tcPr/>
                </a:tc>
                <a:extLst>
                  <a:ext uri="{0D108BD9-81ED-4DB2-BD59-A6C34878D82A}">
                    <a16:rowId xmlns:a16="http://schemas.microsoft.com/office/drawing/2014/main" val="3793897091"/>
                  </a:ext>
                </a:extLst>
              </a:tr>
              <a:tr h="3008819">
                <a:tc>
                  <a:txBody>
                    <a:bodyPr/>
                    <a:lstStyle/>
                    <a:p>
                      <a:pPr algn="l"/>
                      <a:r>
                        <a:rPr lang="en-US" sz="1800" dirty="0">
                          <a:latin typeface="Book Antiqua" panose="02040602050305030304" pitchFamily="18" charset="0"/>
                        </a:rPr>
                        <a:t>Petri Nets</a:t>
                      </a:r>
                    </a:p>
                  </a:txBody>
                  <a:tcPr/>
                </a:tc>
                <a:tc>
                  <a:txBody>
                    <a:bodyPr/>
                    <a:lstStyle/>
                    <a:p>
                      <a:pPr algn="l"/>
                      <a:r>
                        <a:rPr lang="en-US" sz="1800" dirty="0">
                          <a:latin typeface="Book Antiqua" panose="02040602050305030304" pitchFamily="18" charset="0"/>
                        </a:rPr>
                        <a:t>Modeling and analyzing the dynamics of C2F2T systems; Representing data flow, task execution, resource allocation, and synchronization; Verifying system correctness and performance.</a:t>
                      </a:r>
                    </a:p>
                  </a:txBody>
                  <a:tcPr/>
                </a:tc>
                <a:tc>
                  <a:txBody>
                    <a:bodyPr/>
                    <a:lstStyle/>
                    <a:p>
                      <a:pPr algn="l"/>
                      <a:r>
                        <a:rPr lang="en-US" sz="1800" dirty="0">
                          <a:latin typeface="Book Antiqua" panose="02040602050305030304" pitchFamily="18" charset="0"/>
                        </a:rPr>
                        <a:t>Data flow, task execution, resource allocation, and synchronization in C2F2T systems.</a:t>
                      </a:r>
                    </a:p>
                  </a:txBody>
                  <a:tcPr/>
                </a:tc>
                <a:tc>
                  <a:txBody>
                    <a:bodyPr/>
                    <a:lstStyle/>
                    <a:p>
                      <a:pPr algn="l"/>
                      <a:r>
                        <a:rPr lang="en-US" sz="1800" dirty="0">
                          <a:latin typeface="Book Antiqua" panose="02040602050305030304" pitchFamily="18" charset="0"/>
                        </a:rPr>
                        <a:t>System performance metrics (e.g., throughput, latency, resource utilization); Potential bottlenecks; System correctness and reliability.</a:t>
                      </a:r>
                    </a:p>
                  </a:txBody>
                  <a:tcPr/>
                </a:tc>
                <a:extLst>
                  <a:ext uri="{0D108BD9-81ED-4DB2-BD59-A6C34878D82A}">
                    <a16:rowId xmlns:a16="http://schemas.microsoft.com/office/drawing/2014/main" val="1000508896"/>
                  </a:ext>
                </a:extLst>
              </a:tr>
            </a:tbl>
          </a:graphicData>
        </a:graphic>
      </p:graphicFrame>
    </p:spTree>
    <p:extLst>
      <p:ext uri="{BB962C8B-B14F-4D97-AF65-F5344CB8AC3E}">
        <p14:creationId xmlns:p14="http://schemas.microsoft.com/office/powerpoint/2010/main" val="58666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BE54C-D292-4B26-BF19-AF30F281D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64EE4-C7E5-EEDB-347D-A5D17A0E9F2B}"/>
              </a:ext>
            </a:extLst>
          </p:cNvPr>
          <p:cNvSpPr>
            <a:spLocks noGrp="1"/>
          </p:cNvSpPr>
          <p:nvPr>
            <p:ph type="title"/>
          </p:nvPr>
        </p:nvSpPr>
        <p:spPr/>
        <p:txBody>
          <a:bodyPr>
            <a:noAutofit/>
          </a:bodyPr>
          <a:lstStyle/>
          <a:p>
            <a:r>
              <a:rPr lang="en-US" sz="2400" dirty="0"/>
              <a:t>Cloud-to-Fog-to-Internet of Things (C2F2T) – Other Analytical Model </a:t>
            </a:r>
          </a:p>
        </p:txBody>
      </p:sp>
      <p:sp>
        <p:nvSpPr>
          <p:cNvPr id="4" name="Content Placeholder 3">
            <a:extLst>
              <a:ext uri="{FF2B5EF4-FFF2-40B4-BE49-F238E27FC236}">
                <a16:creationId xmlns:a16="http://schemas.microsoft.com/office/drawing/2014/main" id="{1A06AEF4-E1B3-8AFE-70D1-667DFCA8374D}"/>
              </a:ext>
            </a:extLst>
          </p:cNvPr>
          <p:cNvSpPr>
            <a:spLocks noGrp="1"/>
          </p:cNvSpPr>
          <p:nvPr>
            <p:ph idx="1"/>
          </p:nvPr>
        </p:nvSpPr>
        <p:spPr/>
        <p:txBody>
          <a:bodyPr/>
          <a:lstStyle/>
          <a:p>
            <a:r>
              <a:rPr lang="en-US" dirty="0"/>
              <a:t> Presents a model to evaluate the security level of C2T systems, focusing on the flow of information and system states.</a:t>
            </a:r>
          </a:p>
          <a:p>
            <a:r>
              <a:rPr lang="en-US" dirty="0"/>
              <a:t> Uses a knapsack problem (MKP) to optimize service allocation in C2F2T scenarios, considering load balancing, delay, and energy consumption.</a:t>
            </a:r>
          </a:p>
          <a:p>
            <a:r>
              <a:rPr lang="en-US" dirty="0"/>
              <a:t> Formulates an optimization problem to maximize cloud service utilities and obtain optimal payment and computation offloading.</a:t>
            </a:r>
          </a:p>
        </p:txBody>
      </p:sp>
    </p:spTree>
    <p:extLst>
      <p:ext uri="{BB962C8B-B14F-4D97-AF65-F5344CB8AC3E}">
        <p14:creationId xmlns:p14="http://schemas.microsoft.com/office/powerpoint/2010/main" val="4286151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999B-E185-A070-314A-F7256EB82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770CE-78D4-7942-4E01-E2CD5195DA7F}"/>
              </a:ext>
            </a:extLst>
          </p:cNvPr>
          <p:cNvSpPr>
            <a:spLocks noGrp="1"/>
          </p:cNvSpPr>
          <p:nvPr>
            <p:ph type="title"/>
          </p:nvPr>
        </p:nvSpPr>
        <p:spPr/>
        <p:txBody>
          <a:bodyPr>
            <a:noAutofit/>
          </a:bodyPr>
          <a:lstStyle/>
          <a:p>
            <a:r>
              <a:rPr lang="en-US" sz="2400" dirty="0"/>
              <a:t>Cloud-to-Fog-to-Internet of Things (C2F2T) – Other Analytical Model </a:t>
            </a:r>
          </a:p>
        </p:txBody>
      </p:sp>
      <p:sp>
        <p:nvSpPr>
          <p:cNvPr id="4" name="Content Placeholder 3">
            <a:extLst>
              <a:ext uri="{FF2B5EF4-FFF2-40B4-BE49-F238E27FC236}">
                <a16:creationId xmlns:a16="http://schemas.microsoft.com/office/drawing/2014/main" id="{D65A2C1C-6926-AB55-0446-95E21F6A9E9D}"/>
              </a:ext>
            </a:extLst>
          </p:cNvPr>
          <p:cNvSpPr>
            <a:spLocks noGrp="1"/>
          </p:cNvSpPr>
          <p:nvPr>
            <p:ph idx="1"/>
          </p:nvPr>
        </p:nvSpPr>
        <p:spPr/>
        <p:txBody>
          <a:bodyPr>
            <a:normAutofit fontScale="92500"/>
          </a:bodyPr>
          <a:lstStyle/>
          <a:p>
            <a:r>
              <a:rPr lang="en-US" dirty="0"/>
              <a:t> Proposes analytical modeling to represent QoS of IoT composite services and optimize cost with QoS constraints.</a:t>
            </a:r>
          </a:p>
          <a:p>
            <a:r>
              <a:rPr lang="en-US" dirty="0"/>
              <a:t> Uses analytical models to decide whether computing should be offloaded to IoT devices or the cloud, considering QoS and energy levels.</a:t>
            </a:r>
          </a:p>
          <a:p>
            <a:r>
              <a:rPr lang="en-US" dirty="0"/>
              <a:t> Compares the performance of fog architecture against traditional cloud computing using analytical models.</a:t>
            </a:r>
          </a:p>
          <a:p>
            <a:r>
              <a:rPr lang="en-US"/>
              <a:t> Present analytical models to represent mobile nodes connected to cloud computing, considering device movement and architecture components</a:t>
            </a:r>
            <a:endParaRPr lang="en-US" dirty="0"/>
          </a:p>
        </p:txBody>
      </p:sp>
    </p:spTree>
    <p:extLst>
      <p:ext uri="{BB962C8B-B14F-4D97-AF65-F5344CB8AC3E}">
        <p14:creationId xmlns:p14="http://schemas.microsoft.com/office/powerpoint/2010/main" val="16283168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C32E3-F8D0-B2CF-6F1D-5F0E1F246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B5E82-3574-916D-76B6-11A803D9D45C}"/>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0F689552-8A8B-D86A-4470-03A3BE9D9E42}"/>
              </a:ext>
            </a:extLst>
          </p:cNvPr>
          <p:cNvSpPr>
            <a:spLocks noGrp="1"/>
          </p:cNvSpPr>
          <p:nvPr>
            <p:ph idx="1"/>
          </p:nvPr>
        </p:nvSpPr>
        <p:spPr/>
        <p:txBody>
          <a:bodyPr>
            <a:normAutofit/>
          </a:bodyPr>
          <a:lstStyle/>
          <a:p>
            <a:r>
              <a:rPr lang="en-US" dirty="0"/>
              <a:t>A powerful model for representing and analyzing systems (performance, dependability).</a:t>
            </a:r>
          </a:p>
          <a:p>
            <a:r>
              <a:rPr lang="en-US" dirty="0"/>
              <a:t> Offer flexibility in modeling (Markovian and non-Markovian distributions).</a:t>
            </a:r>
          </a:p>
          <a:p>
            <a:r>
              <a:rPr lang="en-US" dirty="0"/>
              <a:t> Can represent systems with fewer states compared to Markov chains.</a:t>
            </a:r>
          </a:p>
        </p:txBody>
      </p:sp>
    </p:spTree>
    <p:extLst>
      <p:ext uri="{BB962C8B-B14F-4D97-AF65-F5344CB8AC3E}">
        <p14:creationId xmlns:p14="http://schemas.microsoft.com/office/powerpoint/2010/main" val="2550567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DD3ED-95B4-A6BD-FC2F-2574837F4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D7F83-7D12-0479-8F7D-FADF45F198B4}"/>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0DFEB7AB-D99F-0672-F232-152DF57E90D9}"/>
              </a:ext>
            </a:extLst>
          </p:cNvPr>
          <p:cNvSpPr>
            <a:spLocks noGrp="1"/>
          </p:cNvSpPr>
          <p:nvPr>
            <p:ph idx="1"/>
          </p:nvPr>
        </p:nvSpPr>
        <p:spPr/>
        <p:txBody>
          <a:bodyPr>
            <a:normAutofit fontScale="85000" lnSpcReduction="10000"/>
          </a:bodyPr>
          <a:lstStyle/>
          <a:p>
            <a:r>
              <a:rPr lang="en-US" dirty="0"/>
              <a:t>Petri nets are a powerful formalism for modeling concurrent systems</a:t>
            </a:r>
          </a:p>
          <a:p>
            <a:pPr lvl="1"/>
            <a:r>
              <a:rPr lang="en-US" b="1" dirty="0"/>
              <a:t>Mobile Devices</a:t>
            </a:r>
            <a:r>
              <a:rPr lang="en-US" dirty="0"/>
              <a:t>: Each mobile device can be represented as a place in the Petri net. Tokens in the place indicate the availability of the device for sensing and data transmission.   </a:t>
            </a:r>
          </a:p>
          <a:p>
            <a:pPr lvl="1"/>
            <a:r>
              <a:rPr lang="en-US" b="1" dirty="0"/>
              <a:t>Sensing Tasks</a:t>
            </a:r>
            <a:r>
              <a:rPr lang="en-US" dirty="0"/>
              <a:t>: Sensing tasks, such as collecting location data, measuring temperature, or capturing images, can be modeled as transitions.</a:t>
            </a:r>
          </a:p>
          <a:p>
            <a:pPr lvl="1"/>
            <a:r>
              <a:rPr lang="en-US" b="1" dirty="0"/>
              <a:t>Data Flow</a:t>
            </a:r>
            <a:r>
              <a:rPr lang="en-US" dirty="0"/>
              <a:t>: The movement of data from the mobile devices to the central server or processing unit can be represented by directed arcs connecting places and transitions.</a:t>
            </a:r>
          </a:p>
          <a:p>
            <a:pPr lvl="1"/>
            <a:r>
              <a:rPr lang="en-US" b="1" dirty="0"/>
              <a:t>User Interactions</a:t>
            </a:r>
            <a:r>
              <a:rPr lang="en-US" dirty="0"/>
              <a:t>: User actions, such as initiating a sensing task, approving data sharing, or providing feedback, can be modeled as transitions.</a:t>
            </a:r>
          </a:p>
          <a:p>
            <a:pPr lvl="1"/>
            <a:r>
              <a:rPr lang="en-US" b="1" dirty="0"/>
              <a:t>System States</a:t>
            </a:r>
            <a:r>
              <a:rPr lang="en-US" dirty="0"/>
              <a:t>: Different states of the MCS system, such as idle, active sensing, data transmission, and data processing, can be represented by different markings of the Petri net (i.e., the distribution of tokens in the places).</a:t>
            </a:r>
          </a:p>
        </p:txBody>
      </p:sp>
    </p:spTree>
    <p:extLst>
      <p:ext uri="{BB962C8B-B14F-4D97-AF65-F5344CB8AC3E}">
        <p14:creationId xmlns:p14="http://schemas.microsoft.com/office/powerpoint/2010/main" val="3520874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D9984-A434-49DD-538A-500A4568A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3BDEC-7A7A-CFA6-B9CC-7A9856EE5649}"/>
              </a:ext>
            </a:extLst>
          </p:cNvPr>
          <p:cNvSpPr>
            <a:spLocks noGrp="1"/>
          </p:cNvSpPr>
          <p:nvPr>
            <p:ph type="title"/>
          </p:nvPr>
        </p:nvSpPr>
        <p:spPr/>
        <p:txBody>
          <a:bodyPr>
            <a:noAutofit/>
          </a:bodyPr>
          <a:lstStyle/>
          <a:p>
            <a:r>
              <a:rPr lang="en-US" sz="2400" dirty="0"/>
              <a:t>Cloud-to-Fog-to-Internet of Things (C2F2T) – Petri Net Models</a:t>
            </a:r>
          </a:p>
        </p:txBody>
      </p:sp>
      <p:pic>
        <p:nvPicPr>
          <p:cNvPr id="5" name="Content Placeholder 4" descr="A diagram of a network&#10;&#10;Description automatically generated">
            <a:extLst>
              <a:ext uri="{FF2B5EF4-FFF2-40B4-BE49-F238E27FC236}">
                <a16:creationId xmlns:a16="http://schemas.microsoft.com/office/drawing/2014/main" id="{90CD2B3B-EC40-3260-DCBD-B401092BB3A3}"/>
              </a:ext>
            </a:extLst>
          </p:cNvPr>
          <p:cNvPicPr>
            <a:picLocks noGrp="1" noChangeAspect="1"/>
          </p:cNvPicPr>
          <p:nvPr>
            <p:ph idx="1"/>
          </p:nvPr>
        </p:nvPicPr>
        <p:blipFill>
          <a:blip r:embed="rId2"/>
          <a:stretch>
            <a:fillRect/>
          </a:stretch>
        </p:blipFill>
        <p:spPr>
          <a:xfrm>
            <a:off x="520156" y="1052126"/>
            <a:ext cx="7924800" cy="5041900"/>
          </a:xfrm>
        </p:spPr>
      </p:pic>
      <p:sp>
        <p:nvSpPr>
          <p:cNvPr id="4" name="TextBox 3">
            <a:extLst>
              <a:ext uri="{FF2B5EF4-FFF2-40B4-BE49-F238E27FC236}">
                <a16:creationId xmlns:a16="http://schemas.microsoft.com/office/drawing/2014/main" id="{30717B1C-5869-72A2-D680-4FA69855FD47}"/>
              </a:ext>
            </a:extLst>
          </p:cNvPr>
          <p:cNvSpPr txBox="1"/>
          <p:nvPr/>
        </p:nvSpPr>
        <p:spPr>
          <a:xfrm>
            <a:off x="7707088" y="1199996"/>
            <a:ext cx="4180114" cy="2031325"/>
          </a:xfrm>
          <a:prstGeom prst="rect">
            <a:avLst/>
          </a:prstGeom>
          <a:noFill/>
        </p:spPr>
        <p:txBody>
          <a:bodyPr wrap="square">
            <a:spAutoFit/>
          </a:bodyPr>
          <a:lstStyle/>
          <a:p>
            <a:r>
              <a:rPr lang="en-US" dirty="0"/>
              <a:t>Circle - the state or condition of the system</a:t>
            </a:r>
          </a:p>
          <a:p>
            <a:endParaRPr lang="en-US" dirty="0"/>
          </a:p>
          <a:p>
            <a:r>
              <a:rPr lang="en-US" dirty="0"/>
              <a:t>Rectangle - model events or actions that cause state changes.</a:t>
            </a:r>
          </a:p>
          <a:p>
            <a:endParaRPr lang="en-US" dirty="0"/>
          </a:p>
          <a:p>
            <a:r>
              <a:rPr lang="en-US" dirty="0"/>
              <a:t>Arcs - indicate the flow of tokens </a:t>
            </a:r>
          </a:p>
        </p:txBody>
      </p:sp>
    </p:spTree>
    <p:extLst>
      <p:ext uri="{BB962C8B-B14F-4D97-AF65-F5344CB8AC3E}">
        <p14:creationId xmlns:p14="http://schemas.microsoft.com/office/powerpoint/2010/main" val="3095263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F626A-1104-BDCA-442D-080C209A6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01669-536E-74A1-0E4B-664CA06A6F18}"/>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4E160AFF-5147-BF02-5D74-B20CE80275ED}"/>
              </a:ext>
            </a:extLst>
          </p:cNvPr>
          <p:cNvSpPr>
            <a:spLocks noGrp="1"/>
          </p:cNvSpPr>
          <p:nvPr>
            <p:ph idx="1"/>
          </p:nvPr>
        </p:nvSpPr>
        <p:spPr/>
        <p:txBody>
          <a:bodyPr/>
          <a:lstStyle/>
          <a:p>
            <a:r>
              <a:rPr lang="en-US" dirty="0"/>
              <a:t> Investigated a </a:t>
            </a:r>
            <a:r>
              <a:rPr lang="en-US" b="1" i="1" dirty="0">
                <a:solidFill>
                  <a:srgbClr val="FF0000"/>
                </a:solidFill>
              </a:rPr>
              <a:t>mobile crowdsensing framework</a:t>
            </a:r>
            <a:r>
              <a:rPr lang="en-US" dirty="0"/>
              <a:t>.</a:t>
            </a:r>
          </a:p>
          <a:p>
            <a:r>
              <a:rPr lang="en-US" dirty="0"/>
              <a:t> Used Petri Nets to compare the proposed framework with standard architectures.</a:t>
            </a:r>
          </a:p>
          <a:p>
            <a:r>
              <a:rPr lang="en-US" dirty="0"/>
              <a:t> Modeled node states (availability, position) and transitions between them.</a:t>
            </a:r>
          </a:p>
          <a:p>
            <a:r>
              <a:rPr lang="en-US" dirty="0"/>
              <a:t> Highlighted the complexity of the proposed framework due to added modules.</a:t>
            </a:r>
          </a:p>
        </p:txBody>
      </p:sp>
    </p:spTree>
    <p:extLst>
      <p:ext uri="{BB962C8B-B14F-4D97-AF65-F5344CB8AC3E}">
        <p14:creationId xmlns:p14="http://schemas.microsoft.com/office/powerpoint/2010/main" val="337638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E1864-A472-6C8B-CA00-3E3749110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74ABA-7CC7-8285-472C-967AB764A27F}"/>
              </a:ext>
            </a:extLst>
          </p:cNvPr>
          <p:cNvSpPr>
            <a:spLocks noGrp="1"/>
          </p:cNvSpPr>
          <p:nvPr>
            <p:ph type="title"/>
          </p:nvPr>
        </p:nvSpPr>
        <p:spPr/>
        <p:txBody>
          <a:bodyPr>
            <a:noAutofit/>
          </a:bodyPr>
          <a:lstStyle/>
          <a:p>
            <a:r>
              <a:rPr lang="en-US" sz="2400" dirty="0"/>
              <a:t>Cloud-to-Fog-to-Internet of Things (C2F2T) – Petri Net Models</a:t>
            </a:r>
          </a:p>
        </p:txBody>
      </p:sp>
      <p:sp>
        <p:nvSpPr>
          <p:cNvPr id="4" name="Content Placeholder 3">
            <a:extLst>
              <a:ext uri="{FF2B5EF4-FFF2-40B4-BE49-F238E27FC236}">
                <a16:creationId xmlns:a16="http://schemas.microsoft.com/office/drawing/2014/main" id="{469228B1-47D2-0B63-4ACD-07C535983DBF}"/>
              </a:ext>
            </a:extLst>
          </p:cNvPr>
          <p:cNvSpPr>
            <a:spLocks noGrp="1"/>
          </p:cNvSpPr>
          <p:nvPr>
            <p:ph idx="1"/>
          </p:nvPr>
        </p:nvSpPr>
        <p:spPr/>
        <p:txBody>
          <a:bodyPr/>
          <a:lstStyle/>
          <a:p>
            <a:r>
              <a:rPr lang="en-US" dirty="0"/>
              <a:t> Focused on </a:t>
            </a:r>
            <a:r>
              <a:rPr lang="en-US" b="1" i="1" dirty="0">
                <a:solidFill>
                  <a:srgbClr val="FF0000"/>
                </a:solidFill>
              </a:rPr>
              <a:t>data traceability in a C2T </a:t>
            </a:r>
            <a:r>
              <a:rPr lang="en-US" dirty="0"/>
              <a:t>(Continuous Care and Treatment) scenario.</a:t>
            </a:r>
          </a:p>
          <a:p>
            <a:r>
              <a:rPr lang="en-US" dirty="0"/>
              <a:t> Employed a Petri Net to map and match device data to users.</a:t>
            </a:r>
          </a:p>
          <a:p>
            <a:r>
              <a:rPr lang="en-US" dirty="0"/>
              <a:t> Used the Petri Net to represent the behavior of a wearable IoT architecture.</a:t>
            </a:r>
          </a:p>
          <a:p>
            <a:r>
              <a:rPr lang="en-US" dirty="0"/>
              <a:t> Modeled data sources and events (e.g., new medical data readings).</a:t>
            </a:r>
          </a:p>
        </p:txBody>
      </p:sp>
    </p:spTree>
    <p:extLst>
      <p:ext uri="{BB962C8B-B14F-4D97-AF65-F5344CB8AC3E}">
        <p14:creationId xmlns:p14="http://schemas.microsoft.com/office/powerpoint/2010/main" val="3276945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093BE-AC86-78F7-229D-27013F648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901E5-4D2A-DAA0-8A8B-9F9DA150C62D}"/>
              </a:ext>
            </a:extLst>
          </p:cNvPr>
          <p:cNvSpPr>
            <a:spLocks noGrp="1"/>
          </p:cNvSpPr>
          <p:nvPr>
            <p:ph type="title"/>
          </p:nvPr>
        </p:nvSpPr>
        <p:spPr/>
        <p:txBody>
          <a:bodyPr>
            <a:noAutofit/>
          </a:bodyPr>
          <a:lstStyle/>
          <a:p>
            <a:r>
              <a:rPr lang="en-US" sz="2400" dirty="0"/>
              <a:t>Cloud-to-Fog-to-Internet of Things (C2F2T) – Petri Net Models</a:t>
            </a:r>
          </a:p>
        </p:txBody>
      </p:sp>
      <p:pic>
        <p:nvPicPr>
          <p:cNvPr id="5" name="Content Placeholder 4" descr="A diagram of a network&#10;&#10;Description automatically generated">
            <a:extLst>
              <a:ext uri="{FF2B5EF4-FFF2-40B4-BE49-F238E27FC236}">
                <a16:creationId xmlns:a16="http://schemas.microsoft.com/office/drawing/2014/main" id="{70524787-CDBC-87B7-C9C3-701EFBAA800B}"/>
              </a:ext>
            </a:extLst>
          </p:cNvPr>
          <p:cNvPicPr>
            <a:picLocks noGrp="1" noChangeAspect="1"/>
          </p:cNvPicPr>
          <p:nvPr>
            <p:ph idx="1"/>
          </p:nvPr>
        </p:nvPicPr>
        <p:blipFill>
          <a:blip r:embed="rId2"/>
          <a:stretch>
            <a:fillRect/>
          </a:stretch>
        </p:blipFill>
        <p:spPr>
          <a:xfrm>
            <a:off x="3405404" y="1050925"/>
            <a:ext cx="5393892" cy="5357813"/>
          </a:xfrm>
        </p:spPr>
      </p:pic>
    </p:spTree>
    <p:extLst>
      <p:ext uri="{BB962C8B-B14F-4D97-AF65-F5344CB8AC3E}">
        <p14:creationId xmlns:p14="http://schemas.microsoft.com/office/powerpoint/2010/main" val="3493559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5F142-588A-22CE-BB6B-04028C8C2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0DD94-D182-69D5-92FB-9F5D82307E70}"/>
              </a:ext>
            </a:extLst>
          </p:cNvPr>
          <p:cNvSpPr>
            <a:spLocks noGrp="1"/>
          </p:cNvSpPr>
          <p:nvPr>
            <p:ph type="title"/>
          </p:nvPr>
        </p:nvSpPr>
        <p:spPr/>
        <p:txBody>
          <a:bodyPr>
            <a:noAutofit/>
          </a:bodyPr>
          <a:lstStyle/>
          <a:p>
            <a:r>
              <a:rPr lang="en-US" sz="2400" dirty="0"/>
              <a:t>Cloud-to-Fog-to-Internet of Things (C2F2T) – Integer Linear Programming</a:t>
            </a:r>
          </a:p>
        </p:txBody>
      </p:sp>
      <p:sp>
        <p:nvSpPr>
          <p:cNvPr id="4" name="Content Placeholder 3">
            <a:extLst>
              <a:ext uri="{FF2B5EF4-FFF2-40B4-BE49-F238E27FC236}">
                <a16:creationId xmlns:a16="http://schemas.microsoft.com/office/drawing/2014/main" id="{7CEE8ABF-B288-667F-E59E-38E92A3E90C9}"/>
              </a:ext>
            </a:extLst>
          </p:cNvPr>
          <p:cNvSpPr>
            <a:spLocks noGrp="1"/>
          </p:cNvSpPr>
          <p:nvPr>
            <p:ph idx="1"/>
          </p:nvPr>
        </p:nvSpPr>
        <p:spPr/>
        <p:txBody>
          <a:bodyPr/>
          <a:lstStyle/>
          <a:p>
            <a:r>
              <a:rPr lang="en-US" dirty="0"/>
              <a:t> A method for solving optimization problems where all variables are integers.</a:t>
            </a:r>
          </a:p>
          <a:p>
            <a:r>
              <a:rPr lang="en-US" dirty="0"/>
              <a:t> Objective function and constraints are linear.</a:t>
            </a:r>
          </a:p>
          <a:p>
            <a:r>
              <a:rPr lang="en-US" dirty="0"/>
              <a:t> Mixed-Integer Linear Programming (MILP):</a:t>
            </a:r>
          </a:p>
          <a:p>
            <a:r>
              <a:rPr lang="en-US" dirty="0"/>
              <a:t>An extension of ILP that allows both continuous and integer variables.</a:t>
            </a:r>
          </a:p>
        </p:txBody>
      </p:sp>
    </p:spTree>
    <p:extLst>
      <p:ext uri="{BB962C8B-B14F-4D97-AF65-F5344CB8AC3E}">
        <p14:creationId xmlns:p14="http://schemas.microsoft.com/office/powerpoint/2010/main" val="18256792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51A47-6958-77A6-5157-EC0AE34F9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EDA7D-173E-80A1-50E0-5A06FCDC31DA}"/>
              </a:ext>
            </a:extLst>
          </p:cNvPr>
          <p:cNvSpPr>
            <a:spLocks noGrp="1"/>
          </p:cNvSpPr>
          <p:nvPr>
            <p:ph type="title"/>
          </p:nvPr>
        </p:nvSpPr>
        <p:spPr/>
        <p:txBody>
          <a:bodyPr>
            <a:noAutofit/>
          </a:bodyPr>
          <a:lstStyle/>
          <a:p>
            <a:r>
              <a:rPr lang="en-US" sz="2400" dirty="0"/>
              <a:t>Cloud-to-Fog-to-Internet of Things (C2F2T) – Integer Linear Programming</a:t>
            </a:r>
          </a:p>
        </p:txBody>
      </p:sp>
      <p:sp>
        <p:nvSpPr>
          <p:cNvPr id="4" name="Content Placeholder 3">
            <a:extLst>
              <a:ext uri="{FF2B5EF4-FFF2-40B4-BE49-F238E27FC236}">
                <a16:creationId xmlns:a16="http://schemas.microsoft.com/office/drawing/2014/main" id="{E0516CA0-541D-3D40-C11F-392CE79FF9E6}"/>
              </a:ext>
            </a:extLst>
          </p:cNvPr>
          <p:cNvSpPr>
            <a:spLocks noGrp="1"/>
          </p:cNvSpPr>
          <p:nvPr>
            <p:ph idx="1"/>
          </p:nvPr>
        </p:nvSpPr>
        <p:spPr/>
        <p:txBody>
          <a:bodyPr/>
          <a:lstStyle/>
          <a:p>
            <a:r>
              <a:rPr lang="en-US" dirty="0"/>
              <a:t> Used </a:t>
            </a:r>
            <a:r>
              <a:rPr lang="en-US" sz="2800" dirty="0"/>
              <a:t>Integer Linear Programming (</a:t>
            </a:r>
            <a:r>
              <a:rPr lang="en-US" dirty="0"/>
              <a:t>ILP) to minimize the financial cost of a fog-cloud architecture in a MAN.</a:t>
            </a:r>
          </a:p>
          <a:p>
            <a:r>
              <a:rPr lang="en-US" dirty="0"/>
              <a:t> Considered costs related to processing, storage, upstream/downstream traffic, and network capacity.</a:t>
            </a:r>
          </a:p>
          <a:p>
            <a:r>
              <a:rPr lang="en-US" dirty="0"/>
              <a:t> Represented application profiles and node characteristics as vectors.</a:t>
            </a:r>
          </a:p>
        </p:txBody>
      </p:sp>
    </p:spTree>
    <p:extLst>
      <p:ext uri="{BB962C8B-B14F-4D97-AF65-F5344CB8AC3E}">
        <p14:creationId xmlns:p14="http://schemas.microsoft.com/office/powerpoint/2010/main" val="24195010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356B-1EF6-A6A6-5BBC-BE89632C4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D62F5-2910-976C-8DD2-6A414C649DDB}"/>
              </a:ext>
            </a:extLst>
          </p:cNvPr>
          <p:cNvSpPr>
            <a:spLocks noGrp="1"/>
          </p:cNvSpPr>
          <p:nvPr>
            <p:ph type="title"/>
          </p:nvPr>
        </p:nvSpPr>
        <p:spPr/>
        <p:txBody>
          <a:bodyPr>
            <a:noAutofit/>
          </a:bodyPr>
          <a:lstStyle/>
          <a:p>
            <a:r>
              <a:rPr lang="en-US" sz="2400" dirty="0"/>
              <a:t>Cloud-to-Fog-to-Internet of Things (C2F2T) – Integer Linear Programming</a:t>
            </a:r>
          </a:p>
        </p:txBody>
      </p:sp>
      <p:sp>
        <p:nvSpPr>
          <p:cNvPr id="4" name="Content Placeholder 3">
            <a:extLst>
              <a:ext uri="{FF2B5EF4-FFF2-40B4-BE49-F238E27FC236}">
                <a16:creationId xmlns:a16="http://schemas.microsoft.com/office/drawing/2014/main" id="{F0DB50B0-C75F-9D6C-0AD2-8800BC9F14DA}"/>
              </a:ext>
            </a:extLst>
          </p:cNvPr>
          <p:cNvSpPr>
            <a:spLocks noGrp="1"/>
          </p:cNvSpPr>
          <p:nvPr>
            <p:ph idx="1"/>
          </p:nvPr>
        </p:nvSpPr>
        <p:spPr/>
        <p:txBody>
          <a:bodyPr/>
          <a:lstStyle/>
          <a:p>
            <a:r>
              <a:rPr lang="en-US" dirty="0"/>
              <a:t> Employed MILP to minimize energy consumption in an IoT architecture with mini-clouds.</a:t>
            </a:r>
          </a:p>
          <a:p>
            <a:r>
              <a:rPr lang="en-US" dirty="0"/>
              <a:t> Considered traffic-induced and processing-induced energy consumption.</a:t>
            </a:r>
          </a:p>
          <a:p>
            <a:endParaRPr lang="en-US" dirty="0"/>
          </a:p>
        </p:txBody>
      </p:sp>
    </p:spTree>
    <p:extLst>
      <p:ext uri="{BB962C8B-B14F-4D97-AF65-F5344CB8AC3E}">
        <p14:creationId xmlns:p14="http://schemas.microsoft.com/office/powerpoint/2010/main" val="1001537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9D5ED-E386-520C-2D6C-E3D10FC2F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87AAC-2560-E2DD-58DA-2E93F6E3BCF1}"/>
              </a:ext>
            </a:extLst>
          </p:cNvPr>
          <p:cNvSpPr>
            <a:spLocks noGrp="1"/>
          </p:cNvSpPr>
          <p:nvPr>
            <p:ph type="title"/>
          </p:nvPr>
        </p:nvSpPr>
        <p:spPr/>
        <p:txBody>
          <a:bodyPr>
            <a:noAutofit/>
          </a:bodyPr>
          <a:lstStyle/>
          <a:p>
            <a:r>
              <a:rPr lang="en-US" sz="2400" dirty="0"/>
              <a:t>Cloud-to-Fog-to-Internet of Things (C2F2T) – Other Approaches</a:t>
            </a:r>
          </a:p>
        </p:txBody>
      </p:sp>
      <p:sp>
        <p:nvSpPr>
          <p:cNvPr id="4" name="Content Placeholder 3">
            <a:extLst>
              <a:ext uri="{FF2B5EF4-FFF2-40B4-BE49-F238E27FC236}">
                <a16:creationId xmlns:a16="http://schemas.microsoft.com/office/drawing/2014/main" id="{64B8888B-CDFB-27D2-43D5-0659BE76C558}"/>
              </a:ext>
            </a:extLst>
          </p:cNvPr>
          <p:cNvSpPr>
            <a:spLocks noGrp="1"/>
          </p:cNvSpPr>
          <p:nvPr>
            <p:ph idx="1"/>
          </p:nvPr>
        </p:nvSpPr>
        <p:spPr>
          <a:xfrm>
            <a:off x="409934" y="1050784"/>
            <a:ext cx="5333641" cy="5350016"/>
          </a:xfrm>
        </p:spPr>
        <p:txBody>
          <a:bodyPr>
            <a:normAutofit lnSpcReduction="10000"/>
          </a:bodyPr>
          <a:lstStyle/>
          <a:p>
            <a:r>
              <a:rPr lang="en-US" b="1" dirty="0"/>
              <a:t>Markov Chains:</a:t>
            </a:r>
          </a:p>
          <a:p>
            <a:pPr lvl="1"/>
            <a:r>
              <a:rPr lang="en-US" dirty="0"/>
              <a:t>Model sequences of events where the current state depends only on the previous state.</a:t>
            </a:r>
          </a:p>
          <a:p>
            <a:pPr lvl="1"/>
            <a:r>
              <a:rPr lang="en-US" dirty="0"/>
              <a:t>Used in [21] to model energy consumption in an IoT-based collision detection system.</a:t>
            </a:r>
          </a:p>
          <a:p>
            <a:pPr lvl="1"/>
            <a:r>
              <a:rPr lang="en-US" dirty="0"/>
              <a:t>Energy consumption is estimated by calculating the probability of each system state.</a:t>
            </a:r>
          </a:p>
          <a:p>
            <a:endParaRPr lang="en-US" dirty="0"/>
          </a:p>
          <a:p>
            <a:endParaRPr lang="en-US" dirty="0"/>
          </a:p>
        </p:txBody>
      </p:sp>
      <p:pic>
        <p:nvPicPr>
          <p:cNvPr id="3" name="Picture 2" descr="A diagram of a network&#10;&#10;Description automatically generated">
            <a:extLst>
              <a:ext uri="{FF2B5EF4-FFF2-40B4-BE49-F238E27FC236}">
                <a16:creationId xmlns:a16="http://schemas.microsoft.com/office/drawing/2014/main" id="{22466BF3-A723-BAC6-E1DD-0B60713EE742}"/>
              </a:ext>
            </a:extLst>
          </p:cNvPr>
          <p:cNvPicPr>
            <a:picLocks noChangeAspect="1"/>
          </p:cNvPicPr>
          <p:nvPr/>
        </p:nvPicPr>
        <p:blipFill>
          <a:blip r:embed="rId2"/>
          <a:stretch>
            <a:fillRect/>
          </a:stretch>
        </p:blipFill>
        <p:spPr>
          <a:xfrm>
            <a:off x="5559066" y="1358900"/>
            <a:ext cx="6223000" cy="3683000"/>
          </a:xfrm>
          <a:prstGeom prst="rect">
            <a:avLst/>
          </a:prstGeom>
        </p:spPr>
      </p:pic>
    </p:spTree>
    <p:extLst>
      <p:ext uri="{BB962C8B-B14F-4D97-AF65-F5344CB8AC3E}">
        <p14:creationId xmlns:p14="http://schemas.microsoft.com/office/powerpoint/2010/main" val="2341930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A30BA-DE58-9EE3-4020-6B96B0596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E6D3A-89F7-67FF-AA82-DBA71886E586}"/>
              </a:ext>
            </a:extLst>
          </p:cNvPr>
          <p:cNvSpPr>
            <a:spLocks noGrp="1"/>
          </p:cNvSpPr>
          <p:nvPr>
            <p:ph type="title"/>
          </p:nvPr>
        </p:nvSpPr>
        <p:spPr/>
        <p:txBody>
          <a:bodyPr>
            <a:noAutofit/>
          </a:bodyPr>
          <a:lstStyle/>
          <a:p>
            <a:r>
              <a:rPr lang="en-US" sz="2400" dirty="0"/>
              <a:t>Cloud-to-Fog-to-Internet of Things (C2F2T) – Other Approaches</a:t>
            </a:r>
          </a:p>
        </p:txBody>
      </p:sp>
      <p:sp>
        <p:nvSpPr>
          <p:cNvPr id="4" name="Content Placeholder 3">
            <a:extLst>
              <a:ext uri="{FF2B5EF4-FFF2-40B4-BE49-F238E27FC236}">
                <a16:creationId xmlns:a16="http://schemas.microsoft.com/office/drawing/2014/main" id="{E686F20F-5DF7-2933-9297-6081341FF2FB}"/>
              </a:ext>
            </a:extLst>
          </p:cNvPr>
          <p:cNvSpPr>
            <a:spLocks noGrp="1"/>
          </p:cNvSpPr>
          <p:nvPr>
            <p:ph idx="1"/>
          </p:nvPr>
        </p:nvSpPr>
        <p:spPr/>
        <p:txBody>
          <a:bodyPr>
            <a:normAutofit fontScale="85000" lnSpcReduction="20000"/>
          </a:bodyPr>
          <a:lstStyle/>
          <a:p>
            <a:r>
              <a:rPr lang="en-US" b="1" dirty="0"/>
              <a:t>Bayesian Probability:</a:t>
            </a:r>
            <a:endParaRPr lang="en-US" dirty="0"/>
          </a:p>
          <a:p>
            <a:pPr lvl="1"/>
            <a:r>
              <a:rPr lang="en-US" dirty="0"/>
              <a:t>Represents the probability of an event considering prior knowledge and available information.</a:t>
            </a:r>
          </a:p>
          <a:p>
            <a:pPr lvl="1"/>
            <a:r>
              <a:rPr lang="en-US" dirty="0"/>
              <a:t>Used in [24] to predict future events in IoT applications.</a:t>
            </a:r>
          </a:p>
          <a:p>
            <a:pPr lvl="1"/>
            <a:r>
              <a:rPr lang="en-US" dirty="0"/>
              <a:t>Focuses on calculating conditional probabilities of events.</a:t>
            </a:r>
          </a:p>
          <a:p>
            <a:pPr marL="0" indent="0">
              <a:buNone/>
            </a:pPr>
            <a:r>
              <a:rPr lang="en-US" b="1" dirty="0"/>
              <a:t> </a:t>
            </a:r>
          </a:p>
          <a:p>
            <a:r>
              <a:rPr lang="en-US" b="1" dirty="0"/>
              <a:t>Fuzzy-Ontology:</a:t>
            </a:r>
          </a:p>
          <a:p>
            <a:pPr lvl="1"/>
            <a:r>
              <a:rPr lang="en-US" dirty="0"/>
              <a:t>Combines ontology (for describing system components and their relationships) with fuzzy logic (for handling uncertainty and imprecision).</a:t>
            </a:r>
          </a:p>
          <a:p>
            <a:pPr lvl="1"/>
            <a:r>
              <a:rPr lang="en-US" dirty="0"/>
              <a:t>Used in [17] to analyze faults in WSN scenarios.</a:t>
            </a:r>
          </a:p>
          <a:p>
            <a:pPr lvl="1"/>
            <a:r>
              <a:rPr lang="en-US" dirty="0"/>
              <a:t>Provides a flexible framework for detecting and categorizing faults from different perspectives.</a:t>
            </a:r>
          </a:p>
        </p:txBody>
      </p:sp>
    </p:spTree>
    <p:extLst>
      <p:ext uri="{BB962C8B-B14F-4D97-AF65-F5344CB8AC3E}">
        <p14:creationId xmlns:p14="http://schemas.microsoft.com/office/powerpoint/2010/main" val="33048822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2B3FC-626A-4FD5-0BF1-DE7A9F2E2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7A97F-BAE0-9FF5-FA29-CCB3B8A12742}"/>
              </a:ext>
            </a:extLst>
          </p:cNvPr>
          <p:cNvSpPr>
            <a:spLocks noGrp="1"/>
          </p:cNvSpPr>
          <p:nvPr>
            <p:ph type="title"/>
          </p:nvPr>
        </p:nvSpPr>
        <p:spPr/>
        <p:txBody>
          <a:bodyPr>
            <a:noAutofit/>
          </a:bodyPr>
          <a:lstStyle/>
          <a:p>
            <a:r>
              <a:rPr lang="en-US" sz="2400" dirty="0"/>
              <a:t>Cloud-to-Fog-to-Internet of Things (C2F2T) – Other Approaches</a:t>
            </a:r>
          </a:p>
        </p:txBody>
      </p:sp>
      <p:pic>
        <p:nvPicPr>
          <p:cNvPr id="5" name="Content Placeholder 4" descr="A diagram of a problem&#10;&#10;Description automatically generated">
            <a:extLst>
              <a:ext uri="{FF2B5EF4-FFF2-40B4-BE49-F238E27FC236}">
                <a16:creationId xmlns:a16="http://schemas.microsoft.com/office/drawing/2014/main" id="{E4F8E1D1-B43B-29F2-116A-658B63FDBB70}"/>
              </a:ext>
            </a:extLst>
          </p:cNvPr>
          <p:cNvPicPr>
            <a:picLocks noGrp="1" noChangeAspect="1"/>
          </p:cNvPicPr>
          <p:nvPr>
            <p:ph idx="1"/>
          </p:nvPr>
        </p:nvPicPr>
        <p:blipFill>
          <a:blip r:embed="rId2"/>
          <a:stretch>
            <a:fillRect/>
          </a:stretch>
        </p:blipFill>
        <p:spPr>
          <a:xfrm>
            <a:off x="581842" y="951054"/>
            <a:ext cx="10730592" cy="5454088"/>
          </a:xfrm>
        </p:spPr>
      </p:pic>
    </p:spTree>
    <p:extLst>
      <p:ext uri="{BB962C8B-B14F-4D97-AF65-F5344CB8AC3E}">
        <p14:creationId xmlns:p14="http://schemas.microsoft.com/office/powerpoint/2010/main" val="2151009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0EF4-793D-512E-AB96-C6F6C71D3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D7A72-FC57-0745-E528-6F57048B42D0}"/>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845B1DAA-9B61-ADE8-4FE4-288537E7D01D}"/>
              </a:ext>
            </a:extLst>
          </p:cNvPr>
          <p:cNvGraphicFramePr>
            <a:graphicFrameLocks noGrp="1"/>
          </p:cNvGraphicFramePr>
          <p:nvPr>
            <p:ph idx="1"/>
            <p:extLst>
              <p:ext uri="{D42A27DB-BD31-4B8C-83A1-F6EECF244321}">
                <p14:modId xmlns:p14="http://schemas.microsoft.com/office/powerpoint/2010/main" val="2245095261"/>
              </p:ext>
            </p:extLst>
          </p:nvPr>
        </p:nvGraphicFramePr>
        <p:xfrm>
          <a:off x="409935" y="951054"/>
          <a:ext cx="11385550" cy="5484683"/>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348036">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078579">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 of Devices in Cloud-IoT Context</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Analyze the relationship between energy consumption of IoT devices and cloud billing costs.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Improve 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Consumption of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Analyze energy consumption in a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Consumption in Fog-IoT Integration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Energy Consumption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Reduce energy consumption by integrating IoT and fog computing.</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r h="1078579">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Allocation in C2F2T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Energy Consumption, Resource Usage</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Optimize resource allocation considering energy consumption, processing capacity, and overall service allocation.</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7387174"/>
                  </a:ext>
                </a:extLst>
              </a:tr>
              <a:tr h="712644">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Analytical Model</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Resource Management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QoS in IoT and Cloud-IoT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a:effectLst/>
                          <a:latin typeface="Book Antiqua" panose="02040602050305030304" pitchFamily="18" charset="0"/>
                        </a:rPr>
                        <a:t>Response Time, Reliability, Availability</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effectLst/>
                          <a:latin typeface="Book Antiqua" panose="02040602050305030304" pitchFamily="18" charset="0"/>
                        </a:rPr>
                        <a:t>Calculate QoS of IoT services and predict QoS for IoT and cloud services.</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2005251"/>
                  </a:ext>
                </a:extLst>
              </a:tr>
            </a:tbl>
          </a:graphicData>
        </a:graphic>
      </p:graphicFrame>
    </p:spTree>
    <p:extLst>
      <p:ext uri="{BB962C8B-B14F-4D97-AF65-F5344CB8AC3E}">
        <p14:creationId xmlns:p14="http://schemas.microsoft.com/office/powerpoint/2010/main" val="27740557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3C18E-2079-365D-E143-8799A8591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78A18-973F-C3EC-C7CF-9BD3A8316A0E}"/>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BB979645-C7E4-5153-852E-D55B6087BC7E}"/>
              </a:ext>
            </a:extLst>
          </p:cNvPr>
          <p:cNvGraphicFramePr>
            <a:graphicFrameLocks noGrp="1"/>
          </p:cNvGraphicFramePr>
          <p:nvPr>
            <p:ph idx="1"/>
            <p:extLst>
              <p:ext uri="{D42A27DB-BD31-4B8C-83A1-F6EECF244321}">
                <p14:modId xmlns:p14="http://schemas.microsoft.com/office/powerpoint/2010/main" val="1373582929"/>
              </p:ext>
            </p:extLst>
          </p:nvPr>
        </p:nvGraphicFramePr>
        <p:xfrm>
          <a:off x="409935" y="951054"/>
          <a:ext cx="11385550" cy="5713951"/>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348036">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078579">
                <a:tc>
                  <a:txBody>
                    <a:bodyPr/>
                    <a:lstStyle/>
                    <a:p>
                      <a:pPr algn="ctr">
                        <a:lnSpc>
                          <a:spcPct val="115000"/>
                        </a:lnSpc>
                        <a:spcAft>
                          <a:spcPts val="800"/>
                        </a:spcAft>
                      </a:pPr>
                      <a:r>
                        <a:rPr lang="en-IN" sz="16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 Quality Sensing with Mobile Devices</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Percentage Energy Saved</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energy consumption in a mobile crowdsensing application.</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(Object Detection Accuracy), Energy Consumption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Living Spaces with Cloud Access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Scheduling Performance (Scalability, Waiting Time, Throughput)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scheduling model for managing sensor applications in a smart living space.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Fire Alarm System</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the reliability of a fire alarm system in an IoT context.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r h="1078579">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Tolerance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Packet Delivery Latency</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a WSN for sensing as a service integrated with IoT and cloud.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7387174"/>
                  </a:ext>
                </a:extLst>
              </a:tr>
              <a:tr h="712644">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 Monitoring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framework for sharing IoT devices in health monitoring.</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2005251"/>
                  </a:ext>
                </a:extLst>
              </a:tr>
            </a:tbl>
          </a:graphicData>
        </a:graphic>
      </p:graphicFrame>
    </p:spTree>
    <p:extLst>
      <p:ext uri="{BB962C8B-B14F-4D97-AF65-F5344CB8AC3E}">
        <p14:creationId xmlns:p14="http://schemas.microsoft.com/office/powerpoint/2010/main" val="16504918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BF67B-E1B5-3ED9-B794-5CFE8E476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40D8A-560F-6197-5735-8D723F6BE2A8}"/>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6402C580-B651-0BB4-EF47-6AB7DBFB1E50}"/>
              </a:ext>
            </a:extLst>
          </p:cNvPr>
          <p:cNvGraphicFramePr>
            <a:graphicFrameLocks noGrp="1"/>
          </p:cNvGraphicFramePr>
          <p:nvPr>
            <p:ph idx="1"/>
            <p:extLst>
              <p:ext uri="{D42A27DB-BD31-4B8C-83A1-F6EECF244321}">
                <p14:modId xmlns:p14="http://schemas.microsoft.com/office/powerpoint/2010/main" val="3788594429"/>
              </p:ext>
            </p:extLst>
          </p:nvPr>
        </p:nvGraphicFramePr>
        <p:xfrm>
          <a:off x="409935" y="951054"/>
          <a:ext cx="11385550" cy="5518262"/>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348036">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078579">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Medical Research</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Security (Opacity)</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err="1">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Analyze</a:t>
                      </a: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 security of information flow in cloud-integrated IoT systems.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Three-tier C2F2T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Represent a generic C2F2T architecture and analyze energy consumption and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Fog Computing for Improved Response Time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Effective Arrival Rate, Average System Response, Average Buffer Occupancy</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response time of IoT systems using fog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Fog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Compare performance of fog architecture against traditional cloud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r h="1078579">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Edge Offloading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 (Cloud and IoT Device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mobile user experience by offloading computation to the edge.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7387174"/>
                  </a:ext>
                </a:extLst>
              </a:tr>
              <a:tr h="712644">
                <a:tc>
                  <a:txBody>
                    <a:bodyPr/>
                    <a:lstStyle/>
                    <a:p>
                      <a:pPr algn="ctr">
                        <a:lnSpc>
                          <a:spcPct val="115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Crowdsensing in Smart Traffic</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System Effectiveness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a mobile crowdsensing-as-a-service architecture.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2005251"/>
                  </a:ext>
                </a:extLst>
              </a:tr>
            </a:tbl>
          </a:graphicData>
        </a:graphic>
      </p:graphicFrame>
    </p:spTree>
    <p:extLst>
      <p:ext uri="{BB962C8B-B14F-4D97-AF65-F5344CB8AC3E}">
        <p14:creationId xmlns:p14="http://schemas.microsoft.com/office/powerpoint/2010/main" val="2886734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7FF40-B49B-0125-4C20-465B8EFC4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5D061-ABB7-E0D0-2AB5-B3E45CAE42CD}"/>
              </a:ext>
            </a:extLst>
          </p:cNvPr>
          <p:cNvSpPr>
            <a:spLocks noGrp="1"/>
          </p:cNvSpPr>
          <p:nvPr>
            <p:ph type="title"/>
          </p:nvPr>
        </p:nvSpPr>
        <p:spPr/>
        <p:txBody>
          <a:bodyPr>
            <a:noAutofit/>
          </a:bodyPr>
          <a:lstStyle/>
          <a:p>
            <a:r>
              <a:rPr lang="en-US" sz="2400" dirty="0"/>
              <a:t>Integrated C2F2T Literature by Modeling Technique</a:t>
            </a:r>
          </a:p>
        </p:txBody>
      </p:sp>
      <p:graphicFrame>
        <p:nvGraphicFramePr>
          <p:cNvPr id="6" name="Content Placeholder 5">
            <a:extLst>
              <a:ext uri="{FF2B5EF4-FFF2-40B4-BE49-F238E27FC236}">
                <a16:creationId xmlns:a16="http://schemas.microsoft.com/office/drawing/2014/main" id="{A574CF31-C1D8-EB5F-198D-CC510948DB0D}"/>
              </a:ext>
            </a:extLst>
          </p:cNvPr>
          <p:cNvGraphicFramePr>
            <a:graphicFrameLocks noGrp="1"/>
          </p:cNvGraphicFramePr>
          <p:nvPr>
            <p:ph idx="1"/>
            <p:extLst>
              <p:ext uri="{D42A27DB-BD31-4B8C-83A1-F6EECF244321}">
                <p14:modId xmlns:p14="http://schemas.microsoft.com/office/powerpoint/2010/main" val="1522538665"/>
              </p:ext>
            </p:extLst>
          </p:nvPr>
        </p:nvGraphicFramePr>
        <p:xfrm>
          <a:off x="409935" y="951053"/>
          <a:ext cx="11385550" cy="5253804"/>
        </p:xfrm>
        <a:graphic>
          <a:graphicData uri="http://schemas.openxmlformats.org/drawingml/2006/table">
            <a:tbl>
              <a:tblPr firstRow="1" firstCol="1" bandRow="1">
                <a:tableStyleId>{5C22544A-7EE6-4342-B048-85BDC9FD1C3A}</a:tableStyleId>
              </a:tblPr>
              <a:tblGrid>
                <a:gridCol w="1723772">
                  <a:extLst>
                    <a:ext uri="{9D8B030D-6E8A-4147-A177-3AD203B41FA5}">
                      <a16:colId xmlns:a16="http://schemas.microsoft.com/office/drawing/2014/main" val="1005625533"/>
                    </a:ext>
                  </a:extLst>
                </a:gridCol>
                <a:gridCol w="1839905">
                  <a:extLst>
                    <a:ext uri="{9D8B030D-6E8A-4147-A177-3AD203B41FA5}">
                      <a16:colId xmlns:a16="http://schemas.microsoft.com/office/drawing/2014/main" val="3190069316"/>
                    </a:ext>
                  </a:extLst>
                </a:gridCol>
                <a:gridCol w="2040291">
                  <a:extLst>
                    <a:ext uri="{9D8B030D-6E8A-4147-A177-3AD203B41FA5}">
                      <a16:colId xmlns:a16="http://schemas.microsoft.com/office/drawing/2014/main" val="3461635069"/>
                    </a:ext>
                  </a:extLst>
                </a:gridCol>
                <a:gridCol w="2386411">
                  <a:extLst>
                    <a:ext uri="{9D8B030D-6E8A-4147-A177-3AD203B41FA5}">
                      <a16:colId xmlns:a16="http://schemas.microsoft.com/office/drawing/2014/main" val="412567874"/>
                    </a:ext>
                  </a:extLst>
                </a:gridCol>
                <a:gridCol w="3395171">
                  <a:extLst>
                    <a:ext uri="{9D8B030D-6E8A-4147-A177-3AD203B41FA5}">
                      <a16:colId xmlns:a16="http://schemas.microsoft.com/office/drawing/2014/main" val="2539522224"/>
                    </a:ext>
                  </a:extLst>
                </a:gridCol>
              </a:tblGrid>
              <a:tr h="596190">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355031"/>
                  </a:ext>
                </a:extLst>
              </a:tr>
              <a:tr h="1348232">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Wearable IoT for Healthcare</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Manage traceability of data in a wearable IoT architecture.</a:t>
                      </a:r>
                      <a:endParaRPr lang="en-IN" sz="16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74538663"/>
                  </a:ext>
                </a:extLst>
              </a:tr>
              <a:tr h="1384547">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Integer Linear Programming (ILP)</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Allocation in C2F2T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Resource Usage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Optimize resource allocation considering energy consumption, processing capacity, and overall service allocation.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1859057"/>
                  </a:ext>
                </a:extLst>
              </a:tr>
              <a:tr h="890810">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Other Approaches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Airplane Monitoring</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Predict flight delays based on equipment data.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1739582"/>
                  </a:ext>
                </a:extLst>
              </a:tr>
              <a:tr h="1034025">
                <a:tc>
                  <a:txBody>
                    <a:bodyPr/>
                    <a:lstStyle/>
                    <a:p>
                      <a:pPr algn="ctr">
                        <a:lnSpc>
                          <a:spcPct val="115000"/>
                        </a:lnSpc>
                        <a:spcAft>
                          <a:spcPts val="800"/>
                        </a:spcAft>
                      </a:pPr>
                      <a:r>
                        <a:rPr lang="en-IN" sz="16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Other Approaches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Tolerance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6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Verify fault tolerance in large-scale WSN using service-oriented applications.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233427"/>
                  </a:ext>
                </a:extLst>
              </a:tr>
            </a:tbl>
          </a:graphicData>
        </a:graphic>
      </p:graphicFrame>
    </p:spTree>
    <p:extLst>
      <p:ext uri="{BB962C8B-B14F-4D97-AF65-F5344CB8AC3E}">
        <p14:creationId xmlns:p14="http://schemas.microsoft.com/office/powerpoint/2010/main" val="19763130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E2836-F9E4-67B4-53B3-CE7588578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56225-E71B-5ABC-1754-FD2606A2DE03}"/>
              </a:ext>
            </a:extLst>
          </p:cNvPr>
          <p:cNvSpPr>
            <a:spLocks noGrp="1"/>
          </p:cNvSpPr>
          <p:nvPr>
            <p:ph type="title"/>
          </p:nvPr>
        </p:nvSpPr>
        <p:spPr/>
        <p:txBody>
          <a:bodyPr>
            <a:noAutofit/>
          </a:bodyPr>
          <a:lstStyle/>
          <a:p>
            <a:r>
              <a:rPr lang="en-US" sz="2400" dirty="0"/>
              <a:t>Cloud-to-Fog-to-Internet of Things (C2F2T) – By Use case Scenarios</a:t>
            </a:r>
          </a:p>
        </p:txBody>
      </p:sp>
      <p:sp>
        <p:nvSpPr>
          <p:cNvPr id="4" name="Content Placeholder 3">
            <a:extLst>
              <a:ext uri="{FF2B5EF4-FFF2-40B4-BE49-F238E27FC236}">
                <a16:creationId xmlns:a16="http://schemas.microsoft.com/office/drawing/2014/main" id="{BB2529C3-3CD1-14CB-B607-EF9100A30061}"/>
              </a:ext>
            </a:extLst>
          </p:cNvPr>
          <p:cNvSpPr>
            <a:spLocks noGrp="1"/>
          </p:cNvSpPr>
          <p:nvPr>
            <p:ph idx="1"/>
          </p:nvPr>
        </p:nvSpPr>
        <p:spPr/>
        <p:txBody>
          <a:bodyPr>
            <a:normAutofit/>
          </a:bodyPr>
          <a:lstStyle/>
          <a:p>
            <a:r>
              <a:rPr lang="en-US" b="1" dirty="0"/>
              <a:t>Health:</a:t>
            </a:r>
          </a:p>
          <a:p>
            <a:pPr lvl="1"/>
            <a:r>
              <a:rPr lang="en-US" dirty="0"/>
              <a:t>Security of information flow in medical applications</a:t>
            </a:r>
          </a:p>
          <a:p>
            <a:pPr lvl="1"/>
            <a:r>
              <a:rPr lang="en-US" dirty="0"/>
              <a:t>Sharing IoT devices for health monitoring</a:t>
            </a:r>
          </a:p>
          <a:p>
            <a:pPr lvl="1"/>
            <a:r>
              <a:rPr lang="en-US" dirty="0"/>
              <a:t>Wearable IoT architecture for healthcare</a:t>
            </a:r>
          </a:p>
          <a:p>
            <a:endParaRPr lang="en-US" dirty="0"/>
          </a:p>
          <a:p>
            <a:r>
              <a:rPr lang="en-US" dirty="0"/>
              <a:t>WSN:</a:t>
            </a:r>
          </a:p>
          <a:p>
            <a:pPr lvl="1"/>
            <a:r>
              <a:rPr lang="en-US" dirty="0"/>
              <a:t>Fault tolerance in large-scale WSNs </a:t>
            </a:r>
          </a:p>
          <a:p>
            <a:pPr lvl="1"/>
            <a:r>
              <a:rPr lang="en-US" dirty="0"/>
              <a:t>WSN model for sensing as a service </a:t>
            </a:r>
          </a:p>
        </p:txBody>
      </p:sp>
    </p:spTree>
    <p:extLst>
      <p:ext uri="{BB962C8B-B14F-4D97-AF65-F5344CB8AC3E}">
        <p14:creationId xmlns:p14="http://schemas.microsoft.com/office/powerpoint/2010/main" val="30527858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B5B23-3790-65A8-57CA-2B052ED68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6D9EA-EC5C-C94D-5E32-DF0FFD179203}"/>
              </a:ext>
            </a:extLst>
          </p:cNvPr>
          <p:cNvSpPr>
            <a:spLocks noGrp="1"/>
          </p:cNvSpPr>
          <p:nvPr>
            <p:ph type="title"/>
          </p:nvPr>
        </p:nvSpPr>
        <p:spPr/>
        <p:txBody>
          <a:bodyPr>
            <a:noAutofit/>
          </a:bodyPr>
          <a:lstStyle/>
          <a:p>
            <a:r>
              <a:rPr lang="en-US" sz="2400" dirty="0"/>
              <a:t>Cloud-to-Fog-to-Internet of Things (C2F2T) – By Use case Scenarios</a:t>
            </a:r>
          </a:p>
        </p:txBody>
      </p:sp>
      <p:sp>
        <p:nvSpPr>
          <p:cNvPr id="4" name="Content Placeholder 3">
            <a:extLst>
              <a:ext uri="{FF2B5EF4-FFF2-40B4-BE49-F238E27FC236}">
                <a16:creationId xmlns:a16="http://schemas.microsoft.com/office/drawing/2014/main" id="{75F57F68-28DD-187D-D10F-C22D6E4EBD38}"/>
              </a:ext>
            </a:extLst>
          </p:cNvPr>
          <p:cNvSpPr>
            <a:spLocks noGrp="1"/>
          </p:cNvSpPr>
          <p:nvPr>
            <p:ph idx="1"/>
          </p:nvPr>
        </p:nvSpPr>
        <p:spPr/>
        <p:txBody>
          <a:bodyPr>
            <a:normAutofit fontScale="92500" lnSpcReduction="20000"/>
          </a:bodyPr>
          <a:lstStyle/>
          <a:p>
            <a:r>
              <a:rPr lang="en-US" b="1" dirty="0"/>
              <a:t>Smart Cities:</a:t>
            </a:r>
          </a:p>
          <a:p>
            <a:pPr lvl="1"/>
            <a:r>
              <a:rPr lang="en-US" dirty="0"/>
              <a:t>Mobile crowdsensing for smart traffic</a:t>
            </a:r>
          </a:p>
          <a:p>
            <a:pPr lvl="1"/>
            <a:r>
              <a:rPr lang="en-US" dirty="0"/>
              <a:t>Air quality monitoring using mobile sensors </a:t>
            </a:r>
          </a:p>
          <a:p>
            <a:pPr lvl="1"/>
            <a:r>
              <a:rPr lang="en-US" dirty="0"/>
              <a:t>Vehicle-to-cloud monitoring with edge computing </a:t>
            </a:r>
          </a:p>
          <a:p>
            <a:pPr lvl="1"/>
            <a:r>
              <a:rPr lang="en-US" dirty="0"/>
              <a:t>Fire alarm system </a:t>
            </a:r>
          </a:p>
          <a:p>
            <a:pPr lvl="1"/>
            <a:r>
              <a:rPr lang="en-US" dirty="0"/>
              <a:t>Flight delay prediction </a:t>
            </a:r>
          </a:p>
          <a:p>
            <a:pPr lvl="1"/>
            <a:r>
              <a:rPr lang="en-US" dirty="0"/>
              <a:t>Smart living space scheduling</a:t>
            </a:r>
          </a:p>
          <a:p>
            <a:r>
              <a:rPr lang="en-US" b="1" dirty="0"/>
              <a:t>Resource Management:</a:t>
            </a:r>
          </a:p>
          <a:p>
            <a:pPr lvl="1"/>
            <a:r>
              <a:rPr lang="en-US" dirty="0"/>
              <a:t>Energy consumption of IoT devices</a:t>
            </a:r>
          </a:p>
          <a:p>
            <a:pPr lvl="1"/>
            <a:r>
              <a:rPr lang="en-US" dirty="0"/>
              <a:t>Resource allocation in C2F2T context </a:t>
            </a:r>
          </a:p>
          <a:p>
            <a:pPr lvl="1"/>
            <a:r>
              <a:rPr lang="en-US" dirty="0"/>
              <a:t>QoS in IoT and cloud-IoT environments</a:t>
            </a:r>
          </a:p>
        </p:txBody>
      </p:sp>
    </p:spTree>
    <p:extLst>
      <p:ext uri="{BB962C8B-B14F-4D97-AF65-F5344CB8AC3E}">
        <p14:creationId xmlns:p14="http://schemas.microsoft.com/office/powerpoint/2010/main" val="22774714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6AC47-8EE1-F832-F081-65E4F8A6F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1EE46-4CF3-9C83-2DBA-706F08538E09}"/>
              </a:ext>
            </a:extLst>
          </p:cNvPr>
          <p:cNvSpPr>
            <a:spLocks noGrp="1"/>
          </p:cNvSpPr>
          <p:nvPr>
            <p:ph type="title"/>
          </p:nvPr>
        </p:nvSpPr>
        <p:spPr/>
        <p:txBody>
          <a:bodyPr>
            <a:noAutofit/>
          </a:bodyPr>
          <a:lstStyle/>
          <a:p>
            <a:r>
              <a:rPr lang="en-US" sz="2400" dirty="0"/>
              <a:t>Cloud-to-Fog-to-Internet of Things (C2F2T) – By Use case Scenarios</a:t>
            </a:r>
          </a:p>
        </p:txBody>
      </p:sp>
      <p:sp>
        <p:nvSpPr>
          <p:cNvPr id="4" name="Content Placeholder 3">
            <a:extLst>
              <a:ext uri="{FF2B5EF4-FFF2-40B4-BE49-F238E27FC236}">
                <a16:creationId xmlns:a16="http://schemas.microsoft.com/office/drawing/2014/main" id="{C9303A61-C6CC-41E7-9BE4-EEC4569682FC}"/>
              </a:ext>
            </a:extLst>
          </p:cNvPr>
          <p:cNvSpPr>
            <a:spLocks noGrp="1"/>
          </p:cNvSpPr>
          <p:nvPr>
            <p:ph idx="1"/>
          </p:nvPr>
        </p:nvSpPr>
        <p:spPr/>
        <p:txBody>
          <a:bodyPr>
            <a:normAutofit/>
          </a:bodyPr>
          <a:lstStyle/>
          <a:p>
            <a:r>
              <a:rPr lang="en-US" dirty="0"/>
              <a:t>Other/Generic:</a:t>
            </a:r>
          </a:p>
          <a:p>
            <a:pPr lvl="1"/>
            <a:r>
              <a:rPr lang="en-US" dirty="0"/>
              <a:t>General C2F2T architecture</a:t>
            </a:r>
          </a:p>
          <a:p>
            <a:pPr lvl="1"/>
            <a:r>
              <a:rPr lang="en-US" dirty="0"/>
              <a:t>Improving response time in IoT systems</a:t>
            </a:r>
          </a:p>
          <a:p>
            <a:pPr lvl="1"/>
            <a:r>
              <a:rPr lang="en-US" dirty="0"/>
              <a:t>Generic fog architecture</a:t>
            </a:r>
          </a:p>
          <a:p>
            <a:pPr lvl="1"/>
            <a:r>
              <a:rPr lang="en-US" dirty="0"/>
              <a:t>Offloading computing to the edge</a:t>
            </a:r>
          </a:p>
        </p:txBody>
      </p:sp>
    </p:spTree>
    <p:extLst>
      <p:ext uri="{BB962C8B-B14F-4D97-AF65-F5344CB8AC3E}">
        <p14:creationId xmlns:p14="http://schemas.microsoft.com/office/powerpoint/2010/main" val="14760050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381F1-6EA6-62A7-E189-B848FDCB7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686BF-F39C-EDE5-7DDD-6DF9B0472E52}"/>
              </a:ext>
            </a:extLst>
          </p:cNvPr>
          <p:cNvSpPr>
            <a:spLocks noGrp="1"/>
          </p:cNvSpPr>
          <p:nvPr>
            <p:ph type="title"/>
          </p:nvPr>
        </p:nvSpPr>
        <p:spPr/>
        <p:txBody>
          <a:bodyPr>
            <a:noAutofit/>
          </a:bodyPr>
          <a:lstStyle/>
          <a:p>
            <a:r>
              <a:rPr lang="en-US" sz="2400" dirty="0"/>
              <a:t>Cloud-to-Fog-to-Internet of Things (C2F2T) – By Use case Scenarios</a:t>
            </a:r>
          </a:p>
        </p:txBody>
      </p:sp>
      <p:pic>
        <p:nvPicPr>
          <p:cNvPr id="5" name="Content Placeholder 4" descr="A table with text on it&#10;&#10;Description automatically generated">
            <a:extLst>
              <a:ext uri="{FF2B5EF4-FFF2-40B4-BE49-F238E27FC236}">
                <a16:creationId xmlns:a16="http://schemas.microsoft.com/office/drawing/2014/main" id="{BB319F77-AEB6-3A4E-0A6C-A79D5EFF86A4}"/>
              </a:ext>
            </a:extLst>
          </p:cNvPr>
          <p:cNvPicPr>
            <a:picLocks noGrp="1" noChangeAspect="1"/>
          </p:cNvPicPr>
          <p:nvPr>
            <p:ph idx="1"/>
          </p:nvPr>
        </p:nvPicPr>
        <p:blipFill>
          <a:blip r:embed="rId2"/>
          <a:stretch>
            <a:fillRect/>
          </a:stretch>
        </p:blipFill>
        <p:spPr>
          <a:xfrm>
            <a:off x="582567" y="951053"/>
            <a:ext cx="10951936" cy="5671311"/>
          </a:xfrm>
        </p:spPr>
      </p:pic>
    </p:spTree>
    <p:extLst>
      <p:ext uri="{BB962C8B-B14F-4D97-AF65-F5344CB8AC3E}">
        <p14:creationId xmlns:p14="http://schemas.microsoft.com/office/powerpoint/2010/main" val="20997372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D020-6F88-1EE7-E3EF-9FCFCDBFB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47D9C-BAD7-F0DC-783A-CBB5A8BDA05B}"/>
              </a:ext>
            </a:extLst>
          </p:cNvPr>
          <p:cNvSpPr>
            <a:spLocks noGrp="1"/>
          </p:cNvSpPr>
          <p:nvPr>
            <p:ph type="title"/>
          </p:nvPr>
        </p:nvSpPr>
        <p:spPr/>
        <p:txBody>
          <a:bodyPr>
            <a:noAutofit/>
          </a:bodyPr>
          <a:lstStyle/>
          <a:p>
            <a:r>
              <a:rPr lang="en-US" sz="2400" dirty="0"/>
              <a:t>Cloud-to-Fog-to-Internet of Things (C2F2T) – By Use case Scenarios</a:t>
            </a:r>
          </a:p>
        </p:txBody>
      </p:sp>
      <p:graphicFrame>
        <p:nvGraphicFramePr>
          <p:cNvPr id="6" name="Content Placeholder 5">
            <a:extLst>
              <a:ext uri="{FF2B5EF4-FFF2-40B4-BE49-F238E27FC236}">
                <a16:creationId xmlns:a16="http://schemas.microsoft.com/office/drawing/2014/main" id="{6C624D26-E99E-0CF8-EBDB-492A2FB82F12}"/>
              </a:ext>
            </a:extLst>
          </p:cNvPr>
          <p:cNvGraphicFramePr>
            <a:graphicFrameLocks noGrp="1"/>
          </p:cNvGraphicFramePr>
          <p:nvPr>
            <p:ph idx="1"/>
            <p:extLst>
              <p:ext uri="{D42A27DB-BD31-4B8C-83A1-F6EECF244321}">
                <p14:modId xmlns:p14="http://schemas.microsoft.com/office/powerpoint/2010/main" val="1809013652"/>
              </p:ext>
            </p:extLst>
          </p:nvPr>
        </p:nvGraphicFramePr>
        <p:xfrm>
          <a:off x="403225" y="1019062"/>
          <a:ext cx="11385550" cy="5518182"/>
        </p:xfrm>
        <a:graphic>
          <a:graphicData uri="http://schemas.openxmlformats.org/drawingml/2006/table">
            <a:tbl>
              <a:tblPr firstRow="1" firstCol="1" bandRow="1">
                <a:tableStyleId>{5C22544A-7EE6-4342-B048-85BDC9FD1C3A}</a:tableStyleId>
              </a:tblPr>
              <a:tblGrid>
                <a:gridCol w="1794363">
                  <a:extLst>
                    <a:ext uri="{9D8B030D-6E8A-4147-A177-3AD203B41FA5}">
                      <a16:colId xmlns:a16="http://schemas.microsoft.com/office/drawing/2014/main" val="2566712560"/>
                    </a:ext>
                  </a:extLst>
                </a:gridCol>
                <a:gridCol w="2024351">
                  <a:extLst>
                    <a:ext uri="{9D8B030D-6E8A-4147-A177-3AD203B41FA5}">
                      <a16:colId xmlns:a16="http://schemas.microsoft.com/office/drawing/2014/main" val="2859516927"/>
                    </a:ext>
                  </a:extLst>
                </a:gridCol>
                <a:gridCol w="1883170">
                  <a:extLst>
                    <a:ext uri="{9D8B030D-6E8A-4147-A177-3AD203B41FA5}">
                      <a16:colId xmlns:a16="http://schemas.microsoft.com/office/drawing/2014/main" val="4292437231"/>
                    </a:ext>
                  </a:extLst>
                </a:gridCol>
                <a:gridCol w="2347700">
                  <a:extLst>
                    <a:ext uri="{9D8B030D-6E8A-4147-A177-3AD203B41FA5}">
                      <a16:colId xmlns:a16="http://schemas.microsoft.com/office/drawing/2014/main" val="1025954012"/>
                    </a:ext>
                  </a:extLst>
                </a:gridCol>
                <a:gridCol w="3335966">
                  <a:extLst>
                    <a:ext uri="{9D8B030D-6E8A-4147-A177-3AD203B41FA5}">
                      <a16:colId xmlns:a16="http://schemas.microsoft.com/office/drawing/2014/main" val="4225645387"/>
                    </a:ext>
                  </a:extLst>
                </a:gridCol>
              </a:tblGrid>
              <a:tr h="30931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033946"/>
                  </a:ext>
                </a:extLst>
              </a:tr>
              <a:tr h="95965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of Devices in Cloud-IoT Context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Analyze the relationship between energy consumption of IoT devices and cloud billing costs.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428116"/>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Improve energy efficiency of IoT devices.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018907"/>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of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Analyze energy consumption in a WSN.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1295752"/>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in Fog-IoT Integration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Reduce energy consumption by integrating IoT and fog computing.</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77552443"/>
                  </a:ext>
                </a:extLst>
              </a:tr>
              <a:tr h="95965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Resource Allocation in C2F2T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 Integer Linear Programming</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Energy Consumption, Resource Usage</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Optimize resource allocation considering energy consumption, processing capacity, and overall service allocation.</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7776504"/>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Resource Management</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QoS in IoT and Cloud-IoT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Analytical Model</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Response Time, Reliability, Availability</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Calculate QoS of IoT services and predict QoS for IoT and cloud services.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1287094"/>
                  </a:ext>
                </a:extLst>
              </a:tr>
              <a:tr h="634432">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Smart Cities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Crowdsensing in Smart Traffic</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Petri Net</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a:effectLst/>
                          <a:latin typeface="Book Antiqua" panose="02040602050305030304" pitchFamily="18" charset="0"/>
                        </a:rPr>
                        <a:t>System Effectiveness</a:t>
                      </a:r>
                      <a:endParaRPr lang="en-IN" sz="14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effectLst/>
                          <a:latin typeface="Book Antiqua" panose="02040602050305030304" pitchFamily="18" charset="0"/>
                        </a:rPr>
                        <a:t>Evaluate a mobile crowdsensing-as-a-service architecture.</a:t>
                      </a:r>
                      <a:endParaRPr lang="en-IN" sz="14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2693499"/>
                  </a:ext>
                </a:extLst>
              </a:tr>
            </a:tbl>
          </a:graphicData>
        </a:graphic>
      </p:graphicFrame>
    </p:spTree>
    <p:extLst>
      <p:ext uri="{BB962C8B-B14F-4D97-AF65-F5344CB8AC3E}">
        <p14:creationId xmlns:p14="http://schemas.microsoft.com/office/powerpoint/2010/main" val="8782628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CE25E-8875-FE31-A2C3-EF24E0545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31080-2CA1-A17F-84FB-B8B5422A4B97}"/>
              </a:ext>
            </a:extLst>
          </p:cNvPr>
          <p:cNvSpPr>
            <a:spLocks noGrp="1"/>
          </p:cNvSpPr>
          <p:nvPr>
            <p:ph type="title"/>
          </p:nvPr>
        </p:nvSpPr>
        <p:spPr/>
        <p:txBody>
          <a:bodyPr>
            <a:noAutofit/>
          </a:bodyPr>
          <a:lstStyle/>
          <a:p>
            <a:r>
              <a:rPr lang="en-US" sz="2400" dirty="0"/>
              <a:t>Cloud-to-Fog-to-Internet of Things (C2F2T) – By Use case Scenarios</a:t>
            </a:r>
          </a:p>
        </p:txBody>
      </p:sp>
      <p:graphicFrame>
        <p:nvGraphicFramePr>
          <p:cNvPr id="6" name="Content Placeholder 5">
            <a:extLst>
              <a:ext uri="{FF2B5EF4-FFF2-40B4-BE49-F238E27FC236}">
                <a16:creationId xmlns:a16="http://schemas.microsoft.com/office/drawing/2014/main" id="{D0015584-755E-E484-05B2-98B71105098D}"/>
              </a:ext>
            </a:extLst>
          </p:cNvPr>
          <p:cNvGraphicFramePr>
            <a:graphicFrameLocks noGrp="1"/>
          </p:cNvGraphicFramePr>
          <p:nvPr>
            <p:ph idx="1"/>
            <p:extLst>
              <p:ext uri="{D42A27DB-BD31-4B8C-83A1-F6EECF244321}">
                <p14:modId xmlns:p14="http://schemas.microsoft.com/office/powerpoint/2010/main" val="45982927"/>
              </p:ext>
            </p:extLst>
          </p:nvPr>
        </p:nvGraphicFramePr>
        <p:xfrm>
          <a:off x="403225" y="1019062"/>
          <a:ext cx="11385550" cy="5459993"/>
        </p:xfrm>
        <a:graphic>
          <a:graphicData uri="http://schemas.openxmlformats.org/drawingml/2006/table">
            <a:tbl>
              <a:tblPr firstRow="1" firstCol="1" bandRow="1">
                <a:tableStyleId>{5C22544A-7EE6-4342-B048-85BDC9FD1C3A}</a:tableStyleId>
              </a:tblPr>
              <a:tblGrid>
                <a:gridCol w="1794363">
                  <a:extLst>
                    <a:ext uri="{9D8B030D-6E8A-4147-A177-3AD203B41FA5}">
                      <a16:colId xmlns:a16="http://schemas.microsoft.com/office/drawing/2014/main" val="2566712560"/>
                    </a:ext>
                  </a:extLst>
                </a:gridCol>
                <a:gridCol w="2024351">
                  <a:extLst>
                    <a:ext uri="{9D8B030D-6E8A-4147-A177-3AD203B41FA5}">
                      <a16:colId xmlns:a16="http://schemas.microsoft.com/office/drawing/2014/main" val="2859516927"/>
                    </a:ext>
                  </a:extLst>
                </a:gridCol>
                <a:gridCol w="1883170">
                  <a:extLst>
                    <a:ext uri="{9D8B030D-6E8A-4147-A177-3AD203B41FA5}">
                      <a16:colId xmlns:a16="http://schemas.microsoft.com/office/drawing/2014/main" val="4292437231"/>
                    </a:ext>
                  </a:extLst>
                </a:gridCol>
                <a:gridCol w="2347700">
                  <a:extLst>
                    <a:ext uri="{9D8B030D-6E8A-4147-A177-3AD203B41FA5}">
                      <a16:colId xmlns:a16="http://schemas.microsoft.com/office/drawing/2014/main" val="1025954012"/>
                    </a:ext>
                  </a:extLst>
                </a:gridCol>
                <a:gridCol w="3335966">
                  <a:extLst>
                    <a:ext uri="{9D8B030D-6E8A-4147-A177-3AD203B41FA5}">
                      <a16:colId xmlns:a16="http://schemas.microsoft.com/office/drawing/2014/main" val="4225645387"/>
                    </a:ext>
                  </a:extLst>
                </a:gridCol>
              </a:tblGrid>
              <a:tr h="30931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033946"/>
                  </a:ext>
                </a:extLst>
              </a:tr>
              <a:tr h="72265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 Quality Sensing with Mobile Devices</a:t>
                      </a:r>
                      <a:endParaRPr lang="en-IN" sz="14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Percentage Energy Saved</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energy consumption in a mobile crowdsensing application.</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428116"/>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(Object Detection Accuracy), 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018907"/>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Living Spaces with Cloud Access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Scheduling Performance (Scalability, Waiting Time, Throughput)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scheduling model for managing sensor applications in a smart living space.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1295752"/>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Fire Alarm System</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the reliability of a fire alarm system in an IoT context.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77552443"/>
                  </a:ext>
                </a:extLst>
              </a:tr>
              <a:tr h="959651">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Airplane Monitoring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Bayesian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Predict flight delays based on equipment data.</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7776504"/>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Sensing as a Service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Fuzzy-Ontology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Verify fault tolerance in large-scale WSN.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1287094"/>
                  </a:ext>
                </a:extLst>
              </a:tr>
              <a:tr h="634432">
                <a:tc>
                  <a:txBody>
                    <a:bodyPr/>
                    <a:lstStyle/>
                    <a:p>
                      <a:pPr algn="ctr">
                        <a:lnSpc>
                          <a:spcPct val="115000"/>
                        </a:lnSpc>
                        <a:spcAft>
                          <a:spcPts val="800"/>
                        </a:spcAft>
                      </a:pPr>
                      <a:r>
                        <a:rPr lang="en-IN" sz="1400" b="1"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rPr>
                        <a:t>Wireless Sensor Networks (WSN)</a:t>
                      </a:r>
                      <a:endParaRPr lang="en-IN"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Fault Tolerance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Packet Delivery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Model a WSN for sensing as a service integrated with IoT and cloud.</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2693499"/>
                  </a:ext>
                </a:extLst>
              </a:tr>
            </a:tbl>
          </a:graphicData>
        </a:graphic>
      </p:graphicFrame>
    </p:spTree>
    <p:extLst>
      <p:ext uri="{BB962C8B-B14F-4D97-AF65-F5344CB8AC3E}">
        <p14:creationId xmlns:p14="http://schemas.microsoft.com/office/powerpoint/2010/main" val="1690286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01F8F-4F57-E0E7-1CA7-92669B5C7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D2DF7-133A-EC76-266B-C9EAA8817F39}"/>
              </a:ext>
            </a:extLst>
          </p:cNvPr>
          <p:cNvSpPr>
            <a:spLocks noGrp="1"/>
          </p:cNvSpPr>
          <p:nvPr>
            <p:ph type="title"/>
          </p:nvPr>
        </p:nvSpPr>
        <p:spPr/>
        <p:txBody>
          <a:bodyPr>
            <a:noAutofit/>
          </a:bodyPr>
          <a:lstStyle/>
          <a:p>
            <a:r>
              <a:rPr lang="en-US" sz="2400" dirty="0"/>
              <a:t>Cloud-to-Fog-to-Internet of Things (C2F2T) – By Use case Scenarios</a:t>
            </a:r>
          </a:p>
        </p:txBody>
      </p:sp>
      <p:graphicFrame>
        <p:nvGraphicFramePr>
          <p:cNvPr id="6" name="Content Placeholder 5">
            <a:extLst>
              <a:ext uri="{FF2B5EF4-FFF2-40B4-BE49-F238E27FC236}">
                <a16:creationId xmlns:a16="http://schemas.microsoft.com/office/drawing/2014/main" id="{909BC459-4C5F-A381-42D0-CC2138A36C92}"/>
              </a:ext>
            </a:extLst>
          </p:cNvPr>
          <p:cNvGraphicFramePr>
            <a:graphicFrameLocks noGrp="1"/>
          </p:cNvGraphicFramePr>
          <p:nvPr>
            <p:ph idx="1"/>
            <p:extLst>
              <p:ext uri="{D42A27DB-BD31-4B8C-83A1-F6EECF244321}">
                <p14:modId xmlns:p14="http://schemas.microsoft.com/office/powerpoint/2010/main" val="2369529020"/>
              </p:ext>
            </p:extLst>
          </p:nvPr>
        </p:nvGraphicFramePr>
        <p:xfrm>
          <a:off x="403225" y="1019062"/>
          <a:ext cx="11385550" cy="5549398"/>
        </p:xfrm>
        <a:graphic>
          <a:graphicData uri="http://schemas.openxmlformats.org/drawingml/2006/table">
            <a:tbl>
              <a:tblPr firstRow="1" firstCol="1" bandRow="1">
                <a:tableStyleId>{5C22544A-7EE6-4342-B048-85BDC9FD1C3A}</a:tableStyleId>
              </a:tblPr>
              <a:tblGrid>
                <a:gridCol w="1794363">
                  <a:extLst>
                    <a:ext uri="{9D8B030D-6E8A-4147-A177-3AD203B41FA5}">
                      <a16:colId xmlns:a16="http://schemas.microsoft.com/office/drawing/2014/main" val="2566712560"/>
                    </a:ext>
                  </a:extLst>
                </a:gridCol>
                <a:gridCol w="2024351">
                  <a:extLst>
                    <a:ext uri="{9D8B030D-6E8A-4147-A177-3AD203B41FA5}">
                      <a16:colId xmlns:a16="http://schemas.microsoft.com/office/drawing/2014/main" val="2859516927"/>
                    </a:ext>
                  </a:extLst>
                </a:gridCol>
                <a:gridCol w="1883170">
                  <a:extLst>
                    <a:ext uri="{9D8B030D-6E8A-4147-A177-3AD203B41FA5}">
                      <a16:colId xmlns:a16="http://schemas.microsoft.com/office/drawing/2014/main" val="4292437231"/>
                    </a:ext>
                  </a:extLst>
                </a:gridCol>
                <a:gridCol w="2347700">
                  <a:extLst>
                    <a:ext uri="{9D8B030D-6E8A-4147-A177-3AD203B41FA5}">
                      <a16:colId xmlns:a16="http://schemas.microsoft.com/office/drawing/2014/main" val="1025954012"/>
                    </a:ext>
                  </a:extLst>
                </a:gridCol>
                <a:gridCol w="3335966">
                  <a:extLst>
                    <a:ext uri="{9D8B030D-6E8A-4147-A177-3AD203B41FA5}">
                      <a16:colId xmlns:a16="http://schemas.microsoft.com/office/drawing/2014/main" val="4225645387"/>
                    </a:ext>
                  </a:extLst>
                </a:gridCol>
              </a:tblGrid>
              <a:tr h="309311">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Use Case Scenario</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Application</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Modelling Technique</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Metrics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400" kern="100" dirty="0">
                          <a:solidFill>
                            <a:schemeClr val="tx1"/>
                          </a:solidFill>
                          <a:effectLst/>
                          <a:latin typeface="Book Antiqua" panose="02040602050305030304" pitchFamily="18" charset="0"/>
                        </a:rPr>
                        <a:t>Key Findings/Objectives</a:t>
                      </a:r>
                      <a:endParaRPr lang="en-IN" sz="14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033946"/>
                  </a:ext>
                </a:extLst>
              </a:tr>
              <a:tr h="72265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 Monitoring</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framework for sharing IoT devices in health monitoring.</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428116"/>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Medical Research</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Security (Opacity)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Analyze security of information flow in cloud-integrated IoT systems.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018907"/>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Wearable IoT for Healthcare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Reliability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Manage traceability of data in a wearable IoT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1295752"/>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Three-tier C2F2T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Represent a generic C2F2T architecture and analyze energy consumption and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77552443"/>
                  </a:ext>
                </a:extLst>
              </a:tr>
              <a:tr h="959651">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Fog Computing for Improved Response Time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Effective Arrival Rate, Average System Response, Average Buffer Occupancy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response time of IoT systems using fog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7776504"/>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Fog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Latency</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Compare performance of fog architecture against traditional cloud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1287094"/>
                  </a:ext>
                </a:extLst>
              </a:tr>
              <a:tr h="634432">
                <a:tc>
                  <a:txBody>
                    <a:bodyPr/>
                    <a:lstStyle/>
                    <a:p>
                      <a:pPr algn="ctr">
                        <a:lnSpc>
                          <a:spcPct val="115000"/>
                        </a:lnSpc>
                        <a:spcAft>
                          <a:spcPts val="800"/>
                        </a:spcAft>
                      </a:pPr>
                      <a:r>
                        <a:rPr lang="en-IN" sz="14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Edge Offloading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 (Cloud and IoT Device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mobile user experience by offloading computation to the edge.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2693499"/>
                  </a:ext>
                </a:extLst>
              </a:tr>
            </a:tbl>
          </a:graphicData>
        </a:graphic>
      </p:graphicFrame>
    </p:spTree>
    <p:extLst>
      <p:ext uri="{BB962C8B-B14F-4D97-AF65-F5344CB8AC3E}">
        <p14:creationId xmlns:p14="http://schemas.microsoft.com/office/powerpoint/2010/main" val="8742595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3E74-BB40-9CAD-88C2-8D84F4B77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E1896-AD39-A8B8-429F-13D7D7553ABC}"/>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pic>
        <p:nvPicPr>
          <p:cNvPr id="5" name="Content Placeholder 4" descr="A table of information&#10;&#10;Description automatically generated">
            <a:extLst>
              <a:ext uri="{FF2B5EF4-FFF2-40B4-BE49-F238E27FC236}">
                <a16:creationId xmlns:a16="http://schemas.microsoft.com/office/drawing/2014/main" id="{E97D9CF6-04D2-B044-4F1C-30FD79CC0C69}"/>
              </a:ext>
            </a:extLst>
          </p:cNvPr>
          <p:cNvPicPr>
            <a:picLocks noGrp="1" noChangeAspect="1"/>
          </p:cNvPicPr>
          <p:nvPr>
            <p:ph idx="1"/>
          </p:nvPr>
        </p:nvPicPr>
        <p:blipFill>
          <a:blip r:embed="rId2"/>
          <a:srcRect r="31917"/>
          <a:stretch/>
        </p:blipFill>
        <p:spPr>
          <a:xfrm>
            <a:off x="2431869" y="951054"/>
            <a:ext cx="7328262" cy="5357813"/>
          </a:xfrm>
        </p:spPr>
      </p:pic>
    </p:spTree>
    <p:extLst>
      <p:ext uri="{BB962C8B-B14F-4D97-AF65-F5344CB8AC3E}">
        <p14:creationId xmlns:p14="http://schemas.microsoft.com/office/powerpoint/2010/main" val="31683836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81A08-B481-01DD-E4A6-19EFB3BF4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13144-B4ED-6AAC-CA15-390C3B5DCC0A}"/>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876E2150-4DBE-E3B6-A7AC-6841A48A6289}"/>
              </a:ext>
            </a:extLst>
          </p:cNvPr>
          <p:cNvGraphicFramePr>
            <a:graphicFrameLocks noGrp="1"/>
          </p:cNvGraphicFramePr>
          <p:nvPr>
            <p:ph idx="1"/>
            <p:extLst>
              <p:ext uri="{D42A27DB-BD31-4B8C-83A1-F6EECF244321}">
                <p14:modId xmlns:p14="http://schemas.microsoft.com/office/powerpoint/2010/main" val="1766192557"/>
              </p:ext>
            </p:extLst>
          </p:nvPr>
        </p:nvGraphicFramePr>
        <p:xfrm>
          <a:off x="409575" y="1079595"/>
          <a:ext cx="11385550" cy="5486400"/>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277110">
                  <a:extLst>
                    <a:ext uri="{9D8B030D-6E8A-4147-A177-3AD203B41FA5}">
                      <a16:colId xmlns:a16="http://schemas.microsoft.com/office/drawing/2014/main" val="615653635"/>
                    </a:ext>
                  </a:extLst>
                </a:gridCol>
                <a:gridCol w="2277110">
                  <a:extLst>
                    <a:ext uri="{9D8B030D-6E8A-4147-A177-3AD203B41FA5}">
                      <a16:colId xmlns:a16="http://schemas.microsoft.com/office/drawing/2014/main" val="842570561"/>
                    </a:ext>
                  </a:extLst>
                </a:gridCol>
              </a:tblGrid>
              <a:tr h="289556">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Resource Management</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Consumption of Devices in Cloud-IoT Context</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Analyze the relationship between energy consumption of IoT devices and cloud billing costs.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Efficiency of IoT Devices</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Improve energy efficiency of IoT devices.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Consumption of WSN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Analyze energy consumption in a WSN.</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62012268"/>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Energy Consumption in Fog-IoT Integration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Reduce energy consumption by integrating IoT and fog computing.</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6021604"/>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Resource Management</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Resource Allocation in C2F2T</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 Integer Linear Programming</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Optimize resource allocation considering energy consumption, processing capacity, and overall service allocation.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00639837"/>
                  </a:ext>
                </a:extLst>
              </a:tr>
              <a:tr h="200025">
                <a:tc>
                  <a:txBody>
                    <a:bodyPr/>
                    <a:lstStyle/>
                    <a:p>
                      <a:pPr algn="ctr">
                        <a:lnSpc>
                          <a:spcPct val="100000"/>
                        </a:lnSpc>
                        <a:spcAft>
                          <a:spcPts val="0"/>
                        </a:spcAft>
                      </a:pPr>
                      <a:r>
                        <a:rPr lang="en-IN" sz="1500" kern="100" dirty="0">
                          <a:solidFill>
                            <a:schemeClr val="tx1"/>
                          </a:solidFill>
                          <a:effectLst/>
                          <a:latin typeface="Book Antiqua" panose="02040602050305030304" pitchFamily="18" charset="0"/>
                        </a:rPr>
                        <a:t>Energy Consumption</a:t>
                      </a:r>
                      <a:endParaRPr lang="en-IN" sz="1500" kern="100" dirty="0">
                        <a:solidFill>
                          <a:schemeClr val="tx1"/>
                        </a:solidFill>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Smart Cities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Air Quality Sensing with Mobile Devices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Analytical Model</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Model energy consumption in a mobile crowdsensing 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37045925"/>
                  </a:ext>
                </a:extLst>
              </a:tr>
            </a:tbl>
          </a:graphicData>
        </a:graphic>
      </p:graphicFrame>
    </p:spTree>
    <p:extLst>
      <p:ext uri="{BB962C8B-B14F-4D97-AF65-F5344CB8AC3E}">
        <p14:creationId xmlns:p14="http://schemas.microsoft.com/office/powerpoint/2010/main" val="28295045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96BF-EDCD-147F-E02D-78B6FA17C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632B4-458E-755B-B88D-7548FBE738BD}"/>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9835463D-F66D-FD91-CD1F-1A8A5541A735}"/>
              </a:ext>
            </a:extLst>
          </p:cNvPr>
          <p:cNvGraphicFramePr>
            <a:graphicFrameLocks noGrp="1"/>
          </p:cNvGraphicFramePr>
          <p:nvPr>
            <p:ph idx="1"/>
            <p:extLst>
              <p:ext uri="{D42A27DB-BD31-4B8C-83A1-F6EECF244321}">
                <p14:modId xmlns:p14="http://schemas.microsoft.com/office/powerpoint/2010/main" val="452248715"/>
              </p:ext>
            </p:extLst>
          </p:nvPr>
        </p:nvGraphicFramePr>
        <p:xfrm>
          <a:off x="409575" y="1079594"/>
          <a:ext cx="11385550" cy="5457648"/>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277110">
                  <a:extLst>
                    <a:ext uri="{9D8B030D-6E8A-4147-A177-3AD203B41FA5}">
                      <a16:colId xmlns:a16="http://schemas.microsoft.com/office/drawing/2014/main" val="615653635"/>
                    </a:ext>
                  </a:extLst>
                </a:gridCol>
                <a:gridCol w="2277110">
                  <a:extLst>
                    <a:ext uri="{9D8B030D-6E8A-4147-A177-3AD203B41FA5}">
                      <a16:colId xmlns:a16="http://schemas.microsoft.com/office/drawing/2014/main" val="842570561"/>
                    </a:ext>
                  </a:extLst>
                </a:gridCol>
              </a:tblGrid>
              <a:tr h="528160">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Three-tier C2F2T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Represent a generic C2F2T architecture and analyze 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985898">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Fog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Compare performance of fog architecture against traditional cloud computing.</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62012268"/>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in IoT and Cloud-IoT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Calculate QoS of IoT services and predict QoS for IoT and cloud services.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6021604"/>
                  </a:ext>
                </a:extLst>
              </a:tr>
              <a:tr h="739423">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Crowdsensing in Smart Traffic</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a mobile crowdsensing-as-a-service architecture.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00639837"/>
                  </a:ext>
                </a:extLst>
              </a:tr>
              <a:tr h="985898">
                <a:tc>
                  <a:txBody>
                    <a:bodyPr/>
                    <a:lstStyle/>
                    <a:p>
                      <a:pPr algn="ctr">
                        <a:lnSpc>
                          <a:spcPct val="10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Living Spaces with Cloud Access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Develop a scheduling model for managing sensor applications in a smart living space.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37045925"/>
                  </a:ext>
                </a:extLst>
              </a:tr>
            </a:tbl>
          </a:graphicData>
        </a:graphic>
      </p:graphicFrame>
    </p:spTree>
    <p:extLst>
      <p:ext uri="{BB962C8B-B14F-4D97-AF65-F5344CB8AC3E}">
        <p14:creationId xmlns:p14="http://schemas.microsoft.com/office/powerpoint/2010/main" val="6254934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322BB-227F-E1BC-B6BF-F3EFB0D3E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5D1CE-BB87-BA69-8AB7-01D43342C353}"/>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A00F01DA-1262-A426-78FA-020AACB0131A}"/>
              </a:ext>
            </a:extLst>
          </p:cNvPr>
          <p:cNvGraphicFramePr>
            <a:graphicFrameLocks noGrp="1"/>
          </p:cNvGraphicFramePr>
          <p:nvPr>
            <p:ph idx="1"/>
            <p:extLst>
              <p:ext uri="{D42A27DB-BD31-4B8C-83A1-F6EECF244321}">
                <p14:modId xmlns:p14="http://schemas.microsoft.com/office/powerpoint/2010/main" val="1930988935"/>
              </p:ext>
            </p:extLst>
          </p:nvPr>
        </p:nvGraphicFramePr>
        <p:xfrm>
          <a:off x="409575" y="1079594"/>
          <a:ext cx="11385550" cy="5331157"/>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099038">
                  <a:extLst>
                    <a:ext uri="{9D8B030D-6E8A-4147-A177-3AD203B41FA5}">
                      <a16:colId xmlns:a16="http://schemas.microsoft.com/office/drawing/2014/main" val="615653635"/>
                    </a:ext>
                  </a:extLst>
                </a:gridCol>
                <a:gridCol w="2455182">
                  <a:extLst>
                    <a:ext uri="{9D8B030D-6E8A-4147-A177-3AD203B41FA5}">
                      <a16:colId xmlns:a16="http://schemas.microsoft.com/office/drawing/2014/main" val="842570561"/>
                    </a:ext>
                  </a:extLst>
                </a:gridCol>
              </a:tblGrid>
              <a:tr h="528160">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599869">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Performance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Fog Computing for Improved Response Time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response time of IoT systems using fog computing.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752486">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Allocation in C2F2T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 Integer Linear Programming</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Optimize resource allocation considering energy consumption, processing capacity, and overall service allocation.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985898">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Consumption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Generic IoT/Fog/Cloud</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Edge Offloading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Improve mobile user experience by offloading computation to the edge.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62012268"/>
                  </a:ext>
                </a:extLst>
              </a:tr>
              <a:tr h="739423">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Cost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Energy Consumption of Devices in Cloud-IoT Context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Analyze the relationship between energy consumption of IoT devices and cloud billing costs.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6021604"/>
                  </a:ext>
                </a:extLst>
              </a:tr>
              <a:tr h="739423">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Resource Management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 in IoT and Cloud-IoT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Calculate QoS of IoT services and predict QoS for IoT and cloud services.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00639837"/>
                  </a:ext>
                </a:extLst>
              </a:tr>
              <a:tr h="985898">
                <a:tc>
                  <a:txBody>
                    <a:bodyPr/>
                    <a:lstStyle/>
                    <a:p>
                      <a:pPr algn="ctr">
                        <a:lnSpc>
                          <a:spcPct val="100000"/>
                        </a:lnSpc>
                        <a:spcAft>
                          <a:spcPts val="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Vehicle-to-Cloud Monitoring</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Determine optimal processing location (edge or cloud) for video data.</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37045925"/>
                  </a:ext>
                </a:extLst>
              </a:tr>
            </a:tbl>
          </a:graphicData>
        </a:graphic>
      </p:graphicFrame>
    </p:spTree>
    <p:extLst>
      <p:ext uri="{BB962C8B-B14F-4D97-AF65-F5344CB8AC3E}">
        <p14:creationId xmlns:p14="http://schemas.microsoft.com/office/powerpoint/2010/main" val="1682156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AC40-E760-94EF-2AA7-34D8D318B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E529F-FBD3-5F09-2B9E-241C791967BC}"/>
              </a:ext>
            </a:extLst>
          </p:cNvPr>
          <p:cNvSpPr>
            <a:spLocks noGrp="1"/>
          </p:cNvSpPr>
          <p:nvPr>
            <p:ph type="title"/>
          </p:nvPr>
        </p:nvSpPr>
        <p:spPr/>
        <p:txBody>
          <a:bodyPr>
            <a:noAutofit/>
          </a:bodyPr>
          <a:lstStyle/>
          <a:p>
            <a:r>
              <a:rPr lang="en-US" sz="2400" dirty="0"/>
              <a:t>Cloud-to-Fog-to-Internet of Things (C2F2T) – By Metrics</a:t>
            </a:r>
            <a:endParaRPr lang="en-US" sz="2400" b="1" dirty="0"/>
          </a:p>
        </p:txBody>
      </p:sp>
      <p:graphicFrame>
        <p:nvGraphicFramePr>
          <p:cNvPr id="6" name="Content Placeholder 5">
            <a:extLst>
              <a:ext uri="{FF2B5EF4-FFF2-40B4-BE49-F238E27FC236}">
                <a16:creationId xmlns:a16="http://schemas.microsoft.com/office/drawing/2014/main" id="{2FE4E5C1-4E99-CBD7-E54C-4B9AACA924D3}"/>
              </a:ext>
            </a:extLst>
          </p:cNvPr>
          <p:cNvGraphicFramePr>
            <a:graphicFrameLocks noGrp="1"/>
          </p:cNvGraphicFramePr>
          <p:nvPr>
            <p:ph idx="1"/>
            <p:extLst>
              <p:ext uri="{D42A27DB-BD31-4B8C-83A1-F6EECF244321}">
                <p14:modId xmlns:p14="http://schemas.microsoft.com/office/powerpoint/2010/main" val="3550194973"/>
              </p:ext>
            </p:extLst>
          </p:nvPr>
        </p:nvGraphicFramePr>
        <p:xfrm>
          <a:off x="403225" y="1223286"/>
          <a:ext cx="11385550" cy="3182969"/>
        </p:xfrm>
        <a:graphic>
          <a:graphicData uri="http://schemas.openxmlformats.org/drawingml/2006/table">
            <a:tbl>
              <a:tblPr firstRow="1" firstCol="1" bandRow="1">
                <a:tableStyleId>{5C22544A-7EE6-4342-B048-85BDC9FD1C3A}</a:tableStyleId>
              </a:tblPr>
              <a:tblGrid>
                <a:gridCol w="2277110">
                  <a:extLst>
                    <a:ext uri="{9D8B030D-6E8A-4147-A177-3AD203B41FA5}">
                      <a16:colId xmlns:a16="http://schemas.microsoft.com/office/drawing/2014/main" val="3140826191"/>
                    </a:ext>
                  </a:extLst>
                </a:gridCol>
                <a:gridCol w="2277110">
                  <a:extLst>
                    <a:ext uri="{9D8B030D-6E8A-4147-A177-3AD203B41FA5}">
                      <a16:colId xmlns:a16="http://schemas.microsoft.com/office/drawing/2014/main" val="232366079"/>
                    </a:ext>
                  </a:extLst>
                </a:gridCol>
                <a:gridCol w="2277110">
                  <a:extLst>
                    <a:ext uri="{9D8B030D-6E8A-4147-A177-3AD203B41FA5}">
                      <a16:colId xmlns:a16="http://schemas.microsoft.com/office/drawing/2014/main" val="436269764"/>
                    </a:ext>
                  </a:extLst>
                </a:gridCol>
                <a:gridCol w="2099038">
                  <a:extLst>
                    <a:ext uri="{9D8B030D-6E8A-4147-A177-3AD203B41FA5}">
                      <a16:colId xmlns:a16="http://schemas.microsoft.com/office/drawing/2014/main" val="615653635"/>
                    </a:ext>
                  </a:extLst>
                </a:gridCol>
                <a:gridCol w="2455182">
                  <a:extLst>
                    <a:ext uri="{9D8B030D-6E8A-4147-A177-3AD203B41FA5}">
                      <a16:colId xmlns:a16="http://schemas.microsoft.com/office/drawing/2014/main" val="842570561"/>
                    </a:ext>
                  </a:extLst>
                </a:gridCol>
              </a:tblGrid>
              <a:tr h="528160">
                <a:tc>
                  <a:txBody>
                    <a:bodyPr/>
                    <a:lstStyle/>
                    <a:p>
                      <a:pPr algn="ctr">
                        <a:lnSpc>
                          <a:spcPct val="100000"/>
                        </a:lnSpc>
                        <a:spcAft>
                          <a:spcPts val="0"/>
                        </a:spcAft>
                      </a:pPr>
                      <a:r>
                        <a:rPr lang="en-IN" sz="1500" kern="100" dirty="0">
                          <a:effectLst/>
                          <a:latin typeface="Book Antiqua" panose="02040602050305030304" pitchFamily="18" charset="0"/>
                        </a:rPr>
                        <a:t>Metric</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Use Case Scenario</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dirty="0">
                          <a:effectLst/>
                          <a:latin typeface="Book Antiqua" panose="02040602050305030304" pitchFamily="18" charset="0"/>
                        </a:rPr>
                        <a:t>Application</a:t>
                      </a:r>
                      <a:endParaRPr lang="en-IN" sz="1500" kern="100" dirty="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Modeling Technique</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pPr>
                      <a:r>
                        <a:rPr lang="en-IN" sz="1500" kern="100">
                          <a:effectLst/>
                          <a:latin typeface="Book Antiqua" panose="02040602050305030304" pitchFamily="18" charset="0"/>
                        </a:rPr>
                        <a:t>Key Findings/Objectives</a:t>
                      </a:r>
                      <a:endParaRPr lang="en-IN" sz="1500" kern="100">
                        <a:effectLst/>
                        <a:latin typeface="Book Antiqua" panose="0204060205030503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97389"/>
                  </a:ext>
                </a:extLst>
              </a:tr>
              <a:tr h="599869">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Smart Cities</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Fire Alarm System</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b="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Evaluate the reliability of a fire alarm system in an IoT context.</a:t>
                      </a:r>
                      <a:endParaRPr lang="en-IN" sz="1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6527041"/>
                  </a:ext>
                </a:extLst>
              </a:tr>
              <a:tr h="752486">
                <a:tc>
                  <a:txBody>
                    <a:bodyPr/>
                    <a:lstStyle/>
                    <a:p>
                      <a:pPr algn="ctr">
                        <a:lnSpc>
                          <a:spcPct val="150000"/>
                        </a:lnSpc>
                        <a:spcAft>
                          <a:spcPts val="800"/>
                        </a:spcAft>
                      </a:pPr>
                      <a:r>
                        <a:rPr lang="en-IN" sz="14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QoS</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Wearable IoT for Healthcare</a:t>
                      </a:r>
                      <a:endParaRPr lang="en-IN"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Petri Net</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4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Manage traceability of data in a wearable IoT architecture.</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812779"/>
                  </a:ext>
                </a:extLst>
              </a:tr>
              <a:tr h="752486">
                <a:tc>
                  <a:txBody>
                    <a:bodyPr/>
                    <a:lstStyle/>
                    <a:p>
                      <a:pPr algn="ctr">
                        <a:lnSpc>
                          <a:spcPct val="150000"/>
                        </a:lnSpc>
                        <a:spcAft>
                          <a:spcPts val="800"/>
                        </a:spcAft>
                      </a:pPr>
                      <a:r>
                        <a:rPr lang="en-IN" sz="1200" b="1"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Security</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Health</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Medical Research</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Analytical Model</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IN" sz="1200" kern="1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Analyse security of information flow in cloud-integrated IoT systems.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2776975"/>
                  </a:ext>
                </a:extLst>
              </a:tr>
            </a:tbl>
          </a:graphicData>
        </a:graphic>
      </p:graphicFrame>
    </p:spTree>
    <p:extLst>
      <p:ext uri="{BB962C8B-B14F-4D97-AF65-F5344CB8AC3E}">
        <p14:creationId xmlns:p14="http://schemas.microsoft.com/office/powerpoint/2010/main" val="7543800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ABB77-149C-4C19-9A3B-13DF72254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1DA6A-0F0C-8438-FF76-54AE36514CAC}"/>
              </a:ext>
            </a:extLst>
          </p:cNvPr>
          <p:cNvSpPr>
            <a:spLocks noGrp="1"/>
          </p:cNvSpPr>
          <p:nvPr>
            <p:ph type="title"/>
          </p:nvPr>
        </p:nvSpPr>
        <p:spPr/>
        <p:txBody>
          <a:bodyPr>
            <a:noAutofit/>
          </a:bodyPr>
          <a:lstStyle/>
          <a:p>
            <a:r>
              <a:rPr lang="en-US" sz="2400" dirty="0"/>
              <a:t>Cloud-to-Fog-to-Internet of Things (C2F2T) – By Metrics - </a:t>
            </a:r>
            <a:r>
              <a:rPr lang="en-US" sz="1800" b="1" dirty="0"/>
              <a:t>Energy consumption</a:t>
            </a:r>
            <a:endParaRPr lang="en-US" sz="2400" b="1" dirty="0"/>
          </a:p>
        </p:txBody>
      </p:sp>
      <p:sp>
        <p:nvSpPr>
          <p:cNvPr id="4" name="Content Placeholder 3">
            <a:extLst>
              <a:ext uri="{FF2B5EF4-FFF2-40B4-BE49-F238E27FC236}">
                <a16:creationId xmlns:a16="http://schemas.microsoft.com/office/drawing/2014/main" id="{7AEC502E-5622-4CF1-0847-4E3694BE3356}"/>
              </a:ext>
            </a:extLst>
          </p:cNvPr>
          <p:cNvSpPr>
            <a:spLocks noGrp="1"/>
          </p:cNvSpPr>
          <p:nvPr>
            <p:ph idx="1"/>
          </p:nvPr>
        </p:nvSpPr>
        <p:spPr/>
        <p:txBody>
          <a:bodyPr>
            <a:normAutofit fontScale="92500" lnSpcReduction="20000"/>
          </a:bodyPr>
          <a:lstStyle/>
          <a:p>
            <a:r>
              <a:rPr lang="en-US" dirty="0"/>
              <a:t> </a:t>
            </a:r>
            <a:r>
              <a:rPr lang="en-US" b="1" dirty="0">
                <a:solidFill>
                  <a:srgbClr val="FF0000"/>
                </a:solidFill>
              </a:rPr>
              <a:t>Energy consumption</a:t>
            </a:r>
            <a:r>
              <a:rPr lang="en-US" b="1" dirty="0"/>
              <a:t> </a:t>
            </a:r>
            <a:r>
              <a:rPr lang="en-US" dirty="0"/>
              <a:t>is a major concern in C2F2T systems.</a:t>
            </a:r>
          </a:p>
          <a:p>
            <a:r>
              <a:rPr lang="en-US" dirty="0"/>
              <a:t>Factors influencing energy consumption:</a:t>
            </a:r>
          </a:p>
          <a:p>
            <a:pPr lvl="1"/>
            <a:r>
              <a:rPr lang="en-US" dirty="0"/>
              <a:t>Device modes: Active, idle, transitions between states</a:t>
            </a:r>
          </a:p>
          <a:p>
            <a:pPr lvl="1"/>
            <a:r>
              <a:rPr lang="en-US" dirty="0"/>
              <a:t>Communication: Data transmission, reception, listening, sensing</a:t>
            </a:r>
          </a:p>
          <a:p>
            <a:pPr lvl="1"/>
            <a:r>
              <a:rPr lang="en-US" dirty="0"/>
              <a:t>Distance and medium: Communication distance and environment</a:t>
            </a:r>
          </a:p>
          <a:p>
            <a:pPr lvl="1"/>
            <a:r>
              <a:rPr lang="en-US" dirty="0"/>
              <a:t>Traffic: Data traffic between layers</a:t>
            </a:r>
          </a:p>
          <a:p>
            <a:pPr lvl="1"/>
            <a:r>
              <a:rPr lang="en-US" dirty="0"/>
              <a:t>Processing: Processing-induced energy consumption by VMs</a:t>
            </a:r>
          </a:p>
          <a:p>
            <a:pPr lvl="1"/>
            <a:r>
              <a:rPr lang="en-US" dirty="0"/>
              <a:t>Device movement: Mobility of devices</a:t>
            </a:r>
          </a:p>
          <a:p>
            <a:pPr lvl="1"/>
            <a:r>
              <a:rPr lang="en-US" dirty="0"/>
              <a:t>Synchronization: Synchronization between IoT devices, fog, and cloud</a:t>
            </a:r>
          </a:p>
          <a:p>
            <a:pPr lvl="1"/>
            <a:r>
              <a:rPr lang="en-US" dirty="0"/>
              <a:t>Data flow: Application data flow patterns</a:t>
            </a:r>
          </a:p>
          <a:p>
            <a:pPr lvl="1"/>
            <a:r>
              <a:rPr lang="en-US" dirty="0"/>
              <a:t>Power sources: Renewable energy sources like solar power</a:t>
            </a:r>
          </a:p>
        </p:txBody>
      </p:sp>
    </p:spTree>
    <p:extLst>
      <p:ext uri="{BB962C8B-B14F-4D97-AF65-F5344CB8AC3E}">
        <p14:creationId xmlns:p14="http://schemas.microsoft.com/office/powerpoint/2010/main" val="26252118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87FD-DC46-8F60-E652-E8AE5B474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B30F1-6590-7BB0-DF73-7341B8EC7020}"/>
              </a:ext>
            </a:extLst>
          </p:cNvPr>
          <p:cNvSpPr>
            <a:spLocks noGrp="1"/>
          </p:cNvSpPr>
          <p:nvPr>
            <p:ph type="title"/>
          </p:nvPr>
        </p:nvSpPr>
        <p:spPr/>
        <p:txBody>
          <a:bodyPr>
            <a:noAutofit/>
          </a:bodyPr>
          <a:lstStyle/>
          <a:p>
            <a:r>
              <a:rPr lang="en-US" sz="2400" dirty="0"/>
              <a:t>Cloud-to-Fog-to-Internet of Things (C2F2T) – By Metrics - </a:t>
            </a:r>
            <a:r>
              <a:rPr lang="en-US" sz="2400" b="1" dirty="0"/>
              <a:t>Performance</a:t>
            </a:r>
          </a:p>
        </p:txBody>
      </p:sp>
      <p:sp>
        <p:nvSpPr>
          <p:cNvPr id="4" name="Content Placeholder 3">
            <a:extLst>
              <a:ext uri="{FF2B5EF4-FFF2-40B4-BE49-F238E27FC236}">
                <a16:creationId xmlns:a16="http://schemas.microsoft.com/office/drawing/2014/main" id="{65850E75-5D68-9465-FBBB-B266B1EBDFCD}"/>
              </a:ext>
            </a:extLst>
          </p:cNvPr>
          <p:cNvSpPr>
            <a:spLocks noGrp="1"/>
          </p:cNvSpPr>
          <p:nvPr>
            <p:ph idx="1"/>
          </p:nvPr>
        </p:nvSpPr>
        <p:spPr/>
        <p:txBody>
          <a:bodyPr>
            <a:normAutofit/>
          </a:bodyPr>
          <a:lstStyle/>
          <a:p>
            <a:r>
              <a:rPr lang="en-US" dirty="0">
                <a:solidFill>
                  <a:srgbClr val="FF0000"/>
                </a:solidFill>
              </a:rPr>
              <a:t> Latency:</a:t>
            </a:r>
          </a:p>
          <a:p>
            <a:pPr lvl="1"/>
            <a:r>
              <a:rPr lang="en-US" b="1" dirty="0"/>
              <a:t>Processing latency</a:t>
            </a:r>
            <a:r>
              <a:rPr lang="en-US" dirty="0"/>
              <a:t>: Time taken for application tasks</a:t>
            </a:r>
          </a:p>
          <a:p>
            <a:pPr lvl="1"/>
            <a:r>
              <a:rPr lang="en-US" b="1" dirty="0"/>
              <a:t>Transmission latency</a:t>
            </a:r>
            <a:r>
              <a:rPr lang="en-US" dirty="0"/>
              <a:t>: Communication delay for data transfer.</a:t>
            </a:r>
          </a:p>
          <a:p>
            <a:pPr lvl="1"/>
            <a:r>
              <a:rPr lang="en-US" b="1" dirty="0"/>
              <a:t>Packet delivery latency</a:t>
            </a:r>
            <a:r>
              <a:rPr lang="en-US" dirty="0"/>
              <a:t>: Influenced by factors like hops, sleep intervals, and transmission time.</a:t>
            </a:r>
          </a:p>
          <a:p>
            <a:pPr lvl="1"/>
            <a:r>
              <a:rPr lang="en-US" b="1" dirty="0"/>
              <a:t>Request processing delay</a:t>
            </a:r>
            <a:r>
              <a:rPr lang="en-US" dirty="0"/>
              <a:t>: Influenced by device computational complexity and application flow size.</a:t>
            </a:r>
          </a:p>
        </p:txBody>
      </p:sp>
    </p:spTree>
    <p:extLst>
      <p:ext uri="{BB962C8B-B14F-4D97-AF65-F5344CB8AC3E}">
        <p14:creationId xmlns:p14="http://schemas.microsoft.com/office/powerpoint/2010/main" val="344230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1394-44FA-05A8-78DC-370245DDB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E3C9E-F0DD-F40C-655F-550122C4F437}"/>
              </a:ext>
            </a:extLst>
          </p:cNvPr>
          <p:cNvSpPr>
            <a:spLocks noGrp="1"/>
          </p:cNvSpPr>
          <p:nvPr>
            <p:ph type="title"/>
          </p:nvPr>
        </p:nvSpPr>
        <p:spPr/>
        <p:txBody>
          <a:bodyPr>
            <a:noAutofit/>
          </a:bodyPr>
          <a:lstStyle/>
          <a:p>
            <a:r>
              <a:rPr lang="en-US" sz="2400" dirty="0"/>
              <a:t>Cloud-to-Fog-to-Internet of Things (C2F2T) – By Metrics - </a:t>
            </a:r>
            <a:r>
              <a:rPr lang="en-US" sz="2400" b="1" dirty="0"/>
              <a:t>Performance</a:t>
            </a:r>
          </a:p>
        </p:txBody>
      </p:sp>
      <p:sp>
        <p:nvSpPr>
          <p:cNvPr id="4" name="Content Placeholder 3">
            <a:extLst>
              <a:ext uri="{FF2B5EF4-FFF2-40B4-BE49-F238E27FC236}">
                <a16:creationId xmlns:a16="http://schemas.microsoft.com/office/drawing/2014/main" id="{8493BFBD-5569-012F-F485-FF8C191B6C74}"/>
              </a:ext>
            </a:extLst>
          </p:cNvPr>
          <p:cNvSpPr>
            <a:spLocks noGrp="1"/>
          </p:cNvSpPr>
          <p:nvPr>
            <p:ph idx="1"/>
          </p:nvPr>
        </p:nvSpPr>
        <p:spPr/>
        <p:txBody>
          <a:bodyPr>
            <a:normAutofit/>
          </a:bodyPr>
          <a:lstStyle/>
          <a:p>
            <a:r>
              <a:rPr lang="en-US" dirty="0">
                <a:solidFill>
                  <a:srgbClr val="FF0000"/>
                </a:solidFill>
              </a:rPr>
              <a:t>Other Performance Metrics:</a:t>
            </a:r>
          </a:p>
          <a:p>
            <a:pPr lvl="1"/>
            <a:r>
              <a:rPr lang="en-US" b="1" dirty="0">
                <a:solidFill>
                  <a:schemeClr val="tx1">
                    <a:lumMod val="75000"/>
                    <a:lumOff val="25000"/>
                  </a:schemeClr>
                </a:solidFill>
              </a:rPr>
              <a:t>Scalability</a:t>
            </a:r>
            <a:r>
              <a:rPr lang="en-US" dirty="0">
                <a:solidFill>
                  <a:schemeClr val="tx1">
                    <a:lumMod val="75000"/>
                    <a:lumOff val="25000"/>
                  </a:schemeClr>
                </a:solidFill>
              </a:rPr>
              <a:t>: Ability to handle increasing numbers of devices and data</a:t>
            </a:r>
          </a:p>
          <a:p>
            <a:pPr lvl="1"/>
            <a:r>
              <a:rPr lang="en-US" b="1" dirty="0">
                <a:solidFill>
                  <a:schemeClr val="tx1">
                    <a:lumMod val="75000"/>
                    <a:lumOff val="25000"/>
                  </a:schemeClr>
                </a:solidFill>
              </a:rPr>
              <a:t>Waiting time</a:t>
            </a:r>
            <a:r>
              <a:rPr lang="en-US" dirty="0">
                <a:solidFill>
                  <a:schemeClr val="tx1">
                    <a:lumMod val="75000"/>
                    <a:lumOff val="25000"/>
                  </a:schemeClr>
                </a:solidFill>
              </a:rPr>
              <a:t>: Average time for applications to be processed</a:t>
            </a:r>
          </a:p>
          <a:p>
            <a:pPr lvl="1"/>
            <a:r>
              <a:rPr lang="en-US" b="1" dirty="0">
                <a:solidFill>
                  <a:schemeClr val="tx1">
                    <a:lumMod val="75000"/>
                    <a:lumOff val="25000"/>
                  </a:schemeClr>
                </a:solidFill>
              </a:rPr>
              <a:t>Throughput:</a:t>
            </a:r>
            <a:r>
              <a:rPr lang="en-US" dirty="0">
                <a:solidFill>
                  <a:schemeClr val="tx1">
                    <a:lumMod val="75000"/>
                    <a:lumOff val="25000"/>
                  </a:schemeClr>
                </a:solidFill>
              </a:rPr>
              <a:t> Number of applications processed successfully within a given time</a:t>
            </a:r>
          </a:p>
          <a:p>
            <a:pPr lvl="1"/>
            <a:r>
              <a:rPr lang="en-US" b="1" dirty="0">
                <a:solidFill>
                  <a:schemeClr val="tx1">
                    <a:lumMod val="75000"/>
                    <a:lumOff val="25000"/>
                  </a:schemeClr>
                </a:solidFill>
              </a:rPr>
              <a:t>Response time</a:t>
            </a:r>
            <a:r>
              <a:rPr lang="en-US" dirty="0">
                <a:solidFill>
                  <a:schemeClr val="tx1">
                    <a:lumMod val="75000"/>
                    <a:lumOff val="25000"/>
                  </a:schemeClr>
                </a:solidFill>
              </a:rPr>
              <a:t>: Time elapsed from data generation to processing by a gateway </a:t>
            </a:r>
          </a:p>
          <a:p>
            <a:pPr lvl="1"/>
            <a:r>
              <a:rPr lang="en-US" b="1" dirty="0">
                <a:solidFill>
                  <a:schemeClr val="tx1">
                    <a:lumMod val="75000"/>
                    <a:lumOff val="25000"/>
                  </a:schemeClr>
                </a:solidFill>
              </a:rPr>
              <a:t>Processing efficiency</a:t>
            </a:r>
            <a:r>
              <a:rPr lang="en-US" dirty="0">
                <a:solidFill>
                  <a:schemeClr val="tx1">
                    <a:lumMod val="75000"/>
                    <a:lumOff val="25000"/>
                  </a:schemeClr>
                </a:solidFill>
              </a:rPr>
              <a:t>: Considers processing time, buffer occupancy, and gateway response times</a:t>
            </a:r>
          </a:p>
        </p:txBody>
      </p:sp>
    </p:spTree>
    <p:extLst>
      <p:ext uri="{BB962C8B-B14F-4D97-AF65-F5344CB8AC3E}">
        <p14:creationId xmlns:p14="http://schemas.microsoft.com/office/powerpoint/2010/main" val="40946135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BB69-E778-F9D1-8202-E7B9328D3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B3F12-0DCF-EC20-0773-F80FBD4F2C7A}"/>
              </a:ext>
            </a:extLst>
          </p:cNvPr>
          <p:cNvSpPr>
            <a:spLocks noGrp="1"/>
          </p:cNvSpPr>
          <p:nvPr>
            <p:ph type="title"/>
          </p:nvPr>
        </p:nvSpPr>
        <p:spPr/>
        <p:txBody>
          <a:bodyPr>
            <a:noAutofit/>
          </a:bodyPr>
          <a:lstStyle/>
          <a:p>
            <a:r>
              <a:rPr lang="en-US" sz="2400" dirty="0"/>
              <a:t>Cloud-to-Fog-to-Internet of Things (C2F2T) – By Metrics - </a:t>
            </a:r>
            <a:r>
              <a:rPr lang="en-US" sz="2400" b="1" dirty="0"/>
              <a:t>Performance</a:t>
            </a:r>
          </a:p>
        </p:txBody>
      </p:sp>
      <p:sp>
        <p:nvSpPr>
          <p:cNvPr id="4" name="Content Placeholder 3">
            <a:extLst>
              <a:ext uri="{FF2B5EF4-FFF2-40B4-BE49-F238E27FC236}">
                <a16:creationId xmlns:a16="http://schemas.microsoft.com/office/drawing/2014/main" id="{44700A97-167B-F423-F0B1-B007954C8C8B}"/>
              </a:ext>
            </a:extLst>
          </p:cNvPr>
          <p:cNvSpPr>
            <a:spLocks noGrp="1"/>
          </p:cNvSpPr>
          <p:nvPr>
            <p:ph idx="1"/>
          </p:nvPr>
        </p:nvSpPr>
        <p:spPr/>
        <p:txBody>
          <a:bodyPr>
            <a:normAutofit/>
          </a:bodyPr>
          <a:lstStyle/>
          <a:p>
            <a:r>
              <a:rPr lang="en-US" b="1" dirty="0">
                <a:solidFill>
                  <a:schemeClr val="tx1">
                    <a:lumMod val="75000"/>
                    <a:lumOff val="25000"/>
                  </a:schemeClr>
                </a:solidFill>
              </a:rPr>
              <a:t>Evaluation Methods</a:t>
            </a:r>
          </a:p>
          <a:p>
            <a:pPr lvl="1"/>
            <a:r>
              <a:rPr lang="en-US" b="1" dirty="0">
                <a:solidFill>
                  <a:schemeClr val="tx1">
                    <a:lumMod val="75000"/>
                    <a:lumOff val="25000"/>
                  </a:schemeClr>
                </a:solidFill>
              </a:rPr>
              <a:t>Analytical models</a:t>
            </a:r>
            <a:r>
              <a:rPr lang="en-US" dirty="0">
                <a:solidFill>
                  <a:schemeClr val="tx1">
                    <a:lumMod val="75000"/>
                    <a:lumOff val="25000"/>
                  </a:schemeClr>
                </a:solidFill>
              </a:rPr>
              <a:t>: Mathematical models to analyze latency, delay, and processing efficiency</a:t>
            </a:r>
          </a:p>
          <a:p>
            <a:pPr lvl="1"/>
            <a:r>
              <a:rPr lang="en-US" dirty="0">
                <a:solidFill>
                  <a:schemeClr val="tx1">
                    <a:lumMod val="75000"/>
                    <a:lumOff val="25000"/>
                  </a:schemeClr>
                </a:solidFill>
              </a:rPr>
              <a:t> </a:t>
            </a:r>
            <a:r>
              <a:rPr lang="en-US" b="1" dirty="0">
                <a:solidFill>
                  <a:schemeClr val="tx1">
                    <a:lumMod val="75000"/>
                    <a:lumOff val="25000"/>
                  </a:schemeClr>
                </a:solidFill>
              </a:rPr>
              <a:t>Simulation</a:t>
            </a:r>
            <a:r>
              <a:rPr lang="en-US" dirty="0">
                <a:solidFill>
                  <a:schemeClr val="tx1">
                    <a:lumMod val="75000"/>
                    <a:lumOff val="25000"/>
                  </a:schemeClr>
                </a:solidFill>
              </a:rPr>
              <a:t>: Simulating system behavior to evaluate performance under different conditions</a:t>
            </a:r>
          </a:p>
          <a:p>
            <a:pPr lvl="1"/>
            <a:r>
              <a:rPr lang="en-US" b="1" dirty="0">
                <a:solidFill>
                  <a:schemeClr val="tx1">
                    <a:lumMod val="75000"/>
                    <a:lumOff val="25000"/>
                  </a:schemeClr>
                </a:solidFill>
              </a:rPr>
              <a:t>Petri Nets</a:t>
            </a:r>
            <a:r>
              <a:rPr lang="en-US" dirty="0">
                <a:solidFill>
                  <a:schemeClr val="tx1">
                    <a:lumMod val="75000"/>
                    <a:lumOff val="25000"/>
                  </a:schemeClr>
                </a:solidFill>
              </a:rPr>
              <a:t>: Modeling system behavior and evaluating performance through state transitions</a:t>
            </a:r>
          </a:p>
        </p:txBody>
      </p:sp>
    </p:spTree>
    <p:extLst>
      <p:ext uri="{BB962C8B-B14F-4D97-AF65-F5344CB8AC3E}">
        <p14:creationId xmlns:p14="http://schemas.microsoft.com/office/powerpoint/2010/main" val="6612804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CDAB8-6B00-C436-0F89-32000239B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DB9F4-3E19-7FAC-4489-020ED85C61B5}"/>
              </a:ext>
            </a:extLst>
          </p:cNvPr>
          <p:cNvSpPr>
            <a:spLocks noGrp="1"/>
          </p:cNvSpPr>
          <p:nvPr>
            <p:ph type="title"/>
          </p:nvPr>
        </p:nvSpPr>
        <p:spPr/>
        <p:txBody>
          <a:bodyPr>
            <a:noAutofit/>
          </a:bodyPr>
          <a:lstStyle/>
          <a:p>
            <a:r>
              <a:rPr lang="en-US" sz="2400" dirty="0"/>
              <a:t>Cloud-to-Fog-to-Internet of Things (C2F2T) – By Metrics – </a:t>
            </a:r>
            <a:r>
              <a:rPr lang="en-US" sz="1600" b="1" dirty="0"/>
              <a:t>Resource Consumption</a:t>
            </a:r>
            <a:endParaRPr lang="en-US" sz="2400" b="1" dirty="0"/>
          </a:p>
        </p:txBody>
      </p:sp>
      <p:sp>
        <p:nvSpPr>
          <p:cNvPr id="4" name="Content Placeholder 3">
            <a:extLst>
              <a:ext uri="{FF2B5EF4-FFF2-40B4-BE49-F238E27FC236}">
                <a16:creationId xmlns:a16="http://schemas.microsoft.com/office/drawing/2014/main" id="{4897096C-A8A7-718D-D128-33497745D812}"/>
              </a:ext>
            </a:extLst>
          </p:cNvPr>
          <p:cNvSpPr>
            <a:spLocks noGrp="1"/>
          </p:cNvSpPr>
          <p:nvPr>
            <p:ph idx="1"/>
          </p:nvPr>
        </p:nvSpPr>
        <p:spPr/>
        <p:txBody>
          <a:bodyPr>
            <a:normAutofit fontScale="92500"/>
          </a:bodyPr>
          <a:lstStyle/>
          <a:p>
            <a:r>
              <a:rPr lang="en-US" dirty="0">
                <a:solidFill>
                  <a:schemeClr val="tx1">
                    <a:lumMod val="75000"/>
                    <a:lumOff val="25000"/>
                  </a:schemeClr>
                </a:solidFill>
              </a:rPr>
              <a:t> Careful consideration of where workloads should be processed.</a:t>
            </a:r>
          </a:p>
          <a:p>
            <a:r>
              <a:rPr lang="en-US" dirty="0">
                <a:solidFill>
                  <a:schemeClr val="tx1">
                    <a:lumMod val="75000"/>
                    <a:lumOff val="25000"/>
                  </a:schemeClr>
                </a:solidFill>
              </a:rPr>
              <a:t>Focuses on optimizing service allocation in C2F2T infrastructures. It considers device resources and evaluates the advantages of fog computing.</a:t>
            </a:r>
          </a:p>
          <a:p>
            <a:r>
              <a:rPr lang="en-US" dirty="0">
                <a:solidFill>
                  <a:schemeClr val="tx1">
                    <a:lumMod val="75000"/>
                    <a:lumOff val="25000"/>
                  </a:schemeClr>
                </a:solidFill>
              </a:rPr>
              <a:t>Assesses resource consumption in C2T scenarios. This includes both cloud infrastructure and IoT device consumption.</a:t>
            </a:r>
          </a:p>
          <a:p>
            <a:r>
              <a:rPr lang="en-US" dirty="0">
                <a:solidFill>
                  <a:schemeClr val="tx1">
                    <a:lumMod val="75000"/>
                    <a:lumOff val="25000"/>
                  </a:schemeClr>
                </a:solidFill>
              </a:rPr>
              <a:t>IoT devices have limited computing and storage capacity.</a:t>
            </a:r>
          </a:p>
          <a:p>
            <a:r>
              <a:rPr lang="en-US" dirty="0">
                <a:solidFill>
                  <a:schemeClr val="tx1">
                    <a:lumMod val="75000"/>
                    <a:lumOff val="25000"/>
                  </a:schemeClr>
                </a:solidFill>
              </a:rPr>
              <a:t> Evaluates the effectiveness of gateways by examining buffer occupancy. It models data arrival at gateways as a queuing system.</a:t>
            </a:r>
          </a:p>
        </p:txBody>
      </p:sp>
    </p:spTree>
    <p:extLst>
      <p:ext uri="{BB962C8B-B14F-4D97-AF65-F5344CB8AC3E}">
        <p14:creationId xmlns:p14="http://schemas.microsoft.com/office/powerpoint/2010/main" val="14494927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B156F-255E-D913-D640-051416B8D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19381-B527-46C7-CE8F-096EDC5EAD96}"/>
              </a:ext>
            </a:extLst>
          </p:cNvPr>
          <p:cNvSpPr>
            <a:spLocks noGrp="1"/>
          </p:cNvSpPr>
          <p:nvPr>
            <p:ph type="title"/>
          </p:nvPr>
        </p:nvSpPr>
        <p:spPr/>
        <p:txBody>
          <a:bodyPr>
            <a:noAutofit/>
          </a:bodyPr>
          <a:lstStyle/>
          <a:p>
            <a:r>
              <a:rPr lang="en-US" sz="2400" dirty="0"/>
              <a:t>Cloud-to-Fog-to-Internet of Things (C2F2T) – By Metrics - Cost</a:t>
            </a:r>
            <a:endParaRPr lang="en-US" sz="2400" b="1" dirty="0"/>
          </a:p>
        </p:txBody>
      </p:sp>
      <p:sp>
        <p:nvSpPr>
          <p:cNvPr id="4" name="Content Placeholder 3">
            <a:extLst>
              <a:ext uri="{FF2B5EF4-FFF2-40B4-BE49-F238E27FC236}">
                <a16:creationId xmlns:a16="http://schemas.microsoft.com/office/drawing/2014/main" id="{69954473-4EC6-9DB8-3AD2-61CE61D86C0B}"/>
              </a:ext>
            </a:extLst>
          </p:cNvPr>
          <p:cNvSpPr>
            <a:spLocks noGrp="1"/>
          </p:cNvSpPr>
          <p:nvPr>
            <p:ph idx="1"/>
          </p:nvPr>
        </p:nvSpPr>
        <p:spPr/>
        <p:txBody>
          <a:bodyPr>
            <a:normAutofit fontScale="92500" lnSpcReduction="10000"/>
          </a:bodyPr>
          <a:lstStyle/>
          <a:p>
            <a:r>
              <a:rPr lang="en-US" dirty="0">
                <a:solidFill>
                  <a:schemeClr val="tx1">
                    <a:lumMod val="75000"/>
                    <a:lumOff val="25000"/>
                  </a:schemeClr>
                </a:solidFill>
              </a:rPr>
              <a:t>Cloud-heavy applications significantly increase costs for both providers and consumers.</a:t>
            </a:r>
          </a:p>
          <a:p>
            <a:r>
              <a:rPr lang="en-US" dirty="0">
                <a:solidFill>
                  <a:schemeClr val="tx1">
                    <a:lumMod val="75000"/>
                    <a:lumOff val="25000"/>
                  </a:schemeClr>
                </a:solidFill>
              </a:rPr>
              <a:t>Cost studies often overlap with energy consumption studies.</a:t>
            </a:r>
          </a:p>
          <a:p>
            <a:r>
              <a:rPr lang="en-US" dirty="0">
                <a:solidFill>
                  <a:schemeClr val="tx1">
                    <a:lumMod val="75000"/>
                    <a:lumOff val="25000"/>
                  </a:schemeClr>
                </a:solidFill>
              </a:rPr>
              <a:t> Investigated billing costs associated with reserved computational resources for IoT queries. Billing costs are directly linked to the volume of queries generated by IoT devices.</a:t>
            </a:r>
          </a:p>
          <a:p>
            <a:r>
              <a:rPr lang="en-US" dirty="0">
                <a:solidFill>
                  <a:schemeClr val="tx1">
                    <a:lumMod val="75000"/>
                    <a:lumOff val="25000"/>
                  </a:schemeClr>
                </a:solidFill>
              </a:rPr>
              <a:t>To minimize the operational cost of routing IoT traffic to the cloud. This includes costs associated with processing, storage, upstream/downstream traffic, local/global traffic, and link capacity.</a:t>
            </a:r>
          </a:p>
        </p:txBody>
      </p:sp>
    </p:spTree>
    <p:extLst>
      <p:ext uri="{BB962C8B-B14F-4D97-AF65-F5344CB8AC3E}">
        <p14:creationId xmlns:p14="http://schemas.microsoft.com/office/powerpoint/2010/main" val="24730725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3DAE-C966-2D5F-716E-BD8EF76F5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D6DF8-C8F4-6E22-3C5A-287876507D4D}"/>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8AED0F10-5B4F-F001-801F-8D973A9A0DB8}"/>
              </a:ext>
            </a:extLst>
          </p:cNvPr>
          <p:cNvSpPr>
            <a:spLocks noGrp="1"/>
          </p:cNvSpPr>
          <p:nvPr>
            <p:ph idx="1"/>
          </p:nvPr>
        </p:nvSpPr>
        <p:spPr/>
        <p:txBody>
          <a:bodyPr>
            <a:normAutofit/>
          </a:bodyPr>
          <a:lstStyle/>
          <a:p>
            <a:r>
              <a:rPr lang="en-US" dirty="0">
                <a:solidFill>
                  <a:schemeClr val="tx1">
                    <a:lumMod val="75000"/>
                    <a:lumOff val="25000"/>
                  </a:schemeClr>
                </a:solidFill>
              </a:rPr>
              <a:t>QoS is significantly impacted by various factors:</a:t>
            </a:r>
          </a:p>
          <a:p>
            <a:pPr lvl="1"/>
            <a:r>
              <a:rPr lang="en-US" dirty="0">
                <a:solidFill>
                  <a:schemeClr val="tx1">
                    <a:lumMod val="75000"/>
                    <a:lumOff val="25000"/>
                  </a:schemeClr>
                </a:solidFill>
              </a:rPr>
              <a:t>Network delays   </a:t>
            </a:r>
          </a:p>
          <a:p>
            <a:pPr lvl="1"/>
            <a:r>
              <a:rPr lang="en-US" dirty="0">
                <a:solidFill>
                  <a:schemeClr val="tx1">
                    <a:lumMod val="75000"/>
                    <a:lumOff val="25000"/>
                  </a:schemeClr>
                </a:solidFill>
              </a:rPr>
              <a:t>Available computational resources</a:t>
            </a:r>
          </a:p>
          <a:p>
            <a:pPr lvl="1"/>
            <a:r>
              <a:rPr lang="en-US" dirty="0">
                <a:solidFill>
                  <a:schemeClr val="tx1">
                    <a:lumMod val="75000"/>
                    <a:lumOff val="25000"/>
                  </a:schemeClr>
                </a:solidFill>
              </a:rPr>
              <a:t>Number of IoT devices consuming resources</a:t>
            </a:r>
          </a:p>
          <a:p>
            <a:pPr marL="457200" lvl="1" indent="0">
              <a:buNone/>
            </a:pPr>
            <a:endParaRPr lang="en-US" dirty="0">
              <a:solidFill>
                <a:schemeClr val="tx1">
                  <a:lumMod val="75000"/>
                  <a:lumOff val="25000"/>
                </a:schemeClr>
              </a:solidFill>
            </a:endParaRPr>
          </a:p>
          <a:p>
            <a:r>
              <a:rPr lang="en-US" dirty="0">
                <a:solidFill>
                  <a:schemeClr val="tx1">
                    <a:lumMod val="75000"/>
                    <a:lumOff val="25000"/>
                  </a:schemeClr>
                </a:solidFill>
              </a:rPr>
              <a:t>Evaluating QoS for composite services:</a:t>
            </a:r>
          </a:p>
          <a:p>
            <a:pPr lvl="1"/>
            <a:r>
              <a:rPr lang="en-US" dirty="0">
                <a:solidFill>
                  <a:schemeClr val="tx1">
                    <a:lumMod val="75000"/>
                    <a:lumOff val="25000"/>
                  </a:schemeClr>
                </a:solidFill>
              </a:rPr>
              <a:t> Breaking down composite services into smaller, more granular services for individual QoS evaluation.</a:t>
            </a:r>
          </a:p>
        </p:txBody>
      </p:sp>
    </p:spTree>
    <p:extLst>
      <p:ext uri="{BB962C8B-B14F-4D97-AF65-F5344CB8AC3E}">
        <p14:creationId xmlns:p14="http://schemas.microsoft.com/office/powerpoint/2010/main" val="7705414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ABFB4-1383-FFB6-1E7F-3A28B5DC1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52693-6C18-27CA-1AE3-99A5870552A0}"/>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1A03047F-6555-4341-320C-D6036BB98F8D}"/>
              </a:ext>
            </a:extLst>
          </p:cNvPr>
          <p:cNvSpPr>
            <a:spLocks noGrp="1"/>
          </p:cNvSpPr>
          <p:nvPr>
            <p:ph idx="1"/>
          </p:nvPr>
        </p:nvSpPr>
        <p:spPr/>
        <p:txBody>
          <a:bodyPr>
            <a:normAutofit/>
          </a:bodyPr>
          <a:lstStyle/>
          <a:p>
            <a:r>
              <a:rPr lang="en-US" dirty="0">
                <a:solidFill>
                  <a:schemeClr val="tx1">
                    <a:lumMod val="75000"/>
                    <a:lumOff val="25000"/>
                  </a:schemeClr>
                </a:solidFill>
              </a:rPr>
              <a:t>QoS in video streaming applications:</a:t>
            </a:r>
          </a:p>
          <a:p>
            <a:pPr lvl="1"/>
            <a:r>
              <a:rPr lang="en-US" dirty="0">
                <a:solidFill>
                  <a:schemeClr val="tx1">
                    <a:lumMod val="75000"/>
                    <a:lumOff val="25000"/>
                  </a:schemeClr>
                </a:solidFill>
              </a:rPr>
              <a:t> Analyzes video streams from vehicles, defining QoS as the accuracy of object detection in video images.</a:t>
            </a:r>
          </a:p>
          <a:p>
            <a:pPr lvl="1"/>
            <a:r>
              <a:rPr lang="en-US" dirty="0">
                <a:solidFill>
                  <a:schemeClr val="tx1">
                    <a:lumMod val="75000"/>
                    <a:lumOff val="25000"/>
                  </a:schemeClr>
                </a:solidFill>
              </a:rPr>
              <a:t> Varying video resolution impacts CPU, memory, and bandwidth consumption.   </a:t>
            </a:r>
          </a:p>
          <a:p>
            <a:pPr lvl="1"/>
            <a:r>
              <a:rPr lang="en-US" dirty="0">
                <a:solidFill>
                  <a:schemeClr val="tx1">
                    <a:lumMod val="75000"/>
                    <a:lumOff val="25000"/>
                  </a:schemeClr>
                </a:solidFill>
              </a:rPr>
              <a:t> Accuracy is defined as the probability of a detection result exceeding a certain threshold among multiple results.</a:t>
            </a:r>
          </a:p>
        </p:txBody>
      </p:sp>
    </p:spTree>
    <p:extLst>
      <p:ext uri="{BB962C8B-B14F-4D97-AF65-F5344CB8AC3E}">
        <p14:creationId xmlns:p14="http://schemas.microsoft.com/office/powerpoint/2010/main" val="31403832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62E36-C0BF-1E5D-173B-6981B941F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751A7-F8C9-311E-32DA-9BAA1DEA78B4}"/>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31882462-39C5-D76B-14A5-E85337E6FB6C}"/>
              </a:ext>
            </a:extLst>
          </p:cNvPr>
          <p:cNvSpPr>
            <a:spLocks noGrp="1"/>
          </p:cNvSpPr>
          <p:nvPr>
            <p:ph idx="1"/>
          </p:nvPr>
        </p:nvSpPr>
        <p:spPr/>
        <p:txBody>
          <a:bodyPr>
            <a:normAutofit/>
          </a:bodyPr>
          <a:lstStyle/>
          <a:p>
            <a:r>
              <a:rPr lang="en-US" dirty="0">
                <a:solidFill>
                  <a:schemeClr val="tx1">
                    <a:lumMod val="75000"/>
                    <a:lumOff val="25000"/>
                  </a:schemeClr>
                </a:solidFill>
              </a:rPr>
              <a:t> Reliability as a key aspect of QoS:</a:t>
            </a:r>
          </a:p>
          <a:p>
            <a:pPr lvl="1"/>
            <a:r>
              <a:rPr lang="en-US" dirty="0">
                <a:solidFill>
                  <a:schemeClr val="tx1">
                    <a:lumMod val="75000"/>
                    <a:lumOff val="25000"/>
                  </a:schemeClr>
                </a:solidFill>
              </a:rPr>
              <a:t> Emphasizes the importance of factors like service availability, input file availability, and reliability of individual subsystems for overall IoT system reliability.</a:t>
            </a:r>
          </a:p>
          <a:p>
            <a:pPr lvl="1"/>
            <a:r>
              <a:rPr lang="en-US" dirty="0">
                <a:solidFill>
                  <a:schemeClr val="tx1">
                    <a:lumMod val="75000"/>
                    <a:lumOff val="25000"/>
                  </a:schemeClr>
                </a:solidFill>
              </a:rPr>
              <a:t> Defines reliability in the context of security, specifically the ability of the traceability model to detect and prevent attacks.</a:t>
            </a:r>
          </a:p>
        </p:txBody>
      </p:sp>
    </p:spTree>
    <p:extLst>
      <p:ext uri="{BB962C8B-B14F-4D97-AF65-F5344CB8AC3E}">
        <p14:creationId xmlns:p14="http://schemas.microsoft.com/office/powerpoint/2010/main" val="37711209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BC8C8-2668-25ED-4856-8D772FDAE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76CBD-736D-136D-7743-043F828EB2F6}"/>
              </a:ext>
            </a:extLst>
          </p:cNvPr>
          <p:cNvSpPr>
            <a:spLocks noGrp="1"/>
          </p:cNvSpPr>
          <p:nvPr>
            <p:ph type="title"/>
          </p:nvPr>
        </p:nvSpPr>
        <p:spPr/>
        <p:txBody>
          <a:bodyPr>
            <a:noAutofit/>
          </a:bodyPr>
          <a:lstStyle/>
          <a:p>
            <a:r>
              <a:rPr lang="en-US" sz="2400" dirty="0"/>
              <a:t>Cloud-to-Fog-to-Internet of Things (C2F2T) – By Metrics – </a:t>
            </a:r>
            <a:r>
              <a:rPr lang="en-US" sz="2000" dirty="0"/>
              <a:t>Quality of Service</a:t>
            </a:r>
            <a:endParaRPr lang="en-US" sz="2400" b="1" dirty="0"/>
          </a:p>
        </p:txBody>
      </p:sp>
      <p:sp>
        <p:nvSpPr>
          <p:cNvPr id="4" name="Content Placeholder 3">
            <a:extLst>
              <a:ext uri="{FF2B5EF4-FFF2-40B4-BE49-F238E27FC236}">
                <a16:creationId xmlns:a16="http://schemas.microsoft.com/office/drawing/2014/main" id="{8725E9F4-6003-7996-2D9D-B21A1215B878}"/>
              </a:ext>
            </a:extLst>
          </p:cNvPr>
          <p:cNvSpPr>
            <a:spLocks noGrp="1"/>
          </p:cNvSpPr>
          <p:nvPr>
            <p:ph idx="1"/>
          </p:nvPr>
        </p:nvSpPr>
        <p:spPr/>
        <p:txBody>
          <a:bodyPr>
            <a:normAutofit/>
          </a:bodyPr>
          <a:lstStyle/>
          <a:p>
            <a:r>
              <a:rPr lang="en-US" dirty="0">
                <a:solidFill>
                  <a:schemeClr val="tx1">
                    <a:lumMod val="75000"/>
                    <a:lumOff val="25000"/>
                  </a:schemeClr>
                </a:solidFill>
              </a:rPr>
              <a:t> Security is addressed in only one of the mentioned articles ([15]).</a:t>
            </a:r>
          </a:p>
          <a:p>
            <a:r>
              <a:rPr lang="en-US" dirty="0">
                <a:solidFill>
                  <a:schemeClr val="tx1">
                    <a:lumMod val="75000"/>
                    <a:lumOff val="25000"/>
                  </a:schemeClr>
                </a:solidFill>
              </a:rPr>
              <a:t> focuses on "opacity" in data flow within the C2T context.</a:t>
            </a:r>
          </a:p>
          <a:p>
            <a:pPr lvl="1"/>
            <a:r>
              <a:rPr lang="en-US" dirty="0">
                <a:solidFill>
                  <a:schemeClr val="tx1">
                    <a:lumMod val="75000"/>
                    <a:lumOff val="25000"/>
                  </a:schemeClr>
                </a:solidFill>
              </a:rPr>
              <a:t> Opacity is a uniform approach for defining security properties as predicates.</a:t>
            </a:r>
          </a:p>
          <a:p>
            <a:r>
              <a:rPr lang="en-US" dirty="0">
                <a:solidFill>
                  <a:schemeClr val="tx1">
                    <a:lumMod val="75000"/>
                    <a:lumOff val="25000"/>
                  </a:schemeClr>
                </a:solidFill>
              </a:rPr>
              <a:t>Analytical models are used to verify opacity in a medical research application scenario.</a:t>
            </a:r>
          </a:p>
        </p:txBody>
      </p:sp>
    </p:spTree>
    <p:extLst>
      <p:ext uri="{BB962C8B-B14F-4D97-AF65-F5344CB8AC3E}">
        <p14:creationId xmlns:p14="http://schemas.microsoft.com/office/powerpoint/2010/main" val="1390631162"/>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2897</TotalTime>
  <Words>5788</Words>
  <Application>Microsoft Macintosh PowerPoint</Application>
  <PresentationFormat>Widescreen</PresentationFormat>
  <Paragraphs>731</Paragraphs>
  <Slides>77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Aptos</vt:lpstr>
      <vt:lpstr>Arial</vt:lpstr>
      <vt:lpstr>Book Antiqua</vt:lpstr>
      <vt:lpstr>Bookman Old Style</vt:lpstr>
      <vt:lpstr>Wingdings</vt:lpstr>
      <vt:lpstr>Office Theme</vt:lpstr>
      <vt:lpstr>PowerPoint Presentation</vt:lpstr>
      <vt:lpstr>Introduction – Key issues in Cloud-to-Things</vt:lpstr>
      <vt:lpstr>Federating Edge Resources - Introduction</vt:lpstr>
      <vt:lpstr>Federating Edge Resources - Introduction</vt:lpstr>
      <vt:lpstr>Federating Edge Resources - Introduction</vt:lpstr>
      <vt:lpstr>Federating Edge Resources - Introduction</vt:lpstr>
      <vt:lpstr>Federating Edge Resources - Challenges</vt:lpstr>
      <vt:lpstr>Federating Edge Resources - Challenges</vt:lpstr>
      <vt:lpstr>Federating Edge Resources - Challenges</vt:lpstr>
      <vt:lpstr>Federating Edge Resources - Challenges</vt:lpstr>
      <vt:lpstr>Federating Edge Resources - Challenges</vt:lpstr>
      <vt:lpstr>Federating Edge Resources - Challenges</vt:lpstr>
      <vt:lpstr>Federating Edge Resources - Challenges</vt:lpstr>
      <vt:lpstr>Federating Edge Resources – Review Methodology</vt:lpstr>
      <vt:lpstr>Cloud-to-Fog-to-Internet of Things (C2F2T) – Analytical Model</vt:lpstr>
      <vt:lpstr>C2F2T – Analytical Model - Examples</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1</vt:lpstr>
      <vt:lpstr>Cloud-to-Fog-to-Internet of Things (C2F2T) – Analytical Model 2</vt:lpstr>
      <vt:lpstr>Cloud-to-Fog-to-Internet of Things (C2F2T) – Analytical Model 2</vt:lpstr>
      <vt:lpstr>Cloud-to-Fog-to-Internet of Things (C2F2T) – Analytical Model 2</vt:lpstr>
      <vt:lpstr>Cloud-to-Fog-to-Internet of Things (C2F2T) – Analytical Model 2</vt:lpstr>
      <vt:lpstr>Cloud-to-Fog-to-Internet of Things (C2F2T) – Analytical Model 2</vt:lpstr>
      <vt:lpstr>Cloud-to-Fog-to-Internet of Things (C2F2T) – Analytical Model 3</vt:lpstr>
      <vt:lpstr>Cloud-to-Fog-to-Internet of Things (C2F2T) – Analytical Model 3</vt:lpstr>
      <vt:lpstr>Cloud-to-Fog-to-Internet of Things (C2F2T) – Analytical Model 3</vt:lpstr>
      <vt:lpstr>Cloud-to-Fog-to-Internet of Things (C2F2T) – Analytical Model 3</vt:lpstr>
      <vt:lpstr>Cloud-to-Fog-to-Internet of Things (C2F2T) – Analytical Model 3</vt:lpstr>
      <vt:lpstr>Cloud-to-Fog-to-Internet of Things (C2F2T) – Analytical Model 4</vt:lpstr>
      <vt:lpstr>Cloud-to-Fog-to-Internet of Things (C2F2T) – Analytical Model 4</vt:lpstr>
      <vt:lpstr>Cloud-to-Fog-to-Internet of Things (C2F2T) – Other Analytical Model </vt:lpstr>
      <vt:lpstr>Cloud-to-Fog-to-Internet of Things (C2F2T) – Other Analytical Model </vt:lpstr>
      <vt:lpstr>Cloud-to-Fog-to-Internet of Things (C2F2T) – Other Analytical Model </vt:lpstr>
      <vt:lpstr>Cloud-to-Fog-to-Internet of Things (C2F2T) – Other Analytical Model </vt:lpstr>
      <vt:lpstr>Cloud-to-Fog-to-Internet of Things (C2F2T) – Petri Net Models</vt:lpstr>
      <vt:lpstr>Cloud-to-Fog-to-Internet of Things (C2F2T) – Petri Net Models</vt:lpstr>
      <vt:lpstr>Cloud-to-Fog-to-Internet of Things (C2F2T) – Petri Net Models</vt:lpstr>
      <vt:lpstr>Cloud-to-Fog-to-Internet of Things (C2F2T) – Petri Net Models</vt:lpstr>
      <vt:lpstr>Cloud-to-Fog-to-Internet of Things (C2F2T) – Petri Net Models</vt:lpstr>
      <vt:lpstr>Cloud-to-Fog-to-Internet of Things (C2F2T) – Petri Net Models</vt:lpstr>
      <vt:lpstr>Cloud-to-Fog-to-Internet of Things (C2F2T) – Integer Linear Programming</vt:lpstr>
      <vt:lpstr>Cloud-to-Fog-to-Internet of Things (C2F2T) – Integer Linear Programming</vt:lpstr>
      <vt:lpstr>Cloud-to-Fog-to-Internet of Things (C2F2T) – Integer Linear Programming</vt:lpstr>
      <vt:lpstr>Cloud-to-Fog-to-Internet of Things (C2F2T) – Other Approaches</vt:lpstr>
      <vt:lpstr>Cloud-to-Fog-to-Internet of Things (C2F2T) – Other Approaches</vt:lpstr>
      <vt:lpstr>Cloud-to-Fog-to-Internet of Things (C2F2T) – Other Approaches</vt:lpstr>
      <vt:lpstr>Integrated C2F2T Literature by Modeling Technique</vt:lpstr>
      <vt:lpstr>Integrated C2F2T Literature by Modeling Technique</vt:lpstr>
      <vt:lpstr>Integrated C2F2T Literature by Modeling Technique</vt:lpstr>
      <vt:lpstr>Integrated C2F2T Literature by Modeling Technique</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Use case Scenarios</vt:lpstr>
      <vt:lpstr>Cloud-to-Fog-to-Internet of Things (C2F2T) – By Metrics</vt:lpstr>
      <vt:lpstr>Cloud-to-Fog-to-Internet of Things (C2F2T) – By Metrics</vt:lpstr>
      <vt:lpstr>Cloud-to-Fog-to-Internet of Things (C2F2T) – By Metrics</vt:lpstr>
      <vt:lpstr>Cloud-to-Fog-to-Internet of Things (C2F2T) – By Metrics</vt:lpstr>
      <vt:lpstr>Cloud-to-Fog-to-Internet of Things (C2F2T) – By Metrics</vt:lpstr>
      <vt:lpstr>Cloud-to-Fog-to-Internet of Things (C2F2T) – By Metrics - Energy consumption</vt:lpstr>
      <vt:lpstr>Cloud-to-Fog-to-Internet of Things (C2F2T) – By Metrics - Performance</vt:lpstr>
      <vt:lpstr>Cloud-to-Fog-to-Internet of Things (C2F2T) – By Metrics - Performance</vt:lpstr>
      <vt:lpstr>Cloud-to-Fog-to-Internet of Things (C2F2T) – By Metrics - Performance</vt:lpstr>
      <vt:lpstr>Cloud-to-Fog-to-Internet of Things (C2F2T) – By Metrics – Resource Consumption</vt:lpstr>
      <vt:lpstr>Cloud-to-Fog-to-Internet of Things (C2F2T) – By Metrics - Cost</vt:lpstr>
      <vt:lpstr>Cloud-to-Fog-to-Internet of Things (C2F2T) – By Metrics – Quality of Service</vt:lpstr>
      <vt:lpstr>Cloud-to-Fog-to-Internet of Things (C2F2T) – By Metrics – Quality of Service</vt:lpstr>
      <vt:lpstr>Cloud-to-Fog-to-Internet of Things (C2F2T) – By Metrics – Quality of Service</vt:lpstr>
      <vt:lpstr>Cloud-to-Fog-to-Internet of Things (C2F2T) – By Metrics – Quality of Service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Naveenkumar J K</dc:creator>
  <cp:lastModifiedBy>Apoorva Karnwal</cp:lastModifiedBy>
  <cp:revision>30</cp:revision>
  <dcterms:created xsi:type="dcterms:W3CDTF">2024-12-06T04:08:32Z</dcterms:created>
  <dcterms:modified xsi:type="dcterms:W3CDTF">2025-01-31T17:49:06Z</dcterms:modified>
</cp:coreProperties>
</file>