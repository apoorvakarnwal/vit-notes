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96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56" r:id="rId23"/>
    <p:sldId id="257" r:id="rId24"/>
    <p:sldId id="258" r:id="rId25"/>
    <p:sldId id="259" r:id="rId26"/>
    <p:sldId id="266" r:id="rId27"/>
    <p:sldId id="260" r:id="rId28"/>
    <p:sldId id="263" r:id="rId29"/>
    <p:sldId id="264" r:id="rId30"/>
    <p:sldId id="267" r:id="rId31"/>
    <p:sldId id="268" r:id="rId32"/>
    <p:sldId id="269" r:id="rId33"/>
    <p:sldId id="270" r:id="rId34"/>
    <p:sldId id="271" r:id="rId35"/>
    <p:sldId id="272" r:id="rId36"/>
    <p:sldId id="261" r:id="rId37"/>
    <p:sldId id="262" r:id="rId38"/>
    <p:sldId id="273" r:id="rId39"/>
    <p:sldId id="27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CCC46-03F8-4471-9C38-4034F4739726}" v="38" dt="2024-11-07T16:44:14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 autoAdjust="0"/>
    <p:restoredTop sz="94694"/>
  </p:normalViewPr>
  <p:slideViewPr>
    <p:cSldViewPr snapToGrid="0">
      <p:cViewPr varScale="1">
        <p:scale>
          <a:sx n="79" d="100"/>
          <a:sy n="79" d="100"/>
        </p:scale>
        <p:origin x="208" y="1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06584-CD95-5146-A81E-66BFC65516A4}" type="datetimeFigureOut">
              <a:rPr lang="en-IN" smtClean="0"/>
              <a:t>06/05/25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77269-4C23-ED41-90EA-4EDC31080DB7}" type="slidenum">
              <a:rPr lang="en-IN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44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77269-4C23-ED41-90EA-4EDC31080DB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4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7FC5-2E39-EB72-F09E-36A4C8151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3F86-699B-6B04-EA36-633CAFD16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1C00-58C7-8A84-F310-93894FF3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EC83-E488-A3DF-1B50-DE6EDF77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87321-AFE9-4BDB-CFDD-18CABE83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67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3632-D3AE-E95B-9EBE-731DA65F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DCF83-82E6-24F8-9225-C75427F94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EF191-7B08-CA58-87CE-3A760181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E213B-B072-2CE3-FF3E-FEAA2681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57C9-6774-6C73-42BE-0A0E624B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7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61DD-DA27-FF65-154E-861BA324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7B378-125B-B8AC-A004-197D03CCB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A996C-D898-AE98-88D8-FEAA449E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E0D21-657E-ABCC-A334-70600CB2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2C90-FB78-58F7-1C39-78BAD07A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7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50F2-BFC5-7FCA-7453-FAE3774C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43129-9399-3E1B-3132-2200223A5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5181E-F92F-34F8-97E2-A78F6651B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6834F-0B85-A452-89FE-1219B3C9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69265-9417-9B74-8113-369CBBD1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D66D2-106C-A08A-9550-B0459DE7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08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2125-0560-EFAB-5995-CF7CB9CD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850D0-A58F-684C-AC0B-69BCD7CBB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476D0-D1C6-7E60-6F98-5A3A21873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EB63E-B62E-456C-0982-6B11E2265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4C6CD-68EC-95DA-39B9-2F20B2872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93FC4-DEE1-F770-154D-C347DFBE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8137C-8CF8-23B1-C3B3-7BC0EFA6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925C3-DA18-2C47-0F5F-715BD0D9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47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4646-59A4-40D9-0709-9C6940F0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AB18A-1F89-A100-E520-8CEDD909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084DB-F76A-E334-D066-126273C4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8D917-DEDC-4A0B-47EC-4093094A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91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95F01-E47F-C8DF-382F-FA7FED47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31A38-4F9E-82A6-B569-95BCBD99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EF4AB-94DD-9183-31BE-CA7611CD5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37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44EA-BADB-8C7C-8CBC-66CDA4AE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4D9A-1BBF-94FA-99C1-884928D87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83640-EC4E-DB3C-827B-BF47022AA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D63A6-3A0F-940C-4CF5-BB69C155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B89F6-65E6-0790-B7B7-81B6935B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3EC5C-DFEE-B582-E54F-34191C3A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5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78DB-CEF3-7C3F-0523-D4BF5B6E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F5B3E-7D60-0D05-9A8F-FC3621D8C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76004-0E64-0A20-DB23-0A50175CF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9F021-7293-D9B2-DB9C-2019584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7D634-6BCA-D15C-F06B-9B218484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69209-8731-4D46-F874-78A35CA3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2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29A1-6B02-1E73-6723-1A66EE3F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0C8DD-E23A-7480-8012-83B240093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E259-7CA3-C385-478A-174A956F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97471-7F39-D4E0-DC7F-E461FEE5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5D1C-6FB3-3FD1-96D0-E4ED556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96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CC32-29CF-33C3-AC4C-235E13C6A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5713C-A9A8-1FB8-6386-E59D1EAF9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6DB9E-E19E-71A6-BFEE-4795E169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787A9-1EF3-E7AB-7933-4CE085A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E7207-2E9E-CDCC-4FA8-F23D3450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50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9BD2C-44ED-B96C-4833-65907A48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B678-DE40-0530-383E-0B808A9D7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B19BB-08B6-4913-5814-4C78083A9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510CF-46B0-499A-9744-9A3314D97070}" type="datetimeFigureOut">
              <a:rPr lang="en-IN" smtClean="0"/>
              <a:t>06/05/25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D3C94-729F-5284-E0C8-B482A17FB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18B72-A1ED-6E0C-A49D-81A8BFD9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B4357-E934-45FA-AAD8-7B349F5F7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3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uo1T8PYyQ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0014" y="5224068"/>
            <a:ext cx="561052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885" marR="5080" indent="-21082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Calibri"/>
                <a:cs typeface="Calibri"/>
              </a:rPr>
              <a:t>Appli</a:t>
            </a:r>
            <a:r>
              <a:rPr sz="4000" b="1" spc="-30" dirty="0">
                <a:latin typeface="Calibri"/>
                <a:cs typeface="Calibri"/>
              </a:rPr>
              <a:t>c</a:t>
            </a:r>
            <a:r>
              <a:rPr sz="4000" b="1" spc="-50" dirty="0">
                <a:latin typeface="Calibri"/>
                <a:cs typeface="Calibri"/>
              </a:rPr>
              <a:t>a</a:t>
            </a:r>
            <a:r>
              <a:rPr sz="4000" b="1" spc="-5" dirty="0">
                <a:latin typeface="Calibri"/>
                <a:cs typeface="Calibri"/>
              </a:rPr>
              <a:t>tions  and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Issues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216" y="69851"/>
            <a:ext cx="108305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5" dirty="0">
                <a:solidFill>
                  <a:srgbClr val="FF0000"/>
                </a:solidFill>
                <a:latin typeface="Calibri"/>
                <a:cs typeface="Calibri"/>
              </a:rPr>
              <a:t>FUNDAMENTALS</a:t>
            </a:r>
            <a:r>
              <a:rPr sz="26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 FOG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 AND</a:t>
            </a:r>
            <a:r>
              <a:rPr sz="26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EDGE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COMPUTING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41" y="623188"/>
            <a:ext cx="11937153" cy="41739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804" y="5013150"/>
            <a:ext cx="1903136" cy="17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8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79" y="111849"/>
            <a:ext cx="12061613" cy="572135"/>
            <a:chOff x="30734" y="111848"/>
            <a:chExt cx="9046210" cy="572135"/>
          </a:xfrm>
        </p:grpSpPr>
        <p:sp>
          <p:nvSpPr>
            <p:cNvPr id="3" name="object 3"/>
            <p:cNvSpPr/>
            <p:nvPr/>
          </p:nvSpPr>
          <p:spPr>
            <a:xfrm>
              <a:off x="35496" y="116611"/>
              <a:ext cx="9036685" cy="562610"/>
            </a:xfrm>
            <a:custGeom>
              <a:avLst/>
              <a:gdLst/>
              <a:ahLst/>
              <a:cxnLst/>
              <a:rect l="l" t="t" r="r" b="b"/>
              <a:pathLst>
                <a:path w="9036685" h="562610">
                  <a:moveTo>
                    <a:pt x="9036558" y="0"/>
                  </a:moveTo>
                  <a:lnTo>
                    <a:pt x="0" y="0"/>
                  </a:lnTo>
                  <a:lnTo>
                    <a:pt x="0" y="562076"/>
                  </a:lnTo>
                  <a:lnTo>
                    <a:pt x="9036558" y="562076"/>
                  </a:lnTo>
                  <a:lnTo>
                    <a:pt x="9036558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496" y="116611"/>
              <a:ext cx="9036685" cy="562610"/>
            </a:xfrm>
            <a:custGeom>
              <a:avLst/>
              <a:gdLst/>
              <a:ahLst/>
              <a:cxnLst/>
              <a:rect l="l" t="t" r="r" b="b"/>
              <a:pathLst>
                <a:path w="9036685" h="562610">
                  <a:moveTo>
                    <a:pt x="0" y="562076"/>
                  </a:moveTo>
                  <a:lnTo>
                    <a:pt x="9036558" y="562076"/>
                  </a:lnTo>
                  <a:lnTo>
                    <a:pt x="9036558" y="0"/>
                  </a:lnTo>
                  <a:lnTo>
                    <a:pt x="0" y="0"/>
                  </a:lnTo>
                  <a:lnTo>
                    <a:pt x="0" y="5620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929" y="132079"/>
            <a:ext cx="11735647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libri"/>
                <a:cs typeface="Calibri"/>
              </a:rPr>
              <a:t>EXPLOITING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FOG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COMPUTING</a:t>
            </a:r>
            <a:r>
              <a:rPr sz="3000" b="1" dirty="0">
                <a:latin typeface="Calibri"/>
                <a:cs typeface="Calibri"/>
              </a:rPr>
              <a:t> IN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45" dirty="0">
                <a:latin typeface="Calibri"/>
                <a:cs typeface="Calibri"/>
              </a:rPr>
              <a:t>HEALTH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MONITORING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357" y="932816"/>
            <a:ext cx="11605260" cy="355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ARCHITECTURE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OF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A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HEALTH</a:t>
            </a: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MONITORING</a:t>
            </a:r>
            <a:r>
              <a:rPr sz="2400" b="1" u="heavy" spc="5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IOT-BASED 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FOG</a:t>
            </a:r>
            <a:r>
              <a:rPr sz="24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COMPUTING</a:t>
            </a: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Health</a:t>
            </a:r>
            <a:r>
              <a:rPr sz="2200" b="1" spc="18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monitoring</a:t>
            </a:r>
            <a:r>
              <a:rPr sz="2200" b="1" spc="1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IoT</a:t>
            </a:r>
            <a:r>
              <a:rPr sz="2200" b="1" spc="18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systems</a:t>
            </a:r>
            <a:r>
              <a:rPr sz="2200" b="1" spc="1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reliable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because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their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results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indirectly</a:t>
            </a:r>
            <a:r>
              <a:rPr sz="2200" dirty="0">
                <a:latin typeface="Calibri"/>
                <a:cs typeface="Calibri"/>
              </a:rPr>
              <a:t> 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directly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impact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medical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doctor’s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analysis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decisions.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b="1" spc="-5" dirty="0">
                <a:latin typeface="Calibri"/>
                <a:cs typeface="Calibri"/>
              </a:rPr>
              <a:t>error or a </a:t>
            </a:r>
            <a:r>
              <a:rPr sz="2200" b="1" spc="-15" dirty="0">
                <a:latin typeface="Calibri"/>
                <a:cs typeface="Calibri"/>
              </a:rPr>
              <a:t>delay </a:t>
            </a:r>
            <a:r>
              <a:rPr sz="2200" b="1" spc="-5" dirty="0">
                <a:latin typeface="Calibri"/>
                <a:cs typeface="Calibri"/>
              </a:rPr>
              <a:t>in the </a:t>
            </a:r>
            <a:r>
              <a:rPr sz="2200" b="1" spc="-10" dirty="0">
                <a:latin typeface="Calibri"/>
                <a:cs typeface="Calibri"/>
              </a:rPr>
              <a:t>results </a:t>
            </a:r>
            <a:r>
              <a:rPr sz="2200" spc="-15" dirty="0">
                <a:latin typeface="Calibri"/>
                <a:cs typeface="Calibri"/>
              </a:rPr>
              <a:t>may </a:t>
            </a:r>
            <a:r>
              <a:rPr sz="2200" spc="-5" dirty="0">
                <a:latin typeface="Calibri"/>
                <a:cs typeface="Calibri"/>
              </a:rPr>
              <a:t>lead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serious </a:t>
            </a:r>
            <a:r>
              <a:rPr sz="2200" spc="-10" dirty="0">
                <a:latin typeface="Calibri"/>
                <a:cs typeface="Calibri"/>
              </a:rPr>
              <a:t>consequences, such </a:t>
            </a:r>
            <a:r>
              <a:rPr sz="2200" spc="-5" dirty="0">
                <a:latin typeface="Calibri"/>
                <a:cs typeface="Calibri"/>
              </a:rPr>
              <a:t> as an </a:t>
            </a:r>
            <a:r>
              <a:rPr sz="2200" spc="-10" dirty="0">
                <a:latin typeface="Calibri"/>
                <a:cs typeface="Calibri"/>
              </a:rPr>
              <a:t>incorrect treatment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0" dirty="0">
                <a:latin typeface="Calibri"/>
                <a:cs typeface="Calibri"/>
              </a:rPr>
              <a:t>late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5" dirty="0">
                <a:latin typeface="Calibri"/>
                <a:cs typeface="Calibri"/>
              </a:rPr>
              <a:t>emergency,</a:t>
            </a:r>
            <a:r>
              <a:rPr sz="2200" spc="4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negatively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affect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human health.</a:t>
            </a:r>
            <a:endParaRPr sz="2200" dirty="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b="1" spc="-15" dirty="0">
                <a:latin typeface="Calibri"/>
                <a:cs typeface="Calibri"/>
              </a:rPr>
              <a:t>late </a:t>
            </a:r>
            <a:r>
              <a:rPr sz="2200" b="1" spc="-5" dirty="0">
                <a:latin typeface="Calibri"/>
                <a:cs typeface="Calibri"/>
              </a:rPr>
              <a:t>notification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human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fall detection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monitoring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IoT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system </a:t>
            </a:r>
            <a:r>
              <a:rPr sz="2200" spc="-35" dirty="0">
                <a:latin typeface="Calibri"/>
                <a:cs typeface="Calibri"/>
              </a:rPr>
              <a:t>to 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medical doctor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lead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late </a:t>
            </a:r>
            <a:r>
              <a:rPr sz="2200" spc="-10" dirty="0">
                <a:latin typeface="Calibri"/>
                <a:cs typeface="Calibri"/>
              </a:rPr>
              <a:t>response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a serious </a:t>
            </a:r>
            <a:r>
              <a:rPr sz="2200" spc="-10" dirty="0">
                <a:latin typeface="Calibri"/>
                <a:cs typeface="Calibri"/>
              </a:rPr>
              <a:t>head </a:t>
            </a:r>
            <a:r>
              <a:rPr sz="2200" spc="-25" dirty="0">
                <a:latin typeface="Calibri"/>
                <a:cs typeface="Calibri"/>
              </a:rPr>
              <a:t>injury, 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quite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possibly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causes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death.</a:t>
            </a:r>
            <a:endParaRPr sz="2200" dirty="0">
              <a:latin typeface="Calibri"/>
              <a:cs typeface="Calibri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 this </a:t>
            </a:r>
            <a:r>
              <a:rPr sz="2200" spc="-10" dirty="0">
                <a:latin typeface="Calibri"/>
                <a:cs typeface="Calibri"/>
              </a:rPr>
              <a:t>situation, </a:t>
            </a:r>
            <a:r>
              <a:rPr sz="2200" spc="-5" dirty="0">
                <a:latin typeface="Calibri"/>
                <a:cs typeface="Calibri"/>
              </a:rPr>
              <a:t>if a </a:t>
            </a:r>
            <a:r>
              <a:rPr sz="2200" spc="-10" dirty="0">
                <a:latin typeface="Calibri"/>
                <a:cs typeface="Calibri"/>
              </a:rPr>
              <a:t>medical doctor </a:t>
            </a:r>
            <a:r>
              <a:rPr sz="2200" spc="-15" dirty="0">
                <a:latin typeface="Calibri"/>
                <a:cs typeface="Calibri"/>
              </a:rPr>
              <a:t>was </a:t>
            </a:r>
            <a:r>
              <a:rPr sz="2200" spc="-10" dirty="0">
                <a:latin typeface="Calibri"/>
                <a:cs typeface="Calibri"/>
              </a:rPr>
              <a:t>informed </a:t>
            </a:r>
            <a:r>
              <a:rPr sz="2200" spc="-5" dirty="0">
                <a:latin typeface="Calibri"/>
                <a:cs typeface="Calibri"/>
              </a:rPr>
              <a:t>about the </a:t>
            </a:r>
            <a:r>
              <a:rPr sz="2200" spc="-10" dirty="0">
                <a:latin typeface="Calibri"/>
                <a:cs typeface="Calibri"/>
              </a:rPr>
              <a:t>case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real </a:t>
            </a:r>
            <a:r>
              <a:rPr sz="2200" spc="-5" dirty="0">
                <a:latin typeface="Calibri"/>
                <a:cs typeface="Calibri"/>
              </a:rPr>
              <a:t> time,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doctor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could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provide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first-aid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procedures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(e.g.,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stopping </a:t>
            </a:r>
            <a:r>
              <a:rPr sz="2200" spc="-10" dirty="0">
                <a:latin typeface="Calibri"/>
                <a:cs typeface="Calibri"/>
              </a:rPr>
              <a:t> bleeding)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save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patient’s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life.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788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446" y="204978"/>
            <a:ext cx="11695853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2585085" algn="l"/>
                <a:tab pos="3072765" algn="l"/>
                <a:tab pos="4109720" algn="l"/>
                <a:tab pos="4813300" algn="l"/>
                <a:tab pos="5808980" algn="l"/>
                <a:tab pos="7330440" algn="l"/>
                <a:tab pos="7982584" algn="l"/>
                <a:tab pos="8326755" algn="l"/>
              </a:tabLst>
            </a:pPr>
            <a:r>
              <a:rPr sz="2200" spc="-10" dirty="0">
                <a:latin typeface="Calibri"/>
                <a:cs typeface="Calibri"/>
              </a:rPr>
              <a:t>Health</a:t>
            </a:r>
            <a:r>
              <a:rPr sz="2200" spc="5" dirty="0">
                <a:latin typeface="Calibri"/>
                <a:cs typeface="Calibri"/>
              </a:rPr>
              <a:t>-</a:t>
            </a:r>
            <a:r>
              <a:rPr sz="2200" spc="-5" dirty="0">
                <a:latin typeface="Calibri"/>
                <a:cs typeface="Calibri"/>
              </a:rPr>
              <a:t>moni</a:t>
            </a:r>
            <a:r>
              <a:rPr sz="2200" spc="-20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oring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IoT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s</a:t>
            </a:r>
            <a:r>
              <a:rPr sz="2200" spc="-30" dirty="0">
                <a:latin typeface="Calibri"/>
                <a:cs typeface="Calibri"/>
              </a:rPr>
              <a:t>y</a:t>
            </a:r>
            <a:r>
              <a:rPr sz="2200" spc="-25" dirty="0">
                <a:latin typeface="Calibri"/>
                <a:cs typeface="Calibri"/>
              </a:rPr>
              <a:t>s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ms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mu</a:t>
            </a:r>
            <a:r>
              <a:rPr sz="2200" spc="-3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	p</a:t>
            </a:r>
            <a:r>
              <a:rPr sz="2200" spc="-40" dirty="0">
                <a:latin typeface="Calibri"/>
                <a:cs typeface="Calibri"/>
              </a:rPr>
              <a:t>r</a:t>
            </a:r>
            <a:r>
              <a:rPr sz="2200" spc="-10" dirty="0">
                <a:latin typeface="Calibri"/>
                <a:cs typeface="Calibri"/>
              </a:rPr>
              <a:t>ov</a:t>
            </a:r>
            <a:r>
              <a:rPr sz="2200" spc="-25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hig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h-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qu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lity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d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eal</a:t>
            </a:r>
            <a:endParaRPr sz="22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time.</a:t>
            </a:r>
            <a:endParaRPr sz="2200">
              <a:latin typeface="Calibri"/>
              <a:cs typeface="Calibri"/>
            </a:endParaRPr>
          </a:p>
          <a:p>
            <a:pPr marL="354965" marR="5715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  <a:tab pos="918844" algn="l"/>
                <a:tab pos="1879600" algn="l"/>
                <a:tab pos="3553460" algn="l"/>
                <a:tab pos="3931285" algn="l"/>
                <a:tab pos="5020945" algn="l"/>
                <a:tab pos="5922010" algn="l"/>
                <a:tab pos="6593840" algn="l"/>
                <a:tab pos="7941309" algn="l"/>
                <a:tab pos="8378825" algn="l"/>
              </a:tabLst>
            </a:pPr>
            <a:r>
              <a:rPr sz="2200" spc="-10" dirty="0">
                <a:latin typeface="Calibri"/>
                <a:cs typeface="Calibri"/>
              </a:rPr>
              <a:t>Th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spc="-3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en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equ</a:t>
            </a:r>
            <a:r>
              <a:rPr sz="2200" spc="-25" dirty="0">
                <a:latin typeface="Calibri"/>
                <a:cs typeface="Calibri"/>
              </a:rPr>
              <a:t>i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eme</a:t>
            </a:r>
            <a:r>
              <a:rPr sz="2200" spc="-2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ts</a:t>
            </a:r>
            <a:r>
              <a:rPr sz="2200" dirty="0">
                <a:latin typeface="Calibri"/>
                <a:cs typeface="Calibri"/>
              </a:rPr>
              <a:t>	o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e-healt</a:t>
            </a:r>
            <a:r>
              <a:rPr sz="2200" spc="-5" dirty="0">
                <a:latin typeface="Calibri"/>
                <a:cs typeface="Calibri"/>
              </a:rPr>
              <a:t>h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signal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0" dirty="0">
                <a:latin typeface="Calibri"/>
                <a:cs typeface="Calibri"/>
              </a:rPr>
              <a:t>v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r</a:t>
            </a:r>
            <a:r>
              <a:rPr sz="2200" spc="-175" dirty="0">
                <a:latin typeface="Calibri"/>
                <a:cs typeface="Calibri"/>
              </a:rPr>
              <a:t>y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ending</a:t>
            </a:r>
            <a:r>
              <a:rPr sz="2200" dirty="0">
                <a:latin typeface="Calibri"/>
                <a:cs typeface="Calibri"/>
              </a:rPr>
              <a:t>	o</a:t>
            </a:r>
            <a:r>
              <a:rPr sz="2200" spc="-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characteristics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particular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e-health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signals.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0881" y="1799286"/>
            <a:ext cx="8186420" cy="4807585"/>
            <a:chOff x="1538160" y="1799285"/>
            <a:chExt cx="6139815" cy="4807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7621" y="1808810"/>
              <a:ext cx="6113437" cy="47885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2922" y="1804047"/>
              <a:ext cx="6130290" cy="4798060"/>
            </a:xfrm>
            <a:custGeom>
              <a:avLst/>
              <a:gdLst/>
              <a:ahLst/>
              <a:cxnLst/>
              <a:rect l="l" t="t" r="r" b="b"/>
              <a:pathLst>
                <a:path w="6130290" h="4798059">
                  <a:moveTo>
                    <a:pt x="0" y="4798060"/>
                  </a:moveTo>
                  <a:lnTo>
                    <a:pt x="6130162" y="4798060"/>
                  </a:lnTo>
                  <a:lnTo>
                    <a:pt x="6130162" y="0"/>
                  </a:lnTo>
                  <a:lnTo>
                    <a:pt x="0" y="0"/>
                  </a:lnTo>
                  <a:lnTo>
                    <a:pt x="0" y="479806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1671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640" y="683069"/>
            <a:ext cx="12023513" cy="3691890"/>
            <a:chOff x="97979" y="683069"/>
            <a:chExt cx="9017635" cy="36918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83" y="692657"/>
              <a:ext cx="8961878" cy="36587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741" y="687831"/>
              <a:ext cx="9008110" cy="3682365"/>
            </a:xfrm>
            <a:custGeom>
              <a:avLst/>
              <a:gdLst/>
              <a:ahLst/>
              <a:cxnLst/>
              <a:rect l="l" t="t" r="r" b="b"/>
              <a:pathLst>
                <a:path w="9008110" h="3682365">
                  <a:moveTo>
                    <a:pt x="0" y="3681984"/>
                  </a:moveTo>
                  <a:lnTo>
                    <a:pt x="9007983" y="3681984"/>
                  </a:lnTo>
                  <a:lnTo>
                    <a:pt x="9007983" y="0"/>
                  </a:lnTo>
                  <a:lnTo>
                    <a:pt x="0" y="0"/>
                  </a:lnTo>
                  <a:lnTo>
                    <a:pt x="0" y="36819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6584" y="134238"/>
            <a:ext cx="1130215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Maximum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latency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EMG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(Electromyogram)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signals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less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15.6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ms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512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132969"/>
            <a:ext cx="11501120" cy="1961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system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with</a:t>
            </a:r>
            <a:r>
              <a:rPr sz="2200" b="1" spc="5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fog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computing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shown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below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figure.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system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includes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several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primary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 </a:t>
            </a:r>
            <a:r>
              <a:rPr sz="2200" spc="-5" dirty="0">
                <a:latin typeface="Calibri"/>
                <a:cs typeface="Calibri"/>
              </a:rPr>
              <a:t>as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sensor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smart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gateways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fog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cloud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servers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end-user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terminals.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6652" y="3131400"/>
            <a:ext cx="11834707" cy="2971800"/>
            <a:chOff x="169989" y="3131400"/>
            <a:chExt cx="8876030" cy="297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14" y="3315967"/>
              <a:ext cx="8786964" cy="27773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4752" y="3136163"/>
              <a:ext cx="8866505" cy="2962275"/>
            </a:xfrm>
            <a:custGeom>
              <a:avLst/>
              <a:gdLst/>
              <a:ahLst/>
              <a:cxnLst/>
              <a:rect l="l" t="t" r="r" b="b"/>
              <a:pathLst>
                <a:path w="8866505" h="2962275">
                  <a:moveTo>
                    <a:pt x="0" y="2961894"/>
                  </a:moveTo>
                  <a:lnTo>
                    <a:pt x="8866505" y="2961894"/>
                  </a:lnTo>
                  <a:lnTo>
                    <a:pt x="8866505" y="0"/>
                  </a:lnTo>
                  <a:lnTo>
                    <a:pt x="0" y="0"/>
                  </a:lnTo>
                  <a:lnTo>
                    <a:pt x="0" y="296189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251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267" y="65303"/>
            <a:ext cx="11502813" cy="1159933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2200" b="1" spc="-5" dirty="0">
                <a:latin typeface="Calibri"/>
                <a:cs typeface="Calibri"/>
              </a:rPr>
              <a:t>i) </a:t>
            </a:r>
            <a:r>
              <a:rPr sz="2200" b="1" spc="-10" dirty="0">
                <a:latin typeface="Calibri"/>
                <a:cs typeface="Calibri"/>
              </a:rPr>
              <a:t>Device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(Sensor)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Layer</a:t>
            </a:r>
            <a:endParaRPr sz="22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device</a:t>
            </a:r>
            <a:r>
              <a:rPr sz="2200" spc="-5" dirty="0">
                <a:latin typeface="Calibri"/>
                <a:cs typeface="Calibri"/>
              </a:rPr>
              <a:t> (sensor)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layer</a:t>
            </a:r>
            <a:r>
              <a:rPr sz="2200" spc="-10" dirty="0">
                <a:latin typeface="Calibri"/>
                <a:cs typeface="Calibri"/>
              </a:rPr>
              <a:t> consists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sensor</a:t>
            </a:r>
            <a:r>
              <a:rPr sz="2200" spc="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nodes</a:t>
            </a:r>
            <a:r>
              <a:rPr sz="2200" spc="4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which each node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-5" dirty="0">
                <a:latin typeface="Calibri"/>
                <a:cs typeface="Calibri"/>
              </a:rPr>
              <a:t> has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three</a:t>
            </a:r>
            <a:r>
              <a:rPr sz="2200" spc="-5" dirty="0">
                <a:latin typeface="Calibri"/>
                <a:cs typeface="Calibri"/>
              </a:rPr>
              <a:t> primary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components,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including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sensors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micro-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controller</a:t>
            </a:r>
            <a:r>
              <a:rPr sz="2200" spc="-15" dirty="0">
                <a:latin typeface="Calibri"/>
                <a:cs typeface="Calibri"/>
              </a:rPr>
              <a:t>,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a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wireless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communication</a:t>
            </a:r>
            <a:r>
              <a:rPr sz="22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chip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267" y="3876802"/>
            <a:ext cx="1150281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some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applications,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SD</a:t>
            </a:r>
            <a:r>
              <a:rPr sz="2200" b="1" spc="1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card</a:t>
            </a:r>
            <a:r>
              <a:rPr sz="22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can</a:t>
            </a:r>
            <a:r>
              <a:rPr sz="22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sz="22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integrated</a:t>
            </a:r>
            <a:r>
              <a:rPr sz="2200" b="1" spc="2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into</a:t>
            </a:r>
            <a:r>
              <a:rPr sz="2200" b="1" spc="2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1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sensor</a:t>
            </a:r>
            <a:r>
              <a:rPr sz="2200" b="1" spc="2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node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storing temporary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653" y="1835341"/>
            <a:ext cx="3365500" cy="1838325"/>
            <a:chOff x="169989" y="1835340"/>
            <a:chExt cx="2524125" cy="1838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14" y="1844801"/>
              <a:ext cx="2505075" cy="1819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752" y="1840102"/>
              <a:ext cx="2514600" cy="1828800"/>
            </a:xfrm>
            <a:custGeom>
              <a:avLst/>
              <a:gdLst/>
              <a:ahLst/>
              <a:cxnLst/>
              <a:rect l="l" t="t" r="r" b="b"/>
              <a:pathLst>
                <a:path w="2514600" h="1828800">
                  <a:moveTo>
                    <a:pt x="0" y="1828800"/>
                  </a:moveTo>
                  <a:lnTo>
                    <a:pt x="2514600" y="1828800"/>
                  </a:lnTo>
                  <a:lnTo>
                    <a:pt x="25146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438650" y="1806765"/>
            <a:ext cx="3314700" cy="1866900"/>
            <a:chOff x="3328987" y="1806765"/>
            <a:chExt cx="2486025" cy="18669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8575" y="1968626"/>
              <a:ext cx="2466975" cy="1600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33750" y="1811527"/>
              <a:ext cx="2476500" cy="1857375"/>
            </a:xfrm>
            <a:custGeom>
              <a:avLst/>
              <a:gdLst/>
              <a:ahLst/>
              <a:cxnLst/>
              <a:rect l="l" t="t" r="r" b="b"/>
              <a:pathLst>
                <a:path w="2476500" h="1857375">
                  <a:moveTo>
                    <a:pt x="0" y="1857375"/>
                  </a:moveTo>
                  <a:lnTo>
                    <a:pt x="2476500" y="1857375"/>
                  </a:lnTo>
                  <a:lnTo>
                    <a:pt x="24765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387503" y="1475296"/>
            <a:ext cx="3523827" cy="2440305"/>
            <a:chOff x="6290627" y="1475295"/>
            <a:chExt cx="2642870" cy="24403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638" y="1484757"/>
              <a:ext cx="2590270" cy="24208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95390" y="1480058"/>
              <a:ext cx="2633345" cy="2430780"/>
            </a:xfrm>
            <a:custGeom>
              <a:avLst/>
              <a:gdLst/>
              <a:ahLst/>
              <a:cxnLst/>
              <a:rect l="l" t="t" r="r" b="b"/>
              <a:pathLst>
                <a:path w="2633345" h="2430779">
                  <a:moveTo>
                    <a:pt x="0" y="2430399"/>
                  </a:moveTo>
                  <a:lnTo>
                    <a:pt x="2633217" y="2430399"/>
                  </a:lnTo>
                  <a:lnTo>
                    <a:pt x="2633217" y="0"/>
                  </a:lnTo>
                  <a:lnTo>
                    <a:pt x="0" y="0"/>
                  </a:lnTo>
                  <a:lnTo>
                    <a:pt x="0" y="24303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79096" y="4715573"/>
            <a:ext cx="4826000" cy="2044700"/>
            <a:chOff x="2834322" y="4715573"/>
            <a:chExt cx="3619500" cy="20447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3784" y="4725098"/>
              <a:ext cx="3600450" cy="20252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39085" y="4720335"/>
              <a:ext cx="3609975" cy="2035175"/>
            </a:xfrm>
            <a:custGeom>
              <a:avLst/>
              <a:gdLst/>
              <a:ahLst/>
              <a:cxnLst/>
              <a:rect l="l" t="t" r="r" b="b"/>
              <a:pathLst>
                <a:path w="3609975" h="2035175">
                  <a:moveTo>
                    <a:pt x="0" y="2034794"/>
                  </a:moveTo>
                  <a:lnTo>
                    <a:pt x="3609975" y="2034794"/>
                  </a:lnTo>
                  <a:lnTo>
                    <a:pt x="3609975" y="0"/>
                  </a:lnTo>
                  <a:lnTo>
                    <a:pt x="0" y="0"/>
                  </a:lnTo>
                  <a:lnTo>
                    <a:pt x="0" y="203479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237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445" y="61087"/>
            <a:ext cx="1169754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sensors (e.g., </a:t>
            </a:r>
            <a:r>
              <a:rPr sz="2200" spc="-15" dirty="0">
                <a:latin typeface="Calibri"/>
                <a:cs typeface="Calibri"/>
              </a:rPr>
              <a:t>ECG, </a:t>
            </a:r>
            <a:r>
              <a:rPr sz="2200" spc="-10" dirty="0">
                <a:latin typeface="Calibri"/>
                <a:cs typeface="Calibri"/>
              </a:rPr>
              <a:t>glucose, </a:t>
            </a:r>
            <a:r>
              <a:rPr sz="2200" spc="-5" dirty="0">
                <a:latin typeface="Calibri"/>
                <a:cs typeface="Calibri"/>
              </a:rPr>
              <a:t>SpO2, </a:t>
            </a:r>
            <a:r>
              <a:rPr sz="2200" spc="-25" dirty="0">
                <a:latin typeface="Calibri"/>
                <a:cs typeface="Calibri"/>
              </a:rPr>
              <a:t>humidity,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5" dirty="0">
                <a:latin typeface="Calibri"/>
                <a:cs typeface="Calibri"/>
              </a:rPr>
              <a:t>temperature </a:t>
            </a:r>
            <a:r>
              <a:rPr sz="2200" spc="-5" dirty="0">
                <a:latin typeface="Calibri"/>
                <a:cs typeface="Calibri"/>
              </a:rPr>
              <a:t>sensors)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used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collecting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contextual data </a:t>
            </a:r>
            <a:r>
              <a:rPr sz="2200" spc="-10" dirty="0">
                <a:latin typeface="Calibri"/>
                <a:cs typeface="Calibri"/>
              </a:rPr>
              <a:t>from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surrounding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environments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e-health</a:t>
            </a:r>
            <a:r>
              <a:rPr sz="22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200" b="1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body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5379" y="1331151"/>
            <a:ext cx="7194127" cy="2827655"/>
            <a:chOff x="266534" y="1331150"/>
            <a:chExt cx="5395595" cy="2827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156" y="1421846"/>
              <a:ext cx="5302392" cy="2681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1297" y="1335913"/>
              <a:ext cx="5386070" cy="2818130"/>
            </a:xfrm>
            <a:custGeom>
              <a:avLst/>
              <a:gdLst/>
              <a:ahLst/>
              <a:cxnLst/>
              <a:rect l="l" t="t" r="r" b="b"/>
              <a:pathLst>
                <a:path w="5386070" h="2818129">
                  <a:moveTo>
                    <a:pt x="0" y="2817876"/>
                  </a:moveTo>
                  <a:lnTo>
                    <a:pt x="5385562" y="2817876"/>
                  </a:lnTo>
                  <a:lnTo>
                    <a:pt x="5385562" y="0"/>
                  </a:lnTo>
                  <a:lnTo>
                    <a:pt x="0" y="0"/>
                  </a:lnTo>
                  <a:lnTo>
                    <a:pt x="0" y="28178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123851" y="1115124"/>
            <a:ext cx="3937847" cy="3043555"/>
            <a:chOff x="6092888" y="1115123"/>
            <a:chExt cx="2953385" cy="30435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2477" y="1124712"/>
              <a:ext cx="2934080" cy="30243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7651" y="1119886"/>
              <a:ext cx="2943860" cy="3034030"/>
            </a:xfrm>
            <a:custGeom>
              <a:avLst/>
              <a:gdLst/>
              <a:ahLst/>
              <a:cxnLst/>
              <a:rect l="l" t="t" r="r" b="b"/>
              <a:pathLst>
                <a:path w="2943859" h="3034029">
                  <a:moveTo>
                    <a:pt x="0" y="3033903"/>
                  </a:moveTo>
                  <a:lnTo>
                    <a:pt x="2943605" y="3033903"/>
                  </a:lnTo>
                  <a:lnTo>
                    <a:pt x="2943605" y="0"/>
                  </a:lnTo>
                  <a:lnTo>
                    <a:pt x="0" y="0"/>
                  </a:lnTo>
                  <a:lnTo>
                    <a:pt x="0" y="30339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27227" y="4314013"/>
            <a:ext cx="3761740" cy="2365375"/>
            <a:chOff x="320420" y="4314012"/>
            <a:chExt cx="2821305" cy="23653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45" y="4323537"/>
              <a:ext cx="2801874" cy="234581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5183" y="4318774"/>
              <a:ext cx="2811780" cy="2355850"/>
            </a:xfrm>
            <a:custGeom>
              <a:avLst/>
              <a:gdLst/>
              <a:ahLst/>
              <a:cxnLst/>
              <a:rect l="l" t="t" r="r" b="b"/>
              <a:pathLst>
                <a:path w="2811780" h="2355850">
                  <a:moveTo>
                    <a:pt x="0" y="2355342"/>
                  </a:moveTo>
                  <a:lnTo>
                    <a:pt x="2811399" y="2355342"/>
                  </a:lnTo>
                  <a:lnTo>
                    <a:pt x="2811399" y="0"/>
                  </a:lnTo>
                  <a:lnTo>
                    <a:pt x="0" y="0"/>
                  </a:lnTo>
                  <a:lnTo>
                    <a:pt x="0" y="23553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51180" y="4314013"/>
            <a:ext cx="3578013" cy="2365375"/>
            <a:chOff x="3338385" y="4314012"/>
            <a:chExt cx="2683510" cy="236537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47846" y="4323537"/>
              <a:ext cx="2557759" cy="23458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43147" y="4318774"/>
              <a:ext cx="2673985" cy="2355850"/>
            </a:xfrm>
            <a:custGeom>
              <a:avLst/>
              <a:gdLst/>
              <a:ahLst/>
              <a:cxnLst/>
              <a:rect l="l" t="t" r="r" b="b"/>
              <a:pathLst>
                <a:path w="2673985" h="2355850">
                  <a:moveTo>
                    <a:pt x="0" y="2355342"/>
                  </a:moveTo>
                  <a:lnTo>
                    <a:pt x="2673857" y="2355342"/>
                  </a:lnTo>
                  <a:lnTo>
                    <a:pt x="2673857" y="0"/>
                  </a:lnTo>
                  <a:lnTo>
                    <a:pt x="0" y="0"/>
                  </a:lnTo>
                  <a:lnTo>
                    <a:pt x="0" y="23553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96477" y="4367606"/>
            <a:ext cx="3569547" cy="2311400"/>
            <a:chOff x="6297358" y="4367606"/>
            <a:chExt cx="2677160" cy="23114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6820" y="4377131"/>
              <a:ext cx="2657602" cy="22922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02121" y="4372368"/>
              <a:ext cx="2667635" cy="2301875"/>
            </a:xfrm>
            <a:custGeom>
              <a:avLst/>
              <a:gdLst/>
              <a:ahLst/>
              <a:cxnLst/>
              <a:rect l="l" t="t" r="r" b="b"/>
              <a:pathLst>
                <a:path w="2667634" h="2301875">
                  <a:moveTo>
                    <a:pt x="0" y="2301748"/>
                  </a:moveTo>
                  <a:lnTo>
                    <a:pt x="2667127" y="2301748"/>
                  </a:lnTo>
                  <a:lnTo>
                    <a:pt x="2667127" y="0"/>
                  </a:lnTo>
                  <a:lnTo>
                    <a:pt x="0" y="0"/>
                  </a:lnTo>
                  <a:lnTo>
                    <a:pt x="0" y="23017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381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276809"/>
            <a:ext cx="11504507" cy="143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contextual</a:t>
            </a:r>
            <a:r>
              <a:rPr sz="2200" b="1" spc="204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data</a:t>
            </a:r>
            <a:r>
              <a:rPr sz="2200" b="1" spc="2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such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room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temperature,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humidity,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statuses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patient </a:t>
            </a:r>
            <a:r>
              <a:rPr sz="2200" spc="-5" dirty="0">
                <a:latin typeface="Calibri"/>
                <a:cs typeface="Calibri"/>
              </a:rPr>
              <a:t>activities </a:t>
            </a:r>
            <a:r>
              <a:rPr sz="2200" spc="-10" dirty="0">
                <a:latin typeface="Calibri"/>
                <a:cs typeface="Calibri"/>
              </a:rPr>
              <a:t>helps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improve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quality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e-health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doctor’s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decisions.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heart </a:t>
            </a:r>
            <a:r>
              <a:rPr sz="2200" spc="-25" dirty="0">
                <a:latin typeface="Calibri"/>
                <a:cs typeface="Calibri"/>
              </a:rPr>
              <a:t>rate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100 </a:t>
            </a:r>
            <a:r>
              <a:rPr sz="2200" spc="-15" dirty="0">
                <a:latin typeface="Calibri"/>
                <a:cs typeface="Calibri"/>
              </a:rPr>
              <a:t>beats/s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healthy person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be </a:t>
            </a:r>
            <a:r>
              <a:rPr sz="2200" spc="-5" dirty="0">
                <a:latin typeface="Calibri"/>
                <a:cs typeface="Calibri"/>
              </a:rPr>
              <a:t> normal when the </a:t>
            </a:r>
            <a:r>
              <a:rPr sz="2200" spc="-10" dirty="0">
                <a:latin typeface="Calibri"/>
                <a:cs typeface="Calibri"/>
              </a:rPr>
              <a:t>person </a:t>
            </a:r>
            <a:r>
              <a:rPr sz="2200" spc="-5" dirty="0">
                <a:latin typeface="Calibri"/>
                <a:cs typeface="Calibri"/>
              </a:rPr>
              <a:t>is running, </a:t>
            </a:r>
            <a:r>
              <a:rPr sz="2200" spc="-10" dirty="0">
                <a:latin typeface="Calibri"/>
                <a:cs typeface="Calibri"/>
              </a:rPr>
              <a:t>whereas </a:t>
            </a:r>
            <a:r>
              <a:rPr sz="2200" spc="-5" dirty="0">
                <a:latin typeface="Calibri"/>
                <a:cs typeface="Calibri"/>
              </a:rPr>
              <a:t>this </a:t>
            </a:r>
            <a:r>
              <a:rPr sz="2200" spc="-30" dirty="0">
                <a:latin typeface="Calibri"/>
                <a:cs typeface="Calibri"/>
              </a:rPr>
              <a:t>rate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high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problematic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he/she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chair.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95" y="2929446"/>
            <a:ext cx="5842847" cy="29213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0169" y="2636927"/>
            <a:ext cx="4154932" cy="36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7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04978"/>
            <a:ext cx="11503660" cy="104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Collecting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contextual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does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dramatically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increase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burden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lang="en-US" sz="2200" dirty="0">
                <a:cs typeface="Calibri"/>
              </a:rPr>
              <a:t> a sensor node in terms of weight, size, complexity, and energy </a:t>
            </a:r>
            <a:r>
              <a:rPr lang="en-IN" sz="2200" spc="-10" dirty="0">
                <a:latin typeface="Calibri"/>
                <a:cs typeface="Calibri"/>
              </a:rPr>
              <a:t>consumption</a:t>
            </a:r>
            <a:r>
              <a:rPr lang="en-IN" sz="2200" dirty="0">
                <a:latin typeface="Calibri"/>
                <a:cs typeface="Calibri"/>
              </a:rPr>
              <a:t> </a:t>
            </a:r>
            <a:r>
              <a:rPr lang="en-IN" sz="2200" spc="-25" dirty="0">
                <a:latin typeface="Calibri"/>
                <a:cs typeface="Calibri"/>
              </a:rPr>
              <a:t>dramatically.</a:t>
            </a:r>
            <a:endParaRPr lang="en-IN"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357" y="808126"/>
            <a:ext cx="11501967" cy="1095813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spc="-5" dirty="0">
                <a:latin typeface="Calibri"/>
                <a:cs typeface="Calibri"/>
              </a:rPr>
              <a:t>the activity </a:t>
            </a:r>
            <a:r>
              <a:rPr sz="2200" spc="-10" dirty="0">
                <a:latin typeface="Calibri"/>
                <a:cs typeface="Calibri"/>
              </a:rPr>
              <a:t>significances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20" dirty="0">
                <a:latin typeface="Calibri"/>
                <a:cs typeface="Calibri"/>
              </a:rPr>
              <a:t>extracted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a single </a:t>
            </a:r>
            <a:r>
              <a:rPr sz="2200" spc="-10" dirty="0">
                <a:latin typeface="Calibri"/>
                <a:cs typeface="Calibri"/>
              </a:rPr>
              <a:t>IC </a:t>
            </a:r>
            <a:r>
              <a:rPr sz="2200" spc="-5" dirty="0">
                <a:latin typeface="Calibri"/>
                <a:cs typeface="Calibri"/>
              </a:rPr>
              <a:t> chip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having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3-D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accelerometer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3-D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gyroscope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while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room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temperature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humidity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-5" dirty="0">
                <a:latin typeface="Calibri"/>
                <a:cs typeface="Calibri"/>
              </a:rPr>
              <a:t> be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collected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another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IC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chip.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356" y="5100573"/>
            <a:ext cx="11502813" cy="15290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These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chips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small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lightweight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energy</a:t>
            </a:r>
            <a:r>
              <a:rPr sz="22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efficiency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9700"/>
              </a:lnSpc>
              <a:spcBef>
                <a:spcPts val="54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sensors </a:t>
            </a:r>
            <a:r>
              <a:rPr sz="2200" spc="-10" dirty="0">
                <a:latin typeface="Calibri"/>
                <a:cs typeface="Calibri"/>
              </a:rPr>
              <a:t>often </a:t>
            </a:r>
            <a:r>
              <a:rPr sz="2200" spc="-15" dirty="0">
                <a:latin typeface="Calibri"/>
                <a:cs typeface="Calibri"/>
              </a:rPr>
              <a:t>communicate </a:t>
            </a:r>
            <a:r>
              <a:rPr sz="2200" spc="-5" dirty="0">
                <a:latin typeface="Calibri"/>
                <a:cs typeface="Calibri"/>
              </a:rPr>
              <a:t>with a </a:t>
            </a:r>
            <a:r>
              <a:rPr sz="2200" spc="-10" dirty="0">
                <a:latin typeface="Calibri"/>
                <a:cs typeface="Calibri"/>
              </a:rPr>
              <a:t>micro-controller </a:t>
            </a:r>
            <a:r>
              <a:rPr sz="2200" spc="-5" dirty="0">
                <a:latin typeface="Calibri"/>
                <a:cs typeface="Calibri"/>
              </a:rPr>
              <a:t>via one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wire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protocols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such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Universal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Asynchronous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Receiver-Transmitter 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(UART)</a:t>
            </a:r>
            <a:r>
              <a:rPr sz="2200" spc="-20" dirty="0">
                <a:latin typeface="Calibri"/>
                <a:cs typeface="Calibri"/>
              </a:rPr>
              <a:t>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Serial</a:t>
            </a:r>
            <a:r>
              <a:rPr sz="2200" i="1" spc="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Peripheral</a:t>
            </a:r>
            <a:r>
              <a:rPr sz="2200" i="1" spc="5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Interface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SPI)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i="1" spc="-15" dirty="0">
                <a:latin typeface="Calibri"/>
                <a:cs typeface="Calibri"/>
              </a:rPr>
              <a:t>Inter-Integrated</a:t>
            </a:r>
            <a:r>
              <a:rPr sz="2200" i="1" spc="2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Circuit</a:t>
            </a:r>
            <a:r>
              <a:rPr sz="2200" i="1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I2C)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8719" y="2469959"/>
            <a:ext cx="4538133" cy="2637790"/>
            <a:chOff x="674039" y="2469959"/>
            <a:chExt cx="3403600" cy="26377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564" y="2574375"/>
              <a:ext cx="3384423" cy="24688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8802" y="2474722"/>
              <a:ext cx="3394075" cy="2628265"/>
            </a:xfrm>
            <a:custGeom>
              <a:avLst/>
              <a:gdLst/>
              <a:ahLst/>
              <a:cxnLst/>
              <a:rect l="l" t="t" r="r" b="b"/>
              <a:pathLst>
                <a:path w="3394075" h="2628265">
                  <a:moveTo>
                    <a:pt x="0" y="2628265"/>
                  </a:moveTo>
                  <a:lnTo>
                    <a:pt x="3393948" y="2628265"/>
                  </a:lnTo>
                  <a:lnTo>
                    <a:pt x="3393948" y="0"/>
                  </a:lnTo>
                  <a:lnTo>
                    <a:pt x="0" y="0"/>
                  </a:lnTo>
                  <a:lnTo>
                    <a:pt x="0" y="26282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659288" y="2492057"/>
            <a:ext cx="3966633" cy="2616200"/>
            <a:chOff x="4994465" y="2492057"/>
            <a:chExt cx="2974975" cy="26162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7905" y="2674628"/>
              <a:ext cx="2350810" cy="22158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99228" y="2496820"/>
              <a:ext cx="2965450" cy="2606675"/>
            </a:xfrm>
            <a:custGeom>
              <a:avLst/>
              <a:gdLst/>
              <a:ahLst/>
              <a:cxnLst/>
              <a:rect l="l" t="t" r="r" b="b"/>
              <a:pathLst>
                <a:path w="2965450" h="2606675">
                  <a:moveTo>
                    <a:pt x="0" y="2606166"/>
                  </a:moveTo>
                  <a:lnTo>
                    <a:pt x="2965323" y="2606166"/>
                  </a:lnTo>
                  <a:lnTo>
                    <a:pt x="2965323" y="0"/>
                  </a:lnTo>
                  <a:lnTo>
                    <a:pt x="0" y="0"/>
                  </a:lnTo>
                  <a:lnTo>
                    <a:pt x="0" y="26061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2957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04978"/>
            <a:ext cx="11505353" cy="21717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micro-controller</a:t>
            </a:r>
            <a:r>
              <a:rPr sz="2200" b="1" spc="10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low-power</a:t>
            </a:r>
            <a:r>
              <a:rPr sz="22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chip</a:t>
            </a:r>
            <a:r>
              <a:rPr sz="22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supporting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sleep</a:t>
            </a:r>
            <a:r>
              <a:rPr sz="2200" b="1" spc="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modes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waking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up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methods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micro-controller’s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frequency</a:t>
            </a:r>
            <a:r>
              <a:rPr sz="22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vary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depending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applications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b="1" spc="-5" dirty="0">
                <a:latin typeface="Calibri"/>
                <a:cs typeface="Calibri"/>
              </a:rPr>
              <a:t>8 </a:t>
            </a:r>
            <a:r>
              <a:rPr sz="2200" b="1" spc="-10" dirty="0">
                <a:latin typeface="Calibri"/>
                <a:cs typeface="Calibri"/>
              </a:rPr>
              <a:t>MHz micro-controller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used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collecting high-quality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data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from sensors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performing </a:t>
            </a:r>
            <a:r>
              <a:rPr sz="2200" dirty="0">
                <a:latin typeface="Calibri"/>
                <a:cs typeface="Calibri"/>
              </a:rPr>
              <a:t>some </a:t>
            </a:r>
            <a:r>
              <a:rPr sz="2200" spc="-10" dirty="0">
                <a:latin typeface="Calibri"/>
                <a:cs typeface="Calibri"/>
              </a:rPr>
              <a:t>light computation </a:t>
            </a:r>
            <a:r>
              <a:rPr sz="2200" spc="-15" dirty="0">
                <a:latin typeface="Calibri"/>
                <a:cs typeface="Calibri"/>
              </a:rPr>
              <a:t>tasks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(e.g., </a:t>
            </a:r>
            <a:r>
              <a:rPr sz="2200" spc="-10" dirty="0">
                <a:latin typeface="Calibri"/>
                <a:cs typeface="Calibri"/>
              </a:rPr>
              <a:t>Advanced </a:t>
            </a:r>
            <a:r>
              <a:rPr sz="2200" spc="-5" dirty="0">
                <a:latin typeface="Calibri"/>
                <a:cs typeface="Calibri"/>
              </a:rPr>
              <a:t>Encryption </a:t>
            </a:r>
            <a:r>
              <a:rPr sz="2200" spc="-15" dirty="0">
                <a:latin typeface="Calibri"/>
                <a:cs typeface="Calibri"/>
              </a:rPr>
              <a:t>Standard </a:t>
            </a:r>
            <a:r>
              <a:rPr sz="2200" spc="-5" dirty="0">
                <a:latin typeface="Calibri"/>
                <a:cs typeface="Calibri"/>
              </a:rPr>
              <a:t>– </a:t>
            </a:r>
            <a:r>
              <a:rPr sz="2200" spc="-15" dirty="0">
                <a:latin typeface="Calibri"/>
                <a:cs typeface="Calibri"/>
              </a:rPr>
              <a:t>AES </a:t>
            </a:r>
            <a:r>
              <a:rPr sz="2200" spc="-10" dirty="0">
                <a:latin typeface="Calibri"/>
                <a:cs typeface="Calibri"/>
              </a:rPr>
              <a:t>algorithm) </a:t>
            </a:r>
            <a:r>
              <a:rPr sz="2200" spc="-5" dirty="0">
                <a:latin typeface="Calibri"/>
                <a:cs typeface="Calibri"/>
              </a:rPr>
              <a:t>while it still </a:t>
            </a:r>
            <a:r>
              <a:rPr sz="2200" spc="-10" dirty="0">
                <a:latin typeface="Calibri"/>
                <a:cs typeface="Calibri"/>
              </a:rPr>
              <a:t>fulfills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requirements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latency.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357" y="5826658"/>
            <a:ext cx="11501967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micro-controller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also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communicates</a:t>
            </a:r>
            <a:r>
              <a:rPr sz="22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with</a:t>
            </a:r>
            <a:r>
              <a:rPr sz="22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wireless</a:t>
            </a:r>
            <a:r>
              <a:rPr sz="22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chip</a:t>
            </a:r>
            <a:r>
              <a:rPr sz="22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via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one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mentioned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wire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methods.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84118" y="2843442"/>
            <a:ext cx="4737100" cy="2823845"/>
            <a:chOff x="2613088" y="2843441"/>
            <a:chExt cx="3552825" cy="28238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4729" y="2852966"/>
              <a:ext cx="3365379" cy="28044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17851" y="2848203"/>
              <a:ext cx="3543300" cy="2814320"/>
            </a:xfrm>
            <a:custGeom>
              <a:avLst/>
              <a:gdLst/>
              <a:ahLst/>
              <a:cxnLst/>
              <a:rect l="l" t="t" r="r" b="b"/>
              <a:pathLst>
                <a:path w="3543300" h="2814320">
                  <a:moveTo>
                    <a:pt x="0" y="2813938"/>
                  </a:moveTo>
                  <a:lnTo>
                    <a:pt x="3543173" y="2813938"/>
                  </a:lnTo>
                  <a:lnTo>
                    <a:pt x="3543173" y="0"/>
                  </a:lnTo>
                  <a:lnTo>
                    <a:pt x="0" y="0"/>
                  </a:lnTo>
                  <a:lnTo>
                    <a:pt x="0" y="281393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363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132968"/>
            <a:ext cx="11602720" cy="143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wireless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communication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chip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vary</a:t>
            </a:r>
            <a:r>
              <a:rPr sz="2200" spc="-5" dirty="0">
                <a:latin typeface="Calibri"/>
                <a:cs typeface="Calibri"/>
              </a:rPr>
              <a:t> depending</a:t>
            </a:r>
            <a:r>
              <a:rPr sz="2200" dirty="0">
                <a:latin typeface="Calibri"/>
                <a:cs typeface="Calibri"/>
              </a:rPr>
              <a:t> on</a:t>
            </a:r>
            <a:r>
              <a:rPr sz="2200" spc="5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applications’ requirements.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general, </a:t>
            </a:r>
            <a:r>
              <a:rPr sz="2200" b="1" spc="-10" dirty="0">
                <a:latin typeface="Calibri"/>
                <a:cs typeface="Calibri"/>
              </a:rPr>
              <a:t>low-power wireless protocols </a:t>
            </a:r>
            <a:r>
              <a:rPr sz="2200" dirty="0">
                <a:latin typeface="Calibri"/>
                <a:cs typeface="Calibri"/>
              </a:rPr>
              <a:t>(e.g., BLE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25" dirty="0">
                <a:latin typeface="Calibri"/>
                <a:cs typeface="Calibri"/>
              </a:rPr>
              <a:t>6LoWPAN)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more </a:t>
            </a:r>
            <a:r>
              <a:rPr sz="2200" spc="-20" dirty="0">
                <a:latin typeface="Calibri"/>
                <a:cs typeface="Calibri"/>
              </a:rPr>
              <a:t>preferred for </a:t>
            </a:r>
            <a:r>
              <a:rPr sz="2200" spc="-5" dirty="0">
                <a:latin typeface="Calibri"/>
                <a:cs typeface="Calibri"/>
              </a:rPr>
              <a:t>low </a:t>
            </a:r>
            <a:r>
              <a:rPr sz="2200" spc="-15" dirty="0">
                <a:latin typeface="Calibri"/>
                <a:cs typeface="Calibri"/>
              </a:rPr>
              <a:t>data </a:t>
            </a:r>
            <a:r>
              <a:rPr sz="2200" spc="-30" dirty="0">
                <a:latin typeface="Calibri"/>
                <a:cs typeface="Calibri"/>
              </a:rPr>
              <a:t>rate </a:t>
            </a:r>
            <a:r>
              <a:rPr sz="2200" spc="-10" dirty="0">
                <a:latin typeface="Calibri"/>
                <a:cs typeface="Calibri"/>
              </a:rPr>
              <a:t>applications such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fall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detection </a:t>
            </a:r>
            <a:r>
              <a:rPr sz="2200" spc="10" dirty="0">
                <a:latin typeface="Calibri"/>
                <a:cs typeface="Calibri"/>
              </a:rPr>
              <a:t>or 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heart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006FC0"/>
                </a:solidFill>
                <a:latin typeface="Calibri"/>
                <a:cs typeface="Calibri"/>
              </a:rPr>
              <a:t>rate</a:t>
            </a:r>
            <a:r>
              <a:rPr sz="22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monitoring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because</a:t>
            </a:r>
            <a:r>
              <a:rPr sz="2200" spc="-5" dirty="0">
                <a:latin typeface="Calibri"/>
                <a:cs typeface="Calibri"/>
              </a:rPr>
              <a:t> these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protocols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maximum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bandwidth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250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kbps.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03455" y="5031056"/>
            <a:ext cx="2897293" cy="1791970"/>
            <a:chOff x="6002591" y="5031056"/>
            <a:chExt cx="2172970" cy="1791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9846" y="5159904"/>
              <a:ext cx="2075022" cy="14957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07353" y="5035819"/>
              <a:ext cx="2163445" cy="1782445"/>
            </a:xfrm>
            <a:custGeom>
              <a:avLst/>
              <a:gdLst/>
              <a:ahLst/>
              <a:cxnLst/>
              <a:rect l="l" t="t" r="r" b="b"/>
              <a:pathLst>
                <a:path w="2163445" h="1782445">
                  <a:moveTo>
                    <a:pt x="0" y="1782317"/>
                  </a:moveTo>
                  <a:lnTo>
                    <a:pt x="2162936" y="1782317"/>
                  </a:lnTo>
                  <a:lnTo>
                    <a:pt x="2162936" y="0"/>
                  </a:lnTo>
                  <a:lnTo>
                    <a:pt x="0" y="0"/>
                  </a:lnTo>
                  <a:lnTo>
                    <a:pt x="0" y="17823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507313" y="2051240"/>
            <a:ext cx="6650567" cy="2888615"/>
            <a:chOff x="4130484" y="2051240"/>
            <a:chExt cx="4987925" cy="28886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0647" y="2159337"/>
              <a:ext cx="4782175" cy="27643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35246" y="2056002"/>
              <a:ext cx="4978400" cy="2879090"/>
            </a:xfrm>
            <a:custGeom>
              <a:avLst/>
              <a:gdLst/>
              <a:ahLst/>
              <a:cxnLst/>
              <a:rect l="l" t="t" r="r" b="b"/>
              <a:pathLst>
                <a:path w="4978400" h="2879090">
                  <a:moveTo>
                    <a:pt x="0" y="2878582"/>
                  </a:moveTo>
                  <a:lnTo>
                    <a:pt x="4978019" y="2878582"/>
                  </a:lnTo>
                  <a:lnTo>
                    <a:pt x="4978019" y="0"/>
                  </a:lnTo>
                  <a:lnTo>
                    <a:pt x="0" y="0"/>
                  </a:lnTo>
                  <a:lnTo>
                    <a:pt x="0" y="28785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95554" y="2344992"/>
            <a:ext cx="5045287" cy="2966085"/>
            <a:chOff x="221665" y="2344991"/>
            <a:chExt cx="3783965" cy="29660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190" y="2354580"/>
              <a:ext cx="3764788" cy="29466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6428" y="2349754"/>
              <a:ext cx="3774440" cy="2956560"/>
            </a:xfrm>
            <a:custGeom>
              <a:avLst/>
              <a:gdLst/>
              <a:ahLst/>
              <a:cxnLst/>
              <a:rect l="l" t="t" r="r" b="b"/>
              <a:pathLst>
                <a:path w="3774440" h="2956560">
                  <a:moveTo>
                    <a:pt x="0" y="2956179"/>
                  </a:moveTo>
                  <a:lnTo>
                    <a:pt x="3774313" y="2956179"/>
                  </a:lnTo>
                  <a:lnTo>
                    <a:pt x="3774313" y="0"/>
                  </a:lnTo>
                  <a:lnTo>
                    <a:pt x="0" y="0"/>
                  </a:lnTo>
                  <a:lnTo>
                    <a:pt x="0" y="295617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452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132968"/>
            <a:ext cx="1150366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Wi-Fi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chosen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high-quality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streaming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applications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video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surveillance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24-channel </a:t>
            </a:r>
            <a:r>
              <a:rPr sz="2200" spc="-15" dirty="0">
                <a:latin typeface="Calibri"/>
                <a:cs typeface="Calibri"/>
              </a:rPr>
              <a:t>EEG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monitoring) </a:t>
            </a:r>
            <a:r>
              <a:rPr sz="2200" spc="-10" dirty="0">
                <a:latin typeface="Calibri"/>
                <a:cs typeface="Calibri"/>
              </a:rPr>
              <a:t>where energy consumption </a:t>
            </a:r>
            <a:r>
              <a:rPr sz="2200" spc="-5" dirty="0">
                <a:latin typeface="Calibri"/>
                <a:cs typeface="Calibri"/>
              </a:rPr>
              <a:t> is </a:t>
            </a:r>
            <a:r>
              <a:rPr sz="2200" spc="-10" dirty="0">
                <a:latin typeface="Calibri"/>
                <a:cs typeface="Calibri"/>
              </a:rPr>
              <a:t>not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criteria.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31371" y="917892"/>
            <a:ext cx="3482340" cy="2520950"/>
            <a:chOff x="5498528" y="917892"/>
            <a:chExt cx="2611755" cy="2520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2210" y="1027375"/>
              <a:ext cx="2475815" cy="23641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3290" y="922655"/>
              <a:ext cx="2602230" cy="2511425"/>
            </a:xfrm>
            <a:custGeom>
              <a:avLst/>
              <a:gdLst/>
              <a:ahLst/>
              <a:cxnLst/>
              <a:rect l="l" t="t" r="r" b="b"/>
              <a:pathLst>
                <a:path w="2602229" h="2511425">
                  <a:moveTo>
                    <a:pt x="0" y="2511044"/>
                  </a:moveTo>
                  <a:lnTo>
                    <a:pt x="2601849" y="2511044"/>
                  </a:lnTo>
                  <a:lnTo>
                    <a:pt x="2601849" y="0"/>
                  </a:lnTo>
                  <a:lnTo>
                    <a:pt x="0" y="0"/>
                  </a:lnTo>
                  <a:lnTo>
                    <a:pt x="0" y="25110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70803" y="1259142"/>
            <a:ext cx="3629660" cy="2323465"/>
            <a:chOff x="1178102" y="1259141"/>
            <a:chExt cx="2722245" cy="232346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7" y="1268729"/>
              <a:ext cx="2703194" cy="23042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82865" y="1263903"/>
              <a:ext cx="2712720" cy="2313940"/>
            </a:xfrm>
            <a:custGeom>
              <a:avLst/>
              <a:gdLst/>
              <a:ahLst/>
              <a:cxnLst/>
              <a:rect l="l" t="t" r="r" b="b"/>
              <a:pathLst>
                <a:path w="2712720" h="2313940">
                  <a:moveTo>
                    <a:pt x="0" y="2313813"/>
                  </a:moveTo>
                  <a:lnTo>
                    <a:pt x="2712719" y="2313813"/>
                  </a:lnTo>
                  <a:lnTo>
                    <a:pt x="2712719" y="0"/>
                  </a:lnTo>
                  <a:lnTo>
                    <a:pt x="0" y="0"/>
                  </a:lnTo>
                  <a:lnTo>
                    <a:pt x="0" y="231381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8084" y="3572980"/>
            <a:ext cx="5280659" cy="314363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0639" y="3784425"/>
            <a:ext cx="6172200" cy="3038475"/>
            <a:chOff x="97979" y="3784424"/>
            <a:chExt cx="4629150" cy="303847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4" y="3793949"/>
              <a:ext cx="4543425" cy="30194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2741" y="3789187"/>
              <a:ext cx="4619625" cy="3028950"/>
            </a:xfrm>
            <a:custGeom>
              <a:avLst/>
              <a:gdLst/>
              <a:ahLst/>
              <a:cxnLst/>
              <a:rect l="l" t="t" r="r" b="b"/>
              <a:pathLst>
                <a:path w="4619625" h="3028950">
                  <a:moveTo>
                    <a:pt x="0" y="3028950"/>
                  </a:moveTo>
                  <a:lnTo>
                    <a:pt x="4619625" y="3028950"/>
                  </a:lnTo>
                  <a:lnTo>
                    <a:pt x="4619625" y="0"/>
                  </a:lnTo>
                  <a:lnTo>
                    <a:pt x="0" y="0"/>
                  </a:lnTo>
                  <a:lnTo>
                    <a:pt x="0" y="3028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1046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1"/>
            <a:ext cx="11504507" cy="3045064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b="1" spc="-5" dirty="0">
                <a:latin typeface="Calibri"/>
                <a:cs typeface="Calibri"/>
              </a:rPr>
              <a:t>ii)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Smart </a:t>
            </a:r>
            <a:r>
              <a:rPr sz="2200" b="1" spc="-25" dirty="0">
                <a:latin typeface="Calibri"/>
                <a:cs typeface="Calibri"/>
              </a:rPr>
              <a:t>Gateways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with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Fog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Computing</a:t>
            </a:r>
            <a:endParaRPr sz="2200" dirty="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  <a:tab pos="978535" algn="l"/>
                <a:tab pos="2411095" algn="l"/>
                <a:tab pos="3024505" algn="l"/>
                <a:tab pos="3529965" algn="l"/>
                <a:tab pos="4856480" algn="l"/>
                <a:tab pos="5318125" algn="l"/>
                <a:tab pos="5670550" algn="l"/>
                <a:tab pos="7182484" algn="l"/>
                <a:tab pos="8377555" algn="l"/>
              </a:tabLst>
            </a:pPr>
            <a:r>
              <a:rPr sz="2200" spc="-3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og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1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mpu</a:t>
            </a:r>
            <a:r>
              <a:rPr sz="2200" spc="-1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ing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b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d</a:t>
            </a:r>
            <a:r>
              <a:rPr sz="2200" spc="-5" dirty="0">
                <a:latin typeface="Calibri"/>
                <a:cs typeface="Calibri"/>
              </a:rPr>
              <a:t>escribed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200" b="1" spc="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200" b="1" spc="-45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200" b="1" spc="-30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30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n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w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spc="10" dirty="0">
                <a:latin typeface="Calibri"/>
                <a:cs typeface="Calibri"/>
              </a:rPr>
              <a:t>of  </a:t>
            </a:r>
            <a:r>
              <a:rPr sz="2200" spc="-15" dirty="0">
                <a:latin typeface="Calibri"/>
                <a:cs typeface="Calibri"/>
              </a:rPr>
              <a:t>interconnected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smart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gateways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services.</a:t>
            </a: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  <a:tab pos="1746885" algn="l"/>
                <a:tab pos="2202815" algn="l"/>
                <a:tab pos="3794125" algn="l"/>
                <a:tab pos="5556250" algn="l"/>
                <a:tab pos="5851525" algn="l"/>
                <a:tab pos="6670040" algn="l"/>
                <a:tab pos="7770495" algn="l"/>
                <a:tab pos="8327390" algn="l"/>
              </a:tabLst>
            </a:pPr>
            <a:r>
              <a:rPr sz="2200" spc="-10" dirty="0">
                <a:latin typeface="Calibri"/>
                <a:cs typeface="Calibri"/>
              </a:rPr>
              <a:t>Dependin</a:t>
            </a:r>
            <a:r>
              <a:rPr sz="2200" spc="-5" dirty="0">
                <a:latin typeface="Calibri"/>
                <a:cs typeface="Calibri"/>
              </a:rPr>
              <a:t>g</a:t>
            </a:r>
            <a:r>
              <a:rPr sz="2200" dirty="0">
                <a:latin typeface="Calibri"/>
                <a:cs typeface="Calibri"/>
              </a:rPr>
              <a:t>	o</a:t>
            </a:r>
            <a:r>
              <a:rPr sz="2200" spc="-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appli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2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tio</a:t>
            </a:r>
            <a:r>
              <a:rPr sz="2200" spc="-20" dirty="0">
                <a:latin typeface="Calibri"/>
                <a:cs typeface="Calibri"/>
              </a:rPr>
              <a:t>n</a:t>
            </a: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’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equ</a:t>
            </a:r>
            <a:r>
              <a:rPr sz="2200" spc="-25" dirty="0">
                <a:latin typeface="Calibri"/>
                <a:cs typeface="Calibri"/>
              </a:rPr>
              <a:t>i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eme</a:t>
            </a:r>
            <a:r>
              <a:rPr sz="2200" spc="-2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ts,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sm</a:t>
            </a:r>
            <a:r>
              <a:rPr sz="2200" spc="-5" dirty="0">
                <a:latin typeface="Calibri"/>
                <a:cs typeface="Calibri"/>
              </a:rPr>
              <a:t>art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5" dirty="0">
                <a:latin typeface="Calibri"/>
                <a:cs typeface="Calibri"/>
              </a:rPr>
              <a:t>g</a:t>
            </a:r>
            <a:r>
              <a:rPr sz="2200" spc="-25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w</a:t>
            </a:r>
            <a:r>
              <a:rPr sz="2200" spc="-4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movable</a:t>
            </a:r>
            <a:r>
              <a:rPr sz="2200" b="1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fixed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specific</a:t>
            </a:r>
            <a:r>
              <a:rPr sz="2200" spc="-5" dirty="0">
                <a:latin typeface="Calibri"/>
                <a:cs typeface="Calibri"/>
              </a:rPr>
              <a:t> place.</a:t>
            </a:r>
            <a:endParaRPr sz="2200" dirty="0">
              <a:latin typeface="Calibri"/>
              <a:cs typeface="Calibri"/>
            </a:endParaRPr>
          </a:p>
          <a:p>
            <a:pPr marL="355600" marR="635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Each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type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(i.e.,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mobile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5" dirty="0">
                <a:latin typeface="Calibri"/>
                <a:cs typeface="Calibri"/>
              </a:rPr>
              <a:t>fixed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type)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own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advantages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disadvantages.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example,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mobile</a:t>
            </a:r>
            <a:r>
              <a:rPr sz="2200" b="1" spc="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gateway</a:t>
            </a:r>
            <a:r>
              <a:rPr sz="2200" b="1" spc="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provides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mobility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support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but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has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limited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battery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capacity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hardware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constraints.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51995" y="3469170"/>
            <a:ext cx="4309533" cy="3232150"/>
            <a:chOff x="5813996" y="3469170"/>
            <a:chExt cx="3232150" cy="323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3458" y="3607713"/>
              <a:ext cx="3096440" cy="30839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18759" y="3473932"/>
              <a:ext cx="3222625" cy="3222625"/>
            </a:xfrm>
            <a:custGeom>
              <a:avLst/>
              <a:gdLst/>
              <a:ahLst/>
              <a:cxnLst/>
              <a:rect l="l" t="t" r="r" b="b"/>
              <a:pathLst>
                <a:path w="3222625" h="3222625">
                  <a:moveTo>
                    <a:pt x="0" y="3222497"/>
                  </a:moveTo>
                  <a:lnTo>
                    <a:pt x="3222498" y="3222497"/>
                  </a:lnTo>
                  <a:lnTo>
                    <a:pt x="3222498" y="0"/>
                  </a:lnTo>
                  <a:lnTo>
                    <a:pt x="0" y="0"/>
                  </a:lnTo>
                  <a:lnTo>
                    <a:pt x="0" y="32224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8677" y="4257675"/>
            <a:ext cx="7200900" cy="1695450"/>
            <a:chOff x="314007" y="4257675"/>
            <a:chExt cx="5400675" cy="16954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532" y="4267200"/>
              <a:ext cx="5381625" cy="1676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8770" y="4262437"/>
              <a:ext cx="5391150" cy="1685925"/>
            </a:xfrm>
            <a:custGeom>
              <a:avLst/>
              <a:gdLst/>
              <a:ahLst/>
              <a:cxnLst/>
              <a:rect l="l" t="t" r="r" b="b"/>
              <a:pathLst>
                <a:path w="5391150" h="1685925">
                  <a:moveTo>
                    <a:pt x="0" y="1685925"/>
                  </a:moveTo>
                  <a:lnTo>
                    <a:pt x="5391150" y="1685925"/>
                  </a:lnTo>
                  <a:lnTo>
                    <a:pt x="5391150" y="0"/>
                  </a:lnTo>
                  <a:lnTo>
                    <a:pt x="0" y="0"/>
                  </a:lnTo>
                  <a:lnTo>
                    <a:pt x="0" y="16859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77786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76809"/>
            <a:ext cx="70696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1355" y="276809"/>
            <a:ext cx="38938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065" algn="l"/>
                <a:tab pos="1931035" algn="l"/>
                <a:tab pos="2295525" algn="l"/>
              </a:tabLst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fi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f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en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557" y="612393"/>
            <a:ext cx="139615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powerful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4298" y="276809"/>
            <a:ext cx="505121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5195">
              <a:lnSpc>
                <a:spcPct val="100000"/>
              </a:lnSpc>
              <a:spcBef>
                <a:spcPts val="95"/>
              </a:spcBef>
              <a:tabLst>
                <a:tab pos="2900680" algn="l"/>
                <a:tab pos="3641725" algn="l"/>
              </a:tabLst>
            </a:pPr>
            <a:r>
              <a:rPr sz="2200" spc="-10" dirty="0">
                <a:latin typeface="Calibri"/>
                <a:cs typeface="Calibri"/>
              </a:rPr>
              <a:t>buil</a:t>
            </a:r>
            <a:r>
              <a:rPr sz="2200" spc="-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f</a:t>
            </a:r>
            <a:r>
              <a:rPr sz="2200" spc="-40" dirty="0">
                <a:latin typeface="Calibri"/>
                <a:cs typeface="Calibri"/>
              </a:rPr>
              <a:t>r</a:t>
            </a:r>
            <a:r>
              <a:rPr sz="2200" spc="-1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75994" algn="l"/>
                <a:tab pos="2169160" algn="l"/>
              </a:tabLst>
            </a:pPr>
            <a:r>
              <a:rPr sz="2200" spc="-10" dirty="0">
                <a:latin typeface="Calibri"/>
                <a:cs typeface="Calibri"/>
              </a:rPr>
              <a:t>device	supplied	</a:t>
            </a:r>
            <a:r>
              <a:rPr sz="2200" spc="-15" dirty="0">
                <a:latin typeface="Calibri"/>
                <a:cs typeface="Calibri"/>
              </a:rPr>
              <a:t>from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557" y="947673"/>
            <a:ext cx="23393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Calibri"/>
                <a:cs typeface="Calibri"/>
              </a:rPr>
              <a:t>socket’s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power.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356" y="1350010"/>
            <a:ext cx="207094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991235" algn="l"/>
              </a:tabLst>
            </a:pPr>
            <a:r>
              <a:rPr sz="2200" spc="-10" dirty="0">
                <a:latin typeface="Calibri"/>
                <a:cs typeface="Calibri"/>
              </a:rPr>
              <a:t>Th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fi</a:t>
            </a:r>
            <a:r>
              <a:rPr sz="2200" spc="-60" dirty="0">
                <a:latin typeface="Calibri"/>
                <a:cs typeface="Calibri"/>
              </a:rPr>
              <a:t>x</a:t>
            </a:r>
            <a:r>
              <a:rPr sz="2200" spc="-5" dirty="0">
                <a:latin typeface="Calibri"/>
                <a:cs typeface="Calibri"/>
              </a:rPr>
              <a:t>ed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5306" y="1350010"/>
            <a:ext cx="365336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6495" algn="l"/>
                <a:tab pos="1774189" algn="l"/>
              </a:tabLst>
            </a:pPr>
            <a:r>
              <a:rPr sz="2200" spc="-35" dirty="0">
                <a:latin typeface="Calibri"/>
                <a:cs typeface="Calibri"/>
              </a:rPr>
              <a:t>g</a:t>
            </a:r>
            <a:r>
              <a:rPr sz="2200" spc="-25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2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w</a:t>
            </a:r>
            <a:r>
              <a:rPr sz="2200" spc="-4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30" dirty="0">
                <a:solidFill>
                  <a:srgbClr val="006FC0"/>
                </a:solidFill>
                <a:latin typeface="Calibri"/>
                <a:cs typeface="Calibri"/>
              </a:rPr>
              <a:t>f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556" y="1685366"/>
            <a:ext cx="53086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10080" algn="l"/>
                <a:tab pos="2701290" algn="l"/>
                <a:tab pos="3540760" algn="l"/>
              </a:tabLst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co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mpu</a:t>
            </a:r>
            <a:r>
              <a:rPr sz="2200" b="1" spc="-2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al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b="1" spc="-2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2200" b="1" spc="-30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easily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6104" y="612393"/>
            <a:ext cx="1183640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368300" algn="l"/>
              </a:tabLst>
            </a:pPr>
            <a:r>
              <a:rPr sz="2200" spc="-5" dirty="0">
                <a:latin typeface="Calibri"/>
                <a:cs typeface="Calibri"/>
              </a:rPr>
              <a:t>a	</a:t>
            </a:r>
            <a:r>
              <a:rPr sz="2200" spc="-10" dirty="0">
                <a:latin typeface="Calibri"/>
                <a:cs typeface="Calibri"/>
              </a:rPr>
              <a:t>wall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Calibri"/>
              <a:cs typeface="Calibri"/>
            </a:endParaRPr>
          </a:p>
          <a:p>
            <a:pPr marR="8255" algn="r">
              <a:lnSpc>
                <a:spcPct val="100000"/>
              </a:lnSpc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heavy</a:t>
            </a:r>
            <a:endParaRPr sz="2200">
              <a:latin typeface="Calibri"/>
              <a:cs typeface="Calibri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latin typeface="Calibri"/>
                <a:cs typeface="Calibri"/>
              </a:rPr>
              <a:t>provide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357" y="2020950"/>
            <a:ext cx="7185660" cy="21076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more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advanced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high-quality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5" dirty="0">
                <a:latin typeface="Calibri"/>
                <a:cs typeface="Calibri"/>
              </a:rPr>
              <a:t>while a mobile </a:t>
            </a:r>
            <a:r>
              <a:rPr sz="2200" spc="-25" dirty="0">
                <a:latin typeface="Calibri"/>
                <a:cs typeface="Calibri"/>
              </a:rPr>
              <a:t>gateway </a:t>
            </a:r>
            <a:r>
              <a:rPr sz="2200" spc="-10" dirty="0">
                <a:latin typeface="Calibri"/>
                <a:cs typeface="Calibri"/>
              </a:rPr>
              <a:t>might </a:t>
            </a:r>
            <a:r>
              <a:rPr sz="2200" spc="-5" dirty="0">
                <a:latin typeface="Calibri"/>
                <a:cs typeface="Calibri"/>
              </a:rPr>
              <a:t>not </a:t>
            </a:r>
            <a:r>
              <a:rPr sz="2200" spc="-10" dirty="0">
                <a:latin typeface="Calibri"/>
                <a:cs typeface="Calibri"/>
              </a:rPr>
              <a:t>be </a:t>
            </a:r>
            <a:r>
              <a:rPr sz="2200" spc="-5" dirty="0">
                <a:latin typeface="Calibri"/>
                <a:cs typeface="Calibri"/>
              </a:rPr>
              <a:t> able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perform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similar tasks.</a:t>
            </a:r>
            <a:endParaRPr sz="22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general,</a:t>
            </a:r>
            <a:r>
              <a:rPr sz="2200" spc="-5" dirty="0">
                <a:latin typeface="Calibri"/>
                <a:cs typeface="Calibri"/>
              </a:rPr>
              <a:t> 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fixed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more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preferred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in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many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healthcare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applications 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</a:t>
            </a:r>
            <a:r>
              <a:rPr sz="2200" spc="3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remote</a:t>
            </a:r>
            <a:r>
              <a:rPr sz="2200" spc="4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health-monitoring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systems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hospital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5" dirty="0">
                <a:latin typeface="Calibri"/>
                <a:cs typeface="Calibri"/>
              </a:rPr>
              <a:t>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home.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11432" y="107112"/>
            <a:ext cx="4058073" cy="5761355"/>
            <a:chOff x="5858573" y="107111"/>
            <a:chExt cx="3043555" cy="57613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8161" y="200177"/>
              <a:ext cx="3024378" cy="56585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63335" y="111874"/>
              <a:ext cx="3034030" cy="5751830"/>
            </a:xfrm>
            <a:custGeom>
              <a:avLst/>
              <a:gdLst/>
              <a:ahLst/>
              <a:cxnLst/>
              <a:rect l="l" t="t" r="r" b="b"/>
              <a:pathLst>
                <a:path w="3034029" h="5751830">
                  <a:moveTo>
                    <a:pt x="0" y="5751576"/>
                  </a:moveTo>
                  <a:lnTo>
                    <a:pt x="3033902" y="5751576"/>
                  </a:lnTo>
                  <a:lnTo>
                    <a:pt x="3033902" y="0"/>
                  </a:lnTo>
                  <a:lnTo>
                    <a:pt x="0" y="0"/>
                  </a:lnTo>
                  <a:lnTo>
                    <a:pt x="0" y="57515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0639" y="4783150"/>
            <a:ext cx="7514167" cy="1823720"/>
            <a:chOff x="97979" y="4783150"/>
            <a:chExt cx="5635625" cy="182372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504" y="4792675"/>
              <a:ext cx="5616575" cy="18046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2741" y="4787912"/>
              <a:ext cx="5626100" cy="1814195"/>
            </a:xfrm>
            <a:custGeom>
              <a:avLst/>
              <a:gdLst/>
              <a:ahLst/>
              <a:cxnLst/>
              <a:rect l="l" t="t" r="r" b="b"/>
              <a:pathLst>
                <a:path w="5626100" h="1814195">
                  <a:moveTo>
                    <a:pt x="0" y="1814195"/>
                  </a:moveTo>
                  <a:lnTo>
                    <a:pt x="5626100" y="1814195"/>
                  </a:lnTo>
                  <a:lnTo>
                    <a:pt x="5626100" y="0"/>
                  </a:lnTo>
                  <a:lnTo>
                    <a:pt x="0" y="0"/>
                  </a:lnTo>
                  <a:lnTo>
                    <a:pt x="0" y="18141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872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132969"/>
            <a:ext cx="11504507" cy="4862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Each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smart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fog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layer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embedded</a:t>
            </a:r>
            <a:r>
              <a:rPr sz="2200" b="1" spc="40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device</a:t>
            </a:r>
            <a:r>
              <a:rPr sz="2200" b="1" spc="4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4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consists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three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main </a:t>
            </a:r>
            <a:r>
              <a:rPr sz="2200" spc="-10" dirty="0">
                <a:latin typeface="Calibri"/>
                <a:cs typeface="Calibri"/>
              </a:rPr>
              <a:t>components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</a:t>
            </a:r>
            <a:r>
              <a:rPr sz="2200" spc="-5" dirty="0">
                <a:latin typeface="Calibri"/>
                <a:cs typeface="Calibri"/>
              </a:rPr>
              <a:t> as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operating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Depending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on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specific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health-monitoring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sensor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nodes,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spc="-15" dirty="0">
                <a:latin typeface="Calibri"/>
                <a:cs typeface="Calibri"/>
              </a:rPr>
              <a:t>hardware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various.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-10" dirty="0">
                <a:latin typeface="Calibri"/>
                <a:cs typeface="Calibri"/>
              </a:rPr>
              <a:t> instance,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smart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gateway’s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wireless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communication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chip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compatible </a:t>
            </a:r>
            <a:r>
              <a:rPr sz="2200" dirty="0">
                <a:latin typeface="Calibri"/>
                <a:cs typeface="Calibri"/>
              </a:rPr>
              <a:t>with </a:t>
            </a:r>
            <a:r>
              <a:rPr sz="2200" spc="-5" dirty="0">
                <a:latin typeface="Calibri"/>
                <a:cs typeface="Calibri"/>
              </a:rPr>
              <a:t>the wireless </a:t>
            </a:r>
            <a:r>
              <a:rPr sz="2200" spc="-15" dirty="0">
                <a:latin typeface="Calibri"/>
                <a:cs typeface="Calibri"/>
              </a:rPr>
              <a:t>protocols </a:t>
            </a:r>
            <a:r>
              <a:rPr sz="2200" spc="-20" dirty="0">
                <a:latin typeface="Calibri"/>
                <a:cs typeface="Calibri"/>
              </a:rPr>
              <a:t>(6LoWPAN, </a:t>
            </a:r>
            <a:r>
              <a:rPr sz="2200" dirty="0">
                <a:latin typeface="Calibri"/>
                <a:cs typeface="Calibri"/>
              </a:rPr>
              <a:t>BLE, or </a:t>
            </a:r>
            <a:r>
              <a:rPr sz="2200" spc="-5" dirty="0">
                <a:latin typeface="Calibri"/>
                <a:cs typeface="Calibri"/>
              </a:rPr>
              <a:t>Wi-Fi) used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sensor nodes.</a:t>
            </a:r>
            <a:endParaRPr sz="22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 smart </a:t>
            </a:r>
            <a:r>
              <a:rPr sz="2200" spc="-25" dirty="0">
                <a:latin typeface="Calibri"/>
                <a:cs typeface="Calibri"/>
              </a:rPr>
              <a:t>gateway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equipped </a:t>
            </a:r>
            <a:r>
              <a:rPr sz="2200" spc="-5" dirty="0">
                <a:latin typeface="Calibri"/>
                <a:cs typeface="Calibri"/>
              </a:rPr>
              <a:t>with a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hard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drive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SD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card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storing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installing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operating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system.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Although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storage</a:t>
            </a:r>
            <a:r>
              <a:rPr sz="2200" b="1" spc="9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capacity</a:t>
            </a:r>
            <a:r>
              <a:rPr sz="2200" b="1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hard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drive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SD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card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various,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large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(e.g.,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less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128 </a:t>
            </a:r>
            <a:r>
              <a:rPr sz="2200" spc="-10" dirty="0">
                <a:latin typeface="Calibri"/>
                <a:cs typeface="Calibri"/>
              </a:rPr>
              <a:t>GB).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6662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204978"/>
            <a:ext cx="11599333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15" dirty="0">
                <a:latin typeface="Calibri"/>
                <a:cs typeface="Calibri"/>
              </a:rPr>
              <a:t>Lightweight</a:t>
            </a:r>
            <a:r>
              <a:rPr sz="2200" b="1" spc="484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operating</a:t>
            </a:r>
            <a:r>
              <a:rPr sz="2200" b="1" spc="47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systems</a:t>
            </a:r>
            <a:r>
              <a:rPr sz="2200" b="1" spc="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4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4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preferred</a:t>
            </a:r>
            <a:r>
              <a:rPr sz="2200" spc="4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smart</a:t>
            </a:r>
            <a:r>
              <a:rPr sz="2200" spc="4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because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powerful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hardware.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15" dirty="0">
                <a:latin typeface="Calibri"/>
                <a:cs typeface="Calibri"/>
              </a:rPr>
              <a:t>Lightweight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versions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of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Linux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kernels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many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smart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gateways.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operating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provides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platform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installing</a:t>
            </a:r>
            <a:r>
              <a:rPr sz="2200" b="1" spc="2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useful</a:t>
            </a:r>
            <a:r>
              <a:rPr sz="22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70059" y="1546352"/>
            <a:ext cx="257301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2545" algn="l"/>
              </a:tabLst>
            </a:pP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mo</a:t>
            </a:r>
            <a:r>
              <a:rPr sz="2200" spc="-2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356" y="1546352"/>
            <a:ext cx="881464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  <a:tabLst>
                <a:tab pos="1175385" algn="l"/>
                <a:tab pos="1786255" algn="l"/>
                <a:tab pos="2574925" algn="l"/>
                <a:tab pos="2996565" algn="l"/>
                <a:tab pos="4103370" algn="l"/>
                <a:tab pos="4872990" algn="l"/>
                <a:tab pos="5482590" algn="l"/>
              </a:tabLst>
            </a:pPr>
            <a:r>
              <a:rPr sz="2200" spc="-5" dirty="0">
                <a:latin typeface="Calibri"/>
                <a:cs typeface="Calibri"/>
              </a:rPr>
              <a:t>ea</a:t>
            </a:r>
            <a:r>
              <a:rPr sz="220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ily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hel</a:t>
            </a:r>
            <a:r>
              <a:rPr sz="2200" spc="-25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man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spc="-15" dirty="0">
                <a:latin typeface="Calibri"/>
                <a:cs typeface="Calibri"/>
              </a:rPr>
              <a:t>efficiently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precisely.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Software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smart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gateway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consist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both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Basic</a:t>
            </a:r>
            <a:r>
              <a:rPr sz="22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programs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Fog</a:t>
            </a:r>
            <a:r>
              <a:rPr sz="22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services.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356" y="3223082"/>
            <a:ext cx="30835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1222375" algn="l"/>
              </a:tabLst>
            </a:pPr>
            <a:r>
              <a:rPr sz="2200" spc="-5" dirty="0">
                <a:latin typeface="Calibri"/>
                <a:cs typeface="Calibri"/>
              </a:rPr>
              <a:t>These	</a:t>
            </a:r>
            <a:r>
              <a:rPr sz="2200" spc="-15" dirty="0">
                <a:latin typeface="Calibri"/>
                <a:cs typeface="Calibri"/>
              </a:rPr>
              <a:t>programs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6923" y="3223082"/>
            <a:ext cx="828378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5635" algn="l"/>
                <a:tab pos="1737995" algn="l"/>
                <a:tab pos="2301875" algn="l"/>
                <a:tab pos="3521075" algn="l"/>
                <a:tab pos="4042410" algn="l"/>
                <a:tab pos="5076190" algn="l"/>
              </a:tabLst>
            </a:pPr>
            <a:r>
              <a:rPr sz="2200" spc="-5" dirty="0">
                <a:latin typeface="Calibri"/>
                <a:cs typeface="Calibri"/>
              </a:rPr>
              <a:t>and	</a:t>
            </a: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spc="5" dirty="0">
                <a:latin typeface="Calibri"/>
                <a:cs typeface="Calibri"/>
              </a:rPr>
              <a:t>e</a:t>
            </a:r>
            <a:r>
              <a:rPr sz="2200" spc="15" dirty="0">
                <a:latin typeface="Calibri"/>
                <a:cs typeface="Calibri"/>
              </a:rPr>
              <a:t>r</a:t>
            </a:r>
            <a:r>
              <a:rPr sz="2200" spc="-15" dirty="0">
                <a:latin typeface="Calibri"/>
                <a:cs typeface="Calibri"/>
              </a:rPr>
              <a:t>v</a:t>
            </a:r>
            <a:r>
              <a:rPr sz="2200" spc="-5" dirty="0">
                <a:latin typeface="Calibri"/>
                <a:cs typeface="Calibri"/>
              </a:rPr>
              <a:t>i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es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desig</a:t>
            </a:r>
            <a:r>
              <a:rPr sz="2200" spc="-1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ed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vin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part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cular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1557" y="3558666"/>
            <a:ext cx="535686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applications’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requirements</a:t>
            </a:r>
            <a:r>
              <a:rPr sz="22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 </a:t>
            </a:r>
            <a:r>
              <a:rPr sz="2200" spc="-5" dirty="0">
                <a:latin typeface="Calibri"/>
                <a:cs typeface="Calibri"/>
              </a:rPr>
              <a:t>as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Latency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Bandwidth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Interoperability</a:t>
            </a:r>
            <a:r>
              <a:rPr sz="2200" spc="-1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356" y="4900040"/>
            <a:ext cx="293962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1117600" algn="l"/>
              </a:tabLst>
            </a:pPr>
            <a:r>
              <a:rPr sz="2200" spc="-5" dirty="0">
                <a:latin typeface="Calibri"/>
                <a:cs typeface="Calibri"/>
              </a:rPr>
              <a:t>Basic	</a:t>
            </a:r>
            <a:r>
              <a:rPr sz="2200" spc="-20" dirty="0">
                <a:latin typeface="Calibri"/>
                <a:cs typeface="Calibri"/>
              </a:rPr>
              <a:t>programs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8427" y="4900040"/>
            <a:ext cx="84455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  <a:tab pos="2734945" algn="l"/>
                <a:tab pos="3877945" algn="l"/>
                <a:tab pos="4489450" algn="l"/>
                <a:tab pos="5756910" algn="l"/>
                <a:tab pos="6182995" algn="l"/>
              </a:tabLst>
            </a:pPr>
            <a:r>
              <a:rPr sz="2200" spc="-10" dirty="0">
                <a:latin typeface="Calibri"/>
                <a:cs typeface="Calibri"/>
              </a:rPr>
              <a:t>p</a:t>
            </a:r>
            <a:r>
              <a:rPr sz="2200" spc="-45" dirty="0">
                <a:latin typeface="Calibri"/>
                <a:cs typeface="Calibri"/>
              </a:rPr>
              <a:t>r</a:t>
            </a:r>
            <a:r>
              <a:rPr sz="2200" spc="-10" dirty="0">
                <a:latin typeface="Calibri"/>
                <a:cs typeface="Calibri"/>
              </a:rPr>
              <a:t>ovid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funda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al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funct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ions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557" y="5235321"/>
            <a:ext cx="4124113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gateway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200" b="1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transmission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25" dirty="0">
                <a:solidFill>
                  <a:srgbClr val="006FC0"/>
                </a:solidFill>
                <a:latin typeface="Calibri"/>
                <a:cs typeface="Calibri"/>
              </a:rPr>
              <a:t>Gateway</a:t>
            </a:r>
            <a:r>
              <a:rPr sz="22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management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buFont typeface="Arial MT"/>
              <a:buChar char="–"/>
              <a:tabLst>
                <a:tab pos="413384" algn="l"/>
                <a:tab pos="414020" algn="l"/>
              </a:tabLst>
            </a:pP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Basic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 levels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security</a:t>
            </a:r>
            <a:r>
              <a:rPr sz="2200" spc="-5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0462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446" y="204978"/>
            <a:ext cx="1160018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b="1" spc="-5" dirty="0">
                <a:latin typeface="Calibri"/>
                <a:cs typeface="Calibri"/>
              </a:rPr>
              <a:t>IPtable</a:t>
            </a:r>
            <a:r>
              <a:rPr sz="2200" spc="-5" dirty="0">
                <a:latin typeface="Calibri"/>
                <a:cs typeface="Calibri"/>
              </a:rPr>
              <a:t>, which is a </a:t>
            </a:r>
            <a:r>
              <a:rPr sz="2200" spc="-10" dirty="0">
                <a:latin typeface="Calibri"/>
                <a:cs typeface="Calibri"/>
              </a:rPr>
              <a:t>lightweight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simple software installed </a:t>
            </a:r>
            <a:r>
              <a:rPr sz="2200" spc="-5" dirty="0">
                <a:latin typeface="Calibri"/>
                <a:cs typeface="Calibri"/>
              </a:rPr>
              <a:t> 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Ubuntu,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blocking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unused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communication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ports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the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gateway.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446" y="4497451"/>
            <a:ext cx="1160356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MySQL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b="1" spc="-10" dirty="0">
                <a:latin typeface="Calibri"/>
                <a:cs typeface="Calibri"/>
              </a:rPr>
              <a:t>MongoDB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spc="-5" dirty="0">
                <a:latin typeface="Calibri"/>
                <a:cs typeface="Calibri"/>
              </a:rPr>
              <a:t>which is an </a:t>
            </a:r>
            <a:r>
              <a:rPr sz="2200" spc="-10" dirty="0">
                <a:latin typeface="Calibri"/>
                <a:cs typeface="Calibri"/>
              </a:rPr>
              <a:t>open-source database,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installed </a:t>
            </a:r>
            <a:r>
              <a:rPr sz="2200" spc="-5" dirty="0">
                <a:latin typeface="Calibri"/>
                <a:cs typeface="Calibri"/>
              </a:rPr>
              <a:t> 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smart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</a:t>
            </a:r>
            <a:r>
              <a:rPr sz="2200" spc="-20" dirty="0">
                <a:latin typeface="Calibri"/>
                <a:cs typeface="Calibri"/>
              </a:rPr>
              <a:t> for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flexibly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reliably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efficiently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managing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databases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524" y="1340739"/>
            <a:ext cx="11130111" cy="30963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282767" y="5736551"/>
            <a:ext cx="5239172" cy="942340"/>
            <a:chOff x="962075" y="5736551"/>
            <a:chExt cx="3929379" cy="9423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2399" y="5758553"/>
              <a:ext cx="3868479" cy="8983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6838" y="5741314"/>
              <a:ext cx="3919854" cy="932815"/>
            </a:xfrm>
            <a:custGeom>
              <a:avLst/>
              <a:gdLst/>
              <a:ahLst/>
              <a:cxnLst/>
              <a:rect l="l" t="t" r="r" b="b"/>
              <a:pathLst>
                <a:path w="3919854" h="932815">
                  <a:moveTo>
                    <a:pt x="0" y="932802"/>
                  </a:moveTo>
                  <a:lnTo>
                    <a:pt x="3919601" y="932802"/>
                  </a:lnTo>
                  <a:lnTo>
                    <a:pt x="3919601" y="0"/>
                  </a:lnTo>
                  <a:lnTo>
                    <a:pt x="0" y="0"/>
                  </a:lnTo>
                  <a:lnTo>
                    <a:pt x="0" y="9328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907443" y="5450460"/>
            <a:ext cx="2994660" cy="1228725"/>
            <a:chOff x="5930582" y="5450459"/>
            <a:chExt cx="2245995" cy="12287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4856" y="5555210"/>
              <a:ext cx="2027090" cy="10379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35345" y="5455221"/>
              <a:ext cx="2236470" cy="1219200"/>
            </a:xfrm>
            <a:custGeom>
              <a:avLst/>
              <a:gdLst/>
              <a:ahLst/>
              <a:cxnLst/>
              <a:rect l="l" t="t" r="r" b="b"/>
              <a:pathLst>
                <a:path w="2236470" h="1219200">
                  <a:moveTo>
                    <a:pt x="0" y="1218895"/>
                  </a:moveTo>
                  <a:lnTo>
                    <a:pt x="2236470" y="1218895"/>
                  </a:lnTo>
                  <a:lnTo>
                    <a:pt x="2236470" y="0"/>
                  </a:lnTo>
                  <a:lnTo>
                    <a:pt x="0" y="0"/>
                  </a:lnTo>
                  <a:lnTo>
                    <a:pt x="0" y="12188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936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04978"/>
            <a:ext cx="252052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953135" algn="l"/>
              </a:tabLst>
            </a:pPr>
            <a:r>
              <a:rPr sz="2200" b="1" spc="-15" dirty="0">
                <a:latin typeface="Calibri"/>
                <a:cs typeface="Calibri"/>
              </a:rPr>
              <a:t>Fog	</a:t>
            </a:r>
            <a:r>
              <a:rPr sz="2200" b="1" spc="-5" dirty="0">
                <a:latin typeface="Calibri"/>
                <a:cs typeface="Calibri"/>
              </a:rPr>
              <a:t>services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1556" y="540207"/>
            <a:ext cx="25654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6135" algn="l"/>
              </a:tabLst>
            </a:pPr>
            <a:r>
              <a:rPr sz="2200" spc="-5" dirty="0">
                <a:latin typeface="Calibri"/>
                <a:cs typeface="Calibri"/>
              </a:rPr>
              <a:t>ma</a:t>
            </a:r>
            <a:r>
              <a:rPr sz="2200" spc="-4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ad</a:t>
            </a:r>
            <a:r>
              <a:rPr sz="2200" spc="-40" dirty="0">
                <a:latin typeface="Calibri"/>
                <a:cs typeface="Calibri"/>
              </a:rPr>
              <a:t>v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c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556" y="875792"/>
            <a:ext cx="253661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3045" algn="l"/>
              </a:tabLst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en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h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cin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h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3769" y="540207"/>
            <a:ext cx="12395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libri"/>
                <a:cs typeface="Calibri"/>
              </a:rPr>
              <a:t>services</a:t>
            </a:r>
            <a:endParaRPr sz="220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</a:pP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quality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7963" y="204978"/>
            <a:ext cx="242316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95"/>
              </a:spcBef>
              <a:tabLst>
                <a:tab pos="584835" algn="l"/>
                <a:tab pos="1555750" algn="l"/>
              </a:tabLst>
            </a:pP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nsi</a:t>
            </a:r>
            <a:r>
              <a:rPr sz="2200" spc="-25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	of</a:t>
            </a:r>
            <a:endParaRPr sz="2200">
              <a:latin typeface="Calibri"/>
              <a:cs typeface="Calibri"/>
            </a:endParaRPr>
          </a:p>
          <a:p>
            <a:pPr marR="6350" algn="r">
              <a:lnSpc>
                <a:spcPct val="100000"/>
              </a:lnSpc>
            </a:pPr>
            <a:r>
              <a:rPr sz="2200" spc="-25" dirty="0"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357" y="1143406"/>
            <a:ext cx="4097020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25"/>
              </a:spcBef>
            </a:pPr>
            <a:r>
              <a:rPr sz="2200" spc="-15" dirty="0">
                <a:latin typeface="Calibri"/>
                <a:cs typeface="Calibri"/>
              </a:rPr>
              <a:t>healthcare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help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5227" y="2351277"/>
            <a:ext cx="9677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des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3001" y="2015693"/>
            <a:ext cx="273981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669925" algn="l"/>
                <a:tab pos="1788795" algn="l"/>
              </a:tabLst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h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u</a:t>
            </a: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den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of</a:t>
            </a:r>
            <a:endParaRPr sz="2200">
              <a:latin typeface="Calibri"/>
              <a:cs typeface="Calibri"/>
            </a:endParaRPr>
          </a:p>
          <a:p>
            <a:pPr marR="7620" algn="r">
              <a:lnSpc>
                <a:spcPct val="100000"/>
              </a:lnSpc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3957" y="2015693"/>
            <a:ext cx="1946487" cy="1769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reduce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sensors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45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sz="2200" b="1" spc="-25" dirty="0">
                <a:solidFill>
                  <a:srgbClr val="006FC0"/>
                </a:solidFill>
                <a:latin typeface="Calibri"/>
                <a:cs typeface="Calibri"/>
              </a:rPr>
              <a:t>t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en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ing 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lifetime</a:t>
            </a:r>
            <a:endParaRPr sz="22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35"/>
              </a:spcBef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saving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2297" y="2686557"/>
            <a:ext cx="2529840" cy="109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95"/>
              </a:spcBef>
              <a:tabLst>
                <a:tab pos="831850" algn="l"/>
              </a:tabLst>
            </a:pP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their	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battery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892810" algn="l"/>
              </a:tabLst>
            </a:pP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the	network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356" y="3692169"/>
            <a:ext cx="5167205" cy="26423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625"/>
              </a:spcBef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bandwidth</a:t>
            </a:r>
            <a:endParaRPr sz="2200" dirty="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  <a:tab pos="1972310" algn="l"/>
                <a:tab pos="2573020" algn="l"/>
                <a:tab pos="3621404" algn="l"/>
              </a:tabLst>
            </a:pP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ed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u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cin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bu</a:t>
            </a:r>
            <a:r>
              <a:rPr sz="2200" b="1" spc="-35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den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	of 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cloud</a:t>
            </a:r>
            <a:endParaRPr sz="2200" dirty="0">
              <a:latin typeface="Calibri"/>
              <a:cs typeface="Calibri"/>
            </a:endParaRPr>
          </a:p>
          <a:p>
            <a:pPr marL="756285" marR="7620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informing</a:t>
            </a:r>
            <a:r>
              <a:rPr sz="2200" b="1" spc="4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emergent</a:t>
            </a:r>
            <a:r>
              <a:rPr sz="2200" b="1" spc="4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cases </a:t>
            </a:r>
            <a:r>
              <a:rPr sz="2200" b="1" spc="-48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 real</a:t>
            </a:r>
            <a:r>
              <a:rPr sz="22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push notification </a:t>
            </a:r>
            <a:r>
              <a:rPr sz="2200" b="1" spc="-4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15" dirty="0">
                <a:latin typeface="Calibri"/>
                <a:cs typeface="Calibri"/>
              </a:rPr>
              <a:t> informing</a:t>
            </a:r>
            <a:r>
              <a:rPr sz="2200" spc="-10" dirty="0">
                <a:latin typeface="Calibri"/>
                <a:cs typeface="Calibri"/>
              </a:rPr>
              <a:t> emergent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fog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91361" y="323190"/>
            <a:ext cx="6266180" cy="5640705"/>
            <a:chOff x="4418520" y="323189"/>
            <a:chExt cx="4699635" cy="56407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7982" y="332714"/>
              <a:ext cx="4607325" cy="56216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423283" y="327952"/>
              <a:ext cx="4690110" cy="5631180"/>
            </a:xfrm>
            <a:custGeom>
              <a:avLst/>
              <a:gdLst/>
              <a:ahLst/>
              <a:cxnLst/>
              <a:rect l="l" t="t" r="r" b="b"/>
              <a:pathLst>
                <a:path w="4690109" h="5631180">
                  <a:moveTo>
                    <a:pt x="0" y="5631180"/>
                  </a:moveTo>
                  <a:lnTo>
                    <a:pt x="4689983" y="5631180"/>
                  </a:lnTo>
                  <a:lnTo>
                    <a:pt x="4689983" y="0"/>
                  </a:lnTo>
                  <a:lnTo>
                    <a:pt x="0" y="0"/>
                  </a:lnTo>
                  <a:lnTo>
                    <a:pt x="0" y="563118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5277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6" y="65303"/>
            <a:ext cx="11604413" cy="486607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2200" b="1" spc="-5" dirty="0">
                <a:latin typeface="Calibri"/>
                <a:cs typeface="Calibri"/>
              </a:rPr>
              <a:t>iii)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Cloud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Servers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and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End-User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Terminals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general, </a:t>
            </a:r>
            <a:r>
              <a:rPr sz="2200" spc="-10" dirty="0">
                <a:latin typeface="Calibri"/>
                <a:cs typeface="Calibri"/>
              </a:rPr>
              <a:t>there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not </a:t>
            </a:r>
            <a:r>
              <a:rPr sz="2200" spc="-5" dirty="0">
                <a:latin typeface="Calibri"/>
                <a:cs typeface="Calibri"/>
              </a:rPr>
              <a:t>much </a:t>
            </a:r>
            <a:r>
              <a:rPr sz="2200" spc="-15" dirty="0">
                <a:latin typeface="Calibri"/>
                <a:cs typeface="Calibri"/>
              </a:rPr>
              <a:t>difference </a:t>
            </a:r>
            <a:r>
              <a:rPr sz="2200" spc="-10" dirty="0">
                <a:latin typeface="Calibri"/>
                <a:cs typeface="Calibri"/>
              </a:rPr>
              <a:t>between </a:t>
            </a:r>
            <a:r>
              <a:rPr sz="2200" spc="-5" dirty="0">
                <a:latin typeface="Calibri"/>
                <a:cs typeface="Calibri"/>
              </a:rPr>
              <a:t>the cloud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remote </a:t>
            </a:r>
            <a:r>
              <a:rPr sz="2200" spc="-5" dirty="0">
                <a:latin typeface="Calibri"/>
                <a:cs typeface="Calibri"/>
              </a:rPr>
              <a:t> health-monitoring IoT </a:t>
            </a:r>
            <a:r>
              <a:rPr sz="2200" spc="-15" dirty="0">
                <a:latin typeface="Calibri"/>
                <a:cs typeface="Calibri"/>
              </a:rPr>
              <a:t>systems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having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fog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layer </a:t>
            </a:r>
            <a:r>
              <a:rPr sz="2200" spc="-5" dirty="0">
                <a:latin typeface="Calibri"/>
                <a:cs typeface="Calibri"/>
              </a:rPr>
              <a:t>and the cloud </a:t>
            </a:r>
            <a:r>
              <a:rPr sz="2200" spc="5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other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IoT </a:t>
            </a:r>
            <a:r>
              <a:rPr sz="2200" spc="-10" dirty="0">
                <a:latin typeface="Calibri"/>
                <a:cs typeface="Calibri"/>
              </a:rPr>
              <a:t>applications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without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fog layer </a:t>
            </a:r>
            <a:r>
              <a:rPr sz="2200" dirty="0">
                <a:latin typeface="Calibri"/>
                <a:cs typeface="Calibri"/>
              </a:rPr>
              <a:t>(e.g., </a:t>
            </a:r>
            <a:r>
              <a:rPr sz="2200" spc="-5" dirty="0">
                <a:latin typeface="Calibri"/>
                <a:cs typeface="Calibri"/>
              </a:rPr>
              <a:t>automation, </a:t>
            </a:r>
            <a:r>
              <a:rPr sz="2200" spc="-10" dirty="0">
                <a:latin typeface="Calibri"/>
                <a:cs typeface="Calibri"/>
              </a:rPr>
              <a:t>education,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entertainment).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They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all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provide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fundamental</a:t>
            </a:r>
            <a:r>
              <a:rPr sz="2200" b="1" spc="1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features</a:t>
            </a:r>
            <a:r>
              <a:rPr sz="2200" b="1" spc="1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basic</a:t>
            </a:r>
            <a:r>
              <a:rPr sz="2200" b="1" spc="1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services</a:t>
            </a:r>
            <a:r>
              <a:rPr sz="2200" b="1" spc="1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cloud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(e.g.,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storage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analysis).</a:t>
            </a:r>
            <a:endParaRPr sz="2200" dirty="0">
              <a:latin typeface="Calibri"/>
              <a:cs typeface="Calibri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 burdens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 cloud </a:t>
            </a:r>
            <a:r>
              <a:rPr sz="2200" dirty="0">
                <a:latin typeface="Calibri"/>
                <a:cs typeface="Calibri"/>
              </a:rPr>
              <a:t>in </a:t>
            </a:r>
            <a:r>
              <a:rPr sz="2200" spc="-5" dirty="0">
                <a:latin typeface="Calibri"/>
                <a:cs typeface="Calibri"/>
              </a:rPr>
              <a:t>IoT </a:t>
            </a:r>
            <a:r>
              <a:rPr sz="2200" spc="-15" dirty="0">
                <a:latin typeface="Calibri"/>
                <a:cs typeface="Calibri"/>
              </a:rPr>
              <a:t>systems </a:t>
            </a:r>
            <a:r>
              <a:rPr sz="2200" spc="-5" dirty="0">
                <a:latin typeface="Calibri"/>
                <a:cs typeface="Calibri"/>
              </a:rPr>
              <a:t>with a </a:t>
            </a:r>
            <a:r>
              <a:rPr sz="2200" spc="-20" dirty="0">
                <a:latin typeface="Calibri"/>
                <a:cs typeface="Calibri"/>
              </a:rPr>
              <a:t>fog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less than in the IoT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without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fog.</a:t>
            </a:r>
            <a:endParaRPr sz="2200" dirty="0">
              <a:latin typeface="Calibri"/>
              <a:cs typeface="Calibri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instance,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ECG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feature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extraction algorithms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machine-learning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algorithms </a:t>
            </a:r>
            <a:r>
              <a:rPr sz="2200" spc="-10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processed at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0" dirty="0">
                <a:latin typeface="Calibri"/>
                <a:cs typeface="Calibri"/>
              </a:rPr>
              <a:t>fog </a:t>
            </a:r>
            <a:r>
              <a:rPr sz="2200" spc="-5" dirty="0">
                <a:latin typeface="Calibri"/>
                <a:cs typeface="Calibri"/>
              </a:rPr>
              <a:t>while the </a:t>
            </a:r>
            <a:r>
              <a:rPr sz="2200" spc="-15" dirty="0">
                <a:latin typeface="Calibri"/>
                <a:cs typeface="Calibri"/>
              </a:rPr>
              <a:t>rest </a:t>
            </a:r>
            <a:r>
              <a:rPr sz="2200" spc="-5" dirty="0">
                <a:latin typeface="Calibri"/>
                <a:cs typeface="Calibri"/>
              </a:rPr>
              <a:t>of the </a:t>
            </a:r>
            <a:r>
              <a:rPr sz="2200" spc="-10" dirty="0">
                <a:latin typeface="Calibri"/>
                <a:cs typeface="Calibri"/>
              </a:rPr>
              <a:t>processing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run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cloud.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Results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processing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updated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both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fog’s</a:t>
            </a:r>
            <a:r>
              <a:rPr sz="2200" b="1" spc="2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local</a:t>
            </a:r>
            <a:r>
              <a:rPr sz="2200" b="1" spc="2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006FC0"/>
                </a:solidFill>
                <a:latin typeface="Calibri"/>
                <a:cs typeface="Calibri"/>
              </a:rPr>
              <a:t>storage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cloud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5600" marR="1016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large </a:t>
            </a:r>
            <a:r>
              <a:rPr sz="2200" spc="-5" dirty="0">
                <a:latin typeface="Calibri"/>
                <a:cs typeface="Calibri"/>
              </a:rPr>
              <a:t>amount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5" dirty="0">
                <a:latin typeface="Calibri"/>
                <a:cs typeface="Calibri"/>
              </a:rPr>
              <a:t>transmitted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saved </a:t>
            </a:r>
            <a:r>
              <a:rPr sz="2200" spc="-5" dirty="0">
                <a:latin typeface="Calibri"/>
                <a:cs typeface="Calibri"/>
              </a:rPr>
              <a:t>and the </a:t>
            </a:r>
            <a:r>
              <a:rPr sz="2200" spc="-25" dirty="0">
                <a:latin typeface="Calibri"/>
                <a:cs typeface="Calibri"/>
              </a:rPr>
              <a:t>cloud’s </a:t>
            </a:r>
            <a:r>
              <a:rPr sz="2200" spc="-20" dirty="0">
                <a:latin typeface="Calibri"/>
                <a:cs typeface="Calibri"/>
              </a:rPr>
              <a:t>storage </a:t>
            </a:r>
            <a:r>
              <a:rPr sz="2200" spc="-15" dirty="0">
                <a:latin typeface="Calibri"/>
                <a:cs typeface="Calibri"/>
              </a:rPr>
              <a:t> can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efficiently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used.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928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04979"/>
            <a:ext cx="11505353" cy="405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3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general,</a:t>
            </a:r>
            <a:r>
              <a:rPr sz="2200" spc="3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3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cloud</a:t>
            </a:r>
            <a:r>
              <a:rPr sz="2200" spc="3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IoT</a:t>
            </a:r>
            <a:r>
              <a:rPr sz="2200" b="1" spc="38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systems</a:t>
            </a:r>
            <a:r>
              <a:rPr sz="2200" b="1" spc="38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with</a:t>
            </a:r>
            <a:r>
              <a:rPr sz="2200" b="1" spc="3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spc="37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fog</a:t>
            </a:r>
            <a:r>
              <a:rPr sz="2200" b="1" spc="3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often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customized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supporting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services.</a:t>
            </a:r>
          </a:p>
          <a:p>
            <a:pPr marL="355600" marR="698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 example, </a:t>
            </a:r>
            <a:r>
              <a:rPr sz="2200" spc="-5" dirty="0">
                <a:latin typeface="Calibri"/>
                <a:cs typeface="Calibri"/>
              </a:rPr>
              <a:t>in the </a:t>
            </a:r>
            <a:r>
              <a:rPr sz="2200" b="1" dirty="0">
                <a:latin typeface="Calibri"/>
                <a:cs typeface="Calibri"/>
              </a:rPr>
              <a:t>IoT </a:t>
            </a:r>
            <a:r>
              <a:rPr sz="2200" b="1" spc="-20" dirty="0">
                <a:latin typeface="Calibri"/>
                <a:cs typeface="Calibri"/>
              </a:rPr>
              <a:t>systems </a:t>
            </a:r>
            <a:r>
              <a:rPr sz="2200" b="1" spc="-10" dirty="0">
                <a:latin typeface="Calibri"/>
                <a:cs typeface="Calibri"/>
              </a:rPr>
              <a:t>without </a:t>
            </a:r>
            <a:r>
              <a:rPr sz="2200" b="1" spc="-5" dirty="0">
                <a:latin typeface="Calibri"/>
                <a:cs typeface="Calibri"/>
              </a:rPr>
              <a:t>a </a:t>
            </a:r>
            <a:r>
              <a:rPr sz="2200" b="1" spc="-10" dirty="0">
                <a:latin typeface="Calibri"/>
                <a:cs typeface="Calibri"/>
              </a:rPr>
              <a:t>fog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spc="-5" dirty="0">
                <a:latin typeface="Calibri"/>
                <a:cs typeface="Calibri"/>
              </a:rPr>
              <a:t>cloud </a:t>
            </a:r>
            <a:r>
              <a:rPr sz="2200" spc="-10" dirty="0">
                <a:latin typeface="Calibri"/>
                <a:cs typeface="Calibri"/>
              </a:rPr>
              <a:t>servers </a:t>
            </a:r>
            <a:r>
              <a:rPr sz="2200" spc="-5" dirty="0">
                <a:latin typeface="Calibri"/>
                <a:cs typeface="Calibri"/>
              </a:rPr>
              <a:t>do </a:t>
            </a:r>
            <a:r>
              <a:rPr sz="2200" spc="-10" dirty="0">
                <a:latin typeface="Calibri"/>
                <a:cs typeface="Calibri"/>
              </a:rPr>
              <a:t>not send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back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gateways.</a:t>
            </a:r>
            <a:endParaRPr sz="2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</a:t>
            </a:r>
            <a:r>
              <a:rPr sz="2200" spc="5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cases,</a:t>
            </a:r>
            <a:r>
              <a:rPr sz="2200" spc="5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cloud</a:t>
            </a:r>
            <a:r>
              <a:rPr sz="2200" spc="5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servers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simply</a:t>
            </a:r>
            <a:r>
              <a:rPr sz="2200" spc="555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transmit</a:t>
            </a:r>
            <a:r>
              <a:rPr sz="2200" b="1" spc="5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commands</a:t>
            </a:r>
            <a:r>
              <a:rPr sz="2200" b="1" spc="5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2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gateways,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forwarded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actuators.</a:t>
            </a:r>
            <a:endParaRPr sz="22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Cloud </a:t>
            </a:r>
            <a:r>
              <a:rPr sz="2200" b="1" spc="-5" dirty="0">
                <a:latin typeface="Calibri"/>
                <a:cs typeface="Calibri"/>
              </a:rPr>
              <a:t>servers in </a:t>
            </a:r>
            <a:r>
              <a:rPr sz="2200" b="1" dirty="0">
                <a:latin typeface="Calibri"/>
                <a:cs typeface="Calibri"/>
              </a:rPr>
              <a:t>IoT </a:t>
            </a:r>
            <a:r>
              <a:rPr sz="2200" b="1" spc="-20" dirty="0">
                <a:latin typeface="Calibri"/>
                <a:cs typeface="Calibri"/>
              </a:rPr>
              <a:t>systems </a:t>
            </a:r>
            <a:r>
              <a:rPr sz="2200" b="1" spc="-10" dirty="0">
                <a:latin typeface="Calibri"/>
                <a:cs typeface="Calibri"/>
              </a:rPr>
              <a:t>with </a:t>
            </a:r>
            <a:r>
              <a:rPr sz="2200" b="1" spc="-5" dirty="0">
                <a:latin typeface="Calibri"/>
                <a:cs typeface="Calibri"/>
              </a:rPr>
              <a:t>a </a:t>
            </a:r>
            <a:r>
              <a:rPr sz="2200" b="1" spc="-15" dirty="0">
                <a:latin typeface="Calibri"/>
                <a:cs typeface="Calibri"/>
              </a:rPr>
              <a:t>fog </a:t>
            </a:r>
            <a:r>
              <a:rPr sz="2200" spc="-5" dirty="0">
                <a:latin typeface="Calibri"/>
                <a:cs typeface="Calibri"/>
              </a:rPr>
              <a:t>also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transmit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data to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smart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gateways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serving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some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fog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</a:t>
            </a:r>
            <a:r>
              <a:rPr sz="2200" spc="-5" dirty="0">
                <a:latin typeface="Calibri"/>
                <a:cs typeface="Calibri"/>
              </a:rPr>
              <a:t> as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mobility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support.</a:t>
            </a:r>
            <a:endParaRPr sz="2200" dirty="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conventional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health-monitoring</a:t>
            </a:r>
            <a:r>
              <a:rPr sz="2200" b="1" dirty="0">
                <a:latin typeface="Calibri"/>
                <a:cs typeface="Calibri"/>
              </a:rPr>
              <a:t> IoT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systems</a:t>
            </a:r>
            <a:r>
              <a:rPr sz="2200" spc="-2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Web 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browsers</a:t>
            </a:r>
            <a:r>
              <a:rPr sz="2200" spc="-15" dirty="0">
                <a:latin typeface="Calibri"/>
                <a:cs typeface="Calibri"/>
              </a:rPr>
              <a:t>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mobile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applications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primary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terminals</a:t>
            </a:r>
            <a:r>
              <a:rPr sz="2200" dirty="0">
                <a:latin typeface="Calibri"/>
                <a:cs typeface="Calibri"/>
              </a:rPr>
              <a:t> 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health-monitoring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IoT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systems.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These terminals </a:t>
            </a:r>
            <a:r>
              <a:rPr sz="2200" spc="-15" dirty="0">
                <a:latin typeface="Calibri"/>
                <a:cs typeface="Calibri"/>
              </a:rPr>
              <a:t>are </a:t>
            </a:r>
            <a:r>
              <a:rPr sz="2200" spc="-10" dirty="0">
                <a:latin typeface="Calibri"/>
                <a:cs typeface="Calibri"/>
              </a:rPr>
              <a:t>often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ease-to-use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popular</a:t>
            </a:r>
            <a:r>
              <a:rPr sz="2200" spc="-5" dirty="0">
                <a:latin typeface="Calibri"/>
                <a:cs typeface="Calibri"/>
              </a:rPr>
              <a:t>, and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suitable for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most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of </a:t>
            </a:r>
            <a:r>
              <a:rPr sz="2200" b="1" spc="-48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devices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including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smart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devices</a:t>
            </a:r>
            <a:r>
              <a:rPr sz="2200" dirty="0">
                <a:latin typeface="Calibri"/>
                <a:cs typeface="Calibri"/>
              </a:rPr>
              <a:t> (e.g.,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smart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phone,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Ipad)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computers</a:t>
            </a:r>
            <a:r>
              <a:rPr sz="2200" b="1" spc="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(e.g.,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laptop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desktop).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443" y="5373218"/>
            <a:ext cx="703123" cy="10949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627" y="5373196"/>
            <a:ext cx="2304288" cy="1357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4532" y="5301185"/>
            <a:ext cx="2405539" cy="13893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95231" y="4991686"/>
            <a:ext cx="2665475" cy="17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0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357" y="204978"/>
            <a:ext cx="11505353" cy="25103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End</a:t>
            </a:r>
            <a:r>
              <a:rPr sz="2200" b="1" spc="9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users</a:t>
            </a:r>
            <a:r>
              <a:rPr sz="2200" b="1" spc="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can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access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real-time</a:t>
            </a:r>
            <a:r>
              <a:rPr sz="22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2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human-readable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forms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(e.g.,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text</a:t>
            </a:r>
            <a:endParaRPr sz="22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graphical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waveforms)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via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these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terminals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anytime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anywhere.</a:t>
            </a:r>
            <a:endParaRPr sz="2200">
              <a:latin typeface="Calibri"/>
              <a:cs typeface="Calibri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In some health-monitoring IoT </a:t>
            </a:r>
            <a:r>
              <a:rPr sz="2200" spc="-15" dirty="0">
                <a:latin typeface="Calibri"/>
                <a:cs typeface="Calibri"/>
              </a:rPr>
              <a:t>systems,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executable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programs </a:t>
            </a:r>
            <a:r>
              <a:rPr sz="2200" spc="-10" dirty="0">
                <a:latin typeface="Calibri"/>
                <a:cs typeface="Calibri"/>
              </a:rPr>
              <a:t>are used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together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other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terminals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accessing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monitored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example,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reducing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risks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from</a:t>
            </a:r>
            <a:r>
              <a:rPr sz="2200" b="1" spc="-5" dirty="0">
                <a:latin typeface="Calibri"/>
                <a:cs typeface="Calibri"/>
              </a:rPr>
              <a:t> security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attacks</a:t>
            </a:r>
            <a:r>
              <a:rPr sz="2200" spc="-15" dirty="0">
                <a:latin typeface="Calibri"/>
                <a:cs typeface="Calibri"/>
              </a:rPr>
              <a:t>,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end</a:t>
            </a:r>
            <a:r>
              <a:rPr sz="2200" spc="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users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 to </a:t>
            </a:r>
            <a:r>
              <a:rPr sz="2200" spc="-5" dirty="0">
                <a:latin typeface="Calibri"/>
                <a:cs typeface="Calibri"/>
              </a:rPr>
              <a:t>use a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virtual 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private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network </a:t>
            </a:r>
            <a:r>
              <a:rPr sz="2200" spc="-5" dirty="0">
                <a:latin typeface="Calibri"/>
                <a:cs typeface="Calibri"/>
              </a:rPr>
              <a:t>(VPN) and </a:t>
            </a:r>
            <a:r>
              <a:rPr sz="2200" b="1" spc="-5" dirty="0">
                <a:solidFill>
                  <a:srgbClr val="006FC0"/>
                </a:solidFill>
                <a:latin typeface="Calibri"/>
                <a:cs typeface="Calibri"/>
              </a:rPr>
              <a:t>virtual </a:t>
            </a:r>
            <a:r>
              <a:rPr sz="2200" b="1" spc="-10" dirty="0">
                <a:solidFill>
                  <a:srgbClr val="006FC0"/>
                </a:solidFill>
                <a:latin typeface="Calibri"/>
                <a:cs typeface="Calibri"/>
              </a:rPr>
              <a:t>platforms </a:t>
            </a:r>
            <a:r>
              <a:rPr sz="2200" spc="-10" dirty="0">
                <a:latin typeface="Calibri"/>
                <a:cs typeface="Calibri"/>
              </a:rPr>
              <a:t>in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order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use </a:t>
            </a:r>
            <a:r>
              <a:rPr sz="2200" spc="-20" dirty="0">
                <a:latin typeface="Calibri"/>
                <a:cs typeface="Calibri"/>
              </a:rPr>
              <a:t>executable </a:t>
            </a:r>
            <a:r>
              <a:rPr sz="2200" spc="-15" dirty="0">
                <a:latin typeface="Calibri"/>
                <a:cs typeface="Calibri"/>
              </a:rPr>
              <a:t>programs </a:t>
            </a:r>
            <a:r>
              <a:rPr sz="2200" spc="-10" dirty="0">
                <a:latin typeface="Calibri"/>
                <a:cs typeface="Calibri"/>
              </a:rPr>
              <a:t>installed </a:t>
            </a:r>
            <a:r>
              <a:rPr sz="2200" spc="-5" dirty="0">
                <a:latin typeface="Calibri"/>
                <a:cs typeface="Calibri"/>
              </a:rPr>
              <a:t>in the </a:t>
            </a:r>
            <a:r>
              <a:rPr sz="2200" spc="-25" dirty="0">
                <a:latin typeface="Calibri"/>
                <a:cs typeface="Calibri"/>
              </a:rPr>
              <a:t>hospital’s </a:t>
            </a:r>
            <a:r>
              <a:rPr sz="2200" spc="-20" dirty="0">
                <a:latin typeface="Calibri"/>
                <a:cs typeface="Calibri"/>
              </a:rPr>
              <a:t>system for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accessing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patient’s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264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C381-E7FB-9C05-5408-0522CA610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Smart Surveillance Video Stream</a:t>
            </a:r>
            <a:br>
              <a:rPr lang="en-US" b="1" dirty="0"/>
            </a:br>
            <a:r>
              <a:rPr lang="en-US" b="1" dirty="0"/>
              <a:t>Processing at the Edge for Real - Time Human Objects Tracking</a:t>
            </a:r>
            <a:endParaRPr lang="en-IN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4D9E302-791B-2EF9-EEA3-160CF9FE1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087" y="3429000"/>
            <a:ext cx="349782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13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BBA0-279F-9C53-FCEA-D14579FB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Edge Computing?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92D88-8CCB-8373-B7CD-87DFEA6F9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Edge computing</a:t>
            </a:r>
            <a:r>
              <a:rPr lang="en-US" dirty="0"/>
              <a:t> refers to the practice of processing data near the edge of the network, where the data is generated, rather than in a centralized data-processing warehouse.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approach reduces latency, conserves bandwidth, and improves response times, making it ideal for real-time applications like surveillance.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354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AC03-5DAF-C8EB-9A97-E2F285BC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Smart Surveillance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8CB0-5907-59CA-9F21-B9E684258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Smart surveillance</a:t>
            </a:r>
            <a:r>
              <a:rPr lang="en-US" dirty="0"/>
              <a:t> systems use advanced technologies such as machine learning, artificial intelligence, and computer vision to analyze video streams in real-time. </a:t>
            </a:r>
          </a:p>
          <a:p>
            <a:pPr algn="just"/>
            <a:r>
              <a:rPr lang="en-US" dirty="0"/>
              <a:t>These systems can detect, track, and analyze human objects, providing valuable insights for security, crowd management, and other applications.</a:t>
            </a:r>
          </a:p>
          <a:p>
            <a:pPr algn="just"/>
            <a:endParaRPr lang="en-IN" dirty="0"/>
          </a:p>
        </p:txBody>
      </p:sp>
      <p:pic>
        <p:nvPicPr>
          <p:cNvPr id="2050" name="Picture 2" descr="Smart City Surveillance System with AI Video Analytics">
            <a:extLst>
              <a:ext uri="{FF2B5EF4-FFF2-40B4-BE49-F238E27FC236}">
                <a16:creationId xmlns:a16="http://schemas.microsoft.com/office/drawing/2014/main" id="{27D40AA0-1C0B-DF88-1E83-398F8145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316" y="3770211"/>
            <a:ext cx="4024466" cy="299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015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C21B-605F-6AEC-F811-146DAD3B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Real-Time Human Objects Tracking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0293-7234-81AB-2411-C88B563D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1" dirty="0"/>
              <a:t>Real-time human objects tracking</a:t>
            </a:r>
            <a:r>
              <a:rPr lang="en-US" sz="3600" dirty="0"/>
              <a:t> involves detecting and following human figures within a video stream as they move. </a:t>
            </a:r>
          </a:p>
          <a:p>
            <a:pPr algn="just"/>
            <a:r>
              <a:rPr lang="en-US" sz="3600" dirty="0"/>
              <a:t>This is crucial for applications like security monitoring, traffic management, and automated systems in smart cities.</a:t>
            </a:r>
          </a:p>
          <a:p>
            <a:pPr algn="just"/>
            <a:endParaRPr lang="en-IN" sz="3600" dirty="0"/>
          </a:p>
        </p:txBody>
      </p:sp>
      <p:pic>
        <p:nvPicPr>
          <p:cNvPr id="1026" name="Picture 2" descr="Real-Time Object Detection using SlimYOLOv3 - A Detailed Introduction">
            <a:extLst>
              <a:ext uri="{FF2B5EF4-FFF2-40B4-BE49-F238E27FC236}">
                <a16:creationId xmlns:a16="http://schemas.microsoft.com/office/drawing/2014/main" id="{7167058D-08E5-7CC4-3EFC-265BAE231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952500"/>
            <a:ext cx="97155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C8CB-B103-99E3-BCAF-0807A338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ED61-94D6-9D3A-5160-195A52DF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4FF7B-EE19-8C61-63A4-4312F7AC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1" y="365125"/>
            <a:ext cx="7422111" cy="57112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E81573-5979-B6F4-0A95-3F190C971027}"/>
              </a:ext>
            </a:extLst>
          </p:cNvPr>
          <p:cNvSpPr txBox="1"/>
          <p:nvPr/>
        </p:nvSpPr>
        <p:spPr>
          <a:xfrm>
            <a:off x="8260311" y="2123307"/>
            <a:ext cx="286240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This diagram demonstrates how video data flows from cameras through preprocessing, human detection, and tracking stages, and finally to analysis, alert generation, and storage, with edge devices playing a crucial role in processing.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96186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20EB-ED87-F421-67BE-13F79D28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Components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2FA0-C770-C6D8-E79B-71919939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Video Data Acquisition</a:t>
            </a:r>
            <a:r>
              <a:rPr lang="en-US" dirty="0"/>
              <a:t>: Cameras and sensors capture video data.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Data Preprocessing</a:t>
            </a:r>
            <a:r>
              <a:rPr lang="en-US" dirty="0"/>
              <a:t>: Initial processing to enhance video quality and reduce noise.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Human Detection</a:t>
            </a:r>
            <a:r>
              <a:rPr lang="en-US" dirty="0"/>
              <a:t>: Algorithms like Histogram of Oriented Gradients (HOG) and Support Vector Machines (SVM) are used to detect human figures.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Object Tracking</a:t>
            </a:r>
            <a:r>
              <a:rPr lang="en-US" dirty="0"/>
              <a:t>: Techniques like Kernelized Correlation Filters (KCF) track the detected objects over time.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Edge Processing</a:t>
            </a:r>
            <a:r>
              <a:rPr lang="en-US" dirty="0"/>
              <a:t>: All these steps are performed at the edge of the network, close to the data source, to ensure real-time processing.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154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BE1D-D083-339A-4DBB-10B3D1F1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Video Data Acquisition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FE1D4-26C0-C184-67BD-C1AFF6E0D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2400" b="1" dirty="0"/>
              <a:t>Types of Cameras and Sensors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Traditional CCTV Cameras</a:t>
            </a:r>
            <a:r>
              <a:rPr lang="en-US" sz="2400" dirty="0"/>
              <a:t>: These are the standard cameras used in many surveillance systems. They provide continuous video feeds but often lack advanced processing capabilities.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IP Cameras</a:t>
            </a:r>
            <a:r>
              <a:rPr lang="en-US" sz="2400" dirty="0"/>
              <a:t>: Internet Protocol (IP) cameras offer higher resolution and can be easily integrated into networked systems. They allow for remote access and control.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Thermal Cameras</a:t>
            </a:r>
            <a:r>
              <a:rPr lang="en-US" sz="2400" dirty="0"/>
              <a:t>: These cameras capture infrared radiation, which is useful for detecting heat signatures, especially in low-light or nighttime conditions.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Smart Cameras</a:t>
            </a:r>
            <a:r>
              <a:rPr lang="en-US" sz="2400" dirty="0"/>
              <a:t>: Equipped with built-in processors and memory, smart cameras can perform edge processing, reducing the need to send all data to a central server.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Multispectral Cameras</a:t>
            </a:r>
            <a:r>
              <a:rPr lang="en-US" dirty="0"/>
              <a:t>: These capture information across different wavelengths, such as visible light and infrared, providing more detailed and comprehensive data.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LIDAR Sensors</a:t>
            </a:r>
            <a:r>
              <a:rPr lang="en-US" sz="2400" dirty="0"/>
              <a:t>: Light Detection and Ranging (LIDAR) sensors use laser pulses to create high-resolution maps of the environment, which can be useful in tracking movement and identifying objects.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68718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A8D0-B836-4B06-DC83-978AAD8C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Acquisition Process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06C17-5C91-1493-1E6B-376B4914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Image Capture</a:t>
            </a:r>
            <a:r>
              <a:rPr lang="en-US" dirty="0"/>
              <a:t>: The cameras and sensors continuously capture frames of video data.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Preprocessing</a:t>
            </a:r>
            <a:r>
              <a:rPr lang="en-US" dirty="0"/>
              <a:t>: This step involves enhancing the video quality, such as adjusting brightness, contrast, and reducing noise. It may also include converting the raw data into a standard format.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Compression</a:t>
            </a:r>
            <a:r>
              <a:rPr lang="en-US" dirty="0"/>
              <a:t>: To manage bandwidth and storage, the video data is often compressed using codecs like H.264 or H.265.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Transmission</a:t>
            </a:r>
            <a:r>
              <a:rPr lang="en-US" dirty="0"/>
              <a:t>: The captured video is transmitted to storage devices or edge processors over wired or wireless networks. IP cameras, for example, transmit data over Ethernet or Wi-Fi.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Storage</a:t>
            </a:r>
            <a:r>
              <a:rPr lang="en-US" dirty="0"/>
              <a:t>: Video data is stored on local storage devices or network-attached storage (NAS) systems. In edge computing, data can also be temporarily stored on the edge devices themselves.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402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AAAF-FF7C-D26F-A94B-27E20DCD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773E-2E25-A798-DB82-2CACB3DC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Data Preprocessing</a:t>
            </a:r>
            <a:r>
              <a:rPr lang="en-US" dirty="0"/>
              <a:t> involves enhancing video quality and reducing noise before further analysis.</a:t>
            </a:r>
          </a:p>
          <a:p>
            <a:pPr algn="just"/>
            <a:r>
              <a:rPr lang="en-US" dirty="0"/>
              <a:t> This step is crucial for ensuring that the subsequent processes like human detection and object tracking are accurate and efficient.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405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D1CF-1EDB-78FA-DA60-9DD2CEA4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CDBFC2-1788-C694-5482-B02EB2527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441" y="1848343"/>
            <a:ext cx="8183117" cy="4305901"/>
          </a:xfrm>
        </p:spPr>
      </p:pic>
    </p:spTree>
    <p:extLst>
      <p:ext uri="{BB962C8B-B14F-4D97-AF65-F5344CB8AC3E}">
        <p14:creationId xmlns:p14="http://schemas.microsoft.com/office/powerpoint/2010/main" val="2905167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0BC3-6AAB-6162-F1CF-73DB7664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Human Detection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F10A0-0774-CE4E-FA99-C3223A44A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Human Detection</a:t>
            </a:r>
            <a:r>
              <a:rPr lang="en-US" dirty="0"/>
              <a:t> involves identifying human figures within video frames. Two common algorithms used for this purpose are: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Histogram of Oriented Gradients (HOG)</a:t>
            </a:r>
            <a:endParaRPr lang="en-US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Description</a:t>
            </a:r>
            <a:r>
              <a:rPr lang="en-US" dirty="0"/>
              <a:t>: HOG is a feature descriptor used to detect objects by analyzing the gradients in an image.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Process</a:t>
            </a:r>
            <a:r>
              <a:rPr lang="en-US" dirty="0"/>
              <a:t>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US" dirty="0"/>
              <a:t>Compute gradients in the image to detect edges and corners.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US" dirty="0"/>
              <a:t>Create a histogram of these gradients.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US" dirty="0"/>
              <a:t>Use this histogram as a feature vector for detecting objects.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Advantages</a:t>
            </a:r>
            <a:r>
              <a:rPr lang="en-US" dirty="0"/>
              <a:t>: Effective for detecting humans in various poses and appearances.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Support Vector Machines (SVM)</a:t>
            </a:r>
            <a:endParaRPr lang="en-US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Description</a:t>
            </a:r>
            <a:r>
              <a:rPr lang="en-US" dirty="0"/>
              <a:t>: SVM is a supervised learning model used for classification.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Process</a:t>
            </a:r>
            <a:r>
              <a:rPr lang="en-US" dirty="0"/>
              <a:t>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US" dirty="0"/>
              <a:t>Use feature vectors (like HOG descriptors) to train the SVM classifier.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US" dirty="0"/>
              <a:t>The classifier learns to differentiate between human and non-human objects.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1" dirty="0"/>
              <a:t>Advantages</a:t>
            </a:r>
            <a:r>
              <a:rPr lang="en-US" dirty="0"/>
              <a:t>: Highly accurate in distinguishing between different classes.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001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B3AB-7D74-915C-0E6C-49FD8BB7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 Tracking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9D19-398D-91E2-4888-7855ACD6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 Tracking</a:t>
            </a:r>
            <a:r>
              <a:rPr lang="en-US" dirty="0"/>
              <a:t> involves following the detected human objects as they move across video frames. One popular technique is: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Kernelized Correlation Filters (KCF)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Description</a:t>
            </a:r>
            <a:r>
              <a:rPr lang="en-US" dirty="0"/>
              <a:t>: KCF is a tracking algorithm that uses correlation filters.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Process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Initialize the tracker with the object's position in the first frame.</a:t>
            </a:r>
          </a:p>
          <a:p>
            <a:pPr lvl="2"/>
            <a:r>
              <a:rPr lang="en-US" dirty="0"/>
              <a:t>In subsequent frames, use correlation filters to find the object's new position.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Advantages</a:t>
            </a:r>
            <a:r>
              <a:rPr lang="en-US" dirty="0"/>
              <a:t>: Fast and efficient, suitable for real-time tracking.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97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7431-4B8D-5238-35AB-0E5BCC89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6344-74C3-F7EF-DDE3-3CD27D924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Edge Devices: These are devices located close to the data sources (e.g., cameras, sensors) that perform local processing. Examples include smart cameras, edge servers, and IoT devices.</a:t>
            </a:r>
          </a:p>
          <a:p>
            <a:pPr algn="just"/>
            <a:r>
              <a:rPr lang="en-US" dirty="0"/>
              <a:t>Edge Gateways: Gateways connect edge devices to the network and often provide additional processing power. They can also perform data aggregation and filtering before sending data to the cloud or central servers.</a:t>
            </a:r>
          </a:p>
        </p:txBody>
      </p:sp>
    </p:spTree>
    <p:extLst>
      <p:ext uri="{BB962C8B-B14F-4D97-AF65-F5344CB8AC3E}">
        <p14:creationId xmlns:p14="http://schemas.microsoft.com/office/powerpoint/2010/main" val="1466658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BBE7-A71B-25B4-3ED6-348B1F6E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4562-6243-E445-DCAD-0E03CC742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Local Storage: Edge devices often have storage capabilities to temporarily hold data. This reduces the need for constant data transmission to central servers, conserving bandwidth and improving efficiency.</a:t>
            </a:r>
          </a:p>
          <a:p>
            <a:pPr algn="just"/>
            <a:r>
              <a:rPr lang="en-US" dirty="0"/>
              <a:t>Processing Algorithms: Algorithms for data preprocessing, human detection, and object tracking are executed on the edge devices. This ensures real-time analysis and decision-making.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972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97CA-EB29-A73C-8010-C7822714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61AF8-EF0E-519E-F8EE-4F32369D6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Reduced Latency</a:t>
            </a:r>
            <a:r>
              <a:rPr lang="en-US" dirty="0"/>
              <a:t>: Processing data locally minimizes delays.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Bandwidth Conservation</a:t>
            </a:r>
            <a:r>
              <a:rPr lang="en-US" dirty="0"/>
              <a:t>: Less data needs to be transmitted to the cloud.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Enhanced Privacy</a:t>
            </a:r>
            <a:r>
              <a:rPr lang="en-US" dirty="0"/>
              <a:t>: Sensitive data can be processed locally without being sent to remote servers.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Edge devices can be added as needed without overloading the network.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243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B59C-FD79-BD73-9144-671D22A8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AA726-03D1-466E-ED56-F69E10171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Security</a:t>
            </a:r>
            <a:r>
              <a:rPr lang="en-US" dirty="0"/>
              <a:t>: Real-time monitoring of public spaces, airports, and other sensitive areas.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Traffic Management</a:t>
            </a:r>
            <a:r>
              <a:rPr lang="en-US" dirty="0"/>
              <a:t>: Analyzing pedestrian and vehicle flow in urban areas.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Smart Cities</a:t>
            </a:r>
            <a:r>
              <a:rPr lang="en-US" dirty="0"/>
              <a:t>: Enhancing public safety and urban planning through intelligent surveillance.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006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38EB-E7F0-9004-270A-7B2C4002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1B48-ED11-13DE-CBDD-D4FC3546F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Data is captured and preprocessed at the edge.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Human figures are detected and tracked in real-time.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Local analysis and storage occur on edge devices.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Relevant data and alerts are transmitted to the cloud for further analysis or long-term storage.</a:t>
            </a:r>
          </a:p>
          <a:p>
            <a:pPr algn="just"/>
            <a:r>
              <a:rPr lang="en-US" dirty="0"/>
              <a:t>Edge processing is a powerful approach that enhances the efficiency, speed, and security of data-intensive applications. By leveraging edge computing, smart surveillance systems can deliver real-time insights and actions, making them indispensable for modern security and monitoring solutions.</a:t>
            </a:r>
          </a:p>
          <a:p>
            <a:pPr algn="just"/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6512F13-9F06-085C-D668-C045335DC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316" y="0"/>
            <a:ext cx="3271684" cy="327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13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CD799-25D9-0375-7B9E-11D057A9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15700" b="1" dirty="0"/>
          </a:p>
          <a:p>
            <a:pPr marL="0" indent="0">
              <a:buNone/>
            </a:pPr>
            <a:r>
              <a:rPr lang="en-IN" sz="15700" b="1" dirty="0"/>
              <a:t> </a:t>
            </a:r>
            <a:r>
              <a:rPr lang="en-IN" sz="9600" dirty="0">
                <a:hlinkClick r:id="rId2"/>
              </a:rPr>
              <a:t>https://www.youtube.com/watch?v=3uo1T8PYyQc</a:t>
            </a:r>
            <a:endParaRPr lang="en-IN" sz="9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96797-D192-AB89-B8E8-8C584270C84F}"/>
              </a:ext>
            </a:extLst>
          </p:cNvPr>
          <p:cNvSpPr txBox="1"/>
          <p:nvPr/>
        </p:nvSpPr>
        <p:spPr>
          <a:xfrm>
            <a:off x="11161986" y="-6306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874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2871</Words>
  <Application>Microsoft Macintosh PowerPoint</Application>
  <PresentationFormat>Widescreen</PresentationFormat>
  <Paragraphs>216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Arial MT</vt:lpstr>
      <vt:lpstr>Calibri</vt:lpstr>
      <vt:lpstr>Calibri Light</vt:lpstr>
      <vt:lpstr>Office Theme</vt:lpstr>
      <vt:lpstr>FUNDAMENTALS OF FOG AND EDGE COMPUTING</vt:lpstr>
      <vt:lpstr>EXPLOITING FOG COMPUTING IN HEALTH MONITORING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Smart Surveillance Video Stream Processing at the Edge for Real - Time Human Objects Tracking</vt:lpstr>
      <vt:lpstr>What is Edge Computing? </vt:lpstr>
      <vt:lpstr>Smart Surveillance </vt:lpstr>
      <vt:lpstr>Real-Time Human Objects Tracking </vt:lpstr>
      <vt:lpstr>PowerPoint Presentation</vt:lpstr>
      <vt:lpstr>Key Components </vt:lpstr>
      <vt:lpstr>Video Data Acquisition</vt:lpstr>
      <vt:lpstr>Data Acquisition Process </vt:lpstr>
      <vt:lpstr>Data Preprocessing</vt:lpstr>
      <vt:lpstr>PowerPoint Presentation</vt:lpstr>
      <vt:lpstr>Human Detection </vt:lpstr>
      <vt:lpstr>Object Tracking </vt:lpstr>
      <vt:lpstr>Edge Processing</vt:lpstr>
      <vt:lpstr>PowerPoint Presentation</vt:lpstr>
      <vt:lpstr>Benefits </vt:lpstr>
      <vt:lpstr>Applications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Surveillance Video Stream Processing at the Edge for Real - Time Human Objects Tracking</dc:title>
  <dc:creator>MUCHENEDI HARI KISHOR</dc:creator>
  <cp:lastModifiedBy>Apoorva Karnwal</cp:lastModifiedBy>
  <cp:revision>7</cp:revision>
  <dcterms:created xsi:type="dcterms:W3CDTF">2024-11-07T15:29:50Z</dcterms:created>
  <dcterms:modified xsi:type="dcterms:W3CDTF">2025-05-06T03:33:30Z</dcterms:modified>
</cp:coreProperties>
</file>