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713" r:id="rId2"/>
    <p:sldId id="751" r:id="rId3"/>
    <p:sldId id="729" r:id="rId4"/>
    <p:sldId id="752" r:id="rId5"/>
    <p:sldId id="753" r:id="rId6"/>
    <p:sldId id="754" r:id="rId7"/>
    <p:sldId id="755" r:id="rId8"/>
    <p:sldId id="756" r:id="rId9"/>
    <p:sldId id="757" r:id="rId10"/>
    <p:sldId id="758" r:id="rId11"/>
    <p:sldId id="759" r:id="rId12"/>
    <p:sldId id="760" r:id="rId13"/>
    <p:sldId id="761" r:id="rId14"/>
    <p:sldId id="762" r:id="rId15"/>
    <p:sldId id="763" r:id="rId16"/>
    <p:sldId id="764" r:id="rId17"/>
    <p:sldId id="765" r:id="rId18"/>
    <p:sldId id="766" r:id="rId19"/>
    <p:sldId id="767" r:id="rId20"/>
    <p:sldId id="768" r:id="rId21"/>
    <p:sldId id="769" r:id="rId22"/>
    <p:sldId id="770" r:id="rId23"/>
    <p:sldId id="771" r:id="rId24"/>
    <p:sldId id="772" r:id="rId25"/>
    <p:sldId id="773" r:id="rId26"/>
    <p:sldId id="780" r:id="rId27"/>
    <p:sldId id="774" r:id="rId28"/>
    <p:sldId id="775" r:id="rId29"/>
    <p:sldId id="781" r:id="rId30"/>
    <p:sldId id="776" r:id="rId31"/>
    <p:sldId id="777" r:id="rId32"/>
    <p:sldId id="782" r:id="rId33"/>
    <p:sldId id="77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0000FF"/>
    <a:srgbClr val="FF00FF"/>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17" autoAdjust="0"/>
    <p:restoredTop sz="94353" autoAdjust="0"/>
  </p:normalViewPr>
  <p:slideViewPr>
    <p:cSldViewPr snapToGrid="0">
      <p:cViewPr>
        <p:scale>
          <a:sx n="77" d="100"/>
          <a:sy n="77" d="100"/>
        </p:scale>
        <p:origin x="-414" y="6"/>
      </p:cViewPr>
      <p:guideLst>
        <p:guide orient="horz" pos="2160"/>
        <p:guide pos="3840"/>
      </p:guideLst>
    </p:cSldViewPr>
  </p:slideViewPr>
  <p:outlineViewPr>
    <p:cViewPr>
      <p:scale>
        <a:sx n="33" d="100"/>
        <a:sy n="33" d="100"/>
      </p:scale>
      <p:origin x="0" y="-9246"/>
    </p:cViewPr>
  </p:outlineViewPr>
  <p:notesTextViewPr>
    <p:cViewPr>
      <p:scale>
        <a:sx n="3" d="2"/>
        <a:sy n="3" d="2"/>
      </p:scale>
      <p:origin x="0" y="0"/>
    </p:cViewPr>
  </p:notesTextViewPr>
  <p:sorterViewPr>
    <p:cViewPr>
      <p:scale>
        <a:sx n="100" d="100"/>
        <a:sy n="100" d="100"/>
      </p:scale>
      <p:origin x="0" y="-101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7C78F4-9D5A-4E7B-8894-0F2149915370}" type="datetimeFigureOut">
              <a:rPr lang="en-IN" smtClean="0"/>
              <a:t>16-04-2025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99B07D-717D-4E39-813B-AD1267CF1087}" type="slidenum">
              <a:rPr lang="en-IN" smtClean="0"/>
              <a:t>‹#›</a:t>
            </a:fld>
            <a:endParaRPr lang="en-IN"/>
          </a:p>
        </p:txBody>
      </p:sp>
    </p:spTree>
    <p:extLst>
      <p:ext uri="{BB962C8B-B14F-4D97-AF65-F5344CB8AC3E}">
        <p14:creationId xmlns:p14="http://schemas.microsoft.com/office/powerpoint/2010/main" val="1630109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B99B07D-717D-4E39-813B-AD1267CF1087}" type="slidenum">
              <a:rPr lang="en-IN" smtClean="0"/>
              <a:t>1</a:t>
            </a:fld>
            <a:endParaRPr lang="en-IN"/>
          </a:p>
        </p:txBody>
      </p:sp>
    </p:spTree>
    <p:extLst>
      <p:ext uri="{BB962C8B-B14F-4D97-AF65-F5344CB8AC3E}">
        <p14:creationId xmlns:p14="http://schemas.microsoft.com/office/powerpoint/2010/main" val="24469631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4B31949-706A-430F-87C4-53D17726DA2C}" type="datetime1">
              <a:rPr lang="en-IN" smtClean="0"/>
              <a:t>16-04-2025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3394254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255DA5-4711-4DE5-AD5B-55E9DD438A3D}" type="datetime1">
              <a:rPr lang="en-IN" smtClean="0"/>
              <a:t>16-04-2025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3385113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322C6AC-4CB8-43F4-B168-FC31AC739BB0}" type="datetime1">
              <a:rPr lang="en-IN" smtClean="0"/>
              <a:t>16-04-2025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3882023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1979939-41F9-4DC5-BDE5-9FCCEF10684E}" type="datetime1">
              <a:rPr lang="en-IN" smtClean="0"/>
              <a:t>16-04-2025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367017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B595FAC-93E4-4B8A-8750-CCA678BC9C2F}" type="datetime1">
              <a:rPr lang="en-IN" smtClean="0"/>
              <a:t>16-04-2025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2323688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598AE26-E085-421E-B2BE-E35F7FE14FA1}" type="datetime1">
              <a:rPr lang="en-IN" smtClean="0"/>
              <a:t>16-04-2025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4127818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2E3628-B2F2-4CBD-BE8A-64F0D0A46994}" type="datetime1">
              <a:rPr lang="en-IN" smtClean="0"/>
              <a:t>16-04-2025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276018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A7BB015-B8C6-457D-B902-7DB44231438D}" type="datetime1">
              <a:rPr lang="en-IN" smtClean="0"/>
              <a:t>16-04-2025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2573458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034ED65-AB5F-44AF-8D42-71557A758011}" type="datetime1">
              <a:rPr lang="en-IN" smtClean="0"/>
              <a:t>16-04-2025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4265866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69DED4B-9960-44B5-8C42-9160DD384C6B}" type="datetime1">
              <a:rPr lang="en-IN" smtClean="0"/>
              <a:t>16-04-2025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3005572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1A18404-D63A-4502-A490-AA0FA7A20986}" type="datetime1">
              <a:rPr lang="en-IN" smtClean="0"/>
              <a:t>16-04-2025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8CFCD6-D300-4021-B6CE-498726932892}" type="slidenum">
              <a:rPr lang="en-IN" smtClean="0"/>
              <a:t>‹#›</a:t>
            </a:fld>
            <a:endParaRPr lang="en-IN"/>
          </a:p>
        </p:txBody>
      </p:sp>
    </p:spTree>
    <p:extLst>
      <p:ext uri="{BB962C8B-B14F-4D97-AF65-F5344CB8AC3E}">
        <p14:creationId xmlns:p14="http://schemas.microsoft.com/office/powerpoint/2010/main" val="3579860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Palatino Linotype" panose="02040502050505030304" pitchFamily="18" charset="0"/>
              </a:defRPr>
            </a:lvl1pPr>
          </a:lstStyle>
          <a:p>
            <a:fld id="{87B4E4D7-857D-48F3-80B8-6632CC0BCD4D}" type="datetime1">
              <a:rPr lang="en-IN" smtClean="0"/>
              <a:t>16-04-2025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Palatino Linotype" panose="02040502050505030304" pitchFamily="18" charset="0"/>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Palatino Linotype" panose="02040502050505030304" pitchFamily="18" charset="0"/>
              </a:defRPr>
            </a:lvl1pPr>
          </a:lstStyle>
          <a:p>
            <a:fld id="{9C8CFCD6-D300-4021-B6CE-498726932892}" type="slidenum">
              <a:rPr lang="en-IN" smtClean="0"/>
              <a:pPr/>
              <a:t>‹#›</a:t>
            </a:fld>
            <a:endParaRPr lang="en-IN"/>
          </a:p>
        </p:txBody>
      </p:sp>
    </p:spTree>
    <p:extLst>
      <p:ext uri="{BB962C8B-B14F-4D97-AF65-F5344CB8AC3E}">
        <p14:creationId xmlns:p14="http://schemas.microsoft.com/office/powerpoint/2010/main" val="42865786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p:titleStyle>
    <p:body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48928" y="549195"/>
            <a:ext cx="10294144" cy="987297"/>
          </a:xfrm>
        </p:spPr>
        <p:txBody>
          <a:bodyPr>
            <a:normAutofit/>
          </a:bodyPr>
          <a:lstStyle/>
          <a:p>
            <a:pPr>
              <a:lnSpc>
                <a:spcPct val="150000"/>
              </a:lnSpc>
              <a:spcBef>
                <a:spcPts val="0"/>
              </a:spcBef>
            </a:pPr>
            <a:r>
              <a:rPr lang="en-IN" sz="3200" dirty="0">
                <a:solidFill>
                  <a:srgbClr val="000099"/>
                </a:solidFill>
              </a:rPr>
              <a:t>BCSE309L - Cryptography and Network Security</a:t>
            </a:r>
          </a:p>
        </p:txBody>
      </p:sp>
      <p:sp>
        <p:nvSpPr>
          <p:cNvPr id="5" name="TextBox 4">
            <a:extLst>
              <a:ext uri="{FF2B5EF4-FFF2-40B4-BE49-F238E27FC236}">
                <a16:creationId xmlns:a16="http://schemas.microsoft.com/office/drawing/2014/main" xmlns="" id="{2FFC9748-0C84-0B4C-A5F1-B3B0AA09EEE5}"/>
              </a:ext>
            </a:extLst>
          </p:cNvPr>
          <p:cNvSpPr txBox="1"/>
          <p:nvPr/>
        </p:nvSpPr>
        <p:spPr>
          <a:xfrm>
            <a:off x="777914" y="1866708"/>
            <a:ext cx="10755442" cy="707886"/>
          </a:xfrm>
          <a:prstGeom prst="rect">
            <a:avLst/>
          </a:prstGeom>
          <a:noFill/>
        </p:spPr>
        <p:txBody>
          <a:bodyPr wrap="square">
            <a:spAutoFit/>
          </a:bodyPr>
          <a:lstStyle/>
          <a:p>
            <a:pPr algn="ctr"/>
            <a:r>
              <a:rPr lang="en-IN" sz="4000" b="1" dirty="0">
                <a:solidFill>
                  <a:srgbClr val="C00000"/>
                </a:solidFill>
                <a:latin typeface="Palatino Linotype" panose="02040502050505030304" pitchFamily="18" charset="0"/>
              </a:rPr>
              <a:t>Module 6 - </a:t>
            </a:r>
            <a:r>
              <a:rPr lang="en-US" sz="4000" b="1" dirty="0">
                <a:solidFill>
                  <a:srgbClr val="C00000"/>
                </a:solidFill>
                <a:latin typeface="Palatino Linotype" panose="02040502050505030304" pitchFamily="18" charset="0"/>
              </a:rPr>
              <a:t>IP Security</a:t>
            </a:r>
            <a:endParaRPr lang="en-IN" sz="4000" b="1" dirty="0">
              <a:solidFill>
                <a:srgbClr val="C00000"/>
              </a:solidFill>
              <a:latin typeface="Palatino Linotype" panose="02040502050505030304" pitchFamily="18" charset="0"/>
            </a:endParaRPr>
          </a:p>
        </p:txBody>
      </p:sp>
      <p:pic>
        <p:nvPicPr>
          <p:cNvPr id="2" name="Picture 1">
            <a:extLst>
              <a:ext uri="{FF2B5EF4-FFF2-40B4-BE49-F238E27FC236}">
                <a16:creationId xmlns:a16="http://schemas.microsoft.com/office/drawing/2014/main" xmlns="" id="{AD94987A-7776-3B5D-29BA-A26C026C1F5D}"/>
              </a:ext>
            </a:extLst>
          </p:cNvPr>
          <p:cNvPicPr>
            <a:picLocks noChangeAspect="1"/>
          </p:cNvPicPr>
          <p:nvPr/>
        </p:nvPicPr>
        <p:blipFill>
          <a:blip r:embed="rId3"/>
          <a:stretch>
            <a:fillRect/>
          </a:stretch>
        </p:blipFill>
        <p:spPr>
          <a:xfrm>
            <a:off x="3366183" y="3134663"/>
            <a:ext cx="4916245" cy="2897878"/>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1069990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070137B3-99E5-AB7D-8DDF-40A6F2AFE7F5}"/>
              </a:ext>
            </a:extLst>
          </p:cNvPr>
          <p:cNvSpPr>
            <a:spLocks noGrp="1"/>
          </p:cNvSpPr>
          <p:nvPr>
            <p:ph type="title"/>
          </p:nvPr>
        </p:nvSpPr>
        <p:spPr>
          <a:xfrm>
            <a:off x="838200" y="74951"/>
            <a:ext cx="10515600" cy="1325563"/>
          </a:xfrm>
        </p:spPr>
        <p:txBody>
          <a:bodyPr/>
          <a:lstStyle/>
          <a:p>
            <a:r>
              <a:rPr lang="en-IN" dirty="0"/>
              <a:t>IP Security </a:t>
            </a:r>
          </a:p>
        </p:txBody>
      </p:sp>
      <p:sp>
        <p:nvSpPr>
          <p:cNvPr id="5" name="Content Placeholder 4">
            <a:extLst>
              <a:ext uri="{FF2B5EF4-FFF2-40B4-BE49-F238E27FC236}">
                <a16:creationId xmlns:a16="http://schemas.microsoft.com/office/drawing/2014/main" xmlns="" id="{8A777FA4-6F87-07E9-469B-7B62A47322AA}"/>
              </a:ext>
            </a:extLst>
          </p:cNvPr>
          <p:cNvSpPr>
            <a:spLocks noGrp="1"/>
          </p:cNvSpPr>
          <p:nvPr>
            <p:ph idx="1"/>
          </p:nvPr>
        </p:nvSpPr>
        <p:spPr>
          <a:xfrm>
            <a:off x="668936" y="1285462"/>
            <a:ext cx="11039360" cy="5346620"/>
          </a:xfrm>
        </p:spPr>
        <p:txBody>
          <a:bodyPr>
            <a:normAutofit/>
          </a:bodyPr>
          <a:lstStyle/>
          <a:p>
            <a:pPr>
              <a:lnSpc>
                <a:spcPct val="100000"/>
              </a:lnSpc>
              <a:spcBef>
                <a:spcPts val="0"/>
              </a:spcBef>
            </a:pPr>
            <a:r>
              <a:rPr lang="en-US" dirty="0"/>
              <a:t>By implementing security at the IP level, an organization can </a:t>
            </a:r>
            <a:r>
              <a:rPr lang="en-US" dirty="0">
                <a:solidFill>
                  <a:srgbClr val="000099"/>
                </a:solidFill>
              </a:rPr>
              <a:t>ensure secure networking </a:t>
            </a:r>
            <a:r>
              <a:rPr lang="en-US" dirty="0"/>
              <a:t>not only for applications that have security mechanisms but also for the many security-ignorant applications</a:t>
            </a:r>
          </a:p>
          <a:p>
            <a:pPr>
              <a:lnSpc>
                <a:spcPct val="100000"/>
              </a:lnSpc>
              <a:spcBef>
                <a:spcPts val="0"/>
              </a:spcBef>
            </a:pPr>
            <a:r>
              <a:rPr lang="en-US" dirty="0"/>
              <a:t>IP-level security encompasses </a:t>
            </a:r>
            <a:r>
              <a:rPr lang="en-US" b="1" dirty="0"/>
              <a:t>three functional areas</a:t>
            </a:r>
            <a:r>
              <a:rPr lang="en-US" dirty="0"/>
              <a:t>:</a:t>
            </a:r>
          </a:p>
          <a:p>
            <a:pPr marL="971550" lvl="1" indent="-514350">
              <a:lnSpc>
                <a:spcPct val="100000"/>
              </a:lnSpc>
              <a:spcBef>
                <a:spcPts val="0"/>
              </a:spcBef>
              <a:buFont typeface="+mj-lt"/>
              <a:buAutoNum type="arabicPeriod"/>
            </a:pPr>
            <a:r>
              <a:rPr lang="en-US" dirty="0"/>
              <a:t>The </a:t>
            </a:r>
            <a:r>
              <a:rPr lang="en-US" b="1" dirty="0">
                <a:solidFill>
                  <a:srgbClr val="FF0000"/>
                </a:solidFill>
              </a:rPr>
              <a:t>authentication</a:t>
            </a:r>
            <a:r>
              <a:rPr lang="en-US" dirty="0"/>
              <a:t> mechanism assures that a received packet was, in fact, transmitted by the party identified as the source in the packet header. In addition, this mechanism </a:t>
            </a:r>
            <a:r>
              <a:rPr lang="en-US" dirty="0">
                <a:solidFill>
                  <a:srgbClr val="000099"/>
                </a:solidFill>
              </a:rPr>
              <a:t>assures that the packet has not been altered in transit</a:t>
            </a:r>
          </a:p>
          <a:p>
            <a:pPr marL="971550" lvl="1" indent="-514350">
              <a:lnSpc>
                <a:spcPct val="100000"/>
              </a:lnSpc>
              <a:spcBef>
                <a:spcPts val="0"/>
              </a:spcBef>
              <a:buFont typeface="+mj-lt"/>
              <a:buAutoNum type="arabicPeriod"/>
            </a:pPr>
            <a:r>
              <a:rPr lang="en-US" dirty="0"/>
              <a:t>The </a:t>
            </a:r>
            <a:r>
              <a:rPr lang="en-US" b="1" dirty="0">
                <a:solidFill>
                  <a:srgbClr val="FF0000"/>
                </a:solidFill>
              </a:rPr>
              <a:t>confidentiality</a:t>
            </a:r>
            <a:r>
              <a:rPr lang="en-US" dirty="0"/>
              <a:t> facility </a:t>
            </a:r>
            <a:r>
              <a:rPr lang="en-US" dirty="0">
                <a:solidFill>
                  <a:srgbClr val="000099"/>
                </a:solidFill>
              </a:rPr>
              <a:t>enables communicating nodes to encrypt messages to prevent eavesdropping by third parties</a:t>
            </a:r>
          </a:p>
          <a:p>
            <a:pPr marL="971550" lvl="1" indent="-514350">
              <a:lnSpc>
                <a:spcPct val="100000"/>
              </a:lnSpc>
              <a:spcBef>
                <a:spcPts val="0"/>
              </a:spcBef>
              <a:buFont typeface="+mj-lt"/>
              <a:buAutoNum type="arabicPeriod"/>
            </a:pPr>
            <a:r>
              <a:rPr lang="en-US" dirty="0"/>
              <a:t>The </a:t>
            </a:r>
            <a:r>
              <a:rPr lang="en-US" b="1" dirty="0">
                <a:solidFill>
                  <a:srgbClr val="FF0000"/>
                </a:solidFill>
              </a:rPr>
              <a:t>key management </a:t>
            </a:r>
            <a:r>
              <a:rPr lang="en-US" dirty="0"/>
              <a:t>facility is concerned with the </a:t>
            </a:r>
            <a:r>
              <a:rPr lang="en-US" dirty="0">
                <a:solidFill>
                  <a:srgbClr val="000099"/>
                </a:solidFill>
              </a:rPr>
              <a:t>secure exchange of keys</a:t>
            </a:r>
            <a:endParaRPr lang="en-IN" dirty="0">
              <a:solidFill>
                <a:srgbClr val="000099"/>
              </a:solidFill>
            </a:endParaRPr>
          </a:p>
        </p:txBody>
      </p:sp>
    </p:spTree>
    <p:extLst>
      <p:ext uri="{BB962C8B-B14F-4D97-AF65-F5344CB8AC3E}">
        <p14:creationId xmlns:p14="http://schemas.microsoft.com/office/powerpoint/2010/main" val="2056107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45B225D-C1A2-71B8-B0D6-A4A85173E03C}"/>
              </a:ext>
            </a:extLst>
          </p:cNvPr>
          <p:cNvSpPr>
            <a:spLocks noGrp="1"/>
          </p:cNvSpPr>
          <p:nvPr>
            <p:ph type="title"/>
          </p:nvPr>
        </p:nvSpPr>
        <p:spPr/>
        <p:txBody>
          <a:bodyPr/>
          <a:lstStyle/>
          <a:p>
            <a:r>
              <a:rPr lang="en-IN" dirty="0"/>
              <a:t>IP Security Overview</a:t>
            </a:r>
          </a:p>
        </p:txBody>
      </p:sp>
      <p:sp>
        <p:nvSpPr>
          <p:cNvPr id="3" name="Content Placeholder 2">
            <a:extLst>
              <a:ext uri="{FF2B5EF4-FFF2-40B4-BE49-F238E27FC236}">
                <a16:creationId xmlns:a16="http://schemas.microsoft.com/office/drawing/2014/main" xmlns="" id="{E568761B-4988-04C7-1B3C-ED25E7275D84}"/>
              </a:ext>
            </a:extLst>
          </p:cNvPr>
          <p:cNvSpPr>
            <a:spLocks noGrp="1"/>
          </p:cNvSpPr>
          <p:nvPr>
            <p:ph idx="1"/>
          </p:nvPr>
        </p:nvSpPr>
        <p:spPr>
          <a:xfrm>
            <a:off x="838200" y="1514008"/>
            <a:ext cx="10515600" cy="5261546"/>
          </a:xfrm>
        </p:spPr>
        <p:txBody>
          <a:bodyPr>
            <a:normAutofit/>
          </a:bodyPr>
          <a:lstStyle/>
          <a:p>
            <a:pPr marL="0" indent="0">
              <a:lnSpc>
                <a:spcPct val="100000"/>
              </a:lnSpc>
              <a:spcBef>
                <a:spcPts val="0"/>
              </a:spcBef>
              <a:buNone/>
            </a:pPr>
            <a:r>
              <a:rPr lang="en-US" b="1" dirty="0">
                <a:solidFill>
                  <a:srgbClr val="000099"/>
                </a:solidFill>
              </a:rPr>
              <a:t>Need for IP Security</a:t>
            </a:r>
          </a:p>
          <a:p>
            <a:pPr marL="514350" indent="-514350">
              <a:lnSpc>
                <a:spcPct val="100000"/>
              </a:lnSpc>
              <a:spcBef>
                <a:spcPts val="0"/>
              </a:spcBef>
              <a:buFont typeface="+mj-lt"/>
              <a:buAutoNum type="arabicPeriod"/>
            </a:pPr>
            <a:r>
              <a:rPr lang="en-US" dirty="0"/>
              <a:t>To </a:t>
            </a:r>
            <a:r>
              <a:rPr lang="en-US" dirty="0">
                <a:solidFill>
                  <a:srgbClr val="FF0000"/>
                </a:solidFill>
              </a:rPr>
              <a:t>secure the network infrastructure from unauthorized monitoring</a:t>
            </a:r>
          </a:p>
          <a:p>
            <a:pPr marL="514350" indent="-514350">
              <a:lnSpc>
                <a:spcPct val="100000"/>
              </a:lnSpc>
              <a:spcBef>
                <a:spcPts val="0"/>
              </a:spcBef>
              <a:buFont typeface="+mj-lt"/>
              <a:buAutoNum type="arabicPeriod"/>
            </a:pPr>
            <a:r>
              <a:rPr lang="en-US" dirty="0"/>
              <a:t>To </a:t>
            </a:r>
            <a:r>
              <a:rPr lang="en-US" dirty="0">
                <a:solidFill>
                  <a:srgbClr val="006600"/>
                </a:solidFill>
              </a:rPr>
              <a:t>control of network traffic </a:t>
            </a:r>
          </a:p>
          <a:p>
            <a:pPr marL="514350" indent="-514350">
              <a:lnSpc>
                <a:spcPct val="100000"/>
              </a:lnSpc>
              <a:spcBef>
                <a:spcPts val="0"/>
              </a:spcBef>
              <a:buFont typeface="+mj-lt"/>
              <a:buAutoNum type="arabicPeriod"/>
            </a:pPr>
            <a:r>
              <a:rPr lang="en-US" dirty="0"/>
              <a:t>To </a:t>
            </a:r>
            <a:r>
              <a:rPr lang="en-US" dirty="0">
                <a:solidFill>
                  <a:srgbClr val="0000FF"/>
                </a:solidFill>
              </a:rPr>
              <a:t>secure end-user-to-end-user traffic </a:t>
            </a:r>
            <a:r>
              <a:rPr lang="en-US" dirty="0"/>
              <a:t>using authentication and encryption mechanisms</a:t>
            </a:r>
          </a:p>
          <a:p>
            <a:pPr marL="514350" indent="-514350">
              <a:lnSpc>
                <a:spcPct val="100000"/>
              </a:lnSpc>
              <a:spcBef>
                <a:spcPts val="0"/>
              </a:spcBef>
              <a:buFont typeface="+mj-lt"/>
              <a:buAutoNum type="arabicPeriod"/>
            </a:pPr>
            <a:endParaRPr lang="en-US" dirty="0"/>
          </a:p>
          <a:p>
            <a:pPr marL="0" indent="0">
              <a:lnSpc>
                <a:spcPct val="100000"/>
              </a:lnSpc>
              <a:spcBef>
                <a:spcPts val="0"/>
              </a:spcBef>
              <a:buNone/>
            </a:pPr>
            <a:r>
              <a:rPr lang="en-IN" b="1" dirty="0">
                <a:solidFill>
                  <a:srgbClr val="000099"/>
                </a:solidFill>
              </a:rPr>
              <a:t>Applications of IPsec</a:t>
            </a:r>
          </a:p>
          <a:p>
            <a:pPr lvl="1">
              <a:lnSpc>
                <a:spcPct val="100000"/>
              </a:lnSpc>
              <a:spcBef>
                <a:spcPts val="0"/>
              </a:spcBef>
            </a:pPr>
            <a:r>
              <a:rPr lang="en-US" dirty="0"/>
              <a:t>Secure branch office connectivity over the Internet</a:t>
            </a:r>
          </a:p>
          <a:p>
            <a:pPr lvl="1">
              <a:lnSpc>
                <a:spcPct val="100000"/>
              </a:lnSpc>
              <a:spcBef>
                <a:spcPts val="0"/>
              </a:spcBef>
            </a:pPr>
            <a:r>
              <a:rPr lang="en-US" dirty="0"/>
              <a:t>Secure remote access over the Internet</a:t>
            </a:r>
          </a:p>
          <a:p>
            <a:pPr lvl="1">
              <a:lnSpc>
                <a:spcPct val="100000"/>
              </a:lnSpc>
              <a:spcBef>
                <a:spcPts val="0"/>
              </a:spcBef>
            </a:pPr>
            <a:r>
              <a:rPr lang="en-US" dirty="0"/>
              <a:t>Establishing extranet and intranet connectivity with partners</a:t>
            </a:r>
          </a:p>
          <a:p>
            <a:pPr lvl="1">
              <a:lnSpc>
                <a:spcPct val="100000"/>
              </a:lnSpc>
              <a:spcBef>
                <a:spcPts val="0"/>
              </a:spcBef>
            </a:pPr>
            <a:r>
              <a:rPr lang="en-IN" dirty="0"/>
              <a:t>Enhancing electronic commerce security</a:t>
            </a:r>
          </a:p>
        </p:txBody>
      </p:sp>
    </p:spTree>
    <p:extLst>
      <p:ext uri="{BB962C8B-B14F-4D97-AF65-F5344CB8AC3E}">
        <p14:creationId xmlns:p14="http://schemas.microsoft.com/office/powerpoint/2010/main" val="2005197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B49F68-1FDD-DCC0-BFDE-6FF773B52882}"/>
              </a:ext>
            </a:extLst>
          </p:cNvPr>
          <p:cNvSpPr>
            <a:spLocks noGrp="1"/>
          </p:cNvSpPr>
          <p:nvPr>
            <p:ph type="title"/>
          </p:nvPr>
        </p:nvSpPr>
        <p:spPr>
          <a:xfrm>
            <a:off x="643328" y="91007"/>
            <a:ext cx="10515600" cy="1325563"/>
          </a:xfrm>
        </p:spPr>
        <p:txBody>
          <a:bodyPr/>
          <a:lstStyle/>
          <a:p>
            <a:r>
              <a:rPr lang="en-IN" dirty="0"/>
              <a:t>IPsec Services</a:t>
            </a:r>
          </a:p>
        </p:txBody>
      </p:sp>
      <p:sp>
        <p:nvSpPr>
          <p:cNvPr id="3" name="Content Placeholder 2">
            <a:extLst>
              <a:ext uri="{FF2B5EF4-FFF2-40B4-BE49-F238E27FC236}">
                <a16:creationId xmlns:a16="http://schemas.microsoft.com/office/drawing/2014/main" xmlns="" id="{014EBE6E-5E41-D060-E018-DD23025635A9}"/>
              </a:ext>
            </a:extLst>
          </p:cNvPr>
          <p:cNvSpPr>
            <a:spLocks noGrp="1"/>
          </p:cNvSpPr>
          <p:nvPr>
            <p:ph idx="1"/>
          </p:nvPr>
        </p:nvSpPr>
        <p:spPr>
          <a:xfrm>
            <a:off x="838199" y="1172818"/>
            <a:ext cx="10823713" cy="5594176"/>
          </a:xfrm>
        </p:spPr>
        <p:txBody>
          <a:bodyPr>
            <a:normAutofit fontScale="85000" lnSpcReduction="20000"/>
          </a:bodyPr>
          <a:lstStyle/>
          <a:p>
            <a:pPr>
              <a:lnSpc>
                <a:spcPct val="120000"/>
              </a:lnSpc>
              <a:spcBef>
                <a:spcPts val="0"/>
              </a:spcBef>
            </a:pPr>
            <a:r>
              <a:rPr lang="en-US" dirty="0"/>
              <a:t>IPsec provides </a:t>
            </a:r>
            <a:r>
              <a:rPr lang="en-US" dirty="0">
                <a:solidFill>
                  <a:srgbClr val="000099"/>
                </a:solidFill>
              </a:rPr>
              <a:t>security services at the IP layer </a:t>
            </a:r>
            <a:r>
              <a:rPr lang="en-US" dirty="0"/>
              <a:t>by enabling a system to </a:t>
            </a:r>
            <a:r>
              <a:rPr lang="en-US" dirty="0">
                <a:solidFill>
                  <a:srgbClr val="000099"/>
                </a:solidFill>
              </a:rPr>
              <a:t>select required security protocol</a:t>
            </a:r>
            <a:r>
              <a:rPr lang="en-US" dirty="0"/>
              <a:t>s, </a:t>
            </a:r>
            <a:r>
              <a:rPr lang="en-US" dirty="0">
                <a:solidFill>
                  <a:srgbClr val="000099"/>
                </a:solidFill>
              </a:rPr>
              <a:t>determine the algorithm(s) to use for the service(s), </a:t>
            </a:r>
            <a:r>
              <a:rPr lang="en-US" dirty="0"/>
              <a:t>and</a:t>
            </a:r>
            <a:r>
              <a:rPr lang="en-US" dirty="0">
                <a:solidFill>
                  <a:srgbClr val="000099"/>
                </a:solidFill>
              </a:rPr>
              <a:t> put in place any cryptographic keys </a:t>
            </a:r>
            <a:r>
              <a:rPr lang="en-US" dirty="0"/>
              <a:t>required to provide the requested services</a:t>
            </a:r>
          </a:p>
          <a:p>
            <a:pPr>
              <a:lnSpc>
                <a:spcPct val="120000"/>
              </a:lnSpc>
              <a:spcBef>
                <a:spcPts val="0"/>
              </a:spcBef>
            </a:pPr>
            <a:r>
              <a:rPr lang="en-US" dirty="0"/>
              <a:t>Two protocols are used to provide security: </a:t>
            </a:r>
          </a:p>
          <a:p>
            <a:pPr marL="914400" lvl="1" indent="-457200">
              <a:lnSpc>
                <a:spcPct val="120000"/>
              </a:lnSpc>
              <a:spcBef>
                <a:spcPts val="0"/>
              </a:spcBef>
              <a:buFont typeface="+mj-lt"/>
              <a:buAutoNum type="arabicPeriod"/>
            </a:pPr>
            <a:r>
              <a:rPr lang="en-US" dirty="0"/>
              <a:t>An </a:t>
            </a:r>
            <a:r>
              <a:rPr lang="en-US" dirty="0">
                <a:solidFill>
                  <a:srgbClr val="FF0000"/>
                </a:solidFill>
              </a:rPr>
              <a:t>authentication protocol </a:t>
            </a:r>
            <a:r>
              <a:rPr lang="en-US" dirty="0"/>
              <a:t>designated by the header of the protocol, </a:t>
            </a:r>
            <a:r>
              <a:rPr lang="en-US" b="1" dirty="0"/>
              <a:t>Authentication Header (AH)</a:t>
            </a:r>
          </a:p>
          <a:p>
            <a:pPr marL="914400" lvl="1" indent="-457200">
              <a:lnSpc>
                <a:spcPct val="120000"/>
              </a:lnSpc>
              <a:spcBef>
                <a:spcPts val="0"/>
              </a:spcBef>
              <a:buFont typeface="+mj-lt"/>
              <a:buAutoNum type="arabicPeriod"/>
            </a:pPr>
            <a:r>
              <a:rPr lang="en-US" dirty="0"/>
              <a:t>A combined </a:t>
            </a:r>
            <a:r>
              <a:rPr lang="en-US" dirty="0">
                <a:solidFill>
                  <a:srgbClr val="FF0000"/>
                </a:solidFill>
              </a:rPr>
              <a:t>encryption/authentication protocol </a:t>
            </a:r>
            <a:r>
              <a:rPr lang="en-US" dirty="0"/>
              <a:t>designated by the format of the packet for that protocol, </a:t>
            </a:r>
            <a:r>
              <a:rPr lang="en-US" b="1" dirty="0"/>
              <a:t>Encapsulating Security Payload (ESP)</a:t>
            </a:r>
          </a:p>
          <a:p>
            <a:pPr>
              <a:lnSpc>
                <a:spcPct val="120000"/>
              </a:lnSpc>
              <a:spcBef>
                <a:spcPts val="0"/>
              </a:spcBef>
            </a:pPr>
            <a:r>
              <a:rPr lang="en-US" dirty="0"/>
              <a:t>Lists of services:</a:t>
            </a:r>
          </a:p>
          <a:p>
            <a:pPr lvl="1">
              <a:lnSpc>
                <a:spcPct val="120000"/>
              </a:lnSpc>
              <a:spcBef>
                <a:spcPts val="0"/>
              </a:spcBef>
            </a:pPr>
            <a:r>
              <a:rPr lang="en-US" dirty="0">
                <a:solidFill>
                  <a:srgbClr val="006600"/>
                </a:solidFill>
              </a:rPr>
              <a:t>Access control</a:t>
            </a:r>
          </a:p>
          <a:p>
            <a:pPr lvl="1">
              <a:lnSpc>
                <a:spcPct val="120000"/>
              </a:lnSpc>
              <a:spcBef>
                <a:spcPts val="0"/>
              </a:spcBef>
            </a:pPr>
            <a:r>
              <a:rPr lang="en-US" dirty="0">
                <a:solidFill>
                  <a:srgbClr val="006600"/>
                </a:solidFill>
              </a:rPr>
              <a:t>Connectionless integrity</a:t>
            </a:r>
          </a:p>
          <a:p>
            <a:pPr lvl="1">
              <a:lnSpc>
                <a:spcPct val="120000"/>
              </a:lnSpc>
              <a:spcBef>
                <a:spcPts val="0"/>
              </a:spcBef>
            </a:pPr>
            <a:r>
              <a:rPr lang="en-US" dirty="0">
                <a:solidFill>
                  <a:srgbClr val="006600"/>
                </a:solidFill>
              </a:rPr>
              <a:t>Data origin authentication</a:t>
            </a:r>
          </a:p>
          <a:p>
            <a:pPr lvl="1">
              <a:lnSpc>
                <a:spcPct val="120000"/>
              </a:lnSpc>
              <a:spcBef>
                <a:spcPts val="0"/>
              </a:spcBef>
            </a:pPr>
            <a:r>
              <a:rPr lang="en-US" dirty="0">
                <a:solidFill>
                  <a:srgbClr val="006600"/>
                </a:solidFill>
              </a:rPr>
              <a:t>Rejection of replayed packets (a form of partial sequence integrity)</a:t>
            </a:r>
          </a:p>
          <a:p>
            <a:pPr lvl="1">
              <a:lnSpc>
                <a:spcPct val="120000"/>
              </a:lnSpc>
              <a:spcBef>
                <a:spcPts val="0"/>
              </a:spcBef>
            </a:pPr>
            <a:r>
              <a:rPr lang="en-US" dirty="0">
                <a:solidFill>
                  <a:srgbClr val="006600"/>
                </a:solidFill>
              </a:rPr>
              <a:t>Confidentiality (encryption)</a:t>
            </a:r>
          </a:p>
          <a:p>
            <a:pPr lvl="1">
              <a:lnSpc>
                <a:spcPct val="120000"/>
              </a:lnSpc>
              <a:spcBef>
                <a:spcPts val="0"/>
              </a:spcBef>
            </a:pPr>
            <a:r>
              <a:rPr lang="en-US" dirty="0">
                <a:solidFill>
                  <a:srgbClr val="006600"/>
                </a:solidFill>
              </a:rPr>
              <a:t>Limited traffic flow confidentiality</a:t>
            </a:r>
            <a:endParaRPr lang="en-IN" dirty="0">
              <a:solidFill>
                <a:srgbClr val="006600"/>
              </a:solidFill>
            </a:endParaRPr>
          </a:p>
        </p:txBody>
      </p:sp>
    </p:spTree>
    <p:extLst>
      <p:ext uri="{BB962C8B-B14F-4D97-AF65-F5344CB8AC3E}">
        <p14:creationId xmlns:p14="http://schemas.microsoft.com/office/powerpoint/2010/main" val="472381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9635C6-6416-DBA8-ED73-81A7E412FBC9}"/>
              </a:ext>
            </a:extLst>
          </p:cNvPr>
          <p:cNvSpPr>
            <a:spLocks noGrp="1"/>
          </p:cNvSpPr>
          <p:nvPr>
            <p:ph type="title"/>
          </p:nvPr>
        </p:nvSpPr>
        <p:spPr/>
        <p:txBody>
          <a:bodyPr/>
          <a:lstStyle/>
          <a:p>
            <a:r>
              <a:rPr lang="en-IN" dirty="0"/>
              <a:t>IP Security Policy</a:t>
            </a:r>
          </a:p>
        </p:txBody>
      </p:sp>
      <p:sp>
        <p:nvSpPr>
          <p:cNvPr id="3" name="Content Placeholder 2">
            <a:extLst>
              <a:ext uri="{FF2B5EF4-FFF2-40B4-BE49-F238E27FC236}">
                <a16:creationId xmlns:a16="http://schemas.microsoft.com/office/drawing/2014/main" xmlns="" id="{CB8433E2-DB3C-B1AF-44B2-DE8A74C28030}"/>
              </a:ext>
            </a:extLst>
          </p:cNvPr>
          <p:cNvSpPr>
            <a:spLocks noGrp="1"/>
          </p:cNvSpPr>
          <p:nvPr>
            <p:ph idx="1"/>
          </p:nvPr>
        </p:nvSpPr>
        <p:spPr>
          <a:xfrm>
            <a:off x="838200" y="1825625"/>
            <a:ext cx="10515600" cy="4912454"/>
          </a:xfrm>
        </p:spPr>
        <p:txBody>
          <a:bodyPr/>
          <a:lstStyle/>
          <a:p>
            <a:pPr>
              <a:lnSpc>
                <a:spcPct val="150000"/>
              </a:lnSpc>
              <a:spcBef>
                <a:spcPts val="0"/>
              </a:spcBef>
            </a:pPr>
            <a:r>
              <a:rPr lang="en-US" dirty="0"/>
              <a:t>Fundamental to the operation of IPsec is the concept of a </a:t>
            </a:r>
            <a:r>
              <a:rPr lang="en-US" dirty="0">
                <a:solidFill>
                  <a:srgbClr val="000099"/>
                </a:solidFill>
              </a:rPr>
              <a:t>security policy applied to each IP packet that transits from a source to a destination</a:t>
            </a:r>
          </a:p>
          <a:p>
            <a:pPr>
              <a:lnSpc>
                <a:spcPct val="150000"/>
              </a:lnSpc>
              <a:spcBef>
                <a:spcPts val="0"/>
              </a:spcBef>
            </a:pPr>
            <a:r>
              <a:rPr lang="en-US" dirty="0"/>
              <a:t>IPsec policy is determined primarily by the interaction of two databases</a:t>
            </a:r>
          </a:p>
          <a:p>
            <a:pPr marL="971550" lvl="1" indent="-514350">
              <a:lnSpc>
                <a:spcPct val="150000"/>
              </a:lnSpc>
              <a:spcBef>
                <a:spcPts val="0"/>
              </a:spcBef>
              <a:buFont typeface="+mj-lt"/>
              <a:buAutoNum type="arabicPeriod"/>
            </a:pPr>
            <a:r>
              <a:rPr lang="en-US" dirty="0"/>
              <a:t>The </a:t>
            </a:r>
            <a:r>
              <a:rPr lang="en-US" b="1" dirty="0">
                <a:solidFill>
                  <a:srgbClr val="FF0000"/>
                </a:solidFill>
              </a:rPr>
              <a:t>Security Association Database (SAD) </a:t>
            </a:r>
          </a:p>
          <a:p>
            <a:pPr marL="971550" lvl="1" indent="-514350">
              <a:lnSpc>
                <a:spcPct val="150000"/>
              </a:lnSpc>
              <a:spcBef>
                <a:spcPts val="0"/>
              </a:spcBef>
              <a:buFont typeface="+mj-lt"/>
              <a:buAutoNum type="arabicPeriod"/>
            </a:pPr>
            <a:r>
              <a:rPr lang="en-US" dirty="0"/>
              <a:t>The </a:t>
            </a:r>
            <a:r>
              <a:rPr lang="en-US" b="1" dirty="0">
                <a:solidFill>
                  <a:srgbClr val="000099"/>
                </a:solidFill>
              </a:rPr>
              <a:t>Security Policy Database (SPD)</a:t>
            </a:r>
            <a:endParaRPr lang="en-IN" b="1" dirty="0">
              <a:solidFill>
                <a:srgbClr val="000099"/>
              </a:solidFill>
            </a:endParaRPr>
          </a:p>
        </p:txBody>
      </p:sp>
    </p:spTree>
    <p:extLst>
      <p:ext uri="{BB962C8B-B14F-4D97-AF65-F5344CB8AC3E}">
        <p14:creationId xmlns:p14="http://schemas.microsoft.com/office/powerpoint/2010/main" val="524384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3A135A-86E8-E485-6277-B6F4491A97C0}"/>
              </a:ext>
            </a:extLst>
          </p:cNvPr>
          <p:cNvSpPr>
            <a:spLocks noGrp="1"/>
          </p:cNvSpPr>
          <p:nvPr>
            <p:ph type="title"/>
          </p:nvPr>
        </p:nvSpPr>
        <p:spPr/>
        <p:txBody>
          <a:bodyPr/>
          <a:lstStyle/>
          <a:p>
            <a:r>
              <a:rPr lang="en-IN" dirty="0"/>
              <a:t>IPsec Architecture</a:t>
            </a:r>
          </a:p>
        </p:txBody>
      </p:sp>
      <p:pic>
        <p:nvPicPr>
          <p:cNvPr id="5" name="Content Placeholder 4">
            <a:extLst>
              <a:ext uri="{FF2B5EF4-FFF2-40B4-BE49-F238E27FC236}">
                <a16:creationId xmlns:a16="http://schemas.microsoft.com/office/drawing/2014/main" xmlns="" id="{7D3FA120-35BA-7BF9-21A8-A455C79723F3}"/>
              </a:ext>
            </a:extLst>
          </p:cNvPr>
          <p:cNvPicPr>
            <a:picLocks noGrp="1" noChangeAspect="1"/>
          </p:cNvPicPr>
          <p:nvPr>
            <p:ph idx="1"/>
          </p:nvPr>
        </p:nvPicPr>
        <p:blipFill>
          <a:blip r:embed="rId2"/>
          <a:stretch>
            <a:fillRect/>
          </a:stretch>
        </p:blipFill>
        <p:spPr>
          <a:xfrm>
            <a:off x="947939" y="1848110"/>
            <a:ext cx="10296122" cy="4351338"/>
          </a:xfrm>
        </p:spPr>
      </p:pic>
    </p:spTree>
    <p:extLst>
      <p:ext uri="{BB962C8B-B14F-4D97-AF65-F5344CB8AC3E}">
        <p14:creationId xmlns:p14="http://schemas.microsoft.com/office/powerpoint/2010/main" val="928074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48461A-C84D-E4F9-E185-B17EE05AF27E}"/>
              </a:ext>
            </a:extLst>
          </p:cNvPr>
          <p:cNvSpPr>
            <a:spLocks noGrp="1"/>
          </p:cNvSpPr>
          <p:nvPr>
            <p:ph type="title"/>
          </p:nvPr>
        </p:nvSpPr>
        <p:spPr>
          <a:xfrm>
            <a:off x="463825" y="142407"/>
            <a:ext cx="11277601" cy="1086787"/>
          </a:xfrm>
        </p:spPr>
        <p:txBody>
          <a:bodyPr/>
          <a:lstStyle/>
          <a:p>
            <a:r>
              <a:rPr lang="en-IN" dirty="0"/>
              <a:t>Security Associations (SA)</a:t>
            </a:r>
          </a:p>
        </p:txBody>
      </p:sp>
      <p:sp>
        <p:nvSpPr>
          <p:cNvPr id="3" name="Content Placeholder 2">
            <a:extLst>
              <a:ext uri="{FF2B5EF4-FFF2-40B4-BE49-F238E27FC236}">
                <a16:creationId xmlns:a16="http://schemas.microsoft.com/office/drawing/2014/main" xmlns="" id="{7C58FC6F-4DEC-0D39-332C-107369972D89}"/>
              </a:ext>
            </a:extLst>
          </p:cNvPr>
          <p:cNvSpPr>
            <a:spLocks noGrp="1"/>
          </p:cNvSpPr>
          <p:nvPr>
            <p:ph idx="1"/>
          </p:nvPr>
        </p:nvSpPr>
        <p:spPr>
          <a:xfrm>
            <a:off x="765312" y="1152940"/>
            <a:ext cx="10817087" cy="5562654"/>
          </a:xfrm>
        </p:spPr>
        <p:txBody>
          <a:bodyPr>
            <a:normAutofit fontScale="92500" lnSpcReduction="20000"/>
          </a:bodyPr>
          <a:lstStyle/>
          <a:p>
            <a:pPr>
              <a:lnSpc>
                <a:spcPct val="120000"/>
              </a:lnSpc>
              <a:spcBef>
                <a:spcPts val="0"/>
              </a:spcBef>
            </a:pPr>
            <a:r>
              <a:rPr lang="en-US" dirty="0"/>
              <a:t>A key concept that appears in both </a:t>
            </a:r>
            <a:r>
              <a:rPr lang="en-US" dirty="0">
                <a:solidFill>
                  <a:srgbClr val="000099"/>
                </a:solidFill>
              </a:rPr>
              <a:t>the authentication </a:t>
            </a:r>
            <a:r>
              <a:rPr lang="en-US" dirty="0"/>
              <a:t>and </a:t>
            </a:r>
            <a:r>
              <a:rPr lang="en-US" dirty="0">
                <a:solidFill>
                  <a:srgbClr val="000099"/>
                </a:solidFill>
              </a:rPr>
              <a:t>confidentiality mechanisms </a:t>
            </a:r>
            <a:r>
              <a:rPr lang="en-US" dirty="0"/>
              <a:t>for IP</a:t>
            </a:r>
          </a:p>
          <a:p>
            <a:pPr>
              <a:lnSpc>
                <a:spcPct val="120000"/>
              </a:lnSpc>
              <a:spcBef>
                <a:spcPts val="0"/>
              </a:spcBef>
            </a:pPr>
            <a:r>
              <a:rPr lang="en-US" dirty="0"/>
              <a:t>An association is a </a:t>
            </a:r>
            <a:r>
              <a:rPr lang="en-US" dirty="0">
                <a:solidFill>
                  <a:srgbClr val="000099"/>
                </a:solidFill>
              </a:rPr>
              <a:t>one-way logical connection between a sender and a receiver</a:t>
            </a:r>
            <a:r>
              <a:rPr lang="en-US" dirty="0"/>
              <a:t> that affords security services to the traffic carried on it</a:t>
            </a:r>
          </a:p>
          <a:p>
            <a:pPr>
              <a:lnSpc>
                <a:spcPct val="120000"/>
              </a:lnSpc>
              <a:spcBef>
                <a:spcPts val="0"/>
              </a:spcBef>
            </a:pPr>
            <a:endParaRPr lang="en-US" dirty="0"/>
          </a:p>
          <a:p>
            <a:pPr>
              <a:lnSpc>
                <a:spcPct val="120000"/>
              </a:lnSpc>
              <a:spcBef>
                <a:spcPts val="0"/>
              </a:spcBef>
            </a:pPr>
            <a:r>
              <a:rPr lang="en-US" dirty="0"/>
              <a:t>A security association is uniquely identified by </a:t>
            </a:r>
            <a:r>
              <a:rPr lang="en-US" b="1" dirty="0"/>
              <a:t>three parameters</a:t>
            </a:r>
          </a:p>
          <a:p>
            <a:pPr marL="914400" lvl="1" indent="-457200">
              <a:lnSpc>
                <a:spcPct val="120000"/>
              </a:lnSpc>
              <a:spcBef>
                <a:spcPts val="0"/>
              </a:spcBef>
              <a:buFont typeface="+mj-lt"/>
              <a:buAutoNum type="arabicPeriod"/>
            </a:pPr>
            <a:r>
              <a:rPr lang="en-US" b="1" dirty="0">
                <a:solidFill>
                  <a:srgbClr val="FF0000"/>
                </a:solidFill>
              </a:rPr>
              <a:t>Security Parameters Index (SPI): </a:t>
            </a:r>
            <a:r>
              <a:rPr lang="en-US" dirty="0"/>
              <a:t>A 32-bit unsigned integer assigned to this SA and having local significance only. The SPI is carried in AH and ESP headers to enable the receiving system to select the SA under which a received packet will be processed</a:t>
            </a:r>
          </a:p>
          <a:p>
            <a:pPr marL="914400" lvl="1" indent="-457200">
              <a:lnSpc>
                <a:spcPct val="120000"/>
              </a:lnSpc>
              <a:spcBef>
                <a:spcPts val="0"/>
              </a:spcBef>
              <a:buFont typeface="+mj-lt"/>
              <a:buAutoNum type="arabicPeriod"/>
            </a:pPr>
            <a:r>
              <a:rPr lang="en-US" b="1" dirty="0">
                <a:solidFill>
                  <a:srgbClr val="FF0000"/>
                </a:solidFill>
              </a:rPr>
              <a:t>IP Destination Address: </a:t>
            </a:r>
            <a:r>
              <a:rPr lang="en-US" dirty="0"/>
              <a:t>This is the address of the destination endpoint of the SA, which may be an end-user system or a network system such as a firewall or router</a:t>
            </a:r>
          </a:p>
          <a:p>
            <a:pPr marL="914400" lvl="1" indent="-457200">
              <a:lnSpc>
                <a:spcPct val="120000"/>
              </a:lnSpc>
              <a:spcBef>
                <a:spcPts val="0"/>
              </a:spcBef>
              <a:buFont typeface="+mj-lt"/>
              <a:buAutoNum type="arabicPeriod"/>
            </a:pPr>
            <a:r>
              <a:rPr lang="en-US" b="1" dirty="0">
                <a:solidFill>
                  <a:srgbClr val="FF0000"/>
                </a:solidFill>
              </a:rPr>
              <a:t>Security Protocol Identifier: </a:t>
            </a:r>
            <a:r>
              <a:rPr lang="en-US" dirty="0"/>
              <a:t>This field from the outer IP header indicates whether the association is an AH or ESP security association</a:t>
            </a:r>
            <a:endParaRPr lang="en-IN" dirty="0"/>
          </a:p>
        </p:txBody>
      </p:sp>
    </p:spTree>
    <p:extLst>
      <p:ext uri="{BB962C8B-B14F-4D97-AF65-F5344CB8AC3E}">
        <p14:creationId xmlns:p14="http://schemas.microsoft.com/office/powerpoint/2010/main" val="785982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5094085-E2FE-F77B-8E46-5C72FD217937}"/>
              </a:ext>
            </a:extLst>
          </p:cNvPr>
          <p:cNvSpPr>
            <a:spLocks noGrp="1"/>
          </p:cNvSpPr>
          <p:nvPr>
            <p:ph type="title"/>
          </p:nvPr>
        </p:nvSpPr>
        <p:spPr/>
        <p:txBody>
          <a:bodyPr/>
          <a:lstStyle/>
          <a:p>
            <a:r>
              <a:rPr lang="en-IN" dirty="0"/>
              <a:t>Security Association Database (SAD)</a:t>
            </a:r>
          </a:p>
        </p:txBody>
      </p:sp>
      <p:sp>
        <p:nvSpPr>
          <p:cNvPr id="3" name="Content Placeholder 2">
            <a:extLst>
              <a:ext uri="{FF2B5EF4-FFF2-40B4-BE49-F238E27FC236}">
                <a16:creationId xmlns:a16="http://schemas.microsoft.com/office/drawing/2014/main" xmlns="" id="{16B4A640-31F1-8272-1193-8E62AEFB28AB}"/>
              </a:ext>
            </a:extLst>
          </p:cNvPr>
          <p:cNvSpPr>
            <a:spLocks noGrp="1"/>
          </p:cNvSpPr>
          <p:nvPr>
            <p:ph idx="1"/>
          </p:nvPr>
        </p:nvSpPr>
        <p:spPr>
          <a:xfrm>
            <a:off x="838200" y="1503336"/>
            <a:ext cx="10722840" cy="5189011"/>
          </a:xfrm>
        </p:spPr>
        <p:txBody>
          <a:bodyPr/>
          <a:lstStyle/>
          <a:p>
            <a:pPr>
              <a:lnSpc>
                <a:spcPct val="100000"/>
              </a:lnSpc>
            </a:pPr>
            <a:r>
              <a:rPr lang="en-US" b="1" dirty="0">
                <a:solidFill>
                  <a:srgbClr val="000099"/>
                </a:solidFill>
              </a:rPr>
              <a:t>Defines the parameters associated with each SA</a:t>
            </a:r>
            <a:endParaRPr lang="en-IN" b="1" dirty="0">
              <a:solidFill>
                <a:srgbClr val="000099"/>
              </a:solidFill>
            </a:endParaRPr>
          </a:p>
          <a:p>
            <a:pPr>
              <a:lnSpc>
                <a:spcPct val="100000"/>
              </a:lnSpc>
            </a:pPr>
            <a:r>
              <a:rPr lang="en-IN" b="1" dirty="0">
                <a:solidFill>
                  <a:srgbClr val="FF0000"/>
                </a:solidFill>
              </a:rPr>
              <a:t>Parameters</a:t>
            </a:r>
            <a:r>
              <a:rPr lang="en-IN" dirty="0"/>
              <a:t>:</a:t>
            </a:r>
          </a:p>
          <a:p>
            <a:pPr lvl="1">
              <a:lnSpc>
                <a:spcPct val="100000"/>
              </a:lnSpc>
            </a:pPr>
            <a:r>
              <a:rPr lang="en-US" b="1" dirty="0">
                <a:solidFill>
                  <a:srgbClr val="000099"/>
                </a:solidFill>
              </a:rPr>
              <a:t>Security Parameter Index: </a:t>
            </a:r>
            <a:r>
              <a:rPr lang="en-US" dirty="0"/>
              <a:t>A 32-bit value selected by the receiving end of an SA to uniquely identify the SA</a:t>
            </a:r>
          </a:p>
          <a:p>
            <a:pPr lvl="1">
              <a:lnSpc>
                <a:spcPct val="100000"/>
              </a:lnSpc>
            </a:pPr>
            <a:r>
              <a:rPr lang="en-US" b="1" dirty="0">
                <a:solidFill>
                  <a:srgbClr val="000099"/>
                </a:solidFill>
              </a:rPr>
              <a:t>Sequence Number Counter</a:t>
            </a:r>
            <a:r>
              <a:rPr lang="en-US" dirty="0"/>
              <a:t>: A 32-bit value used to generate the Sequence Number field in AH or ESP headers</a:t>
            </a:r>
            <a:endParaRPr lang="en-IN" dirty="0"/>
          </a:p>
        </p:txBody>
      </p:sp>
      <p:pic>
        <p:nvPicPr>
          <p:cNvPr id="6" name="Picture 5">
            <a:extLst>
              <a:ext uri="{FF2B5EF4-FFF2-40B4-BE49-F238E27FC236}">
                <a16:creationId xmlns:a16="http://schemas.microsoft.com/office/drawing/2014/main" xmlns="" id="{601626FB-1825-558B-6E40-E1BA1E36DF20}"/>
              </a:ext>
            </a:extLst>
          </p:cNvPr>
          <p:cNvPicPr>
            <a:picLocks noChangeAspect="1"/>
          </p:cNvPicPr>
          <p:nvPr/>
        </p:nvPicPr>
        <p:blipFill>
          <a:blip r:embed="rId2"/>
          <a:stretch>
            <a:fillRect/>
          </a:stretch>
        </p:blipFill>
        <p:spPr>
          <a:xfrm>
            <a:off x="1159456" y="4359162"/>
            <a:ext cx="10469436" cy="1991003"/>
          </a:xfrm>
          <a:prstGeom prst="rect">
            <a:avLst/>
          </a:prstGeom>
        </p:spPr>
      </p:pic>
    </p:spTree>
    <p:extLst>
      <p:ext uri="{BB962C8B-B14F-4D97-AF65-F5344CB8AC3E}">
        <p14:creationId xmlns:p14="http://schemas.microsoft.com/office/powerpoint/2010/main" val="2865413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11D7D5-AF5B-5CA2-B8DB-96814E1EB53D}"/>
              </a:ext>
            </a:extLst>
          </p:cNvPr>
          <p:cNvSpPr>
            <a:spLocks noGrp="1"/>
          </p:cNvSpPr>
          <p:nvPr>
            <p:ph type="title"/>
          </p:nvPr>
        </p:nvSpPr>
        <p:spPr/>
        <p:txBody>
          <a:bodyPr/>
          <a:lstStyle/>
          <a:p>
            <a:r>
              <a:rPr lang="en-IN" dirty="0" err="1"/>
              <a:t>Cont</a:t>
            </a:r>
            <a:r>
              <a:rPr lang="en-IN" dirty="0"/>
              <a:t>…</a:t>
            </a:r>
          </a:p>
        </p:txBody>
      </p:sp>
      <p:pic>
        <p:nvPicPr>
          <p:cNvPr id="4" name="Content Placeholder 3">
            <a:extLst>
              <a:ext uri="{FF2B5EF4-FFF2-40B4-BE49-F238E27FC236}">
                <a16:creationId xmlns:a16="http://schemas.microsoft.com/office/drawing/2014/main" xmlns="" id="{208E94D6-188B-DB8F-7B05-CAB87A9E81B0}"/>
              </a:ext>
            </a:extLst>
          </p:cNvPr>
          <p:cNvPicPr>
            <a:picLocks noGrp="1" noChangeAspect="1"/>
          </p:cNvPicPr>
          <p:nvPr>
            <p:ph idx="1"/>
          </p:nvPr>
        </p:nvPicPr>
        <p:blipFill>
          <a:blip r:embed="rId2"/>
          <a:srcRect t="28839"/>
          <a:stretch/>
        </p:blipFill>
        <p:spPr>
          <a:xfrm>
            <a:off x="917183" y="1581463"/>
            <a:ext cx="10564268" cy="4744386"/>
          </a:xfrm>
          <a:prstGeom prst="rect">
            <a:avLst/>
          </a:prstGeom>
        </p:spPr>
      </p:pic>
    </p:spTree>
    <p:extLst>
      <p:ext uri="{BB962C8B-B14F-4D97-AF65-F5344CB8AC3E}">
        <p14:creationId xmlns:p14="http://schemas.microsoft.com/office/powerpoint/2010/main" val="3338184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ECB635-42C7-BE18-A0E7-1E360BE31818}"/>
              </a:ext>
            </a:extLst>
          </p:cNvPr>
          <p:cNvSpPr>
            <a:spLocks noGrp="1"/>
          </p:cNvSpPr>
          <p:nvPr>
            <p:ph type="title"/>
          </p:nvPr>
        </p:nvSpPr>
        <p:spPr/>
        <p:txBody>
          <a:bodyPr/>
          <a:lstStyle/>
          <a:p>
            <a:r>
              <a:rPr lang="en-IN" dirty="0" err="1"/>
              <a:t>Cont</a:t>
            </a:r>
            <a:r>
              <a:rPr lang="en-IN" dirty="0"/>
              <a:t>…</a:t>
            </a:r>
          </a:p>
        </p:txBody>
      </p:sp>
      <p:sp>
        <p:nvSpPr>
          <p:cNvPr id="3" name="Content Placeholder 2">
            <a:extLst>
              <a:ext uri="{FF2B5EF4-FFF2-40B4-BE49-F238E27FC236}">
                <a16:creationId xmlns:a16="http://schemas.microsoft.com/office/drawing/2014/main" xmlns="" id="{574F2499-B64A-77A3-1F4A-4558EE50265C}"/>
              </a:ext>
            </a:extLst>
          </p:cNvPr>
          <p:cNvSpPr>
            <a:spLocks noGrp="1"/>
          </p:cNvSpPr>
          <p:nvPr>
            <p:ph idx="1"/>
          </p:nvPr>
        </p:nvSpPr>
        <p:spPr/>
        <p:txBody>
          <a:bodyPr/>
          <a:lstStyle/>
          <a:p>
            <a:pPr>
              <a:lnSpc>
                <a:spcPct val="150000"/>
              </a:lnSpc>
            </a:pPr>
            <a:r>
              <a:rPr lang="en-US" dirty="0"/>
              <a:t>The </a:t>
            </a:r>
            <a:r>
              <a:rPr lang="en-US" b="1" dirty="0"/>
              <a:t>key management mechanism </a:t>
            </a:r>
            <a:r>
              <a:rPr lang="en-US" dirty="0"/>
              <a:t>that is used to distribute keys is </a:t>
            </a:r>
            <a:r>
              <a:rPr lang="en-US" dirty="0">
                <a:solidFill>
                  <a:srgbClr val="0000FF"/>
                </a:solidFill>
              </a:rPr>
              <a:t>coupled to the authentication </a:t>
            </a:r>
            <a:r>
              <a:rPr lang="en-US" dirty="0"/>
              <a:t>and </a:t>
            </a:r>
            <a:r>
              <a:rPr lang="en-US" dirty="0">
                <a:solidFill>
                  <a:srgbClr val="0000FF"/>
                </a:solidFill>
              </a:rPr>
              <a:t>privacy mechanisms </a:t>
            </a:r>
            <a:r>
              <a:rPr lang="en-US" dirty="0"/>
              <a:t>only by way of the </a:t>
            </a:r>
            <a:r>
              <a:rPr lang="en-US" b="1" dirty="0">
                <a:solidFill>
                  <a:srgbClr val="000099"/>
                </a:solidFill>
              </a:rPr>
              <a:t>Security Parameters Index (SPI)</a:t>
            </a:r>
          </a:p>
          <a:p>
            <a:pPr>
              <a:lnSpc>
                <a:spcPct val="150000"/>
              </a:lnSpc>
            </a:pPr>
            <a:endParaRPr lang="en-US" b="1" dirty="0">
              <a:solidFill>
                <a:srgbClr val="000099"/>
              </a:solidFill>
            </a:endParaRPr>
          </a:p>
          <a:p>
            <a:pPr>
              <a:lnSpc>
                <a:spcPct val="150000"/>
              </a:lnSpc>
            </a:pPr>
            <a:r>
              <a:rPr lang="en-US" dirty="0">
                <a:solidFill>
                  <a:srgbClr val="FF0000"/>
                </a:solidFill>
              </a:rPr>
              <a:t>Authentication </a:t>
            </a:r>
            <a:r>
              <a:rPr lang="en-US" dirty="0"/>
              <a:t>and</a:t>
            </a:r>
            <a:r>
              <a:rPr lang="en-US" dirty="0">
                <a:solidFill>
                  <a:srgbClr val="FF0000"/>
                </a:solidFill>
              </a:rPr>
              <a:t> privacy </a:t>
            </a:r>
            <a:r>
              <a:rPr lang="en-US" dirty="0"/>
              <a:t>have been </a:t>
            </a:r>
            <a:r>
              <a:rPr lang="en-US" dirty="0">
                <a:solidFill>
                  <a:srgbClr val="0000FF"/>
                </a:solidFill>
              </a:rPr>
              <a:t>specified independent of any specific key management mechanism</a:t>
            </a:r>
            <a:endParaRPr lang="en-IN" dirty="0">
              <a:solidFill>
                <a:srgbClr val="0000FF"/>
              </a:solidFill>
            </a:endParaRPr>
          </a:p>
        </p:txBody>
      </p:sp>
    </p:spTree>
    <p:extLst>
      <p:ext uri="{BB962C8B-B14F-4D97-AF65-F5344CB8AC3E}">
        <p14:creationId xmlns:p14="http://schemas.microsoft.com/office/powerpoint/2010/main" val="3622519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F9C44D3-E8F1-2FA9-6382-92035C7C879A}"/>
              </a:ext>
            </a:extLst>
          </p:cNvPr>
          <p:cNvSpPr>
            <a:spLocks noGrp="1"/>
          </p:cNvSpPr>
          <p:nvPr>
            <p:ph type="title"/>
          </p:nvPr>
        </p:nvSpPr>
        <p:spPr>
          <a:xfrm>
            <a:off x="623887" y="65087"/>
            <a:ext cx="10515600" cy="1325563"/>
          </a:xfrm>
        </p:spPr>
        <p:txBody>
          <a:bodyPr/>
          <a:lstStyle/>
          <a:p>
            <a:r>
              <a:rPr lang="en-IN" dirty="0"/>
              <a:t>Security Policy Database</a:t>
            </a:r>
          </a:p>
        </p:txBody>
      </p:sp>
      <p:sp>
        <p:nvSpPr>
          <p:cNvPr id="3" name="Content Placeholder 2">
            <a:extLst>
              <a:ext uri="{FF2B5EF4-FFF2-40B4-BE49-F238E27FC236}">
                <a16:creationId xmlns:a16="http://schemas.microsoft.com/office/drawing/2014/main" xmlns="" id="{2863B3F2-FE89-67DF-6B3C-30F5AF608110}"/>
              </a:ext>
            </a:extLst>
          </p:cNvPr>
          <p:cNvSpPr>
            <a:spLocks noGrp="1"/>
          </p:cNvSpPr>
          <p:nvPr>
            <p:ph idx="1"/>
          </p:nvPr>
        </p:nvSpPr>
        <p:spPr>
          <a:xfrm>
            <a:off x="838200" y="1300164"/>
            <a:ext cx="11120438" cy="5422106"/>
          </a:xfrm>
        </p:spPr>
        <p:txBody>
          <a:bodyPr>
            <a:normAutofit lnSpcReduction="10000"/>
          </a:bodyPr>
          <a:lstStyle/>
          <a:p>
            <a:pPr>
              <a:lnSpc>
                <a:spcPct val="110000"/>
              </a:lnSpc>
              <a:spcBef>
                <a:spcPts val="0"/>
              </a:spcBef>
            </a:pPr>
            <a:r>
              <a:rPr lang="en-US" dirty="0"/>
              <a:t>The means by which </a:t>
            </a:r>
            <a:r>
              <a:rPr lang="en-US" dirty="0">
                <a:solidFill>
                  <a:srgbClr val="FF0000"/>
                </a:solidFill>
              </a:rPr>
              <a:t>IP traffic is related to specific SAs</a:t>
            </a:r>
          </a:p>
          <a:p>
            <a:pPr>
              <a:lnSpc>
                <a:spcPct val="110000"/>
              </a:lnSpc>
              <a:spcBef>
                <a:spcPts val="0"/>
              </a:spcBef>
            </a:pPr>
            <a:r>
              <a:rPr lang="en-US" dirty="0">
                <a:solidFill>
                  <a:srgbClr val="000099"/>
                </a:solidFill>
              </a:rPr>
              <a:t>Contains entries, each of which defines a subset of IP traffic and points to an SA for that traffic</a:t>
            </a:r>
          </a:p>
          <a:p>
            <a:pPr>
              <a:lnSpc>
                <a:spcPct val="110000"/>
              </a:lnSpc>
              <a:spcBef>
                <a:spcPts val="0"/>
              </a:spcBef>
            </a:pPr>
            <a:r>
              <a:rPr lang="en-US" dirty="0"/>
              <a:t>Each SPD entry is defined by a set of IP and upper-layer protocol field values - </a:t>
            </a:r>
            <a:r>
              <a:rPr lang="en-US" b="1" dirty="0">
                <a:solidFill>
                  <a:srgbClr val="FF0000"/>
                </a:solidFill>
              </a:rPr>
              <a:t>Selectors</a:t>
            </a:r>
          </a:p>
          <a:p>
            <a:pPr lvl="1">
              <a:lnSpc>
                <a:spcPct val="110000"/>
              </a:lnSpc>
              <a:spcBef>
                <a:spcPts val="0"/>
              </a:spcBef>
            </a:pPr>
            <a:r>
              <a:rPr lang="en-US" dirty="0"/>
              <a:t>Used to </a:t>
            </a:r>
            <a:r>
              <a:rPr lang="en-US" dirty="0">
                <a:solidFill>
                  <a:srgbClr val="0000FF"/>
                </a:solidFill>
              </a:rPr>
              <a:t>filter outgoing traffic in order to map it into a particular SA</a:t>
            </a:r>
          </a:p>
          <a:p>
            <a:pPr>
              <a:lnSpc>
                <a:spcPct val="110000"/>
              </a:lnSpc>
              <a:spcBef>
                <a:spcPts val="0"/>
              </a:spcBef>
            </a:pPr>
            <a:r>
              <a:rPr lang="en-US" dirty="0"/>
              <a:t>Outbound processing obeys the following </a:t>
            </a:r>
            <a:r>
              <a:rPr lang="en-US" b="1" dirty="0"/>
              <a:t>general sequence for each IP packet</a:t>
            </a:r>
          </a:p>
          <a:p>
            <a:pPr marL="914400" lvl="1" indent="-457200">
              <a:lnSpc>
                <a:spcPct val="110000"/>
              </a:lnSpc>
              <a:spcBef>
                <a:spcPts val="0"/>
              </a:spcBef>
              <a:buFont typeface="+mj-lt"/>
              <a:buAutoNum type="arabicPeriod"/>
            </a:pPr>
            <a:r>
              <a:rPr lang="en-US" dirty="0"/>
              <a:t>Compare the </a:t>
            </a:r>
            <a:r>
              <a:rPr lang="en-US" dirty="0">
                <a:solidFill>
                  <a:srgbClr val="0000FF"/>
                </a:solidFill>
              </a:rPr>
              <a:t>values of the appropriate fields in the packet </a:t>
            </a:r>
            <a:r>
              <a:rPr lang="en-US" dirty="0"/>
              <a:t>(the selector fields) against the SPD to find a matching SPD entry, which will </a:t>
            </a:r>
            <a:r>
              <a:rPr lang="en-US" b="1" dirty="0"/>
              <a:t>point to zero or more SAs</a:t>
            </a:r>
          </a:p>
          <a:p>
            <a:pPr marL="914400" lvl="1" indent="-457200">
              <a:lnSpc>
                <a:spcPct val="110000"/>
              </a:lnSpc>
              <a:spcBef>
                <a:spcPts val="0"/>
              </a:spcBef>
              <a:buFont typeface="+mj-lt"/>
              <a:buAutoNum type="arabicPeriod"/>
            </a:pPr>
            <a:r>
              <a:rPr lang="en-US" dirty="0">
                <a:solidFill>
                  <a:srgbClr val="0000FF"/>
                </a:solidFill>
              </a:rPr>
              <a:t>Determine the SA if any for this packet and its associated SPI</a:t>
            </a:r>
          </a:p>
          <a:p>
            <a:pPr marL="914400" lvl="1" indent="-457200">
              <a:lnSpc>
                <a:spcPct val="110000"/>
              </a:lnSpc>
              <a:spcBef>
                <a:spcPts val="0"/>
              </a:spcBef>
              <a:buFont typeface="+mj-lt"/>
              <a:buAutoNum type="arabicPeriod"/>
            </a:pPr>
            <a:r>
              <a:rPr lang="en-US" dirty="0">
                <a:solidFill>
                  <a:srgbClr val="0000FF"/>
                </a:solidFill>
              </a:rPr>
              <a:t>Do the required IPsec processing (i.e., AH or ESP processing)</a:t>
            </a:r>
            <a:endParaRPr lang="en-IN" dirty="0">
              <a:solidFill>
                <a:srgbClr val="0000FF"/>
              </a:solidFill>
            </a:endParaRPr>
          </a:p>
        </p:txBody>
      </p:sp>
    </p:spTree>
    <p:extLst>
      <p:ext uri="{BB962C8B-B14F-4D97-AF65-F5344CB8AC3E}">
        <p14:creationId xmlns:p14="http://schemas.microsoft.com/office/powerpoint/2010/main" val="2177468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36CA06-9303-E8E6-7188-E4D1BB671FB0}"/>
              </a:ext>
            </a:extLst>
          </p:cNvPr>
          <p:cNvSpPr>
            <a:spLocks noGrp="1"/>
          </p:cNvSpPr>
          <p:nvPr>
            <p:ph type="title"/>
          </p:nvPr>
        </p:nvSpPr>
        <p:spPr>
          <a:xfrm>
            <a:off x="502444" y="119355"/>
            <a:ext cx="10515600" cy="1016502"/>
          </a:xfrm>
        </p:spPr>
        <p:txBody>
          <a:bodyPr/>
          <a:lstStyle/>
          <a:p>
            <a:r>
              <a:rPr lang="en-IN" dirty="0"/>
              <a:t>Selectors </a:t>
            </a:r>
            <a:r>
              <a:rPr lang="en-IN" sz="4000" dirty="0">
                <a:solidFill>
                  <a:srgbClr val="000099"/>
                </a:solidFill>
              </a:rPr>
              <a:t>(Determine an SPD entry)</a:t>
            </a:r>
            <a:endParaRPr lang="en-IN" dirty="0">
              <a:solidFill>
                <a:srgbClr val="000099"/>
              </a:solidFill>
            </a:endParaRPr>
          </a:p>
        </p:txBody>
      </p:sp>
      <p:pic>
        <p:nvPicPr>
          <p:cNvPr id="5" name="Content Placeholder 4">
            <a:extLst>
              <a:ext uri="{FF2B5EF4-FFF2-40B4-BE49-F238E27FC236}">
                <a16:creationId xmlns:a16="http://schemas.microsoft.com/office/drawing/2014/main" xmlns="" id="{A546FFC7-DAC3-B563-2C04-18D9809D8851}"/>
              </a:ext>
            </a:extLst>
          </p:cNvPr>
          <p:cNvPicPr>
            <a:picLocks noGrp="1" noChangeAspect="1"/>
          </p:cNvPicPr>
          <p:nvPr>
            <p:ph idx="1"/>
          </p:nvPr>
        </p:nvPicPr>
        <p:blipFill>
          <a:blip r:embed="rId2"/>
          <a:stretch>
            <a:fillRect/>
          </a:stretch>
        </p:blipFill>
        <p:spPr>
          <a:xfrm>
            <a:off x="631031" y="1135857"/>
            <a:ext cx="10734675" cy="5580635"/>
          </a:xfrm>
        </p:spPr>
      </p:pic>
    </p:spTree>
    <p:extLst>
      <p:ext uri="{BB962C8B-B14F-4D97-AF65-F5344CB8AC3E}">
        <p14:creationId xmlns:p14="http://schemas.microsoft.com/office/powerpoint/2010/main" val="3275598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FF0B58-E18E-36D6-1969-CB053405624B}"/>
              </a:ext>
            </a:extLst>
          </p:cNvPr>
          <p:cNvSpPr>
            <a:spLocks noGrp="1"/>
          </p:cNvSpPr>
          <p:nvPr>
            <p:ph type="title"/>
          </p:nvPr>
        </p:nvSpPr>
        <p:spPr/>
        <p:txBody>
          <a:bodyPr/>
          <a:lstStyle/>
          <a:p>
            <a:r>
              <a:rPr lang="en-IN" dirty="0"/>
              <a:t>Host SPD Example</a:t>
            </a:r>
          </a:p>
        </p:txBody>
      </p:sp>
      <p:pic>
        <p:nvPicPr>
          <p:cNvPr id="5" name="Content Placeholder 4">
            <a:extLst>
              <a:ext uri="{FF2B5EF4-FFF2-40B4-BE49-F238E27FC236}">
                <a16:creationId xmlns:a16="http://schemas.microsoft.com/office/drawing/2014/main" xmlns="" id="{7211753F-8D05-AFEC-BD8E-FB544B29A45C}"/>
              </a:ext>
            </a:extLst>
          </p:cNvPr>
          <p:cNvPicPr>
            <a:picLocks noGrp="1" noChangeAspect="1"/>
          </p:cNvPicPr>
          <p:nvPr>
            <p:ph idx="1"/>
          </p:nvPr>
        </p:nvPicPr>
        <p:blipFill>
          <a:blip r:embed="rId2"/>
          <a:stretch>
            <a:fillRect/>
          </a:stretch>
        </p:blipFill>
        <p:spPr>
          <a:xfrm>
            <a:off x="916782" y="1457620"/>
            <a:ext cx="10515600" cy="4078786"/>
          </a:xfrm>
        </p:spPr>
      </p:pic>
      <p:sp>
        <p:nvSpPr>
          <p:cNvPr id="7" name="TextBox 6">
            <a:extLst>
              <a:ext uri="{FF2B5EF4-FFF2-40B4-BE49-F238E27FC236}">
                <a16:creationId xmlns:a16="http://schemas.microsoft.com/office/drawing/2014/main" xmlns="" id="{4FC2EBC0-87B9-FF9B-ACFD-6456D2C3FCE0}"/>
              </a:ext>
            </a:extLst>
          </p:cNvPr>
          <p:cNvSpPr txBox="1"/>
          <p:nvPr/>
        </p:nvSpPr>
        <p:spPr>
          <a:xfrm>
            <a:off x="916782" y="5657671"/>
            <a:ext cx="10515600" cy="1200329"/>
          </a:xfrm>
          <a:prstGeom prst="rect">
            <a:avLst/>
          </a:prstGeom>
          <a:noFill/>
        </p:spPr>
        <p:txBody>
          <a:bodyPr wrap="square">
            <a:spAutoFit/>
          </a:bodyPr>
          <a:lstStyle/>
          <a:p>
            <a:pPr algn="just"/>
            <a:r>
              <a:rPr lang="en-US" sz="2400" b="1" dirty="0">
                <a:latin typeface="Palatino Linotype" panose="02040502050505030304" pitchFamily="18" charset="0"/>
              </a:rPr>
              <a:t>Example: </a:t>
            </a:r>
            <a:r>
              <a:rPr lang="en-US" sz="2400" dirty="0">
                <a:latin typeface="Palatino Linotype" panose="02040502050505030304" pitchFamily="18" charset="0"/>
              </a:rPr>
              <a:t>UDP port 500 is the designated port for IKE. Any traffic from the local host to a remote host for purposes of an IKE exchange bypasses the IPsec processing</a:t>
            </a:r>
            <a:endParaRPr lang="en-IN" sz="2400" dirty="0">
              <a:latin typeface="Palatino Linotype" panose="02040502050505030304" pitchFamily="18" charset="0"/>
            </a:endParaRPr>
          </a:p>
        </p:txBody>
      </p:sp>
    </p:spTree>
    <p:extLst>
      <p:ext uri="{BB962C8B-B14F-4D97-AF65-F5344CB8AC3E}">
        <p14:creationId xmlns:p14="http://schemas.microsoft.com/office/powerpoint/2010/main" val="280249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29D7044-8278-21E8-3648-20A0344BC287}"/>
              </a:ext>
            </a:extLst>
          </p:cNvPr>
          <p:cNvSpPr>
            <a:spLocks noGrp="1"/>
          </p:cNvSpPr>
          <p:nvPr>
            <p:ph type="title"/>
          </p:nvPr>
        </p:nvSpPr>
        <p:spPr/>
        <p:txBody>
          <a:bodyPr/>
          <a:lstStyle/>
          <a:p>
            <a:r>
              <a:rPr lang="en-IN" dirty="0"/>
              <a:t>IP Traffic Processing</a:t>
            </a:r>
          </a:p>
        </p:txBody>
      </p:sp>
      <p:sp>
        <p:nvSpPr>
          <p:cNvPr id="3" name="Content Placeholder 2">
            <a:extLst>
              <a:ext uri="{FF2B5EF4-FFF2-40B4-BE49-F238E27FC236}">
                <a16:creationId xmlns:a16="http://schemas.microsoft.com/office/drawing/2014/main" xmlns="" id="{10827D0B-5E71-7553-1A6D-929DC4B93FEE}"/>
              </a:ext>
            </a:extLst>
          </p:cNvPr>
          <p:cNvSpPr>
            <a:spLocks noGrp="1"/>
          </p:cNvSpPr>
          <p:nvPr>
            <p:ph idx="1"/>
          </p:nvPr>
        </p:nvSpPr>
        <p:spPr>
          <a:xfrm>
            <a:off x="838199" y="1589881"/>
            <a:ext cx="10748963" cy="4832350"/>
          </a:xfrm>
        </p:spPr>
        <p:txBody>
          <a:bodyPr>
            <a:normAutofit/>
          </a:bodyPr>
          <a:lstStyle/>
          <a:p>
            <a:pPr>
              <a:lnSpc>
                <a:spcPct val="150000"/>
              </a:lnSpc>
              <a:spcBef>
                <a:spcPts val="0"/>
              </a:spcBef>
            </a:pPr>
            <a:r>
              <a:rPr lang="en-US" sz="3200" dirty="0"/>
              <a:t>IPsec is </a:t>
            </a:r>
            <a:r>
              <a:rPr lang="en-US" sz="3200" dirty="0">
                <a:solidFill>
                  <a:srgbClr val="FF0000"/>
                </a:solidFill>
              </a:rPr>
              <a:t>executed on a packet-by-packet basis</a:t>
            </a:r>
          </a:p>
          <a:p>
            <a:pPr>
              <a:lnSpc>
                <a:spcPct val="150000"/>
              </a:lnSpc>
              <a:spcBef>
                <a:spcPts val="0"/>
              </a:spcBef>
            </a:pPr>
            <a:r>
              <a:rPr lang="en-US" sz="3200" dirty="0"/>
              <a:t>When IPsec is implemented, </a:t>
            </a:r>
          </a:p>
          <a:p>
            <a:pPr lvl="1">
              <a:lnSpc>
                <a:spcPct val="150000"/>
              </a:lnSpc>
              <a:spcBef>
                <a:spcPts val="0"/>
              </a:spcBef>
            </a:pPr>
            <a:r>
              <a:rPr lang="en-US" sz="2800" dirty="0"/>
              <a:t>Each </a:t>
            </a:r>
            <a:r>
              <a:rPr lang="en-US" sz="2800" dirty="0">
                <a:solidFill>
                  <a:srgbClr val="FF0000"/>
                </a:solidFill>
              </a:rPr>
              <a:t>outbound</a:t>
            </a:r>
            <a:r>
              <a:rPr lang="en-US" sz="2800" dirty="0">
                <a:solidFill>
                  <a:srgbClr val="000099"/>
                </a:solidFill>
              </a:rPr>
              <a:t> IP packet </a:t>
            </a:r>
            <a:r>
              <a:rPr lang="en-US" sz="2800" dirty="0"/>
              <a:t>is</a:t>
            </a:r>
            <a:r>
              <a:rPr lang="en-US" sz="2800" dirty="0">
                <a:solidFill>
                  <a:srgbClr val="000099"/>
                </a:solidFill>
              </a:rPr>
              <a:t> processed by the IPsec logic before transmission</a:t>
            </a:r>
          </a:p>
          <a:p>
            <a:pPr lvl="1">
              <a:lnSpc>
                <a:spcPct val="150000"/>
              </a:lnSpc>
              <a:spcBef>
                <a:spcPts val="0"/>
              </a:spcBef>
            </a:pPr>
            <a:r>
              <a:rPr lang="en-US" sz="2800" dirty="0"/>
              <a:t>Each </a:t>
            </a:r>
            <a:r>
              <a:rPr lang="en-US" sz="2800" dirty="0">
                <a:solidFill>
                  <a:srgbClr val="FF0000"/>
                </a:solidFill>
              </a:rPr>
              <a:t>inbound packet </a:t>
            </a:r>
            <a:r>
              <a:rPr lang="en-US" sz="2800" dirty="0"/>
              <a:t>is </a:t>
            </a:r>
            <a:r>
              <a:rPr lang="en-US" sz="2800" dirty="0">
                <a:solidFill>
                  <a:srgbClr val="000099"/>
                </a:solidFill>
              </a:rPr>
              <a:t>processed by the IPsec logic after reception and before passing the packet contents on to the next higher layer (e.g., TCP or UDP)</a:t>
            </a:r>
            <a:endParaRPr lang="en-IN" sz="2800" dirty="0">
              <a:solidFill>
                <a:srgbClr val="000099"/>
              </a:solidFill>
            </a:endParaRPr>
          </a:p>
        </p:txBody>
      </p:sp>
    </p:spTree>
    <p:extLst>
      <p:ext uri="{BB962C8B-B14F-4D97-AF65-F5344CB8AC3E}">
        <p14:creationId xmlns:p14="http://schemas.microsoft.com/office/powerpoint/2010/main" val="2604814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8A2E9A17-0779-05DE-2373-85D2D953BEF8}"/>
              </a:ext>
            </a:extLst>
          </p:cNvPr>
          <p:cNvPicPr>
            <a:picLocks noGrp="1" noChangeAspect="1"/>
          </p:cNvPicPr>
          <p:nvPr>
            <p:ph idx="1"/>
          </p:nvPr>
        </p:nvPicPr>
        <p:blipFill>
          <a:blip r:embed="rId2"/>
          <a:stretch>
            <a:fillRect/>
          </a:stretch>
        </p:blipFill>
        <p:spPr>
          <a:xfrm>
            <a:off x="4128832" y="282574"/>
            <a:ext cx="7917911" cy="6401461"/>
          </a:xfrm>
        </p:spPr>
      </p:pic>
      <p:sp>
        <p:nvSpPr>
          <p:cNvPr id="2" name="Title 1">
            <a:extLst>
              <a:ext uri="{FF2B5EF4-FFF2-40B4-BE49-F238E27FC236}">
                <a16:creationId xmlns:a16="http://schemas.microsoft.com/office/drawing/2014/main" xmlns="" id="{75FB0198-FA6F-DEEB-A446-E4705C729323}"/>
              </a:ext>
            </a:extLst>
          </p:cNvPr>
          <p:cNvSpPr>
            <a:spLocks noGrp="1"/>
          </p:cNvSpPr>
          <p:nvPr>
            <p:ph type="title"/>
          </p:nvPr>
        </p:nvSpPr>
        <p:spPr>
          <a:xfrm>
            <a:off x="145257" y="385763"/>
            <a:ext cx="4362449" cy="1657349"/>
          </a:xfrm>
        </p:spPr>
        <p:txBody>
          <a:bodyPr>
            <a:normAutofit fontScale="90000"/>
          </a:bodyPr>
          <a:lstStyle/>
          <a:p>
            <a:r>
              <a:rPr lang="en-IN" dirty="0"/>
              <a:t>Processing Model for </a:t>
            </a:r>
            <a:r>
              <a:rPr lang="en-IN" dirty="0">
                <a:solidFill>
                  <a:srgbClr val="000099"/>
                </a:solidFill>
              </a:rPr>
              <a:t>Outbound Packets</a:t>
            </a:r>
          </a:p>
        </p:txBody>
      </p:sp>
    </p:spTree>
    <p:extLst>
      <p:ext uri="{BB962C8B-B14F-4D97-AF65-F5344CB8AC3E}">
        <p14:creationId xmlns:p14="http://schemas.microsoft.com/office/powerpoint/2010/main" val="663916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6EAA439B-79B1-06F6-2457-1ED4EC053877}"/>
              </a:ext>
            </a:extLst>
          </p:cNvPr>
          <p:cNvPicPr>
            <a:picLocks noGrp="1" noChangeAspect="1"/>
          </p:cNvPicPr>
          <p:nvPr>
            <p:ph idx="1"/>
          </p:nvPr>
        </p:nvPicPr>
        <p:blipFill>
          <a:blip r:embed="rId2"/>
          <a:stretch>
            <a:fillRect/>
          </a:stretch>
        </p:blipFill>
        <p:spPr>
          <a:xfrm>
            <a:off x="2152651" y="765174"/>
            <a:ext cx="8002511" cy="6039503"/>
          </a:xfrm>
        </p:spPr>
      </p:pic>
      <p:sp>
        <p:nvSpPr>
          <p:cNvPr id="6" name="Title 1">
            <a:extLst>
              <a:ext uri="{FF2B5EF4-FFF2-40B4-BE49-F238E27FC236}">
                <a16:creationId xmlns:a16="http://schemas.microsoft.com/office/drawing/2014/main" xmlns="" id="{DF600E41-9867-25BE-3291-1B2DE12383CA}"/>
              </a:ext>
            </a:extLst>
          </p:cNvPr>
          <p:cNvSpPr>
            <a:spLocks noGrp="1"/>
          </p:cNvSpPr>
          <p:nvPr>
            <p:ph type="title"/>
          </p:nvPr>
        </p:nvSpPr>
        <p:spPr>
          <a:xfrm>
            <a:off x="204787" y="136524"/>
            <a:ext cx="9834562" cy="628650"/>
          </a:xfrm>
        </p:spPr>
        <p:txBody>
          <a:bodyPr>
            <a:normAutofit fontScale="90000"/>
          </a:bodyPr>
          <a:lstStyle/>
          <a:p>
            <a:r>
              <a:rPr lang="en-IN" dirty="0"/>
              <a:t>Processing Model for </a:t>
            </a:r>
            <a:r>
              <a:rPr lang="en-IN" dirty="0">
                <a:solidFill>
                  <a:srgbClr val="000099"/>
                </a:solidFill>
              </a:rPr>
              <a:t>Inbound Packets</a:t>
            </a:r>
          </a:p>
        </p:txBody>
      </p:sp>
    </p:spTree>
    <p:extLst>
      <p:ext uri="{BB962C8B-B14F-4D97-AF65-F5344CB8AC3E}">
        <p14:creationId xmlns:p14="http://schemas.microsoft.com/office/powerpoint/2010/main" val="1551949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ABCEA5-6E95-1B74-F776-9C66B605A72F}"/>
              </a:ext>
            </a:extLst>
          </p:cNvPr>
          <p:cNvSpPr>
            <a:spLocks noGrp="1"/>
          </p:cNvSpPr>
          <p:nvPr>
            <p:ph type="title"/>
          </p:nvPr>
        </p:nvSpPr>
        <p:spPr>
          <a:xfrm>
            <a:off x="838200" y="365125"/>
            <a:ext cx="10515600" cy="1006475"/>
          </a:xfrm>
        </p:spPr>
        <p:txBody>
          <a:bodyPr/>
          <a:lstStyle/>
          <a:p>
            <a:r>
              <a:rPr lang="en-IN" dirty="0"/>
              <a:t>Encapsulating Security Payload </a:t>
            </a:r>
            <a:r>
              <a:rPr lang="en-IN" sz="4000" dirty="0">
                <a:solidFill>
                  <a:srgbClr val="000099"/>
                </a:solidFill>
              </a:rPr>
              <a:t>[ESP]</a:t>
            </a:r>
            <a:endParaRPr lang="en-IN" dirty="0">
              <a:solidFill>
                <a:srgbClr val="000099"/>
              </a:solidFill>
            </a:endParaRPr>
          </a:p>
        </p:txBody>
      </p:sp>
      <p:sp>
        <p:nvSpPr>
          <p:cNvPr id="3" name="Content Placeholder 2">
            <a:extLst>
              <a:ext uri="{FF2B5EF4-FFF2-40B4-BE49-F238E27FC236}">
                <a16:creationId xmlns:a16="http://schemas.microsoft.com/office/drawing/2014/main" xmlns="" id="{555E847B-DF7E-AAAE-68EB-4728D2033D11}"/>
              </a:ext>
            </a:extLst>
          </p:cNvPr>
          <p:cNvSpPr>
            <a:spLocks noGrp="1"/>
          </p:cNvSpPr>
          <p:nvPr>
            <p:ph idx="1"/>
          </p:nvPr>
        </p:nvSpPr>
        <p:spPr>
          <a:xfrm>
            <a:off x="838200" y="1421606"/>
            <a:ext cx="10777538" cy="5179219"/>
          </a:xfrm>
        </p:spPr>
        <p:txBody>
          <a:bodyPr>
            <a:normAutofit/>
          </a:bodyPr>
          <a:lstStyle/>
          <a:p>
            <a:pPr>
              <a:lnSpc>
                <a:spcPct val="120000"/>
              </a:lnSpc>
              <a:spcBef>
                <a:spcPts val="0"/>
              </a:spcBef>
            </a:pPr>
            <a:r>
              <a:rPr lang="en-US" dirty="0"/>
              <a:t>ESP can be used to provide </a:t>
            </a:r>
            <a:r>
              <a:rPr lang="en-US" dirty="0">
                <a:solidFill>
                  <a:srgbClr val="000099"/>
                </a:solidFill>
              </a:rPr>
              <a:t>confidentiality,</a:t>
            </a:r>
            <a:r>
              <a:rPr lang="en-US" dirty="0"/>
              <a:t> </a:t>
            </a:r>
            <a:r>
              <a:rPr lang="en-US" dirty="0">
                <a:solidFill>
                  <a:srgbClr val="000099"/>
                </a:solidFill>
              </a:rPr>
              <a:t>data origin authentication</a:t>
            </a:r>
            <a:r>
              <a:rPr lang="en-US" dirty="0"/>
              <a:t>, </a:t>
            </a:r>
            <a:r>
              <a:rPr lang="en-US" dirty="0">
                <a:solidFill>
                  <a:srgbClr val="000099"/>
                </a:solidFill>
              </a:rPr>
              <a:t>connectionless integrity</a:t>
            </a:r>
            <a:r>
              <a:rPr lang="en-US" dirty="0"/>
              <a:t>, an </a:t>
            </a:r>
            <a:r>
              <a:rPr lang="en-US" dirty="0">
                <a:solidFill>
                  <a:srgbClr val="000099"/>
                </a:solidFill>
              </a:rPr>
              <a:t>anti-replay service </a:t>
            </a:r>
            <a:r>
              <a:rPr lang="en-US" dirty="0"/>
              <a:t>(a form of partial sequence integrity), and (limited) </a:t>
            </a:r>
            <a:r>
              <a:rPr lang="en-US" dirty="0">
                <a:solidFill>
                  <a:srgbClr val="000099"/>
                </a:solidFill>
              </a:rPr>
              <a:t>traffic flow confidentiality</a:t>
            </a:r>
          </a:p>
          <a:p>
            <a:pPr>
              <a:lnSpc>
                <a:spcPct val="120000"/>
              </a:lnSpc>
              <a:spcBef>
                <a:spcPts val="0"/>
              </a:spcBef>
            </a:pPr>
            <a:r>
              <a:rPr lang="en-US" dirty="0">
                <a:solidFill>
                  <a:srgbClr val="FF0000"/>
                </a:solidFill>
              </a:rPr>
              <a:t>The set of services provided depends on options selected at the time of Security Association (SA) establishment and on the location of the implementation in a network topology</a:t>
            </a:r>
          </a:p>
          <a:p>
            <a:pPr>
              <a:lnSpc>
                <a:spcPct val="120000"/>
              </a:lnSpc>
              <a:spcBef>
                <a:spcPts val="0"/>
              </a:spcBef>
            </a:pPr>
            <a:r>
              <a:rPr lang="en-US" dirty="0"/>
              <a:t>ESP can work with a variety of encryption and authentication algorithms</a:t>
            </a:r>
            <a:endParaRPr lang="en-IN" dirty="0"/>
          </a:p>
        </p:txBody>
      </p:sp>
    </p:spTree>
    <p:extLst>
      <p:ext uri="{BB962C8B-B14F-4D97-AF65-F5344CB8AC3E}">
        <p14:creationId xmlns:p14="http://schemas.microsoft.com/office/powerpoint/2010/main" val="3349810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AC7AD7-A11D-CC30-159A-E797BB07A942}"/>
              </a:ext>
            </a:extLst>
          </p:cNvPr>
          <p:cNvSpPr>
            <a:spLocks noGrp="1"/>
          </p:cNvSpPr>
          <p:nvPr>
            <p:ph type="title"/>
          </p:nvPr>
        </p:nvSpPr>
        <p:spPr/>
        <p:txBody>
          <a:bodyPr/>
          <a:lstStyle/>
          <a:p>
            <a:r>
              <a:rPr lang="en-IN" dirty="0"/>
              <a:t>ESP Format</a:t>
            </a:r>
          </a:p>
        </p:txBody>
      </p:sp>
      <p:pic>
        <p:nvPicPr>
          <p:cNvPr id="5" name="Content Placeholder 4">
            <a:extLst>
              <a:ext uri="{FF2B5EF4-FFF2-40B4-BE49-F238E27FC236}">
                <a16:creationId xmlns:a16="http://schemas.microsoft.com/office/drawing/2014/main" xmlns="" id="{61020128-E251-839C-9A91-F280C9FD311F}"/>
              </a:ext>
            </a:extLst>
          </p:cNvPr>
          <p:cNvPicPr>
            <a:picLocks noGrp="1" noChangeAspect="1"/>
          </p:cNvPicPr>
          <p:nvPr>
            <p:ph idx="1"/>
          </p:nvPr>
        </p:nvPicPr>
        <p:blipFill>
          <a:blip r:embed="rId2"/>
          <a:stretch>
            <a:fillRect/>
          </a:stretch>
        </p:blipFill>
        <p:spPr>
          <a:xfrm>
            <a:off x="946963" y="1604169"/>
            <a:ext cx="10406837" cy="4351338"/>
          </a:xfrm>
        </p:spPr>
      </p:pic>
    </p:spTree>
    <p:extLst>
      <p:ext uri="{BB962C8B-B14F-4D97-AF65-F5344CB8AC3E}">
        <p14:creationId xmlns:p14="http://schemas.microsoft.com/office/powerpoint/2010/main" val="3664334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DAA4A5-5985-C155-8582-0656E47D7D51}"/>
              </a:ext>
            </a:extLst>
          </p:cNvPr>
          <p:cNvSpPr>
            <a:spLocks noGrp="1"/>
          </p:cNvSpPr>
          <p:nvPr>
            <p:ph type="title"/>
          </p:nvPr>
        </p:nvSpPr>
        <p:spPr>
          <a:xfrm>
            <a:off x="552450" y="84615"/>
            <a:ext cx="10515600" cy="1325563"/>
          </a:xfrm>
        </p:spPr>
        <p:txBody>
          <a:bodyPr/>
          <a:lstStyle/>
          <a:p>
            <a:r>
              <a:rPr lang="en-IN" dirty="0"/>
              <a:t>ESP packet fields</a:t>
            </a:r>
          </a:p>
        </p:txBody>
      </p:sp>
      <p:pic>
        <p:nvPicPr>
          <p:cNvPr id="5" name="Content Placeholder 4">
            <a:extLst>
              <a:ext uri="{FF2B5EF4-FFF2-40B4-BE49-F238E27FC236}">
                <a16:creationId xmlns:a16="http://schemas.microsoft.com/office/drawing/2014/main" xmlns="" id="{23A9AAB3-8364-136A-458D-2BFF7BFD2764}"/>
              </a:ext>
            </a:extLst>
          </p:cNvPr>
          <p:cNvPicPr>
            <a:picLocks noGrp="1" noChangeAspect="1"/>
          </p:cNvPicPr>
          <p:nvPr>
            <p:ph idx="1"/>
          </p:nvPr>
        </p:nvPicPr>
        <p:blipFill>
          <a:blip r:embed="rId2"/>
          <a:stretch>
            <a:fillRect/>
          </a:stretch>
        </p:blipFill>
        <p:spPr>
          <a:xfrm>
            <a:off x="926702" y="1253331"/>
            <a:ext cx="10360423" cy="5520054"/>
          </a:xfrm>
        </p:spPr>
      </p:pic>
    </p:spTree>
    <p:extLst>
      <p:ext uri="{BB962C8B-B14F-4D97-AF65-F5344CB8AC3E}">
        <p14:creationId xmlns:p14="http://schemas.microsoft.com/office/powerpoint/2010/main" val="775438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91B9BAE-2358-0C74-8585-7DDC4E89D4AC}"/>
              </a:ext>
            </a:extLst>
          </p:cNvPr>
          <p:cNvSpPr>
            <a:spLocks noGrp="1"/>
          </p:cNvSpPr>
          <p:nvPr>
            <p:ph type="title"/>
          </p:nvPr>
        </p:nvSpPr>
        <p:spPr>
          <a:xfrm>
            <a:off x="593185" y="0"/>
            <a:ext cx="10515600" cy="1325563"/>
          </a:xfrm>
        </p:spPr>
        <p:txBody>
          <a:bodyPr/>
          <a:lstStyle/>
          <a:p>
            <a:r>
              <a:rPr lang="en-IN" dirty="0"/>
              <a:t>Substructure of Payload Data</a:t>
            </a:r>
          </a:p>
        </p:txBody>
      </p:sp>
      <p:pic>
        <p:nvPicPr>
          <p:cNvPr id="5" name="Content Placeholder 4">
            <a:extLst>
              <a:ext uri="{FF2B5EF4-FFF2-40B4-BE49-F238E27FC236}">
                <a16:creationId xmlns:a16="http://schemas.microsoft.com/office/drawing/2014/main" xmlns="" id="{DFF9A35D-ED07-4F1D-1081-4D018CC355C3}"/>
              </a:ext>
            </a:extLst>
          </p:cNvPr>
          <p:cNvPicPr>
            <a:picLocks noGrp="1" noChangeAspect="1"/>
          </p:cNvPicPr>
          <p:nvPr>
            <p:ph idx="1"/>
          </p:nvPr>
        </p:nvPicPr>
        <p:blipFill>
          <a:blip r:embed="rId2"/>
          <a:stretch>
            <a:fillRect/>
          </a:stretch>
        </p:blipFill>
        <p:spPr>
          <a:xfrm>
            <a:off x="593185" y="1018381"/>
            <a:ext cx="10211306" cy="4351338"/>
          </a:xfrm>
        </p:spPr>
      </p:pic>
      <p:sp>
        <p:nvSpPr>
          <p:cNvPr id="7" name="TextBox 6">
            <a:extLst>
              <a:ext uri="{FF2B5EF4-FFF2-40B4-BE49-F238E27FC236}">
                <a16:creationId xmlns:a16="http://schemas.microsoft.com/office/drawing/2014/main" xmlns="" id="{7C769B0D-F173-3202-C455-29E7F18AFD88}"/>
              </a:ext>
            </a:extLst>
          </p:cNvPr>
          <p:cNvSpPr txBox="1"/>
          <p:nvPr/>
        </p:nvSpPr>
        <p:spPr>
          <a:xfrm>
            <a:off x="221456" y="5451396"/>
            <a:ext cx="11744325" cy="1323439"/>
          </a:xfrm>
          <a:prstGeom prst="rect">
            <a:avLst/>
          </a:prstGeom>
          <a:noFill/>
        </p:spPr>
        <p:txBody>
          <a:bodyPr wrap="square">
            <a:spAutoFit/>
          </a:bodyPr>
          <a:lstStyle/>
          <a:p>
            <a:pPr marL="342900" indent="-342900" algn="just">
              <a:buFont typeface="Arial" panose="020B0604020202020204" pitchFamily="34" charset="0"/>
              <a:buChar char="•"/>
            </a:pPr>
            <a:r>
              <a:rPr lang="en-US" sz="2000" dirty="0">
                <a:latin typeface="Palatino Linotype" panose="02040502050505030304" pitchFamily="18" charset="0"/>
              </a:rPr>
              <a:t>An </a:t>
            </a:r>
            <a:r>
              <a:rPr lang="en-US" sz="2000" b="1" dirty="0">
                <a:solidFill>
                  <a:srgbClr val="FF0000"/>
                </a:solidFill>
                <a:latin typeface="Palatino Linotype" panose="02040502050505030304" pitchFamily="18" charset="0"/>
              </a:rPr>
              <a:t>Initialization Value (IV), </a:t>
            </a:r>
            <a:r>
              <a:rPr lang="en-US" sz="2000" dirty="0">
                <a:latin typeface="Palatino Linotype" panose="02040502050505030304" pitchFamily="18" charset="0"/>
              </a:rPr>
              <a:t>or nonce, is present if this is </a:t>
            </a:r>
            <a:r>
              <a:rPr lang="en-US" sz="2000" dirty="0">
                <a:solidFill>
                  <a:srgbClr val="000099"/>
                </a:solidFill>
                <a:latin typeface="Palatino Linotype" panose="02040502050505030304" pitchFamily="18" charset="0"/>
              </a:rPr>
              <a:t>required by the encryption or authenticated encryption algorithm used for ESP</a:t>
            </a:r>
          </a:p>
          <a:p>
            <a:pPr marL="342900" indent="-342900" algn="just">
              <a:buFont typeface="Arial" panose="020B0604020202020204" pitchFamily="34" charset="0"/>
              <a:buChar char="•"/>
            </a:pPr>
            <a:r>
              <a:rPr lang="en-US" sz="2000" dirty="0">
                <a:latin typeface="Palatino Linotype" panose="02040502050505030304" pitchFamily="18" charset="0"/>
              </a:rPr>
              <a:t>If </a:t>
            </a:r>
            <a:r>
              <a:rPr lang="en-US" sz="2000" dirty="0">
                <a:solidFill>
                  <a:srgbClr val="000099"/>
                </a:solidFill>
                <a:latin typeface="Palatino Linotype" panose="02040502050505030304" pitchFamily="18" charset="0"/>
              </a:rPr>
              <a:t>tunnel mode is being used</a:t>
            </a:r>
            <a:r>
              <a:rPr lang="en-US" sz="2000" dirty="0">
                <a:latin typeface="Palatino Linotype" panose="02040502050505030304" pitchFamily="18" charset="0"/>
              </a:rPr>
              <a:t>, then the IPsec implementation may add </a:t>
            </a:r>
            <a:r>
              <a:rPr lang="en-US" sz="2000" b="1" dirty="0">
                <a:solidFill>
                  <a:srgbClr val="FF0000"/>
                </a:solidFill>
                <a:latin typeface="Palatino Linotype" panose="02040502050505030304" pitchFamily="18" charset="0"/>
              </a:rPr>
              <a:t>Traffic Flow Confidentiality (TFC) </a:t>
            </a:r>
            <a:r>
              <a:rPr lang="en-US" sz="2000" dirty="0">
                <a:latin typeface="Palatino Linotype" panose="02040502050505030304" pitchFamily="18" charset="0"/>
              </a:rPr>
              <a:t>padding after the Payload Data and before the Padding field</a:t>
            </a:r>
            <a:endParaRPr lang="en-IN" sz="2000" dirty="0">
              <a:latin typeface="Palatino Linotype" panose="02040502050505030304" pitchFamily="18" charset="0"/>
            </a:endParaRPr>
          </a:p>
        </p:txBody>
      </p:sp>
    </p:spTree>
    <p:extLst>
      <p:ext uri="{BB962C8B-B14F-4D97-AF65-F5344CB8AC3E}">
        <p14:creationId xmlns:p14="http://schemas.microsoft.com/office/powerpoint/2010/main" val="2588110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D41E87-D9B1-847F-8D89-E522755812EF}"/>
              </a:ext>
            </a:extLst>
          </p:cNvPr>
          <p:cNvSpPr>
            <a:spLocks noGrp="1"/>
          </p:cNvSpPr>
          <p:nvPr>
            <p:ph type="title"/>
          </p:nvPr>
        </p:nvSpPr>
        <p:spPr>
          <a:xfrm>
            <a:off x="716757" y="186532"/>
            <a:ext cx="11049000" cy="1149350"/>
          </a:xfrm>
        </p:spPr>
        <p:txBody>
          <a:bodyPr/>
          <a:lstStyle/>
          <a:p>
            <a:r>
              <a:rPr lang="en-IN" dirty="0"/>
              <a:t>Encryption and Authentication Algorithms</a:t>
            </a:r>
          </a:p>
        </p:txBody>
      </p:sp>
      <p:sp>
        <p:nvSpPr>
          <p:cNvPr id="3" name="Content Placeholder 2">
            <a:extLst>
              <a:ext uri="{FF2B5EF4-FFF2-40B4-BE49-F238E27FC236}">
                <a16:creationId xmlns:a16="http://schemas.microsoft.com/office/drawing/2014/main" xmlns="" id="{60575A31-BFCD-B8FD-FE5B-D34834420559}"/>
              </a:ext>
            </a:extLst>
          </p:cNvPr>
          <p:cNvSpPr>
            <a:spLocks noGrp="1"/>
          </p:cNvSpPr>
          <p:nvPr>
            <p:ph idx="1"/>
          </p:nvPr>
        </p:nvSpPr>
        <p:spPr>
          <a:xfrm>
            <a:off x="838200" y="1214438"/>
            <a:ext cx="10515600" cy="5550693"/>
          </a:xfrm>
        </p:spPr>
        <p:txBody>
          <a:bodyPr>
            <a:normAutofit fontScale="92500" lnSpcReduction="10000"/>
          </a:bodyPr>
          <a:lstStyle/>
          <a:p>
            <a:pPr>
              <a:lnSpc>
                <a:spcPct val="120000"/>
              </a:lnSpc>
              <a:spcBef>
                <a:spcPts val="0"/>
              </a:spcBef>
            </a:pPr>
            <a:r>
              <a:rPr lang="en-US" dirty="0"/>
              <a:t>The </a:t>
            </a:r>
            <a:r>
              <a:rPr lang="en-US" dirty="0">
                <a:solidFill>
                  <a:srgbClr val="000099"/>
                </a:solidFill>
              </a:rPr>
              <a:t>Payload Data, Padding, Pad Length, and Next Header fields are encrypted</a:t>
            </a:r>
            <a:r>
              <a:rPr lang="en-US" dirty="0"/>
              <a:t> by the </a:t>
            </a:r>
            <a:r>
              <a:rPr lang="en-US" dirty="0">
                <a:solidFill>
                  <a:srgbClr val="FF0000"/>
                </a:solidFill>
              </a:rPr>
              <a:t>ESP service</a:t>
            </a:r>
          </a:p>
          <a:p>
            <a:pPr>
              <a:lnSpc>
                <a:spcPct val="120000"/>
              </a:lnSpc>
              <a:spcBef>
                <a:spcPts val="0"/>
              </a:spcBef>
            </a:pPr>
            <a:r>
              <a:rPr lang="en-US" dirty="0">
                <a:solidFill>
                  <a:srgbClr val="000099"/>
                </a:solidFill>
              </a:rPr>
              <a:t>If the algorithm used to encrypt the payload requires cryptographic synchronization data</a:t>
            </a:r>
            <a:r>
              <a:rPr lang="en-US" dirty="0"/>
              <a:t>, such as an </a:t>
            </a:r>
            <a:r>
              <a:rPr lang="en-US" b="1" dirty="0">
                <a:solidFill>
                  <a:srgbClr val="FF0000"/>
                </a:solidFill>
              </a:rPr>
              <a:t>Initialization Vector</a:t>
            </a:r>
            <a:r>
              <a:rPr lang="en-US" dirty="0"/>
              <a:t> </a:t>
            </a:r>
            <a:r>
              <a:rPr lang="en-US" b="1" dirty="0"/>
              <a:t>(IV), </a:t>
            </a:r>
            <a:r>
              <a:rPr lang="en-US" dirty="0"/>
              <a:t>then these data may be carried explicitly at the beginning of the Payload Data field</a:t>
            </a:r>
          </a:p>
          <a:p>
            <a:pPr lvl="1">
              <a:lnSpc>
                <a:spcPct val="120000"/>
              </a:lnSpc>
              <a:spcBef>
                <a:spcPts val="0"/>
              </a:spcBef>
            </a:pPr>
            <a:r>
              <a:rPr lang="en-US" dirty="0"/>
              <a:t>If included, an IV is usually not encrypted, although it is often referred to as being part of the ciphertext</a:t>
            </a:r>
          </a:p>
          <a:p>
            <a:pPr>
              <a:lnSpc>
                <a:spcPct val="120000"/>
              </a:lnSpc>
              <a:spcBef>
                <a:spcPts val="0"/>
              </a:spcBef>
            </a:pPr>
            <a:r>
              <a:rPr lang="en-US" dirty="0"/>
              <a:t>The </a:t>
            </a:r>
            <a:r>
              <a:rPr lang="en-US" b="1" dirty="0">
                <a:solidFill>
                  <a:srgbClr val="FF0000"/>
                </a:solidFill>
              </a:rPr>
              <a:t>ICV field </a:t>
            </a:r>
            <a:r>
              <a:rPr lang="en-US" dirty="0"/>
              <a:t>is optional. It is present only </a:t>
            </a:r>
            <a:r>
              <a:rPr lang="en-US" dirty="0">
                <a:solidFill>
                  <a:srgbClr val="000099"/>
                </a:solidFill>
              </a:rPr>
              <a:t>if the integrity service is selected </a:t>
            </a:r>
            <a:r>
              <a:rPr lang="en-US" dirty="0"/>
              <a:t>and </a:t>
            </a:r>
            <a:r>
              <a:rPr lang="en-US" dirty="0">
                <a:solidFill>
                  <a:srgbClr val="000099"/>
                </a:solidFill>
              </a:rPr>
              <a:t>is provided by either a separate integrity algorithm </a:t>
            </a:r>
            <a:r>
              <a:rPr lang="en-US" dirty="0"/>
              <a:t>or a </a:t>
            </a:r>
            <a:r>
              <a:rPr lang="en-US" dirty="0">
                <a:solidFill>
                  <a:srgbClr val="000099"/>
                </a:solidFill>
              </a:rPr>
              <a:t>combined mode algorithm that uses an ICV</a:t>
            </a:r>
          </a:p>
          <a:p>
            <a:pPr lvl="1">
              <a:lnSpc>
                <a:spcPct val="120000"/>
              </a:lnSpc>
              <a:spcBef>
                <a:spcPts val="0"/>
              </a:spcBef>
            </a:pPr>
            <a:r>
              <a:rPr lang="en-US" dirty="0"/>
              <a:t>Allows for the possibility of </a:t>
            </a:r>
            <a:r>
              <a:rPr lang="en-US" dirty="0">
                <a:solidFill>
                  <a:srgbClr val="FF00FF"/>
                </a:solidFill>
              </a:rPr>
              <a:t>parallel processing of packets at the receiver </a:t>
            </a:r>
            <a:r>
              <a:rPr lang="en-US" dirty="0"/>
              <a:t>that is </a:t>
            </a:r>
            <a:r>
              <a:rPr lang="en-US" dirty="0">
                <a:solidFill>
                  <a:srgbClr val="0000FF"/>
                </a:solidFill>
              </a:rPr>
              <a:t>decryption can take place in parallel with integrity checking</a:t>
            </a:r>
            <a:endParaRPr lang="en-IN" dirty="0">
              <a:solidFill>
                <a:srgbClr val="0000FF"/>
              </a:solidFill>
            </a:endParaRPr>
          </a:p>
        </p:txBody>
      </p:sp>
    </p:spTree>
    <p:extLst>
      <p:ext uri="{BB962C8B-B14F-4D97-AF65-F5344CB8AC3E}">
        <p14:creationId xmlns:p14="http://schemas.microsoft.com/office/powerpoint/2010/main" val="822485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80F0CFD-EC25-EA93-662E-F9FE2F3E09D2}"/>
              </a:ext>
            </a:extLst>
          </p:cNvPr>
          <p:cNvSpPr>
            <a:spLocks noGrp="1"/>
          </p:cNvSpPr>
          <p:nvPr>
            <p:ph type="title"/>
          </p:nvPr>
        </p:nvSpPr>
        <p:spPr>
          <a:xfrm>
            <a:off x="702469" y="121445"/>
            <a:ext cx="10515600" cy="1325563"/>
          </a:xfrm>
        </p:spPr>
        <p:txBody>
          <a:bodyPr/>
          <a:lstStyle/>
          <a:p>
            <a:r>
              <a:rPr lang="en-IN" dirty="0"/>
              <a:t>Purpose of padding</a:t>
            </a:r>
          </a:p>
        </p:txBody>
      </p:sp>
      <p:sp>
        <p:nvSpPr>
          <p:cNvPr id="3" name="Content Placeholder 2">
            <a:extLst>
              <a:ext uri="{FF2B5EF4-FFF2-40B4-BE49-F238E27FC236}">
                <a16:creationId xmlns:a16="http://schemas.microsoft.com/office/drawing/2014/main" xmlns="" id="{DB1D2F30-F2E1-648A-B733-A2FC5E51585D}"/>
              </a:ext>
            </a:extLst>
          </p:cNvPr>
          <p:cNvSpPr>
            <a:spLocks noGrp="1"/>
          </p:cNvSpPr>
          <p:nvPr>
            <p:ph idx="1"/>
          </p:nvPr>
        </p:nvSpPr>
        <p:spPr>
          <a:xfrm>
            <a:off x="838200" y="1271588"/>
            <a:ext cx="10515600" cy="5464967"/>
          </a:xfrm>
        </p:spPr>
        <p:txBody>
          <a:bodyPr>
            <a:normAutofit/>
          </a:bodyPr>
          <a:lstStyle/>
          <a:p>
            <a:pPr marL="514350" indent="-514350">
              <a:lnSpc>
                <a:spcPct val="100000"/>
              </a:lnSpc>
              <a:spcBef>
                <a:spcPts val="0"/>
              </a:spcBef>
              <a:buFont typeface="+mj-lt"/>
              <a:buAutoNum type="arabicPeriod"/>
            </a:pPr>
            <a:r>
              <a:rPr lang="en-US" dirty="0"/>
              <a:t>If an </a:t>
            </a:r>
            <a:r>
              <a:rPr lang="en-US" dirty="0">
                <a:solidFill>
                  <a:srgbClr val="FF0000"/>
                </a:solidFill>
              </a:rPr>
              <a:t>encryption algorithm </a:t>
            </a:r>
            <a:r>
              <a:rPr lang="en-US" dirty="0"/>
              <a:t>requires the plaintext to be a </a:t>
            </a:r>
            <a:r>
              <a:rPr lang="en-US" dirty="0">
                <a:solidFill>
                  <a:srgbClr val="0000FF"/>
                </a:solidFill>
              </a:rPr>
              <a:t>multiple of some number of bytes </a:t>
            </a:r>
            <a:r>
              <a:rPr lang="en-US" dirty="0"/>
              <a:t>(e.g., the multiple of a single block for a block cipher), the Padding field is used to expand the plaintext (consisting of the Payload Data, Padding, Pad Length, and Next Header fields) to the required length</a:t>
            </a:r>
          </a:p>
          <a:p>
            <a:pPr marL="514350" indent="-514350">
              <a:lnSpc>
                <a:spcPct val="100000"/>
              </a:lnSpc>
              <a:spcBef>
                <a:spcPts val="0"/>
              </a:spcBef>
              <a:buFont typeface="+mj-lt"/>
              <a:buAutoNum type="arabicPeriod"/>
            </a:pPr>
            <a:r>
              <a:rPr lang="en-US" dirty="0"/>
              <a:t>The ESP format requires that the </a:t>
            </a:r>
            <a:r>
              <a:rPr lang="en-US" dirty="0">
                <a:solidFill>
                  <a:srgbClr val="FF0000"/>
                </a:solidFill>
              </a:rPr>
              <a:t>Pad Length </a:t>
            </a:r>
            <a:r>
              <a:rPr lang="en-US" dirty="0"/>
              <a:t>and </a:t>
            </a:r>
            <a:r>
              <a:rPr lang="en-US" dirty="0">
                <a:solidFill>
                  <a:srgbClr val="FF0000"/>
                </a:solidFill>
              </a:rPr>
              <a:t>Next Header </a:t>
            </a:r>
            <a:r>
              <a:rPr lang="en-US" dirty="0"/>
              <a:t>fields be </a:t>
            </a:r>
            <a:r>
              <a:rPr lang="en-US" dirty="0">
                <a:solidFill>
                  <a:srgbClr val="000099"/>
                </a:solidFill>
              </a:rPr>
              <a:t>right aligned within a 32-bit word</a:t>
            </a:r>
            <a:r>
              <a:rPr lang="en-US" dirty="0"/>
              <a:t>. </a:t>
            </a:r>
          </a:p>
          <a:p>
            <a:pPr lvl="1">
              <a:lnSpc>
                <a:spcPct val="100000"/>
              </a:lnSpc>
              <a:spcBef>
                <a:spcPts val="0"/>
              </a:spcBef>
            </a:pPr>
            <a:r>
              <a:rPr lang="en-US" dirty="0"/>
              <a:t>Equivalently, the </a:t>
            </a:r>
            <a:r>
              <a:rPr lang="en-US" b="1" dirty="0">
                <a:solidFill>
                  <a:srgbClr val="000099"/>
                </a:solidFill>
              </a:rPr>
              <a:t>ciphertext</a:t>
            </a:r>
            <a:r>
              <a:rPr lang="en-US" dirty="0"/>
              <a:t> must be an </a:t>
            </a:r>
            <a:r>
              <a:rPr lang="en-US" dirty="0">
                <a:solidFill>
                  <a:srgbClr val="000099"/>
                </a:solidFill>
              </a:rPr>
              <a:t>integer multiple of 32 bits</a:t>
            </a:r>
            <a:r>
              <a:rPr lang="en-US" dirty="0"/>
              <a:t>. The Padding field is used to assure this alignment</a:t>
            </a:r>
          </a:p>
          <a:p>
            <a:pPr marL="514350" indent="-514350">
              <a:lnSpc>
                <a:spcPct val="100000"/>
              </a:lnSpc>
              <a:spcBef>
                <a:spcPts val="0"/>
              </a:spcBef>
              <a:buFont typeface="+mj-lt"/>
              <a:buAutoNum type="arabicPeriod"/>
            </a:pPr>
            <a:r>
              <a:rPr lang="en-US" b="1" dirty="0"/>
              <a:t>Additional padding </a:t>
            </a:r>
            <a:r>
              <a:rPr lang="en-US" dirty="0"/>
              <a:t>may be added to provide </a:t>
            </a:r>
            <a:r>
              <a:rPr lang="en-US" dirty="0">
                <a:solidFill>
                  <a:srgbClr val="000099"/>
                </a:solidFill>
              </a:rPr>
              <a:t>partial traffic-flow confidentiality by concealing the actual length of the payload</a:t>
            </a:r>
            <a:endParaRPr lang="en-IN" dirty="0">
              <a:solidFill>
                <a:srgbClr val="000099"/>
              </a:solidFill>
            </a:endParaRPr>
          </a:p>
        </p:txBody>
      </p:sp>
    </p:spTree>
    <p:extLst>
      <p:ext uri="{BB962C8B-B14F-4D97-AF65-F5344CB8AC3E}">
        <p14:creationId xmlns:p14="http://schemas.microsoft.com/office/powerpoint/2010/main" val="4093144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0739EE66-1B11-5CE3-BA9D-4A72EC1E617A}"/>
              </a:ext>
            </a:extLst>
          </p:cNvPr>
          <p:cNvPicPr>
            <a:picLocks noGrp="1" noChangeAspect="1"/>
          </p:cNvPicPr>
          <p:nvPr>
            <p:ph idx="1"/>
          </p:nvPr>
        </p:nvPicPr>
        <p:blipFill>
          <a:blip r:embed="rId2"/>
          <a:stretch>
            <a:fillRect/>
          </a:stretch>
        </p:blipFill>
        <p:spPr>
          <a:xfrm>
            <a:off x="4062002" y="425451"/>
            <a:ext cx="7996648" cy="3403144"/>
          </a:xfrm>
        </p:spPr>
      </p:pic>
      <p:sp>
        <p:nvSpPr>
          <p:cNvPr id="2" name="Title 1">
            <a:extLst>
              <a:ext uri="{FF2B5EF4-FFF2-40B4-BE49-F238E27FC236}">
                <a16:creationId xmlns:a16="http://schemas.microsoft.com/office/drawing/2014/main" xmlns="" id="{C27F5AAD-3D98-2A1C-B5DF-50D591385D70}"/>
              </a:ext>
            </a:extLst>
          </p:cNvPr>
          <p:cNvSpPr>
            <a:spLocks noGrp="1"/>
          </p:cNvSpPr>
          <p:nvPr>
            <p:ph type="title"/>
          </p:nvPr>
        </p:nvSpPr>
        <p:spPr>
          <a:xfrm>
            <a:off x="588169" y="0"/>
            <a:ext cx="10515600" cy="1325563"/>
          </a:xfrm>
        </p:spPr>
        <p:txBody>
          <a:bodyPr/>
          <a:lstStyle/>
          <a:p>
            <a:r>
              <a:rPr lang="en-IN" dirty="0"/>
              <a:t>Anti-Replay Mechanism</a:t>
            </a:r>
          </a:p>
        </p:txBody>
      </p:sp>
      <p:pic>
        <p:nvPicPr>
          <p:cNvPr id="7" name="Picture 6">
            <a:extLst>
              <a:ext uri="{FF2B5EF4-FFF2-40B4-BE49-F238E27FC236}">
                <a16:creationId xmlns:a16="http://schemas.microsoft.com/office/drawing/2014/main" xmlns="" id="{35B40880-187B-069D-A36B-516A194B87A8}"/>
              </a:ext>
            </a:extLst>
          </p:cNvPr>
          <p:cNvPicPr>
            <a:picLocks noChangeAspect="1"/>
          </p:cNvPicPr>
          <p:nvPr/>
        </p:nvPicPr>
        <p:blipFill>
          <a:blip r:embed="rId3"/>
          <a:stretch>
            <a:fillRect/>
          </a:stretch>
        </p:blipFill>
        <p:spPr>
          <a:xfrm>
            <a:off x="1114425" y="3994383"/>
            <a:ext cx="9327356" cy="2756460"/>
          </a:xfrm>
          <a:prstGeom prst="rect">
            <a:avLst/>
          </a:prstGeom>
        </p:spPr>
      </p:pic>
    </p:spTree>
    <p:extLst>
      <p:ext uri="{BB962C8B-B14F-4D97-AF65-F5344CB8AC3E}">
        <p14:creationId xmlns:p14="http://schemas.microsoft.com/office/powerpoint/2010/main" val="1617191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06C420-9BEF-6324-D5AC-2659190A4DAC}"/>
              </a:ext>
            </a:extLst>
          </p:cNvPr>
          <p:cNvSpPr>
            <a:spLocks noGrp="1"/>
          </p:cNvSpPr>
          <p:nvPr>
            <p:ph type="title"/>
          </p:nvPr>
        </p:nvSpPr>
        <p:spPr>
          <a:xfrm>
            <a:off x="838200" y="72232"/>
            <a:ext cx="10515600" cy="1325563"/>
          </a:xfrm>
        </p:spPr>
        <p:txBody>
          <a:bodyPr/>
          <a:lstStyle/>
          <a:p>
            <a:r>
              <a:rPr lang="en-IN" dirty="0"/>
              <a:t>Transport and Tunnel Modes</a:t>
            </a:r>
          </a:p>
        </p:txBody>
      </p:sp>
      <p:sp>
        <p:nvSpPr>
          <p:cNvPr id="3" name="Content Placeholder 2">
            <a:extLst>
              <a:ext uri="{FF2B5EF4-FFF2-40B4-BE49-F238E27FC236}">
                <a16:creationId xmlns:a16="http://schemas.microsoft.com/office/drawing/2014/main" xmlns="" id="{4FFE3A55-D29D-189D-6B03-2A1E2EBB4785}"/>
              </a:ext>
            </a:extLst>
          </p:cNvPr>
          <p:cNvSpPr>
            <a:spLocks noGrp="1"/>
          </p:cNvSpPr>
          <p:nvPr>
            <p:ph idx="1"/>
          </p:nvPr>
        </p:nvSpPr>
        <p:spPr>
          <a:xfrm>
            <a:off x="838200" y="1253331"/>
            <a:ext cx="10515600" cy="4351338"/>
          </a:xfrm>
        </p:spPr>
        <p:txBody>
          <a:bodyPr/>
          <a:lstStyle/>
          <a:p>
            <a:r>
              <a:rPr lang="en-US" dirty="0"/>
              <a:t>Both AH and ESP support </a:t>
            </a:r>
            <a:r>
              <a:rPr lang="en-US" b="1" dirty="0"/>
              <a:t>two modes </a:t>
            </a:r>
            <a:r>
              <a:rPr lang="en-US" dirty="0"/>
              <a:t>of use: </a:t>
            </a:r>
            <a:r>
              <a:rPr lang="en-US" dirty="0">
                <a:solidFill>
                  <a:srgbClr val="FF0000"/>
                </a:solidFill>
              </a:rPr>
              <a:t>transport </a:t>
            </a:r>
            <a:r>
              <a:rPr lang="en-US" dirty="0"/>
              <a:t>and</a:t>
            </a:r>
            <a:r>
              <a:rPr lang="en-US" dirty="0">
                <a:solidFill>
                  <a:srgbClr val="FF0000"/>
                </a:solidFill>
              </a:rPr>
              <a:t> tunnel mode</a:t>
            </a:r>
          </a:p>
          <a:p>
            <a:pPr marL="914400" lvl="1" indent="-457200">
              <a:buFont typeface="+mj-lt"/>
              <a:buAutoNum type="arabicPeriod"/>
            </a:pPr>
            <a:r>
              <a:rPr lang="en-IN" b="1" dirty="0">
                <a:solidFill>
                  <a:srgbClr val="000099"/>
                </a:solidFill>
              </a:rPr>
              <a:t>Transport mode - </a:t>
            </a:r>
            <a:r>
              <a:rPr lang="en-IN" dirty="0"/>
              <a:t>provides protection primarily for upper-layer protocols</a:t>
            </a:r>
          </a:p>
          <a:p>
            <a:pPr marL="914400" lvl="1" indent="-457200">
              <a:buFont typeface="+mj-lt"/>
              <a:buAutoNum type="arabicPeriod"/>
            </a:pPr>
            <a:r>
              <a:rPr lang="en-US" b="1" dirty="0">
                <a:solidFill>
                  <a:srgbClr val="000099"/>
                </a:solidFill>
              </a:rPr>
              <a:t>Tunnel mode - </a:t>
            </a:r>
            <a:r>
              <a:rPr lang="en-US" dirty="0"/>
              <a:t>provides protection to the entire IP packet</a:t>
            </a:r>
            <a:endParaRPr lang="en-IN" dirty="0"/>
          </a:p>
        </p:txBody>
      </p:sp>
      <p:pic>
        <p:nvPicPr>
          <p:cNvPr id="5" name="Picture 4">
            <a:extLst>
              <a:ext uri="{FF2B5EF4-FFF2-40B4-BE49-F238E27FC236}">
                <a16:creationId xmlns:a16="http://schemas.microsoft.com/office/drawing/2014/main" xmlns="" id="{F76F5164-ED82-5F2E-6C7A-DC6BFE8DAC79}"/>
              </a:ext>
            </a:extLst>
          </p:cNvPr>
          <p:cNvPicPr>
            <a:picLocks noChangeAspect="1"/>
          </p:cNvPicPr>
          <p:nvPr/>
        </p:nvPicPr>
        <p:blipFill>
          <a:blip r:embed="rId2"/>
          <a:stretch>
            <a:fillRect/>
          </a:stretch>
        </p:blipFill>
        <p:spPr>
          <a:xfrm>
            <a:off x="2107407" y="3610535"/>
            <a:ext cx="7843838" cy="3008775"/>
          </a:xfrm>
          <a:prstGeom prst="rect">
            <a:avLst/>
          </a:prstGeom>
        </p:spPr>
      </p:pic>
    </p:spTree>
    <p:extLst>
      <p:ext uri="{BB962C8B-B14F-4D97-AF65-F5344CB8AC3E}">
        <p14:creationId xmlns:p14="http://schemas.microsoft.com/office/powerpoint/2010/main" val="677598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2284EA-98FF-44E5-E4B3-851598EF0B73}"/>
              </a:ext>
            </a:extLst>
          </p:cNvPr>
          <p:cNvSpPr>
            <a:spLocks noGrp="1"/>
          </p:cNvSpPr>
          <p:nvPr>
            <p:ph type="title"/>
          </p:nvPr>
        </p:nvSpPr>
        <p:spPr>
          <a:xfrm>
            <a:off x="716756" y="46037"/>
            <a:ext cx="10515600" cy="1325563"/>
          </a:xfrm>
        </p:spPr>
        <p:txBody>
          <a:bodyPr/>
          <a:lstStyle/>
          <a:p>
            <a:r>
              <a:rPr lang="en-IN" dirty="0"/>
              <a:t>Transport Mode ESP</a:t>
            </a:r>
          </a:p>
        </p:txBody>
      </p:sp>
      <p:sp>
        <p:nvSpPr>
          <p:cNvPr id="3" name="Content Placeholder 2">
            <a:extLst>
              <a:ext uri="{FF2B5EF4-FFF2-40B4-BE49-F238E27FC236}">
                <a16:creationId xmlns:a16="http://schemas.microsoft.com/office/drawing/2014/main" xmlns="" id="{CFB8B7F7-4060-3C27-5200-D3F878657816}"/>
              </a:ext>
            </a:extLst>
          </p:cNvPr>
          <p:cNvSpPr>
            <a:spLocks noGrp="1"/>
          </p:cNvSpPr>
          <p:nvPr>
            <p:ph idx="1"/>
          </p:nvPr>
        </p:nvSpPr>
        <p:spPr>
          <a:xfrm>
            <a:off x="823913" y="1164431"/>
            <a:ext cx="10984706" cy="5486400"/>
          </a:xfrm>
        </p:spPr>
        <p:txBody>
          <a:bodyPr>
            <a:normAutofit/>
          </a:bodyPr>
          <a:lstStyle/>
          <a:p>
            <a:pPr>
              <a:lnSpc>
                <a:spcPct val="120000"/>
              </a:lnSpc>
              <a:spcBef>
                <a:spcPts val="0"/>
              </a:spcBef>
            </a:pPr>
            <a:r>
              <a:rPr lang="en-US" dirty="0"/>
              <a:t>Transport mode provides </a:t>
            </a:r>
            <a:r>
              <a:rPr lang="en-US" dirty="0">
                <a:solidFill>
                  <a:srgbClr val="FF0000"/>
                </a:solidFill>
              </a:rPr>
              <a:t>protection primarily for upper-layer protocols</a:t>
            </a:r>
          </a:p>
          <a:p>
            <a:pPr lvl="1">
              <a:lnSpc>
                <a:spcPct val="120000"/>
              </a:lnSpc>
              <a:spcBef>
                <a:spcPts val="0"/>
              </a:spcBef>
            </a:pPr>
            <a:r>
              <a:rPr lang="en-US" dirty="0"/>
              <a:t>That is, transport mode protection extends to the payload of an IP packet</a:t>
            </a:r>
          </a:p>
        </p:txBody>
      </p:sp>
      <p:pic>
        <p:nvPicPr>
          <p:cNvPr id="4" name="Picture 3">
            <a:extLst>
              <a:ext uri="{FF2B5EF4-FFF2-40B4-BE49-F238E27FC236}">
                <a16:creationId xmlns:a16="http://schemas.microsoft.com/office/drawing/2014/main" xmlns="" id="{371F3990-F79C-1FA7-E90E-EE4C10017F8D}"/>
              </a:ext>
            </a:extLst>
          </p:cNvPr>
          <p:cNvPicPr>
            <a:picLocks noChangeAspect="1"/>
          </p:cNvPicPr>
          <p:nvPr/>
        </p:nvPicPr>
        <p:blipFill>
          <a:blip r:embed="rId2"/>
          <a:stretch>
            <a:fillRect/>
          </a:stretch>
        </p:blipFill>
        <p:spPr>
          <a:xfrm>
            <a:off x="2786063" y="2837841"/>
            <a:ext cx="7767026" cy="3812990"/>
          </a:xfrm>
          <a:prstGeom prst="rect">
            <a:avLst/>
          </a:prstGeom>
        </p:spPr>
      </p:pic>
    </p:spTree>
    <p:extLst>
      <p:ext uri="{BB962C8B-B14F-4D97-AF65-F5344CB8AC3E}">
        <p14:creationId xmlns:p14="http://schemas.microsoft.com/office/powerpoint/2010/main" val="1238598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B2CE422-C3C7-179B-0925-63A72D1612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8A9A36F-AEF8-F08F-7182-DF939BB98EE8}"/>
              </a:ext>
            </a:extLst>
          </p:cNvPr>
          <p:cNvSpPr>
            <a:spLocks noGrp="1"/>
          </p:cNvSpPr>
          <p:nvPr>
            <p:ph type="title"/>
          </p:nvPr>
        </p:nvSpPr>
        <p:spPr>
          <a:xfrm>
            <a:off x="716756" y="46037"/>
            <a:ext cx="10515600" cy="1325563"/>
          </a:xfrm>
        </p:spPr>
        <p:txBody>
          <a:bodyPr/>
          <a:lstStyle/>
          <a:p>
            <a:r>
              <a:rPr lang="en-IN" dirty="0"/>
              <a:t>Transport Mode ESP Operations</a:t>
            </a:r>
          </a:p>
        </p:txBody>
      </p:sp>
      <p:sp>
        <p:nvSpPr>
          <p:cNvPr id="3" name="Content Placeholder 2">
            <a:extLst>
              <a:ext uri="{FF2B5EF4-FFF2-40B4-BE49-F238E27FC236}">
                <a16:creationId xmlns:a16="http://schemas.microsoft.com/office/drawing/2014/main" xmlns="" id="{DC98478D-5806-2089-58D3-2F9C8B54DE71}"/>
              </a:ext>
            </a:extLst>
          </p:cNvPr>
          <p:cNvSpPr>
            <a:spLocks noGrp="1"/>
          </p:cNvSpPr>
          <p:nvPr>
            <p:ph idx="1"/>
          </p:nvPr>
        </p:nvSpPr>
        <p:spPr>
          <a:xfrm>
            <a:off x="716756" y="1268413"/>
            <a:ext cx="10984706" cy="5543550"/>
          </a:xfrm>
        </p:spPr>
        <p:txBody>
          <a:bodyPr>
            <a:normAutofit fontScale="92500"/>
          </a:bodyPr>
          <a:lstStyle/>
          <a:p>
            <a:pPr marL="514350" indent="-514350">
              <a:lnSpc>
                <a:spcPct val="120000"/>
              </a:lnSpc>
              <a:spcBef>
                <a:spcPts val="0"/>
              </a:spcBef>
              <a:buFont typeface="+mj-lt"/>
              <a:buAutoNum type="arabicPeriod"/>
            </a:pPr>
            <a:r>
              <a:rPr lang="en-US" dirty="0"/>
              <a:t>At the source, the block of data consisting of the </a:t>
            </a:r>
            <a:r>
              <a:rPr lang="en-US" dirty="0">
                <a:solidFill>
                  <a:srgbClr val="000099"/>
                </a:solidFill>
              </a:rPr>
              <a:t>ESP trailer plus the entire transport-layer segment is encrypted </a:t>
            </a:r>
            <a:r>
              <a:rPr lang="en-US" dirty="0"/>
              <a:t>and </a:t>
            </a:r>
            <a:r>
              <a:rPr lang="en-US" dirty="0">
                <a:solidFill>
                  <a:srgbClr val="000099"/>
                </a:solidFill>
              </a:rPr>
              <a:t>the plaintext of this block is replaced with its ciphertext to form the IP packet for transmission</a:t>
            </a:r>
            <a:r>
              <a:rPr lang="en-US" dirty="0"/>
              <a:t>. Authentication is added if this option is selected</a:t>
            </a:r>
          </a:p>
          <a:p>
            <a:pPr marL="514350" indent="-514350">
              <a:lnSpc>
                <a:spcPct val="120000"/>
              </a:lnSpc>
              <a:spcBef>
                <a:spcPts val="0"/>
              </a:spcBef>
              <a:buFont typeface="+mj-lt"/>
              <a:buAutoNum type="arabicPeriod"/>
            </a:pPr>
            <a:r>
              <a:rPr lang="en-US" dirty="0"/>
              <a:t>The packet is then routed to the destination. </a:t>
            </a:r>
            <a:r>
              <a:rPr lang="en-US" dirty="0">
                <a:solidFill>
                  <a:srgbClr val="000099"/>
                </a:solidFill>
              </a:rPr>
              <a:t>Each intermediate router needs to examine and process the IP header plus any plaintext IP extension headers </a:t>
            </a:r>
            <a:r>
              <a:rPr lang="en-US" dirty="0"/>
              <a:t>but does not need to examine the ciphertext</a:t>
            </a:r>
          </a:p>
          <a:p>
            <a:pPr marL="514350" indent="-514350">
              <a:lnSpc>
                <a:spcPct val="120000"/>
              </a:lnSpc>
              <a:spcBef>
                <a:spcPts val="0"/>
              </a:spcBef>
              <a:buFont typeface="+mj-lt"/>
              <a:buAutoNum type="arabicPeriod"/>
            </a:pPr>
            <a:r>
              <a:rPr lang="en-US" dirty="0"/>
              <a:t>The destination node examines and processes the IP header plus any plaintext IP extension headers. Then, on the </a:t>
            </a:r>
            <a:r>
              <a:rPr lang="en-US" dirty="0">
                <a:solidFill>
                  <a:srgbClr val="000099"/>
                </a:solidFill>
              </a:rPr>
              <a:t>basis of the SPI in the ESP header, the destination node decrypts the remainder of the packet to recover the plaintext transport-layer segment</a:t>
            </a:r>
            <a:endParaRPr lang="en-IN" dirty="0">
              <a:solidFill>
                <a:srgbClr val="000099"/>
              </a:solidFill>
            </a:endParaRPr>
          </a:p>
        </p:txBody>
      </p:sp>
    </p:spTree>
    <p:extLst>
      <p:ext uri="{BB962C8B-B14F-4D97-AF65-F5344CB8AC3E}">
        <p14:creationId xmlns:p14="http://schemas.microsoft.com/office/powerpoint/2010/main" val="64751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3FB311-1D8F-3F2F-C091-970D0464EE0C}"/>
              </a:ext>
            </a:extLst>
          </p:cNvPr>
          <p:cNvSpPr>
            <a:spLocks noGrp="1"/>
          </p:cNvSpPr>
          <p:nvPr>
            <p:ph type="title"/>
          </p:nvPr>
        </p:nvSpPr>
        <p:spPr/>
        <p:txBody>
          <a:bodyPr/>
          <a:lstStyle/>
          <a:p>
            <a:r>
              <a:rPr lang="en-IN" dirty="0"/>
              <a:t>Tunnel Mode ESP</a:t>
            </a:r>
          </a:p>
        </p:txBody>
      </p:sp>
      <p:sp>
        <p:nvSpPr>
          <p:cNvPr id="6" name="Content Placeholder 5">
            <a:extLst>
              <a:ext uri="{FF2B5EF4-FFF2-40B4-BE49-F238E27FC236}">
                <a16:creationId xmlns:a16="http://schemas.microsoft.com/office/drawing/2014/main" xmlns="" id="{F6700F3C-EC56-0C7F-7374-05C8C1A3FBED}"/>
              </a:ext>
            </a:extLst>
          </p:cNvPr>
          <p:cNvSpPr>
            <a:spLocks noGrp="1"/>
          </p:cNvSpPr>
          <p:nvPr>
            <p:ph idx="1"/>
          </p:nvPr>
        </p:nvSpPr>
        <p:spPr>
          <a:xfrm>
            <a:off x="838200" y="1585913"/>
            <a:ext cx="10934700" cy="5107781"/>
          </a:xfrm>
        </p:spPr>
        <p:txBody>
          <a:bodyPr>
            <a:normAutofit fontScale="85000" lnSpcReduction="10000"/>
          </a:bodyPr>
          <a:lstStyle/>
          <a:p>
            <a:pPr>
              <a:lnSpc>
                <a:spcPct val="110000"/>
              </a:lnSpc>
            </a:pPr>
            <a:r>
              <a:rPr lang="en-US" dirty="0"/>
              <a:t>Tunnel mode provides </a:t>
            </a:r>
            <a:r>
              <a:rPr lang="en-US" dirty="0">
                <a:solidFill>
                  <a:srgbClr val="FF0000"/>
                </a:solidFill>
              </a:rPr>
              <a:t>protection to the entire IP packet </a:t>
            </a:r>
          </a:p>
          <a:p>
            <a:pPr>
              <a:lnSpc>
                <a:spcPct val="110000"/>
              </a:lnSpc>
            </a:pPr>
            <a:r>
              <a:rPr lang="en-US" dirty="0"/>
              <a:t>To achieve this, after the AH or ESP fields are added to the IP packet, the </a:t>
            </a:r>
            <a:r>
              <a:rPr lang="en-US" dirty="0">
                <a:solidFill>
                  <a:srgbClr val="000099"/>
                </a:solidFill>
              </a:rPr>
              <a:t>entire packet plus security fields is treated as the payload of new outer IP packet with a new outer IP header</a:t>
            </a:r>
          </a:p>
          <a:p>
            <a:pPr>
              <a:lnSpc>
                <a:spcPct val="110000"/>
              </a:lnSpc>
            </a:pPr>
            <a:r>
              <a:rPr lang="en-US" dirty="0"/>
              <a:t>The entire original, inner, packet travels through a tunnel from one point of an IP network to another; no routers along the way are able to examine the inner IP header</a:t>
            </a:r>
          </a:p>
          <a:p>
            <a:pPr>
              <a:lnSpc>
                <a:spcPct val="110000"/>
              </a:lnSpc>
            </a:pPr>
            <a:r>
              <a:rPr lang="en-US" dirty="0"/>
              <a:t>Because the original packet is encapsulated, the new, larger packet may have totally different source and destination addresses, adding to the security</a:t>
            </a:r>
          </a:p>
          <a:p>
            <a:pPr>
              <a:lnSpc>
                <a:spcPct val="110000"/>
              </a:lnSpc>
            </a:pPr>
            <a:r>
              <a:rPr lang="en-US" dirty="0"/>
              <a:t>Tunnel mode is used when one or both ends of a Security Association (SA) are a security gateway, such as a firewall or router that implements IPsec</a:t>
            </a:r>
            <a:endParaRPr lang="en-IN" dirty="0"/>
          </a:p>
        </p:txBody>
      </p:sp>
    </p:spTree>
    <p:extLst>
      <p:ext uri="{BB962C8B-B14F-4D97-AF65-F5344CB8AC3E}">
        <p14:creationId xmlns:p14="http://schemas.microsoft.com/office/powerpoint/2010/main" val="3900283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C0AF41-9EBA-0F26-E4DA-CD7B5D95DAF4}"/>
              </a:ext>
            </a:extLst>
          </p:cNvPr>
          <p:cNvSpPr>
            <a:spLocks noGrp="1"/>
          </p:cNvSpPr>
          <p:nvPr>
            <p:ph type="title"/>
          </p:nvPr>
        </p:nvSpPr>
        <p:spPr/>
        <p:txBody>
          <a:bodyPr/>
          <a:lstStyle/>
          <a:p>
            <a:r>
              <a:rPr lang="en-IN" dirty="0" err="1"/>
              <a:t>Cont</a:t>
            </a:r>
            <a:r>
              <a:rPr lang="en-IN" dirty="0"/>
              <a:t>…</a:t>
            </a:r>
          </a:p>
        </p:txBody>
      </p:sp>
      <p:pic>
        <p:nvPicPr>
          <p:cNvPr id="5" name="Content Placeholder 4">
            <a:extLst>
              <a:ext uri="{FF2B5EF4-FFF2-40B4-BE49-F238E27FC236}">
                <a16:creationId xmlns:a16="http://schemas.microsoft.com/office/drawing/2014/main" xmlns="" id="{6088A68D-C146-836B-DA5B-AE2400611C5B}"/>
              </a:ext>
            </a:extLst>
          </p:cNvPr>
          <p:cNvPicPr>
            <a:picLocks noGrp="1" noChangeAspect="1"/>
          </p:cNvPicPr>
          <p:nvPr>
            <p:ph idx="1"/>
          </p:nvPr>
        </p:nvPicPr>
        <p:blipFill>
          <a:blip r:embed="rId2"/>
          <a:stretch>
            <a:fillRect/>
          </a:stretch>
        </p:blipFill>
        <p:spPr>
          <a:xfrm>
            <a:off x="1061675" y="1825625"/>
            <a:ext cx="10068650" cy="4351338"/>
          </a:xfrm>
        </p:spPr>
      </p:pic>
    </p:spTree>
    <p:extLst>
      <p:ext uri="{BB962C8B-B14F-4D97-AF65-F5344CB8AC3E}">
        <p14:creationId xmlns:p14="http://schemas.microsoft.com/office/powerpoint/2010/main" val="38189876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4FE8B8-98B8-6448-7C13-13D8FB8B10F8}"/>
              </a:ext>
            </a:extLst>
          </p:cNvPr>
          <p:cNvSpPr>
            <a:spLocks noGrp="1"/>
          </p:cNvSpPr>
          <p:nvPr>
            <p:ph type="title"/>
          </p:nvPr>
        </p:nvSpPr>
        <p:spPr>
          <a:xfrm>
            <a:off x="723900" y="105816"/>
            <a:ext cx="10515600" cy="1325563"/>
          </a:xfrm>
        </p:spPr>
        <p:txBody>
          <a:bodyPr/>
          <a:lstStyle/>
          <a:p>
            <a:r>
              <a:rPr lang="en-IN" dirty="0"/>
              <a:t>Protocol Operation for ESP: </a:t>
            </a:r>
            <a:r>
              <a:rPr lang="en-IN" sz="3600" dirty="0">
                <a:solidFill>
                  <a:srgbClr val="000099"/>
                </a:solidFill>
              </a:rPr>
              <a:t>Transport mode</a:t>
            </a:r>
            <a:endParaRPr lang="en-IN" dirty="0">
              <a:solidFill>
                <a:srgbClr val="000099"/>
              </a:solidFill>
            </a:endParaRPr>
          </a:p>
        </p:txBody>
      </p:sp>
      <p:pic>
        <p:nvPicPr>
          <p:cNvPr id="5" name="Content Placeholder 4">
            <a:extLst>
              <a:ext uri="{FF2B5EF4-FFF2-40B4-BE49-F238E27FC236}">
                <a16:creationId xmlns:a16="http://schemas.microsoft.com/office/drawing/2014/main" xmlns="" id="{14152229-8F94-FEAE-38A1-13EFAEC5706E}"/>
              </a:ext>
            </a:extLst>
          </p:cNvPr>
          <p:cNvPicPr>
            <a:picLocks noGrp="1" noChangeAspect="1"/>
          </p:cNvPicPr>
          <p:nvPr>
            <p:ph idx="1"/>
          </p:nvPr>
        </p:nvPicPr>
        <p:blipFill>
          <a:blip r:embed="rId2"/>
          <a:stretch>
            <a:fillRect/>
          </a:stretch>
        </p:blipFill>
        <p:spPr>
          <a:xfrm>
            <a:off x="1018091" y="1431379"/>
            <a:ext cx="10155817" cy="5426621"/>
          </a:xfrm>
        </p:spPr>
      </p:pic>
    </p:spTree>
    <p:extLst>
      <p:ext uri="{BB962C8B-B14F-4D97-AF65-F5344CB8AC3E}">
        <p14:creationId xmlns:p14="http://schemas.microsoft.com/office/powerpoint/2010/main" val="18574580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DAD8A9E-D366-15DC-6E08-B98A894F97CC}"/>
              </a:ext>
            </a:extLst>
          </p:cNvPr>
          <p:cNvSpPr>
            <a:spLocks noGrp="1"/>
          </p:cNvSpPr>
          <p:nvPr>
            <p:ph type="title"/>
          </p:nvPr>
        </p:nvSpPr>
        <p:spPr>
          <a:xfrm>
            <a:off x="588169" y="114300"/>
            <a:ext cx="10515600" cy="1325563"/>
          </a:xfrm>
        </p:spPr>
        <p:txBody>
          <a:bodyPr/>
          <a:lstStyle/>
          <a:p>
            <a:r>
              <a:rPr lang="en-IN" dirty="0"/>
              <a:t>Virtual Private Network (VPN)</a:t>
            </a:r>
          </a:p>
        </p:txBody>
      </p:sp>
      <p:sp>
        <p:nvSpPr>
          <p:cNvPr id="3" name="Content Placeholder 2">
            <a:extLst>
              <a:ext uri="{FF2B5EF4-FFF2-40B4-BE49-F238E27FC236}">
                <a16:creationId xmlns:a16="http://schemas.microsoft.com/office/drawing/2014/main" xmlns="" id="{1D899318-13C4-1965-E875-2471B84E7571}"/>
              </a:ext>
            </a:extLst>
          </p:cNvPr>
          <p:cNvSpPr>
            <a:spLocks noGrp="1"/>
          </p:cNvSpPr>
          <p:nvPr>
            <p:ph idx="1"/>
          </p:nvPr>
        </p:nvSpPr>
        <p:spPr>
          <a:xfrm>
            <a:off x="659605" y="1278730"/>
            <a:ext cx="11141869" cy="5579269"/>
          </a:xfrm>
        </p:spPr>
        <p:txBody>
          <a:bodyPr>
            <a:normAutofit fontScale="85000" lnSpcReduction="20000"/>
          </a:bodyPr>
          <a:lstStyle/>
          <a:p>
            <a:pPr>
              <a:lnSpc>
                <a:spcPct val="120000"/>
              </a:lnSpc>
              <a:spcBef>
                <a:spcPts val="0"/>
              </a:spcBef>
            </a:pPr>
            <a:r>
              <a:rPr lang="en-US" dirty="0"/>
              <a:t>Tunnel mode can be used to implement a secure virtual private network</a:t>
            </a:r>
          </a:p>
          <a:p>
            <a:pPr>
              <a:lnSpc>
                <a:spcPct val="120000"/>
              </a:lnSpc>
              <a:spcBef>
                <a:spcPts val="0"/>
              </a:spcBef>
            </a:pPr>
            <a:r>
              <a:rPr lang="en-US" b="1" dirty="0">
                <a:solidFill>
                  <a:srgbClr val="FF0000"/>
                </a:solidFill>
              </a:rPr>
              <a:t>A Virtual Private Network (VPN) </a:t>
            </a:r>
            <a:r>
              <a:rPr lang="en-US" dirty="0"/>
              <a:t>is a private network that is configured within a public network (a carrier’s network or the Internet) in order to take advantage of the economies of scale and management facilities of large networks </a:t>
            </a:r>
          </a:p>
          <a:p>
            <a:pPr>
              <a:lnSpc>
                <a:spcPct val="120000"/>
              </a:lnSpc>
              <a:spcBef>
                <a:spcPts val="0"/>
              </a:spcBef>
            </a:pPr>
            <a:r>
              <a:rPr lang="en-US" dirty="0"/>
              <a:t>VPNs are widely used by enterprises to create wide area networks that span large geographic areas, to provide site-to-site connections to branch offices, and to allow mobile users to dial up their company LANs</a:t>
            </a:r>
          </a:p>
          <a:p>
            <a:pPr>
              <a:lnSpc>
                <a:spcPct val="120000"/>
              </a:lnSpc>
              <a:spcBef>
                <a:spcPts val="0"/>
              </a:spcBef>
            </a:pPr>
            <a:r>
              <a:rPr lang="en-US" dirty="0"/>
              <a:t>From the point of view of the provider, the pubic network facility is shared by many customers, with the traffic of each customer segregated from other traffic</a:t>
            </a:r>
          </a:p>
          <a:p>
            <a:pPr>
              <a:lnSpc>
                <a:spcPct val="120000"/>
              </a:lnSpc>
              <a:spcBef>
                <a:spcPts val="0"/>
              </a:spcBef>
            </a:pPr>
            <a:r>
              <a:rPr lang="en-US" dirty="0"/>
              <a:t>Traffic designated as VPN traffic can only go from a VPN source to a destination in the same VPN</a:t>
            </a:r>
          </a:p>
          <a:p>
            <a:pPr>
              <a:lnSpc>
                <a:spcPct val="120000"/>
              </a:lnSpc>
              <a:spcBef>
                <a:spcPts val="0"/>
              </a:spcBef>
            </a:pPr>
            <a:r>
              <a:rPr lang="en-US" dirty="0"/>
              <a:t>It is often the case that encryption and authentication facilities are provided for the VPN</a:t>
            </a:r>
            <a:endParaRPr lang="en-IN" dirty="0"/>
          </a:p>
        </p:txBody>
      </p:sp>
    </p:spTree>
    <p:extLst>
      <p:ext uri="{BB962C8B-B14F-4D97-AF65-F5344CB8AC3E}">
        <p14:creationId xmlns:p14="http://schemas.microsoft.com/office/powerpoint/2010/main" val="1299323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D68D80-BD6F-C963-7EB8-89C478D0A8C7}"/>
              </a:ext>
            </a:extLst>
          </p:cNvPr>
          <p:cNvSpPr>
            <a:spLocks noGrp="1"/>
          </p:cNvSpPr>
          <p:nvPr>
            <p:ph type="title"/>
          </p:nvPr>
        </p:nvSpPr>
        <p:spPr>
          <a:xfrm>
            <a:off x="502444" y="1743868"/>
            <a:ext cx="3483769" cy="1325563"/>
          </a:xfrm>
        </p:spPr>
        <p:txBody>
          <a:bodyPr>
            <a:normAutofit fontScale="90000"/>
          </a:bodyPr>
          <a:lstStyle/>
          <a:p>
            <a:r>
              <a:rPr lang="en-US" dirty="0"/>
              <a:t>Example of Virtual Private Network Implemented with IPsec Tunnel Mode</a:t>
            </a:r>
            <a:endParaRPr lang="en-IN" dirty="0"/>
          </a:p>
        </p:txBody>
      </p:sp>
      <p:pic>
        <p:nvPicPr>
          <p:cNvPr id="5" name="Content Placeholder 4">
            <a:extLst>
              <a:ext uri="{FF2B5EF4-FFF2-40B4-BE49-F238E27FC236}">
                <a16:creationId xmlns:a16="http://schemas.microsoft.com/office/drawing/2014/main" xmlns="" id="{793D5F67-1027-2AAF-D0EA-C29AC23D582A}"/>
              </a:ext>
            </a:extLst>
          </p:cNvPr>
          <p:cNvPicPr>
            <a:picLocks noGrp="1" noChangeAspect="1"/>
          </p:cNvPicPr>
          <p:nvPr>
            <p:ph idx="1"/>
          </p:nvPr>
        </p:nvPicPr>
        <p:blipFill>
          <a:blip r:embed="rId2"/>
          <a:stretch>
            <a:fillRect/>
          </a:stretch>
        </p:blipFill>
        <p:spPr>
          <a:xfrm>
            <a:off x="4255069" y="111920"/>
            <a:ext cx="7838293" cy="6581774"/>
          </a:xfrm>
        </p:spPr>
      </p:pic>
    </p:spTree>
    <p:extLst>
      <p:ext uri="{BB962C8B-B14F-4D97-AF65-F5344CB8AC3E}">
        <p14:creationId xmlns:p14="http://schemas.microsoft.com/office/powerpoint/2010/main" val="1014652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8CDC70-35BC-78E1-3461-5F8B1DDC5274}"/>
              </a:ext>
            </a:extLst>
          </p:cNvPr>
          <p:cNvSpPr>
            <a:spLocks noGrp="1"/>
          </p:cNvSpPr>
          <p:nvPr>
            <p:ph type="title"/>
          </p:nvPr>
        </p:nvSpPr>
        <p:spPr>
          <a:xfrm>
            <a:off x="888206" y="0"/>
            <a:ext cx="10515600" cy="1325563"/>
          </a:xfrm>
        </p:spPr>
        <p:txBody>
          <a:bodyPr/>
          <a:lstStyle/>
          <a:p>
            <a:r>
              <a:rPr lang="en-IN" dirty="0"/>
              <a:t>Protocol Operation for ESP: </a:t>
            </a:r>
            <a:r>
              <a:rPr lang="en-IN" sz="3600" dirty="0">
                <a:solidFill>
                  <a:srgbClr val="000099"/>
                </a:solidFill>
              </a:rPr>
              <a:t>Tunnel mode</a:t>
            </a:r>
            <a:endParaRPr lang="en-IN" dirty="0"/>
          </a:p>
        </p:txBody>
      </p:sp>
      <p:pic>
        <p:nvPicPr>
          <p:cNvPr id="5" name="Content Placeholder 4">
            <a:extLst>
              <a:ext uri="{FF2B5EF4-FFF2-40B4-BE49-F238E27FC236}">
                <a16:creationId xmlns:a16="http://schemas.microsoft.com/office/drawing/2014/main" xmlns="" id="{44DD389E-4770-C923-0185-45BB9621306D}"/>
              </a:ext>
            </a:extLst>
          </p:cNvPr>
          <p:cNvPicPr>
            <a:picLocks noGrp="1" noChangeAspect="1"/>
          </p:cNvPicPr>
          <p:nvPr>
            <p:ph idx="1"/>
          </p:nvPr>
        </p:nvPicPr>
        <p:blipFill>
          <a:blip r:embed="rId2"/>
          <a:stretch>
            <a:fillRect/>
          </a:stretch>
        </p:blipFill>
        <p:spPr>
          <a:xfrm>
            <a:off x="1157288" y="968374"/>
            <a:ext cx="9751218" cy="5814479"/>
          </a:xfrm>
        </p:spPr>
      </p:pic>
    </p:spTree>
    <p:extLst>
      <p:ext uri="{BB962C8B-B14F-4D97-AF65-F5344CB8AC3E}">
        <p14:creationId xmlns:p14="http://schemas.microsoft.com/office/powerpoint/2010/main" val="14338678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8714-F9AC-26B3-8D3E-F5E75C5FB109}"/>
              </a:ext>
            </a:extLst>
          </p:cNvPr>
          <p:cNvSpPr>
            <a:spLocks noGrp="1"/>
          </p:cNvSpPr>
          <p:nvPr>
            <p:ph type="title"/>
          </p:nvPr>
        </p:nvSpPr>
        <p:spPr/>
        <p:txBody>
          <a:bodyPr/>
          <a:lstStyle/>
          <a:p>
            <a:r>
              <a:rPr lang="fr-FR" dirty="0"/>
              <a:t>Tunnel Mode and Transport Mode </a:t>
            </a:r>
            <a:r>
              <a:rPr lang="fr-FR" dirty="0" err="1"/>
              <a:t>Functionality</a:t>
            </a:r>
            <a:endParaRPr lang="en-IN" dirty="0"/>
          </a:p>
        </p:txBody>
      </p:sp>
      <p:pic>
        <p:nvPicPr>
          <p:cNvPr id="5" name="Content Placeholder 4">
            <a:extLst>
              <a:ext uri="{FF2B5EF4-FFF2-40B4-BE49-F238E27FC236}">
                <a16:creationId xmlns:a16="http://schemas.microsoft.com/office/drawing/2014/main" xmlns="" id="{325F0265-0DF2-B083-3607-0AB7B1403C82}"/>
              </a:ext>
            </a:extLst>
          </p:cNvPr>
          <p:cNvPicPr>
            <a:picLocks noGrp="1" noChangeAspect="1"/>
          </p:cNvPicPr>
          <p:nvPr>
            <p:ph idx="1"/>
          </p:nvPr>
        </p:nvPicPr>
        <p:blipFill>
          <a:blip r:embed="rId2"/>
          <a:stretch>
            <a:fillRect/>
          </a:stretch>
        </p:blipFill>
        <p:spPr>
          <a:xfrm>
            <a:off x="838200" y="2245825"/>
            <a:ext cx="10515600" cy="3510937"/>
          </a:xfrm>
        </p:spPr>
      </p:pic>
    </p:spTree>
    <p:extLst>
      <p:ext uri="{BB962C8B-B14F-4D97-AF65-F5344CB8AC3E}">
        <p14:creationId xmlns:p14="http://schemas.microsoft.com/office/powerpoint/2010/main" val="30407761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30362</TotalTime>
  <Words>1771</Words>
  <Application>Microsoft Office PowerPoint</Application>
  <PresentationFormat>Custom</PresentationFormat>
  <Paragraphs>125</Paragraphs>
  <Slides>33</Slides>
  <Notes>1</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PowerPoint Presentation</vt:lpstr>
      <vt:lpstr>IP Security </vt:lpstr>
      <vt:lpstr>IP Security Overview</vt:lpstr>
      <vt:lpstr>IPsec Services</vt:lpstr>
      <vt:lpstr>IP Security Policy</vt:lpstr>
      <vt:lpstr>IPsec Architecture</vt:lpstr>
      <vt:lpstr>Security Associations (SA)</vt:lpstr>
      <vt:lpstr>Security Association Database (SAD)</vt:lpstr>
      <vt:lpstr>Cont…</vt:lpstr>
      <vt:lpstr>Cont…</vt:lpstr>
      <vt:lpstr>Security Policy Database</vt:lpstr>
      <vt:lpstr>Selectors (Determine an SPD entry)</vt:lpstr>
      <vt:lpstr>Host SPD Example</vt:lpstr>
      <vt:lpstr>IP Traffic Processing</vt:lpstr>
      <vt:lpstr>Processing Model for Outbound Packets</vt:lpstr>
      <vt:lpstr>Processing Model for Inbound Packets</vt:lpstr>
      <vt:lpstr>Encapsulating Security Payload [ESP]</vt:lpstr>
      <vt:lpstr>ESP Format</vt:lpstr>
      <vt:lpstr>ESP packet fields</vt:lpstr>
      <vt:lpstr>Substructure of Payload Data</vt:lpstr>
      <vt:lpstr>Encryption and Authentication Algorithms</vt:lpstr>
      <vt:lpstr>Purpose of padding</vt:lpstr>
      <vt:lpstr>Anti-Replay Mechanism</vt:lpstr>
      <vt:lpstr>Transport and Tunnel Modes</vt:lpstr>
      <vt:lpstr>Transport Mode ESP</vt:lpstr>
      <vt:lpstr>Transport Mode ESP Operations</vt:lpstr>
      <vt:lpstr>Tunnel Mode ESP</vt:lpstr>
      <vt:lpstr>Cont…</vt:lpstr>
      <vt:lpstr>Protocol Operation for ESP: Transport mode</vt:lpstr>
      <vt:lpstr>Virtual Private Network (VPN)</vt:lpstr>
      <vt:lpstr>Example of Virtual Private Network Implemented with IPsec Tunnel Mode</vt:lpstr>
      <vt:lpstr>Protocol Operation for ESP: Tunnel mode</vt:lpstr>
      <vt:lpstr>Tunnel Mode and Transport Mode Functionality</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Mathematical Logic And Algebraic Structures</dc:title>
  <dc:creator>SKS</dc:creator>
  <cp:lastModifiedBy>Dell</cp:lastModifiedBy>
  <cp:revision>1110</cp:revision>
  <dcterms:created xsi:type="dcterms:W3CDTF">2020-07-30T09:53:05Z</dcterms:created>
  <dcterms:modified xsi:type="dcterms:W3CDTF">2025-04-16T04:56:08Z</dcterms:modified>
</cp:coreProperties>
</file>