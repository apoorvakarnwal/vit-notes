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13" r:id="rId2"/>
    <p:sldId id="257" r:id="rId3"/>
    <p:sldId id="509" r:id="rId4"/>
    <p:sldId id="510" r:id="rId5"/>
    <p:sldId id="511" r:id="rId6"/>
    <p:sldId id="512" r:id="rId7"/>
    <p:sldId id="513" r:id="rId8"/>
    <p:sldId id="514" r:id="rId9"/>
    <p:sldId id="75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00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7" autoAdjust="0"/>
    <p:restoredTop sz="94353" autoAdjust="0"/>
  </p:normalViewPr>
  <p:slideViewPr>
    <p:cSldViewPr snapToGrid="0">
      <p:cViewPr>
        <p:scale>
          <a:sx n="77" d="100"/>
          <a:sy n="77" d="100"/>
        </p:scale>
        <p:origin x="-414" y="-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24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C78F4-9D5A-4E7B-8894-0F2149915370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9B07D-717D-4E39-813B-AD1267CF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10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9B07D-717D-4E39-813B-AD1267CF108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63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9B07D-717D-4E39-813B-AD1267CF108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8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1949-706A-430F-87C4-53D17726DA2C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55DA5-4711-4DE5-AD5B-55E9DD438A3D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C6AC-4CB8-43F4-B168-FC31AC739BB0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9939-41F9-4DC5-BDE5-9FCCEF10684E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95FAC-93E4-4B8A-8750-CCA678BC9C2F}" type="datetime1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AE26-E085-421E-B2BE-E35F7FE14FA1}" type="datetime1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3628-B2F2-4CBD-BE8A-64F0D0A46994}" type="datetime1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B015-B8C6-457D-B902-7DB44231438D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ED65-AB5F-44AF-8D42-71557A758011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ED4B-9960-44B5-8C42-9160DD384C6B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8404-D63A-4502-A490-AA0FA7A20986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87B4E4D7-857D-48F3-80B8-6632CC0BCD4D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928" y="549195"/>
            <a:ext cx="10294144" cy="9872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3200" dirty="0">
                <a:solidFill>
                  <a:srgbClr val="000099"/>
                </a:solidFill>
              </a:rPr>
              <a:t>BCSE309L - Cryptography and Network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FFC9748-0C84-0B4C-A5F1-B3B0AA09EEE5}"/>
              </a:ext>
            </a:extLst>
          </p:cNvPr>
          <p:cNvSpPr txBox="1"/>
          <p:nvPr/>
        </p:nvSpPr>
        <p:spPr>
          <a:xfrm>
            <a:off x="777914" y="1866708"/>
            <a:ext cx="107554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Module 5 - </a:t>
            </a:r>
            <a:r>
              <a:rPr lang="en-US" sz="4000" b="1" dirty="0" err="1">
                <a:solidFill>
                  <a:srgbClr val="C00000"/>
                </a:solidFill>
                <a:latin typeface="Palatino Linotype" panose="02040502050505030304" pitchFamily="18" charset="0"/>
              </a:rPr>
              <a:t>ElGamal</a:t>
            </a:r>
            <a:r>
              <a:rPr lang="en-US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 based Digital Signature</a:t>
            </a:r>
            <a:endParaRPr lang="en-IN" sz="4000" b="1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6C82C8C-0C73-83FD-AC3B-DF3E02807B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8F2FB"/>
              </a:clrFrom>
              <a:clrTo>
                <a:srgbClr val="E8F2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58001" y="3566685"/>
            <a:ext cx="4675356" cy="287947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6999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79" y="254833"/>
            <a:ext cx="10515600" cy="1114425"/>
          </a:xfrm>
        </p:spPr>
        <p:txBody>
          <a:bodyPr>
            <a:normAutofit/>
          </a:bodyPr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280" y="1274164"/>
            <a:ext cx="10515599" cy="541155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u="none" strike="noStrike" baseline="0" dirty="0">
                <a:solidFill>
                  <a:srgbClr val="FF0000"/>
                </a:solidFill>
              </a:rPr>
              <a:t>CO3 : To apprehend the authentication and integrity process of data for various applications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0" i="0" u="none" strike="noStrike" baseline="0" dirty="0">
              <a:solidFill>
                <a:srgbClr val="FF0000"/>
              </a:solidFill>
            </a:endParaRP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Authentication Requirements, Authentication Functions, Message Authentication Codes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Digital Signature Authentication, Authentication Protocols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Digital Signature Standards (DSS)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RSA Digital Signature, </a:t>
            </a:r>
            <a:r>
              <a:rPr lang="en-US" sz="2400" b="1" i="0" u="none" strike="noStrike" baseline="0" dirty="0" err="1">
                <a:solidFill>
                  <a:srgbClr val="FF0000"/>
                </a:solidFill>
              </a:rPr>
              <a:t>Elgamal</a:t>
            </a:r>
            <a:r>
              <a:rPr lang="en-US" sz="2400" b="1" i="0" u="none" strike="noStrike" baseline="0" dirty="0">
                <a:solidFill>
                  <a:srgbClr val="FF0000"/>
                </a:solidFill>
              </a:rPr>
              <a:t> based Digital Signature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Authentication Applications: Kerberos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X.509 Authentication Service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Public Key Infrastructure (PKI)</a:t>
            </a:r>
            <a:endParaRPr lang="en-IN" sz="2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3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213" y="681037"/>
            <a:ext cx="10615612" cy="1265238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cs typeface="Andalus" panose="02020603050405020304" pitchFamily="18" charset="-78"/>
              </a:rPr>
              <a:t>Digital Signatures</a:t>
            </a:r>
            <a:br>
              <a:rPr lang="en-US" sz="4900" dirty="0">
                <a:cs typeface="Andalus" panose="02020603050405020304" pitchFamily="18" charset="-78"/>
              </a:rPr>
            </a:br>
            <a:r>
              <a:rPr lang="en-US" sz="4000" dirty="0">
                <a:solidFill>
                  <a:srgbClr val="000099"/>
                </a:solidFill>
                <a:cs typeface="Andalus" panose="02020603050405020304" pitchFamily="18" charset="-78"/>
              </a:rPr>
              <a:t>Schemes</a:t>
            </a:r>
            <a:endParaRPr lang="en-US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187" y="2232819"/>
            <a:ext cx="10998994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ElGamal Digital Signature Scheme - </a:t>
            </a:r>
            <a:r>
              <a:rPr lang="en-US" dirty="0">
                <a:solidFill>
                  <a:srgbClr val="1230AE"/>
                </a:solidFill>
              </a:rPr>
              <a:t>“Taher </a:t>
            </a:r>
            <a:r>
              <a:rPr lang="en-US" dirty="0" err="1">
                <a:solidFill>
                  <a:srgbClr val="1230AE"/>
                </a:solidFill>
              </a:rPr>
              <a:t>AlGamal</a:t>
            </a:r>
            <a:r>
              <a:rPr lang="en-US" dirty="0">
                <a:solidFill>
                  <a:srgbClr val="1230AE"/>
                </a:solidFill>
              </a:rPr>
              <a:t> (1985)”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Schnorr Digital Signature Scheme - </a:t>
            </a:r>
            <a:r>
              <a:rPr lang="en-US" dirty="0">
                <a:solidFill>
                  <a:srgbClr val="1230AE"/>
                </a:solidFill>
              </a:rPr>
              <a:t>“Claus Peter Schnorr (1991-2008)”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Digital Signature Standard (DSS)</a:t>
            </a:r>
          </a:p>
        </p:txBody>
      </p:sp>
    </p:spTree>
    <p:extLst>
      <p:ext uri="{BB962C8B-B14F-4D97-AF65-F5344CB8AC3E}">
        <p14:creationId xmlns:p14="http://schemas.microsoft.com/office/powerpoint/2010/main" val="410815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344" y="76200"/>
            <a:ext cx="9746456" cy="1249362"/>
          </a:xfrm>
        </p:spPr>
        <p:txBody>
          <a:bodyPr>
            <a:noAutofit/>
          </a:bodyPr>
          <a:lstStyle/>
          <a:p>
            <a:r>
              <a:rPr lang="en-US" dirty="0">
                <a:cs typeface="Andalus" panose="02020603050405020304" pitchFamily="18" charset="-78"/>
              </a:rPr>
              <a:t/>
            </a:r>
            <a:br>
              <a:rPr lang="en-US" dirty="0">
                <a:cs typeface="Andalus" panose="02020603050405020304" pitchFamily="18" charset="-78"/>
              </a:rPr>
            </a:br>
            <a:r>
              <a:rPr lang="en-US" dirty="0">
                <a:cs typeface="Andalus" panose="02020603050405020304" pitchFamily="18" charset="-78"/>
              </a:rPr>
              <a:t>Digital Signatures</a:t>
            </a:r>
            <a:br>
              <a:rPr lang="en-US" dirty="0">
                <a:cs typeface="Andalus" panose="02020603050405020304" pitchFamily="18" charset="-78"/>
              </a:rPr>
            </a:br>
            <a:r>
              <a:rPr lang="en-US" sz="3200" dirty="0">
                <a:solidFill>
                  <a:srgbClr val="000099"/>
                </a:solidFill>
              </a:rPr>
              <a:t>ElGamal Scheme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543176"/>
            <a:ext cx="661987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38500" y="1447800"/>
            <a:ext cx="5981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Palatino Linotype" pitchFamily="18" charset="0"/>
              </a:rPr>
              <a:t>Let q is prime number &amp; </a:t>
            </a:r>
            <a:r>
              <a:rPr lang="el-GR" sz="2000" b="1" dirty="0">
                <a:latin typeface="Palatino Linotype" pitchFamily="18" charset="0"/>
              </a:rPr>
              <a:t>α</a:t>
            </a:r>
            <a:r>
              <a:rPr lang="en-US" sz="2000" b="1" dirty="0">
                <a:latin typeface="Palatino Linotype" pitchFamily="18" charset="0"/>
              </a:rPr>
              <a:t> is a primitive root of 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8600" y="1828800"/>
            <a:ext cx="4114800" cy="609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alatino Linotype" pitchFamily="18" charset="0"/>
              </a:rPr>
              <a:t>Generate the private/ public keys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8600" y="3581400"/>
            <a:ext cx="4114800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alatino Linotype" pitchFamily="18" charset="0"/>
              </a:rPr>
              <a:t>Sign the message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4191000"/>
            <a:ext cx="837247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5" y="6524626"/>
            <a:ext cx="15811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29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619" y="377482"/>
            <a:ext cx="10975181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Andalus" panose="02020603050405020304" pitchFamily="18" charset="-78"/>
              </a:rPr>
              <a:t/>
            </a:r>
            <a:br>
              <a:rPr lang="en-US" dirty="0">
                <a:cs typeface="Andalus" panose="02020603050405020304" pitchFamily="18" charset="-78"/>
              </a:rPr>
            </a:br>
            <a:r>
              <a:rPr lang="en-US" sz="4900" dirty="0">
                <a:cs typeface="Andalus" panose="02020603050405020304" pitchFamily="18" charset="-78"/>
              </a:rPr>
              <a:t>Digital Signatures</a:t>
            </a:r>
            <a:br>
              <a:rPr lang="en-US" sz="4900" dirty="0">
                <a:cs typeface="Andalus" panose="02020603050405020304" pitchFamily="18" charset="-78"/>
              </a:rPr>
            </a:br>
            <a:r>
              <a:rPr lang="en-US" sz="3600" dirty="0">
                <a:solidFill>
                  <a:srgbClr val="000099"/>
                </a:solidFill>
              </a:rPr>
              <a:t>ElGamal Scheme</a:t>
            </a:r>
            <a:br>
              <a:rPr lang="en-US" sz="3600" dirty="0">
                <a:solidFill>
                  <a:srgbClr val="000099"/>
                </a:solidFill>
              </a:rPr>
            </a:br>
            <a:endParaRPr lang="en-US" sz="3600" dirty="0">
              <a:solidFill>
                <a:srgbClr val="000099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27623" y="1828800"/>
            <a:ext cx="3814763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alatino Linotype" pitchFamily="18" charset="0"/>
              </a:rPr>
              <a:t>Verify the message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743200"/>
            <a:ext cx="4800600" cy="993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4127623" y="3962400"/>
            <a:ext cx="2958977" cy="2438400"/>
            <a:chOff x="2603622" y="3962400"/>
            <a:chExt cx="2958977" cy="2438400"/>
          </a:xfrm>
        </p:grpSpPr>
        <p:sp>
          <p:nvSpPr>
            <p:cNvPr id="5" name="Diamond 4"/>
            <p:cNvSpPr/>
            <p:nvPr/>
          </p:nvSpPr>
          <p:spPr>
            <a:xfrm>
              <a:off x="3749002" y="3962400"/>
              <a:ext cx="1813597" cy="13716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Palatino Linotype" pitchFamily="18" charset="0"/>
                </a:rPr>
                <a:t>If V1=V2</a:t>
              </a:r>
            </a:p>
          </p:txBody>
        </p:sp>
        <p:cxnSp>
          <p:nvCxnSpPr>
            <p:cNvPr id="7" name="Straight Arrow Connector 6"/>
            <p:cNvCxnSpPr>
              <a:stCxn id="5" idx="1"/>
            </p:cNvCxnSpPr>
            <p:nvPr/>
          </p:nvCxnSpPr>
          <p:spPr>
            <a:xfrm flipH="1">
              <a:off x="2603622" y="4648200"/>
              <a:ext cx="114538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655800" y="5334000"/>
              <a:ext cx="0" cy="1066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ounded Rectangle 12"/>
          <p:cNvSpPr/>
          <p:nvPr/>
        </p:nvSpPr>
        <p:spPr>
          <a:xfrm>
            <a:off x="4287623" y="4179277"/>
            <a:ext cx="825378" cy="381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Palatino Linotype" pitchFamily="18" charset="0"/>
              </a:rPr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1221" y="5486400"/>
            <a:ext cx="825378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Palatino Linotype" pitchFamily="18" charset="0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210300"/>
            <a:ext cx="869890" cy="381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alatino Linotype" pitchFamily="18" charset="0"/>
              </a:rPr>
              <a:t>Valid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1" y="4457700"/>
            <a:ext cx="1501745" cy="4001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Palatino Linotype" pitchFamily="18" charset="0"/>
              </a:rPr>
              <a:t>Not valid</a:t>
            </a:r>
          </a:p>
        </p:txBody>
      </p:sp>
    </p:spTree>
    <p:extLst>
      <p:ext uri="{BB962C8B-B14F-4D97-AF65-F5344CB8AC3E}">
        <p14:creationId xmlns:p14="http://schemas.microsoft.com/office/powerpoint/2010/main" val="76670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5" grpId="0" animBg="1"/>
      <p:bldP spid="14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3" y="152400"/>
            <a:ext cx="9825037" cy="113407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cs typeface="Andalus" panose="02020603050405020304" pitchFamily="18" charset="-78"/>
              </a:rPr>
              <a:t>Digital Signatures</a:t>
            </a:r>
            <a:br>
              <a:rPr lang="en-US" sz="4900" dirty="0">
                <a:cs typeface="Andalus" panose="02020603050405020304" pitchFamily="18" charset="-78"/>
              </a:rPr>
            </a:br>
            <a:r>
              <a:rPr lang="en-US" sz="3600" dirty="0" err="1">
                <a:solidFill>
                  <a:srgbClr val="000099"/>
                </a:solidFill>
              </a:rPr>
              <a:t>ElGamal</a:t>
            </a:r>
            <a:r>
              <a:rPr lang="en-US" sz="3600" dirty="0">
                <a:solidFill>
                  <a:srgbClr val="000099"/>
                </a:solidFill>
              </a:rPr>
              <a:t> Scheme - Example</a:t>
            </a:r>
            <a:endParaRPr lang="en-US" dirty="0">
              <a:solidFill>
                <a:srgbClr val="00009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23821" y="1447800"/>
            <a:ext cx="58674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alatino Linotype" pitchFamily="18" charset="0"/>
              </a:rPr>
              <a:t>Let </a:t>
            </a:r>
            <a:r>
              <a:rPr lang="en-US" b="1" dirty="0">
                <a:solidFill>
                  <a:srgbClr val="C00000"/>
                </a:solidFill>
                <a:latin typeface="Palatino Linotype" pitchFamily="18" charset="0"/>
              </a:rPr>
              <a:t>q=19</a:t>
            </a:r>
            <a:r>
              <a:rPr lang="en-US" b="1" dirty="0">
                <a:latin typeface="Palatino Linotype" pitchFamily="18" charset="0"/>
              </a:rPr>
              <a:t>;</a:t>
            </a:r>
          </a:p>
          <a:p>
            <a:pPr algn="ctr"/>
            <a:r>
              <a:rPr lang="en-US" b="1" dirty="0">
                <a:latin typeface="Palatino Linotype" pitchFamily="18" charset="0"/>
              </a:rPr>
              <a:t> Primitive roots of q= {2, 3, </a:t>
            </a:r>
            <a:r>
              <a:rPr lang="en-US" b="1" dirty="0">
                <a:solidFill>
                  <a:srgbClr val="C00000"/>
                </a:solidFill>
                <a:latin typeface="Palatino Linotype" pitchFamily="18" charset="0"/>
              </a:rPr>
              <a:t>10</a:t>
            </a:r>
            <a:r>
              <a:rPr lang="en-US" b="1" dirty="0">
                <a:latin typeface="Palatino Linotype" pitchFamily="18" charset="0"/>
              </a:rPr>
              <a:t>, 13, 14, 15};</a:t>
            </a:r>
          </a:p>
          <a:p>
            <a:pPr algn="ctr"/>
            <a:r>
              <a:rPr lang="el-GR" b="1" dirty="0">
                <a:solidFill>
                  <a:srgbClr val="C00000"/>
                </a:solidFill>
                <a:latin typeface="Palatino Linotype" pitchFamily="18" charset="0"/>
              </a:rPr>
              <a:t>α</a:t>
            </a:r>
            <a:r>
              <a:rPr lang="en-US" b="1" dirty="0">
                <a:solidFill>
                  <a:srgbClr val="C00000"/>
                </a:solidFill>
                <a:latin typeface="Palatino Linotype" pitchFamily="18" charset="0"/>
              </a:rPr>
              <a:t>=10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426" y="2922710"/>
            <a:ext cx="700087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4743450"/>
            <a:ext cx="65722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5514976"/>
            <a:ext cx="77819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3968171" y="2322635"/>
            <a:ext cx="4255661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alatino Linotype" pitchFamily="18" charset="0"/>
              </a:rPr>
              <a:t>Generate the private/public keys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1900" y="3962400"/>
            <a:ext cx="4648200" cy="66702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alatino Linotype" pitchFamily="18" charset="0"/>
              </a:rPr>
              <a:t>Alice wants to sign a message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Palatino Linotype" pitchFamily="18" charset="0"/>
              </a:rPr>
              <a:t>Let</a:t>
            </a:r>
            <a:r>
              <a:rPr lang="en-US" sz="2000" b="1" dirty="0">
                <a:solidFill>
                  <a:srgbClr val="C00000"/>
                </a:solidFill>
                <a:latin typeface="Palatino Linotype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Palatino Linotype" pitchFamily="18" charset="0"/>
              </a:rPr>
              <a:t>m = 14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0" y="5047656"/>
            <a:ext cx="1447800" cy="371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55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344" y="365125"/>
            <a:ext cx="10889456" cy="1325563"/>
          </a:xfrm>
        </p:spPr>
        <p:txBody>
          <a:bodyPr>
            <a:normAutofit/>
          </a:bodyPr>
          <a:lstStyle/>
          <a:p>
            <a:r>
              <a:rPr lang="en-US" sz="4900" dirty="0">
                <a:cs typeface="Andalus" panose="02020603050405020304" pitchFamily="18" charset="-78"/>
              </a:rPr>
              <a:t>Digital Signatures</a:t>
            </a:r>
            <a:br>
              <a:rPr lang="en-US" sz="4900" dirty="0">
                <a:cs typeface="Andalus" panose="02020603050405020304" pitchFamily="18" charset="-78"/>
              </a:rPr>
            </a:br>
            <a:r>
              <a:rPr lang="en-US" sz="3600" dirty="0" err="1">
                <a:solidFill>
                  <a:srgbClr val="000099"/>
                </a:solidFill>
              </a:rPr>
              <a:t>ElGamal</a:t>
            </a:r>
            <a:r>
              <a:rPr lang="en-US" sz="3600" dirty="0">
                <a:solidFill>
                  <a:srgbClr val="000099"/>
                </a:solidFill>
              </a:rPr>
              <a:t> Scheme – Example (</a:t>
            </a:r>
            <a:r>
              <a:rPr lang="en-US" sz="3600" dirty="0" err="1">
                <a:solidFill>
                  <a:srgbClr val="000099"/>
                </a:solidFill>
              </a:rPr>
              <a:t>cont</a:t>
            </a:r>
            <a:r>
              <a:rPr lang="en-US" sz="3600" dirty="0">
                <a:solidFill>
                  <a:srgbClr val="000099"/>
                </a:solidFill>
              </a:rPr>
              <a:t>…)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2547939"/>
            <a:ext cx="67437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4127623" y="1828800"/>
            <a:ext cx="3814763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alatino Linotype" pitchFamily="18" charset="0"/>
              </a:rPr>
              <a:t>Verify the message</a:t>
            </a:r>
          </a:p>
        </p:txBody>
      </p:sp>
    </p:spTree>
    <p:extLst>
      <p:ext uri="{BB962C8B-B14F-4D97-AF65-F5344CB8AC3E}">
        <p14:creationId xmlns:p14="http://schemas.microsoft.com/office/powerpoint/2010/main" val="188925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313" y="57943"/>
            <a:ext cx="11053762" cy="1325563"/>
          </a:xfrm>
        </p:spPr>
        <p:txBody>
          <a:bodyPr>
            <a:normAutofit/>
          </a:bodyPr>
          <a:lstStyle/>
          <a:p>
            <a:r>
              <a:rPr lang="en-US" dirty="0">
                <a:cs typeface="Andalus" panose="02020603050405020304" pitchFamily="18" charset="-78"/>
              </a:rPr>
              <a:t>Digital Signatures</a:t>
            </a:r>
            <a:br>
              <a:rPr lang="en-US" dirty="0">
                <a:cs typeface="Andalus" panose="02020603050405020304" pitchFamily="18" charset="-78"/>
              </a:rPr>
            </a:br>
            <a:r>
              <a:rPr lang="en-US" sz="3100" dirty="0" err="1">
                <a:solidFill>
                  <a:srgbClr val="000099"/>
                </a:solidFill>
              </a:rPr>
              <a:t>ElGamal</a:t>
            </a:r>
            <a:r>
              <a:rPr lang="en-US" sz="3100" dirty="0">
                <a:solidFill>
                  <a:srgbClr val="000099"/>
                </a:solidFill>
              </a:rPr>
              <a:t> Scheme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9C71C4BE-4B16-C5E6-1BD7-5B70CA040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093" y="1164432"/>
            <a:ext cx="10807332" cy="566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0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09600" y="76201"/>
            <a:ext cx="10972800" cy="715963"/>
          </a:xfrm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7030A0"/>
                </a:solidFill>
              </a:rPr>
              <a:t>Example</a:t>
            </a:r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78" t="38000" r="25424" b="12447"/>
          <a:stretch>
            <a:fillRect/>
          </a:stretch>
        </p:blipFill>
        <p:spPr>
          <a:xfrm>
            <a:off x="304800" y="944564"/>
            <a:ext cx="11887200" cy="5608637"/>
          </a:xfrm>
          <a:noFill/>
        </p:spPr>
      </p:pic>
    </p:spTree>
    <p:extLst>
      <p:ext uri="{BB962C8B-B14F-4D97-AF65-F5344CB8AC3E}">
        <p14:creationId xmlns:p14="http://schemas.microsoft.com/office/powerpoint/2010/main" val="93397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27768</TotalTime>
  <Words>183</Words>
  <Application>Microsoft Office PowerPoint</Application>
  <PresentationFormat>Custom</PresentationFormat>
  <Paragraphs>40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Contents</vt:lpstr>
      <vt:lpstr>Digital Signatures Schemes</vt:lpstr>
      <vt:lpstr> Digital Signatures ElGamal Scheme </vt:lpstr>
      <vt:lpstr> Digital Signatures ElGamal Scheme </vt:lpstr>
      <vt:lpstr>Digital Signatures ElGamal Scheme - Example</vt:lpstr>
      <vt:lpstr>Digital Signatures ElGamal Scheme – Example (cont…)</vt:lpstr>
      <vt:lpstr>Digital Signatures ElGamal Scheme</vt:lpstr>
      <vt:lpstr>Example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SKS</dc:creator>
  <cp:lastModifiedBy>Dell</cp:lastModifiedBy>
  <cp:revision>939</cp:revision>
  <dcterms:created xsi:type="dcterms:W3CDTF">2020-07-30T09:53:05Z</dcterms:created>
  <dcterms:modified xsi:type="dcterms:W3CDTF">2025-03-06T13:39:14Z</dcterms:modified>
</cp:coreProperties>
</file>