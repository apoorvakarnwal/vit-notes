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713" r:id="rId2"/>
    <p:sldId id="257" r:id="rId3"/>
    <p:sldId id="714" r:id="rId4"/>
    <p:sldId id="715" r:id="rId5"/>
    <p:sldId id="459" r:id="rId6"/>
    <p:sldId id="716" r:id="rId7"/>
    <p:sldId id="717" r:id="rId8"/>
    <p:sldId id="718" r:id="rId9"/>
    <p:sldId id="719" r:id="rId10"/>
    <p:sldId id="720" r:id="rId11"/>
    <p:sldId id="721" r:id="rId12"/>
    <p:sldId id="722" r:id="rId13"/>
    <p:sldId id="724" r:id="rId14"/>
    <p:sldId id="723" r:id="rId15"/>
    <p:sldId id="725" r:id="rId16"/>
    <p:sldId id="498" r:id="rId17"/>
    <p:sldId id="501" r:id="rId18"/>
    <p:sldId id="726" r:id="rId19"/>
    <p:sldId id="727" r:id="rId20"/>
    <p:sldId id="728" r:id="rId21"/>
    <p:sldId id="729" r:id="rId22"/>
    <p:sldId id="730" r:id="rId23"/>
    <p:sldId id="73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99"/>
    <a:srgbClr val="0066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17" autoAdjust="0"/>
    <p:restoredTop sz="94353" autoAdjust="0"/>
  </p:normalViewPr>
  <p:slideViewPr>
    <p:cSldViewPr snapToGrid="0">
      <p:cViewPr>
        <p:scale>
          <a:sx n="77" d="100"/>
          <a:sy n="77" d="100"/>
        </p:scale>
        <p:origin x="-414" y="19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24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7C78F4-9D5A-4E7B-8894-0F2149915370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9B07D-717D-4E39-813B-AD1267CF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109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9B07D-717D-4E39-813B-AD1267CF108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963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9B07D-717D-4E39-813B-AD1267CF108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285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E7CA62B-8A7A-482E-90C4-49E2A12F1086}" type="slidenum">
              <a:rPr lang="en-AU"/>
              <a:pPr/>
              <a:t>5</a:t>
            </a:fld>
            <a:endParaRPr lang="en-AU"/>
          </a:p>
        </p:txBody>
      </p:sp>
      <p:sp>
        <p:nvSpPr>
          <p:cNvPr id="7372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9pPr>
          </a:lstStyle>
          <a:p>
            <a:pPr algn="r">
              <a:buClrTx/>
              <a:buFontTx/>
              <a:buNone/>
            </a:pPr>
            <a:fld id="{C75EF9C4-27DF-4599-997C-38F0143301E6}" type="slidenum">
              <a:rPr lang="en-US" sz="1200"/>
              <a:pPr algn="r">
                <a:buClrTx/>
                <a:buFontTx/>
                <a:buNone/>
              </a:pPr>
              <a:t>5</a:t>
            </a:fld>
            <a:endParaRPr lang="en-US" sz="1200"/>
          </a:p>
        </p:txBody>
      </p:sp>
      <p:sp>
        <p:nvSpPr>
          <p:cNvPr id="73730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3731" name="Text Box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pPr eaLnBrk="1" hangingPunct="1">
              <a:spcBef>
                <a:spcPts val="450"/>
              </a:spcBef>
              <a:buClrTx/>
              <a:buFontTx/>
              <a:buNone/>
            </a:pPr>
            <a:r>
              <a:rPr lang="en-US">
                <a:latin typeface="Arial" charset="0"/>
                <a:ea typeface="ＭＳ Ｐゴシック" pitchFamily="32" charset="-128"/>
              </a:rPr>
              <a:t>In assessing the security of a MAC function, we need to consider the types of attacks that may be mounted against it. Hence it needs to satisfy the listed requirements.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</a:pPr>
            <a:r>
              <a:rPr lang="en-US">
                <a:latin typeface="Arial" charset="0"/>
                <a:ea typeface="ＭＳ Ｐゴシック" pitchFamily="32" charset="-128"/>
              </a:rPr>
              <a:t>The first requirement deals with message replacement attacks, in which an opponent is able to construct a new message to match a given MAC, even though the opponent does not know and does not learn the key.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</a:pPr>
            <a:r>
              <a:rPr lang="en-US">
                <a:latin typeface="Arial" charset="0"/>
                <a:ea typeface="ＭＳ Ｐゴシック" pitchFamily="32" charset="-128"/>
              </a:rPr>
              <a:t>The second requirement deals with the need to thwart a brute-force attack based on chosen plaintext. 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</a:pPr>
            <a:r>
              <a:rPr lang="en-US">
                <a:latin typeface="Arial" charset="0"/>
                <a:ea typeface="ＭＳ Ｐゴシック" pitchFamily="32" charset="-128"/>
              </a:rPr>
              <a:t>The final requirement dictates that the authentication algorithm should not be weaker with respect to certain parts or bits of the message than others.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1949-706A-430F-87C4-53D17726DA2C}" type="datetime1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55DA5-4711-4DE5-AD5B-55E9DD438A3D}" type="datetime1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C6AC-4CB8-43F4-B168-FC31AC739BB0}" type="datetime1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9939-41F9-4DC5-BDE5-9FCCEF10684E}" type="datetime1">
              <a:rPr lang="en-IN" smtClean="0"/>
              <a:t>04-03-2025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95FAC-93E4-4B8A-8750-CCA678BC9C2F}" type="datetime1">
              <a:rPr lang="en-IN" smtClean="0"/>
              <a:t>04-03-2025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AE26-E085-421E-B2BE-E35F7FE14FA1}" type="datetime1">
              <a:rPr lang="en-IN" smtClean="0"/>
              <a:t>04-03-2025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3628-B2F2-4CBD-BE8A-64F0D0A46994}" type="datetime1">
              <a:rPr lang="en-IN" smtClean="0"/>
              <a:t>04-03-2025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B015-B8C6-457D-B902-7DB44231438D}" type="datetime1">
              <a:rPr lang="en-IN" smtClean="0"/>
              <a:t>04-03-2025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ED65-AB5F-44AF-8D42-71557A758011}" type="datetime1">
              <a:rPr lang="en-IN" smtClean="0"/>
              <a:t>04-03-2025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DED4B-9960-44B5-8C42-9160DD384C6B}" type="datetime1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8404-D63A-4502-A490-AA0FA7A20986}" type="datetime1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87B4E4D7-857D-48F3-80B8-6632CC0BCD4D}" type="datetime1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8928" y="549195"/>
            <a:ext cx="10294144" cy="9872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3200" dirty="0">
                <a:solidFill>
                  <a:srgbClr val="000099"/>
                </a:solidFill>
              </a:rPr>
              <a:t>BCSE309L - Cryptography and Network Security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FFC9748-0C84-0B4C-A5F1-B3B0AA09EEE5}"/>
              </a:ext>
            </a:extLst>
          </p:cNvPr>
          <p:cNvSpPr txBox="1"/>
          <p:nvPr/>
        </p:nvSpPr>
        <p:spPr>
          <a:xfrm>
            <a:off x="777914" y="1866708"/>
            <a:ext cx="107554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Module 5 - </a:t>
            </a:r>
            <a:r>
              <a:rPr lang="en-US" sz="4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Digital Signature and Authentication Protocols</a:t>
            </a:r>
            <a:endParaRPr lang="en-IN" sz="4000" b="1" dirty="0">
              <a:solidFill>
                <a:srgbClr val="C00000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06C82C8C-0C73-83FD-AC3B-DF3E02807B3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8F2FB"/>
              </a:clrFrom>
              <a:clrTo>
                <a:srgbClr val="E8F2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66520" y="3356621"/>
            <a:ext cx="4675356" cy="287947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69990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279" y="254833"/>
            <a:ext cx="10515600" cy="1114425"/>
          </a:xfrm>
        </p:spPr>
        <p:txBody>
          <a:bodyPr>
            <a:normAutofit/>
          </a:bodyPr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280" y="1274164"/>
            <a:ext cx="10515599" cy="541155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u="none" strike="noStrike" baseline="0" dirty="0">
                <a:solidFill>
                  <a:srgbClr val="FF0000"/>
                </a:solidFill>
              </a:rPr>
              <a:t>CO3 : To apprehend the authentication and integrity process of data for various applications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0" i="0" u="none" strike="noStrike" baseline="0" dirty="0">
              <a:solidFill>
                <a:srgbClr val="FF0000"/>
              </a:solidFill>
            </a:endParaRP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400" b="0" i="0" u="none" strike="noStrike" baseline="0" dirty="0">
                <a:solidFill>
                  <a:srgbClr val="000099"/>
                </a:solidFill>
              </a:rPr>
              <a:t>Authentication Requirements, Authentication Functions, Message Authentication Codes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400" b="0" i="0" u="none" strike="noStrike" baseline="0" dirty="0">
                <a:solidFill>
                  <a:srgbClr val="000099"/>
                </a:solidFill>
              </a:rPr>
              <a:t>Digital Signature Authentication, Authentication Protocols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400" b="0" i="0" u="none" strike="noStrike" baseline="0" dirty="0">
                <a:solidFill>
                  <a:srgbClr val="000099"/>
                </a:solidFill>
              </a:rPr>
              <a:t>Digital Signature Standards (DSS)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400" b="0" i="0" u="none" strike="noStrike" baseline="0" dirty="0">
                <a:solidFill>
                  <a:srgbClr val="000099"/>
                </a:solidFill>
              </a:rPr>
              <a:t>RSA Digital Signature, </a:t>
            </a:r>
            <a:r>
              <a:rPr lang="en-US" sz="2400" b="0" i="0" u="none" strike="noStrike" baseline="0" dirty="0" err="1">
                <a:solidFill>
                  <a:srgbClr val="000099"/>
                </a:solidFill>
              </a:rPr>
              <a:t>Elgamal</a:t>
            </a:r>
            <a:r>
              <a:rPr lang="en-US" sz="2400" b="0" i="0" u="none" strike="noStrike" baseline="0" dirty="0">
                <a:solidFill>
                  <a:srgbClr val="000099"/>
                </a:solidFill>
              </a:rPr>
              <a:t> based Digital Signature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400" b="0" i="0" u="none" strike="noStrike" baseline="0" dirty="0">
                <a:solidFill>
                  <a:srgbClr val="000099"/>
                </a:solidFill>
              </a:rPr>
              <a:t>Authentication Applications: Kerberos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400" b="0" i="0" u="none" strike="noStrike" baseline="0" dirty="0">
                <a:solidFill>
                  <a:srgbClr val="000099"/>
                </a:solidFill>
              </a:rPr>
              <a:t>X.509 Authentication Service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sz="2400" b="0" i="0" u="none" strike="noStrike" baseline="0" dirty="0">
                <a:solidFill>
                  <a:srgbClr val="000099"/>
                </a:solidFill>
              </a:rPr>
              <a:t>Public Key Infrastructure (PKI)</a:t>
            </a:r>
            <a:endParaRPr lang="en-IN" sz="24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73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EB34FF-3401-9369-D259-23476791C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3136"/>
          </a:xfrm>
        </p:spPr>
        <p:txBody>
          <a:bodyPr>
            <a:noAutofit/>
          </a:bodyPr>
          <a:lstStyle/>
          <a:p>
            <a:pPr algn="just"/>
            <a:r>
              <a:rPr lang="en-IN" dirty="0"/>
              <a:t>Message Authentication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6786CB-C22A-4B44-149C-CF8CABF88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644809" cy="581770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</a:rPr>
              <a:t>In the context of communications across a network, the following attacks can be </a:t>
            </a:r>
            <a:r>
              <a:rPr lang="en-IN" sz="2400" b="0" i="0" u="none" strike="noStrike" baseline="0" dirty="0">
                <a:solidFill>
                  <a:srgbClr val="000000"/>
                </a:solidFill>
              </a:rPr>
              <a:t>identified: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b="1" i="0" u="none" strike="noStrike" baseline="0" dirty="0">
                <a:solidFill>
                  <a:srgbClr val="FF0000"/>
                </a:solidFill>
              </a:rPr>
              <a:t>Disclosure</a:t>
            </a:r>
            <a:r>
              <a:rPr lang="en-US" sz="2400" b="1" i="0" u="none" strike="noStrike" baseline="0" dirty="0">
                <a:solidFill>
                  <a:srgbClr val="000000"/>
                </a:solidFill>
              </a:rPr>
              <a:t>: </a:t>
            </a:r>
            <a:r>
              <a:rPr lang="en-US" sz="2400" b="0" i="0" u="none" strike="noStrike" baseline="0" dirty="0">
                <a:solidFill>
                  <a:srgbClr val="0000FF"/>
                </a:solidFill>
              </a:rPr>
              <a:t>Release of message contents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to any person or process not possessing </a:t>
            </a:r>
            <a:r>
              <a:rPr lang="en-IN" sz="2400" b="0" i="0" u="none" strike="noStrike" baseline="0" dirty="0">
                <a:solidFill>
                  <a:srgbClr val="000000"/>
                </a:solidFill>
              </a:rPr>
              <a:t>the appropriate cryptographic key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b="1" i="0" u="none" strike="noStrike" baseline="0" dirty="0">
                <a:solidFill>
                  <a:srgbClr val="FF0000"/>
                </a:solidFill>
              </a:rPr>
              <a:t>Traffic analysis</a:t>
            </a:r>
            <a:r>
              <a:rPr lang="en-US" sz="2400" b="1" i="0" u="none" strike="noStrike" baseline="0" dirty="0">
                <a:solidFill>
                  <a:srgbClr val="000000"/>
                </a:solidFill>
              </a:rPr>
              <a:t>: </a:t>
            </a:r>
            <a:r>
              <a:rPr lang="en-US" sz="2400" b="0" i="0" u="none" strike="noStrike" baseline="0" dirty="0">
                <a:solidFill>
                  <a:srgbClr val="0000FF"/>
                </a:solidFill>
              </a:rPr>
              <a:t>Discovery of the pattern of traffic between parties</a:t>
            </a:r>
            <a:endParaRPr lang="en-US" sz="2400" b="0" i="0" u="none" strike="noStrike" baseline="0" dirty="0">
              <a:solidFill>
                <a:srgbClr val="000000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b="0" i="0" u="none" strike="noStrike" baseline="0" dirty="0">
                <a:solidFill>
                  <a:srgbClr val="000000"/>
                </a:solidFill>
              </a:rPr>
              <a:t>In a connection-oriented application, the frequency and duration of connections could be determined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b="0" i="0" u="none" strike="noStrike" baseline="0" dirty="0">
                <a:solidFill>
                  <a:srgbClr val="000000"/>
                </a:solidFill>
              </a:rPr>
              <a:t>In either a connection-oriented or connectionless </a:t>
            </a:r>
            <a:r>
              <a:rPr lang="en-IN" sz="2000" b="0" i="0" u="none" strike="noStrike" baseline="0" dirty="0">
                <a:solidFill>
                  <a:srgbClr val="000000"/>
                </a:solidFill>
              </a:rPr>
              <a:t>environment, </a:t>
            </a:r>
            <a:r>
              <a:rPr lang="en-US" sz="2000" b="0" i="0" u="none" strike="noStrike" baseline="0" dirty="0">
                <a:solidFill>
                  <a:srgbClr val="000000"/>
                </a:solidFill>
              </a:rPr>
              <a:t>the number and length of messages between parties could be </a:t>
            </a:r>
            <a:r>
              <a:rPr lang="en-IN" sz="2000" b="0" i="0" u="none" strike="noStrike" baseline="0" dirty="0">
                <a:solidFill>
                  <a:srgbClr val="000000"/>
                </a:solidFill>
              </a:rPr>
              <a:t>determined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b="1" i="0" u="none" strike="noStrike" baseline="0" dirty="0">
                <a:solidFill>
                  <a:srgbClr val="FF0000"/>
                </a:solidFill>
              </a:rPr>
              <a:t>Masquerade</a:t>
            </a:r>
            <a:r>
              <a:rPr lang="en-US" sz="2400" b="1" i="0" u="none" strike="noStrike" baseline="0" dirty="0">
                <a:solidFill>
                  <a:srgbClr val="000000"/>
                </a:solidFill>
              </a:rPr>
              <a:t>: </a:t>
            </a:r>
            <a:r>
              <a:rPr lang="en-US" sz="2400" b="0" i="0" u="none" strike="noStrike" baseline="0" dirty="0">
                <a:solidFill>
                  <a:srgbClr val="0000FF"/>
                </a:solidFill>
              </a:rPr>
              <a:t>Insertion of messages into the network from a fraudulent source</a:t>
            </a:r>
            <a:endParaRPr lang="en-US" sz="2400" b="0" i="0" u="none" strike="noStrike" baseline="0" dirty="0">
              <a:solidFill>
                <a:srgbClr val="000000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b="1" i="0" u="none" strike="noStrike" baseline="0" dirty="0">
                <a:solidFill>
                  <a:srgbClr val="000000"/>
                </a:solidFill>
              </a:rPr>
              <a:t>Example</a:t>
            </a:r>
            <a:r>
              <a:rPr lang="en-US" sz="2000" b="0" i="0" u="none" strike="noStrike" baseline="0" dirty="0">
                <a:solidFill>
                  <a:srgbClr val="000000"/>
                </a:solidFill>
              </a:rPr>
              <a:t>: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800" b="0" i="0" u="none" strike="noStrike" baseline="0" dirty="0">
                <a:solidFill>
                  <a:srgbClr val="000000"/>
                </a:solidFill>
              </a:rPr>
              <a:t>The creation of messages by an opponent that are purported to come from an authorized entity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1800" b="0" i="0" u="none" strike="noStrike" baseline="0" dirty="0">
                <a:solidFill>
                  <a:srgbClr val="000000"/>
                </a:solidFill>
              </a:rPr>
              <a:t>The fraudulent acknowledgments of message receipt or nonreceipt by someone other than the message </a:t>
            </a:r>
            <a:r>
              <a:rPr lang="en-IN" sz="1800" b="0" i="0" u="none" strike="noStrike" baseline="0" dirty="0">
                <a:solidFill>
                  <a:srgbClr val="000000"/>
                </a:solidFill>
              </a:rPr>
              <a:t>recipient</a:t>
            </a:r>
          </a:p>
        </p:txBody>
      </p:sp>
    </p:spTree>
    <p:extLst>
      <p:ext uri="{BB962C8B-B14F-4D97-AF65-F5344CB8AC3E}">
        <p14:creationId xmlns:p14="http://schemas.microsoft.com/office/powerpoint/2010/main" val="94421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C3EF84E-A5A3-548D-315F-65916E599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91F6CF-FBE2-7C2F-0673-B83B9609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78593"/>
            <a:ext cx="10868025" cy="892969"/>
          </a:xfrm>
        </p:spPr>
        <p:txBody>
          <a:bodyPr>
            <a:noAutofit/>
          </a:bodyPr>
          <a:lstStyle/>
          <a:p>
            <a:pPr algn="just"/>
            <a:r>
              <a:rPr lang="en-IN" sz="3800" dirty="0"/>
              <a:t>Message Authentication Requirements – </a:t>
            </a:r>
            <a:r>
              <a:rPr lang="en-IN" sz="3800" dirty="0" err="1"/>
              <a:t>cont</a:t>
            </a:r>
            <a:r>
              <a:rPr lang="en-IN" sz="3800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82B69D2-F70C-EAFB-B72E-274C4473A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071563"/>
            <a:ext cx="11129963" cy="578643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i="0" u="none" strike="noStrike" baseline="0" dirty="0">
                <a:solidFill>
                  <a:srgbClr val="4833C3"/>
                </a:solidFill>
              </a:rPr>
              <a:t>4. </a:t>
            </a:r>
            <a:r>
              <a:rPr lang="en-US" sz="2400" b="1" i="0" u="none" strike="noStrike" baseline="0" dirty="0">
                <a:solidFill>
                  <a:srgbClr val="FF0000"/>
                </a:solidFill>
              </a:rPr>
              <a:t>Content modification</a:t>
            </a:r>
            <a:r>
              <a:rPr lang="en-US" sz="2400" b="1" i="0" u="none" strike="noStrike" baseline="0" dirty="0">
                <a:solidFill>
                  <a:srgbClr val="000000"/>
                </a:solidFill>
              </a:rPr>
              <a:t>: </a:t>
            </a:r>
            <a:r>
              <a:rPr lang="en-US" sz="2400" b="0" i="0" u="none" strike="noStrike" baseline="0" dirty="0">
                <a:solidFill>
                  <a:srgbClr val="0000FF"/>
                </a:solidFill>
              </a:rPr>
              <a:t>Changes to the contents of a message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, including insertion, </a:t>
            </a:r>
            <a:r>
              <a:rPr lang="en-IN" sz="2400" b="0" i="0" u="none" strike="noStrike" baseline="0" dirty="0">
                <a:solidFill>
                  <a:srgbClr val="000000"/>
                </a:solidFill>
              </a:rPr>
              <a:t>deletion, transposition, and modification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i="0" u="none" strike="noStrike" baseline="0" dirty="0">
                <a:solidFill>
                  <a:srgbClr val="4833C3"/>
                </a:solidFill>
              </a:rPr>
              <a:t>5. </a:t>
            </a:r>
            <a:r>
              <a:rPr lang="en-US" sz="2400" b="1" i="0" u="none" strike="noStrike" baseline="0" dirty="0">
                <a:solidFill>
                  <a:srgbClr val="FF0000"/>
                </a:solidFill>
              </a:rPr>
              <a:t>Sequence modification</a:t>
            </a:r>
            <a:r>
              <a:rPr lang="en-US" sz="2400" b="1" i="0" u="none" strike="noStrike" baseline="0" dirty="0">
                <a:solidFill>
                  <a:srgbClr val="000000"/>
                </a:solidFill>
              </a:rPr>
              <a:t>: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Any </a:t>
            </a:r>
            <a:r>
              <a:rPr lang="en-US" sz="2400" b="0" i="0" u="none" strike="noStrike" baseline="0" dirty="0">
                <a:solidFill>
                  <a:srgbClr val="0000FF"/>
                </a:solidFill>
              </a:rPr>
              <a:t>modification to a sequence of messages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between parties, including insertion, deletion, and reordering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i="0" u="none" strike="noStrike" baseline="0" dirty="0">
                <a:solidFill>
                  <a:srgbClr val="4833C3"/>
                </a:solidFill>
              </a:rPr>
              <a:t>6. </a:t>
            </a:r>
            <a:r>
              <a:rPr lang="en-US" sz="2400" b="1" i="0" u="none" strike="noStrike" baseline="0" dirty="0">
                <a:solidFill>
                  <a:srgbClr val="FF0000"/>
                </a:solidFill>
              </a:rPr>
              <a:t>Timing modification</a:t>
            </a:r>
            <a:r>
              <a:rPr lang="en-US" sz="2400" b="1" i="0" u="none" strike="noStrike" baseline="0" dirty="0">
                <a:solidFill>
                  <a:srgbClr val="000000"/>
                </a:solidFill>
              </a:rPr>
              <a:t>: </a:t>
            </a:r>
            <a:r>
              <a:rPr lang="en-US" sz="2400" b="0" i="0" u="none" strike="noStrike" baseline="0" dirty="0">
                <a:solidFill>
                  <a:srgbClr val="0000FF"/>
                </a:solidFill>
              </a:rPr>
              <a:t>Delay or replay of messages</a:t>
            </a:r>
            <a:endParaRPr lang="en-US" sz="2400" b="0" i="0" u="none" strike="noStrike" baseline="0" dirty="0">
              <a:solidFill>
                <a:srgbClr val="0000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sz="2000" b="0" i="0" u="none" strike="noStrike" baseline="0" dirty="0">
                <a:solidFill>
                  <a:srgbClr val="000000"/>
                </a:solidFill>
              </a:rPr>
              <a:t>In a connection-oriented application, an entire session or sequence of messages could be a replay of some previous valid session, or individual messages in the sequence could be delayed or replayed</a:t>
            </a:r>
          </a:p>
          <a:p>
            <a:pPr lvl="1">
              <a:lnSpc>
                <a:spcPct val="110000"/>
              </a:lnSpc>
            </a:pPr>
            <a:r>
              <a:rPr lang="en-US" sz="2000" b="0" i="0" u="none" strike="noStrike" baseline="0" dirty="0">
                <a:solidFill>
                  <a:srgbClr val="000000"/>
                </a:solidFill>
              </a:rPr>
              <a:t>In a connectionless application, an individual message (e.g., datagram) could be delayed or replayed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i="0" u="none" strike="noStrike" baseline="0" dirty="0">
                <a:solidFill>
                  <a:srgbClr val="4833C3"/>
                </a:solidFill>
              </a:rPr>
              <a:t>7. </a:t>
            </a:r>
            <a:r>
              <a:rPr lang="en-US" sz="2400" b="1" i="0" u="none" strike="noStrike" baseline="0" dirty="0">
                <a:solidFill>
                  <a:srgbClr val="FF0000"/>
                </a:solidFill>
              </a:rPr>
              <a:t>Source repudiation</a:t>
            </a:r>
            <a:r>
              <a:rPr lang="en-US" sz="2400" b="1" i="0" u="none" strike="noStrike" baseline="0" dirty="0">
                <a:solidFill>
                  <a:srgbClr val="000000"/>
                </a:solidFill>
              </a:rPr>
              <a:t>: </a:t>
            </a:r>
            <a:r>
              <a:rPr lang="en-US" sz="2400" b="0" i="0" u="none" strike="noStrike" baseline="0" dirty="0">
                <a:solidFill>
                  <a:srgbClr val="0000FF"/>
                </a:solidFill>
              </a:rPr>
              <a:t>Denial of transmission of message by source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i="0" u="none" strike="noStrike" baseline="0" dirty="0">
                <a:solidFill>
                  <a:srgbClr val="4833C3"/>
                </a:solidFill>
              </a:rPr>
              <a:t>8. </a:t>
            </a:r>
            <a:r>
              <a:rPr lang="en-US" sz="2400" b="1" i="0" u="none" strike="noStrike" baseline="0" dirty="0">
                <a:solidFill>
                  <a:srgbClr val="FF0000"/>
                </a:solidFill>
              </a:rPr>
              <a:t>Destination repudiation</a:t>
            </a:r>
            <a:r>
              <a:rPr lang="en-US" sz="2400" b="1" i="0" u="none" strike="noStrike" baseline="0" dirty="0">
                <a:solidFill>
                  <a:srgbClr val="000000"/>
                </a:solidFill>
              </a:rPr>
              <a:t>: </a:t>
            </a:r>
            <a:r>
              <a:rPr lang="en-US" sz="2400" b="0" i="0" u="none" strike="noStrike" baseline="0" dirty="0">
                <a:solidFill>
                  <a:srgbClr val="0000FF"/>
                </a:solidFill>
              </a:rPr>
              <a:t>Denial of receipt of message by destination</a:t>
            </a:r>
            <a:endParaRPr lang="en-IN" sz="2400" b="0" i="0" u="none" strike="noStrike" baseline="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44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1"/>
          <p:cNvSpPr txBox="1">
            <a:spLocks noChangeArrowheads="1"/>
          </p:cNvSpPr>
          <p:nvPr/>
        </p:nvSpPr>
        <p:spPr bwMode="auto">
          <a:xfrm>
            <a:off x="521494" y="277814"/>
            <a:ext cx="6665119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9pPr>
          </a:lstStyle>
          <a:p>
            <a:pPr>
              <a:buClrTx/>
              <a:buFontTx/>
              <a:buNone/>
            </a:pPr>
            <a:r>
              <a:rPr lang="en-US" sz="4400" dirty="0">
                <a:solidFill>
                  <a:srgbClr val="C00000"/>
                </a:solidFill>
                <a:latin typeface="Palatino Linotype" pitchFamily="18" charset="0"/>
              </a:rPr>
              <a:t>Requirements for MACs</a:t>
            </a:r>
          </a:p>
        </p:txBody>
      </p:sp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692943" y="1676401"/>
            <a:ext cx="10987087" cy="445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604838" indent="-604838">
              <a:tabLst>
                <a:tab pos="604838" algn="l"/>
                <a:tab pos="1062038" algn="l"/>
                <a:tab pos="1519238" algn="l"/>
                <a:tab pos="1976438" algn="l"/>
                <a:tab pos="2433638" algn="l"/>
                <a:tab pos="2890838" algn="l"/>
                <a:tab pos="3348038" algn="l"/>
                <a:tab pos="3805238" algn="l"/>
                <a:tab pos="4262438" algn="l"/>
                <a:tab pos="4719638" algn="l"/>
                <a:tab pos="5176838" algn="l"/>
                <a:tab pos="5634038" algn="l"/>
                <a:tab pos="6091238" algn="l"/>
                <a:tab pos="6548438" algn="l"/>
                <a:tab pos="7005638" algn="l"/>
                <a:tab pos="7462838" algn="l"/>
                <a:tab pos="7920038" algn="l"/>
                <a:tab pos="8377238" algn="l"/>
                <a:tab pos="8834438" algn="l"/>
                <a:tab pos="9291638" algn="l"/>
                <a:tab pos="9748838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1pPr>
            <a:lvl2pPr marL="985838" indent="-528638">
              <a:tabLst>
                <a:tab pos="604838" algn="l"/>
                <a:tab pos="1062038" algn="l"/>
                <a:tab pos="1519238" algn="l"/>
                <a:tab pos="1976438" algn="l"/>
                <a:tab pos="2433638" algn="l"/>
                <a:tab pos="2890838" algn="l"/>
                <a:tab pos="3348038" algn="l"/>
                <a:tab pos="3805238" algn="l"/>
                <a:tab pos="4262438" algn="l"/>
                <a:tab pos="4719638" algn="l"/>
                <a:tab pos="5176838" algn="l"/>
                <a:tab pos="5634038" algn="l"/>
                <a:tab pos="6091238" algn="l"/>
                <a:tab pos="6548438" algn="l"/>
                <a:tab pos="7005638" algn="l"/>
                <a:tab pos="7462838" algn="l"/>
                <a:tab pos="7920038" algn="l"/>
                <a:tab pos="8377238" algn="l"/>
                <a:tab pos="8834438" algn="l"/>
                <a:tab pos="9291638" algn="l"/>
                <a:tab pos="9748838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2pPr>
            <a:lvl3pPr>
              <a:tabLst>
                <a:tab pos="604838" algn="l"/>
                <a:tab pos="1062038" algn="l"/>
                <a:tab pos="1519238" algn="l"/>
                <a:tab pos="1976438" algn="l"/>
                <a:tab pos="2433638" algn="l"/>
                <a:tab pos="2890838" algn="l"/>
                <a:tab pos="3348038" algn="l"/>
                <a:tab pos="3805238" algn="l"/>
                <a:tab pos="4262438" algn="l"/>
                <a:tab pos="4719638" algn="l"/>
                <a:tab pos="5176838" algn="l"/>
                <a:tab pos="5634038" algn="l"/>
                <a:tab pos="6091238" algn="l"/>
                <a:tab pos="6548438" algn="l"/>
                <a:tab pos="7005638" algn="l"/>
                <a:tab pos="7462838" algn="l"/>
                <a:tab pos="7920038" algn="l"/>
                <a:tab pos="8377238" algn="l"/>
                <a:tab pos="8834438" algn="l"/>
                <a:tab pos="9291638" algn="l"/>
                <a:tab pos="9748838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3pPr>
            <a:lvl4pPr>
              <a:tabLst>
                <a:tab pos="604838" algn="l"/>
                <a:tab pos="1062038" algn="l"/>
                <a:tab pos="1519238" algn="l"/>
                <a:tab pos="1976438" algn="l"/>
                <a:tab pos="2433638" algn="l"/>
                <a:tab pos="2890838" algn="l"/>
                <a:tab pos="3348038" algn="l"/>
                <a:tab pos="3805238" algn="l"/>
                <a:tab pos="4262438" algn="l"/>
                <a:tab pos="4719638" algn="l"/>
                <a:tab pos="5176838" algn="l"/>
                <a:tab pos="5634038" algn="l"/>
                <a:tab pos="6091238" algn="l"/>
                <a:tab pos="6548438" algn="l"/>
                <a:tab pos="7005638" algn="l"/>
                <a:tab pos="7462838" algn="l"/>
                <a:tab pos="7920038" algn="l"/>
                <a:tab pos="8377238" algn="l"/>
                <a:tab pos="8834438" algn="l"/>
                <a:tab pos="9291638" algn="l"/>
                <a:tab pos="9748838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4pPr>
            <a:lvl5pPr>
              <a:tabLst>
                <a:tab pos="604838" algn="l"/>
                <a:tab pos="1062038" algn="l"/>
                <a:tab pos="1519238" algn="l"/>
                <a:tab pos="1976438" algn="l"/>
                <a:tab pos="2433638" algn="l"/>
                <a:tab pos="2890838" algn="l"/>
                <a:tab pos="3348038" algn="l"/>
                <a:tab pos="3805238" algn="l"/>
                <a:tab pos="4262438" algn="l"/>
                <a:tab pos="4719638" algn="l"/>
                <a:tab pos="5176838" algn="l"/>
                <a:tab pos="5634038" algn="l"/>
                <a:tab pos="6091238" algn="l"/>
                <a:tab pos="6548438" algn="l"/>
                <a:tab pos="7005638" algn="l"/>
                <a:tab pos="7462838" algn="l"/>
                <a:tab pos="7920038" algn="l"/>
                <a:tab pos="8377238" algn="l"/>
                <a:tab pos="8834438" algn="l"/>
                <a:tab pos="9291638" algn="l"/>
                <a:tab pos="9748838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604838" algn="l"/>
                <a:tab pos="1062038" algn="l"/>
                <a:tab pos="1519238" algn="l"/>
                <a:tab pos="1976438" algn="l"/>
                <a:tab pos="2433638" algn="l"/>
                <a:tab pos="2890838" algn="l"/>
                <a:tab pos="3348038" algn="l"/>
                <a:tab pos="3805238" algn="l"/>
                <a:tab pos="4262438" algn="l"/>
                <a:tab pos="4719638" algn="l"/>
                <a:tab pos="5176838" algn="l"/>
                <a:tab pos="5634038" algn="l"/>
                <a:tab pos="6091238" algn="l"/>
                <a:tab pos="6548438" algn="l"/>
                <a:tab pos="7005638" algn="l"/>
                <a:tab pos="7462838" algn="l"/>
                <a:tab pos="7920038" algn="l"/>
                <a:tab pos="8377238" algn="l"/>
                <a:tab pos="8834438" algn="l"/>
                <a:tab pos="9291638" algn="l"/>
                <a:tab pos="9748838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604838" algn="l"/>
                <a:tab pos="1062038" algn="l"/>
                <a:tab pos="1519238" algn="l"/>
                <a:tab pos="1976438" algn="l"/>
                <a:tab pos="2433638" algn="l"/>
                <a:tab pos="2890838" algn="l"/>
                <a:tab pos="3348038" algn="l"/>
                <a:tab pos="3805238" algn="l"/>
                <a:tab pos="4262438" algn="l"/>
                <a:tab pos="4719638" algn="l"/>
                <a:tab pos="5176838" algn="l"/>
                <a:tab pos="5634038" algn="l"/>
                <a:tab pos="6091238" algn="l"/>
                <a:tab pos="6548438" algn="l"/>
                <a:tab pos="7005638" algn="l"/>
                <a:tab pos="7462838" algn="l"/>
                <a:tab pos="7920038" algn="l"/>
                <a:tab pos="8377238" algn="l"/>
                <a:tab pos="8834438" algn="l"/>
                <a:tab pos="9291638" algn="l"/>
                <a:tab pos="9748838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604838" algn="l"/>
                <a:tab pos="1062038" algn="l"/>
                <a:tab pos="1519238" algn="l"/>
                <a:tab pos="1976438" algn="l"/>
                <a:tab pos="2433638" algn="l"/>
                <a:tab pos="2890838" algn="l"/>
                <a:tab pos="3348038" algn="l"/>
                <a:tab pos="3805238" algn="l"/>
                <a:tab pos="4262438" algn="l"/>
                <a:tab pos="4719638" algn="l"/>
                <a:tab pos="5176838" algn="l"/>
                <a:tab pos="5634038" algn="l"/>
                <a:tab pos="6091238" algn="l"/>
                <a:tab pos="6548438" algn="l"/>
                <a:tab pos="7005638" algn="l"/>
                <a:tab pos="7462838" algn="l"/>
                <a:tab pos="7920038" algn="l"/>
                <a:tab pos="8377238" algn="l"/>
                <a:tab pos="8834438" algn="l"/>
                <a:tab pos="9291638" algn="l"/>
                <a:tab pos="9748838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604838" algn="l"/>
                <a:tab pos="1062038" algn="l"/>
                <a:tab pos="1519238" algn="l"/>
                <a:tab pos="1976438" algn="l"/>
                <a:tab pos="2433638" algn="l"/>
                <a:tab pos="2890838" algn="l"/>
                <a:tab pos="3348038" algn="l"/>
                <a:tab pos="3805238" algn="l"/>
                <a:tab pos="4262438" algn="l"/>
                <a:tab pos="4719638" algn="l"/>
                <a:tab pos="5176838" algn="l"/>
                <a:tab pos="5634038" algn="l"/>
                <a:tab pos="6091238" algn="l"/>
                <a:tab pos="6548438" algn="l"/>
                <a:tab pos="7005638" algn="l"/>
                <a:tab pos="7462838" algn="l"/>
                <a:tab pos="7920038" algn="l"/>
                <a:tab pos="8377238" algn="l"/>
                <a:tab pos="8834438" algn="l"/>
                <a:tab pos="9291638" algn="l"/>
                <a:tab pos="9748838" algn="l"/>
              </a:tabLst>
              <a:defRPr sz="2400">
                <a:solidFill>
                  <a:srgbClr val="FFFFFF"/>
                </a:solidFill>
                <a:latin typeface="Arial" charset="0"/>
                <a:ea typeface="ＭＳ Ｐゴシック" pitchFamily="32" charset="-128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ts val="800"/>
              </a:spcBef>
              <a:buSzPct val="80000"/>
              <a:buFont typeface="Arial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Palatino Linotype" pitchFamily="18" charset="0"/>
              </a:rPr>
              <a:t>Taking into account the types of attacks</a:t>
            </a:r>
          </a:p>
          <a:p>
            <a:pPr marL="457200" indent="-457200">
              <a:lnSpc>
                <a:spcPct val="150000"/>
              </a:lnSpc>
              <a:spcBef>
                <a:spcPts val="800"/>
              </a:spcBef>
              <a:buSzPct val="80000"/>
              <a:buFont typeface="Arial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Palatino Linotype" pitchFamily="18" charset="0"/>
              </a:rPr>
              <a:t>Need the MAC to satisfy the following:</a:t>
            </a:r>
          </a:p>
          <a:p>
            <a:pPr marL="971550" lvl="1" indent="-514350" algn="just">
              <a:lnSpc>
                <a:spcPct val="150000"/>
              </a:lnSpc>
              <a:spcBef>
                <a:spcPts val="700"/>
              </a:spcBef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rgbClr val="000099"/>
                </a:solidFill>
                <a:latin typeface="Palatino Linotype" pitchFamily="18" charset="0"/>
              </a:rPr>
              <a:t>Knowing a message and MAC, is infeasible to find another message with same MAC</a:t>
            </a:r>
          </a:p>
          <a:p>
            <a:pPr marL="971550" lvl="1" indent="-514350">
              <a:lnSpc>
                <a:spcPct val="150000"/>
              </a:lnSpc>
              <a:spcBef>
                <a:spcPts val="700"/>
              </a:spcBef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rgbClr val="000099"/>
                </a:solidFill>
                <a:latin typeface="Palatino Linotype" pitchFamily="18" charset="0"/>
              </a:rPr>
              <a:t>MACs should be uniformly distributed</a:t>
            </a:r>
          </a:p>
          <a:p>
            <a:pPr marL="971550" lvl="1" indent="-514350" algn="just">
              <a:lnSpc>
                <a:spcPct val="150000"/>
              </a:lnSpc>
              <a:spcBef>
                <a:spcPts val="700"/>
              </a:spcBef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rgbClr val="000099"/>
                </a:solidFill>
                <a:latin typeface="Palatino Linotype" pitchFamily="18" charset="0"/>
              </a:rPr>
              <a:t>MAC should depend equally on all bits of the message</a:t>
            </a:r>
          </a:p>
        </p:txBody>
      </p:sp>
    </p:spTree>
    <p:extLst>
      <p:ext uri="{BB962C8B-B14F-4D97-AF65-F5344CB8AC3E}">
        <p14:creationId xmlns:p14="http://schemas.microsoft.com/office/powerpoint/2010/main" val="8292153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2DCFE5D-0487-22F5-0C09-DC04A0753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Message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859367-BDE5-5F83-9B19-994F9A81A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050"/>
            <a:ext cx="10515600" cy="489346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procedure to verify that </a:t>
            </a:r>
            <a:r>
              <a:rPr lang="en-US" dirty="0">
                <a:solidFill>
                  <a:srgbClr val="0000FF"/>
                </a:solidFill>
              </a:rPr>
              <a:t>received messages come from the alleged source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have not been altered</a:t>
            </a:r>
          </a:p>
          <a:p>
            <a:pPr>
              <a:lnSpc>
                <a:spcPct val="150000"/>
              </a:lnSpc>
            </a:pPr>
            <a:r>
              <a:rPr lang="en-US" dirty="0"/>
              <a:t>Message authentication </a:t>
            </a:r>
            <a:r>
              <a:rPr lang="en-US" dirty="0">
                <a:solidFill>
                  <a:srgbClr val="0000FF"/>
                </a:solidFill>
              </a:rPr>
              <a:t>may also verify sequencing and timeliness</a:t>
            </a:r>
          </a:p>
          <a:p>
            <a:pPr>
              <a:lnSpc>
                <a:spcPct val="150000"/>
              </a:lnSpc>
            </a:pP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digital signature </a:t>
            </a:r>
            <a:r>
              <a:rPr lang="en-US" dirty="0"/>
              <a:t>is an authentication technique that also includes </a:t>
            </a:r>
            <a:r>
              <a:rPr lang="en-US" dirty="0">
                <a:solidFill>
                  <a:srgbClr val="0000FF"/>
                </a:solidFill>
              </a:rPr>
              <a:t>measures to counter repudiation by the source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497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52A9D89-A8CF-2789-00D3-2CC5A8E3B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Message Authentication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90777E4-C33D-B79D-A67A-F6680C58C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Any message authentication or digital signature mechanism has </a:t>
            </a:r>
            <a:r>
              <a:rPr lang="en-US" dirty="0">
                <a:solidFill>
                  <a:srgbClr val="0000FF"/>
                </a:solidFill>
              </a:rPr>
              <a:t>two levels of functionality</a:t>
            </a:r>
          </a:p>
          <a:p>
            <a:pPr>
              <a:lnSpc>
                <a:spcPct val="150000"/>
              </a:lnSpc>
            </a:pPr>
            <a:r>
              <a:rPr lang="en-US" dirty="0"/>
              <a:t>At the lower level, there must be some sort of function that produces an </a:t>
            </a:r>
            <a:r>
              <a:rPr lang="en-US" b="1" dirty="0">
                <a:solidFill>
                  <a:srgbClr val="FF0000"/>
                </a:solidFill>
              </a:rPr>
              <a:t>authenticator</a:t>
            </a:r>
            <a:r>
              <a:rPr lang="en-US" dirty="0"/>
              <a:t>: a </a:t>
            </a:r>
            <a:r>
              <a:rPr lang="en-US" dirty="0">
                <a:solidFill>
                  <a:srgbClr val="0000FF"/>
                </a:solidFill>
              </a:rPr>
              <a:t>value to be used to authenticate a message</a:t>
            </a:r>
          </a:p>
          <a:p>
            <a:pPr>
              <a:lnSpc>
                <a:spcPct val="150000"/>
              </a:lnSpc>
            </a:pPr>
            <a:r>
              <a:rPr lang="en-US" dirty="0"/>
              <a:t>This lower-level function is then used as a primitive in a higher-level authentication protocol that enables a </a:t>
            </a:r>
            <a:r>
              <a:rPr lang="en-US" dirty="0">
                <a:solidFill>
                  <a:srgbClr val="0000FF"/>
                </a:solidFill>
              </a:rPr>
              <a:t>receiver to verify the authenticity of a message</a:t>
            </a:r>
            <a:endParaRPr lang="en-IN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32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75D0FB-107E-8EF3-A0A9-4F0F9F8E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38907"/>
            <a:ext cx="10515600" cy="1325563"/>
          </a:xfrm>
        </p:spPr>
        <p:txBody>
          <a:bodyPr/>
          <a:lstStyle/>
          <a:p>
            <a:r>
              <a:rPr lang="en-IN" dirty="0"/>
              <a:t>Authenticator Generating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21658CE-BD98-EBFE-0A35-F0EDE37C1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64470"/>
            <a:ext cx="10741819" cy="5086350"/>
          </a:xfrm>
        </p:spPr>
        <p:txBody>
          <a:bodyPr>
            <a:normAutofit fontScale="925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Hash function: </a:t>
            </a:r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function that maps a message of any length into a fixed-length hash value</a:t>
            </a:r>
            <a:r>
              <a:rPr lang="en-US" dirty="0"/>
              <a:t>, which serves as the </a:t>
            </a:r>
            <a:r>
              <a:rPr lang="en-US" b="1" dirty="0"/>
              <a:t>authenticator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Message encryption: </a:t>
            </a:r>
            <a:r>
              <a:rPr lang="en-US" dirty="0">
                <a:solidFill>
                  <a:srgbClr val="0000FF"/>
                </a:solidFill>
              </a:rPr>
              <a:t>The ciphertext of the entire message </a:t>
            </a:r>
            <a:r>
              <a:rPr lang="en-US" dirty="0"/>
              <a:t>serves as its </a:t>
            </a:r>
            <a:r>
              <a:rPr lang="en-US" b="1" dirty="0"/>
              <a:t>authenticator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Message Authentication Code (MAC): </a:t>
            </a:r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function of the message </a:t>
            </a:r>
            <a:r>
              <a:rPr lang="en-US" dirty="0"/>
              <a:t>and</a:t>
            </a:r>
            <a:r>
              <a:rPr lang="en-US" dirty="0">
                <a:solidFill>
                  <a:srgbClr val="0000FF"/>
                </a:solidFill>
              </a:rPr>
              <a:t> a secret key </a:t>
            </a:r>
            <a:r>
              <a:rPr lang="en-US" dirty="0"/>
              <a:t>that produces </a:t>
            </a:r>
            <a:r>
              <a:rPr lang="en-US" dirty="0">
                <a:solidFill>
                  <a:srgbClr val="0000FF"/>
                </a:solidFill>
              </a:rPr>
              <a:t>a fixed-length value </a:t>
            </a:r>
            <a:r>
              <a:rPr lang="en-US" dirty="0"/>
              <a:t>that serves as the </a:t>
            </a:r>
            <a:r>
              <a:rPr lang="en-US" b="1" dirty="0"/>
              <a:t>authenticator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0330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4B4AC62-D407-E649-8831-1A981DC43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20388" cy="1325563"/>
          </a:xfrm>
        </p:spPr>
        <p:txBody>
          <a:bodyPr/>
          <a:lstStyle/>
          <a:p>
            <a:r>
              <a:rPr lang="en-IN" dirty="0"/>
              <a:t>2. Message Encryption </a:t>
            </a:r>
            <a:br>
              <a:rPr lang="en-IN" dirty="0"/>
            </a:br>
            <a:r>
              <a:rPr lang="en-IN" sz="3600" dirty="0">
                <a:solidFill>
                  <a:srgbClr val="000099"/>
                </a:solidFill>
              </a:rPr>
              <a:t>Symmetric Encryption</a:t>
            </a:r>
            <a:endParaRPr lang="en-IN" dirty="0">
              <a:solidFill>
                <a:srgbClr val="000099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00C277A-EAEE-457F-D6E0-92DAA916E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12955"/>
            <a:ext cx="10515600" cy="2976677"/>
          </a:xfrm>
        </p:spPr>
      </p:pic>
    </p:spTree>
    <p:extLst>
      <p:ext uri="{BB962C8B-B14F-4D97-AF65-F5344CB8AC3E}">
        <p14:creationId xmlns:p14="http://schemas.microsoft.com/office/powerpoint/2010/main" val="3995793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43DE7B-6147-8225-4F86-38E04FFC0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79929"/>
            <a:ext cx="10515600" cy="1325563"/>
          </a:xfrm>
        </p:spPr>
        <p:txBody>
          <a:bodyPr/>
          <a:lstStyle/>
          <a:p>
            <a:r>
              <a:rPr lang="en-IN" dirty="0"/>
              <a:t>2. Message Encryption </a:t>
            </a:r>
            <a:br>
              <a:rPr lang="en-IN" dirty="0"/>
            </a:br>
            <a:r>
              <a:rPr lang="en-IN" sz="3600" dirty="0">
                <a:solidFill>
                  <a:srgbClr val="000099"/>
                </a:solidFill>
              </a:rPr>
              <a:t>Public-key Encryption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A304D113-C44B-FA7F-EE35-D9F793F04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300" y="1568037"/>
            <a:ext cx="9925050" cy="2344327"/>
          </a:xfr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9984E5CE-9772-411B-2E56-B37875D77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11" y="4051855"/>
            <a:ext cx="10515600" cy="235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9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23D06FE-E72D-18A0-98BA-69F8495F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DB40FE-1B5B-71D8-5011-90AA163AF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558560"/>
            <a:ext cx="10515600" cy="1325563"/>
          </a:xfrm>
        </p:spPr>
        <p:txBody>
          <a:bodyPr/>
          <a:lstStyle/>
          <a:p>
            <a:r>
              <a:rPr lang="en-IN" dirty="0"/>
              <a:t>2. Message Encryption </a:t>
            </a:r>
            <a:br>
              <a:rPr lang="en-IN" dirty="0"/>
            </a:br>
            <a:r>
              <a:rPr lang="en-IN" sz="3600" dirty="0">
                <a:solidFill>
                  <a:srgbClr val="000099"/>
                </a:solidFill>
              </a:rPr>
              <a:t>Public-key Encryption – </a:t>
            </a:r>
            <a:r>
              <a:rPr lang="en-IN" sz="3600" dirty="0" err="1">
                <a:solidFill>
                  <a:srgbClr val="000099"/>
                </a:solidFill>
              </a:rPr>
              <a:t>cont</a:t>
            </a:r>
            <a:r>
              <a:rPr lang="en-IN" sz="3600" dirty="0">
                <a:solidFill>
                  <a:srgbClr val="000099"/>
                </a:solidFill>
              </a:rPr>
              <a:t>…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A0C69219-20FF-B3C9-4BB9-642878823F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450" y="2174129"/>
            <a:ext cx="11310136" cy="2509741"/>
          </a:xfrm>
        </p:spPr>
      </p:pic>
    </p:spTree>
    <p:extLst>
      <p:ext uri="{BB962C8B-B14F-4D97-AF65-F5344CB8AC3E}">
        <p14:creationId xmlns:p14="http://schemas.microsoft.com/office/powerpoint/2010/main" val="1686775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F3BD44-4220-69E2-39B1-73ADC8F2D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319" y="-3969"/>
            <a:ext cx="10515600" cy="1139825"/>
          </a:xfrm>
        </p:spPr>
        <p:txBody>
          <a:bodyPr/>
          <a:lstStyle/>
          <a:p>
            <a:r>
              <a:rPr lang="en-IN" dirty="0"/>
              <a:t>3. Message Authentication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F915197-499E-2E4B-F6B4-8249F88A0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35844"/>
            <a:ext cx="10708481" cy="562927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Use of a </a:t>
            </a:r>
            <a:r>
              <a:rPr lang="en-US" dirty="0">
                <a:solidFill>
                  <a:srgbClr val="FF0000"/>
                </a:solidFill>
              </a:rPr>
              <a:t>secret key </a:t>
            </a:r>
            <a:r>
              <a:rPr lang="en-US" dirty="0"/>
              <a:t>to generate a </a:t>
            </a:r>
            <a:r>
              <a:rPr lang="en-US" dirty="0">
                <a:solidFill>
                  <a:srgbClr val="000099"/>
                </a:solidFill>
              </a:rPr>
              <a:t>small fixed-size block of data</a:t>
            </a:r>
            <a:r>
              <a:rPr lang="en-US" dirty="0"/>
              <a:t>, </a:t>
            </a:r>
            <a:r>
              <a:rPr lang="en-US" b="1" dirty="0"/>
              <a:t>MAC</a:t>
            </a:r>
            <a:r>
              <a:rPr lang="en-US" dirty="0"/>
              <a:t>, that is </a:t>
            </a:r>
            <a:r>
              <a:rPr lang="en-US" dirty="0">
                <a:solidFill>
                  <a:srgbClr val="000099"/>
                </a:solidFill>
              </a:rPr>
              <a:t>appended to the message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Assumes two communicating parties, say A and B, share a common secret key K. When A has a message to send to B, it calculates the MAC as a function of the message and the key: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99"/>
                </a:solidFill>
              </a:rPr>
              <a:t>		</a:t>
            </a:r>
            <a:r>
              <a:rPr lang="en-US" dirty="0">
                <a:solidFill>
                  <a:srgbClr val="FF0000"/>
                </a:solidFill>
              </a:rPr>
              <a:t>MAC = C(K, M)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99"/>
                </a:solidFill>
              </a:rPr>
              <a:t>where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99"/>
                </a:solidFill>
              </a:rPr>
              <a:t>M = input message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99"/>
                </a:solidFill>
              </a:rPr>
              <a:t>C = MAC function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99"/>
                </a:solidFill>
              </a:rPr>
              <a:t>K = shared secret key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99"/>
                </a:solidFill>
              </a:rPr>
              <a:t>MAC = message authentication code</a:t>
            </a:r>
            <a:endParaRPr lang="en-IN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0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FD6017C-A5DE-E18E-9DBB-4074FD816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7576D4-3140-B35B-9796-02113CC85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Uses of Message Authentication code (MAC)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8F0D46EE-9D19-C874-E5F3-9FF54B5F6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3308"/>
            <a:ext cx="10515600" cy="2472886"/>
          </a:xfr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63AD8A3-DD3D-10DB-DE77-F62BB838D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443" y="4367019"/>
            <a:ext cx="10306049" cy="2268036"/>
          </a:xfrm>
          <a:prstGeom prst="rect">
            <a:avLst/>
          </a:prstGeom>
        </p:spPr>
      </p:pic>
      <p:sp>
        <p:nvSpPr>
          <p:cNvPr id="8" name="Speech Bubble: Rectangle 7">
            <a:extLst>
              <a:ext uri="{FF2B5EF4-FFF2-40B4-BE49-F238E27FC236}">
                <a16:creationId xmlns="" xmlns:a16="http://schemas.microsoft.com/office/drawing/2014/main" id="{28E86B3F-908B-E1D1-30CC-3277BC7F25F1}"/>
              </a:ext>
            </a:extLst>
          </p:cNvPr>
          <p:cNvSpPr/>
          <p:nvPr/>
        </p:nvSpPr>
        <p:spPr>
          <a:xfrm>
            <a:off x="200026" y="5872163"/>
            <a:ext cx="1807367" cy="985837"/>
          </a:xfrm>
          <a:prstGeom prst="wedgeRectCallout">
            <a:avLst>
              <a:gd name="adj1" fmla="val 96848"/>
              <a:gd name="adj2" fmla="val -2476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FF"/>
                </a:solidFill>
                <a:latin typeface="Palatino Linotype" panose="02040502050505030304" pitchFamily="18" charset="0"/>
              </a:rPr>
              <a:t>Hash function</a:t>
            </a:r>
            <a:r>
              <a:rPr lang="en-IN" dirty="0">
                <a:latin typeface="Palatino Linotype" panose="02040502050505030304" pitchFamily="18" charset="0"/>
              </a:rPr>
              <a:t>: </a:t>
            </a:r>
            <a:r>
              <a:rPr lang="en-IN" sz="1600" dirty="0">
                <a:latin typeface="Palatino Linotype" panose="02040502050505030304" pitchFamily="18" charset="0"/>
              </a:rPr>
              <a:t>Authenticity and Integrity</a:t>
            </a:r>
            <a:endParaRPr lang="en-IN" dirty="0">
              <a:latin typeface="Palatino Linotype" panose="02040502050505030304" pitchFamily="18" charset="0"/>
            </a:endParaRP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="" xmlns:a16="http://schemas.microsoft.com/office/drawing/2014/main" id="{0AE1E440-F208-3266-FDD4-8777CEC7A6EF}"/>
              </a:ext>
            </a:extLst>
          </p:cNvPr>
          <p:cNvSpPr/>
          <p:nvPr/>
        </p:nvSpPr>
        <p:spPr>
          <a:xfrm>
            <a:off x="9644063" y="3079751"/>
            <a:ext cx="2631285" cy="1389063"/>
          </a:xfrm>
          <a:prstGeom prst="wedgeRoundRectCallout">
            <a:avLst>
              <a:gd name="adj1" fmla="val -225645"/>
              <a:gd name="adj2" fmla="val 69322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Confidentiality</a:t>
            </a:r>
            <a:r>
              <a:rPr lang="en-US" sz="1600" dirty="0">
                <a:latin typeface="Palatino Linotype" panose="02040502050505030304" pitchFamily="18" charset="0"/>
              </a:rPr>
              <a:t>: </a:t>
            </a:r>
          </a:p>
          <a:p>
            <a:pPr algn="just"/>
            <a:r>
              <a:rPr lang="en-US" sz="1600" dirty="0">
                <a:latin typeface="Palatino Linotype" panose="02040502050505030304" pitchFamily="18" charset="0"/>
              </a:rPr>
              <a:t>Encryption using 𝐾2 ensures that only authorized recipients can read the message.</a:t>
            </a:r>
            <a:endParaRPr lang="en-IN" sz="1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87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537A4D-B059-3B24-D84B-CC0DCE467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Uses of Message Authentication code (MAC) – </a:t>
            </a:r>
            <a:r>
              <a:rPr lang="en-US" dirty="0" err="1"/>
              <a:t>cont</a:t>
            </a:r>
            <a:r>
              <a:rPr lang="en-US" dirty="0"/>
              <a:t>…</a:t>
            </a:r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="" xmlns:a16="http://schemas.microsoft.com/office/drawing/2014/main" id="{1EFA714D-8F36-DFB2-60EA-5D77D2F69F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7425"/>
            <a:ext cx="10515600" cy="3035414"/>
          </a:xfrm>
        </p:spPr>
      </p:pic>
    </p:spTree>
    <p:extLst>
      <p:ext uri="{BB962C8B-B14F-4D97-AF65-F5344CB8AC3E}">
        <p14:creationId xmlns:p14="http://schemas.microsoft.com/office/powerpoint/2010/main" val="642518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13450473-6199-948B-4E35-76A969997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Digital Signatures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C1118777-55E8-8CB4-3F17-88A2B337F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242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5" y="152400"/>
            <a:ext cx="10094119" cy="1219200"/>
          </a:xfrm>
        </p:spPr>
        <p:txBody>
          <a:bodyPr>
            <a:normAutofit/>
          </a:bodyPr>
          <a:lstStyle/>
          <a:p>
            <a:r>
              <a:rPr lang="en-US" sz="4900" dirty="0">
                <a:cs typeface="Andalus" panose="02020603050405020304" pitchFamily="18" charset="-78"/>
              </a:rPr>
              <a:t>Digital Signatures</a:t>
            </a:r>
            <a:endParaRPr lang="en-US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925" y="1321593"/>
            <a:ext cx="11001375" cy="544353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Authentication mechanism that </a:t>
            </a:r>
            <a:r>
              <a:rPr lang="en-US" dirty="0">
                <a:solidFill>
                  <a:srgbClr val="FF0000"/>
                </a:solidFill>
              </a:rPr>
              <a:t>enables the creator of a message </a:t>
            </a:r>
            <a:r>
              <a:rPr lang="en-US" dirty="0"/>
              <a:t>to attach a code that acts as a </a:t>
            </a:r>
            <a:r>
              <a:rPr lang="en-US" dirty="0">
                <a:solidFill>
                  <a:srgbClr val="000099"/>
                </a:solidFill>
              </a:rPr>
              <a:t>signature</a:t>
            </a:r>
            <a:endParaRPr lang="en-US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b="1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b="1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b="1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b="1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b="1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b="1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/>
              <a:t>Digital Signature Standard (DSS)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solidFill>
                  <a:srgbClr val="C00000"/>
                </a:solidFill>
              </a:rPr>
              <a:t>NIST standard for Secure Hash Algorithm (SHA)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solidFill>
                  <a:srgbClr val="C00000"/>
                </a:solidFill>
              </a:rPr>
              <a:t>Most important development of public-key cryptography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000" b="1" dirty="0">
              <a:solidFill>
                <a:srgbClr val="C00000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058517" y="2544868"/>
            <a:ext cx="7742707" cy="2212870"/>
            <a:chOff x="1118955" y="2921187"/>
            <a:chExt cx="6348645" cy="1650813"/>
          </a:xfrm>
        </p:grpSpPr>
        <p:sp>
          <p:nvSpPr>
            <p:cNvPr id="5" name="Rounded Rectangle 4"/>
            <p:cNvSpPr/>
            <p:nvPr/>
          </p:nvSpPr>
          <p:spPr>
            <a:xfrm>
              <a:off x="2705100" y="3956538"/>
              <a:ext cx="2819400" cy="6096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Palatino Linotype" pitchFamily="18" charset="0"/>
                </a:rPr>
                <a:t>Encryption Algorithm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1972168" y="4267200"/>
              <a:ext cx="723900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118955" y="3962400"/>
              <a:ext cx="914400" cy="6096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Palatino Linotype" pitchFamily="18" charset="0"/>
                </a:rPr>
                <a:t>H(M)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657600" y="2921187"/>
              <a:ext cx="914400" cy="6096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Palatino Linotype" pitchFamily="18" charset="0"/>
                </a:rPr>
                <a:t>Private Key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91658" y="3962400"/>
              <a:ext cx="1175942" cy="6096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Palatino Linotype" pitchFamily="18" charset="0"/>
                </a:rPr>
                <a:t>Digital Signature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5550817" y="4226169"/>
              <a:ext cx="723900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4101612" y="3511062"/>
              <a:ext cx="0" cy="45133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9643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BAE2F53B-33A2-2537-6135-9BBC696F2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395" y="228600"/>
            <a:ext cx="7555605" cy="64579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88" y="728663"/>
            <a:ext cx="5262562" cy="1270110"/>
          </a:xfrm>
        </p:spPr>
        <p:txBody>
          <a:bodyPr>
            <a:noAutofit/>
          </a:bodyPr>
          <a:lstStyle/>
          <a:p>
            <a:r>
              <a:rPr lang="en-US" sz="3600" dirty="0">
                <a:cs typeface="Andalus" panose="02020603050405020304" pitchFamily="18" charset="-78"/>
              </a:rPr>
              <a:t>Essential Elements of Digital Signature Process</a:t>
            </a:r>
            <a:endParaRPr lang="en-US" sz="24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439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4D3DA8-97A1-6F9E-6769-ABD412E8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63415BF-1F89-3153-FDE9-B6AFF4AD9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763"/>
            <a:ext cx="10515600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Suppose that John sends an authenticated message to Mary</a:t>
            </a:r>
          </a:p>
          <a:p>
            <a:pPr>
              <a:lnSpc>
                <a:spcPct val="150000"/>
              </a:lnSpc>
            </a:pPr>
            <a:r>
              <a:rPr lang="en-US" dirty="0"/>
              <a:t>Consider the following disputes that could arise: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99"/>
                </a:solidFill>
              </a:rPr>
              <a:t>Mary may forge a different message and claim that it came from John. Mary would simply have to create a message and append an authentication code using the key that John and Mary share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John can deny sending the message. Because it is possible for Mary to forge a message, there is no way to prove that John did in fact send the message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331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CD4F6C-9144-7EFB-CA1B-50384ECC5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</a:t>
            </a:r>
            <a:r>
              <a:rPr lang="en-US" sz="4400" dirty="0">
                <a:cs typeface="Andalus" panose="02020603050405020304" pitchFamily="18" charset="-78"/>
              </a:rPr>
              <a:t>Digital Signature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B263E1C-B838-B532-E7AF-C49AB2273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en-US" sz="3200" dirty="0"/>
              <a:t>The digital signature must have the following properties:</a:t>
            </a:r>
          </a:p>
          <a:p>
            <a:pPr lvl="1">
              <a:lnSpc>
                <a:spcPct val="200000"/>
              </a:lnSpc>
            </a:pPr>
            <a:r>
              <a:rPr lang="en-US" sz="2800" dirty="0">
                <a:solidFill>
                  <a:srgbClr val="000099"/>
                </a:solidFill>
              </a:rPr>
              <a:t>It must verify the author and the date and time of the signature</a:t>
            </a:r>
          </a:p>
          <a:p>
            <a:pPr lvl="1">
              <a:lnSpc>
                <a:spcPct val="200000"/>
              </a:lnSpc>
            </a:pPr>
            <a:r>
              <a:rPr lang="en-US" sz="2800" dirty="0">
                <a:solidFill>
                  <a:srgbClr val="000099"/>
                </a:solidFill>
              </a:rPr>
              <a:t>It must authenticate the contents at the time of the signature</a:t>
            </a:r>
          </a:p>
          <a:p>
            <a:pPr lvl="1">
              <a:lnSpc>
                <a:spcPct val="200000"/>
              </a:lnSpc>
            </a:pPr>
            <a:r>
              <a:rPr lang="en-US" sz="2800" dirty="0">
                <a:solidFill>
                  <a:srgbClr val="000099"/>
                </a:solidFill>
              </a:rPr>
              <a:t>It must be verifiable by third parties, to resolve disputes</a:t>
            </a:r>
            <a:endParaRPr lang="en-IN" sz="28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006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3D8E6-9F46-D824-878F-714FD8AAC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3" y="92869"/>
            <a:ext cx="10515600" cy="1325563"/>
          </a:xfrm>
        </p:spPr>
        <p:txBody>
          <a:bodyPr/>
          <a:lstStyle/>
          <a:p>
            <a:r>
              <a:rPr lang="en-IN" dirty="0"/>
              <a:t>Digital Signature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D70001F-90A5-BCD6-054D-F8BD387F0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47" y="1243013"/>
            <a:ext cx="10908506" cy="5407818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The signature must be </a:t>
            </a:r>
            <a:r>
              <a:rPr lang="en-US" dirty="0">
                <a:solidFill>
                  <a:srgbClr val="000099"/>
                </a:solidFill>
              </a:rPr>
              <a:t>a bit pattern that depends on the message being signed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The signature must use </a:t>
            </a:r>
            <a:r>
              <a:rPr lang="en-US" dirty="0">
                <a:solidFill>
                  <a:srgbClr val="000099"/>
                </a:solidFill>
              </a:rPr>
              <a:t>some information only known to the sender </a:t>
            </a:r>
            <a:r>
              <a:rPr lang="en-US" dirty="0"/>
              <a:t>to prevent both forgery and denial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It must be </a:t>
            </a:r>
            <a:r>
              <a:rPr lang="en-US" dirty="0">
                <a:solidFill>
                  <a:srgbClr val="000099"/>
                </a:solidFill>
              </a:rPr>
              <a:t>relatively easy to produce the digital signature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It must be relatively </a:t>
            </a:r>
            <a:r>
              <a:rPr lang="en-US" dirty="0">
                <a:solidFill>
                  <a:srgbClr val="000099"/>
                </a:solidFill>
              </a:rPr>
              <a:t>easy to recognize and verify the digital signature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It must be </a:t>
            </a:r>
            <a:r>
              <a:rPr lang="en-US" dirty="0">
                <a:solidFill>
                  <a:srgbClr val="000099"/>
                </a:solidFill>
              </a:rPr>
              <a:t>computationally infeasible to forge a digital signature</a:t>
            </a:r>
            <a:r>
              <a:rPr lang="en-US" dirty="0"/>
              <a:t>, either by constructing a new message for an existing digital signature or by constructing a fraudulent digital signature for a given message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It must be </a:t>
            </a:r>
            <a:r>
              <a:rPr lang="en-US" dirty="0">
                <a:solidFill>
                  <a:srgbClr val="000099"/>
                </a:solidFill>
              </a:rPr>
              <a:t>practical to retain a copy of the digital signature in storage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300" dirty="0">
                <a:solidFill>
                  <a:srgbClr val="FF0000"/>
                </a:solidFill>
              </a:rPr>
              <a:t>A secure hash function, embedded in a scheme, provides a basis for satisfying these requirements</a:t>
            </a:r>
            <a:endParaRPr lang="en-IN" sz="33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19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C58171-D061-FD83-8A2A-332CBF557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93663"/>
            <a:ext cx="10515600" cy="1156494"/>
          </a:xfrm>
        </p:spPr>
        <p:txBody>
          <a:bodyPr/>
          <a:lstStyle/>
          <a:p>
            <a:r>
              <a:rPr lang="en-IN" dirty="0"/>
              <a:t>Direct Digital Signature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88D00E0-BD8F-09D5-5406-479448A6B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8751"/>
            <a:ext cx="10741819" cy="527923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A direct digital signature is a cryptographic method where a </a:t>
            </a:r>
            <a:r>
              <a:rPr lang="en-US" dirty="0">
                <a:solidFill>
                  <a:srgbClr val="0000FF"/>
                </a:solidFill>
              </a:rPr>
              <a:t>sender signs a message using their </a:t>
            </a:r>
            <a:r>
              <a:rPr lang="en-US" dirty="0">
                <a:solidFill>
                  <a:srgbClr val="FF0000"/>
                </a:solidFill>
              </a:rPr>
              <a:t>private key</a:t>
            </a:r>
            <a:r>
              <a:rPr lang="en-US" dirty="0"/>
              <a:t>, ensuring </a:t>
            </a:r>
            <a:r>
              <a:rPr lang="en-US" dirty="0">
                <a:solidFill>
                  <a:srgbClr val="006600"/>
                </a:solidFill>
              </a:rPr>
              <a:t>message integrity, authenticity, and non-repudiation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000099"/>
                </a:solidFill>
              </a:rPr>
              <a:t>Process of Direct Digital Signature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Message Hashing: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sender computes a hash of the message </a:t>
            </a:r>
            <a:r>
              <a:rPr lang="en-US" dirty="0"/>
              <a:t>using a cryptographic hash function (e.g., SHA-256)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This ensures a fixed-length digest that represents the message uniquely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Signing the Hash: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The sender </a:t>
            </a:r>
            <a:r>
              <a:rPr lang="en-US" dirty="0">
                <a:solidFill>
                  <a:srgbClr val="0000FF"/>
                </a:solidFill>
              </a:rPr>
              <a:t>encrypts the hash using their private key</a:t>
            </a:r>
            <a:r>
              <a:rPr lang="en-US" dirty="0"/>
              <a:t>, creating a </a:t>
            </a:r>
            <a:r>
              <a:rPr lang="en-US" b="1" dirty="0"/>
              <a:t>digital signature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This ensures that only the sender, who owns the private key, could have signed the message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756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15BAFA6-8FD8-69BB-7BBF-2F936F90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08838"/>
            <a:ext cx="10515600" cy="1325563"/>
          </a:xfrm>
        </p:spPr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7C25981F-84A7-E6F5-11FB-39E9B60B24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253427"/>
            <a:ext cx="10791824" cy="5495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Sending the Message:</a:t>
            </a:r>
          </a:p>
          <a:p>
            <a:pPr lvl="1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sender sends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original message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digital signature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recipient</a:t>
            </a:r>
          </a:p>
          <a:p>
            <a:pPr lvl="1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14350" marR="0" lvl="0" indent="-51435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Verification by Receiver:</a:t>
            </a:r>
          </a:p>
          <a:p>
            <a:pPr lvl="1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recipient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decrypts the digital signature using the sender’s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public key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, revealing the original hash</a:t>
            </a:r>
          </a:p>
          <a:p>
            <a:pPr lvl="1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recipient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independently hashes the received message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compares it to the decrypted hash</a:t>
            </a:r>
          </a:p>
          <a:p>
            <a:pPr lvl="1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both match,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rPr>
              <a:t>signature is valid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</a:rPr>
              <a:t>proving the message's authenticity and integrity</a:t>
            </a:r>
          </a:p>
        </p:txBody>
      </p:sp>
    </p:spTree>
    <p:extLst>
      <p:ext uri="{BB962C8B-B14F-4D97-AF65-F5344CB8AC3E}">
        <p14:creationId xmlns:p14="http://schemas.microsoft.com/office/powerpoint/2010/main" val="157449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B768380-B188-89F3-259A-7E4E08DB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93664"/>
            <a:ext cx="10515600" cy="903284"/>
          </a:xfrm>
        </p:spPr>
        <p:txBody>
          <a:bodyPr>
            <a:normAutofit/>
          </a:bodyPr>
          <a:lstStyle/>
          <a:p>
            <a:r>
              <a:rPr lang="en-US" sz="4000" dirty="0"/>
              <a:t>Example of Direct Digital Signature</a:t>
            </a:r>
            <a:endParaRPr lang="en-IN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B88A9FC-87D4-D38C-1B4E-5321E7B3A8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3122"/>
          <a:stretch/>
        </p:blipFill>
        <p:spPr>
          <a:xfrm>
            <a:off x="779521" y="996948"/>
            <a:ext cx="9243160" cy="3846515"/>
          </a:xfrm>
        </p:spPr>
      </p:pic>
      <p:pic>
        <p:nvPicPr>
          <p:cNvPr id="6" name="Content Placeholder 4">
            <a:extLst>
              <a:ext uri="{FF2B5EF4-FFF2-40B4-BE49-F238E27FC236}">
                <a16:creationId xmlns="" xmlns:a16="http://schemas.microsoft.com/office/drawing/2014/main" id="{8E59E5DC-D83F-5138-EB7B-BD13688BAE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008"/>
          <a:stretch/>
        </p:blipFill>
        <p:spPr>
          <a:xfrm>
            <a:off x="779521" y="4793456"/>
            <a:ext cx="9243160" cy="195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6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27688</TotalTime>
  <Words>1280</Words>
  <Application>Microsoft Office PowerPoint</Application>
  <PresentationFormat>Custom</PresentationFormat>
  <Paragraphs>126</Paragraphs>
  <Slides>23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Contents</vt:lpstr>
      <vt:lpstr>Message Authentication Requirements</vt:lpstr>
      <vt:lpstr>Message Authentication Requirements – cont…</vt:lpstr>
      <vt:lpstr>PowerPoint Presentation</vt:lpstr>
      <vt:lpstr>Message Authentication</vt:lpstr>
      <vt:lpstr>Message Authentication Functions</vt:lpstr>
      <vt:lpstr>Authenticator Generating Functions</vt:lpstr>
      <vt:lpstr>2. Message Encryption  Symmetric Encryption</vt:lpstr>
      <vt:lpstr>2. Message Encryption  Public-key Encryption</vt:lpstr>
      <vt:lpstr>2. Message Encryption  Public-key Encryption – cont…</vt:lpstr>
      <vt:lpstr>3. Message Authentication Code</vt:lpstr>
      <vt:lpstr>Basic Uses of Message Authentication code (MAC)</vt:lpstr>
      <vt:lpstr>Basic Uses of Message Authentication code (MAC) – cont…</vt:lpstr>
      <vt:lpstr>Digital Signatures</vt:lpstr>
      <vt:lpstr>Digital Signatures</vt:lpstr>
      <vt:lpstr>Essential Elements of Digital Signature Process</vt:lpstr>
      <vt:lpstr>Example</vt:lpstr>
      <vt:lpstr>Properties of Digital Signature </vt:lpstr>
      <vt:lpstr>Digital Signature Requirements</vt:lpstr>
      <vt:lpstr>Direct Digital Signature</vt:lpstr>
      <vt:lpstr>Cont…</vt:lpstr>
      <vt:lpstr>Example of Direct Digital Signature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SKS</dc:creator>
  <cp:lastModifiedBy>Dell</cp:lastModifiedBy>
  <cp:revision>934</cp:revision>
  <dcterms:created xsi:type="dcterms:W3CDTF">2020-07-30T09:53:05Z</dcterms:created>
  <dcterms:modified xsi:type="dcterms:W3CDTF">2025-03-04T02:56:38Z</dcterms:modified>
</cp:coreProperties>
</file>