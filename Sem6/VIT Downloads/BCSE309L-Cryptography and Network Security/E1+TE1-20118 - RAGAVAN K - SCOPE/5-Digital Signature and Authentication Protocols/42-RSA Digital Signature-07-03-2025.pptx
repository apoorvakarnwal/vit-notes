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713" r:id="rId2"/>
    <p:sldId id="509" r:id="rId3"/>
    <p:sldId id="746" r:id="rId4"/>
    <p:sldId id="747" r:id="rId5"/>
    <p:sldId id="748" r:id="rId6"/>
    <p:sldId id="749" r:id="rId7"/>
    <p:sldId id="750" r:id="rId8"/>
    <p:sldId id="751" r:id="rId9"/>
    <p:sldId id="752" r:id="rId10"/>
    <p:sldId id="753" r:id="rId11"/>
    <p:sldId id="754" r:id="rId12"/>
    <p:sldId id="755" r:id="rId13"/>
    <p:sldId id="75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99"/>
    <a:srgbClr val="FF00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17" autoAdjust="0"/>
    <p:restoredTop sz="94353" autoAdjust="0"/>
  </p:normalViewPr>
  <p:slideViewPr>
    <p:cSldViewPr snapToGrid="0">
      <p:cViewPr>
        <p:scale>
          <a:sx n="77" d="100"/>
          <a:sy n="77" d="100"/>
        </p:scale>
        <p:origin x="-414" y="-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24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C78F4-9D5A-4E7B-8894-0F2149915370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9B07D-717D-4E39-813B-AD1267CF1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109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9B07D-717D-4E39-813B-AD1267CF108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963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1949-706A-430F-87C4-53D17726DA2C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55DA5-4711-4DE5-AD5B-55E9DD438A3D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C6AC-4CB8-43F4-B168-FC31AC739BB0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9939-41F9-4DC5-BDE5-9FCCEF10684E}" type="datetime1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95FAC-93E4-4B8A-8750-CCA678BC9C2F}" type="datetime1">
              <a:rPr lang="en-IN" smtClean="0"/>
              <a:t>06-03-2025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AE26-E085-421E-B2BE-E35F7FE14FA1}" type="datetime1">
              <a:rPr lang="en-IN" smtClean="0"/>
              <a:t>06-03-2025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3628-B2F2-4CBD-BE8A-64F0D0A46994}" type="datetime1">
              <a:rPr lang="en-IN" smtClean="0"/>
              <a:t>06-03-2025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B015-B8C6-457D-B902-7DB44231438D}" type="datetime1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ED65-AB5F-44AF-8D42-71557A758011}" type="datetime1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ED4B-9960-44B5-8C42-9160DD384C6B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8404-D63A-4502-A490-AA0FA7A20986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87B4E4D7-857D-48F3-80B8-6632CC0BCD4D}" type="datetime1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8928" y="549195"/>
            <a:ext cx="10294144" cy="9872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3200" dirty="0">
                <a:solidFill>
                  <a:srgbClr val="000099"/>
                </a:solidFill>
              </a:rPr>
              <a:t>BCSE309L - Cryptography and Network Security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FFC9748-0C84-0B4C-A5F1-B3B0AA09EEE5}"/>
              </a:ext>
            </a:extLst>
          </p:cNvPr>
          <p:cNvSpPr txBox="1"/>
          <p:nvPr/>
        </p:nvSpPr>
        <p:spPr>
          <a:xfrm>
            <a:off x="777914" y="1866708"/>
            <a:ext cx="107554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Module 5 - </a:t>
            </a:r>
            <a:r>
              <a:rPr lang="en-US" sz="4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RSA </a:t>
            </a:r>
            <a:r>
              <a:rPr lang="en-US" sz="4000" b="1" dirty="0" smtClean="0">
                <a:solidFill>
                  <a:srgbClr val="C00000"/>
                </a:solidFill>
                <a:latin typeface="Palatino Linotype" panose="02040502050505030304" pitchFamily="18" charset="0"/>
              </a:rPr>
              <a:t>based </a:t>
            </a:r>
            <a:r>
              <a:rPr lang="en-US" sz="4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Digital Signature</a:t>
            </a:r>
            <a:endParaRPr lang="en-IN" sz="4000" b="1" dirty="0">
              <a:solidFill>
                <a:srgbClr val="C00000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06C82C8C-0C73-83FD-AC3B-DF3E02807B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8F2FB"/>
              </a:clrFrom>
              <a:clrTo>
                <a:srgbClr val="E8F2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17957" y="3430760"/>
            <a:ext cx="4675356" cy="287947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69990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213" y="681037"/>
            <a:ext cx="10615612" cy="1265238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cs typeface="Andalus" panose="02020603050405020304" pitchFamily="18" charset="-78"/>
              </a:rPr>
              <a:t>Digital Signatures</a:t>
            </a:r>
            <a:br>
              <a:rPr lang="en-US" sz="4900" dirty="0">
                <a:cs typeface="Andalus" panose="02020603050405020304" pitchFamily="18" charset="-78"/>
              </a:rPr>
            </a:br>
            <a:r>
              <a:rPr lang="en-US" sz="4000" dirty="0">
                <a:solidFill>
                  <a:srgbClr val="000099"/>
                </a:solidFill>
                <a:cs typeface="Andalus" panose="02020603050405020304" pitchFamily="18" charset="-78"/>
              </a:rPr>
              <a:t>Schemes</a:t>
            </a:r>
            <a:endParaRPr lang="en-US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187" y="2232819"/>
            <a:ext cx="10998994" cy="4351338"/>
          </a:xfrm>
        </p:spPr>
        <p:txBody>
          <a:bodyPr>
            <a:normAutofit fontScale="925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Digital Signature Standard (DSS)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 err="1"/>
              <a:t>ElGamal</a:t>
            </a:r>
            <a:r>
              <a:rPr lang="en-US" dirty="0"/>
              <a:t> Digital Signature Scheme - </a:t>
            </a:r>
            <a:r>
              <a:rPr lang="en-US" dirty="0">
                <a:solidFill>
                  <a:srgbClr val="1230AE"/>
                </a:solidFill>
              </a:rPr>
              <a:t>“Taher </a:t>
            </a:r>
            <a:r>
              <a:rPr lang="en-US" dirty="0" err="1">
                <a:solidFill>
                  <a:srgbClr val="1230AE"/>
                </a:solidFill>
              </a:rPr>
              <a:t>AlGamal</a:t>
            </a:r>
            <a:r>
              <a:rPr lang="en-US" dirty="0">
                <a:solidFill>
                  <a:srgbClr val="1230AE"/>
                </a:solidFill>
              </a:rPr>
              <a:t> (1985)”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RSA Digital Signature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Schnorr Digital Signature Scheme - </a:t>
            </a:r>
            <a:r>
              <a:rPr lang="en-US" dirty="0">
                <a:solidFill>
                  <a:srgbClr val="1230AE"/>
                </a:solidFill>
              </a:rPr>
              <a:t>“Claus Peter Schnorr (1991-2008)”</a:t>
            </a:r>
          </a:p>
        </p:txBody>
      </p:sp>
    </p:spTree>
    <p:extLst>
      <p:ext uri="{BB962C8B-B14F-4D97-AF65-F5344CB8AC3E}">
        <p14:creationId xmlns:p14="http://schemas.microsoft.com/office/powerpoint/2010/main" val="410815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54476D-68B3-166F-0BBB-329BB2337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RSA Digital Signature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E896F7-8B63-CDF7-BCC4-5C0A6837C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RSA digital signatures use the </a:t>
            </a:r>
            <a:r>
              <a:rPr lang="en-US" sz="3200" dirty="0">
                <a:solidFill>
                  <a:srgbClr val="FF0000"/>
                </a:solidFill>
              </a:rPr>
              <a:t>RSA public-key cryptosystem</a:t>
            </a:r>
            <a:r>
              <a:rPr lang="en-US" sz="3200" dirty="0"/>
              <a:t> to verify the </a:t>
            </a:r>
            <a:r>
              <a:rPr lang="en-US" sz="3200" dirty="0">
                <a:solidFill>
                  <a:srgbClr val="006600"/>
                </a:solidFill>
              </a:rPr>
              <a:t>authenticity</a:t>
            </a:r>
            <a:r>
              <a:rPr lang="en-US" sz="3200" dirty="0"/>
              <a:t> and </a:t>
            </a:r>
            <a:r>
              <a:rPr lang="en-US" sz="3200" dirty="0">
                <a:solidFill>
                  <a:srgbClr val="006600"/>
                </a:solidFill>
              </a:rPr>
              <a:t>integrity</a:t>
            </a:r>
            <a:r>
              <a:rPr lang="en-US" sz="3200" dirty="0"/>
              <a:t> of a message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It involves three key steps: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FF"/>
                </a:solidFill>
              </a:rPr>
              <a:t>Key generation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FF"/>
                </a:solidFill>
              </a:rPr>
              <a:t>Signing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00FF"/>
                </a:solidFill>
              </a:rPr>
              <a:t>Verification</a:t>
            </a:r>
            <a:endParaRPr lang="en-IN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93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817254-7D74-9241-AD63-8CB021A31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1789"/>
          </a:xfrm>
        </p:spPr>
        <p:txBody>
          <a:bodyPr/>
          <a:lstStyle/>
          <a:p>
            <a:r>
              <a:rPr lang="en-US" dirty="0"/>
              <a:t>How RSA Digital Signatures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05249CE-5539-5C51-AFA3-EB5F2B113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787743" cy="515982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000099"/>
                </a:solidFill>
              </a:rPr>
              <a:t>Key Generation:</a:t>
            </a:r>
            <a:endParaRPr lang="en-US" dirty="0">
              <a:solidFill>
                <a:srgbClr val="000099"/>
              </a:solidFill>
            </a:endParaRP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Generate two keys: a </a:t>
            </a:r>
            <a:r>
              <a:rPr lang="en-US" dirty="0">
                <a:solidFill>
                  <a:srgbClr val="FF0000"/>
                </a:solidFill>
              </a:rPr>
              <a:t>private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key</a:t>
            </a:r>
            <a:r>
              <a:rPr lang="en-US" dirty="0"/>
              <a:t> and a </a:t>
            </a:r>
            <a:r>
              <a:rPr lang="en-US" dirty="0">
                <a:solidFill>
                  <a:srgbClr val="FF00FF"/>
                </a:solidFill>
              </a:rPr>
              <a:t>public key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private key </a:t>
            </a:r>
            <a:r>
              <a:rPr lang="en-US" dirty="0"/>
              <a:t>is kept </a:t>
            </a:r>
            <a:r>
              <a:rPr lang="en-US" dirty="0">
                <a:solidFill>
                  <a:srgbClr val="006600"/>
                </a:solidFill>
              </a:rPr>
              <a:t>secret</a:t>
            </a:r>
            <a:r>
              <a:rPr lang="en-US" dirty="0"/>
              <a:t> and </a:t>
            </a:r>
            <a:r>
              <a:rPr lang="en-US" dirty="0">
                <a:solidFill>
                  <a:srgbClr val="006600"/>
                </a:solidFill>
              </a:rPr>
              <a:t>used for signing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>
                <a:solidFill>
                  <a:srgbClr val="FF00FF"/>
                </a:solidFill>
              </a:rPr>
              <a:t>public key </a:t>
            </a:r>
            <a:r>
              <a:rPr lang="en-US" dirty="0"/>
              <a:t>is </a:t>
            </a:r>
            <a:r>
              <a:rPr lang="en-US" dirty="0">
                <a:solidFill>
                  <a:srgbClr val="006600"/>
                </a:solidFill>
              </a:rPr>
              <a:t>shared</a:t>
            </a:r>
            <a:r>
              <a:rPr lang="en-US" dirty="0"/>
              <a:t> and </a:t>
            </a:r>
            <a:r>
              <a:rPr lang="en-US" dirty="0">
                <a:solidFill>
                  <a:srgbClr val="006600"/>
                </a:solidFill>
              </a:rPr>
              <a:t>used for verification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000099"/>
                </a:solidFill>
              </a:rPr>
              <a:t>Signing Process:</a:t>
            </a:r>
            <a:endParaRPr lang="en-US" dirty="0">
              <a:solidFill>
                <a:srgbClr val="000099"/>
              </a:solidFill>
            </a:endParaRP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hash function (e.g., SHA-256) </a:t>
            </a:r>
            <a:r>
              <a:rPr lang="en-US" dirty="0"/>
              <a:t>is applied to the </a:t>
            </a:r>
            <a:r>
              <a:rPr lang="en-US" dirty="0">
                <a:solidFill>
                  <a:srgbClr val="0000FF"/>
                </a:solidFill>
              </a:rPr>
              <a:t>message</a:t>
            </a:r>
            <a:r>
              <a:rPr lang="en-US" dirty="0"/>
              <a:t> to create a fixed-length message digest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message digest </a:t>
            </a:r>
            <a:r>
              <a:rPr lang="en-US" dirty="0"/>
              <a:t>is </a:t>
            </a:r>
            <a:r>
              <a:rPr lang="en-US" dirty="0">
                <a:solidFill>
                  <a:srgbClr val="0000FF"/>
                </a:solidFill>
              </a:rPr>
              <a:t>encrypted</a:t>
            </a:r>
            <a:r>
              <a:rPr lang="en-US" dirty="0"/>
              <a:t> using the sender’s </a:t>
            </a:r>
            <a:r>
              <a:rPr lang="en-US" b="1" dirty="0"/>
              <a:t>private key</a:t>
            </a:r>
            <a:r>
              <a:rPr lang="en-US" dirty="0"/>
              <a:t> via RSA encryption, creating the digital signature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signature is sent along with the original message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537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2B79DE-F4AF-97C0-062D-769F7C44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5B78772-4000-6C89-D97C-EEE8687F8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b="1" dirty="0">
                <a:solidFill>
                  <a:srgbClr val="000099"/>
                </a:solidFill>
              </a:rPr>
              <a:t>Verification Process:</a:t>
            </a:r>
            <a:endParaRPr lang="en-US" dirty="0">
              <a:solidFill>
                <a:srgbClr val="000099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dirty="0"/>
              <a:t>The receiver </a:t>
            </a:r>
            <a:r>
              <a:rPr lang="en-US" dirty="0">
                <a:solidFill>
                  <a:srgbClr val="0000FF"/>
                </a:solidFill>
              </a:rPr>
              <a:t>decrypts</a:t>
            </a:r>
            <a:r>
              <a:rPr lang="en-US" dirty="0"/>
              <a:t> the signature using the sender’s </a:t>
            </a:r>
            <a:r>
              <a:rPr lang="en-US" b="1" dirty="0"/>
              <a:t>public key</a:t>
            </a:r>
            <a:r>
              <a:rPr lang="en-US" dirty="0"/>
              <a:t>, obtaining the original message digest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receiver </a:t>
            </a:r>
            <a:r>
              <a:rPr lang="en-US" dirty="0">
                <a:solidFill>
                  <a:srgbClr val="0000FF"/>
                </a:solidFill>
              </a:rPr>
              <a:t>independently hashes </a:t>
            </a:r>
            <a:r>
              <a:rPr lang="en-US" dirty="0"/>
              <a:t>the received </a:t>
            </a:r>
            <a:r>
              <a:rPr lang="en-US" dirty="0">
                <a:solidFill>
                  <a:srgbClr val="0000FF"/>
                </a:solidFill>
              </a:rPr>
              <a:t>message</a:t>
            </a:r>
            <a:r>
              <a:rPr lang="en-US" dirty="0"/>
              <a:t> using the same hash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If the </a:t>
            </a:r>
            <a:r>
              <a:rPr lang="en-US" dirty="0">
                <a:solidFill>
                  <a:srgbClr val="0000FF"/>
                </a:solidFill>
              </a:rPr>
              <a:t>computed hash matches the decrypted hash</a:t>
            </a:r>
            <a:r>
              <a:rPr lang="en-US" dirty="0"/>
              <a:t>, the signature is </a:t>
            </a:r>
            <a:r>
              <a:rPr lang="en-US" dirty="0">
                <a:solidFill>
                  <a:srgbClr val="0000FF"/>
                </a:solidFill>
              </a:rPr>
              <a:t>valid</a:t>
            </a:r>
            <a:r>
              <a:rPr lang="en-US" dirty="0"/>
              <a:t>, proving message integrity and authenticity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698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DE3B07-8A7B-4AF3-684E-4061629C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B6B009E-98E6-D2FC-1685-047A4C575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IN" b="1" dirty="0"/>
              <a:t>Key Generation:</a:t>
            </a:r>
            <a:endParaRPr lang="en-IN" dirty="0"/>
          </a:p>
          <a:p>
            <a:pPr lvl="1">
              <a:lnSpc>
                <a:spcPct val="150000"/>
              </a:lnSpc>
            </a:pPr>
            <a:r>
              <a:rPr lang="en-IN" dirty="0"/>
              <a:t>Select two large prime numbers p and q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Compute n=</a:t>
            </a:r>
            <a:r>
              <a:rPr lang="en-IN" dirty="0" err="1"/>
              <a:t>p×q</a:t>
            </a:r>
            <a:r>
              <a:rPr lang="en-IN" dirty="0"/>
              <a:t> (modulus)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Compute </a:t>
            </a:r>
            <a:r>
              <a:rPr lang="el-GR" dirty="0"/>
              <a:t>ϕ(</a:t>
            </a:r>
            <a:r>
              <a:rPr lang="en-IN" dirty="0"/>
              <a:t>n)=(p−1)(q−1)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Choose public exponent e (typically 65537)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Compute private exponent d, where d is the modular inverse of e modulo </a:t>
            </a:r>
            <a:r>
              <a:rPr lang="el-GR" dirty="0"/>
              <a:t>ϕ(</a:t>
            </a:r>
            <a:r>
              <a:rPr lang="en-IN" dirty="0"/>
              <a:t>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415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FC0D21-91C9-7C83-561E-4C1B2A8FD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1FC9237A-D53C-34F9-4AC6-41B8A801AE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590393"/>
            <a:ext cx="11085286" cy="4652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Signing: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Compute the hash H(m) of message m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Compute the signature: S = H(m)</a:t>
            </a:r>
            <a:r>
              <a:rPr kumimoji="0" lang="en-US" altLang="en-US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  n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Verification: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Decrypt signature: H(m)′ = S</a:t>
            </a:r>
            <a:r>
              <a:rPr kumimoji="0" lang="en-US" altLang="en-US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  n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Compute hash H(m) of the received message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H(m)=H(m)′, the signature is valid</a:t>
            </a:r>
          </a:p>
        </p:txBody>
      </p:sp>
    </p:spTree>
    <p:extLst>
      <p:ext uri="{BB962C8B-B14F-4D97-AF65-F5344CB8AC3E}">
        <p14:creationId xmlns:p14="http://schemas.microsoft.com/office/powerpoint/2010/main" val="1102155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54B317-E298-2401-0919-A23C1BC11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8776D85-237C-1137-93D9-B3ED810C1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32886" cy="49162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Hash function: </a:t>
            </a:r>
            <a:r>
              <a:rPr lang="en-US" dirty="0"/>
              <a:t>Must be secure (e.g., SHA-256) to prevent collisions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Key size: </a:t>
            </a:r>
            <a:r>
              <a:rPr lang="en-US" dirty="0"/>
              <a:t>At least 2048-bit RSA keys are recommended for strong security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Padding schemes: </a:t>
            </a:r>
            <a:r>
              <a:rPr lang="en-US" dirty="0"/>
              <a:t>RSA signatures should use padding schemes like PKCS#1 v1.5 or PSS (Probabilistic Signature Scheme) to enhance security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7517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8E606B2-4551-1745-7A90-5EFCF25A9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069E7C-7912-0D12-AC3F-4663D96D2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115" y="1690688"/>
            <a:ext cx="10914742" cy="435133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IN" b="1" dirty="0"/>
              <a:t>Alice wants to digitally sign a message using the RSA algorithm.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She chooses the prime numbers: p=47, q=59</a:t>
            </a:r>
          </a:p>
          <a:p>
            <a:pPr algn="l">
              <a:lnSpc>
                <a:spcPct val="150000"/>
              </a:lnSpc>
            </a:pPr>
            <a:r>
              <a:rPr lang="en-IN" dirty="0"/>
              <a:t>She selects the public exponent e=13.</a:t>
            </a:r>
          </a:p>
          <a:p>
            <a:pPr algn="l">
              <a:lnSpc>
                <a:spcPct val="150000"/>
              </a:lnSpc>
            </a:pPr>
            <a:r>
              <a:rPr lang="en-IN" b="1" dirty="0"/>
              <a:t>(a)</a:t>
            </a:r>
            <a:r>
              <a:rPr lang="en-IN" dirty="0"/>
              <a:t> Compute the public key (</a:t>
            </a:r>
            <a:r>
              <a:rPr lang="en-IN" dirty="0" err="1"/>
              <a:t>e,n</a:t>
            </a:r>
            <a:r>
              <a:rPr lang="en-IN" dirty="0"/>
              <a:t>) and private key d.</a:t>
            </a:r>
            <a:br>
              <a:rPr lang="en-IN" dirty="0"/>
            </a:br>
            <a:r>
              <a:rPr lang="en-IN" b="1" dirty="0"/>
              <a:t>(b)</a:t>
            </a:r>
            <a:r>
              <a:rPr lang="en-IN" dirty="0"/>
              <a:t> Sign the message M=89 by computing the digital signature S.</a:t>
            </a:r>
            <a:br>
              <a:rPr lang="en-IN" dirty="0"/>
            </a:br>
            <a:r>
              <a:rPr lang="en-IN" b="1" dirty="0"/>
              <a:t>(c)</a:t>
            </a:r>
            <a:r>
              <a:rPr lang="en-IN" dirty="0"/>
              <a:t> Verify the signature by computing </a:t>
            </a:r>
            <a:r>
              <a:rPr lang="en-IN" dirty="0" err="1"/>
              <a:t>S</a:t>
            </a:r>
            <a:r>
              <a:rPr lang="en-IN" baseline="30000" dirty="0" err="1"/>
              <a:t>e</a:t>
            </a:r>
            <a:r>
              <a:rPr lang="en-IN" dirty="0" err="1"/>
              <a:t>mod</a:t>
            </a:r>
            <a:r>
              <a:rPr lang="en-IN" dirty="0"/>
              <a:t>  n.</a:t>
            </a:r>
          </a:p>
          <a:p>
            <a:pPr algn="l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164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34521A-CC14-6099-AAFB-4D943A02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3433098-69DA-0865-939F-B81F550B0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411" y="1535340"/>
            <a:ext cx="8631532" cy="5181794"/>
          </a:xfrm>
        </p:spPr>
      </p:pic>
    </p:spTree>
    <p:extLst>
      <p:ext uri="{BB962C8B-B14F-4D97-AF65-F5344CB8AC3E}">
        <p14:creationId xmlns:p14="http://schemas.microsoft.com/office/powerpoint/2010/main" val="2650033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152AA0-5EE2-A044-CC61-3C73FC3AD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E3EAF1D1-4DB2-0CFA-C3A2-EE648AA31C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7742" y="1690688"/>
            <a:ext cx="5181600" cy="3270962"/>
          </a:xfrm>
        </p:spPr>
      </p:pic>
      <p:pic>
        <p:nvPicPr>
          <p:cNvPr id="9" name="Content Placeholder 8">
            <a:extLst>
              <a:ext uri="{FF2B5EF4-FFF2-40B4-BE49-F238E27FC236}">
                <a16:creationId xmlns="" xmlns:a16="http://schemas.microsoft.com/office/drawing/2014/main" id="{1548EFAB-F40E-BC16-3FE1-A83E93BC40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52029" y="365125"/>
            <a:ext cx="5678714" cy="3350312"/>
          </a:xfr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2733EDA-22DE-F665-8186-6CB90BA19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029" y="4351295"/>
            <a:ext cx="3999336" cy="222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6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E2022E-9021-F269-3279-021D5389A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5C3CA101-DD16-81E9-DBF9-63F400881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445" y="1520825"/>
            <a:ext cx="9017784" cy="4434824"/>
          </a:xfrm>
        </p:spPr>
      </p:pic>
    </p:spTree>
    <p:extLst>
      <p:ext uri="{BB962C8B-B14F-4D97-AF65-F5344CB8AC3E}">
        <p14:creationId xmlns:p14="http://schemas.microsoft.com/office/powerpoint/2010/main" val="2609878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A2A9A4-C373-5771-3A85-859DB690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- Exercise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BD994CC5-AF38-0EAC-4BC3-813AB5E8B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2046" y="1690687"/>
            <a:ext cx="6628212" cy="3345769"/>
          </a:xfrm>
        </p:spPr>
      </p:pic>
    </p:spTree>
    <p:extLst>
      <p:ext uri="{BB962C8B-B14F-4D97-AF65-F5344CB8AC3E}">
        <p14:creationId xmlns:p14="http://schemas.microsoft.com/office/powerpoint/2010/main" val="2121547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29116</TotalTime>
  <Words>363</Words>
  <Application>Microsoft Office PowerPoint</Application>
  <PresentationFormat>Custom</PresentationFormat>
  <Paragraphs>57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Digital Signatures Schemes</vt:lpstr>
      <vt:lpstr>RSA Digital Signature</vt:lpstr>
      <vt:lpstr>How RSA Digital Signatures Work</vt:lpstr>
      <vt:lpstr>Cont…</vt:lpstr>
      <vt:lpstr>Mathematical Representation</vt:lpstr>
      <vt:lpstr>Cont…</vt:lpstr>
      <vt:lpstr>Security Considerations</vt:lpstr>
      <vt:lpstr>Example</vt:lpstr>
      <vt:lpstr>Solution </vt:lpstr>
      <vt:lpstr>Cont…</vt:lpstr>
      <vt:lpstr>Exercise</vt:lpstr>
      <vt:lpstr>Solution - Exercise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SKS</dc:creator>
  <cp:lastModifiedBy>Dell</cp:lastModifiedBy>
  <cp:revision>953</cp:revision>
  <dcterms:created xsi:type="dcterms:W3CDTF">2020-07-30T09:53:05Z</dcterms:created>
  <dcterms:modified xsi:type="dcterms:W3CDTF">2025-03-06T13:41:05Z</dcterms:modified>
</cp:coreProperties>
</file>