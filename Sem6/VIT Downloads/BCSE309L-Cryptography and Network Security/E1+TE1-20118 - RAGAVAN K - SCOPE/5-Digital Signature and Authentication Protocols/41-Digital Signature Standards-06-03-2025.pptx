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713" r:id="rId2"/>
    <p:sldId id="732" r:id="rId3"/>
    <p:sldId id="733" r:id="rId4"/>
    <p:sldId id="746" r:id="rId5"/>
    <p:sldId id="734" r:id="rId6"/>
    <p:sldId id="738" r:id="rId7"/>
    <p:sldId id="739" r:id="rId8"/>
    <p:sldId id="735" r:id="rId9"/>
    <p:sldId id="736" r:id="rId10"/>
    <p:sldId id="737" r:id="rId11"/>
    <p:sldId id="740" r:id="rId12"/>
    <p:sldId id="741" r:id="rId13"/>
    <p:sldId id="742" r:id="rId14"/>
    <p:sldId id="743" r:id="rId15"/>
    <p:sldId id="744" r:id="rId16"/>
    <p:sldId id="745" r:id="rId17"/>
    <p:sldId id="262" r:id="rId18"/>
    <p:sldId id="263" r:id="rId19"/>
    <p:sldId id="753" r:id="rId20"/>
    <p:sldId id="747" r:id="rId21"/>
    <p:sldId id="748" r:id="rId22"/>
    <p:sldId id="749" r:id="rId23"/>
    <p:sldId id="750" r:id="rId24"/>
    <p:sldId id="751" r:id="rId25"/>
    <p:sldId id="75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00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7" autoAdjust="0"/>
    <p:restoredTop sz="94353" autoAdjust="0"/>
  </p:normalViewPr>
  <p:slideViewPr>
    <p:cSldViewPr snapToGrid="0">
      <p:cViewPr>
        <p:scale>
          <a:sx n="77" d="100"/>
          <a:sy n="77" d="100"/>
        </p:scale>
        <p:origin x="-414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C78F4-9D5A-4E7B-8894-0F2149915370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9B07D-717D-4E39-813B-AD1267CF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0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63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CA65EC-E136-4DD1-9640-8AB2A5AD018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3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1949-706A-430F-87C4-53D17726DA2C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55DA5-4711-4DE5-AD5B-55E9DD438A3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C6AC-4CB8-43F4-B168-FC31AC739BB0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9939-41F9-4DC5-BDE5-9FCCEF10684E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95FAC-93E4-4B8A-8750-CCA678BC9C2F}" type="datetime1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AE26-E085-421E-B2BE-E35F7FE14FA1}" type="datetime1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3628-B2F2-4CBD-BE8A-64F0D0A46994}" type="datetime1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B015-B8C6-457D-B902-7DB44231438D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ED65-AB5F-44AF-8D42-71557A758011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ED4B-9960-44B5-8C42-9160DD384C6B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8404-D63A-4502-A490-AA0FA7A20986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87B4E4D7-857D-48F3-80B8-6632CC0BCD4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928" y="549195"/>
            <a:ext cx="10294144" cy="987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3200" dirty="0">
                <a:solidFill>
                  <a:srgbClr val="000099"/>
                </a:solidFill>
              </a:rPr>
              <a:t>BCSE309L - Cryptography and Network Security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AD18B8-A744-2C9A-1B2B-58DFC3BA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893" y="5687648"/>
            <a:ext cx="963221" cy="10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FFC9748-0C84-0B4C-A5F1-B3B0AA09EEE5}"/>
              </a:ext>
            </a:extLst>
          </p:cNvPr>
          <p:cNvSpPr txBox="1"/>
          <p:nvPr/>
        </p:nvSpPr>
        <p:spPr>
          <a:xfrm>
            <a:off x="777914" y="1866708"/>
            <a:ext cx="107554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Module 5 - </a:t>
            </a: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Digital Signature Standard (DSS)</a:t>
            </a:r>
            <a:endParaRPr lang="en-IN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1026" name="Picture 2" descr="Digital Signature Algorithm (DSA) - GeeksforGeeks">
            <a:extLst>
              <a:ext uri="{FF2B5EF4-FFF2-40B4-BE49-F238E27FC236}">
                <a16:creationId xmlns:a16="http://schemas.microsoft.com/office/drawing/2014/main" xmlns="" id="{DFF2C7C8-CDAB-3544-7AA5-8850F07D2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428" y="3015050"/>
            <a:ext cx="4581166" cy="23930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06999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B1FEFE6-92BD-417F-8F26-DFB23C22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Digital Signature Standard (DSS)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3282AFE-BDC4-710A-DC01-45E7DDD84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6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B145A0-DB46-887D-0EC2-8A6F33B0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Signature Standard (DSS)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BCF48B-6169-61A2-6D1E-ADF8851BC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922"/>
            <a:ext cx="10764078" cy="436804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National Institute of Standards and Technology (NIST) has published Federal Information Processing Standard FIPS 186, known as the Digital Signature Standard (DSS)</a:t>
            </a:r>
          </a:p>
          <a:p>
            <a:pPr>
              <a:lnSpc>
                <a:spcPct val="150000"/>
              </a:lnSpc>
            </a:pPr>
            <a:r>
              <a:rPr lang="en-US" dirty="0"/>
              <a:t>The DSS makes use of the Secure Hash Algorithm (SHA)</a:t>
            </a:r>
          </a:p>
          <a:p>
            <a:pPr>
              <a:lnSpc>
                <a:spcPct val="150000"/>
              </a:lnSpc>
            </a:pPr>
            <a:r>
              <a:rPr lang="en-US" dirty="0"/>
              <a:t>The DSS was originally proposed in 1991 and revised in 1993 in response to public feedback concerning the security of the scheme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53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19163"/>
            <a:ext cx="11620500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650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57B807-E0AE-6594-26F7-0F6993B3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DSS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CD4B57-5E5F-EAEB-F8BC-81A37A311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Generation of </a:t>
            </a:r>
            <a:r>
              <a:rPr lang="en-US" dirty="0">
                <a:solidFill>
                  <a:srgbClr val="0000FF"/>
                </a:solidFill>
              </a:rPr>
              <a:t>Public Key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Private Key </a:t>
            </a:r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User A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Creation of Digital Signature </a:t>
            </a:r>
            <a:r>
              <a:rPr lang="en-US" dirty="0"/>
              <a:t>by </a:t>
            </a:r>
            <a:r>
              <a:rPr lang="en-US" dirty="0">
                <a:solidFill>
                  <a:srgbClr val="FF0000"/>
                </a:solidFill>
              </a:rPr>
              <a:t>User A </a:t>
            </a:r>
            <a:r>
              <a:rPr lang="en-US" dirty="0"/>
              <a:t>for a Message M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User B </a:t>
            </a:r>
            <a:r>
              <a:rPr lang="en-US" dirty="0">
                <a:solidFill>
                  <a:srgbClr val="0000FF"/>
                </a:solidFill>
              </a:rPr>
              <a:t>Verifying the Digital Signature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70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EA894B-E981-05A9-1C94-3FF4D3B7A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91" y="86829"/>
            <a:ext cx="10515600" cy="1104417"/>
          </a:xfrm>
        </p:spPr>
        <p:txBody>
          <a:bodyPr/>
          <a:lstStyle/>
          <a:p>
            <a:r>
              <a:rPr lang="en-IN" dirty="0"/>
              <a:t>Overview of DSS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630CCA2C-FC46-1838-A28D-ECFCB34D04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0" b="8756"/>
          <a:stretch/>
        </p:blipFill>
        <p:spPr bwMode="auto">
          <a:xfrm>
            <a:off x="682022" y="1191246"/>
            <a:ext cx="11026273" cy="542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3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9C8A11-3D08-ABE1-F956-B372416C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5"/>
            <a:ext cx="10934700" cy="1325563"/>
          </a:xfrm>
        </p:spPr>
        <p:txBody>
          <a:bodyPr/>
          <a:lstStyle/>
          <a:p>
            <a:r>
              <a:rPr lang="en-IN" dirty="0"/>
              <a:t>The DSA (Digital Signature Algorithm)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C9EFEF-5F75-673A-49F6-A10166E9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559891"/>
            <a:ext cx="11106150" cy="4932984"/>
          </a:xfrm>
        </p:spPr>
        <p:txBody>
          <a:bodyPr>
            <a:normAutofit lnSpcReduction="10000"/>
          </a:bodyPr>
          <a:lstStyle/>
          <a:p>
            <a:pPr marL="514350" indent="-514350" algn="l">
              <a:lnSpc>
                <a:spcPct val="16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200" b="1" i="0" dirty="0">
                <a:solidFill>
                  <a:srgbClr val="000099"/>
                </a:solidFill>
                <a:effectLst/>
              </a:rPr>
              <a:t>Generation of a global public key component</a:t>
            </a:r>
          </a:p>
          <a:p>
            <a:pPr marL="628650" lvl="1" indent="-271463" algn="l">
              <a:lnSpc>
                <a:spcPct val="160000"/>
              </a:lnSpc>
              <a:spcBef>
                <a:spcPts val="0"/>
              </a:spcBef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Find a 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prime number p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such that 2</a:t>
            </a:r>
            <a:r>
              <a:rPr lang="en-US" sz="2800" b="0" i="0" baseline="30000" dirty="0">
                <a:solidFill>
                  <a:srgbClr val="222222"/>
                </a:solidFill>
                <a:effectLst/>
              </a:rPr>
              <a:t>L-1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&lt; p &lt; 2</a:t>
            </a:r>
            <a:r>
              <a:rPr lang="en-US" sz="2800" b="0" i="0" baseline="30000" dirty="0">
                <a:solidFill>
                  <a:srgbClr val="222222"/>
                </a:solidFill>
                <a:effectLst/>
              </a:rPr>
              <a:t>L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, where </a:t>
            </a:r>
            <a:r>
              <a:rPr lang="en-US" sz="2800" dirty="0">
                <a:solidFill>
                  <a:srgbClr val="222222"/>
                </a:solidFill>
              </a:rPr>
              <a:t>L is multiple of 64 and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an integer between 512 and 1024 i.e., 512 &lt;= L &lt;= 1024; bit length between 512bits and 1024bits in increments of 64bits</a:t>
            </a:r>
          </a:p>
          <a:p>
            <a:pPr marL="628650" lvl="1" indent="-271463" algn="l">
              <a:lnSpc>
                <a:spcPct val="160000"/>
              </a:lnSpc>
              <a:spcBef>
                <a:spcPts val="0"/>
              </a:spcBef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Find 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another number q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which is a </a:t>
            </a:r>
            <a:r>
              <a:rPr lang="en-US" sz="2800" b="0" i="0" dirty="0">
                <a:solidFill>
                  <a:srgbClr val="0000FF"/>
                </a:solidFill>
                <a:effectLst/>
              </a:rPr>
              <a:t>prime divisor of (p-1)</a:t>
            </a:r>
          </a:p>
          <a:p>
            <a:pPr marL="628650" lvl="1" indent="-271463" algn="l">
              <a:lnSpc>
                <a:spcPct val="160000"/>
              </a:lnSpc>
              <a:spcBef>
                <a:spcPts val="0"/>
              </a:spcBef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Compute 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g = h</a:t>
            </a:r>
            <a:r>
              <a:rPr lang="en-US" sz="2800" b="0" i="0" baseline="30000" dirty="0">
                <a:solidFill>
                  <a:srgbClr val="FF0000"/>
                </a:solidFill>
                <a:effectLst/>
              </a:rPr>
              <a:t>(p-1)/q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 mod p,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where h is an any integer with 1 &lt; h &lt; (p-1) such that h</a:t>
            </a:r>
            <a:r>
              <a:rPr lang="en-US" sz="2800" b="0" i="0" baseline="30000" dirty="0">
                <a:solidFill>
                  <a:srgbClr val="222222"/>
                </a:solidFill>
                <a:effectLst/>
              </a:rPr>
              <a:t>(p-1)/q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mod p &gt; 1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121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14A1E2-478F-A8C0-9A03-9CC81D6C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DSA (Digital Signature Algorithm)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Step 2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A5FA70-A618-9491-5678-354B654EA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 startAt="2"/>
            </a:pPr>
            <a:r>
              <a:rPr lang="en-US" sz="3200" b="1" dirty="0">
                <a:solidFill>
                  <a:srgbClr val="000099"/>
                </a:solidFill>
              </a:rPr>
              <a:t>Finding the user’s private and public keys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private key, x is any random number </a:t>
            </a:r>
            <a:r>
              <a:rPr lang="en-US" sz="2800" dirty="0"/>
              <a:t>such that 0 &lt; x&lt; q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public key, y = </a:t>
            </a:r>
            <a:r>
              <a:rPr lang="en-US" sz="2800" dirty="0" err="1">
                <a:solidFill>
                  <a:srgbClr val="FF0000"/>
                </a:solidFill>
              </a:rPr>
              <a:t>g</a:t>
            </a:r>
            <a:r>
              <a:rPr lang="en-US" sz="3600" baseline="30000" dirty="0" err="1">
                <a:solidFill>
                  <a:srgbClr val="FF0000"/>
                </a:solidFill>
              </a:rPr>
              <a:t>x</a:t>
            </a:r>
            <a:r>
              <a:rPr lang="en-US" sz="2800" baseline="300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mod p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965008-6AC0-42EB-8687-F6C5EEF7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56" y="236537"/>
            <a:ext cx="10515600" cy="1325563"/>
          </a:xfrm>
        </p:spPr>
        <p:txBody>
          <a:bodyPr/>
          <a:lstStyle/>
          <a:p>
            <a:r>
              <a:rPr lang="en-IN" dirty="0"/>
              <a:t>The DSA (Digital Signature Algorithm)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Step 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7356B2-8D22-92C0-262D-B468594A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562100"/>
            <a:ext cx="11079956" cy="523875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 startAt="3"/>
            </a:pPr>
            <a:r>
              <a:rPr lang="en-IN" sz="3000" b="1" dirty="0">
                <a:solidFill>
                  <a:srgbClr val="000099"/>
                </a:solidFill>
              </a:rPr>
              <a:t>Generating the Signature</a:t>
            </a:r>
          </a:p>
          <a:p>
            <a:pPr lvl="1" algn="l">
              <a:lnSpc>
                <a:spcPct val="200000"/>
              </a:lnSpc>
              <a:spcAft>
                <a:spcPts val="750"/>
              </a:spcAft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Finding the components of signature s and r</a:t>
            </a:r>
          </a:p>
          <a:p>
            <a:pPr lvl="1" algn="l">
              <a:lnSpc>
                <a:spcPct val="200000"/>
              </a:lnSpc>
              <a:spcAft>
                <a:spcPts val="750"/>
              </a:spcAft>
            </a:pPr>
            <a:r>
              <a:rPr lang="en-US" sz="2800" b="0" i="0" dirty="0">
                <a:solidFill>
                  <a:srgbClr val="FF0000"/>
                </a:solidFill>
                <a:effectLst/>
              </a:rPr>
              <a:t>r = (</a:t>
            </a:r>
            <a:r>
              <a:rPr lang="en-US" sz="2800" b="0" i="0" dirty="0" err="1">
                <a:solidFill>
                  <a:srgbClr val="FF0000"/>
                </a:solidFill>
                <a:effectLst/>
              </a:rPr>
              <a:t>g</a:t>
            </a:r>
            <a:r>
              <a:rPr lang="en-US" sz="2800" b="0" i="0" baseline="30000" dirty="0" err="1">
                <a:solidFill>
                  <a:srgbClr val="FF0000"/>
                </a:solidFill>
                <a:effectLst/>
              </a:rPr>
              <a:t>k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 mod p) mod q</a:t>
            </a:r>
          </a:p>
          <a:p>
            <a:pPr lvl="1">
              <a:lnSpc>
                <a:spcPct val="200000"/>
              </a:lnSpc>
              <a:spcAft>
                <a:spcPts val="750"/>
              </a:spcAft>
            </a:pPr>
            <a:r>
              <a:rPr lang="en-US" sz="2800" b="0" i="0" dirty="0">
                <a:solidFill>
                  <a:srgbClr val="FF0000"/>
                </a:solidFill>
                <a:effectLst/>
              </a:rPr>
              <a:t>s = [k</a:t>
            </a:r>
            <a:r>
              <a:rPr lang="en-US" sz="2800" b="0" i="0" baseline="30000" dirty="0">
                <a:solidFill>
                  <a:srgbClr val="FF0000"/>
                </a:solidFill>
                <a:effectLst/>
              </a:rPr>
              <a:t>-1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 {H(M) + x*r}] mod q, 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where k is a pseudo random integer such that 0&lt;k&lt;q</a:t>
            </a:r>
          </a:p>
          <a:p>
            <a:pPr lvl="1" algn="l">
              <a:lnSpc>
                <a:spcPct val="200000"/>
              </a:lnSpc>
              <a:spcAft>
                <a:spcPts val="1950"/>
              </a:spcAft>
            </a:pPr>
            <a:r>
              <a:rPr lang="en-US" sz="2800" b="0" i="0" dirty="0">
                <a:solidFill>
                  <a:srgbClr val="FF00FF"/>
                </a:solidFill>
                <a:effectLst/>
              </a:rPr>
              <a:t>Signature = (r, s)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38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AB772A-5CE7-B800-E64C-E330BE08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81" y="157957"/>
            <a:ext cx="10515600" cy="1325563"/>
          </a:xfrm>
        </p:spPr>
        <p:txBody>
          <a:bodyPr/>
          <a:lstStyle/>
          <a:p>
            <a:r>
              <a:rPr lang="en-IN" dirty="0"/>
              <a:t>The DSA (Digital Signature Algorithm)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Step 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DDFC9E-AB36-0AF5-7B30-FDA251E4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4" y="1624015"/>
            <a:ext cx="11020425" cy="4825206"/>
          </a:xfrm>
        </p:spPr>
        <p:txBody>
          <a:bodyPr/>
          <a:lstStyle/>
          <a:p>
            <a:pPr marL="514350" indent="-514350">
              <a:lnSpc>
                <a:spcPct val="13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b="1" dirty="0">
                <a:solidFill>
                  <a:srgbClr val="000099"/>
                </a:solidFill>
              </a:rPr>
              <a:t>Verifying the signature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dirty="0"/>
              <a:t>Let </a:t>
            </a:r>
            <a:r>
              <a:rPr lang="en-US" dirty="0">
                <a:solidFill>
                  <a:srgbClr val="0000FF"/>
                </a:solidFill>
              </a:rPr>
              <a:t>M’, r’, and s</a:t>
            </a:r>
            <a:r>
              <a:rPr lang="en-US" dirty="0"/>
              <a:t>’ be the message and signature components received  corresponding to M, r, and s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dirty="0"/>
              <a:t>To verify whether the signature is valid or not, first, the following condition needs to be checked: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0000FF"/>
                </a:solidFill>
              </a:rPr>
              <a:t>0 &lt; r’ &lt; q and 0 &lt; s’ &lt; q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dirty="0"/>
              <a:t>If any of the above conditions are not met, the signature is considered invalid and is therefore discarded; otherwise, if both conditions are met, the following parameters are computed: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55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D44B9-864D-DF6E-3E30-E8EAAC0E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DSA (Digital Signature Algorithm)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Step 4 – </a:t>
            </a:r>
            <a:r>
              <a:rPr lang="en-IN" sz="3600" dirty="0" err="1">
                <a:solidFill>
                  <a:srgbClr val="000099"/>
                </a:solidFill>
              </a:rPr>
              <a:t>cont</a:t>
            </a:r>
            <a:r>
              <a:rPr lang="en-IN" sz="3600" dirty="0">
                <a:solidFill>
                  <a:srgbClr val="000099"/>
                </a:solidFill>
              </a:rPr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56D245-E2A6-67E5-C05E-75D7A16A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61357"/>
            <a:ext cx="10734675" cy="453151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00FF"/>
                </a:solidFill>
              </a:rPr>
              <a:t>w = (s’)</a:t>
            </a:r>
            <a:r>
              <a:rPr lang="en-IN" baseline="30000" dirty="0">
                <a:solidFill>
                  <a:srgbClr val="0000FF"/>
                </a:solidFill>
              </a:rPr>
              <a:t>-1</a:t>
            </a:r>
            <a:r>
              <a:rPr lang="en-IN" dirty="0">
                <a:solidFill>
                  <a:srgbClr val="0000FF"/>
                </a:solidFill>
              </a:rPr>
              <a:t> mod q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00FF"/>
                </a:solidFill>
              </a:rPr>
              <a:t>u</a:t>
            </a:r>
            <a:r>
              <a:rPr lang="en-IN" baseline="-25000" dirty="0">
                <a:solidFill>
                  <a:srgbClr val="0000FF"/>
                </a:solidFill>
              </a:rPr>
              <a:t>1</a:t>
            </a:r>
            <a:r>
              <a:rPr lang="en-IN" dirty="0">
                <a:solidFill>
                  <a:srgbClr val="0000FF"/>
                </a:solidFill>
              </a:rPr>
              <a:t> = [H(M’)w] mod q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00FF"/>
                </a:solidFill>
              </a:rPr>
              <a:t>u</a:t>
            </a:r>
            <a:r>
              <a:rPr lang="en-IN" baseline="-25000" dirty="0">
                <a:solidFill>
                  <a:srgbClr val="0000FF"/>
                </a:solidFill>
              </a:rPr>
              <a:t>2</a:t>
            </a:r>
            <a:r>
              <a:rPr lang="en-IN" dirty="0">
                <a:solidFill>
                  <a:srgbClr val="0000FF"/>
                </a:solidFill>
              </a:rPr>
              <a:t> = (r’) w mod q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FF"/>
                </a:solidFill>
              </a:rPr>
              <a:t>v = [(g</a:t>
            </a:r>
            <a:r>
              <a:rPr lang="en-IN" baseline="30000" dirty="0">
                <a:solidFill>
                  <a:srgbClr val="FF00FF"/>
                </a:solidFill>
              </a:rPr>
              <a:t>u1</a:t>
            </a:r>
            <a:r>
              <a:rPr lang="en-IN" dirty="0">
                <a:solidFill>
                  <a:srgbClr val="FF00FF"/>
                </a:solidFill>
              </a:rPr>
              <a:t> y</a:t>
            </a:r>
            <a:r>
              <a:rPr lang="en-IN" baseline="30000" dirty="0">
                <a:solidFill>
                  <a:srgbClr val="FF00FF"/>
                </a:solidFill>
              </a:rPr>
              <a:t>u2</a:t>
            </a:r>
            <a:r>
              <a:rPr lang="en-IN" dirty="0">
                <a:solidFill>
                  <a:srgbClr val="FF00FF"/>
                </a:solidFill>
              </a:rPr>
              <a:t>) mod p] mod q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</a:rPr>
              <a:t>Test: v = r’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rgbClr val="006600"/>
                </a:solidFill>
              </a:rPr>
              <a:t>If v = r’, the signature is correct</a:t>
            </a:r>
            <a:r>
              <a:rPr lang="en-IN" dirty="0"/>
              <a:t>; otherwise, the data or message has been altered</a:t>
            </a:r>
          </a:p>
        </p:txBody>
      </p:sp>
    </p:spTree>
    <p:extLst>
      <p:ext uri="{BB962C8B-B14F-4D97-AF65-F5344CB8AC3E}">
        <p14:creationId xmlns:p14="http://schemas.microsoft.com/office/powerpoint/2010/main" val="3819928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21B2B-D39B-A99F-D27A-CA791CA7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B0E3CD-891D-555E-E1ED-5DDFC4391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r>
              <a:rPr lang="en-IN" b="1" dirty="0">
                <a:solidFill>
                  <a:srgbClr val="000099"/>
                </a:solidFill>
              </a:rPr>
              <a:t>Given:</a:t>
            </a:r>
            <a:endParaRPr lang="en-IN" dirty="0">
              <a:solidFill>
                <a:srgbClr val="0000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Prime modulus p=23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Subgroup order q=11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Generator g=2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Private key x=3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Random number k=6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Message hash H(M)=9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99"/>
                </a:solidFill>
              </a:rPr>
              <a:t>Find the </a:t>
            </a:r>
            <a:r>
              <a:rPr lang="en-IN" b="1" dirty="0">
                <a:solidFill>
                  <a:srgbClr val="000099"/>
                </a:solidFill>
              </a:rPr>
              <a:t>digital signature</a:t>
            </a:r>
            <a:r>
              <a:rPr lang="en-IN" dirty="0">
                <a:solidFill>
                  <a:srgbClr val="000099"/>
                </a:solidFill>
              </a:rPr>
              <a:t> (</a:t>
            </a:r>
            <a:r>
              <a:rPr lang="en-IN" dirty="0" err="1">
                <a:solidFill>
                  <a:srgbClr val="000099"/>
                </a:solidFill>
              </a:rPr>
              <a:t>r,s</a:t>
            </a:r>
            <a:r>
              <a:rPr lang="en-IN" dirty="0">
                <a:solidFill>
                  <a:srgbClr val="000099"/>
                </a:solidFill>
              </a:rPr>
              <a:t>) and verify it.</a:t>
            </a:r>
          </a:p>
          <a:p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230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3C784D-4A10-4EB9-7960-867B1017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81" y="100807"/>
            <a:ext cx="10515600" cy="1325563"/>
          </a:xfrm>
        </p:spPr>
        <p:txBody>
          <a:bodyPr/>
          <a:lstStyle/>
          <a:p>
            <a:r>
              <a:rPr lang="en-IN" dirty="0"/>
              <a:t>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1D9E09D8-D7D5-9FA1-3D65-58F0418D8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410" y="1167606"/>
            <a:ext cx="7529178" cy="5208092"/>
          </a:xfrm>
        </p:spPr>
      </p:pic>
    </p:spTree>
    <p:extLst>
      <p:ext uri="{BB962C8B-B14F-4D97-AF65-F5344CB8AC3E}">
        <p14:creationId xmlns:p14="http://schemas.microsoft.com/office/powerpoint/2010/main" val="1797191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5645A4-556B-A628-ADED-94C07050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4B8386E-9E97-9DB1-9ACB-38A1C24BB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782" y="281782"/>
            <a:ext cx="7841456" cy="6403034"/>
          </a:xfrm>
        </p:spPr>
      </p:pic>
    </p:spTree>
    <p:extLst>
      <p:ext uri="{BB962C8B-B14F-4D97-AF65-F5344CB8AC3E}">
        <p14:creationId xmlns:p14="http://schemas.microsoft.com/office/powerpoint/2010/main" val="182442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3446B0-1923-B6D0-472D-155D2CD5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4FE49614-AF1E-1479-5AFB-2BC252016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068" y="538694"/>
            <a:ext cx="8421275" cy="375337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2E99786-81AA-80B2-FB98-0FE88DF3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7647"/>
            <a:ext cx="5065356" cy="220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9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03DC24-92FF-6AC6-3777-9F32D942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9AF872E-143C-C34B-DAC3-B808FA9CA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704" y="475455"/>
            <a:ext cx="8798202" cy="49998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503CE90-6A02-E008-4DD5-8E597BE6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938" y="6087229"/>
            <a:ext cx="6001588" cy="590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A32D617-7595-3A9F-3FA3-F8127CB8BF56}"/>
              </a:ext>
            </a:extLst>
          </p:cNvPr>
          <p:cNvSpPr txBox="1"/>
          <p:nvPr/>
        </p:nvSpPr>
        <p:spPr>
          <a:xfrm>
            <a:off x="4922044" y="5401746"/>
            <a:ext cx="2721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= 18 mod 11 = 7</a:t>
            </a:r>
          </a:p>
        </p:txBody>
      </p:sp>
    </p:spTree>
    <p:extLst>
      <p:ext uri="{BB962C8B-B14F-4D97-AF65-F5344CB8AC3E}">
        <p14:creationId xmlns:p14="http://schemas.microsoft.com/office/powerpoint/2010/main" val="176332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DFC94-50F9-3D50-4E15-A2A2D77E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09" y="152400"/>
            <a:ext cx="9624391" cy="563563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Example 2</a:t>
            </a:r>
          </a:p>
        </p:txBody>
      </p:sp>
      <p:pic>
        <p:nvPicPr>
          <p:cNvPr id="8195" name="Picture 2">
            <a:extLst>
              <a:ext uri="{FF2B5EF4-FFF2-40B4-BE49-F238E27FC236}">
                <a16:creationId xmlns:a16="http://schemas.microsoft.com/office/drawing/2014/main" xmlns="" id="{345EA636-A157-982D-59E0-E79B93E1A1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75" t="48825" r="28229" b="27605"/>
          <a:stretch>
            <a:fillRect/>
          </a:stretch>
        </p:blipFill>
        <p:spPr>
          <a:xfrm>
            <a:off x="1828800" y="672548"/>
            <a:ext cx="8839200" cy="2667000"/>
          </a:xfrm>
          <a:noFill/>
        </p:spPr>
      </p:pic>
      <p:pic>
        <p:nvPicPr>
          <p:cNvPr id="8196" name="Picture 3">
            <a:extLst>
              <a:ext uri="{FF2B5EF4-FFF2-40B4-BE49-F238E27FC236}">
                <a16:creationId xmlns:a16="http://schemas.microsoft.com/office/drawing/2014/main" xmlns="" id="{E80A2BB3-61D2-7CA6-A5B0-161C3137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1" t="43750" r="31845" b="18750"/>
          <a:stretch>
            <a:fillRect/>
          </a:stretch>
        </p:blipFill>
        <p:spPr bwMode="auto">
          <a:xfrm>
            <a:off x="1752600" y="3200400"/>
            <a:ext cx="8610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BC8DBD-61BC-20D9-9FEB-42649BE9186B}"/>
              </a:ext>
            </a:extLst>
          </p:cNvPr>
          <p:cNvSpPr txBox="1"/>
          <p:nvPr/>
        </p:nvSpPr>
        <p:spPr>
          <a:xfrm>
            <a:off x="738740" y="1133061"/>
            <a:ext cx="146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dirty="0">
                <a:solidFill>
                  <a:srgbClr val="222222"/>
                </a:solidFill>
                <a:effectLst/>
              </a:rPr>
              <a:t>Compute </a:t>
            </a:r>
            <a:r>
              <a:rPr lang="en-US" sz="2000" b="1" i="0" dirty="0">
                <a:solidFill>
                  <a:srgbClr val="FF0000"/>
                </a:solidFill>
                <a:effectLst/>
              </a:rPr>
              <a:t>g, 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B023FDC-181A-6FAF-2057-C8D43E1BBAD7}"/>
              </a:ext>
            </a:extLst>
          </p:cNvPr>
          <p:cNvSpPr txBox="1"/>
          <p:nvPr/>
        </p:nvSpPr>
        <p:spPr>
          <a:xfrm>
            <a:off x="1828800" y="1605938"/>
            <a:ext cx="14776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22222"/>
                </a:solidFill>
              </a:rPr>
              <a:t>public key, </a:t>
            </a:r>
            <a:r>
              <a:rPr lang="en-IN" sz="2000" b="1" dirty="0">
                <a:solidFill>
                  <a:srgbClr val="FF0000"/>
                </a:solidFill>
              </a:rPr>
              <a:t>y</a:t>
            </a:r>
            <a:r>
              <a:rPr lang="en-IN" sz="2000" b="1" dirty="0">
                <a:solidFill>
                  <a:srgbClr val="22222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xmlns="" id="{E8A046D4-30B8-C17A-2F8E-E4D2055B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xmlns="" id="{12C06570-BD35-EF02-18A4-E5A0AA56E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Inputs are,</a:t>
            </a:r>
          </a:p>
          <a:p>
            <a:pPr eaLnBrk="1" hangingPunct="1"/>
            <a:r>
              <a:rPr lang="en-US" altLang="en-US" dirty="0"/>
              <a:t>prime number p = 48731 and q = 443, </a:t>
            </a:r>
          </a:p>
          <a:p>
            <a:pPr eaLnBrk="1" hangingPunct="1"/>
            <a:r>
              <a:rPr lang="en-US" altLang="en-US" dirty="0"/>
              <a:t>w = 343,  h = 7, x = 242, k = 427</a:t>
            </a:r>
          </a:p>
          <a:p>
            <a:r>
              <a:rPr lang="en-IN" dirty="0">
                <a:solidFill>
                  <a:srgbClr val="000099"/>
                </a:solidFill>
              </a:rPr>
              <a:t>Find the </a:t>
            </a:r>
            <a:r>
              <a:rPr lang="en-IN" b="1" dirty="0">
                <a:solidFill>
                  <a:srgbClr val="000099"/>
                </a:solidFill>
              </a:rPr>
              <a:t>digital signature</a:t>
            </a:r>
            <a:r>
              <a:rPr lang="en-IN" dirty="0">
                <a:solidFill>
                  <a:srgbClr val="000099"/>
                </a:solidFill>
              </a:rPr>
              <a:t> (</a:t>
            </a:r>
            <a:r>
              <a:rPr lang="en-IN" dirty="0" err="1">
                <a:solidFill>
                  <a:srgbClr val="000099"/>
                </a:solidFill>
              </a:rPr>
              <a:t>r,s</a:t>
            </a:r>
            <a:r>
              <a:rPr lang="en-IN" dirty="0">
                <a:solidFill>
                  <a:srgbClr val="000099"/>
                </a:solidFill>
              </a:rPr>
              <a:t>) and verify it.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8639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13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Standard (DSS)</a:t>
            </a:r>
            <a:endParaRPr lang="en-US" sz="3600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NIST                Federal Information Processing Standard (FIPS 186)-DSS</a:t>
            </a:r>
          </a:p>
          <a:p>
            <a:r>
              <a:rPr lang="en-US" b="1" dirty="0"/>
              <a:t>DSS                 </a:t>
            </a:r>
            <a:r>
              <a:rPr lang="en-US" b="1" dirty="0">
                <a:solidFill>
                  <a:srgbClr val="C00000"/>
                </a:solidFill>
              </a:rPr>
              <a:t>Secure Hash Algorithm (SHA)</a:t>
            </a:r>
          </a:p>
          <a:p>
            <a:pPr marL="0" indent="0">
              <a:buNone/>
            </a:pPr>
            <a:r>
              <a:rPr lang="en-US" b="1" dirty="0"/>
              <a:t>                 </a:t>
            </a:r>
            <a:r>
              <a:rPr lang="en-US" b="1" dirty="0">
                <a:solidFill>
                  <a:srgbClr val="C00000"/>
                </a:solidFill>
              </a:rPr>
              <a:t>new Digital Signature Algorithm (DSA)</a:t>
            </a:r>
          </a:p>
          <a:p>
            <a:pPr marL="0" indent="0">
              <a:buNone/>
            </a:pPr>
            <a:r>
              <a:rPr lang="en-US" b="1" dirty="0"/>
              <a:t>DSS                         </a:t>
            </a:r>
            <a:r>
              <a:rPr lang="en-US" b="1" dirty="0">
                <a:solidFill>
                  <a:srgbClr val="C00000"/>
                </a:solidFill>
              </a:rPr>
              <a:t>(1991)                 (1993,1996)</a:t>
            </a:r>
          </a:p>
          <a:p>
            <a:pPr marL="0" indent="0">
              <a:buNone/>
            </a:pPr>
            <a:r>
              <a:rPr lang="en-US" b="1" dirty="0"/>
              <a:t>DSS                         </a:t>
            </a:r>
            <a:r>
              <a:rPr lang="en-US" b="1" dirty="0">
                <a:solidFill>
                  <a:srgbClr val="C00000"/>
                </a:solidFill>
              </a:rPr>
              <a:t>(2000)                 (FIPS 186-2)</a:t>
            </a:r>
          </a:p>
          <a:p>
            <a:pPr marL="0" indent="0">
              <a:buNone/>
            </a:pPr>
            <a:r>
              <a:rPr lang="en-US" b="1" dirty="0"/>
              <a:t>DSS                         </a:t>
            </a:r>
            <a:r>
              <a:rPr lang="en-US" b="1" dirty="0">
                <a:solidFill>
                  <a:srgbClr val="C00000"/>
                </a:solidFill>
              </a:rPr>
              <a:t>(2009)                 (FIPS 186-3)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4343400" y="1667043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published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05200" y="2528594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9800" y="3048000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6615" y="3911522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77000" y="3882214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revised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7308" y="4412948"/>
            <a:ext cx="17526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expand-version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48000" y="4911430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77000" y="4454235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77000" y="4959930"/>
            <a:ext cx="12954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presented</a:t>
            </a:r>
          </a:p>
        </p:txBody>
      </p:sp>
    </p:spTree>
    <p:extLst>
      <p:ext uri="{BB962C8B-B14F-4D97-AF65-F5344CB8AC3E}">
        <p14:creationId xmlns:p14="http://schemas.microsoft.com/office/powerpoint/2010/main" val="199889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Standard (DSS)</a:t>
            </a:r>
            <a:endParaRPr lang="en-US" sz="3600" dirty="0">
              <a:solidFill>
                <a:srgbClr val="000099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484" y="1371601"/>
            <a:ext cx="8684917" cy="541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3124200" y="5638800"/>
            <a:ext cx="2836332" cy="961292"/>
            <a:chOff x="1600200" y="5638800"/>
            <a:chExt cx="2836332" cy="961292"/>
          </a:xfrm>
        </p:grpSpPr>
        <p:sp>
          <p:nvSpPr>
            <p:cNvPr id="7" name="Explosion 1 6"/>
            <p:cNvSpPr/>
            <p:nvPr/>
          </p:nvSpPr>
          <p:spPr>
            <a:xfrm>
              <a:off x="2666999" y="5638800"/>
              <a:ext cx="1769533" cy="961292"/>
            </a:xfrm>
            <a:prstGeom prst="irregularSeal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random number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1600200" y="6051146"/>
              <a:ext cx="1096109" cy="13659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8534400" y="4038600"/>
            <a:ext cx="1948962" cy="1219200"/>
            <a:chOff x="7010400" y="4038600"/>
            <a:chExt cx="1948962" cy="1219200"/>
          </a:xfrm>
        </p:grpSpPr>
        <p:sp>
          <p:nvSpPr>
            <p:cNvPr id="14" name="Explosion 1 13"/>
            <p:cNvSpPr/>
            <p:nvPr/>
          </p:nvSpPr>
          <p:spPr>
            <a:xfrm>
              <a:off x="7282962" y="4038600"/>
              <a:ext cx="1676400" cy="838200"/>
            </a:xfrm>
            <a:prstGeom prst="irregularSeal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verify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7010400" y="4705350"/>
              <a:ext cx="609600" cy="5524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3878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Algorithm (DSA)</a:t>
            </a:r>
            <a:endParaRPr lang="en-US" sz="3600" dirty="0">
              <a:solidFill>
                <a:srgbClr val="000099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033" y="1262278"/>
            <a:ext cx="9897762" cy="547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858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Algorithm (DSA)</a:t>
            </a:r>
            <a:endParaRPr lang="en-US" sz="3600" dirty="0">
              <a:solidFill>
                <a:srgbClr val="000099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1676400"/>
            <a:ext cx="8437217" cy="459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308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8270" y="1482810"/>
            <a:ext cx="7696200" cy="44664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Let p, q, g are public to all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p = 1279   prime number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q =  71  (prime divisor of (p-1))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g = 3</a:t>
            </a:r>
            <a:r>
              <a:rPr lang="en-US" sz="2400" b="1" baseline="30000" dirty="0"/>
              <a:t>18 </a:t>
            </a:r>
            <a:r>
              <a:rPr lang="en-US" sz="2400" b="1" dirty="0"/>
              <a:t>mod 1279 = 1157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Let x = 15, k = 10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y = 1157</a:t>
            </a:r>
            <a:r>
              <a:rPr lang="en-US" sz="2400" b="1" baseline="30000" dirty="0"/>
              <a:t>15</a:t>
            </a:r>
            <a:r>
              <a:rPr lang="en-US" sz="2400" b="1" dirty="0"/>
              <a:t> mod 71 = 851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User’s private key:{x = 15}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sz="2400" b="1" dirty="0"/>
              <a:t>User’s public  key: {y = 851}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Algorithm (DSA)</a:t>
            </a:r>
            <a:endParaRPr lang="en-US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513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4400" b="1" dirty="0">
                <a:solidFill>
                  <a:srgbClr val="C00000"/>
                </a:solidFill>
              </a:rPr>
              <a:t>   Signing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r = (1157 </a:t>
            </a:r>
            <a:r>
              <a:rPr lang="en-US" sz="2900" b="1" baseline="30000" dirty="0"/>
              <a:t>10</a:t>
            </a:r>
            <a:r>
              <a:rPr lang="en-US" sz="2900" b="1" dirty="0"/>
              <a:t> mod 1279) mod 71 = </a:t>
            </a:r>
            <a:r>
              <a:rPr lang="en-US" sz="2900" b="1" dirty="0">
                <a:solidFill>
                  <a:srgbClr val="C00000"/>
                </a:solidFill>
              </a:rPr>
              <a:t>32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s = [10 </a:t>
            </a:r>
            <a:r>
              <a:rPr lang="en-US" sz="2900" b="1" baseline="30000" dirty="0"/>
              <a:t>-1 </a:t>
            </a:r>
            <a:r>
              <a:rPr lang="en-US" sz="2900" b="1" dirty="0"/>
              <a:t>(123 + 15 x 32)] mod 71 = 39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m = 123, Signature = {32, 39}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900" b="1" dirty="0">
                <a:solidFill>
                  <a:srgbClr val="C00000"/>
                </a:solidFill>
              </a:rPr>
              <a:t>   Verifying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W = 39</a:t>
            </a:r>
            <a:r>
              <a:rPr lang="en-US" sz="2900" b="1" baseline="30000" dirty="0"/>
              <a:t>-1 </a:t>
            </a:r>
            <a:r>
              <a:rPr lang="en-US" sz="2900" b="1" dirty="0"/>
              <a:t>mod 71 = 51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u</a:t>
            </a:r>
            <a:r>
              <a:rPr lang="en-US" sz="2900" b="1" baseline="-25000" dirty="0"/>
              <a:t>1 </a:t>
            </a:r>
            <a:r>
              <a:rPr lang="en-US" sz="2900" b="1" dirty="0"/>
              <a:t>= 123 x 51 mod 71 = 25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u</a:t>
            </a:r>
            <a:r>
              <a:rPr lang="en-US" sz="2900" b="1" baseline="-25000" dirty="0"/>
              <a:t>2 </a:t>
            </a:r>
            <a:r>
              <a:rPr lang="en-US" sz="2900" b="1" dirty="0"/>
              <a:t>= 32 x 51 mod 71 = 70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/>
              <a:t>ν = [(1157</a:t>
            </a:r>
            <a:r>
              <a:rPr lang="en-US" sz="2900" b="1" baseline="30000" dirty="0"/>
              <a:t>25</a:t>
            </a:r>
            <a:r>
              <a:rPr lang="en-US" sz="2900" b="1" dirty="0"/>
              <a:t> 851</a:t>
            </a:r>
            <a:r>
              <a:rPr lang="en-US" sz="2900" b="1" baseline="30000" dirty="0"/>
              <a:t>70</a:t>
            </a:r>
            <a:r>
              <a:rPr lang="en-US" sz="2900" b="1" dirty="0"/>
              <a:t>) mod 1279] mod 71 = </a:t>
            </a:r>
            <a:r>
              <a:rPr lang="en-US" sz="2900" b="1" dirty="0">
                <a:solidFill>
                  <a:srgbClr val="C00000"/>
                </a:solidFill>
              </a:rPr>
              <a:t>32</a:t>
            </a:r>
          </a:p>
          <a:p>
            <a:pPr marL="0" indent="568325">
              <a:lnSpc>
                <a:spcPct val="160000"/>
              </a:lnSpc>
              <a:buNone/>
            </a:pPr>
            <a:r>
              <a:rPr lang="en-US" sz="2900" b="1" dirty="0">
                <a:solidFill>
                  <a:srgbClr val="FF0000"/>
                </a:solidFill>
              </a:rPr>
              <a:t>Test: ν = r  the signature is valid</a:t>
            </a:r>
            <a:endParaRPr lang="en-US" sz="2900" dirty="0">
              <a:solidFill>
                <a:srgbClr val="FF0000"/>
              </a:solidFill>
            </a:endParaRPr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cs typeface="Andalus" panose="02020603050405020304" pitchFamily="18" charset="-78"/>
              </a:rPr>
              <a:t>Digital Signatures</a:t>
            </a:r>
            <a:r>
              <a:rPr lang="en-US" b="1" dirty="0">
                <a:cs typeface="Andalus" panose="02020603050405020304" pitchFamily="18" charset="-78"/>
              </a:rPr>
              <a:t/>
            </a:r>
            <a:br>
              <a:rPr lang="en-US" b="1" dirty="0">
                <a:cs typeface="Andalus" panose="02020603050405020304" pitchFamily="18" charset="-78"/>
              </a:rPr>
            </a:br>
            <a:r>
              <a:rPr lang="en-US" sz="3600" b="1" dirty="0">
                <a:solidFill>
                  <a:srgbClr val="000099"/>
                </a:solidFill>
              </a:rPr>
              <a:t>Digital Signature Algorithm (DSA)</a:t>
            </a:r>
            <a:endParaRPr lang="en-US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4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27801</TotalTime>
  <Words>760</Words>
  <Application>Microsoft Office PowerPoint</Application>
  <PresentationFormat>Custom</PresentationFormat>
  <Paragraphs>103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Digital Signature Standard (DSS)</vt:lpstr>
      <vt:lpstr>Digital Signature Standard (DSS)</vt:lpstr>
      <vt:lpstr>PowerPoint Presentation</vt:lpstr>
      <vt:lpstr>DSS Steps</vt:lpstr>
      <vt:lpstr>Overview of DSS</vt:lpstr>
      <vt:lpstr>The DSA (Digital Signature Algorithm)</vt:lpstr>
      <vt:lpstr>The DSA (Digital Signature Algorithm)  Step 2</vt:lpstr>
      <vt:lpstr>The DSA (Digital Signature Algorithm)  Step 3</vt:lpstr>
      <vt:lpstr>The DSA (Digital Signature Algorithm)  Step 4</vt:lpstr>
      <vt:lpstr>The DSA (Digital Signature Algorithm)  Step 4 – cont…</vt:lpstr>
      <vt:lpstr>Problem</vt:lpstr>
      <vt:lpstr>Solution</vt:lpstr>
      <vt:lpstr>PowerPoint Presentation</vt:lpstr>
      <vt:lpstr>PowerPoint Presentation</vt:lpstr>
      <vt:lpstr>PowerPoint Presentation</vt:lpstr>
      <vt:lpstr>Example 2</vt:lpstr>
      <vt:lpstr>Exercise</vt:lpstr>
      <vt:lpstr>Summary</vt:lpstr>
      <vt:lpstr>Digital Signatures Digital Signature Standard (DSS)</vt:lpstr>
      <vt:lpstr>Digital Signatures Digital Signature Standard (DSS)</vt:lpstr>
      <vt:lpstr>Digital Signatures Digital Signature Algorithm (DSA)</vt:lpstr>
      <vt:lpstr>Digital Signatures Digital Signature Algorithm (DSA)</vt:lpstr>
      <vt:lpstr>Digital Signatures Digital Signature Algorithm (DSA)</vt:lpstr>
      <vt:lpstr>Digital Signatures Digital Signature Algorithm (DSA)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Dell</cp:lastModifiedBy>
  <cp:revision>937</cp:revision>
  <dcterms:created xsi:type="dcterms:W3CDTF">2020-07-30T09:53:05Z</dcterms:created>
  <dcterms:modified xsi:type="dcterms:W3CDTF">2025-03-06T13:20:44Z</dcterms:modified>
</cp:coreProperties>
</file>