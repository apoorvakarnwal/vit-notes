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56" r:id="rId2"/>
    <p:sldId id="276" r:id="rId3"/>
    <p:sldId id="257" r:id="rId4"/>
    <p:sldId id="277" r:id="rId5"/>
    <p:sldId id="258" r:id="rId6"/>
    <p:sldId id="278" r:id="rId7"/>
    <p:sldId id="279" r:id="rId8"/>
    <p:sldId id="259" r:id="rId9"/>
    <p:sldId id="280" r:id="rId10"/>
    <p:sldId id="281" r:id="rId11"/>
    <p:sldId id="282" r:id="rId12"/>
    <p:sldId id="275" r:id="rId13"/>
    <p:sldId id="283" r:id="rId14"/>
    <p:sldId id="284" r:id="rId15"/>
    <p:sldId id="285" r:id="rId16"/>
    <p:sldId id="286" r:id="rId17"/>
    <p:sldId id="287" r:id="rId18"/>
    <p:sldId id="288" r:id="rId19"/>
    <p:sldId id="289" r:id="rId20"/>
    <p:sldId id="290" r:id="rId21"/>
    <p:sldId id="291" r:id="rId22"/>
    <p:sldId id="260" r:id="rId23"/>
    <p:sldId id="292" r:id="rId24"/>
    <p:sldId id="268" r:id="rId25"/>
    <p:sldId id="261" r:id="rId26"/>
    <p:sldId id="293" r:id="rId27"/>
    <p:sldId id="294" r:id="rId28"/>
    <p:sldId id="262" r:id="rId29"/>
    <p:sldId id="274" r:id="rId30"/>
    <p:sldId id="263" r:id="rId31"/>
    <p:sldId id="269" r:id="rId32"/>
    <p:sldId id="266" r:id="rId33"/>
    <p:sldId id="270" r:id="rId34"/>
    <p:sldId id="271" r:id="rId35"/>
    <p:sldId id="272" r:id="rId36"/>
    <p:sldId id="273" r:id="rId37"/>
    <p:sldId id="264" r:id="rId38"/>
    <p:sldId id="265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-834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64B724-2D1F-470C-8E32-3C363B20C6D4}" type="datetimeFigureOut">
              <a:rPr lang="en-IN" smtClean="0"/>
              <a:t>07-04-2025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321AEA-2160-439B-889E-F56959C4F7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3178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321AEA-2160-439B-889E-F56959C4F7B9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5532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43EE8-3C27-4C33-94F9-4BED1E68AE9E}" type="datetimeFigureOut">
              <a:rPr lang="en-IN" smtClean="0"/>
              <a:t>07-04-2025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74ECA-3D31-4A85-AE5F-AD428F89E7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6226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43EE8-3C27-4C33-94F9-4BED1E68AE9E}" type="datetimeFigureOut">
              <a:rPr lang="en-IN" smtClean="0"/>
              <a:t>07-04-2025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74ECA-3D31-4A85-AE5F-AD428F89E7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4740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43EE8-3C27-4C33-94F9-4BED1E68AE9E}" type="datetimeFigureOut">
              <a:rPr lang="en-IN" smtClean="0"/>
              <a:t>07-04-2025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74ECA-3D31-4A85-AE5F-AD428F89E7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7331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43EE8-3C27-4C33-94F9-4BED1E68AE9E}" type="datetimeFigureOut">
              <a:rPr lang="en-IN" smtClean="0"/>
              <a:t>07-04-2025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74ECA-3D31-4A85-AE5F-AD428F89E7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3420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43EE8-3C27-4C33-94F9-4BED1E68AE9E}" type="datetimeFigureOut">
              <a:rPr lang="en-IN" smtClean="0"/>
              <a:t>07-04-2025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74ECA-3D31-4A85-AE5F-AD428F89E7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3120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43EE8-3C27-4C33-94F9-4BED1E68AE9E}" type="datetimeFigureOut">
              <a:rPr lang="en-IN" smtClean="0"/>
              <a:t>07-04-2025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74ECA-3D31-4A85-AE5F-AD428F89E7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5491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43EE8-3C27-4C33-94F9-4BED1E68AE9E}" type="datetimeFigureOut">
              <a:rPr lang="en-IN" smtClean="0"/>
              <a:t>07-04-2025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74ECA-3D31-4A85-AE5F-AD428F89E7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2176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43EE8-3C27-4C33-94F9-4BED1E68AE9E}" type="datetimeFigureOut">
              <a:rPr lang="en-IN" smtClean="0"/>
              <a:t>07-04-2025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74ECA-3D31-4A85-AE5F-AD428F89E7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0407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43EE8-3C27-4C33-94F9-4BED1E68AE9E}" type="datetimeFigureOut">
              <a:rPr lang="en-IN" smtClean="0"/>
              <a:t>07-04-2025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74ECA-3D31-4A85-AE5F-AD428F89E7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3919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43EE8-3C27-4C33-94F9-4BED1E68AE9E}" type="datetimeFigureOut">
              <a:rPr lang="en-IN" smtClean="0"/>
              <a:t>07-04-2025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74ECA-3D31-4A85-AE5F-AD428F89E7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9291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43EE8-3C27-4C33-94F9-4BED1E68AE9E}" type="datetimeFigureOut">
              <a:rPr lang="en-IN" smtClean="0"/>
              <a:t>07-04-2025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74ECA-3D31-4A85-AE5F-AD428F89E7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4649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E43EE8-3C27-4C33-94F9-4BED1E68AE9E}" type="datetimeFigureOut">
              <a:rPr lang="en-IN" smtClean="0"/>
              <a:t>07-04-2025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C74ECA-3D31-4A85-AE5F-AD428F89E7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9091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Electronic Mail Security </a:t>
            </a:r>
            <a:br>
              <a:rPr lang="en-IN" dirty="0" smtClean="0"/>
            </a:br>
            <a:r>
              <a:rPr lang="en-IN" dirty="0" smtClean="0"/>
              <a:t>S/MIME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smtClean="0"/>
              <a:t>Module 7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5508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0594" y="145359"/>
            <a:ext cx="9527458" cy="629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4628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704" y="261887"/>
            <a:ext cx="10515600" cy="56402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Email Components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3432" y="852231"/>
            <a:ext cx="9037419" cy="533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040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148" y="185030"/>
            <a:ext cx="10368117" cy="64914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6340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5752"/>
          </a:xfrm>
        </p:spPr>
        <p:txBody>
          <a:bodyPr/>
          <a:lstStyle/>
          <a:p>
            <a:r>
              <a:rPr lang="en-IN" b="1" i="1" dirty="0" smtClean="0"/>
              <a:t>Simple </a:t>
            </a:r>
            <a:r>
              <a:rPr lang="en-IN" b="1" i="1" dirty="0"/>
              <a:t>Mail Transfer </a:t>
            </a:r>
            <a:r>
              <a:rPr lang="en-IN" b="1" i="1" dirty="0" smtClean="0"/>
              <a:t>Protocol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0439" y="1297858"/>
            <a:ext cx="11208774" cy="5117690"/>
          </a:xfrm>
        </p:spPr>
        <p:txBody>
          <a:bodyPr>
            <a:normAutofit/>
          </a:bodyPr>
          <a:lstStyle/>
          <a:p>
            <a:pPr algn="just">
              <a:spcAft>
                <a:spcPts val="1200"/>
              </a:spcAft>
            </a:pPr>
            <a:r>
              <a:rPr lang="en-IN" sz="2400" dirty="0">
                <a:solidFill>
                  <a:srgbClr val="FF0000"/>
                </a:solidFill>
              </a:rPr>
              <a:t>SMTP encapsulates an email message in </a:t>
            </a:r>
            <a:r>
              <a:rPr lang="en-IN" sz="2400" dirty="0" smtClean="0">
                <a:solidFill>
                  <a:srgbClr val="FF0000"/>
                </a:solidFill>
              </a:rPr>
              <a:t>an envelope</a:t>
            </a:r>
            <a:endParaRPr lang="en-IN" sz="2400" dirty="0">
              <a:solidFill>
                <a:srgbClr val="FF0000"/>
              </a:solidFill>
            </a:endParaRPr>
          </a:p>
          <a:p>
            <a:pPr algn="just">
              <a:spcAft>
                <a:spcPts val="1200"/>
              </a:spcAft>
            </a:pPr>
            <a:r>
              <a:rPr lang="en-US" sz="2400" dirty="0"/>
              <a:t>The operation of SMTP consists of a </a:t>
            </a:r>
            <a:r>
              <a:rPr lang="en-US" sz="2400" b="1" dirty="0"/>
              <a:t>series of commands </a:t>
            </a:r>
            <a:r>
              <a:rPr lang="en-US" sz="2400" dirty="0"/>
              <a:t>and responses </a:t>
            </a:r>
            <a:r>
              <a:rPr lang="en-US" sz="2400" dirty="0" smtClean="0"/>
              <a:t>exchanged between </a:t>
            </a:r>
            <a:r>
              <a:rPr lang="en-US" sz="2400" dirty="0"/>
              <a:t>the SMTP sender and receiver. </a:t>
            </a:r>
            <a:endParaRPr lang="en-US" sz="2400" dirty="0" smtClean="0"/>
          </a:p>
          <a:p>
            <a:pPr algn="just">
              <a:spcAft>
                <a:spcPts val="1200"/>
              </a:spcAft>
            </a:pPr>
            <a:r>
              <a:rPr lang="en-US" sz="2400" dirty="0" smtClean="0"/>
              <a:t>The </a:t>
            </a:r>
            <a:r>
              <a:rPr lang="en-US" sz="2400" dirty="0"/>
              <a:t>initiative is with the SMTP sender, </a:t>
            </a:r>
            <a:r>
              <a:rPr lang="en-US" sz="2400" dirty="0" smtClean="0"/>
              <a:t>who establishes </a:t>
            </a:r>
            <a:r>
              <a:rPr lang="en-US" sz="2400" dirty="0"/>
              <a:t>the </a:t>
            </a:r>
            <a:r>
              <a:rPr lang="en-US" sz="2400" b="1" dirty="0"/>
              <a:t>TCP connection. </a:t>
            </a:r>
            <a:endParaRPr lang="en-US" sz="2400" b="1" dirty="0" smtClean="0"/>
          </a:p>
          <a:p>
            <a:pPr algn="just">
              <a:spcAft>
                <a:spcPts val="1200"/>
              </a:spcAft>
            </a:pPr>
            <a:r>
              <a:rPr lang="en-US" sz="2400" dirty="0" smtClean="0"/>
              <a:t>Once </a:t>
            </a:r>
            <a:r>
              <a:rPr lang="en-US" sz="2400" dirty="0"/>
              <a:t>the connection is established, the SMTP </a:t>
            </a:r>
            <a:r>
              <a:rPr lang="en-US" sz="2400" dirty="0" smtClean="0"/>
              <a:t>sender sends </a:t>
            </a:r>
            <a:r>
              <a:rPr lang="en-US" sz="2400" dirty="0"/>
              <a:t>commands over the connection to the receiver. </a:t>
            </a:r>
            <a:endParaRPr lang="en-US" sz="2400" dirty="0" smtClean="0"/>
          </a:p>
          <a:p>
            <a:pPr algn="just">
              <a:spcAft>
                <a:spcPts val="1200"/>
              </a:spcAft>
            </a:pPr>
            <a:r>
              <a:rPr lang="en-US" sz="2400" dirty="0" smtClean="0"/>
              <a:t>Each </a:t>
            </a:r>
            <a:r>
              <a:rPr lang="en-US" sz="2400" dirty="0"/>
              <a:t>command consists of a </a:t>
            </a:r>
            <a:r>
              <a:rPr lang="en-US" sz="2400" dirty="0" smtClean="0"/>
              <a:t>single line </a:t>
            </a:r>
            <a:r>
              <a:rPr lang="en-US" sz="2400" dirty="0"/>
              <a:t>of text, beginning with a four-letter command code followed in some cases by </a:t>
            </a:r>
            <a:r>
              <a:rPr lang="en-US" sz="2400" dirty="0" smtClean="0"/>
              <a:t>an argument </a:t>
            </a:r>
            <a:r>
              <a:rPr lang="en-US" sz="2400" dirty="0"/>
              <a:t>field. </a:t>
            </a:r>
            <a:endParaRPr lang="en-US" sz="2400" dirty="0" smtClean="0"/>
          </a:p>
          <a:p>
            <a:pPr algn="just">
              <a:spcAft>
                <a:spcPts val="1200"/>
              </a:spcAft>
            </a:pPr>
            <a:r>
              <a:rPr lang="en-US" sz="2400" dirty="0" smtClean="0"/>
              <a:t>Each </a:t>
            </a:r>
            <a:r>
              <a:rPr lang="en-US" sz="2400" dirty="0"/>
              <a:t>command generates exactly one reply from the SMTP receiver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4636109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5846" y="536044"/>
            <a:ext cx="9085006" cy="59667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86662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11421"/>
            <a:ext cx="10309123" cy="62746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021592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dirty="0"/>
              <a:t>Mail Access Protocols (POP 3, IMAP 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886768" cy="4351338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en-US" b="1" dirty="0"/>
              <a:t>Post Office Protocol (POP3) </a:t>
            </a:r>
            <a:r>
              <a:rPr lang="en-US" dirty="0">
                <a:solidFill>
                  <a:srgbClr val="FF0000"/>
                </a:solidFill>
              </a:rPr>
              <a:t>allows </a:t>
            </a:r>
            <a:r>
              <a:rPr lang="en-US" dirty="0" smtClean="0">
                <a:solidFill>
                  <a:srgbClr val="FF0000"/>
                </a:solidFill>
              </a:rPr>
              <a:t>an email </a:t>
            </a:r>
            <a:r>
              <a:rPr lang="en-US" dirty="0">
                <a:solidFill>
                  <a:srgbClr val="FF0000"/>
                </a:solidFill>
              </a:rPr>
              <a:t>client (user agent) to download an email from an email server (MTA). </a:t>
            </a:r>
            <a:endParaRPr lang="en-US" dirty="0" smtClean="0">
              <a:solidFill>
                <a:srgbClr val="FF0000"/>
              </a:solidFill>
            </a:endParaRPr>
          </a:p>
          <a:p>
            <a:pPr>
              <a:spcAft>
                <a:spcPts val="1200"/>
              </a:spcAft>
            </a:pPr>
            <a:r>
              <a:rPr lang="en-US" dirty="0" smtClean="0"/>
              <a:t>POP3 user </a:t>
            </a:r>
            <a:r>
              <a:rPr lang="en-US" dirty="0"/>
              <a:t>agents connect via TCP to the server (typically </a:t>
            </a:r>
            <a:r>
              <a:rPr lang="en-US" b="1" dirty="0"/>
              <a:t>port 110</a:t>
            </a:r>
            <a:r>
              <a:rPr lang="en-US" dirty="0" smtClean="0"/>
              <a:t>).</a:t>
            </a:r>
            <a:endParaRPr lang="en-IN" dirty="0"/>
          </a:p>
          <a:p>
            <a:pPr>
              <a:spcAft>
                <a:spcPts val="1200"/>
              </a:spcAft>
            </a:pPr>
            <a:r>
              <a:rPr lang="en-US" b="1" dirty="0"/>
              <a:t>IMAP</a:t>
            </a:r>
            <a:r>
              <a:rPr lang="en-US" dirty="0"/>
              <a:t> also uses TCP, with server TCP </a:t>
            </a:r>
            <a:r>
              <a:rPr lang="en-US" b="1" dirty="0" smtClean="0"/>
              <a:t>port 143</a:t>
            </a:r>
            <a:r>
              <a:rPr lang="en-US" dirty="0"/>
              <a:t>. </a:t>
            </a:r>
            <a:endParaRPr lang="en-US" dirty="0" smtClean="0"/>
          </a:p>
          <a:p>
            <a:pPr>
              <a:spcAft>
                <a:spcPts val="1200"/>
              </a:spcAft>
            </a:pPr>
            <a:r>
              <a:rPr lang="en-US" dirty="0" smtClean="0"/>
              <a:t>IMAP </a:t>
            </a:r>
            <a:r>
              <a:rPr lang="en-US" dirty="0"/>
              <a:t>is more complex than POP3. </a:t>
            </a:r>
            <a:endParaRPr lang="en-US" dirty="0" smtClean="0"/>
          </a:p>
          <a:p>
            <a:pPr>
              <a:spcAft>
                <a:spcPts val="1200"/>
              </a:spcAft>
            </a:pPr>
            <a:r>
              <a:rPr lang="en-US" dirty="0" smtClean="0">
                <a:solidFill>
                  <a:srgbClr val="FF0000"/>
                </a:solidFill>
              </a:rPr>
              <a:t>IMAP </a:t>
            </a:r>
            <a:r>
              <a:rPr lang="en-US" dirty="0">
                <a:solidFill>
                  <a:srgbClr val="FF0000"/>
                </a:solidFill>
              </a:rPr>
              <a:t>provides stronger </a:t>
            </a:r>
            <a:r>
              <a:rPr lang="en-US" dirty="0" smtClean="0">
                <a:solidFill>
                  <a:srgbClr val="FF0000"/>
                </a:solidFill>
              </a:rPr>
              <a:t>authentication </a:t>
            </a:r>
            <a:r>
              <a:rPr lang="en-US" dirty="0" smtClean="0"/>
              <a:t>than </a:t>
            </a:r>
            <a:r>
              <a:rPr lang="en-US" dirty="0"/>
              <a:t>POP3 and provides other functions not supported by POP3.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248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2323" y="261588"/>
            <a:ext cx="9011264" cy="6277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882144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923" y="353960"/>
            <a:ext cx="10104217" cy="50881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05439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402" y="359798"/>
            <a:ext cx="5419725" cy="5510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8129" y="212313"/>
            <a:ext cx="6356119" cy="42564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8126" y="4572000"/>
            <a:ext cx="6326745" cy="20503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86544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54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Email Threats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9226" y="1037684"/>
            <a:ext cx="9105089" cy="5569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616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0090" y="344742"/>
            <a:ext cx="9586452" cy="60957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496213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945" y="486695"/>
            <a:ext cx="9930443" cy="48374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670341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5123" y="123601"/>
            <a:ext cx="9807677" cy="64474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722426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466" y="427703"/>
            <a:ext cx="10509302" cy="5909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419488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51491"/>
            <a:ext cx="5063614" cy="60165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5394" y="251491"/>
            <a:ext cx="6536991" cy="60165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01526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980" y="342747"/>
            <a:ext cx="5062691" cy="5836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0142" y="165767"/>
            <a:ext cx="6472626" cy="5305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954"/>
          <a:stretch/>
        </p:blipFill>
        <p:spPr bwMode="auto">
          <a:xfrm>
            <a:off x="5560142" y="5471653"/>
            <a:ext cx="6441205" cy="11503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78524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813" y="293123"/>
            <a:ext cx="5240594" cy="57389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2878" y="293122"/>
            <a:ext cx="6278580" cy="57389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844137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962" y="418025"/>
            <a:ext cx="5279922" cy="5820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3308" y="418024"/>
            <a:ext cx="6052499" cy="5820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65847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154" y="267469"/>
            <a:ext cx="10427111" cy="6342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9187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226"/>
            <a:ext cx="10515600" cy="825910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</a:rPr>
              <a:t>S/MIME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5187" y="943897"/>
            <a:ext cx="11253019" cy="5692877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1200"/>
              </a:spcBef>
            </a:pPr>
            <a:r>
              <a:rPr lang="en-US" dirty="0">
                <a:solidFill>
                  <a:srgbClr val="FF0000"/>
                </a:solidFill>
              </a:rPr>
              <a:t>Secure/Multipurpose Internet Mail Extension (S/MIME)</a:t>
            </a:r>
            <a:r>
              <a:rPr lang="en-US" dirty="0"/>
              <a:t> is a security </a:t>
            </a:r>
            <a:r>
              <a:rPr lang="en-US" dirty="0" smtClean="0"/>
              <a:t>enhancement to </a:t>
            </a:r>
            <a:r>
              <a:rPr lang="en-US" dirty="0"/>
              <a:t>the MIME Internet email format standard based on technology from RSA </a:t>
            </a:r>
            <a:r>
              <a:rPr lang="en-US" dirty="0" smtClean="0"/>
              <a:t>Data </a:t>
            </a:r>
            <a:r>
              <a:rPr lang="en-IN" dirty="0" smtClean="0"/>
              <a:t>Security</a:t>
            </a:r>
            <a:r>
              <a:rPr lang="en-IN" dirty="0" smtClean="0"/>
              <a:t>.</a:t>
            </a:r>
          </a:p>
          <a:p>
            <a:pPr>
              <a:spcBef>
                <a:spcPts val="1200"/>
              </a:spcBef>
            </a:pPr>
            <a:r>
              <a:rPr lang="en-US" dirty="0"/>
              <a:t>A standard way for email encryption and signing </a:t>
            </a:r>
            <a:endParaRPr lang="en-US" dirty="0" smtClean="0"/>
          </a:p>
          <a:p>
            <a:pPr>
              <a:spcBef>
                <a:spcPts val="1200"/>
              </a:spcBef>
            </a:pPr>
            <a:r>
              <a:rPr lang="en-US" dirty="0"/>
              <a:t>Industry support </a:t>
            </a:r>
          </a:p>
          <a:p>
            <a:pPr>
              <a:spcBef>
                <a:spcPts val="1200"/>
              </a:spcBef>
            </a:pPr>
            <a:r>
              <a:rPr lang="en-US" dirty="0" smtClean="0"/>
              <a:t>Not </a:t>
            </a:r>
            <a:r>
              <a:rPr lang="en-US" dirty="0"/>
              <a:t>a standalone software, a system that is to be supported by email clients – such as MS Outlook and Thunderbird </a:t>
            </a:r>
            <a:endParaRPr lang="en-US" dirty="0" smtClean="0"/>
          </a:p>
          <a:p>
            <a:pPr>
              <a:spcBef>
                <a:spcPts val="1200"/>
              </a:spcBef>
            </a:pPr>
            <a:r>
              <a:rPr lang="en-US" dirty="0" smtClean="0"/>
              <a:t>S/MIME </a:t>
            </a:r>
            <a:r>
              <a:rPr lang="en-US" dirty="0"/>
              <a:t>handles digital signatures – Also provides encryption</a:t>
            </a:r>
            <a:endParaRPr lang="en-IN" dirty="0" smtClean="0"/>
          </a:p>
          <a:p>
            <a:pPr>
              <a:spcBef>
                <a:spcPts val="1200"/>
              </a:spcBef>
            </a:pPr>
            <a:r>
              <a:rPr lang="en-US" dirty="0"/>
              <a:t>S/MIME provides for four message-related services</a:t>
            </a:r>
            <a:r>
              <a:rPr lang="en-US" dirty="0" smtClean="0"/>
              <a:t>:</a:t>
            </a:r>
          </a:p>
          <a:p>
            <a:pPr lvl="1">
              <a:spcBef>
                <a:spcPts val="1200"/>
              </a:spcBef>
            </a:pPr>
            <a:r>
              <a:rPr lang="en-US" dirty="0" smtClean="0"/>
              <a:t> authentication </a:t>
            </a:r>
          </a:p>
          <a:p>
            <a:pPr lvl="1">
              <a:spcBef>
                <a:spcPts val="1200"/>
              </a:spcBef>
            </a:pPr>
            <a:r>
              <a:rPr lang="en-US" dirty="0" smtClean="0"/>
              <a:t>confidentiality</a:t>
            </a:r>
          </a:p>
          <a:p>
            <a:pPr lvl="1">
              <a:spcBef>
                <a:spcPts val="1200"/>
              </a:spcBef>
            </a:pPr>
            <a:r>
              <a:rPr lang="en-IN" dirty="0" smtClean="0"/>
              <a:t>compression</a:t>
            </a:r>
          </a:p>
          <a:p>
            <a:pPr lvl="1">
              <a:spcBef>
                <a:spcPts val="1200"/>
              </a:spcBef>
            </a:pPr>
            <a:r>
              <a:rPr lang="en-IN" dirty="0" smtClean="0"/>
              <a:t>email </a:t>
            </a:r>
            <a:r>
              <a:rPr lang="en-IN" dirty="0"/>
              <a:t>compatibility</a:t>
            </a:r>
          </a:p>
        </p:txBody>
      </p:sp>
    </p:spTree>
    <p:extLst>
      <p:ext uri="{BB962C8B-B14F-4D97-AF65-F5344CB8AC3E}">
        <p14:creationId xmlns:p14="http://schemas.microsoft.com/office/powerpoint/2010/main" val="1491727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0" y="365126"/>
            <a:ext cx="4038600" cy="726256"/>
          </a:xfrm>
        </p:spPr>
        <p:txBody>
          <a:bodyPr/>
          <a:lstStyle/>
          <a:p>
            <a:r>
              <a:rPr lang="en-IN" dirty="0">
                <a:solidFill>
                  <a:srgbClr val="C00000"/>
                </a:solidFill>
              </a:rPr>
              <a:t>MIME Headers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520" y="323543"/>
            <a:ext cx="5368873" cy="5870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1250" y="1313145"/>
            <a:ext cx="6000750" cy="3891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64093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921291B4-DC42-31D7-72AD-39BC6DA932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8735" y="0"/>
            <a:ext cx="9645446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54790" y="290503"/>
            <a:ext cx="24261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</a:rPr>
              <a:t>MIME Data Types</a:t>
            </a:r>
            <a:endParaRPr lang="en-IN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711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S/MIME Services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877" y="1468152"/>
            <a:ext cx="9822426" cy="4911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5721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289352"/>
            <a:ext cx="9365225" cy="5290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506400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4619" y="296271"/>
            <a:ext cx="9748684" cy="59056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824611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6129" y="205560"/>
            <a:ext cx="9896168" cy="641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9133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i="1" dirty="0">
                <a:solidFill>
                  <a:srgbClr val="C00000"/>
                </a:solidFill>
              </a:rPr>
              <a:t>Securing a MIME Entity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dirty="0"/>
              <a:t>S/MIME secures a </a:t>
            </a:r>
            <a:r>
              <a:rPr lang="en-US" b="1" dirty="0"/>
              <a:t>MIME entity </a:t>
            </a:r>
            <a:r>
              <a:rPr lang="en-US" dirty="0"/>
              <a:t>with a signature</a:t>
            </a:r>
            <a:r>
              <a:rPr lang="en-US" dirty="0" smtClean="0"/>
              <a:t>, </a:t>
            </a:r>
            <a:r>
              <a:rPr lang="en-IN" dirty="0" smtClean="0"/>
              <a:t>encryption, </a:t>
            </a:r>
            <a:r>
              <a:rPr lang="en-US" dirty="0" smtClean="0"/>
              <a:t>or </a:t>
            </a:r>
            <a:r>
              <a:rPr lang="en-US" dirty="0"/>
              <a:t>both. </a:t>
            </a:r>
            <a:endParaRPr lang="en-US" dirty="0" smtClean="0"/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dirty="0" smtClean="0"/>
              <a:t>A </a:t>
            </a:r>
            <a:r>
              <a:rPr lang="en-US" dirty="0"/>
              <a:t>MIME entity may be an entire </a:t>
            </a:r>
            <a:r>
              <a:rPr lang="en-US" dirty="0" smtClean="0"/>
              <a:t>message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IN" dirty="0"/>
              <a:t>T</a:t>
            </a:r>
            <a:r>
              <a:rPr lang="en-IN" dirty="0" smtClean="0"/>
              <a:t>he </a:t>
            </a:r>
            <a:r>
              <a:rPr lang="en-IN" dirty="0"/>
              <a:t>MIME entity </a:t>
            </a:r>
            <a:r>
              <a:rPr lang="en-IN" dirty="0" smtClean="0"/>
              <a:t>plus </a:t>
            </a:r>
            <a:r>
              <a:rPr lang="en-US" dirty="0" smtClean="0"/>
              <a:t>some </a:t>
            </a:r>
            <a:r>
              <a:rPr lang="en-US" dirty="0"/>
              <a:t>security-related data, such as algorithm identifiers and certificates, are </a:t>
            </a:r>
            <a:r>
              <a:rPr lang="en-US" dirty="0" smtClean="0"/>
              <a:t>processed by </a:t>
            </a:r>
            <a:r>
              <a:rPr lang="en-US" dirty="0"/>
              <a:t>S/MIME to produce what is known as a </a:t>
            </a:r>
            <a:r>
              <a:rPr lang="en-US" b="1" dirty="0"/>
              <a:t>PKCS </a:t>
            </a:r>
            <a:r>
              <a:rPr lang="en-US" b="1" dirty="0" smtClean="0"/>
              <a:t>object (MIME Header)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dirty="0"/>
              <a:t>In all cases, the message to be sent is converted to canonical form</a:t>
            </a:r>
            <a:r>
              <a:rPr lang="en-US" dirty="0" smtClean="0"/>
              <a:t>.</a:t>
            </a:r>
          </a:p>
          <a:p>
            <a:endParaRPr lang="en-US" b="1" dirty="0" smtClean="0"/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4550170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S/MIME Message Content Types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24067"/>
            <a:ext cx="10515600" cy="4351338"/>
          </a:xfrm>
        </p:spPr>
        <p:txBody>
          <a:bodyPr/>
          <a:lstStyle/>
          <a:p>
            <a:r>
              <a:rPr lang="en-IN" b="1" dirty="0" smtClean="0"/>
              <a:t>Data</a:t>
            </a:r>
          </a:p>
          <a:p>
            <a:r>
              <a:rPr lang="en-IN" b="1" dirty="0" err="1" smtClean="0"/>
              <a:t>SignedData</a:t>
            </a:r>
            <a:endParaRPr lang="en-IN" b="1" dirty="0" smtClean="0"/>
          </a:p>
          <a:p>
            <a:r>
              <a:rPr lang="en-IN" b="1" dirty="0" err="1" smtClean="0"/>
              <a:t>EnvelopedData</a:t>
            </a:r>
            <a:endParaRPr lang="en-IN" b="1" dirty="0"/>
          </a:p>
          <a:p>
            <a:r>
              <a:rPr lang="en-IN" b="1" dirty="0" err="1"/>
              <a:t>CompressedData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51721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S/MIME Message Content Types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xmlns="" id="{94848A75-11B3-90D9-8569-0FFEB33347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09809" y="1865363"/>
            <a:ext cx="8845120" cy="4428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2712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S/MIME Messages – Enveloped Data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An application/pkcs7-mime subtype </a:t>
            </a:r>
            <a:r>
              <a:rPr lang="en-US" dirty="0"/>
              <a:t>is used for one of four </a:t>
            </a:r>
            <a:r>
              <a:rPr lang="en-US" dirty="0" smtClean="0"/>
              <a:t>categories of </a:t>
            </a:r>
            <a:r>
              <a:rPr lang="en-US" dirty="0"/>
              <a:t>S/MIME processing, each with a unique </a:t>
            </a:r>
            <a:r>
              <a:rPr lang="en-US" dirty="0" smtClean="0"/>
              <a:t>s/mime-type parameter</a:t>
            </a:r>
          </a:p>
          <a:p>
            <a:r>
              <a:rPr lang="en-US" dirty="0"/>
              <a:t>The steps for preparing an </a:t>
            </a:r>
            <a:r>
              <a:rPr lang="en-US" dirty="0" err="1"/>
              <a:t>envelopedData</a:t>
            </a:r>
            <a:r>
              <a:rPr lang="en-US" dirty="0"/>
              <a:t> MIME entity are:</a:t>
            </a:r>
          </a:p>
          <a:p>
            <a:pPr marL="0" indent="0">
              <a:buNone/>
            </a:pPr>
            <a:r>
              <a:rPr lang="en-US" b="1" dirty="0" smtClean="0"/>
              <a:t>	1</a:t>
            </a:r>
            <a:r>
              <a:rPr lang="en-US" b="1" dirty="0"/>
              <a:t>. Generate a pseudorandom session key </a:t>
            </a:r>
            <a:r>
              <a:rPr lang="en-US" dirty="0"/>
              <a:t>for a particular symmetric </a:t>
            </a:r>
            <a:r>
              <a:rPr lang="en-US" dirty="0" smtClean="0"/>
              <a:t>	encryption </a:t>
            </a:r>
            <a:r>
              <a:rPr lang="fr-FR" dirty="0" err="1" smtClean="0"/>
              <a:t>algorithm</a:t>
            </a:r>
            <a:r>
              <a:rPr lang="fr-FR" dirty="0" smtClean="0"/>
              <a:t> </a:t>
            </a:r>
            <a:r>
              <a:rPr lang="fr-FR" dirty="0"/>
              <a:t>(RC2/40 or triple DES).</a:t>
            </a:r>
          </a:p>
          <a:p>
            <a:pPr marL="0" indent="0">
              <a:buNone/>
            </a:pPr>
            <a:r>
              <a:rPr lang="en-US" b="1" dirty="0" smtClean="0"/>
              <a:t>	2</a:t>
            </a:r>
            <a:r>
              <a:rPr lang="en-US" b="1" dirty="0"/>
              <a:t>. </a:t>
            </a:r>
            <a:r>
              <a:rPr lang="en-US" dirty="0"/>
              <a:t>For each recipient, </a:t>
            </a:r>
            <a:r>
              <a:rPr lang="en-US" b="1" dirty="0"/>
              <a:t>encrypt the session key </a:t>
            </a:r>
            <a:r>
              <a:rPr lang="en-US" dirty="0"/>
              <a:t>with the recipient’s </a:t>
            </a:r>
            <a:r>
              <a:rPr lang="en-US" dirty="0" smtClean="0"/>
              <a:t>	public </a:t>
            </a:r>
            <a:r>
              <a:rPr lang="en-US" dirty="0"/>
              <a:t>RSA </a:t>
            </a:r>
            <a:r>
              <a:rPr lang="en-US" dirty="0" smtClean="0"/>
              <a:t>key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 smtClean="0"/>
              <a:t>	3</a:t>
            </a:r>
            <a:r>
              <a:rPr lang="en-US" b="1" dirty="0"/>
              <a:t>. </a:t>
            </a:r>
            <a:r>
              <a:rPr lang="en-US" dirty="0"/>
              <a:t>For each recipient, </a:t>
            </a:r>
            <a:r>
              <a:rPr lang="en-US" b="1" dirty="0"/>
              <a:t>prepare a block known as </a:t>
            </a:r>
            <a:r>
              <a:rPr lang="en-US" b="1" dirty="0" err="1"/>
              <a:t>RecipientInfo</a:t>
            </a:r>
            <a:r>
              <a:rPr lang="en-US" b="1" dirty="0"/>
              <a:t> </a:t>
            </a:r>
            <a:r>
              <a:rPr lang="en-US" dirty="0"/>
              <a:t>that </a:t>
            </a:r>
            <a:r>
              <a:rPr lang="en-US" dirty="0" smtClean="0"/>
              <a:t>	contains 	an </a:t>
            </a:r>
            <a:r>
              <a:rPr lang="en-US" dirty="0"/>
              <a:t>identifier of the recipient’s public-key certificate</a:t>
            </a:r>
            <a:r>
              <a:rPr lang="en-US" dirty="0" smtClean="0"/>
              <a:t>, </a:t>
            </a:r>
            <a:r>
              <a:rPr lang="en-US" dirty="0"/>
              <a:t>an </a:t>
            </a:r>
            <a:r>
              <a:rPr lang="en-US" dirty="0" smtClean="0"/>
              <a:t>	identifier </a:t>
            </a:r>
            <a:r>
              <a:rPr lang="en-US" dirty="0"/>
              <a:t>of </a:t>
            </a:r>
            <a:r>
              <a:rPr lang="en-US" dirty="0" smtClean="0"/>
              <a:t>the 	a</a:t>
            </a:r>
            <a:r>
              <a:rPr lang="en-IN" dirty="0" err="1" smtClean="0"/>
              <a:t>lgorithm</a:t>
            </a:r>
            <a:r>
              <a:rPr lang="en-IN" dirty="0" smtClean="0"/>
              <a:t> </a:t>
            </a:r>
            <a:r>
              <a:rPr lang="en-US" dirty="0" smtClean="0"/>
              <a:t>used </a:t>
            </a:r>
            <a:r>
              <a:rPr lang="en-US" dirty="0"/>
              <a:t>to encrypt the session key, and </a:t>
            </a:r>
            <a:r>
              <a:rPr lang="en-US" dirty="0" smtClean="0"/>
              <a:t>	the </a:t>
            </a:r>
            <a:r>
              <a:rPr lang="en-US" dirty="0"/>
              <a:t>encrypted session key.</a:t>
            </a:r>
          </a:p>
          <a:p>
            <a:pPr marL="0" indent="0">
              <a:buNone/>
            </a:pPr>
            <a:r>
              <a:rPr lang="en-US" b="1" dirty="0" smtClean="0"/>
              <a:t>	4</a:t>
            </a:r>
            <a:r>
              <a:rPr lang="en-US" b="1" dirty="0"/>
              <a:t>. </a:t>
            </a:r>
            <a:r>
              <a:rPr lang="en-US" dirty="0"/>
              <a:t>Encrypt the message content with the session key.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66626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S/MIME Messages – Enveloped Data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9459" y="2052536"/>
            <a:ext cx="8264103" cy="3822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2208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S/MIME Messages – </a:t>
            </a:r>
            <a:r>
              <a:rPr lang="en-IN" dirty="0" smtClean="0"/>
              <a:t>Signed </a:t>
            </a:r>
            <a:r>
              <a:rPr lang="en-IN" dirty="0"/>
              <a:t>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/>
              <a:t>1. </a:t>
            </a:r>
            <a:r>
              <a:rPr lang="en-US" dirty="0"/>
              <a:t>Select a message digest algorithm (SHA or MD5).</a:t>
            </a:r>
          </a:p>
          <a:p>
            <a:pPr algn="just"/>
            <a:r>
              <a:rPr lang="en-US" b="1" dirty="0"/>
              <a:t>2. Compute the message digest </a:t>
            </a:r>
            <a:r>
              <a:rPr lang="en-US" dirty="0"/>
              <a:t>(hash function) of the content to be signed.</a:t>
            </a:r>
          </a:p>
          <a:p>
            <a:pPr algn="just"/>
            <a:r>
              <a:rPr lang="en-US" b="1" dirty="0"/>
              <a:t>3. </a:t>
            </a:r>
            <a:r>
              <a:rPr lang="en-US" dirty="0"/>
              <a:t>Encrypt the message digest with the signer’s private key.</a:t>
            </a:r>
          </a:p>
          <a:p>
            <a:pPr algn="just"/>
            <a:r>
              <a:rPr lang="en-US" b="1" dirty="0"/>
              <a:t>4. </a:t>
            </a:r>
            <a:r>
              <a:rPr lang="en-US" dirty="0"/>
              <a:t>Prepare a block known as </a:t>
            </a:r>
            <a:r>
              <a:rPr lang="en-US" b="1" dirty="0" err="1"/>
              <a:t>SignerInfo</a:t>
            </a:r>
            <a:r>
              <a:rPr lang="en-US" dirty="0"/>
              <a:t> that contains the signer’s </a:t>
            </a:r>
            <a:r>
              <a:rPr lang="en-US" dirty="0" smtClean="0"/>
              <a:t>public-key certificate</a:t>
            </a:r>
            <a:r>
              <a:rPr lang="en-US" dirty="0"/>
              <a:t>, an identifier of the message digest algorithm, an identifier of </a:t>
            </a:r>
            <a:r>
              <a:rPr lang="en-US" dirty="0" smtClean="0"/>
              <a:t>the </a:t>
            </a:r>
            <a:r>
              <a:rPr lang="en-IN" dirty="0" smtClean="0"/>
              <a:t>algorithm </a:t>
            </a:r>
            <a:r>
              <a:rPr lang="en-US" dirty="0" smtClean="0"/>
              <a:t>used </a:t>
            </a:r>
            <a:r>
              <a:rPr lang="en-US" dirty="0"/>
              <a:t>to encrypt the message digest, and the encrypted </a:t>
            </a:r>
            <a:r>
              <a:rPr lang="en-US" dirty="0" smtClean="0"/>
              <a:t>message </a:t>
            </a:r>
            <a:r>
              <a:rPr lang="en-IN" dirty="0" smtClean="0"/>
              <a:t>digest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32214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S/MIME Messages – Signed Data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110" y="1461018"/>
            <a:ext cx="9004782" cy="294561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258109" y="4600184"/>
            <a:ext cx="985087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TenLTStd-Roman"/>
              </a:rPr>
              <a:t>To recover the signed message and verify the signature, </a:t>
            </a:r>
            <a:r>
              <a:rPr lang="en-US" b="1" dirty="0">
                <a:latin typeface="TimesTenLTStd-Roman"/>
              </a:rPr>
              <a:t>the recipient first </a:t>
            </a:r>
            <a:r>
              <a:rPr lang="en-US" b="1" dirty="0" smtClean="0">
                <a:latin typeface="TimesTenLTStd-Roman"/>
              </a:rPr>
              <a:t>strips off </a:t>
            </a:r>
            <a:r>
              <a:rPr lang="en-US" b="1" dirty="0">
                <a:latin typeface="TimesTenLTStd-Roman"/>
              </a:rPr>
              <a:t>the base64 encoding. </a:t>
            </a:r>
            <a:endParaRPr lang="en-US" b="1" dirty="0" smtClean="0">
              <a:latin typeface="TimesTenLTStd-Roman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latin typeface="TimesTenLTStd-Roman"/>
              </a:rPr>
              <a:t>Then </a:t>
            </a:r>
            <a:r>
              <a:rPr lang="en-US" dirty="0">
                <a:latin typeface="TimesTenLTStd-Roman"/>
              </a:rPr>
              <a:t>the signer’s public key is used to decrypt the </a:t>
            </a:r>
            <a:r>
              <a:rPr lang="en-US" dirty="0" smtClean="0">
                <a:latin typeface="TimesTenLTStd-Roman"/>
              </a:rPr>
              <a:t>message digest</a:t>
            </a:r>
            <a:r>
              <a:rPr lang="en-US" dirty="0">
                <a:latin typeface="TimesTenLTStd-Roman"/>
              </a:rPr>
              <a:t>. </a:t>
            </a:r>
            <a:endParaRPr lang="en-US" dirty="0" smtClean="0">
              <a:latin typeface="TimesTenLTStd-Roman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latin typeface="TimesTenLTStd-Roman"/>
              </a:rPr>
              <a:t>The </a:t>
            </a:r>
            <a:r>
              <a:rPr lang="en-US" dirty="0">
                <a:latin typeface="TimesTenLTStd-Roman"/>
              </a:rPr>
              <a:t>recipient independently computes the message digest and </a:t>
            </a:r>
            <a:r>
              <a:rPr lang="en-US" dirty="0" smtClean="0">
                <a:latin typeface="TimesTenLTStd-Roman"/>
              </a:rPr>
              <a:t>compares </a:t>
            </a:r>
            <a:r>
              <a:rPr lang="en-IN" dirty="0" smtClean="0">
                <a:latin typeface="TimesTenLTStd-Roman"/>
              </a:rPr>
              <a:t>it to </a:t>
            </a:r>
            <a:r>
              <a:rPr lang="en-US" dirty="0" smtClean="0">
                <a:latin typeface="TimesTenLTStd-Roman"/>
              </a:rPr>
              <a:t>the </a:t>
            </a:r>
            <a:r>
              <a:rPr lang="en-US" dirty="0">
                <a:latin typeface="TimesTenLTStd-Roman"/>
              </a:rPr>
              <a:t>decrypted message digest to verify the signature.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37789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S/MIME Messages – </a:t>
            </a:r>
            <a:r>
              <a:rPr lang="en-IN" dirty="0" smtClean="0"/>
              <a:t>Clear Signing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6937" y="1690688"/>
            <a:ext cx="7733562" cy="4897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3401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S/MIME Certificate Processing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S/MIME managers and/or users must configure each client with a list </a:t>
            </a:r>
            <a:r>
              <a:rPr lang="en-US" dirty="0" smtClean="0"/>
              <a:t>of trusted </a:t>
            </a:r>
            <a:r>
              <a:rPr lang="en-US" dirty="0"/>
              <a:t>keys and with certificate revocation </a:t>
            </a:r>
            <a:r>
              <a:rPr lang="en-US" dirty="0" smtClean="0"/>
              <a:t>lists.</a:t>
            </a:r>
          </a:p>
          <a:p>
            <a:r>
              <a:rPr lang="en-US" b="1" i="1" dirty="0"/>
              <a:t>User Agent Role </a:t>
            </a:r>
            <a:r>
              <a:rPr lang="en-US" dirty="0"/>
              <a:t>An S/MIME user has several key management functions </a:t>
            </a:r>
            <a:r>
              <a:rPr lang="en-US" dirty="0" smtClean="0"/>
              <a:t>to </a:t>
            </a:r>
            <a:r>
              <a:rPr lang="en-IN" dirty="0" smtClean="0"/>
              <a:t>perform.</a:t>
            </a:r>
          </a:p>
          <a:p>
            <a:pPr lvl="2"/>
            <a:r>
              <a:rPr lang="en-IN" b="1" dirty="0"/>
              <a:t>Key </a:t>
            </a:r>
            <a:r>
              <a:rPr lang="en-IN" b="1" dirty="0" smtClean="0"/>
              <a:t>generation</a:t>
            </a:r>
          </a:p>
          <a:p>
            <a:pPr lvl="2"/>
            <a:r>
              <a:rPr lang="en-IN" b="1" dirty="0" smtClean="0"/>
              <a:t>Registration</a:t>
            </a:r>
          </a:p>
          <a:p>
            <a:pPr lvl="2"/>
            <a:r>
              <a:rPr lang="en-IN" b="1" dirty="0"/>
              <a:t>Certificate storage and </a:t>
            </a:r>
            <a:r>
              <a:rPr lang="en-IN" b="1" dirty="0" smtClean="0"/>
              <a:t>retrieval</a:t>
            </a:r>
          </a:p>
          <a:p>
            <a:pPr marL="914400" lvl="2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17998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Enhanced Security Services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Signed </a:t>
            </a:r>
            <a:r>
              <a:rPr lang="en-IN" b="1" dirty="0" smtClean="0"/>
              <a:t>receipts</a:t>
            </a:r>
          </a:p>
          <a:p>
            <a:r>
              <a:rPr lang="en-IN" b="1" dirty="0"/>
              <a:t>Security </a:t>
            </a:r>
            <a:r>
              <a:rPr lang="en-IN" b="1" dirty="0" smtClean="0"/>
              <a:t>labels</a:t>
            </a:r>
          </a:p>
          <a:p>
            <a:r>
              <a:rPr lang="en-IN" b="1" dirty="0"/>
              <a:t>Secure mailing </a:t>
            </a:r>
            <a:r>
              <a:rPr lang="en-IN" b="1" dirty="0" smtClean="0"/>
              <a:t>lists</a:t>
            </a:r>
          </a:p>
          <a:p>
            <a:r>
              <a:rPr lang="en-IN" b="1" dirty="0"/>
              <a:t>Signing certificates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0941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606</Words>
  <Application>Microsoft Office PowerPoint</Application>
  <PresentationFormat>Custom</PresentationFormat>
  <Paragraphs>72</Paragraphs>
  <Slides>38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39" baseType="lpstr">
      <vt:lpstr>Office Theme</vt:lpstr>
      <vt:lpstr>Electronic Mail Security  S/MIME</vt:lpstr>
      <vt:lpstr>PowerPoint Presentation</vt:lpstr>
      <vt:lpstr>Email Components</vt:lpstr>
      <vt:lpstr>PowerPoint Presentation</vt:lpstr>
      <vt:lpstr>Simple Mail Transfer Protocol</vt:lpstr>
      <vt:lpstr>PowerPoint Presentation</vt:lpstr>
      <vt:lpstr>PowerPoint Presentation</vt:lpstr>
      <vt:lpstr>Mail Access Protocols (POP 3, IMAP )</vt:lpstr>
      <vt:lpstr>PowerPoint Presentation</vt:lpstr>
      <vt:lpstr>PowerPoint Presentation</vt:lpstr>
      <vt:lpstr>PowerPoint Presentation</vt:lpstr>
      <vt:lpstr>Email Threats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S/MIME</vt:lpstr>
      <vt:lpstr>MIME Headers</vt:lpstr>
      <vt:lpstr>PowerPoint Presentation</vt:lpstr>
      <vt:lpstr>S/MIME Services</vt:lpstr>
      <vt:lpstr>PowerPoint Presentation</vt:lpstr>
      <vt:lpstr>PowerPoint Presentation</vt:lpstr>
      <vt:lpstr>PowerPoint Presentation</vt:lpstr>
      <vt:lpstr>Securing a MIME Entity</vt:lpstr>
      <vt:lpstr>S/MIME Message Content Types</vt:lpstr>
      <vt:lpstr>S/MIME Message Content Types</vt:lpstr>
      <vt:lpstr>S/MIME Messages – Enveloped Data</vt:lpstr>
      <vt:lpstr>S/MIME Messages – Enveloped Data</vt:lpstr>
      <vt:lpstr>S/MIME Messages – Signed Data</vt:lpstr>
      <vt:lpstr>S/MIME Messages – Signed Data</vt:lpstr>
      <vt:lpstr>S/MIME Messages – Clear Signing</vt:lpstr>
      <vt:lpstr>S/MIME Certificate Processing</vt:lpstr>
      <vt:lpstr>Enhanced Security Services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nivit</dc:creator>
  <cp:lastModifiedBy>Dell</cp:lastModifiedBy>
  <cp:revision>45</cp:revision>
  <dcterms:created xsi:type="dcterms:W3CDTF">2024-04-22T12:00:39Z</dcterms:created>
  <dcterms:modified xsi:type="dcterms:W3CDTF">2025-04-07T18:12:55Z</dcterms:modified>
</cp:coreProperties>
</file>