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61" r:id="rId3"/>
    <p:sldId id="262" r:id="rId4"/>
    <p:sldId id="257" r:id="rId5"/>
    <p:sldId id="258" r:id="rId6"/>
    <p:sldId id="259" r:id="rId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0066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0066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0066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972925" y="0"/>
            <a:ext cx="219075" cy="368149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2058650" y="0"/>
            <a:ext cx="128587" cy="360514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63476" y="4825"/>
            <a:ext cx="114300" cy="3590925"/>
          </a:xfrm>
          <a:custGeom>
            <a:avLst/>
            <a:gdLst/>
            <a:ahLst/>
            <a:cxnLst/>
            <a:rect l="l" t="t" r="r" b="b"/>
            <a:pathLst>
              <a:path w="114300" h="3590925">
                <a:moveTo>
                  <a:pt x="0" y="3590925"/>
                </a:moveTo>
                <a:lnTo>
                  <a:pt x="114300" y="3590925"/>
                </a:lnTo>
                <a:lnTo>
                  <a:pt x="114300" y="0"/>
                </a:lnTo>
                <a:lnTo>
                  <a:pt x="0" y="0"/>
                </a:lnTo>
                <a:lnTo>
                  <a:pt x="0" y="3590925"/>
                </a:lnTo>
                <a:close/>
              </a:path>
            </a:pathLst>
          </a:custGeom>
          <a:ln w="9525">
            <a:solidFill>
              <a:srgbClr val="00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3171713"/>
            <a:ext cx="205669" cy="36815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934825" y="3590861"/>
            <a:ext cx="252412" cy="4048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934825" y="3819461"/>
            <a:ext cx="252412" cy="40481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2628393"/>
            <a:ext cx="225807" cy="32949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9049" y="2714561"/>
            <a:ext cx="128587" cy="16668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23812" y="27194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52400"/>
                </a:moveTo>
                <a:lnTo>
                  <a:pt x="114300" y="152400"/>
                </a:lnTo>
                <a:lnTo>
                  <a:pt x="1143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2819336"/>
            <a:ext cx="261937" cy="40481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9049" y="2943161"/>
            <a:ext cx="128587" cy="16668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23812" y="29480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52400"/>
                </a:moveTo>
                <a:lnTo>
                  <a:pt x="114300" y="152400"/>
                </a:lnTo>
                <a:lnTo>
                  <a:pt x="1143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9525">
            <a:solidFill>
              <a:srgbClr val="00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59226" y="-3492"/>
            <a:ext cx="5205730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0066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1/29/2024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2401" y="6472554"/>
            <a:ext cx="2286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459226" y="-3492"/>
            <a:ext cx="5205730" cy="492443"/>
          </a:xfrm>
        </p:spPr>
        <p:txBody>
          <a:bodyPr/>
          <a:lstStyle/>
          <a:p>
            <a:pPr algn="ctr" eaLnBrk="1" hangingPunct="1"/>
            <a:endParaRPr lang="en-US" sz="3200" b="1" dirty="0" smtClean="0">
              <a:solidFill>
                <a:srgbClr val="7030A0"/>
              </a:solidFill>
            </a:endParaRPr>
          </a:p>
        </p:txBody>
      </p:sp>
      <p:sp>
        <p:nvSpPr>
          <p:cNvPr id="2051" name="Content Placeholder 2"/>
          <p:cNvSpPr>
            <a:spLocks noGrp="1"/>
          </p:cNvSpPr>
          <p:nvPr>
            <p:ph idx="1"/>
          </p:nvPr>
        </p:nvSpPr>
        <p:spPr>
          <a:xfrm>
            <a:off x="609600" y="1577340"/>
            <a:ext cx="10972800" cy="2462213"/>
          </a:xfrm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Module 1</a:t>
            </a:r>
            <a:endParaRPr lang="en-US" sz="3200" dirty="0" smtClean="0">
              <a:solidFill>
                <a:srgbClr val="C00000"/>
              </a:solidFill>
            </a:endParaRPr>
          </a:p>
          <a:p>
            <a:pPr algn="ctr" eaLnBrk="1" hangingPunct="1">
              <a:buFont typeface="Arial" charset="0"/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Fundamentals of Number </a:t>
            </a:r>
            <a:r>
              <a:rPr lang="en-US" sz="3200" b="1" dirty="0" smtClean="0">
                <a:solidFill>
                  <a:srgbClr val="C00000"/>
                </a:solidFill>
              </a:rPr>
              <a:t>Theory</a:t>
            </a:r>
          </a:p>
          <a:p>
            <a:pPr algn="ctr" eaLnBrk="1" hangingPunct="1">
              <a:buFont typeface="Arial" charset="0"/>
              <a:buNone/>
            </a:pPr>
            <a:r>
              <a:rPr lang="en-US" sz="3200" b="1" dirty="0" smtClean="0">
                <a:solidFill>
                  <a:srgbClr val="C00000"/>
                </a:solidFill>
              </a:rPr>
              <a:t>	</a:t>
            </a:r>
          </a:p>
          <a:p>
            <a:pPr algn="ctr" eaLnBrk="1" hangingPunct="1">
              <a:buFont typeface="Arial" charset="0"/>
              <a:buNone/>
            </a:pPr>
            <a:r>
              <a:rPr lang="en-US" sz="3200" b="1" dirty="0" smtClean="0">
                <a:solidFill>
                  <a:srgbClr val="7030A0"/>
                </a:solidFill>
              </a:rPr>
              <a:t>Topic </a:t>
            </a:r>
          </a:p>
          <a:p>
            <a:pPr algn="ctr" eaLnBrk="1" hangingPunct="1">
              <a:buFont typeface="Arial" charset="0"/>
              <a:buNone/>
            </a:pPr>
            <a:r>
              <a:rPr lang="en-US" sz="3200" b="1" spc="5" dirty="0" smtClean="0">
                <a:solidFill>
                  <a:srgbClr val="7030A0"/>
                </a:solidFill>
              </a:rPr>
              <a:t>Discrete</a:t>
            </a:r>
            <a:r>
              <a:rPr lang="en-US" sz="3200" b="1" spc="-204" dirty="0" smtClean="0">
                <a:solidFill>
                  <a:srgbClr val="7030A0"/>
                </a:solidFill>
              </a:rPr>
              <a:t> </a:t>
            </a:r>
            <a:r>
              <a:rPr lang="en-US" sz="3200" b="1" spc="-5" dirty="0" smtClean="0">
                <a:solidFill>
                  <a:srgbClr val="7030A0"/>
                </a:solidFill>
              </a:rPr>
              <a:t>logarithms</a:t>
            </a:r>
            <a:endParaRPr lang="en-US" sz="32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9226" y="0"/>
            <a:ext cx="520573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3200" spc="5" dirty="0" smtClean="0">
                <a:solidFill>
                  <a:srgbClr val="7030A0"/>
                </a:solidFill>
              </a:rPr>
              <a:t>Discrete</a:t>
            </a:r>
            <a:r>
              <a:rPr lang="en-US" sz="3200" spc="-204" dirty="0" smtClean="0">
                <a:solidFill>
                  <a:srgbClr val="7030A0"/>
                </a:solidFill>
              </a:rPr>
              <a:t> </a:t>
            </a:r>
            <a:r>
              <a:rPr lang="en-US" sz="3200" spc="-5" dirty="0" smtClean="0">
                <a:solidFill>
                  <a:srgbClr val="7030A0"/>
                </a:solidFill>
              </a:rPr>
              <a:t>logarithms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050" y="864806"/>
            <a:ext cx="11666220" cy="3851694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400" spc="10" dirty="0">
                <a:latin typeface="Times New Roman"/>
                <a:cs typeface="Times New Roman"/>
              </a:rPr>
              <a:t>It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55" dirty="0">
                <a:latin typeface="Times New Roman"/>
                <a:cs typeface="Times New Roman"/>
              </a:rPr>
              <a:t>used </a:t>
            </a: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30" dirty="0">
                <a:latin typeface="Times New Roman"/>
                <a:cs typeface="Times New Roman"/>
              </a:rPr>
              <a:t>Diffie–Hellman </a:t>
            </a:r>
            <a:r>
              <a:rPr sz="2400" spc="-10" dirty="0">
                <a:latin typeface="Times New Roman"/>
                <a:cs typeface="Times New Roman"/>
              </a:rPr>
              <a:t>key </a:t>
            </a:r>
            <a:r>
              <a:rPr sz="2400" spc="-50" dirty="0">
                <a:latin typeface="Times New Roman"/>
                <a:cs typeface="Times New Roman"/>
              </a:rPr>
              <a:t>exchange </a:t>
            </a:r>
            <a:r>
              <a:rPr sz="2400" spc="-35" dirty="0">
                <a:latin typeface="Times New Roman"/>
                <a:cs typeface="Times New Roman"/>
              </a:rPr>
              <a:t>and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digital </a:t>
            </a:r>
            <a:r>
              <a:rPr sz="2400" spc="-35" dirty="0">
                <a:latin typeface="Times New Roman"/>
                <a:cs typeface="Times New Roman"/>
              </a:rPr>
              <a:t>signature </a:t>
            </a:r>
            <a:r>
              <a:rPr sz="2400" spc="-15" dirty="0">
                <a:latin typeface="Times New Roman"/>
                <a:cs typeface="Times New Roman"/>
              </a:rPr>
              <a:t>algorithm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(DSA).</a:t>
            </a:r>
            <a:endParaRPr sz="2400" dirty="0">
              <a:latin typeface="Times New Roman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lang="en-US" sz="2400" spc="5" dirty="0" smtClean="0">
                <a:latin typeface="Times New Roman"/>
                <a:cs typeface="Times New Roman"/>
              </a:rPr>
              <a:t>2</a:t>
            </a:r>
            <a:r>
              <a:rPr lang="en-US" sz="2400" spc="5" baseline="30000" dirty="0" smtClean="0">
                <a:latin typeface="Times New Roman"/>
                <a:cs typeface="Times New Roman"/>
              </a:rPr>
              <a:t>x</a:t>
            </a:r>
            <a:r>
              <a:rPr lang="en-US" sz="2400" spc="5" dirty="0" smtClean="0">
                <a:latin typeface="Times New Roman"/>
                <a:cs typeface="Times New Roman"/>
              </a:rPr>
              <a:t> = 256 </a:t>
            </a:r>
            <a:r>
              <a:rPr lang="en-US" sz="2400" spc="5" dirty="0" smtClean="0">
                <a:latin typeface="Times New Roman"/>
                <a:cs typeface="Times New Roman"/>
                <a:sym typeface="Wingdings" panose="05000000000000000000" pitchFamily="2" charset="2"/>
              </a:rPr>
              <a:t> </a:t>
            </a:r>
            <a:r>
              <a:rPr sz="2400" spc="5" dirty="0" smtClean="0">
                <a:latin typeface="Times New Roman"/>
                <a:cs typeface="Times New Roman"/>
              </a:rPr>
              <a:t>2</a:t>
            </a:r>
            <a:r>
              <a:rPr sz="2325" spc="7" baseline="26881" dirty="0" smtClean="0">
                <a:latin typeface="Times New Roman"/>
                <a:cs typeface="Times New Roman"/>
              </a:rPr>
              <a:t>8 </a:t>
            </a:r>
            <a:r>
              <a:rPr sz="2400" b="1" dirty="0">
                <a:solidFill>
                  <a:srgbClr val="006600"/>
                </a:solidFill>
                <a:latin typeface="Times New Roman"/>
                <a:cs typeface="Times New Roman"/>
              </a:rPr>
              <a:t>= </a:t>
            </a:r>
            <a:r>
              <a:rPr sz="24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256 </a:t>
            </a:r>
            <a:r>
              <a:rPr sz="2400" dirty="0">
                <a:latin typeface="Times New Roman"/>
                <a:cs typeface="Times New Roman"/>
              </a:rPr>
              <a:t>– </a:t>
            </a:r>
            <a:r>
              <a:rPr sz="2400" spc="-30" dirty="0">
                <a:latin typeface="Times New Roman"/>
                <a:cs typeface="Times New Roman"/>
              </a:rPr>
              <a:t>Easy </a:t>
            </a:r>
            <a:r>
              <a:rPr sz="2400" spc="-20" dirty="0">
                <a:latin typeface="Times New Roman"/>
                <a:cs typeface="Times New Roman"/>
              </a:rPr>
              <a:t>calculation. </a:t>
            </a:r>
            <a:endParaRPr lang="en-US" sz="2400" spc="-20" dirty="0" smtClean="0">
              <a:latin typeface="Times New Roman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400" spc="5" dirty="0" smtClean="0">
                <a:latin typeface="Times New Roman"/>
                <a:cs typeface="Times New Roman"/>
              </a:rPr>
              <a:t>4</a:t>
            </a:r>
            <a:r>
              <a:rPr sz="2325" b="1" spc="7" baseline="26881" dirty="0" smtClean="0">
                <a:solidFill>
                  <a:srgbClr val="FF0000"/>
                </a:solidFill>
                <a:latin typeface="Times New Roman"/>
                <a:cs typeface="Times New Roman"/>
              </a:rPr>
              <a:t>X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4294967296. </a:t>
            </a:r>
            <a:r>
              <a:rPr sz="2400" b="1" spc="10" dirty="0">
                <a:solidFill>
                  <a:srgbClr val="000099"/>
                </a:solidFill>
                <a:latin typeface="Times New Roman"/>
                <a:cs typeface="Times New Roman"/>
              </a:rPr>
              <a:t>Find </a:t>
            </a:r>
            <a:r>
              <a:rPr sz="2400" b="1" dirty="0">
                <a:solidFill>
                  <a:srgbClr val="000099"/>
                </a:solidFill>
                <a:latin typeface="Times New Roman"/>
                <a:cs typeface="Times New Roman"/>
              </a:rPr>
              <a:t>X - </a:t>
            </a:r>
            <a:r>
              <a:rPr sz="2400" b="1" spc="5" dirty="0">
                <a:solidFill>
                  <a:srgbClr val="000099"/>
                </a:solidFill>
                <a:latin typeface="Times New Roman"/>
                <a:cs typeface="Times New Roman"/>
              </a:rPr>
              <a:t>Computationally</a:t>
            </a:r>
            <a:r>
              <a:rPr sz="2400" b="1" spc="45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0099"/>
                </a:solidFill>
                <a:latin typeface="Times New Roman"/>
                <a:cs typeface="Times New Roman"/>
              </a:rPr>
              <a:t>intensive.</a:t>
            </a:r>
            <a:endParaRPr sz="2400" dirty="0">
              <a:latin typeface="Times New Roman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400" spc="-5" dirty="0" smtClean="0">
                <a:latin typeface="Times New Roman"/>
                <a:cs typeface="Times New Roman"/>
              </a:rPr>
              <a:t>X=log</a:t>
            </a:r>
            <a:r>
              <a:rPr sz="2325" spc="-7" baseline="-19713" dirty="0" smtClean="0">
                <a:latin typeface="Times New Roman"/>
                <a:cs typeface="Times New Roman"/>
              </a:rPr>
              <a:t>4</a:t>
            </a:r>
            <a:r>
              <a:rPr sz="2400" spc="-5" dirty="0" smtClean="0">
                <a:latin typeface="Times New Roman"/>
                <a:cs typeface="Times New Roman"/>
              </a:rPr>
              <a:t>(4294967296</a:t>
            </a:r>
            <a:r>
              <a:rPr sz="2400" spc="-5" dirty="0">
                <a:latin typeface="Times New Roman"/>
                <a:cs typeface="Times New Roman"/>
              </a:rPr>
              <a:t>) </a:t>
            </a:r>
            <a:r>
              <a:rPr sz="2400" dirty="0" smtClean="0">
                <a:latin typeface="Times New Roman"/>
                <a:cs typeface="Times New Roman"/>
              </a:rPr>
              <a:t>-</a:t>
            </a:r>
            <a:r>
              <a:rPr lang="en-US" sz="2400" dirty="0" smtClean="0"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latin typeface="Times New Roman"/>
                <a:cs typeface="Times New Roman"/>
              </a:rPr>
              <a:t>X=16 - using</a:t>
            </a:r>
            <a:r>
              <a:rPr sz="2400" spc="50" dirty="0" smtClean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Logarithms</a:t>
            </a:r>
            <a:endParaRPr sz="2400" dirty="0">
              <a:latin typeface="Times New Roman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400" spc="-30" dirty="0">
                <a:latin typeface="Times New Roman"/>
                <a:cs typeface="Times New Roman"/>
              </a:rPr>
              <a:t>Consider </a:t>
            </a:r>
            <a:r>
              <a:rPr sz="2400" spc="5" dirty="0">
                <a:latin typeface="Times New Roman"/>
                <a:cs typeface="Times New Roman"/>
              </a:rPr>
              <a:t>3</a:t>
            </a:r>
            <a:r>
              <a:rPr sz="2325" spc="7" baseline="26881" dirty="0">
                <a:latin typeface="Times New Roman"/>
                <a:cs typeface="Times New Roman"/>
              </a:rPr>
              <a:t>4 </a:t>
            </a:r>
            <a:r>
              <a:rPr sz="2400" spc="-50" dirty="0">
                <a:latin typeface="Times New Roman"/>
                <a:cs typeface="Times New Roman"/>
              </a:rPr>
              <a:t>mod </a:t>
            </a:r>
            <a:r>
              <a:rPr sz="2400" spc="-5" dirty="0">
                <a:latin typeface="Times New Roman"/>
                <a:cs typeface="Times New Roman"/>
              </a:rPr>
              <a:t>12.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What is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solution </a:t>
            </a:r>
            <a:r>
              <a:rPr sz="24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for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this??? </a:t>
            </a:r>
            <a:r>
              <a:rPr sz="2400" b="1" dirty="0">
                <a:solidFill>
                  <a:srgbClr val="006600"/>
                </a:solidFill>
                <a:latin typeface="Times New Roman"/>
                <a:cs typeface="Times New Roman"/>
              </a:rPr>
              <a:t>81 </a:t>
            </a:r>
            <a:r>
              <a:rPr sz="2400" b="1" spc="5" dirty="0">
                <a:solidFill>
                  <a:srgbClr val="006600"/>
                </a:solidFill>
                <a:latin typeface="Times New Roman"/>
                <a:cs typeface="Times New Roman"/>
              </a:rPr>
              <a:t>mod </a:t>
            </a:r>
            <a:r>
              <a:rPr sz="2400" b="1" dirty="0">
                <a:solidFill>
                  <a:srgbClr val="006600"/>
                </a:solidFill>
                <a:latin typeface="Times New Roman"/>
                <a:cs typeface="Times New Roman"/>
              </a:rPr>
              <a:t>12 =</a:t>
            </a:r>
            <a:r>
              <a:rPr sz="2400" b="1" spc="-65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600"/>
                </a:solidFill>
                <a:latin typeface="Times New Roman"/>
                <a:cs typeface="Times New Roman"/>
              </a:rPr>
              <a:t>9</a:t>
            </a:r>
            <a:endParaRPr sz="2400" dirty="0">
              <a:latin typeface="Times New Roman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lang="en-US" sz="2400" b="1" spc="10" dirty="0" smtClean="0">
                <a:solidFill>
                  <a:srgbClr val="006600"/>
                </a:solidFill>
                <a:latin typeface="Times New Roman"/>
                <a:cs typeface="Times New Roman"/>
              </a:rPr>
              <a:t>X = dlog</a:t>
            </a:r>
            <a:r>
              <a:rPr lang="en-US" sz="2325" b="1" spc="15" baseline="-19713" dirty="0" smtClean="0">
                <a:solidFill>
                  <a:srgbClr val="006600"/>
                </a:solidFill>
                <a:latin typeface="Times New Roman"/>
                <a:cs typeface="Times New Roman"/>
              </a:rPr>
              <a:t>3,12</a:t>
            </a:r>
            <a:r>
              <a:rPr lang="en-US" sz="2400" b="1" spc="10" dirty="0" smtClean="0">
                <a:solidFill>
                  <a:srgbClr val="006600"/>
                </a:solidFill>
                <a:latin typeface="Times New Roman"/>
                <a:cs typeface="Times New Roman"/>
              </a:rPr>
              <a:t>(9)</a:t>
            </a:r>
          </a:p>
          <a:p>
            <a:pPr marL="406400" indent="-3429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400" b="1" spc="10" dirty="0" smtClean="0">
                <a:solidFill>
                  <a:srgbClr val="006600"/>
                </a:solidFill>
                <a:latin typeface="Times New Roman"/>
                <a:cs typeface="Times New Roman"/>
              </a:rPr>
              <a:t>4=dlog</a:t>
            </a:r>
            <a:r>
              <a:rPr sz="2325" b="1" spc="15" baseline="-19713" dirty="0" smtClean="0">
                <a:solidFill>
                  <a:srgbClr val="006600"/>
                </a:solidFill>
                <a:latin typeface="Times New Roman"/>
                <a:cs typeface="Times New Roman"/>
              </a:rPr>
              <a:t>3,12</a:t>
            </a:r>
            <a:r>
              <a:rPr sz="2400" b="1" spc="10" dirty="0" smtClean="0">
                <a:solidFill>
                  <a:srgbClr val="006600"/>
                </a:solidFill>
                <a:latin typeface="Times New Roman"/>
                <a:cs typeface="Times New Roman"/>
              </a:rPr>
              <a:t>(9</a:t>
            </a:r>
            <a:r>
              <a:rPr sz="2400" b="1" spc="10" dirty="0">
                <a:solidFill>
                  <a:srgbClr val="006600"/>
                </a:solidFill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pPr marL="292100" indent="-2286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292100" algn="l"/>
              </a:tabLst>
            </a:pPr>
            <a:r>
              <a:rPr lang="en-US" sz="2400" spc="10" dirty="0" smtClean="0">
                <a:latin typeface="Times New Roman"/>
                <a:cs typeface="Times New Roman"/>
              </a:rPr>
              <a:t>  </a:t>
            </a:r>
            <a:r>
              <a:rPr sz="2400" spc="10" dirty="0" smtClean="0">
                <a:latin typeface="Times New Roman"/>
                <a:cs typeface="Times New Roman"/>
              </a:rPr>
              <a:t>It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35" dirty="0">
                <a:latin typeface="Times New Roman"/>
                <a:cs typeface="Times New Roman"/>
              </a:rPr>
              <a:t>easy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35" dirty="0">
                <a:latin typeface="Times New Roman"/>
                <a:cs typeface="Times New Roman"/>
              </a:rPr>
              <a:t>compute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30" dirty="0">
                <a:latin typeface="Times New Roman"/>
                <a:cs typeface="Times New Roman"/>
              </a:rPr>
              <a:t>solution. 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9226" y="0"/>
            <a:ext cx="520573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sz="3200" spc="5" dirty="0" smtClean="0">
                <a:solidFill>
                  <a:srgbClr val="7030A0"/>
                </a:solidFill>
              </a:rPr>
              <a:t>Cont…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3050" y="864806"/>
            <a:ext cx="11666220" cy="4971488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400" spc="-35" smtClean="0">
                <a:latin typeface="Times New Roman"/>
                <a:cs typeface="Times New Roman"/>
              </a:rPr>
              <a:t>But </a:t>
            </a:r>
            <a:r>
              <a:rPr sz="2400" spc="-30" dirty="0">
                <a:latin typeface="Times New Roman"/>
                <a:cs typeface="Times New Roman"/>
              </a:rPr>
              <a:t>finding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spc="-35" dirty="0">
                <a:latin typeface="Times New Roman"/>
                <a:cs typeface="Times New Roman"/>
              </a:rPr>
              <a:t>value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spc="-20" dirty="0">
                <a:latin typeface="Times New Roman"/>
                <a:cs typeface="Times New Roman"/>
              </a:rPr>
              <a:t>'i'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b="1" spc="5" dirty="0">
                <a:solidFill>
                  <a:srgbClr val="000099"/>
                </a:solidFill>
                <a:latin typeface="Times New Roman"/>
                <a:cs typeface="Times New Roman"/>
              </a:rPr>
              <a:t>Computationally</a:t>
            </a:r>
            <a:r>
              <a:rPr sz="2400" b="1" spc="165" dirty="0">
                <a:solidFill>
                  <a:srgbClr val="000099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99"/>
                </a:solidFill>
                <a:latin typeface="Times New Roman"/>
                <a:cs typeface="Times New Roman"/>
              </a:rPr>
              <a:t>intensive.</a:t>
            </a:r>
            <a:endParaRPr sz="2400">
              <a:latin typeface="Times New Roman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400" dirty="0">
                <a:latin typeface="Times New Roman"/>
                <a:cs typeface="Times New Roman"/>
              </a:rPr>
              <a:t>14</a:t>
            </a:r>
            <a:r>
              <a:rPr sz="2325" b="1" baseline="26881" dirty="0">
                <a:solidFill>
                  <a:srgbClr val="006600"/>
                </a:solidFill>
                <a:latin typeface="Times New Roman"/>
                <a:cs typeface="Times New Roman"/>
              </a:rPr>
              <a:t>i </a:t>
            </a:r>
            <a:r>
              <a:rPr sz="2400" spc="-50" dirty="0">
                <a:latin typeface="Times New Roman"/>
                <a:cs typeface="Times New Roman"/>
              </a:rPr>
              <a:t>mod </a:t>
            </a:r>
            <a:r>
              <a:rPr sz="2400" spc="-5" dirty="0">
                <a:latin typeface="Times New Roman"/>
                <a:cs typeface="Times New Roman"/>
              </a:rPr>
              <a:t>29867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" dirty="0">
                <a:latin typeface="Times New Roman"/>
                <a:cs typeface="Times New Roman"/>
              </a:rPr>
              <a:t>26067.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6600"/>
                </a:solidFill>
                <a:latin typeface="Times New Roman"/>
                <a:cs typeface="Times New Roman"/>
              </a:rPr>
              <a:t>i=12</a:t>
            </a:r>
            <a:endParaRPr sz="2400">
              <a:latin typeface="Times New Roman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880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400" b="1" spc="15" dirty="0">
                <a:solidFill>
                  <a:srgbClr val="006600"/>
                </a:solidFill>
                <a:latin typeface="Times New Roman"/>
                <a:cs typeface="Times New Roman"/>
              </a:rPr>
              <a:t>i=dlog</a:t>
            </a:r>
            <a:r>
              <a:rPr sz="2325" b="1" spc="22" baseline="-19713" dirty="0">
                <a:solidFill>
                  <a:srgbClr val="006600"/>
                </a:solidFill>
                <a:latin typeface="Times New Roman"/>
                <a:cs typeface="Times New Roman"/>
              </a:rPr>
              <a:t>14,29867</a:t>
            </a:r>
            <a:r>
              <a:rPr sz="2400" b="1" spc="15" dirty="0">
                <a:solidFill>
                  <a:srgbClr val="006600"/>
                </a:solidFill>
                <a:latin typeface="Times New Roman"/>
                <a:cs typeface="Times New Roman"/>
              </a:rPr>
              <a:t>(26067)</a:t>
            </a:r>
            <a:endParaRPr sz="2400">
              <a:latin typeface="Times New Roman"/>
              <a:cs typeface="Times New Roman"/>
            </a:endParaRPr>
          </a:p>
          <a:p>
            <a:pPr marL="406400" marR="68580" indent="-342900">
              <a:lnSpc>
                <a:spcPct val="130400"/>
              </a:lnSpc>
              <a:buFont typeface="Arial"/>
              <a:buChar char="•"/>
              <a:tabLst>
                <a:tab pos="405765" algn="l"/>
                <a:tab pos="406400" algn="l"/>
                <a:tab pos="3608704" algn="l"/>
              </a:tabLst>
            </a:pPr>
            <a:r>
              <a:rPr sz="2400" b="1" spc="5" dirty="0">
                <a:latin typeface="Times New Roman"/>
                <a:cs typeface="Times New Roman"/>
              </a:rPr>
              <a:t>Computing </a:t>
            </a:r>
            <a:r>
              <a:rPr sz="2400" b="1" spc="-20" dirty="0">
                <a:latin typeface="Times New Roman"/>
                <a:cs typeface="Times New Roman"/>
              </a:rPr>
              <a:t>Discrete </a:t>
            </a:r>
            <a:r>
              <a:rPr sz="2400" b="1" spc="5" dirty="0">
                <a:latin typeface="Times New Roman"/>
                <a:cs typeface="Times New Roman"/>
              </a:rPr>
              <a:t>logarithms </a:t>
            </a:r>
            <a:r>
              <a:rPr sz="2400" b="1" spc="30" dirty="0">
                <a:latin typeface="Times New Roman"/>
                <a:cs typeface="Times New Roman"/>
              </a:rPr>
              <a:t>for </a:t>
            </a:r>
            <a:r>
              <a:rPr sz="2400" b="1" spc="-5" dirty="0">
                <a:latin typeface="Times New Roman"/>
                <a:cs typeface="Times New Roman"/>
              </a:rPr>
              <a:t>large </a:t>
            </a:r>
            <a:r>
              <a:rPr sz="2400" b="1" spc="5" dirty="0">
                <a:latin typeface="Times New Roman"/>
                <a:cs typeface="Times New Roman"/>
              </a:rPr>
              <a:t>number </a:t>
            </a:r>
            <a:r>
              <a:rPr sz="2400" b="1" dirty="0">
                <a:solidFill>
                  <a:srgbClr val="000099"/>
                </a:solidFill>
                <a:latin typeface="Times New Roman"/>
                <a:cs typeface="Times New Roman"/>
              </a:rPr>
              <a:t>- 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Computationally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intensive - </a:t>
            </a:r>
            <a:r>
              <a:rPr sz="24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Take </a:t>
            </a:r>
            <a:r>
              <a:rPr sz="2400" b="1" spc="4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long 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r>
              <a:rPr sz="2400" b="1" spc="5">
                <a:solidFill>
                  <a:srgbClr val="FF0000"/>
                </a:solidFill>
                <a:latin typeface="Times New Roman"/>
                <a:cs typeface="Times New Roman"/>
              </a:rPr>
              <a:t>. </a:t>
            </a:r>
            <a:endParaRPr lang="en-US" sz="2400" b="1" spc="5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06400" marR="68580" indent="-342900">
              <a:lnSpc>
                <a:spcPct val="130400"/>
              </a:lnSpc>
              <a:buFont typeface="Arial"/>
              <a:buChar char="•"/>
              <a:tabLst>
                <a:tab pos="405765" algn="l"/>
                <a:tab pos="406400" algn="l"/>
                <a:tab pos="3608704" algn="l"/>
              </a:tabLst>
            </a:pPr>
            <a:r>
              <a:rPr sz="2400" smtClean="0">
                <a:latin typeface="Times New Roman"/>
                <a:cs typeface="Times New Roman"/>
              </a:rPr>
              <a:t>5</a:t>
            </a:r>
            <a:r>
              <a:rPr sz="2325" b="1" baseline="26881" smtClean="0">
                <a:latin typeface="Times New Roman"/>
                <a:cs typeface="Times New Roman"/>
              </a:rPr>
              <a:t>i  </a:t>
            </a:r>
            <a:r>
              <a:rPr sz="2400" spc="-50" dirty="0">
                <a:latin typeface="Times New Roman"/>
                <a:cs typeface="Times New Roman"/>
              </a:rPr>
              <a:t>mod </a:t>
            </a:r>
            <a:r>
              <a:rPr sz="2400" spc="-5" dirty="0">
                <a:latin typeface="Times New Roman"/>
                <a:cs typeface="Times New Roman"/>
              </a:rPr>
              <a:t>13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	</a:t>
            </a:r>
            <a:r>
              <a:rPr sz="2400" spc="-5" dirty="0">
                <a:latin typeface="Times New Roman"/>
                <a:cs typeface="Times New Roman"/>
              </a:rPr>
              <a:t>(i</a:t>
            </a:r>
            <a:r>
              <a:rPr sz="2400" spc="-5">
                <a:latin typeface="Times New Roman"/>
                <a:cs typeface="Times New Roman"/>
              </a:rPr>
              <a:t>=???</a:t>
            </a:r>
            <a:r>
              <a:rPr sz="2400" spc="-15">
                <a:latin typeface="Times New Roman"/>
                <a:cs typeface="Times New Roman"/>
              </a:rPr>
              <a:t> </a:t>
            </a:r>
            <a:r>
              <a:rPr sz="2400" smtClean="0">
                <a:latin typeface="Times New Roman"/>
                <a:cs typeface="Times New Roman"/>
              </a:rPr>
              <a:t>3)</a:t>
            </a:r>
            <a:endParaRPr sz="2400">
              <a:latin typeface="Times New Roman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Hacker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can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go 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with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Brute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force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approach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4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find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value 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i. </a:t>
            </a:r>
            <a:r>
              <a:rPr sz="24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But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it is not</a:t>
            </a:r>
            <a:r>
              <a:rPr sz="2400" b="1" spc="-3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60">
                <a:solidFill>
                  <a:srgbClr val="FF0000"/>
                </a:solidFill>
                <a:latin typeface="Times New Roman"/>
                <a:cs typeface="Times New Roman"/>
              </a:rPr>
              <a:t>easy</a:t>
            </a:r>
            <a:r>
              <a:rPr sz="2400" b="1" spc="-60" smtClean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endParaRPr lang="en-US" sz="2400" b="1" spc="-60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06400" indent="-342900" algn="just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405765" algn="l"/>
                <a:tab pos="406400" algn="l"/>
              </a:tabLst>
            </a:pPr>
            <a:r>
              <a:rPr lang="en-US" sz="2400" dirty="0" smtClean="0"/>
              <a:t>A brute-force attack is a </a:t>
            </a:r>
            <a:r>
              <a:rPr lang="en-US" sz="2400" b="1" dirty="0" smtClean="0">
                <a:solidFill>
                  <a:srgbClr val="FF0000"/>
                </a:solidFill>
              </a:rPr>
              <a:t>trial-and-error method </a:t>
            </a:r>
            <a:r>
              <a:rPr lang="en-US" sz="2400" dirty="0" smtClean="0"/>
              <a:t>used by application programs to </a:t>
            </a:r>
            <a:r>
              <a:rPr lang="en-US" sz="2400" b="1" dirty="0" smtClean="0">
                <a:solidFill>
                  <a:srgbClr val="FF0000"/>
                </a:solidFill>
              </a:rPr>
              <a:t>decode login information and encryption keys to use them to gain unauthorized access </a:t>
            </a:r>
            <a:r>
              <a:rPr lang="en-US" sz="2400" dirty="0" smtClean="0"/>
              <a:t>to systems. Using brute force is an exhaustive effort rather than employing intellectual strategies.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9226" y="0"/>
            <a:ext cx="520573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3200" spc="15" dirty="0" smtClean="0">
                <a:solidFill>
                  <a:srgbClr val="7030A0"/>
                </a:solidFill>
              </a:rPr>
              <a:t>Cont…</a:t>
            </a:r>
            <a:endParaRPr sz="3200" spc="15" dirty="0">
              <a:solidFill>
                <a:srgbClr val="7030A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5750" y="864806"/>
            <a:ext cx="7692390" cy="23907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93065" algn="l"/>
                <a:tab pos="393700" algn="l"/>
                <a:tab pos="2233295" algn="l"/>
                <a:tab pos="3472179" algn="l"/>
              </a:tabLst>
            </a:pPr>
            <a:r>
              <a:rPr sz="2400" dirty="0">
                <a:latin typeface="Times New Roman"/>
                <a:cs typeface="Times New Roman"/>
              </a:rPr>
              <a:t>5</a:t>
            </a:r>
            <a:r>
              <a:rPr sz="2325" b="1" baseline="26881" dirty="0">
                <a:latin typeface="Times New Roman"/>
                <a:cs typeface="Times New Roman"/>
              </a:rPr>
              <a:t>i  </a:t>
            </a:r>
            <a:r>
              <a:rPr sz="2400" spc="-50" dirty="0">
                <a:latin typeface="Times New Roman"/>
                <a:cs typeface="Times New Roman"/>
              </a:rPr>
              <a:t>mod </a:t>
            </a:r>
            <a:r>
              <a:rPr sz="2400" spc="-5" dirty="0">
                <a:latin typeface="Times New Roman"/>
                <a:cs typeface="Times New Roman"/>
              </a:rPr>
              <a:t>13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8	(i=???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3)	</a:t>
            </a:r>
            <a:r>
              <a:rPr sz="2400" spc="-35" dirty="0">
                <a:latin typeface="Times New Roman"/>
                <a:cs typeface="Times New Roman"/>
              </a:rPr>
              <a:t>and </a:t>
            </a:r>
            <a:r>
              <a:rPr sz="2400" spc="5" dirty="0">
                <a:latin typeface="Times New Roman"/>
                <a:cs typeface="Times New Roman"/>
              </a:rPr>
              <a:t>5</a:t>
            </a:r>
            <a:r>
              <a:rPr sz="2325" spc="7" baseline="26881" dirty="0">
                <a:latin typeface="Times New Roman"/>
                <a:cs typeface="Times New Roman"/>
              </a:rPr>
              <a:t>7 </a:t>
            </a:r>
            <a:r>
              <a:rPr sz="2400" spc="-50" dirty="0">
                <a:latin typeface="Times New Roman"/>
                <a:cs typeface="Times New Roman"/>
              </a:rPr>
              <a:t>mod </a:t>
            </a:r>
            <a:r>
              <a:rPr sz="2400" dirty="0">
                <a:latin typeface="Times New Roman"/>
                <a:cs typeface="Times New Roman"/>
              </a:rPr>
              <a:t>13 = 8 </a:t>
            </a:r>
            <a:r>
              <a:rPr sz="2400" spc="-5" dirty="0">
                <a:latin typeface="Times New Roman"/>
                <a:cs typeface="Times New Roman"/>
              </a:rPr>
              <a:t>5</a:t>
            </a:r>
            <a:r>
              <a:rPr sz="2325" spc="-7" baseline="26881" dirty="0">
                <a:latin typeface="Times New Roman"/>
                <a:cs typeface="Times New Roman"/>
              </a:rPr>
              <a:t>11 </a:t>
            </a:r>
            <a:r>
              <a:rPr sz="2400" spc="-50" dirty="0">
                <a:latin typeface="Times New Roman"/>
                <a:cs typeface="Times New Roman"/>
              </a:rPr>
              <a:t>mod </a:t>
            </a:r>
            <a:r>
              <a:rPr sz="2400" spc="-5" dirty="0">
                <a:latin typeface="Times New Roman"/>
                <a:cs typeface="Times New Roman"/>
              </a:rPr>
              <a:t>13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  <a:p>
            <a:pPr marL="393700" indent="-34290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400" spc="-40" dirty="0">
                <a:latin typeface="Times New Roman"/>
                <a:cs typeface="Times New Roman"/>
              </a:rPr>
              <a:t>The </a:t>
            </a:r>
            <a:r>
              <a:rPr sz="2400" spc="-25" dirty="0">
                <a:latin typeface="Times New Roman"/>
                <a:cs typeface="Times New Roman"/>
              </a:rPr>
              <a:t>solution </a:t>
            </a:r>
            <a:r>
              <a:rPr sz="2400" spc="-20">
                <a:latin typeface="Times New Roman"/>
                <a:cs typeface="Times New Roman"/>
              </a:rPr>
              <a:t>for </a:t>
            </a:r>
            <a:r>
              <a:rPr lang="en-US" sz="2400" spc="-20" dirty="0" smtClean="0">
                <a:latin typeface="Times New Roman"/>
                <a:cs typeface="Times New Roman"/>
              </a:rPr>
              <a:t>“</a:t>
            </a:r>
            <a:r>
              <a:rPr lang="en-US" sz="2400" spc="-20" dirty="0" err="1" smtClean="0">
                <a:latin typeface="Times New Roman"/>
                <a:cs typeface="Times New Roman"/>
              </a:rPr>
              <a:t>i</a:t>
            </a:r>
            <a:r>
              <a:rPr lang="en-US" sz="2400" spc="-20" dirty="0" smtClean="0">
                <a:latin typeface="Times New Roman"/>
                <a:cs typeface="Times New Roman"/>
              </a:rPr>
              <a:t>”</a:t>
            </a:r>
            <a:r>
              <a:rPr sz="2400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</a:t>
            </a:r>
            <a:r>
              <a:rPr sz="2400" spc="-25" dirty="0">
                <a:latin typeface="Times New Roman"/>
                <a:cs typeface="Times New Roman"/>
              </a:rPr>
              <a:t>not </a:t>
            </a:r>
            <a:r>
              <a:rPr sz="2400" spc="-35" dirty="0">
                <a:latin typeface="Times New Roman"/>
                <a:cs typeface="Times New Roman"/>
              </a:rPr>
              <a:t>unique. </a:t>
            </a:r>
            <a:r>
              <a:rPr sz="2400" dirty="0">
                <a:latin typeface="Times New Roman"/>
                <a:cs typeface="Times New Roman"/>
              </a:rPr>
              <a:t>I </a:t>
            </a:r>
            <a:r>
              <a:rPr sz="2400" spc="-55" dirty="0">
                <a:latin typeface="Times New Roman"/>
                <a:cs typeface="Times New Roman"/>
              </a:rPr>
              <a:t>may </a:t>
            </a:r>
            <a:r>
              <a:rPr sz="2400" spc="-5" dirty="0">
                <a:latin typeface="Times New Roman"/>
                <a:cs typeface="Times New Roman"/>
              </a:rPr>
              <a:t>be </a:t>
            </a:r>
            <a:r>
              <a:rPr sz="2400" dirty="0">
                <a:latin typeface="Times New Roman"/>
                <a:cs typeface="Times New Roman"/>
              </a:rPr>
              <a:t>3 or 7 </a:t>
            </a:r>
            <a:r>
              <a:rPr sz="2400" spc="-5" dirty="0">
                <a:latin typeface="Times New Roman"/>
                <a:cs typeface="Times New Roman"/>
              </a:rPr>
              <a:t>or </a:t>
            </a:r>
            <a:r>
              <a:rPr sz="2400" spc="-40" dirty="0">
                <a:latin typeface="Times New Roman"/>
                <a:cs typeface="Times New Roman"/>
              </a:rPr>
              <a:t>11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  <a:p>
            <a:pPr marL="393700" indent="-3429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284163" algn="l"/>
              </a:tabLst>
            </a:pPr>
            <a:r>
              <a:rPr sz="2400" spc="-35" dirty="0">
                <a:latin typeface="Times New Roman"/>
                <a:cs typeface="Times New Roman"/>
              </a:rPr>
              <a:t>But </a:t>
            </a:r>
            <a:r>
              <a:rPr sz="2400" spc="-5" dirty="0">
                <a:latin typeface="Times New Roman"/>
                <a:cs typeface="Times New Roman"/>
              </a:rPr>
              <a:t>we </a:t>
            </a:r>
            <a:r>
              <a:rPr sz="2400" spc="-30" dirty="0">
                <a:latin typeface="Times New Roman"/>
                <a:cs typeface="Times New Roman"/>
              </a:rPr>
              <a:t>need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40" dirty="0">
                <a:latin typeface="Times New Roman"/>
                <a:cs typeface="Times New Roman"/>
              </a:rPr>
              <a:t>unique </a:t>
            </a:r>
            <a:r>
              <a:rPr sz="2400" spc="-25" dirty="0">
                <a:latin typeface="Times New Roman"/>
                <a:cs typeface="Times New Roman"/>
              </a:rPr>
              <a:t>solution </a:t>
            </a:r>
            <a:r>
              <a:rPr sz="2400" spc="-15" dirty="0">
                <a:latin typeface="Times New Roman"/>
                <a:cs typeface="Times New Roman"/>
              </a:rPr>
              <a:t>for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  <a:p>
            <a:pPr marL="279400" indent="-2286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279400" algn="l"/>
              </a:tabLst>
            </a:pPr>
            <a:r>
              <a:rPr lang="en-US" sz="2400" spc="-15" dirty="0" smtClean="0">
                <a:latin typeface="Times New Roman"/>
                <a:cs typeface="Times New Roman"/>
              </a:rPr>
              <a:t>  </a:t>
            </a:r>
            <a:r>
              <a:rPr sz="2400" spc="-15" smtClean="0">
                <a:latin typeface="Times New Roman"/>
                <a:cs typeface="Times New Roman"/>
              </a:rPr>
              <a:t>Discrete </a:t>
            </a:r>
            <a:r>
              <a:rPr sz="2400" spc="-30">
                <a:latin typeface="Times New Roman"/>
                <a:cs typeface="Times New Roman"/>
              </a:rPr>
              <a:t>logarithms </a:t>
            </a:r>
            <a:r>
              <a:rPr lang="en-US" sz="2400" spc="-45" dirty="0" smtClean="0">
                <a:latin typeface="Times New Roman"/>
                <a:cs typeface="Times New Roman"/>
              </a:rPr>
              <a:t>will </a:t>
            </a:r>
            <a:r>
              <a:rPr sz="2400" spc="-35" smtClean="0">
                <a:latin typeface="Times New Roman"/>
                <a:cs typeface="Times New Roman"/>
              </a:rPr>
              <a:t>give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35" dirty="0">
                <a:latin typeface="Times New Roman"/>
                <a:cs typeface="Times New Roman"/>
              </a:rPr>
              <a:t>unique </a:t>
            </a:r>
            <a:r>
              <a:rPr sz="2400" spc="-30" dirty="0">
                <a:latin typeface="Times New Roman"/>
                <a:cs typeface="Times New Roman"/>
              </a:rPr>
              <a:t>and </a:t>
            </a:r>
            <a:r>
              <a:rPr sz="2400" spc="-25" dirty="0">
                <a:latin typeface="Times New Roman"/>
                <a:cs typeface="Times New Roman"/>
              </a:rPr>
              <a:t>distinct</a:t>
            </a:r>
            <a:r>
              <a:rPr sz="2400" spc="-35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value.</a:t>
            </a:r>
            <a:endParaRPr sz="2400">
              <a:latin typeface="Times New Roman"/>
              <a:cs typeface="Times New Roman"/>
            </a:endParaRPr>
          </a:p>
          <a:p>
            <a:pPr marL="279400" indent="-228600">
              <a:lnSpc>
                <a:spcPct val="100000"/>
              </a:lnSpc>
              <a:spcBef>
                <a:spcPts val="875"/>
              </a:spcBef>
              <a:buFont typeface="Arial"/>
              <a:buChar char="•"/>
              <a:tabLst>
                <a:tab pos="279400" algn="l"/>
              </a:tabLst>
            </a:pPr>
            <a:r>
              <a:rPr lang="en-US" sz="2400" spc="-20" dirty="0" smtClean="0">
                <a:latin typeface="Times New Roman"/>
                <a:cs typeface="Times New Roman"/>
              </a:rPr>
              <a:t>  </a:t>
            </a:r>
            <a:r>
              <a:rPr sz="2400" spc="-20" smtClean="0">
                <a:latin typeface="Times New Roman"/>
                <a:cs typeface="Times New Roman"/>
              </a:rPr>
              <a:t>Primitive</a:t>
            </a:r>
            <a:r>
              <a:rPr sz="2400" spc="140" smtClean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Roots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3850" y="4660963"/>
            <a:ext cx="11556365" cy="9791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304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10" dirty="0">
                <a:latin typeface="Times New Roman"/>
                <a:cs typeface="Times New Roman"/>
              </a:rPr>
              <a:t>If </a:t>
            </a:r>
            <a:r>
              <a:rPr sz="2400" dirty="0">
                <a:latin typeface="Times New Roman"/>
                <a:cs typeface="Times New Roman"/>
              </a:rPr>
              <a:t>b </a:t>
            </a:r>
            <a:r>
              <a:rPr sz="2400" spc="40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15" dirty="0">
                <a:latin typeface="Times New Roman"/>
                <a:cs typeface="Times New Roman"/>
              </a:rPr>
              <a:t>Primitive </a:t>
            </a:r>
            <a:r>
              <a:rPr sz="2400" spc="-10" dirty="0">
                <a:latin typeface="Times New Roman"/>
                <a:cs typeface="Times New Roman"/>
              </a:rPr>
              <a:t>Root </a:t>
            </a:r>
            <a:r>
              <a:rPr sz="2400" spc="35" dirty="0">
                <a:latin typeface="Times New Roman"/>
                <a:cs typeface="Times New Roman"/>
              </a:rPr>
              <a:t>of </a:t>
            </a:r>
            <a:r>
              <a:rPr sz="2400" spc="-15" dirty="0">
                <a:latin typeface="Times New Roman"/>
                <a:cs typeface="Times New Roman"/>
              </a:rPr>
              <a:t>modulo </a:t>
            </a:r>
            <a:r>
              <a:rPr sz="2400" dirty="0">
                <a:latin typeface="Times New Roman"/>
                <a:cs typeface="Times New Roman"/>
              </a:rPr>
              <a:t>m </a:t>
            </a:r>
            <a:r>
              <a:rPr sz="2400" spc="-10" dirty="0">
                <a:latin typeface="Times New Roman"/>
                <a:cs typeface="Times New Roman"/>
              </a:rPr>
              <a:t>(m-prime number) </a:t>
            </a:r>
            <a:r>
              <a:rPr sz="2400" spc="-5" dirty="0">
                <a:latin typeface="Times New Roman"/>
                <a:cs typeface="Times New Roman"/>
              </a:rPr>
              <a:t>then </a:t>
            </a:r>
            <a:r>
              <a:rPr sz="2400" spc="30" dirty="0">
                <a:latin typeface="Times New Roman"/>
                <a:cs typeface="Times New Roman"/>
              </a:rPr>
              <a:t>we </a:t>
            </a:r>
            <a:r>
              <a:rPr sz="2400" spc="10" dirty="0">
                <a:latin typeface="Times New Roman"/>
                <a:cs typeface="Times New Roman"/>
              </a:rPr>
              <a:t>can </a:t>
            </a:r>
            <a:r>
              <a:rPr sz="2400" spc="-10" dirty="0">
                <a:latin typeface="Times New Roman"/>
                <a:cs typeface="Times New Roman"/>
              </a:rPr>
              <a:t>get </a:t>
            </a:r>
            <a:r>
              <a:rPr sz="2400" spc="-15" dirty="0">
                <a:latin typeface="Times New Roman"/>
                <a:cs typeface="Times New Roman"/>
              </a:rPr>
              <a:t>unique solution </a:t>
            </a:r>
            <a:r>
              <a:rPr sz="2400" spc="-20" dirty="0">
                <a:latin typeface="Times New Roman"/>
                <a:cs typeface="Times New Roman"/>
              </a:rPr>
              <a:t>for  </a:t>
            </a:r>
            <a:r>
              <a:rPr sz="2400" spc="5" dirty="0">
                <a:latin typeface="Times New Roman"/>
                <a:cs typeface="Times New Roman"/>
              </a:rPr>
              <a:t>i.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61944" y="3466924"/>
            <a:ext cx="2900680" cy="1148080"/>
            <a:chOff x="561944" y="3466924"/>
            <a:chExt cx="2900680" cy="1148080"/>
          </a:xfrm>
        </p:grpSpPr>
        <p:sp>
          <p:nvSpPr>
            <p:cNvPr id="7" name="object 7"/>
            <p:cNvSpPr/>
            <p:nvPr/>
          </p:nvSpPr>
          <p:spPr>
            <a:xfrm>
              <a:off x="561944" y="3466924"/>
              <a:ext cx="2900501" cy="11479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9124" y="3514725"/>
              <a:ext cx="2743200" cy="10001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074" y="3495675"/>
              <a:ext cx="2781300" cy="1038225"/>
            </a:xfrm>
            <a:custGeom>
              <a:avLst/>
              <a:gdLst/>
              <a:ahLst/>
              <a:cxnLst/>
              <a:rect l="l" t="t" r="r" b="b"/>
              <a:pathLst>
                <a:path w="2781300" h="1038225">
                  <a:moveTo>
                    <a:pt x="0" y="1038225"/>
                  </a:moveTo>
                  <a:lnTo>
                    <a:pt x="2781300" y="1038225"/>
                  </a:lnTo>
                  <a:lnTo>
                    <a:pt x="2781300" y="0"/>
                  </a:lnTo>
                  <a:lnTo>
                    <a:pt x="0" y="0"/>
                  </a:lnTo>
                  <a:lnTo>
                    <a:pt x="0" y="103822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4800" y="762000"/>
            <a:ext cx="9128760" cy="51232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smtClean="0">
                <a:latin typeface="Times New Roman"/>
                <a:cs typeface="Times New Roman"/>
              </a:rPr>
              <a:t>2,3 </a:t>
            </a:r>
            <a:r>
              <a:rPr sz="2400" dirty="0">
                <a:latin typeface="Times New Roman"/>
                <a:cs typeface="Times New Roman"/>
              </a:rPr>
              <a:t>is a </a:t>
            </a:r>
            <a:r>
              <a:rPr sz="2400" spc="-20" dirty="0">
                <a:latin typeface="Times New Roman"/>
                <a:cs typeface="Times New Roman"/>
              </a:rPr>
              <a:t>primitive </a:t>
            </a:r>
            <a:r>
              <a:rPr sz="2400" spc="5" dirty="0">
                <a:latin typeface="Times New Roman"/>
                <a:cs typeface="Times New Roman"/>
              </a:rPr>
              <a:t>root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spc="-50" dirty="0">
                <a:latin typeface="Times New Roman"/>
                <a:cs typeface="Times New Roman"/>
              </a:rPr>
              <a:t>mod </a:t>
            </a:r>
            <a:r>
              <a:rPr sz="2400" spc="-5" dirty="0">
                <a:latin typeface="Times New Roman"/>
                <a:cs typeface="Times New Roman"/>
              </a:rPr>
              <a:t>5. </a:t>
            </a:r>
            <a:r>
              <a:rPr sz="2400" spc="-5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3 </a:t>
            </a:r>
            <a:r>
              <a:rPr sz="2400" spc="-3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5 is a </a:t>
            </a:r>
            <a:r>
              <a:rPr sz="2400" spc="-20" dirty="0">
                <a:latin typeface="Times New Roman"/>
                <a:cs typeface="Times New Roman"/>
              </a:rPr>
              <a:t>primitive </a:t>
            </a:r>
            <a:r>
              <a:rPr sz="2400" spc="5" dirty="0">
                <a:latin typeface="Times New Roman"/>
                <a:cs typeface="Times New Roman"/>
              </a:rPr>
              <a:t>root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spc="-50" dirty="0">
                <a:latin typeface="Times New Roman"/>
                <a:cs typeface="Times New Roman"/>
              </a:rPr>
              <a:t>mod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09813" y="1876334"/>
            <a:ext cx="7510780" cy="4881880"/>
            <a:chOff x="2409813" y="1876334"/>
            <a:chExt cx="7510780" cy="4881880"/>
          </a:xfrm>
        </p:grpSpPr>
        <p:sp>
          <p:nvSpPr>
            <p:cNvPr id="5" name="object 5"/>
            <p:cNvSpPr/>
            <p:nvPr/>
          </p:nvSpPr>
          <p:spPr>
            <a:xfrm>
              <a:off x="2409813" y="1876334"/>
              <a:ext cx="7510555" cy="48816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66975" y="1924049"/>
              <a:ext cx="7353300" cy="47339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47925" y="1904999"/>
              <a:ext cx="7391400" cy="4772025"/>
            </a:xfrm>
            <a:custGeom>
              <a:avLst/>
              <a:gdLst/>
              <a:ahLst/>
              <a:cxnLst/>
              <a:rect l="l" t="t" r="r" b="b"/>
              <a:pathLst>
                <a:path w="7391400" h="4772025">
                  <a:moveTo>
                    <a:pt x="0" y="4772025"/>
                  </a:moveTo>
                  <a:lnTo>
                    <a:pt x="7391400" y="4772025"/>
                  </a:lnTo>
                  <a:lnTo>
                    <a:pt x="7391400" y="0"/>
                  </a:lnTo>
                  <a:lnTo>
                    <a:pt x="0" y="0"/>
                  </a:lnTo>
                  <a:lnTo>
                    <a:pt x="0" y="477202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459226" y="-3492"/>
            <a:ext cx="5205730" cy="492443"/>
          </a:xfrm>
        </p:spPr>
        <p:txBody>
          <a:bodyPr/>
          <a:lstStyle/>
          <a:p>
            <a:pPr marL="241300" indent="-228600" algn="ctr">
              <a:lnSpc>
                <a:spcPct val="100000"/>
              </a:lnSpc>
              <a:spcBef>
                <a:spcPts val="910"/>
              </a:spcBef>
              <a:tabLst>
                <a:tab pos="241300" algn="l"/>
              </a:tabLst>
            </a:pPr>
            <a:r>
              <a:rPr lang="en-US" sz="3200" spc="-20" dirty="0" smtClean="0">
                <a:solidFill>
                  <a:srgbClr val="7030A0"/>
                </a:solidFill>
              </a:rPr>
              <a:t>Primitive</a:t>
            </a:r>
            <a:r>
              <a:rPr lang="en-US" sz="3200" spc="140" dirty="0" smtClean="0">
                <a:solidFill>
                  <a:srgbClr val="7030A0"/>
                </a:solidFill>
              </a:rPr>
              <a:t> </a:t>
            </a:r>
            <a:r>
              <a:rPr lang="en-US" sz="3200" spc="-5" dirty="0" smtClean="0">
                <a:solidFill>
                  <a:srgbClr val="7030A0"/>
                </a:solidFill>
              </a:rPr>
              <a:t>Roots</a:t>
            </a:r>
            <a:endParaRPr lang="en-US" sz="32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9226" y="0"/>
            <a:ext cx="520573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3200" spc="15" dirty="0" smtClean="0">
                <a:solidFill>
                  <a:srgbClr val="7030A0"/>
                </a:solidFill>
              </a:rPr>
              <a:t>Cont…</a:t>
            </a:r>
            <a:endParaRPr sz="3200" spc="15" dirty="0">
              <a:solidFill>
                <a:srgbClr val="7030A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4350" y="962025"/>
            <a:ext cx="11191875" cy="4857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8991600" y="3276600"/>
            <a:ext cx="565174" cy="294842"/>
          </a:xfrm>
          <a:custGeom>
            <a:avLst/>
            <a:gdLst>
              <a:gd name="connsiteX0" fmla="*/ 199859 w 565174"/>
              <a:gd name="connsiteY0" fmla="*/ 84350 h 294842"/>
              <a:gd name="connsiteX1" fmla="*/ 244829 w 565174"/>
              <a:gd name="connsiteY1" fmla="*/ 69360 h 294842"/>
              <a:gd name="connsiteX2" fmla="*/ 364751 w 565174"/>
              <a:gd name="connsiteY2" fmla="*/ 54370 h 294842"/>
              <a:gd name="connsiteX3" fmla="*/ 154889 w 565174"/>
              <a:gd name="connsiteY3" fmla="*/ 69360 h 294842"/>
              <a:gd name="connsiteX4" fmla="*/ 499662 w 565174"/>
              <a:gd name="connsiteY4" fmla="*/ 84350 h 294842"/>
              <a:gd name="connsiteX5" fmla="*/ 454692 w 565174"/>
              <a:gd name="connsiteY5" fmla="*/ 99340 h 294842"/>
              <a:gd name="connsiteX6" fmla="*/ 409721 w 565174"/>
              <a:gd name="connsiteY6" fmla="*/ 129321 h 294842"/>
              <a:gd name="connsiteX7" fmla="*/ 154889 w 565174"/>
              <a:gd name="connsiteY7" fmla="*/ 174291 h 294842"/>
              <a:gd name="connsiteX8" fmla="*/ 439702 w 565174"/>
              <a:gd name="connsiteY8" fmla="*/ 189281 h 294842"/>
              <a:gd name="connsiteX9" fmla="*/ 184869 w 565174"/>
              <a:gd name="connsiteY9" fmla="*/ 174291 h 294842"/>
              <a:gd name="connsiteX10" fmla="*/ 244829 w 565174"/>
              <a:gd name="connsiteY10" fmla="*/ 159301 h 294842"/>
              <a:gd name="connsiteX11" fmla="*/ 289800 w 565174"/>
              <a:gd name="connsiteY11" fmla="*/ 144311 h 294842"/>
              <a:gd name="connsiteX12" fmla="*/ 139898 w 565174"/>
              <a:gd name="connsiteY12" fmla="*/ 159301 h 294842"/>
              <a:gd name="connsiteX13" fmla="*/ 94928 w 565174"/>
              <a:gd name="connsiteY13" fmla="*/ 174291 h 294842"/>
              <a:gd name="connsiteX14" fmla="*/ 319780 w 565174"/>
              <a:gd name="connsiteY14" fmla="*/ 144311 h 294842"/>
              <a:gd name="connsiteX15" fmla="*/ 184869 w 565174"/>
              <a:gd name="connsiteY15" fmla="*/ 144311 h 294842"/>
              <a:gd name="connsiteX16" fmla="*/ 244829 w 565174"/>
              <a:gd name="connsiteY16" fmla="*/ 159301 h 294842"/>
              <a:gd name="connsiteX17" fmla="*/ 289800 w 565174"/>
              <a:gd name="connsiteY17" fmla="*/ 144311 h 294842"/>
              <a:gd name="connsiteX18" fmla="*/ 424711 w 565174"/>
              <a:gd name="connsiteY18" fmla="*/ 114331 h 294842"/>
              <a:gd name="connsiteX19" fmla="*/ 484672 w 565174"/>
              <a:gd name="connsiteY19" fmla="*/ 84350 h 294842"/>
              <a:gd name="connsiteX20" fmla="*/ 334770 w 565174"/>
              <a:gd name="connsiteY20" fmla="*/ 99340 h 294842"/>
              <a:gd name="connsiteX21" fmla="*/ 304790 w 565174"/>
              <a:gd name="connsiteY21" fmla="*/ 144311 h 294842"/>
              <a:gd name="connsiteX22" fmla="*/ 289800 w 565174"/>
              <a:gd name="connsiteY22" fmla="*/ 219262 h 294842"/>
              <a:gd name="connsiteX23" fmla="*/ 199859 w 565174"/>
              <a:gd name="connsiteY23" fmla="*/ 174291 h 294842"/>
              <a:gd name="connsiteX24" fmla="*/ 184869 w 565174"/>
              <a:gd name="connsiteY24" fmla="*/ 219262 h 294842"/>
              <a:gd name="connsiteX25" fmla="*/ 169879 w 565174"/>
              <a:gd name="connsiteY25" fmla="*/ 279222 h 294842"/>
              <a:gd name="connsiteX26" fmla="*/ 139898 w 565174"/>
              <a:gd name="connsiteY26" fmla="*/ 249242 h 294842"/>
              <a:gd name="connsiteX27" fmla="*/ 109918 w 565174"/>
              <a:gd name="connsiteY27" fmla="*/ 204272 h 294842"/>
              <a:gd name="connsiteX28" fmla="*/ 79938 w 565174"/>
              <a:gd name="connsiteY28" fmla="*/ 219262 h 294842"/>
              <a:gd name="connsiteX29" fmla="*/ 49957 w 565174"/>
              <a:gd name="connsiteY29" fmla="*/ 189281 h 294842"/>
              <a:gd name="connsiteX30" fmla="*/ 64948 w 565174"/>
              <a:gd name="connsiteY30" fmla="*/ 129321 h 294842"/>
              <a:gd name="connsiteX31" fmla="*/ 139898 w 565174"/>
              <a:gd name="connsiteY31" fmla="*/ 84350 h 294842"/>
              <a:gd name="connsiteX32" fmla="*/ 184869 w 565174"/>
              <a:gd name="connsiteY32" fmla="*/ 99340 h 294842"/>
              <a:gd name="connsiteX33" fmla="*/ 169879 w 565174"/>
              <a:gd name="connsiteY33" fmla="*/ 144311 h 294842"/>
              <a:gd name="connsiteX34" fmla="*/ 64948 w 565174"/>
              <a:gd name="connsiteY34" fmla="*/ 159301 h 294842"/>
              <a:gd name="connsiteX35" fmla="*/ 319780 w 565174"/>
              <a:gd name="connsiteY35" fmla="*/ 189281 h 294842"/>
              <a:gd name="connsiteX36" fmla="*/ 409721 w 565174"/>
              <a:gd name="connsiteY36" fmla="*/ 159301 h 294842"/>
              <a:gd name="connsiteX37" fmla="*/ 529643 w 565174"/>
              <a:gd name="connsiteY37" fmla="*/ 129321 h 294842"/>
              <a:gd name="connsiteX38" fmla="*/ 514652 w 565174"/>
              <a:gd name="connsiteY38" fmla="*/ 189281 h 294842"/>
              <a:gd name="connsiteX39" fmla="*/ 484672 w 565174"/>
              <a:gd name="connsiteY39" fmla="*/ 144311 h 294842"/>
              <a:gd name="connsiteX40" fmla="*/ 334770 w 565174"/>
              <a:gd name="connsiteY40" fmla="*/ 129321 h 294842"/>
              <a:gd name="connsiteX41" fmla="*/ 454692 w 565174"/>
              <a:gd name="connsiteY41" fmla="*/ 114331 h 294842"/>
              <a:gd name="connsiteX42" fmla="*/ 499662 w 565174"/>
              <a:gd name="connsiteY42" fmla="*/ 99340 h 294842"/>
              <a:gd name="connsiteX43" fmla="*/ 229839 w 565174"/>
              <a:gd name="connsiteY43" fmla="*/ 114331 h 294842"/>
              <a:gd name="connsiteX44" fmla="*/ 169879 w 565174"/>
              <a:gd name="connsiteY44" fmla="*/ 129321 h 294842"/>
              <a:gd name="connsiteX45" fmla="*/ 214849 w 565174"/>
              <a:gd name="connsiteY45" fmla="*/ 159301 h 294842"/>
              <a:gd name="connsiteX46" fmla="*/ 424711 w 565174"/>
              <a:gd name="connsiteY46" fmla="*/ 144311 h 294842"/>
              <a:gd name="connsiteX47" fmla="*/ 379741 w 565174"/>
              <a:gd name="connsiteY47" fmla="*/ 129321 h 294842"/>
              <a:gd name="connsiteX48" fmla="*/ 199859 w 565174"/>
              <a:gd name="connsiteY48" fmla="*/ 114331 h 294842"/>
              <a:gd name="connsiteX49" fmla="*/ 169879 w 565174"/>
              <a:gd name="connsiteY49" fmla="*/ 84350 h 294842"/>
              <a:gd name="connsiteX50" fmla="*/ 124908 w 565174"/>
              <a:gd name="connsiteY50" fmla="*/ 69360 h 294842"/>
              <a:gd name="connsiteX51" fmla="*/ 79938 w 565174"/>
              <a:gd name="connsiteY51" fmla="*/ 174291 h 294842"/>
              <a:gd name="connsiteX52" fmla="*/ 49957 w 565174"/>
              <a:gd name="connsiteY52" fmla="*/ 144311 h 294842"/>
              <a:gd name="connsiteX53" fmla="*/ 109918 w 565174"/>
              <a:gd name="connsiteY53" fmla="*/ 159301 h 294842"/>
              <a:gd name="connsiteX54" fmla="*/ 94928 w 565174"/>
              <a:gd name="connsiteY54" fmla="*/ 99340 h 294842"/>
              <a:gd name="connsiteX55" fmla="*/ 49957 w 565174"/>
              <a:gd name="connsiteY55" fmla="*/ 219262 h 294842"/>
              <a:gd name="connsiteX56" fmla="*/ 79938 w 565174"/>
              <a:gd name="connsiteY56" fmla="*/ 129321 h 294842"/>
              <a:gd name="connsiteX57" fmla="*/ 109918 w 565174"/>
              <a:gd name="connsiteY57" fmla="*/ 174291 h 294842"/>
              <a:gd name="connsiteX58" fmla="*/ 124908 w 565174"/>
              <a:gd name="connsiteY58" fmla="*/ 234252 h 294842"/>
              <a:gd name="connsiteX59" fmla="*/ 139898 w 565174"/>
              <a:gd name="connsiteY59" fmla="*/ 279222 h 294842"/>
              <a:gd name="connsiteX60" fmla="*/ 304790 w 565174"/>
              <a:gd name="connsiteY60" fmla="*/ 234252 h 294842"/>
              <a:gd name="connsiteX61" fmla="*/ 544633 w 565174"/>
              <a:gd name="connsiteY61" fmla="*/ 219262 h 294842"/>
              <a:gd name="connsiteX62" fmla="*/ 499662 w 565174"/>
              <a:gd name="connsiteY62" fmla="*/ 189281 h 294842"/>
              <a:gd name="connsiteX63" fmla="*/ 49957 w 565174"/>
              <a:gd name="connsiteY63" fmla="*/ 219262 h 294842"/>
              <a:gd name="connsiteX64" fmla="*/ 544633 w 565174"/>
              <a:gd name="connsiteY64" fmla="*/ 249242 h 294842"/>
              <a:gd name="connsiteX65" fmla="*/ 484672 w 565174"/>
              <a:gd name="connsiteY65" fmla="*/ 264232 h 294842"/>
              <a:gd name="connsiteX66" fmla="*/ 439702 w 565174"/>
              <a:gd name="connsiteY66" fmla="*/ 279222 h 294842"/>
              <a:gd name="connsiteX67" fmla="*/ 499662 w 565174"/>
              <a:gd name="connsiteY67" fmla="*/ 264232 h 294842"/>
              <a:gd name="connsiteX68" fmla="*/ 349761 w 565174"/>
              <a:gd name="connsiteY68" fmla="*/ 234252 h 294842"/>
              <a:gd name="connsiteX69" fmla="*/ 409721 w 565174"/>
              <a:gd name="connsiteY69" fmla="*/ 204272 h 294842"/>
              <a:gd name="connsiteX70" fmla="*/ 319780 w 565174"/>
              <a:gd name="connsiteY70" fmla="*/ 189281 h 294842"/>
              <a:gd name="connsiteX71" fmla="*/ 274810 w 565174"/>
              <a:gd name="connsiteY71" fmla="*/ 174291 h 294842"/>
              <a:gd name="connsiteX72" fmla="*/ 169879 w 565174"/>
              <a:gd name="connsiteY72" fmla="*/ 144311 h 294842"/>
              <a:gd name="connsiteX73" fmla="*/ 199859 w 565174"/>
              <a:gd name="connsiteY73" fmla="*/ 99340 h 294842"/>
              <a:gd name="connsiteX74" fmla="*/ 304790 w 565174"/>
              <a:gd name="connsiteY74" fmla="*/ 69360 h 294842"/>
              <a:gd name="connsiteX75" fmla="*/ 349761 w 565174"/>
              <a:gd name="connsiteY75" fmla="*/ 54370 h 294842"/>
              <a:gd name="connsiteX76" fmla="*/ 409721 w 565174"/>
              <a:gd name="connsiteY76" fmla="*/ 39380 h 294842"/>
              <a:gd name="connsiteX77" fmla="*/ 319780 w 565174"/>
              <a:gd name="connsiteY77" fmla="*/ 69360 h 294842"/>
              <a:gd name="connsiteX78" fmla="*/ 499662 w 565174"/>
              <a:gd name="connsiteY78" fmla="*/ 84350 h 29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565174" h="294842">
                <a:moveTo>
                  <a:pt x="199859" y="84350"/>
                </a:moveTo>
                <a:cubicBezTo>
                  <a:pt x="214849" y="79353"/>
                  <a:pt x="229283" y="72187"/>
                  <a:pt x="244829" y="69360"/>
                </a:cubicBezTo>
                <a:cubicBezTo>
                  <a:pt x="284464" y="62154"/>
                  <a:pt x="405036" y="54370"/>
                  <a:pt x="364751" y="54370"/>
                </a:cubicBezTo>
                <a:cubicBezTo>
                  <a:pt x="294619" y="54370"/>
                  <a:pt x="224843" y="64363"/>
                  <a:pt x="154889" y="69360"/>
                </a:cubicBezTo>
                <a:cubicBezTo>
                  <a:pt x="269813" y="74357"/>
                  <a:pt x="385200" y="72904"/>
                  <a:pt x="499662" y="84350"/>
                </a:cubicBezTo>
                <a:cubicBezTo>
                  <a:pt x="515384" y="85922"/>
                  <a:pt x="468825" y="92274"/>
                  <a:pt x="454692" y="99340"/>
                </a:cubicBezTo>
                <a:cubicBezTo>
                  <a:pt x="438578" y="107397"/>
                  <a:pt x="426184" y="122004"/>
                  <a:pt x="409721" y="129321"/>
                </a:cubicBezTo>
                <a:cubicBezTo>
                  <a:pt x="312146" y="172688"/>
                  <a:pt x="273145" y="163541"/>
                  <a:pt x="154889" y="174291"/>
                </a:cubicBezTo>
                <a:cubicBezTo>
                  <a:pt x="249827" y="179288"/>
                  <a:pt x="344633" y="189281"/>
                  <a:pt x="439702" y="189281"/>
                </a:cubicBezTo>
                <a:cubicBezTo>
                  <a:pt x="524793" y="189281"/>
                  <a:pt x="268971" y="187230"/>
                  <a:pt x="184869" y="174291"/>
                </a:cubicBezTo>
                <a:cubicBezTo>
                  <a:pt x="164507" y="171158"/>
                  <a:pt x="225020" y="164961"/>
                  <a:pt x="244829" y="159301"/>
                </a:cubicBezTo>
                <a:cubicBezTo>
                  <a:pt x="260022" y="154960"/>
                  <a:pt x="305601" y="144311"/>
                  <a:pt x="289800" y="144311"/>
                </a:cubicBezTo>
                <a:cubicBezTo>
                  <a:pt x="239583" y="144311"/>
                  <a:pt x="189865" y="154304"/>
                  <a:pt x="139898" y="159301"/>
                </a:cubicBezTo>
                <a:cubicBezTo>
                  <a:pt x="124908" y="164298"/>
                  <a:pt x="79127" y="174291"/>
                  <a:pt x="94928" y="174291"/>
                </a:cubicBezTo>
                <a:cubicBezTo>
                  <a:pt x="110086" y="174291"/>
                  <a:pt x="297602" y="148007"/>
                  <a:pt x="319780" y="144311"/>
                </a:cubicBezTo>
                <a:cubicBezTo>
                  <a:pt x="513803" y="111974"/>
                  <a:pt x="281683" y="137396"/>
                  <a:pt x="184869" y="144311"/>
                </a:cubicBezTo>
                <a:cubicBezTo>
                  <a:pt x="204856" y="149308"/>
                  <a:pt x="224227" y="159301"/>
                  <a:pt x="244829" y="159301"/>
                </a:cubicBezTo>
                <a:cubicBezTo>
                  <a:pt x="260630" y="159301"/>
                  <a:pt x="274607" y="148652"/>
                  <a:pt x="289800" y="144311"/>
                </a:cubicBezTo>
                <a:cubicBezTo>
                  <a:pt x="339195" y="130198"/>
                  <a:pt x="373193" y="124635"/>
                  <a:pt x="424711" y="114331"/>
                </a:cubicBezTo>
                <a:cubicBezTo>
                  <a:pt x="444698" y="104337"/>
                  <a:pt x="506714" y="88024"/>
                  <a:pt x="484672" y="84350"/>
                </a:cubicBezTo>
                <a:cubicBezTo>
                  <a:pt x="435139" y="76094"/>
                  <a:pt x="382410" y="83460"/>
                  <a:pt x="334770" y="99340"/>
                </a:cubicBezTo>
                <a:cubicBezTo>
                  <a:pt x="317679" y="105037"/>
                  <a:pt x="314783" y="129321"/>
                  <a:pt x="304790" y="144311"/>
                </a:cubicBezTo>
                <a:cubicBezTo>
                  <a:pt x="299793" y="169295"/>
                  <a:pt x="309695" y="203346"/>
                  <a:pt x="289800" y="219262"/>
                </a:cubicBezTo>
                <a:cubicBezTo>
                  <a:pt x="259102" y="243820"/>
                  <a:pt x="214926" y="189359"/>
                  <a:pt x="199859" y="174291"/>
                </a:cubicBezTo>
                <a:cubicBezTo>
                  <a:pt x="194862" y="189281"/>
                  <a:pt x="189210" y="204069"/>
                  <a:pt x="184869" y="219262"/>
                </a:cubicBezTo>
                <a:cubicBezTo>
                  <a:pt x="179209" y="239071"/>
                  <a:pt x="187021" y="267794"/>
                  <a:pt x="169879" y="279222"/>
                </a:cubicBezTo>
                <a:cubicBezTo>
                  <a:pt x="158120" y="287061"/>
                  <a:pt x="148727" y="260278"/>
                  <a:pt x="139898" y="249242"/>
                </a:cubicBezTo>
                <a:cubicBezTo>
                  <a:pt x="128644" y="235174"/>
                  <a:pt x="119911" y="219262"/>
                  <a:pt x="109918" y="204272"/>
                </a:cubicBezTo>
                <a:cubicBezTo>
                  <a:pt x="75289" y="100384"/>
                  <a:pt x="115872" y="195307"/>
                  <a:pt x="79938" y="219262"/>
                </a:cubicBezTo>
                <a:cubicBezTo>
                  <a:pt x="68178" y="227102"/>
                  <a:pt x="59951" y="199275"/>
                  <a:pt x="49957" y="189281"/>
                </a:cubicBezTo>
                <a:lnTo>
                  <a:pt x="64948" y="129321"/>
                </a:lnTo>
                <a:cubicBezTo>
                  <a:pt x="88696" y="105572"/>
                  <a:pt x="100979" y="84350"/>
                  <a:pt x="139898" y="84350"/>
                </a:cubicBezTo>
                <a:cubicBezTo>
                  <a:pt x="155699" y="84350"/>
                  <a:pt x="169879" y="94343"/>
                  <a:pt x="184869" y="99340"/>
                </a:cubicBezTo>
                <a:cubicBezTo>
                  <a:pt x="179872" y="114330"/>
                  <a:pt x="184012" y="137244"/>
                  <a:pt x="169879" y="144311"/>
                </a:cubicBezTo>
                <a:cubicBezTo>
                  <a:pt x="138277" y="160112"/>
                  <a:pt x="31106" y="149148"/>
                  <a:pt x="64948" y="159301"/>
                </a:cubicBezTo>
                <a:cubicBezTo>
                  <a:pt x="146871" y="183878"/>
                  <a:pt x="234836" y="179288"/>
                  <a:pt x="319780" y="189281"/>
                </a:cubicBezTo>
                <a:cubicBezTo>
                  <a:pt x="349760" y="179288"/>
                  <a:pt x="379063" y="166965"/>
                  <a:pt x="409721" y="159301"/>
                </a:cubicBezTo>
                <a:lnTo>
                  <a:pt x="529643" y="129321"/>
                </a:lnTo>
                <a:cubicBezTo>
                  <a:pt x="524646" y="149308"/>
                  <a:pt x="534197" y="182766"/>
                  <a:pt x="514652" y="189281"/>
                </a:cubicBezTo>
                <a:cubicBezTo>
                  <a:pt x="497561" y="194978"/>
                  <a:pt x="501763" y="150008"/>
                  <a:pt x="484672" y="144311"/>
                </a:cubicBezTo>
                <a:cubicBezTo>
                  <a:pt x="437032" y="128431"/>
                  <a:pt x="384737" y="134318"/>
                  <a:pt x="334770" y="129321"/>
                </a:cubicBezTo>
                <a:cubicBezTo>
                  <a:pt x="374744" y="124324"/>
                  <a:pt x="415057" y="121538"/>
                  <a:pt x="454692" y="114331"/>
                </a:cubicBezTo>
                <a:cubicBezTo>
                  <a:pt x="470238" y="111504"/>
                  <a:pt x="515463" y="99340"/>
                  <a:pt x="499662" y="99340"/>
                </a:cubicBezTo>
                <a:cubicBezTo>
                  <a:pt x="409582" y="99340"/>
                  <a:pt x="319780" y="109334"/>
                  <a:pt x="229839" y="114331"/>
                </a:cubicBezTo>
                <a:cubicBezTo>
                  <a:pt x="209852" y="119328"/>
                  <a:pt x="176394" y="109776"/>
                  <a:pt x="169879" y="129321"/>
                </a:cubicBezTo>
                <a:cubicBezTo>
                  <a:pt x="164182" y="146412"/>
                  <a:pt x="196864" y="158243"/>
                  <a:pt x="214849" y="159301"/>
                </a:cubicBezTo>
                <a:cubicBezTo>
                  <a:pt x="284860" y="163419"/>
                  <a:pt x="354757" y="149308"/>
                  <a:pt x="424711" y="144311"/>
                </a:cubicBezTo>
                <a:cubicBezTo>
                  <a:pt x="409721" y="139314"/>
                  <a:pt x="395403" y="131409"/>
                  <a:pt x="379741" y="129321"/>
                </a:cubicBezTo>
                <a:cubicBezTo>
                  <a:pt x="320100" y="121369"/>
                  <a:pt x="258692" y="126938"/>
                  <a:pt x="199859" y="114331"/>
                </a:cubicBezTo>
                <a:cubicBezTo>
                  <a:pt x="186040" y="111370"/>
                  <a:pt x="181998" y="91621"/>
                  <a:pt x="169879" y="84350"/>
                </a:cubicBezTo>
                <a:cubicBezTo>
                  <a:pt x="156330" y="76220"/>
                  <a:pt x="139898" y="74357"/>
                  <a:pt x="124908" y="69360"/>
                </a:cubicBezTo>
                <a:cubicBezTo>
                  <a:pt x="118569" y="88377"/>
                  <a:pt x="94757" y="166882"/>
                  <a:pt x="79938" y="174291"/>
                </a:cubicBezTo>
                <a:cubicBezTo>
                  <a:pt x="67297" y="180611"/>
                  <a:pt x="37316" y="150631"/>
                  <a:pt x="49957" y="144311"/>
                </a:cubicBezTo>
                <a:cubicBezTo>
                  <a:pt x="68384" y="135097"/>
                  <a:pt x="89931" y="154304"/>
                  <a:pt x="109918" y="159301"/>
                </a:cubicBezTo>
                <a:cubicBezTo>
                  <a:pt x="104921" y="139314"/>
                  <a:pt x="115530" y="99340"/>
                  <a:pt x="94928" y="99340"/>
                </a:cubicBezTo>
                <a:cubicBezTo>
                  <a:pt x="75333" y="99340"/>
                  <a:pt x="52299" y="209893"/>
                  <a:pt x="49957" y="219262"/>
                </a:cubicBezTo>
                <a:cubicBezTo>
                  <a:pt x="74321" y="0"/>
                  <a:pt x="47976" y="65396"/>
                  <a:pt x="79938" y="129321"/>
                </a:cubicBezTo>
                <a:cubicBezTo>
                  <a:pt x="87995" y="145435"/>
                  <a:pt x="99925" y="159301"/>
                  <a:pt x="109918" y="174291"/>
                </a:cubicBezTo>
                <a:cubicBezTo>
                  <a:pt x="114915" y="194278"/>
                  <a:pt x="119248" y="214443"/>
                  <a:pt x="124908" y="234252"/>
                </a:cubicBezTo>
                <a:cubicBezTo>
                  <a:pt x="129249" y="249445"/>
                  <a:pt x="124194" y="277477"/>
                  <a:pt x="139898" y="279222"/>
                </a:cubicBezTo>
                <a:cubicBezTo>
                  <a:pt x="280484" y="294842"/>
                  <a:pt x="218684" y="243316"/>
                  <a:pt x="304790" y="234252"/>
                </a:cubicBezTo>
                <a:cubicBezTo>
                  <a:pt x="384454" y="225866"/>
                  <a:pt x="464685" y="224259"/>
                  <a:pt x="544633" y="219262"/>
                </a:cubicBezTo>
                <a:cubicBezTo>
                  <a:pt x="529643" y="209268"/>
                  <a:pt x="517665" y="189973"/>
                  <a:pt x="499662" y="189281"/>
                </a:cubicBezTo>
                <a:cubicBezTo>
                  <a:pt x="291356" y="181269"/>
                  <a:pt x="216008" y="195541"/>
                  <a:pt x="49957" y="219262"/>
                </a:cubicBezTo>
                <a:cubicBezTo>
                  <a:pt x="245554" y="284459"/>
                  <a:pt x="0" y="207348"/>
                  <a:pt x="544633" y="249242"/>
                </a:cubicBezTo>
                <a:cubicBezTo>
                  <a:pt x="565174" y="250822"/>
                  <a:pt x="504481" y="258572"/>
                  <a:pt x="484672" y="264232"/>
                </a:cubicBezTo>
                <a:cubicBezTo>
                  <a:pt x="469479" y="268573"/>
                  <a:pt x="423901" y="279222"/>
                  <a:pt x="439702" y="279222"/>
                </a:cubicBezTo>
                <a:cubicBezTo>
                  <a:pt x="460304" y="279222"/>
                  <a:pt x="479675" y="269229"/>
                  <a:pt x="499662" y="264232"/>
                </a:cubicBezTo>
                <a:cubicBezTo>
                  <a:pt x="206086" y="241649"/>
                  <a:pt x="263102" y="271391"/>
                  <a:pt x="349761" y="234252"/>
                </a:cubicBezTo>
                <a:cubicBezTo>
                  <a:pt x="370300" y="225450"/>
                  <a:pt x="389734" y="214265"/>
                  <a:pt x="409721" y="204272"/>
                </a:cubicBezTo>
                <a:cubicBezTo>
                  <a:pt x="379741" y="199275"/>
                  <a:pt x="349450" y="195875"/>
                  <a:pt x="319780" y="189281"/>
                </a:cubicBezTo>
                <a:cubicBezTo>
                  <a:pt x="304355" y="185853"/>
                  <a:pt x="290003" y="178632"/>
                  <a:pt x="274810" y="174291"/>
                </a:cubicBezTo>
                <a:cubicBezTo>
                  <a:pt x="143053" y="136647"/>
                  <a:pt x="277701" y="180252"/>
                  <a:pt x="169879" y="144311"/>
                </a:cubicBezTo>
                <a:cubicBezTo>
                  <a:pt x="179872" y="129321"/>
                  <a:pt x="185791" y="110595"/>
                  <a:pt x="199859" y="99340"/>
                </a:cubicBezTo>
                <a:cubicBezTo>
                  <a:pt x="209843" y="91353"/>
                  <a:pt x="300601" y="70557"/>
                  <a:pt x="304790" y="69360"/>
                </a:cubicBezTo>
                <a:cubicBezTo>
                  <a:pt x="319983" y="65019"/>
                  <a:pt x="334568" y="58711"/>
                  <a:pt x="349761" y="54370"/>
                </a:cubicBezTo>
                <a:cubicBezTo>
                  <a:pt x="369570" y="48710"/>
                  <a:pt x="428148" y="30167"/>
                  <a:pt x="409721" y="39380"/>
                </a:cubicBezTo>
                <a:cubicBezTo>
                  <a:pt x="381455" y="53512"/>
                  <a:pt x="319780" y="69360"/>
                  <a:pt x="319780" y="69360"/>
                </a:cubicBezTo>
                <a:cubicBezTo>
                  <a:pt x="407414" y="98571"/>
                  <a:pt x="348950" y="84350"/>
                  <a:pt x="499662" y="8435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</TotalTime>
  <Words>177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Carlito</vt:lpstr>
      <vt:lpstr>Times New Roman</vt:lpstr>
      <vt:lpstr>Wingdings</vt:lpstr>
      <vt:lpstr>Office Theme</vt:lpstr>
      <vt:lpstr>PowerPoint Presentation</vt:lpstr>
      <vt:lpstr>Discrete logarithms</vt:lpstr>
      <vt:lpstr>Cont…</vt:lpstr>
      <vt:lpstr>Cont…</vt:lpstr>
      <vt:lpstr>Primitive Roots</vt:lpstr>
      <vt:lpstr>Cont…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CSE4003 – MODULE 1</dc:title>
  <dc:creator>sowmiya</dc:creator>
  <cp:lastModifiedBy>ILAYARAJA</cp:lastModifiedBy>
  <cp:revision>13</cp:revision>
  <dcterms:created xsi:type="dcterms:W3CDTF">2022-07-18T10:54:20Z</dcterms:created>
  <dcterms:modified xsi:type="dcterms:W3CDTF">2024-01-29T15:44:23Z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2022-07-18T00:00:00Z</vt:filetime>
  </property>
</Properties>
</file>