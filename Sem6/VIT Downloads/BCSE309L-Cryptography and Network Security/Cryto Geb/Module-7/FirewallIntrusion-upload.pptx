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57" r:id="rId2"/>
    <p:sldId id="258" r:id="rId3"/>
    <p:sldId id="259" r:id="rId4"/>
    <p:sldId id="260" r:id="rId5"/>
    <p:sldId id="261" r:id="rId6"/>
    <p:sldId id="262" r:id="rId7"/>
    <p:sldId id="269" r:id="rId8"/>
    <p:sldId id="270" r:id="rId9"/>
    <p:sldId id="271" r:id="rId10"/>
    <p:sldId id="272" r:id="rId11"/>
    <p:sldId id="273" r:id="rId12"/>
    <p:sldId id="274" r:id="rId13"/>
    <p:sldId id="275" r:id="rId14"/>
    <p:sldId id="277" r:id="rId15"/>
    <p:sldId id="278" r:id="rId16"/>
    <p:sldId id="280" r:id="rId17"/>
    <p:sldId id="282" r:id="rId18"/>
    <p:sldId id="281" r:id="rId19"/>
    <p:sldId id="283" r:id="rId20"/>
    <p:sldId id="285" r:id="rId21"/>
    <p:sldId id="284" r:id="rId22"/>
    <p:sldId id="286" r:id="rId23"/>
    <p:sldId id="287" r:id="rId24"/>
    <p:sldId id="288" r:id="rId25"/>
    <p:sldId id="289" r:id="rId26"/>
    <p:sldId id="290" r:id="rId27"/>
    <p:sldId id="291" r:id="rId28"/>
    <p:sldId id="292" r:id="rId29"/>
    <p:sldId id="293" r:id="rId30"/>
    <p:sldId id="343" r:id="rId31"/>
    <p:sldId id="344" r:id="rId32"/>
    <p:sldId id="345" r:id="rId33"/>
    <p:sldId id="346" r:id="rId34"/>
    <p:sldId id="347" r:id="rId35"/>
    <p:sldId id="348" r:id="rId36"/>
    <p:sldId id="349" r:id="rId37"/>
    <p:sldId id="350" r:id="rId38"/>
    <p:sldId id="351" r:id="rId39"/>
    <p:sldId id="352" r:id="rId40"/>
    <p:sldId id="353" r:id="rId41"/>
    <p:sldId id="354" r:id="rId42"/>
    <p:sldId id="355" r:id="rId43"/>
    <p:sldId id="356" r:id="rId44"/>
    <p:sldId id="357" r:id="rId45"/>
    <p:sldId id="358" r:id="rId46"/>
    <p:sldId id="311" r:id="rId47"/>
    <p:sldId id="295" r:id="rId48"/>
    <p:sldId id="296" r:id="rId49"/>
    <p:sldId id="297" r:id="rId50"/>
    <p:sldId id="299" r:id="rId51"/>
    <p:sldId id="298" r:id="rId52"/>
    <p:sldId id="301" r:id="rId53"/>
    <p:sldId id="300" r:id="rId54"/>
    <p:sldId id="302" r:id="rId55"/>
    <p:sldId id="303" r:id="rId56"/>
    <p:sldId id="306" r:id="rId57"/>
    <p:sldId id="305" r:id="rId58"/>
    <p:sldId id="304" r:id="rId59"/>
    <p:sldId id="312" r:id="rId60"/>
    <p:sldId id="313" r:id="rId61"/>
    <p:sldId id="314" r:id="rId62"/>
    <p:sldId id="315" r:id="rId63"/>
    <p:sldId id="316" r:id="rId64"/>
    <p:sldId id="317" r:id="rId65"/>
    <p:sldId id="318" r:id="rId66"/>
    <p:sldId id="321" r:id="rId67"/>
    <p:sldId id="322" r:id="rId68"/>
    <p:sldId id="323" r:id="rId69"/>
    <p:sldId id="324" r:id="rId70"/>
    <p:sldId id="325" r:id="rId71"/>
    <p:sldId id="326" r:id="rId72"/>
    <p:sldId id="327"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49" d="100"/>
          <a:sy n="49" d="100"/>
        </p:scale>
        <p:origin x="54" y="30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7E6AC0-D3B8-4209-A3E5-029321576E68}" type="datetimeFigureOut">
              <a:rPr lang="en-IN" smtClean="0"/>
              <a:t>26-04-2025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ED4FA9-F1AF-4B84-A4D5-D1F477862820}" type="slidenum">
              <a:rPr lang="en-IN" smtClean="0"/>
              <a:t>‹#›</a:t>
            </a:fld>
            <a:endParaRPr lang="en-IN" dirty="0"/>
          </a:p>
        </p:txBody>
      </p:sp>
    </p:spTree>
    <p:extLst>
      <p:ext uri="{BB962C8B-B14F-4D97-AF65-F5344CB8AC3E}">
        <p14:creationId xmlns:p14="http://schemas.microsoft.com/office/powerpoint/2010/main" val="228610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DB2E25-84C8-3765-427C-F3098BBEA5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D861E32C-8001-1A60-8BBF-0F70CF3C26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A4C9F203-11FC-7806-E54E-7437FDE0FABF}"/>
              </a:ext>
            </a:extLst>
          </p:cNvPr>
          <p:cNvSpPr>
            <a:spLocks noGrp="1"/>
          </p:cNvSpPr>
          <p:nvPr>
            <p:ph type="dt" sz="half" idx="10"/>
          </p:nvPr>
        </p:nvSpPr>
        <p:spPr/>
        <p:txBody>
          <a:bodyPr/>
          <a:lstStyle/>
          <a:p>
            <a:fld id="{CB98363D-169A-4140-BB68-72CE0E1CF8E9}" type="datetime1">
              <a:rPr lang="en-IN" smtClean="0"/>
              <a:t>26-04-2025</a:t>
            </a:fld>
            <a:endParaRPr lang="en-IN" dirty="0"/>
          </a:p>
        </p:txBody>
      </p:sp>
      <p:sp>
        <p:nvSpPr>
          <p:cNvPr id="5" name="Footer Placeholder 4">
            <a:extLst>
              <a:ext uri="{FF2B5EF4-FFF2-40B4-BE49-F238E27FC236}">
                <a16:creationId xmlns:a16="http://schemas.microsoft.com/office/drawing/2014/main" xmlns="" id="{BB1A9CF7-C432-CEC6-F9AA-62F3C66642A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CF99A883-7C89-03B0-2D34-AB57345E7065}"/>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57916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1030B2-53B8-16B3-C03B-7AAA68E47D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4A7D06B-F5AA-AAAC-47E6-F21C410094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1036533-62C3-CC2B-A903-33CA8DF83BCB}"/>
              </a:ext>
            </a:extLst>
          </p:cNvPr>
          <p:cNvSpPr>
            <a:spLocks noGrp="1"/>
          </p:cNvSpPr>
          <p:nvPr>
            <p:ph type="dt" sz="half" idx="10"/>
          </p:nvPr>
        </p:nvSpPr>
        <p:spPr/>
        <p:txBody>
          <a:bodyPr/>
          <a:lstStyle/>
          <a:p>
            <a:fld id="{714090FE-EEF7-411D-837E-BFA372AD18BA}" type="datetime1">
              <a:rPr lang="en-IN" smtClean="0"/>
              <a:t>26-04-2025</a:t>
            </a:fld>
            <a:endParaRPr lang="en-IN" dirty="0"/>
          </a:p>
        </p:txBody>
      </p:sp>
      <p:sp>
        <p:nvSpPr>
          <p:cNvPr id="5" name="Footer Placeholder 4">
            <a:extLst>
              <a:ext uri="{FF2B5EF4-FFF2-40B4-BE49-F238E27FC236}">
                <a16:creationId xmlns:a16="http://schemas.microsoft.com/office/drawing/2014/main" xmlns="" id="{1A3FAF9F-51A1-6EE4-B805-C66E0293DB3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3CD19729-83A1-5C68-A219-2816F68A75FE}"/>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1900692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430A33-11B8-E3C7-F087-2FD4A52D8A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267B5B4-788C-4992-77C4-9D3BE6A8DF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A8C969D-A2E6-F26F-B995-8E92E622BB72}"/>
              </a:ext>
            </a:extLst>
          </p:cNvPr>
          <p:cNvSpPr>
            <a:spLocks noGrp="1"/>
          </p:cNvSpPr>
          <p:nvPr>
            <p:ph type="dt" sz="half" idx="10"/>
          </p:nvPr>
        </p:nvSpPr>
        <p:spPr/>
        <p:txBody>
          <a:bodyPr/>
          <a:lstStyle/>
          <a:p>
            <a:fld id="{87242B38-2BDC-4794-89FE-BB6603168755}" type="datetime1">
              <a:rPr lang="en-IN" smtClean="0"/>
              <a:t>26-04-2025</a:t>
            </a:fld>
            <a:endParaRPr lang="en-IN" dirty="0"/>
          </a:p>
        </p:txBody>
      </p:sp>
      <p:sp>
        <p:nvSpPr>
          <p:cNvPr id="5" name="Footer Placeholder 4">
            <a:extLst>
              <a:ext uri="{FF2B5EF4-FFF2-40B4-BE49-F238E27FC236}">
                <a16:creationId xmlns:a16="http://schemas.microsoft.com/office/drawing/2014/main" xmlns="" id="{8EBE46E0-E335-C5DC-D336-F74EA2E6A3E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F7DC0234-61DE-1DAD-2D7D-059BF8A91696}"/>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1800950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D6A8EE-FDEA-D5A3-ED0A-95FDA9A8B9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A5BA9E8A-2028-EE20-2648-2F56A301F5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F9AE1F82-451E-D946-C4CD-95F3F95E7C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DC38C4A0-81F5-E8E5-0DEC-6B2D95F7C6F2}"/>
              </a:ext>
            </a:extLst>
          </p:cNvPr>
          <p:cNvSpPr>
            <a:spLocks noGrp="1"/>
          </p:cNvSpPr>
          <p:nvPr>
            <p:ph type="dt" sz="half" idx="10"/>
          </p:nvPr>
        </p:nvSpPr>
        <p:spPr/>
        <p:txBody>
          <a:bodyPr/>
          <a:lstStyle/>
          <a:p>
            <a:fld id="{AFEF9FC0-E313-4F8D-9AD2-25C35111FBE6}" type="datetime1">
              <a:rPr lang="en-IN" smtClean="0"/>
              <a:t>26-04-2025</a:t>
            </a:fld>
            <a:endParaRPr lang="en-IN" dirty="0"/>
          </a:p>
        </p:txBody>
      </p:sp>
      <p:sp>
        <p:nvSpPr>
          <p:cNvPr id="6" name="Footer Placeholder 5">
            <a:extLst>
              <a:ext uri="{FF2B5EF4-FFF2-40B4-BE49-F238E27FC236}">
                <a16:creationId xmlns:a16="http://schemas.microsoft.com/office/drawing/2014/main" xmlns="" id="{AD7A1110-6EA9-7827-6495-2456A6C30A4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951ADD1D-1B63-14C0-F594-7E1C7FD4F2D5}"/>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1277894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D0CA19-6FAE-34EF-CCC7-092012A359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27897FC-9F70-5048-ED0F-11946DEDF8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BA21C94-21EA-4CE5-946E-3A78091639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902DB0DC-8047-40D4-0D67-A96D8C8C86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56083BD-7DA5-AA33-3FF2-B5550D4452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74B8D71-D058-DB26-1A0D-AC77415352AF}"/>
              </a:ext>
            </a:extLst>
          </p:cNvPr>
          <p:cNvSpPr>
            <a:spLocks noGrp="1"/>
          </p:cNvSpPr>
          <p:nvPr>
            <p:ph type="dt" sz="half" idx="10"/>
          </p:nvPr>
        </p:nvSpPr>
        <p:spPr/>
        <p:txBody>
          <a:bodyPr/>
          <a:lstStyle/>
          <a:p>
            <a:fld id="{497C2FA2-D1DD-4825-AA3D-61B93BB1EB8A}" type="datetime1">
              <a:rPr lang="en-IN" smtClean="0"/>
              <a:t>26-04-2025</a:t>
            </a:fld>
            <a:endParaRPr lang="en-IN" dirty="0"/>
          </a:p>
        </p:txBody>
      </p:sp>
      <p:sp>
        <p:nvSpPr>
          <p:cNvPr id="8" name="Footer Placeholder 7">
            <a:extLst>
              <a:ext uri="{FF2B5EF4-FFF2-40B4-BE49-F238E27FC236}">
                <a16:creationId xmlns:a16="http://schemas.microsoft.com/office/drawing/2014/main" xmlns="" id="{2311525D-8322-CFF8-AAE9-6942197C655C}"/>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xmlns="" id="{D4D5C1BC-BA6A-990B-7C30-D2DD912037BB}"/>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2298213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BAB47A-78EE-10E6-D439-57EC02B2C0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E4BDF8A6-8EA1-52A7-0967-C54D925191FD}"/>
              </a:ext>
            </a:extLst>
          </p:cNvPr>
          <p:cNvSpPr>
            <a:spLocks noGrp="1"/>
          </p:cNvSpPr>
          <p:nvPr>
            <p:ph type="dt" sz="half" idx="10"/>
          </p:nvPr>
        </p:nvSpPr>
        <p:spPr/>
        <p:txBody>
          <a:bodyPr/>
          <a:lstStyle/>
          <a:p>
            <a:fld id="{69B70024-851C-48C2-8829-EEFDBA5E33E2}" type="datetime1">
              <a:rPr lang="en-IN" smtClean="0"/>
              <a:t>26-04-2025</a:t>
            </a:fld>
            <a:endParaRPr lang="en-IN" dirty="0"/>
          </a:p>
        </p:txBody>
      </p:sp>
      <p:sp>
        <p:nvSpPr>
          <p:cNvPr id="4" name="Footer Placeholder 3">
            <a:extLst>
              <a:ext uri="{FF2B5EF4-FFF2-40B4-BE49-F238E27FC236}">
                <a16:creationId xmlns:a16="http://schemas.microsoft.com/office/drawing/2014/main" xmlns="" id="{E6D9DEDD-F76A-1A72-2B36-214D4E73ED51}"/>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xmlns="" id="{8EA9E8B1-EC5B-C735-CD2D-E0CEA436C8CB}"/>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3786760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89E9CC0-8AF5-16BE-327A-78282D9C95A5}"/>
              </a:ext>
            </a:extLst>
          </p:cNvPr>
          <p:cNvSpPr>
            <a:spLocks noGrp="1"/>
          </p:cNvSpPr>
          <p:nvPr>
            <p:ph type="dt" sz="half" idx="10"/>
          </p:nvPr>
        </p:nvSpPr>
        <p:spPr/>
        <p:txBody>
          <a:bodyPr/>
          <a:lstStyle/>
          <a:p>
            <a:fld id="{61ACA181-8073-4CFD-8DF2-49E7DA92A788}" type="datetime1">
              <a:rPr lang="en-IN" smtClean="0"/>
              <a:t>26-04-2025</a:t>
            </a:fld>
            <a:endParaRPr lang="en-IN" dirty="0"/>
          </a:p>
        </p:txBody>
      </p:sp>
      <p:sp>
        <p:nvSpPr>
          <p:cNvPr id="3" name="Footer Placeholder 2">
            <a:extLst>
              <a:ext uri="{FF2B5EF4-FFF2-40B4-BE49-F238E27FC236}">
                <a16:creationId xmlns:a16="http://schemas.microsoft.com/office/drawing/2014/main" xmlns="" id="{4CAE8FEA-E2ED-51B8-DBB3-263572C32D2C}"/>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xmlns="" id="{E6963CAD-0775-366F-834D-E2BCB1F8A94C}"/>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2669008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877E22-B69B-5E49-BD5B-2ACB6518DD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7585269-4596-0287-5781-A75502D932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7053021F-81A6-09FD-797D-086E35169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D1C156F-EE33-C0F8-393B-3BFB2668A26C}"/>
              </a:ext>
            </a:extLst>
          </p:cNvPr>
          <p:cNvSpPr>
            <a:spLocks noGrp="1"/>
          </p:cNvSpPr>
          <p:nvPr>
            <p:ph type="dt" sz="half" idx="10"/>
          </p:nvPr>
        </p:nvSpPr>
        <p:spPr/>
        <p:txBody>
          <a:bodyPr/>
          <a:lstStyle/>
          <a:p>
            <a:fld id="{FB6B84F1-7CB6-46E8-97D7-747AB9F51E96}" type="datetime1">
              <a:rPr lang="en-IN" smtClean="0"/>
              <a:t>26-04-2025</a:t>
            </a:fld>
            <a:endParaRPr lang="en-IN" dirty="0"/>
          </a:p>
        </p:txBody>
      </p:sp>
      <p:sp>
        <p:nvSpPr>
          <p:cNvPr id="6" name="Footer Placeholder 5">
            <a:extLst>
              <a:ext uri="{FF2B5EF4-FFF2-40B4-BE49-F238E27FC236}">
                <a16:creationId xmlns:a16="http://schemas.microsoft.com/office/drawing/2014/main" xmlns="" id="{D6AF64FD-672B-04FA-6327-BABDCE24BB7B}"/>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8CC32891-5C9C-BADC-821D-40EAF00443C0}"/>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300656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40C130-33CF-671C-66F1-1D36AC4D90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CE997067-BE83-9F3A-40E1-631C870DF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xmlns="" id="{12C72072-90A4-151A-ADDE-CE7895C34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559DB9C-D3F0-6DDA-5107-594BAE269E19}"/>
              </a:ext>
            </a:extLst>
          </p:cNvPr>
          <p:cNvSpPr>
            <a:spLocks noGrp="1"/>
          </p:cNvSpPr>
          <p:nvPr>
            <p:ph type="dt" sz="half" idx="10"/>
          </p:nvPr>
        </p:nvSpPr>
        <p:spPr/>
        <p:txBody>
          <a:bodyPr/>
          <a:lstStyle/>
          <a:p>
            <a:fld id="{45A3FD19-F895-405B-840F-06F09F9297A2}" type="datetime1">
              <a:rPr lang="en-IN" smtClean="0"/>
              <a:t>26-04-2025</a:t>
            </a:fld>
            <a:endParaRPr lang="en-IN" dirty="0"/>
          </a:p>
        </p:txBody>
      </p:sp>
      <p:sp>
        <p:nvSpPr>
          <p:cNvPr id="6" name="Footer Placeholder 5">
            <a:extLst>
              <a:ext uri="{FF2B5EF4-FFF2-40B4-BE49-F238E27FC236}">
                <a16:creationId xmlns:a16="http://schemas.microsoft.com/office/drawing/2014/main" xmlns="" id="{EB741103-BF96-7EEF-4A8F-E033ADF89AF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1FFD1C1E-5FC7-10AA-AD34-AC5938E74587}"/>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3986827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977CF7-64B9-5BDF-A74C-9899CF679A2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CD1DE72-AAA3-77B4-40B9-C47D99819D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6BA2339-02CF-708B-F320-6C53DECFB4EF}"/>
              </a:ext>
            </a:extLst>
          </p:cNvPr>
          <p:cNvSpPr>
            <a:spLocks noGrp="1"/>
          </p:cNvSpPr>
          <p:nvPr>
            <p:ph type="dt" sz="half" idx="10"/>
          </p:nvPr>
        </p:nvSpPr>
        <p:spPr/>
        <p:txBody>
          <a:bodyPr/>
          <a:lstStyle/>
          <a:p>
            <a:fld id="{204509D4-1452-4136-8AFE-9533670F8FBF}" type="datetime1">
              <a:rPr lang="en-IN" smtClean="0"/>
              <a:t>26-04-2025</a:t>
            </a:fld>
            <a:endParaRPr lang="en-IN" dirty="0"/>
          </a:p>
        </p:txBody>
      </p:sp>
      <p:sp>
        <p:nvSpPr>
          <p:cNvPr id="5" name="Footer Placeholder 4">
            <a:extLst>
              <a:ext uri="{FF2B5EF4-FFF2-40B4-BE49-F238E27FC236}">
                <a16:creationId xmlns:a16="http://schemas.microsoft.com/office/drawing/2014/main" xmlns="" id="{2CD1CA59-3411-39BB-CE8C-FB7A127E36B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9543BC24-CC6D-835C-EA28-CE6E7FE36856}"/>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1745839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50C0D8D-3ECE-7548-E3AD-32119D6CE1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2BDC62E2-14B4-323F-415A-4A26C80CB5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F1DC025-35E9-E643-3B83-CD17FA3E0BBB}"/>
              </a:ext>
            </a:extLst>
          </p:cNvPr>
          <p:cNvSpPr>
            <a:spLocks noGrp="1"/>
          </p:cNvSpPr>
          <p:nvPr>
            <p:ph type="dt" sz="half" idx="10"/>
          </p:nvPr>
        </p:nvSpPr>
        <p:spPr/>
        <p:txBody>
          <a:bodyPr/>
          <a:lstStyle/>
          <a:p>
            <a:fld id="{A2261557-F3FE-4B55-BADC-11B59A347A6D}" type="datetime1">
              <a:rPr lang="en-IN" smtClean="0"/>
              <a:t>26-04-2025</a:t>
            </a:fld>
            <a:endParaRPr lang="en-IN" dirty="0"/>
          </a:p>
        </p:txBody>
      </p:sp>
      <p:sp>
        <p:nvSpPr>
          <p:cNvPr id="5" name="Footer Placeholder 4">
            <a:extLst>
              <a:ext uri="{FF2B5EF4-FFF2-40B4-BE49-F238E27FC236}">
                <a16:creationId xmlns:a16="http://schemas.microsoft.com/office/drawing/2014/main" xmlns="" id="{E820E9C4-19D8-A630-E100-3D679B46AB0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ABF49D5B-8EA1-8FE7-44F9-27F28B2DC977}"/>
              </a:ext>
            </a:extLst>
          </p:cNvPr>
          <p:cNvSpPr>
            <a:spLocks noGrp="1"/>
          </p:cNvSpPr>
          <p:nvPr>
            <p:ph type="sldNum" sz="quarter" idx="12"/>
          </p:nvPr>
        </p:nvSpPr>
        <p:spPr/>
        <p:txBody>
          <a:bodyPr/>
          <a:lstStyle/>
          <a:p>
            <a:fld id="{F3A9E9E4-B33D-4B71-BC7B-0B7320F1BC06}" type="slidenum">
              <a:rPr lang="en-IN" smtClean="0"/>
              <a:t>‹#›</a:t>
            </a:fld>
            <a:endParaRPr lang="en-IN" dirty="0"/>
          </a:p>
        </p:txBody>
      </p:sp>
    </p:spTree>
    <p:extLst>
      <p:ext uri="{BB962C8B-B14F-4D97-AF65-F5344CB8AC3E}">
        <p14:creationId xmlns:p14="http://schemas.microsoft.com/office/powerpoint/2010/main" val="1927253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EC08DB5-DEBD-7E6A-51F2-EAE7B41F53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E7298BA-0E68-FAC2-3E23-6ABA8CFB58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38324E5-C0C6-FB5E-CBBC-9C906A7DDD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7D2EAB-6D0D-4172-8264-0C8CF3FF928C}" type="datetime1">
              <a:rPr lang="en-IN" smtClean="0"/>
              <a:t>26-04-2025</a:t>
            </a:fld>
            <a:endParaRPr lang="en-IN" dirty="0"/>
          </a:p>
        </p:txBody>
      </p:sp>
      <p:sp>
        <p:nvSpPr>
          <p:cNvPr id="5" name="Footer Placeholder 4">
            <a:extLst>
              <a:ext uri="{FF2B5EF4-FFF2-40B4-BE49-F238E27FC236}">
                <a16:creationId xmlns:a16="http://schemas.microsoft.com/office/drawing/2014/main" xmlns="" id="{6C42597B-3CFC-3311-42B0-9BC15DF6DC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xmlns="" id="{BC9B8C96-27E0-E058-6CA6-D9428A5A7E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A9E9E4-B33D-4B71-BC7B-0B7320F1BC06}" type="slidenum">
              <a:rPr lang="en-IN" smtClean="0"/>
              <a:t>‹#›</a:t>
            </a:fld>
            <a:endParaRPr lang="en-IN" dirty="0"/>
          </a:p>
        </p:txBody>
      </p:sp>
    </p:spTree>
    <p:extLst>
      <p:ext uri="{BB962C8B-B14F-4D97-AF65-F5344CB8AC3E}">
        <p14:creationId xmlns:p14="http://schemas.microsoft.com/office/powerpoint/2010/main" val="2266423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03DE4E-5B61-168C-77CE-A9D8273D9208}"/>
              </a:ext>
            </a:extLst>
          </p:cNvPr>
          <p:cNvSpPr>
            <a:spLocks noGrp="1"/>
          </p:cNvSpPr>
          <p:nvPr>
            <p:ph type="title"/>
          </p:nvPr>
        </p:nvSpPr>
        <p:spPr>
          <a:xfrm>
            <a:off x="1031240" y="0"/>
            <a:ext cx="10515600" cy="1325563"/>
          </a:xfrm>
        </p:spPr>
        <p:txBody>
          <a:bodyPr/>
          <a:lstStyle/>
          <a:p>
            <a:r>
              <a:rPr lang="en-US" dirty="0">
                <a:solidFill>
                  <a:srgbClr val="C00000"/>
                </a:solidFill>
              </a:rPr>
              <a:t>                         </a:t>
            </a:r>
            <a:r>
              <a:rPr lang="en-US" b="1" dirty="0">
                <a:solidFill>
                  <a:srgbClr val="C00000"/>
                </a:solidFill>
              </a:rPr>
              <a:t>FIREWALLS</a:t>
            </a:r>
            <a:endParaRPr lang="en-IN" b="1" dirty="0">
              <a:solidFill>
                <a:srgbClr val="C00000"/>
              </a:solidFill>
            </a:endParaRPr>
          </a:p>
        </p:txBody>
      </p:sp>
      <p:sp>
        <p:nvSpPr>
          <p:cNvPr id="3" name="Content Placeholder 2">
            <a:extLst>
              <a:ext uri="{FF2B5EF4-FFF2-40B4-BE49-F238E27FC236}">
                <a16:creationId xmlns:a16="http://schemas.microsoft.com/office/drawing/2014/main" xmlns="" id="{663DE5C1-9F1B-F4EF-90C2-9860AB76CA45}"/>
              </a:ext>
            </a:extLst>
          </p:cNvPr>
          <p:cNvSpPr>
            <a:spLocks noGrp="1"/>
          </p:cNvSpPr>
          <p:nvPr>
            <p:ph idx="1"/>
          </p:nvPr>
        </p:nvSpPr>
        <p:spPr>
          <a:xfrm>
            <a:off x="886460" y="1193482"/>
            <a:ext cx="10805160" cy="4953317"/>
          </a:xfrm>
        </p:spPr>
        <p:txBody>
          <a:bodyPr>
            <a:normAutofit/>
          </a:bodyPr>
          <a:lstStyle/>
          <a:p>
            <a:pPr algn="just"/>
            <a:r>
              <a:rPr lang="en-US" sz="2400" dirty="0"/>
              <a:t>Firewalls in buildings, as their name implies, are walls intended to inhibit the spread of fire from one part of a building to another, for example, between one apartment and the next. </a:t>
            </a:r>
          </a:p>
          <a:p>
            <a:pPr algn="just"/>
            <a:r>
              <a:rPr lang="en-US" sz="2400" dirty="0"/>
              <a:t>Firewalls are built of materials that withstand fires of a particular intensity or duration; they deter fire spread but are not guaranteed or intended to stop a particularly intense fire.</a:t>
            </a:r>
          </a:p>
          <a:p>
            <a:pPr algn="just"/>
            <a:r>
              <a:rPr lang="en-US" sz="2400" dirty="0"/>
              <a:t>As computer security devices, network firewalls are similar, </a:t>
            </a:r>
            <a:r>
              <a:rPr lang="en-US" sz="2400" b="1" dirty="0"/>
              <a:t>protecting one subnet from harm from another subnet.</a:t>
            </a:r>
          </a:p>
          <a:p>
            <a:pPr algn="just"/>
            <a:r>
              <a:rPr lang="en-US" sz="2400" dirty="0"/>
              <a:t>The primary use of a firewall is to </a:t>
            </a:r>
            <a:r>
              <a:rPr lang="en-US" sz="2400" b="1" dirty="0"/>
              <a:t>protect an internal subnetwork </a:t>
            </a:r>
            <a:r>
              <a:rPr lang="en-US" sz="2400" dirty="0"/>
              <a:t>from the many threats.</a:t>
            </a:r>
          </a:p>
          <a:p>
            <a:pPr algn="just"/>
            <a:r>
              <a:rPr lang="en-US" sz="2400" dirty="0"/>
              <a:t>Firewalls can also be used </a:t>
            </a:r>
            <a:r>
              <a:rPr lang="en-US" sz="2400" b="1" dirty="0"/>
              <a:t>to separate segments of an internal network</a:t>
            </a:r>
            <a:r>
              <a:rPr lang="en-US" sz="2400" dirty="0"/>
              <a:t>, for example, to preserve high confidentiality of a sensitive research network within a larger organization.</a:t>
            </a:r>
            <a:endParaRPr lang="en-IN" sz="2400" dirty="0"/>
          </a:p>
        </p:txBody>
      </p:sp>
      <p:sp>
        <p:nvSpPr>
          <p:cNvPr id="4" name="Date Placeholder 3">
            <a:extLst>
              <a:ext uri="{FF2B5EF4-FFF2-40B4-BE49-F238E27FC236}">
                <a16:creationId xmlns:a16="http://schemas.microsoft.com/office/drawing/2014/main" xmlns="" id="{CAF6B31B-4EB9-22DE-0483-B0DAA1E29C2A}"/>
              </a:ext>
            </a:extLst>
          </p:cNvPr>
          <p:cNvSpPr>
            <a:spLocks noGrp="1"/>
          </p:cNvSpPr>
          <p:nvPr>
            <p:ph type="dt" sz="half" idx="10"/>
          </p:nvPr>
        </p:nvSpPr>
        <p:spPr/>
        <p:txBody>
          <a:bodyPr/>
          <a:lstStyle/>
          <a:p>
            <a:fld id="{7A8CB16B-252D-4AAE-8C75-9C81CC437420}" type="datetime1">
              <a:rPr lang="en-IN" smtClean="0"/>
              <a:t>26-04-2025</a:t>
            </a:fld>
            <a:endParaRPr lang="en-IN" dirty="0"/>
          </a:p>
        </p:txBody>
      </p:sp>
      <p:sp>
        <p:nvSpPr>
          <p:cNvPr id="5" name="Slide Number Placeholder 4">
            <a:extLst>
              <a:ext uri="{FF2B5EF4-FFF2-40B4-BE49-F238E27FC236}">
                <a16:creationId xmlns:a16="http://schemas.microsoft.com/office/drawing/2014/main" xmlns="" id="{544AEF38-C3F8-6630-1130-5D389219F119}"/>
              </a:ext>
            </a:extLst>
          </p:cNvPr>
          <p:cNvSpPr>
            <a:spLocks noGrp="1"/>
          </p:cNvSpPr>
          <p:nvPr>
            <p:ph type="sldNum" sz="quarter" idx="12"/>
          </p:nvPr>
        </p:nvSpPr>
        <p:spPr/>
        <p:txBody>
          <a:bodyPr/>
          <a:lstStyle/>
          <a:p>
            <a:fld id="{F3A9E9E4-B33D-4B71-BC7B-0B7320F1BC06}" type="slidenum">
              <a:rPr lang="en-IN" smtClean="0"/>
              <a:t>1</a:t>
            </a:fld>
            <a:endParaRPr lang="en-IN" dirty="0"/>
          </a:p>
        </p:txBody>
      </p:sp>
    </p:spTree>
    <p:extLst>
      <p:ext uri="{BB962C8B-B14F-4D97-AF65-F5344CB8AC3E}">
        <p14:creationId xmlns:p14="http://schemas.microsoft.com/office/powerpoint/2010/main" val="17057352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C66754-9E6C-D99B-3EE7-FA4C9B2A5B4C}"/>
              </a:ext>
            </a:extLst>
          </p:cNvPr>
          <p:cNvSpPr>
            <a:spLocks noGrp="1"/>
          </p:cNvSpPr>
          <p:nvPr>
            <p:ph type="title"/>
          </p:nvPr>
        </p:nvSpPr>
        <p:spPr>
          <a:xfrm>
            <a:off x="838200" y="136525"/>
            <a:ext cx="10515600" cy="1325563"/>
          </a:xfrm>
        </p:spPr>
        <p:txBody>
          <a:bodyPr/>
          <a:lstStyle/>
          <a:p>
            <a:r>
              <a:rPr lang="en-US" b="1" dirty="0">
                <a:solidFill>
                  <a:srgbClr val="C00000"/>
                </a:solidFill>
              </a:rPr>
              <a:t>                       WHAT IS A FIREWALL?</a:t>
            </a:r>
            <a:endParaRPr lang="en-IN" dirty="0">
              <a:solidFill>
                <a:srgbClr val="C00000"/>
              </a:solidFill>
            </a:endParaRPr>
          </a:p>
        </p:txBody>
      </p:sp>
      <p:sp>
        <p:nvSpPr>
          <p:cNvPr id="3" name="Content Placeholder 2">
            <a:extLst>
              <a:ext uri="{FF2B5EF4-FFF2-40B4-BE49-F238E27FC236}">
                <a16:creationId xmlns:a16="http://schemas.microsoft.com/office/drawing/2014/main" xmlns="" id="{F7927810-7488-356A-A5B2-5CA56A2263A1}"/>
              </a:ext>
            </a:extLst>
          </p:cNvPr>
          <p:cNvSpPr>
            <a:spLocks noGrp="1"/>
          </p:cNvSpPr>
          <p:nvPr>
            <p:ph idx="1"/>
          </p:nvPr>
        </p:nvSpPr>
        <p:spPr>
          <a:xfrm>
            <a:off x="838200" y="1330008"/>
            <a:ext cx="10515600" cy="4351338"/>
          </a:xfrm>
        </p:spPr>
        <p:txBody>
          <a:bodyPr>
            <a:noAutofit/>
          </a:bodyPr>
          <a:lstStyle/>
          <a:p>
            <a:pPr algn="just"/>
            <a:r>
              <a:rPr lang="en-US" sz="2400" dirty="0"/>
              <a:t>Firewalls are one of the most </a:t>
            </a:r>
            <a:r>
              <a:rPr lang="en-US" sz="2400" b="1" dirty="0"/>
              <a:t>important security devices for networks</a:t>
            </a:r>
            <a:r>
              <a:rPr lang="en-US" sz="2400" dirty="0"/>
              <a:t>.</a:t>
            </a:r>
          </a:p>
          <a:p>
            <a:pPr algn="just"/>
            <a:r>
              <a:rPr lang="en-US" sz="2400" dirty="0"/>
              <a:t> A firewall is a device that filters all traffic </a:t>
            </a:r>
            <a:r>
              <a:rPr lang="en-US" sz="2400" b="1" dirty="0"/>
              <a:t>between a protected or “inside” network and a less trustworthy or “outside” network</a:t>
            </a:r>
            <a:r>
              <a:rPr lang="en-US" sz="2400" dirty="0"/>
              <a:t>. </a:t>
            </a:r>
          </a:p>
          <a:p>
            <a:pPr algn="just"/>
            <a:r>
              <a:rPr lang="en-US" sz="2400" dirty="0"/>
              <a:t>Usually a </a:t>
            </a:r>
            <a:r>
              <a:rPr lang="en-US" sz="2400" b="1" dirty="0"/>
              <a:t>firewall runs on a dedicated device</a:t>
            </a:r>
            <a:r>
              <a:rPr lang="en-US" sz="2400" dirty="0"/>
              <a:t>; because it is a single point through which traffic is channeled.</a:t>
            </a:r>
          </a:p>
          <a:p>
            <a:pPr algn="just"/>
            <a:r>
              <a:rPr lang="en-US" sz="2400" dirty="0"/>
              <a:t>In practice, a firewall is a computer with memory, storage devices, interface cards for network access, and other devices. It runs an operating system and executes application programs. </a:t>
            </a:r>
          </a:p>
          <a:p>
            <a:pPr algn="just"/>
            <a:r>
              <a:rPr lang="en-US" sz="2400" dirty="0"/>
              <a:t>Often the hardware, operating system, and applications are sold as a package, so the firewall application (a program) is sometimes also called a firewall.</a:t>
            </a:r>
          </a:p>
          <a:p>
            <a:pPr algn="just"/>
            <a:r>
              <a:rPr lang="en-US" sz="2400" b="1" dirty="0"/>
              <a:t>A firewall is a computer traffic cop that permits or blocks data flow between two parts of a network architecture. It is the only link between parts.</a:t>
            </a:r>
            <a:endParaRPr lang="en-IN" sz="2400" b="1" dirty="0"/>
          </a:p>
        </p:txBody>
      </p:sp>
      <p:sp>
        <p:nvSpPr>
          <p:cNvPr id="4" name="Date Placeholder 3">
            <a:extLst>
              <a:ext uri="{FF2B5EF4-FFF2-40B4-BE49-F238E27FC236}">
                <a16:creationId xmlns:a16="http://schemas.microsoft.com/office/drawing/2014/main" xmlns="" id="{7F887140-8929-7A6A-78DD-744B04916587}"/>
              </a:ext>
            </a:extLst>
          </p:cNvPr>
          <p:cNvSpPr>
            <a:spLocks noGrp="1"/>
          </p:cNvSpPr>
          <p:nvPr>
            <p:ph type="dt" sz="half" idx="10"/>
          </p:nvPr>
        </p:nvSpPr>
        <p:spPr/>
        <p:txBody>
          <a:bodyPr/>
          <a:lstStyle/>
          <a:p>
            <a:fld id="{871C52D9-9CE6-47E3-993B-EFB6A62FF378}" type="datetime1">
              <a:rPr lang="en-IN" smtClean="0"/>
              <a:t>26-04-2025</a:t>
            </a:fld>
            <a:endParaRPr lang="en-IN" dirty="0"/>
          </a:p>
        </p:txBody>
      </p:sp>
      <p:sp>
        <p:nvSpPr>
          <p:cNvPr id="5" name="Slide Number Placeholder 4">
            <a:extLst>
              <a:ext uri="{FF2B5EF4-FFF2-40B4-BE49-F238E27FC236}">
                <a16:creationId xmlns:a16="http://schemas.microsoft.com/office/drawing/2014/main" xmlns="" id="{EB80C84E-7C49-E5AA-9429-EADC96327C08}"/>
              </a:ext>
            </a:extLst>
          </p:cNvPr>
          <p:cNvSpPr>
            <a:spLocks noGrp="1"/>
          </p:cNvSpPr>
          <p:nvPr>
            <p:ph type="sldNum" sz="quarter" idx="12"/>
          </p:nvPr>
        </p:nvSpPr>
        <p:spPr/>
        <p:txBody>
          <a:bodyPr/>
          <a:lstStyle/>
          <a:p>
            <a:fld id="{F3A9E9E4-B33D-4B71-BC7B-0B7320F1BC06}" type="slidenum">
              <a:rPr lang="en-IN" smtClean="0"/>
              <a:t>2</a:t>
            </a:fld>
            <a:endParaRPr lang="en-IN" dirty="0"/>
          </a:p>
        </p:txBody>
      </p:sp>
    </p:spTree>
    <p:extLst>
      <p:ext uri="{BB962C8B-B14F-4D97-AF65-F5344CB8AC3E}">
        <p14:creationId xmlns:p14="http://schemas.microsoft.com/office/powerpoint/2010/main" val="38676711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1681F76-4089-8575-5A11-9F6730447583}"/>
              </a:ext>
            </a:extLst>
          </p:cNvPr>
          <p:cNvSpPr>
            <a:spLocks noGrp="1"/>
          </p:cNvSpPr>
          <p:nvPr>
            <p:ph idx="1"/>
          </p:nvPr>
        </p:nvSpPr>
        <p:spPr>
          <a:xfrm>
            <a:off x="838200" y="1194912"/>
            <a:ext cx="10515600" cy="5428615"/>
          </a:xfrm>
        </p:spPr>
        <p:txBody>
          <a:bodyPr>
            <a:normAutofit/>
          </a:bodyPr>
          <a:lstStyle/>
          <a:p>
            <a:pPr algn="just"/>
            <a:r>
              <a:rPr lang="en-US" sz="2400" dirty="0"/>
              <a:t>A firewall system typically does not have compilers, linkers, loaders, general text editors, debuggers, programming libraries, or other tools an attacker might use to extend an attack from the firewall computer. Because a firewall is executable code, an attacker could compromise that code and execute from the firewall’s device.</a:t>
            </a:r>
          </a:p>
          <a:p>
            <a:pPr algn="just"/>
            <a:r>
              <a:rPr lang="en-US" sz="2400" dirty="0"/>
              <a:t>The purpose of a firewall is to </a:t>
            </a:r>
            <a:r>
              <a:rPr lang="en-US" sz="2400" b="1" dirty="0"/>
              <a:t>keep “bad” things outside a protected environment.</a:t>
            </a:r>
            <a:r>
              <a:rPr lang="en-US" sz="2400" dirty="0"/>
              <a:t> To accomplish that, </a:t>
            </a:r>
            <a:r>
              <a:rPr lang="en-US" sz="2400" b="1" dirty="0"/>
              <a:t>firewalls implement a security policy </a:t>
            </a:r>
            <a:r>
              <a:rPr lang="en-US" sz="2400" dirty="0"/>
              <a:t>that is specifically designed to address what bad things might happen. </a:t>
            </a:r>
          </a:p>
          <a:p>
            <a:pPr algn="just"/>
            <a:r>
              <a:rPr lang="en-US" sz="2400" dirty="0"/>
              <a:t>For example, the policy might be </a:t>
            </a:r>
            <a:r>
              <a:rPr lang="en-US" sz="2400" b="1" dirty="0"/>
              <a:t>to prevent any access from outside </a:t>
            </a:r>
            <a:r>
              <a:rPr lang="en-US" sz="2400" dirty="0"/>
              <a:t>(while still allowing traffic to pass from the inside to the outside). Alternatively, the policy might </a:t>
            </a:r>
            <a:r>
              <a:rPr lang="en-US" sz="2400" b="1" dirty="0"/>
              <a:t>permit accesses only from certain places</a:t>
            </a:r>
            <a:r>
              <a:rPr lang="en-US" sz="2400" dirty="0"/>
              <a:t>, </a:t>
            </a:r>
            <a:r>
              <a:rPr lang="en-US" sz="2400" b="1" dirty="0"/>
              <a:t>from certain users, or for certain activities.</a:t>
            </a:r>
          </a:p>
          <a:p>
            <a:pPr algn="just"/>
            <a:r>
              <a:rPr lang="en-US" sz="2400" b="1" dirty="0"/>
              <a:t>Firewalls enforce predetermined rules governing what traffic can flow.</a:t>
            </a:r>
            <a:endParaRPr lang="en-IN" sz="2400" b="1" dirty="0"/>
          </a:p>
        </p:txBody>
      </p:sp>
      <p:sp>
        <p:nvSpPr>
          <p:cNvPr id="2" name="Date Placeholder 1">
            <a:extLst>
              <a:ext uri="{FF2B5EF4-FFF2-40B4-BE49-F238E27FC236}">
                <a16:creationId xmlns:a16="http://schemas.microsoft.com/office/drawing/2014/main" xmlns="" id="{CA89004C-F20F-B0AB-51EC-7D8AF6A28CF5}"/>
              </a:ext>
            </a:extLst>
          </p:cNvPr>
          <p:cNvSpPr>
            <a:spLocks noGrp="1"/>
          </p:cNvSpPr>
          <p:nvPr>
            <p:ph type="dt" sz="half" idx="10"/>
          </p:nvPr>
        </p:nvSpPr>
        <p:spPr/>
        <p:txBody>
          <a:bodyPr/>
          <a:lstStyle/>
          <a:p>
            <a:fld id="{82FB647C-E949-4BF0-9938-1FC67ADDC1D4}" type="datetime1">
              <a:rPr lang="en-IN" smtClean="0"/>
              <a:t>26-04-2025</a:t>
            </a:fld>
            <a:endParaRPr lang="en-IN" dirty="0"/>
          </a:p>
        </p:txBody>
      </p:sp>
      <p:sp>
        <p:nvSpPr>
          <p:cNvPr id="4" name="Slide Number Placeholder 3">
            <a:extLst>
              <a:ext uri="{FF2B5EF4-FFF2-40B4-BE49-F238E27FC236}">
                <a16:creationId xmlns:a16="http://schemas.microsoft.com/office/drawing/2014/main" xmlns="" id="{B98D45A5-FB96-F4D1-D4B5-726B3A1153C6}"/>
              </a:ext>
            </a:extLst>
          </p:cNvPr>
          <p:cNvSpPr>
            <a:spLocks noGrp="1"/>
          </p:cNvSpPr>
          <p:nvPr>
            <p:ph type="sldNum" sz="quarter" idx="12"/>
          </p:nvPr>
        </p:nvSpPr>
        <p:spPr/>
        <p:txBody>
          <a:bodyPr/>
          <a:lstStyle/>
          <a:p>
            <a:fld id="{F3A9E9E4-B33D-4B71-BC7B-0B7320F1BC06}" type="slidenum">
              <a:rPr lang="en-IN" smtClean="0"/>
              <a:t>3</a:t>
            </a:fld>
            <a:endParaRPr lang="en-IN" dirty="0"/>
          </a:p>
        </p:txBody>
      </p:sp>
      <p:sp>
        <p:nvSpPr>
          <p:cNvPr id="5" name="Title 1">
            <a:extLst>
              <a:ext uri="{FF2B5EF4-FFF2-40B4-BE49-F238E27FC236}">
                <a16:creationId xmlns:a16="http://schemas.microsoft.com/office/drawing/2014/main" xmlns="" id="{348502A3-960F-4F2F-CD52-1E6CC91BC9A6}"/>
              </a:ext>
            </a:extLst>
          </p:cNvPr>
          <p:cNvSpPr>
            <a:spLocks noGrp="1"/>
          </p:cNvSpPr>
          <p:nvPr>
            <p:ph type="title"/>
          </p:nvPr>
        </p:nvSpPr>
        <p:spPr>
          <a:xfrm>
            <a:off x="838200" y="0"/>
            <a:ext cx="10515600" cy="1325563"/>
          </a:xfrm>
        </p:spPr>
        <p:txBody>
          <a:bodyPr/>
          <a:lstStyle/>
          <a:p>
            <a:r>
              <a:rPr lang="en-US" b="1" dirty="0">
                <a:solidFill>
                  <a:srgbClr val="C00000"/>
                </a:solidFill>
              </a:rPr>
              <a:t>                       WHAT IS A FIREWALL?</a:t>
            </a:r>
            <a:endParaRPr lang="en-IN" dirty="0">
              <a:solidFill>
                <a:srgbClr val="C00000"/>
              </a:solidFill>
            </a:endParaRPr>
          </a:p>
        </p:txBody>
      </p:sp>
    </p:spTree>
    <p:extLst>
      <p:ext uri="{BB962C8B-B14F-4D97-AF65-F5344CB8AC3E}">
        <p14:creationId xmlns:p14="http://schemas.microsoft.com/office/powerpoint/2010/main" val="5607744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B8E863-F6BD-5E60-2510-02673F3398A7}"/>
              </a:ext>
            </a:extLst>
          </p:cNvPr>
          <p:cNvSpPr>
            <a:spLocks noGrp="1"/>
          </p:cNvSpPr>
          <p:nvPr>
            <p:ph type="title"/>
          </p:nvPr>
        </p:nvSpPr>
        <p:spPr/>
        <p:txBody>
          <a:bodyPr>
            <a:normAutofit/>
          </a:bodyPr>
          <a:lstStyle/>
          <a:p>
            <a:pPr algn="ctr"/>
            <a:r>
              <a:rPr lang="en-US" sz="3200" b="1" dirty="0">
                <a:solidFill>
                  <a:srgbClr val="C00000"/>
                </a:solidFill>
                <a:latin typeface="+mn-lt"/>
              </a:rPr>
              <a:t>DESIGN OF FIREWALLS</a:t>
            </a:r>
            <a:endParaRPr lang="en-IN" sz="3200" b="1" dirty="0">
              <a:solidFill>
                <a:srgbClr val="C00000"/>
              </a:solidFill>
              <a:latin typeface="+mn-lt"/>
            </a:endParaRPr>
          </a:p>
        </p:txBody>
      </p:sp>
      <p:sp>
        <p:nvSpPr>
          <p:cNvPr id="3" name="Content Placeholder 2">
            <a:extLst>
              <a:ext uri="{FF2B5EF4-FFF2-40B4-BE49-F238E27FC236}">
                <a16:creationId xmlns:a16="http://schemas.microsoft.com/office/drawing/2014/main" xmlns="" id="{3B15E0B8-132A-63D2-F5A3-EA7BADD467C4}"/>
              </a:ext>
            </a:extLst>
          </p:cNvPr>
          <p:cNvSpPr>
            <a:spLocks noGrp="1"/>
          </p:cNvSpPr>
          <p:nvPr>
            <p:ph idx="1"/>
          </p:nvPr>
        </p:nvSpPr>
        <p:spPr>
          <a:xfrm>
            <a:off x="838200" y="1690688"/>
            <a:ext cx="10515600" cy="4351338"/>
          </a:xfrm>
        </p:spPr>
        <p:txBody>
          <a:bodyPr>
            <a:normAutofit/>
          </a:bodyPr>
          <a:lstStyle/>
          <a:p>
            <a:pPr algn="just"/>
            <a:r>
              <a:rPr lang="en-US" sz="2400" dirty="0"/>
              <a:t>Firewalls are simple devices that rigorously and effectively control the flow of data to and from a network.</a:t>
            </a:r>
          </a:p>
          <a:p>
            <a:pPr algn="just"/>
            <a:r>
              <a:rPr lang="en-US" sz="2400" dirty="0"/>
              <a:t>Two qualities lead to that effectiveness: </a:t>
            </a:r>
          </a:p>
          <a:p>
            <a:pPr lvl="1" algn="just"/>
            <a:r>
              <a:rPr lang="en-US" b="1" dirty="0"/>
              <a:t>a well-understood traffic flow policy </a:t>
            </a:r>
            <a:r>
              <a:rPr lang="en-US" dirty="0"/>
              <a:t>and </a:t>
            </a:r>
          </a:p>
          <a:p>
            <a:pPr lvl="1" algn="just"/>
            <a:r>
              <a:rPr lang="en-US" b="1" dirty="0"/>
              <a:t>a trustworthy design and implementation.</a:t>
            </a:r>
            <a:endParaRPr lang="en-IN" b="1" dirty="0"/>
          </a:p>
        </p:txBody>
      </p:sp>
      <p:sp>
        <p:nvSpPr>
          <p:cNvPr id="4" name="Date Placeholder 3">
            <a:extLst>
              <a:ext uri="{FF2B5EF4-FFF2-40B4-BE49-F238E27FC236}">
                <a16:creationId xmlns:a16="http://schemas.microsoft.com/office/drawing/2014/main" xmlns="" id="{636B95E1-B4B8-8DA8-B05B-95E13015229F}"/>
              </a:ext>
            </a:extLst>
          </p:cNvPr>
          <p:cNvSpPr>
            <a:spLocks noGrp="1"/>
          </p:cNvSpPr>
          <p:nvPr>
            <p:ph type="dt" sz="half" idx="10"/>
          </p:nvPr>
        </p:nvSpPr>
        <p:spPr/>
        <p:txBody>
          <a:bodyPr/>
          <a:lstStyle/>
          <a:p>
            <a:fld id="{902C399A-68D1-477A-8FA0-D8717E51163F}" type="datetime1">
              <a:rPr lang="en-IN" smtClean="0"/>
              <a:t>26-04-2025</a:t>
            </a:fld>
            <a:endParaRPr lang="en-IN" dirty="0"/>
          </a:p>
        </p:txBody>
      </p:sp>
      <p:sp>
        <p:nvSpPr>
          <p:cNvPr id="5" name="Slide Number Placeholder 4">
            <a:extLst>
              <a:ext uri="{FF2B5EF4-FFF2-40B4-BE49-F238E27FC236}">
                <a16:creationId xmlns:a16="http://schemas.microsoft.com/office/drawing/2014/main" xmlns="" id="{9D007CA3-E41B-C20A-5ED4-9D4AF7141E8D}"/>
              </a:ext>
            </a:extLst>
          </p:cNvPr>
          <p:cNvSpPr>
            <a:spLocks noGrp="1"/>
          </p:cNvSpPr>
          <p:nvPr>
            <p:ph type="sldNum" sz="quarter" idx="12"/>
          </p:nvPr>
        </p:nvSpPr>
        <p:spPr/>
        <p:txBody>
          <a:bodyPr/>
          <a:lstStyle/>
          <a:p>
            <a:fld id="{F3A9E9E4-B33D-4B71-BC7B-0B7320F1BC06}" type="slidenum">
              <a:rPr lang="en-IN" smtClean="0"/>
              <a:t>4</a:t>
            </a:fld>
            <a:endParaRPr lang="en-IN" dirty="0"/>
          </a:p>
        </p:txBody>
      </p:sp>
    </p:spTree>
    <p:extLst>
      <p:ext uri="{BB962C8B-B14F-4D97-AF65-F5344CB8AC3E}">
        <p14:creationId xmlns:p14="http://schemas.microsoft.com/office/powerpoint/2010/main" val="25203442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ECE030-5F0E-7467-F91A-55336E8A390D}"/>
              </a:ext>
            </a:extLst>
          </p:cNvPr>
          <p:cNvSpPr>
            <a:spLocks noGrp="1"/>
          </p:cNvSpPr>
          <p:nvPr>
            <p:ph type="title"/>
          </p:nvPr>
        </p:nvSpPr>
        <p:spPr>
          <a:xfrm>
            <a:off x="502920" y="0"/>
            <a:ext cx="10515600" cy="1325563"/>
          </a:xfrm>
        </p:spPr>
        <p:txBody>
          <a:bodyPr/>
          <a:lstStyle/>
          <a:p>
            <a:pPr algn="ctr"/>
            <a:r>
              <a:rPr lang="en-US" b="1" dirty="0">
                <a:solidFill>
                  <a:srgbClr val="C00000"/>
                </a:solidFill>
              </a:rPr>
              <a:t>POLICY</a:t>
            </a:r>
            <a:endParaRPr lang="en-IN" b="1" dirty="0">
              <a:solidFill>
                <a:srgbClr val="C00000"/>
              </a:solidFill>
            </a:endParaRPr>
          </a:p>
        </p:txBody>
      </p:sp>
      <p:sp>
        <p:nvSpPr>
          <p:cNvPr id="3" name="Content Placeholder 2">
            <a:extLst>
              <a:ext uri="{FF2B5EF4-FFF2-40B4-BE49-F238E27FC236}">
                <a16:creationId xmlns:a16="http://schemas.microsoft.com/office/drawing/2014/main" xmlns="" id="{53B662EB-D671-5C56-2C1D-ACC7A984AE85}"/>
              </a:ext>
            </a:extLst>
          </p:cNvPr>
          <p:cNvSpPr>
            <a:spLocks noGrp="1"/>
          </p:cNvSpPr>
          <p:nvPr>
            <p:ph idx="1"/>
          </p:nvPr>
        </p:nvSpPr>
        <p:spPr>
          <a:xfrm>
            <a:off x="838200" y="1140618"/>
            <a:ext cx="10515600" cy="5138262"/>
          </a:xfrm>
        </p:spPr>
        <p:txBody>
          <a:bodyPr>
            <a:normAutofit/>
          </a:bodyPr>
          <a:lstStyle/>
          <a:p>
            <a:pPr algn="just"/>
            <a:r>
              <a:rPr lang="en-US" sz="2000" dirty="0"/>
              <a:t>A firewall implements a security policy, that is, </a:t>
            </a:r>
            <a:r>
              <a:rPr lang="en-US" sz="2000" b="1" dirty="0"/>
              <a:t>a set of rules that determine what traffic can or cannot pass through the firewall. </a:t>
            </a:r>
          </a:p>
          <a:p>
            <a:pPr algn="just"/>
            <a:r>
              <a:rPr lang="en-US" sz="2000" dirty="0"/>
              <a:t>As with many problems in computer security, we would ideally like a simple policy, such as “good” traffic can pass but “bad” traffic is blocked. </a:t>
            </a:r>
            <a:r>
              <a:rPr lang="en-US" sz="2000" b="1" dirty="0"/>
              <a:t>Unfortunately, defining “good” and “bad” is neither simple nor algorithmic.</a:t>
            </a:r>
            <a:r>
              <a:rPr lang="en-US" sz="2000" dirty="0"/>
              <a:t> Firewalls come with example policies, but each network administrator needs to determine what traffic to allow into a particular network. </a:t>
            </a:r>
          </a:p>
          <a:p>
            <a:pPr algn="just"/>
            <a:r>
              <a:rPr lang="en-US" sz="2000" dirty="0"/>
              <a:t>An example of a simple firewall configuration is shown in Table. The table is processed from the top down, and the first matching rule determines the firewall’s action. </a:t>
            </a:r>
          </a:p>
          <a:p>
            <a:pPr algn="just"/>
            <a:r>
              <a:rPr lang="en-US" sz="2000" dirty="0"/>
              <a:t>The * character matches any value in that field. This policy says any inbound traffic to port 25 (mail transfer) or port 69 (so-called trivial file transfer) is allowed to or from any host on the 192.168.1 subnetwork.</a:t>
            </a:r>
          </a:p>
          <a:p>
            <a:pPr algn="just"/>
            <a:r>
              <a:rPr lang="en-US" sz="2000" dirty="0"/>
              <a:t> By rule 3 any inside host is allowed outbound traffic anywhere on port 80 (web page fetches). Furthermore, by rule 4 outside traffic to the internal host at destination address 192.168.1.18 (presumably a web server) is allowed.</a:t>
            </a:r>
          </a:p>
          <a:p>
            <a:pPr algn="just"/>
            <a:r>
              <a:rPr lang="en-US" sz="2000" dirty="0"/>
              <a:t> All other traffic to the 192.168.1 network is denied.</a:t>
            </a:r>
            <a:endParaRPr lang="en-IN" sz="2000" dirty="0"/>
          </a:p>
        </p:txBody>
      </p:sp>
      <p:sp>
        <p:nvSpPr>
          <p:cNvPr id="4" name="Date Placeholder 3">
            <a:extLst>
              <a:ext uri="{FF2B5EF4-FFF2-40B4-BE49-F238E27FC236}">
                <a16:creationId xmlns:a16="http://schemas.microsoft.com/office/drawing/2014/main" xmlns="" id="{B5302D53-DB54-4DDC-BEBA-8479566361F7}"/>
              </a:ext>
            </a:extLst>
          </p:cNvPr>
          <p:cNvSpPr>
            <a:spLocks noGrp="1"/>
          </p:cNvSpPr>
          <p:nvPr>
            <p:ph type="dt" sz="half" idx="10"/>
          </p:nvPr>
        </p:nvSpPr>
        <p:spPr/>
        <p:txBody>
          <a:bodyPr/>
          <a:lstStyle/>
          <a:p>
            <a:fld id="{657AEEB1-B93F-4495-85CD-5BD3257520E1}" type="datetime1">
              <a:rPr lang="en-IN" smtClean="0"/>
              <a:t>26-04-2025</a:t>
            </a:fld>
            <a:endParaRPr lang="en-IN" dirty="0"/>
          </a:p>
        </p:txBody>
      </p:sp>
      <p:sp>
        <p:nvSpPr>
          <p:cNvPr id="5" name="Slide Number Placeholder 4">
            <a:extLst>
              <a:ext uri="{FF2B5EF4-FFF2-40B4-BE49-F238E27FC236}">
                <a16:creationId xmlns:a16="http://schemas.microsoft.com/office/drawing/2014/main" xmlns="" id="{21F59ACD-5DBA-885C-BBA2-C6F13A18A149}"/>
              </a:ext>
            </a:extLst>
          </p:cNvPr>
          <p:cNvSpPr>
            <a:spLocks noGrp="1"/>
          </p:cNvSpPr>
          <p:nvPr>
            <p:ph type="sldNum" sz="quarter" idx="12"/>
          </p:nvPr>
        </p:nvSpPr>
        <p:spPr/>
        <p:txBody>
          <a:bodyPr/>
          <a:lstStyle/>
          <a:p>
            <a:fld id="{F3A9E9E4-B33D-4B71-BC7B-0B7320F1BC06}" type="slidenum">
              <a:rPr lang="en-IN" smtClean="0"/>
              <a:t>5</a:t>
            </a:fld>
            <a:endParaRPr lang="en-IN" dirty="0"/>
          </a:p>
        </p:txBody>
      </p:sp>
    </p:spTree>
    <p:extLst>
      <p:ext uri="{BB962C8B-B14F-4D97-AF65-F5344CB8AC3E}">
        <p14:creationId xmlns:p14="http://schemas.microsoft.com/office/powerpoint/2010/main" val="25389724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33FD66A6-20B1-373B-0081-549EB0428F0D}"/>
              </a:ext>
            </a:extLst>
          </p:cNvPr>
          <p:cNvPicPr>
            <a:picLocks noGrp="1" noChangeAspect="1"/>
          </p:cNvPicPr>
          <p:nvPr>
            <p:ph idx="1"/>
          </p:nvPr>
        </p:nvPicPr>
        <p:blipFill>
          <a:blip r:embed="rId2"/>
          <a:stretch>
            <a:fillRect/>
          </a:stretch>
        </p:blipFill>
        <p:spPr>
          <a:xfrm>
            <a:off x="2519101" y="711200"/>
            <a:ext cx="7035562" cy="3708400"/>
          </a:xfrm>
        </p:spPr>
      </p:pic>
      <p:sp>
        <p:nvSpPr>
          <p:cNvPr id="7" name="TextBox 6">
            <a:extLst>
              <a:ext uri="{FF2B5EF4-FFF2-40B4-BE49-F238E27FC236}">
                <a16:creationId xmlns:a16="http://schemas.microsoft.com/office/drawing/2014/main" xmlns="" id="{73B9D39C-FA92-EFC8-2CE8-FB600AFB2433}"/>
              </a:ext>
            </a:extLst>
          </p:cNvPr>
          <p:cNvSpPr txBox="1"/>
          <p:nvPr/>
        </p:nvSpPr>
        <p:spPr>
          <a:xfrm>
            <a:off x="3458663" y="4864755"/>
            <a:ext cx="6096000" cy="523220"/>
          </a:xfrm>
          <a:prstGeom prst="rect">
            <a:avLst/>
          </a:prstGeom>
          <a:noFill/>
        </p:spPr>
        <p:txBody>
          <a:bodyPr wrap="square">
            <a:spAutoFit/>
          </a:bodyPr>
          <a:lstStyle/>
          <a:p>
            <a:r>
              <a:rPr lang="en-IN" sz="2800" dirty="0"/>
              <a:t>Example Firewall Configuration</a:t>
            </a:r>
          </a:p>
        </p:txBody>
      </p:sp>
      <p:sp>
        <p:nvSpPr>
          <p:cNvPr id="2" name="Date Placeholder 1">
            <a:extLst>
              <a:ext uri="{FF2B5EF4-FFF2-40B4-BE49-F238E27FC236}">
                <a16:creationId xmlns:a16="http://schemas.microsoft.com/office/drawing/2014/main" xmlns="" id="{7C54FBEE-4AFA-3699-9887-B31BA7433D71}"/>
              </a:ext>
            </a:extLst>
          </p:cNvPr>
          <p:cNvSpPr>
            <a:spLocks noGrp="1"/>
          </p:cNvSpPr>
          <p:nvPr>
            <p:ph type="dt" sz="half" idx="10"/>
          </p:nvPr>
        </p:nvSpPr>
        <p:spPr/>
        <p:txBody>
          <a:bodyPr/>
          <a:lstStyle/>
          <a:p>
            <a:fld id="{7D038410-F1D7-436B-8888-43C86528D9C4}" type="datetime1">
              <a:rPr lang="en-IN" smtClean="0"/>
              <a:t>26-04-2025</a:t>
            </a:fld>
            <a:endParaRPr lang="en-IN" dirty="0"/>
          </a:p>
        </p:txBody>
      </p:sp>
      <p:sp>
        <p:nvSpPr>
          <p:cNvPr id="3" name="Slide Number Placeholder 2">
            <a:extLst>
              <a:ext uri="{FF2B5EF4-FFF2-40B4-BE49-F238E27FC236}">
                <a16:creationId xmlns:a16="http://schemas.microsoft.com/office/drawing/2014/main" xmlns="" id="{318FD2F7-5129-5562-28EA-7DFAB7F554DB}"/>
              </a:ext>
            </a:extLst>
          </p:cNvPr>
          <p:cNvSpPr>
            <a:spLocks noGrp="1"/>
          </p:cNvSpPr>
          <p:nvPr>
            <p:ph type="sldNum" sz="quarter" idx="12"/>
          </p:nvPr>
        </p:nvSpPr>
        <p:spPr/>
        <p:txBody>
          <a:bodyPr/>
          <a:lstStyle/>
          <a:p>
            <a:fld id="{F3A9E9E4-B33D-4B71-BC7B-0B7320F1BC06}" type="slidenum">
              <a:rPr lang="en-IN" smtClean="0"/>
              <a:t>6</a:t>
            </a:fld>
            <a:endParaRPr lang="en-IN" dirty="0"/>
          </a:p>
        </p:txBody>
      </p:sp>
    </p:spTree>
    <p:extLst>
      <p:ext uri="{BB962C8B-B14F-4D97-AF65-F5344CB8AC3E}">
        <p14:creationId xmlns:p14="http://schemas.microsoft.com/office/powerpoint/2010/main" val="15523170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F88250E-F738-74C8-65B0-9DEE3C3EC2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C4C2A08-A55C-11EA-CD74-3415356A4F46}"/>
              </a:ext>
            </a:extLst>
          </p:cNvPr>
          <p:cNvSpPr>
            <a:spLocks noGrp="1"/>
          </p:cNvSpPr>
          <p:nvPr>
            <p:ph type="title"/>
          </p:nvPr>
        </p:nvSpPr>
        <p:spPr>
          <a:xfrm>
            <a:off x="838200" y="-84456"/>
            <a:ext cx="10515600" cy="1325563"/>
          </a:xfrm>
        </p:spPr>
        <p:txBody>
          <a:bodyPr/>
          <a:lstStyle/>
          <a:p>
            <a:pPr algn="ctr"/>
            <a:r>
              <a:rPr lang="en-IN" dirty="0">
                <a:solidFill>
                  <a:srgbClr val="C00000"/>
                </a:solidFill>
                <a:latin typeface="+mn-lt"/>
              </a:rPr>
              <a:t>Types of Firewalls</a:t>
            </a:r>
            <a:endParaRPr lang="en-IN" dirty="0"/>
          </a:p>
        </p:txBody>
      </p:sp>
      <p:sp>
        <p:nvSpPr>
          <p:cNvPr id="3" name="Content Placeholder 2">
            <a:extLst>
              <a:ext uri="{FF2B5EF4-FFF2-40B4-BE49-F238E27FC236}">
                <a16:creationId xmlns:a16="http://schemas.microsoft.com/office/drawing/2014/main" xmlns="" id="{3E6358AF-63F8-1741-3963-5FF116CB0F10}"/>
              </a:ext>
            </a:extLst>
          </p:cNvPr>
          <p:cNvSpPr>
            <a:spLocks noGrp="1"/>
          </p:cNvSpPr>
          <p:nvPr>
            <p:ph idx="1"/>
          </p:nvPr>
        </p:nvSpPr>
        <p:spPr>
          <a:xfrm>
            <a:off x="838200" y="1169987"/>
            <a:ext cx="10515600" cy="4351338"/>
          </a:xfrm>
        </p:spPr>
        <p:txBody>
          <a:bodyPr>
            <a:noAutofit/>
          </a:bodyPr>
          <a:lstStyle/>
          <a:p>
            <a:pPr algn="just"/>
            <a:r>
              <a:rPr lang="en-US" sz="2400" dirty="0"/>
              <a:t>Packet filtering gateways or screening routers </a:t>
            </a:r>
          </a:p>
          <a:p>
            <a:pPr algn="just"/>
            <a:r>
              <a:rPr lang="en-US" sz="2400" dirty="0"/>
              <a:t>Stateful inspection firewalls </a:t>
            </a:r>
          </a:p>
          <a:p>
            <a:pPr algn="just"/>
            <a:r>
              <a:rPr lang="en-US" sz="2400" dirty="0"/>
              <a:t>Application-level gateways, also known as proxies </a:t>
            </a:r>
          </a:p>
          <a:p>
            <a:pPr algn="just"/>
            <a:r>
              <a:rPr lang="en-US" sz="2400" dirty="0"/>
              <a:t>Circuit-level gateways </a:t>
            </a:r>
          </a:p>
          <a:p>
            <a:pPr algn="just"/>
            <a:r>
              <a:rPr lang="en-US" sz="2400" dirty="0"/>
              <a:t>Guards </a:t>
            </a:r>
          </a:p>
          <a:p>
            <a:pPr algn="just"/>
            <a:r>
              <a:rPr lang="en-US" sz="2400" dirty="0"/>
              <a:t>Personal firewalls</a:t>
            </a:r>
            <a:endParaRPr lang="en-IN" sz="2400" dirty="0"/>
          </a:p>
        </p:txBody>
      </p:sp>
      <p:sp>
        <p:nvSpPr>
          <p:cNvPr id="4" name="Date Placeholder 3">
            <a:extLst>
              <a:ext uri="{FF2B5EF4-FFF2-40B4-BE49-F238E27FC236}">
                <a16:creationId xmlns:a16="http://schemas.microsoft.com/office/drawing/2014/main" xmlns="" id="{084C4D59-7CEC-CC94-5CBF-A7049E1B1D47}"/>
              </a:ext>
            </a:extLst>
          </p:cNvPr>
          <p:cNvSpPr>
            <a:spLocks noGrp="1"/>
          </p:cNvSpPr>
          <p:nvPr>
            <p:ph type="dt" sz="half" idx="10"/>
          </p:nvPr>
        </p:nvSpPr>
        <p:spPr/>
        <p:txBody>
          <a:bodyPr/>
          <a:lstStyle/>
          <a:p>
            <a:fld id="{AA764D0D-FA44-4E6F-9445-E29390C6A41D}" type="datetime1">
              <a:rPr lang="en-IN" smtClean="0"/>
              <a:t>26-04-2025</a:t>
            </a:fld>
            <a:endParaRPr lang="en-IN" dirty="0"/>
          </a:p>
        </p:txBody>
      </p:sp>
      <p:sp>
        <p:nvSpPr>
          <p:cNvPr id="5" name="Slide Number Placeholder 4">
            <a:extLst>
              <a:ext uri="{FF2B5EF4-FFF2-40B4-BE49-F238E27FC236}">
                <a16:creationId xmlns:a16="http://schemas.microsoft.com/office/drawing/2014/main" xmlns="" id="{4D364A30-8BCB-15D0-C9AA-D70C0273ED07}"/>
              </a:ext>
            </a:extLst>
          </p:cNvPr>
          <p:cNvSpPr>
            <a:spLocks noGrp="1"/>
          </p:cNvSpPr>
          <p:nvPr>
            <p:ph type="sldNum" sz="quarter" idx="12"/>
          </p:nvPr>
        </p:nvSpPr>
        <p:spPr/>
        <p:txBody>
          <a:bodyPr/>
          <a:lstStyle/>
          <a:p>
            <a:fld id="{F3A9E9E4-B33D-4B71-BC7B-0B7320F1BC06}" type="slidenum">
              <a:rPr lang="en-IN" smtClean="0"/>
              <a:t>7</a:t>
            </a:fld>
            <a:endParaRPr lang="en-IN" dirty="0"/>
          </a:p>
        </p:txBody>
      </p:sp>
    </p:spTree>
    <p:extLst>
      <p:ext uri="{BB962C8B-B14F-4D97-AF65-F5344CB8AC3E}">
        <p14:creationId xmlns:p14="http://schemas.microsoft.com/office/powerpoint/2010/main" val="410829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EFD1550-7B63-82C6-014C-F1ED1081D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698639C-F3AC-E9D9-45FE-0657A3CE9C99}"/>
              </a:ext>
            </a:extLst>
          </p:cNvPr>
          <p:cNvSpPr>
            <a:spLocks noGrp="1"/>
          </p:cNvSpPr>
          <p:nvPr>
            <p:ph type="title"/>
          </p:nvPr>
        </p:nvSpPr>
        <p:spPr>
          <a:xfrm>
            <a:off x="746760" y="-288077"/>
            <a:ext cx="10515600" cy="1325563"/>
          </a:xfrm>
        </p:spPr>
        <p:txBody>
          <a:bodyPr/>
          <a:lstStyle/>
          <a:p>
            <a:pPr algn="ctr"/>
            <a:r>
              <a:rPr lang="en-US" sz="4400" b="1" dirty="0">
                <a:solidFill>
                  <a:srgbClr val="C00000"/>
                </a:solidFill>
              </a:rPr>
              <a:t>Packet filtering gateways</a:t>
            </a:r>
            <a:endParaRPr lang="en-IN" b="1" dirty="0">
              <a:solidFill>
                <a:srgbClr val="C00000"/>
              </a:solidFill>
            </a:endParaRPr>
          </a:p>
        </p:txBody>
      </p:sp>
      <p:sp>
        <p:nvSpPr>
          <p:cNvPr id="3" name="Content Placeholder 2">
            <a:extLst>
              <a:ext uri="{FF2B5EF4-FFF2-40B4-BE49-F238E27FC236}">
                <a16:creationId xmlns:a16="http://schemas.microsoft.com/office/drawing/2014/main" xmlns="" id="{741B9410-3003-5B55-6E07-59D57B48B972}"/>
              </a:ext>
            </a:extLst>
          </p:cNvPr>
          <p:cNvSpPr>
            <a:spLocks noGrp="1"/>
          </p:cNvSpPr>
          <p:nvPr>
            <p:ph idx="1"/>
          </p:nvPr>
        </p:nvSpPr>
        <p:spPr>
          <a:xfrm>
            <a:off x="838200" y="775900"/>
            <a:ext cx="10515600" cy="4351338"/>
          </a:xfrm>
        </p:spPr>
        <p:txBody>
          <a:bodyPr>
            <a:noAutofit/>
          </a:bodyPr>
          <a:lstStyle/>
          <a:p>
            <a:pPr algn="just"/>
            <a:r>
              <a:rPr lang="en-US" sz="2000" dirty="0"/>
              <a:t>A packet filtering gateway or screening router is the simplest, and in some situations, the most effective type of firewall. </a:t>
            </a:r>
          </a:p>
          <a:p>
            <a:pPr algn="just"/>
            <a:r>
              <a:rPr lang="en-US" sz="2000" dirty="0"/>
              <a:t>A packet filtering gateway controls access on the basis of packet address (source or destination) or specific transport protocol type (such as HTTP web traffic), that is, by examining the control information of each single packet. </a:t>
            </a:r>
          </a:p>
          <a:p>
            <a:pPr algn="just"/>
            <a:r>
              <a:rPr lang="en-US" sz="2000" dirty="0"/>
              <a:t>A firewall can screen traffic before it gets to the protected network. So, if the port scan originated from address 100.200.3.4, you might configure the packet filtering gateway firewall to discard all packets from that address. </a:t>
            </a:r>
          </a:p>
          <a:p>
            <a:pPr algn="just"/>
            <a:r>
              <a:rPr lang="en-US" sz="2000" dirty="0"/>
              <a:t>Figure shows a packet filter that blocks access from (or to) addresses in one network; the filter allows HTTP traffic but blocks traffic by using the Telnet protocol. Packet filters operate at OSI level 3.</a:t>
            </a:r>
            <a:endParaRPr lang="en-IN" sz="2000" dirty="0"/>
          </a:p>
        </p:txBody>
      </p:sp>
      <p:sp>
        <p:nvSpPr>
          <p:cNvPr id="4" name="Date Placeholder 3">
            <a:extLst>
              <a:ext uri="{FF2B5EF4-FFF2-40B4-BE49-F238E27FC236}">
                <a16:creationId xmlns:a16="http://schemas.microsoft.com/office/drawing/2014/main" xmlns="" id="{F84F0768-5975-2321-8942-BA45FBC2FF99}"/>
              </a:ext>
            </a:extLst>
          </p:cNvPr>
          <p:cNvSpPr>
            <a:spLocks noGrp="1"/>
          </p:cNvSpPr>
          <p:nvPr>
            <p:ph type="dt" sz="half" idx="10"/>
          </p:nvPr>
        </p:nvSpPr>
        <p:spPr/>
        <p:txBody>
          <a:bodyPr/>
          <a:lstStyle/>
          <a:p>
            <a:fld id="{404E6469-A583-4DBC-99CB-0F7ECBB86E48}" type="datetime1">
              <a:rPr lang="en-IN" smtClean="0"/>
              <a:t>26-04-2025</a:t>
            </a:fld>
            <a:endParaRPr lang="en-IN" dirty="0"/>
          </a:p>
        </p:txBody>
      </p:sp>
      <p:sp>
        <p:nvSpPr>
          <p:cNvPr id="5" name="Slide Number Placeholder 4">
            <a:extLst>
              <a:ext uri="{FF2B5EF4-FFF2-40B4-BE49-F238E27FC236}">
                <a16:creationId xmlns:a16="http://schemas.microsoft.com/office/drawing/2014/main" xmlns="" id="{4EF421F2-897F-7AEC-70A0-65BC3F17F143}"/>
              </a:ext>
            </a:extLst>
          </p:cNvPr>
          <p:cNvSpPr>
            <a:spLocks noGrp="1"/>
          </p:cNvSpPr>
          <p:nvPr>
            <p:ph type="sldNum" sz="quarter" idx="12"/>
          </p:nvPr>
        </p:nvSpPr>
        <p:spPr/>
        <p:txBody>
          <a:bodyPr/>
          <a:lstStyle/>
          <a:p>
            <a:fld id="{F3A9E9E4-B33D-4B71-BC7B-0B7320F1BC06}" type="slidenum">
              <a:rPr lang="en-IN" smtClean="0"/>
              <a:t>8</a:t>
            </a:fld>
            <a:endParaRPr lang="en-IN" dirty="0"/>
          </a:p>
        </p:txBody>
      </p:sp>
      <p:pic>
        <p:nvPicPr>
          <p:cNvPr id="7" name="Picture 6">
            <a:extLst>
              <a:ext uri="{FF2B5EF4-FFF2-40B4-BE49-F238E27FC236}">
                <a16:creationId xmlns:a16="http://schemas.microsoft.com/office/drawing/2014/main" xmlns="" id="{8EFAD271-1F88-DB92-56D1-C60192307639}"/>
              </a:ext>
            </a:extLst>
          </p:cNvPr>
          <p:cNvPicPr>
            <a:picLocks noChangeAspect="1"/>
          </p:cNvPicPr>
          <p:nvPr/>
        </p:nvPicPr>
        <p:blipFill>
          <a:blip r:embed="rId2"/>
          <a:stretch>
            <a:fillRect/>
          </a:stretch>
        </p:blipFill>
        <p:spPr>
          <a:xfrm>
            <a:off x="3581400" y="4016236"/>
            <a:ext cx="4559534" cy="2705239"/>
          </a:xfrm>
          <a:prstGeom prst="rect">
            <a:avLst/>
          </a:prstGeom>
        </p:spPr>
      </p:pic>
      <p:sp>
        <p:nvSpPr>
          <p:cNvPr id="9" name="TextBox 8">
            <a:extLst>
              <a:ext uri="{FF2B5EF4-FFF2-40B4-BE49-F238E27FC236}">
                <a16:creationId xmlns:a16="http://schemas.microsoft.com/office/drawing/2014/main" xmlns="" id="{ABE43C39-BCF2-E42F-4EF7-2E84AA3306F4}"/>
              </a:ext>
            </a:extLst>
          </p:cNvPr>
          <p:cNvSpPr txBox="1"/>
          <p:nvPr/>
        </p:nvSpPr>
        <p:spPr>
          <a:xfrm>
            <a:off x="3302000" y="6354246"/>
            <a:ext cx="6096000" cy="369332"/>
          </a:xfrm>
          <a:prstGeom prst="rect">
            <a:avLst/>
          </a:prstGeom>
          <a:noFill/>
        </p:spPr>
        <p:txBody>
          <a:bodyPr wrap="square">
            <a:spAutoFit/>
          </a:bodyPr>
          <a:lstStyle/>
          <a:p>
            <a:pPr algn="ctr"/>
            <a:r>
              <a:rPr lang="en-IN" dirty="0"/>
              <a:t>Packet Filter</a:t>
            </a:r>
          </a:p>
        </p:txBody>
      </p:sp>
    </p:spTree>
    <p:extLst>
      <p:ext uri="{BB962C8B-B14F-4D97-AF65-F5344CB8AC3E}">
        <p14:creationId xmlns:p14="http://schemas.microsoft.com/office/powerpoint/2010/main" val="560882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155102B-8FEA-B68A-F98E-4B02D589B6EF}"/>
              </a:ext>
            </a:extLst>
          </p:cNvPr>
          <p:cNvSpPr>
            <a:spLocks noGrp="1"/>
          </p:cNvSpPr>
          <p:nvPr>
            <p:ph idx="1"/>
          </p:nvPr>
        </p:nvSpPr>
        <p:spPr>
          <a:xfrm>
            <a:off x="767080" y="1358265"/>
            <a:ext cx="10515600" cy="4351338"/>
          </a:xfrm>
        </p:spPr>
        <p:txBody>
          <a:bodyPr>
            <a:normAutofit fontScale="77500" lnSpcReduction="20000"/>
          </a:bodyPr>
          <a:lstStyle/>
          <a:p>
            <a:pPr algn="just"/>
            <a:r>
              <a:rPr lang="en-US" dirty="0"/>
              <a:t>Packet filters—screening routers—limit traffic based on packet header data: addresses and ports on packets.</a:t>
            </a:r>
          </a:p>
          <a:p>
            <a:pPr algn="just"/>
            <a:r>
              <a:rPr lang="en-US" dirty="0"/>
              <a:t>Packet filters do not “see inside” a packet; they block or accept packets solely on the basis of the IP addresses and ports. Thus, any details in the packet’s data field (for example, allowing certain Telnet commands while blocking other services) is beyond the capability of a packet filter. </a:t>
            </a:r>
          </a:p>
          <a:p>
            <a:pPr algn="just"/>
            <a:r>
              <a:rPr lang="en-US" dirty="0"/>
              <a:t>Packet filters can perform the important service of ensuring the validity of inside addresses. An inside host typically trusts other inside hosts precisely because they are not outsiders: Outside is uncontrolled and fraught with harmful creatures. </a:t>
            </a:r>
          </a:p>
          <a:p>
            <a:pPr algn="just"/>
            <a:r>
              <a:rPr lang="en-US" dirty="0"/>
              <a:t>But the only way an inside host can recognize another inside host is by the address shown in the source field of a message. Source addresses in packets can be forged, so an inside application might think it was communicating with another host on the inside instead of an outside forger. </a:t>
            </a:r>
          </a:p>
          <a:p>
            <a:pPr algn="just"/>
            <a:r>
              <a:rPr lang="en-US" dirty="0"/>
              <a:t>A packet filter sits between the inside network and the outside net, so it can determine if a packet from the outside is forging an inside address, as shown in Figure.</a:t>
            </a:r>
            <a:endParaRPr lang="en-IN" dirty="0"/>
          </a:p>
        </p:txBody>
      </p:sp>
      <p:sp>
        <p:nvSpPr>
          <p:cNvPr id="4" name="Date Placeholder 3">
            <a:extLst>
              <a:ext uri="{FF2B5EF4-FFF2-40B4-BE49-F238E27FC236}">
                <a16:creationId xmlns:a16="http://schemas.microsoft.com/office/drawing/2014/main" xmlns="" id="{46F86B53-3B5B-53EB-050B-75CE68DF534A}"/>
              </a:ext>
            </a:extLst>
          </p:cNvPr>
          <p:cNvSpPr>
            <a:spLocks noGrp="1"/>
          </p:cNvSpPr>
          <p:nvPr>
            <p:ph type="dt" sz="half" idx="10"/>
          </p:nvPr>
        </p:nvSpPr>
        <p:spPr/>
        <p:txBody>
          <a:bodyPr/>
          <a:lstStyle/>
          <a:p>
            <a:fld id="{344AEC72-74F0-4CF2-A8E9-C95EB92E8C84}" type="datetime1">
              <a:rPr lang="en-IN" smtClean="0"/>
              <a:t>26-04-2025</a:t>
            </a:fld>
            <a:endParaRPr lang="en-IN" dirty="0"/>
          </a:p>
        </p:txBody>
      </p:sp>
      <p:sp>
        <p:nvSpPr>
          <p:cNvPr id="5" name="Slide Number Placeholder 4">
            <a:extLst>
              <a:ext uri="{FF2B5EF4-FFF2-40B4-BE49-F238E27FC236}">
                <a16:creationId xmlns:a16="http://schemas.microsoft.com/office/drawing/2014/main" xmlns="" id="{205B1495-DB04-A3AB-80C7-8AFABBB70050}"/>
              </a:ext>
            </a:extLst>
          </p:cNvPr>
          <p:cNvSpPr>
            <a:spLocks noGrp="1"/>
          </p:cNvSpPr>
          <p:nvPr>
            <p:ph type="sldNum" sz="quarter" idx="12"/>
          </p:nvPr>
        </p:nvSpPr>
        <p:spPr/>
        <p:txBody>
          <a:bodyPr/>
          <a:lstStyle/>
          <a:p>
            <a:fld id="{F3A9E9E4-B33D-4B71-BC7B-0B7320F1BC06}" type="slidenum">
              <a:rPr lang="en-IN" smtClean="0"/>
              <a:t>9</a:t>
            </a:fld>
            <a:endParaRPr lang="en-IN" dirty="0"/>
          </a:p>
        </p:txBody>
      </p:sp>
      <p:sp>
        <p:nvSpPr>
          <p:cNvPr id="6" name="Title 1">
            <a:extLst>
              <a:ext uri="{FF2B5EF4-FFF2-40B4-BE49-F238E27FC236}">
                <a16:creationId xmlns:a16="http://schemas.microsoft.com/office/drawing/2014/main" xmlns="" id="{A9869B48-EE1A-6E90-116D-36B2DAC4ECF7}"/>
              </a:ext>
            </a:extLst>
          </p:cNvPr>
          <p:cNvSpPr>
            <a:spLocks noGrp="1"/>
          </p:cNvSpPr>
          <p:nvPr>
            <p:ph type="title"/>
          </p:nvPr>
        </p:nvSpPr>
        <p:spPr>
          <a:xfrm>
            <a:off x="767080" y="-38101"/>
            <a:ext cx="10515600" cy="1325563"/>
          </a:xfrm>
        </p:spPr>
        <p:txBody>
          <a:bodyPr/>
          <a:lstStyle/>
          <a:p>
            <a:pPr algn="ctr"/>
            <a:r>
              <a:rPr lang="en-US" sz="4400" b="1" dirty="0">
                <a:solidFill>
                  <a:srgbClr val="C00000"/>
                </a:solidFill>
              </a:rPr>
              <a:t>Packet filtering gateways</a:t>
            </a:r>
            <a:endParaRPr lang="en-IN" b="1" dirty="0">
              <a:solidFill>
                <a:srgbClr val="C00000"/>
              </a:solidFill>
            </a:endParaRPr>
          </a:p>
        </p:txBody>
      </p:sp>
    </p:spTree>
    <p:extLst>
      <p:ext uri="{BB962C8B-B14F-4D97-AF65-F5344CB8AC3E}">
        <p14:creationId xmlns:p14="http://schemas.microsoft.com/office/powerpoint/2010/main" val="3924871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A17B726-25BD-3842-D918-D954260FD5F6}"/>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xmlns="" id="{6DD7585D-9D80-7828-BC3D-2142FCC89702}"/>
              </a:ext>
            </a:extLst>
          </p:cNvPr>
          <p:cNvPicPr>
            <a:picLocks noGrp="1" noChangeAspect="1"/>
          </p:cNvPicPr>
          <p:nvPr>
            <p:ph idx="1"/>
          </p:nvPr>
        </p:nvPicPr>
        <p:blipFill>
          <a:blip r:embed="rId2"/>
          <a:stretch>
            <a:fillRect/>
          </a:stretch>
        </p:blipFill>
        <p:spPr>
          <a:xfrm>
            <a:off x="2730701" y="1364503"/>
            <a:ext cx="6921299" cy="4176142"/>
          </a:xfrm>
        </p:spPr>
      </p:pic>
      <p:sp>
        <p:nvSpPr>
          <p:cNvPr id="4" name="Date Placeholder 3">
            <a:extLst>
              <a:ext uri="{FF2B5EF4-FFF2-40B4-BE49-F238E27FC236}">
                <a16:creationId xmlns:a16="http://schemas.microsoft.com/office/drawing/2014/main" xmlns="" id="{F13E48CE-FD4A-4336-2258-5C79B57DFDCC}"/>
              </a:ext>
            </a:extLst>
          </p:cNvPr>
          <p:cNvSpPr>
            <a:spLocks noGrp="1"/>
          </p:cNvSpPr>
          <p:nvPr>
            <p:ph type="dt" sz="half" idx="10"/>
          </p:nvPr>
        </p:nvSpPr>
        <p:spPr/>
        <p:txBody>
          <a:bodyPr/>
          <a:lstStyle/>
          <a:p>
            <a:fld id="{E783BA99-87E9-4A28-8DCF-278D5F2D4F3F}" type="datetime1">
              <a:rPr lang="en-IN" smtClean="0"/>
              <a:t>26-04-2025</a:t>
            </a:fld>
            <a:endParaRPr lang="en-IN" dirty="0"/>
          </a:p>
        </p:txBody>
      </p:sp>
      <p:sp>
        <p:nvSpPr>
          <p:cNvPr id="5" name="Slide Number Placeholder 4">
            <a:extLst>
              <a:ext uri="{FF2B5EF4-FFF2-40B4-BE49-F238E27FC236}">
                <a16:creationId xmlns:a16="http://schemas.microsoft.com/office/drawing/2014/main" xmlns="" id="{1BD4CF11-DD8B-B08C-A3AC-D328054ECE91}"/>
              </a:ext>
            </a:extLst>
          </p:cNvPr>
          <p:cNvSpPr>
            <a:spLocks noGrp="1"/>
          </p:cNvSpPr>
          <p:nvPr>
            <p:ph type="sldNum" sz="quarter" idx="12"/>
          </p:nvPr>
        </p:nvSpPr>
        <p:spPr/>
        <p:txBody>
          <a:bodyPr/>
          <a:lstStyle/>
          <a:p>
            <a:fld id="{F3A9E9E4-B33D-4B71-BC7B-0B7320F1BC06}" type="slidenum">
              <a:rPr lang="en-IN" smtClean="0"/>
              <a:t>10</a:t>
            </a:fld>
            <a:endParaRPr lang="en-IN" dirty="0"/>
          </a:p>
        </p:txBody>
      </p:sp>
      <p:sp>
        <p:nvSpPr>
          <p:cNvPr id="6" name="Title 1">
            <a:extLst>
              <a:ext uri="{FF2B5EF4-FFF2-40B4-BE49-F238E27FC236}">
                <a16:creationId xmlns:a16="http://schemas.microsoft.com/office/drawing/2014/main" xmlns="" id="{311F5A0E-23F3-6231-346C-7DF9C478E73D}"/>
              </a:ext>
            </a:extLst>
          </p:cNvPr>
          <p:cNvSpPr>
            <a:spLocks noGrp="1"/>
          </p:cNvSpPr>
          <p:nvPr>
            <p:ph type="title"/>
          </p:nvPr>
        </p:nvSpPr>
        <p:spPr>
          <a:xfrm>
            <a:off x="767080" y="-38101"/>
            <a:ext cx="10515600" cy="1325563"/>
          </a:xfrm>
        </p:spPr>
        <p:txBody>
          <a:bodyPr/>
          <a:lstStyle/>
          <a:p>
            <a:pPr algn="ctr"/>
            <a:r>
              <a:rPr lang="en-US" sz="4400" b="1" dirty="0">
                <a:solidFill>
                  <a:srgbClr val="C00000"/>
                </a:solidFill>
              </a:rPr>
              <a:t>Packet filtering gateways</a:t>
            </a:r>
            <a:endParaRPr lang="en-IN" b="1" dirty="0">
              <a:solidFill>
                <a:srgbClr val="C00000"/>
              </a:solidFill>
            </a:endParaRPr>
          </a:p>
        </p:txBody>
      </p:sp>
      <p:sp>
        <p:nvSpPr>
          <p:cNvPr id="9" name="TextBox 8">
            <a:extLst>
              <a:ext uri="{FF2B5EF4-FFF2-40B4-BE49-F238E27FC236}">
                <a16:creationId xmlns:a16="http://schemas.microsoft.com/office/drawing/2014/main" xmlns="" id="{656B01E2-12EA-9F3B-9103-085447E2F2B4}"/>
              </a:ext>
            </a:extLst>
          </p:cNvPr>
          <p:cNvSpPr txBox="1"/>
          <p:nvPr/>
        </p:nvSpPr>
        <p:spPr>
          <a:xfrm>
            <a:off x="3048000" y="5956240"/>
            <a:ext cx="6096000" cy="400110"/>
          </a:xfrm>
          <a:prstGeom prst="rect">
            <a:avLst/>
          </a:prstGeom>
          <a:noFill/>
        </p:spPr>
        <p:txBody>
          <a:bodyPr wrap="square">
            <a:spAutoFit/>
          </a:bodyPr>
          <a:lstStyle/>
          <a:p>
            <a:pPr algn="ctr"/>
            <a:r>
              <a:rPr lang="en-US" sz="2000" dirty="0"/>
              <a:t>Packet Filter Screening Outside Hosts</a:t>
            </a:r>
            <a:endParaRPr lang="en-IN" sz="2000" dirty="0"/>
          </a:p>
        </p:txBody>
      </p:sp>
    </p:spTree>
    <p:extLst>
      <p:ext uri="{BB962C8B-B14F-4D97-AF65-F5344CB8AC3E}">
        <p14:creationId xmlns:p14="http://schemas.microsoft.com/office/powerpoint/2010/main" val="3844380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4EA9A81-B3F2-803C-D89C-96B40060DBA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E091988D-7042-0FF9-A695-EEAC693FBC32}"/>
              </a:ext>
            </a:extLst>
          </p:cNvPr>
          <p:cNvSpPr>
            <a:spLocks noGrp="1"/>
          </p:cNvSpPr>
          <p:nvPr>
            <p:ph type="dt" sz="half" idx="10"/>
          </p:nvPr>
        </p:nvSpPr>
        <p:spPr>
          <a:xfrm>
            <a:off x="767080" y="6413182"/>
            <a:ext cx="2743200" cy="365125"/>
          </a:xfrm>
        </p:spPr>
        <p:txBody>
          <a:bodyPr/>
          <a:lstStyle/>
          <a:p>
            <a:fld id="{CDC5A688-0940-4CBE-90B5-F8852D30C236}" type="datetime1">
              <a:rPr lang="en-IN" smtClean="0"/>
              <a:t>26-04-2025</a:t>
            </a:fld>
            <a:endParaRPr lang="en-IN" dirty="0"/>
          </a:p>
        </p:txBody>
      </p:sp>
      <p:sp>
        <p:nvSpPr>
          <p:cNvPr id="5" name="Slide Number Placeholder 4">
            <a:extLst>
              <a:ext uri="{FF2B5EF4-FFF2-40B4-BE49-F238E27FC236}">
                <a16:creationId xmlns:a16="http://schemas.microsoft.com/office/drawing/2014/main" xmlns="" id="{5260549F-A883-16C2-2A46-FB815526BB24}"/>
              </a:ext>
            </a:extLst>
          </p:cNvPr>
          <p:cNvSpPr>
            <a:spLocks noGrp="1"/>
          </p:cNvSpPr>
          <p:nvPr>
            <p:ph type="sldNum" sz="quarter" idx="12"/>
          </p:nvPr>
        </p:nvSpPr>
        <p:spPr/>
        <p:txBody>
          <a:bodyPr/>
          <a:lstStyle/>
          <a:p>
            <a:fld id="{F3A9E9E4-B33D-4B71-BC7B-0B7320F1BC06}" type="slidenum">
              <a:rPr lang="en-IN" smtClean="0"/>
              <a:t>11</a:t>
            </a:fld>
            <a:endParaRPr lang="en-IN" dirty="0"/>
          </a:p>
        </p:txBody>
      </p:sp>
      <p:sp>
        <p:nvSpPr>
          <p:cNvPr id="6" name="Title 1">
            <a:extLst>
              <a:ext uri="{FF2B5EF4-FFF2-40B4-BE49-F238E27FC236}">
                <a16:creationId xmlns:a16="http://schemas.microsoft.com/office/drawing/2014/main" xmlns="" id="{429BEB14-1023-799C-ABFD-9EB6AAA77B28}"/>
              </a:ext>
            </a:extLst>
          </p:cNvPr>
          <p:cNvSpPr>
            <a:spLocks noGrp="1"/>
          </p:cNvSpPr>
          <p:nvPr>
            <p:ph type="title"/>
          </p:nvPr>
        </p:nvSpPr>
        <p:spPr>
          <a:xfrm>
            <a:off x="767080" y="-202248"/>
            <a:ext cx="10515600" cy="1325563"/>
          </a:xfrm>
        </p:spPr>
        <p:txBody>
          <a:bodyPr/>
          <a:lstStyle/>
          <a:p>
            <a:pPr algn="ctr"/>
            <a:r>
              <a:rPr lang="en-US" sz="4400" b="1" dirty="0">
                <a:solidFill>
                  <a:srgbClr val="C00000"/>
                </a:solidFill>
              </a:rPr>
              <a:t>Packet filtering gateways</a:t>
            </a:r>
            <a:endParaRPr lang="en-IN" b="1" dirty="0">
              <a:solidFill>
                <a:srgbClr val="C00000"/>
              </a:solidFill>
            </a:endParaRPr>
          </a:p>
        </p:txBody>
      </p:sp>
      <p:sp>
        <p:nvSpPr>
          <p:cNvPr id="3" name="Content Placeholder 2">
            <a:extLst>
              <a:ext uri="{FF2B5EF4-FFF2-40B4-BE49-F238E27FC236}">
                <a16:creationId xmlns:a16="http://schemas.microsoft.com/office/drawing/2014/main" xmlns="" id="{6CE26EC0-F6E8-DB87-8A95-36CCB3FD5BE1}"/>
              </a:ext>
            </a:extLst>
          </p:cNvPr>
          <p:cNvSpPr>
            <a:spLocks noGrp="1"/>
          </p:cNvSpPr>
          <p:nvPr>
            <p:ph idx="1"/>
          </p:nvPr>
        </p:nvSpPr>
        <p:spPr>
          <a:xfrm>
            <a:off x="838200" y="901382"/>
            <a:ext cx="10515600" cy="4351338"/>
          </a:xfrm>
        </p:spPr>
        <p:txBody>
          <a:bodyPr>
            <a:noAutofit/>
          </a:bodyPr>
          <a:lstStyle/>
          <a:p>
            <a:pPr algn="just">
              <a:lnSpc>
                <a:spcPct val="100000"/>
              </a:lnSpc>
            </a:pPr>
            <a:r>
              <a:rPr lang="en-US" sz="2000" b="1" dirty="0"/>
              <a:t>When we say the filter “sits between” two networks we really mean it connects to both the inside and outside networks, by two separate interface cards. </a:t>
            </a:r>
            <a:r>
              <a:rPr lang="en-US" sz="2000" dirty="0"/>
              <a:t>The packet filter can easily distinguish inside from outside traffic based on which interface a packet arrived on. </a:t>
            </a:r>
          </a:p>
          <a:p>
            <a:pPr algn="just">
              <a:lnSpc>
                <a:spcPct val="100000"/>
              </a:lnSpc>
            </a:pPr>
            <a:r>
              <a:rPr lang="en-US" sz="2000" dirty="0"/>
              <a:t>A screening packet filter might be configured to block all packets from the outside that claimed their source address was an inside address. In this example, the packet filter blocks all packets claiming to come from any address of the form 100.50.25.x (but, of course, it permits in any packets with destination 100.50.25.x). </a:t>
            </a:r>
          </a:p>
          <a:p>
            <a:pPr algn="just">
              <a:lnSpc>
                <a:spcPct val="100000"/>
              </a:lnSpc>
            </a:pPr>
            <a:r>
              <a:rPr lang="en-US" sz="2000" b="1" dirty="0"/>
              <a:t>A packet filter accepts or rejects solely according to the header information—address, size, protocol type</a:t>
            </a:r>
            <a:r>
              <a:rPr lang="en-US" sz="2000" dirty="0"/>
              <a:t>—of each packet by itself. Such processing is simple, efficient, and fast, so a packet filtering firewall often serves as a sturdy doorkeeper to quickly eliminate obviously unwanted traffic. </a:t>
            </a:r>
          </a:p>
          <a:p>
            <a:pPr algn="just">
              <a:lnSpc>
                <a:spcPct val="100000"/>
              </a:lnSpc>
            </a:pPr>
            <a:r>
              <a:rPr lang="en-US" sz="2000" dirty="0"/>
              <a:t>The primary disadvantage of packet filtering routers is a combination of simplicity and complexity. The router’s inspection is simplistic; to perform sophisticated filtering, the rules set needs to be very detailed. A detailed rules set will be complex and therefore prone to error. </a:t>
            </a:r>
          </a:p>
          <a:p>
            <a:pPr algn="just">
              <a:lnSpc>
                <a:spcPct val="100000"/>
              </a:lnSpc>
            </a:pPr>
            <a:r>
              <a:rPr lang="en-US" sz="2000" dirty="0"/>
              <a:t>For example, blocking all port 23 traffic (Telnet) is simple and straightforward. But if some Telnet traffic is to be allowed, each IP address from which it is allowed must be specified in the rules.</a:t>
            </a:r>
            <a:endParaRPr lang="en-IN" sz="2000" dirty="0"/>
          </a:p>
        </p:txBody>
      </p:sp>
    </p:spTree>
    <p:extLst>
      <p:ext uri="{BB962C8B-B14F-4D97-AF65-F5344CB8AC3E}">
        <p14:creationId xmlns:p14="http://schemas.microsoft.com/office/powerpoint/2010/main" val="1466918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D6D114A-E4F7-B828-3B12-C813E3D2BD8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3B6D1045-6B72-3E45-405D-10767C7FAA15}"/>
              </a:ext>
            </a:extLst>
          </p:cNvPr>
          <p:cNvSpPr>
            <a:spLocks noGrp="1"/>
          </p:cNvSpPr>
          <p:nvPr>
            <p:ph type="dt" sz="half" idx="10"/>
          </p:nvPr>
        </p:nvSpPr>
        <p:spPr>
          <a:xfrm>
            <a:off x="767080" y="6413182"/>
            <a:ext cx="2743200" cy="365125"/>
          </a:xfrm>
        </p:spPr>
        <p:txBody>
          <a:bodyPr/>
          <a:lstStyle/>
          <a:p>
            <a:fld id="{FB2DBCB5-9405-4603-9BF0-BA9685AF882E}" type="datetime1">
              <a:rPr lang="en-IN" smtClean="0"/>
              <a:t>26-04-2025</a:t>
            </a:fld>
            <a:endParaRPr lang="en-IN" dirty="0"/>
          </a:p>
        </p:txBody>
      </p:sp>
      <p:sp>
        <p:nvSpPr>
          <p:cNvPr id="5" name="Slide Number Placeholder 4">
            <a:extLst>
              <a:ext uri="{FF2B5EF4-FFF2-40B4-BE49-F238E27FC236}">
                <a16:creationId xmlns:a16="http://schemas.microsoft.com/office/drawing/2014/main" xmlns="" id="{9B29A391-D631-4AE9-0518-7D4E1DC4DEE2}"/>
              </a:ext>
            </a:extLst>
          </p:cNvPr>
          <p:cNvSpPr>
            <a:spLocks noGrp="1"/>
          </p:cNvSpPr>
          <p:nvPr>
            <p:ph type="sldNum" sz="quarter" idx="12"/>
          </p:nvPr>
        </p:nvSpPr>
        <p:spPr/>
        <p:txBody>
          <a:bodyPr/>
          <a:lstStyle/>
          <a:p>
            <a:fld id="{F3A9E9E4-B33D-4B71-BC7B-0B7320F1BC06}" type="slidenum">
              <a:rPr lang="en-IN" smtClean="0"/>
              <a:t>12</a:t>
            </a:fld>
            <a:endParaRPr lang="en-IN" dirty="0"/>
          </a:p>
        </p:txBody>
      </p:sp>
      <p:sp>
        <p:nvSpPr>
          <p:cNvPr id="6" name="Title 1">
            <a:extLst>
              <a:ext uri="{FF2B5EF4-FFF2-40B4-BE49-F238E27FC236}">
                <a16:creationId xmlns:a16="http://schemas.microsoft.com/office/drawing/2014/main" xmlns="" id="{78CC5321-8877-D0E0-F026-9331662B9927}"/>
              </a:ext>
            </a:extLst>
          </p:cNvPr>
          <p:cNvSpPr>
            <a:spLocks noGrp="1"/>
          </p:cNvSpPr>
          <p:nvPr>
            <p:ph type="title"/>
          </p:nvPr>
        </p:nvSpPr>
        <p:spPr>
          <a:xfrm>
            <a:off x="767080" y="-202248"/>
            <a:ext cx="10515600" cy="1325563"/>
          </a:xfrm>
        </p:spPr>
        <p:txBody>
          <a:bodyPr/>
          <a:lstStyle/>
          <a:p>
            <a:pPr algn="ctr"/>
            <a:r>
              <a:rPr lang="en-IN" b="1" dirty="0">
                <a:solidFill>
                  <a:srgbClr val="C00000"/>
                </a:solidFill>
              </a:rPr>
              <a:t>Stateful Inspection Firewall</a:t>
            </a:r>
          </a:p>
        </p:txBody>
      </p:sp>
      <p:sp>
        <p:nvSpPr>
          <p:cNvPr id="3" name="Content Placeholder 2">
            <a:extLst>
              <a:ext uri="{FF2B5EF4-FFF2-40B4-BE49-F238E27FC236}">
                <a16:creationId xmlns:a16="http://schemas.microsoft.com/office/drawing/2014/main" xmlns="" id="{EA03900B-99EC-42D9-3FCC-A0103BD6F4D1}"/>
              </a:ext>
            </a:extLst>
          </p:cNvPr>
          <p:cNvSpPr>
            <a:spLocks noGrp="1"/>
          </p:cNvSpPr>
          <p:nvPr>
            <p:ph idx="1"/>
          </p:nvPr>
        </p:nvSpPr>
        <p:spPr>
          <a:xfrm>
            <a:off x="838200" y="901382"/>
            <a:ext cx="10515600" cy="4351338"/>
          </a:xfrm>
        </p:spPr>
        <p:txBody>
          <a:bodyPr>
            <a:noAutofit/>
          </a:bodyPr>
          <a:lstStyle/>
          <a:p>
            <a:pPr algn="just">
              <a:lnSpc>
                <a:spcPct val="100000"/>
              </a:lnSpc>
            </a:pPr>
            <a:r>
              <a:rPr lang="en-US" sz="2000" dirty="0"/>
              <a:t>Filtering firewalls work on </a:t>
            </a:r>
            <a:r>
              <a:rPr lang="en-US" sz="2000" b="1" dirty="0"/>
              <a:t>packets one at a time</a:t>
            </a:r>
            <a:r>
              <a:rPr lang="en-US" sz="2000" dirty="0"/>
              <a:t>, accepting or rejecting each packet and moving on to the next. </a:t>
            </a:r>
            <a:r>
              <a:rPr lang="en-US" sz="2000" b="1" dirty="0"/>
              <a:t>They have no concept of “state” or “context” from one packet to the next</a:t>
            </a:r>
            <a:r>
              <a:rPr lang="en-US" sz="2000" dirty="0"/>
              <a:t>. A stateful inspection firewall maintains state information from one packet to another in the input stream. </a:t>
            </a:r>
          </a:p>
          <a:p>
            <a:pPr algn="just">
              <a:lnSpc>
                <a:spcPct val="100000"/>
              </a:lnSpc>
            </a:pPr>
            <a:r>
              <a:rPr lang="en-US" sz="2000" b="1" dirty="0"/>
              <a:t>Stateful inspection firewalls judge according to information from multiple packets.</a:t>
            </a:r>
          </a:p>
          <a:p>
            <a:pPr algn="just">
              <a:lnSpc>
                <a:spcPct val="100000"/>
              </a:lnSpc>
            </a:pPr>
            <a:r>
              <a:rPr lang="en-US" sz="2000" dirty="0"/>
              <a:t>Recall the description of observing probes against ports 1, 2, 3, 4, and so forth. By itself, a probe against port 1 is meaningless: It is most likely a legitimate attempt to connect to the service of port 1 or a single mistake, but it could also signal the start of a port scan attack. </a:t>
            </a:r>
          </a:p>
          <a:p>
            <a:pPr algn="just">
              <a:lnSpc>
                <a:spcPct val="100000"/>
              </a:lnSpc>
            </a:pPr>
            <a:r>
              <a:rPr lang="en-US" sz="2000" dirty="0"/>
              <a:t>The firewall records that address 100.200.3.4 sent a connection packet to port 1 at 01:37.26. When the probe against port 2 arrives, the firewall may record the second connection from 100.200.3.4, at 01:37.29. After two more connections at 01:37.34 and 01:37.36, the next connection at 01:37.39 meets the firewall’s rule for number of different ports in a short time, so it activates the rule to block connections from 100.200.3.4, as shown in Figure. </a:t>
            </a:r>
          </a:p>
          <a:p>
            <a:pPr algn="just">
              <a:lnSpc>
                <a:spcPct val="100000"/>
              </a:lnSpc>
            </a:pPr>
            <a:r>
              <a:rPr lang="en-US" sz="2000" dirty="0"/>
              <a:t>The firewall progresses through several states (the count of connection requests from address 100.200.3.4) from different packets until the count exceeds the threshold for acceptable behavior. </a:t>
            </a:r>
            <a:r>
              <a:rPr lang="en-US" sz="2000" b="1" dirty="0"/>
              <a:t>The name stateful inspection refers to accumulating threat evidence across multiple packets.</a:t>
            </a:r>
            <a:endParaRPr lang="en-IN" sz="2000" b="1" dirty="0"/>
          </a:p>
        </p:txBody>
      </p:sp>
    </p:spTree>
    <p:extLst>
      <p:ext uri="{BB962C8B-B14F-4D97-AF65-F5344CB8AC3E}">
        <p14:creationId xmlns:p14="http://schemas.microsoft.com/office/powerpoint/2010/main" val="10006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60FC4C-289B-EB56-49C0-114E734D4CD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xmlns="" id="{446CDBF8-0712-F722-9E1C-F3D9AEBB8744}"/>
              </a:ext>
            </a:extLst>
          </p:cNvPr>
          <p:cNvSpPr>
            <a:spLocks noGrp="1"/>
          </p:cNvSpPr>
          <p:nvPr>
            <p:ph type="title"/>
          </p:nvPr>
        </p:nvSpPr>
        <p:spPr>
          <a:xfrm>
            <a:off x="762000" y="-41674"/>
            <a:ext cx="10515600" cy="1325563"/>
          </a:xfrm>
        </p:spPr>
        <p:txBody>
          <a:bodyPr/>
          <a:lstStyle/>
          <a:p>
            <a:pPr algn="ctr"/>
            <a:r>
              <a:rPr lang="en-IN" b="1" dirty="0">
                <a:solidFill>
                  <a:srgbClr val="C00000"/>
                </a:solidFill>
              </a:rPr>
              <a:t>Stateful Inspection Firewall</a:t>
            </a:r>
          </a:p>
        </p:txBody>
      </p:sp>
      <p:sp>
        <p:nvSpPr>
          <p:cNvPr id="10" name="Content Placeholder 9">
            <a:extLst>
              <a:ext uri="{FF2B5EF4-FFF2-40B4-BE49-F238E27FC236}">
                <a16:creationId xmlns:a16="http://schemas.microsoft.com/office/drawing/2014/main" xmlns="" id="{1C8C330D-565D-1F4D-68EF-0812EE308C26}"/>
              </a:ext>
            </a:extLst>
          </p:cNvPr>
          <p:cNvSpPr>
            <a:spLocks noGrp="1"/>
          </p:cNvSpPr>
          <p:nvPr>
            <p:ph sz="half" idx="2"/>
          </p:nvPr>
        </p:nvSpPr>
        <p:spPr>
          <a:xfrm>
            <a:off x="6172200" y="1730653"/>
            <a:ext cx="5181600" cy="4351338"/>
          </a:xfrm>
        </p:spPr>
        <p:txBody>
          <a:bodyPr>
            <a:normAutofit/>
          </a:bodyPr>
          <a:lstStyle/>
          <a:p>
            <a:pPr algn="just">
              <a:lnSpc>
                <a:spcPct val="100000"/>
              </a:lnSpc>
            </a:pPr>
            <a:r>
              <a:rPr lang="en-US" sz="2000" dirty="0"/>
              <a:t>One classic approach used by attackers is to break an attack into multiple packets by forcing some packets to have very short lengths so that a firewall cannot detect the characteristic of an attack split across two or more packets. </a:t>
            </a:r>
          </a:p>
          <a:p>
            <a:pPr algn="just">
              <a:lnSpc>
                <a:spcPct val="100000"/>
              </a:lnSpc>
            </a:pPr>
            <a:r>
              <a:rPr lang="en-US" sz="2000" dirty="0"/>
              <a:t>A stateful inspection firewall would track the sequence of packets and conditions from one packet to another to thwart such an attack.</a:t>
            </a:r>
            <a:endParaRPr lang="en-IN" sz="2000" dirty="0"/>
          </a:p>
          <a:p>
            <a:endParaRPr lang="en-IN" sz="2000" dirty="0"/>
          </a:p>
        </p:txBody>
      </p:sp>
      <p:sp>
        <p:nvSpPr>
          <p:cNvPr id="4" name="Date Placeholder 3">
            <a:extLst>
              <a:ext uri="{FF2B5EF4-FFF2-40B4-BE49-F238E27FC236}">
                <a16:creationId xmlns:a16="http://schemas.microsoft.com/office/drawing/2014/main" xmlns="" id="{6F0F898F-4370-F62B-04CC-743B4019EE8B}"/>
              </a:ext>
            </a:extLst>
          </p:cNvPr>
          <p:cNvSpPr>
            <a:spLocks noGrp="1"/>
          </p:cNvSpPr>
          <p:nvPr>
            <p:ph type="dt" sz="half" idx="10"/>
          </p:nvPr>
        </p:nvSpPr>
        <p:spPr/>
        <p:txBody>
          <a:bodyPr/>
          <a:lstStyle/>
          <a:p>
            <a:fld id="{8764A5EC-69B4-4820-A5D5-95BE068210BA}" type="datetime1">
              <a:rPr lang="en-IN" smtClean="0"/>
              <a:t>26-04-2025</a:t>
            </a:fld>
            <a:endParaRPr lang="en-IN" dirty="0"/>
          </a:p>
        </p:txBody>
      </p:sp>
      <p:sp>
        <p:nvSpPr>
          <p:cNvPr id="5" name="Slide Number Placeholder 4">
            <a:extLst>
              <a:ext uri="{FF2B5EF4-FFF2-40B4-BE49-F238E27FC236}">
                <a16:creationId xmlns:a16="http://schemas.microsoft.com/office/drawing/2014/main" xmlns="" id="{A10F6F05-B21F-4A35-F8E4-1C09AE39866C}"/>
              </a:ext>
            </a:extLst>
          </p:cNvPr>
          <p:cNvSpPr>
            <a:spLocks noGrp="1"/>
          </p:cNvSpPr>
          <p:nvPr>
            <p:ph type="sldNum" sz="quarter" idx="12"/>
          </p:nvPr>
        </p:nvSpPr>
        <p:spPr/>
        <p:txBody>
          <a:bodyPr/>
          <a:lstStyle/>
          <a:p>
            <a:fld id="{F3A9E9E4-B33D-4B71-BC7B-0B7320F1BC06}" type="slidenum">
              <a:rPr lang="en-IN" smtClean="0"/>
              <a:t>13</a:t>
            </a:fld>
            <a:endParaRPr lang="en-IN" dirty="0"/>
          </a:p>
        </p:txBody>
      </p:sp>
      <p:pic>
        <p:nvPicPr>
          <p:cNvPr id="7" name="Picture 6">
            <a:extLst>
              <a:ext uri="{FF2B5EF4-FFF2-40B4-BE49-F238E27FC236}">
                <a16:creationId xmlns:a16="http://schemas.microsoft.com/office/drawing/2014/main" xmlns="" id="{A798D7F8-33EF-7BAC-91B6-94C2044B08B4}"/>
              </a:ext>
            </a:extLst>
          </p:cNvPr>
          <p:cNvPicPr>
            <a:picLocks noChangeAspect="1"/>
          </p:cNvPicPr>
          <p:nvPr/>
        </p:nvPicPr>
        <p:blipFill>
          <a:blip r:embed="rId2"/>
          <a:stretch>
            <a:fillRect/>
          </a:stretch>
        </p:blipFill>
        <p:spPr>
          <a:xfrm>
            <a:off x="401501" y="1450201"/>
            <a:ext cx="5562237" cy="3957597"/>
          </a:xfrm>
          <a:prstGeom prst="rect">
            <a:avLst/>
          </a:prstGeom>
        </p:spPr>
      </p:pic>
      <p:sp>
        <p:nvSpPr>
          <p:cNvPr id="9" name="TextBox 8">
            <a:extLst>
              <a:ext uri="{FF2B5EF4-FFF2-40B4-BE49-F238E27FC236}">
                <a16:creationId xmlns:a16="http://schemas.microsoft.com/office/drawing/2014/main" xmlns="" id="{324CEE22-78B6-0EA1-AC00-99585FBF45AD}"/>
              </a:ext>
            </a:extLst>
          </p:cNvPr>
          <p:cNvSpPr txBox="1"/>
          <p:nvPr/>
        </p:nvSpPr>
        <p:spPr>
          <a:xfrm>
            <a:off x="134619" y="5712659"/>
            <a:ext cx="6096000" cy="369332"/>
          </a:xfrm>
          <a:prstGeom prst="rect">
            <a:avLst/>
          </a:prstGeom>
          <a:noFill/>
        </p:spPr>
        <p:txBody>
          <a:bodyPr wrap="square">
            <a:spAutoFit/>
          </a:bodyPr>
          <a:lstStyle/>
          <a:p>
            <a:pPr algn="ctr"/>
            <a:r>
              <a:rPr lang="en-US" dirty="0"/>
              <a:t>Stateful Inspection Blocking Multiple Probes</a:t>
            </a:r>
            <a:endParaRPr lang="en-IN" dirty="0"/>
          </a:p>
        </p:txBody>
      </p:sp>
    </p:spTree>
    <p:extLst>
      <p:ext uri="{BB962C8B-B14F-4D97-AF65-F5344CB8AC3E}">
        <p14:creationId xmlns:p14="http://schemas.microsoft.com/office/powerpoint/2010/main" val="78508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B9A49B-5590-DCFC-3868-85CB73862DDF}"/>
              </a:ext>
            </a:extLst>
          </p:cNvPr>
          <p:cNvSpPr>
            <a:spLocks noGrp="1"/>
          </p:cNvSpPr>
          <p:nvPr>
            <p:ph type="title"/>
          </p:nvPr>
        </p:nvSpPr>
        <p:spPr>
          <a:xfrm>
            <a:off x="838200" y="-31592"/>
            <a:ext cx="10515600" cy="1325563"/>
          </a:xfrm>
        </p:spPr>
        <p:txBody>
          <a:bodyPr/>
          <a:lstStyle/>
          <a:p>
            <a:pPr algn="ctr"/>
            <a:r>
              <a:rPr lang="en-IN" b="1" dirty="0">
                <a:solidFill>
                  <a:srgbClr val="C00000"/>
                </a:solidFill>
              </a:rPr>
              <a:t>Application Proxy</a:t>
            </a:r>
          </a:p>
        </p:txBody>
      </p:sp>
      <p:sp>
        <p:nvSpPr>
          <p:cNvPr id="3" name="Content Placeholder 2">
            <a:extLst>
              <a:ext uri="{FF2B5EF4-FFF2-40B4-BE49-F238E27FC236}">
                <a16:creationId xmlns:a16="http://schemas.microsoft.com/office/drawing/2014/main" xmlns="" id="{9342E1AA-BE1F-AF04-901D-D3F06000C510}"/>
              </a:ext>
            </a:extLst>
          </p:cNvPr>
          <p:cNvSpPr>
            <a:spLocks noGrp="1"/>
          </p:cNvSpPr>
          <p:nvPr>
            <p:ph idx="1"/>
          </p:nvPr>
        </p:nvSpPr>
        <p:spPr>
          <a:xfrm>
            <a:off x="909320" y="1253331"/>
            <a:ext cx="10515600" cy="4351338"/>
          </a:xfrm>
        </p:spPr>
        <p:txBody>
          <a:bodyPr>
            <a:normAutofit fontScale="92500" lnSpcReduction="10000"/>
          </a:bodyPr>
          <a:lstStyle/>
          <a:p>
            <a:pPr algn="just"/>
            <a:r>
              <a:rPr lang="en-US" sz="2400" dirty="0"/>
              <a:t>Packet filters look only at the headers of packets, not at the data inside the packets. Therefore, a packet filter would pass anything to port 25, assuming its screening rules allow inbound connections to that port.</a:t>
            </a:r>
          </a:p>
          <a:p>
            <a:pPr algn="just"/>
            <a:r>
              <a:rPr lang="en-US" sz="2400" dirty="0"/>
              <a:t>But applications are complex and sometimes contain errors. Worse, applications (such as the email delivery agent) often act on behalf of all users, so they require privileges of all users (for example, to store incoming mail messages so that inside users can read them). </a:t>
            </a:r>
          </a:p>
          <a:p>
            <a:pPr algn="just"/>
            <a:r>
              <a:rPr lang="en-US" sz="2400" dirty="0"/>
              <a:t>A flawed application, running with all-users privileges, can cause much damage.</a:t>
            </a:r>
          </a:p>
          <a:p>
            <a:pPr algn="just"/>
            <a:r>
              <a:rPr lang="en-US" sz="2400" dirty="0"/>
              <a:t>An </a:t>
            </a:r>
            <a:r>
              <a:rPr lang="en-US" sz="2400" b="1" dirty="0"/>
              <a:t>application proxy gateway, also called a bastion host</a:t>
            </a:r>
            <a:r>
              <a:rPr lang="en-US" sz="2400" dirty="0"/>
              <a:t>, is a firewall that simulates the (proper) effects of an application at level 7 so that the application receives only requests to act properly. </a:t>
            </a:r>
          </a:p>
          <a:p>
            <a:pPr algn="just"/>
            <a:r>
              <a:rPr lang="en-US" sz="2400" b="1" dirty="0"/>
              <a:t>A</a:t>
            </a:r>
            <a:r>
              <a:rPr lang="en-US" sz="2400" dirty="0"/>
              <a:t> </a:t>
            </a:r>
            <a:r>
              <a:rPr lang="en-US" sz="2400" b="1" dirty="0"/>
              <a:t>proxy gateway is a two-headed device: </a:t>
            </a:r>
            <a:r>
              <a:rPr lang="en-US" sz="2400" dirty="0"/>
              <a:t>From inside, the gateway appears to be the outside (destination) connection, while to outsiders the proxy host responds just as the insider would. In fact, it behaves like a man in the middle. </a:t>
            </a:r>
          </a:p>
          <a:p>
            <a:pPr algn="just"/>
            <a:endParaRPr lang="en-US" sz="2400" dirty="0"/>
          </a:p>
          <a:p>
            <a:pPr algn="just"/>
            <a:endParaRPr lang="en-IN" sz="2400" dirty="0"/>
          </a:p>
        </p:txBody>
      </p:sp>
      <p:sp>
        <p:nvSpPr>
          <p:cNvPr id="4" name="Date Placeholder 3">
            <a:extLst>
              <a:ext uri="{FF2B5EF4-FFF2-40B4-BE49-F238E27FC236}">
                <a16:creationId xmlns:a16="http://schemas.microsoft.com/office/drawing/2014/main" xmlns="" id="{BE94A2C0-53AB-664F-241B-8D62CADBB3D9}"/>
              </a:ext>
            </a:extLst>
          </p:cNvPr>
          <p:cNvSpPr>
            <a:spLocks noGrp="1"/>
          </p:cNvSpPr>
          <p:nvPr>
            <p:ph type="dt" sz="half" idx="10"/>
          </p:nvPr>
        </p:nvSpPr>
        <p:spPr/>
        <p:txBody>
          <a:bodyPr/>
          <a:lstStyle/>
          <a:p>
            <a:fld id="{573D6CC3-3C9E-40C4-A47C-E69910CEA138}" type="datetime1">
              <a:rPr lang="en-IN" smtClean="0"/>
              <a:t>26-04-2025</a:t>
            </a:fld>
            <a:endParaRPr lang="en-IN" dirty="0"/>
          </a:p>
        </p:txBody>
      </p:sp>
      <p:sp>
        <p:nvSpPr>
          <p:cNvPr id="5" name="Slide Number Placeholder 4">
            <a:extLst>
              <a:ext uri="{FF2B5EF4-FFF2-40B4-BE49-F238E27FC236}">
                <a16:creationId xmlns:a16="http://schemas.microsoft.com/office/drawing/2014/main" xmlns="" id="{1292A32A-D334-BC42-C6EA-678002723894}"/>
              </a:ext>
            </a:extLst>
          </p:cNvPr>
          <p:cNvSpPr>
            <a:spLocks noGrp="1"/>
          </p:cNvSpPr>
          <p:nvPr>
            <p:ph type="sldNum" sz="quarter" idx="12"/>
          </p:nvPr>
        </p:nvSpPr>
        <p:spPr/>
        <p:txBody>
          <a:bodyPr/>
          <a:lstStyle/>
          <a:p>
            <a:fld id="{F3A9E9E4-B33D-4B71-BC7B-0B7320F1BC06}" type="slidenum">
              <a:rPr lang="en-IN" smtClean="0"/>
              <a:t>14</a:t>
            </a:fld>
            <a:endParaRPr lang="en-IN" dirty="0"/>
          </a:p>
        </p:txBody>
      </p:sp>
    </p:spTree>
    <p:extLst>
      <p:ext uri="{BB962C8B-B14F-4D97-AF65-F5344CB8AC3E}">
        <p14:creationId xmlns:p14="http://schemas.microsoft.com/office/powerpoint/2010/main" val="3756773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2D07C43-583F-11FC-7F0E-B9246B1CEAAD}"/>
              </a:ext>
            </a:extLst>
          </p:cNvPr>
          <p:cNvSpPr>
            <a:spLocks noGrp="1"/>
          </p:cNvSpPr>
          <p:nvPr>
            <p:ph idx="1"/>
          </p:nvPr>
        </p:nvSpPr>
        <p:spPr>
          <a:xfrm>
            <a:off x="838200" y="1161891"/>
            <a:ext cx="10515600" cy="6099175"/>
          </a:xfrm>
        </p:spPr>
        <p:txBody>
          <a:bodyPr>
            <a:normAutofit/>
          </a:bodyPr>
          <a:lstStyle/>
          <a:p>
            <a:pPr algn="just"/>
            <a:r>
              <a:rPr lang="en-US" sz="2400" b="1" dirty="0"/>
              <a:t>An application proxy simulates the behavior of a protected application on the inside network, allowing in only safe data.</a:t>
            </a:r>
          </a:p>
          <a:p>
            <a:pPr algn="just"/>
            <a:r>
              <a:rPr lang="en-US" sz="2400" dirty="0"/>
              <a:t>An application proxy runs pseudoapplications. For instance, when electronic mail is transferred to a location, a sending process at one site and a receiving process at the destination communicate by a protocol that establishes the legitimacy of a mail transfer and then actually passes the mail message. </a:t>
            </a:r>
          </a:p>
          <a:p>
            <a:pPr algn="just"/>
            <a:r>
              <a:rPr lang="en-US" sz="2400" dirty="0"/>
              <a:t>The protocol between sender and destination is carefully defined. A proxy gateway essentially intrudes in the middle of this protocol exchange, seeming like a destination in communication with the sender that is outside the firewall, and seeming like the sender in communication with the real recipient on the inside.</a:t>
            </a:r>
          </a:p>
          <a:p>
            <a:pPr algn="just"/>
            <a:r>
              <a:rPr lang="en-US" sz="2400" dirty="0"/>
              <a:t>The proxy in the middle has the opportunity to screen the mail transfer, ensuring that only acceptable email protocol commands and content are sent in either direction.</a:t>
            </a:r>
            <a:endParaRPr lang="en-US" sz="2400" b="1" dirty="0"/>
          </a:p>
          <a:p>
            <a:endParaRPr lang="en-IN" dirty="0"/>
          </a:p>
        </p:txBody>
      </p:sp>
      <p:sp>
        <p:nvSpPr>
          <p:cNvPr id="4" name="Date Placeholder 3">
            <a:extLst>
              <a:ext uri="{FF2B5EF4-FFF2-40B4-BE49-F238E27FC236}">
                <a16:creationId xmlns:a16="http://schemas.microsoft.com/office/drawing/2014/main" xmlns="" id="{D3DC576D-7240-75BA-D41A-389B2AA63784}"/>
              </a:ext>
            </a:extLst>
          </p:cNvPr>
          <p:cNvSpPr>
            <a:spLocks noGrp="1"/>
          </p:cNvSpPr>
          <p:nvPr>
            <p:ph type="dt" sz="half" idx="10"/>
          </p:nvPr>
        </p:nvSpPr>
        <p:spPr/>
        <p:txBody>
          <a:bodyPr/>
          <a:lstStyle/>
          <a:p>
            <a:fld id="{85107DB8-A7CB-4989-BBB3-BABF873C25CF}" type="datetime1">
              <a:rPr lang="en-IN" smtClean="0"/>
              <a:t>26-04-2025</a:t>
            </a:fld>
            <a:endParaRPr lang="en-IN" dirty="0"/>
          </a:p>
        </p:txBody>
      </p:sp>
      <p:sp>
        <p:nvSpPr>
          <p:cNvPr id="5" name="Slide Number Placeholder 4">
            <a:extLst>
              <a:ext uri="{FF2B5EF4-FFF2-40B4-BE49-F238E27FC236}">
                <a16:creationId xmlns:a16="http://schemas.microsoft.com/office/drawing/2014/main" xmlns="" id="{C781F44B-D063-C55E-27A5-D55F1EFC1BDB}"/>
              </a:ext>
            </a:extLst>
          </p:cNvPr>
          <p:cNvSpPr>
            <a:spLocks noGrp="1"/>
          </p:cNvSpPr>
          <p:nvPr>
            <p:ph type="sldNum" sz="quarter" idx="12"/>
          </p:nvPr>
        </p:nvSpPr>
        <p:spPr/>
        <p:txBody>
          <a:bodyPr/>
          <a:lstStyle/>
          <a:p>
            <a:fld id="{F3A9E9E4-B33D-4B71-BC7B-0B7320F1BC06}" type="slidenum">
              <a:rPr lang="en-IN" smtClean="0"/>
              <a:t>15</a:t>
            </a:fld>
            <a:endParaRPr lang="en-IN" dirty="0"/>
          </a:p>
        </p:txBody>
      </p:sp>
      <p:sp>
        <p:nvSpPr>
          <p:cNvPr id="2" name="Title 1">
            <a:extLst>
              <a:ext uri="{FF2B5EF4-FFF2-40B4-BE49-F238E27FC236}">
                <a16:creationId xmlns:a16="http://schemas.microsoft.com/office/drawing/2014/main" xmlns="" id="{4A0C42E0-5598-E987-B439-EA2C495CD3A5}"/>
              </a:ext>
            </a:extLst>
          </p:cNvPr>
          <p:cNvSpPr>
            <a:spLocks noGrp="1"/>
          </p:cNvSpPr>
          <p:nvPr>
            <p:ph type="title"/>
          </p:nvPr>
        </p:nvSpPr>
        <p:spPr>
          <a:xfrm>
            <a:off x="838200" y="-6509"/>
            <a:ext cx="10515600" cy="1325563"/>
          </a:xfrm>
        </p:spPr>
        <p:txBody>
          <a:bodyPr/>
          <a:lstStyle/>
          <a:p>
            <a:pPr algn="ctr"/>
            <a:r>
              <a:rPr lang="en-IN" b="1" dirty="0">
                <a:solidFill>
                  <a:srgbClr val="C00000"/>
                </a:solidFill>
              </a:rPr>
              <a:t>Application Proxy</a:t>
            </a:r>
          </a:p>
        </p:txBody>
      </p:sp>
    </p:spTree>
    <p:extLst>
      <p:ext uri="{BB962C8B-B14F-4D97-AF65-F5344CB8AC3E}">
        <p14:creationId xmlns:p14="http://schemas.microsoft.com/office/powerpoint/2010/main" val="4095807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314E738-5C6E-B9CE-8945-09ADCDBD25A8}"/>
              </a:ext>
            </a:extLst>
          </p:cNvPr>
          <p:cNvSpPr>
            <a:spLocks noGrp="1"/>
          </p:cNvSpPr>
          <p:nvPr>
            <p:ph idx="1"/>
          </p:nvPr>
        </p:nvSpPr>
        <p:spPr>
          <a:xfrm>
            <a:off x="929640" y="629920"/>
            <a:ext cx="10515600" cy="5821680"/>
          </a:xfrm>
        </p:spPr>
        <p:txBody>
          <a:bodyPr>
            <a:normAutofit lnSpcReduction="10000"/>
          </a:bodyPr>
          <a:lstStyle/>
          <a:p>
            <a:pPr algn="just"/>
            <a:r>
              <a:rPr lang="en-US" sz="2400" b="1" dirty="0"/>
              <a:t>To understand the real purpose of proxy gateway, let us consider several examples. </a:t>
            </a:r>
          </a:p>
          <a:p>
            <a:pPr algn="just"/>
            <a:r>
              <a:rPr lang="en-US" sz="2400" dirty="0"/>
              <a:t>A company wants to set up an online price list so that outsiders can see the products and prices offered. It wants to be sure that (a) no outsider can change the prices or product list and (b) outsiders can access only the price list, not any of the more sensitive files stored inside. </a:t>
            </a:r>
          </a:p>
          <a:p>
            <a:pPr algn="just"/>
            <a:r>
              <a:rPr lang="en-US" sz="2400" dirty="0"/>
              <a:t>A school wants to allow its students to retrieve any information from World Wide Web resources on the Internet. To help provide efficient service, the school wants to know what sites have been visited and what files from those sites have been fetched; particularly popular files will be cached locally. </a:t>
            </a:r>
          </a:p>
          <a:p>
            <a:pPr algn="just"/>
            <a:r>
              <a:rPr lang="en-US" sz="2400" dirty="0"/>
              <a:t>A government agency wants to respond to queries through a database management system. However, the agency wants to screen results so that no names or identification are returned in results—only counts in categories. </a:t>
            </a:r>
          </a:p>
          <a:p>
            <a:pPr algn="just"/>
            <a:r>
              <a:rPr lang="en-US" sz="2400" dirty="0"/>
              <a:t>A company with multiple offices wants to encrypt the data portion of all email to addresses at its other offices. (A corresponding proxy at the remote end will remove the encryption.)</a:t>
            </a:r>
            <a:endParaRPr lang="en-IN" sz="2400" dirty="0"/>
          </a:p>
        </p:txBody>
      </p:sp>
      <p:sp>
        <p:nvSpPr>
          <p:cNvPr id="4" name="Date Placeholder 3">
            <a:extLst>
              <a:ext uri="{FF2B5EF4-FFF2-40B4-BE49-F238E27FC236}">
                <a16:creationId xmlns:a16="http://schemas.microsoft.com/office/drawing/2014/main" xmlns="" id="{8626D281-931F-FE93-A666-423B84619E08}"/>
              </a:ext>
            </a:extLst>
          </p:cNvPr>
          <p:cNvSpPr>
            <a:spLocks noGrp="1"/>
          </p:cNvSpPr>
          <p:nvPr>
            <p:ph type="dt" sz="half" idx="10"/>
          </p:nvPr>
        </p:nvSpPr>
        <p:spPr/>
        <p:txBody>
          <a:bodyPr/>
          <a:lstStyle/>
          <a:p>
            <a:fld id="{BCA5AC0F-3323-4D54-9652-28F4D1570E40}" type="datetime1">
              <a:rPr lang="en-IN" smtClean="0"/>
              <a:t>26-04-2025</a:t>
            </a:fld>
            <a:endParaRPr lang="en-IN" dirty="0"/>
          </a:p>
        </p:txBody>
      </p:sp>
      <p:sp>
        <p:nvSpPr>
          <p:cNvPr id="5" name="Slide Number Placeholder 4">
            <a:extLst>
              <a:ext uri="{FF2B5EF4-FFF2-40B4-BE49-F238E27FC236}">
                <a16:creationId xmlns:a16="http://schemas.microsoft.com/office/drawing/2014/main" xmlns="" id="{EB923BC5-9880-D53C-919A-593AFA171B75}"/>
              </a:ext>
            </a:extLst>
          </p:cNvPr>
          <p:cNvSpPr>
            <a:spLocks noGrp="1"/>
          </p:cNvSpPr>
          <p:nvPr>
            <p:ph type="sldNum" sz="quarter" idx="12"/>
          </p:nvPr>
        </p:nvSpPr>
        <p:spPr/>
        <p:txBody>
          <a:bodyPr/>
          <a:lstStyle/>
          <a:p>
            <a:fld id="{F3A9E9E4-B33D-4B71-BC7B-0B7320F1BC06}" type="slidenum">
              <a:rPr lang="en-IN" smtClean="0"/>
              <a:t>16</a:t>
            </a:fld>
            <a:endParaRPr lang="en-IN" dirty="0"/>
          </a:p>
        </p:txBody>
      </p:sp>
    </p:spTree>
    <p:extLst>
      <p:ext uri="{BB962C8B-B14F-4D97-AF65-F5344CB8AC3E}">
        <p14:creationId xmlns:p14="http://schemas.microsoft.com/office/powerpoint/2010/main" val="2857379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1E89CE-C3AE-C4EB-8E39-AC637A817E9A}"/>
              </a:ext>
            </a:extLst>
          </p:cNvPr>
          <p:cNvSpPr>
            <a:spLocks noGrp="1"/>
          </p:cNvSpPr>
          <p:nvPr>
            <p:ph type="title"/>
          </p:nvPr>
        </p:nvSpPr>
        <p:spPr>
          <a:xfrm>
            <a:off x="838200" y="-120949"/>
            <a:ext cx="10515600" cy="1325563"/>
          </a:xfrm>
        </p:spPr>
        <p:txBody>
          <a:bodyPr/>
          <a:lstStyle/>
          <a:p>
            <a:pPr algn="ctr"/>
            <a:r>
              <a:rPr lang="en-IN" b="1" dirty="0">
                <a:solidFill>
                  <a:srgbClr val="C00000"/>
                </a:solidFill>
              </a:rPr>
              <a:t>Proxy Firewall Functions</a:t>
            </a:r>
          </a:p>
        </p:txBody>
      </p:sp>
      <p:pic>
        <p:nvPicPr>
          <p:cNvPr id="8" name="Content Placeholder 7">
            <a:extLst>
              <a:ext uri="{FF2B5EF4-FFF2-40B4-BE49-F238E27FC236}">
                <a16:creationId xmlns:a16="http://schemas.microsoft.com/office/drawing/2014/main" xmlns="" id="{157E2626-E52A-8FD7-EC90-81ED1A4F3EF3}"/>
              </a:ext>
            </a:extLst>
          </p:cNvPr>
          <p:cNvPicPr>
            <a:picLocks noGrp="1" noChangeAspect="1"/>
          </p:cNvPicPr>
          <p:nvPr>
            <p:ph sz="half" idx="1"/>
          </p:nvPr>
        </p:nvPicPr>
        <p:blipFill>
          <a:blip r:embed="rId2"/>
          <a:stretch>
            <a:fillRect/>
          </a:stretch>
        </p:blipFill>
        <p:spPr>
          <a:xfrm>
            <a:off x="449619" y="1889760"/>
            <a:ext cx="5765722" cy="3232804"/>
          </a:xfrm>
        </p:spPr>
      </p:pic>
      <p:sp>
        <p:nvSpPr>
          <p:cNvPr id="4" name="Content Placeholder 3">
            <a:extLst>
              <a:ext uri="{FF2B5EF4-FFF2-40B4-BE49-F238E27FC236}">
                <a16:creationId xmlns:a16="http://schemas.microsoft.com/office/drawing/2014/main" xmlns="" id="{2BA7BAF0-2294-6D0C-16EE-D3FDB124297D}"/>
              </a:ext>
            </a:extLst>
          </p:cNvPr>
          <p:cNvSpPr>
            <a:spLocks noGrp="1"/>
          </p:cNvSpPr>
          <p:nvPr>
            <p:ph sz="half" idx="2"/>
          </p:nvPr>
        </p:nvSpPr>
        <p:spPr>
          <a:xfrm>
            <a:off x="6466840" y="1180484"/>
            <a:ext cx="5181600" cy="5330189"/>
          </a:xfrm>
        </p:spPr>
        <p:txBody>
          <a:bodyPr>
            <a:noAutofit/>
          </a:bodyPr>
          <a:lstStyle/>
          <a:p>
            <a:pPr algn="just"/>
            <a:r>
              <a:rPr lang="en-US" sz="2000" dirty="0"/>
              <a:t>Each of these requirements can be met with a proxy. </a:t>
            </a:r>
          </a:p>
          <a:p>
            <a:pPr algn="just"/>
            <a:r>
              <a:rPr lang="en-US" sz="2000" dirty="0"/>
              <a:t>In the first case, the proxy would monitor the file transfer protocol data to ensure that only the price list file was accessed and that the file could only be read, not modified. </a:t>
            </a:r>
          </a:p>
          <a:p>
            <a:pPr algn="just"/>
            <a:r>
              <a:rPr lang="en-US" sz="2000" dirty="0"/>
              <a:t>The school’s requirement could be met by a logging procedure as part of the web browser. </a:t>
            </a:r>
          </a:p>
          <a:p>
            <a:pPr algn="just"/>
            <a:r>
              <a:rPr lang="en-US" sz="2000" dirty="0"/>
              <a:t>The agency’s need could be satisfied by a special-purpose proxy that interacted with the database management system, performing queries but filtering the output.</a:t>
            </a:r>
          </a:p>
          <a:p>
            <a:pPr algn="just"/>
            <a:r>
              <a:rPr lang="en-US" sz="2000" dirty="0"/>
              <a:t> A firewall application could encrypt and decrypt specific email messages for the last situation.</a:t>
            </a:r>
            <a:endParaRPr lang="en-IN" sz="2000" dirty="0"/>
          </a:p>
        </p:txBody>
      </p:sp>
      <p:sp>
        <p:nvSpPr>
          <p:cNvPr id="5" name="Date Placeholder 4">
            <a:extLst>
              <a:ext uri="{FF2B5EF4-FFF2-40B4-BE49-F238E27FC236}">
                <a16:creationId xmlns:a16="http://schemas.microsoft.com/office/drawing/2014/main" xmlns="" id="{F5E9A310-4347-3B94-A953-1E1E7665AA3C}"/>
              </a:ext>
            </a:extLst>
          </p:cNvPr>
          <p:cNvSpPr>
            <a:spLocks noGrp="1"/>
          </p:cNvSpPr>
          <p:nvPr>
            <p:ph type="dt" sz="half" idx="10"/>
          </p:nvPr>
        </p:nvSpPr>
        <p:spPr/>
        <p:txBody>
          <a:bodyPr/>
          <a:lstStyle/>
          <a:p>
            <a:fld id="{8D56DD71-38F5-407B-8EE6-133BD2F64828}" type="datetime1">
              <a:rPr lang="en-IN" smtClean="0"/>
              <a:t>26-04-2025</a:t>
            </a:fld>
            <a:endParaRPr lang="en-IN" dirty="0"/>
          </a:p>
        </p:txBody>
      </p:sp>
      <p:sp>
        <p:nvSpPr>
          <p:cNvPr id="6" name="Slide Number Placeholder 5">
            <a:extLst>
              <a:ext uri="{FF2B5EF4-FFF2-40B4-BE49-F238E27FC236}">
                <a16:creationId xmlns:a16="http://schemas.microsoft.com/office/drawing/2014/main" xmlns="" id="{C7A8FD78-6D6E-B9EA-3BFA-5071D8EC1738}"/>
              </a:ext>
            </a:extLst>
          </p:cNvPr>
          <p:cNvSpPr>
            <a:spLocks noGrp="1"/>
          </p:cNvSpPr>
          <p:nvPr>
            <p:ph type="sldNum" sz="quarter" idx="12"/>
          </p:nvPr>
        </p:nvSpPr>
        <p:spPr/>
        <p:txBody>
          <a:bodyPr/>
          <a:lstStyle/>
          <a:p>
            <a:fld id="{F3A9E9E4-B33D-4B71-BC7B-0B7320F1BC06}" type="slidenum">
              <a:rPr lang="en-IN" smtClean="0"/>
              <a:t>17</a:t>
            </a:fld>
            <a:endParaRPr lang="en-IN" dirty="0"/>
          </a:p>
        </p:txBody>
      </p:sp>
      <p:sp>
        <p:nvSpPr>
          <p:cNvPr id="7" name="TextBox 6">
            <a:extLst>
              <a:ext uri="{FF2B5EF4-FFF2-40B4-BE49-F238E27FC236}">
                <a16:creationId xmlns:a16="http://schemas.microsoft.com/office/drawing/2014/main" xmlns="" id="{0C9582B5-6AE9-B008-73A2-4DD834AC5098}"/>
              </a:ext>
            </a:extLst>
          </p:cNvPr>
          <p:cNvSpPr txBox="1"/>
          <p:nvPr/>
        </p:nvSpPr>
        <p:spPr>
          <a:xfrm>
            <a:off x="370840" y="5370125"/>
            <a:ext cx="6096000" cy="369332"/>
          </a:xfrm>
          <a:prstGeom prst="rect">
            <a:avLst/>
          </a:prstGeom>
          <a:noFill/>
        </p:spPr>
        <p:txBody>
          <a:bodyPr wrap="square">
            <a:spAutoFit/>
          </a:bodyPr>
          <a:lstStyle/>
          <a:p>
            <a:pPr algn="ctr"/>
            <a:r>
              <a:rPr lang="en-IN" b="1" dirty="0"/>
              <a:t>Proxy Firewall Functions</a:t>
            </a:r>
            <a:endParaRPr lang="en-IN" dirty="0"/>
          </a:p>
        </p:txBody>
      </p:sp>
    </p:spTree>
    <p:extLst>
      <p:ext uri="{BB962C8B-B14F-4D97-AF65-F5344CB8AC3E}">
        <p14:creationId xmlns:p14="http://schemas.microsoft.com/office/powerpoint/2010/main" val="447701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583D341-CA3E-C49D-F20A-DCFC62B6B34F}"/>
              </a:ext>
            </a:extLst>
          </p:cNvPr>
          <p:cNvSpPr>
            <a:spLocks noGrp="1"/>
          </p:cNvSpPr>
          <p:nvPr>
            <p:ph idx="1"/>
          </p:nvPr>
        </p:nvSpPr>
        <p:spPr>
          <a:xfrm>
            <a:off x="838200" y="697230"/>
            <a:ext cx="10515600" cy="6024245"/>
          </a:xfrm>
        </p:spPr>
        <p:txBody>
          <a:bodyPr>
            <a:normAutofit/>
          </a:bodyPr>
          <a:lstStyle/>
          <a:p>
            <a:pPr algn="just"/>
            <a:r>
              <a:rPr lang="en-US" sz="2400" dirty="0"/>
              <a:t>The proxies on the firewall can be tailored to specific requirements, </a:t>
            </a:r>
            <a:r>
              <a:rPr lang="en-US" sz="2400" b="1" dirty="0"/>
              <a:t>such as logging details about accesses. </a:t>
            </a:r>
          </a:p>
          <a:p>
            <a:pPr algn="just"/>
            <a:r>
              <a:rPr lang="en-US" sz="2400" dirty="0"/>
              <a:t>They can even present a common user interface to what may be dissimilar internal functions. Suppose the internal network has a mixture of operating system types, none of which support strong authentication through a challenge–response token. </a:t>
            </a:r>
          </a:p>
          <a:p>
            <a:pPr algn="just"/>
            <a:r>
              <a:rPr lang="en-US" sz="2400" dirty="0"/>
              <a:t>The proxy can demand </a:t>
            </a:r>
            <a:r>
              <a:rPr lang="en-US" sz="2400" b="1" dirty="0"/>
              <a:t>strong authentication </a:t>
            </a:r>
            <a:r>
              <a:rPr lang="en-US" sz="2400" dirty="0"/>
              <a:t>(name, password, and challenge response), </a:t>
            </a:r>
            <a:r>
              <a:rPr lang="en-US" sz="2400" b="1" dirty="0"/>
              <a:t>validate the challenge</a:t>
            </a:r>
            <a:r>
              <a:rPr lang="en-US" sz="2400" dirty="0"/>
              <a:t>–</a:t>
            </a:r>
            <a:r>
              <a:rPr lang="en-US" sz="2400" b="1" dirty="0"/>
              <a:t>response</a:t>
            </a:r>
            <a:r>
              <a:rPr lang="en-US" sz="2400" dirty="0"/>
              <a:t> itself, and then pass on only simple name and password authentication details in the form required by a specific internal host’s operating system. </a:t>
            </a:r>
          </a:p>
          <a:p>
            <a:pPr algn="just"/>
            <a:r>
              <a:rPr lang="en-US" sz="2400" dirty="0"/>
              <a:t>The distinction between a proxy and a screening router is that the </a:t>
            </a:r>
            <a:r>
              <a:rPr lang="en-US" sz="2400" b="1" dirty="0"/>
              <a:t>proxy interprets the protocol stream as an application would</a:t>
            </a:r>
            <a:r>
              <a:rPr lang="en-US" sz="2400" dirty="0"/>
              <a:t>, </a:t>
            </a:r>
            <a:r>
              <a:rPr lang="en-US" sz="2400" b="1" dirty="0"/>
              <a:t>to control actions through the firewall on the basis of things visible within the protocol</a:t>
            </a:r>
            <a:r>
              <a:rPr lang="en-US" sz="2400" dirty="0"/>
              <a:t>, not just on external header data.</a:t>
            </a:r>
            <a:endParaRPr lang="en-IN" sz="2400" dirty="0"/>
          </a:p>
        </p:txBody>
      </p:sp>
      <p:sp>
        <p:nvSpPr>
          <p:cNvPr id="4" name="Date Placeholder 3">
            <a:extLst>
              <a:ext uri="{FF2B5EF4-FFF2-40B4-BE49-F238E27FC236}">
                <a16:creationId xmlns:a16="http://schemas.microsoft.com/office/drawing/2014/main" xmlns="" id="{754AE380-9B0D-F8EA-A469-CCEDF8B5FE7C}"/>
              </a:ext>
            </a:extLst>
          </p:cNvPr>
          <p:cNvSpPr>
            <a:spLocks noGrp="1"/>
          </p:cNvSpPr>
          <p:nvPr>
            <p:ph type="dt" sz="half" idx="10"/>
          </p:nvPr>
        </p:nvSpPr>
        <p:spPr/>
        <p:txBody>
          <a:bodyPr/>
          <a:lstStyle/>
          <a:p>
            <a:fld id="{CFF788E5-6EB7-40B3-9899-3EA56215A8EF}" type="datetime1">
              <a:rPr lang="en-IN" smtClean="0"/>
              <a:t>26-04-2025</a:t>
            </a:fld>
            <a:endParaRPr lang="en-IN" dirty="0"/>
          </a:p>
        </p:txBody>
      </p:sp>
      <p:sp>
        <p:nvSpPr>
          <p:cNvPr id="5" name="Slide Number Placeholder 4">
            <a:extLst>
              <a:ext uri="{FF2B5EF4-FFF2-40B4-BE49-F238E27FC236}">
                <a16:creationId xmlns:a16="http://schemas.microsoft.com/office/drawing/2014/main" xmlns="" id="{66ADB69E-48CB-4E69-97DD-F205493806A9}"/>
              </a:ext>
            </a:extLst>
          </p:cNvPr>
          <p:cNvSpPr>
            <a:spLocks noGrp="1"/>
          </p:cNvSpPr>
          <p:nvPr>
            <p:ph type="sldNum" sz="quarter" idx="12"/>
          </p:nvPr>
        </p:nvSpPr>
        <p:spPr/>
        <p:txBody>
          <a:bodyPr/>
          <a:lstStyle/>
          <a:p>
            <a:fld id="{F3A9E9E4-B33D-4B71-BC7B-0B7320F1BC06}" type="slidenum">
              <a:rPr lang="en-IN" smtClean="0"/>
              <a:t>18</a:t>
            </a:fld>
            <a:endParaRPr lang="en-IN" dirty="0"/>
          </a:p>
        </p:txBody>
      </p:sp>
    </p:spTree>
    <p:extLst>
      <p:ext uri="{BB962C8B-B14F-4D97-AF65-F5344CB8AC3E}">
        <p14:creationId xmlns:p14="http://schemas.microsoft.com/office/powerpoint/2010/main" val="4120577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0F8CDF-A3BC-A36A-8A66-EE3A05787F4F}"/>
              </a:ext>
            </a:extLst>
          </p:cNvPr>
          <p:cNvSpPr>
            <a:spLocks noGrp="1"/>
          </p:cNvSpPr>
          <p:nvPr>
            <p:ph type="title"/>
          </p:nvPr>
        </p:nvSpPr>
        <p:spPr>
          <a:xfrm>
            <a:off x="838200" y="-81915"/>
            <a:ext cx="10515600" cy="1325563"/>
          </a:xfrm>
        </p:spPr>
        <p:txBody>
          <a:bodyPr/>
          <a:lstStyle/>
          <a:p>
            <a:pPr algn="ctr"/>
            <a:r>
              <a:rPr lang="en-IN" b="1" dirty="0">
                <a:solidFill>
                  <a:srgbClr val="C00000"/>
                </a:solidFill>
              </a:rPr>
              <a:t>Circuit-Level Gateway</a:t>
            </a:r>
          </a:p>
        </p:txBody>
      </p:sp>
      <p:sp>
        <p:nvSpPr>
          <p:cNvPr id="3" name="Content Placeholder 2">
            <a:extLst>
              <a:ext uri="{FF2B5EF4-FFF2-40B4-BE49-F238E27FC236}">
                <a16:creationId xmlns:a16="http://schemas.microsoft.com/office/drawing/2014/main" xmlns="" id="{98146A25-9EA1-80FE-D9EE-A90BA54621D6}"/>
              </a:ext>
            </a:extLst>
          </p:cNvPr>
          <p:cNvSpPr>
            <a:spLocks noGrp="1"/>
          </p:cNvSpPr>
          <p:nvPr>
            <p:ph idx="1"/>
          </p:nvPr>
        </p:nvSpPr>
        <p:spPr>
          <a:xfrm>
            <a:off x="838200" y="1371600"/>
            <a:ext cx="10515600" cy="4805363"/>
          </a:xfrm>
        </p:spPr>
        <p:txBody>
          <a:bodyPr>
            <a:normAutofit/>
          </a:bodyPr>
          <a:lstStyle/>
          <a:p>
            <a:pPr algn="just"/>
            <a:r>
              <a:rPr lang="en-US" sz="2400" dirty="0"/>
              <a:t>A circuit-level gateway is a firewall </a:t>
            </a:r>
            <a:r>
              <a:rPr lang="en-US" sz="2400" b="1" dirty="0"/>
              <a:t>that essentially allows one network to be an extension of another.</a:t>
            </a:r>
          </a:p>
          <a:p>
            <a:pPr algn="just"/>
            <a:r>
              <a:rPr lang="en-US" sz="2400" dirty="0"/>
              <a:t> It operates at OSI level 5, the session level, and it </a:t>
            </a:r>
            <a:r>
              <a:rPr lang="en-US" sz="2400" b="1" dirty="0"/>
              <a:t>functions as a virtual gateway between two networks.</a:t>
            </a:r>
          </a:p>
          <a:p>
            <a:pPr algn="just"/>
            <a:r>
              <a:rPr lang="en-US" sz="2400" dirty="0"/>
              <a:t>A circuit is a logical connection that is </a:t>
            </a:r>
            <a:r>
              <a:rPr lang="en-US" sz="2400" b="1" dirty="0"/>
              <a:t>maintained for a period of time</a:t>
            </a:r>
            <a:r>
              <a:rPr lang="en-US" sz="2400" dirty="0"/>
              <a:t>, </a:t>
            </a:r>
            <a:r>
              <a:rPr lang="en-US" sz="2400" b="1" dirty="0"/>
              <a:t>then torn down or disconnected</a:t>
            </a:r>
            <a:r>
              <a:rPr lang="en-US" sz="2400" dirty="0"/>
              <a:t>. </a:t>
            </a:r>
          </a:p>
          <a:p>
            <a:pPr algn="just"/>
            <a:r>
              <a:rPr lang="en-US" sz="2400" dirty="0"/>
              <a:t>The firewall verifies the circuit when it is</a:t>
            </a:r>
            <a:r>
              <a:rPr lang="en-US" sz="2400" b="1" dirty="0"/>
              <a:t> first created</a:t>
            </a:r>
            <a:r>
              <a:rPr lang="en-US" sz="2400" dirty="0"/>
              <a:t>. After the circuit has been verified, </a:t>
            </a:r>
            <a:r>
              <a:rPr lang="en-US" sz="2400" b="1" dirty="0"/>
              <a:t>subsequent data transferred </a:t>
            </a:r>
            <a:r>
              <a:rPr lang="en-US" sz="2400" dirty="0"/>
              <a:t>over the circuit are </a:t>
            </a:r>
            <a:r>
              <a:rPr lang="en-US" sz="2400" b="1" dirty="0"/>
              <a:t>not checked</a:t>
            </a:r>
            <a:r>
              <a:rPr lang="en-US" sz="2400" dirty="0"/>
              <a:t>. </a:t>
            </a:r>
          </a:p>
          <a:p>
            <a:pPr algn="just"/>
            <a:r>
              <a:rPr lang="en-US" sz="2400" dirty="0"/>
              <a:t>Circuit-level gateways </a:t>
            </a:r>
            <a:r>
              <a:rPr lang="en-US" sz="2400" b="1" dirty="0"/>
              <a:t>can limit which connections</a:t>
            </a:r>
            <a:r>
              <a:rPr lang="en-US" sz="2400" dirty="0"/>
              <a:t> can be made through the gateway.</a:t>
            </a:r>
            <a:endParaRPr lang="en-IN" sz="2400" dirty="0"/>
          </a:p>
        </p:txBody>
      </p:sp>
      <p:sp>
        <p:nvSpPr>
          <p:cNvPr id="4" name="Date Placeholder 3">
            <a:extLst>
              <a:ext uri="{FF2B5EF4-FFF2-40B4-BE49-F238E27FC236}">
                <a16:creationId xmlns:a16="http://schemas.microsoft.com/office/drawing/2014/main" xmlns="" id="{984BB518-A846-2587-E008-63533FC84453}"/>
              </a:ext>
            </a:extLst>
          </p:cNvPr>
          <p:cNvSpPr>
            <a:spLocks noGrp="1"/>
          </p:cNvSpPr>
          <p:nvPr>
            <p:ph type="dt" sz="half" idx="10"/>
          </p:nvPr>
        </p:nvSpPr>
        <p:spPr/>
        <p:txBody>
          <a:bodyPr/>
          <a:lstStyle/>
          <a:p>
            <a:fld id="{99965DE7-6630-4A35-8AB6-937DCF1A7D42}" type="datetime1">
              <a:rPr lang="en-IN" smtClean="0"/>
              <a:t>26-04-2025</a:t>
            </a:fld>
            <a:endParaRPr lang="en-IN" dirty="0"/>
          </a:p>
        </p:txBody>
      </p:sp>
      <p:sp>
        <p:nvSpPr>
          <p:cNvPr id="5" name="Slide Number Placeholder 4">
            <a:extLst>
              <a:ext uri="{FF2B5EF4-FFF2-40B4-BE49-F238E27FC236}">
                <a16:creationId xmlns:a16="http://schemas.microsoft.com/office/drawing/2014/main" xmlns="" id="{AC43729A-B259-ABA4-2723-8F7B927B0733}"/>
              </a:ext>
            </a:extLst>
          </p:cNvPr>
          <p:cNvSpPr>
            <a:spLocks noGrp="1"/>
          </p:cNvSpPr>
          <p:nvPr>
            <p:ph type="sldNum" sz="quarter" idx="12"/>
          </p:nvPr>
        </p:nvSpPr>
        <p:spPr/>
        <p:txBody>
          <a:bodyPr/>
          <a:lstStyle/>
          <a:p>
            <a:fld id="{F3A9E9E4-B33D-4B71-BC7B-0B7320F1BC06}" type="slidenum">
              <a:rPr lang="en-IN" smtClean="0"/>
              <a:t>19</a:t>
            </a:fld>
            <a:endParaRPr lang="en-IN" dirty="0"/>
          </a:p>
        </p:txBody>
      </p:sp>
    </p:spTree>
    <p:extLst>
      <p:ext uri="{BB962C8B-B14F-4D97-AF65-F5344CB8AC3E}">
        <p14:creationId xmlns:p14="http://schemas.microsoft.com/office/powerpoint/2010/main" val="1120731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D5BFE93-6066-9A4E-CFC1-7136C8E15610}"/>
              </a:ext>
            </a:extLst>
          </p:cNvPr>
          <p:cNvSpPr>
            <a:spLocks noGrp="1"/>
          </p:cNvSpPr>
          <p:nvPr>
            <p:ph idx="1"/>
          </p:nvPr>
        </p:nvSpPr>
        <p:spPr>
          <a:xfrm>
            <a:off x="838200" y="301625"/>
            <a:ext cx="10515600" cy="4351338"/>
          </a:xfrm>
        </p:spPr>
        <p:txBody>
          <a:bodyPr>
            <a:normAutofit/>
          </a:bodyPr>
          <a:lstStyle/>
          <a:p>
            <a:pPr algn="just"/>
            <a:r>
              <a:rPr lang="en-US" sz="2400" b="1" dirty="0"/>
              <a:t>A circuit-level gateway connects two separate subnetworks as if they were one contiguous unit.</a:t>
            </a:r>
            <a:endParaRPr lang="en-IN" sz="2400" b="1" dirty="0"/>
          </a:p>
        </p:txBody>
      </p:sp>
      <p:sp>
        <p:nvSpPr>
          <p:cNvPr id="4" name="Date Placeholder 3">
            <a:extLst>
              <a:ext uri="{FF2B5EF4-FFF2-40B4-BE49-F238E27FC236}">
                <a16:creationId xmlns:a16="http://schemas.microsoft.com/office/drawing/2014/main" xmlns="" id="{80E1AEE4-33C6-7254-3043-044D78FB3622}"/>
              </a:ext>
            </a:extLst>
          </p:cNvPr>
          <p:cNvSpPr>
            <a:spLocks noGrp="1"/>
          </p:cNvSpPr>
          <p:nvPr>
            <p:ph type="dt" sz="half" idx="10"/>
          </p:nvPr>
        </p:nvSpPr>
        <p:spPr/>
        <p:txBody>
          <a:bodyPr/>
          <a:lstStyle/>
          <a:p>
            <a:fld id="{4D47C671-31D0-433B-A7D8-AA7CAE863C6C}" type="datetime1">
              <a:rPr lang="en-IN" smtClean="0"/>
              <a:t>26-04-2025</a:t>
            </a:fld>
            <a:endParaRPr lang="en-IN" dirty="0"/>
          </a:p>
        </p:txBody>
      </p:sp>
      <p:sp>
        <p:nvSpPr>
          <p:cNvPr id="5" name="Slide Number Placeholder 4">
            <a:extLst>
              <a:ext uri="{FF2B5EF4-FFF2-40B4-BE49-F238E27FC236}">
                <a16:creationId xmlns:a16="http://schemas.microsoft.com/office/drawing/2014/main" xmlns="" id="{551DC860-956F-C3CC-BDBB-0833D2C4FCBD}"/>
              </a:ext>
            </a:extLst>
          </p:cNvPr>
          <p:cNvSpPr>
            <a:spLocks noGrp="1"/>
          </p:cNvSpPr>
          <p:nvPr>
            <p:ph type="sldNum" sz="quarter" idx="12"/>
          </p:nvPr>
        </p:nvSpPr>
        <p:spPr/>
        <p:txBody>
          <a:bodyPr/>
          <a:lstStyle/>
          <a:p>
            <a:fld id="{F3A9E9E4-B33D-4B71-BC7B-0B7320F1BC06}" type="slidenum">
              <a:rPr lang="en-IN" smtClean="0"/>
              <a:t>20</a:t>
            </a:fld>
            <a:endParaRPr lang="en-IN" dirty="0"/>
          </a:p>
        </p:txBody>
      </p:sp>
      <p:pic>
        <p:nvPicPr>
          <p:cNvPr id="7" name="Picture 6">
            <a:extLst>
              <a:ext uri="{FF2B5EF4-FFF2-40B4-BE49-F238E27FC236}">
                <a16:creationId xmlns:a16="http://schemas.microsoft.com/office/drawing/2014/main" xmlns="" id="{541A7566-F590-14C8-2B18-13F9042A1941}"/>
              </a:ext>
            </a:extLst>
          </p:cNvPr>
          <p:cNvPicPr>
            <a:picLocks noChangeAspect="1"/>
          </p:cNvPicPr>
          <p:nvPr/>
        </p:nvPicPr>
        <p:blipFill>
          <a:blip r:embed="rId2"/>
          <a:stretch>
            <a:fillRect/>
          </a:stretch>
        </p:blipFill>
        <p:spPr>
          <a:xfrm>
            <a:off x="3060638" y="932814"/>
            <a:ext cx="6070724" cy="4992372"/>
          </a:xfrm>
          <a:prstGeom prst="rect">
            <a:avLst/>
          </a:prstGeom>
        </p:spPr>
      </p:pic>
      <p:sp>
        <p:nvSpPr>
          <p:cNvPr id="9" name="TextBox 8">
            <a:extLst>
              <a:ext uri="{FF2B5EF4-FFF2-40B4-BE49-F238E27FC236}">
                <a16:creationId xmlns:a16="http://schemas.microsoft.com/office/drawing/2014/main" xmlns="" id="{6242B470-98E3-38AF-5C45-76F6792C4D74}"/>
              </a:ext>
            </a:extLst>
          </p:cNvPr>
          <p:cNvSpPr txBox="1"/>
          <p:nvPr/>
        </p:nvSpPr>
        <p:spPr>
          <a:xfrm>
            <a:off x="2809240" y="6169580"/>
            <a:ext cx="6096000" cy="369332"/>
          </a:xfrm>
          <a:prstGeom prst="rect">
            <a:avLst/>
          </a:prstGeom>
          <a:noFill/>
        </p:spPr>
        <p:txBody>
          <a:bodyPr wrap="square">
            <a:spAutoFit/>
          </a:bodyPr>
          <a:lstStyle/>
          <a:p>
            <a:pPr algn="ctr"/>
            <a:r>
              <a:rPr lang="en-IN" b="1" dirty="0"/>
              <a:t>Circuit-Level Gateway</a:t>
            </a:r>
          </a:p>
        </p:txBody>
      </p:sp>
    </p:spTree>
    <p:extLst>
      <p:ext uri="{BB962C8B-B14F-4D97-AF65-F5344CB8AC3E}">
        <p14:creationId xmlns:p14="http://schemas.microsoft.com/office/powerpoint/2010/main" val="830048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1FC5D5-1D93-1E07-3AB8-BDE37CBC1E60}"/>
              </a:ext>
            </a:extLst>
          </p:cNvPr>
          <p:cNvSpPr>
            <a:spLocks noGrp="1"/>
          </p:cNvSpPr>
          <p:nvPr>
            <p:ph type="title"/>
          </p:nvPr>
        </p:nvSpPr>
        <p:spPr>
          <a:xfrm>
            <a:off x="838200" y="18255"/>
            <a:ext cx="10515600" cy="1325563"/>
          </a:xfrm>
        </p:spPr>
        <p:txBody>
          <a:bodyPr/>
          <a:lstStyle/>
          <a:p>
            <a:pPr algn="ctr"/>
            <a:r>
              <a:rPr lang="en-IN" b="1" dirty="0">
                <a:solidFill>
                  <a:srgbClr val="C00000"/>
                </a:solidFill>
              </a:rPr>
              <a:t>Circuit-Level Gateway</a:t>
            </a:r>
            <a:endParaRPr lang="en-IN" dirty="0">
              <a:solidFill>
                <a:srgbClr val="C00000"/>
              </a:solidFill>
            </a:endParaRPr>
          </a:p>
        </p:txBody>
      </p:sp>
      <p:sp>
        <p:nvSpPr>
          <p:cNvPr id="3" name="Content Placeholder 2">
            <a:extLst>
              <a:ext uri="{FF2B5EF4-FFF2-40B4-BE49-F238E27FC236}">
                <a16:creationId xmlns:a16="http://schemas.microsoft.com/office/drawing/2014/main" xmlns="" id="{6821F337-4A25-BC42-CCB8-5573AB09D2F8}"/>
              </a:ext>
            </a:extLst>
          </p:cNvPr>
          <p:cNvSpPr>
            <a:spLocks noGrp="1"/>
          </p:cNvSpPr>
          <p:nvPr>
            <p:ph idx="1"/>
          </p:nvPr>
        </p:nvSpPr>
        <p:spPr>
          <a:xfrm>
            <a:off x="838200" y="1127601"/>
            <a:ext cx="10515600" cy="5228749"/>
          </a:xfrm>
        </p:spPr>
        <p:txBody>
          <a:bodyPr>
            <a:normAutofit/>
          </a:bodyPr>
          <a:lstStyle/>
          <a:p>
            <a:pPr algn="just"/>
            <a:r>
              <a:rPr lang="en-US" sz="2000" dirty="0"/>
              <a:t>One use for a circuit-level gateway </a:t>
            </a:r>
            <a:r>
              <a:rPr lang="en-US" sz="2000" b="1" dirty="0"/>
              <a:t>is to implement a virtual private network</a:t>
            </a:r>
            <a:r>
              <a:rPr lang="en-US" sz="2000" dirty="0"/>
              <a:t>. </a:t>
            </a:r>
          </a:p>
          <a:p>
            <a:pPr algn="just"/>
            <a:r>
              <a:rPr lang="en-US" sz="2000" dirty="0"/>
              <a:t>Suppose a company has two offices, each with its own network, at addresses 100.1.1.x and 200.1.1.x. Furthermore, the company wants to ensure that communication between these two address spaces is private, so the network administrator installs a pair of encryption devices. </a:t>
            </a:r>
          </a:p>
          <a:p>
            <a:pPr algn="just"/>
            <a:r>
              <a:rPr lang="en-US" sz="2000" dirty="0"/>
              <a:t>The circuit-level gateway separates all traffic to and from the 100 and 200 networks, as shown . (This figure shows only the 100 network; a parallel structure exists on the 200 network.) The circuit gateway on the 100 network routes all traffic to the 200 network through an encryption device.</a:t>
            </a:r>
          </a:p>
          <a:p>
            <a:pPr algn="just"/>
            <a:r>
              <a:rPr lang="en-US" sz="2000" dirty="0"/>
              <a:t>When traffic returns, the firewall on the 100 subnetwork routes all traffic from the 200 network through the encryption unit (for decryption) and back to the 100 gateway.</a:t>
            </a:r>
          </a:p>
          <a:p>
            <a:pPr algn="just"/>
            <a:r>
              <a:rPr lang="en-US" sz="2000" dirty="0"/>
              <a:t>In this way, traffic flow between the 100 and 200 networks is automatically screened (so no other traffic can masquerade as part of this pair of protected networks), and encrypted for confidentiality.</a:t>
            </a:r>
          </a:p>
          <a:p>
            <a:pPr algn="just"/>
            <a:r>
              <a:rPr lang="en-US" sz="2000" dirty="0"/>
              <a:t>Users are unaware of the cryptography and management is assured of the confidentiality protection. </a:t>
            </a:r>
            <a:endParaRPr lang="en-IN" sz="2000" dirty="0"/>
          </a:p>
        </p:txBody>
      </p:sp>
      <p:sp>
        <p:nvSpPr>
          <p:cNvPr id="4" name="Date Placeholder 3">
            <a:extLst>
              <a:ext uri="{FF2B5EF4-FFF2-40B4-BE49-F238E27FC236}">
                <a16:creationId xmlns:a16="http://schemas.microsoft.com/office/drawing/2014/main" xmlns="" id="{5E032DBD-D40F-3EB8-082C-7999009531B4}"/>
              </a:ext>
            </a:extLst>
          </p:cNvPr>
          <p:cNvSpPr>
            <a:spLocks noGrp="1"/>
          </p:cNvSpPr>
          <p:nvPr>
            <p:ph type="dt" sz="half" idx="10"/>
          </p:nvPr>
        </p:nvSpPr>
        <p:spPr/>
        <p:txBody>
          <a:bodyPr/>
          <a:lstStyle/>
          <a:p>
            <a:fld id="{A497BD1A-088B-4C02-9AAE-21BAE440C945}" type="datetime1">
              <a:rPr lang="en-IN" smtClean="0"/>
              <a:t>26-04-2025</a:t>
            </a:fld>
            <a:endParaRPr lang="en-IN" dirty="0"/>
          </a:p>
        </p:txBody>
      </p:sp>
      <p:sp>
        <p:nvSpPr>
          <p:cNvPr id="5" name="Slide Number Placeholder 4">
            <a:extLst>
              <a:ext uri="{FF2B5EF4-FFF2-40B4-BE49-F238E27FC236}">
                <a16:creationId xmlns:a16="http://schemas.microsoft.com/office/drawing/2014/main" xmlns="" id="{6DD58896-C17F-6D58-2088-AF75C03D539F}"/>
              </a:ext>
            </a:extLst>
          </p:cNvPr>
          <p:cNvSpPr>
            <a:spLocks noGrp="1"/>
          </p:cNvSpPr>
          <p:nvPr>
            <p:ph type="sldNum" sz="quarter" idx="12"/>
          </p:nvPr>
        </p:nvSpPr>
        <p:spPr/>
        <p:txBody>
          <a:bodyPr/>
          <a:lstStyle/>
          <a:p>
            <a:fld id="{F3A9E9E4-B33D-4B71-BC7B-0B7320F1BC06}" type="slidenum">
              <a:rPr lang="en-IN" smtClean="0"/>
              <a:t>21</a:t>
            </a:fld>
            <a:endParaRPr lang="en-IN" dirty="0"/>
          </a:p>
        </p:txBody>
      </p:sp>
    </p:spTree>
    <p:extLst>
      <p:ext uri="{BB962C8B-B14F-4D97-AF65-F5344CB8AC3E}">
        <p14:creationId xmlns:p14="http://schemas.microsoft.com/office/powerpoint/2010/main" val="1502307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271D19-C36A-DBB9-81A6-3E34C2F06177}"/>
              </a:ext>
            </a:extLst>
          </p:cNvPr>
          <p:cNvSpPr>
            <a:spLocks noGrp="1"/>
          </p:cNvSpPr>
          <p:nvPr>
            <p:ph type="title"/>
          </p:nvPr>
        </p:nvSpPr>
        <p:spPr>
          <a:xfrm>
            <a:off x="492760" y="18255"/>
            <a:ext cx="10515600" cy="1325563"/>
          </a:xfrm>
        </p:spPr>
        <p:txBody>
          <a:bodyPr/>
          <a:lstStyle/>
          <a:p>
            <a:pPr algn="ctr"/>
            <a:r>
              <a:rPr lang="en-IN" b="1" dirty="0">
                <a:solidFill>
                  <a:srgbClr val="C00000"/>
                </a:solidFill>
              </a:rPr>
              <a:t>Guard</a:t>
            </a:r>
          </a:p>
        </p:txBody>
      </p:sp>
      <p:sp>
        <p:nvSpPr>
          <p:cNvPr id="3" name="Content Placeholder 2">
            <a:extLst>
              <a:ext uri="{FF2B5EF4-FFF2-40B4-BE49-F238E27FC236}">
                <a16:creationId xmlns:a16="http://schemas.microsoft.com/office/drawing/2014/main" xmlns="" id="{BD52254C-4255-9520-762E-540074CCF67F}"/>
              </a:ext>
            </a:extLst>
          </p:cNvPr>
          <p:cNvSpPr>
            <a:spLocks noGrp="1"/>
          </p:cNvSpPr>
          <p:nvPr>
            <p:ph idx="1"/>
          </p:nvPr>
        </p:nvSpPr>
        <p:spPr>
          <a:xfrm>
            <a:off x="838200" y="1168400"/>
            <a:ext cx="10515600" cy="5008563"/>
          </a:xfrm>
        </p:spPr>
        <p:txBody>
          <a:bodyPr>
            <a:normAutofit/>
          </a:bodyPr>
          <a:lstStyle/>
          <a:p>
            <a:pPr algn="just"/>
            <a:r>
              <a:rPr lang="en-US" sz="2400" dirty="0"/>
              <a:t>A guard is a sophisticated firewall. </a:t>
            </a:r>
            <a:r>
              <a:rPr lang="en-US" sz="2400" b="1" dirty="0"/>
              <a:t>Like a proxy firewall, it receives protocol data units, interprets them, and emits the same or different protocol data units that achieve either the same result or a modified result</a:t>
            </a:r>
            <a:r>
              <a:rPr lang="en-US" sz="2400" dirty="0"/>
              <a:t>. </a:t>
            </a:r>
          </a:p>
          <a:p>
            <a:pPr algn="just"/>
            <a:r>
              <a:rPr lang="en-US" sz="2400" dirty="0"/>
              <a:t>The guard determines what services to perform on the user’s behalf in accordance with its available information, such as whatever it can reliably ascertain of the (outside) user’s identity, previous interactions, and so forth. </a:t>
            </a:r>
          </a:p>
          <a:p>
            <a:pPr algn="just"/>
            <a:r>
              <a:rPr lang="en-US" sz="2400" dirty="0"/>
              <a:t>The degree of control a guard can provide is limited only by what is computable. But guards and proxy firewalls are similar enough that the distinction between them is sometimes fuzzy. </a:t>
            </a:r>
          </a:p>
          <a:p>
            <a:pPr algn="just"/>
            <a:r>
              <a:rPr lang="en-US" sz="2400" dirty="0"/>
              <a:t>That is, we can add functionality to a proxy firewall until it starts to look a lot like a guard.</a:t>
            </a:r>
            <a:endParaRPr lang="en-IN" sz="2400" dirty="0"/>
          </a:p>
        </p:txBody>
      </p:sp>
      <p:sp>
        <p:nvSpPr>
          <p:cNvPr id="4" name="Date Placeholder 3">
            <a:extLst>
              <a:ext uri="{FF2B5EF4-FFF2-40B4-BE49-F238E27FC236}">
                <a16:creationId xmlns:a16="http://schemas.microsoft.com/office/drawing/2014/main" xmlns="" id="{A59F7F2F-6159-FF34-0F62-A28E3F667BCE}"/>
              </a:ext>
            </a:extLst>
          </p:cNvPr>
          <p:cNvSpPr>
            <a:spLocks noGrp="1"/>
          </p:cNvSpPr>
          <p:nvPr>
            <p:ph type="dt" sz="half" idx="10"/>
          </p:nvPr>
        </p:nvSpPr>
        <p:spPr/>
        <p:txBody>
          <a:bodyPr/>
          <a:lstStyle/>
          <a:p>
            <a:fld id="{98B5C22E-D194-4B77-80FE-4E8B40F202ED}" type="datetime1">
              <a:rPr lang="en-IN" smtClean="0"/>
              <a:t>26-04-2025</a:t>
            </a:fld>
            <a:endParaRPr lang="en-IN" dirty="0"/>
          </a:p>
        </p:txBody>
      </p:sp>
      <p:sp>
        <p:nvSpPr>
          <p:cNvPr id="5" name="Slide Number Placeholder 4">
            <a:extLst>
              <a:ext uri="{FF2B5EF4-FFF2-40B4-BE49-F238E27FC236}">
                <a16:creationId xmlns:a16="http://schemas.microsoft.com/office/drawing/2014/main" xmlns="" id="{E7725BDC-9730-1338-33FF-BCBFDF675207}"/>
              </a:ext>
            </a:extLst>
          </p:cNvPr>
          <p:cNvSpPr>
            <a:spLocks noGrp="1"/>
          </p:cNvSpPr>
          <p:nvPr>
            <p:ph type="sldNum" sz="quarter" idx="12"/>
          </p:nvPr>
        </p:nvSpPr>
        <p:spPr/>
        <p:txBody>
          <a:bodyPr/>
          <a:lstStyle/>
          <a:p>
            <a:fld id="{F3A9E9E4-B33D-4B71-BC7B-0B7320F1BC06}" type="slidenum">
              <a:rPr lang="en-IN" smtClean="0"/>
              <a:t>22</a:t>
            </a:fld>
            <a:endParaRPr lang="en-IN" dirty="0"/>
          </a:p>
        </p:txBody>
      </p:sp>
    </p:spTree>
    <p:extLst>
      <p:ext uri="{BB962C8B-B14F-4D97-AF65-F5344CB8AC3E}">
        <p14:creationId xmlns:p14="http://schemas.microsoft.com/office/powerpoint/2010/main" val="1199510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1D5FFE-7A97-3A58-A7F4-C09C0B93D542}"/>
              </a:ext>
            </a:extLst>
          </p:cNvPr>
          <p:cNvSpPr>
            <a:spLocks noGrp="1"/>
          </p:cNvSpPr>
          <p:nvPr>
            <p:ph type="title"/>
          </p:nvPr>
        </p:nvSpPr>
        <p:spPr>
          <a:xfrm>
            <a:off x="838200" y="18255"/>
            <a:ext cx="10515600" cy="1325563"/>
          </a:xfrm>
        </p:spPr>
        <p:txBody>
          <a:bodyPr/>
          <a:lstStyle/>
          <a:p>
            <a:pPr algn="ctr"/>
            <a:r>
              <a:rPr lang="en-IN" b="1" dirty="0">
                <a:solidFill>
                  <a:srgbClr val="C00000"/>
                </a:solidFill>
              </a:rPr>
              <a:t>Guard</a:t>
            </a:r>
            <a:endParaRPr lang="en-IN" dirty="0"/>
          </a:p>
        </p:txBody>
      </p:sp>
      <p:sp>
        <p:nvSpPr>
          <p:cNvPr id="3" name="Content Placeholder 2">
            <a:extLst>
              <a:ext uri="{FF2B5EF4-FFF2-40B4-BE49-F238E27FC236}">
                <a16:creationId xmlns:a16="http://schemas.microsoft.com/office/drawing/2014/main" xmlns="" id="{B09C9C8D-D9E0-F9A7-9678-7FFD9FE23134}"/>
              </a:ext>
            </a:extLst>
          </p:cNvPr>
          <p:cNvSpPr>
            <a:spLocks noGrp="1"/>
          </p:cNvSpPr>
          <p:nvPr>
            <p:ph idx="1"/>
          </p:nvPr>
        </p:nvSpPr>
        <p:spPr>
          <a:xfrm>
            <a:off x="838200" y="1151730"/>
            <a:ext cx="10515600" cy="5005229"/>
          </a:xfrm>
        </p:spPr>
        <p:txBody>
          <a:bodyPr>
            <a:normAutofit lnSpcReduction="10000"/>
          </a:bodyPr>
          <a:lstStyle/>
          <a:p>
            <a:pPr algn="just"/>
            <a:r>
              <a:rPr lang="en-US" sz="2000" b="1" dirty="0"/>
              <a:t>Guard activities can be quite detailed, as illustrated in the following examples:</a:t>
            </a:r>
          </a:p>
          <a:p>
            <a:pPr algn="just"/>
            <a:r>
              <a:rPr lang="en-US" sz="2000" dirty="0"/>
              <a:t>A university wants to allow its students to use email up to a limit of so many messages or so many characters of email in the last so many days. Although this result could be achieved by modifying email handlers, it is more easily done by monitoring the common point through which all email flows, the mail transfer protocol. </a:t>
            </a:r>
          </a:p>
          <a:p>
            <a:pPr algn="just"/>
            <a:r>
              <a:rPr lang="en-US" sz="2000" dirty="0"/>
              <a:t>A school wants its students to be able to access the World Wide Web but, because of the capacity of its connection to the web, it will allow only so many bytes per second (that is, allowing text mode and simple graphics but disallowing complex graphics, video, music, or the like). </a:t>
            </a:r>
          </a:p>
          <a:p>
            <a:pPr algn="just"/>
            <a:r>
              <a:rPr lang="en-US" sz="2000" dirty="0"/>
              <a:t>A library wants to make available certain documents but, to support fair use of copyrighted matter, it will allow a user to retrieve only the first so many characters of a document. After that amount, the library will require the user to pay a fee that will be forwarded to the author. </a:t>
            </a:r>
          </a:p>
          <a:p>
            <a:pPr algn="just"/>
            <a:r>
              <a:rPr lang="en-US" sz="2000" dirty="0"/>
              <a:t>A company is developing a new product based on petroleum and helium gas, code-named “light oil.” In any outbound data flows, as file transfers, email, web pages, or other data stream, it will replace the words “petroleum,” “helium,” or “light oil” with “magic.” A firewall is thought of primarily as an inbound filter: letting in only appropriate traffic (that which conforms to the firewall’s security policy). This example shows that a firewall or guard can just as easily screen outbound traffic.</a:t>
            </a:r>
            <a:endParaRPr lang="en-IN" sz="2000" dirty="0"/>
          </a:p>
        </p:txBody>
      </p:sp>
      <p:sp>
        <p:nvSpPr>
          <p:cNvPr id="4" name="Date Placeholder 3">
            <a:extLst>
              <a:ext uri="{FF2B5EF4-FFF2-40B4-BE49-F238E27FC236}">
                <a16:creationId xmlns:a16="http://schemas.microsoft.com/office/drawing/2014/main" xmlns="" id="{0E8E8C8C-ABE0-8DC4-FE97-B629DBC96399}"/>
              </a:ext>
            </a:extLst>
          </p:cNvPr>
          <p:cNvSpPr>
            <a:spLocks noGrp="1"/>
          </p:cNvSpPr>
          <p:nvPr>
            <p:ph type="dt" sz="half" idx="10"/>
          </p:nvPr>
        </p:nvSpPr>
        <p:spPr/>
        <p:txBody>
          <a:bodyPr/>
          <a:lstStyle/>
          <a:p>
            <a:fld id="{89B65E7C-BBC0-4F1D-871A-4AFCD495C4B5}" type="datetime1">
              <a:rPr lang="en-IN" smtClean="0"/>
              <a:t>26-04-2025</a:t>
            </a:fld>
            <a:endParaRPr lang="en-IN" dirty="0"/>
          </a:p>
        </p:txBody>
      </p:sp>
      <p:sp>
        <p:nvSpPr>
          <p:cNvPr id="5" name="Slide Number Placeholder 4">
            <a:extLst>
              <a:ext uri="{FF2B5EF4-FFF2-40B4-BE49-F238E27FC236}">
                <a16:creationId xmlns:a16="http://schemas.microsoft.com/office/drawing/2014/main" xmlns="" id="{36376773-17A8-1B66-F078-D88C8D4D0D75}"/>
              </a:ext>
            </a:extLst>
          </p:cNvPr>
          <p:cNvSpPr>
            <a:spLocks noGrp="1"/>
          </p:cNvSpPr>
          <p:nvPr>
            <p:ph type="sldNum" sz="quarter" idx="12"/>
          </p:nvPr>
        </p:nvSpPr>
        <p:spPr/>
        <p:txBody>
          <a:bodyPr/>
          <a:lstStyle/>
          <a:p>
            <a:fld id="{F3A9E9E4-B33D-4B71-BC7B-0B7320F1BC06}" type="slidenum">
              <a:rPr lang="en-IN" smtClean="0"/>
              <a:t>23</a:t>
            </a:fld>
            <a:endParaRPr lang="en-IN" dirty="0"/>
          </a:p>
        </p:txBody>
      </p:sp>
    </p:spTree>
    <p:extLst>
      <p:ext uri="{BB962C8B-B14F-4D97-AF65-F5344CB8AC3E}">
        <p14:creationId xmlns:p14="http://schemas.microsoft.com/office/powerpoint/2010/main" val="1310405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310F2C-300B-2866-DD73-0963C12C3D65}"/>
              </a:ext>
            </a:extLst>
          </p:cNvPr>
          <p:cNvSpPr>
            <a:spLocks noGrp="1"/>
          </p:cNvSpPr>
          <p:nvPr>
            <p:ph type="title"/>
          </p:nvPr>
        </p:nvSpPr>
        <p:spPr>
          <a:xfrm>
            <a:off x="736600" y="18255"/>
            <a:ext cx="10515600" cy="1325563"/>
          </a:xfrm>
        </p:spPr>
        <p:txBody>
          <a:bodyPr/>
          <a:lstStyle/>
          <a:p>
            <a:pPr algn="ctr"/>
            <a:r>
              <a:rPr lang="en-IN" b="1" dirty="0">
                <a:solidFill>
                  <a:srgbClr val="C00000"/>
                </a:solidFill>
              </a:rPr>
              <a:t>Guard</a:t>
            </a:r>
            <a:endParaRPr lang="en-IN" dirty="0"/>
          </a:p>
        </p:txBody>
      </p:sp>
      <p:sp>
        <p:nvSpPr>
          <p:cNvPr id="3" name="Content Placeholder 2">
            <a:extLst>
              <a:ext uri="{FF2B5EF4-FFF2-40B4-BE49-F238E27FC236}">
                <a16:creationId xmlns:a16="http://schemas.microsoft.com/office/drawing/2014/main" xmlns="" id="{AF615237-BCAD-21C6-6306-F912C4FE1949}"/>
              </a:ext>
            </a:extLst>
          </p:cNvPr>
          <p:cNvSpPr>
            <a:spLocks noGrp="1"/>
          </p:cNvSpPr>
          <p:nvPr>
            <p:ph idx="1"/>
          </p:nvPr>
        </p:nvSpPr>
        <p:spPr>
          <a:xfrm>
            <a:off x="838200" y="1343818"/>
            <a:ext cx="10515600" cy="4351338"/>
          </a:xfrm>
        </p:spPr>
        <p:txBody>
          <a:bodyPr>
            <a:normAutofit/>
          </a:bodyPr>
          <a:lstStyle/>
          <a:p>
            <a:pPr algn="just"/>
            <a:r>
              <a:rPr lang="en-US" sz="2200" dirty="0"/>
              <a:t>A company wants to allow its employees to fetch files by FTP. However, to prevent introduction of viruses, it will first pass all incoming files through a virus scanner. Even though many of these files will be nonexecutable text or graphics, the company administrator thinks that the expense of scanning them (which file shall pass) will be negligible.</a:t>
            </a:r>
          </a:p>
          <a:p>
            <a:pPr algn="just"/>
            <a:r>
              <a:rPr lang="en-US" sz="2200" b="1" dirty="0"/>
              <a:t>A guard can implement any programmable set of conditions, even if the program conditions become highly sophisticated.</a:t>
            </a:r>
          </a:p>
          <a:p>
            <a:pPr algn="just"/>
            <a:r>
              <a:rPr lang="en-US" sz="2200" dirty="0"/>
              <a:t>Each of these scenarios can be implemented as a modified proxy. Because the proxy decision is based on some quality of the communication data, we call the proxy a guard. </a:t>
            </a:r>
          </a:p>
          <a:p>
            <a:pPr algn="just"/>
            <a:r>
              <a:rPr lang="en-US" sz="2200" dirty="0"/>
              <a:t>Since the security policy implemented by the guard is somewhat more complex than the action of a proxy, the guard’s code is also more complex and therefore more exposed to error. </a:t>
            </a:r>
          </a:p>
        </p:txBody>
      </p:sp>
      <p:sp>
        <p:nvSpPr>
          <p:cNvPr id="4" name="Date Placeholder 3">
            <a:extLst>
              <a:ext uri="{FF2B5EF4-FFF2-40B4-BE49-F238E27FC236}">
                <a16:creationId xmlns:a16="http://schemas.microsoft.com/office/drawing/2014/main" xmlns="" id="{17D9B7DB-C65C-0401-E893-C45A89FDCC6D}"/>
              </a:ext>
            </a:extLst>
          </p:cNvPr>
          <p:cNvSpPr>
            <a:spLocks noGrp="1"/>
          </p:cNvSpPr>
          <p:nvPr>
            <p:ph type="dt" sz="half" idx="10"/>
          </p:nvPr>
        </p:nvSpPr>
        <p:spPr/>
        <p:txBody>
          <a:bodyPr/>
          <a:lstStyle/>
          <a:p>
            <a:fld id="{A0F18734-1CB8-4770-ADF1-33693E2BA911}" type="datetime1">
              <a:rPr lang="en-IN" smtClean="0"/>
              <a:t>26-04-2025</a:t>
            </a:fld>
            <a:endParaRPr lang="en-IN" dirty="0"/>
          </a:p>
        </p:txBody>
      </p:sp>
      <p:sp>
        <p:nvSpPr>
          <p:cNvPr id="5" name="Slide Number Placeholder 4">
            <a:extLst>
              <a:ext uri="{FF2B5EF4-FFF2-40B4-BE49-F238E27FC236}">
                <a16:creationId xmlns:a16="http://schemas.microsoft.com/office/drawing/2014/main" xmlns="" id="{1B6E9447-DAF1-F33B-ED59-F355387A8F3D}"/>
              </a:ext>
            </a:extLst>
          </p:cNvPr>
          <p:cNvSpPr>
            <a:spLocks noGrp="1"/>
          </p:cNvSpPr>
          <p:nvPr>
            <p:ph type="sldNum" sz="quarter" idx="12"/>
          </p:nvPr>
        </p:nvSpPr>
        <p:spPr/>
        <p:txBody>
          <a:bodyPr/>
          <a:lstStyle/>
          <a:p>
            <a:fld id="{F3A9E9E4-B33D-4B71-BC7B-0B7320F1BC06}" type="slidenum">
              <a:rPr lang="en-IN" smtClean="0"/>
              <a:t>24</a:t>
            </a:fld>
            <a:endParaRPr lang="en-IN" dirty="0"/>
          </a:p>
        </p:txBody>
      </p:sp>
    </p:spTree>
    <p:extLst>
      <p:ext uri="{BB962C8B-B14F-4D97-AF65-F5344CB8AC3E}">
        <p14:creationId xmlns:p14="http://schemas.microsoft.com/office/powerpoint/2010/main" val="3980157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EDEC06-9840-7F66-0223-2723A00A87E5}"/>
              </a:ext>
            </a:extLst>
          </p:cNvPr>
          <p:cNvSpPr>
            <a:spLocks noGrp="1"/>
          </p:cNvSpPr>
          <p:nvPr>
            <p:ph type="title"/>
          </p:nvPr>
        </p:nvSpPr>
        <p:spPr>
          <a:xfrm>
            <a:off x="838200" y="18255"/>
            <a:ext cx="10515600" cy="1325563"/>
          </a:xfrm>
        </p:spPr>
        <p:txBody>
          <a:bodyPr/>
          <a:lstStyle/>
          <a:p>
            <a:pPr algn="ctr"/>
            <a:r>
              <a:rPr lang="en-IN" b="1" dirty="0">
                <a:solidFill>
                  <a:srgbClr val="C00000"/>
                </a:solidFill>
              </a:rPr>
              <a:t>Personal Firewalls</a:t>
            </a:r>
          </a:p>
        </p:txBody>
      </p:sp>
      <p:sp>
        <p:nvSpPr>
          <p:cNvPr id="3" name="Content Placeholder 2">
            <a:extLst>
              <a:ext uri="{FF2B5EF4-FFF2-40B4-BE49-F238E27FC236}">
                <a16:creationId xmlns:a16="http://schemas.microsoft.com/office/drawing/2014/main" xmlns="" id="{535D1649-BFB6-7EA3-CEE0-127F0E9580DB}"/>
              </a:ext>
            </a:extLst>
          </p:cNvPr>
          <p:cNvSpPr>
            <a:spLocks noGrp="1"/>
          </p:cNvSpPr>
          <p:nvPr>
            <p:ph idx="1"/>
          </p:nvPr>
        </p:nvSpPr>
        <p:spPr>
          <a:xfrm>
            <a:off x="838200" y="1110138"/>
            <a:ext cx="10515600" cy="5012532"/>
          </a:xfrm>
        </p:spPr>
        <p:txBody>
          <a:bodyPr>
            <a:normAutofit/>
          </a:bodyPr>
          <a:lstStyle/>
          <a:p>
            <a:pPr algn="just"/>
            <a:r>
              <a:rPr lang="en-US" sz="2400" dirty="0"/>
              <a:t>Firewalls typically </a:t>
            </a:r>
            <a:r>
              <a:rPr lang="en-US" sz="2400" b="1" dirty="0"/>
              <a:t>protect a (sub)network of multiple hosts</a:t>
            </a:r>
            <a:r>
              <a:rPr lang="en-US" sz="2400" dirty="0"/>
              <a:t>. </a:t>
            </a:r>
          </a:p>
          <a:p>
            <a:pPr algn="just"/>
            <a:r>
              <a:rPr lang="en-US" sz="2400" dirty="0"/>
              <a:t>University students and employees in offices are behind a real firewall. </a:t>
            </a:r>
          </a:p>
          <a:p>
            <a:pPr algn="just"/>
            <a:r>
              <a:rPr lang="en-US" sz="2400" dirty="0"/>
              <a:t>Increasingly, home users, individual workers, and small businesses use cable modems or DSL connections with unlimited, always-on access. These people need a firewall, but a separate firewall computer to protect a single workstation can seem too complex and expensive. These people need a firewall’s capabilities at a lower price. </a:t>
            </a:r>
          </a:p>
          <a:p>
            <a:pPr algn="just"/>
            <a:r>
              <a:rPr lang="en-US" sz="2400" dirty="0"/>
              <a:t>A personal firewall is an application program that runs on the workstation it protects. </a:t>
            </a:r>
          </a:p>
          <a:p>
            <a:pPr algn="just"/>
            <a:r>
              <a:rPr lang="en-US" sz="2400" dirty="0"/>
              <a:t>A personal firewall can complement the work of a conventional firewall by screening the kind of data a single host will accept, or it can compensate for the lack of a regular firewall, as in a private DSL or cable modem connection.</a:t>
            </a:r>
            <a:endParaRPr lang="en-IN" sz="2400" dirty="0"/>
          </a:p>
        </p:txBody>
      </p:sp>
      <p:sp>
        <p:nvSpPr>
          <p:cNvPr id="4" name="Date Placeholder 3">
            <a:extLst>
              <a:ext uri="{FF2B5EF4-FFF2-40B4-BE49-F238E27FC236}">
                <a16:creationId xmlns:a16="http://schemas.microsoft.com/office/drawing/2014/main" xmlns="" id="{1E30E3A4-2F66-565B-60A7-5C4C748429FE}"/>
              </a:ext>
            </a:extLst>
          </p:cNvPr>
          <p:cNvSpPr>
            <a:spLocks noGrp="1"/>
          </p:cNvSpPr>
          <p:nvPr>
            <p:ph type="dt" sz="half" idx="10"/>
          </p:nvPr>
        </p:nvSpPr>
        <p:spPr/>
        <p:txBody>
          <a:bodyPr/>
          <a:lstStyle/>
          <a:p>
            <a:fld id="{C7C56901-2F4B-48AC-ACCE-496F8B6D23EB}" type="datetime1">
              <a:rPr lang="en-IN" smtClean="0"/>
              <a:t>26-04-2025</a:t>
            </a:fld>
            <a:endParaRPr lang="en-IN" dirty="0"/>
          </a:p>
        </p:txBody>
      </p:sp>
      <p:sp>
        <p:nvSpPr>
          <p:cNvPr id="5" name="Slide Number Placeholder 4">
            <a:extLst>
              <a:ext uri="{FF2B5EF4-FFF2-40B4-BE49-F238E27FC236}">
                <a16:creationId xmlns:a16="http://schemas.microsoft.com/office/drawing/2014/main" xmlns="" id="{23E783A3-1694-F9B3-C20A-82674D5C4612}"/>
              </a:ext>
            </a:extLst>
          </p:cNvPr>
          <p:cNvSpPr>
            <a:spLocks noGrp="1"/>
          </p:cNvSpPr>
          <p:nvPr>
            <p:ph type="sldNum" sz="quarter" idx="12"/>
          </p:nvPr>
        </p:nvSpPr>
        <p:spPr/>
        <p:txBody>
          <a:bodyPr/>
          <a:lstStyle/>
          <a:p>
            <a:fld id="{F3A9E9E4-B33D-4B71-BC7B-0B7320F1BC06}" type="slidenum">
              <a:rPr lang="en-IN" smtClean="0"/>
              <a:t>25</a:t>
            </a:fld>
            <a:endParaRPr lang="en-IN" dirty="0"/>
          </a:p>
        </p:txBody>
      </p:sp>
    </p:spTree>
    <p:extLst>
      <p:ext uri="{BB962C8B-B14F-4D97-AF65-F5344CB8AC3E}">
        <p14:creationId xmlns:p14="http://schemas.microsoft.com/office/powerpoint/2010/main" val="23763718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28062B8-7878-3A3E-706D-73912330EE33}"/>
              </a:ext>
            </a:extLst>
          </p:cNvPr>
          <p:cNvSpPr>
            <a:spLocks noGrp="1"/>
          </p:cNvSpPr>
          <p:nvPr>
            <p:ph idx="1"/>
          </p:nvPr>
        </p:nvSpPr>
        <p:spPr>
          <a:xfrm>
            <a:off x="838200" y="1188720"/>
            <a:ext cx="10515600" cy="5313680"/>
          </a:xfrm>
        </p:spPr>
        <p:txBody>
          <a:bodyPr>
            <a:normAutofit/>
          </a:bodyPr>
          <a:lstStyle/>
          <a:p>
            <a:pPr algn="just"/>
            <a:r>
              <a:rPr lang="en-US" sz="2400" b="1" dirty="0"/>
              <a:t>A personal firewall is a program that runs on a single host to monitor and control traffic to that host. It can only work in conjunction with support from the operating system.</a:t>
            </a:r>
          </a:p>
          <a:p>
            <a:pPr algn="just"/>
            <a:r>
              <a:rPr lang="en-US" sz="2400" dirty="0"/>
              <a:t>Just as a network firewall screens incoming and outgoing traffic for that network, a personal firewall screens traffic on a single workstation. </a:t>
            </a:r>
          </a:p>
          <a:p>
            <a:pPr algn="just"/>
            <a:r>
              <a:rPr lang="en-US" sz="2400" dirty="0"/>
              <a:t>A workstation could be vulnerable to malicious code or malicious active agents (ActiveX controls or Java applets), leakage of personal data stored on the workstation, and vulnerability scans to identify potential weaknesses. </a:t>
            </a:r>
          </a:p>
          <a:p>
            <a:pPr algn="just"/>
            <a:r>
              <a:rPr lang="en-US" sz="2400" dirty="0"/>
              <a:t>Commercial implementations of personal firewalls include SaaS Endpoint Protection from McAfee, F-Secure Internet Security, Microsoft Windows Firewall, and Zone Alarm from CheckPoint.</a:t>
            </a:r>
            <a:endParaRPr lang="en-IN" sz="2400" b="1" dirty="0"/>
          </a:p>
        </p:txBody>
      </p:sp>
      <p:sp>
        <p:nvSpPr>
          <p:cNvPr id="4" name="Date Placeholder 3">
            <a:extLst>
              <a:ext uri="{FF2B5EF4-FFF2-40B4-BE49-F238E27FC236}">
                <a16:creationId xmlns:a16="http://schemas.microsoft.com/office/drawing/2014/main" xmlns="" id="{1374F593-496D-ED43-3982-9DFFD187BE2A}"/>
              </a:ext>
            </a:extLst>
          </p:cNvPr>
          <p:cNvSpPr>
            <a:spLocks noGrp="1"/>
          </p:cNvSpPr>
          <p:nvPr>
            <p:ph type="dt" sz="half" idx="10"/>
          </p:nvPr>
        </p:nvSpPr>
        <p:spPr/>
        <p:txBody>
          <a:bodyPr/>
          <a:lstStyle/>
          <a:p>
            <a:fld id="{3E22630A-5CF9-43D0-A4F9-A569557398D8}" type="datetime1">
              <a:rPr lang="en-IN" smtClean="0"/>
              <a:t>26-04-2025</a:t>
            </a:fld>
            <a:endParaRPr lang="en-IN" dirty="0"/>
          </a:p>
        </p:txBody>
      </p:sp>
      <p:sp>
        <p:nvSpPr>
          <p:cNvPr id="5" name="Slide Number Placeholder 4">
            <a:extLst>
              <a:ext uri="{FF2B5EF4-FFF2-40B4-BE49-F238E27FC236}">
                <a16:creationId xmlns:a16="http://schemas.microsoft.com/office/drawing/2014/main" xmlns="" id="{F4C587BB-B0D7-35C7-D266-D1FC8F420F38}"/>
              </a:ext>
            </a:extLst>
          </p:cNvPr>
          <p:cNvSpPr>
            <a:spLocks noGrp="1"/>
          </p:cNvSpPr>
          <p:nvPr>
            <p:ph type="sldNum" sz="quarter" idx="12"/>
          </p:nvPr>
        </p:nvSpPr>
        <p:spPr/>
        <p:txBody>
          <a:bodyPr/>
          <a:lstStyle/>
          <a:p>
            <a:fld id="{F3A9E9E4-B33D-4B71-BC7B-0B7320F1BC06}" type="slidenum">
              <a:rPr lang="en-IN" smtClean="0"/>
              <a:t>26</a:t>
            </a:fld>
            <a:endParaRPr lang="en-IN" dirty="0"/>
          </a:p>
        </p:txBody>
      </p:sp>
      <p:sp>
        <p:nvSpPr>
          <p:cNvPr id="2" name="Title 1">
            <a:extLst>
              <a:ext uri="{FF2B5EF4-FFF2-40B4-BE49-F238E27FC236}">
                <a16:creationId xmlns:a16="http://schemas.microsoft.com/office/drawing/2014/main" xmlns="" id="{06EE93E2-3862-185E-1C6E-01362BE32EBE}"/>
              </a:ext>
            </a:extLst>
          </p:cNvPr>
          <p:cNvSpPr>
            <a:spLocks noGrp="1"/>
          </p:cNvSpPr>
          <p:nvPr>
            <p:ph type="title"/>
          </p:nvPr>
        </p:nvSpPr>
        <p:spPr>
          <a:xfrm>
            <a:off x="838200" y="18255"/>
            <a:ext cx="10515600" cy="1325563"/>
          </a:xfrm>
        </p:spPr>
        <p:txBody>
          <a:bodyPr/>
          <a:lstStyle/>
          <a:p>
            <a:pPr algn="ctr"/>
            <a:r>
              <a:rPr lang="en-IN" b="1" dirty="0">
                <a:solidFill>
                  <a:srgbClr val="C00000"/>
                </a:solidFill>
              </a:rPr>
              <a:t>Personal Firewalls</a:t>
            </a:r>
          </a:p>
        </p:txBody>
      </p:sp>
    </p:spTree>
    <p:extLst>
      <p:ext uri="{BB962C8B-B14F-4D97-AF65-F5344CB8AC3E}">
        <p14:creationId xmlns:p14="http://schemas.microsoft.com/office/powerpoint/2010/main" val="21500654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3106B80-8F80-79FE-3672-47B46E92BB41}"/>
              </a:ext>
            </a:extLst>
          </p:cNvPr>
          <p:cNvSpPr>
            <a:spLocks noGrp="1"/>
          </p:cNvSpPr>
          <p:nvPr>
            <p:ph idx="1"/>
          </p:nvPr>
        </p:nvSpPr>
        <p:spPr>
          <a:xfrm>
            <a:off x="838200" y="1178560"/>
            <a:ext cx="10515600" cy="5542915"/>
          </a:xfrm>
        </p:spPr>
        <p:txBody>
          <a:bodyPr>
            <a:normAutofit/>
          </a:bodyPr>
          <a:lstStyle/>
          <a:p>
            <a:pPr algn="just"/>
            <a:r>
              <a:rPr lang="en-US" sz="2400" dirty="0"/>
              <a:t>The personal firewall is configured to enforce some policy. </a:t>
            </a:r>
          </a:p>
          <a:p>
            <a:pPr algn="just"/>
            <a:r>
              <a:rPr lang="en-US" sz="2400" dirty="0"/>
              <a:t>For example, the user may decide that certain sites, such as computers on the company network, are highly trustworthy, but most other sites are not. Vendors sometimes supply and maintain lists of unsafe sites to which their products block access by default. </a:t>
            </a:r>
          </a:p>
          <a:p>
            <a:pPr algn="just"/>
            <a:r>
              <a:rPr lang="en-US" sz="2400" dirty="0"/>
              <a:t>The user defines a policy permitting download of code, unrestricted data sharing, and management access from the corporate segment but not from other sites. </a:t>
            </a:r>
          </a:p>
          <a:p>
            <a:pPr algn="just"/>
            <a:r>
              <a:rPr lang="en-US" sz="2400" dirty="0"/>
              <a:t>Personal firewalls can </a:t>
            </a:r>
            <a:r>
              <a:rPr lang="en-US" sz="2400" b="1" dirty="0"/>
              <a:t>also generate logs of accesses</a:t>
            </a:r>
            <a:r>
              <a:rPr lang="en-US" sz="2400" dirty="0"/>
              <a:t>, which can be useful to examine in case something harmful does slip through the firewall. </a:t>
            </a:r>
          </a:p>
          <a:p>
            <a:pPr algn="just"/>
            <a:r>
              <a:rPr lang="en-US" sz="2400" dirty="0"/>
              <a:t>Combining a malware scanner with a personal firewall is both effective and efficient. Typically, users forget to run scanners regularly, but they do remember to run them occasionally, such as sometime during the week. </a:t>
            </a:r>
          </a:p>
        </p:txBody>
      </p:sp>
      <p:sp>
        <p:nvSpPr>
          <p:cNvPr id="4" name="Date Placeholder 3">
            <a:extLst>
              <a:ext uri="{FF2B5EF4-FFF2-40B4-BE49-F238E27FC236}">
                <a16:creationId xmlns:a16="http://schemas.microsoft.com/office/drawing/2014/main" xmlns="" id="{ED3C5D3F-FDFA-890C-4B75-89E98430087C}"/>
              </a:ext>
            </a:extLst>
          </p:cNvPr>
          <p:cNvSpPr>
            <a:spLocks noGrp="1"/>
          </p:cNvSpPr>
          <p:nvPr>
            <p:ph type="dt" sz="half" idx="10"/>
          </p:nvPr>
        </p:nvSpPr>
        <p:spPr/>
        <p:txBody>
          <a:bodyPr/>
          <a:lstStyle/>
          <a:p>
            <a:fld id="{7E95BC95-EBD7-4B27-AEC5-27C7AA40C67E}" type="datetime1">
              <a:rPr lang="en-IN" smtClean="0"/>
              <a:t>26-04-2025</a:t>
            </a:fld>
            <a:endParaRPr lang="en-IN" dirty="0"/>
          </a:p>
        </p:txBody>
      </p:sp>
      <p:sp>
        <p:nvSpPr>
          <p:cNvPr id="5" name="Slide Number Placeholder 4">
            <a:extLst>
              <a:ext uri="{FF2B5EF4-FFF2-40B4-BE49-F238E27FC236}">
                <a16:creationId xmlns:a16="http://schemas.microsoft.com/office/drawing/2014/main" xmlns="" id="{52CC0665-A69E-53C3-CEFC-48A8D6A47670}"/>
              </a:ext>
            </a:extLst>
          </p:cNvPr>
          <p:cNvSpPr>
            <a:spLocks noGrp="1"/>
          </p:cNvSpPr>
          <p:nvPr>
            <p:ph type="sldNum" sz="quarter" idx="12"/>
          </p:nvPr>
        </p:nvSpPr>
        <p:spPr/>
        <p:txBody>
          <a:bodyPr/>
          <a:lstStyle/>
          <a:p>
            <a:fld id="{F3A9E9E4-B33D-4B71-BC7B-0B7320F1BC06}" type="slidenum">
              <a:rPr lang="en-IN" smtClean="0"/>
              <a:t>27</a:t>
            </a:fld>
            <a:endParaRPr lang="en-IN" dirty="0"/>
          </a:p>
        </p:txBody>
      </p:sp>
      <p:sp>
        <p:nvSpPr>
          <p:cNvPr id="2" name="Title 1">
            <a:extLst>
              <a:ext uri="{FF2B5EF4-FFF2-40B4-BE49-F238E27FC236}">
                <a16:creationId xmlns:a16="http://schemas.microsoft.com/office/drawing/2014/main" xmlns="" id="{A026FD67-FEFD-4F13-39ED-1B4C2DED0B68}"/>
              </a:ext>
            </a:extLst>
          </p:cNvPr>
          <p:cNvSpPr>
            <a:spLocks noGrp="1"/>
          </p:cNvSpPr>
          <p:nvPr>
            <p:ph type="title"/>
          </p:nvPr>
        </p:nvSpPr>
        <p:spPr>
          <a:xfrm>
            <a:off x="838200" y="18255"/>
            <a:ext cx="10515600" cy="1325563"/>
          </a:xfrm>
        </p:spPr>
        <p:txBody>
          <a:bodyPr/>
          <a:lstStyle/>
          <a:p>
            <a:pPr algn="ctr"/>
            <a:r>
              <a:rPr lang="en-IN" b="1" dirty="0">
                <a:solidFill>
                  <a:srgbClr val="C00000"/>
                </a:solidFill>
              </a:rPr>
              <a:t>Personal Firewalls</a:t>
            </a:r>
          </a:p>
        </p:txBody>
      </p:sp>
    </p:spTree>
    <p:extLst>
      <p:ext uri="{BB962C8B-B14F-4D97-AF65-F5344CB8AC3E}">
        <p14:creationId xmlns:p14="http://schemas.microsoft.com/office/powerpoint/2010/main" val="583659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B22646D-0174-50AA-B441-87282661E93A}"/>
              </a:ext>
            </a:extLst>
          </p:cNvPr>
          <p:cNvSpPr>
            <a:spLocks noGrp="1"/>
          </p:cNvSpPr>
          <p:nvPr>
            <p:ph idx="1"/>
          </p:nvPr>
        </p:nvSpPr>
        <p:spPr>
          <a:xfrm>
            <a:off x="838200" y="1348105"/>
            <a:ext cx="10515600" cy="4351338"/>
          </a:xfrm>
        </p:spPr>
        <p:txBody>
          <a:bodyPr/>
          <a:lstStyle/>
          <a:p>
            <a:pPr algn="just"/>
            <a:r>
              <a:rPr lang="en-US" sz="2400" dirty="0"/>
              <a:t>However, leaving the scanner execution to the user’s memory means that the scanner detects a problem only after the fact—such as when a virus has been downloaded in an email attachment. </a:t>
            </a:r>
          </a:p>
          <a:p>
            <a:pPr algn="just"/>
            <a:r>
              <a:rPr lang="en-US" sz="2400" dirty="0"/>
              <a:t>With the </a:t>
            </a:r>
            <a:r>
              <a:rPr lang="en-US" sz="2400" b="1" dirty="0"/>
              <a:t>combination of a virus scanner and a personal firewall</a:t>
            </a:r>
            <a:r>
              <a:rPr lang="en-US" sz="2400" dirty="0"/>
              <a:t>, the firewall </a:t>
            </a:r>
            <a:r>
              <a:rPr lang="en-US" sz="2400" b="1" dirty="0"/>
              <a:t>directs all incoming email to the virus scanner</a:t>
            </a:r>
            <a:r>
              <a:rPr lang="en-US" sz="2400" dirty="0"/>
              <a:t>, which examines every attachment the moment it reaches the target host and before it is opened.</a:t>
            </a:r>
          </a:p>
          <a:p>
            <a:pPr algn="just"/>
            <a:r>
              <a:rPr lang="en-US" sz="2400" dirty="0"/>
              <a:t> A personal firewall runs on the very computer it is trying to protect. Thus, a clever attacker is likely to attempt an undetected attack that would disable or reconfigure the firewall for the future.</a:t>
            </a:r>
            <a:endParaRPr lang="en-IN" sz="2400" dirty="0"/>
          </a:p>
          <a:p>
            <a:endParaRPr lang="en-IN" dirty="0"/>
          </a:p>
        </p:txBody>
      </p:sp>
      <p:sp>
        <p:nvSpPr>
          <p:cNvPr id="4" name="Date Placeholder 3">
            <a:extLst>
              <a:ext uri="{FF2B5EF4-FFF2-40B4-BE49-F238E27FC236}">
                <a16:creationId xmlns:a16="http://schemas.microsoft.com/office/drawing/2014/main" xmlns="" id="{1F112E7E-FA14-8428-D5CA-8860A3A82945}"/>
              </a:ext>
            </a:extLst>
          </p:cNvPr>
          <p:cNvSpPr>
            <a:spLocks noGrp="1"/>
          </p:cNvSpPr>
          <p:nvPr>
            <p:ph type="dt" sz="half" idx="10"/>
          </p:nvPr>
        </p:nvSpPr>
        <p:spPr/>
        <p:txBody>
          <a:bodyPr/>
          <a:lstStyle/>
          <a:p>
            <a:fld id="{6BA626DB-4482-4496-88F4-431FCC379417}" type="datetime1">
              <a:rPr lang="en-IN" smtClean="0"/>
              <a:t>26-04-2025</a:t>
            </a:fld>
            <a:endParaRPr lang="en-IN" dirty="0"/>
          </a:p>
        </p:txBody>
      </p:sp>
      <p:sp>
        <p:nvSpPr>
          <p:cNvPr id="5" name="Slide Number Placeholder 4">
            <a:extLst>
              <a:ext uri="{FF2B5EF4-FFF2-40B4-BE49-F238E27FC236}">
                <a16:creationId xmlns:a16="http://schemas.microsoft.com/office/drawing/2014/main" xmlns="" id="{A3A02357-CD5B-743E-1AC4-E97547E22AE8}"/>
              </a:ext>
            </a:extLst>
          </p:cNvPr>
          <p:cNvSpPr>
            <a:spLocks noGrp="1"/>
          </p:cNvSpPr>
          <p:nvPr>
            <p:ph type="sldNum" sz="quarter" idx="12"/>
          </p:nvPr>
        </p:nvSpPr>
        <p:spPr/>
        <p:txBody>
          <a:bodyPr/>
          <a:lstStyle/>
          <a:p>
            <a:fld id="{F3A9E9E4-B33D-4B71-BC7B-0B7320F1BC06}" type="slidenum">
              <a:rPr lang="en-IN" smtClean="0"/>
              <a:t>28</a:t>
            </a:fld>
            <a:endParaRPr lang="en-IN" dirty="0"/>
          </a:p>
        </p:txBody>
      </p:sp>
      <p:sp>
        <p:nvSpPr>
          <p:cNvPr id="2" name="Title 1">
            <a:extLst>
              <a:ext uri="{FF2B5EF4-FFF2-40B4-BE49-F238E27FC236}">
                <a16:creationId xmlns:a16="http://schemas.microsoft.com/office/drawing/2014/main" xmlns="" id="{79BD1B4A-7244-CB90-B0DB-FCB7C5868041}"/>
              </a:ext>
            </a:extLst>
          </p:cNvPr>
          <p:cNvSpPr>
            <a:spLocks noGrp="1"/>
          </p:cNvSpPr>
          <p:nvPr>
            <p:ph type="title"/>
          </p:nvPr>
        </p:nvSpPr>
        <p:spPr>
          <a:xfrm>
            <a:off x="838200" y="18255"/>
            <a:ext cx="10515600" cy="1325563"/>
          </a:xfrm>
        </p:spPr>
        <p:txBody>
          <a:bodyPr/>
          <a:lstStyle/>
          <a:p>
            <a:pPr algn="ctr"/>
            <a:r>
              <a:rPr lang="en-IN" b="1" dirty="0">
                <a:solidFill>
                  <a:srgbClr val="C00000"/>
                </a:solidFill>
              </a:rPr>
              <a:t>Personal Firewalls</a:t>
            </a:r>
          </a:p>
        </p:txBody>
      </p:sp>
    </p:spTree>
    <p:extLst>
      <p:ext uri="{BB962C8B-B14F-4D97-AF65-F5344CB8AC3E}">
        <p14:creationId xmlns:p14="http://schemas.microsoft.com/office/powerpoint/2010/main" val="1420158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D197EA-AAD1-D2DE-EA12-3910420742BB}"/>
              </a:ext>
            </a:extLst>
          </p:cNvPr>
          <p:cNvSpPr>
            <a:spLocks noGrp="1"/>
          </p:cNvSpPr>
          <p:nvPr>
            <p:ph type="title"/>
          </p:nvPr>
        </p:nvSpPr>
        <p:spPr>
          <a:xfrm>
            <a:off x="706120" y="262095"/>
            <a:ext cx="10515600" cy="1325563"/>
          </a:xfrm>
        </p:spPr>
        <p:txBody>
          <a:bodyPr/>
          <a:lstStyle/>
          <a:p>
            <a:pPr algn="ctr"/>
            <a:r>
              <a:rPr lang="en-IN" b="1" dirty="0">
                <a:solidFill>
                  <a:srgbClr val="C00000"/>
                </a:solidFill>
              </a:rPr>
              <a:t>Comparison of Firewall Types</a:t>
            </a:r>
          </a:p>
        </p:txBody>
      </p:sp>
      <p:sp>
        <p:nvSpPr>
          <p:cNvPr id="3" name="Content Placeholder 2">
            <a:extLst>
              <a:ext uri="{FF2B5EF4-FFF2-40B4-BE49-F238E27FC236}">
                <a16:creationId xmlns:a16="http://schemas.microsoft.com/office/drawing/2014/main" xmlns="" id="{B351D6D2-23CD-6EDB-BA50-EBC7F67D0CE2}"/>
              </a:ext>
            </a:extLst>
          </p:cNvPr>
          <p:cNvSpPr>
            <a:spLocks noGrp="1"/>
          </p:cNvSpPr>
          <p:nvPr>
            <p:ph idx="1"/>
          </p:nvPr>
        </p:nvSpPr>
        <p:spPr>
          <a:xfrm>
            <a:off x="838200" y="1539556"/>
            <a:ext cx="10515600" cy="4351338"/>
          </a:xfrm>
        </p:spPr>
        <p:txBody>
          <a:bodyPr>
            <a:normAutofit/>
          </a:bodyPr>
          <a:lstStyle/>
          <a:p>
            <a:pPr algn="just"/>
            <a:r>
              <a:rPr lang="en-US" sz="2400" dirty="0"/>
              <a:t>Firewall types are arranged generally from least sophisticated on the left to more so on the right, with the exception of personal firewalls, which are more like an enterprise packet filter. </a:t>
            </a:r>
          </a:p>
          <a:p>
            <a:pPr algn="just"/>
            <a:r>
              <a:rPr lang="en-US" sz="2400" dirty="0"/>
              <a:t>Do not, however, interpret least sophisticated as meaning weakest or least desirable; in fact, packet filtering firewalls are the work horses of enterprise networks, quickly and efficiently blocking much undesirable traffic.</a:t>
            </a:r>
            <a:endParaRPr lang="en-IN" sz="2400" dirty="0"/>
          </a:p>
        </p:txBody>
      </p:sp>
      <p:sp>
        <p:nvSpPr>
          <p:cNvPr id="4" name="Date Placeholder 3">
            <a:extLst>
              <a:ext uri="{FF2B5EF4-FFF2-40B4-BE49-F238E27FC236}">
                <a16:creationId xmlns:a16="http://schemas.microsoft.com/office/drawing/2014/main" xmlns="" id="{E9E45325-D86A-EBBA-836A-4CAE8A4F9727}"/>
              </a:ext>
            </a:extLst>
          </p:cNvPr>
          <p:cNvSpPr>
            <a:spLocks noGrp="1"/>
          </p:cNvSpPr>
          <p:nvPr>
            <p:ph type="dt" sz="half" idx="10"/>
          </p:nvPr>
        </p:nvSpPr>
        <p:spPr/>
        <p:txBody>
          <a:bodyPr/>
          <a:lstStyle/>
          <a:p>
            <a:fld id="{63BDF18D-0682-4464-B17A-D6213CD15E5E}" type="datetime1">
              <a:rPr lang="en-IN" smtClean="0"/>
              <a:t>26-04-2025</a:t>
            </a:fld>
            <a:endParaRPr lang="en-IN" dirty="0"/>
          </a:p>
        </p:txBody>
      </p:sp>
      <p:sp>
        <p:nvSpPr>
          <p:cNvPr id="5" name="Slide Number Placeholder 4">
            <a:extLst>
              <a:ext uri="{FF2B5EF4-FFF2-40B4-BE49-F238E27FC236}">
                <a16:creationId xmlns:a16="http://schemas.microsoft.com/office/drawing/2014/main" xmlns="" id="{6AC6450B-C7BE-5C19-811B-1DDCFDB2DCE5}"/>
              </a:ext>
            </a:extLst>
          </p:cNvPr>
          <p:cNvSpPr>
            <a:spLocks noGrp="1"/>
          </p:cNvSpPr>
          <p:nvPr>
            <p:ph type="sldNum" sz="quarter" idx="12"/>
          </p:nvPr>
        </p:nvSpPr>
        <p:spPr/>
        <p:txBody>
          <a:bodyPr/>
          <a:lstStyle/>
          <a:p>
            <a:fld id="{F3A9E9E4-B33D-4B71-BC7B-0B7320F1BC06}" type="slidenum">
              <a:rPr lang="en-IN" smtClean="0"/>
              <a:t>29</a:t>
            </a:fld>
            <a:endParaRPr lang="en-IN" dirty="0"/>
          </a:p>
        </p:txBody>
      </p:sp>
    </p:spTree>
    <p:extLst>
      <p:ext uri="{BB962C8B-B14F-4D97-AF65-F5344CB8AC3E}">
        <p14:creationId xmlns:p14="http://schemas.microsoft.com/office/powerpoint/2010/main" val="1927391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1922CC0-33A0-0D4A-649D-2182C1ED8DE1}"/>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xmlns="" id="{F6532E23-CEAE-D59C-D92A-D84F3B4E12FE}"/>
              </a:ext>
            </a:extLst>
          </p:cNvPr>
          <p:cNvGraphicFramePr>
            <a:graphicFrameLocks noGrp="1"/>
          </p:cNvGraphicFramePr>
          <p:nvPr>
            <p:ph idx="1"/>
          </p:nvPr>
        </p:nvGraphicFramePr>
        <p:xfrm>
          <a:off x="264159" y="24752"/>
          <a:ext cx="11663682" cy="6808495"/>
        </p:xfrm>
        <a:graphic>
          <a:graphicData uri="http://schemas.openxmlformats.org/drawingml/2006/table">
            <a:tbl>
              <a:tblPr firstRow="1" bandRow="1">
                <a:tableStyleId>{5C22544A-7EE6-4342-B048-85BDC9FD1C3A}</a:tableStyleId>
              </a:tblPr>
              <a:tblGrid>
                <a:gridCol w="1943947">
                  <a:extLst>
                    <a:ext uri="{9D8B030D-6E8A-4147-A177-3AD203B41FA5}">
                      <a16:colId xmlns:a16="http://schemas.microsoft.com/office/drawing/2014/main" xmlns="" val="2936799081"/>
                    </a:ext>
                  </a:extLst>
                </a:gridCol>
                <a:gridCol w="1943947">
                  <a:extLst>
                    <a:ext uri="{9D8B030D-6E8A-4147-A177-3AD203B41FA5}">
                      <a16:colId xmlns:a16="http://schemas.microsoft.com/office/drawing/2014/main" xmlns="" val="922533609"/>
                    </a:ext>
                  </a:extLst>
                </a:gridCol>
                <a:gridCol w="1943947">
                  <a:extLst>
                    <a:ext uri="{9D8B030D-6E8A-4147-A177-3AD203B41FA5}">
                      <a16:colId xmlns:a16="http://schemas.microsoft.com/office/drawing/2014/main" xmlns="" val="2452878830"/>
                    </a:ext>
                  </a:extLst>
                </a:gridCol>
                <a:gridCol w="1943947">
                  <a:extLst>
                    <a:ext uri="{9D8B030D-6E8A-4147-A177-3AD203B41FA5}">
                      <a16:colId xmlns:a16="http://schemas.microsoft.com/office/drawing/2014/main" xmlns="" val="1013011931"/>
                    </a:ext>
                  </a:extLst>
                </a:gridCol>
                <a:gridCol w="1943947">
                  <a:extLst>
                    <a:ext uri="{9D8B030D-6E8A-4147-A177-3AD203B41FA5}">
                      <a16:colId xmlns:a16="http://schemas.microsoft.com/office/drawing/2014/main" xmlns="" val="2572864645"/>
                    </a:ext>
                  </a:extLst>
                </a:gridCol>
                <a:gridCol w="1943947">
                  <a:extLst>
                    <a:ext uri="{9D8B030D-6E8A-4147-A177-3AD203B41FA5}">
                      <a16:colId xmlns:a16="http://schemas.microsoft.com/office/drawing/2014/main" xmlns="" val="1188040777"/>
                    </a:ext>
                  </a:extLst>
                </a:gridCol>
              </a:tblGrid>
              <a:tr h="489230">
                <a:tc>
                  <a:txBody>
                    <a:bodyPr/>
                    <a:lstStyle/>
                    <a:p>
                      <a:pPr algn="ctr"/>
                      <a:r>
                        <a:rPr lang="en-US" sz="1700" dirty="0"/>
                        <a:t>Packet Filter</a:t>
                      </a:r>
                      <a:endParaRPr lang="en-IN" sz="1700" dirty="0"/>
                    </a:p>
                  </a:txBody>
                  <a:tcPr/>
                </a:tc>
                <a:tc>
                  <a:txBody>
                    <a:bodyPr/>
                    <a:lstStyle/>
                    <a:p>
                      <a:pPr algn="ctr"/>
                      <a:r>
                        <a:rPr lang="en-US" sz="1700" dirty="0"/>
                        <a:t>Stateful Inspection</a:t>
                      </a:r>
                      <a:endParaRPr lang="en-IN" sz="1700" dirty="0"/>
                    </a:p>
                  </a:txBody>
                  <a:tcPr/>
                </a:tc>
                <a:tc>
                  <a:txBody>
                    <a:bodyPr/>
                    <a:lstStyle/>
                    <a:p>
                      <a:pPr algn="ctr"/>
                      <a:r>
                        <a:rPr lang="en-IN" sz="1700" dirty="0"/>
                        <a:t>Application Proxy</a:t>
                      </a:r>
                    </a:p>
                  </a:txBody>
                  <a:tcPr/>
                </a:tc>
                <a:tc>
                  <a:txBody>
                    <a:bodyPr/>
                    <a:lstStyle/>
                    <a:p>
                      <a:pPr algn="ctr"/>
                      <a:r>
                        <a:rPr lang="en-US" sz="1700" dirty="0"/>
                        <a:t>Circuit Gateway</a:t>
                      </a:r>
                      <a:endParaRPr lang="en-IN" sz="1700" dirty="0"/>
                    </a:p>
                  </a:txBody>
                  <a:tcPr/>
                </a:tc>
                <a:tc>
                  <a:txBody>
                    <a:bodyPr/>
                    <a:lstStyle/>
                    <a:p>
                      <a:pPr algn="ctr"/>
                      <a:r>
                        <a:rPr lang="en-US" sz="1700" dirty="0"/>
                        <a:t>Guard</a:t>
                      </a:r>
                      <a:endParaRPr lang="en-IN" sz="1700" dirty="0"/>
                    </a:p>
                  </a:txBody>
                  <a:tcPr/>
                </a:tc>
                <a:tc>
                  <a:txBody>
                    <a:bodyPr/>
                    <a:lstStyle/>
                    <a:p>
                      <a:pPr algn="ctr"/>
                      <a:r>
                        <a:rPr lang="en-US" sz="1700" dirty="0"/>
                        <a:t>Personal Firewall</a:t>
                      </a:r>
                      <a:endParaRPr lang="en-IN" sz="1700" dirty="0"/>
                    </a:p>
                  </a:txBody>
                  <a:tcPr/>
                </a:tc>
                <a:extLst>
                  <a:ext uri="{0D108BD9-81ED-4DB2-BD59-A6C34878D82A}">
                    <a16:rowId xmlns:a16="http://schemas.microsoft.com/office/drawing/2014/main" xmlns="" val="2246375466"/>
                  </a:ext>
                </a:extLst>
              </a:tr>
              <a:tr h="808522">
                <a:tc>
                  <a:txBody>
                    <a:bodyPr/>
                    <a:lstStyle/>
                    <a:p>
                      <a:pPr algn="ctr"/>
                      <a:r>
                        <a:rPr lang="en-US" sz="1700" dirty="0"/>
                        <a:t>Simplest decision-making rules, packet by packet</a:t>
                      </a:r>
                      <a:endParaRPr lang="en-IN" sz="1700" dirty="0"/>
                    </a:p>
                  </a:txBody>
                  <a:tcPr/>
                </a:tc>
                <a:tc>
                  <a:txBody>
                    <a:bodyPr/>
                    <a:lstStyle/>
                    <a:p>
                      <a:pPr algn="ctr"/>
                      <a:r>
                        <a:rPr lang="en-US" sz="1700" dirty="0"/>
                        <a:t>Correlates  data across packets</a:t>
                      </a:r>
                      <a:endParaRPr lang="en-IN" sz="1700" dirty="0"/>
                    </a:p>
                  </a:txBody>
                  <a:tcPr/>
                </a:tc>
                <a:tc>
                  <a:txBody>
                    <a:bodyPr/>
                    <a:lstStyle/>
                    <a:p>
                      <a:pPr algn="ctr"/>
                      <a:r>
                        <a:rPr lang="en-IN" sz="1700" dirty="0"/>
                        <a:t>Simulates effect of an application program</a:t>
                      </a:r>
                    </a:p>
                  </a:txBody>
                  <a:tcPr/>
                </a:tc>
                <a:tc>
                  <a:txBody>
                    <a:bodyPr/>
                    <a:lstStyle/>
                    <a:p>
                      <a:pPr algn="ctr"/>
                      <a:r>
                        <a:rPr lang="en-US" sz="1700" dirty="0"/>
                        <a:t>Joins two subnetworks</a:t>
                      </a:r>
                    </a:p>
                  </a:txBody>
                  <a:tcPr/>
                </a:tc>
                <a:tc>
                  <a:txBody>
                    <a:bodyPr/>
                    <a:lstStyle/>
                    <a:p>
                      <a:pPr algn="ctr"/>
                      <a:r>
                        <a:rPr lang="en-US" sz="1700" dirty="0"/>
                        <a:t>Implements any conditions that can be programmed</a:t>
                      </a:r>
                      <a:endParaRPr lang="en-IN" sz="1700" dirty="0"/>
                    </a:p>
                  </a:txBody>
                  <a:tcPr/>
                </a:tc>
                <a:tc>
                  <a:txBody>
                    <a:bodyPr/>
                    <a:lstStyle/>
                    <a:p>
                      <a:pPr algn="ctr"/>
                      <a:r>
                        <a:rPr lang="en-US" sz="1700" dirty="0"/>
                        <a:t>Similar to packet filter, but getting more complex </a:t>
                      </a:r>
                      <a:endParaRPr lang="en-IN" sz="1700" dirty="0"/>
                    </a:p>
                  </a:txBody>
                  <a:tcPr/>
                </a:tc>
                <a:extLst>
                  <a:ext uri="{0D108BD9-81ED-4DB2-BD59-A6C34878D82A}">
                    <a16:rowId xmlns:a16="http://schemas.microsoft.com/office/drawing/2014/main" xmlns="" val="633344451"/>
                  </a:ext>
                </a:extLst>
              </a:tr>
              <a:tr h="1030985">
                <a:tc>
                  <a:txBody>
                    <a:bodyPr/>
                    <a:lstStyle/>
                    <a:p>
                      <a:pPr algn="ctr"/>
                      <a:r>
                        <a:rPr lang="en-US" sz="1700" dirty="0"/>
                        <a:t>Sees only addresses and service protocol type</a:t>
                      </a:r>
                      <a:endParaRPr lang="en-IN" sz="1700" dirty="0"/>
                    </a:p>
                  </a:txBody>
                  <a:tcPr/>
                </a:tc>
                <a:tc>
                  <a:txBody>
                    <a:bodyPr/>
                    <a:lstStyle/>
                    <a:p>
                      <a:pPr algn="ctr"/>
                      <a:r>
                        <a:rPr lang="en-US" sz="1700" dirty="0"/>
                        <a:t>Can see addresses and data</a:t>
                      </a:r>
                      <a:endParaRPr lang="en-IN" sz="1700" dirty="0"/>
                    </a:p>
                  </a:txBody>
                  <a:tcPr/>
                </a:tc>
                <a:tc>
                  <a:txBody>
                    <a:bodyPr/>
                    <a:lstStyle/>
                    <a:p>
                      <a:pPr algn="ctr"/>
                      <a:r>
                        <a:rPr lang="en-IN" sz="1700" dirty="0"/>
                        <a:t>Sees and analyses full data portion of packet</a:t>
                      </a:r>
                    </a:p>
                  </a:txBody>
                  <a:tcPr/>
                </a:tc>
                <a:tc>
                  <a:txBody>
                    <a:bodyPr/>
                    <a:lstStyle/>
                    <a:p>
                      <a:pPr algn="ctr"/>
                      <a:r>
                        <a:rPr lang="en-US" sz="1700" dirty="0"/>
                        <a:t>Sees addresses and data</a:t>
                      </a:r>
                      <a:endParaRPr lang="en-IN" sz="1700" dirty="0"/>
                    </a:p>
                  </a:txBody>
                  <a:tcPr/>
                </a:tc>
                <a:tc>
                  <a:txBody>
                    <a:bodyPr/>
                    <a:lstStyle/>
                    <a:p>
                      <a:pPr algn="ctr"/>
                      <a:r>
                        <a:rPr lang="en-US" sz="1700" dirty="0"/>
                        <a:t>Sees and analyzes full content of data</a:t>
                      </a:r>
                      <a:endParaRPr lang="en-IN" sz="1700" dirty="0"/>
                    </a:p>
                  </a:txBody>
                  <a:tcPr/>
                </a:tc>
                <a:tc>
                  <a:txBody>
                    <a:bodyPr/>
                    <a:lstStyle/>
                    <a:p>
                      <a:pPr algn="ctr"/>
                      <a:r>
                        <a:rPr lang="en-US" sz="1700" dirty="0"/>
                        <a:t>Can see full data portion</a:t>
                      </a:r>
                      <a:endParaRPr lang="en-IN" sz="1700" dirty="0"/>
                    </a:p>
                  </a:txBody>
                  <a:tcPr/>
                </a:tc>
                <a:extLst>
                  <a:ext uri="{0D108BD9-81ED-4DB2-BD59-A6C34878D82A}">
                    <a16:rowId xmlns:a16="http://schemas.microsoft.com/office/drawing/2014/main" xmlns="" val="3910783277"/>
                  </a:ext>
                </a:extLst>
              </a:tr>
              <a:tr h="794137">
                <a:tc>
                  <a:txBody>
                    <a:bodyPr/>
                    <a:lstStyle/>
                    <a:p>
                      <a:pPr algn="ctr"/>
                      <a:r>
                        <a:rPr lang="en-US" sz="1700" dirty="0"/>
                        <a:t>Auditing limited because of speed limitations</a:t>
                      </a:r>
                      <a:endParaRPr lang="en-IN" sz="1700" dirty="0"/>
                    </a:p>
                  </a:txBody>
                  <a:tcPr/>
                </a:tc>
                <a:tc>
                  <a:txBody>
                    <a:bodyPr/>
                    <a:lstStyle/>
                    <a:p>
                      <a:pPr algn="ctr"/>
                      <a:r>
                        <a:rPr lang="en-US" sz="1700" dirty="0"/>
                        <a:t>Auditing possible</a:t>
                      </a:r>
                      <a:endParaRPr lang="en-IN" sz="1700" dirty="0"/>
                    </a:p>
                  </a:txBody>
                  <a:tcPr/>
                </a:tc>
                <a:tc>
                  <a:txBody>
                    <a:bodyPr/>
                    <a:lstStyle/>
                    <a:p>
                      <a:pPr algn="ctr"/>
                      <a:r>
                        <a:rPr lang="en-IN" sz="1700" dirty="0"/>
                        <a:t>Auditing likely</a:t>
                      </a:r>
                    </a:p>
                  </a:txBody>
                  <a:tcPr/>
                </a:tc>
                <a:tc>
                  <a:txBody>
                    <a:bodyPr/>
                    <a:lstStyle/>
                    <a:p>
                      <a:pPr algn="ctr"/>
                      <a:r>
                        <a:rPr lang="en-US" sz="1700" dirty="0"/>
                        <a:t>Auditing likely</a:t>
                      </a:r>
                      <a:endParaRPr lang="en-IN" sz="1700" dirty="0"/>
                    </a:p>
                  </a:txBody>
                  <a:tcPr/>
                </a:tc>
                <a:tc>
                  <a:txBody>
                    <a:bodyPr/>
                    <a:lstStyle/>
                    <a:p>
                      <a:pPr algn="ctr"/>
                      <a:r>
                        <a:rPr lang="en-US" sz="1700" dirty="0"/>
                        <a:t>Auditing likely</a:t>
                      </a:r>
                      <a:endParaRPr lang="en-IN" sz="1700" dirty="0"/>
                    </a:p>
                  </a:txBody>
                  <a:tcPr/>
                </a:tc>
                <a:tc>
                  <a:txBody>
                    <a:bodyPr/>
                    <a:lstStyle/>
                    <a:p>
                      <a:pPr algn="ctr"/>
                      <a:r>
                        <a:rPr lang="en-US" sz="1700" dirty="0"/>
                        <a:t>Auditing likely</a:t>
                      </a:r>
                      <a:endParaRPr lang="en-IN" sz="1700" dirty="0"/>
                    </a:p>
                  </a:txBody>
                  <a:tcPr/>
                </a:tc>
                <a:extLst>
                  <a:ext uri="{0D108BD9-81ED-4DB2-BD59-A6C34878D82A}">
                    <a16:rowId xmlns:a16="http://schemas.microsoft.com/office/drawing/2014/main" xmlns="" val="3761192258"/>
                  </a:ext>
                </a:extLst>
              </a:tr>
              <a:tr h="1504681">
                <a:tc>
                  <a:txBody>
                    <a:bodyPr/>
                    <a:lstStyle/>
                    <a:p>
                      <a:pPr algn="ctr"/>
                      <a:r>
                        <a:rPr lang="en-US" sz="1700" dirty="0"/>
                        <a:t>Screens based on connection rules</a:t>
                      </a:r>
                      <a:endParaRPr lang="en-IN" sz="1700" dirty="0"/>
                    </a:p>
                  </a:txBody>
                  <a:tcPr/>
                </a:tc>
                <a:tc>
                  <a:txBody>
                    <a:bodyPr/>
                    <a:lstStyle/>
                    <a:p>
                      <a:pPr algn="ctr"/>
                      <a:r>
                        <a:rPr lang="en-US" sz="1700" dirty="0"/>
                        <a:t>Screens based on information across multiple packets – in either headers or data</a:t>
                      </a:r>
                      <a:endParaRPr lang="en-IN" sz="1700" dirty="0"/>
                    </a:p>
                  </a:txBody>
                  <a:tcPr/>
                </a:tc>
                <a:tc>
                  <a:txBody>
                    <a:bodyPr/>
                    <a:lstStyle/>
                    <a:p>
                      <a:pPr algn="ctr"/>
                      <a:r>
                        <a:rPr lang="en-IN" sz="1700" dirty="0"/>
                        <a:t>Screens based on behavior of application</a:t>
                      </a:r>
                    </a:p>
                  </a:txBody>
                  <a:tcPr/>
                </a:tc>
                <a:tc>
                  <a:txBody>
                    <a:bodyPr/>
                    <a:lstStyle/>
                    <a:p>
                      <a:pPr algn="ctr"/>
                      <a:r>
                        <a:rPr lang="en-US" sz="1700" dirty="0"/>
                        <a:t>Screens based on address</a:t>
                      </a:r>
                      <a:endParaRPr lang="en-IN" sz="1700" dirty="0"/>
                    </a:p>
                  </a:txBody>
                  <a:tcPr/>
                </a:tc>
                <a:tc>
                  <a:txBody>
                    <a:bodyPr/>
                    <a:lstStyle/>
                    <a:p>
                      <a:pPr algn="ctr"/>
                      <a:r>
                        <a:rPr lang="en-US" sz="1700" dirty="0"/>
                        <a:t>Screens based on interpretation of content</a:t>
                      </a:r>
                      <a:endParaRPr lang="en-IN" sz="1700" dirty="0"/>
                    </a:p>
                  </a:txBody>
                  <a:tcPr/>
                </a:tc>
                <a:tc>
                  <a:txBody>
                    <a:bodyPr/>
                    <a:lstStyle/>
                    <a:p>
                      <a:pPr algn="ctr"/>
                      <a:r>
                        <a:rPr lang="en-US" sz="1700" dirty="0"/>
                        <a:t>Typically, screens based on content of each packet individually, based on address or content</a:t>
                      </a:r>
                      <a:endParaRPr lang="en-IN" sz="1700" dirty="0"/>
                    </a:p>
                  </a:txBody>
                  <a:tcPr/>
                </a:tc>
                <a:extLst>
                  <a:ext uri="{0D108BD9-81ED-4DB2-BD59-A6C34878D82A}">
                    <a16:rowId xmlns:a16="http://schemas.microsoft.com/office/drawing/2014/main" xmlns="" val="2940357691"/>
                  </a:ext>
                </a:extLst>
              </a:tr>
              <a:tr h="1747252">
                <a:tc>
                  <a:txBody>
                    <a:bodyPr/>
                    <a:lstStyle/>
                    <a:p>
                      <a:pPr algn="ctr"/>
                      <a:r>
                        <a:rPr lang="en-IN" sz="1700" dirty="0"/>
                        <a:t>Complex addressing rules can make configuration tricky</a:t>
                      </a:r>
                    </a:p>
                  </a:txBody>
                  <a:tcPr/>
                </a:tc>
                <a:tc>
                  <a:txBody>
                    <a:bodyPr/>
                    <a:lstStyle/>
                    <a:p>
                      <a:pPr algn="ctr"/>
                      <a:r>
                        <a:rPr lang="en-US" sz="1700" dirty="0"/>
                        <a:t>Usually preconfigured to detect certain attack signatures</a:t>
                      </a:r>
                      <a:endParaRPr lang="en-IN" sz="1700" dirty="0"/>
                    </a:p>
                  </a:txBody>
                  <a:tcPr/>
                </a:tc>
                <a:tc>
                  <a:txBody>
                    <a:bodyPr/>
                    <a:lstStyle/>
                    <a:p>
                      <a:pPr algn="ctr"/>
                      <a:r>
                        <a:rPr lang="en-IN" sz="1700" dirty="0"/>
                        <a:t>Simple proxies can substitute for complex decision rules, but proxies must be aware of application’s behavior</a:t>
                      </a:r>
                    </a:p>
                  </a:txBody>
                  <a:tcPr/>
                </a:tc>
                <a:tc>
                  <a:txBody>
                    <a:bodyPr/>
                    <a:lstStyle/>
                    <a:p>
                      <a:pPr algn="ctr"/>
                      <a:r>
                        <a:rPr lang="en-US" sz="1700" dirty="0"/>
                        <a:t>Relatively simple addressing rules, make configuration straightforward</a:t>
                      </a:r>
                      <a:endParaRPr lang="en-IN" sz="1700" dirty="0"/>
                    </a:p>
                  </a:txBody>
                  <a:tcPr/>
                </a:tc>
                <a:tc>
                  <a:txBody>
                    <a:bodyPr/>
                    <a:lstStyle/>
                    <a:p>
                      <a:pPr algn="ctr"/>
                      <a:r>
                        <a:rPr lang="en-US" sz="1700" dirty="0"/>
                        <a:t>Complex guard functionality; can be difficult to define and program accurately</a:t>
                      </a:r>
                      <a:endParaRPr lang="en-IN" sz="1700" dirty="0"/>
                    </a:p>
                  </a:txBody>
                  <a:tcPr/>
                </a:tc>
                <a:tc>
                  <a:txBody>
                    <a:bodyPr/>
                    <a:lstStyle/>
                    <a:p>
                      <a:pPr algn="ctr"/>
                      <a:r>
                        <a:rPr lang="en-US" sz="1700" dirty="0"/>
                        <a:t>Usually starts in mode to deny all inbound traffic; adds addresses and functions to trust as they arise</a:t>
                      </a:r>
                      <a:endParaRPr lang="en-IN" sz="1700" dirty="0"/>
                    </a:p>
                  </a:txBody>
                  <a:tcPr/>
                </a:tc>
                <a:extLst>
                  <a:ext uri="{0D108BD9-81ED-4DB2-BD59-A6C34878D82A}">
                    <a16:rowId xmlns:a16="http://schemas.microsoft.com/office/drawing/2014/main" xmlns="" val="1072557762"/>
                  </a:ext>
                </a:extLst>
              </a:tr>
            </a:tbl>
          </a:graphicData>
        </a:graphic>
      </p:graphicFrame>
      <p:sp>
        <p:nvSpPr>
          <p:cNvPr id="3" name="Date Placeholder 2">
            <a:extLst>
              <a:ext uri="{FF2B5EF4-FFF2-40B4-BE49-F238E27FC236}">
                <a16:creationId xmlns:a16="http://schemas.microsoft.com/office/drawing/2014/main" xmlns="" id="{A40E3C7E-B023-7FCF-7A63-ED94F58D1307}"/>
              </a:ext>
            </a:extLst>
          </p:cNvPr>
          <p:cNvSpPr>
            <a:spLocks noGrp="1"/>
          </p:cNvSpPr>
          <p:nvPr>
            <p:ph type="dt" sz="half" idx="10"/>
          </p:nvPr>
        </p:nvSpPr>
        <p:spPr/>
        <p:txBody>
          <a:bodyPr/>
          <a:lstStyle/>
          <a:p>
            <a:fld id="{F38A2A20-B906-49F7-955A-24266488BB6C}" type="datetime1">
              <a:rPr lang="en-IN" smtClean="0"/>
              <a:t>26-04-2025</a:t>
            </a:fld>
            <a:endParaRPr lang="en-IN" dirty="0"/>
          </a:p>
        </p:txBody>
      </p:sp>
      <p:sp>
        <p:nvSpPr>
          <p:cNvPr id="4" name="Slide Number Placeholder 3">
            <a:extLst>
              <a:ext uri="{FF2B5EF4-FFF2-40B4-BE49-F238E27FC236}">
                <a16:creationId xmlns:a16="http://schemas.microsoft.com/office/drawing/2014/main" xmlns="" id="{773227C2-FD52-C724-CD44-5661F2BE111D}"/>
              </a:ext>
            </a:extLst>
          </p:cNvPr>
          <p:cNvSpPr>
            <a:spLocks noGrp="1"/>
          </p:cNvSpPr>
          <p:nvPr>
            <p:ph type="sldNum" sz="quarter" idx="12"/>
          </p:nvPr>
        </p:nvSpPr>
        <p:spPr>
          <a:xfrm>
            <a:off x="9448800" y="6545262"/>
            <a:ext cx="2743200" cy="365125"/>
          </a:xfrm>
        </p:spPr>
        <p:txBody>
          <a:bodyPr/>
          <a:lstStyle/>
          <a:p>
            <a:fld id="{F3A9E9E4-B33D-4B71-BC7B-0B7320F1BC06}" type="slidenum">
              <a:rPr lang="en-IN" smtClean="0"/>
              <a:t>30</a:t>
            </a:fld>
            <a:endParaRPr lang="en-IN" dirty="0"/>
          </a:p>
        </p:txBody>
      </p:sp>
    </p:spTree>
    <p:extLst>
      <p:ext uri="{BB962C8B-B14F-4D97-AF65-F5344CB8AC3E}">
        <p14:creationId xmlns:p14="http://schemas.microsoft.com/office/powerpoint/2010/main" val="364389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eaLnBrk="1" hangingPunct="1"/>
            <a:r>
              <a:rPr lang="en-IN" altLang="en-US" b="1" smtClean="0">
                <a:latin typeface="Times New Roman" pitchFamily="18" charset="0"/>
                <a:cs typeface="Times New Roman" pitchFamily="18" charset="0"/>
              </a:rPr>
              <a:t>Configuring a Simple Firewall</a:t>
            </a:r>
            <a:endParaRPr lang="en-US" altLang="en-US" smtClean="0"/>
          </a:p>
        </p:txBody>
      </p:sp>
      <p:sp>
        <p:nvSpPr>
          <p:cNvPr id="45059" name="Content Placeholder 2"/>
          <p:cNvSpPr>
            <a:spLocks noGrp="1"/>
          </p:cNvSpPr>
          <p:nvPr>
            <p:ph idx="1"/>
          </p:nvPr>
        </p:nvSpPr>
        <p:spPr/>
        <p:txBody>
          <a:bodyPr/>
          <a:lstStyle/>
          <a:p>
            <a:pPr algn="just" eaLnBrk="1" hangingPunct="1">
              <a:buFont typeface="Wingdings" pitchFamily="2" charset="2"/>
              <a:buChar char="Ø"/>
            </a:pPr>
            <a:r>
              <a:rPr lang="en-US" altLang="en-US" smtClean="0">
                <a:latin typeface="Times New Roman" pitchFamily="18" charset="0"/>
                <a:cs typeface="Times New Roman" pitchFamily="18" charset="0"/>
              </a:rPr>
              <a:t>Basic traffic filtering is limited to configured access list implementations that examine packets at the network layer or, at most, the transport layer, permitting or denying the passage of each packet through the firewall. </a:t>
            </a:r>
          </a:p>
          <a:p>
            <a:pPr algn="just" eaLnBrk="1" hangingPunct="1">
              <a:buFont typeface="Wingdings" pitchFamily="2" charset="2"/>
              <a:buChar char="Ø"/>
            </a:pPr>
            <a:r>
              <a:rPr lang="en-US" altLang="en-US" smtClean="0">
                <a:latin typeface="Times New Roman" pitchFamily="18" charset="0"/>
                <a:cs typeface="Times New Roman" pitchFamily="18" charset="0"/>
              </a:rPr>
              <a:t>However, the use of inspection rules in CBAC allows the creation and use of dynamic temporary access lists. </a:t>
            </a:r>
          </a:p>
          <a:p>
            <a:pPr algn="just" eaLnBrk="1" hangingPunct="1"/>
            <a:endParaRPr lang="en-US" altLang="en-US" smtClean="0"/>
          </a:p>
        </p:txBody>
      </p:sp>
    </p:spTree>
    <p:extLst>
      <p:ext uri="{BB962C8B-B14F-4D97-AF65-F5344CB8AC3E}">
        <p14:creationId xmlns:p14="http://schemas.microsoft.com/office/powerpoint/2010/main" val="28069269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eaLnBrk="1" hangingPunct="1"/>
            <a:r>
              <a:rPr lang="en-IN" altLang="en-US" b="1" smtClean="0">
                <a:latin typeface="Times New Roman" pitchFamily="18" charset="0"/>
                <a:cs typeface="Times New Roman" pitchFamily="18" charset="0"/>
              </a:rPr>
              <a:t>Configuring a Simple Firewall</a:t>
            </a:r>
            <a:endParaRPr lang="en-US" altLang="en-US" smtClean="0"/>
          </a:p>
        </p:txBody>
      </p:sp>
      <p:sp>
        <p:nvSpPr>
          <p:cNvPr id="3" name="Content Placeholder 2"/>
          <p:cNvSpPr>
            <a:spLocks noGrp="1"/>
          </p:cNvSpPr>
          <p:nvPr>
            <p:ph idx="1"/>
          </p:nvPr>
        </p:nvSpPr>
        <p:spPr/>
        <p:txBody>
          <a:bodyPr rtlCol="0">
            <a:normAutofit/>
          </a:bodyPr>
          <a:lstStyle/>
          <a:p>
            <a:pPr algn="just" eaLnBrk="1" fontAlgn="auto" hangingPunct="1">
              <a:spcAft>
                <a:spcPts val="0"/>
              </a:spcAft>
              <a:buFont typeface="Wingdings" panose="05000000000000000000" pitchFamily="2" charset="2"/>
              <a:buChar char="Ø"/>
              <a:defRPr/>
            </a:pPr>
            <a:r>
              <a:rPr lang="en-US" dirty="0">
                <a:latin typeface="Times New Roman" panose="02020603050405020304" pitchFamily="18" charset="0"/>
                <a:cs typeface="Times New Roman" panose="02020603050405020304" pitchFamily="18" charset="0"/>
              </a:rPr>
              <a:t>These dynamic lists allow temporary openings in the configured access lists at firewall interfaces. </a:t>
            </a:r>
          </a:p>
          <a:p>
            <a:pPr algn="just" eaLnBrk="1" fontAlgn="auto" hangingPunct="1">
              <a:spcAft>
                <a:spcPts val="0"/>
              </a:spcAft>
              <a:buFont typeface="Wingdings" panose="05000000000000000000" pitchFamily="2" charset="2"/>
              <a:buChar char="Ø"/>
              <a:defRPr/>
            </a:pPr>
            <a:r>
              <a:rPr lang="en-US" dirty="0">
                <a:latin typeface="Times New Roman" panose="02020603050405020304" pitchFamily="18" charset="0"/>
                <a:cs typeface="Times New Roman" panose="02020603050405020304" pitchFamily="18" charset="0"/>
              </a:rPr>
              <a:t>These openings are created when traffic for a specified user session exits the internal network through the firewall. </a:t>
            </a:r>
          </a:p>
          <a:p>
            <a:pPr algn="just" eaLnBrk="1" fontAlgn="auto" hangingPunct="1">
              <a:spcAft>
                <a:spcPts val="0"/>
              </a:spcAft>
              <a:buFont typeface="Wingdings" panose="05000000000000000000" pitchFamily="2" charset="2"/>
              <a:buChar char="Ø"/>
              <a:defRPr/>
            </a:pPr>
            <a:r>
              <a:rPr lang="en-US" dirty="0">
                <a:latin typeface="Times New Roman" panose="02020603050405020304" pitchFamily="18" charset="0"/>
                <a:cs typeface="Times New Roman" panose="02020603050405020304" pitchFamily="18" charset="0"/>
              </a:rPr>
              <a:t>The openings allow returning traffic for the specified session (that would normally be blocked) back through the firewall.</a:t>
            </a:r>
          </a:p>
          <a:p>
            <a:pPr algn="just" eaLnBrk="1" fontAlgn="auto" hangingPunct="1">
              <a:spcAft>
                <a:spcPts val="0"/>
              </a:spcAft>
              <a:buFont typeface="Arial" pitchFamily="34" charset="0"/>
              <a:buChar char="•"/>
              <a:defRPr/>
            </a:pPr>
            <a:endParaRPr lang="en-US" dirty="0"/>
          </a:p>
        </p:txBody>
      </p:sp>
    </p:spTree>
    <p:extLst>
      <p:ext uri="{BB962C8B-B14F-4D97-AF65-F5344CB8AC3E}">
        <p14:creationId xmlns:p14="http://schemas.microsoft.com/office/powerpoint/2010/main" val="25487865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eaLnBrk="1" hangingPunct="1"/>
            <a:r>
              <a:rPr lang="en-IN" altLang="en-US" b="1" smtClean="0">
                <a:latin typeface="Times New Roman" pitchFamily="18" charset="0"/>
                <a:cs typeface="Times New Roman" pitchFamily="18" charset="0"/>
              </a:rPr>
              <a:t>Configuring a Simple Firewall</a:t>
            </a:r>
            <a:endParaRPr lang="en-US" altLang="en-US" smtClean="0"/>
          </a:p>
        </p:txBody>
      </p:sp>
      <p:sp>
        <p:nvSpPr>
          <p:cNvPr id="47107" name="Content Placeholder 2"/>
          <p:cNvSpPr>
            <a:spLocks noGrp="1"/>
          </p:cNvSpPr>
          <p:nvPr>
            <p:ph idx="1"/>
          </p:nvPr>
        </p:nvSpPr>
        <p:spPr/>
        <p:txBody>
          <a:bodyPr/>
          <a:lstStyle/>
          <a:p>
            <a:pPr algn="just" eaLnBrk="1" hangingPunct="1"/>
            <a:r>
              <a:rPr lang="en-US" altLang="en-US" smtClean="0">
                <a:latin typeface="Times New Roman" pitchFamily="18" charset="0"/>
                <a:cs typeface="Times New Roman" pitchFamily="18" charset="0"/>
              </a:rPr>
              <a:t>The following Figure shows a network deployment using PPPoE or PPPoA with NAT and a firewall.</a:t>
            </a:r>
          </a:p>
          <a:p>
            <a:pPr eaLnBrk="1" hangingPunct="1"/>
            <a:endParaRPr lang="en-US" altLang="en-US" smtClean="0"/>
          </a:p>
        </p:txBody>
      </p:sp>
      <p:pic>
        <p:nvPicPr>
          <p:cNvPr id="4710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25600" y="3352801"/>
            <a:ext cx="9296400"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157290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eaLnBrk="1" hangingPunct="1"/>
            <a:r>
              <a:rPr lang="en-IN" altLang="en-US" b="1" smtClean="0">
                <a:latin typeface="Times New Roman" pitchFamily="18" charset="0"/>
                <a:cs typeface="Times New Roman" pitchFamily="18" charset="0"/>
              </a:rPr>
              <a:t>Configuring a Simple Firewall</a:t>
            </a:r>
            <a:endParaRPr lang="en-US" altLang="en-US" smtClean="0"/>
          </a:p>
        </p:txBody>
      </p:sp>
      <p:sp>
        <p:nvSpPr>
          <p:cNvPr id="3" name="Content Placeholder 2"/>
          <p:cNvSpPr>
            <a:spLocks noGrp="1"/>
          </p:cNvSpPr>
          <p:nvPr>
            <p:ph idx="1"/>
          </p:nvPr>
        </p:nvSpPr>
        <p:spPr>
          <a:xfrm>
            <a:off x="609600" y="1600200"/>
            <a:ext cx="10972800" cy="5257800"/>
          </a:xfrm>
        </p:spPr>
        <p:txBody>
          <a:bodyPr rtlCol="0">
            <a:normAutofit/>
          </a:bodyPr>
          <a:lstStyle/>
          <a:p>
            <a:pPr marL="457200" indent="-457200" algn="just" eaLnBrk="1" fontAlgn="auto" hangingPunct="1">
              <a:spcAft>
                <a:spcPts val="0"/>
              </a:spcAft>
              <a:buFont typeface="+mj-lt"/>
              <a:buAutoNum type="arabicPeriod"/>
              <a:defRPr/>
            </a:pPr>
            <a:r>
              <a:rPr lang="en-US" dirty="0">
                <a:latin typeface="Times New Roman" panose="02020603050405020304" pitchFamily="18" charset="0"/>
                <a:cs typeface="Times New Roman" panose="02020603050405020304" pitchFamily="18" charset="0"/>
              </a:rPr>
              <a:t>Multiple networked devices—Desktops, laptop PCs, switches</a:t>
            </a:r>
          </a:p>
          <a:p>
            <a:pPr marL="457200" indent="-457200" algn="just" eaLnBrk="1" fontAlgn="auto" hangingPunct="1">
              <a:spcAft>
                <a:spcPts val="0"/>
              </a:spcAft>
              <a:buFont typeface="+mj-lt"/>
              <a:buAutoNum type="arabicPeriod"/>
              <a:defRPr/>
            </a:pPr>
            <a:r>
              <a:rPr lang="en-US" dirty="0">
                <a:latin typeface="Times New Roman" panose="02020603050405020304" pitchFamily="18" charset="0"/>
                <a:cs typeface="Times New Roman" panose="02020603050405020304" pitchFamily="18" charset="0"/>
              </a:rPr>
              <a:t>Fast Ethernet LAN interface (the inside interface for NAT)</a:t>
            </a:r>
          </a:p>
          <a:p>
            <a:pPr marL="457200" indent="-457200" algn="just" eaLnBrk="1" fontAlgn="auto" hangingPunct="1">
              <a:spcAft>
                <a:spcPts val="0"/>
              </a:spcAft>
              <a:buFont typeface="+mj-lt"/>
              <a:buAutoNum type="arabicPeriod"/>
              <a:defRPr/>
            </a:pPr>
            <a:r>
              <a:rPr lang="en-US" dirty="0" err="1">
                <a:latin typeface="Times New Roman" panose="02020603050405020304" pitchFamily="18" charset="0"/>
                <a:cs typeface="Times New Roman" panose="02020603050405020304" pitchFamily="18" charset="0"/>
              </a:rPr>
              <a:t>PPPoE</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PPPoA</a:t>
            </a:r>
            <a:r>
              <a:rPr lang="en-US" dirty="0">
                <a:latin typeface="Times New Roman" panose="02020603050405020304" pitchFamily="18" charset="0"/>
                <a:cs typeface="Times New Roman" panose="02020603050405020304" pitchFamily="18" charset="0"/>
              </a:rPr>
              <a:t> client and firewall implementation—Cisco 1811/1812 or Cisco 1801/1802/1803 series integrated services router, respectively</a:t>
            </a:r>
          </a:p>
          <a:p>
            <a:pPr marL="457200" indent="-457200" algn="just" eaLnBrk="1" fontAlgn="auto" hangingPunct="1">
              <a:spcAft>
                <a:spcPts val="0"/>
              </a:spcAft>
              <a:buFont typeface="+mj-lt"/>
              <a:buAutoNum type="arabicPeriod"/>
              <a:defRPr/>
            </a:pPr>
            <a:r>
              <a:rPr lang="en-US" dirty="0">
                <a:latin typeface="Times New Roman" panose="02020603050405020304" pitchFamily="18" charset="0"/>
                <a:cs typeface="Times New Roman" panose="02020603050405020304" pitchFamily="18" charset="0"/>
              </a:rPr>
              <a:t>Point at which NAT occurs</a:t>
            </a:r>
          </a:p>
          <a:p>
            <a:pPr marL="457200" indent="-457200" algn="just" eaLnBrk="1" fontAlgn="auto" hangingPunct="1">
              <a:spcAft>
                <a:spcPts val="0"/>
              </a:spcAft>
              <a:buFont typeface="+mj-lt"/>
              <a:buAutoNum type="arabicPeriod"/>
              <a:defRPr/>
            </a:pPr>
            <a:r>
              <a:rPr lang="en-US" dirty="0">
                <a:latin typeface="Times New Roman" panose="02020603050405020304" pitchFamily="18" charset="0"/>
                <a:cs typeface="Times New Roman" panose="02020603050405020304" pitchFamily="18" charset="0"/>
              </a:rPr>
              <a:t>Protected network</a:t>
            </a:r>
          </a:p>
          <a:p>
            <a:pPr marL="457200" indent="-457200" algn="just" eaLnBrk="1" fontAlgn="auto" hangingPunct="1">
              <a:spcAft>
                <a:spcPts val="0"/>
              </a:spcAft>
              <a:buFont typeface="+mj-lt"/>
              <a:buAutoNum type="arabicPeriod"/>
              <a:defRPr/>
            </a:pPr>
            <a:r>
              <a:rPr lang="en-US" dirty="0">
                <a:latin typeface="Times New Roman" panose="02020603050405020304" pitchFamily="18" charset="0"/>
                <a:cs typeface="Times New Roman" panose="02020603050405020304" pitchFamily="18" charset="0"/>
              </a:rPr>
              <a:t>Unprotected network</a:t>
            </a:r>
          </a:p>
          <a:p>
            <a:pPr marL="457200" indent="-457200" algn="just" eaLnBrk="1" fontAlgn="auto" hangingPunct="1">
              <a:spcAft>
                <a:spcPts val="0"/>
              </a:spcAft>
              <a:buFont typeface="+mj-lt"/>
              <a:buAutoNum type="arabicPeriod"/>
              <a:defRPr/>
            </a:pPr>
            <a:r>
              <a:rPr lang="en-US" dirty="0">
                <a:latin typeface="Times New Roman" panose="02020603050405020304" pitchFamily="18" charset="0"/>
                <a:cs typeface="Times New Roman" panose="02020603050405020304" pitchFamily="18" charset="0"/>
              </a:rPr>
              <a:t>Fast Ethernet or ATM WAN interface (the outside interface for NAT)</a:t>
            </a:r>
          </a:p>
        </p:txBody>
      </p:sp>
    </p:spTree>
    <p:extLst>
      <p:ext uri="{BB962C8B-B14F-4D97-AF65-F5344CB8AC3E}">
        <p14:creationId xmlns:p14="http://schemas.microsoft.com/office/powerpoint/2010/main" val="25861762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IN" altLang="en-US" smtClean="0"/>
              <a:t>Configuration Tasks</a:t>
            </a:r>
          </a:p>
        </p:txBody>
      </p:sp>
      <p:sp>
        <p:nvSpPr>
          <p:cNvPr id="49155" name="Content Placeholder 2"/>
          <p:cNvSpPr>
            <a:spLocks noGrp="1"/>
          </p:cNvSpPr>
          <p:nvPr>
            <p:ph idx="1"/>
          </p:nvPr>
        </p:nvSpPr>
        <p:spPr/>
        <p:txBody>
          <a:bodyPr/>
          <a:lstStyle/>
          <a:p>
            <a:r>
              <a:rPr lang="en-US" altLang="en-US" smtClean="0"/>
              <a:t>Configure Access Lists</a:t>
            </a:r>
          </a:p>
          <a:p>
            <a:r>
              <a:rPr lang="en-US" altLang="en-US" smtClean="0"/>
              <a:t>Configure Inspection Rules </a:t>
            </a:r>
          </a:p>
          <a:p>
            <a:r>
              <a:rPr lang="en-US" altLang="en-US" smtClean="0"/>
              <a:t>Apply Access Lists and Inspection Rules to Interfaces </a:t>
            </a:r>
            <a:endParaRPr lang="en-IN" altLang="en-US" smtClean="0"/>
          </a:p>
        </p:txBody>
      </p:sp>
    </p:spTree>
    <p:extLst>
      <p:ext uri="{BB962C8B-B14F-4D97-AF65-F5344CB8AC3E}">
        <p14:creationId xmlns:p14="http://schemas.microsoft.com/office/powerpoint/2010/main" val="49159065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912285" y="-300038"/>
            <a:ext cx="10365316" cy="1597026"/>
          </a:xfrm>
        </p:spPr>
        <p:txBody>
          <a:bodyPr/>
          <a:lstStyle/>
          <a:p>
            <a:pPr eaLnBrk="1" hangingPunct="1"/>
            <a:r>
              <a:rPr lang="en-IN" altLang="en-US" sz="2800" b="1" smtClean="0">
                <a:latin typeface="Times New Roman" pitchFamily="18" charset="0"/>
                <a:cs typeface="Times New Roman" pitchFamily="18" charset="0"/>
              </a:rPr>
              <a:t>Configure Access Lists</a:t>
            </a:r>
            <a:endParaRPr lang="en-GB" altLang="en-US" sz="2800" smtClean="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912285" y="747713"/>
            <a:ext cx="10365316" cy="5021262"/>
          </a:xfrm>
        </p:spPr>
        <p:txBody>
          <a:bodyPr rtlCol="0">
            <a:noAutofit/>
          </a:bodyPr>
          <a:lstStyle/>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Perform these steps to create access lists for use by the firewall, beginning in global configuration mode:</a:t>
            </a:r>
          </a:p>
          <a:p>
            <a:pPr marL="0" indent="0" eaLnBrk="1" fontAlgn="auto" hangingPunct="1">
              <a:spcAft>
                <a:spcPts val="0"/>
              </a:spcAft>
              <a:buFont typeface="Arial" pitchFamily="34" charset="0"/>
              <a:buNone/>
              <a:defRPr/>
            </a:pPr>
            <a:endParaRPr lang="en-US" sz="1800" b="1"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r>
              <a:rPr lang="en-US" sz="1800" b="1" dirty="0">
                <a:latin typeface="Times New Roman" panose="02020603050405020304" pitchFamily="18" charset="0"/>
                <a:cs typeface="Times New Roman" panose="02020603050405020304" pitchFamily="18" charset="0"/>
              </a:rPr>
              <a:t>Step 1</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Command</a:t>
            </a:r>
          </a:p>
          <a:p>
            <a:pPr marL="0" indent="981075"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access-list </a:t>
            </a:r>
            <a:r>
              <a:rPr lang="en-US" sz="1800" dirty="0">
                <a:latin typeface="Times New Roman" panose="02020603050405020304" pitchFamily="18" charset="0"/>
                <a:cs typeface="Times New Roman" panose="02020603050405020304" pitchFamily="18" charset="0"/>
              </a:rPr>
              <a:t>access-list-number </a:t>
            </a:r>
            <a:r>
              <a:rPr lang="en-US" sz="1800" b="1" dirty="0">
                <a:latin typeface="Times New Roman" panose="02020603050405020304" pitchFamily="18" charset="0"/>
                <a:cs typeface="Times New Roman" panose="02020603050405020304" pitchFamily="18" charset="0"/>
              </a:rPr>
              <a:t>{deny | permit} </a:t>
            </a:r>
            <a:r>
              <a:rPr lang="en-US" sz="1800" dirty="0">
                <a:latin typeface="Times New Roman" panose="02020603050405020304" pitchFamily="18" charset="0"/>
                <a:cs typeface="Times New Roman" panose="02020603050405020304" pitchFamily="18" charset="0"/>
              </a:rPr>
              <a:t>protocol</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source source-wildcard [ </a:t>
            </a:r>
            <a:r>
              <a:rPr lang="en-US" sz="1800" b="1" dirty="0">
                <a:latin typeface="Times New Roman" panose="02020603050405020304" pitchFamily="18" charset="0"/>
                <a:cs typeface="Times New Roman" panose="02020603050405020304" pitchFamily="18" charset="0"/>
              </a:rPr>
              <a:t>operator</a:t>
            </a:r>
            <a:r>
              <a:rPr lang="en-US" sz="1800" dirty="0">
                <a:latin typeface="Times New Roman" panose="02020603050405020304" pitchFamily="18" charset="0"/>
                <a:cs typeface="Times New Roman" panose="02020603050405020304" pitchFamily="18" charset="0"/>
              </a:rPr>
              <a:t> [port]] destination</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Example</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 access-list 103 permit host 200.1.1.1 </a:t>
            </a:r>
            <a:r>
              <a:rPr lang="en-US" sz="1800" dirty="0" err="1">
                <a:latin typeface="Times New Roman" panose="02020603050405020304" pitchFamily="18" charset="0"/>
                <a:cs typeface="Times New Roman" panose="02020603050405020304" pitchFamily="18" charset="0"/>
              </a:rPr>
              <a:t>eq</a:t>
            </a:r>
            <a:endParaRPr lang="en-US" sz="1800" dirty="0">
              <a:latin typeface="Times New Roman" panose="02020603050405020304" pitchFamily="18" charset="0"/>
              <a:cs typeface="Times New Roman" panose="02020603050405020304" pitchFamily="18" charset="0"/>
            </a:endParaRPr>
          </a:p>
          <a:p>
            <a:pPr marL="0" indent="981075" eaLnBrk="1" fontAlgn="auto" hangingPunct="1">
              <a:spcAft>
                <a:spcPts val="0"/>
              </a:spcAft>
              <a:buFont typeface="Arial" pitchFamily="34" charset="0"/>
              <a:buNone/>
              <a:defRPr/>
            </a:pPr>
            <a:r>
              <a:rPr lang="en-US" sz="1800" dirty="0" err="1">
                <a:latin typeface="Times New Roman" panose="02020603050405020304" pitchFamily="18" charset="0"/>
                <a:cs typeface="Times New Roman" panose="02020603050405020304" pitchFamily="18" charset="0"/>
              </a:rPr>
              <a:t>isakmp</a:t>
            </a:r>
            <a:r>
              <a:rPr lang="en-US" sz="1800" dirty="0">
                <a:latin typeface="Times New Roman" panose="02020603050405020304" pitchFamily="18" charset="0"/>
                <a:cs typeface="Times New Roman" panose="02020603050405020304" pitchFamily="18" charset="0"/>
              </a:rPr>
              <a:t> any</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a:t>
            </a:r>
          </a:p>
        </p:txBody>
      </p:sp>
      <p:sp>
        <p:nvSpPr>
          <p:cNvPr id="4" name="Rectangle 3"/>
          <p:cNvSpPr/>
          <p:nvPr/>
        </p:nvSpPr>
        <p:spPr>
          <a:xfrm>
            <a:off x="9448800" y="2362200"/>
            <a:ext cx="4421717" cy="39068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en-IN" b="1" dirty="0">
                <a:latin typeface="Times New Roman" panose="02020603050405020304" pitchFamily="18" charset="0"/>
                <a:cs typeface="Times New Roman" panose="02020603050405020304" pitchFamily="18" charset="0"/>
              </a:rPr>
              <a:t>Purpose</a:t>
            </a:r>
          </a:p>
          <a:p>
            <a:pPr algn="ctr" fontAlgn="auto">
              <a:spcBef>
                <a:spcPts val="0"/>
              </a:spcBef>
              <a:spcAft>
                <a:spcPts val="0"/>
              </a:spcAft>
              <a:defRPr/>
            </a:pPr>
            <a:endParaRPr lang="en-IN" b="1" dirty="0"/>
          </a:p>
          <a:p>
            <a:pPr algn="just" fontAlgn="auto">
              <a:spcBef>
                <a:spcPts val="0"/>
              </a:spcBef>
              <a:spcAft>
                <a:spcPts val="0"/>
              </a:spcAft>
              <a:defRPr/>
            </a:pPr>
            <a:r>
              <a:rPr lang="en-US" dirty="0">
                <a:latin typeface="Times New Roman" panose="02020603050405020304" pitchFamily="18" charset="0"/>
                <a:cs typeface="Times New Roman" panose="02020603050405020304" pitchFamily="18" charset="0"/>
              </a:rPr>
              <a:t>Creates an access list which prevents Internet- initiated traffic from reaching the local (inside) network of the router, and which compares source and destination ports.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284209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912285" y="-300038"/>
            <a:ext cx="10365316" cy="1597026"/>
          </a:xfrm>
        </p:spPr>
        <p:txBody>
          <a:bodyPr/>
          <a:lstStyle/>
          <a:p>
            <a:pPr eaLnBrk="1" hangingPunct="1"/>
            <a:r>
              <a:rPr lang="en-IN" altLang="en-US" sz="2800" b="1" smtClean="0">
                <a:latin typeface="Times New Roman" pitchFamily="18" charset="0"/>
                <a:cs typeface="Times New Roman" pitchFamily="18" charset="0"/>
              </a:rPr>
              <a:t>Configure Access Lists</a:t>
            </a:r>
            <a:endParaRPr lang="en-GB" altLang="en-US" sz="2800" smtClean="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912285" y="747713"/>
            <a:ext cx="10365316" cy="5021262"/>
          </a:xfrm>
        </p:spPr>
        <p:txBody>
          <a:bodyPr rtlCol="0">
            <a:noAutofit/>
          </a:bodyPr>
          <a:lstStyle/>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endParaRPr lang="en-US" sz="1800" b="1"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r>
              <a:rPr lang="en-US" sz="1800" b="1" dirty="0">
                <a:latin typeface="Times New Roman" panose="02020603050405020304" pitchFamily="18" charset="0"/>
                <a:cs typeface="Times New Roman" panose="02020603050405020304" pitchFamily="18" charset="0"/>
              </a:rPr>
              <a:t>Step 2</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Command</a:t>
            </a:r>
          </a:p>
          <a:p>
            <a:pPr marL="0" indent="981075"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access-list</a:t>
            </a:r>
            <a:r>
              <a:rPr lang="en-US" sz="1800" dirty="0">
                <a:latin typeface="Times New Roman" panose="02020603050405020304" pitchFamily="18" charset="0"/>
                <a:cs typeface="Times New Roman" panose="02020603050405020304" pitchFamily="18" charset="0"/>
              </a:rPr>
              <a:t> access-list-number </a:t>
            </a:r>
            <a:r>
              <a:rPr lang="en-US" sz="1800" b="1" dirty="0">
                <a:latin typeface="Times New Roman" panose="02020603050405020304" pitchFamily="18" charset="0"/>
                <a:cs typeface="Times New Roman" panose="02020603050405020304" pitchFamily="18" charset="0"/>
              </a:rPr>
              <a:t>{deny | permit} </a:t>
            </a:r>
            <a:r>
              <a:rPr lang="en-US" sz="1800" dirty="0">
                <a:latin typeface="Times New Roman" panose="02020603050405020304" pitchFamily="18" charset="0"/>
                <a:cs typeface="Times New Roman" panose="02020603050405020304" pitchFamily="18" charset="0"/>
              </a:rPr>
              <a:t>protocol</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source source-wildcard destination destination-wildcard</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Example</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 access-list 105 permit </a:t>
            </a:r>
            <a:r>
              <a:rPr lang="en-US" sz="1800" dirty="0" err="1">
                <a:latin typeface="Times New Roman" panose="02020603050405020304" pitchFamily="18" charset="0"/>
                <a:cs typeface="Times New Roman" panose="02020603050405020304" pitchFamily="18" charset="0"/>
              </a:rPr>
              <a:t>ip</a:t>
            </a:r>
            <a:r>
              <a:rPr lang="en-US" sz="1800" dirty="0">
                <a:latin typeface="Times New Roman" panose="02020603050405020304" pitchFamily="18" charset="0"/>
                <a:cs typeface="Times New Roman" panose="02020603050405020304" pitchFamily="18" charset="0"/>
              </a:rPr>
              <a:t> 10.1.1.0 0</a:t>
            </a:r>
            <a:r>
              <a:rPr lang="en-US" sz="1800" dirty="0" smtClean="0">
                <a:latin typeface="Times New Roman" panose="02020603050405020304" pitchFamily="18" charset="0"/>
                <a:cs typeface="Times New Roman" panose="02020603050405020304" pitchFamily="18" charset="0"/>
              </a:rPr>
              <a:t>.</a:t>
            </a:r>
          </a:p>
          <a:p>
            <a:pPr marL="0" indent="981075" eaLnBrk="1" fontAlgn="auto" hangingPunct="1">
              <a:spcAft>
                <a:spcPts val="0"/>
              </a:spcAft>
              <a:buFont typeface="Arial" pitchFamily="34" charset="0"/>
              <a:buNone/>
              <a:defRPr/>
            </a:pPr>
            <a:r>
              <a:rPr lang="en-US" sz="1800" dirty="0" smtClean="0">
                <a:latin typeface="Times New Roman" panose="02020603050405020304" pitchFamily="18" charset="0"/>
                <a:cs typeface="Times New Roman" panose="02020603050405020304" pitchFamily="18" charset="0"/>
              </a:rPr>
              <a:t>0.0.255 192.168.0.0 </a:t>
            </a:r>
            <a:r>
              <a:rPr lang="en-US" sz="1800" dirty="0">
                <a:latin typeface="Times New Roman" panose="02020603050405020304" pitchFamily="18" charset="0"/>
                <a:cs typeface="Times New Roman" panose="02020603050405020304" pitchFamily="18" charset="0"/>
              </a:rPr>
              <a:t>0.0.255.255</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a:t>
            </a:r>
          </a:p>
        </p:txBody>
      </p:sp>
      <p:sp>
        <p:nvSpPr>
          <p:cNvPr id="4" name="Rectangle 3"/>
          <p:cNvSpPr/>
          <p:nvPr/>
        </p:nvSpPr>
        <p:spPr>
          <a:xfrm>
            <a:off x="9753600" y="2057400"/>
            <a:ext cx="4421717" cy="39068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en-IN" b="1" dirty="0">
                <a:latin typeface="Times New Roman" panose="02020603050405020304" pitchFamily="18" charset="0"/>
                <a:cs typeface="Times New Roman" panose="02020603050405020304" pitchFamily="18" charset="0"/>
              </a:rPr>
              <a:t>Purpose</a:t>
            </a:r>
          </a:p>
          <a:p>
            <a:pPr algn="ctr" fontAlgn="auto">
              <a:spcBef>
                <a:spcPts val="0"/>
              </a:spcBef>
              <a:spcAft>
                <a:spcPts val="0"/>
              </a:spcAft>
              <a:defRPr/>
            </a:pPr>
            <a:endParaRPr lang="en-IN" b="1" dirty="0"/>
          </a:p>
          <a:p>
            <a:pPr algn="just" fontAlgn="auto">
              <a:spcBef>
                <a:spcPts val="0"/>
              </a:spcBef>
              <a:spcAft>
                <a:spcPts val="0"/>
              </a:spcAft>
              <a:defRPr/>
            </a:pPr>
            <a:r>
              <a:rPr lang="en-US" dirty="0">
                <a:latin typeface="Times New Roman" panose="02020603050405020304" pitchFamily="18" charset="0"/>
                <a:cs typeface="Times New Roman" panose="02020603050405020304" pitchFamily="18" charset="0"/>
              </a:rPr>
              <a:t>Creates an access list that allows network traffic to pass freely between the corporate network and the local networks through the configured VPN tunnel.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106679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912285" y="-300038"/>
            <a:ext cx="10365316" cy="1597026"/>
          </a:xfrm>
        </p:spPr>
        <p:txBody>
          <a:bodyPr/>
          <a:lstStyle/>
          <a:p>
            <a:pPr eaLnBrk="1" hangingPunct="1"/>
            <a:r>
              <a:rPr lang="en-IN" altLang="en-US" sz="2800" b="1" smtClean="0">
                <a:latin typeface="Times New Roman" pitchFamily="18" charset="0"/>
                <a:cs typeface="Times New Roman" pitchFamily="18" charset="0"/>
              </a:rPr>
              <a:t>Configure Inspection Rules</a:t>
            </a:r>
            <a:endParaRPr lang="en-GB" altLang="en-US" sz="2800" smtClean="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912285" y="747713"/>
            <a:ext cx="10365316" cy="5021262"/>
          </a:xfrm>
        </p:spPr>
        <p:txBody>
          <a:bodyPr rtlCol="0">
            <a:noAutofit/>
          </a:bodyPr>
          <a:lstStyle/>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Perform these steps to configure firewall inspection rules for all TCP and UDP traffic, as well as specific application protocols as defined by the security policy, beginning in global configuration mode:</a:t>
            </a:r>
            <a:endParaRPr lang="en-US" sz="1800" b="1"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r>
              <a:rPr lang="en-US" sz="1800" b="1" dirty="0">
                <a:latin typeface="Times New Roman" panose="02020603050405020304" pitchFamily="18" charset="0"/>
                <a:cs typeface="Times New Roman" panose="02020603050405020304" pitchFamily="18" charset="0"/>
              </a:rPr>
              <a:t>Step 1</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Command</a:t>
            </a:r>
          </a:p>
          <a:p>
            <a:pPr marL="0" indent="981075" eaLnBrk="1" fontAlgn="auto" hangingPunct="1">
              <a:spcAft>
                <a:spcPts val="0"/>
              </a:spcAft>
              <a:buFont typeface="Arial" pitchFamily="34" charset="0"/>
              <a:buNone/>
              <a:defRPr/>
            </a:pPr>
            <a:r>
              <a:rPr lang="en-US" sz="1800" b="1" dirty="0" err="1">
                <a:latin typeface="Times New Roman" panose="02020603050405020304" pitchFamily="18" charset="0"/>
                <a:cs typeface="Times New Roman" panose="02020603050405020304" pitchFamily="18" charset="0"/>
              </a:rPr>
              <a:t>ip</a:t>
            </a:r>
            <a:r>
              <a:rPr lang="en-US" sz="1800" b="1" dirty="0">
                <a:latin typeface="Times New Roman" panose="02020603050405020304" pitchFamily="18" charset="0"/>
                <a:cs typeface="Times New Roman" panose="02020603050405020304" pitchFamily="18" charset="0"/>
              </a:rPr>
              <a:t> inspect name </a:t>
            </a:r>
            <a:r>
              <a:rPr lang="en-US" sz="1800" dirty="0">
                <a:latin typeface="Times New Roman" panose="02020603050405020304" pitchFamily="18" charset="0"/>
                <a:cs typeface="Times New Roman" panose="02020603050405020304" pitchFamily="18" charset="0"/>
              </a:rPr>
              <a:t>inspection-name protocol</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Example</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ip</a:t>
            </a:r>
            <a:r>
              <a:rPr lang="en-US" sz="1800" dirty="0">
                <a:latin typeface="Times New Roman" panose="02020603050405020304" pitchFamily="18" charset="0"/>
                <a:cs typeface="Times New Roman" panose="02020603050405020304" pitchFamily="18" charset="0"/>
              </a:rPr>
              <a:t> inspect </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name firewall </a:t>
            </a:r>
            <a:r>
              <a:rPr lang="en-US" sz="1800" dirty="0" err="1">
                <a:latin typeface="Times New Roman" panose="02020603050405020304" pitchFamily="18" charset="0"/>
                <a:cs typeface="Times New Roman" panose="02020603050405020304" pitchFamily="18" charset="0"/>
              </a:rPr>
              <a:t>tcp</a:t>
            </a:r>
            <a:endParaRPr lang="en-US" sz="1800" dirty="0">
              <a:latin typeface="Times New Roman" panose="02020603050405020304" pitchFamily="18" charset="0"/>
              <a:cs typeface="Times New Roman" panose="02020603050405020304" pitchFamily="18" charset="0"/>
            </a:endParaRP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a:t>
            </a:r>
          </a:p>
        </p:txBody>
      </p:sp>
      <p:sp>
        <p:nvSpPr>
          <p:cNvPr id="4" name="Rectangle 3"/>
          <p:cNvSpPr/>
          <p:nvPr/>
        </p:nvSpPr>
        <p:spPr>
          <a:xfrm>
            <a:off x="7564967" y="2493964"/>
            <a:ext cx="4421717" cy="390683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en-IN" b="1" dirty="0">
                <a:latin typeface="Times New Roman" panose="02020603050405020304" pitchFamily="18" charset="0"/>
                <a:cs typeface="Times New Roman" panose="02020603050405020304" pitchFamily="18" charset="0"/>
              </a:rPr>
              <a:t>Purpose</a:t>
            </a:r>
          </a:p>
          <a:p>
            <a:pPr algn="ctr" fontAlgn="auto">
              <a:spcBef>
                <a:spcPts val="0"/>
              </a:spcBef>
              <a:spcAft>
                <a:spcPts val="0"/>
              </a:spcAft>
              <a:defRPr/>
            </a:pPr>
            <a:endParaRPr lang="en-IN" b="1" dirty="0"/>
          </a:p>
          <a:p>
            <a:pPr algn="just" fontAlgn="auto">
              <a:spcBef>
                <a:spcPts val="0"/>
              </a:spcBef>
              <a:spcAft>
                <a:spcPts val="0"/>
              </a:spcAft>
              <a:defRPr/>
            </a:pPr>
            <a:r>
              <a:rPr lang="en-US" dirty="0">
                <a:latin typeface="Times New Roman" panose="02020603050405020304" pitchFamily="18" charset="0"/>
                <a:cs typeface="Times New Roman" panose="02020603050405020304" pitchFamily="18" charset="0"/>
              </a:rPr>
              <a:t>Defines an inspection rule for a particular protocol.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22382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912285" y="-300038"/>
            <a:ext cx="10365316" cy="1597026"/>
          </a:xfrm>
        </p:spPr>
        <p:txBody>
          <a:bodyPr/>
          <a:lstStyle/>
          <a:p>
            <a:pPr eaLnBrk="1" hangingPunct="1"/>
            <a:r>
              <a:rPr lang="en-US" altLang="en-US" sz="2800" b="1" smtClean="0">
                <a:latin typeface="Times New Roman" pitchFamily="18" charset="0"/>
                <a:cs typeface="Times New Roman" pitchFamily="18" charset="0"/>
              </a:rPr>
              <a:t>Apply Access Lists and Inspection Rules to Interfaces</a:t>
            </a:r>
            <a:endParaRPr lang="en-GB" altLang="en-US" sz="2800" smtClean="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912285" y="747713"/>
            <a:ext cx="10365316" cy="5021262"/>
          </a:xfrm>
        </p:spPr>
        <p:txBody>
          <a:bodyPr rtlCol="0">
            <a:noAutofit/>
          </a:bodyPr>
          <a:lstStyle/>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Perform these steps to apply the ACLs and inspection rules to the network interfaces, beginning in global configuration mode:</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Step 1</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Command</a:t>
            </a:r>
          </a:p>
          <a:p>
            <a:pPr marL="0" indent="981075"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interface </a:t>
            </a:r>
            <a:r>
              <a:rPr lang="en-US" sz="1800" dirty="0">
                <a:latin typeface="Times New Roman" panose="02020603050405020304" pitchFamily="18" charset="0"/>
                <a:cs typeface="Times New Roman" panose="02020603050405020304" pitchFamily="18" charset="0"/>
              </a:rPr>
              <a:t>type number</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Example</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 interface </a:t>
            </a:r>
            <a:r>
              <a:rPr lang="en-US" sz="1800" dirty="0" err="1">
                <a:latin typeface="Times New Roman" panose="02020603050405020304" pitchFamily="18" charset="0"/>
                <a:cs typeface="Times New Roman" panose="02020603050405020304" pitchFamily="18" charset="0"/>
              </a:rPr>
              <a:t>vlan</a:t>
            </a:r>
            <a:r>
              <a:rPr lang="en-US" sz="1800" dirty="0">
                <a:latin typeface="Times New Roman" panose="02020603050405020304" pitchFamily="18" charset="0"/>
                <a:cs typeface="Times New Roman" panose="02020603050405020304" pitchFamily="18" charset="0"/>
              </a:rPr>
              <a:t> 1</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-if)#</a:t>
            </a:r>
          </a:p>
        </p:txBody>
      </p:sp>
      <p:sp>
        <p:nvSpPr>
          <p:cNvPr id="4" name="Rectangle 3"/>
          <p:cNvSpPr/>
          <p:nvPr/>
        </p:nvSpPr>
        <p:spPr>
          <a:xfrm>
            <a:off x="7414685" y="2344738"/>
            <a:ext cx="4421716" cy="305911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en-IN" b="1" dirty="0">
                <a:latin typeface="Times New Roman" panose="02020603050405020304" pitchFamily="18" charset="0"/>
                <a:cs typeface="Times New Roman" panose="02020603050405020304" pitchFamily="18" charset="0"/>
              </a:rPr>
              <a:t>Purpose</a:t>
            </a:r>
          </a:p>
          <a:p>
            <a:pPr algn="ctr" fontAlgn="auto">
              <a:spcBef>
                <a:spcPts val="0"/>
              </a:spcBef>
              <a:spcAft>
                <a:spcPts val="0"/>
              </a:spcAft>
              <a:defRPr/>
            </a:pPr>
            <a:endParaRPr lang="en-IN" b="1" dirty="0"/>
          </a:p>
          <a:p>
            <a:pPr algn="just" fontAlgn="auto">
              <a:spcBef>
                <a:spcPts val="0"/>
              </a:spcBef>
              <a:spcAft>
                <a:spcPts val="0"/>
              </a:spcAft>
              <a:defRPr/>
            </a:pPr>
            <a:r>
              <a:rPr lang="en-US" dirty="0">
                <a:latin typeface="Times New Roman" panose="02020603050405020304" pitchFamily="18" charset="0"/>
                <a:cs typeface="Times New Roman" panose="02020603050405020304" pitchFamily="18" charset="0"/>
              </a:rPr>
              <a:t>Enters interface configuration mode for the inside network interface on your router.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125379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912285" y="-300038"/>
            <a:ext cx="10365316" cy="1597026"/>
          </a:xfrm>
        </p:spPr>
        <p:txBody>
          <a:bodyPr/>
          <a:lstStyle/>
          <a:p>
            <a:pPr eaLnBrk="1" hangingPunct="1"/>
            <a:r>
              <a:rPr lang="en-US" altLang="en-US" sz="2800" b="1" smtClean="0">
                <a:latin typeface="Times New Roman" pitchFamily="18" charset="0"/>
                <a:cs typeface="Times New Roman" pitchFamily="18" charset="0"/>
              </a:rPr>
              <a:t>Apply Access Lists and Inspection Rules to Interfaces</a:t>
            </a:r>
            <a:endParaRPr lang="en-GB" altLang="en-US" sz="2800" smtClean="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912285" y="1296988"/>
            <a:ext cx="10365316" cy="5021262"/>
          </a:xfrm>
        </p:spPr>
        <p:txBody>
          <a:bodyPr rtlCol="0">
            <a:noAutofit/>
          </a:bodyPr>
          <a:lstStyle/>
          <a:p>
            <a:pPr marL="0" indent="0" eaLnBrk="1" fontAlgn="auto" hangingPunct="1">
              <a:spcAft>
                <a:spcPts val="0"/>
              </a:spcAft>
              <a:buFont typeface="Arial" pitchFamily="34" charset="0"/>
              <a:buNone/>
              <a:defRPr/>
            </a:pPr>
            <a:endParaRPr lang="en-US" sz="1800" b="1"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r>
              <a:rPr lang="en-US" sz="1800" b="1" dirty="0">
                <a:latin typeface="Times New Roman" panose="02020603050405020304" pitchFamily="18" charset="0"/>
                <a:cs typeface="Times New Roman" panose="02020603050405020304" pitchFamily="18" charset="0"/>
              </a:rPr>
              <a:t>Step 2</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Command</a:t>
            </a:r>
          </a:p>
          <a:p>
            <a:pPr marL="0" indent="981075" eaLnBrk="1" fontAlgn="auto" hangingPunct="1">
              <a:spcAft>
                <a:spcPts val="0"/>
              </a:spcAft>
              <a:buFont typeface="Arial" pitchFamily="34" charset="0"/>
              <a:buNone/>
              <a:defRPr/>
            </a:pPr>
            <a:r>
              <a:rPr lang="en-US" sz="1800" b="1" dirty="0" err="1">
                <a:latin typeface="Times New Roman" panose="02020603050405020304" pitchFamily="18" charset="0"/>
                <a:cs typeface="Times New Roman" panose="02020603050405020304" pitchFamily="18" charset="0"/>
              </a:rPr>
              <a:t>ip</a:t>
            </a:r>
            <a:r>
              <a:rPr lang="en-US" sz="1800" b="1" dirty="0">
                <a:latin typeface="Times New Roman" panose="02020603050405020304" pitchFamily="18" charset="0"/>
                <a:cs typeface="Times New Roman" panose="02020603050405020304" pitchFamily="18" charset="0"/>
              </a:rPr>
              <a:t> inspect </a:t>
            </a:r>
            <a:r>
              <a:rPr lang="en-US" sz="1800" dirty="0">
                <a:latin typeface="Times New Roman" panose="02020603050405020304" pitchFamily="18" charset="0"/>
                <a:cs typeface="Times New Roman" panose="02020603050405020304" pitchFamily="18" charset="0"/>
              </a:rPr>
              <a:t>inspection-name</a:t>
            </a:r>
            <a:r>
              <a:rPr lang="en-US" sz="1800" b="1" dirty="0">
                <a:latin typeface="Times New Roman" panose="02020603050405020304" pitchFamily="18" charset="0"/>
                <a:cs typeface="Times New Roman" panose="02020603050405020304" pitchFamily="18" charset="0"/>
              </a:rPr>
              <a:t> { in | out }</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Example</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-if)# </a:t>
            </a:r>
            <a:r>
              <a:rPr lang="en-US" sz="1800" dirty="0" err="1">
                <a:latin typeface="Times New Roman" panose="02020603050405020304" pitchFamily="18" charset="0"/>
                <a:cs typeface="Times New Roman" panose="02020603050405020304" pitchFamily="18" charset="0"/>
              </a:rPr>
              <a:t>ip</a:t>
            </a:r>
            <a:r>
              <a:rPr lang="en-US" sz="1800" dirty="0">
                <a:latin typeface="Times New Roman" panose="02020603050405020304" pitchFamily="18" charset="0"/>
                <a:cs typeface="Times New Roman" panose="02020603050405020304" pitchFamily="18" charset="0"/>
              </a:rPr>
              <a:t> inspect firewall in</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-if)#</a:t>
            </a:r>
          </a:p>
        </p:txBody>
      </p:sp>
      <p:sp>
        <p:nvSpPr>
          <p:cNvPr id="4" name="Rectangle 3"/>
          <p:cNvSpPr/>
          <p:nvPr/>
        </p:nvSpPr>
        <p:spPr>
          <a:xfrm>
            <a:off x="6855885" y="1296989"/>
            <a:ext cx="4421716" cy="390683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en-IN" b="1" dirty="0">
                <a:latin typeface="Times New Roman" panose="02020603050405020304" pitchFamily="18" charset="0"/>
                <a:cs typeface="Times New Roman" panose="02020603050405020304" pitchFamily="18" charset="0"/>
              </a:rPr>
              <a:t>Purpose</a:t>
            </a:r>
          </a:p>
          <a:p>
            <a:pPr algn="ctr" fontAlgn="auto">
              <a:spcBef>
                <a:spcPts val="0"/>
              </a:spcBef>
              <a:spcAft>
                <a:spcPts val="0"/>
              </a:spcAft>
              <a:defRPr/>
            </a:pPr>
            <a:endParaRPr lang="en-IN" b="1" dirty="0"/>
          </a:p>
          <a:p>
            <a:pPr algn="just" fontAlgn="auto">
              <a:spcBef>
                <a:spcPts val="0"/>
              </a:spcBef>
              <a:spcAft>
                <a:spcPts val="0"/>
              </a:spcAft>
              <a:defRPr/>
            </a:pPr>
            <a:r>
              <a:rPr lang="en-US" dirty="0">
                <a:latin typeface="Times New Roman" panose="02020603050405020304" pitchFamily="18" charset="0"/>
                <a:cs typeface="Times New Roman" panose="02020603050405020304" pitchFamily="18" charset="0"/>
              </a:rPr>
              <a:t>Assigns the set of firewall inspection rules to the inside interface on the router.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52644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a:xfrm>
            <a:off x="912285" y="-300038"/>
            <a:ext cx="10365316" cy="1597026"/>
          </a:xfrm>
        </p:spPr>
        <p:txBody>
          <a:bodyPr/>
          <a:lstStyle/>
          <a:p>
            <a:pPr eaLnBrk="1" hangingPunct="1"/>
            <a:r>
              <a:rPr lang="en-US" altLang="en-US" sz="2800" b="1" smtClean="0">
                <a:latin typeface="Times New Roman" pitchFamily="18" charset="0"/>
                <a:cs typeface="Times New Roman" pitchFamily="18" charset="0"/>
              </a:rPr>
              <a:t>Apply Access Lists and Inspection Rules to Interfaces</a:t>
            </a:r>
            <a:endParaRPr lang="en-GB" altLang="en-US" sz="2800" smtClean="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912285" y="747713"/>
            <a:ext cx="10365316" cy="5021262"/>
          </a:xfrm>
        </p:spPr>
        <p:txBody>
          <a:bodyPr rtlCol="0">
            <a:noAutofit/>
          </a:bodyPr>
          <a:lstStyle/>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Step 3</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Command</a:t>
            </a:r>
          </a:p>
          <a:p>
            <a:pPr marL="0" indent="981075"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Exit</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Example</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-if)# exit</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a:t>
            </a:r>
          </a:p>
        </p:txBody>
      </p:sp>
      <p:sp>
        <p:nvSpPr>
          <p:cNvPr id="4" name="Rectangle 3"/>
          <p:cNvSpPr/>
          <p:nvPr/>
        </p:nvSpPr>
        <p:spPr>
          <a:xfrm>
            <a:off x="7414685" y="2344738"/>
            <a:ext cx="4421716" cy="3059112"/>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en-IN" b="1" dirty="0">
                <a:latin typeface="Times New Roman" panose="02020603050405020304" pitchFamily="18" charset="0"/>
                <a:cs typeface="Times New Roman" panose="02020603050405020304" pitchFamily="18" charset="0"/>
              </a:rPr>
              <a:t>Purpose</a:t>
            </a:r>
          </a:p>
          <a:p>
            <a:pPr algn="ctr" fontAlgn="auto">
              <a:spcBef>
                <a:spcPts val="0"/>
              </a:spcBef>
              <a:spcAft>
                <a:spcPts val="0"/>
              </a:spcAft>
              <a:defRPr/>
            </a:pPr>
            <a:endParaRPr lang="en-IN" b="1" dirty="0"/>
          </a:p>
          <a:p>
            <a:pPr algn="just" fontAlgn="auto">
              <a:spcBef>
                <a:spcPts val="0"/>
              </a:spcBef>
              <a:spcAft>
                <a:spcPts val="0"/>
              </a:spcAft>
              <a:defRPr/>
            </a:pPr>
            <a:r>
              <a:rPr lang="en-US" dirty="0">
                <a:latin typeface="Times New Roman" panose="02020603050405020304" pitchFamily="18" charset="0"/>
                <a:cs typeface="Times New Roman" panose="02020603050405020304" pitchFamily="18" charset="0"/>
              </a:rPr>
              <a:t>Returns to global configuration mode.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058135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a:xfrm>
            <a:off x="912285" y="-300038"/>
            <a:ext cx="10365316" cy="1597026"/>
          </a:xfrm>
        </p:spPr>
        <p:txBody>
          <a:bodyPr/>
          <a:lstStyle/>
          <a:p>
            <a:pPr eaLnBrk="1" hangingPunct="1"/>
            <a:r>
              <a:rPr lang="en-US" altLang="en-US" sz="2800" b="1" smtClean="0">
                <a:latin typeface="Times New Roman" pitchFamily="18" charset="0"/>
                <a:cs typeface="Times New Roman" pitchFamily="18" charset="0"/>
              </a:rPr>
              <a:t>Apply Access Lists and Inspection Rules to Interfaces</a:t>
            </a:r>
            <a:endParaRPr lang="en-GB" altLang="en-US" sz="2800" smtClean="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912285" y="1296988"/>
            <a:ext cx="10365316" cy="5021262"/>
          </a:xfrm>
        </p:spPr>
        <p:txBody>
          <a:bodyPr rtlCol="0">
            <a:noAutofit/>
          </a:bodyPr>
          <a:lstStyle/>
          <a:p>
            <a:pPr marL="0" indent="0" eaLnBrk="1" fontAlgn="auto" hangingPunct="1">
              <a:spcAft>
                <a:spcPts val="0"/>
              </a:spcAft>
              <a:buFont typeface="Arial" pitchFamily="34" charset="0"/>
              <a:buNone/>
              <a:defRPr/>
            </a:pPr>
            <a:endParaRPr lang="en-US" sz="1800" b="1"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r>
              <a:rPr lang="en-US" sz="1800" b="1" dirty="0">
                <a:latin typeface="Times New Roman" panose="02020603050405020304" pitchFamily="18" charset="0"/>
                <a:cs typeface="Times New Roman" panose="02020603050405020304" pitchFamily="18" charset="0"/>
              </a:rPr>
              <a:t>Step 4</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Command</a:t>
            </a:r>
          </a:p>
          <a:p>
            <a:pPr marL="0" indent="981075"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interface </a:t>
            </a:r>
            <a:r>
              <a:rPr lang="en-US" sz="1800" dirty="0">
                <a:latin typeface="Times New Roman" panose="02020603050405020304" pitchFamily="18" charset="0"/>
                <a:cs typeface="Times New Roman" panose="02020603050405020304" pitchFamily="18" charset="0"/>
              </a:rPr>
              <a:t>type number</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Example</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 interface </a:t>
            </a:r>
            <a:r>
              <a:rPr lang="en-US" sz="1800" dirty="0" err="1">
                <a:latin typeface="Times New Roman" panose="02020603050405020304" pitchFamily="18" charset="0"/>
                <a:cs typeface="Times New Roman" panose="02020603050405020304" pitchFamily="18" charset="0"/>
              </a:rPr>
              <a:t>fastethernet</a:t>
            </a:r>
            <a:r>
              <a:rPr lang="en-US" sz="1800" dirty="0">
                <a:latin typeface="Times New Roman" panose="02020603050405020304" pitchFamily="18" charset="0"/>
                <a:cs typeface="Times New Roman" panose="02020603050405020304" pitchFamily="18" charset="0"/>
              </a:rPr>
              <a:t> 0</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-if)#</a:t>
            </a:r>
          </a:p>
        </p:txBody>
      </p:sp>
      <p:sp>
        <p:nvSpPr>
          <p:cNvPr id="4" name="Rectangle 3"/>
          <p:cNvSpPr/>
          <p:nvPr/>
        </p:nvSpPr>
        <p:spPr>
          <a:xfrm>
            <a:off x="7620000" y="1304925"/>
            <a:ext cx="4421717" cy="3906838"/>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en-IN" b="1" dirty="0">
                <a:latin typeface="Times New Roman" panose="02020603050405020304" pitchFamily="18" charset="0"/>
                <a:cs typeface="Times New Roman" panose="02020603050405020304" pitchFamily="18" charset="0"/>
              </a:rPr>
              <a:t>Purpose</a:t>
            </a:r>
          </a:p>
          <a:p>
            <a:pPr algn="ctr" fontAlgn="auto">
              <a:spcBef>
                <a:spcPts val="0"/>
              </a:spcBef>
              <a:spcAft>
                <a:spcPts val="0"/>
              </a:spcAft>
              <a:defRPr/>
            </a:pPr>
            <a:endParaRPr lang="en-IN" b="1" dirty="0"/>
          </a:p>
          <a:p>
            <a:pPr algn="just" fontAlgn="auto">
              <a:spcBef>
                <a:spcPts val="0"/>
              </a:spcBef>
              <a:spcAft>
                <a:spcPts val="0"/>
              </a:spcAft>
              <a:defRPr/>
            </a:pPr>
            <a:r>
              <a:rPr lang="en-US" dirty="0">
                <a:latin typeface="Times New Roman" panose="02020603050405020304" pitchFamily="18" charset="0"/>
                <a:cs typeface="Times New Roman" panose="02020603050405020304" pitchFamily="18" charset="0"/>
              </a:rPr>
              <a:t>Enters interface configuration mode for the outside network interface on your router.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509773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912285" y="-300038"/>
            <a:ext cx="10365316" cy="1597026"/>
          </a:xfrm>
        </p:spPr>
        <p:txBody>
          <a:bodyPr/>
          <a:lstStyle/>
          <a:p>
            <a:pPr eaLnBrk="1" hangingPunct="1"/>
            <a:r>
              <a:rPr lang="en-US" altLang="en-US" sz="2800" b="1" smtClean="0">
                <a:latin typeface="Times New Roman" pitchFamily="18" charset="0"/>
                <a:cs typeface="Times New Roman" pitchFamily="18" charset="0"/>
              </a:rPr>
              <a:t>Apply Access Lists and Inspection Rules to Interfaces</a:t>
            </a:r>
            <a:endParaRPr lang="en-GB" altLang="en-US" sz="2800" smtClean="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912285" y="747713"/>
            <a:ext cx="10365316" cy="5021262"/>
          </a:xfrm>
        </p:spPr>
        <p:txBody>
          <a:bodyPr rtlCol="0">
            <a:noAutofit/>
          </a:bodyPr>
          <a:lstStyle/>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Step 5</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Command</a:t>
            </a:r>
          </a:p>
          <a:p>
            <a:pPr marL="0" indent="981075" eaLnBrk="1" fontAlgn="auto" hangingPunct="1">
              <a:spcAft>
                <a:spcPts val="0"/>
              </a:spcAft>
              <a:buFont typeface="Arial" pitchFamily="34" charset="0"/>
              <a:buNone/>
              <a:defRPr/>
            </a:pPr>
            <a:r>
              <a:rPr lang="en-US" sz="1800" b="1" dirty="0" err="1">
                <a:latin typeface="Times New Roman" panose="02020603050405020304" pitchFamily="18" charset="0"/>
                <a:cs typeface="Times New Roman" panose="02020603050405020304" pitchFamily="18" charset="0"/>
              </a:rPr>
              <a:t>ip</a:t>
            </a:r>
            <a:r>
              <a:rPr lang="en-US" sz="1800" b="1" dirty="0">
                <a:latin typeface="Times New Roman" panose="02020603050405020304" pitchFamily="18" charset="0"/>
                <a:cs typeface="Times New Roman" panose="02020603050405020304" pitchFamily="18" charset="0"/>
              </a:rPr>
              <a:t> access-group </a:t>
            </a:r>
            <a:r>
              <a:rPr lang="en-US" sz="1800" dirty="0">
                <a:latin typeface="Times New Roman" panose="02020603050405020304" pitchFamily="18" charset="0"/>
                <a:cs typeface="Times New Roman" panose="02020603050405020304" pitchFamily="18" charset="0"/>
              </a:rPr>
              <a:t>{ access-list-number</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 access-list-name } </a:t>
            </a:r>
            <a:r>
              <a:rPr lang="en-US" sz="1800" b="1" dirty="0">
                <a:latin typeface="Times New Roman" panose="02020603050405020304" pitchFamily="18" charset="0"/>
                <a:cs typeface="Times New Roman" panose="02020603050405020304" pitchFamily="18" charset="0"/>
              </a:rPr>
              <a:t>{ in | out }</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Example</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-if)# </a:t>
            </a:r>
            <a:r>
              <a:rPr lang="en-US" sz="1800" dirty="0" err="1">
                <a:latin typeface="Times New Roman" panose="02020603050405020304" pitchFamily="18" charset="0"/>
                <a:cs typeface="Times New Roman" panose="02020603050405020304" pitchFamily="18" charset="0"/>
              </a:rPr>
              <a:t>ip</a:t>
            </a:r>
            <a:r>
              <a:rPr lang="en-US" sz="1800" dirty="0">
                <a:latin typeface="Times New Roman" panose="02020603050405020304" pitchFamily="18" charset="0"/>
                <a:cs typeface="Times New Roman" panose="02020603050405020304" pitchFamily="18" charset="0"/>
              </a:rPr>
              <a:t> access-group 103</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in</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-if)#</a:t>
            </a:r>
          </a:p>
        </p:txBody>
      </p:sp>
      <p:sp>
        <p:nvSpPr>
          <p:cNvPr id="4" name="Rectangle 3"/>
          <p:cNvSpPr/>
          <p:nvPr/>
        </p:nvSpPr>
        <p:spPr>
          <a:xfrm>
            <a:off x="7414685" y="2393951"/>
            <a:ext cx="4421716" cy="3059113"/>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en-IN" b="1" dirty="0">
                <a:latin typeface="Times New Roman" panose="02020603050405020304" pitchFamily="18" charset="0"/>
                <a:cs typeface="Times New Roman" panose="02020603050405020304" pitchFamily="18" charset="0"/>
              </a:rPr>
              <a:t>Purpose</a:t>
            </a:r>
          </a:p>
          <a:p>
            <a:pPr algn="ctr" fontAlgn="auto">
              <a:spcBef>
                <a:spcPts val="0"/>
              </a:spcBef>
              <a:spcAft>
                <a:spcPts val="0"/>
              </a:spcAft>
              <a:defRPr/>
            </a:pPr>
            <a:endParaRPr lang="en-IN" b="1" dirty="0"/>
          </a:p>
          <a:p>
            <a:pPr algn="just" fontAlgn="auto">
              <a:spcBef>
                <a:spcPts val="0"/>
              </a:spcBef>
              <a:spcAft>
                <a:spcPts val="0"/>
              </a:spcAft>
              <a:defRPr/>
            </a:pPr>
            <a:r>
              <a:rPr lang="en-US" dirty="0">
                <a:latin typeface="Times New Roman" panose="02020603050405020304" pitchFamily="18" charset="0"/>
                <a:cs typeface="Times New Roman" panose="02020603050405020304" pitchFamily="18" charset="0"/>
              </a:rPr>
              <a:t>Assigns the defined ACLs to the outside interface on the router..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349709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a:xfrm>
            <a:off x="912285" y="-300038"/>
            <a:ext cx="10365316" cy="1597026"/>
          </a:xfrm>
        </p:spPr>
        <p:txBody>
          <a:bodyPr/>
          <a:lstStyle/>
          <a:p>
            <a:pPr eaLnBrk="1" hangingPunct="1"/>
            <a:r>
              <a:rPr lang="en-US" altLang="en-US" sz="2800" b="1" smtClean="0">
                <a:latin typeface="Times New Roman" pitchFamily="18" charset="0"/>
                <a:cs typeface="Times New Roman" pitchFamily="18" charset="0"/>
              </a:rPr>
              <a:t>Apply Access Lists and Inspection Rules to Interfaces</a:t>
            </a:r>
            <a:endParaRPr lang="en-GB" altLang="en-US" sz="2800" smtClean="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912285" y="1296988"/>
            <a:ext cx="10365316" cy="5021262"/>
          </a:xfrm>
        </p:spPr>
        <p:txBody>
          <a:bodyPr rtlCol="0">
            <a:noAutofit/>
          </a:bodyPr>
          <a:lstStyle/>
          <a:p>
            <a:pPr marL="0" indent="0" eaLnBrk="1" fontAlgn="auto" hangingPunct="1">
              <a:spcAft>
                <a:spcPts val="0"/>
              </a:spcAft>
              <a:buFont typeface="Arial" pitchFamily="34" charset="0"/>
              <a:buNone/>
              <a:defRPr/>
            </a:pPr>
            <a:endParaRPr lang="en-US" sz="1800" b="1"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r>
              <a:rPr lang="en-US" sz="1800" b="1" dirty="0">
                <a:latin typeface="Times New Roman" panose="02020603050405020304" pitchFamily="18" charset="0"/>
                <a:cs typeface="Times New Roman" panose="02020603050405020304" pitchFamily="18" charset="0"/>
              </a:rPr>
              <a:t>Step 6</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Command</a:t>
            </a:r>
          </a:p>
          <a:p>
            <a:pPr marL="0" indent="981075"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exit</a:t>
            </a:r>
            <a:endParaRPr lang="en-US" sz="1800" dirty="0">
              <a:latin typeface="Times New Roman" panose="02020603050405020304" pitchFamily="18" charset="0"/>
              <a:cs typeface="Times New Roman" panose="02020603050405020304" pitchFamily="18" charset="0"/>
            </a:endParaRP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Example</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-if)# exit</a:t>
            </a:r>
          </a:p>
          <a:p>
            <a:pPr marL="0" indent="981075" eaLnBrk="1" fontAlgn="auto" hangingPunct="1">
              <a:spcAft>
                <a:spcPts val="0"/>
              </a:spcAft>
              <a:buFont typeface="Arial" pitchFamily="34" charset="0"/>
              <a:buNone/>
              <a:defRPr/>
            </a:pPr>
            <a:r>
              <a:rPr lang="en-US" sz="1800" dirty="0">
                <a:latin typeface="Times New Roman" panose="02020603050405020304" pitchFamily="18" charset="0"/>
                <a:cs typeface="Times New Roman" panose="02020603050405020304" pitchFamily="18" charset="0"/>
              </a:rPr>
              <a:t>Router(</a:t>
            </a:r>
            <a:r>
              <a:rPr lang="en-US" sz="1800" dirty="0" err="1">
                <a:latin typeface="Times New Roman" panose="02020603050405020304" pitchFamily="18" charset="0"/>
                <a:cs typeface="Times New Roman" panose="02020603050405020304" pitchFamily="18" charset="0"/>
              </a:rPr>
              <a:t>config</a:t>
            </a:r>
            <a:r>
              <a:rPr lang="en-US" sz="1800" dirty="0">
                <a:latin typeface="Times New Roman" panose="02020603050405020304" pitchFamily="18" charset="0"/>
                <a:cs typeface="Times New Roman" panose="02020603050405020304" pitchFamily="18" charset="0"/>
              </a:rPr>
              <a:t>)#</a:t>
            </a:r>
          </a:p>
        </p:txBody>
      </p:sp>
      <p:sp>
        <p:nvSpPr>
          <p:cNvPr id="4" name="Rectangle 3"/>
          <p:cNvSpPr/>
          <p:nvPr/>
        </p:nvSpPr>
        <p:spPr>
          <a:xfrm>
            <a:off x="6855885" y="1296989"/>
            <a:ext cx="4421716" cy="390683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en-IN" b="1" dirty="0">
                <a:latin typeface="Times New Roman" panose="02020603050405020304" pitchFamily="18" charset="0"/>
                <a:cs typeface="Times New Roman" panose="02020603050405020304" pitchFamily="18" charset="0"/>
              </a:rPr>
              <a:t>Purpose</a:t>
            </a:r>
          </a:p>
          <a:p>
            <a:pPr algn="ctr" fontAlgn="auto">
              <a:spcBef>
                <a:spcPts val="0"/>
              </a:spcBef>
              <a:spcAft>
                <a:spcPts val="0"/>
              </a:spcAft>
              <a:defRPr/>
            </a:pPr>
            <a:endParaRPr lang="en-IN" b="1" dirty="0"/>
          </a:p>
          <a:p>
            <a:pPr algn="just" fontAlgn="auto">
              <a:spcBef>
                <a:spcPts val="0"/>
              </a:spcBef>
              <a:spcAft>
                <a:spcPts val="0"/>
              </a:spcAft>
              <a:defRPr/>
            </a:pPr>
            <a:r>
              <a:rPr lang="en-US" dirty="0">
                <a:latin typeface="Times New Roman" panose="02020603050405020304" pitchFamily="18" charset="0"/>
                <a:cs typeface="Times New Roman" panose="02020603050405020304" pitchFamily="18" charset="0"/>
              </a:rPr>
              <a:t>Returns to global configuration mode.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78336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912285" y="-300038"/>
            <a:ext cx="10365316" cy="1597026"/>
          </a:xfrm>
        </p:spPr>
        <p:txBody>
          <a:bodyPr/>
          <a:lstStyle/>
          <a:p>
            <a:pPr eaLnBrk="1" hangingPunct="1"/>
            <a:r>
              <a:rPr lang="en-IN" altLang="en-US" sz="2800" b="1" smtClean="0">
                <a:latin typeface="Times New Roman" pitchFamily="18" charset="0"/>
                <a:cs typeface="Times New Roman" pitchFamily="18" charset="0"/>
              </a:rPr>
              <a:t>Configure Inspection Rules</a:t>
            </a:r>
            <a:endParaRPr lang="en-GB" altLang="en-US" sz="2800" smtClean="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912285" y="182563"/>
            <a:ext cx="10365316" cy="5021262"/>
          </a:xfrm>
        </p:spPr>
        <p:txBody>
          <a:bodyPr rtlCol="0">
            <a:noAutofit/>
          </a:bodyPr>
          <a:lstStyle/>
          <a:p>
            <a:pPr marL="0" indent="0" eaLnBrk="1" fontAlgn="auto" hangingPunct="1">
              <a:spcAft>
                <a:spcPts val="0"/>
              </a:spcAft>
              <a:buFont typeface="Arial" pitchFamily="34" charset="0"/>
              <a:buNone/>
              <a:defRPr/>
            </a:pPr>
            <a:endParaRPr lang="en-US" sz="1800" b="1" dirty="0">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r>
              <a:rPr lang="en-US" sz="1800" b="1" dirty="0">
                <a:latin typeface="Times New Roman" panose="02020603050405020304" pitchFamily="18" charset="0"/>
                <a:cs typeface="Times New Roman" panose="02020603050405020304" pitchFamily="18" charset="0"/>
              </a:rPr>
              <a:t>Step 2</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Command</a:t>
            </a:r>
          </a:p>
          <a:p>
            <a:pPr marL="0" indent="981075" eaLnBrk="1" fontAlgn="auto" hangingPunct="1">
              <a:spcAft>
                <a:spcPts val="0"/>
              </a:spcAft>
              <a:buFont typeface="Arial" pitchFamily="34" charset="0"/>
              <a:buNone/>
              <a:defRPr/>
            </a:pPr>
            <a:r>
              <a:rPr lang="en-US" sz="1800" b="1" dirty="0" err="1">
                <a:latin typeface="Times New Roman" panose="02020603050405020304" pitchFamily="18" charset="0"/>
                <a:cs typeface="Times New Roman" panose="02020603050405020304" pitchFamily="18" charset="0"/>
              </a:rPr>
              <a:t>ip</a:t>
            </a:r>
            <a:r>
              <a:rPr lang="en-US" sz="1800" b="1" dirty="0">
                <a:latin typeface="Times New Roman" panose="02020603050405020304" pitchFamily="18" charset="0"/>
                <a:cs typeface="Times New Roman" panose="02020603050405020304" pitchFamily="18" charset="0"/>
              </a:rPr>
              <a:t> inspect name </a:t>
            </a:r>
            <a:r>
              <a:rPr lang="en-US" sz="1800" dirty="0">
                <a:latin typeface="Times New Roman" panose="02020603050405020304" pitchFamily="18" charset="0"/>
                <a:cs typeface="Times New Roman" panose="02020603050405020304" pitchFamily="18" charset="0"/>
              </a:rPr>
              <a:t>inspection-name protocol</a:t>
            </a:r>
          </a:p>
          <a:p>
            <a:pPr marL="0" indent="0" eaLnBrk="1" fontAlgn="auto" hangingPunct="1">
              <a:spcAft>
                <a:spcPts val="0"/>
              </a:spcAft>
              <a:buFont typeface="Arial" pitchFamily="34" charset="0"/>
              <a:buNone/>
              <a:defRPr/>
            </a:pPr>
            <a:r>
              <a:rPr lang="en-US" sz="1800" b="1" dirty="0">
                <a:latin typeface="Times New Roman" panose="02020603050405020304" pitchFamily="18" charset="0"/>
                <a:cs typeface="Times New Roman" panose="02020603050405020304" pitchFamily="18" charset="0"/>
              </a:rPr>
              <a:t>Example</a:t>
            </a: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Router(</a:t>
            </a:r>
            <a:r>
              <a:rPr lang="en-US" sz="1500" dirty="0" err="1">
                <a:latin typeface="Times New Roman" panose="02020603050405020304" pitchFamily="18" charset="0"/>
                <a:cs typeface="Times New Roman" panose="02020603050405020304" pitchFamily="18" charset="0"/>
              </a:rPr>
              <a:t>config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ip</a:t>
            </a:r>
            <a:r>
              <a:rPr lang="en-US" sz="1500" dirty="0">
                <a:latin typeface="Times New Roman" panose="02020603050405020304" pitchFamily="18" charset="0"/>
                <a:cs typeface="Times New Roman" panose="02020603050405020304" pitchFamily="18" charset="0"/>
              </a:rPr>
              <a:t> inspect</a:t>
            </a: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name firewall </a:t>
            </a:r>
            <a:r>
              <a:rPr lang="en-US" sz="1500" dirty="0" err="1">
                <a:latin typeface="Times New Roman" panose="02020603050405020304" pitchFamily="18" charset="0"/>
                <a:cs typeface="Times New Roman" panose="02020603050405020304" pitchFamily="18" charset="0"/>
              </a:rPr>
              <a:t>rtsp</a:t>
            </a:r>
            <a:endParaRPr lang="en-US" sz="1500" dirty="0">
              <a:latin typeface="Times New Roman" panose="02020603050405020304" pitchFamily="18" charset="0"/>
              <a:cs typeface="Times New Roman" panose="02020603050405020304" pitchFamily="18" charset="0"/>
            </a:endParaRP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Router(</a:t>
            </a:r>
            <a:r>
              <a:rPr lang="en-US" sz="1500" dirty="0" err="1">
                <a:latin typeface="Times New Roman" panose="02020603050405020304" pitchFamily="18" charset="0"/>
                <a:cs typeface="Times New Roman" panose="02020603050405020304" pitchFamily="18" charset="0"/>
              </a:rPr>
              <a:t>config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ip</a:t>
            </a:r>
            <a:r>
              <a:rPr lang="en-US" sz="1500" dirty="0">
                <a:latin typeface="Times New Roman" panose="02020603050405020304" pitchFamily="18" charset="0"/>
                <a:cs typeface="Times New Roman" panose="02020603050405020304" pitchFamily="18" charset="0"/>
              </a:rPr>
              <a:t> inspect</a:t>
            </a: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name firewall h323</a:t>
            </a: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Router(</a:t>
            </a:r>
            <a:r>
              <a:rPr lang="en-US" sz="1500" dirty="0" err="1">
                <a:latin typeface="Times New Roman" panose="02020603050405020304" pitchFamily="18" charset="0"/>
                <a:cs typeface="Times New Roman" panose="02020603050405020304" pitchFamily="18" charset="0"/>
              </a:rPr>
              <a:t>config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ip</a:t>
            </a:r>
            <a:r>
              <a:rPr lang="en-US" sz="1500" dirty="0">
                <a:latin typeface="Times New Roman" panose="02020603050405020304" pitchFamily="18" charset="0"/>
                <a:cs typeface="Times New Roman" panose="02020603050405020304" pitchFamily="18" charset="0"/>
              </a:rPr>
              <a:t> inspect</a:t>
            </a: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name firewall </a:t>
            </a:r>
            <a:r>
              <a:rPr lang="en-US" sz="1500" dirty="0" err="1">
                <a:latin typeface="Times New Roman" panose="02020603050405020304" pitchFamily="18" charset="0"/>
                <a:cs typeface="Times New Roman" panose="02020603050405020304" pitchFamily="18" charset="0"/>
              </a:rPr>
              <a:t>netshow</a:t>
            </a:r>
            <a:endParaRPr lang="en-US" sz="1500" dirty="0">
              <a:latin typeface="Times New Roman" panose="02020603050405020304" pitchFamily="18" charset="0"/>
              <a:cs typeface="Times New Roman" panose="02020603050405020304" pitchFamily="18" charset="0"/>
            </a:endParaRP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Router(</a:t>
            </a:r>
            <a:r>
              <a:rPr lang="en-US" sz="1500" dirty="0" err="1">
                <a:latin typeface="Times New Roman" panose="02020603050405020304" pitchFamily="18" charset="0"/>
                <a:cs typeface="Times New Roman" panose="02020603050405020304" pitchFamily="18" charset="0"/>
              </a:rPr>
              <a:t>config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ip</a:t>
            </a:r>
            <a:r>
              <a:rPr lang="en-US" sz="1500" dirty="0">
                <a:latin typeface="Times New Roman" panose="02020603050405020304" pitchFamily="18" charset="0"/>
                <a:cs typeface="Times New Roman" panose="02020603050405020304" pitchFamily="18" charset="0"/>
              </a:rPr>
              <a:t> inspect</a:t>
            </a: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name firewall ftp</a:t>
            </a: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Router(</a:t>
            </a:r>
            <a:r>
              <a:rPr lang="en-US" sz="1500" dirty="0" err="1">
                <a:latin typeface="Times New Roman" panose="02020603050405020304" pitchFamily="18" charset="0"/>
                <a:cs typeface="Times New Roman" panose="02020603050405020304" pitchFamily="18" charset="0"/>
              </a:rPr>
              <a:t>config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ip</a:t>
            </a:r>
            <a:r>
              <a:rPr lang="en-US" sz="1500" dirty="0">
                <a:latin typeface="Times New Roman" panose="02020603050405020304" pitchFamily="18" charset="0"/>
                <a:cs typeface="Times New Roman" panose="02020603050405020304" pitchFamily="18" charset="0"/>
              </a:rPr>
              <a:t> inspect</a:t>
            </a: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name firewall </a:t>
            </a:r>
            <a:r>
              <a:rPr lang="en-US" sz="1500" dirty="0" err="1">
                <a:latin typeface="Times New Roman" panose="02020603050405020304" pitchFamily="18" charset="0"/>
                <a:cs typeface="Times New Roman" panose="02020603050405020304" pitchFamily="18" charset="0"/>
              </a:rPr>
              <a:t>sqlnet</a:t>
            </a:r>
            <a:endParaRPr lang="en-US" sz="1500" dirty="0">
              <a:latin typeface="Times New Roman" panose="02020603050405020304" pitchFamily="18" charset="0"/>
              <a:cs typeface="Times New Roman" panose="02020603050405020304" pitchFamily="18" charset="0"/>
            </a:endParaRPr>
          </a:p>
          <a:p>
            <a:pPr marL="0" indent="981075" eaLnBrk="1" fontAlgn="auto" hangingPunct="1">
              <a:spcAft>
                <a:spcPts val="0"/>
              </a:spcAft>
              <a:buFont typeface="Arial" pitchFamily="34" charset="0"/>
              <a:buNone/>
              <a:defRPr/>
            </a:pPr>
            <a:r>
              <a:rPr lang="en-US" sz="1500" dirty="0">
                <a:latin typeface="Times New Roman" panose="02020603050405020304" pitchFamily="18" charset="0"/>
                <a:cs typeface="Times New Roman" panose="02020603050405020304" pitchFamily="18" charset="0"/>
              </a:rPr>
              <a:t>Router(</a:t>
            </a:r>
            <a:r>
              <a:rPr lang="en-US" sz="1500" dirty="0" err="1">
                <a:latin typeface="Times New Roman" panose="02020603050405020304" pitchFamily="18" charset="0"/>
                <a:cs typeface="Times New Roman" panose="02020603050405020304" pitchFamily="18" charset="0"/>
              </a:rPr>
              <a:t>config</a:t>
            </a:r>
            <a:r>
              <a:rPr lang="en-US" sz="1500" dirty="0">
                <a:latin typeface="Times New Roman" panose="02020603050405020304" pitchFamily="18" charset="0"/>
                <a:cs typeface="Times New Roman" panose="02020603050405020304" pitchFamily="18" charset="0"/>
              </a:rPr>
              <a:t>)#</a:t>
            </a:r>
          </a:p>
        </p:txBody>
      </p:sp>
      <p:sp>
        <p:nvSpPr>
          <p:cNvPr id="4" name="Rectangle 3"/>
          <p:cNvSpPr/>
          <p:nvPr/>
        </p:nvSpPr>
        <p:spPr>
          <a:xfrm>
            <a:off x="6855885" y="1296989"/>
            <a:ext cx="4421716" cy="390683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r>
              <a:rPr lang="en-IN" b="1" dirty="0">
                <a:latin typeface="Times New Roman" panose="02020603050405020304" pitchFamily="18" charset="0"/>
                <a:cs typeface="Times New Roman" panose="02020603050405020304" pitchFamily="18" charset="0"/>
              </a:rPr>
              <a:t>Purpose</a:t>
            </a:r>
          </a:p>
          <a:p>
            <a:pPr algn="ctr" fontAlgn="auto">
              <a:spcBef>
                <a:spcPts val="0"/>
              </a:spcBef>
              <a:spcAft>
                <a:spcPts val="0"/>
              </a:spcAft>
              <a:defRPr/>
            </a:pPr>
            <a:endParaRPr lang="en-IN" b="1" dirty="0"/>
          </a:p>
          <a:p>
            <a:pPr algn="just" fontAlgn="auto">
              <a:spcBef>
                <a:spcPts val="0"/>
              </a:spcBef>
              <a:spcAft>
                <a:spcPts val="0"/>
              </a:spcAft>
              <a:defRPr/>
            </a:pPr>
            <a:r>
              <a:rPr lang="en-US" dirty="0">
                <a:latin typeface="Times New Roman" panose="02020603050405020304" pitchFamily="18" charset="0"/>
                <a:cs typeface="Times New Roman" panose="02020603050405020304" pitchFamily="18" charset="0"/>
              </a:rPr>
              <a:t>Repeat this command for each inspection rule that you wish to use.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900839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5E61382-E021-1DD1-F4E1-59E924ACF018}"/>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xmlns="" id="{48AD8576-4572-A5B1-7337-BB5DF81B0F42}"/>
              </a:ext>
            </a:extLst>
          </p:cNvPr>
          <p:cNvSpPr>
            <a:spLocks noGrp="1"/>
          </p:cNvSpPr>
          <p:nvPr>
            <p:ph sz="half" idx="1"/>
          </p:nvPr>
        </p:nvSpPr>
        <p:spPr>
          <a:xfrm>
            <a:off x="838200" y="423545"/>
            <a:ext cx="5181600" cy="4351338"/>
          </a:xfrm>
        </p:spPr>
        <p:txBody>
          <a:bodyPr>
            <a:noAutofit/>
          </a:bodyPr>
          <a:lstStyle/>
          <a:p>
            <a:pPr algn="just"/>
            <a:r>
              <a:rPr lang="en-US" sz="1900" dirty="0"/>
              <a:t>The same architecture can be extended, as shown in Figure. In this figure, the externally accessible services, such as web pages, email, and file transfer, are on servers in the demilitarized zone or DMZ, named after the military buffer space, sometimes called the “no man’s land,” between the territories held by two competing armies. </a:t>
            </a:r>
          </a:p>
        </p:txBody>
      </p:sp>
      <p:sp>
        <p:nvSpPr>
          <p:cNvPr id="9" name="Content Placeholder 8">
            <a:extLst>
              <a:ext uri="{FF2B5EF4-FFF2-40B4-BE49-F238E27FC236}">
                <a16:creationId xmlns:a16="http://schemas.microsoft.com/office/drawing/2014/main" xmlns="" id="{C0076D8F-120A-7B4D-D0A3-42394FA1377E}"/>
              </a:ext>
            </a:extLst>
          </p:cNvPr>
          <p:cNvSpPr>
            <a:spLocks noGrp="1"/>
          </p:cNvSpPr>
          <p:nvPr>
            <p:ph sz="half" idx="2"/>
          </p:nvPr>
        </p:nvSpPr>
        <p:spPr>
          <a:xfrm>
            <a:off x="6172202" y="423545"/>
            <a:ext cx="5181600" cy="4351338"/>
          </a:xfrm>
        </p:spPr>
        <p:txBody>
          <a:bodyPr>
            <a:noAutofit/>
          </a:bodyPr>
          <a:lstStyle/>
          <a:p>
            <a:pPr algn="just"/>
            <a:r>
              <a:rPr lang="en-US" sz="1900" dirty="0"/>
              <a:t>In all these examples, the network architecture is critical. A firewall can protect only what it can control, so if a subnetwork has external connections not screened by the firewall, the firewall cannot control traffic on that unscreened connection. </a:t>
            </a:r>
          </a:p>
          <a:p>
            <a:pPr algn="just"/>
            <a:r>
              <a:rPr lang="en-US" sz="1900" dirty="0"/>
              <a:t>An example is a device with its own direct Internet connection (perhaps a rogue wireless connection). The wireless connection mentioned here, can give an attacker visibility and access to other devices. </a:t>
            </a:r>
          </a:p>
          <a:p>
            <a:pPr algn="just"/>
            <a:r>
              <a:rPr lang="en-US" sz="1900" dirty="0"/>
              <a:t>For this reason, the only path to every protected network device must pass through the network’s firewall. Although these examples are simplifications, they show the kinds of configurations firewalls protect. </a:t>
            </a:r>
          </a:p>
          <a:p>
            <a:pPr algn="just"/>
            <a:r>
              <a:rPr lang="en-US" sz="1900" b="1" dirty="0"/>
              <a:t>Outside users can access tools and data in a firewall’s demilitarized zone but cannot get to more sensitive resources on the more protected inside network.</a:t>
            </a:r>
            <a:endParaRPr lang="en-IN" sz="1900" b="1" dirty="0"/>
          </a:p>
          <a:p>
            <a:endParaRPr lang="en-IN" sz="1900" dirty="0"/>
          </a:p>
        </p:txBody>
      </p:sp>
      <p:sp>
        <p:nvSpPr>
          <p:cNvPr id="2" name="Date Placeholder 1">
            <a:extLst>
              <a:ext uri="{FF2B5EF4-FFF2-40B4-BE49-F238E27FC236}">
                <a16:creationId xmlns:a16="http://schemas.microsoft.com/office/drawing/2014/main" xmlns="" id="{CB3D998C-038C-0467-01B7-CD673A3B1767}"/>
              </a:ext>
            </a:extLst>
          </p:cNvPr>
          <p:cNvSpPr>
            <a:spLocks noGrp="1"/>
          </p:cNvSpPr>
          <p:nvPr>
            <p:ph type="dt" sz="half" idx="10"/>
          </p:nvPr>
        </p:nvSpPr>
        <p:spPr/>
        <p:txBody>
          <a:bodyPr/>
          <a:lstStyle/>
          <a:p>
            <a:fld id="{7852F07E-6AD2-49DE-9822-22D567689E79}" type="datetime1">
              <a:rPr lang="en-IN" smtClean="0"/>
              <a:t>26-04-2025</a:t>
            </a:fld>
            <a:endParaRPr lang="en-IN" dirty="0"/>
          </a:p>
        </p:txBody>
      </p:sp>
      <p:sp>
        <p:nvSpPr>
          <p:cNvPr id="3" name="Slide Number Placeholder 2">
            <a:extLst>
              <a:ext uri="{FF2B5EF4-FFF2-40B4-BE49-F238E27FC236}">
                <a16:creationId xmlns:a16="http://schemas.microsoft.com/office/drawing/2014/main" xmlns="" id="{1D21E7B5-BD79-A73F-032A-4BB5BB32AF49}"/>
              </a:ext>
            </a:extLst>
          </p:cNvPr>
          <p:cNvSpPr>
            <a:spLocks noGrp="1"/>
          </p:cNvSpPr>
          <p:nvPr>
            <p:ph type="sldNum" sz="quarter" idx="12"/>
          </p:nvPr>
        </p:nvSpPr>
        <p:spPr/>
        <p:txBody>
          <a:bodyPr/>
          <a:lstStyle/>
          <a:p>
            <a:fld id="{F3A9E9E4-B33D-4B71-BC7B-0B7320F1BC06}" type="slidenum">
              <a:rPr lang="en-IN" smtClean="0"/>
              <a:t>46</a:t>
            </a:fld>
            <a:endParaRPr lang="en-IN" dirty="0"/>
          </a:p>
        </p:txBody>
      </p:sp>
      <p:pic>
        <p:nvPicPr>
          <p:cNvPr id="10" name="Picture 9">
            <a:extLst>
              <a:ext uri="{FF2B5EF4-FFF2-40B4-BE49-F238E27FC236}">
                <a16:creationId xmlns:a16="http://schemas.microsoft.com/office/drawing/2014/main" xmlns="" id="{056E4D30-E99E-361D-1199-D177FBABA41E}"/>
              </a:ext>
            </a:extLst>
          </p:cNvPr>
          <p:cNvPicPr>
            <a:picLocks noChangeAspect="1"/>
          </p:cNvPicPr>
          <p:nvPr/>
        </p:nvPicPr>
        <p:blipFill>
          <a:blip r:embed="rId2"/>
          <a:stretch>
            <a:fillRect/>
          </a:stretch>
        </p:blipFill>
        <p:spPr>
          <a:xfrm>
            <a:off x="1118608" y="2689284"/>
            <a:ext cx="4925584" cy="3169225"/>
          </a:xfrm>
          <a:prstGeom prst="rect">
            <a:avLst/>
          </a:prstGeom>
        </p:spPr>
      </p:pic>
      <p:sp>
        <p:nvSpPr>
          <p:cNvPr id="11" name="TextBox 10">
            <a:extLst>
              <a:ext uri="{FF2B5EF4-FFF2-40B4-BE49-F238E27FC236}">
                <a16:creationId xmlns:a16="http://schemas.microsoft.com/office/drawing/2014/main" xmlns="" id="{118065F9-D067-BD33-7C24-32F64D122DE2}"/>
              </a:ext>
            </a:extLst>
          </p:cNvPr>
          <p:cNvSpPr txBox="1"/>
          <p:nvPr/>
        </p:nvSpPr>
        <p:spPr>
          <a:xfrm>
            <a:off x="533400" y="5987018"/>
            <a:ext cx="6096000" cy="369332"/>
          </a:xfrm>
          <a:prstGeom prst="rect">
            <a:avLst/>
          </a:prstGeom>
          <a:noFill/>
        </p:spPr>
        <p:txBody>
          <a:bodyPr wrap="square">
            <a:spAutoFit/>
          </a:bodyPr>
          <a:lstStyle/>
          <a:p>
            <a:pPr algn="ctr"/>
            <a:r>
              <a:rPr lang="en-IN" b="1" dirty="0"/>
              <a:t>Demilitarized Zone</a:t>
            </a:r>
          </a:p>
        </p:txBody>
      </p:sp>
    </p:spTree>
    <p:extLst>
      <p:ext uri="{BB962C8B-B14F-4D97-AF65-F5344CB8AC3E}">
        <p14:creationId xmlns:p14="http://schemas.microsoft.com/office/powerpoint/2010/main" val="16465255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8AFC24ED-0A11-7EF1-A77B-7DB1FE86440D}"/>
              </a:ext>
            </a:extLst>
          </p:cNvPr>
          <p:cNvSpPr>
            <a:spLocks noGrp="1"/>
          </p:cNvSpPr>
          <p:nvPr>
            <p:ph type="title"/>
          </p:nvPr>
        </p:nvSpPr>
        <p:spPr>
          <a:xfrm>
            <a:off x="746760" y="0"/>
            <a:ext cx="10515600" cy="1325563"/>
          </a:xfrm>
        </p:spPr>
        <p:txBody>
          <a:bodyPr/>
          <a:lstStyle/>
          <a:p>
            <a:pPr algn="ctr"/>
            <a:r>
              <a:rPr lang="en-IN" b="1" dirty="0">
                <a:solidFill>
                  <a:srgbClr val="C00000"/>
                </a:solidFill>
              </a:rPr>
              <a:t>What Firewalls Can and Cannot Block?</a:t>
            </a:r>
          </a:p>
        </p:txBody>
      </p:sp>
      <p:sp>
        <p:nvSpPr>
          <p:cNvPr id="5" name="Content Placeholder 4">
            <a:extLst>
              <a:ext uri="{FF2B5EF4-FFF2-40B4-BE49-F238E27FC236}">
                <a16:creationId xmlns:a16="http://schemas.microsoft.com/office/drawing/2014/main" xmlns="" id="{5B74D987-82C0-7BE1-7DFC-FF03E93842C3}"/>
              </a:ext>
            </a:extLst>
          </p:cNvPr>
          <p:cNvSpPr>
            <a:spLocks noGrp="1"/>
          </p:cNvSpPr>
          <p:nvPr>
            <p:ph idx="1"/>
          </p:nvPr>
        </p:nvSpPr>
        <p:spPr>
          <a:xfrm>
            <a:off x="838200" y="1480185"/>
            <a:ext cx="10515600" cy="4351338"/>
          </a:xfrm>
        </p:spPr>
        <p:txBody>
          <a:bodyPr>
            <a:noAutofit/>
          </a:bodyPr>
          <a:lstStyle/>
          <a:p>
            <a:pPr algn="just"/>
            <a:r>
              <a:rPr lang="en-US" sz="2200" dirty="0"/>
              <a:t>Firewalls </a:t>
            </a:r>
            <a:r>
              <a:rPr lang="en-US" sz="2200" b="1" dirty="0"/>
              <a:t>are not complete solutions to all computer security problems</a:t>
            </a:r>
            <a:r>
              <a:rPr lang="en-US" sz="2200" dirty="0"/>
              <a:t>. A firewall protects only the perimeter of its environment against attacks from outsiders who want to execute code or access data on the machines in the protected environment. </a:t>
            </a:r>
          </a:p>
          <a:p>
            <a:pPr algn="just"/>
            <a:r>
              <a:rPr lang="en-US" sz="2200" dirty="0"/>
              <a:t>Firewalls can protect an environment only if the firewalls control the entire perimeter. That is, firewalls are effective only if no unmediated connections breach the perimeter. If even one inside host connects to an outside address, by a wireless connection for example, the entire inside net is vulnerable through the unprotected host.</a:t>
            </a:r>
          </a:p>
          <a:p>
            <a:pPr algn="just"/>
            <a:r>
              <a:rPr lang="en-US" sz="2200" dirty="0"/>
              <a:t>Firewalls </a:t>
            </a:r>
            <a:r>
              <a:rPr lang="en-US" sz="2200" b="1" dirty="0"/>
              <a:t>do not protect data outside the perimeter</a:t>
            </a:r>
            <a:r>
              <a:rPr lang="en-US" sz="2200" dirty="0"/>
              <a:t>; data that have properly passed (outbound) through the firewall are just as exposed as if there were no firewall. </a:t>
            </a:r>
          </a:p>
          <a:p>
            <a:pPr algn="just"/>
            <a:r>
              <a:rPr lang="en-US" sz="2200" dirty="0"/>
              <a:t>Firewalls are the most visible part of an installation to the outside, so they are the most attractive target for attack. For this reason, several different layers of protection, called defense in depth, are better than relying on the strength of just a single firewall.</a:t>
            </a:r>
            <a:endParaRPr lang="en-IN" sz="2200" dirty="0"/>
          </a:p>
        </p:txBody>
      </p:sp>
      <p:sp>
        <p:nvSpPr>
          <p:cNvPr id="2" name="Date Placeholder 1">
            <a:extLst>
              <a:ext uri="{FF2B5EF4-FFF2-40B4-BE49-F238E27FC236}">
                <a16:creationId xmlns:a16="http://schemas.microsoft.com/office/drawing/2014/main" xmlns="" id="{F9BEB225-83AF-D5C2-F45F-572247AAF13B}"/>
              </a:ext>
            </a:extLst>
          </p:cNvPr>
          <p:cNvSpPr>
            <a:spLocks noGrp="1"/>
          </p:cNvSpPr>
          <p:nvPr>
            <p:ph type="dt" sz="half" idx="10"/>
          </p:nvPr>
        </p:nvSpPr>
        <p:spPr/>
        <p:txBody>
          <a:bodyPr/>
          <a:lstStyle/>
          <a:p>
            <a:fld id="{66B70A00-9B8E-491C-AE6F-5FC7643046FB}" type="datetime1">
              <a:rPr lang="en-IN" smtClean="0"/>
              <a:t>26-04-2025</a:t>
            </a:fld>
            <a:endParaRPr lang="en-IN" dirty="0"/>
          </a:p>
        </p:txBody>
      </p:sp>
      <p:sp>
        <p:nvSpPr>
          <p:cNvPr id="3" name="Slide Number Placeholder 2">
            <a:extLst>
              <a:ext uri="{FF2B5EF4-FFF2-40B4-BE49-F238E27FC236}">
                <a16:creationId xmlns:a16="http://schemas.microsoft.com/office/drawing/2014/main" xmlns="" id="{C15D40E2-4280-30BC-6575-884A7A5B3B55}"/>
              </a:ext>
            </a:extLst>
          </p:cNvPr>
          <p:cNvSpPr>
            <a:spLocks noGrp="1"/>
          </p:cNvSpPr>
          <p:nvPr>
            <p:ph type="sldNum" sz="quarter" idx="12"/>
          </p:nvPr>
        </p:nvSpPr>
        <p:spPr/>
        <p:txBody>
          <a:bodyPr/>
          <a:lstStyle/>
          <a:p>
            <a:fld id="{F3A9E9E4-B33D-4B71-BC7B-0B7320F1BC06}" type="slidenum">
              <a:rPr lang="en-IN" smtClean="0"/>
              <a:t>47</a:t>
            </a:fld>
            <a:endParaRPr lang="en-IN" dirty="0"/>
          </a:p>
        </p:txBody>
      </p:sp>
    </p:spTree>
    <p:extLst>
      <p:ext uri="{BB962C8B-B14F-4D97-AF65-F5344CB8AC3E}">
        <p14:creationId xmlns:p14="http://schemas.microsoft.com/office/powerpoint/2010/main" val="35522337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B3552C4-23E7-5214-4998-9EB7A052BA9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D8C3B2ED-7040-A97A-6A57-A34AA9874053}"/>
              </a:ext>
            </a:extLst>
          </p:cNvPr>
          <p:cNvSpPr>
            <a:spLocks noGrp="1"/>
          </p:cNvSpPr>
          <p:nvPr>
            <p:ph type="title"/>
          </p:nvPr>
        </p:nvSpPr>
        <p:spPr>
          <a:xfrm>
            <a:off x="746760" y="0"/>
            <a:ext cx="10515600" cy="1325563"/>
          </a:xfrm>
        </p:spPr>
        <p:txBody>
          <a:bodyPr/>
          <a:lstStyle/>
          <a:p>
            <a:pPr algn="ctr"/>
            <a:r>
              <a:rPr lang="en-IN" b="1" dirty="0">
                <a:solidFill>
                  <a:srgbClr val="C00000"/>
                </a:solidFill>
              </a:rPr>
              <a:t>What Firewalls Can and Cannot Block?</a:t>
            </a:r>
          </a:p>
        </p:txBody>
      </p:sp>
      <p:sp>
        <p:nvSpPr>
          <p:cNvPr id="5" name="Content Placeholder 4">
            <a:extLst>
              <a:ext uri="{FF2B5EF4-FFF2-40B4-BE49-F238E27FC236}">
                <a16:creationId xmlns:a16="http://schemas.microsoft.com/office/drawing/2014/main" xmlns="" id="{4CFF73B6-5FC6-23C0-2F31-CC8E90A480F9}"/>
              </a:ext>
            </a:extLst>
          </p:cNvPr>
          <p:cNvSpPr>
            <a:spLocks noGrp="1"/>
          </p:cNvSpPr>
          <p:nvPr>
            <p:ph idx="1"/>
          </p:nvPr>
        </p:nvSpPr>
        <p:spPr>
          <a:xfrm>
            <a:off x="838200" y="1325563"/>
            <a:ext cx="10515600" cy="4351338"/>
          </a:xfrm>
        </p:spPr>
        <p:txBody>
          <a:bodyPr>
            <a:noAutofit/>
          </a:bodyPr>
          <a:lstStyle/>
          <a:p>
            <a:pPr algn="just"/>
            <a:r>
              <a:rPr lang="en-US" sz="2200" dirty="0"/>
              <a:t>Firewalls </a:t>
            </a:r>
            <a:r>
              <a:rPr lang="en-US" sz="2200" b="1" dirty="0"/>
              <a:t>must be correctly configured</a:t>
            </a:r>
            <a:r>
              <a:rPr lang="en-US" sz="2200" dirty="0"/>
              <a:t>, that configuration must be updated as the internal and external environment changes, and firewall activity reports must be reviewed periodically for evidence of attempted or successful intrusion. </a:t>
            </a:r>
          </a:p>
          <a:p>
            <a:pPr algn="just"/>
            <a:r>
              <a:rPr lang="en-US" sz="2200" dirty="0"/>
              <a:t>Firewalls are </a:t>
            </a:r>
            <a:r>
              <a:rPr lang="en-US" sz="2200" b="1" dirty="0"/>
              <a:t>targets for penetrators</a:t>
            </a:r>
            <a:r>
              <a:rPr lang="en-US" sz="2200" dirty="0"/>
              <a:t>. While a firewall is designed to withstand attack, it is not impenetrable. Designers intentionally keep a firewall small and simple so that even if a penetrator breaks it, the firewall does not have further tools, such as compilers, linkers, loaders, and the like, to continue an attack. </a:t>
            </a:r>
          </a:p>
          <a:p>
            <a:pPr algn="just"/>
            <a:r>
              <a:rPr lang="en-US" sz="2200" dirty="0"/>
              <a:t>Firewalls exercise only minor control over the content admitted to the inside, meaning that inaccurate data or malicious code must be controlled by other means inside the perimeter. </a:t>
            </a:r>
          </a:p>
          <a:p>
            <a:pPr algn="just"/>
            <a:r>
              <a:rPr lang="en-US" sz="2200" dirty="0"/>
              <a:t>Firewalls are important tools in protecting an environment connected to a network. However, the environment must be viewed as a whole, all possible exposures must be considered, and the firewall must fit into a larger, comprehensive security strategy. </a:t>
            </a:r>
            <a:r>
              <a:rPr lang="en-US" sz="2200" b="1" dirty="0"/>
              <a:t>Firewalls alone cannot secure an environment.</a:t>
            </a:r>
            <a:endParaRPr lang="en-IN" sz="2200" b="1" dirty="0"/>
          </a:p>
        </p:txBody>
      </p:sp>
      <p:sp>
        <p:nvSpPr>
          <p:cNvPr id="2" name="Date Placeholder 1">
            <a:extLst>
              <a:ext uri="{FF2B5EF4-FFF2-40B4-BE49-F238E27FC236}">
                <a16:creationId xmlns:a16="http://schemas.microsoft.com/office/drawing/2014/main" xmlns="" id="{C54AC62E-53A2-3668-7A55-090E87C69826}"/>
              </a:ext>
            </a:extLst>
          </p:cNvPr>
          <p:cNvSpPr>
            <a:spLocks noGrp="1"/>
          </p:cNvSpPr>
          <p:nvPr>
            <p:ph type="dt" sz="half" idx="10"/>
          </p:nvPr>
        </p:nvSpPr>
        <p:spPr/>
        <p:txBody>
          <a:bodyPr/>
          <a:lstStyle/>
          <a:p>
            <a:fld id="{DB21D42A-5715-47EC-830D-895ED7DA575E}" type="datetime1">
              <a:rPr lang="en-IN" smtClean="0"/>
              <a:t>26-04-2025</a:t>
            </a:fld>
            <a:endParaRPr lang="en-IN" dirty="0"/>
          </a:p>
        </p:txBody>
      </p:sp>
      <p:sp>
        <p:nvSpPr>
          <p:cNvPr id="3" name="Slide Number Placeholder 2">
            <a:extLst>
              <a:ext uri="{FF2B5EF4-FFF2-40B4-BE49-F238E27FC236}">
                <a16:creationId xmlns:a16="http://schemas.microsoft.com/office/drawing/2014/main" xmlns="" id="{CA19C494-9ACE-6194-CDFA-BF2B928375A2}"/>
              </a:ext>
            </a:extLst>
          </p:cNvPr>
          <p:cNvSpPr>
            <a:spLocks noGrp="1"/>
          </p:cNvSpPr>
          <p:nvPr>
            <p:ph type="sldNum" sz="quarter" idx="12"/>
          </p:nvPr>
        </p:nvSpPr>
        <p:spPr/>
        <p:txBody>
          <a:bodyPr/>
          <a:lstStyle/>
          <a:p>
            <a:fld id="{F3A9E9E4-B33D-4B71-BC7B-0B7320F1BC06}" type="slidenum">
              <a:rPr lang="en-IN" smtClean="0"/>
              <a:t>48</a:t>
            </a:fld>
            <a:endParaRPr lang="en-IN" dirty="0"/>
          </a:p>
        </p:txBody>
      </p:sp>
    </p:spTree>
    <p:extLst>
      <p:ext uri="{BB962C8B-B14F-4D97-AF65-F5344CB8AC3E}">
        <p14:creationId xmlns:p14="http://schemas.microsoft.com/office/powerpoint/2010/main" val="6927110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836958-F6E3-A522-ECF8-1ADD3274BD7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3F15FE67-DBC6-798C-4915-9F034575ACF8}"/>
              </a:ext>
            </a:extLst>
          </p:cNvPr>
          <p:cNvSpPr>
            <a:spLocks noGrp="1"/>
          </p:cNvSpPr>
          <p:nvPr>
            <p:ph type="title"/>
          </p:nvPr>
        </p:nvSpPr>
        <p:spPr>
          <a:xfrm>
            <a:off x="746760" y="0"/>
            <a:ext cx="10515600" cy="1325563"/>
          </a:xfrm>
        </p:spPr>
        <p:txBody>
          <a:bodyPr/>
          <a:lstStyle/>
          <a:p>
            <a:pPr algn="ctr"/>
            <a:r>
              <a:rPr lang="en-IN" b="1" dirty="0">
                <a:solidFill>
                  <a:srgbClr val="C00000"/>
                </a:solidFill>
              </a:rPr>
              <a:t>Network Address Translation (NAT)</a:t>
            </a:r>
          </a:p>
        </p:txBody>
      </p:sp>
      <p:sp>
        <p:nvSpPr>
          <p:cNvPr id="5" name="Content Placeholder 4">
            <a:extLst>
              <a:ext uri="{FF2B5EF4-FFF2-40B4-BE49-F238E27FC236}">
                <a16:creationId xmlns:a16="http://schemas.microsoft.com/office/drawing/2014/main" xmlns="" id="{54BAB97F-FA29-E5EE-2D7E-7EEB2600CFC4}"/>
              </a:ext>
            </a:extLst>
          </p:cNvPr>
          <p:cNvSpPr>
            <a:spLocks noGrp="1"/>
          </p:cNvSpPr>
          <p:nvPr>
            <p:ph idx="1"/>
          </p:nvPr>
        </p:nvSpPr>
        <p:spPr>
          <a:xfrm>
            <a:off x="838200" y="1325563"/>
            <a:ext cx="10515600" cy="4351338"/>
          </a:xfrm>
        </p:spPr>
        <p:txBody>
          <a:bodyPr>
            <a:noAutofit/>
          </a:bodyPr>
          <a:lstStyle/>
          <a:p>
            <a:pPr algn="just"/>
            <a:r>
              <a:rPr lang="en-US" sz="2400" dirty="0"/>
              <a:t>Firewalls </a:t>
            </a:r>
            <a:r>
              <a:rPr lang="en-US" sz="2400" b="1" dirty="0"/>
              <a:t>protect internal hosts against unacceptable inbound or outbound data flows. </a:t>
            </a:r>
          </a:p>
          <a:p>
            <a:pPr algn="just"/>
            <a:r>
              <a:rPr lang="en-US" sz="2400" dirty="0"/>
              <a:t>However, sometimes an outsider can gain valuable information just by learning the architecture, connectivity, or even size of the internal network. </a:t>
            </a:r>
          </a:p>
          <a:p>
            <a:pPr algn="just"/>
            <a:r>
              <a:rPr lang="en-US" sz="2400" dirty="0"/>
              <a:t>When an internal host presents its IP address to an outsider (necessary if the outsider is expected to reply), the outsider can infer some of the network structure from the pattern of addresses. </a:t>
            </a:r>
          </a:p>
          <a:p>
            <a:pPr algn="just"/>
            <a:r>
              <a:rPr lang="en-US" sz="2400" dirty="0"/>
              <a:t>Furthermore, once released, this address will forever be known and exploitable by outsiders. </a:t>
            </a:r>
            <a:endParaRPr lang="en-IN" sz="2400" b="1" dirty="0"/>
          </a:p>
        </p:txBody>
      </p:sp>
      <p:sp>
        <p:nvSpPr>
          <p:cNvPr id="2" name="Date Placeholder 1">
            <a:extLst>
              <a:ext uri="{FF2B5EF4-FFF2-40B4-BE49-F238E27FC236}">
                <a16:creationId xmlns:a16="http://schemas.microsoft.com/office/drawing/2014/main" xmlns="" id="{35BF31FE-540F-8C92-C32D-A2E143E7D9A8}"/>
              </a:ext>
            </a:extLst>
          </p:cNvPr>
          <p:cNvSpPr>
            <a:spLocks noGrp="1"/>
          </p:cNvSpPr>
          <p:nvPr>
            <p:ph type="dt" sz="half" idx="10"/>
          </p:nvPr>
        </p:nvSpPr>
        <p:spPr/>
        <p:txBody>
          <a:bodyPr/>
          <a:lstStyle/>
          <a:p>
            <a:fld id="{635DC157-69B8-428A-8973-5A9AEC7DA68B}" type="datetime1">
              <a:rPr lang="en-IN" smtClean="0"/>
              <a:t>26-04-2025</a:t>
            </a:fld>
            <a:endParaRPr lang="en-IN" dirty="0"/>
          </a:p>
        </p:txBody>
      </p:sp>
      <p:sp>
        <p:nvSpPr>
          <p:cNvPr id="3" name="Slide Number Placeholder 2">
            <a:extLst>
              <a:ext uri="{FF2B5EF4-FFF2-40B4-BE49-F238E27FC236}">
                <a16:creationId xmlns:a16="http://schemas.microsoft.com/office/drawing/2014/main" xmlns="" id="{F4EF4713-584C-7C4A-F72E-BAEC5826155A}"/>
              </a:ext>
            </a:extLst>
          </p:cNvPr>
          <p:cNvSpPr>
            <a:spLocks noGrp="1"/>
          </p:cNvSpPr>
          <p:nvPr>
            <p:ph type="sldNum" sz="quarter" idx="12"/>
          </p:nvPr>
        </p:nvSpPr>
        <p:spPr/>
        <p:txBody>
          <a:bodyPr/>
          <a:lstStyle/>
          <a:p>
            <a:fld id="{F3A9E9E4-B33D-4B71-BC7B-0B7320F1BC06}" type="slidenum">
              <a:rPr lang="en-IN" smtClean="0"/>
              <a:t>49</a:t>
            </a:fld>
            <a:endParaRPr lang="en-IN" dirty="0"/>
          </a:p>
        </p:txBody>
      </p:sp>
    </p:spTree>
    <p:extLst>
      <p:ext uri="{BB962C8B-B14F-4D97-AF65-F5344CB8AC3E}">
        <p14:creationId xmlns:p14="http://schemas.microsoft.com/office/powerpoint/2010/main" val="25301887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5C4D42D-BF84-643C-2DF9-3973CB1D1B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658997C3-1545-8489-D767-A177A531D555}"/>
              </a:ext>
            </a:extLst>
          </p:cNvPr>
          <p:cNvSpPr>
            <a:spLocks noGrp="1"/>
          </p:cNvSpPr>
          <p:nvPr>
            <p:ph type="title"/>
          </p:nvPr>
        </p:nvSpPr>
        <p:spPr>
          <a:xfrm>
            <a:off x="838200" y="-179070"/>
            <a:ext cx="10515600" cy="1325563"/>
          </a:xfrm>
        </p:spPr>
        <p:txBody>
          <a:bodyPr/>
          <a:lstStyle/>
          <a:p>
            <a:pPr algn="ctr"/>
            <a:r>
              <a:rPr lang="en-IN" b="1" dirty="0">
                <a:solidFill>
                  <a:srgbClr val="C00000"/>
                </a:solidFill>
              </a:rPr>
              <a:t>Network Address Translation (NAT)</a:t>
            </a:r>
          </a:p>
        </p:txBody>
      </p:sp>
      <p:sp>
        <p:nvSpPr>
          <p:cNvPr id="5" name="Content Placeholder 4">
            <a:extLst>
              <a:ext uri="{FF2B5EF4-FFF2-40B4-BE49-F238E27FC236}">
                <a16:creationId xmlns:a16="http://schemas.microsoft.com/office/drawing/2014/main" xmlns="" id="{018978F4-C6C7-819E-1A5F-0E447B98307E}"/>
              </a:ext>
            </a:extLst>
          </p:cNvPr>
          <p:cNvSpPr>
            <a:spLocks noGrp="1"/>
          </p:cNvSpPr>
          <p:nvPr>
            <p:ph sz="half" idx="1"/>
          </p:nvPr>
        </p:nvSpPr>
        <p:spPr>
          <a:xfrm>
            <a:off x="914400" y="912971"/>
            <a:ext cx="5181600" cy="4351338"/>
          </a:xfrm>
        </p:spPr>
        <p:txBody>
          <a:bodyPr>
            <a:noAutofit/>
          </a:bodyPr>
          <a:lstStyle/>
          <a:p>
            <a:pPr algn="just"/>
            <a:r>
              <a:rPr lang="en-US" sz="1900" dirty="0"/>
              <a:t>Every packet between two hosts contains the source host’s address and port and the destination host’s address and port. Port 80 is the number conventionally used for HTTP (web page) access. </a:t>
            </a:r>
          </a:p>
          <a:p>
            <a:pPr algn="just"/>
            <a:r>
              <a:rPr lang="en-US" sz="1900" dirty="0"/>
              <a:t>As shown in Figure, internal host 192.168.1.35 port 80 is sending a packet to external host 65.216.161.24 port 80. Using a process called network address translation (NAT), the source firewall converts source address 192.168.1.35:80 in the packet to the firewall’s own address, 173.203.129.90. </a:t>
            </a:r>
          </a:p>
          <a:p>
            <a:pPr algn="just"/>
            <a:r>
              <a:rPr lang="en-US" sz="1900" dirty="0"/>
              <a:t>The firewall also makes an entry in a translation table showing the destination address, the source port, and the original source address, to be able to forward any replies to the original source address. </a:t>
            </a:r>
          </a:p>
          <a:p>
            <a:pPr algn="just"/>
            <a:r>
              <a:rPr lang="en-US" sz="1900" dirty="0"/>
              <a:t>As we might expect, the firewall converts the address back on any return packets.</a:t>
            </a:r>
            <a:endParaRPr lang="en-IN" sz="1900" b="1" dirty="0"/>
          </a:p>
        </p:txBody>
      </p:sp>
      <p:pic>
        <p:nvPicPr>
          <p:cNvPr id="8" name="Content Placeholder 7">
            <a:extLst>
              <a:ext uri="{FF2B5EF4-FFF2-40B4-BE49-F238E27FC236}">
                <a16:creationId xmlns:a16="http://schemas.microsoft.com/office/drawing/2014/main" xmlns="" id="{5F26B2FD-3AA1-EE8D-CAD9-FEED842BF177}"/>
              </a:ext>
            </a:extLst>
          </p:cNvPr>
          <p:cNvPicPr>
            <a:picLocks noGrp="1" noChangeAspect="1"/>
          </p:cNvPicPr>
          <p:nvPr>
            <p:ph sz="half" idx="2"/>
          </p:nvPr>
        </p:nvPicPr>
        <p:blipFill>
          <a:blip r:embed="rId2"/>
          <a:stretch>
            <a:fillRect/>
          </a:stretch>
        </p:blipFill>
        <p:spPr>
          <a:xfrm>
            <a:off x="6577080" y="1213358"/>
            <a:ext cx="4858000" cy="4151080"/>
          </a:xfrm>
        </p:spPr>
      </p:pic>
      <p:sp>
        <p:nvSpPr>
          <p:cNvPr id="2" name="Date Placeholder 1">
            <a:extLst>
              <a:ext uri="{FF2B5EF4-FFF2-40B4-BE49-F238E27FC236}">
                <a16:creationId xmlns:a16="http://schemas.microsoft.com/office/drawing/2014/main" xmlns="" id="{5937875C-C869-F223-7A40-03B338ADA009}"/>
              </a:ext>
            </a:extLst>
          </p:cNvPr>
          <p:cNvSpPr>
            <a:spLocks noGrp="1"/>
          </p:cNvSpPr>
          <p:nvPr>
            <p:ph type="dt" sz="half" idx="10"/>
          </p:nvPr>
        </p:nvSpPr>
        <p:spPr/>
        <p:txBody>
          <a:bodyPr/>
          <a:lstStyle/>
          <a:p>
            <a:fld id="{700B90E2-9823-4F08-9C9C-B0082B59388E}" type="datetime1">
              <a:rPr lang="en-IN" smtClean="0"/>
              <a:t>26-04-2025</a:t>
            </a:fld>
            <a:endParaRPr lang="en-IN" dirty="0"/>
          </a:p>
        </p:txBody>
      </p:sp>
      <p:sp>
        <p:nvSpPr>
          <p:cNvPr id="3" name="Slide Number Placeholder 2">
            <a:extLst>
              <a:ext uri="{FF2B5EF4-FFF2-40B4-BE49-F238E27FC236}">
                <a16:creationId xmlns:a16="http://schemas.microsoft.com/office/drawing/2014/main" xmlns="" id="{7D08BA54-84E9-9DA6-48C3-279DB76B8131}"/>
              </a:ext>
            </a:extLst>
          </p:cNvPr>
          <p:cNvSpPr>
            <a:spLocks noGrp="1"/>
          </p:cNvSpPr>
          <p:nvPr>
            <p:ph type="sldNum" sz="quarter" idx="12"/>
          </p:nvPr>
        </p:nvSpPr>
        <p:spPr/>
        <p:txBody>
          <a:bodyPr/>
          <a:lstStyle/>
          <a:p>
            <a:fld id="{F3A9E9E4-B33D-4B71-BC7B-0B7320F1BC06}" type="slidenum">
              <a:rPr lang="en-IN" smtClean="0"/>
              <a:t>50</a:t>
            </a:fld>
            <a:endParaRPr lang="en-IN" dirty="0"/>
          </a:p>
        </p:txBody>
      </p:sp>
      <p:sp>
        <p:nvSpPr>
          <p:cNvPr id="10" name="TextBox 9">
            <a:extLst>
              <a:ext uri="{FF2B5EF4-FFF2-40B4-BE49-F238E27FC236}">
                <a16:creationId xmlns:a16="http://schemas.microsoft.com/office/drawing/2014/main" xmlns="" id="{D59B48BC-E61A-E261-FBD9-E34BD76CBAD3}"/>
              </a:ext>
            </a:extLst>
          </p:cNvPr>
          <p:cNvSpPr txBox="1"/>
          <p:nvPr/>
        </p:nvSpPr>
        <p:spPr>
          <a:xfrm>
            <a:off x="5876800" y="5675728"/>
            <a:ext cx="6096000" cy="369332"/>
          </a:xfrm>
          <a:prstGeom prst="rect">
            <a:avLst/>
          </a:prstGeom>
          <a:noFill/>
        </p:spPr>
        <p:txBody>
          <a:bodyPr wrap="square">
            <a:spAutoFit/>
          </a:bodyPr>
          <a:lstStyle/>
          <a:p>
            <a:pPr algn="ctr"/>
            <a:r>
              <a:rPr lang="en-IN" b="1" dirty="0"/>
              <a:t>Network Address Translation</a:t>
            </a:r>
          </a:p>
        </p:txBody>
      </p:sp>
    </p:spTree>
    <p:extLst>
      <p:ext uri="{BB962C8B-B14F-4D97-AF65-F5344CB8AC3E}">
        <p14:creationId xmlns:p14="http://schemas.microsoft.com/office/powerpoint/2010/main" val="11708523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D35A47-7796-4EE4-9D0B-66EA70792C7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8AD3B25B-64D6-FB57-C0A9-D51A5C33B6B3}"/>
              </a:ext>
            </a:extLst>
          </p:cNvPr>
          <p:cNvSpPr>
            <a:spLocks noGrp="1"/>
          </p:cNvSpPr>
          <p:nvPr>
            <p:ph type="title"/>
          </p:nvPr>
        </p:nvSpPr>
        <p:spPr>
          <a:xfrm>
            <a:off x="726440" y="0"/>
            <a:ext cx="10515600" cy="1325563"/>
          </a:xfrm>
        </p:spPr>
        <p:txBody>
          <a:bodyPr/>
          <a:lstStyle/>
          <a:p>
            <a:pPr algn="ctr"/>
            <a:r>
              <a:rPr lang="en-IN" b="1" dirty="0">
                <a:solidFill>
                  <a:srgbClr val="C00000"/>
                </a:solidFill>
              </a:rPr>
              <a:t>Network Address Translation (NAT)</a:t>
            </a:r>
          </a:p>
        </p:txBody>
      </p:sp>
      <p:sp>
        <p:nvSpPr>
          <p:cNvPr id="5" name="Content Placeholder 4">
            <a:extLst>
              <a:ext uri="{FF2B5EF4-FFF2-40B4-BE49-F238E27FC236}">
                <a16:creationId xmlns:a16="http://schemas.microsoft.com/office/drawing/2014/main" xmlns="" id="{A26F8FC2-FF38-B761-6747-7DDE5EB5E18E}"/>
              </a:ext>
            </a:extLst>
          </p:cNvPr>
          <p:cNvSpPr>
            <a:spLocks noGrp="1"/>
          </p:cNvSpPr>
          <p:nvPr>
            <p:ph idx="1"/>
          </p:nvPr>
        </p:nvSpPr>
        <p:spPr>
          <a:xfrm>
            <a:off x="838200" y="1321753"/>
            <a:ext cx="10515600" cy="5279390"/>
          </a:xfrm>
        </p:spPr>
        <p:txBody>
          <a:bodyPr>
            <a:noAutofit/>
          </a:bodyPr>
          <a:lstStyle/>
          <a:p>
            <a:pPr algn="just"/>
            <a:r>
              <a:rPr lang="en-US" sz="1900" b="1" dirty="0"/>
              <a:t>Network address translation conceals real internal addresses; outsiders who do not know real addresses cannot access them directly.</a:t>
            </a:r>
          </a:p>
          <a:p>
            <a:pPr algn="just"/>
            <a:r>
              <a:rPr lang="en-US" sz="1900" dirty="0"/>
              <a:t>The only complication to this scheme occurs if two internal hosts both contact the same destination address over the same port, which might be expected if two internal hosts independently wanted to access the web page at www.google.com, for example. </a:t>
            </a:r>
          </a:p>
          <a:p>
            <a:pPr algn="just"/>
            <a:r>
              <a:rPr lang="en-US" sz="1900" dirty="0"/>
              <a:t>In this case, the firewall would rewrite the source port number of one requesting host to a random different number so that the firewall could properly retranslate the return. Internal host 192.168.1.35 might become 173.203.129.90 port 4236, and 192.168.1.57 might become 173.203.129.90 port 4966. </a:t>
            </a:r>
          </a:p>
          <a:p>
            <a:pPr algn="just"/>
            <a:r>
              <a:rPr lang="en-US" sz="1900" dirty="0"/>
              <a:t>The outside world sees only one external address, 173.203.129.90 for the whole secured internal network, so outsiders cannot infer the structure of the internal network. </a:t>
            </a:r>
          </a:p>
          <a:p>
            <a:pPr algn="just"/>
            <a:r>
              <a:rPr lang="en-US" sz="1900" dirty="0"/>
              <a:t>Finally, knowing the supposed address of an insider will not help an outsider later: If an outsider crafts traffic to the same address at a later time, the firewall will reject the traffic because the sender’s address is no longer in the translation table. Although primarily used because of another problem (limited public address numbers), network address translation performs a significant security role.</a:t>
            </a:r>
            <a:endParaRPr lang="en-US" sz="1900" b="1" dirty="0"/>
          </a:p>
          <a:p>
            <a:pPr algn="just"/>
            <a:endParaRPr lang="en-IN" sz="1900" b="1" dirty="0"/>
          </a:p>
        </p:txBody>
      </p:sp>
      <p:sp>
        <p:nvSpPr>
          <p:cNvPr id="2" name="Date Placeholder 1">
            <a:extLst>
              <a:ext uri="{FF2B5EF4-FFF2-40B4-BE49-F238E27FC236}">
                <a16:creationId xmlns:a16="http://schemas.microsoft.com/office/drawing/2014/main" xmlns="" id="{9AE73777-8179-95BD-6A05-601AFCBED17B}"/>
              </a:ext>
            </a:extLst>
          </p:cNvPr>
          <p:cNvSpPr>
            <a:spLocks noGrp="1"/>
          </p:cNvSpPr>
          <p:nvPr>
            <p:ph type="dt" sz="half" idx="10"/>
          </p:nvPr>
        </p:nvSpPr>
        <p:spPr/>
        <p:txBody>
          <a:bodyPr/>
          <a:lstStyle/>
          <a:p>
            <a:fld id="{696011AF-E815-48C8-A677-DC2F6F49550C}" type="datetime1">
              <a:rPr lang="en-IN" smtClean="0"/>
              <a:t>26-04-2025</a:t>
            </a:fld>
            <a:endParaRPr lang="en-IN" dirty="0"/>
          </a:p>
        </p:txBody>
      </p:sp>
      <p:sp>
        <p:nvSpPr>
          <p:cNvPr id="3" name="Slide Number Placeholder 2">
            <a:extLst>
              <a:ext uri="{FF2B5EF4-FFF2-40B4-BE49-F238E27FC236}">
                <a16:creationId xmlns:a16="http://schemas.microsoft.com/office/drawing/2014/main" xmlns="" id="{D8F71546-E202-1588-5DB7-9EF109589A1F}"/>
              </a:ext>
            </a:extLst>
          </p:cNvPr>
          <p:cNvSpPr>
            <a:spLocks noGrp="1"/>
          </p:cNvSpPr>
          <p:nvPr>
            <p:ph type="sldNum" sz="quarter" idx="12"/>
          </p:nvPr>
        </p:nvSpPr>
        <p:spPr/>
        <p:txBody>
          <a:bodyPr/>
          <a:lstStyle/>
          <a:p>
            <a:fld id="{F3A9E9E4-B33D-4B71-BC7B-0B7320F1BC06}" type="slidenum">
              <a:rPr lang="en-IN" smtClean="0"/>
              <a:t>51</a:t>
            </a:fld>
            <a:endParaRPr lang="en-IN" dirty="0"/>
          </a:p>
        </p:txBody>
      </p:sp>
    </p:spTree>
    <p:extLst>
      <p:ext uri="{BB962C8B-B14F-4D97-AF65-F5344CB8AC3E}">
        <p14:creationId xmlns:p14="http://schemas.microsoft.com/office/powerpoint/2010/main" val="15564193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C3CB92-3317-92C9-C336-8AB60CE506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46DEBD78-94E6-BCDA-5445-8C35D96CB7F9}"/>
              </a:ext>
            </a:extLst>
          </p:cNvPr>
          <p:cNvSpPr>
            <a:spLocks noGrp="1"/>
          </p:cNvSpPr>
          <p:nvPr>
            <p:ph type="title"/>
          </p:nvPr>
        </p:nvSpPr>
        <p:spPr>
          <a:xfrm>
            <a:off x="838200" y="178593"/>
            <a:ext cx="10515600" cy="1325563"/>
          </a:xfrm>
        </p:spPr>
        <p:txBody>
          <a:bodyPr/>
          <a:lstStyle/>
          <a:p>
            <a:pPr algn="ctr"/>
            <a:r>
              <a:rPr lang="en-IN" b="1" dirty="0">
                <a:solidFill>
                  <a:srgbClr val="C00000"/>
                </a:solidFill>
              </a:rPr>
              <a:t>Data Loss Prevention (DLP)</a:t>
            </a:r>
          </a:p>
        </p:txBody>
      </p:sp>
      <p:sp>
        <p:nvSpPr>
          <p:cNvPr id="5" name="Content Placeholder 4">
            <a:extLst>
              <a:ext uri="{FF2B5EF4-FFF2-40B4-BE49-F238E27FC236}">
                <a16:creationId xmlns:a16="http://schemas.microsoft.com/office/drawing/2014/main" xmlns="" id="{DB6359C2-78AD-9D64-57B8-298AB4D6C466}"/>
              </a:ext>
            </a:extLst>
          </p:cNvPr>
          <p:cNvSpPr>
            <a:spLocks noGrp="1"/>
          </p:cNvSpPr>
          <p:nvPr>
            <p:ph idx="1"/>
          </p:nvPr>
        </p:nvSpPr>
        <p:spPr>
          <a:xfrm>
            <a:off x="919480" y="1665287"/>
            <a:ext cx="10515600" cy="4351338"/>
          </a:xfrm>
        </p:spPr>
        <p:txBody>
          <a:bodyPr>
            <a:noAutofit/>
          </a:bodyPr>
          <a:lstStyle/>
          <a:p>
            <a:pPr algn="just"/>
            <a:r>
              <a:rPr lang="en-US" sz="2200" dirty="0"/>
              <a:t>Data loss prevention (DLP) refers to a set of technologies designed to detect and possibly prevent attempts to send data where it is not allowed to go. </a:t>
            </a:r>
          </a:p>
          <a:p>
            <a:pPr algn="just"/>
            <a:r>
              <a:rPr lang="en-US" sz="2200" dirty="0"/>
              <a:t>Typical data of concern are classified documents, proprietary information, and private personal information (e.g., social security numbers, credit card numbers). </a:t>
            </a:r>
          </a:p>
          <a:p>
            <a:pPr algn="just"/>
            <a:r>
              <a:rPr lang="en-US" sz="2200" dirty="0"/>
              <a:t>DLP can be implemented in a number of ways: </a:t>
            </a:r>
            <a:r>
              <a:rPr lang="en-US" sz="2200" b="1" dirty="0"/>
              <a:t>Agent-based systems </a:t>
            </a:r>
            <a:r>
              <a:rPr lang="en-US" sz="2200" dirty="0"/>
              <a:t>might be installed as OS rootkits that monitor user behavior, including network connections, file accesses, and applications run. </a:t>
            </a:r>
          </a:p>
          <a:p>
            <a:pPr algn="just"/>
            <a:r>
              <a:rPr lang="en-US" sz="2200" b="1" dirty="0"/>
              <a:t>Network-based solutions </a:t>
            </a:r>
            <a:r>
              <a:rPr lang="en-US" sz="2200" dirty="0"/>
              <a:t>monitor network connections, especially file transfers. Other solutions may be </a:t>
            </a:r>
            <a:r>
              <a:rPr lang="en-US" sz="2200" b="1" dirty="0"/>
              <a:t>application-specific, such as software agents for monitoring email</a:t>
            </a:r>
            <a:r>
              <a:rPr lang="en-US" sz="2200" dirty="0"/>
              <a:t>. </a:t>
            </a:r>
          </a:p>
        </p:txBody>
      </p:sp>
      <p:sp>
        <p:nvSpPr>
          <p:cNvPr id="2" name="Date Placeholder 1">
            <a:extLst>
              <a:ext uri="{FF2B5EF4-FFF2-40B4-BE49-F238E27FC236}">
                <a16:creationId xmlns:a16="http://schemas.microsoft.com/office/drawing/2014/main" xmlns="" id="{2FB646D5-9791-4E5E-ACF7-023754645162}"/>
              </a:ext>
            </a:extLst>
          </p:cNvPr>
          <p:cNvSpPr>
            <a:spLocks noGrp="1"/>
          </p:cNvSpPr>
          <p:nvPr>
            <p:ph type="dt" sz="half" idx="10"/>
          </p:nvPr>
        </p:nvSpPr>
        <p:spPr/>
        <p:txBody>
          <a:bodyPr/>
          <a:lstStyle/>
          <a:p>
            <a:fld id="{73633839-7233-4CC9-9684-5307AD701616}" type="datetime1">
              <a:rPr lang="en-IN" smtClean="0"/>
              <a:t>26-04-2025</a:t>
            </a:fld>
            <a:endParaRPr lang="en-IN" dirty="0"/>
          </a:p>
        </p:txBody>
      </p:sp>
      <p:sp>
        <p:nvSpPr>
          <p:cNvPr id="3" name="Slide Number Placeholder 2">
            <a:extLst>
              <a:ext uri="{FF2B5EF4-FFF2-40B4-BE49-F238E27FC236}">
                <a16:creationId xmlns:a16="http://schemas.microsoft.com/office/drawing/2014/main" xmlns="" id="{FC9245BE-23AB-2397-F3B2-B77FA5709FEC}"/>
              </a:ext>
            </a:extLst>
          </p:cNvPr>
          <p:cNvSpPr>
            <a:spLocks noGrp="1"/>
          </p:cNvSpPr>
          <p:nvPr>
            <p:ph type="sldNum" sz="quarter" idx="12"/>
          </p:nvPr>
        </p:nvSpPr>
        <p:spPr/>
        <p:txBody>
          <a:bodyPr/>
          <a:lstStyle/>
          <a:p>
            <a:fld id="{F3A9E9E4-B33D-4B71-BC7B-0B7320F1BC06}" type="slidenum">
              <a:rPr lang="en-IN" smtClean="0"/>
              <a:t>52</a:t>
            </a:fld>
            <a:endParaRPr lang="en-IN" dirty="0"/>
          </a:p>
        </p:txBody>
      </p:sp>
    </p:spTree>
    <p:extLst>
      <p:ext uri="{BB962C8B-B14F-4D97-AF65-F5344CB8AC3E}">
        <p14:creationId xmlns:p14="http://schemas.microsoft.com/office/powerpoint/2010/main" val="3805473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3B276C-F2A3-821E-1D2A-E43546BC5D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BE929C5D-1170-6011-68B9-1AB054DFB8FC}"/>
              </a:ext>
            </a:extLst>
          </p:cNvPr>
          <p:cNvSpPr>
            <a:spLocks noGrp="1"/>
          </p:cNvSpPr>
          <p:nvPr>
            <p:ph type="title"/>
          </p:nvPr>
        </p:nvSpPr>
        <p:spPr>
          <a:xfrm>
            <a:off x="746760" y="0"/>
            <a:ext cx="10515600" cy="1325563"/>
          </a:xfrm>
        </p:spPr>
        <p:txBody>
          <a:bodyPr/>
          <a:lstStyle/>
          <a:p>
            <a:pPr algn="ctr"/>
            <a:r>
              <a:rPr lang="en-IN" b="1" dirty="0">
                <a:solidFill>
                  <a:srgbClr val="C00000"/>
                </a:solidFill>
              </a:rPr>
              <a:t>Data Loss Prevention (DLP)</a:t>
            </a:r>
          </a:p>
        </p:txBody>
      </p:sp>
      <p:sp>
        <p:nvSpPr>
          <p:cNvPr id="5" name="Content Placeholder 4">
            <a:extLst>
              <a:ext uri="{FF2B5EF4-FFF2-40B4-BE49-F238E27FC236}">
                <a16:creationId xmlns:a16="http://schemas.microsoft.com/office/drawing/2014/main" xmlns="" id="{81BEE8D4-E49C-1B5E-A484-2E75171E4C64}"/>
              </a:ext>
            </a:extLst>
          </p:cNvPr>
          <p:cNvSpPr>
            <a:spLocks noGrp="1"/>
          </p:cNvSpPr>
          <p:nvPr>
            <p:ph idx="1"/>
          </p:nvPr>
        </p:nvSpPr>
        <p:spPr>
          <a:xfrm>
            <a:off x="838200" y="1325563"/>
            <a:ext cx="10515600" cy="4351338"/>
          </a:xfrm>
        </p:spPr>
        <p:txBody>
          <a:bodyPr>
            <a:noAutofit/>
          </a:bodyPr>
          <a:lstStyle/>
          <a:p>
            <a:pPr algn="just"/>
            <a:r>
              <a:rPr lang="en-US" sz="2200" dirty="0"/>
              <a:t>DLP solutions will generally look for a variety of indicators: </a:t>
            </a:r>
          </a:p>
          <a:p>
            <a:pPr lvl="1" algn="just"/>
            <a:r>
              <a:rPr lang="en-US" sz="2200" b="1" dirty="0"/>
              <a:t>Keywords</a:t>
            </a:r>
            <a:r>
              <a:rPr lang="en-US" sz="2200" dirty="0"/>
              <a:t>. Certain words or phrases, such as “secret,” “classified,” or “proprietary,” are strong indicators of sensitive data. DLP solutions may also allow customers to search for keywords that have specific meaning for a particular business, such as a codename for a new product. </a:t>
            </a:r>
          </a:p>
          <a:p>
            <a:pPr lvl="1" algn="just"/>
            <a:r>
              <a:rPr lang="en-US" sz="2200" b="1" dirty="0"/>
              <a:t>Traffic patterns. </a:t>
            </a:r>
            <a:r>
              <a:rPr lang="en-US" sz="2200" dirty="0"/>
              <a:t>Some traffic patterns that may indicate suspicious behavior are bulk file transfers, connections to outside email or file sharing services, emails to unknown recipients, and connections to unknown network services.</a:t>
            </a:r>
          </a:p>
          <a:p>
            <a:pPr lvl="1" algn="just"/>
            <a:r>
              <a:rPr lang="en-US" sz="2200" b="1" dirty="0"/>
              <a:t>Encoding/encryption. </a:t>
            </a:r>
            <a:r>
              <a:rPr lang="en-US" sz="2200" dirty="0"/>
              <a:t>DLP can be easily defeated by strong encryption, because no DLP solution can determine the sensitivity of a file it cannot read. To address this issue, DLP solutions commonly block outgoing files that they cannot decode or decrypt. Many malware scanners treat incoming files, such as encrypted email attachments, the same way.</a:t>
            </a:r>
            <a:endParaRPr lang="en-IN" sz="2200" b="1" dirty="0"/>
          </a:p>
        </p:txBody>
      </p:sp>
      <p:sp>
        <p:nvSpPr>
          <p:cNvPr id="2" name="Date Placeholder 1">
            <a:extLst>
              <a:ext uri="{FF2B5EF4-FFF2-40B4-BE49-F238E27FC236}">
                <a16:creationId xmlns:a16="http://schemas.microsoft.com/office/drawing/2014/main" xmlns="" id="{52F36429-97B3-4992-7E91-BFD8A0C44CA6}"/>
              </a:ext>
            </a:extLst>
          </p:cNvPr>
          <p:cNvSpPr>
            <a:spLocks noGrp="1"/>
          </p:cNvSpPr>
          <p:nvPr>
            <p:ph type="dt" sz="half" idx="10"/>
          </p:nvPr>
        </p:nvSpPr>
        <p:spPr/>
        <p:txBody>
          <a:bodyPr/>
          <a:lstStyle/>
          <a:p>
            <a:fld id="{D41CD025-BF2A-4CB6-BE81-183CCB2876CF}" type="datetime1">
              <a:rPr lang="en-IN" smtClean="0"/>
              <a:t>26-04-2025</a:t>
            </a:fld>
            <a:endParaRPr lang="en-IN" dirty="0"/>
          </a:p>
        </p:txBody>
      </p:sp>
      <p:sp>
        <p:nvSpPr>
          <p:cNvPr id="3" name="Slide Number Placeholder 2">
            <a:extLst>
              <a:ext uri="{FF2B5EF4-FFF2-40B4-BE49-F238E27FC236}">
                <a16:creationId xmlns:a16="http://schemas.microsoft.com/office/drawing/2014/main" xmlns="" id="{BF90AD5B-7413-EB32-2DA6-FC90466BB9A5}"/>
              </a:ext>
            </a:extLst>
          </p:cNvPr>
          <p:cNvSpPr>
            <a:spLocks noGrp="1"/>
          </p:cNvSpPr>
          <p:nvPr>
            <p:ph type="sldNum" sz="quarter" idx="12"/>
          </p:nvPr>
        </p:nvSpPr>
        <p:spPr/>
        <p:txBody>
          <a:bodyPr/>
          <a:lstStyle/>
          <a:p>
            <a:fld id="{F3A9E9E4-B33D-4B71-BC7B-0B7320F1BC06}" type="slidenum">
              <a:rPr lang="en-IN" smtClean="0"/>
              <a:t>53</a:t>
            </a:fld>
            <a:endParaRPr lang="en-IN" dirty="0"/>
          </a:p>
        </p:txBody>
      </p:sp>
    </p:spTree>
    <p:extLst>
      <p:ext uri="{BB962C8B-B14F-4D97-AF65-F5344CB8AC3E}">
        <p14:creationId xmlns:p14="http://schemas.microsoft.com/office/powerpoint/2010/main" val="33518912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3530981-007A-7F26-AD44-DB56FBC6FB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B242009C-F0D8-7E02-2485-A93DD8A2DDEF}"/>
              </a:ext>
            </a:extLst>
          </p:cNvPr>
          <p:cNvSpPr>
            <a:spLocks noGrp="1"/>
          </p:cNvSpPr>
          <p:nvPr>
            <p:ph type="title"/>
          </p:nvPr>
        </p:nvSpPr>
        <p:spPr>
          <a:xfrm>
            <a:off x="746760" y="0"/>
            <a:ext cx="10515600" cy="1325563"/>
          </a:xfrm>
        </p:spPr>
        <p:txBody>
          <a:bodyPr/>
          <a:lstStyle/>
          <a:p>
            <a:pPr algn="ctr"/>
            <a:r>
              <a:rPr lang="en-IN" b="1" dirty="0">
                <a:solidFill>
                  <a:srgbClr val="C00000"/>
                </a:solidFill>
              </a:rPr>
              <a:t>Data Loss Prevention (DLP)</a:t>
            </a:r>
          </a:p>
        </p:txBody>
      </p:sp>
      <p:sp>
        <p:nvSpPr>
          <p:cNvPr id="5" name="Content Placeholder 4">
            <a:extLst>
              <a:ext uri="{FF2B5EF4-FFF2-40B4-BE49-F238E27FC236}">
                <a16:creationId xmlns:a16="http://schemas.microsoft.com/office/drawing/2014/main" xmlns="" id="{13197993-4D15-23FA-D8A2-EA7A27AEFC47}"/>
              </a:ext>
            </a:extLst>
          </p:cNvPr>
          <p:cNvSpPr>
            <a:spLocks noGrp="1"/>
          </p:cNvSpPr>
          <p:nvPr>
            <p:ph idx="1"/>
          </p:nvPr>
        </p:nvSpPr>
        <p:spPr>
          <a:xfrm>
            <a:off x="838200" y="1253331"/>
            <a:ext cx="10515600" cy="4351338"/>
          </a:xfrm>
        </p:spPr>
        <p:txBody>
          <a:bodyPr>
            <a:noAutofit/>
          </a:bodyPr>
          <a:lstStyle/>
          <a:p>
            <a:pPr algn="just"/>
            <a:r>
              <a:rPr lang="en-US" sz="2400" dirty="0"/>
              <a:t>While DLP solutions are useful for preventing accidental data leakage, they are more fragile than other security solutions. </a:t>
            </a:r>
          </a:p>
          <a:p>
            <a:pPr algn="just"/>
            <a:r>
              <a:rPr lang="en-US" sz="2400" dirty="0"/>
              <a:t>A determined attacker can frequently find a way to transfer data into a system, although an effective DLP solution may slow the process down or alert security personnel in time to prevent it. </a:t>
            </a:r>
          </a:p>
          <a:p>
            <a:pPr algn="just"/>
            <a:r>
              <a:rPr lang="en-US" sz="2400" dirty="0"/>
              <a:t>Firewalls are sometimes called </a:t>
            </a:r>
            <a:r>
              <a:rPr lang="en-US" sz="2400" b="1" dirty="0"/>
              <a:t>edge devices</a:t>
            </a:r>
            <a:r>
              <a:rPr lang="en-US" sz="2400" dirty="0"/>
              <a:t>, meaning that they are positioned at the boundary of a subnetwork. </a:t>
            </a:r>
          </a:p>
          <a:p>
            <a:pPr algn="just"/>
            <a:r>
              <a:rPr lang="en-US" sz="2400" b="1" dirty="0"/>
              <a:t>DLP approaches can be integrated into a firewall, installed in an operating system, or joined to another application program that manipulates sensitive date. </a:t>
            </a:r>
          </a:p>
          <a:p>
            <a:pPr algn="just"/>
            <a:r>
              <a:rPr lang="en-US" sz="2400" dirty="0"/>
              <a:t>Thus, DLP technologies are not restricted to the edge of a protected subnetwork.</a:t>
            </a:r>
          </a:p>
          <a:p>
            <a:pPr algn="just"/>
            <a:r>
              <a:rPr lang="en-US" sz="2400" dirty="0"/>
              <a:t>Next we focus on </a:t>
            </a:r>
            <a:r>
              <a:rPr lang="en-US" sz="2400" b="1" dirty="0"/>
              <a:t>intrusion detection and protection systems</a:t>
            </a:r>
            <a:r>
              <a:rPr lang="en-US" sz="2400" dirty="0"/>
              <a:t>, monitoring products that are also placed inside a subnetwork.</a:t>
            </a:r>
            <a:endParaRPr lang="en-IN" sz="2400" b="1" dirty="0"/>
          </a:p>
        </p:txBody>
      </p:sp>
      <p:sp>
        <p:nvSpPr>
          <p:cNvPr id="2" name="Date Placeholder 1">
            <a:extLst>
              <a:ext uri="{FF2B5EF4-FFF2-40B4-BE49-F238E27FC236}">
                <a16:creationId xmlns:a16="http://schemas.microsoft.com/office/drawing/2014/main" xmlns="" id="{31F08AFA-99AB-A08C-683F-0422ED5AA50B}"/>
              </a:ext>
            </a:extLst>
          </p:cNvPr>
          <p:cNvSpPr>
            <a:spLocks noGrp="1"/>
          </p:cNvSpPr>
          <p:nvPr>
            <p:ph type="dt" sz="half" idx="10"/>
          </p:nvPr>
        </p:nvSpPr>
        <p:spPr/>
        <p:txBody>
          <a:bodyPr/>
          <a:lstStyle/>
          <a:p>
            <a:fld id="{525D0968-E67B-4AE2-979D-B2A7ABC052B0}" type="datetime1">
              <a:rPr lang="en-IN" smtClean="0"/>
              <a:t>26-04-2025</a:t>
            </a:fld>
            <a:endParaRPr lang="en-IN" dirty="0"/>
          </a:p>
        </p:txBody>
      </p:sp>
      <p:sp>
        <p:nvSpPr>
          <p:cNvPr id="3" name="Slide Number Placeholder 2">
            <a:extLst>
              <a:ext uri="{FF2B5EF4-FFF2-40B4-BE49-F238E27FC236}">
                <a16:creationId xmlns:a16="http://schemas.microsoft.com/office/drawing/2014/main" xmlns="" id="{DEA5F025-2D2D-1B9F-D8B4-8C4EEE0E425D}"/>
              </a:ext>
            </a:extLst>
          </p:cNvPr>
          <p:cNvSpPr>
            <a:spLocks noGrp="1"/>
          </p:cNvSpPr>
          <p:nvPr>
            <p:ph type="sldNum" sz="quarter" idx="12"/>
          </p:nvPr>
        </p:nvSpPr>
        <p:spPr/>
        <p:txBody>
          <a:bodyPr/>
          <a:lstStyle/>
          <a:p>
            <a:fld id="{F3A9E9E4-B33D-4B71-BC7B-0B7320F1BC06}" type="slidenum">
              <a:rPr lang="en-IN" smtClean="0"/>
              <a:t>54</a:t>
            </a:fld>
            <a:endParaRPr lang="en-IN" dirty="0"/>
          </a:p>
        </p:txBody>
      </p:sp>
    </p:spTree>
    <p:extLst>
      <p:ext uri="{BB962C8B-B14F-4D97-AF65-F5344CB8AC3E}">
        <p14:creationId xmlns:p14="http://schemas.microsoft.com/office/powerpoint/2010/main" val="37266576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DBD93B4-7055-1085-8026-295198B549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F36E4E4F-8B9E-4688-7FD7-4AA58A92E319}"/>
              </a:ext>
            </a:extLst>
          </p:cNvPr>
          <p:cNvSpPr>
            <a:spLocks noGrp="1"/>
          </p:cNvSpPr>
          <p:nvPr>
            <p:ph type="title"/>
          </p:nvPr>
        </p:nvSpPr>
        <p:spPr>
          <a:xfrm>
            <a:off x="746760" y="0"/>
            <a:ext cx="10515600" cy="1325563"/>
          </a:xfrm>
        </p:spPr>
        <p:txBody>
          <a:bodyPr/>
          <a:lstStyle/>
          <a:p>
            <a:pPr algn="ctr"/>
            <a:r>
              <a:rPr lang="en-IN" b="1" dirty="0">
                <a:solidFill>
                  <a:srgbClr val="C00000"/>
                </a:solidFill>
              </a:rPr>
              <a:t>Intrusion Detection and Prevention Systems</a:t>
            </a:r>
          </a:p>
        </p:txBody>
      </p:sp>
      <p:sp>
        <p:nvSpPr>
          <p:cNvPr id="5" name="Content Placeholder 4">
            <a:extLst>
              <a:ext uri="{FF2B5EF4-FFF2-40B4-BE49-F238E27FC236}">
                <a16:creationId xmlns:a16="http://schemas.microsoft.com/office/drawing/2014/main" xmlns="" id="{03FB0F24-242D-092E-ABA9-9B39E238CEB3}"/>
              </a:ext>
            </a:extLst>
          </p:cNvPr>
          <p:cNvSpPr>
            <a:spLocks noGrp="1"/>
          </p:cNvSpPr>
          <p:nvPr>
            <p:ph idx="1"/>
          </p:nvPr>
        </p:nvSpPr>
        <p:spPr>
          <a:xfrm>
            <a:off x="838200" y="1253331"/>
            <a:ext cx="10515600" cy="4351338"/>
          </a:xfrm>
        </p:spPr>
        <p:txBody>
          <a:bodyPr>
            <a:noAutofit/>
          </a:bodyPr>
          <a:lstStyle/>
          <a:p>
            <a:pPr algn="just"/>
            <a:r>
              <a:rPr lang="en-US" sz="2000" dirty="0"/>
              <a:t>After the perimeter controls, firewall, and authentication and access controls block certain actions, some users are admitted to use a computing system. Most of these controls are preventive: They block known bad things from happening.</a:t>
            </a:r>
          </a:p>
          <a:p>
            <a:pPr algn="just"/>
            <a:r>
              <a:rPr lang="en-US" sz="2000" dirty="0"/>
              <a:t>Many studies have shown that most computer security incidents are caused by insiders or people impersonating them, people who would not be blocked by a firewall. And insiders require access with significant privileges to do their daily jobs. </a:t>
            </a:r>
          </a:p>
          <a:p>
            <a:pPr algn="just"/>
            <a:r>
              <a:rPr lang="en-US" sz="2000" dirty="0"/>
              <a:t>The vast majority of harm from insiders is not malicious; it is honest people making honest mistakes. Then, too, there are the potential malicious outsiders who have somehow passed the screens of firewalls and access controls. </a:t>
            </a:r>
          </a:p>
          <a:p>
            <a:pPr algn="just"/>
            <a:r>
              <a:rPr lang="en-US" sz="2000" dirty="0"/>
              <a:t>Prevention, although necessary, is not a complete computer security control.</a:t>
            </a:r>
          </a:p>
          <a:p>
            <a:pPr algn="just"/>
            <a:r>
              <a:rPr lang="en-US" sz="2000" dirty="0"/>
              <a:t>Intrusion detection systems complement these preventive controls as the next line of defense.</a:t>
            </a:r>
          </a:p>
          <a:p>
            <a:pPr algn="just"/>
            <a:r>
              <a:rPr lang="en-US" sz="2000" dirty="0"/>
              <a:t>An intrusion detection system (IDS) is a device, typically another separate computer, that monitors activity to identify malicious or suspicious events.</a:t>
            </a:r>
          </a:p>
          <a:p>
            <a:pPr algn="just"/>
            <a:r>
              <a:rPr lang="en-US" sz="2000" b="1" dirty="0"/>
              <a:t>An IDS is a sensor, like a smoke detector, that raises an alarm if specific things occur.</a:t>
            </a:r>
            <a:endParaRPr lang="en-IN" sz="2000" b="1" dirty="0"/>
          </a:p>
        </p:txBody>
      </p:sp>
      <p:sp>
        <p:nvSpPr>
          <p:cNvPr id="2" name="Date Placeholder 1">
            <a:extLst>
              <a:ext uri="{FF2B5EF4-FFF2-40B4-BE49-F238E27FC236}">
                <a16:creationId xmlns:a16="http://schemas.microsoft.com/office/drawing/2014/main" xmlns="" id="{D38FBD63-EDD3-EE43-D656-D1D434CFF2FD}"/>
              </a:ext>
            </a:extLst>
          </p:cNvPr>
          <p:cNvSpPr>
            <a:spLocks noGrp="1"/>
          </p:cNvSpPr>
          <p:nvPr>
            <p:ph type="dt" sz="half" idx="10"/>
          </p:nvPr>
        </p:nvSpPr>
        <p:spPr/>
        <p:txBody>
          <a:bodyPr/>
          <a:lstStyle/>
          <a:p>
            <a:fld id="{5976FD0E-101D-4598-BFFE-464DEC9580BD}" type="datetime1">
              <a:rPr lang="en-IN" smtClean="0"/>
              <a:t>26-04-2025</a:t>
            </a:fld>
            <a:endParaRPr lang="en-IN" dirty="0"/>
          </a:p>
        </p:txBody>
      </p:sp>
      <p:sp>
        <p:nvSpPr>
          <p:cNvPr id="3" name="Slide Number Placeholder 2">
            <a:extLst>
              <a:ext uri="{FF2B5EF4-FFF2-40B4-BE49-F238E27FC236}">
                <a16:creationId xmlns:a16="http://schemas.microsoft.com/office/drawing/2014/main" xmlns="" id="{F522EDFE-A3B6-E4AE-C6F7-CB142594192B}"/>
              </a:ext>
            </a:extLst>
          </p:cNvPr>
          <p:cNvSpPr>
            <a:spLocks noGrp="1"/>
          </p:cNvSpPr>
          <p:nvPr>
            <p:ph type="sldNum" sz="quarter" idx="12"/>
          </p:nvPr>
        </p:nvSpPr>
        <p:spPr/>
        <p:txBody>
          <a:bodyPr/>
          <a:lstStyle/>
          <a:p>
            <a:fld id="{F3A9E9E4-B33D-4B71-BC7B-0B7320F1BC06}" type="slidenum">
              <a:rPr lang="en-IN" smtClean="0"/>
              <a:t>55</a:t>
            </a:fld>
            <a:endParaRPr lang="en-IN" dirty="0"/>
          </a:p>
        </p:txBody>
      </p:sp>
    </p:spTree>
    <p:extLst>
      <p:ext uri="{BB962C8B-B14F-4D97-AF65-F5344CB8AC3E}">
        <p14:creationId xmlns:p14="http://schemas.microsoft.com/office/powerpoint/2010/main" val="22106784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F28951-32A2-9CF2-571E-E36F64C31B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BC8C5692-A52B-D65D-CB96-8B1D3B81F888}"/>
              </a:ext>
            </a:extLst>
          </p:cNvPr>
          <p:cNvSpPr>
            <a:spLocks noGrp="1"/>
          </p:cNvSpPr>
          <p:nvPr>
            <p:ph type="title"/>
          </p:nvPr>
        </p:nvSpPr>
        <p:spPr>
          <a:xfrm>
            <a:off x="838200" y="232568"/>
            <a:ext cx="10515600" cy="1325563"/>
          </a:xfrm>
        </p:spPr>
        <p:txBody>
          <a:bodyPr/>
          <a:lstStyle/>
          <a:p>
            <a:pPr algn="ctr"/>
            <a:r>
              <a:rPr lang="en-IN" b="1" dirty="0">
                <a:solidFill>
                  <a:srgbClr val="C00000"/>
                </a:solidFill>
              </a:rPr>
              <a:t>Intrusion Detection and Prevention Systems</a:t>
            </a:r>
          </a:p>
        </p:txBody>
      </p:sp>
      <p:sp>
        <p:nvSpPr>
          <p:cNvPr id="5" name="Content Placeholder 4">
            <a:extLst>
              <a:ext uri="{FF2B5EF4-FFF2-40B4-BE49-F238E27FC236}">
                <a16:creationId xmlns:a16="http://schemas.microsoft.com/office/drawing/2014/main" xmlns="" id="{C0404E18-7C26-1C19-5A35-B0240DD2D315}"/>
              </a:ext>
            </a:extLst>
          </p:cNvPr>
          <p:cNvSpPr>
            <a:spLocks noGrp="1"/>
          </p:cNvSpPr>
          <p:nvPr>
            <p:ph idx="1"/>
          </p:nvPr>
        </p:nvSpPr>
        <p:spPr>
          <a:xfrm>
            <a:off x="838200" y="1558131"/>
            <a:ext cx="10515600" cy="4351338"/>
          </a:xfrm>
        </p:spPr>
        <p:txBody>
          <a:bodyPr>
            <a:noAutofit/>
          </a:bodyPr>
          <a:lstStyle/>
          <a:p>
            <a:pPr algn="just"/>
            <a:r>
              <a:rPr lang="en-US" sz="2000" dirty="0"/>
              <a:t>As with smoke alarms, detecting danger necessitates action. </a:t>
            </a:r>
          </a:p>
          <a:p>
            <a:pPr algn="just"/>
            <a:r>
              <a:rPr lang="en-US" sz="2000" dirty="0"/>
              <a:t>Whether the response is calling the fire department, activating a sprinkler system, sounding an evacuation alarm, or alerting the control team (or all of these) depends on what advance plans have been made to handle the incident. </a:t>
            </a:r>
          </a:p>
          <a:p>
            <a:pPr algn="just"/>
            <a:r>
              <a:rPr lang="en-US" sz="2000" dirty="0"/>
              <a:t>IDSs likewise have a response function. In many cases the response is to alert a human team that will then decide what further action is warranted. </a:t>
            </a:r>
          </a:p>
          <a:p>
            <a:pPr algn="just"/>
            <a:r>
              <a:rPr lang="en-US" sz="2000" dirty="0"/>
              <a:t>Sometimes, however, the IDS goes into protection mode to isolate a suspected intruder and constrain access. Such a system is called an Intrusion Protection System (IPS</a:t>
            </a:r>
            <a:r>
              <a:rPr lang="en-US" sz="2000"/>
              <a:t>). </a:t>
            </a:r>
            <a:endParaRPr lang="en-IN" sz="2000" b="1" dirty="0"/>
          </a:p>
        </p:txBody>
      </p:sp>
      <p:sp>
        <p:nvSpPr>
          <p:cNvPr id="2" name="Date Placeholder 1">
            <a:extLst>
              <a:ext uri="{FF2B5EF4-FFF2-40B4-BE49-F238E27FC236}">
                <a16:creationId xmlns:a16="http://schemas.microsoft.com/office/drawing/2014/main" xmlns="" id="{CF2B35CD-AE49-4BD7-27EB-F4737A329FE8}"/>
              </a:ext>
            </a:extLst>
          </p:cNvPr>
          <p:cNvSpPr>
            <a:spLocks noGrp="1"/>
          </p:cNvSpPr>
          <p:nvPr>
            <p:ph type="dt" sz="half" idx="10"/>
          </p:nvPr>
        </p:nvSpPr>
        <p:spPr/>
        <p:txBody>
          <a:bodyPr/>
          <a:lstStyle/>
          <a:p>
            <a:fld id="{06465A2D-858D-406F-A0E4-436E26D32017}" type="datetime1">
              <a:rPr lang="en-IN" smtClean="0"/>
              <a:t>26-04-2025</a:t>
            </a:fld>
            <a:endParaRPr lang="en-IN" dirty="0"/>
          </a:p>
        </p:txBody>
      </p:sp>
      <p:sp>
        <p:nvSpPr>
          <p:cNvPr id="3" name="Slide Number Placeholder 2">
            <a:extLst>
              <a:ext uri="{FF2B5EF4-FFF2-40B4-BE49-F238E27FC236}">
                <a16:creationId xmlns:a16="http://schemas.microsoft.com/office/drawing/2014/main" xmlns="" id="{A3F3F366-F001-FA31-E1BB-594A21A03058}"/>
              </a:ext>
            </a:extLst>
          </p:cNvPr>
          <p:cNvSpPr>
            <a:spLocks noGrp="1"/>
          </p:cNvSpPr>
          <p:nvPr>
            <p:ph type="sldNum" sz="quarter" idx="12"/>
          </p:nvPr>
        </p:nvSpPr>
        <p:spPr/>
        <p:txBody>
          <a:bodyPr/>
          <a:lstStyle/>
          <a:p>
            <a:fld id="{F3A9E9E4-B33D-4B71-BC7B-0B7320F1BC06}" type="slidenum">
              <a:rPr lang="en-IN" smtClean="0"/>
              <a:t>56</a:t>
            </a:fld>
            <a:endParaRPr lang="en-IN" dirty="0"/>
          </a:p>
        </p:txBody>
      </p:sp>
    </p:spTree>
    <p:extLst>
      <p:ext uri="{BB962C8B-B14F-4D97-AF65-F5344CB8AC3E}">
        <p14:creationId xmlns:p14="http://schemas.microsoft.com/office/powerpoint/2010/main" val="40910360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E46A6E3-DD48-4D5D-2814-DD26B59B2455}"/>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xmlns="" id="{E13BF15F-F138-1C92-EE66-A4365BF2DBA7}"/>
              </a:ext>
            </a:extLst>
          </p:cNvPr>
          <p:cNvPicPr>
            <a:picLocks noGrp="1" noChangeAspect="1"/>
          </p:cNvPicPr>
          <p:nvPr>
            <p:ph idx="1"/>
          </p:nvPr>
        </p:nvPicPr>
        <p:blipFill>
          <a:blip r:embed="rId2"/>
          <a:stretch>
            <a:fillRect/>
          </a:stretch>
        </p:blipFill>
        <p:spPr>
          <a:xfrm>
            <a:off x="746760" y="501651"/>
            <a:ext cx="6874229" cy="5385458"/>
          </a:xfrm>
        </p:spPr>
      </p:pic>
      <p:sp>
        <p:nvSpPr>
          <p:cNvPr id="2" name="Date Placeholder 1">
            <a:extLst>
              <a:ext uri="{FF2B5EF4-FFF2-40B4-BE49-F238E27FC236}">
                <a16:creationId xmlns:a16="http://schemas.microsoft.com/office/drawing/2014/main" xmlns="" id="{3310E441-F81C-438C-C078-1233BC0DDA64}"/>
              </a:ext>
            </a:extLst>
          </p:cNvPr>
          <p:cNvSpPr>
            <a:spLocks noGrp="1"/>
          </p:cNvSpPr>
          <p:nvPr>
            <p:ph type="dt" sz="half" idx="10"/>
          </p:nvPr>
        </p:nvSpPr>
        <p:spPr/>
        <p:txBody>
          <a:bodyPr/>
          <a:lstStyle/>
          <a:p>
            <a:fld id="{EC91AA0E-02E1-4718-804A-0BA918E043ED}" type="datetime1">
              <a:rPr lang="en-IN" smtClean="0"/>
              <a:t>26-04-2025</a:t>
            </a:fld>
            <a:endParaRPr lang="en-IN" dirty="0"/>
          </a:p>
        </p:txBody>
      </p:sp>
      <p:sp>
        <p:nvSpPr>
          <p:cNvPr id="3" name="Slide Number Placeholder 2">
            <a:extLst>
              <a:ext uri="{FF2B5EF4-FFF2-40B4-BE49-F238E27FC236}">
                <a16:creationId xmlns:a16="http://schemas.microsoft.com/office/drawing/2014/main" xmlns="" id="{E92020C3-5F66-8F5D-E23E-FE1ED8615C67}"/>
              </a:ext>
            </a:extLst>
          </p:cNvPr>
          <p:cNvSpPr>
            <a:spLocks noGrp="1"/>
          </p:cNvSpPr>
          <p:nvPr>
            <p:ph type="sldNum" sz="quarter" idx="12"/>
          </p:nvPr>
        </p:nvSpPr>
        <p:spPr/>
        <p:txBody>
          <a:bodyPr/>
          <a:lstStyle/>
          <a:p>
            <a:fld id="{F3A9E9E4-B33D-4B71-BC7B-0B7320F1BC06}" type="slidenum">
              <a:rPr lang="en-IN" smtClean="0"/>
              <a:t>57</a:t>
            </a:fld>
            <a:endParaRPr lang="en-IN" dirty="0"/>
          </a:p>
        </p:txBody>
      </p:sp>
      <p:sp>
        <p:nvSpPr>
          <p:cNvPr id="9" name="TextBox 8">
            <a:extLst>
              <a:ext uri="{FF2B5EF4-FFF2-40B4-BE49-F238E27FC236}">
                <a16:creationId xmlns:a16="http://schemas.microsoft.com/office/drawing/2014/main" xmlns="" id="{0F90F6C6-2D54-ADB4-0E73-56B4B9660292}"/>
              </a:ext>
            </a:extLst>
          </p:cNvPr>
          <p:cNvSpPr txBox="1"/>
          <p:nvPr/>
        </p:nvSpPr>
        <p:spPr>
          <a:xfrm>
            <a:off x="1026160" y="5987018"/>
            <a:ext cx="6096000" cy="369332"/>
          </a:xfrm>
          <a:prstGeom prst="rect">
            <a:avLst/>
          </a:prstGeom>
          <a:noFill/>
        </p:spPr>
        <p:txBody>
          <a:bodyPr wrap="square">
            <a:spAutoFit/>
          </a:bodyPr>
          <a:lstStyle/>
          <a:p>
            <a:pPr algn="ctr"/>
            <a:r>
              <a:rPr lang="en-US" b="1" dirty="0"/>
              <a:t>Model of an Intrusion Detection System</a:t>
            </a:r>
            <a:endParaRPr lang="en-IN" b="1" dirty="0"/>
          </a:p>
        </p:txBody>
      </p:sp>
      <p:sp>
        <p:nvSpPr>
          <p:cNvPr id="13" name="TextBox 12">
            <a:extLst>
              <a:ext uri="{FF2B5EF4-FFF2-40B4-BE49-F238E27FC236}">
                <a16:creationId xmlns:a16="http://schemas.microsoft.com/office/drawing/2014/main" xmlns="" id="{52AF974B-7150-D0AF-C58F-6E6874B395A2}"/>
              </a:ext>
            </a:extLst>
          </p:cNvPr>
          <p:cNvSpPr txBox="1"/>
          <p:nvPr/>
        </p:nvSpPr>
        <p:spPr>
          <a:xfrm>
            <a:off x="7122160" y="1440054"/>
            <a:ext cx="4704080" cy="3139321"/>
          </a:xfrm>
          <a:prstGeom prst="rect">
            <a:avLst/>
          </a:prstGeom>
          <a:noFill/>
        </p:spPr>
        <p:txBody>
          <a:bodyPr wrap="square">
            <a:spAutoFit/>
          </a:bodyPr>
          <a:lstStyle/>
          <a:p>
            <a:pPr marL="285750" indent="-285750" algn="just">
              <a:buFont typeface="Arial" panose="020B0604020202020204" pitchFamily="34" charset="0"/>
              <a:buChar char="•"/>
            </a:pPr>
            <a:r>
              <a:rPr lang="en-US" sz="2200" dirty="0"/>
              <a:t>The components in the figure are the four basic elements of an intrusion detection system, based on the Common Intrusion Detection Framework. </a:t>
            </a:r>
          </a:p>
          <a:p>
            <a:pPr marL="285750" indent="-285750" algn="just">
              <a:buFont typeface="Arial" panose="020B0604020202020204" pitchFamily="34" charset="0"/>
              <a:buChar char="•"/>
            </a:pPr>
            <a:r>
              <a:rPr lang="en-US" sz="2200" dirty="0"/>
              <a:t>An IDS receives raw inputs from sensors. It saves those inputs, analyzes them, and takes some controlling action.</a:t>
            </a:r>
            <a:endParaRPr lang="en-IN" sz="2200" dirty="0"/>
          </a:p>
        </p:txBody>
      </p:sp>
    </p:spTree>
    <p:extLst>
      <p:ext uri="{BB962C8B-B14F-4D97-AF65-F5344CB8AC3E}">
        <p14:creationId xmlns:p14="http://schemas.microsoft.com/office/powerpoint/2010/main" val="25706983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C672A2B-590A-E420-B5AB-6A231AF571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xmlns="" id="{BCF2F4F8-C010-592B-5CF4-5BB0F711796F}"/>
              </a:ext>
            </a:extLst>
          </p:cNvPr>
          <p:cNvSpPr>
            <a:spLocks noGrp="1"/>
          </p:cNvSpPr>
          <p:nvPr>
            <p:ph type="title"/>
          </p:nvPr>
        </p:nvSpPr>
        <p:spPr>
          <a:xfrm>
            <a:off x="746760" y="0"/>
            <a:ext cx="10515600" cy="1325563"/>
          </a:xfrm>
        </p:spPr>
        <p:txBody>
          <a:bodyPr/>
          <a:lstStyle/>
          <a:p>
            <a:pPr algn="ctr"/>
            <a:r>
              <a:rPr lang="en-IN" b="1" dirty="0">
                <a:solidFill>
                  <a:srgbClr val="C00000"/>
                </a:solidFill>
              </a:rPr>
              <a:t>Intrusion Detection and Prevention Systems</a:t>
            </a:r>
          </a:p>
        </p:txBody>
      </p:sp>
      <p:sp>
        <p:nvSpPr>
          <p:cNvPr id="5" name="Content Placeholder 4">
            <a:extLst>
              <a:ext uri="{FF2B5EF4-FFF2-40B4-BE49-F238E27FC236}">
                <a16:creationId xmlns:a16="http://schemas.microsoft.com/office/drawing/2014/main" xmlns="" id="{BC9DFB4C-4E1E-946A-62A1-33445EC80341}"/>
              </a:ext>
            </a:extLst>
          </p:cNvPr>
          <p:cNvSpPr>
            <a:spLocks noGrp="1"/>
          </p:cNvSpPr>
          <p:nvPr>
            <p:ph idx="1"/>
          </p:nvPr>
        </p:nvSpPr>
        <p:spPr>
          <a:xfrm>
            <a:off x="838200" y="1253331"/>
            <a:ext cx="10515600" cy="4351338"/>
          </a:xfrm>
        </p:spPr>
        <p:txBody>
          <a:bodyPr>
            <a:noAutofit/>
          </a:bodyPr>
          <a:lstStyle/>
          <a:p>
            <a:pPr algn="just"/>
            <a:r>
              <a:rPr lang="en-US" sz="2200" dirty="0"/>
              <a:t>IDSs perform a variety of functions: </a:t>
            </a:r>
          </a:p>
          <a:p>
            <a:pPr lvl="1" algn="just"/>
            <a:r>
              <a:rPr lang="en-US" sz="2200" dirty="0"/>
              <a:t>monitoring users and system activity </a:t>
            </a:r>
          </a:p>
          <a:p>
            <a:pPr lvl="1" algn="just"/>
            <a:r>
              <a:rPr lang="en-US" sz="2200" dirty="0"/>
              <a:t>auditing system configuration for vulnerabilities and misconfigurations </a:t>
            </a:r>
          </a:p>
          <a:p>
            <a:pPr lvl="1" algn="just"/>
            <a:r>
              <a:rPr lang="en-US" sz="2200" dirty="0"/>
              <a:t>assessing the integrity of critical system and data files </a:t>
            </a:r>
          </a:p>
          <a:p>
            <a:pPr lvl="1" algn="just"/>
            <a:r>
              <a:rPr lang="en-US" sz="2200" dirty="0"/>
              <a:t>recognizing known attack patterns in system activity </a:t>
            </a:r>
          </a:p>
          <a:p>
            <a:pPr lvl="1" algn="just"/>
            <a:r>
              <a:rPr lang="en-US" sz="2200" dirty="0"/>
              <a:t>identifying abnormal activity through statistical analysis </a:t>
            </a:r>
          </a:p>
          <a:p>
            <a:pPr lvl="1" algn="just"/>
            <a:r>
              <a:rPr lang="en-US" sz="2200" dirty="0"/>
              <a:t>managing audit trails and highlighting user violation of policy or normal activity </a:t>
            </a:r>
          </a:p>
          <a:p>
            <a:pPr lvl="1" algn="just"/>
            <a:r>
              <a:rPr lang="en-US" sz="2200" dirty="0"/>
              <a:t>correcting system configuration errors </a:t>
            </a:r>
          </a:p>
          <a:p>
            <a:pPr lvl="1" algn="just"/>
            <a:r>
              <a:rPr lang="en-US" sz="2200" dirty="0"/>
              <a:t>installing and operating traps to record information about intruders</a:t>
            </a:r>
          </a:p>
          <a:p>
            <a:pPr algn="just"/>
            <a:r>
              <a:rPr lang="en-US" sz="2200" dirty="0"/>
              <a:t>No one IDS performs all of these functions.</a:t>
            </a:r>
            <a:endParaRPr lang="en-IN" sz="2200" b="1" dirty="0"/>
          </a:p>
        </p:txBody>
      </p:sp>
      <p:sp>
        <p:nvSpPr>
          <p:cNvPr id="2" name="Date Placeholder 1">
            <a:extLst>
              <a:ext uri="{FF2B5EF4-FFF2-40B4-BE49-F238E27FC236}">
                <a16:creationId xmlns:a16="http://schemas.microsoft.com/office/drawing/2014/main" xmlns="" id="{226F4355-845B-5549-3F8E-99B3439BDFA4}"/>
              </a:ext>
            </a:extLst>
          </p:cNvPr>
          <p:cNvSpPr>
            <a:spLocks noGrp="1"/>
          </p:cNvSpPr>
          <p:nvPr>
            <p:ph type="dt" sz="half" idx="10"/>
          </p:nvPr>
        </p:nvSpPr>
        <p:spPr/>
        <p:txBody>
          <a:bodyPr/>
          <a:lstStyle/>
          <a:p>
            <a:fld id="{5505232F-90DE-4443-9937-4F862F0648D5}" type="datetime1">
              <a:rPr lang="en-IN" smtClean="0"/>
              <a:t>26-04-2025</a:t>
            </a:fld>
            <a:endParaRPr lang="en-IN" dirty="0"/>
          </a:p>
        </p:txBody>
      </p:sp>
      <p:sp>
        <p:nvSpPr>
          <p:cNvPr id="3" name="Slide Number Placeholder 2">
            <a:extLst>
              <a:ext uri="{FF2B5EF4-FFF2-40B4-BE49-F238E27FC236}">
                <a16:creationId xmlns:a16="http://schemas.microsoft.com/office/drawing/2014/main" xmlns="" id="{2E60B68C-B321-E7C0-410B-E21BD8CD869F}"/>
              </a:ext>
            </a:extLst>
          </p:cNvPr>
          <p:cNvSpPr>
            <a:spLocks noGrp="1"/>
          </p:cNvSpPr>
          <p:nvPr>
            <p:ph type="sldNum" sz="quarter" idx="12"/>
          </p:nvPr>
        </p:nvSpPr>
        <p:spPr/>
        <p:txBody>
          <a:bodyPr/>
          <a:lstStyle/>
          <a:p>
            <a:fld id="{F3A9E9E4-B33D-4B71-BC7B-0B7320F1BC06}" type="slidenum">
              <a:rPr lang="en-IN" smtClean="0"/>
              <a:t>58</a:t>
            </a:fld>
            <a:endParaRPr lang="en-IN" dirty="0"/>
          </a:p>
        </p:txBody>
      </p:sp>
    </p:spTree>
    <p:extLst>
      <p:ext uri="{BB962C8B-B14F-4D97-AF65-F5344CB8AC3E}">
        <p14:creationId xmlns:p14="http://schemas.microsoft.com/office/powerpoint/2010/main" val="22978295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0A556F-6999-F3B3-A119-4688278BAD76}"/>
              </a:ext>
            </a:extLst>
          </p:cNvPr>
          <p:cNvSpPr>
            <a:spLocks noGrp="1"/>
          </p:cNvSpPr>
          <p:nvPr>
            <p:ph type="title"/>
          </p:nvPr>
        </p:nvSpPr>
        <p:spPr>
          <a:xfrm>
            <a:off x="716280" y="0"/>
            <a:ext cx="10515600" cy="1325563"/>
          </a:xfrm>
        </p:spPr>
        <p:txBody>
          <a:bodyPr/>
          <a:lstStyle/>
          <a:p>
            <a:pPr algn="ctr"/>
            <a:r>
              <a:rPr lang="en-IN" b="1" dirty="0">
                <a:solidFill>
                  <a:srgbClr val="C00000"/>
                </a:solidFill>
              </a:rPr>
              <a:t>Types of IDSs</a:t>
            </a:r>
          </a:p>
        </p:txBody>
      </p:sp>
      <p:sp>
        <p:nvSpPr>
          <p:cNvPr id="3" name="Content Placeholder 2">
            <a:extLst>
              <a:ext uri="{FF2B5EF4-FFF2-40B4-BE49-F238E27FC236}">
                <a16:creationId xmlns:a16="http://schemas.microsoft.com/office/drawing/2014/main" xmlns="" id="{9686025D-66AC-2293-F59A-7D17E06E444F}"/>
              </a:ext>
            </a:extLst>
          </p:cNvPr>
          <p:cNvSpPr>
            <a:spLocks noGrp="1"/>
          </p:cNvSpPr>
          <p:nvPr>
            <p:ph idx="1"/>
          </p:nvPr>
        </p:nvSpPr>
        <p:spPr>
          <a:xfrm>
            <a:off x="838200" y="1482725"/>
            <a:ext cx="10515600" cy="4716463"/>
          </a:xfrm>
        </p:spPr>
        <p:txBody>
          <a:bodyPr>
            <a:normAutofit/>
          </a:bodyPr>
          <a:lstStyle/>
          <a:p>
            <a:pPr algn="just"/>
            <a:r>
              <a:rPr lang="en-US" sz="2200" dirty="0"/>
              <a:t>The two general types of intrusion detection systems are </a:t>
            </a:r>
            <a:r>
              <a:rPr lang="en-US" sz="2200" b="1" dirty="0"/>
              <a:t>signature based and heuristic. </a:t>
            </a:r>
          </a:p>
          <a:p>
            <a:pPr algn="just"/>
            <a:r>
              <a:rPr lang="en-US" sz="2200" b="1" dirty="0"/>
              <a:t>Signature-based intrusion detection systems </a:t>
            </a:r>
            <a:r>
              <a:rPr lang="en-US" sz="2200" dirty="0"/>
              <a:t>perform simple pattern-matching and report situations that match a pattern (signature) corresponding to a known attack type. </a:t>
            </a:r>
          </a:p>
          <a:p>
            <a:pPr algn="just"/>
            <a:r>
              <a:rPr lang="en-US" sz="2200" b="1" dirty="0"/>
              <a:t>Heuristic intrusion detection systems</a:t>
            </a:r>
            <a:r>
              <a:rPr lang="en-US" sz="2200" dirty="0"/>
              <a:t>, also known as </a:t>
            </a:r>
            <a:r>
              <a:rPr lang="en-US" sz="2200" b="1" dirty="0"/>
              <a:t>anomaly based</a:t>
            </a:r>
            <a:r>
              <a:rPr lang="en-US" sz="2200" dirty="0"/>
              <a:t>, build a model of acceptable behavior and flag exceptions to that model; for the future, the administrator can mark a flagged behavior as acceptable so that the heuristic IDS will now treat that previously unclassified behavior as acceptable. Thus, heuristic intrusion detection systems are said to learn what constitute anomalies or improper behavior. </a:t>
            </a:r>
          </a:p>
          <a:p>
            <a:pPr algn="just"/>
            <a:r>
              <a:rPr lang="en-US" sz="2200" dirty="0"/>
              <a:t>This learning occurs as an artificial intelligence component of the tool, the </a:t>
            </a:r>
            <a:r>
              <a:rPr lang="en-US" sz="2200" b="1" dirty="0"/>
              <a:t>inference engine</a:t>
            </a:r>
            <a:r>
              <a:rPr lang="en-US" sz="2200" dirty="0"/>
              <a:t>, identifies pieces of attacks and rates the degree to which these pieces are associated with malicious behavior.</a:t>
            </a:r>
          </a:p>
        </p:txBody>
      </p:sp>
      <p:sp>
        <p:nvSpPr>
          <p:cNvPr id="4" name="Date Placeholder 3">
            <a:extLst>
              <a:ext uri="{FF2B5EF4-FFF2-40B4-BE49-F238E27FC236}">
                <a16:creationId xmlns:a16="http://schemas.microsoft.com/office/drawing/2014/main" xmlns="" id="{32DFA56A-937C-9340-3CFC-0BFD1B633BE2}"/>
              </a:ext>
            </a:extLst>
          </p:cNvPr>
          <p:cNvSpPr>
            <a:spLocks noGrp="1"/>
          </p:cNvSpPr>
          <p:nvPr>
            <p:ph type="dt" sz="half" idx="10"/>
          </p:nvPr>
        </p:nvSpPr>
        <p:spPr/>
        <p:txBody>
          <a:bodyPr/>
          <a:lstStyle/>
          <a:p>
            <a:fld id="{50DA71BA-922B-4074-9638-8B69518AE616}" type="datetime1">
              <a:rPr lang="en-IN" smtClean="0"/>
              <a:t>26-04-2025</a:t>
            </a:fld>
            <a:endParaRPr lang="en-IN" dirty="0"/>
          </a:p>
        </p:txBody>
      </p:sp>
      <p:sp>
        <p:nvSpPr>
          <p:cNvPr id="5" name="Slide Number Placeholder 4">
            <a:extLst>
              <a:ext uri="{FF2B5EF4-FFF2-40B4-BE49-F238E27FC236}">
                <a16:creationId xmlns:a16="http://schemas.microsoft.com/office/drawing/2014/main" xmlns="" id="{D6AA1BAE-AEBE-97E2-8921-A26D2DF03E51}"/>
              </a:ext>
            </a:extLst>
          </p:cNvPr>
          <p:cNvSpPr>
            <a:spLocks noGrp="1"/>
          </p:cNvSpPr>
          <p:nvPr>
            <p:ph type="sldNum" sz="quarter" idx="12"/>
          </p:nvPr>
        </p:nvSpPr>
        <p:spPr/>
        <p:txBody>
          <a:bodyPr/>
          <a:lstStyle/>
          <a:p>
            <a:fld id="{F3A9E9E4-B33D-4B71-BC7B-0B7320F1BC06}" type="slidenum">
              <a:rPr lang="en-IN" smtClean="0"/>
              <a:t>59</a:t>
            </a:fld>
            <a:endParaRPr lang="en-IN" dirty="0"/>
          </a:p>
        </p:txBody>
      </p:sp>
    </p:spTree>
    <p:extLst>
      <p:ext uri="{BB962C8B-B14F-4D97-AF65-F5344CB8AC3E}">
        <p14:creationId xmlns:p14="http://schemas.microsoft.com/office/powerpoint/2010/main" val="21433392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5211971-4C04-8BD5-4D5E-684C39533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41476AA-E2FA-6BAA-C7DB-00C1F96C1859}"/>
              </a:ext>
            </a:extLst>
          </p:cNvPr>
          <p:cNvSpPr>
            <a:spLocks noGrp="1"/>
          </p:cNvSpPr>
          <p:nvPr>
            <p:ph type="title"/>
          </p:nvPr>
        </p:nvSpPr>
        <p:spPr>
          <a:xfrm>
            <a:off x="716280" y="0"/>
            <a:ext cx="10515600" cy="1325563"/>
          </a:xfrm>
        </p:spPr>
        <p:txBody>
          <a:bodyPr/>
          <a:lstStyle/>
          <a:p>
            <a:pPr algn="ctr"/>
            <a:r>
              <a:rPr lang="en-IN" b="1" dirty="0">
                <a:solidFill>
                  <a:srgbClr val="C00000"/>
                </a:solidFill>
              </a:rPr>
              <a:t>Types of IDSs</a:t>
            </a:r>
          </a:p>
        </p:txBody>
      </p:sp>
      <p:sp>
        <p:nvSpPr>
          <p:cNvPr id="3" name="Content Placeholder 2">
            <a:extLst>
              <a:ext uri="{FF2B5EF4-FFF2-40B4-BE49-F238E27FC236}">
                <a16:creationId xmlns:a16="http://schemas.microsoft.com/office/drawing/2014/main" xmlns="" id="{BB09B0D4-8D57-CD0D-DEA7-1FA8D47E4D1D}"/>
              </a:ext>
            </a:extLst>
          </p:cNvPr>
          <p:cNvSpPr>
            <a:spLocks noGrp="1"/>
          </p:cNvSpPr>
          <p:nvPr>
            <p:ph idx="1"/>
          </p:nvPr>
        </p:nvSpPr>
        <p:spPr>
          <a:xfrm>
            <a:off x="838200" y="1325563"/>
            <a:ext cx="10515600" cy="4716463"/>
          </a:xfrm>
        </p:spPr>
        <p:txBody>
          <a:bodyPr>
            <a:normAutofit/>
          </a:bodyPr>
          <a:lstStyle/>
          <a:p>
            <a:pPr algn="just"/>
            <a:r>
              <a:rPr lang="en-US" sz="2200" b="1" dirty="0"/>
              <a:t>Signature-based IDSs look for patterns; heuristic ones learn characteristics of unacceptable behavior over time.</a:t>
            </a:r>
          </a:p>
          <a:p>
            <a:pPr algn="just"/>
            <a:r>
              <a:rPr lang="en-US" sz="2200" dirty="0"/>
              <a:t>Intrusion detection devices can be </a:t>
            </a:r>
            <a:r>
              <a:rPr lang="en-US" sz="2200" b="1" dirty="0"/>
              <a:t>network based or host based</a:t>
            </a:r>
            <a:r>
              <a:rPr lang="en-US" sz="2200" dirty="0"/>
              <a:t>.</a:t>
            </a:r>
          </a:p>
          <a:p>
            <a:pPr lvl="1" algn="just"/>
            <a:r>
              <a:rPr lang="en-US" sz="2200" dirty="0"/>
              <a:t> A </a:t>
            </a:r>
            <a:r>
              <a:rPr lang="en-US" sz="2200" b="1" dirty="0"/>
              <a:t>network-based IDS </a:t>
            </a:r>
            <a:r>
              <a:rPr lang="en-US" sz="2200" dirty="0"/>
              <a:t>is a stand-alone device attached to the network to monitor traffic throughout that network.</a:t>
            </a:r>
          </a:p>
          <a:p>
            <a:pPr lvl="1" algn="just"/>
            <a:r>
              <a:rPr lang="en-US" sz="2200" dirty="0"/>
              <a:t>A </a:t>
            </a:r>
            <a:r>
              <a:rPr lang="en-US" sz="2200" b="1" dirty="0"/>
              <a:t>host-based IDS </a:t>
            </a:r>
            <a:r>
              <a:rPr lang="en-US" sz="2200" dirty="0"/>
              <a:t>runs on a single workstation or client or host, to protect that one host.</a:t>
            </a:r>
            <a:endParaRPr lang="en-IN" sz="2200" b="1" dirty="0"/>
          </a:p>
        </p:txBody>
      </p:sp>
      <p:sp>
        <p:nvSpPr>
          <p:cNvPr id="4" name="Date Placeholder 3">
            <a:extLst>
              <a:ext uri="{FF2B5EF4-FFF2-40B4-BE49-F238E27FC236}">
                <a16:creationId xmlns:a16="http://schemas.microsoft.com/office/drawing/2014/main" xmlns="" id="{B36375E4-B290-3C4B-C564-D3E8244B2728}"/>
              </a:ext>
            </a:extLst>
          </p:cNvPr>
          <p:cNvSpPr>
            <a:spLocks noGrp="1"/>
          </p:cNvSpPr>
          <p:nvPr>
            <p:ph type="dt" sz="half" idx="10"/>
          </p:nvPr>
        </p:nvSpPr>
        <p:spPr/>
        <p:txBody>
          <a:bodyPr/>
          <a:lstStyle/>
          <a:p>
            <a:fld id="{A85BF183-2AE3-4A19-A559-8E7AE7472924}" type="datetime1">
              <a:rPr lang="en-IN" smtClean="0"/>
              <a:t>26-04-2025</a:t>
            </a:fld>
            <a:endParaRPr lang="en-IN" dirty="0"/>
          </a:p>
        </p:txBody>
      </p:sp>
      <p:sp>
        <p:nvSpPr>
          <p:cNvPr id="5" name="Slide Number Placeholder 4">
            <a:extLst>
              <a:ext uri="{FF2B5EF4-FFF2-40B4-BE49-F238E27FC236}">
                <a16:creationId xmlns:a16="http://schemas.microsoft.com/office/drawing/2014/main" xmlns="" id="{2C1CC177-97BB-FEEC-E430-1AE528C7D1F6}"/>
              </a:ext>
            </a:extLst>
          </p:cNvPr>
          <p:cNvSpPr>
            <a:spLocks noGrp="1"/>
          </p:cNvSpPr>
          <p:nvPr>
            <p:ph type="sldNum" sz="quarter" idx="12"/>
          </p:nvPr>
        </p:nvSpPr>
        <p:spPr/>
        <p:txBody>
          <a:bodyPr/>
          <a:lstStyle/>
          <a:p>
            <a:fld id="{F3A9E9E4-B33D-4B71-BC7B-0B7320F1BC06}" type="slidenum">
              <a:rPr lang="en-IN" smtClean="0"/>
              <a:t>60</a:t>
            </a:fld>
            <a:endParaRPr lang="en-IN" dirty="0"/>
          </a:p>
        </p:txBody>
      </p:sp>
    </p:spTree>
    <p:extLst>
      <p:ext uri="{BB962C8B-B14F-4D97-AF65-F5344CB8AC3E}">
        <p14:creationId xmlns:p14="http://schemas.microsoft.com/office/powerpoint/2010/main" val="30328118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B279E4E-9B2F-FD54-960D-E680CB1F8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0235557-F080-50A3-10C5-AE001E3AF4CD}"/>
              </a:ext>
            </a:extLst>
          </p:cNvPr>
          <p:cNvSpPr>
            <a:spLocks noGrp="1"/>
          </p:cNvSpPr>
          <p:nvPr>
            <p:ph type="title"/>
          </p:nvPr>
        </p:nvSpPr>
        <p:spPr>
          <a:xfrm>
            <a:off x="716280" y="0"/>
            <a:ext cx="10515600" cy="1325563"/>
          </a:xfrm>
        </p:spPr>
        <p:txBody>
          <a:bodyPr/>
          <a:lstStyle/>
          <a:p>
            <a:pPr algn="ctr"/>
            <a:r>
              <a:rPr lang="en-IN" b="1" dirty="0">
                <a:solidFill>
                  <a:srgbClr val="C00000"/>
                </a:solidFill>
              </a:rPr>
              <a:t>Signature Based Intrusion Detection</a:t>
            </a:r>
          </a:p>
        </p:txBody>
      </p:sp>
      <p:sp>
        <p:nvSpPr>
          <p:cNvPr id="3" name="Content Placeholder 2">
            <a:extLst>
              <a:ext uri="{FF2B5EF4-FFF2-40B4-BE49-F238E27FC236}">
                <a16:creationId xmlns:a16="http://schemas.microsoft.com/office/drawing/2014/main" xmlns="" id="{FAA96973-BBFD-C427-1C32-A3BDE9AE7DFF}"/>
              </a:ext>
            </a:extLst>
          </p:cNvPr>
          <p:cNvSpPr>
            <a:spLocks noGrp="1"/>
          </p:cNvSpPr>
          <p:nvPr>
            <p:ph idx="1"/>
          </p:nvPr>
        </p:nvSpPr>
        <p:spPr>
          <a:xfrm>
            <a:off x="838200" y="1223963"/>
            <a:ext cx="10515600" cy="4716463"/>
          </a:xfrm>
        </p:spPr>
        <p:txBody>
          <a:bodyPr>
            <a:noAutofit/>
          </a:bodyPr>
          <a:lstStyle/>
          <a:p>
            <a:pPr algn="just"/>
            <a:r>
              <a:rPr lang="en-US" sz="2000" dirty="0"/>
              <a:t>A simple signature for a known attack type might describe a series of TCP SYN packets sent to many different ports in succession and at times close to one another, as would be the case for a port scan. </a:t>
            </a:r>
          </a:p>
          <a:p>
            <a:pPr algn="just"/>
            <a:r>
              <a:rPr lang="en-US" sz="2000" dirty="0"/>
              <a:t>An intrusion detection system would probably find nothing unusual in the first SYN, say, to port 80, and then another (from the same source address) to port 25. But as more and more ports receive SYN packets, especially ports that normally receive little traffic, this pattern reflects a possible port scan.</a:t>
            </a:r>
          </a:p>
          <a:p>
            <a:pPr algn="just"/>
            <a:r>
              <a:rPr lang="en-US" sz="2000" b="1" dirty="0"/>
              <a:t>The problem with signature-based detection is the signatures themselves</a:t>
            </a:r>
            <a:r>
              <a:rPr lang="en-US" sz="2000" dirty="0"/>
              <a:t>. An attacker will try to modify a basic attack in such a way that it will not match the known signature of that attack. For example, the attacker may convert lowercase to uppercase letters or convert a symbol such as “blank space” to its character code equivalent %20. </a:t>
            </a:r>
          </a:p>
          <a:p>
            <a:pPr algn="just"/>
            <a:r>
              <a:rPr lang="en-US" sz="2000" dirty="0"/>
              <a:t>The IDS must necessarily work from a canonical form of the data stream to recognize that %20 matches a pattern with a blank space. The attacker may insert spurious packets that the IDS will see, or shuffle the order of reconnaissance probes, to intentionally cause a pattern mismatch. </a:t>
            </a:r>
          </a:p>
          <a:p>
            <a:pPr algn="just"/>
            <a:r>
              <a:rPr lang="en-US" sz="2000" dirty="0"/>
              <a:t>Each of these variations could be detected by an IDS, but more signatures require additional work for the IDS, thereby reducing performance.</a:t>
            </a:r>
            <a:endParaRPr lang="en-IN" sz="2000" b="1" dirty="0"/>
          </a:p>
        </p:txBody>
      </p:sp>
      <p:sp>
        <p:nvSpPr>
          <p:cNvPr id="4" name="Date Placeholder 3">
            <a:extLst>
              <a:ext uri="{FF2B5EF4-FFF2-40B4-BE49-F238E27FC236}">
                <a16:creationId xmlns:a16="http://schemas.microsoft.com/office/drawing/2014/main" xmlns="" id="{C1906F7E-2612-4E1C-9768-EC8C40BCF319}"/>
              </a:ext>
            </a:extLst>
          </p:cNvPr>
          <p:cNvSpPr>
            <a:spLocks noGrp="1"/>
          </p:cNvSpPr>
          <p:nvPr>
            <p:ph type="dt" sz="half" idx="10"/>
          </p:nvPr>
        </p:nvSpPr>
        <p:spPr/>
        <p:txBody>
          <a:bodyPr/>
          <a:lstStyle/>
          <a:p>
            <a:fld id="{3701DBEE-ECE3-4130-A94E-B09CE05FEEC9}" type="datetime1">
              <a:rPr lang="en-IN" smtClean="0"/>
              <a:t>26-04-2025</a:t>
            </a:fld>
            <a:endParaRPr lang="en-IN" dirty="0"/>
          </a:p>
        </p:txBody>
      </p:sp>
      <p:sp>
        <p:nvSpPr>
          <p:cNvPr id="5" name="Slide Number Placeholder 4">
            <a:extLst>
              <a:ext uri="{FF2B5EF4-FFF2-40B4-BE49-F238E27FC236}">
                <a16:creationId xmlns:a16="http://schemas.microsoft.com/office/drawing/2014/main" xmlns="" id="{16FDDDC2-AB00-1C06-0FBA-F3CD3A3BA54B}"/>
              </a:ext>
            </a:extLst>
          </p:cNvPr>
          <p:cNvSpPr>
            <a:spLocks noGrp="1"/>
          </p:cNvSpPr>
          <p:nvPr>
            <p:ph type="sldNum" sz="quarter" idx="12"/>
          </p:nvPr>
        </p:nvSpPr>
        <p:spPr/>
        <p:txBody>
          <a:bodyPr/>
          <a:lstStyle/>
          <a:p>
            <a:fld id="{F3A9E9E4-B33D-4B71-BC7B-0B7320F1BC06}" type="slidenum">
              <a:rPr lang="en-IN" smtClean="0"/>
              <a:t>61</a:t>
            </a:fld>
            <a:endParaRPr lang="en-IN" dirty="0"/>
          </a:p>
        </p:txBody>
      </p:sp>
    </p:spTree>
    <p:extLst>
      <p:ext uri="{BB962C8B-B14F-4D97-AF65-F5344CB8AC3E}">
        <p14:creationId xmlns:p14="http://schemas.microsoft.com/office/powerpoint/2010/main" val="31973231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FD9A329-6BAD-028C-6C1D-06BF3738F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223B63C-19DA-B7D7-A0FF-7AE950CC7084}"/>
              </a:ext>
            </a:extLst>
          </p:cNvPr>
          <p:cNvSpPr>
            <a:spLocks noGrp="1"/>
          </p:cNvSpPr>
          <p:nvPr>
            <p:ph type="title"/>
          </p:nvPr>
        </p:nvSpPr>
        <p:spPr>
          <a:xfrm>
            <a:off x="716280" y="0"/>
            <a:ext cx="10515600" cy="1325563"/>
          </a:xfrm>
        </p:spPr>
        <p:txBody>
          <a:bodyPr/>
          <a:lstStyle/>
          <a:p>
            <a:pPr algn="ctr"/>
            <a:r>
              <a:rPr lang="en-IN" b="1" dirty="0">
                <a:solidFill>
                  <a:srgbClr val="C00000"/>
                </a:solidFill>
              </a:rPr>
              <a:t>Signature Based Intrusion </a:t>
            </a:r>
            <a:r>
              <a:rPr lang="en-IN" b="1" dirty="0" smtClean="0">
                <a:solidFill>
                  <a:srgbClr val="C00000"/>
                </a:solidFill>
              </a:rPr>
              <a:t>Detection (State based)</a:t>
            </a:r>
            <a:endParaRPr lang="en-IN" b="1" dirty="0">
              <a:solidFill>
                <a:srgbClr val="C00000"/>
              </a:solidFill>
            </a:endParaRPr>
          </a:p>
        </p:txBody>
      </p:sp>
      <p:sp>
        <p:nvSpPr>
          <p:cNvPr id="3" name="Content Placeholder 2">
            <a:extLst>
              <a:ext uri="{FF2B5EF4-FFF2-40B4-BE49-F238E27FC236}">
                <a16:creationId xmlns:a16="http://schemas.microsoft.com/office/drawing/2014/main" xmlns="" id="{0F053058-F88E-40BB-2618-604D6970A3E1}"/>
              </a:ext>
            </a:extLst>
          </p:cNvPr>
          <p:cNvSpPr>
            <a:spLocks noGrp="1"/>
          </p:cNvSpPr>
          <p:nvPr>
            <p:ph idx="1"/>
          </p:nvPr>
        </p:nvSpPr>
        <p:spPr>
          <a:xfrm>
            <a:off x="838200" y="1213168"/>
            <a:ext cx="10515600" cy="4716463"/>
          </a:xfrm>
        </p:spPr>
        <p:txBody>
          <a:bodyPr>
            <a:noAutofit/>
          </a:bodyPr>
          <a:lstStyle/>
          <a:p>
            <a:pPr algn="just">
              <a:lnSpc>
                <a:spcPct val="150000"/>
              </a:lnSpc>
            </a:pPr>
            <a:r>
              <a:rPr lang="en-US" sz="2200" dirty="0"/>
              <a:t>Of course, a signature-based IDS </a:t>
            </a:r>
            <a:r>
              <a:rPr lang="en-US" sz="2200" b="1" dirty="0"/>
              <a:t>cannot detect a new attack for which no signature has yet been installed </a:t>
            </a:r>
            <a:r>
              <a:rPr lang="en-US" sz="2200" dirty="0"/>
              <a:t>in the database. </a:t>
            </a:r>
          </a:p>
          <a:p>
            <a:pPr algn="just">
              <a:lnSpc>
                <a:spcPct val="150000"/>
              </a:lnSpc>
            </a:pPr>
            <a:r>
              <a:rPr lang="en-US" sz="2200" b="1" dirty="0"/>
              <a:t>Every attack type starts as a new pattern at some time</a:t>
            </a:r>
            <a:r>
              <a:rPr lang="en-US" sz="2200" dirty="0"/>
              <a:t>, and the IDS is helpless to warn of its existence. Attackers also try to change their signature. </a:t>
            </a:r>
          </a:p>
          <a:p>
            <a:pPr algn="just">
              <a:lnSpc>
                <a:spcPct val="150000"/>
              </a:lnSpc>
            </a:pPr>
            <a:r>
              <a:rPr lang="en-US" sz="2200" dirty="0"/>
              <a:t>Signature-based intrusion detection systems tend to use statistical analysis. This approach uses tools both to obtain sample measurements of key indicators (such as amount of external activity, number of active processes, number of transactions) and to determine whether the collected measurements fit the predetermined attack signatures. </a:t>
            </a:r>
          </a:p>
          <a:p>
            <a:pPr algn="just">
              <a:lnSpc>
                <a:spcPct val="150000"/>
              </a:lnSpc>
            </a:pPr>
            <a:r>
              <a:rPr lang="en-US" sz="2200" b="1" dirty="0"/>
              <a:t>Signature-based IDSs are limited to known patterns. </a:t>
            </a:r>
          </a:p>
        </p:txBody>
      </p:sp>
      <p:sp>
        <p:nvSpPr>
          <p:cNvPr id="4" name="Date Placeholder 3">
            <a:extLst>
              <a:ext uri="{FF2B5EF4-FFF2-40B4-BE49-F238E27FC236}">
                <a16:creationId xmlns:a16="http://schemas.microsoft.com/office/drawing/2014/main" xmlns="" id="{A70057BE-94BE-E6BD-B035-FB19F8A932FB}"/>
              </a:ext>
            </a:extLst>
          </p:cNvPr>
          <p:cNvSpPr>
            <a:spLocks noGrp="1"/>
          </p:cNvSpPr>
          <p:nvPr>
            <p:ph type="dt" sz="half" idx="10"/>
          </p:nvPr>
        </p:nvSpPr>
        <p:spPr/>
        <p:txBody>
          <a:bodyPr/>
          <a:lstStyle/>
          <a:p>
            <a:fld id="{BC42171C-942B-4EB2-9CEC-30D82C99D98E}" type="datetime1">
              <a:rPr lang="en-IN" smtClean="0"/>
              <a:t>26-04-2025</a:t>
            </a:fld>
            <a:endParaRPr lang="en-IN" dirty="0"/>
          </a:p>
        </p:txBody>
      </p:sp>
      <p:sp>
        <p:nvSpPr>
          <p:cNvPr id="5" name="Slide Number Placeholder 4">
            <a:extLst>
              <a:ext uri="{FF2B5EF4-FFF2-40B4-BE49-F238E27FC236}">
                <a16:creationId xmlns:a16="http://schemas.microsoft.com/office/drawing/2014/main" xmlns="" id="{B8FCD67D-7DCA-C33D-308A-F977C83F9F2D}"/>
              </a:ext>
            </a:extLst>
          </p:cNvPr>
          <p:cNvSpPr>
            <a:spLocks noGrp="1"/>
          </p:cNvSpPr>
          <p:nvPr>
            <p:ph type="sldNum" sz="quarter" idx="12"/>
          </p:nvPr>
        </p:nvSpPr>
        <p:spPr/>
        <p:txBody>
          <a:bodyPr/>
          <a:lstStyle/>
          <a:p>
            <a:fld id="{F3A9E9E4-B33D-4B71-BC7B-0B7320F1BC06}" type="slidenum">
              <a:rPr lang="en-IN" smtClean="0"/>
              <a:t>62</a:t>
            </a:fld>
            <a:endParaRPr lang="en-IN" dirty="0"/>
          </a:p>
        </p:txBody>
      </p:sp>
    </p:spTree>
    <p:extLst>
      <p:ext uri="{BB962C8B-B14F-4D97-AF65-F5344CB8AC3E}">
        <p14:creationId xmlns:p14="http://schemas.microsoft.com/office/powerpoint/2010/main" val="11767706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197387D-99D2-2CF7-C08D-03052BCC7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FC5E1C6-22BD-E071-22C7-C2204B8D70A0}"/>
              </a:ext>
            </a:extLst>
          </p:cNvPr>
          <p:cNvSpPr>
            <a:spLocks noGrp="1"/>
          </p:cNvSpPr>
          <p:nvPr>
            <p:ph type="title"/>
          </p:nvPr>
        </p:nvSpPr>
        <p:spPr>
          <a:xfrm>
            <a:off x="716280" y="0"/>
            <a:ext cx="10515600" cy="1325563"/>
          </a:xfrm>
        </p:spPr>
        <p:txBody>
          <a:bodyPr/>
          <a:lstStyle/>
          <a:p>
            <a:pPr algn="ctr"/>
            <a:r>
              <a:rPr lang="en-IN" b="1" dirty="0">
                <a:solidFill>
                  <a:srgbClr val="C00000"/>
                </a:solidFill>
              </a:rPr>
              <a:t>Heuristic Intrusion </a:t>
            </a:r>
            <a:r>
              <a:rPr lang="en-IN" b="1" dirty="0" smtClean="0">
                <a:solidFill>
                  <a:srgbClr val="C00000"/>
                </a:solidFill>
              </a:rPr>
              <a:t>Detection (Model based)</a:t>
            </a:r>
            <a:endParaRPr lang="en-IN" b="1" dirty="0">
              <a:solidFill>
                <a:srgbClr val="C00000"/>
              </a:solidFill>
            </a:endParaRPr>
          </a:p>
        </p:txBody>
      </p:sp>
      <p:sp>
        <p:nvSpPr>
          <p:cNvPr id="3" name="Content Placeholder 2">
            <a:extLst>
              <a:ext uri="{FF2B5EF4-FFF2-40B4-BE49-F238E27FC236}">
                <a16:creationId xmlns:a16="http://schemas.microsoft.com/office/drawing/2014/main" xmlns="" id="{E7A40CE5-7A6D-E68A-C29E-4148BB43BB0F}"/>
              </a:ext>
            </a:extLst>
          </p:cNvPr>
          <p:cNvSpPr>
            <a:spLocks noGrp="1"/>
          </p:cNvSpPr>
          <p:nvPr>
            <p:ph idx="1"/>
          </p:nvPr>
        </p:nvSpPr>
        <p:spPr>
          <a:xfrm>
            <a:off x="838200" y="1213168"/>
            <a:ext cx="10515600" cy="4716463"/>
          </a:xfrm>
        </p:spPr>
        <p:txBody>
          <a:bodyPr>
            <a:noAutofit/>
          </a:bodyPr>
          <a:lstStyle/>
          <a:p>
            <a:pPr algn="just">
              <a:lnSpc>
                <a:spcPct val="150000"/>
              </a:lnSpc>
            </a:pPr>
            <a:r>
              <a:rPr lang="en-US" sz="2000" dirty="0"/>
              <a:t>Instead of looking for matches, heuristic intrusion detection looks for behavior that is out of the ordinary.</a:t>
            </a:r>
          </a:p>
          <a:p>
            <a:pPr algn="just">
              <a:lnSpc>
                <a:spcPct val="150000"/>
              </a:lnSpc>
            </a:pPr>
            <a:r>
              <a:rPr lang="en-US" sz="2000" dirty="0"/>
              <a:t>For example, one user might always start the day by reading email, write many documents using a word processor, and occasionally back up files. These actions would be normal. This user does not seem to use many administrator utilities. </a:t>
            </a:r>
          </a:p>
          <a:p>
            <a:pPr algn="just">
              <a:lnSpc>
                <a:spcPct val="150000"/>
              </a:lnSpc>
            </a:pPr>
            <a:r>
              <a:rPr lang="en-US" sz="2000" dirty="0"/>
              <a:t>If that person tried to access sensitive system management utilities, this new behavior might be a clue that someone else was acting under the user’s identity.</a:t>
            </a:r>
            <a:endParaRPr lang="en-US" sz="2000" b="1" dirty="0"/>
          </a:p>
        </p:txBody>
      </p:sp>
      <p:sp>
        <p:nvSpPr>
          <p:cNvPr id="4" name="Date Placeholder 3">
            <a:extLst>
              <a:ext uri="{FF2B5EF4-FFF2-40B4-BE49-F238E27FC236}">
                <a16:creationId xmlns:a16="http://schemas.microsoft.com/office/drawing/2014/main" xmlns="" id="{E05C01FE-5BD3-A16E-5CCA-9867C5E00144}"/>
              </a:ext>
            </a:extLst>
          </p:cNvPr>
          <p:cNvSpPr>
            <a:spLocks noGrp="1"/>
          </p:cNvSpPr>
          <p:nvPr>
            <p:ph type="dt" sz="half" idx="10"/>
          </p:nvPr>
        </p:nvSpPr>
        <p:spPr/>
        <p:txBody>
          <a:bodyPr/>
          <a:lstStyle/>
          <a:p>
            <a:fld id="{4DA6B414-671A-4394-9531-D162FC9E55F2}" type="datetime1">
              <a:rPr lang="en-IN" smtClean="0"/>
              <a:t>26-04-2025</a:t>
            </a:fld>
            <a:endParaRPr lang="en-IN" dirty="0"/>
          </a:p>
        </p:txBody>
      </p:sp>
      <p:sp>
        <p:nvSpPr>
          <p:cNvPr id="5" name="Slide Number Placeholder 4">
            <a:extLst>
              <a:ext uri="{FF2B5EF4-FFF2-40B4-BE49-F238E27FC236}">
                <a16:creationId xmlns:a16="http://schemas.microsoft.com/office/drawing/2014/main" xmlns="" id="{C8D71AD0-66A6-9B93-2931-E29DCD8E7A10}"/>
              </a:ext>
            </a:extLst>
          </p:cNvPr>
          <p:cNvSpPr>
            <a:spLocks noGrp="1"/>
          </p:cNvSpPr>
          <p:nvPr>
            <p:ph type="sldNum" sz="quarter" idx="12"/>
          </p:nvPr>
        </p:nvSpPr>
        <p:spPr/>
        <p:txBody>
          <a:bodyPr/>
          <a:lstStyle/>
          <a:p>
            <a:fld id="{F3A9E9E4-B33D-4B71-BC7B-0B7320F1BC06}" type="slidenum">
              <a:rPr lang="en-IN" smtClean="0"/>
              <a:t>63</a:t>
            </a:fld>
            <a:endParaRPr lang="en-IN" dirty="0"/>
          </a:p>
        </p:txBody>
      </p:sp>
    </p:spTree>
    <p:extLst>
      <p:ext uri="{BB962C8B-B14F-4D97-AF65-F5344CB8AC3E}">
        <p14:creationId xmlns:p14="http://schemas.microsoft.com/office/powerpoint/2010/main" val="8521228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D14DFDC-9410-7E1F-49EF-69070F664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3A080FE-78A0-87D6-69E9-FB0DAE04C6E3}"/>
              </a:ext>
            </a:extLst>
          </p:cNvPr>
          <p:cNvSpPr>
            <a:spLocks noGrp="1"/>
          </p:cNvSpPr>
          <p:nvPr>
            <p:ph type="title"/>
          </p:nvPr>
        </p:nvSpPr>
        <p:spPr>
          <a:xfrm>
            <a:off x="716280" y="0"/>
            <a:ext cx="10515600" cy="1325563"/>
          </a:xfrm>
        </p:spPr>
        <p:txBody>
          <a:bodyPr/>
          <a:lstStyle/>
          <a:p>
            <a:pPr algn="ctr"/>
            <a:r>
              <a:rPr lang="en-IN" b="1" dirty="0">
                <a:solidFill>
                  <a:srgbClr val="C00000"/>
                </a:solidFill>
              </a:rPr>
              <a:t>Heuristic Intrusion Detection</a:t>
            </a:r>
          </a:p>
        </p:txBody>
      </p:sp>
      <p:sp>
        <p:nvSpPr>
          <p:cNvPr id="3" name="Content Placeholder 2">
            <a:extLst>
              <a:ext uri="{FF2B5EF4-FFF2-40B4-BE49-F238E27FC236}">
                <a16:creationId xmlns:a16="http://schemas.microsoft.com/office/drawing/2014/main" xmlns="" id="{33C19F76-8EBA-0B77-2D52-B4B68BEB8392}"/>
              </a:ext>
            </a:extLst>
          </p:cNvPr>
          <p:cNvSpPr>
            <a:spLocks noGrp="1"/>
          </p:cNvSpPr>
          <p:nvPr>
            <p:ph idx="1"/>
          </p:nvPr>
        </p:nvSpPr>
        <p:spPr>
          <a:xfrm>
            <a:off x="838200" y="1213168"/>
            <a:ext cx="10515600" cy="4716463"/>
          </a:xfrm>
        </p:spPr>
        <p:txBody>
          <a:bodyPr>
            <a:noAutofit/>
          </a:bodyPr>
          <a:lstStyle/>
          <a:p>
            <a:pPr algn="just">
              <a:lnSpc>
                <a:spcPct val="150000"/>
              </a:lnSpc>
            </a:pPr>
            <a:r>
              <a:rPr lang="en-US" sz="2000" dirty="0"/>
              <a:t>If we think of a compromised system in use, it started clean, with no intrusion, and it ended dirty, fully compromised. There may be no point in an administrator’s tracing the use in which the system changed from clean to dirty; it was more likely that little dirty events occurred, occasionally at first and then increasing as the system became more deeply compromised. </a:t>
            </a:r>
          </a:p>
          <a:p>
            <a:pPr algn="just">
              <a:lnSpc>
                <a:spcPct val="150000"/>
              </a:lnSpc>
            </a:pPr>
            <a:r>
              <a:rPr lang="en-US" sz="2000" dirty="0"/>
              <a:t>Any one of those events might be acceptable by itself, but the accumulation of them and the order and speed at which they occurred could have been signals that something unacceptable was happening. </a:t>
            </a:r>
          </a:p>
          <a:p>
            <a:pPr algn="just">
              <a:lnSpc>
                <a:spcPct val="150000"/>
              </a:lnSpc>
            </a:pPr>
            <a:r>
              <a:rPr lang="en-US" sz="2000" dirty="0"/>
              <a:t>The inference engine of an intrusion detection system continuously analyzes the system, raising an alert when the system’s dirtiness exceeds a threshold or when a combination of factors signals likely malicious behavior.</a:t>
            </a:r>
            <a:endParaRPr lang="en-US" sz="2000" b="1" dirty="0"/>
          </a:p>
        </p:txBody>
      </p:sp>
      <p:sp>
        <p:nvSpPr>
          <p:cNvPr id="4" name="Date Placeholder 3">
            <a:extLst>
              <a:ext uri="{FF2B5EF4-FFF2-40B4-BE49-F238E27FC236}">
                <a16:creationId xmlns:a16="http://schemas.microsoft.com/office/drawing/2014/main" xmlns="" id="{FE4B93FC-80AE-E439-48D7-16591927CAFC}"/>
              </a:ext>
            </a:extLst>
          </p:cNvPr>
          <p:cNvSpPr>
            <a:spLocks noGrp="1"/>
          </p:cNvSpPr>
          <p:nvPr>
            <p:ph type="dt" sz="half" idx="10"/>
          </p:nvPr>
        </p:nvSpPr>
        <p:spPr/>
        <p:txBody>
          <a:bodyPr/>
          <a:lstStyle/>
          <a:p>
            <a:fld id="{D3FC89D6-3E5B-4C23-A920-8F8FF5525353}" type="datetime1">
              <a:rPr lang="en-IN" smtClean="0"/>
              <a:t>26-04-2025</a:t>
            </a:fld>
            <a:endParaRPr lang="en-IN" dirty="0"/>
          </a:p>
        </p:txBody>
      </p:sp>
      <p:sp>
        <p:nvSpPr>
          <p:cNvPr id="5" name="Slide Number Placeholder 4">
            <a:extLst>
              <a:ext uri="{FF2B5EF4-FFF2-40B4-BE49-F238E27FC236}">
                <a16:creationId xmlns:a16="http://schemas.microsoft.com/office/drawing/2014/main" xmlns="" id="{952E09D5-2892-1115-5E8F-49A784DD937D}"/>
              </a:ext>
            </a:extLst>
          </p:cNvPr>
          <p:cNvSpPr>
            <a:spLocks noGrp="1"/>
          </p:cNvSpPr>
          <p:nvPr>
            <p:ph type="sldNum" sz="quarter" idx="12"/>
          </p:nvPr>
        </p:nvSpPr>
        <p:spPr/>
        <p:txBody>
          <a:bodyPr/>
          <a:lstStyle/>
          <a:p>
            <a:fld id="{F3A9E9E4-B33D-4B71-BC7B-0B7320F1BC06}" type="slidenum">
              <a:rPr lang="en-IN" smtClean="0"/>
              <a:t>64</a:t>
            </a:fld>
            <a:endParaRPr lang="en-IN" dirty="0"/>
          </a:p>
        </p:txBody>
      </p:sp>
    </p:spTree>
    <p:extLst>
      <p:ext uri="{BB962C8B-B14F-4D97-AF65-F5344CB8AC3E}">
        <p14:creationId xmlns:p14="http://schemas.microsoft.com/office/powerpoint/2010/main" val="38697121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12AFDC-2E13-85F8-C1E5-283164EE9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7AF4DD4-FE7F-6B02-09BA-5E4B1FAD40CB}"/>
              </a:ext>
            </a:extLst>
          </p:cNvPr>
          <p:cNvSpPr>
            <a:spLocks noGrp="1"/>
          </p:cNvSpPr>
          <p:nvPr>
            <p:ph type="title"/>
          </p:nvPr>
        </p:nvSpPr>
        <p:spPr>
          <a:xfrm>
            <a:off x="675640" y="-254795"/>
            <a:ext cx="10515600" cy="1325563"/>
          </a:xfrm>
        </p:spPr>
        <p:txBody>
          <a:bodyPr/>
          <a:lstStyle/>
          <a:p>
            <a:pPr algn="ctr"/>
            <a:r>
              <a:rPr lang="en-IN" b="1" dirty="0">
                <a:solidFill>
                  <a:srgbClr val="C00000"/>
                </a:solidFill>
              </a:rPr>
              <a:t>Heuristic Intrusion Detection</a:t>
            </a:r>
          </a:p>
        </p:txBody>
      </p:sp>
      <p:sp>
        <p:nvSpPr>
          <p:cNvPr id="3" name="Content Placeholder 2">
            <a:extLst>
              <a:ext uri="{FF2B5EF4-FFF2-40B4-BE49-F238E27FC236}">
                <a16:creationId xmlns:a16="http://schemas.microsoft.com/office/drawing/2014/main" xmlns="" id="{A214F93F-49AC-12E3-9319-FF9EF31DE564}"/>
              </a:ext>
            </a:extLst>
          </p:cNvPr>
          <p:cNvSpPr>
            <a:spLocks noGrp="1"/>
          </p:cNvSpPr>
          <p:nvPr>
            <p:ph idx="1"/>
          </p:nvPr>
        </p:nvSpPr>
        <p:spPr>
          <a:xfrm>
            <a:off x="838200" y="847248"/>
            <a:ext cx="10515600" cy="4716463"/>
          </a:xfrm>
        </p:spPr>
        <p:txBody>
          <a:bodyPr>
            <a:noAutofit/>
          </a:bodyPr>
          <a:lstStyle/>
          <a:p>
            <a:pPr algn="just">
              <a:lnSpc>
                <a:spcPct val="150000"/>
              </a:lnSpc>
            </a:pPr>
            <a:r>
              <a:rPr lang="en-US" sz="2000" dirty="0"/>
              <a:t>Let’s consider an example. A network computer belonging to Ana starts to inspect other network computers, looking at which ones have storage areas (files) available to other network users. </a:t>
            </a:r>
          </a:p>
          <a:p>
            <a:pPr algn="just">
              <a:lnSpc>
                <a:spcPct val="150000"/>
              </a:lnSpc>
            </a:pPr>
            <a:r>
              <a:rPr lang="en-US" sz="2000" dirty="0"/>
              <a:t>When Ana probes Boris’s computer the IDS may classify that act as unusual, but Boris’s computer denies her access and the IDS simply notes the denied access request. Then when Ana probes Chen’s machine the second attempt becomes more unusual. </a:t>
            </a:r>
          </a:p>
          <a:p>
            <a:pPr algn="just">
              <a:lnSpc>
                <a:spcPct val="150000"/>
              </a:lnSpc>
            </a:pPr>
            <a:r>
              <a:rPr lang="en-US" sz="2000" dirty="0"/>
              <a:t>It turns out that Chen’s machine has a file structure open to the network, and Ana obtains a directory listing of all accessible files on Chen’s machine, which the IDS flags as suspicious. </a:t>
            </a:r>
          </a:p>
          <a:p>
            <a:pPr algn="just">
              <a:lnSpc>
                <a:spcPct val="150000"/>
              </a:lnSpc>
            </a:pPr>
            <a:r>
              <a:rPr lang="en-US" sz="2000" dirty="0"/>
              <a:t>When Ana then tries to copy all of Chen’s files the IDS recognizes a likely attack and triggers an alarm to an administrator. Any of the actions Ana (or someone using Ana’s access credentials) took is not significant by itself, but the accumulation leads to greater suspicion and finally an alarm.</a:t>
            </a:r>
            <a:endParaRPr lang="en-US" sz="2000" b="1" dirty="0"/>
          </a:p>
        </p:txBody>
      </p:sp>
      <p:sp>
        <p:nvSpPr>
          <p:cNvPr id="4" name="Date Placeholder 3">
            <a:extLst>
              <a:ext uri="{FF2B5EF4-FFF2-40B4-BE49-F238E27FC236}">
                <a16:creationId xmlns:a16="http://schemas.microsoft.com/office/drawing/2014/main" xmlns="" id="{ED8D0204-B617-FE65-62F2-C51ADB110829}"/>
              </a:ext>
            </a:extLst>
          </p:cNvPr>
          <p:cNvSpPr>
            <a:spLocks noGrp="1"/>
          </p:cNvSpPr>
          <p:nvPr>
            <p:ph type="dt" sz="half" idx="10"/>
          </p:nvPr>
        </p:nvSpPr>
        <p:spPr/>
        <p:txBody>
          <a:bodyPr/>
          <a:lstStyle/>
          <a:p>
            <a:fld id="{45D1CE5F-35CF-41EC-B0E6-ECE39433EE3F}" type="datetime1">
              <a:rPr lang="en-IN" smtClean="0"/>
              <a:t>26-04-2025</a:t>
            </a:fld>
            <a:endParaRPr lang="en-IN" dirty="0"/>
          </a:p>
        </p:txBody>
      </p:sp>
      <p:sp>
        <p:nvSpPr>
          <p:cNvPr id="5" name="Slide Number Placeholder 4">
            <a:extLst>
              <a:ext uri="{FF2B5EF4-FFF2-40B4-BE49-F238E27FC236}">
                <a16:creationId xmlns:a16="http://schemas.microsoft.com/office/drawing/2014/main" xmlns="" id="{11E498A0-7611-A98C-E086-E3D7B7FAF38A}"/>
              </a:ext>
            </a:extLst>
          </p:cNvPr>
          <p:cNvSpPr>
            <a:spLocks noGrp="1"/>
          </p:cNvSpPr>
          <p:nvPr>
            <p:ph type="sldNum" sz="quarter" idx="12"/>
          </p:nvPr>
        </p:nvSpPr>
        <p:spPr/>
        <p:txBody>
          <a:bodyPr/>
          <a:lstStyle/>
          <a:p>
            <a:fld id="{F3A9E9E4-B33D-4B71-BC7B-0B7320F1BC06}" type="slidenum">
              <a:rPr lang="en-IN" smtClean="0"/>
              <a:t>65</a:t>
            </a:fld>
            <a:endParaRPr lang="en-IN" dirty="0"/>
          </a:p>
        </p:txBody>
      </p:sp>
    </p:spTree>
    <p:extLst>
      <p:ext uri="{BB962C8B-B14F-4D97-AF65-F5344CB8AC3E}">
        <p14:creationId xmlns:p14="http://schemas.microsoft.com/office/powerpoint/2010/main" val="299838743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05792FB-0721-DC77-42BF-D876E6E14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ADCF6B8-58BD-AAFD-2C44-F216F9A56D54}"/>
              </a:ext>
            </a:extLst>
          </p:cNvPr>
          <p:cNvSpPr>
            <a:spLocks noGrp="1"/>
          </p:cNvSpPr>
          <p:nvPr>
            <p:ph type="title"/>
          </p:nvPr>
        </p:nvSpPr>
        <p:spPr>
          <a:xfrm>
            <a:off x="721360" y="-40322"/>
            <a:ext cx="10515600" cy="1325563"/>
          </a:xfrm>
        </p:spPr>
        <p:txBody>
          <a:bodyPr/>
          <a:lstStyle/>
          <a:p>
            <a:pPr algn="ctr"/>
            <a:r>
              <a:rPr lang="en-IN" b="1" dirty="0">
                <a:solidFill>
                  <a:srgbClr val="C00000"/>
                </a:solidFill>
              </a:rPr>
              <a:t>Stateful Protocol Analysis</a:t>
            </a:r>
          </a:p>
        </p:txBody>
      </p:sp>
      <p:sp>
        <p:nvSpPr>
          <p:cNvPr id="3" name="Content Placeholder 2">
            <a:extLst>
              <a:ext uri="{FF2B5EF4-FFF2-40B4-BE49-F238E27FC236}">
                <a16:creationId xmlns:a16="http://schemas.microsoft.com/office/drawing/2014/main" xmlns="" id="{B56AA437-9D59-1560-6A67-A5E4FF389FCE}"/>
              </a:ext>
            </a:extLst>
          </p:cNvPr>
          <p:cNvSpPr>
            <a:spLocks noGrp="1"/>
          </p:cNvSpPr>
          <p:nvPr>
            <p:ph sz="half" idx="1"/>
          </p:nvPr>
        </p:nvSpPr>
        <p:spPr>
          <a:xfrm>
            <a:off x="838200" y="1285241"/>
            <a:ext cx="5816600" cy="5089843"/>
          </a:xfrm>
        </p:spPr>
        <p:txBody>
          <a:bodyPr>
            <a:noAutofit/>
          </a:bodyPr>
          <a:lstStyle/>
          <a:p>
            <a:pPr algn="just">
              <a:lnSpc>
                <a:spcPct val="100000"/>
              </a:lnSpc>
            </a:pPr>
            <a:r>
              <a:rPr lang="en-US" sz="1800" dirty="0"/>
              <a:t>Intrusion detection by means of pattern matching is difficult if the pattern to be matched is long or variable. </a:t>
            </a:r>
          </a:p>
          <a:p>
            <a:pPr algn="just">
              <a:lnSpc>
                <a:spcPct val="100000"/>
              </a:lnSpc>
            </a:pPr>
            <a:r>
              <a:rPr lang="en-US" sz="1800" dirty="0"/>
              <a:t>A SYN flood attack has a simple pattern (SYN, SYN ACK, no corresponding ACK), but these are three separate steps spread over time; detecting the attack requires recognizing step one, later finding step two, and then waiting a reasonable amount of time before concluding that step three is true. </a:t>
            </a:r>
          </a:p>
          <a:p>
            <a:pPr algn="just">
              <a:lnSpc>
                <a:spcPct val="100000"/>
              </a:lnSpc>
            </a:pPr>
            <a:r>
              <a:rPr lang="en-US" sz="1800" dirty="0"/>
              <a:t>Think of an intrusion detection system as a state machine, with a state for each of these steps, as shown in Figure. The IDS needs to record which state it is in. Now multiply the number of states to account for hundreds of thousands of concurrent connections by many users. The logic of the IDS is complicated: Many handshakes may be in progress at any time, and the IDS must maintain the state of each of them.</a:t>
            </a:r>
            <a:endParaRPr lang="en-US" sz="1800" b="1" dirty="0"/>
          </a:p>
        </p:txBody>
      </p:sp>
      <p:sp>
        <p:nvSpPr>
          <p:cNvPr id="4" name="Date Placeholder 3">
            <a:extLst>
              <a:ext uri="{FF2B5EF4-FFF2-40B4-BE49-F238E27FC236}">
                <a16:creationId xmlns:a16="http://schemas.microsoft.com/office/drawing/2014/main" xmlns="" id="{0BC32169-0BB2-09C6-D09A-2DA8C212E719}"/>
              </a:ext>
            </a:extLst>
          </p:cNvPr>
          <p:cNvSpPr>
            <a:spLocks noGrp="1"/>
          </p:cNvSpPr>
          <p:nvPr>
            <p:ph type="dt" sz="half" idx="10"/>
          </p:nvPr>
        </p:nvSpPr>
        <p:spPr/>
        <p:txBody>
          <a:bodyPr/>
          <a:lstStyle/>
          <a:p>
            <a:fld id="{027599CC-5CDD-4D13-BDB2-FCE9671E744B}" type="datetime1">
              <a:rPr lang="en-IN" smtClean="0"/>
              <a:t>26-04-2025</a:t>
            </a:fld>
            <a:endParaRPr lang="en-IN" dirty="0"/>
          </a:p>
        </p:txBody>
      </p:sp>
      <p:sp>
        <p:nvSpPr>
          <p:cNvPr id="5" name="Slide Number Placeholder 4">
            <a:extLst>
              <a:ext uri="{FF2B5EF4-FFF2-40B4-BE49-F238E27FC236}">
                <a16:creationId xmlns:a16="http://schemas.microsoft.com/office/drawing/2014/main" xmlns="" id="{75D77EEC-7E13-7B03-14C1-BD1AC1FC4877}"/>
              </a:ext>
            </a:extLst>
          </p:cNvPr>
          <p:cNvSpPr>
            <a:spLocks noGrp="1"/>
          </p:cNvSpPr>
          <p:nvPr>
            <p:ph type="sldNum" sz="quarter" idx="12"/>
          </p:nvPr>
        </p:nvSpPr>
        <p:spPr/>
        <p:txBody>
          <a:bodyPr/>
          <a:lstStyle/>
          <a:p>
            <a:fld id="{F3A9E9E4-B33D-4B71-BC7B-0B7320F1BC06}" type="slidenum">
              <a:rPr lang="en-IN" smtClean="0"/>
              <a:t>66</a:t>
            </a:fld>
            <a:endParaRPr lang="en-IN" dirty="0"/>
          </a:p>
        </p:txBody>
      </p:sp>
      <p:pic>
        <p:nvPicPr>
          <p:cNvPr id="8" name="Picture 7">
            <a:extLst>
              <a:ext uri="{FF2B5EF4-FFF2-40B4-BE49-F238E27FC236}">
                <a16:creationId xmlns:a16="http://schemas.microsoft.com/office/drawing/2014/main" xmlns="" id="{4B968F01-2242-F935-23CC-D34967868FA9}"/>
              </a:ext>
            </a:extLst>
          </p:cNvPr>
          <p:cNvPicPr>
            <a:picLocks noChangeAspect="1"/>
          </p:cNvPicPr>
          <p:nvPr/>
        </p:nvPicPr>
        <p:blipFill>
          <a:blip r:embed="rId2"/>
          <a:stretch>
            <a:fillRect/>
          </a:stretch>
        </p:blipFill>
        <p:spPr>
          <a:xfrm>
            <a:off x="6582291" y="1258591"/>
            <a:ext cx="4888349" cy="4551680"/>
          </a:xfrm>
          <a:prstGeom prst="rect">
            <a:avLst/>
          </a:prstGeom>
        </p:spPr>
      </p:pic>
      <p:sp>
        <p:nvSpPr>
          <p:cNvPr id="10" name="TextBox 9">
            <a:extLst>
              <a:ext uri="{FF2B5EF4-FFF2-40B4-BE49-F238E27FC236}">
                <a16:creationId xmlns:a16="http://schemas.microsoft.com/office/drawing/2014/main" xmlns="" id="{13963509-058D-1F6D-CB74-15F81DCF53FD}"/>
              </a:ext>
            </a:extLst>
          </p:cNvPr>
          <p:cNvSpPr txBox="1"/>
          <p:nvPr/>
        </p:nvSpPr>
        <p:spPr>
          <a:xfrm>
            <a:off x="6160651" y="5992297"/>
            <a:ext cx="6096000" cy="369332"/>
          </a:xfrm>
          <a:prstGeom prst="rect">
            <a:avLst/>
          </a:prstGeom>
          <a:noFill/>
        </p:spPr>
        <p:txBody>
          <a:bodyPr wrap="square">
            <a:spAutoFit/>
          </a:bodyPr>
          <a:lstStyle/>
          <a:p>
            <a:pPr algn="ctr"/>
            <a:r>
              <a:rPr lang="en-IN" b="1" dirty="0"/>
              <a:t>IDS State Machine</a:t>
            </a:r>
          </a:p>
        </p:txBody>
      </p:sp>
    </p:spTree>
    <p:extLst>
      <p:ext uri="{BB962C8B-B14F-4D97-AF65-F5344CB8AC3E}">
        <p14:creationId xmlns:p14="http://schemas.microsoft.com/office/powerpoint/2010/main" val="405261129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3DE24F-FD35-4DA1-1C73-4811793CA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54162D6-12CC-A46A-679B-0A6DD021E738}"/>
              </a:ext>
            </a:extLst>
          </p:cNvPr>
          <p:cNvSpPr>
            <a:spLocks noGrp="1"/>
          </p:cNvSpPr>
          <p:nvPr>
            <p:ph type="title"/>
          </p:nvPr>
        </p:nvSpPr>
        <p:spPr>
          <a:xfrm>
            <a:off x="721360" y="-40322"/>
            <a:ext cx="10515600" cy="1325563"/>
          </a:xfrm>
        </p:spPr>
        <p:txBody>
          <a:bodyPr/>
          <a:lstStyle/>
          <a:p>
            <a:pPr algn="ctr"/>
            <a:r>
              <a:rPr lang="en-IN" b="1" dirty="0">
                <a:solidFill>
                  <a:srgbClr val="C00000"/>
                </a:solidFill>
              </a:rPr>
              <a:t>Stateful Protocol Analysis</a:t>
            </a:r>
          </a:p>
        </p:txBody>
      </p:sp>
      <p:sp>
        <p:nvSpPr>
          <p:cNvPr id="3" name="Content Placeholder 2">
            <a:extLst>
              <a:ext uri="{FF2B5EF4-FFF2-40B4-BE49-F238E27FC236}">
                <a16:creationId xmlns:a16="http://schemas.microsoft.com/office/drawing/2014/main" xmlns="" id="{AF9651AD-1B0C-AA32-BE47-8463A0A7A667}"/>
              </a:ext>
            </a:extLst>
          </p:cNvPr>
          <p:cNvSpPr>
            <a:spLocks noGrp="1"/>
          </p:cNvSpPr>
          <p:nvPr>
            <p:ph sz="half" idx="1"/>
          </p:nvPr>
        </p:nvSpPr>
        <p:spPr>
          <a:xfrm>
            <a:off x="838200" y="1285241"/>
            <a:ext cx="5816600" cy="5089843"/>
          </a:xfrm>
        </p:spPr>
        <p:txBody>
          <a:bodyPr>
            <a:noAutofit/>
          </a:bodyPr>
          <a:lstStyle/>
          <a:p>
            <a:pPr algn="just">
              <a:lnSpc>
                <a:spcPct val="100000"/>
              </a:lnSpc>
            </a:pPr>
            <a:r>
              <a:rPr lang="en-US" sz="2000" dirty="0"/>
              <a:t>Other protocols have similar stateful representations. As the IDS monitors traffic, it will build a similar state representation, matching traffic to the expected nature of the interchange. </a:t>
            </a:r>
          </a:p>
          <a:p>
            <a:pPr algn="just">
              <a:lnSpc>
                <a:spcPct val="100000"/>
              </a:lnSpc>
            </a:pPr>
            <a:r>
              <a:rPr lang="en-US" sz="2000" dirty="0"/>
              <a:t>The different protocols with their different states and transition conditions is multiplied by the number of instances (for example, the number of concurrent TCP connections being established at any time), making the IDS bookkeeping complex indeed.</a:t>
            </a:r>
            <a:endParaRPr lang="en-US" sz="2000" b="1" dirty="0"/>
          </a:p>
        </p:txBody>
      </p:sp>
      <p:sp>
        <p:nvSpPr>
          <p:cNvPr id="4" name="Date Placeholder 3">
            <a:extLst>
              <a:ext uri="{FF2B5EF4-FFF2-40B4-BE49-F238E27FC236}">
                <a16:creationId xmlns:a16="http://schemas.microsoft.com/office/drawing/2014/main" xmlns="" id="{2BCBFDE7-DCA2-A72A-F601-1B1F659F9427}"/>
              </a:ext>
            </a:extLst>
          </p:cNvPr>
          <p:cNvSpPr>
            <a:spLocks noGrp="1"/>
          </p:cNvSpPr>
          <p:nvPr>
            <p:ph type="dt" sz="half" idx="10"/>
          </p:nvPr>
        </p:nvSpPr>
        <p:spPr/>
        <p:txBody>
          <a:bodyPr/>
          <a:lstStyle/>
          <a:p>
            <a:fld id="{70B8E86E-809D-4843-9EFF-8865A4194FB0}" type="datetime1">
              <a:rPr lang="en-IN" smtClean="0"/>
              <a:t>26-04-2025</a:t>
            </a:fld>
            <a:endParaRPr lang="en-IN" dirty="0"/>
          </a:p>
        </p:txBody>
      </p:sp>
      <p:sp>
        <p:nvSpPr>
          <p:cNvPr id="5" name="Slide Number Placeholder 4">
            <a:extLst>
              <a:ext uri="{FF2B5EF4-FFF2-40B4-BE49-F238E27FC236}">
                <a16:creationId xmlns:a16="http://schemas.microsoft.com/office/drawing/2014/main" xmlns="" id="{FBB6D718-AF16-AF73-E179-55483C9D6C42}"/>
              </a:ext>
            </a:extLst>
          </p:cNvPr>
          <p:cNvSpPr>
            <a:spLocks noGrp="1"/>
          </p:cNvSpPr>
          <p:nvPr>
            <p:ph type="sldNum" sz="quarter" idx="12"/>
          </p:nvPr>
        </p:nvSpPr>
        <p:spPr/>
        <p:txBody>
          <a:bodyPr/>
          <a:lstStyle/>
          <a:p>
            <a:fld id="{F3A9E9E4-B33D-4B71-BC7B-0B7320F1BC06}" type="slidenum">
              <a:rPr lang="en-IN" smtClean="0"/>
              <a:t>67</a:t>
            </a:fld>
            <a:endParaRPr lang="en-IN" dirty="0"/>
          </a:p>
        </p:txBody>
      </p:sp>
      <p:pic>
        <p:nvPicPr>
          <p:cNvPr id="8" name="Picture 7">
            <a:extLst>
              <a:ext uri="{FF2B5EF4-FFF2-40B4-BE49-F238E27FC236}">
                <a16:creationId xmlns:a16="http://schemas.microsoft.com/office/drawing/2014/main" xmlns="" id="{4AB3AE6D-BF2A-7548-DBA4-3458F43B566E}"/>
              </a:ext>
            </a:extLst>
          </p:cNvPr>
          <p:cNvPicPr>
            <a:picLocks noChangeAspect="1"/>
          </p:cNvPicPr>
          <p:nvPr/>
        </p:nvPicPr>
        <p:blipFill>
          <a:blip r:embed="rId2"/>
          <a:stretch>
            <a:fillRect/>
          </a:stretch>
        </p:blipFill>
        <p:spPr>
          <a:xfrm>
            <a:off x="6582291" y="1258591"/>
            <a:ext cx="4888349" cy="4551680"/>
          </a:xfrm>
          <a:prstGeom prst="rect">
            <a:avLst/>
          </a:prstGeom>
        </p:spPr>
      </p:pic>
      <p:sp>
        <p:nvSpPr>
          <p:cNvPr id="10" name="TextBox 9">
            <a:extLst>
              <a:ext uri="{FF2B5EF4-FFF2-40B4-BE49-F238E27FC236}">
                <a16:creationId xmlns:a16="http://schemas.microsoft.com/office/drawing/2014/main" xmlns="" id="{55798F77-BF55-8AD9-8A91-A465C5183C97}"/>
              </a:ext>
            </a:extLst>
          </p:cNvPr>
          <p:cNvSpPr txBox="1"/>
          <p:nvPr/>
        </p:nvSpPr>
        <p:spPr>
          <a:xfrm>
            <a:off x="6160651" y="5992297"/>
            <a:ext cx="6096000" cy="369332"/>
          </a:xfrm>
          <a:prstGeom prst="rect">
            <a:avLst/>
          </a:prstGeom>
          <a:noFill/>
        </p:spPr>
        <p:txBody>
          <a:bodyPr wrap="square">
            <a:spAutoFit/>
          </a:bodyPr>
          <a:lstStyle/>
          <a:p>
            <a:pPr algn="ctr"/>
            <a:r>
              <a:rPr lang="en-IN" b="1" dirty="0"/>
              <a:t>IDS State Machine</a:t>
            </a:r>
          </a:p>
        </p:txBody>
      </p:sp>
    </p:spTree>
    <p:extLst>
      <p:ext uri="{BB962C8B-B14F-4D97-AF65-F5344CB8AC3E}">
        <p14:creationId xmlns:p14="http://schemas.microsoft.com/office/powerpoint/2010/main" val="324394610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4EF856-28AB-0F15-7725-2438266D7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F7B9B94-398F-9FE6-E113-F1937534827E}"/>
              </a:ext>
            </a:extLst>
          </p:cNvPr>
          <p:cNvSpPr>
            <a:spLocks noGrp="1"/>
          </p:cNvSpPr>
          <p:nvPr>
            <p:ph type="title"/>
          </p:nvPr>
        </p:nvSpPr>
        <p:spPr/>
        <p:txBody>
          <a:bodyPr/>
          <a:lstStyle/>
          <a:p>
            <a:pPr algn="ctr"/>
            <a:r>
              <a:rPr lang="en-IN" b="1" dirty="0">
                <a:solidFill>
                  <a:srgbClr val="C00000"/>
                </a:solidFill>
              </a:rPr>
              <a:t>Front End Versus Internal IDSs</a:t>
            </a:r>
          </a:p>
        </p:txBody>
      </p:sp>
      <p:sp>
        <p:nvSpPr>
          <p:cNvPr id="3" name="Content Placeholder 2">
            <a:extLst>
              <a:ext uri="{FF2B5EF4-FFF2-40B4-BE49-F238E27FC236}">
                <a16:creationId xmlns:a16="http://schemas.microsoft.com/office/drawing/2014/main" xmlns="" id="{4ED15990-5EAF-1DD1-6B22-9A19735F8B74}"/>
              </a:ext>
            </a:extLst>
          </p:cNvPr>
          <p:cNvSpPr>
            <a:spLocks noGrp="1"/>
          </p:cNvSpPr>
          <p:nvPr>
            <p:ph idx="1"/>
          </p:nvPr>
        </p:nvSpPr>
        <p:spPr/>
        <p:txBody>
          <a:bodyPr>
            <a:noAutofit/>
          </a:bodyPr>
          <a:lstStyle/>
          <a:p>
            <a:pPr algn="just">
              <a:lnSpc>
                <a:spcPct val="150000"/>
              </a:lnSpc>
            </a:pPr>
            <a:r>
              <a:rPr lang="en-US" sz="2000" dirty="0"/>
              <a:t>An IDS can be placed either at the front end of a monitored subnetwork or on the inside. </a:t>
            </a:r>
          </a:p>
          <a:p>
            <a:pPr algn="just">
              <a:lnSpc>
                <a:spcPct val="150000"/>
              </a:lnSpc>
            </a:pPr>
            <a:r>
              <a:rPr lang="en-US" sz="2000" dirty="0"/>
              <a:t>A </a:t>
            </a:r>
            <a:r>
              <a:rPr lang="en-US" sz="2000" b="1" dirty="0"/>
              <a:t>front-end device </a:t>
            </a:r>
            <a:r>
              <a:rPr lang="en-US" sz="2000" dirty="0"/>
              <a:t>monitors traffic as it enters the network and thus can inspect all packets; it can take as much time as needed to analyze them, and if it finds something that it classifies as harmful, it can block the packet before the packet enters the network. </a:t>
            </a:r>
          </a:p>
          <a:p>
            <a:pPr algn="just">
              <a:lnSpc>
                <a:spcPct val="150000"/>
              </a:lnSpc>
            </a:pPr>
            <a:r>
              <a:rPr lang="en-US" sz="2000" dirty="0"/>
              <a:t>A front-end intrusion detection system may be visible on the outside, and thus it may be a target of attack itself. </a:t>
            </a:r>
          </a:p>
          <a:p>
            <a:pPr algn="just">
              <a:lnSpc>
                <a:spcPct val="150000"/>
              </a:lnSpc>
            </a:pPr>
            <a:r>
              <a:rPr lang="en-US" sz="2000" dirty="0"/>
              <a:t>Skillful attackers know that disabling the defenses of an IDS renders the network easier to attack.</a:t>
            </a:r>
            <a:endParaRPr lang="en-US" sz="2000" b="1" dirty="0"/>
          </a:p>
        </p:txBody>
      </p:sp>
      <p:sp>
        <p:nvSpPr>
          <p:cNvPr id="4" name="Date Placeholder 3">
            <a:extLst>
              <a:ext uri="{FF2B5EF4-FFF2-40B4-BE49-F238E27FC236}">
                <a16:creationId xmlns:a16="http://schemas.microsoft.com/office/drawing/2014/main" xmlns="" id="{A4C220EB-9D7E-494D-26C2-5477A3F22E87}"/>
              </a:ext>
            </a:extLst>
          </p:cNvPr>
          <p:cNvSpPr>
            <a:spLocks noGrp="1"/>
          </p:cNvSpPr>
          <p:nvPr>
            <p:ph type="dt" sz="half" idx="10"/>
          </p:nvPr>
        </p:nvSpPr>
        <p:spPr/>
        <p:txBody>
          <a:bodyPr/>
          <a:lstStyle/>
          <a:p>
            <a:fld id="{2B1AB195-DE46-44E5-B611-2F7D1EE21074}" type="datetime1">
              <a:rPr lang="en-IN" smtClean="0"/>
              <a:t>26-04-2025</a:t>
            </a:fld>
            <a:endParaRPr lang="en-IN" dirty="0"/>
          </a:p>
        </p:txBody>
      </p:sp>
      <p:sp>
        <p:nvSpPr>
          <p:cNvPr id="5" name="Slide Number Placeholder 4">
            <a:extLst>
              <a:ext uri="{FF2B5EF4-FFF2-40B4-BE49-F238E27FC236}">
                <a16:creationId xmlns:a16="http://schemas.microsoft.com/office/drawing/2014/main" xmlns="" id="{8391381A-C3E2-AC5B-FFF2-EAEAFBCA3EAA}"/>
              </a:ext>
            </a:extLst>
          </p:cNvPr>
          <p:cNvSpPr>
            <a:spLocks noGrp="1"/>
          </p:cNvSpPr>
          <p:nvPr>
            <p:ph type="sldNum" sz="quarter" idx="12"/>
          </p:nvPr>
        </p:nvSpPr>
        <p:spPr/>
        <p:txBody>
          <a:bodyPr/>
          <a:lstStyle/>
          <a:p>
            <a:fld id="{F3A9E9E4-B33D-4B71-BC7B-0B7320F1BC06}" type="slidenum">
              <a:rPr lang="en-IN" smtClean="0"/>
              <a:t>68</a:t>
            </a:fld>
            <a:endParaRPr lang="en-IN" dirty="0"/>
          </a:p>
        </p:txBody>
      </p:sp>
    </p:spTree>
    <p:extLst>
      <p:ext uri="{BB962C8B-B14F-4D97-AF65-F5344CB8AC3E}">
        <p14:creationId xmlns:p14="http://schemas.microsoft.com/office/powerpoint/2010/main" val="283990959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2E6066C-B775-072B-3EB2-527BD7CA5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88E0669-48AE-156A-6CB6-8F4FAD9267A9}"/>
              </a:ext>
            </a:extLst>
          </p:cNvPr>
          <p:cNvSpPr>
            <a:spLocks noGrp="1"/>
          </p:cNvSpPr>
          <p:nvPr>
            <p:ph type="title"/>
          </p:nvPr>
        </p:nvSpPr>
        <p:spPr>
          <a:xfrm>
            <a:off x="838200" y="-102235"/>
            <a:ext cx="10515600" cy="1325563"/>
          </a:xfrm>
        </p:spPr>
        <p:txBody>
          <a:bodyPr/>
          <a:lstStyle/>
          <a:p>
            <a:pPr algn="ctr"/>
            <a:r>
              <a:rPr lang="en-IN" b="1" dirty="0">
                <a:solidFill>
                  <a:srgbClr val="C00000"/>
                </a:solidFill>
              </a:rPr>
              <a:t>Front End Versus Internal IDSs</a:t>
            </a:r>
          </a:p>
        </p:txBody>
      </p:sp>
      <p:sp>
        <p:nvSpPr>
          <p:cNvPr id="3" name="Content Placeholder 2">
            <a:extLst>
              <a:ext uri="{FF2B5EF4-FFF2-40B4-BE49-F238E27FC236}">
                <a16:creationId xmlns:a16="http://schemas.microsoft.com/office/drawing/2014/main" xmlns="" id="{DCCBFA1E-3FD0-A65C-D8B3-6097EAB0B5C1}"/>
              </a:ext>
            </a:extLst>
          </p:cNvPr>
          <p:cNvSpPr>
            <a:spLocks noGrp="1"/>
          </p:cNvSpPr>
          <p:nvPr>
            <p:ph idx="1"/>
          </p:nvPr>
        </p:nvSpPr>
        <p:spPr>
          <a:xfrm>
            <a:off x="767080" y="1012825"/>
            <a:ext cx="10515600" cy="4351338"/>
          </a:xfrm>
        </p:spPr>
        <p:txBody>
          <a:bodyPr>
            <a:noAutofit/>
          </a:bodyPr>
          <a:lstStyle/>
          <a:p>
            <a:pPr algn="just">
              <a:lnSpc>
                <a:spcPct val="150000"/>
              </a:lnSpc>
            </a:pPr>
            <a:r>
              <a:rPr lang="en-US" sz="2000" dirty="0"/>
              <a:t>On the other hand, a front-end IDS does not see inside the network, so it cannot identify any attack originating inside. </a:t>
            </a:r>
          </a:p>
          <a:p>
            <a:pPr algn="just">
              <a:lnSpc>
                <a:spcPct val="150000"/>
              </a:lnSpc>
            </a:pPr>
            <a:r>
              <a:rPr lang="en-US" sz="2000" b="1" dirty="0"/>
              <a:t>An internal device </a:t>
            </a:r>
            <a:r>
              <a:rPr lang="en-US" sz="2000" dirty="0"/>
              <a:t>monitors activity within the network. If an attacker is sending unremarkable packets to a compromised internal machine, instructing that machine to initiate a denial-of-service attack against other hosts on that network, a front-end IDS will not notice that attack. Thus, if one computer begins sending threatening packets to another internal computer, the internal IDS would be able to detect that. </a:t>
            </a:r>
          </a:p>
          <a:p>
            <a:pPr algn="just">
              <a:lnSpc>
                <a:spcPct val="150000"/>
              </a:lnSpc>
            </a:pPr>
            <a:r>
              <a:rPr lang="en-US" sz="2000" dirty="0"/>
              <a:t>An internal IDS is also more well protected from outside attack. Furthermore, an internal IDS can learn typical behavior of internal machines and users so that if, for example, user A suddenly started trying to access protected resources after never having done so previously, the IDS could record and analyze that anomaly.</a:t>
            </a:r>
            <a:endParaRPr lang="en-US" sz="2000" b="1" dirty="0"/>
          </a:p>
        </p:txBody>
      </p:sp>
      <p:sp>
        <p:nvSpPr>
          <p:cNvPr id="4" name="Date Placeholder 3">
            <a:extLst>
              <a:ext uri="{FF2B5EF4-FFF2-40B4-BE49-F238E27FC236}">
                <a16:creationId xmlns:a16="http://schemas.microsoft.com/office/drawing/2014/main" xmlns="" id="{C0DDCC0F-706B-DC72-1459-2E53179887EC}"/>
              </a:ext>
            </a:extLst>
          </p:cNvPr>
          <p:cNvSpPr>
            <a:spLocks noGrp="1"/>
          </p:cNvSpPr>
          <p:nvPr>
            <p:ph type="dt" sz="half" idx="10"/>
          </p:nvPr>
        </p:nvSpPr>
        <p:spPr/>
        <p:txBody>
          <a:bodyPr/>
          <a:lstStyle/>
          <a:p>
            <a:fld id="{2F3EAFEF-B9B6-4999-8E46-3DE37BD8F75B}" type="datetime1">
              <a:rPr lang="en-IN" smtClean="0"/>
              <a:t>26-04-2025</a:t>
            </a:fld>
            <a:endParaRPr lang="en-IN" dirty="0"/>
          </a:p>
        </p:txBody>
      </p:sp>
      <p:sp>
        <p:nvSpPr>
          <p:cNvPr id="5" name="Slide Number Placeholder 4">
            <a:extLst>
              <a:ext uri="{FF2B5EF4-FFF2-40B4-BE49-F238E27FC236}">
                <a16:creationId xmlns:a16="http://schemas.microsoft.com/office/drawing/2014/main" xmlns="" id="{A1193E99-1ABF-1D61-A506-0F1FA7702FDC}"/>
              </a:ext>
            </a:extLst>
          </p:cNvPr>
          <p:cNvSpPr>
            <a:spLocks noGrp="1"/>
          </p:cNvSpPr>
          <p:nvPr>
            <p:ph type="sldNum" sz="quarter" idx="12"/>
          </p:nvPr>
        </p:nvSpPr>
        <p:spPr/>
        <p:txBody>
          <a:bodyPr/>
          <a:lstStyle/>
          <a:p>
            <a:fld id="{F3A9E9E4-B33D-4B71-BC7B-0B7320F1BC06}" type="slidenum">
              <a:rPr lang="en-IN" smtClean="0"/>
              <a:t>69</a:t>
            </a:fld>
            <a:endParaRPr lang="en-IN" dirty="0"/>
          </a:p>
        </p:txBody>
      </p:sp>
    </p:spTree>
    <p:extLst>
      <p:ext uri="{BB962C8B-B14F-4D97-AF65-F5344CB8AC3E}">
        <p14:creationId xmlns:p14="http://schemas.microsoft.com/office/powerpoint/2010/main" val="152095921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4DED4FC-CE85-0AEB-40EE-11CCF7422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17E2E0F-CE16-A9DA-2141-43FA7730A75C}"/>
              </a:ext>
            </a:extLst>
          </p:cNvPr>
          <p:cNvSpPr>
            <a:spLocks noGrp="1"/>
          </p:cNvSpPr>
          <p:nvPr>
            <p:ph type="title"/>
          </p:nvPr>
        </p:nvSpPr>
        <p:spPr>
          <a:xfrm>
            <a:off x="838200" y="-102235"/>
            <a:ext cx="10515600" cy="1325563"/>
          </a:xfrm>
        </p:spPr>
        <p:txBody>
          <a:bodyPr/>
          <a:lstStyle/>
          <a:p>
            <a:pPr algn="ctr"/>
            <a:r>
              <a:rPr lang="en-IN" b="1" dirty="0">
                <a:solidFill>
                  <a:srgbClr val="C00000"/>
                </a:solidFill>
              </a:rPr>
              <a:t>Host Based and Network based IDS </a:t>
            </a:r>
          </a:p>
        </p:txBody>
      </p:sp>
      <p:sp>
        <p:nvSpPr>
          <p:cNvPr id="3" name="Content Placeholder 2">
            <a:extLst>
              <a:ext uri="{FF2B5EF4-FFF2-40B4-BE49-F238E27FC236}">
                <a16:creationId xmlns:a16="http://schemas.microsoft.com/office/drawing/2014/main" xmlns="" id="{112C7FA8-2C20-60EB-4A94-BFDB19760DAD}"/>
              </a:ext>
            </a:extLst>
          </p:cNvPr>
          <p:cNvSpPr>
            <a:spLocks noGrp="1"/>
          </p:cNvSpPr>
          <p:nvPr>
            <p:ph idx="1"/>
          </p:nvPr>
        </p:nvSpPr>
        <p:spPr>
          <a:xfrm>
            <a:off x="767080" y="1012825"/>
            <a:ext cx="10515600" cy="4351338"/>
          </a:xfrm>
        </p:spPr>
        <p:txBody>
          <a:bodyPr>
            <a:noAutofit/>
          </a:bodyPr>
          <a:lstStyle/>
          <a:p>
            <a:pPr algn="just">
              <a:lnSpc>
                <a:spcPct val="100000"/>
              </a:lnSpc>
            </a:pPr>
            <a:r>
              <a:rPr lang="en-US" sz="2000" b="1" dirty="0"/>
              <a:t>Host-based intrusion detection (called HIDS) </a:t>
            </a:r>
            <a:r>
              <a:rPr lang="en-US" sz="2000" dirty="0"/>
              <a:t>protects a single host against attack. It collects and analyzes data for that one host. </a:t>
            </a:r>
          </a:p>
          <a:p>
            <a:pPr algn="just">
              <a:lnSpc>
                <a:spcPct val="100000"/>
              </a:lnSpc>
            </a:pPr>
            <a:r>
              <a:rPr lang="en-US" sz="2000" dirty="0"/>
              <a:t>The operating system supplies some of that data to the IDS, passing along approved and denied requests to access sensitive resources, logs of applications run, times and dates of actions and other security-relevant data. </a:t>
            </a:r>
          </a:p>
          <a:p>
            <a:pPr algn="just">
              <a:lnSpc>
                <a:spcPct val="100000"/>
              </a:lnSpc>
            </a:pPr>
            <a:r>
              <a:rPr lang="en-US" sz="2000" dirty="0"/>
              <a:t>The device either analyzes data itself or forwards the data to a separate machine for analysis and perhaps correlation with HIDSs on other hosts. </a:t>
            </a:r>
          </a:p>
          <a:p>
            <a:pPr algn="just">
              <a:lnSpc>
                <a:spcPct val="100000"/>
              </a:lnSpc>
            </a:pPr>
            <a:r>
              <a:rPr lang="en-US" sz="2000" b="1" dirty="0"/>
              <a:t>The goal of a host-based system is to protect one machine and its data</a:t>
            </a:r>
            <a:r>
              <a:rPr lang="en-US" sz="2000" dirty="0"/>
              <a:t>. If an intruder disables that IDS, however, it can no longer protect its host. Being a process on the target computer also exposes the HIDS to the vulnerability of being detected.</a:t>
            </a:r>
          </a:p>
          <a:p>
            <a:pPr algn="just">
              <a:lnSpc>
                <a:spcPct val="100000"/>
              </a:lnSpc>
            </a:pPr>
            <a:r>
              <a:rPr lang="en-US" sz="2000" b="1" dirty="0"/>
              <a:t>A network-based IDS or NIDS is generally a separate network appliance that monitors traffic on an entire network. </a:t>
            </a:r>
          </a:p>
          <a:p>
            <a:pPr algn="just">
              <a:lnSpc>
                <a:spcPct val="100000"/>
              </a:lnSpc>
            </a:pPr>
            <a:r>
              <a:rPr lang="en-US" sz="2000" dirty="0"/>
              <a:t>It receives data from firewalls, operating systems of the connected computers, other sensors such as traffic volume monitors and load balancers, and administrator actions on the network. </a:t>
            </a:r>
          </a:p>
          <a:p>
            <a:pPr marL="0" indent="0" algn="just">
              <a:lnSpc>
                <a:spcPct val="100000"/>
              </a:lnSpc>
              <a:buNone/>
            </a:pPr>
            <a:endParaRPr lang="en-US" sz="2000" b="1" dirty="0"/>
          </a:p>
          <a:p>
            <a:pPr algn="just">
              <a:lnSpc>
                <a:spcPct val="100000"/>
              </a:lnSpc>
            </a:pPr>
            <a:endParaRPr lang="en-US" sz="2000" b="1" dirty="0"/>
          </a:p>
        </p:txBody>
      </p:sp>
      <p:sp>
        <p:nvSpPr>
          <p:cNvPr id="4" name="Date Placeholder 3">
            <a:extLst>
              <a:ext uri="{FF2B5EF4-FFF2-40B4-BE49-F238E27FC236}">
                <a16:creationId xmlns:a16="http://schemas.microsoft.com/office/drawing/2014/main" xmlns="" id="{B5004348-70E6-5148-2D2D-39D0E041F39C}"/>
              </a:ext>
            </a:extLst>
          </p:cNvPr>
          <p:cNvSpPr>
            <a:spLocks noGrp="1"/>
          </p:cNvSpPr>
          <p:nvPr>
            <p:ph type="dt" sz="half" idx="10"/>
          </p:nvPr>
        </p:nvSpPr>
        <p:spPr/>
        <p:txBody>
          <a:bodyPr/>
          <a:lstStyle/>
          <a:p>
            <a:fld id="{D18DA524-D41F-408E-8577-B47CEC3EEE77}" type="datetime1">
              <a:rPr lang="en-IN" smtClean="0"/>
              <a:t>26-04-2025</a:t>
            </a:fld>
            <a:endParaRPr lang="en-IN" dirty="0"/>
          </a:p>
        </p:txBody>
      </p:sp>
      <p:sp>
        <p:nvSpPr>
          <p:cNvPr id="5" name="Slide Number Placeholder 4">
            <a:extLst>
              <a:ext uri="{FF2B5EF4-FFF2-40B4-BE49-F238E27FC236}">
                <a16:creationId xmlns:a16="http://schemas.microsoft.com/office/drawing/2014/main" xmlns="" id="{E3956DB6-B8BD-18D5-5861-3EFA28A1808D}"/>
              </a:ext>
            </a:extLst>
          </p:cNvPr>
          <p:cNvSpPr>
            <a:spLocks noGrp="1"/>
          </p:cNvSpPr>
          <p:nvPr>
            <p:ph type="sldNum" sz="quarter" idx="12"/>
          </p:nvPr>
        </p:nvSpPr>
        <p:spPr/>
        <p:txBody>
          <a:bodyPr/>
          <a:lstStyle/>
          <a:p>
            <a:fld id="{F3A9E9E4-B33D-4B71-BC7B-0B7320F1BC06}" type="slidenum">
              <a:rPr lang="en-IN" smtClean="0"/>
              <a:t>70</a:t>
            </a:fld>
            <a:endParaRPr lang="en-IN" dirty="0"/>
          </a:p>
        </p:txBody>
      </p:sp>
    </p:spTree>
    <p:extLst>
      <p:ext uri="{BB962C8B-B14F-4D97-AF65-F5344CB8AC3E}">
        <p14:creationId xmlns:p14="http://schemas.microsoft.com/office/powerpoint/2010/main" val="204121861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BF2837C-D9F5-BC09-E2EB-CA2CF22F7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A882BB1-EA25-F00F-918D-48094D84702A}"/>
              </a:ext>
            </a:extLst>
          </p:cNvPr>
          <p:cNvSpPr>
            <a:spLocks noGrp="1"/>
          </p:cNvSpPr>
          <p:nvPr>
            <p:ph type="title"/>
          </p:nvPr>
        </p:nvSpPr>
        <p:spPr>
          <a:xfrm>
            <a:off x="838200" y="-102235"/>
            <a:ext cx="10515600" cy="1325563"/>
          </a:xfrm>
        </p:spPr>
        <p:txBody>
          <a:bodyPr/>
          <a:lstStyle/>
          <a:p>
            <a:pPr algn="ctr"/>
            <a:r>
              <a:rPr lang="en-IN" b="1" dirty="0">
                <a:solidFill>
                  <a:srgbClr val="C00000"/>
                </a:solidFill>
              </a:rPr>
              <a:t>Host Based and Network based IDS </a:t>
            </a:r>
          </a:p>
        </p:txBody>
      </p:sp>
      <p:sp>
        <p:nvSpPr>
          <p:cNvPr id="3" name="Content Placeholder 2">
            <a:extLst>
              <a:ext uri="{FF2B5EF4-FFF2-40B4-BE49-F238E27FC236}">
                <a16:creationId xmlns:a16="http://schemas.microsoft.com/office/drawing/2014/main" xmlns="" id="{4D449614-D2C6-DB23-5615-1F5C8BEDB3D9}"/>
              </a:ext>
            </a:extLst>
          </p:cNvPr>
          <p:cNvSpPr>
            <a:spLocks noGrp="1"/>
          </p:cNvSpPr>
          <p:nvPr>
            <p:ph idx="1"/>
          </p:nvPr>
        </p:nvSpPr>
        <p:spPr>
          <a:xfrm>
            <a:off x="838200" y="1223328"/>
            <a:ext cx="10515600" cy="4351338"/>
          </a:xfrm>
        </p:spPr>
        <p:txBody>
          <a:bodyPr>
            <a:noAutofit/>
          </a:bodyPr>
          <a:lstStyle/>
          <a:p>
            <a:pPr algn="just">
              <a:lnSpc>
                <a:spcPct val="100000"/>
              </a:lnSpc>
            </a:pPr>
            <a:r>
              <a:rPr lang="en-US" sz="2000" b="1" dirty="0"/>
              <a:t>The goal of a NIDS is to protect the entire network or some set of specific sensitive resources, such as a collection of servers holding critical data. </a:t>
            </a:r>
            <a:r>
              <a:rPr lang="en-US" sz="2000" dirty="0"/>
              <a:t>The detection software can also monitor the content of packets communicated across the network, to detect, for example, unusual actions by one host (that might have been compromised) against another. </a:t>
            </a:r>
          </a:p>
          <a:p>
            <a:pPr algn="just">
              <a:lnSpc>
                <a:spcPct val="100000"/>
              </a:lnSpc>
            </a:pPr>
            <a:r>
              <a:rPr lang="en-US" sz="2000" b="1" dirty="0"/>
              <a:t>A network IDS is better able to protect itself against detection or compromise than a host-based one because the network IDS can operate in so-called stealth mode, observing but never sending data onto the network. </a:t>
            </a:r>
          </a:p>
          <a:p>
            <a:pPr algn="just">
              <a:lnSpc>
                <a:spcPct val="100000"/>
              </a:lnSpc>
            </a:pPr>
            <a:r>
              <a:rPr lang="en-US" sz="2000" dirty="0"/>
              <a:t>Its network interface card can even be restricted to receive data only, never doing anything to reveal its connection to the network.</a:t>
            </a:r>
          </a:p>
          <a:p>
            <a:pPr algn="just">
              <a:lnSpc>
                <a:spcPct val="100000"/>
              </a:lnSpc>
            </a:pPr>
            <a:r>
              <a:rPr lang="en-US" sz="2000" dirty="0"/>
              <a:t>A HIDS monitors host traffic; a NIDS analyzes activity across a whole network to detect attacks on any network host. Another advantage of an NIDS is that it can send alarms on a separate network from the one being monitored. That way an attacker will not know the attack has been recognized.</a:t>
            </a:r>
            <a:endParaRPr lang="en-US" sz="2000" b="1" dirty="0"/>
          </a:p>
        </p:txBody>
      </p:sp>
      <p:sp>
        <p:nvSpPr>
          <p:cNvPr id="4" name="Date Placeholder 3">
            <a:extLst>
              <a:ext uri="{FF2B5EF4-FFF2-40B4-BE49-F238E27FC236}">
                <a16:creationId xmlns:a16="http://schemas.microsoft.com/office/drawing/2014/main" xmlns="" id="{0DD85BA9-05BB-FC32-38C3-5FC8FC4B150C}"/>
              </a:ext>
            </a:extLst>
          </p:cNvPr>
          <p:cNvSpPr>
            <a:spLocks noGrp="1"/>
          </p:cNvSpPr>
          <p:nvPr>
            <p:ph type="dt" sz="half" idx="10"/>
          </p:nvPr>
        </p:nvSpPr>
        <p:spPr/>
        <p:txBody>
          <a:bodyPr/>
          <a:lstStyle/>
          <a:p>
            <a:fld id="{2FCFA6BE-19B3-442E-AA66-E0973FE28253}" type="datetime1">
              <a:rPr lang="en-IN" smtClean="0"/>
              <a:t>26-04-2025</a:t>
            </a:fld>
            <a:endParaRPr lang="en-IN" dirty="0"/>
          </a:p>
        </p:txBody>
      </p:sp>
      <p:sp>
        <p:nvSpPr>
          <p:cNvPr id="5" name="Slide Number Placeholder 4">
            <a:extLst>
              <a:ext uri="{FF2B5EF4-FFF2-40B4-BE49-F238E27FC236}">
                <a16:creationId xmlns:a16="http://schemas.microsoft.com/office/drawing/2014/main" xmlns="" id="{B23BCB9D-0D73-F731-51B0-A4E683FB6A96}"/>
              </a:ext>
            </a:extLst>
          </p:cNvPr>
          <p:cNvSpPr>
            <a:spLocks noGrp="1"/>
          </p:cNvSpPr>
          <p:nvPr>
            <p:ph type="sldNum" sz="quarter" idx="12"/>
          </p:nvPr>
        </p:nvSpPr>
        <p:spPr/>
        <p:txBody>
          <a:bodyPr/>
          <a:lstStyle/>
          <a:p>
            <a:fld id="{F3A9E9E4-B33D-4B71-BC7B-0B7320F1BC06}" type="slidenum">
              <a:rPr lang="en-IN" smtClean="0"/>
              <a:t>71</a:t>
            </a:fld>
            <a:endParaRPr lang="en-IN" dirty="0"/>
          </a:p>
        </p:txBody>
      </p:sp>
    </p:spTree>
    <p:extLst>
      <p:ext uri="{BB962C8B-B14F-4D97-AF65-F5344CB8AC3E}">
        <p14:creationId xmlns:p14="http://schemas.microsoft.com/office/powerpoint/2010/main" val="379303860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67E5697-D3C7-2EEE-1744-4DEA73FD0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6DC432C-92AC-D8A4-4387-93539987BBEC}"/>
              </a:ext>
            </a:extLst>
          </p:cNvPr>
          <p:cNvSpPr>
            <a:spLocks noGrp="1"/>
          </p:cNvSpPr>
          <p:nvPr>
            <p:ph type="title"/>
          </p:nvPr>
        </p:nvSpPr>
        <p:spPr>
          <a:xfrm>
            <a:off x="838200" y="-102235"/>
            <a:ext cx="10515600" cy="1325563"/>
          </a:xfrm>
        </p:spPr>
        <p:txBody>
          <a:bodyPr/>
          <a:lstStyle/>
          <a:p>
            <a:pPr algn="ctr"/>
            <a:r>
              <a:rPr lang="en-IN" b="1" dirty="0">
                <a:solidFill>
                  <a:srgbClr val="C00000"/>
                </a:solidFill>
              </a:rPr>
              <a:t>Other Intrusion Detection Technology</a:t>
            </a:r>
          </a:p>
        </p:txBody>
      </p:sp>
      <p:sp>
        <p:nvSpPr>
          <p:cNvPr id="3" name="Content Placeholder 2">
            <a:extLst>
              <a:ext uri="{FF2B5EF4-FFF2-40B4-BE49-F238E27FC236}">
                <a16:creationId xmlns:a16="http://schemas.microsoft.com/office/drawing/2014/main" xmlns="" id="{E6895256-8E13-C3DD-96C7-AB1140A03FF2}"/>
              </a:ext>
            </a:extLst>
          </p:cNvPr>
          <p:cNvSpPr>
            <a:spLocks noGrp="1"/>
          </p:cNvSpPr>
          <p:nvPr>
            <p:ph idx="1"/>
          </p:nvPr>
        </p:nvSpPr>
        <p:spPr>
          <a:xfrm>
            <a:off x="838200" y="1081088"/>
            <a:ext cx="10515600" cy="4351338"/>
          </a:xfrm>
        </p:spPr>
        <p:txBody>
          <a:bodyPr>
            <a:noAutofit/>
          </a:bodyPr>
          <a:lstStyle/>
          <a:p>
            <a:pPr algn="just">
              <a:lnSpc>
                <a:spcPct val="100000"/>
              </a:lnSpc>
            </a:pPr>
            <a:r>
              <a:rPr lang="en-US" sz="2000" dirty="0"/>
              <a:t>Now, intrusion detection capabilities are sometimes embedded in other devices (such as routers and firewalls).</a:t>
            </a:r>
          </a:p>
          <a:p>
            <a:pPr algn="just">
              <a:lnSpc>
                <a:spcPct val="100000"/>
              </a:lnSpc>
            </a:pPr>
            <a:r>
              <a:rPr lang="en-US" sz="2000" dirty="0"/>
              <a:t>Thus, companies now claim that many tools or products are intrusion detection devices, and new terms have been introduced with which vendors seek to gain a competitive edge by highlighting fine distinctions.</a:t>
            </a:r>
          </a:p>
          <a:p>
            <a:pPr algn="just">
              <a:lnSpc>
                <a:spcPct val="100000"/>
              </a:lnSpc>
            </a:pPr>
            <a:r>
              <a:rPr lang="en-US" sz="2000" b="1" dirty="0"/>
              <a:t>Code Modification Checkers </a:t>
            </a:r>
          </a:p>
          <a:p>
            <a:pPr lvl="1" algn="just">
              <a:lnSpc>
                <a:spcPct val="100000"/>
              </a:lnSpc>
            </a:pPr>
            <a:r>
              <a:rPr lang="en-US" sz="2000" dirty="0"/>
              <a:t>Some security engineers consider other devices to be IDSs as well. For instance, to detect unacceptable code modification, programs can compare the active version of software code with a saved version of a digest of that code. </a:t>
            </a:r>
          </a:p>
          <a:p>
            <a:pPr lvl="1" algn="just">
              <a:lnSpc>
                <a:spcPct val="100000"/>
              </a:lnSpc>
            </a:pPr>
            <a:r>
              <a:rPr lang="en-US" sz="2000" dirty="0"/>
              <a:t>The Tripwire program is a typical static data comparison program. It can detect changes to executable programs and other data files that should never or seldom change. </a:t>
            </a:r>
          </a:p>
          <a:p>
            <a:pPr algn="just">
              <a:lnSpc>
                <a:spcPct val="100000"/>
              </a:lnSpc>
            </a:pPr>
            <a:r>
              <a:rPr lang="en-US" sz="2000" b="1" dirty="0"/>
              <a:t>Vulnerability Scanners </a:t>
            </a:r>
          </a:p>
          <a:p>
            <a:pPr lvl="1" algn="just">
              <a:lnSpc>
                <a:spcPct val="100000"/>
              </a:lnSpc>
            </a:pPr>
            <a:r>
              <a:rPr lang="en-US" sz="2000" dirty="0"/>
              <a:t>System vulnerability scanners, such as ISS Scanner or Nessus, can be run against a network. They check for known vulnerabilities and report flaws found.</a:t>
            </a:r>
            <a:endParaRPr lang="en-US" sz="2000" b="1" dirty="0"/>
          </a:p>
        </p:txBody>
      </p:sp>
      <p:sp>
        <p:nvSpPr>
          <p:cNvPr id="4" name="Date Placeholder 3">
            <a:extLst>
              <a:ext uri="{FF2B5EF4-FFF2-40B4-BE49-F238E27FC236}">
                <a16:creationId xmlns:a16="http://schemas.microsoft.com/office/drawing/2014/main" xmlns="" id="{462813C2-5AEF-0B54-4952-39A118CD3B56}"/>
              </a:ext>
            </a:extLst>
          </p:cNvPr>
          <p:cNvSpPr>
            <a:spLocks noGrp="1"/>
          </p:cNvSpPr>
          <p:nvPr>
            <p:ph type="dt" sz="half" idx="10"/>
          </p:nvPr>
        </p:nvSpPr>
        <p:spPr/>
        <p:txBody>
          <a:bodyPr/>
          <a:lstStyle/>
          <a:p>
            <a:fld id="{557CB7FB-EC4C-4671-B4B1-99B543FBC4E3}" type="datetime1">
              <a:rPr lang="en-IN" smtClean="0"/>
              <a:t>26-04-2025</a:t>
            </a:fld>
            <a:endParaRPr lang="en-IN" dirty="0"/>
          </a:p>
        </p:txBody>
      </p:sp>
      <p:sp>
        <p:nvSpPr>
          <p:cNvPr id="5" name="Slide Number Placeholder 4">
            <a:extLst>
              <a:ext uri="{FF2B5EF4-FFF2-40B4-BE49-F238E27FC236}">
                <a16:creationId xmlns:a16="http://schemas.microsoft.com/office/drawing/2014/main" xmlns="" id="{BFFD2D24-B11B-1D0C-56C2-C2C09F26A9EB}"/>
              </a:ext>
            </a:extLst>
          </p:cNvPr>
          <p:cNvSpPr>
            <a:spLocks noGrp="1"/>
          </p:cNvSpPr>
          <p:nvPr>
            <p:ph type="sldNum" sz="quarter" idx="12"/>
          </p:nvPr>
        </p:nvSpPr>
        <p:spPr/>
        <p:txBody>
          <a:bodyPr/>
          <a:lstStyle/>
          <a:p>
            <a:fld id="{F3A9E9E4-B33D-4B71-BC7B-0B7320F1BC06}" type="slidenum">
              <a:rPr lang="en-IN" smtClean="0"/>
              <a:t>72</a:t>
            </a:fld>
            <a:endParaRPr lang="en-IN" dirty="0"/>
          </a:p>
        </p:txBody>
      </p:sp>
    </p:spTree>
    <p:extLst>
      <p:ext uri="{BB962C8B-B14F-4D97-AF65-F5344CB8AC3E}">
        <p14:creationId xmlns:p14="http://schemas.microsoft.com/office/powerpoint/2010/main" val="16605558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DEA90A7-8BE1-71EF-21F5-6D222985B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FFC7F00-4739-B5AE-3027-0C5C947B8CE9}"/>
              </a:ext>
            </a:extLst>
          </p:cNvPr>
          <p:cNvSpPr>
            <a:spLocks noGrp="1"/>
          </p:cNvSpPr>
          <p:nvPr>
            <p:ph type="title"/>
          </p:nvPr>
        </p:nvSpPr>
        <p:spPr>
          <a:xfrm>
            <a:off x="838200" y="-102235"/>
            <a:ext cx="10515600" cy="1325563"/>
          </a:xfrm>
        </p:spPr>
        <p:txBody>
          <a:bodyPr/>
          <a:lstStyle/>
          <a:p>
            <a:pPr algn="ctr"/>
            <a:r>
              <a:rPr lang="en-IN" b="1" dirty="0">
                <a:solidFill>
                  <a:srgbClr val="C00000"/>
                </a:solidFill>
              </a:rPr>
              <a:t>Intrusion Prevention Systems</a:t>
            </a:r>
          </a:p>
        </p:txBody>
      </p:sp>
      <p:sp>
        <p:nvSpPr>
          <p:cNvPr id="3" name="Content Placeholder 2">
            <a:extLst>
              <a:ext uri="{FF2B5EF4-FFF2-40B4-BE49-F238E27FC236}">
                <a16:creationId xmlns:a16="http://schemas.microsoft.com/office/drawing/2014/main" xmlns="" id="{C3C67361-3D8E-81E9-3DD5-9B16FE8C89A0}"/>
              </a:ext>
            </a:extLst>
          </p:cNvPr>
          <p:cNvSpPr>
            <a:spLocks noGrp="1"/>
          </p:cNvSpPr>
          <p:nvPr>
            <p:ph idx="1"/>
          </p:nvPr>
        </p:nvSpPr>
        <p:spPr>
          <a:xfrm>
            <a:off x="838200" y="1081088"/>
            <a:ext cx="10515600" cy="4351338"/>
          </a:xfrm>
        </p:spPr>
        <p:txBody>
          <a:bodyPr>
            <a:noAutofit/>
          </a:bodyPr>
          <a:lstStyle/>
          <a:p>
            <a:pPr algn="just">
              <a:lnSpc>
                <a:spcPct val="100000"/>
              </a:lnSpc>
            </a:pPr>
            <a:r>
              <a:rPr lang="en-US" sz="2000" dirty="0"/>
              <a:t>Intrusion detection systems work primarily to detect an attack after it has begun, and naturally, system or network owners want to prevent the attack before it happens. </a:t>
            </a:r>
          </a:p>
          <a:p>
            <a:pPr algn="just">
              <a:lnSpc>
                <a:spcPct val="100000"/>
              </a:lnSpc>
            </a:pPr>
            <a:r>
              <a:rPr lang="en-US" sz="2000" dirty="0"/>
              <a:t>Think of house burglars. You install locks to prevent an intrusion, but those really do not stop a truly dedicated burglar who will smash and enter through a window or cut a hole in the roof if the motivation is strong enough. As the adage says, where there’s a will, there’s a way. </a:t>
            </a:r>
          </a:p>
          <a:p>
            <a:pPr algn="just">
              <a:lnSpc>
                <a:spcPct val="100000"/>
              </a:lnSpc>
            </a:pPr>
            <a:r>
              <a:rPr lang="en-US" sz="2000" dirty="0"/>
              <a:t>A second difficulty is that you never know when the attacker will strike, whether the attacker will be alone or in a gang of thousands of people, whether the attacker will be a person or an army of trained ants, or whether the brass band marching past is part of an attack. </a:t>
            </a:r>
          </a:p>
          <a:p>
            <a:pPr algn="just">
              <a:lnSpc>
                <a:spcPct val="100000"/>
              </a:lnSpc>
            </a:pPr>
            <a:r>
              <a:rPr lang="en-US" sz="2000" dirty="0"/>
              <a:t>You may install a house alarm that senses motion, pressure, body heat, or some other characteristic of an attacker, so that regardless of how the attacker entered, you or the police are informed of the intrusion, but even an alarm presupposes the attacker will be a person, when in fact it might be a robot or drone. </a:t>
            </a:r>
          </a:p>
          <a:p>
            <a:pPr algn="just">
              <a:lnSpc>
                <a:spcPct val="100000"/>
              </a:lnSpc>
            </a:pPr>
            <a:r>
              <a:rPr lang="en-US" sz="2000" dirty="0"/>
              <a:t>Furthermore, such alarms are subject to false positives, since a household pet or a balloon moving in the breeze can set off the alarm.</a:t>
            </a:r>
            <a:endParaRPr lang="en-US" sz="2000" b="1" dirty="0"/>
          </a:p>
        </p:txBody>
      </p:sp>
      <p:sp>
        <p:nvSpPr>
          <p:cNvPr id="4" name="Date Placeholder 3">
            <a:extLst>
              <a:ext uri="{FF2B5EF4-FFF2-40B4-BE49-F238E27FC236}">
                <a16:creationId xmlns:a16="http://schemas.microsoft.com/office/drawing/2014/main" xmlns="" id="{46B311C0-01AC-DC7E-68A3-F06BB859CC4C}"/>
              </a:ext>
            </a:extLst>
          </p:cNvPr>
          <p:cNvSpPr>
            <a:spLocks noGrp="1"/>
          </p:cNvSpPr>
          <p:nvPr>
            <p:ph type="dt" sz="half" idx="10"/>
          </p:nvPr>
        </p:nvSpPr>
        <p:spPr/>
        <p:txBody>
          <a:bodyPr/>
          <a:lstStyle/>
          <a:p>
            <a:fld id="{D522C2E7-EB11-4C7A-82CE-5C5B3B6B910C}" type="datetime1">
              <a:rPr lang="en-IN" smtClean="0"/>
              <a:t>26-04-2025</a:t>
            </a:fld>
            <a:endParaRPr lang="en-IN" dirty="0"/>
          </a:p>
        </p:txBody>
      </p:sp>
      <p:sp>
        <p:nvSpPr>
          <p:cNvPr id="5" name="Slide Number Placeholder 4">
            <a:extLst>
              <a:ext uri="{FF2B5EF4-FFF2-40B4-BE49-F238E27FC236}">
                <a16:creationId xmlns:a16="http://schemas.microsoft.com/office/drawing/2014/main" xmlns="" id="{505725F5-CE93-D6FF-4CDC-C7FF561C8579}"/>
              </a:ext>
            </a:extLst>
          </p:cNvPr>
          <p:cNvSpPr>
            <a:spLocks noGrp="1"/>
          </p:cNvSpPr>
          <p:nvPr>
            <p:ph type="sldNum" sz="quarter" idx="12"/>
          </p:nvPr>
        </p:nvSpPr>
        <p:spPr/>
        <p:txBody>
          <a:bodyPr/>
          <a:lstStyle/>
          <a:p>
            <a:fld id="{F3A9E9E4-B33D-4B71-BC7B-0B7320F1BC06}" type="slidenum">
              <a:rPr lang="en-IN" smtClean="0"/>
              <a:t>73</a:t>
            </a:fld>
            <a:endParaRPr lang="en-IN" dirty="0"/>
          </a:p>
        </p:txBody>
      </p:sp>
    </p:spTree>
    <p:extLst>
      <p:ext uri="{BB962C8B-B14F-4D97-AF65-F5344CB8AC3E}">
        <p14:creationId xmlns:p14="http://schemas.microsoft.com/office/powerpoint/2010/main" val="3343393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BF208C8-A539-D865-7E06-C75C4CF6F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8410F82-47BE-FE48-CA3B-7DD826B65CC5}"/>
              </a:ext>
            </a:extLst>
          </p:cNvPr>
          <p:cNvSpPr>
            <a:spLocks noGrp="1"/>
          </p:cNvSpPr>
          <p:nvPr>
            <p:ph type="title"/>
          </p:nvPr>
        </p:nvSpPr>
        <p:spPr>
          <a:xfrm>
            <a:off x="838200" y="22702"/>
            <a:ext cx="10515600" cy="1325563"/>
          </a:xfrm>
        </p:spPr>
        <p:txBody>
          <a:bodyPr/>
          <a:lstStyle/>
          <a:p>
            <a:pPr algn="ctr"/>
            <a:r>
              <a:rPr lang="en-IN" b="1" dirty="0">
                <a:solidFill>
                  <a:srgbClr val="C00000"/>
                </a:solidFill>
              </a:rPr>
              <a:t>Intrusion Prevention Systems</a:t>
            </a:r>
          </a:p>
        </p:txBody>
      </p:sp>
      <p:sp>
        <p:nvSpPr>
          <p:cNvPr id="3" name="Content Placeholder 2">
            <a:extLst>
              <a:ext uri="{FF2B5EF4-FFF2-40B4-BE49-F238E27FC236}">
                <a16:creationId xmlns:a16="http://schemas.microsoft.com/office/drawing/2014/main" xmlns="" id="{7AE855FA-4649-C820-557A-DFB351E5DFED}"/>
              </a:ext>
            </a:extLst>
          </p:cNvPr>
          <p:cNvSpPr>
            <a:spLocks noGrp="1"/>
          </p:cNvSpPr>
          <p:nvPr>
            <p:ph idx="1"/>
          </p:nvPr>
        </p:nvSpPr>
        <p:spPr>
          <a:xfrm>
            <a:off x="838200" y="1345248"/>
            <a:ext cx="10515600" cy="4351338"/>
          </a:xfrm>
        </p:spPr>
        <p:txBody>
          <a:bodyPr>
            <a:noAutofit/>
          </a:bodyPr>
          <a:lstStyle/>
          <a:p>
            <a:pPr algn="just">
              <a:lnSpc>
                <a:spcPct val="100000"/>
              </a:lnSpc>
            </a:pPr>
            <a:r>
              <a:rPr lang="en-US" sz="2000" dirty="0"/>
              <a:t>Similarly, computer systems are subject to many possible attacks, and preventing all of them is virtually impossible. Outguessing the attacker, actually all attackers, is also virtually impossible. </a:t>
            </a:r>
          </a:p>
          <a:p>
            <a:pPr algn="just">
              <a:lnSpc>
                <a:spcPct val="100000"/>
              </a:lnSpc>
            </a:pPr>
            <a:r>
              <a:rPr lang="en-US" sz="2000" b="1" dirty="0"/>
              <a:t>An intrusion prevention system, or IPS, tries to block or stop harm. </a:t>
            </a:r>
          </a:p>
          <a:p>
            <a:pPr algn="just">
              <a:lnSpc>
                <a:spcPct val="100000"/>
              </a:lnSpc>
            </a:pPr>
            <a:r>
              <a:rPr lang="en-US" sz="2000" dirty="0"/>
              <a:t>In fact, it is an intrusion detection system with a </a:t>
            </a:r>
            <a:r>
              <a:rPr lang="en-US" sz="2000" b="1" dirty="0"/>
              <a:t>built-in response capability</a:t>
            </a:r>
            <a:r>
              <a:rPr lang="en-US" sz="2000" dirty="0"/>
              <a:t>. The response is not just raising an alarm; the automatic responses include cutting off a user’s access, rejecting all traffic from address a.b.c.d, or blocking all users’ access to a particular file or program. </a:t>
            </a:r>
          </a:p>
          <a:p>
            <a:pPr algn="just">
              <a:lnSpc>
                <a:spcPct val="100000"/>
              </a:lnSpc>
            </a:pPr>
            <a:r>
              <a:rPr lang="en-US" sz="2000" dirty="0"/>
              <a:t>Everything already said of intrusion detection systems is also true of intrusion prevention systems. In the </a:t>
            </a:r>
            <a:r>
              <a:rPr lang="en-US" sz="2000"/>
              <a:t>next slides, </a:t>
            </a:r>
            <a:r>
              <a:rPr lang="en-US" sz="2000" dirty="0"/>
              <a:t>we consider some of the actions IPSs can take after having detected a probable attack. </a:t>
            </a:r>
          </a:p>
          <a:p>
            <a:pPr algn="just">
              <a:lnSpc>
                <a:spcPct val="100000"/>
              </a:lnSpc>
            </a:pPr>
            <a:r>
              <a:rPr lang="en-US" sz="2000" b="1" dirty="0"/>
              <a:t>Intrusion prevention systems extend IDS technology with built-in protective response.</a:t>
            </a:r>
          </a:p>
        </p:txBody>
      </p:sp>
      <p:sp>
        <p:nvSpPr>
          <p:cNvPr id="4" name="Date Placeholder 3">
            <a:extLst>
              <a:ext uri="{FF2B5EF4-FFF2-40B4-BE49-F238E27FC236}">
                <a16:creationId xmlns:a16="http://schemas.microsoft.com/office/drawing/2014/main" xmlns="" id="{00404BBD-59CE-3CC5-A61E-337896413F98}"/>
              </a:ext>
            </a:extLst>
          </p:cNvPr>
          <p:cNvSpPr>
            <a:spLocks noGrp="1"/>
          </p:cNvSpPr>
          <p:nvPr>
            <p:ph type="dt" sz="half" idx="10"/>
          </p:nvPr>
        </p:nvSpPr>
        <p:spPr/>
        <p:txBody>
          <a:bodyPr/>
          <a:lstStyle/>
          <a:p>
            <a:fld id="{83DA9D5A-85BB-4637-B2D0-231E1F984AA7}" type="datetime1">
              <a:rPr lang="en-IN" smtClean="0"/>
              <a:t>26-04-2025</a:t>
            </a:fld>
            <a:endParaRPr lang="en-IN" dirty="0"/>
          </a:p>
        </p:txBody>
      </p:sp>
      <p:sp>
        <p:nvSpPr>
          <p:cNvPr id="5" name="Slide Number Placeholder 4">
            <a:extLst>
              <a:ext uri="{FF2B5EF4-FFF2-40B4-BE49-F238E27FC236}">
                <a16:creationId xmlns:a16="http://schemas.microsoft.com/office/drawing/2014/main" xmlns="" id="{58E830D3-BBC5-920C-AC95-6DAA67C94E9C}"/>
              </a:ext>
            </a:extLst>
          </p:cNvPr>
          <p:cNvSpPr>
            <a:spLocks noGrp="1"/>
          </p:cNvSpPr>
          <p:nvPr>
            <p:ph type="sldNum" sz="quarter" idx="12"/>
          </p:nvPr>
        </p:nvSpPr>
        <p:spPr/>
        <p:txBody>
          <a:bodyPr/>
          <a:lstStyle/>
          <a:p>
            <a:fld id="{F3A9E9E4-B33D-4B71-BC7B-0B7320F1BC06}" type="slidenum">
              <a:rPr lang="en-IN" smtClean="0"/>
              <a:t>74</a:t>
            </a:fld>
            <a:endParaRPr lang="en-IN" dirty="0"/>
          </a:p>
        </p:txBody>
      </p:sp>
    </p:spTree>
    <p:extLst>
      <p:ext uri="{BB962C8B-B14F-4D97-AF65-F5344CB8AC3E}">
        <p14:creationId xmlns:p14="http://schemas.microsoft.com/office/powerpoint/2010/main" val="35187238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74753B2-3BC8-E7B8-6357-781FF7BC7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5AE6011-BF72-56FF-1AFB-7386938B51AC}"/>
              </a:ext>
            </a:extLst>
          </p:cNvPr>
          <p:cNvSpPr>
            <a:spLocks noGrp="1"/>
          </p:cNvSpPr>
          <p:nvPr>
            <p:ph type="title"/>
          </p:nvPr>
        </p:nvSpPr>
        <p:spPr>
          <a:xfrm>
            <a:off x="838200" y="0"/>
            <a:ext cx="10515600" cy="1325563"/>
          </a:xfrm>
        </p:spPr>
        <p:txBody>
          <a:bodyPr/>
          <a:lstStyle/>
          <a:p>
            <a:pPr algn="ctr"/>
            <a:r>
              <a:rPr lang="en-IN" b="1" dirty="0">
                <a:solidFill>
                  <a:srgbClr val="C00000"/>
                </a:solidFill>
              </a:rPr>
              <a:t>Responding to Alarms</a:t>
            </a:r>
          </a:p>
        </p:txBody>
      </p:sp>
      <p:sp>
        <p:nvSpPr>
          <p:cNvPr id="3" name="Content Placeholder 2">
            <a:extLst>
              <a:ext uri="{FF2B5EF4-FFF2-40B4-BE49-F238E27FC236}">
                <a16:creationId xmlns:a16="http://schemas.microsoft.com/office/drawing/2014/main" xmlns="" id="{A1ABA0C7-5431-4D45-A0A2-77952FBF2035}"/>
              </a:ext>
            </a:extLst>
          </p:cNvPr>
          <p:cNvSpPr>
            <a:spLocks noGrp="1"/>
          </p:cNvSpPr>
          <p:nvPr>
            <p:ph idx="1"/>
          </p:nvPr>
        </p:nvSpPr>
        <p:spPr>
          <a:xfrm>
            <a:off x="838200" y="1406843"/>
            <a:ext cx="10515600" cy="4351338"/>
          </a:xfrm>
        </p:spPr>
        <p:txBody>
          <a:bodyPr>
            <a:noAutofit/>
          </a:bodyPr>
          <a:lstStyle/>
          <a:p>
            <a:pPr algn="just">
              <a:lnSpc>
                <a:spcPct val="100000"/>
              </a:lnSpc>
            </a:pPr>
            <a:r>
              <a:rPr lang="en-US" sz="2000" dirty="0"/>
              <a:t>Monitoring is appropriate for an attack of modest (initial) impact. </a:t>
            </a:r>
          </a:p>
          <a:p>
            <a:pPr algn="just">
              <a:lnSpc>
                <a:spcPct val="100000"/>
              </a:lnSpc>
            </a:pPr>
            <a:r>
              <a:rPr lang="en-US" sz="2000" dirty="0"/>
              <a:t>Perhaps the real goal is to watch the intruder to see what resources are being accessed or what attempted attacks are tried. </a:t>
            </a:r>
          </a:p>
          <a:p>
            <a:pPr algn="just">
              <a:lnSpc>
                <a:spcPct val="100000"/>
              </a:lnSpc>
            </a:pPr>
            <a:r>
              <a:rPr lang="en-US" sz="2000" dirty="0"/>
              <a:t>Another monitoring possibility is to record all traffic from a given source for future analysis. This approach should be invisible to the attacker. </a:t>
            </a:r>
          </a:p>
          <a:p>
            <a:pPr algn="just">
              <a:lnSpc>
                <a:spcPct val="100000"/>
              </a:lnSpc>
            </a:pPr>
            <a:r>
              <a:rPr lang="en-US" sz="2000" dirty="0"/>
              <a:t>Protecting can mean increasing access controls and even making a resource unavailable (for example, shutting off a network connection or making a file unavailable). The system can even sever the network connection the attacker is using. </a:t>
            </a:r>
          </a:p>
          <a:p>
            <a:pPr algn="just">
              <a:lnSpc>
                <a:spcPct val="100000"/>
              </a:lnSpc>
            </a:pPr>
            <a:r>
              <a:rPr lang="en-US" sz="2000" dirty="0"/>
              <a:t>In contrast to monitoring, protecting may be very visible to the attacker. Finally, calling a human allows individual discrimination. </a:t>
            </a:r>
          </a:p>
          <a:p>
            <a:pPr algn="just">
              <a:lnSpc>
                <a:spcPct val="100000"/>
              </a:lnSpc>
            </a:pPr>
            <a:r>
              <a:rPr lang="en-US" sz="2000" dirty="0"/>
              <a:t>The IDS can take an initial, perhaps overly strong, defensive action immediately while also generating an alert to a human, who may take seconds, minutes, or longer to respond but then applies a more detailed and specific counteraction.</a:t>
            </a:r>
            <a:endParaRPr lang="en-US" sz="2000" b="1" dirty="0"/>
          </a:p>
        </p:txBody>
      </p:sp>
      <p:sp>
        <p:nvSpPr>
          <p:cNvPr id="4" name="Date Placeholder 3">
            <a:extLst>
              <a:ext uri="{FF2B5EF4-FFF2-40B4-BE49-F238E27FC236}">
                <a16:creationId xmlns:a16="http://schemas.microsoft.com/office/drawing/2014/main" xmlns="" id="{7CC3A3E9-B407-3BE2-5E27-8D7A207D9527}"/>
              </a:ext>
            </a:extLst>
          </p:cNvPr>
          <p:cNvSpPr>
            <a:spLocks noGrp="1"/>
          </p:cNvSpPr>
          <p:nvPr>
            <p:ph type="dt" sz="half" idx="10"/>
          </p:nvPr>
        </p:nvSpPr>
        <p:spPr/>
        <p:txBody>
          <a:bodyPr/>
          <a:lstStyle/>
          <a:p>
            <a:fld id="{36A8476A-FFEF-47B0-A76D-289A4B686040}" type="datetime1">
              <a:rPr lang="en-IN" smtClean="0"/>
              <a:t>26-04-2025</a:t>
            </a:fld>
            <a:endParaRPr lang="en-IN" dirty="0"/>
          </a:p>
        </p:txBody>
      </p:sp>
      <p:sp>
        <p:nvSpPr>
          <p:cNvPr id="5" name="Slide Number Placeholder 4">
            <a:extLst>
              <a:ext uri="{FF2B5EF4-FFF2-40B4-BE49-F238E27FC236}">
                <a16:creationId xmlns:a16="http://schemas.microsoft.com/office/drawing/2014/main" xmlns="" id="{75A81F34-753D-30FC-58EA-F20F90B8CC3D}"/>
              </a:ext>
            </a:extLst>
          </p:cNvPr>
          <p:cNvSpPr>
            <a:spLocks noGrp="1"/>
          </p:cNvSpPr>
          <p:nvPr>
            <p:ph type="sldNum" sz="quarter" idx="12"/>
          </p:nvPr>
        </p:nvSpPr>
        <p:spPr/>
        <p:txBody>
          <a:bodyPr/>
          <a:lstStyle/>
          <a:p>
            <a:fld id="{F3A9E9E4-B33D-4B71-BC7B-0B7320F1BC06}" type="slidenum">
              <a:rPr lang="en-IN" smtClean="0"/>
              <a:t>75</a:t>
            </a:fld>
            <a:endParaRPr lang="en-IN" dirty="0"/>
          </a:p>
        </p:txBody>
      </p:sp>
    </p:spTree>
    <p:extLst>
      <p:ext uri="{BB962C8B-B14F-4D97-AF65-F5344CB8AC3E}">
        <p14:creationId xmlns:p14="http://schemas.microsoft.com/office/powerpoint/2010/main" val="19765996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4C55560-791F-8792-9EBC-6AF3F10863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20E744F-2703-BEEA-CB3F-DF8D87EED530}"/>
              </a:ext>
            </a:extLst>
          </p:cNvPr>
          <p:cNvSpPr>
            <a:spLocks noGrp="1"/>
          </p:cNvSpPr>
          <p:nvPr>
            <p:ph type="title"/>
          </p:nvPr>
        </p:nvSpPr>
        <p:spPr>
          <a:xfrm>
            <a:off x="838200" y="0"/>
            <a:ext cx="10515600" cy="1325563"/>
          </a:xfrm>
        </p:spPr>
        <p:txBody>
          <a:bodyPr/>
          <a:lstStyle/>
          <a:p>
            <a:pPr algn="ctr"/>
            <a:r>
              <a:rPr lang="en-IN" b="1" dirty="0">
                <a:solidFill>
                  <a:srgbClr val="C00000"/>
                </a:solidFill>
              </a:rPr>
              <a:t>Alarm</a:t>
            </a:r>
          </a:p>
        </p:txBody>
      </p:sp>
      <p:sp>
        <p:nvSpPr>
          <p:cNvPr id="3" name="Content Placeholder 2">
            <a:extLst>
              <a:ext uri="{FF2B5EF4-FFF2-40B4-BE49-F238E27FC236}">
                <a16:creationId xmlns:a16="http://schemas.microsoft.com/office/drawing/2014/main" xmlns="" id="{A30C23F1-729E-7E09-D27F-4F5A145E0B44}"/>
              </a:ext>
            </a:extLst>
          </p:cNvPr>
          <p:cNvSpPr>
            <a:spLocks noGrp="1"/>
          </p:cNvSpPr>
          <p:nvPr>
            <p:ph idx="1"/>
          </p:nvPr>
        </p:nvSpPr>
        <p:spPr>
          <a:xfrm>
            <a:off x="838200" y="1406843"/>
            <a:ext cx="10515600" cy="4351338"/>
          </a:xfrm>
        </p:spPr>
        <p:txBody>
          <a:bodyPr>
            <a:noAutofit/>
          </a:bodyPr>
          <a:lstStyle/>
          <a:p>
            <a:pPr algn="just">
              <a:lnSpc>
                <a:spcPct val="100000"/>
              </a:lnSpc>
            </a:pPr>
            <a:r>
              <a:rPr lang="en-US" sz="2000" dirty="0"/>
              <a:t>The simplest and safest action for an IDS is simply to generate an alarm to an administrator who will then determine the next steps. </a:t>
            </a:r>
          </a:p>
          <a:p>
            <a:pPr algn="just">
              <a:lnSpc>
                <a:spcPct val="100000"/>
              </a:lnSpc>
            </a:pPr>
            <a:r>
              <a:rPr lang="en-US" sz="2000" dirty="0"/>
              <a:t>Humans are most appropriate to judge the severity of a situation and choose among countermeasures. Furthermore, humans can remember past situations and sometimes recognize connections or similarities that an IDS may not detect. </a:t>
            </a:r>
          </a:p>
          <a:p>
            <a:pPr algn="just">
              <a:lnSpc>
                <a:spcPct val="100000"/>
              </a:lnSpc>
            </a:pPr>
            <a:r>
              <a:rPr lang="en-US" sz="2000" dirty="0"/>
              <a:t>Unfortunately, generating an alarm requires that a human be constantly available to respond to that alarm and that the response be timely and appropriate.</a:t>
            </a:r>
          </a:p>
          <a:p>
            <a:pPr algn="just">
              <a:lnSpc>
                <a:spcPct val="100000"/>
              </a:lnSpc>
            </a:pPr>
            <a:r>
              <a:rPr lang="en-US" sz="2000" dirty="0"/>
              <a:t>If multiple sensors generate alarms at the same time, the human can become overloaded and miss new alarms or be so involved with one that the second alarm is not handled quickly enough. </a:t>
            </a:r>
          </a:p>
          <a:p>
            <a:pPr algn="just">
              <a:lnSpc>
                <a:spcPct val="100000"/>
              </a:lnSpc>
            </a:pPr>
            <a:r>
              <a:rPr lang="en-US" sz="2000" dirty="0"/>
              <a:t>Worse, the second alarm can so distract or confuse the human, that action on the first alarm is jeopardized.</a:t>
            </a:r>
            <a:endParaRPr lang="en-US" sz="2000" b="1" dirty="0"/>
          </a:p>
        </p:txBody>
      </p:sp>
      <p:sp>
        <p:nvSpPr>
          <p:cNvPr id="4" name="Date Placeholder 3">
            <a:extLst>
              <a:ext uri="{FF2B5EF4-FFF2-40B4-BE49-F238E27FC236}">
                <a16:creationId xmlns:a16="http://schemas.microsoft.com/office/drawing/2014/main" xmlns="" id="{6241E6DA-E037-0622-22CD-551CDA68A621}"/>
              </a:ext>
            </a:extLst>
          </p:cNvPr>
          <p:cNvSpPr>
            <a:spLocks noGrp="1"/>
          </p:cNvSpPr>
          <p:nvPr>
            <p:ph type="dt" sz="half" idx="10"/>
          </p:nvPr>
        </p:nvSpPr>
        <p:spPr/>
        <p:txBody>
          <a:bodyPr/>
          <a:lstStyle/>
          <a:p>
            <a:fld id="{9C01C122-BE97-4088-B5D4-BEB0BDEB4FCA}" type="datetime1">
              <a:rPr lang="en-IN" smtClean="0"/>
              <a:t>26-04-2025</a:t>
            </a:fld>
            <a:endParaRPr lang="en-IN" dirty="0"/>
          </a:p>
        </p:txBody>
      </p:sp>
      <p:sp>
        <p:nvSpPr>
          <p:cNvPr id="5" name="Slide Number Placeholder 4">
            <a:extLst>
              <a:ext uri="{FF2B5EF4-FFF2-40B4-BE49-F238E27FC236}">
                <a16:creationId xmlns:a16="http://schemas.microsoft.com/office/drawing/2014/main" xmlns="" id="{D5282650-A6B1-2A35-5E4B-6138D01013BC}"/>
              </a:ext>
            </a:extLst>
          </p:cNvPr>
          <p:cNvSpPr>
            <a:spLocks noGrp="1"/>
          </p:cNvSpPr>
          <p:nvPr>
            <p:ph type="sldNum" sz="quarter" idx="12"/>
          </p:nvPr>
        </p:nvSpPr>
        <p:spPr/>
        <p:txBody>
          <a:bodyPr/>
          <a:lstStyle/>
          <a:p>
            <a:fld id="{F3A9E9E4-B33D-4B71-BC7B-0B7320F1BC06}" type="slidenum">
              <a:rPr lang="en-IN" smtClean="0"/>
              <a:t>76</a:t>
            </a:fld>
            <a:endParaRPr lang="en-IN" dirty="0"/>
          </a:p>
        </p:txBody>
      </p:sp>
    </p:spTree>
    <p:extLst>
      <p:ext uri="{BB962C8B-B14F-4D97-AF65-F5344CB8AC3E}">
        <p14:creationId xmlns:p14="http://schemas.microsoft.com/office/powerpoint/2010/main" val="33932312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448F00E-481D-1653-A1C0-7F2EA6735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F5D059C-0C3F-3749-B824-F5A668D664CA}"/>
              </a:ext>
            </a:extLst>
          </p:cNvPr>
          <p:cNvSpPr>
            <a:spLocks noGrp="1"/>
          </p:cNvSpPr>
          <p:nvPr>
            <p:ph type="title"/>
          </p:nvPr>
        </p:nvSpPr>
        <p:spPr>
          <a:xfrm>
            <a:off x="838200" y="0"/>
            <a:ext cx="10515600" cy="1325563"/>
          </a:xfrm>
        </p:spPr>
        <p:txBody>
          <a:bodyPr/>
          <a:lstStyle/>
          <a:p>
            <a:pPr algn="ctr"/>
            <a:r>
              <a:rPr lang="en-IN" b="1" dirty="0">
                <a:solidFill>
                  <a:srgbClr val="C00000"/>
                </a:solidFill>
              </a:rPr>
              <a:t>Adaptive Behavior</a:t>
            </a:r>
          </a:p>
        </p:txBody>
      </p:sp>
      <p:sp>
        <p:nvSpPr>
          <p:cNvPr id="3" name="Content Placeholder 2">
            <a:extLst>
              <a:ext uri="{FF2B5EF4-FFF2-40B4-BE49-F238E27FC236}">
                <a16:creationId xmlns:a16="http://schemas.microsoft.com/office/drawing/2014/main" xmlns="" id="{D9D42612-7A09-7B41-097A-52091D217D85}"/>
              </a:ext>
            </a:extLst>
          </p:cNvPr>
          <p:cNvSpPr>
            <a:spLocks noGrp="1"/>
          </p:cNvSpPr>
          <p:nvPr>
            <p:ph idx="1"/>
          </p:nvPr>
        </p:nvSpPr>
        <p:spPr>
          <a:xfrm>
            <a:off x="838200" y="1406843"/>
            <a:ext cx="10515600" cy="4351338"/>
          </a:xfrm>
        </p:spPr>
        <p:txBody>
          <a:bodyPr>
            <a:noAutofit/>
          </a:bodyPr>
          <a:lstStyle/>
          <a:p>
            <a:pPr algn="just">
              <a:lnSpc>
                <a:spcPct val="100000"/>
              </a:lnSpc>
            </a:pPr>
            <a:r>
              <a:rPr lang="en-US" sz="2000" dirty="0"/>
              <a:t>Because of the limitations of humans, an IDS can sometimes be configured to take action to block the attack or reduce its impact. Here are some kinds of actions an IDS can take: </a:t>
            </a:r>
          </a:p>
          <a:p>
            <a:pPr lvl="1" algn="just">
              <a:lnSpc>
                <a:spcPct val="100000"/>
              </a:lnSpc>
            </a:pPr>
            <a:r>
              <a:rPr lang="en-US" sz="2000" dirty="0"/>
              <a:t>Continue to monitor the network. </a:t>
            </a:r>
          </a:p>
          <a:p>
            <a:pPr lvl="1" algn="just">
              <a:lnSpc>
                <a:spcPct val="100000"/>
              </a:lnSpc>
            </a:pPr>
            <a:r>
              <a:rPr lang="en-US" sz="2000" dirty="0"/>
              <a:t>Block the attack by redirecting attack traffic to a monitoring host, discarding the traffic, or terminating the session. </a:t>
            </a:r>
          </a:p>
          <a:p>
            <a:pPr lvl="1" algn="just">
              <a:lnSpc>
                <a:spcPct val="100000"/>
              </a:lnSpc>
            </a:pPr>
            <a:r>
              <a:rPr lang="en-US" sz="2000" dirty="0"/>
              <a:t>Reconfigure the network by bringing other hosts online (to increase capacity) or adjusting load balancers. </a:t>
            </a:r>
          </a:p>
          <a:p>
            <a:pPr lvl="1" algn="just">
              <a:lnSpc>
                <a:spcPct val="100000"/>
              </a:lnSpc>
            </a:pPr>
            <a:r>
              <a:rPr lang="en-US" sz="2000" dirty="0"/>
              <a:t>Adjust performance to slow the attack, for example, by dropping some of the incoming traffic. </a:t>
            </a:r>
          </a:p>
          <a:p>
            <a:pPr lvl="1" algn="just">
              <a:lnSpc>
                <a:spcPct val="100000"/>
              </a:lnSpc>
            </a:pPr>
            <a:r>
              <a:rPr lang="en-US" sz="2000" dirty="0"/>
              <a:t>Deny access to particular network hosts or services. </a:t>
            </a:r>
          </a:p>
          <a:p>
            <a:pPr lvl="1" algn="just">
              <a:lnSpc>
                <a:spcPct val="100000"/>
              </a:lnSpc>
            </a:pPr>
            <a:r>
              <a:rPr lang="en-US" sz="2000" dirty="0"/>
              <a:t>Shut down part of the network.  </a:t>
            </a:r>
          </a:p>
          <a:p>
            <a:pPr lvl="1" algn="just">
              <a:lnSpc>
                <a:spcPct val="100000"/>
              </a:lnSpc>
            </a:pPr>
            <a:r>
              <a:rPr lang="en-US" sz="2000" dirty="0"/>
              <a:t>Shut down the entire network.</a:t>
            </a:r>
            <a:endParaRPr lang="en-US" sz="2000" b="1" dirty="0"/>
          </a:p>
        </p:txBody>
      </p:sp>
      <p:sp>
        <p:nvSpPr>
          <p:cNvPr id="4" name="Date Placeholder 3">
            <a:extLst>
              <a:ext uri="{FF2B5EF4-FFF2-40B4-BE49-F238E27FC236}">
                <a16:creationId xmlns:a16="http://schemas.microsoft.com/office/drawing/2014/main" xmlns="" id="{B06D0D17-41B0-0F8F-D192-679C2D0689F2}"/>
              </a:ext>
            </a:extLst>
          </p:cNvPr>
          <p:cNvSpPr>
            <a:spLocks noGrp="1"/>
          </p:cNvSpPr>
          <p:nvPr>
            <p:ph type="dt" sz="half" idx="10"/>
          </p:nvPr>
        </p:nvSpPr>
        <p:spPr/>
        <p:txBody>
          <a:bodyPr/>
          <a:lstStyle/>
          <a:p>
            <a:fld id="{B383BFCD-21A9-494F-831A-1FF1CB4C0079}" type="datetime1">
              <a:rPr lang="en-IN" smtClean="0"/>
              <a:t>26-04-2025</a:t>
            </a:fld>
            <a:endParaRPr lang="en-IN" dirty="0"/>
          </a:p>
        </p:txBody>
      </p:sp>
      <p:sp>
        <p:nvSpPr>
          <p:cNvPr id="5" name="Slide Number Placeholder 4">
            <a:extLst>
              <a:ext uri="{FF2B5EF4-FFF2-40B4-BE49-F238E27FC236}">
                <a16:creationId xmlns:a16="http://schemas.microsoft.com/office/drawing/2014/main" xmlns="" id="{04943B9B-53CD-4710-6B2F-755D11F17B9B}"/>
              </a:ext>
            </a:extLst>
          </p:cNvPr>
          <p:cNvSpPr>
            <a:spLocks noGrp="1"/>
          </p:cNvSpPr>
          <p:nvPr>
            <p:ph type="sldNum" sz="quarter" idx="12"/>
          </p:nvPr>
        </p:nvSpPr>
        <p:spPr/>
        <p:txBody>
          <a:bodyPr/>
          <a:lstStyle/>
          <a:p>
            <a:fld id="{F3A9E9E4-B33D-4B71-BC7B-0B7320F1BC06}" type="slidenum">
              <a:rPr lang="en-IN" smtClean="0"/>
              <a:t>77</a:t>
            </a:fld>
            <a:endParaRPr lang="en-IN" dirty="0"/>
          </a:p>
        </p:txBody>
      </p:sp>
    </p:spTree>
    <p:extLst>
      <p:ext uri="{BB962C8B-B14F-4D97-AF65-F5344CB8AC3E}">
        <p14:creationId xmlns:p14="http://schemas.microsoft.com/office/powerpoint/2010/main" val="12815413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FA7DCE6-7AAD-6E36-5653-A88FE79EB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3A2A465-9912-0250-D09A-092F8C3BEEE7}"/>
              </a:ext>
            </a:extLst>
          </p:cNvPr>
          <p:cNvSpPr>
            <a:spLocks noGrp="1"/>
          </p:cNvSpPr>
          <p:nvPr>
            <p:ph type="title"/>
          </p:nvPr>
        </p:nvSpPr>
        <p:spPr>
          <a:xfrm>
            <a:off x="838200" y="0"/>
            <a:ext cx="10515600" cy="1325563"/>
          </a:xfrm>
        </p:spPr>
        <p:txBody>
          <a:bodyPr/>
          <a:lstStyle/>
          <a:p>
            <a:pPr algn="ctr"/>
            <a:r>
              <a:rPr lang="en-IN" b="1" dirty="0">
                <a:solidFill>
                  <a:srgbClr val="C00000"/>
                </a:solidFill>
              </a:rPr>
              <a:t>Counterattack</a:t>
            </a:r>
          </a:p>
        </p:txBody>
      </p:sp>
      <p:sp>
        <p:nvSpPr>
          <p:cNvPr id="3" name="Content Placeholder 2">
            <a:extLst>
              <a:ext uri="{FF2B5EF4-FFF2-40B4-BE49-F238E27FC236}">
                <a16:creationId xmlns:a16="http://schemas.microsoft.com/office/drawing/2014/main" xmlns="" id="{8F91FE2D-9118-E325-ABBE-814FBFF680BC}"/>
              </a:ext>
            </a:extLst>
          </p:cNvPr>
          <p:cNvSpPr>
            <a:spLocks noGrp="1"/>
          </p:cNvSpPr>
          <p:nvPr>
            <p:ph idx="1"/>
          </p:nvPr>
        </p:nvSpPr>
        <p:spPr>
          <a:xfrm>
            <a:off x="838200" y="1269366"/>
            <a:ext cx="10515600" cy="4351338"/>
          </a:xfrm>
        </p:spPr>
        <p:txBody>
          <a:bodyPr>
            <a:noAutofit/>
          </a:bodyPr>
          <a:lstStyle/>
          <a:p>
            <a:pPr algn="just">
              <a:lnSpc>
                <a:spcPct val="100000"/>
              </a:lnSpc>
            </a:pPr>
            <a:r>
              <a:rPr lang="en-US" sz="2000" dirty="0"/>
              <a:t>A final action that can be taken on a detection of an attack is to mount an offense, to strike back. </a:t>
            </a:r>
          </a:p>
          <a:p>
            <a:pPr algn="just">
              <a:lnSpc>
                <a:spcPct val="100000"/>
              </a:lnSpc>
            </a:pPr>
            <a:r>
              <a:rPr lang="en-US" sz="2000" dirty="0"/>
              <a:t>Offensive action must be taken with great caution for several reasons:</a:t>
            </a:r>
          </a:p>
          <a:p>
            <a:pPr lvl="1" algn="just">
              <a:lnSpc>
                <a:spcPct val="100000"/>
              </a:lnSpc>
            </a:pPr>
            <a:r>
              <a:rPr lang="en-US" sz="2000" dirty="0"/>
              <a:t>The apparent attacker may not be the real attacker. Determining the true source and sender of Internet traffic is not foolproof. Taking action against the wrong party only makes things worse. </a:t>
            </a:r>
          </a:p>
          <a:p>
            <a:pPr lvl="1" algn="just">
              <a:lnSpc>
                <a:spcPct val="100000"/>
              </a:lnSpc>
            </a:pPr>
            <a:r>
              <a:rPr lang="en-US" sz="2000" dirty="0"/>
              <a:t>A counterattack can lead to a real-time battle in which both the defenses and offenses must be implemented with little time to assess the situation. </a:t>
            </a:r>
          </a:p>
          <a:p>
            <a:pPr lvl="1" algn="just">
              <a:lnSpc>
                <a:spcPct val="100000"/>
              </a:lnSpc>
            </a:pPr>
            <a:r>
              <a:rPr lang="en-US" sz="2000" dirty="0"/>
              <a:t>Retaliation in anger is not necessarily well thought out.  </a:t>
            </a:r>
          </a:p>
          <a:p>
            <a:pPr lvl="1" algn="just">
              <a:lnSpc>
                <a:spcPct val="100000"/>
              </a:lnSpc>
            </a:pPr>
            <a:r>
              <a:rPr lang="en-US" sz="2000" dirty="0"/>
              <a:t>Legality can shift. Measured, necessary action to protect one’s resources is a well-established legal principle. Taking offensive action opens one to legal jeopardy, comparable to that of the attacker. </a:t>
            </a:r>
          </a:p>
          <a:p>
            <a:pPr lvl="1" algn="just">
              <a:lnSpc>
                <a:spcPct val="100000"/>
              </a:lnSpc>
            </a:pPr>
            <a:r>
              <a:rPr lang="en-US" sz="2000" dirty="0"/>
              <a:t>Provoking the attacker can lead to escalation. The attacker can take the counterattack as a challenge.</a:t>
            </a:r>
            <a:endParaRPr lang="en-US" sz="2000" b="1" dirty="0"/>
          </a:p>
        </p:txBody>
      </p:sp>
      <p:sp>
        <p:nvSpPr>
          <p:cNvPr id="4" name="Date Placeholder 3">
            <a:extLst>
              <a:ext uri="{FF2B5EF4-FFF2-40B4-BE49-F238E27FC236}">
                <a16:creationId xmlns:a16="http://schemas.microsoft.com/office/drawing/2014/main" xmlns="" id="{94681F43-E630-3854-B88A-795BF070535F}"/>
              </a:ext>
            </a:extLst>
          </p:cNvPr>
          <p:cNvSpPr>
            <a:spLocks noGrp="1"/>
          </p:cNvSpPr>
          <p:nvPr>
            <p:ph type="dt" sz="half" idx="10"/>
          </p:nvPr>
        </p:nvSpPr>
        <p:spPr/>
        <p:txBody>
          <a:bodyPr/>
          <a:lstStyle/>
          <a:p>
            <a:fld id="{9C52EC50-6050-45D7-AEBE-77EE8D58EE7D}" type="datetime1">
              <a:rPr lang="en-IN" smtClean="0"/>
              <a:t>26-04-2025</a:t>
            </a:fld>
            <a:endParaRPr lang="en-IN" dirty="0"/>
          </a:p>
        </p:txBody>
      </p:sp>
      <p:sp>
        <p:nvSpPr>
          <p:cNvPr id="5" name="Slide Number Placeholder 4">
            <a:extLst>
              <a:ext uri="{FF2B5EF4-FFF2-40B4-BE49-F238E27FC236}">
                <a16:creationId xmlns:a16="http://schemas.microsoft.com/office/drawing/2014/main" xmlns="" id="{70C3D865-6C8E-A35D-2434-BAD385E826AD}"/>
              </a:ext>
            </a:extLst>
          </p:cNvPr>
          <p:cNvSpPr>
            <a:spLocks noGrp="1"/>
          </p:cNvSpPr>
          <p:nvPr>
            <p:ph type="sldNum" sz="quarter" idx="12"/>
          </p:nvPr>
        </p:nvSpPr>
        <p:spPr/>
        <p:txBody>
          <a:bodyPr/>
          <a:lstStyle/>
          <a:p>
            <a:fld id="{F3A9E9E4-B33D-4B71-BC7B-0B7320F1BC06}" type="slidenum">
              <a:rPr lang="en-IN" smtClean="0"/>
              <a:t>78</a:t>
            </a:fld>
            <a:endParaRPr lang="en-IN" dirty="0"/>
          </a:p>
        </p:txBody>
      </p:sp>
    </p:spTree>
    <p:extLst>
      <p:ext uri="{BB962C8B-B14F-4D97-AF65-F5344CB8AC3E}">
        <p14:creationId xmlns:p14="http://schemas.microsoft.com/office/powerpoint/2010/main" val="9598626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8955E1A-451F-6BDD-D00B-DC9F583D6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02EA2EB-A67F-B817-9304-7F7963A7258D}"/>
              </a:ext>
            </a:extLst>
          </p:cNvPr>
          <p:cNvSpPr>
            <a:spLocks noGrp="1"/>
          </p:cNvSpPr>
          <p:nvPr>
            <p:ph type="title"/>
          </p:nvPr>
        </p:nvSpPr>
        <p:spPr>
          <a:xfrm>
            <a:off x="838200" y="0"/>
            <a:ext cx="10515600" cy="1325563"/>
          </a:xfrm>
        </p:spPr>
        <p:txBody>
          <a:bodyPr/>
          <a:lstStyle/>
          <a:p>
            <a:pPr algn="ctr"/>
            <a:r>
              <a:rPr lang="en-IN" b="1" dirty="0">
                <a:solidFill>
                  <a:srgbClr val="C00000"/>
                </a:solidFill>
              </a:rPr>
              <a:t>Goals for Intrusion Detection Systems</a:t>
            </a:r>
          </a:p>
        </p:txBody>
      </p:sp>
      <p:sp>
        <p:nvSpPr>
          <p:cNvPr id="3" name="Content Placeholder 2">
            <a:extLst>
              <a:ext uri="{FF2B5EF4-FFF2-40B4-BE49-F238E27FC236}">
                <a16:creationId xmlns:a16="http://schemas.microsoft.com/office/drawing/2014/main" xmlns="" id="{01AB88FF-DD11-A51D-B0E7-7FED153D1FDD}"/>
              </a:ext>
            </a:extLst>
          </p:cNvPr>
          <p:cNvSpPr>
            <a:spLocks noGrp="1"/>
          </p:cNvSpPr>
          <p:nvPr>
            <p:ph idx="1"/>
          </p:nvPr>
        </p:nvSpPr>
        <p:spPr>
          <a:xfrm>
            <a:off x="838200" y="1269366"/>
            <a:ext cx="10515600" cy="4351338"/>
          </a:xfrm>
        </p:spPr>
        <p:txBody>
          <a:bodyPr>
            <a:noAutofit/>
          </a:bodyPr>
          <a:lstStyle/>
          <a:p>
            <a:pPr algn="just">
              <a:lnSpc>
                <a:spcPct val="100000"/>
              </a:lnSpc>
            </a:pPr>
            <a:r>
              <a:rPr lang="en-US" sz="1900" b="1" dirty="0"/>
              <a:t>The two styles of intrusion detection—pattern matching and heuristic—represent </a:t>
            </a:r>
            <a:r>
              <a:rPr lang="en-US" sz="1900" dirty="0"/>
              <a:t>different approaches, each of which has advantages and disadvantages. Actual IDS products often blend the two approaches. </a:t>
            </a:r>
          </a:p>
          <a:p>
            <a:pPr algn="just">
              <a:lnSpc>
                <a:spcPct val="100000"/>
              </a:lnSpc>
            </a:pPr>
            <a:r>
              <a:rPr lang="en-US" sz="1900" dirty="0"/>
              <a:t>Ideally, an IDS should be fast, simple, and accurate, while at the same time being complete. It should detect all attacks with negligible performance penalty. An IDS could use some—or all—of the following design approaches: </a:t>
            </a:r>
          </a:p>
          <a:p>
            <a:pPr lvl="1" algn="just">
              <a:lnSpc>
                <a:spcPct val="100000"/>
              </a:lnSpc>
            </a:pPr>
            <a:r>
              <a:rPr lang="en-US" sz="1900" dirty="0"/>
              <a:t>Filter on packet headers. </a:t>
            </a:r>
          </a:p>
          <a:p>
            <a:pPr lvl="1" algn="just">
              <a:lnSpc>
                <a:spcPct val="100000"/>
              </a:lnSpc>
            </a:pPr>
            <a:r>
              <a:rPr lang="en-US" sz="1900" dirty="0"/>
              <a:t>Filter on packet content. </a:t>
            </a:r>
          </a:p>
          <a:p>
            <a:pPr lvl="1" algn="just">
              <a:lnSpc>
                <a:spcPct val="100000"/>
              </a:lnSpc>
            </a:pPr>
            <a:r>
              <a:rPr lang="en-US" sz="1900" dirty="0"/>
              <a:t>Maintain connection state. </a:t>
            </a:r>
          </a:p>
          <a:p>
            <a:pPr lvl="1" algn="just">
              <a:lnSpc>
                <a:spcPct val="100000"/>
              </a:lnSpc>
            </a:pPr>
            <a:r>
              <a:rPr lang="en-US" sz="1900" dirty="0"/>
              <a:t>Use complex, multipacket signatures. </a:t>
            </a:r>
          </a:p>
          <a:p>
            <a:pPr lvl="1" algn="just">
              <a:lnSpc>
                <a:spcPct val="100000"/>
              </a:lnSpc>
            </a:pPr>
            <a:r>
              <a:rPr lang="en-US" sz="1900" dirty="0"/>
              <a:t>Use minimal number of signatures with maximum effect. </a:t>
            </a:r>
          </a:p>
          <a:p>
            <a:pPr lvl="1" algn="just">
              <a:lnSpc>
                <a:spcPct val="100000"/>
              </a:lnSpc>
            </a:pPr>
            <a:r>
              <a:rPr lang="en-US" sz="1900" dirty="0"/>
              <a:t>Filter in real time, online. </a:t>
            </a:r>
          </a:p>
          <a:p>
            <a:pPr lvl="1" algn="just">
              <a:lnSpc>
                <a:spcPct val="100000"/>
              </a:lnSpc>
            </a:pPr>
            <a:r>
              <a:rPr lang="en-US" sz="1900" dirty="0"/>
              <a:t>Hide its presence. </a:t>
            </a:r>
          </a:p>
          <a:p>
            <a:pPr lvl="1" algn="just">
              <a:lnSpc>
                <a:spcPct val="100000"/>
              </a:lnSpc>
            </a:pPr>
            <a:r>
              <a:rPr lang="en-US" sz="1900" dirty="0"/>
              <a:t>Use optimal sliding-time window size to match signatures.</a:t>
            </a:r>
            <a:endParaRPr lang="en-US" sz="1900" b="1" dirty="0"/>
          </a:p>
        </p:txBody>
      </p:sp>
      <p:sp>
        <p:nvSpPr>
          <p:cNvPr id="4" name="Date Placeholder 3">
            <a:extLst>
              <a:ext uri="{FF2B5EF4-FFF2-40B4-BE49-F238E27FC236}">
                <a16:creationId xmlns:a16="http://schemas.microsoft.com/office/drawing/2014/main" xmlns="" id="{5B9BB8C0-24B8-F768-B070-0F01D101114E}"/>
              </a:ext>
            </a:extLst>
          </p:cNvPr>
          <p:cNvSpPr>
            <a:spLocks noGrp="1"/>
          </p:cNvSpPr>
          <p:nvPr>
            <p:ph type="dt" sz="half" idx="10"/>
          </p:nvPr>
        </p:nvSpPr>
        <p:spPr/>
        <p:txBody>
          <a:bodyPr/>
          <a:lstStyle/>
          <a:p>
            <a:fld id="{4A47D546-2019-4D1D-A156-59598ACB21B1}" type="datetime1">
              <a:rPr lang="en-IN" smtClean="0"/>
              <a:t>26-04-2025</a:t>
            </a:fld>
            <a:endParaRPr lang="en-IN" dirty="0"/>
          </a:p>
        </p:txBody>
      </p:sp>
      <p:sp>
        <p:nvSpPr>
          <p:cNvPr id="5" name="Slide Number Placeholder 4">
            <a:extLst>
              <a:ext uri="{FF2B5EF4-FFF2-40B4-BE49-F238E27FC236}">
                <a16:creationId xmlns:a16="http://schemas.microsoft.com/office/drawing/2014/main" xmlns="" id="{52EC3D0C-B0BD-DC0F-64CF-19B2F14ADD86}"/>
              </a:ext>
            </a:extLst>
          </p:cNvPr>
          <p:cNvSpPr>
            <a:spLocks noGrp="1"/>
          </p:cNvSpPr>
          <p:nvPr>
            <p:ph type="sldNum" sz="quarter" idx="12"/>
          </p:nvPr>
        </p:nvSpPr>
        <p:spPr/>
        <p:txBody>
          <a:bodyPr/>
          <a:lstStyle/>
          <a:p>
            <a:fld id="{F3A9E9E4-B33D-4B71-BC7B-0B7320F1BC06}" type="slidenum">
              <a:rPr lang="en-IN" smtClean="0"/>
              <a:t>79</a:t>
            </a:fld>
            <a:endParaRPr lang="en-IN" dirty="0"/>
          </a:p>
        </p:txBody>
      </p:sp>
    </p:spTree>
    <p:extLst>
      <p:ext uri="{BB962C8B-B14F-4D97-AF65-F5344CB8AC3E}">
        <p14:creationId xmlns:p14="http://schemas.microsoft.com/office/powerpoint/2010/main" val="22911125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28C1E4-B245-8136-38C9-5A3086D34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54A55C-FD5D-85D5-D198-0C364A3CD1D7}"/>
              </a:ext>
            </a:extLst>
          </p:cNvPr>
          <p:cNvSpPr>
            <a:spLocks noGrp="1"/>
          </p:cNvSpPr>
          <p:nvPr>
            <p:ph type="title"/>
          </p:nvPr>
        </p:nvSpPr>
        <p:spPr>
          <a:xfrm>
            <a:off x="838200" y="0"/>
            <a:ext cx="10515600" cy="1325563"/>
          </a:xfrm>
        </p:spPr>
        <p:txBody>
          <a:bodyPr/>
          <a:lstStyle/>
          <a:p>
            <a:pPr algn="ctr"/>
            <a:r>
              <a:rPr lang="en-IN" b="1" dirty="0">
                <a:solidFill>
                  <a:srgbClr val="C00000"/>
                </a:solidFill>
              </a:rPr>
              <a:t>Stealth Mode</a:t>
            </a:r>
          </a:p>
        </p:txBody>
      </p:sp>
      <p:sp>
        <p:nvSpPr>
          <p:cNvPr id="3" name="Content Placeholder 2">
            <a:extLst>
              <a:ext uri="{FF2B5EF4-FFF2-40B4-BE49-F238E27FC236}">
                <a16:creationId xmlns:a16="http://schemas.microsoft.com/office/drawing/2014/main" xmlns="" id="{414FEDE4-A947-4C78-BFD6-B0B8FD2E6F60}"/>
              </a:ext>
            </a:extLst>
          </p:cNvPr>
          <p:cNvSpPr>
            <a:spLocks noGrp="1"/>
          </p:cNvSpPr>
          <p:nvPr>
            <p:ph idx="1"/>
          </p:nvPr>
        </p:nvSpPr>
        <p:spPr>
          <a:xfrm>
            <a:off x="838200" y="1325563"/>
            <a:ext cx="10515600" cy="4351338"/>
          </a:xfrm>
        </p:spPr>
        <p:txBody>
          <a:bodyPr>
            <a:noAutofit/>
          </a:bodyPr>
          <a:lstStyle/>
          <a:p>
            <a:pPr algn="just">
              <a:lnSpc>
                <a:spcPct val="100000"/>
              </a:lnSpc>
            </a:pPr>
            <a:r>
              <a:rPr lang="en-US" sz="2000" dirty="0"/>
              <a:t>An IDS is a network device (or, in the case of a host-based IDS, a program running on a network device). </a:t>
            </a:r>
          </a:p>
          <a:p>
            <a:pPr algn="just">
              <a:lnSpc>
                <a:spcPct val="100000"/>
              </a:lnSpc>
            </a:pPr>
            <a:r>
              <a:rPr lang="en-US" sz="2000" dirty="0"/>
              <a:t>Any network device is potentially vulnerable to network attacks. How useful would an IDS be if it were deluged with a denial-of-service attack? If an attacker succeeded in logging in to a system within the protected network, wouldn’t trying to disable the IDS be the next step? </a:t>
            </a:r>
          </a:p>
          <a:p>
            <a:pPr algn="just">
              <a:lnSpc>
                <a:spcPct val="100000"/>
              </a:lnSpc>
            </a:pPr>
            <a:r>
              <a:rPr lang="en-US" sz="2000" dirty="0"/>
              <a:t>To counter those problems, most IDSs run in stealth mode, whereby an IDS has </a:t>
            </a:r>
            <a:r>
              <a:rPr lang="en-US" sz="2000" b="1" dirty="0"/>
              <a:t>two network interfaces: one for the network (or network segment) it is monitoring and the other to generate alerts and perhaps perform other administrative needs. </a:t>
            </a:r>
          </a:p>
          <a:p>
            <a:pPr algn="just">
              <a:lnSpc>
                <a:spcPct val="100000"/>
              </a:lnSpc>
            </a:pPr>
            <a:r>
              <a:rPr lang="en-US" sz="2000" dirty="0"/>
              <a:t>The IDS uses the monitored interface as input only; it never sends packets out through that interface. Often, the interface is configured so that the device has no published address through the monitored interface; that is, no router can route anything directly to that address because the router does not know such a device exists. It is the perfect passive wiretap. </a:t>
            </a:r>
          </a:p>
          <a:p>
            <a:pPr algn="just">
              <a:lnSpc>
                <a:spcPct val="100000"/>
              </a:lnSpc>
            </a:pPr>
            <a:endParaRPr lang="en-US" sz="2000" b="1" dirty="0"/>
          </a:p>
        </p:txBody>
      </p:sp>
      <p:sp>
        <p:nvSpPr>
          <p:cNvPr id="4" name="Date Placeholder 3">
            <a:extLst>
              <a:ext uri="{FF2B5EF4-FFF2-40B4-BE49-F238E27FC236}">
                <a16:creationId xmlns:a16="http://schemas.microsoft.com/office/drawing/2014/main" xmlns="" id="{2ABD0599-2B51-1DB8-27AF-34A5A475469D}"/>
              </a:ext>
            </a:extLst>
          </p:cNvPr>
          <p:cNvSpPr>
            <a:spLocks noGrp="1"/>
          </p:cNvSpPr>
          <p:nvPr>
            <p:ph type="dt" sz="half" idx="10"/>
          </p:nvPr>
        </p:nvSpPr>
        <p:spPr/>
        <p:txBody>
          <a:bodyPr/>
          <a:lstStyle/>
          <a:p>
            <a:fld id="{318B8289-B35C-42B0-A62E-E9565CA275C1}" type="datetime1">
              <a:rPr lang="en-IN" smtClean="0"/>
              <a:t>26-04-2025</a:t>
            </a:fld>
            <a:endParaRPr lang="en-IN" dirty="0"/>
          </a:p>
        </p:txBody>
      </p:sp>
      <p:sp>
        <p:nvSpPr>
          <p:cNvPr id="5" name="Slide Number Placeholder 4">
            <a:extLst>
              <a:ext uri="{FF2B5EF4-FFF2-40B4-BE49-F238E27FC236}">
                <a16:creationId xmlns:a16="http://schemas.microsoft.com/office/drawing/2014/main" xmlns="" id="{227F26BB-0181-750B-DAF2-EE82A6E53AE6}"/>
              </a:ext>
            </a:extLst>
          </p:cNvPr>
          <p:cNvSpPr>
            <a:spLocks noGrp="1"/>
          </p:cNvSpPr>
          <p:nvPr>
            <p:ph type="sldNum" sz="quarter" idx="12"/>
          </p:nvPr>
        </p:nvSpPr>
        <p:spPr/>
        <p:txBody>
          <a:bodyPr/>
          <a:lstStyle/>
          <a:p>
            <a:fld id="{F3A9E9E4-B33D-4B71-BC7B-0B7320F1BC06}" type="slidenum">
              <a:rPr lang="en-IN" smtClean="0"/>
              <a:t>80</a:t>
            </a:fld>
            <a:endParaRPr lang="en-IN" dirty="0"/>
          </a:p>
        </p:txBody>
      </p:sp>
    </p:spTree>
    <p:extLst>
      <p:ext uri="{BB962C8B-B14F-4D97-AF65-F5344CB8AC3E}">
        <p14:creationId xmlns:p14="http://schemas.microsoft.com/office/powerpoint/2010/main" val="20348173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E801F08-3FE2-F06D-8EC9-0ED42BF00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2D4A0E1-28BB-E595-AD28-2F54044D379F}"/>
              </a:ext>
            </a:extLst>
          </p:cNvPr>
          <p:cNvSpPr>
            <a:spLocks noGrp="1"/>
          </p:cNvSpPr>
          <p:nvPr>
            <p:ph type="title"/>
          </p:nvPr>
        </p:nvSpPr>
        <p:spPr>
          <a:xfrm>
            <a:off x="838200" y="0"/>
            <a:ext cx="10515600" cy="1325563"/>
          </a:xfrm>
        </p:spPr>
        <p:txBody>
          <a:bodyPr/>
          <a:lstStyle/>
          <a:p>
            <a:pPr algn="ctr"/>
            <a:r>
              <a:rPr lang="en-IN" b="1" dirty="0">
                <a:solidFill>
                  <a:srgbClr val="C00000"/>
                </a:solidFill>
              </a:rPr>
              <a:t>Stealth Mode</a:t>
            </a:r>
          </a:p>
        </p:txBody>
      </p:sp>
      <p:sp>
        <p:nvSpPr>
          <p:cNvPr id="3" name="Content Placeholder 2">
            <a:extLst>
              <a:ext uri="{FF2B5EF4-FFF2-40B4-BE49-F238E27FC236}">
                <a16:creationId xmlns:a16="http://schemas.microsoft.com/office/drawing/2014/main" xmlns="" id="{07A64C7C-E8E3-3F23-5175-401DEB6B24B2}"/>
              </a:ext>
            </a:extLst>
          </p:cNvPr>
          <p:cNvSpPr>
            <a:spLocks noGrp="1"/>
          </p:cNvSpPr>
          <p:nvPr>
            <p:ph idx="1"/>
          </p:nvPr>
        </p:nvSpPr>
        <p:spPr>
          <a:xfrm>
            <a:off x="838200" y="1157606"/>
            <a:ext cx="10515600" cy="4351338"/>
          </a:xfrm>
        </p:spPr>
        <p:txBody>
          <a:bodyPr>
            <a:noAutofit/>
          </a:bodyPr>
          <a:lstStyle/>
          <a:p>
            <a:pPr algn="just">
              <a:lnSpc>
                <a:spcPct val="100000"/>
              </a:lnSpc>
            </a:pPr>
            <a:r>
              <a:rPr lang="en-US" sz="2000" dirty="0"/>
              <a:t>If the IDS needs to generate an alert, it uses only the alarm interface on a completely separate control network. Such an architecture is shown in Figure.</a:t>
            </a:r>
          </a:p>
          <a:p>
            <a:pPr algn="just">
              <a:lnSpc>
                <a:spcPct val="100000"/>
              </a:lnSpc>
            </a:pPr>
            <a:r>
              <a:rPr lang="en-US" sz="2000" b="1" dirty="0"/>
              <a:t>Stealth mode IDS prevents the attacker from knowing an alarm has been raised.</a:t>
            </a:r>
          </a:p>
        </p:txBody>
      </p:sp>
      <p:sp>
        <p:nvSpPr>
          <p:cNvPr id="4" name="Date Placeholder 3">
            <a:extLst>
              <a:ext uri="{FF2B5EF4-FFF2-40B4-BE49-F238E27FC236}">
                <a16:creationId xmlns:a16="http://schemas.microsoft.com/office/drawing/2014/main" xmlns="" id="{7CE30592-7F54-9AAF-1EF5-ABF3A9C6032E}"/>
              </a:ext>
            </a:extLst>
          </p:cNvPr>
          <p:cNvSpPr>
            <a:spLocks noGrp="1"/>
          </p:cNvSpPr>
          <p:nvPr>
            <p:ph type="dt" sz="half" idx="10"/>
          </p:nvPr>
        </p:nvSpPr>
        <p:spPr/>
        <p:txBody>
          <a:bodyPr/>
          <a:lstStyle/>
          <a:p>
            <a:fld id="{89960E5C-C86F-4542-B876-689F27B322AB}" type="datetime1">
              <a:rPr lang="en-IN" smtClean="0"/>
              <a:t>26-04-2025</a:t>
            </a:fld>
            <a:endParaRPr lang="en-IN" dirty="0"/>
          </a:p>
        </p:txBody>
      </p:sp>
      <p:sp>
        <p:nvSpPr>
          <p:cNvPr id="5" name="Slide Number Placeholder 4">
            <a:extLst>
              <a:ext uri="{FF2B5EF4-FFF2-40B4-BE49-F238E27FC236}">
                <a16:creationId xmlns:a16="http://schemas.microsoft.com/office/drawing/2014/main" xmlns="" id="{100700CE-D405-82A9-ED5C-38B900FF0F84}"/>
              </a:ext>
            </a:extLst>
          </p:cNvPr>
          <p:cNvSpPr>
            <a:spLocks noGrp="1"/>
          </p:cNvSpPr>
          <p:nvPr>
            <p:ph type="sldNum" sz="quarter" idx="12"/>
          </p:nvPr>
        </p:nvSpPr>
        <p:spPr/>
        <p:txBody>
          <a:bodyPr/>
          <a:lstStyle/>
          <a:p>
            <a:fld id="{F3A9E9E4-B33D-4B71-BC7B-0B7320F1BC06}" type="slidenum">
              <a:rPr lang="en-IN" smtClean="0"/>
              <a:t>81</a:t>
            </a:fld>
            <a:endParaRPr lang="en-IN" dirty="0"/>
          </a:p>
        </p:txBody>
      </p:sp>
      <p:pic>
        <p:nvPicPr>
          <p:cNvPr id="7" name="Picture 6">
            <a:extLst>
              <a:ext uri="{FF2B5EF4-FFF2-40B4-BE49-F238E27FC236}">
                <a16:creationId xmlns:a16="http://schemas.microsoft.com/office/drawing/2014/main" xmlns="" id="{48345596-B949-B40E-2F60-0226B40BC8C2}"/>
              </a:ext>
            </a:extLst>
          </p:cNvPr>
          <p:cNvPicPr>
            <a:picLocks noChangeAspect="1"/>
          </p:cNvPicPr>
          <p:nvPr/>
        </p:nvPicPr>
        <p:blipFill>
          <a:blip r:embed="rId2"/>
          <a:stretch>
            <a:fillRect/>
          </a:stretch>
        </p:blipFill>
        <p:spPr>
          <a:xfrm>
            <a:off x="2209800" y="2274860"/>
            <a:ext cx="6565607" cy="3425534"/>
          </a:xfrm>
          <a:prstGeom prst="rect">
            <a:avLst/>
          </a:prstGeom>
        </p:spPr>
      </p:pic>
      <p:sp>
        <p:nvSpPr>
          <p:cNvPr id="9" name="TextBox 8">
            <a:extLst>
              <a:ext uri="{FF2B5EF4-FFF2-40B4-BE49-F238E27FC236}">
                <a16:creationId xmlns:a16="http://schemas.microsoft.com/office/drawing/2014/main" xmlns="" id="{18D95357-837F-2CBD-F17E-491D863C07A5}"/>
              </a:ext>
            </a:extLst>
          </p:cNvPr>
          <p:cNvSpPr txBox="1"/>
          <p:nvPr/>
        </p:nvSpPr>
        <p:spPr>
          <a:xfrm>
            <a:off x="2679407" y="6080456"/>
            <a:ext cx="6096000" cy="369332"/>
          </a:xfrm>
          <a:prstGeom prst="rect">
            <a:avLst/>
          </a:prstGeom>
          <a:noFill/>
        </p:spPr>
        <p:txBody>
          <a:bodyPr wrap="square">
            <a:spAutoFit/>
          </a:bodyPr>
          <a:lstStyle/>
          <a:p>
            <a:pPr algn="ctr"/>
            <a:r>
              <a:rPr lang="en-IN" b="1" dirty="0"/>
              <a:t>IDS Control Network</a:t>
            </a:r>
          </a:p>
        </p:txBody>
      </p:sp>
    </p:spTree>
    <p:extLst>
      <p:ext uri="{BB962C8B-B14F-4D97-AF65-F5344CB8AC3E}">
        <p14:creationId xmlns:p14="http://schemas.microsoft.com/office/powerpoint/2010/main" val="26385775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ACE2310-08CA-6C3E-CBCB-79830F0870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D316C70-ACE3-14E1-C27C-A863D5BBA98A}"/>
              </a:ext>
            </a:extLst>
          </p:cNvPr>
          <p:cNvSpPr>
            <a:spLocks noGrp="1"/>
          </p:cNvSpPr>
          <p:nvPr>
            <p:ph type="title"/>
          </p:nvPr>
        </p:nvSpPr>
        <p:spPr>
          <a:xfrm>
            <a:off x="838200" y="0"/>
            <a:ext cx="10515600" cy="1325563"/>
          </a:xfrm>
        </p:spPr>
        <p:txBody>
          <a:bodyPr/>
          <a:lstStyle/>
          <a:p>
            <a:pPr algn="ctr"/>
            <a:r>
              <a:rPr lang="en-IN" b="1" dirty="0">
                <a:solidFill>
                  <a:srgbClr val="C00000"/>
                </a:solidFill>
              </a:rPr>
              <a:t>Accurate Situation Assessment</a:t>
            </a:r>
          </a:p>
        </p:txBody>
      </p:sp>
      <p:sp>
        <p:nvSpPr>
          <p:cNvPr id="3" name="Content Placeholder 2">
            <a:extLst>
              <a:ext uri="{FF2B5EF4-FFF2-40B4-BE49-F238E27FC236}">
                <a16:creationId xmlns:a16="http://schemas.microsoft.com/office/drawing/2014/main" xmlns="" id="{9DCF3441-143A-56A0-0DDE-2ACBEBE4FC93}"/>
              </a:ext>
            </a:extLst>
          </p:cNvPr>
          <p:cNvSpPr>
            <a:spLocks noGrp="1"/>
          </p:cNvSpPr>
          <p:nvPr>
            <p:ph idx="1"/>
          </p:nvPr>
        </p:nvSpPr>
        <p:spPr>
          <a:xfrm>
            <a:off x="838200" y="1157606"/>
            <a:ext cx="10515600" cy="4351338"/>
          </a:xfrm>
        </p:spPr>
        <p:txBody>
          <a:bodyPr>
            <a:noAutofit/>
          </a:bodyPr>
          <a:lstStyle/>
          <a:p>
            <a:pPr algn="just">
              <a:lnSpc>
                <a:spcPct val="100000"/>
              </a:lnSpc>
            </a:pPr>
            <a:r>
              <a:rPr lang="en-US" sz="2000" dirty="0"/>
              <a:t>Intrusion detection systems are not perfect, and mistakes are their biggest problem. </a:t>
            </a:r>
          </a:p>
          <a:p>
            <a:pPr algn="just">
              <a:lnSpc>
                <a:spcPct val="100000"/>
              </a:lnSpc>
            </a:pPr>
            <a:r>
              <a:rPr lang="en-US" sz="2000" dirty="0"/>
              <a:t>Although an IDS might detect an intruder correctly most of the time, it may stumble in two different ways: </a:t>
            </a:r>
            <a:r>
              <a:rPr lang="en-US" sz="2000" b="1" dirty="0"/>
              <a:t>by raising an alarm for something that is not really an attack </a:t>
            </a:r>
            <a:r>
              <a:rPr lang="en-US" sz="2000" dirty="0"/>
              <a:t>(called a false positive, or type I error in the statistical community) or </a:t>
            </a:r>
            <a:r>
              <a:rPr lang="en-US" sz="2000" b="1" dirty="0"/>
              <a:t>not raising an alarm for a real attack </a:t>
            </a:r>
            <a:r>
              <a:rPr lang="en-US" sz="2000" dirty="0"/>
              <a:t>(a false negative, or type II error). </a:t>
            </a:r>
          </a:p>
          <a:p>
            <a:pPr algn="just">
              <a:lnSpc>
                <a:spcPct val="100000"/>
              </a:lnSpc>
            </a:pPr>
            <a:r>
              <a:rPr lang="en-US" sz="2000" b="1" dirty="0"/>
              <a:t>Too many false positives, as with the Target breach, means the administrator will be less confident of the IDS’s warnings, perhaps leading to a real alarm’s being ignored. </a:t>
            </a:r>
          </a:p>
          <a:p>
            <a:pPr algn="just">
              <a:lnSpc>
                <a:spcPct val="100000"/>
              </a:lnSpc>
            </a:pPr>
            <a:r>
              <a:rPr lang="en-US" sz="2000" b="1" dirty="0"/>
              <a:t>But false negatives mean that real attacks are passing the IDS without action. </a:t>
            </a:r>
            <a:r>
              <a:rPr lang="en-US" sz="2000" dirty="0"/>
              <a:t>We say that the degree of false positives and false negatives represents the sensitivity of the system. </a:t>
            </a:r>
          </a:p>
          <a:p>
            <a:pPr algn="just">
              <a:lnSpc>
                <a:spcPct val="100000"/>
              </a:lnSpc>
            </a:pPr>
            <a:r>
              <a:rPr lang="en-US" sz="2000" dirty="0"/>
              <a:t>Most IDS implementations allow the administrator to tune the system’s sensitivity in order to strike an acceptable balance between false positives and negatives.</a:t>
            </a:r>
            <a:endParaRPr lang="en-US" sz="2000" b="1" dirty="0"/>
          </a:p>
        </p:txBody>
      </p:sp>
      <p:sp>
        <p:nvSpPr>
          <p:cNvPr id="4" name="Date Placeholder 3">
            <a:extLst>
              <a:ext uri="{FF2B5EF4-FFF2-40B4-BE49-F238E27FC236}">
                <a16:creationId xmlns:a16="http://schemas.microsoft.com/office/drawing/2014/main" xmlns="" id="{41FD4B2E-6F74-D156-A4A1-D10EA033421D}"/>
              </a:ext>
            </a:extLst>
          </p:cNvPr>
          <p:cNvSpPr>
            <a:spLocks noGrp="1"/>
          </p:cNvSpPr>
          <p:nvPr>
            <p:ph type="dt" sz="half" idx="10"/>
          </p:nvPr>
        </p:nvSpPr>
        <p:spPr/>
        <p:txBody>
          <a:bodyPr/>
          <a:lstStyle/>
          <a:p>
            <a:fld id="{60FA47CD-CD64-47A2-83DD-2245937AEB80}" type="datetime1">
              <a:rPr lang="en-IN" smtClean="0"/>
              <a:t>26-04-2025</a:t>
            </a:fld>
            <a:endParaRPr lang="en-IN" dirty="0"/>
          </a:p>
        </p:txBody>
      </p:sp>
      <p:sp>
        <p:nvSpPr>
          <p:cNvPr id="5" name="Slide Number Placeholder 4">
            <a:extLst>
              <a:ext uri="{FF2B5EF4-FFF2-40B4-BE49-F238E27FC236}">
                <a16:creationId xmlns:a16="http://schemas.microsoft.com/office/drawing/2014/main" xmlns="" id="{9D19F99A-F13F-56FA-8525-8C486E423A8B}"/>
              </a:ext>
            </a:extLst>
          </p:cNvPr>
          <p:cNvSpPr>
            <a:spLocks noGrp="1"/>
          </p:cNvSpPr>
          <p:nvPr>
            <p:ph type="sldNum" sz="quarter" idx="12"/>
          </p:nvPr>
        </p:nvSpPr>
        <p:spPr/>
        <p:txBody>
          <a:bodyPr/>
          <a:lstStyle/>
          <a:p>
            <a:fld id="{F3A9E9E4-B33D-4B71-BC7B-0B7320F1BC06}" type="slidenum">
              <a:rPr lang="en-IN" smtClean="0"/>
              <a:t>82</a:t>
            </a:fld>
            <a:endParaRPr lang="en-IN" dirty="0"/>
          </a:p>
        </p:txBody>
      </p:sp>
    </p:spTree>
    <p:extLst>
      <p:ext uri="{BB962C8B-B14F-4D97-AF65-F5344CB8AC3E}">
        <p14:creationId xmlns:p14="http://schemas.microsoft.com/office/powerpoint/2010/main" val="31304908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8FCEA70-3B6E-946D-87FC-9558D6889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91BACF9-D63B-943E-F536-14A336B87EC8}"/>
              </a:ext>
            </a:extLst>
          </p:cNvPr>
          <p:cNvSpPr>
            <a:spLocks noGrp="1"/>
          </p:cNvSpPr>
          <p:nvPr>
            <p:ph type="title"/>
          </p:nvPr>
        </p:nvSpPr>
        <p:spPr>
          <a:xfrm>
            <a:off x="838200" y="0"/>
            <a:ext cx="10515600" cy="1325563"/>
          </a:xfrm>
        </p:spPr>
        <p:txBody>
          <a:bodyPr/>
          <a:lstStyle/>
          <a:p>
            <a:pPr algn="ctr"/>
            <a:r>
              <a:rPr lang="en-IN" b="1" dirty="0">
                <a:solidFill>
                  <a:srgbClr val="C00000"/>
                </a:solidFill>
              </a:rPr>
              <a:t>IDS Strengths and Limitations</a:t>
            </a:r>
          </a:p>
        </p:txBody>
      </p:sp>
      <p:sp>
        <p:nvSpPr>
          <p:cNvPr id="3" name="Content Placeholder 2">
            <a:extLst>
              <a:ext uri="{FF2B5EF4-FFF2-40B4-BE49-F238E27FC236}">
                <a16:creationId xmlns:a16="http://schemas.microsoft.com/office/drawing/2014/main" xmlns="" id="{AB27438E-A973-B4FB-B74A-E47903E53654}"/>
              </a:ext>
            </a:extLst>
          </p:cNvPr>
          <p:cNvSpPr>
            <a:spLocks noGrp="1"/>
          </p:cNvSpPr>
          <p:nvPr>
            <p:ph idx="1"/>
          </p:nvPr>
        </p:nvSpPr>
        <p:spPr>
          <a:xfrm>
            <a:off x="838200" y="1157606"/>
            <a:ext cx="10515600" cy="4351338"/>
          </a:xfrm>
        </p:spPr>
        <p:txBody>
          <a:bodyPr>
            <a:noAutofit/>
          </a:bodyPr>
          <a:lstStyle/>
          <a:p>
            <a:pPr algn="just">
              <a:lnSpc>
                <a:spcPct val="100000"/>
              </a:lnSpc>
            </a:pPr>
            <a:r>
              <a:rPr lang="en-US" sz="2000" dirty="0"/>
              <a:t>Intrusion detection systems are evolving products. </a:t>
            </a:r>
          </a:p>
          <a:p>
            <a:pPr algn="just">
              <a:lnSpc>
                <a:spcPct val="100000"/>
              </a:lnSpc>
            </a:pPr>
            <a:r>
              <a:rPr lang="en-US" sz="2000" dirty="0"/>
              <a:t>On the upside, </a:t>
            </a:r>
            <a:r>
              <a:rPr lang="en-US" sz="2000" b="1" dirty="0"/>
              <a:t>IDSs detect an ever-growing number of serious problems</a:t>
            </a:r>
            <a:r>
              <a:rPr lang="en-US" sz="2000" dirty="0"/>
              <a:t>. And as we learn more about problems, we can add their signatures to the IDS model. Thus, over time, IDSs continue to improve. At the same time, they are becoming cheaper and easier to administer. </a:t>
            </a:r>
          </a:p>
          <a:p>
            <a:pPr algn="just">
              <a:lnSpc>
                <a:spcPct val="100000"/>
              </a:lnSpc>
            </a:pPr>
            <a:r>
              <a:rPr lang="en-US" sz="2000" dirty="0"/>
              <a:t>On the downside, </a:t>
            </a:r>
            <a:r>
              <a:rPr lang="en-US" sz="2000" b="1" dirty="0"/>
              <a:t>avoiding an IDS is a high priority for successful attackers</a:t>
            </a:r>
            <a:r>
              <a:rPr lang="en-US" sz="2000" dirty="0"/>
              <a:t>. An IDS that is not well defended is useless. Fortunately, stealth mode IDSs are difficult even to find on an internal network, let alone to compromise.</a:t>
            </a:r>
          </a:p>
          <a:p>
            <a:pPr algn="just">
              <a:lnSpc>
                <a:spcPct val="100000"/>
              </a:lnSpc>
            </a:pPr>
            <a:r>
              <a:rPr lang="en-US" sz="2000" dirty="0"/>
              <a:t>IDSs look for known weaknesses, whether through patterns of known attacks or models of normal behavior. </a:t>
            </a:r>
            <a:r>
              <a:rPr lang="en-US" sz="2000" b="1" dirty="0"/>
              <a:t>Similar IDSs may have identical vulnerabilities, and their selection criteria may miss similar attacks</a:t>
            </a:r>
            <a:r>
              <a:rPr lang="en-US" sz="2000" dirty="0"/>
              <a:t>. Knowing how to evade a particular model of IDS is an important piece of intelligence passed within the attacker community. Of course, once manufacturers become aware of a shortcoming in their products, they try to fix it. Fortunately, commercial IDSs are pretty good at identifying attacks.</a:t>
            </a:r>
          </a:p>
          <a:p>
            <a:pPr algn="just">
              <a:lnSpc>
                <a:spcPct val="100000"/>
              </a:lnSpc>
            </a:pPr>
            <a:endParaRPr lang="en-US" sz="2000" b="1" dirty="0"/>
          </a:p>
        </p:txBody>
      </p:sp>
      <p:sp>
        <p:nvSpPr>
          <p:cNvPr id="4" name="Date Placeholder 3">
            <a:extLst>
              <a:ext uri="{FF2B5EF4-FFF2-40B4-BE49-F238E27FC236}">
                <a16:creationId xmlns:a16="http://schemas.microsoft.com/office/drawing/2014/main" xmlns="" id="{8FAD71AF-072B-0B17-47DA-CD157C19AB39}"/>
              </a:ext>
            </a:extLst>
          </p:cNvPr>
          <p:cNvSpPr>
            <a:spLocks noGrp="1"/>
          </p:cNvSpPr>
          <p:nvPr>
            <p:ph type="dt" sz="half" idx="10"/>
          </p:nvPr>
        </p:nvSpPr>
        <p:spPr/>
        <p:txBody>
          <a:bodyPr/>
          <a:lstStyle/>
          <a:p>
            <a:fld id="{CA7E8155-1A48-40C3-824A-BE228ED32B4B}" type="datetime1">
              <a:rPr lang="en-IN" smtClean="0"/>
              <a:t>26-04-2025</a:t>
            </a:fld>
            <a:endParaRPr lang="en-IN" dirty="0"/>
          </a:p>
        </p:txBody>
      </p:sp>
      <p:sp>
        <p:nvSpPr>
          <p:cNvPr id="5" name="Slide Number Placeholder 4">
            <a:extLst>
              <a:ext uri="{FF2B5EF4-FFF2-40B4-BE49-F238E27FC236}">
                <a16:creationId xmlns:a16="http://schemas.microsoft.com/office/drawing/2014/main" xmlns="" id="{123736F2-445E-F918-1D77-269EDA24B285}"/>
              </a:ext>
            </a:extLst>
          </p:cNvPr>
          <p:cNvSpPr>
            <a:spLocks noGrp="1"/>
          </p:cNvSpPr>
          <p:nvPr>
            <p:ph type="sldNum" sz="quarter" idx="12"/>
          </p:nvPr>
        </p:nvSpPr>
        <p:spPr/>
        <p:txBody>
          <a:bodyPr/>
          <a:lstStyle/>
          <a:p>
            <a:fld id="{F3A9E9E4-B33D-4B71-BC7B-0B7320F1BC06}" type="slidenum">
              <a:rPr lang="en-IN" smtClean="0"/>
              <a:t>83</a:t>
            </a:fld>
            <a:endParaRPr lang="en-IN" dirty="0"/>
          </a:p>
        </p:txBody>
      </p:sp>
    </p:spTree>
    <p:extLst>
      <p:ext uri="{BB962C8B-B14F-4D97-AF65-F5344CB8AC3E}">
        <p14:creationId xmlns:p14="http://schemas.microsoft.com/office/powerpoint/2010/main" val="28779359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4F78F63-BBD2-2D11-D285-333A83135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F4A8096-7574-CCF4-180D-2BD1777EDD63}"/>
              </a:ext>
            </a:extLst>
          </p:cNvPr>
          <p:cNvSpPr>
            <a:spLocks noGrp="1"/>
          </p:cNvSpPr>
          <p:nvPr>
            <p:ph type="title"/>
          </p:nvPr>
        </p:nvSpPr>
        <p:spPr>
          <a:xfrm>
            <a:off x="838200" y="0"/>
            <a:ext cx="10515600" cy="1325563"/>
          </a:xfrm>
        </p:spPr>
        <p:txBody>
          <a:bodyPr/>
          <a:lstStyle/>
          <a:p>
            <a:pPr algn="ctr"/>
            <a:r>
              <a:rPr lang="en-IN" b="1" dirty="0">
                <a:solidFill>
                  <a:srgbClr val="C00000"/>
                </a:solidFill>
              </a:rPr>
              <a:t>IDS Strengths and Limitations</a:t>
            </a:r>
          </a:p>
        </p:txBody>
      </p:sp>
      <p:sp>
        <p:nvSpPr>
          <p:cNvPr id="3" name="Content Placeholder 2">
            <a:extLst>
              <a:ext uri="{FF2B5EF4-FFF2-40B4-BE49-F238E27FC236}">
                <a16:creationId xmlns:a16="http://schemas.microsoft.com/office/drawing/2014/main" xmlns="" id="{F19EA753-3D76-09E6-74F3-773D7DA4847B}"/>
              </a:ext>
            </a:extLst>
          </p:cNvPr>
          <p:cNvSpPr>
            <a:spLocks noGrp="1"/>
          </p:cNvSpPr>
          <p:nvPr>
            <p:ph idx="1"/>
          </p:nvPr>
        </p:nvSpPr>
        <p:spPr>
          <a:xfrm>
            <a:off x="838200" y="1157606"/>
            <a:ext cx="10515600" cy="4351338"/>
          </a:xfrm>
        </p:spPr>
        <p:txBody>
          <a:bodyPr>
            <a:noAutofit/>
          </a:bodyPr>
          <a:lstStyle/>
          <a:p>
            <a:pPr algn="just">
              <a:lnSpc>
                <a:spcPct val="100000"/>
              </a:lnSpc>
            </a:pPr>
            <a:r>
              <a:rPr lang="en-US" sz="2000" dirty="0"/>
              <a:t>Another IDS limitation is its </a:t>
            </a:r>
            <a:r>
              <a:rPr lang="en-US" sz="2000" b="1" dirty="0"/>
              <a:t>sensitivity</a:t>
            </a:r>
            <a:r>
              <a:rPr lang="en-US" sz="2000" dirty="0"/>
              <a:t>, which is difficult to measure and adjust. IDSs will never be perfect, so finding the proper balance is critical. </a:t>
            </a:r>
          </a:p>
          <a:p>
            <a:pPr algn="just">
              <a:lnSpc>
                <a:spcPct val="100000"/>
              </a:lnSpc>
            </a:pPr>
            <a:r>
              <a:rPr lang="en-US" sz="2000" b="1" dirty="0"/>
              <a:t>An IDS does not run itself</a:t>
            </a:r>
            <a:r>
              <a:rPr lang="en-US" sz="2000" dirty="0"/>
              <a:t>; someone has to monitor its track record and respond to its alarms. An administrator is foolish to buy and install an IDS and then ignore it. </a:t>
            </a:r>
          </a:p>
          <a:p>
            <a:pPr algn="just">
              <a:lnSpc>
                <a:spcPct val="100000"/>
              </a:lnSpc>
            </a:pPr>
            <a:r>
              <a:rPr lang="en-US" sz="2000" dirty="0"/>
              <a:t>In general, </a:t>
            </a:r>
            <a:r>
              <a:rPr lang="en-US" sz="2000" b="1" dirty="0"/>
              <a:t>IDSs are excellent additions to a network’s security</a:t>
            </a:r>
            <a:r>
              <a:rPr lang="en-US" sz="2000" dirty="0"/>
              <a:t>. </a:t>
            </a:r>
          </a:p>
          <a:p>
            <a:pPr algn="just">
              <a:lnSpc>
                <a:spcPct val="100000"/>
              </a:lnSpc>
            </a:pPr>
            <a:r>
              <a:rPr lang="en-US" sz="2000" dirty="0"/>
              <a:t>Firewalls block traffic to particular ports or addresses; they also constrain certain protocols to limit their impact. </a:t>
            </a:r>
          </a:p>
          <a:p>
            <a:pPr algn="just">
              <a:lnSpc>
                <a:spcPct val="100000"/>
              </a:lnSpc>
            </a:pPr>
            <a:r>
              <a:rPr lang="en-US" sz="2000" dirty="0"/>
              <a:t>But by definition, firewalls have to allow some traffic to enter a protected area. Watching what that traffic actually does inside the protected area is an IDS’s job, which it does quite well.</a:t>
            </a:r>
            <a:endParaRPr lang="en-US" sz="2000" b="1" dirty="0"/>
          </a:p>
        </p:txBody>
      </p:sp>
      <p:sp>
        <p:nvSpPr>
          <p:cNvPr id="4" name="Date Placeholder 3">
            <a:extLst>
              <a:ext uri="{FF2B5EF4-FFF2-40B4-BE49-F238E27FC236}">
                <a16:creationId xmlns:a16="http://schemas.microsoft.com/office/drawing/2014/main" xmlns="" id="{11A81C21-B4D5-74E0-72D5-C5FDD23B558E}"/>
              </a:ext>
            </a:extLst>
          </p:cNvPr>
          <p:cNvSpPr>
            <a:spLocks noGrp="1"/>
          </p:cNvSpPr>
          <p:nvPr>
            <p:ph type="dt" sz="half" idx="10"/>
          </p:nvPr>
        </p:nvSpPr>
        <p:spPr/>
        <p:txBody>
          <a:bodyPr/>
          <a:lstStyle/>
          <a:p>
            <a:fld id="{64397837-6C35-481A-85D6-457D7FF0D662}" type="datetime1">
              <a:rPr lang="en-IN" smtClean="0"/>
              <a:t>26-04-2025</a:t>
            </a:fld>
            <a:endParaRPr lang="en-IN" dirty="0"/>
          </a:p>
        </p:txBody>
      </p:sp>
      <p:sp>
        <p:nvSpPr>
          <p:cNvPr id="5" name="Slide Number Placeholder 4">
            <a:extLst>
              <a:ext uri="{FF2B5EF4-FFF2-40B4-BE49-F238E27FC236}">
                <a16:creationId xmlns:a16="http://schemas.microsoft.com/office/drawing/2014/main" xmlns="" id="{8FA656FA-D8A7-3126-B316-DB85E94299A2}"/>
              </a:ext>
            </a:extLst>
          </p:cNvPr>
          <p:cNvSpPr>
            <a:spLocks noGrp="1"/>
          </p:cNvSpPr>
          <p:nvPr>
            <p:ph type="sldNum" sz="quarter" idx="12"/>
          </p:nvPr>
        </p:nvSpPr>
        <p:spPr/>
        <p:txBody>
          <a:bodyPr/>
          <a:lstStyle/>
          <a:p>
            <a:fld id="{F3A9E9E4-B33D-4B71-BC7B-0B7320F1BC06}" type="slidenum">
              <a:rPr lang="en-IN" smtClean="0"/>
              <a:t>84</a:t>
            </a:fld>
            <a:endParaRPr lang="en-IN" dirty="0"/>
          </a:p>
        </p:txBody>
      </p:sp>
    </p:spTree>
    <p:extLst>
      <p:ext uri="{BB962C8B-B14F-4D97-AF65-F5344CB8AC3E}">
        <p14:creationId xmlns:p14="http://schemas.microsoft.com/office/powerpoint/2010/main" val="3019181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575</TotalTime>
  <Words>10921</Words>
  <Application>Microsoft Office PowerPoint</Application>
  <PresentationFormat>Widescreen</PresentationFormat>
  <Paragraphs>710</Paragraphs>
  <Slides>84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84</vt:i4>
      </vt:variant>
    </vt:vector>
  </HeadingPairs>
  <TitlesOfParts>
    <vt:vector size="90" baseType="lpstr">
      <vt:lpstr>Arial</vt:lpstr>
      <vt:lpstr>Calibri</vt:lpstr>
      <vt:lpstr>Calibri Light</vt:lpstr>
      <vt:lpstr>Times New Roman</vt:lpstr>
      <vt:lpstr>Wingdings</vt:lpstr>
      <vt:lpstr>Office Theme</vt:lpstr>
      <vt:lpstr>                         FIREWALLS</vt:lpstr>
      <vt:lpstr>                       WHAT IS A FIREWALL?</vt:lpstr>
      <vt:lpstr>                       WHAT IS A FIREWALL?</vt:lpstr>
      <vt:lpstr>DESIGN OF FIREWALLS</vt:lpstr>
      <vt:lpstr>POLICY</vt:lpstr>
      <vt:lpstr>PowerPoint Presentation</vt:lpstr>
      <vt:lpstr>Types of Firewalls</vt:lpstr>
      <vt:lpstr>Packet filtering gateways</vt:lpstr>
      <vt:lpstr>Packet filtering gateways</vt:lpstr>
      <vt:lpstr>Packet filtering gateways</vt:lpstr>
      <vt:lpstr>Packet filtering gateways</vt:lpstr>
      <vt:lpstr>Stateful Inspection Firewall</vt:lpstr>
      <vt:lpstr>Stateful Inspection Firewall</vt:lpstr>
      <vt:lpstr>Application Proxy</vt:lpstr>
      <vt:lpstr>Application Proxy</vt:lpstr>
      <vt:lpstr>PowerPoint Presentation</vt:lpstr>
      <vt:lpstr>Proxy Firewall Functions</vt:lpstr>
      <vt:lpstr>PowerPoint Presentation</vt:lpstr>
      <vt:lpstr>Circuit-Level Gateway</vt:lpstr>
      <vt:lpstr>PowerPoint Presentation</vt:lpstr>
      <vt:lpstr>Circuit-Level Gateway</vt:lpstr>
      <vt:lpstr>Guard</vt:lpstr>
      <vt:lpstr>Guard</vt:lpstr>
      <vt:lpstr>Guard</vt:lpstr>
      <vt:lpstr>Personal Firewalls</vt:lpstr>
      <vt:lpstr>Personal Firewalls</vt:lpstr>
      <vt:lpstr>Personal Firewalls</vt:lpstr>
      <vt:lpstr>Personal Firewalls</vt:lpstr>
      <vt:lpstr>Comparison of Firewall Types</vt:lpstr>
      <vt:lpstr>PowerPoint Presentation</vt:lpstr>
      <vt:lpstr>Configuring a Simple Firewall</vt:lpstr>
      <vt:lpstr>Configuring a Simple Firewall</vt:lpstr>
      <vt:lpstr>Configuring a Simple Firewall</vt:lpstr>
      <vt:lpstr>Configuring a Simple Firewall</vt:lpstr>
      <vt:lpstr>Configuration Tasks</vt:lpstr>
      <vt:lpstr>Configure Access Lists</vt:lpstr>
      <vt:lpstr>Configure Access Lists</vt:lpstr>
      <vt:lpstr>Configure Inspection Rules</vt:lpstr>
      <vt:lpstr>Apply Access Lists and Inspection Rules to Interfaces</vt:lpstr>
      <vt:lpstr>Apply Access Lists and Inspection Rules to Interfaces</vt:lpstr>
      <vt:lpstr>Apply Access Lists and Inspection Rules to Interfaces</vt:lpstr>
      <vt:lpstr>Apply Access Lists and Inspection Rules to Interfaces</vt:lpstr>
      <vt:lpstr>Apply Access Lists and Inspection Rules to Interfaces</vt:lpstr>
      <vt:lpstr>Apply Access Lists and Inspection Rules to Interfaces</vt:lpstr>
      <vt:lpstr>Configure Inspection Rules</vt:lpstr>
      <vt:lpstr>PowerPoint Presentation</vt:lpstr>
      <vt:lpstr>What Firewalls Can and Cannot Block?</vt:lpstr>
      <vt:lpstr>What Firewalls Can and Cannot Block?</vt:lpstr>
      <vt:lpstr>Network Address Translation (NAT)</vt:lpstr>
      <vt:lpstr>Network Address Translation (NAT)</vt:lpstr>
      <vt:lpstr>Network Address Translation (NAT)</vt:lpstr>
      <vt:lpstr>Data Loss Prevention (DLP)</vt:lpstr>
      <vt:lpstr>Data Loss Prevention (DLP)</vt:lpstr>
      <vt:lpstr>Data Loss Prevention (DLP)</vt:lpstr>
      <vt:lpstr>Intrusion Detection and Prevention Systems</vt:lpstr>
      <vt:lpstr>Intrusion Detection and Prevention Systems</vt:lpstr>
      <vt:lpstr>PowerPoint Presentation</vt:lpstr>
      <vt:lpstr>Intrusion Detection and Prevention Systems</vt:lpstr>
      <vt:lpstr>Types of IDSs</vt:lpstr>
      <vt:lpstr>Types of IDSs</vt:lpstr>
      <vt:lpstr>Signature Based Intrusion Detection</vt:lpstr>
      <vt:lpstr>Signature Based Intrusion Detection (State based)</vt:lpstr>
      <vt:lpstr>Heuristic Intrusion Detection (Model based)</vt:lpstr>
      <vt:lpstr>Heuristic Intrusion Detection</vt:lpstr>
      <vt:lpstr>Heuristic Intrusion Detection</vt:lpstr>
      <vt:lpstr>Stateful Protocol Analysis</vt:lpstr>
      <vt:lpstr>Stateful Protocol Analysis</vt:lpstr>
      <vt:lpstr>Front End Versus Internal IDSs</vt:lpstr>
      <vt:lpstr>Front End Versus Internal IDSs</vt:lpstr>
      <vt:lpstr>Host Based and Network based IDS </vt:lpstr>
      <vt:lpstr>Host Based and Network based IDS </vt:lpstr>
      <vt:lpstr>Other Intrusion Detection Technology</vt:lpstr>
      <vt:lpstr>Intrusion Prevention Systems</vt:lpstr>
      <vt:lpstr>Intrusion Prevention Systems</vt:lpstr>
      <vt:lpstr>Responding to Alarms</vt:lpstr>
      <vt:lpstr>Alarm</vt:lpstr>
      <vt:lpstr>Adaptive Behavior</vt:lpstr>
      <vt:lpstr>Counterattack</vt:lpstr>
      <vt:lpstr>Goals for Intrusion Detection Systems</vt:lpstr>
      <vt:lpstr>Stealth Mode</vt:lpstr>
      <vt:lpstr>Stealth Mode</vt:lpstr>
      <vt:lpstr>Accurate Situation Assessment</vt:lpstr>
      <vt:lpstr>IDS Strengths and Limitations</vt:lpstr>
      <vt:lpstr>IDS Strengths and Limitations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Nisanth Kartheek Mukku</dc:creator>
  <cp:lastModifiedBy>Admin</cp:lastModifiedBy>
  <cp:revision>31</cp:revision>
  <dcterms:created xsi:type="dcterms:W3CDTF">2024-02-25T17:04:39Z</dcterms:created>
  <dcterms:modified xsi:type="dcterms:W3CDTF">2025-04-26T12:06:45Z</dcterms:modified>
</cp:coreProperties>
</file>