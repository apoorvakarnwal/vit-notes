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90" r:id="rId9"/>
    <p:sldId id="291" r:id="rId10"/>
    <p:sldId id="292" r:id="rId11"/>
    <p:sldId id="293" r:id="rId12"/>
    <p:sldId id="294" r:id="rId13"/>
    <p:sldId id="263" r:id="rId14"/>
    <p:sldId id="264" r:id="rId15"/>
    <p:sldId id="282" r:id="rId16"/>
    <p:sldId id="283" r:id="rId17"/>
    <p:sldId id="284" r:id="rId18"/>
    <p:sldId id="266" r:id="rId19"/>
    <p:sldId id="265" r:id="rId20"/>
    <p:sldId id="267" r:id="rId21"/>
    <p:sldId id="295" r:id="rId22"/>
    <p:sldId id="29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84" autoAdjust="0"/>
    <p:restoredTop sz="94694"/>
  </p:normalViewPr>
  <p:slideViewPr>
    <p:cSldViewPr snapToGrid="0">
      <p:cViewPr varScale="1">
        <p:scale>
          <a:sx n="86" d="100"/>
          <a:sy n="86" d="100"/>
        </p:scale>
        <p:origin x="240" y="9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91956-34B4-D053-90EA-52875EA3E3F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A8341AA-0BCB-4D07-F9E7-1068E0410F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DBF8461-CC24-7368-FC1C-8AD0CCC9EF5C}"/>
              </a:ext>
            </a:extLst>
          </p:cNvPr>
          <p:cNvSpPr>
            <a:spLocks noGrp="1"/>
          </p:cNvSpPr>
          <p:nvPr>
            <p:ph type="dt" sz="half" idx="10"/>
          </p:nvPr>
        </p:nvSpPr>
        <p:spPr/>
        <p:txBody>
          <a:bodyPr/>
          <a:lstStyle/>
          <a:p>
            <a:fld id="{B92FFCF9-B626-40AC-B5F4-9B51139576AA}" type="datetimeFigureOut">
              <a:rPr lang="en-IN" smtClean="0"/>
              <a:t>30/04/25</a:t>
            </a:fld>
            <a:endParaRPr lang="en-IN"/>
          </a:p>
        </p:txBody>
      </p:sp>
      <p:sp>
        <p:nvSpPr>
          <p:cNvPr id="5" name="Footer Placeholder 4">
            <a:extLst>
              <a:ext uri="{FF2B5EF4-FFF2-40B4-BE49-F238E27FC236}">
                <a16:creationId xmlns:a16="http://schemas.microsoft.com/office/drawing/2014/main" id="{CB55AA25-9682-D4B8-5875-7620D2989E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DC05771-438D-FB0B-B2DF-33D8DF7A40CF}"/>
              </a:ext>
            </a:extLst>
          </p:cNvPr>
          <p:cNvSpPr>
            <a:spLocks noGrp="1"/>
          </p:cNvSpPr>
          <p:nvPr>
            <p:ph type="sldNum" sz="quarter" idx="12"/>
          </p:nvPr>
        </p:nvSpPr>
        <p:spPr/>
        <p:txBody>
          <a:bodyPr/>
          <a:lstStyle/>
          <a:p>
            <a:fld id="{57F7BC51-15AC-4D78-B728-FC2ED442883D}" type="slidenum">
              <a:rPr lang="en-IN" smtClean="0"/>
              <a:t>‹#›</a:t>
            </a:fld>
            <a:endParaRPr lang="en-IN"/>
          </a:p>
        </p:txBody>
      </p:sp>
    </p:spTree>
    <p:extLst>
      <p:ext uri="{BB962C8B-B14F-4D97-AF65-F5344CB8AC3E}">
        <p14:creationId xmlns:p14="http://schemas.microsoft.com/office/powerpoint/2010/main" val="3797822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56D68-D300-A60A-D97B-70B150DF098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EAEC30C-D7EF-8C4F-56B2-E6D1934F0C0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35EAF77-2D56-6F57-758C-B5F38302D6DE}"/>
              </a:ext>
            </a:extLst>
          </p:cNvPr>
          <p:cNvSpPr>
            <a:spLocks noGrp="1"/>
          </p:cNvSpPr>
          <p:nvPr>
            <p:ph type="dt" sz="half" idx="10"/>
          </p:nvPr>
        </p:nvSpPr>
        <p:spPr/>
        <p:txBody>
          <a:bodyPr/>
          <a:lstStyle/>
          <a:p>
            <a:fld id="{B92FFCF9-B626-40AC-B5F4-9B51139576AA}" type="datetimeFigureOut">
              <a:rPr lang="en-IN" smtClean="0"/>
              <a:t>30/04/25</a:t>
            </a:fld>
            <a:endParaRPr lang="en-IN"/>
          </a:p>
        </p:txBody>
      </p:sp>
      <p:sp>
        <p:nvSpPr>
          <p:cNvPr id="5" name="Footer Placeholder 4">
            <a:extLst>
              <a:ext uri="{FF2B5EF4-FFF2-40B4-BE49-F238E27FC236}">
                <a16:creationId xmlns:a16="http://schemas.microsoft.com/office/drawing/2014/main" id="{F727CEE2-A1DC-DFAE-8BD9-7AA7255957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B01E99-365B-E426-CE4A-25F82B1AA37E}"/>
              </a:ext>
            </a:extLst>
          </p:cNvPr>
          <p:cNvSpPr>
            <a:spLocks noGrp="1"/>
          </p:cNvSpPr>
          <p:nvPr>
            <p:ph type="sldNum" sz="quarter" idx="12"/>
          </p:nvPr>
        </p:nvSpPr>
        <p:spPr/>
        <p:txBody>
          <a:bodyPr/>
          <a:lstStyle/>
          <a:p>
            <a:fld id="{57F7BC51-15AC-4D78-B728-FC2ED442883D}" type="slidenum">
              <a:rPr lang="en-IN" smtClean="0"/>
              <a:t>‹#›</a:t>
            </a:fld>
            <a:endParaRPr lang="en-IN"/>
          </a:p>
        </p:txBody>
      </p:sp>
    </p:spTree>
    <p:extLst>
      <p:ext uri="{BB962C8B-B14F-4D97-AF65-F5344CB8AC3E}">
        <p14:creationId xmlns:p14="http://schemas.microsoft.com/office/powerpoint/2010/main" val="19129388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92510-A21B-6431-D611-8DC50CD3368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FD584D1-9238-C835-F56A-03F44BACDB3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F6479F4-3126-BB36-3967-6FD2A5666A0E}"/>
              </a:ext>
            </a:extLst>
          </p:cNvPr>
          <p:cNvSpPr>
            <a:spLocks noGrp="1"/>
          </p:cNvSpPr>
          <p:nvPr>
            <p:ph type="dt" sz="half" idx="10"/>
          </p:nvPr>
        </p:nvSpPr>
        <p:spPr/>
        <p:txBody>
          <a:bodyPr/>
          <a:lstStyle/>
          <a:p>
            <a:fld id="{B92FFCF9-B626-40AC-B5F4-9B51139576AA}" type="datetimeFigureOut">
              <a:rPr lang="en-IN" smtClean="0"/>
              <a:t>30/04/25</a:t>
            </a:fld>
            <a:endParaRPr lang="en-IN"/>
          </a:p>
        </p:txBody>
      </p:sp>
      <p:sp>
        <p:nvSpPr>
          <p:cNvPr id="5" name="Footer Placeholder 4">
            <a:extLst>
              <a:ext uri="{FF2B5EF4-FFF2-40B4-BE49-F238E27FC236}">
                <a16:creationId xmlns:a16="http://schemas.microsoft.com/office/drawing/2014/main" id="{29E284DC-B958-B055-3528-FA484BFB6AD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53343A-8DA6-DDFA-78AB-C63343BF38B0}"/>
              </a:ext>
            </a:extLst>
          </p:cNvPr>
          <p:cNvSpPr>
            <a:spLocks noGrp="1"/>
          </p:cNvSpPr>
          <p:nvPr>
            <p:ph type="sldNum" sz="quarter" idx="12"/>
          </p:nvPr>
        </p:nvSpPr>
        <p:spPr/>
        <p:txBody>
          <a:bodyPr/>
          <a:lstStyle/>
          <a:p>
            <a:fld id="{57F7BC51-15AC-4D78-B728-FC2ED442883D}" type="slidenum">
              <a:rPr lang="en-IN" smtClean="0"/>
              <a:t>‹#›</a:t>
            </a:fld>
            <a:endParaRPr lang="en-IN"/>
          </a:p>
        </p:txBody>
      </p:sp>
    </p:spTree>
    <p:extLst>
      <p:ext uri="{BB962C8B-B14F-4D97-AF65-F5344CB8AC3E}">
        <p14:creationId xmlns:p14="http://schemas.microsoft.com/office/powerpoint/2010/main" val="41021501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47DEE-3B2F-67F4-4F0C-1A1FCD69978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DAD2722-40FA-5A1C-8731-27B7E08F365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B64C44F-AE65-AF3F-AA46-86FF5858BC5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5B54E92-19FB-B144-CAD6-A2121EB9AAEB}"/>
              </a:ext>
            </a:extLst>
          </p:cNvPr>
          <p:cNvSpPr>
            <a:spLocks noGrp="1"/>
          </p:cNvSpPr>
          <p:nvPr>
            <p:ph type="dt" sz="half" idx="10"/>
          </p:nvPr>
        </p:nvSpPr>
        <p:spPr/>
        <p:txBody>
          <a:bodyPr/>
          <a:lstStyle/>
          <a:p>
            <a:fld id="{B92FFCF9-B626-40AC-B5F4-9B51139576AA}" type="datetimeFigureOut">
              <a:rPr lang="en-IN" smtClean="0"/>
              <a:t>30/04/25</a:t>
            </a:fld>
            <a:endParaRPr lang="en-IN"/>
          </a:p>
        </p:txBody>
      </p:sp>
      <p:sp>
        <p:nvSpPr>
          <p:cNvPr id="6" name="Footer Placeholder 5">
            <a:extLst>
              <a:ext uri="{FF2B5EF4-FFF2-40B4-BE49-F238E27FC236}">
                <a16:creationId xmlns:a16="http://schemas.microsoft.com/office/drawing/2014/main" id="{ECCA95BD-9078-F32F-C078-8157AE64B79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4C758F4-69A7-043F-DF8B-7B500104E22F}"/>
              </a:ext>
            </a:extLst>
          </p:cNvPr>
          <p:cNvSpPr>
            <a:spLocks noGrp="1"/>
          </p:cNvSpPr>
          <p:nvPr>
            <p:ph type="sldNum" sz="quarter" idx="12"/>
          </p:nvPr>
        </p:nvSpPr>
        <p:spPr/>
        <p:txBody>
          <a:bodyPr/>
          <a:lstStyle/>
          <a:p>
            <a:fld id="{57F7BC51-15AC-4D78-B728-FC2ED442883D}" type="slidenum">
              <a:rPr lang="en-IN" smtClean="0"/>
              <a:t>‹#›</a:t>
            </a:fld>
            <a:endParaRPr lang="en-IN"/>
          </a:p>
        </p:txBody>
      </p:sp>
    </p:spTree>
    <p:extLst>
      <p:ext uri="{BB962C8B-B14F-4D97-AF65-F5344CB8AC3E}">
        <p14:creationId xmlns:p14="http://schemas.microsoft.com/office/powerpoint/2010/main" val="21017614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60217-B4E6-0EC6-DEFB-CEEB8AEE12F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852C4AF-72CF-A6A0-5F8D-559BD6EA67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82665A-08FF-32A0-D160-0302BA019D7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A0D1D27-E53C-7B14-D2A6-228BAF857C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2E8E25A-E18A-757F-944C-D624FDAFFDC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C3CAA42-2E2E-1E97-3812-EB0DD1FF98EC}"/>
              </a:ext>
            </a:extLst>
          </p:cNvPr>
          <p:cNvSpPr>
            <a:spLocks noGrp="1"/>
          </p:cNvSpPr>
          <p:nvPr>
            <p:ph type="dt" sz="half" idx="10"/>
          </p:nvPr>
        </p:nvSpPr>
        <p:spPr/>
        <p:txBody>
          <a:bodyPr/>
          <a:lstStyle/>
          <a:p>
            <a:fld id="{B92FFCF9-B626-40AC-B5F4-9B51139576AA}" type="datetimeFigureOut">
              <a:rPr lang="en-IN" smtClean="0"/>
              <a:t>30/04/25</a:t>
            </a:fld>
            <a:endParaRPr lang="en-IN"/>
          </a:p>
        </p:txBody>
      </p:sp>
      <p:sp>
        <p:nvSpPr>
          <p:cNvPr id="8" name="Footer Placeholder 7">
            <a:extLst>
              <a:ext uri="{FF2B5EF4-FFF2-40B4-BE49-F238E27FC236}">
                <a16:creationId xmlns:a16="http://schemas.microsoft.com/office/drawing/2014/main" id="{6D4C805D-E0CC-70A3-9453-787A72B12A7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71D5F53-83DE-5503-981F-BC2C01B57787}"/>
              </a:ext>
            </a:extLst>
          </p:cNvPr>
          <p:cNvSpPr>
            <a:spLocks noGrp="1"/>
          </p:cNvSpPr>
          <p:nvPr>
            <p:ph type="sldNum" sz="quarter" idx="12"/>
          </p:nvPr>
        </p:nvSpPr>
        <p:spPr/>
        <p:txBody>
          <a:bodyPr/>
          <a:lstStyle/>
          <a:p>
            <a:fld id="{57F7BC51-15AC-4D78-B728-FC2ED442883D}" type="slidenum">
              <a:rPr lang="en-IN" smtClean="0"/>
              <a:t>‹#›</a:t>
            </a:fld>
            <a:endParaRPr lang="en-IN"/>
          </a:p>
        </p:txBody>
      </p:sp>
    </p:spTree>
    <p:extLst>
      <p:ext uri="{BB962C8B-B14F-4D97-AF65-F5344CB8AC3E}">
        <p14:creationId xmlns:p14="http://schemas.microsoft.com/office/powerpoint/2010/main" val="15110304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666E6-849B-CBE0-ADEF-AAA603A774B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B6CA68E-27E6-C4FD-96C3-FED8FA489DE2}"/>
              </a:ext>
            </a:extLst>
          </p:cNvPr>
          <p:cNvSpPr>
            <a:spLocks noGrp="1"/>
          </p:cNvSpPr>
          <p:nvPr>
            <p:ph type="dt" sz="half" idx="10"/>
          </p:nvPr>
        </p:nvSpPr>
        <p:spPr/>
        <p:txBody>
          <a:bodyPr/>
          <a:lstStyle/>
          <a:p>
            <a:fld id="{B92FFCF9-B626-40AC-B5F4-9B51139576AA}" type="datetimeFigureOut">
              <a:rPr lang="en-IN" smtClean="0"/>
              <a:t>30/04/25</a:t>
            </a:fld>
            <a:endParaRPr lang="en-IN"/>
          </a:p>
        </p:txBody>
      </p:sp>
      <p:sp>
        <p:nvSpPr>
          <p:cNvPr id="4" name="Footer Placeholder 3">
            <a:extLst>
              <a:ext uri="{FF2B5EF4-FFF2-40B4-BE49-F238E27FC236}">
                <a16:creationId xmlns:a16="http://schemas.microsoft.com/office/drawing/2014/main" id="{C4960404-8B0A-D8C9-7DDA-E569136526E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F8E21A5-E3A2-DD11-6C8A-CA4D39B6DC0F}"/>
              </a:ext>
            </a:extLst>
          </p:cNvPr>
          <p:cNvSpPr>
            <a:spLocks noGrp="1"/>
          </p:cNvSpPr>
          <p:nvPr>
            <p:ph type="sldNum" sz="quarter" idx="12"/>
          </p:nvPr>
        </p:nvSpPr>
        <p:spPr/>
        <p:txBody>
          <a:bodyPr/>
          <a:lstStyle/>
          <a:p>
            <a:fld id="{57F7BC51-15AC-4D78-B728-FC2ED442883D}" type="slidenum">
              <a:rPr lang="en-IN" smtClean="0"/>
              <a:t>‹#›</a:t>
            </a:fld>
            <a:endParaRPr lang="en-IN"/>
          </a:p>
        </p:txBody>
      </p:sp>
    </p:spTree>
    <p:extLst>
      <p:ext uri="{BB962C8B-B14F-4D97-AF65-F5344CB8AC3E}">
        <p14:creationId xmlns:p14="http://schemas.microsoft.com/office/powerpoint/2010/main" val="39442552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461D9C0-DB0B-E999-6D45-76FDAC94399D}"/>
              </a:ext>
            </a:extLst>
          </p:cNvPr>
          <p:cNvSpPr>
            <a:spLocks noGrp="1"/>
          </p:cNvSpPr>
          <p:nvPr>
            <p:ph type="dt" sz="half" idx="10"/>
          </p:nvPr>
        </p:nvSpPr>
        <p:spPr/>
        <p:txBody>
          <a:bodyPr/>
          <a:lstStyle/>
          <a:p>
            <a:fld id="{B92FFCF9-B626-40AC-B5F4-9B51139576AA}" type="datetimeFigureOut">
              <a:rPr lang="en-IN" smtClean="0"/>
              <a:t>30/04/25</a:t>
            </a:fld>
            <a:endParaRPr lang="en-IN"/>
          </a:p>
        </p:txBody>
      </p:sp>
      <p:sp>
        <p:nvSpPr>
          <p:cNvPr id="3" name="Footer Placeholder 2">
            <a:extLst>
              <a:ext uri="{FF2B5EF4-FFF2-40B4-BE49-F238E27FC236}">
                <a16:creationId xmlns:a16="http://schemas.microsoft.com/office/drawing/2014/main" id="{AAE123A6-128E-AAC0-A7A7-D29EE4ACD8A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2E2CF86-0BCB-7726-F51E-B6C87D183584}"/>
              </a:ext>
            </a:extLst>
          </p:cNvPr>
          <p:cNvSpPr>
            <a:spLocks noGrp="1"/>
          </p:cNvSpPr>
          <p:nvPr>
            <p:ph type="sldNum" sz="quarter" idx="12"/>
          </p:nvPr>
        </p:nvSpPr>
        <p:spPr/>
        <p:txBody>
          <a:bodyPr/>
          <a:lstStyle/>
          <a:p>
            <a:fld id="{57F7BC51-15AC-4D78-B728-FC2ED442883D}" type="slidenum">
              <a:rPr lang="en-IN" smtClean="0"/>
              <a:t>‹#›</a:t>
            </a:fld>
            <a:endParaRPr lang="en-IN"/>
          </a:p>
        </p:txBody>
      </p:sp>
    </p:spTree>
    <p:extLst>
      <p:ext uri="{BB962C8B-B14F-4D97-AF65-F5344CB8AC3E}">
        <p14:creationId xmlns:p14="http://schemas.microsoft.com/office/powerpoint/2010/main" val="19369579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7E550-0658-06CB-40BF-CDB2E2E036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F6B5272-CCA6-452A-84A3-90EBE422E7E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B91606E-9E11-5CDA-F7F7-1A8C5F12D9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438E76-C65E-106A-E244-6E18EDA6E19B}"/>
              </a:ext>
            </a:extLst>
          </p:cNvPr>
          <p:cNvSpPr>
            <a:spLocks noGrp="1"/>
          </p:cNvSpPr>
          <p:nvPr>
            <p:ph type="dt" sz="half" idx="10"/>
          </p:nvPr>
        </p:nvSpPr>
        <p:spPr/>
        <p:txBody>
          <a:bodyPr/>
          <a:lstStyle/>
          <a:p>
            <a:fld id="{B92FFCF9-B626-40AC-B5F4-9B51139576AA}" type="datetimeFigureOut">
              <a:rPr lang="en-IN" smtClean="0"/>
              <a:t>30/04/25</a:t>
            </a:fld>
            <a:endParaRPr lang="en-IN"/>
          </a:p>
        </p:txBody>
      </p:sp>
      <p:sp>
        <p:nvSpPr>
          <p:cNvPr id="6" name="Footer Placeholder 5">
            <a:extLst>
              <a:ext uri="{FF2B5EF4-FFF2-40B4-BE49-F238E27FC236}">
                <a16:creationId xmlns:a16="http://schemas.microsoft.com/office/drawing/2014/main" id="{F6A0C8EC-7A0E-0F39-E70E-6B79A68CAEA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F3748B7-EF45-6B9B-ABF0-D4AB451273D4}"/>
              </a:ext>
            </a:extLst>
          </p:cNvPr>
          <p:cNvSpPr>
            <a:spLocks noGrp="1"/>
          </p:cNvSpPr>
          <p:nvPr>
            <p:ph type="sldNum" sz="quarter" idx="12"/>
          </p:nvPr>
        </p:nvSpPr>
        <p:spPr/>
        <p:txBody>
          <a:bodyPr/>
          <a:lstStyle/>
          <a:p>
            <a:fld id="{57F7BC51-15AC-4D78-B728-FC2ED442883D}" type="slidenum">
              <a:rPr lang="en-IN" smtClean="0"/>
              <a:t>‹#›</a:t>
            </a:fld>
            <a:endParaRPr lang="en-IN"/>
          </a:p>
        </p:txBody>
      </p:sp>
    </p:spTree>
    <p:extLst>
      <p:ext uri="{BB962C8B-B14F-4D97-AF65-F5344CB8AC3E}">
        <p14:creationId xmlns:p14="http://schemas.microsoft.com/office/powerpoint/2010/main" val="5227663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9CF38-918A-45F2-17A6-4EE53E3666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74059A2-EBA8-1077-93C5-D85DB355630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C17FB0A-0AC2-75FB-1E3D-AD66390E52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7F2C12-7F6D-8FDF-A919-CEF8D3886041}"/>
              </a:ext>
            </a:extLst>
          </p:cNvPr>
          <p:cNvSpPr>
            <a:spLocks noGrp="1"/>
          </p:cNvSpPr>
          <p:nvPr>
            <p:ph type="dt" sz="half" idx="10"/>
          </p:nvPr>
        </p:nvSpPr>
        <p:spPr/>
        <p:txBody>
          <a:bodyPr/>
          <a:lstStyle/>
          <a:p>
            <a:fld id="{B92FFCF9-B626-40AC-B5F4-9B51139576AA}" type="datetimeFigureOut">
              <a:rPr lang="en-IN" smtClean="0"/>
              <a:t>30/04/25</a:t>
            </a:fld>
            <a:endParaRPr lang="en-IN"/>
          </a:p>
        </p:txBody>
      </p:sp>
      <p:sp>
        <p:nvSpPr>
          <p:cNvPr id="6" name="Footer Placeholder 5">
            <a:extLst>
              <a:ext uri="{FF2B5EF4-FFF2-40B4-BE49-F238E27FC236}">
                <a16:creationId xmlns:a16="http://schemas.microsoft.com/office/drawing/2014/main" id="{3E26516E-E0F8-5B7B-D6FA-5DF2310BC9C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73E5FC8-6EF3-A657-4456-C502740FA62D}"/>
              </a:ext>
            </a:extLst>
          </p:cNvPr>
          <p:cNvSpPr>
            <a:spLocks noGrp="1"/>
          </p:cNvSpPr>
          <p:nvPr>
            <p:ph type="sldNum" sz="quarter" idx="12"/>
          </p:nvPr>
        </p:nvSpPr>
        <p:spPr/>
        <p:txBody>
          <a:bodyPr/>
          <a:lstStyle/>
          <a:p>
            <a:fld id="{57F7BC51-15AC-4D78-B728-FC2ED442883D}" type="slidenum">
              <a:rPr lang="en-IN" smtClean="0"/>
              <a:t>‹#›</a:t>
            </a:fld>
            <a:endParaRPr lang="en-IN"/>
          </a:p>
        </p:txBody>
      </p:sp>
    </p:spTree>
    <p:extLst>
      <p:ext uri="{BB962C8B-B14F-4D97-AF65-F5344CB8AC3E}">
        <p14:creationId xmlns:p14="http://schemas.microsoft.com/office/powerpoint/2010/main" val="34579550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D0994-5C8E-BFFD-7132-62B5A1B69FB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CCB9470-FAAA-5474-8A9D-15088DB57CE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205D299-F849-4C3A-10C2-82960004A60E}"/>
              </a:ext>
            </a:extLst>
          </p:cNvPr>
          <p:cNvSpPr>
            <a:spLocks noGrp="1"/>
          </p:cNvSpPr>
          <p:nvPr>
            <p:ph type="dt" sz="half" idx="10"/>
          </p:nvPr>
        </p:nvSpPr>
        <p:spPr/>
        <p:txBody>
          <a:bodyPr/>
          <a:lstStyle/>
          <a:p>
            <a:fld id="{B92FFCF9-B626-40AC-B5F4-9B51139576AA}" type="datetimeFigureOut">
              <a:rPr lang="en-IN" smtClean="0"/>
              <a:t>30/04/25</a:t>
            </a:fld>
            <a:endParaRPr lang="en-IN"/>
          </a:p>
        </p:txBody>
      </p:sp>
      <p:sp>
        <p:nvSpPr>
          <p:cNvPr id="5" name="Footer Placeholder 4">
            <a:extLst>
              <a:ext uri="{FF2B5EF4-FFF2-40B4-BE49-F238E27FC236}">
                <a16:creationId xmlns:a16="http://schemas.microsoft.com/office/drawing/2014/main" id="{565A3126-3D77-84C2-AD92-3A0D7AF990E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84677FC-D42B-B8B3-8019-B81032668D54}"/>
              </a:ext>
            </a:extLst>
          </p:cNvPr>
          <p:cNvSpPr>
            <a:spLocks noGrp="1"/>
          </p:cNvSpPr>
          <p:nvPr>
            <p:ph type="sldNum" sz="quarter" idx="12"/>
          </p:nvPr>
        </p:nvSpPr>
        <p:spPr/>
        <p:txBody>
          <a:bodyPr/>
          <a:lstStyle/>
          <a:p>
            <a:fld id="{57F7BC51-15AC-4D78-B728-FC2ED442883D}" type="slidenum">
              <a:rPr lang="en-IN" smtClean="0"/>
              <a:t>‹#›</a:t>
            </a:fld>
            <a:endParaRPr lang="en-IN"/>
          </a:p>
        </p:txBody>
      </p:sp>
    </p:spTree>
    <p:extLst>
      <p:ext uri="{BB962C8B-B14F-4D97-AF65-F5344CB8AC3E}">
        <p14:creationId xmlns:p14="http://schemas.microsoft.com/office/powerpoint/2010/main" val="2750032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A639A49-98AA-2E83-7342-3F2ED64A23F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70EDAD4-ECA0-B066-920A-1A8DAE6003D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F134E95-9B0A-D68F-D47F-88E2C3D03C25}"/>
              </a:ext>
            </a:extLst>
          </p:cNvPr>
          <p:cNvSpPr>
            <a:spLocks noGrp="1"/>
          </p:cNvSpPr>
          <p:nvPr>
            <p:ph type="dt" sz="half" idx="10"/>
          </p:nvPr>
        </p:nvSpPr>
        <p:spPr/>
        <p:txBody>
          <a:bodyPr/>
          <a:lstStyle/>
          <a:p>
            <a:fld id="{B92FFCF9-B626-40AC-B5F4-9B51139576AA}" type="datetimeFigureOut">
              <a:rPr lang="en-IN" smtClean="0"/>
              <a:t>30/04/25</a:t>
            </a:fld>
            <a:endParaRPr lang="en-IN"/>
          </a:p>
        </p:txBody>
      </p:sp>
      <p:sp>
        <p:nvSpPr>
          <p:cNvPr id="5" name="Footer Placeholder 4">
            <a:extLst>
              <a:ext uri="{FF2B5EF4-FFF2-40B4-BE49-F238E27FC236}">
                <a16:creationId xmlns:a16="http://schemas.microsoft.com/office/drawing/2014/main" id="{CA73CECC-68B8-EE97-259B-6FA1703FB3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0A7C05-A661-A339-9FD2-9CE51FE42844}"/>
              </a:ext>
            </a:extLst>
          </p:cNvPr>
          <p:cNvSpPr>
            <a:spLocks noGrp="1"/>
          </p:cNvSpPr>
          <p:nvPr>
            <p:ph type="sldNum" sz="quarter" idx="12"/>
          </p:nvPr>
        </p:nvSpPr>
        <p:spPr/>
        <p:txBody>
          <a:bodyPr/>
          <a:lstStyle/>
          <a:p>
            <a:fld id="{57F7BC51-15AC-4D78-B728-FC2ED442883D}" type="slidenum">
              <a:rPr lang="en-IN" smtClean="0"/>
              <a:t>‹#›</a:t>
            </a:fld>
            <a:endParaRPr lang="en-IN"/>
          </a:p>
        </p:txBody>
      </p:sp>
    </p:spTree>
    <p:extLst>
      <p:ext uri="{BB962C8B-B14F-4D97-AF65-F5344CB8AC3E}">
        <p14:creationId xmlns:p14="http://schemas.microsoft.com/office/powerpoint/2010/main" val="41318406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41EEB4-E723-E720-2697-24680B7AA9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245D102-B837-8ACC-5BE1-65D21B4290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1C41E0-B0AB-8B33-6C14-CC27334B23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92FFCF9-B626-40AC-B5F4-9B51139576AA}" type="datetimeFigureOut">
              <a:rPr lang="en-IN" smtClean="0"/>
              <a:t>30/04/25</a:t>
            </a:fld>
            <a:endParaRPr lang="en-IN"/>
          </a:p>
        </p:txBody>
      </p:sp>
      <p:sp>
        <p:nvSpPr>
          <p:cNvPr id="5" name="Footer Placeholder 4">
            <a:extLst>
              <a:ext uri="{FF2B5EF4-FFF2-40B4-BE49-F238E27FC236}">
                <a16:creationId xmlns:a16="http://schemas.microsoft.com/office/drawing/2014/main" id="{5B552DFD-BAAE-F876-67A4-61661E524A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4A77BFB-76A5-2B1E-8C02-1B20BD8E802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7F7BC51-15AC-4D78-B728-FC2ED442883D}" type="slidenum">
              <a:rPr lang="en-IN" smtClean="0"/>
              <a:t>‹#›</a:t>
            </a:fld>
            <a:endParaRPr lang="en-IN"/>
          </a:p>
        </p:txBody>
      </p:sp>
    </p:spTree>
    <p:extLst>
      <p:ext uri="{BB962C8B-B14F-4D97-AF65-F5344CB8AC3E}">
        <p14:creationId xmlns:p14="http://schemas.microsoft.com/office/powerpoint/2010/main" val="39405183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606D3-6AA5-7A38-C96B-3B077994B601}"/>
              </a:ext>
            </a:extLst>
          </p:cNvPr>
          <p:cNvSpPr>
            <a:spLocks noGrp="1"/>
          </p:cNvSpPr>
          <p:nvPr>
            <p:ph type="ctrTitle"/>
          </p:nvPr>
        </p:nvSpPr>
        <p:spPr/>
        <p:txBody>
          <a:bodyPr/>
          <a:lstStyle/>
          <a:p>
            <a:r>
              <a:rPr lang="en-US" dirty="0"/>
              <a:t>Transport Layer Security</a:t>
            </a:r>
            <a:endParaRPr lang="en-IN" dirty="0"/>
          </a:p>
        </p:txBody>
      </p:sp>
      <p:sp>
        <p:nvSpPr>
          <p:cNvPr id="3" name="Subtitle 2">
            <a:extLst>
              <a:ext uri="{FF2B5EF4-FFF2-40B4-BE49-F238E27FC236}">
                <a16:creationId xmlns:a16="http://schemas.microsoft.com/office/drawing/2014/main" id="{D057FCF7-6DD3-22D1-A7E5-197ED869212F}"/>
              </a:ext>
            </a:extLst>
          </p:cNvPr>
          <p:cNvSpPr>
            <a:spLocks noGrp="1"/>
          </p:cNvSpPr>
          <p:nvPr>
            <p:ph type="subTitle" idx="1"/>
          </p:nvPr>
        </p:nvSpPr>
        <p:spPr/>
        <p:txBody>
          <a:bodyPr/>
          <a:lstStyle/>
          <a:p>
            <a:r>
              <a:rPr lang="en-US" dirty="0"/>
              <a:t>Secure </a:t>
            </a:r>
            <a:r>
              <a:rPr lang="en-US"/>
              <a:t>Socket Layer</a:t>
            </a:r>
            <a:endParaRPr lang="en-IN"/>
          </a:p>
        </p:txBody>
      </p:sp>
    </p:spTree>
    <p:extLst>
      <p:ext uri="{BB962C8B-B14F-4D97-AF65-F5344CB8AC3E}">
        <p14:creationId xmlns:p14="http://schemas.microsoft.com/office/powerpoint/2010/main" val="15140347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FA128-DE43-ECD4-3FE3-D43E9CC02249}"/>
              </a:ext>
            </a:extLst>
          </p:cNvPr>
          <p:cNvSpPr>
            <a:spLocks noGrp="1"/>
          </p:cNvSpPr>
          <p:nvPr>
            <p:ph type="title"/>
          </p:nvPr>
        </p:nvSpPr>
        <p:spPr/>
        <p:txBody>
          <a:bodyPr/>
          <a:lstStyle/>
          <a:p>
            <a:r>
              <a:rPr lang="en-US" b="1" i="0" dirty="0">
                <a:solidFill>
                  <a:srgbClr val="353535"/>
                </a:solidFill>
                <a:effectLst/>
                <a:highlight>
                  <a:srgbClr val="FFFFFF"/>
                </a:highlight>
                <a:latin typeface="Roboto-Regular"/>
              </a:rPr>
              <a:t>What is SSL and why is it important?</a:t>
            </a:r>
            <a:endParaRPr lang="en-IN" dirty="0"/>
          </a:p>
        </p:txBody>
      </p:sp>
      <p:sp>
        <p:nvSpPr>
          <p:cNvPr id="3" name="Content Placeholder 2">
            <a:extLst>
              <a:ext uri="{FF2B5EF4-FFF2-40B4-BE49-F238E27FC236}">
                <a16:creationId xmlns:a16="http://schemas.microsoft.com/office/drawing/2014/main" id="{F2392E83-53F0-3328-C019-EEF8640D0DFF}"/>
              </a:ext>
            </a:extLst>
          </p:cNvPr>
          <p:cNvSpPr>
            <a:spLocks noGrp="1"/>
          </p:cNvSpPr>
          <p:nvPr>
            <p:ph idx="1"/>
          </p:nvPr>
        </p:nvSpPr>
        <p:spPr/>
        <p:txBody>
          <a:bodyPr/>
          <a:lstStyle/>
          <a:p>
            <a:pPr algn="l"/>
            <a:r>
              <a:rPr lang="en-US" b="0" i="0" dirty="0">
                <a:effectLst/>
                <a:highlight>
                  <a:srgbClr val="FFFFFF"/>
                </a:highlight>
                <a:latin typeface="Roboto-Light"/>
              </a:rPr>
              <a:t>SSL</a:t>
            </a:r>
            <a:r>
              <a:rPr lang="en-US" b="0" i="0" dirty="0">
                <a:solidFill>
                  <a:srgbClr val="0F9DFF"/>
                </a:solidFill>
                <a:effectLst/>
                <a:highlight>
                  <a:srgbClr val="FFFFFF"/>
                </a:highlight>
                <a:latin typeface="Roboto-Light"/>
              </a:rPr>
              <a:t> </a:t>
            </a:r>
            <a:r>
              <a:rPr lang="en-US" b="0" i="0" dirty="0">
                <a:solidFill>
                  <a:srgbClr val="353535"/>
                </a:solidFill>
                <a:effectLst/>
                <a:highlight>
                  <a:srgbClr val="FFFFFF"/>
                </a:highlight>
                <a:latin typeface="Roboto-Light"/>
              </a:rPr>
              <a:t>is standard technology for securing an internet connection by encrypting data sent between a website and a browser (or between two servers).</a:t>
            </a:r>
          </a:p>
          <a:p>
            <a:pPr algn="l"/>
            <a:r>
              <a:rPr lang="en-US" b="0" i="0" dirty="0">
                <a:solidFill>
                  <a:srgbClr val="353535"/>
                </a:solidFill>
                <a:effectLst/>
                <a:highlight>
                  <a:srgbClr val="FFFFFF"/>
                </a:highlight>
                <a:latin typeface="Roboto-Light"/>
              </a:rPr>
              <a:t>Secure Sockets Layer (SSL) certificates, sometimes called digital certificates. </a:t>
            </a:r>
          </a:p>
          <a:p>
            <a:pPr algn="l"/>
            <a:r>
              <a:rPr lang="en-US" dirty="0">
                <a:solidFill>
                  <a:srgbClr val="353535"/>
                </a:solidFill>
                <a:highlight>
                  <a:srgbClr val="FFFFFF"/>
                </a:highlight>
                <a:latin typeface="Roboto-Light"/>
              </a:rPr>
              <a:t>It is </a:t>
            </a:r>
            <a:r>
              <a:rPr lang="en-US" b="0" i="0" dirty="0">
                <a:solidFill>
                  <a:srgbClr val="353535"/>
                </a:solidFill>
                <a:effectLst/>
                <a:highlight>
                  <a:srgbClr val="FFFFFF"/>
                </a:highlight>
                <a:latin typeface="Roboto-Light"/>
              </a:rPr>
              <a:t>used to establish an encrypted connection between a browser or user’s computer and a server or website.</a:t>
            </a:r>
          </a:p>
          <a:p>
            <a:pPr algn="l"/>
            <a:r>
              <a:rPr lang="en-US" b="0" i="0" dirty="0">
                <a:solidFill>
                  <a:srgbClr val="353535"/>
                </a:solidFill>
                <a:effectLst/>
                <a:highlight>
                  <a:srgbClr val="FFFFFF"/>
                </a:highlight>
                <a:latin typeface="Roboto-Light"/>
              </a:rPr>
              <a:t>It prevents hackers from seeing or stealing any information transferred, including personal or financial data.</a:t>
            </a:r>
          </a:p>
          <a:p>
            <a:endParaRPr lang="en-IN" dirty="0"/>
          </a:p>
        </p:txBody>
      </p:sp>
    </p:spTree>
    <p:extLst>
      <p:ext uri="{BB962C8B-B14F-4D97-AF65-F5344CB8AC3E}">
        <p14:creationId xmlns:p14="http://schemas.microsoft.com/office/powerpoint/2010/main" val="41678441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1CB68-94EB-1C40-03AF-827C8E3A0C7D}"/>
              </a:ext>
            </a:extLst>
          </p:cNvPr>
          <p:cNvSpPr>
            <a:spLocks noGrp="1"/>
          </p:cNvSpPr>
          <p:nvPr>
            <p:ph type="title"/>
          </p:nvPr>
        </p:nvSpPr>
        <p:spPr/>
        <p:txBody>
          <a:bodyPr/>
          <a:lstStyle/>
          <a:p>
            <a:r>
              <a:rPr lang="en-US" b="0" i="0" cap="all" dirty="0">
                <a:solidFill>
                  <a:srgbClr val="353535"/>
                </a:solidFill>
                <a:effectLst/>
                <a:highlight>
                  <a:srgbClr val="FFFFFF"/>
                </a:highlight>
                <a:latin typeface="FjallaOne-Regular"/>
              </a:rPr>
              <a:t>WHAT ARE TLS/SSL CERTIFICATES?</a:t>
            </a:r>
            <a:endParaRPr lang="en-IN" dirty="0"/>
          </a:p>
        </p:txBody>
      </p:sp>
      <p:sp>
        <p:nvSpPr>
          <p:cNvPr id="3" name="Content Placeholder 2">
            <a:extLst>
              <a:ext uri="{FF2B5EF4-FFF2-40B4-BE49-F238E27FC236}">
                <a16:creationId xmlns:a16="http://schemas.microsoft.com/office/drawing/2014/main" id="{E56D6F3A-2096-E18E-CE9A-DF2E656B2153}"/>
              </a:ext>
            </a:extLst>
          </p:cNvPr>
          <p:cNvSpPr>
            <a:spLocks noGrp="1"/>
          </p:cNvSpPr>
          <p:nvPr>
            <p:ph idx="1"/>
          </p:nvPr>
        </p:nvSpPr>
        <p:spPr/>
        <p:txBody>
          <a:bodyPr/>
          <a:lstStyle/>
          <a:p>
            <a:pPr algn="l"/>
            <a:r>
              <a:rPr lang="en-US" b="0" i="0" dirty="0">
                <a:solidFill>
                  <a:srgbClr val="353535"/>
                </a:solidFill>
                <a:effectLst/>
                <a:highlight>
                  <a:srgbClr val="FFFFFF"/>
                </a:highlight>
                <a:latin typeface="Roboto-Light"/>
              </a:rPr>
              <a:t>Transport Layer Security (TLS) certificates are most commonly known as SSL, or digital certificates.</a:t>
            </a:r>
          </a:p>
          <a:p>
            <a:pPr algn="l"/>
            <a:r>
              <a:rPr lang="en-US" dirty="0">
                <a:solidFill>
                  <a:srgbClr val="353535"/>
                </a:solidFill>
                <a:highlight>
                  <a:srgbClr val="FFFFFF"/>
                </a:highlight>
                <a:latin typeface="Roboto-Light"/>
              </a:rPr>
              <a:t>They </a:t>
            </a:r>
            <a:r>
              <a:rPr lang="en-US" b="0" i="0" dirty="0">
                <a:solidFill>
                  <a:srgbClr val="353535"/>
                </a:solidFill>
                <a:effectLst/>
                <a:highlight>
                  <a:srgbClr val="FFFFFF"/>
                </a:highlight>
                <a:latin typeface="Roboto-Light"/>
              </a:rPr>
              <a:t>are the foundation of a safe and secure internet. TLS/SSL certificates secure internet connections by encrypting data sent between your browser, the website you’re visiting, and the website server. </a:t>
            </a:r>
          </a:p>
          <a:p>
            <a:pPr algn="l"/>
            <a:r>
              <a:rPr lang="en-US" b="0" i="0" dirty="0">
                <a:solidFill>
                  <a:srgbClr val="353535"/>
                </a:solidFill>
                <a:effectLst/>
                <a:highlight>
                  <a:srgbClr val="FFFFFF"/>
                </a:highlight>
                <a:latin typeface="Roboto-Light"/>
              </a:rPr>
              <a:t>They ensure that data is transmitted privately and without modifications, loss or theft</a:t>
            </a:r>
          </a:p>
          <a:p>
            <a:endParaRPr lang="en-IN" dirty="0"/>
          </a:p>
        </p:txBody>
      </p:sp>
    </p:spTree>
    <p:extLst>
      <p:ext uri="{BB962C8B-B14F-4D97-AF65-F5344CB8AC3E}">
        <p14:creationId xmlns:p14="http://schemas.microsoft.com/office/powerpoint/2010/main" val="40634811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54DB2-8D83-29FE-83CD-C54FC09235EF}"/>
              </a:ext>
            </a:extLst>
          </p:cNvPr>
          <p:cNvSpPr>
            <a:spLocks noGrp="1"/>
          </p:cNvSpPr>
          <p:nvPr>
            <p:ph type="title"/>
          </p:nvPr>
        </p:nvSpPr>
        <p:spPr/>
        <p:txBody>
          <a:bodyPr>
            <a:normAutofit fontScale="90000"/>
          </a:bodyPr>
          <a:lstStyle/>
          <a:p>
            <a:r>
              <a:rPr lang="en-US" b="0" i="0" cap="all" dirty="0">
                <a:solidFill>
                  <a:srgbClr val="353535"/>
                </a:solidFill>
                <a:effectLst/>
                <a:highlight>
                  <a:srgbClr val="FFFFFF"/>
                </a:highlight>
                <a:latin typeface="FjallaOne-Regular"/>
              </a:rPr>
              <a:t>WHY DO SITES NEED TO USE TLS/SSL CERTIFICATES?</a:t>
            </a:r>
            <a:br>
              <a:rPr lang="en-US" b="0" i="0" cap="all" dirty="0">
                <a:solidFill>
                  <a:srgbClr val="353535"/>
                </a:solidFill>
                <a:effectLst/>
                <a:highlight>
                  <a:srgbClr val="FFFFFF"/>
                </a:highlight>
                <a:latin typeface="FjallaOne-Regular"/>
              </a:rPr>
            </a:br>
            <a:endParaRPr lang="en-IN" dirty="0"/>
          </a:p>
        </p:txBody>
      </p:sp>
      <p:sp>
        <p:nvSpPr>
          <p:cNvPr id="3" name="Content Placeholder 2">
            <a:extLst>
              <a:ext uri="{FF2B5EF4-FFF2-40B4-BE49-F238E27FC236}">
                <a16:creationId xmlns:a16="http://schemas.microsoft.com/office/drawing/2014/main" id="{A8AE1FB9-9B06-BB8E-BA5C-BF7F4E911C25}"/>
              </a:ext>
            </a:extLst>
          </p:cNvPr>
          <p:cNvSpPr>
            <a:spLocks noGrp="1"/>
          </p:cNvSpPr>
          <p:nvPr>
            <p:ph idx="1"/>
          </p:nvPr>
        </p:nvSpPr>
        <p:spPr/>
        <p:txBody>
          <a:bodyPr/>
          <a:lstStyle/>
          <a:p>
            <a:pPr algn="just"/>
            <a:r>
              <a:rPr lang="en-US" b="0" i="0" dirty="0">
                <a:solidFill>
                  <a:srgbClr val="353535"/>
                </a:solidFill>
                <a:effectLst/>
                <a:highlight>
                  <a:srgbClr val="FFFFFF"/>
                </a:highlight>
                <a:latin typeface="Roboto-Light"/>
              </a:rPr>
              <a:t>TLS/SSL certificates are the standard by all major web browsers to ensure a safer internet experience for users.</a:t>
            </a:r>
          </a:p>
          <a:p>
            <a:pPr algn="just"/>
            <a:r>
              <a:rPr lang="en-US" b="0" i="0" dirty="0">
                <a:solidFill>
                  <a:srgbClr val="353535"/>
                </a:solidFill>
                <a:effectLst/>
                <a:highlight>
                  <a:srgbClr val="FFFFFF"/>
                </a:highlight>
                <a:latin typeface="Roboto-Light"/>
              </a:rPr>
              <a:t>Websites secured by TLS/SSL certificates are more trusted by internet users because they encrypt and protect private information transferred to and from their website. </a:t>
            </a:r>
          </a:p>
          <a:p>
            <a:pPr algn="just"/>
            <a:r>
              <a:rPr lang="en-US" b="0" i="0" dirty="0">
                <a:solidFill>
                  <a:srgbClr val="353535"/>
                </a:solidFill>
                <a:effectLst/>
                <a:highlight>
                  <a:srgbClr val="FFFFFF"/>
                </a:highlight>
                <a:latin typeface="Roboto-Light"/>
              </a:rPr>
              <a:t>They also represent, or certify, your website’s brand identity. </a:t>
            </a:r>
          </a:p>
          <a:p>
            <a:pPr algn="just"/>
            <a:r>
              <a:rPr lang="en-US" dirty="0">
                <a:solidFill>
                  <a:srgbClr val="353535"/>
                </a:solidFill>
                <a:highlight>
                  <a:srgbClr val="FFFFFF"/>
                </a:highlight>
                <a:latin typeface="Roboto-Light"/>
              </a:rPr>
              <a:t>So</a:t>
            </a:r>
            <a:r>
              <a:rPr lang="en-US" b="0" i="0" dirty="0">
                <a:solidFill>
                  <a:srgbClr val="353535"/>
                </a:solidFill>
                <a:effectLst/>
                <a:highlight>
                  <a:srgbClr val="FFFFFF"/>
                </a:highlight>
                <a:latin typeface="Roboto-Light"/>
              </a:rPr>
              <a:t>, TLS/SSL certificates are both an identity protection measure for online brands, and a security measure for companies transmitting private data online.</a:t>
            </a:r>
          </a:p>
          <a:p>
            <a:pPr algn="just"/>
            <a:endParaRPr lang="en-IN" dirty="0"/>
          </a:p>
        </p:txBody>
      </p:sp>
    </p:spTree>
    <p:extLst>
      <p:ext uri="{BB962C8B-B14F-4D97-AF65-F5344CB8AC3E}">
        <p14:creationId xmlns:p14="http://schemas.microsoft.com/office/powerpoint/2010/main" val="190901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screen shot of a computer&#10;&#10;Description automatically generated">
            <a:extLst>
              <a:ext uri="{FF2B5EF4-FFF2-40B4-BE49-F238E27FC236}">
                <a16:creationId xmlns:a16="http://schemas.microsoft.com/office/drawing/2014/main" id="{9203611B-423C-6B8E-D192-8BF2873133FE}"/>
              </a:ext>
            </a:extLst>
          </p:cNvPr>
          <p:cNvPicPr>
            <a:picLocks noGrp="1" noChangeAspect="1"/>
          </p:cNvPicPr>
          <p:nvPr>
            <p:ph idx="1"/>
          </p:nvPr>
        </p:nvPicPr>
        <p:blipFill>
          <a:blip r:embed="rId2"/>
          <a:stretch>
            <a:fillRect/>
          </a:stretch>
        </p:blipFill>
        <p:spPr>
          <a:xfrm>
            <a:off x="1984512" y="643466"/>
            <a:ext cx="8222976" cy="5571067"/>
          </a:xfrm>
          <a:prstGeom prst="rect">
            <a:avLst/>
          </a:prstGeom>
        </p:spPr>
      </p:pic>
    </p:spTree>
    <p:extLst>
      <p:ext uri="{BB962C8B-B14F-4D97-AF65-F5344CB8AC3E}">
        <p14:creationId xmlns:p14="http://schemas.microsoft.com/office/powerpoint/2010/main" val="31112361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9037C-6191-B402-9E10-FB0C8601A3F5}"/>
              </a:ext>
            </a:extLst>
          </p:cNvPr>
          <p:cNvSpPr>
            <a:spLocks noGrp="1"/>
          </p:cNvSpPr>
          <p:nvPr>
            <p:ph type="title"/>
          </p:nvPr>
        </p:nvSpPr>
        <p:spPr/>
        <p:txBody>
          <a:bodyPr/>
          <a:lstStyle/>
          <a:p>
            <a:r>
              <a:rPr lang="en-US" b="1" i="0" dirty="0">
                <a:solidFill>
                  <a:srgbClr val="222222"/>
                </a:solidFill>
                <a:effectLst/>
                <a:latin typeface="-apple-system"/>
              </a:rPr>
              <a:t>How does SSL/TLS work?</a:t>
            </a:r>
            <a:endParaRPr lang="en-IN" dirty="0"/>
          </a:p>
        </p:txBody>
      </p:sp>
      <p:sp>
        <p:nvSpPr>
          <p:cNvPr id="3" name="Content Placeholder 2">
            <a:extLst>
              <a:ext uri="{FF2B5EF4-FFF2-40B4-BE49-F238E27FC236}">
                <a16:creationId xmlns:a16="http://schemas.microsoft.com/office/drawing/2014/main" id="{3517CBC4-68D0-8EAE-FBC6-084644DA5217}"/>
              </a:ext>
            </a:extLst>
          </p:cNvPr>
          <p:cNvSpPr>
            <a:spLocks noGrp="1"/>
          </p:cNvSpPr>
          <p:nvPr>
            <p:ph idx="1"/>
          </p:nvPr>
        </p:nvSpPr>
        <p:spPr/>
        <p:txBody>
          <a:bodyPr>
            <a:normAutofit/>
          </a:bodyPr>
          <a:lstStyle/>
          <a:p>
            <a:pPr algn="l">
              <a:buFont typeface="Arial" panose="020B0604020202020204" pitchFamily="34" charset="0"/>
              <a:buChar char="•"/>
            </a:pPr>
            <a:r>
              <a:rPr lang="en-US" b="0" i="0" dirty="0">
                <a:solidFill>
                  <a:srgbClr val="222222"/>
                </a:solidFill>
                <a:effectLst/>
                <a:latin typeface="-apple-system"/>
              </a:rPr>
              <a:t>To, provide a </a:t>
            </a:r>
            <a:r>
              <a:rPr lang="en-US" b="0" i="0" dirty="0">
                <a:solidFill>
                  <a:srgbClr val="222222"/>
                </a:solidFill>
                <a:effectLst/>
                <a:highlight>
                  <a:srgbClr val="FFFF00"/>
                </a:highlight>
                <a:latin typeface="-apple-system"/>
              </a:rPr>
              <a:t>high degree of </a:t>
            </a:r>
            <a:r>
              <a:rPr lang="en-US" b="0" i="0" u="none" strike="noStrike" dirty="0">
                <a:solidFill>
                  <a:srgbClr val="222222"/>
                </a:solidFill>
                <a:effectLst/>
                <a:highlight>
                  <a:srgbClr val="FFFF00"/>
                </a:highlight>
                <a:latin typeface="-apple-system"/>
              </a:rPr>
              <a:t>privacy</a:t>
            </a:r>
            <a:r>
              <a:rPr lang="en-US" b="0" i="0" dirty="0">
                <a:solidFill>
                  <a:srgbClr val="222222"/>
                </a:solidFill>
                <a:effectLst/>
                <a:latin typeface="-apple-system"/>
              </a:rPr>
              <a:t>, SSL encrypts data that is transmitted across the web. This means that anyone who tries to intercept this data will only see a garbled mix of characters that is nearly impossible to decrypt.</a:t>
            </a:r>
          </a:p>
          <a:p>
            <a:pPr algn="l">
              <a:buFont typeface="Arial" panose="020B0604020202020204" pitchFamily="34" charset="0"/>
              <a:buChar char="•"/>
            </a:pPr>
            <a:r>
              <a:rPr lang="en-US" b="0" i="0" dirty="0">
                <a:solidFill>
                  <a:srgbClr val="222222"/>
                </a:solidFill>
                <a:effectLst/>
                <a:latin typeface="-apple-system"/>
              </a:rPr>
              <a:t>SSL initiates an </a:t>
            </a:r>
            <a:r>
              <a:rPr lang="en-US" b="1" i="0" dirty="0">
                <a:solidFill>
                  <a:srgbClr val="222222"/>
                </a:solidFill>
                <a:effectLst/>
                <a:latin typeface="-apple-system"/>
              </a:rPr>
              <a:t>authentication</a:t>
            </a:r>
            <a:r>
              <a:rPr lang="en-US" b="0" i="0" dirty="0">
                <a:solidFill>
                  <a:srgbClr val="222222"/>
                </a:solidFill>
                <a:effectLst/>
                <a:latin typeface="-apple-system"/>
              </a:rPr>
              <a:t> process called a </a:t>
            </a:r>
            <a:r>
              <a:rPr lang="en-US" b="0" i="0" strike="noStrike" dirty="0">
                <a:solidFill>
                  <a:srgbClr val="222222"/>
                </a:solidFill>
                <a:effectLst/>
                <a:latin typeface="-apple-system"/>
              </a:rPr>
              <a:t>handshake</a:t>
            </a:r>
            <a:r>
              <a:rPr lang="en-US" b="0" i="0" dirty="0">
                <a:solidFill>
                  <a:srgbClr val="222222"/>
                </a:solidFill>
                <a:effectLst/>
                <a:latin typeface="-apple-system"/>
              </a:rPr>
              <a:t> between two communicating devices to ensure that both devices are really who they claim to be.</a:t>
            </a:r>
          </a:p>
          <a:p>
            <a:pPr algn="l">
              <a:buFont typeface="Arial" panose="020B0604020202020204" pitchFamily="34" charset="0"/>
              <a:buChar char="•"/>
            </a:pPr>
            <a:r>
              <a:rPr lang="en-US" b="0" i="0" dirty="0">
                <a:solidFill>
                  <a:srgbClr val="222222"/>
                </a:solidFill>
                <a:effectLst/>
                <a:latin typeface="-apple-system"/>
              </a:rPr>
              <a:t>SSL also digitally signs data to provide </a:t>
            </a:r>
            <a:r>
              <a:rPr lang="en-US" b="1" i="0" dirty="0">
                <a:solidFill>
                  <a:srgbClr val="222222"/>
                </a:solidFill>
                <a:effectLst/>
                <a:latin typeface="-apple-system"/>
              </a:rPr>
              <a:t>data integrity</a:t>
            </a:r>
            <a:r>
              <a:rPr lang="en-US" b="0" i="0" dirty="0">
                <a:solidFill>
                  <a:srgbClr val="222222"/>
                </a:solidFill>
                <a:effectLst/>
                <a:latin typeface="-apple-system"/>
              </a:rPr>
              <a:t>, verifying that the data is not tampered with before reaching its intended recipient.</a:t>
            </a:r>
          </a:p>
          <a:p>
            <a:endParaRPr lang="en-IN" dirty="0"/>
          </a:p>
        </p:txBody>
      </p:sp>
    </p:spTree>
    <p:extLst>
      <p:ext uri="{BB962C8B-B14F-4D97-AF65-F5344CB8AC3E}">
        <p14:creationId xmlns:p14="http://schemas.microsoft.com/office/powerpoint/2010/main" val="19422948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D86D0-AF52-E5B3-944E-A32A85B1B287}"/>
              </a:ext>
            </a:extLst>
          </p:cNvPr>
          <p:cNvSpPr>
            <a:spLocks noGrp="1"/>
          </p:cNvSpPr>
          <p:nvPr>
            <p:ph type="title"/>
          </p:nvPr>
        </p:nvSpPr>
        <p:spPr/>
        <p:txBody>
          <a:bodyPr/>
          <a:lstStyle/>
          <a:p>
            <a:r>
              <a:rPr lang="en-US" dirty="0"/>
              <a:t>Why is SSL/TLS important?</a:t>
            </a:r>
            <a:endParaRPr lang="en-IN" dirty="0"/>
          </a:p>
        </p:txBody>
      </p:sp>
      <p:sp>
        <p:nvSpPr>
          <p:cNvPr id="3" name="Content Placeholder 2">
            <a:extLst>
              <a:ext uri="{FF2B5EF4-FFF2-40B4-BE49-F238E27FC236}">
                <a16:creationId xmlns:a16="http://schemas.microsoft.com/office/drawing/2014/main" id="{DAC1410F-39DA-494D-610D-10F51F500C51}"/>
              </a:ext>
            </a:extLst>
          </p:cNvPr>
          <p:cNvSpPr>
            <a:spLocks noGrp="1"/>
          </p:cNvSpPr>
          <p:nvPr>
            <p:ph idx="1"/>
          </p:nvPr>
        </p:nvSpPr>
        <p:spPr/>
        <p:txBody>
          <a:bodyPr>
            <a:normAutofit fontScale="77500" lnSpcReduction="20000"/>
          </a:bodyPr>
          <a:lstStyle/>
          <a:p>
            <a:pPr algn="just"/>
            <a:r>
              <a:rPr lang="en-US" dirty="0">
                <a:solidFill>
                  <a:schemeClr val="accent2">
                    <a:lumMod val="75000"/>
                  </a:schemeClr>
                </a:solidFill>
              </a:rPr>
              <a:t>Originally, data on the Web was transmitted in plaintext that anyone could read if they intercepted the message. For example, if a consumer visited a shopping website, placed an order, and entered their credit card number on the website, that credit card number would travel across the Internet unconcealed.</a:t>
            </a:r>
          </a:p>
          <a:p>
            <a:pPr algn="just"/>
            <a:endParaRPr lang="en-US" dirty="0"/>
          </a:p>
          <a:p>
            <a:pPr algn="just"/>
            <a:r>
              <a:rPr lang="en-US" dirty="0"/>
              <a:t>SSL was created to correct this problem and protect user privacy. By encrypting any data that goes between a user and a web server, SSL ensures that anyone who intercepts the data can only see a scrambled mess of characters. The consumer's credit card number is now safe, only visible to the shopping website where they entered it.</a:t>
            </a:r>
          </a:p>
          <a:p>
            <a:pPr algn="just"/>
            <a:endParaRPr lang="en-US" dirty="0"/>
          </a:p>
          <a:p>
            <a:pPr algn="just"/>
            <a:r>
              <a:rPr lang="en-US" dirty="0"/>
              <a:t>SSL also stops certain kinds of cyber attacks: It authenticates web servers, which is important because attackers will often try to set up fake websites to trick users and steal data. It also prevents attackers from tampering with data in transit, like a tamper-proof seal on a medicine container.</a:t>
            </a:r>
            <a:endParaRPr lang="en-IN" dirty="0"/>
          </a:p>
        </p:txBody>
      </p:sp>
    </p:spTree>
    <p:extLst>
      <p:ext uri="{BB962C8B-B14F-4D97-AF65-F5344CB8AC3E}">
        <p14:creationId xmlns:p14="http://schemas.microsoft.com/office/powerpoint/2010/main" val="936824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0845A-FA57-CDFA-B40D-F939DBBA87C6}"/>
              </a:ext>
            </a:extLst>
          </p:cNvPr>
          <p:cNvSpPr>
            <a:spLocks noGrp="1"/>
          </p:cNvSpPr>
          <p:nvPr>
            <p:ph type="title"/>
          </p:nvPr>
        </p:nvSpPr>
        <p:spPr>
          <a:xfrm>
            <a:off x="9524" y="338847"/>
            <a:ext cx="9392421" cy="132268"/>
          </a:xfrm>
        </p:spPr>
        <p:txBody>
          <a:bodyPr>
            <a:normAutofit fontScale="90000"/>
          </a:bodyPr>
          <a:lstStyle/>
          <a:p>
            <a:r>
              <a:rPr lang="en-US" dirty="0"/>
              <a:t>Secure Socket Layer</a:t>
            </a:r>
            <a:endParaRPr lang="en-IN" dirty="0"/>
          </a:p>
        </p:txBody>
      </p:sp>
      <p:sp>
        <p:nvSpPr>
          <p:cNvPr id="3" name="Content Placeholder 2">
            <a:extLst>
              <a:ext uri="{FF2B5EF4-FFF2-40B4-BE49-F238E27FC236}">
                <a16:creationId xmlns:a16="http://schemas.microsoft.com/office/drawing/2014/main" id="{27D40E94-4EBF-EA4B-70C7-F9D94BA008F9}"/>
              </a:ext>
            </a:extLst>
          </p:cNvPr>
          <p:cNvSpPr>
            <a:spLocks noGrp="1"/>
          </p:cNvSpPr>
          <p:nvPr>
            <p:ph idx="1"/>
          </p:nvPr>
        </p:nvSpPr>
        <p:spPr>
          <a:xfrm>
            <a:off x="317883" y="1030917"/>
            <a:ext cx="6244841" cy="5649612"/>
          </a:xfrm>
        </p:spPr>
        <p:txBody>
          <a:bodyPr>
            <a:normAutofit/>
          </a:bodyPr>
          <a:lstStyle/>
          <a:p>
            <a:pPr algn="just"/>
            <a:r>
              <a:rPr lang="en-US" sz="1600" dirty="0"/>
              <a:t>A Secure Socket Layer (SSL) is a security protocol </a:t>
            </a:r>
            <a:r>
              <a:rPr lang="en-US" sz="1600" b="1" dirty="0"/>
              <a:t>developed by Netscape</a:t>
            </a:r>
            <a:r>
              <a:rPr lang="en-US" sz="1600" dirty="0"/>
              <a:t> in the 1990’s for sending information securely (encrypted) over the Internet.</a:t>
            </a:r>
          </a:p>
          <a:p>
            <a:pPr algn="just"/>
            <a:r>
              <a:rPr lang="en-US" sz="1600" dirty="0"/>
              <a:t>Once upon a time, websites used SSL only for secure areas of their websites, such as </a:t>
            </a:r>
            <a:r>
              <a:rPr lang="en-US" sz="1600" b="1" dirty="0"/>
              <a:t>user login pages or online checkout</a:t>
            </a:r>
            <a:r>
              <a:rPr lang="en-US" sz="1600" dirty="0"/>
              <a:t>. Today, SSL has been deprecated (replaced) by a new standard for online encryption of website traffic known as Transport Layer Encryption. </a:t>
            </a:r>
          </a:p>
          <a:p>
            <a:pPr algn="just"/>
            <a:r>
              <a:rPr lang="en-US" sz="1600" dirty="0"/>
              <a:t>Websites used SSL and now </a:t>
            </a:r>
            <a:r>
              <a:rPr lang="en-US" sz="1600" b="1" dirty="0"/>
              <a:t>TLS to encrypt all data in motion between the web browser and destination website</a:t>
            </a:r>
            <a:r>
              <a:rPr lang="en-US" sz="1600" dirty="0"/>
              <a:t>. This prevents hackers from intercepting and reading the transmissions.</a:t>
            </a:r>
          </a:p>
          <a:p>
            <a:pPr algn="just"/>
            <a:r>
              <a:rPr lang="en-US" sz="1600" dirty="0"/>
              <a:t> You will know you’re protected by SSL or TLS whenever you visit a website and your browser URL Bar displays a Lock symbol.</a:t>
            </a:r>
          </a:p>
          <a:p>
            <a:pPr algn="just"/>
            <a:r>
              <a:rPr lang="en-US" sz="1600" dirty="0"/>
              <a:t>SSL and TLS accomplish their encryption by use of special digital certificates which tie back to the identity and owner of the company or merchant in question. This allows online shoppers to trust that the website is secure and reliable.</a:t>
            </a:r>
          </a:p>
          <a:p>
            <a:pPr algn="just"/>
            <a:r>
              <a:rPr lang="en-US" sz="1600" dirty="0"/>
              <a:t>If you host a website, make sure you purchase a SSL/TLS Certificate from a trusted Certificate issuer.</a:t>
            </a:r>
            <a:endParaRPr lang="en-IN" sz="1600" dirty="0"/>
          </a:p>
        </p:txBody>
      </p:sp>
      <p:pic>
        <p:nvPicPr>
          <p:cNvPr id="3076" name="Picture 4" descr="ssl cybrary term">
            <a:extLst>
              <a:ext uri="{FF2B5EF4-FFF2-40B4-BE49-F238E27FC236}">
                <a16:creationId xmlns:a16="http://schemas.microsoft.com/office/drawing/2014/main" id="{8DAEE808-48E6-E182-01C6-90127878B22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719367" y="2611038"/>
            <a:ext cx="4788505" cy="29036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50919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SSL protocol stack</a:t>
            </a:r>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3090931" y="2000249"/>
            <a:ext cx="4895782" cy="3699583"/>
          </a:xfrm>
          <a:prstGeom prst="rect">
            <a:avLst/>
          </a:prstGeom>
        </p:spPr>
      </p:pic>
    </p:spTree>
    <p:extLst>
      <p:ext uri="{BB962C8B-B14F-4D97-AF65-F5344CB8AC3E}">
        <p14:creationId xmlns:p14="http://schemas.microsoft.com/office/powerpoint/2010/main" val="34551654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The SSL record protocol, which is at a lower layer and offers services to these three higher level protocols.</a:t>
            </a:r>
          </a:p>
          <a:p>
            <a:pPr marL="0" indent="0">
              <a:buNone/>
            </a:pPr>
            <a:r>
              <a:rPr lang="en-IN" dirty="0"/>
              <a:t>	1. Handshake Protocol. </a:t>
            </a:r>
          </a:p>
          <a:p>
            <a:pPr marL="0" indent="0">
              <a:buNone/>
            </a:pPr>
            <a:r>
              <a:rPr lang="en-IN" dirty="0"/>
              <a:t>	2. Change Cipher Spec Protocol.</a:t>
            </a:r>
          </a:p>
          <a:p>
            <a:pPr marL="0" indent="0">
              <a:buNone/>
            </a:pPr>
            <a:r>
              <a:rPr lang="en-IN" dirty="0"/>
              <a:t>	3. Alert Protocol.</a:t>
            </a:r>
          </a:p>
        </p:txBody>
      </p:sp>
    </p:spTree>
    <p:extLst>
      <p:ext uri="{BB962C8B-B14F-4D97-AF65-F5344CB8AC3E}">
        <p14:creationId xmlns:p14="http://schemas.microsoft.com/office/powerpoint/2010/main" val="26087128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33365"/>
          </a:xfrm>
        </p:spPr>
        <p:txBody>
          <a:bodyPr>
            <a:normAutofit fontScale="90000"/>
          </a:bodyPr>
          <a:lstStyle/>
          <a:p>
            <a:r>
              <a:rPr lang="en-IN" dirty="0"/>
              <a:t>SSL Record Protocol</a:t>
            </a:r>
          </a:p>
        </p:txBody>
      </p:sp>
      <p:sp>
        <p:nvSpPr>
          <p:cNvPr id="3" name="Content Placeholder 2"/>
          <p:cNvSpPr>
            <a:spLocks noGrp="1"/>
          </p:cNvSpPr>
          <p:nvPr>
            <p:ph idx="1"/>
          </p:nvPr>
        </p:nvSpPr>
        <p:spPr>
          <a:xfrm>
            <a:off x="838200" y="798490"/>
            <a:ext cx="10515600" cy="5378473"/>
          </a:xfrm>
        </p:spPr>
        <p:txBody>
          <a:bodyPr/>
          <a:lstStyle/>
          <a:p>
            <a:r>
              <a:rPr lang="en-US" dirty="0"/>
              <a:t>This protocol provides two services for SSL connections:</a:t>
            </a:r>
          </a:p>
          <a:p>
            <a:pPr lvl="1"/>
            <a:r>
              <a:rPr lang="en-US" dirty="0"/>
              <a:t>Confidentiality - using conventional encryption.</a:t>
            </a:r>
          </a:p>
          <a:p>
            <a:pPr lvl="1"/>
            <a:r>
              <a:rPr lang="en-US" dirty="0"/>
              <a:t>Message Integrity - using a Message Authentication Code (MAC).</a:t>
            </a:r>
          </a:p>
          <a:p>
            <a:endParaRPr lang="en-IN" dirty="0"/>
          </a:p>
        </p:txBody>
      </p:sp>
      <p:pic>
        <p:nvPicPr>
          <p:cNvPr id="4" name="Picture 3"/>
          <p:cNvPicPr>
            <a:picLocks noChangeAspect="1"/>
          </p:cNvPicPr>
          <p:nvPr/>
        </p:nvPicPr>
        <p:blipFill>
          <a:blip r:embed="rId2"/>
          <a:stretch>
            <a:fillRect/>
          </a:stretch>
        </p:blipFill>
        <p:spPr>
          <a:xfrm>
            <a:off x="2507394" y="1980753"/>
            <a:ext cx="7923660" cy="5090620"/>
          </a:xfrm>
          <a:prstGeom prst="rect">
            <a:avLst/>
          </a:prstGeom>
        </p:spPr>
      </p:pic>
    </p:spTree>
    <p:extLst>
      <p:ext uri="{BB962C8B-B14F-4D97-AF65-F5344CB8AC3E}">
        <p14:creationId xmlns:p14="http://schemas.microsoft.com/office/powerpoint/2010/main" val="22655889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1035139" y="607845"/>
            <a:ext cx="9564173" cy="5682822"/>
          </a:xfrm>
          <a:prstGeom prst="rect">
            <a:avLst/>
          </a:prstGeom>
        </p:spPr>
      </p:pic>
    </p:spTree>
    <p:extLst>
      <p:ext uri="{BB962C8B-B14F-4D97-AF65-F5344CB8AC3E}">
        <p14:creationId xmlns:p14="http://schemas.microsoft.com/office/powerpoint/2010/main" val="33792651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2307799" y="2315023"/>
            <a:ext cx="7003626" cy="2521305"/>
          </a:xfrm>
          <a:prstGeom prst="rect">
            <a:avLst/>
          </a:prstGeom>
        </p:spPr>
      </p:pic>
    </p:spTree>
    <p:extLst>
      <p:ext uri="{BB962C8B-B14F-4D97-AF65-F5344CB8AC3E}">
        <p14:creationId xmlns:p14="http://schemas.microsoft.com/office/powerpoint/2010/main" val="11824148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42836"/>
          </a:xfrm>
        </p:spPr>
        <p:txBody>
          <a:bodyPr>
            <a:normAutofit fontScale="90000"/>
          </a:bodyPr>
          <a:lstStyle/>
          <a:p>
            <a:r>
              <a:rPr lang="en-IN" dirty="0"/>
              <a:t>SSL Handshake Protocol</a:t>
            </a:r>
          </a:p>
        </p:txBody>
      </p:sp>
      <p:pic>
        <p:nvPicPr>
          <p:cNvPr id="4" name="Content Placeholder 3"/>
          <p:cNvPicPr>
            <a:picLocks noGrp="1" noChangeAspect="1"/>
          </p:cNvPicPr>
          <p:nvPr>
            <p:ph idx="1"/>
          </p:nvPr>
        </p:nvPicPr>
        <p:blipFill>
          <a:blip r:embed="rId2"/>
          <a:stretch>
            <a:fillRect/>
          </a:stretch>
        </p:blipFill>
        <p:spPr>
          <a:xfrm>
            <a:off x="410140" y="907962"/>
            <a:ext cx="9329291" cy="4526734"/>
          </a:xfrm>
          <a:prstGeom prst="rect">
            <a:avLst/>
          </a:prstGeom>
        </p:spPr>
      </p:pic>
      <p:pic>
        <p:nvPicPr>
          <p:cNvPr id="5" name="Picture 4"/>
          <p:cNvPicPr>
            <a:picLocks noChangeAspect="1"/>
          </p:cNvPicPr>
          <p:nvPr/>
        </p:nvPicPr>
        <p:blipFill>
          <a:blip r:embed="rId3"/>
          <a:stretch>
            <a:fillRect/>
          </a:stretch>
        </p:blipFill>
        <p:spPr>
          <a:xfrm>
            <a:off x="5287832" y="4935378"/>
            <a:ext cx="5618208" cy="2029319"/>
          </a:xfrm>
          <a:prstGeom prst="rect">
            <a:avLst/>
          </a:prstGeom>
        </p:spPr>
      </p:pic>
    </p:spTree>
    <p:extLst>
      <p:ext uri="{BB962C8B-B14F-4D97-AF65-F5344CB8AC3E}">
        <p14:creationId xmlns:p14="http://schemas.microsoft.com/office/powerpoint/2010/main" val="9342477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2109519" y="453232"/>
            <a:ext cx="7019925" cy="2609850"/>
          </a:xfrm>
          <a:prstGeom prst="rect">
            <a:avLst/>
          </a:prstGeom>
        </p:spPr>
      </p:pic>
      <p:pic>
        <p:nvPicPr>
          <p:cNvPr id="5" name="Picture 4"/>
          <p:cNvPicPr>
            <a:picLocks noChangeAspect="1"/>
          </p:cNvPicPr>
          <p:nvPr/>
        </p:nvPicPr>
        <p:blipFill>
          <a:blip r:embed="rId3"/>
          <a:stretch>
            <a:fillRect/>
          </a:stretch>
        </p:blipFill>
        <p:spPr>
          <a:xfrm>
            <a:off x="2280834" y="3340100"/>
            <a:ext cx="7115175" cy="2971800"/>
          </a:xfrm>
          <a:prstGeom prst="rect">
            <a:avLst/>
          </a:prstGeom>
        </p:spPr>
      </p:pic>
    </p:spTree>
    <p:extLst>
      <p:ext uri="{BB962C8B-B14F-4D97-AF65-F5344CB8AC3E}">
        <p14:creationId xmlns:p14="http://schemas.microsoft.com/office/powerpoint/2010/main" val="39954056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2186457" y="214313"/>
            <a:ext cx="7200900" cy="2952750"/>
          </a:xfrm>
          <a:prstGeom prst="rect">
            <a:avLst/>
          </a:prstGeom>
        </p:spPr>
      </p:pic>
      <p:pic>
        <p:nvPicPr>
          <p:cNvPr id="5" name="Picture 4"/>
          <p:cNvPicPr>
            <a:picLocks noChangeAspect="1"/>
          </p:cNvPicPr>
          <p:nvPr/>
        </p:nvPicPr>
        <p:blipFill>
          <a:blip r:embed="rId3"/>
          <a:stretch>
            <a:fillRect/>
          </a:stretch>
        </p:blipFill>
        <p:spPr>
          <a:xfrm>
            <a:off x="2356700" y="3346886"/>
            <a:ext cx="7143750" cy="2238375"/>
          </a:xfrm>
          <a:prstGeom prst="rect">
            <a:avLst/>
          </a:prstGeom>
        </p:spPr>
      </p:pic>
    </p:spTree>
    <p:extLst>
      <p:ext uri="{BB962C8B-B14F-4D97-AF65-F5344CB8AC3E}">
        <p14:creationId xmlns:p14="http://schemas.microsoft.com/office/powerpoint/2010/main" val="21347600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pic>
        <p:nvPicPr>
          <p:cNvPr id="4" name="Picture 3"/>
          <p:cNvPicPr>
            <a:picLocks noChangeAspect="1"/>
          </p:cNvPicPr>
          <p:nvPr/>
        </p:nvPicPr>
        <p:blipFill>
          <a:blip r:embed="rId2"/>
          <a:stretch>
            <a:fillRect/>
          </a:stretch>
        </p:blipFill>
        <p:spPr>
          <a:xfrm>
            <a:off x="2219258" y="866506"/>
            <a:ext cx="7058025" cy="2343150"/>
          </a:xfrm>
          <a:prstGeom prst="rect">
            <a:avLst/>
          </a:prstGeom>
        </p:spPr>
      </p:pic>
      <p:pic>
        <p:nvPicPr>
          <p:cNvPr id="5" name="Picture 4"/>
          <p:cNvPicPr>
            <a:picLocks noChangeAspect="1"/>
          </p:cNvPicPr>
          <p:nvPr/>
        </p:nvPicPr>
        <p:blipFill>
          <a:blip r:embed="rId3"/>
          <a:stretch>
            <a:fillRect/>
          </a:stretch>
        </p:blipFill>
        <p:spPr>
          <a:xfrm>
            <a:off x="2219258" y="3711037"/>
            <a:ext cx="7058025" cy="2105025"/>
          </a:xfrm>
          <a:prstGeom prst="rect">
            <a:avLst/>
          </a:prstGeom>
        </p:spPr>
      </p:pic>
    </p:spTree>
    <p:extLst>
      <p:ext uri="{BB962C8B-B14F-4D97-AF65-F5344CB8AC3E}">
        <p14:creationId xmlns:p14="http://schemas.microsoft.com/office/powerpoint/2010/main" val="20315619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3028681" y="92701"/>
            <a:ext cx="5922135" cy="6684174"/>
          </a:xfrm>
          <a:prstGeom prst="rect">
            <a:avLst/>
          </a:prstGeom>
        </p:spPr>
      </p:pic>
    </p:spTree>
    <p:extLst>
      <p:ext uri="{BB962C8B-B14F-4D97-AF65-F5344CB8AC3E}">
        <p14:creationId xmlns:p14="http://schemas.microsoft.com/office/powerpoint/2010/main" val="11231684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pic>
        <p:nvPicPr>
          <p:cNvPr id="4" name="Picture 3"/>
          <p:cNvPicPr>
            <a:picLocks noChangeAspect="1"/>
          </p:cNvPicPr>
          <p:nvPr/>
        </p:nvPicPr>
        <p:blipFill>
          <a:blip r:embed="rId2"/>
          <a:stretch>
            <a:fillRect/>
          </a:stretch>
        </p:blipFill>
        <p:spPr>
          <a:xfrm>
            <a:off x="451833" y="0"/>
            <a:ext cx="7726251" cy="2126738"/>
          </a:xfrm>
          <a:prstGeom prst="rect">
            <a:avLst/>
          </a:prstGeom>
        </p:spPr>
      </p:pic>
      <p:pic>
        <p:nvPicPr>
          <p:cNvPr id="6" name="Picture 5"/>
          <p:cNvPicPr>
            <a:picLocks noChangeAspect="1"/>
          </p:cNvPicPr>
          <p:nvPr/>
        </p:nvPicPr>
        <p:blipFill>
          <a:blip r:embed="rId3"/>
          <a:stretch>
            <a:fillRect/>
          </a:stretch>
        </p:blipFill>
        <p:spPr>
          <a:xfrm>
            <a:off x="728328" y="2055812"/>
            <a:ext cx="7449756" cy="4834417"/>
          </a:xfrm>
          <a:prstGeom prst="rect">
            <a:avLst/>
          </a:prstGeom>
        </p:spPr>
      </p:pic>
    </p:spTree>
    <p:extLst>
      <p:ext uri="{BB962C8B-B14F-4D97-AF65-F5344CB8AC3E}">
        <p14:creationId xmlns:p14="http://schemas.microsoft.com/office/powerpoint/2010/main" val="33119061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344903" y="1690687"/>
            <a:ext cx="7163060" cy="1915397"/>
          </a:xfrm>
          <a:prstGeom prst="rect">
            <a:avLst/>
          </a:prstGeom>
        </p:spPr>
      </p:pic>
    </p:spTree>
    <p:extLst>
      <p:ext uri="{BB962C8B-B14F-4D97-AF65-F5344CB8AC3E}">
        <p14:creationId xmlns:p14="http://schemas.microsoft.com/office/powerpoint/2010/main" val="29918437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7069D-93FA-A65D-1AAD-458738DDCE1F}"/>
              </a:ext>
            </a:extLst>
          </p:cNvPr>
          <p:cNvSpPr>
            <a:spLocks noGrp="1"/>
          </p:cNvSpPr>
          <p:nvPr>
            <p:ph type="title"/>
          </p:nvPr>
        </p:nvSpPr>
        <p:spPr/>
        <p:txBody>
          <a:bodyPr/>
          <a:lstStyle/>
          <a:p>
            <a:r>
              <a:rPr lang="en-IN" dirty="0"/>
              <a:t>Change Cipher Spec Protocol.</a:t>
            </a:r>
            <a:br>
              <a:rPr lang="en-IN" dirty="0"/>
            </a:br>
            <a:endParaRPr lang="en-IN" dirty="0"/>
          </a:p>
        </p:txBody>
      </p:sp>
      <p:sp>
        <p:nvSpPr>
          <p:cNvPr id="3" name="Content Placeholder 2">
            <a:extLst>
              <a:ext uri="{FF2B5EF4-FFF2-40B4-BE49-F238E27FC236}">
                <a16:creationId xmlns:a16="http://schemas.microsoft.com/office/drawing/2014/main" id="{1F6C4939-3D64-003C-7756-DAE9A9880718}"/>
              </a:ext>
            </a:extLst>
          </p:cNvPr>
          <p:cNvSpPr>
            <a:spLocks noGrp="1"/>
          </p:cNvSpPr>
          <p:nvPr>
            <p:ph idx="1"/>
          </p:nvPr>
        </p:nvSpPr>
        <p:spPr/>
        <p:txBody>
          <a:bodyPr>
            <a:normAutofit fontScale="85000" lnSpcReduction="20000"/>
          </a:bodyPr>
          <a:lstStyle/>
          <a:p>
            <a:r>
              <a:rPr lang="en-IN" dirty="0"/>
              <a:t>A cipher suite is a set of cryptographic algorithms.</a:t>
            </a:r>
          </a:p>
          <a:p>
            <a:pPr lvl="1"/>
            <a:r>
              <a:rPr lang="en-IN" dirty="0"/>
              <a:t>The SSL handshake protocol determines how the client and server negotiate which cipher suites they will use.</a:t>
            </a:r>
          </a:p>
          <a:p>
            <a:r>
              <a:rPr lang="en-IN" dirty="0"/>
              <a:t>The most commonly used cipher suites are:</a:t>
            </a:r>
          </a:p>
          <a:p>
            <a:pPr lvl="1"/>
            <a:r>
              <a:rPr lang="en-IN" dirty="0"/>
              <a:t>DES (Data Encryption Standard)</a:t>
            </a:r>
          </a:p>
          <a:p>
            <a:pPr lvl="1"/>
            <a:r>
              <a:rPr lang="en-IN" dirty="0"/>
              <a:t>DSA (Digital Signature Algorithm)</a:t>
            </a:r>
          </a:p>
          <a:p>
            <a:pPr lvl="1"/>
            <a:r>
              <a:rPr lang="en-IN" dirty="0"/>
              <a:t>KEA (Key Exchange Algorithm)</a:t>
            </a:r>
          </a:p>
          <a:p>
            <a:pPr lvl="1"/>
            <a:r>
              <a:rPr lang="en-IN" dirty="0"/>
              <a:t>MD5</a:t>
            </a:r>
          </a:p>
          <a:p>
            <a:pPr lvl="1"/>
            <a:r>
              <a:rPr lang="en-IN" dirty="0"/>
              <a:t>RC2</a:t>
            </a:r>
          </a:p>
          <a:p>
            <a:pPr lvl="1"/>
            <a:r>
              <a:rPr lang="en-IN" dirty="0"/>
              <a:t>RC4</a:t>
            </a:r>
          </a:p>
          <a:p>
            <a:pPr lvl="1"/>
            <a:r>
              <a:rPr lang="en-IN" dirty="0"/>
              <a:t>RSA</a:t>
            </a:r>
          </a:p>
          <a:p>
            <a:pPr lvl="1"/>
            <a:r>
              <a:rPr lang="en-IN" dirty="0"/>
              <a:t>SHA-1 (Secure Hash Algorithm)</a:t>
            </a:r>
          </a:p>
          <a:p>
            <a:pPr lvl="1"/>
            <a:r>
              <a:rPr lang="en-IN" dirty="0"/>
              <a:t>SKIPJACK</a:t>
            </a:r>
          </a:p>
          <a:p>
            <a:pPr lvl="1"/>
            <a:r>
              <a:rPr lang="en-IN" dirty="0"/>
              <a:t>Triple DES</a:t>
            </a:r>
          </a:p>
        </p:txBody>
      </p:sp>
    </p:spTree>
    <p:extLst>
      <p:ext uri="{BB962C8B-B14F-4D97-AF65-F5344CB8AC3E}">
        <p14:creationId xmlns:p14="http://schemas.microsoft.com/office/powerpoint/2010/main" val="32204486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B2E4D-6AC2-3AD6-4CE9-3E1420C1C8F5}"/>
              </a:ext>
            </a:extLst>
          </p:cNvPr>
          <p:cNvSpPr>
            <a:spLocks noGrp="1"/>
          </p:cNvSpPr>
          <p:nvPr>
            <p:ph type="title"/>
          </p:nvPr>
        </p:nvSpPr>
        <p:spPr/>
        <p:txBody>
          <a:bodyPr/>
          <a:lstStyle/>
          <a:p>
            <a:r>
              <a:rPr lang="en-US" dirty="0"/>
              <a:t>SSL Alert Protocol</a:t>
            </a:r>
            <a:endParaRPr lang="en-IN" dirty="0"/>
          </a:p>
        </p:txBody>
      </p:sp>
      <p:sp>
        <p:nvSpPr>
          <p:cNvPr id="3" name="Content Placeholder 2">
            <a:extLst>
              <a:ext uri="{FF2B5EF4-FFF2-40B4-BE49-F238E27FC236}">
                <a16:creationId xmlns:a16="http://schemas.microsoft.com/office/drawing/2014/main" id="{F18CCBC6-93F7-F1FC-8959-D59C10FCDC3A}"/>
              </a:ext>
            </a:extLst>
          </p:cNvPr>
          <p:cNvSpPr>
            <a:spLocks noGrp="1"/>
          </p:cNvSpPr>
          <p:nvPr>
            <p:ph idx="1"/>
          </p:nvPr>
        </p:nvSpPr>
        <p:spPr/>
        <p:txBody>
          <a:bodyPr>
            <a:normAutofit fontScale="92500" lnSpcReduction="20000"/>
          </a:bodyPr>
          <a:lstStyle/>
          <a:p>
            <a:r>
              <a:rPr lang="en-US" dirty="0"/>
              <a:t>This protocol is used to convey SSL-related alerts to the peer entity. Each message in this protocol contains 2 bytes.</a:t>
            </a:r>
          </a:p>
          <a:p>
            <a:endParaRPr lang="en-US" dirty="0"/>
          </a:p>
          <a:p>
            <a:endParaRPr lang="en-US" b="1" i="0" dirty="0">
              <a:solidFill>
                <a:srgbClr val="273239"/>
              </a:solidFill>
              <a:effectLst/>
              <a:latin typeface="Nunito" pitchFamily="2" charset="0"/>
            </a:endParaRPr>
          </a:p>
          <a:p>
            <a:endParaRPr lang="en-US" b="1" dirty="0">
              <a:solidFill>
                <a:srgbClr val="273239"/>
              </a:solidFill>
              <a:latin typeface="Nunito" pitchFamily="2" charset="0"/>
            </a:endParaRPr>
          </a:p>
          <a:p>
            <a:r>
              <a:rPr lang="en-US" b="1" i="0" dirty="0">
                <a:solidFill>
                  <a:srgbClr val="273239"/>
                </a:solidFill>
                <a:effectLst/>
                <a:latin typeface="Nunito" pitchFamily="2" charset="0"/>
              </a:rPr>
              <a:t>Warning (level = 1): </a:t>
            </a:r>
            <a:br>
              <a:rPr lang="en-US" dirty="0"/>
            </a:br>
            <a:r>
              <a:rPr lang="en-US" b="0" i="0" dirty="0">
                <a:solidFill>
                  <a:srgbClr val="273239"/>
                </a:solidFill>
                <a:effectLst/>
                <a:latin typeface="Nunito" pitchFamily="2" charset="0"/>
              </a:rPr>
              <a:t>This Alert has no impact on the connection between sender and receiver</a:t>
            </a:r>
          </a:p>
          <a:p>
            <a:pPr algn="l" fontAlgn="base"/>
            <a:r>
              <a:rPr lang="en-US" b="1" i="0" dirty="0">
                <a:solidFill>
                  <a:srgbClr val="273239"/>
                </a:solidFill>
                <a:effectLst/>
                <a:latin typeface="Nunito" pitchFamily="2" charset="0"/>
              </a:rPr>
              <a:t>Fatal Error (level = 2): </a:t>
            </a:r>
            <a:endParaRPr lang="en-US" b="0" i="0" dirty="0">
              <a:solidFill>
                <a:srgbClr val="273239"/>
              </a:solidFill>
              <a:effectLst/>
              <a:latin typeface="Nunito" pitchFamily="2" charset="0"/>
            </a:endParaRPr>
          </a:p>
          <a:p>
            <a:pPr algn="l" fontAlgn="base"/>
            <a:r>
              <a:rPr lang="en-US" b="0" i="0" dirty="0">
                <a:solidFill>
                  <a:srgbClr val="273239"/>
                </a:solidFill>
                <a:effectLst/>
                <a:latin typeface="Nunito" pitchFamily="2" charset="0"/>
              </a:rPr>
              <a:t>This Alert breaks the connection between sender and receiver. The connection will be stopped, cannot be resumed but can be restarted.</a:t>
            </a:r>
          </a:p>
          <a:p>
            <a:endParaRPr lang="en-IN" dirty="0"/>
          </a:p>
        </p:txBody>
      </p:sp>
      <p:pic>
        <p:nvPicPr>
          <p:cNvPr id="1028" name="Picture 4" descr="Lightbox">
            <a:extLst>
              <a:ext uri="{FF2B5EF4-FFF2-40B4-BE49-F238E27FC236}">
                <a16:creationId xmlns:a16="http://schemas.microsoft.com/office/drawing/2014/main" id="{0B7724CE-9C55-B8C2-00BF-EBA1D5ECD6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9362" y="2493800"/>
            <a:ext cx="7153275" cy="1123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77862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566</TotalTime>
  <Words>967</Words>
  <Application>Microsoft Macintosh PowerPoint</Application>
  <PresentationFormat>Widescreen</PresentationFormat>
  <Paragraphs>65</Paragraphs>
  <Slides>22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-apple-system</vt:lpstr>
      <vt:lpstr>Aptos</vt:lpstr>
      <vt:lpstr>Aptos Display</vt:lpstr>
      <vt:lpstr>Arial</vt:lpstr>
      <vt:lpstr>FjallaOne-Regular</vt:lpstr>
      <vt:lpstr>Nunito</vt:lpstr>
      <vt:lpstr>Roboto-Light</vt:lpstr>
      <vt:lpstr>Roboto-Regular</vt:lpstr>
      <vt:lpstr>Office Theme</vt:lpstr>
      <vt:lpstr>Transport Layer Security</vt:lpstr>
      <vt:lpstr>What is SSL and why is it important?</vt:lpstr>
      <vt:lpstr>WHAT ARE TLS/SSL CERTIFICATES?</vt:lpstr>
      <vt:lpstr>WHY DO SITES NEED TO USE TLS/SSL CERTIFICATES? </vt:lpstr>
      <vt:lpstr>PowerPoint Presentation</vt:lpstr>
      <vt:lpstr>How does SSL/TLS work?</vt:lpstr>
      <vt:lpstr>Why is SSL/TLS important?</vt:lpstr>
      <vt:lpstr>Secure Socket Layer</vt:lpstr>
      <vt:lpstr>SSL protocol stack</vt:lpstr>
      <vt:lpstr>PowerPoint Presentation</vt:lpstr>
      <vt:lpstr>SSL Record Protocol</vt:lpstr>
      <vt:lpstr>PowerPoint Presentation</vt:lpstr>
      <vt:lpstr>PowerPoint Presentation</vt:lpstr>
      <vt:lpstr>SSL Handshake Protocol</vt:lpstr>
      <vt:lpstr>PowerPoint Presentation</vt:lpstr>
      <vt:lpstr>PowerPoint Presentation</vt:lpstr>
      <vt:lpstr>PowerPoint Presentation</vt:lpstr>
      <vt:lpstr>PowerPoint Presentation</vt:lpstr>
      <vt:lpstr>PowerPoint Presentation</vt:lpstr>
      <vt:lpstr>PowerPoint Presentation</vt:lpstr>
      <vt:lpstr>Change Cipher Spec Protocol. </vt:lpstr>
      <vt:lpstr>SSL Alert Protocol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Transport Layer Security and IP Security</dc:title>
  <dc:creator>Mary Mekala  A</dc:creator>
  <cp:lastModifiedBy>Apoorva Karnwal</cp:lastModifiedBy>
  <cp:revision>7</cp:revision>
  <dcterms:created xsi:type="dcterms:W3CDTF">2024-04-15T17:02:15Z</dcterms:created>
  <dcterms:modified xsi:type="dcterms:W3CDTF">2025-04-30T05:35:02Z</dcterms:modified>
</cp:coreProperties>
</file>