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A23CC-B48D-4FD6-8C90-2760E68D00E4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3FA2A-8DA5-4D7A-92A5-5990D4ABC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50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553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https://www.youtube.com/watch?v=3AmkQjdiW7o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54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8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40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40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4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07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54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67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47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11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25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18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A9252-1F71-4611-BC0F-A8EB052877B3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8998B-AE40-4489-B361-98D6EF058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95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33600"/>
            <a:ext cx="8229600" cy="1143000"/>
          </a:xfrm>
        </p:spPr>
        <p:txBody>
          <a:bodyPr>
            <a:noAutofit/>
          </a:bodyPr>
          <a:lstStyle/>
          <a:p>
            <a:r>
              <a:rPr lang="en-IN" b="1" dirty="0" smtClean="0"/>
              <a:t>Elliptic curve </a:t>
            </a:r>
            <a:r>
              <a:rPr lang="en-IN" b="1" dirty="0" err="1" smtClean="0"/>
              <a:t>Diffie</a:t>
            </a:r>
            <a:r>
              <a:rPr lang="en-IN" b="1" dirty="0" smtClean="0"/>
              <a:t> </a:t>
            </a:r>
            <a:r>
              <a:rPr lang="en-IN" b="1" dirty="0" err="1" smtClean="0"/>
              <a:t>Hellmen</a:t>
            </a:r>
            <a:r>
              <a:rPr lang="en-IN" b="1" dirty="0" smtClean="0"/>
              <a:t> (ECDH)</a:t>
            </a:r>
            <a:br>
              <a:rPr lang="en-IN" b="1" dirty="0" smtClean="0"/>
            </a:br>
            <a:r>
              <a:rPr lang="en-IN" b="1" dirty="0" smtClean="0"/>
              <a:t> Key exchange Algorithm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8358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Elliptic curve </a:t>
            </a:r>
            <a:r>
              <a:rPr lang="en-IN" dirty="0" err="1" smtClean="0"/>
              <a:t>Diffie</a:t>
            </a:r>
            <a:r>
              <a:rPr lang="en-IN" dirty="0" smtClean="0"/>
              <a:t> </a:t>
            </a:r>
            <a:r>
              <a:rPr lang="en-IN" dirty="0" err="1" smtClean="0"/>
              <a:t>Hellmen</a:t>
            </a:r>
            <a:r>
              <a:rPr lang="en-IN" dirty="0" smtClean="0"/>
              <a:t> (ECDH) Key exchange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The </a:t>
            </a:r>
            <a:r>
              <a:rPr lang="en-IN" dirty="0" err="1" smtClean="0"/>
              <a:t>Diffie</a:t>
            </a:r>
            <a:r>
              <a:rPr lang="en-IN" dirty="0" smtClean="0"/>
              <a:t>-Hellman algorithm is being used to establish a shared secret that can be used for secret communications using the elliptic curve.</a:t>
            </a:r>
          </a:p>
          <a:p>
            <a:pPr algn="just"/>
            <a:r>
              <a:rPr lang="en-IN" dirty="0" smtClean="0"/>
              <a:t>Let us consider 4 variables, one prime P and G (generator) and two private values a and b.</a:t>
            </a:r>
          </a:p>
          <a:p>
            <a:pPr algn="just"/>
            <a:r>
              <a:rPr lang="en-IN" dirty="0" smtClean="0"/>
              <a:t>P and G are both publicly available. </a:t>
            </a:r>
          </a:p>
          <a:p>
            <a:pPr algn="just"/>
            <a:r>
              <a:rPr lang="en-IN" dirty="0" smtClean="0"/>
              <a:t>Users (say Alice and Bob) pick private values a and b and they generate a key and exchange it publicly. </a:t>
            </a:r>
          </a:p>
          <a:p>
            <a:pPr algn="just"/>
            <a:r>
              <a:rPr lang="en-IN" dirty="0" smtClean="0"/>
              <a:t>The opposite person receives the key and that generates a secret key, after which they have the same secret key to encrypt.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90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 involved in ECDH algorithm </a:t>
            </a:r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1" y="1447800"/>
            <a:ext cx="777239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7144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486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Step 1: Alice and Bob get public numbers P = 23, G = 9 </a:t>
            </a:r>
          </a:p>
          <a:p>
            <a:pPr algn="just"/>
            <a:r>
              <a:rPr lang="en-IN" dirty="0" smtClean="0"/>
              <a:t>Step 2: Alice selected a private key a = 4 and Bob selected a private key b = 3 </a:t>
            </a:r>
          </a:p>
          <a:p>
            <a:pPr algn="just"/>
            <a:r>
              <a:rPr lang="en-IN" dirty="0" smtClean="0"/>
              <a:t>Step 3: Alice and Bob compute public values </a:t>
            </a:r>
          </a:p>
          <a:p>
            <a:pPr lvl="1" algn="just"/>
            <a:r>
              <a:rPr lang="en-IN" dirty="0" smtClean="0"/>
              <a:t>Alice: x = (</a:t>
            </a:r>
            <a:r>
              <a:rPr lang="en-IN" dirty="0" err="1" smtClean="0"/>
              <a:t>G</a:t>
            </a:r>
            <a:r>
              <a:rPr lang="en-IN" baseline="30000" dirty="0" err="1" smtClean="0"/>
              <a:t>a</a:t>
            </a:r>
            <a:r>
              <a:rPr lang="en-IN" dirty="0" smtClean="0"/>
              <a:t> mod P) =(9</a:t>
            </a:r>
            <a:r>
              <a:rPr lang="en-IN" baseline="30000" dirty="0" smtClean="0"/>
              <a:t>4</a:t>
            </a:r>
            <a:r>
              <a:rPr lang="en-IN" dirty="0" smtClean="0"/>
              <a:t> mod 23) = (6561 mod 23) = 6 </a:t>
            </a:r>
          </a:p>
          <a:p>
            <a:pPr lvl="1" algn="just"/>
            <a:r>
              <a:rPr lang="en-IN" dirty="0" smtClean="0"/>
              <a:t>Bob: y = (</a:t>
            </a:r>
            <a:r>
              <a:rPr lang="en-IN" dirty="0" err="1" smtClean="0"/>
              <a:t>G</a:t>
            </a:r>
            <a:r>
              <a:rPr lang="en-IN" baseline="30000" dirty="0" err="1" smtClean="0"/>
              <a:t>b</a:t>
            </a:r>
            <a:r>
              <a:rPr lang="en-IN" dirty="0" smtClean="0"/>
              <a:t> mod P) = (729 mod 23) = 16 </a:t>
            </a:r>
          </a:p>
          <a:p>
            <a:pPr algn="just"/>
            <a:r>
              <a:rPr lang="en-IN" dirty="0" smtClean="0"/>
              <a:t>Step 4: Alice and Bob exchange public numbers </a:t>
            </a:r>
          </a:p>
          <a:p>
            <a:pPr algn="just"/>
            <a:r>
              <a:rPr lang="en-IN" dirty="0" smtClean="0"/>
              <a:t>Step 5: Alice receives public key y =16 and Bob receives public key x = 6 </a:t>
            </a:r>
          </a:p>
          <a:p>
            <a:pPr algn="just"/>
            <a:r>
              <a:rPr lang="en-IN" dirty="0" smtClean="0"/>
              <a:t>Step 6: Alice and Bob compute symmetric keys </a:t>
            </a:r>
          </a:p>
          <a:p>
            <a:pPr lvl="1" algn="just"/>
            <a:r>
              <a:rPr lang="en-IN" dirty="0" smtClean="0"/>
              <a:t>Alice: ka = </a:t>
            </a:r>
            <a:r>
              <a:rPr lang="en-IN" dirty="0" err="1" smtClean="0"/>
              <a:t>y</a:t>
            </a:r>
            <a:r>
              <a:rPr lang="en-IN" baseline="30000" dirty="0" err="1" smtClean="0"/>
              <a:t>a</a:t>
            </a:r>
            <a:r>
              <a:rPr lang="en-IN" baseline="30000" dirty="0" smtClean="0"/>
              <a:t> </a:t>
            </a:r>
            <a:r>
              <a:rPr lang="en-IN" dirty="0" smtClean="0"/>
              <a:t> mod P = 16</a:t>
            </a:r>
            <a:r>
              <a:rPr lang="en-IN" baseline="30000" dirty="0" smtClean="0"/>
              <a:t>4 </a:t>
            </a:r>
            <a:r>
              <a:rPr lang="en-IN" dirty="0" smtClean="0"/>
              <a:t> mod 23 = 65536 mod 23 = 9 </a:t>
            </a:r>
          </a:p>
          <a:p>
            <a:pPr lvl="1" algn="just"/>
            <a:r>
              <a:rPr lang="en-IN" dirty="0" smtClean="0"/>
              <a:t>Bob: kb = </a:t>
            </a:r>
            <a:r>
              <a:rPr lang="en-IN" dirty="0" err="1" smtClean="0"/>
              <a:t>x</a:t>
            </a:r>
            <a:r>
              <a:rPr lang="en-IN" baseline="30000" dirty="0" err="1" smtClean="0"/>
              <a:t>b</a:t>
            </a:r>
            <a:r>
              <a:rPr lang="en-IN" baseline="30000" dirty="0" smtClean="0"/>
              <a:t> </a:t>
            </a:r>
            <a:r>
              <a:rPr lang="en-IN" dirty="0" smtClean="0"/>
              <a:t> mod P = 6</a:t>
            </a:r>
            <a:r>
              <a:rPr lang="en-IN" baseline="30000" dirty="0" smtClean="0"/>
              <a:t>3 </a:t>
            </a:r>
            <a:r>
              <a:rPr lang="en-IN" dirty="0" smtClean="0"/>
              <a:t> mod 23 = 216 mod 23 = 9 </a:t>
            </a:r>
          </a:p>
          <a:p>
            <a:pPr algn="just"/>
            <a:r>
              <a:rPr lang="en-IN" dirty="0" smtClean="0"/>
              <a:t>Step 7: 9 is the shared secret key.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035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88" y="1200150"/>
            <a:ext cx="62198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5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dirty="0" smtClean="0"/>
              <a:t>1. If P = (13,7) </a:t>
            </a:r>
            <a:r>
              <a:rPr lang="en-IN" dirty="0" smtClean="0">
                <a:sym typeface="Symbol"/>
              </a:rPr>
              <a:t>E</a:t>
            </a:r>
            <a:r>
              <a:rPr lang="en-IN" baseline="-25000" dirty="0" smtClean="0">
                <a:sym typeface="Symbol"/>
              </a:rPr>
              <a:t>23</a:t>
            </a:r>
            <a:r>
              <a:rPr lang="en-IN" dirty="0" smtClean="0">
                <a:sym typeface="Symbol"/>
              </a:rPr>
              <a:t>(1,1) then find – P.</a:t>
            </a:r>
          </a:p>
          <a:p>
            <a:pPr algn="just"/>
            <a:r>
              <a:rPr lang="en-IN" dirty="0" smtClean="0">
                <a:sym typeface="Symbol"/>
              </a:rPr>
              <a:t>Solution:</a:t>
            </a:r>
          </a:p>
          <a:p>
            <a:pPr lvl="1" algn="just">
              <a:buNone/>
            </a:pPr>
            <a:r>
              <a:rPr lang="en-IN" u="sng" dirty="0" smtClean="0"/>
              <a:t>NOTE</a:t>
            </a:r>
            <a:r>
              <a:rPr lang="en-IN" dirty="0" smtClean="0"/>
              <a:t>: if P = (x1,y1) then – P = (x1,-y1)</a:t>
            </a:r>
          </a:p>
          <a:p>
            <a:pPr lvl="1" algn="just">
              <a:buNone/>
            </a:pPr>
            <a:r>
              <a:rPr lang="en-IN" dirty="0" smtClean="0"/>
              <a:t>-P = (13,-7)</a:t>
            </a:r>
          </a:p>
          <a:p>
            <a:pPr lvl="1" algn="just">
              <a:buNone/>
            </a:pPr>
            <a:r>
              <a:rPr lang="en-IN" dirty="0" smtClean="0"/>
              <a:t>Where – 7 mod 23 = 23 – (7 mod 23) = 23 – 7= 16</a:t>
            </a:r>
          </a:p>
          <a:p>
            <a:pPr lvl="1" algn="just">
              <a:buNone/>
            </a:pPr>
            <a:r>
              <a:rPr lang="en-IN" dirty="0" smtClean="0"/>
              <a:t>So, -P = (13,16)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379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dirty="0" smtClean="0"/>
              <a:t>2. Consider an EC point </a:t>
            </a:r>
            <a:r>
              <a:rPr lang="en-IN" b="1" dirty="0" smtClean="0"/>
              <a:t>G</a:t>
            </a:r>
            <a:r>
              <a:rPr lang="en-IN" dirty="0" smtClean="0"/>
              <a:t> = {</a:t>
            </a:r>
            <a:r>
              <a:rPr lang="en-IN" b="1" dirty="0" smtClean="0"/>
              <a:t>15</a:t>
            </a:r>
            <a:r>
              <a:rPr lang="en-IN" dirty="0" smtClean="0"/>
              <a:t>, </a:t>
            </a:r>
            <a:r>
              <a:rPr lang="en-IN" b="1" dirty="0" smtClean="0"/>
              <a:t>13</a:t>
            </a:r>
            <a:r>
              <a:rPr lang="en-IN" dirty="0" smtClean="0"/>
              <a:t>} on the elliptic curve over finite field y2 ≡ x3 + </a:t>
            </a:r>
            <a:r>
              <a:rPr lang="en-IN" b="1" dirty="0" smtClean="0"/>
              <a:t>7</a:t>
            </a:r>
            <a:r>
              <a:rPr lang="en-IN" dirty="0" smtClean="0"/>
              <a:t> (mod </a:t>
            </a:r>
            <a:r>
              <a:rPr lang="en-IN" b="1" dirty="0" smtClean="0"/>
              <a:t>17</a:t>
            </a:r>
            <a:r>
              <a:rPr lang="en-IN" dirty="0" smtClean="0"/>
              <a:t>) and multiply it by </a:t>
            </a:r>
            <a:r>
              <a:rPr lang="en-IN" b="1" dirty="0" smtClean="0"/>
              <a:t>k</a:t>
            </a:r>
            <a:r>
              <a:rPr lang="en-IN" dirty="0" smtClean="0"/>
              <a:t> = </a:t>
            </a:r>
            <a:r>
              <a:rPr lang="en-IN" b="1" dirty="0" smtClean="0"/>
              <a:t>6</a:t>
            </a:r>
            <a:r>
              <a:rPr lang="en-IN" dirty="0" smtClean="0"/>
              <a:t>. Find P = </a:t>
            </a:r>
            <a:r>
              <a:rPr lang="en-IN" dirty="0" err="1" smtClean="0"/>
              <a:t>kG</a:t>
            </a:r>
            <a:r>
              <a:rPr lang="en-IN" dirty="0" smtClean="0"/>
              <a:t>.</a:t>
            </a:r>
          </a:p>
          <a:p>
            <a:r>
              <a:rPr lang="en-IN" b="1" dirty="0" smtClean="0"/>
              <a:t>Hint: </a:t>
            </a:r>
            <a:r>
              <a:rPr lang="en-IN" dirty="0" smtClean="0"/>
              <a:t>2P = P + P, 3P = P + 2P, 4P = P + 3P,……. </a:t>
            </a:r>
          </a:p>
          <a:p>
            <a:pPr algn="just">
              <a:buNone/>
            </a:pPr>
            <a:r>
              <a:rPr lang="en-IN" b="1" dirty="0" smtClean="0"/>
              <a:t>Solution: </a:t>
            </a:r>
          </a:p>
          <a:p>
            <a:pPr algn="just">
              <a:buNone/>
            </a:pPr>
            <a:r>
              <a:rPr lang="en-IN" dirty="0" smtClean="0"/>
              <a:t>P = </a:t>
            </a:r>
            <a:r>
              <a:rPr lang="en-IN" dirty="0" err="1" smtClean="0"/>
              <a:t>kG</a:t>
            </a:r>
            <a:r>
              <a:rPr lang="en-IN" dirty="0" smtClean="0"/>
              <a:t> = 6 * (15,13) = (5, 8)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140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358</Words>
  <Application>Microsoft Office PowerPoint</Application>
  <PresentationFormat>Widescreen</PresentationFormat>
  <Paragraphs>34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Elliptic curve Diffie Hellmen (ECDH)  Key exchange Algorithm</vt:lpstr>
      <vt:lpstr>Elliptic curve Diffie Hellmen (ECDH) Key exchange</vt:lpstr>
      <vt:lpstr>Steps involved in ECDH algorithm </vt:lpstr>
      <vt:lpstr>Example</vt:lpstr>
      <vt:lpstr>PowerPoint Presentation</vt:lpstr>
      <vt:lpstr>Exercises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2025-02-27T09:49:59Z</dcterms:created>
  <dcterms:modified xsi:type="dcterms:W3CDTF">2025-03-11T14:11:40Z</dcterms:modified>
</cp:coreProperties>
</file>