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61" r:id="rId3"/>
    <p:sldId id="262" r:id="rId4"/>
    <p:sldId id="263" r:id="rId5"/>
    <p:sldId id="294" r:id="rId6"/>
    <p:sldId id="295" r:id="rId7"/>
    <p:sldId id="275" r:id="rId8"/>
    <p:sldId id="297" r:id="rId9"/>
    <p:sldId id="298" r:id="rId10"/>
    <p:sldId id="303" r:id="rId11"/>
    <p:sldId id="296" r:id="rId12"/>
    <p:sldId id="304" r:id="rId13"/>
    <p:sldId id="299" r:id="rId14"/>
    <p:sldId id="300" r:id="rId15"/>
    <p:sldId id="301" r:id="rId16"/>
    <p:sldId id="30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F633D-EC02-4821-ABD4-9C08D9CD06E2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11F6B-FA07-4383-9AA8-BBE55730762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45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fld id="{B1308722-7717-49CD-A920-F82852DD8889}" type="slidenum">
              <a:rPr lang="en-US" altLang="zh-CN" sz="1200" b="0" smtClean="0">
                <a:latin typeface="Times New Roman" pitchFamily="18" charset="0"/>
              </a:rPr>
              <a:pPr/>
              <a:t>1</a:t>
            </a:fld>
            <a:endParaRPr lang="en-US" altLang="zh-CN" sz="1200" b="0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8981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fld id="{E98070D0-E1B5-460E-AE71-AA16D3FF8407}" type="slidenum">
              <a:rPr lang="en-US" altLang="zh-CN" sz="1200" b="0" smtClean="0">
                <a:latin typeface="Times New Roman" pitchFamily="18" charset="0"/>
              </a:rPr>
              <a:pPr/>
              <a:t>2</a:t>
            </a:fld>
            <a:endParaRPr lang="en-US" altLang="zh-CN" sz="1200" b="0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69496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fld id="{DD049E87-D560-467E-997B-5522E1D44607}" type="slidenum">
              <a:rPr lang="en-US" altLang="zh-CN" sz="1200" b="0" smtClean="0">
                <a:latin typeface="Times New Roman" pitchFamily="18" charset="0"/>
              </a:rPr>
              <a:pPr/>
              <a:t>3</a:t>
            </a:fld>
            <a:endParaRPr lang="en-US" altLang="zh-CN" sz="1200" b="0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10388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fld id="{BB4246A3-301F-41F9-A451-498B12F3414E}" type="slidenum">
              <a:rPr lang="en-US" altLang="zh-CN" sz="1200" b="0" smtClean="0">
                <a:latin typeface="Times New Roman" pitchFamily="18" charset="0"/>
              </a:rPr>
              <a:pPr/>
              <a:t>4</a:t>
            </a:fld>
            <a:endParaRPr lang="en-US" altLang="zh-CN" sz="1200" b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46621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fld id="{22E6EC21-E485-4889-8C27-B284BA2BEA47}" type="slidenum">
              <a:rPr lang="en-US" altLang="zh-CN" sz="1200" b="0" smtClean="0">
                <a:latin typeface="Times New Roman" pitchFamily="18" charset="0"/>
              </a:rPr>
              <a:pPr/>
              <a:t>7</a:t>
            </a:fld>
            <a:endParaRPr lang="en-US" altLang="zh-CN" sz="1200" b="0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96913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fld id="{22E6EC21-E485-4889-8C27-B284BA2BEA47}" type="slidenum">
              <a:rPr lang="en-US" altLang="zh-CN" sz="1200" b="0" smtClean="0">
                <a:latin typeface="Times New Roman" pitchFamily="18" charset="0"/>
              </a:rPr>
              <a:pPr/>
              <a:t>8</a:t>
            </a:fld>
            <a:endParaRPr lang="en-US" altLang="zh-CN" sz="1200" b="0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96913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fld id="{22E6EC21-E485-4889-8C27-B284BA2BEA47}" type="slidenum">
              <a:rPr lang="en-US" altLang="zh-CN" sz="1200" b="0" smtClean="0">
                <a:latin typeface="Times New Roman" pitchFamily="18" charset="0"/>
              </a:rPr>
              <a:pPr/>
              <a:t>9</a:t>
            </a:fld>
            <a:endParaRPr lang="en-US" altLang="zh-CN" sz="1200" b="0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96913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fld id="{22E6EC21-E485-4889-8C27-B284BA2BEA47}" type="slidenum">
              <a:rPr lang="en-US" altLang="zh-CN" sz="1200" b="0" smtClean="0">
                <a:latin typeface="Times New Roman" pitchFamily="18" charset="0"/>
              </a:rPr>
              <a:pPr/>
              <a:t>10</a:t>
            </a:fld>
            <a:endParaRPr lang="en-US" altLang="zh-CN" sz="1200" b="0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IN" altLang="zh-CN" dirty="0" smtClean="0"/>
              <a:t>7 and 17</a:t>
            </a:r>
          </a:p>
          <a:p>
            <a:pPr eaLnBrk="1" hangingPunct="1"/>
            <a:r>
              <a:rPr lang="en-IN" altLang="zh-CN" dirty="0" smtClean="0"/>
              <a:t>PT=6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096913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B932-F5B5-4D23-A6C0-0F66F584B200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214A9-B759-4DE5-8093-43E1F88254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80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B932-F5B5-4D23-A6C0-0F66F584B200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214A9-B759-4DE5-8093-43E1F88254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19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B932-F5B5-4D23-A6C0-0F66F584B200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214A9-B759-4DE5-8093-43E1F88254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62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B932-F5B5-4D23-A6C0-0F66F584B200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214A9-B759-4DE5-8093-43E1F88254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B932-F5B5-4D23-A6C0-0F66F584B200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214A9-B759-4DE5-8093-43E1F88254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15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B932-F5B5-4D23-A6C0-0F66F584B200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214A9-B759-4DE5-8093-43E1F88254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68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B932-F5B5-4D23-A6C0-0F66F584B200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214A9-B759-4DE5-8093-43E1F88254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7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B932-F5B5-4D23-A6C0-0F66F584B200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214A9-B759-4DE5-8093-43E1F88254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98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B932-F5B5-4D23-A6C0-0F66F584B200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214A9-B759-4DE5-8093-43E1F88254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82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B932-F5B5-4D23-A6C0-0F66F584B200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214A9-B759-4DE5-8093-43E1F88254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191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9B932-F5B5-4D23-A6C0-0F66F584B200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214A9-B759-4DE5-8093-43E1F88254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42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9B932-F5B5-4D23-A6C0-0F66F584B200}" type="datetimeFigureOut">
              <a:rPr lang="en-IN" smtClean="0"/>
              <a:pPr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214A9-B759-4DE5-8093-43E1F88254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278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1.bp.blogspot.com/-eZ3Gq6mg3lc/YTcN1eJnJZI/AAAAAAAADNA/ay62YzB13pcv03o1Is5ibBhfexn0QvHtgCLcBGAsYHQ/s1310/exe+1.png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1.bp.blogspot.com/-HJg8XVwTG1A/YTcN6lO4FdI/AAAAAAAADNE/gAtIkdh-cyAsEddVJ3o9tlzxmdEfSpMXACLcBGAsYHQ/s1308/exe+2.png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1.bp.blogspot.com/-NMCXHrIRRzY/YTcOA7Xjw_I/AAAAAAAADNI/z28T_m8iR7Uw_PHWKZ4uBBKBvypJ6kO3QCLcBGAsYHQ/s1304/exe+3.png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1.bp.blogspot.com/--v8P5WVsZco/Yac_yz1yMQI/AAAAAAAADfY/p_6nk1jZtZsvtkMb2MiFx1qD_HLXRKLEACLcBGAsYHQ/s1320/exe+4.png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1.bp.blogspot.com/-9IE9muCOfiY/YTcOQxMuaxI/AAAAAAAADNc/8Q8YqUGR8JwMXkg32RDHzxk1jzJWeGjXQCLcBGAsYHQ/s1308/exe+5.png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r>
              <a:rPr lang="en-US" altLang="zh-CN" sz="1200">
                <a:solidFill>
                  <a:schemeClr val="bg2"/>
                </a:solidFill>
                <a:latin typeface="Arial" charset="0"/>
              </a:rPr>
              <a:t>10.</a:t>
            </a:r>
            <a:fld id="{DC938140-0F9A-4E5B-96D0-A406F7BEC797}" type="slidenum">
              <a:rPr lang="en-US" altLang="zh-CN" sz="1200" smtClean="0">
                <a:solidFill>
                  <a:schemeClr val="bg2"/>
                </a:solidFill>
                <a:latin typeface="Arial" charset="0"/>
              </a:rPr>
              <a:pPr/>
              <a:t>1</a:t>
            </a:fld>
            <a:endParaRPr lang="en-US" altLang="zh-CN" sz="12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1143000" y="2514600"/>
            <a:ext cx="68580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4400" i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Asymmetric (Public)-</a:t>
            </a:r>
            <a:r>
              <a:rPr lang="en-US" altLang="zh-CN" sz="4400" i="1" dirty="0">
                <a:solidFill>
                  <a:srgbClr val="7030A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Key</a:t>
            </a:r>
            <a:br>
              <a:rPr lang="en-US" altLang="zh-CN" sz="4400" i="1" dirty="0">
                <a:solidFill>
                  <a:srgbClr val="7030A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4400" i="1" dirty="0">
                <a:solidFill>
                  <a:srgbClr val="7030A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Cryptography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53874"/>
            <a:ext cx="8363272" cy="210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29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17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17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17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17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178" name="Rectangle 9"/>
          <p:cNvSpPr>
            <a:spLocks noChangeArrowheads="1"/>
          </p:cNvSpPr>
          <p:nvPr/>
        </p:nvSpPr>
        <p:spPr bwMode="auto">
          <a:xfrm>
            <a:off x="228600" y="9906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i="1" dirty="0">
                <a:latin typeface="Times New Roman" pitchFamily="18" charset="0"/>
                <a:ea typeface="宋体" pitchFamily="2" charset="-122"/>
              </a:rPr>
              <a:t>Asymmetric key cryptography uses two separate keys: </a:t>
            </a:r>
          </a:p>
          <a:p>
            <a:pPr algn="just"/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one</a:t>
            </a:r>
            <a:r>
              <a:rPr lang="en-US" altLang="zh-CN" sz="2800" i="1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private and one public</a:t>
            </a:r>
            <a:r>
              <a:rPr lang="en-US" altLang="zh-CN" sz="2800" i="1" dirty="0">
                <a:latin typeface="Times New Roman" pitchFamily="18" charset="0"/>
                <a:ea typeface="宋体" pitchFamily="2" charset="-122"/>
              </a:rPr>
              <a:t>. </a:t>
            </a:r>
          </a:p>
        </p:txBody>
      </p:sp>
      <p:sp>
        <p:nvSpPr>
          <p:cNvPr id="7180" name="Text Box 11"/>
          <p:cNvSpPr txBox="1">
            <a:spLocks noChangeArrowheads="1"/>
          </p:cNvSpPr>
          <p:nvPr/>
        </p:nvSpPr>
        <p:spPr bwMode="auto">
          <a:xfrm>
            <a:off x="2214546" y="2214554"/>
            <a:ext cx="50465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r>
              <a:rPr lang="en-US" altLang="zh-CN" sz="2400" i="1" dirty="0" smtClean="0">
                <a:solidFill>
                  <a:schemeClr val="folHlink"/>
                </a:solidFill>
                <a:latin typeface="Times New Roman" pitchFamily="18" charset="0"/>
                <a:ea typeface="宋体" pitchFamily="2" charset="-122"/>
              </a:rPr>
              <a:t>Alice wants to send a message to Bob</a:t>
            </a:r>
            <a:endParaRPr lang="en-US" altLang="zh-CN" sz="2000" i="1" dirty="0"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7181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3068960"/>
            <a:ext cx="7048500" cy="347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019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19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19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20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20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204" name="Text Box 11"/>
          <p:cNvSpPr txBox="1">
            <a:spLocks noChangeArrowheads="1"/>
          </p:cNvSpPr>
          <p:nvPr/>
        </p:nvSpPr>
        <p:spPr bwMode="auto">
          <a:xfrm>
            <a:off x="1285852" y="642918"/>
            <a:ext cx="69729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r>
              <a:rPr lang="en-US" altLang="zh-CN" dirty="0" smtClean="0">
                <a:solidFill>
                  <a:schemeClr val="folHlink"/>
                </a:solidFill>
                <a:latin typeface="Times New Roman" pitchFamily="18" charset="0"/>
                <a:ea typeface="宋体" pitchFamily="2" charset="-122"/>
              </a:rPr>
              <a:t>Public – key cryptography - Procedure</a:t>
            </a:r>
            <a:endParaRPr lang="en-US" altLang="zh-CN" sz="2800" i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4348" y="1357298"/>
            <a:ext cx="7715304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IN" sz="3200" dirty="0" smtClean="0"/>
              <a:t> </a:t>
            </a:r>
            <a:r>
              <a:rPr lang="en-IN" sz="3200" b="1" u="sng" dirty="0" smtClean="0"/>
              <a:t>Scenario: </a:t>
            </a:r>
          </a:p>
          <a:p>
            <a:pPr algn="just"/>
            <a:r>
              <a:rPr lang="en-IN" sz="2800" dirty="0" smtClean="0"/>
              <a:t>Alice wants to send an encrypted message to Bob.</a:t>
            </a:r>
          </a:p>
          <a:p>
            <a:pPr algn="just"/>
            <a:endParaRPr lang="en-IN" sz="2800" dirty="0" smtClean="0"/>
          </a:p>
          <a:p>
            <a:pPr algn="just">
              <a:buFont typeface="Arial" pitchFamily="34" charset="0"/>
              <a:buChar char="•"/>
            </a:pPr>
            <a:r>
              <a:rPr lang="en-IN" sz="3200" b="1" u="sng" dirty="0" smtClean="0"/>
              <a:t> Procedure:</a:t>
            </a:r>
          </a:p>
          <a:p>
            <a:pPr algn="just"/>
            <a:r>
              <a:rPr lang="en-IN" sz="2800" dirty="0" smtClean="0"/>
              <a:t> 1. Bob computes a </a:t>
            </a:r>
            <a:r>
              <a:rPr lang="en-IN" sz="2800" dirty="0" err="1" smtClean="0"/>
              <a:t>keypair</a:t>
            </a:r>
            <a:r>
              <a:rPr lang="en-IN" sz="2800" dirty="0" smtClean="0"/>
              <a:t> (public and a private key). </a:t>
            </a:r>
          </a:p>
          <a:p>
            <a:pPr algn="just"/>
            <a:r>
              <a:rPr lang="en-IN" sz="2800" dirty="0" smtClean="0"/>
              <a:t>2. Bob publishes his public key to Alice.</a:t>
            </a:r>
          </a:p>
          <a:p>
            <a:pPr algn="just"/>
            <a:r>
              <a:rPr lang="en-IN" sz="2800" dirty="0" smtClean="0"/>
              <a:t>3. Alice Encrypts the message using Bob’s public key. </a:t>
            </a:r>
          </a:p>
          <a:p>
            <a:pPr algn="just"/>
            <a:r>
              <a:rPr lang="en-IN" sz="2800" dirty="0" smtClean="0"/>
              <a:t>4. Alice sends the message to Bob. </a:t>
            </a:r>
          </a:p>
          <a:p>
            <a:pPr algn="just"/>
            <a:r>
              <a:rPr lang="en-IN" sz="2800" dirty="0" smtClean="0"/>
              <a:t>5. Bob decrypts the message using his private key.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3495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ltGray">
          <a:xfrm>
            <a:off x="748761" y="74612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22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22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22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22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226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i="1" dirty="0">
                <a:solidFill>
                  <a:schemeClr val="folHlink"/>
                </a:solidFill>
                <a:latin typeface="Times New Roman" pitchFamily="18" charset="0"/>
                <a:ea typeface="宋体" pitchFamily="2" charset="-122"/>
              </a:rPr>
              <a:t>Plaintext/Ciphertext</a:t>
            </a:r>
          </a:p>
          <a:p>
            <a:pPr algn="just"/>
            <a:r>
              <a:rPr lang="en-US" altLang="zh-CN" sz="2800" i="1" dirty="0">
                <a:latin typeface="Times New Roman" pitchFamily="18" charset="0"/>
                <a:ea typeface="宋体" pitchFamily="2" charset="-122"/>
              </a:rPr>
              <a:t>Unlike in symmetric-key cryptography, plaintext and ciphertext are treated as integers in asymmetric-key cryptography. </a:t>
            </a:r>
          </a:p>
        </p:txBody>
      </p:sp>
      <p:sp>
        <p:nvSpPr>
          <p:cNvPr id="9228" name="Rectangle 11"/>
          <p:cNvSpPr>
            <a:spLocks noChangeArrowheads="1"/>
          </p:cNvSpPr>
          <p:nvPr/>
        </p:nvSpPr>
        <p:spPr bwMode="auto">
          <a:xfrm>
            <a:off x="990600" y="4267200"/>
            <a:ext cx="7315200" cy="1754326"/>
          </a:xfrm>
          <a:prstGeom prst="rect">
            <a:avLst/>
          </a:prstGeom>
          <a:solidFill>
            <a:schemeClr val="bg1"/>
          </a:solidFill>
          <a:ln w="57150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altLang="zh-CN" sz="3600" i="1" dirty="0">
                <a:latin typeface="Times New Roman" pitchFamily="18" charset="0"/>
                <a:ea typeface="宋体" pitchFamily="2" charset="-122"/>
              </a:rPr>
              <a:t>C = E (</a:t>
            </a:r>
            <a:r>
              <a:rPr lang="en-US" altLang="zh-CN" sz="3600" i="1" dirty="0" err="1">
                <a:latin typeface="Times New Roman" pitchFamily="18" charset="0"/>
                <a:ea typeface="宋体" pitchFamily="2" charset="-122"/>
              </a:rPr>
              <a:t>K</a:t>
            </a:r>
            <a:r>
              <a:rPr lang="en-US" altLang="zh-CN" sz="3600" i="1" baseline="-25000" dirty="0" err="1">
                <a:latin typeface="Times New Roman" pitchFamily="18" charset="0"/>
                <a:ea typeface="宋体" pitchFamily="2" charset="-122"/>
              </a:rPr>
              <a:t>public</a:t>
            </a:r>
            <a:r>
              <a:rPr lang="en-US" altLang="zh-CN" sz="3600" i="1" baseline="-250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600" i="1" dirty="0">
                <a:latin typeface="Times New Roman" pitchFamily="18" charset="0"/>
                <a:ea typeface="宋体" pitchFamily="2" charset="-122"/>
              </a:rPr>
              <a:t>, P)       </a:t>
            </a:r>
            <a:endParaRPr lang="en-US" altLang="zh-CN" sz="3600" i="1" dirty="0" smtClean="0">
              <a:latin typeface="Times New Roman" pitchFamily="18" charset="0"/>
              <a:ea typeface="宋体" pitchFamily="2" charset="-122"/>
            </a:endParaRPr>
          </a:p>
          <a:p>
            <a:pPr algn="just"/>
            <a:endParaRPr lang="en-US" altLang="zh-CN" sz="3600" i="1" dirty="0" smtClean="0">
              <a:latin typeface="Times New Roman" pitchFamily="18" charset="0"/>
              <a:ea typeface="宋体" pitchFamily="2" charset="-122"/>
            </a:endParaRPr>
          </a:p>
          <a:p>
            <a:pPr algn="just"/>
            <a:r>
              <a:rPr lang="en-US" altLang="zh-CN" sz="3600" i="1" dirty="0" smtClean="0">
                <a:latin typeface="Times New Roman" pitchFamily="18" charset="0"/>
                <a:ea typeface="宋体" pitchFamily="2" charset="-122"/>
              </a:rPr>
              <a:t>P </a:t>
            </a:r>
            <a:r>
              <a:rPr lang="en-US" altLang="zh-CN" sz="3600" i="1" dirty="0">
                <a:latin typeface="Times New Roman" pitchFamily="18" charset="0"/>
                <a:ea typeface="宋体" pitchFamily="2" charset="-122"/>
              </a:rPr>
              <a:t>= D(</a:t>
            </a:r>
            <a:r>
              <a:rPr lang="en-US" altLang="zh-CN" sz="3600" i="1" dirty="0" err="1">
                <a:latin typeface="Times New Roman" pitchFamily="18" charset="0"/>
                <a:ea typeface="宋体" pitchFamily="2" charset="-122"/>
              </a:rPr>
              <a:t>K</a:t>
            </a:r>
            <a:r>
              <a:rPr lang="en-US" altLang="zh-CN" sz="3600" i="1" baseline="-25000" dirty="0" err="1">
                <a:latin typeface="Times New Roman" pitchFamily="18" charset="0"/>
                <a:ea typeface="宋体" pitchFamily="2" charset="-122"/>
              </a:rPr>
              <a:t>private</a:t>
            </a:r>
            <a:r>
              <a:rPr lang="en-US" altLang="zh-CN" sz="3600" i="1" baseline="-250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600" i="1" dirty="0">
                <a:latin typeface="Times New Roman" pitchFamily="18" charset="0"/>
                <a:ea typeface="宋体" pitchFamily="2" charset="-122"/>
              </a:rPr>
              <a:t>, C) </a:t>
            </a:r>
          </a:p>
        </p:txBody>
      </p:sp>
      <p:sp>
        <p:nvSpPr>
          <p:cNvPr id="9229" name="Rectangle 12"/>
          <p:cNvSpPr>
            <a:spLocks noChangeArrowheads="1"/>
          </p:cNvSpPr>
          <p:nvPr/>
        </p:nvSpPr>
        <p:spPr bwMode="auto">
          <a:xfrm>
            <a:off x="228600" y="35052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i="1" dirty="0">
                <a:solidFill>
                  <a:schemeClr val="folHlink"/>
                </a:solidFill>
                <a:latin typeface="Times New Roman" pitchFamily="18" charset="0"/>
                <a:ea typeface="宋体" pitchFamily="2" charset="-122"/>
              </a:rPr>
              <a:t>Encryption/Decryption</a:t>
            </a:r>
            <a:r>
              <a:rPr lang="en-US" altLang="zh-CN" sz="2800" i="1" dirty="0">
                <a:latin typeface="Times New Roman" pitchFamily="18" charset="0"/>
                <a:ea typeface="宋体" pitchFamily="2" charset="-122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57330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60B5D3F-60AA-5D4B-F166-1C2197DF038D}"/>
              </a:ext>
            </a:extLst>
          </p:cNvPr>
          <p:cNvSpPr txBox="1"/>
          <p:nvPr/>
        </p:nvSpPr>
        <p:spPr>
          <a:xfrm>
            <a:off x="467544" y="620689"/>
            <a:ext cx="820891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RSA Algorithm: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Rivest</a:t>
            </a:r>
            <a:r>
              <a:rPr lang="en-I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– Shamir – </a:t>
            </a:r>
            <a:r>
              <a:rPr lang="en-IN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Adleman</a:t>
            </a:r>
            <a:r>
              <a:rPr lang="en-I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in </a:t>
            </a:r>
            <a:r>
              <a:rPr lang="en-I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1978.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asymmetric cryptographic algorithm ( 2 keys </a:t>
            </a:r>
            <a:r>
              <a:rPr lang="en-I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public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and private </a:t>
            </a:r>
            <a:r>
              <a:rPr lang="en-I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key)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Public key: </a:t>
            </a:r>
            <a:r>
              <a:rPr lang="en-I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to all users in the </a:t>
            </a:r>
            <a:r>
              <a:rPr lang="en-I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network.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Private Key: </a:t>
            </a:r>
            <a:r>
              <a:rPr lang="en-I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Kept </a:t>
            </a:r>
            <a:r>
              <a:rPr lang="en-I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secret. </a:t>
            </a:r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RSA </a:t>
            </a:r>
            <a:r>
              <a:rPr lang="en-I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3 phases:</a:t>
            </a: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Generation</a:t>
            </a: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</a:t>
            </a:r>
          </a:p>
          <a:p>
            <a:pPr algn="just">
              <a:lnSpc>
                <a:spcPct val="150000"/>
              </a:lnSpc>
            </a:pPr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7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65E3363-4E4D-E478-6526-F3153DD90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6632"/>
            <a:ext cx="7480684" cy="28068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065BD9F-64F6-8715-EA7C-8445152AE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6" y="3212976"/>
            <a:ext cx="7594990" cy="1181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9C4D5A9-C7BF-9D61-DFD7-909ECAC28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33" y="4797152"/>
            <a:ext cx="7601341" cy="120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5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endParaRPr lang="zh-CN" altLang="zh-CN" sz="2800" i="1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516" name="Text Box 11"/>
          <p:cNvSpPr txBox="1">
            <a:spLocks noChangeArrowheads="1"/>
          </p:cNvSpPr>
          <p:nvPr/>
        </p:nvSpPr>
        <p:spPr bwMode="auto">
          <a:xfrm>
            <a:off x="3370709" y="-84075"/>
            <a:ext cx="29995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pPr algn="ctr"/>
            <a:r>
              <a:rPr lang="en-IN" sz="2400" dirty="0" smtClean="0"/>
              <a:t>RSA Algorithm Steps</a:t>
            </a:r>
            <a:endParaRPr lang="en-IN" sz="2400" dirty="0"/>
          </a:p>
        </p:txBody>
      </p:sp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209436" y="519547"/>
            <a:ext cx="9115091" cy="6341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Step-1: 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Select two prime numbers ‘p’ and ‘q’ where p ≠ q.</a:t>
            </a:r>
            <a:endParaRPr kumimoji="0" lang="en-US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Step-2: 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Calculate n = p * q.</a:t>
            </a:r>
            <a:endParaRPr kumimoji="0" lang="en-US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Step-3: 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Calculate Ф(n) = (p-1) * (q-1).</a:t>
            </a:r>
            <a:endParaRPr kumimoji="0" lang="en-US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Step-4: 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Select ‘e’ such that, ‘e’ is relatively prime to Ф(n), </a:t>
            </a:r>
            <a:r>
              <a:rPr lang="en-US" sz="2100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                                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i.e. </a:t>
            </a:r>
            <a:r>
              <a:rPr kumimoji="0" lang="en-US" sz="21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gcd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(e, Ф(n)) = 1 and 1 &lt; e &lt; Ф(n)</a:t>
            </a:r>
            <a:endParaRPr kumimoji="0" lang="en-US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Step-5: 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Calculate d = e </a:t>
            </a:r>
            <a:r>
              <a:rPr kumimoji="0" lang="en-US" sz="2100" b="0" i="0" u="none" strike="noStrike" cap="none" normalizeH="0" baseline="3000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-1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 mod Ф(n) or </a:t>
            </a:r>
            <a:r>
              <a:rPr kumimoji="0" lang="en-US" sz="21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ed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= 1 mod Ф(n).</a:t>
            </a:r>
            <a:endParaRPr kumimoji="0" lang="en-US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Step-6:  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PU </a:t>
            </a:r>
            <a:r>
              <a:rPr lang="en-US" sz="2100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(Public key) = 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{e, n},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00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	PR (private key) 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= {d, n}.</a:t>
            </a:r>
            <a:endParaRPr kumimoji="0" lang="en-US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Step-7: 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Find out cipher text using the formula,      C = </a:t>
            </a:r>
            <a:r>
              <a:rPr kumimoji="0" lang="en-US" sz="21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</a:t>
            </a:r>
            <a:r>
              <a:rPr kumimoji="0" lang="en-US" sz="2100" b="0" i="0" u="none" strike="noStrike" cap="none" normalizeH="0" baseline="3000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 mod 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where, P &lt; n where C = Cipher text, P = Plain text, e = Encryption key and n=block size.</a:t>
            </a:r>
            <a:endParaRPr kumimoji="0" lang="en-US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Step-8: </a:t>
            </a:r>
            <a:r>
              <a:rPr lang="en-US" sz="2100" dirty="0" smtClean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Plain text P can be obtain using the given formula,      P 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= </a:t>
            </a:r>
            <a:r>
              <a:rPr kumimoji="0" lang="en-US" sz="21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C</a:t>
            </a:r>
            <a:r>
              <a:rPr kumimoji="0" lang="en-US" sz="2100" b="0" i="0" u="none" strike="noStrike" cap="none" normalizeH="0" baseline="3000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d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 mod 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where, d = decryption key</a:t>
            </a:r>
            <a:endParaRPr kumimoji="0" lang="en-US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38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4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4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4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4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4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4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4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4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endParaRPr lang="zh-CN" altLang="zh-CN" sz="2800" i="1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516" name="Text Box 11"/>
          <p:cNvSpPr txBox="1">
            <a:spLocks noChangeArrowheads="1"/>
          </p:cNvSpPr>
          <p:nvPr/>
        </p:nvSpPr>
        <p:spPr bwMode="auto">
          <a:xfrm>
            <a:off x="3357554" y="357166"/>
            <a:ext cx="209865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Californian FB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Californian FB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Californian FB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alifornian FB" pitchFamily="18" charset="0"/>
              </a:defRPr>
            </a:lvl9pPr>
          </a:lstStyle>
          <a:p>
            <a:pPr algn="ctr"/>
            <a:r>
              <a:rPr lang="en-IN" sz="4000" dirty="0" smtClean="0"/>
              <a:t>Example</a:t>
            </a:r>
            <a:endParaRPr lang="en-IN" sz="4000" dirty="0"/>
          </a:p>
        </p:txBody>
      </p:sp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500034" y="1071547"/>
            <a:ext cx="8286808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 b="1" u="sng" dirty="0" smtClean="0"/>
              <a:t>Step – 1:</a:t>
            </a:r>
            <a:r>
              <a:rPr lang="en-IN" sz="2400" dirty="0" smtClean="0"/>
              <a:t> Select two prime numbers p and q where p ≠ q.</a:t>
            </a:r>
          </a:p>
          <a:p>
            <a:pPr algn="just"/>
            <a:r>
              <a:rPr lang="en-IN" sz="2400" b="1" dirty="0" smtClean="0"/>
              <a:t>      Example, </a:t>
            </a:r>
            <a:r>
              <a:rPr lang="en-IN" sz="2400" dirty="0" smtClean="0"/>
              <a:t>Two prime numbers p = 13, q = 11.</a:t>
            </a:r>
          </a:p>
          <a:p>
            <a:pPr algn="just"/>
            <a:r>
              <a:rPr lang="en-IN" sz="2400" dirty="0" smtClean="0"/>
              <a:t> </a:t>
            </a:r>
          </a:p>
          <a:p>
            <a:pPr algn="just"/>
            <a:r>
              <a:rPr lang="en-IN" sz="2400" b="1" u="sng" dirty="0" smtClean="0"/>
              <a:t>Step – 2:</a:t>
            </a:r>
            <a:r>
              <a:rPr lang="en-IN" sz="2400" dirty="0" smtClean="0"/>
              <a:t> Calculate n = p * q.</a:t>
            </a:r>
          </a:p>
          <a:p>
            <a:pPr algn="just"/>
            <a:r>
              <a:rPr lang="en-IN" sz="2400" b="1" dirty="0" smtClean="0"/>
              <a:t>      Example, </a:t>
            </a:r>
            <a:r>
              <a:rPr lang="en-IN" sz="2400" dirty="0" smtClean="0"/>
              <a:t>n = p * q = 13 * 11 = 143.</a:t>
            </a:r>
          </a:p>
          <a:p>
            <a:pPr algn="just"/>
            <a:r>
              <a:rPr lang="en-IN" sz="2400" dirty="0" smtClean="0"/>
              <a:t> </a:t>
            </a:r>
          </a:p>
          <a:p>
            <a:pPr algn="just"/>
            <a:r>
              <a:rPr lang="en-IN" sz="2400" b="1" u="sng" dirty="0" smtClean="0"/>
              <a:t>Step – 3:</a:t>
            </a:r>
            <a:r>
              <a:rPr lang="en-IN" sz="2400" dirty="0" smtClean="0"/>
              <a:t> Calculate Ф(n) = (p-1) * (q-1).</a:t>
            </a:r>
          </a:p>
          <a:p>
            <a:pPr algn="just"/>
            <a:r>
              <a:rPr lang="en-IN" sz="2400" b="1" dirty="0" smtClean="0"/>
              <a:t>      Example,</a:t>
            </a:r>
            <a:r>
              <a:rPr lang="en-IN" sz="2400" dirty="0" smtClean="0"/>
              <a:t> Ф(n) = (13 – 1) * (11 – 1) = 12 * 10 = 120.</a:t>
            </a:r>
          </a:p>
          <a:p>
            <a:pPr algn="just"/>
            <a:r>
              <a:rPr lang="en-IN" sz="2400" dirty="0" smtClean="0"/>
              <a:t> </a:t>
            </a:r>
          </a:p>
          <a:p>
            <a:pPr algn="just"/>
            <a:r>
              <a:rPr lang="en-IN" sz="2400" b="1" u="sng" dirty="0" smtClean="0"/>
              <a:t>Step – 4:</a:t>
            </a:r>
            <a:r>
              <a:rPr lang="en-IN" sz="2400" dirty="0" smtClean="0"/>
              <a:t> Select e such that, e is relatively prime to Ф(n),               i.e. </a:t>
            </a:r>
            <a:r>
              <a:rPr lang="en-IN" sz="2400" dirty="0" err="1" smtClean="0"/>
              <a:t>gcd</a:t>
            </a:r>
            <a:r>
              <a:rPr lang="en-IN" sz="2400" dirty="0" smtClean="0"/>
              <a:t>(e, Ф(n)) = 1 and 1 &lt; e &lt; Ф(n).</a:t>
            </a:r>
          </a:p>
          <a:p>
            <a:pPr algn="just"/>
            <a:r>
              <a:rPr lang="en-IN" sz="2400" b="1" dirty="0" smtClean="0"/>
              <a:t>      Example, </a:t>
            </a:r>
            <a:r>
              <a:rPr lang="en-IN" sz="2400" dirty="0" smtClean="0"/>
              <a:t>Select e = 13, </a:t>
            </a:r>
            <a:r>
              <a:rPr lang="en-IN" sz="2400" dirty="0" err="1" smtClean="0"/>
              <a:t>gcd</a:t>
            </a:r>
            <a:r>
              <a:rPr lang="en-IN" sz="2400" dirty="0" smtClean="0"/>
              <a:t> (13, 120) = 1.</a:t>
            </a:r>
          </a:p>
          <a:p>
            <a:pPr algn="just"/>
            <a:r>
              <a:rPr lang="en-IN" sz="2400" dirty="0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5638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endParaRPr lang="zh-CN" altLang="zh-CN" sz="2800" i="1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500034" y="1000109"/>
            <a:ext cx="8286808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800" b="1" u="sng" dirty="0" smtClean="0"/>
              <a:t>Step – 5:</a:t>
            </a:r>
            <a:r>
              <a:rPr lang="en-IN" sz="2800" dirty="0" smtClean="0"/>
              <a:t> Calculate d = e </a:t>
            </a:r>
            <a:r>
              <a:rPr lang="en-IN" sz="2800" baseline="30000" dirty="0" smtClean="0"/>
              <a:t>-1</a:t>
            </a:r>
            <a:r>
              <a:rPr lang="en-IN" sz="2800" dirty="0" smtClean="0"/>
              <a:t> mod Ф(n) or e * d = 1 mod Ф(n)</a:t>
            </a:r>
          </a:p>
          <a:p>
            <a:pPr algn="just"/>
            <a:r>
              <a:rPr lang="en-IN" sz="2800" b="1" dirty="0" smtClean="0"/>
              <a:t>      Example,</a:t>
            </a:r>
            <a:r>
              <a:rPr lang="en-IN" sz="2800" dirty="0" smtClean="0"/>
              <a:t> Find ‘d’ to satisfy:   (d *e)% Ф(n) = 1 ?</a:t>
            </a:r>
          </a:p>
          <a:p>
            <a:pPr algn="just"/>
            <a:r>
              <a:rPr lang="en-IN" sz="2800" dirty="0" smtClean="0"/>
              <a:t>              (d *13)% 120 = 1? (try d= 2,3,4………) </a:t>
            </a:r>
          </a:p>
          <a:p>
            <a:pPr algn="just"/>
            <a:r>
              <a:rPr lang="en-IN" sz="2800" dirty="0" smtClean="0"/>
              <a:t>       When d = 37, (37 *13)% 120 = 1</a:t>
            </a:r>
          </a:p>
          <a:p>
            <a:pPr algn="just"/>
            <a:r>
              <a:rPr lang="en-IN" sz="2800" dirty="0" smtClean="0"/>
              <a:t>Therefore, d = 37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5638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/>
            <a:endParaRPr kumimoji="1" lang="zh-CN" altLang="zh-CN" sz="2400" b="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endParaRPr lang="zh-CN" altLang="zh-CN" sz="2800" i="1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500034" y="1000109"/>
            <a:ext cx="8286808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 dirty="0" smtClean="0"/>
              <a:t> </a:t>
            </a:r>
          </a:p>
          <a:p>
            <a:pPr algn="just"/>
            <a:r>
              <a:rPr lang="en-IN" sz="2400" b="1" u="sng" dirty="0" smtClean="0"/>
              <a:t>Step – 6:</a:t>
            </a:r>
            <a:r>
              <a:rPr lang="en-IN" sz="2400" dirty="0" smtClean="0"/>
              <a:t> Public key = {e, n}, private key = {d, n}.</a:t>
            </a:r>
          </a:p>
          <a:p>
            <a:pPr algn="just"/>
            <a:r>
              <a:rPr lang="en-IN" sz="2400" b="1" dirty="0" smtClean="0"/>
              <a:t>       Example, </a:t>
            </a:r>
            <a:r>
              <a:rPr lang="en-IN" sz="2400" dirty="0" smtClean="0"/>
              <a:t>Public key = {13, 143} and private key = {37, 143}.</a:t>
            </a:r>
          </a:p>
          <a:p>
            <a:pPr algn="just"/>
            <a:r>
              <a:rPr lang="en-IN" sz="2400" dirty="0" smtClean="0"/>
              <a:t> </a:t>
            </a:r>
          </a:p>
          <a:p>
            <a:pPr algn="just"/>
            <a:r>
              <a:rPr lang="en-IN" sz="2400" b="1" u="sng" dirty="0" smtClean="0"/>
              <a:t>Step – 7:</a:t>
            </a:r>
            <a:r>
              <a:rPr lang="en-IN" sz="2400" dirty="0" smtClean="0"/>
              <a:t> Find out </a:t>
            </a:r>
            <a:r>
              <a:rPr lang="en-IN" sz="2400" i="1" dirty="0" smtClean="0"/>
              <a:t>cipher text</a:t>
            </a:r>
            <a:r>
              <a:rPr lang="en-IN" sz="2400" dirty="0" smtClean="0"/>
              <a:t> using the formula, C = </a:t>
            </a:r>
            <a:r>
              <a:rPr lang="en-IN" sz="2400" dirty="0" err="1" smtClean="0"/>
              <a:t>P</a:t>
            </a:r>
            <a:r>
              <a:rPr lang="en-IN" sz="2400" baseline="30000" dirty="0" err="1" smtClean="0"/>
              <a:t>e</a:t>
            </a:r>
            <a:r>
              <a:rPr lang="en-IN" sz="2400" dirty="0" smtClean="0"/>
              <a:t> mod n where, P &lt; n.</a:t>
            </a:r>
          </a:p>
          <a:p>
            <a:pPr algn="just"/>
            <a:r>
              <a:rPr lang="en-IN" sz="2400" b="1" dirty="0" smtClean="0"/>
              <a:t>       Example,</a:t>
            </a:r>
            <a:r>
              <a:rPr lang="en-IN" sz="2400" dirty="0" smtClean="0"/>
              <a:t> Plain text P = 13. (Where, P &lt; n)</a:t>
            </a:r>
          </a:p>
          <a:p>
            <a:pPr algn="just"/>
            <a:r>
              <a:rPr lang="en-IN" sz="2400" dirty="0" smtClean="0"/>
              <a:t>                         C = </a:t>
            </a:r>
            <a:r>
              <a:rPr lang="en-IN" sz="2400" dirty="0" err="1" smtClean="0"/>
              <a:t>P</a:t>
            </a:r>
            <a:r>
              <a:rPr lang="en-IN" sz="2400" baseline="30000" dirty="0" err="1" smtClean="0"/>
              <a:t>e</a:t>
            </a:r>
            <a:r>
              <a:rPr lang="en-IN" sz="2400" dirty="0" smtClean="0"/>
              <a:t> mod n = 13</a:t>
            </a:r>
            <a:r>
              <a:rPr lang="en-IN" sz="2400" baseline="30000" dirty="0" smtClean="0"/>
              <a:t>13</a:t>
            </a:r>
            <a:r>
              <a:rPr lang="en-IN" sz="2400" dirty="0" smtClean="0"/>
              <a:t> mod 143 = 52.</a:t>
            </a:r>
          </a:p>
          <a:p>
            <a:pPr algn="just"/>
            <a:r>
              <a:rPr lang="en-IN" sz="2400" dirty="0" smtClean="0"/>
              <a:t> </a:t>
            </a:r>
          </a:p>
          <a:p>
            <a:pPr algn="just"/>
            <a:r>
              <a:rPr lang="en-IN" sz="2400" b="1" u="sng" dirty="0" smtClean="0"/>
              <a:t>Step – 8:</a:t>
            </a:r>
            <a:r>
              <a:rPr lang="en-IN" sz="2400" dirty="0" smtClean="0"/>
              <a:t> P = </a:t>
            </a:r>
            <a:r>
              <a:rPr lang="en-IN" sz="2400" dirty="0" err="1" smtClean="0"/>
              <a:t>C</a:t>
            </a:r>
            <a:r>
              <a:rPr lang="en-IN" sz="2400" baseline="30000" dirty="0" err="1" smtClean="0"/>
              <a:t>d</a:t>
            </a:r>
            <a:r>
              <a:rPr lang="en-IN" sz="2400" baseline="30000" dirty="0" smtClean="0"/>
              <a:t> </a:t>
            </a:r>
            <a:r>
              <a:rPr lang="en-IN" sz="2400" dirty="0" smtClean="0"/>
              <a:t>mod n. Plain text P can be obtained using the given formula.</a:t>
            </a:r>
          </a:p>
          <a:p>
            <a:pPr algn="just"/>
            <a:r>
              <a:rPr lang="en-IN" sz="2400" b="1" dirty="0" smtClean="0"/>
              <a:t>       Example, </a:t>
            </a:r>
            <a:r>
              <a:rPr lang="en-IN" sz="2400" dirty="0" smtClean="0"/>
              <a:t>Cipher text C = 52</a:t>
            </a:r>
          </a:p>
          <a:p>
            <a:pPr algn="just"/>
            <a:r>
              <a:rPr lang="en-IN" sz="2400" dirty="0" smtClean="0"/>
              <a:t>                         P = </a:t>
            </a:r>
            <a:r>
              <a:rPr lang="en-IN" sz="2400" dirty="0" err="1" smtClean="0"/>
              <a:t>C</a:t>
            </a:r>
            <a:r>
              <a:rPr lang="en-IN" sz="2400" baseline="30000" dirty="0" err="1" smtClean="0"/>
              <a:t>d</a:t>
            </a:r>
            <a:r>
              <a:rPr lang="en-IN" sz="2400" dirty="0" smtClean="0"/>
              <a:t> mod n = 52</a:t>
            </a:r>
            <a:r>
              <a:rPr lang="en-IN" sz="2400" baseline="30000" dirty="0" smtClean="0"/>
              <a:t>37</a:t>
            </a:r>
            <a:r>
              <a:rPr lang="en-IN" sz="2400" dirty="0" smtClean="0"/>
              <a:t> mod 143 = 13.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5638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32656"/>
            <a:ext cx="7704856" cy="17281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564904"/>
            <a:ext cx="8136904" cy="15318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4582742"/>
            <a:ext cx="8280920" cy="1656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1.bp.blogspot.com/-eZ3Gq6mg3lc/YTcN1eJnJZI/AAAAAAAADNA/ay62YzB13pcv03o1Is5ibBhfexn0QvHtgCLcBGAsYHQ/w640-h357/exe%2B1.png">
            <a:hlinkClick r:id="rId2"/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7544" y="188640"/>
            <a:ext cx="8352928" cy="648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802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1.bp.blogspot.com/-HJg8XVwTG1A/YTcN6lO4FdI/AAAAAAAADNE/gAtIkdh-cyAsEddVJ3o9tlzxmdEfSpMXACLcBGAsYHQ/w640-h290/exe%2B2.png">
            <a:hlinkClick r:id="rId2"/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857232"/>
            <a:ext cx="8072493" cy="528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1.bp.blogspot.com/-NMCXHrIRRzY/YTcOA7Xjw_I/AAAAAAAADNI/z28T_m8iR7Uw_PHWKZ4uBBKBvypJ6kO3QCLcBGAsYHQ/w640-h292/exe%2B3.png">
            <a:hlinkClick r:id="rId2"/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560" y="620688"/>
            <a:ext cx="8143931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1.bp.blogspot.com/--v8P5WVsZco/Yac_yz1yMQI/AAAAAAAADfY/p_6nk1jZtZsvtkMb2MiFx1qD_HLXRKLEACLcBGAsYHQ/w640-h288/exe%2B4.png">
            <a:hlinkClick r:id="rId2"/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714356"/>
            <a:ext cx="7786741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1.bp.blogspot.com/-9IE9muCOfiY/YTcOQxMuaxI/AAAAAAAADNc/8Q8YqUGR8JwMXkg32RDHzxk1jzJWeGjXQCLcBGAsYHQ/w640-h294/exe%2B5.png">
            <a:hlinkClick r:id="rId2"/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9592" y="332656"/>
            <a:ext cx="7510591" cy="5760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</TotalTime>
  <Words>221</Words>
  <Application>Microsoft Office PowerPoint</Application>
  <PresentationFormat>On-screen Show (4:3)</PresentationFormat>
  <Paragraphs>82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宋体</vt:lpstr>
      <vt:lpstr>Arial</vt:lpstr>
      <vt:lpstr>Calibri</vt:lpstr>
      <vt:lpstr>Californian FB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115</cp:revision>
  <dcterms:created xsi:type="dcterms:W3CDTF">2020-08-16T06:28:36Z</dcterms:created>
  <dcterms:modified xsi:type="dcterms:W3CDTF">2025-02-27T09:31:31Z</dcterms:modified>
</cp:coreProperties>
</file>