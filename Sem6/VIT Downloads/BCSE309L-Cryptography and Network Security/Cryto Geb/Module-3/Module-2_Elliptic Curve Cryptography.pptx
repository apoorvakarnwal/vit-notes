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7"/>
  </p:notesMasterIdLst>
  <p:sldIdLst>
    <p:sldId id="256" r:id="rId2"/>
    <p:sldId id="257" r:id="rId3"/>
    <p:sldId id="258" r:id="rId4"/>
    <p:sldId id="289" r:id="rId5"/>
    <p:sldId id="259" r:id="rId6"/>
    <p:sldId id="260" r:id="rId7"/>
    <p:sldId id="261" r:id="rId8"/>
    <p:sldId id="262" r:id="rId9"/>
    <p:sldId id="263" r:id="rId10"/>
    <p:sldId id="290" r:id="rId11"/>
    <p:sldId id="264" r:id="rId12"/>
    <p:sldId id="291" r:id="rId13"/>
    <p:sldId id="265" r:id="rId14"/>
    <p:sldId id="266" r:id="rId15"/>
    <p:sldId id="267" r:id="rId16"/>
    <p:sldId id="268" r:id="rId17"/>
    <p:sldId id="269" r:id="rId18"/>
    <p:sldId id="270" r:id="rId19"/>
    <p:sldId id="298" r:id="rId20"/>
    <p:sldId id="271" r:id="rId21"/>
    <p:sldId id="272" r:id="rId22"/>
    <p:sldId id="273" r:id="rId23"/>
    <p:sldId id="274" r:id="rId24"/>
    <p:sldId id="294" r:id="rId25"/>
    <p:sldId id="295" r:id="rId26"/>
    <p:sldId id="292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93" r:id="rId42"/>
    <p:sldId id="296" r:id="rId43"/>
    <p:sldId id="308" r:id="rId44"/>
    <p:sldId id="309" r:id="rId45"/>
    <p:sldId id="310" r:id="rId4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22"/>
    <p:restoredTop sz="82789" autoAdjust="0"/>
  </p:normalViewPr>
  <p:slideViewPr>
    <p:cSldViewPr>
      <p:cViewPr>
        <p:scale>
          <a:sx n="85" d="100"/>
          <a:sy n="85" d="100"/>
        </p:scale>
        <p:origin x="128" y="6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god\Desktop\Enrolled_List_FALLSEM2023-24_CSE4003_ETH_VL2023240103532_Report_2023-07-28_11-45-08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8575">
              <a:noFill/>
            </a:ln>
          </c:spPr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Sheet1!$A$1:$A$13</c:f>
              <c:numCache>
                <c:formatCode>General</c:formatCode>
                <c:ptCount val="13"/>
                <c:pt idx="0">
                  <c:v>0</c:v>
                </c:pt>
                <c:pt idx="1">
                  <c:v>0</c:v>
                </c:pt>
                <c:pt idx="2">
                  <c:v>1</c:v>
                </c:pt>
                <c:pt idx="3">
                  <c:v>1</c:v>
                </c:pt>
                <c:pt idx="4">
                  <c:v>2</c:v>
                </c:pt>
                <c:pt idx="5">
                  <c:v>3</c:v>
                </c:pt>
                <c:pt idx="6">
                  <c:v>3</c:v>
                </c:pt>
                <c:pt idx="7">
                  <c:v>4</c:v>
                </c:pt>
                <c:pt idx="8">
                  <c:v>4</c:v>
                </c:pt>
                <c:pt idx="9">
                  <c:v>6</c:v>
                </c:pt>
                <c:pt idx="10">
                  <c:v>6</c:v>
                </c:pt>
                <c:pt idx="11">
                  <c:v>8</c:v>
                </c:pt>
                <c:pt idx="12">
                  <c:v>8</c:v>
                </c:pt>
              </c:numCache>
            </c:numRef>
          </c:xVal>
          <c:yVal>
            <c:numRef>
              <c:f>Sheet1!$B$1:$B$13</c:f>
              <c:numCache>
                <c:formatCode>General</c:formatCode>
                <c:ptCount val="13"/>
                <c:pt idx="0">
                  <c:v>1</c:v>
                </c:pt>
                <c:pt idx="1">
                  <c:v>10</c:v>
                </c:pt>
                <c:pt idx="2">
                  <c:v>5</c:v>
                </c:pt>
                <c:pt idx="3">
                  <c:v>6</c:v>
                </c:pt>
                <c:pt idx="4">
                  <c:v>0</c:v>
                </c:pt>
                <c:pt idx="5">
                  <c:v>3</c:v>
                </c:pt>
                <c:pt idx="6">
                  <c:v>8</c:v>
                </c:pt>
                <c:pt idx="7">
                  <c:v>5</c:v>
                </c:pt>
                <c:pt idx="8">
                  <c:v>6</c:v>
                </c:pt>
                <c:pt idx="9">
                  <c:v>5</c:v>
                </c:pt>
                <c:pt idx="10">
                  <c:v>6</c:v>
                </c:pt>
                <c:pt idx="11">
                  <c:v>2</c:v>
                </c:pt>
                <c:pt idx="12">
                  <c:v>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EC57-7141-B155-C22B85B3E9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02539968"/>
        <c:axId val="402538792"/>
      </c:scatterChart>
      <c:valAx>
        <c:axId val="40253996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402538792"/>
        <c:crosses val="autoZero"/>
        <c:crossBetween val="midCat"/>
      </c:valAx>
      <c:valAx>
        <c:axId val="40253879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402539968"/>
        <c:crosses val="autoZero"/>
        <c:crossBetween val="midCat"/>
      </c:valAx>
    </c:plotArea>
    <c:plotVisOnly val="1"/>
    <c:dispBlanksAs val="gap"/>
    <c:showDLblsOverMax val="0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B6E8A9-8D20-43CF-9E65-A84B153613DF}" type="datetimeFigureOut">
              <a:rPr lang="en-US" smtClean="0"/>
              <a:pPr/>
              <a:t>5/1/25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D0A501-E15A-4C08-992B-DEFB62B26EA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7546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Lett a=3,b=2 x=2 and y=4(</a:t>
            </a:r>
            <a:r>
              <a:rPr lang="en-IN" baseline="0" dirty="0"/>
              <a:t> 16=16)</a:t>
            </a:r>
            <a:r>
              <a:rPr lang="en-IN" dirty="0"/>
              <a:t> These points</a:t>
            </a:r>
            <a:r>
              <a:rPr lang="en-IN" baseline="0" dirty="0"/>
              <a:t> satisfies the equation</a:t>
            </a:r>
          </a:p>
          <a:p>
            <a:r>
              <a:rPr lang="en-IN" baseline="0" dirty="0"/>
              <a:t>This is the point that satisfies the equation</a:t>
            </a:r>
          </a:p>
          <a:p>
            <a:r>
              <a:rPr lang="en-IN" baseline="0" dirty="0"/>
              <a:t>Like wise we can find all other points</a:t>
            </a:r>
          </a:p>
          <a:p>
            <a:r>
              <a:rPr lang="en-IN" baseline="0" dirty="0"/>
              <a:t>When u find all the points that becomes an elliptic curve</a:t>
            </a:r>
          </a:p>
          <a:p>
            <a:r>
              <a:rPr lang="en-IN" baseline="0" dirty="0"/>
              <a:t>The numbers can real, complex </a:t>
            </a:r>
            <a:r>
              <a:rPr lang="en-IN" baseline="0" dirty="0" err="1"/>
              <a:t>etc</a:t>
            </a:r>
            <a:r>
              <a:rPr lang="en-IN" baseline="0" dirty="0"/>
              <a:t> it </a:t>
            </a:r>
            <a:r>
              <a:rPr lang="en-IN" baseline="0" dirty="0" err="1"/>
              <a:t>canbe</a:t>
            </a:r>
            <a:r>
              <a:rPr lang="en-IN" baseline="0" dirty="0"/>
              <a:t> finite field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200" dirty="0">
                <a:solidFill>
                  <a:srgbClr val="FF0000"/>
                </a:solidFill>
              </a:rPr>
              <a:t>4a</a:t>
            </a:r>
            <a:r>
              <a:rPr lang="en-IN" sz="1200" baseline="30000" dirty="0">
                <a:solidFill>
                  <a:srgbClr val="FF0000"/>
                </a:solidFill>
              </a:rPr>
              <a:t>3</a:t>
            </a:r>
            <a:r>
              <a:rPr lang="en-IN" sz="1200" dirty="0">
                <a:solidFill>
                  <a:srgbClr val="FF0000"/>
                </a:solidFill>
              </a:rPr>
              <a:t> + 27b</a:t>
            </a:r>
            <a:r>
              <a:rPr lang="en-IN" sz="1200" baseline="30000" dirty="0">
                <a:solidFill>
                  <a:srgbClr val="FF0000"/>
                </a:solidFill>
              </a:rPr>
              <a:t>2</a:t>
            </a:r>
            <a:r>
              <a:rPr lang="en-IN" sz="1200" dirty="0">
                <a:solidFill>
                  <a:srgbClr val="FF0000"/>
                </a:solidFill>
              </a:rPr>
              <a:t> ≠ 0</a:t>
            </a:r>
            <a:r>
              <a:rPr lang="en-IN" sz="1200" dirty="0"/>
              <a:t>.(is the determinant)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D0A501-E15A-4C08-992B-DEFB62B26EA1}" type="slidenum">
              <a:rPr lang="en-IN" smtClean="0"/>
              <a:pPr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78763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EC over finite field</a:t>
            </a:r>
            <a:r>
              <a:rPr lang="en-IN" baseline="0" dirty="0">
                <a:solidFill>
                  <a:srgbClr val="FF0000"/>
                </a:solidFill>
              </a:rPr>
              <a:t> is used in cryptography</a:t>
            </a:r>
          </a:p>
          <a:p>
            <a:r>
              <a:rPr lang="en-IN" b="1" dirty="0"/>
              <a:t>GF(2), GF(5), GF(8),……..)</a:t>
            </a:r>
            <a:r>
              <a:rPr lang="en-IN" b="1" baseline="0" dirty="0">
                <a:solidFill>
                  <a:srgbClr val="FF0000"/>
                </a:solidFill>
              </a:rPr>
              <a:t>These are set of finite elements that forms a field. The values of x and y are from a finite field{……..}</a:t>
            </a:r>
          </a:p>
          <a:p>
            <a:r>
              <a:rPr lang="en-IN" b="1" baseline="0" dirty="0">
                <a:solidFill>
                  <a:srgbClr val="FF0000"/>
                </a:solidFill>
              </a:rPr>
              <a:t>Working </a:t>
            </a:r>
            <a:r>
              <a:rPr lang="en-IN" b="1" baseline="0" dirty="0" err="1">
                <a:solidFill>
                  <a:srgbClr val="FF0000"/>
                </a:solidFill>
              </a:rPr>
              <a:t>wih</a:t>
            </a:r>
            <a:r>
              <a:rPr lang="en-IN" b="1" baseline="0" dirty="0">
                <a:solidFill>
                  <a:srgbClr val="FF0000"/>
                </a:solidFill>
              </a:rPr>
              <a:t> all integers mod 5 , then p is the finite field</a:t>
            </a:r>
          </a:p>
          <a:p>
            <a:endParaRPr lang="en-IN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D0A501-E15A-4C08-992B-DEFB62B26EA1}" type="slidenum">
              <a:rPr lang="en-IN" smtClean="0"/>
              <a:pPr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73509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Set of all integers mod 11 is represented as GF(11)</a:t>
            </a:r>
          </a:p>
          <a:p>
            <a:r>
              <a:rPr lang="en-IN" dirty="0"/>
              <a:t>0 mod</a:t>
            </a:r>
            <a:r>
              <a:rPr lang="en-IN" baseline="0" dirty="0"/>
              <a:t> 11, 1 mod 11, 2 mod 11,,,,,,,,10 mod 11</a:t>
            </a:r>
          </a:p>
          <a:p>
            <a:r>
              <a:rPr lang="en-IN" baseline="0" dirty="0"/>
              <a:t>11 mod 11, 12 mod 11 ………………………repeat{0,1,2,3,4,5,6,7,8,9,10}, We are working with these numbers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D0A501-E15A-4C08-992B-DEFB62B26EA1}" type="slidenum">
              <a:rPr lang="en-IN" smtClean="0"/>
              <a:pPr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53759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The </a:t>
            </a:r>
            <a:r>
              <a:rPr lang="en-IN" dirty="0" err="1"/>
              <a:t>poits</a:t>
            </a:r>
            <a:r>
              <a:rPr lang="en-IN" dirty="0"/>
              <a:t> that satisfies the equation are </a:t>
            </a:r>
          </a:p>
          <a:p>
            <a:r>
              <a:rPr lang="en-IN" dirty="0"/>
              <a:t>X=0 and y=1 </a:t>
            </a:r>
          </a:p>
          <a:p>
            <a:r>
              <a:rPr lang="en-IN" dirty="0"/>
              <a:t>X=0 and y=10</a:t>
            </a:r>
          </a:p>
          <a:p>
            <a:r>
              <a:rPr lang="en-IN" dirty="0"/>
              <a:t>We can construct the curve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D0A501-E15A-4C08-992B-DEFB62B26EA1}" type="slidenum">
              <a:rPr lang="en-IN" smtClean="0"/>
              <a:pPr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01047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All these points</a:t>
            </a:r>
            <a:r>
              <a:rPr lang="en-IN" baseline="0" dirty="0"/>
              <a:t> form an elliptic curve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D0A501-E15A-4C08-992B-DEFB62B26EA1}" type="slidenum">
              <a:rPr lang="en-IN" smtClean="0"/>
              <a:pPr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03455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Understand certain characteristics on the curve</a:t>
            </a:r>
          </a:p>
          <a:p>
            <a:r>
              <a:rPr lang="en-IN" dirty="0"/>
              <a:t>Out objective is to find P+Q?</a:t>
            </a:r>
          </a:p>
          <a:p>
            <a:r>
              <a:rPr lang="en-IN" dirty="0"/>
              <a:t>P is not equal to Q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D0A501-E15A-4C08-992B-DEFB62B26EA1}" type="slidenum">
              <a:rPr lang="en-IN" smtClean="0"/>
              <a:pPr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99700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Project P</a:t>
            </a:r>
            <a:r>
              <a:rPr lang="en-IN" baseline="0" dirty="0"/>
              <a:t> and Q and this will intersect at a point. Find the reflection of the point. R also lie on the curve. This is one of the characteristics of EC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D0A501-E15A-4C08-992B-DEFB62B26EA1}" type="slidenum">
              <a:rPr lang="en-IN" smtClean="0"/>
              <a:pPr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31936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Even without drawing graph, we</a:t>
            </a:r>
            <a:r>
              <a:rPr lang="en-IN" baseline="0" dirty="0"/>
              <a:t> can find P+Q</a:t>
            </a:r>
          </a:p>
          <a:p>
            <a:r>
              <a:rPr lang="en-IN" baseline="0" dirty="0"/>
              <a:t>Using algebraic equation</a:t>
            </a:r>
          </a:p>
          <a:p>
            <a:r>
              <a:rPr lang="en-IN" baseline="0" dirty="0"/>
              <a:t>R is another point on the curve that satisfies the </a:t>
            </a:r>
            <a:r>
              <a:rPr lang="en-IN" baseline="0" dirty="0" err="1"/>
              <a:t>conditionR</a:t>
            </a:r>
            <a:r>
              <a:rPr lang="en-IN" baseline="0" dirty="0"/>
              <a:t>(x3,y3)</a:t>
            </a:r>
          </a:p>
          <a:p>
            <a:r>
              <a:rPr lang="en-IN" baseline="0" dirty="0"/>
              <a:t>How to compute delta??</a:t>
            </a:r>
          </a:p>
          <a:p>
            <a:endParaRPr lang="en-IN" baseline="0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D0A501-E15A-4C08-992B-DEFB62B26EA1}" type="slidenum">
              <a:rPr lang="en-IN" smtClean="0"/>
              <a:pPr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04984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E(1,1) EC constructed with</a:t>
            </a:r>
            <a:r>
              <a:rPr lang="en-IN" baseline="0" dirty="0"/>
              <a:t> all integers a=1 and b=1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D0A501-E15A-4C08-992B-DEFB62B26EA1}" type="slidenum">
              <a:rPr lang="en-IN" smtClean="0"/>
              <a:pPr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66954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Here P=Q</a:t>
            </a:r>
          </a:p>
          <a:p>
            <a:r>
              <a:rPr lang="en-IN" dirty="0"/>
              <a:t>Draw a tangent line on the curve</a:t>
            </a:r>
          </a:p>
          <a:p>
            <a:r>
              <a:rPr lang="en-IN" b="1" dirty="0"/>
              <a:t>Take any point on curve and can u</a:t>
            </a:r>
            <a:r>
              <a:rPr lang="en-IN" b="1" baseline="0" dirty="0"/>
              <a:t> find what it is ? (4P or 10P or 20P…)  </a:t>
            </a:r>
            <a:r>
              <a:rPr lang="en-IN" b="1" baseline="0" dirty="0" err="1"/>
              <a:t>i.e</a:t>
            </a:r>
            <a:r>
              <a:rPr lang="en-IN" b="1" baseline="0" dirty="0"/>
              <a:t> </a:t>
            </a:r>
            <a:r>
              <a:rPr lang="en-IN" b="1" baseline="0" dirty="0" err="1"/>
              <a:t>nP</a:t>
            </a:r>
            <a:r>
              <a:rPr lang="en-IN" b="1" baseline="0" dirty="0"/>
              <a:t>=(</a:t>
            </a:r>
            <a:r>
              <a:rPr lang="en-IN" b="1" baseline="0" dirty="0" err="1"/>
              <a:t>xn,yn</a:t>
            </a:r>
            <a:r>
              <a:rPr lang="en-IN" b="1" baseline="0" dirty="0"/>
              <a:t>)=n=8778172812812</a:t>
            </a:r>
          </a:p>
          <a:p>
            <a:endParaRPr lang="en-IN" b="1" baseline="0" dirty="0"/>
          </a:p>
          <a:p>
            <a:r>
              <a:rPr lang="en-IN" b="1" baseline="0" dirty="0"/>
              <a:t>N is a private key</a:t>
            </a:r>
            <a:endParaRPr lang="en-IN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D0A501-E15A-4C08-992B-DEFB62B26EA1}" type="slidenum">
              <a:rPr lang="en-IN" smtClean="0"/>
              <a:pPr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63760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/>
              <a:t>Consider a Point P(4,6) . This exist on curve E11(1,1) constructed over</a:t>
            </a:r>
            <a:r>
              <a:rPr lang="en-IN" b="1" baseline="0" dirty="0"/>
              <a:t> set of all integers mod 11</a:t>
            </a:r>
            <a:endParaRPr lang="en-IN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D0A501-E15A-4C08-992B-DEFB62B26EA1}" type="slidenum">
              <a:rPr lang="en-IN" smtClean="0"/>
              <a:pPr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26678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{……..}, P+Q in the set on adding R is in the same set</a:t>
            </a:r>
          </a:p>
          <a:p>
            <a:r>
              <a:rPr lang="en-IN" dirty="0"/>
              <a:t>Closure –add and result is in the same set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D0A501-E15A-4C08-992B-DEFB62B26EA1}" type="slidenum">
              <a:rPr lang="en-IN" smtClean="0"/>
              <a:pPr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60076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err="1"/>
              <a:t>Ellitip</a:t>
            </a:r>
            <a:r>
              <a:rPr lang="en-IN" dirty="0"/>
              <a:t> curve constructed over </a:t>
            </a:r>
            <a:r>
              <a:rPr lang="en-IN" dirty="0" err="1"/>
              <a:t>fiite</a:t>
            </a:r>
            <a:r>
              <a:rPr lang="en-IN" dirty="0"/>
              <a:t> is finite abelian group</a:t>
            </a:r>
          </a:p>
          <a:p>
            <a:r>
              <a:rPr lang="en-IN" dirty="0"/>
              <a:t>Elliptic curve built over a finite </a:t>
            </a:r>
            <a:r>
              <a:rPr lang="en-IN" dirty="0" err="1"/>
              <a:t>fieldE</a:t>
            </a:r>
            <a:r>
              <a:rPr lang="en-IN" dirty="0"/>
              <a:t>(</a:t>
            </a:r>
            <a:r>
              <a:rPr lang="en-IN" dirty="0" err="1"/>
              <a:t>Fp</a:t>
            </a:r>
            <a:r>
              <a:rPr lang="en-IN" dirty="0"/>
              <a:t>)</a:t>
            </a:r>
          </a:p>
          <a:p>
            <a:r>
              <a:rPr lang="en-IN" dirty="0"/>
              <a:t>Q is written as -P</a:t>
            </a:r>
          </a:p>
          <a:p>
            <a:r>
              <a:rPr lang="en-IN" dirty="0"/>
              <a:t>P+ (-P) =</a:t>
            </a:r>
            <a:r>
              <a:rPr lang="en-IN" baseline="0" dirty="0"/>
              <a:t> O ( point at infinity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D0A501-E15A-4C08-992B-DEFB62B26EA1}" type="slidenum">
              <a:rPr lang="en-IN" smtClean="0"/>
              <a:pPr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19279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1. Message </a:t>
            </a:r>
            <a:r>
              <a:rPr lang="en-IN" b="1" dirty="0"/>
              <a:t>M is a point on the curve built over</a:t>
            </a:r>
            <a:r>
              <a:rPr lang="en-IN" b="1" baseline="0" dirty="0"/>
              <a:t> a finite field</a:t>
            </a:r>
          </a:p>
          <a:p>
            <a:r>
              <a:rPr lang="en-IN" baseline="0" dirty="0"/>
              <a:t>Take a string or any message and encode this message as a point , which belongs to the point constructed over a finite field</a:t>
            </a:r>
          </a:p>
          <a:p>
            <a:r>
              <a:rPr lang="en-IN" dirty="0"/>
              <a:t>2. , 3 and 4 are</a:t>
            </a:r>
            <a:r>
              <a:rPr lang="en-IN" baseline="0" dirty="0"/>
              <a:t> understandable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D0A501-E15A-4C08-992B-DEFB62B26EA1}" type="slidenum">
              <a:rPr lang="en-IN" smtClean="0"/>
              <a:pPr/>
              <a:t>27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79185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/>
              <a:t>E</a:t>
            </a:r>
            <a:r>
              <a:rPr lang="en-IN" b="1" baseline="-25000" dirty="0"/>
              <a:t>11</a:t>
            </a:r>
            <a:r>
              <a:rPr lang="en-IN" b="1" dirty="0"/>
              <a:t>(1,1)</a:t>
            </a:r>
            <a:r>
              <a:rPr lang="en-IN" dirty="0"/>
              <a:t>, Elliptic</a:t>
            </a:r>
            <a:r>
              <a:rPr lang="en-IN" baseline="0" dirty="0"/>
              <a:t> curve built over the finite field , set of all integers mod 11.with a</a:t>
            </a:r>
            <a:r>
              <a:rPr lang="en-IN" dirty="0"/>
              <a:t>=1</a:t>
            </a:r>
            <a:r>
              <a:rPr lang="en-IN" baseline="0" dirty="0"/>
              <a:t> and b=1.</a:t>
            </a:r>
          </a:p>
          <a:p>
            <a:r>
              <a:rPr lang="en-IN" b="1" baseline="0" dirty="0"/>
              <a:t>Lets consider one of the point on this curve as plain text message</a:t>
            </a:r>
          </a:p>
          <a:p>
            <a:r>
              <a:rPr lang="en-IN" baseline="0" dirty="0"/>
              <a:t>Message should be encoded as a point on the curve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D0A501-E15A-4C08-992B-DEFB62B26EA1}" type="slidenum">
              <a:rPr lang="en-IN" smtClean="0"/>
              <a:pPr/>
              <a:t>28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205478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Ep((</a:t>
            </a:r>
            <a:r>
              <a:rPr lang="en-IN" dirty="0" err="1"/>
              <a:t>a,b</a:t>
            </a:r>
            <a:r>
              <a:rPr lang="en-IN" dirty="0"/>
              <a:t>)</a:t>
            </a:r>
            <a:r>
              <a:rPr lang="en-IN" dirty="0">
                <a:sym typeface="Wingdings" panose="05000000000000000000" pitchFamily="2" charset="2"/>
              </a:rPr>
              <a:t> is the elliptic curve E(1,1,)</a:t>
            </a:r>
          </a:p>
          <a:p>
            <a:r>
              <a:rPr lang="en-IN" dirty="0">
                <a:sym typeface="Wingdings" panose="05000000000000000000" pitchFamily="2" charset="2"/>
              </a:rPr>
              <a:t>G(1,5)belongs to E(1,1,)</a:t>
            </a:r>
          </a:p>
          <a:p>
            <a:r>
              <a:rPr lang="en-IN" dirty="0">
                <a:sym typeface="Wingdings" panose="05000000000000000000" pitchFamily="2" charset="2"/>
              </a:rPr>
              <a:t>We have considered set of all integers mod 11. so n should range between 1 to 10</a:t>
            </a:r>
          </a:p>
          <a:p>
            <a:endParaRPr lang="en-IN" dirty="0">
              <a:sym typeface="Wingdings" panose="05000000000000000000" pitchFamily="2" charset="2"/>
            </a:endParaRP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D0A501-E15A-4C08-992B-DEFB62B26EA1}" type="slidenum">
              <a:rPr lang="en-IN" smtClean="0"/>
              <a:pPr/>
              <a:t>29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123034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K is from 1 to 10, Hence k=2</a:t>
            </a:r>
          </a:p>
          <a:p>
            <a:r>
              <a:rPr lang="en-IN" dirty="0"/>
              <a:t>G(1,5)</a:t>
            </a:r>
          </a:p>
          <a:p>
            <a:r>
              <a:rPr lang="en-IN" dirty="0"/>
              <a:t>M(4,6) on the curve</a:t>
            </a:r>
          </a:p>
          <a:p>
            <a:r>
              <a:rPr lang="en-IN" dirty="0"/>
              <a:t>Pu=(3,3)</a:t>
            </a:r>
          </a:p>
          <a:p>
            <a:r>
              <a:rPr lang="en-IN" dirty="0"/>
              <a:t>C=c1,c2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D0A501-E15A-4C08-992B-DEFB62B26EA1}" type="slidenum">
              <a:rPr lang="en-IN" smtClean="0"/>
              <a:pPr/>
              <a:t>32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71435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K is from 1 to 10, Hence k=2</a:t>
            </a:r>
          </a:p>
          <a:p>
            <a:r>
              <a:rPr lang="en-IN" dirty="0"/>
              <a:t>G(1,5)</a:t>
            </a:r>
          </a:p>
          <a:p>
            <a:r>
              <a:rPr lang="en-IN" dirty="0"/>
              <a:t>M(4,6) on the curve</a:t>
            </a:r>
          </a:p>
          <a:p>
            <a:r>
              <a:rPr lang="en-IN" dirty="0"/>
              <a:t>Pu=(3,3)</a:t>
            </a:r>
          </a:p>
          <a:p>
            <a:r>
              <a:rPr lang="en-IN" dirty="0"/>
              <a:t>C=c1,c2</a:t>
            </a:r>
          </a:p>
          <a:p>
            <a:r>
              <a:rPr lang="en-IN" dirty="0"/>
              <a:t>(3,3 ) +(3,3)</a:t>
            </a:r>
            <a:r>
              <a:rPr lang="en-IN" baseline="0" dirty="0"/>
              <a:t> adding a point on the curve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D0A501-E15A-4C08-992B-DEFB62B26EA1}" type="slidenum">
              <a:rPr lang="en-IN" smtClean="0"/>
              <a:pPr/>
              <a:t>33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189985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>
                <a:solidFill>
                  <a:srgbClr val="FF0000"/>
                </a:solidFill>
                <a:sym typeface="Symbol"/>
              </a:rPr>
              <a:t>, when P not equal to Q is </a:t>
            </a:r>
            <a:r>
              <a:rPr lang="en-IN" dirty="0">
                <a:solidFill>
                  <a:srgbClr val="FF0000"/>
                </a:solidFill>
              </a:rPr>
              <a:t>[(y</a:t>
            </a:r>
            <a:r>
              <a:rPr lang="en-IN" baseline="-25000" dirty="0">
                <a:solidFill>
                  <a:srgbClr val="FF0000"/>
                </a:solidFill>
              </a:rPr>
              <a:t>2</a:t>
            </a:r>
            <a:r>
              <a:rPr lang="en-IN" dirty="0">
                <a:solidFill>
                  <a:srgbClr val="FF0000"/>
                </a:solidFill>
              </a:rPr>
              <a:t>-y</a:t>
            </a:r>
            <a:r>
              <a:rPr lang="en-IN" baseline="-25000" dirty="0">
                <a:solidFill>
                  <a:srgbClr val="FF0000"/>
                </a:solidFill>
              </a:rPr>
              <a:t>1</a:t>
            </a:r>
            <a:r>
              <a:rPr lang="en-IN" dirty="0">
                <a:solidFill>
                  <a:srgbClr val="FF0000"/>
                </a:solidFill>
              </a:rPr>
              <a:t>)/(x</a:t>
            </a:r>
            <a:r>
              <a:rPr lang="en-IN" baseline="-25000" dirty="0">
                <a:solidFill>
                  <a:srgbClr val="FF0000"/>
                </a:solidFill>
              </a:rPr>
              <a:t>2</a:t>
            </a:r>
            <a:r>
              <a:rPr lang="en-IN" dirty="0">
                <a:solidFill>
                  <a:srgbClr val="FF0000"/>
                </a:solidFill>
              </a:rPr>
              <a:t>- x</a:t>
            </a:r>
            <a:r>
              <a:rPr lang="en-IN" baseline="-25000" dirty="0">
                <a:solidFill>
                  <a:srgbClr val="FF0000"/>
                </a:solidFill>
              </a:rPr>
              <a:t>1</a:t>
            </a:r>
            <a:r>
              <a:rPr lang="en-IN" dirty="0">
                <a:solidFill>
                  <a:srgbClr val="FF0000"/>
                </a:solidFill>
              </a:rPr>
              <a:t>) ]mod p 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D0A501-E15A-4C08-992B-DEFB62B26EA1}" type="slidenum">
              <a:rPr lang="en-IN" smtClean="0"/>
              <a:pPr/>
              <a:t>36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341841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C=[(3,3).(4,5)]</a:t>
            </a:r>
          </a:p>
          <a:p>
            <a:r>
              <a:rPr lang="en-IN" dirty="0"/>
              <a:t>N=2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D0A501-E15A-4C08-992B-DEFB62B26EA1}" type="slidenum">
              <a:rPr lang="en-IN" smtClean="0"/>
              <a:pPr/>
              <a:t>37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935911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_p</a:t>
            </a:r>
            <a:r>
              <a:rPr lang="en-IN" baseline="0" dirty="0"/>
              <a:t> is the reflection of P</a:t>
            </a:r>
          </a:p>
          <a:p>
            <a:r>
              <a:rPr lang="en-IN" baseline="0" dirty="0"/>
              <a:t>X, y is (x,-y)</a:t>
            </a:r>
          </a:p>
          <a:p>
            <a:endParaRPr lang="en-IN" baseline="0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D0A501-E15A-4C08-992B-DEFB62B26EA1}" type="slidenum">
              <a:rPr lang="en-IN" smtClean="0"/>
              <a:pPr/>
              <a:t>38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080661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-P , here x is same and y</a:t>
            </a:r>
            <a:r>
              <a:rPr lang="en-IN" baseline="0" dirty="0"/>
              <a:t> is negative</a:t>
            </a:r>
            <a:endParaRPr lang="en-IN" dirty="0"/>
          </a:p>
          <a:p>
            <a:r>
              <a:rPr lang="en-IN" dirty="0"/>
              <a:t>Y coordinate alone change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D0A501-E15A-4C08-992B-DEFB62B26EA1}" type="slidenum">
              <a:rPr lang="en-IN" smtClean="0"/>
              <a:pPr/>
              <a:t>39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968964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Here P is not equal to Q , hence </a:t>
            </a:r>
            <a:r>
              <a:rPr lang="en-IN" baseline="0" dirty="0"/>
              <a:t> </a:t>
            </a:r>
            <a:r>
              <a:rPr lang="en-IN" dirty="0">
                <a:solidFill>
                  <a:srgbClr val="FF0000"/>
                </a:solidFill>
                <a:sym typeface="Symbol"/>
              </a:rPr>
              <a:t> = </a:t>
            </a:r>
            <a:r>
              <a:rPr lang="en-IN" dirty="0">
                <a:solidFill>
                  <a:srgbClr val="FF0000"/>
                </a:solidFill>
              </a:rPr>
              <a:t> [(y</a:t>
            </a:r>
            <a:r>
              <a:rPr lang="en-IN" baseline="-25000" dirty="0">
                <a:solidFill>
                  <a:srgbClr val="FF0000"/>
                </a:solidFill>
              </a:rPr>
              <a:t>2</a:t>
            </a:r>
            <a:r>
              <a:rPr lang="en-IN" dirty="0">
                <a:solidFill>
                  <a:srgbClr val="FF0000"/>
                </a:solidFill>
              </a:rPr>
              <a:t>-y</a:t>
            </a:r>
            <a:r>
              <a:rPr lang="en-IN" baseline="-25000" dirty="0">
                <a:solidFill>
                  <a:srgbClr val="FF0000"/>
                </a:solidFill>
              </a:rPr>
              <a:t>1</a:t>
            </a:r>
            <a:r>
              <a:rPr lang="en-IN" dirty="0">
                <a:solidFill>
                  <a:srgbClr val="FF0000"/>
                </a:solidFill>
              </a:rPr>
              <a:t>)/(x</a:t>
            </a:r>
            <a:r>
              <a:rPr lang="en-IN" baseline="-25000" dirty="0">
                <a:solidFill>
                  <a:srgbClr val="FF0000"/>
                </a:solidFill>
              </a:rPr>
              <a:t>2</a:t>
            </a:r>
            <a:r>
              <a:rPr lang="en-IN" dirty="0">
                <a:solidFill>
                  <a:srgbClr val="FF0000"/>
                </a:solidFill>
              </a:rPr>
              <a:t>- x</a:t>
            </a:r>
            <a:r>
              <a:rPr lang="en-IN" baseline="-25000" dirty="0">
                <a:solidFill>
                  <a:srgbClr val="FF0000"/>
                </a:solidFill>
              </a:rPr>
              <a:t>1</a:t>
            </a:r>
            <a:r>
              <a:rPr lang="en-IN" dirty="0">
                <a:solidFill>
                  <a:srgbClr val="FF0000"/>
                </a:solidFill>
              </a:rPr>
              <a:t>) ]mod p </a:t>
            </a:r>
          </a:p>
          <a:p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D0A501-E15A-4C08-992B-DEFB62B26EA1}" type="slidenum">
              <a:rPr lang="en-IN" smtClean="0"/>
              <a:pPr/>
              <a:t>40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274472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ECC offers same level of security as RSA with shorter</a:t>
            </a:r>
            <a:r>
              <a:rPr lang="en-IN" baseline="0" dirty="0"/>
              <a:t> key length</a:t>
            </a:r>
          </a:p>
          <a:p>
            <a:r>
              <a:rPr lang="en-IN" baseline="0" dirty="0"/>
              <a:t>ECC can run on devices with limited resources like mobile</a:t>
            </a:r>
          </a:p>
          <a:p>
            <a:endParaRPr lang="en-IN" baseline="0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D0A501-E15A-4C08-992B-DEFB62B26EA1}" type="slidenum">
              <a:rPr lang="en-IN" smtClean="0"/>
              <a:pPr/>
              <a:t>41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82231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Elliptic Curve Cryptography (ECC)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Basics of Elliptic Curve (EC)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754563"/>
          </a:xfrm>
        </p:spPr>
        <p:txBody>
          <a:bodyPr>
            <a:normAutofit/>
          </a:bodyPr>
          <a:lstStyle/>
          <a:p>
            <a:pPr algn="just"/>
            <a:r>
              <a:rPr lang="en-IN" sz="2800" b="1" dirty="0"/>
              <a:t>Set of points that satisfy a specific mathematical equation. </a:t>
            </a:r>
          </a:p>
          <a:p>
            <a:pPr algn="just"/>
            <a:r>
              <a:rPr lang="en-IN" sz="2800" dirty="0"/>
              <a:t>The cubic equation of an elliptic curve is </a:t>
            </a:r>
          </a:p>
          <a:p>
            <a:pPr marL="0" indent="0" algn="just">
              <a:buNone/>
            </a:pPr>
            <a:r>
              <a:rPr lang="en-IN" sz="2800" dirty="0"/>
              <a:t>		</a:t>
            </a:r>
            <a:r>
              <a:rPr lang="en-IN" sz="2800" dirty="0">
                <a:solidFill>
                  <a:srgbClr val="FF0000"/>
                </a:solidFill>
              </a:rPr>
              <a:t>Y</a:t>
            </a:r>
            <a:r>
              <a:rPr lang="en-IN" sz="2800" baseline="30000" dirty="0">
                <a:solidFill>
                  <a:srgbClr val="FF0000"/>
                </a:solidFill>
              </a:rPr>
              <a:t>2</a:t>
            </a:r>
            <a:r>
              <a:rPr lang="en-IN" sz="2800" dirty="0">
                <a:solidFill>
                  <a:srgbClr val="FF0000"/>
                </a:solidFill>
              </a:rPr>
              <a:t> </a:t>
            </a:r>
            <a:r>
              <a:rPr lang="en-IN" sz="2800" dirty="0">
                <a:solidFill>
                  <a:srgbClr val="FF0000"/>
                </a:solidFill>
                <a:sym typeface="Symbol"/>
              </a:rPr>
              <a:t></a:t>
            </a:r>
            <a:r>
              <a:rPr lang="en-IN" sz="2800" dirty="0">
                <a:solidFill>
                  <a:srgbClr val="FF0000"/>
                </a:solidFill>
              </a:rPr>
              <a:t> X</a:t>
            </a:r>
            <a:r>
              <a:rPr lang="en-IN" sz="2800" baseline="30000" dirty="0">
                <a:solidFill>
                  <a:srgbClr val="FF0000"/>
                </a:solidFill>
              </a:rPr>
              <a:t>3</a:t>
            </a:r>
            <a:r>
              <a:rPr lang="en-IN" sz="2800" dirty="0">
                <a:solidFill>
                  <a:srgbClr val="FF0000"/>
                </a:solidFill>
              </a:rPr>
              <a:t> + </a:t>
            </a:r>
            <a:r>
              <a:rPr lang="en-IN" sz="2800" dirty="0" err="1">
                <a:solidFill>
                  <a:srgbClr val="FF0000"/>
                </a:solidFill>
              </a:rPr>
              <a:t>aX</a:t>
            </a:r>
            <a:r>
              <a:rPr lang="en-IN" sz="2800" dirty="0">
                <a:solidFill>
                  <a:srgbClr val="FF0000"/>
                </a:solidFill>
              </a:rPr>
              <a:t> + b </a:t>
            </a:r>
            <a:r>
              <a:rPr lang="en-IN" sz="2800" dirty="0"/>
              <a:t>for some constants ‘a’ and ‘b’ with the condition </a:t>
            </a:r>
            <a:r>
              <a:rPr lang="en-IN" sz="2800" dirty="0">
                <a:solidFill>
                  <a:srgbClr val="FF0000"/>
                </a:solidFill>
              </a:rPr>
              <a:t>4a</a:t>
            </a:r>
            <a:r>
              <a:rPr lang="en-IN" sz="2800" baseline="30000" dirty="0">
                <a:solidFill>
                  <a:srgbClr val="FF0000"/>
                </a:solidFill>
              </a:rPr>
              <a:t>3</a:t>
            </a:r>
            <a:r>
              <a:rPr lang="en-IN" sz="2800" dirty="0">
                <a:solidFill>
                  <a:srgbClr val="FF0000"/>
                </a:solidFill>
              </a:rPr>
              <a:t> + 27b</a:t>
            </a:r>
            <a:r>
              <a:rPr lang="en-IN" sz="2800" baseline="30000" dirty="0">
                <a:solidFill>
                  <a:srgbClr val="FF0000"/>
                </a:solidFill>
              </a:rPr>
              <a:t>2</a:t>
            </a:r>
            <a:r>
              <a:rPr lang="en-IN" sz="2800" dirty="0">
                <a:solidFill>
                  <a:srgbClr val="FF0000"/>
                </a:solidFill>
              </a:rPr>
              <a:t> ≠ 0</a:t>
            </a:r>
            <a:r>
              <a:rPr lang="en-IN" sz="2800" dirty="0"/>
              <a:t>.</a:t>
            </a:r>
          </a:p>
        </p:txBody>
      </p:sp>
      <p:pic>
        <p:nvPicPr>
          <p:cNvPr id="4" name="Picture 3"/>
          <p:cNvPicPr/>
          <p:nvPr/>
        </p:nvPicPr>
        <p:blipFill>
          <a:blip r:embed="rId3"/>
          <a:stretch>
            <a:fillRect/>
          </a:stretch>
        </p:blipFill>
        <p:spPr>
          <a:xfrm>
            <a:off x="2362200" y="3810000"/>
            <a:ext cx="4343400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EC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 lnSpcReduction="10000"/>
          </a:bodyPr>
          <a:lstStyle/>
          <a:p>
            <a:pPr marL="514350" indent="-514350" algn="just">
              <a:buFont typeface="+mj-lt"/>
              <a:buAutoNum type="arabicPeriod"/>
            </a:pPr>
            <a:r>
              <a:rPr lang="en-IN" dirty="0"/>
              <a:t>EC over real number.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IN" dirty="0"/>
              <a:t>EC over complex number.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IN" dirty="0">
                <a:solidFill>
                  <a:srgbClr val="FF0000"/>
                </a:solidFill>
              </a:rPr>
              <a:t>EC over finite field. </a:t>
            </a:r>
            <a:r>
              <a:rPr lang="en-IN" dirty="0"/>
              <a:t>(GF(2), GF(5), GF(8),……..)</a:t>
            </a:r>
          </a:p>
          <a:p>
            <a:pPr lvl="1" algn="just"/>
            <a:r>
              <a:rPr lang="en-IN" b="1" u="sng" dirty="0"/>
              <a:t>NOTE:</a:t>
            </a:r>
            <a:r>
              <a:rPr lang="en-IN" dirty="0"/>
              <a:t> EC over Finite field is used in cryptography.</a:t>
            </a:r>
          </a:p>
          <a:p>
            <a:pPr lvl="1" algn="just"/>
            <a:r>
              <a:rPr lang="en-IN" dirty="0"/>
              <a:t>Equation of EC over FF is: </a:t>
            </a:r>
          </a:p>
          <a:p>
            <a:pPr algn="just">
              <a:buNone/>
            </a:pPr>
            <a:r>
              <a:rPr lang="en-IN" dirty="0">
                <a:solidFill>
                  <a:srgbClr val="FF0000"/>
                </a:solidFill>
              </a:rPr>
              <a:t>		  Y</a:t>
            </a:r>
            <a:r>
              <a:rPr lang="en-IN" baseline="30000" dirty="0">
                <a:solidFill>
                  <a:srgbClr val="FF0000"/>
                </a:solidFill>
              </a:rPr>
              <a:t>2</a:t>
            </a:r>
            <a:r>
              <a:rPr lang="en-IN" dirty="0">
                <a:solidFill>
                  <a:srgbClr val="FF0000"/>
                </a:solidFill>
              </a:rPr>
              <a:t> </a:t>
            </a:r>
            <a:r>
              <a:rPr lang="en-IN" dirty="0">
                <a:solidFill>
                  <a:srgbClr val="FF0000"/>
                </a:solidFill>
                <a:sym typeface="Symbol"/>
              </a:rPr>
              <a:t></a:t>
            </a:r>
            <a:r>
              <a:rPr lang="en-IN" dirty="0">
                <a:solidFill>
                  <a:srgbClr val="FF0000"/>
                </a:solidFill>
              </a:rPr>
              <a:t> X</a:t>
            </a:r>
            <a:r>
              <a:rPr lang="en-IN" baseline="30000" dirty="0">
                <a:solidFill>
                  <a:srgbClr val="FF0000"/>
                </a:solidFill>
              </a:rPr>
              <a:t>3</a:t>
            </a:r>
            <a:r>
              <a:rPr lang="en-IN" dirty="0">
                <a:solidFill>
                  <a:srgbClr val="FF0000"/>
                </a:solidFill>
              </a:rPr>
              <a:t> + </a:t>
            </a:r>
            <a:r>
              <a:rPr lang="en-IN" dirty="0" err="1">
                <a:solidFill>
                  <a:srgbClr val="FF0000"/>
                </a:solidFill>
              </a:rPr>
              <a:t>aX</a:t>
            </a:r>
            <a:r>
              <a:rPr lang="en-IN" dirty="0">
                <a:solidFill>
                  <a:srgbClr val="FF0000"/>
                </a:solidFill>
              </a:rPr>
              <a:t> + b mod p </a:t>
            </a:r>
            <a:r>
              <a:rPr lang="en-IN" dirty="0"/>
              <a:t>with the condition</a:t>
            </a:r>
          </a:p>
          <a:p>
            <a:pPr algn="just">
              <a:buNone/>
            </a:pPr>
            <a:r>
              <a:rPr lang="en-IN" dirty="0">
                <a:solidFill>
                  <a:srgbClr val="FF0000"/>
                </a:solidFill>
              </a:rPr>
              <a:t>		  4a</a:t>
            </a:r>
            <a:r>
              <a:rPr lang="en-IN" baseline="30000" dirty="0">
                <a:solidFill>
                  <a:srgbClr val="FF0000"/>
                </a:solidFill>
              </a:rPr>
              <a:t>3</a:t>
            </a:r>
            <a:r>
              <a:rPr lang="en-IN" dirty="0">
                <a:solidFill>
                  <a:srgbClr val="FF0000"/>
                </a:solidFill>
              </a:rPr>
              <a:t> + 27b</a:t>
            </a:r>
            <a:r>
              <a:rPr lang="en-IN" baseline="30000" dirty="0">
                <a:solidFill>
                  <a:srgbClr val="FF0000"/>
                </a:solidFill>
              </a:rPr>
              <a:t>2</a:t>
            </a:r>
            <a:r>
              <a:rPr lang="en-IN" dirty="0">
                <a:solidFill>
                  <a:srgbClr val="FF0000"/>
                </a:solidFill>
              </a:rPr>
              <a:t> mod p ≠ 0</a:t>
            </a:r>
            <a:r>
              <a:rPr lang="en-IN" dirty="0"/>
              <a:t> where a and b should not be greater than p.</a:t>
            </a:r>
          </a:p>
          <a:p>
            <a:pPr algn="just">
              <a:buNone/>
            </a:pPr>
            <a:r>
              <a:rPr lang="en-IN" dirty="0"/>
              <a:t>P is a finite field</a:t>
            </a:r>
          </a:p>
          <a:p>
            <a:pPr algn="just"/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667000"/>
            <a:ext cx="8229600" cy="1143000"/>
          </a:xfrm>
        </p:spPr>
        <p:txBody>
          <a:bodyPr>
            <a:noAutofit/>
          </a:bodyPr>
          <a:lstStyle/>
          <a:p>
            <a:r>
              <a:rPr lang="en-IN" sz="5400" b="1" dirty="0"/>
              <a:t>1. Construction of EC </a:t>
            </a:r>
            <a:br>
              <a:rPr lang="en-IN" sz="5400" b="1" dirty="0"/>
            </a:br>
            <a:r>
              <a:rPr lang="en-IN" sz="5400" b="1" dirty="0"/>
              <a:t>over Finite field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20762"/>
          </a:xfrm>
        </p:spPr>
        <p:txBody>
          <a:bodyPr/>
          <a:lstStyle/>
          <a:p>
            <a:r>
              <a:rPr lang="en-IN" dirty="0"/>
              <a:t>Construct EC over finite field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382000" cy="5334000"/>
          </a:xfrm>
        </p:spPr>
        <p:txBody>
          <a:bodyPr>
            <a:normAutofit/>
          </a:bodyPr>
          <a:lstStyle/>
          <a:p>
            <a:r>
              <a:rPr lang="en-IN" b="1" dirty="0"/>
              <a:t>Example</a:t>
            </a:r>
            <a:r>
              <a:rPr lang="en-IN" dirty="0"/>
              <a:t> : Let us consider Z/11 i.e., GF(11)</a:t>
            </a:r>
          </a:p>
          <a:p>
            <a:r>
              <a:rPr lang="en-IN" dirty="0"/>
              <a:t>Set of all integers in GF(11) = {0,1,2,…….,10} satisfies the equation</a:t>
            </a:r>
          </a:p>
          <a:p>
            <a:pPr algn="just">
              <a:buNone/>
            </a:pPr>
            <a:r>
              <a:rPr lang="en-IN" dirty="0">
                <a:solidFill>
                  <a:srgbClr val="FF0000"/>
                </a:solidFill>
              </a:rPr>
              <a:t>           Y</a:t>
            </a:r>
            <a:r>
              <a:rPr lang="en-IN" baseline="30000" dirty="0">
                <a:solidFill>
                  <a:srgbClr val="FF0000"/>
                </a:solidFill>
              </a:rPr>
              <a:t>2</a:t>
            </a:r>
            <a:r>
              <a:rPr lang="en-IN" dirty="0">
                <a:solidFill>
                  <a:srgbClr val="FF0000"/>
                </a:solidFill>
              </a:rPr>
              <a:t> </a:t>
            </a:r>
            <a:r>
              <a:rPr lang="en-IN" dirty="0">
                <a:solidFill>
                  <a:srgbClr val="FF0000"/>
                </a:solidFill>
                <a:sym typeface="Symbol"/>
              </a:rPr>
              <a:t></a:t>
            </a:r>
            <a:r>
              <a:rPr lang="en-IN" dirty="0">
                <a:solidFill>
                  <a:srgbClr val="FF0000"/>
                </a:solidFill>
              </a:rPr>
              <a:t> X</a:t>
            </a:r>
            <a:r>
              <a:rPr lang="en-IN" baseline="30000" dirty="0">
                <a:solidFill>
                  <a:srgbClr val="FF0000"/>
                </a:solidFill>
              </a:rPr>
              <a:t>3</a:t>
            </a:r>
            <a:r>
              <a:rPr lang="en-IN" dirty="0">
                <a:solidFill>
                  <a:srgbClr val="FF0000"/>
                </a:solidFill>
              </a:rPr>
              <a:t> + </a:t>
            </a:r>
            <a:r>
              <a:rPr lang="en-IN" dirty="0" err="1">
                <a:solidFill>
                  <a:srgbClr val="FF0000"/>
                </a:solidFill>
              </a:rPr>
              <a:t>aX</a:t>
            </a:r>
            <a:r>
              <a:rPr lang="en-IN" dirty="0">
                <a:solidFill>
                  <a:srgbClr val="FF0000"/>
                </a:solidFill>
              </a:rPr>
              <a:t> + b mod p </a:t>
            </a:r>
            <a:r>
              <a:rPr lang="en-IN" dirty="0"/>
              <a:t>with the condition</a:t>
            </a:r>
          </a:p>
          <a:p>
            <a:pPr algn="just">
              <a:buNone/>
            </a:pPr>
            <a:r>
              <a:rPr lang="en-IN" dirty="0">
                <a:solidFill>
                  <a:srgbClr val="FF0000"/>
                </a:solidFill>
              </a:rPr>
              <a:t>		 4a</a:t>
            </a:r>
            <a:r>
              <a:rPr lang="en-IN" baseline="30000" dirty="0">
                <a:solidFill>
                  <a:srgbClr val="FF0000"/>
                </a:solidFill>
              </a:rPr>
              <a:t>3</a:t>
            </a:r>
            <a:r>
              <a:rPr lang="en-IN" dirty="0">
                <a:solidFill>
                  <a:srgbClr val="FF0000"/>
                </a:solidFill>
              </a:rPr>
              <a:t> + 27b</a:t>
            </a:r>
            <a:r>
              <a:rPr lang="en-IN" baseline="30000" dirty="0">
                <a:solidFill>
                  <a:srgbClr val="FF0000"/>
                </a:solidFill>
              </a:rPr>
              <a:t>2</a:t>
            </a:r>
            <a:r>
              <a:rPr lang="en-IN" dirty="0">
                <a:solidFill>
                  <a:srgbClr val="FF0000"/>
                </a:solidFill>
              </a:rPr>
              <a:t> mod p ≠ 0</a:t>
            </a:r>
            <a:endParaRPr lang="en-IN" dirty="0"/>
          </a:p>
          <a:p>
            <a:r>
              <a:rPr lang="en-IN" dirty="0"/>
              <a:t>Let us take </a:t>
            </a:r>
            <a:r>
              <a:rPr lang="en-IN" b="1" dirty="0"/>
              <a:t>a = 1 and b = 1 </a:t>
            </a:r>
            <a:r>
              <a:rPr lang="en-IN" dirty="0"/>
              <a:t>then check whether this satisfies the condition 4a</a:t>
            </a:r>
            <a:r>
              <a:rPr lang="en-IN" baseline="30000" dirty="0"/>
              <a:t>3</a:t>
            </a:r>
            <a:r>
              <a:rPr lang="en-IN" dirty="0"/>
              <a:t> + 27b</a:t>
            </a:r>
            <a:r>
              <a:rPr lang="en-IN" baseline="30000" dirty="0"/>
              <a:t>2</a:t>
            </a:r>
            <a:r>
              <a:rPr lang="en-IN" dirty="0"/>
              <a:t> mod p ≠ 0</a:t>
            </a:r>
          </a:p>
          <a:p>
            <a:pPr>
              <a:buNone/>
            </a:pPr>
            <a:r>
              <a:rPr lang="en-IN" dirty="0"/>
              <a:t>	4(1</a:t>
            </a:r>
            <a:r>
              <a:rPr lang="en-IN" baseline="30000" dirty="0"/>
              <a:t>3</a:t>
            </a:r>
            <a:r>
              <a:rPr lang="en-IN" dirty="0"/>
              <a:t>)+ 27(1)</a:t>
            </a:r>
            <a:r>
              <a:rPr lang="en-IN" baseline="30000" dirty="0"/>
              <a:t>2</a:t>
            </a:r>
            <a:r>
              <a:rPr lang="en-IN" dirty="0"/>
              <a:t> mod 11 = 31 mod 11 = 9 ≠ 0</a:t>
            </a:r>
          </a:p>
          <a:p>
            <a:r>
              <a:rPr lang="en-IN" b="1" dirty="0"/>
              <a:t>Thus a =1 and b =1 satisfies the condition</a:t>
            </a:r>
          </a:p>
          <a:p>
            <a:endParaRPr lang="en-IN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Compute all the points on EC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678363"/>
          </a:xfrm>
        </p:spPr>
        <p:txBody>
          <a:bodyPr>
            <a:normAutofit fontScale="92500"/>
          </a:bodyPr>
          <a:lstStyle/>
          <a:p>
            <a:r>
              <a:rPr lang="en-IN" dirty="0"/>
              <a:t>Consider the equation; </a:t>
            </a:r>
          </a:p>
          <a:p>
            <a:pPr>
              <a:buNone/>
            </a:pPr>
            <a:r>
              <a:rPr lang="en-IN" dirty="0"/>
              <a:t>      Y</a:t>
            </a:r>
            <a:r>
              <a:rPr lang="en-IN" baseline="30000" dirty="0"/>
              <a:t>2 </a:t>
            </a:r>
            <a:r>
              <a:rPr lang="en-IN" b="1" dirty="0">
                <a:sym typeface="Symbol"/>
              </a:rPr>
              <a:t></a:t>
            </a:r>
            <a:r>
              <a:rPr lang="en-IN" dirty="0"/>
              <a:t> X</a:t>
            </a:r>
            <a:r>
              <a:rPr lang="en-IN" baseline="30000" dirty="0"/>
              <a:t>3</a:t>
            </a:r>
            <a:r>
              <a:rPr lang="en-IN" dirty="0"/>
              <a:t> + </a:t>
            </a:r>
            <a:r>
              <a:rPr lang="en-IN" dirty="0" err="1"/>
              <a:t>aX</a:t>
            </a:r>
            <a:r>
              <a:rPr lang="en-IN" dirty="0"/>
              <a:t> + b mod p, we can rewrite this  equation as </a:t>
            </a:r>
          </a:p>
          <a:p>
            <a:pPr>
              <a:buNone/>
            </a:pPr>
            <a:r>
              <a:rPr lang="en-IN" dirty="0"/>
              <a:t>     </a:t>
            </a:r>
            <a:r>
              <a:rPr lang="en-IN" b="1" dirty="0">
                <a:solidFill>
                  <a:srgbClr val="FF0000"/>
                </a:solidFill>
              </a:rPr>
              <a:t>Y</a:t>
            </a:r>
            <a:r>
              <a:rPr lang="en-IN" b="1" baseline="30000" dirty="0">
                <a:solidFill>
                  <a:srgbClr val="FF0000"/>
                </a:solidFill>
              </a:rPr>
              <a:t>2 </a:t>
            </a:r>
            <a:r>
              <a:rPr lang="en-IN" b="1" dirty="0">
                <a:solidFill>
                  <a:srgbClr val="FF0000"/>
                </a:solidFill>
                <a:sym typeface="Symbol"/>
              </a:rPr>
              <a:t>mod p = </a:t>
            </a:r>
            <a:r>
              <a:rPr lang="en-IN" b="1" dirty="0">
                <a:solidFill>
                  <a:srgbClr val="FF0000"/>
                </a:solidFill>
              </a:rPr>
              <a:t> X</a:t>
            </a:r>
            <a:r>
              <a:rPr lang="en-IN" b="1" baseline="30000" dirty="0">
                <a:solidFill>
                  <a:srgbClr val="FF0000"/>
                </a:solidFill>
              </a:rPr>
              <a:t>3</a:t>
            </a:r>
            <a:r>
              <a:rPr lang="en-IN" b="1" dirty="0">
                <a:solidFill>
                  <a:srgbClr val="FF0000"/>
                </a:solidFill>
              </a:rPr>
              <a:t> + </a:t>
            </a:r>
            <a:r>
              <a:rPr lang="en-IN" b="1" dirty="0" err="1">
                <a:solidFill>
                  <a:srgbClr val="FF0000"/>
                </a:solidFill>
              </a:rPr>
              <a:t>aX</a:t>
            </a:r>
            <a:r>
              <a:rPr lang="en-IN" b="1" dirty="0">
                <a:solidFill>
                  <a:srgbClr val="FF0000"/>
                </a:solidFill>
              </a:rPr>
              <a:t> + b mod p(mod arithmetic)</a:t>
            </a:r>
          </a:p>
          <a:p>
            <a:r>
              <a:rPr lang="en-IN" dirty="0"/>
              <a:t>Substitute a = 1, b = 1, and p = 11 in the above equation ;</a:t>
            </a:r>
          </a:p>
          <a:p>
            <a:pPr>
              <a:buNone/>
            </a:pPr>
            <a:r>
              <a:rPr lang="en-IN" dirty="0"/>
              <a:t>		</a:t>
            </a:r>
            <a:r>
              <a:rPr lang="en-IN" b="1" dirty="0">
                <a:solidFill>
                  <a:srgbClr val="FF0000"/>
                </a:solidFill>
              </a:rPr>
              <a:t>Y</a:t>
            </a:r>
            <a:r>
              <a:rPr lang="en-IN" b="1" baseline="30000" dirty="0">
                <a:solidFill>
                  <a:srgbClr val="FF0000"/>
                </a:solidFill>
              </a:rPr>
              <a:t>2 </a:t>
            </a:r>
            <a:r>
              <a:rPr lang="en-IN" b="1" dirty="0">
                <a:solidFill>
                  <a:srgbClr val="FF0000"/>
                </a:solidFill>
                <a:sym typeface="Symbol"/>
              </a:rPr>
              <a:t>mod 11 = </a:t>
            </a:r>
            <a:r>
              <a:rPr lang="en-IN" b="1" dirty="0">
                <a:solidFill>
                  <a:srgbClr val="FF0000"/>
                </a:solidFill>
              </a:rPr>
              <a:t> X</a:t>
            </a:r>
            <a:r>
              <a:rPr lang="en-IN" b="1" baseline="30000" dirty="0">
                <a:solidFill>
                  <a:srgbClr val="FF0000"/>
                </a:solidFill>
              </a:rPr>
              <a:t>3</a:t>
            </a:r>
            <a:r>
              <a:rPr lang="en-IN" b="1" dirty="0">
                <a:solidFill>
                  <a:srgbClr val="FF0000"/>
                </a:solidFill>
              </a:rPr>
              <a:t> + X + 1 mod 11</a:t>
            </a:r>
          </a:p>
          <a:p>
            <a:r>
              <a:rPr lang="en-IN" b="1" dirty="0"/>
              <a:t>Use the above equation to find all the points in EC.</a:t>
            </a:r>
          </a:p>
          <a:p>
            <a:endParaRPr lang="en-IN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Set of points on the curve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7200" y="1143000"/>
            <a:ext cx="7315200" cy="571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382000" cy="5440363"/>
          </a:xfrm>
        </p:spPr>
        <p:txBody>
          <a:bodyPr>
            <a:normAutofit/>
          </a:bodyPr>
          <a:lstStyle/>
          <a:p>
            <a:pPr algn="just"/>
            <a:r>
              <a:rPr lang="en-IN" dirty="0"/>
              <a:t>In the table, find the values of X and Y to satisfies the equation;</a:t>
            </a:r>
          </a:p>
          <a:p>
            <a:pPr algn="just">
              <a:buNone/>
            </a:pPr>
            <a:r>
              <a:rPr lang="en-IN" dirty="0"/>
              <a:t>        Y</a:t>
            </a:r>
            <a:r>
              <a:rPr lang="en-IN" baseline="30000" dirty="0"/>
              <a:t>2 </a:t>
            </a:r>
            <a:r>
              <a:rPr lang="en-IN" dirty="0">
                <a:sym typeface="Symbol"/>
              </a:rPr>
              <a:t>mod 11 =</a:t>
            </a:r>
            <a:r>
              <a:rPr lang="en-IN" b="1" dirty="0">
                <a:sym typeface="Symbol"/>
              </a:rPr>
              <a:t> </a:t>
            </a:r>
            <a:r>
              <a:rPr lang="en-IN" dirty="0"/>
              <a:t> X</a:t>
            </a:r>
            <a:r>
              <a:rPr lang="en-IN" baseline="30000" dirty="0"/>
              <a:t>3</a:t>
            </a:r>
            <a:r>
              <a:rPr lang="en-IN" dirty="0"/>
              <a:t> + X + 1 mod 11</a:t>
            </a:r>
          </a:p>
          <a:p>
            <a:pPr algn="just"/>
            <a:r>
              <a:rPr lang="en-IN" dirty="0"/>
              <a:t>For example when X = 0 and Y = 1, we will get the same result which means ‘1’ in the table. So, consider the point (0,1)</a:t>
            </a:r>
          </a:p>
          <a:p>
            <a:pPr algn="just"/>
            <a:r>
              <a:rPr lang="en-IN" dirty="0"/>
              <a:t>Similarly, consider other points such as </a:t>
            </a:r>
            <a:r>
              <a:rPr lang="en-IN" b="1" dirty="0">
                <a:solidFill>
                  <a:srgbClr val="FF0000"/>
                </a:solidFill>
              </a:rPr>
              <a:t>(0,10), (1,5), (1,6), (2,0), (3,3), (3,8), (4,5), (4,6), (6,5), (6,6), (8,2), (8,9)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Plotting elliptic curve E</a:t>
            </a:r>
            <a:r>
              <a:rPr lang="en-IN" b="1" baseline="-25000" dirty="0"/>
              <a:t>11</a:t>
            </a:r>
            <a:r>
              <a:rPr lang="en-IN" b="1" dirty="0"/>
              <a:t>(1,1)with discovered set of points</a:t>
            </a:r>
          </a:p>
        </p:txBody>
      </p:sp>
      <p:graphicFrame>
        <p:nvGraphicFramePr>
          <p:cNvPr id="7" name="Chart 6"/>
          <p:cNvGraphicFramePr/>
          <p:nvPr/>
        </p:nvGraphicFramePr>
        <p:xfrm>
          <a:off x="838200" y="1752600"/>
          <a:ext cx="7467600" cy="4648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895600"/>
            <a:ext cx="8229600" cy="1143000"/>
          </a:xfrm>
        </p:spPr>
        <p:txBody>
          <a:bodyPr>
            <a:noAutofit/>
          </a:bodyPr>
          <a:lstStyle/>
          <a:p>
            <a:r>
              <a:rPr lang="en-IN" sz="6000" b="1" dirty="0"/>
              <a:t>2. Check if the point falls on the curve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20762"/>
          </a:xfrm>
        </p:spPr>
        <p:txBody>
          <a:bodyPr>
            <a:normAutofit/>
          </a:bodyPr>
          <a:lstStyle/>
          <a:p>
            <a:r>
              <a:rPr lang="en-IN" dirty="0"/>
              <a:t>Check if the point falls on the curve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334000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IN" b="1" dirty="0"/>
              <a:t>Check the point (3,8) falls on the elliptic group E</a:t>
            </a:r>
            <a:r>
              <a:rPr lang="en-IN" b="1" baseline="-25000" dirty="0"/>
              <a:t>11</a:t>
            </a:r>
            <a:r>
              <a:rPr lang="en-IN" b="1" dirty="0"/>
              <a:t>(1,1).</a:t>
            </a:r>
          </a:p>
          <a:p>
            <a:pPr algn="just"/>
            <a:r>
              <a:rPr lang="en-IN" dirty="0"/>
              <a:t>Consider the equation;</a:t>
            </a:r>
          </a:p>
          <a:p>
            <a:pPr algn="just">
              <a:buNone/>
            </a:pPr>
            <a:r>
              <a:rPr lang="en-IN" dirty="0"/>
              <a:t>	Y</a:t>
            </a:r>
            <a:r>
              <a:rPr lang="en-IN" baseline="30000" dirty="0"/>
              <a:t>2 </a:t>
            </a:r>
            <a:r>
              <a:rPr lang="en-IN" dirty="0">
                <a:sym typeface="Symbol"/>
              </a:rPr>
              <a:t>mod 11 =</a:t>
            </a:r>
            <a:r>
              <a:rPr lang="en-IN" b="1" dirty="0">
                <a:sym typeface="Symbol"/>
              </a:rPr>
              <a:t> </a:t>
            </a:r>
            <a:r>
              <a:rPr lang="en-IN" dirty="0"/>
              <a:t> X</a:t>
            </a:r>
            <a:r>
              <a:rPr lang="en-IN" baseline="30000" dirty="0"/>
              <a:t>3</a:t>
            </a:r>
            <a:r>
              <a:rPr lang="en-IN" dirty="0"/>
              <a:t> + X + 1 mod 11</a:t>
            </a:r>
          </a:p>
          <a:p>
            <a:pPr algn="just"/>
            <a:r>
              <a:rPr lang="en-IN" dirty="0"/>
              <a:t>Substitute X = 3 and Y = 8 in the above equation;</a:t>
            </a:r>
          </a:p>
          <a:p>
            <a:pPr algn="just">
              <a:buNone/>
            </a:pPr>
            <a:r>
              <a:rPr lang="en-IN" dirty="0"/>
              <a:t>		8</a:t>
            </a:r>
            <a:r>
              <a:rPr lang="en-IN" baseline="30000" dirty="0"/>
              <a:t>2 </a:t>
            </a:r>
            <a:r>
              <a:rPr lang="en-IN" dirty="0">
                <a:sym typeface="Symbol"/>
              </a:rPr>
              <a:t>mod 11 =</a:t>
            </a:r>
            <a:r>
              <a:rPr lang="en-IN" b="1" dirty="0">
                <a:sym typeface="Symbol"/>
              </a:rPr>
              <a:t> </a:t>
            </a:r>
            <a:r>
              <a:rPr lang="en-IN" dirty="0"/>
              <a:t> 3</a:t>
            </a:r>
            <a:r>
              <a:rPr lang="en-IN" baseline="30000" dirty="0"/>
              <a:t>3</a:t>
            </a:r>
            <a:r>
              <a:rPr lang="en-IN" dirty="0"/>
              <a:t> + 3 + 1 mod 11</a:t>
            </a:r>
          </a:p>
          <a:p>
            <a:pPr algn="just">
              <a:buNone/>
            </a:pPr>
            <a:r>
              <a:rPr lang="en-IN" dirty="0"/>
              <a:t>			     9 = 31 mod 11</a:t>
            </a:r>
          </a:p>
          <a:p>
            <a:pPr algn="just">
              <a:buNone/>
            </a:pPr>
            <a:r>
              <a:rPr lang="en-IN" dirty="0"/>
              <a:t>			     9 = 9  </a:t>
            </a:r>
          </a:p>
          <a:p>
            <a:pPr algn="just"/>
            <a:r>
              <a:rPr lang="en-IN" dirty="0"/>
              <a:t>This </a:t>
            </a:r>
            <a:r>
              <a:rPr lang="en-IN" b="1" dirty="0"/>
              <a:t>says that the given point (3,8) satisfies the equation, hence the point (3,8) lies in the curve E</a:t>
            </a:r>
            <a:r>
              <a:rPr lang="en-IN" b="1" baseline="-25000" dirty="0"/>
              <a:t>11</a:t>
            </a:r>
            <a:r>
              <a:rPr lang="en-IN" b="1" dirty="0"/>
              <a:t>(1,1).</a:t>
            </a:r>
          </a:p>
          <a:p>
            <a:pPr algn="just"/>
            <a:endParaRPr lang="en-IN" b="1" dirty="0"/>
          </a:p>
          <a:p>
            <a:pPr algn="just"/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43200"/>
            <a:ext cx="8229600" cy="1143000"/>
          </a:xfrm>
        </p:spPr>
        <p:txBody>
          <a:bodyPr>
            <a:noAutofit/>
          </a:bodyPr>
          <a:lstStyle/>
          <a:p>
            <a:r>
              <a:rPr lang="en-IN" sz="6000" b="1" dirty="0"/>
              <a:t>3. Adding two </a:t>
            </a:r>
            <a:r>
              <a:rPr lang="en-IN" sz="6600" b="1" dirty="0"/>
              <a:t>points </a:t>
            </a:r>
            <a:r>
              <a:rPr lang="en-IN" sz="6000" b="1" dirty="0"/>
              <a:t>on the curve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81400" y="4572000"/>
            <a:ext cx="216758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lphaLcParenBoth"/>
            </a:pPr>
            <a:r>
              <a:rPr lang="en-IN" sz="4800" dirty="0"/>
              <a:t>P + Q</a:t>
            </a:r>
          </a:p>
          <a:p>
            <a:pPr marL="342900" indent="-342900">
              <a:buAutoNum type="alphaLcParenBoth"/>
            </a:pPr>
            <a:r>
              <a:rPr lang="en-IN" sz="4800" dirty="0"/>
              <a:t>P + 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(a) Adding two points P and Q on the EC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47763" y="1524000"/>
            <a:ext cx="6848475" cy="441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646630" y="6172200"/>
            <a:ext cx="78507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/>
              <a:t>Visual representation of adding P and Q on the elliptic curve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Algebraic representation of finding </a:t>
            </a:r>
            <a:br>
              <a:rPr lang="en-IN" b="1" dirty="0"/>
            </a:br>
            <a:r>
              <a:rPr lang="en-IN" b="1" dirty="0"/>
              <a:t>P + 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8915400" cy="4724400"/>
          </a:xfrm>
        </p:spPr>
        <p:txBody>
          <a:bodyPr>
            <a:noAutofit/>
          </a:bodyPr>
          <a:lstStyle/>
          <a:p>
            <a:pPr algn="just"/>
            <a:r>
              <a:rPr lang="en-IN" sz="3600" dirty="0"/>
              <a:t>Let us consider P = (x</a:t>
            </a:r>
            <a:r>
              <a:rPr lang="en-IN" sz="3600" baseline="-25000" dirty="0"/>
              <a:t>1</a:t>
            </a:r>
            <a:r>
              <a:rPr lang="en-IN" sz="3600" dirty="0"/>
              <a:t>,y</a:t>
            </a:r>
            <a:r>
              <a:rPr lang="en-IN" sz="3600" baseline="-25000" dirty="0"/>
              <a:t>1</a:t>
            </a:r>
            <a:r>
              <a:rPr lang="en-IN" sz="3600" dirty="0"/>
              <a:t>) and Q = (x</a:t>
            </a:r>
            <a:r>
              <a:rPr lang="en-IN" sz="3600" baseline="-25000" dirty="0"/>
              <a:t>2</a:t>
            </a:r>
            <a:r>
              <a:rPr lang="en-IN" sz="3600" dirty="0"/>
              <a:t>,y</a:t>
            </a:r>
            <a:r>
              <a:rPr lang="en-IN" sz="3600" baseline="-25000" dirty="0"/>
              <a:t>2</a:t>
            </a:r>
            <a:r>
              <a:rPr lang="en-IN" sz="3600" dirty="0"/>
              <a:t>) be in the elliptic group </a:t>
            </a:r>
            <a:r>
              <a:rPr lang="en-IN" sz="3600" dirty="0" err="1"/>
              <a:t>E</a:t>
            </a:r>
            <a:r>
              <a:rPr lang="en-IN" sz="3600" baseline="-25000" dirty="0" err="1"/>
              <a:t>p</a:t>
            </a:r>
            <a:r>
              <a:rPr lang="en-IN" sz="3600" dirty="0"/>
              <a:t>(</a:t>
            </a:r>
            <a:r>
              <a:rPr lang="en-IN" sz="3600" dirty="0" err="1"/>
              <a:t>a,b</a:t>
            </a:r>
            <a:r>
              <a:rPr lang="en-IN" sz="3600" dirty="0"/>
              <a:t>)  and </a:t>
            </a:r>
            <a:r>
              <a:rPr lang="en-IN" sz="3600" b="1" dirty="0">
                <a:solidFill>
                  <a:srgbClr val="FF0000"/>
                </a:solidFill>
              </a:rPr>
              <a:t>Q ≠ -P and P ≠ Q.</a:t>
            </a:r>
          </a:p>
          <a:p>
            <a:pPr algn="just"/>
            <a:r>
              <a:rPr lang="en-IN" sz="3600" dirty="0"/>
              <a:t>The rule for addition over the elliptic group </a:t>
            </a:r>
            <a:r>
              <a:rPr lang="en-IN" sz="3600" dirty="0" err="1"/>
              <a:t>E</a:t>
            </a:r>
            <a:r>
              <a:rPr lang="en-IN" sz="3600" baseline="-25000" dirty="0" err="1"/>
              <a:t>p</a:t>
            </a:r>
            <a:r>
              <a:rPr lang="en-IN" sz="3600" dirty="0"/>
              <a:t>(</a:t>
            </a:r>
            <a:r>
              <a:rPr lang="en-IN" sz="3600" dirty="0" err="1"/>
              <a:t>a,b</a:t>
            </a:r>
            <a:r>
              <a:rPr lang="en-IN" sz="3600" dirty="0"/>
              <a:t>) is;</a:t>
            </a:r>
          </a:p>
          <a:p>
            <a:pPr algn="just">
              <a:buNone/>
            </a:pPr>
            <a:r>
              <a:rPr lang="en-IN" sz="3600" dirty="0"/>
              <a:t>	</a:t>
            </a:r>
            <a:r>
              <a:rPr lang="en-IN" sz="3600" dirty="0">
                <a:solidFill>
                  <a:srgbClr val="FF0000"/>
                </a:solidFill>
              </a:rPr>
              <a:t>x</a:t>
            </a:r>
            <a:r>
              <a:rPr lang="en-IN" sz="3600" baseline="-25000" dirty="0">
                <a:solidFill>
                  <a:srgbClr val="FF0000"/>
                </a:solidFill>
              </a:rPr>
              <a:t>3</a:t>
            </a:r>
            <a:r>
              <a:rPr lang="en-IN" sz="3600" dirty="0">
                <a:solidFill>
                  <a:srgbClr val="FF0000"/>
                </a:solidFill>
              </a:rPr>
              <a:t> = </a:t>
            </a:r>
            <a:r>
              <a:rPr lang="en-IN" sz="3600" dirty="0">
                <a:solidFill>
                  <a:srgbClr val="FF0000"/>
                </a:solidFill>
                <a:sym typeface="Symbol"/>
              </a:rPr>
              <a:t></a:t>
            </a:r>
            <a:r>
              <a:rPr lang="en-IN" sz="3600" baseline="30000" dirty="0">
                <a:solidFill>
                  <a:srgbClr val="FF0000"/>
                </a:solidFill>
                <a:sym typeface="Symbol"/>
              </a:rPr>
              <a:t>2</a:t>
            </a:r>
            <a:r>
              <a:rPr lang="en-IN" sz="3600" dirty="0">
                <a:solidFill>
                  <a:srgbClr val="FF0000"/>
                </a:solidFill>
                <a:sym typeface="Symbol"/>
              </a:rPr>
              <a:t> - </a:t>
            </a:r>
            <a:r>
              <a:rPr lang="en-IN" sz="3600" dirty="0">
                <a:solidFill>
                  <a:srgbClr val="FF0000"/>
                </a:solidFill>
              </a:rPr>
              <a:t>x</a:t>
            </a:r>
            <a:r>
              <a:rPr lang="en-IN" sz="3600" baseline="-25000" dirty="0">
                <a:solidFill>
                  <a:srgbClr val="FF0000"/>
                </a:solidFill>
              </a:rPr>
              <a:t>1</a:t>
            </a:r>
            <a:r>
              <a:rPr lang="en-IN" sz="3600" dirty="0">
                <a:solidFill>
                  <a:srgbClr val="FF0000"/>
                </a:solidFill>
              </a:rPr>
              <a:t>- x</a:t>
            </a:r>
            <a:r>
              <a:rPr lang="en-IN" sz="3600" baseline="-25000" dirty="0">
                <a:solidFill>
                  <a:srgbClr val="FF0000"/>
                </a:solidFill>
              </a:rPr>
              <a:t>2</a:t>
            </a:r>
            <a:r>
              <a:rPr lang="en-IN" sz="3600" dirty="0">
                <a:solidFill>
                  <a:srgbClr val="FF0000"/>
                </a:solidFill>
              </a:rPr>
              <a:t> mod p</a:t>
            </a:r>
          </a:p>
          <a:p>
            <a:pPr algn="just">
              <a:buNone/>
            </a:pPr>
            <a:r>
              <a:rPr lang="en-IN" sz="3600" dirty="0">
                <a:solidFill>
                  <a:srgbClr val="FF0000"/>
                </a:solidFill>
              </a:rPr>
              <a:t>	y</a:t>
            </a:r>
            <a:r>
              <a:rPr lang="en-IN" sz="3600" baseline="-25000" dirty="0">
                <a:solidFill>
                  <a:srgbClr val="FF0000"/>
                </a:solidFill>
              </a:rPr>
              <a:t>3</a:t>
            </a:r>
            <a:r>
              <a:rPr lang="en-IN" sz="3600" dirty="0">
                <a:solidFill>
                  <a:srgbClr val="FF0000"/>
                </a:solidFill>
              </a:rPr>
              <a:t> = </a:t>
            </a:r>
            <a:r>
              <a:rPr lang="en-IN" sz="3600" dirty="0">
                <a:solidFill>
                  <a:srgbClr val="FF0000"/>
                </a:solidFill>
                <a:sym typeface="Symbol"/>
              </a:rPr>
              <a:t> (</a:t>
            </a:r>
            <a:r>
              <a:rPr lang="en-IN" sz="3600" dirty="0">
                <a:solidFill>
                  <a:srgbClr val="FF0000"/>
                </a:solidFill>
              </a:rPr>
              <a:t>x</a:t>
            </a:r>
            <a:r>
              <a:rPr lang="en-IN" sz="3600" baseline="-25000" dirty="0">
                <a:solidFill>
                  <a:srgbClr val="FF0000"/>
                </a:solidFill>
              </a:rPr>
              <a:t>1</a:t>
            </a:r>
            <a:r>
              <a:rPr lang="en-IN" sz="3600" dirty="0">
                <a:solidFill>
                  <a:srgbClr val="FF0000"/>
                </a:solidFill>
              </a:rPr>
              <a:t>- x</a:t>
            </a:r>
            <a:r>
              <a:rPr lang="en-IN" sz="3600" baseline="-25000" dirty="0">
                <a:solidFill>
                  <a:srgbClr val="FF0000"/>
                </a:solidFill>
              </a:rPr>
              <a:t>3</a:t>
            </a:r>
            <a:r>
              <a:rPr lang="en-IN" sz="3600" dirty="0">
                <a:solidFill>
                  <a:srgbClr val="FF0000"/>
                </a:solidFill>
              </a:rPr>
              <a:t>) - y</a:t>
            </a:r>
            <a:r>
              <a:rPr lang="en-IN" sz="3600" baseline="-25000" dirty="0">
                <a:solidFill>
                  <a:srgbClr val="FF0000"/>
                </a:solidFill>
              </a:rPr>
              <a:t>1 </a:t>
            </a:r>
            <a:r>
              <a:rPr lang="en-IN" sz="3600" dirty="0">
                <a:solidFill>
                  <a:srgbClr val="FF0000"/>
                </a:solidFill>
              </a:rPr>
              <a:t>mod p</a:t>
            </a:r>
          </a:p>
          <a:p>
            <a:pPr algn="just">
              <a:buNone/>
            </a:pPr>
            <a:r>
              <a:rPr lang="en-IN" sz="3600" dirty="0"/>
              <a:t>	Where </a:t>
            </a:r>
            <a:r>
              <a:rPr lang="en-IN" sz="3600" dirty="0">
                <a:solidFill>
                  <a:srgbClr val="FF0000"/>
                </a:solidFill>
                <a:sym typeface="Symbol"/>
              </a:rPr>
              <a:t> = </a:t>
            </a:r>
            <a:r>
              <a:rPr lang="en-IN" sz="3600" dirty="0">
                <a:solidFill>
                  <a:srgbClr val="FF0000"/>
                </a:solidFill>
              </a:rPr>
              <a:t> [(y</a:t>
            </a:r>
            <a:r>
              <a:rPr lang="en-IN" sz="3600" baseline="-25000" dirty="0">
                <a:solidFill>
                  <a:srgbClr val="FF0000"/>
                </a:solidFill>
              </a:rPr>
              <a:t>2</a:t>
            </a:r>
            <a:r>
              <a:rPr lang="en-IN" sz="3600" dirty="0">
                <a:solidFill>
                  <a:srgbClr val="FF0000"/>
                </a:solidFill>
              </a:rPr>
              <a:t>-y</a:t>
            </a:r>
            <a:r>
              <a:rPr lang="en-IN" sz="3600" baseline="-25000" dirty="0">
                <a:solidFill>
                  <a:srgbClr val="FF0000"/>
                </a:solidFill>
              </a:rPr>
              <a:t>1</a:t>
            </a:r>
            <a:r>
              <a:rPr lang="en-IN" sz="3600" dirty="0">
                <a:solidFill>
                  <a:srgbClr val="FF0000"/>
                </a:solidFill>
              </a:rPr>
              <a:t>)/(x</a:t>
            </a:r>
            <a:r>
              <a:rPr lang="en-IN" sz="3600" baseline="-25000" dirty="0">
                <a:solidFill>
                  <a:srgbClr val="FF0000"/>
                </a:solidFill>
              </a:rPr>
              <a:t>2</a:t>
            </a:r>
            <a:r>
              <a:rPr lang="en-IN" sz="3600" dirty="0">
                <a:solidFill>
                  <a:srgbClr val="FF0000"/>
                </a:solidFill>
              </a:rPr>
              <a:t>- x</a:t>
            </a:r>
            <a:r>
              <a:rPr lang="en-IN" sz="3600" baseline="-25000" dirty="0">
                <a:solidFill>
                  <a:srgbClr val="FF0000"/>
                </a:solidFill>
              </a:rPr>
              <a:t>1</a:t>
            </a:r>
            <a:r>
              <a:rPr lang="en-IN" sz="3600" dirty="0">
                <a:solidFill>
                  <a:srgbClr val="FF0000"/>
                </a:solidFill>
              </a:rPr>
              <a:t>) ]mod p and </a:t>
            </a:r>
            <a:r>
              <a:rPr lang="en-IN" sz="3600" b="1" dirty="0">
                <a:solidFill>
                  <a:srgbClr val="FF0000"/>
                </a:solidFill>
              </a:rPr>
              <a:t>P ≠ Q</a:t>
            </a:r>
            <a:r>
              <a:rPr lang="en-IN" sz="3600" dirty="0">
                <a:solidFill>
                  <a:srgbClr val="FF0000"/>
                </a:solidFill>
              </a:rPr>
              <a:t> </a:t>
            </a:r>
          </a:p>
          <a:p>
            <a:pPr algn="just"/>
            <a:endParaRPr lang="en-IN" sz="3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304800" y="152400"/>
            <a:ext cx="9753600" cy="1143000"/>
          </a:xfrm>
        </p:spPr>
        <p:txBody>
          <a:bodyPr>
            <a:normAutofit fontScale="90000"/>
          </a:bodyPr>
          <a:lstStyle/>
          <a:p>
            <a:r>
              <a:rPr lang="en-IN" dirty="0"/>
              <a:t>Example – Find R with (3,8) + (6,5) on E</a:t>
            </a:r>
            <a:r>
              <a:rPr lang="en-IN" baseline="-25000" dirty="0"/>
              <a:t>11</a:t>
            </a:r>
            <a:r>
              <a:rPr lang="en-IN" dirty="0"/>
              <a:t>(1,1)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IN" dirty="0"/>
              <a:t>Let us take P = (3,8) and Q = (6,5), here Q ≠ -P and P ≠ Q. </a:t>
            </a:r>
          </a:p>
          <a:p>
            <a:pPr algn="just"/>
            <a:r>
              <a:rPr lang="en-IN" dirty="0"/>
              <a:t>Given; (</a:t>
            </a: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x</a:t>
            </a:r>
            <a:r>
              <a:rPr lang="en-IN" baseline="-25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</a:t>
            </a:r>
            <a:r>
              <a:rPr lang="en-IN" dirty="0"/>
              <a:t>,</a:t>
            </a: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y</a:t>
            </a:r>
            <a:r>
              <a:rPr lang="en-IN" baseline="-25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</a:t>
            </a:r>
            <a:r>
              <a:rPr lang="en-IN" dirty="0"/>
              <a:t>) = (3,8) and (</a:t>
            </a: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x</a:t>
            </a:r>
            <a:r>
              <a:rPr lang="en-IN" baseline="-25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2</a:t>
            </a:r>
            <a:r>
              <a:rPr lang="en-IN" dirty="0"/>
              <a:t>,</a:t>
            </a: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y</a:t>
            </a:r>
            <a:r>
              <a:rPr lang="en-IN" baseline="-25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2</a:t>
            </a:r>
            <a:r>
              <a:rPr lang="en-IN" dirty="0"/>
              <a:t>) = (6,5)</a:t>
            </a:r>
          </a:p>
          <a:p>
            <a:pPr marL="571500" indent="-571500" algn="just">
              <a:buNone/>
            </a:pPr>
            <a:r>
              <a:rPr lang="en-IN" dirty="0"/>
              <a:t>1. Compute </a:t>
            </a:r>
            <a:r>
              <a:rPr lang="en-IN" dirty="0">
                <a:solidFill>
                  <a:srgbClr val="FF0000"/>
                </a:solidFill>
                <a:sym typeface="Symbol"/>
              </a:rPr>
              <a:t> = </a:t>
            </a:r>
            <a:r>
              <a:rPr lang="en-IN" dirty="0">
                <a:solidFill>
                  <a:srgbClr val="FF0000"/>
                </a:solidFill>
              </a:rPr>
              <a:t> [(y</a:t>
            </a:r>
            <a:r>
              <a:rPr lang="en-IN" baseline="-25000" dirty="0">
                <a:solidFill>
                  <a:srgbClr val="FF0000"/>
                </a:solidFill>
              </a:rPr>
              <a:t>2</a:t>
            </a:r>
            <a:r>
              <a:rPr lang="en-IN" dirty="0">
                <a:solidFill>
                  <a:srgbClr val="FF0000"/>
                </a:solidFill>
              </a:rPr>
              <a:t>-y</a:t>
            </a:r>
            <a:r>
              <a:rPr lang="en-IN" baseline="-25000" dirty="0">
                <a:solidFill>
                  <a:srgbClr val="FF0000"/>
                </a:solidFill>
              </a:rPr>
              <a:t>1</a:t>
            </a:r>
            <a:r>
              <a:rPr lang="en-IN" dirty="0">
                <a:solidFill>
                  <a:srgbClr val="FF0000"/>
                </a:solidFill>
              </a:rPr>
              <a:t>)/(x</a:t>
            </a:r>
            <a:r>
              <a:rPr lang="en-IN" baseline="-25000" dirty="0">
                <a:solidFill>
                  <a:srgbClr val="FF0000"/>
                </a:solidFill>
              </a:rPr>
              <a:t>2</a:t>
            </a:r>
            <a:r>
              <a:rPr lang="en-IN" dirty="0">
                <a:solidFill>
                  <a:srgbClr val="FF0000"/>
                </a:solidFill>
              </a:rPr>
              <a:t>- x</a:t>
            </a:r>
            <a:r>
              <a:rPr lang="en-IN" baseline="-25000" dirty="0">
                <a:solidFill>
                  <a:srgbClr val="FF0000"/>
                </a:solidFill>
              </a:rPr>
              <a:t>1</a:t>
            </a:r>
            <a:r>
              <a:rPr lang="en-IN" dirty="0">
                <a:solidFill>
                  <a:srgbClr val="FF0000"/>
                </a:solidFill>
              </a:rPr>
              <a:t>) ]mod p </a:t>
            </a:r>
          </a:p>
          <a:p>
            <a:pPr algn="just">
              <a:buNone/>
            </a:pP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  <a:sym typeface="Symbol"/>
              </a:rPr>
              <a:t>                         = </a:t>
            </a: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[(5-8)/(6-3) ]mod 11</a:t>
            </a:r>
          </a:p>
          <a:p>
            <a:pPr algn="just">
              <a:buNone/>
            </a:pP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  <a:sym typeface="Symbol"/>
              </a:rPr>
              <a:t>			     = </a:t>
            </a: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[(-3)/3 ]mod 11</a:t>
            </a:r>
          </a:p>
          <a:p>
            <a:pPr algn="just">
              <a:buNone/>
            </a:pP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		     = -1 mod 11</a:t>
            </a:r>
          </a:p>
          <a:p>
            <a:pPr algn="just">
              <a:buNone/>
            </a:pP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                 = 11 – (1 mod 11) = 11 -1 = 10</a:t>
            </a:r>
          </a:p>
          <a:p>
            <a:pPr algn="just">
              <a:buNone/>
            </a:pP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  <a:sym typeface="Symbol"/>
              </a:rPr>
              <a:t>                     </a:t>
            </a:r>
            <a:r>
              <a:rPr lang="en-IN" b="1" dirty="0">
                <a:solidFill>
                  <a:schemeClr val="tx1">
                    <a:lumMod val="85000"/>
                    <a:lumOff val="15000"/>
                  </a:schemeClr>
                </a:solidFill>
                <a:sym typeface="Symbol"/>
              </a:rPr>
              <a:t> </a:t>
            </a:r>
            <a:r>
              <a:rPr lang="en-IN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= 10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867400"/>
          </a:xfrm>
        </p:spPr>
        <p:txBody>
          <a:bodyPr>
            <a:normAutofit fontScale="92500" lnSpcReduction="20000"/>
          </a:bodyPr>
          <a:lstStyle/>
          <a:p>
            <a:pPr marL="571500" indent="-571500" algn="just">
              <a:buNone/>
            </a:pPr>
            <a:r>
              <a:rPr lang="en-IN" dirty="0"/>
              <a:t>2. Compute </a:t>
            </a:r>
            <a:r>
              <a:rPr lang="en-IN" dirty="0">
                <a:solidFill>
                  <a:srgbClr val="FF0000"/>
                </a:solidFill>
              </a:rPr>
              <a:t>x</a:t>
            </a:r>
            <a:r>
              <a:rPr lang="en-IN" baseline="-25000" dirty="0">
                <a:solidFill>
                  <a:srgbClr val="FF0000"/>
                </a:solidFill>
              </a:rPr>
              <a:t>3</a:t>
            </a:r>
            <a:r>
              <a:rPr lang="en-IN" dirty="0">
                <a:solidFill>
                  <a:srgbClr val="FF0000"/>
                </a:solidFill>
              </a:rPr>
              <a:t> = </a:t>
            </a:r>
            <a:r>
              <a:rPr lang="en-IN" dirty="0">
                <a:solidFill>
                  <a:srgbClr val="FF0000"/>
                </a:solidFill>
                <a:sym typeface="Symbol"/>
              </a:rPr>
              <a:t></a:t>
            </a:r>
            <a:r>
              <a:rPr lang="en-IN" baseline="30000" dirty="0">
                <a:solidFill>
                  <a:srgbClr val="FF0000"/>
                </a:solidFill>
                <a:sym typeface="Symbol"/>
              </a:rPr>
              <a:t>2</a:t>
            </a:r>
            <a:r>
              <a:rPr lang="en-IN" dirty="0">
                <a:solidFill>
                  <a:srgbClr val="FF0000"/>
                </a:solidFill>
                <a:sym typeface="Symbol"/>
              </a:rPr>
              <a:t> - </a:t>
            </a:r>
            <a:r>
              <a:rPr lang="en-IN" dirty="0">
                <a:solidFill>
                  <a:srgbClr val="FF0000"/>
                </a:solidFill>
              </a:rPr>
              <a:t>x</a:t>
            </a:r>
            <a:r>
              <a:rPr lang="en-IN" baseline="-25000" dirty="0">
                <a:solidFill>
                  <a:srgbClr val="FF0000"/>
                </a:solidFill>
              </a:rPr>
              <a:t>1</a:t>
            </a:r>
            <a:r>
              <a:rPr lang="en-IN" dirty="0">
                <a:solidFill>
                  <a:srgbClr val="FF0000"/>
                </a:solidFill>
              </a:rPr>
              <a:t>- x</a:t>
            </a:r>
            <a:r>
              <a:rPr lang="en-IN" baseline="-25000" dirty="0">
                <a:solidFill>
                  <a:srgbClr val="FF0000"/>
                </a:solidFill>
              </a:rPr>
              <a:t>2</a:t>
            </a:r>
            <a:r>
              <a:rPr lang="en-IN" dirty="0">
                <a:solidFill>
                  <a:srgbClr val="FF0000"/>
                </a:solidFill>
              </a:rPr>
              <a:t> mod p</a:t>
            </a:r>
          </a:p>
          <a:p>
            <a:pPr marL="571500" indent="-571500" algn="just">
              <a:buNone/>
            </a:pPr>
            <a:r>
              <a:rPr lang="en-IN" dirty="0">
                <a:solidFill>
                  <a:srgbClr val="FF0000"/>
                </a:solidFill>
              </a:rPr>
              <a:t>			      </a:t>
            </a: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= </a:t>
            </a: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  <a:sym typeface="Symbol"/>
              </a:rPr>
              <a:t>10</a:t>
            </a:r>
            <a:r>
              <a:rPr lang="en-IN" baseline="30000" dirty="0">
                <a:solidFill>
                  <a:schemeClr val="tx1">
                    <a:lumMod val="85000"/>
                    <a:lumOff val="15000"/>
                  </a:schemeClr>
                </a:solidFill>
                <a:sym typeface="Symbol"/>
              </a:rPr>
              <a:t>2</a:t>
            </a: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  <a:sym typeface="Symbol"/>
              </a:rPr>
              <a:t> – 3 –</a:t>
            </a: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6 mod 11</a:t>
            </a:r>
          </a:p>
          <a:p>
            <a:pPr marL="571500" indent="-571500" algn="just">
              <a:buNone/>
            </a:pPr>
            <a:r>
              <a:rPr lang="en-IN" dirty="0"/>
              <a:t> 			      = 100 – 9 </a:t>
            </a: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mod 11 = 91 mod 11</a:t>
            </a:r>
          </a:p>
          <a:p>
            <a:pPr marL="571500" indent="-571500" algn="just">
              <a:buNone/>
            </a:pPr>
            <a:r>
              <a:rPr lang="en-IN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		  x</a:t>
            </a:r>
            <a:r>
              <a:rPr lang="en-IN" b="1" baseline="-25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3 </a:t>
            </a:r>
            <a:r>
              <a:rPr lang="en-IN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= 3</a:t>
            </a:r>
          </a:p>
          <a:p>
            <a:pPr marL="571500" indent="-571500" algn="just">
              <a:buNone/>
            </a:pP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3. Compute </a:t>
            </a:r>
            <a:r>
              <a:rPr lang="en-IN" dirty="0">
                <a:solidFill>
                  <a:srgbClr val="FF0000"/>
                </a:solidFill>
              </a:rPr>
              <a:t>y</a:t>
            </a:r>
            <a:r>
              <a:rPr lang="en-IN" baseline="-25000" dirty="0">
                <a:solidFill>
                  <a:srgbClr val="FF0000"/>
                </a:solidFill>
              </a:rPr>
              <a:t>3</a:t>
            </a:r>
            <a:r>
              <a:rPr lang="en-IN" dirty="0">
                <a:solidFill>
                  <a:srgbClr val="FF0000"/>
                </a:solidFill>
              </a:rPr>
              <a:t> = </a:t>
            </a:r>
            <a:r>
              <a:rPr lang="en-IN" dirty="0">
                <a:solidFill>
                  <a:srgbClr val="FF0000"/>
                </a:solidFill>
                <a:sym typeface="Symbol"/>
              </a:rPr>
              <a:t> (</a:t>
            </a:r>
            <a:r>
              <a:rPr lang="en-IN" dirty="0">
                <a:solidFill>
                  <a:srgbClr val="FF0000"/>
                </a:solidFill>
              </a:rPr>
              <a:t>x</a:t>
            </a:r>
            <a:r>
              <a:rPr lang="en-IN" baseline="-25000" dirty="0">
                <a:solidFill>
                  <a:srgbClr val="FF0000"/>
                </a:solidFill>
              </a:rPr>
              <a:t>1</a:t>
            </a:r>
            <a:r>
              <a:rPr lang="en-IN" dirty="0">
                <a:solidFill>
                  <a:srgbClr val="FF0000"/>
                </a:solidFill>
              </a:rPr>
              <a:t>- x</a:t>
            </a:r>
            <a:r>
              <a:rPr lang="en-IN" baseline="-25000" dirty="0">
                <a:solidFill>
                  <a:srgbClr val="FF0000"/>
                </a:solidFill>
              </a:rPr>
              <a:t>3</a:t>
            </a:r>
            <a:r>
              <a:rPr lang="en-IN" dirty="0">
                <a:solidFill>
                  <a:srgbClr val="FF0000"/>
                </a:solidFill>
              </a:rPr>
              <a:t>) - y</a:t>
            </a:r>
            <a:r>
              <a:rPr lang="en-IN" baseline="-25000" dirty="0">
                <a:solidFill>
                  <a:srgbClr val="FF0000"/>
                </a:solidFill>
              </a:rPr>
              <a:t>1 </a:t>
            </a:r>
            <a:r>
              <a:rPr lang="en-IN" dirty="0">
                <a:solidFill>
                  <a:srgbClr val="FF0000"/>
                </a:solidFill>
              </a:rPr>
              <a:t>mod p</a:t>
            </a:r>
          </a:p>
          <a:p>
            <a:pPr marL="571500" indent="-571500" algn="just">
              <a:buNone/>
            </a:pPr>
            <a:r>
              <a:rPr lang="en-IN" dirty="0">
                <a:solidFill>
                  <a:srgbClr val="FF0000"/>
                </a:solidFill>
              </a:rPr>
              <a:t>			      </a:t>
            </a: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= </a:t>
            </a: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  <a:sym typeface="Symbol"/>
              </a:rPr>
              <a:t>10 (3 </a:t>
            </a: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- 3) - 8</a:t>
            </a:r>
            <a:r>
              <a:rPr lang="en-IN" baseline="-25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mod 11</a:t>
            </a:r>
          </a:p>
          <a:p>
            <a:pPr marL="571500" indent="-571500" algn="just">
              <a:buNone/>
            </a:pP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			      = – 8 mod 11</a:t>
            </a:r>
          </a:p>
          <a:p>
            <a:pPr marL="571500" indent="-571500" algn="just">
              <a:buNone/>
            </a:pPr>
            <a:r>
              <a:rPr lang="en-IN" dirty="0"/>
              <a:t>                          = 11 – (8 mod 11) = 11 – 8 = 3</a:t>
            </a:r>
          </a:p>
          <a:p>
            <a:pPr marL="571500" indent="-571500" algn="just">
              <a:buNone/>
            </a:pPr>
            <a:r>
              <a:rPr lang="en-IN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		  y</a:t>
            </a:r>
            <a:r>
              <a:rPr lang="en-IN" b="1" baseline="-25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3</a:t>
            </a:r>
            <a:r>
              <a:rPr lang="en-IN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= 3</a:t>
            </a:r>
          </a:p>
          <a:p>
            <a:pPr marL="571500" indent="-571500" algn="just">
              <a:buNone/>
            </a:pP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Hence, by adding (3,8) and (6,5) , we will get the resultant point (3,3). </a:t>
            </a:r>
          </a:p>
          <a:p>
            <a:pPr marL="571500" indent="-571500" algn="just">
              <a:buNone/>
            </a:pP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Now we need to check whether this resultant point (3,3) lies on the curve </a:t>
            </a:r>
            <a:r>
              <a:rPr lang="en-IN" dirty="0"/>
              <a:t>E</a:t>
            </a:r>
            <a:r>
              <a:rPr lang="en-IN" baseline="-25000" dirty="0"/>
              <a:t>11</a:t>
            </a:r>
            <a:r>
              <a:rPr lang="en-IN" dirty="0"/>
              <a:t>(1,1)</a:t>
            </a: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Check (3,3) lies on E</a:t>
            </a:r>
            <a:r>
              <a:rPr lang="en-IN" baseline="-25000" dirty="0"/>
              <a:t>11</a:t>
            </a:r>
            <a:r>
              <a:rPr lang="en-IN" dirty="0"/>
              <a:t>(1,1)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953000"/>
          </a:xfrm>
        </p:spPr>
        <p:txBody>
          <a:bodyPr>
            <a:normAutofit fontScale="92500"/>
          </a:bodyPr>
          <a:lstStyle/>
          <a:p>
            <a:pPr algn="just"/>
            <a:r>
              <a:rPr lang="en-IN" dirty="0"/>
              <a:t>Let us consider the equation,</a:t>
            </a:r>
          </a:p>
          <a:p>
            <a:pPr algn="just">
              <a:buNone/>
            </a:pPr>
            <a:r>
              <a:rPr lang="en-IN" dirty="0"/>
              <a:t>         Y</a:t>
            </a:r>
            <a:r>
              <a:rPr lang="en-IN" baseline="30000" dirty="0"/>
              <a:t>2 </a:t>
            </a:r>
            <a:r>
              <a:rPr lang="en-IN" dirty="0">
                <a:sym typeface="Symbol"/>
              </a:rPr>
              <a:t>mod 11 =</a:t>
            </a:r>
            <a:r>
              <a:rPr lang="en-IN" b="1" dirty="0">
                <a:sym typeface="Symbol"/>
              </a:rPr>
              <a:t> </a:t>
            </a:r>
            <a:r>
              <a:rPr lang="en-IN" dirty="0"/>
              <a:t> X</a:t>
            </a:r>
            <a:r>
              <a:rPr lang="en-IN" baseline="30000" dirty="0"/>
              <a:t>3</a:t>
            </a:r>
            <a:r>
              <a:rPr lang="en-IN" dirty="0"/>
              <a:t> + X + 1 mod 11</a:t>
            </a:r>
          </a:p>
          <a:p>
            <a:pPr algn="just"/>
            <a:r>
              <a:rPr lang="en-IN" dirty="0"/>
              <a:t>Substitute X = 3 and Y = 3 in the above equation ;</a:t>
            </a:r>
          </a:p>
          <a:p>
            <a:pPr algn="just">
              <a:buNone/>
            </a:pPr>
            <a:r>
              <a:rPr lang="en-IN" dirty="0"/>
              <a:t>		3</a:t>
            </a:r>
            <a:r>
              <a:rPr lang="en-IN" baseline="30000" dirty="0"/>
              <a:t>2 </a:t>
            </a:r>
            <a:r>
              <a:rPr lang="en-IN" dirty="0">
                <a:sym typeface="Symbol"/>
              </a:rPr>
              <a:t>mod 11 =</a:t>
            </a:r>
            <a:r>
              <a:rPr lang="en-IN" b="1" dirty="0">
                <a:sym typeface="Symbol"/>
              </a:rPr>
              <a:t> </a:t>
            </a:r>
            <a:r>
              <a:rPr lang="en-IN" dirty="0"/>
              <a:t> 3</a:t>
            </a:r>
            <a:r>
              <a:rPr lang="en-IN" baseline="30000" dirty="0"/>
              <a:t>3</a:t>
            </a:r>
            <a:r>
              <a:rPr lang="en-IN" dirty="0"/>
              <a:t> + 3 + 1 mod 11</a:t>
            </a:r>
          </a:p>
          <a:p>
            <a:pPr algn="just">
              <a:buNone/>
            </a:pPr>
            <a:r>
              <a:rPr lang="en-IN" dirty="0"/>
              <a:t>			      9 = 31 mod 11</a:t>
            </a:r>
          </a:p>
          <a:p>
            <a:pPr algn="just">
              <a:buNone/>
            </a:pPr>
            <a:r>
              <a:rPr lang="en-IN" dirty="0"/>
              <a:t>    		      9 = 9</a:t>
            </a:r>
          </a:p>
          <a:p>
            <a:pPr algn="just">
              <a:buNone/>
            </a:pPr>
            <a:r>
              <a:rPr lang="en-IN" dirty="0"/>
              <a:t>It satisfies the equation. Therefore, the resultant point (3,3) is also lies in the elliptic group E</a:t>
            </a:r>
            <a:r>
              <a:rPr lang="en-IN" baseline="-25000" dirty="0"/>
              <a:t>11</a:t>
            </a:r>
            <a:r>
              <a:rPr lang="en-IN" dirty="0"/>
              <a:t>(1,1). </a:t>
            </a:r>
          </a:p>
          <a:p>
            <a:pPr algn="just"/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8099"/>
            <a:ext cx="8229600" cy="876301"/>
          </a:xfrm>
        </p:spPr>
        <p:txBody>
          <a:bodyPr/>
          <a:lstStyle/>
          <a:p>
            <a:r>
              <a:rPr lang="en-IN" dirty="0"/>
              <a:t>(b) Adding a point ‘P’ with ‘P’ 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1066800"/>
            <a:ext cx="8991600" cy="4571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1524000" y="5562600"/>
            <a:ext cx="39424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/>
              <a:t>Visual representation of P + P</a:t>
            </a:r>
          </a:p>
        </p:txBody>
      </p:sp>
      <p:sp>
        <p:nvSpPr>
          <p:cNvPr id="7" name="Rectangle 6"/>
          <p:cNvSpPr/>
          <p:nvPr/>
        </p:nvSpPr>
        <p:spPr>
          <a:xfrm>
            <a:off x="5638800" y="4419600"/>
            <a:ext cx="3200400" cy="2057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b="1" u="sng" dirty="0"/>
              <a:t>NOTE: </a:t>
            </a:r>
            <a:r>
              <a:rPr lang="en-IN" b="1" dirty="0"/>
              <a:t>Doubling of points </a:t>
            </a:r>
          </a:p>
          <a:p>
            <a:r>
              <a:rPr lang="en-IN" b="1" dirty="0"/>
              <a:t>              (Multiplication)</a:t>
            </a:r>
          </a:p>
          <a:p>
            <a:r>
              <a:rPr lang="en-IN" dirty="0"/>
              <a:t>2P = P + P</a:t>
            </a:r>
          </a:p>
          <a:p>
            <a:r>
              <a:rPr lang="en-IN" dirty="0"/>
              <a:t>3P = P + P + P</a:t>
            </a:r>
          </a:p>
          <a:p>
            <a:r>
              <a:rPr lang="en-IN" dirty="0"/>
              <a:t>4P = P + P + P + P</a:t>
            </a:r>
          </a:p>
          <a:p>
            <a:r>
              <a:rPr lang="en-IN" dirty="0"/>
              <a:t>…………….</a:t>
            </a:r>
          </a:p>
          <a:p>
            <a:r>
              <a:rPr lang="en-IN" dirty="0"/>
              <a:t>NP = Adding ‘P’, N times 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ECDLP (EC Discrete Logarithm Problem)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00600"/>
          </a:xfrm>
        </p:spPr>
        <p:txBody>
          <a:bodyPr>
            <a:normAutofit fontScale="92500"/>
          </a:bodyPr>
          <a:lstStyle/>
          <a:p>
            <a:pPr algn="just"/>
            <a:r>
              <a:rPr lang="en-IN" dirty="0"/>
              <a:t>Suppose that you are given two points P and Q.</a:t>
            </a:r>
          </a:p>
          <a:p>
            <a:pPr algn="just"/>
            <a:r>
              <a:rPr lang="en-IN" dirty="0"/>
              <a:t>The ECDLP is to find an integer ‘n’ satisfying </a:t>
            </a:r>
          </a:p>
          <a:p>
            <a:pPr algn="just">
              <a:buNone/>
            </a:pPr>
            <a:r>
              <a:rPr lang="en-IN" dirty="0"/>
              <a:t>		Q = P + P +……..+ P  = </a:t>
            </a:r>
            <a:r>
              <a:rPr lang="en-IN" dirty="0" err="1"/>
              <a:t>nP</a:t>
            </a:r>
            <a:endParaRPr lang="en-IN" dirty="0"/>
          </a:p>
          <a:p>
            <a:pPr algn="just"/>
            <a:r>
              <a:rPr lang="en-IN" dirty="0"/>
              <a:t>If prime P is large, then it is very difficult to find ‘n’.</a:t>
            </a:r>
          </a:p>
          <a:p>
            <a:pPr algn="just"/>
            <a:r>
              <a:rPr lang="en-IN" dirty="0"/>
              <a:t>The extreme difficulty of the ECDLP yields highly efficient cryptosystems that are in widespread use protecting everything from your bank account to your government’s secrets.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 + P using algebraic expression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754563"/>
          </a:xfrm>
        </p:spPr>
        <p:txBody>
          <a:bodyPr/>
          <a:lstStyle/>
          <a:p>
            <a:pPr algn="just"/>
            <a:r>
              <a:rPr lang="en-IN" dirty="0"/>
              <a:t>Let us consider the point P(</a:t>
            </a:r>
            <a:r>
              <a:rPr lang="en-IN" dirty="0" err="1"/>
              <a:t>x,y</a:t>
            </a:r>
            <a:r>
              <a:rPr lang="en-IN" dirty="0"/>
              <a:t>) in the elliptic group </a:t>
            </a:r>
            <a:r>
              <a:rPr lang="en-IN" dirty="0" err="1"/>
              <a:t>E</a:t>
            </a:r>
            <a:r>
              <a:rPr lang="en-IN" baseline="-25000" dirty="0" err="1"/>
              <a:t>p</a:t>
            </a:r>
            <a:r>
              <a:rPr lang="en-IN" dirty="0"/>
              <a:t>(</a:t>
            </a:r>
            <a:r>
              <a:rPr lang="en-IN" dirty="0" err="1"/>
              <a:t>a,b</a:t>
            </a:r>
            <a:r>
              <a:rPr lang="en-IN" dirty="0"/>
              <a:t>).</a:t>
            </a:r>
          </a:p>
          <a:p>
            <a:pPr algn="just"/>
            <a:r>
              <a:rPr lang="en-IN" dirty="0"/>
              <a:t>The rules for adding P with P over the elliptic group E</a:t>
            </a:r>
            <a:r>
              <a:rPr lang="en-IN" baseline="-25000" dirty="0"/>
              <a:t>p</a:t>
            </a:r>
            <a:r>
              <a:rPr lang="en-IN" dirty="0"/>
              <a:t>(</a:t>
            </a:r>
            <a:r>
              <a:rPr lang="en-IN" dirty="0" err="1"/>
              <a:t>a,b</a:t>
            </a:r>
            <a:r>
              <a:rPr lang="en-IN" dirty="0"/>
              <a:t>) is;(Here x1=x2 and y1=y2)</a:t>
            </a:r>
          </a:p>
          <a:p>
            <a:pPr algn="just">
              <a:buNone/>
            </a:pPr>
            <a:r>
              <a:rPr lang="en-IN" dirty="0">
                <a:solidFill>
                  <a:srgbClr val="FF0000"/>
                </a:solidFill>
              </a:rPr>
              <a:t>    x</a:t>
            </a:r>
            <a:r>
              <a:rPr lang="en-IN" baseline="-25000" dirty="0">
                <a:solidFill>
                  <a:srgbClr val="FF0000"/>
                </a:solidFill>
              </a:rPr>
              <a:t>3</a:t>
            </a:r>
            <a:r>
              <a:rPr lang="en-IN" dirty="0">
                <a:solidFill>
                  <a:srgbClr val="FF0000"/>
                </a:solidFill>
              </a:rPr>
              <a:t> = </a:t>
            </a:r>
            <a:r>
              <a:rPr lang="en-IN" dirty="0">
                <a:solidFill>
                  <a:srgbClr val="FF0000"/>
                </a:solidFill>
                <a:sym typeface="Symbol"/>
              </a:rPr>
              <a:t></a:t>
            </a:r>
            <a:r>
              <a:rPr lang="en-IN" baseline="30000" dirty="0">
                <a:solidFill>
                  <a:srgbClr val="FF0000"/>
                </a:solidFill>
                <a:sym typeface="Symbol"/>
              </a:rPr>
              <a:t>2</a:t>
            </a:r>
            <a:r>
              <a:rPr lang="en-IN" dirty="0">
                <a:solidFill>
                  <a:srgbClr val="FF0000"/>
                </a:solidFill>
                <a:sym typeface="Symbol"/>
              </a:rPr>
              <a:t> - </a:t>
            </a:r>
            <a:r>
              <a:rPr lang="en-IN" dirty="0">
                <a:solidFill>
                  <a:srgbClr val="FF0000"/>
                </a:solidFill>
              </a:rPr>
              <a:t>x- x mod p</a:t>
            </a:r>
          </a:p>
          <a:p>
            <a:pPr algn="just">
              <a:buNone/>
            </a:pPr>
            <a:r>
              <a:rPr lang="en-IN" dirty="0">
                <a:solidFill>
                  <a:srgbClr val="FF0000"/>
                </a:solidFill>
              </a:rPr>
              <a:t>	y</a:t>
            </a:r>
            <a:r>
              <a:rPr lang="en-IN" baseline="-25000" dirty="0">
                <a:solidFill>
                  <a:srgbClr val="FF0000"/>
                </a:solidFill>
              </a:rPr>
              <a:t>3</a:t>
            </a:r>
            <a:r>
              <a:rPr lang="en-IN" dirty="0">
                <a:solidFill>
                  <a:srgbClr val="FF0000"/>
                </a:solidFill>
              </a:rPr>
              <a:t> = </a:t>
            </a:r>
            <a:r>
              <a:rPr lang="en-IN" dirty="0">
                <a:solidFill>
                  <a:srgbClr val="FF0000"/>
                </a:solidFill>
                <a:sym typeface="Symbol"/>
              </a:rPr>
              <a:t> (</a:t>
            </a:r>
            <a:r>
              <a:rPr lang="en-IN" dirty="0">
                <a:solidFill>
                  <a:srgbClr val="FF0000"/>
                </a:solidFill>
              </a:rPr>
              <a:t>x- x</a:t>
            </a:r>
            <a:r>
              <a:rPr lang="en-IN" baseline="-25000" dirty="0">
                <a:solidFill>
                  <a:srgbClr val="FF0000"/>
                </a:solidFill>
              </a:rPr>
              <a:t>3</a:t>
            </a:r>
            <a:r>
              <a:rPr lang="en-IN" dirty="0">
                <a:solidFill>
                  <a:srgbClr val="FF0000"/>
                </a:solidFill>
              </a:rPr>
              <a:t>) - y</a:t>
            </a:r>
            <a:r>
              <a:rPr lang="en-IN" baseline="-25000" dirty="0">
                <a:solidFill>
                  <a:srgbClr val="FF0000"/>
                </a:solidFill>
              </a:rPr>
              <a:t> </a:t>
            </a:r>
            <a:r>
              <a:rPr lang="en-IN" dirty="0">
                <a:solidFill>
                  <a:srgbClr val="FF0000"/>
                </a:solidFill>
              </a:rPr>
              <a:t>mod p</a:t>
            </a:r>
          </a:p>
          <a:p>
            <a:pPr algn="just">
              <a:buNone/>
            </a:pPr>
            <a:r>
              <a:rPr lang="en-IN" dirty="0"/>
              <a:t>	Where </a:t>
            </a:r>
            <a:r>
              <a:rPr lang="en-IN" dirty="0">
                <a:solidFill>
                  <a:srgbClr val="FF0000"/>
                </a:solidFill>
                <a:sym typeface="Symbol"/>
              </a:rPr>
              <a:t> = </a:t>
            </a:r>
            <a:r>
              <a:rPr lang="en-IN" dirty="0">
                <a:solidFill>
                  <a:srgbClr val="FF0000"/>
                </a:solidFill>
              </a:rPr>
              <a:t> [(3x</a:t>
            </a:r>
            <a:r>
              <a:rPr lang="en-IN" baseline="30000" dirty="0">
                <a:solidFill>
                  <a:srgbClr val="FF0000"/>
                </a:solidFill>
              </a:rPr>
              <a:t>2</a:t>
            </a:r>
            <a:r>
              <a:rPr lang="en-IN" dirty="0">
                <a:solidFill>
                  <a:srgbClr val="FF0000"/>
                </a:solidFill>
              </a:rPr>
              <a:t>+a)/(2y) ]mod p </a:t>
            </a:r>
          </a:p>
          <a:p>
            <a:pPr algn="just"/>
            <a:endParaRPr lang="en-IN" dirty="0"/>
          </a:p>
          <a:p>
            <a:pPr algn="just"/>
            <a:endParaRPr lang="en-IN" dirty="0"/>
          </a:p>
          <a:p>
            <a:pPr algn="just"/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 lnSpcReduction="10000"/>
          </a:bodyPr>
          <a:lstStyle/>
          <a:p>
            <a:r>
              <a:rPr lang="en-IN" dirty="0"/>
              <a:t>P(4,6) over E</a:t>
            </a:r>
            <a:r>
              <a:rPr lang="en-IN" baseline="-25000" dirty="0"/>
              <a:t>11</a:t>
            </a:r>
            <a:r>
              <a:rPr lang="en-IN" dirty="0"/>
              <a:t>(1,1). Find P + P.</a:t>
            </a:r>
          </a:p>
          <a:p>
            <a:pPr algn="just">
              <a:buNone/>
            </a:pPr>
            <a:r>
              <a:rPr lang="en-IN" dirty="0"/>
              <a:t>1. Compute </a:t>
            </a:r>
            <a:r>
              <a:rPr lang="en-IN" dirty="0">
                <a:solidFill>
                  <a:srgbClr val="FF0000"/>
                </a:solidFill>
                <a:sym typeface="Symbol"/>
              </a:rPr>
              <a:t> = </a:t>
            </a:r>
            <a:r>
              <a:rPr lang="en-IN" dirty="0">
                <a:solidFill>
                  <a:srgbClr val="FF0000"/>
                </a:solidFill>
              </a:rPr>
              <a:t> [(3x</a:t>
            </a:r>
            <a:r>
              <a:rPr lang="en-IN" baseline="30000" dirty="0">
                <a:solidFill>
                  <a:srgbClr val="FF0000"/>
                </a:solidFill>
              </a:rPr>
              <a:t>2</a:t>
            </a:r>
            <a:r>
              <a:rPr lang="en-IN" dirty="0">
                <a:solidFill>
                  <a:srgbClr val="FF0000"/>
                </a:solidFill>
              </a:rPr>
              <a:t>+a)/(2y) ]mod p </a:t>
            </a:r>
          </a:p>
          <a:p>
            <a:pPr algn="just">
              <a:buNone/>
            </a:pP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  <a:sym typeface="Symbol"/>
              </a:rPr>
              <a:t>                         =  </a:t>
            </a: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[(3*4</a:t>
            </a:r>
            <a:r>
              <a:rPr lang="en-IN" baseline="30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2</a:t>
            </a: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+1</a:t>
            </a:r>
            <a:r>
              <a:rPr lang="en-IN">
                <a:solidFill>
                  <a:schemeClr val="tx1">
                    <a:lumMod val="85000"/>
                    <a:lumOff val="15000"/>
                  </a:schemeClr>
                </a:solidFill>
              </a:rPr>
              <a:t>)/(2*6) </a:t>
            </a: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]mod 11</a:t>
            </a:r>
          </a:p>
          <a:p>
            <a:pPr algn="just">
              <a:buNone/>
            </a:pP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		     =  (49/12) mod 11</a:t>
            </a:r>
          </a:p>
          <a:p>
            <a:pPr algn="just">
              <a:buNone/>
            </a:pP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                 = 49 mod 11* 12</a:t>
            </a:r>
            <a:r>
              <a:rPr lang="en-IN" baseline="30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-1</a:t>
            </a: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mod 11</a:t>
            </a:r>
          </a:p>
          <a:p>
            <a:pPr algn="just">
              <a:buNone/>
            </a:pP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                 = 5 * 1 </a:t>
            </a:r>
          </a:p>
          <a:p>
            <a:pPr algn="just">
              <a:buNone/>
            </a:pPr>
            <a:r>
              <a:rPr lang="en-IN" b="1" dirty="0">
                <a:solidFill>
                  <a:schemeClr val="tx1">
                    <a:lumMod val="85000"/>
                    <a:lumOff val="15000"/>
                  </a:schemeClr>
                </a:solidFill>
                <a:sym typeface="Symbol"/>
              </a:rPr>
              <a:t>                       </a:t>
            </a:r>
            <a:r>
              <a:rPr lang="en-IN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= 5</a:t>
            </a:r>
          </a:p>
          <a:p>
            <a:pPr algn="just">
              <a:buNone/>
            </a:pPr>
            <a:r>
              <a:rPr lang="en-IN" b="1" u="sng" dirty="0">
                <a:solidFill>
                  <a:schemeClr val="tx1">
                    <a:lumMod val="85000"/>
                    <a:lumOff val="15000"/>
                  </a:schemeClr>
                </a:solidFill>
                <a:sym typeface="Symbol"/>
              </a:rPr>
              <a:t>NOTE:</a:t>
            </a:r>
          </a:p>
          <a:p>
            <a:pPr algn="just">
              <a:buNone/>
            </a:pP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</a:t>
            </a:r>
            <a:r>
              <a:rPr lang="en-IN" baseline="30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-1</a:t>
            </a: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mod 11 =&gt; (12 * d)%11 = 1 =&gt; d = 1</a:t>
            </a:r>
          </a:p>
          <a:p>
            <a:pPr algn="just">
              <a:buNone/>
            </a:pP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>
            <a:normAutofit fontScale="85000" lnSpcReduction="20000"/>
          </a:bodyPr>
          <a:lstStyle/>
          <a:p>
            <a:pPr marL="571500" indent="-571500" algn="just">
              <a:buNone/>
            </a:pPr>
            <a:r>
              <a:rPr lang="en-IN" dirty="0"/>
              <a:t>2. Compute </a:t>
            </a:r>
            <a:r>
              <a:rPr lang="en-IN" dirty="0">
                <a:solidFill>
                  <a:srgbClr val="FF0000"/>
                </a:solidFill>
              </a:rPr>
              <a:t>x</a:t>
            </a:r>
            <a:r>
              <a:rPr lang="en-IN" baseline="-25000" dirty="0">
                <a:solidFill>
                  <a:srgbClr val="FF0000"/>
                </a:solidFill>
              </a:rPr>
              <a:t>3</a:t>
            </a:r>
            <a:r>
              <a:rPr lang="en-IN" dirty="0">
                <a:solidFill>
                  <a:srgbClr val="FF0000"/>
                </a:solidFill>
              </a:rPr>
              <a:t> = </a:t>
            </a:r>
            <a:r>
              <a:rPr lang="en-IN" dirty="0">
                <a:solidFill>
                  <a:srgbClr val="FF0000"/>
                </a:solidFill>
                <a:sym typeface="Symbol"/>
              </a:rPr>
              <a:t></a:t>
            </a:r>
            <a:r>
              <a:rPr lang="en-IN" baseline="30000" dirty="0">
                <a:solidFill>
                  <a:srgbClr val="FF0000"/>
                </a:solidFill>
                <a:sym typeface="Symbol"/>
              </a:rPr>
              <a:t>2</a:t>
            </a:r>
            <a:r>
              <a:rPr lang="en-IN" dirty="0">
                <a:solidFill>
                  <a:srgbClr val="FF0000"/>
                </a:solidFill>
                <a:sym typeface="Symbol"/>
              </a:rPr>
              <a:t> – </a:t>
            </a:r>
            <a:r>
              <a:rPr lang="en-IN" dirty="0">
                <a:solidFill>
                  <a:srgbClr val="FF0000"/>
                </a:solidFill>
              </a:rPr>
              <a:t>x </a:t>
            </a:r>
            <a:r>
              <a:rPr lang="en-IN" dirty="0">
                <a:solidFill>
                  <a:srgbClr val="FF0000"/>
                </a:solidFill>
                <a:sym typeface="Symbol"/>
              </a:rPr>
              <a:t>–</a:t>
            </a:r>
            <a:r>
              <a:rPr lang="en-IN" dirty="0">
                <a:solidFill>
                  <a:srgbClr val="FF0000"/>
                </a:solidFill>
              </a:rPr>
              <a:t> x mod p</a:t>
            </a:r>
          </a:p>
          <a:p>
            <a:pPr marL="571500" indent="-571500" algn="just">
              <a:buNone/>
            </a:pPr>
            <a:r>
              <a:rPr lang="en-IN" dirty="0">
                <a:solidFill>
                  <a:srgbClr val="FF0000"/>
                </a:solidFill>
              </a:rPr>
              <a:t>			      </a:t>
            </a: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= </a:t>
            </a: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  <a:sym typeface="Symbol"/>
              </a:rPr>
              <a:t>5</a:t>
            </a:r>
            <a:r>
              <a:rPr lang="en-IN" baseline="30000" dirty="0">
                <a:solidFill>
                  <a:schemeClr val="tx1">
                    <a:lumMod val="85000"/>
                    <a:lumOff val="15000"/>
                  </a:schemeClr>
                </a:solidFill>
                <a:sym typeface="Symbol"/>
              </a:rPr>
              <a:t>2</a:t>
            </a: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  <a:sym typeface="Symbol"/>
              </a:rPr>
              <a:t> – 4 –</a:t>
            </a: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4 mod 11</a:t>
            </a:r>
          </a:p>
          <a:p>
            <a:pPr marL="571500" indent="-571500" algn="just">
              <a:buNone/>
            </a:pPr>
            <a:r>
              <a:rPr lang="en-IN" dirty="0"/>
              <a:t> 			      = 25 – 8 </a:t>
            </a: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mod 11 = 17 mod 11</a:t>
            </a:r>
          </a:p>
          <a:p>
            <a:pPr marL="571500" indent="-571500" algn="just">
              <a:buNone/>
            </a:pPr>
            <a:r>
              <a:rPr lang="en-IN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		  x</a:t>
            </a:r>
            <a:r>
              <a:rPr lang="en-IN" b="1" baseline="-25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3 </a:t>
            </a:r>
            <a:r>
              <a:rPr lang="en-IN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= 6</a:t>
            </a:r>
          </a:p>
          <a:p>
            <a:pPr marL="571500" indent="-571500" algn="just">
              <a:buNone/>
            </a:pP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3. Compute </a:t>
            </a:r>
            <a:r>
              <a:rPr lang="en-IN" dirty="0">
                <a:solidFill>
                  <a:srgbClr val="FF0000"/>
                </a:solidFill>
              </a:rPr>
              <a:t>y</a:t>
            </a:r>
            <a:r>
              <a:rPr lang="en-IN" baseline="-25000" dirty="0">
                <a:solidFill>
                  <a:srgbClr val="FF0000"/>
                </a:solidFill>
              </a:rPr>
              <a:t>3</a:t>
            </a:r>
            <a:r>
              <a:rPr lang="en-IN" dirty="0">
                <a:solidFill>
                  <a:srgbClr val="FF0000"/>
                </a:solidFill>
              </a:rPr>
              <a:t> = </a:t>
            </a:r>
            <a:r>
              <a:rPr lang="en-IN" dirty="0">
                <a:solidFill>
                  <a:srgbClr val="FF0000"/>
                </a:solidFill>
                <a:sym typeface="Symbol"/>
              </a:rPr>
              <a:t> (</a:t>
            </a:r>
            <a:r>
              <a:rPr lang="en-IN" dirty="0">
                <a:solidFill>
                  <a:srgbClr val="FF0000"/>
                </a:solidFill>
              </a:rPr>
              <a:t>x- x</a:t>
            </a:r>
            <a:r>
              <a:rPr lang="en-IN" baseline="-25000" dirty="0">
                <a:solidFill>
                  <a:srgbClr val="FF0000"/>
                </a:solidFill>
              </a:rPr>
              <a:t>3</a:t>
            </a:r>
            <a:r>
              <a:rPr lang="en-IN" dirty="0">
                <a:solidFill>
                  <a:srgbClr val="FF0000"/>
                </a:solidFill>
              </a:rPr>
              <a:t>) - y</a:t>
            </a:r>
            <a:r>
              <a:rPr lang="en-IN" baseline="-25000" dirty="0">
                <a:solidFill>
                  <a:srgbClr val="FF0000"/>
                </a:solidFill>
              </a:rPr>
              <a:t> </a:t>
            </a:r>
            <a:r>
              <a:rPr lang="en-IN" dirty="0">
                <a:solidFill>
                  <a:srgbClr val="FF0000"/>
                </a:solidFill>
              </a:rPr>
              <a:t>mod p</a:t>
            </a:r>
          </a:p>
          <a:p>
            <a:pPr marL="571500" indent="-571500" algn="just">
              <a:buNone/>
            </a:pPr>
            <a:r>
              <a:rPr lang="en-IN" dirty="0">
                <a:solidFill>
                  <a:srgbClr val="FF0000"/>
                </a:solidFill>
              </a:rPr>
              <a:t>			      </a:t>
            </a: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= </a:t>
            </a: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  <a:sym typeface="Symbol"/>
              </a:rPr>
              <a:t>5 (4 </a:t>
            </a: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- 6) - 6</a:t>
            </a:r>
            <a:r>
              <a:rPr lang="en-IN" baseline="-25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mod 11</a:t>
            </a:r>
          </a:p>
          <a:p>
            <a:pPr marL="571500" indent="-571500" algn="just">
              <a:buNone/>
            </a:pP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			      = 5(– 2) - 6 mod 11</a:t>
            </a:r>
          </a:p>
          <a:p>
            <a:pPr marL="571500" indent="-571500" algn="just">
              <a:buNone/>
            </a:pPr>
            <a:r>
              <a:rPr lang="en-IN" dirty="0"/>
              <a:t>                              = -10 – 6 mod 11 = -16 mod 11 </a:t>
            </a:r>
          </a:p>
          <a:p>
            <a:pPr marL="571500" indent="-571500" algn="just">
              <a:buNone/>
            </a:pPr>
            <a:r>
              <a:rPr lang="en-IN" dirty="0"/>
              <a:t>                              = 11 – (16 mod 11) = 11 – 5 = 6</a:t>
            </a:r>
          </a:p>
          <a:p>
            <a:pPr marL="571500" indent="-571500" algn="just">
              <a:buNone/>
            </a:pPr>
            <a:r>
              <a:rPr lang="en-IN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		  y</a:t>
            </a:r>
            <a:r>
              <a:rPr lang="en-IN" b="1" baseline="-25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3</a:t>
            </a:r>
            <a:r>
              <a:rPr lang="en-IN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= 6</a:t>
            </a:r>
          </a:p>
          <a:p>
            <a:pPr marL="571500" indent="-571500" algn="just">
              <a:buNone/>
            </a:pP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Hence, by adding (4,6) and (4,6) , we will get the resultant point (6,6). </a:t>
            </a:r>
          </a:p>
          <a:p>
            <a:pPr marL="571500" indent="-571500" algn="just">
              <a:buNone/>
            </a:pP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Now we need to check whether this resultant point (6,6) lies on the curve </a:t>
            </a:r>
            <a:r>
              <a:rPr lang="en-IN" dirty="0"/>
              <a:t>E</a:t>
            </a:r>
            <a:r>
              <a:rPr lang="en-IN" baseline="-25000" dirty="0"/>
              <a:t>11</a:t>
            </a:r>
            <a:r>
              <a:rPr lang="en-IN" dirty="0"/>
              <a:t>(1,1)</a:t>
            </a: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</a:p>
          <a:p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Check (6,6) lies onE</a:t>
            </a:r>
            <a:r>
              <a:rPr lang="en-IN" baseline="-25000" dirty="0"/>
              <a:t>11</a:t>
            </a:r>
            <a:r>
              <a:rPr lang="en-IN" dirty="0"/>
              <a:t>(1,1)</a:t>
            </a: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b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IN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 lnSpcReduction="10000"/>
          </a:bodyPr>
          <a:lstStyle/>
          <a:p>
            <a:r>
              <a:rPr lang="en-IN" dirty="0"/>
              <a:t>Consider the equation;</a:t>
            </a:r>
          </a:p>
          <a:p>
            <a:pPr algn="just">
              <a:buNone/>
            </a:pPr>
            <a:r>
              <a:rPr lang="en-IN" dirty="0"/>
              <a:t>       Y</a:t>
            </a:r>
            <a:r>
              <a:rPr lang="en-IN" baseline="30000" dirty="0"/>
              <a:t>2 </a:t>
            </a:r>
            <a:r>
              <a:rPr lang="en-IN" dirty="0">
                <a:sym typeface="Symbol"/>
              </a:rPr>
              <a:t>mod 11 =</a:t>
            </a:r>
            <a:r>
              <a:rPr lang="en-IN" b="1" dirty="0">
                <a:sym typeface="Symbol"/>
              </a:rPr>
              <a:t> </a:t>
            </a:r>
            <a:r>
              <a:rPr lang="en-IN" dirty="0"/>
              <a:t> X</a:t>
            </a:r>
            <a:r>
              <a:rPr lang="en-IN" baseline="30000" dirty="0"/>
              <a:t>3</a:t>
            </a:r>
            <a:r>
              <a:rPr lang="en-IN" dirty="0"/>
              <a:t> + X + 1 mod 11</a:t>
            </a:r>
          </a:p>
          <a:p>
            <a:pPr algn="just"/>
            <a:r>
              <a:rPr lang="en-IN" dirty="0"/>
              <a:t>Substitute X = 6 and Y = 6 in the above equation ;</a:t>
            </a:r>
          </a:p>
          <a:p>
            <a:pPr algn="just">
              <a:buNone/>
            </a:pPr>
            <a:r>
              <a:rPr lang="en-IN" dirty="0"/>
              <a:t>		6</a:t>
            </a:r>
            <a:r>
              <a:rPr lang="en-IN" baseline="30000" dirty="0"/>
              <a:t>2 </a:t>
            </a:r>
            <a:r>
              <a:rPr lang="en-IN" dirty="0">
                <a:sym typeface="Symbol"/>
              </a:rPr>
              <a:t>mod 11 =</a:t>
            </a:r>
            <a:r>
              <a:rPr lang="en-IN" b="1" dirty="0">
                <a:sym typeface="Symbol"/>
              </a:rPr>
              <a:t> </a:t>
            </a:r>
            <a:r>
              <a:rPr lang="en-IN" dirty="0"/>
              <a:t> 6</a:t>
            </a:r>
            <a:r>
              <a:rPr lang="en-IN" baseline="30000" dirty="0"/>
              <a:t>3</a:t>
            </a:r>
            <a:r>
              <a:rPr lang="en-IN" dirty="0"/>
              <a:t> + 6 + 1 mod 11</a:t>
            </a:r>
          </a:p>
          <a:p>
            <a:pPr algn="just">
              <a:buNone/>
            </a:pPr>
            <a:r>
              <a:rPr lang="en-IN" dirty="0"/>
              <a:t>          36 mod 11 = 223 mod 11</a:t>
            </a:r>
          </a:p>
          <a:p>
            <a:pPr algn="just">
              <a:buNone/>
            </a:pPr>
            <a:r>
              <a:rPr lang="en-IN" dirty="0"/>
              <a:t>    		      3 = 3</a:t>
            </a:r>
          </a:p>
          <a:p>
            <a:pPr algn="just">
              <a:buNone/>
            </a:pPr>
            <a:r>
              <a:rPr lang="en-IN" dirty="0"/>
              <a:t>It satisfies the equation. Therefore, the resultant point (6,6) is also lies in the elliptic group E</a:t>
            </a:r>
            <a:r>
              <a:rPr lang="en-IN" baseline="-25000" dirty="0"/>
              <a:t>11</a:t>
            </a:r>
            <a:r>
              <a:rPr lang="en-IN" dirty="0"/>
              <a:t>(1,1).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667000"/>
            <a:ext cx="8229600" cy="1143000"/>
          </a:xfrm>
        </p:spPr>
        <p:txBody>
          <a:bodyPr>
            <a:normAutofit/>
          </a:bodyPr>
          <a:lstStyle/>
          <a:p>
            <a:r>
              <a:rPr lang="en-IN" sz="6600" b="1" dirty="0"/>
              <a:t>Properties of EC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43933"/>
            <a:ext cx="8229600" cy="694267"/>
          </a:xfrm>
        </p:spPr>
        <p:txBody>
          <a:bodyPr>
            <a:normAutofit fontScale="90000"/>
          </a:bodyPr>
          <a:lstStyle/>
          <a:p>
            <a:r>
              <a:rPr lang="en-IN" dirty="0"/>
              <a:t>Properties of EC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66800"/>
            <a:ext cx="9144000" cy="5791200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IN" dirty="0"/>
              <a:t>Consider the EC ‘E’. The set of points on the curve over a finite field Fp. E(</a:t>
            </a:r>
            <a:r>
              <a:rPr lang="en-IN" dirty="0" err="1"/>
              <a:t>Fp</a:t>
            </a:r>
            <a:r>
              <a:rPr lang="en-IN" dirty="0"/>
              <a:t>) is a finite </a:t>
            </a:r>
            <a:r>
              <a:rPr lang="en-IN" dirty="0" err="1"/>
              <a:t>abelian</a:t>
            </a:r>
            <a:r>
              <a:rPr lang="en-IN" dirty="0"/>
              <a:t> group.</a:t>
            </a:r>
          </a:p>
          <a:p>
            <a:pPr algn="just"/>
            <a:r>
              <a:rPr lang="en-IN" dirty="0"/>
              <a:t>Let’s begin by showing that E(</a:t>
            </a:r>
            <a:r>
              <a:rPr lang="en-IN" dirty="0" err="1"/>
              <a:t>Fp</a:t>
            </a:r>
            <a:r>
              <a:rPr lang="en-IN" dirty="0"/>
              <a:t>) is a group.</a:t>
            </a:r>
          </a:p>
          <a:p>
            <a:pPr lvl="1" algn="just"/>
            <a:r>
              <a:rPr lang="en-IN" b="1" dirty="0"/>
              <a:t>Closure:</a:t>
            </a:r>
            <a:r>
              <a:rPr lang="en-IN" dirty="0"/>
              <a:t> Consider points P, Q </a:t>
            </a:r>
            <a:r>
              <a:rPr lang="en-IN" dirty="0">
                <a:sym typeface="Symbol"/>
              </a:rPr>
              <a:t> </a:t>
            </a:r>
            <a:r>
              <a:rPr lang="en-IN" dirty="0"/>
              <a:t>E(</a:t>
            </a:r>
            <a:r>
              <a:rPr lang="en-IN" dirty="0" err="1"/>
              <a:t>Fp</a:t>
            </a:r>
            <a:r>
              <a:rPr lang="en-IN" dirty="0"/>
              <a:t>) then P + Q </a:t>
            </a:r>
            <a:r>
              <a:rPr lang="en-IN" dirty="0">
                <a:sym typeface="Symbol"/>
              </a:rPr>
              <a:t> </a:t>
            </a:r>
            <a:r>
              <a:rPr lang="en-IN" dirty="0"/>
              <a:t>E(</a:t>
            </a:r>
            <a:r>
              <a:rPr lang="en-IN" dirty="0" err="1"/>
              <a:t>Fp</a:t>
            </a:r>
            <a:r>
              <a:rPr lang="en-IN" dirty="0"/>
              <a:t>). Hence closure holds.</a:t>
            </a:r>
          </a:p>
          <a:p>
            <a:pPr lvl="1" algn="just"/>
            <a:r>
              <a:rPr lang="en-IN" b="1" dirty="0"/>
              <a:t>Identity: </a:t>
            </a:r>
            <a:r>
              <a:rPr lang="en-IN" dirty="0"/>
              <a:t>The identity element is the point at infinity O. </a:t>
            </a:r>
          </a:p>
          <a:p>
            <a:pPr marL="457200" lvl="1" indent="0" algn="just">
              <a:buNone/>
            </a:pPr>
            <a:r>
              <a:rPr lang="en-IN" dirty="0"/>
              <a:t>P + O = O + P = P.</a:t>
            </a:r>
          </a:p>
          <a:p>
            <a:pPr lvl="1" algn="just"/>
            <a:r>
              <a:rPr lang="en-IN" b="1" dirty="0"/>
              <a:t>Associativity:</a:t>
            </a:r>
            <a:r>
              <a:rPr lang="en-IN" dirty="0"/>
              <a:t> Consider the points P, Q, R </a:t>
            </a:r>
            <a:r>
              <a:rPr lang="en-IN" dirty="0">
                <a:sym typeface="Symbol"/>
              </a:rPr>
              <a:t> </a:t>
            </a:r>
            <a:r>
              <a:rPr lang="en-IN" dirty="0"/>
              <a:t>E(</a:t>
            </a:r>
            <a:r>
              <a:rPr lang="en-IN" dirty="0" err="1"/>
              <a:t>Fp</a:t>
            </a:r>
            <a:r>
              <a:rPr lang="en-IN" dirty="0"/>
              <a:t>) then</a:t>
            </a:r>
          </a:p>
          <a:p>
            <a:pPr marL="457200" lvl="1" indent="0" algn="just">
              <a:buNone/>
            </a:pPr>
            <a:r>
              <a:rPr lang="en-IN" dirty="0"/>
              <a:t>  (P + Q) + R = P + (Q + R).</a:t>
            </a:r>
          </a:p>
          <a:p>
            <a:pPr lvl="1" algn="just"/>
            <a:r>
              <a:rPr lang="en-IN" b="1" dirty="0"/>
              <a:t>Additive inverse:</a:t>
            </a:r>
            <a:r>
              <a:rPr lang="en-IN" dirty="0"/>
              <a:t> if x2 = x1, and y2 = -y1, that is P = (x1,y1) and Q = (x2,y2) = (x1,-y1) = -P then P + Q = O. </a:t>
            </a:r>
          </a:p>
          <a:p>
            <a:pPr marL="457200" lvl="1" indent="0" algn="just">
              <a:buNone/>
            </a:pPr>
            <a:r>
              <a:rPr lang="en-IN" dirty="0"/>
              <a:t>Hence, E(</a:t>
            </a:r>
            <a:r>
              <a:rPr lang="en-IN" dirty="0" err="1"/>
              <a:t>Fp</a:t>
            </a:r>
            <a:r>
              <a:rPr lang="en-IN" dirty="0"/>
              <a:t>) is a group.</a:t>
            </a:r>
          </a:p>
          <a:p>
            <a:pPr algn="just"/>
            <a:r>
              <a:rPr lang="en-IN" dirty="0"/>
              <a:t>E(</a:t>
            </a:r>
            <a:r>
              <a:rPr lang="en-IN" dirty="0" err="1"/>
              <a:t>Fp</a:t>
            </a:r>
            <a:r>
              <a:rPr lang="en-IN" dirty="0"/>
              <a:t>) is an </a:t>
            </a:r>
            <a:r>
              <a:rPr lang="en-IN" dirty="0" err="1"/>
              <a:t>abelian</a:t>
            </a:r>
            <a:r>
              <a:rPr lang="en-IN" dirty="0"/>
              <a:t>, for points P, Q </a:t>
            </a:r>
            <a:r>
              <a:rPr lang="en-IN" dirty="0">
                <a:sym typeface="Symbol"/>
              </a:rPr>
              <a:t> </a:t>
            </a:r>
            <a:r>
              <a:rPr lang="en-IN" dirty="0"/>
              <a:t>E(</a:t>
            </a:r>
            <a:r>
              <a:rPr lang="en-IN" dirty="0" err="1"/>
              <a:t>Fp</a:t>
            </a:r>
            <a:r>
              <a:rPr lang="en-IN" dirty="0"/>
              <a:t>), P + Q = Q + P. Hence, E(</a:t>
            </a:r>
            <a:r>
              <a:rPr lang="en-IN" dirty="0" err="1"/>
              <a:t>Fp</a:t>
            </a:r>
            <a:r>
              <a:rPr lang="en-IN" dirty="0"/>
              <a:t>) is an </a:t>
            </a:r>
            <a:r>
              <a:rPr lang="en-IN" dirty="0" err="1"/>
              <a:t>abelian</a:t>
            </a:r>
            <a:r>
              <a:rPr lang="en-IN" dirty="0"/>
              <a:t> group.</a:t>
            </a:r>
          </a:p>
          <a:p>
            <a:pPr algn="just"/>
            <a:endParaRPr lang="en-IN" dirty="0"/>
          </a:p>
          <a:p>
            <a:pPr algn="just"/>
            <a:endParaRPr lang="en-IN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819400"/>
            <a:ext cx="8229600" cy="1143000"/>
          </a:xfrm>
        </p:spPr>
        <p:txBody>
          <a:bodyPr>
            <a:noAutofit/>
          </a:bodyPr>
          <a:lstStyle/>
          <a:p>
            <a:r>
              <a:rPr lang="en-IN" sz="5400" b="1" dirty="0"/>
              <a:t>Elliptic Curve Cryptography (ECC)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Elliptic Curve Cryptography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029200"/>
          </a:xfrm>
        </p:spPr>
        <p:txBody>
          <a:bodyPr/>
          <a:lstStyle/>
          <a:p>
            <a:pPr algn="just"/>
            <a:r>
              <a:rPr lang="en-IN" dirty="0"/>
              <a:t>Use the concept of EC in cryptography &amp; it is an </a:t>
            </a:r>
            <a:r>
              <a:rPr lang="en-IN" b="1" dirty="0"/>
              <a:t>Asymmetric cryptography technique.</a:t>
            </a:r>
          </a:p>
          <a:p>
            <a:pPr algn="just"/>
            <a:r>
              <a:rPr lang="en-IN" b="1" u="sng" dirty="0"/>
              <a:t>Steps: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GB" dirty="0"/>
              <a:t>Encode a plain text message as a point on the curve.</a:t>
            </a:r>
            <a:endParaRPr lang="en-IN" dirty="0"/>
          </a:p>
          <a:p>
            <a:pPr marL="514350" lvl="0" indent="-514350">
              <a:buFont typeface="+mj-lt"/>
              <a:buAutoNum type="arabicPeriod"/>
            </a:pPr>
            <a:r>
              <a:rPr lang="en-GB" dirty="0"/>
              <a:t>Establish private key and public key.</a:t>
            </a:r>
            <a:endParaRPr lang="en-IN" dirty="0"/>
          </a:p>
          <a:p>
            <a:pPr marL="514350" lvl="0" indent="-514350">
              <a:buFont typeface="+mj-lt"/>
              <a:buAutoNum type="arabicPeriod"/>
            </a:pPr>
            <a:r>
              <a:rPr lang="en-GB" dirty="0"/>
              <a:t>Encrypt the message using public key.</a:t>
            </a:r>
            <a:endParaRPr lang="en-IN" dirty="0"/>
          </a:p>
          <a:p>
            <a:pPr marL="514350" lvl="0" indent="-514350">
              <a:buFont typeface="+mj-lt"/>
              <a:buAutoNum type="arabicPeriod"/>
            </a:pPr>
            <a:r>
              <a:rPr lang="en-GB" dirty="0"/>
              <a:t>Decrypt the message using private key.</a:t>
            </a:r>
            <a:endParaRPr lang="en-IN" dirty="0"/>
          </a:p>
          <a:p>
            <a:pPr marL="514350" indent="-514350" algn="just">
              <a:buFont typeface="+mj-lt"/>
              <a:buAutoNum type="arabicPeriod"/>
            </a:pPr>
            <a:endParaRPr lang="en-IN" dirty="0"/>
          </a:p>
          <a:p>
            <a:pPr algn="just"/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Step-1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Autofit/>
          </a:bodyPr>
          <a:lstStyle/>
          <a:p>
            <a:pPr algn="just"/>
            <a:r>
              <a:rPr lang="en-IN" sz="3600" b="1" dirty="0"/>
              <a:t>Encode the plaintext m to be sent as an x-y  point P</a:t>
            </a:r>
            <a:r>
              <a:rPr lang="en-IN" sz="3600" b="1" baseline="-25000" dirty="0"/>
              <a:t>m</a:t>
            </a:r>
            <a:r>
              <a:rPr lang="en-IN" sz="3600" b="1" dirty="0"/>
              <a:t>.</a:t>
            </a:r>
          </a:p>
          <a:p>
            <a:pPr algn="just"/>
            <a:r>
              <a:rPr lang="en-IN" dirty="0"/>
              <a:t>There are relatively straightforward techniques to perform such mappings.</a:t>
            </a:r>
          </a:p>
          <a:p>
            <a:r>
              <a:rPr lang="en-IN" sz="3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Require a point G and an elliptic group </a:t>
            </a:r>
            <a:r>
              <a:rPr lang="en-IN" dirty="0" err="1"/>
              <a:t>E</a:t>
            </a:r>
            <a:r>
              <a:rPr lang="en-IN" baseline="-25000" dirty="0" err="1"/>
              <a:t>p</a:t>
            </a:r>
            <a:r>
              <a:rPr lang="en-IN" dirty="0"/>
              <a:t>(</a:t>
            </a:r>
            <a:r>
              <a:rPr lang="en-IN" dirty="0" err="1"/>
              <a:t>a,b</a:t>
            </a:r>
            <a:r>
              <a:rPr lang="en-IN" dirty="0"/>
              <a:t>) as parameters.</a:t>
            </a:r>
          </a:p>
          <a:p>
            <a:r>
              <a:rPr lang="en-IN" dirty="0"/>
              <a:t>Example: </a:t>
            </a:r>
          </a:p>
          <a:p>
            <a:pPr>
              <a:buNone/>
            </a:pPr>
            <a:r>
              <a:rPr lang="en-IN" dirty="0"/>
              <a:t>     </a:t>
            </a:r>
            <a:r>
              <a:rPr lang="en-IN" b="1" dirty="0"/>
              <a:t>Let us take P</a:t>
            </a:r>
            <a:r>
              <a:rPr lang="en-IN" b="1" baseline="-25000" dirty="0"/>
              <a:t>m </a:t>
            </a:r>
            <a:r>
              <a:rPr lang="en-IN" b="1" dirty="0"/>
              <a:t>= (4,6) where P</a:t>
            </a:r>
            <a:r>
              <a:rPr lang="en-IN" b="1" baseline="-25000" dirty="0"/>
              <a:t>m </a:t>
            </a:r>
            <a:r>
              <a:rPr lang="en-IN" b="1" dirty="0">
                <a:sym typeface="Symbol"/>
              </a:rPr>
              <a:t> </a:t>
            </a:r>
            <a:r>
              <a:rPr lang="en-IN" b="1" dirty="0"/>
              <a:t>E</a:t>
            </a:r>
            <a:r>
              <a:rPr lang="en-IN" b="1" baseline="-25000" dirty="0"/>
              <a:t>11</a:t>
            </a:r>
            <a:r>
              <a:rPr lang="en-IN" b="1" dirty="0"/>
              <a:t>(1,1</a:t>
            </a:r>
            <a:r>
              <a:rPr lang="en-IN" dirty="0"/>
              <a:t>)</a:t>
            </a: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- 2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295400"/>
            <a:ext cx="8991600" cy="4830763"/>
          </a:xfrm>
        </p:spPr>
        <p:txBody>
          <a:bodyPr>
            <a:normAutofit/>
          </a:bodyPr>
          <a:lstStyle/>
          <a:p>
            <a:pPr algn="just"/>
            <a:r>
              <a:rPr lang="en-IN" sz="3600" b="1" u="sng" dirty="0"/>
              <a:t>Establish a public and private keys: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IN" dirty="0"/>
              <a:t>Select a private (secret) key ‘n’, where 1 </a:t>
            </a:r>
            <a:r>
              <a:rPr lang="en-IN" dirty="0">
                <a:sym typeface="Symbol"/>
              </a:rPr>
              <a:t></a:t>
            </a:r>
            <a:r>
              <a:rPr lang="en-IN" dirty="0"/>
              <a:t> n </a:t>
            </a:r>
            <a:r>
              <a:rPr lang="en-IN" dirty="0">
                <a:sym typeface="Symbol"/>
              </a:rPr>
              <a:t></a:t>
            </a:r>
            <a:r>
              <a:rPr lang="en-IN" dirty="0"/>
              <a:t> p-1.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IN" sz="3200" dirty="0"/>
              <a:t>Choose the generator point G </a:t>
            </a:r>
            <a:r>
              <a:rPr lang="en-IN" sz="3200" dirty="0">
                <a:sym typeface="Symbol"/>
              </a:rPr>
              <a:t> </a:t>
            </a:r>
            <a:r>
              <a:rPr lang="en-IN" sz="3200" dirty="0" err="1"/>
              <a:t>E</a:t>
            </a:r>
            <a:r>
              <a:rPr lang="en-IN" sz="3200" baseline="-25000" dirty="0" err="1"/>
              <a:t>p</a:t>
            </a:r>
            <a:r>
              <a:rPr lang="en-IN" sz="3200" dirty="0"/>
              <a:t>(</a:t>
            </a:r>
            <a:r>
              <a:rPr lang="en-IN" sz="3200" dirty="0" err="1"/>
              <a:t>a,b</a:t>
            </a:r>
            <a:r>
              <a:rPr lang="en-IN" sz="3200" dirty="0"/>
              <a:t>).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IN" sz="3200" b="1" dirty="0"/>
              <a:t>Compute the public key as P</a:t>
            </a:r>
            <a:r>
              <a:rPr lang="en-IN" sz="3200" b="1" baseline="-25000" dirty="0"/>
              <a:t>U</a:t>
            </a:r>
            <a:r>
              <a:rPr lang="en-IN" sz="3200" b="1" dirty="0"/>
              <a:t> = </a:t>
            </a:r>
            <a:r>
              <a:rPr lang="en-IN" b="1" dirty="0"/>
              <a:t>n</a:t>
            </a:r>
            <a:r>
              <a:rPr lang="en-IN" sz="3200" b="1" dirty="0"/>
              <a:t>*G.</a:t>
            </a:r>
          </a:p>
          <a:p>
            <a:pPr marL="514350" indent="-514350" algn="just">
              <a:buFont typeface="+mj-lt"/>
              <a:buAutoNum type="arabicPeriod"/>
            </a:pPr>
            <a:endParaRPr lang="en-IN" b="1" dirty="0"/>
          </a:p>
          <a:p>
            <a:r>
              <a:rPr lang="en-IN" dirty="0"/>
              <a:t>G = (1,5) </a:t>
            </a:r>
            <a:r>
              <a:rPr lang="en-IN" dirty="0">
                <a:sym typeface="Symbol"/>
              </a:rPr>
              <a:t> </a:t>
            </a:r>
            <a:r>
              <a:rPr lang="en-IN" dirty="0"/>
              <a:t>E</a:t>
            </a:r>
            <a:r>
              <a:rPr lang="en-IN" baseline="-25000" dirty="0"/>
              <a:t>11</a:t>
            </a:r>
            <a:r>
              <a:rPr lang="en-IN" dirty="0"/>
              <a:t>(1,1)</a:t>
            </a:r>
          </a:p>
          <a:p>
            <a:r>
              <a:rPr lang="en-IN" dirty="0"/>
              <a:t>n = 2(Any value 1….10)</a:t>
            </a:r>
          </a:p>
          <a:p>
            <a:pPr marL="0" indent="0" algn="just">
              <a:buNone/>
            </a:pPr>
            <a:endParaRPr lang="en-IN" sz="3200" b="1" dirty="0"/>
          </a:p>
          <a:p>
            <a:pPr algn="just"/>
            <a:endParaRPr lang="en-IN" sz="36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800" y="3886200"/>
            <a:ext cx="3352800" cy="2819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Step-2 : Example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 fontScale="85000" lnSpcReduction="10000"/>
          </a:bodyPr>
          <a:lstStyle/>
          <a:p>
            <a:r>
              <a:rPr lang="en-IN" dirty="0"/>
              <a:t>G = (1,5) </a:t>
            </a:r>
            <a:r>
              <a:rPr lang="en-IN" dirty="0">
                <a:sym typeface="Symbol"/>
              </a:rPr>
              <a:t> </a:t>
            </a:r>
            <a:r>
              <a:rPr lang="en-IN" dirty="0"/>
              <a:t>E</a:t>
            </a:r>
            <a:r>
              <a:rPr lang="en-IN" baseline="-25000" dirty="0"/>
              <a:t>11</a:t>
            </a:r>
            <a:r>
              <a:rPr lang="en-IN" dirty="0"/>
              <a:t>(1,1)</a:t>
            </a:r>
          </a:p>
          <a:p>
            <a:r>
              <a:rPr lang="en-IN" dirty="0"/>
              <a:t>n = 2</a:t>
            </a:r>
          </a:p>
          <a:p>
            <a:r>
              <a:rPr lang="en-IN" dirty="0"/>
              <a:t>Public key(P</a:t>
            </a:r>
            <a:r>
              <a:rPr lang="en-IN" baseline="-25000" dirty="0"/>
              <a:t>U</a:t>
            </a:r>
            <a:r>
              <a:rPr lang="en-IN" dirty="0"/>
              <a:t> ) = n*G = 2G (adding point G two times)</a:t>
            </a:r>
          </a:p>
          <a:p>
            <a:pPr>
              <a:buNone/>
            </a:pPr>
            <a:r>
              <a:rPr lang="en-IN" u="sng" dirty="0"/>
              <a:t>To find 2G = (1,5) + (1,5):</a:t>
            </a:r>
          </a:p>
          <a:p>
            <a:pPr lvl="1"/>
            <a:r>
              <a:rPr lang="en-IN" dirty="0"/>
              <a:t>Compute </a:t>
            </a:r>
            <a:r>
              <a:rPr lang="en-IN" dirty="0">
                <a:solidFill>
                  <a:srgbClr val="FF0000"/>
                </a:solidFill>
                <a:sym typeface="Symbol"/>
              </a:rPr>
              <a:t> = </a:t>
            </a:r>
            <a:r>
              <a:rPr lang="en-IN" dirty="0">
                <a:solidFill>
                  <a:srgbClr val="FF0000"/>
                </a:solidFill>
              </a:rPr>
              <a:t> [(3x</a:t>
            </a:r>
            <a:r>
              <a:rPr lang="en-IN" baseline="30000" dirty="0">
                <a:solidFill>
                  <a:srgbClr val="FF0000"/>
                </a:solidFill>
              </a:rPr>
              <a:t>2</a:t>
            </a:r>
            <a:r>
              <a:rPr lang="en-IN" dirty="0">
                <a:solidFill>
                  <a:srgbClr val="FF0000"/>
                </a:solidFill>
              </a:rPr>
              <a:t>+a)/(2y) ]mod p</a:t>
            </a:r>
          </a:p>
          <a:p>
            <a:pPr lvl="1">
              <a:buNone/>
            </a:pPr>
            <a:r>
              <a:rPr lang="en-IN" dirty="0">
                <a:solidFill>
                  <a:srgbClr val="FF0000"/>
                </a:solidFill>
              </a:rPr>
              <a:t>                       </a:t>
            </a:r>
            <a:r>
              <a:rPr lang="en-IN" dirty="0"/>
              <a:t> =  [(3(1</a:t>
            </a:r>
            <a:r>
              <a:rPr lang="en-IN" baseline="30000" dirty="0"/>
              <a:t>2</a:t>
            </a:r>
            <a:r>
              <a:rPr lang="en-IN" dirty="0"/>
              <a:t>)+1)/(2*5) ]mod 11</a:t>
            </a:r>
          </a:p>
          <a:p>
            <a:pPr lvl="1">
              <a:buNone/>
            </a:pPr>
            <a:r>
              <a:rPr lang="en-IN" dirty="0"/>
              <a:t>                        = (4/10) mod 11 </a:t>
            </a:r>
          </a:p>
          <a:p>
            <a:pPr lvl="1">
              <a:buNone/>
            </a:pPr>
            <a:r>
              <a:rPr lang="en-IN" dirty="0"/>
              <a:t>                        = 4 * 10</a:t>
            </a:r>
            <a:r>
              <a:rPr lang="en-IN" baseline="30000" dirty="0"/>
              <a:t>-1</a:t>
            </a:r>
            <a:r>
              <a:rPr lang="en-IN" dirty="0"/>
              <a:t> mod 11</a:t>
            </a:r>
          </a:p>
          <a:p>
            <a:pPr lvl="1">
              <a:buNone/>
            </a:pPr>
            <a:r>
              <a:rPr lang="en-IN" dirty="0"/>
              <a:t>                        = 4 * 10 mod 11 = 40 mod 11 = 7</a:t>
            </a:r>
          </a:p>
          <a:p>
            <a:pPr lvl="1">
              <a:buNone/>
            </a:pPr>
            <a:r>
              <a:rPr lang="en-IN" b="1" dirty="0">
                <a:sym typeface="Symbol"/>
              </a:rPr>
              <a:t>                      = 7</a:t>
            </a:r>
            <a:endParaRPr lang="en-IN" b="1" dirty="0"/>
          </a:p>
          <a:p>
            <a:pPr lvl="1">
              <a:buNone/>
            </a:pPr>
            <a:r>
              <a:rPr lang="en-IN" b="1" u="sng" dirty="0"/>
              <a:t>NOTE:</a:t>
            </a:r>
            <a:r>
              <a:rPr lang="en-IN" dirty="0"/>
              <a:t> To find the multiplicative inverse </a:t>
            </a:r>
          </a:p>
          <a:p>
            <a:pPr lvl="1">
              <a:buNone/>
            </a:pPr>
            <a:r>
              <a:rPr lang="en-IN" dirty="0"/>
              <a:t>10</a:t>
            </a:r>
            <a:r>
              <a:rPr lang="en-IN" baseline="30000" dirty="0"/>
              <a:t>-1</a:t>
            </a:r>
            <a:r>
              <a:rPr lang="en-IN" dirty="0"/>
              <a:t> mod 11 </a:t>
            </a:r>
            <a:r>
              <a:rPr lang="en-IN" dirty="0">
                <a:sym typeface="Wingdings" pitchFamily="2" charset="2"/>
              </a:rPr>
              <a:t></a:t>
            </a:r>
            <a:r>
              <a:rPr lang="en-IN" dirty="0"/>
              <a:t>[(10*d)%11] = 1 </a:t>
            </a:r>
            <a:r>
              <a:rPr lang="en-IN" dirty="0">
                <a:sym typeface="Wingdings" pitchFamily="2" charset="2"/>
              </a:rPr>
              <a:t> here d = 10</a:t>
            </a:r>
            <a:endParaRPr lang="en-IN" dirty="0"/>
          </a:p>
          <a:p>
            <a:pPr lvl="1">
              <a:buNone/>
            </a:pP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867400"/>
          </a:xfrm>
        </p:spPr>
        <p:txBody>
          <a:bodyPr>
            <a:normAutofit fontScale="77500" lnSpcReduction="20000"/>
          </a:bodyPr>
          <a:lstStyle/>
          <a:p>
            <a:pPr marL="571500" indent="-571500" algn="just">
              <a:buNone/>
            </a:pPr>
            <a:r>
              <a:rPr lang="en-IN" dirty="0"/>
              <a:t>Compute </a:t>
            </a:r>
            <a:r>
              <a:rPr lang="en-IN" dirty="0">
                <a:solidFill>
                  <a:srgbClr val="FF0000"/>
                </a:solidFill>
              </a:rPr>
              <a:t>x</a:t>
            </a:r>
            <a:r>
              <a:rPr lang="en-IN" baseline="-25000" dirty="0">
                <a:solidFill>
                  <a:srgbClr val="FF0000"/>
                </a:solidFill>
              </a:rPr>
              <a:t>3</a:t>
            </a:r>
            <a:r>
              <a:rPr lang="en-IN" dirty="0">
                <a:solidFill>
                  <a:srgbClr val="FF0000"/>
                </a:solidFill>
              </a:rPr>
              <a:t> = </a:t>
            </a:r>
            <a:r>
              <a:rPr lang="en-IN" dirty="0">
                <a:solidFill>
                  <a:srgbClr val="FF0000"/>
                </a:solidFill>
                <a:sym typeface="Symbol"/>
              </a:rPr>
              <a:t></a:t>
            </a:r>
            <a:r>
              <a:rPr lang="en-IN" baseline="30000" dirty="0">
                <a:solidFill>
                  <a:srgbClr val="FF0000"/>
                </a:solidFill>
                <a:sym typeface="Symbol"/>
              </a:rPr>
              <a:t>2</a:t>
            </a:r>
            <a:r>
              <a:rPr lang="en-IN" dirty="0">
                <a:solidFill>
                  <a:srgbClr val="FF0000"/>
                </a:solidFill>
                <a:sym typeface="Symbol"/>
              </a:rPr>
              <a:t> – </a:t>
            </a:r>
            <a:r>
              <a:rPr lang="en-IN" dirty="0">
                <a:solidFill>
                  <a:srgbClr val="FF0000"/>
                </a:solidFill>
              </a:rPr>
              <a:t>x </a:t>
            </a:r>
            <a:r>
              <a:rPr lang="en-IN" dirty="0">
                <a:solidFill>
                  <a:srgbClr val="FF0000"/>
                </a:solidFill>
                <a:sym typeface="Symbol"/>
              </a:rPr>
              <a:t>–</a:t>
            </a:r>
            <a:r>
              <a:rPr lang="en-IN" dirty="0">
                <a:solidFill>
                  <a:srgbClr val="FF0000"/>
                </a:solidFill>
              </a:rPr>
              <a:t> x mod p</a:t>
            </a:r>
          </a:p>
          <a:p>
            <a:pPr marL="571500" indent="-571500" algn="just">
              <a:buNone/>
            </a:pPr>
            <a:r>
              <a:rPr lang="en-IN" dirty="0">
                <a:solidFill>
                  <a:srgbClr val="FF0000"/>
                </a:solidFill>
              </a:rPr>
              <a:t>	              </a:t>
            </a: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= </a:t>
            </a: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  <a:sym typeface="Symbol"/>
              </a:rPr>
              <a:t>7</a:t>
            </a:r>
            <a:r>
              <a:rPr lang="en-IN" baseline="30000" dirty="0">
                <a:solidFill>
                  <a:schemeClr val="tx1">
                    <a:lumMod val="85000"/>
                    <a:lumOff val="15000"/>
                  </a:schemeClr>
                </a:solidFill>
                <a:sym typeface="Symbol"/>
              </a:rPr>
              <a:t>2</a:t>
            </a: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  <a:sym typeface="Symbol"/>
              </a:rPr>
              <a:t> – 1 –</a:t>
            </a: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1 mod 11</a:t>
            </a:r>
          </a:p>
          <a:p>
            <a:pPr marL="571500" indent="-571500" algn="just">
              <a:buNone/>
            </a:pPr>
            <a:r>
              <a:rPr lang="en-IN" dirty="0"/>
              <a:t> 	    	         = 49 – 2 </a:t>
            </a: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mod 11 = 47 mod 11</a:t>
            </a:r>
          </a:p>
          <a:p>
            <a:pPr marL="571500" indent="-571500" algn="just">
              <a:buNone/>
            </a:pPr>
            <a:r>
              <a:rPr lang="en-IN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	     x</a:t>
            </a:r>
            <a:r>
              <a:rPr lang="en-IN" b="1" baseline="-25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3 </a:t>
            </a:r>
            <a:r>
              <a:rPr lang="en-IN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= 3</a:t>
            </a:r>
          </a:p>
          <a:p>
            <a:pPr marL="571500" indent="-571500" algn="just">
              <a:buNone/>
            </a:pP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Compute </a:t>
            </a:r>
            <a:r>
              <a:rPr lang="en-IN" dirty="0">
                <a:solidFill>
                  <a:srgbClr val="FF0000"/>
                </a:solidFill>
              </a:rPr>
              <a:t>y</a:t>
            </a:r>
            <a:r>
              <a:rPr lang="en-IN" baseline="-25000" dirty="0">
                <a:solidFill>
                  <a:srgbClr val="FF0000"/>
                </a:solidFill>
              </a:rPr>
              <a:t>3</a:t>
            </a:r>
            <a:r>
              <a:rPr lang="en-IN" dirty="0">
                <a:solidFill>
                  <a:srgbClr val="FF0000"/>
                </a:solidFill>
              </a:rPr>
              <a:t> = </a:t>
            </a:r>
            <a:r>
              <a:rPr lang="en-IN" dirty="0">
                <a:solidFill>
                  <a:srgbClr val="FF0000"/>
                </a:solidFill>
                <a:sym typeface="Symbol"/>
              </a:rPr>
              <a:t> (</a:t>
            </a:r>
            <a:r>
              <a:rPr lang="en-IN" dirty="0">
                <a:solidFill>
                  <a:srgbClr val="FF0000"/>
                </a:solidFill>
              </a:rPr>
              <a:t>x- x</a:t>
            </a:r>
            <a:r>
              <a:rPr lang="en-IN" baseline="-25000" dirty="0">
                <a:solidFill>
                  <a:srgbClr val="FF0000"/>
                </a:solidFill>
              </a:rPr>
              <a:t>3</a:t>
            </a:r>
            <a:r>
              <a:rPr lang="en-IN" dirty="0">
                <a:solidFill>
                  <a:srgbClr val="FF0000"/>
                </a:solidFill>
              </a:rPr>
              <a:t>) - y</a:t>
            </a:r>
            <a:r>
              <a:rPr lang="en-IN" baseline="-25000" dirty="0">
                <a:solidFill>
                  <a:srgbClr val="FF0000"/>
                </a:solidFill>
              </a:rPr>
              <a:t> </a:t>
            </a:r>
            <a:r>
              <a:rPr lang="en-IN" dirty="0">
                <a:solidFill>
                  <a:srgbClr val="FF0000"/>
                </a:solidFill>
              </a:rPr>
              <a:t>mod p</a:t>
            </a:r>
          </a:p>
          <a:p>
            <a:pPr marL="571500" indent="-571500" algn="just">
              <a:buNone/>
            </a:pPr>
            <a:r>
              <a:rPr lang="en-IN" dirty="0">
                <a:solidFill>
                  <a:srgbClr val="FF0000"/>
                </a:solidFill>
              </a:rPr>
              <a:t>	              </a:t>
            </a: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= </a:t>
            </a: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  <a:sym typeface="Symbol"/>
              </a:rPr>
              <a:t>7 (1 </a:t>
            </a: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- 3) - 5</a:t>
            </a:r>
            <a:r>
              <a:rPr lang="en-IN" baseline="-25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mod 11</a:t>
            </a:r>
          </a:p>
          <a:p>
            <a:pPr marL="571500" indent="-571500" algn="just">
              <a:buNone/>
            </a:pP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		         = - 19 mod 11</a:t>
            </a:r>
          </a:p>
          <a:p>
            <a:pPr marL="571500" indent="-571500" algn="just">
              <a:buNone/>
            </a:pPr>
            <a:r>
              <a:rPr lang="en-IN" dirty="0"/>
              <a:t>                      =  11 – (</a:t>
            </a: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19 mod 11)</a:t>
            </a:r>
          </a:p>
          <a:p>
            <a:pPr marL="571500" indent="-571500" algn="just">
              <a:buNone/>
            </a:pP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		         = 11 – 8 </a:t>
            </a:r>
          </a:p>
          <a:p>
            <a:pPr marL="571500" indent="-571500" algn="just">
              <a:buNone/>
            </a:pPr>
            <a:r>
              <a:rPr lang="en-IN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          y</a:t>
            </a:r>
            <a:r>
              <a:rPr lang="en-IN" b="1" baseline="-25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3</a:t>
            </a:r>
            <a:r>
              <a:rPr lang="en-IN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= 3</a:t>
            </a:r>
          </a:p>
          <a:p>
            <a:pPr marL="571500" indent="-571500" algn="just">
              <a:buNone/>
            </a:pP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Therefore, the coordinates of 2G is (3,3).</a:t>
            </a:r>
          </a:p>
          <a:p>
            <a:pPr marL="571500" indent="-571500" algn="just"/>
            <a:r>
              <a:rPr lang="en-IN" dirty="0"/>
              <a:t>P</a:t>
            </a:r>
            <a:r>
              <a:rPr lang="en-IN" baseline="-25000" dirty="0"/>
              <a:t>m</a:t>
            </a: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= (4,6) </a:t>
            </a:r>
          </a:p>
          <a:p>
            <a:pPr marL="571500" indent="-571500" algn="just"/>
            <a:r>
              <a:rPr lang="en-IN" dirty="0"/>
              <a:t>P</a:t>
            </a:r>
            <a:r>
              <a:rPr lang="en-IN" baseline="-25000" dirty="0"/>
              <a:t>U</a:t>
            </a:r>
            <a:r>
              <a:rPr lang="en-IN" dirty="0"/>
              <a:t> = (3,3)</a:t>
            </a:r>
          </a:p>
          <a:p>
            <a:pPr marL="571500" indent="-571500" algn="just"/>
            <a:r>
              <a:rPr lang="en-IN" dirty="0"/>
              <a:t>n</a:t>
            </a: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= 2</a:t>
            </a:r>
          </a:p>
          <a:p>
            <a:pPr marL="571500" indent="-571500" algn="just"/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G = (1,5)</a:t>
            </a:r>
          </a:p>
          <a:p>
            <a:pPr marL="571500" indent="-571500" algn="just">
              <a:buNone/>
            </a:pP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Step – 3(Encryption)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754563"/>
          </a:xfrm>
        </p:spPr>
        <p:txBody>
          <a:bodyPr>
            <a:normAutofit/>
          </a:bodyPr>
          <a:lstStyle/>
          <a:p>
            <a:pPr algn="just"/>
            <a:r>
              <a:rPr lang="en-IN" sz="3600" u="sng" dirty="0"/>
              <a:t>Encryption: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IN" sz="3600" dirty="0"/>
              <a:t>Choose a random  positive number ‘k’ where 1 </a:t>
            </a:r>
            <a:r>
              <a:rPr lang="en-IN" sz="3600" dirty="0">
                <a:sym typeface="Symbol"/>
              </a:rPr>
              <a:t></a:t>
            </a:r>
            <a:r>
              <a:rPr lang="en-IN" sz="3600" dirty="0"/>
              <a:t> </a:t>
            </a:r>
            <a:r>
              <a:rPr lang="en-IN" sz="3600" dirty="0">
                <a:solidFill>
                  <a:srgbClr val="FF0000"/>
                </a:solidFill>
              </a:rPr>
              <a:t>k</a:t>
            </a:r>
            <a:r>
              <a:rPr lang="en-IN" sz="3600" dirty="0"/>
              <a:t> </a:t>
            </a:r>
            <a:r>
              <a:rPr lang="en-IN" sz="3600" dirty="0">
                <a:sym typeface="Symbol"/>
              </a:rPr>
              <a:t></a:t>
            </a:r>
            <a:r>
              <a:rPr lang="en-IN" sz="3600" dirty="0"/>
              <a:t> p-1.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IN" sz="3600" dirty="0"/>
              <a:t>Then produces a </a:t>
            </a:r>
            <a:r>
              <a:rPr lang="en-IN" sz="3600" dirty="0" err="1"/>
              <a:t>ciphertext</a:t>
            </a:r>
            <a:r>
              <a:rPr lang="en-IN" sz="3600" dirty="0"/>
              <a:t> C</a:t>
            </a:r>
            <a:r>
              <a:rPr lang="en-IN" sz="3600" baseline="-25000" dirty="0"/>
              <a:t>m </a:t>
            </a:r>
            <a:r>
              <a:rPr lang="en-IN" sz="3600" dirty="0"/>
              <a:t>as a pair points:   C</a:t>
            </a:r>
            <a:r>
              <a:rPr lang="en-IN" sz="3600" baseline="-25000" dirty="0"/>
              <a:t>m </a:t>
            </a:r>
            <a:r>
              <a:rPr lang="en-IN" sz="3600" dirty="0"/>
              <a:t>= {</a:t>
            </a:r>
            <a:r>
              <a:rPr lang="en-IN" sz="3600" dirty="0" err="1">
                <a:solidFill>
                  <a:srgbClr val="FF0000"/>
                </a:solidFill>
              </a:rPr>
              <a:t>k</a:t>
            </a:r>
            <a:r>
              <a:rPr lang="en-IN" sz="3600" dirty="0" err="1"/>
              <a:t>G</a:t>
            </a:r>
            <a:r>
              <a:rPr lang="en-IN" sz="3600" dirty="0"/>
              <a:t>, </a:t>
            </a:r>
            <a:r>
              <a:rPr lang="en-IN" sz="3600" dirty="0" err="1"/>
              <a:t>P</a:t>
            </a:r>
            <a:r>
              <a:rPr lang="en-IN" sz="3600" baseline="-25000" dirty="0" err="1"/>
              <a:t>m</a:t>
            </a:r>
            <a:r>
              <a:rPr lang="en-IN" sz="3600" dirty="0" err="1"/>
              <a:t>+</a:t>
            </a:r>
            <a:r>
              <a:rPr lang="en-IN" sz="3600" dirty="0" err="1">
                <a:solidFill>
                  <a:srgbClr val="FF0000"/>
                </a:solidFill>
              </a:rPr>
              <a:t>k</a:t>
            </a:r>
            <a:r>
              <a:rPr lang="en-IN" sz="3600" dirty="0" err="1"/>
              <a:t>P</a:t>
            </a:r>
            <a:r>
              <a:rPr lang="en-IN" sz="3600" baseline="-25000" dirty="0" err="1"/>
              <a:t>U</a:t>
            </a:r>
            <a:r>
              <a:rPr lang="en-IN" sz="3600" dirty="0"/>
              <a:t>}</a:t>
            </a:r>
          </a:p>
          <a:p>
            <a:pPr marL="742950" indent="-742950" algn="just">
              <a:buFont typeface="+mj-lt"/>
              <a:buAutoNum type="arabicPeriod" startAt="3"/>
            </a:pPr>
            <a:r>
              <a:rPr lang="en-IN" sz="3600" dirty="0"/>
              <a:t>C</a:t>
            </a:r>
            <a:r>
              <a:rPr lang="en-IN" sz="3600" baseline="-25000" dirty="0"/>
              <a:t>1 </a:t>
            </a:r>
            <a:r>
              <a:rPr lang="en-IN" sz="3600" dirty="0"/>
              <a:t>= </a:t>
            </a:r>
            <a:r>
              <a:rPr lang="en-IN" sz="3600" dirty="0" err="1"/>
              <a:t>kG</a:t>
            </a:r>
            <a:r>
              <a:rPr lang="en-IN" sz="3600" dirty="0"/>
              <a:t> and C</a:t>
            </a:r>
            <a:r>
              <a:rPr lang="en-IN" sz="3600" baseline="-25000" dirty="0"/>
              <a:t>2 </a:t>
            </a:r>
            <a:r>
              <a:rPr lang="en-IN" sz="3600" dirty="0"/>
              <a:t>= </a:t>
            </a:r>
            <a:r>
              <a:rPr lang="en-IN" sz="3600" dirty="0" err="1"/>
              <a:t>P</a:t>
            </a:r>
            <a:r>
              <a:rPr lang="en-IN" sz="3600" baseline="-25000" dirty="0" err="1"/>
              <a:t>m</a:t>
            </a:r>
            <a:r>
              <a:rPr lang="en-IN" sz="3600" dirty="0" err="1"/>
              <a:t>+kP</a:t>
            </a:r>
            <a:r>
              <a:rPr lang="en-IN" sz="3600" baseline="-25000" dirty="0" err="1"/>
              <a:t>U</a:t>
            </a:r>
            <a:endParaRPr lang="en-IN" sz="3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– 3 :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95400"/>
            <a:ext cx="9144000" cy="4830763"/>
          </a:xfrm>
        </p:spPr>
        <p:txBody>
          <a:bodyPr>
            <a:normAutofit/>
          </a:bodyPr>
          <a:lstStyle/>
          <a:p>
            <a:r>
              <a:rPr lang="en-IN" dirty="0"/>
              <a:t>Lets take k = 2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Compute C</a:t>
            </a:r>
            <a:r>
              <a:rPr lang="en-IN" baseline="-25000" dirty="0"/>
              <a:t>1</a:t>
            </a:r>
            <a:r>
              <a:rPr lang="en-IN" dirty="0"/>
              <a:t> = </a:t>
            </a:r>
            <a:r>
              <a:rPr lang="en-IN" dirty="0" err="1"/>
              <a:t>kG</a:t>
            </a:r>
            <a:r>
              <a:rPr lang="en-IN" dirty="0"/>
              <a:t> = 2G = (3,3) + (3,3)</a:t>
            </a:r>
          </a:p>
          <a:p>
            <a:r>
              <a:rPr lang="en-IN" dirty="0"/>
              <a:t>(3,3) + (3,3):</a:t>
            </a:r>
          </a:p>
          <a:p>
            <a:pPr lvl="1"/>
            <a:r>
              <a:rPr lang="en-IN" dirty="0"/>
              <a:t>Compute </a:t>
            </a:r>
            <a:r>
              <a:rPr lang="en-IN" dirty="0">
                <a:solidFill>
                  <a:srgbClr val="FF0000"/>
                </a:solidFill>
                <a:sym typeface="Symbol"/>
              </a:rPr>
              <a:t> = </a:t>
            </a:r>
            <a:r>
              <a:rPr lang="en-IN" dirty="0">
                <a:solidFill>
                  <a:srgbClr val="FF0000"/>
                </a:solidFill>
              </a:rPr>
              <a:t> [(3x</a:t>
            </a:r>
            <a:r>
              <a:rPr lang="en-IN" baseline="30000" dirty="0">
                <a:solidFill>
                  <a:srgbClr val="FF0000"/>
                </a:solidFill>
              </a:rPr>
              <a:t>2</a:t>
            </a:r>
            <a:r>
              <a:rPr lang="en-IN" dirty="0">
                <a:solidFill>
                  <a:srgbClr val="FF0000"/>
                </a:solidFill>
              </a:rPr>
              <a:t>+a)/(2y) ]mod p</a:t>
            </a:r>
          </a:p>
          <a:p>
            <a:pPr lvl="1">
              <a:buNone/>
            </a:pPr>
            <a:r>
              <a:rPr lang="en-IN" dirty="0">
                <a:solidFill>
                  <a:srgbClr val="FF0000"/>
                </a:solidFill>
              </a:rPr>
              <a:t>                       </a:t>
            </a:r>
            <a:r>
              <a:rPr lang="en-IN" dirty="0"/>
              <a:t> =  [(3(3</a:t>
            </a:r>
            <a:r>
              <a:rPr lang="en-IN" baseline="30000" dirty="0"/>
              <a:t>2</a:t>
            </a:r>
            <a:r>
              <a:rPr lang="en-IN" dirty="0"/>
              <a:t>)+1)/(2*3) ]mod 11</a:t>
            </a:r>
          </a:p>
          <a:p>
            <a:pPr lvl="1">
              <a:buNone/>
            </a:pPr>
            <a:r>
              <a:rPr lang="en-IN" dirty="0"/>
              <a:t>                        = (28/6) mod 11 </a:t>
            </a:r>
          </a:p>
          <a:p>
            <a:pPr lvl="1">
              <a:buNone/>
            </a:pPr>
            <a:r>
              <a:rPr lang="en-IN" dirty="0"/>
              <a:t>                        = 28 * 6</a:t>
            </a:r>
            <a:r>
              <a:rPr lang="en-IN" baseline="30000" dirty="0"/>
              <a:t>-1</a:t>
            </a:r>
            <a:r>
              <a:rPr lang="en-IN" dirty="0"/>
              <a:t> mod 11</a:t>
            </a:r>
          </a:p>
          <a:p>
            <a:pPr lvl="1">
              <a:buNone/>
            </a:pPr>
            <a:r>
              <a:rPr lang="en-IN" dirty="0"/>
              <a:t>                        = 28 * 2 mod 11</a:t>
            </a:r>
          </a:p>
          <a:p>
            <a:pPr lvl="1">
              <a:buNone/>
            </a:pPr>
            <a:r>
              <a:rPr lang="en-IN" b="1" dirty="0">
                <a:sym typeface="Symbol"/>
              </a:rPr>
              <a:t>                      = 1</a:t>
            </a:r>
            <a:endParaRPr lang="en-IN" b="1" dirty="0"/>
          </a:p>
          <a:p>
            <a:endParaRPr lang="en-IN" dirty="0"/>
          </a:p>
          <a:p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943600"/>
          </a:xfrm>
        </p:spPr>
        <p:txBody>
          <a:bodyPr>
            <a:normAutofit fontScale="92500" lnSpcReduction="20000"/>
          </a:bodyPr>
          <a:lstStyle/>
          <a:p>
            <a:pPr marL="571500" indent="-571500" algn="just">
              <a:buNone/>
            </a:pPr>
            <a:r>
              <a:rPr lang="en-IN" dirty="0"/>
              <a:t>Compute </a:t>
            </a:r>
            <a:r>
              <a:rPr lang="en-IN" dirty="0">
                <a:solidFill>
                  <a:srgbClr val="FF0000"/>
                </a:solidFill>
              </a:rPr>
              <a:t>x</a:t>
            </a:r>
            <a:r>
              <a:rPr lang="en-IN" baseline="-25000" dirty="0">
                <a:solidFill>
                  <a:srgbClr val="FF0000"/>
                </a:solidFill>
              </a:rPr>
              <a:t>3</a:t>
            </a:r>
            <a:r>
              <a:rPr lang="en-IN" dirty="0">
                <a:solidFill>
                  <a:srgbClr val="FF0000"/>
                </a:solidFill>
              </a:rPr>
              <a:t> = </a:t>
            </a:r>
            <a:r>
              <a:rPr lang="en-IN" dirty="0">
                <a:solidFill>
                  <a:srgbClr val="FF0000"/>
                </a:solidFill>
                <a:sym typeface="Symbol"/>
              </a:rPr>
              <a:t></a:t>
            </a:r>
            <a:r>
              <a:rPr lang="en-IN" baseline="30000" dirty="0">
                <a:solidFill>
                  <a:srgbClr val="FF0000"/>
                </a:solidFill>
                <a:sym typeface="Symbol"/>
              </a:rPr>
              <a:t>2</a:t>
            </a:r>
            <a:r>
              <a:rPr lang="en-IN" dirty="0">
                <a:solidFill>
                  <a:srgbClr val="FF0000"/>
                </a:solidFill>
                <a:sym typeface="Symbol"/>
              </a:rPr>
              <a:t> – </a:t>
            </a:r>
            <a:r>
              <a:rPr lang="en-IN" dirty="0">
                <a:solidFill>
                  <a:srgbClr val="FF0000"/>
                </a:solidFill>
              </a:rPr>
              <a:t>x </a:t>
            </a:r>
            <a:r>
              <a:rPr lang="en-IN" dirty="0">
                <a:solidFill>
                  <a:srgbClr val="FF0000"/>
                </a:solidFill>
                <a:sym typeface="Symbol"/>
              </a:rPr>
              <a:t>–</a:t>
            </a:r>
            <a:r>
              <a:rPr lang="en-IN" dirty="0">
                <a:solidFill>
                  <a:srgbClr val="FF0000"/>
                </a:solidFill>
              </a:rPr>
              <a:t> x mod p</a:t>
            </a:r>
          </a:p>
          <a:p>
            <a:pPr marL="571500" indent="-571500" algn="just">
              <a:buNone/>
            </a:pPr>
            <a:r>
              <a:rPr lang="en-IN" dirty="0">
                <a:solidFill>
                  <a:srgbClr val="FF0000"/>
                </a:solidFill>
              </a:rPr>
              <a:t>	                </a:t>
            </a: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= </a:t>
            </a: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  <a:sym typeface="Symbol"/>
              </a:rPr>
              <a:t>1</a:t>
            </a:r>
            <a:r>
              <a:rPr lang="en-IN" baseline="30000" dirty="0">
                <a:solidFill>
                  <a:schemeClr val="tx1">
                    <a:lumMod val="85000"/>
                    <a:lumOff val="15000"/>
                  </a:schemeClr>
                </a:solidFill>
                <a:sym typeface="Symbol"/>
              </a:rPr>
              <a:t>2</a:t>
            </a: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  <a:sym typeface="Symbol"/>
              </a:rPr>
              <a:t> – 3 –</a:t>
            </a: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3 mod 11</a:t>
            </a:r>
          </a:p>
          <a:p>
            <a:pPr marL="571500" indent="-571500" algn="just">
              <a:buNone/>
            </a:pPr>
            <a:r>
              <a:rPr lang="en-IN" dirty="0"/>
              <a:t> 	    	  =  1 – 6 </a:t>
            </a: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mod 11 </a:t>
            </a:r>
          </a:p>
          <a:p>
            <a:pPr marL="571500" indent="-571500" algn="just">
              <a:buNone/>
            </a:pP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               = -5 mod 11 = 11 – (5 mod 11) = 11 - 5</a:t>
            </a:r>
          </a:p>
          <a:p>
            <a:pPr marL="571500" indent="-571500" algn="just">
              <a:buNone/>
            </a:pPr>
            <a:r>
              <a:rPr lang="en-IN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	        x</a:t>
            </a:r>
            <a:r>
              <a:rPr lang="en-IN" b="1" baseline="-25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3 </a:t>
            </a:r>
            <a:r>
              <a:rPr lang="en-IN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= 6</a:t>
            </a:r>
          </a:p>
          <a:p>
            <a:pPr marL="571500" indent="-571500" algn="just">
              <a:buNone/>
            </a:pP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Compute </a:t>
            </a:r>
            <a:r>
              <a:rPr lang="en-IN" dirty="0">
                <a:solidFill>
                  <a:srgbClr val="FF0000"/>
                </a:solidFill>
              </a:rPr>
              <a:t>y</a:t>
            </a:r>
            <a:r>
              <a:rPr lang="en-IN" baseline="-25000" dirty="0">
                <a:solidFill>
                  <a:srgbClr val="FF0000"/>
                </a:solidFill>
              </a:rPr>
              <a:t>3</a:t>
            </a:r>
            <a:r>
              <a:rPr lang="en-IN" dirty="0">
                <a:solidFill>
                  <a:srgbClr val="FF0000"/>
                </a:solidFill>
              </a:rPr>
              <a:t> = </a:t>
            </a:r>
            <a:r>
              <a:rPr lang="en-IN" dirty="0">
                <a:solidFill>
                  <a:srgbClr val="FF0000"/>
                </a:solidFill>
                <a:sym typeface="Symbol"/>
              </a:rPr>
              <a:t> (</a:t>
            </a:r>
            <a:r>
              <a:rPr lang="en-IN" dirty="0">
                <a:solidFill>
                  <a:srgbClr val="FF0000"/>
                </a:solidFill>
              </a:rPr>
              <a:t>x- x</a:t>
            </a:r>
            <a:r>
              <a:rPr lang="en-IN" baseline="-25000" dirty="0">
                <a:solidFill>
                  <a:srgbClr val="FF0000"/>
                </a:solidFill>
              </a:rPr>
              <a:t>3</a:t>
            </a:r>
            <a:r>
              <a:rPr lang="en-IN" dirty="0">
                <a:solidFill>
                  <a:srgbClr val="FF0000"/>
                </a:solidFill>
              </a:rPr>
              <a:t>) - y</a:t>
            </a:r>
            <a:r>
              <a:rPr lang="en-IN" baseline="-25000" dirty="0">
                <a:solidFill>
                  <a:srgbClr val="FF0000"/>
                </a:solidFill>
              </a:rPr>
              <a:t> </a:t>
            </a:r>
            <a:r>
              <a:rPr lang="en-IN" dirty="0">
                <a:solidFill>
                  <a:srgbClr val="FF0000"/>
                </a:solidFill>
              </a:rPr>
              <a:t>mod p</a:t>
            </a:r>
          </a:p>
          <a:p>
            <a:pPr marL="571500" indent="-571500" algn="just">
              <a:buNone/>
            </a:pPr>
            <a:r>
              <a:rPr lang="en-IN" dirty="0">
                <a:solidFill>
                  <a:srgbClr val="FF0000"/>
                </a:solidFill>
              </a:rPr>
              <a:t>	              </a:t>
            </a: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= </a:t>
            </a: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  <a:sym typeface="Symbol"/>
              </a:rPr>
              <a:t>1 (3 </a:t>
            </a: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- 6) - 3</a:t>
            </a:r>
            <a:r>
              <a:rPr lang="en-IN" baseline="-25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mod 11</a:t>
            </a:r>
          </a:p>
          <a:p>
            <a:pPr marL="571500" indent="-571500" algn="just">
              <a:buNone/>
            </a:pP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		          = - 6 mod 11</a:t>
            </a:r>
          </a:p>
          <a:p>
            <a:pPr marL="571500" indent="-571500" algn="just">
              <a:buNone/>
            </a:pPr>
            <a:r>
              <a:rPr lang="en-IN" dirty="0"/>
              <a:t>                     =  11 – (</a:t>
            </a: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6 mod 11)</a:t>
            </a:r>
          </a:p>
          <a:p>
            <a:pPr marL="571500" indent="-571500" algn="just">
              <a:buNone/>
            </a:pP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		          = 11 – 6</a:t>
            </a:r>
          </a:p>
          <a:p>
            <a:pPr marL="571500" indent="-571500" algn="just">
              <a:buNone/>
            </a:pPr>
            <a:r>
              <a:rPr lang="en-IN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          y</a:t>
            </a:r>
            <a:r>
              <a:rPr lang="en-IN" b="1" baseline="-25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3</a:t>
            </a:r>
            <a:r>
              <a:rPr lang="en-IN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= 5</a:t>
            </a:r>
          </a:p>
          <a:p>
            <a:pPr marL="571500" indent="-571500" algn="just">
              <a:buNone/>
            </a:pP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Therefore, (3,3) + (3,3) = (6,5)</a:t>
            </a:r>
          </a:p>
          <a:p>
            <a:pPr marL="571500" indent="-571500" algn="just">
              <a:buNone/>
            </a:pP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Then </a:t>
            </a:r>
            <a:r>
              <a:rPr lang="en-IN" b="1" dirty="0"/>
              <a:t>C</a:t>
            </a:r>
            <a:r>
              <a:rPr lang="en-IN" b="1" baseline="-25000" dirty="0"/>
              <a:t>1</a:t>
            </a:r>
            <a:r>
              <a:rPr lang="en-IN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= (6,5)</a:t>
            </a:r>
          </a:p>
          <a:p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609600"/>
            <a:ext cx="7620000" cy="5516563"/>
          </a:xfrm>
        </p:spPr>
        <p:txBody>
          <a:bodyPr>
            <a:normAutofit/>
          </a:bodyPr>
          <a:lstStyle/>
          <a:p>
            <a:pPr marL="514350" indent="-514350" algn="just">
              <a:buFont typeface="+mj-lt"/>
              <a:buAutoNum type="arabicPeriod" startAt="2"/>
            </a:pPr>
            <a:r>
              <a:rPr lang="en-IN" dirty="0"/>
              <a:t>Compute C</a:t>
            </a:r>
            <a:r>
              <a:rPr lang="en-IN" baseline="-25000" dirty="0"/>
              <a:t>2 </a:t>
            </a:r>
            <a:r>
              <a:rPr lang="en-IN" dirty="0"/>
              <a:t> = (</a:t>
            </a:r>
            <a:r>
              <a:rPr lang="en-IN" dirty="0" err="1"/>
              <a:t>P</a:t>
            </a:r>
            <a:r>
              <a:rPr lang="en-IN" baseline="-25000" dirty="0" err="1"/>
              <a:t>m</a:t>
            </a:r>
            <a:r>
              <a:rPr lang="en-IN" dirty="0" err="1"/>
              <a:t>+kP</a:t>
            </a:r>
            <a:r>
              <a:rPr lang="en-IN" baseline="-25000" dirty="0" err="1"/>
              <a:t>U</a:t>
            </a:r>
            <a:r>
              <a:rPr lang="en-IN" dirty="0"/>
              <a:t>), where P</a:t>
            </a:r>
            <a:r>
              <a:rPr lang="en-IN" baseline="-25000" dirty="0"/>
              <a:t>m</a:t>
            </a:r>
            <a:r>
              <a:rPr lang="en-IN" dirty="0"/>
              <a:t> = (4,6),     </a:t>
            </a:r>
          </a:p>
          <a:p>
            <a:pPr marL="514350" indent="-514350" algn="just">
              <a:buNone/>
            </a:pPr>
            <a:r>
              <a:rPr lang="en-IN" dirty="0"/>
              <a:t>k = 2 and  P</a:t>
            </a:r>
            <a:r>
              <a:rPr lang="en-IN" baseline="-25000" dirty="0"/>
              <a:t>U</a:t>
            </a:r>
            <a:r>
              <a:rPr lang="en-IN" dirty="0"/>
              <a:t>=(3,3).</a:t>
            </a:r>
          </a:p>
          <a:p>
            <a:pPr marL="514350" indent="-514350" algn="just">
              <a:buNone/>
            </a:pPr>
            <a:r>
              <a:rPr lang="en-IN" dirty="0"/>
              <a:t>C</a:t>
            </a:r>
            <a:r>
              <a:rPr lang="en-IN" baseline="-25000" dirty="0"/>
              <a:t>2 </a:t>
            </a:r>
            <a:r>
              <a:rPr lang="en-IN" dirty="0"/>
              <a:t> = (</a:t>
            </a:r>
            <a:r>
              <a:rPr lang="en-IN" dirty="0" err="1"/>
              <a:t>P</a:t>
            </a:r>
            <a:r>
              <a:rPr lang="en-IN" baseline="-25000" dirty="0" err="1"/>
              <a:t>m</a:t>
            </a:r>
            <a:r>
              <a:rPr lang="en-IN" dirty="0" err="1"/>
              <a:t>+kP</a:t>
            </a:r>
            <a:r>
              <a:rPr lang="en-IN" baseline="-25000" dirty="0" err="1"/>
              <a:t>U</a:t>
            </a:r>
            <a:r>
              <a:rPr lang="en-IN" dirty="0"/>
              <a:t>)</a:t>
            </a:r>
          </a:p>
          <a:p>
            <a:pPr marL="514350" indent="-514350" algn="just">
              <a:buNone/>
            </a:pPr>
            <a:r>
              <a:rPr lang="en-IN" dirty="0"/>
              <a:t>     = (4,6) + 2 (3,3)</a:t>
            </a:r>
          </a:p>
          <a:p>
            <a:pPr marL="514350" indent="-514350" algn="just">
              <a:buNone/>
            </a:pPr>
            <a:r>
              <a:rPr lang="en-IN" dirty="0"/>
              <a:t>As we computed 2 (3,3) = (6,5) so substitute this in the above equation,</a:t>
            </a:r>
          </a:p>
          <a:p>
            <a:pPr marL="514350" indent="-514350" algn="just">
              <a:buNone/>
            </a:pPr>
            <a:r>
              <a:rPr lang="en-IN" dirty="0"/>
              <a:t>C</a:t>
            </a:r>
            <a:r>
              <a:rPr lang="en-IN" baseline="-25000" dirty="0"/>
              <a:t>2</a:t>
            </a:r>
            <a:r>
              <a:rPr lang="en-IN" dirty="0"/>
              <a:t> = (4,6) + (6,5) </a:t>
            </a:r>
          </a:p>
          <a:p>
            <a:pPr marL="514350" indent="-514350" algn="just">
              <a:buNone/>
            </a:pPr>
            <a:r>
              <a:rPr lang="en-IN" dirty="0"/>
              <a:t>Now add two different points (4,6)  and (6,5) as follows;</a:t>
            </a:r>
          </a:p>
          <a:p>
            <a:pPr marL="514350" indent="-514350" algn="just">
              <a:buNone/>
            </a:pP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52400"/>
            <a:ext cx="9144000" cy="6705600"/>
          </a:xfrm>
        </p:spPr>
        <p:txBody>
          <a:bodyPr>
            <a:normAutofit fontScale="70000" lnSpcReduction="20000"/>
          </a:bodyPr>
          <a:lstStyle/>
          <a:p>
            <a:pPr marL="571500" indent="-571500" algn="just"/>
            <a:r>
              <a:rPr lang="en-IN" dirty="0"/>
              <a:t>Add two different points (4,6)  and (6,5) </a:t>
            </a:r>
          </a:p>
          <a:p>
            <a:pPr marL="571500" indent="-571500" algn="just"/>
            <a:r>
              <a:rPr lang="en-IN" dirty="0"/>
              <a:t>Compute </a:t>
            </a:r>
            <a:r>
              <a:rPr lang="en-IN" dirty="0">
                <a:solidFill>
                  <a:srgbClr val="FF0000"/>
                </a:solidFill>
                <a:sym typeface="Symbol"/>
              </a:rPr>
              <a:t> = </a:t>
            </a:r>
            <a:r>
              <a:rPr lang="en-IN" dirty="0">
                <a:solidFill>
                  <a:srgbClr val="FF0000"/>
                </a:solidFill>
              </a:rPr>
              <a:t> [(y</a:t>
            </a:r>
            <a:r>
              <a:rPr lang="en-IN" baseline="-25000" dirty="0">
                <a:solidFill>
                  <a:srgbClr val="FF0000"/>
                </a:solidFill>
              </a:rPr>
              <a:t>2</a:t>
            </a:r>
            <a:r>
              <a:rPr lang="en-IN" dirty="0">
                <a:solidFill>
                  <a:srgbClr val="FF0000"/>
                </a:solidFill>
              </a:rPr>
              <a:t>-y</a:t>
            </a:r>
            <a:r>
              <a:rPr lang="en-IN" baseline="-25000" dirty="0">
                <a:solidFill>
                  <a:srgbClr val="FF0000"/>
                </a:solidFill>
              </a:rPr>
              <a:t>1</a:t>
            </a:r>
            <a:r>
              <a:rPr lang="en-IN" dirty="0">
                <a:solidFill>
                  <a:srgbClr val="FF0000"/>
                </a:solidFill>
              </a:rPr>
              <a:t>)/(x</a:t>
            </a:r>
            <a:r>
              <a:rPr lang="en-IN" baseline="-25000" dirty="0">
                <a:solidFill>
                  <a:srgbClr val="FF0000"/>
                </a:solidFill>
              </a:rPr>
              <a:t>2</a:t>
            </a:r>
            <a:r>
              <a:rPr lang="en-IN" dirty="0">
                <a:solidFill>
                  <a:srgbClr val="FF0000"/>
                </a:solidFill>
              </a:rPr>
              <a:t>- x</a:t>
            </a:r>
            <a:r>
              <a:rPr lang="en-IN" baseline="-25000" dirty="0">
                <a:solidFill>
                  <a:srgbClr val="FF0000"/>
                </a:solidFill>
              </a:rPr>
              <a:t>1</a:t>
            </a:r>
            <a:r>
              <a:rPr lang="en-IN" dirty="0">
                <a:solidFill>
                  <a:srgbClr val="FF0000"/>
                </a:solidFill>
              </a:rPr>
              <a:t>) ]mod p </a:t>
            </a:r>
          </a:p>
          <a:p>
            <a:pPr algn="just">
              <a:buNone/>
            </a:pP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  <a:sym typeface="Symbol"/>
              </a:rPr>
              <a:t>                     = </a:t>
            </a: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[(5-6)/(6-4) ]mod 11</a:t>
            </a:r>
          </a:p>
          <a:p>
            <a:pPr algn="just">
              <a:buNone/>
            </a:pP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  <a:sym typeface="Symbol"/>
              </a:rPr>
              <a:t>		       = </a:t>
            </a: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[(-1)/2 ]mod 11</a:t>
            </a:r>
          </a:p>
          <a:p>
            <a:pPr algn="just">
              <a:buNone/>
            </a:pP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	       = (-1) * 2</a:t>
            </a:r>
            <a:r>
              <a:rPr lang="en-IN" baseline="30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-1</a:t>
            </a: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mod 11</a:t>
            </a:r>
          </a:p>
          <a:p>
            <a:pPr algn="just">
              <a:buNone/>
            </a:pP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             = – 6 mod 11 = 11 – (6 mod 11) </a:t>
            </a:r>
          </a:p>
          <a:p>
            <a:pPr algn="just">
              <a:buNone/>
            </a:pP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             = 11 - 6</a:t>
            </a:r>
          </a:p>
          <a:p>
            <a:pPr algn="just">
              <a:buNone/>
            </a:pP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  <a:sym typeface="Symbol"/>
              </a:rPr>
              <a:t>                  </a:t>
            </a:r>
            <a:r>
              <a:rPr lang="en-IN" b="1" dirty="0">
                <a:solidFill>
                  <a:schemeClr val="tx1">
                    <a:lumMod val="85000"/>
                    <a:lumOff val="15000"/>
                  </a:schemeClr>
                </a:solidFill>
                <a:sym typeface="Symbol"/>
              </a:rPr>
              <a:t> </a:t>
            </a:r>
            <a:r>
              <a:rPr lang="en-IN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= 5</a:t>
            </a:r>
          </a:p>
          <a:p>
            <a:pPr marL="571500" indent="-571500" algn="just"/>
            <a:r>
              <a:rPr lang="en-IN" dirty="0"/>
              <a:t>Compute </a:t>
            </a:r>
            <a:r>
              <a:rPr lang="en-IN" dirty="0">
                <a:solidFill>
                  <a:srgbClr val="FF0000"/>
                </a:solidFill>
              </a:rPr>
              <a:t>x</a:t>
            </a:r>
            <a:r>
              <a:rPr lang="en-IN" baseline="-25000" dirty="0">
                <a:solidFill>
                  <a:srgbClr val="FF0000"/>
                </a:solidFill>
              </a:rPr>
              <a:t>3</a:t>
            </a:r>
            <a:r>
              <a:rPr lang="en-IN" dirty="0">
                <a:solidFill>
                  <a:srgbClr val="FF0000"/>
                </a:solidFill>
              </a:rPr>
              <a:t> = </a:t>
            </a:r>
            <a:r>
              <a:rPr lang="en-IN" dirty="0">
                <a:solidFill>
                  <a:srgbClr val="FF0000"/>
                </a:solidFill>
                <a:sym typeface="Symbol"/>
              </a:rPr>
              <a:t></a:t>
            </a:r>
            <a:r>
              <a:rPr lang="en-IN" baseline="30000" dirty="0">
                <a:solidFill>
                  <a:srgbClr val="FF0000"/>
                </a:solidFill>
                <a:sym typeface="Symbol"/>
              </a:rPr>
              <a:t>2</a:t>
            </a:r>
            <a:r>
              <a:rPr lang="en-IN" dirty="0">
                <a:solidFill>
                  <a:srgbClr val="FF0000"/>
                </a:solidFill>
                <a:sym typeface="Symbol"/>
              </a:rPr>
              <a:t> - </a:t>
            </a:r>
            <a:r>
              <a:rPr lang="en-IN" dirty="0">
                <a:solidFill>
                  <a:srgbClr val="FF0000"/>
                </a:solidFill>
              </a:rPr>
              <a:t>x</a:t>
            </a:r>
            <a:r>
              <a:rPr lang="en-IN" baseline="-25000" dirty="0">
                <a:solidFill>
                  <a:srgbClr val="FF0000"/>
                </a:solidFill>
              </a:rPr>
              <a:t>1</a:t>
            </a:r>
            <a:r>
              <a:rPr lang="en-IN" dirty="0">
                <a:solidFill>
                  <a:srgbClr val="FF0000"/>
                </a:solidFill>
              </a:rPr>
              <a:t>- x</a:t>
            </a:r>
            <a:r>
              <a:rPr lang="en-IN" baseline="-25000" dirty="0">
                <a:solidFill>
                  <a:srgbClr val="FF0000"/>
                </a:solidFill>
              </a:rPr>
              <a:t>2</a:t>
            </a:r>
            <a:r>
              <a:rPr lang="en-IN" dirty="0">
                <a:solidFill>
                  <a:srgbClr val="FF0000"/>
                </a:solidFill>
              </a:rPr>
              <a:t> mod p</a:t>
            </a:r>
          </a:p>
          <a:p>
            <a:pPr marL="571500" indent="-571500" algn="just">
              <a:buNone/>
            </a:pPr>
            <a:r>
              <a:rPr lang="en-IN" dirty="0">
                <a:solidFill>
                  <a:srgbClr val="FF0000"/>
                </a:solidFill>
              </a:rPr>
              <a:t>		        </a:t>
            </a: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= </a:t>
            </a: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  <a:sym typeface="Symbol"/>
              </a:rPr>
              <a:t>5</a:t>
            </a:r>
            <a:r>
              <a:rPr lang="en-IN" baseline="30000" dirty="0">
                <a:solidFill>
                  <a:schemeClr val="tx1">
                    <a:lumMod val="85000"/>
                    <a:lumOff val="15000"/>
                  </a:schemeClr>
                </a:solidFill>
                <a:sym typeface="Symbol"/>
              </a:rPr>
              <a:t>2</a:t>
            </a: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  <a:sym typeface="Symbol"/>
              </a:rPr>
              <a:t> – 4–</a:t>
            </a: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6 mod 11</a:t>
            </a:r>
          </a:p>
          <a:p>
            <a:pPr marL="571500" indent="-571500" algn="just">
              <a:buNone/>
            </a:pPr>
            <a:r>
              <a:rPr lang="en-IN" dirty="0"/>
              <a:t> 		        = 25 – 10 </a:t>
            </a: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mod 11 = 15 mod 11</a:t>
            </a:r>
          </a:p>
          <a:p>
            <a:pPr marL="571500" indent="-571500" algn="just">
              <a:buNone/>
            </a:pPr>
            <a:r>
              <a:rPr lang="en-IN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	    x</a:t>
            </a:r>
            <a:r>
              <a:rPr lang="en-IN" b="1" baseline="-25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3 </a:t>
            </a:r>
            <a:r>
              <a:rPr lang="en-IN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= 4</a:t>
            </a:r>
          </a:p>
          <a:p>
            <a:pPr marL="571500" indent="-571500" algn="just"/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Compute </a:t>
            </a:r>
            <a:r>
              <a:rPr lang="en-IN" dirty="0">
                <a:solidFill>
                  <a:srgbClr val="FF0000"/>
                </a:solidFill>
              </a:rPr>
              <a:t>y</a:t>
            </a:r>
            <a:r>
              <a:rPr lang="en-IN" baseline="-25000" dirty="0">
                <a:solidFill>
                  <a:srgbClr val="FF0000"/>
                </a:solidFill>
              </a:rPr>
              <a:t>3</a:t>
            </a:r>
            <a:r>
              <a:rPr lang="en-IN" dirty="0">
                <a:solidFill>
                  <a:srgbClr val="FF0000"/>
                </a:solidFill>
              </a:rPr>
              <a:t> = </a:t>
            </a:r>
            <a:r>
              <a:rPr lang="en-IN" dirty="0">
                <a:solidFill>
                  <a:srgbClr val="FF0000"/>
                </a:solidFill>
                <a:sym typeface="Symbol"/>
              </a:rPr>
              <a:t> (</a:t>
            </a:r>
            <a:r>
              <a:rPr lang="en-IN" dirty="0">
                <a:solidFill>
                  <a:srgbClr val="FF0000"/>
                </a:solidFill>
              </a:rPr>
              <a:t>x</a:t>
            </a:r>
            <a:r>
              <a:rPr lang="en-IN" baseline="-25000" dirty="0">
                <a:solidFill>
                  <a:srgbClr val="FF0000"/>
                </a:solidFill>
              </a:rPr>
              <a:t>1</a:t>
            </a:r>
            <a:r>
              <a:rPr lang="en-IN" dirty="0">
                <a:solidFill>
                  <a:srgbClr val="FF0000"/>
                </a:solidFill>
              </a:rPr>
              <a:t>- x</a:t>
            </a:r>
            <a:r>
              <a:rPr lang="en-IN" baseline="-25000" dirty="0">
                <a:solidFill>
                  <a:srgbClr val="FF0000"/>
                </a:solidFill>
              </a:rPr>
              <a:t>3</a:t>
            </a:r>
            <a:r>
              <a:rPr lang="en-IN" dirty="0">
                <a:solidFill>
                  <a:srgbClr val="FF0000"/>
                </a:solidFill>
              </a:rPr>
              <a:t>) - y</a:t>
            </a:r>
            <a:r>
              <a:rPr lang="en-IN" baseline="-25000" dirty="0">
                <a:solidFill>
                  <a:srgbClr val="FF0000"/>
                </a:solidFill>
              </a:rPr>
              <a:t>1 </a:t>
            </a:r>
            <a:r>
              <a:rPr lang="en-IN" dirty="0">
                <a:solidFill>
                  <a:srgbClr val="FF0000"/>
                </a:solidFill>
              </a:rPr>
              <a:t>mod p</a:t>
            </a:r>
          </a:p>
          <a:p>
            <a:pPr marL="571500" indent="-571500" algn="just">
              <a:buNone/>
            </a:pPr>
            <a:r>
              <a:rPr lang="en-IN" dirty="0">
                <a:solidFill>
                  <a:srgbClr val="FF0000"/>
                </a:solidFill>
              </a:rPr>
              <a:t>		        </a:t>
            </a: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= </a:t>
            </a: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  <a:sym typeface="Symbol"/>
              </a:rPr>
              <a:t>5 (4 </a:t>
            </a: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- 4) - 6</a:t>
            </a:r>
            <a:r>
              <a:rPr lang="en-IN" baseline="-25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mod 11</a:t>
            </a:r>
          </a:p>
          <a:p>
            <a:pPr marL="571500" indent="-571500" algn="just">
              <a:buNone/>
            </a:pP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		        = – 6 mod 11</a:t>
            </a:r>
          </a:p>
          <a:p>
            <a:pPr marL="571500" indent="-571500" algn="just">
              <a:buNone/>
            </a:pPr>
            <a:r>
              <a:rPr lang="en-IN" dirty="0"/>
              <a:t>                      = 11 – (6 mod 11) = 11 – 6 </a:t>
            </a:r>
          </a:p>
          <a:p>
            <a:pPr marL="571500" indent="-571500" algn="just">
              <a:buNone/>
            </a:pPr>
            <a:r>
              <a:rPr lang="en-IN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	   y</a:t>
            </a:r>
            <a:r>
              <a:rPr lang="en-IN" b="1" baseline="-25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3</a:t>
            </a:r>
            <a:r>
              <a:rPr lang="en-IN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= 5</a:t>
            </a:r>
          </a:p>
          <a:p>
            <a:pPr algn="just">
              <a:buNone/>
            </a:pP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Therefore, </a:t>
            </a:r>
            <a:r>
              <a:rPr lang="en-IN" dirty="0"/>
              <a:t>C</a:t>
            </a:r>
            <a:r>
              <a:rPr lang="en-IN" baseline="-25000" dirty="0"/>
              <a:t>2</a:t>
            </a: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= (4,5)</a:t>
            </a:r>
          </a:p>
          <a:p>
            <a:pPr algn="just">
              <a:buNone/>
            </a:pP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Finally the  encrypted message is </a:t>
            </a:r>
            <a:r>
              <a:rPr lang="en-IN" b="1" dirty="0"/>
              <a:t>C</a:t>
            </a:r>
            <a:r>
              <a:rPr lang="en-IN" b="1" baseline="-25000" dirty="0"/>
              <a:t>m</a:t>
            </a:r>
            <a:r>
              <a:rPr lang="en-IN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= (</a:t>
            </a:r>
            <a:r>
              <a:rPr lang="en-IN" b="1" dirty="0"/>
              <a:t>C</a:t>
            </a:r>
            <a:r>
              <a:rPr lang="en-IN" b="1" baseline="-25000" dirty="0"/>
              <a:t>1</a:t>
            </a:r>
            <a:r>
              <a:rPr lang="en-IN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</a:t>
            </a:r>
            <a:r>
              <a:rPr lang="en-IN" b="1" dirty="0"/>
              <a:t>C</a:t>
            </a:r>
            <a:r>
              <a:rPr lang="en-IN" b="1" baseline="-25000" dirty="0"/>
              <a:t>2</a:t>
            </a:r>
            <a:r>
              <a:rPr lang="en-IN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) = {(3,3),(4,5)}</a:t>
            </a:r>
          </a:p>
          <a:p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– 4(Decryption)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u="sng" dirty="0"/>
              <a:t>Decryption:</a:t>
            </a:r>
          </a:p>
          <a:p>
            <a:pPr algn="just"/>
            <a:r>
              <a:rPr lang="en-IN" dirty="0"/>
              <a:t>Compute P</a:t>
            </a:r>
            <a:r>
              <a:rPr lang="en-IN" baseline="-25000" dirty="0"/>
              <a:t>m</a:t>
            </a:r>
            <a:r>
              <a:rPr lang="en-IN" dirty="0"/>
              <a:t> = C</a:t>
            </a:r>
            <a:r>
              <a:rPr lang="en-IN" baseline="-25000" dirty="0"/>
              <a:t>2</a:t>
            </a:r>
            <a:r>
              <a:rPr lang="en-IN" dirty="0"/>
              <a:t> – [n</a:t>
            </a:r>
            <a:r>
              <a:rPr lang="en-IN" b="1" dirty="0"/>
              <a:t> </a:t>
            </a:r>
            <a:r>
              <a:rPr lang="en-IN" dirty="0"/>
              <a:t>C</a:t>
            </a:r>
            <a:r>
              <a:rPr lang="en-IN" baseline="-25000" dirty="0"/>
              <a:t>1</a:t>
            </a:r>
            <a:r>
              <a:rPr lang="en-IN" dirty="0"/>
              <a:t>]</a:t>
            </a:r>
          </a:p>
          <a:p>
            <a:pPr algn="just">
              <a:buNone/>
            </a:pPr>
            <a:endParaRPr lang="en-IN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Step-4: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447800"/>
            <a:ext cx="7543800" cy="4876800"/>
          </a:xfrm>
        </p:spPr>
        <p:txBody>
          <a:bodyPr/>
          <a:lstStyle/>
          <a:p>
            <a:pPr algn="just"/>
            <a:r>
              <a:rPr lang="en-IN" dirty="0"/>
              <a:t>P</a:t>
            </a:r>
            <a:r>
              <a:rPr lang="en-IN" baseline="-25000" dirty="0"/>
              <a:t>m</a:t>
            </a:r>
            <a:r>
              <a:rPr lang="en-IN" dirty="0"/>
              <a:t> = C</a:t>
            </a:r>
            <a:r>
              <a:rPr lang="en-IN" baseline="-25000" dirty="0"/>
              <a:t>2</a:t>
            </a:r>
            <a:r>
              <a:rPr lang="en-IN" dirty="0"/>
              <a:t> – [n</a:t>
            </a:r>
            <a:r>
              <a:rPr lang="en-IN" b="1" dirty="0"/>
              <a:t> </a:t>
            </a:r>
            <a:r>
              <a:rPr lang="en-IN" dirty="0"/>
              <a:t>C</a:t>
            </a:r>
            <a:r>
              <a:rPr lang="en-IN" baseline="-25000" dirty="0"/>
              <a:t>1</a:t>
            </a:r>
            <a:r>
              <a:rPr lang="en-IN" dirty="0"/>
              <a:t>], where C</a:t>
            </a:r>
            <a:r>
              <a:rPr lang="en-IN" baseline="-25000" dirty="0"/>
              <a:t>1</a:t>
            </a:r>
            <a:r>
              <a:rPr lang="en-IN" dirty="0"/>
              <a:t> = (3,3),</a:t>
            </a:r>
          </a:p>
          <a:p>
            <a:pPr algn="just">
              <a:buNone/>
            </a:pPr>
            <a:r>
              <a:rPr lang="en-IN" dirty="0"/>
              <a:t> C</a:t>
            </a:r>
            <a:r>
              <a:rPr lang="en-IN" baseline="-25000" dirty="0"/>
              <a:t>2</a:t>
            </a:r>
            <a:r>
              <a:rPr lang="en-IN" dirty="0"/>
              <a:t> = (4,5), n=2.</a:t>
            </a:r>
          </a:p>
          <a:p>
            <a:pPr algn="just">
              <a:buNone/>
            </a:pPr>
            <a:r>
              <a:rPr lang="en-IN" dirty="0"/>
              <a:t> P</a:t>
            </a:r>
            <a:r>
              <a:rPr lang="en-IN" baseline="-25000" dirty="0"/>
              <a:t>m</a:t>
            </a:r>
            <a:r>
              <a:rPr lang="en-IN" dirty="0"/>
              <a:t> = (4,5) – [2(3,3)]</a:t>
            </a:r>
          </a:p>
          <a:p>
            <a:pPr algn="just">
              <a:buNone/>
            </a:pPr>
            <a:r>
              <a:rPr lang="en-IN" dirty="0"/>
              <a:t>As we computed 2 (3,3) = (6,5) so substitute this in the above equation,</a:t>
            </a:r>
          </a:p>
          <a:p>
            <a:pPr algn="just">
              <a:buNone/>
            </a:pPr>
            <a:r>
              <a:rPr lang="en-IN" dirty="0"/>
              <a:t> P</a:t>
            </a:r>
            <a:r>
              <a:rPr lang="en-IN" baseline="-25000" dirty="0"/>
              <a:t>m</a:t>
            </a:r>
            <a:r>
              <a:rPr lang="en-IN" dirty="0"/>
              <a:t> = (4,5) – (6,5)</a:t>
            </a:r>
          </a:p>
          <a:p>
            <a:pPr algn="just">
              <a:buNone/>
            </a:pPr>
            <a:r>
              <a:rPr lang="en-IN" dirty="0"/>
              <a:t>We can rewrite the above equation by considering the following representation;</a:t>
            </a:r>
          </a:p>
          <a:p>
            <a:pPr algn="just">
              <a:buNone/>
            </a:pPr>
            <a:endParaRPr lang="en-IN" dirty="0"/>
          </a:p>
          <a:p>
            <a:pPr algn="just">
              <a:buNone/>
            </a:pPr>
            <a:endParaRPr lang="en-IN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6019800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IN" sz="2800" dirty="0"/>
              <a:t>Let consider the following representation;</a:t>
            </a:r>
          </a:p>
          <a:p>
            <a:pPr algn="just"/>
            <a:endParaRPr lang="en-IN" sz="2800" dirty="0"/>
          </a:p>
          <a:p>
            <a:pPr algn="just"/>
            <a:endParaRPr lang="en-IN" sz="2800" dirty="0"/>
          </a:p>
          <a:p>
            <a:pPr algn="just"/>
            <a:endParaRPr lang="en-IN" sz="2800" dirty="0"/>
          </a:p>
          <a:p>
            <a:pPr algn="just"/>
            <a:endParaRPr lang="en-IN" sz="2800" dirty="0"/>
          </a:p>
          <a:p>
            <a:pPr algn="just"/>
            <a:endParaRPr lang="en-IN" sz="2800" dirty="0"/>
          </a:p>
          <a:p>
            <a:pPr algn="just"/>
            <a:r>
              <a:rPr lang="en-IN" sz="2800" dirty="0"/>
              <a:t>Where </a:t>
            </a:r>
            <a:r>
              <a:rPr lang="en-IN" sz="2800" b="1" dirty="0"/>
              <a:t>–P is the reflection of P </a:t>
            </a:r>
            <a:r>
              <a:rPr lang="en-IN" sz="2800" dirty="0"/>
              <a:t>and the difference between P and –P is no change in x and the sign of y varies.</a:t>
            </a:r>
          </a:p>
          <a:p>
            <a:pPr algn="just"/>
            <a:r>
              <a:rPr lang="en-IN" sz="2800" dirty="0"/>
              <a:t>So we can rewrite the equation </a:t>
            </a:r>
          </a:p>
          <a:p>
            <a:pPr algn="just">
              <a:buNone/>
            </a:pPr>
            <a:r>
              <a:rPr lang="en-IN" sz="2800" dirty="0"/>
              <a:t> </a:t>
            </a:r>
            <a:r>
              <a:rPr lang="en-IN" sz="2400" dirty="0"/>
              <a:t>P</a:t>
            </a:r>
            <a:r>
              <a:rPr lang="en-IN" sz="2400" baseline="-25000" dirty="0"/>
              <a:t>m</a:t>
            </a:r>
            <a:r>
              <a:rPr lang="en-IN" sz="2800" dirty="0"/>
              <a:t> = (4,5) – (6,5)</a:t>
            </a:r>
          </a:p>
          <a:p>
            <a:pPr algn="just">
              <a:buNone/>
            </a:pPr>
            <a:r>
              <a:rPr lang="en-IN" sz="2800" dirty="0"/>
              <a:t>          = (4,5) + (6,</a:t>
            </a:r>
            <a:r>
              <a:rPr lang="en-IN" sz="2800" b="1" dirty="0"/>
              <a:t>-5</a:t>
            </a:r>
            <a:r>
              <a:rPr lang="en-IN" sz="2800" dirty="0"/>
              <a:t>)</a:t>
            </a:r>
          </a:p>
          <a:p>
            <a:pPr algn="just">
              <a:buNone/>
            </a:pPr>
            <a:r>
              <a:rPr lang="en-IN" sz="2800" dirty="0"/>
              <a:t>Here -5 mod 11 = 11 – (5 mod 11) = 11 – 5 = 6, so we replace -5 by 6, then finally we get;</a:t>
            </a:r>
          </a:p>
          <a:p>
            <a:pPr algn="just">
              <a:buNone/>
            </a:pPr>
            <a:r>
              <a:rPr lang="en-IN" sz="2800" b="1" dirty="0"/>
              <a:t>      </a:t>
            </a:r>
            <a:r>
              <a:rPr lang="en-IN" sz="2400" b="1" dirty="0"/>
              <a:t>P</a:t>
            </a:r>
            <a:r>
              <a:rPr lang="en-IN" sz="2400" b="1" baseline="-25000" dirty="0"/>
              <a:t>m</a:t>
            </a:r>
            <a:r>
              <a:rPr lang="en-IN" sz="2800" b="1" dirty="0"/>
              <a:t> = (4,5) + (6,6) </a:t>
            </a:r>
            <a:r>
              <a:rPr lang="en-IN" sz="2800" dirty="0"/>
              <a:t>Now add these two points</a:t>
            </a:r>
          </a:p>
          <a:p>
            <a:pPr algn="just">
              <a:buNone/>
            </a:pPr>
            <a:endParaRPr lang="en-IN" sz="2800" dirty="0"/>
          </a:p>
          <a:p>
            <a:pPr algn="just">
              <a:buNone/>
            </a:pPr>
            <a:endParaRPr lang="en-IN" sz="2800" dirty="0"/>
          </a:p>
          <a:p>
            <a:pPr algn="just">
              <a:buNone/>
            </a:pPr>
            <a:endParaRPr lang="en-IN" sz="2800" dirty="0"/>
          </a:p>
          <a:p>
            <a:pPr algn="just"/>
            <a:endParaRPr lang="en-IN" sz="2800" dirty="0"/>
          </a:p>
          <a:p>
            <a:pPr algn="just"/>
            <a:endParaRPr lang="en-IN" sz="28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86001" y="838200"/>
            <a:ext cx="3733799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6172200"/>
          </a:xfrm>
        </p:spPr>
        <p:txBody>
          <a:bodyPr>
            <a:normAutofit fontScale="77500" lnSpcReduction="20000"/>
          </a:bodyPr>
          <a:lstStyle/>
          <a:p>
            <a:r>
              <a:rPr lang="en-IN" dirty="0"/>
              <a:t> P</a:t>
            </a:r>
            <a:r>
              <a:rPr lang="en-IN" baseline="-25000" dirty="0"/>
              <a:t>m</a:t>
            </a:r>
            <a:r>
              <a:rPr lang="en-IN" dirty="0"/>
              <a:t> = (4,5) + (6,6) :</a:t>
            </a:r>
          </a:p>
          <a:p>
            <a:pPr marL="571500" indent="-571500" algn="just">
              <a:buNone/>
            </a:pPr>
            <a:r>
              <a:rPr lang="en-IN" dirty="0"/>
              <a:t>Compute </a:t>
            </a:r>
            <a:r>
              <a:rPr lang="en-IN" dirty="0">
                <a:solidFill>
                  <a:srgbClr val="FF0000"/>
                </a:solidFill>
                <a:sym typeface="Symbol"/>
              </a:rPr>
              <a:t> = </a:t>
            </a:r>
            <a:r>
              <a:rPr lang="en-IN" dirty="0">
                <a:solidFill>
                  <a:srgbClr val="FF0000"/>
                </a:solidFill>
              </a:rPr>
              <a:t> [(y</a:t>
            </a:r>
            <a:r>
              <a:rPr lang="en-IN" baseline="-25000" dirty="0">
                <a:solidFill>
                  <a:srgbClr val="FF0000"/>
                </a:solidFill>
              </a:rPr>
              <a:t>2</a:t>
            </a:r>
            <a:r>
              <a:rPr lang="en-IN" dirty="0">
                <a:solidFill>
                  <a:srgbClr val="FF0000"/>
                </a:solidFill>
              </a:rPr>
              <a:t>-y</a:t>
            </a:r>
            <a:r>
              <a:rPr lang="en-IN" baseline="-25000" dirty="0">
                <a:solidFill>
                  <a:srgbClr val="FF0000"/>
                </a:solidFill>
              </a:rPr>
              <a:t>1</a:t>
            </a:r>
            <a:r>
              <a:rPr lang="en-IN" dirty="0">
                <a:solidFill>
                  <a:srgbClr val="FF0000"/>
                </a:solidFill>
              </a:rPr>
              <a:t>)/(x</a:t>
            </a:r>
            <a:r>
              <a:rPr lang="en-IN" baseline="-25000" dirty="0">
                <a:solidFill>
                  <a:srgbClr val="FF0000"/>
                </a:solidFill>
              </a:rPr>
              <a:t>2</a:t>
            </a:r>
            <a:r>
              <a:rPr lang="en-IN" dirty="0">
                <a:solidFill>
                  <a:srgbClr val="FF0000"/>
                </a:solidFill>
              </a:rPr>
              <a:t>- x</a:t>
            </a:r>
            <a:r>
              <a:rPr lang="en-IN" baseline="-25000" dirty="0">
                <a:solidFill>
                  <a:srgbClr val="FF0000"/>
                </a:solidFill>
              </a:rPr>
              <a:t>1</a:t>
            </a:r>
            <a:r>
              <a:rPr lang="en-IN" dirty="0">
                <a:solidFill>
                  <a:srgbClr val="FF0000"/>
                </a:solidFill>
              </a:rPr>
              <a:t>) ]mod p </a:t>
            </a:r>
          </a:p>
          <a:p>
            <a:pPr algn="just">
              <a:buNone/>
            </a:pP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  <a:sym typeface="Symbol"/>
              </a:rPr>
              <a:t>                     = </a:t>
            </a: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[(6-5)/(6-4) ]mod 11</a:t>
            </a:r>
          </a:p>
          <a:p>
            <a:pPr algn="just">
              <a:buNone/>
            </a:pP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  <a:sym typeface="Symbol"/>
              </a:rPr>
              <a:t>		       = </a:t>
            </a: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[1/2 ]mod 11</a:t>
            </a:r>
          </a:p>
          <a:p>
            <a:pPr algn="just">
              <a:buNone/>
            </a:pP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	       = 1 * 2</a:t>
            </a:r>
            <a:r>
              <a:rPr lang="en-IN" baseline="30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-1</a:t>
            </a: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mod 11</a:t>
            </a:r>
          </a:p>
          <a:p>
            <a:pPr algn="just">
              <a:buNone/>
            </a:pP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        </a:t>
            </a:r>
            <a:r>
              <a:rPr lang="en-IN" b="1" dirty="0">
                <a:solidFill>
                  <a:schemeClr val="tx1">
                    <a:lumMod val="85000"/>
                    <a:lumOff val="15000"/>
                  </a:schemeClr>
                </a:solidFill>
                <a:sym typeface="Symbol"/>
              </a:rPr>
              <a:t> </a:t>
            </a:r>
            <a:r>
              <a:rPr lang="en-IN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= 6</a:t>
            </a:r>
          </a:p>
          <a:p>
            <a:pPr marL="571500" indent="-571500" algn="just">
              <a:buNone/>
            </a:pPr>
            <a:r>
              <a:rPr lang="en-IN" dirty="0"/>
              <a:t>Compute </a:t>
            </a:r>
            <a:r>
              <a:rPr lang="en-IN" dirty="0">
                <a:solidFill>
                  <a:srgbClr val="FF0000"/>
                </a:solidFill>
              </a:rPr>
              <a:t>x</a:t>
            </a:r>
            <a:r>
              <a:rPr lang="en-IN" baseline="-25000" dirty="0">
                <a:solidFill>
                  <a:srgbClr val="FF0000"/>
                </a:solidFill>
              </a:rPr>
              <a:t>3</a:t>
            </a:r>
            <a:r>
              <a:rPr lang="en-IN" dirty="0">
                <a:solidFill>
                  <a:srgbClr val="FF0000"/>
                </a:solidFill>
              </a:rPr>
              <a:t> = </a:t>
            </a:r>
            <a:r>
              <a:rPr lang="en-IN" dirty="0">
                <a:solidFill>
                  <a:srgbClr val="FF0000"/>
                </a:solidFill>
                <a:sym typeface="Symbol"/>
              </a:rPr>
              <a:t></a:t>
            </a:r>
            <a:r>
              <a:rPr lang="en-IN" baseline="30000" dirty="0">
                <a:solidFill>
                  <a:srgbClr val="FF0000"/>
                </a:solidFill>
                <a:sym typeface="Symbol"/>
              </a:rPr>
              <a:t>2</a:t>
            </a:r>
            <a:r>
              <a:rPr lang="en-IN" dirty="0">
                <a:solidFill>
                  <a:srgbClr val="FF0000"/>
                </a:solidFill>
                <a:sym typeface="Symbol"/>
              </a:rPr>
              <a:t> - </a:t>
            </a:r>
            <a:r>
              <a:rPr lang="en-IN" dirty="0">
                <a:solidFill>
                  <a:srgbClr val="FF0000"/>
                </a:solidFill>
              </a:rPr>
              <a:t>x</a:t>
            </a:r>
            <a:r>
              <a:rPr lang="en-IN" baseline="-25000" dirty="0">
                <a:solidFill>
                  <a:srgbClr val="FF0000"/>
                </a:solidFill>
              </a:rPr>
              <a:t>1</a:t>
            </a:r>
            <a:r>
              <a:rPr lang="en-IN" dirty="0">
                <a:solidFill>
                  <a:srgbClr val="FF0000"/>
                </a:solidFill>
              </a:rPr>
              <a:t>- x</a:t>
            </a:r>
            <a:r>
              <a:rPr lang="en-IN" baseline="-25000" dirty="0">
                <a:solidFill>
                  <a:srgbClr val="FF0000"/>
                </a:solidFill>
              </a:rPr>
              <a:t>2</a:t>
            </a:r>
            <a:r>
              <a:rPr lang="en-IN" dirty="0">
                <a:solidFill>
                  <a:srgbClr val="FF0000"/>
                </a:solidFill>
              </a:rPr>
              <a:t> mod p</a:t>
            </a:r>
          </a:p>
          <a:p>
            <a:pPr marL="571500" indent="-571500" algn="just">
              <a:buNone/>
            </a:pPr>
            <a:r>
              <a:rPr lang="en-IN" dirty="0">
                <a:solidFill>
                  <a:srgbClr val="FF0000"/>
                </a:solidFill>
              </a:rPr>
              <a:t>		        </a:t>
            </a: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= </a:t>
            </a: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  <a:sym typeface="Symbol"/>
              </a:rPr>
              <a:t>6</a:t>
            </a:r>
            <a:r>
              <a:rPr lang="en-IN" baseline="30000" dirty="0">
                <a:solidFill>
                  <a:schemeClr val="tx1">
                    <a:lumMod val="85000"/>
                    <a:lumOff val="15000"/>
                  </a:schemeClr>
                </a:solidFill>
                <a:sym typeface="Symbol"/>
              </a:rPr>
              <a:t>2</a:t>
            </a: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  <a:sym typeface="Symbol"/>
              </a:rPr>
              <a:t> – 4–</a:t>
            </a: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6 mod 11</a:t>
            </a:r>
          </a:p>
          <a:p>
            <a:pPr marL="571500" indent="-571500" algn="just">
              <a:buNone/>
            </a:pPr>
            <a:r>
              <a:rPr lang="en-IN" dirty="0"/>
              <a:t> 		        = 36 – 10 </a:t>
            </a: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mod 11 = 26 mod 11</a:t>
            </a:r>
          </a:p>
          <a:p>
            <a:pPr marL="571500" indent="-571500" algn="just">
              <a:buNone/>
            </a:pPr>
            <a:r>
              <a:rPr lang="en-IN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	    x</a:t>
            </a:r>
            <a:r>
              <a:rPr lang="en-IN" b="1" baseline="-25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3 </a:t>
            </a:r>
            <a:r>
              <a:rPr lang="en-IN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= 4</a:t>
            </a:r>
          </a:p>
          <a:p>
            <a:pPr marL="571500" indent="-571500" algn="just">
              <a:buNone/>
            </a:pP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Compute </a:t>
            </a:r>
            <a:r>
              <a:rPr lang="en-IN" dirty="0">
                <a:solidFill>
                  <a:srgbClr val="FF0000"/>
                </a:solidFill>
              </a:rPr>
              <a:t>y</a:t>
            </a:r>
            <a:r>
              <a:rPr lang="en-IN" baseline="-25000" dirty="0">
                <a:solidFill>
                  <a:srgbClr val="FF0000"/>
                </a:solidFill>
              </a:rPr>
              <a:t>3</a:t>
            </a:r>
            <a:r>
              <a:rPr lang="en-IN" dirty="0">
                <a:solidFill>
                  <a:srgbClr val="FF0000"/>
                </a:solidFill>
              </a:rPr>
              <a:t> = </a:t>
            </a:r>
            <a:r>
              <a:rPr lang="en-IN" dirty="0">
                <a:solidFill>
                  <a:srgbClr val="FF0000"/>
                </a:solidFill>
                <a:sym typeface="Symbol"/>
              </a:rPr>
              <a:t> (</a:t>
            </a:r>
            <a:r>
              <a:rPr lang="en-IN" dirty="0">
                <a:solidFill>
                  <a:srgbClr val="FF0000"/>
                </a:solidFill>
              </a:rPr>
              <a:t>x</a:t>
            </a:r>
            <a:r>
              <a:rPr lang="en-IN" baseline="-25000" dirty="0">
                <a:solidFill>
                  <a:srgbClr val="FF0000"/>
                </a:solidFill>
              </a:rPr>
              <a:t>1</a:t>
            </a:r>
            <a:r>
              <a:rPr lang="en-IN" dirty="0">
                <a:solidFill>
                  <a:srgbClr val="FF0000"/>
                </a:solidFill>
              </a:rPr>
              <a:t>- x</a:t>
            </a:r>
            <a:r>
              <a:rPr lang="en-IN" baseline="-25000" dirty="0">
                <a:solidFill>
                  <a:srgbClr val="FF0000"/>
                </a:solidFill>
              </a:rPr>
              <a:t>3</a:t>
            </a:r>
            <a:r>
              <a:rPr lang="en-IN" dirty="0">
                <a:solidFill>
                  <a:srgbClr val="FF0000"/>
                </a:solidFill>
              </a:rPr>
              <a:t>) - y</a:t>
            </a:r>
            <a:r>
              <a:rPr lang="en-IN" baseline="-25000" dirty="0">
                <a:solidFill>
                  <a:srgbClr val="FF0000"/>
                </a:solidFill>
              </a:rPr>
              <a:t>1 </a:t>
            </a:r>
            <a:r>
              <a:rPr lang="en-IN" dirty="0">
                <a:solidFill>
                  <a:srgbClr val="FF0000"/>
                </a:solidFill>
              </a:rPr>
              <a:t>mod p</a:t>
            </a:r>
          </a:p>
          <a:p>
            <a:pPr marL="571500" indent="-571500" algn="just">
              <a:buNone/>
            </a:pPr>
            <a:r>
              <a:rPr lang="en-IN" dirty="0">
                <a:solidFill>
                  <a:srgbClr val="FF0000"/>
                </a:solidFill>
              </a:rPr>
              <a:t>		        </a:t>
            </a: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= </a:t>
            </a: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  <a:sym typeface="Symbol"/>
              </a:rPr>
              <a:t>6 (4 </a:t>
            </a: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- 4) - 5</a:t>
            </a:r>
            <a:r>
              <a:rPr lang="en-IN" baseline="-25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mod 11</a:t>
            </a:r>
          </a:p>
          <a:p>
            <a:pPr marL="571500" indent="-571500" algn="just">
              <a:buNone/>
            </a:pP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		        = – 5 mod 11</a:t>
            </a:r>
          </a:p>
          <a:p>
            <a:pPr marL="571500" indent="-571500" algn="just">
              <a:buNone/>
            </a:pPr>
            <a:r>
              <a:rPr lang="en-IN" dirty="0"/>
              <a:t>                     = 11 – (5 mod 11) = 11 – 5 </a:t>
            </a:r>
          </a:p>
          <a:p>
            <a:pPr marL="571500" indent="-571500" algn="just">
              <a:buNone/>
            </a:pPr>
            <a:r>
              <a:rPr lang="en-IN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	   y</a:t>
            </a:r>
            <a:r>
              <a:rPr lang="en-IN" b="1" baseline="-25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3</a:t>
            </a:r>
            <a:r>
              <a:rPr lang="en-IN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= 6</a:t>
            </a:r>
          </a:p>
          <a:p>
            <a:pPr marL="571500" indent="-571500" algn="just">
              <a:buNone/>
            </a:pP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Therefore, the plaintext </a:t>
            </a:r>
            <a:r>
              <a:rPr lang="en-IN" dirty="0"/>
              <a:t>P</a:t>
            </a:r>
            <a:r>
              <a:rPr lang="en-IN" baseline="-25000" dirty="0"/>
              <a:t>m</a:t>
            </a: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= (4,6)</a:t>
            </a:r>
          </a:p>
          <a:p>
            <a:endParaRPr lang="en-IN" dirty="0"/>
          </a:p>
          <a:p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Advantages of ECC over RSA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/>
              <a:t>ECC, it takes one-sixth the computational effort to provide the same level of cryptographic security that you get with 1024 bit RSA and is 15 times faster.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43000" y="3810000"/>
            <a:ext cx="7010400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592763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IN" dirty="0"/>
              <a:t>Because of the much smaller key sizes involved, ECC algorithms can be implemented on </a:t>
            </a:r>
            <a:r>
              <a:rPr lang="en-IN" b="1" dirty="0"/>
              <a:t>smartcards. Contactless smart cards </a:t>
            </a:r>
            <a:r>
              <a:rPr lang="en-IN" dirty="0"/>
              <a:t>work only with ECC.</a:t>
            </a:r>
          </a:p>
          <a:p>
            <a:pPr algn="just"/>
            <a:r>
              <a:rPr lang="en-IN" dirty="0"/>
              <a:t>ECC has become important for </a:t>
            </a:r>
            <a:r>
              <a:rPr lang="en-IN" b="1" dirty="0"/>
              <a:t>wireless sensor networks.</a:t>
            </a:r>
          </a:p>
          <a:p>
            <a:pPr algn="just"/>
            <a:r>
              <a:rPr lang="en-IN" dirty="0"/>
              <a:t>ECC is also serving as the standard mode of encryption that is used widely by various </a:t>
            </a:r>
            <a:r>
              <a:rPr lang="en-IN" b="1" dirty="0"/>
              <a:t>web applications.</a:t>
            </a:r>
          </a:p>
          <a:p>
            <a:pPr algn="just"/>
            <a:r>
              <a:rPr lang="en-IN" dirty="0"/>
              <a:t>Popular crypto currencies such as </a:t>
            </a:r>
            <a:r>
              <a:rPr lang="en-IN" b="1" dirty="0" err="1"/>
              <a:t>Bitcoin</a:t>
            </a:r>
            <a:r>
              <a:rPr lang="en-IN" b="1" dirty="0"/>
              <a:t> and </a:t>
            </a:r>
            <a:r>
              <a:rPr lang="en-IN" b="1" dirty="0" err="1"/>
              <a:t>Ethereum</a:t>
            </a:r>
            <a:r>
              <a:rPr lang="en-IN" b="1" dirty="0"/>
              <a:t> make use of the Elliptic curve digital signature algorithm (ECDSA) </a:t>
            </a:r>
            <a:r>
              <a:rPr lang="en-IN" dirty="0"/>
              <a:t>particularly in signing transactions due to the security levels offered by ECC.</a:t>
            </a:r>
          </a:p>
          <a:p>
            <a:pPr algn="just"/>
            <a:endParaRPr lang="en-IN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585"/>
            <a:ext cx="8229600" cy="592015"/>
          </a:xfrm>
        </p:spPr>
        <p:txBody>
          <a:bodyPr>
            <a:normAutofit fontScale="90000"/>
          </a:bodyPr>
          <a:lstStyle/>
          <a:p>
            <a:r>
              <a:rPr lang="en-IN" dirty="0"/>
              <a:t>Try…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38200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(1) Consider an elliptic curve y</a:t>
            </a:r>
            <a:r>
              <a:rPr lang="en-US" baseline="30000" dirty="0"/>
              <a:t>2</a:t>
            </a:r>
            <a:r>
              <a:rPr lang="en-US" dirty="0"/>
              <a:t>=x</a:t>
            </a:r>
            <a:r>
              <a:rPr lang="en-US" baseline="30000" dirty="0"/>
              <a:t>3</a:t>
            </a:r>
            <a:r>
              <a:rPr lang="en-US" dirty="0"/>
              <a:t>-36x, P=(-3,9) , Q=(-2,8) , find P+Q and 2P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(2) Consider an Elliptic curve E23(1,1) </a:t>
            </a:r>
          </a:p>
          <a:p>
            <a:pPr marL="0" indent="0">
              <a:buNone/>
            </a:pPr>
            <a:r>
              <a:rPr lang="en-US" dirty="0"/>
              <a:t>If P=(13,7) what is –P?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(3) Consider P=(3,10) and Q=(9,7) find R</a:t>
            </a:r>
          </a:p>
        </p:txBody>
      </p:sp>
    </p:spTree>
    <p:extLst>
      <p:ext uri="{BB962C8B-B14F-4D97-AF65-F5344CB8AC3E}">
        <p14:creationId xmlns:p14="http://schemas.microsoft.com/office/powerpoint/2010/main" val="368937226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585"/>
            <a:ext cx="8229600" cy="592015"/>
          </a:xfrm>
        </p:spPr>
        <p:txBody>
          <a:bodyPr>
            <a:normAutofit fontScale="90000"/>
          </a:bodyPr>
          <a:lstStyle/>
          <a:p>
            <a:r>
              <a:rPr lang="en-IN" dirty="0"/>
              <a:t>Try…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38200"/>
            <a:ext cx="8229600" cy="4525963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Consider an elliptic curve y</a:t>
            </a:r>
            <a:r>
              <a:rPr lang="en-US" baseline="30000" dirty="0"/>
              <a:t>2</a:t>
            </a:r>
            <a:r>
              <a:rPr lang="en-US" dirty="0"/>
              <a:t>=x</a:t>
            </a:r>
            <a:r>
              <a:rPr lang="en-US" baseline="30000" dirty="0"/>
              <a:t>3</a:t>
            </a:r>
            <a:r>
              <a:rPr lang="en-US" dirty="0"/>
              <a:t>-36x, P=(-3,9) , Q=(-2,8) , find P+Q and 2P</a:t>
            </a:r>
          </a:p>
          <a:p>
            <a:endParaRPr lang="en-US" dirty="0"/>
          </a:p>
          <a:p>
            <a:r>
              <a:rPr lang="en-US" dirty="0"/>
              <a:t>Answer: P+Q=x3,y3=6,0</a:t>
            </a:r>
          </a:p>
          <a:p>
            <a:r>
              <a:rPr lang="en-US" dirty="0"/>
              <a:t>2P=25/4 and -35/8</a:t>
            </a:r>
          </a:p>
          <a:p>
            <a:endParaRPr lang="en-US" dirty="0"/>
          </a:p>
          <a:p>
            <a:r>
              <a:rPr lang="en-US" dirty="0"/>
              <a:t>Consider an Elliptic curve E23(1,1) </a:t>
            </a:r>
          </a:p>
          <a:p>
            <a:r>
              <a:rPr lang="en-US" dirty="0"/>
              <a:t>If P=(13,7) what is -P</a:t>
            </a:r>
          </a:p>
          <a:p>
            <a:r>
              <a:rPr lang="en-US" dirty="0"/>
              <a:t>Solution</a:t>
            </a:r>
          </a:p>
          <a:p>
            <a:r>
              <a:rPr lang="en-US" dirty="0"/>
              <a:t>-P=(x,-y)</a:t>
            </a:r>
          </a:p>
          <a:p>
            <a:r>
              <a:rPr lang="en-US" dirty="0"/>
              <a:t>-P=(13,-7)=(13,16)</a:t>
            </a:r>
          </a:p>
          <a:p>
            <a:endParaRPr lang="en-US" dirty="0"/>
          </a:p>
          <a:p>
            <a:r>
              <a:rPr lang="en-US" dirty="0"/>
              <a:t>3. Consider P=(3,10) and Q=(9,7) from R</a:t>
            </a:r>
          </a:p>
          <a:p>
            <a:r>
              <a:rPr lang="en-US" dirty="0"/>
              <a:t>Solution</a:t>
            </a:r>
          </a:p>
          <a:p>
            <a:r>
              <a:rPr lang="en-US" dirty="0"/>
              <a:t>4inverse mod 23 is 6</a:t>
            </a:r>
          </a:p>
          <a:p>
            <a:r>
              <a:rPr lang="en-US" dirty="0"/>
              <a:t>R=(17,20)</a:t>
            </a:r>
          </a:p>
          <a:p>
            <a:r>
              <a:rPr lang="en-US" dirty="0"/>
              <a:t>2P =(7,12)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7926471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585"/>
            <a:ext cx="8229600" cy="592015"/>
          </a:xfrm>
        </p:spPr>
        <p:txBody>
          <a:bodyPr>
            <a:normAutofit fontScale="90000"/>
          </a:bodyPr>
          <a:lstStyle/>
          <a:p>
            <a:r>
              <a:rPr lang="en-IN" dirty="0"/>
              <a:t>Try…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38200"/>
            <a:ext cx="8229600" cy="4525963"/>
          </a:xfrm>
        </p:spPr>
        <p:txBody>
          <a:bodyPr>
            <a:normAutofit fontScale="77500" lnSpcReduction="20000"/>
          </a:bodyPr>
          <a:lstStyle/>
          <a:p>
            <a:r>
              <a:rPr lang="en-IN" dirty="0"/>
              <a:t>Suppose that you are going to use the Elliptic Curve Cryptography (ECC) algorithm when communicating with your professor. </a:t>
            </a:r>
          </a:p>
          <a:p>
            <a:r>
              <a:rPr lang="en-IN" dirty="0"/>
              <a:t>Given the following information:</a:t>
            </a:r>
          </a:p>
          <a:p>
            <a:pPr lvl="0"/>
            <a:r>
              <a:rPr lang="en-IN" dirty="0"/>
              <a:t>Cubic equation of an e</a:t>
            </a:r>
            <a:r>
              <a:rPr lang="en-GB" dirty="0" err="1"/>
              <a:t>lliptic</a:t>
            </a:r>
            <a:r>
              <a:rPr lang="en-GB" dirty="0"/>
              <a:t> curve </a:t>
            </a:r>
            <a:r>
              <a:rPr lang="en-IN" dirty="0"/>
              <a:t>Y</a:t>
            </a:r>
            <a:r>
              <a:rPr lang="en-IN" baseline="30000" dirty="0"/>
              <a:t>2</a:t>
            </a:r>
            <a:r>
              <a:rPr lang="en-IN" dirty="0"/>
              <a:t> =</a:t>
            </a:r>
            <a:r>
              <a:rPr lang="en-IN" b="1" dirty="0"/>
              <a:t> </a:t>
            </a:r>
            <a:r>
              <a:rPr lang="en-IN" dirty="0"/>
              <a:t> X</a:t>
            </a:r>
            <a:r>
              <a:rPr lang="en-IN" baseline="30000" dirty="0"/>
              <a:t>3</a:t>
            </a:r>
            <a:r>
              <a:rPr lang="en-IN" dirty="0"/>
              <a:t> + X + 1 mod 23 </a:t>
            </a:r>
          </a:p>
          <a:p>
            <a:pPr lvl="0"/>
            <a:r>
              <a:rPr lang="en-IN" dirty="0"/>
              <a:t>Generator Point G = (3,10) </a:t>
            </a:r>
          </a:p>
          <a:p>
            <a:pPr lvl="0"/>
            <a:r>
              <a:rPr lang="en-IN" dirty="0"/>
              <a:t>Random integer k = 2.</a:t>
            </a:r>
          </a:p>
          <a:p>
            <a:r>
              <a:rPr lang="en-IN" dirty="0"/>
              <a:t>Compute the following:</a:t>
            </a:r>
          </a:p>
          <a:p>
            <a:pPr marL="0" lvl="0" indent="0">
              <a:buNone/>
            </a:pPr>
            <a:r>
              <a:rPr lang="en-IN" dirty="0"/>
              <a:t>(1) Compute your public key P</a:t>
            </a:r>
            <a:r>
              <a:rPr lang="en-IN" baseline="-25000" dirty="0"/>
              <a:t>U</a:t>
            </a:r>
            <a:r>
              <a:rPr lang="en-IN" dirty="0"/>
              <a:t> where P</a:t>
            </a:r>
            <a:r>
              <a:rPr lang="en-IN" baseline="-25000" dirty="0"/>
              <a:t>U</a:t>
            </a:r>
            <a:r>
              <a:rPr lang="en-IN" dirty="0"/>
              <a:t> = 6G. </a:t>
            </a:r>
          </a:p>
          <a:p>
            <a:pPr marL="0" lvl="0" indent="0">
              <a:buNone/>
            </a:pPr>
            <a:r>
              <a:rPr lang="en-IN" dirty="0"/>
              <a:t>(2) Encrypt the secret message P</a:t>
            </a:r>
            <a:r>
              <a:rPr lang="en-IN" baseline="-25000" dirty="0"/>
              <a:t>m</a:t>
            </a:r>
            <a:r>
              <a:rPr lang="en-IN" dirty="0"/>
              <a:t> = [12,13] and sent the derived cipher text to your professor.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7695485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3826</TotalTime>
  <Words>4388</Words>
  <Application>Microsoft Macintosh PowerPoint</Application>
  <PresentationFormat>On-screen Show (4:3)</PresentationFormat>
  <Paragraphs>426</Paragraphs>
  <Slides>45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0" baseType="lpstr">
      <vt:lpstr>Arial</vt:lpstr>
      <vt:lpstr>Calibri</vt:lpstr>
      <vt:lpstr>Symbol</vt:lpstr>
      <vt:lpstr>Wingdings</vt:lpstr>
      <vt:lpstr>Office Theme</vt:lpstr>
      <vt:lpstr>Elliptic Curve Cryptography (ECC)</vt:lpstr>
      <vt:lpstr>Basics of Elliptic Curve (EC)</vt:lpstr>
      <vt:lpstr>Types of EC</vt:lpstr>
      <vt:lpstr>1. Construction of EC  over Finite field</vt:lpstr>
      <vt:lpstr>Construct EC over finite field</vt:lpstr>
      <vt:lpstr>Compute all the points on EC</vt:lpstr>
      <vt:lpstr>Set of points on the curve</vt:lpstr>
      <vt:lpstr>PowerPoint Presentation</vt:lpstr>
      <vt:lpstr>Plotting elliptic curve E11(1,1)with discovered set of points</vt:lpstr>
      <vt:lpstr>2. Check if the point falls on the curve </vt:lpstr>
      <vt:lpstr>Check if the point falls on the curve </vt:lpstr>
      <vt:lpstr>3. Adding two points on the curve</vt:lpstr>
      <vt:lpstr>(a) Adding two points P and Q on the EC</vt:lpstr>
      <vt:lpstr>Algebraic representation of finding  P + Q</vt:lpstr>
      <vt:lpstr>Example – Find R with (3,8) + (6,5) on E11(1,1) </vt:lpstr>
      <vt:lpstr>PowerPoint Presentation</vt:lpstr>
      <vt:lpstr>Check (3,3) lies on E11(1,1)</vt:lpstr>
      <vt:lpstr>(b) Adding a point ‘P’ with ‘P’ </vt:lpstr>
      <vt:lpstr>ECDLP (EC Discrete Logarithm Problem)</vt:lpstr>
      <vt:lpstr>P + P using algebraic expression</vt:lpstr>
      <vt:lpstr>Example </vt:lpstr>
      <vt:lpstr>PowerPoint Presentation</vt:lpstr>
      <vt:lpstr>Check (6,6) lies onE11(1,1)   </vt:lpstr>
      <vt:lpstr>Properties of EC</vt:lpstr>
      <vt:lpstr>Properties of EC</vt:lpstr>
      <vt:lpstr>Elliptic Curve Cryptography (ECC)</vt:lpstr>
      <vt:lpstr>Elliptic Curve Cryptography</vt:lpstr>
      <vt:lpstr>Step-1</vt:lpstr>
      <vt:lpstr>Step - 2</vt:lpstr>
      <vt:lpstr>Step-2 : Example </vt:lpstr>
      <vt:lpstr>PowerPoint Presentation</vt:lpstr>
      <vt:lpstr>Step – 3(Encryption)</vt:lpstr>
      <vt:lpstr>Step – 3 : Example</vt:lpstr>
      <vt:lpstr>PowerPoint Presentation</vt:lpstr>
      <vt:lpstr>PowerPoint Presentation</vt:lpstr>
      <vt:lpstr>PowerPoint Presentation</vt:lpstr>
      <vt:lpstr>Step – 4(Decryption)</vt:lpstr>
      <vt:lpstr>Step-4: Example</vt:lpstr>
      <vt:lpstr>PowerPoint Presentation</vt:lpstr>
      <vt:lpstr>PowerPoint Presentation</vt:lpstr>
      <vt:lpstr>Advantages of ECC over RSA</vt:lpstr>
      <vt:lpstr>PowerPoint Presentation</vt:lpstr>
      <vt:lpstr>Try…</vt:lpstr>
      <vt:lpstr>Try…</vt:lpstr>
      <vt:lpstr>Try…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god</dc:creator>
  <cp:lastModifiedBy>Apoorva Karnwal</cp:lastModifiedBy>
  <cp:revision>420</cp:revision>
  <dcterms:created xsi:type="dcterms:W3CDTF">2006-08-16T00:00:00Z</dcterms:created>
  <dcterms:modified xsi:type="dcterms:W3CDTF">2025-05-01T10:51:13Z</dcterms:modified>
</cp:coreProperties>
</file>