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314" r:id="rId3"/>
    <p:sldId id="300" r:id="rId4"/>
    <p:sldId id="309" r:id="rId5"/>
    <p:sldId id="310" r:id="rId6"/>
    <p:sldId id="302" r:id="rId7"/>
    <p:sldId id="311" r:id="rId8"/>
    <p:sldId id="312" r:id="rId9"/>
    <p:sldId id="313" r:id="rId10"/>
    <p:sldId id="257" r:id="rId11"/>
    <p:sldId id="303" r:id="rId12"/>
    <p:sldId id="304" r:id="rId13"/>
    <p:sldId id="307" r:id="rId14"/>
    <p:sldId id="308" r:id="rId15"/>
    <p:sldId id="298" r:id="rId16"/>
    <p:sldId id="259" r:id="rId17"/>
    <p:sldId id="260" r:id="rId18"/>
    <p:sldId id="261" r:id="rId19"/>
    <p:sldId id="262" r:id="rId20"/>
    <p:sldId id="263" r:id="rId21"/>
    <p:sldId id="264" r:id="rId22"/>
    <p:sldId id="265" r:id="rId23"/>
    <p:sldId id="266" r:id="rId24"/>
    <p:sldId id="297" r:id="rId25"/>
    <p:sldId id="268" r:id="rId26"/>
    <p:sldId id="269" r:id="rId27"/>
    <p:sldId id="296" r:id="rId28"/>
    <p:sldId id="271" r:id="rId29"/>
    <p:sldId id="272" r:id="rId30"/>
    <p:sldId id="315" r:id="rId31"/>
    <p:sldId id="273" r:id="rId32"/>
    <p:sldId id="274" r:id="rId33"/>
    <p:sldId id="276" r:id="rId34"/>
    <p:sldId id="277" r:id="rId35"/>
    <p:sldId id="278" r:id="rId36"/>
    <p:sldId id="280" r:id="rId37"/>
    <p:sldId id="279" r:id="rId38"/>
    <p:sldId id="281" r:id="rId39"/>
    <p:sldId id="282" r:id="rId40"/>
    <p:sldId id="283" r:id="rId41"/>
    <p:sldId id="284" r:id="rId42"/>
    <p:sldId id="316" r:id="rId43"/>
    <p:sldId id="285" r:id="rId44"/>
    <p:sldId id="286" r:id="rId45"/>
    <p:sldId id="287" r:id="rId46"/>
    <p:sldId id="317" r:id="rId47"/>
    <p:sldId id="290" r:id="rId48"/>
    <p:sldId id="320" r:id="rId49"/>
    <p:sldId id="319" r:id="rId50"/>
    <p:sldId id="292" r:id="rId51"/>
    <p:sldId id="294"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38"/>
    <p:restoredTop sz="95170" autoAdjust="0"/>
  </p:normalViewPr>
  <p:slideViewPr>
    <p:cSldViewPr>
      <p:cViewPr varScale="1">
        <p:scale>
          <a:sx n="115" d="100"/>
          <a:sy n="115" d="100"/>
        </p:scale>
        <p:origin x="200" y="3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1A0879-D37E-4480-9F76-8C0DF5D9519F}" type="datetimeFigureOut">
              <a:rPr lang="en-IN" smtClean="0"/>
              <a:t>01/05/25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3A5823-1528-4974-B5BC-9AE4FFABE34C}" type="slidenum">
              <a:rPr lang="en-IN" smtClean="0"/>
              <a:t>‹#›</a:t>
            </a:fld>
            <a:endParaRPr lang="en-IN"/>
          </a:p>
        </p:txBody>
      </p:sp>
    </p:spTree>
    <p:extLst>
      <p:ext uri="{BB962C8B-B14F-4D97-AF65-F5344CB8AC3E}">
        <p14:creationId xmlns:p14="http://schemas.microsoft.com/office/powerpoint/2010/main" val="1914919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3</a:t>
            </a:fld>
            <a:endParaRPr lang="en-IN"/>
          </a:p>
        </p:txBody>
      </p:sp>
    </p:spTree>
    <p:extLst>
      <p:ext uri="{BB962C8B-B14F-4D97-AF65-F5344CB8AC3E}">
        <p14:creationId xmlns:p14="http://schemas.microsoft.com/office/powerpoint/2010/main" val="1878655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4</a:t>
            </a:fld>
            <a:endParaRPr lang="en-IN"/>
          </a:p>
        </p:txBody>
      </p:sp>
    </p:spTree>
    <p:extLst>
      <p:ext uri="{BB962C8B-B14F-4D97-AF65-F5344CB8AC3E}">
        <p14:creationId xmlns:p14="http://schemas.microsoft.com/office/powerpoint/2010/main" val="4185260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6</a:t>
            </a:fld>
            <a:endParaRPr lang="en-IN"/>
          </a:p>
        </p:txBody>
      </p:sp>
    </p:spTree>
    <p:extLst>
      <p:ext uri="{BB962C8B-B14F-4D97-AF65-F5344CB8AC3E}">
        <p14:creationId xmlns:p14="http://schemas.microsoft.com/office/powerpoint/2010/main" val="66104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7</a:t>
            </a:fld>
            <a:endParaRPr lang="en-IN"/>
          </a:p>
        </p:txBody>
      </p:sp>
    </p:spTree>
    <p:extLst>
      <p:ext uri="{BB962C8B-B14F-4D97-AF65-F5344CB8AC3E}">
        <p14:creationId xmlns:p14="http://schemas.microsoft.com/office/powerpoint/2010/main" val="2894400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baseline="0" dirty="0"/>
          </a:p>
          <a:p>
            <a:endParaRPr lang="en-IN" baseline="0" dirty="0"/>
          </a:p>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8</a:t>
            </a:fld>
            <a:endParaRPr lang="en-IN"/>
          </a:p>
        </p:txBody>
      </p:sp>
    </p:spTree>
    <p:extLst>
      <p:ext uri="{BB962C8B-B14F-4D97-AF65-F5344CB8AC3E}">
        <p14:creationId xmlns:p14="http://schemas.microsoft.com/office/powerpoint/2010/main" val="2169697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baseline="0" dirty="0"/>
          </a:p>
          <a:p>
            <a:endParaRPr lang="en-IN" baseline="0" dirty="0"/>
          </a:p>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9</a:t>
            </a:fld>
            <a:endParaRPr lang="en-IN"/>
          </a:p>
        </p:txBody>
      </p:sp>
    </p:spTree>
    <p:extLst>
      <p:ext uri="{BB962C8B-B14F-4D97-AF65-F5344CB8AC3E}">
        <p14:creationId xmlns:p14="http://schemas.microsoft.com/office/powerpoint/2010/main" val="2073258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Take group of byte</a:t>
            </a:r>
            <a:r>
              <a:rPr lang="en-IN" baseline="0" dirty="0"/>
              <a:t> as an input</a:t>
            </a:r>
          </a:p>
          <a:p>
            <a:r>
              <a:rPr lang="en-IN" baseline="0" dirty="0"/>
              <a:t>DES is replaced by AES because of vulnerabilities</a:t>
            </a:r>
          </a:p>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10</a:t>
            </a:fld>
            <a:endParaRPr lang="en-IN"/>
          </a:p>
        </p:txBody>
      </p:sp>
    </p:spTree>
    <p:extLst>
      <p:ext uri="{BB962C8B-B14F-4D97-AF65-F5344CB8AC3E}">
        <p14:creationId xmlns:p14="http://schemas.microsoft.com/office/powerpoint/2010/main" val="2184567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12</a:t>
            </a:fld>
            <a:endParaRPr lang="en-IN"/>
          </a:p>
        </p:txBody>
      </p:sp>
    </p:spTree>
    <p:extLst>
      <p:ext uri="{BB962C8B-B14F-4D97-AF65-F5344CB8AC3E}">
        <p14:creationId xmlns:p14="http://schemas.microsoft.com/office/powerpoint/2010/main" val="621168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baseline="0" dirty="0"/>
          </a:p>
          <a:p>
            <a:r>
              <a:rPr lang="en-IN" dirty="0"/>
              <a:t>56 bits input</a:t>
            </a:r>
          </a:p>
          <a:p>
            <a:r>
              <a:rPr lang="en-IN" dirty="0"/>
              <a:t>Permuted</a:t>
            </a:r>
            <a:r>
              <a:rPr lang="en-IN" baseline="0" dirty="0"/>
              <a:t> choice input is 48 bits</a:t>
            </a:r>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13</a:t>
            </a:fld>
            <a:endParaRPr lang="en-IN"/>
          </a:p>
        </p:txBody>
      </p:sp>
    </p:spTree>
    <p:extLst>
      <p:ext uri="{BB962C8B-B14F-4D97-AF65-F5344CB8AC3E}">
        <p14:creationId xmlns:p14="http://schemas.microsoft.com/office/powerpoint/2010/main" val="699657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14</a:t>
            </a:fld>
            <a:endParaRPr lang="en-IN"/>
          </a:p>
        </p:txBody>
      </p:sp>
    </p:spTree>
    <p:extLst>
      <p:ext uri="{BB962C8B-B14F-4D97-AF65-F5344CB8AC3E}">
        <p14:creationId xmlns:p14="http://schemas.microsoft.com/office/powerpoint/2010/main" val="3229148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15</a:t>
            </a:fld>
            <a:endParaRPr lang="en-IN"/>
          </a:p>
        </p:txBody>
      </p:sp>
    </p:spTree>
    <p:extLst>
      <p:ext uri="{BB962C8B-B14F-4D97-AF65-F5344CB8AC3E}">
        <p14:creationId xmlns:p14="http://schemas.microsoft.com/office/powerpoint/2010/main" val="546072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16</a:t>
            </a:fld>
            <a:endParaRPr lang="en-IN"/>
          </a:p>
        </p:txBody>
      </p:sp>
    </p:spTree>
    <p:extLst>
      <p:ext uri="{BB962C8B-B14F-4D97-AF65-F5344CB8AC3E}">
        <p14:creationId xmlns:p14="http://schemas.microsoft.com/office/powerpoint/2010/main" val="1169591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17</a:t>
            </a:fld>
            <a:endParaRPr lang="en-IN"/>
          </a:p>
        </p:txBody>
      </p:sp>
    </p:spTree>
    <p:extLst>
      <p:ext uri="{BB962C8B-B14F-4D97-AF65-F5344CB8AC3E}">
        <p14:creationId xmlns:p14="http://schemas.microsoft.com/office/powerpoint/2010/main" val="1578474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21</a:t>
            </a:fld>
            <a:endParaRPr lang="en-IN"/>
          </a:p>
        </p:txBody>
      </p:sp>
    </p:spTree>
    <p:extLst>
      <p:ext uri="{BB962C8B-B14F-4D97-AF65-F5344CB8AC3E}">
        <p14:creationId xmlns:p14="http://schemas.microsoft.com/office/powerpoint/2010/main" val="74759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23</a:t>
            </a:fld>
            <a:endParaRPr lang="en-IN"/>
          </a:p>
        </p:txBody>
      </p:sp>
    </p:spTree>
    <p:extLst>
      <p:ext uri="{BB962C8B-B14F-4D97-AF65-F5344CB8AC3E}">
        <p14:creationId xmlns:p14="http://schemas.microsoft.com/office/powerpoint/2010/main" val="3045092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24</a:t>
            </a:fld>
            <a:endParaRPr lang="en-IN"/>
          </a:p>
        </p:txBody>
      </p:sp>
    </p:spTree>
    <p:extLst>
      <p:ext uri="{BB962C8B-B14F-4D97-AF65-F5344CB8AC3E}">
        <p14:creationId xmlns:p14="http://schemas.microsoft.com/office/powerpoint/2010/main" val="2882909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29</a:t>
            </a:fld>
            <a:endParaRPr lang="en-IN"/>
          </a:p>
        </p:txBody>
      </p:sp>
    </p:spTree>
    <p:extLst>
      <p:ext uri="{BB962C8B-B14F-4D97-AF65-F5344CB8AC3E}">
        <p14:creationId xmlns:p14="http://schemas.microsoft.com/office/powerpoint/2010/main" val="2751305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30</a:t>
            </a:fld>
            <a:endParaRPr lang="en-IN"/>
          </a:p>
        </p:txBody>
      </p:sp>
    </p:spTree>
    <p:extLst>
      <p:ext uri="{BB962C8B-B14F-4D97-AF65-F5344CB8AC3E}">
        <p14:creationId xmlns:p14="http://schemas.microsoft.com/office/powerpoint/2010/main" val="19016601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42</a:t>
            </a:fld>
            <a:endParaRPr lang="en-IN"/>
          </a:p>
        </p:txBody>
      </p:sp>
    </p:spTree>
    <p:extLst>
      <p:ext uri="{BB962C8B-B14F-4D97-AF65-F5344CB8AC3E}">
        <p14:creationId xmlns:p14="http://schemas.microsoft.com/office/powerpoint/2010/main" val="24340156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3A5823-1528-4974-B5BC-9AE4FFABE34C}" type="slidenum">
              <a:rPr lang="en-IN" smtClean="0"/>
              <a:t>45</a:t>
            </a:fld>
            <a:endParaRPr lang="en-IN"/>
          </a:p>
        </p:txBody>
      </p:sp>
    </p:spTree>
    <p:extLst>
      <p:ext uri="{BB962C8B-B14F-4D97-AF65-F5344CB8AC3E}">
        <p14:creationId xmlns:p14="http://schemas.microsoft.com/office/powerpoint/2010/main" val="1739939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C7C8E0D-02D6-4112-89A7-716C34C6DAB8}" type="datetimeFigureOut">
              <a:rPr lang="en-IN" smtClean="0"/>
              <a:t>01/05/25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C3CB52-0DB2-4D96-8DC0-825A2ADBD851}" type="slidenum">
              <a:rPr lang="en-IN" smtClean="0"/>
              <a:t>‹#›</a:t>
            </a:fld>
            <a:endParaRPr lang="en-IN"/>
          </a:p>
        </p:txBody>
      </p:sp>
    </p:spTree>
    <p:extLst>
      <p:ext uri="{BB962C8B-B14F-4D97-AF65-F5344CB8AC3E}">
        <p14:creationId xmlns:p14="http://schemas.microsoft.com/office/powerpoint/2010/main" val="2910010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C7C8E0D-02D6-4112-89A7-716C34C6DAB8}" type="datetimeFigureOut">
              <a:rPr lang="en-IN" smtClean="0"/>
              <a:t>01/05/25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C3CB52-0DB2-4D96-8DC0-825A2ADBD851}" type="slidenum">
              <a:rPr lang="en-IN" smtClean="0"/>
              <a:t>‹#›</a:t>
            </a:fld>
            <a:endParaRPr lang="en-IN"/>
          </a:p>
        </p:txBody>
      </p:sp>
    </p:spTree>
    <p:extLst>
      <p:ext uri="{BB962C8B-B14F-4D97-AF65-F5344CB8AC3E}">
        <p14:creationId xmlns:p14="http://schemas.microsoft.com/office/powerpoint/2010/main" val="348812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7C8E0D-02D6-4112-89A7-716C34C6DAB8}" type="datetimeFigureOut">
              <a:rPr lang="en-IN" smtClean="0"/>
              <a:t>01/05/25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C3CB52-0DB2-4D96-8DC0-825A2ADBD851}" type="slidenum">
              <a:rPr lang="en-IN" smtClean="0"/>
              <a:t>‹#›</a:t>
            </a:fld>
            <a:endParaRPr lang="en-IN"/>
          </a:p>
        </p:txBody>
      </p:sp>
    </p:spTree>
    <p:extLst>
      <p:ext uri="{BB962C8B-B14F-4D97-AF65-F5344CB8AC3E}">
        <p14:creationId xmlns:p14="http://schemas.microsoft.com/office/powerpoint/2010/main" val="15996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C7C8E0D-02D6-4112-89A7-716C34C6DAB8}" type="datetimeFigureOut">
              <a:rPr lang="en-IN" smtClean="0"/>
              <a:t>01/05/25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C3CB52-0DB2-4D96-8DC0-825A2ADBD851}" type="slidenum">
              <a:rPr lang="en-IN" smtClean="0"/>
              <a:t>‹#›</a:t>
            </a:fld>
            <a:endParaRPr lang="en-IN"/>
          </a:p>
        </p:txBody>
      </p:sp>
    </p:spTree>
    <p:extLst>
      <p:ext uri="{BB962C8B-B14F-4D97-AF65-F5344CB8AC3E}">
        <p14:creationId xmlns:p14="http://schemas.microsoft.com/office/powerpoint/2010/main" val="3474228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C7C8E0D-02D6-4112-89A7-716C34C6DAB8}" type="datetimeFigureOut">
              <a:rPr lang="en-IN" smtClean="0"/>
              <a:t>01/05/25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C3CB52-0DB2-4D96-8DC0-825A2ADBD851}" type="slidenum">
              <a:rPr lang="en-IN" smtClean="0"/>
              <a:t>‹#›</a:t>
            </a:fld>
            <a:endParaRPr lang="en-IN"/>
          </a:p>
        </p:txBody>
      </p:sp>
    </p:spTree>
    <p:extLst>
      <p:ext uri="{BB962C8B-B14F-4D97-AF65-F5344CB8AC3E}">
        <p14:creationId xmlns:p14="http://schemas.microsoft.com/office/powerpoint/2010/main" val="2719521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C7C8E0D-02D6-4112-89A7-716C34C6DAB8}" type="datetimeFigureOut">
              <a:rPr lang="en-IN" smtClean="0"/>
              <a:t>01/05/25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C3CB52-0DB2-4D96-8DC0-825A2ADBD851}" type="slidenum">
              <a:rPr lang="en-IN" smtClean="0"/>
              <a:t>‹#›</a:t>
            </a:fld>
            <a:endParaRPr lang="en-IN"/>
          </a:p>
        </p:txBody>
      </p:sp>
    </p:spTree>
    <p:extLst>
      <p:ext uri="{BB962C8B-B14F-4D97-AF65-F5344CB8AC3E}">
        <p14:creationId xmlns:p14="http://schemas.microsoft.com/office/powerpoint/2010/main" val="698287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7C8E0D-02D6-4112-89A7-716C34C6DAB8}" type="datetimeFigureOut">
              <a:rPr lang="en-IN" smtClean="0"/>
              <a:t>01/05/25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C3CB52-0DB2-4D96-8DC0-825A2ADBD851}" type="slidenum">
              <a:rPr lang="en-IN" smtClean="0"/>
              <a:t>‹#›</a:t>
            </a:fld>
            <a:endParaRPr lang="en-IN"/>
          </a:p>
        </p:txBody>
      </p:sp>
    </p:spTree>
    <p:extLst>
      <p:ext uri="{BB962C8B-B14F-4D97-AF65-F5344CB8AC3E}">
        <p14:creationId xmlns:p14="http://schemas.microsoft.com/office/powerpoint/2010/main" val="4147514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C8E0D-02D6-4112-89A7-716C34C6DAB8}" type="datetimeFigureOut">
              <a:rPr lang="en-IN" smtClean="0"/>
              <a:t>01/05/25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C3CB52-0DB2-4D96-8DC0-825A2ADBD851}" type="slidenum">
              <a:rPr lang="en-IN" smtClean="0"/>
              <a:t>‹#›</a:t>
            </a:fld>
            <a:endParaRPr lang="en-IN"/>
          </a:p>
        </p:txBody>
      </p:sp>
    </p:spTree>
    <p:extLst>
      <p:ext uri="{BB962C8B-B14F-4D97-AF65-F5344CB8AC3E}">
        <p14:creationId xmlns:p14="http://schemas.microsoft.com/office/powerpoint/2010/main" val="76623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C8E0D-02D6-4112-89A7-716C34C6DAB8}" type="datetimeFigureOut">
              <a:rPr lang="en-IN" smtClean="0"/>
              <a:t>01/05/25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C3CB52-0DB2-4D96-8DC0-825A2ADBD851}" type="slidenum">
              <a:rPr lang="en-IN" smtClean="0"/>
              <a:t>‹#›</a:t>
            </a:fld>
            <a:endParaRPr lang="en-IN"/>
          </a:p>
        </p:txBody>
      </p:sp>
    </p:spTree>
    <p:extLst>
      <p:ext uri="{BB962C8B-B14F-4D97-AF65-F5344CB8AC3E}">
        <p14:creationId xmlns:p14="http://schemas.microsoft.com/office/powerpoint/2010/main" val="1791884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C7C8E0D-02D6-4112-89A7-716C34C6DAB8}" type="datetimeFigureOut">
              <a:rPr lang="en-IN" smtClean="0"/>
              <a:t>01/05/25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C3CB52-0DB2-4D96-8DC0-825A2ADBD851}" type="slidenum">
              <a:rPr lang="en-IN" smtClean="0"/>
              <a:t>‹#›</a:t>
            </a:fld>
            <a:endParaRPr lang="en-IN"/>
          </a:p>
        </p:txBody>
      </p:sp>
    </p:spTree>
    <p:extLst>
      <p:ext uri="{BB962C8B-B14F-4D97-AF65-F5344CB8AC3E}">
        <p14:creationId xmlns:p14="http://schemas.microsoft.com/office/powerpoint/2010/main" val="2953385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C7C8E0D-02D6-4112-89A7-716C34C6DAB8}" type="datetimeFigureOut">
              <a:rPr lang="en-IN" smtClean="0"/>
              <a:t>01/05/25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C3CB52-0DB2-4D96-8DC0-825A2ADBD851}" type="slidenum">
              <a:rPr lang="en-IN" smtClean="0"/>
              <a:t>‹#›</a:t>
            </a:fld>
            <a:endParaRPr lang="en-IN"/>
          </a:p>
        </p:txBody>
      </p:sp>
    </p:spTree>
    <p:extLst>
      <p:ext uri="{BB962C8B-B14F-4D97-AF65-F5344CB8AC3E}">
        <p14:creationId xmlns:p14="http://schemas.microsoft.com/office/powerpoint/2010/main" val="2642547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7C8E0D-02D6-4112-89A7-716C34C6DAB8}" type="datetimeFigureOut">
              <a:rPr lang="en-IN" smtClean="0"/>
              <a:t>01/05/25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C3CB52-0DB2-4D96-8DC0-825A2ADBD851}" type="slidenum">
              <a:rPr lang="en-IN" smtClean="0"/>
              <a:t>‹#›</a:t>
            </a:fld>
            <a:endParaRPr lang="en-IN"/>
          </a:p>
        </p:txBody>
      </p:sp>
    </p:spTree>
    <p:extLst>
      <p:ext uri="{BB962C8B-B14F-4D97-AF65-F5344CB8AC3E}">
        <p14:creationId xmlns:p14="http://schemas.microsoft.com/office/powerpoint/2010/main" val="3436283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Encryption Standard</a:t>
            </a:r>
            <a:br>
              <a:rPr lang="en-US" dirty="0"/>
            </a:br>
            <a:r>
              <a:rPr lang="en-US" dirty="0"/>
              <a:t>DES  </a:t>
            </a:r>
            <a:endParaRPr lang="en-IN" dirty="0"/>
          </a:p>
        </p:txBody>
      </p:sp>
    </p:spTree>
    <p:extLst>
      <p:ext uri="{BB962C8B-B14F-4D97-AF65-F5344CB8AC3E}">
        <p14:creationId xmlns:p14="http://schemas.microsoft.com/office/powerpoint/2010/main" val="2720763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cipher</a:t>
            </a:r>
            <a:endParaRPr lang="en-IN" dirty="0"/>
          </a:p>
        </p:txBody>
      </p:sp>
      <p:sp>
        <p:nvSpPr>
          <p:cNvPr id="3" name="Content Placeholder 2"/>
          <p:cNvSpPr>
            <a:spLocks noGrp="1"/>
          </p:cNvSpPr>
          <p:nvPr>
            <p:ph idx="1"/>
          </p:nvPr>
        </p:nvSpPr>
        <p:spPr/>
        <p:txBody>
          <a:bodyPr/>
          <a:lstStyle/>
          <a:p>
            <a:r>
              <a:rPr lang="en-US" dirty="0"/>
              <a:t>Block cipher processes are classified into five categories: </a:t>
            </a:r>
          </a:p>
          <a:p>
            <a:r>
              <a:rPr lang="en-US" dirty="0"/>
              <a:t>CFB (Cipher Feedback), </a:t>
            </a:r>
          </a:p>
          <a:p>
            <a:r>
              <a:rPr lang="en-US" dirty="0"/>
              <a:t>OFB (Output Feedback), </a:t>
            </a:r>
          </a:p>
          <a:p>
            <a:r>
              <a:rPr lang="en-US" dirty="0"/>
              <a:t>CTR (Counter), </a:t>
            </a:r>
          </a:p>
          <a:p>
            <a:r>
              <a:rPr lang="en-US" dirty="0"/>
              <a:t>CBC (Cipher Block Chaining), and </a:t>
            </a:r>
          </a:p>
          <a:p>
            <a:r>
              <a:rPr lang="en-US" dirty="0"/>
              <a:t>ECB (Electronic Code Block).</a:t>
            </a:r>
            <a:endParaRPr lang="en-IN" dirty="0"/>
          </a:p>
        </p:txBody>
      </p:sp>
    </p:spTree>
    <p:extLst>
      <p:ext uri="{BB962C8B-B14F-4D97-AF65-F5344CB8AC3E}">
        <p14:creationId xmlns:p14="http://schemas.microsoft.com/office/powerpoint/2010/main" val="893389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Electronic Code Book </a:t>
            </a:r>
            <a:endParaRPr lang="en-IN" dirty="0"/>
          </a:p>
        </p:txBody>
      </p:sp>
      <p:pic>
        <p:nvPicPr>
          <p:cNvPr id="2" name="Picture 1"/>
          <p:cNvPicPr>
            <a:picLocks noChangeAspect="1"/>
          </p:cNvPicPr>
          <p:nvPr/>
        </p:nvPicPr>
        <p:blipFill>
          <a:blip r:embed="rId3"/>
          <a:stretch>
            <a:fillRect/>
          </a:stretch>
        </p:blipFill>
        <p:spPr>
          <a:xfrm>
            <a:off x="1162050" y="1433512"/>
            <a:ext cx="6819900" cy="5424488"/>
          </a:xfrm>
          <a:prstGeom prst="rect">
            <a:avLst/>
          </a:prstGeom>
        </p:spPr>
      </p:pic>
    </p:spTree>
    <p:extLst>
      <p:ext uri="{BB962C8B-B14F-4D97-AF65-F5344CB8AC3E}">
        <p14:creationId xmlns:p14="http://schemas.microsoft.com/office/powerpoint/2010/main" val="647660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Electronic Code Book </a:t>
            </a:r>
            <a:endParaRPr lang="en-IN" dirty="0"/>
          </a:p>
        </p:txBody>
      </p:sp>
      <p:sp>
        <p:nvSpPr>
          <p:cNvPr id="4" name="Content Placeholder 3"/>
          <p:cNvSpPr>
            <a:spLocks noGrp="1"/>
          </p:cNvSpPr>
          <p:nvPr>
            <p:ph idx="1"/>
          </p:nvPr>
        </p:nvSpPr>
        <p:spPr/>
        <p:txBody>
          <a:bodyPr>
            <a:normAutofit fontScale="92500" lnSpcReduction="20000"/>
          </a:bodyPr>
          <a:lstStyle/>
          <a:p>
            <a:pPr marL="0" indent="0">
              <a:buNone/>
            </a:pPr>
            <a:r>
              <a:rPr lang="en-IN" dirty="0"/>
              <a:t>Pros</a:t>
            </a:r>
          </a:p>
          <a:p>
            <a:r>
              <a:rPr lang="en-IN" dirty="0"/>
              <a:t>Simplest mode</a:t>
            </a:r>
          </a:p>
          <a:p>
            <a:r>
              <a:rPr lang="en-IN" dirty="0"/>
              <a:t>Ideal for short amount of data. Ex: secure transfer of AES /DES key</a:t>
            </a:r>
          </a:p>
          <a:p>
            <a:r>
              <a:rPr lang="en-IN" dirty="0"/>
              <a:t>Independent= Can encrypt any block</a:t>
            </a:r>
          </a:p>
          <a:p>
            <a:r>
              <a:rPr lang="en-IN" dirty="0"/>
              <a:t>Fast –Parallelism</a:t>
            </a:r>
          </a:p>
          <a:p>
            <a:pPr marL="0" indent="0">
              <a:buNone/>
            </a:pPr>
            <a:r>
              <a:rPr lang="en-IN" dirty="0"/>
              <a:t>Cons</a:t>
            </a:r>
          </a:p>
          <a:p>
            <a:r>
              <a:rPr lang="en-IN" dirty="0"/>
              <a:t>Not secure for lengthy messages</a:t>
            </a:r>
          </a:p>
          <a:p>
            <a:r>
              <a:rPr lang="en-IN" dirty="0"/>
              <a:t>Cryptanalyst can exploit the regularities of the message</a:t>
            </a:r>
          </a:p>
          <a:p>
            <a:pPr marL="0" indent="0">
              <a:buNone/>
            </a:pPr>
            <a:endParaRPr lang="en-IN" dirty="0"/>
          </a:p>
          <a:p>
            <a:pPr marL="0" indent="0">
              <a:buNone/>
            </a:pPr>
            <a:endParaRPr lang="en-IN" dirty="0"/>
          </a:p>
          <a:p>
            <a:endParaRPr lang="en-IN" dirty="0"/>
          </a:p>
        </p:txBody>
      </p:sp>
    </p:spTree>
    <p:extLst>
      <p:ext uri="{BB962C8B-B14F-4D97-AF65-F5344CB8AC3E}">
        <p14:creationId xmlns:p14="http://schemas.microsoft.com/office/powerpoint/2010/main" val="3708432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Electronic Code Book </a:t>
            </a:r>
            <a:endParaRPr lang="en-IN" dirty="0"/>
          </a:p>
        </p:txBody>
      </p:sp>
      <p:sp>
        <p:nvSpPr>
          <p:cNvPr id="3" name="Content Placeholder 2"/>
          <p:cNvSpPr>
            <a:spLocks noGrp="1"/>
          </p:cNvSpPr>
          <p:nvPr>
            <p:ph idx="1"/>
          </p:nvPr>
        </p:nvSpPr>
        <p:spPr/>
        <p:txBody>
          <a:bodyPr/>
          <a:lstStyle/>
          <a:p>
            <a:r>
              <a:rPr lang="en-IN" dirty="0"/>
              <a:t>Regularities of the message</a:t>
            </a:r>
          </a:p>
          <a:p>
            <a:endParaRPr lang="en-IN" dirty="0"/>
          </a:p>
        </p:txBody>
      </p:sp>
      <p:pic>
        <p:nvPicPr>
          <p:cNvPr id="5" name="Picture 4"/>
          <p:cNvPicPr>
            <a:picLocks noChangeAspect="1"/>
          </p:cNvPicPr>
          <p:nvPr/>
        </p:nvPicPr>
        <p:blipFill>
          <a:blip r:embed="rId2"/>
          <a:stretch>
            <a:fillRect/>
          </a:stretch>
        </p:blipFill>
        <p:spPr>
          <a:xfrm>
            <a:off x="1900237" y="2281237"/>
            <a:ext cx="5343525" cy="2295525"/>
          </a:xfrm>
          <a:prstGeom prst="rect">
            <a:avLst/>
          </a:prstGeom>
        </p:spPr>
      </p:pic>
    </p:spTree>
    <p:extLst>
      <p:ext uri="{BB962C8B-B14F-4D97-AF65-F5344CB8AC3E}">
        <p14:creationId xmlns:p14="http://schemas.microsoft.com/office/powerpoint/2010/main" val="3048595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Cipher Block Chaining Mode  </a:t>
            </a:r>
            <a:endParaRPr lang="en-IN" dirty="0"/>
          </a:p>
        </p:txBody>
      </p:sp>
      <p:sp>
        <p:nvSpPr>
          <p:cNvPr id="3" name="Content Placeholder 2"/>
          <p:cNvSpPr>
            <a:spLocks noGrp="1"/>
          </p:cNvSpPr>
          <p:nvPr>
            <p:ph idx="1"/>
          </p:nvPr>
        </p:nvSpPr>
        <p:spPr/>
        <p:txBody>
          <a:bodyPr/>
          <a:lstStyle/>
          <a:p>
            <a:pPr marL="0" indent="0" algn="just">
              <a:buNone/>
            </a:pPr>
            <a:r>
              <a:rPr lang="en-IN" dirty="0"/>
              <a:t>The input to the encryption algorithm is the XOR of the next 64 bits of plaintext and the preceding 64 bits of </a:t>
            </a:r>
            <a:r>
              <a:rPr lang="en-IN" dirty="0" err="1"/>
              <a:t>ciphertext</a:t>
            </a:r>
            <a:r>
              <a:rPr lang="en-IN" dirty="0"/>
              <a:t>.</a:t>
            </a:r>
          </a:p>
        </p:txBody>
      </p:sp>
      <p:sp>
        <p:nvSpPr>
          <p:cNvPr id="4" name="AutoShape 2" descr="Cipher-block chaining (CBC) mod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800221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Cipher Block Chaining Mode </a:t>
            </a:r>
            <a:endParaRPr lang="en-IN" dirty="0"/>
          </a:p>
        </p:txBody>
      </p:sp>
      <p:sp>
        <p:nvSpPr>
          <p:cNvPr id="3" name="Content Placeholder 2"/>
          <p:cNvSpPr>
            <a:spLocks noGrp="1"/>
          </p:cNvSpPr>
          <p:nvPr>
            <p:ph idx="1"/>
          </p:nvPr>
        </p:nvSpPr>
        <p:spPr/>
        <p:txBody>
          <a:bodyPr/>
          <a:lstStyle/>
          <a:p>
            <a:endParaRPr lang="en-IN"/>
          </a:p>
        </p:txBody>
      </p:sp>
      <p:sp>
        <p:nvSpPr>
          <p:cNvPr id="4" name="AutoShape 2" descr="Cipher-block chaining (CBC) mod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3"/>
          <a:stretch>
            <a:fillRect/>
          </a:stretch>
        </p:blipFill>
        <p:spPr>
          <a:xfrm>
            <a:off x="484909" y="1647825"/>
            <a:ext cx="8686800" cy="5210175"/>
          </a:xfrm>
          <a:prstGeom prst="rect">
            <a:avLst/>
          </a:prstGeom>
        </p:spPr>
      </p:pic>
    </p:spTree>
    <p:extLst>
      <p:ext uri="{BB962C8B-B14F-4D97-AF65-F5344CB8AC3E}">
        <p14:creationId xmlns:p14="http://schemas.microsoft.com/office/powerpoint/2010/main" val="1164603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Cipher Block Chaining Mode </a:t>
            </a:r>
            <a:endParaRPr lang="en-IN" dirty="0"/>
          </a:p>
        </p:txBody>
      </p:sp>
      <p:sp>
        <p:nvSpPr>
          <p:cNvPr id="4" name="Content Placeholder 3"/>
          <p:cNvSpPr>
            <a:spLocks noGrp="1"/>
          </p:cNvSpPr>
          <p:nvPr>
            <p:ph idx="1"/>
          </p:nvPr>
        </p:nvSpPr>
        <p:spPr>
          <a:xfrm>
            <a:off x="457200" y="1600200"/>
            <a:ext cx="8534400" cy="4525963"/>
          </a:xfrm>
        </p:spPr>
        <p:txBody>
          <a:bodyPr>
            <a:normAutofit fontScale="77500" lnSpcReduction="20000"/>
          </a:bodyPr>
          <a:lstStyle/>
          <a:p>
            <a:pPr marL="0" indent="0">
              <a:buNone/>
            </a:pPr>
            <a:r>
              <a:rPr lang="en-IN" dirty="0"/>
              <a:t>Pros</a:t>
            </a:r>
          </a:p>
          <a:p>
            <a:pPr marL="0" indent="0">
              <a:buNone/>
            </a:pPr>
            <a:r>
              <a:rPr lang="en-US" dirty="0"/>
              <a:t>High Security:</a:t>
            </a:r>
          </a:p>
          <a:p>
            <a:pPr marL="0" indent="0">
              <a:buNone/>
            </a:pPr>
            <a:r>
              <a:rPr lang="en-US" dirty="0"/>
              <a:t>CBC effectively hides patterns in the plaintext by </a:t>
            </a:r>
            <a:r>
              <a:rPr lang="en-US" dirty="0" err="1"/>
              <a:t>XORing</a:t>
            </a:r>
            <a:r>
              <a:rPr lang="en-US" dirty="0"/>
              <a:t> each plaintext block with the previous </a:t>
            </a:r>
            <a:r>
              <a:rPr lang="en-US" dirty="0" err="1"/>
              <a:t>ciphertext</a:t>
            </a:r>
            <a:r>
              <a:rPr lang="en-US" dirty="0"/>
              <a:t> block, making it significantly more resistant to cryptanalysis compared to ECB. </a:t>
            </a:r>
          </a:p>
          <a:p>
            <a:pPr marL="0" indent="0">
              <a:buNone/>
            </a:pPr>
            <a:r>
              <a:rPr lang="en-US" dirty="0"/>
              <a:t>Widely Used:</a:t>
            </a:r>
          </a:p>
          <a:p>
            <a:pPr marL="0" indent="0">
              <a:buNone/>
            </a:pPr>
            <a:r>
              <a:rPr lang="en-US" dirty="0"/>
              <a:t>Due to its security and ease of implementation, CBC is one of the most commonly used block cipher modes in various applications. </a:t>
            </a:r>
          </a:p>
          <a:p>
            <a:pPr marL="0" indent="0">
              <a:buNone/>
            </a:pPr>
            <a:r>
              <a:rPr lang="en-US" dirty="0"/>
              <a:t>Flexibility:</a:t>
            </a:r>
          </a:p>
          <a:p>
            <a:pPr marL="0" indent="0">
              <a:buNone/>
            </a:pPr>
            <a:r>
              <a:rPr lang="en-US" dirty="0"/>
              <a:t>CBC can be used to </a:t>
            </a:r>
            <a:r>
              <a:rPr lang="en-US" b="1" dirty="0"/>
              <a:t>encrypt data streams of any length </a:t>
            </a:r>
            <a:r>
              <a:rPr lang="en-US" dirty="0"/>
              <a:t>by utilizing an initialization vector (IV) to start the chaining process. </a:t>
            </a:r>
            <a:endParaRPr lang="en-IN" dirty="0"/>
          </a:p>
          <a:p>
            <a:pPr marL="0" indent="0">
              <a:buNone/>
            </a:pPr>
            <a:endParaRPr lang="en-IN" dirty="0"/>
          </a:p>
          <a:p>
            <a:pPr marL="0" indent="0">
              <a:buNone/>
            </a:pPr>
            <a:endParaRPr lang="en-IN" dirty="0"/>
          </a:p>
          <a:p>
            <a:endParaRPr lang="en-IN" dirty="0"/>
          </a:p>
        </p:txBody>
      </p:sp>
    </p:spTree>
    <p:extLst>
      <p:ext uri="{BB962C8B-B14F-4D97-AF65-F5344CB8AC3E}">
        <p14:creationId xmlns:p14="http://schemas.microsoft.com/office/powerpoint/2010/main" val="4125574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Cipher Block Chaining Mode </a:t>
            </a:r>
            <a:endParaRPr lang="en-IN" dirty="0"/>
          </a:p>
        </p:txBody>
      </p:sp>
      <p:sp>
        <p:nvSpPr>
          <p:cNvPr id="4" name="Content Placeholder 3"/>
          <p:cNvSpPr>
            <a:spLocks noGrp="1"/>
          </p:cNvSpPr>
          <p:nvPr>
            <p:ph idx="1"/>
          </p:nvPr>
        </p:nvSpPr>
        <p:spPr>
          <a:xfrm>
            <a:off x="457200" y="1600200"/>
            <a:ext cx="8534400" cy="4525963"/>
          </a:xfrm>
        </p:spPr>
        <p:txBody>
          <a:bodyPr>
            <a:normAutofit fontScale="70000" lnSpcReduction="20000"/>
          </a:bodyPr>
          <a:lstStyle/>
          <a:p>
            <a:pPr marL="0" indent="0">
              <a:buNone/>
            </a:pPr>
            <a:r>
              <a:rPr lang="en-IN" dirty="0"/>
              <a:t>Cons</a:t>
            </a:r>
          </a:p>
          <a:p>
            <a:pPr marL="0" indent="0">
              <a:buNone/>
            </a:pPr>
            <a:r>
              <a:rPr lang="en-US" dirty="0"/>
              <a:t>Error Propagation:</a:t>
            </a:r>
          </a:p>
          <a:p>
            <a:pPr marL="0" indent="0">
              <a:buNone/>
            </a:pPr>
            <a:r>
              <a:rPr lang="en-US" dirty="0"/>
              <a:t>A major concern with CBC is that if an error occurs during encryption (e.g., bit flip) in one block, it will affect the decryption of all subsequent blocks due to the chaining mechanism. </a:t>
            </a:r>
          </a:p>
          <a:p>
            <a:pPr marL="0" indent="0">
              <a:buNone/>
            </a:pPr>
            <a:r>
              <a:rPr lang="en-US" dirty="0"/>
              <a:t>Sequential Encryption/Decryption:</a:t>
            </a:r>
          </a:p>
          <a:p>
            <a:pPr marL="0" indent="0">
              <a:buNone/>
            </a:pPr>
            <a:r>
              <a:rPr lang="en-US" dirty="0"/>
              <a:t>Unlike some other modes, CBC requires blocks to be encrypted and decrypted sequentially, which can potentially impact performance in certain scenarios. </a:t>
            </a:r>
          </a:p>
          <a:p>
            <a:pPr marL="0" indent="0">
              <a:buNone/>
            </a:pPr>
            <a:r>
              <a:rPr lang="en-US" dirty="0"/>
              <a:t>IV Management:</a:t>
            </a:r>
          </a:p>
          <a:p>
            <a:pPr marL="0" indent="0">
              <a:buNone/>
            </a:pPr>
            <a:r>
              <a:rPr lang="en-US" dirty="0"/>
              <a:t>Proper management of the initialization vector (IV) is crucial for security; reusing IVs with the same key can compromise the encryption. </a:t>
            </a:r>
            <a:endParaRPr lang="en-IN" dirty="0"/>
          </a:p>
          <a:p>
            <a:pPr marL="0" indent="0">
              <a:buNone/>
            </a:pPr>
            <a:endParaRPr lang="en-IN" dirty="0"/>
          </a:p>
          <a:p>
            <a:endParaRPr lang="en-IN" dirty="0"/>
          </a:p>
        </p:txBody>
      </p:sp>
    </p:spTree>
    <p:extLst>
      <p:ext uri="{BB962C8B-B14F-4D97-AF65-F5344CB8AC3E}">
        <p14:creationId xmlns:p14="http://schemas.microsoft.com/office/powerpoint/2010/main" val="2824884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IN" dirty="0"/>
              <a:t>The </a:t>
            </a:r>
            <a:r>
              <a:rPr lang="en-IN" b="1" dirty="0"/>
              <a:t>Data Encryption Standard</a:t>
            </a:r>
            <a:r>
              <a:rPr lang="en-IN" dirty="0"/>
              <a:t> is a </a:t>
            </a:r>
            <a:r>
              <a:rPr lang="en-IN" b="1" dirty="0"/>
              <a:t>symmetric-key algorithm </a:t>
            </a:r>
            <a:r>
              <a:rPr lang="en-IN" dirty="0"/>
              <a:t>for the encryption of digital data.</a:t>
            </a:r>
          </a:p>
          <a:p>
            <a:pPr algn="just"/>
            <a:r>
              <a:rPr lang="en-US" dirty="0"/>
              <a:t>Developed in the early 1970’s by IBM and was published as an Official Federal Information Processing Standard in 1976.</a:t>
            </a:r>
          </a:p>
          <a:p>
            <a:pPr algn="just"/>
            <a:r>
              <a:rPr lang="en-US" dirty="0"/>
              <a:t>Adopted by NIST in 1977</a:t>
            </a:r>
          </a:p>
          <a:p>
            <a:pPr algn="just"/>
            <a:r>
              <a:rPr lang="en-US" dirty="0"/>
              <a:t>Input:64 bits</a:t>
            </a:r>
          </a:p>
          <a:p>
            <a:pPr algn="just"/>
            <a:r>
              <a:rPr lang="en-US" dirty="0"/>
              <a:t>Output:64 bits</a:t>
            </a:r>
          </a:p>
          <a:p>
            <a:pPr algn="just"/>
            <a:r>
              <a:rPr lang="en-US" dirty="0"/>
              <a:t>Main Key;64 bits</a:t>
            </a:r>
          </a:p>
          <a:p>
            <a:pPr algn="just"/>
            <a:r>
              <a:rPr lang="en-US" dirty="0"/>
              <a:t>SubKey:56 bits</a:t>
            </a:r>
          </a:p>
          <a:p>
            <a:pPr algn="just"/>
            <a:r>
              <a:rPr lang="en-US" dirty="0"/>
              <a:t>Round key: 48 bits(generated from </a:t>
            </a:r>
            <a:r>
              <a:rPr lang="en-US" dirty="0" err="1"/>
              <a:t>Subkey</a:t>
            </a:r>
            <a:r>
              <a:rPr lang="en-US" dirty="0"/>
              <a:t>)</a:t>
            </a:r>
          </a:p>
          <a:p>
            <a:pPr algn="just"/>
            <a:r>
              <a:rPr lang="en-US" dirty="0" err="1"/>
              <a:t>No.of</a:t>
            </a:r>
            <a:r>
              <a:rPr lang="en-US" dirty="0"/>
              <a:t> rounds:16 rounds</a:t>
            </a:r>
          </a:p>
          <a:p>
            <a:pPr algn="just"/>
            <a:endParaRPr lang="en-US" dirty="0"/>
          </a:p>
          <a:p>
            <a:pPr algn="just"/>
            <a:endParaRPr lang="en-US" dirty="0"/>
          </a:p>
        </p:txBody>
      </p:sp>
    </p:spTree>
    <p:extLst>
      <p:ext uri="{BB962C8B-B14F-4D97-AF65-F5344CB8AC3E}">
        <p14:creationId xmlns:p14="http://schemas.microsoft.com/office/powerpoint/2010/main" val="1306382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Overview of DES – Block Diagram</a:t>
            </a:r>
            <a:endParaRPr lang="en-IN" dirty="0"/>
          </a:p>
        </p:txBody>
      </p:sp>
    </p:spTree>
    <p:extLst>
      <p:ext uri="{BB962C8B-B14F-4D97-AF65-F5344CB8AC3E}">
        <p14:creationId xmlns:p14="http://schemas.microsoft.com/office/powerpoint/2010/main" val="3542461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 Encryption Standard</a:t>
            </a:r>
            <a:endParaRPr lang="en-IN" dirty="0"/>
          </a:p>
        </p:txBody>
      </p:sp>
      <p:pic>
        <p:nvPicPr>
          <p:cNvPr id="4" name="Picture 3"/>
          <p:cNvPicPr>
            <a:picLocks noChangeAspect="1"/>
          </p:cNvPicPr>
          <p:nvPr/>
        </p:nvPicPr>
        <p:blipFill>
          <a:blip r:embed="rId3"/>
          <a:stretch>
            <a:fillRect/>
          </a:stretch>
        </p:blipFill>
        <p:spPr>
          <a:xfrm>
            <a:off x="990600" y="1445347"/>
            <a:ext cx="7162800" cy="5029200"/>
          </a:xfrm>
          <a:prstGeom prst="rect">
            <a:avLst/>
          </a:prstGeom>
        </p:spPr>
      </p:pic>
    </p:spTree>
    <p:extLst>
      <p:ext uri="{BB962C8B-B14F-4D97-AF65-F5344CB8AC3E}">
        <p14:creationId xmlns:p14="http://schemas.microsoft.com/office/powerpoint/2010/main" val="2039981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 Encryption Standard</a:t>
            </a:r>
            <a:endParaRPr lang="en-IN" dirty="0"/>
          </a:p>
        </p:txBody>
      </p:sp>
      <p:sp>
        <p:nvSpPr>
          <p:cNvPr id="3" name="Content Placeholder 2"/>
          <p:cNvSpPr>
            <a:spLocks noGrp="1"/>
          </p:cNvSpPr>
          <p:nvPr>
            <p:ph idx="1"/>
          </p:nvPr>
        </p:nvSpPr>
        <p:spPr>
          <a:xfrm>
            <a:off x="457200" y="1219200"/>
            <a:ext cx="8229600" cy="4525963"/>
          </a:xfrm>
        </p:spPr>
        <p:txBody>
          <a:bodyPr/>
          <a:lstStyle/>
          <a:p>
            <a:r>
              <a:rPr lang="en-IN" dirty="0"/>
              <a:t>Single Round of DES Algorithm</a:t>
            </a:r>
          </a:p>
        </p:txBody>
      </p:sp>
      <p:pic>
        <p:nvPicPr>
          <p:cNvPr id="5" name="Picture 4"/>
          <p:cNvPicPr>
            <a:picLocks noChangeAspect="1"/>
          </p:cNvPicPr>
          <p:nvPr/>
        </p:nvPicPr>
        <p:blipFill>
          <a:blip r:embed="rId3"/>
          <a:stretch>
            <a:fillRect/>
          </a:stretch>
        </p:blipFill>
        <p:spPr>
          <a:xfrm>
            <a:off x="1104900" y="1822450"/>
            <a:ext cx="6934200" cy="4867275"/>
          </a:xfrm>
          <a:prstGeom prst="rect">
            <a:avLst/>
          </a:prstGeom>
        </p:spPr>
      </p:pic>
      <p:pic>
        <p:nvPicPr>
          <p:cNvPr id="1026" name="Picture 2" descr="https://img.brainkart.com/imagebk9/KpN7Yq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8713" y="4323403"/>
            <a:ext cx="3748087" cy="1311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905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 calcmode="lin" valueType="num">
                                      <p:cBhvr additive="base">
                                        <p:cTn id="13" dur="500" fill="hold"/>
                                        <p:tgtEl>
                                          <p:spTgt spid="1026"/>
                                        </p:tgtEl>
                                        <p:attrNameLst>
                                          <p:attrName>ppt_x</p:attrName>
                                        </p:attrNameLst>
                                      </p:cBhvr>
                                      <p:tavLst>
                                        <p:tav tm="0">
                                          <p:val>
                                            <p:strVal val="#ppt_x"/>
                                          </p:val>
                                        </p:tav>
                                        <p:tav tm="100000">
                                          <p:val>
                                            <p:strVal val="#ppt_x"/>
                                          </p:val>
                                        </p:tav>
                                      </p:tavLst>
                                    </p:anim>
                                    <p:anim calcmode="lin" valueType="num">
                                      <p:cBhvr additive="base">
                                        <p:cTn id="14"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 Encryption Standard</a:t>
            </a:r>
            <a:endParaRPr lang="en-IN" dirty="0"/>
          </a:p>
        </p:txBody>
      </p:sp>
      <p:sp>
        <p:nvSpPr>
          <p:cNvPr id="3" name="Content Placeholder 2"/>
          <p:cNvSpPr>
            <a:spLocks noGrp="1"/>
          </p:cNvSpPr>
          <p:nvPr>
            <p:ph idx="1"/>
          </p:nvPr>
        </p:nvSpPr>
        <p:spPr>
          <a:xfrm>
            <a:off x="457200" y="1219200"/>
            <a:ext cx="8229600" cy="4525963"/>
          </a:xfrm>
        </p:spPr>
        <p:txBody>
          <a:bodyPr/>
          <a:lstStyle/>
          <a:p>
            <a:r>
              <a:rPr lang="en-IN" dirty="0" err="1"/>
              <a:t>Fiestal</a:t>
            </a:r>
            <a:r>
              <a:rPr lang="en-IN" dirty="0"/>
              <a:t> Function</a:t>
            </a:r>
          </a:p>
        </p:txBody>
      </p:sp>
      <p:pic>
        <p:nvPicPr>
          <p:cNvPr id="4" name="Picture 3"/>
          <p:cNvPicPr>
            <a:picLocks noChangeAspect="1"/>
          </p:cNvPicPr>
          <p:nvPr/>
        </p:nvPicPr>
        <p:blipFill>
          <a:blip r:embed="rId3"/>
          <a:stretch>
            <a:fillRect/>
          </a:stretch>
        </p:blipFill>
        <p:spPr>
          <a:xfrm>
            <a:off x="4181475" y="1417638"/>
            <a:ext cx="4505325" cy="5440362"/>
          </a:xfrm>
          <a:prstGeom prst="rect">
            <a:avLst/>
          </a:prstGeom>
        </p:spPr>
      </p:pic>
    </p:spTree>
    <p:extLst>
      <p:ext uri="{BB962C8B-B14F-4D97-AF65-F5344CB8AC3E}">
        <p14:creationId xmlns:p14="http://schemas.microsoft.com/office/powerpoint/2010/main" val="3552567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p:cNvPicPr>
            <a:picLocks noChangeAspect="1"/>
          </p:cNvPicPr>
          <p:nvPr/>
        </p:nvPicPr>
        <p:blipFill>
          <a:blip r:embed="rId3"/>
          <a:stretch>
            <a:fillRect/>
          </a:stretch>
        </p:blipFill>
        <p:spPr>
          <a:xfrm>
            <a:off x="685800" y="457200"/>
            <a:ext cx="7848600" cy="6172200"/>
          </a:xfrm>
          <a:prstGeom prst="rect">
            <a:avLst/>
          </a:prstGeom>
        </p:spPr>
      </p:pic>
    </p:spTree>
    <p:extLst>
      <p:ext uri="{BB962C8B-B14F-4D97-AF65-F5344CB8AC3E}">
        <p14:creationId xmlns:p14="http://schemas.microsoft.com/office/powerpoint/2010/main" val="1739390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16 Sub Keys</a:t>
            </a:r>
            <a:endParaRPr lang="en-IN" dirty="0"/>
          </a:p>
        </p:txBody>
      </p:sp>
      <p:sp>
        <p:nvSpPr>
          <p:cNvPr id="4" name="Rectangle 3"/>
          <p:cNvSpPr/>
          <p:nvPr/>
        </p:nvSpPr>
        <p:spPr>
          <a:xfrm>
            <a:off x="762000" y="2286000"/>
            <a:ext cx="6397649" cy="523220"/>
          </a:xfrm>
          <a:prstGeom prst="rect">
            <a:avLst/>
          </a:prstGeom>
        </p:spPr>
        <p:txBody>
          <a:bodyPr wrap="none">
            <a:spAutoFit/>
          </a:bodyPr>
          <a:lstStyle/>
          <a:p>
            <a:r>
              <a:rPr lang="en-IN" sz="2800" b="1" dirty="0"/>
              <a:t>Key in Hexadecimal = 133457799BBCDFF1</a:t>
            </a:r>
          </a:p>
        </p:txBody>
      </p:sp>
      <p:sp>
        <p:nvSpPr>
          <p:cNvPr id="5" name="Rectangle 4"/>
          <p:cNvSpPr/>
          <p:nvPr/>
        </p:nvSpPr>
        <p:spPr>
          <a:xfrm>
            <a:off x="337254" y="3200400"/>
            <a:ext cx="8578146" cy="369332"/>
          </a:xfrm>
          <a:prstGeom prst="rect">
            <a:avLst/>
          </a:prstGeom>
        </p:spPr>
        <p:txBody>
          <a:bodyPr wrap="square">
            <a:spAutoFit/>
          </a:bodyPr>
          <a:lstStyle/>
          <a:p>
            <a:r>
              <a:rPr lang="en-IN" b="1" dirty="0"/>
              <a:t>K = 00010011 00110100 01010111 01111001 10011011 10111100 11011111 11110001 </a:t>
            </a:r>
          </a:p>
        </p:txBody>
      </p:sp>
    </p:spTree>
    <p:extLst>
      <p:ext uri="{BB962C8B-B14F-4D97-AF65-F5344CB8AC3E}">
        <p14:creationId xmlns:p14="http://schemas.microsoft.com/office/powerpoint/2010/main" val="61729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61208" y="0"/>
            <a:ext cx="8229600" cy="1143000"/>
          </a:xfrm>
        </p:spPr>
        <p:txBody>
          <a:bodyPr/>
          <a:lstStyle/>
          <a:p>
            <a:r>
              <a:rPr lang="en-US" dirty="0"/>
              <a:t> Generating 16 Sub Keys</a:t>
            </a:r>
            <a:endParaRPr lang="en-IN" dirty="0"/>
          </a:p>
        </p:txBody>
      </p:sp>
      <p:sp>
        <p:nvSpPr>
          <p:cNvPr id="5" name="Rectangle 4"/>
          <p:cNvSpPr/>
          <p:nvPr/>
        </p:nvSpPr>
        <p:spPr>
          <a:xfrm>
            <a:off x="169607" y="1064342"/>
            <a:ext cx="8686800" cy="830997"/>
          </a:xfrm>
          <a:prstGeom prst="rect">
            <a:avLst/>
          </a:prstGeom>
        </p:spPr>
        <p:txBody>
          <a:bodyPr wrap="square">
            <a:spAutoFit/>
          </a:bodyPr>
          <a:lstStyle/>
          <a:p>
            <a:pPr marL="285750" indent="-285750">
              <a:buFont typeface="Arial" panose="020B0604020202020204" pitchFamily="34" charset="0"/>
              <a:buChar char="•"/>
            </a:pPr>
            <a:r>
              <a:rPr lang="en-IN" sz="2400" dirty="0"/>
              <a:t>The 64-bit key is permuted according to the following table, </a:t>
            </a:r>
            <a:r>
              <a:rPr lang="en-IN" sz="2400" b="1" dirty="0"/>
              <a:t>PC-1</a:t>
            </a:r>
            <a:r>
              <a:rPr lang="en-IN" sz="2400" dirty="0"/>
              <a:t>. </a:t>
            </a:r>
          </a:p>
          <a:p>
            <a:pPr marL="285750" indent="-285750">
              <a:buFont typeface="Arial" panose="020B0604020202020204" pitchFamily="34" charset="0"/>
              <a:buChar char="•"/>
            </a:pPr>
            <a:r>
              <a:rPr lang="en-IN" sz="2400" dirty="0"/>
              <a:t>Note only 56 bits of the original key appear in the permuted key. </a:t>
            </a:r>
          </a:p>
        </p:txBody>
      </p:sp>
      <p:sp>
        <p:nvSpPr>
          <p:cNvPr id="6" name="Rectangle 5"/>
          <p:cNvSpPr/>
          <p:nvPr/>
        </p:nvSpPr>
        <p:spPr>
          <a:xfrm>
            <a:off x="169607" y="2059236"/>
            <a:ext cx="9209216" cy="369332"/>
          </a:xfrm>
          <a:prstGeom prst="rect">
            <a:avLst/>
          </a:prstGeom>
        </p:spPr>
        <p:txBody>
          <a:bodyPr wrap="square">
            <a:spAutoFit/>
          </a:bodyPr>
          <a:lstStyle/>
          <a:p>
            <a:r>
              <a:rPr lang="en-IN" b="1" dirty="0"/>
              <a:t>K = 00010011 00110100 01010111 01111001 10011011 10111100 11011111 11110001 </a:t>
            </a:r>
          </a:p>
        </p:txBody>
      </p:sp>
      <p:grpSp>
        <p:nvGrpSpPr>
          <p:cNvPr id="12" name="Group 11"/>
          <p:cNvGrpSpPr/>
          <p:nvPr/>
        </p:nvGrpSpPr>
        <p:grpSpPr>
          <a:xfrm>
            <a:off x="4899964" y="3276600"/>
            <a:ext cx="3971192" cy="3341132"/>
            <a:chOff x="4899964" y="3276600"/>
            <a:chExt cx="3971192" cy="3341132"/>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9964" y="3276600"/>
              <a:ext cx="3971192"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5867400" y="6248400"/>
              <a:ext cx="1524000" cy="369332"/>
            </a:xfrm>
            <a:prstGeom prst="rect">
              <a:avLst/>
            </a:prstGeom>
            <a:noFill/>
          </p:spPr>
          <p:txBody>
            <a:bodyPr wrap="square" rtlCol="0">
              <a:spAutoFit/>
            </a:bodyPr>
            <a:lstStyle/>
            <a:p>
              <a:pPr algn="ctr"/>
              <a:r>
                <a:rPr lang="en-IN" b="1" dirty="0"/>
                <a:t>PC-1</a:t>
              </a:r>
              <a:endParaRPr lang="en-IN" dirty="0"/>
            </a:p>
          </p:txBody>
        </p:sp>
      </p:grpSp>
      <p:sp>
        <p:nvSpPr>
          <p:cNvPr id="11" name="Rectangle 10"/>
          <p:cNvSpPr/>
          <p:nvPr/>
        </p:nvSpPr>
        <p:spPr>
          <a:xfrm>
            <a:off x="261208" y="2524883"/>
            <a:ext cx="8609948" cy="646331"/>
          </a:xfrm>
          <a:prstGeom prst="rect">
            <a:avLst/>
          </a:prstGeom>
        </p:spPr>
        <p:txBody>
          <a:bodyPr wrap="square">
            <a:spAutoFit/>
          </a:bodyPr>
          <a:lstStyle/>
          <a:p>
            <a:r>
              <a:rPr lang="en-IN" b="1" dirty="0"/>
              <a:t>we get the 56-bit permutation </a:t>
            </a:r>
          </a:p>
          <a:p>
            <a:r>
              <a:rPr lang="en-IN" b="1" dirty="0"/>
              <a:t>K+ = 1111000 0110011 0010101 0101111 0101010 1011001 1001111 0001111 </a:t>
            </a:r>
          </a:p>
        </p:txBody>
      </p:sp>
    </p:spTree>
    <p:extLst>
      <p:ext uri="{BB962C8B-B14F-4D97-AF65-F5344CB8AC3E}">
        <p14:creationId xmlns:p14="http://schemas.microsoft.com/office/powerpoint/2010/main" val="1156219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16 Sub Keys</a:t>
            </a:r>
            <a:endParaRPr lang="en-IN" dirty="0"/>
          </a:p>
        </p:txBody>
      </p:sp>
      <p:sp>
        <p:nvSpPr>
          <p:cNvPr id="3" name="Rectangle 2"/>
          <p:cNvSpPr/>
          <p:nvPr/>
        </p:nvSpPr>
        <p:spPr>
          <a:xfrm>
            <a:off x="376083" y="2438400"/>
            <a:ext cx="7514303" cy="2246769"/>
          </a:xfrm>
          <a:prstGeom prst="rect">
            <a:avLst/>
          </a:prstGeom>
        </p:spPr>
        <p:txBody>
          <a:bodyPr wrap="square">
            <a:spAutoFit/>
          </a:bodyPr>
          <a:lstStyle/>
          <a:p>
            <a:r>
              <a:rPr lang="en-IN" sz="2800" dirty="0"/>
              <a:t> Next, split this key into left and right halves, C0 and D0, where each half has 28 bits.</a:t>
            </a:r>
          </a:p>
          <a:p>
            <a:endParaRPr lang="en-IN" sz="2800" dirty="0"/>
          </a:p>
          <a:p>
            <a:endParaRPr lang="en-IN" sz="2800" dirty="0"/>
          </a:p>
          <a:p>
            <a:endParaRPr lang="en-IN" sz="2800" dirty="0"/>
          </a:p>
        </p:txBody>
      </p:sp>
      <p:sp>
        <p:nvSpPr>
          <p:cNvPr id="4" name="Rectangle 3"/>
          <p:cNvSpPr/>
          <p:nvPr/>
        </p:nvSpPr>
        <p:spPr>
          <a:xfrm>
            <a:off x="349044" y="1447800"/>
            <a:ext cx="8609948" cy="646331"/>
          </a:xfrm>
          <a:prstGeom prst="rect">
            <a:avLst/>
          </a:prstGeom>
        </p:spPr>
        <p:txBody>
          <a:bodyPr wrap="square">
            <a:spAutoFit/>
          </a:bodyPr>
          <a:lstStyle/>
          <a:p>
            <a:r>
              <a:rPr lang="en-IN" b="1" dirty="0"/>
              <a:t>we get the 56-bit permutation </a:t>
            </a:r>
          </a:p>
          <a:p>
            <a:r>
              <a:rPr lang="en-IN" b="1" dirty="0"/>
              <a:t>K+ = 1111000 0110011 0010101 0101111 0101010 1011001 1001111 0001111 </a:t>
            </a:r>
          </a:p>
        </p:txBody>
      </p:sp>
      <p:sp>
        <p:nvSpPr>
          <p:cNvPr id="5" name="Rectangle 4"/>
          <p:cNvSpPr/>
          <p:nvPr/>
        </p:nvSpPr>
        <p:spPr>
          <a:xfrm>
            <a:off x="383457" y="3777228"/>
            <a:ext cx="7924800" cy="1815882"/>
          </a:xfrm>
          <a:prstGeom prst="rect">
            <a:avLst/>
          </a:prstGeom>
        </p:spPr>
        <p:txBody>
          <a:bodyPr wrap="square">
            <a:spAutoFit/>
          </a:bodyPr>
          <a:lstStyle/>
          <a:p>
            <a:r>
              <a:rPr lang="en-IN" sz="2800" dirty="0"/>
              <a:t>From the permuted key K+, we get</a:t>
            </a:r>
          </a:p>
          <a:p>
            <a:endParaRPr lang="en-IN" sz="2800" dirty="0"/>
          </a:p>
          <a:p>
            <a:r>
              <a:rPr lang="en-IN" sz="2800" dirty="0"/>
              <a:t>C0 = 1111000 0110011 0010101 0101111</a:t>
            </a:r>
          </a:p>
          <a:p>
            <a:r>
              <a:rPr lang="en-IN" sz="2800" dirty="0"/>
              <a:t>D0 = 0101010 1011001 1001111 0001111 </a:t>
            </a:r>
          </a:p>
        </p:txBody>
      </p:sp>
    </p:spTree>
    <p:extLst>
      <p:ext uri="{BB962C8B-B14F-4D97-AF65-F5344CB8AC3E}">
        <p14:creationId xmlns:p14="http://schemas.microsoft.com/office/powerpoint/2010/main" val="107210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16 Sub Keys</a:t>
            </a:r>
            <a:endParaRPr lang="en-IN" dirty="0"/>
          </a:p>
        </p:txBody>
      </p:sp>
      <p:sp>
        <p:nvSpPr>
          <p:cNvPr id="3" name="Rectangle 2"/>
          <p:cNvSpPr/>
          <p:nvPr/>
        </p:nvSpPr>
        <p:spPr>
          <a:xfrm>
            <a:off x="609600" y="1447800"/>
            <a:ext cx="4572000" cy="923330"/>
          </a:xfrm>
          <a:prstGeom prst="rect">
            <a:avLst/>
          </a:prstGeom>
        </p:spPr>
        <p:txBody>
          <a:bodyPr>
            <a:spAutoFit/>
          </a:bodyPr>
          <a:lstStyle/>
          <a:p>
            <a:r>
              <a:rPr lang="en-US" dirty="0"/>
              <a:t>From the previous slide </a:t>
            </a:r>
            <a:endParaRPr lang="en-IN" dirty="0"/>
          </a:p>
          <a:p>
            <a:r>
              <a:rPr lang="en-IN" dirty="0"/>
              <a:t>C0 = 1111000011001100101010101111</a:t>
            </a:r>
          </a:p>
          <a:p>
            <a:r>
              <a:rPr lang="en-IN" dirty="0"/>
              <a:t>D0 = 0101010101100110011110001111 </a:t>
            </a:r>
          </a:p>
        </p:txBody>
      </p:sp>
      <p:sp>
        <p:nvSpPr>
          <p:cNvPr id="4" name="Rectangle 3"/>
          <p:cNvSpPr/>
          <p:nvPr/>
        </p:nvSpPr>
        <p:spPr>
          <a:xfrm>
            <a:off x="609600" y="2458627"/>
            <a:ext cx="4572000" cy="646331"/>
          </a:xfrm>
          <a:prstGeom prst="rect">
            <a:avLst/>
          </a:prstGeom>
        </p:spPr>
        <p:txBody>
          <a:bodyPr>
            <a:spAutoFit/>
          </a:bodyPr>
          <a:lstStyle/>
          <a:p>
            <a:r>
              <a:rPr lang="en-IN" b="1" i="1" dirty="0"/>
              <a:t>C</a:t>
            </a:r>
            <a:r>
              <a:rPr lang="en-IN" b="1" i="1" baseline="-25000" dirty="0"/>
              <a:t>1</a:t>
            </a:r>
            <a:r>
              <a:rPr lang="en-IN" dirty="0"/>
              <a:t> = 1110000110011001010101011111</a:t>
            </a:r>
            <a:br>
              <a:rPr lang="en-IN" dirty="0"/>
            </a:br>
            <a:r>
              <a:rPr lang="en-IN" b="1" i="1" dirty="0"/>
              <a:t>D</a:t>
            </a:r>
            <a:r>
              <a:rPr lang="en-IN" b="1" i="1" baseline="-25000" dirty="0"/>
              <a:t>1</a:t>
            </a:r>
            <a:r>
              <a:rPr lang="en-IN" dirty="0"/>
              <a:t> = 1010101011001100111100011110</a:t>
            </a:r>
          </a:p>
        </p:txBody>
      </p:sp>
      <p:grpSp>
        <p:nvGrpSpPr>
          <p:cNvPr id="6" name="Group 5"/>
          <p:cNvGrpSpPr/>
          <p:nvPr/>
        </p:nvGrpSpPr>
        <p:grpSpPr>
          <a:xfrm>
            <a:off x="5638800" y="1600200"/>
            <a:ext cx="2955324" cy="5140124"/>
            <a:chOff x="5638800" y="1600200"/>
            <a:chExt cx="2955324" cy="5140124"/>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1600200"/>
              <a:ext cx="2955324"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5929502" y="6370992"/>
              <a:ext cx="2373920" cy="369332"/>
            </a:xfrm>
            <a:prstGeom prst="rect">
              <a:avLst/>
            </a:prstGeom>
          </p:spPr>
          <p:txBody>
            <a:bodyPr wrap="none">
              <a:spAutoFit/>
            </a:bodyPr>
            <a:lstStyle/>
            <a:p>
              <a:r>
                <a:rPr lang="en-IN" dirty="0"/>
                <a:t>schedule of "left shifts"</a:t>
              </a:r>
            </a:p>
          </p:txBody>
        </p:sp>
      </p:grpSp>
      <p:sp>
        <p:nvSpPr>
          <p:cNvPr id="7" name="Rectangle 6"/>
          <p:cNvSpPr/>
          <p:nvPr/>
        </p:nvSpPr>
        <p:spPr>
          <a:xfrm>
            <a:off x="626806" y="3178909"/>
            <a:ext cx="4572000" cy="646331"/>
          </a:xfrm>
          <a:prstGeom prst="rect">
            <a:avLst/>
          </a:prstGeom>
        </p:spPr>
        <p:txBody>
          <a:bodyPr>
            <a:spAutoFit/>
          </a:bodyPr>
          <a:lstStyle/>
          <a:p>
            <a:r>
              <a:rPr lang="en-IN" b="1" i="1" dirty="0"/>
              <a:t>C</a:t>
            </a:r>
            <a:r>
              <a:rPr lang="en-IN" b="1" i="1" baseline="-25000" dirty="0"/>
              <a:t>2</a:t>
            </a:r>
            <a:r>
              <a:rPr lang="en-IN" dirty="0"/>
              <a:t> = 1100001100110010101010111111</a:t>
            </a:r>
            <a:br>
              <a:rPr lang="en-IN" dirty="0"/>
            </a:br>
            <a:r>
              <a:rPr lang="en-IN" b="1" i="1" dirty="0"/>
              <a:t>D</a:t>
            </a:r>
            <a:r>
              <a:rPr lang="en-IN" b="1" i="1" baseline="-25000" dirty="0"/>
              <a:t>2</a:t>
            </a:r>
            <a:r>
              <a:rPr lang="en-IN" dirty="0"/>
              <a:t> = 0101010110011001111000111101 </a:t>
            </a:r>
          </a:p>
        </p:txBody>
      </p:sp>
      <p:sp>
        <p:nvSpPr>
          <p:cNvPr id="8" name="Rectangle 7"/>
          <p:cNvSpPr/>
          <p:nvPr/>
        </p:nvSpPr>
        <p:spPr>
          <a:xfrm>
            <a:off x="609600" y="3974690"/>
            <a:ext cx="4572000" cy="646331"/>
          </a:xfrm>
          <a:prstGeom prst="rect">
            <a:avLst/>
          </a:prstGeom>
        </p:spPr>
        <p:txBody>
          <a:bodyPr>
            <a:spAutoFit/>
          </a:bodyPr>
          <a:lstStyle/>
          <a:p>
            <a:r>
              <a:rPr lang="en-IN" b="1" i="1" dirty="0"/>
              <a:t>C</a:t>
            </a:r>
            <a:r>
              <a:rPr lang="en-IN" b="1" i="1" baseline="-25000" dirty="0"/>
              <a:t>3</a:t>
            </a:r>
            <a:r>
              <a:rPr lang="en-IN" dirty="0"/>
              <a:t> = 0000110011001010101011111111</a:t>
            </a:r>
            <a:br>
              <a:rPr lang="en-IN" dirty="0"/>
            </a:br>
            <a:r>
              <a:rPr lang="en-IN" b="1" i="1" dirty="0"/>
              <a:t>D</a:t>
            </a:r>
            <a:r>
              <a:rPr lang="en-IN" b="1" i="1" baseline="-25000" dirty="0"/>
              <a:t>3</a:t>
            </a:r>
            <a:r>
              <a:rPr lang="en-IN" dirty="0"/>
              <a:t> = 0101011001100111100011110101 </a:t>
            </a:r>
          </a:p>
        </p:txBody>
      </p:sp>
      <p:sp>
        <p:nvSpPr>
          <p:cNvPr id="9" name="Rectangle 8"/>
          <p:cNvSpPr/>
          <p:nvPr/>
        </p:nvSpPr>
        <p:spPr>
          <a:xfrm>
            <a:off x="587477" y="4724400"/>
            <a:ext cx="4572000" cy="646331"/>
          </a:xfrm>
          <a:prstGeom prst="rect">
            <a:avLst/>
          </a:prstGeom>
        </p:spPr>
        <p:txBody>
          <a:bodyPr>
            <a:spAutoFit/>
          </a:bodyPr>
          <a:lstStyle/>
          <a:p>
            <a:r>
              <a:rPr lang="en-IN" b="1" i="1" dirty="0"/>
              <a:t>C</a:t>
            </a:r>
            <a:r>
              <a:rPr lang="en-IN" b="1" i="1" baseline="-25000" dirty="0"/>
              <a:t>4</a:t>
            </a:r>
            <a:r>
              <a:rPr lang="en-IN" dirty="0"/>
              <a:t> = 0011001100101010101111111100</a:t>
            </a:r>
            <a:br>
              <a:rPr lang="en-IN" dirty="0"/>
            </a:br>
            <a:r>
              <a:rPr lang="en-IN" b="1" i="1" dirty="0"/>
              <a:t>D</a:t>
            </a:r>
            <a:r>
              <a:rPr lang="en-IN" b="1" i="1" baseline="-25000" dirty="0"/>
              <a:t>4</a:t>
            </a:r>
            <a:r>
              <a:rPr lang="en-IN" dirty="0"/>
              <a:t> = 0101100110011110001111010101 </a:t>
            </a:r>
          </a:p>
        </p:txBody>
      </p:sp>
      <p:sp>
        <p:nvSpPr>
          <p:cNvPr id="10" name="Rectangle 9"/>
          <p:cNvSpPr/>
          <p:nvPr/>
        </p:nvSpPr>
        <p:spPr>
          <a:xfrm>
            <a:off x="587477" y="5562600"/>
            <a:ext cx="4572000" cy="646331"/>
          </a:xfrm>
          <a:prstGeom prst="rect">
            <a:avLst/>
          </a:prstGeom>
        </p:spPr>
        <p:txBody>
          <a:bodyPr>
            <a:spAutoFit/>
          </a:bodyPr>
          <a:lstStyle/>
          <a:p>
            <a:r>
              <a:rPr lang="en-IN" b="1" i="1" dirty="0"/>
              <a:t>C</a:t>
            </a:r>
            <a:r>
              <a:rPr lang="en-IN" b="1" i="1" baseline="-25000" dirty="0"/>
              <a:t>5</a:t>
            </a:r>
            <a:r>
              <a:rPr lang="en-IN" dirty="0"/>
              <a:t> = 1100110010101010111111110000</a:t>
            </a:r>
            <a:br>
              <a:rPr lang="en-IN" dirty="0"/>
            </a:br>
            <a:r>
              <a:rPr lang="en-IN" b="1" i="1" dirty="0"/>
              <a:t>D</a:t>
            </a:r>
            <a:r>
              <a:rPr lang="en-IN" b="1" i="1" baseline="-25000" dirty="0"/>
              <a:t>5</a:t>
            </a:r>
            <a:r>
              <a:rPr lang="en-IN" dirty="0"/>
              <a:t> = 0110011001111000111101010101 </a:t>
            </a:r>
          </a:p>
        </p:txBody>
      </p:sp>
      <p:cxnSp>
        <p:nvCxnSpPr>
          <p:cNvPr id="12" name="Straight Arrow Connector 11"/>
          <p:cNvCxnSpPr/>
          <p:nvPr/>
        </p:nvCxnSpPr>
        <p:spPr>
          <a:xfrm flipH="1" flipV="1">
            <a:off x="4648200" y="2057400"/>
            <a:ext cx="1524000" cy="4012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4572000" y="2667000"/>
            <a:ext cx="1752600" cy="1147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4495800" y="2971800"/>
            <a:ext cx="1828800" cy="5302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4495800" y="3303516"/>
            <a:ext cx="1905000" cy="99433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4495800" y="3502074"/>
            <a:ext cx="1905000" cy="154549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4495800" y="3800685"/>
            <a:ext cx="1905000" cy="19143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056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8" grpId="0"/>
      <p:bldP spid="9"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16 Sub Keys</a:t>
            </a:r>
            <a:endParaRPr lang="en-IN" dirty="0"/>
          </a:p>
        </p:txBody>
      </p:sp>
      <p:sp>
        <p:nvSpPr>
          <p:cNvPr id="3" name="Rectangle 2"/>
          <p:cNvSpPr/>
          <p:nvPr/>
        </p:nvSpPr>
        <p:spPr>
          <a:xfrm>
            <a:off x="152400" y="1520780"/>
            <a:ext cx="4572000" cy="4801314"/>
          </a:xfrm>
          <a:prstGeom prst="rect">
            <a:avLst/>
          </a:prstGeom>
        </p:spPr>
        <p:txBody>
          <a:bodyPr>
            <a:spAutoFit/>
          </a:bodyPr>
          <a:lstStyle/>
          <a:p>
            <a:r>
              <a:rPr lang="en-IN" b="1" i="1" dirty="0"/>
              <a:t>C</a:t>
            </a:r>
            <a:r>
              <a:rPr lang="en-IN" b="1" i="1" baseline="-25000" dirty="0"/>
              <a:t>6</a:t>
            </a:r>
            <a:r>
              <a:rPr lang="en-IN" dirty="0"/>
              <a:t> = 0011001010101011111111000011</a:t>
            </a:r>
            <a:br>
              <a:rPr lang="en-IN" dirty="0"/>
            </a:br>
            <a:r>
              <a:rPr lang="en-IN" b="1" i="1" dirty="0"/>
              <a:t>D</a:t>
            </a:r>
            <a:r>
              <a:rPr lang="en-IN" b="1" i="1" baseline="-25000" dirty="0"/>
              <a:t>6</a:t>
            </a:r>
            <a:r>
              <a:rPr lang="en-IN" dirty="0"/>
              <a:t> = 1001100111100011110101010101 </a:t>
            </a:r>
          </a:p>
          <a:p>
            <a:endParaRPr lang="en-IN" dirty="0"/>
          </a:p>
          <a:p>
            <a:r>
              <a:rPr lang="en-IN" b="1" i="1" dirty="0"/>
              <a:t>C</a:t>
            </a:r>
            <a:r>
              <a:rPr lang="en-IN" b="1" i="1" baseline="-25000" dirty="0"/>
              <a:t>7</a:t>
            </a:r>
            <a:r>
              <a:rPr lang="en-IN" dirty="0"/>
              <a:t> = 1100101010101111111100001100</a:t>
            </a:r>
            <a:br>
              <a:rPr lang="en-IN" dirty="0"/>
            </a:br>
            <a:r>
              <a:rPr lang="en-IN" b="1" i="1" dirty="0"/>
              <a:t>D</a:t>
            </a:r>
            <a:r>
              <a:rPr lang="en-IN" b="1" i="1" baseline="-25000" dirty="0"/>
              <a:t>7</a:t>
            </a:r>
            <a:r>
              <a:rPr lang="en-IN" dirty="0"/>
              <a:t> = 0110011110001111010101010110 </a:t>
            </a:r>
          </a:p>
          <a:p>
            <a:endParaRPr lang="en-IN" dirty="0"/>
          </a:p>
          <a:p>
            <a:r>
              <a:rPr lang="en-IN" b="1" i="1" dirty="0"/>
              <a:t>C</a:t>
            </a:r>
            <a:r>
              <a:rPr lang="en-IN" b="1" i="1" baseline="-25000" dirty="0"/>
              <a:t>8</a:t>
            </a:r>
            <a:r>
              <a:rPr lang="en-IN" dirty="0"/>
              <a:t> = 0010101010111111110000110011</a:t>
            </a:r>
            <a:br>
              <a:rPr lang="en-IN" dirty="0"/>
            </a:br>
            <a:r>
              <a:rPr lang="en-IN" b="1" i="1" dirty="0"/>
              <a:t>D</a:t>
            </a:r>
            <a:r>
              <a:rPr lang="en-IN" b="1" i="1" baseline="-25000" dirty="0"/>
              <a:t>8</a:t>
            </a:r>
            <a:r>
              <a:rPr lang="en-IN" dirty="0"/>
              <a:t> = 1001111000111101010101011001 </a:t>
            </a:r>
          </a:p>
          <a:p>
            <a:endParaRPr lang="en-IN" dirty="0"/>
          </a:p>
          <a:p>
            <a:r>
              <a:rPr lang="en-IN" b="1" i="1" dirty="0"/>
              <a:t>C</a:t>
            </a:r>
            <a:r>
              <a:rPr lang="en-IN" b="1" i="1" baseline="-25000" dirty="0"/>
              <a:t>9</a:t>
            </a:r>
            <a:r>
              <a:rPr lang="en-IN" dirty="0"/>
              <a:t> = 0101010101111111100001100110</a:t>
            </a:r>
            <a:br>
              <a:rPr lang="en-IN" dirty="0"/>
            </a:br>
            <a:r>
              <a:rPr lang="en-IN" b="1" i="1" dirty="0"/>
              <a:t>D</a:t>
            </a:r>
            <a:r>
              <a:rPr lang="en-IN" b="1" i="1" baseline="-25000" dirty="0"/>
              <a:t>9</a:t>
            </a:r>
            <a:r>
              <a:rPr lang="en-IN" dirty="0"/>
              <a:t> = 0011110001111010101010110011 </a:t>
            </a:r>
          </a:p>
          <a:p>
            <a:endParaRPr lang="en-IN" dirty="0"/>
          </a:p>
          <a:p>
            <a:r>
              <a:rPr lang="en-IN" b="1" i="1" dirty="0"/>
              <a:t>C</a:t>
            </a:r>
            <a:r>
              <a:rPr lang="en-IN" b="1" i="1" baseline="-25000" dirty="0"/>
              <a:t>10</a:t>
            </a:r>
            <a:r>
              <a:rPr lang="en-IN" dirty="0"/>
              <a:t> = 0101010111111110000110011001</a:t>
            </a:r>
            <a:br>
              <a:rPr lang="en-IN" dirty="0"/>
            </a:br>
            <a:r>
              <a:rPr lang="en-IN" b="1" i="1" dirty="0"/>
              <a:t>D</a:t>
            </a:r>
            <a:r>
              <a:rPr lang="en-IN" b="1" i="1" baseline="-25000" dirty="0"/>
              <a:t>10</a:t>
            </a:r>
            <a:r>
              <a:rPr lang="en-IN" dirty="0"/>
              <a:t> = 1111000111101010101011001100 </a:t>
            </a:r>
          </a:p>
          <a:p>
            <a:endParaRPr lang="en-IN" dirty="0"/>
          </a:p>
          <a:p>
            <a:r>
              <a:rPr lang="en-IN" b="1" i="1" dirty="0"/>
              <a:t>C</a:t>
            </a:r>
            <a:r>
              <a:rPr lang="en-IN" b="1" i="1" baseline="-25000" dirty="0"/>
              <a:t>11</a:t>
            </a:r>
            <a:r>
              <a:rPr lang="en-IN" dirty="0"/>
              <a:t> = 0101011111111000011001100101</a:t>
            </a:r>
            <a:br>
              <a:rPr lang="en-IN" dirty="0"/>
            </a:br>
            <a:r>
              <a:rPr lang="en-IN" b="1" i="1" dirty="0"/>
              <a:t>D</a:t>
            </a:r>
            <a:r>
              <a:rPr lang="en-IN" b="1" i="1" baseline="-25000" dirty="0"/>
              <a:t>11</a:t>
            </a:r>
            <a:r>
              <a:rPr lang="en-IN" dirty="0"/>
              <a:t> = 1100011110101010101100110011 </a:t>
            </a:r>
          </a:p>
        </p:txBody>
      </p:sp>
      <p:sp>
        <p:nvSpPr>
          <p:cNvPr id="4" name="Rectangle 3"/>
          <p:cNvSpPr/>
          <p:nvPr/>
        </p:nvSpPr>
        <p:spPr>
          <a:xfrm>
            <a:off x="4267200" y="1668482"/>
            <a:ext cx="4572000" cy="3970318"/>
          </a:xfrm>
          <a:prstGeom prst="rect">
            <a:avLst/>
          </a:prstGeom>
        </p:spPr>
        <p:txBody>
          <a:bodyPr>
            <a:spAutoFit/>
          </a:bodyPr>
          <a:lstStyle/>
          <a:p>
            <a:r>
              <a:rPr lang="en-IN" b="1" i="1" dirty="0"/>
              <a:t>C</a:t>
            </a:r>
            <a:r>
              <a:rPr lang="en-IN" b="1" i="1" baseline="-25000" dirty="0"/>
              <a:t>12</a:t>
            </a:r>
            <a:r>
              <a:rPr lang="en-IN" dirty="0"/>
              <a:t> = 0101111111100001100110010101</a:t>
            </a:r>
            <a:br>
              <a:rPr lang="en-IN" dirty="0"/>
            </a:br>
            <a:r>
              <a:rPr lang="en-IN" b="1" i="1" dirty="0"/>
              <a:t>D</a:t>
            </a:r>
            <a:r>
              <a:rPr lang="en-IN" b="1" i="1" baseline="-25000" dirty="0"/>
              <a:t>12</a:t>
            </a:r>
            <a:r>
              <a:rPr lang="en-IN" dirty="0"/>
              <a:t> = 0001111010101010110011001111</a:t>
            </a:r>
          </a:p>
          <a:p>
            <a:r>
              <a:rPr lang="en-IN" dirty="0"/>
              <a:t> </a:t>
            </a:r>
          </a:p>
          <a:p>
            <a:r>
              <a:rPr lang="en-IN" b="1" i="1" dirty="0"/>
              <a:t>C</a:t>
            </a:r>
            <a:r>
              <a:rPr lang="en-IN" b="1" i="1" baseline="-25000" dirty="0"/>
              <a:t>13</a:t>
            </a:r>
            <a:r>
              <a:rPr lang="en-IN" dirty="0"/>
              <a:t> = 0111111110000110011001010101</a:t>
            </a:r>
            <a:br>
              <a:rPr lang="en-IN" dirty="0"/>
            </a:br>
            <a:r>
              <a:rPr lang="en-IN" b="1" i="1" dirty="0"/>
              <a:t>D</a:t>
            </a:r>
            <a:r>
              <a:rPr lang="en-IN" b="1" i="1" baseline="-25000" dirty="0"/>
              <a:t>13</a:t>
            </a:r>
            <a:r>
              <a:rPr lang="en-IN" dirty="0"/>
              <a:t> = 0111101010101011001100111100</a:t>
            </a:r>
          </a:p>
          <a:p>
            <a:r>
              <a:rPr lang="en-IN" dirty="0"/>
              <a:t> </a:t>
            </a:r>
          </a:p>
          <a:p>
            <a:r>
              <a:rPr lang="en-IN" b="1" i="1" dirty="0"/>
              <a:t>C</a:t>
            </a:r>
            <a:r>
              <a:rPr lang="en-IN" b="1" i="1" baseline="-25000" dirty="0"/>
              <a:t>14</a:t>
            </a:r>
            <a:r>
              <a:rPr lang="en-IN" dirty="0"/>
              <a:t> = 1111111000011001100101010101</a:t>
            </a:r>
            <a:br>
              <a:rPr lang="en-IN" dirty="0"/>
            </a:br>
            <a:r>
              <a:rPr lang="en-IN" b="1" i="1" dirty="0"/>
              <a:t>D</a:t>
            </a:r>
            <a:r>
              <a:rPr lang="en-IN" b="1" i="1" baseline="-25000" dirty="0"/>
              <a:t>14</a:t>
            </a:r>
            <a:r>
              <a:rPr lang="en-IN" dirty="0"/>
              <a:t> = 1110101010101100110011110001</a:t>
            </a:r>
          </a:p>
          <a:p>
            <a:r>
              <a:rPr lang="en-IN" dirty="0"/>
              <a:t> </a:t>
            </a:r>
          </a:p>
          <a:p>
            <a:r>
              <a:rPr lang="en-IN" b="1" i="1" dirty="0"/>
              <a:t>C</a:t>
            </a:r>
            <a:r>
              <a:rPr lang="en-IN" b="1" i="1" baseline="-25000" dirty="0"/>
              <a:t>15</a:t>
            </a:r>
            <a:r>
              <a:rPr lang="en-IN" dirty="0"/>
              <a:t> = 1111100001100110010101010111</a:t>
            </a:r>
            <a:br>
              <a:rPr lang="en-IN" dirty="0"/>
            </a:br>
            <a:r>
              <a:rPr lang="en-IN" b="1" i="1" dirty="0"/>
              <a:t>D</a:t>
            </a:r>
            <a:r>
              <a:rPr lang="en-IN" b="1" i="1" baseline="-25000" dirty="0"/>
              <a:t>15</a:t>
            </a:r>
            <a:r>
              <a:rPr lang="en-IN" dirty="0"/>
              <a:t> = 1010101010110011001111000111</a:t>
            </a:r>
          </a:p>
          <a:p>
            <a:r>
              <a:rPr lang="en-IN" dirty="0"/>
              <a:t> </a:t>
            </a:r>
          </a:p>
          <a:p>
            <a:r>
              <a:rPr lang="en-IN" b="1" i="1" dirty="0"/>
              <a:t>C</a:t>
            </a:r>
            <a:r>
              <a:rPr lang="en-IN" b="1" i="1" baseline="-25000" dirty="0"/>
              <a:t>16</a:t>
            </a:r>
            <a:r>
              <a:rPr lang="en-IN" dirty="0"/>
              <a:t> = 1111000011001100101010101111</a:t>
            </a:r>
            <a:br>
              <a:rPr lang="en-IN" dirty="0"/>
            </a:br>
            <a:r>
              <a:rPr lang="en-IN" b="1" i="1" dirty="0"/>
              <a:t>D</a:t>
            </a:r>
            <a:r>
              <a:rPr lang="en-IN" b="1" i="1" baseline="-25000" dirty="0"/>
              <a:t>16</a:t>
            </a:r>
            <a:r>
              <a:rPr lang="en-IN" dirty="0"/>
              <a:t> = 0101010101100110011110001111 </a:t>
            </a:r>
          </a:p>
        </p:txBody>
      </p:sp>
    </p:spTree>
    <p:extLst>
      <p:ext uri="{BB962C8B-B14F-4D97-AF65-F5344CB8AC3E}">
        <p14:creationId xmlns:p14="http://schemas.microsoft.com/office/powerpoint/2010/main" val="1581632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16 Sub Keys</a:t>
            </a:r>
            <a:endParaRPr lang="en-IN" dirty="0"/>
          </a:p>
        </p:txBody>
      </p:sp>
      <p:sp>
        <p:nvSpPr>
          <p:cNvPr id="3" name="Rectangle 2"/>
          <p:cNvSpPr/>
          <p:nvPr/>
        </p:nvSpPr>
        <p:spPr>
          <a:xfrm>
            <a:off x="304800" y="1371600"/>
            <a:ext cx="8153400" cy="923330"/>
          </a:xfrm>
          <a:prstGeom prst="rect">
            <a:avLst/>
          </a:prstGeom>
        </p:spPr>
        <p:txBody>
          <a:bodyPr wrap="square">
            <a:spAutoFit/>
          </a:bodyPr>
          <a:lstStyle/>
          <a:p>
            <a:r>
              <a:rPr lang="en-IN" dirty="0"/>
              <a:t>We now form the keys </a:t>
            </a:r>
            <a:r>
              <a:rPr lang="en-IN" b="1" i="1" dirty="0" err="1"/>
              <a:t>K</a:t>
            </a:r>
            <a:r>
              <a:rPr lang="en-IN" b="1" i="1" baseline="-25000" dirty="0" err="1"/>
              <a:t>n</a:t>
            </a:r>
            <a:r>
              <a:rPr lang="en-IN" dirty="0"/>
              <a:t>, for 1&lt;=</a:t>
            </a:r>
            <a:r>
              <a:rPr lang="en-IN" b="1" i="1" dirty="0"/>
              <a:t>n</a:t>
            </a:r>
            <a:r>
              <a:rPr lang="en-IN" dirty="0"/>
              <a:t>&lt;=16, by applying the following permutation table to each of the concatenated pairs </a:t>
            </a:r>
            <a:r>
              <a:rPr lang="en-IN" b="1" i="1" dirty="0" err="1"/>
              <a:t>C</a:t>
            </a:r>
            <a:r>
              <a:rPr lang="en-IN" b="1" i="1" baseline="-25000" dirty="0" err="1"/>
              <a:t>n</a:t>
            </a:r>
            <a:r>
              <a:rPr lang="en-IN" b="1" i="1" dirty="0" err="1"/>
              <a:t>D</a:t>
            </a:r>
            <a:r>
              <a:rPr lang="en-IN" b="1" i="1" baseline="-25000" dirty="0" err="1"/>
              <a:t>n</a:t>
            </a:r>
            <a:r>
              <a:rPr lang="en-IN" dirty="0"/>
              <a:t>. </a:t>
            </a:r>
          </a:p>
          <a:p>
            <a:r>
              <a:rPr lang="en-IN" dirty="0"/>
              <a:t>Each pair has 56 bits, but </a:t>
            </a:r>
            <a:r>
              <a:rPr lang="en-IN" b="1" dirty="0"/>
              <a:t>PC-2</a:t>
            </a:r>
            <a:r>
              <a:rPr lang="en-IN" dirty="0"/>
              <a:t> only uses 48 of these. </a:t>
            </a:r>
          </a:p>
        </p:txBody>
      </p:sp>
      <p:sp>
        <p:nvSpPr>
          <p:cNvPr id="4" name="Rectangle 3"/>
          <p:cNvSpPr/>
          <p:nvPr/>
        </p:nvSpPr>
        <p:spPr>
          <a:xfrm>
            <a:off x="457200" y="2458627"/>
            <a:ext cx="4572000" cy="646331"/>
          </a:xfrm>
          <a:prstGeom prst="rect">
            <a:avLst/>
          </a:prstGeom>
        </p:spPr>
        <p:txBody>
          <a:bodyPr>
            <a:spAutoFit/>
          </a:bodyPr>
          <a:lstStyle/>
          <a:p>
            <a:r>
              <a:rPr lang="en-IN" b="1" i="1" dirty="0"/>
              <a:t>C</a:t>
            </a:r>
            <a:r>
              <a:rPr lang="en-IN" b="1" i="1" baseline="-25000" dirty="0"/>
              <a:t>1</a:t>
            </a:r>
            <a:r>
              <a:rPr lang="en-IN" dirty="0"/>
              <a:t> = 1110000110011001010101011111</a:t>
            </a:r>
            <a:br>
              <a:rPr lang="en-IN" dirty="0"/>
            </a:br>
            <a:r>
              <a:rPr lang="en-IN" b="1" i="1" dirty="0"/>
              <a:t>D</a:t>
            </a:r>
            <a:r>
              <a:rPr lang="en-IN" b="1" i="1" baseline="-25000" dirty="0"/>
              <a:t>1</a:t>
            </a:r>
            <a:r>
              <a:rPr lang="en-IN" dirty="0"/>
              <a:t> = 1010101011001100111100011110</a:t>
            </a:r>
          </a:p>
        </p:txBody>
      </p:sp>
      <p:sp>
        <p:nvSpPr>
          <p:cNvPr id="5" name="Rectangle 4"/>
          <p:cNvSpPr/>
          <p:nvPr/>
        </p:nvSpPr>
        <p:spPr>
          <a:xfrm>
            <a:off x="304800" y="3276600"/>
            <a:ext cx="8642556" cy="369332"/>
          </a:xfrm>
          <a:prstGeom prst="rect">
            <a:avLst/>
          </a:prstGeom>
        </p:spPr>
        <p:txBody>
          <a:bodyPr wrap="square">
            <a:spAutoFit/>
          </a:bodyPr>
          <a:lstStyle/>
          <a:p>
            <a:r>
              <a:rPr lang="en-IN" b="1" i="1" dirty="0"/>
              <a:t>C</a:t>
            </a:r>
            <a:r>
              <a:rPr lang="en-IN" b="1" i="1" baseline="-25000" dirty="0"/>
              <a:t>1</a:t>
            </a:r>
            <a:r>
              <a:rPr lang="en-IN" b="1" i="1" dirty="0"/>
              <a:t>D</a:t>
            </a:r>
            <a:r>
              <a:rPr lang="en-IN" b="1" i="1" baseline="-25000" dirty="0"/>
              <a:t>1</a:t>
            </a:r>
            <a:r>
              <a:rPr lang="en-IN" dirty="0"/>
              <a:t> = 1110000 1100110 0101010 1011111 1010101 0110011 0011110 0011110 </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810000"/>
            <a:ext cx="3800475" cy="265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378542" y="3772818"/>
            <a:ext cx="8079658" cy="369332"/>
          </a:xfrm>
          <a:prstGeom prst="rect">
            <a:avLst/>
          </a:prstGeom>
        </p:spPr>
        <p:txBody>
          <a:bodyPr wrap="square">
            <a:spAutoFit/>
          </a:bodyPr>
          <a:lstStyle/>
          <a:p>
            <a:r>
              <a:rPr lang="en-IN" b="1" i="1" dirty="0"/>
              <a:t>K</a:t>
            </a:r>
            <a:r>
              <a:rPr lang="en-IN" b="1" i="1" baseline="-25000" dirty="0"/>
              <a:t>1</a:t>
            </a:r>
            <a:r>
              <a:rPr lang="en-IN" dirty="0"/>
              <a:t> = 000110 110000 001011 101111 111111 000111 000001 110010 </a:t>
            </a:r>
          </a:p>
        </p:txBody>
      </p:sp>
    </p:spTree>
    <p:extLst>
      <p:ext uri="{BB962C8B-B14F-4D97-AF65-F5344CB8AC3E}">
        <p14:creationId xmlns:p14="http://schemas.microsoft.com/office/powerpoint/2010/main" val="212020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16 Sub Keys</a:t>
            </a:r>
            <a:endParaRPr lang="en-IN" dirty="0"/>
          </a:p>
        </p:txBody>
      </p:sp>
      <p:sp>
        <p:nvSpPr>
          <p:cNvPr id="5" name="Rectangle 4"/>
          <p:cNvSpPr/>
          <p:nvPr/>
        </p:nvSpPr>
        <p:spPr>
          <a:xfrm>
            <a:off x="267929" y="2209800"/>
            <a:ext cx="8642556" cy="646331"/>
          </a:xfrm>
          <a:prstGeom prst="rect">
            <a:avLst/>
          </a:prstGeom>
        </p:spPr>
        <p:txBody>
          <a:bodyPr wrap="square">
            <a:spAutoFit/>
          </a:bodyPr>
          <a:lstStyle/>
          <a:p>
            <a:r>
              <a:rPr lang="en-IN" b="1" i="1" dirty="0"/>
              <a:t>C</a:t>
            </a:r>
            <a:r>
              <a:rPr lang="en-IN" b="1" i="1" baseline="-25000" dirty="0"/>
              <a:t>2</a:t>
            </a:r>
            <a:r>
              <a:rPr lang="en-IN" b="1" i="1" dirty="0"/>
              <a:t>D</a:t>
            </a:r>
            <a:r>
              <a:rPr lang="en-IN" b="1" i="1" baseline="-25000" dirty="0"/>
              <a:t>2</a:t>
            </a:r>
            <a:r>
              <a:rPr lang="en-IN" dirty="0"/>
              <a:t> 1100001 1001100 1010101 0111111  0101010 1100110 0111100 0111101 </a:t>
            </a:r>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799" y="3352800"/>
            <a:ext cx="3800475" cy="265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267929" y="2856131"/>
            <a:ext cx="8079658" cy="369332"/>
          </a:xfrm>
          <a:prstGeom prst="rect">
            <a:avLst/>
          </a:prstGeom>
        </p:spPr>
        <p:txBody>
          <a:bodyPr wrap="square">
            <a:spAutoFit/>
          </a:bodyPr>
          <a:lstStyle/>
          <a:p>
            <a:r>
              <a:rPr lang="en-IN" b="1" i="1" dirty="0"/>
              <a:t>K</a:t>
            </a:r>
            <a:r>
              <a:rPr lang="en-IN" b="1" i="1" baseline="-25000" dirty="0"/>
              <a:t>2</a:t>
            </a:r>
            <a:r>
              <a:rPr lang="en-IN" dirty="0"/>
              <a:t> = 011110 011010111011011001110110111100100111100101</a:t>
            </a:r>
          </a:p>
        </p:txBody>
      </p:sp>
      <p:sp>
        <p:nvSpPr>
          <p:cNvPr id="7" name="Rectangle 6"/>
          <p:cNvSpPr/>
          <p:nvPr/>
        </p:nvSpPr>
        <p:spPr>
          <a:xfrm>
            <a:off x="317090" y="1371600"/>
            <a:ext cx="4572000" cy="646331"/>
          </a:xfrm>
          <a:prstGeom prst="rect">
            <a:avLst/>
          </a:prstGeom>
        </p:spPr>
        <p:txBody>
          <a:bodyPr>
            <a:spAutoFit/>
          </a:bodyPr>
          <a:lstStyle/>
          <a:p>
            <a:r>
              <a:rPr lang="en-IN" b="1" i="1" dirty="0"/>
              <a:t>C</a:t>
            </a:r>
            <a:r>
              <a:rPr lang="en-IN" b="1" i="1" baseline="-25000" dirty="0"/>
              <a:t>2</a:t>
            </a:r>
            <a:r>
              <a:rPr lang="en-IN" dirty="0"/>
              <a:t> = 1100001100110010101010111111</a:t>
            </a:r>
            <a:br>
              <a:rPr lang="en-IN" dirty="0"/>
            </a:br>
            <a:r>
              <a:rPr lang="en-IN" b="1" i="1" dirty="0"/>
              <a:t>D</a:t>
            </a:r>
            <a:r>
              <a:rPr lang="en-IN" b="1" i="1" baseline="-25000" dirty="0"/>
              <a:t>2</a:t>
            </a:r>
            <a:r>
              <a:rPr lang="en-IN" dirty="0"/>
              <a:t> = 0101010110011001111000111101 </a:t>
            </a:r>
          </a:p>
        </p:txBody>
      </p:sp>
    </p:spTree>
    <p:extLst>
      <p:ext uri="{BB962C8B-B14F-4D97-AF65-F5344CB8AC3E}">
        <p14:creationId xmlns:p14="http://schemas.microsoft.com/office/powerpoint/2010/main" val="3144115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16 Sub Keys</a:t>
            </a:r>
            <a:endParaRPr lang="en-IN" dirty="0"/>
          </a:p>
        </p:txBody>
      </p:sp>
      <p:sp>
        <p:nvSpPr>
          <p:cNvPr id="3" name="Rectangle 2"/>
          <p:cNvSpPr/>
          <p:nvPr/>
        </p:nvSpPr>
        <p:spPr>
          <a:xfrm>
            <a:off x="304800" y="1351507"/>
            <a:ext cx="8382000" cy="4524315"/>
          </a:xfrm>
          <a:prstGeom prst="rect">
            <a:avLst/>
          </a:prstGeom>
        </p:spPr>
        <p:txBody>
          <a:bodyPr wrap="square">
            <a:spAutoFit/>
          </a:bodyPr>
          <a:lstStyle/>
          <a:p>
            <a:r>
              <a:rPr lang="en-IN" b="1" i="1" dirty="0"/>
              <a:t>K</a:t>
            </a:r>
            <a:r>
              <a:rPr lang="en-IN" b="1" i="1" baseline="-25000" dirty="0"/>
              <a:t>1</a:t>
            </a:r>
            <a:r>
              <a:rPr lang="en-IN" dirty="0"/>
              <a:t> = 000110 110000 001011 101111 111111 000111 000001 110010 </a:t>
            </a:r>
            <a:endParaRPr lang="en-IN" b="1" i="1" dirty="0"/>
          </a:p>
          <a:p>
            <a:r>
              <a:rPr lang="en-IN" b="1" i="1" dirty="0"/>
              <a:t>K</a:t>
            </a:r>
            <a:r>
              <a:rPr lang="en-IN" b="1" i="1" baseline="-25000" dirty="0"/>
              <a:t>2</a:t>
            </a:r>
            <a:r>
              <a:rPr lang="en-IN" dirty="0"/>
              <a:t> = 011110 011010 111011 011001 110110 111100 100111 100101</a:t>
            </a:r>
            <a:br>
              <a:rPr lang="en-IN" dirty="0"/>
            </a:br>
            <a:r>
              <a:rPr lang="en-IN" b="1" i="1" dirty="0"/>
              <a:t>K</a:t>
            </a:r>
            <a:r>
              <a:rPr lang="en-IN" b="1" i="1" baseline="-25000" dirty="0"/>
              <a:t>3</a:t>
            </a:r>
            <a:r>
              <a:rPr lang="en-IN" dirty="0"/>
              <a:t> = 010101 011111 110010 001010 010000 101100 111110 011001</a:t>
            </a:r>
            <a:br>
              <a:rPr lang="en-IN" dirty="0"/>
            </a:br>
            <a:r>
              <a:rPr lang="en-IN" b="1" i="1" dirty="0"/>
              <a:t>K</a:t>
            </a:r>
            <a:r>
              <a:rPr lang="en-IN" b="1" i="1" baseline="-25000" dirty="0"/>
              <a:t>4</a:t>
            </a:r>
            <a:r>
              <a:rPr lang="en-IN" dirty="0"/>
              <a:t> = 011100 101010 110111 010110 110110 110011 010100 011101</a:t>
            </a:r>
            <a:br>
              <a:rPr lang="en-IN" dirty="0"/>
            </a:br>
            <a:r>
              <a:rPr lang="en-IN" b="1" i="1" dirty="0"/>
              <a:t>K</a:t>
            </a:r>
            <a:r>
              <a:rPr lang="en-IN" b="1" i="1" baseline="-25000" dirty="0"/>
              <a:t>5</a:t>
            </a:r>
            <a:r>
              <a:rPr lang="en-IN" dirty="0"/>
              <a:t> = 011111 001110 110000 000111 111010 110101 001110 101000</a:t>
            </a:r>
            <a:br>
              <a:rPr lang="en-IN" dirty="0"/>
            </a:br>
            <a:r>
              <a:rPr lang="en-IN" b="1" i="1" dirty="0"/>
              <a:t>K</a:t>
            </a:r>
            <a:r>
              <a:rPr lang="en-IN" b="1" i="1" baseline="-25000" dirty="0"/>
              <a:t>6</a:t>
            </a:r>
            <a:r>
              <a:rPr lang="en-IN" dirty="0"/>
              <a:t> = 011000 111010 010100 111110 010100 000111 101100 101111</a:t>
            </a:r>
            <a:br>
              <a:rPr lang="en-IN" dirty="0"/>
            </a:br>
            <a:r>
              <a:rPr lang="en-IN" b="1" i="1" dirty="0"/>
              <a:t>K</a:t>
            </a:r>
            <a:r>
              <a:rPr lang="en-IN" b="1" i="1" baseline="-25000" dirty="0"/>
              <a:t>7</a:t>
            </a:r>
            <a:r>
              <a:rPr lang="en-IN" dirty="0"/>
              <a:t> = 111011 001000 010010 110111 111101 100001 100010 111100</a:t>
            </a:r>
            <a:br>
              <a:rPr lang="en-IN" dirty="0"/>
            </a:br>
            <a:r>
              <a:rPr lang="en-IN" b="1" i="1" dirty="0"/>
              <a:t>K</a:t>
            </a:r>
            <a:r>
              <a:rPr lang="en-IN" b="1" i="1" baseline="-25000" dirty="0"/>
              <a:t>8</a:t>
            </a:r>
            <a:r>
              <a:rPr lang="en-IN" dirty="0"/>
              <a:t> = 111101 111000 101000 111010 110000 010011 101111 111011</a:t>
            </a:r>
            <a:br>
              <a:rPr lang="en-IN" dirty="0"/>
            </a:br>
            <a:r>
              <a:rPr lang="en-IN" b="1" i="1" dirty="0"/>
              <a:t>K</a:t>
            </a:r>
            <a:r>
              <a:rPr lang="en-IN" b="1" i="1" baseline="-25000" dirty="0"/>
              <a:t>9</a:t>
            </a:r>
            <a:r>
              <a:rPr lang="en-IN" dirty="0"/>
              <a:t> = 111000 001101 101111 101011 111011 011110 011110 000001</a:t>
            </a:r>
            <a:br>
              <a:rPr lang="en-IN" dirty="0"/>
            </a:br>
            <a:r>
              <a:rPr lang="en-IN" b="1" i="1" dirty="0"/>
              <a:t>K</a:t>
            </a:r>
            <a:r>
              <a:rPr lang="en-IN" b="1" i="1" baseline="-25000" dirty="0"/>
              <a:t>10</a:t>
            </a:r>
            <a:r>
              <a:rPr lang="en-IN" dirty="0"/>
              <a:t> = 101100 011111 001101 000111 101110 100100 011001 001111</a:t>
            </a:r>
            <a:br>
              <a:rPr lang="en-IN" dirty="0"/>
            </a:br>
            <a:r>
              <a:rPr lang="en-IN" b="1" i="1" dirty="0"/>
              <a:t>K</a:t>
            </a:r>
            <a:r>
              <a:rPr lang="en-IN" b="1" i="1" baseline="-25000" dirty="0"/>
              <a:t>11</a:t>
            </a:r>
            <a:r>
              <a:rPr lang="en-IN" dirty="0"/>
              <a:t> = 001000 010101 111111 010011 110111 101101 001110 000110</a:t>
            </a:r>
            <a:br>
              <a:rPr lang="en-IN" dirty="0"/>
            </a:br>
            <a:r>
              <a:rPr lang="en-IN" b="1" i="1" dirty="0"/>
              <a:t>K</a:t>
            </a:r>
            <a:r>
              <a:rPr lang="en-IN" b="1" i="1" baseline="-25000" dirty="0"/>
              <a:t>12</a:t>
            </a:r>
            <a:r>
              <a:rPr lang="en-IN" dirty="0"/>
              <a:t> = 011101 010111 000111 110101 100101 000110 011111 101001</a:t>
            </a:r>
            <a:br>
              <a:rPr lang="en-IN" dirty="0"/>
            </a:br>
            <a:r>
              <a:rPr lang="en-IN" b="1" i="1" dirty="0"/>
              <a:t>K</a:t>
            </a:r>
            <a:r>
              <a:rPr lang="en-IN" b="1" i="1" baseline="-25000" dirty="0"/>
              <a:t>13</a:t>
            </a:r>
            <a:r>
              <a:rPr lang="en-IN" dirty="0"/>
              <a:t> = 100101 111100 010111 010001 111110 101011 101001 000001</a:t>
            </a:r>
            <a:br>
              <a:rPr lang="en-IN" dirty="0"/>
            </a:br>
            <a:r>
              <a:rPr lang="en-IN" b="1" i="1" dirty="0"/>
              <a:t>K</a:t>
            </a:r>
            <a:r>
              <a:rPr lang="en-IN" b="1" i="1" baseline="-25000" dirty="0"/>
              <a:t>14</a:t>
            </a:r>
            <a:r>
              <a:rPr lang="en-IN" dirty="0"/>
              <a:t> = 010111 110100 001110 110111 111100 101110 011100 111010</a:t>
            </a:r>
            <a:br>
              <a:rPr lang="en-IN" dirty="0"/>
            </a:br>
            <a:r>
              <a:rPr lang="en-IN" b="1" i="1" dirty="0"/>
              <a:t>K</a:t>
            </a:r>
            <a:r>
              <a:rPr lang="en-IN" b="1" i="1" baseline="-25000" dirty="0"/>
              <a:t>15</a:t>
            </a:r>
            <a:r>
              <a:rPr lang="en-IN" dirty="0"/>
              <a:t> = 101111 111001 000110 001101 001111 010011 111100 001010</a:t>
            </a:r>
            <a:br>
              <a:rPr lang="en-IN" dirty="0"/>
            </a:br>
            <a:r>
              <a:rPr lang="en-IN" b="1" i="1" dirty="0"/>
              <a:t>K</a:t>
            </a:r>
            <a:r>
              <a:rPr lang="en-IN" b="1" i="1" baseline="-25000" dirty="0"/>
              <a:t>16</a:t>
            </a:r>
            <a:r>
              <a:rPr lang="en-IN" dirty="0"/>
              <a:t> = 110010 110011 110110 001011 000011 100001 011111 110101</a:t>
            </a:r>
          </a:p>
        </p:txBody>
      </p:sp>
    </p:spTree>
    <p:extLst>
      <p:ext uri="{BB962C8B-B14F-4D97-AF65-F5344CB8AC3E}">
        <p14:creationId xmlns:p14="http://schemas.microsoft.com/office/powerpoint/2010/main" val="645015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p:cNvPicPr>
            <a:picLocks noChangeAspect="1"/>
          </p:cNvPicPr>
          <p:nvPr/>
        </p:nvPicPr>
        <p:blipFill>
          <a:blip r:embed="rId3"/>
          <a:stretch>
            <a:fillRect/>
          </a:stretch>
        </p:blipFill>
        <p:spPr>
          <a:xfrm>
            <a:off x="533400" y="762000"/>
            <a:ext cx="8077200" cy="5671226"/>
          </a:xfrm>
          <a:prstGeom prst="rect">
            <a:avLst/>
          </a:prstGeom>
        </p:spPr>
      </p:pic>
    </p:spTree>
    <p:extLst>
      <p:ext uri="{BB962C8B-B14F-4D97-AF65-F5344CB8AC3E}">
        <p14:creationId xmlns:p14="http://schemas.microsoft.com/office/powerpoint/2010/main" val="1739390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1" dirty="0"/>
              <a:t>Step 2: Encode each 64-bit block of data.</a:t>
            </a:r>
            <a:br>
              <a:rPr lang="en-IN" sz="3600" b="1" dirty="0"/>
            </a:br>
            <a:endParaRPr lang="en-IN" sz="3600" dirty="0"/>
          </a:p>
        </p:txBody>
      </p:sp>
      <p:sp>
        <p:nvSpPr>
          <p:cNvPr id="4" name="Rectangle 3"/>
          <p:cNvSpPr/>
          <p:nvPr/>
        </p:nvSpPr>
        <p:spPr>
          <a:xfrm>
            <a:off x="415413" y="1695442"/>
            <a:ext cx="6934200" cy="369332"/>
          </a:xfrm>
          <a:prstGeom prst="rect">
            <a:avLst/>
          </a:prstGeom>
        </p:spPr>
        <p:txBody>
          <a:bodyPr wrap="square">
            <a:spAutoFit/>
          </a:bodyPr>
          <a:lstStyle/>
          <a:p>
            <a:r>
              <a:rPr lang="en-IN" dirty="0"/>
              <a:t>There is an </a:t>
            </a:r>
            <a:r>
              <a:rPr lang="en-IN" i="1" dirty="0"/>
              <a:t>initial permutation</a:t>
            </a:r>
            <a:r>
              <a:rPr lang="en-IN" dirty="0"/>
              <a:t> </a:t>
            </a:r>
            <a:r>
              <a:rPr lang="en-IN" b="1" dirty="0"/>
              <a:t>IP</a:t>
            </a:r>
            <a:r>
              <a:rPr lang="en-IN" dirty="0"/>
              <a:t> of the 64 bits of the message data </a:t>
            </a:r>
            <a:r>
              <a:rPr lang="en-IN" b="1" dirty="0"/>
              <a:t>M</a:t>
            </a:r>
            <a:endParaRPr lang="en-IN" dirty="0"/>
          </a:p>
        </p:txBody>
      </p:sp>
      <p:sp>
        <p:nvSpPr>
          <p:cNvPr id="5" name="Rectangle 4"/>
          <p:cNvSpPr/>
          <p:nvPr/>
        </p:nvSpPr>
        <p:spPr>
          <a:xfrm>
            <a:off x="152400" y="1153081"/>
            <a:ext cx="9144000" cy="369332"/>
          </a:xfrm>
          <a:prstGeom prst="rect">
            <a:avLst/>
          </a:prstGeom>
        </p:spPr>
        <p:txBody>
          <a:bodyPr wrap="square">
            <a:spAutoFit/>
          </a:bodyPr>
          <a:lstStyle/>
          <a:p>
            <a:r>
              <a:rPr lang="en-IN" b="1" dirty="0"/>
              <a:t>M</a:t>
            </a:r>
            <a:r>
              <a:rPr lang="en-IN" dirty="0"/>
              <a:t> = 0000 0001 0010 0011 0100 0101 0110 0111 1000 1001 1010 1011 1100 1101 1110 1111</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8100" y="3276600"/>
            <a:ext cx="4495800"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154858" y="2438400"/>
            <a:ext cx="8989142" cy="369332"/>
          </a:xfrm>
          <a:prstGeom prst="rect">
            <a:avLst/>
          </a:prstGeom>
        </p:spPr>
        <p:txBody>
          <a:bodyPr wrap="square">
            <a:spAutoFit/>
          </a:bodyPr>
          <a:lstStyle/>
          <a:p>
            <a:r>
              <a:rPr lang="it-IT" b="1" dirty="0"/>
              <a:t>IP</a:t>
            </a:r>
            <a:r>
              <a:rPr lang="it-IT" dirty="0"/>
              <a:t> = 1100 1100 0000 0000 1100 1100 1111 1111 1111 0000 1010 1010 1111 0000 1010 1010 </a:t>
            </a:r>
            <a:endParaRPr lang="en-IN" dirty="0"/>
          </a:p>
        </p:txBody>
      </p:sp>
    </p:spTree>
    <p:extLst>
      <p:ext uri="{BB962C8B-B14F-4D97-AF65-F5344CB8AC3E}">
        <p14:creationId xmlns:p14="http://schemas.microsoft.com/office/powerpoint/2010/main" val="1670595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t>Step 2: Encode each 64-bit block of data</a:t>
            </a:r>
          </a:p>
        </p:txBody>
      </p:sp>
      <p:sp>
        <p:nvSpPr>
          <p:cNvPr id="4" name="Rectangle 3"/>
          <p:cNvSpPr/>
          <p:nvPr/>
        </p:nvSpPr>
        <p:spPr>
          <a:xfrm>
            <a:off x="154858" y="1447800"/>
            <a:ext cx="8989142" cy="369332"/>
          </a:xfrm>
          <a:prstGeom prst="rect">
            <a:avLst/>
          </a:prstGeom>
        </p:spPr>
        <p:txBody>
          <a:bodyPr wrap="square">
            <a:spAutoFit/>
          </a:bodyPr>
          <a:lstStyle/>
          <a:p>
            <a:r>
              <a:rPr lang="it-IT" b="1" dirty="0"/>
              <a:t>IP</a:t>
            </a:r>
            <a:r>
              <a:rPr lang="it-IT" dirty="0"/>
              <a:t> = 1100 1100 0000 0000 1100 1100 1111 1111 1111 0000 1010 1010 1111 0000 1010 1010 </a:t>
            </a:r>
            <a:endParaRPr lang="en-IN" dirty="0"/>
          </a:p>
        </p:txBody>
      </p:sp>
      <p:sp>
        <p:nvSpPr>
          <p:cNvPr id="5" name="Rectangle 4"/>
          <p:cNvSpPr/>
          <p:nvPr/>
        </p:nvSpPr>
        <p:spPr>
          <a:xfrm>
            <a:off x="304800" y="1981200"/>
            <a:ext cx="8534400" cy="923330"/>
          </a:xfrm>
          <a:prstGeom prst="rect">
            <a:avLst/>
          </a:prstGeom>
        </p:spPr>
        <p:txBody>
          <a:bodyPr wrap="square">
            <a:spAutoFit/>
          </a:bodyPr>
          <a:lstStyle/>
          <a:p>
            <a:r>
              <a:rPr lang="en-IN" dirty="0"/>
              <a:t>Next divide the permuted block </a:t>
            </a:r>
            <a:r>
              <a:rPr lang="en-IN" b="1" dirty="0"/>
              <a:t>IP</a:t>
            </a:r>
            <a:r>
              <a:rPr lang="en-IN" dirty="0"/>
              <a:t> into a</a:t>
            </a:r>
          </a:p>
          <a:p>
            <a:r>
              <a:rPr lang="en-IN" dirty="0"/>
              <a:t> left half </a:t>
            </a:r>
            <a:r>
              <a:rPr lang="en-IN" b="1" i="1" dirty="0"/>
              <a:t>L</a:t>
            </a:r>
            <a:r>
              <a:rPr lang="en-IN" b="1" i="1" baseline="-25000" dirty="0"/>
              <a:t>0</a:t>
            </a:r>
            <a:r>
              <a:rPr lang="en-IN" dirty="0"/>
              <a:t> of 32 bits,</a:t>
            </a:r>
          </a:p>
          <a:p>
            <a:r>
              <a:rPr lang="en-IN" dirty="0"/>
              <a:t> and a right half </a:t>
            </a:r>
            <a:r>
              <a:rPr lang="en-IN" b="1" i="1" dirty="0"/>
              <a:t>R</a:t>
            </a:r>
            <a:r>
              <a:rPr lang="en-IN" b="1" i="1" baseline="-25000" dirty="0"/>
              <a:t>0</a:t>
            </a:r>
            <a:r>
              <a:rPr lang="en-IN" dirty="0"/>
              <a:t> of 32 bits. </a:t>
            </a:r>
          </a:p>
        </p:txBody>
      </p:sp>
      <p:sp>
        <p:nvSpPr>
          <p:cNvPr id="6" name="Rectangle 5"/>
          <p:cNvSpPr/>
          <p:nvPr/>
        </p:nvSpPr>
        <p:spPr>
          <a:xfrm>
            <a:off x="304800" y="3200400"/>
            <a:ext cx="6629400" cy="646331"/>
          </a:xfrm>
          <a:prstGeom prst="rect">
            <a:avLst/>
          </a:prstGeom>
        </p:spPr>
        <p:txBody>
          <a:bodyPr wrap="square">
            <a:spAutoFit/>
          </a:bodyPr>
          <a:lstStyle/>
          <a:p>
            <a:r>
              <a:rPr lang="pt-BR" b="1" i="1" dirty="0"/>
              <a:t>L</a:t>
            </a:r>
            <a:r>
              <a:rPr lang="pt-BR" b="1" i="1" baseline="-25000" dirty="0"/>
              <a:t>0</a:t>
            </a:r>
            <a:r>
              <a:rPr lang="pt-BR" dirty="0"/>
              <a:t> = 1100 1100 0000 0000 1100 1100 1111 1111 </a:t>
            </a:r>
            <a:br>
              <a:rPr lang="pt-BR" dirty="0"/>
            </a:br>
            <a:r>
              <a:rPr lang="pt-BR" b="1" i="1" dirty="0"/>
              <a:t>R</a:t>
            </a:r>
            <a:r>
              <a:rPr lang="pt-BR" b="1" i="1" baseline="-25000" dirty="0"/>
              <a:t>0</a:t>
            </a:r>
            <a:r>
              <a:rPr lang="pt-BR" dirty="0"/>
              <a:t> = 1111 0000 1010 1010 1111 0000 1010 1010 </a:t>
            </a:r>
            <a:endParaRPr lang="en-IN" dirty="0"/>
          </a:p>
        </p:txBody>
      </p:sp>
    </p:spTree>
    <p:extLst>
      <p:ext uri="{BB962C8B-B14F-4D97-AF65-F5344CB8AC3E}">
        <p14:creationId xmlns:p14="http://schemas.microsoft.com/office/powerpoint/2010/main" val="354819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p:cNvPicPr>
            <a:picLocks noChangeAspect="1"/>
          </p:cNvPicPr>
          <p:nvPr/>
        </p:nvPicPr>
        <p:blipFill>
          <a:blip r:embed="rId2"/>
          <a:stretch>
            <a:fillRect/>
          </a:stretch>
        </p:blipFill>
        <p:spPr>
          <a:xfrm>
            <a:off x="609600" y="457200"/>
            <a:ext cx="8001000" cy="6019800"/>
          </a:xfrm>
          <a:prstGeom prst="rect">
            <a:avLst/>
          </a:prstGeom>
        </p:spPr>
      </p:pic>
    </p:spTree>
    <p:extLst>
      <p:ext uri="{BB962C8B-B14F-4D97-AF65-F5344CB8AC3E}">
        <p14:creationId xmlns:p14="http://schemas.microsoft.com/office/powerpoint/2010/main" val="1739390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16 Rounds - Take a look at first round</a:t>
            </a:r>
            <a:endParaRPr lang="en-IN" dirty="0"/>
          </a:p>
        </p:txBody>
      </p:sp>
      <p:sp>
        <p:nvSpPr>
          <p:cNvPr id="4" name="Rectangle 3"/>
          <p:cNvSpPr/>
          <p:nvPr/>
        </p:nvSpPr>
        <p:spPr>
          <a:xfrm>
            <a:off x="302342" y="1371600"/>
            <a:ext cx="6629400" cy="830997"/>
          </a:xfrm>
          <a:prstGeom prst="rect">
            <a:avLst/>
          </a:prstGeom>
        </p:spPr>
        <p:txBody>
          <a:bodyPr wrap="square">
            <a:spAutoFit/>
          </a:bodyPr>
          <a:lstStyle/>
          <a:p>
            <a:r>
              <a:rPr lang="pt-BR" sz="2400" b="1" i="1" dirty="0"/>
              <a:t>L</a:t>
            </a:r>
            <a:r>
              <a:rPr lang="pt-BR" sz="2400" b="1" i="1" baseline="-25000" dirty="0"/>
              <a:t>0</a:t>
            </a:r>
            <a:r>
              <a:rPr lang="pt-BR" sz="2400" dirty="0"/>
              <a:t> = 1100 1100 0000 0000 1100 1100 1111 1111 </a:t>
            </a:r>
            <a:br>
              <a:rPr lang="pt-BR" sz="2400" dirty="0"/>
            </a:br>
            <a:r>
              <a:rPr lang="pt-BR" sz="2400" b="1" i="1" dirty="0"/>
              <a:t>R</a:t>
            </a:r>
            <a:r>
              <a:rPr lang="pt-BR" sz="2400" b="1" i="1" baseline="-25000" dirty="0"/>
              <a:t>0</a:t>
            </a:r>
            <a:r>
              <a:rPr lang="pt-BR" sz="2400" dirty="0"/>
              <a:t> = 1111 0000 1010 1010 1111 0000 1010 1010 </a:t>
            </a:r>
            <a:endParaRPr lang="en-IN" sz="2400" dirty="0"/>
          </a:p>
        </p:txBody>
      </p:sp>
      <p:sp>
        <p:nvSpPr>
          <p:cNvPr id="5" name="Rectangle 4"/>
          <p:cNvSpPr/>
          <p:nvPr/>
        </p:nvSpPr>
        <p:spPr>
          <a:xfrm>
            <a:off x="457200" y="2209800"/>
            <a:ext cx="4572000" cy="1384995"/>
          </a:xfrm>
          <a:prstGeom prst="rect">
            <a:avLst/>
          </a:prstGeom>
        </p:spPr>
        <p:txBody>
          <a:bodyPr>
            <a:spAutoFit/>
          </a:bodyPr>
          <a:lstStyle/>
          <a:p>
            <a:r>
              <a:rPr lang="en-IN" sz="2800" b="1" i="1" dirty="0"/>
              <a:t>L</a:t>
            </a:r>
            <a:r>
              <a:rPr lang="en-IN" sz="2800" b="1" i="1" baseline="-25000" dirty="0"/>
              <a:t>n</a:t>
            </a:r>
            <a:r>
              <a:rPr lang="en-IN" sz="2800" dirty="0"/>
              <a:t> = </a:t>
            </a:r>
            <a:r>
              <a:rPr lang="en-IN" sz="2800" b="1" i="1" dirty="0"/>
              <a:t>R</a:t>
            </a:r>
            <a:r>
              <a:rPr lang="en-IN" sz="2800" b="1" i="1" baseline="-25000" dirty="0"/>
              <a:t>n-1</a:t>
            </a:r>
            <a:r>
              <a:rPr lang="en-IN" sz="2800" dirty="0"/>
              <a:t> </a:t>
            </a:r>
            <a:br>
              <a:rPr lang="en-IN" sz="2800" dirty="0"/>
            </a:br>
            <a:r>
              <a:rPr lang="en-IN" sz="2800" b="1" i="1" dirty="0"/>
              <a:t>R</a:t>
            </a:r>
            <a:r>
              <a:rPr lang="en-IN" sz="2800" b="1" i="1" baseline="-25000" dirty="0"/>
              <a:t>n</a:t>
            </a:r>
            <a:r>
              <a:rPr lang="en-IN" sz="2800" dirty="0"/>
              <a:t> = </a:t>
            </a:r>
            <a:r>
              <a:rPr lang="en-IN" sz="2800" b="1" i="1" dirty="0"/>
              <a:t>L</a:t>
            </a:r>
            <a:r>
              <a:rPr lang="en-IN" sz="2800" b="1" i="1" baseline="-25000" dirty="0"/>
              <a:t>n-1</a:t>
            </a:r>
            <a:r>
              <a:rPr lang="en-IN" sz="2800" dirty="0"/>
              <a:t> + </a:t>
            </a:r>
            <a:r>
              <a:rPr lang="en-IN" sz="2800" b="1" i="1" dirty="0"/>
              <a:t>f</a:t>
            </a:r>
            <a:r>
              <a:rPr lang="en-IN" sz="2800" dirty="0"/>
              <a:t>(</a:t>
            </a:r>
            <a:r>
              <a:rPr lang="en-IN" sz="2800" b="1" i="1" dirty="0"/>
              <a:t>R</a:t>
            </a:r>
            <a:r>
              <a:rPr lang="en-IN" sz="2800" b="1" i="1" baseline="-25000" dirty="0"/>
              <a:t>n-1</a:t>
            </a:r>
            <a:r>
              <a:rPr lang="en-IN" sz="2800" dirty="0"/>
              <a:t>,</a:t>
            </a:r>
            <a:r>
              <a:rPr lang="en-IN" sz="2800" b="1" i="1" dirty="0"/>
              <a:t>K</a:t>
            </a:r>
            <a:r>
              <a:rPr lang="en-IN" sz="2800" b="1" i="1" baseline="-25000" dirty="0"/>
              <a:t>n</a:t>
            </a:r>
            <a:r>
              <a:rPr lang="en-IN" sz="2800" dirty="0"/>
              <a:t>)</a:t>
            </a:r>
          </a:p>
          <a:p>
            <a:r>
              <a:rPr lang="en-IN" sz="2800" dirty="0"/>
              <a:t> </a:t>
            </a:r>
            <a:r>
              <a:rPr lang="en-IN" sz="2800" b="1" dirty="0"/>
              <a:t>Let + denote XOR addition</a:t>
            </a:r>
            <a:endParaRPr lang="en-IN" sz="2800" dirty="0"/>
          </a:p>
        </p:txBody>
      </p:sp>
      <p:sp>
        <p:nvSpPr>
          <p:cNvPr id="6" name="Rectangle 5"/>
          <p:cNvSpPr/>
          <p:nvPr/>
        </p:nvSpPr>
        <p:spPr>
          <a:xfrm>
            <a:off x="197628" y="4445377"/>
            <a:ext cx="8849032" cy="1569660"/>
          </a:xfrm>
          <a:prstGeom prst="rect">
            <a:avLst/>
          </a:prstGeom>
        </p:spPr>
        <p:txBody>
          <a:bodyPr wrap="square">
            <a:spAutoFit/>
          </a:bodyPr>
          <a:lstStyle/>
          <a:p>
            <a:r>
              <a:rPr lang="pt-BR" sz="2400" dirty="0"/>
              <a:t>For </a:t>
            </a:r>
            <a:r>
              <a:rPr lang="pt-BR" sz="2400" b="1" i="1" dirty="0"/>
              <a:t>n</a:t>
            </a:r>
            <a:r>
              <a:rPr lang="pt-BR" sz="2400" dirty="0"/>
              <a:t> = 1, we have </a:t>
            </a:r>
          </a:p>
          <a:p>
            <a:r>
              <a:rPr lang="pt-BR" sz="2400" b="1" i="1" dirty="0"/>
              <a:t>K</a:t>
            </a:r>
            <a:r>
              <a:rPr lang="pt-BR" sz="2400" b="1" i="1" baseline="-25000" dirty="0"/>
              <a:t>1</a:t>
            </a:r>
            <a:r>
              <a:rPr lang="pt-BR" sz="2400" dirty="0"/>
              <a:t> = 000110 110000 001011 101111 111111 000111 000001 110010 </a:t>
            </a:r>
            <a:br>
              <a:rPr lang="pt-BR" sz="2400" dirty="0"/>
            </a:br>
            <a:r>
              <a:rPr lang="pt-BR" sz="2400" b="1" i="1" dirty="0"/>
              <a:t>L</a:t>
            </a:r>
            <a:r>
              <a:rPr lang="pt-BR" sz="2400" b="1" i="1" baseline="-25000" dirty="0"/>
              <a:t>1</a:t>
            </a:r>
            <a:r>
              <a:rPr lang="pt-BR" sz="2400" dirty="0"/>
              <a:t> = </a:t>
            </a:r>
            <a:r>
              <a:rPr lang="pt-BR" sz="2400" b="1" i="1" dirty="0"/>
              <a:t>R</a:t>
            </a:r>
            <a:r>
              <a:rPr lang="pt-BR" sz="2400" b="1" i="1" baseline="-25000" dirty="0"/>
              <a:t>0</a:t>
            </a:r>
            <a:r>
              <a:rPr lang="pt-BR" sz="2400" dirty="0"/>
              <a:t> = 1111 0000 1010 1010 1111 0000 1010 1010 </a:t>
            </a:r>
            <a:br>
              <a:rPr lang="pt-BR" sz="2400" dirty="0"/>
            </a:br>
            <a:r>
              <a:rPr lang="pt-BR" sz="2400" b="1" i="1" dirty="0"/>
              <a:t>R</a:t>
            </a:r>
            <a:r>
              <a:rPr lang="pt-BR" sz="2400" b="1" i="1" baseline="-25000" dirty="0"/>
              <a:t>1</a:t>
            </a:r>
            <a:r>
              <a:rPr lang="pt-BR" sz="2400" dirty="0"/>
              <a:t> = </a:t>
            </a:r>
            <a:r>
              <a:rPr lang="pt-BR" sz="2400" b="1" i="1" dirty="0"/>
              <a:t>L</a:t>
            </a:r>
            <a:r>
              <a:rPr lang="pt-BR" sz="2400" b="1" i="1" baseline="-25000" dirty="0"/>
              <a:t>0</a:t>
            </a:r>
            <a:r>
              <a:rPr lang="pt-BR" sz="2400" dirty="0"/>
              <a:t> + </a:t>
            </a:r>
            <a:r>
              <a:rPr lang="pt-BR" sz="2400" b="1" i="1" dirty="0"/>
              <a:t>f</a:t>
            </a:r>
            <a:r>
              <a:rPr lang="pt-BR" sz="2400" dirty="0"/>
              <a:t>(</a:t>
            </a:r>
            <a:r>
              <a:rPr lang="pt-BR" sz="2400" b="1" i="1" dirty="0"/>
              <a:t>R</a:t>
            </a:r>
            <a:r>
              <a:rPr lang="pt-BR" sz="2400" b="1" i="1" baseline="-25000" dirty="0"/>
              <a:t>0</a:t>
            </a:r>
            <a:r>
              <a:rPr lang="pt-BR" sz="2400" dirty="0"/>
              <a:t>,</a:t>
            </a:r>
            <a:r>
              <a:rPr lang="pt-BR" sz="2400" b="1" i="1" dirty="0"/>
              <a:t>K</a:t>
            </a:r>
            <a:r>
              <a:rPr lang="pt-BR" sz="2400" b="1" i="1" baseline="-25000" dirty="0"/>
              <a:t>1</a:t>
            </a:r>
            <a:r>
              <a:rPr lang="pt-BR" sz="2400" dirty="0"/>
              <a:t>) </a:t>
            </a:r>
          </a:p>
        </p:txBody>
      </p:sp>
      <p:sp>
        <p:nvSpPr>
          <p:cNvPr id="8" name="Rectangle 7"/>
          <p:cNvSpPr/>
          <p:nvPr/>
        </p:nvSpPr>
        <p:spPr>
          <a:xfrm>
            <a:off x="4648200" y="2155091"/>
            <a:ext cx="4572000" cy="1815882"/>
          </a:xfrm>
          <a:prstGeom prst="rect">
            <a:avLst/>
          </a:prstGeom>
        </p:spPr>
        <p:txBody>
          <a:bodyPr>
            <a:spAutoFit/>
          </a:bodyPr>
          <a:lstStyle/>
          <a:p>
            <a:r>
              <a:rPr lang="en-US" sz="2800" b="1" i="1" dirty="0"/>
              <a:t>n=1 for round 1</a:t>
            </a:r>
            <a:endParaRPr lang="en-IN" sz="2800" b="1" i="1" dirty="0"/>
          </a:p>
          <a:p>
            <a:r>
              <a:rPr lang="en-IN" sz="2800" b="1" i="1" dirty="0"/>
              <a:t>L</a:t>
            </a:r>
            <a:r>
              <a:rPr lang="en-IN" sz="2800" b="1" i="1" baseline="-25000" dirty="0"/>
              <a:t>1</a:t>
            </a:r>
            <a:r>
              <a:rPr lang="en-IN" sz="2800" dirty="0"/>
              <a:t> = </a:t>
            </a:r>
            <a:r>
              <a:rPr lang="en-IN" sz="2800" b="1" i="1" dirty="0"/>
              <a:t>R</a:t>
            </a:r>
            <a:r>
              <a:rPr lang="en-IN" sz="2800" b="1" i="1" baseline="-25000" dirty="0"/>
              <a:t>1-1</a:t>
            </a:r>
            <a:r>
              <a:rPr lang="en-IN" sz="2800" dirty="0"/>
              <a:t> </a:t>
            </a:r>
            <a:br>
              <a:rPr lang="en-IN" sz="2800" dirty="0"/>
            </a:br>
            <a:r>
              <a:rPr lang="en-IN" sz="2800" b="1" i="1" dirty="0"/>
              <a:t>R</a:t>
            </a:r>
            <a:r>
              <a:rPr lang="en-IN" sz="2800" b="1" i="1" baseline="-25000" dirty="0"/>
              <a:t>1</a:t>
            </a:r>
            <a:r>
              <a:rPr lang="en-IN" sz="2800" dirty="0"/>
              <a:t> = </a:t>
            </a:r>
            <a:r>
              <a:rPr lang="en-IN" sz="2800" b="1" i="1" dirty="0"/>
              <a:t>L</a:t>
            </a:r>
            <a:r>
              <a:rPr lang="en-IN" sz="2800" b="1" i="1" baseline="-25000" dirty="0"/>
              <a:t>1-1</a:t>
            </a:r>
            <a:r>
              <a:rPr lang="en-IN" sz="2800" dirty="0"/>
              <a:t> + </a:t>
            </a:r>
            <a:r>
              <a:rPr lang="en-IN" sz="2800" b="1" i="1" dirty="0"/>
              <a:t>f</a:t>
            </a:r>
            <a:r>
              <a:rPr lang="en-IN" sz="2800" dirty="0"/>
              <a:t>(</a:t>
            </a:r>
            <a:r>
              <a:rPr lang="en-IN" sz="2800" b="1" i="1" dirty="0"/>
              <a:t>R</a:t>
            </a:r>
            <a:r>
              <a:rPr lang="en-IN" sz="2800" b="1" i="1" baseline="-25000" dirty="0"/>
              <a:t>1-1</a:t>
            </a:r>
            <a:r>
              <a:rPr lang="en-IN" sz="2800" dirty="0"/>
              <a:t>,</a:t>
            </a:r>
            <a:r>
              <a:rPr lang="en-IN" sz="2800" b="1" i="1" dirty="0"/>
              <a:t>K</a:t>
            </a:r>
            <a:r>
              <a:rPr lang="en-IN" sz="2800" b="1" i="1" baseline="-25000" dirty="0"/>
              <a:t>1</a:t>
            </a:r>
            <a:r>
              <a:rPr lang="en-IN" sz="2800" dirty="0"/>
              <a:t>)</a:t>
            </a:r>
          </a:p>
          <a:p>
            <a:r>
              <a:rPr lang="en-IN" sz="2800" dirty="0"/>
              <a:t> </a:t>
            </a:r>
          </a:p>
        </p:txBody>
      </p:sp>
      <p:sp>
        <p:nvSpPr>
          <p:cNvPr id="9" name="Rectangle 8"/>
          <p:cNvSpPr/>
          <p:nvPr/>
        </p:nvSpPr>
        <p:spPr>
          <a:xfrm>
            <a:off x="4648200" y="3579554"/>
            <a:ext cx="4572000" cy="1384995"/>
          </a:xfrm>
          <a:prstGeom prst="rect">
            <a:avLst/>
          </a:prstGeom>
        </p:spPr>
        <p:txBody>
          <a:bodyPr>
            <a:spAutoFit/>
          </a:bodyPr>
          <a:lstStyle/>
          <a:p>
            <a:r>
              <a:rPr lang="en-IN" sz="2800" b="1" i="1" dirty="0"/>
              <a:t>L</a:t>
            </a:r>
            <a:r>
              <a:rPr lang="en-IN" sz="2800" b="1" i="1" baseline="-25000" dirty="0"/>
              <a:t>1</a:t>
            </a:r>
            <a:r>
              <a:rPr lang="en-IN" sz="2800" dirty="0"/>
              <a:t> = </a:t>
            </a:r>
            <a:r>
              <a:rPr lang="en-IN" sz="2800" b="1" i="1" dirty="0"/>
              <a:t>R</a:t>
            </a:r>
            <a:r>
              <a:rPr lang="en-IN" sz="2800" b="1" i="1" baseline="-25000" dirty="0"/>
              <a:t>0</a:t>
            </a:r>
            <a:br>
              <a:rPr lang="en-IN" sz="2800" dirty="0"/>
            </a:br>
            <a:r>
              <a:rPr lang="en-IN" sz="2800" b="1" i="1" dirty="0"/>
              <a:t>R</a:t>
            </a:r>
            <a:r>
              <a:rPr lang="en-IN" sz="2800" b="1" i="1" baseline="-25000" dirty="0"/>
              <a:t>1</a:t>
            </a:r>
            <a:r>
              <a:rPr lang="en-IN" sz="2800" dirty="0"/>
              <a:t> = </a:t>
            </a:r>
            <a:r>
              <a:rPr lang="en-IN" sz="2800" b="1" i="1" dirty="0"/>
              <a:t>L</a:t>
            </a:r>
            <a:r>
              <a:rPr lang="en-IN" sz="2800" b="1" i="1" baseline="-25000" dirty="0"/>
              <a:t>0</a:t>
            </a:r>
            <a:r>
              <a:rPr lang="en-IN" sz="2800" dirty="0"/>
              <a:t> + </a:t>
            </a:r>
            <a:r>
              <a:rPr lang="en-IN" sz="2800" b="1" i="1" dirty="0"/>
              <a:t>f</a:t>
            </a:r>
            <a:r>
              <a:rPr lang="en-IN" sz="2800" dirty="0"/>
              <a:t>(</a:t>
            </a:r>
            <a:r>
              <a:rPr lang="en-IN" sz="2800" b="1" i="1" dirty="0"/>
              <a:t>R</a:t>
            </a:r>
            <a:r>
              <a:rPr lang="en-IN" sz="2800" b="1" i="1" baseline="-25000" dirty="0"/>
              <a:t>0</a:t>
            </a:r>
            <a:r>
              <a:rPr lang="en-IN" sz="2800" dirty="0"/>
              <a:t>,</a:t>
            </a:r>
            <a:r>
              <a:rPr lang="en-IN" sz="2800" b="1" i="1" dirty="0"/>
              <a:t>K</a:t>
            </a:r>
            <a:r>
              <a:rPr lang="en-IN" sz="2800" b="1" i="1" baseline="-25000" dirty="0"/>
              <a:t>1</a:t>
            </a:r>
            <a:r>
              <a:rPr lang="en-IN" sz="2800" dirty="0"/>
              <a:t>)</a:t>
            </a:r>
          </a:p>
          <a:p>
            <a:r>
              <a:rPr lang="en-IN" sz="2800" dirty="0"/>
              <a:t>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7315200"/>
            <a:ext cx="6415487" cy="4838902"/>
          </a:xfrm>
          <a:prstGeom prst="rect">
            <a:avLst/>
          </a:prstGeom>
          <a:noFill/>
          <a:ln w="4445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732401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2050"/>
                                        </p:tgtEl>
                                      </p:cBhvr>
                                    </p:animEffect>
                                    <p:set>
                                      <p:cBhvr>
                                        <p:cTn id="27" dur="1" fill="hold">
                                          <p:stCondLst>
                                            <p:cond delay="499"/>
                                          </p:stCondLst>
                                        </p:cTn>
                                        <p:tgtEl>
                                          <p:spTgt spid="205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t>
            </a:r>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 ?</a:t>
            </a:r>
            <a:endParaRPr lang="en-IN" dirty="0"/>
          </a:p>
        </p:txBody>
      </p:sp>
      <p:sp>
        <p:nvSpPr>
          <p:cNvPr id="4" name="Rectangle 3"/>
          <p:cNvSpPr/>
          <p:nvPr/>
        </p:nvSpPr>
        <p:spPr>
          <a:xfrm>
            <a:off x="228600" y="1295400"/>
            <a:ext cx="8229600" cy="523220"/>
          </a:xfrm>
          <a:prstGeom prst="rect">
            <a:avLst/>
          </a:prstGeom>
        </p:spPr>
        <p:txBody>
          <a:bodyPr wrap="square">
            <a:spAutoFit/>
          </a:bodyPr>
          <a:lstStyle/>
          <a:p>
            <a:r>
              <a:rPr lang="pt-BR" sz="2800" b="1" i="1" dirty="0"/>
              <a:t>R</a:t>
            </a:r>
            <a:r>
              <a:rPr lang="pt-BR" sz="2800" b="1" i="1" baseline="-25000" dirty="0"/>
              <a:t>0</a:t>
            </a:r>
            <a:r>
              <a:rPr lang="pt-BR" sz="2800" dirty="0"/>
              <a:t> = 1111 0000 1010 1010 1111 0000 1010 1010 </a:t>
            </a:r>
            <a:endParaRPr lang="en-IN" sz="2800" dirty="0"/>
          </a:p>
        </p:txBody>
      </p:sp>
      <p:sp>
        <p:nvSpPr>
          <p:cNvPr id="5" name="Rectangle 4"/>
          <p:cNvSpPr/>
          <p:nvPr/>
        </p:nvSpPr>
        <p:spPr>
          <a:xfrm>
            <a:off x="216310" y="1853051"/>
            <a:ext cx="8763000" cy="1323439"/>
          </a:xfrm>
          <a:prstGeom prst="rect">
            <a:avLst/>
          </a:prstGeom>
        </p:spPr>
        <p:txBody>
          <a:bodyPr wrap="square">
            <a:spAutoFit/>
          </a:bodyPr>
          <a:lstStyle/>
          <a:p>
            <a:pPr marL="285750" indent="-285750">
              <a:buFont typeface="Arial" panose="020B0604020202020204" pitchFamily="34" charset="0"/>
              <a:buChar char="•"/>
            </a:pPr>
            <a:r>
              <a:rPr lang="en-IN" sz="2000" dirty="0"/>
              <a:t>To calculate </a:t>
            </a:r>
            <a:r>
              <a:rPr lang="en-IN" sz="2000" b="1" i="1" dirty="0"/>
              <a:t>f</a:t>
            </a:r>
            <a:r>
              <a:rPr lang="en-IN" sz="2000" dirty="0"/>
              <a:t>, we first expand each block </a:t>
            </a:r>
            <a:r>
              <a:rPr lang="en-IN" sz="2000" b="1" i="1" dirty="0"/>
              <a:t>R</a:t>
            </a:r>
            <a:r>
              <a:rPr lang="en-IN" sz="2000" b="1" i="1" baseline="-25000" dirty="0"/>
              <a:t>0</a:t>
            </a:r>
            <a:r>
              <a:rPr lang="en-IN" sz="2000" dirty="0"/>
              <a:t> from 32 bits to 48 bits. </a:t>
            </a:r>
          </a:p>
          <a:p>
            <a:pPr marL="285750" indent="-285750">
              <a:buFont typeface="Arial" panose="020B0604020202020204" pitchFamily="34" charset="0"/>
              <a:buChar char="•"/>
            </a:pPr>
            <a:r>
              <a:rPr lang="en-IN" sz="2000" dirty="0"/>
              <a:t>This is done by using a selection table that repeats some of the bits in </a:t>
            </a:r>
            <a:r>
              <a:rPr lang="en-IN" sz="2000" b="1" i="1" dirty="0"/>
              <a:t>R</a:t>
            </a:r>
            <a:r>
              <a:rPr lang="en-IN" sz="2000" b="1" i="1" baseline="-25000" dirty="0"/>
              <a:t>0</a:t>
            </a:r>
            <a:r>
              <a:rPr lang="en-IN" sz="2000" dirty="0"/>
              <a:t> . </a:t>
            </a:r>
          </a:p>
          <a:p>
            <a:pPr marL="285750" indent="-285750">
              <a:buFont typeface="Arial" panose="020B0604020202020204" pitchFamily="34" charset="0"/>
              <a:buChar char="•"/>
            </a:pPr>
            <a:r>
              <a:rPr lang="en-IN" sz="2000" dirty="0"/>
              <a:t>We'll call the use of this selection table the function </a:t>
            </a:r>
            <a:r>
              <a:rPr lang="en-IN" sz="2000" b="1" dirty="0"/>
              <a:t>E</a:t>
            </a:r>
            <a:r>
              <a:rPr lang="en-IN" sz="2000" dirty="0"/>
              <a:t>. </a:t>
            </a:r>
          </a:p>
          <a:p>
            <a:pPr marL="285750" indent="-285750">
              <a:buFont typeface="Arial" panose="020B0604020202020204" pitchFamily="34" charset="0"/>
              <a:buChar char="•"/>
            </a:pPr>
            <a:r>
              <a:rPr lang="en-IN" sz="2000" dirty="0"/>
              <a:t>Thus </a:t>
            </a:r>
            <a:r>
              <a:rPr lang="en-IN" sz="2000" b="1" dirty="0"/>
              <a:t>E</a:t>
            </a:r>
            <a:r>
              <a:rPr lang="en-IN" sz="2000" dirty="0"/>
              <a:t>(</a:t>
            </a:r>
            <a:r>
              <a:rPr lang="en-IN" sz="2000" b="1" i="1" dirty="0"/>
              <a:t>R</a:t>
            </a:r>
            <a:r>
              <a:rPr lang="en-IN" sz="2000" b="1" i="1" baseline="-25000" dirty="0"/>
              <a:t>0</a:t>
            </a:r>
            <a:r>
              <a:rPr lang="en-IN" sz="2000" dirty="0"/>
              <a:t>) has a 32 bit input block, and a 48 bit output block. </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3735" y="3810000"/>
            <a:ext cx="4248150" cy="246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76200" y="3220248"/>
            <a:ext cx="9372600" cy="461665"/>
          </a:xfrm>
          <a:prstGeom prst="rect">
            <a:avLst/>
          </a:prstGeom>
        </p:spPr>
        <p:txBody>
          <a:bodyPr wrap="square">
            <a:spAutoFit/>
          </a:bodyPr>
          <a:lstStyle/>
          <a:p>
            <a:r>
              <a:rPr lang="pt-BR" sz="2400" b="1" dirty="0"/>
              <a:t>E</a:t>
            </a:r>
            <a:r>
              <a:rPr lang="pt-BR" sz="2400" dirty="0"/>
              <a:t>(</a:t>
            </a:r>
            <a:r>
              <a:rPr lang="pt-BR" sz="2400" b="1" i="1" dirty="0"/>
              <a:t>R</a:t>
            </a:r>
            <a:r>
              <a:rPr lang="pt-BR" sz="2400" b="1" i="1" baseline="-25000" dirty="0"/>
              <a:t>0</a:t>
            </a:r>
            <a:r>
              <a:rPr lang="pt-BR" sz="2400" dirty="0"/>
              <a:t>) = 011110 100001 010101 010101 011110 100001 010101 010101</a:t>
            </a:r>
            <a:endParaRPr lang="en-IN" sz="2400" dirty="0"/>
          </a:p>
        </p:txBody>
      </p:sp>
    </p:spTree>
    <p:extLst>
      <p:ext uri="{BB962C8B-B14F-4D97-AF65-F5344CB8AC3E}">
        <p14:creationId xmlns:p14="http://schemas.microsoft.com/office/powerpoint/2010/main" val="212421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 Encryption Standard</a:t>
            </a:r>
            <a:endParaRPr lang="en-IN" dirty="0"/>
          </a:p>
        </p:txBody>
      </p:sp>
      <p:sp>
        <p:nvSpPr>
          <p:cNvPr id="3" name="Content Placeholder 2"/>
          <p:cNvSpPr>
            <a:spLocks noGrp="1"/>
          </p:cNvSpPr>
          <p:nvPr>
            <p:ph idx="1"/>
          </p:nvPr>
        </p:nvSpPr>
        <p:spPr>
          <a:xfrm>
            <a:off x="457200" y="1219200"/>
            <a:ext cx="8229600" cy="4525963"/>
          </a:xfrm>
        </p:spPr>
        <p:txBody>
          <a:bodyPr/>
          <a:lstStyle/>
          <a:p>
            <a:r>
              <a:rPr lang="en-IN" dirty="0" err="1"/>
              <a:t>Fiestal</a:t>
            </a:r>
            <a:r>
              <a:rPr lang="en-IN" dirty="0"/>
              <a:t> Function</a:t>
            </a:r>
          </a:p>
        </p:txBody>
      </p:sp>
      <p:pic>
        <p:nvPicPr>
          <p:cNvPr id="4" name="Picture 3"/>
          <p:cNvPicPr>
            <a:picLocks noChangeAspect="1"/>
          </p:cNvPicPr>
          <p:nvPr/>
        </p:nvPicPr>
        <p:blipFill>
          <a:blip r:embed="rId3"/>
          <a:stretch>
            <a:fillRect/>
          </a:stretch>
        </p:blipFill>
        <p:spPr>
          <a:xfrm>
            <a:off x="4181475" y="1417638"/>
            <a:ext cx="4505325" cy="5440362"/>
          </a:xfrm>
          <a:prstGeom prst="rect">
            <a:avLst/>
          </a:prstGeom>
        </p:spPr>
      </p:pic>
    </p:spTree>
    <p:extLst>
      <p:ext uri="{BB962C8B-B14F-4D97-AF65-F5344CB8AC3E}">
        <p14:creationId xmlns:p14="http://schemas.microsoft.com/office/powerpoint/2010/main" val="1086678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a:t>
            </a:r>
            <a:endParaRPr lang="en-IN" dirty="0"/>
          </a:p>
        </p:txBody>
      </p:sp>
      <p:sp>
        <p:nvSpPr>
          <p:cNvPr id="3" name="Content Placeholder 2"/>
          <p:cNvSpPr>
            <a:spLocks noGrp="1"/>
          </p:cNvSpPr>
          <p:nvPr>
            <p:ph idx="1"/>
          </p:nvPr>
        </p:nvSpPr>
        <p:spPr/>
        <p:txBody>
          <a:bodyPr/>
          <a:lstStyle/>
          <a:p>
            <a:pPr marL="0" indent="0">
              <a:buNone/>
            </a:pPr>
            <a:endParaRPr lang="en-IN" dirty="0"/>
          </a:p>
          <a:p>
            <a:pPr marL="0" indent="0">
              <a:buNone/>
            </a:pPr>
            <a:r>
              <a:rPr lang="en-IN" dirty="0"/>
              <a:t>Next in the </a:t>
            </a:r>
            <a:r>
              <a:rPr lang="en-IN" b="1" i="1" dirty="0"/>
              <a:t>f</a:t>
            </a:r>
            <a:r>
              <a:rPr lang="en-IN" dirty="0"/>
              <a:t> calculation, we XOR the output </a:t>
            </a:r>
            <a:r>
              <a:rPr lang="en-IN" b="1" dirty="0"/>
              <a:t>E</a:t>
            </a:r>
            <a:r>
              <a:rPr lang="en-IN" dirty="0"/>
              <a:t>(</a:t>
            </a:r>
            <a:r>
              <a:rPr lang="en-IN" b="1" i="1" dirty="0"/>
              <a:t>R</a:t>
            </a:r>
            <a:r>
              <a:rPr lang="en-IN" b="1" i="1" baseline="-25000" dirty="0"/>
              <a:t>0</a:t>
            </a:r>
            <a:r>
              <a:rPr lang="en-IN" dirty="0"/>
              <a:t>) with the key </a:t>
            </a:r>
            <a:r>
              <a:rPr lang="en-IN" b="1" i="1" dirty="0"/>
              <a:t>K</a:t>
            </a:r>
            <a:r>
              <a:rPr lang="en-IN" b="1" i="1" baseline="-25000" dirty="0"/>
              <a:t>1</a:t>
            </a:r>
            <a:r>
              <a:rPr lang="en-IN" dirty="0"/>
              <a:t>: </a:t>
            </a:r>
          </a:p>
          <a:p>
            <a:pPr marL="0" indent="0">
              <a:buNone/>
            </a:pPr>
            <a:r>
              <a:rPr lang="en-IN" b="1" i="1" dirty="0"/>
              <a:t>K</a:t>
            </a:r>
            <a:r>
              <a:rPr lang="en-IN" b="1" i="1" baseline="-25000" dirty="0"/>
              <a:t>1</a:t>
            </a:r>
            <a:r>
              <a:rPr lang="en-IN" dirty="0"/>
              <a:t> + </a:t>
            </a:r>
            <a:r>
              <a:rPr lang="en-IN" b="1" dirty="0"/>
              <a:t>E</a:t>
            </a:r>
            <a:r>
              <a:rPr lang="en-IN" dirty="0"/>
              <a:t>(</a:t>
            </a:r>
            <a:r>
              <a:rPr lang="en-IN" b="1" i="1" dirty="0"/>
              <a:t>R</a:t>
            </a:r>
            <a:r>
              <a:rPr lang="en-IN" b="1" i="1" baseline="-25000" dirty="0"/>
              <a:t>0</a:t>
            </a:r>
            <a:r>
              <a:rPr lang="en-IN" dirty="0"/>
              <a:t>). </a:t>
            </a:r>
          </a:p>
        </p:txBody>
      </p:sp>
      <p:sp>
        <p:nvSpPr>
          <p:cNvPr id="4" name="Rectangle 3"/>
          <p:cNvSpPr/>
          <p:nvPr/>
        </p:nvSpPr>
        <p:spPr>
          <a:xfrm>
            <a:off x="270387" y="3937337"/>
            <a:ext cx="9144000" cy="1015663"/>
          </a:xfrm>
          <a:prstGeom prst="rect">
            <a:avLst/>
          </a:prstGeom>
        </p:spPr>
        <p:txBody>
          <a:bodyPr wrap="square">
            <a:spAutoFit/>
          </a:bodyPr>
          <a:lstStyle/>
          <a:p>
            <a:r>
              <a:rPr lang="pt-BR" sz="2000" b="1" i="1" dirty="0"/>
              <a:t>K</a:t>
            </a:r>
            <a:r>
              <a:rPr lang="pt-BR" sz="2000" b="1" i="1" baseline="-25000" dirty="0"/>
              <a:t>1</a:t>
            </a:r>
            <a:r>
              <a:rPr lang="pt-BR" sz="2000" dirty="0"/>
              <a:t> = 000110 110000 001011 101111 111111 000111 000001 110010 </a:t>
            </a:r>
            <a:br>
              <a:rPr lang="pt-BR" sz="2000" dirty="0"/>
            </a:br>
            <a:r>
              <a:rPr lang="pt-BR" sz="2000" b="1" dirty="0"/>
              <a:t>E</a:t>
            </a:r>
            <a:r>
              <a:rPr lang="pt-BR" sz="2000" dirty="0"/>
              <a:t>(</a:t>
            </a:r>
            <a:r>
              <a:rPr lang="pt-BR" sz="2000" b="1" i="1" dirty="0"/>
              <a:t>R</a:t>
            </a:r>
            <a:r>
              <a:rPr lang="pt-BR" sz="2000" b="1" i="1" baseline="-25000" dirty="0"/>
              <a:t>0</a:t>
            </a:r>
            <a:r>
              <a:rPr lang="pt-BR" sz="2000" dirty="0"/>
              <a:t>) = 011110 100001 010101 010101 011110 100001 010101 010101 </a:t>
            </a:r>
            <a:br>
              <a:rPr lang="pt-BR" sz="2000" dirty="0"/>
            </a:br>
            <a:r>
              <a:rPr lang="pt-BR" sz="2000" b="1" i="1" dirty="0">
                <a:solidFill>
                  <a:srgbClr val="FF0000"/>
                </a:solidFill>
              </a:rPr>
              <a:t>K</a:t>
            </a:r>
            <a:r>
              <a:rPr lang="pt-BR" sz="2000" b="1" i="1" baseline="-25000" dirty="0">
                <a:solidFill>
                  <a:srgbClr val="FF0000"/>
                </a:solidFill>
              </a:rPr>
              <a:t>1</a:t>
            </a:r>
            <a:r>
              <a:rPr lang="pt-BR" sz="2000" b="1" dirty="0">
                <a:solidFill>
                  <a:srgbClr val="FF0000"/>
                </a:solidFill>
              </a:rPr>
              <a:t>+E(</a:t>
            </a:r>
            <a:r>
              <a:rPr lang="pt-BR" sz="2000" b="1" i="1" dirty="0">
                <a:solidFill>
                  <a:srgbClr val="FF0000"/>
                </a:solidFill>
              </a:rPr>
              <a:t>R</a:t>
            </a:r>
            <a:r>
              <a:rPr lang="pt-BR" sz="2000" b="1" i="1" baseline="-25000" dirty="0">
                <a:solidFill>
                  <a:srgbClr val="FF0000"/>
                </a:solidFill>
              </a:rPr>
              <a:t>0</a:t>
            </a:r>
            <a:r>
              <a:rPr lang="pt-BR" sz="2000" b="1" dirty="0">
                <a:solidFill>
                  <a:srgbClr val="FF0000"/>
                </a:solidFill>
              </a:rPr>
              <a:t>) = 011000 010001 011110 111010 100001 100110 010100 100111. </a:t>
            </a:r>
            <a:endParaRPr lang="en-IN" sz="2000" b="1" dirty="0">
              <a:solidFill>
                <a:srgbClr val="FF0000"/>
              </a:solidFill>
            </a:endParaRPr>
          </a:p>
        </p:txBody>
      </p:sp>
      <p:sp>
        <p:nvSpPr>
          <p:cNvPr id="5" name="TextBox 4"/>
          <p:cNvSpPr txBox="1"/>
          <p:nvPr/>
        </p:nvSpPr>
        <p:spPr>
          <a:xfrm>
            <a:off x="914400" y="4953000"/>
            <a:ext cx="7239000" cy="954107"/>
          </a:xfrm>
          <a:prstGeom prst="rect">
            <a:avLst/>
          </a:prstGeom>
          <a:noFill/>
        </p:spPr>
        <p:txBody>
          <a:bodyPr wrap="square" rtlCol="0">
            <a:spAutoFit/>
          </a:bodyPr>
          <a:lstStyle/>
          <a:p>
            <a:r>
              <a:rPr lang="en-US" sz="2800" dirty="0"/>
              <a:t>The result is 48 bits or we can say eight group containing six bits </a:t>
            </a:r>
            <a:endParaRPr lang="en-IN" sz="2800" dirty="0"/>
          </a:p>
        </p:txBody>
      </p:sp>
      <p:sp>
        <p:nvSpPr>
          <p:cNvPr id="6" name="Rectangle 5"/>
          <p:cNvSpPr/>
          <p:nvPr/>
        </p:nvSpPr>
        <p:spPr>
          <a:xfrm>
            <a:off x="66368" y="1600200"/>
            <a:ext cx="9372600" cy="461665"/>
          </a:xfrm>
          <a:prstGeom prst="rect">
            <a:avLst/>
          </a:prstGeom>
        </p:spPr>
        <p:txBody>
          <a:bodyPr wrap="square">
            <a:spAutoFit/>
          </a:bodyPr>
          <a:lstStyle/>
          <a:p>
            <a:r>
              <a:rPr lang="pt-BR" sz="2400" b="1" dirty="0"/>
              <a:t>E</a:t>
            </a:r>
            <a:r>
              <a:rPr lang="pt-BR" sz="2400" dirty="0"/>
              <a:t>(</a:t>
            </a:r>
            <a:r>
              <a:rPr lang="pt-BR" sz="2400" b="1" i="1" dirty="0"/>
              <a:t>R</a:t>
            </a:r>
            <a:r>
              <a:rPr lang="pt-BR" sz="2400" b="1" i="1" baseline="-25000" dirty="0"/>
              <a:t>0</a:t>
            </a:r>
            <a:r>
              <a:rPr lang="pt-BR" sz="2400" dirty="0"/>
              <a:t>) = 011110 100001 010101 010101 011110 100001 010101 010101</a:t>
            </a:r>
            <a:endParaRPr lang="en-IN" sz="2400" dirty="0"/>
          </a:p>
        </p:txBody>
      </p:sp>
    </p:spTree>
    <p:extLst>
      <p:ext uri="{BB962C8B-B14F-4D97-AF65-F5344CB8AC3E}">
        <p14:creationId xmlns:p14="http://schemas.microsoft.com/office/powerpoint/2010/main" val="1650630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a:t>
            </a:r>
            <a:endParaRPr lang="en-IN" dirty="0"/>
          </a:p>
        </p:txBody>
      </p:sp>
      <p:sp>
        <p:nvSpPr>
          <p:cNvPr id="4" name="Rectangle 3"/>
          <p:cNvSpPr/>
          <p:nvPr/>
        </p:nvSpPr>
        <p:spPr>
          <a:xfrm>
            <a:off x="438764" y="2209800"/>
            <a:ext cx="8248035" cy="400110"/>
          </a:xfrm>
          <a:prstGeom prst="rect">
            <a:avLst/>
          </a:prstGeom>
        </p:spPr>
        <p:txBody>
          <a:bodyPr wrap="square">
            <a:spAutoFit/>
          </a:bodyPr>
          <a:lstStyle/>
          <a:p>
            <a:r>
              <a:rPr lang="pt-BR" sz="2000" b="1" i="1" dirty="0"/>
              <a:t>K</a:t>
            </a:r>
            <a:r>
              <a:rPr lang="pt-BR" sz="2000" b="1" i="1" baseline="-25000" dirty="0"/>
              <a:t>1</a:t>
            </a:r>
            <a:r>
              <a:rPr lang="pt-BR" sz="2000" dirty="0"/>
              <a:t>+</a:t>
            </a:r>
            <a:r>
              <a:rPr lang="pt-BR" sz="2000" b="1" dirty="0"/>
              <a:t>E</a:t>
            </a:r>
            <a:r>
              <a:rPr lang="pt-BR" sz="2000" dirty="0"/>
              <a:t>(</a:t>
            </a:r>
            <a:r>
              <a:rPr lang="pt-BR" sz="2000" b="1" i="1" dirty="0"/>
              <a:t>R</a:t>
            </a:r>
            <a:r>
              <a:rPr lang="pt-BR" sz="2000" b="1" i="1" baseline="-25000" dirty="0"/>
              <a:t>0</a:t>
            </a:r>
            <a:r>
              <a:rPr lang="pt-BR" sz="2000" dirty="0"/>
              <a:t>) = 011000 010001 011110 111010 100001 100110 010100 100111. </a:t>
            </a:r>
            <a:endParaRPr lang="en-IN" sz="2000" dirty="0"/>
          </a:p>
        </p:txBody>
      </p:sp>
      <p:sp>
        <p:nvSpPr>
          <p:cNvPr id="5" name="Rectangle 4"/>
          <p:cNvSpPr/>
          <p:nvPr/>
        </p:nvSpPr>
        <p:spPr>
          <a:xfrm>
            <a:off x="324465" y="1371600"/>
            <a:ext cx="7848600" cy="646331"/>
          </a:xfrm>
          <a:prstGeom prst="rect">
            <a:avLst/>
          </a:prstGeom>
        </p:spPr>
        <p:txBody>
          <a:bodyPr wrap="square">
            <a:spAutoFit/>
          </a:bodyPr>
          <a:lstStyle/>
          <a:p>
            <a:pPr algn="just"/>
            <a:r>
              <a:rPr lang="en-IN" dirty="0"/>
              <a:t>We now do something strange with each group of six bits: we use them as addresses in tables called "</a:t>
            </a:r>
            <a:r>
              <a:rPr lang="en-IN" b="1" dirty="0"/>
              <a:t>S boxes</a:t>
            </a:r>
            <a:r>
              <a:rPr lang="en-IN" dirty="0"/>
              <a:t>". </a:t>
            </a:r>
          </a:p>
        </p:txBody>
      </p:sp>
      <p:sp>
        <p:nvSpPr>
          <p:cNvPr id="6" name="Rectangle 5"/>
          <p:cNvSpPr/>
          <p:nvPr/>
        </p:nvSpPr>
        <p:spPr>
          <a:xfrm>
            <a:off x="438764" y="2743200"/>
            <a:ext cx="8019435" cy="400110"/>
          </a:xfrm>
          <a:prstGeom prst="rect">
            <a:avLst/>
          </a:prstGeom>
        </p:spPr>
        <p:txBody>
          <a:bodyPr wrap="square">
            <a:spAutoFit/>
          </a:bodyPr>
          <a:lstStyle/>
          <a:p>
            <a:r>
              <a:rPr lang="en-IN" sz="2000" b="1" i="1" dirty="0"/>
              <a:t>K1+ E(R0) =       B1       B2           B3        B4           B5           B6        B7         B8 </a:t>
            </a:r>
          </a:p>
        </p:txBody>
      </p:sp>
      <p:sp>
        <p:nvSpPr>
          <p:cNvPr id="7" name="Rectangle 1"/>
          <p:cNvSpPr>
            <a:spLocks noChangeArrowheads="1"/>
          </p:cNvSpPr>
          <p:nvPr/>
        </p:nvSpPr>
        <p:spPr bwMode="auto">
          <a:xfrm>
            <a:off x="438763" y="3424535"/>
            <a:ext cx="8248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We now calculate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1" u="none" strike="noStrike" cap="none" normalizeH="0" baseline="0" dirty="0">
                <a:ln>
                  <a:noFill/>
                </a:ln>
                <a:solidFill>
                  <a:schemeClr val="tx1"/>
                </a:solidFill>
                <a:effectLst/>
                <a:latin typeface="Arial" charset="0"/>
                <a:cs typeface="Arial" charset="0"/>
              </a:rPr>
              <a:t>S</a:t>
            </a:r>
            <a:r>
              <a:rPr kumimoji="0" lang="en-US" altLang="en-US" sz="1800" b="1" i="1" u="none" strike="noStrike" cap="none" normalizeH="0" baseline="-30000" dirty="0">
                <a:ln>
                  <a:noFill/>
                </a:ln>
                <a:solidFill>
                  <a:schemeClr val="tx1"/>
                </a:solidFill>
                <a:effectLst/>
                <a:latin typeface="Arial" charset="0"/>
                <a:cs typeface="Arial" charset="0"/>
              </a:rPr>
              <a:t>1</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1</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a:t>
            </a:r>
            <a:r>
              <a:rPr kumimoji="0" lang="en-US" altLang="en-US" sz="1800" b="0" i="0" u="none" strike="noStrike" cap="none" normalizeH="0" baseline="0" dirty="0">
                <a:ln>
                  <a:noFill/>
                </a:ln>
                <a:solidFill>
                  <a:schemeClr val="tx1"/>
                </a:solidFill>
                <a:effectLst/>
                <a:latin typeface="Arial" charset="0"/>
                <a:cs typeface="Arial"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2422676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 - </a:t>
            </a:r>
            <a:r>
              <a:rPr lang="en-US" altLang="en-US" b="1" i="1" dirty="0">
                <a:latin typeface="Arial" charset="0"/>
                <a:cs typeface="Arial" charset="0"/>
              </a:rPr>
              <a:t>S</a:t>
            </a:r>
            <a:r>
              <a:rPr lang="en-US" altLang="en-US" b="1" i="1" baseline="-30000" dirty="0">
                <a:latin typeface="Arial" charset="0"/>
                <a:cs typeface="Arial" charset="0"/>
              </a:rPr>
              <a:t>1</a:t>
            </a:r>
            <a:r>
              <a:rPr lang="en-US" altLang="en-US" b="1" i="1" dirty="0">
                <a:latin typeface="Arial" charset="0"/>
                <a:cs typeface="Arial" charset="0"/>
              </a:rPr>
              <a:t>(B</a:t>
            </a:r>
            <a:r>
              <a:rPr lang="en-US" altLang="en-US" b="1" i="1" baseline="-30000" dirty="0">
                <a:latin typeface="Arial" charset="0"/>
                <a:cs typeface="Arial" charset="0"/>
              </a:rPr>
              <a:t>1</a:t>
            </a:r>
            <a:r>
              <a:rPr lang="en-US" altLang="en-US" b="1" i="1" dirty="0">
                <a:latin typeface="Arial" charset="0"/>
                <a:cs typeface="Arial" charset="0"/>
              </a:rPr>
              <a:t>)</a:t>
            </a:r>
            <a:br>
              <a:rPr lang="en-IN" dirty="0"/>
            </a:br>
            <a:endParaRPr lang="en-IN" dirty="0"/>
          </a:p>
        </p:txBody>
      </p:sp>
      <p:sp>
        <p:nvSpPr>
          <p:cNvPr id="4" name="Rectangle 3"/>
          <p:cNvSpPr/>
          <p:nvPr/>
        </p:nvSpPr>
        <p:spPr>
          <a:xfrm>
            <a:off x="438762" y="1219200"/>
            <a:ext cx="8248035" cy="400110"/>
          </a:xfrm>
          <a:prstGeom prst="rect">
            <a:avLst/>
          </a:prstGeom>
        </p:spPr>
        <p:txBody>
          <a:bodyPr wrap="square">
            <a:spAutoFit/>
          </a:bodyPr>
          <a:lstStyle/>
          <a:p>
            <a:r>
              <a:rPr lang="pt-BR" sz="2000" b="1" i="1" dirty="0"/>
              <a:t>K</a:t>
            </a:r>
            <a:r>
              <a:rPr lang="pt-BR" sz="2000" b="1" i="1" baseline="-25000" dirty="0"/>
              <a:t>1</a:t>
            </a:r>
            <a:r>
              <a:rPr lang="pt-BR" sz="2000" dirty="0"/>
              <a:t>+</a:t>
            </a:r>
            <a:r>
              <a:rPr lang="pt-BR" sz="2000" b="1" dirty="0"/>
              <a:t>E</a:t>
            </a:r>
            <a:r>
              <a:rPr lang="pt-BR" sz="2000" dirty="0"/>
              <a:t>(</a:t>
            </a:r>
            <a:r>
              <a:rPr lang="pt-BR" sz="2000" b="1" i="1" dirty="0"/>
              <a:t>R</a:t>
            </a:r>
            <a:r>
              <a:rPr lang="pt-BR" sz="2000" b="1" i="1" baseline="-25000" dirty="0"/>
              <a:t>0</a:t>
            </a:r>
            <a:r>
              <a:rPr lang="pt-BR" sz="2000" dirty="0"/>
              <a:t>) = 011000 010001 011110 111010 100001 100110 010100 100111. </a:t>
            </a:r>
            <a:endParaRPr lang="en-IN" sz="2000" dirty="0"/>
          </a:p>
        </p:txBody>
      </p:sp>
      <p:sp>
        <p:nvSpPr>
          <p:cNvPr id="6" name="Rectangle 5"/>
          <p:cNvSpPr/>
          <p:nvPr/>
        </p:nvSpPr>
        <p:spPr>
          <a:xfrm>
            <a:off x="438763" y="1643493"/>
            <a:ext cx="8019435" cy="400110"/>
          </a:xfrm>
          <a:prstGeom prst="rect">
            <a:avLst/>
          </a:prstGeom>
        </p:spPr>
        <p:txBody>
          <a:bodyPr wrap="square">
            <a:spAutoFit/>
          </a:bodyPr>
          <a:lstStyle/>
          <a:p>
            <a:r>
              <a:rPr lang="en-IN" sz="2000" b="1" i="1" dirty="0"/>
              <a:t>K1+ E(R0) =       B1       B2           B3        B4           B5           B6        B7         B8 </a:t>
            </a:r>
          </a:p>
        </p:txBody>
      </p:sp>
      <p:sp>
        <p:nvSpPr>
          <p:cNvPr id="7" name="Rectangle 1"/>
          <p:cNvSpPr>
            <a:spLocks noChangeArrowheads="1"/>
          </p:cNvSpPr>
          <p:nvPr/>
        </p:nvSpPr>
        <p:spPr bwMode="auto">
          <a:xfrm>
            <a:off x="438761" y="2105506"/>
            <a:ext cx="8248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We now calculate </a:t>
            </a:r>
          </a:p>
          <a:p>
            <a:pPr lvl="0" eaLnBrk="0" fontAlgn="base" hangingPunct="0">
              <a:spcBef>
                <a:spcPct val="0"/>
              </a:spcBef>
              <a:spcAft>
                <a:spcPct val="0"/>
              </a:spcAft>
            </a:pPr>
            <a:r>
              <a:rPr lang="en-US" altLang="en-US" b="1" i="1" dirty="0">
                <a:latin typeface="Arial" charset="0"/>
                <a:cs typeface="Arial" charset="0"/>
              </a:rPr>
              <a:t>S</a:t>
            </a:r>
            <a:r>
              <a:rPr lang="en-US" altLang="en-US" b="1" i="1" baseline="-30000" dirty="0">
                <a:latin typeface="Arial" charset="0"/>
                <a:cs typeface="Arial" charset="0"/>
              </a:rPr>
              <a:t>1</a:t>
            </a:r>
            <a:r>
              <a:rPr lang="en-US" altLang="en-US" b="1" i="1" dirty="0">
                <a:latin typeface="Arial" charset="0"/>
                <a:cs typeface="Arial" charset="0"/>
              </a:rPr>
              <a:t>(B</a:t>
            </a:r>
            <a:r>
              <a:rPr lang="en-US" altLang="en-US" b="1" i="1" baseline="-30000" dirty="0">
                <a:latin typeface="Arial" charset="0"/>
                <a:cs typeface="Arial" charset="0"/>
              </a:rPr>
              <a:t>1</a:t>
            </a:r>
            <a:r>
              <a:rPr lang="en-US" altLang="en-US" b="1" i="1" dirty="0">
                <a:latin typeface="Arial" charset="0"/>
                <a:cs typeface="Arial" charset="0"/>
              </a:rPr>
              <a:t>)</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a:t>
            </a:r>
            <a:r>
              <a:rPr kumimoji="0" lang="en-US" altLang="en-US" sz="1800" b="0" i="0" u="none" strike="noStrike" cap="none" normalizeH="0" baseline="0" dirty="0">
                <a:ln>
                  <a:noFill/>
                </a:ln>
                <a:solidFill>
                  <a:schemeClr val="tx1"/>
                </a:solidFill>
                <a:effectLst/>
                <a:latin typeface="Arial" charset="0"/>
                <a:cs typeface="Arial"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
        <p:nvSpPr>
          <p:cNvPr id="3" name="Rectangle 2"/>
          <p:cNvSpPr/>
          <p:nvPr/>
        </p:nvSpPr>
        <p:spPr>
          <a:xfrm>
            <a:off x="539894" y="3013776"/>
            <a:ext cx="436338" cy="369332"/>
          </a:xfrm>
          <a:prstGeom prst="rect">
            <a:avLst/>
          </a:prstGeom>
        </p:spPr>
        <p:txBody>
          <a:bodyPr wrap="none">
            <a:spAutoFit/>
          </a:bodyPr>
          <a:lstStyle/>
          <a:p>
            <a:r>
              <a:rPr lang="en-US" altLang="en-US" b="1" i="1" dirty="0">
                <a:latin typeface="Arial" charset="0"/>
                <a:cs typeface="Arial" charset="0"/>
              </a:rPr>
              <a:t>B</a:t>
            </a:r>
            <a:r>
              <a:rPr lang="en-US" altLang="en-US" b="1" i="1" baseline="-30000" dirty="0">
                <a:latin typeface="Arial" charset="0"/>
                <a:cs typeface="Arial" charset="0"/>
              </a:rPr>
              <a:t>1</a:t>
            </a:r>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555" y="3962400"/>
            <a:ext cx="7181850" cy="2457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1600200" y="3028836"/>
            <a:ext cx="886781" cy="369332"/>
          </a:xfrm>
          <a:prstGeom prst="rect">
            <a:avLst/>
          </a:prstGeom>
        </p:spPr>
        <p:txBody>
          <a:bodyPr wrap="none">
            <a:spAutoFit/>
          </a:bodyPr>
          <a:lstStyle/>
          <a:p>
            <a:r>
              <a:rPr lang="pt-BR" dirty="0"/>
              <a:t>011000</a:t>
            </a:r>
            <a:endParaRPr lang="en-IN" dirty="0"/>
          </a:p>
        </p:txBody>
      </p:sp>
      <p:sp>
        <p:nvSpPr>
          <p:cNvPr id="9" name="Rectangle 8"/>
          <p:cNvSpPr/>
          <p:nvPr/>
        </p:nvSpPr>
        <p:spPr>
          <a:xfrm>
            <a:off x="1717218" y="3563260"/>
            <a:ext cx="652743" cy="369332"/>
          </a:xfrm>
          <a:prstGeom prst="rect">
            <a:avLst/>
          </a:prstGeom>
        </p:spPr>
        <p:txBody>
          <a:bodyPr wrap="none">
            <a:spAutoFit/>
          </a:bodyPr>
          <a:lstStyle/>
          <a:p>
            <a:r>
              <a:rPr lang="en-IN" dirty="0"/>
              <a:t>0101</a:t>
            </a:r>
          </a:p>
        </p:txBody>
      </p:sp>
      <p:sp>
        <p:nvSpPr>
          <p:cNvPr id="11" name="Rectangle 10"/>
          <p:cNvSpPr/>
          <p:nvPr/>
        </p:nvSpPr>
        <p:spPr>
          <a:xfrm>
            <a:off x="692293" y="3557722"/>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1</a:t>
            </a:r>
            <a:r>
              <a:rPr lang="en-US" altLang="en-US" b="1" i="1" dirty="0">
                <a:latin typeface="Arial" charset="0"/>
                <a:cs typeface="Arial" charset="0"/>
              </a:rPr>
              <a:t>(B</a:t>
            </a:r>
            <a:r>
              <a:rPr lang="en-US" altLang="en-US" b="1" i="1" baseline="-30000" dirty="0">
                <a:latin typeface="Arial" charset="0"/>
                <a:cs typeface="Arial" charset="0"/>
              </a:rPr>
              <a:t>1</a:t>
            </a:r>
            <a:r>
              <a:rPr lang="en-US" altLang="en-US" b="1" i="1" dirty="0">
                <a:latin typeface="Arial" charset="0"/>
                <a:cs typeface="Arial" charset="0"/>
              </a:rPr>
              <a:t>)</a:t>
            </a:r>
            <a:endParaRPr lang="en-IN" dirty="0"/>
          </a:p>
        </p:txBody>
      </p:sp>
    </p:spTree>
    <p:extLst>
      <p:ext uri="{BB962C8B-B14F-4D97-AF65-F5344CB8AC3E}">
        <p14:creationId xmlns:p14="http://schemas.microsoft.com/office/powerpoint/2010/main" val="402406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 – </a:t>
            </a:r>
            <a:r>
              <a:rPr lang="en-US" altLang="en-US" b="1" i="1" dirty="0">
                <a:latin typeface="Arial" charset="0"/>
                <a:cs typeface="Arial" charset="0"/>
              </a:rPr>
              <a:t>S</a:t>
            </a:r>
            <a:r>
              <a:rPr lang="en-US" altLang="en-US" b="1" i="1" baseline="-30000" dirty="0">
                <a:latin typeface="Arial" charset="0"/>
                <a:cs typeface="Arial" charset="0"/>
              </a:rPr>
              <a:t>2</a:t>
            </a:r>
            <a:r>
              <a:rPr lang="en-US" altLang="en-US" b="1" i="1" dirty="0">
                <a:latin typeface="Arial" charset="0"/>
                <a:cs typeface="Arial" charset="0"/>
              </a:rPr>
              <a:t>(B</a:t>
            </a:r>
            <a:r>
              <a:rPr lang="en-US" altLang="en-US" b="1" i="1" baseline="-30000" dirty="0">
                <a:latin typeface="Arial" charset="0"/>
                <a:cs typeface="Arial" charset="0"/>
              </a:rPr>
              <a:t>2</a:t>
            </a:r>
            <a:r>
              <a:rPr lang="en-US" altLang="en-US" b="1" i="1" dirty="0">
                <a:latin typeface="Arial" charset="0"/>
                <a:cs typeface="Arial" charset="0"/>
              </a:rPr>
              <a:t>)</a:t>
            </a:r>
            <a:endParaRPr lang="en-IN" dirty="0"/>
          </a:p>
        </p:txBody>
      </p:sp>
      <p:sp>
        <p:nvSpPr>
          <p:cNvPr id="4" name="Rectangle 3"/>
          <p:cNvSpPr/>
          <p:nvPr/>
        </p:nvSpPr>
        <p:spPr>
          <a:xfrm>
            <a:off x="438762" y="1219200"/>
            <a:ext cx="8248035" cy="400110"/>
          </a:xfrm>
          <a:prstGeom prst="rect">
            <a:avLst/>
          </a:prstGeom>
        </p:spPr>
        <p:txBody>
          <a:bodyPr wrap="square">
            <a:spAutoFit/>
          </a:bodyPr>
          <a:lstStyle/>
          <a:p>
            <a:r>
              <a:rPr lang="pt-BR" sz="2000" b="1" i="1" dirty="0"/>
              <a:t>K</a:t>
            </a:r>
            <a:r>
              <a:rPr lang="pt-BR" sz="2000" b="1" i="1" baseline="-25000" dirty="0"/>
              <a:t>1</a:t>
            </a:r>
            <a:r>
              <a:rPr lang="pt-BR" sz="2000" dirty="0"/>
              <a:t>+</a:t>
            </a:r>
            <a:r>
              <a:rPr lang="pt-BR" sz="2000" b="1" dirty="0"/>
              <a:t>E</a:t>
            </a:r>
            <a:r>
              <a:rPr lang="pt-BR" sz="2000" dirty="0"/>
              <a:t>(</a:t>
            </a:r>
            <a:r>
              <a:rPr lang="pt-BR" sz="2000" b="1" i="1" dirty="0"/>
              <a:t>R</a:t>
            </a:r>
            <a:r>
              <a:rPr lang="pt-BR" sz="2000" b="1" i="1" baseline="-25000" dirty="0"/>
              <a:t>0</a:t>
            </a:r>
            <a:r>
              <a:rPr lang="pt-BR" sz="2000" dirty="0"/>
              <a:t>) = 011000 010001 011110 111010 100001 100110 010100 100111. </a:t>
            </a:r>
            <a:endParaRPr lang="en-IN" sz="2000" dirty="0"/>
          </a:p>
        </p:txBody>
      </p:sp>
      <p:sp>
        <p:nvSpPr>
          <p:cNvPr id="6" name="Rectangle 5"/>
          <p:cNvSpPr/>
          <p:nvPr/>
        </p:nvSpPr>
        <p:spPr>
          <a:xfrm>
            <a:off x="438763" y="1643493"/>
            <a:ext cx="8019435" cy="400110"/>
          </a:xfrm>
          <a:prstGeom prst="rect">
            <a:avLst/>
          </a:prstGeom>
        </p:spPr>
        <p:txBody>
          <a:bodyPr wrap="square">
            <a:spAutoFit/>
          </a:bodyPr>
          <a:lstStyle/>
          <a:p>
            <a:r>
              <a:rPr lang="en-IN" sz="2000" b="1" i="1" dirty="0"/>
              <a:t>K1+ E(R0) =       B1       B2           B3        B4           B5           B6        B7         B8 </a:t>
            </a:r>
          </a:p>
        </p:txBody>
      </p:sp>
      <p:sp>
        <p:nvSpPr>
          <p:cNvPr id="7" name="Rectangle 1"/>
          <p:cNvSpPr>
            <a:spLocks noChangeArrowheads="1"/>
          </p:cNvSpPr>
          <p:nvPr/>
        </p:nvSpPr>
        <p:spPr bwMode="auto">
          <a:xfrm>
            <a:off x="438761" y="2105506"/>
            <a:ext cx="8248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We now calculate </a:t>
            </a:r>
          </a:p>
          <a:p>
            <a:pPr lvl="0" eaLnBrk="0" fontAlgn="base" hangingPunct="0">
              <a:spcBef>
                <a:spcPct val="0"/>
              </a:spcBef>
              <a:spcAft>
                <a:spcPct val="0"/>
              </a:spcAft>
            </a:pPr>
            <a:r>
              <a:rPr lang="en-US" altLang="en-US" b="1" i="1" dirty="0">
                <a:latin typeface="Arial" charset="0"/>
                <a:cs typeface="Arial" charset="0"/>
              </a:rPr>
              <a:t>S</a:t>
            </a:r>
            <a:r>
              <a:rPr lang="en-US" altLang="en-US" b="1" i="1" baseline="-30000" dirty="0">
                <a:latin typeface="Arial" charset="0"/>
                <a:cs typeface="Arial" charset="0"/>
              </a:rPr>
              <a:t>1</a:t>
            </a:r>
            <a:r>
              <a:rPr lang="en-US" altLang="en-US" b="1" i="1" dirty="0">
                <a:latin typeface="Arial" charset="0"/>
                <a:cs typeface="Arial" charset="0"/>
              </a:rPr>
              <a:t>(B</a:t>
            </a:r>
            <a:r>
              <a:rPr lang="en-US" altLang="en-US" b="1" i="1" baseline="-30000" dirty="0">
                <a:latin typeface="Arial" charset="0"/>
                <a:cs typeface="Arial" charset="0"/>
              </a:rPr>
              <a:t>1</a:t>
            </a:r>
            <a:r>
              <a:rPr lang="en-US" altLang="en-US" b="1" i="1" dirty="0">
                <a:latin typeface="Arial" charset="0"/>
                <a:cs typeface="Arial" charset="0"/>
              </a:rPr>
              <a:t>)</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a:t>
            </a:r>
            <a:r>
              <a:rPr kumimoji="0" lang="en-US" altLang="en-US" sz="1800" b="0" i="0" u="none" strike="noStrike" cap="none" normalizeH="0" baseline="0" dirty="0">
                <a:ln>
                  <a:noFill/>
                </a:ln>
                <a:solidFill>
                  <a:schemeClr val="tx1"/>
                </a:solidFill>
                <a:effectLst/>
                <a:latin typeface="Arial" charset="0"/>
                <a:cs typeface="Arial"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
        <p:nvSpPr>
          <p:cNvPr id="3" name="Rectangle 2"/>
          <p:cNvSpPr/>
          <p:nvPr/>
        </p:nvSpPr>
        <p:spPr>
          <a:xfrm>
            <a:off x="539894" y="3013776"/>
            <a:ext cx="436338" cy="369332"/>
          </a:xfrm>
          <a:prstGeom prst="rect">
            <a:avLst/>
          </a:prstGeom>
        </p:spPr>
        <p:txBody>
          <a:bodyPr wrap="none">
            <a:spAutoFit/>
          </a:bodyPr>
          <a:lstStyle/>
          <a:p>
            <a:r>
              <a:rPr lang="en-US" altLang="en-US" b="1" i="1" dirty="0">
                <a:latin typeface="Arial" charset="0"/>
                <a:cs typeface="Arial" charset="0"/>
              </a:rPr>
              <a:t>B</a:t>
            </a:r>
            <a:r>
              <a:rPr lang="en-US" altLang="en-US" b="1" i="1" baseline="-30000" dirty="0">
                <a:latin typeface="Arial" charset="0"/>
                <a:cs typeface="Arial" charset="0"/>
              </a:rPr>
              <a:t>2</a:t>
            </a:r>
            <a:endParaRPr lang="en-IN" dirty="0"/>
          </a:p>
        </p:txBody>
      </p:sp>
      <p:sp>
        <p:nvSpPr>
          <p:cNvPr id="8" name="Rectangle 7"/>
          <p:cNvSpPr/>
          <p:nvPr/>
        </p:nvSpPr>
        <p:spPr>
          <a:xfrm>
            <a:off x="1600200" y="3028836"/>
            <a:ext cx="886781" cy="369332"/>
          </a:xfrm>
          <a:prstGeom prst="rect">
            <a:avLst/>
          </a:prstGeom>
        </p:spPr>
        <p:txBody>
          <a:bodyPr wrap="none">
            <a:spAutoFit/>
          </a:bodyPr>
          <a:lstStyle/>
          <a:p>
            <a:r>
              <a:rPr lang="pt-BR" dirty="0"/>
              <a:t>010001</a:t>
            </a:r>
            <a:endParaRPr lang="en-IN" dirty="0"/>
          </a:p>
        </p:txBody>
      </p:sp>
      <p:sp>
        <p:nvSpPr>
          <p:cNvPr id="9" name="Rectangle 8"/>
          <p:cNvSpPr/>
          <p:nvPr/>
        </p:nvSpPr>
        <p:spPr>
          <a:xfrm>
            <a:off x="1717218" y="3563260"/>
            <a:ext cx="652743" cy="369332"/>
          </a:xfrm>
          <a:prstGeom prst="rect">
            <a:avLst/>
          </a:prstGeom>
        </p:spPr>
        <p:txBody>
          <a:bodyPr wrap="none">
            <a:spAutoFit/>
          </a:bodyPr>
          <a:lstStyle/>
          <a:p>
            <a:r>
              <a:rPr lang="en-IN" dirty="0"/>
              <a:t>1100</a:t>
            </a:r>
          </a:p>
        </p:txBody>
      </p:sp>
      <p:sp>
        <p:nvSpPr>
          <p:cNvPr id="11" name="Rectangle 10"/>
          <p:cNvSpPr/>
          <p:nvPr/>
        </p:nvSpPr>
        <p:spPr>
          <a:xfrm>
            <a:off x="692293" y="3557722"/>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2</a:t>
            </a:r>
            <a:r>
              <a:rPr lang="en-US" altLang="en-US" b="1" i="1" dirty="0">
                <a:latin typeface="Arial" charset="0"/>
                <a:cs typeface="Arial" charset="0"/>
              </a:rPr>
              <a:t>(B</a:t>
            </a:r>
            <a:r>
              <a:rPr lang="en-US" altLang="en-US" b="1" i="1" baseline="-30000" dirty="0">
                <a:latin typeface="Arial" charset="0"/>
                <a:cs typeface="Arial" charset="0"/>
              </a:rPr>
              <a:t>2</a:t>
            </a:r>
            <a:r>
              <a:rPr lang="en-US" altLang="en-US" b="1" i="1" dirty="0">
                <a:latin typeface="Arial" charset="0"/>
                <a:cs typeface="Arial" charset="0"/>
              </a:rPr>
              <a:t>)</a:t>
            </a:r>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6829" y="4114800"/>
            <a:ext cx="6477000" cy="18586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091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19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 – </a:t>
            </a:r>
            <a:r>
              <a:rPr lang="en-US" altLang="en-US" b="1" i="1" dirty="0">
                <a:latin typeface="Arial" charset="0"/>
                <a:cs typeface="Arial" charset="0"/>
              </a:rPr>
              <a:t>S</a:t>
            </a:r>
            <a:r>
              <a:rPr lang="en-US" altLang="en-US" b="1" i="1" baseline="-30000" dirty="0">
                <a:latin typeface="Arial" charset="0"/>
                <a:cs typeface="Arial" charset="0"/>
              </a:rPr>
              <a:t>3</a:t>
            </a:r>
            <a:r>
              <a:rPr lang="en-US" altLang="en-US" b="1" i="1" dirty="0">
                <a:latin typeface="Arial" charset="0"/>
                <a:cs typeface="Arial" charset="0"/>
              </a:rPr>
              <a:t>(B</a:t>
            </a:r>
            <a:r>
              <a:rPr lang="en-US" altLang="en-US" b="1" i="1" baseline="-30000" dirty="0">
                <a:latin typeface="Arial" charset="0"/>
                <a:cs typeface="Arial" charset="0"/>
              </a:rPr>
              <a:t>3</a:t>
            </a:r>
            <a:r>
              <a:rPr lang="en-US" altLang="en-US" b="1" i="1" dirty="0">
                <a:latin typeface="Arial" charset="0"/>
                <a:cs typeface="Arial" charset="0"/>
              </a:rPr>
              <a:t>)</a:t>
            </a:r>
            <a:endParaRPr lang="en-IN" dirty="0"/>
          </a:p>
        </p:txBody>
      </p:sp>
      <p:sp>
        <p:nvSpPr>
          <p:cNvPr id="4" name="Rectangle 3"/>
          <p:cNvSpPr/>
          <p:nvPr/>
        </p:nvSpPr>
        <p:spPr>
          <a:xfrm>
            <a:off x="438762" y="1219200"/>
            <a:ext cx="8248035" cy="400110"/>
          </a:xfrm>
          <a:prstGeom prst="rect">
            <a:avLst/>
          </a:prstGeom>
        </p:spPr>
        <p:txBody>
          <a:bodyPr wrap="square">
            <a:spAutoFit/>
          </a:bodyPr>
          <a:lstStyle/>
          <a:p>
            <a:r>
              <a:rPr lang="pt-BR" sz="2000" b="1" i="1" dirty="0"/>
              <a:t>K</a:t>
            </a:r>
            <a:r>
              <a:rPr lang="pt-BR" sz="2000" b="1" i="1" baseline="-25000" dirty="0"/>
              <a:t>1</a:t>
            </a:r>
            <a:r>
              <a:rPr lang="pt-BR" sz="2000" dirty="0"/>
              <a:t>+</a:t>
            </a:r>
            <a:r>
              <a:rPr lang="pt-BR" sz="2000" b="1" dirty="0"/>
              <a:t>E</a:t>
            </a:r>
            <a:r>
              <a:rPr lang="pt-BR" sz="2000" dirty="0"/>
              <a:t>(</a:t>
            </a:r>
            <a:r>
              <a:rPr lang="pt-BR" sz="2000" b="1" i="1" dirty="0"/>
              <a:t>R</a:t>
            </a:r>
            <a:r>
              <a:rPr lang="pt-BR" sz="2000" b="1" i="1" baseline="-25000" dirty="0"/>
              <a:t>0</a:t>
            </a:r>
            <a:r>
              <a:rPr lang="pt-BR" sz="2000" dirty="0"/>
              <a:t>) = 011000 010001 011110 111010 100001 100110 010100 100111. </a:t>
            </a:r>
            <a:endParaRPr lang="en-IN" sz="2000" dirty="0"/>
          </a:p>
        </p:txBody>
      </p:sp>
      <p:sp>
        <p:nvSpPr>
          <p:cNvPr id="6" name="Rectangle 5"/>
          <p:cNvSpPr/>
          <p:nvPr/>
        </p:nvSpPr>
        <p:spPr>
          <a:xfrm>
            <a:off x="438763" y="1643493"/>
            <a:ext cx="8019435" cy="400110"/>
          </a:xfrm>
          <a:prstGeom prst="rect">
            <a:avLst/>
          </a:prstGeom>
        </p:spPr>
        <p:txBody>
          <a:bodyPr wrap="square">
            <a:spAutoFit/>
          </a:bodyPr>
          <a:lstStyle/>
          <a:p>
            <a:r>
              <a:rPr lang="en-IN" sz="2000" b="1" i="1" dirty="0"/>
              <a:t>K1+ E(R0) =       B1       B2           B3        B4           B5           B6        B7         B8 </a:t>
            </a:r>
          </a:p>
        </p:txBody>
      </p:sp>
      <p:sp>
        <p:nvSpPr>
          <p:cNvPr id="7" name="Rectangle 1"/>
          <p:cNvSpPr>
            <a:spLocks noChangeArrowheads="1"/>
          </p:cNvSpPr>
          <p:nvPr/>
        </p:nvSpPr>
        <p:spPr bwMode="auto">
          <a:xfrm>
            <a:off x="438761" y="2105506"/>
            <a:ext cx="8248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We now calculate </a:t>
            </a:r>
          </a:p>
          <a:p>
            <a:pPr lvl="0" eaLnBrk="0" fontAlgn="base" hangingPunct="0">
              <a:spcBef>
                <a:spcPct val="0"/>
              </a:spcBef>
              <a:spcAft>
                <a:spcPct val="0"/>
              </a:spcAft>
            </a:pPr>
            <a:r>
              <a:rPr lang="en-US" altLang="en-US" b="1" i="1" dirty="0">
                <a:latin typeface="Arial" charset="0"/>
                <a:cs typeface="Arial" charset="0"/>
              </a:rPr>
              <a:t>S</a:t>
            </a:r>
            <a:r>
              <a:rPr lang="en-US" altLang="en-US" b="1" i="1" baseline="-30000" dirty="0">
                <a:latin typeface="Arial" charset="0"/>
                <a:cs typeface="Arial" charset="0"/>
              </a:rPr>
              <a:t>1</a:t>
            </a:r>
            <a:r>
              <a:rPr lang="en-US" altLang="en-US" b="1" i="1" dirty="0">
                <a:latin typeface="Arial" charset="0"/>
                <a:cs typeface="Arial" charset="0"/>
              </a:rPr>
              <a:t>(B</a:t>
            </a:r>
            <a:r>
              <a:rPr lang="en-US" altLang="en-US" b="1" i="1" baseline="-30000" dirty="0">
                <a:latin typeface="Arial" charset="0"/>
                <a:cs typeface="Arial" charset="0"/>
              </a:rPr>
              <a:t>1</a:t>
            </a:r>
            <a:r>
              <a:rPr lang="en-US" altLang="en-US" b="1" i="1" dirty="0">
                <a:latin typeface="Arial" charset="0"/>
                <a:cs typeface="Arial" charset="0"/>
              </a:rPr>
              <a:t>)</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a:t>
            </a:r>
            <a:r>
              <a:rPr kumimoji="0" lang="en-US" altLang="en-US" sz="1800" b="0" i="0" u="none" strike="noStrike" cap="none" normalizeH="0" baseline="0" dirty="0">
                <a:ln>
                  <a:noFill/>
                </a:ln>
                <a:solidFill>
                  <a:schemeClr val="tx1"/>
                </a:solidFill>
                <a:effectLst/>
                <a:latin typeface="Arial" charset="0"/>
                <a:cs typeface="Arial"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
        <p:nvSpPr>
          <p:cNvPr id="3" name="Rectangle 2"/>
          <p:cNvSpPr/>
          <p:nvPr/>
        </p:nvSpPr>
        <p:spPr>
          <a:xfrm>
            <a:off x="539894" y="3013776"/>
            <a:ext cx="436338" cy="369332"/>
          </a:xfrm>
          <a:prstGeom prst="rect">
            <a:avLst/>
          </a:prstGeom>
        </p:spPr>
        <p:txBody>
          <a:bodyPr wrap="none">
            <a:spAutoFit/>
          </a:bodyPr>
          <a:lstStyle/>
          <a:p>
            <a:r>
              <a:rPr lang="en-US" altLang="en-US" b="1" i="1" dirty="0">
                <a:latin typeface="Arial" charset="0"/>
                <a:cs typeface="Arial" charset="0"/>
              </a:rPr>
              <a:t>B</a:t>
            </a:r>
            <a:r>
              <a:rPr lang="en-US" altLang="en-US" b="1" i="1" baseline="-30000" dirty="0">
                <a:latin typeface="Arial" charset="0"/>
                <a:cs typeface="Arial" charset="0"/>
              </a:rPr>
              <a:t>3</a:t>
            </a:r>
            <a:endParaRPr lang="en-IN" dirty="0"/>
          </a:p>
        </p:txBody>
      </p:sp>
      <p:sp>
        <p:nvSpPr>
          <p:cNvPr id="8" name="Rectangle 7"/>
          <p:cNvSpPr/>
          <p:nvPr/>
        </p:nvSpPr>
        <p:spPr>
          <a:xfrm>
            <a:off x="1600200" y="3028836"/>
            <a:ext cx="886781" cy="369332"/>
          </a:xfrm>
          <a:prstGeom prst="rect">
            <a:avLst/>
          </a:prstGeom>
        </p:spPr>
        <p:txBody>
          <a:bodyPr wrap="none">
            <a:spAutoFit/>
          </a:bodyPr>
          <a:lstStyle/>
          <a:p>
            <a:r>
              <a:rPr lang="pt-BR" dirty="0"/>
              <a:t>011110</a:t>
            </a:r>
            <a:endParaRPr lang="en-IN" dirty="0"/>
          </a:p>
        </p:txBody>
      </p:sp>
      <p:sp>
        <p:nvSpPr>
          <p:cNvPr id="11" name="Rectangle 10"/>
          <p:cNvSpPr/>
          <p:nvPr/>
        </p:nvSpPr>
        <p:spPr>
          <a:xfrm>
            <a:off x="692293" y="3557722"/>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3</a:t>
            </a:r>
            <a:r>
              <a:rPr lang="en-US" altLang="en-US" b="1" i="1" dirty="0">
                <a:latin typeface="Arial" charset="0"/>
                <a:cs typeface="Arial" charset="0"/>
              </a:rPr>
              <a:t>(B</a:t>
            </a:r>
            <a:r>
              <a:rPr lang="en-US" altLang="en-US" b="1" i="1" baseline="-30000" dirty="0">
                <a:latin typeface="Arial" charset="0"/>
                <a:cs typeface="Arial" charset="0"/>
              </a:rPr>
              <a:t>3</a:t>
            </a:r>
            <a:r>
              <a:rPr lang="en-US" altLang="en-US" b="1" i="1" dirty="0">
                <a:latin typeface="Arial" charset="0"/>
                <a:cs typeface="Arial" charset="0"/>
              </a:rPr>
              <a:t>)</a:t>
            </a:r>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1978" y="4298123"/>
            <a:ext cx="6524625" cy="163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1717218" y="3557411"/>
            <a:ext cx="652743" cy="369332"/>
          </a:xfrm>
          <a:prstGeom prst="rect">
            <a:avLst/>
          </a:prstGeom>
        </p:spPr>
        <p:txBody>
          <a:bodyPr wrap="none">
            <a:spAutoFit/>
          </a:bodyPr>
          <a:lstStyle/>
          <a:p>
            <a:r>
              <a:rPr lang="en-IN" dirty="0"/>
              <a:t>1000</a:t>
            </a:r>
          </a:p>
        </p:txBody>
      </p:sp>
    </p:spTree>
    <p:extLst>
      <p:ext uri="{BB962C8B-B14F-4D97-AF65-F5344CB8AC3E}">
        <p14:creationId xmlns:p14="http://schemas.microsoft.com/office/powerpoint/2010/main" val="243789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2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1"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 – </a:t>
            </a:r>
            <a:r>
              <a:rPr lang="en-US" altLang="en-US" b="1" i="1" dirty="0">
                <a:latin typeface="Arial" charset="0"/>
                <a:cs typeface="Arial" charset="0"/>
              </a:rPr>
              <a:t>S</a:t>
            </a:r>
            <a:r>
              <a:rPr lang="en-US" altLang="en-US" b="1" i="1" baseline="-30000" dirty="0">
                <a:latin typeface="Arial" charset="0"/>
                <a:cs typeface="Arial" charset="0"/>
              </a:rPr>
              <a:t>4</a:t>
            </a:r>
            <a:r>
              <a:rPr lang="en-US" altLang="en-US" b="1" i="1" dirty="0">
                <a:latin typeface="Arial" charset="0"/>
                <a:cs typeface="Arial" charset="0"/>
              </a:rPr>
              <a:t>(B</a:t>
            </a:r>
            <a:r>
              <a:rPr lang="en-US" altLang="en-US" b="1" i="1" baseline="-30000" dirty="0">
                <a:latin typeface="Arial" charset="0"/>
                <a:cs typeface="Arial" charset="0"/>
              </a:rPr>
              <a:t>4</a:t>
            </a:r>
            <a:r>
              <a:rPr lang="en-US" altLang="en-US" b="1" i="1" dirty="0">
                <a:latin typeface="Arial" charset="0"/>
                <a:cs typeface="Arial" charset="0"/>
              </a:rPr>
              <a:t>)</a:t>
            </a:r>
            <a:endParaRPr lang="en-IN" dirty="0"/>
          </a:p>
        </p:txBody>
      </p:sp>
      <p:sp>
        <p:nvSpPr>
          <p:cNvPr id="4" name="Rectangle 3"/>
          <p:cNvSpPr/>
          <p:nvPr/>
        </p:nvSpPr>
        <p:spPr>
          <a:xfrm>
            <a:off x="438762" y="1219200"/>
            <a:ext cx="8248035" cy="400110"/>
          </a:xfrm>
          <a:prstGeom prst="rect">
            <a:avLst/>
          </a:prstGeom>
        </p:spPr>
        <p:txBody>
          <a:bodyPr wrap="square">
            <a:spAutoFit/>
          </a:bodyPr>
          <a:lstStyle/>
          <a:p>
            <a:r>
              <a:rPr lang="pt-BR" sz="2000" b="1" i="1" dirty="0"/>
              <a:t>K</a:t>
            </a:r>
            <a:r>
              <a:rPr lang="pt-BR" sz="2000" b="1" i="1" baseline="-25000" dirty="0"/>
              <a:t>1</a:t>
            </a:r>
            <a:r>
              <a:rPr lang="pt-BR" sz="2000" dirty="0"/>
              <a:t>+</a:t>
            </a:r>
            <a:r>
              <a:rPr lang="pt-BR" sz="2000" b="1" dirty="0"/>
              <a:t>E</a:t>
            </a:r>
            <a:r>
              <a:rPr lang="pt-BR" sz="2000" dirty="0"/>
              <a:t>(</a:t>
            </a:r>
            <a:r>
              <a:rPr lang="pt-BR" sz="2000" b="1" i="1" dirty="0"/>
              <a:t>R</a:t>
            </a:r>
            <a:r>
              <a:rPr lang="pt-BR" sz="2000" b="1" i="1" baseline="-25000" dirty="0"/>
              <a:t>0</a:t>
            </a:r>
            <a:r>
              <a:rPr lang="pt-BR" sz="2000" dirty="0"/>
              <a:t>) = 011000 010001 011110 111010 100001 100110 010100 100111. </a:t>
            </a:r>
            <a:endParaRPr lang="en-IN" sz="2000" dirty="0"/>
          </a:p>
        </p:txBody>
      </p:sp>
      <p:sp>
        <p:nvSpPr>
          <p:cNvPr id="6" name="Rectangle 5"/>
          <p:cNvSpPr/>
          <p:nvPr/>
        </p:nvSpPr>
        <p:spPr>
          <a:xfrm>
            <a:off x="438763" y="1643493"/>
            <a:ext cx="8019435" cy="400110"/>
          </a:xfrm>
          <a:prstGeom prst="rect">
            <a:avLst/>
          </a:prstGeom>
        </p:spPr>
        <p:txBody>
          <a:bodyPr wrap="square">
            <a:spAutoFit/>
          </a:bodyPr>
          <a:lstStyle/>
          <a:p>
            <a:r>
              <a:rPr lang="en-IN" sz="2000" b="1" i="1" dirty="0"/>
              <a:t>K1+ E(R0) =       B1       B2           B3        B4           B5           B6        B7         B8 </a:t>
            </a:r>
          </a:p>
        </p:txBody>
      </p:sp>
      <p:sp>
        <p:nvSpPr>
          <p:cNvPr id="7" name="Rectangle 1"/>
          <p:cNvSpPr>
            <a:spLocks noChangeArrowheads="1"/>
          </p:cNvSpPr>
          <p:nvPr/>
        </p:nvSpPr>
        <p:spPr bwMode="auto">
          <a:xfrm>
            <a:off x="438761" y="2105506"/>
            <a:ext cx="8248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We now calculate </a:t>
            </a:r>
          </a:p>
          <a:p>
            <a:pPr lvl="0" eaLnBrk="0" fontAlgn="base" hangingPunct="0">
              <a:spcBef>
                <a:spcPct val="0"/>
              </a:spcBef>
              <a:spcAft>
                <a:spcPct val="0"/>
              </a:spcAft>
            </a:pPr>
            <a:r>
              <a:rPr lang="en-US" altLang="en-US" b="1" i="1" dirty="0">
                <a:latin typeface="Arial" charset="0"/>
                <a:cs typeface="Arial" charset="0"/>
              </a:rPr>
              <a:t>S</a:t>
            </a:r>
            <a:r>
              <a:rPr lang="en-US" altLang="en-US" b="1" i="1" baseline="-30000" dirty="0">
                <a:latin typeface="Arial" charset="0"/>
                <a:cs typeface="Arial" charset="0"/>
              </a:rPr>
              <a:t>1</a:t>
            </a:r>
            <a:r>
              <a:rPr lang="en-US" altLang="en-US" b="1" i="1" dirty="0">
                <a:latin typeface="Arial" charset="0"/>
                <a:cs typeface="Arial" charset="0"/>
              </a:rPr>
              <a:t>(B</a:t>
            </a:r>
            <a:r>
              <a:rPr lang="en-US" altLang="en-US" b="1" i="1" baseline="-30000" dirty="0">
                <a:latin typeface="Arial" charset="0"/>
                <a:cs typeface="Arial" charset="0"/>
              </a:rPr>
              <a:t>1</a:t>
            </a:r>
            <a:r>
              <a:rPr lang="en-US" altLang="en-US" b="1" i="1" dirty="0">
                <a:latin typeface="Arial" charset="0"/>
                <a:cs typeface="Arial" charset="0"/>
              </a:rPr>
              <a:t>)</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a:t>
            </a:r>
            <a:r>
              <a:rPr kumimoji="0" lang="en-US" altLang="en-US" sz="1800" b="0" i="0" u="none" strike="noStrike" cap="none" normalizeH="0" baseline="0" dirty="0">
                <a:ln>
                  <a:noFill/>
                </a:ln>
                <a:solidFill>
                  <a:schemeClr val="tx1"/>
                </a:solidFill>
                <a:effectLst/>
                <a:latin typeface="Arial" charset="0"/>
                <a:cs typeface="Arial"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
        <p:nvSpPr>
          <p:cNvPr id="3" name="Rectangle 2"/>
          <p:cNvSpPr/>
          <p:nvPr/>
        </p:nvSpPr>
        <p:spPr>
          <a:xfrm>
            <a:off x="539894" y="3013776"/>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4</a:t>
            </a:r>
            <a:r>
              <a:rPr lang="en-US" altLang="en-US" b="1" i="1" dirty="0">
                <a:latin typeface="Arial" charset="0"/>
                <a:cs typeface="Arial" charset="0"/>
              </a:rPr>
              <a:t>(B</a:t>
            </a:r>
            <a:r>
              <a:rPr lang="en-US" altLang="en-US" b="1" i="1" baseline="-30000" dirty="0">
                <a:latin typeface="Arial" charset="0"/>
                <a:cs typeface="Arial" charset="0"/>
              </a:rPr>
              <a:t>4</a:t>
            </a:r>
            <a:r>
              <a:rPr lang="en-US" altLang="en-US" b="1" i="1" dirty="0">
                <a:latin typeface="Arial" charset="0"/>
                <a:cs typeface="Arial" charset="0"/>
              </a:rPr>
              <a:t>)</a:t>
            </a:r>
            <a:endParaRPr lang="en-IN" dirty="0"/>
          </a:p>
        </p:txBody>
      </p:sp>
      <p:sp>
        <p:nvSpPr>
          <p:cNvPr id="8" name="Rectangle 7"/>
          <p:cNvSpPr/>
          <p:nvPr/>
        </p:nvSpPr>
        <p:spPr>
          <a:xfrm>
            <a:off x="1600200" y="3028836"/>
            <a:ext cx="886781" cy="369332"/>
          </a:xfrm>
          <a:prstGeom prst="rect">
            <a:avLst/>
          </a:prstGeom>
        </p:spPr>
        <p:txBody>
          <a:bodyPr wrap="none">
            <a:spAutoFit/>
          </a:bodyPr>
          <a:lstStyle/>
          <a:p>
            <a:r>
              <a:rPr lang="pt-BR" dirty="0"/>
              <a:t>111010</a:t>
            </a:r>
            <a:endParaRPr lang="en-IN" dirty="0"/>
          </a:p>
        </p:txBody>
      </p:sp>
      <p:sp>
        <p:nvSpPr>
          <p:cNvPr id="11" name="Rectangle 10"/>
          <p:cNvSpPr/>
          <p:nvPr/>
        </p:nvSpPr>
        <p:spPr>
          <a:xfrm>
            <a:off x="692293" y="3557722"/>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4</a:t>
            </a:r>
            <a:r>
              <a:rPr lang="en-US" altLang="en-US" b="1" i="1" dirty="0">
                <a:latin typeface="Arial" charset="0"/>
                <a:cs typeface="Arial" charset="0"/>
              </a:rPr>
              <a:t>(B</a:t>
            </a:r>
            <a:r>
              <a:rPr lang="en-US" altLang="en-US" b="1" i="1" baseline="-30000" dirty="0">
                <a:latin typeface="Arial" charset="0"/>
                <a:cs typeface="Arial" charset="0"/>
              </a:rPr>
              <a:t>4</a:t>
            </a:r>
            <a:r>
              <a:rPr lang="en-US" altLang="en-US" b="1" i="1" dirty="0">
                <a:latin typeface="Arial" charset="0"/>
                <a:cs typeface="Arial" charset="0"/>
              </a:rPr>
              <a:t>)</a:t>
            </a:r>
            <a:endParaRPr lang="en-IN" dirty="0"/>
          </a:p>
        </p:txBody>
      </p:sp>
      <p:sp>
        <p:nvSpPr>
          <p:cNvPr id="5" name="Rectangle 4"/>
          <p:cNvSpPr/>
          <p:nvPr/>
        </p:nvSpPr>
        <p:spPr>
          <a:xfrm>
            <a:off x="1717218" y="3557411"/>
            <a:ext cx="652743" cy="369332"/>
          </a:xfrm>
          <a:prstGeom prst="rect">
            <a:avLst/>
          </a:prstGeom>
        </p:spPr>
        <p:txBody>
          <a:bodyPr wrap="none">
            <a:spAutoFit/>
          </a:bodyPr>
          <a:lstStyle/>
          <a:p>
            <a:r>
              <a:rPr lang="en-IN" dirty="0"/>
              <a:t>0010</a:t>
            </a:r>
          </a:p>
        </p:txBody>
      </p:sp>
      <p:pic>
        <p:nvPicPr>
          <p:cNvPr id="1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934" y="4191000"/>
            <a:ext cx="6486525" cy="197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308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1" grpId="0"/>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 – </a:t>
            </a:r>
            <a:r>
              <a:rPr lang="en-US" altLang="en-US" b="1" i="1" dirty="0">
                <a:latin typeface="Arial" charset="0"/>
                <a:cs typeface="Arial" charset="0"/>
              </a:rPr>
              <a:t>S</a:t>
            </a:r>
            <a:r>
              <a:rPr lang="en-US" altLang="en-US" b="1" i="1" baseline="-30000" dirty="0">
                <a:latin typeface="Arial" charset="0"/>
                <a:cs typeface="Arial" charset="0"/>
              </a:rPr>
              <a:t>5</a:t>
            </a:r>
            <a:r>
              <a:rPr lang="en-US" altLang="en-US" b="1" i="1" dirty="0">
                <a:latin typeface="Arial" charset="0"/>
                <a:cs typeface="Arial" charset="0"/>
              </a:rPr>
              <a:t>(B</a:t>
            </a:r>
            <a:r>
              <a:rPr lang="en-US" altLang="en-US" b="1" i="1" baseline="-30000" dirty="0">
                <a:latin typeface="Arial" charset="0"/>
                <a:cs typeface="Arial" charset="0"/>
              </a:rPr>
              <a:t>5</a:t>
            </a:r>
            <a:r>
              <a:rPr lang="en-US" altLang="en-US" b="1" i="1" dirty="0">
                <a:latin typeface="Arial" charset="0"/>
                <a:cs typeface="Arial" charset="0"/>
              </a:rPr>
              <a:t>)</a:t>
            </a:r>
            <a:endParaRPr lang="en-IN" dirty="0"/>
          </a:p>
        </p:txBody>
      </p:sp>
      <p:sp>
        <p:nvSpPr>
          <p:cNvPr id="4" name="Rectangle 3"/>
          <p:cNvSpPr/>
          <p:nvPr/>
        </p:nvSpPr>
        <p:spPr>
          <a:xfrm>
            <a:off x="438762" y="1219200"/>
            <a:ext cx="8248035" cy="400110"/>
          </a:xfrm>
          <a:prstGeom prst="rect">
            <a:avLst/>
          </a:prstGeom>
        </p:spPr>
        <p:txBody>
          <a:bodyPr wrap="square">
            <a:spAutoFit/>
          </a:bodyPr>
          <a:lstStyle/>
          <a:p>
            <a:r>
              <a:rPr lang="pt-BR" sz="2000" b="1" i="1" dirty="0"/>
              <a:t>K</a:t>
            </a:r>
            <a:r>
              <a:rPr lang="pt-BR" sz="2000" b="1" i="1" baseline="-25000" dirty="0"/>
              <a:t>1</a:t>
            </a:r>
            <a:r>
              <a:rPr lang="pt-BR" sz="2000" dirty="0"/>
              <a:t>+</a:t>
            </a:r>
            <a:r>
              <a:rPr lang="pt-BR" sz="2000" b="1" dirty="0"/>
              <a:t>E</a:t>
            </a:r>
            <a:r>
              <a:rPr lang="pt-BR" sz="2000" dirty="0"/>
              <a:t>(</a:t>
            </a:r>
            <a:r>
              <a:rPr lang="pt-BR" sz="2000" b="1" i="1" dirty="0"/>
              <a:t>R</a:t>
            </a:r>
            <a:r>
              <a:rPr lang="pt-BR" sz="2000" b="1" i="1" baseline="-25000" dirty="0"/>
              <a:t>0</a:t>
            </a:r>
            <a:r>
              <a:rPr lang="pt-BR" sz="2000" dirty="0"/>
              <a:t>) = 011000 010001 011110 111010 100001 100110 010100 100111. </a:t>
            </a:r>
            <a:endParaRPr lang="en-IN" sz="2000" dirty="0"/>
          </a:p>
        </p:txBody>
      </p:sp>
      <p:sp>
        <p:nvSpPr>
          <p:cNvPr id="6" name="Rectangle 5"/>
          <p:cNvSpPr/>
          <p:nvPr/>
        </p:nvSpPr>
        <p:spPr>
          <a:xfrm>
            <a:off x="438763" y="1643493"/>
            <a:ext cx="8019435" cy="400110"/>
          </a:xfrm>
          <a:prstGeom prst="rect">
            <a:avLst/>
          </a:prstGeom>
        </p:spPr>
        <p:txBody>
          <a:bodyPr wrap="square">
            <a:spAutoFit/>
          </a:bodyPr>
          <a:lstStyle/>
          <a:p>
            <a:r>
              <a:rPr lang="en-IN" sz="2000" b="1" i="1" dirty="0"/>
              <a:t>K1+ E(R0) =       B1       B2           B3        B4           B5           B6        B7         B8 </a:t>
            </a:r>
          </a:p>
        </p:txBody>
      </p:sp>
      <p:sp>
        <p:nvSpPr>
          <p:cNvPr id="7" name="Rectangle 1"/>
          <p:cNvSpPr>
            <a:spLocks noChangeArrowheads="1"/>
          </p:cNvSpPr>
          <p:nvPr/>
        </p:nvSpPr>
        <p:spPr bwMode="auto">
          <a:xfrm>
            <a:off x="438761" y="2105506"/>
            <a:ext cx="8248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We now calculate </a:t>
            </a:r>
          </a:p>
          <a:p>
            <a:pPr lvl="0" eaLnBrk="0" fontAlgn="base" hangingPunct="0">
              <a:spcBef>
                <a:spcPct val="0"/>
              </a:spcBef>
              <a:spcAft>
                <a:spcPct val="0"/>
              </a:spcAft>
            </a:pPr>
            <a:r>
              <a:rPr lang="en-US" altLang="en-US" b="1" i="1" dirty="0">
                <a:latin typeface="Arial" charset="0"/>
                <a:cs typeface="Arial" charset="0"/>
              </a:rPr>
              <a:t>S</a:t>
            </a:r>
            <a:r>
              <a:rPr lang="en-US" altLang="en-US" b="1" i="1" baseline="-30000" dirty="0">
                <a:latin typeface="Arial" charset="0"/>
                <a:cs typeface="Arial" charset="0"/>
              </a:rPr>
              <a:t>1</a:t>
            </a:r>
            <a:r>
              <a:rPr lang="en-US" altLang="en-US" b="1" i="1" dirty="0">
                <a:latin typeface="Arial" charset="0"/>
                <a:cs typeface="Arial" charset="0"/>
              </a:rPr>
              <a:t>(B</a:t>
            </a:r>
            <a:r>
              <a:rPr lang="en-US" altLang="en-US" b="1" i="1" baseline="-30000" dirty="0">
                <a:latin typeface="Arial" charset="0"/>
                <a:cs typeface="Arial" charset="0"/>
              </a:rPr>
              <a:t>1</a:t>
            </a:r>
            <a:r>
              <a:rPr lang="en-US" altLang="en-US" b="1" i="1" dirty="0">
                <a:latin typeface="Arial" charset="0"/>
                <a:cs typeface="Arial" charset="0"/>
              </a:rPr>
              <a:t>)</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a:t>
            </a:r>
            <a:r>
              <a:rPr kumimoji="0" lang="en-US" altLang="en-US" sz="1800" b="0" i="0" u="none" strike="noStrike" cap="none" normalizeH="0" baseline="0" dirty="0">
                <a:ln>
                  <a:noFill/>
                </a:ln>
                <a:solidFill>
                  <a:schemeClr val="tx1"/>
                </a:solidFill>
                <a:effectLst/>
                <a:latin typeface="Arial" charset="0"/>
                <a:cs typeface="Arial"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
        <p:nvSpPr>
          <p:cNvPr id="3" name="Rectangle 2"/>
          <p:cNvSpPr/>
          <p:nvPr/>
        </p:nvSpPr>
        <p:spPr>
          <a:xfrm>
            <a:off x="539894" y="3013776"/>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5</a:t>
            </a:r>
            <a:r>
              <a:rPr lang="en-US" altLang="en-US" b="1" i="1" dirty="0">
                <a:latin typeface="Arial" charset="0"/>
                <a:cs typeface="Arial" charset="0"/>
              </a:rPr>
              <a:t>(B</a:t>
            </a:r>
            <a:r>
              <a:rPr lang="en-US" altLang="en-US" b="1" i="1" baseline="-30000" dirty="0">
                <a:latin typeface="Arial" charset="0"/>
                <a:cs typeface="Arial" charset="0"/>
              </a:rPr>
              <a:t>5</a:t>
            </a:r>
            <a:r>
              <a:rPr lang="en-US" altLang="en-US" b="1" i="1" dirty="0">
                <a:latin typeface="Arial" charset="0"/>
                <a:cs typeface="Arial" charset="0"/>
              </a:rPr>
              <a:t>)</a:t>
            </a:r>
            <a:endParaRPr lang="en-IN" dirty="0"/>
          </a:p>
        </p:txBody>
      </p:sp>
      <p:sp>
        <p:nvSpPr>
          <p:cNvPr id="8" name="Rectangle 7"/>
          <p:cNvSpPr/>
          <p:nvPr/>
        </p:nvSpPr>
        <p:spPr>
          <a:xfrm>
            <a:off x="1600200" y="3028836"/>
            <a:ext cx="886781" cy="369332"/>
          </a:xfrm>
          <a:prstGeom prst="rect">
            <a:avLst/>
          </a:prstGeom>
        </p:spPr>
        <p:txBody>
          <a:bodyPr wrap="none">
            <a:spAutoFit/>
          </a:bodyPr>
          <a:lstStyle/>
          <a:p>
            <a:r>
              <a:rPr lang="pt-BR" dirty="0"/>
              <a:t>100001</a:t>
            </a:r>
            <a:endParaRPr lang="en-IN" dirty="0"/>
          </a:p>
        </p:txBody>
      </p:sp>
      <p:sp>
        <p:nvSpPr>
          <p:cNvPr id="11" name="Rectangle 10"/>
          <p:cNvSpPr/>
          <p:nvPr/>
        </p:nvSpPr>
        <p:spPr>
          <a:xfrm>
            <a:off x="692293" y="3557722"/>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5</a:t>
            </a:r>
            <a:r>
              <a:rPr lang="en-US" altLang="en-US" b="1" i="1" dirty="0">
                <a:latin typeface="Arial" charset="0"/>
                <a:cs typeface="Arial" charset="0"/>
              </a:rPr>
              <a:t>(B</a:t>
            </a:r>
            <a:r>
              <a:rPr lang="en-US" altLang="en-US" b="1" i="1" baseline="-30000" dirty="0">
                <a:latin typeface="Arial" charset="0"/>
                <a:cs typeface="Arial" charset="0"/>
              </a:rPr>
              <a:t>5</a:t>
            </a:r>
            <a:r>
              <a:rPr lang="en-US" altLang="en-US" b="1" i="1" dirty="0">
                <a:latin typeface="Arial" charset="0"/>
                <a:cs typeface="Arial" charset="0"/>
              </a:rPr>
              <a:t>)</a:t>
            </a:r>
            <a:endParaRPr lang="en-IN" dirty="0"/>
          </a:p>
        </p:txBody>
      </p:sp>
      <p:sp>
        <p:nvSpPr>
          <p:cNvPr id="5" name="Rectangle 4"/>
          <p:cNvSpPr/>
          <p:nvPr/>
        </p:nvSpPr>
        <p:spPr>
          <a:xfrm>
            <a:off x="1717218" y="3557411"/>
            <a:ext cx="652743" cy="369332"/>
          </a:xfrm>
          <a:prstGeom prst="rect">
            <a:avLst/>
          </a:prstGeom>
        </p:spPr>
        <p:txBody>
          <a:bodyPr wrap="none">
            <a:spAutoFit/>
          </a:bodyPr>
          <a:lstStyle/>
          <a:p>
            <a:r>
              <a:rPr lang="en-IN" dirty="0"/>
              <a:t>1011</a:t>
            </a:r>
          </a:p>
        </p:txBody>
      </p:sp>
      <p:pic>
        <p:nvPicPr>
          <p:cNvPr id="102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450" y="4191000"/>
            <a:ext cx="6515100" cy="166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84147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 – </a:t>
            </a:r>
            <a:r>
              <a:rPr lang="en-US" altLang="en-US" b="1" i="1" dirty="0">
                <a:latin typeface="Arial" charset="0"/>
                <a:cs typeface="Arial" charset="0"/>
              </a:rPr>
              <a:t>S</a:t>
            </a:r>
            <a:r>
              <a:rPr lang="en-US" altLang="en-US" b="1" i="1" baseline="-30000" dirty="0">
                <a:latin typeface="Arial" charset="0"/>
                <a:cs typeface="Arial" charset="0"/>
              </a:rPr>
              <a:t>6</a:t>
            </a:r>
            <a:r>
              <a:rPr lang="en-US" altLang="en-US" b="1" i="1" dirty="0">
                <a:latin typeface="Arial" charset="0"/>
                <a:cs typeface="Arial" charset="0"/>
              </a:rPr>
              <a:t>(B</a:t>
            </a:r>
            <a:r>
              <a:rPr lang="en-US" altLang="en-US" b="1" i="1" baseline="-30000" dirty="0">
                <a:latin typeface="Arial" charset="0"/>
                <a:cs typeface="Arial" charset="0"/>
              </a:rPr>
              <a:t>6</a:t>
            </a:r>
            <a:r>
              <a:rPr lang="en-US" altLang="en-US" b="1" i="1" dirty="0">
                <a:latin typeface="Arial" charset="0"/>
                <a:cs typeface="Arial" charset="0"/>
              </a:rPr>
              <a:t>)</a:t>
            </a:r>
            <a:endParaRPr lang="en-IN" dirty="0"/>
          </a:p>
        </p:txBody>
      </p:sp>
      <p:sp>
        <p:nvSpPr>
          <p:cNvPr id="4" name="Rectangle 3"/>
          <p:cNvSpPr/>
          <p:nvPr/>
        </p:nvSpPr>
        <p:spPr>
          <a:xfrm>
            <a:off x="438762" y="1219200"/>
            <a:ext cx="8248035" cy="400110"/>
          </a:xfrm>
          <a:prstGeom prst="rect">
            <a:avLst/>
          </a:prstGeom>
        </p:spPr>
        <p:txBody>
          <a:bodyPr wrap="square">
            <a:spAutoFit/>
          </a:bodyPr>
          <a:lstStyle/>
          <a:p>
            <a:r>
              <a:rPr lang="pt-BR" sz="2000" b="1" i="1" dirty="0"/>
              <a:t>K</a:t>
            </a:r>
            <a:r>
              <a:rPr lang="pt-BR" sz="2000" b="1" i="1" baseline="-25000" dirty="0"/>
              <a:t>1</a:t>
            </a:r>
            <a:r>
              <a:rPr lang="pt-BR" sz="2000" dirty="0"/>
              <a:t>+</a:t>
            </a:r>
            <a:r>
              <a:rPr lang="pt-BR" sz="2000" b="1" dirty="0"/>
              <a:t>E</a:t>
            </a:r>
            <a:r>
              <a:rPr lang="pt-BR" sz="2000" dirty="0"/>
              <a:t>(</a:t>
            </a:r>
            <a:r>
              <a:rPr lang="pt-BR" sz="2000" b="1" i="1" dirty="0"/>
              <a:t>R</a:t>
            </a:r>
            <a:r>
              <a:rPr lang="pt-BR" sz="2000" b="1" i="1" baseline="-25000" dirty="0"/>
              <a:t>0</a:t>
            </a:r>
            <a:r>
              <a:rPr lang="pt-BR" sz="2000" dirty="0"/>
              <a:t>) = 011000 010001 011110 111010 100001 100110 010100 100111. </a:t>
            </a:r>
            <a:endParaRPr lang="en-IN" sz="2000" dirty="0"/>
          </a:p>
        </p:txBody>
      </p:sp>
      <p:sp>
        <p:nvSpPr>
          <p:cNvPr id="6" name="Rectangle 5"/>
          <p:cNvSpPr/>
          <p:nvPr/>
        </p:nvSpPr>
        <p:spPr>
          <a:xfrm>
            <a:off x="438763" y="1643493"/>
            <a:ext cx="8019435" cy="400110"/>
          </a:xfrm>
          <a:prstGeom prst="rect">
            <a:avLst/>
          </a:prstGeom>
        </p:spPr>
        <p:txBody>
          <a:bodyPr wrap="square">
            <a:spAutoFit/>
          </a:bodyPr>
          <a:lstStyle/>
          <a:p>
            <a:r>
              <a:rPr lang="en-IN" sz="2000" b="1" i="1" dirty="0"/>
              <a:t>K1+ E(R0) =       B1       B2           B3        B4           B5           B6        B7         B8 </a:t>
            </a:r>
          </a:p>
        </p:txBody>
      </p:sp>
      <p:sp>
        <p:nvSpPr>
          <p:cNvPr id="7" name="Rectangle 1"/>
          <p:cNvSpPr>
            <a:spLocks noChangeArrowheads="1"/>
          </p:cNvSpPr>
          <p:nvPr/>
        </p:nvSpPr>
        <p:spPr bwMode="auto">
          <a:xfrm>
            <a:off x="438761" y="2105506"/>
            <a:ext cx="8248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We now calculate </a:t>
            </a:r>
          </a:p>
          <a:p>
            <a:pPr lvl="0" eaLnBrk="0" fontAlgn="base" hangingPunct="0">
              <a:spcBef>
                <a:spcPct val="0"/>
              </a:spcBef>
              <a:spcAft>
                <a:spcPct val="0"/>
              </a:spcAft>
            </a:pPr>
            <a:r>
              <a:rPr lang="en-US" altLang="en-US" b="1" i="1" dirty="0">
                <a:latin typeface="Arial" charset="0"/>
                <a:cs typeface="Arial" charset="0"/>
              </a:rPr>
              <a:t>S</a:t>
            </a:r>
            <a:r>
              <a:rPr lang="en-US" altLang="en-US" b="1" i="1" baseline="-30000" dirty="0">
                <a:latin typeface="Arial" charset="0"/>
                <a:cs typeface="Arial" charset="0"/>
              </a:rPr>
              <a:t>1</a:t>
            </a:r>
            <a:r>
              <a:rPr lang="en-US" altLang="en-US" b="1" i="1" dirty="0">
                <a:latin typeface="Arial" charset="0"/>
                <a:cs typeface="Arial" charset="0"/>
              </a:rPr>
              <a:t>(B</a:t>
            </a:r>
            <a:r>
              <a:rPr lang="en-US" altLang="en-US" b="1" i="1" baseline="-30000" dirty="0">
                <a:latin typeface="Arial" charset="0"/>
                <a:cs typeface="Arial" charset="0"/>
              </a:rPr>
              <a:t>1</a:t>
            </a:r>
            <a:r>
              <a:rPr lang="en-US" altLang="en-US" b="1" i="1" dirty="0">
                <a:latin typeface="Arial" charset="0"/>
                <a:cs typeface="Arial" charset="0"/>
              </a:rPr>
              <a:t>)</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a:t>
            </a:r>
            <a:r>
              <a:rPr kumimoji="0" lang="en-US" altLang="en-US" sz="1800" b="0" i="0" u="none" strike="noStrike" cap="none" normalizeH="0" baseline="0" dirty="0">
                <a:ln>
                  <a:noFill/>
                </a:ln>
                <a:solidFill>
                  <a:schemeClr val="tx1"/>
                </a:solidFill>
                <a:effectLst/>
                <a:latin typeface="Arial" charset="0"/>
                <a:cs typeface="Arial"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
        <p:nvSpPr>
          <p:cNvPr id="3" name="Rectangle 2"/>
          <p:cNvSpPr/>
          <p:nvPr/>
        </p:nvSpPr>
        <p:spPr>
          <a:xfrm>
            <a:off x="539894" y="3013776"/>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6</a:t>
            </a:r>
            <a:r>
              <a:rPr lang="en-US" altLang="en-US" b="1" i="1" dirty="0">
                <a:latin typeface="Arial" charset="0"/>
                <a:cs typeface="Arial" charset="0"/>
              </a:rPr>
              <a:t>(B</a:t>
            </a:r>
            <a:r>
              <a:rPr lang="en-US" altLang="en-US" b="1" i="1" baseline="-30000" dirty="0">
                <a:latin typeface="Arial" charset="0"/>
                <a:cs typeface="Arial" charset="0"/>
              </a:rPr>
              <a:t>6</a:t>
            </a:r>
            <a:r>
              <a:rPr lang="en-US" altLang="en-US" b="1" i="1" dirty="0">
                <a:latin typeface="Arial" charset="0"/>
                <a:cs typeface="Arial" charset="0"/>
              </a:rPr>
              <a:t>)</a:t>
            </a:r>
            <a:endParaRPr lang="en-IN" dirty="0"/>
          </a:p>
        </p:txBody>
      </p:sp>
      <p:sp>
        <p:nvSpPr>
          <p:cNvPr id="8" name="Rectangle 7"/>
          <p:cNvSpPr/>
          <p:nvPr/>
        </p:nvSpPr>
        <p:spPr>
          <a:xfrm>
            <a:off x="1600200" y="3028836"/>
            <a:ext cx="886781" cy="369332"/>
          </a:xfrm>
          <a:prstGeom prst="rect">
            <a:avLst/>
          </a:prstGeom>
        </p:spPr>
        <p:txBody>
          <a:bodyPr wrap="none">
            <a:spAutoFit/>
          </a:bodyPr>
          <a:lstStyle/>
          <a:p>
            <a:r>
              <a:rPr lang="pt-BR" dirty="0"/>
              <a:t>100110</a:t>
            </a:r>
            <a:endParaRPr lang="en-IN" dirty="0"/>
          </a:p>
        </p:txBody>
      </p:sp>
      <p:sp>
        <p:nvSpPr>
          <p:cNvPr id="11" name="Rectangle 10"/>
          <p:cNvSpPr/>
          <p:nvPr/>
        </p:nvSpPr>
        <p:spPr>
          <a:xfrm>
            <a:off x="692293" y="3557722"/>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6</a:t>
            </a:r>
            <a:r>
              <a:rPr lang="en-US" altLang="en-US" b="1" i="1" dirty="0">
                <a:latin typeface="Arial" charset="0"/>
                <a:cs typeface="Arial" charset="0"/>
              </a:rPr>
              <a:t>(B</a:t>
            </a:r>
            <a:r>
              <a:rPr lang="en-US" altLang="en-US" b="1" i="1" baseline="-30000" dirty="0">
                <a:latin typeface="Arial" charset="0"/>
                <a:cs typeface="Arial" charset="0"/>
              </a:rPr>
              <a:t>6</a:t>
            </a:r>
            <a:r>
              <a:rPr lang="en-US" altLang="en-US" b="1" i="1" dirty="0">
                <a:latin typeface="Arial" charset="0"/>
                <a:cs typeface="Arial" charset="0"/>
              </a:rPr>
              <a:t>)</a:t>
            </a:r>
            <a:endParaRPr lang="en-IN" dirty="0"/>
          </a:p>
        </p:txBody>
      </p:sp>
      <p:sp>
        <p:nvSpPr>
          <p:cNvPr id="5" name="Rectangle 4"/>
          <p:cNvSpPr/>
          <p:nvPr/>
        </p:nvSpPr>
        <p:spPr>
          <a:xfrm>
            <a:off x="1717218" y="3557411"/>
            <a:ext cx="652743" cy="369332"/>
          </a:xfrm>
          <a:prstGeom prst="rect">
            <a:avLst/>
          </a:prstGeom>
        </p:spPr>
        <p:txBody>
          <a:bodyPr wrap="none">
            <a:spAutoFit/>
          </a:bodyPr>
          <a:lstStyle/>
          <a:p>
            <a:r>
              <a:rPr lang="en-IN" dirty="0"/>
              <a:t>0101</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6830" y="4244561"/>
            <a:ext cx="6594438" cy="16799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455981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 – </a:t>
            </a:r>
            <a:r>
              <a:rPr lang="en-US" altLang="en-US" b="1" i="1" dirty="0">
                <a:latin typeface="Arial" charset="0"/>
                <a:cs typeface="Arial" charset="0"/>
              </a:rPr>
              <a:t>S</a:t>
            </a:r>
            <a:r>
              <a:rPr lang="en-US" altLang="en-US" b="1" i="1" baseline="-30000" dirty="0">
                <a:latin typeface="Arial" charset="0"/>
                <a:cs typeface="Arial" charset="0"/>
              </a:rPr>
              <a:t>7</a:t>
            </a:r>
            <a:r>
              <a:rPr lang="en-US" altLang="en-US" b="1" i="1" dirty="0">
                <a:latin typeface="Arial" charset="0"/>
                <a:cs typeface="Arial" charset="0"/>
              </a:rPr>
              <a:t>(B</a:t>
            </a:r>
            <a:r>
              <a:rPr lang="en-US" altLang="en-US" b="1" i="1" baseline="-30000" dirty="0">
                <a:latin typeface="Arial" charset="0"/>
                <a:cs typeface="Arial" charset="0"/>
              </a:rPr>
              <a:t>7</a:t>
            </a:r>
            <a:r>
              <a:rPr lang="en-US" altLang="en-US" b="1" i="1" dirty="0">
                <a:latin typeface="Arial" charset="0"/>
                <a:cs typeface="Arial" charset="0"/>
              </a:rPr>
              <a:t>)</a:t>
            </a:r>
            <a:endParaRPr lang="en-IN" dirty="0"/>
          </a:p>
        </p:txBody>
      </p:sp>
      <p:sp>
        <p:nvSpPr>
          <p:cNvPr id="4" name="Rectangle 3"/>
          <p:cNvSpPr/>
          <p:nvPr/>
        </p:nvSpPr>
        <p:spPr>
          <a:xfrm>
            <a:off x="438762" y="1219200"/>
            <a:ext cx="8248035" cy="400110"/>
          </a:xfrm>
          <a:prstGeom prst="rect">
            <a:avLst/>
          </a:prstGeom>
        </p:spPr>
        <p:txBody>
          <a:bodyPr wrap="square">
            <a:spAutoFit/>
          </a:bodyPr>
          <a:lstStyle/>
          <a:p>
            <a:r>
              <a:rPr lang="pt-BR" sz="2000" b="1" i="1" dirty="0"/>
              <a:t>K</a:t>
            </a:r>
            <a:r>
              <a:rPr lang="pt-BR" sz="2000" b="1" i="1" baseline="-25000" dirty="0"/>
              <a:t>1</a:t>
            </a:r>
            <a:r>
              <a:rPr lang="pt-BR" sz="2000" dirty="0"/>
              <a:t>+</a:t>
            </a:r>
            <a:r>
              <a:rPr lang="pt-BR" sz="2000" b="1" dirty="0"/>
              <a:t>E</a:t>
            </a:r>
            <a:r>
              <a:rPr lang="pt-BR" sz="2000" dirty="0"/>
              <a:t>(</a:t>
            </a:r>
            <a:r>
              <a:rPr lang="pt-BR" sz="2000" b="1" i="1" dirty="0"/>
              <a:t>R</a:t>
            </a:r>
            <a:r>
              <a:rPr lang="pt-BR" sz="2000" b="1" i="1" baseline="-25000" dirty="0"/>
              <a:t>0</a:t>
            </a:r>
            <a:r>
              <a:rPr lang="pt-BR" sz="2000" dirty="0"/>
              <a:t>) = 011000 010001 011110 111010 100001 100110 010100 100111. </a:t>
            </a:r>
            <a:endParaRPr lang="en-IN" sz="2000" dirty="0"/>
          </a:p>
        </p:txBody>
      </p:sp>
      <p:sp>
        <p:nvSpPr>
          <p:cNvPr id="6" name="Rectangle 5"/>
          <p:cNvSpPr/>
          <p:nvPr/>
        </p:nvSpPr>
        <p:spPr>
          <a:xfrm>
            <a:off x="438763" y="1643493"/>
            <a:ext cx="8019435" cy="400110"/>
          </a:xfrm>
          <a:prstGeom prst="rect">
            <a:avLst/>
          </a:prstGeom>
        </p:spPr>
        <p:txBody>
          <a:bodyPr wrap="square">
            <a:spAutoFit/>
          </a:bodyPr>
          <a:lstStyle/>
          <a:p>
            <a:r>
              <a:rPr lang="en-IN" sz="2000" b="1" i="1" dirty="0"/>
              <a:t>K1+ E(R0) =       B1       B2           B3        B4           B5           B6        B7         B8 </a:t>
            </a:r>
          </a:p>
        </p:txBody>
      </p:sp>
      <p:sp>
        <p:nvSpPr>
          <p:cNvPr id="7" name="Rectangle 1"/>
          <p:cNvSpPr>
            <a:spLocks noChangeArrowheads="1"/>
          </p:cNvSpPr>
          <p:nvPr/>
        </p:nvSpPr>
        <p:spPr bwMode="auto">
          <a:xfrm>
            <a:off x="438761" y="2105506"/>
            <a:ext cx="8248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We now calculate </a:t>
            </a:r>
          </a:p>
          <a:p>
            <a:pPr lvl="0" eaLnBrk="0" fontAlgn="base" hangingPunct="0">
              <a:spcBef>
                <a:spcPct val="0"/>
              </a:spcBef>
              <a:spcAft>
                <a:spcPct val="0"/>
              </a:spcAft>
            </a:pPr>
            <a:r>
              <a:rPr lang="en-US" altLang="en-US" b="1" i="1" dirty="0">
                <a:latin typeface="Arial" charset="0"/>
                <a:cs typeface="Arial" charset="0"/>
              </a:rPr>
              <a:t>S</a:t>
            </a:r>
            <a:r>
              <a:rPr lang="en-US" altLang="en-US" b="1" i="1" baseline="-30000" dirty="0">
                <a:latin typeface="Arial" charset="0"/>
                <a:cs typeface="Arial" charset="0"/>
              </a:rPr>
              <a:t>1</a:t>
            </a:r>
            <a:r>
              <a:rPr lang="en-US" altLang="en-US" b="1" i="1" dirty="0">
                <a:latin typeface="Arial" charset="0"/>
                <a:cs typeface="Arial" charset="0"/>
              </a:rPr>
              <a:t>(B</a:t>
            </a:r>
            <a:r>
              <a:rPr lang="en-US" altLang="en-US" b="1" i="1" baseline="-30000" dirty="0">
                <a:latin typeface="Arial" charset="0"/>
                <a:cs typeface="Arial" charset="0"/>
              </a:rPr>
              <a:t>1</a:t>
            </a:r>
            <a:r>
              <a:rPr lang="en-US" altLang="en-US" b="1" i="1" dirty="0">
                <a:latin typeface="Arial" charset="0"/>
                <a:cs typeface="Arial" charset="0"/>
              </a:rPr>
              <a:t>)</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a:t>
            </a:r>
            <a:r>
              <a:rPr kumimoji="0" lang="en-US" altLang="en-US" sz="1800" b="0" i="0" u="none" strike="noStrike" cap="none" normalizeH="0" baseline="0" dirty="0">
                <a:ln>
                  <a:noFill/>
                </a:ln>
                <a:solidFill>
                  <a:schemeClr val="tx1"/>
                </a:solidFill>
                <a:effectLst/>
                <a:latin typeface="Arial" charset="0"/>
                <a:cs typeface="Arial"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
        <p:nvSpPr>
          <p:cNvPr id="3" name="Rectangle 2"/>
          <p:cNvSpPr/>
          <p:nvPr/>
        </p:nvSpPr>
        <p:spPr>
          <a:xfrm>
            <a:off x="539894" y="3013776"/>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7</a:t>
            </a:r>
            <a:r>
              <a:rPr lang="en-US" altLang="en-US" b="1" i="1" dirty="0">
                <a:latin typeface="Arial" charset="0"/>
                <a:cs typeface="Arial" charset="0"/>
              </a:rPr>
              <a:t>(B</a:t>
            </a:r>
            <a:r>
              <a:rPr lang="en-US" altLang="en-US" b="1" i="1" baseline="-30000" dirty="0">
                <a:latin typeface="Arial" charset="0"/>
                <a:cs typeface="Arial" charset="0"/>
              </a:rPr>
              <a:t>7</a:t>
            </a:r>
            <a:r>
              <a:rPr lang="en-US" altLang="en-US" b="1" i="1" dirty="0">
                <a:latin typeface="Arial" charset="0"/>
                <a:cs typeface="Arial" charset="0"/>
              </a:rPr>
              <a:t>)</a:t>
            </a:r>
            <a:endParaRPr lang="en-IN" dirty="0"/>
          </a:p>
        </p:txBody>
      </p:sp>
      <p:sp>
        <p:nvSpPr>
          <p:cNvPr id="8" name="Rectangle 7"/>
          <p:cNvSpPr/>
          <p:nvPr/>
        </p:nvSpPr>
        <p:spPr>
          <a:xfrm>
            <a:off x="1600200" y="3028836"/>
            <a:ext cx="886781" cy="369332"/>
          </a:xfrm>
          <a:prstGeom prst="rect">
            <a:avLst/>
          </a:prstGeom>
        </p:spPr>
        <p:txBody>
          <a:bodyPr wrap="none">
            <a:spAutoFit/>
          </a:bodyPr>
          <a:lstStyle/>
          <a:p>
            <a:r>
              <a:rPr lang="pt-BR" dirty="0"/>
              <a:t>010100</a:t>
            </a:r>
            <a:endParaRPr lang="en-IN" dirty="0"/>
          </a:p>
        </p:txBody>
      </p:sp>
      <p:sp>
        <p:nvSpPr>
          <p:cNvPr id="11" name="Rectangle 10"/>
          <p:cNvSpPr/>
          <p:nvPr/>
        </p:nvSpPr>
        <p:spPr>
          <a:xfrm>
            <a:off x="692293" y="3557722"/>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7</a:t>
            </a:r>
            <a:r>
              <a:rPr lang="en-US" altLang="en-US" b="1" i="1" dirty="0">
                <a:latin typeface="Arial" charset="0"/>
                <a:cs typeface="Arial" charset="0"/>
              </a:rPr>
              <a:t>(B</a:t>
            </a:r>
            <a:r>
              <a:rPr lang="en-US" altLang="en-US" b="1" i="1" baseline="-30000" dirty="0">
                <a:latin typeface="Arial" charset="0"/>
                <a:cs typeface="Arial" charset="0"/>
              </a:rPr>
              <a:t>7</a:t>
            </a:r>
            <a:r>
              <a:rPr lang="en-US" altLang="en-US" b="1" i="1" dirty="0">
                <a:latin typeface="Arial" charset="0"/>
                <a:cs typeface="Arial" charset="0"/>
              </a:rPr>
              <a:t>)</a:t>
            </a:r>
            <a:endParaRPr lang="en-IN" dirty="0"/>
          </a:p>
        </p:txBody>
      </p:sp>
      <p:sp>
        <p:nvSpPr>
          <p:cNvPr id="5" name="Rectangle 4"/>
          <p:cNvSpPr/>
          <p:nvPr/>
        </p:nvSpPr>
        <p:spPr>
          <a:xfrm>
            <a:off x="1717218" y="3557411"/>
            <a:ext cx="652743" cy="369332"/>
          </a:xfrm>
          <a:prstGeom prst="rect">
            <a:avLst/>
          </a:prstGeom>
        </p:spPr>
        <p:txBody>
          <a:bodyPr wrap="none">
            <a:spAutoFit/>
          </a:bodyPr>
          <a:lstStyle/>
          <a:p>
            <a:r>
              <a:rPr lang="en-IN" dirty="0"/>
              <a:t>1001</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6829" y="4114800"/>
            <a:ext cx="6381750"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23487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 – </a:t>
            </a:r>
            <a:r>
              <a:rPr lang="en-US" altLang="en-US" b="1" i="1" dirty="0">
                <a:latin typeface="Arial" charset="0"/>
                <a:cs typeface="Arial" charset="0"/>
              </a:rPr>
              <a:t>S</a:t>
            </a:r>
            <a:r>
              <a:rPr lang="en-US" altLang="en-US" b="1" i="1" baseline="-30000" dirty="0">
                <a:latin typeface="Arial" charset="0"/>
                <a:cs typeface="Arial" charset="0"/>
              </a:rPr>
              <a:t>8</a:t>
            </a:r>
            <a:r>
              <a:rPr lang="en-US" altLang="en-US" b="1" i="1" dirty="0">
                <a:latin typeface="Arial" charset="0"/>
                <a:cs typeface="Arial" charset="0"/>
              </a:rPr>
              <a:t>(B</a:t>
            </a:r>
            <a:r>
              <a:rPr lang="en-US" altLang="en-US" b="1" i="1" baseline="-30000" dirty="0">
                <a:latin typeface="Arial" charset="0"/>
                <a:cs typeface="Arial" charset="0"/>
              </a:rPr>
              <a:t>8</a:t>
            </a:r>
            <a:r>
              <a:rPr lang="en-US" altLang="en-US" b="1" i="1" dirty="0">
                <a:latin typeface="Arial" charset="0"/>
                <a:cs typeface="Arial" charset="0"/>
              </a:rPr>
              <a:t>)</a:t>
            </a:r>
            <a:endParaRPr lang="en-IN" dirty="0"/>
          </a:p>
        </p:txBody>
      </p:sp>
      <p:sp>
        <p:nvSpPr>
          <p:cNvPr id="4" name="Rectangle 3"/>
          <p:cNvSpPr/>
          <p:nvPr/>
        </p:nvSpPr>
        <p:spPr>
          <a:xfrm>
            <a:off x="438762" y="1219200"/>
            <a:ext cx="8248035" cy="400110"/>
          </a:xfrm>
          <a:prstGeom prst="rect">
            <a:avLst/>
          </a:prstGeom>
        </p:spPr>
        <p:txBody>
          <a:bodyPr wrap="square">
            <a:spAutoFit/>
          </a:bodyPr>
          <a:lstStyle/>
          <a:p>
            <a:r>
              <a:rPr lang="pt-BR" sz="2000" b="1" i="1" dirty="0"/>
              <a:t>K</a:t>
            </a:r>
            <a:r>
              <a:rPr lang="pt-BR" sz="2000" b="1" i="1" baseline="-25000" dirty="0"/>
              <a:t>1</a:t>
            </a:r>
            <a:r>
              <a:rPr lang="pt-BR" sz="2000" dirty="0"/>
              <a:t>+</a:t>
            </a:r>
            <a:r>
              <a:rPr lang="pt-BR" sz="2000" b="1" dirty="0"/>
              <a:t>E</a:t>
            </a:r>
            <a:r>
              <a:rPr lang="pt-BR" sz="2000" dirty="0"/>
              <a:t>(</a:t>
            </a:r>
            <a:r>
              <a:rPr lang="pt-BR" sz="2000" b="1" i="1" dirty="0"/>
              <a:t>R</a:t>
            </a:r>
            <a:r>
              <a:rPr lang="pt-BR" sz="2000" b="1" i="1" baseline="-25000" dirty="0"/>
              <a:t>0</a:t>
            </a:r>
            <a:r>
              <a:rPr lang="pt-BR" sz="2000" dirty="0"/>
              <a:t>) = 011000 010001 011110 111010 100001 100110 010100 100111. </a:t>
            </a:r>
            <a:endParaRPr lang="en-IN" sz="2000" dirty="0"/>
          </a:p>
        </p:txBody>
      </p:sp>
      <p:sp>
        <p:nvSpPr>
          <p:cNvPr id="6" name="Rectangle 5"/>
          <p:cNvSpPr/>
          <p:nvPr/>
        </p:nvSpPr>
        <p:spPr>
          <a:xfrm>
            <a:off x="438763" y="1643493"/>
            <a:ext cx="8019435" cy="400110"/>
          </a:xfrm>
          <a:prstGeom prst="rect">
            <a:avLst/>
          </a:prstGeom>
        </p:spPr>
        <p:txBody>
          <a:bodyPr wrap="square">
            <a:spAutoFit/>
          </a:bodyPr>
          <a:lstStyle/>
          <a:p>
            <a:r>
              <a:rPr lang="en-IN" sz="2000" b="1" i="1" dirty="0"/>
              <a:t>K1+ E(R0) =       B1       B2           B3        B4           B5           B6        B7         B8 </a:t>
            </a:r>
          </a:p>
        </p:txBody>
      </p:sp>
      <p:sp>
        <p:nvSpPr>
          <p:cNvPr id="7" name="Rectangle 1"/>
          <p:cNvSpPr>
            <a:spLocks noChangeArrowheads="1"/>
          </p:cNvSpPr>
          <p:nvPr/>
        </p:nvSpPr>
        <p:spPr bwMode="auto">
          <a:xfrm>
            <a:off x="438761" y="2105506"/>
            <a:ext cx="8248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We now calculate </a:t>
            </a:r>
          </a:p>
          <a:p>
            <a:pPr lvl="0" eaLnBrk="0" fontAlgn="base" hangingPunct="0">
              <a:spcBef>
                <a:spcPct val="0"/>
              </a:spcBef>
              <a:spcAft>
                <a:spcPct val="0"/>
              </a:spcAft>
            </a:pPr>
            <a:r>
              <a:rPr lang="en-US" altLang="en-US" b="1" i="1" dirty="0">
                <a:latin typeface="Arial" charset="0"/>
                <a:cs typeface="Arial" charset="0"/>
              </a:rPr>
              <a:t>S</a:t>
            </a:r>
            <a:r>
              <a:rPr lang="en-US" altLang="en-US" b="1" i="1" baseline="-30000" dirty="0">
                <a:latin typeface="Arial" charset="0"/>
                <a:cs typeface="Arial" charset="0"/>
              </a:rPr>
              <a:t>1</a:t>
            </a:r>
            <a:r>
              <a:rPr lang="en-US" altLang="en-US" b="1" i="1" dirty="0">
                <a:latin typeface="Arial" charset="0"/>
                <a:cs typeface="Arial" charset="0"/>
              </a:rPr>
              <a:t>(B</a:t>
            </a:r>
            <a:r>
              <a:rPr lang="en-US" altLang="en-US" b="1" i="1" baseline="-30000" dirty="0">
                <a:latin typeface="Arial" charset="0"/>
                <a:cs typeface="Arial" charset="0"/>
              </a:rPr>
              <a:t>1</a:t>
            </a:r>
            <a:r>
              <a:rPr lang="en-US" altLang="en-US" b="1" i="1" dirty="0">
                <a:latin typeface="Arial" charset="0"/>
                <a:cs typeface="Arial" charset="0"/>
              </a:rPr>
              <a:t>)</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a:t>
            </a:r>
            <a:r>
              <a:rPr kumimoji="0" lang="en-US" altLang="en-US" sz="1800" b="0" i="0" u="none" strike="noStrike" cap="none" normalizeH="0" baseline="0" dirty="0">
                <a:ln>
                  <a:noFill/>
                </a:ln>
                <a:solidFill>
                  <a:schemeClr val="tx1"/>
                </a:solidFill>
                <a:effectLst/>
                <a:latin typeface="Arial" charset="0"/>
                <a:cs typeface="Arial"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
        <p:nvSpPr>
          <p:cNvPr id="3" name="Rectangle 2"/>
          <p:cNvSpPr/>
          <p:nvPr/>
        </p:nvSpPr>
        <p:spPr>
          <a:xfrm>
            <a:off x="539894" y="3013776"/>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8</a:t>
            </a:r>
            <a:r>
              <a:rPr lang="en-US" altLang="en-US" b="1" i="1" dirty="0">
                <a:latin typeface="Arial" charset="0"/>
                <a:cs typeface="Arial" charset="0"/>
              </a:rPr>
              <a:t>(B</a:t>
            </a:r>
            <a:r>
              <a:rPr lang="en-US" altLang="en-US" b="1" i="1" baseline="-30000" dirty="0">
                <a:latin typeface="Arial" charset="0"/>
                <a:cs typeface="Arial" charset="0"/>
              </a:rPr>
              <a:t>8</a:t>
            </a:r>
            <a:r>
              <a:rPr lang="en-US" altLang="en-US" b="1" i="1" dirty="0">
                <a:latin typeface="Arial" charset="0"/>
                <a:cs typeface="Arial" charset="0"/>
              </a:rPr>
              <a:t>)</a:t>
            </a:r>
            <a:endParaRPr lang="en-IN" dirty="0"/>
          </a:p>
        </p:txBody>
      </p:sp>
      <p:sp>
        <p:nvSpPr>
          <p:cNvPr id="8" name="Rectangle 7"/>
          <p:cNvSpPr/>
          <p:nvPr/>
        </p:nvSpPr>
        <p:spPr>
          <a:xfrm>
            <a:off x="1600200" y="3028836"/>
            <a:ext cx="886781" cy="369332"/>
          </a:xfrm>
          <a:prstGeom prst="rect">
            <a:avLst/>
          </a:prstGeom>
        </p:spPr>
        <p:txBody>
          <a:bodyPr wrap="none">
            <a:spAutoFit/>
          </a:bodyPr>
          <a:lstStyle/>
          <a:p>
            <a:r>
              <a:rPr lang="pt-BR" dirty="0"/>
              <a:t>100111</a:t>
            </a:r>
            <a:endParaRPr lang="en-IN" dirty="0"/>
          </a:p>
        </p:txBody>
      </p:sp>
      <p:sp>
        <p:nvSpPr>
          <p:cNvPr id="11" name="Rectangle 10"/>
          <p:cNvSpPr/>
          <p:nvPr/>
        </p:nvSpPr>
        <p:spPr>
          <a:xfrm>
            <a:off x="692293" y="3557722"/>
            <a:ext cx="829073" cy="369332"/>
          </a:xfrm>
          <a:prstGeom prst="rect">
            <a:avLst/>
          </a:prstGeom>
        </p:spPr>
        <p:txBody>
          <a:bodyPr wrap="none">
            <a:spAutoFit/>
          </a:bodyPr>
          <a:lstStyle/>
          <a:p>
            <a:r>
              <a:rPr lang="en-US" altLang="en-US" b="1" i="1" dirty="0">
                <a:latin typeface="Arial" charset="0"/>
                <a:cs typeface="Arial" charset="0"/>
              </a:rPr>
              <a:t>S</a:t>
            </a:r>
            <a:r>
              <a:rPr lang="en-US" altLang="en-US" b="1" i="1" baseline="-30000" dirty="0">
                <a:latin typeface="Arial" charset="0"/>
                <a:cs typeface="Arial" charset="0"/>
              </a:rPr>
              <a:t>8</a:t>
            </a:r>
            <a:r>
              <a:rPr lang="en-US" altLang="en-US" b="1" i="1" dirty="0">
                <a:latin typeface="Arial" charset="0"/>
                <a:cs typeface="Arial" charset="0"/>
              </a:rPr>
              <a:t>(B</a:t>
            </a:r>
            <a:r>
              <a:rPr lang="en-US" altLang="en-US" b="1" i="1" baseline="-30000" dirty="0">
                <a:latin typeface="Arial" charset="0"/>
                <a:cs typeface="Arial" charset="0"/>
              </a:rPr>
              <a:t>8</a:t>
            </a:r>
            <a:r>
              <a:rPr lang="en-US" altLang="en-US" b="1" i="1" dirty="0">
                <a:latin typeface="Arial" charset="0"/>
                <a:cs typeface="Arial" charset="0"/>
              </a:rPr>
              <a:t>)</a:t>
            </a:r>
            <a:endParaRPr lang="en-IN" dirty="0"/>
          </a:p>
        </p:txBody>
      </p:sp>
      <p:sp>
        <p:nvSpPr>
          <p:cNvPr id="5" name="Rectangle 4"/>
          <p:cNvSpPr/>
          <p:nvPr/>
        </p:nvSpPr>
        <p:spPr>
          <a:xfrm>
            <a:off x="1717218" y="3557411"/>
            <a:ext cx="652743" cy="369332"/>
          </a:xfrm>
          <a:prstGeom prst="rect">
            <a:avLst/>
          </a:prstGeom>
        </p:spPr>
        <p:txBody>
          <a:bodyPr wrap="none">
            <a:spAutoFit/>
          </a:bodyPr>
          <a:lstStyle/>
          <a:p>
            <a:r>
              <a:rPr lang="en-IN" dirty="0"/>
              <a:t>0111</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8697" y="4267200"/>
            <a:ext cx="5676900" cy="21689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754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a:t>
            </a:r>
            <a:endParaRPr lang="en-IN" dirty="0"/>
          </a:p>
        </p:txBody>
      </p:sp>
      <p:sp>
        <p:nvSpPr>
          <p:cNvPr id="4" name="Rectangle 3"/>
          <p:cNvSpPr/>
          <p:nvPr/>
        </p:nvSpPr>
        <p:spPr>
          <a:xfrm>
            <a:off x="438762" y="1219200"/>
            <a:ext cx="8248035" cy="400110"/>
          </a:xfrm>
          <a:prstGeom prst="rect">
            <a:avLst/>
          </a:prstGeom>
        </p:spPr>
        <p:txBody>
          <a:bodyPr wrap="square">
            <a:spAutoFit/>
          </a:bodyPr>
          <a:lstStyle/>
          <a:p>
            <a:r>
              <a:rPr lang="pt-BR" sz="2000" b="1" i="1" dirty="0"/>
              <a:t>K</a:t>
            </a:r>
            <a:r>
              <a:rPr lang="pt-BR" sz="2000" b="1" i="1" baseline="-25000" dirty="0"/>
              <a:t>1</a:t>
            </a:r>
            <a:r>
              <a:rPr lang="pt-BR" sz="2000" dirty="0"/>
              <a:t>+</a:t>
            </a:r>
            <a:r>
              <a:rPr lang="pt-BR" sz="2000" b="1" dirty="0"/>
              <a:t>E</a:t>
            </a:r>
            <a:r>
              <a:rPr lang="pt-BR" sz="2000" dirty="0"/>
              <a:t>(</a:t>
            </a:r>
            <a:r>
              <a:rPr lang="pt-BR" sz="2000" b="1" i="1" dirty="0"/>
              <a:t>R</a:t>
            </a:r>
            <a:r>
              <a:rPr lang="pt-BR" sz="2000" b="1" i="1" baseline="-25000" dirty="0"/>
              <a:t>0</a:t>
            </a:r>
            <a:r>
              <a:rPr lang="pt-BR" sz="2000" dirty="0"/>
              <a:t>) = 011000 010001 011110 111010 100001 100110 010100 100111. </a:t>
            </a:r>
            <a:endParaRPr lang="en-IN" sz="2000" dirty="0"/>
          </a:p>
        </p:txBody>
      </p:sp>
      <p:sp>
        <p:nvSpPr>
          <p:cNvPr id="6" name="Rectangle 5"/>
          <p:cNvSpPr/>
          <p:nvPr/>
        </p:nvSpPr>
        <p:spPr>
          <a:xfrm>
            <a:off x="438763" y="1643493"/>
            <a:ext cx="8019435" cy="400110"/>
          </a:xfrm>
          <a:prstGeom prst="rect">
            <a:avLst/>
          </a:prstGeom>
        </p:spPr>
        <p:txBody>
          <a:bodyPr wrap="square">
            <a:spAutoFit/>
          </a:bodyPr>
          <a:lstStyle/>
          <a:p>
            <a:r>
              <a:rPr lang="en-IN" sz="2000" b="1" i="1" dirty="0"/>
              <a:t>K1+ E(R0) =       B1       B2           B3        B4           B5           B6        B7         B8 </a:t>
            </a:r>
          </a:p>
        </p:txBody>
      </p:sp>
      <p:sp>
        <p:nvSpPr>
          <p:cNvPr id="7" name="Rectangle 1"/>
          <p:cNvSpPr>
            <a:spLocks noChangeArrowheads="1"/>
          </p:cNvSpPr>
          <p:nvPr/>
        </p:nvSpPr>
        <p:spPr bwMode="auto">
          <a:xfrm>
            <a:off x="438761" y="2105506"/>
            <a:ext cx="8248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We now calculate </a:t>
            </a:r>
          </a:p>
          <a:p>
            <a:pPr lvl="0" eaLnBrk="0" fontAlgn="base" hangingPunct="0">
              <a:spcBef>
                <a:spcPct val="0"/>
              </a:spcBef>
              <a:spcAft>
                <a:spcPct val="0"/>
              </a:spcAft>
            </a:pPr>
            <a:r>
              <a:rPr lang="en-US" altLang="en-US" b="1" i="1" dirty="0">
                <a:latin typeface="Arial" charset="0"/>
                <a:cs typeface="Arial" charset="0"/>
              </a:rPr>
              <a:t>S</a:t>
            </a:r>
            <a:r>
              <a:rPr lang="en-US" altLang="en-US" b="1" i="1" baseline="-30000" dirty="0">
                <a:latin typeface="Arial" charset="0"/>
                <a:cs typeface="Arial" charset="0"/>
              </a:rPr>
              <a:t>1</a:t>
            </a:r>
            <a:r>
              <a:rPr lang="en-US" altLang="en-US" b="1" i="1" dirty="0">
                <a:latin typeface="Arial" charset="0"/>
                <a:cs typeface="Arial" charset="0"/>
              </a:rPr>
              <a:t>(B</a:t>
            </a:r>
            <a:r>
              <a:rPr lang="en-US" altLang="en-US" b="1" i="1" baseline="-30000" dirty="0">
                <a:latin typeface="Arial" charset="0"/>
                <a:cs typeface="Arial" charset="0"/>
              </a:rPr>
              <a:t>1</a:t>
            </a:r>
            <a:r>
              <a:rPr lang="en-US" altLang="en-US" b="1" i="1" dirty="0">
                <a:latin typeface="Arial" charset="0"/>
                <a:cs typeface="Arial" charset="0"/>
              </a:rPr>
              <a:t>)</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2</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3</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4</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5</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6</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7</a:t>
            </a:r>
            <a:r>
              <a:rPr kumimoji="0" lang="en-US" altLang="en-US" sz="1800" b="1" i="1" u="none" strike="noStrike" cap="none" normalizeH="0" baseline="0" dirty="0">
                <a:ln>
                  <a:noFill/>
                </a:ln>
                <a:solidFill>
                  <a:schemeClr val="tx1"/>
                </a:solidFill>
                <a:effectLst/>
                <a:latin typeface="Arial" charset="0"/>
                <a:cs typeface="Arial" charset="0"/>
              </a:rPr>
              <a:t>)   S</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(B</a:t>
            </a:r>
            <a:r>
              <a:rPr kumimoji="0" lang="en-US" altLang="en-US" sz="1800" b="1" i="1" u="none" strike="noStrike" cap="none" normalizeH="0" baseline="-30000" dirty="0">
                <a:ln>
                  <a:noFill/>
                </a:ln>
                <a:solidFill>
                  <a:schemeClr val="tx1"/>
                </a:solidFill>
                <a:effectLst/>
                <a:latin typeface="Arial" charset="0"/>
                <a:cs typeface="Arial" charset="0"/>
              </a:rPr>
              <a:t>8</a:t>
            </a:r>
            <a:r>
              <a:rPr kumimoji="0" lang="en-US" altLang="en-US" sz="1800" b="1" i="1" u="none" strike="noStrike" cap="none" normalizeH="0" baseline="0" dirty="0">
                <a:ln>
                  <a:noFill/>
                </a:ln>
                <a:solidFill>
                  <a:schemeClr val="tx1"/>
                </a:solidFill>
                <a:effectLst/>
                <a:latin typeface="Arial" charset="0"/>
                <a:cs typeface="Arial" charset="0"/>
              </a:rPr>
              <a:t>)</a:t>
            </a:r>
            <a:r>
              <a:rPr kumimoji="0" lang="en-US" altLang="en-US" sz="1800" b="0" i="0" u="none" strike="noStrike" cap="none" normalizeH="0" baseline="0" dirty="0">
                <a:ln>
                  <a:noFill/>
                </a:ln>
                <a:solidFill>
                  <a:schemeClr val="tx1"/>
                </a:solidFill>
                <a:effectLst/>
                <a:latin typeface="Arial" charset="0"/>
                <a:cs typeface="Arial"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
        <p:nvSpPr>
          <p:cNvPr id="9" name="Rectangle 8"/>
          <p:cNvSpPr/>
          <p:nvPr/>
        </p:nvSpPr>
        <p:spPr>
          <a:xfrm>
            <a:off x="330605" y="3276600"/>
            <a:ext cx="8373398" cy="1384995"/>
          </a:xfrm>
          <a:prstGeom prst="rect">
            <a:avLst/>
          </a:prstGeom>
        </p:spPr>
        <p:txBody>
          <a:bodyPr wrap="square">
            <a:spAutoFit/>
          </a:bodyPr>
          <a:lstStyle/>
          <a:p>
            <a:r>
              <a:rPr lang="en-IN" sz="2800" b="1" i="1" dirty="0"/>
              <a:t>S</a:t>
            </a:r>
            <a:r>
              <a:rPr lang="en-IN" sz="2800" b="1" i="1" baseline="-25000" dirty="0"/>
              <a:t>1</a:t>
            </a:r>
            <a:r>
              <a:rPr lang="en-IN" sz="2800" b="1" i="1" dirty="0"/>
              <a:t>(B</a:t>
            </a:r>
            <a:r>
              <a:rPr lang="en-IN" sz="2800" b="1" i="1" baseline="-25000" dirty="0"/>
              <a:t>1</a:t>
            </a:r>
            <a:r>
              <a:rPr lang="en-IN" sz="2800" b="1" i="1" dirty="0"/>
              <a:t>)S</a:t>
            </a:r>
            <a:r>
              <a:rPr lang="en-IN" sz="2800" b="1" i="1" baseline="-25000" dirty="0"/>
              <a:t>2</a:t>
            </a:r>
            <a:r>
              <a:rPr lang="en-IN" sz="2800" b="1" i="1" dirty="0"/>
              <a:t>(B</a:t>
            </a:r>
            <a:r>
              <a:rPr lang="en-IN" sz="2800" b="1" i="1" baseline="-25000" dirty="0"/>
              <a:t>2</a:t>
            </a:r>
            <a:r>
              <a:rPr lang="en-IN" sz="2800" b="1" i="1" dirty="0"/>
              <a:t>)S</a:t>
            </a:r>
            <a:r>
              <a:rPr lang="en-IN" sz="2800" b="1" i="1" baseline="-25000" dirty="0"/>
              <a:t>3</a:t>
            </a:r>
            <a:r>
              <a:rPr lang="en-IN" sz="2800" b="1" i="1" dirty="0"/>
              <a:t>(B</a:t>
            </a:r>
            <a:r>
              <a:rPr lang="en-IN" sz="2800" b="1" i="1" baseline="-25000" dirty="0"/>
              <a:t>3</a:t>
            </a:r>
            <a:r>
              <a:rPr lang="en-IN" sz="2800" b="1" i="1" dirty="0"/>
              <a:t>)S</a:t>
            </a:r>
            <a:r>
              <a:rPr lang="en-IN" sz="2800" b="1" i="1" baseline="-25000" dirty="0"/>
              <a:t>4</a:t>
            </a:r>
            <a:r>
              <a:rPr lang="en-IN" sz="2800" b="1" i="1" dirty="0"/>
              <a:t>(B</a:t>
            </a:r>
            <a:r>
              <a:rPr lang="en-IN" sz="2800" b="1" i="1" baseline="-25000" dirty="0"/>
              <a:t>4</a:t>
            </a:r>
            <a:r>
              <a:rPr lang="en-IN" sz="2800" b="1" i="1" dirty="0"/>
              <a:t>)S</a:t>
            </a:r>
            <a:r>
              <a:rPr lang="en-IN" sz="2800" b="1" i="1" baseline="-25000" dirty="0"/>
              <a:t>5</a:t>
            </a:r>
            <a:r>
              <a:rPr lang="en-IN" sz="2800" b="1" i="1" dirty="0"/>
              <a:t>(B</a:t>
            </a:r>
            <a:r>
              <a:rPr lang="en-IN" sz="2800" b="1" i="1" baseline="-25000" dirty="0"/>
              <a:t>5</a:t>
            </a:r>
            <a:r>
              <a:rPr lang="en-IN" sz="2800" b="1" i="1" dirty="0"/>
              <a:t>)S</a:t>
            </a:r>
            <a:r>
              <a:rPr lang="en-IN" sz="2800" b="1" i="1" baseline="-25000" dirty="0"/>
              <a:t>6</a:t>
            </a:r>
            <a:r>
              <a:rPr lang="en-IN" sz="2800" b="1" i="1" dirty="0"/>
              <a:t>(B</a:t>
            </a:r>
            <a:r>
              <a:rPr lang="en-IN" sz="2800" b="1" i="1" baseline="-25000" dirty="0"/>
              <a:t>6</a:t>
            </a:r>
            <a:r>
              <a:rPr lang="en-IN" sz="2800" b="1" i="1" dirty="0"/>
              <a:t>)S</a:t>
            </a:r>
            <a:r>
              <a:rPr lang="en-IN" sz="2800" b="1" i="1" baseline="-25000" dirty="0"/>
              <a:t>7</a:t>
            </a:r>
            <a:r>
              <a:rPr lang="en-IN" sz="2800" b="1" i="1" dirty="0"/>
              <a:t>(B</a:t>
            </a:r>
            <a:r>
              <a:rPr lang="en-IN" sz="2800" b="1" i="1" baseline="-25000" dirty="0"/>
              <a:t>7</a:t>
            </a:r>
            <a:r>
              <a:rPr lang="en-IN" sz="2800" b="1" i="1" dirty="0"/>
              <a:t>)S</a:t>
            </a:r>
            <a:r>
              <a:rPr lang="en-IN" sz="2800" b="1" i="1" baseline="-25000" dirty="0"/>
              <a:t>8</a:t>
            </a:r>
            <a:r>
              <a:rPr lang="en-IN" sz="2800" b="1" i="1" dirty="0"/>
              <a:t>(B</a:t>
            </a:r>
            <a:r>
              <a:rPr lang="en-IN" sz="2800" b="1" i="1" baseline="-25000" dirty="0"/>
              <a:t>8</a:t>
            </a:r>
            <a:r>
              <a:rPr lang="en-IN" sz="2800" b="1" i="1" dirty="0"/>
              <a:t>)</a:t>
            </a:r>
            <a:r>
              <a:rPr lang="en-IN" sz="2800" dirty="0"/>
              <a:t> </a:t>
            </a:r>
          </a:p>
          <a:p>
            <a:endParaRPr lang="en-IN" sz="2800" dirty="0"/>
          </a:p>
          <a:p>
            <a:r>
              <a:rPr lang="en-IN" sz="2800" dirty="0"/>
              <a:t>= 0101 1100 1000 0010 1011 0101 1001 0111 </a:t>
            </a:r>
          </a:p>
        </p:txBody>
      </p:sp>
    </p:spTree>
    <p:extLst>
      <p:ext uri="{BB962C8B-B14F-4D97-AF65-F5344CB8AC3E}">
        <p14:creationId xmlns:p14="http://schemas.microsoft.com/office/powerpoint/2010/main" val="33063714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 Encryption Standard</a:t>
            </a:r>
            <a:endParaRPr lang="en-IN" dirty="0"/>
          </a:p>
        </p:txBody>
      </p:sp>
      <p:sp>
        <p:nvSpPr>
          <p:cNvPr id="3" name="Content Placeholder 2"/>
          <p:cNvSpPr>
            <a:spLocks noGrp="1"/>
          </p:cNvSpPr>
          <p:nvPr>
            <p:ph idx="1"/>
          </p:nvPr>
        </p:nvSpPr>
        <p:spPr>
          <a:xfrm>
            <a:off x="457200" y="1219200"/>
            <a:ext cx="8229600" cy="4525963"/>
          </a:xfrm>
        </p:spPr>
        <p:txBody>
          <a:bodyPr/>
          <a:lstStyle/>
          <a:p>
            <a:r>
              <a:rPr lang="en-IN" dirty="0" err="1"/>
              <a:t>Fiestal</a:t>
            </a:r>
            <a:r>
              <a:rPr lang="en-IN" dirty="0"/>
              <a:t> Function</a:t>
            </a:r>
          </a:p>
        </p:txBody>
      </p:sp>
      <p:pic>
        <p:nvPicPr>
          <p:cNvPr id="4" name="Picture 3"/>
          <p:cNvPicPr>
            <a:picLocks noChangeAspect="1"/>
          </p:cNvPicPr>
          <p:nvPr/>
        </p:nvPicPr>
        <p:blipFill>
          <a:blip r:embed="rId3"/>
          <a:stretch>
            <a:fillRect/>
          </a:stretch>
        </p:blipFill>
        <p:spPr>
          <a:xfrm>
            <a:off x="4181475" y="1417638"/>
            <a:ext cx="4505325" cy="5440362"/>
          </a:xfrm>
          <a:prstGeom prst="rect">
            <a:avLst/>
          </a:prstGeom>
        </p:spPr>
      </p:pic>
    </p:spTree>
    <p:extLst>
      <p:ext uri="{BB962C8B-B14F-4D97-AF65-F5344CB8AC3E}">
        <p14:creationId xmlns:p14="http://schemas.microsoft.com/office/powerpoint/2010/main" val="27599008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3200400"/>
            <a:ext cx="3067050" cy="33160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1"/>
          <p:cNvSpPr>
            <a:spLocks noGrp="1"/>
          </p:cNvSpPr>
          <p:nvPr>
            <p:ph type="title"/>
          </p:nvPr>
        </p:nvSpPr>
        <p:spPr/>
        <p:txBody>
          <a:bodyPr>
            <a:normAutofit fontScale="90000"/>
          </a:bodyPr>
          <a:lstStyle/>
          <a:p>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 - Final stage of </a:t>
            </a:r>
            <a:r>
              <a:rPr lang="pt-BR" b="1" i="1" dirty="0"/>
              <a:t>f- Permutation</a:t>
            </a:r>
            <a:endParaRPr lang="en-IN" dirty="0"/>
          </a:p>
        </p:txBody>
      </p:sp>
      <p:sp>
        <p:nvSpPr>
          <p:cNvPr id="5" name="Rectangle 4"/>
          <p:cNvSpPr/>
          <p:nvPr/>
        </p:nvSpPr>
        <p:spPr>
          <a:xfrm>
            <a:off x="152400" y="1295400"/>
            <a:ext cx="8373398" cy="1384995"/>
          </a:xfrm>
          <a:prstGeom prst="rect">
            <a:avLst/>
          </a:prstGeom>
        </p:spPr>
        <p:txBody>
          <a:bodyPr wrap="square">
            <a:spAutoFit/>
          </a:bodyPr>
          <a:lstStyle/>
          <a:p>
            <a:r>
              <a:rPr lang="en-IN" sz="2800" b="1" i="1" dirty="0"/>
              <a:t>S</a:t>
            </a:r>
            <a:r>
              <a:rPr lang="en-IN" sz="2800" b="1" i="1" baseline="-25000" dirty="0"/>
              <a:t>1</a:t>
            </a:r>
            <a:r>
              <a:rPr lang="en-IN" sz="2800" b="1" i="1" dirty="0"/>
              <a:t>(B</a:t>
            </a:r>
            <a:r>
              <a:rPr lang="en-IN" sz="2800" b="1" i="1" baseline="-25000" dirty="0"/>
              <a:t>1</a:t>
            </a:r>
            <a:r>
              <a:rPr lang="en-IN" sz="2800" b="1" i="1" dirty="0"/>
              <a:t>)S</a:t>
            </a:r>
            <a:r>
              <a:rPr lang="en-IN" sz="2800" b="1" i="1" baseline="-25000" dirty="0"/>
              <a:t>2</a:t>
            </a:r>
            <a:r>
              <a:rPr lang="en-IN" sz="2800" b="1" i="1" dirty="0"/>
              <a:t>(B</a:t>
            </a:r>
            <a:r>
              <a:rPr lang="en-IN" sz="2800" b="1" i="1" baseline="-25000" dirty="0"/>
              <a:t>2</a:t>
            </a:r>
            <a:r>
              <a:rPr lang="en-IN" sz="2800" b="1" i="1" dirty="0"/>
              <a:t>)S</a:t>
            </a:r>
            <a:r>
              <a:rPr lang="en-IN" sz="2800" b="1" i="1" baseline="-25000" dirty="0"/>
              <a:t>3</a:t>
            </a:r>
            <a:r>
              <a:rPr lang="en-IN" sz="2800" b="1" i="1" dirty="0"/>
              <a:t>(B</a:t>
            </a:r>
            <a:r>
              <a:rPr lang="en-IN" sz="2800" b="1" i="1" baseline="-25000" dirty="0"/>
              <a:t>3</a:t>
            </a:r>
            <a:r>
              <a:rPr lang="en-IN" sz="2800" b="1" i="1" dirty="0"/>
              <a:t>)S</a:t>
            </a:r>
            <a:r>
              <a:rPr lang="en-IN" sz="2800" b="1" i="1" baseline="-25000" dirty="0"/>
              <a:t>4</a:t>
            </a:r>
            <a:r>
              <a:rPr lang="en-IN" sz="2800" b="1" i="1" dirty="0"/>
              <a:t>(B</a:t>
            </a:r>
            <a:r>
              <a:rPr lang="en-IN" sz="2800" b="1" i="1" baseline="-25000" dirty="0"/>
              <a:t>4</a:t>
            </a:r>
            <a:r>
              <a:rPr lang="en-IN" sz="2800" b="1" i="1" dirty="0"/>
              <a:t>)S</a:t>
            </a:r>
            <a:r>
              <a:rPr lang="en-IN" sz="2800" b="1" i="1" baseline="-25000" dirty="0"/>
              <a:t>5</a:t>
            </a:r>
            <a:r>
              <a:rPr lang="en-IN" sz="2800" b="1" i="1" dirty="0"/>
              <a:t>(B</a:t>
            </a:r>
            <a:r>
              <a:rPr lang="en-IN" sz="2800" b="1" i="1" baseline="-25000" dirty="0"/>
              <a:t>5</a:t>
            </a:r>
            <a:r>
              <a:rPr lang="en-IN" sz="2800" b="1" i="1" dirty="0"/>
              <a:t>)S</a:t>
            </a:r>
            <a:r>
              <a:rPr lang="en-IN" sz="2800" b="1" i="1" baseline="-25000" dirty="0"/>
              <a:t>6</a:t>
            </a:r>
            <a:r>
              <a:rPr lang="en-IN" sz="2800" b="1" i="1" dirty="0"/>
              <a:t>(B</a:t>
            </a:r>
            <a:r>
              <a:rPr lang="en-IN" sz="2800" b="1" i="1" baseline="-25000" dirty="0"/>
              <a:t>6</a:t>
            </a:r>
            <a:r>
              <a:rPr lang="en-IN" sz="2800" b="1" i="1" dirty="0"/>
              <a:t>)S</a:t>
            </a:r>
            <a:r>
              <a:rPr lang="en-IN" sz="2800" b="1" i="1" baseline="-25000" dirty="0"/>
              <a:t>7</a:t>
            </a:r>
            <a:r>
              <a:rPr lang="en-IN" sz="2800" b="1" i="1" dirty="0"/>
              <a:t>(B</a:t>
            </a:r>
            <a:r>
              <a:rPr lang="en-IN" sz="2800" b="1" i="1" baseline="-25000" dirty="0"/>
              <a:t>7</a:t>
            </a:r>
            <a:r>
              <a:rPr lang="en-IN" sz="2800" b="1" i="1" dirty="0"/>
              <a:t>)S</a:t>
            </a:r>
            <a:r>
              <a:rPr lang="en-IN" sz="2800" b="1" i="1" baseline="-25000" dirty="0"/>
              <a:t>8</a:t>
            </a:r>
            <a:r>
              <a:rPr lang="en-IN" sz="2800" b="1" i="1" dirty="0"/>
              <a:t>(B</a:t>
            </a:r>
            <a:r>
              <a:rPr lang="en-IN" sz="2800" b="1" i="1" baseline="-25000" dirty="0"/>
              <a:t>8</a:t>
            </a:r>
            <a:r>
              <a:rPr lang="en-IN" sz="2800" b="1" i="1" dirty="0"/>
              <a:t>)</a:t>
            </a:r>
            <a:r>
              <a:rPr lang="en-IN" sz="2800" dirty="0"/>
              <a:t> </a:t>
            </a:r>
          </a:p>
          <a:p>
            <a:endParaRPr lang="en-IN" sz="2800" dirty="0"/>
          </a:p>
          <a:p>
            <a:r>
              <a:rPr lang="en-IN" sz="2800" dirty="0"/>
              <a:t>= 0101 1100 1000 0010 1011 0101 1001 0111 </a:t>
            </a:r>
          </a:p>
        </p:txBody>
      </p:sp>
      <p:sp>
        <p:nvSpPr>
          <p:cNvPr id="6" name="Rectangle 3"/>
          <p:cNvSpPr>
            <a:spLocks noChangeArrowheads="1"/>
          </p:cNvSpPr>
          <p:nvPr/>
        </p:nvSpPr>
        <p:spPr bwMode="auto">
          <a:xfrm>
            <a:off x="304800" y="2798584"/>
            <a:ext cx="571201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cs typeface="Arial" charset="0"/>
              </a:rPr>
              <a:t>we get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1" u="none" strike="noStrike" cap="none" normalizeH="0" baseline="0" dirty="0">
              <a:ln>
                <a:noFill/>
              </a:ln>
              <a:solidFill>
                <a:schemeClr val="tx1"/>
              </a:solidFill>
              <a:effectLst/>
              <a:latin typeface="Arial" charset="0"/>
              <a:cs typeface="Arial" charset="0"/>
            </a:endParaRPr>
          </a:p>
          <a:p>
            <a:pPr lvl="0" eaLnBrk="0" fontAlgn="base" hangingPunct="0">
              <a:spcBef>
                <a:spcPct val="0"/>
              </a:spcBef>
              <a:spcAft>
                <a:spcPct val="0"/>
              </a:spcAft>
            </a:pPr>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a:t>
            </a:r>
            <a:r>
              <a:rPr kumimoji="0" lang="en-US" altLang="en-US" sz="1800" b="1" i="0" u="none" strike="noStrike" cap="none" normalizeH="0" baseline="0" dirty="0">
                <a:ln>
                  <a:noFill/>
                </a:ln>
                <a:solidFill>
                  <a:schemeClr val="tx1"/>
                </a:solidFill>
                <a:effectLst/>
                <a:latin typeface="Arial" charset="0"/>
                <a:cs typeface="Arial" charset="0"/>
              </a:rPr>
              <a:t> = 0010 0011 0100 1010 1010 1001 1011 1011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037962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Remember why we computed </a:t>
            </a:r>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 </a:t>
            </a:r>
            <a:br>
              <a:rPr lang="pt-BR" dirty="0"/>
            </a:br>
            <a:endParaRPr lang="en-IN" dirty="0"/>
          </a:p>
        </p:txBody>
      </p:sp>
      <p:sp>
        <p:nvSpPr>
          <p:cNvPr id="4" name="Rectangle 3"/>
          <p:cNvSpPr/>
          <p:nvPr/>
        </p:nvSpPr>
        <p:spPr>
          <a:xfrm>
            <a:off x="302342" y="1371600"/>
            <a:ext cx="6629400" cy="830997"/>
          </a:xfrm>
          <a:prstGeom prst="rect">
            <a:avLst/>
          </a:prstGeom>
        </p:spPr>
        <p:txBody>
          <a:bodyPr wrap="square">
            <a:spAutoFit/>
          </a:bodyPr>
          <a:lstStyle/>
          <a:p>
            <a:r>
              <a:rPr lang="pt-BR" sz="2400" b="1" i="1" dirty="0"/>
              <a:t>L</a:t>
            </a:r>
            <a:r>
              <a:rPr lang="pt-BR" sz="2400" b="1" i="1" baseline="-25000" dirty="0"/>
              <a:t>0</a:t>
            </a:r>
            <a:r>
              <a:rPr lang="pt-BR" sz="2400" dirty="0"/>
              <a:t> = 1100 1100 0000 0000 1100 1100 1111 1111 </a:t>
            </a:r>
            <a:br>
              <a:rPr lang="pt-BR" sz="2400" dirty="0"/>
            </a:br>
            <a:r>
              <a:rPr lang="pt-BR" sz="2400" b="1" i="1" dirty="0"/>
              <a:t>R</a:t>
            </a:r>
            <a:r>
              <a:rPr lang="pt-BR" sz="2400" b="1" i="1" baseline="-25000" dirty="0"/>
              <a:t>0</a:t>
            </a:r>
            <a:r>
              <a:rPr lang="pt-BR" sz="2400" dirty="0"/>
              <a:t> = 1111 0000 1010 1010 1111 0000 1010 1010 </a:t>
            </a:r>
            <a:endParaRPr lang="en-IN" sz="2400" dirty="0"/>
          </a:p>
        </p:txBody>
      </p:sp>
      <p:sp>
        <p:nvSpPr>
          <p:cNvPr id="5" name="Rectangle 4"/>
          <p:cNvSpPr/>
          <p:nvPr/>
        </p:nvSpPr>
        <p:spPr>
          <a:xfrm>
            <a:off x="457200" y="2209800"/>
            <a:ext cx="4572000" cy="1384995"/>
          </a:xfrm>
          <a:prstGeom prst="rect">
            <a:avLst/>
          </a:prstGeom>
        </p:spPr>
        <p:txBody>
          <a:bodyPr>
            <a:spAutoFit/>
          </a:bodyPr>
          <a:lstStyle/>
          <a:p>
            <a:r>
              <a:rPr lang="en-IN" sz="2800" b="1" i="1" dirty="0"/>
              <a:t>L</a:t>
            </a:r>
            <a:r>
              <a:rPr lang="en-IN" sz="2800" b="1" i="1" baseline="-25000" dirty="0"/>
              <a:t>n</a:t>
            </a:r>
            <a:r>
              <a:rPr lang="en-IN" sz="2800" dirty="0"/>
              <a:t> = </a:t>
            </a:r>
            <a:r>
              <a:rPr lang="en-IN" sz="2800" b="1" i="1" dirty="0"/>
              <a:t>R</a:t>
            </a:r>
            <a:r>
              <a:rPr lang="en-IN" sz="2800" b="1" i="1" baseline="-25000" dirty="0"/>
              <a:t>n-1</a:t>
            </a:r>
            <a:r>
              <a:rPr lang="en-IN" sz="2800" dirty="0"/>
              <a:t> </a:t>
            </a:r>
            <a:br>
              <a:rPr lang="en-IN" sz="2800" dirty="0"/>
            </a:br>
            <a:r>
              <a:rPr lang="en-IN" sz="2800" b="1" i="1" dirty="0"/>
              <a:t>R</a:t>
            </a:r>
            <a:r>
              <a:rPr lang="en-IN" sz="2800" b="1" i="1" baseline="-25000" dirty="0"/>
              <a:t>n</a:t>
            </a:r>
            <a:r>
              <a:rPr lang="en-IN" sz="2800" dirty="0"/>
              <a:t> = </a:t>
            </a:r>
            <a:r>
              <a:rPr lang="en-IN" sz="2800" b="1" i="1" dirty="0"/>
              <a:t>L</a:t>
            </a:r>
            <a:r>
              <a:rPr lang="en-IN" sz="2800" b="1" i="1" baseline="-25000" dirty="0"/>
              <a:t>n-1</a:t>
            </a:r>
            <a:r>
              <a:rPr lang="en-IN" sz="2800" dirty="0"/>
              <a:t> + </a:t>
            </a:r>
            <a:r>
              <a:rPr lang="en-IN" sz="2800" b="1" i="1" dirty="0"/>
              <a:t>f</a:t>
            </a:r>
            <a:r>
              <a:rPr lang="en-IN" sz="2800" dirty="0"/>
              <a:t>(</a:t>
            </a:r>
            <a:r>
              <a:rPr lang="en-IN" sz="2800" b="1" i="1" dirty="0"/>
              <a:t>R</a:t>
            </a:r>
            <a:r>
              <a:rPr lang="en-IN" sz="2800" b="1" i="1" baseline="-25000" dirty="0"/>
              <a:t>n-1</a:t>
            </a:r>
            <a:r>
              <a:rPr lang="en-IN" sz="2800" dirty="0"/>
              <a:t>,</a:t>
            </a:r>
            <a:r>
              <a:rPr lang="en-IN" sz="2800" b="1" i="1" dirty="0"/>
              <a:t>K</a:t>
            </a:r>
            <a:r>
              <a:rPr lang="en-IN" sz="2800" b="1" i="1" baseline="-25000" dirty="0"/>
              <a:t>n</a:t>
            </a:r>
            <a:r>
              <a:rPr lang="en-IN" sz="2800" dirty="0"/>
              <a:t>)</a:t>
            </a:r>
          </a:p>
          <a:p>
            <a:r>
              <a:rPr lang="en-IN" sz="2800" dirty="0"/>
              <a:t> </a:t>
            </a:r>
            <a:r>
              <a:rPr lang="en-IN" sz="2800" b="1" dirty="0"/>
              <a:t>Let + denote XOR addition</a:t>
            </a:r>
            <a:endParaRPr lang="en-IN" sz="2800" dirty="0"/>
          </a:p>
        </p:txBody>
      </p:sp>
      <p:sp>
        <p:nvSpPr>
          <p:cNvPr id="6" name="Rectangle 5"/>
          <p:cNvSpPr/>
          <p:nvPr/>
        </p:nvSpPr>
        <p:spPr>
          <a:xfrm>
            <a:off x="197628" y="4445377"/>
            <a:ext cx="8849032" cy="1569660"/>
          </a:xfrm>
          <a:prstGeom prst="rect">
            <a:avLst/>
          </a:prstGeom>
        </p:spPr>
        <p:txBody>
          <a:bodyPr wrap="square">
            <a:spAutoFit/>
          </a:bodyPr>
          <a:lstStyle/>
          <a:p>
            <a:r>
              <a:rPr lang="pt-BR" sz="2400" dirty="0"/>
              <a:t>For </a:t>
            </a:r>
            <a:r>
              <a:rPr lang="pt-BR" sz="2400" b="1" i="1" dirty="0"/>
              <a:t>n</a:t>
            </a:r>
            <a:r>
              <a:rPr lang="pt-BR" sz="2400" dirty="0"/>
              <a:t> = 1, we have </a:t>
            </a:r>
          </a:p>
          <a:p>
            <a:r>
              <a:rPr lang="pt-BR" sz="2400" b="1" i="1" dirty="0"/>
              <a:t>K</a:t>
            </a:r>
            <a:r>
              <a:rPr lang="pt-BR" sz="2400" b="1" i="1" baseline="-25000" dirty="0"/>
              <a:t>1</a:t>
            </a:r>
            <a:r>
              <a:rPr lang="pt-BR" sz="2400" dirty="0"/>
              <a:t> = 000110 110000 001011 101111 111111 000111 000001 110010 </a:t>
            </a:r>
            <a:br>
              <a:rPr lang="pt-BR" sz="2400" dirty="0"/>
            </a:br>
            <a:r>
              <a:rPr lang="pt-BR" sz="2400" b="1" i="1" dirty="0"/>
              <a:t>L</a:t>
            </a:r>
            <a:r>
              <a:rPr lang="pt-BR" sz="2400" b="1" i="1" baseline="-25000" dirty="0"/>
              <a:t>1</a:t>
            </a:r>
            <a:r>
              <a:rPr lang="pt-BR" sz="2400" dirty="0"/>
              <a:t> = </a:t>
            </a:r>
            <a:r>
              <a:rPr lang="pt-BR" sz="2400" b="1" i="1" dirty="0"/>
              <a:t>R</a:t>
            </a:r>
            <a:r>
              <a:rPr lang="pt-BR" sz="2400" b="1" i="1" baseline="-25000" dirty="0"/>
              <a:t>0</a:t>
            </a:r>
            <a:r>
              <a:rPr lang="pt-BR" sz="2400" dirty="0"/>
              <a:t> = 1111 0000 1010 1010 1111 0000 1010 1010 </a:t>
            </a:r>
            <a:br>
              <a:rPr lang="pt-BR" sz="2400" dirty="0"/>
            </a:br>
            <a:r>
              <a:rPr lang="pt-BR" sz="2400" b="1" i="1" dirty="0"/>
              <a:t>R</a:t>
            </a:r>
            <a:r>
              <a:rPr lang="pt-BR" sz="2400" b="1" i="1" baseline="-25000" dirty="0"/>
              <a:t>1</a:t>
            </a:r>
            <a:r>
              <a:rPr lang="pt-BR" sz="2400" dirty="0"/>
              <a:t> = </a:t>
            </a:r>
            <a:r>
              <a:rPr lang="pt-BR" sz="2400" b="1" i="1" dirty="0"/>
              <a:t>L</a:t>
            </a:r>
            <a:r>
              <a:rPr lang="pt-BR" sz="2400" b="1" i="1" baseline="-25000" dirty="0"/>
              <a:t>0</a:t>
            </a:r>
            <a:r>
              <a:rPr lang="pt-BR" sz="2400" dirty="0"/>
              <a:t> + </a:t>
            </a:r>
            <a:r>
              <a:rPr lang="pt-BR" sz="2400" b="1" i="1" dirty="0"/>
              <a:t>f</a:t>
            </a:r>
            <a:r>
              <a:rPr lang="pt-BR" sz="2400" dirty="0"/>
              <a:t>(</a:t>
            </a:r>
            <a:r>
              <a:rPr lang="pt-BR" sz="2400" b="1" i="1" dirty="0"/>
              <a:t>R</a:t>
            </a:r>
            <a:r>
              <a:rPr lang="pt-BR" sz="2400" b="1" i="1" baseline="-25000" dirty="0"/>
              <a:t>0</a:t>
            </a:r>
            <a:r>
              <a:rPr lang="pt-BR" sz="2400" dirty="0"/>
              <a:t>,</a:t>
            </a:r>
            <a:r>
              <a:rPr lang="pt-BR" sz="2400" b="1" i="1" dirty="0"/>
              <a:t>K</a:t>
            </a:r>
            <a:r>
              <a:rPr lang="pt-BR" sz="2400" b="1" i="1" baseline="-25000" dirty="0"/>
              <a:t>1</a:t>
            </a:r>
            <a:r>
              <a:rPr lang="pt-BR" sz="2400" dirty="0"/>
              <a:t>) </a:t>
            </a:r>
          </a:p>
        </p:txBody>
      </p:sp>
      <p:sp>
        <p:nvSpPr>
          <p:cNvPr id="8" name="Rectangle 7"/>
          <p:cNvSpPr/>
          <p:nvPr/>
        </p:nvSpPr>
        <p:spPr>
          <a:xfrm>
            <a:off x="4648200" y="2155091"/>
            <a:ext cx="4572000" cy="1815882"/>
          </a:xfrm>
          <a:prstGeom prst="rect">
            <a:avLst/>
          </a:prstGeom>
        </p:spPr>
        <p:txBody>
          <a:bodyPr>
            <a:spAutoFit/>
          </a:bodyPr>
          <a:lstStyle/>
          <a:p>
            <a:r>
              <a:rPr lang="en-US" sz="2800" b="1" i="1" dirty="0"/>
              <a:t>n=1 for round 1</a:t>
            </a:r>
            <a:endParaRPr lang="en-IN" sz="2800" b="1" i="1" dirty="0"/>
          </a:p>
          <a:p>
            <a:r>
              <a:rPr lang="en-IN" sz="2800" b="1" i="1" dirty="0"/>
              <a:t>L</a:t>
            </a:r>
            <a:r>
              <a:rPr lang="en-IN" sz="2800" b="1" i="1" baseline="-25000" dirty="0"/>
              <a:t>1</a:t>
            </a:r>
            <a:r>
              <a:rPr lang="en-IN" sz="2800" dirty="0"/>
              <a:t> = </a:t>
            </a:r>
            <a:r>
              <a:rPr lang="en-IN" sz="2800" b="1" i="1" dirty="0"/>
              <a:t>R</a:t>
            </a:r>
            <a:r>
              <a:rPr lang="en-IN" sz="2800" b="1" i="1" baseline="-25000" dirty="0"/>
              <a:t>1-1</a:t>
            </a:r>
            <a:r>
              <a:rPr lang="en-IN" sz="2800" dirty="0"/>
              <a:t> </a:t>
            </a:r>
            <a:br>
              <a:rPr lang="en-IN" sz="2800" dirty="0"/>
            </a:br>
            <a:r>
              <a:rPr lang="en-IN" sz="2800" b="1" i="1" dirty="0"/>
              <a:t>R</a:t>
            </a:r>
            <a:r>
              <a:rPr lang="en-IN" sz="2800" b="1" i="1" baseline="-25000" dirty="0"/>
              <a:t>1</a:t>
            </a:r>
            <a:r>
              <a:rPr lang="en-IN" sz="2800" dirty="0"/>
              <a:t> = </a:t>
            </a:r>
            <a:r>
              <a:rPr lang="en-IN" sz="2800" b="1" i="1" dirty="0"/>
              <a:t>L</a:t>
            </a:r>
            <a:r>
              <a:rPr lang="en-IN" sz="2800" b="1" i="1" baseline="-25000" dirty="0"/>
              <a:t>1-1</a:t>
            </a:r>
            <a:r>
              <a:rPr lang="en-IN" sz="2800" dirty="0"/>
              <a:t> + </a:t>
            </a:r>
            <a:r>
              <a:rPr lang="en-IN" sz="2800" b="1" i="1" dirty="0"/>
              <a:t>f</a:t>
            </a:r>
            <a:r>
              <a:rPr lang="en-IN" sz="2800" dirty="0"/>
              <a:t>(</a:t>
            </a:r>
            <a:r>
              <a:rPr lang="en-IN" sz="2800" b="1" i="1" dirty="0"/>
              <a:t>R</a:t>
            </a:r>
            <a:r>
              <a:rPr lang="en-IN" sz="2800" b="1" i="1" baseline="-25000" dirty="0"/>
              <a:t>1-1</a:t>
            </a:r>
            <a:r>
              <a:rPr lang="en-IN" sz="2800" dirty="0"/>
              <a:t>,</a:t>
            </a:r>
            <a:r>
              <a:rPr lang="en-IN" sz="2800" b="1" i="1" dirty="0"/>
              <a:t>K</a:t>
            </a:r>
            <a:r>
              <a:rPr lang="en-IN" sz="2800" b="1" i="1" baseline="-25000" dirty="0"/>
              <a:t>1</a:t>
            </a:r>
            <a:r>
              <a:rPr lang="en-IN" sz="2800" dirty="0"/>
              <a:t>)</a:t>
            </a:r>
          </a:p>
          <a:p>
            <a:r>
              <a:rPr lang="en-IN" sz="2800" dirty="0"/>
              <a:t> </a:t>
            </a:r>
          </a:p>
        </p:txBody>
      </p:sp>
      <p:sp>
        <p:nvSpPr>
          <p:cNvPr id="9" name="Rectangle 8"/>
          <p:cNvSpPr/>
          <p:nvPr/>
        </p:nvSpPr>
        <p:spPr>
          <a:xfrm>
            <a:off x="4648200" y="3579554"/>
            <a:ext cx="4572000" cy="1384995"/>
          </a:xfrm>
          <a:prstGeom prst="rect">
            <a:avLst/>
          </a:prstGeom>
        </p:spPr>
        <p:txBody>
          <a:bodyPr>
            <a:spAutoFit/>
          </a:bodyPr>
          <a:lstStyle/>
          <a:p>
            <a:r>
              <a:rPr lang="en-IN" sz="2800" b="1" i="1" dirty="0"/>
              <a:t>L</a:t>
            </a:r>
            <a:r>
              <a:rPr lang="en-IN" sz="2800" b="1" i="1" baseline="-25000" dirty="0"/>
              <a:t>1</a:t>
            </a:r>
            <a:r>
              <a:rPr lang="en-IN" sz="2800" dirty="0"/>
              <a:t> = </a:t>
            </a:r>
            <a:r>
              <a:rPr lang="en-IN" sz="2800" b="1" i="1" dirty="0"/>
              <a:t>R</a:t>
            </a:r>
            <a:r>
              <a:rPr lang="en-IN" sz="2800" b="1" i="1" baseline="-25000" dirty="0"/>
              <a:t>0</a:t>
            </a:r>
            <a:br>
              <a:rPr lang="en-IN" sz="2800" dirty="0"/>
            </a:br>
            <a:r>
              <a:rPr lang="en-IN" sz="2800" b="1" i="1" dirty="0"/>
              <a:t>R</a:t>
            </a:r>
            <a:r>
              <a:rPr lang="en-IN" sz="2800" b="1" i="1" baseline="-25000" dirty="0"/>
              <a:t>1</a:t>
            </a:r>
            <a:r>
              <a:rPr lang="en-IN" sz="2800" dirty="0"/>
              <a:t> = </a:t>
            </a:r>
            <a:r>
              <a:rPr lang="en-IN" sz="2800" b="1" i="1" dirty="0"/>
              <a:t>L</a:t>
            </a:r>
            <a:r>
              <a:rPr lang="en-IN" sz="2800" b="1" i="1" baseline="-25000" dirty="0"/>
              <a:t>0</a:t>
            </a:r>
            <a:r>
              <a:rPr lang="en-IN" sz="2800" dirty="0"/>
              <a:t> + </a:t>
            </a:r>
            <a:r>
              <a:rPr lang="en-IN" sz="2800" b="1" i="1" dirty="0"/>
              <a:t>f</a:t>
            </a:r>
            <a:r>
              <a:rPr lang="en-IN" sz="2800" dirty="0"/>
              <a:t>(</a:t>
            </a:r>
            <a:r>
              <a:rPr lang="en-IN" sz="2800" b="1" i="1" dirty="0"/>
              <a:t>R</a:t>
            </a:r>
            <a:r>
              <a:rPr lang="en-IN" sz="2800" b="1" i="1" baseline="-25000" dirty="0"/>
              <a:t>0</a:t>
            </a:r>
            <a:r>
              <a:rPr lang="en-IN" sz="2800" dirty="0"/>
              <a:t>,</a:t>
            </a:r>
            <a:r>
              <a:rPr lang="en-IN" sz="2800" b="1" i="1" dirty="0"/>
              <a:t>K</a:t>
            </a:r>
            <a:r>
              <a:rPr lang="en-IN" sz="2800" b="1" i="1" baseline="-25000" dirty="0"/>
              <a:t>1</a:t>
            </a:r>
            <a:r>
              <a:rPr lang="en-IN" sz="2800" dirty="0"/>
              <a:t>)</a:t>
            </a:r>
          </a:p>
          <a:p>
            <a:r>
              <a:rPr lang="en-IN" sz="2800" dirty="0"/>
              <a:t> </a:t>
            </a:r>
          </a:p>
        </p:txBody>
      </p:sp>
    </p:spTree>
    <p:extLst>
      <p:ext uri="{BB962C8B-B14F-4D97-AF65-F5344CB8AC3E}">
        <p14:creationId xmlns:p14="http://schemas.microsoft.com/office/powerpoint/2010/main" val="2364344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output of Round 1 </a:t>
            </a:r>
            <a:endParaRPr lang="en-IN" dirty="0"/>
          </a:p>
        </p:txBody>
      </p:sp>
      <p:sp>
        <p:nvSpPr>
          <p:cNvPr id="4" name="Rectangle 3"/>
          <p:cNvSpPr/>
          <p:nvPr/>
        </p:nvSpPr>
        <p:spPr>
          <a:xfrm>
            <a:off x="381000" y="1981200"/>
            <a:ext cx="6477000" cy="369332"/>
          </a:xfrm>
          <a:prstGeom prst="rect">
            <a:avLst/>
          </a:prstGeom>
        </p:spPr>
        <p:txBody>
          <a:bodyPr wrap="square">
            <a:spAutoFit/>
          </a:bodyPr>
          <a:lstStyle/>
          <a:p>
            <a:pPr lvl="0" eaLnBrk="0" fontAlgn="base" hangingPunct="0">
              <a:spcBef>
                <a:spcPct val="0"/>
              </a:spcBef>
              <a:spcAft>
                <a:spcPct val="0"/>
              </a:spcAft>
            </a:pPr>
            <a:r>
              <a:rPr lang="pt-BR" b="1" i="1" dirty="0"/>
              <a:t>f</a:t>
            </a:r>
            <a:r>
              <a:rPr lang="pt-BR" dirty="0"/>
              <a:t>(</a:t>
            </a:r>
            <a:r>
              <a:rPr lang="pt-BR" b="1" i="1" dirty="0"/>
              <a:t>R</a:t>
            </a:r>
            <a:r>
              <a:rPr lang="pt-BR" b="1" i="1" baseline="-25000" dirty="0"/>
              <a:t>0</a:t>
            </a:r>
            <a:r>
              <a:rPr lang="pt-BR" dirty="0"/>
              <a:t>,</a:t>
            </a:r>
            <a:r>
              <a:rPr lang="pt-BR" b="1" i="1" dirty="0"/>
              <a:t>K</a:t>
            </a:r>
            <a:r>
              <a:rPr lang="pt-BR" b="1" i="1" baseline="-25000" dirty="0"/>
              <a:t>1</a:t>
            </a:r>
            <a:r>
              <a:rPr lang="pt-BR" dirty="0"/>
              <a:t>)</a:t>
            </a:r>
            <a:r>
              <a:rPr lang="en-US" altLang="en-US" b="1" dirty="0">
                <a:latin typeface="Arial" charset="0"/>
                <a:cs typeface="Arial" charset="0"/>
              </a:rPr>
              <a:t> = 0010 0011 0100 1010 1010 1001 1011 1011 </a:t>
            </a:r>
          </a:p>
        </p:txBody>
      </p:sp>
      <p:sp>
        <p:nvSpPr>
          <p:cNvPr id="6" name="Rectangle 5"/>
          <p:cNvSpPr/>
          <p:nvPr/>
        </p:nvSpPr>
        <p:spPr>
          <a:xfrm>
            <a:off x="197628" y="3124200"/>
            <a:ext cx="8849032" cy="1200329"/>
          </a:xfrm>
          <a:prstGeom prst="rect">
            <a:avLst/>
          </a:prstGeom>
        </p:spPr>
        <p:txBody>
          <a:bodyPr wrap="square">
            <a:spAutoFit/>
          </a:bodyPr>
          <a:lstStyle/>
          <a:p>
            <a:r>
              <a:rPr lang="pt-BR" sz="2400" dirty="0"/>
              <a:t>For </a:t>
            </a:r>
            <a:r>
              <a:rPr lang="pt-BR" sz="2400" b="1" i="1" dirty="0"/>
              <a:t>n</a:t>
            </a:r>
            <a:r>
              <a:rPr lang="pt-BR" sz="2400" dirty="0"/>
              <a:t> = 1, we have </a:t>
            </a:r>
          </a:p>
          <a:p>
            <a:r>
              <a:rPr lang="pt-BR" sz="2400" b="1" i="1" dirty="0"/>
              <a:t>L</a:t>
            </a:r>
            <a:r>
              <a:rPr lang="pt-BR" sz="2400" b="1" i="1" baseline="-25000" dirty="0"/>
              <a:t>1</a:t>
            </a:r>
            <a:r>
              <a:rPr lang="pt-BR" sz="2400" dirty="0"/>
              <a:t> = </a:t>
            </a:r>
            <a:r>
              <a:rPr lang="pt-BR" sz="2400" b="1" i="1" dirty="0"/>
              <a:t>R</a:t>
            </a:r>
            <a:r>
              <a:rPr lang="pt-BR" sz="2400" b="1" i="1" baseline="-25000" dirty="0"/>
              <a:t>0</a:t>
            </a:r>
            <a:r>
              <a:rPr lang="pt-BR" sz="2400" dirty="0"/>
              <a:t> = 1111 0000 1010 1010 1111 0000 1010 1010 </a:t>
            </a:r>
            <a:br>
              <a:rPr lang="pt-BR" sz="2400" dirty="0"/>
            </a:br>
            <a:r>
              <a:rPr lang="pt-BR" sz="2400" b="1" i="1" dirty="0"/>
              <a:t>R</a:t>
            </a:r>
            <a:r>
              <a:rPr lang="pt-BR" sz="2400" b="1" i="1" baseline="-25000" dirty="0"/>
              <a:t>1</a:t>
            </a:r>
            <a:r>
              <a:rPr lang="pt-BR" sz="2400" dirty="0"/>
              <a:t> = </a:t>
            </a:r>
            <a:r>
              <a:rPr lang="pt-BR" sz="2400" b="1" i="1" dirty="0"/>
              <a:t>L</a:t>
            </a:r>
            <a:r>
              <a:rPr lang="pt-BR" sz="2400" b="1" i="1" baseline="-25000" dirty="0"/>
              <a:t>0</a:t>
            </a:r>
            <a:r>
              <a:rPr lang="pt-BR" sz="2400" dirty="0"/>
              <a:t> </a:t>
            </a:r>
            <a:r>
              <a:rPr lang="en-IN" sz="2400" dirty="0"/>
              <a:t>⊕</a:t>
            </a:r>
            <a:r>
              <a:rPr lang="pt-BR" sz="2400" dirty="0"/>
              <a:t> </a:t>
            </a:r>
            <a:r>
              <a:rPr lang="pt-BR" sz="2400" b="1" i="1" dirty="0"/>
              <a:t>f</a:t>
            </a:r>
            <a:r>
              <a:rPr lang="pt-BR" sz="2400" dirty="0"/>
              <a:t>(</a:t>
            </a:r>
            <a:r>
              <a:rPr lang="pt-BR" sz="2400" b="1" i="1" dirty="0"/>
              <a:t>R</a:t>
            </a:r>
            <a:r>
              <a:rPr lang="pt-BR" sz="2400" b="1" i="1" baseline="-25000" dirty="0"/>
              <a:t>0</a:t>
            </a:r>
            <a:r>
              <a:rPr lang="pt-BR" sz="2400" dirty="0"/>
              <a:t>,</a:t>
            </a:r>
            <a:r>
              <a:rPr lang="pt-BR" sz="2400" b="1" i="1" dirty="0"/>
              <a:t>K</a:t>
            </a:r>
            <a:r>
              <a:rPr lang="pt-BR" sz="2400" b="1" i="1" baseline="-25000" dirty="0"/>
              <a:t>1</a:t>
            </a:r>
            <a:r>
              <a:rPr lang="pt-BR" sz="2400" dirty="0"/>
              <a:t>) </a:t>
            </a:r>
          </a:p>
        </p:txBody>
      </p:sp>
      <p:sp>
        <p:nvSpPr>
          <p:cNvPr id="7" name="Rectangle 6"/>
          <p:cNvSpPr/>
          <p:nvPr/>
        </p:nvSpPr>
        <p:spPr>
          <a:xfrm>
            <a:off x="381000" y="2477868"/>
            <a:ext cx="7239000" cy="646331"/>
          </a:xfrm>
          <a:prstGeom prst="rect">
            <a:avLst/>
          </a:prstGeom>
        </p:spPr>
        <p:txBody>
          <a:bodyPr wrap="square">
            <a:spAutoFit/>
          </a:bodyPr>
          <a:lstStyle/>
          <a:p>
            <a:pPr eaLnBrk="0" fontAlgn="base" hangingPunct="0">
              <a:spcBef>
                <a:spcPct val="0"/>
              </a:spcBef>
              <a:spcAft>
                <a:spcPct val="0"/>
              </a:spcAft>
            </a:pPr>
            <a:r>
              <a:rPr lang="pt-BR" b="1" dirty="0"/>
              <a:t>L0 = 1100 1100 0000 0000 1100 1100 1111 1111 </a:t>
            </a:r>
            <a:br>
              <a:rPr lang="pt-BR" b="1" dirty="0"/>
            </a:br>
            <a:r>
              <a:rPr lang="pt-BR" b="1" dirty="0"/>
              <a:t>R0 = 1111 0000 1010 1010 1111 0000 1010 1010 </a:t>
            </a:r>
            <a:endParaRPr lang="en-IN" b="1" dirty="0"/>
          </a:p>
        </p:txBody>
      </p:sp>
      <p:sp>
        <p:nvSpPr>
          <p:cNvPr id="8" name="Rectangle 1"/>
          <p:cNvSpPr>
            <a:spLocks noChangeArrowheads="1"/>
          </p:cNvSpPr>
          <p:nvPr/>
        </p:nvSpPr>
        <p:spPr bwMode="auto">
          <a:xfrm>
            <a:off x="262521" y="4349531"/>
            <a:ext cx="538467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dirty="0">
                <a:latin typeface="Arial" charset="0"/>
                <a:cs typeface="Arial" charset="0"/>
              </a:rPr>
              <a:t>=  1100 1100 0000 0000 1100 1100 1111 1111 </a:t>
            </a:r>
            <a:br>
              <a:rPr lang="en-US" altLang="en-US" dirty="0">
                <a:latin typeface="Arial" charset="0"/>
                <a:cs typeface="Arial" charset="0"/>
              </a:rPr>
            </a:br>
            <a:r>
              <a:rPr lang="en-IN" dirty="0"/>
              <a:t>⊕</a:t>
            </a:r>
            <a:r>
              <a:rPr lang="en-US" altLang="en-US" dirty="0">
                <a:latin typeface="Arial" charset="0"/>
                <a:cs typeface="Arial" charset="0"/>
              </a:rPr>
              <a:t> 0010 0011 0100 1010 1010 1001 1011 1011 </a:t>
            </a:r>
            <a:br>
              <a:rPr lang="en-US" altLang="en-US" dirty="0">
                <a:latin typeface="Arial" charset="0"/>
                <a:cs typeface="Arial" charset="0"/>
              </a:rPr>
            </a:br>
            <a:endParaRPr lang="en-US" altLang="en-US" dirty="0">
              <a:latin typeface="Arial" charset="0"/>
              <a:cs typeface="Arial" charset="0"/>
            </a:endParaRPr>
          </a:p>
          <a:p>
            <a:pPr eaLnBrk="0" fontAlgn="base" hangingPunct="0">
              <a:spcBef>
                <a:spcPct val="0"/>
              </a:spcBef>
              <a:spcAft>
                <a:spcPct val="0"/>
              </a:spcAft>
            </a:pPr>
            <a:r>
              <a:rPr lang="en-US" altLang="en-US" dirty="0">
                <a:latin typeface="Arial" charset="0"/>
                <a:cs typeface="Arial" charset="0"/>
              </a:rPr>
              <a:t>R1 = 1110 1111 0100 1010  0110 0101 0100 0100</a:t>
            </a:r>
          </a:p>
          <a:p>
            <a:pPr eaLnBrk="0" fontAlgn="base" hangingPunct="0">
              <a:spcBef>
                <a:spcPct val="0"/>
              </a:spcBef>
              <a:spcAft>
                <a:spcPct val="0"/>
              </a:spcAft>
            </a:pPr>
            <a:r>
              <a:rPr lang="en-US" altLang="en-US" dirty="0">
                <a:latin typeface="Arial" charset="0"/>
                <a:cs typeface="Arial" charset="0"/>
              </a:rPr>
              <a:t> </a:t>
            </a:r>
          </a:p>
        </p:txBody>
      </p:sp>
      <p:sp>
        <p:nvSpPr>
          <p:cNvPr id="9" name="Rectangle 8"/>
          <p:cNvSpPr/>
          <p:nvPr/>
        </p:nvSpPr>
        <p:spPr>
          <a:xfrm>
            <a:off x="272353" y="5614219"/>
            <a:ext cx="73476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pt-BR" dirty="0">
                <a:latin typeface="Arial" panose="020B0604020202020204" pitchFamily="34" charset="0"/>
                <a:cs typeface="Arial" panose="020B0604020202020204" pitchFamily="34" charset="0"/>
              </a:rPr>
              <a:t>L1 = 1111 0000 1010 1010 1111 0000 1010 1010 </a:t>
            </a:r>
            <a:br>
              <a:rPr lang="pt-BR" dirty="0">
                <a:latin typeface="Arial" panose="020B0604020202020204" pitchFamily="34" charset="0"/>
                <a:cs typeface="Arial" panose="020B0604020202020204" pitchFamily="34" charset="0"/>
              </a:rPr>
            </a:br>
            <a:r>
              <a:rPr lang="pt-BR"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5797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p:cNvPicPr>
            <a:picLocks noChangeAspect="1"/>
          </p:cNvPicPr>
          <p:nvPr/>
        </p:nvPicPr>
        <p:blipFill>
          <a:blip r:embed="rId2"/>
          <a:stretch>
            <a:fillRect/>
          </a:stretch>
        </p:blipFill>
        <p:spPr>
          <a:xfrm>
            <a:off x="609600" y="457200"/>
            <a:ext cx="8001000" cy="6019800"/>
          </a:xfrm>
          <a:prstGeom prst="rect">
            <a:avLst/>
          </a:prstGeom>
        </p:spPr>
      </p:pic>
    </p:spTree>
    <p:extLst>
      <p:ext uri="{BB962C8B-B14F-4D97-AF65-F5344CB8AC3E}">
        <p14:creationId xmlns:p14="http://schemas.microsoft.com/office/powerpoint/2010/main" val="3553511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Let us start Round 2</a:t>
            </a:r>
            <a:endParaRPr lang="en-IN" dirty="0"/>
          </a:p>
        </p:txBody>
      </p:sp>
      <p:sp>
        <p:nvSpPr>
          <p:cNvPr id="4" name="Rectangle 3"/>
          <p:cNvSpPr/>
          <p:nvPr/>
        </p:nvSpPr>
        <p:spPr>
          <a:xfrm>
            <a:off x="302342" y="1371600"/>
            <a:ext cx="6629400" cy="830997"/>
          </a:xfrm>
          <a:prstGeom prst="rect">
            <a:avLst/>
          </a:prstGeom>
        </p:spPr>
        <p:txBody>
          <a:bodyPr wrap="square">
            <a:spAutoFit/>
          </a:bodyPr>
          <a:lstStyle/>
          <a:p>
            <a:r>
              <a:rPr lang="pt-BR" sz="2400" b="1" i="1" dirty="0"/>
              <a:t>L</a:t>
            </a:r>
            <a:r>
              <a:rPr lang="pt-BR" sz="2400" b="1" i="1" baseline="-25000" dirty="0"/>
              <a:t>1</a:t>
            </a:r>
            <a:r>
              <a:rPr lang="pt-BR" sz="2400" dirty="0"/>
              <a:t> = 1111 0000 1010 1010 1111 0000 1010 1010 </a:t>
            </a:r>
            <a:br>
              <a:rPr lang="pt-BR" sz="2400" dirty="0"/>
            </a:br>
            <a:r>
              <a:rPr lang="pt-BR" sz="2400" b="1" i="1" dirty="0"/>
              <a:t>R</a:t>
            </a:r>
            <a:r>
              <a:rPr lang="pt-BR" sz="2400" b="1" i="1" baseline="-25000" dirty="0"/>
              <a:t>1</a:t>
            </a:r>
            <a:r>
              <a:rPr lang="pt-BR" sz="2400" dirty="0"/>
              <a:t> = </a:t>
            </a:r>
            <a:r>
              <a:rPr lang="en-IN" sz="2400" dirty="0"/>
              <a:t>1110 1111 0100 1010 0110 0101 0100 0100</a:t>
            </a:r>
          </a:p>
        </p:txBody>
      </p:sp>
      <p:sp>
        <p:nvSpPr>
          <p:cNvPr id="5" name="Rectangle 4"/>
          <p:cNvSpPr/>
          <p:nvPr/>
        </p:nvSpPr>
        <p:spPr>
          <a:xfrm>
            <a:off x="457200" y="2209800"/>
            <a:ext cx="4572000" cy="1384995"/>
          </a:xfrm>
          <a:prstGeom prst="rect">
            <a:avLst/>
          </a:prstGeom>
        </p:spPr>
        <p:txBody>
          <a:bodyPr>
            <a:spAutoFit/>
          </a:bodyPr>
          <a:lstStyle/>
          <a:p>
            <a:r>
              <a:rPr lang="en-IN" sz="2800" b="1" i="1" dirty="0"/>
              <a:t>L</a:t>
            </a:r>
            <a:r>
              <a:rPr lang="en-IN" sz="2800" b="1" i="1" baseline="-25000" dirty="0"/>
              <a:t>n</a:t>
            </a:r>
            <a:r>
              <a:rPr lang="en-IN" sz="2800" dirty="0"/>
              <a:t> = </a:t>
            </a:r>
            <a:r>
              <a:rPr lang="en-IN" sz="2800" b="1" i="1" dirty="0"/>
              <a:t>R</a:t>
            </a:r>
            <a:r>
              <a:rPr lang="en-IN" sz="2800" b="1" i="1" baseline="-25000" dirty="0"/>
              <a:t>n-1</a:t>
            </a:r>
            <a:r>
              <a:rPr lang="en-IN" sz="2800" dirty="0"/>
              <a:t> </a:t>
            </a:r>
            <a:br>
              <a:rPr lang="en-IN" sz="2800" dirty="0"/>
            </a:br>
            <a:r>
              <a:rPr lang="en-IN" sz="2800" b="1" i="1" dirty="0"/>
              <a:t>R</a:t>
            </a:r>
            <a:r>
              <a:rPr lang="en-IN" sz="2800" b="1" i="1" baseline="-25000" dirty="0"/>
              <a:t>n</a:t>
            </a:r>
            <a:r>
              <a:rPr lang="en-IN" sz="2800" dirty="0"/>
              <a:t> = </a:t>
            </a:r>
            <a:r>
              <a:rPr lang="en-IN" sz="2800" b="1" i="1" dirty="0"/>
              <a:t>L</a:t>
            </a:r>
            <a:r>
              <a:rPr lang="en-IN" sz="2800" b="1" i="1" baseline="-25000" dirty="0"/>
              <a:t>n-1</a:t>
            </a:r>
            <a:r>
              <a:rPr lang="en-IN" sz="2800" dirty="0"/>
              <a:t> + </a:t>
            </a:r>
            <a:r>
              <a:rPr lang="en-IN" sz="2800" b="1" i="1" dirty="0"/>
              <a:t>f</a:t>
            </a:r>
            <a:r>
              <a:rPr lang="en-IN" sz="2800" dirty="0"/>
              <a:t>(</a:t>
            </a:r>
            <a:r>
              <a:rPr lang="en-IN" sz="2800" b="1" i="1" dirty="0"/>
              <a:t>R</a:t>
            </a:r>
            <a:r>
              <a:rPr lang="en-IN" sz="2800" b="1" i="1" baseline="-25000" dirty="0"/>
              <a:t>n-1</a:t>
            </a:r>
            <a:r>
              <a:rPr lang="en-IN" sz="2800" dirty="0"/>
              <a:t>,</a:t>
            </a:r>
            <a:r>
              <a:rPr lang="en-IN" sz="2800" b="1" i="1" dirty="0"/>
              <a:t>K</a:t>
            </a:r>
            <a:r>
              <a:rPr lang="en-IN" sz="2800" b="1" i="1" baseline="-25000" dirty="0"/>
              <a:t>n</a:t>
            </a:r>
            <a:r>
              <a:rPr lang="en-IN" sz="2800" dirty="0"/>
              <a:t>)</a:t>
            </a:r>
          </a:p>
          <a:p>
            <a:r>
              <a:rPr lang="en-IN" sz="2800" dirty="0"/>
              <a:t> </a:t>
            </a:r>
            <a:r>
              <a:rPr lang="en-IN" sz="2800" b="1" dirty="0"/>
              <a:t>Let + denote XOR addition</a:t>
            </a:r>
            <a:endParaRPr lang="en-IN" sz="2800" dirty="0"/>
          </a:p>
        </p:txBody>
      </p:sp>
      <p:sp>
        <p:nvSpPr>
          <p:cNvPr id="6" name="Rectangle 5"/>
          <p:cNvSpPr/>
          <p:nvPr/>
        </p:nvSpPr>
        <p:spPr>
          <a:xfrm>
            <a:off x="197628" y="4445377"/>
            <a:ext cx="8849032" cy="1569660"/>
          </a:xfrm>
          <a:prstGeom prst="rect">
            <a:avLst/>
          </a:prstGeom>
        </p:spPr>
        <p:txBody>
          <a:bodyPr wrap="square">
            <a:spAutoFit/>
          </a:bodyPr>
          <a:lstStyle/>
          <a:p>
            <a:r>
              <a:rPr lang="pt-BR" sz="2400" dirty="0"/>
              <a:t>For </a:t>
            </a:r>
            <a:r>
              <a:rPr lang="pt-BR" sz="2400" b="1" i="1" dirty="0"/>
              <a:t>n</a:t>
            </a:r>
            <a:r>
              <a:rPr lang="pt-BR" sz="2400" dirty="0"/>
              <a:t> = 1, we have </a:t>
            </a:r>
          </a:p>
          <a:p>
            <a:r>
              <a:rPr lang="pt-BR" sz="2400" b="1" i="1" dirty="0"/>
              <a:t>K</a:t>
            </a:r>
            <a:r>
              <a:rPr lang="pt-BR" sz="2400" b="1" i="1" baseline="-25000" dirty="0"/>
              <a:t>2</a:t>
            </a:r>
            <a:r>
              <a:rPr lang="pt-BR" sz="2400" dirty="0"/>
              <a:t> = </a:t>
            </a:r>
            <a:r>
              <a:rPr lang="en-IN" sz="2400" dirty="0"/>
              <a:t>011110 011010 111011 011001 110110 111100 100111 100101</a:t>
            </a:r>
            <a:br>
              <a:rPr lang="pt-BR" sz="2400" dirty="0"/>
            </a:br>
            <a:r>
              <a:rPr lang="pt-BR" sz="2400" b="1" i="1" dirty="0"/>
              <a:t>L</a:t>
            </a:r>
            <a:r>
              <a:rPr lang="pt-BR" sz="2400" b="1" i="1" baseline="-25000" dirty="0"/>
              <a:t>2</a:t>
            </a:r>
            <a:r>
              <a:rPr lang="pt-BR" sz="2400" dirty="0"/>
              <a:t> = </a:t>
            </a:r>
            <a:r>
              <a:rPr lang="pt-BR" sz="2400" b="1" i="1" dirty="0"/>
              <a:t>R</a:t>
            </a:r>
            <a:r>
              <a:rPr lang="pt-BR" sz="2400" b="1" i="1" baseline="-25000" dirty="0"/>
              <a:t>1</a:t>
            </a:r>
            <a:r>
              <a:rPr lang="pt-BR" sz="2400" dirty="0"/>
              <a:t> = 1111 0000 1010 1010 1111 0000 1010 1010 </a:t>
            </a:r>
            <a:br>
              <a:rPr lang="pt-BR" sz="2400" dirty="0"/>
            </a:br>
            <a:r>
              <a:rPr lang="pt-BR" sz="2400" b="1" i="1" dirty="0"/>
              <a:t>R</a:t>
            </a:r>
            <a:r>
              <a:rPr lang="pt-BR" sz="2400" b="1" i="1" baseline="-25000" dirty="0"/>
              <a:t>2</a:t>
            </a:r>
            <a:r>
              <a:rPr lang="pt-BR" sz="2400" dirty="0"/>
              <a:t> = </a:t>
            </a:r>
            <a:r>
              <a:rPr lang="pt-BR" sz="2400" b="1" i="1" dirty="0"/>
              <a:t>L</a:t>
            </a:r>
            <a:r>
              <a:rPr lang="pt-BR" sz="2400" b="1" i="1" baseline="-25000" dirty="0"/>
              <a:t>1</a:t>
            </a:r>
            <a:r>
              <a:rPr lang="pt-BR" sz="2400" dirty="0"/>
              <a:t> </a:t>
            </a:r>
            <a:r>
              <a:rPr lang="en-IN" sz="2400" dirty="0"/>
              <a:t>⊕</a:t>
            </a:r>
            <a:r>
              <a:rPr lang="pt-BR" sz="2400" dirty="0"/>
              <a:t> </a:t>
            </a:r>
            <a:r>
              <a:rPr lang="pt-BR" sz="2400" b="1" i="1" dirty="0"/>
              <a:t>f</a:t>
            </a:r>
            <a:r>
              <a:rPr lang="pt-BR" sz="2400" dirty="0"/>
              <a:t>(</a:t>
            </a:r>
            <a:r>
              <a:rPr lang="pt-BR" sz="2400" b="1" i="1" dirty="0"/>
              <a:t>R</a:t>
            </a:r>
            <a:r>
              <a:rPr lang="pt-BR" sz="2400" b="1" i="1" baseline="-25000" dirty="0"/>
              <a:t>1</a:t>
            </a:r>
            <a:r>
              <a:rPr lang="pt-BR" sz="2400" dirty="0"/>
              <a:t>,</a:t>
            </a:r>
            <a:r>
              <a:rPr lang="pt-BR" sz="2400" b="1" i="1" dirty="0"/>
              <a:t>K</a:t>
            </a:r>
            <a:r>
              <a:rPr lang="pt-BR" sz="2400" b="1" i="1" baseline="-25000" dirty="0"/>
              <a:t>2</a:t>
            </a:r>
            <a:r>
              <a:rPr lang="pt-BR" sz="2400" dirty="0"/>
              <a:t>) </a:t>
            </a:r>
          </a:p>
        </p:txBody>
      </p:sp>
      <p:sp>
        <p:nvSpPr>
          <p:cNvPr id="8" name="Rectangle 7"/>
          <p:cNvSpPr/>
          <p:nvPr/>
        </p:nvSpPr>
        <p:spPr>
          <a:xfrm>
            <a:off x="4648200" y="2155091"/>
            <a:ext cx="4572000" cy="1815882"/>
          </a:xfrm>
          <a:prstGeom prst="rect">
            <a:avLst/>
          </a:prstGeom>
        </p:spPr>
        <p:txBody>
          <a:bodyPr>
            <a:spAutoFit/>
          </a:bodyPr>
          <a:lstStyle/>
          <a:p>
            <a:r>
              <a:rPr lang="en-US" sz="2800" b="1" i="1" dirty="0"/>
              <a:t>n=2 for round 2</a:t>
            </a:r>
            <a:endParaRPr lang="en-IN" sz="2800" b="1" i="1" dirty="0"/>
          </a:p>
          <a:p>
            <a:r>
              <a:rPr lang="en-IN" sz="2800" b="1" i="1" dirty="0"/>
              <a:t>L</a:t>
            </a:r>
            <a:r>
              <a:rPr lang="en-IN" sz="2800" b="1" i="1" baseline="-25000" dirty="0"/>
              <a:t>2</a:t>
            </a:r>
            <a:r>
              <a:rPr lang="en-IN" sz="2800" dirty="0"/>
              <a:t> = </a:t>
            </a:r>
            <a:r>
              <a:rPr lang="en-IN" sz="2800" b="1" i="1" dirty="0"/>
              <a:t>R</a:t>
            </a:r>
            <a:r>
              <a:rPr lang="en-IN" sz="2800" b="1" i="1" baseline="-25000" dirty="0"/>
              <a:t>2-1</a:t>
            </a:r>
            <a:r>
              <a:rPr lang="en-IN" sz="2800" dirty="0"/>
              <a:t> </a:t>
            </a:r>
            <a:br>
              <a:rPr lang="en-IN" sz="2800" dirty="0"/>
            </a:br>
            <a:r>
              <a:rPr lang="en-IN" sz="2800" b="1" i="1" dirty="0"/>
              <a:t>R</a:t>
            </a:r>
            <a:r>
              <a:rPr lang="en-IN" sz="2800" b="1" i="1" baseline="-25000" dirty="0"/>
              <a:t>2</a:t>
            </a:r>
            <a:r>
              <a:rPr lang="en-IN" sz="2800" dirty="0"/>
              <a:t> = </a:t>
            </a:r>
            <a:r>
              <a:rPr lang="en-IN" sz="2800" b="1" i="1" dirty="0"/>
              <a:t>L</a:t>
            </a:r>
            <a:r>
              <a:rPr lang="en-IN" sz="2800" b="1" i="1" baseline="-25000" dirty="0"/>
              <a:t>2-1</a:t>
            </a:r>
            <a:r>
              <a:rPr lang="en-IN" sz="2800" dirty="0"/>
              <a:t> + </a:t>
            </a:r>
            <a:r>
              <a:rPr lang="en-IN" sz="2800" b="1" i="1" dirty="0"/>
              <a:t>f</a:t>
            </a:r>
            <a:r>
              <a:rPr lang="en-IN" sz="2800" dirty="0"/>
              <a:t>(</a:t>
            </a:r>
            <a:r>
              <a:rPr lang="en-IN" sz="2800" b="1" i="1" dirty="0"/>
              <a:t>R2</a:t>
            </a:r>
            <a:r>
              <a:rPr lang="en-IN" sz="2800" b="1" i="1" baseline="-25000" dirty="0"/>
              <a:t>-1</a:t>
            </a:r>
            <a:r>
              <a:rPr lang="en-IN" sz="2800" dirty="0"/>
              <a:t>,</a:t>
            </a:r>
            <a:r>
              <a:rPr lang="en-IN" sz="2800" b="1" i="1" dirty="0"/>
              <a:t>K</a:t>
            </a:r>
            <a:r>
              <a:rPr lang="en-IN" sz="2800" b="1" i="1" baseline="-25000" dirty="0"/>
              <a:t>2</a:t>
            </a:r>
            <a:r>
              <a:rPr lang="en-IN" sz="2800" dirty="0"/>
              <a:t>)</a:t>
            </a:r>
          </a:p>
          <a:p>
            <a:r>
              <a:rPr lang="en-IN" sz="2800" dirty="0"/>
              <a:t> </a:t>
            </a:r>
          </a:p>
        </p:txBody>
      </p:sp>
      <p:sp>
        <p:nvSpPr>
          <p:cNvPr id="9" name="Rectangle 8"/>
          <p:cNvSpPr/>
          <p:nvPr/>
        </p:nvSpPr>
        <p:spPr>
          <a:xfrm>
            <a:off x="4648200" y="3579554"/>
            <a:ext cx="4572000" cy="1384995"/>
          </a:xfrm>
          <a:prstGeom prst="rect">
            <a:avLst/>
          </a:prstGeom>
        </p:spPr>
        <p:txBody>
          <a:bodyPr>
            <a:spAutoFit/>
          </a:bodyPr>
          <a:lstStyle/>
          <a:p>
            <a:r>
              <a:rPr lang="en-IN" sz="2800" b="1" i="1" dirty="0"/>
              <a:t>L</a:t>
            </a:r>
            <a:r>
              <a:rPr lang="en-IN" sz="2800" b="1" i="1" baseline="-25000" dirty="0"/>
              <a:t>2</a:t>
            </a:r>
            <a:r>
              <a:rPr lang="en-IN" sz="2800" dirty="0"/>
              <a:t> = </a:t>
            </a:r>
            <a:r>
              <a:rPr lang="en-IN" sz="2800" b="1" i="1" dirty="0"/>
              <a:t>R</a:t>
            </a:r>
            <a:r>
              <a:rPr lang="en-IN" sz="2800" b="1" i="1" baseline="-25000" dirty="0"/>
              <a:t>1</a:t>
            </a:r>
            <a:br>
              <a:rPr lang="en-IN" sz="2800" dirty="0"/>
            </a:br>
            <a:r>
              <a:rPr lang="en-IN" sz="2800" b="1" i="1" dirty="0"/>
              <a:t>R</a:t>
            </a:r>
            <a:r>
              <a:rPr lang="en-IN" sz="2800" b="1" i="1" baseline="-25000" dirty="0"/>
              <a:t>2</a:t>
            </a:r>
            <a:r>
              <a:rPr lang="en-IN" sz="2800" dirty="0"/>
              <a:t> = </a:t>
            </a:r>
            <a:r>
              <a:rPr lang="en-IN" sz="2800" b="1" i="1" dirty="0"/>
              <a:t>L</a:t>
            </a:r>
            <a:r>
              <a:rPr lang="en-IN" sz="2800" b="1" i="1" baseline="-25000" dirty="0"/>
              <a:t>1</a:t>
            </a:r>
            <a:r>
              <a:rPr lang="en-IN" sz="2800" dirty="0"/>
              <a:t> + </a:t>
            </a:r>
            <a:r>
              <a:rPr lang="en-IN" sz="2800" b="1" i="1" dirty="0"/>
              <a:t>f</a:t>
            </a:r>
            <a:r>
              <a:rPr lang="en-IN" sz="2800" dirty="0"/>
              <a:t>(</a:t>
            </a:r>
            <a:r>
              <a:rPr lang="en-IN" sz="2800" b="1" i="1" dirty="0"/>
              <a:t>R</a:t>
            </a:r>
            <a:r>
              <a:rPr lang="en-IN" sz="2800" b="1" i="1" baseline="-25000" dirty="0"/>
              <a:t>1</a:t>
            </a:r>
            <a:r>
              <a:rPr lang="en-IN" sz="2800" dirty="0"/>
              <a:t>,</a:t>
            </a:r>
            <a:r>
              <a:rPr lang="en-IN" sz="2800" b="1" i="1" dirty="0"/>
              <a:t>K</a:t>
            </a:r>
            <a:r>
              <a:rPr lang="en-IN" sz="2800" b="1" i="1" baseline="-25000" dirty="0"/>
              <a:t>2</a:t>
            </a:r>
            <a:r>
              <a:rPr lang="en-IN" sz="2800" dirty="0"/>
              <a:t>)</a:t>
            </a:r>
          </a:p>
          <a:p>
            <a:r>
              <a:rPr lang="en-IN" sz="2800" dirty="0"/>
              <a:t>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0484" y="1371600"/>
            <a:ext cx="6415487" cy="4838902"/>
          </a:xfrm>
          <a:prstGeom prst="rect">
            <a:avLst/>
          </a:prstGeom>
          <a:noFill/>
          <a:ln w="4445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604799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2050"/>
                                        </p:tgtEl>
                                      </p:cBhvr>
                                    </p:animEffect>
                                    <p:set>
                                      <p:cBhvr>
                                        <p:cTn id="27" dur="1" fill="hold">
                                          <p:stCondLst>
                                            <p:cond delay="499"/>
                                          </p:stCondLst>
                                        </p:cTn>
                                        <p:tgtEl>
                                          <p:spTgt spid="205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https://ixopay-tokenex-prod.cdn.ixocreate.com/media/img/image/05/e6/4f/22-feistel-cipher-01-606x779.png?variant=74f492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81000"/>
            <a:ext cx="7774236" cy="723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77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p:cNvPicPr>
            <a:picLocks noChangeAspect="1"/>
          </p:cNvPicPr>
          <p:nvPr/>
        </p:nvPicPr>
        <p:blipFill>
          <a:blip r:embed="rId2"/>
          <a:stretch>
            <a:fillRect/>
          </a:stretch>
        </p:blipFill>
        <p:spPr>
          <a:xfrm>
            <a:off x="609600" y="457200"/>
            <a:ext cx="8001000" cy="6019800"/>
          </a:xfrm>
          <a:prstGeom prst="rect">
            <a:avLst/>
          </a:prstGeom>
        </p:spPr>
      </p:pic>
    </p:spTree>
    <p:extLst>
      <p:ext uri="{BB962C8B-B14F-4D97-AF65-F5344CB8AC3E}">
        <p14:creationId xmlns:p14="http://schemas.microsoft.com/office/powerpoint/2010/main" val="19117853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Finally after 16 Rounds </a:t>
            </a:r>
            <a:endParaRPr lang="en-IN" dirty="0"/>
          </a:p>
        </p:txBody>
      </p:sp>
      <p:sp>
        <p:nvSpPr>
          <p:cNvPr id="4" name="Rectangle 3"/>
          <p:cNvSpPr/>
          <p:nvPr/>
        </p:nvSpPr>
        <p:spPr>
          <a:xfrm>
            <a:off x="457200" y="1524000"/>
            <a:ext cx="6705600" cy="1200329"/>
          </a:xfrm>
          <a:prstGeom prst="rect">
            <a:avLst/>
          </a:prstGeom>
        </p:spPr>
        <p:txBody>
          <a:bodyPr wrap="square">
            <a:spAutoFit/>
          </a:bodyPr>
          <a:lstStyle/>
          <a:p>
            <a:r>
              <a:rPr lang="pt-BR" b="1" i="1" dirty="0"/>
              <a:t>Output of 16 Rounds </a:t>
            </a:r>
          </a:p>
          <a:p>
            <a:endParaRPr lang="pt-BR" b="1" i="1" dirty="0"/>
          </a:p>
          <a:p>
            <a:r>
              <a:rPr lang="pt-BR" b="1" i="1" dirty="0"/>
              <a:t>L</a:t>
            </a:r>
            <a:r>
              <a:rPr lang="pt-BR" b="1" i="1" baseline="-25000" dirty="0"/>
              <a:t>16</a:t>
            </a:r>
            <a:r>
              <a:rPr lang="pt-BR" dirty="0"/>
              <a:t> = 0100 0011 0100 0010 0011 0010 0011 0100 </a:t>
            </a:r>
            <a:br>
              <a:rPr lang="pt-BR" dirty="0"/>
            </a:br>
            <a:r>
              <a:rPr lang="pt-BR" b="1" i="1" dirty="0"/>
              <a:t>R</a:t>
            </a:r>
            <a:r>
              <a:rPr lang="pt-BR" b="1" i="1" baseline="-25000" dirty="0"/>
              <a:t>16</a:t>
            </a:r>
            <a:r>
              <a:rPr lang="pt-BR" dirty="0"/>
              <a:t> = 0000 1010 0100 1100 1101 1001 1001 0101</a:t>
            </a:r>
            <a:endParaRPr lang="en-IN" dirty="0"/>
          </a:p>
        </p:txBody>
      </p:sp>
      <p:sp>
        <p:nvSpPr>
          <p:cNvPr id="5" name="Rectangle 4"/>
          <p:cNvSpPr/>
          <p:nvPr/>
        </p:nvSpPr>
        <p:spPr>
          <a:xfrm>
            <a:off x="228600" y="2895600"/>
            <a:ext cx="8991600" cy="646331"/>
          </a:xfrm>
          <a:prstGeom prst="rect">
            <a:avLst/>
          </a:prstGeom>
        </p:spPr>
        <p:txBody>
          <a:bodyPr wrap="square">
            <a:spAutoFit/>
          </a:bodyPr>
          <a:lstStyle/>
          <a:p>
            <a:r>
              <a:rPr lang="en-IN" b="1" dirty="0"/>
              <a:t>We reverse the order of these two blocks and apply the final permutation to </a:t>
            </a:r>
          </a:p>
          <a:p>
            <a:r>
              <a:rPr lang="en-IN" b="1" i="1" dirty="0"/>
              <a:t>R</a:t>
            </a:r>
            <a:r>
              <a:rPr lang="en-IN" b="1" i="1" baseline="-25000" dirty="0"/>
              <a:t>16</a:t>
            </a:r>
            <a:r>
              <a:rPr lang="en-IN" b="1" i="1" dirty="0"/>
              <a:t>L</a:t>
            </a:r>
            <a:r>
              <a:rPr lang="en-IN" b="1" i="1" baseline="-25000" dirty="0"/>
              <a:t>16</a:t>
            </a:r>
            <a:r>
              <a:rPr lang="en-IN" dirty="0"/>
              <a:t> = 00001010 01001100 11011001 10010101 01000011 01000010 00110010 00110100 </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3733800"/>
            <a:ext cx="5410200" cy="2914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228600" y="3536704"/>
            <a:ext cx="9525000" cy="369332"/>
          </a:xfrm>
          <a:prstGeom prst="rect">
            <a:avLst/>
          </a:prstGeom>
        </p:spPr>
        <p:txBody>
          <a:bodyPr wrap="square">
            <a:spAutoFit/>
          </a:bodyPr>
          <a:lstStyle/>
          <a:p>
            <a:r>
              <a:rPr lang="it-IT" b="1" i="1" dirty="0"/>
              <a:t>IP</a:t>
            </a:r>
            <a:r>
              <a:rPr lang="it-IT" b="1" i="1" baseline="30000" dirty="0"/>
              <a:t>-1</a:t>
            </a:r>
            <a:r>
              <a:rPr lang="it-IT" dirty="0"/>
              <a:t> = 10000101 11101000 00010011 01010100 00001111 00001010 10110100 00000101 </a:t>
            </a:r>
            <a:endParaRPr lang="en-IN" dirty="0"/>
          </a:p>
        </p:txBody>
      </p:sp>
      <p:sp>
        <p:nvSpPr>
          <p:cNvPr id="7" name="Rectangle 6"/>
          <p:cNvSpPr/>
          <p:nvPr/>
        </p:nvSpPr>
        <p:spPr>
          <a:xfrm>
            <a:off x="184355" y="4114799"/>
            <a:ext cx="3473245" cy="1200329"/>
          </a:xfrm>
          <a:prstGeom prst="rect">
            <a:avLst/>
          </a:prstGeom>
        </p:spPr>
        <p:txBody>
          <a:bodyPr wrap="square">
            <a:spAutoFit/>
          </a:bodyPr>
          <a:lstStyle/>
          <a:p>
            <a:r>
              <a:rPr lang="en-IN" dirty="0" err="1"/>
              <a:t>Cyphertext</a:t>
            </a:r>
            <a:r>
              <a:rPr lang="en-IN" dirty="0"/>
              <a:t> which in hexadecimal format is </a:t>
            </a:r>
          </a:p>
          <a:p>
            <a:endParaRPr lang="en-IN" dirty="0"/>
          </a:p>
          <a:p>
            <a:r>
              <a:rPr lang="en-IN" b="1" dirty="0">
                <a:solidFill>
                  <a:srgbClr val="FF0000"/>
                </a:solidFill>
              </a:rPr>
              <a:t>85E813540F0AB405. </a:t>
            </a:r>
          </a:p>
        </p:txBody>
      </p:sp>
    </p:spTree>
    <p:extLst>
      <p:ext uri="{BB962C8B-B14F-4D97-AF65-F5344CB8AC3E}">
        <p14:creationId xmlns:p14="http://schemas.microsoft.com/office/powerpoint/2010/main" val="1242292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Truth </a:t>
            </a:r>
            <a:endParaRPr lang="en-IN" dirty="0"/>
          </a:p>
        </p:txBody>
      </p:sp>
      <p:sp>
        <p:nvSpPr>
          <p:cNvPr id="3" name="Content Placeholder 2"/>
          <p:cNvSpPr>
            <a:spLocks noGrp="1"/>
          </p:cNvSpPr>
          <p:nvPr>
            <p:ph idx="1"/>
          </p:nvPr>
        </p:nvSpPr>
        <p:spPr/>
        <p:txBody>
          <a:bodyPr>
            <a:normAutofit fontScale="92500" lnSpcReduction="10000"/>
          </a:bodyPr>
          <a:lstStyle/>
          <a:p>
            <a:pPr algn="just"/>
            <a:r>
              <a:rPr lang="en-IN" dirty="0"/>
              <a:t>DES is insecure due to the relatively short 56-bit key size. </a:t>
            </a:r>
          </a:p>
          <a:p>
            <a:pPr algn="just"/>
            <a:r>
              <a:rPr lang="en-IN" dirty="0"/>
              <a:t>In January 1999, distributed.net and the Electronic Frontier Foundation collaborated to publicly break a DES key in 22 hours and 15 minutes</a:t>
            </a:r>
          </a:p>
          <a:p>
            <a:pPr algn="just"/>
            <a:r>
              <a:rPr lang="en-IN" dirty="0"/>
              <a:t>This cipher has been superseded by the Advanced Encryption Standard (AES). </a:t>
            </a:r>
          </a:p>
          <a:p>
            <a:pPr algn="just"/>
            <a:r>
              <a:rPr lang="en-IN" dirty="0"/>
              <a:t>DES has been withdrawn as a standard by the National Institute of Standards and Technology. </a:t>
            </a:r>
          </a:p>
        </p:txBody>
      </p:sp>
      <p:sp>
        <p:nvSpPr>
          <p:cNvPr id="4" name="AutoShape 2" descr="Cartoon Pirate Hacker - Download Free Vectors, Clipart Graphics ..."/>
          <p:cNvSpPr>
            <a:spLocks noChangeAspect="1" noChangeArrowheads="1"/>
          </p:cNvSpPr>
          <p:nvPr/>
        </p:nvSpPr>
        <p:spPr bwMode="auto">
          <a:xfrm>
            <a:off x="155575" y="-822325"/>
            <a:ext cx="1609725" cy="17240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Cartoon Pirate Hacker - Download Free Vectors, Clipart Graphics ..."/>
          <p:cNvSpPr>
            <a:spLocks noChangeAspect="1" noChangeArrowheads="1"/>
          </p:cNvSpPr>
          <p:nvPr/>
        </p:nvSpPr>
        <p:spPr bwMode="auto">
          <a:xfrm>
            <a:off x="307975" y="-669925"/>
            <a:ext cx="1609725" cy="17240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559722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2672</TotalTime>
  <Words>2964</Words>
  <Application>Microsoft Macintosh PowerPoint</Application>
  <PresentationFormat>On-screen Show (4:3)</PresentationFormat>
  <Paragraphs>325</Paragraphs>
  <Slides>51</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Data Encryption Standard DES  </vt:lpstr>
      <vt:lpstr>Block cipher</vt:lpstr>
      <vt:lpstr>Electronic Code Book </vt:lpstr>
      <vt:lpstr>Electronic Code Book </vt:lpstr>
      <vt:lpstr>Electronic Code Book </vt:lpstr>
      <vt:lpstr>Cipher Block Chaining Mode  </vt:lpstr>
      <vt:lpstr>Cipher Block Chaining Mode </vt:lpstr>
      <vt:lpstr>Cipher Block Chaining Mode </vt:lpstr>
      <vt:lpstr>Cipher Block Chaining Mode </vt:lpstr>
      <vt:lpstr>DES </vt:lpstr>
      <vt:lpstr>Overview of DES – Block Diagram</vt:lpstr>
      <vt:lpstr>Data Encryption Standard</vt:lpstr>
      <vt:lpstr>Data Encryption Standard</vt:lpstr>
      <vt:lpstr>Data Encryption Standard</vt:lpstr>
      <vt:lpstr>PowerPoint Presentation</vt:lpstr>
      <vt:lpstr>Generating 16 Sub Keys</vt:lpstr>
      <vt:lpstr> Generating 16 Sub Keys</vt:lpstr>
      <vt:lpstr>Generating 16 Sub Keys</vt:lpstr>
      <vt:lpstr>Generating 16 Sub Keys</vt:lpstr>
      <vt:lpstr>Generating 16 Sub Keys</vt:lpstr>
      <vt:lpstr>Generating 16 Sub Keys</vt:lpstr>
      <vt:lpstr>Generating 16 Sub Keys</vt:lpstr>
      <vt:lpstr>Generating 16 Sub Keys</vt:lpstr>
      <vt:lpstr>PowerPoint Presentation</vt:lpstr>
      <vt:lpstr>Step 2: Encode each 64-bit block of data. </vt:lpstr>
      <vt:lpstr>Step 2: Encode each 64-bit block of data</vt:lpstr>
      <vt:lpstr>PowerPoint Presentation</vt:lpstr>
      <vt:lpstr>16 Rounds - Take a look at first round</vt:lpstr>
      <vt:lpstr>What is f(R0,K1) ?</vt:lpstr>
      <vt:lpstr>Data Encryption Standard</vt:lpstr>
      <vt:lpstr>f(R0,K1)</vt:lpstr>
      <vt:lpstr>f(R0,K1)</vt:lpstr>
      <vt:lpstr>f(R0,K1) - S1(B1) </vt:lpstr>
      <vt:lpstr>f(R0,K1) – S2(B2)</vt:lpstr>
      <vt:lpstr>f(R0,K1) – S3(B3)</vt:lpstr>
      <vt:lpstr>f(R0,K1) – S4(B4)</vt:lpstr>
      <vt:lpstr>f(R0,K1) – S5(B5)</vt:lpstr>
      <vt:lpstr>f(R0,K1) – S6(B6)</vt:lpstr>
      <vt:lpstr>f(R0,K1) – S7(B7)</vt:lpstr>
      <vt:lpstr>f(R0,K1) – S8(B8)</vt:lpstr>
      <vt:lpstr>f(R0,K1)</vt:lpstr>
      <vt:lpstr>Data Encryption Standard</vt:lpstr>
      <vt:lpstr>f(R0,K1) - Final stage of f- Permutation</vt:lpstr>
      <vt:lpstr>Remember why we computed f(R0,K1)  </vt:lpstr>
      <vt:lpstr>Finding output of Round 1 </vt:lpstr>
      <vt:lpstr>PowerPoint Presentation</vt:lpstr>
      <vt:lpstr>Let us start Round 2</vt:lpstr>
      <vt:lpstr>PowerPoint Presentation</vt:lpstr>
      <vt:lpstr>PowerPoint Presentation</vt:lpstr>
      <vt:lpstr>Finally after 16 Rounds </vt:lpstr>
      <vt:lpstr>The Truth </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Encryption Standard </dc:title>
  <dc:creator>admin</dc:creator>
  <cp:lastModifiedBy>Apoorva Karnwal</cp:lastModifiedBy>
  <cp:revision>105</cp:revision>
  <dcterms:created xsi:type="dcterms:W3CDTF">2020-07-29T05:10:46Z</dcterms:created>
  <dcterms:modified xsi:type="dcterms:W3CDTF">2025-05-01T06:50:02Z</dcterms:modified>
</cp:coreProperties>
</file>