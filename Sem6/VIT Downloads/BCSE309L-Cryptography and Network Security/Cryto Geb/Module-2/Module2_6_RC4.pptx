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14"/>
  </p:notesMasterIdLst>
  <p:sldIdLst>
    <p:sldId id="264" r:id="rId2"/>
    <p:sldId id="266" r:id="rId3"/>
    <p:sldId id="267" r:id="rId4"/>
    <p:sldId id="271" r:id="rId5"/>
    <p:sldId id="268" r:id="rId6"/>
    <p:sldId id="270" r:id="rId7"/>
    <p:sldId id="272" r:id="rId8"/>
    <p:sldId id="273" r:id="rId9"/>
    <p:sldId id="274" r:id="rId10"/>
    <p:sldId id="276" r:id="rId11"/>
    <p:sldId id="277" r:id="rId12"/>
    <p:sldId id="275" r:id="rId13"/>
  </p:sldIdLst>
  <p:sldSz cx="9144000" cy="6858000" type="screen4x3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7167" autoAdjust="0"/>
    <p:restoredTop sz="95179" autoAdjust="0"/>
  </p:normalViewPr>
  <p:slideViewPr>
    <p:cSldViewPr>
      <p:cViewPr varScale="1">
        <p:scale>
          <a:sx n="86" d="100"/>
          <a:sy n="86" d="100"/>
        </p:scale>
        <p:origin x="1278" y="90"/>
      </p:cViewPr>
      <p:guideLst>
        <p:guide orient="horz" pos="2160"/>
        <p:guide pos="288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theme" Target="theme/theme1.xml"/><Relationship Id="rId2" Type="http://schemas.openxmlformats.org/officeDocument/2006/relationships/slide" Target="slides/slide1.xml"/><Relationship Id="rId16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presProps" Target="presProp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notesMaster" Target="notesMasters/notesMaster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GB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81702FEA-9B39-474A-B96B-6FD835496D7F}" type="datetimeFigureOut">
              <a:rPr lang="en-GB" smtClean="0"/>
              <a:t>23/01/2025</a:t>
            </a:fld>
            <a:endParaRPr lang="en-GB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GB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GB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6B046E28-B541-4D43-B217-A4EDBDA3A48B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907631287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GB" dirty="0" smtClean="0"/>
              <a:t>It is popular and</a:t>
            </a:r>
            <a:r>
              <a:rPr lang="en-GB" baseline="0" dirty="0" smtClean="0"/>
              <a:t> works very quickly. Hence most of the users use RC4 algorithm</a:t>
            </a:r>
          </a:p>
          <a:p>
            <a:endParaRPr lang="en-GB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6B046E28-B541-4D43-B217-A4EDBDA3A48B}" type="slidenum">
              <a:rPr lang="en-GB" smtClean="0"/>
              <a:t>1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955908487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GB" dirty="0" smtClean="0"/>
              <a:t>AES, DES are block ciphers,</a:t>
            </a:r>
            <a:r>
              <a:rPr lang="en-GB" baseline="0" dirty="0" smtClean="0"/>
              <a:t> where we encrypt in block</a:t>
            </a:r>
            <a:endParaRPr lang="en-GB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6B046E28-B541-4D43-B217-A4EDBDA3A48B}" type="slidenum">
              <a:rPr lang="en-GB" smtClean="0"/>
              <a:t>4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672862473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GB" dirty="0" smtClean="0"/>
              <a:t>Say if the size of the vector is 256 , the number of iterations is also 256</a:t>
            </a:r>
          </a:p>
          <a:p>
            <a:r>
              <a:rPr lang="en-GB" dirty="0" smtClean="0"/>
              <a:t>If the size of 8, the</a:t>
            </a:r>
            <a:r>
              <a:rPr lang="en-GB" baseline="0" dirty="0" smtClean="0"/>
              <a:t> number of iterations is 0 to 7</a:t>
            </a:r>
          </a:p>
          <a:p>
            <a:endParaRPr lang="en-GB" dirty="0" smtClean="0"/>
          </a:p>
          <a:p>
            <a:endParaRPr lang="en-GB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6B046E28-B541-4D43-B217-A4EDBDA3A48B}" type="slidenum">
              <a:rPr lang="en-GB" smtClean="0"/>
              <a:t>5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88959188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GB" dirty="0" smtClean="0"/>
              <a:t>Say if the size of the vector is 256 , the number of iterations is also 256</a:t>
            </a:r>
          </a:p>
          <a:p>
            <a:r>
              <a:rPr lang="en-GB" dirty="0" smtClean="0"/>
              <a:t>If the size of 8, the</a:t>
            </a:r>
            <a:r>
              <a:rPr lang="en-GB" baseline="0" dirty="0" smtClean="0"/>
              <a:t> number of iterations is 0 to 7</a:t>
            </a:r>
          </a:p>
          <a:p>
            <a:endParaRPr lang="en-GB" dirty="0" smtClean="0"/>
          </a:p>
          <a:p>
            <a:endParaRPr lang="en-GB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6B046E28-B541-4D43-B217-A4EDBDA3A48B}" type="slidenum">
              <a:rPr lang="en-GB" smtClean="0"/>
              <a:t>6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79871787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GB" dirty="0" smtClean="0"/>
              <a:t>Temporary vector is got from the Secret Key</a:t>
            </a:r>
            <a:endParaRPr lang="en-GB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6B046E28-B541-4D43-B217-A4EDBDA3A48B}" type="slidenum">
              <a:rPr lang="en-GB" smtClean="0"/>
              <a:t>7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558627982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GB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6B046E28-B541-4D43-B217-A4EDBDA3A48B}" type="slidenum">
              <a:rPr lang="en-GB" smtClean="0"/>
              <a:t>8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35560722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GB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6B046E28-B541-4D43-B217-A4EDBDA3A48B}" type="slidenum">
              <a:rPr lang="en-GB" smtClean="0"/>
              <a:t>9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599593745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GB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6B046E28-B541-4D43-B217-A4EDBDA3A48B}" type="slidenum">
              <a:rPr lang="en-GB" smtClean="0"/>
              <a:t>10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393406957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GB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6B046E28-B541-4D43-B217-A4EDBDA3A48B}" type="slidenum">
              <a:rPr lang="en-GB" smtClean="0"/>
              <a:t>11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871782773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GB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6B046E28-B541-4D43-B217-A4EDBDA3A48B}" type="slidenum">
              <a:rPr lang="en-GB" smtClean="0"/>
              <a:t>12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132544152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  <a:endParaRPr lang="en-GB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53ECCFF-1515-4537-86BA-2EBC7EA12CAF}" type="datetimeFigureOut">
              <a:rPr lang="en-GB" smtClean="0"/>
              <a:t>23/01/2025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B5AB9C3-8C8F-4076-A102-4983FE0D76F0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377856950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53ECCFF-1515-4537-86BA-2EBC7EA12CAF}" type="datetimeFigureOut">
              <a:rPr lang="en-GB" smtClean="0"/>
              <a:t>23/01/2025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B5AB9C3-8C8F-4076-A102-4983FE0D76F0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244900023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53ECCFF-1515-4537-86BA-2EBC7EA12CAF}" type="datetimeFigureOut">
              <a:rPr lang="en-GB" smtClean="0"/>
              <a:t>23/01/2025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B5AB9C3-8C8F-4076-A102-4983FE0D76F0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589559982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53ECCFF-1515-4537-86BA-2EBC7EA12CAF}" type="datetimeFigureOut">
              <a:rPr lang="en-GB" smtClean="0"/>
              <a:t>23/01/2025</a:t>
            </a:fld>
            <a:endParaRPr lang="en-GB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B5AB9C3-8C8F-4076-A102-4983FE0D76F0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479575736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53ECCFF-1515-4537-86BA-2EBC7EA12CAF}" type="datetimeFigureOut">
              <a:rPr lang="en-GB" smtClean="0"/>
              <a:t>23/01/2025</a:t>
            </a:fld>
            <a:endParaRPr lang="en-GB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B5AB9C3-8C8F-4076-A102-4983FE0D76F0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679303332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53ECCFF-1515-4537-86BA-2EBC7EA12CAF}" type="datetimeFigureOut">
              <a:rPr lang="en-GB" smtClean="0"/>
              <a:t>23/01/2025</a:t>
            </a:fld>
            <a:endParaRPr lang="en-GB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B5AB9C3-8C8F-4076-A102-4983FE0D76F0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246869830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53ECCFF-1515-4537-86BA-2EBC7EA12CAF}" type="datetimeFigureOut">
              <a:rPr lang="en-GB" smtClean="0"/>
              <a:t>23/01/2025</a:t>
            </a:fld>
            <a:endParaRPr lang="en-GB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B5AB9C3-8C8F-4076-A102-4983FE0D76F0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815380846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53ECCFF-1515-4537-86BA-2EBC7EA12CAF}" type="datetimeFigureOut">
              <a:rPr lang="en-GB" smtClean="0"/>
              <a:t>23/01/2025</a:t>
            </a:fld>
            <a:endParaRPr lang="en-GB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B5AB9C3-8C8F-4076-A102-4983FE0D76F0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715044555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GB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53ECCFF-1515-4537-86BA-2EBC7EA12CAF}" type="datetimeFigureOut">
              <a:rPr lang="en-GB" smtClean="0"/>
              <a:t>23/01/2025</a:t>
            </a:fld>
            <a:endParaRPr lang="en-GB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B5AB9C3-8C8F-4076-A102-4983FE0D76F0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596314601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53ECCFF-1515-4537-86BA-2EBC7EA12CAF}" type="datetimeFigureOut">
              <a:rPr lang="en-GB" smtClean="0"/>
              <a:t>23/01/2025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B5AB9C3-8C8F-4076-A102-4983FE0D76F0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020153841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53ECCFF-1515-4537-86BA-2EBC7EA12CAF}" type="datetimeFigureOut">
              <a:rPr lang="en-GB" smtClean="0"/>
              <a:t>23/01/2025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B5AB9C3-8C8F-4076-A102-4983FE0D76F0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735809589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953ECCFF-1515-4537-86BA-2EBC7EA12CAF}" type="datetimeFigureOut">
              <a:rPr lang="en-GB" smtClean="0"/>
              <a:t>23/01/2025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6B5AB9C3-8C8F-4076-A102-4983FE0D76F0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35732955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anose="020B0604020202020204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7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/>
          <p:cNvSpPr txBox="1"/>
          <p:nvPr/>
        </p:nvSpPr>
        <p:spPr>
          <a:xfrm>
            <a:off x="0" y="0"/>
            <a:ext cx="9144000" cy="646331"/>
          </a:xfrm>
          <a:prstGeom prst="rect">
            <a:avLst/>
          </a:prstGeom>
          <a:solidFill>
            <a:schemeClr val="accent1"/>
          </a:solidFill>
        </p:spPr>
        <p:txBody>
          <a:bodyPr wrap="square" rtlCol="0">
            <a:spAutoFit/>
          </a:bodyPr>
          <a:lstStyle/>
          <a:p>
            <a:pPr algn="ctr"/>
            <a:r>
              <a:rPr lang="en-US" b="1" dirty="0">
                <a:solidFill>
                  <a:srgbClr val="FFFF00"/>
                </a:solidFill>
              </a:rPr>
              <a:t>Symmetric Cryptography</a:t>
            </a:r>
          </a:p>
          <a:p>
            <a:pPr algn="ctr"/>
            <a:r>
              <a:rPr lang="en-US" b="1" dirty="0">
                <a:solidFill>
                  <a:srgbClr val="FFFF00"/>
                </a:solidFill>
              </a:rPr>
              <a:t>RC4</a:t>
            </a:r>
            <a:r>
              <a:rPr lang="en-US" b="1" dirty="0">
                <a:solidFill>
                  <a:schemeClr val="bg1"/>
                </a:solidFill>
              </a:rPr>
              <a:t> </a:t>
            </a:r>
            <a:r>
              <a:rPr lang="en-US" b="1" dirty="0">
                <a:solidFill>
                  <a:srgbClr val="FFFF00"/>
                </a:solidFill>
              </a:rPr>
              <a:t>Stream Cipher </a:t>
            </a:r>
            <a:endParaRPr lang="en-GB" b="1" dirty="0">
              <a:solidFill>
                <a:schemeClr val="bg1"/>
              </a:solidFill>
            </a:endParaRPr>
          </a:p>
        </p:txBody>
      </p:sp>
      <p:sp>
        <p:nvSpPr>
          <p:cNvPr id="5" name="TextBox 4"/>
          <p:cNvSpPr txBox="1"/>
          <p:nvPr/>
        </p:nvSpPr>
        <p:spPr>
          <a:xfrm>
            <a:off x="251520" y="1077699"/>
            <a:ext cx="8712968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endParaRPr lang="en-GB" dirty="0"/>
          </a:p>
        </p:txBody>
      </p:sp>
      <p:sp>
        <p:nvSpPr>
          <p:cNvPr id="2" name="Slide Number Placeholder 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5F608CE-C03C-4089-8C30-2B4572834CCA}" type="slidenum">
              <a:rPr lang="en-GB" smtClean="0"/>
              <a:t>1</a:t>
            </a:fld>
            <a:endParaRPr lang="en-GB"/>
          </a:p>
        </p:txBody>
      </p:sp>
      <p:sp>
        <p:nvSpPr>
          <p:cNvPr id="3" name="TextBox 2"/>
          <p:cNvSpPr txBox="1"/>
          <p:nvPr/>
        </p:nvSpPr>
        <p:spPr>
          <a:xfrm>
            <a:off x="323528" y="1124744"/>
            <a:ext cx="8568952" cy="544764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GB" sz="2400" b="1" dirty="0"/>
              <a:t> </a:t>
            </a:r>
            <a:r>
              <a:rPr lang="en-GB" sz="2400" b="1" dirty="0">
                <a:solidFill>
                  <a:srgbClr val="FF0000"/>
                </a:solidFill>
              </a:rPr>
              <a:t>Stream Cipher</a:t>
            </a:r>
          </a:p>
          <a:p>
            <a:endParaRPr lang="en-GB" sz="1000" b="1" dirty="0">
              <a:solidFill>
                <a:srgbClr val="0070C0"/>
              </a:solidFill>
            </a:endParaRPr>
          </a:p>
          <a:p>
            <a:r>
              <a:rPr lang="en-GB" b="1" dirty="0"/>
              <a:t>The RC4 Stream Cipher:</a:t>
            </a:r>
          </a:p>
          <a:p>
            <a:r>
              <a:rPr lang="en-GB" sz="2400" dirty="0"/>
              <a:t>RC4 is a </a:t>
            </a:r>
            <a:r>
              <a:rPr lang="en-GB" sz="2400" b="1" dirty="0"/>
              <a:t>stream cipher </a:t>
            </a:r>
            <a:r>
              <a:rPr lang="en-GB" sz="2400" dirty="0"/>
              <a:t>designed in 1987 by Ron </a:t>
            </a:r>
            <a:r>
              <a:rPr lang="en-GB" sz="2400" dirty="0" err="1"/>
              <a:t>Rivest</a:t>
            </a:r>
            <a:r>
              <a:rPr lang="en-GB" sz="2400" dirty="0"/>
              <a:t>. It is a variable key-size stream cipher with </a:t>
            </a:r>
            <a:r>
              <a:rPr lang="en-GB" sz="2400" b="1" dirty="0"/>
              <a:t>byte-oriented operations</a:t>
            </a:r>
            <a:r>
              <a:rPr lang="en-GB" sz="2400" dirty="0"/>
              <a:t>. The algorithm is based on the use of a random permutation.</a:t>
            </a:r>
          </a:p>
          <a:p>
            <a:endParaRPr lang="en-GB" sz="2400" dirty="0"/>
          </a:p>
          <a:p>
            <a:pPr marL="285750" indent="-285750">
              <a:buFont typeface="Wingdings" panose="05000000000000000000" pitchFamily="2" charset="2"/>
              <a:buChar char="q"/>
            </a:pPr>
            <a:r>
              <a:rPr lang="en-GB" sz="2000" dirty="0"/>
              <a:t>The cipher can be expected to run very quickly in software</a:t>
            </a:r>
            <a:r>
              <a:rPr lang="en-GB" sz="2000" dirty="0" smtClean="0"/>
              <a:t>.</a:t>
            </a:r>
            <a:endParaRPr lang="en-GB" sz="2000" dirty="0"/>
          </a:p>
          <a:p>
            <a:pPr marL="285750" indent="-285750">
              <a:buFont typeface="Wingdings" panose="05000000000000000000" pitchFamily="2" charset="2"/>
              <a:buChar char="q"/>
            </a:pPr>
            <a:r>
              <a:rPr lang="en-GB" sz="2000" dirty="0"/>
              <a:t>RC4 is used in </a:t>
            </a:r>
            <a:r>
              <a:rPr lang="en-GB" sz="2000" b="1" dirty="0"/>
              <a:t>WEP</a:t>
            </a:r>
            <a:r>
              <a:rPr lang="en-GB" sz="2000" dirty="0"/>
              <a:t> (Wired Equivalent Privacy) and </a:t>
            </a:r>
            <a:r>
              <a:rPr lang="en-GB" sz="2000" b="1" dirty="0"/>
              <a:t>WPA</a:t>
            </a:r>
            <a:r>
              <a:rPr lang="en-GB" sz="2000" dirty="0"/>
              <a:t> (</a:t>
            </a:r>
            <a:r>
              <a:rPr lang="en-GB" sz="2000" dirty="0" err="1"/>
              <a:t>WiFi</a:t>
            </a:r>
            <a:r>
              <a:rPr lang="en-GB" sz="2000" dirty="0"/>
              <a:t> Protected Access ), which are encryption protocols commonly used on wireless routers. Secure Socket Layer (SSL):</a:t>
            </a:r>
          </a:p>
          <a:p>
            <a:pPr marL="285750" indent="-285750">
              <a:buFont typeface="Wingdings" panose="05000000000000000000" pitchFamily="2" charset="2"/>
              <a:buChar char="q"/>
            </a:pPr>
            <a:r>
              <a:rPr lang="en-GB" sz="2000" dirty="0"/>
              <a:t>Transport Layer Security (TLS</a:t>
            </a:r>
            <a:r>
              <a:rPr lang="en-GB" sz="2000" dirty="0" smtClean="0"/>
              <a:t>)</a:t>
            </a:r>
          </a:p>
          <a:p>
            <a:pPr marL="285750" indent="-285750">
              <a:buFont typeface="Wingdings" panose="05000000000000000000" pitchFamily="2" charset="2"/>
              <a:buChar char="q"/>
            </a:pPr>
            <a:r>
              <a:rPr lang="en-GB" sz="2000" dirty="0" smtClean="0"/>
              <a:t> </a:t>
            </a:r>
            <a:r>
              <a:rPr lang="en-GB" sz="2000" dirty="0"/>
              <a:t>WEP (Wireless Equivalent Protocol) and WPA (Wi-Fi Protected Access). </a:t>
            </a:r>
          </a:p>
          <a:p>
            <a:pPr marL="285750" indent="-285750">
              <a:buFont typeface="Wingdings" panose="05000000000000000000" pitchFamily="2" charset="2"/>
              <a:buChar char="q"/>
            </a:pPr>
            <a:r>
              <a:rPr lang="en-GB" sz="2000" dirty="0"/>
              <a:t>File </a:t>
            </a:r>
            <a:r>
              <a:rPr lang="en-GB" sz="2000" dirty="0" smtClean="0"/>
              <a:t>encryption</a:t>
            </a:r>
            <a:endParaRPr lang="en-GB" sz="2000" dirty="0"/>
          </a:p>
          <a:p>
            <a:pPr marL="285750" indent="-285750">
              <a:buFont typeface="Wingdings" panose="05000000000000000000" pitchFamily="2" charset="2"/>
              <a:buChar char="q"/>
            </a:pPr>
            <a:r>
              <a:rPr lang="en-GB" sz="2000" dirty="0" err="1"/>
              <a:t>BitTorrent</a:t>
            </a:r>
            <a:r>
              <a:rPr lang="en-GB" sz="2000" dirty="0"/>
              <a:t> protocol encryption: to encrypt the </a:t>
            </a:r>
            <a:r>
              <a:rPr lang="en-GB" sz="2000" dirty="0" err="1"/>
              <a:t>BitTorrent</a:t>
            </a:r>
            <a:r>
              <a:rPr lang="en-GB" sz="2000" dirty="0"/>
              <a:t> protocol. </a:t>
            </a:r>
          </a:p>
          <a:p>
            <a:pPr marL="285750" indent="-285750">
              <a:buFont typeface="Wingdings" panose="05000000000000000000" pitchFamily="2" charset="2"/>
              <a:buChar char="q"/>
            </a:pPr>
            <a:r>
              <a:rPr lang="en-GB" sz="2000" dirty="0"/>
              <a:t>Microsoft Office </a:t>
            </a:r>
            <a:r>
              <a:rPr lang="en-GB" sz="2000" dirty="0" smtClean="0"/>
              <a:t>XP</a:t>
            </a:r>
          </a:p>
          <a:p>
            <a:pPr marL="285750" indent="-285750">
              <a:buFont typeface="Wingdings" panose="05000000000000000000" pitchFamily="2" charset="2"/>
              <a:buChar char="q"/>
            </a:pPr>
            <a:r>
              <a:rPr lang="en-GB" sz="2000" dirty="0" smtClean="0"/>
              <a:t>RC4 </a:t>
            </a:r>
            <a:r>
              <a:rPr lang="en-GB" sz="2000" dirty="0"/>
              <a:t>was originally very widely used due to its simplicity and speed</a:t>
            </a:r>
            <a:r>
              <a:rPr lang="en-GB" sz="2000" dirty="0" smtClean="0"/>
              <a:t>.</a:t>
            </a:r>
            <a:endParaRPr lang="en-GB" sz="2000" dirty="0"/>
          </a:p>
        </p:txBody>
      </p:sp>
    </p:spTree>
    <p:extLst>
      <p:ext uri="{BB962C8B-B14F-4D97-AF65-F5344CB8AC3E}">
        <p14:creationId xmlns:p14="http://schemas.microsoft.com/office/powerpoint/2010/main" val="114476665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/>
    </mc:Choice>
    <mc:Fallback xmlns="">
      <p:transition spd="slow"/>
    </mc:Fallback>
  </mc:AlternateContent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0" y="0"/>
            <a:ext cx="9144000" cy="646331"/>
          </a:xfrm>
          <a:prstGeom prst="rect">
            <a:avLst/>
          </a:prstGeom>
          <a:solidFill>
            <a:schemeClr val="accent1"/>
          </a:solidFill>
        </p:spPr>
        <p:txBody>
          <a:bodyPr wrap="square" rtlCol="0">
            <a:spAutoFit/>
          </a:bodyPr>
          <a:lstStyle/>
          <a:p>
            <a:pPr algn="ctr"/>
            <a:r>
              <a:rPr lang="en-US" b="1" dirty="0">
                <a:solidFill>
                  <a:srgbClr val="FFFF00"/>
                </a:solidFill>
              </a:rPr>
              <a:t>Symmetric Cryptography</a:t>
            </a:r>
          </a:p>
          <a:p>
            <a:pPr algn="ctr"/>
            <a:r>
              <a:rPr lang="en-US" b="1" dirty="0">
                <a:solidFill>
                  <a:srgbClr val="FFFF00"/>
                </a:solidFill>
              </a:rPr>
              <a:t>RC4</a:t>
            </a:r>
            <a:r>
              <a:rPr lang="en-US" b="1" dirty="0">
                <a:solidFill>
                  <a:schemeClr val="bg1"/>
                </a:solidFill>
              </a:rPr>
              <a:t> </a:t>
            </a:r>
            <a:r>
              <a:rPr lang="en-US" b="1" dirty="0">
                <a:solidFill>
                  <a:srgbClr val="FFFF00"/>
                </a:solidFill>
              </a:rPr>
              <a:t>Stream Cipher </a:t>
            </a:r>
            <a:endParaRPr lang="en-GB" b="1" dirty="0">
              <a:solidFill>
                <a:schemeClr val="bg1"/>
              </a:solidFill>
            </a:endParaRPr>
          </a:p>
        </p:txBody>
      </p:sp>
      <p:sp>
        <p:nvSpPr>
          <p:cNvPr id="6" name="Content Placeholder 5"/>
          <p:cNvSpPr>
            <a:spLocks noGrp="1"/>
          </p:cNvSpPr>
          <p:nvPr>
            <p:ph idx="1"/>
          </p:nvPr>
        </p:nvSpPr>
        <p:spPr/>
        <p:txBody>
          <a:bodyPr>
            <a:normAutofit lnSpcReduction="10000"/>
          </a:bodyPr>
          <a:lstStyle/>
          <a:p>
            <a:r>
              <a:rPr lang="en-IN" dirty="0" smtClean="0"/>
              <a:t>For Encryption, enter the Plain text and Secret Key</a:t>
            </a:r>
          </a:p>
          <a:p>
            <a:r>
              <a:rPr lang="en-IN" dirty="0" smtClean="0"/>
              <a:t>Encryption algorithm make use </a:t>
            </a:r>
            <a:r>
              <a:rPr lang="en-IN" b="1" dirty="0" smtClean="0"/>
              <a:t>KSA</a:t>
            </a:r>
            <a:r>
              <a:rPr lang="en-IN" dirty="0" smtClean="0"/>
              <a:t>(Key stream scheduling ) and </a:t>
            </a:r>
            <a:r>
              <a:rPr lang="en-IN" b="1" dirty="0" smtClean="0"/>
              <a:t>PRGA</a:t>
            </a:r>
            <a:r>
              <a:rPr lang="en-IN" dirty="0" smtClean="0"/>
              <a:t>(Pseudo Random generator algorithm). Using KSA and PRGA algorithm the secret key is converted to </a:t>
            </a:r>
            <a:r>
              <a:rPr lang="en-IN" dirty="0" err="1" smtClean="0"/>
              <a:t>KeyStream</a:t>
            </a:r>
            <a:endParaRPr lang="en-IN" dirty="0" smtClean="0"/>
          </a:p>
          <a:p>
            <a:r>
              <a:rPr lang="en-IN" dirty="0" smtClean="0"/>
              <a:t>Plain text </a:t>
            </a:r>
            <a:r>
              <a:rPr lang="en-IN" dirty="0"/>
              <a:t>⊕</a:t>
            </a:r>
            <a:r>
              <a:rPr lang="en-IN" dirty="0" smtClean="0"/>
              <a:t> </a:t>
            </a:r>
            <a:r>
              <a:rPr lang="en-IN" dirty="0" err="1" smtClean="0"/>
              <a:t>KeyStream</a:t>
            </a:r>
            <a:r>
              <a:rPr lang="en-IN" dirty="0" smtClean="0"/>
              <a:t> (byte by byte) = Cipher Text</a:t>
            </a: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3633749521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 smtClean="0"/>
              <a:t>Block Diagram</a:t>
            </a:r>
            <a:endParaRPr lang="en-IN" dirty="0"/>
          </a:p>
        </p:txBody>
      </p:sp>
      <p:sp>
        <p:nvSpPr>
          <p:cNvPr id="5" name="Content Placeholder 4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IN"/>
          </a:p>
        </p:txBody>
      </p:sp>
      <p:pic>
        <p:nvPicPr>
          <p:cNvPr id="6" name="Picture 5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43608" y="1119423"/>
            <a:ext cx="6978370" cy="482985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178839069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/>
          <p:cNvSpPr txBox="1"/>
          <p:nvPr/>
        </p:nvSpPr>
        <p:spPr>
          <a:xfrm>
            <a:off x="0" y="0"/>
            <a:ext cx="9144000" cy="369332"/>
          </a:xfrm>
          <a:prstGeom prst="rect">
            <a:avLst/>
          </a:prstGeom>
          <a:solidFill>
            <a:schemeClr val="accent1"/>
          </a:solidFill>
        </p:spPr>
        <p:txBody>
          <a:bodyPr wrap="square" rtlCol="0">
            <a:spAutoFit/>
          </a:bodyPr>
          <a:lstStyle/>
          <a:p>
            <a:endParaRPr lang="en-GB" b="1" dirty="0">
              <a:solidFill>
                <a:schemeClr val="bg1"/>
              </a:solidFill>
            </a:endParaRPr>
          </a:p>
        </p:txBody>
      </p:sp>
      <p:sp>
        <p:nvSpPr>
          <p:cNvPr id="5" name="TextBox 4"/>
          <p:cNvSpPr txBox="1"/>
          <p:nvPr/>
        </p:nvSpPr>
        <p:spPr>
          <a:xfrm>
            <a:off x="251520" y="1077699"/>
            <a:ext cx="8712968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endParaRPr lang="en-GB" dirty="0"/>
          </a:p>
        </p:txBody>
      </p:sp>
      <p:sp>
        <p:nvSpPr>
          <p:cNvPr id="2" name="Slide Number Placeholder 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5F608CE-C03C-4089-8C30-2B4572834CCA}" type="slidenum">
              <a:rPr lang="en-GB" smtClean="0"/>
              <a:t>4</a:t>
            </a:fld>
            <a:endParaRPr lang="en-GB"/>
          </a:p>
        </p:txBody>
      </p:sp>
      <p:sp>
        <p:nvSpPr>
          <p:cNvPr id="3" name="TextBox 2"/>
          <p:cNvSpPr txBox="1"/>
          <p:nvPr/>
        </p:nvSpPr>
        <p:spPr>
          <a:xfrm>
            <a:off x="323528" y="1124744"/>
            <a:ext cx="8568952" cy="449353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GB" sz="2400" b="1" dirty="0"/>
              <a:t> </a:t>
            </a:r>
            <a:r>
              <a:rPr lang="en-GB" sz="2400" b="1" dirty="0">
                <a:solidFill>
                  <a:srgbClr val="FF0000"/>
                </a:solidFill>
              </a:rPr>
              <a:t>RC4 Procedure</a:t>
            </a:r>
          </a:p>
          <a:p>
            <a:r>
              <a:rPr lang="en-GB" b="1" dirty="0">
                <a:solidFill>
                  <a:srgbClr val="0070C0"/>
                </a:solidFill>
              </a:rPr>
              <a:t>The RC4 algorithm:</a:t>
            </a:r>
          </a:p>
          <a:p>
            <a:r>
              <a:rPr lang="en-GB" sz="1600" dirty="0"/>
              <a:t>A variable-length key of from 1 to 256 bytes (8 to 2048 bits) is used to initialize a 256-byte state vector </a:t>
            </a:r>
            <a:r>
              <a:rPr lang="en-GB" sz="1600" b="1" dirty="0"/>
              <a:t>S</a:t>
            </a:r>
            <a:r>
              <a:rPr lang="en-GB" sz="1600" dirty="0"/>
              <a:t>, with elements </a:t>
            </a:r>
            <a:r>
              <a:rPr lang="en-GB" sz="1600" b="1" dirty="0"/>
              <a:t>S</a:t>
            </a:r>
            <a:r>
              <a:rPr lang="en-GB" sz="1600" dirty="0"/>
              <a:t>[0], </a:t>
            </a:r>
            <a:r>
              <a:rPr lang="en-GB" sz="1600" b="1" dirty="0"/>
              <a:t>S</a:t>
            </a:r>
            <a:r>
              <a:rPr lang="en-GB" sz="1600" dirty="0"/>
              <a:t>[1],..., </a:t>
            </a:r>
            <a:r>
              <a:rPr lang="en-GB" sz="1600" b="1" dirty="0"/>
              <a:t>S</a:t>
            </a:r>
            <a:r>
              <a:rPr lang="en-GB" sz="1600" dirty="0"/>
              <a:t>[255]. For encryption and decryption, a byte </a:t>
            </a:r>
            <a:r>
              <a:rPr lang="en-GB" sz="1600" b="1" dirty="0"/>
              <a:t>K</a:t>
            </a:r>
            <a:r>
              <a:rPr lang="en-GB" sz="1600" i="1" dirty="0"/>
              <a:t> </a:t>
            </a:r>
            <a:r>
              <a:rPr lang="en-GB" sz="1600" dirty="0"/>
              <a:t>is generated from </a:t>
            </a:r>
            <a:r>
              <a:rPr lang="en-GB" sz="1600" b="1" dirty="0"/>
              <a:t>S</a:t>
            </a:r>
            <a:r>
              <a:rPr lang="en-GB" sz="1600" dirty="0"/>
              <a:t> by selecting one of the 255 entries in a systematic fashion. As each a new  generated value of </a:t>
            </a:r>
            <a:r>
              <a:rPr lang="en-GB" sz="1600" b="1" dirty="0"/>
              <a:t>K</a:t>
            </a:r>
            <a:r>
              <a:rPr lang="en-GB" sz="1600" dirty="0"/>
              <a:t>, the entries in </a:t>
            </a:r>
            <a:r>
              <a:rPr lang="en-GB" sz="1600" b="1" dirty="0"/>
              <a:t>S </a:t>
            </a:r>
            <a:r>
              <a:rPr lang="en-GB" sz="1600" dirty="0"/>
              <a:t>are once again permuted.</a:t>
            </a:r>
            <a:endParaRPr lang="en-GB" sz="1600" b="1" dirty="0"/>
          </a:p>
          <a:p>
            <a:endParaRPr lang="en-GB" dirty="0"/>
          </a:p>
          <a:p>
            <a:r>
              <a:rPr lang="en-GB" b="1" dirty="0"/>
              <a:t>Step 1: Initialization of S</a:t>
            </a:r>
          </a:p>
          <a:p>
            <a:r>
              <a:rPr lang="en-GB" sz="1600" dirty="0"/>
              <a:t>To begin, (a) the entries of </a:t>
            </a:r>
            <a:r>
              <a:rPr lang="en-GB" sz="1600" b="1" dirty="0"/>
              <a:t>S</a:t>
            </a:r>
            <a:r>
              <a:rPr lang="en-GB" sz="1600" dirty="0"/>
              <a:t> are set equal to </a:t>
            </a:r>
          </a:p>
          <a:p>
            <a:r>
              <a:rPr lang="en-GB" sz="1600" dirty="0"/>
              <a:t>the values from 0 through 255 in ascending</a:t>
            </a:r>
          </a:p>
          <a:p>
            <a:r>
              <a:rPr lang="en-GB" sz="1600" dirty="0"/>
              <a:t> order; that is; </a:t>
            </a:r>
            <a:r>
              <a:rPr lang="en-GB" sz="1600" b="1" dirty="0"/>
              <a:t>S</a:t>
            </a:r>
            <a:r>
              <a:rPr lang="en-GB" sz="1600" dirty="0"/>
              <a:t>[0] = 0, </a:t>
            </a:r>
            <a:r>
              <a:rPr lang="en-GB" sz="1600" b="1" dirty="0"/>
              <a:t>S</a:t>
            </a:r>
            <a:r>
              <a:rPr lang="en-GB" sz="1600" dirty="0"/>
              <a:t>[1] = 1,...,</a:t>
            </a:r>
            <a:r>
              <a:rPr lang="en-GB" sz="1600" b="1" dirty="0"/>
              <a:t>S</a:t>
            </a:r>
            <a:r>
              <a:rPr lang="en-GB" sz="1600" dirty="0"/>
              <a:t>[255] = 255. </a:t>
            </a:r>
          </a:p>
          <a:p>
            <a:r>
              <a:rPr lang="en-GB" sz="1600" dirty="0"/>
              <a:t>(b) A temporary vector, </a:t>
            </a:r>
            <a:r>
              <a:rPr lang="en-GB" sz="1600" b="1" dirty="0"/>
              <a:t>T</a:t>
            </a:r>
            <a:r>
              <a:rPr lang="en-GB" sz="1600" dirty="0"/>
              <a:t>, is also created. </a:t>
            </a:r>
          </a:p>
          <a:p>
            <a:r>
              <a:rPr lang="en-GB" sz="1600" dirty="0"/>
              <a:t>If the length of the key </a:t>
            </a:r>
            <a:r>
              <a:rPr lang="en-GB" sz="1600" b="1" dirty="0"/>
              <a:t>K</a:t>
            </a:r>
            <a:r>
              <a:rPr lang="en-GB" sz="1600" dirty="0"/>
              <a:t> is 256 bytes, </a:t>
            </a:r>
          </a:p>
          <a:p>
            <a:r>
              <a:rPr lang="en-GB" sz="1600" dirty="0"/>
              <a:t>then </a:t>
            </a:r>
            <a:r>
              <a:rPr lang="en-GB" sz="1600" b="1" dirty="0"/>
              <a:t>K</a:t>
            </a:r>
            <a:r>
              <a:rPr lang="en-GB" sz="1600" dirty="0"/>
              <a:t> is transferred to </a:t>
            </a:r>
            <a:r>
              <a:rPr lang="en-GB" sz="1600" b="1" dirty="0"/>
              <a:t>T</a:t>
            </a:r>
            <a:r>
              <a:rPr lang="en-GB" sz="1600" dirty="0"/>
              <a:t>. Otherwise, for </a:t>
            </a:r>
          </a:p>
          <a:p>
            <a:r>
              <a:rPr lang="en-GB" sz="1600" dirty="0"/>
              <a:t>a key of length </a:t>
            </a:r>
            <a:r>
              <a:rPr lang="en-GB" sz="1600" b="1" i="1" dirty="0" err="1"/>
              <a:t>keylen</a:t>
            </a:r>
            <a:r>
              <a:rPr lang="en-GB" sz="1600" i="1" dirty="0"/>
              <a:t> </a:t>
            </a:r>
            <a:r>
              <a:rPr lang="en-GB" sz="1600" dirty="0"/>
              <a:t>bytes, </a:t>
            </a:r>
          </a:p>
          <a:p>
            <a:r>
              <a:rPr lang="en-GB" sz="1600" dirty="0"/>
              <a:t>the first </a:t>
            </a:r>
            <a:r>
              <a:rPr lang="en-GB" sz="1600" b="1" i="1" dirty="0" err="1"/>
              <a:t>keylen</a:t>
            </a:r>
            <a:r>
              <a:rPr lang="en-GB" sz="1600" b="1" i="1" dirty="0"/>
              <a:t> </a:t>
            </a:r>
            <a:r>
              <a:rPr lang="en-GB" sz="1600" dirty="0"/>
              <a:t>elements of </a:t>
            </a:r>
            <a:r>
              <a:rPr lang="en-GB" sz="1600" b="1" dirty="0"/>
              <a:t>T</a:t>
            </a:r>
            <a:r>
              <a:rPr lang="en-GB" sz="1600" dirty="0"/>
              <a:t> are copied from </a:t>
            </a:r>
            <a:r>
              <a:rPr lang="en-GB" sz="1600" b="1" dirty="0"/>
              <a:t>K</a:t>
            </a:r>
            <a:r>
              <a:rPr lang="en-GB" sz="1600" dirty="0"/>
              <a:t> </a:t>
            </a:r>
          </a:p>
          <a:p>
            <a:r>
              <a:rPr lang="en-GB" sz="1600" dirty="0"/>
              <a:t>and then </a:t>
            </a:r>
            <a:r>
              <a:rPr lang="en-GB" sz="1600" b="1" dirty="0"/>
              <a:t>K</a:t>
            </a:r>
            <a:r>
              <a:rPr lang="en-GB" sz="1600" dirty="0"/>
              <a:t> is repeated as many times as necessary to fill out </a:t>
            </a:r>
            <a:r>
              <a:rPr lang="en-GB" sz="1600" b="1" dirty="0"/>
              <a:t>T</a:t>
            </a:r>
            <a:r>
              <a:rPr lang="en-GB" sz="1600" dirty="0"/>
              <a:t>. </a:t>
            </a:r>
          </a:p>
        </p:txBody>
      </p:sp>
      <p:pic>
        <p:nvPicPr>
          <p:cNvPr id="6" name="Picture 2" descr="E:\محاضرات\cryptography lectures\محاضراتي\RC4\805px-RC4.png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499992" y="3212976"/>
            <a:ext cx="4320480" cy="193214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7" name="TextBox 6"/>
          <p:cNvSpPr txBox="1"/>
          <p:nvPr/>
        </p:nvSpPr>
        <p:spPr>
          <a:xfrm>
            <a:off x="0" y="0"/>
            <a:ext cx="9144000" cy="646331"/>
          </a:xfrm>
          <a:prstGeom prst="rect">
            <a:avLst/>
          </a:prstGeom>
          <a:solidFill>
            <a:schemeClr val="accent1"/>
          </a:solidFill>
        </p:spPr>
        <p:txBody>
          <a:bodyPr wrap="square" rtlCol="0">
            <a:spAutoFit/>
          </a:bodyPr>
          <a:lstStyle/>
          <a:p>
            <a:pPr algn="ctr"/>
            <a:r>
              <a:rPr lang="en-US" b="1" dirty="0">
                <a:solidFill>
                  <a:srgbClr val="FFFF00"/>
                </a:solidFill>
              </a:rPr>
              <a:t>Symmetric Cryptography</a:t>
            </a:r>
          </a:p>
          <a:p>
            <a:pPr algn="ctr"/>
            <a:r>
              <a:rPr lang="en-US" b="1" dirty="0">
                <a:solidFill>
                  <a:srgbClr val="FFFF00"/>
                </a:solidFill>
              </a:rPr>
              <a:t>RC4</a:t>
            </a:r>
            <a:r>
              <a:rPr lang="en-US" b="1" dirty="0">
                <a:solidFill>
                  <a:schemeClr val="bg1"/>
                </a:solidFill>
              </a:rPr>
              <a:t> </a:t>
            </a:r>
            <a:r>
              <a:rPr lang="en-US" b="1" dirty="0">
                <a:solidFill>
                  <a:srgbClr val="FFFF00"/>
                </a:solidFill>
              </a:rPr>
              <a:t>Stream Cipher </a:t>
            </a:r>
            <a:endParaRPr lang="en-GB" b="1" dirty="0">
              <a:solidFill>
                <a:schemeClr val="bg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153771964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2000"/>
    </mc:Choice>
    <mc:Fallback>
      <p:transition spd="slow"/>
    </mc:Fallback>
  </mc:AlternateContent>
  <p:timing>
    <p:tnLst>
      <p:par>
        <p:cTn id="1" dur="indefinite" restart="never" nodeType="tmRoot"/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/>
          <p:cNvSpPr txBox="1"/>
          <p:nvPr/>
        </p:nvSpPr>
        <p:spPr>
          <a:xfrm>
            <a:off x="0" y="0"/>
            <a:ext cx="9144000" cy="369332"/>
          </a:xfrm>
          <a:prstGeom prst="rect">
            <a:avLst/>
          </a:prstGeom>
          <a:solidFill>
            <a:schemeClr val="accent1"/>
          </a:solidFill>
        </p:spPr>
        <p:txBody>
          <a:bodyPr wrap="square" rtlCol="0">
            <a:spAutoFit/>
          </a:bodyPr>
          <a:lstStyle/>
          <a:p>
            <a:endParaRPr lang="en-GB" b="1" dirty="0">
              <a:solidFill>
                <a:schemeClr val="bg1"/>
              </a:solidFill>
            </a:endParaRPr>
          </a:p>
        </p:txBody>
      </p:sp>
      <p:sp>
        <p:nvSpPr>
          <p:cNvPr id="5" name="TextBox 4"/>
          <p:cNvSpPr txBox="1"/>
          <p:nvPr/>
        </p:nvSpPr>
        <p:spPr>
          <a:xfrm>
            <a:off x="251520" y="1077699"/>
            <a:ext cx="8712968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endParaRPr lang="en-GB" dirty="0"/>
          </a:p>
        </p:txBody>
      </p:sp>
      <p:sp>
        <p:nvSpPr>
          <p:cNvPr id="2" name="Slide Number Placeholder 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5F608CE-C03C-4089-8C30-2B4572834CCA}" type="slidenum">
              <a:rPr lang="en-GB" smtClean="0"/>
              <a:t>5</a:t>
            </a:fld>
            <a:endParaRPr lang="en-GB"/>
          </a:p>
        </p:txBody>
      </p:sp>
      <p:sp>
        <p:nvSpPr>
          <p:cNvPr id="3" name="TextBox 2"/>
          <p:cNvSpPr txBox="1"/>
          <p:nvPr/>
        </p:nvSpPr>
        <p:spPr>
          <a:xfrm>
            <a:off x="117848" y="764704"/>
            <a:ext cx="8568952" cy="624786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sz="1600" b="1" dirty="0" smtClean="0"/>
              <a:t>State The </a:t>
            </a:r>
            <a:r>
              <a:rPr lang="en-GB" sz="1600" b="1" dirty="0"/>
              <a:t>preliminary operations </a:t>
            </a:r>
            <a:r>
              <a:rPr lang="en-GB" sz="1600" dirty="0"/>
              <a:t>can be summarized as follows</a:t>
            </a:r>
            <a:r>
              <a:rPr lang="en-GB" sz="1600" dirty="0" smtClean="0"/>
              <a:t>:</a:t>
            </a:r>
          </a:p>
          <a:p>
            <a:r>
              <a:rPr lang="en-GB" sz="1600" dirty="0"/>
              <a:t>The State Vector is represented by s[</a:t>
            </a:r>
            <a:r>
              <a:rPr lang="en-GB" sz="1600" dirty="0" err="1"/>
              <a:t>i</a:t>
            </a:r>
            <a:r>
              <a:rPr lang="en-GB" sz="1600" dirty="0"/>
              <a:t>].</a:t>
            </a:r>
          </a:p>
          <a:p>
            <a:r>
              <a:rPr lang="en-GB" sz="1600" dirty="0"/>
              <a:t>The Temporary Vector is represented by T[</a:t>
            </a:r>
            <a:r>
              <a:rPr lang="en-GB" sz="1600" dirty="0" err="1"/>
              <a:t>i</a:t>
            </a:r>
            <a:r>
              <a:rPr lang="en-GB" sz="1600" dirty="0"/>
              <a:t>]</a:t>
            </a:r>
          </a:p>
          <a:p>
            <a:r>
              <a:rPr lang="en-GB" sz="1600" dirty="0"/>
              <a:t>Number of Iterations =Size of the s-array</a:t>
            </a:r>
          </a:p>
          <a:p>
            <a:r>
              <a:rPr lang="en-GB" sz="1600" dirty="0" smtClean="0"/>
              <a:t>Say the state vector size is 256.</a:t>
            </a:r>
            <a:endParaRPr lang="en-GB" sz="1600" dirty="0"/>
          </a:p>
          <a:p>
            <a:r>
              <a:rPr lang="en-US" sz="2800" dirty="0" smtClean="0">
                <a:solidFill>
                  <a:srgbClr val="0070C0"/>
                </a:solidFill>
              </a:rPr>
              <a:t>for  </a:t>
            </a:r>
            <a:r>
              <a:rPr lang="en-US" sz="2800" dirty="0" err="1">
                <a:solidFill>
                  <a:srgbClr val="0070C0"/>
                </a:solidFill>
              </a:rPr>
              <a:t>i</a:t>
            </a:r>
            <a:r>
              <a:rPr lang="en-US" sz="2800" dirty="0">
                <a:solidFill>
                  <a:srgbClr val="0070C0"/>
                </a:solidFill>
              </a:rPr>
              <a:t> = 0 to 255 do</a:t>
            </a:r>
            <a:endParaRPr lang="en-GB" sz="2800" dirty="0">
              <a:solidFill>
                <a:srgbClr val="0070C0"/>
              </a:solidFill>
            </a:endParaRPr>
          </a:p>
          <a:p>
            <a:r>
              <a:rPr lang="en-US" sz="2800" dirty="0">
                <a:solidFill>
                  <a:srgbClr val="0070C0"/>
                </a:solidFill>
              </a:rPr>
              <a:t>    </a:t>
            </a:r>
            <a:r>
              <a:rPr lang="en-US" sz="2800" b="1" dirty="0">
                <a:solidFill>
                  <a:srgbClr val="0070C0"/>
                </a:solidFill>
              </a:rPr>
              <a:t>S</a:t>
            </a:r>
            <a:r>
              <a:rPr lang="en-US" sz="2800" dirty="0">
                <a:solidFill>
                  <a:srgbClr val="0070C0"/>
                </a:solidFill>
              </a:rPr>
              <a:t>[</a:t>
            </a:r>
            <a:r>
              <a:rPr lang="en-US" sz="2800" dirty="0" err="1">
                <a:solidFill>
                  <a:srgbClr val="0070C0"/>
                </a:solidFill>
              </a:rPr>
              <a:t>i</a:t>
            </a:r>
            <a:r>
              <a:rPr lang="en-US" sz="2800" dirty="0">
                <a:solidFill>
                  <a:srgbClr val="0070C0"/>
                </a:solidFill>
              </a:rPr>
              <a:t>] = </a:t>
            </a:r>
            <a:r>
              <a:rPr lang="en-US" sz="2800" dirty="0" err="1">
                <a:solidFill>
                  <a:srgbClr val="0070C0"/>
                </a:solidFill>
              </a:rPr>
              <a:t>i</a:t>
            </a:r>
            <a:r>
              <a:rPr lang="en-US" sz="2800" dirty="0">
                <a:solidFill>
                  <a:srgbClr val="0070C0"/>
                </a:solidFill>
              </a:rPr>
              <a:t>;</a:t>
            </a:r>
            <a:endParaRPr lang="en-GB" sz="2800" dirty="0">
              <a:solidFill>
                <a:srgbClr val="0070C0"/>
              </a:solidFill>
            </a:endParaRPr>
          </a:p>
          <a:p>
            <a:r>
              <a:rPr lang="en-US" sz="2800" dirty="0">
                <a:solidFill>
                  <a:srgbClr val="0070C0"/>
                </a:solidFill>
              </a:rPr>
              <a:t>    </a:t>
            </a:r>
            <a:r>
              <a:rPr lang="en-US" sz="2800" b="1" dirty="0">
                <a:solidFill>
                  <a:srgbClr val="0070C0"/>
                </a:solidFill>
              </a:rPr>
              <a:t>T</a:t>
            </a:r>
            <a:r>
              <a:rPr lang="en-US" sz="2800" dirty="0">
                <a:solidFill>
                  <a:srgbClr val="0070C0"/>
                </a:solidFill>
              </a:rPr>
              <a:t>[</a:t>
            </a:r>
            <a:r>
              <a:rPr lang="en-US" sz="2800" dirty="0" err="1">
                <a:solidFill>
                  <a:srgbClr val="0070C0"/>
                </a:solidFill>
              </a:rPr>
              <a:t>i</a:t>
            </a:r>
            <a:r>
              <a:rPr lang="en-US" sz="2800" dirty="0">
                <a:solidFill>
                  <a:srgbClr val="0070C0"/>
                </a:solidFill>
              </a:rPr>
              <a:t>] = </a:t>
            </a:r>
            <a:r>
              <a:rPr lang="en-US" sz="2800" b="1" dirty="0">
                <a:solidFill>
                  <a:srgbClr val="0070C0"/>
                </a:solidFill>
              </a:rPr>
              <a:t>K</a:t>
            </a:r>
            <a:r>
              <a:rPr lang="en-US" sz="2800" dirty="0">
                <a:solidFill>
                  <a:srgbClr val="0070C0"/>
                </a:solidFill>
              </a:rPr>
              <a:t>[</a:t>
            </a:r>
            <a:r>
              <a:rPr lang="en-US" sz="2800" dirty="0" err="1">
                <a:solidFill>
                  <a:srgbClr val="0070C0"/>
                </a:solidFill>
              </a:rPr>
              <a:t>i</a:t>
            </a:r>
            <a:r>
              <a:rPr lang="en-US" sz="2800" dirty="0">
                <a:solidFill>
                  <a:srgbClr val="0070C0"/>
                </a:solidFill>
              </a:rPr>
              <a:t> mod </a:t>
            </a:r>
            <a:r>
              <a:rPr lang="en-US" sz="2800" b="1" dirty="0" err="1">
                <a:solidFill>
                  <a:srgbClr val="0070C0"/>
                </a:solidFill>
              </a:rPr>
              <a:t>keylen</a:t>
            </a:r>
            <a:r>
              <a:rPr lang="en-US" sz="2800" dirty="0">
                <a:solidFill>
                  <a:srgbClr val="0070C0"/>
                </a:solidFill>
              </a:rPr>
              <a:t>];</a:t>
            </a:r>
            <a:endParaRPr lang="en-GB" sz="2800" dirty="0">
              <a:solidFill>
                <a:srgbClr val="0070C0"/>
              </a:solidFill>
            </a:endParaRPr>
          </a:p>
          <a:p>
            <a:endParaRPr lang="en-GB" sz="1600" dirty="0"/>
          </a:p>
          <a:p>
            <a:r>
              <a:rPr lang="en-GB" b="1" dirty="0" smtClean="0"/>
              <a:t>Step 2: </a:t>
            </a:r>
            <a:r>
              <a:rPr lang="en-IN" b="1" dirty="0" smtClean="0"/>
              <a:t>Key Scheduling Algorithm</a:t>
            </a:r>
            <a:endParaRPr lang="en-GB" b="1" dirty="0"/>
          </a:p>
          <a:p>
            <a:r>
              <a:rPr lang="en-US" sz="1600" dirty="0"/>
              <a:t>Next we use </a:t>
            </a:r>
            <a:r>
              <a:rPr lang="en-US" sz="1600" b="1" dirty="0"/>
              <a:t>T</a:t>
            </a:r>
            <a:r>
              <a:rPr lang="en-US" sz="1600" dirty="0"/>
              <a:t> to produce the initial permutation of </a:t>
            </a:r>
            <a:r>
              <a:rPr lang="en-US" sz="1600" b="1" dirty="0"/>
              <a:t>S</a:t>
            </a:r>
            <a:r>
              <a:rPr lang="en-US" sz="1600" dirty="0"/>
              <a:t>. This involves starting with </a:t>
            </a:r>
            <a:r>
              <a:rPr lang="en-US" sz="1600" b="1" dirty="0"/>
              <a:t>S</a:t>
            </a:r>
            <a:r>
              <a:rPr lang="en-US" sz="1600" dirty="0"/>
              <a:t>[0] and going through to </a:t>
            </a:r>
            <a:r>
              <a:rPr lang="en-US" sz="1600" b="1" dirty="0"/>
              <a:t>S</a:t>
            </a:r>
            <a:r>
              <a:rPr lang="en-US" sz="1600" dirty="0"/>
              <a:t>[255], and, for each </a:t>
            </a:r>
            <a:r>
              <a:rPr lang="en-US" sz="1600" b="1" dirty="0"/>
              <a:t>S</a:t>
            </a:r>
            <a:r>
              <a:rPr lang="en-US" sz="1600" dirty="0"/>
              <a:t>[</a:t>
            </a:r>
            <a:r>
              <a:rPr lang="en-US" sz="1600" dirty="0" err="1"/>
              <a:t>i</a:t>
            </a:r>
            <a:r>
              <a:rPr lang="en-US" sz="1600" dirty="0"/>
              <a:t>], swapping </a:t>
            </a:r>
            <a:r>
              <a:rPr lang="en-US" sz="1600" b="1" dirty="0"/>
              <a:t>S</a:t>
            </a:r>
            <a:r>
              <a:rPr lang="en-US" sz="1600" dirty="0"/>
              <a:t>[</a:t>
            </a:r>
            <a:r>
              <a:rPr lang="en-US" sz="1600" dirty="0" err="1"/>
              <a:t>i</a:t>
            </a:r>
            <a:r>
              <a:rPr lang="en-US" sz="1600" dirty="0"/>
              <a:t>] with another byte in </a:t>
            </a:r>
            <a:r>
              <a:rPr lang="en-US" sz="1600" b="1" dirty="0"/>
              <a:t>S</a:t>
            </a:r>
            <a:r>
              <a:rPr lang="en-US" sz="1600" dirty="0"/>
              <a:t> according to a scheme dictated by </a:t>
            </a:r>
            <a:r>
              <a:rPr lang="en-US" sz="1600" b="1" dirty="0"/>
              <a:t>T</a:t>
            </a:r>
            <a:r>
              <a:rPr lang="en-US" sz="1600" dirty="0"/>
              <a:t>[</a:t>
            </a:r>
            <a:r>
              <a:rPr lang="en-US" sz="1600" dirty="0" err="1"/>
              <a:t>i</a:t>
            </a:r>
            <a:r>
              <a:rPr lang="en-US" sz="1600" dirty="0"/>
              <a:t>]:</a:t>
            </a:r>
            <a:endParaRPr lang="en-GB" sz="1600" dirty="0"/>
          </a:p>
          <a:p>
            <a:endParaRPr lang="en-US" sz="1000" dirty="0"/>
          </a:p>
          <a:p>
            <a:r>
              <a:rPr lang="en-US" sz="2000" b="1" dirty="0">
                <a:solidFill>
                  <a:srgbClr val="0070C0"/>
                </a:solidFill>
              </a:rPr>
              <a:t>j = 0;</a:t>
            </a:r>
            <a:endParaRPr lang="en-GB" sz="2000" b="1" dirty="0">
              <a:solidFill>
                <a:srgbClr val="0070C0"/>
              </a:solidFill>
            </a:endParaRPr>
          </a:p>
          <a:p>
            <a:r>
              <a:rPr lang="en-US" sz="2000" b="1" dirty="0">
                <a:solidFill>
                  <a:srgbClr val="0070C0"/>
                </a:solidFill>
              </a:rPr>
              <a:t>for  </a:t>
            </a:r>
            <a:r>
              <a:rPr lang="en-US" sz="2000" b="1" dirty="0" err="1">
                <a:solidFill>
                  <a:srgbClr val="0070C0"/>
                </a:solidFill>
              </a:rPr>
              <a:t>i</a:t>
            </a:r>
            <a:r>
              <a:rPr lang="en-US" sz="2000" b="1" dirty="0">
                <a:solidFill>
                  <a:srgbClr val="0070C0"/>
                </a:solidFill>
              </a:rPr>
              <a:t> = 0 to 255 do</a:t>
            </a:r>
            <a:endParaRPr lang="en-GB" sz="2000" b="1" dirty="0">
              <a:solidFill>
                <a:srgbClr val="0070C0"/>
              </a:solidFill>
            </a:endParaRPr>
          </a:p>
          <a:p>
            <a:r>
              <a:rPr lang="en-US" sz="2000" b="1" dirty="0">
                <a:solidFill>
                  <a:srgbClr val="0070C0"/>
                </a:solidFill>
              </a:rPr>
              <a:t>    j = (j + S[</a:t>
            </a:r>
            <a:r>
              <a:rPr lang="en-US" sz="2000" b="1" dirty="0" err="1">
                <a:solidFill>
                  <a:srgbClr val="0070C0"/>
                </a:solidFill>
              </a:rPr>
              <a:t>i</a:t>
            </a:r>
            <a:r>
              <a:rPr lang="en-US" sz="2000" b="1" dirty="0">
                <a:solidFill>
                  <a:srgbClr val="0070C0"/>
                </a:solidFill>
              </a:rPr>
              <a:t>] + T[</a:t>
            </a:r>
            <a:r>
              <a:rPr lang="en-US" sz="2000" b="1" dirty="0" err="1">
                <a:solidFill>
                  <a:srgbClr val="0070C0"/>
                </a:solidFill>
              </a:rPr>
              <a:t>i</a:t>
            </a:r>
            <a:r>
              <a:rPr lang="en-US" sz="2000" b="1" dirty="0">
                <a:solidFill>
                  <a:srgbClr val="0070C0"/>
                </a:solidFill>
              </a:rPr>
              <a:t>]) mod 256;</a:t>
            </a:r>
            <a:endParaRPr lang="en-GB" sz="2000" b="1" dirty="0">
              <a:solidFill>
                <a:srgbClr val="0070C0"/>
              </a:solidFill>
            </a:endParaRPr>
          </a:p>
          <a:p>
            <a:r>
              <a:rPr lang="en-US" sz="2000" b="1" dirty="0">
                <a:solidFill>
                  <a:srgbClr val="0070C0"/>
                </a:solidFill>
              </a:rPr>
              <a:t> </a:t>
            </a:r>
            <a:r>
              <a:rPr lang="en-US" sz="2000" b="1" dirty="0" smtClean="0">
                <a:solidFill>
                  <a:srgbClr val="0070C0"/>
                </a:solidFill>
              </a:rPr>
              <a:t>Swap </a:t>
            </a:r>
            <a:r>
              <a:rPr lang="en-US" sz="2000" b="1" dirty="0">
                <a:solidFill>
                  <a:srgbClr val="0070C0"/>
                </a:solidFill>
              </a:rPr>
              <a:t>(S[</a:t>
            </a:r>
            <a:r>
              <a:rPr lang="en-US" sz="2000" b="1" dirty="0" err="1">
                <a:solidFill>
                  <a:srgbClr val="0070C0"/>
                </a:solidFill>
              </a:rPr>
              <a:t>i</a:t>
            </a:r>
            <a:r>
              <a:rPr lang="en-US" sz="2000" b="1" dirty="0">
                <a:solidFill>
                  <a:srgbClr val="0070C0"/>
                </a:solidFill>
              </a:rPr>
              <a:t>], S[j]);</a:t>
            </a:r>
            <a:endParaRPr lang="en-GB" sz="2000" b="1" dirty="0">
              <a:solidFill>
                <a:srgbClr val="0070C0"/>
              </a:solidFill>
            </a:endParaRPr>
          </a:p>
          <a:p>
            <a:r>
              <a:rPr lang="en-US" sz="1600" dirty="0"/>
              <a:t> </a:t>
            </a:r>
            <a:endParaRPr lang="en-GB" sz="1600" dirty="0"/>
          </a:p>
          <a:p>
            <a:r>
              <a:rPr lang="en-US" sz="1600" dirty="0"/>
              <a:t>Because the only operation on </a:t>
            </a:r>
            <a:r>
              <a:rPr lang="en-US" sz="1600" b="1" dirty="0"/>
              <a:t>S </a:t>
            </a:r>
            <a:r>
              <a:rPr lang="en-US" sz="1600" dirty="0"/>
              <a:t>is a swap, the only effect is a permutation.</a:t>
            </a:r>
            <a:r>
              <a:rPr lang="en-US" sz="1600" b="1" dirty="0"/>
              <a:t> S </a:t>
            </a:r>
            <a:r>
              <a:rPr lang="en-US" sz="1600" dirty="0"/>
              <a:t>still contains all the numbers from 0 through 255.</a:t>
            </a:r>
            <a:endParaRPr lang="en-GB" sz="1600" dirty="0"/>
          </a:p>
          <a:p>
            <a:r>
              <a:rPr lang="en-US" sz="1600" dirty="0"/>
              <a:t> </a:t>
            </a:r>
            <a:endParaRPr lang="en-GB" sz="1600" dirty="0"/>
          </a:p>
        </p:txBody>
      </p:sp>
      <p:sp>
        <p:nvSpPr>
          <p:cNvPr id="6" name="TextBox 5"/>
          <p:cNvSpPr txBox="1"/>
          <p:nvPr/>
        </p:nvSpPr>
        <p:spPr>
          <a:xfrm>
            <a:off x="0" y="0"/>
            <a:ext cx="9144000" cy="646331"/>
          </a:xfrm>
          <a:prstGeom prst="rect">
            <a:avLst/>
          </a:prstGeom>
          <a:solidFill>
            <a:schemeClr val="accent1"/>
          </a:solidFill>
        </p:spPr>
        <p:txBody>
          <a:bodyPr wrap="square" rtlCol="0">
            <a:spAutoFit/>
          </a:bodyPr>
          <a:lstStyle/>
          <a:p>
            <a:pPr algn="ctr"/>
            <a:r>
              <a:rPr lang="en-US" b="1" dirty="0">
                <a:solidFill>
                  <a:srgbClr val="FFFF00"/>
                </a:solidFill>
              </a:rPr>
              <a:t>Symmetric Cryptography</a:t>
            </a:r>
          </a:p>
          <a:p>
            <a:pPr algn="ctr"/>
            <a:r>
              <a:rPr lang="en-US" b="1" dirty="0">
                <a:solidFill>
                  <a:srgbClr val="FFFF00"/>
                </a:solidFill>
              </a:rPr>
              <a:t>RC4</a:t>
            </a:r>
            <a:r>
              <a:rPr lang="en-US" b="1" dirty="0">
                <a:solidFill>
                  <a:schemeClr val="bg1"/>
                </a:solidFill>
              </a:rPr>
              <a:t> </a:t>
            </a:r>
            <a:r>
              <a:rPr lang="en-US" b="1" dirty="0">
                <a:solidFill>
                  <a:srgbClr val="FFFF00"/>
                </a:solidFill>
              </a:rPr>
              <a:t>Stream Cipher </a:t>
            </a:r>
            <a:endParaRPr lang="en-GB" b="1" dirty="0">
              <a:solidFill>
                <a:schemeClr val="bg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70297225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/>
          <p:cNvSpPr txBox="1"/>
          <p:nvPr/>
        </p:nvSpPr>
        <p:spPr>
          <a:xfrm>
            <a:off x="0" y="0"/>
            <a:ext cx="9144000" cy="369332"/>
          </a:xfrm>
          <a:prstGeom prst="rect">
            <a:avLst/>
          </a:prstGeom>
          <a:solidFill>
            <a:schemeClr val="accent1"/>
          </a:solidFill>
        </p:spPr>
        <p:txBody>
          <a:bodyPr wrap="square" rtlCol="0">
            <a:spAutoFit/>
          </a:bodyPr>
          <a:lstStyle/>
          <a:p>
            <a:endParaRPr lang="en-GB" b="1" dirty="0">
              <a:solidFill>
                <a:schemeClr val="bg1"/>
              </a:solidFill>
            </a:endParaRPr>
          </a:p>
        </p:txBody>
      </p:sp>
      <p:sp>
        <p:nvSpPr>
          <p:cNvPr id="5" name="TextBox 4"/>
          <p:cNvSpPr txBox="1"/>
          <p:nvPr/>
        </p:nvSpPr>
        <p:spPr>
          <a:xfrm>
            <a:off x="251520" y="1077699"/>
            <a:ext cx="8712968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endParaRPr lang="en-GB" dirty="0"/>
          </a:p>
        </p:txBody>
      </p:sp>
      <p:sp>
        <p:nvSpPr>
          <p:cNvPr id="2" name="Slide Number Placeholder 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5F608CE-C03C-4089-8C30-2B4572834CCA}" type="slidenum">
              <a:rPr lang="en-GB" smtClean="0"/>
              <a:t>6</a:t>
            </a:fld>
            <a:endParaRPr lang="en-GB"/>
          </a:p>
        </p:txBody>
      </p:sp>
      <p:sp>
        <p:nvSpPr>
          <p:cNvPr id="3" name="TextBox 2"/>
          <p:cNvSpPr txBox="1"/>
          <p:nvPr/>
        </p:nvSpPr>
        <p:spPr>
          <a:xfrm>
            <a:off x="117848" y="764704"/>
            <a:ext cx="8568952" cy="387798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sz="1600" b="1" dirty="0"/>
              <a:t>Step </a:t>
            </a:r>
            <a:r>
              <a:rPr lang="en-GB" sz="1600" b="1" dirty="0" smtClean="0"/>
              <a:t>3: </a:t>
            </a:r>
            <a:r>
              <a:rPr lang="en-IN" sz="1600" b="1" dirty="0" smtClean="0"/>
              <a:t>PRGA Algorithm</a:t>
            </a:r>
            <a:endParaRPr lang="en-GB" sz="1600" dirty="0"/>
          </a:p>
          <a:p>
            <a:r>
              <a:rPr lang="en-US" sz="1600" dirty="0"/>
              <a:t>Once the </a:t>
            </a:r>
            <a:r>
              <a:rPr lang="en-US" sz="1600" b="1" dirty="0"/>
              <a:t>S </a:t>
            </a:r>
            <a:r>
              <a:rPr lang="en-US" sz="1600" dirty="0"/>
              <a:t>vector is initialized, the input key is no longer used. Stream generation involves cycling through all the elements of </a:t>
            </a:r>
            <a:r>
              <a:rPr lang="en-US" sz="1600" b="1" dirty="0"/>
              <a:t>S</a:t>
            </a:r>
            <a:r>
              <a:rPr lang="en-US" sz="1600" dirty="0"/>
              <a:t>[</a:t>
            </a:r>
            <a:r>
              <a:rPr lang="en-US" sz="1600" dirty="0" err="1"/>
              <a:t>i</a:t>
            </a:r>
            <a:r>
              <a:rPr lang="en-US" sz="1600" dirty="0"/>
              <a:t>], and, for each </a:t>
            </a:r>
            <a:r>
              <a:rPr lang="en-US" sz="1600" b="1" dirty="0"/>
              <a:t>S</a:t>
            </a:r>
            <a:r>
              <a:rPr lang="en-US" sz="1600" dirty="0"/>
              <a:t>[</a:t>
            </a:r>
            <a:r>
              <a:rPr lang="en-US" sz="1600" dirty="0" err="1"/>
              <a:t>i</a:t>
            </a:r>
            <a:r>
              <a:rPr lang="en-US" sz="1600" dirty="0"/>
              <a:t>], swapping </a:t>
            </a:r>
            <a:r>
              <a:rPr lang="en-US" sz="1600" b="1" dirty="0"/>
              <a:t>S</a:t>
            </a:r>
            <a:r>
              <a:rPr lang="en-US" sz="1600" dirty="0"/>
              <a:t>[</a:t>
            </a:r>
            <a:r>
              <a:rPr lang="en-US" sz="1600" dirty="0" err="1"/>
              <a:t>i</a:t>
            </a:r>
            <a:r>
              <a:rPr lang="en-US" sz="1600" dirty="0"/>
              <a:t>] with another byte in </a:t>
            </a:r>
            <a:r>
              <a:rPr lang="en-US" sz="1600" b="1" dirty="0"/>
              <a:t>S</a:t>
            </a:r>
            <a:r>
              <a:rPr lang="en-US" sz="1600" dirty="0"/>
              <a:t> according to a scheme dictated by the current configuration of </a:t>
            </a:r>
            <a:r>
              <a:rPr lang="en-US" sz="1600" b="1" dirty="0"/>
              <a:t>S</a:t>
            </a:r>
            <a:r>
              <a:rPr lang="en-US" sz="1600" dirty="0"/>
              <a:t>. After </a:t>
            </a:r>
            <a:r>
              <a:rPr lang="en-US" sz="1600" b="1" dirty="0"/>
              <a:t>S</a:t>
            </a:r>
            <a:r>
              <a:rPr lang="en-US" sz="1600" dirty="0"/>
              <a:t>[255] is reached, the process continues, starting over again at </a:t>
            </a:r>
            <a:r>
              <a:rPr lang="en-US" sz="1600" b="1" dirty="0"/>
              <a:t>S</a:t>
            </a:r>
            <a:r>
              <a:rPr lang="en-US" sz="1600" dirty="0"/>
              <a:t>[0</a:t>
            </a:r>
            <a:r>
              <a:rPr lang="en-US" sz="1600" dirty="0" smtClean="0"/>
              <a:t>]:</a:t>
            </a:r>
          </a:p>
          <a:p>
            <a:r>
              <a:rPr lang="en-US" sz="1600" dirty="0" smtClean="0"/>
              <a:t>Number of iterations=Size of Key</a:t>
            </a:r>
            <a:endParaRPr lang="en-US" sz="1600" dirty="0"/>
          </a:p>
          <a:p>
            <a:endParaRPr lang="en-GB" sz="1000" dirty="0"/>
          </a:p>
          <a:p>
            <a:r>
              <a:rPr lang="en-US" sz="2000" b="1" dirty="0" err="1">
                <a:solidFill>
                  <a:srgbClr val="0070C0"/>
                </a:solidFill>
              </a:rPr>
              <a:t>i</a:t>
            </a:r>
            <a:r>
              <a:rPr lang="en-US" sz="2000" b="1" dirty="0">
                <a:solidFill>
                  <a:srgbClr val="0070C0"/>
                </a:solidFill>
              </a:rPr>
              <a:t>, j = 0;</a:t>
            </a:r>
            <a:endParaRPr lang="en-GB" sz="2000" b="1" dirty="0">
              <a:solidFill>
                <a:srgbClr val="0070C0"/>
              </a:solidFill>
            </a:endParaRPr>
          </a:p>
          <a:p>
            <a:r>
              <a:rPr lang="en-US" sz="2000" b="1" dirty="0">
                <a:solidFill>
                  <a:srgbClr val="0070C0"/>
                </a:solidFill>
              </a:rPr>
              <a:t>while (true)</a:t>
            </a:r>
            <a:endParaRPr lang="en-GB" sz="2000" b="1" dirty="0">
              <a:solidFill>
                <a:srgbClr val="0070C0"/>
              </a:solidFill>
            </a:endParaRPr>
          </a:p>
          <a:p>
            <a:r>
              <a:rPr lang="en-US" sz="2000" b="1" dirty="0">
                <a:solidFill>
                  <a:srgbClr val="0070C0"/>
                </a:solidFill>
              </a:rPr>
              <a:t>     </a:t>
            </a:r>
            <a:r>
              <a:rPr lang="en-US" sz="2000" b="1" dirty="0" err="1">
                <a:solidFill>
                  <a:srgbClr val="0070C0"/>
                </a:solidFill>
              </a:rPr>
              <a:t>i</a:t>
            </a:r>
            <a:r>
              <a:rPr lang="en-US" sz="2000" b="1" dirty="0">
                <a:solidFill>
                  <a:srgbClr val="0070C0"/>
                </a:solidFill>
              </a:rPr>
              <a:t> = (</a:t>
            </a:r>
            <a:r>
              <a:rPr lang="en-US" sz="2000" b="1" dirty="0" err="1">
                <a:solidFill>
                  <a:srgbClr val="0070C0"/>
                </a:solidFill>
              </a:rPr>
              <a:t>i</a:t>
            </a:r>
            <a:r>
              <a:rPr lang="en-US" sz="2000" b="1" dirty="0">
                <a:solidFill>
                  <a:srgbClr val="0070C0"/>
                </a:solidFill>
              </a:rPr>
              <a:t> + 1) mod 256;</a:t>
            </a:r>
            <a:endParaRPr lang="en-GB" sz="2000" b="1" dirty="0">
              <a:solidFill>
                <a:srgbClr val="0070C0"/>
              </a:solidFill>
            </a:endParaRPr>
          </a:p>
          <a:p>
            <a:r>
              <a:rPr lang="en-US" sz="2000" b="1" dirty="0">
                <a:solidFill>
                  <a:srgbClr val="0070C0"/>
                </a:solidFill>
              </a:rPr>
              <a:t>     j = (j + </a:t>
            </a:r>
            <a:r>
              <a:rPr lang="en-US" sz="2000" b="1" dirty="0" smtClean="0">
                <a:solidFill>
                  <a:srgbClr val="0070C0"/>
                </a:solidFill>
              </a:rPr>
              <a:t>S[</a:t>
            </a:r>
            <a:r>
              <a:rPr lang="en-US" sz="2000" b="1" dirty="0" err="1" smtClean="0">
                <a:solidFill>
                  <a:srgbClr val="0070C0"/>
                </a:solidFill>
              </a:rPr>
              <a:t>i</a:t>
            </a:r>
            <a:r>
              <a:rPr lang="en-US" sz="2000" b="1" dirty="0" smtClean="0">
                <a:solidFill>
                  <a:srgbClr val="0070C0"/>
                </a:solidFill>
              </a:rPr>
              <a:t>]) </a:t>
            </a:r>
            <a:r>
              <a:rPr lang="en-US" sz="2000" b="1" dirty="0">
                <a:solidFill>
                  <a:srgbClr val="0070C0"/>
                </a:solidFill>
              </a:rPr>
              <a:t>mod 256;</a:t>
            </a:r>
            <a:endParaRPr lang="en-GB" sz="2000" b="1" dirty="0">
              <a:solidFill>
                <a:srgbClr val="0070C0"/>
              </a:solidFill>
            </a:endParaRPr>
          </a:p>
          <a:p>
            <a:r>
              <a:rPr lang="en-US" sz="2000" b="1" dirty="0">
                <a:solidFill>
                  <a:srgbClr val="0070C0"/>
                </a:solidFill>
              </a:rPr>
              <a:t>     Swap (S[</a:t>
            </a:r>
            <a:r>
              <a:rPr lang="en-US" sz="2000" b="1" dirty="0" err="1">
                <a:solidFill>
                  <a:srgbClr val="0070C0"/>
                </a:solidFill>
              </a:rPr>
              <a:t>i</a:t>
            </a:r>
            <a:r>
              <a:rPr lang="en-US" sz="2000" b="1" dirty="0">
                <a:solidFill>
                  <a:srgbClr val="0070C0"/>
                </a:solidFill>
              </a:rPr>
              <a:t>], S[j]);</a:t>
            </a:r>
            <a:endParaRPr lang="en-GB" sz="2000" b="1" dirty="0">
              <a:solidFill>
                <a:srgbClr val="0070C0"/>
              </a:solidFill>
            </a:endParaRPr>
          </a:p>
          <a:p>
            <a:r>
              <a:rPr lang="en-US" sz="2000" b="1" dirty="0">
                <a:solidFill>
                  <a:srgbClr val="0070C0"/>
                </a:solidFill>
              </a:rPr>
              <a:t>     t = (S[</a:t>
            </a:r>
            <a:r>
              <a:rPr lang="en-US" sz="2000" b="1" dirty="0" err="1">
                <a:solidFill>
                  <a:srgbClr val="0070C0"/>
                </a:solidFill>
              </a:rPr>
              <a:t>i</a:t>
            </a:r>
            <a:r>
              <a:rPr lang="en-US" sz="2000" b="1" dirty="0">
                <a:solidFill>
                  <a:srgbClr val="0070C0"/>
                </a:solidFill>
              </a:rPr>
              <a:t>] + S[j]) mod 256;</a:t>
            </a:r>
            <a:endParaRPr lang="en-GB" sz="2000" b="1" dirty="0">
              <a:solidFill>
                <a:srgbClr val="0070C0"/>
              </a:solidFill>
            </a:endParaRPr>
          </a:p>
          <a:p>
            <a:r>
              <a:rPr lang="en-US" sz="2000" b="1" dirty="0">
                <a:solidFill>
                  <a:srgbClr val="0070C0"/>
                </a:solidFill>
              </a:rPr>
              <a:t>     K = S[t</a:t>
            </a:r>
            <a:r>
              <a:rPr lang="en-US" sz="2000" b="1" dirty="0" smtClean="0">
                <a:solidFill>
                  <a:srgbClr val="0070C0"/>
                </a:solidFill>
              </a:rPr>
              <a:t>];  //K is the </a:t>
            </a:r>
            <a:r>
              <a:rPr lang="en-US" sz="2000" b="1" dirty="0" err="1" smtClean="0">
                <a:solidFill>
                  <a:srgbClr val="0070C0"/>
                </a:solidFill>
              </a:rPr>
              <a:t>KeyStream</a:t>
            </a:r>
            <a:endParaRPr lang="en-GB" sz="2000" b="1" dirty="0">
              <a:solidFill>
                <a:srgbClr val="0070C0"/>
              </a:solidFill>
            </a:endParaRPr>
          </a:p>
        </p:txBody>
      </p:sp>
      <p:sp>
        <p:nvSpPr>
          <p:cNvPr id="6" name="TextBox 5"/>
          <p:cNvSpPr txBox="1"/>
          <p:nvPr/>
        </p:nvSpPr>
        <p:spPr>
          <a:xfrm>
            <a:off x="0" y="0"/>
            <a:ext cx="9144000" cy="646331"/>
          </a:xfrm>
          <a:prstGeom prst="rect">
            <a:avLst/>
          </a:prstGeom>
          <a:solidFill>
            <a:schemeClr val="accent1"/>
          </a:solidFill>
        </p:spPr>
        <p:txBody>
          <a:bodyPr wrap="square" rtlCol="0">
            <a:spAutoFit/>
          </a:bodyPr>
          <a:lstStyle/>
          <a:p>
            <a:pPr algn="ctr"/>
            <a:r>
              <a:rPr lang="en-US" b="1" dirty="0">
                <a:solidFill>
                  <a:srgbClr val="FFFF00"/>
                </a:solidFill>
              </a:rPr>
              <a:t>Symmetric Cryptography</a:t>
            </a:r>
          </a:p>
          <a:p>
            <a:pPr algn="ctr"/>
            <a:r>
              <a:rPr lang="en-US" b="1" dirty="0">
                <a:solidFill>
                  <a:srgbClr val="FFFF00"/>
                </a:solidFill>
              </a:rPr>
              <a:t>RC4</a:t>
            </a:r>
            <a:r>
              <a:rPr lang="en-US" b="1" dirty="0">
                <a:solidFill>
                  <a:schemeClr val="bg1"/>
                </a:solidFill>
              </a:rPr>
              <a:t> </a:t>
            </a:r>
            <a:r>
              <a:rPr lang="en-US" b="1" dirty="0">
                <a:solidFill>
                  <a:srgbClr val="FFFF00"/>
                </a:solidFill>
              </a:rPr>
              <a:t>Stream Cipher </a:t>
            </a:r>
            <a:endParaRPr lang="en-GB" b="1" dirty="0">
              <a:solidFill>
                <a:schemeClr val="bg1"/>
              </a:solidFill>
            </a:endParaRPr>
          </a:p>
        </p:txBody>
      </p:sp>
      <p:sp>
        <p:nvSpPr>
          <p:cNvPr id="7" name="Rectangle 6"/>
          <p:cNvSpPr/>
          <p:nvPr/>
        </p:nvSpPr>
        <p:spPr>
          <a:xfrm>
            <a:off x="232728" y="4696665"/>
            <a:ext cx="8659751" cy="203132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GB" b="1" dirty="0"/>
              <a:t>Step </a:t>
            </a:r>
            <a:r>
              <a:rPr lang="en-GB" b="1" dirty="0" smtClean="0"/>
              <a:t>4: </a:t>
            </a:r>
            <a:r>
              <a:rPr lang="en-US" b="1" dirty="0" smtClean="0"/>
              <a:t>Encryption and Decryption</a:t>
            </a:r>
            <a:endParaRPr lang="en-US" b="1" dirty="0"/>
          </a:p>
          <a:p>
            <a:r>
              <a:rPr lang="en-US" dirty="0"/>
              <a:t>To encrypt, XOR the value </a:t>
            </a:r>
            <a:r>
              <a:rPr lang="en-US" b="1" dirty="0"/>
              <a:t>K</a:t>
            </a:r>
            <a:r>
              <a:rPr lang="en-US" dirty="0"/>
              <a:t> with the next byte of plaintext. To decrypt, XOR the value </a:t>
            </a:r>
            <a:r>
              <a:rPr lang="en-US" b="1" dirty="0"/>
              <a:t>K</a:t>
            </a:r>
            <a:r>
              <a:rPr lang="en-US" dirty="0"/>
              <a:t> with the next byte of </a:t>
            </a:r>
            <a:r>
              <a:rPr lang="en-US" dirty="0" err="1"/>
              <a:t>ciphertext</a:t>
            </a:r>
            <a:r>
              <a:rPr lang="en-US" b="1" dirty="0">
                <a:solidFill>
                  <a:srgbClr val="0070C0"/>
                </a:solidFill>
              </a:rPr>
              <a:t>. </a:t>
            </a:r>
            <a:endParaRPr lang="en-US" b="1" dirty="0" smtClean="0">
              <a:solidFill>
                <a:srgbClr val="0070C0"/>
              </a:solidFill>
            </a:endParaRPr>
          </a:p>
          <a:p>
            <a:r>
              <a:rPr lang="en-US" b="1" dirty="0" smtClean="0">
                <a:solidFill>
                  <a:srgbClr val="0070C0"/>
                </a:solidFill>
              </a:rPr>
              <a:t>Cipher Text= </a:t>
            </a:r>
            <a:r>
              <a:rPr lang="en-US" b="1" dirty="0" err="1" smtClean="0">
                <a:solidFill>
                  <a:srgbClr val="0070C0"/>
                </a:solidFill>
              </a:rPr>
              <a:t>PlainText</a:t>
            </a:r>
            <a:r>
              <a:rPr lang="en-US" b="1" dirty="0" smtClean="0">
                <a:solidFill>
                  <a:srgbClr val="0070C0"/>
                </a:solidFill>
              </a:rPr>
              <a:t> </a:t>
            </a:r>
            <a:r>
              <a:rPr lang="en-IN" b="1" dirty="0">
                <a:solidFill>
                  <a:srgbClr val="0070C0"/>
                </a:solidFill>
              </a:rPr>
              <a:t>⊕ </a:t>
            </a:r>
            <a:r>
              <a:rPr lang="en-US" b="1" dirty="0" err="1" smtClean="0">
                <a:solidFill>
                  <a:srgbClr val="0070C0"/>
                </a:solidFill>
              </a:rPr>
              <a:t>KeyStream</a:t>
            </a:r>
            <a:endParaRPr lang="en-US" b="1" dirty="0" smtClean="0">
              <a:solidFill>
                <a:srgbClr val="0070C0"/>
              </a:solidFill>
            </a:endParaRPr>
          </a:p>
          <a:p>
            <a:r>
              <a:rPr lang="en-US" dirty="0"/>
              <a:t>To </a:t>
            </a:r>
            <a:r>
              <a:rPr lang="en-US" dirty="0" smtClean="0"/>
              <a:t>decrypt,</a:t>
            </a:r>
          </a:p>
          <a:p>
            <a:r>
              <a:rPr lang="en-US" b="1" dirty="0" smtClean="0">
                <a:solidFill>
                  <a:srgbClr val="0070C0"/>
                </a:solidFill>
              </a:rPr>
              <a:t>Plain Text</a:t>
            </a:r>
            <a:r>
              <a:rPr lang="en-US" b="1" dirty="0">
                <a:solidFill>
                  <a:srgbClr val="0070C0"/>
                </a:solidFill>
              </a:rPr>
              <a:t>= </a:t>
            </a:r>
            <a:r>
              <a:rPr lang="en-US" b="1" dirty="0" err="1" smtClean="0">
                <a:solidFill>
                  <a:srgbClr val="0070C0"/>
                </a:solidFill>
              </a:rPr>
              <a:t>CipherText</a:t>
            </a:r>
            <a:r>
              <a:rPr lang="en-US" b="1" dirty="0" smtClean="0">
                <a:solidFill>
                  <a:srgbClr val="0070C0"/>
                </a:solidFill>
              </a:rPr>
              <a:t> </a:t>
            </a:r>
            <a:r>
              <a:rPr lang="en-IN" b="1" dirty="0">
                <a:solidFill>
                  <a:srgbClr val="0070C0"/>
                </a:solidFill>
              </a:rPr>
              <a:t>⊕ </a:t>
            </a:r>
            <a:r>
              <a:rPr lang="en-US" b="1" dirty="0" err="1">
                <a:solidFill>
                  <a:srgbClr val="0070C0"/>
                </a:solidFill>
              </a:rPr>
              <a:t>KeyStream</a:t>
            </a:r>
            <a:endParaRPr lang="en-GB" b="1" dirty="0">
              <a:solidFill>
                <a:srgbClr val="0070C0"/>
              </a:solidFill>
            </a:endParaRPr>
          </a:p>
          <a:p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407841175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/>
          <p:cNvSpPr txBox="1"/>
          <p:nvPr/>
        </p:nvSpPr>
        <p:spPr>
          <a:xfrm>
            <a:off x="0" y="0"/>
            <a:ext cx="9144000" cy="369332"/>
          </a:xfrm>
          <a:prstGeom prst="rect">
            <a:avLst/>
          </a:prstGeom>
          <a:solidFill>
            <a:schemeClr val="accent1"/>
          </a:solidFill>
        </p:spPr>
        <p:txBody>
          <a:bodyPr wrap="square" rtlCol="0">
            <a:spAutoFit/>
          </a:bodyPr>
          <a:lstStyle/>
          <a:p>
            <a:endParaRPr lang="en-GB" b="1" dirty="0">
              <a:solidFill>
                <a:schemeClr val="bg1"/>
              </a:solidFill>
            </a:endParaRPr>
          </a:p>
        </p:txBody>
      </p:sp>
      <p:sp>
        <p:nvSpPr>
          <p:cNvPr id="5" name="TextBox 4"/>
          <p:cNvSpPr txBox="1"/>
          <p:nvPr/>
        </p:nvSpPr>
        <p:spPr>
          <a:xfrm>
            <a:off x="251520" y="1077699"/>
            <a:ext cx="8712968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endParaRPr lang="en-GB" dirty="0"/>
          </a:p>
        </p:txBody>
      </p:sp>
      <p:sp>
        <p:nvSpPr>
          <p:cNvPr id="2" name="Slide Number Placeholder 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5F608CE-C03C-4089-8C30-2B4572834CCA}" type="slidenum">
              <a:rPr lang="en-GB" smtClean="0"/>
              <a:t>7</a:t>
            </a:fld>
            <a:endParaRPr lang="en-GB"/>
          </a:p>
        </p:txBody>
      </p:sp>
      <p:sp>
        <p:nvSpPr>
          <p:cNvPr id="3" name="TextBox 2"/>
          <p:cNvSpPr txBox="1"/>
          <p:nvPr/>
        </p:nvSpPr>
        <p:spPr>
          <a:xfrm>
            <a:off x="117848" y="764704"/>
            <a:ext cx="8568952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1600" b="1" dirty="0" smtClean="0"/>
              <a:t>Example:</a:t>
            </a:r>
            <a:endParaRPr lang="en-GB" sz="1600" dirty="0"/>
          </a:p>
        </p:txBody>
      </p:sp>
      <p:sp>
        <p:nvSpPr>
          <p:cNvPr id="6" name="TextBox 5"/>
          <p:cNvSpPr txBox="1"/>
          <p:nvPr/>
        </p:nvSpPr>
        <p:spPr>
          <a:xfrm>
            <a:off x="0" y="0"/>
            <a:ext cx="9144000" cy="646331"/>
          </a:xfrm>
          <a:prstGeom prst="rect">
            <a:avLst/>
          </a:prstGeom>
          <a:solidFill>
            <a:schemeClr val="accent1"/>
          </a:solidFill>
        </p:spPr>
        <p:txBody>
          <a:bodyPr wrap="square" rtlCol="0">
            <a:spAutoFit/>
          </a:bodyPr>
          <a:lstStyle/>
          <a:p>
            <a:pPr algn="ctr"/>
            <a:r>
              <a:rPr lang="en-US" b="1" dirty="0">
                <a:solidFill>
                  <a:srgbClr val="FFFF00"/>
                </a:solidFill>
              </a:rPr>
              <a:t>Symmetric Cryptography</a:t>
            </a:r>
          </a:p>
          <a:p>
            <a:pPr algn="ctr"/>
            <a:r>
              <a:rPr lang="en-US" b="1" dirty="0">
                <a:solidFill>
                  <a:srgbClr val="FFFF00"/>
                </a:solidFill>
              </a:rPr>
              <a:t>RC4</a:t>
            </a:r>
            <a:r>
              <a:rPr lang="en-US" b="1" dirty="0">
                <a:solidFill>
                  <a:schemeClr val="bg1"/>
                </a:solidFill>
              </a:rPr>
              <a:t> </a:t>
            </a:r>
            <a:r>
              <a:rPr lang="en-US" b="1" dirty="0">
                <a:solidFill>
                  <a:srgbClr val="FFFF00"/>
                </a:solidFill>
              </a:rPr>
              <a:t>Stream Cipher </a:t>
            </a:r>
            <a:endParaRPr lang="en-GB" b="1" dirty="0">
              <a:solidFill>
                <a:schemeClr val="bg1"/>
              </a:solidFill>
            </a:endParaRPr>
          </a:p>
        </p:txBody>
      </p:sp>
      <p:sp>
        <p:nvSpPr>
          <p:cNvPr id="7" name="Rectangle 6"/>
          <p:cNvSpPr/>
          <p:nvPr/>
        </p:nvSpPr>
        <p:spPr>
          <a:xfrm>
            <a:off x="3203848" y="1878399"/>
            <a:ext cx="2736304" cy="3970318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GB" b="1" dirty="0" err="1" smtClean="0">
                <a:solidFill>
                  <a:srgbClr val="0070C0"/>
                </a:solidFill>
              </a:rPr>
              <a:t>i</a:t>
            </a:r>
            <a:r>
              <a:rPr lang="en-GB" b="1" dirty="0" smtClean="0">
                <a:solidFill>
                  <a:srgbClr val="0070C0"/>
                </a:solidFill>
              </a:rPr>
              <a:t> =1</a:t>
            </a:r>
          </a:p>
          <a:p>
            <a:r>
              <a:rPr lang="en-GB" dirty="0"/>
              <a:t>j</a:t>
            </a:r>
            <a:r>
              <a:rPr lang="en-GB" dirty="0" smtClean="0"/>
              <a:t> = 1</a:t>
            </a:r>
          </a:p>
          <a:p>
            <a:r>
              <a:rPr lang="en-GB" dirty="0" smtClean="0"/>
              <a:t> </a:t>
            </a:r>
          </a:p>
          <a:p>
            <a:r>
              <a:rPr lang="en-GB" dirty="0"/>
              <a:t>S</a:t>
            </a:r>
            <a:r>
              <a:rPr lang="en-GB" dirty="0" smtClean="0"/>
              <a:t>=[1 0 </a:t>
            </a:r>
            <a:r>
              <a:rPr lang="en-GB" dirty="0"/>
              <a:t>2 3 4 5 6 7]</a:t>
            </a:r>
          </a:p>
          <a:p>
            <a:r>
              <a:rPr lang="en-GB" dirty="0"/>
              <a:t>T=[1 2 3 6 1 2 3 6</a:t>
            </a:r>
            <a:r>
              <a:rPr lang="en-GB" dirty="0" smtClean="0"/>
              <a:t>]</a:t>
            </a:r>
          </a:p>
          <a:p>
            <a:r>
              <a:rPr lang="en-GB" dirty="0"/>
              <a:t>for </a:t>
            </a:r>
            <a:r>
              <a:rPr lang="en-GB" dirty="0" err="1" smtClean="0"/>
              <a:t>i</a:t>
            </a:r>
            <a:r>
              <a:rPr lang="en-GB" dirty="0" smtClean="0"/>
              <a:t>=1 </a:t>
            </a:r>
            <a:r>
              <a:rPr lang="en-GB" dirty="0"/>
              <a:t>to 7 do</a:t>
            </a:r>
          </a:p>
          <a:p>
            <a:r>
              <a:rPr lang="en-GB" dirty="0" smtClean="0"/>
              <a:t>    j=( 1 + S[1] + T[1] ) mod 8</a:t>
            </a:r>
          </a:p>
          <a:p>
            <a:r>
              <a:rPr lang="en-GB" b="1" dirty="0">
                <a:solidFill>
                  <a:srgbClr val="0070C0"/>
                </a:solidFill>
              </a:rPr>
              <a:t> </a:t>
            </a:r>
            <a:r>
              <a:rPr lang="en-GB" b="1" dirty="0" smtClean="0">
                <a:solidFill>
                  <a:srgbClr val="0070C0"/>
                </a:solidFill>
              </a:rPr>
              <a:t>   j= (1+0+2) mod 8 =3</a:t>
            </a:r>
          </a:p>
          <a:p>
            <a:r>
              <a:rPr lang="en-GB" dirty="0" smtClean="0"/>
              <a:t>Swap(S[1], S[3] )</a:t>
            </a:r>
          </a:p>
          <a:p>
            <a:r>
              <a:rPr lang="en-GB" dirty="0" smtClean="0"/>
              <a:t>After Swap</a:t>
            </a:r>
          </a:p>
          <a:p>
            <a:r>
              <a:rPr lang="en-GB" dirty="0" smtClean="0"/>
              <a:t>  </a:t>
            </a:r>
            <a:r>
              <a:rPr lang="en-GB" dirty="0"/>
              <a:t>S</a:t>
            </a:r>
            <a:r>
              <a:rPr lang="en-GB" dirty="0" smtClean="0"/>
              <a:t>=[</a:t>
            </a:r>
            <a:r>
              <a:rPr lang="en-GB" dirty="0"/>
              <a:t>1</a:t>
            </a:r>
            <a:r>
              <a:rPr lang="en-GB" b="1" dirty="0" smtClean="0">
                <a:solidFill>
                  <a:srgbClr val="FF0000"/>
                </a:solidFill>
              </a:rPr>
              <a:t> 3 </a:t>
            </a:r>
            <a:r>
              <a:rPr lang="en-GB" dirty="0"/>
              <a:t>2 </a:t>
            </a:r>
            <a:r>
              <a:rPr lang="en-GB" b="1" dirty="0" smtClean="0">
                <a:solidFill>
                  <a:srgbClr val="FF0000"/>
                </a:solidFill>
              </a:rPr>
              <a:t>0</a:t>
            </a:r>
            <a:r>
              <a:rPr lang="en-GB" dirty="0" smtClean="0"/>
              <a:t> </a:t>
            </a:r>
            <a:r>
              <a:rPr lang="en-GB" dirty="0"/>
              <a:t>4 5 6 7]</a:t>
            </a:r>
          </a:p>
          <a:p>
            <a:r>
              <a:rPr lang="en-GB" dirty="0" smtClean="0"/>
              <a:t>  T</a:t>
            </a:r>
            <a:r>
              <a:rPr lang="en-GB" dirty="0"/>
              <a:t>=[1 2 3 6 1 2 3 6]</a:t>
            </a:r>
          </a:p>
          <a:p>
            <a:endParaRPr lang="en-GB" dirty="0"/>
          </a:p>
          <a:p>
            <a:endParaRPr lang="en-GB" dirty="0"/>
          </a:p>
        </p:txBody>
      </p:sp>
      <p:sp>
        <p:nvSpPr>
          <p:cNvPr id="8" name="Rectangle 7"/>
          <p:cNvSpPr/>
          <p:nvPr/>
        </p:nvSpPr>
        <p:spPr>
          <a:xfrm>
            <a:off x="6083696" y="646331"/>
            <a:ext cx="3024336" cy="1200329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dirty="0"/>
              <a:t>j = 0;</a:t>
            </a:r>
            <a:endParaRPr lang="en-GB" dirty="0"/>
          </a:p>
          <a:p>
            <a:r>
              <a:rPr lang="en-US" dirty="0"/>
              <a:t>for  </a:t>
            </a:r>
            <a:r>
              <a:rPr lang="en-US" dirty="0" err="1"/>
              <a:t>i</a:t>
            </a:r>
            <a:r>
              <a:rPr lang="en-US" dirty="0"/>
              <a:t> = 0 to 255 do</a:t>
            </a:r>
            <a:endParaRPr lang="en-GB" dirty="0"/>
          </a:p>
          <a:p>
            <a:r>
              <a:rPr lang="en-US" dirty="0"/>
              <a:t>    j = (j + </a:t>
            </a:r>
            <a:r>
              <a:rPr lang="en-US" b="1" dirty="0"/>
              <a:t>S</a:t>
            </a:r>
            <a:r>
              <a:rPr lang="en-US" dirty="0"/>
              <a:t>[</a:t>
            </a:r>
            <a:r>
              <a:rPr lang="en-US" dirty="0" err="1"/>
              <a:t>i</a:t>
            </a:r>
            <a:r>
              <a:rPr lang="en-US" dirty="0"/>
              <a:t>] + </a:t>
            </a:r>
            <a:r>
              <a:rPr lang="en-US" b="1" dirty="0"/>
              <a:t>T</a:t>
            </a:r>
            <a:r>
              <a:rPr lang="en-US" dirty="0"/>
              <a:t>[</a:t>
            </a:r>
            <a:r>
              <a:rPr lang="en-US" dirty="0" err="1"/>
              <a:t>i</a:t>
            </a:r>
            <a:r>
              <a:rPr lang="en-US" dirty="0"/>
              <a:t>]) mod 256;</a:t>
            </a:r>
            <a:endParaRPr lang="en-GB" dirty="0"/>
          </a:p>
          <a:p>
            <a:r>
              <a:rPr lang="en-US" dirty="0"/>
              <a:t> Swap (</a:t>
            </a:r>
            <a:r>
              <a:rPr lang="en-US" b="1" dirty="0"/>
              <a:t>S</a:t>
            </a:r>
            <a:r>
              <a:rPr lang="en-US" dirty="0"/>
              <a:t>[</a:t>
            </a:r>
            <a:r>
              <a:rPr lang="en-US" dirty="0" err="1"/>
              <a:t>i</a:t>
            </a:r>
            <a:r>
              <a:rPr lang="en-US" dirty="0"/>
              <a:t>], </a:t>
            </a:r>
            <a:r>
              <a:rPr lang="en-US" b="1" dirty="0"/>
              <a:t>S</a:t>
            </a:r>
            <a:r>
              <a:rPr lang="en-US" dirty="0"/>
              <a:t>[j]);</a:t>
            </a:r>
            <a:endParaRPr lang="en-GB" dirty="0"/>
          </a:p>
        </p:txBody>
      </p:sp>
      <p:sp>
        <p:nvSpPr>
          <p:cNvPr id="9" name="Rectangle 8"/>
          <p:cNvSpPr/>
          <p:nvPr/>
        </p:nvSpPr>
        <p:spPr>
          <a:xfrm>
            <a:off x="143272" y="1270400"/>
            <a:ext cx="3024336" cy="563231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GB" dirty="0" smtClean="0"/>
              <a:t>PT=[ 1 2 2 2 ]</a:t>
            </a:r>
          </a:p>
          <a:p>
            <a:r>
              <a:rPr lang="en-GB" dirty="0" smtClean="0"/>
              <a:t>Key=[1 2 3 6]</a:t>
            </a:r>
          </a:p>
          <a:p>
            <a:r>
              <a:rPr lang="en-GB" dirty="0" smtClean="0"/>
              <a:t>Consider S array of length 8</a:t>
            </a:r>
          </a:p>
          <a:p>
            <a:r>
              <a:rPr lang="en-GB" dirty="0" smtClean="0"/>
              <a:t>S=[0 1 2 3 4 5 6 7]</a:t>
            </a:r>
          </a:p>
          <a:p>
            <a:r>
              <a:rPr lang="en-GB" dirty="0" smtClean="0"/>
              <a:t>T=[1 2 3 6 1 2 3 6]</a:t>
            </a:r>
          </a:p>
          <a:p>
            <a:r>
              <a:rPr lang="en-GB" dirty="0" smtClean="0"/>
              <a:t>Apply KSA Algorithm,</a:t>
            </a:r>
          </a:p>
          <a:p>
            <a:r>
              <a:rPr lang="en-GB" b="1" dirty="0" err="1">
                <a:solidFill>
                  <a:srgbClr val="0070C0"/>
                </a:solidFill>
              </a:rPr>
              <a:t>i</a:t>
            </a:r>
            <a:r>
              <a:rPr lang="en-GB" b="1" dirty="0" smtClean="0">
                <a:solidFill>
                  <a:srgbClr val="0070C0"/>
                </a:solidFill>
              </a:rPr>
              <a:t> =0</a:t>
            </a:r>
          </a:p>
          <a:p>
            <a:r>
              <a:rPr lang="en-GB" b="1" dirty="0"/>
              <a:t>j</a:t>
            </a:r>
            <a:r>
              <a:rPr lang="en-GB" b="1" dirty="0" smtClean="0"/>
              <a:t> = 0</a:t>
            </a:r>
          </a:p>
          <a:p>
            <a:r>
              <a:rPr lang="en-GB" dirty="0" smtClean="0"/>
              <a:t> </a:t>
            </a:r>
          </a:p>
          <a:p>
            <a:r>
              <a:rPr lang="en-GB" dirty="0"/>
              <a:t>S=[0 1 2 3 4 5 6 7]</a:t>
            </a:r>
          </a:p>
          <a:p>
            <a:r>
              <a:rPr lang="en-GB" dirty="0"/>
              <a:t>T=[1 2 3 6 1 2 3 6</a:t>
            </a:r>
            <a:r>
              <a:rPr lang="en-GB" dirty="0" smtClean="0"/>
              <a:t>]</a:t>
            </a:r>
          </a:p>
          <a:p>
            <a:r>
              <a:rPr lang="en-GB" dirty="0"/>
              <a:t>for </a:t>
            </a:r>
            <a:r>
              <a:rPr lang="en-GB" dirty="0" err="1"/>
              <a:t>i</a:t>
            </a:r>
            <a:r>
              <a:rPr lang="en-GB" dirty="0"/>
              <a:t>=0 to 7 do</a:t>
            </a:r>
          </a:p>
          <a:p>
            <a:r>
              <a:rPr lang="en-GB" dirty="0" smtClean="0"/>
              <a:t>    j=( 0 + S[</a:t>
            </a:r>
            <a:r>
              <a:rPr lang="en-GB" dirty="0"/>
              <a:t>0</a:t>
            </a:r>
            <a:r>
              <a:rPr lang="en-GB" dirty="0" smtClean="0"/>
              <a:t>] + T[0] ) mod 8</a:t>
            </a:r>
          </a:p>
          <a:p>
            <a:r>
              <a:rPr lang="en-GB" b="1" dirty="0">
                <a:solidFill>
                  <a:srgbClr val="0070C0"/>
                </a:solidFill>
              </a:rPr>
              <a:t> </a:t>
            </a:r>
            <a:r>
              <a:rPr lang="en-GB" b="1" dirty="0" smtClean="0">
                <a:solidFill>
                  <a:srgbClr val="0070C0"/>
                </a:solidFill>
              </a:rPr>
              <a:t>   j= (0+0+1) mod 8 =1</a:t>
            </a:r>
          </a:p>
          <a:p>
            <a:r>
              <a:rPr lang="en-GB" dirty="0" smtClean="0"/>
              <a:t>Swap(S[0], S[1] )</a:t>
            </a:r>
          </a:p>
          <a:p>
            <a:r>
              <a:rPr lang="en-GB" dirty="0" smtClean="0"/>
              <a:t>After Swap</a:t>
            </a:r>
          </a:p>
          <a:p>
            <a:r>
              <a:rPr lang="en-GB" dirty="0" smtClean="0"/>
              <a:t>  </a:t>
            </a:r>
            <a:r>
              <a:rPr lang="en-GB" dirty="0"/>
              <a:t>S</a:t>
            </a:r>
            <a:r>
              <a:rPr lang="en-GB" dirty="0" smtClean="0"/>
              <a:t>=[</a:t>
            </a:r>
            <a:r>
              <a:rPr lang="en-GB" b="1" dirty="0" smtClean="0">
                <a:solidFill>
                  <a:srgbClr val="FF0000"/>
                </a:solidFill>
              </a:rPr>
              <a:t>1 0 </a:t>
            </a:r>
            <a:r>
              <a:rPr lang="en-GB" dirty="0"/>
              <a:t>2 3 4 5 6 7]</a:t>
            </a:r>
          </a:p>
          <a:p>
            <a:r>
              <a:rPr lang="en-GB" dirty="0" smtClean="0"/>
              <a:t>  T</a:t>
            </a:r>
            <a:r>
              <a:rPr lang="en-GB" dirty="0"/>
              <a:t>=[1 2 3 6 1 2 3 6]</a:t>
            </a:r>
          </a:p>
          <a:p>
            <a:endParaRPr lang="en-GB" dirty="0"/>
          </a:p>
          <a:p>
            <a:endParaRPr lang="en-GB" dirty="0"/>
          </a:p>
        </p:txBody>
      </p:sp>
      <p:cxnSp>
        <p:nvCxnSpPr>
          <p:cNvPr id="11" name="Straight Arrow Connector 10"/>
          <p:cNvCxnSpPr/>
          <p:nvPr/>
        </p:nvCxnSpPr>
        <p:spPr>
          <a:xfrm flipV="1">
            <a:off x="2483768" y="2348881"/>
            <a:ext cx="720080" cy="2592287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2" name="Rectangle 11"/>
          <p:cNvSpPr/>
          <p:nvPr/>
        </p:nvSpPr>
        <p:spPr>
          <a:xfrm>
            <a:off x="5972378" y="1902629"/>
            <a:ext cx="2736304" cy="3970318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GB" b="1" dirty="0" err="1" smtClean="0">
                <a:solidFill>
                  <a:srgbClr val="0070C0"/>
                </a:solidFill>
              </a:rPr>
              <a:t>i</a:t>
            </a:r>
            <a:r>
              <a:rPr lang="en-GB" b="1" dirty="0" smtClean="0">
                <a:solidFill>
                  <a:srgbClr val="0070C0"/>
                </a:solidFill>
              </a:rPr>
              <a:t> =2</a:t>
            </a:r>
          </a:p>
          <a:p>
            <a:r>
              <a:rPr lang="en-GB" dirty="0"/>
              <a:t>j</a:t>
            </a:r>
            <a:r>
              <a:rPr lang="en-GB" dirty="0" smtClean="0"/>
              <a:t> = 3</a:t>
            </a:r>
          </a:p>
          <a:p>
            <a:r>
              <a:rPr lang="en-GB" dirty="0" smtClean="0"/>
              <a:t> </a:t>
            </a:r>
          </a:p>
          <a:p>
            <a:r>
              <a:rPr lang="en-GB" dirty="0"/>
              <a:t>S=[1</a:t>
            </a:r>
            <a:r>
              <a:rPr lang="en-GB" b="1" dirty="0">
                <a:solidFill>
                  <a:srgbClr val="FF0000"/>
                </a:solidFill>
              </a:rPr>
              <a:t> </a:t>
            </a:r>
            <a:r>
              <a:rPr lang="en-GB" dirty="0"/>
              <a:t>3 2 0 4 5 6 7]</a:t>
            </a:r>
          </a:p>
          <a:p>
            <a:r>
              <a:rPr lang="en-GB" dirty="0" smtClean="0"/>
              <a:t>T</a:t>
            </a:r>
            <a:r>
              <a:rPr lang="en-GB" dirty="0"/>
              <a:t>=[1 2 3 6 1 2 3 6</a:t>
            </a:r>
            <a:r>
              <a:rPr lang="en-GB" dirty="0" smtClean="0"/>
              <a:t>]</a:t>
            </a:r>
          </a:p>
          <a:p>
            <a:r>
              <a:rPr lang="en-GB" dirty="0"/>
              <a:t>for </a:t>
            </a:r>
            <a:r>
              <a:rPr lang="en-GB" dirty="0" err="1" smtClean="0"/>
              <a:t>i</a:t>
            </a:r>
            <a:r>
              <a:rPr lang="en-GB" dirty="0" smtClean="0"/>
              <a:t>=2 </a:t>
            </a:r>
            <a:r>
              <a:rPr lang="en-GB" dirty="0"/>
              <a:t>to 7 do</a:t>
            </a:r>
          </a:p>
          <a:p>
            <a:r>
              <a:rPr lang="en-GB" dirty="0" smtClean="0"/>
              <a:t>    j=( 3 + S[2] + T[2] ) mod 8</a:t>
            </a:r>
          </a:p>
          <a:p>
            <a:r>
              <a:rPr lang="en-GB" b="1" dirty="0">
                <a:solidFill>
                  <a:srgbClr val="0070C0"/>
                </a:solidFill>
              </a:rPr>
              <a:t> </a:t>
            </a:r>
            <a:r>
              <a:rPr lang="en-GB" b="1" dirty="0" smtClean="0">
                <a:solidFill>
                  <a:srgbClr val="0070C0"/>
                </a:solidFill>
              </a:rPr>
              <a:t>   j= (3+2+3) mod 8 =0</a:t>
            </a:r>
          </a:p>
          <a:p>
            <a:r>
              <a:rPr lang="en-GB" dirty="0" smtClean="0"/>
              <a:t>Swap(S[2], S[0] )</a:t>
            </a:r>
          </a:p>
          <a:p>
            <a:r>
              <a:rPr lang="en-GB" dirty="0" smtClean="0"/>
              <a:t>After Swap</a:t>
            </a:r>
          </a:p>
          <a:p>
            <a:r>
              <a:rPr lang="en-GB" dirty="0" smtClean="0"/>
              <a:t>  </a:t>
            </a:r>
            <a:r>
              <a:rPr lang="en-GB" dirty="0"/>
              <a:t>S</a:t>
            </a:r>
            <a:r>
              <a:rPr lang="en-GB" dirty="0" smtClean="0"/>
              <a:t>=[</a:t>
            </a:r>
            <a:r>
              <a:rPr lang="en-GB" b="1" dirty="0" smtClean="0">
                <a:solidFill>
                  <a:srgbClr val="FF0000"/>
                </a:solidFill>
              </a:rPr>
              <a:t>2 </a:t>
            </a:r>
            <a:r>
              <a:rPr lang="en-GB" dirty="0" smtClean="0"/>
              <a:t>3 </a:t>
            </a:r>
            <a:r>
              <a:rPr lang="en-GB" b="1" dirty="0" smtClean="0">
                <a:solidFill>
                  <a:srgbClr val="FF0000"/>
                </a:solidFill>
              </a:rPr>
              <a:t>1</a:t>
            </a:r>
            <a:r>
              <a:rPr lang="en-GB" dirty="0" smtClean="0"/>
              <a:t> 0 </a:t>
            </a:r>
            <a:r>
              <a:rPr lang="en-GB" dirty="0"/>
              <a:t>4 5 6 7]</a:t>
            </a:r>
          </a:p>
          <a:p>
            <a:r>
              <a:rPr lang="en-GB" dirty="0" smtClean="0"/>
              <a:t>  T</a:t>
            </a:r>
            <a:r>
              <a:rPr lang="en-GB" dirty="0"/>
              <a:t>=[1 2 3 6 1 2 3 6]</a:t>
            </a:r>
          </a:p>
          <a:p>
            <a:endParaRPr lang="en-GB" dirty="0"/>
          </a:p>
          <a:p>
            <a:endParaRPr lang="en-GB" dirty="0"/>
          </a:p>
        </p:txBody>
      </p:sp>
      <p:cxnSp>
        <p:nvCxnSpPr>
          <p:cNvPr id="14" name="Straight Arrow Connector 13"/>
          <p:cNvCxnSpPr/>
          <p:nvPr/>
        </p:nvCxnSpPr>
        <p:spPr>
          <a:xfrm flipV="1">
            <a:off x="5425155" y="2420888"/>
            <a:ext cx="547223" cy="1656185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86074482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500" fill="hold"/>
                                        <p:tgtEl>
                                          <p:spTgt spid="9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500" fill="hold"/>
                                        <p:tgtEl>
                                          <p:spTgt spid="9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5" dur="500" fill="hold"/>
                                        <p:tgtEl>
                                          <p:spTgt spid="9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6" dur="500" fill="hold"/>
                                        <p:tgtEl>
                                          <p:spTgt spid="9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7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500" fill="hold"/>
                                        <p:tgtEl>
                                          <p:spTgt spid="9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500" fill="hold"/>
                                        <p:tgtEl>
                                          <p:spTgt spid="9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1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3" dur="500" fill="hold"/>
                                        <p:tgtEl>
                                          <p:spTgt spid="9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4" dur="500" fill="hold"/>
                                        <p:tgtEl>
                                          <p:spTgt spid="9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5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7" dur="500" fill="hold"/>
                                        <p:tgtEl>
                                          <p:spTgt spid="9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8" dur="500" fill="hold"/>
                                        <p:tgtEl>
                                          <p:spTgt spid="9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9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1" dur="500" fill="hold"/>
                                        <p:tgtEl>
                                          <p:spTgt spid="9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2" dur="500" fill="hold"/>
                                        <p:tgtEl>
                                          <p:spTgt spid="9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3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5" dur="500" fill="hold"/>
                                        <p:tgtEl>
                                          <p:spTgt spid="9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6" dur="500" fill="hold"/>
                                        <p:tgtEl>
                                          <p:spTgt spid="9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7" fill="hold">
                      <p:stCondLst>
                        <p:cond delay="indefinite"/>
                      </p:stCondLst>
                      <p:childTnLst>
                        <p:par>
                          <p:cTn id="38" fill="hold">
                            <p:stCondLst>
                              <p:cond delay="0"/>
                            </p:stCondLst>
                            <p:childTnLst>
                              <p:par>
                                <p:cTn id="39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1" dur="500" fill="hold"/>
                                        <p:tgtEl>
                                          <p:spTgt spid="9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2" dur="500" fill="hold"/>
                                        <p:tgtEl>
                                          <p:spTgt spid="9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3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5" dur="500" fill="hold"/>
                                        <p:tgtEl>
                                          <p:spTgt spid="9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6" dur="500" fill="hold"/>
                                        <p:tgtEl>
                                          <p:spTgt spid="9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7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9" dur="500" fill="hold"/>
                                        <p:tgtEl>
                                          <p:spTgt spid="9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50" dur="500" fill="hold"/>
                                        <p:tgtEl>
                                          <p:spTgt spid="9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51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>
                                            <p:txEl>
                                              <p:pRg st="12" end="1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3" dur="500" fill="hold"/>
                                        <p:tgtEl>
                                          <p:spTgt spid="9">
                                            <p:txEl>
                                              <p:pRg st="12" end="12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54" dur="500" fill="hold"/>
                                        <p:tgtEl>
                                          <p:spTgt spid="9">
                                            <p:txEl>
                                              <p:pRg st="12" end="1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55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>
                                            <p:txEl>
                                              <p:pRg st="13" end="1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7" dur="500" fill="hold"/>
                                        <p:tgtEl>
                                          <p:spTgt spid="9">
                                            <p:txEl>
                                              <p:pRg st="13" end="13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58" dur="500" fill="hold"/>
                                        <p:tgtEl>
                                          <p:spTgt spid="9">
                                            <p:txEl>
                                              <p:pRg st="13" end="13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59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>
                                            <p:txEl>
                                              <p:pRg st="14" end="1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61" dur="500" fill="hold"/>
                                        <p:tgtEl>
                                          <p:spTgt spid="9">
                                            <p:txEl>
                                              <p:pRg st="14" end="14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62" dur="500" fill="hold"/>
                                        <p:tgtEl>
                                          <p:spTgt spid="9">
                                            <p:txEl>
                                              <p:pRg st="14" end="14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63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>
                                            <p:txEl>
                                              <p:pRg st="15" end="1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65" dur="500" fill="hold"/>
                                        <p:tgtEl>
                                          <p:spTgt spid="9">
                                            <p:txEl>
                                              <p:pRg st="15" end="15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66" dur="500" fill="hold"/>
                                        <p:tgtEl>
                                          <p:spTgt spid="9">
                                            <p:txEl>
                                              <p:pRg st="15" end="15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67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>
                                            <p:txEl>
                                              <p:pRg st="16" end="1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69" dur="500" fill="hold"/>
                                        <p:tgtEl>
                                          <p:spTgt spid="9">
                                            <p:txEl>
                                              <p:pRg st="16" end="16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70" dur="500" fill="hold"/>
                                        <p:tgtEl>
                                          <p:spTgt spid="9">
                                            <p:txEl>
                                              <p:pRg st="16" end="16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71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>
                                            <p:txEl>
                                              <p:pRg st="17" end="1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3" dur="500" fill="hold"/>
                                        <p:tgtEl>
                                          <p:spTgt spid="9">
                                            <p:txEl>
                                              <p:pRg st="17" end="17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74" dur="500" fill="hold"/>
                                        <p:tgtEl>
                                          <p:spTgt spid="9">
                                            <p:txEl>
                                              <p:pRg st="17" end="17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5" fill="hold">
                      <p:stCondLst>
                        <p:cond delay="indefinite"/>
                      </p:stCondLst>
                      <p:childTnLst>
                        <p:par>
                          <p:cTn id="76" fill="hold">
                            <p:stCondLst>
                              <p:cond delay="0"/>
                            </p:stCondLst>
                            <p:childTnLst>
                              <p:par>
                                <p:cTn id="77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9" dur="5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0" dur="5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1" fill="hold">
                      <p:stCondLst>
                        <p:cond delay="indefinite"/>
                      </p:stCondLst>
                      <p:childTnLst>
                        <p:par>
                          <p:cTn id="82" fill="hold">
                            <p:stCondLst>
                              <p:cond delay="0"/>
                            </p:stCondLst>
                            <p:childTnLst>
                              <p:par>
                                <p:cTn id="83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85" dur="500" fill="hold"/>
                                        <p:tgtEl>
                                          <p:spTgt spid="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6" dur="500" fill="hold"/>
                                        <p:tgtEl>
                                          <p:spTgt spid="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87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89" dur="500" fill="hold"/>
                                        <p:tgtEl>
                                          <p:spTgt spid="7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90" dur="500" fill="hold"/>
                                        <p:tgtEl>
                                          <p:spTgt spid="7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1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93" dur="500" fill="hold"/>
                                        <p:tgtEl>
                                          <p:spTgt spid="7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94" dur="500" fill="hold"/>
                                        <p:tgtEl>
                                          <p:spTgt spid="7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5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97" dur="500" fill="hold"/>
                                        <p:tgtEl>
                                          <p:spTgt spid="7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98" dur="500" fill="hold"/>
                                        <p:tgtEl>
                                          <p:spTgt spid="7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9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01" dur="500" fill="hold"/>
                                        <p:tgtEl>
                                          <p:spTgt spid="7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02" dur="500" fill="hold"/>
                                        <p:tgtEl>
                                          <p:spTgt spid="7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03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05" dur="500" fill="hold"/>
                                        <p:tgtEl>
                                          <p:spTgt spid="7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06" dur="500" fill="hold"/>
                                        <p:tgtEl>
                                          <p:spTgt spid="7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07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09" dur="500" fill="hold"/>
                                        <p:tgtEl>
                                          <p:spTgt spid="7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10" dur="500" fill="hold"/>
                                        <p:tgtEl>
                                          <p:spTgt spid="7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11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3" dur="500" fill="hold"/>
                                        <p:tgtEl>
                                          <p:spTgt spid="7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14" dur="500" fill="hold"/>
                                        <p:tgtEl>
                                          <p:spTgt spid="7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15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7" dur="500" fill="hold"/>
                                        <p:tgtEl>
                                          <p:spTgt spid="7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18" dur="500" fill="hold"/>
                                        <p:tgtEl>
                                          <p:spTgt spid="7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19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21" dur="500" fill="hold"/>
                                        <p:tgtEl>
                                          <p:spTgt spid="7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2" dur="500" fill="hold"/>
                                        <p:tgtEl>
                                          <p:spTgt spid="7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23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25" dur="500" fill="hold"/>
                                        <p:tgtEl>
                                          <p:spTgt spid="7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6" dur="500" fill="hold"/>
                                        <p:tgtEl>
                                          <p:spTgt spid="7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27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29" dur="500" fill="hold"/>
                                        <p:tgtEl>
                                          <p:spTgt spid="7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30" dur="500" fill="hold"/>
                                        <p:tgtEl>
                                          <p:spTgt spid="7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1" fill="hold">
                      <p:stCondLst>
                        <p:cond delay="indefinite"/>
                      </p:stCondLst>
                      <p:childTnLst>
                        <p:par>
                          <p:cTn id="132" fill="hold">
                            <p:stCondLst>
                              <p:cond delay="0"/>
                            </p:stCondLst>
                            <p:childTnLst>
                              <p:par>
                                <p:cTn id="133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5" dur="500" fill="hold"/>
                                        <p:tgtEl>
                                          <p:spTgt spid="1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36" dur="500" fill="hold"/>
                                        <p:tgtEl>
                                          <p:spTgt spid="1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7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9" dur="500" fill="hold"/>
                                        <p:tgtEl>
                                          <p:spTgt spid="1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0" dur="500" fill="hold"/>
                                        <p:tgtEl>
                                          <p:spTgt spid="1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41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43" dur="500" fill="hold"/>
                                        <p:tgtEl>
                                          <p:spTgt spid="12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4" dur="500" fill="hold"/>
                                        <p:tgtEl>
                                          <p:spTgt spid="12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45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47" dur="500" fill="hold"/>
                                        <p:tgtEl>
                                          <p:spTgt spid="12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8" dur="500" fill="hold"/>
                                        <p:tgtEl>
                                          <p:spTgt spid="12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49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51" dur="500" fill="hold"/>
                                        <p:tgtEl>
                                          <p:spTgt spid="12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52" dur="500" fill="hold"/>
                                        <p:tgtEl>
                                          <p:spTgt spid="12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53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55" dur="500" fill="hold"/>
                                        <p:tgtEl>
                                          <p:spTgt spid="12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56" dur="500" fill="hold"/>
                                        <p:tgtEl>
                                          <p:spTgt spid="12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57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59" dur="500" fill="hold"/>
                                        <p:tgtEl>
                                          <p:spTgt spid="12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60" dur="500" fill="hold"/>
                                        <p:tgtEl>
                                          <p:spTgt spid="12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61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63" dur="500" fill="hold"/>
                                        <p:tgtEl>
                                          <p:spTgt spid="12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64" dur="500" fill="hold"/>
                                        <p:tgtEl>
                                          <p:spTgt spid="12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65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67" dur="500" fill="hold"/>
                                        <p:tgtEl>
                                          <p:spTgt spid="12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68" dur="500" fill="hold"/>
                                        <p:tgtEl>
                                          <p:spTgt spid="12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69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71" dur="500" fill="hold"/>
                                        <p:tgtEl>
                                          <p:spTgt spid="12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72" dur="500" fill="hold"/>
                                        <p:tgtEl>
                                          <p:spTgt spid="12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73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75" dur="500" fill="hold"/>
                                        <p:tgtEl>
                                          <p:spTgt spid="12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76" dur="500" fill="hold"/>
                                        <p:tgtEl>
                                          <p:spTgt spid="12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77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79" dur="500" fill="hold"/>
                                        <p:tgtEl>
                                          <p:spTgt spid="12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80" dur="500" fill="hold"/>
                                        <p:tgtEl>
                                          <p:spTgt spid="12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1" fill="hold">
                      <p:stCondLst>
                        <p:cond delay="indefinite"/>
                      </p:stCondLst>
                      <p:childTnLst>
                        <p:par>
                          <p:cTn id="182" fill="hold">
                            <p:stCondLst>
                              <p:cond delay="0"/>
                            </p:stCondLst>
                            <p:childTnLst>
                              <p:par>
                                <p:cTn id="183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85" dur="5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86" dur="5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/>
          <p:cNvSpPr txBox="1"/>
          <p:nvPr/>
        </p:nvSpPr>
        <p:spPr>
          <a:xfrm>
            <a:off x="0" y="0"/>
            <a:ext cx="9144000" cy="369332"/>
          </a:xfrm>
          <a:prstGeom prst="rect">
            <a:avLst/>
          </a:prstGeom>
          <a:solidFill>
            <a:schemeClr val="accent1"/>
          </a:solidFill>
        </p:spPr>
        <p:txBody>
          <a:bodyPr wrap="square" rtlCol="0">
            <a:spAutoFit/>
          </a:bodyPr>
          <a:lstStyle/>
          <a:p>
            <a:endParaRPr lang="en-GB" b="1" dirty="0">
              <a:solidFill>
                <a:schemeClr val="bg1"/>
              </a:solidFill>
            </a:endParaRPr>
          </a:p>
        </p:txBody>
      </p:sp>
      <p:sp>
        <p:nvSpPr>
          <p:cNvPr id="5" name="TextBox 4"/>
          <p:cNvSpPr txBox="1"/>
          <p:nvPr/>
        </p:nvSpPr>
        <p:spPr>
          <a:xfrm>
            <a:off x="251520" y="1077699"/>
            <a:ext cx="8712968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endParaRPr lang="en-GB" dirty="0"/>
          </a:p>
        </p:txBody>
      </p:sp>
      <p:sp>
        <p:nvSpPr>
          <p:cNvPr id="2" name="Slide Number Placeholder 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5F608CE-C03C-4089-8C30-2B4572834CCA}" type="slidenum">
              <a:rPr lang="en-GB" smtClean="0"/>
              <a:t>8</a:t>
            </a:fld>
            <a:endParaRPr lang="en-GB"/>
          </a:p>
        </p:txBody>
      </p:sp>
      <p:sp>
        <p:nvSpPr>
          <p:cNvPr id="3" name="TextBox 2"/>
          <p:cNvSpPr txBox="1"/>
          <p:nvPr/>
        </p:nvSpPr>
        <p:spPr>
          <a:xfrm>
            <a:off x="117848" y="764704"/>
            <a:ext cx="8568952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1600" b="1" dirty="0" smtClean="0"/>
              <a:t>Example:</a:t>
            </a:r>
            <a:endParaRPr lang="en-GB" sz="1600" dirty="0"/>
          </a:p>
        </p:txBody>
      </p:sp>
      <p:sp>
        <p:nvSpPr>
          <p:cNvPr id="6" name="TextBox 5"/>
          <p:cNvSpPr txBox="1"/>
          <p:nvPr/>
        </p:nvSpPr>
        <p:spPr>
          <a:xfrm>
            <a:off x="0" y="0"/>
            <a:ext cx="9144000" cy="646331"/>
          </a:xfrm>
          <a:prstGeom prst="rect">
            <a:avLst/>
          </a:prstGeom>
          <a:solidFill>
            <a:schemeClr val="accent1"/>
          </a:solidFill>
        </p:spPr>
        <p:txBody>
          <a:bodyPr wrap="square" rtlCol="0">
            <a:spAutoFit/>
          </a:bodyPr>
          <a:lstStyle/>
          <a:p>
            <a:pPr algn="ctr"/>
            <a:r>
              <a:rPr lang="en-US" b="1" dirty="0">
                <a:solidFill>
                  <a:srgbClr val="FFFF00"/>
                </a:solidFill>
              </a:rPr>
              <a:t>Symmetric Cryptography</a:t>
            </a:r>
          </a:p>
          <a:p>
            <a:pPr algn="ctr"/>
            <a:r>
              <a:rPr lang="en-US" b="1" dirty="0">
                <a:solidFill>
                  <a:srgbClr val="FFFF00"/>
                </a:solidFill>
              </a:rPr>
              <a:t>RC4</a:t>
            </a:r>
            <a:r>
              <a:rPr lang="en-US" b="1" dirty="0">
                <a:solidFill>
                  <a:schemeClr val="bg1"/>
                </a:solidFill>
              </a:rPr>
              <a:t> </a:t>
            </a:r>
            <a:r>
              <a:rPr lang="en-US" b="1" dirty="0">
                <a:solidFill>
                  <a:srgbClr val="FFFF00"/>
                </a:solidFill>
              </a:rPr>
              <a:t>Stream Cipher </a:t>
            </a:r>
            <a:endParaRPr lang="en-GB" b="1" dirty="0">
              <a:solidFill>
                <a:schemeClr val="bg1"/>
              </a:solidFill>
            </a:endParaRPr>
          </a:p>
        </p:txBody>
      </p:sp>
      <p:sp>
        <p:nvSpPr>
          <p:cNvPr id="7" name="Rectangle 6"/>
          <p:cNvSpPr/>
          <p:nvPr/>
        </p:nvSpPr>
        <p:spPr>
          <a:xfrm>
            <a:off x="3203848" y="1878399"/>
            <a:ext cx="2736304" cy="3970318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GB" b="1" dirty="0" err="1" smtClean="0">
                <a:solidFill>
                  <a:srgbClr val="0070C0"/>
                </a:solidFill>
              </a:rPr>
              <a:t>i</a:t>
            </a:r>
            <a:r>
              <a:rPr lang="en-GB" b="1" dirty="0" smtClean="0">
                <a:solidFill>
                  <a:srgbClr val="0070C0"/>
                </a:solidFill>
              </a:rPr>
              <a:t> =4</a:t>
            </a:r>
          </a:p>
          <a:p>
            <a:r>
              <a:rPr lang="en-GB" dirty="0"/>
              <a:t>j</a:t>
            </a:r>
            <a:r>
              <a:rPr lang="en-GB" dirty="0" smtClean="0"/>
              <a:t> = 6</a:t>
            </a:r>
          </a:p>
          <a:p>
            <a:r>
              <a:rPr lang="en-GB" dirty="0" smtClean="0"/>
              <a:t> </a:t>
            </a:r>
          </a:p>
          <a:p>
            <a:r>
              <a:rPr lang="en-GB" dirty="0"/>
              <a:t>S</a:t>
            </a:r>
            <a:r>
              <a:rPr lang="en-GB" dirty="0" smtClean="0"/>
              <a:t>=[</a:t>
            </a:r>
            <a:r>
              <a:rPr lang="en-GB" dirty="0"/>
              <a:t>2 3 1 6 4 5</a:t>
            </a:r>
            <a:r>
              <a:rPr lang="en-GB" dirty="0">
                <a:solidFill>
                  <a:srgbClr val="FF0000"/>
                </a:solidFill>
              </a:rPr>
              <a:t> </a:t>
            </a:r>
            <a:r>
              <a:rPr lang="en-GB" dirty="0"/>
              <a:t>0 7</a:t>
            </a:r>
            <a:r>
              <a:rPr lang="en-GB" dirty="0" smtClean="0"/>
              <a:t>]</a:t>
            </a:r>
            <a:endParaRPr lang="en-GB" dirty="0"/>
          </a:p>
          <a:p>
            <a:r>
              <a:rPr lang="en-GB" dirty="0"/>
              <a:t>T=[1 2 3 6 1 2 3 6</a:t>
            </a:r>
            <a:r>
              <a:rPr lang="en-GB" dirty="0" smtClean="0"/>
              <a:t>]</a:t>
            </a:r>
          </a:p>
          <a:p>
            <a:r>
              <a:rPr lang="en-GB" dirty="0"/>
              <a:t>for </a:t>
            </a:r>
            <a:r>
              <a:rPr lang="en-GB" dirty="0" err="1" smtClean="0"/>
              <a:t>i</a:t>
            </a:r>
            <a:r>
              <a:rPr lang="en-GB" dirty="0" smtClean="0"/>
              <a:t>=4 </a:t>
            </a:r>
            <a:r>
              <a:rPr lang="en-GB" dirty="0"/>
              <a:t>to 7 do</a:t>
            </a:r>
          </a:p>
          <a:p>
            <a:r>
              <a:rPr lang="en-GB" dirty="0" smtClean="0"/>
              <a:t>    j=( 6 + S[4] + T[4] ) mod 8</a:t>
            </a:r>
          </a:p>
          <a:p>
            <a:r>
              <a:rPr lang="en-GB" b="1" dirty="0">
                <a:solidFill>
                  <a:srgbClr val="0070C0"/>
                </a:solidFill>
              </a:rPr>
              <a:t> </a:t>
            </a:r>
            <a:r>
              <a:rPr lang="en-GB" b="1" dirty="0" smtClean="0">
                <a:solidFill>
                  <a:srgbClr val="0070C0"/>
                </a:solidFill>
              </a:rPr>
              <a:t>   j= (6+4+1) mod 8 =3</a:t>
            </a:r>
          </a:p>
          <a:p>
            <a:r>
              <a:rPr lang="en-GB" dirty="0" smtClean="0"/>
              <a:t>Swap(S[4], S[3] )</a:t>
            </a:r>
          </a:p>
          <a:p>
            <a:r>
              <a:rPr lang="en-GB" dirty="0" smtClean="0"/>
              <a:t>After Swap</a:t>
            </a:r>
          </a:p>
          <a:p>
            <a:r>
              <a:rPr lang="en-GB" dirty="0" smtClean="0"/>
              <a:t>  </a:t>
            </a:r>
            <a:r>
              <a:rPr lang="en-GB" dirty="0"/>
              <a:t>S</a:t>
            </a:r>
            <a:r>
              <a:rPr lang="en-GB" dirty="0" smtClean="0"/>
              <a:t>=[</a:t>
            </a:r>
            <a:r>
              <a:rPr lang="en-GB" dirty="0"/>
              <a:t>2 3 </a:t>
            </a:r>
            <a:r>
              <a:rPr lang="en-GB" dirty="0" smtClean="0"/>
              <a:t>1 </a:t>
            </a:r>
            <a:r>
              <a:rPr lang="en-GB" b="1" dirty="0" smtClean="0">
                <a:solidFill>
                  <a:srgbClr val="FF0000"/>
                </a:solidFill>
              </a:rPr>
              <a:t>4</a:t>
            </a:r>
            <a:r>
              <a:rPr lang="en-GB" dirty="0" smtClean="0"/>
              <a:t> </a:t>
            </a:r>
            <a:r>
              <a:rPr lang="en-GB" b="1" dirty="0">
                <a:solidFill>
                  <a:srgbClr val="FF0000"/>
                </a:solidFill>
              </a:rPr>
              <a:t>6</a:t>
            </a:r>
            <a:r>
              <a:rPr lang="en-GB" dirty="0" smtClean="0"/>
              <a:t> </a:t>
            </a:r>
            <a:r>
              <a:rPr lang="en-GB" dirty="0"/>
              <a:t>5 0 7</a:t>
            </a:r>
            <a:r>
              <a:rPr lang="en-GB" dirty="0" smtClean="0"/>
              <a:t>]</a:t>
            </a:r>
            <a:endParaRPr lang="en-GB" dirty="0"/>
          </a:p>
          <a:p>
            <a:r>
              <a:rPr lang="en-GB" dirty="0" smtClean="0"/>
              <a:t>  T</a:t>
            </a:r>
            <a:r>
              <a:rPr lang="en-GB" dirty="0"/>
              <a:t>=[1 2 3 6 1 2 3 6]</a:t>
            </a:r>
          </a:p>
          <a:p>
            <a:endParaRPr lang="en-GB" dirty="0"/>
          </a:p>
          <a:p>
            <a:endParaRPr lang="en-GB" dirty="0"/>
          </a:p>
        </p:txBody>
      </p:sp>
      <p:sp>
        <p:nvSpPr>
          <p:cNvPr id="8" name="Rectangle 7"/>
          <p:cNvSpPr/>
          <p:nvPr/>
        </p:nvSpPr>
        <p:spPr>
          <a:xfrm>
            <a:off x="6083696" y="646331"/>
            <a:ext cx="3024336" cy="1200329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dirty="0"/>
              <a:t>j = 0;</a:t>
            </a:r>
            <a:endParaRPr lang="en-GB" dirty="0"/>
          </a:p>
          <a:p>
            <a:r>
              <a:rPr lang="en-US" dirty="0"/>
              <a:t>for  </a:t>
            </a:r>
            <a:r>
              <a:rPr lang="en-US" dirty="0" err="1"/>
              <a:t>i</a:t>
            </a:r>
            <a:r>
              <a:rPr lang="en-US" dirty="0"/>
              <a:t> = 0 to 255 do</a:t>
            </a:r>
            <a:endParaRPr lang="en-GB" dirty="0"/>
          </a:p>
          <a:p>
            <a:r>
              <a:rPr lang="en-US" dirty="0"/>
              <a:t>    j = (j + </a:t>
            </a:r>
            <a:r>
              <a:rPr lang="en-US" b="1" dirty="0"/>
              <a:t>S</a:t>
            </a:r>
            <a:r>
              <a:rPr lang="en-US" dirty="0"/>
              <a:t>[</a:t>
            </a:r>
            <a:r>
              <a:rPr lang="en-US" dirty="0" err="1"/>
              <a:t>i</a:t>
            </a:r>
            <a:r>
              <a:rPr lang="en-US" dirty="0"/>
              <a:t>] + </a:t>
            </a:r>
            <a:r>
              <a:rPr lang="en-US" b="1" dirty="0"/>
              <a:t>T</a:t>
            </a:r>
            <a:r>
              <a:rPr lang="en-US" dirty="0"/>
              <a:t>[</a:t>
            </a:r>
            <a:r>
              <a:rPr lang="en-US" dirty="0" err="1"/>
              <a:t>i</a:t>
            </a:r>
            <a:r>
              <a:rPr lang="en-US" dirty="0"/>
              <a:t>]) mod 256;</a:t>
            </a:r>
            <a:endParaRPr lang="en-GB" dirty="0"/>
          </a:p>
          <a:p>
            <a:r>
              <a:rPr lang="en-US" dirty="0"/>
              <a:t> Swap (</a:t>
            </a:r>
            <a:r>
              <a:rPr lang="en-US" b="1" dirty="0"/>
              <a:t>S</a:t>
            </a:r>
            <a:r>
              <a:rPr lang="en-US" dirty="0"/>
              <a:t>[</a:t>
            </a:r>
            <a:r>
              <a:rPr lang="en-US" dirty="0" err="1"/>
              <a:t>i</a:t>
            </a:r>
            <a:r>
              <a:rPr lang="en-US" dirty="0"/>
              <a:t>], </a:t>
            </a:r>
            <a:r>
              <a:rPr lang="en-US" b="1" dirty="0"/>
              <a:t>S</a:t>
            </a:r>
            <a:r>
              <a:rPr lang="en-US" dirty="0"/>
              <a:t>[j]);</a:t>
            </a:r>
            <a:endParaRPr lang="en-GB" dirty="0"/>
          </a:p>
        </p:txBody>
      </p:sp>
      <p:sp>
        <p:nvSpPr>
          <p:cNvPr id="9" name="Rectangle 8"/>
          <p:cNvSpPr/>
          <p:nvPr/>
        </p:nvSpPr>
        <p:spPr>
          <a:xfrm>
            <a:off x="403921" y="1900563"/>
            <a:ext cx="3024336" cy="3970318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GB" b="1" dirty="0" err="1" smtClean="0">
                <a:solidFill>
                  <a:srgbClr val="0070C0"/>
                </a:solidFill>
              </a:rPr>
              <a:t>i</a:t>
            </a:r>
            <a:r>
              <a:rPr lang="en-GB" b="1" dirty="0" smtClean="0">
                <a:solidFill>
                  <a:srgbClr val="0070C0"/>
                </a:solidFill>
              </a:rPr>
              <a:t> =3</a:t>
            </a:r>
          </a:p>
          <a:p>
            <a:r>
              <a:rPr lang="en-GB" dirty="0"/>
              <a:t>j</a:t>
            </a:r>
            <a:r>
              <a:rPr lang="en-GB" dirty="0" smtClean="0"/>
              <a:t> = 0</a:t>
            </a:r>
          </a:p>
          <a:p>
            <a:r>
              <a:rPr lang="en-GB" dirty="0" smtClean="0"/>
              <a:t> </a:t>
            </a:r>
          </a:p>
          <a:p>
            <a:r>
              <a:rPr lang="en-GB" dirty="0"/>
              <a:t>S</a:t>
            </a:r>
            <a:r>
              <a:rPr lang="en-GB" dirty="0" smtClean="0"/>
              <a:t>=[</a:t>
            </a:r>
            <a:r>
              <a:rPr lang="en-GB" dirty="0"/>
              <a:t>2 3 1 0 4 5 6 7</a:t>
            </a:r>
            <a:r>
              <a:rPr lang="en-GB" dirty="0" smtClean="0"/>
              <a:t>]</a:t>
            </a:r>
            <a:endParaRPr lang="en-GB" dirty="0"/>
          </a:p>
          <a:p>
            <a:r>
              <a:rPr lang="en-GB" dirty="0"/>
              <a:t>T=[1 2 3 6 1 2 3 6</a:t>
            </a:r>
            <a:r>
              <a:rPr lang="en-GB" dirty="0" smtClean="0"/>
              <a:t>]</a:t>
            </a:r>
          </a:p>
          <a:p>
            <a:r>
              <a:rPr lang="en-GB" dirty="0"/>
              <a:t>for </a:t>
            </a:r>
            <a:r>
              <a:rPr lang="en-GB" dirty="0" err="1" smtClean="0"/>
              <a:t>i</a:t>
            </a:r>
            <a:r>
              <a:rPr lang="en-GB" dirty="0" smtClean="0"/>
              <a:t>=3 </a:t>
            </a:r>
            <a:r>
              <a:rPr lang="en-GB" dirty="0"/>
              <a:t>to 7 do</a:t>
            </a:r>
          </a:p>
          <a:p>
            <a:r>
              <a:rPr lang="en-GB" dirty="0" smtClean="0"/>
              <a:t>    j=( 0 + S[3] + T[3] ) mod 8</a:t>
            </a:r>
          </a:p>
          <a:p>
            <a:r>
              <a:rPr lang="en-GB" b="1" dirty="0">
                <a:solidFill>
                  <a:srgbClr val="0070C0"/>
                </a:solidFill>
              </a:rPr>
              <a:t> </a:t>
            </a:r>
            <a:r>
              <a:rPr lang="en-GB" b="1" dirty="0" smtClean="0">
                <a:solidFill>
                  <a:srgbClr val="0070C0"/>
                </a:solidFill>
              </a:rPr>
              <a:t>   j= (0+0+6) mod 8 =6</a:t>
            </a:r>
          </a:p>
          <a:p>
            <a:r>
              <a:rPr lang="en-GB" dirty="0" smtClean="0"/>
              <a:t>Swap(S[3], S[6] )</a:t>
            </a:r>
          </a:p>
          <a:p>
            <a:r>
              <a:rPr lang="en-GB" dirty="0" smtClean="0"/>
              <a:t>After Swap</a:t>
            </a:r>
          </a:p>
          <a:p>
            <a:r>
              <a:rPr lang="en-GB" dirty="0" smtClean="0"/>
              <a:t>  </a:t>
            </a:r>
            <a:r>
              <a:rPr lang="en-GB" dirty="0"/>
              <a:t>S</a:t>
            </a:r>
            <a:r>
              <a:rPr lang="en-GB" dirty="0" smtClean="0"/>
              <a:t>=[</a:t>
            </a:r>
            <a:r>
              <a:rPr lang="en-GB" dirty="0"/>
              <a:t>2 3 1 </a:t>
            </a:r>
            <a:r>
              <a:rPr lang="en-GB" b="1" dirty="0" smtClean="0">
                <a:solidFill>
                  <a:srgbClr val="FF0000"/>
                </a:solidFill>
              </a:rPr>
              <a:t>6</a:t>
            </a:r>
            <a:r>
              <a:rPr lang="en-GB" dirty="0" smtClean="0"/>
              <a:t> </a:t>
            </a:r>
            <a:r>
              <a:rPr lang="en-GB" dirty="0"/>
              <a:t>4 5</a:t>
            </a:r>
            <a:r>
              <a:rPr lang="en-GB" dirty="0">
                <a:solidFill>
                  <a:srgbClr val="FF0000"/>
                </a:solidFill>
              </a:rPr>
              <a:t> </a:t>
            </a:r>
            <a:r>
              <a:rPr lang="en-GB" b="1" dirty="0" smtClean="0">
                <a:solidFill>
                  <a:srgbClr val="FF0000"/>
                </a:solidFill>
              </a:rPr>
              <a:t>0</a:t>
            </a:r>
            <a:r>
              <a:rPr lang="en-GB" dirty="0" smtClean="0">
                <a:solidFill>
                  <a:srgbClr val="FF0000"/>
                </a:solidFill>
              </a:rPr>
              <a:t> </a:t>
            </a:r>
            <a:r>
              <a:rPr lang="en-GB" dirty="0"/>
              <a:t>7</a:t>
            </a:r>
            <a:r>
              <a:rPr lang="en-GB" dirty="0" smtClean="0"/>
              <a:t>]</a:t>
            </a:r>
            <a:endParaRPr lang="en-GB" dirty="0"/>
          </a:p>
          <a:p>
            <a:r>
              <a:rPr lang="en-GB" dirty="0" smtClean="0"/>
              <a:t>  T</a:t>
            </a:r>
            <a:r>
              <a:rPr lang="en-GB" dirty="0"/>
              <a:t>=[1 2 3 6 1 2 3 6]</a:t>
            </a:r>
          </a:p>
          <a:p>
            <a:endParaRPr lang="en-GB" dirty="0"/>
          </a:p>
          <a:p>
            <a:endParaRPr lang="en-GB" dirty="0"/>
          </a:p>
        </p:txBody>
      </p:sp>
      <p:cxnSp>
        <p:nvCxnSpPr>
          <p:cNvPr id="11" name="Straight Arrow Connector 10"/>
          <p:cNvCxnSpPr/>
          <p:nvPr/>
        </p:nvCxnSpPr>
        <p:spPr>
          <a:xfrm flipV="1">
            <a:off x="2627784" y="2348882"/>
            <a:ext cx="576064" cy="172819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2" name="Rectangle 11"/>
          <p:cNvSpPr/>
          <p:nvPr/>
        </p:nvSpPr>
        <p:spPr>
          <a:xfrm>
            <a:off x="5972378" y="1902629"/>
            <a:ext cx="2736304" cy="3970318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GB" b="1" dirty="0" err="1" smtClean="0">
                <a:solidFill>
                  <a:srgbClr val="0070C0"/>
                </a:solidFill>
              </a:rPr>
              <a:t>i</a:t>
            </a:r>
            <a:r>
              <a:rPr lang="en-GB" b="1" dirty="0" smtClean="0">
                <a:solidFill>
                  <a:srgbClr val="0070C0"/>
                </a:solidFill>
              </a:rPr>
              <a:t> =5</a:t>
            </a:r>
          </a:p>
          <a:p>
            <a:r>
              <a:rPr lang="en-GB" dirty="0"/>
              <a:t>j</a:t>
            </a:r>
            <a:r>
              <a:rPr lang="en-GB" dirty="0" smtClean="0"/>
              <a:t> = 3</a:t>
            </a:r>
          </a:p>
          <a:p>
            <a:r>
              <a:rPr lang="en-GB" dirty="0" smtClean="0"/>
              <a:t> </a:t>
            </a:r>
          </a:p>
          <a:p>
            <a:r>
              <a:rPr lang="en-GB" dirty="0"/>
              <a:t>S</a:t>
            </a:r>
            <a:r>
              <a:rPr lang="en-GB" dirty="0" smtClean="0"/>
              <a:t>=[</a:t>
            </a:r>
            <a:r>
              <a:rPr lang="en-GB" dirty="0"/>
              <a:t>2 3 1 </a:t>
            </a:r>
            <a:r>
              <a:rPr lang="en-GB" dirty="0" smtClean="0"/>
              <a:t>4 6 </a:t>
            </a:r>
            <a:r>
              <a:rPr lang="en-GB" dirty="0"/>
              <a:t>5 0 7</a:t>
            </a:r>
            <a:r>
              <a:rPr lang="en-GB" dirty="0" smtClean="0"/>
              <a:t>]</a:t>
            </a:r>
            <a:endParaRPr lang="en-GB" dirty="0"/>
          </a:p>
          <a:p>
            <a:r>
              <a:rPr lang="en-GB" dirty="0" smtClean="0"/>
              <a:t>T</a:t>
            </a:r>
            <a:r>
              <a:rPr lang="en-GB" dirty="0"/>
              <a:t>=[1 2 3 6 1 2 3 6</a:t>
            </a:r>
            <a:r>
              <a:rPr lang="en-GB" dirty="0" smtClean="0"/>
              <a:t>]</a:t>
            </a:r>
          </a:p>
          <a:p>
            <a:r>
              <a:rPr lang="en-GB" dirty="0"/>
              <a:t>for </a:t>
            </a:r>
            <a:r>
              <a:rPr lang="en-GB" dirty="0" err="1" smtClean="0"/>
              <a:t>i</a:t>
            </a:r>
            <a:r>
              <a:rPr lang="en-GB" dirty="0" smtClean="0"/>
              <a:t>=5  </a:t>
            </a:r>
            <a:r>
              <a:rPr lang="en-GB" dirty="0"/>
              <a:t>to 7 do</a:t>
            </a:r>
          </a:p>
          <a:p>
            <a:r>
              <a:rPr lang="en-GB" dirty="0" smtClean="0"/>
              <a:t>    j=( 3 + S[5] + T[5] ) mod 8</a:t>
            </a:r>
          </a:p>
          <a:p>
            <a:r>
              <a:rPr lang="en-GB" b="1" dirty="0">
                <a:solidFill>
                  <a:srgbClr val="0070C0"/>
                </a:solidFill>
              </a:rPr>
              <a:t> </a:t>
            </a:r>
            <a:r>
              <a:rPr lang="en-GB" b="1" dirty="0" smtClean="0">
                <a:solidFill>
                  <a:srgbClr val="0070C0"/>
                </a:solidFill>
              </a:rPr>
              <a:t>   j= (3+5+2) mod 8 =2</a:t>
            </a:r>
          </a:p>
          <a:p>
            <a:r>
              <a:rPr lang="en-GB" dirty="0" smtClean="0"/>
              <a:t>Swap(S[5], S[2] )</a:t>
            </a:r>
          </a:p>
          <a:p>
            <a:r>
              <a:rPr lang="en-GB" dirty="0" smtClean="0"/>
              <a:t>After Swap</a:t>
            </a:r>
          </a:p>
          <a:p>
            <a:r>
              <a:rPr lang="en-GB" dirty="0" smtClean="0"/>
              <a:t>  </a:t>
            </a:r>
            <a:r>
              <a:rPr lang="en-GB" dirty="0"/>
              <a:t>S</a:t>
            </a:r>
            <a:r>
              <a:rPr lang="en-GB" dirty="0" smtClean="0"/>
              <a:t>=[</a:t>
            </a:r>
            <a:r>
              <a:rPr lang="en-GB" dirty="0"/>
              <a:t>2 3 </a:t>
            </a:r>
            <a:r>
              <a:rPr lang="en-GB" b="1" dirty="0" smtClean="0">
                <a:solidFill>
                  <a:srgbClr val="FF0000"/>
                </a:solidFill>
              </a:rPr>
              <a:t>5</a:t>
            </a:r>
            <a:r>
              <a:rPr lang="en-GB" dirty="0" smtClean="0"/>
              <a:t> 4 6 </a:t>
            </a:r>
            <a:r>
              <a:rPr lang="en-GB" b="1" dirty="0" smtClean="0">
                <a:solidFill>
                  <a:srgbClr val="FF0000"/>
                </a:solidFill>
              </a:rPr>
              <a:t>1</a:t>
            </a:r>
            <a:r>
              <a:rPr lang="en-GB" dirty="0" smtClean="0"/>
              <a:t> </a:t>
            </a:r>
            <a:r>
              <a:rPr lang="en-GB" dirty="0"/>
              <a:t>0 7</a:t>
            </a:r>
            <a:r>
              <a:rPr lang="en-GB" dirty="0" smtClean="0"/>
              <a:t>]</a:t>
            </a:r>
            <a:endParaRPr lang="en-GB" dirty="0"/>
          </a:p>
          <a:p>
            <a:r>
              <a:rPr lang="en-GB" dirty="0" smtClean="0"/>
              <a:t>  T</a:t>
            </a:r>
            <a:r>
              <a:rPr lang="en-GB" dirty="0"/>
              <a:t>=[1 2 3 6 1 2 3 6]</a:t>
            </a:r>
          </a:p>
          <a:p>
            <a:endParaRPr lang="en-GB" dirty="0"/>
          </a:p>
          <a:p>
            <a:endParaRPr lang="en-GB" dirty="0"/>
          </a:p>
        </p:txBody>
      </p:sp>
      <p:cxnSp>
        <p:nvCxnSpPr>
          <p:cNvPr id="14" name="Straight Arrow Connector 13"/>
          <p:cNvCxnSpPr/>
          <p:nvPr/>
        </p:nvCxnSpPr>
        <p:spPr>
          <a:xfrm flipV="1">
            <a:off x="5436096" y="2420889"/>
            <a:ext cx="536282" cy="1512167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57328000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500" fill="hold"/>
                                        <p:tgtEl>
                                          <p:spTgt spid="9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500" fill="hold"/>
                                        <p:tgtEl>
                                          <p:spTgt spid="9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5" dur="500" fill="hold"/>
                                        <p:tgtEl>
                                          <p:spTgt spid="9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6" dur="500" fill="hold"/>
                                        <p:tgtEl>
                                          <p:spTgt spid="9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7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500" fill="hold"/>
                                        <p:tgtEl>
                                          <p:spTgt spid="9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500" fill="hold"/>
                                        <p:tgtEl>
                                          <p:spTgt spid="9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1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3" dur="500" fill="hold"/>
                                        <p:tgtEl>
                                          <p:spTgt spid="9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4" dur="500" fill="hold"/>
                                        <p:tgtEl>
                                          <p:spTgt spid="9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5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7" dur="500" fill="hold"/>
                                        <p:tgtEl>
                                          <p:spTgt spid="9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8" dur="500" fill="hold"/>
                                        <p:tgtEl>
                                          <p:spTgt spid="9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9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1" dur="500" fill="hold"/>
                                        <p:tgtEl>
                                          <p:spTgt spid="9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2" dur="500" fill="hold"/>
                                        <p:tgtEl>
                                          <p:spTgt spid="9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3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5" dur="500" fill="hold"/>
                                        <p:tgtEl>
                                          <p:spTgt spid="9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6" dur="500" fill="hold"/>
                                        <p:tgtEl>
                                          <p:spTgt spid="9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7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9" dur="500" fill="hold"/>
                                        <p:tgtEl>
                                          <p:spTgt spid="9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0" dur="500" fill="hold"/>
                                        <p:tgtEl>
                                          <p:spTgt spid="9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1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3" dur="500" fill="hold"/>
                                        <p:tgtEl>
                                          <p:spTgt spid="9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4" dur="500" fill="hold"/>
                                        <p:tgtEl>
                                          <p:spTgt spid="9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5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7" dur="500" fill="hold"/>
                                        <p:tgtEl>
                                          <p:spTgt spid="9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8" dur="500" fill="hold"/>
                                        <p:tgtEl>
                                          <p:spTgt spid="9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9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1" dur="500" fill="hold"/>
                                        <p:tgtEl>
                                          <p:spTgt spid="9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52" dur="500" fill="hold"/>
                                        <p:tgtEl>
                                          <p:spTgt spid="9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" fill="hold">
                      <p:stCondLst>
                        <p:cond delay="indefinite"/>
                      </p:stCondLst>
                      <p:childTnLst>
                        <p:par>
                          <p:cTn id="54" fill="hold">
                            <p:stCondLst>
                              <p:cond delay="0"/>
                            </p:stCondLst>
                            <p:childTnLst>
                              <p:par>
                                <p:cTn id="55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7" dur="5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58" dur="5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9" fill="hold">
                      <p:stCondLst>
                        <p:cond delay="indefinite"/>
                      </p:stCondLst>
                      <p:childTnLst>
                        <p:par>
                          <p:cTn id="60" fill="hold">
                            <p:stCondLst>
                              <p:cond delay="0"/>
                            </p:stCondLst>
                            <p:childTnLst>
                              <p:par>
                                <p:cTn id="61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63" dur="500" fill="hold"/>
                                        <p:tgtEl>
                                          <p:spTgt spid="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64" dur="500" fill="hold"/>
                                        <p:tgtEl>
                                          <p:spTgt spid="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65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67" dur="500" fill="hold"/>
                                        <p:tgtEl>
                                          <p:spTgt spid="7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68" dur="500" fill="hold"/>
                                        <p:tgtEl>
                                          <p:spTgt spid="7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69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1" dur="500" fill="hold"/>
                                        <p:tgtEl>
                                          <p:spTgt spid="7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72" dur="500" fill="hold"/>
                                        <p:tgtEl>
                                          <p:spTgt spid="7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73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5" dur="500" fill="hold"/>
                                        <p:tgtEl>
                                          <p:spTgt spid="7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76" dur="500" fill="hold"/>
                                        <p:tgtEl>
                                          <p:spTgt spid="7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77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9" dur="500" fill="hold"/>
                                        <p:tgtEl>
                                          <p:spTgt spid="7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0" dur="500" fill="hold"/>
                                        <p:tgtEl>
                                          <p:spTgt spid="7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81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83" dur="500" fill="hold"/>
                                        <p:tgtEl>
                                          <p:spTgt spid="7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4" dur="500" fill="hold"/>
                                        <p:tgtEl>
                                          <p:spTgt spid="7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85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87" dur="500" fill="hold"/>
                                        <p:tgtEl>
                                          <p:spTgt spid="7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8" dur="500" fill="hold"/>
                                        <p:tgtEl>
                                          <p:spTgt spid="7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89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91" dur="500" fill="hold"/>
                                        <p:tgtEl>
                                          <p:spTgt spid="7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92" dur="500" fill="hold"/>
                                        <p:tgtEl>
                                          <p:spTgt spid="7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3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95" dur="500" fill="hold"/>
                                        <p:tgtEl>
                                          <p:spTgt spid="7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96" dur="500" fill="hold"/>
                                        <p:tgtEl>
                                          <p:spTgt spid="7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7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99" dur="500" fill="hold"/>
                                        <p:tgtEl>
                                          <p:spTgt spid="7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00" dur="500" fill="hold"/>
                                        <p:tgtEl>
                                          <p:spTgt spid="7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01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03" dur="500" fill="hold"/>
                                        <p:tgtEl>
                                          <p:spTgt spid="7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04" dur="500" fill="hold"/>
                                        <p:tgtEl>
                                          <p:spTgt spid="7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05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07" dur="500" fill="hold"/>
                                        <p:tgtEl>
                                          <p:spTgt spid="7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08" dur="500" fill="hold"/>
                                        <p:tgtEl>
                                          <p:spTgt spid="7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9" fill="hold">
                      <p:stCondLst>
                        <p:cond delay="indefinite"/>
                      </p:stCondLst>
                      <p:childTnLst>
                        <p:par>
                          <p:cTn id="110" fill="hold">
                            <p:stCondLst>
                              <p:cond delay="0"/>
                            </p:stCondLst>
                            <p:childTnLst>
                              <p:par>
                                <p:cTn id="111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3" dur="5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14" dur="5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5" fill="hold">
                      <p:stCondLst>
                        <p:cond delay="indefinite"/>
                      </p:stCondLst>
                      <p:childTnLst>
                        <p:par>
                          <p:cTn id="116" fill="hold">
                            <p:stCondLst>
                              <p:cond delay="0"/>
                            </p:stCondLst>
                            <p:childTnLst>
                              <p:par>
                                <p:cTn id="117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9" dur="500" fill="hold"/>
                                        <p:tgtEl>
                                          <p:spTgt spid="1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0" dur="500" fill="hold"/>
                                        <p:tgtEl>
                                          <p:spTgt spid="1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21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23" dur="500" fill="hold"/>
                                        <p:tgtEl>
                                          <p:spTgt spid="1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4" dur="500" fill="hold"/>
                                        <p:tgtEl>
                                          <p:spTgt spid="1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25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27" dur="500" fill="hold"/>
                                        <p:tgtEl>
                                          <p:spTgt spid="12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8" dur="500" fill="hold"/>
                                        <p:tgtEl>
                                          <p:spTgt spid="12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29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1" dur="500" fill="hold"/>
                                        <p:tgtEl>
                                          <p:spTgt spid="12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32" dur="500" fill="hold"/>
                                        <p:tgtEl>
                                          <p:spTgt spid="12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3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5" dur="500" fill="hold"/>
                                        <p:tgtEl>
                                          <p:spTgt spid="12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36" dur="500" fill="hold"/>
                                        <p:tgtEl>
                                          <p:spTgt spid="12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7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9" dur="500" fill="hold"/>
                                        <p:tgtEl>
                                          <p:spTgt spid="12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0" dur="500" fill="hold"/>
                                        <p:tgtEl>
                                          <p:spTgt spid="12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41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43" dur="500" fill="hold"/>
                                        <p:tgtEl>
                                          <p:spTgt spid="12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4" dur="500" fill="hold"/>
                                        <p:tgtEl>
                                          <p:spTgt spid="12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45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47" dur="500" fill="hold"/>
                                        <p:tgtEl>
                                          <p:spTgt spid="12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8" dur="500" fill="hold"/>
                                        <p:tgtEl>
                                          <p:spTgt spid="12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49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51" dur="500" fill="hold"/>
                                        <p:tgtEl>
                                          <p:spTgt spid="12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52" dur="500" fill="hold"/>
                                        <p:tgtEl>
                                          <p:spTgt spid="12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53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55" dur="500" fill="hold"/>
                                        <p:tgtEl>
                                          <p:spTgt spid="12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56" dur="500" fill="hold"/>
                                        <p:tgtEl>
                                          <p:spTgt spid="12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57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59" dur="500" fill="hold"/>
                                        <p:tgtEl>
                                          <p:spTgt spid="12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60" dur="500" fill="hold"/>
                                        <p:tgtEl>
                                          <p:spTgt spid="12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61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63" dur="500" fill="hold"/>
                                        <p:tgtEl>
                                          <p:spTgt spid="12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64" dur="500" fill="hold"/>
                                        <p:tgtEl>
                                          <p:spTgt spid="12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/>
          <p:cNvSpPr txBox="1"/>
          <p:nvPr/>
        </p:nvSpPr>
        <p:spPr>
          <a:xfrm>
            <a:off x="0" y="0"/>
            <a:ext cx="9144000" cy="369332"/>
          </a:xfrm>
          <a:prstGeom prst="rect">
            <a:avLst/>
          </a:prstGeom>
          <a:solidFill>
            <a:schemeClr val="accent1"/>
          </a:solidFill>
        </p:spPr>
        <p:txBody>
          <a:bodyPr wrap="square" rtlCol="0">
            <a:spAutoFit/>
          </a:bodyPr>
          <a:lstStyle/>
          <a:p>
            <a:endParaRPr lang="en-GB" b="1" dirty="0">
              <a:solidFill>
                <a:schemeClr val="bg1"/>
              </a:solidFill>
            </a:endParaRPr>
          </a:p>
        </p:txBody>
      </p:sp>
      <p:sp>
        <p:nvSpPr>
          <p:cNvPr id="5" name="TextBox 4"/>
          <p:cNvSpPr txBox="1"/>
          <p:nvPr/>
        </p:nvSpPr>
        <p:spPr>
          <a:xfrm>
            <a:off x="251520" y="1077699"/>
            <a:ext cx="8712968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endParaRPr lang="en-GB" dirty="0"/>
          </a:p>
        </p:txBody>
      </p:sp>
      <p:sp>
        <p:nvSpPr>
          <p:cNvPr id="2" name="Slide Number Placeholder 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5F608CE-C03C-4089-8C30-2B4572834CCA}" type="slidenum">
              <a:rPr lang="en-GB" smtClean="0"/>
              <a:t>9</a:t>
            </a:fld>
            <a:endParaRPr lang="en-GB"/>
          </a:p>
        </p:txBody>
      </p:sp>
      <p:sp>
        <p:nvSpPr>
          <p:cNvPr id="3" name="TextBox 2"/>
          <p:cNvSpPr txBox="1"/>
          <p:nvPr/>
        </p:nvSpPr>
        <p:spPr>
          <a:xfrm>
            <a:off x="117848" y="764704"/>
            <a:ext cx="8568952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1600" b="1" dirty="0" smtClean="0"/>
              <a:t>Example:</a:t>
            </a:r>
            <a:endParaRPr lang="en-GB" sz="1600" dirty="0"/>
          </a:p>
        </p:txBody>
      </p:sp>
      <p:sp>
        <p:nvSpPr>
          <p:cNvPr id="6" name="TextBox 5"/>
          <p:cNvSpPr txBox="1"/>
          <p:nvPr/>
        </p:nvSpPr>
        <p:spPr>
          <a:xfrm>
            <a:off x="0" y="0"/>
            <a:ext cx="9144000" cy="646331"/>
          </a:xfrm>
          <a:prstGeom prst="rect">
            <a:avLst/>
          </a:prstGeom>
          <a:solidFill>
            <a:schemeClr val="accent1"/>
          </a:solidFill>
        </p:spPr>
        <p:txBody>
          <a:bodyPr wrap="square" rtlCol="0">
            <a:spAutoFit/>
          </a:bodyPr>
          <a:lstStyle/>
          <a:p>
            <a:pPr algn="ctr"/>
            <a:r>
              <a:rPr lang="en-US" b="1" dirty="0">
                <a:solidFill>
                  <a:srgbClr val="FFFF00"/>
                </a:solidFill>
              </a:rPr>
              <a:t>Symmetric Cryptography</a:t>
            </a:r>
          </a:p>
          <a:p>
            <a:pPr algn="ctr"/>
            <a:r>
              <a:rPr lang="en-US" b="1" dirty="0">
                <a:solidFill>
                  <a:srgbClr val="FFFF00"/>
                </a:solidFill>
              </a:rPr>
              <a:t>RC4</a:t>
            </a:r>
            <a:r>
              <a:rPr lang="en-US" b="1" dirty="0">
                <a:solidFill>
                  <a:schemeClr val="bg1"/>
                </a:solidFill>
              </a:rPr>
              <a:t> </a:t>
            </a:r>
            <a:r>
              <a:rPr lang="en-US" b="1" dirty="0">
                <a:solidFill>
                  <a:srgbClr val="FFFF00"/>
                </a:solidFill>
              </a:rPr>
              <a:t>Stream Cipher </a:t>
            </a:r>
            <a:endParaRPr lang="en-GB" b="1" dirty="0">
              <a:solidFill>
                <a:schemeClr val="bg1"/>
              </a:solidFill>
            </a:endParaRPr>
          </a:p>
        </p:txBody>
      </p:sp>
      <p:sp>
        <p:nvSpPr>
          <p:cNvPr id="7" name="Rectangle 6"/>
          <p:cNvSpPr/>
          <p:nvPr/>
        </p:nvSpPr>
        <p:spPr>
          <a:xfrm>
            <a:off x="3203848" y="1878399"/>
            <a:ext cx="2736304" cy="3970318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GB" b="1" dirty="0" err="1" smtClean="0">
                <a:solidFill>
                  <a:srgbClr val="0070C0"/>
                </a:solidFill>
              </a:rPr>
              <a:t>i</a:t>
            </a:r>
            <a:r>
              <a:rPr lang="en-GB" b="1" dirty="0" smtClean="0">
                <a:solidFill>
                  <a:srgbClr val="0070C0"/>
                </a:solidFill>
              </a:rPr>
              <a:t> =7</a:t>
            </a:r>
          </a:p>
          <a:p>
            <a:r>
              <a:rPr lang="en-GB" dirty="0"/>
              <a:t>j</a:t>
            </a:r>
            <a:r>
              <a:rPr lang="en-GB" dirty="0" smtClean="0"/>
              <a:t> = 5</a:t>
            </a:r>
          </a:p>
          <a:p>
            <a:r>
              <a:rPr lang="en-GB" dirty="0" smtClean="0"/>
              <a:t> </a:t>
            </a:r>
          </a:p>
          <a:p>
            <a:r>
              <a:rPr lang="en-GB" dirty="0"/>
              <a:t>S</a:t>
            </a:r>
            <a:r>
              <a:rPr lang="en-GB" dirty="0" smtClean="0"/>
              <a:t>=[</a:t>
            </a:r>
            <a:r>
              <a:rPr lang="en-GB" dirty="0"/>
              <a:t>2 3 5 4 6 </a:t>
            </a:r>
            <a:r>
              <a:rPr lang="en-GB" dirty="0" smtClean="0"/>
              <a:t>0 1 7]</a:t>
            </a:r>
            <a:endParaRPr lang="en-GB" dirty="0"/>
          </a:p>
          <a:p>
            <a:r>
              <a:rPr lang="en-GB" dirty="0"/>
              <a:t>T=[1 2 3 6 1 2 3 6</a:t>
            </a:r>
            <a:r>
              <a:rPr lang="en-GB" dirty="0" smtClean="0"/>
              <a:t>]</a:t>
            </a:r>
          </a:p>
          <a:p>
            <a:r>
              <a:rPr lang="en-GB" dirty="0"/>
              <a:t>for </a:t>
            </a:r>
            <a:r>
              <a:rPr lang="en-GB" dirty="0" err="1" smtClean="0"/>
              <a:t>i</a:t>
            </a:r>
            <a:r>
              <a:rPr lang="en-GB" dirty="0" smtClean="0"/>
              <a:t>=7 </a:t>
            </a:r>
            <a:r>
              <a:rPr lang="en-GB" dirty="0"/>
              <a:t>to 7 do</a:t>
            </a:r>
          </a:p>
          <a:p>
            <a:r>
              <a:rPr lang="en-GB" dirty="0" smtClean="0"/>
              <a:t>    j=( 5 + S[7] + T[7] ) mod 8</a:t>
            </a:r>
          </a:p>
          <a:p>
            <a:r>
              <a:rPr lang="en-GB" b="1" dirty="0">
                <a:solidFill>
                  <a:srgbClr val="0070C0"/>
                </a:solidFill>
              </a:rPr>
              <a:t> </a:t>
            </a:r>
            <a:r>
              <a:rPr lang="en-GB" b="1" dirty="0" smtClean="0">
                <a:solidFill>
                  <a:srgbClr val="0070C0"/>
                </a:solidFill>
              </a:rPr>
              <a:t>   j= (5+7+6) mod 8 =2</a:t>
            </a:r>
          </a:p>
          <a:p>
            <a:r>
              <a:rPr lang="en-GB" dirty="0" smtClean="0"/>
              <a:t>Swap(S[7], S[2] )</a:t>
            </a:r>
          </a:p>
          <a:p>
            <a:r>
              <a:rPr lang="en-GB" dirty="0" smtClean="0"/>
              <a:t>After Swap</a:t>
            </a:r>
          </a:p>
          <a:p>
            <a:r>
              <a:rPr lang="en-GB" dirty="0" smtClean="0"/>
              <a:t>  </a:t>
            </a:r>
            <a:r>
              <a:rPr lang="en-GB" dirty="0"/>
              <a:t>S</a:t>
            </a:r>
            <a:r>
              <a:rPr lang="en-GB" dirty="0" smtClean="0"/>
              <a:t>=[</a:t>
            </a:r>
            <a:r>
              <a:rPr lang="en-GB" dirty="0"/>
              <a:t>2 3 </a:t>
            </a:r>
            <a:r>
              <a:rPr lang="en-GB" b="1" dirty="0" smtClean="0">
                <a:solidFill>
                  <a:srgbClr val="FF0000"/>
                </a:solidFill>
              </a:rPr>
              <a:t>7</a:t>
            </a:r>
            <a:r>
              <a:rPr lang="en-GB" dirty="0" smtClean="0"/>
              <a:t> </a:t>
            </a:r>
            <a:r>
              <a:rPr lang="en-GB" dirty="0"/>
              <a:t>4 6 0 1 </a:t>
            </a:r>
            <a:r>
              <a:rPr lang="en-GB" b="1" dirty="0" smtClean="0">
                <a:solidFill>
                  <a:srgbClr val="FF0000"/>
                </a:solidFill>
              </a:rPr>
              <a:t>5</a:t>
            </a:r>
            <a:r>
              <a:rPr lang="en-GB" dirty="0" smtClean="0"/>
              <a:t>]</a:t>
            </a:r>
            <a:endParaRPr lang="en-GB" dirty="0"/>
          </a:p>
          <a:p>
            <a:r>
              <a:rPr lang="en-GB" dirty="0" smtClean="0"/>
              <a:t>  T</a:t>
            </a:r>
            <a:r>
              <a:rPr lang="en-GB" dirty="0"/>
              <a:t>=[1 2 3 6 1 2 3 6]</a:t>
            </a:r>
          </a:p>
          <a:p>
            <a:endParaRPr lang="en-GB" dirty="0"/>
          </a:p>
          <a:p>
            <a:endParaRPr lang="en-GB" dirty="0"/>
          </a:p>
        </p:txBody>
      </p:sp>
      <p:sp>
        <p:nvSpPr>
          <p:cNvPr id="8" name="Rectangle 7"/>
          <p:cNvSpPr/>
          <p:nvPr/>
        </p:nvSpPr>
        <p:spPr>
          <a:xfrm>
            <a:off x="5646470" y="837431"/>
            <a:ext cx="3024336" cy="1200329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dirty="0"/>
              <a:t>j = 0;</a:t>
            </a:r>
            <a:endParaRPr lang="en-GB" dirty="0"/>
          </a:p>
          <a:p>
            <a:r>
              <a:rPr lang="en-US" dirty="0"/>
              <a:t>for  </a:t>
            </a:r>
            <a:r>
              <a:rPr lang="en-US" dirty="0" err="1"/>
              <a:t>i</a:t>
            </a:r>
            <a:r>
              <a:rPr lang="en-US" dirty="0"/>
              <a:t> = 0 to 255 do</a:t>
            </a:r>
            <a:endParaRPr lang="en-GB" dirty="0"/>
          </a:p>
          <a:p>
            <a:r>
              <a:rPr lang="en-US" dirty="0"/>
              <a:t>    j = (j + </a:t>
            </a:r>
            <a:r>
              <a:rPr lang="en-US" b="1" dirty="0"/>
              <a:t>S</a:t>
            </a:r>
            <a:r>
              <a:rPr lang="en-US" dirty="0"/>
              <a:t>[</a:t>
            </a:r>
            <a:r>
              <a:rPr lang="en-US" dirty="0" err="1"/>
              <a:t>i</a:t>
            </a:r>
            <a:r>
              <a:rPr lang="en-US" dirty="0"/>
              <a:t>] + </a:t>
            </a:r>
            <a:r>
              <a:rPr lang="en-US" b="1" dirty="0"/>
              <a:t>T</a:t>
            </a:r>
            <a:r>
              <a:rPr lang="en-US" dirty="0"/>
              <a:t>[</a:t>
            </a:r>
            <a:r>
              <a:rPr lang="en-US" dirty="0" err="1"/>
              <a:t>i</a:t>
            </a:r>
            <a:r>
              <a:rPr lang="en-US" dirty="0"/>
              <a:t>]) mod 256;</a:t>
            </a:r>
            <a:endParaRPr lang="en-GB" dirty="0"/>
          </a:p>
          <a:p>
            <a:r>
              <a:rPr lang="en-US" dirty="0"/>
              <a:t> Swap (</a:t>
            </a:r>
            <a:r>
              <a:rPr lang="en-US" b="1" dirty="0"/>
              <a:t>S</a:t>
            </a:r>
            <a:r>
              <a:rPr lang="en-US" dirty="0"/>
              <a:t>[</a:t>
            </a:r>
            <a:r>
              <a:rPr lang="en-US" dirty="0" err="1"/>
              <a:t>i</a:t>
            </a:r>
            <a:r>
              <a:rPr lang="en-US" dirty="0"/>
              <a:t>], </a:t>
            </a:r>
            <a:r>
              <a:rPr lang="en-US" b="1" dirty="0"/>
              <a:t>S</a:t>
            </a:r>
            <a:r>
              <a:rPr lang="en-US" dirty="0"/>
              <a:t>[j]);</a:t>
            </a:r>
            <a:endParaRPr lang="en-GB" dirty="0"/>
          </a:p>
        </p:txBody>
      </p:sp>
      <p:sp>
        <p:nvSpPr>
          <p:cNvPr id="9" name="Rectangle 8"/>
          <p:cNvSpPr/>
          <p:nvPr/>
        </p:nvSpPr>
        <p:spPr>
          <a:xfrm>
            <a:off x="403921" y="1900563"/>
            <a:ext cx="3024336" cy="3970318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GB" b="1" dirty="0" err="1" smtClean="0">
                <a:solidFill>
                  <a:srgbClr val="0070C0"/>
                </a:solidFill>
              </a:rPr>
              <a:t>i</a:t>
            </a:r>
            <a:r>
              <a:rPr lang="en-GB" b="1" dirty="0" smtClean="0">
                <a:solidFill>
                  <a:srgbClr val="0070C0"/>
                </a:solidFill>
              </a:rPr>
              <a:t> =6</a:t>
            </a:r>
          </a:p>
          <a:p>
            <a:r>
              <a:rPr lang="en-GB" dirty="0"/>
              <a:t>j</a:t>
            </a:r>
            <a:r>
              <a:rPr lang="en-GB" dirty="0" smtClean="0"/>
              <a:t> = 2</a:t>
            </a:r>
          </a:p>
          <a:p>
            <a:r>
              <a:rPr lang="en-GB" dirty="0" smtClean="0"/>
              <a:t> </a:t>
            </a:r>
          </a:p>
          <a:p>
            <a:r>
              <a:rPr lang="en-GB" dirty="0"/>
              <a:t>S</a:t>
            </a:r>
            <a:r>
              <a:rPr lang="en-GB" dirty="0" smtClean="0"/>
              <a:t>=[</a:t>
            </a:r>
            <a:r>
              <a:rPr lang="en-GB" dirty="0"/>
              <a:t>2 3 5 4 6 1 0 7</a:t>
            </a:r>
            <a:r>
              <a:rPr lang="en-GB" dirty="0" smtClean="0"/>
              <a:t>]</a:t>
            </a:r>
            <a:endParaRPr lang="en-GB" dirty="0"/>
          </a:p>
          <a:p>
            <a:r>
              <a:rPr lang="en-GB" dirty="0"/>
              <a:t>T=[1 2 3 6 1 2 3 6</a:t>
            </a:r>
            <a:r>
              <a:rPr lang="en-GB" dirty="0" smtClean="0"/>
              <a:t>]</a:t>
            </a:r>
          </a:p>
          <a:p>
            <a:r>
              <a:rPr lang="en-GB" dirty="0"/>
              <a:t>for </a:t>
            </a:r>
            <a:r>
              <a:rPr lang="en-GB" dirty="0" err="1" smtClean="0"/>
              <a:t>i</a:t>
            </a:r>
            <a:r>
              <a:rPr lang="en-GB" dirty="0" smtClean="0"/>
              <a:t>=6 </a:t>
            </a:r>
            <a:r>
              <a:rPr lang="en-GB" dirty="0"/>
              <a:t>to 7 do</a:t>
            </a:r>
          </a:p>
          <a:p>
            <a:r>
              <a:rPr lang="en-GB" dirty="0" smtClean="0"/>
              <a:t>    j=( 2 + S[6] + T[6] ) mod 8</a:t>
            </a:r>
          </a:p>
          <a:p>
            <a:r>
              <a:rPr lang="en-GB" b="1" dirty="0">
                <a:solidFill>
                  <a:srgbClr val="0070C0"/>
                </a:solidFill>
              </a:rPr>
              <a:t> </a:t>
            </a:r>
            <a:r>
              <a:rPr lang="en-GB" b="1" dirty="0" smtClean="0">
                <a:solidFill>
                  <a:srgbClr val="0070C0"/>
                </a:solidFill>
              </a:rPr>
              <a:t>   j= (2+0+3) mod 8 =5</a:t>
            </a:r>
          </a:p>
          <a:p>
            <a:r>
              <a:rPr lang="en-GB" dirty="0" smtClean="0"/>
              <a:t>Swap(S[6], S[5] )</a:t>
            </a:r>
          </a:p>
          <a:p>
            <a:r>
              <a:rPr lang="en-GB" dirty="0" smtClean="0"/>
              <a:t>After Swap</a:t>
            </a:r>
          </a:p>
          <a:p>
            <a:r>
              <a:rPr lang="en-GB" dirty="0" smtClean="0"/>
              <a:t>  </a:t>
            </a:r>
            <a:r>
              <a:rPr lang="en-GB" dirty="0"/>
              <a:t>S</a:t>
            </a:r>
            <a:r>
              <a:rPr lang="en-GB" dirty="0" smtClean="0"/>
              <a:t>=[</a:t>
            </a:r>
            <a:r>
              <a:rPr lang="en-GB" dirty="0"/>
              <a:t>2 3 5 4 6 </a:t>
            </a:r>
            <a:r>
              <a:rPr lang="en-GB" b="1" dirty="0" smtClean="0">
                <a:solidFill>
                  <a:srgbClr val="FF0000"/>
                </a:solidFill>
              </a:rPr>
              <a:t>0 1</a:t>
            </a:r>
            <a:r>
              <a:rPr lang="en-GB" dirty="0" smtClean="0"/>
              <a:t> </a:t>
            </a:r>
            <a:r>
              <a:rPr lang="en-GB" dirty="0"/>
              <a:t>7</a:t>
            </a:r>
            <a:r>
              <a:rPr lang="en-GB" dirty="0" smtClean="0"/>
              <a:t>]</a:t>
            </a:r>
            <a:endParaRPr lang="en-GB" dirty="0"/>
          </a:p>
          <a:p>
            <a:r>
              <a:rPr lang="en-GB" dirty="0" smtClean="0"/>
              <a:t>  T</a:t>
            </a:r>
            <a:r>
              <a:rPr lang="en-GB" dirty="0"/>
              <a:t>=[1 2 3 6 1 2 3 6]</a:t>
            </a:r>
          </a:p>
          <a:p>
            <a:endParaRPr lang="en-GB" dirty="0"/>
          </a:p>
          <a:p>
            <a:endParaRPr lang="en-GB" dirty="0"/>
          </a:p>
        </p:txBody>
      </p:sp>
      <p:cxnSp>
        <p:nvCxnSpPr>
          <p:cNvPr id="11" name="Straight Arrow Connector 10"/>
          <p:cNvCxnSpPr/>
          <p:nvPr/>
        </p:nvCxnSpPr>
        <p:spPr>
          <a:xfrm flipV="1">
            <a:off x="2699792" y="2348882"/>
            <a:ext cx="504056" cy="1584174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24799507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500" fill="hold"/>
                                        <p:tgtEl>
                                          <p:spTgt spid="9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500" fill="hold"/>
                                        <p:tgtEl>
                                          <p:spTgt spid="9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5" dur="500" fill="hold"/>
                                        <p:tgtEl>
                                          <p:spTgt spid="9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6" dur="500" fill="hold"/>
                                        <p:tgtEl>
                                          <p:spTgt spid="9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7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500" fill="hold"/>
                                        <p:tgtEl>
                                          <p:spTgt spid="9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500" fill="hold"/>
                                        <p:tgtEl>
                                          <p:spTgt spid="9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1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3" dur="500" fill="hold"/>
                                        <p:tgtEl>
                                          <p:spTgt spid="9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4" dur="500" fill="hold"/>
                                        <p:tgtEl>
                                          <p:spTgt spid="9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5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7" dur="500" fill="hold"/>
                                        <p:tgtEl>
                                          <p:spTgt spid="9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8" dur="500" fill="hold"/>
                                        <p:tgtEl>
                                          <p:spTgt spid="9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9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1" dur="500" fill="hold"/>
                                        <p:tgtEl>
                                          <p:spTgt spid="9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2" dur="500" fill="hold"/>
                                        <p:tgtEl>
                                          <p:spTgt spid="9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3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5" dur="500" fill="hold"/>
                                        <p:tgtEl>
                                          <p:spTgt spid="9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6" dur="500" fill="hold"/>
                                        <p:tgtEl>
                                          <p:spTgt spid="9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7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9" dur="500" fill="hold"/>
                                        <p:tgtEl>
                                          <p:spTgt spid="9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0" dur="500" fill="hold"/>
                                        <p:tgtEl>
                                          <p:spTgt spid="9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1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3" dur="500" fill="hold"/>
                                        <p:tgtEl>
                                          <p:spTgt spid="9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4" dur="500" fill="hold"/>
                                        <p:tgtEl>
                                          <p:spTgt spid="9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5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7" dur="500" fill="hold"/>
                                        <p:tgtEl>
                                          <p:spTgt spid="9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8" dur="500" fill="hold"/>
                                        <p:tgtEl>
                                          <p:spTgt spid="9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9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1" dur="500" fill="hold"/>
                                        <p:tgtEl>
                                          <p:spTgt spid="9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52" dur="500" fill="hold"/>
                                        <p:tgtEl>
                                          <p:spTgt spid="9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" fill="hold">
                      <p:stCondLst>
                        <p:cond delay="indefinite"/>
                      </p:stCondLst>
                      <p:childTnLst>
                        <p:par>
                          <p:cTn id="54" fill="hold">
                            <p:stCondLst>
                              <p:cond delay="0"/>
                            </p:stCondLst>
                            <p:childTnLst>
                              <p:par>
                                <p:cTn id="55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7" dur="5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58" dur="5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9" fill="hold">
                      <p:stCondLst>
                        <p:cond delay="indefinite"/>
                      </p:stCondLst>
                      <p:childTnLst>
                        <p:par>
                          <p:cTn id="60" fill="hold">
                            <p:stCondLst>
                              <p:cond delay="0"/>
                            </p:stCondLst>
                            <p:childTnLst>
                              <p:par>
                                <p:cTn id="61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63" dur="500" fill="hold"/>
                                        <p:tgtEl>
                                          <p:spTgt spid="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64" dur="500" fill="hold"/>
                                        <p:tgtEl>
                                          <p:spTgt spid="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65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67" dur="500" fill="hold"/>
                                        <p:tgtEl>
                                          <p:spTgt spid="7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68" dur="500" fill="hold"/>
                                        <p:tgtEl>
                                          <p:spTgt spid="7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69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1" dur="500" fill="hold"/>
                                        <p:tgtEl>
                                          <p:spTgt spid="7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72" dur="500" fill="hold"/>
                                        <p:tgtEl>
                                          <p:spTgt spid="7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73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5" dur="500" fill="hold"/>
                                        <p:tgtEl>
                                          <p:spTgt spid="7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76" dur="500" fill="hold"/>
                                        <p:tgtEl>
                                          <p:spTgt spid="7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77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9" dur="500" fill="hold"/>
                                        <p:tgtEl>
                                          <p:spTgt spid="7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0" dur="500" fill="hold"/>
                                        <p:tgtEl>
                                          <p:spTgt spid="7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81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83" dur="500" fill="hold"/>
                                        <p:tgtEl>
                                          <p:spTgt spid="7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4" dur="500" fill="hold"/>
                                        <p:tgtEl>
                                          <p:spTgt spid="7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85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87" dur="500" fill="hold"/>
                                        <p:tgtEl>
                                          <p:spTgt spid="7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8" dur="500" fill="hold"/>
                                        <p:tgtEl>
                                          <p:spTgt spid="7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89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91" dur="500" fill="hold"/>
                                        <p:tgtEl>
                                          <p:spTgt spid="7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92" dur="500" fill="hold"/>
                                        <p:tgtEl>
                                          <p:spTgt spid="7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3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95" dur="500" fill="hold"/>
                                        <p:tgtEl>
                                          <p:spTgt spid="7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96" dur="500" fill="hold"/>
                                        <p:tgtEl>
                                          <p:spTgt spid="7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7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99" dur="500" fill="hold"/>
                                        <p:tgtEl>
                                          <p:spTgt spid="7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00" dur="500" fill="hold"/>
                                        <p:tgtEl>
                                          <p:spTgt spid="7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01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03" dur="500" fill="hold"/>
                                        <p:tgtEl>
                                          <p:spTgt spid="7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04" dur="500" fill="hold"/>
                                        <p:tgtEl>
                                          <p:spTgt spid="7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05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07" dur="500" fill="hold"/>
                                        <p:tgtEl>
                                          <p:spTgt spid="7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08" dur="500" fill="hold"/>
                                        <p:tgtEl>
                                          <p:spTgt spid="7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/>
          <p:cNvSpPr txBox="1"/>
          <p:nvPr/>
        </p:nvSpPr>
        <p:spPr>
          <a:xfrm>
            <a:off x="0" y="0"/>
            <a:ext cx="9144000" cy="369332"/>
          </a:xfrm>
          <a:prstGeom prst="rect">
            <a:avLst/>
          </a:prstGeom>
          <a:solidFill>
            <a:schemeClr val="accent1"/>
          </a:solidFill>
        </p:spPr>
        <p:txBody>
          <a:bodyPr wrap="square" rtlCol="0">
            <a:spAutoFit/>
          </a:bodyPr>
          <a:lstStyle/>
          <a:p>
            <a:endParaRPr lang="en-GB" b="1" dirty="0">
              <a:solidFill>
                <a:schemeClr val="bg1"/>
              </a:solidFill>
            </a:endParaRPr>
          </a:p>
        </p:txBody>
      </p:sp>
      <p:sp>
        <p:nvSpPr>
          <p:cNvPr id="5" name="TextBox 4"/>
          <p:cNvSpPr txBox="1"/>
          <p:nvPr/>
        </p:nvSpPr>
        <p:spPr>
          <a:xfrm>
            <a:off x="251520" y="1077699"/>
            <a:ext cx="8712968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endParaRPr lang="en-GB" dirty="0"/>
          </a:p>
        </p:txBody>
      </p:sp>
      <p:sp>
        <p:nvSpPr>
          <p:cNvPr id="2" name="Slide Number Placeholder 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5F608CE-C03C-4089-8C30-2B4572834CCA}" type="slidenum">
              <a:rPr lang="en-GB" smtClean="0"/>
              <a:t>10</a:t>
            </a:fld>
            <a:endParaRPr lang="en-GB"/>
          </a:p>
        </p:txBody>
      </p:sp>
      <p:sp>
        <p:nvSpPr>
          <p:cNvPr id="3" name="TextBox 2"/>
          <p:cNvSpPr txBox="1"/>
          <p:nvPr/>
        </p:nvSpPr>
        <p:spPr>
          <a:xfrm>
            <a:off x="117848" y="764704"/>
            <a:ext cx="8568952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1600" b="1" dirty="0" smtClean="0"/>
              <a:t>Example:</a:t>
            </a:r>
            <a:endParaRPr lang="en-GB" sz="1600" dirty="0"/>
          </a:p>
        </p:txBody>
      </p:sp>
      <p:sp>
        <p:nvSpPr>
          <p:cNvPr id="6" name="TextBox 5"/>
          <p:cNvSpPr txBox="1"/>
          <p:nvPr/>
        </p:nvSpPr>
        <p:spPr>
          <a:xfrm>
            <a:off x="0" y="0"/>
            <a:ext cx="9144000" cy="646331"/>
          </a:xfrm>
          <a:prstGeom prst="rect">
            <a:avLst/>
          </a:prstGeom>
          <a:solidFill>
            <a:schemeClr val="accent1"/>
          </a:solidFill>
        </p:spPr>
        <p:txBody>
          <a:bodyPr wrap="square" rtlCol="0">
            <a:spAutoFit/>
          </a:bodyPr>
          <a:lstStyle/>
          <a:p>
            <a:pPr algn="ctr"/>
            <a:r>
              <a:rPr lang="en-US" b="1" dirty="0">
                <a:solidFill>
                  <a:srgbClr val="FFFF00"/>
                </a:solidFill>
              </a:rPr>
              <a:t>Symmetric Cryptography</a:t>
            </a:r>
          </a:p>
          <a:p>
            <a:pPr algn="ctr"/>
            <a:r>
              <a:rPr lang="en-US" b="1" dirty="0">
                <a:solidFill>
                  <a:srgbClr val="FFFF00"/>
                </a:solidFill>
              </a:rPr>
              <a:t>RC4</a:t>
            </a:r>
            <a:r>
              <a:rPr lang="en-US" b="1" dirty="0">
                <a:solidFill>
                  <a:schemeClr val="bg1"/>
                </a:solidFill>
              </a:rPr>
              <a:t> </a:t>
            </a:r>
            <a:r>
              <a:rPr lang="en-US" b="1" dirty="0">
                <a:solidFill>
                  <a:srgbClr val="FFFF00"/>
                </a:solidFill>
              </a:rPr>
              <a:t>Stream Cipher </a:t>
            </a:r>
            <a:endParaRPr lang="en-GB" b="1" dirty="0">
              <a:solidFill>
                <a:schemeClr val="bg1"/>
              </a:solidFill>
            </a:endParaRPr>
          </a:p>
        </p:txBody>
      </p:sp>
      <p:sp>
        <p:nvSpPr>
          <p:cNvPr id="7" name="Rectangle 6"/>
          <p:cNvSpPr/>
          <p:nvPr/>
        </p:nvSpPr>
        <p:spPr>
          <a:xfrm>
            <a:off x="2910166" y="2039062"/>
            <a:ext cx="2736304" cy="3693319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GB" dirty="0"/>
              <a:t> S=[2 </a:t>
            </a:r>
            <a:r>
              <a:rPr lang="en-GB" dirty="0" smtClean="0"/>
              <a:t>4 </a:t>
            </a:r>
            <a:r>
              <a:rPr lang="en-GB" dirty="0"/>
              <a:t>7 </a:t>
            </a:r>
            <a:r>
              <a:rPr lang="en-GB" dirty="0" smtClean="0"/>
              <a:t>3 </a:t>
            </a:r>
            <a:r>
              <a:rPr lang="en-GB" dirty="0"/>
              <a:t>6 0 1 5]</a:t>
            </a:r>
          </a:p>
          <a:p>
            <a:r>
              <a:rPr lang="en-GB" dirty="0" err="1"/>
              <a:t>i</a:t>
            </a:r>
            <a:r>
              <a:rPr lang="en-GB" dirty="0"/>
              <a:t> = </a:t>
            </a:r>
            <a:r>
              <a:rPr lang="en-GB" dirty="0" smtClean="0"/>
              <a:t>1 </a:t>
            </a:r>
            <a:r>
              <a:rPr lang="en-GB" dirty="0"/>
              <a:t>; j = 3</a:t>
            </a:r>
          </a:p>
          <a:p>
            <a:r>
              <a:rPr lang="en-GB" dirty="0"/>
              <a:t> </a:t>
            </a:r>
          </a:p>
          <a:p>
            <a:r>
              <a:rPr lang="en-GB" dirty="0"/>
              <a:t> </a:t>
            </a:r>
            <a:r>
              <a:rPr lang="en-GB" dirty="0" err="1"/>
              <a:t>i</a:t>
            </a:r>
            <a:r>
              <a:rPr lang="en-GB" dirty="0" smtClean="0"/>
              <a:t>=(1 </a:t>
            </a:r>
            <a:r>
              <a:rPr lang="en-GB" dirty="0"/>
              <a:t>+ 1) mod 8 </a:t>
            </a:r>
            <a:r>
              <a:rPr lang="en-GB" dirty="0" smtClean="0"/>
              <a:t>=</a:t>
            </a:r>
            <a:r>
              <a:rPr lang="en-GB" b="1" dirty="0"/>
              <a:t>2</a:t>
            </a:r>
          </a:p>
          <a:p>
            <a:r>
              <a:rPr lang="en-GB" dirty="0"/>
              <a:t>j = </a:t>
            </a:r>
            <a:r>
              <a:rPr lang="en-GB" dirty="0" smtClean="0"/>
              <a:t>(3 </a:t>
            </a:r>
            <a:r>
              <a:rPr lang="en-GB" dirty="0"/>
              <a:t>+ </a:t>
            </a:r>
            <a:r>
              <a:rPr lang="en-GB" dirty="0" smtClean="0"/>
              <a:t>S[</a:t>
            </a:r>
            <a:r>
              <a:rPr lang="en-GB" b="1" dirty="0" smtClean="0"/>
              <a:t>2</a:t>
            </a:r>
            <a:r>
              <a:rPr lang="en-GB" dirty="0" smtClean="0"/>
              <a:t> </a:t>
            </a:r>
            <a:r>
              <a:rPr lang="en-GB" dirty="0"/>
              <a:t>] ) mod 8</a:t>
            </a:r>
          </a:p>
          <a:p>
            <a:r>
              <a:rPr lang="en-GB" dirty="0"/>
              <a:t>j = </a:t>
            </a:r>
            <a:r>
              <a:rPr lang="en-GB" dirty="0" smtClean="0"/>
              <a:t>(3 </a:t>
            </a:r>
            <a:r>
              <a:rPr lang="en-GB" dirty="0"/>
              <a:t>+ </a:t>
            </a:r>
            <a:r>
              <a:rPr lang="en-GB" dirty="0" smtClean="0"/>
              <a:t>7 </a:t>
            </a:r>
            <a:r>
              <a:rPr lang="en-GB" dirty="0"/>
              <a:t>) mod 8 </a:t>
            </a:r>
            <a:r>
              <a:rPr lang="en-GB" dirty="0" smtClean="0"/>
              <a:t>=</a:t>
            </a:r>
            <a:r>
              <a:rPr lang="en-GB" b="1" dirty="0" smtClean="0"/>
              <a:t>2</a:t>
            </a:r>
            <a:endParaRPr lang="en-GB" b="1" dirty="0"/>
          </a:p>
          <a:p>
            <a:r>
              <a:rPr lang="en-GB" dirty="0"/>
              <a:t> </a:t>
            </a:r>
            <a:r>
              <a:rPr lang="en-GB" dirty="0" smtClean="0"/>
              <a:t>Swap(S[2], S[2] </a:t>
            </a:r>
            <a:r>
              <a:rPr lang="en-GB" dirty="0"/>
              <a:t>)</a:t>
            </a:r>
          </a:p>
          <a:p>
            <a:r>
              <a:rPr lang="en-GB" dirty="0"/>
              <a:t> S</a:t>
            </a:r>
            <a:r>
              <a:rPr lang="en-GB" dirty="0" smtClean="0"/>
              <a:t>=[</a:t>
            </a:r>
            <a:r>
              <a:rPr lang="en-GB" dirty="0"/>
              <a:t>2 4 7 3 6 0 1 5</a:t>
            </a:r>
            <a:r>
              <a:rPr lang="en-GB" dirty="0" smtClean="0"/>
              <a:t>]</a:t>
            </a:r>
            <a:endParaRPr lang="en-GB" dirty="0"/>
          </a:p>
          <a:p>
            <a:r>
              <a:rPr lang="en-US" dirty="0"/>
              <a:t>t = (</a:t>
            </a:r>
            <a:r>
              <a:rPr lang="en-US" b="1" dirty="0" smtClean="0"/>
              <a:t>S</a:t>
            </a:r>
            <a:r>
              <a:rPr lang="en-US" dirty="0" smtClean="0"/>
              <a:t>[2] </a:t>
            </a:r>
            <a:r>
              <a:rPr lang="en-US" dirty="0"/>
              <a:t>+ </a:t>
            </a:r>
            <a:r>
              <a:rPr lang="en-US" b="1" dirty="0" smtClean="0"/>
              <a:t>S</a:t>
            </a:r>
            <a:r>
              <a:rPr lang="en-US" dirty="0" smtClean="0"/>
              <a:t>[2]) </a:t>
            </a:r>
            <a:r>
              <a:rPr lang="en-US" dirty="0"/>
              <a:t>mod 8;</a:t>
            </a:r>
            <a:endParaRPr lang="en-GB" dirty="0"/>
          </a:p>
          <a:p>
            <a:r>
              <a:rPr lang="en-GB" dirty="0"/>
              <a:t>t = </a:t>
            </a:r>
            <a:r>
              <a:rPr lang="en-GB" dirty="0" smtClean="0"/>
              <a:t>(7+7) </a:t>
            </a:r>
            <a:r>
              <a:rPr lang="en-GB" dirty="0"/>
              <a:t>mod 8 </a:t>
            </a:r>
            <a:r>
              <a:rPr lang="en-GB" dirty="0" smtClean="0"/>
              <a:t>=6 </a:t>
            </a:r>
            <a:endParaRPr lang="en-GB" dirty="0"/>
          </a:p>
          <a:p>
            <a:r>
              <a:rPr lang="en-US" b="1" dirty="0"/>
              <a:t>K </a:t>
            </a:r>
            <a:r>
              <a:rPr lang="en-US" dirty="0"/>
              <a:t>= </a:t>
            </a:r>
            <a:r>
              <a:rPr lang="en-US" b="1" dirty="0"/>
              <a:t>S</a:t>
            </a:r>
            <a:r>
              <a:rPr lang="en-US" dirty="0"/>
              <a:t>[t];</a:t>
            </a:r>
          </a:p>
          <a:p>
            <a:r>
              <a:rPr lang="en-US" b="1" dirty="0" smtClean="0">
                <a:solidFill>
                  <a:srgbClr val="FF0000"/>
                </a:solidFill>
              </a:rPr>
              <a:t>K=</a:t>
            </a:r>
            <a:r>
              <a:rPr lang="en-US" b="1" dirty="0" smtClean="0"/>
              <a:t>S[6] </a:t>
            </a:r>
            <a:r>
              <a:rPr lang="en-US" b="1" dirty="0" smtClean="0">
                <a:solidFill>
                  <a:srgbClr val="FF0000"/>
                </a:solidFill>
              </a:rPr>
              <a:t>=1</a:t>
            </a:r>
            <a:endParaRPr lang="en-GB" b="1" dirty="0">
              <a:solidFill>
                <a:srgbClr val="FF0000"/>
              </a:solidFill>
            </a:endParaRPr>
          </a:p>
          <a:p>
            <a:endParaRPr lang="en-GB" dirty="0"/>
          </a:p>
        </p:txBody>
      </p:sp>
      <p:sp>
        <p:nvSpPr>
          <p:cNvPr id="8" name="Rectangle 7"/>
          <p:cNvSpPr/>
          <p:nvPr/>
        </p:nvSpPr>
        <p:spPr>
          <a:xfrm>
            <a:off x="5646470" y="837431"/>
            <a:ext cx="3024336" cy="203132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dirty="0" err="1"/>
              <a:t>i</a:t>
            </a:r>
            <a:r>
              <a:rPr lang="en-US" dirty="0"/>
              <a:t>, j = 0;</a:t>
            </a:r>
            <a:endParaRPr lang="en-GB" dirty="0"/>
          </a:p>
          <a:p>
            <a:r>
              <a:rPr lang="en-US" dirty="0"/>
              <a:t>while (true)</a:t>
            </a:r>
            <a:endParaRPr lang="en-GB" dirty="0"/>
          </a:p>
          <a:p>
            <a:r>
              <a:rPr lang="en-US" dirty="0"/>
              <a:t>     </a:t>
            </a:r>
            <a:r>
              <a:rPr lang="en-US" dirty="0" err="1"/>
              <a:t>i</a:t>
            </a:r>
            <a:r>
              <a:rPr lang="en-US" dirty="0"/>
              <a:t> = (</a:t>
            </a:r>
            <a:r>
              <a:rPr lang="en-US" dirty="0" err="1"/>
              <a:t>i</a:t>
            </a:r>
            <a:r>
              <a:rPr lang="en-US" dirty="0"/>
              <a:t> + 1) mod </a:t>
            </a:r>
            <a:r>
              <a:rPr lang="en-US" dirty="0" smtClean="0"/>
              <a:t>8;</a:t>
            </a:r>
            <a:endParaRPr lang="en-GB" dirty="0"/>
          </a:p>
          <a:p>
            <a:r>
              <a:rPr lang="en-US" dirty="0"/>
              <a:t>     j = (j + </a:t>
            </a:r>
            <a:r>
              <a:rPr lang="en-US" b="1" dirty="0"/>
              <a:t>S</a:t>
            </a:r>
            <a:r>
              <a:rPr lang="en-US" dirty="0"/>
              <a:t>[</a:t>
            </a:r>
            <a:r>
              <a:rPr lang="en-US" dirty="0" err="1"/>
              <a:t>i</a:t>
            </a:r>
            <a:r>
              <a:rPr lang="en-US" dirty="0"/>
              <a:t>]) mod </a:t>
            </a:r>
            <a:r>
              <a:rPr lang="en-US" dirty="0" smtClean="0"/>
              <a:t>8;</a:t>
            </a:r>
            <a:endParaRPr lang="en-GB" dirty="0"/>
          </a:p>
          <a:p>
            <a:r>
              <a:rPr lang="en-US" dirty="0"/>
              <a:t>     Swap (</a:t>
            </a:r>
            <a:r>
              <a:rPr lang="en-US" b="1" dirty="0"/>
              <a:t>S</a:t>
            </a:r>
            <a:r>
              <a:rPr lang="en-US" dirty="0"/>
              <a:t>[</a:t>
            </a:r>
            <a:r>
              <a:rPr lang="en-US" dirty="0" err="1"/>
              <a:t>i</a:t>
            </a:r>
            <a:r>
              <a:rPr lang="en-US" dirty="0"/>
              <a:t>], </a:t>
            </a:r>
            <a:r>
              <a:rPr lang="en-US" b="1" dirty="0"/>
              <a:t>S</a:t>
            </a:r>
            <a:r>
              <a:rPr lang="en-US" dirty="0"/>
              <a:t>[j]);</a:t>
            </a:r>
            <a:endParaRPr lang="en-GB" dirty="0"/>
          </a:p>
          <a:p>
            <a:r>
              <a:rPr lang="en-US" dirty="0"/>
              <a:t>     t = (</a:t>
            </a:r>
            <a:r>
              <a:rPr lang="en-US" b="1" dirty="0"/>
              <a:t>S</a:t>
            </a:r>
            <a:r>
              <a:rPr lang="en-US" dirty="0"/>
              <a:t>[</a:t>
            </a:r>
            <a:r>
              <a:rPr lang="en-US" dirty="0" err="1"/>
              <a:t>i</a:t>
            </a:r>
            <a:r>
              <a:rPr lang="en-US" dirty="0"/>
              <a:t>] + </a:t>
            </a:r>
            <a:r>
              <a:rPr lang="en-US" b="1" dirty="0"/>
              <a:t>S</a:t>
            </a:r>
            <a:r>
              <a:rPr lang="en-US" dirty="0"/>
              <a:t>[j]) mod </a:t>
            </a:r>
            <a:r>
              <a:rPr lang="en-US" dirty="0" smtClean="0"/>
              <a:t>8;</a:t>
            </a:r>
            <a:endParaRPr lang="en-GB" dirty="0"/>
          </a:p>
          <a:p>
            <a:r>
              <a:rPr lang="en-US" dirty="0"/>
              <a:t>     </a:t>
            </a:r>
            <a:r>
              <a:rPr lang="en-US" b="1" dirty="0"/>
              <a:t>K </a:t>
            </a:r>
            <a:r>
              <a:rPr lang="en-US" dirty="0"/>
              <a:t>= </a:t>
            </a:r>
            <a:r>
              <a:rPr lang="en-US" b="1" dirty="0"/>
              <a:t>S</a:t>
            </a:r>
            <a:r>
              <a:rPr lang="en-US" dirty="0"/>
              <a:t>[t];  //K is </a:t>
            </a:r>
            <a:r>
              <a:rPr lang="en-US" dirty="0" smtClean="0"/>
              <a:t>the</a:t>
            </a:r>
            <a:endParaRPr lang="en-GB" dirty="0"/>
          </a:p>
        </p:txBody>
      </p:sp>
      <p:sp>
        <p:nvSpPr>
          <p:cNvPr id="9" name="Rectangle 8"/>
          <p:cNvSpPr/>
          <p:nvPr/>
        </p:nvSpPr>
        <p:spPr>
          <a:xfrm>
            <a:off x="403921" y="1900563"/>
            <a:ext cx="3024336" cy="3693319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GB" dirty="0"/>
              <a:t> S</a:t>
            </a:r>
            <a:r>
              <a:rPr lang="en-GB" dirty="0" smtClean="0"/>
              <a:t>=[</a:t>
            </a:r>
            <a:r>
              <a:rPr lang="en-GB" dirty="0"/>
              <a:t>2 3 7 </a:t>
            </a:r>
            <a:r>
              <a:rPr lang="en-GB" dirty="0" smtClean="0"/>
              <a:t>4 6 </a:t>
            </a:r>
            <a:r>
              <a:rPr lang="en-GB" dirty="0"/>
              <a:t>0 1 5</a:t>
            </a:r>
            <a:r>
              <a:rPr lang="en-GB" dirty="0" smtClean="0"/>
              <a:t>]</a:t>
            </a:r>
            <a:endParaRPr lang="en-GB" dirty="0"/>
          </a:p>
          <a:p>
            <a:r>
              <a:rPr lang="en-GB" dirty="0" err="1" smtClean="0"/>
              <a:t>i</a:t>
            </a:r>
            <a:r>
              <a:rPr lang="en-GB" dirty="0" smtClean="0"/>
              <a:t> = 0 ; j = 0</a:t>
            </a:r>
          </a:p>
          <a:p>
            <a:r>
              <a:rPr lang="en-GB" dirty="0" smtClean="0"/>
              <a:t> </a:t>
            </a:r>
          </a:p>
          <a:p>
            <a:r>
              <a:rPr lang="en-GB" dirty="0"/>
              <a:t> </a:t>
            </a:r>
            <a:r>
              <a:rPr lang="en-GB" dirty="0" err="1" smtClean="0"/>
              <a:t>i</a:t>
            </a:r>
            <a:r>
              <a:rPr lang="en-GB" dirty="0" smtClean="0"/>
              <a:t>=(0 + 1) mod 8 =</a:t>
            </a:r>
            <a:r>
              <a:rPr lang="en-GB" b="1" dirty="0" smtClean="0"/>
              <a:t>1</a:t>
            </a:r>
          </a:p>
          <a:p>
            <a:r>
              <a:rPr lang="en-GB" dirty="0"/>
              <a:t>j</a:t>
            </a:r>
            <a:r>
              <a:rPr lang="en-GB" dirty="0" smtClean="0"/>
              <a:t> = (0 + S[</a:t>
            </a:r>
            <a:r>
              <a:rPr lang="en-GB" b="1" dirty="0" smtClean="0"/>
              <a:t>1</a:t>
            </a:r>
            <a:r>
              <a:rPr lang="en-GB" dirty="0" smtClean="0"/>
              <a:t> ] ) mod 8</a:t>
            </a:r>
          </a:p>
          <a:p>
            <a:r>
              <a:rPr lang="en-GB" dirty="0"/>
              <a:t>j = (0 + 3</a:t>
            </a:r>
            <a:r>
              <a:rPr lang="en-GB" dirty="0" smtClean="0"/>
              <a:t> </a:t>
            </a:r>
            <a:r>
              <a:rPr lang="en-GB" dirty="0"/>
              <a:t>) mod </a:t>
            </a:r>
            <a:r>
              <a:rPr lang="en-GB" dirty="0" smtClean="0"/>
              <a:t>8 =</a:t>
            </a:r>
            <a:r>
              <a:rPr lang="en-GB" b="1" dirty="0" smtClean="0"/>
              <a:t>3</a:t>
            </a:r>
            <a:endParaRPr lang="en-GB" b="1" dirty="0"/>
          </a:p>
          <a:p>
            <a:r>
              <a:rPr lang="en-GB" dirty="0" smtClean="0"/>
              <a:t> Swap(S[1], S[3] )</a:t>
            </a:r>
          </a:p>
          <a:p>
            <a:r>
              <a:rPr lang="en-GB" dirty="0"/>
              <a:t> S</a:t>
            </a:r>
            <a:r>
              <a:rPr lang="en-GB" dirty="0" smtClean="0"/>
              <a:t>=[</a:t>
            </a:r>
            <a:r>
              <a:rPr lang="en-GB" dirty="0"/>
              <a:t>2 </a:t>
            </a:r>
            <a:r>
              <a:rPr lang="en-GB" b="1" dirty="0" smtClean="0">
                <a:solidFill>
                  <a:srgbClr val="FF0000"/>
                </a:solidFill>
              </a:rPr>
              <a:t>4</a:t>
            </a:r>
            <a:r>
              <a:rPr lang="en-GB" dirty="0" smtClean="0"/>
              <a:t> </a:t>
            </a:r>
            <a:r>
              <a:rPr lang="en-GB" dirty="0"/>
              <a:t>7 </a:t>
            </a:r>
            <a:r>
              <a:rPr lang="en-GB" b="1" dirty="0" smtClean="0">
                <a:solidFill>
                  <a:srgbClr val="FF0000"/>
                </a:solidFill>
              </a:rPr>
              <a:t>3</a:t>
            </a:r>
            <a:r>
              <a:rPr lang="en-GB" dirty="0" smtClean="0"/>
              <a:t> 6 </a:t>
            </a:r>
            <a:r>
              <a:rPr lang="en-GB" dirty="0"/>
              <a:t>0 1 5</a:t>
            </a:r>
            <a:r>
              <a:rPr lang="en-GB" dirty="0" smtClean="0"/>
              <a:t>]</a:t>
            </a:r>
            <a:endParaRPr lang="en-GB" dirty="0"/>
          </a:p>
          <a:p>
            <a:r>
              <a:rPr lang="en-US" dirty="0"/>
              <a:t>t = (</a:t>
            </a:r>
            <a:r>
              <a:rPr lang="en-US" b="1" dirty="0" smtClean="0"/>
              <a:t>S</a:t>
            </a:r>
            <a:r>
              <a:rPr lang="en-US" dirty="0" smtClean="0"/>
              <a:t>[1] </a:t>
            </a:r>
            <a:r>
              <a:rPr lang="en-US" dirty="0"/>
              <a:t>+ </a:t>
            </a:r>
            <a:r>
              <a:rPr lang="en-US" b="1" dirty="0" smtClean="0"/>
              <a:t>S</a:t>
            </a:r>
            <a:r>
              <a:rPr lang="en-US" dirty="0" smtClean="0"/>
              <a:t>[3]) </a:t>
            </a:r>
            <a:r>
              <a:rPr lang="en-US" dirty="0"/>
              <a:t>mod 8;</a:t>
            </a:r>
            <a:endParaRPr lang="en-GB" dirty="0"/>
          </a:p>
          <a:p>
            <a:r>
              <a:rPr lang="en-GB" dirty="0" smtClean="0"/>
              <a:t>t = (4+3) mod 8 =7 </a:t>
            </a:r>
          </a:p>
          <a:p>
            <a:r>
              <a:rPr lang="en-US" b="1" dirty="0" smtClean="0"/>
              <a:t>K </a:t>
            </a:r>
            <a:r>
              <a:rPr lang="en-US" dirty="0"/>
              <a:t>= </a:t>
            </a:r>
            <a:r>
              <a:rPr lang="en-US" b="1" dirty="0"/>
              <a:t>S</a:t>
            </a:r>
            <a:r>
              <a:rPr lang="en-US" dirty="0"/>
              <a:t>[t</a:t>
            </a:r>
            <a:r>
              <a:rPr lang="en-US" dirty="0" smtClean="0"/>
              <a:t>];</a:t>
            </a:r>
          </a:p>
          <a:p>
            <a:r>
              <a:rPr lang="en-US" b="1" dirty="0" smtClean="0">
                <a:solidFill>
                  <a:srgbClr val="FF0000"/>
                </a:solidFill>
              </a:rPr>
              <a:t>K=</a:t>
            </a:r>
            <a:r>
              <a:rPr lang="en-US" b="1" dirty="0" smtClean="0"/>
              <a:t>S[7] </a:t>
            </a:r>
            <a:r>
              <a:rPr lang="en-US" b="1" dirty="0" smtClean="0">
                <a:solidFill>
                  <a:srgbClr val="FF0000"/>
                </a:solidFill>
              </a:rPr>
              <a:t>=5</a:t>
            </a:r>
            <a:endParaRPr lang="en-GB" b="1" dirty="0">
              <a:solidFill>
                <a:srgbClr val="FF0000"/>
              </a:solidFill>
            </a:endParaRPr>
          </a:p>
          <a:p>
            <a:endParaRPr lang="en-GB" dirty="0" smtClean="0"/>
          </a:p>
        </p:txBody>
      </p:sp>
      <p:sp>
        <p:nvSpPr>
          <p:cNvPr id="12" name="Rectangle 11"/>
          <p:cNvSpPr/>
          <p:nvPr/>
        </p:nvSpPr>
        <p:spPr>
          <a:xfrm>
            <a:off x="5662593" y="2940030"/>
            <a:ext cx="3397130" cy="341632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GB" dirty="0"/>
              <a:t> S</a:t>
            </a:r>
            <a:r>
              <a:rPr lang="en-GB" dirty="0" smtClean="0"/>
              <a:t>=[</a:t>
            </a:r>
            <a:r>
              <a:rPr lang="en-GB" dirty="0"/>
              <a:t>2 4 7 3 6 0 1 5</a:t>
            </a:r>
            <a:r>
              <a:rPr lang="en-GB" dirty="0" smtClean="0"/>
              <a:t>]</a:t>
            </a:r>
            <a:endParaRPr lang="en-GB" dirty="0"/>
          </a:p>
          <a:p>
            <a:r>
              <a:rPr lang="en-GB" dirty="0" err="1"/>
              <a:t>i</a:t>
            </a:r>
            <a:r>
              <a:rPr lang="en-GB" dirty="0"/>
              <a:t> = </a:t>
            </a:r>
            <a:r>
              <a:rPr lang="en-GB" dirty="0" smtClean="0"/>
              <a:t>2 </a:t>
            </a:r>
            <a:r>
              <a:rPr lang="en-GB" dirty="0"/>
              <a:t>; j = </a:t>
            </a:r>
            <a:r>
              <a:rPr lang="en-GB" dirty="0" smtClean="0"/>
              <a:t>2</a:t>
            </a:r>
            <a:endParaRPr lang="en-GB" dirty="0"/>
          </a:p>
          <a:p>
            <a:r>
              <a:rPr lang="en-GB" dirty="0"/>
              <a:t> </a:t>
            </a:r>
          </a:p>
          <a:p>
            <a:r>
              <a:rPr lang="en-GB" dirty="0"/>
              <a:t> </a:t>
            </a:r>
            <a:r>
              <a:rPr lang="en-GB" dirty="0" err="1"/>
              <a:t>i</a:t>
            </a:r>
            <a:r>
              <a:rPr lang="en-GB" dirty="0" smtClean="0"/>
              <a:t>=(2 </a:t>
            </a:r>
            <a:r>
              <a:rPr lang="en-GB" dirty="0"/>
              <a:t>+ 1) mod 8 </a:t>
            </a:r>
            <a:r>
              <a:rPr lang="en-GB" dirty="0" smtClean="0"/>
              <a:t>=</a:t>
            </a:r>
            <a:r>
              <a:rPr lang="en-GB" b="1" dirty="0" smtClean="0"/>
              <a:t>3</a:t>
            </a:r>
            <a:endParaRPr lang="en-GB" b="1" dirty="0"/>
          </a:p>
          <a:p>
            <a:r>
              <a:rPr lang="en-GB" dirty="0"/>
              <a:t>j = </a:t>
            </a:r>
            <a:r>
              <a:rPr lang="en-GB" dirty="0" smtClean="0"/>
              <a:t>(2 </a:t>
            </a:r>
            <a:r>
              <a:rPr lang="en-GB" dirty="0"/>
              <a:t>+ </a:t>
            </a:r>
            <a:r>
              <a:rPr lang="en-GB" dirty="0" smtClean="0"/>
              <a:t>S[</a:t>
            </a:r>
            <a:r>
              <a:rPr lang="en-GB" b="1" dirty="0" smtClean="0"/>
              <a:t>3</a:t>
            </a:r>
            <a:r>
              <a:rPr lang="en-GB" dirty="0" smtClean="0"/>
              <a:t> </a:t>
            </a:r>
            <a:r>
              <a:rPr lang="en-GB" dirty="0"/>
              <a:t>] ) mod 8</a:t>
            </a:r>
          </a:p>
          <a:p>
            <a:r>
              <a:rPr lang="en-GB" dirty="0"/>
              <a:t>j = </a:t>
            </a:r>
            <a:r>
              <a:rPr lang="en-GB" dirty="0" smtClean="0"/>
              <a:t>(2 </a:t>
            </a:r>
            <a:r>
              <a:rPr lang="en-GB" dirty="0"/>
              <a:t>+ </a:t>
            </a:r>
            <a:r>
              <a:rPr lang="en-GB" dirty="0" smtClean="0"/>
              <a:t>3 </a:t>
            </a:r>
            <a:r>
              <a:rPr lang="en-GB" dirty="0"/>
              <a:t>) mod 8 </a:t>
            </a:r>
            <a:r>
              <a:rPr lang="en-GB" dirty="0" smtClean="0"/>
              <a:t>=</a:t>
            </a:r>
            <a:r>
              <a:rPr lang="en-GB" b="1" dirty="0"/>
              <a:t>5</a:t>
            </a:r>
          </a:p>
          <a:p>
            <a:r>
              <a:rPr lang="en-GB" dirty="0"/>
              <a:t> </a:t>
            </a:r>
            <a:r>
              <a:rPr lang="en-GB" dirty="0" smtClean="0"/>
              <a:t>Swap(S[3], S[5] </a:t>
            </a:r>
            <a:r>
              <a:rPr lang="en-GB" dirty="0"/>
              <a:t>)</a:t>
            </a:r>
          </a:p>
          <a:p>
            <a:r>
              <a:rPr lang="en-GB" dirty="0"/>
              <a:t> S</a:t>
            </a:r>
            <a:r>
              <a:rPr lang="en-GB" dirty="0" smtClean="0"/>
              <a:t>=[</a:t>
            </a:r>
            <a:r>
              <a:rPr lang="en-GB" dirty="0"/>
              <a:t>2 4 7 </a:t>
            </a:r>
            <a:r>
              <a:rPr lang="en-GB" b="1" dirty="0" smtClean="0"/>
              <a:t>0</a:t>
            </a:r>
            <a:r>
              <a:rPr lang="en-GB" dirty="0" smtClean="0"/>
              <a:t> </a:t>
            </a:r>
            <a:r>
              <a:rPr lang="en-GB" dirty="0"/>
              <a:t>6 </a:t>
            </a:r>
            <a:r>
              <a:rPr lang="en-GB" b="1" dirty="0" smtClean="0"/>
              <a:t>3</a:t>
            </a:r>
            <a:r>
              <a:rPr lang="en-GB" dirty="0" smtClean="0"/>
              <a:t> </a:t>
            </a:r>
            <a:r>
              <a:rPr lang="en-GB" dirty="0"/>
              <a:t>1 5</a:t>
            </a:r>
            <a:r>
              <a:rPr lang="en-GB" dirty="0" smtClean="0"/>
              <a:t>]</a:t>
            </a:r>
            <a:endParaRPr lang="en-GB" dirty="0"/>
          </a:p>
          <a:p>
            <a:r>
              <a:rPr lang="en-US" dirty="0"/>
              <a:t>t = (</a:t>
            </a:r>
            <a:r>
              <a:rPr lang="en-US" b="1" dirty="0" smtClean="0"/>
              <a:t>S</a:t>
            </a:r>
            <a:r>
              <a:rPr lang="en-US" dirty="0" smtClean="0"/>
              <a:t>[3] </a:t>
            </a:r>
            <a:r>
              <a:rPr lang="en-US" dirty="0"/>
              <a:t>+ </a:t>
            </a:r>
            <a:r>
              <a:rPr lang="en-US" b="1" dirty="0" smtClean="0"/>
              <a:t>S</a:t>
            </a:r>
            <a:r>
              <a:rPr lang="en-US" dirty="0" smtClean="0"/>
              <a:t>[5]) </a:t>
            </a:r>
            <a:r>
              <a:rPr lang="en-US" dirty="0"/>
              <a:t>mod 8;</a:t>
            </a:r>
            <a:endParaRPr lang="en-GB" dirty="0"/>
          </a:p>
          <a:p>
            <a:r>
              <a:rPr lang="en-GB" dirty="0"/>
              <a:t>t = </a:t>
            </a:r>
            <a:r>
              <a:rPr lang="en-GB" dirty="0" smtClean="0"/>
              <a:t>(0+3) </a:t>
            </a:r>
            <a:r>
              <a:rPr lang="en-GB" dirty="0"/>
              <a:t>mod 8 </a:t>
            </a:r>
            <a:r>
              <a:rPr lang="en-GB" dirty="0" smtClean="0"/>
              <a:t>=3 </a:t>
            </a:r>
            <a:endParaRPr lang="en-GB" dirty="0"/>
          </a:p>
          <a:p>
            <a:r>
              <a:rPr lang="en-US" b="1" dirty="0"/>
              <a:t>K </a:t>
            </a:r>
            <a:r>
              <a:rPr lang="en-US" dirty="0"/>
              <a:t>= </a:t>
            </a:r>
            <a:r>
              <a:rPr lang="en-US" b="1" dirty="0"/>
              <a:t>S</a:t>
            </a:r>
            <a:r>
              <a:rPr lang="en-US" dirty="0"/>
              <a:t>[t];</a:t>
            </a:r>
          </a:p>
          <a:p>
            <a:r>
              <a:rPr lang="en-US" b="1" dirty="0" smtClean="0">
                <a:solidFill>
                  <a:srgbClr val="FF0000"/>
                </a:solidFill>
              </a:rPr>
              <a:t>K=</a:t>
            </a:r>
            <a:r>
              <a:rPr lang="en-US" b="1" dirty="0" smtClean="0"/>
              <a:t>S[3] </a:t>
            </a:r>
            <a:r>
              <a:rPr lang="en-US" b="1" dirty="0" smtClean="0">
                <a:solidFill>
                  <a:srgbClr val="FF0000"/>
                </a:solidFill>
              </a:rPr>
              <a:t>=0</a:t>
            </a:r>
            <a:endParaRPr lang="en-GB" b="1" dirty="0">
              <a:solidFill>
                <a:srgbClr val="FF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68707869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500" fill="hold"/>
                                        <p:tgtEl>
                                          <p:spTgt spid="9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500" fill="hold"/>
                                        <p:tgtEl>
                                          <p:spTgt spid="9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5" dur="500" fill="hold"/>
                                        <p:tgtEl>
                                          <p:spTgt spid="9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6" dur="500" fill="hold"/>
                                        <p:tgtEl>
                                          <p:spTgt spid="9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7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500" fill="hold"/>
                                        <p:tgtEl>
                                          <p:spTgt spid="9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500" fill="hold"/>
                                        <p:tgtEl>
                                          <p:spTgt spid="9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1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3" dur="500" fill="hold"/>
                                        <p:tgtEl>
                                          <p:spTgt spid="9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4" dur="500" fill="hold"/>
                                        <p:tgtEl>
                                          <p:spTgt spid="9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5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7" dur="500" fill="hold"/>
                                        <p:tgtEl>
                                          <p:spTgt spid="9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8" dur="500" fill="hold"/>
                                        <p:tgtEl>
                                          <p:spTgt spid="9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9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1" dur="500" fill="hold"/>
                                        <p:tgtEl>
                                          <p:spTgt spid="9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2" dur="500" fill="hold"/>
                                        <p:tgtEl>
                                          <p:spTgt spid="9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3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5" dur="500" fill="hold"/>
                                        <p:tgtEl>
                                          <p:spTgt spid="9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6" dur="500" fill="hold"/>
                                        <p:tgtEl>
                                          <p:spTgt spid="9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7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9" dur="500" fill="hold"/>
                                        <p:tgtEl>
                                          <p:spTgt spid="9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0" dur="500" fill="hold"/>
                                        <p:tgtEl>
                                          <p:spTgt spid="9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1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3" dur="500" fill="hold"/>
                                        <p:tgtEl>
                                          <p:spTgt spid="9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4" dur="500" fill="hold"/>
                                        <p:tgtEl>
                                          <p:spTgt spid="9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5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7" dur="500" fill="hold"/>
                                        <p:tgtEl>
                                          <p:spTgt spid="9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8" dur="500" fill="hold"/>
                                        <p:tgtEl>
                                          <p:spTgt spid="9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9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1" dur="500" fill="hold"/>
                                        <p:tgtEl>
                                          <p:spTgt spid="9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52" dur="500" fill="hold"/>
                                        <p:tgtEl>
                                          <p:spTgt spid="9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" fill="hold">
                      <p:stCondLst>
                        <p:cond delay="indefinite"/>
                      </p:stCondLst>
                      <p:childTnLst>
                        <p:par>
                          <p:cTn id="54" fill="hold">
                            <p:stCondLst>
                              <p:cond delay="0"/>
                            </p:stCondLst>
                            <p:childTnLst>
                              <p:par>
                                <p:cTn id="55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7" dur="500" fill="hold"/>
                                        <p:tgtEl>
                                          <p:spTgt spid="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58" dur="500" fill="hold"/>
                                        <p:tgtEl>
                                          <p:spTgt spid="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59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61" dur="500" fill="hold"/>
                                        <p:tgtEl>
                                          <p:spTgt spid="7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62" dur="500" fill="hold"/>
                                        <p:tgtEl>
                                          <p:spTgt spid="7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63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65" dur="500" fill="hold"/>
                                        <p:tgtEl>
                                          <p:spTgt spid="7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66" dur="500" fill="hold"/>
                                        <p:tgtEl>
                                          <p:spTgt spid="7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67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69" dur="500" fill="hold"/>
                                        <p:tgtEl>
                                          <p:spTgt spid="7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70" dur="500" fill="hold"/>
                                        <p:tgtEl>
                                          <p:spTgt spid="7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71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3" dur="500" fill="hold"/>
                                        <p:tgtEl>
                                          <p:spTgt spid="7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74" dur="500" fill="hold"/>
                                        <p:tgtEl>
                                          <p:spTgt spid="7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75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7" dur="500" fill="hold"/>
                                        <p:tgtEl>
                                          <p:spTgt spid="7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78" dur="500" fill="hold"/>
                                        <p:tgtEl>
                                          <p:spTgt spid="7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79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81" dur="500" fill="hold"/>
                                        <p:tgtEl>
                                          <p:spTgt spid="7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2" dur="500" fill="hold"/>
                                        <p:tgtEl>
                                          <p:spTgt spid="7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83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85" dur="500" fill="hold"/>
                                        <p:tgtEl>
                                          <p:spTgt spid="7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6" dur="500" fill="hold"/>
                                        <p:tgtEl>
                                          <p:spTgt spid="7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87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89" dur="500" fill="hold"/>
                                        <p:tgtEl>
                                          <p:spTgt spid="7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90" dur="500" fill="hold"/>
                                        <p:tgtEl>
                                          <p:spTgt spid="7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1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93" dur="500" fill="hold"/>
                                        <p:tgtEl>
                                          <p:spTgt spid="7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94" dur="500" fill="hold"/>
                                        <p:tgtEl>
                                          <p:spTgt spid="7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5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97" dur="500" fill="hold"/>
                                        <p:tgtEl>
                                          <p:spTgt spid="7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98" dur="500" fill="hold"/>
                                        <p:tgtEl>
                                          <p:spTgt spid="7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9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01" dur="500" fill="hold"/>
                                        <p:tgtEl>
                                          <p:spTgt spid="7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02" dur="500" fill="hold"/>
                                        <p:tgtEl>
                                          <p:spTgt spid="7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3" fill="hold">
                      <p:stCondLst>
                        <p:cond delay="indefinite"/>
                      </p:stCondLst>
                      <p:childTnLst>
                        <p:par>
                          <p:cTn id="104" fill="hold">
                            <p:stCondLst>
                              <p:cond delay="0"/>
                            </p:stCondLst>
                            <p:childTnLst>
                              <p:par>
                                <p:cTn id="105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07" dur="500" fill="hold"/>
                                        <p:tgtEl>
                                          <p:spTgt spid="1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08" dur="500" fill="hold"/>
                                        <p:tgtEl>
                                          <p:spTgt spid="1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09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1" dur="500" fill="hold"/>
                                        <p:tgtEl>
                                          <p:spTgt spid="1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12" dur="500" fill="hold"/>
                                        <p:tgtEl>
                                          <p:spTgt spid="1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13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5" dur="500" fill="hold"/>
                                        <p:tgtEl>
                                          <p:spTgt spid="12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16" dur="500" fill="hold"/>
                                        <p:tgtEl>
                                          <p:spTgt spid="12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17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9" dur="500" fill="hold"/>
                                        <p:tgtEl>
                                          <p:spTgt spid="12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0" dur="500" fill="hold"/>
                                        <p:tgtEl>
                                          <p:spTgt spid="12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21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23" dur="500" fill="hold"/>
                                        <p:tgtEl>
                                          <p:spTgt spid="12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4" dur="500" fill="hold"/>
                                        <p:tgtEl>
                                          <p:spTgt spid="12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25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27" dur="500" fill="hold"/>
                                        <p:tgtEl>
                                          <p:spTgt spid="12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8" dur="500" fill="hold"/>
                                        <p:tgtEl>
                                          <p:spTgt spid="12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29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1" dur="500" fill="hold"/>
                                        <p:tgtEl>
                                          <p:spTgt spid="12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32" dur="500" fill="hold"/>
                                        <p:tgtEl>
                                          <p:spTgt spid="12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3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5" dur="500" fill="hold"/>
                                        <p:tgtEl>
                                          <p:spTgt spid="12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36" dur="500" fill="hold"/>
                                        <p:tgtEl>
                                          <p:spTgt spid="12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7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9" dur="500" fill="hold"/>
                                        <p:tgtEl>
                                          <p:spTgt spid="12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0" dur="500" fill="hold"/>
                                        <p:tgtEl>
                                          <p:spTgt spid="12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41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43" dur="500" fill="hold"/>
                                        <p:tgtEl>
                                          <p:spTgt spid="12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4" dur="500" fill="hold"/>
                                        <p:tgtEl>
                                          <p:spTgt spid="12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45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47" dur="500" fill="hold"/>
                                        <p:tgtEl>
                                          <p:spTgt spid="12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8" dur="500" fill="hold"/>
                                        <p:tgtEl>
                                          <p:spTgt spid="12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49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51" dur="500" fill="hold"/>
                                        <p:tgtEl>
                                          <p:spTgt spid="12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52" dur="500" fill="hold"/>
                                        <p:tgtEl>
                                          <p:spTgt spid="12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/>
          <p:cNvSpPr txBox="1"/>
          <p:nvPr/>
        </p:nvSpPr>
        <p:spPr>
          <a:xfrm>
            <a:off x="0" y="0"/>
            <a:ext cx="9144000" cy="369332"/>
          </a:xfrm>
          <a:prstGeom prst="rect">
            <a:avLst/>
          </a:prstGeom>
          <a:solidFill>
            <a:schemeClr val="accent1"/>
          </a:solidFill>
        </p:spPr>
        <p:txBody>
          <a:bodyPr wrap="square" rtlCol="0">
            <a:spAutoFit/>
          </a:bodyPr>
          <a:lstStyle/>
          <a:p>
            <a:endParaRPr lang="en-GB" b="1" dirty="0">
              <a:solidFill>
                <a:schemeClr val="bg1"/>
              </a:solidFill>
            </a:endParaRPr>
          </a:p>
        </p:txBody>
      </p:sp>
      <p:sp>
        <p:nvSpPr>
          <p:cNvPr id="5" name="TextBox 4"/>
          <p:cNvSpPr txBox="1"/>
          <p:nvPr/>
        </p:nvSpPr>
        <p:spPr>
          <a:xfrm>
            <a:off x="251520" y="1077699"/>
            <a:ext cx="8712968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endParaRPr lang="en-GB" dirty="0"/>
          </a:p>
        </p:txBody>
      </p:sp>
      <p:sp>
        <p:nvSpPr>
          <p:cNvPr id="2" name="Slide Number Placeholder 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5F608CE-C03C-4089-8C30-2B4572834CCA}" type="slidenum">
              <a:rPr lang="en-GB" smtClean="0"/>
              <a:t>11</a:t>
            </a:fld>
            <a:endParaRPr lang="en-GB"/>
          </a:p>
        </p:txBody>
      </p:sp>
      <p:sp>
        <p:nvSpPr>
          <p:cNvPr id="3" name="TextBox 2"/>
          <p:cNvSpPr txBox="1"/>
          <p:nvPr/>
        </p:nvSpPr>
        <p:spPr>
          <a:xfrm>
            <a:off x="117848" y="764704"/>
            <a:ext cx="8568952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1600" b="1" dirty="0" smtClean="0"/>
              <a:t>Example:</a:t>
            </a:r>
            <a:endParaRPr lang="en-GB" sz="1600" dirty="0"/>
          </a:p>
        </p:txBody>
      </p:sp>
      <p:sp>
        <p:nvSpPr>
          <p:cNvPr id="6" name="TextBox 5"/>
          <p:cNvSpPr txBox="1"/>
          <p:nvPr/>
        </p:nvSpPr>
        <p:spPr>
          <a:xfrm>
            <a:off x="0" y="0"/>
            <a:ext cx="9144000" cy="646331"/>
          </a:xfrm>
          <a:prstGeom prst="rect">
            <a:avLst/>
          </a:prstGeom>
          <a:solidFill>
            <a:schemeClr val="accent1"/>
          </a:solidFill>
        </p:spPr>
        <p:txBody>
          <a:bodyPr wrap="square" rtlCol="0">
            <a:spAutoFit/>
          </a:bodyPr>
          <a:lstStyle/>
          <a:p>
            <a:pPr algn="ctr"/>
            <a:r>
              <a:rPr lang="en-US" b="1" dirty="0">
                <a:solidFill>
                  <a:srgbClr val="FFFF00"/>
                </a:solidFill>
              </a:rPr>
              <a:t>Symmetric Cryptography</a:t>
            </a:r>
          </a:p>
          <a:p>
            <a:pPr algn="ctr"/>
            <a:r>
              <a:rPr lang="en-US" b="1" dirty="0">
                <a:solidFill>
                  <a:srgbClr val="FFFF00"/>
                </a:solidFill>
              </a:rPr>
              <a:t>RC4</a:t>
            </a:r>
            <a:r>
              <a:rPr lang="en-US" b="1" dirty="0">
                <a:solidFill>
                  <a:schemeClr val="bg1"/>
                </a:solidFill>
              </a:rPr>
              <a:t> </a:t>
            </a:r>
            <a:r>
              <a:rPr lang="en-US" b="1" dirty="0">
                <a:solidFill>
                  <a:srgbClr val="FFFF00"/>
                </a:solidFill>
              </a:rPr>
              <a:t>Stream Cipher </a:t>
            </a:r>
            <a:endParaRPr lang="en-GB" b="1" dirty="0">
              <a:solidFill>
                <a:schemeClr val="bg1"/>
              </a:solidFill>
            </a:endParaRPr>
          </a:p>
        </p:txBody>
      </p:sp>
      <p:sp>
        <p:nvSpPr>
          <p:cNvPr id="8" name="Rectangle 7"/>
          <p:cNvSpPr/>
          <p:nvPr/>
        </p:nvSpPr>
        <p:spPr>
          <a:xfrm>
            <a:off x="5646470" y="837431"/>
            <a:ext cx="3024336" cy="203132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dirty="0" err="1"/>
              <a:t>i</a:t>
            </a:r>
            <a:r>
              <a:rPr lang="en-US" dirty="0"/>
              <a:t>, j = 0;</a:t>
            </a:r>
            <a:endParaRPr lang="en-GB" dirty="0"/>
          </a:p>
          <a:p>
            <a:r>
              <a:rPr lang="en-US" dirty="0"/>
              <a:t>while (true)</a:t>
            </a:r>
            <a:endParaRPr lang="en-GB" dirty="0"/>
          </a:p>
          <a:p>
            <a:r>
              <a:rPr lang="en-US" dirty="0"/>
              <a:t>     </a:t>
            </a:r>
            <a:r>
              <a:rPr lang="en-US" dirty="0" err="1"/>
              <a:t>i</a:t>
            </a:r>
            <a:r>
              <a:rPr lang="en-US" dirty="0"/>
              <a:t> = (</a:t>
            </a:r>
            <a:r>
              <a:rPr lang="en-US" dirty="0" err="1"/>
              <a:t>i</a:t>
            </a:r>
            <a:r>
              <a:rPr lang="en-US" dirty="0"/>
              <a:t> + 1) mod </a:t>
            </a:r>
            <a:r>
              <a:rPr lang="en-US" dirty="0" smtClean="0"/>
              <a:t>8;</a:t>
            </a:r>
            <a:endParaRPr lang="en-GB" dirty="0"/>
          </a:p>
          <a:p>
            <a:r>
              <a:rPr lang="en-US" dirty="0"/>
              <a:t>     j = (j + </a:t>
            </a:r>
            <a:r>
              <a:rPr lang="en-US" b="1" dirty="0"/>
              <a:t>S</a:t>
            </a:r>
            <a:r>
              <a:rPr lang="en-US" dirty="0"/>
              <a:t>[</a:t>
            </a:r>
            <a:r>
              <a:rPr lang="en-US" dirty="0" err="1"/>
              <a:t>i</a:t>
            </a:r>
            <a:r>
              <a:rPr lang="en-US" dirty="0"/>
              <a:t>]) mod </a:t>
            </a:r>
            <a:r>
              <a:rPr lang="en-US" dirty="0" smtClean="0"/>
              <a:t>8;</a:t>
            </a:r>
            <a:endParaRPr lang="en-GB" dirty="0"/>
          </a:p>
          <a:p>
            <a:r>
              <a:rPr lang="en-US" dirty="0"/>
              <a:t>     Swap (</a:t>
            </a:r>
            <a:r>
              <a:rPr lang="en-US" b="1" dirty="0"/>
              <a:t>S</a:t>
            </a:r>
            <a:r>
              <a:rPr lang="en-US" dirty="0"/>
              <a:t>[</a:t>
            </a:r>
            <a:r>
              <a:rPr lang="en-US" dirty="0" err="1"/>
              <a:t>i</a:t>
            </a:r>
            <a:r>
              <a:rPr lang="en-US" dirty="0"/>
              <a:t>], </a:t>
            </a:r>
            <a:r>
              <a:rPr lang="en-US" b="1" dirty="0"/>
              <a:t>S</a:t>
            </a:r>
            <a:r>
              <a:rPr lang="en-US" dirty="0"/>
              <a:t>[j]);</a:t>
            </a:r>
            <a:endParaRPr lang="en-GB" dirty="0"/>
          </a:p>
          <a:p>
            <a:r>
              <a:rPr lang="en-US" dirty="0"/>
              <a:t>     t = (</a:t>
            </a:r>
            <a:r>
              <a:rPr lang="en-US" b="1" dirty="0"/>
              <a:t>S</a:t>
            </a:r>
            <a:r>
              <a:rPr lang="en-US" dirty="0"/>
              <a:t>[</a:t>
            </a:r>
            <a:r>
              <a:rPr lang="en-US" dirty="0" err="1"/>
              <a:t>i</a:t>
            </a:r>
            <a:r>
              <a:rPr lang="en-US" dirty="0"/>
              <a:t>] + </a:t>
            </a:r>
            <a:r>
              <a:rPr lang="en-US" b="1" dirty="0"/>
              <a:t>S</a:t>
            </a:r>
            <a:r>
              <a:rPr lang="en-US" dirty="0"/>
              <a:t>[j]) mod </a:t>
            </a:r>
            <a:r>
              <a:rPr lang="en-US" dirty="0" smtClean="0"/>
              <a:t>8;</a:t>
            </a:r>
            <a:endParaRPr lang="en-GB" dirty="0"/>
          </a:p>
          <a:p>
            <a:r>
              <a:rPr lang="en-US" dirty="0"/>
              <a:t>     </a:t>
            </a:r>
            <a:r>
              <a:rPr lang="en-US" b="1" dirty="0"/>
              <a:t>K </a:t>
            </a:r>
            <a:r>
              <a:rPr lang="en-US" dirty="0"/>
              <a:t>= </a:t>
            </a:r>
            <a:r>
              <a:rPr lang="en-US" b="1" dirty="0"/>
              <a:t>S</a:t>
            </a:r>
            <a:r>
              <a:rPr lang="en-US" dirty="0"/>
              <a:t>[t];  //K is </a:t>
            </a:r>
            <a:r>
              <a:rPr lang="en-US" dirty="0" smtClean="0"/>
              <a:t>the</a:t>
            </a:r>
            <a:endParaRPr lang="en-GB" dirty="0"/>
          </a:p>
        </p:txBody>
      </p:sp>
      <p:sp>
        <p:nvSpPr>
          <p:cNvPr id="9" name="Rectangle 8"/>
          <p:cNvSpPr/>
          <p:nvPr/>
        </p:nvSpPr>
        <p:spPr>
          <a:xfrm>
            <a:off x="403921" y="1900563"/>
            <a:ext cx="3024336" cy="3693319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GB" dirty="0"/>
              <a:t> S</a:t>
            </a:r>
            <a:r>
              <a:rPr lang="en-GB" dirty="0" smtClean="0"/>
              <a:t>=[</a:t>
            </a:r>
            <a:r>
              <a:rPr lang="en-GB" dirty="0"/>
              <a:t>2 4 7 </a:t>
            </a:r>
            <a:r>
              <a:rPr lang="en-GB" b="1" dirty="0"/>
              <a:t>0</a:t>
            </a:r>
            <a:r>
              <a:rPr lang="en-GB" dirty="0"/>
              <a:t> 6 </a:t>
            </a:r>
            <a:r>
              <a:rPr lang="en-GB" b="1" dirty="0"/>
              <a:t>3</a:t>
            </a:r>
            <a:r>
              <a:rPr lang="en-GB" dirty="0"/>
              <a:t> 1 5</a:t>
            </a:r>
            <a:r>
              <a:rPr lang="en-GB" dirty="0" smtClean="0"/>
              <a:t>]</a:t>
            </a:r>
            <a:endParaRPr lang="en-GB" dirty="0"/>
          </a:p>
          <a:p>
            <a:r>
              <a:rPr lang="en-GB" dirty="0" err="1" smtClean="0"/>
              <a:t>i</a:t>
            </a:r>
            <a:r>
              <a:rPr lang="en-GB" dirty="0" smtClean="0"/>
              <a:t> = 3 ; j = 5</a:t>
            </a:r>
          </a:p>
          <a:p>
            <a:r>
              <a:rPr lang="en-GB" dirty="0" smtClean="0"/>
              <a:t> </a:t>
            </a:r>
          </a:p>
          <a:p>
            <a:r>
              <a:rPr lang="en-GB" dirty="0"/>
              <a:t> </a:t>
            </a:r>
            <a:r>
              <a:rPr lang="en-GB" dirty="0" err="1" smtClean="0"/>
              <a:t>i</a:t>
            </a:r>
            <a:r>
              <a:rPr lang="en-GB" dirty="0" smtClean="0"/>
              <a:t>=(3 + 1) mod 8 =</a:t>
            </a:r>
            <a:r>
              <a:rPr lang="en-GB" b="1" dirty="0"/>
              <a:t>4</a:t>
            </a:r>
            <a:endParaRPr lang="en-GB" b="1" dirty="0" smtClean="0"/>
          </a:p>
          <a:p>
            <a:r>
              <a:rPr lang="en-GB" dirty="0"/>
              <a:t>j</a:t>
            </a:r>
            <a:r>
              <a:rPr lang="en-GB" dirty="0" smtClean="0"/>
              <a:t> = (5 + S[</a:t>
            </a:r>
            <a:r>
              <a:rPr lang="en-GB" b="1" dirty="0"/>
              <a:t>4</a:t>
            </a:r>
            <a:r>
              <a:rPr lang="en-GB" dirty="0" smtClean="0"/>
              <a:t> ] ) mod 8</a:t>
            </a:r>
          </a:p>
          <a:p>
            <a:r>
              <a:rPr lang="en-GB" dirty="0"/>
              <a:t>j = </a:t>
            </a:r>
            <a:r>
              <a:rPr lang="en-GB" dirty="0" smtClean="0"/>
              <a:t>(5 </a:t>
            </a:r>
            <a:r>
              <a:rPr lang="en-GB" dirty="0"/>
              <a:t>+ </a:t>
            </a:r>
            <a:r>
              <a:rPr lang="en-GB" dirty="0" smtClean="0"/>
              <a:t>6 </a:t>
            </a:r>
            <a:r>
              <a:rPr lang="en-GB" dirty="0"/>
              <a:t>) mod </a:t>
            </a:r>
            <a:r>
              <a:rPr lang="en-GB" dirty="0" smtClean="0"/>
              <a:t>8 =</a:t>
            </a:r>
            <a:r>
              <a:rPr lang="en-GB" b="1" dirty="0" smtClean="0"/>
              <a:t>3</a:t>
            </a:r>
            <a:endParaRPr lang="en-GB" b="1" dirty="0"/>
          </a:p>
          <a:p>
            <a:r>
              <a:rPr lang="en-GB" dirty="0" smtClean="0"/>
              <a:t> Swap(S[4], S[3] )</a:t>
            </a:r>
          </a:p>
          <a:p>
            <a:r>
              <a:rPr lang="en-GB" dirty="0"/>
              <a:t> S</a:t>
            </a:r>
            <a:r>
              <a:rPr lang="en-GB" dirty="0" smtClean="0"/>
              <a:t>=[</a:t>
            </a:r>
            <a:r>
              <a:rPr lang="en-GB" dirty="0"/>
              <a:t>2 4 7 </a:t>
            </a:r>
            <a:r>
              <a:rPr lang="en-GB" b="1" dirty="0" smtClean="0"/>
              <a:t>6</a:t>
            </a:r>
            <a:r>
              <a:rPr lang="en-GB" dirty="0" smtClean="0"/>
              <a:t> </a:t>
            </a:r>
            <a:r>
              <a:rPr lang="en-GB" b="1" dirty="0" smtClean="0"/>
              <a:t>0</a:t>
            </a:r>
            <a:r>
              <a:rPr lang="en-GB" dirty="0" smtClean="0"/>
              <a:t> </a:t>
            </a:r>
            <a:r>
              <a:rPr lang="en-GB" dirty="0"/>
              <a:t>3 1 5</a:t>
            </a:r>
            <a:r>
              <a:rPr lang="en-GB" dirty="0" smtClean="0"/>
              <a:t>]</a:t>
            </a:r>
            <a:endParaRPr lang="en-GB" dirty="0"/>
          </a:p>
          <a:p>
            <a:r>
              <a:rPr lang="en-US" dirty="0"/>
              <a:t>t = (</a:t>
            </a:r>
            <a:r>
              <a:rPr lang="en-US" b="1" dirty="0" smtClean="0"/>
              <a:t>S</a:t>
            </a:r>
            <a:r>
              <a:rPr lang="en-US" dirty="0" smtClean="0"/>
              <a:t>[4] </a:t>
            </a:r>
            <a:r>
              <a:rPr lang="en-US" dirty="0"/>
              <a:t>+ </a:t>
            </a:r>
            <a:r>
              <a:rPr lang="en-US" b="1" dirty="0" smtClean="0"/>
              <a:t>S</a:t>
            </a:r>
            <a:r>
              <a:rPr lang="en-US" dirty="0" smtClean="0"/>
              <a:t>[3]) </a:t>
            </a:r>
            <a:r>
              <a:rPr lang="en-US" dirty="0"/>
              <a:t>mod 8;</a:t>
            </a:r>
            <a:endParaRPr lang="en-GB" dirty="0"/>
          </a:p>
          <a:p>
            <a:r>
              <a:rPr lang="en-GB" dirty="0" smtClean="0"/>
              <a:t>t = (0+6) mod 8 =6 </a:t>
            </a:r>
          </a:p>
          <a:p>
            <a:r>
              <a:rPr lang="en-US" b="1" dirty="0" smtClean="0"/>
              <a:t>K </a:t>
            </a:r>
            <a:r>
              <a:rPr lang="en-US" dirty="0"/>
              <a:t>= </a:t>
            </a:r>
            <a:r>
              <a:rPr lang="en-US" b="1" dirty="0"/>
              <a:t>S</a:t>
            </a:r>
            <a:r>
              <a:rPr lang="en-US" dirty="0"/>
              <a:t>[t</a:t>
            </a:r>
            <a:r>
              <a:rPr lang="en-US" dirty="0" smtClean="0"/>
              <a:t>];</a:t>
            </a:r>
          </a:p>
          <a:p>
            <a:r>
              <a:rPr lang="en-US" b="1" dirty="0" smtClean="0">
                <a:solidFill>
                  <a:srgbClr val="FF0000"/>
                </a:solidFill>
              </a:rPr>
              <a:t>K=</a:t>
            </a:r>
            <a:r>
              <a:rPr lang="en-US" b="1" dirty="0" smtClean="0"/>
              <a:t>S[6] </a:t>
            </a:r>
            <a:r>
              <a:rPr lang="en-US" b="1" dirty="0" smtClean="0">
                <a:solidFill>
                  <a:srgbClr val="FF0000"/>
                </a:solidFill>
              </a:rPr>
              <a:t>=1</a:t>
            </a:r>
            <a:endParaRPr lang="en-GB" b="1" dirty="0">
              <a:solidFill>
                <a:srgbClr val="FF0000"/>
              </a:solidFill>
            </a:endParaRPr>
          </a:p>
          <a:p>
            <a:endParaRPr lang="en-GB" dirty="0" smtClean="0"/>
          </a:p>
        </p:txBody>
      </p:sp>
    </p:spTree>
    <p:extLst>
      <p:ext uri="{BB962C8B-B14F-4D97-AF65-F5344CB8AC3E}">
        <p14:creationId xmlns:p14="http://schemas.microsoft.com/office/powerpoint/2010/main" val="58223310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500" fill="hold"/>
                                        <p:tgtEl>
                                          <p:spTgt spid="9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500" fill="hold"/>
                                        <p:tgtEl>
                                          <p:spTgt spid="9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5" dur="500" fill="hold"/>
                                        <p:tgtEl>
                                          <p:spTgt spid="9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6" dur="500" fill="hold"/>
                                        <p:tgtEl>
                                          <p:spTgt spid="9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7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500" fill="hold"/>
                                        <p:tgtEl>
                                          <p:spTgt spid="9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500" fill="hold"/>
                                        <p:tgtEl>
                                          <p:spTgt spid="9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1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3" dur="500" fill="hold"/>
                                        <p:tgtEl>
                                          <p:spTgt spid="9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4" dur="500" fill="hold"/>
                                        <p:tgtEl>
                                          <p:spTgt spid="9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5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7" dur="500" fill="hold"/>
                                        <p:tgtEl>
                                          <p:spTgt spid="9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8" dur="500" fill="hold"/>
                                        <p:tgtEl>
                                          <p:spTgt spid="9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9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1" dur="500" fill="hold"/>
                                        <p:tgtEl>
                                          <p:spTgt spid="9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2" dur="500" fill="hold"/>
                                        <p:tgtEl>
                                          <p:spTgt spid="9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3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5" dur="500" fill="hold"/>
                                        <p:tgtEl>
                                          <p:spTgt spid="9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6" dur="500" fill="hold"/>
                                        <p:tgtEl>
                                          <p:spTgt spid="9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7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9" dur="500" fill="hold"/>
                                        <p:tgtEl>
                                          <p:spTgt spid="9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0" dur="500" fill="hold"/>
                                        <p:tgtEl>
                                          <p:spTgt spid="9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1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3" dur="500" fill="hold"/>
                                        <p:tgtEl>
                                          <p:spTgt spid="9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4" dur="500" fill="hold"/>
                                        <p:tgtEl>
                                          <p:spTgt spid="9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5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7" dur="500" fill="hold"/>
                                        <p:tgtEl>
                                          <p:spTgt spid="9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8" dur="500" fill="hold"/>
                                        <p:tgtEl>
                                          <p:spTgt spid="9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9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1" dur="500" fill="hold"/>
                                        <p:tgtEl>
                                          <p:spTgt spid="9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52" dur="500" fill="hold"/>
                                        <p:tgtEl>
                                          <p:spTgt spid="9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/>
          <p:cNvSpPr txBox="1"/>
          <p:nvPr/>
        </p:nvSpPr>
        <p:spPr>
          <a:xfrm>
            <a:off x="0" y="0"/>
            <a:ext cx="9144000" cy="369332"/>
          </a:xfrm>
          <a:prstGeom prst="rect">
            <a:avLst/>
          </a:prstGeom>
          <a:solidFill>
            <a:schemeClr val="accent1"/>
          </a:solidFill>
        </p:spPr>
        <p:txBody>
          <a:bodyPr wrap="square" rtlCol="0">
            <a:spAutoFit/>
          </a:bodyPr>
          <a:lstStyle/>
          <a:p>
            <a:endParaRPr lang="en-GB" b="1" dirty="0">
              <a:solidFill>
                <a:schemeClr val="bg1"/>
              </a:solidFill>
            </a:endParaRPr>
          </a:p>
        </p:txBody>
      </p:sp>
      <p:sp>
        <p:nvSpPr>
          <p:cNvPr id="5" name="TextBox 4"/>
          <p:cNvSpPr txBox="1"/>
          <p:nvPr/>
        </p:nvSpPr>
        <p:spPr>
          <a:xfrm>
            <a:off x="251520" y="1077699"/>
            <a:ext cx="8712968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endParaRPr lang="en-GB" dirty="0"/>
          </a:p>
        </p:txBody>
      </p:sp>
      <p:sp>
        <p:nvSpPr>
          <p:cNvPr id="2" name="Slide Number Placeholder 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5F608CE-C03C-4089-8C30-2B4572834CCA}" type="slidenum">
              <a:rPr lang="en-GB" smtClean="0"/>
              <a:t>12</a:t>
            </a:fld>
            <a:endParaRPr lang="en-GB"/>
          </a:p>
        </p:txBody>
      </p:sp>
      <p:sp>
        <p:nvSpPr>
          <p:cNvPr id="3" name="TextBox 2"/>
          <p:cNvSpPr txBox="1"/>
          <p:nvPr/>
        </p:nvSpPr>
        <p:spPr>
          <a:xfrm>
            <a:off x="117848" y="764704"/>
            <a:ext cx="8568952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1600" b="1" dirty="0" smtClean="0"/>
              <a:t>Example:</a:t>
            </a:r>
            <a:endParaRPr lang="en-GB" sz="1600" dirty="0"/>
          </a:p>
        </p:txBody>
      </p:sp>
      <p:sp>
        <p:nvSpPr>
          <p:cNvPr id="6" name="TextBox 5"/>
          <p:cNvSpPr txBox="1"/>
          <p:nvPr/>
        </p:nvSpPr>
        <p:spPr>
          <a:xfrm>
            <a:off x="0" y="0"/>
            <a:ext cx="9144000" cy="646331"/>
          </a:xfrm>
          <a:prstGeom prst="rect">
            <a:avLst/>
          </a:prstGeom>
          <a:solidFill>
            <a:schemeClr val="accent1"/>
          </a:solidFill>
        </p:spPr>
        <p:txBody>
          <a:bodyPr wrap="square" rtlCol="0">
            <a:spAutoFit/>
          </a:bodyPr>
          <a:lstStyle/>
          <a:p>
            <a:pPr algn="ctr"/>
            <a:r>
              <a:rPr lang="en-US" b="1" dirty="0">
                <a:solidFill>
                  <a:srgbClr val="FFFF00"/>
                </a:solidFill>
              </a:rPr>
              <a:t>Symmetric Cryptography</a:t>
            </a:r>
          </a:p>
          <a:p>
            <a:pPr algn="ctr"/>
            <a:r>
              <a:rPr lang="en-US" b="1" dirty="0">
                <a:solidFill>
                  <a:srgbClr val="FFFF00"/>
                </a:solidFill>
              </a:rPr>
              <a:t>RC4</a:t>
            </a:r>
            <a:r>
              <a:rPr lang="en-US" b="1" dirty="0">
                <a:solidFill>
                  <a:schemeClr val="bg1"/>
                </a:solidFill>
              </a:rPr>
              <a:t> </a:t>
            </a:r>
            <a:r>
              <a:rPr lang="en-US" b="1" dirty="0">
                <a:solidFill>
                  <a:srgbClr val="FFFF00"/>
                </a:solidFill>
              </a:rPr>
              <a:t>Stream Cipher </a:t>
            </a:r>
            <a:endParaRPr lang="en-GB" b="1" dirty="0">
              <a:solidFill>
                <a:schemeClr val="bg1"/>
              </a:solidFill>
            </a:endParaRPr>
          </a:p>
        </p:txBody>
      </p:sp>
      <p:sp>
        <p:nvSpPr>
          <p:cNvPr id="7" name="Rectangle 6"/>
          <p:cNvSpPr/>
          <p:nvPr/>
        </p:nvSpPr>
        <p:spPr>
          <a:xfrm>
            <a:off x="467544" y="2940030"/>
            <a:ext cx="3024336" cy="341632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GB" b="1" dirty="0" smtClean="0">
                <a:solidFill>
                  <a:srgbClr val="0070C0"/>
                </a:solidFill>
              </a:rPr>
              <a:t>Encrypt</a:t>
            </a:r>
          </a:p>
          <a:p>
            <a:r>
              <a:rPr lang="en-GB" b="1" dirty="0" smtClean="0">
                <a:solidFill>
                  <a:srgbClr val="0070C0"/>
                </a:solidFill>
              </a:rPr>
              <a:t>PT= [1 2 2 2 ]</a:t>
            </a:r>
          </a:p>
          <a:p>
            <a:r>
              <a:rPr lang="en-GB" b="1" dirty="0" err="1" smtClean="0">
                <a:solidFill>
                  <a:srgbClr val="0070C0"/>
                </a:solidFill>
              </a:rPr>
              <a:t>KeyStream</a:t>
            </a:r>
            <a:r>
              <a:rPr lang="en-GB" b="1" dirty="0" smtClean="0">
                <a:solidFill>
                  <a:srgbClr val="0070C0"/>
                </a:solidFill>
              </a:rPr>
              <a:t> =[5 1 0 1]</a:t>
            </a:r>
          </a:p>
          <a:p>
            <a:r>
              <a:rPr lang="en-GB" dirty="0" smtClean="0"/>
              <a:t> 000</a:t>
            </a:r>
            <a:r>
              <a:rPr lang="en-GB" b="1" dirty="0" smtClean="0">
                <a:solidFill>
                  <a:srgbClr val="0070C0"/>
                </a:solidFill>
              </a:rPr>
              <a:t>1 0010 0010 0010 </a:t>
            </a:r>
            <a:r>
              <a:rPr lang="en-GB" b="1" dirty="0" smtClean="0"/>
              <a:t>PT</a:t>
            </a:r>
            <a:r>
              <a:rPr lang="en-GB" b="1" dirty="0" smtClean="0">
                <a:solidFill>
                  <a:srgbClr val="0070C0"/>
                </a:solidFill>
              </a:rPr>
              <a:t> </a:t>
            </a:r>
            <a:r>
              <a:rPr lang="en-IN" dirty="0" smtClean="0"/>
              <a:t>⊕</a:t>
            </a:r>
            <a:endParaRPr lang="en-GB" b="1" dirty="0" smtClean="0">
              <a:solidFill>
                <a:srgbClr val="0070C0"/>
              </a:solidFill>
            </a:endParaRPr>
          </a:p>
          <a:p>
            <a:r>
              <a:rPr lang="en-GB" dirty="0" smtClean="0"/>
              <a:t> 0101 0001 0000 0001  </a:t>
            </a:r>
            <a:r>
              <a:rPr lang="en-GB" b="1" dirty="0" smtClean="0"/>
              <a:t>KS</a:t>
            </a:r>
          </a:p>
          <a:p>
            <a:r>
              <a:rPr lang="en-GB" dirty="0" smtClean="0"/>
              <a:t>---------------------------------</a:t>
            </a:r>
          </a:p>
          <a:p>
            <a:r>
              <a:rPr lang="en-GB" dirty="0" smtClean="0"/>
              <a:t>0100 0011 0010 0011 =CT</a:t>
            </a:r>
          </a:p>
          <a:p>
            <a:r>
              <a:rPr lang="en-GB" dirty="0" smtClean="0"/>
              <a:t>---------------------------------</a:t>
            </a:r>
          </a:p>
          <a:p>
            <a:endParaRPr lang="en-GB" dirty="0"/>
          </a:p>
          <a:p>
            <a:r>
              <a:rPr lang="en-GB" b="1" dirty="0">
                <a:solidFill>
                  <a:srgbClr val="FF0000"/>
                </a:solidFill>
              </a:rPr>
              <a:t>CT= [4  3 2 3 ]</a:t>
            </a:r>
          </a:p>
          <a:p>
            <a:endParaRPr lang="en-GB" dirty="0"/>
          </a:p>
          <a:p>
            <a:endParaRPr lang="en-GB" dirty="0"/>
          </a:p>
        </p:txBody>
      </p:sp>
      <p:sp>
        <p:nvSpPr>
          <p:cNvPr id="8" name="Rectangle 7"/>
          <p:cNvSpPr/>
          <p:nvPr/>
        </p:nvSpPr>
        <p:spPr>
          <a:xfrm>
            <a:off x="5646470" y="837431"/>
            <a:ext cx="3024336" cy="203132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dirty="0" err="1"/>
              <a:t>i</a:t>
            </a:r>
            <a:r>
              <a:rPr lang="en-US" dirty="0"/>
              <a:t>, j = 0;</a:t>
            </a:r>
            <a:endParaRPr lang="en-GB" dirty="0"/>
          </a:p>
          <a:p>
            <a:r>
              <a:rPr lang="en-US" dirty="0"/>
              <a:t>while (true)</a:t>
            </a:r>
            <a:endParaRPr lang="en-GB" dirty="0"/>
          </a:p>
          <a:p>
            <a:r>
              <a:rPr lang="en-US" dirty="0"/>
              <a:t>     </a:t>
            </a:r>
            <a:r>
              <a:rPr lang="en-US" dirty="0" err="1"/>
              <a:t>i</a:t>
            </a:r>
            <a:r>
              <a:rPr lang="en-US" dirty="0"/>
              <a:t> = (</a:t>
            </a:r>
            <a:r>
              <a:rPr lang="en-US" dirty="0" err="1"/>
              <a:t>i</a:t>
            </a:r>
            <a:r>
              <a:rPr lang="en-US" dirty="0"/>
              <a:t> + 1) mod </a:t>
            </a:r>
            <a:r>
              <a:rPr lang="en-US" dirty="0" smtClean="0"/>
              <a:t>8;</a:t>
            </a:r>
            <a:endParaRPr lang="en-GB" dirty="0"/>
          </a:p>
          <a:p>
            <a:r>
              <a:rPr lang="en-US" dirty="0"/>
              <a:t>     j = (j + </a:t>
            </a:r>
            <a:r>
              <a:rPr lang="en-US" b="1" dirty="0"/>
              <a:t>S</a:t>
            </a:r>
            <a:r>
              <a:rPr lang="en-US" dirty="0"/>
              <a:t>[</a:t>
            </a:r>
            <a:r>
              <a:rPr lang="en-US" dirty="0" err="1"/>
              <a:t>i</a:t>
            </a:r>
            <a:r>
              <a:rPr lang="en-US" dirty="0"/>
              <a:t>]) mod </a:t>
            </a:r>
            <a:r>
              <a:rPr lang="en-US" dirty="0" smtClean="0"/>
              <a:t>8;</a:t>
            </a:r>
            <a:endParaRPr lang="en-GB" dirty="0"/>
          </a:p>
          <a:p>
            <a:r>
              <a:rPr lang="en-US" dirty="0"/>
              <a:t>     Swap (</a:t>
            </a:r>
            <a:r>
              <a:rPr lang="en-US" b="1" dirty="0"/>
              <a:t>S</a:t>
            </a:r>
            <a:r>
              <a:rPr lang="en-US" dirty="0"/>
              <a:t>[</a:t>
            </a:r>
            <a:r>
              <a:rPr lang="en-US" dirty="0" err="1"/>
              <a:t>i</a:t>
            </a:r>
            <a:r>
              <a:rPr lang="en-US" dirty="0"/>
              <a:t>], </a:t>
            </a:r>
            <a:r>
              <a:rPr lang="en-US" b="1" dirty="0"/>
              <a:t>S</a:t>
            </a:r>
            <a:r>
              <a:rPr lang="en-US" dirty="0"/>
              <a:t>[j]);</a:t>
            </a:r>
            <a:endParaRPr lang="en-GB" dirty="0"/>
          </a:p>
          <a:p>
            <a:r>
              <a:rPr lang="en-US" dirty="0"/>
              <a:t>     t = (</a:t>
            </a:r>
            <a:r>
              <a:rPr lang="en-US" b="1" dirty="0"/>
              <a:t>S</a:t>
            </a:r>
            <a:r>
              <a:rPr lang="en-US" dirty="0"/>
              <a:t>[</a:t>
            </a:r>
            <a:r>
              <a:rPr lang="en-US" dirty="0" err="1"/>
              <a:t>i</a:t>
            </a:r>
            <a:r>
              <a:rPr lang="en-US" dirty="0"/>
              <a:t>] + </a:t>
            </a:r>
            <a:r>
              <a:rPr lang="en-US" b="1" dirty="0"/>
              <a:t>S</a:t>
            </a:r>
            <a:r>
              <a:rPr lang="en-US" dirty="0"/>
              <a:t>[j]) mod </a:t>
            </a:r>
            <a:r>
              <a:rPr lang="en-US" dirty="0" smtClean="0"/>
              <a:t>8;</a:t>
            </a:r>
            <a:endParaRPr lang="en-GB" dirty="0"/>
          </a:p>
          <a:p>
            <a:r>
              <a:rPr lang="en-US" dirty="0"/>
              <a:t>     </a:t>
            </a:r>
            <a:r>
              <a:rPr lang="en-US" b="1" dirty="0"/>
              <a:t>K </a:t>
            </a:r>
            <a:r>
              <a:rPr lang="en-US" dirty="0"/>
              <a:t>= </a:t>
            </a:r>
            <a:r>
              <a:rPr lang="en-US" b="1" dirty="0"/>
              <a:t>S</a:t>
            </a:r>
            <a:r>
              <a:rPr lang="en-US" dirty="0"/>
              <a:t>[t];  //K is </a:t>
            </a:r>
            <a:r>
              <a:rPr lang="en-US" dirty="0" smtClean="0"/>
              <a:t>the</a:t>
            </a:r>
            <a:endParaRPr lang="en-GB" dirty="0"/>
          </a:p>
        </p:txBody>
      </p:sp>
      <p:sp>
        <p:nvSpPr>
          <p:cNvPr id="12" name="Rectangle 11"/>
          <p:cNvSpPr/>
          <p:nvPr/>
        </p:nvSpPr>
        <p:spPr>
          <a:xfrm>
            <a:off x="3947905" y="2991956"/>
            <a:ext cx="3397130" cy="3693319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GB" b="1" dirty="0" smtClean="0">
                <a:solidFill>
                  <a:srgbClr val="0070C0"/>
                </a:solidFill>
              </a:rPr>
              <a:t>Decrypt</a:t>
            </a:r>
          </a:p>
          <a:p>
            <a:r>
              <a:rPr lang="en-GB" b="1" dirty="0" smtClean="0">
                <a:solidFill>
                  <a:srgbClr val="0070C0"/>
                </a:solidFill>
              </a:rPr>
              <a:t>CT= [4  3 2 3 ]</a:t>
            </a:r>
          </a:p>
          <a:p>
            <a:r>
              <a:rPr lang="en-GB" b="1" dirty="0" err="1" smtClean="0">
                <a:solidFill>
                  <a:srgbClr val="0070C0"/>
                </a:solidFill>
              </a:rPr>
              <a:t>KeyStream</a:t>
            </a:r>
            <a:r>
              <a:rPr lang="en-GB" b="1" dirty="0" smtClean="0">
                <a:solidFill>
                  <a:srgbClr val="0070C0"/>
                </a:solidFill>
              </a:rPr>
              <a:t> </a:t>
            </a:r>
            <a:r>
              <a:rPr lang="en-GB" b="1" dirty="0">
                <a:solidFill>
                  <a:srgbClr val="0070C0"/>
                </a:solidFill>
              </a:rPr>
              <a:t>=[5 1 0 1</a:t>
            </a:r>
            <a:r>
              <a:rPr lang="en-GB" b="1" dirty="0" smtClean="0">
                <a:solidFill>
                  <a:srgbClr val="0070C0"/>
                </a:solidFill>
              </a:rPr>
              <a:t>]</a:t>
            </a:r>
          </a:p>
          <a:p>
            <a:endParaRPr lang="en-GB" dirty="0" smtClean="0"/>
          </a:p>
          <a:p>
            <a:r>
              <a:rPr lang="en-GB" dirty="0"/>
              <a:t>0100 0011 0010 0011 </a:t>
            </a:r>
            <a:r>
              <a:rPr lang="en-GB" dirty="0" smtClean="0"/>
              <a:t> CT </a:t>
            </a:r>
            <a:r>
              <a:rPr lang="en-IN" dirty="0" smtClean="0"/>
              <a:t>⊕</a:t>
            </a:r>
            <a:endParaRPr lang="en-GB" b="1" dirty="0" smtClean="0">
              <a:solidFill>
                <a:srgbClr val="0070C0"/>
              </a:solidFill>
            </a:endParaRPr>
          </a:p>
          <a:p>
            <a:r>
              <a:rPr lang="en-GB" dirty="0" smtClean="0"/>
              <a:t>0101 </a:t>
            </a:r>
            <a:r>
              <a:rPr lang="en-GB" dirty="0"/>
              <a:t>0001 0000 0001 </a:t>
            </a:r>
            <a:r>
              <a:rPr lang="en-GB" dirty="0" smtClean="0"/>
              <a:t>  KS</a:t>
            </a:r>
          </a:p>
          <a:p>
            <a:r>
              <a:rPr lang="en-GB" dirty="0" smtClean="0"/>
              <a:t>---------------------------------</a:t>
            </a:r>
          </a:p>
          <a:p>
            <a:r>
              <a:rPr lang="en-GB" dirty="0" smtClean="0"/>
              <a:t> 0001 0010 0010 0010 =PT</a:t>
            </a:r>
          </a:p>
          <a:p>
            <a:r>
              <a:rPr lang="en-GB" dirty="0" smtClean="0"/>
              <a:t>---------------------------------</a:t>
            </a:r>
          </a:p>
          <a:p>
            <a:r>
              <a:rPr lang="en-GB" dirty="0" smtClean="0">
                <a:solidFill>
                  <a:srgbClr val="FF0000"/>
                </a:solidFill>
              </a:rPr>
              <a:t>PT=[1 2 2 2 ]</a:t>
            </a:r>
          </a:p>
          <a:p>
            <a:endParaRPr lang="en-GB" dirty="0"/>
          </a:p>
          <a:p>
            <a:endParaRPr lang="en-GB" dirty="0"/>
          </a:p>
          <a:p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181505328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500" fill="hold"/>
                                        <p:tgtEl>
                                          <p:spTgt spid="7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500" fill="hold"/>
                                        <p:tgtEl>
                                          <p:spTgt spid="7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5" dur="500" fill="hold"/>
                                        <p:tgtEl>
                                          <p:spTgt spid="7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6" dur="500" fill="hold"/>
                                        <p:tgtEl>
                                          <p:spTgt spid="7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7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500" fill="hold"/>
                                        <p:tgtEl>
                                          <p:spTgt spid="7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500" fill="hold"/>
                                        <p:tgtEl>
                                          <p:spTgt spid="7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1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3" dur="500" fill="hold"/>
                                        <p:tgtEl>
                                          <p:spTgt spid="7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4" dur="500" fill="hold"/>
                                        <p:tgtEl>
                                          <p:spTgt spid="7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5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7" dur="500" fill="hold"/>
                                        <p:tgtEl>
                                          <p:spTgt spid="7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8" dur="500" fill="hold"/>
                                        <p:tgtEl>
                                          <p:spTgt spid="7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9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1" dur="500" fill="hold"/>
                                        <p:tgtEl>
                                          <p:spTgt spid="7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2" dur="500" fill="hold"/>
                                        <p:tgtEl>
                                          <p:spTgt spid="7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3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5" dur="500" fill="hold"/>
                                        <p:tgtEl>
                                          <p:spTgt spid="7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6" dur="500" fill="hold"/>
                                        <p:tgtEl>
                                          <p:spTgt spid="7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7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9" dur="500" fill="hold"/>
                                        <p:tgtEl>
                                          <p:spTgt spid="7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0" dur="500" fill="hold"/>
                                        <p:tgtEl>
                                          <p:spTgt spid="7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1" fill="hold">
                      <p:stCondLst>
                        <p:cond delay="indefinite"/>
                      </p:stCondLst>
                      <p:childTnLst>
                        <p:par>
                          <p:cTn id="42" fill="hold">
                            <p:stCondLst>
                              <p:cond delay="0"/>
                            </p:stCondLst>
                            <p:childTnLst>
                              <p:par>
                                <p:cTn id="43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5" dur="500" fill="hold"/>
                                        <p:tgtEl>
                                          <p:spTgt spid="1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6" dur="500" fill="hold"/>
                                        <p:tgtEl>
                                          <p:spTgt spid="1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7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9" dur="500" fill="hold"/>
                                        <p:tgtEl>
                                          <p:spTgt spid="1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50" dur="500" fill="hold"/>
                                        <p:tgtEl>
                                          <p:spTgt spid="1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51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3" dur="500" fill="hold"/>
                                        <p:tgtEl>
                                          <p:spTgt spid="12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54" dur="500" fill="hold"/>
                                        <p:tgtEl>
                                          <p:spTgt spid="12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55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7" dur="500" fill="hold"/>
                                        <p:tgtEl>
                                          <p:spTgt spid="12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58" dur="500" fill="hold"/>
                                        <p:tgtEl>
                                          <p:spTgt spid="12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59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61" dur="500" fill="hold"/>
                                        <p:tgtEl>
                                          <p:spTgt spid="12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62" dur="500" fill="hold"/>
                                        <p:tgtEl>
                                          <p:spTgt spid="12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63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65" dur="500" fill="hold"/>
                                        <p:tgtEl>
                                          <p:spTgt spid="12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66" dur="500" fill="hold"/>
                                        <p:tgtEl>
                                          <p:spTgt spid="12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67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69" dur="500" fill="hold"/>
                                        <p:tgtEl>
                                          <p:spTgt spid="12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70" dur="500" fill="hold"/>
                                        <p:tgtEl>
                                          <p:spTgt spid="12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71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3" dur="500" fill="hold"/>
                                        <p:tgtEl>
                                          <p:spTgt spid="12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74" dur="500" fill="hold"/>
                                        <p:tgtEl>
                                          <p:spTgt spid="12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75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7" dur="500" fill="hold"/>
                                        <p:tgtEl>
                                          <p:spTgt spid="12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78" dur="500" fill="hold"/>
                                        <p:tgtEl>
                                          <p:spTgt spid="12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2074</TotalTime>
  <Words>2409</Words>
  <Application>Microsoft Office PowerPoint</Application>
  <PresentationFormat>On-screen Show (4:3)</PresentationFormat>
  <Paragraphs>325</Paragraphs>
  <Slides>12</Slides>
  <Notes>10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12</vt:i4>
      </vt:variant>
    </vt:vector>
  </HeadingPairs>
  <TitlesOfParts>
    <vt:vector size="16" baseType="lpstr">
      <vt:lpstr>Arial</vt:lpstr>
      <vt:lpstr>Calibri</vt:lpstr>
      <vt:lpstr>Wingdings</vt:lpstr>
      <vt:lpstr>Office Theme</vt:lpstr>
      <vt:lpstr>PowerPoint Presentation</vt:lpstr>
      <vt:lpstr>PowerPoint Presentation</vt:lpstr>
      <vt:lpstr>Block Diagram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LinksUpToDate>false</LinksUpToDate>
  <SharedDoc>false</SharedDoc>
  <HyperlinksChanged>false</HyperlinksChanged>
  <AppVersion>15.0000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fsa1g12</dc:creator>
  <cp:lastModifiedBy>Admin</cp:lastModifiedBy>
  <cp:revision>153</cp:revision>
  <cp:lastPrinted>2018-10-20T17:53:20Z</cp:lastPrinted>
  <dcterms:created xsi:type="dcterms:W3CDTF">2018-09-24T19:32:07Z</dcterms:created>
  <dcterms:modified xsi:type="dcterms:W3CDTF">2025-01-23T18:27:52Z</dcterms:modified>
</cp:coreProperties>
</file>