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6" r:id="rId9"/>
    <p:sldId id="267" r:id="rId10"/>
    <p:sldId id="268" r:id="rId11"/>
    <p:sldId id="269" r:id="rId12"/>
    <p:sldId id="271" r:id="rId13"/>
    <p:sldId id="276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946" autoAdjust="0"/>
  </p:normalViewPr>
  <p:slideViewPr>
    <p:cSldViewPr>
      <p:cViewPr varScale="1">
        <p:scale>
          <a:sx n="77" d="100"/>
          <a:sy n="77" d="100"/>
        </p:scale>
        <p:origin x="1206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1A3CA9-1732-4F15-B1FE-5D2E732FE03A}" type="datetimeFigureOut">
              <a:rPr lang="en-IN" smtClean="0"/>
              <a:t>17-01-2025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402D3F-FA1D-4CD0-A0BD-0A6A4C8AFA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3513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402D3F-FA1D-4CD0-A0BD-0A6A4C8AFAA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59672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402D3F-FA1D-4CD0-A0BD-0A6A4C8AFAA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58790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402D3F-FA1D-4CD0-A0BD-0A6A4C8AFAA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03513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402D3F-FA1D-4CD0-A0BD-0A6A4C8AFAA4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2413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402D3F-FA1D-4CD0-A0BD-0A6A4C8AFAA4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5901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402D3F-FA1D-4CD0-A0BD-0A6A4C8AFAA4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0380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402D3F-FA1D-4CD0-A0BD-0A6A4C8AFAA4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38284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402D3F-FA1D-4CD0-A0BD-0A6A4C8AFAA4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1819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65FC0-7B69-4843-B5BD-0B809F535762}" type="datetimeFigureOut">
              <a:rPr lang="en-IN" smtClean="0"/>
              <a:t>17-01-2025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A01A0-4E6E-4A77-A7D2-2B667F269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3949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65FC0-7B69-4843-B5BD-0B809F535762}" type="datetimeFigureOut">
              <a:rPr lang="en-IN" smtClean="0"/>
              <a:t>17-01-2025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A01A0-4E6E-4A77-A7D2-2B667F269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331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65FC0-7B69-4843-B5BD-0B809F535762}" type="datetimeFigureOut">
              <a:rPr lang="en-IN" smtClean="0"/>
              <a:t>17-01-2025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A01A0-4E6E-4A77-A7D2-2B667F269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1301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65FC0-7B69-4843-B5BD-0B809F535762}" type="datetimeFigureOut">
              <a:rPr lang="en-IN" smtClean="0"/>
              <a:t>17-01-2025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A01A0-4E6E-4A77-A7D2-2B667F269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8145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65FC0-7B69-4843-B5BD-0B809F535762}" type="datetimeFigureOut">
              <a:rPr lang="en-IN" smtClean="0"/>
              <a:t>17-01-2025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A01A0-4E6E-4A77-A7D2-2B667F269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1654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65FC0-7B69-4843-B5BD-0B809F535762}" type="datetimeFigureOut">
              <a:rPr lang="en-IN" smtClean="0"/>
              <a:t>17-01-2025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A01A0-4E6E-4A77-A7D2-2B667F269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3687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65FC0-7B69-4843-B5BD-0B809F535762}" type="datetimeFigureOut">
              <a:rPr lang="en-IN" smtClean="0"/>
              <a:t>17-01-2025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A01A0-4E6E-4A77-A7D2-2B667F269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076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65FC0-7B69-4843-B5BD-0B809F535762}" type="datetimeFigureOut">
              <a:rPr lang="en-IN" smtClean="0"/>
              <a:t>17-01-2025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A01A0-4E6E-4A77-A7D2-2B667F269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0463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65FC0-7B69-4843-B5BD-0B809F535762}" type="datetimeFigureOut">
              <a:rPr lang="en-IN" smtClean="0"/>
              <a:t>17-01-2025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A01A0-4E6E-4A77-A7D2-2B667F269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955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65FC0-7B69-4843-B5BD-0B809F535762}" type="datetimeFigureOut">
              <a:rPr lang="en-IN" smtClean="0"/>
              <a:t>17-01-2025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A01A0-4E6E-4A77-A7D2-2B667F269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6834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65FC0-7B69-4843-B5BD-0B809F535762}" type="datetimeFigureOut">
              <a:rPr lang="en-IN" smtClean="0"/>
              <a:t>17-01-2025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A01A0-4E6E-4A77-A7D2-2B667F269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5932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765FC0-7B69-4843-B5BD-0B809F535762}" type="datetimeFigureOut">
              <a:rPr lang="en-IN" smtClean="0"/>
              <a:t>17-01-2025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CA01A0-4E6E-4A77-A7D2-2B667F269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5636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Hill Cipher </a:t>
            </a: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3657600"/>
            <a:ext cx="4492408" cy="29813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46702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Hill Cipher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Hill </a:t>
            </a:r>
            <a:r>
              <a:rPr lang="en-IN" dirty="0" smtClean="0"/>
              <a:t>cipher was developed </a:t>
            </a:r>
            <a:r>
              <a:rPr lang="en-IN" dirty="0"/>
              <a:t>by the </a:t>
            </a:r>
            <a:r>
              <a:rPr lang="en-IN" dirty="0" smtClean="0"/>
              <a:t>mathematician </a:t>
            </a:r>
            <a:r>
              <a:rPr lang="en-IN" dirty="0"/>
              <a:t>Lester Hill </a:t>
            </a:r>
            <a:r>
              <a:rPr lang="en-IN" dirty="0" smtClean="0"/>
              <a:t>in 1929.</a:t>
            </a:r>
          </a:p>
          <a:p>
            <a:pPr algn="just"/>
            <a:r>
              <a:rPr lang="en-IN" dirty="0"/>
              <a:t>The encryption algorithm takes </a:t>
            </a:r>
            <a:r>
              <a:rPr lang="en-IN" i="1" dirty="0"/>
              <a:t>m </a:t>
            </a:r>
            <a:r>
              <a:rPr lang="en-IN" dirty="0"/>
              <a:t>successive plaintext letters and substitutes for them </a:t>
            </a:r>
            <a:r>
              <a:rPr lang="en-IN" i="1" dirty="0"/>
              <a:t>m</a:t>
            </a:r>
          </a:p>
          <a:p>
            <a:pPr marL="0" indent="0" algn="just">
              <a:buNone/>
            </a:pPr>
            <a:r>
              <a:rPr lang="en-IN" dirty="0"/>
              <a:t> </a:t>
            </a:r>
            <a:r>
              <a:rPr lang="en-IN" dirty="0" smtClean="0"/>
              <a:t>   </a:t>
            </a:r>
            <a:r>
              <a:rPr lang="en-IN" dirty="0" err="1" smtClean="0"/>
              <a:t>ciphertext</a:t>
            </a:r>
            <a:r>
              <a:rPr lang="en-IN" dirty="0" smtClean="0"/>
              <a:t> </a:t>
            </a:r>
            <a:r>
              <a:rPr lang="en-IN" dirty="0"/>
              <a:t>letters.</a:t>
            </a:r>
          </a:p>
        </p:txBody>
      </p:sp>
    </p:spTree>
    <p:extLst>
      <p:ext uri="{BB962C8B-B14F-4D97-AF65-F5344CB8AC3E}">
        <p14:creationId xmlns:p14="http://schemas.microsoft.com/office/powerpoint/2010/main" val="1003360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Hill Cipher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490" y="1591069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 smtClean="0"/>
              <a:t>Step 1 – Select a Message to Encrypt 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 smtClean="0"/>
              <a:t>	text</a:t>
            </a:r>
          </a:p>
          <a:p>
            <a:pPr marL="857250" lvl="2" indent="0">
              <a:buNone/>
            </a:pPr>
            <a:r>
              <a:rPr lang="en-US" dirty="0" smtClean="0"/>
              <a:t>		</a:t>
            </a:r>
            <a:r>
              <a:rPr lang="en-US" dirty="0" err="1" smtClean="0"/>
              <a:t>te</a:t>
            </a:r>
            <a:r>
              <a:rPr lang="en-US" dirty="0" smtClean="0"/>
              <a:t> </a:t>
            </a:r>
            <a:r>
              <a:rPr lang="en-US" dirty="0" err="1" smtClean="0"/>
              <a:t>xt</a:t>
            </a:r>
            <a:r>
              <a:rPr lang="en-US" dirty="0" smtClean="0"/>
              <a:t>  </a:t>
            </a:r>
          </a:p>
          <a:p>
            <a:pPr marL="857250" lvl="2" indent="0">
              <a:buNone/>
            </a:pPr>
            <a:r>
              <a:rPr lang="en-US" sz="3200" dirty="0" smtClean="0"/>
              <a:t>STEP </a:t>
            </a:r>
            <a:r>
              <a:rPr lang="en-US" sz="3200" dirty="0"/>
              <a:t>2 – SELECT a KEY </a:t>
            </a:r>
          </a:p>
          <a:p>
            <a:pPr lvl="1"/>
            <a:r>
              <a:rPr lang="en-US" dirty="0" smtClean="0"/>
              <a:t>if we encrypt 2 letters at a time then key size is 4 </a:t>
            </a:r>
          </a:p>
          <a:p>
            <a:pPr lvl="1"/>
            <a:r>
              <a:rPr lang="en-US" dirty="0" smtClean="0"/>
              <a:t>If we encrypt 3 letters at a time then the key should be six letters and so on </a:t>
            </a:r>
          </a:p>
          <a:p>
            <a:pPr marL="457200" lvl="1" indent="0">
              <a:buNone/>
            </a:pPr>
            <a:r>
              <a:rPr lang="en-US" dirty="0" smtClean="0"/>
              <a:t>Key Selected is  </a:t>
            </a:r>
            <a:r>
              <a:rPr lang="en-US" dirty="0" err="1" smtClean="0"/>
              <a:t>dcdf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3124200" y="5715000"/>
            <a:ext cx="2133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3136490" y="5593812"/>
            <a:ext cx="1447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 smtClean="0"/>
              <a:t>dcdf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020389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Hill Cipher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STEP 3 </a:t>
            </a:r>
            <a:endParaRPr lang="en-IN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7142" y="204511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dirty="0" smtClean="0"/>
              <a:t>Let us assign a numerical equivalent to each letter:</a:t>
            </a:r>
            <a:endParaRPr lang="en-IN" dirty="0"/>
          </a:p>
        </p:txBody>
      </p:sp>
      <p:grpSp>
        <p:nvGrpSpPr>
          <p:cNvPr id="7" name="Group 6"/>
          <p:cNvGrpSpPr/>
          <p:nvPr/>
        </p:nvGrpSpPr>
        <p:grpSpPr>
          <a:xfrm>
            <a:off x="607142" y="3367403"/>
            <a:ext cx="7875639" cy="2922272"/>
            <a:chOff x="582560" y="2552700"/>
            <a:chExt cx="7875639" cy="2922272"/>
          </a:xfrm>
        </p:grpSpPr>
        <p:pic>
          <p:nvPicPr>
            <p:cNvPr id="5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0" y="2552700"/>
              <a:ext cx="6019800" cy="14887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2560" y="4041468"/>
              <a:ext cx="7875639" cy="14335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53545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Hill Cipher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STEP 4 – Convert the key </a:t>
            </a:r>
            <a:r>
              <a:rPr lang="en-US" dirty="0" err="1" smtClean="0"/>
              <a:t>dcdf</a:t>
            </a:r>
            <a:r>
              <a:rPr lang="en-US" dirty="0" smtClean="0"/>
              <a:t> to a 2X2 Matrix</a:t>
            </a:r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	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smtClean="0"/>
              <a:t>           =  </a:t>
            </a:r>
            <a:endParaRPr lang="en-IN" dirty="0"/>
          </a:p>
        </p:txBody>
      </p:sp>
      <p:grpSp>
        <p:nvGrpSpPr>
          <p:cNvPr id="19" name="Group 18"/>
          <p:cNvGrpSpPr/>
          <p:nvPr/>
        </p:nvGrpSpPr>
        <p:grpSpPr>
          <a:xfrm>
            <a:off x="517979" y="137094"/>
            <a:ext cx="8382000" cy="2621411"/>
            <a:chOff x="582560" y="2552700"/>
            <a:chExt cx="7875639" cy="2922272"/>
          </a:xfrm>
        </p:grpSpPr>
        <p:pic>
          <p:nvPicPr>
            <p:cNvPr id="2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0" y="2552700"/>
              <a:ext cx="6019800" cy="14887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2560" y="4041468"/>
              <a:ext cx="7875639" cy="14335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6" name="TextBox 15"/>
          <p:cNvSpPr txBox="1"/>
          <p:nvPr/>
        </p:nvSpPr>
        <p:spPr>
          <a:xfrm>
            <a:off x="1295400" y="4876800"/>
            <a:ext cx="35684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/>
              <a:t>Key  K is Done  </a:t>
            </a:r>
            <a:endParaRPr lang="en-IN" sz="3200" b="1" dirty="0"/>
          </a:p>
        </p:txBody>
      </p:sp>
      <p:sp>
        <p:nvSpPr>
          <p:cNvPr id="4" name="Double Bracket 3"/>
          <p:cNvSpPr/>
          <p:nvPr/>
        </p:nvSpPr>
        <p:spPr>
          <a:xfrm>
            <a:off x="1295400" y="2895600"/>
            <a:ext cx="1676400" cy="1447800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d          </a:t>
            </a:r>
            <a:r>
              <a:rPr lang="en-US" sz="2800" b="1" dirty="0" err="1" smtClean="0"/>
              <a:t>d</a:t>
            </a:r>
            <a:endParaRPr lang="en-US" sz="2800" b="1" dirty="0" smtClean="0"/>
          </a:p>
          <a:p>
            <a:pPr algn="ctr"/>
            <a:endParaRPr lang="en-US" sz="2800" b="1" dirty="0"/>
          </a:p>
          <a:p>
            <a:pPr algn="ctr"/>
            <a:r>
              <a:rPr lang="en-US" sz="2800" b="1" dirty="0"/>
              <a:t>c</a:t>
            </a:r>
            <a:r>
              <a:rPr lang="en-US" sz="2800" b="1" dirty="0" smtClean="0"/>
              <a:t>           f</a:t>
            </a:r>
            <a:endParaRPr lang="en-IN" sz="2800" b="1" dirty="0"/>
          </a:p>
        </p:txBody>
      </p:sp>
      <p:sp>
        <p:nvSpPr>
          <p:cNvPr id="10" name="Double Bracket 9"/>
          <p:cNvSpPr/>
          <p:nvPr/>
        </p:nvSpPr>
        <p:spPr>
          <a:xfrm>
            <a:off x="4347029" y="3025205"/>
            <a:ext cx="1676400" cy="1447800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3</a:t>
            </a:r>
            <a:r>
              <a:rPr lang="en-US" sz="2800" b="1" dirty="0" smtClean="0"/>
              <a:t>         3</a:t>
            </a:r>
          </a:p>
          <a:p>
            <a:pPr algn="ctr"/>
            <a:endParaRPr lang="en-US" sz="2800" b="1" dirty="0"/>
          </a:p>
          <a:p>
            <a:pPr algn="ctr"/>
            <a:r>
              <a:rPr lang="en-US" sz="2800" b="1" dirty="0" smtClean="0"/>
              <a:t>2         5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557327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4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Hill Cipher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Step 5 – convert the message </a:t>
            </a:r>
            <a:r>
              <a:rPr lang="en-US" b="1" dirty="0" smtClean="0">
                <a:solidFill>
                  <a:srgbClr val="FF0000"/>
                </a:solidFill>
              </a:rPr>
              <a:t>text </a:t>
            </a:r>
            <a:r>
              <a:rPr lang="en-US" dirty="0" smtClean="0"/>
              <a:t>to a n component vector </a:t>
            </a:r>
          </a:p>
          <a:p>
            <a:pPr marL="0" indent="0">
              <a:buNone/>
            </a:pPr>
            <a:r>
              <a:rPr lang="en-US" dirty="0" smtClean="0"/>
              <a:t>Message -   </a:t>
            </a:r>
            <a:r>
              <a:rPr lang="en-US" dirty="0" err="1" smtClean="0"/>
              <a:t>te</a:t>
            </a:r>
            <a:r>
              <a:rPr lang="en-US" dirty="0" smtClean="0"/>
              <a:t> </a:t>
            </a:r>
            <a:r>
              <a:rPr lang="en-US" dirty="0" err="1" smtClean="0"/>
              <a:t>xt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/>
              <a:t> </a:t>
            </a:r>
            <a:endParaRPr lang="en-US" dirty="0" smtClean="0"/>
          </a:p>
          <a:p>
            <a:pPr marL="0" indent="0">
              <a:buNone/>
            </a:pPr>
            <a:endParaRPr lang="en-IN" dirty="0"/>
          </a:p>
        </p:txBody>
      </p:sp>
      <p:grpSp>
        <p:nvGrpSpPr>
          <p:cNvPr id="12" name="Group 11"/>
          <p:cNvGrpSpPr/>
          <p:nvPr/>
        </p:nvGrpSpPr>
        <p:grpSpPr>
          <a:xfrm>
            <a:off x="265620" y="190758"/>
            <a:ext cx="8382000" cy="2621411"/>
            <a:chOff x="582560" y="2552700"/>
            <a:chExt cx="7875639" cy="2922272"/>
          </a:xfrm>
        </p:grpSpPr>
        <p:pic>
          <p:nvPicPr>
            <p:cNvPr id="13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0" y="2552700"/>
              <a:ext cx="6019800" cy="14887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2560" y="4041468"/>
              <a:ext cx="7875639" cy="14335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" name="Rectangular Callout 3"/>
          <p:cNvSpPr/>
          <p:nvPr/>
        </p:nvSpPr>
        <p:spPr>
          <a:xfrm>
            <a:off x="5943600" y="2971800"/>
            <a:ext cx="1905000" cy="914400"/>
          </a:xfrm>
          <a:prstGeom prst="wedgeRectCallout">
            <a:avLst>
              <a:gd name="adj1" fmla="val -97478"/>
              <a:gd name="adj2" fmla="val 1850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Plain Text   P  </a:t>
            </a:r>
            <a:endParaRPr lang="en-IN" b="1" dirty="0"/>
          </a:p>
        </p:txBody>
      </p:sp>
      <p:sp>
        <p:nvSpPr>
          <p:cNvPr id="16" name="Double Bracket 15"/>
          <p:cNvSpPr/>
          <p:nvPr/>
        </p:nvSpPr>
        <p:spPr>
          <a:xfrm>
            <a:off x="1010209" y="3218374"/>
            <a:ext cx="970991" cy="1521506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t         </a:t>
            </a:r>
          </a:p>
          <a:p>
            <a:pPr algn="ctr"/>
            <a:endParaRPr lang="en-US" sz="2800" b="1" dirty="0"/>
          </a:p>
          <a:p>
            <a:pPr algn="ctr"/>
            <a:r>
              <a:rPr lang="en-US" sz="2800" b="1" dirty="0"/>
              <a:t>e</a:t>
            </a:r>
            <a:r>
              <a:rPr lang="en-US" sz="2800" b="1" dirty="0" smtClean="0"/>
              <a:t>         </a:t>
            </a:r>
            <a:endParaRPr lang="en-IN" sz="2800" b="1" dirty="0"/>
          </a:p>
        </p:txBody>
      </p:sp>
      <p:sp>
        <p:nvSpPr>
          <p:cNvPr id="17" name="Double Bracket 16"/>
          <p:cNvSpPr/>
          <p:nvPr/>
        </p:nvSpPr>
        <p:spPr>
          <a:xfrm>
            <a:off x="2247552" y="3242087"/>
            <a:ext cx="970991" cy="1521506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x</a:t>
            </a:r>
            <a:r>
              <a:rPr lang="en-US" sz="2800" b="1" dirty="0" smtClean="0"/>
              <a:t>        </a:t>
            </a:r>
          </a:p>
          <a:p>
            <a:pPr algn="ctr"/>
            <a:endParaRPr lang="en-US" sz="2800" b="1" dirty="0"/>
          </a:p>
          <a:p>
            <a:pPr algn="ctr"/>
            <a:r>
              <a:rPr lang="en-US" sz="2800" b="1" dirty="0" smtClean="0"/>
              <a:t>t         </a:t>
            </a:r>
            <a:endParaRPr lang="en-IN" sz="2800" b="1" dirty="0"/>
          </a:p>
        </p:txBody>
      </p:sp>
      <p:sp>
        <p:nvSpPr>
          <p:cNvPr id="18" name="Double Bracket 17"/>
          <p:cNvSpPr/>
          <p:nvPr/>
        </p:nvSpPr>
        <p:spPr>
          <a:xfrm>
            <a:off x="1010208" y="5081448"/>
            <a:ext cx="970991" cy="1521506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19         </a:t>
            </a:r>
          </a:p>
          <a:p>
            <a:pPr algn="ctr"/>
            <a:endParaRPr lang="en-US" sz="2800" b="1" dirty="0"/>
          </a:p>
          <a:p>
            <a:pPr algn="ctr"/>
            <a:r>
              <a:rPr lang="en-US" sz="2800" b="1" dirty="0" smtClean="0"/>
              <a:t>4         </a:t>
            </a:r>
            <a:endParaRPr lang="en-IN" sz="2800" b="1" dirty="0"/>
          </a:p>
        </p:txBody>
      </p:sp>
      <p:sp>
        <p:nvSpPr>
          <p:cNvPr id="19" name="Double Bracket 18"/>
          <p:cNvSpPr/>
          <p:nvPr/>
        </p:nvSpPr>
        <p:spPr>
          <a:xfrm>
            <a:off x="2283838" y="5081448"/>
            <a:ext cx="970991" cy="1521506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23        </a:t>
            </a:r>
          </a:p>
          <a:p>
            <a:pPr algn="ctr"/>
            <a:endParaRPr lang="en-US" sz="2800" b="1" dirty="0"/>
          </a:p>
          <a:p>
            <a:pPr algn="ctr"/>
            <a:r>
              <a:rPr lang="en-US" sz="2800" b="1" dirty="0" smtClean="0"/>
              <a:t>19        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356344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Hill Cipher Encryption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416803"/>
            <a:ext cx="7324724" cy="1685235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STEP 5  </a:t>
            </a:r>
          </a:p>
          <a:p>
            <a:r>
              <a:rPr lang="en-US" dirty="0" err="1" smtClean="0"/>
              <a:t>Ciphertext</a:t>
            </a:r>
            <a:r>
              <a:rPr lang="en-US" dirty="0" smtClean="0"/>
              <a:t> = K * P mod 26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	</a:t>
            </a:r>
            <a:r>
              <a:rPr lang="en-US" dirty="0"/>
              <a:t> </a:t>
            </a: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800694" y="3688370"/>
            <a:ext cx="171553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/>
              <a:t>mod 26 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304800" y="-119470"/>
            <a:ext cx="8382000" cy="2621411"/>
            <a:chOff x="582560" y="2552700"/>
            <a:chExt cx="7875639" cy="2922272"/>
          </a:xfrm>
        </p:grpSpPr>
        <p:pic>
          <p:nvPicPr>
            <p:cNvPr id="9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0" y="2552700"/>
              <a:ext cx="6019800" cy="14887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2560" y="4041468"/>
              <a:ext cx="7875639" cy="14335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1" name="Double Bracket 10"/>
          <p:cNvSpPr/>
          <p:nvPr/>
        </p:nvSpPr>
        <p:spPr>
          <a:xfrm>
            <a:off x="457200" y="3288437"/>
            <a:ext cx="1676400" cy="1447800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3</a:t>
            </a:r>
            <a:r>
              <a:rPr lang="en-US" sz="2800" b="1" dirty="0" smtClean="0"/>
              <a:t>         3</a:t>
            </a:r>
          </a:p>
          <a:p>
            <a:pPr algn="ctr"/>
            <a:endParaRPr lang="en-US" sz="2800" b="1" dirty="0"/>
          </a:p>
          <a:p>
            <a:pPr algn="ctr"/>
            <a:r>
              <a:rPr lang="en-US" sz="2800" b="1" dirty="0" smtClean="0"/>
              <a:t>2         5</a:t>
            </a:r>
            <a:endParaRPr lang="en-IN" sz="2800" b="1" dirty="0"/>
          </a:p>
        </p:txBody>
      </p:sp>
      <p:sp>
        <p:nvSpPr>
          <p:cNvPr id="12" name="Double Bracket 11"/>
          <p:cNvSpPr/>
          <p:nvPr/>
        </p:nvSpPr>
        <p:spPr>
          <a:xfrm>
            <a:off x="2945988" y="3322003"/>
            <a:ext cx="685800" cy="1521506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19         </a:t>
            </a:r>
          </a:p>
          <a:p>
            <a:pPr algn="ctr"/>
            <a:endParaRPr lang="en-US" sz="2800" b="1" dirty="0"/>
          </a:p>
          <a:p>
            <a:pPr algn="ctr"/>
            <a:r>
              <a:rPr lang="en-US" sz="2800" b="1" dirty="0" smtClean="0"/>
              <a:t>4         </a:t>
            </a:r>
            <a:endParaRPr lang="en-IN" sz="2800" b="1" dirty="0"/>
          </a:p>
        </p:txBody>
      </p:sp>
      <p:sp>
        <p:nvSpPr>
          <p:cNvPr id="13" name="Double Bracket 12"/>
          <p:cNvSpPr/>
          <p:nvPr/>
        </p:nvSpPr>
        <p:spPr>
          <a:xfrm>
            <a:off x="434372" y="5308642"/>
            <a:ext cx="1676400" cy="1447800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3</a:t>
            </a:r>
            <a:r>
              <a:rPr lang="en-US" sz="2800" b="1" dirty="0" smtClean="0"/>
              <a:t>         3</a:t>
            </a:r>
          </a:p>
          <a:p>
            <a:pPr algn="ctr"/>
            <a:endParaRPr lang="en-US" sz="2800" b="1" dirty="0"/>
          </a:p>
          <a:p>
            <a:pPr algn="ctr"/>
            <a:r>
              <a:rPr lang="en-US" sz="2800" b="1" dirty="0" smtClean="0"/>
              <a:t>2         5</a:t>
            </a:r>
            <a:endParaRPr lang="en-IN" sz="2800" b="1" dirty="0"/>
          </a:p>
        </p:txBody>
      </p:sp>
      <p:sp>
        <p:nvSpPr>
          <p:cNvPr id="14" name="Double Bracket 13"/>
          <p:cNvSpPr/>
          <p:nvPr/>
        </p:nvSpPr>
        <p:spPr>
          <a:xfrm>
            <a:off x="2956011" y="5194218"/>
            <a:ext cx="677484" cy="1570577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23        </a:t>
            </a:r>
          </a:p>
          <a:p>
            <a:pPr algn="ctr"/>
            <a:endParaRPr lang="en-US" sz="2800" b="1" dirty="0"/>
          </a:p>
          <a:p>
            <a:pPr algn="ctr"/>
            <a:r>
              <a:rPr lang="en-US" sz="2800" b="1" dirty="0" smtClean="0"/>
              <a:t>19        </a:t>
            </a:r>
            <a:endParaRPr lang="en-IN" sz="2800" b="1" dirty="0"/>
          </a:p>
        </p:txBody>
      </p:sp>
      <p:sp>
        <p:nvSpPr>
          <p:cNvPr id="15" name="Rectangle 14"/>
          <p:cNvSpPr/>
          <p:nvPr/>
        </p:nvSpPr>
        <p:spPr>
          <a:xfrm>
            <a:off x="3714233" y="5636286"/>
            <a:ext cx="171553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/>
              <a:t>mod 26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09226" y="5631807"/>
            <a:ext cx="41389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/>
              <a:t>*</a:t>
            </a:r>
            <a:endParaRPr lang="en-US" sz="3600" dirty="0"/>
          </a:p>
        </p:txBody>
      </p:sp>
      <p:sp>
        <p:nvSpPr>
          <p:cNvPr id="17" name="Double Bracket 16"/>
          <p:cNvSpPr/>
          <p:nvPr/>
        </p:nvSpPr>
        <p:spPr>
          <a:xfrm>
            <a:off x="6036399" y="3421335"/>
            <a:ext cx="742347" cy="1521506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17         </a:t>
            </a:r>
          </a:p>
          <a:p>
            <a:pPr algn="ctr"/>
            <a:endParaRPr lang="en-US" sz="2800" b="1" dirty="0"/>
          </a:p>
          <a:p>
            <a:pPr algn="ctr"/>
            <a:r>
              <a:rPr lang="en-US" sz="2800" b="1" dirty="0"/>
              <a:t>6</a:t>
            </a:r>
            <a:r>
              <a:rPr lang="en-US" sz="2800" b="1" dirty="0" smtClean="0"/>
              <a:t>         </a:t>
            </a:r>
            <a:endParaRPr lang="en-IN" sz="2800" b="1" dirty="0"/>
          </a:p>
        </p:txBody>
      </p:sp>
      <p:sp>
        <p:nvSpPr>
          <p:cNvPr id="18" name="Rectangle 17"/>
          <p:cNvSpPr/>
          <p:nvPr/>
        </p:nvSpPr>
        <p:spPr>
          <a:xfrm>
            <a:off x="5498969" y="3699699"/>
            <a:ext cx="41389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/>
              <a:t>=</a:t>
            </a:r>
            <a:endParaRPr lang="en-US" sz="3600" dirty="0"/>
          </a:p>
        </p:txBody>
      </p:sp>
      <p:sp>
        <p:nvSpPr>
          <p:cNvPr id="19" name="Rectangle 18"/>
          <p:cNvSpPr/>
          <p:nvPr/>
        </p:nvSpPr>
        <p:spPr>
          <a:xfrm>
            <a:off x="5487155" y="5656340"/>
            <a:ext cx="41389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/>
              <a:t>=</a:t>
            </a:r>
            <a:endParaRPr lang="en-US" sz="3600" dirty="0"/>
          </a:p>
        </p:txBody>
      </p:sp>
      <p:sp>
        <p:nvSpPr>
          <p:cNvPr id="20" name="Double Bracket 19"/>
          <p:cNvSpPr/>
          <p:nvPr/>
        </p:nvSpPr>
        <p:spPr>
          <a:xfrm>
            <a:off x="6015110" y="5308642"/>
            <a:ext cx="615880" cy="1521506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22</a:t>
            </a:r>
          </a:p>
          <a:p>
            <a:pPr algn="ctr"/>
            <a:endParaRPr lang="en-US" sz="2800" b="1" dirty="0"/>
          </a:p>
          <a:p>
            <a:pPr algn="ctr"/>
            <a:r>
              <a:rPr lang="en-US" sz="2800" b="1" dirty="0" smtClean="0"/>
              <a:t>11</a:t>
            </a:r>
            <a:endParaRPr lang="en-IN" sz="2800" b="1" dirty="0"/>
          </a:p>
        </p:txBody>
      </p:sp>
      <p:sp>
        <p:nvSpPr>
          <p:cNvPr id="21" name="Double Bracket 20"/>
          <p:cNvSpPr/>
          <p:nvPr/>
        </p:nvSpPr>
        <p:spPr>
          <a:xfrm>
            <a:off x="7448719" y="3341285"/>
            <a:ext cx="742347" cy="1521506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r         </a:t>
            </a:r>
          </a:p>
          <a:p>
            <a:pPr algn="ctr"/>
            <a:endParaRPr lang="en-US" sz="2800" b="1" dirty="0"/>
          </a:p>
          <a:p>
            <a:pPr algn="ctr"/>
            <a:r>
              <a:rPr lang="en-US" sz="2800" b="1" dirty="0" smtClean="0"/>
              <a:t>g        </a:t>
            </a:r>
            <a:endParaRPr lang="en-IN" sz="2800" b="1" dirty="0"/>
          </a:p>
        </p:txBody>
      </p:sp>
      <p:sp>
        <p:nvSpPr>
          <p:cNvPr id="22" name="Double Bracket 21"/>
          <p:cNvSpPr/>
          <p:nvPr/>
        </p:nvSpPr>
        <p:spPr>
          <a:xfrm>
            <a:off x="7503442" y="5222159"/>
            <a:ext cx="615880" cy="1521506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w</a:t>
            </a:r>
          </a:p>
          <a:p>
            <a:pPr algn="ctr"/>
            <a:endParaRPr lang="en-US" sz="2800" b="1" dirty="0"/>
          </a:p>
          <a:p>
            <a:pPr algn="ctr"/>
            <a:r>
              <a:rPr lang="en-US" sz="2800" b="1" dirty="0" smtClean="0"/>
              <a:t>l</a:t>
            </a:r>
            <a:endParaRPr lang="en-IN" sz="2800" b="1" dirty="0"/>
          </a:p>
        </p:txBody>
      </p:sp>
      <p:sp>
        <p:nvSpPr>
          <p:cNvPr id="23" name="Rectangle 22"/>
          <p:cNvSpPr/>
          <p:nvPr/>
        </p:nvSpPr>
        <p:spPr>
          <a:xfrm>
            <a:off x="6902280" y="3688370"/>
            <a:ext cx="41389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/>
              <a:t>=</a:t>
            </a:r>
            <a:endParaRPr lang="en-US" sz="3600" dirty="0"/>
          </a:p>
        </p:txBody>
      </p:sp>
      <p:sp>
        <p:nvSpPr>
          <p:cNvPr id="24" name="Rectangle 23"/>
          <p:cNvSpPr/>
          <p:nvPr/>
        </p:nvSpPr>
        <p:spPr>
          <a:xfrm>
            <a:off x="6778746" y="5656340"/>
            <a:ext cx="41389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/>
              <a:t>=</a:t>
            </a:r>
            <a:endParaRPr lang="en-US" sz="3600" dirty="0"/>
          </a:p>
        </p:txBody>
      </p:sp>
      <p:sp>
        <p:nvSpPr>
          <p:cNvPr id="25" name="Rectangle 24"/>
          <p:cNvSpPr/>
          <p:nvPr/>
        </p:nvSpPr>
        <p:spPr>
          <a:xfrm>
            <a:off x="2386335" y="3718749"/>
            <a:ext cx="3911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 smtClean="0"/>
              <a:t>*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999110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 animBg="1"/>
      <p:bldP spid="12" grpId="0" animBg="1"/>
      <p:bldP spid="13" grpId="0" animBg="1"/>
      <p:bldP spid="14" grpId="0" animBg="1"/>
      <p:bldP spid="15" grpId="0"/>
      <p:bldP spid="16" grpId="0"/>
      <p:bldP spid="17" grpId="0" animBg="1"/>
      <p:bldP spid="18" grpId="0"/>
      <p:bldP spid="19" grpId="0"/>
      <p:bldP spid="20" grpId="0" animBg="1"/>
      <p:bldP spid="21" grpId="0" animBg="1"/>
      <p:bldP spid="22" grpId="0" animBg="1"/>
      <p:bldP spid="23" grpId="0"/>
      <p:bldP spid="24" grpId="0"/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Hill Cipher Decryption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smtClean="0"/>
              <a:t>Plain Text =  K </a:t>
            </a:r>
            <a:r>
              <a:rPr lang="en-US" baseline="30000" dirty="0" smtClean="0"/>
              <a:t>-1 </a:t>
            </a:r>
            <a:r>
              <a:rPr lang="en-US" dirty="0" smtClean="0"/>
              <a:t>C mod 26 </a:t>
            </a:r>
          </a:p>
          <a:p>
            <a:endParaRPr lang="en-US" dirty="0"/>
          </a:p>
          <a:p>
            <a:r>
              <a:rPr lang="en-US" dirty="0" smtClean="0"/>
              <a:t>K </a:t>
            </a:r>
            <a:r>
              <a:rPr lang="en-US" baseline="30000" dirty="0"/>
              <a:t>-</a:t>
            </a:r>
            <a:r>
              <a:rPr lang="en-US" baseline="30000" dirty="0" smtClean="0"/>
              <a:t>1    </a:t>
            </a:r>
            <a:r>
              <a:rPr lang="en-US" dirty="0"/>
              <a:t>=      1 / </a:t>
            </a:r>
            <a:r>
              <a:rPr lang="en-US" dirty="0" smtClean="0"/>
              <a:t>|K|  </a:t>
            </a:r>
            <a:r>
              <a:rPr lang="en-US" dirty="0" err="1" smtClean="0"/>
              <a:t>adj</a:t>
            </a:r>
            <a:r>
              <a:rPr lang="en-US" dirty="0" smtClean="0"/>
              <a:t>(K)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9985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Compute </a:t>
            </a:r>
            <a:r>
              <a:rPr lang="en-US" dirty="0"/>
              <a:t>1 / |K|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smtClean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|</a:t>
            </a:r>
            <a:r>
              <a:rPr lang="en-US" dirty="0"/>
              <a:t>K</a:t>
            </a:r>
            <a:r>
              <a:rPr lang="en-US" dirty="0" smtClean="0"/>
              <a:t>|  </a:t>
            </a:r>
            <a:r>
              <a:rPr lang="en-US" dirty="0"/>
              <a:t>=9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Determine Multiplicative inverse   </a:t>
            </a:r>
            <a:r>
              <a:rPr lang="en-US" b="1" dirty="0" smtClean="0">
                <a:solidFill>
                  <a:srgbClr val="FF0000"/>
                </a:solidFill>
              </a:rPr>
              <a:t>Caution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9 mod 26 =1</a:t>
            </a:r>
          </a:p>
          <a:p>
            <a:pPr marL="0" indent="0">
              <a:buNone/>
            </a:pPr>
            <a:r>
              <a:rPr lang="en-US" dirty="0"/>
              <a:t>1/ |K| </a:t>
            </a:r>
            <a:r>
              <a:rPr lang="en-US" dirty="0" smtClean="0"/>
              <a:t>=3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3018503" y="1995844"/>
            <a:ext cx="457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|K| </a:t>
            </a:r>
            <a:r>
              <a:rPr lang="en-US" sz="2800" dirty="0" smtClean="0"/>
              <a:t>   </a:t>
            </a:r>
            <a:r>
              <a:rPr lang="en-US" sz="2800" b="1" dirty="0" smtClean="0">
                <a:solidFill>
                  <a:srgbClr val="FF0000"/>
                </a:solidFill>
              </a:rPr>
              <a:t>Should not be ZERO</a:t>
            </a:r>
            <a:endParaRPr lang="en-IN" sz="2800" b="1" dirty="0">
              <a:solidFill>
                <a:srgbClr val="FF0000"/>
              </a:solidFill>
            </a:endParaRPr>
          </a:p>
        </p:txBody>
      </p:sp>
      <p:sp>
        <p:nvSpPr>
          <p:cNvPr id="6" name="Double Bracket 5"/>
          <p:cNvSpPr/>
          <p:nvPr/>
        </p:nvSpPr>
        <p:spPr>
          <a:xfrm>
            <a:off x="685800" y="1533554"/>
            <a:ext cx="1676400" cy="1447800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3</a:t>
            </a:r>
            <a:r>
              <a:rPr lang="en-US" sz="2800" b="1" dirty="0" smtClean="0"/>
              <a:t>         3</a:t>
            </a:r>
          </a:p>
          <a:p>
            <a:pPr algn="ctr"/>
            <a:endParaRPr lang="en-US" sz="2800" b="1" dirty="0"/>
          </a:p>
          <a:p>
            <a:pPr algn="ctr"/>
            <a:r>
              <a:rPr lang="en-US" sz="2800" b="1" dirty="0" smtClean="0"/>
              <a:t>2         5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58684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Compute </a:t>
            </a:r>
            <a:r>
              <a:rPr lang="en-US" dirty="0" err="1" smtClean="0"/>
              <a:t>adj</a:t>
            </a:r>
            <a:r>
              <a:rPr lang="en-US" dirty="0" smtClean="0"/>
              <a:t>(k)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Double Bracket 6"/>
          <p:cNvSpPr/>
          <p:nvPr/>
        </p:nvSpPr>
        <p:spPr>
          <a:xfrm>
            <a:off x="685800" y="2209800"/>
            <a:ext cx="1676400" cy="1447800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3</a:t>
            </a:r>
            <a:r>
              <a:rPr lang="en-US" sz="2800" b="1" dirty="0" smtClean="0"/>
              <a:t>         3</a:t>
            </a:r>
          </a:p>
          <a:p>
            <a:pPr algn="ctr"/>
            <a:endParaRPr lang="en-US" sz="2800" b="1" dirty="0"/>
          </a:p>
          <a:p>
            <a:pPr algn="ctr"/>
            <a:r>
              <a:rPr lang="en-US" sz="2800" b="1" dirty="0" smtClean="0"/>
              <a:t>2         5</a:t>
            </a:r>
            <a:endParaRPr lang="en-IN" sz="2800" b="1" dirty="0"/>
          </a:p>
        </p:txBody>
      </p:sp>
      <p:sp>
        <p:nvSpPr>
          <p:cNvPr id="8" name="Double Bracket 7"/>
          <p:cNvSpPr/>
          <p:nvPr/>
        </p:nvSpPr>
        <p:spPr>
          <a:xfrm>
            <a:off x="4267200" y="2133600"/>
            <a:ext cx="1676400" cy="1447800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5        -3</a:t>
            </a:r>
          </a:p>
          <a:p>
            <a:pPr algn="ctr"/>
            <a:endParaRPr lang="en-US" sz="2800" b="1" dirty="0"/>
          </a:p>
          <a:p>
            <a:pPr algn="ctr"/>
            <a:r>
              <a:rPr lang="en-US" sz="2800" b="1" dirty="0" smtClean="0"/>
              <a:t>-2        3</a:t>
            </a:r>
            <a:endParaRPr lang="en-IN" sz="2800" b="1" dirty="0"/>
          </a:p>
        </p:txBody>
      </p:sp>
      <p:sp>
        <p:nvSpPr>
          <p:cNvPr id="10" name="Rectangle 9"/>
          <p:cNvSpPr/>
          <p:nvPr/>
        </p:nvSpPr>
        <p:spPr>
          <a:xfrm>
            <a:off x="3112956" y="2534334"/>
            <a:ext cx="41389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/>
              <a:t>=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636271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 </a:t>
            </a:r>
            <a:r>
              <a:rPr lang="en-US" baseline="30000" dirty="0"/>
              <a:t>-1    </a:t>
            </a:r>
            <a:r>
              <a:rPr lang="en-US" dirty="0"/>
              <a:t>=      1 / |K|  </a:t>
            </a:r>
            <a:r>
              <a:rPr lang="en-US" dirty="0" err="1"/>
              <a:t>adj</a:t>
            </a:r>
            <a:r>
              <a:rPr lang="en-US" dirty="0"/>
              <a:t>(K</a:t>
            </a:r>
            <a:r>
              <a:rPr lang="en-US" dirty="0" smtClean="0"/>
              <a:t>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We have  </a:t>
            </a:r>
            <a:r>
              <a:rPr lang="en-US" dirty="0"/>
              <a:t>1 / |K| </a:t>
            </a:r>
            <a:r>
              <a:rPr lang="en-US" dirty="0" smtClean="0"/>
              <a:t>  = 3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IN" dirty="0" smtClean="0"/>
              <a:t>and </a:t>
            </a:r>
            <a:r>
              <a:rPr lang="en-IN" dirty="0" err="1" smtClean="0"/>
              <a:t>adj</a:t>
            </a:r>
            <a:r>
              <a:rPr lang="en-IN" dirty="0" smtClean="0"/>
              <a:t>(k) </a:t>
            </a:r>
            <a:endParaRPr lang="en-US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3215148" y="3581400"/>
            <a:ext cx="21950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* 3   =  </a:t>
            </a:r>
            <a:endParaRPr lang="en-IN" sz="4000" dirty="0"/>
          </a:p>
        </p:txBody>
      </p:sp>
      <p:sp>
        <p:nvSpPr>
          <p:cNvPr id="7" name="Double Bracket 6"/>
          <p:cNvSpPr/>
          <p:nvPr/>
        </p:nvSpPr>
        <p:spPr>
          <a:xfrm>
            <a:off x="1104900" y="3284711"/>
            <a:ext cx="1676400" cy="1447800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5        -3</a:t>
            </a:r>
          </a:p>
          <a:p>
            <a:pPr algn="ctr"/>
            <a:endParaRPr lang="en-US" sz="2800" b="1" dirty="0"/>
          </a:p>
          <a:p>
            <a:pPr algn="ctr"/>
            <a:r>
              <a:rPr lang="en-US" sz="2800" b="1" dirty="0" smtClean="0"/>
              <a:t>-2        3</a:t>
            </a:r>
            <a:endParaRPr lang="en-IN" sz="2800" b="1" dirty="0"/>
          </a:p>
        </p:txBody>
      </p:sp>
      <p:sp>
        <p:nvSpPr>
          <p:cNvPr id="8" name="Double Bracket 7"/>
          <p:cNvSpPr/>
          <p:nvPr/>
        </p:nvSpPr>
        <p:spPr>
          <a:xfrm>
            <a:off x="5257800" y="3284711"/>
            <a:ext cx="1676400" cy="1447800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15        -9</a:t>
            </a:r>
          </a:p>
          <a:p>
            <a:pPr algn="ctr"/>
            <a:endParaRPr lang="en-US" sz="2800" b="1" dirty="0"/>
          </a:p>
          <a:p>
            <a:pPr algn="ctr"/>
            <a:r>
              <a:rPr lang="en-US" sz="2800" b="1" dirty="0" smtClean="0"/>
              <a:t>-6        9</a:t>
            </a:r>
            <a:endParaRPr lang="en-IN" sz="2800" b="1" dirty="0"/>
          </a:p>
        </p:txBody>
      </p:sp>
      <p:sp>
        <p:nvSpPr>
          <p:cNvPr id="4" name="Rectangle 3"/>
          <p:cNvSpPr/>
          <p:nvPr/>
        </p:nvSpPr>
        <p:spPr>
          <a:xfrm>
            <a:off x="457201" y="5638800"/>
            <a:ext cx="7269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K </a:t>
            </a:r>
            <a:r>
              <a:rPr lang="en-US" sz="3200" baseline="30000" dirty="0"/>
              <a:t>-1 </a:t>
            </a:r>
            <a:endParaRPr lang="en-IN" sz="3200" dirty="0"/>
          </a:p>
        </p:txBody>
      </p:sp>
      <p:sp>
        <p:nvSpPr>
          <p:cNvPr id="10" name="TextBox 9"/>
          <p:cNvSpPr txBox="1"/>
          <p:nvPr/>
        </p:nvSpPr>
        <p:spPr>
          <a:xfrm>
            <a:off x="1633568" y="5770116"/>
            <a:ext cx="8810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=  </a:t>
            </a:r>
            <a:endParaRPr lang="en-IN" sz="4000" dirty="0"/>
          </a:p>
        </p:txBody>
      </p:sp>
      <p:sp>
        <p:nvSpPr>
          <p:cNvPr id="11" name="Double Bracket 10"/>
          <p:cNvSpPr/>
          <p:nvPr/>
        </p:nvSpPr>
        <p:spPr>
          <a:xfrm>
            <a:off x="2743200" y="5197166"/>
            <a:ext cx="2020881" cy="1447800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15        17</a:t>
            </a:r>
          </a:p>
          <a:p>
            <a:pPr algn="ctr"/>
            <a:endParaRPr lang="en-US" sz="2800" b="1" dirty="0"/>
          </a:p>
          <a:p>
            <a:pPr algn="ctr"/>
            <a:r>
              <a:rPr lang="en-US" sz="2800" b="1" dirty="0" smtClean="0"/>
              <a:t>20         9</a:t>
            </a:r>
            <a:endParaRPr lang="en-IN" sz="2800" b="1" dirty="0"/>
          </a:p>
        </p:txBody>
      </p:sp>
      <p:sp>
        <p:nvSpPr>
          <p:cNvPr id="5" name="Rectangle 4"/>
          <p:cNvSpPr/>
          <p:nvPr/>
        </p:nvSpPr>
        <p:spPr>
          <a:xfrm>
            <a:off x="5638800" y="5450969"/>
            <a:ext cx="2037560" cy="8697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Adding negative number with 26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1264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animBg="1"/>
      <p:bldP spid="4" grpId="0"/>
      <p:bldP spid="10" grpId="0"/>
      <p:bldP spid="11" grpId="0" animBg="1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Decryption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5487" y="1286796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K </a:t>
            </a:r>
            <a:r>
              <a:rPr lang="en-US" baseline="30000" dirty="0"/>
              <a:t>-1    </a:t>
            </a:r>
            <a:r>
              <a:rPr lang="en-US" dirty="0"/>
              <a:t>= </a:t>
            </a:r>
            <a:endParaRPr lang="en-IN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3716" y="1042345"/>
            <a:ext cx="2147888" cy="1853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" name="Group 19"/>
          <p:cNvGrpSpPr/>
          <p:nvPr/>
        </p:nvGrpSpPr>
        <p:grpSpPr>
          <a:xfrm>
            <a:off x="304800" y="91143"/>
            <a:ext cx="8382000" cy="2621411"/>
            <a:chOff x="582560" y="2552700"/>
            <a:chExt cx="7875639" cy="2922272"/>
          </a:xfrm>
        </p:grpSpPr>
        <p:pic>
          <p:nvPicPr>
            <p:cNvPr id="21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0" y="2552700"/>
              <a:ext cx="6019800" cy="14887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2560" y="4041468"/>
              <a:ext cx="7875639" cy="14335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5" name="Title 1"/>
          <p:cNvSpPr txBox="1">
            <a:spLocks/>
          </p:cNvSpPr>
          <p:nvPr/>
        </p:nvSpPr>
        <p:spPr>
          <a:xfrm>
            <a:off x="0" y="243329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P= </a:t>
            </a:r>
            <a:r>
              <a:rPr lang="en-US" dirty="0"/>
              <a:t>K </a:t>
            </a:r>
            <a:r>
              <a:rPr lang="en-US" baseline="30000" dirty="0"/>
              <a:t>-1 </a:t>
            </a:r>
            <a:r>
              <a:rPr lang="en-US" dirty="0" smtClean="0"/>
              <a:t>C mod 26</a:t>
            </a:r>
            <a:endParaRPr lang="en-IN" dirty="0"/>
          </a:p>
        </p:txBody>
      </p:sp>
      <p:sp>
        <p:nvSpPr>
          <p:cNvPr id="26" name="Double Bracket 25"/>
          <p:cNvSpPr/>
          <p:nvPr/>
        </p:nvSpPr>
        <p:spPr>
          <a:xfrm>
            <a:off x="338995" y="3403426"/>
            <a:ext cx="2020881" cy="1447800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15        17</a:t>
            </a:r>
          </a:p>
          <a:p>
            <a:pPr algn="ctr"/>
            <a:endParaRPr lang="en-US" sz="2800" b="1" dirty="0"/>
          </a:p>
          <a:p>
            <a:pPr algn="ctr"/>
            <a:r>
              <a:rPr lang="en-US" sz="2800" b="1" dirty="0" smtClean="0"/>
              <a:t>20         9</a:t>
            </a:r>
            <a:endParaRPr lang="en-IN" sz="2800" b="1" dirty="0"/>
          </a:p>
        </p:txBody>
      </p:sp>
      <p:sp>
        <p:nvSpPr>
          <p:cNvPr id="27" name="Double Bracket 26"/>
          <p:cNvSpPr/>
          <p:nvPr/>
        </p:nvSpPr>
        <p:spPr>
          <a:xfrm>
            <a:off x="4057799" y="3366573"/>
            <a:ext cx="742347" cy="1521506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r         </a:t>
            </a:r>
          </a:p>
          <a:p>
            <a:pPr algn="ctr"/>
            <a:endParaRPr lang="en-US" sz="2800" b="1" dirty="0"/>
          </a:p>
          <a:p>
            <a:pPr algn="ctr"/>
            <a:r>
              <a:rPr lang="en-US" sz="2800" b="1" dirty="0" smtClean="0"/>
              <a:t>g        </a:t>
            </a:r>
            <a:endParaRPr lang="en-IN" sz="2800" b="1" dirty="0"/>
          </a:p>
        </p:txBody>
      </p:sp>
      <p:sp>
        <p:nvSpPr>
          <p:cNvPr id="28" name="Double Bracket 27"/>
          <p:cNvSpPr/>
          <p:nvPr/>
        </p:nvSpPr>
        <p:spPr>
          <a:xfrm>
            <a:off x="7092012" y="3287294"/>
            <a:ext cx="615880" cy="1521506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19</a:t>
            </a:r>
          </a:p>
          <a:p>
            <a:pPr algn="ctr"/>
            <a:endParaRPr lang="en-US" sz="2800" b="1" dirty="0"/>
          </a:p>
          <a:p>
            <a:pPr algn="ctr"/>
            <a:r>
              <a:rPr lang="en-US" sz="2800" b="1" dirty="0"/>
              <a:t>4</a:t>
            </a:r>
            <a:endParaRPr lang="en-IN" sz="2800" b="1" dirty="0"/>
          </a:p>
        </p:txBody>
      </p:sp>
      <p:sp>
        <p:nvSpPr>
          <p:cNvPr id="29" name="Double Bracket 28"/>
          <p:cNvSpPr/>
          <p:nvPr/>
        </p:nvSpPr>
        <p:spPr>
          <a:xfrm>
            <a:off x="3155173" y="3420010"/>
            <a:ext cx="742347" cy="1521506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17         </a:t>
            </a:r>
          </a:p>
          <a:p>
            <a:pPr algn="ctr"/>
            <a:endParaRPr lang="en-US" sz="2800" b="1" dirty="0"/>
          </a:p>
          <a:p>
            <a:pPr algn="ctr"/>
            <a:r>
              <a:rPr lang="en-US" sz="2800" b="1" dirty="0"/>
              <a:t>6</a:t>
            </a:r>
            <a:r>
              <a:rPr lang="en-US" sz="2800" b="1" dirty="0" smtClean="0"/>
              <a:t>         </a:t>
            </a:r>
            <a:endParaRPr lang="en-IN" sz="28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4835362" y="3673878"/>
            <a:ext cx="22359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mod 26 =  </a:t>
            </a:r>
            <a:endParaRPr lang="en-IN" sz="4000" dirty="0"/>
          </a:p>
        </p:txBody>
      </p:sp>
      <p:sp>
        <p:nvSpPr>
          <p:cNvPr id="31" name="Double Bracket 30"/>
          <p:cNvSpPr/>
          <p:nvPr/>
        </p:nvSpPr>
        <p:spPr>
          <a:xfrm>
            <a:off x="321526" y="5206211"/>
            <a:ext cx="2020881" cy="1447800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15        17</a:t>
            </a:r>
          </a:p>
          <a:p>
            <a:pPr algn="ctr"/>
            <a:endParaRPr lang="en-US" sz="2800" b="1" dirty="0"/>
          </a:p>
          <a:p>
            <a:pPr algn="ctr"/>
            <a:r>
              <a:rPr lang="en-US" sz="2800" b="1" dirty="0" smtClean="0"/>
              <a:t>20         9</a:t>
            </a:r>
            <a:endParaRPr lang="en-IN" sz="2800" b="1" dirty="0"/>
          </a:p>
        </p:txBody>
      </p:sp>
      <p:sp>
        <p:nvSpPr>
          <p:cNvPr id="32" name="Double Bracket 31"/>
          <p:cNvSpPr/>
          <p:nvPr/>
        </p:nvSpPr>
        <p:spPr>
          <a:xfrm>
            <a:off x="4148672" y="5200152"/>
            <a:ext cx="615880" cy="1521506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w</a:t>
            </a:r>
          </a:p>
          <a:p>
            <a:pPr algn="ctr"/>
            <a:endParaRPr lang="en-US" sz="2800" b="1" dirty="0"/>
          </a:p>
          <a:p>
            <a:pPr algn="ctr"/>
            <a:r>
              <a:rPr lang="en-US" sz="2800" b="1" dirty="0" smtClean="0"/>
              <a:t>l</a:t>
            </a:r>
            <a:endParaRPr lang="en-IN" sz="2800" b="1" dirty="0"/>
          </a:p>
        </p:txBody>
      </p:sp>
      <p:sp>
        <p:nvSpPr>
          <p:cNvPr id="33" name="Double Bracket 32"/>
          <p:cNvSpPr/>
          <p:nvPr/>
        </p:nvSpPr>
        <p:spPr>
          <a:xfrm>
            <a:off x="3254848" y="5200152"/>
            <a:ext cx="615880" cy="1521506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22</a:t>
            </a:r>
          </a:p>
          <a:p>
            <a:pPr algn="ctr"/>
            <a:endParaRPr lang="en-US" sz="2800" b="1" dirty="0"/>
          </a:p>
          <a:p>
            <a:pPr algn="ctr"/>
            <a:r>
              <a:rPr lang="en-US" sz="2800" b="1" dirty="0" smtClean="0"/>
              <a:t>11</a:t>
            </a:r>
            <a:endParaRPr lang="en-IN" sz="2800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2455821" y="3810236"/>
            <a:ext cx="7432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* </a:t>
            </a:r>
            <a:endParaRPr lang="en-IN" sz="4000" dirty="0"/>
          </a:p>
        </p:txBody>
      </p:sp>
      <p:sp>
        <p:nvSpPr>
          <p:cNvPr id="36" name="TextBox 35"/>
          <p:cNvSpPr txBox="1"/>
          <p:nvPr/>
        </p:nvSpPr>
        <p:spPr>
          <a:xfrm>
            <a:off x="2536015" y="5535250"/>
            <a:ext cx="7432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* </a:t>
            </a:r>
            <a:endParaRPr lang="en-IN" sz="4000" dirty="0"/>
          </a:p>
        </p:txBody>
      </p:sp>
      <p:sp>
        <p:nvSpPr>
          <p:cNvPr id="37" name="TextBox 36"/>
          <p:cNvSpPr txBox="1"/>
          <p:nvPr/>
        </p:nvSpPr>
        <p:spPr>
          <a:xfrm>
            <a:off x="4797798" y="5708430"/>
            <a:ext cx="22359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mod 26 =  </a:t>
            </a:r>
            <a:endParaRPr lang="en-IN" sz="4000" dirty="0"/>
          </a:p>
        </p:txBody>
      </p:sp>
      <p:sp>
        <p:nvSpPr>
          <p:cNvPr id="38" name="Double Bracket 37"/>
          <p:cNvSpPr/>
          <p:nvPr/>
        </p:nvSpPr>
        <p:spPr>
          <a:xfrm>
            <a:off x="8300032" y="3287294"/>
            <a:ext cx="466694" cy="1521506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t</a:t>
            </a:r>
            <a:endParaRPr lang="en-US" sz="2800" b="1" dirty="0" smtClean="0"/>
          </a:p>
          <a:p>
            <a:pPr algn="ctr"/>
            <a:endParaRPr lang="en-US" sz="2800" b="1" dirty="0"/>
          </a:p>
          <a:p>
            <a:pPr algn="ctr"/>
            <a:r>
              <a:rPr lang="en-US" sz="2800" b="1" dirty="0" smtClean="0"/>
              <a:t>e</a:t>
            </a:r>
            <a:endParaRPr lang="en-IN" sz="2800" b="1" dirty="0"/>
          </a:p>
        </p:txBody>
      </p:sp>
      <p:sp>
        <p:nvSpPr>
          <p:cNvPr id="39" name="TextBox 38"/>
          <p:cNvSpPr txBox="1"/>
          <p:nvPr/>
        </p:nvSpPr>
        <p:spPr>
          <a:xfrm>
            <a:off x="7647140" y="5753453"/>
            <a:ext cx="529870" cy="713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=  </a:t>
            </a:r>
            <a:endParaRPr lang="en-IN" sz="4000" dirty="0"/>
          </a:p>
        </p:txBody>
      </p:sp>
      <p:sp>
        <p:nvSpPr>
          <p:cNvPr id="40" name="Double Bracket 39"/>
          <p:cNvSpPr/>
          <p:nvPr/>
        </p:nvSpPr>
        <p:spPr>
          <a:xfrm>
            <a:off x="6932942" y="5328194"/>
            <a:ext cx="615880" cy="1521506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23</a:t>
            </a:r>
          </a:p>
          <a:p>
            <a:pPr algn="ctr"/>
            <a:endParaRPr lang="en-US" sz="2800" b="1" dirty="0"/>
          </a:p>
          <a:p>
            <a:pPr algn="ctr"/>
            <a:r>
              <a:rPr lang="en-US" sz="2800" b="1" dirty="0" smtClean="0"/>
              <a:t>19</a:t>
            </a:r>
            <a:endParaRPr lang="en-IN" sz="2800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7720018" y="3789627"/>
            <a:ext cx="529870" cy="713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=  </a:t>
            </a:r>
            <a:endParaRPr lang="en-IN" sz="4000" dirty="0"/>
          </a:p>
        </p:txBody>
      </p:sp>
      <p:sp>
        <p:nvSpPr>
          <p:cNvPr id="42" name="Double Bracket 41"/>
          <p:cNvSpPr/>
          <p:nvPr/>
        </p:nvSpPr>
        <p:spPr>
          <a:xfrm>
            <a:off x="8139800" y="5301620"/>
            <a:ext cx="615880" cy="1521506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x</a:t>
            </a:r>
          </a:p>
          <a:p>
            <a:pPr algn="ctr"/>
            <a:endParaRPr lang="en-US" sz="2800" b="1" dirty="0"/>
          </a:p>
          <a:p>
            <a:pPr algn="ctr"/>
            <a:r>
              <a:rPr lang="en-US" sz="2800" b="1" dirty="0" smtClean="0"/>
              <a:t>t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190546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  <p:bldP spid="29" grpId="0" animBg="1"/>
      <p:bldP spid="30" grpId="0"/>
      <p:bldP spid="31" grpId="0" animBg="1"/>
      <p:bldP spid="32" grpId="0" animBg="1"/>
      <p:bldP spid="33" grpId="0" animBg="1"/>
      <p:bldP spid="35" grpId="0"/>
      <p:bldP spid="36" grpId="0"/>
      <p:bldP spid="37" grpId="0"/>
      <p:bldP spid="38" grpId="0" animBg="1"/>
      <p:bldP spid="39" grpId="0"/>
      <p:bldP spid="40" grpId="0" animBg="1"/>
      <p:bldP spid="41" grpId="0"/>
      <p:bldP spid="4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/>
              <a:t>If the determinant is 0 or shares a factor, other than 1, with the length of the alphabet being used, then the matrix will not have an inverse</a:t>
            </a:r>
            <a:r>
              <a:rPr lang="en-IN" dirty="0" smtClean="0"/>
              <a:t>.</a:t>
            </a:r>
          </a:p>
          <a:p>
            <a:pPr algn="just"/>
            <a:r>
              <a:rPr lang="en-IN" dirty="0"/>
              <a:t>The basic Hill cipher is vulnerable to a known-plaintext </a:t>
            </a:r>
            <a:r>
              <a:rPr lang="en-IN" dirty="0" smtClean="0"/>
              <a:t>attack.</a:t>
            </a:r>
          </a:p>
          <a:p>
            <a:pPr algn="just"/>
            <a:r>
              <a:rPr lang="en-IN" dirty="0" smtClean="0"/>
              <a:t> </a:t>
            </a:r>
            <a:r>
              <a:rPr lang="en-IN" dirty="0"/>
              <a:t>An opponent who intercepts n </a:t>
            </a:r>
            <a:r>
              <a:rPr lang="en-IN" dirty="0" smtClean="0"/>
              <a:t>plaintext / </a:t>
            </a:r>
            <a:r>
              <a:rPr lang="en-IN" dirty="0" err="1" smtClean="0"/>
              <a:t>ciphertext</a:t>
            </a:r>
            <a:r>
              <a:rPr lang="en-IN" dirty="0" smtClean="0"/>
              <a:t> </a:t>
            </a:r>
            <a:r>
              <a:rPr lang="en-IN" dirty="0"/>
              <a:t>character pairs can set up a linear system which can (usually) be easily </a:t>
            </a:r>
            <a:r>
              <a:rPr lang="en-IN" dirty="0" smtClean="0"/>
              <a:t>solved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6854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3045</TotalTime>
  <Words>410</Words>
  <Application>Microsoft Office PowerPoint</Application>
  <PresentationFormat>On-screen Show (4:3)</PresentationFormat>
  <Paragraphs>177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Hill Cipher </vt:lpstr>
      <vt:lpstr>Hill Cipher </vt:lpstr>
      <vt:lpstr>Hill Cipher </vt:lpstr>
      <vt:lpstr>Hill Cipher </vt:lpstr>
      <vt:lpstr>Hill Cipher </vt:lpstr>
      <vt:lpstr>Hill Cipher </vt:lpstr>
      <vt:lpstr>Hill Cipher Encryption </vt:lpstr>
      <vt:lpstr>Hill Cipher Decryption </vt:lpstr>
      <vt:lpstr>Compute 1 / |K| </vt:lpstr>
      <vt:lpstr>Compute adj(k)</vt:lpstr>
      <vt:lpstr>K -1    =      1 / |K|  adj(K)</vt:lpstr>
      <vt:lpstr>Decryption </vt:lpstr>
      <vt:lpstr>Conclusion </vt:lpstr>
    </vt:vector>
  </TitlesOfParts>
  <Company>Hewlett-Packard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67</cp:revision>
  <dcterms:created xsi:type="dcterms:W3CDTF">2020-08-07T09:53:30Z</dcterms:created>
  <dcterms:modified xsi:type="dcterms:W3CDTF">2025-01-17T10:20:03Z</dcterms:modified>
</cp:coreProperties>
</file>