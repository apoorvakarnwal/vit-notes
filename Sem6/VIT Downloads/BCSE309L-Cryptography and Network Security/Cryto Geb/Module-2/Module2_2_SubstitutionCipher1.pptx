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96" r:id="rId3"/>
    <p:sldId id="295" r:id="rId4"/>
    <p:sldId id="284" r:id="rId5"/>
    <p:sldId id="285" r:id="rId6"/>
    <p:sldId id="288" r:id="rId7"/>
    <p:sldId id="286" r:id="rId8"/>
    <p:sldId id="287" r:id="rId9"/>
    <p:sldId id="289" r:id="rId10"/>
    <p:sldId id="292" r:id="rId11"/>
    <p:sldId id="291" r:id="rId12"/>
    <p:sldId id="293" r:id="rId13"/>
    <p:sldId id="294" r:id="rId14"/>
    <p:sldId id="290" r:id="rId15"/>
    <p:sldId id="268" r:id="rId16"/>
    <p:sldId id="269" r:id="rId17"/>
    <p:sldId id="271" r:id="rId18"/>
    <p:sldId id="270" r:id="rId19"/>
    <p:sldId id="272" r:id="rId20"/>
    <p:sldId id="274" r:id="rId21"/>
    <p:sldId id="273" r:id="rId22"/>
    <p:sldId id="275" r:id="rId23"/>
    <p:sldId id="276" r:id="rId24"/>
    <p:sldId id="277" r:id="rId25"/>
    <p:sldId id="278" r:id="rId26"/>
    <p:sldId id="279" r:id="rId27"/>
    <p:sldId id="280" r:id="rId28"/>
    <p:sldId id="281" r:id="rId29"/>
    <p:sldId id="282" r:id="rId30"/>
    <p:sldId id="28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p:restoredTop sz="90952" autoAdjust="0"/>
  </p:normalViewPr>
  <p:slideViewPr>
    <p:cSldViewPr>
      <p:cViewPr varScale="1">
        <p:scale>
          <a:sx n="83" d="100"/>
          <a:sy n="83" d="100"/>
        </p:scale>
        <p:origin x="208" y="90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FDEE2-D762-4C72-B06C-F8BD0E7E489C}" type="datetimeFigureOut">
              <a:rPr lang="en-IN" smtClean="0"/>
              <a:t>30/04/25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98DA73-9F21-460E-B694-C145252E6D4D}" type="slidenum">
              <a:rPr lang="en-IN" smtClean="0"/>
              <a:t>‹#›</a:t>
            </a:fld>
            <a:endParaRPr lang="en-IN"/>
          </a:p>
        </p:txBody>
      </p:sp>
    </p:spTree>
    <p:extLst>
      <p:ext uri="{BB962C8B-B14F-4D97-AF65-F5344CB8AC3E}">
        <p14:creationId xmlns:p14="http://schemas.microsoft.com/office/powerpoint/2010/main" val="470504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4</a:t>
            </a:fld>
            <a:endParaRPr lang="en-IN"/>
          </a:p>
        </p:txBody>
      </p:sp>
    </p:spTree>
    <p:extLst>
      <p:ext uri="{BB962C8B-B14F-4D97-AF65-F5344CB8AC3E}">
        <p14:creationId xmlns:p14="http://schemas.microsoft.com/office/powerpoint/2010/main" val="64814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F98DA73-9F21-460E-B694-C145252E6D4D}" type="slidenum">
              <a:rPr lang="en-IN" smtClean="0"/>
              <a:t>5</a:t>
            </a:fld>
            <a:endParaRPr lang="en-IN"/>
          </a:p>
        </p:txBody>
      </p:sp>
    </p:spTree>
    <p:extLst>
      <p:ext uri="{BB962C8B-B14F-4D97-AF65-F5344CB8AC3E}">
        <p14:creationId xmlns:p14="http://schemas.microsoft.com/office/powerpoint/2010/main" val="360795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9</a:t>
            </a:fld>
            <a:endParaRPr lang="en-IN"/>
          </a:p>
        </p:txBody>
      </p:sp>
    </p:spTree>
    <p:extLst>
      <p:ext uri="{BB962C8B-B14F-4D97-AF65-F5344CB8AC3E}">
        <p14:creationId xmlns:p14="http://schemas.microsoft.com/office/powerpoint/2010/main" val="1437999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10</a:t>
            </a:fld>
            <a:endParaRPr lang="en-IN"/>
          </a:p>
        </p:txBody>
      </p:sp>
    </p:spTree>
    <p:extLst>
      <p:ext uri="{BB962C8B-B14F-4D97-AF65-F5344CB8AC3E}">
        <p14:creationId xmlns:p14="http://schemas.microsoft.com/office/powerpoint/2010/main" val="1277216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11</a:t>
            </a:fld>
            <a:endParaRPr lang="en-IN"/>
          </a:p>
        </p:txBody>
      </p:sp>
    </p:spTree>
    <p:extLst>
      <p:ext uri="{BB962C8B-B14F-4D97-AF65-F5344CB8AC3E}">
        <p14:creationId xmlns:p14="http://schemas.microsoft.com/office/powerpoint/2010/main" val="2106456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12</a:t>
            </a:fld>
            <a:endParaRPr lang="en-IN"/>
          </a:p>
        </p:txBody>
      </p:sp>
    </p:spTree>
    <p:extLst>
      <p:ext uri="{BB962C8B-B14F-4D97-AF65-F5344CB8AC3E}">
        <p14:creationId xmlns:p14="http://schemas.microsoft.com/office/powerpoint/2010/main" val="4078570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13</a:t>
            </a:fld>
            <a:endParaRPr lang="en-IN"/>
          </a:p>
        </p:txBody>
      </p:sp>
    </p:spTree>
    <p:extLst>
      <p:ext uri="{BB962C8B-B14F-4D97-AF65-F5344CB8AC3E}">
        <p14:creationId xmlns:p14="http://schemas.microsoft.com/office/powerpoint/2010/main" val="3994463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14</a:t>
            </a:fld>
            <a:endParaRPr lang="en-IN"/>
          </a:p>
        </p:txBody>
      </p:sp>
    </p:spTree>
    <p:extLst>
      <p:ext uri="{BB962C8B-B14F-4D97-AF65-F5344CB8AC3E}">
        <p14:creationId xmlns:p14="http://schemas.microsoft.com/office/powerpoint/2010/main" val="56039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18</a:t>
            </a:fld>
            <a:endParaRPr lang="en-IN"/>
          </a:p>
        </p:txBody>
      </p:sp>
    </p:spTree>
    <p:extLst>
      <p:ext uri="{BB962C8B-B14F-4D97-AF65-F5344CB8AC3E}">
        <p14:creationId xmlns:p14="http://schemas.microsoft.com/office/powerpoint/2010/main" val="816177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20</a:t>
            </a:fld>
            <a:endParaRPr lang="en-IN"/>
          </a:p>
        </p:txBody>
      </p:sp>
    </p:spTree>
    <p:extLst>
      <p:ext uri="{BB962C8B-B14F-4D97-AF65-F5344CB8AC3E}">
        <p14:creationId xmlns:p14="http://schemas.microsoft.com/office/powerpoint/2010/main" val="2072160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21</a:t>
            </a:fld>
            <a:endParaRPr lang="en-IN"/>
          </a:p>
        </p:txBody>
      </p:sp>
    </p:spTree>
    <p:extLst>
      <p:ext uri="{BB962C8B-B14F-4D97-AF65-F5344CB8AC3E}">
        <p14:creationId xmlns:p14="http://schemas.microsoft.com/office/powerpoint/2010/main" val="3287363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23</a:t>
            </a:fld>
            <a:endParaRPr lang="en-IN"/>
          </a:p>
        </p:txBody>
      </p:sp>
    </p:spTree>
    <p:extLst>
      <p:ext uri="{BB962C8B-B14F-4D97-AF65-F5344CB8AC3E}">
        <p14:creationId xmlns:p14="http://schemas.microsoft.com/office/powerpoint/2010/main" val="1619860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24</a:t>
            </a:fld>
            <a:endParaRPr lang="en-IN"/>
          </a:p>
        </p:txBody>
      </p:sp>
    </p:spTree>
    <p:extLst>
      <p:ext uri="{BB962C8B-B14F-4D97-AF65-F5344CB8AC3E}">
        <p14:creationId xmlns:p14="http://schemas.microsoft.com/office/powerpoint/2010/main" val="1092242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25</a:t>
            </a:fld>
            <a:endParaRPr lang="en-IN"/>
          </a:p>
        </p:txBody>
      </p:sp>
    </p:spTree>
    <p:extLst>
      <p:ext uri="{BB962C8B-B14F-4D97-AF65-F5344CB8AC3E}">
        <p14:creationId xmlns:p14="http://schemas.microsoft.com/office/powerpoint/2010/main" val="21362642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26</a:t>
            </a:fld>
            <a:endParaRPr lang="en-IN"/>
          </a:p>
        </p:txBody>
      </p:sp>
    </p:spTree>
    <p:extLst>
      <p:ext uri="{BB962C8B-B14F-4D97-AF65-F5344CB8AC3E}">
        <p14:creationId xmlns:p14="http://schemas.microsoft.com/office/powerpoint/2010/main" val="3767494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27</a:t>
            </a:fld>
            <a:endParaRPr lang="en-IN"/>
          </a:p>
        </p:txBody>
      </p:sp>
    </p:spTree>
    <p:extLst>
      <p:ext uri="{BB962C8B-B14F-4D97-AF65-F5344CB8AC3E}">
        <p14:creationId xmlns:p14="http://schemas.microsoft.com/office/powerpoint/2010/main" val="2313021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28</a:t>
            </a:fld>
            <a:endParaRPr lang="en-IN"/>
          </a:p>
        </p:txBody>
      </p:sp>
    </p:spTree>
    <p:extLst>
      <p:ext uri="{BB962C8B-B14F-4D97-AF65-F5344CB8AC3E}">
        <p14:creationId xmlns:p14="http://schemas.microsoft.com/office/powerpoint/2010/main" val="327120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F98DA73-9F21-460E-B694-C145252E6D4D}" type="slidenum">
              <a:rPr lang="en-IN" smtClean="0"/>
              <a:t>29</a:t>
            </a:fld>
            <a:endParaRPr lang="en-IN"/>
          </a:p>
        </p:txBody>
      </p:sp>
    </p:spTree>
    <p:extLst>
      <p:ext uri="{BB962C8B-B14F-4D97-AF65-F5344CB8AC3E}">
        <p14:creationId xmlns:p14="http://schemas.microsoft.com/office/powerpoint/2010/main" val="1229308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FA84921-4D9E-4B6B-9112-9198A42CE0EE}" type="datetimeFigureOut">
              <a:rPr lang="en-IN" smtClean="0"/>
              <a:t>30/04/25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368002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A84921-4D9E-4B6B-9112-9198A42CE0EE}" type="datetimeFigureOut">
              <a:rPr lang="en-IN" smtClean="0"/>
              <a:t>30/04/25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4222741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84921-4D9E-4B6B-9112-9198A42CE0EE}" type="datetimeFigureOut">
              <a:rPr lang="en-IN" smtClean="0"/>
              <a:t>30/04/25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1156287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FA84921-4D9E-4B6B-9112-9198A42CE0EE}" type="datetimeFigureOut">
              <a:rPr lang="en-IN" smtClean="0"/>
              <a:t>30/04/25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2503831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FA84921-4D9E-4B6B-9112-9198A42CE0EE}" type="datetimeFigureOut">
              <a:rPr lang="en-IN" smtClean="0"/>
              <a:t>30/04/25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2224855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A84921-4D9E-4B6B-9112-9198A42CE0EE}" type="datetimeFigureOut">
              <a:rPr lang="en-IN" smtClean="0"/>
              <a:t>30/04/25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1846368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84921-4D9E-4B6B-9112-9198A42CE0EE}" type="datetimeFigureOut">
              <a:rPr lang="en-IN" smtClean="0"/>
              <a:t>30/04/25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3224293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84921-4D9E-4B6B-9112-9198A42CE0EE}" type="datetimeFigureOut">
              <a:rPr lang="en-IN" smtClean="0"/>
              <a:t>30/04/25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2738450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84921-4D9E-4B6B-9112-9198A42CE0EE}" type="datetimeFigureOut">
              <a:rPr lang="en-IN" smtClean="0"/>
              <a:t>30/04/25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270177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A84921-4D9E-4B6B-9112-9198A42CE0EE}" type="datetimeFigureOut">
              <a:rPr lang="en-IN" smtClean="0"/>
              <a:t>30/04/25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3967000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FA84921-4D9E-4B6B-9112-9198A42CE0EE}" type="datetimeFigureOut">
              <a:rPr lang="en-IN" smtClean="0"/>
              <a:t>30/04/25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1CA2A1-0541-49D3-803F-9DA98F4696CE}" type="slidenum">
              <a:rPr lang="en-IN" smtClean="0"/>
              <a:t>‹#›</a:t>
            </a:fld>
            <a:endParaRPr lang="en-IN"/>
          </a:p>
        </p:txBody>
      </p:sp>
    </p:spTree>
    <p:extLst>
      <p:ext uri="{BB962C8B-B14F-4D97-AF65-F5344CB8AC3E}">
        <p14:creationId xmlns:p14="http://schemas.microsoft.com/office/powerpoint/2010/main" val="320651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A84921-4D9E-4B6B-9112-9198A42CE0EE}" type="datetimeFigureOut">
              <a:rPr lang="en-IN" smtClean="0"/>
              <a:t>30/04/25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1CA2A1-0541-49D3-803F-9DA98F4696CE}" type="slidenum">
              <a:rPr lang="en-IN" smtClean="0"/>
              <a:t>‹#›</a:t>
            </a:fld>
            <a:endParaRPr lang="en-IN"/>
          </a:p>
        </p:txBody>
      </p:sp>
    </p:spTree>
    <p:extLst>
      <p:ext uri="{BB962C8B-B14F-4D97-AF65-F5344CB8AC3E}">
        <p14:creationId xmlns:p14="http://schemas.microsoft.com/office/powerpoint/2010/main" val="2865112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Types of Ciphers</a:t>
            </a:r>
          </a:p>
        </p:txBody>
      </p:sp>
      <p:pic>
        <p:nvPicPr>
          <p:cNvPr id="3" name="Picture 2"/>
          <p:cNvPicPr>
            <a:picLocks noChangeAspect="1"/>
          </p:cNvPicPr>
          <p:nvPr/>
        </p:nvPicPr>
        <p:blipFill>
          <a:blip r:embed="rId2"/>
          <a:stretch>
            <a:fillRect/>
          </a:stretch>
        </p:blipFill>
        <p:spPr>
          <a:xfrm>
            <a:off x="914400" y="4038600"/>
            <a:ext cx="6819900" cy="1219200"/>
          </a:xfrm>
          <a:prstGeom prst="rect">
            <a:avLst/>
          </a:prstGeom>
        </p:spPr>
      </p:pic>
    </p:spTree>
    <p:extLst>
      <p:ext uri="{BB962C8B-B14F-4D97-AF65-F5344CB8AC3E}">
        <p14:creationId xmlns:p14="http://schemas.microsoft.com/office/powerpoint/2010/main" val="204477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Ciphers</a:t>
            </a:r>
          </a:p>
        </p:txBody>
      </p:sp>
      <p:sp>
        <p:nvSpPr>
          <p:cNvPr id="3" name="Content Placeholder 2"/>
          <p:cNvSpPr>
            <a:spLocks noGrp="1"/>
          </p:cNvSpPr>
          <p:nvPr>
            <p:ph idx="1"/>
          </p:nvPr>
        </p:nvSpPr>
        <p:spPr/>
        <p:txBody>
          <a:bodyPr/>
          <a:lstStyle/>
          <a:p>
            <a:pPr algn="just"/>
            <a:r>
              <a:rPr lang="en-US" dirty="0"/>
              <a:t>Substitution ciphers involve replacing each member of the plaintext with another member which can be of the same set.</a:t>
            </a:r>
          </a:p>
          <a:p>
            <a:pPr algn="just"/>
            <a:endParaRPr lang="en-US" dirty="0"/>
          </a:p>
          <a:p>
            <a:pPr algn="just"/>
            <a:r>
              <a:rPr lang="en-US" dirty="0"/>
              <a:t>Transposition ciphers are those forms of ciphers that work on the principle of shifting the positions of the characters of the plaintext to create the </a:t>
            </a:r>
            <a:r>
              <a:rPr lang="en-US" dirty="0" err="1"/>
              <a:t>ciphertext</a:t>
            </a:r>
            <a:r>
              <a:rPr lang="en-US" dirty="0"/>
              <a:t>.</a:t>
            </a:r>
            <a:endParaRPr lang="en-IN" dirty="0"/>
          </a:p>
        </p:txBody>
      </p:sp>
    </p:spTree>
    <p:extLst>
      <p:ext uri="{BB962C8B-B14F-4D97-AF65-F5344CB8AC3E}">
        <p14:creationId xmlns:p14="http://schemas.microsoft.com/office/powerpoint/2010/main" val="846752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Substitution Ciphers</a:t>
            </a:r>
            <a:br>
              <a:rPr lang="en-US" dirty="0"/>
            </a:br>
            <a:endParaRPr lang="en-IN" dirty="0"/>
          </a:p>
        </p:txBody>
      </p:sp>
      <p:sp>
        <p:nvSpPr>
          <p:cNvPr id="3" name="Content Placeholder 2"/>
          <p:cNvSpPr>
            <a:spLocks noGrp="1"/>
          </p:cNvSpPr>
          <p:nvPr>
            <p:ph idx="1"/>
          </p:nvPr>
        </p:nvSpPr>
        <p:spPr/>
        <p:txBody>
          <a:bodyPr/>
          <a:lstStyle/>
          <a:p>
            <a:endParaRPr lang="en-IN" dirty="0"/>
          </a:p>
        </p:txBody>
      </p:sp>
      <p:grpSp>
        <p:nvGrpSpPr>
          <p:cNvPr id="14" name="Group 13"/>
          <p:cNvGrpSpPr/>
          <p:nvPr/>
        </p:nvGrpSpPr>
        <p:grpSpPr>
          <a:xfrm>
            <a:off x="152400" y="1211262"/>
            <a:ext cx="7163045" cy="5352737"/>
            <a:chOff x="152400" y="1211262"/>
            <a:chExt cx="7163045" cy="5352737"/>
          </a:xfrm>
        </p:grpSpPr>
        <p:grpSp>
          <p:nvGrpSpPr>
            <p:cNvPr id="18" name="Group 17"/>
            <p:cNvGrpSpPr/>
            <p:nvPr/>
          </p:nvGrpSpPr>
          <p:grpSpPr>
            <a:xfrm>
              <a:off x="152400" y="1981199"/>
              <a:ext cx="7163045" cy="4582800"/>
              <a:chOff x="152400" y="1981199"/>
              <a:chExt cx="7163045" cy="4582800"/>
            </a:xfrm>
          </p:grpSpPr>
          <p:pic>
            <p:nvPicPr>
              <p:cNvPr id="4" name="Picture 3"/>
              <p:cNvPicPr>
                <a:picLocks noChangeAspect="1"/>
              </p:cNvPicPr>
              <p:nvPr/>
            </p:nvPicPr>
            <p:blipFill>
              <a:blip r:embed="rId2"/>
              <a:stretch>
                <a:fillRect/>
              </a:stretch>
            </p:blipFill>
            <p:spPr>
              <a:xfrm>
                <a:off x="4572000" y="1981199"/>
                <a:ext cx="2743445" cy="4582800"/>
              </a:xfrm>
              <a:prstGeom prst="rect">
                <a:avLst/>
              </a:prstGeom>
            </p:spPr>
          </p:pic>
          <p:sp>
            <p:nvSpPr>
              <p:cNvPr id="5" name="Rectangle 4"/>
              <p:cNvSpPr/>
              <p:nvPr/>
            </p:nvSpPr>
            <p:spPr>
              <a:xfrm>
                <a:off x="152400" y="3352800"/>
                <a:ext cx="2819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Substitution Cipher Techniques</a:t>
                </a:r>
              </a:p>
            </p:txBody>
          </p:sp>
          <p:cxnSp>
            <p:nvCxnSpPr>
              <p:cNvPr id="7" name="Straight Arrow Connector 6"/>
              <p:cNvCxnSpPr>
                <a:stCxn id="5" idx="3"/>
              </p:cNvCxnSpPr>
              <p:nvPr/>
            </p:nvCxnSpPr>
            <p:spPr>
              <a:xfrm flipV="1">
                <a:off x="2971800" y="2362200"/>
                <a:ext cx="1600200" cy="15621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9" name="Straight Arrow Connector 8"/>
              <p:cNvCxnSpPr>
                <a:stCxn id="5" idx="3"/>
              </p:cNvCxnSpPr>
              <p:nvPr/>
            </p:nvCxnSpPr>
            <p:spPr>
              <a:xfrm flipV="1">
                <a:off x="2971800" y="3143250"/>
                <a:ext cx="1600200" cy="78105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1" name="Straight Arrow Connector 10"/>
              <p:cNvCxnSpPr>
                <a:stCxn id="5" idx="3"/>
              </p:cNvCxnSpPr>
              <p:nvPr/>
            </p:nvCxnSpPr>
            <p:spPr>
              <a:xfrm>
                <a:off x="2971800" y="3924300"/>
                <a:ext cx="1600200"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p:cNvCxnSpPr>
                <a:stCxn id="5" idx="3"/>
              </p:cNvCxnSpPr>
              <p:nvPr/>
            </p:nvCxnSpPr>
            <p:spPr>
              <a:xfrm>
                <a:off x="2971800" y="3924300"/>
                <a:ext cx="1600200" cy="5715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5" name="Straight Arrow Connector 14"/>
              <p:cNvCxnSpPr/>
              <p:nvPr/>
            </p:nvCxnSpPr>
            <p:spPr>
              <a:xfrm>
                <a:off x="2971800" y="3924300"/>
                <a:ext cx="1600200" cy="138668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7" name="Straight Arrow Connector 16"/>
              <p:cNvCxnSpPr>
                <a:stCxn id="5" idx="3"/>
              </p:cNvCxnSpPr>
              <p:nvPr/>
            </p:nvCxnSpPr>
            <p:spPr>
              <a:xfrm>
                <a:off x="2971800" y="3924300"/>
                <a:ext cx="1600200" cy="238442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grpSp>
        <p:grpSp>
          <p:nvGrpSpPr>
            <p:cNvPr id="12" name="Group 11"/>
            <p:cNvGrpSpPr/>
            <p:nvPr/>
          </p:nvGrpSpPr>
          <p:grpSpPr>
            <a:xfrm>
              <a:off x="2971800" y="1211262"/>
              <a:ext cx="4267200" cy="2713038"/>
              <a:chOff x="2971800" y="1211262"/>
              <a:chExt cx="4267200" cy="2713038"/>
            </a:xfrm>
          </p:grpSpPr>
          <p:sp>
            <p:nvSpPr>
              <p:cNvPr id="6" name="Rectangle 5"/>
              <p:cNvSpPr/>
              <p:nvPr/>
            </p:nvSpPr>
            <p:spPr>
              <a:xfrm>
                <a:off x="4588099" y="1211262"/>
                <a:ext cx="2650901" cy="57943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Vigenere</a:t>
                </a:r>
                <a:r>
                  <a:rPr lang="en-IN" dirty="0"/>
                  <a:t> Cipher</a:t>
                </a:r>
              </a:p>
            </p:txBody>
          </p:sp>
          <p:cxnSp>
            <p:nvCxnSpPr>
              <p:cNvPr id="10" name="Straight Arrow Connector 9"/>
              <p:cNvCxnSpPr/>
              <p:nvPr/>
            </p:nvCxnSpPr>
            <p:spPr>
              <a:xfrm flipV="1">
                <a:off x="2971800" y="1524000"/>
                <a:ext cx="1600200" cy="24003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31937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Substitution Techniques</a:t>
            </a:r>
          </a:p>
        </p:txBody>
      </p:sp>
      <p:sp>
        <p:nvSpPr>
          <p:cNvPr id="3" name="Content Placeholder 2"/>
          <p:cNvSpPr>
            <a:spLocks noGrp="1"/>
          </p:cNvSpPr>
          <p:nvPr>
            <p:ph idx="1"/>
          </p:nvPr>
        </p:nvSpPr>
        <p:spPr/>
        <p:txBody>
          <a:bodyPr/>
          <a:lstStyle/>
          <a:p>
            <a:pPr marL="0" indent="0">
              <a:buNone/>
            </a:pPr>
            <a:r>
              <a:rPr lang="en-IN" dirty="0"/>
              <a:t>A substitution technique is one in which the letters of plaintext are replaced by other letters or by numbers or by symbols.</a:t>
            </a:r>
          </a:p>
          <a:p>
            <a:r>
              <a:rPr lang="en-IN" dirty="0"/>
              <a:t>Caesar Cipher</a:t>
            </a:r>
          </a:p>
          <a:p>
            <a:r>
              <a:rPr lang="en-IN" dirty="0"/>
              <a:t>Multiplicative Cipher</a:t>
            </a:r>
          </a:p>
        </p:txBody>
      </p:sp>
    </p:spTree>
    <p:extLst>
      <p:ext uri="{BB962C8B-B14F-4D97-AF65-F5344CB8AC3E}">
        <p14:creationId xmlns:p14="http://schemas.microsoft.com/office/powerpoint/2010/main" val="52535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Caeser</a:t>
            </a:r>
            <a:r>
              <a:rPr lang="en-IN" dirty="0"/>
              <a:t> Cipher</a:t>
            </a:r>
          </a:p>
        </p:txBody>
      </p:sp>
      <p:sp>
        <p:nvSpPr>
          <p:cNvPr id="3" name="Content Placeholder 2"/>
          <p:cNvSpPr>
            <a:spLocks noGrp="1"/>
          </p:cNvSpPr>
          <p:nvPr>
            <p:ph idx="1"/>
          </p:nvPr>
        </p:nvSpPr>
        <p:spPr/>
        <p:txBody>
          <a:bodyPr/>
          <a:lstStyle/>
          <a:p>
            <a:r>
              <a:rPr lang="en-US" dirty="0"/>
              <a:t>The Caesar cipher is a simple encryption technique that was used by Julius Caesar to send secret messages to his allies. </a:t>
            </a:r>
          </a:p>
          <a:p>
            <a:r>
              <a:rPr lang="en-US" dirty="0"/>
              <a:t>It works by shifting the letters in the plaintext message by a certain number of positions, known as the “shift” or “key”. </a:t>
            </a:r>
            <a:endParaRPr lang="en-IN" dirty="0"/>
          </a:p>
        </p:txBody>
      </p:sp>
    </p:spTree>
    <p:extLst>
      <p:ext uri="{BB962C8B-B14F-4D97-AF65-F5344CB8AC3E}">
        <p14:creationId xmlns:p14="http://schemas.microsoft.com/office/powerpoint/2010/main" val="335926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57" y="53976"/>
            <a:ext cx="8229600" cy="1143000"/>
          </a:xfrm>
        </p:spPr>
        <p:txBody>
          <a:bodyPr/>
          <a:lstStyle/>
          <a:p>
            <a:r>
              <a:rPr lang="en-IN" dirty="0" err="1"/>
              <a:t>Caeser</a:t>
            </a:r>
            <a:r>
              <a:rPr lang="en-IN" dirty="0"/>
              <a:t> Cipher</a:t>
            </a:r>
          </a:p>
        </p:txBody>
      </p:sp>
      <p:sp>
        <p:nvSpPr>
          <p:cNvPr id="3" name="Content Placeholder 2"/>
          <p:cNvSpPr>
            <a:spLocks noGrp="1"/>
          </p:cNvSpPr>
          <p:nvPr>
            <p:ph idx="1"/>
          </p:nvPr>
        </p:nvSpPr>
        <p:spPr>
          <a:xfrm>
            <a:off x="5181600" y="1862801"/>
            <a:ext cx="3689924" cy="1053475"/>
          </a:xfrm>
        </p:spPr>
        <p:txBody>
          <a:bodyPr>
            <a:normAutofit/>
          </a:bodyPr>
          <a:lstStyle/>
          <a:p>
            <a:r>
              <a:rPr lang="en-IN" sz="1600" dirty="0"/>
              <a:t>Where n takes on a vale in the range 1 to 25</a:t>
            </a:r>
          </a:p>
          <a:p>
            <a:endParaRPr lang="en-IN" sz="1600" dirty="0"/>
          </a:p>
        </p:txBody>
      </p:sp>
      <p:pic>
        <p:nvPicPr>
          <p:cNvPr id="4" name="Picture 3"/>
          <p:cNvPicPr>
            <a:picLocks noChangeAspect="1"/>
          </p:cNvPicPr>
          <p:nvPr/>
        </p:nvPicPr>
        <p:blipFill>
          <a:blip r:embed="rId2"/>
          <a:stretch>
            <a:fillRect/>
          </a:stretch>
        </p:blipFill>
        <p:spPr>
          <a:xfrm>
            <a:off x="152400" y="1039851"/>
            <a:ext cx="4133850" cy="1876425"/>
          </a:xfrm>
          <a:prstGeom prst="rect">
            <a:avLst/>
          </a:prstGeom>
        </p:spPr>
      </p:pic>
      <p:pic>
        <p:nvPicPr>
          <p:cNvPr id="5" name="Picture 4"/>
          <p:cNvPicPr>
            <a:picLocks noChangeAspect="1"/>
          </p:cNvPicPr>
          <p:nvPr/>
        </p:nvPicPr>
        <p:blipFill>
          <a:blip r:embed="rId3"/>
          <a:stretch>
            <a:fillRect/>
          </a:stretch>
        </p:blipFill>
        <p:spPr>
          <a:xfrm>
            <a:off x="807907" y="3352800"/>
            <a:ext cx="7867650" cy="3343275"/>
          </a:xfrm>
          <a:prstGeom prst="rect">
            <a:avLst/>
          </a:prstGeom>
        </p:spPr>
      </p:pic>
    </p:spTree>
    <p:extLst>
      <p:ext uri="{BB962C8B-B14F-4D97-AF65-F5344CB8AC3E}">
        <p14:creationId xmlns:p14="http://schemas.microsoft.com/office/powerpoint/2010/main" val="3519878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57" y="53976"/>
            <a:ext cx="8229600" cy="1143000"/>
          </a:xfrm>
        </p:spPr>
        <p:txBody>
          <a:bodyPr/>
          <a:lstStyle/>
          <a:p>
            <a:r>
              <a:rPr lang="en-IN" dirty="0" err="1"/>
              <a:t>Caeser</a:t>
            </a:r>
            <a:r>
              <a:rPr lang="en-IN" dirty="0"/>
              <a:t> Cipher</a:t>
            </a:r>
          </a:p>
        </p:txBody>
      </p:sp>
      <p:pic>
        <p:nvPicPr>
          <p:cNvPr id="9" name="Picture 8"/>
          <p:cNvPicPr>
            <a:picLocks noChangeAspect="1"/>
          </p:cNvPicPr>
          <p:nvPr/>
        </p:nvPicPr>
        <p:blipFill>
          <a:blip r:embed="rId2"/>
          <a:stretch>
            <a:fillRect/>
          </a:stretch>
        </p:blipFill>
        <p:spPr>
          <a:xfrm>
            <a:off x="838200" y="1852612"/>
            <a:ext cx="7837357" cy="4167188"/>
          </a:xfrm>
          <a:prstGeom prst="rect">
            <a:avLst/>
          </a:prstGeom>
        </p:spPr>
      </p:pic>
    </p:spTree>
    <p:extLst>
      <p:ext uri="{BB962C8B-B14F-4D97-AF65-F5344CB8AC3E}">
        <p14:creationId xmlns:p14="http://schemas.microsoft.com/office/powerpoint/2010/main" val="251269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57" y="53976"/>
            <a:ext cx="8229600" cy="1143000"/>
          </a:xfrm>
        </p:spPr>
        <p:txBody>
          <a:bodyPr/>
          <a:lstStyle/>
          <a:p>
            <a:r>
              <a:rPr lang="en-IN" dirty="0" err="1"/>
              <a:t>Caeser</a:t>
            </a:r>
            <a:r>
              <a:rPr lang="en-IN" dirty="0"/>
              <a:t> Cipher</a:t>
            </a:r>
          </a:p>
        </p:txBody>
      </p:sp>
      <p:pic>
        <p:nvPicPr>
          <p:cNvPr id="6" name="Content Placeholder 5"/>
          <p:cNvPicPr>
            <a:picLocks noGrp="1" noChangeAspect="1"/>
          </p:cNvPicPr>
          <p:nvPr>
            <p:ph idx="1"/>
          </p:nvPr>
        </p:nvPicPr>
        <p:blipFill>
          <a:blip r:embed="rId2"/>
          <a:stretch>
            <a:fillRect/>
          </a:stretch>
        </p:blipFill>
        <p:spPr>
          <a:xfrm>
            <a:off x="990600" y="1905000"/>
            <a:ext cx="7315200" cy="3657600"/>
          </a:xfrm>
          <a:prstGeom prst="rect">
            <a:avLst/>
          </a:prstGeom>
        </p:spPr>
      </p:pic>
    </p:spTree>
    <p:extLst>
      <p:ext uri="{BB962C8B-B14F-4D97-AF65-F5344CB8AC3E}">
        <p14:creationId xmlns:p14="http://schemas.microsoft.com/office/powerpoint/2010/main" val="2821999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394"/>
            <a:ext cx="8229600" cy="548206"/>
          </a:xfrm>
        </p:spPr>
        <p:txBody>
          <a:bodyPr>
            <a:normAutofit fontScale="90000"/>
          </a:bodyPr>
          <a:lstStyle/>
          <a:p>
            <a:r>
              <a:rPr lang="en-IN" dirty="0"/>
              <a:t>Multiplicative Cipher</a:t>
            </a:r>
          </a:p>
        </p:txBody>
      </p:sp>
      <p:sp>
        <p:nvSpPr>
          <p:cNvPr id="3" name="Content Placeholder 2"/>
          <p:cNvSpPr>
            <a:spLocks noGrp="1"/>
          </p:cNvSpPr>
          <p:nvPr>
            <p:ph idx="1"/>
          </p:nvPr>
        </p:nvSpPr>
        <p:spPr>
          <a:xfrm>
            <a:off x="0" y="595604"/>
            <a:ext cx="9144000" cy="4525963"/>
          </a:xfrm>
        </p:spPr>
        <p:txBody>
          <a:bodyPr>
            <a:normAutofit fontScale="92500" lnSpcReduction="20000"/>
          </a:bodyPr>
          <a:lstStyle/>
          <a:p>
            <a:r>
              <a:rPr lang="en-US" dirty="0"/>
              <a:t>use a large prime number as a multiplication key, and then use the modular arithmetic of the integers modulo, the key to encode and decode</a:t>
            </a:r>
          </a:p>
          <a:p>
            <a:r>
              <a:rPr lang="en-US" dirty="0"/>
              <a:t> The encryption process is done by multiplying the numerical value of each letter in the plaintext by the key and then taking the result modulo the key. </a:t>
            </a:r>
          </a:p>
          <a:p>
            <a:r>
              <a:rPr lang="en-US" dirty="0"/>
              <a:t>For example, if the key is 7 and the plaintext letter is ‘s’, the numerical value of ‘s’ is 18. So the </a:t>
            </a:r>
            <a:r>
              <a:rPr lang="en-US" dirty="0" err="1"/>
              <a:t>ciphertext</a:t>
            </a:r>
            <a:r>
              <a:rPr lang="en-US" dirty="0"/>
              <a:t> letter is (18*7) mod 26 = 22, and the cipher text symbol will be ‘w’ for the letter ‘a in </a:t>
            </a:r>
          </a:p>
          <a:p>
            <a:r>
              <a:rPr lang="en-US" dirty="0"/>
              <a:t>this case. the plaintext.</a:t>
            </a:r>
            <a:endParaRPr lang="en-IN" dirty="0"/>
          </a:p>
        </p:txBody>
      </p:sp>
      <p:sp>
        <p:nvSpPr>
          <p:cNvPr id="4" name="Rectangle 2"/>
          <p:cNvSpPr>
            <a:spLocks noChangeArrowheads="1"/>
          </p:cNvSpPr>
          <p:nvPr/>
        </p:nvSpPr>
        <p:spPr bwMode="auto">
          <a:xfrm>
            <a:off x="4469363" y="4419600"/>
            <a:ext cx="4648200"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Nunito"/>
              </a:rPr>
              <a:t>Formula:</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 = (P * K) Mod 26 (</a:t>
            </a:r>
            <a:r>
              <a:rPr kumimoji="0" lang="en-US" altLang="en-US" sz="2000" b="0" i="0" u="none" strike="noStrike" cap="none" normalizeH="0" baseline="0" dirty="0">
                <a:ln>
                  <a:noFill/>
                </a:ln>
                <a:solidFill>
                  <a:schemeClr val="tx1"/>
                </a:solidFill>
                <a:effectLst/>
                <a:latin typeface="Arial" panose="020B0604020202020204" pitchFamily="34" charset="0"/>
              </a:rPr>
              <a:t>total number of alphabets</a:t>
            </a:r>
            <a:r>
              <a:rPr kumimoji="0" lang="en-US" altLang="en-US" sz="2000" b="1"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 </a:t>
            </a:r>
            <a:r>
              <a:rPr kumimoji="0" lang="en-US" altLang="en-US" sz="2000" b="0" i="0" u="none" strike="noStrike" cap="none" normalizeH="0" baseline="0" dirty="0">
                <a:ln>
                  <a:noFill/>
                </a:ln>
                <a:solidFill>
                  <a:schemeClr val="tx1"/>
                </a:solidFill>
                <a:effectLst/>
                <a:latin typeface="Arial" panose="020B0604020202020204" pitchFamily="34" charset="0"/>
              </a:rPr>
              <a:t>= Cipher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 =</a:t>
            </a:r>
            <a:r>
              <a:rPr kumimoji="0" lang="en-US" altLang="en-US" sz="2000" b="0" i="0" u="none" strike="noStrike" cap="none" normalizeH="0" baseline="0" dirty="0">
                <a:ln>
                  <a:noFill/>
                </a:ln>
                <a:solidFill>
                  <a:schemeClr val="tx1"/>
                </a:solidFill>
                <a:effectLst/>
                <a:latin typeface="Arial" panose="020B0604020202020204" pitchFamily="34" charset="0"/>
              </a:rPr>
              <a:t> Plain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K = </a:t>
            </a:r>
            <a:r>
              <a:rPr kumimoji="0" lang="en-US" altLang="en-US" sz="2000" b="0" i="0" u="none" strike="noStrike" cap="none" normalizeH="0" baseline="0" dirty="0">
                <a:ln>
                  <a:noFill/>
                </a:ln>
                <a:solidFill>
                  <a:schemeClr val="tx1"/>
                </a:solidFill>
                <a:effectLst/>
                <a:latin typeface="Arial" panose="020B0604020202020204" pitchFamily="34" charset="0"/>
              </a:rPr>
              <a:t>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Mod = </a:t>
            </a:r>
            <a:r>
              <a:rPr kumimoji="0" lang="en-US" altLang="en-US" sz="2000" b="0" i="0" u="none" strike="noStrike" cap="none" normalizeH="0" baseline="0" dirty="0">
                <a:ln>
                  <a:noFill/>
                </a:ln>
                <a:solidFill>
                  <a:schemeClr val="tx1"/>
                </a:solidFill>
                <a:effectLst/>
                <a:latin typeface="Arial" panose="020B0604020202020204" pitchFamily="34" charset="0"/>
              </a:rPr>
              <a:t>Modulus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5572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Choose a Key</a:t>
            </a:r>
          </a:p>
        </p:txBody>
      </p:sp>
      <p:sp>
        <p:nvSpPr>
          <p:cNvPr id="3" name="Content Placeholder 2"/>
          <p:cNvSpPr>
            <a:spLocks noGrp="1"/>
          </p:cNvSpPr>
          <p:nvPr>
            <p:ph idx="1"/>
          </p:nvPr>
        </p:nvSpPr>
        <p:spPr>
          <a:xfrm>
            <a:off x="228600" y="1143000"/>
            <a:ext cx="8229600" cy="4953000"/>
          </a:xfrm>
        </p:spPr>
        <p:txBody>
          <a:bodyPr>
            <a:normAutofit fontScale="77500" lnSpcReduction="20000"/>
          </a:bodyPr>
          <a:lstStyle/>
          <a:p>
            <a:pPr marL="0" indent="0">
              <a:buNone/>
            </a:pPr>
            <a:r>
              <a:rPr lang="en-IN" b="1" dirty="0"/>
              <a:t>Step 1</a:t>
            </a:r>
          </a:p>
          <a:p>
            <a:r>
              <a:rPr lang="en-IN" dirty="0"/>
              <a:t>Choose a key between 1 and 26</a:t>
            </a:r>
          </a:p>
          <a:p>
            <a:r>
              <a:rPr lang="en-IN" dirty="0"/>
              <a:t>Let us choose 9</a:t>
            </a:r>
          </a:p>
          <a:p>
            <a:r>
              <a:rPr lang="en-IN" dirty="0" err="1"/>
              <a:t>Gcd</a:t>
            </a:r>
            <a:r>
              <a:rPr lang="en-IN" dirty="0"/>
              <a:t>(9,26)=1</a:t>
            </a:r>
          </a:p>
          <a:p>
            <a:pPr marL="0" indent="0">
              <a:buNone/>
            </a:pPr>
            <a:r>
              <a:rPr lang="en-IN" b="1" dirty="0"/>
              <a:t>Step 2</a:t>
            </a:r>
          </a:p>
          <a:p>
            <a:r>
              <a:rPr lang="en-IN" dirty="0"/>
              <a:t>Encrypt “hello”</a:t>
            </a:r>
          </a:p>
          <a:p>
            <a:r>
              <a:rPr lang="en-IN" dirty="0"/>
              <a:t>Each character in the message is multiplied with the key mod 26</a:t>
            </a:r>
          </a:p>
          <a:p>
            <a:pPr marL="0" indent="0">
              <a:buNone/>
            </a:pPr>
            <a:r>
              <a:rPr lang="en-IN" dirty="0"/>
              <a:t>Say (7*9) mod 26=11(l)</a:t>
            </a:r>
          </a:p>
          <a:p>
            <a:pPr marL="0" indent="0">
              <a:buNone/>
            </a:pPr>
            <a:r>
              <a:rPr lang="en-IN" dirty="0"/>
              <a:t>       (4*9) mod 26=10(k)</a:t>
            </a:r>
          </a:p>
          <a:p>
            <a:pPr marL="0" indent="0">
              <a:buNone/>
            </a:pPr>
            <a:r>
              <a:rPr lang="en-IN" dirty="0"/>
              <a:t>       (11*9) mod 26=21(v)</a:t>
            </a:r>
          </a:p>
          <a:p>
            <a:pPr marL="0" indent="0">
              <a:buNone/>
            </a:pPr>
            <a:r>
              <a:rPr lang="en-IN" dirty="0"/>
              <a:t>       (11*9) mod 26=21(v)</a:t>
            </a:r>
          </a:p>
          <a:p>
            <a:pPr marL="0" indent="0">
              <a:buNone/>
            </a:pPr>
            <a:r>
              <a:rPr lang="en-IN" dirty="0"/>
              <a:t>        (14*9) mod 26 =22(w)</a:t>
            </a:r>
          </a:p>
        </p:txBody>
      </p:sp>
    </p:spTree>
    <p:extLst>
      <p:ext uri="{BB962C8B-B14F-4D97-AF65-F5344CB8AC3E}">
        <p14:creationId xmlns:p14="http://schemas.microsoft.com/office/powerpoint/2010/main" val="2874830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Multiplicative Cipher</a:t>
            </a:r>
          </a:p>
        </p:txBody>
      </p:sp>
      <p:sp>
        <p:nvSpPr>
          <p:cNvPr id="3" name="Content Placeholder 2"/>
          <p:cNvSpPr>
            <a:spLocks noGrp="1"/>
          </p:cNvSpPr>
          <p:nvPr>
            <p:ph idx="1"/>
          </p:nvPr>
        </p:nvSpPr>
        <p:spPr>
          <a:xfrm>
            <a:off x="0" y="1417638"/>
            <a:ext cx="9144000" cy="5440362"/>
          </a:xfrm>
        </p:spPr>
        <p:txBody>
          <a:bodyPr>
            <a:normAutofit/>
          </a:bodyPr>
          <a:lstStyle/>
          <a:p>
            <a:r>
              <a:rPr lang="en-US" dirty="0"/>
              <a:t>The decryption process is simply the reverse of the encryption process, i.e., by dividing the numerical value of each letter in the </a:t>
            </a:r>
            <a:r>
              <a:rPr lang="en-US" dirty="0" err="1"/>
              <a:t>ciphertext</a:t>
            </a:r>
            <a:r>
              <a:rPr lang="en-US" dirty="0"/>
              <a:t> by key and then taking the result modulo of the key. </a:t>
            </a:r>
          </a:p>
          <a:p>
            <a:r>
              <a:rPr lang="en-IN" dirty="0"/>
              <a:t>Cipher text is </a:t>
            </a:r>
            <a:r>
              <a:rPr lang="en-IN" dirty="0" err="1"/>
              <a:t>lkvvw</a:t>
            </a:r>
            <a:endParaRPr lang="en-IN" dirty="0"/>
          </a:p>
          <a:p>
            <a:r>
              <a:rPr lang="en-IN" dirty="0"/>
              <a:t>Take each character of cipher text and multiply with the inverse</a:t>
            </a:r>
          </a:p>
          <a:p>
            <a:r>
              <a:rPr lang="en-US" altLang="en-US" b="1" dirty="0">
                <a:latin typeface="Arial" panose="020B0604020202020204" pitchFamily="34" charset="0"/>
              </a:rPr>
              <a:t>(P * K</a:t>
            </a:r>
            <a:r>
              <a:rPr lang="en-US" altLang="en-US" b="1" baseline="30000" dirty="0">
                <a:latin typeface="Arial" panose="020B0604020202020204" pitchFamily="34" charset="0"/>
              </a:rPr>
              <a:t>-1</a:t>
            </a:r>
            <a:r>
              <a:rPr lang="en-US" altLang="en-US" b="1" dirty="0">
                <a:latin typeface="Arial" panose="020B0604020202020204" pitchFamily="34" charset="0"/>
              </a:rPr>
              <a:t>) Mod 26</a:t>
            </a:r>
          </a:p>
          <a:p>
            <a:r>
              <a:rPr lang="en-US" b="1" dirty="0">
                <a:latin typeface="Arial" panose="020B0604020202020204" pitchFamily="34" charset="0"/>
              </a:rPr>
              <a:t>Multiplicative inverse </a:t>
            </a:r>
            <a:r>
              <a:rPr lang="en-US" dirty="0">
                <a:latin typeface="Arial" panose="020B0604020202020204" pitchFamily="34" charset="0"/>
              </a:rPr>
              <a:t>is determined using extended Euclidean algorithm</a:t>
            </a:r>
            <a:endParaRPr lang="en-IN" dirty="0"/>
          </a:p>
        </p:txBody>
      </p:sp>
    </p:spTree>
    <p:extLst>
      <p:ext uri="{BB962C8B-B14F-4D97-AF65-F5344CB8AC3E}">
        <p14:creationId xmlns:p14="http://schemas.microsoft.com/office/powerpoint/2010/main" val="399546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Modular Multiplicative inverse</a:t>
            </a:r>
          </a:p>
        </p:txBody>
      </p:sp>
      <p:sp>
        <p:nvSpPr>
          <p:cNvPr id="3" name="Content Placeholder 2"/>
          <p:cNvSpPr>
            <a:spLocks noGrp="1"/>
          </p:cNvSpPr>
          <p:nvPr>
            <p:ph idx="1"/>
          </p:nvPr>
        </p:nvSpPr>
        <p:spPr>
          <a:xfrm>
            <a:off x="152400" y="1600200"/>
            <a:ext cx="8991600" cy="4525963"/>
          </a:xfrm>
        </p:spPr>
        <p:txBody>
          <a:bodyPr/>
          <a:lstStyle/>
          <a:p>
            <a:r>
              <a:rPr lang="en-IN" dirty="0"/>
              <a:t> A modular multiplicative inverse of an integer a is an integer x such that the product </a:t>
            </a:r>
            <a:r>
              <a:rPr lang="en-IN" dirty="0" err="1"/>
              <a:t>ax</a:t>
            </a:r>
            <a:r>
              <a:rPr lang="en-IN" dirty="0"/>
              <a:t> is congruent to 1 with respect to the modulus m</a:t>
            </a:r>
          </a:p>
          <a:p>
            <a:r>
              <a:rPr lang="en-IN" dirty="0"/>
              <a:t>a x </a:t>
            </a:r>
            <a:r>
              <a:rPr lang="el-GR" dirty="0"/>
              <a:t>Ξ</a:t>
            </a:r>
            <a:r>
              <a:rPr lang="en-IN" dirty="0"/>
              <a:t> 1 mod m</a:t>
            </a:r>
          </a:p>
          <a:p>
            <a:r>
              <a:rPr lang="en-IN" dirty="0"/>
              <a:t>x is the modular multiplicative inverse</a:t>
            </a:r>
          </a:p>
          <a:p>
            <a:r>
              <a:rPr lang="en-IN" dirty="0"/>
              <a:t>Example: 3 x </a:t>
            </a:r>
            <a:r>
              <a:rPr lang="el-GR" dirty="0"/>
              <a:t>Ξ</a:t>
            </a:r>
            <a:r>
              <a:rPr lang="en-IN" dirty="0"/>
              <a:t> 1 mod 17</a:t>
            </a:r>
          </a:p>
          <a:p>
            <a:r>
              <a:rPr lang="en-IN" dirty="0"/>
              <a:t>Can be written as 3 x mod 17 =1</a:t>
            </a:r>
          </a:p>
          <a:p>
            <a:endParaRPr lang="en-IN" dirty="0"/>
          </a:p>
          <a:p>
            <a:endParaRPr lang="en-IN" dirty="0"/>
          </a:p>
          <a:p>
            <a:endParaRPr lang="en-IN" dirty="0"/>
          </a:p>
        </p:txBody>
      </p:sp>
    </p:spTree>
    <p:extLst>
      <p:ext uri="{BB962C8B-B14F-4D97-AF65-F5344CB8AC3E}">
        <p14:creationId xmlns:p14="http://schemas.microsoft.com/office/powerpoint/2010/main" val="1101118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Modular Multiplicative inverse</a:t>
            </a:r>
          </a:p>
        </p:txBody>
      </p:sp>
      <p:sp>
        <p:nvSpPr>
          <p:cNvPr id="3" name="Content Placeholder 2"/>
          <p:cNvSpPr>
            <a:spLocks noGrp="1"/>
          </p:cNvSpPr>
          <p:nvPr>
            <p:ph idx="1"/>
          </p:nvPr>
        </p:nvSpPr>
        <p:spPr>
          <a:xfrm>
            <a:off x="152400" y="1600200"/>
            <a:ext cx="8991600" cy="4525963"/>
          </a:xfrm>
        </p:spPr>
        <p:txBody>
          <a:bodyPr>
            <a:normAutofit lnSpcReduction="10000"/>
          </a:bodyPr>
          <a:lstStyle/>
          <a:p>
            <a:r>
              <a:rPr lang="en-IN" dirty="0"/>
              <a:t>Find modular multiplicative inverse using Extended Euclidean Algorithm</a:t>
            </a:r>
          </a:p>
          <a:p>
            <a:r>
              <a:rPr lang="en-IN" dirty="0"/>
              <a:t>5 x </a:t>
            </a:r>
            <a:r>
              <a:rPr lang="el-GR" dirty="0"/>
              <a:t>Ξ</a:t>
            </a:r>
            <a:r>
              <a:rPr lang="en-IN" dirty="0"/>
              <a:t> 1 mod 14 find x?</a:t>
            </a:r>
          </a:p>
          <a:p>
            <a:r>
              <a:rPr lang="en-IN" dirty="0"/>
              <a:t>x is the modular multiplicative inverse</a:t>
            </a:r>
          </a:p>
          <a:p>
            <a:r>
              <a:rPr lang="en-IN" dirty="0"/>
              <a:t>Example: 3 x </a:t>
            </a:r>
            <a:r>
              <a:rPr lang="el-GR" dirty="0"/>
              <a:t>Ξ</a:t>
            </a:r>
            <a:r>
              <a:rPr lang="en-IN" dirty="0"/>
              <a:t> 1 mod 17</a:t>
            </a:r>
          </a:p>
          <a:p>
            <a:r>
              <a:rPr lang="en-IN" dirty="0"/>
              <a:t>Can be written as 3 x mod 17 =1</a:t>
            </a:r>
          </a:p>
          <a:p>
            <a:r>
              <a:rPr lang="en-IN" dirty="0"/>
              <a:t>If </a:t>
            </a:r>
            <a:r>
              <a:rPr lang="en-IN" dirty="0" err="1"/>
              <a:t>gcd</a:t>
            </a:r>
            <a:r>
              <a:rPr lang="en-IN" dirty="0"/>
              <a:t> is 1 we can find multiplicative inverse</a:t>
            </a:r>
          </a:p>
          <a:p>
            <a:r>
              <a:rPr lang="en-IN" dirty="0" err="1"/>
              <a:t>Gcd</a:t>
            </a:r>
            <a:r>
              <a:rPr lang="en-IN" dirty="0"/>
              <a:t>(5,14) is 1</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933659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Multiplicative Cipher</a:t>
            </a:r>
          </a:p>
        </p:txBody>
      </p:sp>
      <p:sp>
        <p:nvSpPr>
          <p:cNvPr id="3" name="Content Placeholder 2"/>
          <p:cNvSpPr>
            <a:spLocks noGrp="1"/>
          </p:cNvSpPr>
          <p:nvPr>
            <p:ph idx="1"/>
          </p:nvPr>
        </p:nvSpPr>
        <p:spPr/>
        <p:txBody>
          <a:bodyPr>
            <a:normAutofit/>
          </a:bodyPr>
          <a:lstStyle/>
          <a:p>
            <a:r>
              <a:rPr lang="en-US" dirty="0"/>
              <a:t>it is not a secure method of encryption and can be easily broken too. It is suitable for small-scale applications but not recommended for practical purposes.</a:t>
            </a:r>
            <a:endParaRPr lang="en-IN" dirty="0"/>
          </a:p>
        </p:txBody>
      </p:sp>
    </p:spTree>
    <p:extLst>
      <p:ext uri="{BB962C8B-B14F-4D97-AF65-F5344CB8AC3E}">
        <p14:creationId xmlns:p14="http://schemas.microsoft.com/office/powerpoint/2010/main" val="3267960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 alphabet Substitution Cipher</a:t>
            </a:r>
            <a:endParaRPr lang="en-IN" dirty="0"/>
          </a:p>
        </p:txBody>
      </p:sp>
      <p:sp>
        <p:nvSpPr>
          <p:cNvPr id="4" name="Subtitle 3"/>
          <p:cNvSpPr>
            <a:spLocks noGrp="1"/>
          </p:cNvSpPr>
          <p:nvPr>
            <p:ph type="subTitle" idx="1"/>
          </p:nvPr>
        </p:nvSpPr>
        <p:spPr/>
        <p:txBody>
          <a:bodyPr/>
          <a:lstStyle/>
          <a:p>
            <a:r>
              <a:rPr lang="en-US" dirty="0"/>
              <a:t>- Playfair Cipher </a:t>
            </a:r>
            <a:endParaRPr lang="en-IN" dirty="0"/>
          </a:p>
        </p:txBody>
      </p:sp>
    </p:spTree>
    <p:extLst>
      <p:ext uri="{BB962C8B-B14F-4D97-AF65-F5344CB8AC3E}">
        <p14:creationId xmlns:p14="http://schemas.microsoft.com/office/powerpoint/2010/main" val="178325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a:t>
            </a:r>
          </a:p>
        </p:txBody>
      </p:sp>
      <p:sp>
        <p:nvSpPr>
          <p:cNvPr id="3" name="Content Placeholder 2"/>
          <p:cNvSpPr>
            <a:spLocks noGrp="1"/>
          </p:cNvSpPr>
          <p:nvPr>
            <p:ph idx="1"/>
          </p:nvPr>
        </p:nvSpPr>
        <p:spPr/>
        <p:txBody>
          <a:bodyPr/>
          <a:lstStyle/>
          <a:p>
            <a:pPr algn="just"/>
            <a:r>
              <a:rPr lang="en-IN" dirty="0"/>
              <a:t>The best-known multiple-letter encryption cipher is the </a:t>
            </a:r>
            <a:r>
              <a:rPr lang="en-IN" dirty="0" err="1"/>
              <a:t>Playfair</a:t>
            </a:r>
            <a:r>
              <a:rPr lang="en-IN" dirty="0"/>
              <a:t>, which treats </a:t>
            </a:r>
            <a:r>
              <a:rPr lang="en-IN" dirty="0" err="1"/>
              <a:t>digrams</a:t>
            </a:r>
            <a:r>
              <a:rPr lang="en-IN" dirty="0"/>
              <a:t> in the plaintext as single units and translates these units into </a:t>
            </a:r>
            <a:r>
              <a:rPr lang="en-IN" dirty="0" err="1"/>
              <a:t>ciphertext</a:t>
            </a:r>
            <a:r>
              <a:rPr lang="en-IN" dirty="0"/>
              <a:t> </a:t>
            </a:r>
            <a:r>
              <a:rPr lang="en-IN" dirty="0" err="1"/>
              <a:t>digrams</a:t>
            </a:r>
            <a:r>
              <a:rPr lang="en-IN" dirty="0"/>
              <a:t>.</a:t>
            </a:r>
          </a:p>
          <a:p>
            <a:pPr algn="just"/>
            <a:r>
              <a:rPr lang="en-IN" dirty="0"/>
              <a:t>The </a:t>
            </a:r>
            <a:r>
              <a:rPr lang="en-IN" dirty="0" err="1"/>
              <a:t>Playfair</a:t>
            </a:r>
            <a:r>
              <a:rPr lang="en-IN" dirty="0"/>
              <a:t> algorithm is based on the use of a 5 x 5 matrix of letters constructed using a keyword.</a:t>
            </a:r>
          </a:p>
        </p:txBody>
      </p:sp>
    </p:spTree>
    <p:extLst>
      <p:ext uri="{BB962C8B-B14F-4D97-AF65-F5344CB8AC3E}">
        <p14:creationId xmlns:p14="http://schemas.microsoft.com/office/powerpoint/2010/main" val="596953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a:t>
            </a:r>
          </a:p>
        </p:txBody>
      </p:sp>
      <p:sp>
        <p:nvSpPr>
          <p:cNvPr id="3" name="Content Placeholder 2"/>
          <p:cNvSpPr>
            <a:spLocks noGrp="1"/>
          </p:cNvSpPr>
          <p:nvPr>
            <p:ph idx="1"/>
          </p:nvPr>
        </p:nvSpPr>
        <p:spPr/>
        <p:txBody>
          <a:bodyPr/>
          <a:lstStyle/>
          <a:p>
            <a:pPr algn="just"/>
            <a:r>
              <a:rPr lang="en-US" dirty="0"/>
              <a:t>Step 1 – Choose a Key </a:t>
            </a:r>
          </a:p>
          <a:p>
            <a:pPr algn="just"/>
            <a:r>
              <a:rPr lang="en-US" dirty="0"/>
              <a:t>Let us assume the key is </a:t>
            </a:r>
            <a:r>
              <a:rPr lang="en-IN" b="1" dirty="0"/>
              <a:t>COMPUTER</a:t>
            </a:r>
            <a:endParaRPr lang="en-US" dirty="0"/>
          </a:p>
          <a:p>
            <a:pPr algn="just"/>
            <a:r>
              <a:rPr lang="en-US" dirty="0"/>
              <a:t>STEP 2 – Construct the 5X5 Matrix </a:t>
            </a:r>
            <a:endParaRPr lang="en-IN" dirty="0"/>
          </a:p>
        </p:txBody>
      </p:sp>
      <p:sp>
        <p:nvSpPr>
          <p:cNvPr id="5" name="TextBox 4"/>
          <p:cNvSpPr txBox="1"/>
          <p:nvPr/>
        </p:nvSpPr>
        <p:spPr>
          <a:xfrm>
            <a:off x="1752600" y="3733800"/>
            <a:ext cx="609600" cy="369332"/>
          </a:xfrm>
          <a:prstGeom prst="rect">
            <a:avLst/>
          </a:prstGeom>
          <a:noFill/>
        </p:spPr>
        <p:txBody>
          <a:bodyPr wrap="square" rtlCol="0">
            <a:spAutoFit/>
          </a:bodyPr>
          <a:lstStyle/>
          <a:p>
            <a:pPr algn="ctr"/>
            <a:r>
              <a:rPr lang="en-US" dirty="0"/>
              <a:t>S</a:t>
            </a:r>
            <a:endParaRPr lang="en-IN" dirty="0"/>
          </a:p>
        </p:txBody>
      </p:sp>
      <p:sp>
        <p:nvSpPr>
          <p:cNvPr id="6" name="TextBox 5"/>
          <p:cNvSpPr txBox="1"/>
          <p:nvPr/>
        </p:nvSpPr>
        <p:spPr>
          <a:xfrm>
            <a:off x="2971800" y="3733800"/>
            <a:ext cx="609600" cy="369332"/>
          </a:xfrm>
          <a:prstGeom prst="rect">
            <a:avLst/>
          </a:prstGeom>
          <a:noFill/>
        </p:spPr>
        <p:txBody>
          <a:bodyPr wrap="square" rtlCol="0">
            <a:spAutoFit/>
          </a:bodyPr>
          <a:lstStyle/>
          <a:p>
            <a:pPr algn="ctr"/>
            <a:r>
              <a:rPr lang="en-US" dirty="0"/>
              <a:t>C</a:t>
            </a:r>
            <a:endParaRPr lang="en-IN" dirty="0"/>
          </a:p>
        </p:txBody>
      </p:sp>
      <p:sp>
        <p:nvSpPr>
          <p:cNvPr id="7" name="TextBox 6"/>
          <p:cNvSpPr txBox="1"/>
          <p:nvPr/>
        </p:nvSpPr>
        <p:spPr>
          <a:xfrm>
            <a:off x="4267200" y="3743943"/>
            <a:ext cx="609600" cy="369332"/>
          </a:xfrm>
          <a:prstGeom prst="rect">
            <a:avLst/>
          </a:prstGeom>
          <a:noFill/>
        </p:spPr>
        <p:txBody>
          <a:bodyPr wrap="square" rtlCol="0">
            <a:spAutoFit/>
          </a:bodyPr>
          <a:lstStyle/>
          <a:p>
            <a:pPr algn="ctr"/>
            <a:r>
              <a:rPr lang="en-US" dirty="0"/>
              <a:t>O</a:t>
            </a:r>
            <a:endParaRPr lang="en-IN" dirty="0"/>
          </a:p>
        </p:txBody>
      </p:sp>
      <p:sp>
        <p:nvSpPr>
          <p:cNvPr id="8" name="TextBox 7"/>
          <p:cNvSpPr txBox="1"/>
          <p:nvPr/>
        </p:nvSpPr>
        <p:spPr>
          <a:xfrm>
            <a:off x="5410200" y="3743943"/>
            <a:ext cx="609600" cy="369332"/>
          </a:xfrm>
          <a:prstGeom prst="rect">
            <a:avLst/>
          </a:prstGeom>
          <a:noFill/>
        </p:spPr>
        <p:txBody>
          <a:bodyPr wrap="square" rtlCol="0">
            <a:spAutoFit/>
          </a:bodyPr>
          <a:lstStyle/>
          <a:p>
            <a:pPr algn="ctr"/>
            <a:r>
              <a:rPr lang="en-US" dirty="0"/>
              <a:t>P</a:t>
            </a:r>
            <a:endParaRPr lang="en-IN" dirty="0"/>
          </a:p>
        </p:txBody>
      </p:sp>
      <p:sp>
        <p:nvSpPr>
          <p:cNvPr id="9" name="TextBox 8"/>
          <p:cNvSpPr txBox="1"/>
          <p:nvPr/>
        </p:nvSpPr>
        <p:spPr>
          <a:xfrm>
            <a:off x="6629400" y="3701534"/>
            <a:ext cx="609600" cy="369332"/>
          </a:xfrm>
          <a:prstGeom prst="rect">
            <a:avLst/>
          </a:prstGeom>
          <a:noFill/>
        </p:spPr>
        <p:txBody>
          <a:bodyPr wrap="square" rtlCol="0">
            <a:spAutoFit/>
          </a:bodyPr>
          <a:lstStyle/>
          <a:p>
            <a:pPr algn="ctr"/>
            <a:r>
              <a:rPr lang="en-US" dirty="0"/>
              <a:t>E</a:t>
            </a:r>
            <a:endParaRPr lang="en-IN" dirty="0"/>
          </a:p>
        </p:txBody>
      </p:sp>
      <p:sp>
        <p:nvSpPr>
          <p:cNvPr id="10" name="TextBox 9"/>
          <p:cNvSpPr txBox="1"/>
          <p:nvPr/>
        </p:nvSpPr>
        <p:spPr>
          <a:xfrm>
            <a:off x="1750138" y="4179022"/>
            <a:ext cx="609600" cy="369332"/>
          </a:xfrm>
          <a:prstGeom prst="rect">
            <a:avLst/>
          </a:prstGeom>
          <a:noFill/>
        </p:spPr>
        <p:txBody>
          <a:bodyPr wrap="square" rtlCol="0">
            <a:spAutoFit/>
          </a:bodyPr>
          <a:lstStyle/>
          <a:p>
            <a:pPr algn="ctr"/>
            <a:r>
              <a:rPr lang="en-US" dirty="0"/>
              <a:t>A</a:t>
            </a:r>
            <a:endParaRPr lang="en-IN" dirty="0"/>
          </a:p>
        </p:txBody>
      </p:sp>
      <p:sp>
        <p:nvSpPr>
          <p:cNvPr id="11" name="TextBox 10"/>
          <p:cNvSpPr txBox="1"/>
          <p:nvPr/>
        </p:nvSpPr>
        <p:spPr>
          <a:xfrm>
            <a:off x="2969338" y="4179022"/>
            <a:ext cx="609600" cy="369332"/>
          </a:xfrm>
          <a:prstGeom prst="rect">
            <a:avLst/>
          </a:prstGeom>
          <a:noFill/>
        </p:spPr>
        <p:txBody>
          <a:bodyPr wrap="square" rtlCol="0">
            <a:spAutoFit/>
          </a:bodyPr>
          <a:lstStyle/>
          <a:p>
            <a:pPr algn="ctr"/>
            <a:r>
              <a:rPr lang="en-US" dirty="0"/>
              <a:t>B</a:t>
            </a:r>
            <a:endParaRPr lang="en-IN" dirty="0"/>
          </a:p>
        </p:txBody>
      </p:sp>
      <p:sp>
        <p:nvSpPr>
          <p:cNvPr id="12" name="TextBox 11"/>
          <p:cNvSpPr txBox="1"/>
          <p:nvPr/>
        </p:nvSpPr>
        <p:spPr>
          <a:xfrm>
            <a:off x="4264738" y="4189165"/>
            <a:ext cx="609600" cy="369332"/>
          </a:xfrm>
          <a:prstGeom prst="rect">
            <a:avLst/>
          </a:prstGeom>
          <a:noFill/>
        </p:spPr>
        <p:txBody>
          <a:bodyPr wrap="square" rtlCol="0">
            <a:spAutoFit/>
          </a:bodyPr>
          <a:lstStyle/>
          <a:p>
            <a:pPr algn="ctr"/>
            <a:r>
              <a:rPr lang="en-US" dirty="0"/>
              <a:t>D</a:t>
            </a:r>
            <a:endParaRPr lang="en-IN" dirty="0"/>
          </a:p>
        </p:txBody>
      </p:sp>
      <p:sp>
        <p:nvSpPr>
          <p:cNvPr id="13" name="TextBox 12"/>
          <p:cNvSpPr txBox="1"/>
          <p:nvPr/>
        </p:nvSpPr>
        <p:spPr>
          <a:xfrm>
            <a:off x="5407738" y="4189165"/>
            <a:ext cx="609600" cy="369332"/>
          </a:xfrm>
          <a:prstGeom prst="rect">
            <a:avLst/>
          </a:prstGeom>
          <a:noFill/>
        </p:spPr>
        <p:txBody>
          <a:bodyPr wrap="square" rtlCol="0">
            <a:spAutoFit/>
          </a:bodyPr>
          <a:lstStyle/>
          <a:p>
            <a:pPr algn="ctr"/>
            <a:r>
              <a:rPr lang="en-US" dirty="0"/>
              <a:t>F</a:t>
            </a:r>
            <a:endParaRPr lang="en-IN" dirty="0"/>
          </a:p>
        </p:txBody>
      </p:sp>
      <p:sp>
        <p:nvSpPr>
          <p:cNvPr id="14" name="TextBox 13"/>
          <p:cNvSpPr txBox="1"/>
          <p:nvPr/>
        </p:nvSpPr>
        <p:spPr>
          <a:xfrm>
            <a:off x="6626938" y="4146756"/>
            <a:ext cx="609600" cy="369332"/>
          </a:xfrm>
          <a:prstGeom prst="rect">
            <a:avLst/>
          </a:prstGeom>
          <a:noFill/>
        </p:spPr>
        <p:txBody>
          <a:bodyPr wrap="square" rtlCol="0">
            <a:spAutoFit/>
          </a:bodyPr>
          <a:lstStyle/>
          <a:p>
            <a:pPr algn="ctr"/>
            <a:r>
              <a:rPr lang="en-US" dirty="0"/>
              <a:t>G</a:t>
            </a:r>
            <a:endParaRPr lang="en-IN" dirty="0"/>
          </a:p>
        </p:txBody>
      </p:sp>
      <p:sp>
        <p:nvSpPr>
          <p:cNvPr id="16" name="TextBox 15"/>
          <p:cNvSpPr txBox="1"/>
          <p:nvPr/>
        </p:nvSpPr>
        <p:spPr>
          <a:xfrm>
            <a:off x="2971800" y="4516088"/>
            <a:ext cx="609600" cy="369332"/>
          </a:xfrm>
          <a:prstGeom prst="rect">
            <a:avLst/>
          </a:prstGeom>
          <a:noFill/>
        </p:spPr>
        <p:txBody>
          <a:bodyPr wrap="square" rtlCol="0">
            <a:spAutoFit/>
          </a:bodyPr>
          <a:lstStyle/>
          <a:p>
            <a:pPr algn="ctr"/>
            <a:r>
              <a:rPr lang="en-US" dirty="0"/>
              <a:t>I/J</a:t>
            </a:r>
            <a:endParaRPr lang="en-IN" dirty="0"/>
          </a:p>
        </p:txBody>
      </p:sp>
      <p:sp>
        <p:nvSpPr>
          <p:cNvPr id="17" name="TextBox 16"/>
          <p:cNvSpPr txBox="1"/>
          <p:nvPr/>
        </p:nvSpPr>
        <p:spPr>
          <a:xfrm>
            <a:off x="4267200" y="4526231"/>
            <a:ext cx="609600" cy="369332"/>
          </a:xfrm>
          <a:prstGeom prst="rect">
            <a:avLst/>
          </a:prstGeom>
          <a:noFill/>
        </p:spPr>
        <p:txBody>
          <a:bodyPr wrap="square" rtlCol="0">
            <a:spAutoFit/>
          </a:bodyPr>
          <a:lstStyle/>
          <a:p>
            <a:pPr algn="ctr"/>
            <a:r>
              <a:rPr lang="en-US" dirty="0"/>
              <a:t>K</a:t>
            </a:r>
            <a:endParaRPr lang="en-IN" dirty="0"/>
          </a:p>
        </p:txBody>
      </p:sp>
      <p:sp>
        <p:nvSpPr>
          <p:cNvPr id="18" name="TextBox 17"/>
          <p:cNvSpPr txBox="1"/>
          <p:nvPr/>
        </p:nvSpPr>
        <p:spPr>
          <a:xfrm>
            <a:off x="5410200" y="4526231"/>
            <a:ext cx="609600" cy="369332"/>
          </a:xfrm>
          <a:prstGeom prst="rect">
            <a:avLst/>
          </a:prstGeom>
          <a:noFill/>
        </p:spPr>
        <p:txBody>
          <a:bodyPr wrap="square" rtlCol="0">
            <a:spAutoFit/>
          </a:bodyPr>
          <a:lstStyle/>
          <a:p>
            <a:pPr algn="ctr"/>
            <a:r>
              <a:rPr lang="en-US" dirty="0"/>
              <a:t>L</a:t>
            </a:r>
            <a:endParaRPr lang="en-IN" dirty="0"/>
          </a:p>
        </p:txBody>
      </p:sp>
      <p:sp>
        <p:nvSpPr>
          <p:cNvPr id="19" name="TextBox 18"/>
          <p:cNvSpPr txBox="1"/>
          <p:nvPr/>
        </p:nvSpPr>
        <p:spPr>
          <a:xfrm>
            <a:off x="6629400" y="4483822"/>
            <a:ext cx="609600" cy="369332"/>
          </a:xfrm>
          <a:prstGeom prst="rect">
            <a:avLst/>
          </a:prstGeom>
          <a:noFill/>
        </p:spPr>
        <p:txBody>
          <a:bodyPr wrap="square" rtlCol="0">
            <a:spAutoFit/>
          </a:bodyPr>
          <a:lstStyle/>
          <a:p>
            <a:pPr algn="ctr"/>
            <a:r>
              <a:rPr lang="en-US" dirty="0"/>
              <a:t>M</a:t>
            </a:r>
            <a:endParaRPr lang="en-IN" dirty="0"/>
          </a:p>
        </p:txBody>
      </p:sp>
      <p:sp>
        <p:nvSpPr>
          <p:cNvPr id="20" name="TextBox 19"/>
          <p:cNvSpPr txBox="1"/>
          <p:nvPr/>
        </p:nvSpPr>
        <p:spPr>
          <a:xfrm>
            <a:off x="1747680" y="4512107"/>
            <a:ext cx="609600" cy="369332"/>
          </a:xfrm>
          <a:prstGeom prst="rect">
            <a:avLst/>
          </a:prstGeom>
          <a:noFill/>
        </p:spPr>
        <p:txBody>
          <a:bodyPr wrap="square" rtlCol="0">
            <a:spAutoFit/>
          </a:bodyPr>
          <a:lstStyle/>
          <a:p>
            <a:pPr algn="ctr"/>
            <a:r>
              <a:rPr lang="en-US" dirty="0"/>
              <a:t>H</a:t>
            </a:r>
            <a:endParaRPr lang="en-IN" dirty="0"/>
          </a:p>
        </p:txBody>
      </p:sp>
      <p:sp>
        <p:nvSpPr>
          <p:cNvPr id="22" name="TextBox 21"/>
          <p:cNvSpPr txBox="1"/>
          <p:nvPr/>
        </p:nvSpPr>
        <p:spPr>
          <a:xfrm>
            <a:off x="2976720" y="4824869"/>
            <a:ext cx="609600" cy="369332"/>
          </a:xfrm>
          <a:prstGeom prst="rect">
            <a:avLst/>
          </a:prstGeom>
          <a:noFill/>
        </p:spPr>
        <p:txBody>
          <a:bodyPr wrap="square" rtlCol="0">
            <a:spAutoFit/>
          </a:bodyPr>
          <a:lstStyle/>
          <a:p>
            <a:pPr algn="ctr"/>
            <a:r>
              <a:rPr lang="en-US" dirty="0"/>
              <a:t>Q</a:t>
            </a:r>
            <a:endParaRPr lang="en-IN" dirty="0"/>
          </a:p>
        </p:txBody>
      </p:sp>
      <p:sp>
        <p:nvSpPr>
          <p:cNvPr id="23" name="TextBox 22"/>
          <p:cNvSpPr txBox="1"/>
          <p:nvPr/>
        </p:nvSpPr>
        <p:spPr>
          <a:xfrm>
            <a:off x="4272120" y="4835012"/>
            <a:ext cx="609600" cy="369332"/>
          </a:xfrm>
          <a:prstGeom prst="rect">
            <a:avLst/>
          </a:prstGeom>
          <a:noFill/>
        </p:spPr>
        <p:txBody>
          <a:bodyPr wrap="square" rtlCol="0">
            <a:spAutoFit/>
          </a:bodyPr>
          <a:lstStyle/>
          <a:p>
            <a:pPr algn="ctr"/>
            <a:r>
              <a:rPr lang="en-US" dirty="0"/>
              <a:t>R</a:t>
            </a:r>
            <a:endParaRPr lang="en-IN" dirty="0"/>
          </a:p>
        </p:txBody>
      </p:sp>
      <p:sp>
        <p:nvSpPr>
          <p:cNvPr id="24" name="TextBox 23"/>
          <p:cNvSpPr txBox="1"/>
          <p:nvPr/>
        </p:nvSpPr>
        <p:spPr>
          <a:xfrm>
            <a:off x="5415120" y="4835012"/>
            <a:ext cx="609600" cy="369332"/>
          </a:xfrm>
          <a:prstGeom prst="rect">
            <a:avLst/>
          </a:prstGeom>
          <a:noFill/>
        </p:spPr>
        <p:txBody>
          <a:bodyPr wrap="square" rtlCol="0">
            <a:spAutoFit/>
          </a:bodyPr>
          <a:lstStyle/>
          <a:p>
            <a:pPr algn="ctr"/>
            <a:r>
              <a:rPr lang="en-US" dirty="0"/>
              <a:t>T</a:t>
            </a:r>
            <a:endParaRPr lang="en-IN" dirty="0"/>
          </a:p>
        </p:txBody>
      </p:sp>
      <p:sp>
        <p:nvSpPr>
          <p:cNvPr id="25" name="TextBox 24"/>
          <p:cNvSpPr txBox="1"/>
          <p:nvPr/>
        </p:nvSpPr>
        <p:spPr>
          <a:xfrm>
            <a:off x="6634320" y="4792603"/>
            <a:ext cx="609600" cy="369332"/>
          </a:xfrm>
          <a:prstGeom prst="rect">
            <a:avLst/>
          </a:prstGeom>
          <a:noFill/>
        </p:spPr>
        <p:txBody>
          <a:bodyPr wrap="square" rtlCol="0">
            <a:spAutoFit/>
          </a:bodyPr>
          <a:lstStyle/>
          <a:p>
            <a:pPr algn="ctr"/>
            <a:r>
              <a:rPr lang="en-US" dirty="0"/>
              <a:t>U</a:t>
            </a:r>
            <a:endParaRPr lang="en-IN" dirty="0"/>
          </a:p>
        </p:txBody>
      </p:sp>
      <p:sp>
        <p:nvSpPr>
          <p:cNvPr id="26" name="TextBox 25"/>
          <p:cNvSpPr txBox="1"/>
          <p:nvPr/>
        </p:nvSpPr>
        <p:spPr>
          <a:xfrm>
            <a:off x="1752600" y="4820888"/>
            <a:ext cx="609600" cy="369332"/>
          </a:xfrm>
          <a:prstGeom prst="rect">
            <a:avLst/>
          </a:prstGeom>
          <a:noFill/>
        </p:spPr>
        <p:txBody>
          <a:bodyPr wrap="square" rtlCol="0">
            <a:spAutoFit/>
          </a:bodyPr>
          <a:lstStyle/>
          <a:p>
            <a:pPr algn="ctr"/>
            <a:r>
              <a:rPr lang="en-US" dirty="0"/>
              <a:t>N</a:t>
            </a:r>
            <a:endParaRPr lang="en-IN" dirty="0"/>
          </a:p>
        </p:txBody>
      </p:sp>
      <p:sp>
        <p:nvSpPr>
          <p:cNvPr id="27" name="TextBox 26"/>
          <p:cNvSpPr txBox="1"/>
          <p:nvPr/>
        </p:nvSpPr>
        <p:spPr>
          <a:xfrm>
            <a:off x="2971800" y="5183125"/>
            <a:ext cx="609600" cy="369332"/>
          </a:xfrm>
          <a:prstGeom prst="rect">
            <a:avLst/>
          </a:prstGeom>
          <a:noFill/>
        </p:spPr>
        <p:txBody>
          <a:bodyPr wrap="square" rtlCol="0">
            <a:spAutoFit/>
          </a:bodyPr>
          <a:lstStyle/>
          <a:p>
            <a:pPr algn="ctr"/>
            <a:r>
              <a:rPr lang="en-US" dirty="0"/>
              <a:t>W</a:t>
            </a:r>
            <a:endParaRPr lang="en-IN" dirty="0"/>
          </a:p>
        </p:txBody>
      </p:sp>
      <p:sp>
        <p:nvSpPr>
          <p:cNvPr id="28" name="TextBox 27"/>
          <p:cNvSpPr txBox="1"/>
          <p:nvPr/>
        </p:nvSpPr>
        <p:spPr>
          <a:xfrm>
            <a:off x="4267200" y="5193268"/>
            <a:ext cx="609600" cy="369332"/>
          </a:xfrm>
          <a:prstGeom prst="rect">
            <a:avLst/>
          </a:prstGeom>
          <a:noFill/>
        </p:spPr>
        <p:txBody>
          <a:bodyPr wrap="square" rtlCol="0">
            <a:spAutoFit/>
          </a:bodyPr>
          <a:lstStyle/>
          <a:p>
            <a:pPr algn="ctr"/>
            <a:r>
              <a:rPr lang="en-US" dirty="0"/>
              <a:t>X</a:t>
            </a:r>
            <a:endParaRPr lang="en-IN" dirty="0"/>
          </a:p>
        </p:txBody>
      </p:sp>
      <p:sp>
        <p:nvSpPr>
          <p:cNvPr id="29" name="TextBox 28"/>
          <p:cNvSpPr txBox="1"/>
          <p:nvPr/>
        </p:nvSpPr>
        <p:spPr>
          <a:xfrm>
            <a:off x="5410200" y="5193268"/>
            <a:ext cx="609600" cy="369332"/>
          </a:xfrm>
          <a:prstGeom prst="rect">
            <a:avLst/>
          </a:prstGeom>
          <a:noFill/>
        </p:spPr>
        <p:txBody>
          <a:bodyPr wrap="square" rtlCol="0">
            <a:spAutoFit/>
          </a:bodyPr>
          <a:lstStyle/>
          <a:p>
            <a:pPr algn="ctr"/>
            <a:r>
              <a:rPr lang="en-US" dirty="0"/>
              <a:t>Y</a:t>
            </a:r>
            <a:endParaRPr lang="en-IN" dirty="0"/>
          </a:p>
        </p:txBody>
      </p:sp>
      <p:sp>
        <p:nvSpPr>
          <p:cNvPr id="30" name="TextBox 29"/>
          <p:cNvSpPr txBox="1"/>
          <p:nvPr/>
        </p:nvSpPr>
        <p:spPr>
          <a:xfrm>
            <a:off x="6629400" y="5150859"/>
            <a:ext cx="609600" cy="369332"/>
          </a:xfrm>
          <a:prstGeom prst="rect">
            <a:avLst/>
          </a:prstGeom>
          <a:noFill/>
        </p:spPr>
        <p:txBody>
          <a:bodyPr wrap="square" rtlCol="0">
            <a:spAutoFit/>
          </a:bodyPr>
          <a:lstStyle/>
          <a:p>
            <a:pPr algn="ctr"/>
            <a:r>
              <a:rPr lang="en-US" dirty="0"/>
              <a:t>Z</a:t>
            </a:r>
            <a:endParaRPr lang="en-IN" dirty="0"/>
          </a:p>
        </p:txBody>
      </p:sp>
      <p:sp>
        <p:nvSpPr>
          <p:cNvPr id="31" name="TextBox 30"/>
          <p:cNvSpPr txBox="1"/>
          <p:nvPr/>
        </p:nvSpPr>
        <p:spPr>
          <a:xfrm>
            <a:off x="1747680" y="5179144"/>
            <a:ext cx="609600" cy="369332"/>
          </a:xfrm>
          <a:prstGeom prst="rect">
            <a:avLst/>
          </a:prstGeom>
          <a:noFill/>
        </p:spPr>
        <p:txBody>
          <a:bodyPr wrap="square" rtlCol="0">
            <a:spAutoFit/>
          </a:bodyPr>
          <a:lstStyle/>
          <a:p>
            <a:pPr algn="ctr"/>
            <a:r>
              <a:rPr lang="en-US" dirty="0"/>
              <a:t>V</a:t>
            </a:r>
            <a:endParaRPr lang="en-IN" dirty="0"/>
          </a:p>
        </p:txBody>
      </p:sp>
      <p:pic>
        <p:nvPicPr>
          <p:cNvPr id="15" name="Picture 14"/>
          <p:cNvPicPr>
            <a:picLocks noChangeAspect="1"/>
          </p:cNvPicPr>
          <p:nvPr/>
        </p:nvPicPr>
        <p:blipFill>
          <a:blip r:embed="rId2"/>
          <a:stretch>
            <a:fillRect/>
          </a:stretch>
        </p:blipFill>
        <p:spPr>
          <a:xfrm>
            <a:off x="1569480" y="3485312"/>
            <a:ext cx="5674440" cy="3220287"/>
          </a:xfrm>
          <a:prstGeom prst="rect">
            <a:avLst/>
          </a:prstGeom>
        </p:spPr>
      </p:pic>
    </p:spTree>
    <p:extLst>
      <p:ext uri="{BB962C8B-B14F-4D97-AF65-F5344CB8AC3E}">
        <p14:creationId xmlns:p14="http://schemas.microsoft.com/office/powerpoint/2010/main" val="1812453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a:t>
            </a:r>
          </a:p>
        </p:txBody>
      </p:sp>
      <p:sp>
        <p:nvSpPr>
          <p:cNvPr id="3" name="Content Placeholder 2"/>
          <p:cNvSpPr>
            <a:spLocks noGrp="1"/>
          </p:cNvSpPr>
          <p:nvPr>
            <p:ph idx="1"/>
          </p:nvPr>
        </p:nvSpPr>
        <p:spPr/>
        <p:txBody>
          <a:bodyPr>
            <a:normAutofit/>
          </a:bodyPr>
          <a:lstStyle/>
          <a:p>
            <a:r>
              <a:rPr lang="en-US" dirty="0"/>
              <a:t>Step 3 – Choose a Message for Encryption – </a:t>
            </a:r>
            <a:r>
              <a:rPr lang="en-IN" b="1" dirty="0"/>
              <a:t>COMMUNICATE</a:t>
            </a:r>
            <a:r>
              <a:rPr lang="en-IN" dirty="0"/>
              <a:t> </a:t>
            </a:r>
            <a:r>
              <a:rPr lang="en-US" dirty="0"/>
              <a:t> </a:t>
            </a:r>
          </a:p>
          <a:p>
            <a:r>
              <a:rPr lang="en-US" dirty="0"/>
              <a:t>Rule 1 - </a:t>
            </a:r>
            <a:r>
              <a:rPr lang="en-IN" dirty="0"/>
              <a:t>Repeating plaintext letters that are in the same pair are separated with a filler letter, such as x, so that balloon would be treated as </a:t>
            </a:r>
            <a:r>
              <a:rPr lang="en-IN" dirty="0" err="1"/>
              <a:t>ba</a:t>
            </a:r>
            <a:r>
              <a:rPr lang="en-IN" dirty="0"/>
              <a:t> lx lo on.</a:t>
            </a:r>
          </a:p>
          <a:p>
            <a:pPr marL="0" indent="0">
              <a:buNone/>
            </a:pPr>
            <a:r>
              <a:rPr lang="en-US" dirty="0"/>
              <a:t>		   </a:t>
            </a:r>
            <a:r>
              <a:rPr lang="en-IN" b="1" dirty="0"/>
              <a:t>COMMUNICATE</a:t>
            </a:r>
            <a:r>
              <a:rPr lang="en-IN" dirty="0"/>
              <a:t> </a:t>
            </a:r>
          </a:p>
          <a:p>
            <a:pPr marL="0" indent="0">
              <a:buNone/>
            </a:pPr>
            <a:r>
              <a:rPr lang="en-IN" b="1" dirty="0"/>
              <a:t>                       CO M</a:t>
            </a:r>
            <a:r>
              <a:rPr lang="en-IN" b="1" dirty="0">
                <a:solidFill>
                  <a:srgbClr val="FF0000"/>
                </a:solidFill>
              </a:rPr>
              <a:t>X</a:t>
            </a:r>
            <a:r>
              <a:rPr lang="en-IN" b="1" dirty="0"/>
              <a:t> MU NI CA TE</a:t>
            </a:r>
            <a:r>
              <a:rPr lang="en-IN" dirty="0"/>
              <a:t> </a:t>
            </a:r>
            <a:r>
              <a:rPr lang="en-US" dirty="0"/>
              <a:t>    </a:t>
            </a:r>
            <a:endParaRPr lang="en-IN" dirty="0"/>
          </a:p>
        </p:txBody>
      </p:sp>
    </p:spTree>
    <p:extLst>
      <p:ext uri="{BB962C8B-B14F-4D97-AF65-F5344CB8AC3E}">
        <p14:creationId xmlns:p14="http://schemas.microsoft.com/office/powerpoint/2010/main" val="3521459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 - Encryption</a:t>
            </a:r>
          </a:p>
        </p:txBody>
      </p:sp>
      <p:sp>
        <p:nvSpPr>
          <p:cNvPr id="6" name="TextBox 5"/>
          <p:cNvSpPr txBox="1"/>
          <p:nvPr/>
        </p:nvSpPr>
        <p:spPr>
          <a:xfrm>
            <a:off x="1752600" y="1422400"/>
            <a:ext cx="609600" cy="369332"/>
          </a:xfrm>
          <a:prstGeom prst="rect">
            <a:avLst/>
          </a:prstGeom>
          <a:noFill/>
        </p:spPr>
        <p:txBody>
          <a:bodyPr wrap="square" rtlCol="0">
            <a:spAutoFit/>
          </a:bodyPr>
          <a:lstStyle/>
          <a:p>
            <a:pPr algn="ctr"/>
            <a:r>
              <a:rPr lang="en-US" dirty="0"/>
              <a:t>S</a:t>
            </a:r>
            <a:endParaRPr lang="en-IN" dirty="0"/>
          </a:p>
        </p:txBody>
      </p:sp>
      <p:sp>
        <p:nvSpPr>
          <p:cNvPr id="7" name="TextBox 6"/>
          <p:cNvSpPr txBox="1"/>
          <p:nvPr/>
        </p:nvSpPr>
        <p:spPr>
          <a:xfrm>
            <a:off x="2971800" y="1422400"/>
            <a:ext cx="609600" cy="369332"/>
          </a:xfrm>
          <a:prstGeom prst="rect">
            <a:avLst/>
          </a:prstGeom>
          <a:noFill/>
        </p:spPr>
        <p:txBody>
          <a:bodyPr wrap="square" rtlCol="0">
            <a:spAutoFit/>
          </a:bodyPr>
          <a:lstStyle/>
          <a:p>
            <a:pPr algn="ctr"/>
            <a:r>
              <a:rPr lang="en-US" dirty="0"/>
              <a:t>C</a:t>
            </a:r>
            <a:endParaRPr lang="en-IN" dirty="0"/>
          </a:p>
        </p:txBody>
      </p:sp>
      <p:sp>
        <p:nvSpPr>
          <p:cNvPr id="8" name="TextBox 7"/>
          <p:cNvSpPr txBox="1"/>
          <p:nvPr/>
        </p:nvSpPr>
        <p:spPr>
          <a:xfrm>
            <a:off x="4267200" y="1432543"/>
            <a:ext cx="609600" cy="369332"/>
          </a:xfrm>
          <a:prstGeom prst="rect">
            <a:avLst/>
          </a:prstGeom>
          <a:noFill/>
        </p:spPr>
        <p:txBody>
          <a:bodyPr wrap="square" rtlCol="0">
            <a:spAutoFit/>
          </a:bodyPr>
          <a:lstStyle/>
          <a:p>
            <a:pPr algn="ctr"/>
            <a:r>
              <a:rPr lang="en-US" dirty="0"/>
              <a:t>O</a:t>
            </a:r>
            <a:endParaRPr lang="en-IN" dirty="0"/>
          </a:p>
        </p:txBody>
      </p:sp>
      <p:sp>
        <p:nvSpPr>
          <p:cNvPr id="9" name="TextBox 8"/>
          <p:cNvSpPr txBox="1"/>
          <p:nvPr/>
        </p:nvSpPr>
        <p:spPr>
          <a:xfrm>
            <a:off x="5410200" y="1432543"/>
            <a:ext cx="609600" cy="369332"/>
          </a:xfrm>
          <a:prstGeom prst="rect">
            <a:avLst/>
          </a:prstGeom>
          <a:noFill/>
        </p:spPr>
        <p:txBody>
          <a:bodyPr wrap="square" rtlCol="0">
            <a:spAutoFit/>
          </a:bodyPr>
          <a:lstStyle/>
          <a:p>
            <a:pPr algn="ctr"/>
            <a:r>
              <a:rPr lang="en-US" dirty="0"/>
              <a:t>P</a:t>
            </a:r>
            <a:endParaRPr lang="en-IN" dirty="0"/>
          </a:p>
        </p:txBody>
      </p:sp>
      <p:sp>
        <p:nvSpPr>
          <p:cNvPr id="10" name="TextBox 9"/>
          <p:cNvSpPr txBox="1"/>
          <p:nvPr/>
        </p:nvSpPr>
        <p:spPr>
          <a:xfrm>
            <a:off x="6629400" y="1390134"/>
            <a:ext cx="609600" cy="369332"/>
          </a:xfrm>
          <a:prstGeom prst="rect">
            <a:avLst/>
          </a:prstGeom>
          <a:noFill/>
        </p:spPr>
        <p:txBody>
          <a:bodyPr wrap="square" rtlCol="0">
            <a:spAutoFit/>
          </a:bodyPr>
          <a:lstStyle/>
          <a:p>
            <a:pPr algn="ctr"/>
            <a:r>
              <a:rPr lang="en-US" dirty="0"/>
              <a:t>E</a:t>
            </a:r>
            <a:endParaRPr lang="en-IN" dirty="0"/>
          </a:p>
        </p:txBody>
      </p:sp>
      <p:sp>
        <p:nvSpPr>
          <p:cNvPr id="11" name="TextBox 10"/>
          <p:cNvSpPr txBox="1"/>
          <p:nvPr/>
        </p:nvSpPr>
        <p:spPr>
          <a:xfrm>
            <a:off x="1750138" y="1867622"/>
            <a:ext cx="609600" cy="369332"/>
          </a:xfrm>
          <a:prstGeom prst="rect">
            <a:avLst/>
          </a:prstGeom>
          <a:noFill/>
        </p:spPr>
        <p:txBody>
          <a:bodyPr wrap="square" rtlCol="0">
            <a:spAutoFit/>
          </a:bodyPr>
          <a:lstStyle/>
          <a:p>
            <a:pPr algn="ctr"/>
            <a:r>
              <a:rPr lang="en-US" dirty="0"/>
              <a:t>A</a:t>
            </a:r>
            <a:endParaRPr lang="en-IN" dirty="0"/>
          </a:p>
        </p:txBody>
      </p:sp>
      <p:sp>
        <p:nvSpPr>
          <p:cNvPr id="12" name="TextBox 11"/>
          <p:cNvSpPr txBox="1"/>
          <p:nvPr/>
        </p:nvSpPr>
        <p:spPr>
          <a:xfrm>
            <a:off x="2969338" y="1867622"/>
            <a:ext cx="609600" cy="369332"/>
          </a:xfrm>
          <a:prstGeom prst="rect">
            <a:avLst/>
          </a:prstGeom>
          <a:noFill/>
        </p:spPr>
        <p:txBody>
          <a:bodyPr wrap="square" rtlCol="0">
            <a:spAutoFit/>
          </a:bodyPr>
          <a:lstStyle/>
          <a:p>
            <a:pPr algn="ctr"/>
            <a:r>
              <a:rPr lang="en-US" dirty="0"/>
              <a:t>B</a:t>
            </a:r>
            <a:endParaRPr lang="en-IN" dirty="0"/>
          </a:p>
        </p:txBody>
      </p:sp>
      <p:sp>
        <p:nvSpPr>
          <p:cNvPr id="13" name="TextBox 12"/>
          <p:cNvSpPr txBox="1"/>
          <p:nvPr/>
        </p:nvSpPr>
        <p:spPr>
          <a:xfrm>
            <a:off x="4264738" y="1877765"/>
            <a:ext cx="609600" cy="369332"/>
          </a:xfrm>
          <a:prstGeom prst="rect">
            <a:avLst/>
          </a:prstGeom>
          <a:noFill/>
        </p:spPr>
        <p:txBody>
          <a:bodyPr wrap="square" rtlCol="0">
            <a:spAutoFit/>
          </a:bodyPr>
          <a:lstStyle/>
          <a:p>
            <a:pPr algn="ctr"/>
            <a:r>
              <a:rPr lang="en-US" dirty="0"/>
              <a:t>D</a:t>
            </a:r>
            <a:endParaRPr lang="en-IN" dirty="0"/>
          </a:p>
        </p:txBody>
      </p:sp>
      <p:sp>
        <p:nvSpPr>
          <p:cNvPr id="14" name="TextBox 13"/>
          <p:cNvSpPr txBox="1"/>
          <p:nvPr/>
        </p:nvSpPr>
        <p:spPr>
          <a:xfrm>
            <a:off x="5407738" y="1877765"/>
            <a:ext cx="609600" cy="369332"/>
          </a:xfrm>
          <a:prstGeom prst="rect">
            <a:avLst/>
          </a:prstGeom>
          <a:noFill/>
        </p:spPr>
        <p:txBody>
          <a:bodyPr wrap="square" rtlCol="0">
            <a:spAutoFit/>
          </a:bodyPr>
          <a:lstStyle/>
          <a:p>
            <a:pPr algn="ctr"/>
            <a:r>
              <a:rPr lang="en-US" dirty="0"/>
              <a:t>F</a:t>
            </a:r>
            <a:endParaRPr lang="en-IN" dirty="0"/>
          </a:p>
        </p:txBody>
      </p:sp>
      <p:sp>
        <p:nvSpPr>
          <p:cNvPr id="15" name="TextBox 14"/>
          <p:cNvSpPr txBox="1"/>
          <p:nvPr/>
        </p:nvSpPr>
        <p:spPr>
          <a:xfrm>
            <a:off x="6626938" y="1835356"/>
            <a:ext cx="609600" cy="369332"/>
          </a:xfrm>
          <a:prstGeom prst="rect">
            <a:avLst/>
          </a:prstGeom>
          <a:noFill/>
        </p:spPr>
        <p:txBody>
          <a:bodyPr wrap="square" rtlCol="0">
            <a:spAutoFit/>
          </a:bodyPr>
          <a:lstStyle/>
          <a:p>
            <a:pPr algn="ctr"/>
            <a:r>
              <a:rPr lang="en-US" dirty="0"/>
              <a:t>G</a:t>
            </a:r>
            <a:endParaRPr lang="en-IN" dirty="0"/>
          </a:p>
        </p:txBody>
      </p:sp>
      <p:sp>
        <p:nvSpPr>
          <p:cNvPr id="16" name="TextBox 15"/>
          <p:cNvSpPr txBox="1"/>
          <p:nvPr/>
        </p:nvSpPr>
        <p:spPr>
          <a:xfrm>
            <a:off x="2971800" y="2204688"/>
            <a:ext cx="609600" cy="369332"/>
          </a:xfrm>
          <a:prstGeom prst="rect">
            <a:avLst/>
          </a:prstGeom>
          <a:noFill/>
        </p:spPr>
        <p:txBody>
          <a:bodyPr wrap="square" rtlCol="0">
            <a:spAutoFit/>
          </a:bodyPr>
          <a:lstStyle/>
          <a:p>
            <a:pPr algn="ctr"/>
            <a:r>
              <a:rPr lang="en-US" dirty="0"/>
              <a:t>I/J</a:t>
            </a:r>
            <a:endParaRPr lang="en-IN" dirty="0"/>
          </a:p>
        </p:txBody>
      </p:sp>
      <p:sp>
        <p:nvSpPr>
          <p:cNvPr id="17" name="TextBox 16"/>
          <p:cNvSpPr txBox="1"/>
          <p:nvPr/>
        </p:nvSpPr>
        <p:spPr>
          <a:xfrm>
            <a:off x="4267200" y="2214831"/>
            <a:ext cx="609600" cy="369332"/>
          </a:xfrm>
          <a:prstGeom prst="rect">
            <a:avLst/>
          </a:prstGeom>
          <a:noFill/>
        </p:spPr>
        <p:txBody>
          <a:bodyPr wrap="square" rtlCol="0">
            <a:spAutoFit/>
          </a:bodyPr>
          <a:lstStyle/>
          <a:p>
            <a:pPr algn="ctr"/>
            <a:r>
              <a:rPr lang="en-US" dirty="0"/>
              <a:t>K</a:t>
            </a:r>
            <a:endParaRPr lang="en-IN" dirty="0"/>
          </a:p>
        </p:txBody>
      </p:sp>
      <p:sp>
        <p:nvSpPr>
          <p:cNvPr id="18" name="TextBox 17"/>
          <p:cNvSpPr txBox="1"/>
          <p:nvPr/>
        </p:nvSpPr>
        <p:spPr>
          <a:xfrm>
            <a:off x="5410200" y="2214831"/>
            <a:ext cx="609600" cy="369332"/>
          </a:xfrm>
          <a:prstGeom prst="rect">
            <a:avLst/>
          </a:prstGeom>
          <a:noFill/>
        </p:spPr>
        <p:txBody>
          <a:bodyPr wrap="square" rtlCol="0">
            <a:spAutoFit/>
          </a:bodyPr>
          <a:lstStyle/>
          <a:p>
            <a:pPr algn="ctr"/>
            <a:r>
              <a:rPr lang="en-US" dirty="0"/>
              <a:t>L</a:t>
            </a:r>
            <a:endParaRPr lang="en-IN" dirty="0"/>
          </a:p>
        </p:txBody>
      </p:sp>
      <p:sp>
        <p:nvSpPr>
          <p:cNvPr id="19" name="TextBox 18"/>
          <p:cNvSpPr txBox="1"/>
          <p:nvPr/>
        </p:nvSpPr>
        <p:spPr>
          <a:xfrm>
            <a:off x="6629400" y="2172422"/>
            <a:ext cx="609600" cy="369332"/>
          </a:xfrm>
          <a:prstGeom prst="rect">
            <a:avLst/>
          </a:prstGeom>
          <a:noFill/>
        </p:spPr>
        <p:txBody>
          <a:bodyPr wrap="square" rtlCol="0">
            <a:spAutoFit/>
          </a:bodyPr>
          <a:lstStyle/>
          <a:p>
            <a:pPr algn="ctr"/>
            <a:r>
              <a:rPr lang="en-US" dirty="0"/>
              <a:t>M</a:t>
            </a:r>
            <a:endParaRPr lang="en-IN" dirty="0"/>
          </a:p>
        </p:txBody>
      </p:sp>
      <p:sp>
        <p:nvSpPr>
          <p:cNvPr id="20" name="TextBox 19"/>
          <p:cNvSpPr txBox="1"/>
          <p:nvPr/>
        </p:nvSpPr>
        <p:spPr>
          <a:xfrm>
            <a:off x="1747680" y="2200707"/>
            <a:ext cx="609600" cy="369332"/>
          </a:xfrm>
          <a:prstGeom prst="rect">
            <a:avLst/>
          </a:prstGeom>
          <a:noFill/>
        </p:spPr>
        <p:txBody>
          <a:bodyPr wrap="square" rtlCol="0">
            <a:spAutoFit/>
          </a:bodyPr>
          <a:lstStyle/>
          <a:p>
            <a:pPr algn="ctr"/>
            <a:r>
              <a:rPr lang="en-US" dirty="0"/>
              <a:t>H</a:t>
            </a:r>
            <a:endParaRPr lang="en-IN" dirty="0"/>
          </a:p>
        </p:txBody>
      </p:sp>
      <p:sp>
        <p:nvSpPr>
          <p:cNvPr id="21" name="TextBox 20"/>
          <p:cNvSpPr txBox="1"/>
          <p:nvPr/>
        </p:nvSpPr>
        <p:spPr>
          <a:xfrm>
            <a:off x="2976720" y="2513469"/>
            <a:ext cx="609600" cy="369332"/>
          </a:xfrm>
          <a:prstGeom prst="rect">
            <a:avLst/>
          </a:prstGeom>
          <a:noFill/>
        </p:spPr>
        <p:txBody>
          <a:bodyPr wrap="square" rtlCol="0">
            <a:spAutoFit/>
          </a:bodyPr>
          <a:lstStyle/>
          <a:p>
            <a:pPr algn="ctr"/>
            <a:r>
              <a:rPr lang="en-US" dirty="0"/>
              <a:t>Q</a:t>
            </a:r>
            <a:endParaRPr lang="en-IN" dirty="0"/>
          </a:p>
        </p:txBody>
      </p:sp>
      <p:sp>
        <p:nvSpPr>
          <p:cNvPr id="22" name="TextBox 21"/>
          <p:cNvSpPr txBox="1"/>
          <p:nvPr/>
        </p:nvSpPr>
        <p:spPr>
          <a:xfrm>
            <a:off x="4272120" y="2523612"/>
            <a:ext cx="609600" cy="369332"/>
          </a:xfrm>
          <a:prstGeom prst="rect">
            <a:avLst/>
          </a:prstGeom>
          <a:noFill/>
        </p:spPr>
        <p:txBody>
          <a:bodyPr wrap="square" rtlCol="0">
            <a:spAutoFit/>
          </a:bodyPr>
          <a:lstStyle/>
          <a:p>
            <a:pPr algn="ctr"/>
            <a:r>
              <a:rPr lang="en-US" dirty="0"/>
              <a:t>R</a:t>
            </a:r>
            <a:endParaRPr lang="en-IN" dirty="0"/>
          </a:p>
        </p:txBody>
      </p:sp>
      <p:sp>
        <p:nvSpPr>
          <p:cNvPr id="23" name="TextBox 22"/>
          <p:cNvSpPr txBox="1"/>
          <p:nvPr/>
        </p:nvSpPr>
        <p:spPr>
          <a:xfrm>
            <a:off x="5415120" y="2523612"/>
            <a:ext cx="609600" cy="369332"/>
          </a:xfrm>
          <a:prstGeom prst="rect">
            <a:avLst/>
          </a:prstGeom>
          <a:noFill/>
        </p:spPr>
        <p:txBody>
          <a:bodyPr wrap="square" rtlCol="0">
            <a:spAutoFit/>
          </a:bodyPr>
          <a:lstStyle/>
          <a:p>
            <a:pPr algn="ctr"/>
            <a:r>
              <a:rPr lang="en-US" dirty="0"/>
              <a:t>T</a:t>
            </a:r>
            <a:endParaRPr lang="en-IN" dirty="0"/>
          </a:p>
        </p:txBody>
      </p:sp>
      <p:sp>
        <p:nvSpPr>
          <p:cNvPr id="24" name="TextBox 23"/>
          <p:cNvSpPr txBox="1"/>
          <p:nvPr/>
        </p:nvSpPr>
        <p:spPr>
          <a:xfrm>
            <a:off x="6634320" y="2481203"/>
            <a:ext cx="609600" cy="369332"/>
          </a:xfrm>
          <a:prstGeom prst="rect">
            <a:avLst/>
          </a:prstGeom>
          <a:noFill/>
        </p:spPr>
        <p:txBody>
          <a:bodyPr wrap="square" rtlCol="0">
            <a:spAutoFit/>
          </a:bodyPr>
          <a:lstStyle/>
          <a:p>
            <a:pPr algn="ctr"/>
            <a:r>
              <a:rPr lang="en-US" dirty="0"/>
              <a:t>U</a:t>
            </a:r>
            <a:endParaRPr lang="en-IN" dirty="0"/>
          </a:p>
        </p:txBody>
      </p:sp>
      <p:sp>
        <p:nvSpPr>
          <p:cNvPr id="25" name="TextBox 24"/>
          <p:cNvSpPr txBox="1"/>
          <p:nvPr/>
        </p:nvSpPr>
        <p:spPr>
          <a:xfrm>
            <a:off x="1752600" y="2509488"/>
            <a:ext cx="609600" cy="369332"/>
          </a:xfrm>
          <a:prstGeom prst="rect">
            <a:avLst/>
          </a:prstGeom>
          <a:noFill/>
        </p:spPr>
        <p:txBody>
          <a:bodyPr wrap="square" rtlCol="0">
            <a:spAutoFit/>
          </a:bodyPr>
          <a:lstStyle/>
          <a:p>
            <a:pPr algn="ctr"/>
            <a:r>
              <a:rPr lang="en-US" dirty="0"/>
              <a:t>N</a:t>
            </a:r>
            <a:endParaRPr lang="en-IN" dirty="0"/>
          </a:p>
        </p:txBody>
      </p:sp>
      <p:sp>
        <p:nvSpPr>
          <p:cNvPr id="26" name="TextBox 25"/>
          <p:cNvSpPr txBox="1"/>
          <p:nvPr/>
        </p:nvSpPr>
        <p:spPr>
          <a:xfrm>
            <a:off x="2971800" y="2871725"/>
            <a:ext cx="609600" cy="369332"/>
          </a:xfrm>
          <a:prstGeom prst="rect">
            <a:avLst/>
          </a:prstGeom>
          <a:noFill/>
        </p:spPr>
        <p:txBody>
          <a:bodyPr wrap="square" rtlCol="0">
            <a:spAutoFit/>
          </a:bodyPr>
          <a:lstStyle/>
          <a:p>
            <a:pPr algn="ctr"/>
            <a:r>
              <a:rPr lang="en-US" dirty="0"/>
              <a:t>W</a:t>
            </a:r>
            <a:endParaRPr lang="en-IN" dirty="0"/>
          </a:p>
        </p:txBody>
      </p:sp>
      <p:sp>
        <p:nvSpPr>
          <p:cNvPr id="27" name="TextBox 26"/>
          <p:cNvSpPr txBox="1"/>
          <p:nvPr/>
        </p:nvSpPr>
        <p:spPr>
          <a:xfrm>
            <a:off x="4267200" y="2881868"/>
            <a:ext cx="609600" cy="369332"/>
          </a:xfrm>
          <a:prstGeom prst="rect">
            <a:avLst/>
          </a:prstGeom>
          <a:noFill/>
        </p:spPr>
        <p:txBody>
          <a:bodyPr wrap="square" rtlCol="0">
            <a:spAutoFit/>
          </a:bodyPr>
          <a:lstStyle/>
          <a:p>
            <a:pPr algn="ctr"/>
            <a:r>
              <a:rPr lang="en-US" dirty="0"/>
              <a:t>X</a:t>
            </a:r>
            <a:endParaRPr lang="en-IN" dirty="0"/>
          </a:p>
        </p:txBody>
      </p:sp>
      <p:sp>
        <p:nvSpPr>
          <p:cNvPr id="28" name="TextBox 27"/>
          <p:cNvSpPr txBox="1"/>
          <p:nvPr/>
        </p:nvSpPr>
        <p:spPr>
          <a:xfrm>
            <a:off x="5410200" y="2881868"/>
            <a:ext cx="609600" cy="369332"/>
          </a:xfrm>
          <a:prstGeom prst="rect">
            <a:avLst/>
          </a:prstGeom>
          <a:noFill/>
        </p:spPr>
        <p:txBody>
          <a:bodyPr wrap="square" rtlCol="0">
            <a:spAutoFit/>
          </a:bodyPr>
          <a:lstStyle/>
          <a:p>
            <a:pPr algn="ctr"/>
            <a:r>
              <a:rPr lang="en-US" dirty="0"/>
              <a:t>Y</a:t>
            </a:r>
            <a:endParaRPr lang="en-IN" dirty="0"/>
          </a:p>
        </p:txBody>
      </p:sp>
      <p:sp>
        <p:nvSpPr>
          <p:cNvPr id="29" name="TextBox 28"/>
          <p:cNvSpPr txBox="1"/>
          <p:nvPr/>
        </p:nvSpPr>
        <p:spPr>
          <a:xfrm>
            <a:off x="6629400" y="2839459"/>
            <a:ext cx="609600" cy="369332"/>
          </a:xfrm>
          <a:prstGeom prst="rect">
            <a:avLst/>
          </a:prstGeom>
          <a:noFill/>
        </p:spPr>
        <p:txBody>
          <a:bodyPr wrap="square" rtlCol="0">
            <a:spAutoFit/>
          </a:bodyPr>
          <a:lstStyle/>
          <a:p>
            <a:pPr algn="ctr"/>
            <a:r>
              <a:rPr lang="en-US" dirty="0"/>
              <a:t>Z</a:t>
            </a:r>
            <a:endParaRPr lang="en-IN" dirty="0"/>
          </a:p>
        </p:txBody>
      </p:sp>
      <p:sp>
        <p:nvSpPr>
          <p:cNvPr id="30" name="TextBox 29"/>
          <p:cNvSpPr txBox="1"/>
          <p:nvPr/>
        </p:nvSpPr>
        <p:spPr>
          <a:xfrm>
            <a:off x="1747680" y="2867744"/>
            <a:ext cx="609600" cy="369332"/>
          </a:xfrm>
          <a:prstGeom prst="rect">
            <a:avLst/>
          </a:prstGeom>
          <a:noFill/>
        </p:spPr>
        <p:txBody>
          <a:bodyPr wrap="square" rtlCol="0">
            <a:spAutoFit/>
          </a:bodyPr>
          <a:lstStyle/>
          <a:p>
            <a:pPr algn="ctr"/>
            <a:r>
              <a:rPr lang="en-US" dirty="0"/>
              <a:t>V</a:t>
            </a:r>
            <a:endParaRPr lang="en-IN" dirty="0"/>
          </a:p>
        </p:txBody>
      </p:sp>
      <p:sp>
        <p:nvSpPr>
          <p:cNvPr id="32" name="Rectangle 31"/>
          <p:cNvSpPr/>
          <p:nvPr/>
        </p:nvSpPr>
        <p:spPr>
          <a:xfrm>
            <a:off x="995520" y="4162239"/>
            <a:ext cx="7234080" cy="923330"/>
          </a:xfrm>
          <a:prstGeom prst="rect">
            <a:avLst/>
          </a:prstGeom>
        </p:spPr>
        <p:txBody>
          <a:bodyPr wrap="square">
            <a:spAutoFit/>
          </a:bodyPr>
          <a:lstStyle/>
          <a:p>
            <a:r>
              <a:rPr lang="en-IN" b="1" dirty="0"/>
              <a:t>Two plaintext letters that fall in the same column are each replaced by the letter beneath, with the top element of the column circularly following the last.</a:t>
            </a:r>
          </a:p>
        </p:txBody>
      </p:sp>
      <p:sp>
        <p:nvSpPr>
          <p:cNvPr id="33" name="Rectangle 32"/>
          <p:cNvSpPr/>
          <p:nvPr/>
        </p:nvSpPr>
        <p:spPr>
          <a:xfrm>
            <a:off x="963564" y="5085569"/>
            <a:ext cx="7570835" cy="646331"/>
          </a:xfrm>
          <a:prstGeom prst="rect">
            <a:avLst/>
          </a:prstGeom>
        </p:spPr>
        <p:txBody>
          <a:bodyPr wrap="square">
            <a:spAutoFit/>
          </a:bodyPr>
          <a:lstStyle/>
          <a:p>
            <a:r>
              <a:rPr lang="en-IN" b="1" dirty="0"/>
              <a:t>Otherwise, each plaintext letter in a pair is replaced by the letter that lies in its own row and the column occupied by the other plaintext letter</a:t>
            </a:r>
          </a:p>
        </p:txBody>
      </p:sp>
      <p:sp>
        <p:nvSpPr>
          <p:cNvPr id="34" name="Rectangle 33"/>
          <p:cNvSpPr/>
          <p:nvPr/>
        </p:nvSpPr>
        <p:spPr>
          <a:xfrm>
            <a:off x="533400" y="5867400"/>
            <a:ext cx="7851061" cy="923330"/>
          </a:xfrm>
          <a:prstGeom prst="rect">
            <a:avLst/>
          </a:prstGeom>
        </p:spPr>
        <p:txBody>
          <a:bodyPr wrap="square">
            <a:spAutoFit/>
          </a:bodyPr>
          <a:lstStyle/>
          <a:p>
            <a:r>
              <a:rPr lang="en-IN" b="1" dirty="0"/>
              <a:t>Two plaintext letters that fall in the same row of the matrix are each replaced by the letter to the right, with the first element of the row circularly following the last</a:t>
            </a:r>
          </a:p>
        </p:txBody>
      </p:sp>
      <p:pic>
        <p:nvPicPr>
          <p:cNvPr id="35" name="Picture 34"/>
          <p:cNvPicPr>
            <a:picLocks noChangeAspect="1"/>
          </p:cNvPicPr>
          <p:nvPr/>
        </p:nvPicPr>
        <p:blipFill>
          <a:blip r:embed="rId2"/>
          <a:stretch>
            <a:fillRect/>
          </a:stretch>
        </p:blipFill>
        <p:spPr>
          <a:xfrm>
            <a:off x="1732318" y="1192044"/>
            <a:ext cx="5674440" cy="2640850"/>
          </a:xfrm>
          <a:prstGeom prst="rect">
            <a:avLst/>
          </a:prstGeom>
        </p:spPr>
      </p:pic>
      <p:sp>
        <p:nvSpPr>
          <p:cNvPr id="3" name="Rectangle 2"/>
          <p:cNvSpPr/>
          <p:nvPr/>
        </p:nvSpPr>
        <p:spPr>
          <a:xfrm>
            <a:off x="3470519" y="3814252"/>
            <a:ext cx="2482411" cy="369332"/>
          </a:xfrm>
          <a:prstGeom prst="rect">
            <a:avLst/>
          </a:prstGeom>
        </p:spPr>
        <p:txBody>
          <a:bodyPr wrap="none">
            <a:spAutoFit/>
          </a:bodyPr>
          <a:lstStyle/>
          <a:p>
            <a:r>
              <a:rPr lang="en-IN" b="1" dirty="0">
                <a:solidFill>
                  <a:srgbClr val="333333"/>
                </a:solidFill>
                <a:latin typeface="Times New Roman" panose="02020603050405020304" pitchFamily="18" charset="0"/>
                <a:ea typeface="Times New Roman" panose="02020603050405020304" pitchFamily="18" charset="0"/>
              </a:rPr>
              <a:t>OM RM PC SG PT ER</a:t>
            </a:r>
            <a:endParaRPr lang="en-IN" dirty="0"/>
          </a:p>
        </p:txBody>
      </p:sp>
      <p:sp>
        <p:nvSpPr>
          <p:cNvPr id="4" name="Rectangle 3"/>
          <p:cNvSpPr/>
          <p:nvPr/>
        </p:nvSpPr>
        <p:spPr>
          <a:xfrm>
            <a:off x="533400" y="3797081"/>
            <a:ext cx="2212401" cy="369332"/>
          </a:xfrm>
          <a:prstGeom prst="rect">
            <a:avLst/>
          </a:prstGeom>
        </p:spPr>
        <p:txBody>
          <a:bodyPr wrap="none">
            <a:spAutoFit/>
          </a:bodyPr>
          <a:lstStyle/>
          <a:p>
            <a:r>
              <a:rPr lang="en-IN" b="1" dirty="0"/>
              <a:t> CO M</a:t>
            </a:r>
            <a:r>
              <a:rPr lang="en-IN" b="1" dirty="0">
                <a:solidFill>
                  <a:srgbClr val="FF0000"/>
                </a:solidFill>
              </a:rPr>
              <a:t>X</a:t>
            </a:r>
            <a:r>
              <a:rPr lang="en-IN" b="1" dirty="0"/>
              <a:t> MU NI CA TE</a:t>
            </a:r>
            <a:r>
              <a:rPr lang="en-IN" dirty="0"/>
              <a:t> </a:t>
            </a:r>
          </a:p>
        </p:txBody>
      </p:sp>
      <p:cxnSp>
        <p:nvCxnSpPr>
          <p:cNvPr id="37" name="Straight Arrow Connector 36"/>
          <p:cNvCxnSpPr/>
          <p:nvPr/>
        </p:nvCxnSpPr>
        <p:spPr>
          <a:xfrm>
            <a:off x="2895600" y="3981747"/>
            <a:ext cx="385920" cy="7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97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 –DECRYPTION </a:t>
            </a:r>
          </a:p>
        </p:txBody>
      </p:sp>
      <p:sp>
        <p:nvSpPr>
          <p:cNvPr id="6" name="TextBox 5"/>
          <p:cNvSpPr txBox="1"/>
          <p:nvPr/>
        </p:nvSpPr>
        <p:spPr>
          <a:xfrm>
            <a:off x="1752600" y="1422400"/>
            <a:ext cx="609600" cy="369332"/>
          </a:xfrm>
          <a:prstGeom prst="rect">
            <a:avLst/>
          </a:prstGeom>
          <a:noFill/>
        </p:spPr>
        <p:txBody>
          <a:bodyPr wrap="square" rtlCol="0">
            <a:spAutoFit/>
          </a:bodyPr>
          <a:lstStyle/>
          <a:p>
            <a:pPr algn="ctr"/>
            <a:r>
              <a:rPr lang="en-US" dirty="0"/>
              <a:t>S</a:t>
            </a:r>
            <a:endParaRPr lang="en-IN" dirty="0"/>
          </a:p>
        </p:txBody>
      </p:sp>
      <p:sp>
        <p:nvSpPr>
          <p:cNvPr id="7" name="TextBox 6"/>
          <p:cNvSpPr txBox="1"/>
          <p:nvPr/>
        </p:nvSpPr>
        <p:spPr>
          <a:xfrm>
            <a:off x="2971800" y="1422400"/>
            <a:ext cx="609600" cy="369332"/>
          </a:xfrm>
          <a:prstGeom prst="rect">
            <a:avLst/>
          </a:prstGeom>
          <a:noFill/>
        </p:spPr>
        <p:txBody>
          <a:bodyPr wrap="square" rtlCol="0">
            <a:spAutoFit/>
          </a:bodyPr>
          <a:lstStyle/>
          <a:p>
            <a:pPr algn="ctr"/>
            <a:r>
              <a:rPr lang="en-US" dirty="0"/>
              <a:t>C</a:t>
            </a:r>
            <a:endParaRPr lang="en-IN" dirty="0"/>
          </a:p>
        </p:txBody>
      </p:sp>
      <p:sp>
        <p:nvSpPr>
          <p:cNvPr id="8" name="TextBox 7"/>
          <p:cNvSpPr txBox="1"/>
          <p:nvPr/>
        </p:nvSpPr>
        <p:spPr>
          <a:xfrm>
            <a:off x="4267200" y="1432543"/>
            <a:ext cx="609600" cy="369332"/>
          </a:xfrm>
          <a:prstGeom prst="rect">
            <a:avLst/>
          </a:prstGeom>
          <a:noFill/>
        </p:spPr>
        <p:txBody>
          <a:bodyPr wrap="square" rtlCol="0">
            <a:spAutoFit/>
          </a:bodyPr>
          <a:lstStyle/>
          <a:p>
            <a:pPr algn="ctr"/>
            <a:r>
              <a:rPr lang="en-US" dirty="0"/>
              <a:t>O</a:t>
            </a:r>
            <a:endParaRPr lang="en-IN" dirty="0"/>
          </a:p>
        </p:txBody>
      </p:sp>
      <p:sp>
        <p:nvSpPr>
          <p:cNvPr id="9" name="TextBox 8"/>
          <p:cNvSpPr txBox="1"/>
          <p:nvPr/>
        </p:nvSpPr>
        <p:spPr>
          <a:xfrm>
            <a:off x="5410200" y="1432543"/>
            <a:ext cx="609600" cy="369332"/>
          </a:xfrm>
          <a:prstGeom prst="rect">
            <a:avLst/>
          </a:prstGeom>
          <a:noFill/>
        </p:spPr>
        <p:txBody>
          <a:bodyPr wrap="square" rtlCol="0">
            <a:spAutoFit/>
          </a:bodyPr>
          <a:lstStyle/>
          <a:p>
            <a:pPr algn="ctr"/>
            <a:r>
              <a:rPr lang="en-US" dirty="0"/>
              <a:t>P</a:t>
            </a:r>
            <a:endParaRPr lang="en-IN" dirty="0"/>
          </a:p>
        </p:txBody>
      </p:sp>
      <p:sp>
        <p:nvSpPr>
          <p:cNvPr id="10" name="TextBox 9"/>
          <p:cNvSpPr txBox="1"/>
          <p:nvPr/>
        </p:nvSpPr>
        <p:spPr>
          <a:xfrm>
            <a:off x="6629400" y="1390134"/>
            <a:ext cx="609600" cy="369332"/>
          </a:xfrm>
          <a:prstGeom prst="rect">
            <a:avLst/>
          </a:prstGeom>
          <a:noFill/>
        </p:spPr>
        <p:txBody>
          <a:bodyPr wrap="square" rtlCol="0">
            <a:spAutoFit/>
          </a:bodyPr>
          <a:lstStyle/>
          <a:p>
            <a:pPr algn="ctr"/>
            <a:r>
              <a:rPr lang="en-US" dirty="0"/>
              <a:t>E</a:t>
            </a:r>
            <a:endParaRPr lang="en-IN" dirty="0"/>
          </a:p>
        </p:txBody>
      </p:sp>
      <p:sp>
        <p:nvSpPr>
          <p:cNvPr id="11" name="TextBox 10"/>
          <p:cNvSpPr txBox="1"/>
          <p:nvPr/>
        </p:nvSpPr>
        <p:spPr>
          <a:xfrm>
            <a:off x="1750138" y="1867622"/>
            <a:ext cx="609600" cy="369332"/>
          </a:xfrm>
          <a:prstGeom prst="rect">
            <a:avLst/>
          </a:prstGeom>
          <a:noFill/>
        </p:spPr>
        <p:txBody>
          <a:bodyPr wrap="square" rtlCol="0">
            <a:spAutoFit/>
          </a:bodyPr>
          <a:lstStyle/>
          <a:p>
            <a:pPr algn="ctr"/>
            <a:r>
              <a:rPr lang="en-US" dirty="0"/>
              <a:t>A</a:t>
            </a:r>
            <a:endParaRPr lang="en-IN" dirty="0"/>
          </a:p>
        </p:txBody>
      </p:sp>
      <p:sp>
        <p:nvSpPr>
          <p:cNvPr id="12" name="TextBox 11"/>
          <p:cNvSpPr txBox="1"/>
          <p:nvPr/>
        </p:nvSpPr>
        <p:spPr>
          <a:xfrm>
            <a:off x="2969338" y="1867622"/>
            <a:ext cx="609600" cy="369332"/>
          </a:xfrm>
          <a:prstGeom prst="rect">
            <a:avLst/>
          </a:prstGeom>
          <a:noFill/>
        </p:spPr>
        <p:txBody>
          <a:bodyPr wrap="square" rtlCol="0">
            <a:spAutoFit/>
          </a:bodyPr>
          <a:lstStyle/>
          <a:p>
            <a:pPr algn="ctr"/>
            <a:r>
              <a:rPr lang="en-US" dirty="0"/>
              <a:t>B</a:t>
            </a:r>
            <a:endParaRPr lang="en-IN" dirty="0"/>
          </a:p>
        </p:txBody>
      </p:sp>
      <p:sp>
        <p:nvSpPr>
          <p:cNvPr id="13" name="TextBox 12"/>
          <p:cNvSpPr txBox="1"/>
          <p:nvPr/>
        </p:nvSpPr>
        <p:spPr>
          <a:xfrm>
            <a:off x="4264738" y="1877765"/>
            <a:ext cx="609600" cy="369332"/>
          </a:xfrm>
          <a:prstGeom prst="rect">
            <a:avLst/>
          </a:prstGeom>
          <a:noFill/>
        </p:spPr>
        <p:txBody>
          <a:bodyPr wrap="square" rtlCol="0">
            <a:spAutoFit/>
          </a:bodyPr>
          <a:lstStyle/>
          <a:p>
            <a:pPr algn="ctr"/>
            <a:r>
              <a:rPr lang="en-US" dirty="0"/>
              <a:t>D</a:t>
            </a:r>
            <a:endParaRPr lang="en-IN" dirty="0"/>
          </a:p>
        </p:txBody>
      </p:sp>
      <p:sp>
        <p:nvSpPr>
          <p:cNvPr id="14" name="TextBox 13"/>
          <p:cNvSpPr txBox="1"/>
          <p:nvPr/>
        </p:nvSpPr>
        <p:spPr>
          <a:xfrm>
            <a:off x="5407738" y="1877765"/>
            <a:ext cx="609600" cy="369332"/>
          </a:xfrm>
          <a:prstGeom prst="rect">
            <a:avLst/>
          </a:prstGeom>
          <a:noFill/>
        </p:spPr>
        <p:txBody>
          <a:bodyPr wrap="square" rtlCol="0">
            <a:spAutoFit/>
          </a:bodyPr>
          <a:lstStyle/>
          <a:p>
            <a:pPr algn="ctr"/>
            <a:r>
              <a:rPr lang="en-US" dirty="0"/>
              <a:t>F</a:t>
            </a:r>
            <a:endParaRPr lang="en-IN" dirty="0"/>
          </a:p>
        </p:txBody>
      </p:sp>
      <p:sp>
        <p:nvSpPr>
          <p:cNvPr id="15" name="TextBox 14"/>
          <p:cNvSpPr txBox="1"/>
          <p:nvPr/>
        </p:nvSpPr>
        <p:spPr>
          <a:xfrm>
            <a:off x="6626938" y="1835356"/>
            <a:ext cx="609600" cy="369332"/>
          </a:xfrm>
          <a:prstGeom prst="rect">
            <a:avLst/>
          </a:prstGeom>
          <a:noFill/>
        </p:spPr>
        <p:txBody>
          <a:bodyPr wrap="square" rtlCol="0">
            <a:spAutoFit/>
          </a:bodyPr>
          <a:lstStyle/>
          <a:p>
            <a:pPr algn="ctr"/>
            <a:r>
              <a:rPr lang="en-US" dirty="0"/>
              <a:t>G</a:t>
            </a:r>
            <a:endParaRPr lang="en-IN" dirty="0"/>
          </a:p>
        </p:txBody>
      </p:sp>
      <p:sp>
        <p:nvSpPr>
          <p:cNvPr id="16" name="TextBox 15"/>
          <p:cNvSpPr txBox="1"/>
          <p:nvPr/>
        </p:nvSpPr>
        <p:spPr>
          <a:xfrm>
            <a:off x="2971800" y="2204688"/>
            <a:ext cx="609600" cy="369332"/>
          </a:xfrm>
          <a:prstGeom prst="rect">
            <a:avLst/>
          </a:prstGeom>
          <a:noFill/>
        </p:spPr>
        <p:txBody>
          <a:bodyPr wrap="square" rtlCol="0">
            <a:spAutoFit/>
          </a:bodyPr>
          <a:lstStyle/>
          <a:p>
            <a:pPr algn="ctr"/>
            <a:r>
              <a:rPr lang="en-US" dirty="0"/>
              <a:t>I/J</a:t>
            </a:r>
            <a:endParaRPr lang="en-IN" dirty="0"/>
          </a:p>
        </p:txBody>
      </p:sp>
      <p:sp>
        <p:nvSpPr>
          <p:cNvPr id="17" name="TextBox 16"/>
          <p:cNvSpPr txBox="1"/>
          <p:nvPr/>
        </p:nvSpPr>
        <p:spPr>
          <a:xfrm>
            <a:off x="4267200" y="2214831"/>
            <a:ext cx="609600" cy="369332"/>
          </a:xfrm>
          <a:prstGeom prst="rect">
            <a:avLst/>
          </a:prstGeom>
          <a:noFill/>
        </p:spPr>
        <p:txBody>
          <a:bodyPr wrap="square" rtlCol="0">
            <a:spAutoFit/>
          </a:bodyPr>
          <a:lstStyle/>
          <a:p>
            <a:pPr algn="ctr"/>
            <a:r>
              <a:rPr lang="en-US" dirty="0"/>
              <a:t>K</a:t>
            </a:r>
            <a:endParaRPr lang="en-IN" dirty="0"/>
          </a:p>
        </p:txBody>
      </p:sp>
      <p:sp>
        <p:nvSpPr>
          <p:cNvPr id="18" name="TextBox 17"/>
          <p:cNvSpPr txBox="1"/>
          <p:nvPr/>
        </p:nvSpPr>
        <p:spPr>
          <a:xfrm>
            <a:off x="5410200" y="2214831"/>
            <a:ext cx="609600" cy="369332"/>
          </a:xfrm>
          <a:prstGeom prst="rect">
            <a:avLst/>
          </a:prstGeom>
          <a:noFill/>
        </p:spPr>
        <p:txBody>
          <a:bodyPr wrap="square" rtlCol="0">
            <a:spAutoFit/>
          </a:bodyPr>
          <a:lstStyle/>
          <a:p>
            <a:pPr algn="ctr"/>
            <a:r>
              <a:rPr lang="en-US" dirty="0"/>
              <a:t>L</a:t>
            </a:r>
            <a:endParaRPr lang="en-IN" dirty="0"/>
          </a:p>
        </p:txBody>
      </p:sp>
      <p:sp>
        <p:nvSpPr>
          <p:cNvPr id="19" name="TextBox 18"/>
          <p:cNvSpPr txBox="1"/>
          <p:nvPr/>
        </p:nvSpPr>
        <p:spPr>
          <a:xfrm>
            <a:off x="6629400" y="2172422"/>
            <a:ext cx="609600" cy="369332"/>
          </a:xfrm>
          <a:prstGeom prst="rect">
            <a:avLst/>
          </a:prstGeom>
          <a:noFill/>
        </p:spPr>
        <p:txBody>
          <a:bodyPr wrap="square" rtlCol="0">
            <a:spAutoFit/>
          </a:bodyPr>
          <a:lstStyle/>
          <a:p>
            <a:pPr algn="ctr"/>
            <a:r>
              <a:rPr lang="en-US" dirty="0"/>
              <a:t>M</a:t>
            </a:r>
            <a:endParaRPr lang="en-IN" dirty="0"/>
          </a:p>
        </p:txBody>
      </p:sp>
      <p:sp>
        <p:nvSpPr>
          <p:cNvPr id="20" name="TextBox 19"/>
          <p:cNvSpPr txBox="1"/>
          <p:nvPr/>
        </p:nvSpPr>
        <p:spPr>
          <a:xfrm>
            <a:off x="1747680" y="2200707"/>
            <a:ext cx="609600" cy="369332"/>
          </a:xfrm>
          <a:prstGeom prst="rect">
            <a:avLst/>
          </a:prstGeom>
          <a:noFill/>
        </p:spPr>
        <p:txBody>
          <a:bodyPr wrap="square" rtlCol="0">
            <a:spAutoFit/>
          </a:bodyPr>
          <a:lstStyle/>
          <a:p>
            <a:pPr algn="ctr"/>
            <a:r>
              <a:rPr lang="en-US" dirty="0"/>
              <a:t>H</a:t>
            </a:r>
            <a:endParaRPr lang="en-IN" dirty="0"/>
          </a:p>
        </p:txBody>
      </p:sp>
      <p:sp>
        <p:nvSpPr>
          <p:cNvPr id="21" name="TextBox 20"/>
          <p:cNvSpPr txBox="1"/>
          <p:nvPr/>
        </p:nvSpPr>
        <p:spPr>
          <a:xfrm>
            <a:off x="2976720" y="2513469"/>
            <a:ext cx="609600" cy="369332"/>
          </a:xfrm>
          <a:prstGeom prst="rect">
            <a:avLst/>
          </a:prstGeom>
          <a:noFill/>
        </p:spPr>
        <p:txBody>
          <a:bodyPr wrap="square" rtlCol="0">
            <a:spAutoFit/>
          </a:bodyPr>
          <a:lstStyle/>
          <a:p>
            <a:pPr algn="ctr"/>
            <a:r>
              <a:rPr lang="en-US" dirty="0"/>
              <a:t>Q</a:t>
            </a:r>
            <a:endParaRPr lang="en-IN" dirty="0"/>
          </a:p>
        </p:txBody>
      </p:sp>
      <p:sp>
        <p:nvSpPr>
          <p:cNvPr id="22" name="TextBox 21"/>
          <p:cNvSpPr txBox="1"/>
          <p:nvPr/>
        </p:nvSpPr>
        <p:spPr>
          <a:xfrm>
            <a:off x="4272120" y="2523612"/>
            <a:ext cx="609600" cy="369332"/>
          </a:xfrm>
          <a:prstGeom prst="rect">
            <a:avLst/>
          </a:prstGeom>
          <a:noFill/>
        </p:spPr>
        <p:txBody>
          <a:bodyPr wrap="square" rtlCol="0">
            <a:spAutoFit/>
          </a:bodyPr>
          <a:lstStyle/>
          <a:p>
            <a:pPr algn="ctr"/>
            <a:r>
              <a:rPr lang="en-US" dirty="0"/>
              <a:t>R</a:t>
            </a:r>
            <a:endParaRPr lang="en-IN" dirty="0"/>
          </a:p>
        </p:txBody>
      </p:sp>
      <p:sp>
        <p:nvSpPr>
          <p:cNvPr id="23" name="TextBox 22"/>
          <p:cNvSpPr txBox="1"/>
          <p:nvPr/>
        </p:nvSpPr>
        <p:spPr>
          <a:xfrm>
            <a:off x="5415120" y="2523612"/>
            <a:ext cx="609600" cy="369332"/>
          </a:xfrm>
          <a:prstGeom prst="rect">
            <a:avLst/>
          </a:prstGeom>
          <a:noFill/>
        </p:spPr>
        <p:txBody>
          <a:bodyPr wrap="square" rtlCol="0">
            <a:spAutoFit/>
          </a:bodyPr>
          <a:lstStyle/>
          <a:p>
            <a:pPr algn="ctr"/>
            <a:r>
              <a:rPr lang="en-US" dirty="0"/>
              <a:t>T</a:t>
            </a:r>
            <a:endParaRPr lang="en-IN" dirty="0"/>
          </a:p>
        </p:txBody>
      </p:sp>
      <p:sp>
        <p:nvSpPr>
          <p:cNvPr id="24" name="TextBox 23"/>
          <p:cNvSpPr txBox="1"/>
          <p:nvPr/>
        </p:nvSpPr>
        <p:spPr>
          <a:xfrm>
            <a:off x="6634320" y="2481203"/>
            <a:ext cx="609600" cy="369332"/>
          </a:xfrm>
          <a:prstGeom prst="rect">
            <a:avLst/>
          </a:prstGeom>
          <a:noFill/>
        </p:spPr>
        <p:txBody>
          <a:bodyPr wrap="square" rtlCol="0">
            <a:spAutoFit/>
          </a:bodyPr>
          <a:lstStyle/>
          <a:p>
            <a:pPr algn="ctr"/>
            <a:r>
              <a:rPr lang="en-US" dirty="0"/>
              <a:t>U</a:t>
            </a:r>
            <a:endParaRPr lang="en-IN" dirty="0"/>
          </a:p>
        </p:txBody>
      </p:sp>
      <p:sp>
        <p:nvSpPr>
          <p:cNvPr id="25" name="TextBox 24"/>
          <p:cNvSpPr txBox="1"/>
          <p:nvPr/>
        </p:nvSpPr>
        <p:spPr>
          <a:xfrm>
            <a:off x="1752600" y="2509488"/>
            <a:ext cx="609600" cy="369332"/>
          </a:xfrm>
          <a:prstGeom prst="rect">
            <a:avLst/>
          </a:prstGeom>
          <a:noFill/>
        </p:spPr>
        <p:txBody>
          <a:bodyPr wrap="square" rtlCol="0">
            <a:spAutoFit/>
          </a:bodyPr>
          <a:lstStyle/>
          <a:p>
            <a:pPr algn="ctr"/>
            <a:r>
              <a:rPr lang="en-US" dirty="0"/>
              <a:t>N</a:t>
            </a:r>
            <a:endParaRPr lang="en-IN" dirty="0"/>
          </a:p>
        </p:txBody>
      </p:sp>
      <p:sp>
        <p:nvSpPr>
          <p:cNvPr id="26" name="TextBox 25"/>
          <p:cNvSpPr txBox="1"/>
          <p:nvPr/>
        </p:nvSpPr>
        <p:spPr>
          <a:xfrm>
            <a:off x="2971800" y="2871725"/>
            <a:ext cx="609600" cy="369332"/>
          </a:xfrm>
          <a:prstGeom prst="rect">
            <a:avLst/>
          </a:prstGeom>
          <a:noFill/>
        </p:spPr>
        <p:txBody>
          <a:bodyPr wrap="square" rtlCol="0">
            <a:spAutoFit/>
          </a:bodyPr>
          <a:lstStyle/>
          <a:p>
            <a:pPr algn="ctr"/>
            <a:r>
              <a:rPr lang="en-US" dirty="0"/>
              <a:t>W</a:t>
            </a:r>
            <a:endParaRPr lang="en-IN" dirty="0"/>
          </a:p>
        </p:txBody>
      </p:sp>
      <p:sp>
        <p:nvSpPr>
          <p:cNvPr id="27" name="TextBox 26"/>
          <p:cNvSpPr txBox="1"/>
          <p:nvPr/>
        </p:nvSpPr>
        <p:spPr>
          <a:xfrm>
            <a:off x="4267200" y="2881868"/>
            <a:ext cx="609600" cy="369332"/>
          </a:xfrm>
          <a:prstGeom prst="rect">
            <a:avLst/>
          </a:prstGeom>
          <a:noFill/>
        </p:spPr>
        <p:txBody>
          <a:bodyPr wrap="square" rtlCol="0">
            <a:spAutoFit/>
          </a:bodyPr>
          <a:lstStyle/>
          <a:p>
            <a:pPr algn="ctr"/>
            <a:r>
              <a:rPr lang="en-US" dirty="0"/>
              <a:t>X</a:t>
            </a:r>
            <a:endParaRPr lang="en-IN" dirty="0"/>
          </a:p>
        </p:txBody>
      </p:sp>
      <p:sp>
        <p:nvSpPr>
          <p:cNvPr id="28" name="TextBox 27"/>
          <p:cNvSpPr txBox="1"/>
          <p:nvPr/>
        </p:nvSpPr>
        <p:spPr>
          <a:xfrm>
            <a:off x="5410200" y="2881868"/>
            <a:ext cx="609600" cy="369332"/>
          </a:xfrm>
          <a:prstGeom prst="rect">
            <a:avLst/>
          </a:prstGeom>
          <a:noFill/>
        </p:spPr>
        <p:txBody>
          <a:bodyPr wrap="square" rtlCol="0">
            <a:spAutoFit/>
          </a:bodyPr>
          <a:lstStyle/>
          <a:p>
            <a:pPr algn="ctr"/>
            <a:r>
              <a:rPr lang="en-US" dirty="0"/>
              <a:t>Y</a:t>
            </a:r>
            <a:endParaRPr lang="en-IN" dirty="0"/>
          </a:p>
        </p:txBody>
      </p:sp>
      <p:sp>
        <p:nvSpPr>
          <p:cNvPr id="29" name="TextBox 28"/>
          <p:cNvSpPr txBox="1"/>
          <p:nvPr/>
        </p:nvSpPr>
        <p:spPr>
          <a:xfrm>
            <a:off x="6629400" y="2839459"/>
            <a:ext cx="609600" cy="369332"/>
          </a:xfrm>
          <a:prstGeom prst="rect">
            <a:avLst/>
          </a:prstGeom>
          <a:noFill/>
        </p:spPr>
        <p:txBody>
          <a:bodyPr wrap="square" rtlCol="0">
            <a:spAutoFit/>
          </a:bodyPr>
          <a:lstStyle/>
          <a:p>
            <a:pPr algn="ctr"/>
            <a:r>
              <a:rPr lang="en-US" dirty="0"/>
              <a:t>Z</a:t>
            </a:r>
            <a:endParaRPr lang="en-IN" dirty="0"/>
          </a:p>
        </p:txBody>
      </p:sp>
      <p:sp>
        <p:nvSpPr>
          <p:cNvPr id="30" name="TextBox 29"/>
          <p:cNvSpPr txBox="1"/>
          <p:nvPr/>
        </p:nvSpPr>
        <p:spPr>
          <a:xfrm>
            <a:off x="1747680" y="2867744"/>
            <a:ext cx="609600" cy="369332"/>
          </a:xfrm>
          <a:prstGeom prst="rect">
            <a:avLst/>
          </a:prstGeom>
          <a:noFill/>
        </p:spPr>
        <p:txBody>
          <a:bodyPr wrap="square" rtlCol="0">
            <a:spAutoFit/>
          </a:bodyPr>
          <a:lstStyle/>
          <a:p>
            <a:pPr algn="ctr"/>
            <a:r>
              <a:rPr lang="en-US" dirty="0"/>
              <a:t>V</a:t>
            </a:r>
            <a:endParaRPr lang="en-IN" dirty="0"/>
          </a:p>
        </p:txBody>
      </p:sp>
      <p:pic>
        <p:nvPicPr>
          <p:cNvPr id="32" name="Picture 31"/>
          <p:cNvPicPr>
            <a:picLocks noChangeAspect="1"/>
          </p:cNvPicPr>
          <p:nvPr/>
        </p:nvPicPr>
        <p:blipFill>
          <a:blip r:embed="rId3"/>
          <a:stretch>
            <a:fillRect/>
          </a:stretch>
        </p:blipFill>
        <p:spPr>
          <a:xfrm>
            <a:off x="1732318" y="1192044"/>
            <a:ext cx="5674440" cy="2640850"/>
          </a:xfrm>
          <a:prstGeom prst="rect">
            <a:avLst/>
          </a:prstGeom>
        </p:spPr>
      </p:pic>
      <p:sp>
        <p:nvSpPr>
          <p:cNvPr id="3" name="Rectangle 2"/>
          <p:cNvSpPr/>
          <p:nvPr/>
        </p:nvSpPr>
        <p:spPr>
          <a:xfrm>
            <a:off x="4379163" y="4369965"/>
            <a:ext cx="2527359" cy="369332"/>
          </a:xfrm>
          <a:prstGeom prst="rect">
            <a:avLst/>
          </a:prstGeom>
        </p:spPr>
        <p:txBody>
          <a:bodyPr wrap="none">
            <a:spAutoFit/>
          </a:bodyPr>
          <a:lstStyle/>
          <a:p>
            <a:r>
              <a:rPr lang="en-IN" b="1" dirty="0">
                <a:solidFill>
                  <a:srgbClr val="333333"/>
                </a:solidFill>
                <a:latin typeface="Times New Roman" panose="02020603050405020304" pitchFamily="18" charset="0"/>
                <a:ea typeface="Times New Roman" panose="02020603050405020304" pitchFamily="18" charset="0"/>
              </a:rPr>
              <a:t>CO M</a:t>
            </a:r>
            <a:r>
              <a:rPr lang="en-IN" b="1" dirty="0">
                <a:solidFill>
                  <a:srgbClr val="FF0000"/>
                </a:solidFill>
                <a:latin typeface="Times New Roman" panose="02020603050405020304" pitchFamily="18" charset="0"/>
                <a:ea typeface="Times New Roman" panose="02020603050405020304" pitchFamily="18" charset="0"/>
              </a:rPr>
              <a:t>X</a:t>
            </a:r>
            <a:r>
              <a:rPr lang="en-IN" b="1" dirty="0">
                <a:solidFill>
                  <a:srgbClr val="333333"/>
                </a:solidFill>
                <a:latin typeface="Times New Roman" panose="02020603050405020304" pitchFamily="18" charset="0"/>
                <a:ea typeface="Times New Roman" panose="02020603050405020304" pitchFamily="18" charset="0"/>
              </a:rPr>
              <a:t> MU NI CA TE</a:t>
            </a:r>
            <a:r>
              <a:rPr lang="en-IN" dirty="0">
                <a:solidFill>
                  <a:srgbClr val="333333"/>
                </a:solidFill>
                <a:latin typeface="Times New Roman" panose="02020603050405020304" pitchFamily="18" charset="0"/>
                <a:ea typeface="Times New Roman" panose="02020603050405020304" pitchFamily="18" charset="0"/>
              </a:rPr>
              <a:t> </a:t>
            </a:r>
            <a:endParaRPr lang="en-IN" dirty="0"/>
          </a:p>
        </p:txBody>
      </p:sp>
      <p:sp>
        <p:nvSpPr>
          <p:cNvPr id="33" name="Rectangle 32"/>
          <p:cNvSpPr/>
          <p:nvPr/>
        </p:nvSpPr>
        <p:spPr>
          <a:xfrm>
            <a:off x="457200" y="4338251"/>
            <a:ext cx="2482411" cy="369332"/>
          </a:xfrm>
          <a:prstGeom prst="rect">
            <a:avLst/>
          </a:prstGeom>
        </p:spPr>
        <p:txBody>
          <a:bodyPr wrap="none">
            <a:spAutoFit/>
          </a:bodyPr>
          <a:lstStyle/>
          <a:p>
            <a:r>
              <a:rPr lang="en-IN" b="1" dirty="0">
                <a:solidFill>
                  <a:srgbClr val="333333"/>
                </a:solidFill>
                <a:latin typeface="Times New Roman" panose="02020603050405020304" pitchFamily="18" charset="0"/>
                <a:ea typeface="Times New Roman" panose="02020603050405020304" pitchFamily="18" charset="0"/>
              </a:rPr>
              <a:t>OM RM PC SG PT ER</a:t>
            </a:r>
            <a:endParaRPr lang="en-IN" dirty="0"/>
          </a:p>
        </p:txBody>
      </p:sp>
      <p:cxnSp>
        <p:nvCxnSpPr>
          <p:cNvPr id="34" name="Straight Arrow Connector 33"/>
          <p:cNvCxnSpPr/>
          <p:nvPr/>
        </p:nvCxnSpPr>
        <p:spPr>
          <a:xfrm>
            <a:off x="3274138" y="4522917"/>
            <a:ext cx="6882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44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Playfair</a:t>
            </a:r>
            <a:r>
              <a:rPr lang="en-IN" dirty="0"/>
              <a:t> Cipher</a:t>
            </a:r>
          </a:p>
        </p:txBody>
      </p:sp>
      <p:sp>
        <p:nvSpPr>
          <p:cNvPr id="3" name="Content Placeholder 2"/>
          <p:cNvSpPr>
            <a:spLocks noGrp="1"/>
          </p:cNvSpPr>
          <p:nvPr>
            <p:ph idx="1"/>
          </p:nvPr>
        </p:nvSpPr>
        <p:spPr/>
        <p:txBody>
          <a:bodyPr>
            <a:normAutofit fontScale="62500" lnSpcReduction="20000"/>
          </a:bodyPr>
          <a:lstStyle/>
          <a:p>
            <a:pPr algn="just"/>
            <a:r>
              <a:rPr lang="en-IN" dirty="0"/>
              <a:t>The </a:t>
            </a:r>
            <a:r>
              <a:rPr lang="en-IN" dirty="0" err="1"/>
              <a:t>Playfair</a:t>
            </a:r>
            <a:r>
              <a:rPr lang="en-IN" dirty="0"/>
              <a:t> cipher is a great advance over simple </a:t>
            </a:r>
            <a:r>
              <a:rPr lang="en-IN" dirty="0" err="1"/>
              <a:t>monoalphabetic</a:t>
            </a:r>
            <a:r>
              <a:rPr lang="en-IN" dirty="0"/>
              <a:t> ciphers. For one thing, whereas there are only 26 letters, there are 26 x 26 = 676 </a:t>
            </a:r>
            <a:r>
              <a:rPr lang="en-IN" dirty="0" err="1"/>
              <a:t>digrams</a:t>
            </a:r>
            <a:r>
              <a:rPr lang="en-IN" dirty="0"/>
              <a:t>, so that identification of individual </a:t>
            </a:r>
            <a:r>
              <a:rPr lang="en-IN" dirty="0" err="1"/>
              <a:t>digrams</a:t>
            </a:r>
            <a:r>
              <a:rPr lang="en-IN" dirty="0"/>
              <a:t> is more difficult. </a:t>
            </a:r>
          </a:p>
          <a:p>
            <a:pPr algn="just"/>
            <a:r>
              <a:rPr lang="en-IN" dirty="0"/>
              <a:t>Furthermore, the relative frequencies of individual letters exhibit a much greater range than that of </a:t>
            </a:r>
            <a:r>
              <a:rPr lang="en-IN" dirty="0" err="1"/>
              <a:t>digrams</a:t>
            </a:r>
            <a:r>
              <a:rPr lang="en-IN" dirty="0"/>
              <a:t>, making frequency analysis much more difficult. </a:t>
            </a:r>
          </a:p>
          <a:p>
            <a:pPr algn="just"/>
            <a:r>
              <a:rPr lang="en-IN" dirty="0"/>
              <a:t>For these reasons, the </a:t>
            </a:r>
            <a:r>
              <a:rPr lang="en-IN" dirty="0" err="1"/>
              <a:t>Playfair</a:t>
            </a:r>
            <a:r>
              <a:rPr lang="en-IN" dirty="0"/>
              <a:t> cipher was for a long time considered unbreakable. </a:t>
            </a:r>
          </a:p>
          <a:p>
            <a:pPr algn="just"/>
            <a:r>
              <a:rPr lang="en-IN" dirty="0"/>
              <a:t>It was used as the standard field system by the British Army in World War I and still enjoyed considerable use by the U.S. Army and other Allied forces during World War II.</a:t>
            </a:r>
          </a:p>
          <a:p>
            <a:pPr algn="just"/>
            <a:r>
              <a:rPr lang="en-IN" dirty="0"/>
              <a:t>Despite this level of confidence in its security, the </a:t>
            </a:r>
            <a:r>
              <a:rPr lang="en-IN" dirty="0" err="1"/>
              <a:t>Playfair</a:t>
            </a:r>
            <a:r>
              <a:rPr lang="en-IN" dirty="0"/>
              <a:t> cipher is relatively easy to break because it still leave much of the structure of the plaintext language intact. A few hundred letters of </a:t>
            </a:r>
            <a:r>
              <a:rPr lang="en-IN" dirty="0" err="1"/>
              <a:t>ciphertext</a:t>
            </a:r>
            <a:r>
              <a:rPr lang="en-IN" dirty="0"/>
              <a:t> are generally sufficient.</a:t>
            </a:r>
          </a:p>
        </p:txBody>
      </p:sp>
    </p:spTree>
    <p:extLst>
      <p:ext uri="{BB962C8B-B14F-4D97-AF65-F5344CB8AC3E}">
        <p14:creationId xmlns:p14="http://schemas.microsoft.com/office/powerpoint/2010/main" val="3669172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err="1"/>
              <a:t>Vigenere</a:t>
            </a:r>
            <a:r>
              <a:rPr lang="en-US" dirty="0"/>
              <a:t> Cipher </a:t>
            </a:r>
            <a:endParaRPr lang="en-IN" dirty="0"/>
          </a:p>
        </p:txBody>
      </p:sp>
    </p:spTree>
    <p:extLst>
      <p:ext uri="{BB962C8B-B14F-4D97-AF65-F5344CB8AC3E}">
        <p14:creationId xmlns:p14="http://schemas.microsoft.com/office/powerpoint/2010/main" val="1092871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Polyalphabetic Substitution </a:t>
            </a:r>
            <a:endParaRPr lang="en-IN" dirty="0"/>
          </a:p>
        </p:txBody>
      </p:sp>
      <p:sp>
        <p:nvSpPr>
          <p:cNvPr id="3" name="Content Placeholder 2"/>
          <p:cNvSpPr>
            <a:spLocks noGrp="1"/>
          </p:cNvSpPr>
          <p:nvPr>
            <p:ph idx="1"/>
          </p:nvPr>
        </p:nvSpPr>
        <p:spPr/>
        <p:txBody>
          <a:bodyPr/>
          <a:lstStyle/>
          <a:p>
            <a:pPr algn="just"/>
            <a:r>
              <a:rPr lang="en-IN" dirty="0"/>
              <a:t>The same plaintext letter is not always encrypted to the same cipher text letter in </a:t>
            </a:r>
            <a:r>
              <a:rPr lang="en-IN" b="1" dirty="0"/>
              <a:t>polyalphabetic substitution</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271" y="3157691"/>
            <a:ext cx="8747760"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29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Vigenere</a:t>
            </a:r>
            <a:r>
              <a:rPr lang="en-US" dirty="0"/>
              <a:t> Cipher </a:t>
            </a:r>
            <a:endParaRPr lang="en-IN" dirty="0"/>
          </a:p>
        </p:txBody>
      </p:sp>
      <p:sp>
        <p:nvSpPr>
          <p:cNvPr id="3" name="Content Placeholder 2"/>
          <p:cNvSpPr>
            <a:spLocks noGrp="1"/>
          </p:cNvSpPr>
          <p:nvPr>
            <p:ph idx="1"/>
          </p:nvPr>
        </p:nvSpPr>
        <p:spPr/>
        <p:txBody>
          <a:bodyPr/>
          <a:lstStyle/>
          <a:p>
            <a:pPr algn="just"/>
            <a:r>
              <a:rPr lang="en-IN" dirty="0"/>
              <a:t>The cipher was first described by Giovan Battista </a:t>
            </a:r>
            <a:r>
              <a:rPr lang="en-IN" dirty="0" err="1"/>
              <a:t>Bellaso</a:t>
            </a:r>
            <a:r>
              <a:rPr lang="en-IN" dirty="0"/>
              <a:t> in 1553.</a:t>
            </a:r>
          </a:p>
          <a:p>
            <a:pPr algn="just"/>
            <a:r>
              <a:rPr lang="en-IN" dirty="0"/>
              <a:t>The cipher is easy to understand and implement, but it resisted all attempts to break it until 1863, three centuries later.</a:t>
            </a:r>
          </a:p>
        </p:txBody>
      </p:sp>
    </p:spTree>
    <p:extLst>
      <p:ext uri="{BB962C8B-B14F-4D97-AF65-F5344CB8AC3E}">
        <p14:creationId xmlns:p14="http://schemas.microsoft.com/office/powerpoint/2010/main" val="335571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Vigenere</a:t>
            </a:r>
            <a:r>
              <a:rPr lang="en-US" dirty="0"/>
              <a:t> Cipher </a:t>
            </a:r>
            <a:endParaRPr lang="en-IN" dirty="0"/>
          </a:p>
        </p:txBody>
      </p:sp>
      <p:sp>
        <p:nvSpPr>
          <p:cNvPr id="3" name="Content Placeholder 2"/>
          <p:cNvSpPr>
            <a:spLocks noGrp="1"/>
          </p:cNvSpPr>
          <p:nvPr>
            <p:ph idx="1"/>
          </p:nvPr>
        </p:nvSpPr>
        <p:spPr/>
        <p:txBody>
          <a:bodyPr/>
          <a:lstStyle/>
          <a:p>
            <a:pPr algn="just"/>
            <a:r>
              <a:rPr lang="en-US" dirty="0"/>
              <a:t>STEP 1 Select a Message to Encrypt </a:t>
            </a:r>
          </a:p>
          <a:p>
            <a:pPr marL="0" indent="0" algn="just">
              <a:buNone/>
            </a:pPr>
            <a:r>
              <a:rPr lang="en-US" dirty="0"/>
              <a:t>   	Message – “AWESOME”</a:t>
            </a:r>
          </a:p>
          <a:p>
            <a:pPr algn="just"/>
            <a:r>
              <a:rPr lang="en-US" dirty="0"/>
              <a:t>Step 2 - Select a key </a:t>
            </a:r>
          </a:p>
          <a:p>
            <a:pPr marL="0" indent="0" algn="just">
              <a:buNone/>
            </a:pPr>
            <a:r>
              <a:rPr lang="en-US" dirty="0"/>
              <a:t>	Key – VIT </a:t>
            </a:r>
          </a:p>
          <a:p>
            <a:pPr algn="just"/>
            <a:r>
              <a:rPr lang="en-US" dirty="0"/>
              <a:t>Step 3 – Expand the Key </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128492871"/>
              </p:ext>
            </p:extLst>
          </p:nvPr>
        </p:nvGraphicFramePr>
        <p:xfrm>
          <a:off x="1371600" y="5105400"/>
          <a:ext cx="6095999" cy="73660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142240">
                <a:tc>
                  <a:txBody>
                    <a:bodyPr/>
                    <a:lstStyle/>
                    <a:p>
                      <a:pPr algn="ctr"/>
                      <a:r>
                        <a:rPr lang="en-US" b="1" dirty="0"/>
                        <a:t>A</a:t>
                      </a:r>
                      <a:endParaRPr lang="en-IN" b="1" dirty="0"/>
                    </a:p>
                  </a:txBody>
                  <a:tcPr/>
                </a:tc>
                <a:tc>
                  <a:txBody>
                    <a:bodyPr/>
                    <a:lstStyle/>
                    <a:p>
                      <a:pPr algn="ctr"/>
                      <a:r>
                        <a:rPr lang="en-US" b="1" dirty="0"/>
                        <a:t>W</a:t>
                      </a:r>
                      <a:endParaRPr lang="en-IN" b="1" dirty="0"/>
                    </a:p>
                  </a:txBody>
                  <a:tcPr/>
                </a:tc>
                <a:tc>
                  <a:txBody>
                    <a:bodyPr/>
                    <a:lstStyle/>
                    <a:p>
                      <a:pPr algn="ctr"/>
                      <a:r>
                        <a:rPr lang="en-US" b="1" dirty="0"/>
                        <a:t>E</a:t>
                      </a:r>
                      <a:endParaRPr lang="en-IN" b="1" dirty="0"/>
                    </a:p>
                  </a:txBody>
                  <a:tcPr/>
                </a:tc>
                <a:tc>
                  <a:txBody>
                    <a:bodyPr/>
                    <a:lstStyle/>
                    <a:p>
                      <a:pPr algn="ctr"/>
                      <a:r>
                        <a:rPr lang="en-US" b="1" dirty="0"/>
                        <a:t>S</a:t>
                      </a:r>
                      <a:endParaRPr lang="en-IN" b="1" dirty="0"/>
                    </a:p>
                  </a:txBody>
                  <a:tcPr/>
                </a:tc>
                <a:tc>
                  <a:txBody>
                    <a:bodyPr/>
                    <a:lstStyle/>
                    <a:p>
                      <a:pPr algn="ctr"/>
                      <a:r>
                        <a:rPr lang="en-US" b="1" dirty="0"/>
                        <a:t>O</a:t>
                      </a:r>
                      <a:endParaRPr lang="en-IN" b="1" dirty="0"/>
                    </a:p>
                  </a:txBody>
                  <a:tcPr/>
                </a:tc>
                <a:tc>
                  <a:txBody>
                    <a:bodyPr/>
                    <a:lstStyle/>
                    <a:p>
                      <a:pPr algn="ctr"/>
                      <a:r>
                        <a:rPr lang="en-US" b="1" dirty="0"/>
                        <a:t>M</a:t>
                      </a:r>
                      <a:endParaRPr lang="en-IN" b="1" dirty="0"/>
                    </a:p>
                  </a:txBody>
                  <a:tcPr/>
                </a:tc>
                <a:tc>
                  <a:txBody>
                    <a:bodyPr/>
                    <a:lstStyle/>
                    <a:p>
                      <a:pPr algn="ctr"/>
                      <a:r>
                        <a:rPr lang="en-IN" b="1" dirty="0"/>
                        <a:t>E</a:t>
                      </a: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IN" b="1" dirty="0"/>
                        <a:t>V</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2190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90" y="7375"/>
            <a:ext cx="8229600" cy="887362"/>
          </a:xfrm>
        </p:spPr>
        <p:txBody>
          <a:bodyPr/>
          <a:lstStyle/>
          <a:p>
            <a:pPr algn="just"/>
            <a:r>
              <a:rPr lang="en-US" dirty="0"/>
              <a:t>STEP 4</a:t>
            </a:r>
            <a:endParaRPr lang="en-I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52" y="1376680"/>
            <a:ext cx="8534400" cy="5405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905000" y="870155"/>
            <a:ext cx="762000" cy="369332"/>
          </a:xfrm>
          <a:prstGeom prst="rect">
            <a:avLst/>
          </a:prstGeom>
          <a:noFill/>
        </p:spPr>
        <p:txBody>
          <a:bodyPr wrap="square" rtlCol="0">
            <a:spAutoFit/>
          </a:bodyPr>
          <a:lstStyle/>
          <a:p>
            <a:pPr algn="ctr"/>
            <a:r>
              <a:rPr lang="en-US" b="1" dirty="0">
                <a:solidFill>
                  <a:srgbClr val="FF0000"/>
                </a:solidFill>
              </a:rPr>
              <a:t>V</a:t>
            </a:r>
            <a:endParaRPr lang="en-IN" b="1" dirty="0">
              <a:solidFill>
                <a:srgbClr val="FF0000"/>
              </a:solidFill>
            </a:endParaRPr>
          </a:p>
        </p:txBody>
      </p:sp>
      <p:sp>
        <p:nvSpPr>
          <p:cNvPr id="10" name="TextBox 9"/>
          <p:cNvSpPr txBox="1"/>
          <p:nvPr/>
        </p:nvSpPr>
        <p:spPr>
          <a:xfrm>
            <a:off x="2743200" y="893711"/>
            <a:ext cx="762000" cy="369332"/>
          </a:xfrm>
          <a:prstGeom prst="rect">
            <a:avLst/>
          </a:prstGeom>
          <a:noFill/>
        </p:spPr>
        <p:txBody>
          <a:bodyPr wrap="square" rtlCol="0">
            <a:spAutoFit/>
          </a:bodyPr>
          <a:lstStyle/>
          <a:p>
            <a:pPr algn="ctr"/>
            <a:r>
              <a:rPr lang="en-US" b="1" dirty="0">
                <a:solidFill>
                  <a:srgbClr val="FF0000"/>
                </a:solidFill>
              </a:rPr>
              <a:t>E</a:t>
            </a:r>
            <a:endParaRPr lang="en-IN" b="1" dirty="0">
              <a:solidFill>
                <a:srgbClr val="FF0000"/>
              </a:solidFill>
            </a:endParaRPr>
          </a:p>
        </p:txBody>
      </p:sp>
      <p:sp>
        <p:nvSpPr>
          <p:cNvPr id="11" name="TextBox 10"/>
          <p:cNvSpPr txBox="1"/>
          <p:nvPr/>
        </p:nvSpPr>
        <p:spPr>
          <a:xfrm>
            <a:off x="3584047" y="902422"/>
            <a:ext cx="762000" cy="369332"/>
          </a:xfrm>
          <a:prstGeom prst="rect">
            <a:avLst/>
          </a:prstGeom>
          <a:noFill/>
        </p:spPr>
        <p:txBody>
          <a:bodyPr wrap="square" rtlCol="0">
            <a:spAutoFit/>
          </a:bodyPr>
          <a:lstStyle/>
          <a:p>
            <a:pPr algn="ctr"/>
            <a:r>
              <a:rPr lang="en-IN" b="1" dirty="0">
                <a:solidFill>
                  <a:srgbClr val="FF0000"/>
                </a:solidFill>
              </a:rPr>
              <a:t>X</a:t>
            </a:r>
          </a:p>
        </p:txBody>
      </p:sp>
      <p:sp>
        <p:nvSpPr>
          <p:cNvPr id="12" name="TextBox 11"/>
          <p:cNvSpPr txBox="1"/>
          <p:nvPr/>
        </p:nvSpPr>
        <p:spPr>
          <a:xfrm>
            <a:off x="4445693" y="918962"/>
            <a:ext cx="762000" cy="369332"/>
          </a:xfrm>
          <a:prstGeom prst="rect">
            <a:avLst/>
          </a:prstGeom>
          <a:noFill/>
        </p:spPr>
        <p:txBody>
          <a:bodyPr wrap="square" rtlCol="0">
            <a:spAutoFit/>
          </a:bodyPr>
          <a:lstStyle/>
          <a:p>
            <a:pPr algn="ctr"/>
            <a:r>
              <a:rPr lang="en-IN" b="1" dirty="0">
                <a:solidFill>
                  <a:srgbClr val="FF0000"/>
                </a:solidFill>
              </a:rPr>
              <a:t>N</a:t>
            </a:r>
          </a:p>
        </p:txBody>
      </p:sp>
      <p:sp>
        <p:nvSpPr>
          <p:cNvPr id="13" name="TextBox 12"/>
          <p:cNvSpPr txBox="1"/>
          <p:nvPr/>
        </p:nvSpPr>
        <p:spPr>
          <a:xfrm>
            <a:off x="5297223" y="902167"/>
            <a:ext cx="762000" cy="369332"/>
          </a:xfrm>
          <a:prstGeom prst="rect">
            <a:avLst/>
          </a:prstGeom>
          <a:noFill/>
        </p:spPr>
        <p:txBody>
          <a:bodyPr wrap="square" rtlCol="0">
            <a:spAutoFit/>
          </a:bodyPr>
          <a:lstStyle/>
          <a:p>
            <a:pPr algn="ctr"/>
            <a:r>
              <a:rPr lang="en-US" b="1" dirty="0">
                <a:solidFill>
                  <a:srgbClr val="FF0000"/>
                </a:solidFill>
              </a:rPr>
              <a:t>W</a:t>
            </a:r>
            <a:endParaRPr lang="en-IN" b="1" dirty="0">
              <a:solidFill>
                <a:srgbClr val="FF0000"/>
              </a:solidFill>
            </a:endParaRPr>
          </a:p>
        </p:txBody>
      </p:sp>
      <p:sp>
        <p:nvSpPr>
          <p:cNvPr id="14" name="TextBox 13"/>
          <p:cNvSpPr txBox="1"/>
          <p:nvPr/>
        </p:nvSpPr>
        <p:spPr>
          <a:xfrm>
            <a:off x="6138070" y="943881"/>
            <a:ext cx="762000" cy="369332"/>
          </a:xfrm>
          <a:prstGeom prst="rect">
            <a:avLst/>
          </a:prstGeom>
          <a:noFill/>
        </p:spPr>
        <p:txBody>
          <a:bodyPr wrap="square" rtlCol="0">
            <a:spAutoFit/>
          </a:bodyPr>
          <a:lstStyle/>
          <a:p>
            <a:pPr algn="ctr"/>
            <a:r>
              <a:rPr lang="en-US" b="1" dirty="0">
                <a:solidFill>
                  <a:srgbClr val="FF0000"/>
                </a:solidFill>
              </a:rPr>
              <a:t>F</a:t>
            </a:r>
            <a:endParaRPr lang="en-IN" b="1" dirty="0">
              <a:solidFill>
                <a:srgbClr val="FF0000"/>
              </a:solidFill>
            </a:endParaRPr>
          </a:p>
        </p:txBody>
      </p:sp>
      <p:graphicFrame>
        <p:nvGraphicFramePr>
          <p:cNvPr id="15" name="Table 14"/>
          <p:cNvGraphicFramePr>
            <a:graphicFrameLocks noGrp="1"/>
          </p:cNvGraphicFramePr>
          <p:nvPr>
            <p:extLst>
              <p:ext uri="{D42A27DB-BD31-4B8C-83A1-F6EECF244321}">
                <p14:modId xmlns:p14="http://schemas.microsoft.com/office/powerpoint/2010/main" val="379729812"/>
              </p:ext>
            </p:extLst>
          </p:nvPr>
        </p:nvGraphicFramePr>
        <p:xfrm>
          <a:off x="1752600" y="31600"/>
          <a:ext cx="6095999" cy="74168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b="1" dirty="0"/>
                        <a:t>A</a:t>
                      </a:r>
                      <a:endParaRPr lang="en-IN" b="1" dirty="0"/>
                    </a:p>
                  </a:txBody>
                  <a:tcPr/>
                </a:tc>
                <a:tc>
                  <a:txBody>
                    <a:bodyPr/>
                    <a:lstStyle/>
                    <a:p>
                      <a:pPr algn="ctr"/>
                      <a:r>
                        <a:rPr lang="en-US" b="1" dirty="0"/>
                        <a:t>W</a:t>
                      </a:r>
                      <a:endParaRPr lang="en-IN" b="1" dirty="0"/>
                    </a:p>
                  </a:txBody>
                  <a:tcPr/>
                </a:tc>
                <a:tc>
                  <a:txBody>
                    <a:bodyPr/>
                    <a:lstStyle/>
                    <a:p>
                      <a:pPr algn="ctr"/>
                      <a:r>
                        <a:rPr lang="en-US" b="1" dirty="0"/>
                        <a:t>E</a:t>
                      </a:r>
                      <a:endParaRPr lang="en-IN" b="1" dirty="0"/>
                    </a:p>
                  </a:txBody>
                  <a:tcPr/>
                </a:tc>
                <a:tc>
                  <a:txBody>
                    <a:bodyPr/>
                    <a:lstStyle/>
                    <a:p>
                      <a:pPr algn="ctr"/>
                      <a:r>
                        <a:rPr lang="en-US" b="1" dirty="0"/>
                        <a:t>S</a:t>
                      </a:r>
                      <a:endParaRPr lang="en-IN" b="1" dirty="0"/>
                    </a:p>
                  </a:txBody>
                  <a:tcPr/>
                </a:tc>
                <a:tc>
                  <a:txBody>
                    <a:bodyPr/>
                    <a:lstStyle/>
                    <a:p>
                      <a:pPr algn="ctr"/>
                      <a:r>
                        <a:rPr lang="en-US" b="1" dirty="0"/>
                        <a:t>O</a:t>
                      </a:r>
                      <a:endParaRPr lang="en-IN" b="1" dirty="0"/>
                    </a:p>
                  </a:txBody>
                  <a:tcPr/>
                </a:tc>
                <a:tc>
                  <a:txBody>
                    <a:bodyPr/>
                    <a:lstStyle/>
                    <a:p>
                      <a:pPr algn="ctr"/>
                      <a:r>
                        <a:rPr lang="en-US" b="1" dirty="0"/>
                        <a:t>M</a:t>
                      </a:r>
                      <a:endParaRPr lang="en-IN" b="1" dirty="0"/>
                    </a:p>
                  </a:txBody>
                  <a:tcPr/>
                </a:tc>
                <a:tc>
                  <a:txBody>
                    <a:bodyPr/>
                    <a:lstStyle/>
                    <a:p>
                      <a:pPr algn="ctr"/>
                      <a:r>
                        <a:rPr lang="en-IN" b="1" dirty="0"/>
                        <a:t>E</a:t>
                      </a: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IN" b="1" dirty="0"/>
                        <a:t>V</a:t>
                      </a:r>
                    </a:p>
                  </a:txBody>
                  <a:tcPr/>
                </a:tc>
                <a:extLst>
                  <a:ext uri="{0D108BD9-81ED-4DB2-BD59-A6C34878D82A}">
                    <a16:rowId xmlns:a16="http://schemas.microsoft.com/office/drawing/2014/main" val="10001"/>
                  </a:ext>
                </a:extLst>
              </a:tr>
            </a:tbl>
          </a:graphicData>
        </a:graphic>
      </p:graphicFrame>
      <p:sp>
        <p:nvSpPr>
          <p:cNvPr id="16" name="TextBox 15"/>
          <p:cNvSpPr txBox="1"/>
          <p:nvPr/>
        </p:nvSpPr>
        <p:spPr>
          <a:xfrm>
            <a:off x="6978917" y="938752"/>
            <a:ext cx="762000" cy="369332"/>
          </a:xfrm>
          <a:prstGeom prst="rect">
            <a:avLst/>
          </a:prstGeom>
          <a:noFill/>
        </p:spPr>
        <p:txBody>
          <a:bodyPr wrap="square" rtlCol="0">
            <a:spAutoFit/>
          </a:bodyPr>
          <a:lstStyle/>
          <a:p>
            <a:pPr algn="ctr"/>
            <a:r>
              <a:rPr lang="en-IN" b="1" dirty="0">
                <a:solidFill>
                  <a:srgbClr val="FF0000"/>
                </a:solidFill>
              </a:rPr>
              <a:t>Z</a:t>
            </a:r>
          </a:p>
        </p:txBody>
      </p:sp>
    </p:spTree>
    <p:extLst>
      <p:ext uri="{BB962C8B-B14F-4D97-AF65-F5344CB8AC3E}">
        <p14:creationId xmlns:p14="http://schemas.microsoft.com/office/powerpoint/2010/main" val="18350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0" grpId="0"/>
      <p:bldP spid="11" grpId="0"/>
      <p:bldP spid="12" grpId="0"/>
      <p:bldP spid="13" grpId="0"/>
      <p:bldP spid="14"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52" y="1376680"/>
            <a:ext cx="8534400" cy="5405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1" name="Table 10"/>
          <p:cNvGraphicFramePr>
            <a:graphicFrameLocks noGrp="1"/>
          </p:cNvGraphicFramePr>
          <p:nvPr>
            <p:extLst>
              <p:ext uri="{D42A27DB-BD31-4B8C-83A1-F6EECF244321}">
                <p14:modId xmlns:p14="http://schemas.microsoft.com/office/powerpoint/2010/main" val="3462543505"/>
              </p:ext>
            </p:extLst>
          </p:nvPr>
        </p:nvGraphicFramePr>
        <p:xfrm>
          <a:off x="2057400" y="0"/>
          <a:ext cx="6096000" cy="741680"/>
        </p:xfrm>
        <a:graphic>
          <a:graphicData uri="http://schemas.openxmlformats.org/drawingml/2006/table">
            <a:tbl>
              <a:tblPr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b="1" dirty="0">
                          <a:solidFill>
                            <a:srgbClr val="FF0000"/>
                          </a:solidFill>
                        </a:rPr>
                        <a:t>N</a:t>
                      </a:r>
                      <a:endParaRPr lang="en-IN" b="1" dirty="0">
                        <a:solidFill>
                          <a:srgbClr val="FF0000"/>
                        </a:solidFill>
                      </a:endParaRPr>
                    </a:p>
                  </a:txBody>
                  <a:tcPr/>
                </a:tc>
                <a:tc>
                  <a:txBody>
                    <a:bodyPr/>
                    <a:lstStyle/>
                    <a:p>
                      <a:pPr algn="ctr"/>
                      <a:r>
                        <a:rPr lang="en-US" b="1" dirty="0">
                          <a:solidFill>
                            <a:srgbClr val="FF0000"/>
                          </a:solidFill>
                        </a:rPr>
                        <a:t>I</a:t>
                      </a:r>
                      <a:endParaRPr lang="en-IN" b="1" dirty="0">
                        <a:solidFill>
                          <a:srgbClr val="FF0000"/>
                        </a:solidFill>
                      </a:endParaRPr>
                    </a:p>
                  </a:txBody>
                  <a:tcPr/>
                </a:tc>
                <a:tc>
                  <a:txBody>
                    <a:bodyPr/>
                    <a:lstStyle/>
                    <a:p>
                      <a:pPr algn="ctr"/>
                      <a:r>
                        <a:rPr lang="en-US" b="1" dirty="0">
                          <a:solidFill>
                            <a:srgbClr val="FF0000"/>
                          </a:solidFill>
                        </a:rPr>
                        <a:t>M</a:t>
                      </a:r>
                      <a:endParaRPr lang="en-IN" b="1" dirty="0">
                        <a:solidFill>
                          <a:srgbClr val="FF0000"/>
                        </a:solidFill>
                      </a:endParaRPr>
                    </a:p>
                  </a:txBody>
                  <a:tcPr/>
                </a:tc>
                <a:tc>
                  <a:txBody>
                    <a:bodyPr/>
                    <a:lstStyle/>
                    <a:p>
                      <a:pPr algn="ctr"/>
                      <a:r>
                        <a:rPr lang="en-US" b="1" dirty="0">
                          <a:solidFill>
                            <a:srgbClr val="FF0000"/>
                          </a:solidFill>
                        </a:rPr>
                        <a:t>D</a:t>
                      </a:r>
                      <a:endParaRPr lang="en-IN" b="1" dirty="0">
                        <a:solidFill>
                          <a:srgbClr val="FF0000"/>
                        </a:solidFill>
                      </a:endParaRPr>
                    </a:p>
                  </a:txBody>
                  <a:tcPr/>
                </a:tc>
                <a:tc>
                  <a:txBody>
                    <a:bodyPr/>
                    <a:lstStyle/>
                    <a:p>
                      <a:pPr algn="ctr"/>
                      <a:r>
                        <a:rPr lang="en-US" b="1" dirty="0">
                          <a:solidFill>
                            <a:srgbClr val="FF0000"/>
                          </a:solidFill>
                        </a:rPr>
                        <a:t>A</a:t>
                      </a:r>
                      <a:endParaRPr lang="en-IN" b="1" dirty="0">
                        <a:solidFill>
                          <a:srgbClr val="FF0000"/>
                        </a:solidFill>
                      </a:endParaRPr>
                    </a:p>
                  </a:txBody>
                  <a:tcPr/>
                </a:tc>
                <a:tc>
                  <a:txBody>
                    <a:bodyPr/>
                    <a:lstStyle/>
                    <a:p>
                      <a:pPr algn="ctr"/>
                      <a:r>
                        <a:rPr lang="en-US" b="1" dirty="0">
                          <a:solidFill>
                            <a:srgbClr val="FF0000"/>
                          </a:solidFill>
                        </a:rPr>
                        <a:t>A</a:t>
                      </a:r>
                      <a:endParaRPr lang="en-IN" b="1" dirty="0">
                        <a:solidFill>
                          <a:srgbClr val="FF0000"/>
                        </a:solidFill>
                      </a:endParaRPr>
                    </a:p>
                  </a:txBody>
                  <a:tcPr/>
                </a:tc>
                <a:extLst>
                  <a:ext uri="{0D108BD9-81ED-4DB2-BD59-A6C34878D82A}">
                    <a16:rowId xmlns:a16="http://schemas.microsoft.com/office/drawing/2014/main" val="10000"/>
                  </a:ext>
                </a:extLst>
              </a:tr>
              <a:tr h="370840">
                <a:tc>
                  <a:txBody>
                    <a:bodyPr/>
                    <a:lstStyle/>
                    <a:p>
                      <a:pPr algn="ctr"/>
                      <a:endParaRPr lang="en-IN" b="1" dirty="0"/>
                    </a:p>
                  </a:txBody>
                  <a:tcPr/>
                </a:tc>
                <a:tc>
                  <a:txBody>
                    <a:bodyPr/>
                    <a:lstStyle/>
                    <a:p>
                      <a:pPr algn="ctr"/>
                      <a:endParaRPr lang="en-IN" b="1" dirty="0"/>
                    </a:p>
                  </a:txBody>
                  <a:tcPr/>
                </a:tc>
                <a:tc>
                  <a:txBody>
                    <a:bodyPr/>
                    <a:lstStyle/>
                    <a:p>
                      <a:pPr algn="ctr"/>
                      <a:endParaRPr lang="en-IN" b="1" dirty="0"/>
                    </a:p>
                  </a:txBody>
                  <a:tcPr/>
                </a:tc>
                <a:tc>
                  <a:txBody>
                    <a:bodyPr/>
                    <a:lstStyle/>
                    <a:p>
                      <a:pPr algn="ctr"/>
                      <a:endParaRPr lang="en-IN" b="1" dirty="0"/>
                    </a:p>
                  </a:txBody>
                  <a:tcPr/>
                </a:tc>
                <a:tc>
                  <a:txBody>
                    <a:bodyPr/>
                    <a:lstStyle/>
                    <a:p>
                      <a:pPr algn="ctr"/>
                      <a:endParaRPr lang="en-IN" b="1" dirty="0"/>
                    </a:p>
                  </a:txBody>
                  <a:tcPr/>
                </a:tc>
                <a:tc>
                  <a:txBody>
                    <a:bodyPr/>
                    <a:lstStyle/>
                    <a:p>
                      <a:pPr algn="ctr"/>
                      <a:endParaRPr lang="en-IN" b="1" dirty="0"/>
                    </a:p>
                  </a:txBody>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283509078"/>
              </p:ext>
            </p:extLst>
          </p:nvPr>
        </p:nvGraphicFramePr>
        <p:xfrm>
          <a:off x="2057400" y="0"/>
          <a:ext cx="6096000" cy="741680"/>
        </p:xfrm>
        <a:graphic>
          <a:graphicData uri="http://schemas.openxmlformats.org/drawingml/2006/table">
            <a:tbl>
              <a:tblPr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b="1" dirty="0">
                          <a:solidFill>
                            <a:srgbClr val="FF0000"/>
                          </a:solidFill>
                        </a:rPr>
                        <a:t>N</a:t>
                      </a:r>
                      <a:endParaRPr lang="en-IN" b="1" dirty="0">
                        <a:solidFill>
                          <a:srgbClr val="FF0000"/>
                        </a:solidFill>
                      </a:endParaRPr>
                    </a:p>
                  </a:txBody>
                  <a:tcPr/>
                </a:tc>
                <a:tc>
                  <a:txBody>
                    <a:bodyPr/>
                    <a:lstStyle/>
                    <a:p>
                      <a:pPr algn="ctr"/>
                      <a:r>
                        <a:rPr lang="en-US" b="1" dirty="0">
                          <a:solidFill>
                            <a:srgbClr val="FF0000"/>
                          </a:solidFill>
                        </a:rPr>
                        <a:t>I</a:t>
                      </a:r>
                      <a:endParaRPr lang="en-IN" b="1" dirty="0">
                        <a:solidFill>
                          <a:srgbClr val="FF0000"/>
                        </a:solidFill>
                      </a:endParaRPr>
                    </a:p>
                  </a:txBody>
                  <a:tcPr/>
                </a:tc>
                <a:tc>
                  <a:txBody>
                    <a:bodyPr/>
                    <a:lstStyle/>
                    <a:p>
                      <a:pPr algn="ctr"/>
                      <a:r>
                        <a:rPr lang="en-US" b="1" dirty="0">
                          <a:solidFill>
                            <a:srgbClr val="FF0000"/>
                          </a:solidFill>
                        </a:rPr>
                        <a:t>M</a:t>
                      </a:r>
                      <a:endParaRPr lang="en-IN" b="1" dirty="0">
                        <a:solidFill>
                          <a:srgbClr val="FF0000"/>
                        </a:solidFill>
                      </a:endParaRPr>
                    </a:p>
                  </a:txBody>
                  <a:tcPr/>
                </a:tc>
                <a:tc>
                  <a:txBody>
                    <a:bodyPr/>
                    <a:lstStyle/>
                    <a:p>
                      <a:pPr algn="ctr"/>
                      <a:r>
                        <a:rPr lang="en-US" b="1" dirty="0">
                          <a:solidFill>
                            <a:srgbClr val="FF0000"/>
                          </a:solidFill>
                        </a:rPr>
                        <a:t>D</a:t>
                      </a:r>
                      <a:endParaRPr lang="en-IN" b="1" dirty="0">
                        <a:solidFill>
                          <a:srgbClr val="FF0000"/>
                        </a:solidFill>
                      </a:endParaRPr>
                    </a:p>
                  </a:txBody>
                  <a:tcPr/>
                </a:tc>
                <a:tc>
                  <a:txBody>
                    <a:bodyPr/>
                    <a:lstStyle/>
                    <a:p>
                      <a:pPr algn="ctr"/>
                      <a:r>
                        <a:rPr lang="en-US" b="1" dirty="0">
                          <a:solidFill>
                            <a:srgbClr val="FF0000"/>
                          </a:solidFill>
                        </a:rPr>
                        <a:t>A</a:t>
                      </a:r>
                      <a:endParaRPr lang="en-IN" b="1" dirty="0">
                        <a:solidFill>
                          <a:srgbClr val="FF0000"/>
                        </a:solidFill>
                      </a:endParaRPr>
                    </a:p>
                  </a:txBody>
                  <a:tcPr/>
                </a:tc>
                <a:tc>
                  <a:txBody>
                    <a:bodyPr/>
                    <a:lstStyle/>
                    <a:p>
                      <a:pPr algn="ctr"/>
                      <a:r>
                        <a:rPr lang="en-US" b="1" dirty="0">
                          <a:solidFill>
                            <a:srgbClr val="FF0000"/>
                          </a:solidFill>
                        </a:rPr>
                        <a:t>A</a:t>
                      </a:r>
                      <a:endParaRPr lang="en-IN" b="1" dirty="0">
                        <a:solidFill>
                          <a:srgbClr val="FF0000"/>
                        </a:solidFill>
                      </a:endParaRP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endParaRPr lang="en-IN" b="1" dirty="0"/>
                    </a:p>
                  </a:txBody>
                  <a:tcPr/>
                </a:tc>
                <a:tc>
                  <a:txBody>
                    <a:bodyPr/>
                    <a:lstStyle/>
                    <a:p>
                      <a:pPr algn="ctr"/>
                      <a:endParaRPr lang="en-IN" b="1" dirty="0"/>
                    </a:p>
                  </a:txBody>
                  <a:tcPr/>
                </a:tc>
                <a:tc>
                  <a:txBody>
                    <a:bodyPr/>
                    <a:lstStyle/>
                    <a:p>
                      <a:pPr algn="ctr"/>
                      <a:endParaRPr lang="en-IN" b="1" dirty="0"/>
                    </a:p>
                  </a:txBody>
                  <a:tcPr/>
                </a:tc>
                <a:extLst>
                  <a:ext uri="{0D108BD9-81ED-4DB2-BD59-A6C34878D82A}">
                    <a16:rowId xmlns:a16="http://schemas.microsoft.com/office/drawing/2014/main" val="1000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580215403"/>
              </p:ext>
            </p:extLst>
          </p:nvPr>
        </p:nvGraphicFramePr>
        <p:xfrm>
          <a:off x="2057400" y="0"/>
          <a:ext cx="6095999" cy="74168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b="1" dirty="0">
                          <a:solidFill>
                            <a:srgbClr val="FF0000"/>
                          </a:solidFill>
                        </a:rPr>
                        <a:t>V</a:t>
                      </a:r>
                      <a:endParaRPr lang="en-IN" b="1" dirty="0">
                        <a:solidFill>
                          <a:srgbClr val="FF0000"/>
                        </a:solidFill>
                      </a:endParaRPr>
                    </a:p>
                  </a:txBody>
                  <a:tcPr/>
                </a:tc>
                <a:tc>
                  <a:txBody>
                    <a:bodyPr/>
                    <a:lstStyle/>
                    <a:p>
                      <a:pPr algn="ctr"/>
                      <a:r>
                        <a:rPr lang="en-US" b="1" dirty="0">
                          <a:solidFill>
                            <a:srgbClr val="FF0000"/>
                          </a:solidFill>
                        </a:rPr>
                        <a:t>E</a:t>
                      </a:r>
                      <a:endParaRPr lang="en-IN" b="1" dirty="0">
                        <a:solidFill>
                          <a:srgbClr val="FF0000"/>
                        </a:solidFill>
                      </a:endParaRPr>
                    </a:p>
                  </a:txBody>
                  <a:tcPr/>
                </a:tc>
                <a:tc>
                  <a:txBody>
                    <a:bodyPr/>
                    <a:lstStyle/>
                    <a:p>
                      <a:pPr algn="ctr"/>
                      <a:r>
                        <a:rPr lang="en-US" b="1" dirty="0">
                          <a:solidFill>
                            <a:srgbClr val="FF0000"/>
                          </a:solidFill>
                        </a:rPr>
                        <a:t>X</a:t>
                      </a:r>
                      <a:endParaRPr lang="en-IN" b="1" dirty="0">
                        <a:solidFill>
                          <a:srgbClr val="FF0000"/>
                        </a:solidFill>
                      </a:endParaRPr>
                    </a:p>
                  </a:txBody>
                  <a:tcPr/>
                </a:tc>
                <a:tc>
                  <a:txBody>
                    <a:bodyPr/>
                    <a:lstStyle/>
                    <a:p>
                      <a:pPr algn="ctr"/>
                      <a:r>
                        <a:rPr lang="en-US" b="1" dirty="0">
                          <a:solidFill>
                            <a:srgbClr val="FF0000"/>
                          </a:solidFill>
                        </a:rPr>
                        <a:t>N</a:t>
                      </a:r>
                      <a:endParaRPr lang="en-IN" b="1" dirty="0">
                        <a:solidFill>
                          <a:srgbClr val="FF0000"/>
                        </a:solidFill>
                      </a:endParaRPr>
                    </a:p>
                  </a:txBody>
                  <a:tcPr/>
                </a:tc>
                <a:tc>
                  <a:txBody>
                    <a:bodyPr/>
                    <a:lstStyle/>
                    <a:p>
                      <a:pPr algn="ctr"/>
                      <a:r>
                        <a:rPr lang="en-US" b="1" dirty="0">
                          <a:solidFill>
                            <a:srgbClr val="FF0000"/>
                          </a:solidFill>
                        </a:rPr>
                        <a:t>W</a:t>
                      </a:r>
                      <a:endParaRPr lang="en-IN" b="1" dirty="0">
                        <a:solidFill>
                          <a:srgbClr val="FF0000"/>
                        </a:solidFill>
                      </a:endParaRPr>
                    </a:p>
                  </a:txBody>
                  <a:tcPr/>
                </a:tc>
                <a:tc>
                  <a:txBody>
                    <a:bodyPr/>
                    <a:lstStyle/>
                    <a:p>
                      <a:pPr algn="ctr"/>
                      <a:r>
                        <a:rPr lang="en-US" b="1" dirty="0">
                          <a:solidFill>
                            <a:srgbClr val="FF0000"/>
                          </a:solidFill>
                        </a:rPr>
                        <a:t>F</a:t>
                      </a:r>
                      <a:endParaRPr lang="en-IN" b="1" dirty="0">
                        <a:solidFill>
                          <a:srgbClr val="FF0000"/>
                        </a:solidFill>
                      </a:endParaRPr>
                    </a:p>
                  </a:txBody>
                  <a:tcPr/>
                </a:tc>
                <a:tc>
                  <a:txBody>
                    <a:bodyPr/>
                    <a:lstStyle/>
                    <a:p>
                      <a:pPr algn="ctr"/>
                      <a:r>
                        <a:rPr lang="en-IN" b="1" dirty="0">
                          <a:solidFill>
                            <a:srgbClr val="FF0000"/>
                          </a:solidFill>
                        </a:rPr>
                        <a:t>Z</a:t>
                      </a: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IN" b="1" dirty="0"/>
                        <a:t>V</a:t>
                      </a:r>
                    </a:p>
                  </a:txBody>
                  <a:tcPr/>
                </a:tc>
                <a:extLst>
                  <a:ext uri="{0D108BD9-81ED-4DB2-BD59-A6C34878D82A}">
                    <a16:rowId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78524081"/>
              </p:ext>
            </p:extLst>
          </p:nvPr>
        </p:nvGraphicFramePr>
        <p:xfrm>
          <a:off x="2057400" y="914400"/>
          <a:ext cx="6095999" cy="37084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b="1" dirty="0"/>
                        <a:t>A</a:t>
                      </a:r>
                      <a:endParaRPr lang="en-IN" b="1" dirty="0"/>
                    </a:p>
                  </a:txBody>
                  <a:tcPr/>
                </a:tc>
                <a:tc>
                  <a:txBody>
                    <a:bodyPr/>
                    <a:lstStyle/>
                    <a:p>
                      <a:pPr algn="ctr"/>
                      <a:r>
                        <a:rPr lang="en-US" b="1" dirty="0"/>
                        <a:t>W</a:t>
                      </a:r>
                      <a:endParaRPr lang="en-IN" b="1" dirty="0"/>
                    </a:p>
                  </a:txBody>
                  <a:tcPr/>
                </a:tc>
                <a:tc>
                  <a:txBody>
                    <a:bodyPr/>
                    <a:lstStyle/>
                    <a:p>
                      <a:pPr algn="ctr"/>
                      <a:r>
                        <a:rPr lang="en-US" b="1" dirty="0"/>
                        <a:t>E</a:t>
                      </a:r>
                      <a:endParaRPr lang="en-IN" b="1" dirty="0"/>
                    </a:p>
                  </a:txBody>
                  <a:tcPr/>
                </a:tc>
                <a:tc>
                  <a:txBody>
                    <a:bodyPr/>
                    <a:lstStyle/>
                    <a:p>
                      <a:pPr algn="ctr"/>
                      <a:r>
                        <a:rPr lang="en-US" b="1" dirty="0"/>
                        <a:t>S</a:t>
                      </a:r>
                      <a:endParaRPr lang="en-IN" b="1" dirty="0"/>
                    </a:p>
                  </a:txBody>
                  <a:tcPr/>
                </a:tc>
                <a:tc>
                  <a:txBody>
                    <a:bodyPr/>
                    <a:lstStyle/>
                    <a:p>
                      <a:pPr algn="ctr"/>
                      <a:r>
                        <a:rPr lang="en-US" b="1" dirty="0"/>
                        <a:t>O</a:t>
                      </a:r>
                      <a:endParaRPr lang="en-IN" b="1" dirty="0"/>
                    </a:p>
                  </a:txBody>
                  <a:tcPr/>
                </a:tc>
                <a:tc>
                  <a:txBody>
                    <a:bodyPr/>
                    <a:lstStyle/>
                    <a:p>
                      <a:pPr algn="ctr"/>
                      <a:r>
                        <a:rPr lang="en-US" b="1" dirty="0"/>
                        <a:t>M</a:t>
                      </a:r>
                      <a:endParaRPr lang="en-IN" b="1" dirty="0"/>
                    </a:p>
                  </a:txBody>
                  <a:tcPr/>
                </a:tc>
                <a:tc>
                  <a:txBody>
                    <a:bodyPr/>
                    <a:lstStyle/>
                    <a:p>
                      <a:pPr algn="ctr"/>
                      <a:r>
                        <a:rPr lang="en-IN" b="1" dirty="0"/>
                        <a:t>E</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5714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Algebraic Representation of </a:t>
            </a:r>
            <a:r>
              <a:rPr lang="en-US" dirty="0" err="1"/>
              <a:t>Vigenere</a:t>
            </a:r>
            <a:r>
              <a:rPr lang="en-US" dirty="0"/>
              <a:t> Cipher </a:t>
            </a:r>
            <a:endParaRPr lang="en-IN" dirty="0"/>
          </a:p>
        </p:txBody>
      </p:sp>
      <p:sp>
        <p:nvSpPr>
          <p:cNvPr id="3" name="Content Placeholder 2"/>
          <p:cNvSpPr>
            <a:spLocks noGrp="1"/>
          </p:cNvSpPr>
          <p:nvPr>
            <p:ph idx="1"/>
          </p:nvPr>
        </p:nvSpPr>
        <p:spPr>
          <a:xfrm>
            <a:off x="533400" y="1371600"/>
            <a:ext cx="8229600" cy="4525963"/>
          </a:xfrm>
        </p:spPr>
        <p:txBody>
          <a:bodyPr/>
          <a:lstStyle/>
          <a:p>
            <a:r>
              <a:rPr lang="en-US" dirty="0"/>
              <a:t>Encryption using the Key K </a:t>
            </a:r>
          </a:p>
          <a:p>
            <a:r>
              <a:rPr lang="en-US" dirty="0"/>
              <a:t>C</a:t>
            </a:r>
            <a:r>
              <a:rPr lang="en-US" baseline="-25000" dirty="0"/>
              <a:t>i</a:t>
            </a:r>
            <a:r>
              <a:rPr lang="en-US" dirty="0"/>
              <a:t> = (M</a:t>
            </a:r>
            <a:r>
              <a:rPr lang="en-US" baseline="-25000" dirty="0"/>
              <a:t>i</a:t>
            </a:r>
            <a:r>
              <a:rPr lang="en-US" dirty="0"/>
              <a:t> + K</a:t>
            </a:r>
            <a:r>
              <a:rPr lang="en-US" baseline="-25000" dirty="0"/>
              <a:t>i</a:t>
            </a:r>
            <a:r>
              <a:rPr lang="en-US" dirty="0"/>
              <a:t>)mod 26</a:t>
            </a:r>
          </a:p>
          <a:p>
            <a:r>
              <a:rPr lang="en-US" dirty="0"/>
              <a:t> Decryption using the Key K </a:t>
            </a:r>
          </a:p>
          <a:p>
            <a:r>
              <a:rPr lang="en-US" dirty="0"/>
              <a:t>M</a:t>
            </a:r>
            <a:r>
              <a:rPr lang="en-US" baseline="-25000" dirty="0"/>
              <a:t>i</a:t>
            </a:r>
            <a:r>
              <a:rPr lang="en-US" dirty="0"/>
              <a:t> = (C</a:t>
            </a:r>
            <a:r>
              <a:rPr lang="en-US" baseline="-25000" dirty="0"/>
              <a:t>i </a:t>
            </a:r>
            <a:r>
              <a:rPr lang="en-US" dirty="0"/>
              <a:t>- K</a:t>
            </a:r>
            <a:r>
              <a:rPr lang="en-US" baseline="-25000" dirty="0"/>
              <a:t>i</a:t>
            </a:r>
            <a:r>
              <a:rPr lang="en-US" dirty="0"/>
              <a:t>+26) mod 26 </a:t>
            </a:r>
            <a:endParaRPr lang="en-IN"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3733800"/>
            <a:ext cx="7820025"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0853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 </a:t>
            </a:r>
            <a:endParaRPr lang="en-IN" dirty="0"/>
          </a:p>
        </p:txBody>
      </p:sp>
      <p:sp>
        <p:nvSpPr>
          <p:cNvPr id="3" name="Content Placeholder 2"/>
          <p:cNvSpPr>
            <a:spLocks noGrp="1"/>
          </p:cNvSpPr>
          <p:nvPr>
            <p:ph idx="1"/>
          </p:nvPr>
        </p:nvSpPr>
        <p:spPr/>
        <p:txBody>
          <a:bodyPr/>
          <a:lstStyle/>
          <a:p>
            <a:r>
              <a:rPr lang="en-US" dirty="0"/>
              <a:t>Message is AWESOME</a:t>
            </a:r>
          </a:p>
          <a:p>
            <a:pPr marL="0" indent="0">
              <a:buNone/>
            </a:pPr>
            <a:r>
              <a:rPr lang="en-US" dirty="0"/>
              <a:t>C</a:t>
            </a:r>
            <a:r>
              <a:rPr lang="en-US" baseline="-25000" dirty="0"/>
              <a:t>i</a:t>
            </a:r>
            <a:r>
              <a:rPr lang="en-US" dirty="0"/>
              <a:t> = (M</a:t>
            </a:r>
            <a:r>
              <a:rPr lang="en-US" baseline="-25000" dirty="0"/>
              <a:t>i</a:t>
            </a:r>
            <a:r>
              <a:rPr lang="en-US" dirty="0"/>
              <a:t> + K</a:t>
            </a:r>
            <a:r>
              <a:rPr lang="en-US" baseline="-25000" dirty="0"/>
              <a:t>i</a:t>
            </a:r>
            <a:r>
              <a:rPr lang="en-US" dirty="0"/>
              <a:t>)mod 26</a:t>
            </a:r>
          </a:p>
          <a:p>
            <a:pPr marL="0" indent="0">
              <a:buNone/>
            </a:pPr>
            <a:r>
              <a:rPr lang="en-US" dirty="0"/>
              <a:t>C</a:t>
            </a:r>
            <a:r>
              <a:rPr lang="en-US" baseline="-25000" dirty="0"/>
              <a:t>1</a:t>
            </a:r>
            <a:r>
              <a:rPr lang="en-US" dirty="0"/>
              <a:t> = (M</a:t>
            </a:r>
            <a:r>
              <a:rPr lang="en-US" baseline="-25000" dirty="0"/>
              <a:t>1</a:t>
            </a:r>
            <a:r>
              <a:rPr lang="en-US" dirty="0"/>
              <a:t> + K</a:t>
            </a:r>
            <a:r>
              <a:rPr lang="en-US" baseline="-25000" dirty="0"/>
              <a:t>1</a:t>
            </a:r>
            <a:r>
              <a:rPr lang="en-US" dirty="0"/>
              <a:t>)mod 26</a:t>
            </a:r>
          </a:p>
          <a:p>
            <a:pPr marL="0" indent="0">
              <a:buNone/>
            </a:pPr>
            <a:r>
              <a:rPr lang="en-US" dirty="0"/>
              <a:t> </a:t>
            </a:r>
          </a:p>
          <a:p>
            <a:pPr marL="0" indent="0">
              <a:buNone/>
            </a:pPr>
            <a:endParaRPr lang="en-IN"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5" y="3733800"/>
            <a:ext cx="7820025"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6" name="Table 5"/>
          <p:cNvGraphicFramePr>
            <a:graphicFrameLocks noGrp="1"/>
          </p:cNvGraphicFramePr>
          <p:nvPr>
            <p:extLst>
              <p:ext uri="{D42A27DB-BD31-4B8C-83A1-F6EECF244321}">
                <p14:modId xmlns:p14="http://schemas.microsoft.com/office/powerpoint/2010/main" val="1243953813"/>
              </p:ext>
            </p:extLst>
          </p:nvPr>
        </p:nvGraphicFramePr>
        <p:xfrm>
          <a:off x="1752600" y="285600"/>
          <a:ext cx="6095999" cy="73660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0">
                <a:tc>
                  <a:txBody>
                    <a:bodyPr/>
                    <a:lstStyle/>
                    <a:p>
                      <a:pPr algn="ctr"/>
                      <a:r>
                        <a:rPr lang="en-US" b="1" dirty="0"/>
                        <a:t>A</a:t>
                      </a:r>
                      <a:endParaRPr lang="en-IN" b="1" dirty="0"/>
                    </a:p>
                  </a:txBody>
                  <a:tcPr/>
                </a:tc>
                <a:tc>
                  <a:txBody>
                    <a:bodyPr/>
                    <a:lstStyle/>
                    <a:p>
                      <a:pPr algn="ctr"/>
                      <a:r>
                        <a:rPr lang="en-US" b="1" dirty="0"/>
                        <a:t>W</a:t>
                      </a:r>
                      <a:endParaRPr lang="en-IN" b="1" dirty="0"/>
                    </a:p>
                  </a:txBody>
                  <a:tcPr/>
                </a:tc>
                <a:tc>
                  <a:txBody>
                    <a:bodyPr/>
                    <a:lstStyle/>
                    <a:p>
                      <a:pPr algn="ctr"/>
                      <a:r>
                        <a:rPr lang="en-US" b="1" dirty="0"/>
                        <a:t>E</a:t>
                      </a:r>
                      <a:endParaRPr lang="en-IN" b="1" dirty="0"/>
                    </a:p>
                  </a:txBody>
                  <a:tcPr/>
                </a:tc>
                <a:tc>
                  <a:txBody>
                    <a:bodyPr/>
                    <a:lstStyle/>
                    <a:p>
                      <a:pPr algn="ctr"/>
                      <a:r>
                        <a:rPr lang="en-US" b="1" dirty="0"/>
                        <a:t>S</a:t>
                      </a:r>
                      <a:endParaRPr lang="en-IN" b="1" dirty="0"/>
                    </a:p>
                  </a:txBody>
                  <a:tcPr/>
                </a:tc>
                <a:tc>
                  <a:txBody>
                    <a:bodyPr/>
                    <a:lstStyle/>
                    <a:p>
                      <a:pPr algn="ctr"/>
                      <a:r>
                        <a:rPr lang="en-US" b="1" dirty="0"/>
                        <a:t>O</a:t>
                      </a:r>
                      <a:endParaRPr lang="en-IN" b="1" dirty="0"/>
                    </a:p>
                  </a:txBody>
                  <a:tcPr/>
                </a:tc>
                <a:tc>
                  <a:txBody>
                    <a:bodyPr/>
                    <a:lstStyle/>
                    <a:p>
                      <a:pPr algn="ctr"/>
                      <a:r>
                        <a:rPr lang="en-US" b="1" dirty="0"/>
                        <a:t>M</a:t>
                      </a:r>
                      <a:endParaRPr lang="en-IN" b="1" dirty="0"/>
                    </a:p>
                  </a:txBody>
                  <a:tcPr/>
                </a:tc>
                <a:tc>
                  <a:txBody>
                    <a:bodyPr/>
                    <a:lstStyle/>
                    <a:p>
                      <a:pPr algn="ctr"/>
                      <a:r>
                        <a:rPr lang="en-IN" b="1" dirty="0"/>
                        <a:t>E</a:t>
                      </a: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IN" b="1" dirty="0"/>
                        <a:t>V</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1723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3733800"/>
            <a:ext cx="7820025"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634819" y="2052330"/>
            <a:ext cx="3711272" cy="523220"/>
          </a:xfrm>
          <a:prstGeom prst="rect">
            <a:avLst/>
          </a:prstGeom>
        </p:spPr>
        <p:txBody>
          <a:bodyPr wrap="none">
            <a:spAutoFit/>
          </a:bodyPr>
          <a:lstStyle/>
          <a:p>
            <a:r>
              <a:rPr lang="en-US" sz="2800" b="1" dirty="0"/>
              <a:t>M</a:t>
            </a:r>
            <a:r>
              <a:rPr lang="en-US" sz="2800" b="1" baseline="-25000" dirty="0"/>
              <a:t>i</a:t>
            </a:r>
            <a:r>
              <a:rPr lang="en-US" sz="2800" b="1" dirty="0"/>
              <a:t> = (C</a:t>
            </a:r>
            <a:r>
              <a:rPr lang="en-US" sz="2800" b="1" baseline="-25000" dirty="0"/>
              <a:t>i </a:t>
            </a:r>
            <a:r>
              <a:rPr lang="en-US" sz="2800" b="1" dirty="0"/>
              <a:t>- K</a:t>
            </a:r>
            <a:r>
              <a:rPr lang="en-US" sz="2800" b="1" baseline="-25000" dirty="0"/>
              <a:t>i</a:t>
            </a:r>
            <a:r>
              <a:rPr lang="en-US" sz="2800" b="1" dirty="0"/>
              <a:t>+26) mod 26 </a:t>
            </a:r>
            <a:endParaRPr lang="en-IN" sz="2800" b="1" dirty="0"/>
          </a:p>
        </p:txBody>
      </p:sp>
      <p:graphicFrame>
        <p:nvGraphicFramePr>
          <p:cNvPr id="7" name="Table 6"/>
          <p:cNvGraphicFramePr>
            <a:graphicFrameLocks noGrp="1"/>
          </p:cNvGraphicFramePr>
          <p:nvPr>
            <p:extLst>
              <p:ext uri="{D42A27DB-BD31-4B8C-83A1-F6EECF244321}">
                <p14:modId xmlns:p14="http://schemas.microsoft.com/office/powerpoint/2010/main" val="3439746266"/>
              </p:ext>
            </p:extLst>
          </p:nvPr>
        </p:nvGraphicFramePr>
        <p:xfrm>
          <a:off x="1752600" y="523240"/>
          <a:ext cx="6095999" cy="741680"/>
        </p:xfrm>
        <a:graphic>
          <a:graphicData uri="http://schemas.openxmlformats.org/drawingml/2006/table">
            <a:tbl>
              <a:tblPr bandRow="1">
                <a:tableStyleId>{5C22544A-7EE6-4342-B048-85BDC9FD1C3A}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b="1" dirty="0">
                          <a:solidFill>
                            <a:srgbClr val="FF0000"/>
                          </a:solidFill>
                        </a:rPr>
                        <a:t>V</a:t>
                      </a:r>
                      <a:endParaRPr lang="en-IN" b="1" dirty="0">
                        <a:solidFill>
                          <a:srgbClr val="FF0000"/>
                        </a:solidFill>
                      </a:endParaRPr>
                    </a:p>
                  </a:txBody>
                  <a:tcPr/>
                </a:tc>
                <a:tc>
                  <a:txBody>
                    <a:bodyPr/>
                    <a:lstStyle/>
                    <a:p>
                      <a:pPr algn="ctr"/>
                      <a:r>
                        <a:rPr lang="en-US" b="1" dirty="0">
                          <a:solidFill>
                            <a:srgbClr val="FF0000"/>
                          </a:solidFill>
                        </a:rPr>
                        <a:t>E</a:t>
                      </a:r>
                      <a:endParaRPr lang="en-IN" b="1" dirty="0">
                        <a:solidFill>
                          <a:srgbClr val="FF0000"/>
                        </a:solidFill>
                      </a:endParaRPr>
                    </a:p>
                  </a:txBody>
                  <a:tcPr/>
                </a:tc>
                <a:tc>
                  <a:txBody>
                    <a:bodyPr/>
                    <a:lstStyle/>
                    <a:p>
                      <a:pPr algn="ctr"/>
                      <a:r>
                        <a:rPr lang="en-US" b="1" dirty="0">
                          <a:solidFill>
                            <a:srgbClr val="FF0000"/>
                          </a:solidFill>
                        </a:rPr>
                        <a:t>X</a:t>
                      </a:r>
                      <a:endParaRPr lang="en-IN" b="1" dirty="0">
                        <a:solidFill>
                          <a:srgbClr val="FF0000"/>
                        </a:solidFill>
                      </a:endParaRPr>
                    </a:p>
                  </a:txBody>
                  <a:tcPr/>
                </a:tc>
                <a:tc>
                  <a:txBody>
                    <a:bodyPr/>
                    <a:lstStyle/>
                    <a:p>
                      <a:pPr algn="ctr"/>
                      <a:r>
                        <a:rPr lang="en-US" b="1" dirty="0">
                          <a:solidFill>
                            <a:srgbClr val="FF0000"/>
                          </a:solidFill>
                        </a:rPr>
                        <a:t>N</a:t>
                      </a:r>
                      <a:endParaRPr lang="en-IN" b="1" dirty="0">
                        <a:solidFill>
                          <a:srgbClr val="FF0000"/>
                        </a:solidFill>
                      </a:endParaRPr>
                    </a:p>
                  </a:txBody>
                  <a:tcPr/>
                </a:tc>
                <a:tc>
                  <a:txBody>
                    <a:bodyPr/>
                    <a:lstStyle/>
                    <a:p>
                      <a:pPr algn="ctr"/>
                      <a:r>
                        <a:rPr lang="en-US" b="1" dirty="0">
                          <a:solidFill>
                            <a:srgbClr val="FF0000"/>
                          </a:solidFill>
                        </a:rPr>
                        <a:t>W</a:t>
                      </a:r>
                      <a:endParaRPr lang="en-IN" b="1" dirty="0">
                        <a:solidFill>
                          <a:srgbClr val="FF0000"/>
                        </a:solidFill>
                      </a:endParaRPr>
                    </a:p>
                  </a:txBody>
                  <a:tcPr/>
                </a:tc>
                <a:tc>
                  <a:txBody>
                    <a:bodyPr/>
                    <a:lstStyle/>
                    <a:p>
                      <a:pPr algn="ctr"/>
                      <a:r>
                        <a:rPr lang="en-US" b="1" dirty="0">
                          <a:solidFill>
                            <a:srgbClr val="FF0000"/>
                          </a:solidFill>
                        </a:rPr>
                        <a:t>F</a:t>
                      </a:r>
                      <a:endParaRPr lang="en-IN" b="1" dirty="0">
                        <a:solidFill>
                          <a:srgbClr val="FF0000"/>
                        </a:solidFill>
                      </a:endParaRPr>
                    </a:p>
                  </a:txBody>
                  <a:tcPr/>
                </a:tc>
                <a:tc>
                  <a:txBody>
                    <a:bodyPr/>
                    <a:lstStyle/>
                    <a:p>
                      <a:pPr algn="ctr"/>
                      <a:r>
                        <a:rPr lang="en-IN" b="1" dirty="0">
                          <a:solidFill>
                            <a:srgbClr val="FF0000"/>
                          </a:solidFill>
                        </a:rPr>
                        <a:t>Z</a:t>
                      </a:r>
                    </a:p>
                  </a:txBody>
                  <a:tcPr/>
                </a:tc>
                <a:extLst>
                  <a:ext uri="{0D108BD9-81ED-4DB2-BD59-A6C34878D82A}">
                    <a16:rowId xmlns:a16="http://schemas.microsoft.com/office/drawing/2014/main" val="10000"/>
                  </a:ext>
                </a:extLst>
              </a:tr>
              <a:tr h="370840">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US" b="1" dirty="0"/>
                        <a:t>V</a:t>
                      </a:r>
                      <a:endParaRPr lang="en-IN" b="1" dirty="0"/>
                    </a:p>
                  </a:txBody>
                  <a:tcPr/>
                </a:tc>
                <a:tc>
                  <a:txBody>
                    <a:bodyPr/>
                    <a:lstStyle/>
                    <a:p>
                      <a:pPr algn="ctr"/>
                      <a:r>
                        <a:rPr lang="en-US" b="1" dirty="0"/>
                        <a:t>I</a:t>
                      </a:r>
                      <a:endParaRPr lang="en-IN" b="1" dirty="0"/>
                    </a:p>
                  </a:txBody>
                  <a:tcPr/>
                </a:tc>
                <a:tc>
                  <a:txBody>
                    <a:bodyPr/>
                    <a:lstStyle/>
                    <a:p>
                      <a:pPr algn="ctr"/>
                      <a:r>
                        <a:rPr lang="en-US" b="1" dirty="0"/>
                        <a:t>T</a:t>
                      </a:r>
                      <a:endParaRPr lang="en-IN" b="1" dirty="0"/>
                    </a:p>
                  </a:txBody>
                  <a:tcPr/>
                </a:tc>
                <a:tc>
                  <a:txBody>
                    <a:bodyPr/>
                    <a:lstStyle/>
                    <a:p>
                      <a:pPr algn="ctr"/>
                      <a:r>
                        <a:rPr lang="en-IN" b="1" dirty="0"/>
                        <a:t>V</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018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3387</TotalTime>
  <Words>1400</Words>
  <Application>Microsoft Macintosh PowerPoint</Application>
  <PresentationFormat>On-screen Show (4:3)</PresentationFormat>
  <Paragraphs>314</Paragraphs>
  <Slides>30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Nunito</vt:lpstr>
      <vt:lpstr>Times New Roman</vt:lpstr>
      <vt:lpstr>Office Theme</vt:lpstr>
      <vt:lpstr>Types of Ciphers</vt:lpstr>
      <vt:lpstr>Types of Ciphers</vt:lpstr>
      <vt:lpstr>Substitution Ciphers </vt:lpstr>
      <vt:lpstr>Substitution Techniques</vt:lpstr>
      <vt:lpstr>Caeser Cipher</vt:lpstr>
      <vt:lpstr>Caeser Cipher</vt:lpstr>
      <vt:lpstr>Caeser Cipher</vt:lpstr>
      <vt:lpstr>Caeser Cipher</vt:lpstr>
      <vt:lpstr>Multiplicative Cipher</vt:lpstr>
      <vt:lpstr>Choose a Key</vt:lpstr>
      <vt:lpstr>Multiplicative Cipher</vt:lpstr>
      <vt:lpstr>Modular Multiplicative inverse</vt:lpstr>
      <vt:lpstr>Modular Multiplicative inverse</vt:lpstr>
      <vt:lpstr>Multiplicative Cipher</vt:lpstr>
      <vt:lpstr>Multi alphabet Substitution Cipher</vt:lpstr>
      <vt:lpstr>Playfair Cipher</vt:lpstr>
      <vt:lpstr>Playfair Cipher</vt:lpstr>
      <vt:lpstr>Playfair Cipher</vt:lpstr>
      <vt:lpstr>Playfair Cipher - Encryption</vt:lpstr>
      <vt:lpstr>Playfair Cipher –DECRYPTION </vt:lpstr>
      <vt:lpstr>Playfair Cipher</vt:lpstr>
      <vt:lpstr>Vigenere Cipher </vt:lpstr>
      <vt:lpstr>Polyalphabetic Substitution </vt:lpstr>
      <vt:lpstr>Vigenere Cipher </vt:lpstr>
      <vt:lpstr>Vigenere Cipher </vt:lpstr>
      <vt:lpstr>PowerPoint Presentation</vt:lpstr>
      <vt:lpstr>PowerPoint Presentation</vt:lpstr>
      <vt:lpstr>Algebraic Representation of Vigenere Cipher </vt:lpstr>
      <vt:lpstr>Encryption </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Symmetric Key Ciphers</dc:title>
  <dc:creator>admin</dc:creator>
  <cp:lastModifiedBy>Apoorva Karnwal</cp:lastModifiedBy>
  <cp:revision>76</cp:revision>
  <dcterms:created xsi:type="dcterms:W3CDTF">2020-08-02T14:09:20Z</dcterms:created>
  <dcterms:modified xsi:type="dcterms:W3CDTF">2025-04-30T18:01:38Z</dcterms:modified>
</cp:coreProperties>
</file>