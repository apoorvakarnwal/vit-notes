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1"/>
  </p:notesMasterIdLst>
  <p:sldIdLst>
    <p:sldId id="269" r:id="rId2"/>
    <p:sldId id="290" r:id="rId3"/>
    <p:sldId id="293" r:id="rId4"/>
    <p:sldId id="294" r:id="rId5"/>
    <p:sldId id="295" r:id="rId6"/>
    <p:sldId id="309" r:id="rId7"/>
    <p:sldId id="307" r:id="rId8"/>
    <p:sldId id="308" r:id="rId9"/>
    <p:sldId id="291" r:id="rId10"/>
    <p:sldId id="292" r:id="rId11"/>
    <p:sldId id="300" r:id="rId12"/>
    <p:sldId id="282" r:id="rId13"/>
    <p:sldId id="301" r:id="rId14"/>
    <p:sldId id="302" r:id="rId15"/>
    <p:sldId id="299" r:id="rId16"/>
    <p:sldId id="303" r:id="rId17"/>
    <p:sldId id="304" r:id="rId18"/>
    <p:sldId id="305" r:id="rId19"/>
    <p:sldId id="306" r:id="rId20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82582" autoAdjust="0"/>
  </p:normalViewPr>
  <p:slideViewPr>
    <p:cSldViewPr>
      <p:cViewPr varScale="1">
        <p:scale>
          <a:sx n="71" d="100"/>
          <a:sy n="71" d="100"/>
        </p:scale>
        <p:origin x="1356" y="6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7CEC1FB-01C9-457E-B407-32A75D40B513}" type="datetimeFigureOut">
              <a:rPr lang="en-IN" smtClean="0"/>
              <a:pPr/>
              <a:t>17-01-2025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80086C4-F9A6-4544-AD76-EE3F0098DDC3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631399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80086C4-F9A6-4544-AD76-EE3F0098DDC3}" type="slidenum">
              <a:rPr lang="en-IN" smtClean="0"/>
              <a:pPr/>
              <a:t>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7290075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80086C4-F9A6-4544-AD76-EE3F0098DDC3}" type="slidenum">
              <a:rPr lang="en-IN" smtClean="0"/>
              <a:pPr/>
              <a:t>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3755994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80086C4-F9A6-4544-AD76-EE3F0098DDC3}" type="slidenum">
              <a:rPr lang="en-IN" smtClean="0"/>
              <a:pPr/>
              <a:t>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6437622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80086C4-F9A6-4544-AD76-EE3F0098DDC3}" type="slidenum">
              <a:rPr lang="en-IN" smtClean="0"/>
              <a:pPr/>
              <a:t>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8612067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80086C4-F9A6-4544-AD76-EE3F0098DDC3}" type="slidenum">
              <a:rPr lang="en-IN" smtClean="0"/>
              <a:pPr/>
              <a:t>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7421413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80086C4-F9A6-4544-AD76-EE3F0098DDC3}" type="slidenum">
              <a:rPr lang="en-IN" smtClean="0"/>
              <a:pPr/>
              <a:t>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0594250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80086C4-F9A6-4544-AD76-EE3F0098DDC3}" type="slidenum">
              <a:rPr lang="en-IN" smtClean="0"/>
              <a:pPr/>
              <a:t>10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133273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80086C4-F9A6-4544-AD76-EE3F0098DDC3}" type="slidenum">
              <a:rPr lang="en-IN" smtClean="0"/>
              <a:t>11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5949660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80086C4-F9A6-4544-AD76-EE3F0098DDC3}" type="slidenum">
              <a:rPr lang="en-IN" smtClean="0"/>
              <a:pPr/>
              <a:t>12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2486090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80086C4-F9A6-4544-AD76-EE3F0098DDC3}" type="slidenum">
              <a:rPr lang="en-IN" smtClean="0"/>
              <a:pPr/>
              <a:t>13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6875759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80086C4-F9A6-4544-AD76-EE3F0098DDC3}" type="slidenum">
              <a:rPr lang="en-IN" smtClean="0"/>
              <a:pPr/>
              <a:t>14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599148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80086C4-F9A6-4544-AD76-EE3F0098DDC3}" type="slidenum">
              <a:rPr lang="en-IN" smtClean="0"/>
              <a:pPr/>
              <a:t>15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4604321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 smtClean="0"/>
              <a:t>9</a:t>
            </a:r>
          </a:p>
          <a:p>
            <a:r>
              <a:rPr lang="en-IN" dirty="0" smtClean="0"/>
              <a:t>5</a:t>
            </a:r>
          </a:p>
          <a:p>
            <a:r>
              <a:rPr lang="en-IN" dirty="0" smtClean="0"/>
              <a:t>11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80086C4-F9A6-4544-AD76-EE3F0098DDC3}" type="slidenum">
              <a:rPr lang="en-IN" smtClean="0"/>
              <a:pPr/>
              <a:t>18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6898441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80086C4-F9A6-4544-AD76-EE3F0098DDC3}" type="slidenum">
              <a:rPr lang="en-IN" smtClean="0"/>
              <a:pPr/>
              <a:t>19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2820881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48E7AD-E0D9-48F6-97E4-4C9350FC047A}" type="datetime1">
              <a:rPr lang="en-IN" smtClean="0"/>
              <a:pPr/>
              <a:t>17-01-2025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Satish C J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22050D-553B-4C54-8B8E-CAFD011AA2BD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597686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012476-E0B3-40B1-A870-C39583A9D781}" type="datetime1">
              <a:rPr lang="en-IN" smtClean="0"/>
              <a:pPr/>
              <a:t>17-01-2025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Satish C J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22050D-553B-4C54-8B8E-CAFD011AA2BD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880060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D1F21B-F1EC-48C4-A5B2-3AC1BF685E11}" type="datetime1">
              <a:rPr lang="en-IN" smtClean="0"/>
              <a:pPr/>
              <a:t>17-01-2025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Satish C J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22050D-553B-4C54-8B8E-CAFD011AA2BD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038082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CA39B4-91E9-485B-9326-2BC3FFF25360}" type="datetime1">
              <a:rPr lang="en-IN" smtClean="0"/>
              <a:pPr/>
              <a:t>17-01-2025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Satish C J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22050D-553B-4C54-8B8E-CAFD011AA2BD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240131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ECEA97-6347-4D8C-899F-5EC05F9F3DD2}" type="datetime1">
              <a:rPr lang="en-IN" smtClean="0"/>
              <a:pPr/>
              <a:t>17-01-2025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Satish C J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22050D-553B-4C54-8B8E-CAFD011AA2BD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319217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A292AD-3E5C-4ADA-B9B2-861D5C63153D}" type="datetime1">
              <a:rPr lang="en-IN" smtClean="0"/>
              <a:pPr/>
              <a:t>17-01-2025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Satish C J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22050D-553B-4C54-8B8E-CAFD011AA2BD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398300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4ECE5C-9547-4405-A48C-CFD72D634A9E}" type="datetime1">
              <a:rPr lang="en-IN" smtClean="0"/>
              <a:pPr/>
              <a:t>17-01-2025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Satish C J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22050D-553B-4C54-8B8E-CAFD011AA2BD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257417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EDA64A-06BB-4ACC-8423-FCAF58D67366}" type="datetime1">
              <a:rPr lang="en-IN" smtClean="0"/>
              <a:pPr/>
              <a:t>17-01-2025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Satish C J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22050D-553B-4C54-8B8E-CAFD011AA2BD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163664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951149-9682-426D-81DE-D02BE79C1CDA}" type="datetime1">
              <a:rPr lang="en-IN" smtClean="0"/>
              <a:pPr/>
              <a:t>17-01-2025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Satish C J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22050D-553B-4C54-8B8E-CAFD011AA2BD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176199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3ABF8B-417A-44A7-90BA-5ABEDCB2C555}" type="datetime1">
              <a:rPr lang="en-IN" smtClean="0"/>
              <a:pPr/>
              <a:t>17-01-2025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Satish C J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22050D-553B-4C54-8B8E-CAFD011AA2BD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549757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D1BCD0-9B0C-4DE4-B815-64672C698251}" type="datetime1">
              <a:rPr lang="en-IN" smtClean="0"/>
              <a:pPr/>
              <a:t>17-01-2025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Satish C J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22050D-553B-4C54-8B8E-CAFD011AA2BD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608185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C5AA8FA-7A5C-4399-AC36-FE43B1750EF0}" type="datetime1">
              <a:rPr lang="en-IN" smtClean="0"/>
              <a:pPr/>
              <a:t>17-01-2025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IN"/>
              <a:t>Satish C J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522050D-553B-4C54-8B8E-CAFD011AA2BD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996269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mtClean="0"/>
              <a:t>Modular </a:t>
            </a:r>
            <a:r>
              <a:rPr lang="en-US" dirty="0"/>
              <a:t>Arithmetic  </a:t>
            </a:r>
            <a:endParaRPr lang="en-IN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3590925"/>
            <a:ext cx="8686800" cy="1657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97738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Modular Arithmetic 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357298"/>
            <a:ext cx="8229600" cy="4929222"/>
          </a:xfrm>
        </p:spPr>
        <p:txBody>
          <a:bodyPr>
            <a:normAutofit fontScale="92500" lnSpcReduction="10000"/>
          </a:bodyPr>
          <a:lstStyle/>
          <a:p>
            <a:pPr algn="just"/>
            <a:r>
              <a:rPr lang="en-US" dirty="0" smtClean="0"/>
              <a:t>Central mathematical concept in cryptography.</a:t>
            </a:r>
          </a:p>
          <a:p>
            <a:pPr algn="just"/>
            <a:r>
              <a:rPr lang="en-US" dirty="0" smtClean="0"/>
              <a:t>It is an </a:t>
            </a:r>
            <a:r>
              <a:rPr lang="en-US" b="1" dirty="0" smtClean="0"/>
              <a:t>arithmetic for integers that focus on the reminder. </a:t>
            </a:r>
          </a:p>
          <a:p>
            <a:pPr algn="just"/>
            <a:r>
              <a:rPr lang="en-US" dirty="0" smtClean="0"/>
              <a:t>Wrap around after reaching a certain value called  modulus.</a:t>
            </a:r>
          </a:p>
          <a:p>
            <a:pPr algn="just"/>
            <a:r>
              <a:rPr lang="en-US" b="1" dirty="0" smtClean="0"/>
              <a:t>Definition</a:t>
            </a:r>
            <a:r>
              <a:rPr lang="en-US" dirty="0" smtClean="0"/>
              <a:t>: “</a:t>
            </a:r>
            <a:r>
              <a:rPr lang="en-US" altLang="en-US" dirty="0" smtClean="0"/>
              <a:t>If </a:t>
            </a:r>
            <a:r>
              <a:rPr lang="en-US" altLang="en-US" i="1" dirty="0" smtClean="0"/>
              <a:t>a is an integer and n is a positive integer, we define </a:t>
            </a:r>
            <a:r>
              <a:rPr lang="en-US" altLang="en-US" i="1" u="sng" dirty="0" smtClean="0"/>
              <a:t>a mod n </a:t>
            </a:r>
            <a:r>
              <a:rPr lang="en-US" altLang="en-US" i="1" dirty="0" smtClean="0"/>
              <a:t>is the remainder </a:t>
            </a:r>
            <a:r>
              <a:rPr lang="en-US" altLang="en-US" dirty="0" smtClean="0"/>
              <a:t>when </a:t>
            </a:r>
            <a:r>
              <a:rPr lang="en-US" altLang="en-US" i="1" dirty="0" smtClean="0"/>
              <a:t>a is divided by n”. The integer n is called the </a:t>
            </a:r>
            <a:r>
              <a:rPr lang="en-US" altLang="en-US" b="1" i="1" dirty="0" smtClean="0">
                <a:solidFill>
                  <a:srgbClr val="FF0000"/>
                </a:solidFill>
              </a:rPr>
              <a:t>modulus. </a:t>
            </a:r>
          </a:p>
          <a:p>
            <a:pPr marL="0" indent="0" algn="just">
              <a:buNone/>
            </a:pPr>
            <a:r>
              <a:rPr lang="pt-BR" altLang="en-US" i="1" dirty="0" smtClean="0"/>
              <a:t>               </a:t>
            </a:r>
            <a:endParaRPr lang="en-US" dirty="0" smtClean="0"/>
          </a:p>
          <a:p>
            <a:pPr algn="just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670403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Modulus with an analogy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58204" cy="4525963"/>
          </a:xfrm>
        </p:spPr>
        <p:txBody>
          <a:bodyPr/>
          <a:lstStyle/>
          <a:p>
            <a:r>
              <a:rPr lang="en-IN" dirty="0" smtClean="0"/>
              <a:t>Clock analogy</a:t>
            </a:r>
          </a:p>
          <a:p>
            <a:pPr>
              <a:buNone/>
            </a:pPr>
            <a:endParaRPr lang="en-IN" dirty="0"/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2428860" y="2285991"/>
            <a:ext cx="4822540" cy="384017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Modulus with an analogy</a:t>
            </a:r>
            <a:endParaRPr lang="en-IN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28596" y="2428868"/>
            <a:ext cx="3314700" cy="2381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4143372" y="2214554"/>
            <a:ext cx="4714908" cy="34290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Properties of Modular Arithmetic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 smtClean="0"/>
              <a:t>[(a mod n) + (b mod n)] mod n = (a + b) mod n.</a:t>
            </a:r>
          </a:p>
          <a:p>
            <a:r>
              <a:rPr lang="en-IN" dirty="0" smtClean="0"/>
              <a:t>[(a mod n) - (b mod n)] mod n  = (a - b) mod n.</a:t>
            </a:r>
          </a:p>
          <a:p>
            <a:r>
              <a:rPr lang="en-IN" dirty="0" smtClean="0"/>
              <a:t>[(a mod n) x (b mod n)] mod n = (a x b) mod n.</a:t>
            </a:r>
          </a:p>
          <a:p>
            <a:endParaRPr lang="en-IN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Example</a:t>
            </a:r>
            <a:endParaRPr lang="en-IN" dirty="0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857224" y="1714488"/>
            <a:ext cx="5019675" cy="1219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5123" name="Picture 3"/>
          <p:cNvPicPr>
            <a:picLocks noGrp="1" noChangeAspect="1" noChangeArrowheads="1"/>
          </p:cNvPicPr>
          <p:nvPr>
            <p:ph idx="1"/>
          </p:nvPr>
        </p:nvPicPr>
        <p:blipFill>
          <a:blip r:embed="rId3"/>
          <a:srcRect/>
          <a:stretch>
            <a:fillRect/>
          </a:stretch>
        </p:blipFill>
        <p:spPr bwMode="auto">
          <a:xfrm>
            <a:off x="928662" y="4572009"/>
            <a:ext cx="5000660" cy="128588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5124" name="Picture 4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876307" y="3133731"/>
            <a:ext cx="5053015" cy="1152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10990787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Properties of Modular Arithmetic</a:t>
            </a:r>
            <a:endParaRPr lang="en-IN" dirty="0"/>
          </a:p>
        </p:txBody>
      </p:sp>
      <p:graphicFrame>
        <p:nvGraphicFramePr>
          <p:cNvPr id="5" name="Content Placeholder 4"/>
          <p:cNvGraphicFramePr>
            <a:graphicFrameLocks noGrp="1"/>
          </p:cNvGraphicFramePr>
          <p:nvPr>
            <p:ph idx="1"/>
            <p:extLst/>
          </p:nvPr>
        </p:nvGraphicFramePr>
        <p:xfrm>
          <a:off x="251520" y="1500174"/>
          <a:ext cx="8640960" cy="52978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23284"/>
                <a:gridCol w="5817676"/>
              </a:tblGrid>
              <a:tr h="572452">
                <a:tc>
                  <a:txBody>
                    <a:bodyPr/>
                    <a:lstStyle/>
                    <a:p>
                      <a:pPr algn="ctr"/>
                      <a:r>
                        <a:rPr lang="en-IN" sz="2400" dirty="0" smtClean="0"/>
                        <a:t>Property</a:t>
                      </a:r>
                      <a:endParaRPr lang="en-IN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dirty="0" smtClean="0"/>
                        <a:t>Expression</a:t>
                      </a:r>
                      <a:endParaRPr lang="en-IN" sz="2400" dirty="0"/>
                    </a:p>
                  </a:txBody>
                  <a:tcPr/>
                </a:tc>
              </a:tr>
              <a:tr h="988068">
                <a:tc>
                  <a:txBody>
                    <a:bodyPr/>
                    <a:lstStyle/>
                    <a:p>
                      <a:r>
                        <a:rPr lang="en-IN" sz="2400" dirty="0" smtClean="0"/>
                        <a:t>Commutative laws</a:t>
                      </a:r>
                      <a:endParaRPr lang="en-IN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r>
                        <a:rPr lang="en-IN" sz="2400" dirty="0" smtClean="0"/>
                        <a:t> (a + b) mod n = (b + a) mod n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lang="en-IN" sz="2400" dirty="0" smtClean="0"/>
                        <a:t> (a x b) mod n = (b x a) mod n</a:t>
                      </a:r>
                      <a:endParaRPr lang="en-IN" sz="2400" dirty="0"/>
                    </a:p>
                  </a:txBody>
                  <a:tcPr/>
                </a:tc>
              </a:tr>
              <a:tr h="988068">
                <a:tc>
                  <a:txBody>
                    <a:bodyPr/>
                    <a:lstStyle/>
                    <a:p>
                      <a:r>
                        <a:rPr lang="en-IN" sz="2400" dirty="0" smtClean="0"/>
                        <a:t>Associative laws</a:t>
                      </a:r>
                      <a:endParaRPr lang="en-IN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lang="en-IN" sz="2400" dirty="0" smtClean="0"/>
                        <a:t> [(a + b) + c]</a:t>
                      </a:r>
                      <a:r>
                        <a:rPr lang="en-IN" sz="2400" baseline="0" dirty="0" smtClean="0"/>
                        <a:t> mod n = </a:t>
                      </a:r>
                      <a:r>
                        <a:rPr lang="en-IN" sz="2400" dirty="0" smtClean="0"/>
                        <a:t>[a + (b + c)]</a:t>
                      </a:r>
                      <a:r>
                        <a:rPr lang="en-IN" sz="2400" baseline="0" dirty="0" smtClean="0"/>
                        <a:t> mod n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lang="en-IN" sz="2400" dirty="0" smtClean="0"/>
                        <a:t> [(a x b) x c]</a:t>
                      </a:r>
                      <a:r>
                        <a:rPr lang="en-IN" sz="2400" baseline="0" dirty="0" smtClean="0"/>
                        <a:t> mod n = </a:t>
                      </a:r>
                      <a:r>
                        <a:rPr lang="en-IN" sz="2400" dirty="0" smtClean="0"/>
                        <a:t>[a x (b x c)]</a:t>
                      </a:r>
                      <a:r>
                        <a:rPr lang="en-IN" sz="2400" baseline="0" dirty="0" smtClean="0"/>
                        <a:t> mod n</a:t>
                      </a:r>
                      <a:endParaRPr lang="en-IN" sz="2400" dirty="0"/>
                    </a:p>
                  </a:txBody>
                  <a:tcPr/>
                </a:tc>
              </a:tr>
              <a:tr h="572452">
                <a:tc>
                  <a:txBody>
                    <a:bodyPr/>
                    <a:lstStyle/>
                    <a:p>
                      <a:r>
                        <a:rPr lang="en-IN" sz="2400" dirty="0" smtClean="0"/>
                        <a:t>Distributive law</a:t>
                      </a:r>
                      <a:endParaRPr lang="en-IN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lang="en-IN" sz="2400" dirty="0" smtClean="0"/>
                        <a:t> [a x (b + c)] mod n =  [(a x b) + (a x</a:t>
                      </a:r>
                      <a:r>
                        <a:rPr lang="en-IN" sz="2400" baseline="0" dirty="0" smtClean="0"/>
                        <a:t> </a:t>
                      </a:r>
                      <a:r>
                        <a:rPr lang="en-IN" sz="2400" dirty="0" smtClean="0"/>
                        <a:t>c)] mod n</a:t>
                      </a:r>
                      <a:endParaRPr lang="en-IN" sz="2400" dirty="0"/>
                    </a:p>
                  </a:txBody>
                  <a:tcPr/>
                </a:tc>
              </a:tr>
              <a:tr h="988068">
                <a:tc>
                  <a:txBody>
                    <a:bodyPr/>
                    <a:lstStyle/>
                    <a:p>
                      <a:r>
                        <a:rPr lang="en-IN" sz="2400" dirty="0" smtClean="0"/>
                        <a:t>Identities</a:t>
                      </a:r>
                      <a:endParaRPr lang="en-IN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lang="en-IN" sz="2400" dirty="0" smtClean="0"/>
                        <a:t> (0 + a) mod n = a mod n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lang="en-IN" sz="2400" dirty="0" smtClean="0"/>
                        <a:t> (1 x a) mod n = a mod n</a:t>
                      </a:r>
                      <a:endParaRPr lang="en-IN" sz="2400" dirty="0"/>
                    </a:p>
                  </a:txBody>
                  <a:tcPr/>
                </a:tc>
              </a:tr>
              <a:tr h="988068">
                <a:tc>
                  <a:txBody>
                    <a:bodyPr/>
                    <a:lstStyle/>
                    <a:p>
                      <a:r>
                        <a:rPr lang="en-IN" sz="2400" dirty="0" smtClean="0"/>
                        <a:t>Additive inverse</a:t>
                      </a:r>
                      <a:endParaRPr lang="en-IN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lang="en-IN" sz="2400" dirty="0" smtClean="0"/>
                        <a:t> For each a </a:t>
                      </a:r>
                      <a:r>
                        <a:rPr lang="en-IN" sz="2400" dirty="0" smtClean="0">
                          <a:sym typeface="Symbol"/>
                        </a:rPr>
                        <a:t> Zn,</a:t>
                      </a:r>
                      <a:r>
                        <a:rPr lang="en-IN" sz="2400" baseline="0" dirty="0" smtClean="0">
                          <a:sym typeface="Symbol"/>
                        </a:rPr>
                        <a:t> there exists a ‘-a’ such that 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lang="en-IN" sz="2400" baseline="0" dirty="0" smtClean="0">
                          <a:sym typeface="Symbol"/>
                        </a:rPr>
                        <a:t>   a + (-a)  0 mod n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lang="en-IN" sz="2400" baseline="0" dirty="0" smtClean="0">
                          <a:sym typeface="Symbol"/>
                        </a:rPr>
                        <a:t>Then there exist an additive inverse</a:t>
                      </a:r>
                      <a:endParaRPr lang="en-IN" sz="2400" dirty="0"/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458624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Exercise 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18 mod 12</a:t>
            </a:r>
          </a:p>
          <a:p>
            <a:r>
              <a:rPr lang="en-US" dirty="0"/>
              <a:t>24 mod 12</a:t>
            </a:r>
          </a:p>
          <a:p>
            <a:r>
              <a:rPr lang="en-US" dirty="0"/>
              <a:t>32 mod 12</a:t>
            </a:r>
          </a:p>
          <a:p>
            <a:r>
              <a:rPr lang="en-US" dirty="0"/>
              <a:t>4 mod 12</a:t>
            </a:r>
          </a:p>
          <a:p>
            <a:r>
              <a:rPr lang="en-US" dirty="0"/>
              <a:t>8 mod 12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225012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Congruence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IN" dirty="0" smtClean="0"/>
              <a:t>In cryptography, congruence (≡) instead of equality (=).</a:t>
            </a:r>
          </a:p>
          <a:p>
            <a:pPr algn="just"/>
            <a:endParaRPr lang="en-IN" dirty="0" smtClean="0"/>
          </a:p>
          <a:p>
            <a:pPr marL="0" indent="0" algn="just">
              <a:buNone/>
            </a:pPr>
            <a:endParaRPr lang="en-IN" dirty="0"/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142976" y="2857496"/>
            <a:ext cx="6762750" cy="38838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13831774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9552" y="0"/>
            <a:ext cx="8229600" cy="902101"/>
          </a:xfrm>
        </p:spPr>
        <p:txBody>
          <a:bodyPr/>
          <a:lstStyle/>
          <a:p>
            <a:r>
              <a:rPr lang="en-IN" dirty="0" smtClean="0"/>
              <a:t>Valid or invalid ?</a:t>
            </a:r>
            <a:endParaRPr lang="en-IN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619672" y="889525"/>
            <a:ext cx="2854100" cy="59558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Congruence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 dirty="0" smtClean="0"/>
          </a:p>
          <a:p>
            <a:r>
              <a:rPr lang="en-IN" dirty="0" smtClean="0"/>
              <a:t>Two integers are congruent modulo m </a:t>
            </a:r>
            <a:r>
              <a:rPr lang="en-IN" dirty="0" err="1" smtClean="0"/>
              <a:t>iff</a:t>
            </a:r>
            <a:r>
              <a:rPr lang="en-IN" dirty="0" smtClean="0"/>
              <a:t> they have the same remainder when divided by m</a:t>
            </a:r>
          </a:p>
          <a:p>
            <a:r>
              <a:rPr lang="en-IN" dirty="0" smtClean="0"/>
              <a:t>If </a:t>
            </a:r>
            <a:r>
              <a:rPr lang="en-IN" dirty="0"/>
              <a:t>a and </a:t>
            </a:r>
            <a:r>
              <a:rPr lang="en-IN" b="1" dirty="0"/>
              <a:t>b</a:t>
            </a:r>
            <a:r>
              <a:rPr lang="en-IN" dirty="0"/>
              <a:t> are integers and </a:t>
            </a:r>
            <a:r>
              <a:rPr lang="en-IN" b="1" dirty="0"/>
              <a:t>n</a:t>
            </a:r>
            <a:r>
              <a:rPr lang="en-IN" dirty="0"/>
              <a:t> &gt; 0, we write </a:t>
            </a:r>
            <a:endParaRPr lang="en-IN" dirty="0" smtClean="0"/>
          </a:p>
          <a:p>
            <a:pPr marL="0" indent="0">
              <a:buNone/>
            </a:pPr>
            <a:r>
              <a:rPr lang="en-IN" dirty="0"/>
              <a:t> </a:t>
            </a:r>
            <a:r>
              <a:rPr lang="en-IN" dirty="0" smtClean="0"/>
              <a:t>   a </a:t>
            </a:r>
            <a:r>
              <a:rPr lang="en-IN" b="1" dirty="0"/>
              <a:t>≡ b mod n</a:t>
            </a:r>
            <a:r>
              <a:rPr lang="en-IN" dirty="0"/>
              <a:t> </a:t>
            </a:r>
            <a:r>
              <a:rPr lang="en-IN" dirty="0" smtClean="0"/>
              <a:t>to mean</a:t>
            </a:r>
            <a:r>
              <a:rPr lang="en-IN" b="1" dirty="0" smtClean="0"/>
              <a:t> </a:t>
            </a:r>
            <a:r>
              <a:rPr lang="en-IN" b="1" dirty="0"/>
              <a:t>n</a:t>
            </a:r>
            <a:r>
              <a:rPr lang="en-IN" dirty="0" smtClean="0"/>
              <a:t>|(</a:t>
            </a:r>
            <a:r>
              <a:rPr lang="en-IN" b="1" dirty="0" smtClean="0"/>
              <a:t>a</a:t>
            </a:r>
            <a:r>
              <a:rPr lang="en-IN" dirty="0" smtClean="0"/>
              <a:t> </a:t>
            </a:r>
            <a:r>
              <a:rPr lang="en-IN" dirty="0"/>
              <a:t>− </a:t>
            </a:r>
            <a:r>
              <a:rPr lang="en-IN" dirty="0" smtClean="0"/>
              <a:t>b)</a:t>
            </a:r>
          </a:p>
          <a:p>
            <a:r>
              <a:rPr lang="en-IN" dirty="0"/>
              <a:t>a </a:t>
            </a:r>
            <a:r>
              <a:rPr lang="en-IN" b="1" dirty="0"/>
              <a:t>≡ b mod </a:t>
            </a:r>
            <a:r>
              <a:rPr lang="en-IN" b="1" dirty="0" smtClean="0"/>
              <a:t>n </a:t>
            </a:r>
            <a:r>
              <a:rPr lang="en-IN" dirty="0" smtClean="0"/>
              <a:t>read as a is congruent to b modulo n</a:t>
            </a:r>
          </a:p>
          <a:p>
            <a:r>
              <a:rPr lang="en-IN" dirty="0"/>
              <a:t>a </a:t>
            </a:r>
            <a:r>
              <a:rPr lang="en-IN" b="1" dirty="0"/>
              <a:t>≡ b mod </a:t>
            </a:r>
            <a:r>
              <a:rPr lang="en-IN" b="1" dirty="0" smtClean="0"/>
              <a:t>n </a:t>
            </a:r>
            <a:r>
              <a:rPr lang="en-IN" dirty="0" smtClean="0"/>
              <a:t>means a mod n = b mod n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305149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Properties of Congruence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28736"/>
            <a:ext cx="8229600" cy="469742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dirty="0"/>
              <a:t>Congruence have the following properties:</a:t>
            </a:r>
          </a:p>
          <a:p>
            <a:r>
              <a:rPr lang="en-IN" i="1" dirty="0"/>
              <a:t>a ≡ r </a:t>
            </a:r>
            <a:r>
              <a:rPr lang="en-IN" dirty="0"/>
              <a:t>(mod </a:t>
            </a:r>
            <a:r>
              <a:rPr lang="en-IN" i="1" dirty="0"/>
              <a:t>n</a:t>
            </a:r>
            <a:r>
              <a:rPr lang="en-IN" dirty="0"/>
              <a:t>) if r is the remainder obtained by dividing a by n. </a:t>
            </a:r>
          </a:p>
          <a:p>
            <a:r>
              <a:rPr lang="en-IN" i="1" dirty="0"/>
              <a:t>a ≡ a </a:t>
            </a:r>
            <a:r>
              <a:rPr lang="en-IN" dirty="0"/>
              <a:t>(mod </a:t>
            </a:r>
            <a:r>
              <a:rPr lang="en-IN" i="1" dirty="0"/>
              <a:t>n</a:t>
            </a:r>
            <a:r>
              <a:rPr lang="en-IN" dirty="0"/>
              <a:t>) – </a:t>
            </a:r>
            <a:r>
              <a:rPr lang="en-IN" b="1" dirty="0"/>
              <a:t>reflexivity </a:t>
            </a:r>
          </a:p>
          <a:p>
            <a:r>
              <a:rPr lang="pt-BR" i="1" dirty="0"/>
              <a:t>a </a:t>
            </a:r>
            <a:r>
              <a:rPr lang="en-IN" i="1" dirty="0"/>
              <a:t>≡</a:t>
            </a:r>
            <a:r>
              <a:rPr lang="pt-BR" i="1" dirty="0"/>
              <a:t> b </a:t>
            </a:r>
            <a:r>
              <a:rPr lang="pt-BR" dirty="0"/>
              <a:t>(mod </a:t>
            </a:r>
            <a:r>
              <a:rPr lang="pt-BR" i="1" dirty="0"/>
              <a:t>n</a:t>
            </a:r>
            <a:r>
              <a:rPr lang="pt-BR" dirty="0"/>
              <a:t>) implies </a:t>
            </a:r>
            <a:r>
              <a:rPr lang="pt-BR" i="1" dirty="0"/>
              <a:t>b </a:t>
            </a:r>
            <a:r>
              <a:rPr lang="en-IN" i="1" dirty="0"/>
              <a:t>≡</a:t>
            </a:r>
            <a:r>
              <a:rPr lang="pt-BR" i="1" dirty="0"/>
              <a:t> a </a:t>
            </a:r>
            <a:r>
              <a:rPr lang="pt-BR" dirty="0"/>
              <a:t>(mod </a:t>
            </a:r>
            <a:r>
              <a:rPr lang="pt-BR" i="1" dirty="0"/>
              <a:t>n</a:t>
            </a:r>
            <a:r>
              <a:rPr lang="pt-BR" dirty="0"/>
              <a:t>) - </a:t>
            </a:r>
            <a:r>
              <a:rPr lang="pt-BR" b="1" dirty="0"/>
              <a:t>Symmetry</a:t>
            </a:r>
          </a:p>
          <a:p>
            <a:r>
              <a:rPr lang="pt-BR" i="1" dirty="0"/>
              <a:t>a </a:t>
            </a:r>
            <a:r>
              <a:rPr lang="en-IN" i="1" dirty="0"/>
              <a:t>≡ </a:t>
            </a:r>
            <a:r>
              <a:rPr lang="pt-BR" i="1" dirty="0"/>
              <a:t>b </a:t>
            </a:r>
            <a:r>
              <a:rPr lang="pt-BR" dirty="0"/>
              <a:t>(mod </a:t>
            </a:r>
            <a:r>
              <a:rPr lang="pt-BR" i="1" dirty="0"/>
              <a:t>n</a:t>
            </a:r>
            <a:r>
              <a:rPr lang="pt-BR" dirty="0"/>
              <a:t>) and </a:t>
            </a:r>
            <a:r>
              <a:rPr lang="pt-BR" i="1" dirty="0"/>
              <a:t>b </a:t>
            </a:r>
            <a:r>
              <a:rPr lang="en-IN" i="1" dirty="0"/>
              <a:t>≡</a:t>
            </a:r>
            <a:r>
              <a:rPr lang="pt-BR" i="1" dirty="0"/>
              <a:t> c </a:t>
            </a:r>
            <a:r>
              <a:rPr lang="pt-BR" dirty="0"/>
              <a:t>(mod </a:t>
            </a:r>
            <a:r>
              <a:rPr lang="pt-BR" i="1" dirty="0"/>
              <a:t>n</a:t>
            </a:r>
            <a:r>
              <a:rPr lang="pt-BR" dirty="0"/>
              <a:t>) imply</a:t>
            </a:r>
          </a:p>
          <a:p>
            <a:pPr marL="0" indent="0">
              <a:buNone/>
            </a:pPr>
            <a:r>
              <a:rPr lang="pt-BR" i="1" dirty="0"/>
              <a:t>    a </a:t>
            </a:r>
            <a:r>
              <a:rPr lang="en-IN" i="1" dirty="0"/>
              <a:t>≡ </a:t>
            </a:r>
            <a:r>
              <a:rPr lang="pt-BR" i="1" dirty="0"/>
              <a:t>c </a:t>
            </a:r>
            <a:r>
              <a:rPr lang="pt-BR" dirty="0"/>
              <a:t>(mod </a:t>
            </a:r>
            <a:r>
              <a:rPr lang="pt-BR" i="1" dirty="0"/>
              <a:t>n</a:t>
            </a:r>
            <a:r>
              <a:rPr lang="pt-BR" dirty="0"/>
              <a:t>). - </a:t>
            </a:r>
            <a:r>
              <a:rPr lang="pt-BR" b="1" dirty="0"/>
              <a:t>Transitivity</a:t>
            </a:r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25426461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Addition by a Constant 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i="1" dirty="0" smtClean="0"/>
              <a:t>Addition</a:t>
            </a:r>
            <a:endParaRPr lang="en-IN" i="1" dirty="0" smtClean="0"/>
          </a:p>
          <a:p>
            <a:pPr marL="0" indent="0">
              <a:buNone/>
            </a:pPr>
            <a:r>
              <a:rPr lang="en-IN" i="1" dirty="0" smtClean="0"/>
              <a:t>If a </a:t>
            </a:r>
            <a:r>
              <a:rPr lang="en-IN" i="1" dirty="0"/>
              <a:t>≡ b </a:t>
            </a:r>
            <a:r>
              <a:rPr lang="en-IN" dirty="0"/>
              <a:t>(mod </a:t>
            </a:r>
            <a:r>
              <a:rPr lang="en-IN" i="1" dirty="0"/>
              <a:t>n</a:t>
            </a:r>
            <a:r>
              <a:rPr lang="en-IN" dirty="0"/>
              <a:t>) </a:t>
            </a:r>
            <a:r>
              <a:rPr lang="en-IN" dirty="0" smtClean="0"/>
              <a:t>and c ≠ 0 then</a:t>
            </a:r>
          </a:p>
          <a:p>
            <a:pPr marL="0" indent="0">
              <a:buNone/>
            </a:pPr>
            <a:r>
              <a:rPr lang="en-IN" i="1" dirty="0" err="1"/>
              <a:t>a</a:t>
            </a:r>
            <a:r>
              <a:rPr lang="en-IN" i="1" dirty="0" err="1" smtClean="0"/>
              <a:t>+c</a:t>
            </a:r>
            <a:r>
              <a:rPr lang="en-IN" i="1" dirty="0" smtClean="0"/>
              <a:t> </a:t>
            </a:r>
            <a:r>
              <a:rPr lang="en-IN" i="1" dirty="0"/>
              <a:t>≡ </a:t>
            </a:r>
            <a:r>
              <a:rPr lang="en-IN" i="1" dirty="0" err="1" smtClean="0"/>
              <a:t>b+c</a:t>
            </a:r>
            <a:r>
              <a:rPr lang="en-IN" i="1" dirty="0" smtClean="0"/>
              <a:t> </a:t>
            </a:r>
            <a:r>
              <a:rPr lang="en-IN" dirty="0"/>
              <a:t>(mod </a:t>
            </a:r>
            <a:r>
              <a:rPr lang="en-IN" i="1" dirty="0"/>
              <a:t>n</a:t>
            </a:r>
            <a:r>
              <a:rPr lang="en-IN" dirty="0" smtClean="0"/>
              <a:t>)</a:t>
            </a:r>
          </a:p>
          <a:p>
            <a:pPr marL="0" indent="0">
              <a:buNone/>
            </a:pPr>
            <a:r>
              <a:rPr lang="en-IN" i="1" dirty="0"/>
              <a:t>a</a:t>
            </a:r>
            <a:r>
              <a:rPr lang="en-IN" i="1" dirty="0" smtClean="0"/>
              <a:t>-c </a:t>
            </a:r>
            <a:r>
              <a:rPr lang="en-IN" i="1" dirty="0"/>
              <a:t>≡ </a:t>
            </a:r>
            <a:r>
              <a:rPr lang="en-IN" i="1" dirty="0" smtClean="0"/>
              <a:t>a</a:t>
            </a:r>
            <a:r>
              <a:rPr lang="en-IN" i="1" dirty="0"/>
              <a:t>-</a:t>
            </a:r>
            <a:r>
              <a:rPr lang="en-IN" i="1" dirty="0" smtClean="0"/>
              <a:t>c </a:t>
            </a:r>
            <a:r>
              <a:rPr lang="en-IN" dirty="0"/>
              <a:t>(mod </a:t>
            </a:r>
            <a:r>
              <a:rPr lang="en-IN" i="1" dirty="0"/>
              <a:t>n</a:t>
            </a:r>
            <a:r>
              <a:rPr lang="en-IN" dirty="0"/>
              <a:t>)</a:t>
            </a:r>
          </a:p>
          <a:p>
            <a:pPr marL="0" indent="0">
              <a:buNone/>
            </a:pPr>
            <a:r>
              <a:rPr lang="en-IN" i="1" dirty="0" err="1"/>
              <a:t>a+c</a:t>
            </a:r>
            <a:r>
              <a:rPr lang="en-IN" i="1" dirty="0"/>
              <a:t> ≡ </a:t>
            </a:r>
            <a:r>
              <a:rPr lang="en-IN" i="1" dirty="0" err="1"/>
              <a:t>b+c</a:t>
            </a:r>
            <a:r>
              <a:rPr lang="en-IN" i="1" dirty="0"/>
              <a:t> </a:t>
            </a:r>
            <a:r>
              <a:rPr lang="en-IN" dirty="0"/>
              <a:t>(mod </a:t>
            </a:r>
            <a:r>
              <a:rPr lang="en-IN" i="1" dirty="0" err="1" smtClean="0"/>
              <a:t>n+c</a:t>
            </a:r>
            <a:r>
              <a:rPr lang="en-IN" dirty="0" smtClean="0"/>
              <a:t>) </a:t>
            </a:r>
            <a:r>
              <a:rPr lang="en-IN" b="1" dirty="0" smtClean="0">
                <a:solidFill>
                  <a:srgbClr val="FF0000"/>
                </a:solidFill>
              </a:rPr>
              <a:t>is not valid </a:t>
            </a:r>
            <a:endParaRPr lang="en-IN" b="1" dirty="0">
              <a:solidFill>
                <a:srgbClr val="FF0000"/>
              </a:solidFill>
            </a:endParaRPr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466221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Multiplication by a constant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i="1" dirty="0" smtClean="0"/>
              <a:t>Multiplication by a Constant </a:t>
            </a:r>
            <a:endParaRPr lang="en-IN" i="1" dirty="0" smtClean="0"/>
          </a:p>
          <a:p>
            <a:pPr marL="0" indent="0">
              <a:buNone/>
            </a:pPr>
            <a:r>
              <a:rPr lang="en-IN" i="1" dirty="0" smtClean="0"/>
              <a:t>If a </a:t>
            </a:r>
            <a:r>
              <a:rPr lang="en-IN" i="1" dirty="0"/>
              <a:t>≡ b </a:t>
            </a:r>
            <a:r>
              <a:rPr lang="en-IN" dirty="0"/>
              <a:t>(mod </a:t>
            </a:r>
            <a:r>
              <a:rPr lang="en-IN" i="1" dirty="0"/>
              <a:t>n</a:t>
            </a:r>
            <a:r>
              <a:rPr lang="en-IN" dirty="0"/>
              <a:t>) </a:t>
            </a:r>
            <a:r>
              <a:rPr lang="en-IN" dirty="0" smtClean="0"/>
              <a:t>and c ≠ 0 then</a:t>
            </a:r>
          </a:p>
          <a:p>
            <a:pPr marL="0" indent="0">
              <a:buNone/>
            </a:pPr>
            <a:r>
              <a:rPr lang="en-IN" i="1" dirty="0" smtClean="0"/>
              <a:t>ac </a:t>
            </a:r>
            <a:r>
              <a:rPr lang="en-IN" i="1" dirty="0"/>
              <a:t>≡ </a:t>
            </a:r>
            <a:r>
              <a:rPr lang="en-IN" i="1" dirty="0" err="1" smtClean="0"/>
              <a:t>bc</a:t>
            </a:r>
            <a:r>
              <a:rPr lang="en-IN" i="1" dirty="0" smtClean="0"/>
              <a:t> </a:t>
            </a:r>
            <a:r>
              <a:rPr lang="en-IN" dirty="0"/>
              <a:t>(mod </a:t>
            </a:r>
            <a:r>
              <a:rPr lang="en-IN" i="1" dirty="0"/>
              <a:t>n</a:t>
            </a:r>
            <a:r>
              <a:rPr lang="en-IN" dirty="0" smtClean="0"/>
              <a:t>)</a:t>
            </a:r>
          </a:p>
          <a:p>
            <a:pPr marL="0" indent="0">
              <a:buNone/>
            </a:pPr>
            <a:r>
              <a:rPr lang="en-IN" i="1" dirty="0" smtClean="0"/>
              <a:t>ac </a:t>
            </a:r>
            <a:r>
              <a:rPr lang="en-IN" i="1" dirty="0"/>
              <a:t>≡ </a:t>
            </a:r>
            <a:r>
              <a:rPr lang="en-IN" i="1" dirty="0" err="1" smtClean="0"/>
              <a:t>bc</a:t>
            </a:r>
            <a:r>
              <a:rPr lang="en-IN" i="1" dirty="0" smtClean="0"/>
              <a:t> </a:t>
            </a:r>
            <a:r>
              <a:rPr lang="en-IN" dirty="0"/>
              <a:t>(mod </a:t>
            </a:r>
            <a:r>
              <a:rPr lang="en-IN" i="1" dirty="0" err="1" smtClean="0"/>
              <a:t>nc</a:t>
            </a:r>
            <a:r>
              <a:rPr lang="en-IN" dirty="0" smtClean="0"/>
              <a:t>) is valid </a:t>
            </a:r>
            <a:endParaRPr lang="en-IN" dirty="0"/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748075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Points to remember 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IN" dirty="0" smtClean="0"/>
              <a:t>N mod M = Remainder.</a:t>
            </a:r>
          </a:p>
          <a:p>
            <a:pPr algn="just"/>
            <a:r>
              <a:rPr lang="en-IN" dirty="0" smtClean="0"/>
              <a:t>If N is less than M then N mod M = N.</a:t>
            </a:r>
          </a:p>
          <a:p>
            <a:pPr algn="just"/>
            <a:r>
              <a:rPr lang="en-IN" dirty="0" smtClean="0"/>
              <a:t>For negative numbers consider anti-clockwise direction.</a:t>
            </a:r>
          </a:p>
          <a:p>
            <a:pPr algn="just"/>
            <a:endParaRPr lang="en-IN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Modulo of a Negative Number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100039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Lets find the Answer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3 mod 12?</a:t>
            </a:r>
          </a:p>
          <a:p>
            <a:r>
              <a:rPr lang="en-US" dirty="0" smtClean="0"/>
              <a:t>7 mod 12?</a:t>
            </a:r>
          </a:p>
          <a:p>
            <a:r>
              <a:rPr lang="en-US" dirty="0" smtClean="0"/>
              <a:t>13 mod 12?</a:t>
            </a:r>
            <a:endParaRPr lang="en-IN" dirty="0"/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00400" y="1371600"/>
            <a:ext cx="4923506" cy="470401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4124038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Lets find the Answer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-3 mod 12?</a:t>
            </a:r>
          </a:p>
          <a:p>
            <a:r>
              <a:rPr lang="en-US" dirty="0" smtClean="0"/>
              <a:t>-7 mod 12?</a:t>
            </a:r>
          </a:p>
          <a:p>
            <a:r>
              <a:rPr lang="en-US" dirty="0" smtClean="0"/>
              <a:t>-13 mod 12?</a:t>
            </a:r>
            <a:endParaRPr lang="en-IN" dirty="0"/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00400" y="1371600"/>
            <a:ext cx="4923506" cy="470401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TextBox 4"/>
          <p:cNvSpPr txBox="1"/>
          <p:nvPr/>
        </p:nvSpPr>
        <p:spPr>
          <a:xfrm>
            <a:off x="533400" y="4267200"/>
            <a:ext cx="28194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 smtClean="0"/>
              <a:t>-3 mod 20?</a:t>
            </a:r>
            <a:endParaRPr lang="en-IN" sz="3600" b="1" dirty="0"/>
          </a:p>
        </p:txBody>
      </p:sp>
    </p:spTree>
    <p:extLst>
      <p:ext uri="{BB962C8B-B14F-4D97-AF65-F5344CB8AC3E}">
        <p14:creationId xmlns:p14="http://schemas.microsoft.com/office/powerpoint/2010/main" val="17815779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How to Calculate ?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 smtClean="0"/>
              <a:t> -n mod k = k – (n mod k)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 smtClean="0"/>
              <a:t>-3 mod 12?</a:t>
            </a:r>
          </a:p>
          <a:p>
            <a:r>
              <a:rPr lang="en-US" dirty="0" smtClean="0"/>
              <a:t>-7 mod 12?</a:t>
            </a:r>
          </a:p>
          <a:p>
            <a:r>
              <a:rPr lang="en-US" dirty="0" smtClean="0"/>
              <a:t>-13 mod 12?</a:t>
            </a:r>
          </a:p>
          <a:p>
            <a:r>
              <a:rPr lang="en-US" dirty="0" smtClean="0"/>
              <a:t>-3 mod 20?</a:t>
            </a:r>
            <a:endParaRPr lang="en-IN" dirty="0" smtClean="0"/>
          </a:p>
          <a:p>
            <a:pPr marL="0" indent="0">
              <a:buNone/>
            </a:pPr>
            <a:endParaRPr lang="en-IN" dirty="0" smtClean="0"/>
          </a:p>
          <a:p>
            <a:pPr marL="0" indent="0">
              <a:buNone/>
            </a:pPr>
            <a:r>
              <a:rPr lang="en-US" dirty="0" smtClean="0"/>
              <a:t>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125400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1353</TotalTime>
  <Words>714</Words>
  <Application>Microsoft Office PowerPoint</Application>
  <PresentationFormat>On-screen Show (4:3)</PresentationFormat>
  <Paragraphs>111</Paragraphs>
  <Slides>19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3" baseType="lpstr">
      <vt:lpstr>Arial</vt:lpstr>
      <vt:lpstr>Calibri</vt:lpstr>
      <vt:lpstr>Symbol</vt:lpstr>
      <vt:lpstr>Office Theme</vt:lpstr>
      <vt:lpstr>Modular Arithmetic  </vt:lpstr>
      <vt:lpstr>Modular Arithmetic </vt:lpstr>
      <vt:lpstr>Modulus with an analogy</vt:lpstr>
      <vt:lpstr>Modulus with an analogy</vt:lpstr>
      <vt:lpstr>Properties of Modular Arithmetic</vt:lpstr>
      <vt:lpstr>Example</vt:lpstr>
      <vt:lpstr>Properties of Modular Arithmetic</vt:lpstr>
      <vt:lpstr>Exercise </vt:lpstr>
      <vt:lpstr>Congruence</vt:lpstr>
      <vt:lpstr>Valid or invalid ?</vt:lpstr>
      <vt:lpstr>Congruence</vt:lpstr>
      <vt:lpstr>Properties of Congruence</vt:lpstr>
      <vt:lpstr>Addition by a Constant </vt:lpstr>
      <vt:lpstr>Multiplication by a constant</vt:lpstr>
      <vt:lpstr>Points to remember </vt:lpstr>
      <vt:lpstr>Modulo of a Negative Number</vt:lpstr>
      <vt:lpstr>Lets find the Answer</vt:lpstr>
      <vt:lpstr>Lets find the Answer</vt:lpstr>
      <vt:lpstr>How to Calculate ?</vt:lpstr>
    </vt:vector>
  </TitlesOfParts>
  <Company>Hewlett-Packard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Cybersecurity - Basics</dc:title>
  <dc:creator>admin</dc:creator>
  <cp:lastModifiedBy>Admin</cp:lastModifiedBy>
  <cp:revision>186</cp:revision>
  <dcterms:created xsi:type="dcterms:W3CDTF">2020-07-09T05:35:26Z</dcterms:created>
  <dcterms:modified xsi:type="dcterms:W3CDTF">2025-01-17T09:53:35Z</dcterms:modified>
</cp:coreProperties>
</file>