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69" r:id="rId5"/>
    <p:sldId id="273" r:id="rId6"/>
    <p:sldId id="271" r:id="rId7"/>
    <p:sldId id="272" r:id="rId8"/>
    <p:sldId id="262" r:id="rId9"/>
    <p:sldId id="274" r:id="rId10"/>
    <p:sldId id="277" r:id="rId11"/>
    <p:sldId id="279" r:id="rId12"/>
    <p:sldId id="280" r:id="rId13"/>
    <p:sldId id="281" r:id="rId14"/>
    <p:sldId id="282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25" autoAdjust="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A097-50BF-4120-8001-D4A4726E3F95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64609-9959-41A2-91B2-A581E80D383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86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64609-9959-41A2-91B2-A581E80D3831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536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64609-9959-41A2-91B2-A581E80D3831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23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64609-9959-41A2-91B2-A581E80D383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15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64609-9959-41A2-91B2-A581E80D3831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76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1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4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4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4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3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2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3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0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0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39089-F581-463A-B96A-0E85307335C8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Chinese Remainder Theorem 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13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Chinese Remainder Theorem (CRT)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The Chinese Remainder Theorem (CRT) is used to solve a set of different congruent equations with one variable but different </a:t>
            </a:r>
            <a:r>
              <a:rPr lang="en-IN" sz="2400" dirty="0" err="1" smtClean="0"/>
              <a:t>moduli</a:t>
            </a:r>
            <a:r>
              <a:rPr lang="en-IN" sz="2400" dirty="0" smtClean="0"/>
              <a:t> which are relatively prime as shown below;</a:t>
            </a:r>
          </a:p>
          <a:p>
            <a:pPr marL="1547813" indent="0">
              <a:buNone/>
            </a:pP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 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</a:p>
          <a:p>
            <a:pPr marL="1547813" indent="0">
              <a:buNone/>
            </a:pP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 ≡ </a:t>
            </a:r>
            <a:r>
              <a:rPr lang="en-IN" sz="24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IN" sz="2400" b="1" baseline="-25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 mod </a:t>
            </a:r>
            <a:r>
              <a:rPr lang="en-IN" sz="24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IN" sz="2400" b="1" baseline="-250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just"/>
            <a:r>
              <a:rPr lang="en-IN" sz="2400" dirty="0" smtClean="0"/>
              <a:t>CRT states that the above equations have a unique solution of the </a:t>
            </a:r>
            <a:r>
              <a:rPr lang="en-IN" sz="2400" dirty="0" err="1" smtClean="0"/>
              <a:t>moduli</a:t>
            </a:r>
            <a:r>
              <a:rPr lang="en-IN" sz="2400" dirty="0" smtClean="0"/>
              <a:t> are relatively prime. </a:t>
            </a:r>
          </a:p>
          <a:p>
            <a:pPr algn="just"/>
            <a:r>
              <a:rPr lang="en-IN" sz="2400" b="1" u="sng" dirty="0" smtClean="0"/>
              <a:t>Formula for finding X:</a:t>
            </a:r>
          </a:p>
          <a:p>
            <a:pPr marL="342900" lvl="1" indent="-342900" algn="just">
              <a:buNone/>
            </a:pPr>
            <a:r>
              <a:rPr lang="pt-BR" dirty="0" smtClean="0"/>
              <a:t>	    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 = (a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+ a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+ ... + a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)mod M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- 1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Solve the following equation using CRT.</a:t>
            </a:r>
          </a:p>
          <a:p>
            <a:pPr marL="1547813" indent="0">
              <a:buNone/>
            </a:pPr>
            <a:r>
              <a:rPr lang="en-IN" dirty="0" smtClean="0"/>
              <a:t>X ≡  2 (mod 3)</a:t>
            </a:r>
          </a:p>
          <a:p>
            <a:pPr marL="1547813" indent="0">
              <a:buNone/>
            </a:pPr>
            <a:r>
              <a:rPr lang="en-IN" dirty="0" smtClean="0"/>
              <a:t>X ≡  3 (mod 5)</a:t>
            </a:r>
          </a:p>
          <a:p>
            <a:pPr marL="1547813" indent="0">
              <a:buNone/>
            </a:pPr>
            <a:r>
              <a:rPr lang="en-IN" dirty="0" smtClean="0"/>
              <a:t>X ≡  2 (mod 7)</a:t>
            </a:r>
          </a:p>
          <a:p>
            <a:r>
              <a:rPr lang="en-IN" dirty="0" smtClean="0"/>
              <a:t>Solution: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Step 1:</a:t>
            </a:r>
            <a:r>
              <a:rPr lang="en-IN" dirty="0" smtClean="0"/>
              <a:t> Checking Relatively Prime</a:t>
            </a:r>
          </a:p>
          <a:p>
            <a:pPr marL="0" indent="0">
              <a:buNone/>
            </a:pPr>
            <a:r>
              <a:rPr lang="en-IN" dirty="0" smtClean="0"/>
              <a:t>               (3,5) (5,7) and (7,3) -&gt; </a:t>
            </a:r>
            <a:r>
              <a:rPr lang="en-IN" dirty="0" smtClean="0">
                <a:solidFill>
                  <a:srgbClr val="FF0000"/>
                </a:solidFill>
              </a:rPr>
              <a:t>relatively prime</a:t>
            </a:r>
            <a:r>
              <a:rPr lang="en-IN" dirty="0" smtClean="0"/>
              <a:t> </a:t>
            </a:r>
          </a:p>
          <a:p>
            <a:endParaRPr lang="en-IN" dirty="0" smtClean="0"/>
          </a:p>
          <a:p>
            <a:pPr>
              <a:buNone/>
            </a:pPr>
            <a:r>
              <a:rPr lang="pt-BR" sz="2800" dirty="0" smtClean="0"/>
              <a:t>    </a:t>
            </a:r>
            <a:endParaRPr lang="en-IN" dirty="0" smtClean="0"/>
          </a:p>
          <a:p>
            <a:pPr marL="1547813" indent="0">
              <a:buNone/>
            </a:pPr>
            <a:endParaRPr lang="en-IN" dirty="0" smtClean="0"/>
          </a:p>
          <a:p>
            <a:pPr marL="1547813" indent="0">
              <a:buNone/>
            </a:pPr>
            <a:endParaRPr lang="en-IN" dirty="0" smtClean="0"/>
          </a:p>
          <a:p>
            <a:pPr marL="1547813" indent="0">
              <a:buNone/>
            </a:pPr>
            <a:endParaRPr lang="en-IN" dirty="0" smtClean="0"/>
          </a:p>
          <a:p>
            <a:endParaRPr lang="en-IN" dirty="0" smtClean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- 1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57364"/>
            <a:ext cx="7486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07504" y="5085184"/>
            <a:ext cx="39730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</a:t>
            </a:r>
            <a:r>
              <a:rPr lang="en-IN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IN" sz="20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 mod </a:t>
            </a:r>
            <a:r>
              <a:rPr lang="en-IN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IN" sz="20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5856" y="5085183"/>
            <a:ext cx="39730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2</a:t>
            </a:r>
            <a:r>
              <a:rPr lang="en-IN" sz="20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3</a:t>
            </a:r>
            <a:r>
              <a:rPr lang="en-IN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I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3</a:t>
            </a:r>
            <a:r>
              <a:rPr lang="en-IN" sz="20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5</a:t>
            </a:r>
            <a:r>
              <a:rPr lang="en-IN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I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</a:p>
          <a:p>
            <a:pPr marL="1547813" indent="0">
              <a:buNone/>
            </a:pP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</a:t>
            </a:r>
            <a:r>
              <a:rPr lang="en-IN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IN" sz="2000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 mod 7</a:t>
            </a:r>
            <a:r>
              <a:rPr lang="en-IN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I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- 1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Step 2:</a:t>
            </a:r>
            <a:r>
              <a:rPr lang="en-IN" dirty="0" smtClean="0"/>
              <a:t>  Compute M</a:t>
            </a:r>
          </a:p>
          <a:p>
            <a:pPr>
              <a:buNone/>
            </a:pPr>
            <a:r>
              <a:rPr lang="en-IN" dirty="0" smtClean="0"/>
              <a:t>   M = m</a:t>
            </a:r>
            <a:r>
              <a:rPr lang="en-IN" baseline="-25000" dirty="0" smtClean="0"/>
              <a:t>1 </a:t>
            </a:r>
            <a:r>
              <a:rPr lang="en-IN" dirty="0" smtClean="0"/>
              <a:t>x m</a:t>
            </a:r>
            <a:r>
              <a:rPr lang="en-IN" baseline="-25000" dirty="0" smtClean="0"/>
              <a:t>2</a:t>
            </a:r>
            <a:r>
              <a:rPr lang="en-IN" dirty="0" smtClean="0"/>
              <a:t> x m</a:t>
            </a:r>
            <a:r>
              <a:rPr lang="en-IN" baseline="-25000" dirty="0" smtClean="0"/>
              <a:t>3</a:t>
            </a:r>
          </a:p>
          <a:p>
            <a:pPr>
              <a:buNone/>
            </a:pPr>
            <a:r>
              <a:rPr lang="en-IN" dirty="0" smtClean="0"/>
              <a:t>        = 3 x 5 x 7 </a:t>
            </a:r>
          </a:p>
          <a:p>
            <a:pPr>
              <a:buNone/>
            </a:pPr>
            <a:r>
              <a:rPr lang="en-IN" dirty="0" smtClean="0"/>
              <a:t>        = 105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786190"/>
            <a:ext cx="75438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- 1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357298"/>
            <a:ext cx="62674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857628"/>
            <a:ext cx="75819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785786" y="1071546"/>
            <a:ext cx="5053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 smtClean="0">
                <a:solidFill>
                  <a:srgbClr val="FF0000"/>
                </a:solidFill>
              </a:rPr>
              <a:t>Step 3:</a:t>
            </a:r>
            <a:r>
              <a:rPr lang="en-IN" sz="2800" dirty="0" smtClean="0"/>
              <a:t>  Compute M1,M2 and M3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4643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 - 1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500174"/>
            <a:ext cx="84677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3786190"/>
            <a:ext cx="7543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28596" y="1000108"/>
            <a:ext cx="48112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 smtClean="0">
                <a:solidFill>
                  <a:srgbClr val="FF0000"/>
                </a:solidFill>
              </a:rPr>
              <a:t>Step 4: Compute M</a:t>
            </a:r>
            <a:r>
              <a:rPr lang="en-IN" sz="2800" baseline="30000" dirty="0" smtClean="0">
                <a:solidFill>
                  <a:srgbClr val="FF0000"/>
                </a:solidFill>
              </a:rPr>
              <a:t>-1</a:t>
            </a:r>
            <a:r>
              <a:rPr lang="en-IN" sz="2800" dirty="0" smtClean="0">
                <a:solidFill>
                  <a:srgbClr val="FF0000"/>
                </a:solidFill>
              </a:rPr>
              <a:t>, M</a:t>
            </a:r>
            <a:r>
              <a:rPr lang="en-IN" sz="2800" baseline="30000" dirty="0" smtClean="0">
                <a:solidFill>
                  <a:srgbClr val="FF0000"/>
                </a:solidFill>
              </a:rPr>
              <a:t>-2</a:t>
            </a:r>
            <a:r>
              <a:rPr lang="en-IN" sz="2800" dirty="0" smtClean="0">
                <a:solidFill>
                  <a:srgbClr val="FF0000"/>
                </a:solidFill>
              </a:rPr>
              <a:t>, M</a:t>
            </a:r>
            <a:r>
              <a:rPr lang="en-IN" sz="2800" baseline="30000" dirty="0" smtClean="0">
                <a:solidFill>
                  <a:srgbClr val="FF0000"/>
                </a:solidFill>
              </a:rPr>
              <a:t>-3</a:t>
            </a:r>
            <a:r>
              <a:rPr lang="en-IN" sz="2800" dirty="0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- 1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 smtClean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 smtClean="0">
                <a:solidFill>
                  <a:srgbClr val="0070C0"/>
                </a:solidFill>
              </a:rPr>
              <a:t>X = (a</a:t>
            </a:r>
            <a:r>
              <a:rPr lang="pt-BR" sz="3200" baseline="-25000" dirty="0" smtClean="0">
                <a:solidFill>
                  <a:srgbClr val="0070C0"/>
                </a:solidFill>
              </a:rPr>
              <a:t>1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1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1</a:t>
            </a:r>
            <a:r>
              <a:rPr lang="pt-BR" sz="3200" baseline="30000" dirty="0" smtClean="0">
                <a:solidFill>
                  <a:srgbClr val="0070C0"/>
                </a:solidFill>
              </a:rPr>
              <a:t>-1</a:t>
            </a:r>
            <a:r>
              <a:rPr lang="pt-BR" sz="3200" dirty="0" smtClean="0">
                <a:solidFill>
                  <a:srgbClr val="0070C0"/>
                </a:solidFill>
              </a:rPr>
              <a:t> + a</a:t>
            </a:r>
            <a:r>
              <a:rPr lang="pt-BR" sz="3200" baseline="-25000" dirty="0" smtClean="0">
                <a:solidFill>
                  <a:srgbClr val="0070C0"/>
                </a:solidFill>
              </a:rPr>
              <a:t>2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2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2</a:t>
            </a:r>
            <a:r>
              <a:rPr lang="pt-BR" sz="3200" baseline="30000" dirty="0" smtClean="0">
                <a:solidFill>
                  <a:srgbClr val="0070C0"/>
                </a:solidFill>
              </a:rPr>
              <a:t>-1</a:t>
            </a:r>
            <a:r>
              <a:rPr lang="pt-BR" sz="3200" dirty="0" smtClean="0">
                <a:solidFill>
                  <a:srgbClr val="0070C0"/>
                </a:solidFill>
              </a:rPr>
              <a:t> + a</a:t>
            </a:r>
            <a:r>
              <a:rPr lang="pt-BR" sz="3200" baseline="-25000" dirty="0" smtClean="0">
                <a:solidFill>
                  <a:srgbClr val="0070C0"/>
                </a:solidFill>
              </a:rPr>
              <a:t>3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3</a:t>
            </a:r>
            <a:r>
              <a:rPr lang="pt-BR" sz="3200" dirty="0" smtClean="0">
                <a:solidFill>
                  <a:srgbClr val="0070C0"/>
                </a:solidFill>
              </a:rPr>
              <a:t>M</a:t>
            </a:r>
            <a:r>
              <a:rPr lang="pt-BR" sz="3200" baseline="-25000" dirty="0" smtClean="0">
                <a:solidFill>
                  <a:srgbClr val="0070C0"/>
                </a:solidFill>
              </a:rPr>
              <a:t>3</a:t>
            </a:r>
            <a:r>
              <a:rPr lang="pt-BR" sz="3200" baseline="30000" dirty="0" smtClean="0">
                <a:solidFill>
                  <a:srgbClr val="0070C0"/>
                </a:solidFill>
              </a:rPr>
              <a:t>-1</a:t>
            </a:r>
            <a:r>
              <a:rPr lang="pt-BR" sz="3200" dirty="0" smtClean="0">
                <a:solidFill>
                  <a:srgbClr val="0070C0"/>
                </a:solidFill>
              </a:rPr>
              <a:t> )mod M</a:t>
            </a:r>
          </a:p>
          <a:p>
            <a:pPr marL="457200" lvl="1" indent="0">
              <a:buNone/>
            </a:pPr>
            <a:r>
              <a:rPr lang="pt-BR" sz="3200" dirty="0" smtClean="0"/>
              <a:t>   =  (2x35x2    + 3x12x1     + 2x51x1) mod 105</a:t>
            </a:r>
          </a:p>
          <a:p>
            <a:pPr marL="457200" lvl="1" indent="0">
              <a:buNone/>
            </a:pPr>
            <a:r>
              <a:rPr lang="pt-BR" sz="3200" dirty="0" smtClean="0"/>
              <a:t>   =  233 mod 105</a:t>
            </a:r>
          </a:p>
          <a:p>
            <a:pPr marL="457200" lvl="1" indent="0">
              <a:buNone/>
            </a:pPr>
            <a:r>
              <a:rPr lang="pt-BR" sz="3200" dirty="0" smtClean="0"/>
              <a:t>   = 23</a:t>
            </a:r>
          </a:p>
          <a:p>
            <a:pPr marL="457200" lvl="1" indent="0">
              <a:buNone/>
            </a:pPr>
            <a:endParaRPr lang="pt-BR" sz="3200" dirty="0" smtClean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4429132"/>
            <a:ext cx="808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Note: </a:t>
            </a:r>
            <a:r>
              <a:rPr lang="en-IN" sz="2400" dirty="0" smtClean="0"/>
              <a:t>Finally verify the value of X = 23 in the given equation </a:t>
            </a:r>
            <a:r>
              <a:rPr lang="en-IN" sz="2400" dirty="0" err="1" smtClean="0"/>
              <a:t>i.e</a:t>
            </a:r>
            <a:r>
              <a:rPr lang="en-IN" sz="2400" dirty="0" smtClean="0"/>
              <a:t>;</a:t>
            </a:r>
          </a:p>
          <a:p>
            <a:r>
              <a:rPr lang="en-IN" sz="2400" dirty="0" smtClean="0"/>
              <a:t>    X ≡  2 (mod 3) </a:t>
            </a:r>
            <a:r>
              <a:rPr lang="en-IN" sz="2400" dirty="0" smtClean="0">
                <a:sym typeface="Wingdings" pitchFamily="2" charset="2"/>
              </a:rPr>
              <a:t></a:t>
            </a:r>
            <a:r>
              <a:rPr lang="en-IN" sz="2400" dirty="0" smtClean="0"/>
              <a:t> 23 ≡  2 (mod 3)  </a:t>
            </a:r>
            <a:r>
              <a:rPr lang="en-IN" sz="2400" dirty="0" err="1" smtClean="0"/>
              <a:t>i.e</a:t>
            </a:r>
            <a:r>
              <a:rPr lang="en-IN" sz="2400" dirty="0" smtClean="0"/>
              <a:t>  23 % 3 = 2 </a:t>
            </a:r>
          </a:p>
          <a:p>
            <a:r>
              <a:rPr lang="en-IN" sz="2400" dirty="0" smtClean="0"/>
              <a:t>    X ≡  3 (mod 5) </a:t>
            </a:r>
            <a:r>
              <a:rPr lang="en-IN" sz="2400" dirty="0" smtClean="0">
                <a:sym typeface="Wingdings" pitchFamily="2" charset="2"/>
              </a:rPr>
              <a:t></a:t>
            </a:r>
            <a:r>
              <a:rPr lang="en-IN" sz="2400" dirty="0" smtClean="0"/>
              <a:t> 23 ≡  3 (mod 5)  </a:t>
            </a:r>
            <a:r>
              <a:rPr lang="en-IN" sz="2400" dirty="0" err="1" smtClean="0"/>
              <a:t>i.e</a:t>
            </a:r>
            <a:r>
              <a:rPr lang="en-IN" sz="2400" dirty="0" smtClean="0"/>
              <a:t>  23 % 5 = 3</a:t>
            </a:r>
          </a:p>
          <a:p>
            <a:r>
              <a:rPr lang="en-IN" sz="2400" dirty="0" smtClean="0"/>
              <a:t>    X ≡  2 (mod 7) </a:t>
            </a:r>
            <a:r>
              <a:rPr lang="en-IN" sz="2400" dirty="0" smtClean="0">
                <a:sym typeface="Wingdings" pitchFamily="2" charset="2"/>
              </a:rPr>
              <a:t></a:t>
            </a:r>
            <a:r>
              <a:rPr lang="en-IN" sz="2400" dirty="0" smtClean="0"/>
              <a:t> 23 ≡  2 (mod 7)  </a:t>
            </a:r>
            <a:r>
              <a:rPr lang="en-IN" sz="2400" dirty="0" err="1" smtClean="0"/>
              <a:t>i.e</a:t>
            </a:r>
            <a:r>
              <a:rPr lang="en-IN" sz="2400" dirty="0" smtClean="0"/>
              <a:t>  23 % 7 = 2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r>
              <a:rPr lang="en-IN" sz="2000" dirty="0" smtClean="0"/>
              <a:t>Solve the following equation using CRT.</a:t>
            </a:r>
          </a:p>
          <a:p>
            <a:pPr>
              <a:buNone/>
            </a:pPr>
            <a:r>
              <a:rPr lang="en-IN" sz="2000" dirty="0" smtClean="0"/>
              <a:t>			4X ≡  5 (mod 9)</a:t>
            </a:r>
          </a:p>
          <a:p>
            <a:pPr>
              <a:buNone/>
            </a:pPr>
            <a:r>
              <a:rPr lang="en-IN" sz="2000" dirty="0" smtClean="0"/>
              <a:t>			2X ≡  6 (mod 20)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Step 1:</a:t>
            </a:r>
          </a:p>
          <a:p>
            <a:pPr>
              <a:buNone/>
            </a:pPr>
            <a:r>
              <a:rPr lang="en-IN" sz="2000" dirty="0" smtClean="0"/>
              <a:t>Rewrite the given equations</a:t>
            </a:r>
          </a:p>
          <a:p>
            <a:endParaRPr lang="en-IN" sz="2000" dirty="0"/>
          </a:p>
        </p:txBody>
      </p:sp>
      <p:sp>
        <p:nvSpPr>
          <p:cNvPr id="4" name="Rectangle 3"/>
          <p:cNvSpPr/>
          <p:nvPr/>
        </p:nvSpPr>
        <p:spPr>
          <a:xfrm>
            <a:off x="215243" y="3263841"/>
            <a:ext cx="54726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 4X ≡  5 (mod 9)</a:t>
            </a:r>
          </a:p>
          <a:p>
            <a:r>
              <a:rPr lang="en-IN" sz="2000" dirty="0"/>
              <a:t> Multiply by 4</a:t>
            </a:r>
            <a:r>
              <a:rPr lang="en-IN" sz="2000" baseline="30000" dirty="0"/>
              <a:t>-1</a:t>
            </a:r>
            <a:r>
              <a:rPr lang="en-IN" sz="2000" dirty="0"/>
              <a:t> on both sides</a:t>
            </a:r>
          </a:p>
          <a:p>
            <a:pPr>
              <a:defRPr/>
            </a:pPr>
            <a:r>
              <a:rPr lang="en-IN" sz="2000" dirty="0"/>
              <a:t>    4</a:t>
            </a:r>
            <a:r>
              <a:rPr lang="en-IN" sz="2000" baseline="30000" dirty="0"/>
              <a:t>-1</a:t>
            </a:r>
            <a:r>
              <a:rPr lang="en-IN" sz="2000" dirty="0"/>
              <a:t> x 4X ≡  4</a:t>
            </a:r>
            <a:r>
              <a:rPr lang="en-IN" sz="2000" baseline="30000" dirty="0"/>
              <a:t>-1</a:t>
            </a:r>
            <a:r>
              <a:rPr lang="en-IN" sz="2000" dirty="0"/>
              <a:t> x 5 (mod 9)</a:t>
            </a:r>
          </a:p>
          <a:p>
            <a:pPr>
              <a:defRPr/>
            </a:pPr>
            <a:r>
              <a:rPr lang="en-IN" sz="2000" dirty="0"/>
              <a:t>    X ≡  4</a:t>
            </a:r>
            <a:r>
              <a:rPr lang="en-IN" sz="2000" baseline="30000" dirty="0"/>
              <a:t>-1</a:t>
            </a:r>
            <a:r>
              <a:rPr lang="en-IN" sz="2000" dirty="0"/>
              <a:t> (mod 9) x 5 (mod 9) </a:t>
            </a:r>
            <a:endParaRPr lang="en-IN" sz="2000" dirty="0" smtClean="0"/>
          </a:p>
          <a:p>
            <a:pPr>
              <a:defRPr/>
            </a:pPr>
            <a:r>
              <a:rPr lang="en-IN" sz="2000" dirty="0"/>
              <a:t> </a:t>
            </a:r>
            <a:r>
              <a:rPr lang="en-IN" sz="2000" dirty="0" smtClean="0"/>
              <a:t>   X </a:t>
            </a:r>
            <a:r>
              <a:rPr lang="en-IN" sz="2000" dirty="0"/>
              <a:t>≡  7 x 5 (mod 9</a:t>
            </a:r>
            <a:r>
              <a:rPr lang="en-IN" sz="2000" dirty="0" smtClean="0"/>
              <a:t>)      //</a:t>
            </a:r>
            <a:r>
              <a:rPr lang="en-IN" sz="2000" dirty="0"/>
              <a:t>Since (4 x 7) % 9 = 1</a:t>
            </a:r>
          </a:p>
          <a:p>
            <a:pPr>
              <a:defRPr/>
            </a:pPr>
            <a:r>
              <a:rPr lang="en-IN" sz="2000" dirty="0" smtClean="0"/>
              <a:t>    </a:t>
            </a:r>
            <a:r>
              <a:rPr lang="en-IN" sz="2000" dirty="0"/>
              <a:t>X ≡  35 (mod 9)</a:t>
            </a:r>
          </a:p>
          <a:p>
            <a:pPr>
              <a:defRPr/>
            </a:pPr>
            <a:r>
              <a:rPr lang="en-IN" sz="2000" dirty="0"/>
              <a:t> Since 35 % 9 = 8</a:t>
            </a:r>
          </a:p>
          <a:p>
            <a:pPr>
              <a:defRPr/>
            </a:pPr>
            <a:r>
              <a:rPr lang="en-IN" sz="2000" b="1" dirty="0">
                <a:solidFill>
                  <a:srgbClr val="0070C0"/>
                </a:solidFill>
              </a:rPr>
              <a:t>    </a:t>
            </a:r>
          </a:p>
          <a:p>
            <a:pPr>
              <a:defRPr/>
            </a:pPr>
            <a:r>
              <a:rPr lang="en-IN" sz="2000" b="1" dirty="0">
                <a:solidFill>
                  <a:srgbClr val="0070C0"/>
                </a:solidFill>
              </a:rPr>
              <a:t>     X ≡  8 (mod 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7851" y="3459984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IN" sz="2000" dirty="0" smtClean="0"/>
              <a:t>    2X </a:t>
            </a:r>
            <a:r>
              <a:rPr lang="en-IN" sz="2000" dirty="0"/>
              <a:t>≡  6 (mod 20)</a:t>
            </a:r>
          </a:p>
          <a:p>
            <a:pPr lvl="0">
              <a:defRPr/>
            </a:pPr>
            <a:r>
              <a:rPr lang="en-IN" sz="2000" dirty="0"/>
              <a:t>    2X ≡  2 x 3 (mod 20)</a:t>
            </a:r>
          </a:p>
          <a:p>
            <a:pPr lvl="0">
              <a:defRPr/>
            </a:pPr>
            <a:r>
              <a:rPr lang="en-IN" sz="2000" b="1" dirty="0">
                <a:solidFill>
                  <a:srgbClr val="0070C0"/>
                </a:solidFill>
              </a:rPr>
              <a:t>         </a:t>
            </a:r>
          </a:p>
          <a:p>
            <a:pPr lvl="0">
              <a:defRPr/>
            </a:pPr>
            <a:r>
              <a:rPr lang="en-IN" sz="2000" b="1" dirty="0">
                <a:solidFill>
                  <a:srgbClr val="0070C0"/>
                </a:solidFill>
              </a:rPr>
              <a:t>        X ≡  3 (mod 20)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796136" y="3263841"/>
            <a:ext cx="0" cy="2862322"/>
          </a:xfrm>
          <a:prstGeom prst="line">
            <a:avLst/>
          </a:prstGeom>
          <a:ln w="41275" cmpd="thinThick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– 2</a:t>
            </a:r>
            <a:br>
              <a:rPr lang="en-IN" dirty="0" smtClean="0"/>
            </a:br>
            <a:r>
              <a:rPr lang="en-IN" dirty="0" smtClean="0"/>
              <a:t>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Step 2:</a:t>
            </a:r>
          </a:p>
          <a:p>
            <a:pPr marL="342900" lvl="1" indent="-342900">
              <a:buNone/>
            </a:pPr>
            <a:r>
              <a:rPr lang="pt-BR" sz="3200" dirty="0" smtClean="0"/>
              <a:t>    X = (a</a:t>
            </a:r>
            <a:r>
              <a:rPr lang="pt-BR" sz="3200" baseline="-25000" dirty="0" smtClean="0"/>
              <a:t>1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1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1</a:t>
            </a:r>
            <a:r>
              <a:rPr lang="pt-BR" sz="3200" baseline="30000" dirty="0" smtClean="0"/>
              <a:t>-1</a:t>
            </a:r>
            <a:r>
              <a:rPr lang="pt-BR" sz="3200" dirty="0" smtClean="0"/>
              <a:t> + a</a:t>
            </a:r>
            <a:r>
              <a:rPr lang="pt-BR" sz="3200" baseline="-25000" dirty="0" smtClean="0"/>
              <a:t>2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2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2</a:t>
            </a:r>
            <a:r>
              <a:rPr lang="pt-BR" sz="3200" baseline="30000" dirty="0" smtClean="0"/>
              <a:t>-1</a:t>
            </a:r>
            <a:r>
              <a:rPr lang="pt-BR" sz="3200" dirty="0" smtClean="0"/>
              <a:t> )mod M</a:t>
            </a:r>
          </a:p>
          <a:p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		</a:t>
            </a:r>
            <a:endParaRPr lang="en-IN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643182"/>
            <a:ext cx="75152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– 2</a:t>
            </a:r>
            <a:br>
              <a:rPr lang="en-IN" dirty="0" smtClean="0"/>
            </a:br>
            <a:r>
              <a:rPr lang="en-IN" dirty="0" smtClean="0"/>
              <a:t>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 smtClean="0"/>
              <a:t>   </a:t>
            </a:r>
            <a:r>
              <a:rPr lang="en-IN" sz="3200" dirty="0" smtClean="0"/>
              <a:t> M = m</a:t>
            </a:r>
            <a:r>
              <a:rPr lang="en-IN" sz="3200" baseline="-25000" dirty="0" smtClean="0"/>
              <a:t>1 </a:t>
            </a:r>
            <a:r>
              <a:rPr lang="en-IN" sz="3200" dirty="0" smtClean="0"/>
              <a:t>x m</a:t>
            </a:r>
            <a:r>
              <a:rPr lang="en-IN" sz="3200" baseline="-25000" dirty="0" smtClean="0"/>
              <a:t>2</a:t>
            </a:r>
            <a:r>
              <a:rPr lang="en-IN" sz="3200" dirty="0" smtClean="0"/>
              <a:t> </a:t>
            </a:r>
          </a:p>
          <a:p>
            <a:pPr marL="342900" lvl="1" indent="-342900">
              <a:buNone/>
            </a:pPr>
            <a:r>
              <a:rPr lang="en-IN" sz="3200" dirty="0" smtClean="0"/>
              <a:t>         =</a:t>
            </a:r>
            <a:r>
              <a:rPr lang="pt-BR" sz="3200" dirty="0" smtClean="0"/>
              <a:t> 9 x 20 = 180</a:t>
            </a:r>
          </a:p>
          <a:p>
            <a:pPr marL="342900" lvl="1" indent="-342900">
              <a:buNone/>
            </a:pPr>
            <a:endParaRPr lang="pt-BR" sz="3200" dirty="0" smtClean="0"/>
          </a:p>
          <a:p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		</a:t>
            </a:r>
            <a:endParaRPr lang="en-IN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357562"/>
            <a:ext cx="754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– 2</a:t>
            </a:r>
            <a:br>
              <a:rPr lang="en-IN" dirty="0" smtClean="0"/>
            </a:br>
            <a:r>
              <a:rPr lang="en-IN" dirty="0" smtClean="0"/>
              <a:t>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 smtClean="0"/>
              <a:t>   </a:t>
            </a:r>
            <a:r>
              <a:rPr lang="en-IN" sz="3200" dirty="0" smtClean="0"/>
              <a:t> </a:t>
            </a:r>
            <a:r>
              <a:rPr lang="en-IN" sz="2000" dirty="0" smtClean="0"/>
              <a:t>		</a:t>
            </a:r>
            <a:endParaRPr lang="en-IN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643050"/>
            <a:ext cx="32004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143380"/>
            <a:ext cx="75247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– 2</a:t>
            </a:r>
            <a:br>
              <a:rPr lang="en-IN" dirty="0" smtClean="0"/>
            </a:br>
            <a:r>
              <a:rPr lang="en-IN" dirty="0" smtClean="0"/>
              <a:t>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>
                <a:solidFill>
                  <a:srgbClr val="FF0000"/>
                </a:solidFill>
              </a:rPr>
              <a:t>Step 4:</a:t>
            </a:r>
          </a:p>
          <a:p>
            <a:pPr marL="342900" lvl="1" indent="-342900">
              <a:buNone/>
            </a:pPr>
            <a:r>
              <a:rPr lang="pt-BR" sz="3200" dirty="0" smtClean="0"/>
              <a:t>   </a:t>
            </a:r>
            <a:r>
              <a:rPr lang="en-IN" sz="3200" dirty="0" smtClean="0"/>
              <a:t> </a:t>
            </a:r>
            <a:r>
              <a:rPr lang="en-IN" sz="2000" dirty="0" smtClean="0"/>
              <a:t>		</a:t>
            </a:r>
            <a:endParaRPr lang="en-IN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736"/>
            <a:ext cx="55245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929066"/>
            <a:ext cx="74676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- 2 </a:t>
            </a:r>
            <a:br>
              <a:rPr lang="en-IN" dirty="0" smtClean="0"/>
            </a:br>
            <a:r>
              <a:rPr lang="en-IN" dirty="0" smtClean="0"/>
              <a:t>   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 smtClean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 smtClean="0"/>
              <a:t>X = (a</a:t>
            </a:r>
            <a:r>
              <a:rPr lang="pt-BR" sz="3200" baseline="-25000" dirty="0" smtClean="0"/>
              <a:t>1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1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1</a:t>
            </a:r>
            <a:r>
              <a:rPr lang="pt-BR" sz="3200" baseline="30000" dirty="0" smtClean="0"/>
              <a:t>-1</a:t>
            </a:r>
            <a:r>
              <a:rPr lang="pt-BR" sz="3200" dirty="0" smtClean="0"/>
              <a:t> + a</a:t>
            </a:r>
            <a:r>
              <a:rPr lang="pt-BR" sz="3200" baseline="-25000" dirty="0" smtClean="0"/>
              <a:t>2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2</a:t>
            </a:r>
            <a:r>
              <a:rPr lang="pt-BR" sz="3200" dirty="0" smtClean="0"/>
              <a:t>M</a:t>
            </a:r>
            <a:r>
              <a:rPr lang="pt-BR" sz="3200" baseline="-25000" dirty="0" smtClean="0"/>
              <a:t>2</a:t>
            </a:r>
            <a:r>
              <a:rPr lang="pt-BR" sz="3200" baseline="30000" dirty="0" smtClean="0"/>
              <a:t>-1</a:t>
            </a:r>
            <a:r>
              <a:rPr lang="pt-BR" sz="3200" dirty="0" smtClean="0"/>
              <a:t> )mod M</a:t>
            </a:r>
          </a:p>
          <a:p>
            <a:pPr marL="457200" lvl="1" indent="0">
              <a:buNone/>
            </a:pPr>
            <a:r>
              <a:rPr lang="pt-BR" sz="3200" dirty="0" smtClean="0"/>
              <a:t>   =  (8x20x5    + 3x9x9) mod 180</a:t>
            </a:r>
          </a:p>
          <a:p>
            <a:pPr marL="457200" lvl="1" indent="0">
              <a:buNone/>
            </a:pPr>
            <a:r>
              <a:rPr lang="pt-BR" sz="3200" dirty="0" smtClean="0"/>
              <a:t>   =  (800 + 243) mod 180</a:t>
            </a:r>
          </a:p>
          <a:p>
            <a:pPr marL="457200" lvl="1" indent="0">
              <a:buNone/>
            </a:pPr>
            <a:r>
              <a:rPr lang="pt-BR" sz="3200" dirty="0" smtClean="0"/>
              <a:t>   = 1043 mod 180 = 143</a:t>
            </a:r>
          </a:p>
          <a:p>
            <a:pPr marL="457200" lvl="1" indent="0">
              <a:buNone/>
            </a:pPr>
            <a:endParaRPr lang="pt-BR" sz="3200" dirty="0" smtClean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57158" y="4429132"/>
            <a:ext cx="8300502" cy="1569660"/>
            <a:chOff x="357158" y="4429132"/>
            <a:chExt cx="8300502" cy="1569660"/>
          </a:xfrm>
        </p:grpSpPr>
        <p:sp>
          <p:nvSpPr>
            <p:cNvPr id="4" name="TextBox 3"/>
            <p:cNvSpPr txBox="1"/>
            <p:nvPr/>
          </p:nvSpPr>
          <p:spPr>
            <a:xfrm>
              <a:off x="357158" y="4429132"/>
              <a:ext cx="830050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smtClean="0"/>
                <a:t>Note: </a:t>
              </a:r>
              <a:r>
                <a:rPr lang="en-IN" sz="2400" dirty="0" smtClean="0"/>
                <a:t>Finally verify the value of X = 143 in the given equation </a:t>
              </a:r>
              <a:r>
                <a:rPr lang="en-IN" sz="2400" dirty="0" err="1" smtClean="0"/>
                <a:t>i.e</a:t>
              </a:r>
              <a:r>
                <a:rPr lang="en-IN" sz="2400" dirty="0" smtClean="0"/>
                <a:t>;</a:t>
              </a:r>
            </a:p>
            <a:p>
              <a:r>
                <a:rPr lang="en-IN" sz="2400" dirty="0" smtClean="0"/>
                <a:t>    X ≡  8 (mod 9) </a:t>
              </a:r>
              <a:r>
                <a:rPr lang="en-IN" sz="2400" dirty="0" smtClean="0">
                  <a:sym typeface="Wingdings" pitchFamily="2" charset="2"/>
                </a:rPr>
                <a:t></a:t>
              </a:r>
              <a:r>
                <a:rPr lang="en-IN" sz="2400" dirty="0" smtClean="0"/>
                <a:t> 143 ≡  8 (mod 9) </a:t>
              </a:r>
              <a:r>
                <a:rPr lang="en-IN" sz="2400" dirty="0" err="1" smtClean="0"/>
                <a:t>i.e</a:t>
              </a:r>
              <a:r>
                <a:rPr lang="en-IN" sz="2400" dirty="0" smtClean="0"/>
                <a:t> 143%9 = 8 </a:t>
              </a:r>
            </a:p>
            <a:p>
              <a:r>
                <a:rPr lang="en-IN" sz="2400" dirty="0" smtClean="0"/>
                <a:t>    X ≡  3 (mod 20) </a:t>
              </a:r>
              <a:r>
                <a:rPr lang="en-IN" sz="2400" dirty="0" smtClean="0">
                  <a:sym typeface="Wingdings" pitchFamily="2" charset="2"/>
                </a:rPr>
                <a:t></a:t>
              </a:r>
              <a:r>
                <a:rPr lang="en-IN" sz="2400" dirty="0" smtClean="0"/>
                <a:t> 143 ≡  3 (mod 20) </a:t>
              </a:r>
              <a:r>
                <a:rPr lang="en-IN" sz="2400" dirty="0" err="1" smtClean="0"/>
                <a:t>i.e</a:t>
              </a:r>
              <a:r>
                <a:rPr lang="en-IN" sz="2400" dirty="0" smtClean="0"/>
                <a:t> 143%20 = 3</a:t>
              </a:r>
            </a:p>
            <a:p>
              <a:r>
                <a:rPr lang="en-IN" sz="2400" dirty="0" smtClean="0"/>
                <a:t>    </a:t>
              </a:r>
              <a:endParaRPr lang="en-IN" sz="2400" dirty="0"/>
            </a:p>
          </p:txBody>
        </p:sp>
        <p:sp>
          <p:nvSpPr>
            <p:cNvPr id="5" name="Right Brace 4"/>
            <p:cNvSpPr/>
            <p:nvPr/>
          </p:nvSpPr>
          <p:spPr>
            <a:xfrm>
              <a:off x="7072330" y="4857760"/>
              <a:ext cx="142876" cy="71438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286644" y="4929198"/>
              <a:ext cx="11851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b="1" dirty="0" smtClean="0"/>
                <a:t>Verified</a:t>
              </a:r>
              <a:endParaRPr lang="en-IN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C324DB-08ED-16EF-54E0-193CBEC6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7030A0"/>
                </a:solidFill>
              </a:rPr>
              <a:t>Exercise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1DE730-0E10-5F1C-EAAC-74797BDC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smtClean="0"/>
              <a:t>1. Find the value of X using CRT. </a:t>
            </a:r>
          </a:p>
          <a:p>
            <a:pPr marL="0" indent="0">
              <a:buNone/>
            </a:pPr>
            <a:r>
              <a:rPr lang="en-IN" sz="2000" dirty="0" smtClean="0"/>
              <a:t>                 X </a:t>
            </a:r>
            <a:r>
              <a:rPr lang="en-IN" sz="2000" dirty="0"/>
              <a:t>≡  2</a:t>
            </a:r>
            <a:r>
              <a:rPr lang="en-IN" sz="2000" baseline="-25000" dirty="0"/>
              <a:t> </a:t>
            </a:r>
            <a:r>
              <a:rPr lang="en-IN" sz="2000" dirty="0"/>
              <a:t>(mod </a:t>
            </a:r>
            <a:r>
              <a:rPr lang="en-IN" sz="2000" dirty="0" smtClean="0"/>
              <a:t>3)</a:t>
            </a:r>
          </a:p>
          <a:p>
            <a:pPr marL="0" indent="0">
              <a:buNone/>
            </a:pPr>
            <a:r>
              <a:rPr lang="en-IN" sz="2000" dirty="0" smtClean="0"/>
              <a:t>                 X </a:t>
            </a:r>
            <a:r>
              <a:rPr lang="en-IN" sz="2000" dirty="0"/>
              <a:t>≡  3</a:t>
            </a:r>
            <a:r>
              <a:rPr lang="en-IN" sz="2000" baseline="-25000" dirty="0"/>
              <a:t> </a:t>
            </a:r>
            <a:r>
              <a:rPr lang="en-IN" sz="2000" dirty="0"/>
              <a:t>(mod 4)</a:t>
            </a:r>
            <a:endParaRPr lang="en-US" sz="2000" dirty="0"/>
          </a:p>
          <a:p>
            <a:pPr marL="0" indent="0">
              <a:buNone/>
            </a:pPr>
            <a:r>
              <a:rPr lang="en-IN" sz="2000" dirty="0"/>
              <a:t>   </a:t>
            </a:r>
            <a:r>
              <a:rPr lang="en-IN" sz="2000" dirty="0" smtClean="0"/>
              <a:t>              X </a:t>
            </a:r>
            <a:r>
              <a:rPr lang="en-IN" sz="2000" dirty="0"/>
              <a:t>≡  1 (mod 5</a:t>
            </a:r>
            <a:r>
              <a:rPr lang="en-IN" sz="2000" dirty="0" smtClean="0"/>
              <a:t>) </a:t>
            </a:r>
          </a:p>
          <a:p>
            <a:pPr marL="0" indent="0">
              <a:buNone/>
            </a:pPr>
            <a:r>
              <a:rPr lang="en-IN" sz="2000" dirty="0" smtClean="0"/>
              <a:t>2. Find the value of X using CRT. </a:t>
            </a:r>
          </a:p>
          <a:p>
            <a:pPr marL="0" indent="0">
              <a:buNone/>
            </a:pPr>
            <a:r>
              <a:rPr lang="en-IN" sz="2000" dirty="0" smtClean="0"/>
              <a:t>                X ≡  3</a:t>
            </a:r>
            <a:r>
              <a:rPr lang="en-IN" sz="2000" baseline="-25000" dirty="0" smtClean="0"/>
              <a:t> </a:t>
            </a:r>
            <a:r>
              <a:rPr lang="en-IN" sz="2000" dirty="0" smtClean="0"/>
              <a:t>(mod 5) </a:t>
            </a:r>
          </a:p>
          <a:p>
            <a:pPr marL="0" indent="0">
              <a:buNone/>
            </a:pPr>
            <a:r>
              <a:rPr lang="en-IN" sz="2000" dirty="0" smtClean="0"/>
              <a:t>                X ≡  1</a:t>
            </a:r>
            <a:r>
              <a:rPr lang="en-IN" sz="2000" baseline="-25000" dirty="0" smtClean="0"/>
              <a:t> </a:t>
            </a:r>
            <a:r>
              <a:rPr lang="en-IN" sz="2000" dirty="0" smtClean="0"/>
              <a:t>(mod 7)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</a:t>
            </a:r>
            <a:r>
              <a:rPr lang="en-IN" sz="2000" dirty="0" smtClean="0"/>
              <a:t>X ≡  6 (mod 8)</a:t>
            </a:r>
          </a:p>
          <a:p>
            <a:pPr marL="0" indent="0">
              <a:buNone/>
            </a:pPr>
            <a:r>
              <a:rPr lang="en-IN" sz="2000" dirty="0" smtClean="0"/>
              <a:t>3. Find the value of X using CRT. </a:t>
            </a:r>
          </a:p>
          <a:p>
            <a:pPr marL="0" indent="0">
              <a:buNone/>
            </a:pPr>
            <a:r>
              <a:rPr lang="en-IN" sz="2000" dirty="0" smtClean="0"/>
              <a:t>                X ≡  5</a:t>
            </a:r>
            <a:r>
              <a:rPr lang="en-IN" sz="2000" baseline="-25000" dirty="0" smtClean="0"/>
              <a:t> </a:t>
            </a:r>
            <a:r>
              <a:rPr lang="en-IN" sz="2000" dirty="0" smtClean="0"/>
              <a:t>(mod 3) </a:t>
            </a:r>
          </a:p>
          <a:p>
            <a:pPr marL="0" indent="0">
              <a:buNone/>
            </a:pPr>
            <a:r>
              <a:rPr lang="en-IN" sz="2000" dirty="0" smtClean="0"/>
              <a:t>                X ≡  2</a:t>
            </a:r>
            <a:r>
              <a:rPr lang="en-IN" sz="2000" baseline="-25000" dirty="0" smtClean="0"/>
              <a:t> </a:t>
            </a:r>
            <a:r>
              <a:rPr lang="en-IN" sz="2000" dirty="0" smtClean="0"/>
              <a:t>(mod 5)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</a:t>
            </a:r>
            <a:r>
              <a:rPr lang="en-IN" sz="2000" dirty="0" smtClean="0"/>
              <a:t>X ≡  1 (mod 11)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719390B-FBB5-0ADD-CD83-7FCCE224FD87}"/>
              </a:ext>
            </a:extLst>
          </p:cNvPr>
          <p:cNvSpPr/>
          <p:nvPr/>
        </p:nvSpPr>
        <p:spPr>
          <a:xfrm>
            <a:off x="3352799" y="3480879"/>
            <a:ext cx="4059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39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729</Words>
  <Application>Microsoft Office PowerPoint</Application>
  <PresentationFormat>On-screen Show (4:3)</PresentationFormat>
  <Paragraphs>123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Chinese Remainder Theorem </vt:lpstr>
      <vt:lpstr>Chinese Remainder Theorem (CRT)</vt:lpstr>
      <vt:lpstr>Example - 1 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- 2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- 2                                                    (Contd…..)</vt:lpstr>
      <vt:lpstr>Exercise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189</cp:revision>
  <dcterms:created xsi:type="dcterms:W3CDTF">2020-07-24T08:44:05Z</dcterms:created>
  <dcterms:modified xsi:type="dcterms:W3CDTF">2025-01-17T09:55:58Z</dcterms:modified>
</cp:coreProperties>
</file>