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>
        <p:scale>
          <a:sx n="73" d="100"/>
          <a:sy n="73" d="100"/>
        </p:scale>
        <p:origin x="-18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C9F1-C478-46E1-B702-9205108A85E7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313D2-D269-4244-B301-9DA87E50B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236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C9F1-C478-46E1-B702-9205108A85E7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313D2-D269-4244-B301-9DA87E50B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518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C9F1-C478-46E1-B702-9205108A85E7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313D2-D269-4244-B301-9DA87E50B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054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C9F1-C478-46E1-B702-9205108A85E7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313D2-D269-4244-B301-9DA87E50B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216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C9F1-C478-46E1-B702-9205108A85E7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313D2-D269-4244-B301-9DA87E50B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270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C9F1-C478-46E1-B702-9205108A85E7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313D2-D269-4244-B301-9DA87E50B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710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C9F1-C478-46E1-B702-9205108A85E7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313D2-D269-4244-B301-9DA87E50B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91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C9F1-C478-46E1-B702-9205108A85E7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313D2-D269-4244-B301-9DA87E50B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14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C9F1-C478-46E1-B702-9205108A85E7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313D2-D269-4244-B301-9DA87E50B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522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C9F1-C478-46E1-B702-9205108A85E7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313D2-D269-4244-B301-9DA87E50B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365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C9F1-C478-46E1-B702-9205108A85E7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313D2-D269-4244-B301-9DA87E50B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394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FC9F1-C478-46E1-B702-9205108A85E7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313D2-D269-4244-B301-9DA87E50B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826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u="sng" dirty="0" smtClean="0"/>
              <a:t>Miller- Rabin Test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207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5765" y="1"/>
            <a:ext cx="10515600" cy="1214846"/>
          </a:xfrm>
        </p:spPr>
        <p:txBody>
          <a:bodyPr>
            <a:normAutofit fontScale="90000"/>
          </a:bodyPr>
          <a:lstStyle/>
          <a:p>
            <a:r>
              <a:rPr lang="en-IN" b="1" u="sng" dirty="0" smtClean="0"/>
              <a:t>Miller- Rabin </a:t>
            </a:r>
            <a:r>
              <a:rPr lang="en-IN" b="1" u="sng" dirty="0" smtClean="0"/>
              <a:t>T</a:t>
            </a:r>
            <a:r>
              <a:rPr lang="en-IN" b="1" u="sng" dirty="0" smtClean="0"/>
              <a:t>est</a:t>
            </a: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435" y="780596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 smtClean="0"/>
              <a:t>To find  </a:t>
            </a:r>
            <a:r>
              <a:rPr lang="en-IN" sz="2400" dirty="0"/>
              <a:t>Probabilistic Primality Test</a:t>
            </a:r>
          </a:p>
          <a:p>
            <a:pPr marL="0" indent="0">
              <a:buNone/>
            </a:pPr>
            <a:r>
              <a:rPr lang="en-IN" sz="2400" b="1" u="sng" dirty="0"/>
              <a:t>Algorithm: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Step 1: Perform n-1= m * 2</a:t>
            </a:r>
            <a:r>
              <a:rPr lang="en-IN" sz="2400" baseline="30000" dirty="0"/>
              <a:t>k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      Choose ‘a’, S.T , 1 &lt; a &lt; n-1	 </a:t>
            </a:r>
          </a:p>
          <a:p>
            <a:pPr marL="0" indent="0">
              <a:buNone/>
            </a:pPr>
            <a:r>
              <a:rPr lang="en-IN" sz="2400" dirty="0"/>
              <a:t>Step 2: Compute T</a:t>
            </a:r>
            <a:r>
              <a:rPr lang="en-IN" sz="2400" baseline="-25000" dirty="0"/>
              <a:t>0</a:t>
            </a:r>
            <a:r>
              <a:rPr lang="en-IN" sz="2400" dirty="0"/>
              <a:t> = a</a:t>
            </a:r>
            <a:r>
              <a:rPr lang="en-IN" sz="2400" baseline="30000" dirty="0"/>
              <a:t>m</a:t>
            </a:r>
            <a:r>
              <a:rPr lang="en-IN" sz="2400" dirty="0"/>
              <a:t> mod n,,,…. </a:t>
            </a:r>
            <a:r>
              <a:rPr lang="en-IN" sz="2400" dirty="0" err="1"/>
              <a:t>T</a:t>
            </a:r>
            <a:r>
              <a:rPr lang="en-IN" sz="2400" baseline="-25000" dirty="0" err="1"/>
              <a:t>i</a:t>
            </a:r>
            <a:r>
              <a:rPr lang="en-IN" sz="2400" dirty="0"/>
              <a:t> = T</a:t>
            </a:r>
            <a:r>
              <a:rPr lang="en-IN" sz="2400" baseline="-25000" dirty="0"/>
              <a:t>i-1 </a:t>
            </a:r>
            <a:r>
              <a:rPr lang="en-IN" sz="2400" baseline="30000" dirty="0"/>
              <a:t>2</a:t>
            </a:r>
            <a:r>
              <a:rPr lang="en-IN" sz="2400" dirty="0"/>
              <a:t> (mod n)</a:t>
            </a:r>
          </a:p>
          <a:p>
            <a:pPr marL="0" indent="0">
              <a:buNone/>
            </a:pPr>
            <a:r>
              <a:rPr lang="en-IN" sz="2400" dirty="0"/>
              <a:t>                  If (T = +1), no. is composite</a:t>
            </a:r>
          </a:p>
          <a:p>
            <a:pPr marL="0" indent="0">
              <a:buNone/>
            </a:pPr>
            <a:r>
              <a:rPr lang="en-IN" sz="2400" dirty="0"/>
              <a:t>                  If (T = - 1), no. is Probably prime</a:t>
            </a:r>
          </a:p>
          <a:p>
            <a:pPr marL="0" indent="0">
              <a:buNone/>
            </a:pPr>
            <a:r>
              <a:rPr lang="en-IN" sz="2400" dirty="0"/>
              <a:t>--------------------------------------------------------------------------</a:t>
            </a:r>
          </a:p>
          <a:p>
            <a:pPr marL="0" indent="0">
              <a:buNone/>
            </a:pPr>
            <a:r>
              <a:rPr lang="en-IN" sz="2400" dirty="0"/>
              <a:t> if k&lt;=1,</a:t>
            </a:r>
          </a:p>
          <a:p>
            <a:pPr marL="0" indent="0">
              <a:buNone/>
            </a:pPr>
            <a:r>
              <a:rPr lang="en-IN" sz="2400" dirty="0"/>
              <a:t>                  Calculate T,  </a:t>
            </a:r>
            <a:r>
              <a:rPr lang="en-IN" sz="2400" dirty="0" err="1"/>
              <a:t>s,t</a:t>
            </a:r>
            <a:r>
              <a:rPr lang="en-IN" sz="2400" dirty="0"/>
              <a:t>    T=a</a:t>
            </a:r>
            <a:r>
              <a:rPr lang="en-IN" sz="2400" baseline="30000" dirty="0"/>
              <a:t>m</a:t>
            </a:r>
            <a:r>
              <a:rPr lang="en-IN" sz="2400" dirty="0"/>
              <a:t> mod n</a:t>
            </a:r>
          </a:p>
          <a:p>
            <a:pPr marL="0" indent="0">
              <a:buNone/>
            </a:pPr>
            <a:r>
              <a:rPr lang="en-IN" sz="2400" dirty="0"/>
              <a:t>                  If (T = ±1), no. is prime else composite</a:t>
            </a:r>
          </a:p>
          <a:p>
            <a:pPr marL="0" indent="0">
              <a:buNone/>
            </a:pPr>
            <a:r>
              <a:rPr lang="en-IN" sz="2400" b="1" u="sng" dirty="0"/>
              <a:t>-------------------------------------------------------------------------</a:t>
            </a: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34366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337" y="1"/>
            <a:ext cx="10515600" cy="914400"/>
          </a:xfrm>
        </p:spPr>
        <p:txBody>
          <a:bodyPr/>
          <a:lstStyle/>
          <a:p>
            <a:r>
              <a:rPr lang="en-IN" b="1" u="sng" dirty="0" smtClean="0"/>
              <a:t>Miller- Rabin Test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3378911"/>
              </p:ext>
            </p:extLst>
          </p:nvPr>
        </p:nvGraphicFramePr>
        <p:xfrm>
          <a:off x="1777105" y="4316918"/>
          <a:ext cx="3620032" cy="3913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10016"/>
                <a:gridCol w="1810016"/>
              </a:tblGrid>
              <a:tr h="34689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</a:rPr>
                        <a:t>  26/2</a:t>
                      </a:r>
                      <a:r>
                        <a:rPr lang="en-IN" sz="2400" baseline="30000" dirty="0">
                          <a:effectLst/>
                        </a:rPr>
                        <a:t>1</a:t>
                      </a:r>
                      <a:r>
                        <a:rPr lang="en-IN" sz="2400" dirty="0">
                          <a:effectLst/>
                        </a:rPr>
                        <a:t>=13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</a:rPr>
                        <a:t>26/2</a:t>
                      </a:r>
                      <a:r>
                        <a:rPr lang="en-IN" sz="2400" baseline="30000" dirty="0">
                          <a:effectLst/>
                        </a:rPr>
                        <a:t>2</a:t>
                      </a:r>
                      <a:r>
                        <a:rPr lang="en-IN" sz="2400" dirty="0">
                          <a:effectLst/>
                        </a:rPr>
                        <a:t>=6.5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5131" y="1582674"/>
            <a:ext cx="7484228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Example-1: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n=27 , a=2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Find if n=27 is prime or not?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Step 1:  n-1=m * 2</a:t>
            </a:r>
            <a:r>
              <a:rPr kumimoji="0" lang="en-US" altLang="en-US" sz="2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k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           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26= _____ * 2</a:t>
            </a:r>
            <a:r>
              <a:rPr kumimoji="0" lang="en-US" altLang="en-US" sz="2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__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(keep dividing until u get whole number)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  k=1 and m=13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 26= 13* 2</a:t>
            </a:r>
            <a:r>
              <a:rPr kumimoji="0" lang="en-US" altLang="en-US" sz="2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1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  m=13 and k=1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51653" y="445089"/>
            <a:ext cx="6096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Step 2:  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T</a:t>
            </a:r>
            <a:r>
              <a:rPr kumimoji="0" lang="en-US" altLang="en-US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0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=2</a:t>
            </a:r>
            <a:r>
              <a:rPr kumimoji="0" lang="en-US" altLang="en-US" sz="2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13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mod 27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=(2</a:t>
            </a:r>
            <a:r>
              <a:rPr kumimoji="0" lang="en-US" altLang="en-US" sz="2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5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* 2</a:t>
            </a:r>
            <a:r>
              <a:rPr kumimoji="0" lang="en-US" altLang="en-US" sz="2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5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* 2</a:t>
            </a:r>
            <a:r>
              <a:rPr kumimoji="0" lang="en-US" altLang="en-US" sz="2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3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)/mod 27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=5 * 5 *8 (mod 27)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 =200 mod 27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  =11( 11 is neither 1 or -1 , hence it is composite)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247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337" y="1"/>
            <a:ext cx="10515600" cy="914400"/>
          </a:xfrm>
        </p:spPr>
        <p:txBody>
          <a:bodyPr/>
          <a:lstStyle/>
          <a:p>
            <a:r>
              <a:rPr lang="en-IN" b="1" u="sng" dirty="0" smtClean="0"/>
              <a:t>Miller- Rabin Test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5689382" y="457201"/>
            <a:ext cx="6480381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Step 2:  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T</a:t>
            </a:r>
            <a:r>
              <a:rPr kumimoji="0" lang="en-US" altLang="en-US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0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=2</a:t>
            </a:r>
            <a:r>
              <a:rPr kumimoji="0" lang="en-US" altLang="en-US" sz="2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15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mod 61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=(2</a:t>
            </a:r>
            <a:r>
              <a:rPr kumimoji="0" lang="en-US" altLang="en-US" sz="2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6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* 2</a:t>
            </a:r>
            <a:r>
              <a:rPr kumimoji="0" lang="en-US" altLang="en-US" sz="2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6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* 2</a:t>
            </a:r>
            <a:r>
              <a:rPr kumimoji="0" lang="en-US" altLang="en-US" sz="2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3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)/mod 61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=3 * 3 *8 (mod 27 )  ///(64-61=3)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 =72 mod 61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 T</a:t>
            </a:r>
            <a:r>
              <a:rPr kumimoji="0" lang="en-US" altLang="en-US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0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=11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Next Iteration: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T</a:t>
            </a:r>
            <a:r>
              <a:rPr kumimoji="0" lang="en-US" altLang="en-US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1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=11</a:t>
            </a:r>
            <a:r>
              <a:rPr kumimoji="0" lang="en-US" altLang="en-US" sz="2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2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mod 61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=121 mod 61  = 60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=60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 = -1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Since T</a:t>
            </a:r>
            <a:r>
              <a:rPr kumimoji="0" lang="en-US" altLang="en-US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1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= -1 , The number 61 is prime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476636"/>
              </p:ext>
            </p:extLst>
          </p:nvPr>
        </p:nvGraphicFramePr>
        <p:xfrm>
          <a:off x="1654163" y="3803044"/>
          <a:ext cx="4551453" cy="3913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25373"/>
                <a:gridCol w="1502229"/>
                <a:gridCol w="1423851"/>
              </a:tblGrid>
              <a:tr h="1555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</a:rPr>
                        <a:t>  60/2</a:t>
                      </a:r>
                      <a:r>
                        <a:rPr lang="en-IN" sz="2400" baseline="30000" dirty="0">
                          <a:effectLst/>
                        </a:rPr>
                        <a:t>1</a:t>
                      </a:r>
                      <a:r>
                        <a:rPr lang="en-IN" sz="2400" dirty="0">
                          <a:effectLst/>
                        </a:rPr>
                        <a:t>=30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</a:rPr>
                        <a:t>60/2</a:t>
                      </a:r>
                      <a:r>
                        <a:rPr lang="en-IN" sz="2400" baseline="30000" dirty="0">
                          <a:effectLst/>
                        </a:rPr>
                        <a:t>2</a:t>
                      </a:r>
                      <a:r>
                        <a:rPr lang="en-IN" sz="2400" dirty="0">
                          <a:effectLst/>
                        </a:rPr>
                        <a:t>=15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</a:rPr>
                        <a:t>60/2</a:t>
                      </a:r>
                      <a:r>
                        <a:rPr lang="en-IN" sz="2400" baseline="30000" dirty="0">
                          <a:effectLst/>
                        </a:rPr>
                        <a:t>3</a:t>
                      </a:r>
                      <a:r>
                        <a:rPr lang="en-IN" sz="2400" dirty="0">
                          <a:effectLst/>
                        </a:rPr>
                        <a:t>=7.5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39337" y="1110632"/>
            <a:ext cx="5550045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Example-2: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n=61 , a=2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Find if n=61 is prime or not?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Step 1:  n-1=m * 2</a:t>
            </a:r>
            <a:r>
              <a:rPr kumimoji="0" lang="en-US" altLang="en-US" sz="2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k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           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60= _____ * 2</a:t>
            </a:r>
            <a:r>
              <a:rPr kumimoji="0" lang="en-US" altLang="en-US" sz="2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__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(keep dividing until u get whole number)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k=2 and m=15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 26= 13* 2</a:t>
            </a:r>
            <a:r>
              <a:rPr kumimoji="0" lang="en-US" altLang="en-US" sz="2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2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  m=15 and k=2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161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9457" y="0"/>
            <a:ext cx="10515600" cy="561703"/>
          </a:xfrm>
        </p:spPr>
        <p:txBody>
          <a:bodyPr>
            <a:normAutofit fontScale="90000"/>
          </a:bodyPr>
          <a:lstStyle/>
          <a:p>
            <a:r>
              <a:rPr lang="en-IN" b="1" u="sng" dirty="0" smtClean="0"/>
              <a:t>Miller- Rabin Test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2485888"/>
              </p:ext>
            </p:extLst>
          </p:nvPr>
        </p:nvGraphicFramePr>
        <p:xfrm>
          <a:off x="949596" y="3448594"/>
          <a:ext cx="8364220" cy="4553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4610"/>
                <a:gridCol w="1725538"/>
                <a:gridCol w="1702345"/>
                <a:gridCol w="1702345"/>
                <a:gridCol w="1509382"/>
              </a:tblGrid>
              <a:tr h="4553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</a:rPr>
                        <a:t>  560/2</a:t>
                      </a:r>
                      <a:r>
                        <a:rPr lang="en-IN" sz="2000" baseline="30000" dirty="0">
                          <a:effectLst/>
                        </a:rPr>
                        <a:t>1</a:t>
                      </a:r>
                      <a:r>
                        <a:rPr lang="en-IN" sz="2000" dirty="0">
                          <a:effectLst/>
                        </a:rPr>
                        <a:t>=280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</a:rPr>
                        <a:t>560/2</a:t>
                      </a:r>
                      <a:r>
                        <a:rPr lang="en-IN" sz="2000" baseline="30000">
                          <a:effectLst/>
                        </a:rPr>
                        <a:t>2</a:t>
                      </a:r>
                      <a:r>
                        <a:rPr lang="en-IN" sz="2000">
                          <a:effectLst/>
                        </a:rPr>
                        <a:t>=140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</a:rPr>
                        <a:t>560/2</a:t>
                      </a:r>
                      <a:r>
                        <a:rPr lang="en-IN" sz="2000" baseline="30000">
                          <a:effectLst/>
                        </a:rPr>
                        <a:t>3</a:t>
                      </a:r>
                      <a:r>
                        <a:rPr lang="en-IN" sz="2000">
                          <a:effectLst/>
                        </a:rPr>
                        <a:t>=70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</a:rPr>
                        <a:t>560/2</a:t>
                      </a:r>
                      <a:r>
                        <a:rPr lang="en-IN" sz="2000" baseline="30000" dirty="0">
                          <a:effectLst/>
                        </a:rPr>
                        <a:t>4</a:t>
                      </a:r>
                      <a:r>
                        <a:rPr lang="en-IN" sz="2000" dirty="0">
                          <a:effectLst/>
                        </a:rPr>
                        <a:t>=35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</a:rPr>
                        <a:t>560/2</a:t>
                      </a:r>
                      <a:r>
                        <a:rPr lang="en-IN" sz="2000" baseline="30000" dirty="0">
                          <a:effectLst/>
                        </a:rPr>
                        <a:t>5</a:t>
                      </a:r>
                      <a:r>
                        <a:rPr lang="en-IN" sz="2000" dirty="0">
                          <a:effectLst/>
                        </a:rPr>
                        <a:t>=17.5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561703"/>
            <a:ext cx="7647735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Example-3: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n=561 , a=2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Find if n=561 is prime or not?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Step 1:  n-1=m * 2</a:t>
            </a:r>
            <a:r>
              <a:rPr kumimoji="0" lang="en-US" altLang="en-US" sz="2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k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           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560= _____ * 2</a:t>
            </a:r>
            <a:r>
              <a:rPr kumimoji="0" lang="en-US" altLang="en-US" sz="2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__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 (keep dividing until u get whole number)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k=4 and m=35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 560= 35* 2</a:t>
            </a:r>
            <a:r>
              <a:rPr kumimoji="0" lang="en-US" altLang="en-US" sz="2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4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  m=35 and k=4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618514" y="78440"/>
            <a:ext cx="6096000" cy="674030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Step 2:   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Iteration0: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T</a:t>
            </a:r>
            <a:r>
              <a:rPr kumimoji="0" lang="en-US" altLang="en-US" sz="24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0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=2</a:t>
            </a:r>
            <a:r>
              <a:rPr kumimoji="0" lang="en-US" altLang="en-US" sz="24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35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mod 561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=(2</a:t>
            </a:r>
            <a:r>
              <a:rPr kumimoji="0" lang="en-US" altLang="en-US" sz="24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16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* 2</a:t>
            </a:r>
            <a:r>
              <a:rPr kumimoji="0" lang="en-US" altLang="en-US" sz="24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16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* 2</a:t>
            </a:r>
            <a:r>
              <a:rPr kumimoji="0" lang="en-US" altLang="en-US" sz="24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3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)/mod 561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 T</a:t>
            </a:r>
            <a:r>
              <a:rPr kumimoji="0" lang="en-US" altLang="en-US" sz="24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0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=263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Iteration1: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T</a:t>
            </a:r>
            <a:r>
              <a:rPr kumimoji="0" lang="en-US" altLang="en-US" sz="24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1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=263</a:t>
            </a:r>
            <a:r>
              <a:rPr kumimoji="0" lang="en-US" altLang="en-US" sz="24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2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mod 561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=121 mod 561  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=166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Iteration2: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T</a:t>
            </a:r>
            <a:r>
              <a:rPr kumimoji="0" lang="en-US" altLang="en-US" sz="24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2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=166</a:t>
            </a:r>
            <a:r>
              <a:rPr kumimoji="0" lang="en-US" altLang="en-US" sz="24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2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mod 561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   =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67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Iteration3: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T</a:t>
            </a:r>
            <a:r>
              <a:rPr kumimoji="0" lang="en-US" altLang="en-US" sz="24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3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=67</a:t>
            </a:r>
            <a:r>
              <a:rPr kumimoji="0" lang="en-US" altLang="en-US" sz="24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2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mod 561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              =1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Since T</a:t>
            </a:r>
            <a:r>
              <a:rPr kumimoji="0" lang="en-US" altLang="en-US" sz="24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3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= +1 , The number 561 is composite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530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Exercise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Try for n=7,27,13,53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4272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420</Words>
  <Application>Microsoft Office PowerPoint</Application>
  <PresentationFormat>Widescreen</PresentationFormat>
  <Paragraphs>99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Latha</vt:lpstr>
      <vt:lpstr>Office Theme</vt:lpstr>
      <vt:lpstr>Miller- Rabin Test</vt:lpstr>
      <vt:lpstr>Miller- Rabin Test </vt:lpstr>
      <vt:lpstr>Miller- Rabin Test</vt:lpstr>
      <vt:lpstr>Miller- Rabin Test</vt:lpstr>
      <vt:lpstr>Miller- Rabin Test</vt:lpstr>
      <vt:lpstr>Exercise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Miller- Rabin Test</dc:title>
  <dc:creator>Admin</dc:creator>
  <cp:lastModifiedBy>Admin</cp:lastModifiedBy>
  <cp:revision>5</cp:revision>
  <dcterms:created xsi:type="dcterms:W3CDTF">2025-01-25T08:12:50Z</dcterms:created>
  <dcterms:modified xsi:type="dcterms:W3CDTF">2025-01-25T09:11:49Z</dcterms:modified>
</cp:coreProperties>
</file>