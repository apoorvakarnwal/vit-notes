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359" r:id="rId2"/>
    <p:sldId id="329" r:id="rId3"/>
    <p:sldId id="378" r:id="rId4"/>
    <p:sldId id="330" r:id="rId5"/>
    <p:sldId id="349" r:id="rId6"/>
    <p:sldId id="347" r:id="rId7"/>
    <p:sldId id="360" r:id="rId8"/>
    <p:sldId id="356" r:id="rId9"/>
    <p:sldId id="348" r:id="rId10"/>
    <p:sldId id="351" r:id="rId11"/>
    <p:sldId id="352" r:id="rId12"/>
    <p:sldId id="364" r:id="rId13"/>
    <p:sldId id="363" r:id="rId14"/>
    <p:sldId id="362" r:id="rId15"/>
    <p:sldId id="361" r:id="rId16"/>
    <p:sldId id="355" r:id="rId17"/>
    <p:sldId id="353" r:id="rId18"/>
    <p:sldId id="354" r:id="rId19"/>
    <p:sldId id="357" r:id="rId20"/>
    <p:sldId id="379" r:id="rId21"/>
    <p:sldId id="383" r:id="rId22"/>
    <p:sldId id="370" r:id="rId23"/>
    <p:sldId id="371" r:id="rId24"/>
    <p:sldId id="372" r:id="rId25"/>
    <p:sldId id="373" r:id="rId26"/>
    <p:sldId id="374" r:id="rId27"/>
    <p:sldId id="375" r:id="rId28"/>
    <p:sldId id="376" r:id="rId29"/>
    <p:sldId id="377" r:id="rId30"/>
    <p:sldId id="381" r:id="rId31"/>
    <p:sldId id="382" r:id="rId32"/>
    <p:sldId id="367" r:id="rId33"/>
    <p:sldId id="380" r:id="rId34"/>
    <p:sldId id="368" r:id="rId35"/>
    <p:sldId id="369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434" autoAdjust="0"/>
  </p:normalViewPr>
  <p:slideViewPr>
    <p:cSldViewPr>
      <p:cViewPr varScale="1">
        <p:scale>
          <a:sx n="69" d="100"/>
          <a:sy n="69" d="100"/>
        </p:scale>
        <p:origin x="141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24B95B-ECA2-47E0-8A1E-AC9B91E69B29}" type="datetimeFigureOut">
              <a:rPr lang="en-IN" smtClean="0"/>
              <a:pPr/>
              <a:t>11-03-2025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C0EB85-1EFE-43DE-B793-4AB3572B279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930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If the document</a:t>
            </a:r>
            <a:r>
              <a:rPr lang="en-IN" baseline="0" dirty="0" smtClean="0"/>
              <a:t> is correct u get </a:t>
            </a:r>
            <a:r>
              <a:rPr lang="en-IN" dirty="0" smtClean="0"/>
              <a:t>Digitally signed by so and so…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C0EB85-1EFE-43DE-B793-4AB3572B2794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965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From whom this doc has come</a:t>
            </a:r>
          </a:p>
          <a:p>
            <a:r>
              <a:rPr lang="en-IN" dirty="0" smtClean="0"/>
              <a:t>There is no change in doc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C0EB85-1EFE-43DE-B793-4AB3572B2794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9179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To join in college a income certificate</a:t>
            </a:r>
          </a:p>
          <a:p>
            <a:r>
              <a:rPr lang="en-IN" dirty="0" smtClean="0"/>
              <a:t>Bob- Village officer </a:t>
            </a:r>
            <a:r>
              <a:rPr lang="en-IN" dirty="0" err="1" smtClean="0"/>
              <a:t>vao</a:t>
            </a:r>
            <a:endParaRPr lang="en-IN" dirty="0" smtClean="0"/>
          </a:p>
          <a:p>
            <a:r>
              <a:rPr lang="en-IN" dirty="0" smtClean="0"/>
              <a:t>Alice- student</a:t>
            </a:r>
          </a:p>
          <a:p>
            <a:r>
              <a:rPr lang="en-IN" dirty="0" smtClean="0"/>
              <a:t>Alice applied income certificate to join in college</a:t>
            </a:r>
          </a:p>
          <a:p>
            <a:r>
              <a:rPr lang="en-IN" dirty="0" smtClean="0"/>
              <a:t>In income certificate whatever the message is </a:t>
            </a:r>
            <a:r>
              <a:rPr lang="en-IN" dirty="0" err="1" smtClean="0"/>
              <a:t>is</a:t>
            </a:r>
            <a:r>
              <a:rPr lang="en-IN" dirty="0" smtClean="0"/>
              <a:t> the message</a:t>
            </a:r>
          </a:p>
          <a:p>
            <a:r>
              <a:rPr lang="en-IN" dirty="0" err="1" smtClean="0"/>
              <a:t>Aunthenticity</a:t>
            </a:r>
            <a:r>
              <a:rPr lang="en-IN" dirty="0" smtClean="0"/>
              <a:t>- from whom the message is coming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C0EB85-1EFE-43DE-B793-4AB3572B2794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6949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C0EB85-1EFE-43DE-B793-4AB3572B2794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1523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C0EB85-1EFE-43DE-B793-4AB3572B2794}" type="slidenum">
              <a:rPr lang="en-IN" smtClean="0"/>
              <a:pPr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3176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Share the Public key{</a:t>
            </a:r>
            <a:r>
              <a:rPr lang="en-IN" dirty="0" err="1" smtClean="0"/>
              <a:t>p,g,q</a:t>
            </a:r>
            <a:r>
              <a:rPr lang="en-IN" dirty="0" smtClean="0"/>
              <a:t>}</a:t>
            </a:r>
          </a:p>
          <a:p>
            <a:r>
              <a:rPr lang="en-IN" dirty="0" smtClean="0"/>
              <a:t>Share public </a:t>
            </a:r>
            <a:r>
              <a:rPr lang="en-IN" dirty="0" err="1" smtClean="0"/>
              <a:t>ke</a:t>
            </a:r>
            <a:r>
              <a:rPr lang="en-IN" dirty="0" smtClean="0"/>
              <a:t> y</a:t>
            </a:r>
          </a:p>
          <a:p>
            <a:r>
              <a:rPr lang="en-IN" dirty="0" smtClean="0"/>
              <a:t>Private</a:t>
            </a:r>
            <a:r>
              <a:rPr lang="en-IN" baseline="0" dirty="0" smtClean="0"/>
              <a:t> key is secret to users A</a:t>
            </a:r>
          </a:p>
          <a:p>
            <a:r>
              <a:rPr lang="en-IN" baseline="0" dirty="0" smtClean="0"/>
              <a:t>Sender A create digital Signature using {private </a:t>
            </a:r>
            <a:r>
              <a:rPr lang="en-IN" baseline="0" dirty="0" err="1" smtClean="0"/>
              <a:t>key+message</a:t>
            </a:r>
            <a:r>
              <a:rPr lang="en-IN" baseline="0" dirty="0" smtClean="0"/>
              <a:t> and message}</a:t>
            </a:r>
          </a:p>
          <a:p>
            <a:r>
              <a:rPr lang="en-IN" baseline="0" dirty="0" smtClean="0"/>
              <a:t>Receiver validates the </a:t>
            </a:r>
            <a:r>
              <a:rPr lang="en-IN" baseline="0" dirty="0" err="1" smtClean="0"/>
              <a:t>digitl</a:t>
            </a:r>
            <a:r>
              <a:rPr lang="en-IN" baseline="0" dirty="0" smtClean="0"/>
              <a:t> signature using public key</a:t>
            </a:r>
          </a:p>
          <a:p>
            <a:r>
              <a:rPr lang="en-IN" dirty="0" smtClean="0"/>
              <a:t>Then message is from Authenticated source and </a:t>
            </a:r>
            <a:r>
              <a:rPr lang="en-IN" dirty="0" err="1" smtClean="0"/>
              <a:t>intergrity</a:t>
            </a:r>
            <a:r>
              <a:rPr lang="en-IN" baseline="0" dirty="0" smtClean="0"/>
              <a:t> of the message is also maintained</a:t>
            </a:r>
          </a:p>
          <a:p>
            <a:endParaRPr lang="en-IN" baseline="0" dirty="0" smtClean="0"/>
          </a:p>
          <a:p>
            <a:r>
              <a:rPr lang="en-IN" baseline="0" dirty="0" smtClean="0"/>
              <a:t>---------------</a:t>
            </a:r>
          </a:p>
          <a:p>
            <a:r>
              <a:rPr lang="en-IN" baseline="0" dirty="0" smtClean="0"/>
              <a:t>Message –pass 100 </a:t>
            </a:r>
            <a:r>
              <a:rPr lang="en-IN" baseline="0" dirty="0" err="1" smtClean="0"/>
              <a:t>rs,generate</a:t>
            </a:r>
            <a:r>
              <a:rPr lang="en-IN" baseline="0" dirty="0" smtClean="0"/>
              <a:t> hash value</a:t>
            </a:r>
          </a:p>
          <a:p>
            <a:r>
              <a:rPr lang="en-IN" baseline="0" dirty="0" smtClean="0"/>
              <a:t>K- random </a:t>
            </a:r>
            <a:r>
              <a:rPr lang="en-IN" baseline="0" dirty="0" err="1" smtClean="0"/>
              <a:t>integer+public</a:t>
            </a:r>
            <a:r>
              <a:rPr lang="en-IN" baseline="0" dirty="0" smtClean="0"/>
              <a:t> key(</a:t>
            </a:r>
            <a:r>
              <a:rPr lang="en-IN" baseline="0" dirty="0" err="1" smtClean="0"/>
              <a:t>p,q,g</a:t>
            </a:r>
            <a:r>
              <a:rPr lang="en-IN" baseline="0" dirty="0" smtClean="0"/>
              <a:t>)+ private key-x</a:t>
            </a:r>
          </a:p>
          <a:p>
            <a:r>
              <a:rPr lang="en-IN" baseline="0" dirty="0" smtClean="0"/>
              <a:t>DS+ message Is added</a:t>
            </a:r>
          </a:p>
          <a:p>
            <a:r>
              <a:rPr lang="en-IN" baseline="0" dirty="0" smtClean="0"/>
              <a:t>Receiver: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baseline="0" dirty="0" smtClean="0"/>
              <a:t>Receives 100 </a:t>
            </a:r>
            <a:r>
              <a:rPr lang="en-IN" baseline="0" dirty="0" err="1" smtClean="0"/>
              <a:t>rs,generate</a:t>
            </a:r>
            <a:r>
              <a:rPr lang="en-IN" baseline="0" dirty="0" smtClean="0"/>
              <a:t> hash value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baseline="0" dirty="0" smtClean="0"/>
              <a:t>R and s is the 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baseline="0" dirty="0" smtClean="0"/>
              <a:t>Fed to the verification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baseline="0" dirty="0" smtClean="0"/>
              <a:t>Receiver also uses public key </a:t>
            </a:r>
            <a:r>
              <a:rPr lang="en-IN" baseline="0" dirty="0" err="1" smtClean="0"/>
              <a:t>componenets</a:t>
            </a:r>
            <a:r>
              <a:rPr lang="en-IN" baseline="0" dirty="0" smtClean="0"/>
              <a:t> and public key of user 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baseline="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baseline="0" dirty="0" smtClean="0"/>
          </a:p>
          <a:p>
            <a:endParaRPr lang="en-IN" baseline="0" dirty="0" smtClean="0"/>
          </a:p>
          <a:p>
            <a:endParaRPr lang="en-IN" baseline="0" dirty="0" smtClean="0"/>
          </a:p>
          <a:p>
            <a:endParaRPr lang="en-IN" baseline="0" dirty="0" smtClean="0"/>
          </a:p>
          <a:p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C0EB85-1EFE-43DE-B793-4AB3572B2794}" type="slidenum">
              <a:rPr lang="en-IN" smtClean="0"/>
              <a:pPr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5400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P – prime number</a:t>
            </a:r>
          </a:p>
          <a:p>
            <a:r>
              <a:rPr lang="en-IN" dirty="0" smtClean="0"/>
              <a:t>N= 160 bits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C0EB85-1EFE-43DE-B793-4AB3572B2794}" type="slidenum">
              <a:rPr lang="en-IN" smtClean="0"/>
              <a:pPr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4894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X is the private key</a:t>
            </a:r>
          </a:p>
          <a:p>
            <a:r>
              <a:rPr lang="en-IN" dirty="0" smtClean="0"/>
              <a:t>G – public key component</a:t>
            </a:r>
          </a:p>
          <a:p>
            <a:r>
              <a:rPr lang="en-IN" dirty="0" smtClean="0"/>
              <a:t>Y - Public key of user</a:t>
            </a:r>
          </a:p>
          <a:p>
            <a:r>
              <a:rPr lang="en-IN" dirty="0" smtClean="0"/>
              <a:t>---------------</a:t>
            </a:r>
          </a:p>
          <a:p>
            <a:r>
              <a:rPr lang="en-IN" dirty="0" smtClean="0"/>
              <a:t>Generate</a:t>
            </a:r>
            <a:r>
              <a:rPr lang="en-IN" baseline="0" dirty="0" smtClean="0"/>
              <a:t> Digital Signature{</a:t>
            </a:r>
            <a:r>
              <a:rPr lang="en-IN" baseline="0" dirty="0" err="1" smtClean="0"/>
              <a:t>r,s</a:t>
            </a:r>
            <a:r>
              <a:rPr lang="en-IN" baseline="0" dirty="0" smtClean="0"/>
              <a:t>}</a:t>
            </a:r>
          </a:p>
          <a:p>
            <a:endParaRPr lang="en-I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 smtClean="0"/>
              <a:t>Select random number 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 smtClean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C0EB85-1EFE-43DE-B793-4AB3572B2794}" type="slidenum">
              <a:rPr lang="en-IN" smtClean="0"/>
              <a:pPr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56161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X is the private key</a:t>
            </a:r>
          </a:p>
          <a:p>
            <a:r>
              <a:rPr lang="en-IN" dirty="0" smtClean="0"/>
              <a:t>G – public key component</a:t>
            </a:r>
          </a:p>
          <a:p>
            <a:r>
              <a:rPr lang="en-IN" dirty="0" smtClean="0"/>
              <a:t>Y - Public key of user</a:t>
            </a:r>
          </a:p>
          <a:p>
            <a:r>
              <a:rPr lang="en-IN" dirty="0" smtClean="0"/>
              <a:t>---------------</a:t>
            </a:r>
          </a:p>
          <a:p>
            <a:r>
              <a:rPr lang="en-IN" dirty="0" smtClean="0"/>
              <a:t>Generate</a:t>
            </a:r>
            <a:r>
              <a:rPr lang="en-IN" baseline="0" dirty="0" smtClean="0"/>
              <a:t> Digital Signature{</a:t>
            </a:r>
            <a:r>
              <a:rPr lang="en-IN" baseline="0" dirty="0" err="1" smtClean="0"/>
              <a:t>r,s</a:t>
            </a:r>
            <a:r>
              <a:rPr lang="en-IN" baseline="0" dirty="0" smtClean="0"/>
              <a:t>}</a:t>
            </a:r>
          </a:p>
          <a:p>
            <a:endParaRPr lang="en-I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 smtClean="0"/>
              <a:t>Select random number 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 smtClean="0"/>
              <a:t>One signature is ready </a:t>
            </a:r>
            <a:r>
              <a:rPr lang="en-IN" dirty="0" err="1" smtClean="0"/>
              <a:t>plaing</a:t>
            </a:r>
            <a:r>
              <a:rPr lang="en-IN" dirty="0" smtClean="0"/>
              <a:t> text M +{</a:t>
            </a:r>
            <a:r>
              <a:rPr lang="en-IN" dirty="0" err="1" smtClean="0"/>
              <a:t>r,s</a:t>
            </a:r>
            <a:r>
              <a:rPr lang="en-IN" dirty="0" smtClean="0"/>
              <a:t>} is concentrated and sent to receiver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 smtClean="0"/>
              <a:t>------------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 err="1" smtClean="0"/>
              <a:t>Recver</a:t>
            </a:r>
            <a:r>
              <a:rPr lang="en-IN" dirty="0" smtClean="0"/>
              <a:t> validates the message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 smtClean="0"/>
              <a:t>---------</a:t>
            </a:r>
            <a:r>
              <a:rPr lang="en-IN" dirty="0" err="1" smtClean="0"/>
              <a:t>m’,r’,s</a:t>
            </a:r>
            <a:r>
              <a:rPr lang="en-IN" dirty="0" smtClean="0"/>
              <a:t>’ are the </a:t>
            </a:r>
            <a:r>
              <a:rPr lang="en-IN" dirty="0" err="1" smtClean="0"/>
              <a:t>m,r</a:t>
            </a:r>
            <a:r>
              <a:rPr lang="en-IN" dirty="0" smtClean="0"/>
              <a:t>, and s from the</a:t>
            </a:r>
            <a:r>
              <a:rPr lang="en-IN" baseline="0" dirty="0" smtClean="0"/>
              <a:t> sender</a:t>
            </a:r>
            <a:endParaRPr lang="en-I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 smtClean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C0EB85-1EFE-43DE-B793-4AB3572B2794}" type="slidenum">
              <a:rPr lang="en-IN" smtClean="0"/>
              <a:pPr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17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22902-BD6F-4672-A0A5-93084F3B7D23}" type="datetimeFigureOut">
              <a:rPr lang="en-IN" smtClean="0"/>
              <a:pPr/>
              <a:t>11-03-2025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7C73E-4A13-4C71-B2CA-4FF9ED28A8E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5823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22902-BD6F-4672-A0A5-93084F3B7D23}" type="datetimeFigureOut">
              <a:rPr lang="en-IN" smtClean="0"/>
              <a:pPr/>
              <a:t>11-03-2025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7C73E-4A13-4C71-B2CA-4FF9ED28A8E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219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22902-BD6F-4672-A0A5-93084F3B7D23}" type="datetimeFigureOut">
              <a:rPr lang="en-IN" smtClean="0"/>
              <a:pPr/>
              <a:t>11-03-2025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7C73E-4A13-4C71-B2CA-4FF9ED28A8E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420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22902-BD6F-4672-A0A5-93084F3B7D23}" type="datetimeFigureOut">
              <a:rPr lang="en-IN" smtClean="0"/>
              <a:pPr/>
              <a:t>11-03-2025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7C73E-4A13-4C71-B2CA-4FF9ED28A8E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475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22902-BD6F-4672-A0A5-93084F3B7D23}" type="datetimeFigureOut">
              <a:rPr lang="en-IN" smtClean="0"/>
              <a:pPr/>
              <a:t>11-03-2025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7C73E-4A13-4C71-B2CA-4FF9ED28A8E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913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22902-BD6F-4672-A0A5-93084F3B7D23}" type="datetimeFigureOut">
              <a:rPr lang="en-IN" smtClean="0"/>
              <a:pPr/>
              <a:t>11-03-2025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7C73E-4A13-4C71-B2CA-4FF9ED28A8E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939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22902-BD6F-4672-A0A5-93084F3B7D23}" type="datetimeFigureOut">
              <a:rPr lang="en-IN" smtClean="0"/>
              <a:pPr/>
              <a:t>11-03-2025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7C73E-4A13-4C71-B2CA-4FF9ED28A8E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804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22902-BD6F-4672-A0A5-93084F3B7D23}" type="datetimeFigureOut">
              <a:rPr lang="en-IN" smtClean="0"/>
              <a:pPr/>
              <a:t>11-03-2025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7C73E-4A13-4C71-B2CA-4FF9ED28A8E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463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22902-BD6F-4672-A0A5-93084F3B7D23}" type="datetimeFigureOut">
              <a:rPr lang="en-IN" smtClean="0"/>
              <a:pPr/>
              <a:t>11-03-2025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7C73E-4A13-4C71-B2CA-4FF9ED28A8E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736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22902-BD6F-4672-A0A5-93084F3B7D23}" type="datetimeFigureOut">
              <a:rPr lang="en-IN" smtClean="0"/>
              <a:pPr/>
              <a:t>11-03-2025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7C73E-4A13-4C71-B2CA-4FF9ED28A8E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276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22902-BD6F-4672-A0A5-93084F3B7D23}" type="datetimeFigureOut">
              <a:rPr lang="en-IN" smtClean="0"/>
              <a:pPr/>
              <a:t>11-03-2025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7C73E-4A13-4C71-B2CA-4FF9ED28A8E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680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22902-BD6F-4672-A0A5-93084F3B7D23}" type="datetimeFigureOut">
              <a:rPr lang="en-IN" smtClean="0"/>
              <a:pPr/>
              <a:t>11-03-2025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7C73E-4A13-4C71-B2CA-4FF9ED28A8E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1211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72" y="2571744"/>
            <a:ext cx="8229600" cy="1143000"/>
          </a:xfrm>
        </p:spPr>
        <p:txBody>
          <a:bodyPr>
            <a:normAutofit/>
          </a:bodyPr>
          <a:lstStyle/>
          <a:p>
            <a:r>
              <a:rPr lang="en-IN" sz="5400" b="1" dirty="0" smtClean="0"/>
              <a:t>Digital Signature (DS)</a:t>
            </a:r>
            <a:endParaRPr lang="en-IN" sz="5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05" y="4581128"/>
            <a:ext cx="9036496" cy="141277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7126" y="20782"/>
            <a:ext cx="3152775" cy="17811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512" y="-164962"/>
            <a:ext cx="3537148" cy="19669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9C13FDB-9F7A-FB66-F44D-7B42DDDD9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r>
              <a:rPr lang="en-IN" dirty="0">
                <a:solidFill>
                  <a:srgbClr val="7030A0"/>
                </a:solidFill>
              </a:rPr>
              <a:t>Digital </a:t>
            </a:r>
            <a:r>
              <a:rPr lang="en-IN" dirty="0" smtClean="0">
                <a:solidFill>
                  <a:srgbClr val="7030A0"/>
                </a:solidFill>
              </a:rPr>
              <a:t>Signature (DS)</a:t>
            </a:r>
            <a:endParaRPr lang="en-IN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4040CF-FCC8-3897-604F-F45BE770C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Autofit/>
          </a:bodyPr>
          <a:lstStyle/>
          <a:p>
            <a:pPr marL="0" indent="0" algn="just"/>
            <a:r>
              <a:rPr lang="en-GB" b="0" i="0" dirty="0" smtClean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GB" dirty="0" smtClean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It </a:t>
            </a:r>
            <a:r>
              <a:rPr lang="en-GB" b="0" i="0" dirty="0" smtClean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guarantees the source and verifies the  integrity of the message. </a:t>
            </a:r>
          </a:p>
          <a:p>
            <a:pPr marL="0" indent="0" algn="just"/>
            <a:r>
              <a:rPr lang="en-GB" dirty="0" smtClean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DS is a cryptographic technique to validate the authenticity, software or documents.</a:t>
            </a:r>
            <a:endParaRPr lang="en-GB" b="0" i="0" dirty="0" smtClean="0">
              <a:effectLst/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  <a:p>
            <a:pPr marL="0" indent="0" algn="just"/>
            <a:r>
              <a:rPr lang="en-GB" b="1" i="0" dirty="0" smtClean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Operations involved:</a:t>
            </a:r>
            <a:endParaRPr lang="en-GB" b="1" i="0" dirty="0">
              <a:effectLst/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  <a:p>
            <a:pPr marL="1028700" lvl="1" indent="-571500" algn="just">
              <a:buFont typeface="+mj-lt"/>
              <a:buAutoNum type="romanLcPeriod"/>
            </a:pPr>
            <a:r>
              <a:rPr lang="en-GB" u="sng" dirty="0" smtClean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Generation of keys </a:t>
            </a:r>
            <a:r>
              <a:rPr lang="en-GB" dirty="0" smtClean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– generate public &amp; private key pair.</a:t>
            </a:r>
          </a:p>
          <a:p>
            <a:pPr marL="1028700" lvl="1" indent="-571500" algn="just">
              <a:buFont typeface="+mj-lt"/>
              <a:buAutoNum type="romanLcPeriod"/>
            </a:pPr>
            <a:r>
              <a:rPr lang="en-GB" u="sng" dirty="0" smtClean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Signing</a:t>
            </a:r>
            <a:r>
              <a:rPr lang="en-GB" b="0" i="0" u="sng" dirty="0" smtClean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operation</a:t>
            </a:r>
            <a:r>
              <a:rPr lang="en-GB" dirty="0" smtClean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– generate the digital signature using private key of the sender.</a:t>
            </a:r>
          </a:p>
          <a:p>
            <a:pPr marL="1028700" lvl="1" indent="-571500" algn="just">
              <a:buFont typeface="+mj-lt"/>
              <a:buAutoNum type="romanLcPeriod"/>
            </a:pPr>
            <a:r>
              <a:rPr lang="en-GB" b="0" i="0" u="sng" dirty="0" smtClean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Verification operation</a:t>
            </a:r>
            <a:r>
              <a:rPr lang="en-GB" b="0" i="0" dirty="0" smtClean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– verify the validity of the signature using public key </a:t>
            </a:r>
            <a:r>
              <a:rPr lang="en-GB" dirty="0" smtClean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of the sender.</a:t>
            </a:r>
            <a:endParaRPr lang="en-GB" sz="3200" b="0" i="0" dirty="0">
              <a:effectLst/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  <a:p>
            <a:pPr marL="0" indent="0" algn="just">
              <a:buNone/>
            </a:pPr>
            <a:endParaRPr lang="en-IN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262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837" y="0"/>
            <a:ext cx="8229600" cy="980728"/>
          </a:xfrm>
        </p:spPr>
        <p:txBody>
          <a:bodyPr/>
          <a:lstStyle/>
          <a:p>
            <a:r>
              <a:rPr lang="en-IN" dirty="0" smtClean="0"/>
              <a:t>Digital Signature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025" y="1119981"/>
            <a:ext cx="493395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76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6B49EF6-62AC-A450-0752-A1B9A7ABA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solidFill>
                  <a:srgbClr val="7030A0"/>
                </a:solidFill>
              </a:rPr>
              <a:t>Comparison of Hash, MAC and Digital Signature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0100" y="1714488"/>
          <a:ext cx="7143800" cy="3214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1702"/>
                <a:gridCol w="1500198"/>
                <a:gridCol w="1785950"/>
                <a:gridCol w="1785950"/>
              </a:tblGrid>
              <a:tr h="985845"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Hash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MAC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Digital Signature</a:t>
                      </a:r>
                      <a:endParaRPr lang="en-IN" sz="2000" dirty="0"/>
                    </a:p>
                  </a:txBody>
                  <a:tcPr/>
                </a:tc>
              </a:tr>
              <a:tr h="557216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Integrity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Yes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Yes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Yes</a:t>
                      </a:r>
                      <a:endParaRPr lang="en-IN" sz="2000" dirty="0"/>
                    </a:p>
                  </a:txBody>
                  <a:tcPr/>
                </a:tc>
              </a:tr>
              <a:tr h="557216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Authentication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No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Yes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Yes</a:t>
                      </a:r>
                      <a:endParaRPr lang="en-IN" sz="2000" dirty="0"/>
                    </a:p>
                  </a:txBody>
                  <a:tcPr/>
                </a:tc>
              </a:tr>
              <a:tr h="557216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Non-repudiation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No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No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Yes</a:t>
                      </a:r>
                      <a:endParaRPr lang="en-IN" sz="2000" dirty="0"/>
                    </a:p>
                  </a:txBody>
                  <a:tcPr/>
                </a:tc>
              </a:tr>
              <a:tr h="557216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Kind</a:t>
                      </a:r>
                      <a:r>
                        <a:rPr lang="en-IN" sz="2000" baseline="0" dirty="0" smtClean="0"/>
                        <a:t> of keys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None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Symmetric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Asymmetric</a:t>
                      </a:r>
                      <a:endParaRPr lang="en-IN" sz="20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4357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428604"/>
            <a:ext cx="7572428" cy="5857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Digital Signature Algorithms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 smtClean="0"/>
              <a:t>Elgamal</a:t>
            </a:r>
            <a:r>
              <a:rPr lang="en-IN" dirty="0" smtClean="0"/>
              <a:t> based</a:t>
            </a:r>
          </a:p>
          <a:p>
            <a:r>
              <a:rPr lang="en-IN" dirty="0" smtClean="0"/>
              <a:t>RSA based</a:t>
            </a:r>
          </a:p>
          <a:p>
            <a:r>
              <a:rPr lang="en-IN" dirty="0" smtClean="0"/>
              <a:t>Digital signature standard (DSS)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72" y="2786058"/>
            <a:ext cx="8229600" cy="1143000"/>
          </a:xfrm>
        </p:spPr>
        <p:txBody>
          <a:bodyPr>
            <a:normAutofit/>
          </a:bodyPr>
          <a:lstStyle/>
          <a:p>
            <a:r>
              <a:rPr lang="en-IN" sz="6000" b="1" dirty="0" err="1" smtClean="0"/>
              <a:t>Elgamal</a:t>
            </a:r>
            <a:r>
              <a:rPr lang="en-IN" sz="6000" b="1" dirty="0" smtClean="0"/>
              <a:t> DSA</a:t>
            </a:r>
            <a:endParaRPr lang="en-IN" sz="6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Elgamal</a:t>
            </a:r>
            <a:r>
              <a:rPr lang="en-IN" dirty="0" smtClean="0"/>
              <a:t> DSA</a:t>
            </a: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785926"/>
            <a:ext cx="8643998" cy="3571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Elgamal</a:t>
            </a:r>
            <a:r>
              <a:rPr lang="en-IN" dirty="0" smtClean="0"/>
              <a:t> DSA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214974"/>
          </a:xfrm>
        </p:spPr>
        <p:txBody>
          <a:bodyPr>
            <a:normAutofit/>
          </a:bodyPr>
          <a:lstStyle/>
          <a:p>
            <a:pPr algn="just"/>
            <a:r>
              <a:rPr lang="en-IN" sz="3600" dirty="0" smtClean="0"/>
              <a:t>Sender A generates public and private keys:</a:t>
            </a:r>
          </a:p>
          <a:p>
            <a:pPr lvl="1" algn="just"/>
            <a:r>
              <a:rPr lang="en-US" sz="3200" dirty="0" smtClean="0"/>
              <a:t>Select a large prime as a ‘p’. </a:t>
            </a:r>
            <a:endParaRPr lang="en-IN" sz="3200" dirty="0" smtClean="0"/>
          </a:p>
          <a:p>
            <a:pPr lvl="1" algn="just"/>
            <a:r>
              <a:rPr lang="en-US" sz="3200" dirty="0" smtClean="0"/>
              <a:t> Select a random integer ‘d’ with 2 </a:t>
            </a:r>
            <a:r>
              <a:rPr lang="en-US" sz="3200" dirty="0" smtClean="0">
                <a:sym typeface="Symbol"/>
              </a:rPr>
              <a:t></a:t>
            </a:r>
            <a:r>
              <a:rPr lang="en-US" sz="3200" dirty="0" smtClean="0"/>
              <a:t> d </a:t>
            </a:r>
            <a:r>
              <a:rPr lang="en-US" sz="3200" dirty="0" smtClean="0">
                <a:sym typeface="Symbol"/>
              </a:rPr>
              <a:t></a:t>
            </a:r>
            <a:r>
              <a:rPr lang="en-US" sz="3200" dirty="0" smtClean="0"/>
              <a:t> p-1 and </a:t>
            </a:r>
            <a:r>
              <a:rPr lang="en-US" sz="3200" dirty="0" err="1" smtClean="0"/>
              <a:t>gcd</a:t>
            </a:r>
            <a:r>
              <a:rPr lang="en-US" sz="3200" dirty="0" smtClean="0"/>
              <a:t>(</a:t>
            </a:r>
            <a:r>
              <a:rPr lang="en-US" sz="3200" dirty="0" err="1" smtClean="0"/>
              <a:t>d,p</a:t>
            </a:r>
            <a:r>
              <a:rPr lang="en-US" sz="3200" dirty="0" smtClean="0"/>
              <a:t>) = 1.</a:t>
            </a:r>
            <a:endParaRPr lang="en-IN" sz="3200" dirty="0" smtClean="0"/>
          </a:p>
          <a:p>
            <a:pPr lvl="1" algn="just"/>
            <a:r>
              <a:rPr lang="en-US" sz="3200" dirty="0" smtClean="0"/>
              <a:t> Select ‘g’ (generator) to be a primitive root.</a:t>
            </a:r>
            <a:endParaRPr lang="en-IN" sz="3200" dirty="0" smtClean="0"/>
          </a:p>
          <a:p>
            <a:pPr lvl="1" algn="just"/>
            <a:r>
              <a:rPr lang="en-US" sz="3200" dirty="0" smtClean="0"/>
              <a:t> Compute   e </a:t>
            </a:r>
            <a:r>
              <a:rPr lang="en-US" sz="3200" dirty="0" smtClean="0">
                <a:sym typeface="Symbol"/>
              </a:rPr>
              <a:t></a:t>
            </a:r>
            <a:r>
              <a:rPr lang="en-US" sz="3200" dirty="0" smtClean="0"/>
              <a:t> </a:t>
            </a:r>
            <a:r>
              <a:rPr lang="en-US" sz="3200" dirty="0" err="1" smtClean="0"/>
              <a:t>g</a:t>
            </a:r>
            <a:r>
              <a:rPr lang="en-US" sz="3200" baseline="30000" dirty="0" err="1" smtClean="0"/>
              <a:t>d</a:t>
            </a:r>
            <a:r>
              <a:rPr lang="en-US" sz="3200" dirty="0" smtClean="0"/>
              <a:t> mod p </a:t>
            </a:r>
            <a:endParaRPr lang="en-IN" sz="3200" dirty="0" smtClean="0"/>
          </a:p>
          <a:p>
            <a:pPr lvl="1" algn="just"/>
            <a:r>
              <a:rPr lang="en-IN" sz="3200" dirty="0" smtClean="0"/>
              <a:t> </a:t>
            </a:r>
            <a:r>
              <a:rPr lang="en-US" sz="3200" dirty="0" smtClean="0"/>
              <a:t>Publishes </a:t>
            </a:r>
            <a:r>
              <a:rPr lang="en-US" sz="3200" b="1" dirty="0" smtClean="0"/>
              <a:t>(</a:t>
            </a:r>
            <a:r>
              <a:rPr lang="en-US" sz="3200" b="1" dirty="0" err="1" smtClean="0"/>
              <a:t>p,g,e</a:t>
            </a:r>
            <a:r>
              <a:rPr lang="en-US" sz="3200" b="1" dirty="0" smtClean="0"/>
              <a:t>) </a:t>
            </a:r>
            <a:r>
              <a:rPr lang="en-US" sz="3200" dirty="0" smtClean="0"/>
              <a:t>as his public key and ‘d’ as a private key. </a:t>
            </a:r>
            <a:endParaRPr lang="en-IN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Elgamal</a:t>
            </a:r>
            <a:r>
              <a:rPr lang="en-IN" smtClean="0"/>
              <a:t> DSA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214422"/>
            <a:ext cx="8643998" cy="5286412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IN" dirty="0" smtClean="0"/>
              <a:t>The sender A signs a message (M) using private key (d) to receiver  B by computing:</a:t>
            </a:r>
          </a:p>
          <a:p>
            <a:pPr lvl="1" algn="just"/>
            <a:r>
              <a:rPr lang="en-IN" dirty="0" smtClean="0"/>
              <a:t>The hash m = H(M), 0 </a:t>
            </a:r>
            <a:r>
              <a:rPr lang="en-IN" dirty="0" smtClean="0">
                <a:sym typeface="Symbol"/>
              </a:rPr>
              <a:t></a:t>
            </a:r>
            <a:r>
              <a:rPr lang="en-IN" dirty="0" smtClean="0"/>
              <a:t> m </a:t>
            </a:r>
            <a:r>
              <a:rPr lang="en-IN" dirty="0" smtClean="0">
                <a:sym typeface="Symbol"/>
              </a:rPr>
              <a:t></a:t>
            </a:r>
            <a:r>
              <a:rPr lang="en-IN" dirty="0" smtClean="0"/>
              <a:t> (p-1).</a:t>
            </a:r>
          </a:p>
          <a:p>
            <a:pPr lvl="1" algn="just"/>
            <a:r>
              <a:rPr lang="en-IN" dirty="0" smtClean="0"/>
              <a:t>Chose random number k with 1 </a:t>
            </a:r>
            <a:r>
              <a:rPr lang="en-IN" dirty="0" smtClean="0">
                <a:sym typeface="Symbol"/>
              </a:rPr>
              <a:t></a:t>
            </a:r>
            <a:r>
              <a:rPr lang="en-IN" dirty="0" smtClean="0"/>
              <a:t> k </a:t>
            </a:r>
            <a:r>
              <a:rPr lang="en-IN" dirty="0" smtClean="0">
                <a:sym typeface="Symbol"/>
              </a:rPr>
              <a:t></a:t>
            </a:r>
            <a:r>
              <a:rPr lang="en-IN" dirty="0" smtClean="0"/>
              <a:t> (p-1) and </a:t>
            </a:r>
            <a:r>
              <a:rPr lang="en-IN" dirty="0" err="1" smtClean="0"/>
              <a:t>gcd</a:t>
            </a:r>
            <a:r>
              <a:rPr lang="en-IN" dirty="0" smtClean="0"/>
              <a:t>(k,p-1) = 1.</a:t>
            </a:r>
          </a:p>
          <a:p>
            <a:pPr lvl="1" algn="just"/>
            <a:r>
              <a:rPr lang="en-IN" dirty="0" smtClean="0"/>
              <a:t>Compute temporary key S</a:t>
            </a:r>
            <a:r>
              <a:rPr lang="en-IN" baseline="-25000" dirty="0" smtClean="0"/>
              <a:t>1</a:t>
            </a:r>
            <a:r>
              <a:rPr lang="en-IN" dirty="0" smtClean="0"/>
              <a:t> = </a:t>
            </a:r>
            <a:r>
              <a:rPr lang="en-IN" dirty="0" err="1" smtClean="0"/>
              <a:t>g</a:t>
            </a:r>
            <a:r>
              <a:rPr lang="en-IN" baseline="30000" dirty="0" err="1" smtClean="0"/>
              <a:t>k</a:t>
            </a:r>
            <a:r>
              <a:rPr lang="en-IN" dirty="0" smtClean="0"/>
              <a:t> mod p.</a:t>
            </a:r>
          </a:p>
          <a:p>
            <a:pPr lvl="1" algn="just"/>
            <a:r>
              <a:rPr lang="en-IN" dirty="0" smtClean="0"/>
              <a:t>Compute k</a:t>
            </a:r>
            <a:r>
              <a:rPr lang="en-IN" baseline="30000" dirty="0" smtClean="0"/>
              <a:t>-1</a:t>
            </a:r>
            <a:r>
              <a:rPr lang="en-IN" dirty="0" smtClean="0"/>
              <a:t> (inverse of k).</a:t>
            </a:r>
          </a:p>
          <a:p>
            <a:pPr lvl="1" algn="just"/>
            <a:r>
              <a:rPr lang="en-IN" dirty="0" smtClean="0"/>
              <a:t>Compute the value:  S</a:t>
            </a:r>
            <a:r>
              <a:rPr lang="en-IN" baseline="-25000" dirty="0" smtClean="0"/>
              <a:t>2</a:t>
            </a:r>
            <a:r>
              <a:rPr lang="en-IN" dirty="0" smtClean="0"/>
              <a:t> = k</a:t>
            </a:r>
            <a:r>
              <a:rPr lang="en-IN" baseline="30000" dirty="0" smtClean="0"/>
              <a:t>-1</a:t>
            </a:r>
            <a:r>
              <a:rPr lang="en-IN" dirty="0" smtClean="0"/>
              <a:t> (m - </a:t>
            </a:r>
            <a:r>
              <a:rPr lang="en-IN" dirty="0" smtClean="0">
                <a:solidFill>
                  <a:srgbClr val="FF0000"/>
                </a:solidFill>
              </a:rPr>
              <a:t>d</a:t>
            </a:r>
            <a:r>
              <a:rPr lang="en-IN" dirty="0" smtClean="0"/>
              <a:t>S</a:t>
            </a:r>
            <a:r>
              <a:rPr lang="en-IN" baseline="-25000" dirty="0" smtClean="0"/>
              <a:t>1</a:t>
            </a:r>
            <a:r>
              <a:rPr lang="en-IN" dirty="0" smtClean="0"/>
              <a:t>) mod (p-1).</a:t>
            </a:r>
          </a:p>
          <a:p>
            <a:pPr lvl="1" algn="just"/>
            <a:r>
              <a:rPr lang="en-IN" dirty="0" smtClean="0"/>
              <a:t>Signature is: (S</a:t>
            </a:r>
            <a:r>
              <a:rPr lang="en-IN" baseline="-25000" dirty="0" smtClean="0"/>
              <a:t>1</a:t>
            </a:r>
            <a:r>
              <a:rPr lang="en-IN" dirty="0" smtClean="0"/>
              <a:t>, S</a:t>
            </a:r>
            <a:r>
              <a:rPr lang="en-IN" baseline="-25000" dirty="0" smtClean="0"/>
              <a:t>2</a:t>
            </a:r>
            <a:r>
              <a:rPr lang="en-IN" dirty="0" smtClean="0"/>
              <a:t>).</a:t>
            </a:r>
          </a:p>
          <a:p>
            <a:pPr algn="just"/>
            <a:r>
              <a:rPr lang="en-IN" dirty="0" smtClean="0"/>
              <a:t>The receiver B can verify the signature using public key of A ({</a:t>
            </a:r>
            <a:r>
              <a:rPr lang="en-IN" dirty="0" err="1" smtClean="0"/>
              <a:t>p,g,e</a:t>
            </a:r>
            <a:r>
              <a:rPr lang="en-IN" dirty="0" smtClean="0"/>
              <a:t>}) by computing:</a:t>
            </a:r>
          </a:p>
          <a:p>
            <a:pPr lvl="1" algn="just"/>
            <a:r>
              <a:rPr lang="en-IN" dirty="0" smtClean="0"/>
              <a:t>V</a:t>
            </a:r>
            <a:r>
              <a:rPr lang="en-IN" baseline="-25000" dirty="0" smtClean="0"/>
              <a:t>1</a:t>
            </a:r>
            <a:r>
              <a:rPr lang="en-IN" dirty="0" smtClean="0"/>
              <a:t> = g</a:t>
            </a:r>
            <a:r>
              <a:rPr lang="en-IN" baseline="30000" dirty="0" smtClean="0"/>
              <a:t>m</a:t>
            </a:r>
            <a:r>
              <a:rPr lang="en-IN" dirty="0" smtClean="0"/>
              <a:t> mod p.</a:t>
            </a:r>
          </a:p>
          <a:p>
            <a:pPr lvl="1" algn="just"/>
            <a:r>
              <a:rPr lang="en-IN" dirty="0" smtClean="0"/>
              <a:t>V</a:t>
            </a:r>
            <a:r>
              <a:rPr lang="en-IN" baseline="-25000" dirty="0" smtClean="0"/>
              <a:t>2</a:t>
            </a:r>
            <a:r>
              <a:rPr lang="en-IN" dirty="0" smtClean="0"/>
              <a:t> =(</a:t>
            </a:r>
            <a:r>
              <a:rPr lang="en-IN" dirty="0" smtClean="0">
                <a:solidFill>
                  <a:srgbClr val="FF0000"/>
                </a:solidFill>
              </a:rPr>
              <a:t>e</a:t>
            </a:r>
            <a:r>
              <a:rPr lang="en-IN" dirty="0" smtClean="0"/>
              <a:t>)</a:t>
            </a:r>
            <a:r>
              <a:rPr lang="en-IN" baseline="30000" dirty="0" smtClean="0"/>
              <a:t>S1</a:t>
            </a:r>
            <a:r>
              <a:rPr lang="en-IN" dirty="0" smtClean="0"/>
              <a:t> (S</a:t>
            </a:r>
            <a:r>
              <a:rPr lang="en-IN" baseline="-25000" dirty="0" smtClean="0"/>
              <a:t>1</a:t>
            </a:r>
            <a:r>
              <a:rPr lang="en-IN" dirty="0" smtClean="0"/>
              <a:t>)</a:t>
            </a:r>
            <a:r>
              <a:rPr lang="en-IN" baseline="30000" dirty="0" smtClean="0"/>
              <a:t>S2</a:t>
            </a:r>
            <a:r>
              <a:rPr lang="en-IN" dirty="0" smtClean="0"/>
              <a:t> mod  p.</a:t>
            </a:r>
          </a:p>
          <a:p>
            <a:pPr lvl="1" algn="just"/>
            <a:r>
              <a:rPr lang="en-IN" dirty="0" smtClean="0"/>
              <a:t>Signature  is valid if V</a:t>
            </a:r>
            <a:r>
              <a:rPr lang="en-IN" baseline="-25000" dirty="0" smtClean="0"/>
              <a:t>1</a:t>
            </a:r>
            <a:r>
              <a:rPr lang="en-IN" dirty="0" smtClean="0"/>
              <a:t> = V</a:t>
            </a:r>
            <a:r>
              <a:rPr lang="en-IN" baseline="-25000" dirty="0" smtClean="0"/>
              <a:t>2</a:t>
            </a:r>
            <a:r>
              <a:rPr lang="en-IN" dirty="0" smtClean="0"/>
              <a:t> </a:t>
            </a:r>
          </a:p>
          <a:p>
            <a:pPr algn="just"/>
            <a:endParaRPr lang="en-IN" dirty="0" smtClean="0"/>
          </a:p>
          <a:p>
            <a:pPr lvl="1" algn="just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643602"/>
          </a:xfrm>
        </p:spPr>
        <p:txBody>
          <a:bodyPr>
            <a:noAutofit/>
          </a:bodyPr>
          <a:lstStyle/>
          <a:p>
            <a:r>
              <a:rPr lang="en-IN" sz="2400" dirty="0" smtClean="0"/>
              <a:t>Let us consider the prime number p</a:t>
            </a:r>
            <a:r>
              <a:rPr lang="en-IN" sz="2400" i="1" dirty="0" smtClean="0"/>
              <a:t> </a:t>
            </a:r>
            <a:r>
              <a:rPr lang="en-IN" sz="2400" dirty="0" smtClean="0"/>
              <a:t>= 19 &amp; its primitive root g</a:t>
            </a:r>
            <a:r>
              <a:rPr lang="en-IN" sz="2400" i="1" dirty="0" smtClean="0"/>
              <a:t> </a:t>
            </a:r>
            <a:r>
              <a:rPr lang="en-IN" sz="2400" dirty="0" smtClean="0"/>
              <a:t>= 10.</a:t>
            </a:r>
          </a:p>
          <a:p>
            <a:r>
              <a:rPr lang="en-IN" sz="2400" b="1" dirty="0" smtClean="0"/>
              <a:t>Alice generates a key pair as follows:</a:t>
            </a:r>
          </a:p>
          <a:p>
            <a:pPr lvl="1"/>
            <a:r>
              <a:rPr lang="en-IN" sz="2400" dirty="0" smtClean="0"/>
              <a:t>Alice chooses d</a:t>
            </a:r>
            <a:r>
              <a:rPr lang="en-IN" sz="2400" i="1" dirty="0" smtClean="0"/>
              <a:t> </a:t>
            </a:r>
            <a:r>
              <a:rPr lang="en-IN" sz="2400" dirty="0" smtClean="0"/>
              <a:t>= 16.</a:t>
            </a:r>
          </a:p>
          <a:p>
            <a:pPr lvl="1"/>
            <a:r>
              <a:rPr lang="en-IN" sz="2400" dirty="0" smtClean="0"/>
              <a:t>Then</a:t>
            </a:r>
            <a:r>
              <a:rPr lang="en-IN" sz="2400" b="1" dirty="0" smtClean="0"/>
              <a:t> e</a:t>
            </a:r>
            <a:r>
              <a:rPr lang="en-IN" sz="2400" b="1" i="1" dirty="0" smtClean="0"/>
              <a:t>  </a:t>
            </a:r>
            <a:r>
              <a:rPr lang="en-IN" sz="2400" b="1" i="1" dirty="0" smtClean="0">
                <a:sym typeface="Symbol"/>
              </a:rPr>
              <a:t></a:t>
            </a:r>
            <a:r>
              <a:rPr lang="en-IN" sz="2400" b="1" dirty="0" smtClean="0"/>
              <a:t>  </a:t>
            </a:r>
            <a:r>
              <a:rPr lang="en-IN" sz="2400" b="1" dirty="0" err="1" smtClean="0"/>
              <a:t>g</a:t>
            </a:r>
            <a:r>
              <a:rPr lang="en-IN" sz="2400" b="1" baseline="30000" dirty="0" err="1" smtClean="0"/>
              <a:t>d</a:t>
            </a:r>
            <a:r>
              <a:rPr lang="en-IN" sz="2400" b="1" i="1" dirty="0" smtClean="0"/>
              <a:t> </a:t>
            </a:r>
            <a:r>
              <a:rPr lang="en-IN" sz="2400" b="1" dirty="0" smtClean="0"/>
              <a:t>mod p</a:t>
            </a:r>
            <a:r>
              <a:rPr lang="en-IN" sz="2400" b="1" i="1" dirty="0" smtClean="0"/>
              <a:t>  </a:t>
            </a:r>
          </a:p>
          <a:p>
            <a:pPr marL="457200" lvl="1" indent="0">
              <a:buNone/>
            </a:pPr>
            <a:r>
              <a:rPr lang="en-IN" sz="2400" b="1" i="1" dirty="0" smtClean="0"/>
              <a:t>      e  </a:t>
            </a:r>
            <a:r>
              <a:rPr lang="en-IN" sz="2400" dirty="0" smtClean="0"/>
              <a:t>=  10</a:t>
            </a:r>
            <a:r>
              <a:rPr lang="en-IN" sz="2400" baseline="30000" dirty="0" smtClean="0"/>
              <a:t>16</a:t>
            </a:r>
            <a:r>
              <a:rPr lang="en-IN" sz="2400" dirty="0" smtClean="0"/>
              <a:t> mod 19  =  4.</a:t>
            </a:r>
          </a:p>
          <a:p>
            <a:pPr lvl="1"/>
            <a:r>
              <a:rPr lang="en-IN" sz="2400" dirty="0" smtClean="0"/>
              <a:t>Alice’s private key </a:t>
            </a:r>
            <a:r>
              <a:rPr lang="en-IN" sz="2400" b="1" dirty="0" smtClean="0"/>
              <a:t>d= 16</a:t>
            </a:r>
            <a:r>
              <a:rPr lang="en-IN" sz="2400" dirty="0" smtClean="0"/>
              <a:t>; </a:t>
            </a:r>
          </a:p>
          <a:p>
            <a:pPr lvl="1"/>
            <a:r>
              <a:rPr lang="en-IN" sz="2400" dirty="0" smtClean="0"/>
              <a:t>Alice’s pubic key is </a:t>
            </a:r>
            <a:r>
              <a:rPr lang="en-IN" sz="2400" b="1" dirty="0" smtClean="0"/>
              <a:t>{p, g, e}  =  {19, 10, 4}.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643602"/>
          </a:xfrm>
        </p:spPr>
        <p:txBody>
          <a:bodyPr>
            <a:noAutofit/>
          </a:bodyPr>
          <a:lstStyle/>
          <a:p>
            <a:r>
              <a:rPr lang="en-IN" sz="2400" b="1" dirty="0" smtClean="0"/>
              <a:t>Suppose Alice wants to sign a message with hash value </a:t>
            </a:r>
            <a:r>
              <a:rPr lang="en-IN" sz="2400" b="1" i="1" dirty="0" smtClean="0"/>
              <a:t>m  </a:t>
            </a:r>
            <a:r>
              <a:rPr lang="en-IN" sz="2400" b="1" dirty="0" smtClean="0"/>
              <a:t>=  14.</a:t>
            </a:r>
          </a:p>
          <a:p>
            <a:pPr lvl="1"/>
            <a:r>
              <a:rPr lang="en-IN" sz="2400" dirty="0" smtClean="0"/>
              <a:t>Alice chooses </a:t>
            </a:r>
            <a:r>
              <a:rPr lang="en-IN" sz="2400" b="1" i="1" dirty="0" smtClean="0"/>
              <a:t>K </a:t>
            </a:r>
            <a:r>
              <a:rPr lang="en-IN" sz="2400" b="1" dirty="0" smtClean="0"/>
              <a:t>= 5</a:t>
            </a:r>
            <a:r>
              <a:rPr lang="en-IN" sz="2400" dirty="0" smtClean="0"/>
              <a:t>, which is relatively prime to </a:t>
            </a:r>
            <a:r>
              <a:rPr lang="en-IN" sz="2400" b="1" dirty="0" smtClean="0"/>
              <a:t>p</a:t>
            </a:r>
            <a:r>
              <a:rPr lang="en-IN" sz="2400" b="1" i="1" dirty="0" smtClean="0"/>
              <a:t> </a:t>
            </a:r>
            <a:r>
              <a:rPr lang="en-IN" sz="2400" b="1" dirty="0" smtClean="0"/>
              <a:t>- 1 = 18.</a:t>
            </a:r>
          </a:p>
          <a:p>
            <a:pPr lvl="1"/>
            <a:r>
              <a:rPr lang="en-IN" sz="2400" b="1" i="1" dirty="0" smtClean="0"/>
              <a:t>S</a:t>
            </a:r>
            <a:r>
              <a:rPr lang="en-IN" sz="2400" b="1" baseline="-25000" dirty="0" smtClean="0"/>
              <a:t>1</a:t>
            </a:r>
            <a:r>
              <a:rPr lang="en-IN" sz="2400" b="1" dirty="0" smtClean="0"/>
              <a:t>  = g</a:t>
            </a:r>
            <a:r>
              <a:rPr lang="en-IN" sz="2400" b="1" i="1" baseline="30000" dirty="0" smtClean="0"/>
              <a:t>K</a:t>
            </a:r>
            <a:r>
              <a:rPr lang="en-IN" sz="2400" b="1" dirty="0" smtClean="0"/>
              <a:t>mod p</a:t>
            </a:r>
            <a:r>
              <a:rPr lang="en-IN" sz="2400" b="1" i="1" dirty="0" smtClean="0"/>
              <a:t>  </a:t>
            </a:r>
            <a:r>
              <a:rPr lang="en-IN" sz="2400" b="1" dirty="0" smtClean="0"/>
              <a:t>= 10</a:t>
            </a:r>
            <a:r>
              <a:rPr lang="en-IN" sz="2400" b="1" baseline="30000" dirty="0" smtClean="0"/>
              <a:t>5</a:t>
            </a:r>
            <a:r>
              <a:rPr lang="en-IN" sz="2400" b="1" dirty="0" smtClean="0"/>
              <a:t>mod 19  = 3 </a:t>
            </a:r>
          </a:p>
          <a:p>
            <a:pPr lvl="1"/>
            <a:r>
              <a:rPr lang="en-IN" sz="2400" b="1" dirty="0" smtClean="0"/>
              <a:t>K</a:t>
            </a:r>
            <a:r>
              <a:rPr lang="en-IN" sz="2400" b="1" baseline="30000" dirty="0" smtClean="0"/>
              <a:t>-1</a:t>
            </a:r>
            <a:r>
              <a:rPr lang="en-IN" sz="2400" b="1" dirty="0" smtClean="0"/>
              <a:t> mod (p-1) = 5</a:t>
            </a:r>
            <a:r>
              <a:rPr lang="en-IN" sz="2400" b="1" baseline="30000" dirty="0" smtClean="0"/>
              <a:t>-1</a:t>
            </a:r>
            <a:r>
              <a:rPr lang="en-IN" sz="2400" b="1" dirty="0" smtClean="0"/>
              <a:t> mod 18 = 11</a:t>
            </a:r>
          </a:p>
          <a:p>
            <a:pPr lvl="1"/>
            <a:r>
              <a:rPr lang="en-IN" sz="2400" b="1" i="1" dirty="0" smtClean="0"/>
              <a:t>S</a:t>
            </a:r>
            <a:r>
              <a:rPr lang="en-IN" sz="2400" b="1" baseline="-25000" dirty="0" smtClean="0"/>
              <a:t>2</a:t>
            </a:r>
            <a:r>
              <a:rPr lang="en-IN" sz="2400" b="1" dirty="0" smtClean="0"/>
              <a:t>  = K</a:t>
            </a:r>
            <a:r>
              <a:rPr lang="en-IN" sz="2400" b="1" baseline="30000" dirty="0" smtClean="0"/>
              <a:t>-1 </a:t>
            </a:r>
            <a:r>
              <a:rPr lang="en-IN" sz="2400" b="1" dirty="0" smtClean="0"/>
              <a:t>(m - d</a:t>
            </a:r>
            <a:r>
              <a:rPr lang="en-IN" sz="2400" b="1" i="1" dirty="0" smtClean="0"/>
              <a:t> S</a:t>
            </a:r>
            <a:r>
              <a:rPr lang="en-IN" sz="2400" b="1" dirty="0" smtClean="0"/>
              <a:t>1) mod (p-1)</a:t>
            </a:r>
            <a:r>
              <a:rPr lang="en-IN" sz="2400" b="1" i="1" dirty="0" smtClean="0"/>
              <a:t>  </a:t>
            </a:r>
          </a:p>
          <a:p>
            <a:pPr marL="457200" lvl="1" indent="0">
              <a:buNone/>
            </a:pPr>
            <a:r>
              <a:rPr lang="en-IN" sz="2400" b="1" i="1" dirty="0"/>
              <a:t> </a:t>
            </a:r>
            <a:r>
              <a:rPr lang="en-IN" sz="2400" b="1" i="1" dirty="0" smtClean="0"/>
              <a:t>          </a:t>
            </a:r>
            <a:r>
              <a:rPr lang="en-IN" sz="2400" b="1" dirty="0" smtClean="0"/>
              <a:t>= 11(14 – (16*3)) mod 18   </a:t>
            </a:r>
          </a:p>
          <a:p>
            <a:pPr marL="457200" lvl="1" indent="0">
              <a:buNone/>
            </a:pPr>
            <a:r>
              <a:rPr lang="en-IN" sz="2400" b="1" dirty="0"/>
              <a:t> </a:t>
            </a:r>
            <a:r>
              <a:rPr lang="en-IN" sz="2400" b="1" dirty="0" smtClean="0"/>
              <a:t>          = -374 mod 18 </a:t>
            </a:r>
          </a:p>
          <a:p>
            <a:pPr lvl="1"/>
            <a:r>
              <a:rPr lang="en-IN" sz="2400" b="1" i="1" dirty="0" smtClean="0"/>
              <a:t>S</a:t>
            </a:r>
            <a:r>
              <a:rPr lang="en-IN" sz="2400" b="1" baseline="-25000" dirty="0" smtClean="0"/>
              <a:t>2  </a:t>
            </a:r>
            <a:r>
              <a:rPr lang="en-IN" sz="2400" b="1" dirty="0" smtClean="0"/>
              <a:t>= 4.</a:t>
            </a:r>
          </a:p>
          <a:p>
            <a:pPr lvl="1"/>
            <a:r>
              <a:rPr lang="en-IN" sz="2400" i="1" dirty="0" smtClean="0"/>
              <a:t>Signature is </a:t>
            </a:r>
            <a:r>
              <a:rPr lang="en-IN" sz="2400" b="1" i="1" dirty="0" smtClean="0"/>
              <a:t>(S</a:t>
            </a:r>
            <a:r>
              <a:rPr lang="en-IN" sz="2400" b="1" baseline="-25000" dirty="0" smtClean="0"/>
              <a:t>1</a:t>
            </a:r>
            <a:r>
              <a:rPr lang="en-IN" sz="2400" b="1" i="1" dirty="0" smtClean="0"/>
              <a:t>, S</a:t>
            </a:r>
            <a:r>
              <a:rPr lang="en-IN" sz="2400" b="1" baseline="-25000" dirty="0" smtClean="0"/>
              <a:t>2</a:t>
            </a:r>
            <a:r>
              <a:rPr lang="en-IN" sz="2400" b="1" i="1" dirty="0" smtClean="0"/>
              <a:t>)</a:t>
            </a:r>
            <a:endParaRPr lang="en-IN" sz="2400" b="1" dirty="0" smtClean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84735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643602"/>
          </a:xfrm>
        </p:spPr>
        <p:txBody>
          <a:bodyPr>
            <a:normAutofit/>
          </a:bodyPr>
          <a:lstStyle/>
          <a:p>
            <a:r>
              <a:rPr lang="en-IN" b="1" dirty="0" smtClean="0"/>
              <a:t>Bob can verify the signature as follows;</a:t>
            </a:r>
          </a:p>
          <a:p>
            <a:pPr lvl="1"/>
            <a:r>
              <a:rPr lang="en-IN" b="1" dirty="0" smtClean="0"/>
              <a:t>V</a:t>
            </a:r>
            <a:r>
              <a:rPr lang="en-IN" b="1" baseline="-25000" dirty="0" smtClean="0"/>
              <a:t>1</a:t>
            </a:r>
            <a:r>
              <a:rPr lang="en-IN" b="1" dirty="0" smtClean="0"/>
              <a:t> = </a:t>
            </a:r>
            <a:r>
              <a:rPr lang="en-IN" b="1" dirty="0" err="1" smtClean="0"/>
              <a:t>g</a:t>
            </a:r>
            <a:r>
              <a:rPr lang="en-IN" b="1" baseline="30000" dirty="0" err="1" smtClean="0"/>
              <a:t>m</a:t>
            </a:r>
            <a:r>
              <a:rPr lang="en-IN" b="1" dirty="0" err="1" smtClean="0"/>
              <a:t>mod</a:t>
            </a:r>
            <a:r>
              <a:rPr lang="en-IN" b="1" dirty="0" smtClean="0"/>
              <a:t> p = 10</a:t>
            </a:r>
            <a:r>
              <a:rPr lang="en-IN" b="1" baseline="30000" dirty="0" smtClean="0"/>
              <a:t>14</a:t>
            </a:r>
            <a:r>
              <a:rPr lang="en-IN" b="1" dirty="0" smtClean="0"/>
              <a:t> mod 19 = 16</a:t>
            </a:r>
          </a:p>
          <a:p>
            <a:pPr lvl="1"/>
            <a:r>
              <a:rPr lang="en-IN" b="1" dirty="0" smtClean="0"/>
              <a:t>V</a:t>
            </a:r>
            <a:r>
              <a:rPr lang="en-IN" b="1" baseline="-25000" dirty="0" smtClean="0"/>
              <a:t>2</a:t>
            </a:r>
            <a:r>
              <a:rPr lang="en-IN" b="1" dirty="0" smtClean="0"/>
              <a:t> = (e)</a:t>
            </a:r>
            <a:r>
              <a:rPr lang="en-IN" b="1" baseline="30000" dirty="0" smtClean="0"/>
              <a:t>S1</a:t>
            </a:r>
            <a:r>
              <a:rPr lang="en-IN" b="1" dirty="0" smtClean="0"/>
              <a:t> (S</a:t>
            </a:r>
            <a:r>
              <a:rPr lang="en-IN" b="1" baseline="-25000" dirty="0" smtClean="0"/>
              <a:t>1</a:t>
            </a:r>
            <a:r>
              <a:rPr lang="en-IN" b="1" dirty="0" smtClean="0"/>
              <a:t>)</a:t>
            </a:r>
            <a:r>
              <a:rPr lang="en-IN" b="1" baseline="30000" dirty="0" smtClean="0"/>
              <a:t>S2 </a:t>
            </a:r>
            <a:r>
              <a:rPr lang="en-IN" b="1" dirty="0" smtClean="0"/>
              <a:t>mod p = (4)</a:t>
            </a:r>
            <a:r>
              <a:rPr lang="en-IN" b="1" baseline="30000" dirty="0" smtClean="0"/>
              <a:t>3</a:t>
            </a:r>
            <a:r>
              <a:rPr lang="en-IN" b="1" dirty="0" smtClean="0"/>
              <a:t> (3)</a:t>
            </a:r>
            <a:r>
              <a:rPr lang="en-IN" b="1" baseline="30000" dirty="0" smtClean="0"/>
              <a:t>4 </a:t>
            </a:r>
            <a:r>
              <a:rPr lang="en-IN" b="1" dirty="0" smtClean="0"/>
              <a:t>mod 19 = 5184 mod 19 = 16</a:t>
            </a:r>
          </a:p>
          <a:p>
            <a:pPr lvl="1"/>
            <a:r>
              <a:rPr lang="en-IN" b="1" dirty="0" smtClean="0"/>
              <a:t>V</a:t>
            </a:r>
            <a:r>
              <a:rPr lang="en-IN" b="1" baseline="-25000" dirty="0" smtClean="0"/>
              <a:t>1</a:t>
            </a:r>
            <a:r>
              <a:rPr lang="en-IN" b="1" dirty="0" smtClean="0"/>
              <a:t> = V</a:t>
            </a:r>
            <a:r>
              <a:rPr lang="en-IN" b="1" baseline="-25000" dirty="0" smtClean="0"/>
              <a:t>2</a:t>
            </a:r>
            <a:r>
              <a:rPr lang="en-IN" b="1" dirty="0" smtClean="0"/>
              <a:t>.</a:t>
            </a:r>
            <a:r>
              <a:rPr lang="en-IN" dirty="0" smtClean="0"/>
              <a:t>Thus , the signature is valid.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9417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643602"/>
          </a:xfrm>
        </p:spPr>
        <p:txBody>
          <a:bodyPr>
            <a:normAutofit fontScale="70000" lnSpcReduction="20000"/>
          </a:bodyPr>
          <a:lstStyle/>
          <a:p>
            <a:r>
              <a:rPr lang="en-IN" dirty="0" smtClean="0"/>
              <a:t>Let us consider the prime number p</a:t>
            </a:r>
            <a:r>
              <a:rPr lang="en-IN" i="1" dirty="0" smtClean="0"/>
              <a:t> </a:t>
            </a:r>
            <a:r>
              <a:rPr lang="en-IN" dirty="0" smtClean="0"/>
              <a:t>= 19 &amp; its primitive root g</a:t>
            </a:r>
            <a:r>
              <a:rPr lang="en-IN" i="1" dirty="0" smtClean="0"/>
              <a:t> </a:t>
            </a:r>
            <a:r>
              <a:rPr lang="en-IN" dirty="0" smtClean="0"/>
              <a:t>= 10.</a:t>
            </a:r>
          </a:p>
          <a:p>
            <a:r>
              <a:rPr lang="en-IN" b="1" dirty="0" smtClean="0"/>
              <a:t>Alice generates a key pair as follows:</a:t>
            </a:r>
          </a:p>
          <a:p>
            <a:pPr lvl="1"/>
            <a:r>
              <a:rPr lang="en-IN" dirty="0" smtClean="0"/>
              <a:t>Alice chooses d</a:t>
            </a:r>
            <a:r>
              <a:rPr lang="en-IN" i="1" dirty="0" smtClean="0"/>
              <a:t> </a:t>
            </a:r>
            <a:r>
              <a:rPr lang="en-IN" dirty="0" smtClean="0"/>
              <a:t>= 16.</a:t>
            </a:r>
          </a:p>
          <a:p>
            <a:pPr lvl="1"/>
            <a:r>
              <a:rPr lang="en-IN" dirty="0" smtClean="0"/>
              <a:t>Then e</a:t>
            </a:r>
            <a:r>
              <a:rPr lang="en-IN" i="1" dirty="0" smtClean="0"/>
              <a:t>  </a:t>
            </a:r>
            <a:r>
              <a:rPr lang="en-IN" i="1" dirty="0" smtClean="0">
                <a:sym typeface="Symbol"/>
              </a:rPr>
              <a:t></a:t>
            </a:r>
            <a:r>
              <a:rPr lang="en-IN" dirty="0" smtClean="0"/>
              <a:t>  </a:t>
            </a:r>
            <a:r>
              <a:rPr lang="en-IN" dirty="0" err="1" smtClean="0"/>
              <a:t>g</a:t>
            </a:r>
            <a:r>
              <a:rPr lang="en-IN" baseline="30000" dirty="0" err="1" smtClean="0"/>
              <a:t>d</a:t>
            </a:r>
            <a:r>
              <a:rPr lang="en-IN" i="1" dirty="0" smtClean="0"/>
              <a:t> </a:t>
            </a:r>
            <a:r>
              <a:rPr lang="en-IN" dirty="0" smtClean="0"/>
              <a:t>mod p</a:t>
            </a:r>
            <a:r>
              <a:rPr lang="en-IN" i="1" dirty="0" smtClean="0"/>
              <a:t>  </a:t>
            </a:r>
            <a:r>
              <a:rPr lang="en-IN" dirty="0" smtClean="0"/>
              <a:t>=  10</a:t>
            </a:r>
            <a:r>
              <a:rPr lang="en-IN" baseline="30000" dirty="0" smtClean="0"/>
              <a:t>16</a:t>
            </a:r>
            <a:r>
              <a:rPr lang="en-IN" dirty="0" smtClean="0"/>
              <a:t> mod 19  =  4.</a:t>
            </a:r>
          </a:p>
          <a:p>
            <a:pPr lvl="1"/>
            <a:r>
              <a:rPr lang="en-IN" dirty="0" smtClean="0"/>
              <a:t>Alice’s private key d= 16; </a:t>
            </a:r>
          </a:p>
          <a:p>
            <a:pPr lvl="1"/>
            <a:r>
              <a:rPr lang="en-IN" dirty="0" smtClean="0"/>
              <a:t>Alice’s pubic key is {p, g, e}  =  {19, 10, 4}. </a:t>
            </a:r>
          </a:p>
          <a:p>
            <a:r>
              <a:rPr lang="en-IN" b="1" dirty="0" smtClean="0"/>
              <a:t>Suppose Alice wants to sign a message with hash value </a:t>
            </a:r>
            <a:r>
              <a:rPr lang="en-IN" b="1" i="1" dirty="0" smtClean="0"/>
              <a:t>m  </a:t>
            </a:r>
            <a:r>
              <a:rPr lang="en-IN" b="1" dirty="0" smtClean="0"/>
              <a:t>=  14.</a:t>
            </a:r>
          </a:p>
          <a:p>
            <a:pPr lvl="1"/>
            <a:r>
              <a:rPr lang="en-IN" dirty="0" smtClean="0"/>
              <a:t>Alice chooses </a:t>
            </a:r>
            <a:r>
              <a:rPr lang="en-IN" i="1" dirty="0" smtClean="0"/>
              <a:t>K </a:t>
            </a:r>
            <a:r>
              <a:rPr lang="en-IN" dirty="0" smtClean="0"/>
              <a:t>= 5, which is relatively prime to p</a:t>
            </a:r>
            <a:r>
              <a:rPr lang="en-IN" i="1" dirty="0" smtClean="0"/>
              <a:t> </a:t>
            </a:r>
            <a:r>
              <a:rPr lang="en-IN" dirty="0" smtClean="0"/>
              <a:t>- 1 = 18.</a:t>
            </a:r>
          </a:p>
          <a:p>
            <a:pPr lvl="1"/>
            <a:r>
              <a:rPr lang="en-IN" i="1" dirty="0" smtClean="0"/>
              <a:t>S</a:t>
            </a:r>
            <a:r>
              <a:rPr lang="en-IN" baseline="-25000" dirty="0" smtClean="0"/>
              <a:t>1</a:t>
            </a:r>
            <a:r>
              <a:rPr lang="en-IN" dirty="0" smtClean="0"/>
              <a:t>  = g</a:t>
            </a:r>
            <a:r>
              <a:rPr lang="en-IN" i="1" baseline="30000" dirty="0" smtClean="0"/>
              <a:t>K</a:t>
            </a:r>
            <a:r>
              <a:rPr lang="en-IN" dirty="0" smtClean="0"/>
              <a:t>mod p</a:t>
            </a:r>
            <a:r>
              <a:rPr lang="en-IN" i="1" dirty="0" smtClean="0"/>
              <a:t>  </a:t>
            </a:r>
            <a:r>
              <a:rPr lang="en-IN" dirty="0" smtClean="0"/>
              <a:t>= 10</a:t>
            </a:r>
            <a:r>
              <a:rPr lang="en-IN" baseline="30000" dirty="0" smtClean="0"/>
              <a:t>5</a:t>
            </a:r>
            <a:r>
              <a:rPr lang="en-IN" dirty="0" smtClean="0"/>
              <a:t>mod 19  = 3 </a:t>
            </a:r>
          </a:p>
          <a:p>
            <a:pPr lvl="1"/>
            <a:r>
              <a:rPr lang="en-IN" dirty="0" smtClean="0"/>
              <a:t>K</a:t>
            </a:r>
            <a:r>
              <a:rPr lang="en-IN" baseline="30000" dirty="0" smtClean="0"/>
              <a:t>-1</a:t>
            </a:r>
            <a:r>
              <a:rPr lang="en-IN" dirty="0" smtClean="0"/>
              <a:t> mod (p-1) = 5</a:t>
            </a:r>
            <a:r>
              <a:rPr lang="en-IN" baseline="30000" dirty="0" smtClean="0"/>
              <a:t>-1</a:t>
            </a:r>
            <a:r>
              <a:rPr lang="en-IN" dirty="0" smtClean="0"/>
              <a:t> mod 18 = 11</a:t>
            </a:r>
          </a:p>
          <a:p>
            <a:pPr lvl="1"/>
            <a:r>
              <a:rPr lang="en-IN" i="1" dirty="0" smtClean="0"/>
              <a:t>S</a:t>
            </a:r>
            <a:r>
              <a:rPr lang="en-IN" baseline="-25000" dirty="0" smtClean="0"/>
              <a:t>2</a:t>
            </a:r>
            <a:r>
              <a:rPr lang="en-IN" dirty="0" smtClean="0"/>
              <a:t>  = K</a:t>
            </a:r>
            <a:r>
              <a:rPr lang="en-IN" baseline="30000" dirty="0" smtClean="0"/>
              <a:t>-1 </a:t>
            </a:r>
            <a:r>
              <a:rPr lang="en-IN" dirty="0" smtClean="0"/>
              <a:t>(m - d</a:t>
            </a:r>
            <a:r>
              <a:rPr lang="en-IN" i="1" dirty="0" smtClean="0"/>
              <a:t> S</a:t>
            </a:r>
            <a:r>
              <a:rPr lang="en-IN" dirty="0" smtClean="0"/>
              <a:t>1) mod (p-1)</a:t>
            </a:r>
            <a:r>
              <a:rPr lang="en-IN" i="1" dirty="0" smtClean="0"/>
              <a:t>  </a:t>
            </a:r>
            <a:r>
              <a:rPr lang="en-IN" dirty="0" smtClean="0"/>
              <a:t>= 11(14 – (16*3)) mod 18   = -374 mod 18 </a:t>
            </a:r>
            <a:r>
              <a:rPr lang="en-IN" i="1" dirty="0" smtClean="0"/>
              <a:t>S</a:t>
            </a:r>
            <a:r>
              <a:rPr lang="en-IN" baseline="-25000" dirty="0" smtClean="0"/>
              <a:t>2  </a:t>
            </a:r>
            <a:r>
              <a:rPr lang="en-IN" dirty="0" smtClean="0"/>
              <a:t>= 4.</a:t>
            </a:r>
          </a:p>
          <a:p>
            <a:pPr lvl="1"/>
            <a:r>
              <a:rPr lang="en-IN" i="1" dirty="0" smtClean="0"/>
              <a:t>Signature is (S</a:t>
            </a:r>
            <a:r>
              <a:rPr lang="en-IN" baseline="-25000" dirty="0" smtClean="0"/>
              <a:t>1</a:t>
            </a:r>
            <a:r>
              <a:rPr lang="en-IN" i="1" dirty="0" smtClean="0"/>
              <a:t>, S</a:t>
            </a:r>
            <a:r>
              <a:rPr lang="en-IN" baseline="-25000" dirty="0" smtClean="0"/>
              <a:t>2</a:t>
            </a:r>
            <a:r>
              <a:rPr lang="en-IN" i="1" dirty="0" smtClean="0"/>
              <a:t>)</a:t>
            </a:r>
            <a:endParaRPr lang="en-IN" dirty="0" smtClean="0"/>
          </a:p>
          <a:p>
            <a:r>
              <a:rPr lang="en-IN" b="1" dirty="0" smtClean="0"/>
              <a:t>Bob can verify the signature as follows;</a:t>
            </a:r>
          </a:p>
          <a:p>
            <a:pPr lvl="1"/>
            <a:r>
              <a:rPr lang="en-IN" dirty="0" smtClean="0"/>
              <a:t>V</a:t>
            </a:r>
            <a:r>
              <a:rPr lang="en-IN" baseline="-25000" dirty="0" smtClean="0"/>
              <a:t>1</a:t>
            </a:r>
            <a:r>
              <a:rPr lang="en-IN" dirty="0" smtClean="0"/>
              <a:t> = </a:t>
            </a:r>
            <a:r>
              <a:rPr lang="en-IN" dirty="0" err="1" smtClean="0"/>
              <a:t>g</a:t>
            </a:r>
            <a:r>
              <a:rPr lang="en-IN" baseline="30000" dirty="0" err="1" smtClean="0"/>
              <a:t>m</a:t>
            </a:r>
            <a:r>
              <a:rPr lang="en-IN" dirty="0" err="1" smtClean="0"/>
              <a:t>mod</a:t>
            </a:r>
            <a:r>
              <a:rPr lang="en-IN" dirty="0" smtClean="0"/>
              <a:t> p = 10</a:t>
            </a:r>
            <a:r>
              <a:rPr lang="en-IN" baseline="30000" dirty="0" smtClean="0"/>
              <a:t>14</a:t>
            </a:r>
            <a:r>
              <a:rPr lang="en-IN" dirty="0" smtClean="0"/>
              <a:t> mod 19 = 16</a:t>
            </a:r>
          </a:p>
          <a:p>
            <a:pPr lvl="1"/>
            <a:r>
              <a:rPr lang="en-IN" dirty="0" smtClean="0"/>
              <a:t>V</a:t>
            </a:r>
            <a:r>
              <a:rPr lang="en-IN" baseline="-25000" dirty="0" smtClean="0"/>
              <a:t>2</a:t>
            </a:r>
            <a:r>
              <a:rPr lang="en-IN" dirty="0" smtClean="0"/>
              <a:t> = (e)</a:t>
            </a:r>
            <a:r>
              <a:rPr lang="en-IN" baseline="30000" dirty="0" smtClean="0"/>
              <a:t>S1</a:t>
            </a:r>
            <a:r>
              <a:rPr lang="en-IN" dirty="0" smtClean="0"/>
              <a:t> (S</a:t>
            </a:r>
            <a:r>
              <a:rPr lang="en-IN" baseline="-25000" dirty="0" smtClean="0"/>
              <a:t>1</a:t>
            </a:r>
            <a:r>
              <a:rPr lang="en-IN" dirty="0" smtClean="0"/>
              <a:t>)</a:t>
            </a:r>
            <a:r>
              <a:rPr lang="en-IN" baseline="30000" dirty="0" smtClean="0"/>
              <a:t>S2 </a:t>
            </a:r>
            <a:r>
              <a:rPr lang="en-IN" dirty="0" smtClean="0"/>
              <a:t>mod p = (4)</a:t>
            </a:r>
            <a:r>
              <a:rPr lang="en-IN" baseline="30000" dirty="0" smtClean="0"/>
              <a:t>3</a:t>
            </a:r>
            <a:r>
              <a:rPr lang="en-IN" dirty="0" smtClean="0"/>
              <a:t> (3)</a:t>
            </a:r>
            <a:r>
              <a:rPr lang="en-IN" baseline="30000" dirty="0" smtClean="0"/>
              <a:t>4 </a:t>
            </a:r>
            <a:r>
              <a:rPr lang="en-IN" dirty="0" smtClean="0"/>
              <a:t>mod 19 = 5184 mod 19 = 16</a:t>
            </a:r>
          </a:p>
          <a:p>
            <a:pPr lvl="1"/>
            <a:r>
              <a:rPr lang="en-IN" dirty="0" smtClean="0"/>
              <a:t>V</a:t>
            </a:r>
            <a:r>
              <a:rPr lang="en-IN" baseline="-25000" dirty="0" smtClean="0"/>
              <a:t>1</a:t>
            </a:r>
            <a:r>
              <a:rPr lang="en-IN" dirty="0" smtClean="0"/>
              <a:t> = V</a:t>
            </a:r>
            <a:r>
              <a:rPr lang="en-IN" baseline="-25000" dirty="0" smtClean="0"/>
              <a:t>2</a:t>
            </a:r>
            <a:r>
              <a:rPr lang="en-IN" dirty="0" smtClean="0"/>
              <a:t>.Thus , the signature is valid.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1805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910" y="2714620"/>
            <a:ext cx="8229600" cy="1143000"/>
          </a:xfrm>
        </p:spPr>
        <p:txBody>
          <a:bodyPr>
            <a:normAutofit/>
          </a:bodyPr>
          <a:lstStyle/>
          <a:p>
            <a:r>
              <a:rPr lang="en-IN" sz="6600" b="1" dirty="0" smtClean="0"/>
              <a:t>RSA DS</a:t>
            </a:r>
            <a:endParaRPr lang="en-IN" sz="6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RSA DS</a:t>
            </a:r>
            <a:endParaRPr lang="en-IN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500174"/>
            <a:ext cx="8501122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RSA 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357850"/>
          </a:xfrm>
        </p:spPr>
        <p:txBody>
          <a:bodyPr>
            <a:normAutofit fontScale="92500" lnSpcReduction="10000"/>
          </a:bodyPr>
          <a:lstStyle/>
          <a:p>
            <a:pPr marL="0"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dirty="0" smtClean="0"/>
              <a:t> Sender A generates public and private keys:</a:t>
            </a:r>
          </a:p>
          <a:p>
            <a:pPr marL="400050" lvl="1"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srgbClr val="333333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Select two prime numbers ‘p’ and ‘q’ where p ≠ q.</a:t>
            </a:r>
          </a:p>
          <a:p>
            <a:pPr marL="400050" lvl="1"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srgbClr val="333333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Calculate n = p * q.</a:t>
            </a:r>
          </a:p>
          <a:p>
            <a:pPr marL="400050" lvl="1"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srgbClr val="333333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Calculate Ф(n) = (p-1) * (q-1).</a:t>
            </a:r>
          </a:p>
          <a:p>
            <a:pPr marL="400050" lvl="1"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srgbClr val="333333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Select ‘e’ such that, ‘e’ is relatively prime to Ф(n),                                      i.e., </a:t>
            </a:r>
            <a:r>
              <a:rPr lang="en-US" dirty="0" err="1" smtClean="0">
                <a:solidFill>
                  <a:srgbClr val="333333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gcd</a:t>
            </a:r>
            <a:r>
              <a:rPr lang="en-US" dirty="0" smtClean="0">
                <a:solidFill>
                  <a:srgbClr val="333333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(e, Ф(n)) = 1 and 1 &lt; e &lt; Ф(n).</a:t>
            </a:r>
          </a:p>
          <a:p>
            <a:pPr marL="400050" lvl="1"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srgbClr val="333333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Calculate d = e </a:t>
            </a:r>
            <a:r>
              <a:rPr lang="en-US" baseline="30000" dirty="0" smtClean="0">
                <a:solidFill>
                  <a:srgbClr val="333333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-1</a:t>
            </a:r>
            <a:r>
              <a:rPr lang="en-US" dirty="0" smtClean="0">
                <a:solidFill>
                  <a:srgbClr val="333333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 mod Ф(n) or e*d = 1 mod Ф(n).</a:t>
            </a:r>
          </a:p>
          <a:p>
            <a:pPr marL="400050" lvl="1"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srgbClr val="333333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PU (Public key) = {e, n}, </a:t>
            </a:r>
          </a:p>
          <a:p>
            <a:pPr marL="400050" lvl="1"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srgbClr val="333333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PR (private key) = {d, n}.</a:t>
            </a:r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RSA 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4911741"/>
          </a:xfrm>
        </p:spPr>
        <p:txBody>
          <a:bodyPr/>
          <a:lstStyle/>
          <a:p>
            <a:pPr algn="just"/>
            <a:r>
              <a:rPr lang="en-IN" dirty="0" smtClean="0"/>
              <a:t>The sender A signs a message (P) using private key (d) and send to receiver  B by computing:</a:t>
            </a:r>
          </a:p>
          <a:p>
            <a:pPr lvl="1" algn="just"/>
            <a:r>
              <a:rPr lang="en-US" dirty="0" smtClean="0"/>
              <a:t>S = P</a:t>
            </a:r>
            <a:r>
              <a:rPr lang="en-US" baseline="30000" dirty="0" smtClean="0"/>
              <a:t>d</a:t>
            </a:r>
            <a:r>
              <a:rPr lang="en-US" dirty="0" smtClean="0"/>
              <a:t> mod n</a:t>
            </a:r>
          </a:p>
          <a:p>
            <a:pPr lvl="1" algn="just"/>
            <a:r>
              <a:rPr lang="en-US" dirty="0" smtClean="0"/>
              <a:t>Generate signature S.</a:t>
            </a:r>
            <a:endParaRPr lang="en-IN" dirty="0" smtClean="0"/>
          </a:p>
          <a:p>
            <a:pPr algn="just"/>
            <a:r>
              <a:rPr lang="en-IN" dirty="0" smtClean="0"/>
              <a:t>The receiver B can verify the signature using public key (e) by computing:</a:t>
            </a:r>
          </a:p>
          <a:p>
            <a:pPr lvl="1" algn="just"/>
            <a:r>
              <a:rPr lang="en-US" dirty="0" smtClean="0"/>
              <a:t>M</a:t>
            </a:r>
            <a:r>
              <a:rPr lang="en-US" baseline="30000" dirty="0" smtClean="0"/>
              <a:t>’</a:t>
            </a:r>
            <a:r>
              <a:rPr lang="en-US" dirty="0" smtClean="0"/>
              <a:t> = S</a:t>
            </a:r>
            <a:r>
              <a:rPr lang="en-US" baseline="30000" dirty="0" smtClean="0"/>
              <a:t>e</a:t>
            </a:r>
            <a:r>
              <a:rPr lang="en-US" dirty="0" smtClean="0"/>
              <a:t> mod n</a:t>
            </a:r>
            <a:endParaRPr lang="en-IN" dirty="0" smtClean="0"/>
          </a:p>
          <a:p>
            <a:pPr marL="742950" lvl="2" indent="-342900" algn="just"/>
            <a:r>
              <a:rPr lang="en-IN" dirty="0" smtClean="0"/>
              <a:t>Signature  is valid if </a:t>
            </a:r>
            <a:r>
              <a:rPr lang="en-US" dirty="0" smtClean="0"/>
              <a:t>M</a:t>
            </a:r>
            <a:r>
              <a:rPr lang="en-US" baseline="30000" dirty="0" smtClean="0"/>
              <a:t>’ </a:t>
            </a:r>
            <a:r>
              <a:rPr lang="en-IN" dirty="0" smtClean="0"/>
              <a:t> = M</a:t>
            </a:r>
          </a:p>
          <a:p>
            <a:pPr algn="just"/>
            <a:endParaRPr lang="en-IN" dirty="0" smtClean="0"/>
          </a:p>
          <a:p>
            <a:pPr algn="just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85794"/>
          </a:xfrm>
        </p:spPr>
        <p:txBody>
          <a:bodyPr/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714356"/>
            <a:ext cx="8784976" cy="614364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IN" dirty="0" smtClean="0"/>
              <a:t>Let us consider p = 7, q = 13, P (plaintext) = 35</a:t>
            </a:r>
          </a:p>
          <a:p>
            <a:r>
              <a:rPr lang="en-IN" b="1" dirty="0" smtClean="0"/>
              <a:t>Key pair generation:</a:t>
            </a:r>
          </a:p>
          <a:p>
            <a:pPr lvl="1"/>
            <a:r>
              <a:rPr lang="en-IN" dirty="0" smtClean="0"/>
              <a:t>Compute n = </a:t>
            </a:r>
            <a:r>
              <a:rPr lang="en-IN" dirty="0" err="1" smtClean="0"/>
              <a:t>pq</a:t>
            </a:r>
            <a:r>
              <a:rPr lang="en-IN" dirty="0" smtClean="0"/>
              <a:t> = 7 * 13 = 91</a:t>
            </a:r>
          </a:p>
          <a:p>
            <a:pPr lvl="1"/>
            <a:r>
              <a:rPr lang="en-IN" dirty="0" smtClean="0"/>
              <a:t>Select e = 5</a:t>
            </a:r>
          </a:p>
          <a:p>
            <a:pPr lvl="1"/>
            <a:r>
              <a:rPr lang="en-IN" dirty="0" smtClean="0"/>
              <a:t>Compute </a:t>
            </a:r>
            <a:r>
              <a:rPr lang="en-US" dirty="0" smtClean="0"/>
              <a:t>Ф(n) = (p-1) * (q-1) = 6 * 12 = 72</a:t>
            </a:r>
            <a:endParaRPr lang="en-IN" dirty="0" smtClean="0"/>
          </a:p>
          <a:p>
            <a:pPr lvl="1"/>
            <a:r>
              <a:rPr lang="en-IN" dirty="0" smtClean="0"/>
              <a:t>Compute d:</a:t>
            </a:r>
          </a:p>
          <a:p>
            <a:pPr lvl="2">
              <a:buNone/>
            </a:pPr>
            <a:r>
              <a:rPr lang="en-IN" dirty="0" smtClean="0"/>
              <a:t>e * d = 1 mod Ф(n)  </a:t>
            </a:r>
          </a:p>
          <a:p>
            <a:pPr lvl="1">
              <a:buNone/>
            </a:pPr>
            <a:r>
              <a:rPr lang="en-IN" dirty="0" smtClean="0"/>
              <a:t>		5 * d = 1 mod 72 </a:t>
            </a:r>
          </a:p>
          <a:p>
            <a:pPr lvl="1">
              <a:buNone/>
            </a:pPr>
            <a:r>
              <a:rPr lang="en-IN" dirty="0" smtClean="0"/>
              <a:t>		5 * 29 = 1 mod 72 </a:t>
            </a:r>
          </a:p>
          <a:p>
            <a:pPr lvl="1">
              <a:buNone/>
            </a:pPr>
            <a:r>
              <a:rPr lang="en-IN" dirty="0" smtClean="0"/>
              <a:t>	       d = 29</a:t>
            </a:r>
          </a:p>
          <a:p>
            <a:pPr lvl="1"/>
            <a:r>
              <a:rPr lang="en-US" dirty="0" smtClean="0"/>
              <a:t>PU (Public key) = {e, n} = {5,91} </a:t>
            </a:r>
            <a:endParaRPr lang="en-IN" dirty="0" smtClean="0"/>
          </a:p>
          <a:p>
            <a:pPr lvl="1"/>
            <a:r>
              <a:rPr lang="en-US" dirty="0" smtClean="0"/>
              <a:t>PR (private key) = {d, n} = {29, 91}</a:t>
            </a:r>
            <a:endParaRPr lang="en-IN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254" y="3173825"/>
            <a:ext cx="2538284" cy="4320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85794"/>
          </a:xfrm>
        </p:spPr>
        <p:txBody>
          <a:bodyPr/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714356"/>
            <a:ext cx="8784976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dirty="0" smtClean="0"/>
              <a:t>Let us consider p = 7, q = 13, P (plaintext) = 35</a:t>
            </a:r>
          </a:p>
          <a:p>
            <a:r>
              <a:rPr lang="en-US" b="1" dirty="0" smtClean="0"/>
              <a:t>Signature:</a:t>
            </a:r>
            <a:endParaRPr lang="en-IN" b="1" dirty="0" smtClean="0"/>
          </a:p>
          <a:p>
            <a:pPr lvl="1"/>
            <a:r>
              <a:rPr lang="en-US" dirty="0" smtClean="0"/>
              <a:t>S = P</a:t>
            </a:r>
            <a:r>
              <a:rPr lang="en-US" baseline="30000" dirty="0" smtClean="0"/>
              <a:t>d</a:t>
            </a:r>
            <a:r>
              <a:rPr lang="en-US" dirty="0" smtClean="0"/>
              <a:t> mod n = 35</a:t>
            </a:r>
            <a:r>
              <a:rPr lang="en-US" baseline="30000" dirty="0" smtClean="0"/>
              <a:t>29</a:t>
            </a:r>
            <a:r>
              <a:rPr lang="en-US" dirty="0" smtClean="0"/>
              <a:t> mod 91 = 42</a:t>
            </a:r>
            <a:endParaRPr lang="en-IN" dirty="0" smtClean="0"/>
          </a:p>
          <a:p>
            <a:pPr lvl="1"/>
            <a:r>
              <a:rPr lang="en-US" dirty="0" smtClean="0"/>
              <a:t>S = 42</a:t>
            </a:r>
            <a:endParaRPr lang="en-IN" dirty="0" smtClean="0"/>
          </a:p>
          <a:p>
            <a:r>
              <a:rPr lang="en-US" b="1" dirty="0" smtClean="0"/>
              <a:t>Verification:</a:t>
            </a:r>
            <a:endParaRPr lang="en-IN" b="1" dirty="0" smtClean="0"/>
          </a:p>
          <a:p>
            <a:pPr lvl="1"/>
            <a:r>
              <a:rPr lang="en-US" dirty="0" smtClean="0"/>
              <a:t>M</a:t>
            </a:r>
            <a:r>
              <a:rPr lang="en-US" baseline="30000" dirty="0" smtClean="0"/>
              <a:t>’</a:t>
            </a:r>
            <a:r>
              <a:rPr lang="en-US" dirty="0" smtClean="0"/>
              <a:t> = S</a:t>
            </a:r>
            <a:r>
              <a:rPr lang="en-US" baseline="30000" dirty="0" smtClean="0"/>
              <a:t>e</a:t>
            </a:r>
            <a:r>
              <a:rPr lang="en-US" dirty="0" smtClean="0"/>
              <a:t> mod n</a:t>
            </a:r>
            <a:endParaRPr lang="en-IN" dirty="0" smtClean="0"/>
          </a:p>
          <a:p>
            <a:pPr lvl="1"/>
            <a:r>
              <a:rPr lang="en-US" dirty="0" smtClean="0"/>
              <a:t>M</a:t>
            </a:r>
            <a:r>
              <a:rPr lang="en-US" baseline="30000" dirty="0" smtClean="0"/>
              <a:t>’</a:t>
            </a:r>
            <a:r>
              <a:rPr lang="en-US" dirty="0" smtClean="0"/>
              <a:t> = 42</a:t>
            </a:r>
            <a:r>
              <a:rPr lang="en-US" baseline="30000" dirty="0" smtClean="0"/>
              <a:t>5</a:t>
            </a:r>
            <a:r>
              <a:rPr lang="en-US" dirty="0" smtClean="0"/>
              <a:t> mod 91 = 35</a:t>
            </a:r>
            <a:endParaRPr lang="en-IN" dirty="0" smtClean="0"/>
          </a:p>
          <a:p>
            <a:pPr lvl="1"/>
            <a:r>
              <a:rPr lang="en-US" dirty="0" smtClean="0"/>
              <a:t>M</a:t>
            </a:r>
            <a:r>
              <a:rPr lang="en-US" baseline="30000" dirty="0" smtClean="0"/>
              <a:t>’ </a:t>
            </a:r>
            <a:r>
              <a:rPr lang="en-IN" dirty="0" smtClean="0"/>
              <a:t> = M therefore signature is valid.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4694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85794"/>
          </a:xfrm>
        </p:spPr>
        <p:txBody>
          <a:bodyPr/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560" y="1700808"/>
            <a:ext cx="7981353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078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418291-DC38-4E42-90E8-CD83CE033090}" type="slidenum">
              <a:rPr lang="en-GB" altLang="en-US"/>
              <a:pPr/>
              <a:t>22</a:t>
            </a:fld>
            <a:endParaRPr lang="en-GB" altLang="en-US"/>
          </a:p>
        </p:txBody>
      </p:sp>
      <p:sp>
        <p:nvSpPr>
          <p:cNvPr id="130050" name="AutoShape 2"/>
          <p:cNvSpPr>
            <a:spLocks noGrp="1" noChangeArrowheads="1"/>
          </p:cNvSpPr>
          <p:nvPr>
            <p:ph type="title"/>
          </p:nvPr>
        </p:nvSpPr>
        <p:spPr>
          <a:xfrm>
            <a:off x="473137" y="23581"/>
            <a:ext cx="8229600" cy="669115"/>
          </a:xfrm>
          <a:ln/>
        </p:spPr>
        <p:txBody>
          <a:bodyPr/>
          <a:lstStyle/>
          <a:p>
            <a:r>
              <a:rPr lang="cs-CZ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Digital Signature Standard</a:t>
            </a:r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1" y="796760"/>
            <a:ext cx="8816851" cy="4864487"/>
          </a:xfrm>
        </p:spPr>
        <p:txBody>
          <a:bodyPr>
            <a:noAutofit/>
          </a:bodyPr>
          <a:lstStyle/>
          <a:p>
            <a:pPr marL="0" indent="0"/>
            <a:r>
              <a:rPr lang="cs-CZ" altLang="en-US" sz="2800" dirty="0"/>
              <a:t>In December 1994, on the proposal of the National Institute of Standards and Technology,  the following </a:t>
            </a:r>
            <a:r>
              <a:rPr lang="cs-CZ" altLang="en-US" sz="2800" dirty="0">
                <a:solidFill>
                  <a:srgbClr val="FF0000"/>
                </a:solidFill>
              </a:rPr>
              <a:t>Digital Signature Algorithm (DSA)</a:t>
            </a:r>
            <a:r>
              <a:rPr lang="cs-CZ" altLang="en-US" sz="2800" dirty="0"/>
              <a:t> was accepted as </a:t>
            </a:r>
            <a:r>
              <a:rPr lang="cs-CZ" altLang="en-US" sz="2800" dirty="0">
                <a:solidFill>
                  <a:srgbClr val="FF0000"/>
                </a:solidFill>
              </a:rPr>
              <a:t>a  standard</a:t>
            </a:r>
            <a:r>
              <a:rPr lang="cs-CZ" altLang="en-US" sz="2800" dirty="0" smtClean="0">
                <a:solidFill>
                  <a:srgbClr val="FF0000"/>
                </a:solidFill>
              </a:rPr>
              <a:t>.</a:t>
            </a:r>
            <a:endParaRPr lang="en-IN" altLang="en-US" sz="2800" dirty="0" smtClean="0">
              <a:solidFill>
                <a:srgbClr val="FF0000"/>
              </a:solidFill>
            </a:endParaRPr>
          </a:p>
          <a:p>
            <a:pPr marL="0" indent="0"/>
            <a:r>
              <a:rPr lang="en-IN" altLang="en-US" sz="2800" dirty="0" smtClean="0"/>
              <a:t>It uses Secure Hash Algorithm</a:t>
            </a:r>
            <a:r>
              <a:rPr lang="en-IN" altLang="en-US" sz="2800" b="1" dirty="0" smtClean="0">
                <a:solidFill>
                  <a:srgbClr val="FF0000"/>
                </a:solidFill>
              </a:rPr>
              <a:t>(SHA).</a:t>
            </a:r>
          </a:p>
          <a:p>
            <a:pPr marL="0" indent="0"/>
            <a:endParaRPr lang="en-IN" altLang="en-US" sz="2800" b="1" dirty="0"/>
          </a:p>
          <a:p>
            <a:pPr marL="0" indent="0"/>
            <a:r>
              <a:rPr lang="en-IN" altLang="en-US" sz="2800" b="1" dirty="0" smtClean="0"/>
              <a:t>Steps:</a:t>
            </a:r>
          </a:p>
          <a:p>
            <a:pPr marL="0" indent="0">
              <a:buNone/>
            </a:pPr>
            <a:r>
              <a:rPr lang="en-US" sz="2800" dirty="0"/>
              <a:t>1. Key </a:t>
            </a:r>
            <a:r>
              <a:rPr lang="en-US" sz="2800" dirty="0" smtClean="0"/>
              <a:t>Generation</a:t>
            </a:r>
          </a:p>
          <a:p>
            <a:pPr marL="0" indent="0">
              <a:buNone/>
            </a:pPr>
            <a:r>
              <a:rPr lang="en-US" sz="2800" dirty="0"/>
              <a:t>2. Signature </a:t>
            </a:r>
            <a:r>
              <a:rPr lang="en-US" sz="2800" dirty="0" smtClean="0"/>
              <a:t>Generation</a:t>
            </a:r>
          </a:p>
          <a:p>
            <a:pPr marL="0" indent="0">
              <a:buNone/>
            </a:pPr>
            <a:r>
              <a:rPr lang="en-US" sz="2800" dirty="0"/>
              <a:t>3. Signature </a:t>
            </a:r>
            <a:r>
              <a:rPr lang="en-US" sz="2800" dirty="0" smtClean="0"/>
              <a:t>Verification</a:t>
            </a:r>
            <a:endParaRPr lang="en-US" sz="2800" dirty="0"/>
          </a:p>
          <a:p>
            <a:pPr marL="0" indent="0"/>
            <a:endParaRPr lang="en-US" sz="2800" dirty="0"/>
          </a:p>
          <a:p>
            <a:pPr marL="0" indent="0"/>
            <a:endParaRPr lang="en-US" sz="2800" dirty="0"/>
          </a:p>
          <a:p>
            <a:pPr marL="0" indent="0"/>
            <a:endParaRPr lang="en-IN" altLang="en-US" sz="2800" b="1" dirty="0" smtClean="0"/>
          </a:p>
          <a:p>
            <a:pPr marL="0" indent="0"/>
            <a:endParaRPr lang="cs-CZ" altLang="en-US" sz="2800" b="1" dirty="0"/>
          </a:p>
        </p:txBody>
      </p:sp>
      <p:sp>
        <p:nvSpPr>
          <p:cNvPr id="130056" name="Rectangle 8"/>
          <p:cNvSpPr>
            <a:spLocks noChangeArrowheads="1"/>
          </p:cNvSpPr>
          <p:nvPr/>
        </p:nvSpPr>
        <p:spPr bwMode="auto">
          <a:xfrm>
            <a:off x="179511" y="1882874"/>
            <a:ext cx="8816851" cy="186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66763" indent="-1984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79525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98625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17725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74925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32125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89325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46525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buClr>
                <a:srgbClr val="000000"/>
              </a:buClr>
              <a:buSzPct val="90000"/>
            </a:pPr>
            <a:endParaRPr lang="cs-CZ" altLang="en-US" sz="1700" b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5882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6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418291-DC38-4E42-90E8-CD83CE033090}" type="slidenum">
              <a:rPr lang="en-GB" altLang="en-US"/>
              <a:pPr/>
              <a:t>23</a:t>
            </a:fld>
            <a:endParaRPr lang="en-GB" altLang="en-US"/>
          </a:p>
        </p:txBody>
      </p:sp>
      <p:sp>
        <p:nvSpPr>
          <p:cNvPr id="130050" name="AutoShape 2"/>
          <p:cNvSpPr>
            <a:spLocks noGrp="1" noChangeArrowheads="1"/>
          </p:cNvSpPr>
          <p:nvPr>
            <p:ph type="title"/>
          </p:nvPr>
        </p:nvSpPr>
        <p:spPr>
          <a:xfrm>
            <a:off x="473137" y="23581"/>
            <a:ext cx="8229600" cy="669115"/>
          </a:xfrm>
          <a:ln/>
        </p:spPr>
        <p:txBody>
          <a:bodyPr/>
          <a:lstStyle/>
          <a:p>
            <a:r>
              <a:rPr lang="cs-CZ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Digital Signature Standard</a:t>
            </a:r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1" y="796761"/>
            <a:ext cx="8816851" cy="8747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/>
              <a:t>1. Key Generation:</a:t>
            </a:r>
          </a:p>
          <a:p>
            <a:pPr marL="0" indent="0">
              <a:buNone/>
            </a:pPr>
            <a:r>
              <a:rPr lang="en-US" sz="2800" b="1" dirty="0" smtClean="0"/>
              <a:t>    Private </a:t>
            </a:r>
            <a:r>
              <a:rPr lang="en-US" sz="2800" b="1" dirty="0"/>
              <a:t>Key:</a:t>
            </a:r>
            <a:endParaRPr lang="en-US" sz="2800" dirty="0"/>
          </a:p>
          <a:p>
            <a:r>
              <a:rPr lang="en-US" sz="2800" dirty="0"/>
              <a:t>The signer generates a unique, secret private key, which must be kept confidential.</a:t>
            </a:r>
          </a:p>
          <a:p>
            <a:pPr marL="0" indent="0">
              <a:buNone/>
            </a:pPr>
            <a:r>
              <a:rPr lang="en-US" sz="2800" b="1" dirty="0" smtClean="0"/>
              <a:t>   Public </a:t>
            </a:r>
            <a:r>
              <a:rPr lang="en-US" sz="2800" b="1" dirty="0"/>
              <a:t>Key:</a:t>
            </a:r>
            <a:endParaRPr lang="en-US" sz="2800" dirty="0"/>
          </a:p>
          <a:p>
            <a:pPr fontAlgn="ctr"/>
            <a:r>
              <a:rPr lang="en-US" sz="2800" dirty="0"/>
              <a:t>The signer also generates a corresponding public key, which can be shared with others. </a:t>
            </a:r>
          </a:p>
        </p:txBody>
      </p:sp>
      <p:sp>
        <p:nvSpPr>
          <p:cNvPr id="130056" name="Rectangle 8"/>
          <p:cNvSpPr>
            <a:spLocks noChangeArrowheads="1"/>
          </p:cNvSpPr>
          <p:nvPr/>
        </p:nvSpPr>
        <p:spPr bwMode="auto">
          <a:xfrm>
            <a:off x="179511" y="1882874"/>
            <a:ext cx="8816851" cy="186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66763" indent="-1984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79525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98625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17725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74925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32125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89325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46525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buClr>
                <a:srgbClr val="000000"/>
              </a:buClr>
              <a:buSzPct val="90000"/>
            </a:pPr>
            <a:endParaRPr lang="cs-CZ" altLang="en-US" sz="1700" b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43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6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418291-DC38-4E42-90E8-CD83CE033090}" type="slidenum">
              <a:rPr lang="en-GB" altLang="en-US"/>
              <a:pPr/>
              <a:t>24</a:t>
            </a:fld>
            <a:endParaRPr lang="en-GB" altLang="en-US"/>
          </a:p>
        </p:txBody>
      </p:sp>
      <p:sp>
        <p:nvSpPr>
          <p:cNvPr id="130050" name="AutoShape 2"/>
          <p:cNvSpPr>
            <a:spLocks noGrp="1" noChangeArrowheads="1"/>
          </p:cNvSpPr>
          <p:nvPr>
            <p:ph type="title"/>
          </p:nvPr>
        </p:nvSpPr>
        <p:spPr>
          <a:xfrm>
            <a:off x="473137" y="23581"/>
            <a:ext cx="8229600" cy="669115"/>
          </a:xfrm>
          <a:ln/>
        </p:spPr>
        <p:txBody>
          <a:bodyPr/>
          <a:lstStyle/>
          <a:p>
            <a:r>
              <a:rPr lang="cs-CZ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Digital Signature Standard</a:t>
            </a:r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1" y="796761"/>
            <a:ext cx="8816851" cy="8747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 smtClean="0"/>
              <a:t>2</a:t>
            </a:r>
            <a:r>
              <a:rPr lang="en-US" sz="2800" dirty="0"/>
              <a:t>. Signature Generation:</a:t>
            </a:r>
          </a:p>
          <a:p>
            <a:pPr marL="0" indent="0">
              <a:buNone/>
            </a:pPr>
            <a:r>
              <a:rPr lang="en-US" sz="2800" b="1" dirty="0" smtClean="0"/>
              <a:t>   Hashing</a:t>
            </a:r>
            <a:r>
              <a:rPr lang="en-US" sz="2800" b="1" dirty="0"/>
              <a:t>:</a:t>
            </a:r>
            <a:endParaRPr lang="en-US" sz="2800" dirty="0"/>
          </a:p>
          <a:p>
            <a:r>
              <a:rPr lang="en-US" sz="2800" dirty="0"/>
              <a:t>The content of the document to be signed is hashed using a cryptographic hash </a:t>
            </a:r>
            <a:r>
              <a:rPr lang="en-US" sz="2800" dirty="0" smtClean="0"/>
              <a:t>function(SHA), </a:t>
            </a:r>
            <a:r>
              <a:rPr lang="en-US" sz="2800" dirty="0"/>
              <a:t>producing a unique "fingerprint" of the data.</a:t>
            </a:r>
          </a:p>
          <a:p>
            <a:pPr marL="0" indent="0">
              <a:buNone/>
            </a:pPr>
            <a:r>
              <a:rPr lang="en-US" sz="2800" b="1" dirty="0" smtClean="0"/>
              <a:t>     Signing</a:t>
            </a:r>
            <a:r>
              <a:rPr lang="en-US" sz="2800" b="1" dirty="0"/>
              <a:t>:</a:t>
            </a:r>
            <a:endParaRPr lang="en-US" sz="2800" dirty="0"/>
          </a:p>
          <a:p>
            <a:pPr fontAlgn="ctr"/>
            <a:r>
              <a:rPr lang="en-US" sz="2800" dirty="0"/>
              <a:t>The hash value is then encrypted using the signer's private key, creating the digital signature. </a:t>
            </a:r>
          </a:p>
        </p:txBody>
      </p:sp>
      <p:sp>
        <p:nvSpPr>
          <p:cNvPr id="130056" name="Rectangle 8"/>
          <p:cNvSpPr>
            <a:spLocks noChangeArrowheads="1"/>
          </p:cNvSpPr>
          <p:nvPr/>
        </p:nvSpPr>
        <p:spPr bwMode="auto">
          <a:xfrm>
            <a:off x="179511" y="1882874"/>
            <a:ext cx="8816851" cy="186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66763" indent="-1984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79525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98625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17725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74925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32125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89325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46525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buClr>
                <a:srgbClr val="000000"/>
              </a:buClr>
              <a:buSzPct val="90000"/>
            </a:pPr>
            <a:endParaRPr lang="cs-CZ" altLang="en-US" sz="1700" b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5771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6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418291-DC38-4E42-90E8-CD83CE033090}" type="slidenum">
              <a:rPr lang="en-GB" altLang="en-US"/>
              <a:pPr/>
              <a:t>25</a:t>
            </a:fld>
            <a:endParaRPr lang="en-GB" altLang="en-US"/>
          </a:p>
        </p:txBody>
      </p:sp>
      <p:sp>
        <p:nvSpPr>
          <p:cNvPr id="130050" name="AutoShape 2"/>
          <p:cNvSpPr>
            <a:spLocks noGrp="1" noChangeArrowheads="1"/>
          </p:cNvSpPr>
          <p:nvPr>
            <p:ph type="title"/>
          </p:nvPr>
        </p:nvSpPr>
        <p:spPr>
          <a:xfrm>
            <a:off x="473137" y="23581"/>
            <a:ext cx="8229600" cy="669115"/>
          </a:xfrm>
          <a:ln/>
        </p:spPr>
        <p:txBody>
          <a:bodyPr/>
          <a:lstStyle/>
          <a:p>
            <a:r>
              <a:rPr lang="cs-CZ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Digital Signature Standard</a:t>
            </a:r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1" y="796761"/>
            <a:ext cx="8816851" cy="8747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 smtClean="0"/>
              <a:t>3</a:t>
            </a:r>
            <a:r>
              <a:rPr lang="en-US" sz="2800" dirty="0"/>
              <a:t>. Signature Verification:</a:t>
            </a:r>
          </a:p>
          <a:p>
            <a:pPr marL="0" indent="0">
              <a:buNone/>
            </a:pPr>
            <a:r>
              <a:rPr lang="en-US" sz="2800" b="1" dirty="0" smtClean="0"/>
              <a:t>    Hashing</a:t>
            </a:r>
            <a:r>
              <a:rPr lang="en-US" sz="2800" b="1" dirty="0"/>
              <a:t>:</a:t>
            </a:r>
            <a:endParaRPr lang="en-US" sz="2800" dirty="0"/>
          </a:p>
          <a:p>
            <a:r>
              <a:rPr lang="en-US" sz="2800" dirty="0"/>
              <a:t>The recipient independently hashes the received document using the same hash function.</a:t>
            </a:r>
          </a:p>
          <a:p>
            <a:pPr marL="0" indent="0">
              <a:buNone/>
            </a:pPr>
            <a:r>
              <a:rPr lang="en-US" sz="2800" b="1" dirty="0" smtClean="0"/>
              <a:t>    Decryption</a:t>
            </a:r>
            <a:r>
              <a:rPr lang="en-US" sz="2800" b="1" dirty="0"/>
              <a:t>:</a:t>
            </a:r>
            <a:endParaRPr lang="en-US" sz="2800" dirty="0"/>
          </a:p>
          <a:p>
            <a:r>
              <a:rPr lang="en-US" sz="2800" dirty="0"/>
              <a:t>The recipient decrypts the received digital signature using the signer's public key.</a:t>
            </a:r>
          </a:p>
        </p:txBody>
      </p:sp>
      <p:sp>
        <p:nvSpPr>
          <p:cNvPr id="130056" name="Rectangle 8"/>
          <p:cNvSpPr>
            <a:spLocks noChangeArrowheads="1"/>
          </p:cNvSpPr>
          <p:nvPr/>
        </p:nvSpPr>
        <p:spPr bwMode="auto">
          <a:xfrm>
            <a:off x="179511" y="1882874"/>
            <a:ext cx="8816851" cy="186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66763" indent="-1984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79525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98625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17725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74925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32125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89325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46525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buClr>
                <a:srgbClr val="000000"/>
              </a:buClr>
              <a:buSzPct val="90000"/>
            </a:pPr>
            <a:endParaRPr lang="cs-CZ" altLang="en-US" sz="1700" b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6738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6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418291-DC38-4E42-90E8-CD83CE033090}" type="slidenum">
              <a:rPr lang="en-GB" altLang="en-US"/>
              <a:pPr/>
              <a:t>26</a:t>
            </a:fld>
            <a:endParaRPr lang="en-GB" altLang="en-US"/>
          </a:p>
        </p:txBody>
      </p:sp>
      <p:sp>
        <p:nvSpPr>
          <p:cNvPr id="130050" name="AutoShape 2"/>
          <p:cNvSpPr>
            <a:spLocks noGrp="1" noChangeArrowheads="1"/>
          </p:cNvSpPr>
          <p:nvPr>
            <p:ph type="title"/>
          </p:nvPr>
        </p:nvSpPr>
        <p:spPr>
          <a:xfrm>
            <a:off x="473137" y="23581"/>
            <a:ext cx="8229600" cy="669115"/>
          </a:xfrm>
          <a:ln/>
        </p:spPr>
        <p:txBody>
          <a:bodyPr/>
          <a:lstStyle/>
          <a:p>
            <a:r>
              <a:rPr lang="cs-CZ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Digital Signature Standard</a:t>
            </a:r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1" y="796761"/>
            <a:ext cx="8816851" cy="8747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 smtClean="0"/>
              <a:t>Overview of Digital Signature Standard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130056" name="Rectangle 8"/>
          <p:cNvSpPr>
            <a:spLocks noChangeArrowheads="1"/>
          </p:cNvSpPr>
          <p:nvPr/>
        </p:nvSpPr>
        <p:spPr bwMode="auto">
          <a:xfrm>
            <a:off x="179511" y="1882874"/>
            <a:ext cx="8816851" cy="186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66763" indent="-1984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79525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98625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17725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74925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32125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89325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46525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buClr>
                <a:srgbClr val="000000"/>
              </a:buClr>
              <a:buSzPct val="90000"/>
            </a:pPr>
            <a:endParaRPr lang="cs-CZ" altLang="en-US" sz="1700" b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93" y="2125280"/>
            <a:ext cx="8502444" cy="366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613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6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969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Generate Global Public Key Components{</a:t>
            </a:r>
            <a:r>
              <a:rPr lang="en-IN" dirty="0" err="1" smtClean="0"/>
              <a:t>p,q,g</a:t>
            </a:r>
            <a:r>
              <a:rPr lang="en-IN" dirty="0" smtClean="0"/>
              <a:t>}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1146969"/>
            <a:ext cx="7488832" cy="573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302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User’s public key and the private key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638"/>
            <a:ext cx="8075240" cy="6110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191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474" y="-66675"/>
            <a:ext cx="8229600" cy="687363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Signing and Verifying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2" y="608426"/>
            <a:ext cx="6219462" cy="35406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873" y="2348880"/>
            <a:ext cx="5905060" cy="466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768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-25094"/>
            <a:ext cx="8229600" cy="464280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Exercise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52536" y="222357"/>
            <a:ext cx="5210175" cy="45148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4983614"/>
            <a:ext cx="2886075" cy="20383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9756" y="646082"/>
            <a:ext cx="4176464" cy="4330248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957639" y="439186"/>
            <a:ext cx="0" cy="64188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82843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-25094"/>
            <a:ext cx="8229600" cy="464280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Exercise</a:t>
            </a:r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7" y="2276475"/>
            <a:ext cx="4514850" cy="45243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827" y="-25094"/>
            <a:ext cx="4029075" cy="44005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9803" y="4725144"/>
            <a:ext cx="4134197" cy="126168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254" y="-4312"/>
            <a:ext cx="4257675" cy="2266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4957639" y="439186"/>
            <a:ext cx="0" cy="64188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41987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635D98-0941-40FB-8AB5-7F326C6B3F05}" type="slidenum">
              <a:rPr lang="en-GB" altLang="en-US"/>
              <a:pPr/>
              <a:t>32</a:t>
            </a:fld>
            <a:endParaRPr lang="en-GB" altLang="en-US"/>
          </a:p>
        </p:txBody>
      </p:sp>
      <p:sp>
        <p:nvSpPr>
          <p:cNvPr id="132098" name="AutoShap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cs-CZ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From ElGamal to DSA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195388"/>
            <a:ext cx="8169275" cy="569912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90000"/>
              </a:lnSpc>
            </a:pPr>
            <a:r>
              <a:rPr lang="cs-CZ" altLang="en-US"/>
              <a:t>DSA is a modification of ElGamal digital signature scheme. It was</a:t>
            </a:r>
            <a:r>
              <a:rPr lang="en-US" altLang="en-US"/>
              <a:t> </a:t>
            </a:r>
            <a:r>
              <a:rPr lang="cs-CZ" altLang="en-US"/>
              <a:t>proposed in August 1991 and adopted in December 1994.</a:t>
            </a:r>
            <a:endParaRPr lang="en-US" altLang="en-US"/>
          </a:p>
        </p:txBody>
      </p:sp>
      <p:sp>
        <p:nvSpPr>
          <p:cNvPr id="132104" name="Rectangle 8"/>
          <p:cNvSpPr>
            <a:spLocks noChangeArrowheads="1"/>
          </p:cNvSpPr>
          <p:nvPr/>
        </p:nvSpPr>
        <p:spPr bwMode="auto">
          <a:xfrm>
            <a:off x="827088" y="1736725"/>
            <a:ext cx="8169275" cy="4684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66763" indent="-1984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79525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98625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17725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74925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32125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89325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46525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rgbClr val="000000"/>
              </a:buClr>
              <a:buSzPct val="90000"/>
            </a:pPr>
            <a:r>
              <a:rPr lang="cs-CZ" altLang="en-US" sz="1700" b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Any proposal for digital signature standard has to go through a very</a:t>
            </a:r>
            <a:r>
              <a:rPr lang="en-US" altLang="en-US" sz="1700" b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altLang="en-US" sz="1700" b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careful scrutiny.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1700" b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Why?</a:t>
            </a:r>
            <a:endParaRPr lang="en-US" altLang="en-US" sz="300" b="0">
              <a:solidFill>
                <a:srgbClr val="0000FF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rgbClr val="000000"/>
              </a:buClr>
              <a:buSzPct val="90000"/>
            </a:pP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Encryption of a message is usually done only once and therefore it</a:t>
            </a:r>
            <a:r>
              <a:rPr lang="en-US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usually suffices to use a cryptosystem that is secure </a:t>
            </a:r>
            <a:r>
              <a:rPr lang="cs-CZ" altLang="en-US" sz="170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at the time</a:t>
            </a:r>
            <a:r>
              <a:rPr lang="en-US" altLang="en-US" sz="170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altLang="en-US" sz="170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of </a:t>
            </a:r>
            <a:r>
              <a:rPr lang="en-US" altLang="en-US" sz="170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lang="cs-CZ" altLang="en-US" sz="170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encryption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en-US" altLang="en-US" sz="300" b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rgbClr val="000000"/>
              </a:buClr>
              <a:buSzPct val="90000"/>
            </a:pP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On the other hand, a signed message could be a contract or a will and</a:t>
            </a:r>
            <a:r>
              <a:rPr lang="en-US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it can happen that it will be needed to verify a signature </a:t>
            </a:r>
            <a:r>
              <a:rPr lang="cs-CZ" altLang="en-US" sz="170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many</a:t>
            </a:r>
            <a:r>
              <a:rPr lang="en-US" altLang="en-US" sz="170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altLang="en-US" sz="170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years after the message is  signed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en-US" altLang="en-US" sz="300" b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rgbClr val="000000"/>
              </a:buClr>
              <a:buSzPct val="90000"/>
            </a:pP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Since ElGamal signature is no more secure than discrete logarithm, it</a:t>
            </a:r>
            <a:r>
              <a:rPr lang="en-US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is necessary to use large 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with at least 512 bits.</a:t>
            </a:r>
            <a:endParaRPr lang="en-US" altLang="en-US" sz="300" b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rgbClr val="000000"/>
              </a:buClr>
              <a:buSzPct val="90000"/>
            </a:pP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However, with ElGamal this would lead to signatures with at least 1024bits what is too much for such applications as smart cards.</a:t>
            </a:r>
            <a:endParaRPr lang="en-US" altLang="en-US" sz="300" b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rgbClr val="000000"/>
              </a:buClr>
              <a:buSzPct val="90000"/>
            </a:pPr>
            <a:r>
              <a:rPr lang="en-US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 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DSA a 160 bit message is signed using 320-bit signature, but</a:t>
            </a:r>
            <a:r>
              <a:rPr lang="en-US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computation is done modulo with 512-1024 bits.</a:t>
            </a:r>
            <a:endParaRPr lang="en-US" altLang="en-US" sz="300" b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rgbClr val="000000"/>
              </a:buClr>
              <a:buSzPct val="90000"/>
            </a:pP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Observe that 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y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are also 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q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-roots of 1. Hence any exponents of</a:t>
            </a:r>
            <a:r>
              <a:rPr lang="en-US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r,y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can be reduced module 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q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without affecting the</a:t>
            </a:r>
            <a:r>
              <a:rPr lang="en-US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verification condition.</a:t>
            </a:r>
            <a:endParaRPr lang="en-US" altLang="en-US" sz="300" b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rgbClr val="000000"/>
              </a:buClr>
              <a:buSzPct val="90000"/>
            </a:pP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This allowed to change ElGamal verification condition: 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y</a:t>
            </a:r>
            <a:r>
              <a:rPr lang="en-US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altLang="en-US" sz="1700" b="0" baseline="3000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</a:t>
            </a:r>
            <a:r>
              <a:rPr lang="en-US" altLang="en-US" sz="1700" b="0" baseline="3000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</a:t>
            </a:r>
            <a:r>
              <a:rPr lang="en-US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altLang="en-US" sz="1700" b="0" baseline="3000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</a:t>
            </a:r>
            <a:r>
              <a:rPr lang="en-US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= 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q</a:t>
            </a:r>
            <a:r>
              <a:rPr lang="en-US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altLang="en-US" sz="1700" b="0" baseline="3000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63119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104" grpId="0" build="p" autoUpdateAnimBg="0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Exercise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1. Given </a:t>
            </a:r>
            <a:r>
              <a:rPr lang="en-US" dirty="0"/>
              <a:t>parameters (</a:t>
            </a:r>
            <a:r>
              <a:rPr lang="en-US" dirty="0" err="1"/>
              <a:t>p,q,g</a:t>
            </a:r>
            <a:r>
              <a:rPr lang="en-US" dirty="0"/>
              <a:t>) =(283,47,60) and Alice private key = 24; Hash=H(M)=41. </a:t>
            </a:r>
          </a:p>
          <a:p>
            <a:pPr marL="0" indent="0">
              <a:buNone/>
            </a:pPr>
            <a:r>
              <a:rPr lang="en-US" dirty="0" smtClean="0"/>
              <a:t>    Generate </a:t>
            </a:r>
            <a:r>
              <a:rPr lang="en-US" dirty="0"/>
              <a:t>digital signature using DSS and verify the same. 	</a:t>
            </a:r>
            <a:endParaRPr lang="en-US" dirty="0" smtClean="0"/>
          </a:p>
          <a:p>
            <a:r>
              <a:rPr lang="en-US" dirty="0" smtClean="0"/>
              <a:t>2. </a:t>
            </a:r>
            <a:r>
              <a:rPr lang="en-IN" dirty="0"/>
              <a:t>Consider the </a:t>
            </a:r>
            <a:r>
              <a:rPr lang="en-IN" dirty="0" err="1"/>
              <a:t>ElGamal</a:t>
            </a:r>
            <a:r>
              <a:rPr lang="en-IN" dirty="0"/>
              <a:t> signature scheme with p = 467, α = 2 and </a:t>
            </a:r>
            <a:r>
              <a:rPr lang="en-IN" dirty="0" err="1"/>
              <a:t>X</a:t>
            </a:r>
            <a:r>
              <a:rPr lang="en-IN" baseline="-25000" dirty="0" err="1"/>
              <a:t>a</a:t>
            </a:r>
            <a:r>
              <a:rPr lang="en-IN" dirty="0"/>
              <a:t> = 127. Perform detailed signing and verification procedures for the hash of the message h(M) = 100 and K = 213</a:t>
            </a:r>
            <a:r>
              <a:rPr lang="en-IN" dirty="0" smtClean="0"/>
              <a:t>.</a:t>
            </a:r>
          </a:p>
          <a:p>
            <a:endParaRPr lang="en-IN" dirty="0" smtClean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66133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9B85A4-048F-4955-AFF4-CF9F03942CF9}" type="slidenum">
              <a:rPr lang="en-GB" altLang="en-US"/>
              <a:pPr/>
              <a:t>34</a:t>
            </a:fld>
            <a:endParaRPr lang="en-GB" alt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en-US"/>
              <a:t>Digital signatures</a:t>
            </a:r>
          </a:p>
        </p:txBody>
      </p:sp>
      <p:sp>
        <p:nvSpPr>
          <p:cNvPr id="146434" name="AutoShap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cs-CZ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 MAN-IN-THE-MIDDLE-ATTACK</a:t>
            </a:r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258888"/>
            <a:ext cx="8169275" cy="2093912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90000"/>
              </a:lnSpc>
            </a:pPr>
            <a:r>
              <a:rPr lang="cs-CZ" altLang="en-US"/>
              <a:t>Consider the following protocol:</a:t>
            </a:r>
            <a:endParaRPr lang="en-US" altLang="en-US"/>
          </a:p>
          <a:p>
            <a:pPr marL="0" indent="0">
              <a:lnSpc>
                <a:spcPct val="90000"/>
              </a:lnSpc>
            </a:pPr>
            <a:endParaRPr lang="cs-CZ" altLang="en-US" sz="500"/>
          </a:p>
          <a:p>
            <a:pPr marL="0" indent="0">
              <a:lnSpc>
                <a:spcPct val="90000"/>
              </a:lnSpc>
            </a:pPr>
            <a:r>
              <a:rPr lang="cs-CZ" altLang="en-US">
                <a:solidFill>
                  <a:srgbClr val="FF0000"/>
                </a:solidFill>
              </a:rPr>
              <a:t>1. Alice sends Bob the pair (</a:t>
            </a:r>
            <a:r>
              <a:rPr lang="cs-CZ" altLang="en-US" i="1">
                <a:solidFill>
                  <a:srgbClr val="FF0000"/>
                </a:solidFill>
              </a:rPr>
              <a:t>e</a:t>
            </a:r>
            <a:r>
              <a:rPr lang="cs-CZ" altLang="en-US" baseline="-25000">
                <a:solidFill>
                  <a:srgbClr val="FF0000"/>
                </a:solidFill>
              </a:rPr>
              <a:t>B</a:t>
            </a:r>
            <a:r>
              <a:rPr lang="cs-CZ" altLang="en-US">
                <a:solidFill>
                  <a:srgbClr val="FF0000"/>
                </a:solidFill>
              </a:rPr>
              <a:t>(</a:t>
            </a:r>
            <a:r>
              <a:rPr lang="cs-CZ" altLang="en-US" i="1">
                <a:solidFill>
                  <a:srgbClr val="FF0000"/>
                </a:solidFill>
              </a:rPr>
              <a:t>e</a:t>
            </a:r>
            <a:r>
              <a:rPr lang="cs-CZ" altLang="en-US" baseline="-25000">
                <a:solidFill>
                  <a:srgbClr val="FF0000"/>
                </a:solidFill>
              </a:rPr>
              <a:t>B</a:t>
            </a:r>
            <a:r>
              <a:rPr lang="cs-CZ" altLang="en-US">
                <a:solidFill>
                  <a:srgbClr val="FF0000"/>
                </a:solidFill>
              </a:rPr>
              <a:t>(</a:t>
            </a:r>
            <a:r>
              <a:rPr lang="cs-CZ" altLang="en-US" i="1">
                <a:solidFill>
                  <a:srgbClr val="FF0000"/>
                </a:solidFill>
              </a:rPr>
              <a:t>w</a:t>
            </a:r>
            <a:r>
              <a:rPr lang="cs-CZ" altLang="en-US">
                <a:solidFill>
                  <a:srgbClr val="FF0000"/>
                </a:solidFill>
              </a:rPr>
              <a:t>)</a:t>
            </a:r>
            <a:r>
              <a:rPr lang="cs-CZ" altLang="en-US" i="1">
                <a:solidFill>
                  <a:srgbClr val="FF0000"/>
                </a:solidFill>
              </a:rPr>
              <a:t>A</a:t>
            </a:r>
            <a:r>
              <a:rPr lang="cs-CZ" altLang="en-US">
                <a:solidFill>
                  <a:srgbClr val="FF0000"/>
                </a:solidFill>
              </a:rPr>
              <a:t>),</a:t>
            </a:r>
            <a:r>
              <a:rPr lang="en-US" altLang="en-US">
                <a:solidFill>
                  <a:srgbClr val="FF0000"/>
                </a:solidFill>
              </a:rPr>
              <a:t> </a:t>
            </a:r>
            <a:r>
              <a:rPr lang="cs-CZ" altLang="en-US" i="1">
                <a:solidFill>
                  <a:srgbClr val="FF0000"/>
                </a:solidFill>
              </a:rPr>
              <a:t>B</a:t>
            </a:r>
            <a:r>
              <a:rPr lang="cs-CZ" altLang="en-US">
                <a:solidFill>
                  <a:srgbClr val="FF0000"/>
                </a:solidFill>
              </a:rPr>
              <a:t>) to </a:t>
            </a:r>
            <a:r>
              <a:rPr lang="cs-CZ" altLang="en-US" i="1">
                <a:solidFill>
                  <a:srgbClr val="FF0000"/>
                </a:solidFill>
              </a:rPr>
              <a:t>B</a:t>
            </a:r>
            <a:r>
              <a:rPr lang="cs-CZ" altLang="en-US">
                <a:solidFill>
                  <a:srgbClr val="FF0000"/>
                </a:solidFill>
              </a:rPr>
              <a:t>.</a:t>
            </a:r>
          </a:p>
          <a:p>
            <a:pPr marL="0" indent="0">
              <a:lnSpc>
                <a:spcPct val="90000"/>
              </a:lnSpc>
            </a:pPr>
            <a:r>
              <a:rPr lang="cs-CZ" altLang="en-US">
                <a:solidFill>
                  <a:srgbClr val="FF0000"/>
                </a:solidFill>
              </a:rPr>
              <a:t>2. Bob uses </a:t>
            </a:r>
            <a:r>
              <a:rPr lang="cs-CZ" altLang="en-US" i="1">
                <a:solidFill>
                  <a:srgbClr val="FF0000"/>
                </a:solidFill>
              </a:rPr>
              <a:t>d</a:t>
            </a:r>
            <a:r>
              <a:rPr lang="cs-CZ" altLang="en-US" baseline="-25000">
                <a:solidFill>
                  <a:srgbClr val="FF0000"/>
                </a:solidFill>
              </a:rPr>
              <a:t>B</a:t>
            </a:r>
            <a:r>
              <a:rPr lang="cs-CZ" altLang="en-US">
                <a:solidFill>
                  <a:srgbClr val="FF0000"/>
                </a:solidFill>
              </a:rPr>
              <a:t> to get </a:t>
            </a:r>
            <a:r>
              <a:rPr lang="cs-CZ" altLang="en-US" i="1">
                <a:solidFill>
                  <a:srgbClr val="FF0000"/>
                </a:solidFill>
              </a:rPr>
              <a:t>A</a:t>
            </a:r>
            <a:r>
              <a:rPr lang="cs-CZ" altLang="en-US">
                <a:solidFill>
                  <a:srgbClr val="FF0000"/>
                </a:solidFill>
              </a:rPr>
              <a:t> and </a:t>
            </a:r>
            <a:r>
              <a:rPr lang="cs-CZ" altLang="en-US" i="1">
                <a:solidFill>
                  <a:srgbClr val="FF0000"/>
                </a:solidFill>
              </a:rPr>
              <a:t>w</a:t>
            </a:r>
            <a:r>
              <a:rPr lang="cs-CZ" altLang="en-US">
                <a:solidFill>
                  <a:srgbClr val="FF0000"/>
                </a:solidFill>
              </a:rPr>
              <a:t>, and acknowledges by sending the pair (</a:t>
            </a:r>
            <a:r>
              <a:rPr lang="cs-CZ" altLang="en-US" i="1">
                <a:solidFill>
                  <a:srgbClr val="FF0000"/>
                </a:solidFill>
              </a:rPr>
              <a:t>e</a:t>
            </a:r>
            <a:r>
              <a:rPr lang="en-US" altLang="en-US" baseline="-25000">
                <a:solidFill>
                  <a:srgbClr val="FF0000"/>
                </a:solidFill>
              </a:rPr>
              <a:t>A</a:t>
            </a:r>
            <a:r>
              <a:rPr lang="cs-CZ" altLang="en-US">
                <a:solidFill>
                  <a:srgbClr val="FF0000"/>
                </a:solidFill>
              </a:rPr>
              <a:t>(</a:t>
            </a:r>
            <a:r>
              <a:rPr lang="cs-CZ" altLang="en-US" i="1">
                <a:solidFill>
                  <a:srgbClr val="FF0000"/>
                </a:solidFill>
              </a:rPr>
              <a:t>e</a:t>
            </a:r>
            <a:r>
              <a:rPr lang="en-US" altLang="en-US" baseline="-25000">
                <a:solidFill>
                  <a:srgbClr val="FF0000"/>
                </a:solidFill>
              </a:rPr>
              <a:t>A</a:t>
            </a:r>
            <a:r>
              <a:rPr lang="cs-CZ" altLang="en-US">
                <a:solidFill>
                  <a:srgbClr val="FF0000"/>
                </a:solidFill>
              </a:rPr>
              <a:t>(</a:t>
            </a:r>
            <a:r>
              <a:rPr lang="cs-CZ" altLang="en-US" i="1">
                <a:solidFill>
                  <a:srgbClr val="FF0000"/>
                </a:solidFill>
              </a:rPr>
              <a:t>w</a:t>
            </a:r>
            <a:r>
              <a:rPr lang="cs-CZ" altLang="en-US">
                <a:solidFill>
                  <a:srgbClr val="FF0000"/>
                </a:solidFill>
              </a:rPr>
              <a:t>)</a:t>
            </a:r>
            <a:r>
              <a:rPr lang="cs-CZ" altLang="en-US" i="1">
                <a:solidFill>
                  <a:srgbClr val="FF0000"/>
                </a:solidFill>
              </a:rPr>
              <a:t>B</a:t>
            </a:r>
            <a:r>
              <a:rPr lang="cs-CZ" altLang="en-US">
                <a:solidFill>
                  <a:srgbClr val="FF0000"/>
                </a:solidFill>
              </a:rPr>
              <a:t>),</a:t>
            </a:r>
            <a:r>
              <a:rPr lang="en-US" altLang="en-US">
                <a:solidFill>
                  <a:srgbClr val="FF0000"/>
                </a:solidFill>
              </a:rPr>
              <a:t> </a:t>
            </a:r>
            <a:r>
              <a:rPr lang="cs-CZ" altLang="en-US" i="1">
                <a:solidFill>
                  <a:srgbClr val="FF0000"/>
                </a:solidFill>
              </a:rPr>
              <a:t>A</a:t>
            </a:r>
            <a:r>
              <a:rPr lang="cs-CZ" altLang="en-US">
                <a:solidFill>
                  <a:srgbClr val="FF0000"/>
                </a:solidFill>
              </a:rPr>
              <a:t>) to Alice.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lnSpc>
                <a:spcPct val="90000"/>
              </a:lnSpc>
            </a:pPr>
            <a:endParaRPr lang="cs-CZ" altLang="en-US" sz="500"/>
          </a:p>
          <a:p>
            <a:pPr marL="0" indent="0">
              <a:lnSpc>
                <a:spcPct val="90000"/>
              </a:lnSpc>
            </a:pPr>
            <a:r>
              <a:rPr lang="cs-CZ" altLang="en-US"/>
              <a:t>(Here the function </a:t>
            </a:r>
            <a:r>
              <a:rPr lang="cs-CZ" altLang="en-US" i="1"/>
              <a:t>e</a:t>
            </a:r>
            <a:r>
              <a:rPr lang="cs-CZ" altLang="en-US"/>
              <a:t> and </a:t>
            </a:r>
            <a:r>
              <a:rPr lang="cs-CZ" altLang="en-US" i="1"/>
              <a:t>d</a:t>
            </a:r>
            <a:r>
              <a:rPr lang="cs-CZ" altLang="en-US"/>
              <a:t> are assumed to operate on numbers, names </a:t>
            </a:r>
            <a:r>
              <a:rPr lang="cs-CZ" altLang="en-US" i="1"/>
              <a:t>A,B</a:t>
            </a:r>
            <a:r>
              <a:rPr lang="cs-CZ" altLang="en-US"/>
              <a:t>,</a:t>
            </a:r>
            <a:r>
              <a:rPr lang="en-US" altLang="en-US"/>
              <a:t>…  </a:t>
            </a:r>
            <a:r>
              <a:rPr lang="cs-CZ" altLang="en-US"/>
              <a:t> are sequences of digits and </a:t>
            </a:r>
            <a:r>
              <a:rPr lang="cs-CZ" altLang="en-US" i="1"/>
              <a:t>e</a:t>
            </a:r>
            <a:r>
              <a:rPr lang="cs-CZ" altLang="en-US" baseline="-25000"/>
              <a:t>B</a:t>
            </a:r>
            <a:r>
              <a:rPr lang="cs-CZ" altLang="en-US"/>
              <a:t>(</a:t>
            </a:r>
            <a:r>
              <a:rPr lang="cs-CZ" altLang="en-US" i="1"/>
              <a:t>w</a:t>
            </a:r>
            <a:r>
              <a:rPr lang="cs-CZ" altLang="en-US"/>
              <a:t>)</a:t>
            </a:r>
            <a:r>
              <a:rPr lang="cs-CZ" altLang="en-US" i="1"/>
              <a:t>A</a:t>
            </a:r>
            <a:r>
              <a:rPr lang="cs-CZ" altLang="en-US"/>
              <a:t> is a sequence of digitals obtained by concatenating </a:t>
            </a:r>
            <a:r>
              <a:rPr lang="cs-CZ" altLang="en-US" i="1"/>
              <a:t>e</a:t>
            </a:r>
            <a:r>
              <a:rPr lang="cs-CZ" altLang="en-US" baseline="-25000"/>
              <a:t>B</a:t>
            </a:r>
            <a:r>
              <a:rPr lang="cs-CZ" altLang="en-US"/>
              <a:t>(</a:t>
            </a:r>
            <a:r>
              <a:rPr lang="cs-CZ" altLang="en-US" i="1"/>
              <a:t>w</a:t>
            </a:r>
            <a:r>
              <a:rPr lang="cs-CZ" altLang="en-US"/>
              <a:t>) and </a:t>
            </a:r>
            <a:r>
              <a:rPr lang="cs-CZ" altLang="en-US" i="1"/>
              <a:t>A</a:t>
            </a:r>
            <a:r>
              <a:rPr lang="cs-CZ" altLang="en-US"/>
              <a:t>.)</a:t>
            </a:r>
          </a:p>
        </p:txBody>
      </p:sp>
      <p:sp>
        <p:nvSpPr>
          <p:cNvPr id="146439" name="Rectangle 7"/>
          <p:cNvSpPr>
            <a:spLocks noChangeArrowheads="1"/>
          </p:cNvSpPr>
          <p:nvPr/>
        </p:nvSpPr>
        <p:spPr bwMode="auto">
          <a:xfrm>
            <a:off x="827088" y="3392488"/>
            <a:ext cx="8169275" cy="2932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84150" indent="-1841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66763" indent="-1984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79525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98625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17725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74925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32125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89325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46525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20000"/>
              </a:spcBef>
              <a:buClr>
                <a:srgbClr val="000000"/>
              </a:buClr>
              <a:buSzPct val="90000"/>
            </a:pPr>
            <a:r>
              <a:rPr lang="cs-CZ" altLang="en-US" sz="22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What can an active eavesdropper</a:t>
            </a:r>
            <a:r>
              <a:rPr lang="en-US" altLang="en-US" sz="2200" b="0" i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lang="cs-CZ" altLang="en-US" sz="2200" b="0" i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C</a:t>
            </a:r>
            <a:r>
              <a:rPr lang="en-US" altLang="en-US" sz="22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lang="cs-CZ" altLang="en-US" sz="22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do?</a:t>
            </a:r>
            <a:endParaRPr lang="en-US" altLang="en-US" sz="2200" b="0"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rgbClr val="000000"/>
              </a:buClr>
              <a:buSzPct val="90000"/>
            </a:pPr>
            <a:endParaRPr lang="cs-CZ" altLang="en-US" sz="500" b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000000"/>
              </a:buClr>
              <a:buSzPct val="90000"/>
              <a:buFontTx/>
              <a:buChar char="•"/>
            </a:pP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can learn (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</a:t>
            </a:r>
            <a:r>
              <a:rPr lang="cs-CZ" altLang="en-US" sz="1700" b="0" baseline="-2500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</a:t>
            </a:r>
            <a:r>
              <a:rPr lang="cs-CZ" altLang="en-US" sz="1700" b="0" baseline="-2500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</a:t>
            </a:r>
            <a:r>
              <a:rPr lang="en-US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),</a:t>
            </a:r>
            <a:r>
              <a:rPr lang="en-US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 and therefore </a:t>
            </a:r>
            <a:r>
              <a:rPr lang="en-US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</a:t>
            </a:r>
            <a:r>
              <a:rPr lang="cs-CZ" altLang="en-US" sz="1700" b="0" baseline="-2500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'),</a:t>
            </a:r>
            <a:r>
              <a:rPr lang="en-US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</a:t>
            </a:r>
            <a:r>
              <a:rPr lang="en-US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‘</a:t>
            </a:r>
            <a:r>
              <a:rPr lang="en-US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=</a:t>
            </a:r>
            <a:r>
              <a:rPr lang="en-US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</a:t>
            </a:r>
            <a:r>
              <a:rPr lang="cs-CZ" altLang="en-US" sz="1700" b="0" baseline="-2500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</a:t>
            </a:r>
            <a:endParaRPr lang="en-US" altLang="en-US" sz="1700" b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000000"/>
              </a:buClr>
              <a:buSzPct val="90000"/>
              <a:buFontTx/>
              <a:buChar char="•"/>
            </a:pPr>
            <a:endParaRPr lang="cs-CZ" altLang="en-US" sz="300" b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000000"/>
              </a:buClr>
              <a:buSzPct val="90000"/>
              <a:buFontTx/>
              <a:buChar char="•"/>
            </a:pP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can now send to Alice the pair</a:t>
            </a:r>
            <a:r>
              <a:rPr lang="en-US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</a:t>
            </a:r>
            <a:r>
              <a:rPr lang="cs-CZ" altLang="en-US" sz="1700" b="0" baseline="-2500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</a:t>
            </a:r>
            <a:r>
              <a:rPr lang="cs-CZ" altLang="en-US" sz="1700" b="0" baseline="-2500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</a:t>
            </a:r>
            <a:r>
              <a:rPr lang="en-US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')</a:t>
            </a:r>
            <a:r>
              <a:rPr lang="en-US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),</a:t>
            </a:r>
            <a:r>
              <a:rPr lang="en-US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).</a:t>
            </a:r>
            <a:endParaRPr lang="en-US" altLang="en-US" sz="1700" b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000000"/>
              </a:buClr>
              <a:buSzPct val="90000"/>
            </a:pPr>
            <a:r>
              <a:rPr lang="cs-CZ" altLang="en-US" sz="3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000000"/>
              </a:buClr>
              <a:buSzPct val="90000"/>
              <a:buFontTx/>
              <a:buChar char="•"/>
            </a:pP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Alice, thinking that this is the step 1 of the protocol, acknowledges by sending the pair </a:t>
            </a:r>
            <a:r>
              <a:rPr lang="en-US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</a:t>
            </a:r>
            <a:r>
              <a:rPr lang="cs-CZ" altLang="en-US" sz="1700" b="0" baseline="-2500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</a:t>
            </a:r>
            <a:r>
              <a:rPr lang="cs-CZ" altLang="en-US" sz="1700" b="0" baseline="-2500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</a:t>
            </a:r>
            <a:r>
              <a:rPr lang="en-US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')</a:t>
            </a:r>
            <a:r>
              <a:rPr lang="en-US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),</a:t>
            </a:r>
            <a:r>
              <a:rPr lang="en-US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 to</a:t>
            </a:r>
            <a:r>
              <a:rPr lang="en-US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</a:t>
            </a:r>
            <a:endParaRPr lang="en-US" altLang="en-US" sz="1700" b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000000"/>
              </a:buClr>
              <a:buSzPct val="90000"/>
              <a:buFontTx/>
              <a:buChar char="•"/>
            </a:pPr>
            <a:endParaRPr lang="cs-CZ" altLang="en-US" sz="300" b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000000"/>
              </a:buClr>
              <a:buSzPct val="90000"/>
              <a:buFontTx/>
              <a:buChar char="•"/>
            </a:pP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is now able to learn 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</a:t>
            </a:r>
            <a:r>
              <a:rPr lang="en-US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' and therefore also 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</a:t>
            </a:r>
            <a:r>
              <a:rPr lang="cs-CZ" altLang="en-US" sz="1700" b="0" baseline="-2500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).</a:t>
            </a:r>
            <a:endParaRPr lang="en-US" altLang="en-US" sz="1700" b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000000"/>
              </a:buClr>
              <a:buSzPct val="90000"/>
            </a:pPr>
            <a:r>
              <a:rPr lang="cs-CZ" altLang="en-US" sz="3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000000"/>
              </a:buClr>
              <a:buSzPct val="90000"/>
              <a:buFontTx/>
              <a:buChar char="•"/>
            </a:pP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now sends to Alice the pair (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</a:t>
            </a:r>
            <a:r>
              <a:rPr lang="cs-CZ" altLang="en-US" sz="1700" b="0" baseline="-2500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</a:t>
            </a:r>
            <a:r>
              <a:rPr lang="cs-CZ" altLang="en-US" sz="1700" b="0" baseline="-2500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</a:t>
            </a:r>
            <a:r>
              <a:rPr lang="en-US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),</a:t>
            </a:r>
            <a:r>
              <a:rPr lang="en-US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).</a:t>
            </a:r>
            <a:endParaRPr lang="en-US" altLang="en-US" sz="1700" b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000000"/>
              </a:buClr>
              <a:buSzPct val="90000"/>
              <a:buFontTx/>
              <a:buChar char="•"/>
            </a:pPr>
            <a:endParaRPr lang="cs-CZ" altLang="en-US" sz="300" b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000000"/>
              </a:buClr>
              <a:buSzPct val="90000"/>
              <a:buFontTx/>
              <a:buChar char="•"/>
            </a:pP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Alice acknowledges by sending the pair (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</a:t>
            </a:r>
            <a:r>
              <a:rPr lang="cs-CZ" altLang="en-US" sz="1700" b="0" baseline="-2500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</a:t>
            </a:r>
            <a:r>
              <a:rPr lang="cs-CZ" altLang="en-US" sz="1700" b="0" baseline="-2500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</a:t>
            </a:r>
            <a:r>
              <a:rPr lang="en-US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),</a:t>
            </a:r>
            <a:r>
              <a:rPr lang="en-US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). </a:t>
            </a:r>
            <a:endParaRPr lang="en-US" altLang="en-US" sz="1700" b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000000"/>
              </a:buClr>
              <a:buSzPct val="90000"/>
            </a:pPr>
            <a:endParaRPr lang="cs-CZ" altLang="en-US" sz="300" b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000000"/>
              </a:buClr>
              <a:buSzPct val="90000"/>
              <a:buFontTx/>
              <a:buChar char="•"/>
            </a:pP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is now able to learn </a:t>
            </a:r>
            <a:r>
              <a:rPr lang="cs-CZ" altLang="en-US" sz="1700" b="0" i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</a:t>
            </a:r>
            <a:r>
              <a:rPr lang="cs-CZ" altLang="en-US" sz="1700" b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5455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9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E791E0-F2B7-4C8D-9B55-9A919DE8C69E}" type="slidenum">
              <a:rPr lang="en-GB" altLang="en-US"/>
              <a:pPr/>
              <a:t>35</a:t>
            </a:fld>
            <a:endParaRPr lang="en-GB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en-US"/>
              <a:t>Digital signatures</a:t>
            </a:r>
          </a:p>
        </p:txBody>
      </p:sp>
      <p:sp>
        <p:nvSpPr>
          <p:cNvPr id="149506" name="AutoShap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cs-CZ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Security of digital signature</a:t>
            </a: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cs-CZ" altLang="en-US" sz="1800"/>
              <a:t>It is again very non-trivial to define security of digital signature.</a:t>
            </a:r>
            <a:endParaRPr lang="en-US" altLang="en-US" sz="1800"/>
          </a:p>
          <a:p>
            <a:pPr marL="0" indent="0"/>
            <a:endParaRPr lang="en-US" altLang="en-US" sz="1000"/>
          </a:p>
          <a:p>
            <a:pPr marL="0" indent="0"/>
            <a:r>
              <a:rPr lang="cs-CZ" altLang="en-US" sz="1800">
                <a:solidFill>
                  <a:srgbClr val="FF0000"/>
                </a:solidFill>
              </a:rPr>
              <a:t>Definition</a:t>
            </a:r>
            <a:r>
              <a:rPr lang="cs-CZ" altLang="en-US" sz="1800"/>
              <a:t> A </a:t>
            </a:r>
            <a:r>
              <a:rPr lang="cs-CZ" altLang="en-US" sz="1800" u="sng">
                <a:effectLst>
                  <a:outerShdw blurRad="38100" dist="38100" dir="2700000" algn="tl">
                    <a:srgbClr val="C0C0C0"/>
                  </a:outerShdw>
                </a:effectLst>
              </a:rPr>
              <a:t>chosen message attack</a:t>
            </a:r>
            <a:r>
              <a:rPr lang="cs-CZ" altLang="en-US" sz="1800"/>
              <a:t> is a process which on input of a verification key can obtain signature (corresponding to the given key) to message</a:t>
            </a:r>
            <a:r>
              <a:rPr lang="en-US" altLang="en-US" sz="1800"/>
              <a:t> </a:t>
            </a:r>
            <a:r>
              <a:rPr lang="cs-CZ" altLang="en-US" sz="1800"/>
              <a:t>of its choice.</a:t>
            </a:r>
            <a:endParaRPr lang="en-US" altLang="en-US" sz="1800"/>
          </a:p>
          <a:p>
            <a:pPr marL="0" indent="0"/>
            <a:endParaRPr lang="en-US" altLang="en-US" sz="1000"/>
          </a:p>
          <a:p>
            <a:pPr marL="0" indent="0"/>
            <a:r>
              <a:rPr lang="cs-CZ" altLang="en-US" sz="1800">
                <a:solidFill>
                  <a:srgbClr val="003399"/>
                </a:solidFill>
              </a:rPr>
              <a:t>A chosen message attack is considered to be successful (in so called existential forgery) if it outputs a valid signature for a message for which it has not requested a signature during the attack.</a:t>
            </a:r>
            <a:endParaRPr lang="en-US" altLang="en-US" sz="1800">
              <a:solidFill>
                <a:srgbClr val="003399"/>
              </a:solidFill>
            </a:endParaRPr>
          </a:p>
          <a:p>
            <a:pPr marL="0" indent="0"/>
            <a:endParaRPr lang="en-US" altLang="en-US" sz="1000">
              <a:solidFill>
                <a:srgbClr val="003399"/>
              </a:solidFill>
            </a:endParaRPr>
          </a:p>
          <a:p>
            <a:pPr marL="0" indent="0"/>
            <a:r>
              <a:rPr lang="cs-CZ" altLang="en-US" sz="1800"/>
              <a:t>A signature scheme is </a:t>
            </a:r>
            <a:r>
              <a:rPr lang="cs-CZ" altLang="en-US" sz="1800">
                <a:solidFill>
                  <a:srgbClr val="FF0000"/>
                </a:solidFill>
              </a:rPr>
              <a:t>secure</a:t>
            </a:r>
            <a:r>
              <a:rPr lang="cs-CZ" altLang="en-US" sz="1800"/>
              <a:t> (or unforgeable) if every feasible chosen message attack succeeds with at most negligible probability.</a:t>
            </a:r>
          </a:p>
        </p:txBody>
      </p:sp>
    </p:spTree>
    <p:extLst>
      <p:ext uri="{BB962C8B-B14F-4D97-AF65-F5344CB8AC3E}">
        <p14:creationId xmlns:p14="http://schemas.microsoft.com/office/powerpoint/2010/main" val="3405949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4160</TotalTime>
  <Words>1746</Words>
  <Application>Microsoft Office PowerPoint</Application>
  <PresentationFormat>On-screen Show (4:3)</PresentationFormat>
  <Paragraphs>289</Paragraphs>
  <Slides>35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</vt:lpstr>
      <vt:lpstr>Nirmala UI</vt:lpstr>
      <vt:lpstr>Symbol</vt:lpstr>
      <vt:lpstr>Times New Roman</vt:lpstr>
      <vt:lpstr>Office Theme</vt:lpstr>
      <vt:lpstr>Digital Signature (DS)</vt:lpstr>
      <vt:lpstr>Digital Signature (DS)</vt:lpstr>
      <vt:lpstr>Digital Signature</vt:lpstr>
      <vt:lpstr>Comparison of Hash, MAC and Digital Signature</vt:lpstr>
      <vt:lpstr>PowerPoint Presentation</vt:lpstr>
      <vt:lpstr>Digital Signature Algorithms</vt:lpstr>
      <vt:lpstr>Elgamal DSA</vt:lpstr>
      <vt:lpstr>Elgamal DSA</vt:lpstr>
      <vt:lpstr>Elgamal DSA</vt:lpstr>
      <vt:lpstr>Elgamal DSA</vt:lpstr>
      <vt:lpstr>Example</vt:lpstr>
      <vt:lpstr>Example</vt:lpstr>
      <vt:lpstr>Example</vt:lpstr>
      <vt:lpstr>Example</vt:lpstr>
      <vt:lpstr>RSA DS</vt:lpstr>
      <vt:lpstr>RSA DS</vt:lpstr>
      <vt:lpstr>RSA DS</vt:lpstr>
      <vt:lpstr>RSA DS</vt:lpstr>
      <vt:lpstr>Example</vt:lpstr>
      <vt:lpstr>Example</vt:lpstr>
      <vt:lpstr>Example</vt:lpstr>
      <vt:lpstr>Digital Signature Standard</vt:lpstr>
      <vt:lpstr>Digital Signature Standard</vt:lpstr>
      <vt:lpstr>Digital Signature Standard</vt:lpstr>
      <vt:lpstr>Digital Signature Standard</vt:lpstr>
      <vt:lpstr>Digital Signature Standard</vt:lpstr>
      <vt:lpstr>Generate Global Public Key Components{p,q,g}</vt:lpstr>
      <vt:lpstr>User’s public key and the private key</vt:lpstr>
      <vt:lpstr>Signing and Verifying</vt:lpstr>
      <vt:lpstr>Exercise</vt:lpstr>
      <vt:lpstr>Exercise</vt:lpstr>
      <vt:lpstr>From ElGamal to DSA</vt:lpstr>
      <vt:lpstr>Exercise</vt:lpstr>
      <vt:lpstr>A MAN-IN-THE-MIDDLE-ATTACK</vt:lpstr>
      <vt:lpstr>Security of digital signature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HASH FUNCTIONS</dc:title>
  <dc:creator>Admin</dc:creator>
  <cp:lastModifiedBy>Admin</cp:lastModifiedBy>
  <cp:revision>388</cp:revision>
  <dcterms:created xsi:type="dcterms:W3CDTF">2020-08-25T14:34:42Z</dcterms:created>
  <dcterms:modified xsi:type="dcterms:W3CDTF">2025-03-11T14:04:13Z</dcterms:modified>
</cp:coreProperties>
</file>