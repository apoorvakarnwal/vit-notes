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4" r:id="rId3"/>
    <p:sldId id="257" r:id="rId4"/>
    <p:sldId id="258" r:id="rId5"/>
    <p:sldId id="259" r:id="rId6"/>
    <p:sldId id="275" r:id="rId7"/>
    <p:sldId id="260" r:id="rId8"/>
    <p:sldId id="261" r:id="rId9"/>
    <p:sldId id="280" r:id="rId10"/>
    <p:sldId id="276" r:id="rId11"/>
    <p:sldId id="262" r:id="rId12"/>
    <p:sldId id="266" r:id="rId13"/>
    <p:sldId id="267" r:id="rId14"/>
    <p:sldId id="268" r:id="rId15"/>
    <p:sldId id="269" r:id="rId16"/>
    <p:sldId id="270" r:id="rId17"/>
    <p:sldId id="282" r:id="rId18"/>
    <p:sldId id="271" r:id="rId19"/>
    <p:sldId id="283" r:id="rId20"/>
    <p:sldId id="272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5646" autoAdjust="0"/>
  </p:normalViewPr>
  <p:slideViewPr>
    <p:cSldViewPr>
      <p:cViewPr varScale="1">
        <p:scale>
          <a:sx n="95" d="100"/>
          <a:sy n="95" d="100"/>
        </p:scale>
        <p:origin x="21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42B32-1E96-4943-B520-6274B58735BE}" type="datetimeFigureOut">
              <a:rPr lang="en-US" smtClean="0"/>
              <a:pPr/>
              <a:t>5/1/25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EA35F-F5B9-4980-92BB-5EB12EFCB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4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Every cybersecurity professional or organization must</a:t>
            </a:r>
            <a:r>
              <a:rPr lang="en-IN" baseline="0" dirty="0"/>
              <a:t> achieve these 3 </a:t>
            </a:r>
            <a:r>
              <a:rPr lang="en-IN" baseline="0" dirty="0" err="1"/>
              <a:t>pronciples</a:t>
            </a:r>
            <a:endParaRPr lang="en-IN" baseline="0" dirty="0"/>
          </a:p>
          <a:p>
            <a:pPr marL="228600" indent="-228600">
              <a:buAutoNum type="arabicPeriod"/>
            </a:pPr>
            <a:endParaRPr lang="en-IN" dirty="0"/>
          </a:p>
          <a:p>
            <a:pPr marL="228600" indent="-228600">
              <a:buAutoNum type="arabicPeriod"/>
            </a:pPr>
            <a:r>
              <a:rPr lang="en-IN" dirty="0"/>
              <a:t>Only authorized users can access the sensitive data</a:t>
            </a:r>
          </a:p>
          <a:p>
            <a:pPr marL="0" indent="0">
              <a:buNone/>
            </a:pPr>
            <a:r>
              <a:rPr lang="en-IN" dirty="0"/>
              <a:t>No</a:t>
            </a:r>
            <a:r>
              <a:rPr lang="en-IN" baseline="0" dirty="0"/>
              <a:t> body is allowed access </a:t>
            </a:r>
            <a:r>
              <a:rPr lang="en-IN" baseline="0" dirty="0" err="1"/>
              <a:t>betwwen</a:t>
            </a:r>
            <a:r>
              <a:rPr lang="en-IN" baseline="0" dirty="0"/>
              <a:t> A and B</a:t>
            </a:r>
          </a:p>
          <a:p>
            <a:pPr marL="0" indent="0">
              <a:buNone/>
            </a:pPr>
            <a:r>
              <a:rPr lang="en-IN" dirty="0"/>
              <a:t>3. If this user wants to access bank account, there should be a mechanism to authenticate </a:t>
            </a:r>
            <a:r>
              <a:rPr lang="en-IN" dirty="0" err="1"/>
              <a:t>th</a:t>
            </a:r>
            <a:r>
              <a:rPr lang="en-IN" dirty="0"/>
              <a:t> user, </a:t>
            </a:r>
            <a:r>
              <a:rPr lang="en-IN" dirty="0" err="1"/>
              <a:t>ensiure</a:t>
            </a:r>
            <a:r>
              <a:rPr lang="en-IN" dirty="0"/>
              <a:t> this is the right user who can access the account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EA35F-F5B9-4980-92BB-5EB12EFCB46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77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862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26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4AE62B-E1CA-415C-AF28-B60CD6558071}" type="slidenum">
              <a:rPr lang="en-AU"/>
              <a:pPr/>
              <a:t>6</a:t>
            </a:fld>
            <a:endParaRPr lang="en-AU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1917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4AE62B-E1CA-415C-AF28-B60CD6558071}" type="slidenum">
              <a:rPr lang="en-AU"/>
              <a:pPr/>
              <a:t>7</a:t>
            </a:fld>
            <a:endParaRPr lang="en-AU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Find</a:t>
            </a:r>
            <a:r>
              <a:rPr lang="en-AU" baseline="0" dirty="0"/>
              <a:t> only using brute force </a:t>
            </a:r>
            <a:r>
              <a:rPr lang="en-AU" baseline="0" dirty="0" err="1"/>
              <a:t>methd</a:t>
            </a:r>
            <a:endParaRPr lang="en-AU" baseline="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6257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210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631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93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Integrity and Authentication 	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600450"/>
            <a:ext cx="8553450" cy="1443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161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Confidentiality, Integrity, Authenticity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4525963"/>
          </a:xfrm>
        </p:spPr>
        <p:txBody>
          <a:bodyPr/>
          <a:lstStyle/>
          <a:p>
            <a:pPr algn="just"/>
            <a:r>
              <a:rPr lang="en-IN" b="1" dirty="0"/>
              <a:t>Confidentiality</a:t>
            </a:r>
            <a:r>
              <a:rPr lang="en-IN" dirty="0"/>
              <a:t> – protect information from being accessed by unauthorized parties.</a:t>
            </a:r>
          </a:p>
          <a:p>
            <a:pPr algn="just"/>
            <a:r>
              <a:rPr lang="en-IN" b="1" dirty="0"/>
              <a:t>Integrity</a:t>
            </a:r>
            <a:r>
              <a:rPr lang="en-IN" dirty="0"/>
              <a:t> – ensure information has not been modified by unauthorized parties.</a:t>
            </a:r>
          </a:p>
          <a:p>
            <a:pPr algn="just"/>
            <a:r>
              <a:rPr lang="en-IN" b="1" dirty="0"/>
              <a:t>Authenticity</a:t>
            </a:r>
            <a:r>
              <a:rPr lang="en-IN" dirty="0"/>
              <a:t> – ensure information from trusted source.(verify the users identity)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191000"/>
            <a:ext cx="8229599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4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064" y="2133600"/>
            <a:ext cx="8424936" cy="1470025"/>
          </a:xfrm>
        </p:spPr>
        <p:txBody>
          <a:bodyPr>
            <a:noAutofit/>
          </a:bodyPr>
          <a:lstStyle/>
          <a:p>
            <a:br>
              <a:rPr lang="en-IN" sz="6000" b="1" dirty="0">
                <a:solidFill>
                  <a:srgbClr val="FF0000"/>
                </a:solidFill>
              </a:rPr>
            </a:br>
            <a:r>
              <a:rPr lang="en-IN" sz="6000" b="1" dirty="0">
                <a:solidFill>
                  <a:srgbClr val="FF0000"/>
                </a:solidFill>
              </a:rPr>
              <a:t>Hash Functions</a:t>
            </a:r>
            <a:br>
              <a:rPr lang="en-IN" sz="6000" b="1" dirty="0">
                <a:solidFill>
                  <a:srgbClr val="FF0000"/>
                </a:solidFill>
              </a:rPr>
            </a:br>
            <a:r>
              <a:rPr lang="en-IN" sz="60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716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666808"/>
            <a:ext cx="79208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 </a:t>
            </a:r>
            <a:r>
              <a:rPr lang="en-US" sz="2800" b="1" dirty="0"/>
              <a:t>hash function </a:t>
            </a:r>
            <a:r>
              <a:rPr lang="en-US" sz="2800" dirty="0"/>
              <a:t>H accepts a variable-length block of data </a:t>
            </a:r>
            <a:r>
              <a:rPr lang="en-US" sz="2800" i="1" dirty="0"/>
              <a:t>M </a:t>
            </a:r>
            <a:r>
              <a:rPr lang="en-US" sz="2800" dirty="0"/>
              <a:t>as input and produces a fixed-size hash value </a:t>
            </a:r>
            <a:r>
              <a:rPr lang="en-US" sz="2800" i="1" dirty="0"/>
              <a:t>h </a:t>
            </a:r>
            <a:r>
              <a:rPr lang="en-US" sz="2800" dirty="0"/>
              <a:t>= H(</a:t>
            </a:r>
            <a:r>
              <a:rPr lang="en-US" sz="2800" i="1" dirty="0"/>
              <a:t>M</a:t>
            </a:r>
            <a:r>
              <a:rPr lang="en-US" sz="2800" dirty="0"/>
              <a:t>).</a:t>
            </a:r>
          </a:p>
          <a:p>
            <a:endParaRPr lang="en-IN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2500306"/>
            <a:ext cx="564360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7630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D6C14C-8EAC-2566-F349-F771FDC63AC2}"/>
              </a:ext>
            </a:extLst>
          </p:cNvPr>
          <p:cNvSpPr txBox="1"/>
          <p:nvPr/>
        </p:nvSpPr>
        <p:spPr>
          <a:xfrm>
            <a:off x="395536" y="519202"/>
            <a:ext cx="8352928" cy="5688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4A28C-0B95-5B9B-3244-FEBFAC659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55379"/>
            <a:ext cx="6775798" cy="49469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FA3F2-5D00-0F51-C318-3320C8299060}"/>
              </a:ext>
            </a:extLst>
          </p:cNvPr>
          <p:cNvSpPr txBox="1"/>
          <p:nvPr/>
        </p:nvSpPr>
        <p:spPr>
          <a:xfrm>
            <a:off x="2123728" y="355717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7030A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6010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1028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Properties of a Hash function</a:t>
            </a:r>
            <a:endParaRPr lang="en-AU" sz="4000" b="1" dirty="0">
              <a:solidFill>
                <a:srgbClr val="7030A0"/>
              </a:solidFill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19200"/>
            <a:ext cx="8229600" cy="5105400"/>
          </a:xfrm>
        </p:spPr>
        <p:txBody>
          <a:bodyPr>
            <a:normAutofit lnSpcReduction="10000"/>
          </a:bodyPr>
          <a:lstStyle/>
          <a:p>
            <a:pPr marL="57150" indent="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AU" dirty="0"/>
              <a:t> A good hash function has the property that the results of applying the function to a large set  of inputs will </a:t>
            </a:r>
            <a:r>
              <a:rPr lang="en-AU" b="1" dirty="0"/>
              <a:t>produce outputs that are evenly distributed and apparently random</a:t>
            </a:r>
            <a:r>
              <a:rPr lang="en-AU" dirty="0"/>
              <a:t>.</a:t>
            </a:r>
          </a:p>
          <a:p>
            <a:pPr marL="57150" indent="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AU" b="1" dirty="0"/>
              <a:t> Avalanche effect: If there is a small change in the input, the output changes dramatically</a:t>
            </a:r>
            <a:r>
              <a:rPr lang="en-AU" dirty="0"/>
              <a:t>. This makes sure that the hash value can not be guessed based on the input values.</a:t>
            </a:r>
          </a:p>
          <a:p>
            <a:pPr marL="57150" indent="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AU" dirty="0"/>
              <a:t>A good hash function should be </a:t>
            </a:r>
            <a:r>
              <a:rPr lang="en-AU" b="1" dirty="0"/>
              <a:t>collision resistant</a:t>
            </a:r>
            <a:r>
              <a:rPr lang="en-AU" dirty="0"/>
              <a:t> – </a:t>
            </a:r>
            <a:r>
              <a:rPr lang="en-AU" b="1" dirty="0"/>
              <a:t>never get the same hash value for different inputs.</a:t>
            </a:r>
          </a:p>
        </p:txBody>
      </p:sp>
    </p:spTree>
    <p:extLst>
      <p:ext uri="{BB962C8B-B14F-4D97-AF65-F5344CB8AC3E}">
        <p14:creationId xmlns:p14="http://schemas.microsoft.com/office/powerpoint/2010/main" val="293845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10285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Cryptographic hash functions</a:t>
            </a:r>
            <a:endParaRPr lang="en-AU" sz="4000" b="1" dirty="0">
              <a:solidFill>
                <a:srgbClr val="7030A0"/>
              </a:solidFill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66800"/>
            <a:ext cx="8229600" cy="5530552"/>
          </a:xfrm>
        </p:spPr>
        <p:txBody>
          <a:bodyPr>
            <a:normAutofit/>
          </a:bodyPr>
          <a:lstStyle/>
          <a:p>
            <a:pPr marL="57150" indent="0" algn="just">
              <a:lnSpc>
                <a:spcPct val="90000"/>
              </a:lnSpc>
            </a:pPr>
            <a:r>
              <a:rPr lang="en-AU" sz="3600" dirty="0"/>
              <a:t> Hash functions used for security applications are known as cryptographic hash functions.</a:t>
            </a:r>
          </a:p>
          <a:p>
            <a:pPr marL="57150" indent="0" algn="just">
              <a:lnSpc>
                <a:spcPct val="90000"/>
              </a:lnSpc>
            </a:pPr>
            <a:r>
              <a:rPr lang="en-AU" sz="3600" u="sng" dirty="0"/>
              <a:t> They have two important properties:</a:t>
            </a:r>
          </a:p>
          <a:p>
            <a:pPr marL="57150" indent="0" algn="just">
              <a:lnSpc>
                <a:spcPct val="90000"/>
              </a:lnSpc>
            </a:pPr>
            <a:r>
              <a:rPr lang="en-AU" sz="3600" dirty="0"/>
              <a:t> It is computationally infeasible to find either:</a:t>
            </a:r>
          </a:p>
          <a:p>
            <a:pPr marL="457200" lvl="1" indent="0" algn="just">
              <a:lnSpc>
                <a:spcPct val="90000"/>
              </a:lnSpc>
            </a:pPr>
            <a:r>
              <a:rPr lang="en-AU" sz="3200" dirty="0"/>
              <a:t> </a:t>
            </a:r>
            <a:r>
              <a:rPr lang="en-AU" sz="3200" b="1" dirty="0"/>
              <a:t>One way property</a:t>
            </a:r>
            <a:r>
              <a:rPr lang="en-AU" sz="3200" dirty="0"/>
              <a:t>: a data object that maps to a pre-specified hash result.</a:t>
            </a:r>
          </a:p>
          <a:p>
            <a:pPr marL="457200" lvl="1" indent="0" algn="just">
              <a:lnSpc>
                <a:spcPct val="90000"/>
              </a:lnSpc>
            </a:pPr>
            <a:r>
              <a:rPr lang="en-AU" sz="3200" dirty="0"/>
              <a:t> </a:t>
            </a:r>
            <a:r>
              <a:rPr lang="en-AU" sz="3200" b="1" dirty="0"/>
              <a:t>Collision free property</a:t>
            </a:r>
            <a:r>
              <a:rPr lang="en-AU" sz="3200" dirty="0"/>
              <a:t>: two data objects that map to the same hash result. </a:t>
            </a:r>
          </a:p>
        </p:txBody>
      </p:sp>
    </p:spTree>
    <p:extLst>
      <p:ext uri="{BB962C8B-B14F-4D97-AF65-F5344CB8AC3E}">
        <p14:creationId xmlns:p14="http://schemas.microsoft.com/office/powerpoint/2010/main" val="293845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286000"/>
            <a:ext cx="74168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7030A0"/>
                </a:solidFill>
              </a:rPr>
              <a:t>APPLICATIONS OF CRYPTOGRAPHIC HASH FUNCTIONS</a:t>
            </a:r>
          </a:p>
        </p:txBody>
      </p:sp>
    </p:spTree>
    <p:extLst>
      <p:ext uri="{BB962C8B-B14F-4D97-AF65-F5344CB8AC3E}">
        <p14:creationId xmlns:p14="http://schemas.microsoft.com/office/powerpoint/2010/main" val="178347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752600"/>
            <a:ext cx="7416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7030A0"/>
                </a:solidFill>
              </a:rPr>
              <a:t>APPLICATIONS OF CRYPTOGRAPHIC HASH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200400"/>
            <a:ext cx="54777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Message Authentication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Digital signature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 One way password file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 Intrusion detection and prevention</a:t>
            </a:r>
          </a:p>
        </p:txBody>
      </p:sp>
    </p:spTree>
    <p:extLst>
      <p:ext uri="{BB962C8B-B14F-4D97-AF65-F5344CB8AC3E}">
        <p14:creationId xmlns:p14="http://schemas.microsoft.com/office/powerpoint/2010/main" val="1783470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33600"/>
            <a:ext cx="7416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7030A0"/>
                </a:solidFill>
              </a:rPr>
              <a:t>(a) Message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219200"/>
            <a:ext cx="8424936" cy="344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b="1" dirty="0">
                <a:solidFill>
                  <a:srgbClr val="7030A0"/>
                </a:solidFill>
              </a:rPr>
              <a:t>Message Authentication</a:t>
            </a:r>
          </a:p>
          <a:p>
            <a:pPr algn="just"/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/>
              <a:t>It is a mechanism used to verify the </a:t>
            </a:r>
            <a:r>
              <a:rPr lang="en-IN" sz="2800" dirty="0">
                <a:solidFill>
                  <a:srgbClr val="C00000"/>
                </a:solidFill>
              </a:rPr>
              <a:t>integrity</a:t>
            </a:r>
            <a:r>
              <a:rPr lang="en-IN" sz="2800" dirty="0"/>
              <a:t> of a message.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It assures that data received are </a:t>
            </a:r>
            <a:r>
              <a:rPr lang="en-US" sz="2800" dirty="0">
                <a:solidFill>
                  <a:srgbClr val="C00000"/>
                </a:solidFill>
              </a:rPr>
              <a:t>exactly as sent  </a:t>
            </a:r>
            <a:r>
              <a:rPr lang="en-US" sz="2800" dirty="0"/>
              <a:t>(i.e., there is no modification, insertion, deletion, or replay).</a:t>
            </a:r>
          </a:p>
        </p:txBody>
      </p:sp>
    </p:spTree>
    <p:extLst>
      <p:ext uri="{BB962C8B-B14F-4D97-AF65-F5344CB8AC3E}">
        <p14:creationId xmlns:p14="http://schemas.microsoft.com/office/powerpoint/2010/main" val="2313088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0EC65-4CBB-B471-CC96-E2655AAB9BE2}"/>
              </a:ext>
            </a:extLst>
          </p:cNvPr>
          <p:cNvSpPr txBox="1"/>
          <p:nvPr/>
        </p:nvSpPr>
        <p:spPr>
          <a:xfrm>
            <a:off x="685800" y="2057400"/>
            <a:ext cx="74888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Various Methods for Message Authentication </a:t>
            </a:r>
          </a:p>
          <a:p>
            <a:pPr algn="ctr"/>
            <a:r>
              <a:rPr lang="en-US" sz="4000" b="1" dirty="0">
                <a:solidFill>
                  <a:srgbClr val="7030A0"/>
                </a:solidFill>
              </a:rPr>
              <a:t>(using the Hash code)</a:t>
            </a:r>
            <a:endParaRPr lang="en-IN" sz="4000" b="1" dirty="0">
              <a:solidFill>
                <a:srgbClr val="7030A0"/>
              </a:solidFill>
            </a:endParaRPr>
          </a:p>
          <a:p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4191000"/>
            <a:ext cx="608063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Method 1 – Message and Hash code Encrypted</a:t>
            </a:r>
          </a:p>
          <a:p>
            <a:r>
              <a:rPr lang="en-US" b="1" dirty="0"/>
              <a:t>Method 2 – Only hash code is encrypted</a:t>
            </a:r>
          </a:p>
          <a:p>
            <a:r>
              <a:rPr lang="en-US" b="1" dirty="0"/>
              <a:t>Method 3 – Sharing a secret value for message authentication</a:t>
            </a:r>
          </a:p>
          <a:p>
            <a:r>
              <a:rPr lang="en-US" b="1" dirty="0"/>
              <a:t>Method 4 – Adding confidentiality to method 3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6941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304800"/>
            <a:ext cx="83520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Method 1 – Message and Hash code Encrypted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 message plus </a:t>
            </a:r>
            <a:r>
              <a:rPr lang="en-US" sz="2400" b="1" dirty="0">
                <a:solidFill>
                  <a:srgbClr val="FF0000"/>
                </a:solidFill>
              </a:rPr>
              <a:t>concatenated hash code is encrypted </a:t>
            </a:r>
            <a:r>
              <a:rPr lang="en-US" sz="2400" dirty="0"/>
              <a:t>using symmetric encryption.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Because only A and B share the secret key, the message must have come from A and has </a:t>
            </a:r>
            <a:r>
              <a:rPr lang="en-US" sz="2400" b="1" dirty="0">
                <a:solidFill>
                  <a:srgbClr val="FF0000"/>
                </a:solidFill>
              </a:rPr>
              <a:t>not been altered</a:t>
            </a:r>
            <a:r>
              <a:rPr lang="en-US" sz="2400" dirty="0"/>
              <a:t>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 hash code provides the structure or redundancy required to achieve authentication.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Because encryption is applied to the entire message plus hash code, </a:t>
            </a:r>
            <a:r>
              <a:rPr lang="en-US" sz="2400" b="1" dirty="0">
                <a:solidFill>
                  <a:srgbClr val="FF0000"/>
                </a:solidFill>
              </a:rPr>
              <a:t>confidentiality is also provided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A793A-B9BC-71E7-AC21-034141C2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86200"/>
            <a:ext cx="8686800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60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57200"/>
            <a:ext cx="8568952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Method 2 – Only hash code is encrypted</a:t>
            </a:r>
          </a:p>
          <a:p>
            <a:pPr algn="just"/>
            <a:endParaRPr lang="en-US" dirty="0"/>
          </a:p>
          <a:p>
            <a:pPr algn="just">
              <a:buFont typeface="Arial" pitchFamily="34" charset="0"/>
              <a:buChar char="•"/>
            </a:pPr>
            <a:r>
              <a:rPr lang="en-US" sz="2800" dirty="0"/>
              <a:t> Only the </a:t>
            </a:r>
            <a:r>
              <a:rPr lang="en-US" sz="2800" b="1" dirty="0">
                <a:solidFill>
                  <a:srgbClr val="FF0000"/>
                </a:solidFill>
              </a:rPr>
              <a:t>hash code is encrypted</a:t>
            </a:r>
            <a:r>
              <a:rPr lang="en-US" sz="2800" dirty="0"/>
              <a:t>, using symmetric encryption.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/>
              <a:t> This reduces the processing burden for those applications that do not require confidentiality.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AE7D5-C9DE-7C8C-064F-A9B60FE5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352800"/>
            <a:ext cx="7645793" cy="27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48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7868" y="81829"/>
            <a:ext cx="864096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Method 3 – Sharing a secret value for message authentication</a:t>
            </a:r>
          </a:p>
          <a:p>
            <a:endParaRPr lang="en-US" sz="10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/>
              <a:t>It is possible to use a hash function but </a:t>
            </a:r>
            <a:r>
              <a:rPr lang="en-US" sz="2400" b="1" dirty="0">
                <a:solidFill>
                  <a:srgbClr val="FF0000"/>
                </a:solidFill>
              </a:rPr>
              <a:t>no encryption for message authentication.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/>
              <a:t>The technique assumes that the two communicating parties </a:t>
            </a:r>
            <a:r>
              <a:rPr lang="en-US" sz="2400" b="1" dirty="0">
                <a:solidFill>
                  <a:srgbClr val="FF0000"/>
                </a:solidFill>
              </a:rPr>
              <a:t>share a common secret value S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/>
              <a:t>A computes the hash value over the </a:t>
            </a:r>
            <a:r>
              <a:rPr lang="en-US" sz="2400" b="1" dirty="0">
                <a:solidFill>
                  <a:srgbClr val="FF0000"/>
                </a:solidFill>
              </a:rPr>
              <a:t>concatenation of M and 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FF0000"/>
                </a:solidFill>
              </a:rPr>
              <a:t>appends</a:t>
            </a:r>
            <a:r>
              <a:rPr lang="en-US" sz="2400" dirty="0"/>
              <a:t> the resulting hash value to M.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/>
              <a:t>Because B possesses, it can </a:t>
            </a:r>
            <a:r>
              <a:rPr lang="en-US" sz="2400" b="1" dirty="0">
                <a:solidFill>
                  <a:srgbClr val="FF0000"/>
                </a:solidFill>
              </a:rPr>
              <a:t>re-compute</a:t>
            </a:r>
            <a:r>
              <a:rPr lang="en-US" sz="2400" dirty="0"/>
              <a:t> the hash value to verify.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/>
              <a:t>Because the </a:t>
            </a:r>
            <a:r>
              <a:rPr lang="en-US" sz="2400" b="1" dirty="0">
                <a:solidFill>
                  <a:srgbClr val="FF0000"/>
                </a:solidFill>
              </a:rPr>
              <a:t>secret value itself is not sent</a:t>
            </a:r>
            <a:r>
              <a:rPr lang="en-US" sz="2400" dirty="0"/>
              <a:t>, an opponent cannot modify an intercepted message and </a:t>
            </a:r>
            <a:r>
              <a:rPr lang="en-US" sz="2400" b="1" dirty="0">
                <a:solidFill>
                  <a:srgbClr val="FF0000"/>
                </a:solidFill>
              </a:rPr>
              <a:t>cannot generate a false message.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33C4B4-B32B-E741-52FF-B3055DA67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68" y="4698379"/>
            <a:ext cx="8255424" cy="207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28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09600"/>
            <a:ext cx="78488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Method 4 – Adding confidentiality to method 3</a:t>
            </a:r>
          </a:p>
          <a:p>
            <a:endParaRPr lang="en-US" sz="2800" dirty="0"/>
          </a:p>
          <a:p>
            <a:pPr algn="just"/>
            <a:r>
              <a:rPr lang="en-US" sz="2800" dirty="0"/>
              <a:t>Confidentiality can be added to the approach of method (c) by </a:t>
            </a:r>
            <a:r>
              <a:rPr lang="en-US" sz="2800" b="1" dirty="0">
                <a:solidFill>
                  <a:srgbClr val="FF0000"/>
                </a:solidFill>
              </a:rPr>
              <a:t>encrypting the entire message plus the hash code.</a:t>
            </a:r>
            <a:endParaRPr lang="en-IN" sz="28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6BCEA-9E8D-EA94-02F1-7D4CA3832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6600"/>
            <a:ext cx="9144000" cy="210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53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2590800"/>
            <a:ext cx="44106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4000" b="1">
                <a:solidFill>
                  <a:srgbClr val="7030A0"/>
                </a:solidFill>
              </a:rPr>
              <a:t>(b) Digital </a:t>
            </a:r>
            <a:r>
              <a:rPr lang="en-IN" sz="4000" b="1" dirty="0">
                <a:solidFill>
                  <a:srgbClr val="7030A0"/>
                </a:solidFill>
              </a:rPr>
              <a:t>Signature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189" y="260648"/>
            <a:ext cx="871296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7030A0"/>
                </a:solidFill>
              </a:rPr>
              <a:t>Digital Signatures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/>
              <a:t>Digital signatures are similar to the message authentication application. 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8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/>
              <a:t>Verify the sender of the received message.</a:t>
            </a:r>
          </a:p>
          <a:p>
            <a:pPr algn="just"/>
            <a:endParaRPr lang="en-US" sz="28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/>
              <a:t>In digital signature, the </a:t>
            </a:r>
            <a:r>
              <a:rPr lang="en-US" sz="2800" b="1" dirty="0">
                <a:solidFill>
                  <a:srgbClr val="FF0000"/>
                </a:solidFill>
              </a:rPr>
              <a:t>hash value </a:t>
            </a:r>
            <a:r>
              <a:rPr lang="en-US" sz="2800" dirty="0"/>
              <a:t>of a message is encrypted with a user’s </a:t>
            </a:r>
            <a:r>
              <a:rPr lang="en-US" sz="2800" b="1" dirty="0">
                <a:solidFill>
                  <a:srgbClr val="FF0000"/>
                </a:solidFill>
              </a:rPr>
              <a:t>private key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/>
              <a:t>Integrity of the message can be verified by using the user’s </a:t>
            </a:r>
            <a:r>
              <a:rPr lang="en-US" sz="2800" b="1" dirty="0">
                <a:solidFill>
                  <a:srgbClr val="FF0000"/>
                </a:solidFill>
              </a:rPr>
              <a:t>public key </a:t>
            </a:r>
            <a:r>
              <a:rPr lang="en-US" sz="2800" dirty="0"/>
              <a:t>associated with the </a:t>
            </a:r>
            <a:r>
              <a:rPr lang="en-US" sz="2800" b="1" dirty="0">
                <a:solidFill>
                  <a:srgbClr val="FF0000"/>
                </a:solidFill>
              </a:rPr>
              <a:t>digital signature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800" dirty="0"/>
              <a:t>Hence, </a:t>
            </a:r>
            <a:r>
              <a:rPr lang="en-US" sz="2800" dirty="0"/>
              <a:t>attacker who wishes to alter the message would need to know the user’s </a:t>
            </a:r>
            <a:r>
              <a:rPr lang="en-IN" sz="2800" b="1" dirty="0">
                <a:solidFill>
                  <a:srgbClr val="FF0000"/>
                </a:solidFill>
              </a:rPr>
              <a:t>private key</a:t>
            </a:r>
            <a:r>
              <a:rPr lang="en-IN" sz="2800" dirty="0"/>
              <a:t>.</a:t>
            </a:r>
            <a:endParaRPr lang="en-US" sz="2800" dirty="0"/>
          </a:p>
          <a:p>
            <a:pPr marL="342900" indent="-342900" algn="just">
              <a:buFont typeface="Arial" pitchFamily="34" charset="0"/>
              <a:buChar char="•"/>
            </a:pP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721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0EC65-4CBB-B471-CC96-E2655AAB9BE2}"/>
              </a:ext>
            </a:extLst>
          </p:cNvPr>
          <p:cNvSpPr txBox="1"/>
          <p:nvPr/>
        </p:nvSpPr>
        <p:spPr>
          <a:xfrm>
            <a:off x="685800" y="2057400"/>
            <a:ext cx="74888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Various Methods for Digital Signature </a:t>
            </a:r>
          </a:p>
          <a:p>
            <a:pPr algn="ctr"/>
            <a:r>
              <a:rPr lang="en-US" sz="4000" b="1" dirty="0">
                <a:solidFill>
                  <a:srgbClr val="7030A0"/>
                </a:solidFill>
              </a:rPr>
              <a:t>(using the Hash code)</a:t>
            </a:r>
            <a:endParaRPr lang="en-IN" sz="4000" b="1" dirty="0">
              <a:solidFill>
                <a:srgbClr val="7030A0"/>
              </a:solidFill>
            </a:endParaRPr>
          </a:p>
          <a:p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4191000"/>
            <a:ext cx="44012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Method 1 – Authentication</a:t>
            </a:r>
          </a:p>
          <a:p>
            <a:r>
              <a:rPr lang="en-IN" b="1" dirty="0"/>
              <a:t>Method – 2 Authentication + Confidentiality</a:t>
            </a:r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16941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E3EEEA-F742-FD22-43AD-DEEBD63D9E60}"/>
              </a:ext>
            </a:extLst>
          </p:cNvPr>
          <p:cNvSpPr txBox="1"/>
          <p:nvPr/>
        </p:nvSpPr>
        <p:spPr>
          <a:xfrm>
            <a:off x="323528" y="548680"/>
            <a:ext cx="8064896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algn="just"/>
            <a:r>
              <a:rPr lang="en-GB" sz="2000" dirty="0"/>
              <a:t>The hash code is encrypted, using </a:t>
            </a:r>
            <a:r>
              <a:rPr lang="en-GB" sz="2000" dirty="0">
                <a:solidFill>
                  <a:srgbClr val="FF0000"/>
                </a:solidFill>
              </a:rPr>
              <a:t>public-key</a:t>
            </a:r>
            <a:r>
              <a:rPr lang="en-GB" sz="2000" dirty="0"/>
              <a:t> encryption with the sender’s </a:t>
            </a:r>
            <a:r>
              <a:rPr lang="en-GB" sz="2000" dirty="0">
                <a:solidFill>
                  <a:srgbClr val="FF0000"/>
                </a:solidFill>
              </a:rPr>
              <a:t>private key</a:t>
            </a:r>
            <a:r>
              <a:rPr lang="en-GB" sz="2000" dirty="0"/>
              <a:t>, this provides authentication. 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It also provides a </a:t>
            </a:r>
            <a:r>
              <a:rPr lang="en-GB" sz="2000" dirty="0">
                <a:solidFill>
                  <a:srgbClr val="FF0000"/>
                </a:solidFill>
              </a:rPr>
              <a:t>digital signature</a:t>
            </a:r>
            <a:r>
              <a:rPr lang="en-GB" sz="2000" dirty="0"/>
              <a:t>, because only the sender could have produced the encrypted hash code.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6C0A4-3CBF-F7C6-178D-D6D2DC59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27246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457200"/>
            <a:ext cx="4150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Method 1 -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971653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78002-77F1-21FA-CCC7-A72EEE50982C}"/>
              </a:ext>
            </a:extLst>
          </p:cNvPr>
          <p:cNvSpPr txBox="1"/>
          <p:nvPr/>
        </p:nvSpPr>
        <p:spPr>
          <a:xfrm>
            <a:off x="395536" y="440668"/>
            <a:ext cx="8136904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GB" dirty="0"/>
          </a:p>
          <a:p>
            <a:pPr algn="just"/>
            <a:r>
              <a:rPr lang="en-GB" sz="2800" dirty="0"/>
              <a:t>If </a:t>
            </a:r>
            <a:r>
              <a:rPr lang="en-GB" sz="2800" dirty="0">
                <a:solidFill>
                  <a:srgbClr val="FF0000"/>
                </a:solidFill>
              </a:rPr>
              <a:t>confidentiality</a:t>
            </a:r>
            <a:r>
              <a:rPr lang="en-GB" sz="2800" dirty="0"/>
              <a:t> as well as a digital signature is desired, then the message plus the </a:t>
            </a:r>
            <a:r>
              <a:rPr lang="en-GB" sz="2800" dirty="0">
                <a:solidFill>
                  <a:srgbClr val="FF0000"/>
                </a:solidFill>
              </a:rPr>
              <a:t>private-key-encrypted</a:t>
            </a:r>
            <a:r>
              <a:rPr lang="en-GB" sz="2800" dirty="0"/>
              <a:t> hash code can be encrypted using a </a:t>
            </a:r>
            <a:r>
              <a:rPr lang="en-GB" sz="2800" dirty="0">
                <a:solidFill>
                  <a:srgbClr val="FF0000"/>
                </a:solidFill>
              </a:rPr>
              <a:t>symmetric secret key</a:t>
            </a:r>
            <a:endParaRPr lang="en-IN" sz="2800" dirty="0">
              <a:solidFill>
                <a:srgbClr val="FF0000"/>
              </a:solidFill>
            </a:endParaRP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0793B-5BCE-B17A-B458-12403BF5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9144000" cy="1888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1000"/>
            <a:ext cx="6762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Method – 2 Authentication + 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315705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838</Words>
  <Application>Microsoft Macintosh PowerPoint</Application>
  <PresentationFormat>On-screen Show (4:3)</PresentationFormat>
  <Paragraphs>125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  Integrity and Authentication   </vt:lpstr>
      <vt:lpstr>Confidentiality, Integrity, Authenticity</vt:lpstr>
      <vt:lpstr> Hash Functions  </vt:lpstr>
      <vt:lpstr>PowerPoint Presentation</vt:lpstr>
      <vt:lpstr>PowerPoint Presentation</vt:lpstr>
      <vt:lpstr>Properties of a Hash function</vt:lpstr>
      <vt:lpstr>Cryptographic hash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god</dc:creator>
  <cp:lastModifiedBy>Apoorva Karnwal</cp:lastModifiedBy>
  <cp:revision>72</cp:revision>
  <dcterms:created xsi:type="dcterms:W3CDTF">2006-08-16T00:00:00Z</dcterms:created>
  <dcterms:modified xsi:type="dcterms:W3CDTF">2025-05-01T09:23:39Z</dcterms:modified>
</cp:coreProperties>
</file>