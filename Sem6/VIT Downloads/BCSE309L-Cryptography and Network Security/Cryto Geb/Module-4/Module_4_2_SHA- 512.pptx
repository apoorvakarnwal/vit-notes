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5" r:id="rId3"/>
    <p:sldId id="317" r:id="rId4"/>
    <p:sldId id="318" r:id="rId5"/>
    <p:sldId id="316" r:id="rId6"/>
    <p:sldId id="324" r:id="rId7"/>
    <p:sldId id="325" r:id="rId8"/>
    <p:sldId id="336" r:id="rId9"/>
    <p:sldId id="305" r:id="rId10"/>
    <p:sldId id="335" r:id="rId11"/>
    <p:sldId id="307" r:id="rId12"/>
    <p:sldId id="326" r:id="rId13"/>
    <p:sldId id="327" r:id="rId14"/>
    <p:sldId id="337" r:id="rId15"/>
    <p:sldId id="308" r:id="rId16"/>
    <p:sldId id="328" r:id="rId17"/>
    <p:sldId id="329" r:id="rId18"/>
    <p:sldId id="330" r:id="rId19"/>
    <p:sldId id="309" r:id="rId20"/>
    <p:sldId id="310" r:id="rId21"/>
    <p:sldId id="322" r:id="rId22"/>
    <p:sldId id="338" r:id="rId23"/>
    <p:sldId id="339" r:id="rId24"/>
    <p:sldId id="340" r:id="rId25"/>
    <p:sldId id="331" r:id="rId26"/>
    <p:sldId id="334" r:id="rId27"/>
    <p:sldId id="341" r:id="rId28"/>
    <p:sldId id="342" r:id="rId29"/>
    <p:sldId id="332" r:id="rId30"/>
    <p:sldId id="33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15" autoAdjust="0"/>
  </p:normalViewPr>
  <p:slideViewPr>
    <p:cSldViewPr>
      <p:cViewPr varScale="1">
        <p:scale>
          <a:sx n="54" d="100"/>
          <a:sy n="54" d="100"/>
        </p:scale>
        <p:origin x="186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24B95B-ECA2-47E0-8A1E-AC9B91E69B29}" type="datetimeFigureOut">
              <a:rPr lang="en-IN" smtClean="0"/>
              <a:pPr/>
              <a:t>18-03-2025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C0EB85-1EFE-43DE-B793-4AB3572B2794}" type="slidenum">
              <a:rPr lang="en-IN" smtClean="0"/>
              <a:pPr/>
              <a:t>‹#›</a:t>
            </a:fld>
            <a:endParaRPr lang="en-IN"/>
          </a:p>
        </p:txBody>
      </p:sp>
    </p:spTree>
    <p:extLst>
      <p:ext uri="{BB962C8B-B14F-4D97-AF65-F5344CB8AC3E}">
        <p14:creationId xmlns:p14="http://schemas.microsoft.com/office/powerpoint/2010/main" val="4065930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596</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7</a:t>
            </a:fld>
            <a:endParaRPr lang="en-IN"/>
          </a:p>
        </p:txBody>
      </p:sp>
    </p:spTree>
    <p:extLst>
      <p:ext uri="{BB962C8B-B14F-4D97-AF65-F5344CB8AC3E}">
        <p14:creationId xmlns:p14="http://schemas.microsoft.com/office/powerpoint/2010/main" val="12546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596</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8</a:t>
            </a:fld>
            <a:endParaRPr lang="en-IN"/>
          </a:p>
        </p:txBody>
      </p:sp>
    </p:spTree>
    <p:extLst>
      <p:ext uri="{BB962C8B-B14F-4D97-AF65-F5344CB8AC3E}">
        <p14:creationId xmlns:p14="http://schemas.microsoft.com/office/powerpoint/2010/main" val="1468867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smtClean="0"/>
              <a:t>NOTE:</a:t>
            </a:r>
            <a:r>
              <a:rPr lang="en-GB" dirty="0" smtClean="0"/>
              <a:t> ASCII values of A,B,C are 65,66,67 respectively.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smtClean="0"/>
              <a:t>24+40=64</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smtClean="0"/>
              <a:t>832+40=872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t>13*64=832bits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t>Hexadecimal of 24 is 18</a:t>
            </a:r>
          </a:p>
          <a:p>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9</a:t>
            </a:fld>
            <a:endParaRPr lang="en-IN"/>
          </a:p>
        </p:txBody>
      </p:sp>
    </p:spTree>
    <p:extLst>
      <p:ext uri="{BB962C8B-B14F-4D97-AF65-F5344CB8AC3E}">
        <p14:creationId xmlns:p14="http://schemas.microsoft.com/office/powerpoint/2010/main" val="1075443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2590 congruent to 896 mod 1024</a:t>
            </a:r>
          </a:p>
          <a:p>
            <a:r>
              <a:rPr lang="en-IN" dirty="0" smtClean="0"/>
              <a:t>2590 mod 1024=542</a:t>
            </a:r>
          </a:p>
          <a:p>
            <a:r>
              <a:rPr lang="en-IN" dirty="0" smtClean="0"/>
              <a:t>542+</a:t>
            </a:r>
            <a:r>
              <a:rPr lang="en-IN" b="1" dirty="0" smtClean="0"/>
              <a:t>354=</a:t>
            </a:r>
            <a:r>
              <a:rPr lang="en-IN" b="0" dirty="0" smtClean="0"/>
              <a:t>896</a:t>
            </a:r>
          </a:p>
          <a:p>
            <a:r>
              <a:rPr lang="en-IN" b="0" dirty="0" smtClean="0"/>
              <a:t>2590+354+128=3072</a:t>
            </a:r>
          </a:p>
          <a:p>
            <a:r>
              <a:rPr lang="en-IN" b="0" dirty="0" smtClean="0"/>
              <a:t>3072/1024=3</a:t>
            </a:r>
          </a:p>
          <a:p>
            <a:r>
              <a:rPr lang="en-IN" b="0" dirty="0" smtClean="0"/>
              <a:t>-------------</a:t>
            </a:r>
          </a:p>
          <a:p>
            <a:r>
              <a:rPr lang="en-IN" b="0" dirty="0" smtClean="0"/>
              <a:t>Methd2</a:t>
            </a:r>
          </a:p>
          <a:p>
            <a:r>
              <a:rPr lang="en-IN" b="0" dirty="0" smtClean="0"/>
              <a:t>------------</a:t>
            </a:r>
          </a:p>
          <a:p>
            <a:r>
              <a:rPr lang="en-IN" b="0" dirty="0" smtClean="0"/>
              <a:t>(-2590-128) mod 1024</a:t>
            </a:r>
          </a:p>
          <a:p>
            <a:r>
              <a:rPr lang="en-IN" b="0" dirty="0" smtClean="0"/>
              <a:t>-2718 mod 1024</a:t>
            </a:r>
          </a:p>
          <a:p>
            <a:r>
              <a:rPr lang="en-IN" b="0" dirty="0" smtClean="0"/>
              <a:t>1024-(2718</a:t>
            </a:r>
            <a:r>
              <a:rPr lang="en-IN" b="0" baseline="0" dirty="0" smtClean="0"/>
              <a:t> mod 1024)</a:t>
            </a:r>
          </a:p>
          <a:p>
            <a:r>
              <a:rPr lang="en-IN" b="0" baseline="0" dirty="0" smtClean="0"/>
              <a:t>1024-670</a:t>
            </a:r>
          </a:p>
          <a:p>
            <a:r>
              <a:rPr lang="en-IN" b="0" baseline="0" dirty="0" smtClean="0"/>
              <a:t>354</a:t>
            </a:r>
            <a:endParaRPr lang="en-IN" b="0"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10</a:t>
            </a:fld>
            <a:endParaRPr lang="en-IN"/>
          </a:p>
        </p:txBody>
      </p:sp>
    </p:spTree>
    <p:extLst>
      <p:ext uri="{BB962C8B-B14F-4D97-AF65-F5344CB8AC3E}">
        <p14:creationId xmlns:p14="http://schemas.microsoft.com/office/powerpoint/2010/main" val="2713267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Each letter corresponds to 64 bit</a:t>
            </a:r>
          </a:p>
          <a:p>
            <a:r>
              <a:rPr lang="en-IN" dirty="0" smtClean="0"/>
              <a:t>Each</a:t>
            </a:r>
            <a:r>
              <a:rPr lang="en-IN" baseline="0" dirty="0" smtClean="0"/>
              <a:t> letter has 16 * 4 =64 bits</a:t>
            </a:r>
            <a:endParaRPr lang="en-IN" dirty="0" smtClean="0"/>
          </a:p>
          <a:p>
            <a:r>
              <a:rPr lang="en-IN" dirty="0" smtClean="0"/>
              <a:t>64*8=512 bits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smtClean="0"/>
              <a:t>Addition modulo 2 ^64=</a:t>
            </a:r>
            <a:r>
              <a:rPr lang="en-US" sz="1200" b="0" i="0" kern="1200" dirty="0" smtClean="0">
                <a:solidFill>
                  <a:schemeClr val="tx1"/>
                </a:solidFill>
                <a:effectLst/>
                <a:latin typeface="+mn-lt"/>
                <a:ea typeface="+mn-ea"/>
                <a:cs typeface="+mn-cs"/>
              </a:rPr>
              <a:t>If A = 14, B = 17, and C =2^64, then (A + B) mod C = (14 + 17) mod 2^64 </a:t>
            </a:r>
          </a:p>
          <a:p>
            <a:endParaRPr lang="en-IN" dirty="0" smtClean="0"/>
          </a:p>
          <a:p>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11</a:t>
            </a:fld>
            <a:endParaRPr lang="en-IN"/>
          </a:p>
        </p:txBody>
      </p:sp>
    </p:spTree>
    <p:extLst>
      <p:ext uri="{BB962C8B-B14F-4D97-AF65-F5344CB8AC3E}">
        <p14:creationId xmlns:p14="http://schemas.microsoft.com/office/powerpoint/2010/main" val="1235115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64 bit =1 word</a:t>
            </a:r>
          </a:p>
          <a:p>
            <a:r>
              <a:rPr lang="en-IN" dirty="0" smtClean="0"/>
              <a:t>64*16=1024</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12</a:t>
            </a:fld>
            <a:endParaRPr lang="en-IN"/>
          </a:p>
        </p:txBody>
      </p:sp>
    </p:spTree>
    <p:extLst>
      <p:ext uri="{BB962C8B-B14F-4D97-AF65-F5344CB8AC3E}">
        <p14:creationId xmlns:p14="http://schemas.microsoft.com/office/powerpoint/2010/main" val="2287316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16* 64=1024</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13</a:t>
            </a:fld>
            <a:endParaRPr lang="en-IN"/>
          </a:p>
        </p:txBody>
      </p:sp>
    </p:spTree>
    <p:extLst>
      <p:ext uri="{BB962C8B-B14F-4D97-AF65-F5344CB8AC3E}">
        <p14:creationId xmlns:p14="http://schemas.microsoft.com/office/powerpoint/2010/main" val="3069066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Each word is 64 bits- we generate</a:t>
            </a:r>
            <a:r>
              <a:rPr lang="en-IN" baseline="0" dirty="0" smtClean="0"/>
              <a:t> 80 words</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14</a:t>
            </a:fld>
            <a:endParaRPr lang="en-IN"/>
          </a:p>
        </p:txBody>
      </p:sp>
    </p:spTree>
    <p:extLst>
      <p:ext uri="{BB962C8B-B14F-4D97-AF65-F5344CB8AC3E}">
        <p14:creationId xmlns:p14="http://schemas.microsoft.com/office/powerpoint/2010/main" val="1080886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smtClean="0"/>
              <a:t>The 1024-bit block become the </a:t>
            </a:r>
            <a:r>
              <a:rPr lang="en-IN" sz="1200" b="1" dirty="0" smtClean="0"/>
              <a:t>first 16 words</a:t>
            </a:r>
          </a:p>
          <a:p>
            <a:r>
              <a:rPr lang="en-IN" sz="1200" b="1" dirty="0" smtClean="0"/>
              <a:t>Word1is fed to sigma</a:t>
            </a:r>
            <a:r>
              <a:rPr lang="en-IN" sz="1200" b="1" baseline="0" dirty="0" smtClean="0"/>
              <a:t> 0</a:t>
            </a:r>
          </a:p>
          <a:p>
            <a:r>
              <a:rPr lang="en-IN" sz="1200" b="1" baseline="0" dirty="0" smtClean="0"/>
              <a:t>Word14 is fed to sigma1</a:t>
            </a:r>
          </a:p>
          <a:p>
            <a:r>
              <a:rPr lang="en-IN" sz="1200" b="0" baseline="0" dirty="0" smtClean="0"/>
              <a:t>Sigma takes  a word as a input</a:t>
            </a:r>
          </a:p>
          <a:p>
            <a:r>
              <a:rPr lang="en-IN" sz="1200" b="0" baseline="0" dirty="0" err="1" smtClean="0"/>
              <a:t>Rotr</a:t>
            </a:r>
            <a:r>
              <a:rPr lang="en-IN" sz="1200" b="0" baseline="0" dirty="0" smtClean="0"/>
              <a:t>- right circular shift of 1 bit, 8 bit</a:t>
            </a:r>
          </a:p>
          <a:p>
            <a:r>
              <a:rPr lang="en-IN" sz="1200" b="0" baseline="0" dirty="0" smtClean="0"/>
              <a:t>SHR – right shift of 7 bits</a:t>
            </a:r>
            <a:endParaRPr lang="en-IN" b="0"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15</a:t>
            </a:fld>
            <a:endParaRPr lang="en-IN"/>
          </a:p>
        </p:txBody>
      </p:sp>
    </p:spTree>
    <p:extLst>
      <p:ext uri="{BB962C8B-B14F-4D97-AF65-F5344CB8AC3E}">
        <p14:creationId xmlns:p14="http://schemas.microsoft.com/office/powerpoint/2010/main" val="3633453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16 * 4=64 </a:t>
            </a:r>
            <a:r>
              <a:rPr lang="en-IN" dirty="0" err="1" smtClean="0"/>
              <a:t>bitd</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17</a:t>
            </a:fld>
            <a:endParaRPr lang="en-IN"/>
          </a:p>
        </p:txBody>
      </p:sp>
    </p:spTree>
    <p:extLst>
      <p:ext uri="{BB962C8B-B14F-4D97-AF65-F5344CB8AC3E}">
        <p14:creationId xmlns:p14="http://schemas.microsoft.com/office/powerpoint/2010/main" val="2193765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K is the round constant fed</a:t>
            </a:r>
          </a:p>
          <a:p>
            <a:r>
              <a:rPr lang="en-IN" dirty="0" smtClean="0"/>
              <a:t>64 * 8 =512 bits</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19</a:t>
            </a:fld>
            <a:endParaRPr lang="en-IN"/>
          </a:p>
        </p:txBody>
      </p:sp>
    </p:spTree>
    <p:extLst>
      <p:ext uri="{BB962C8B-B14F-4D97-AF65-F5344CB8AC3E}">
        <p14:creationId xmlns:p14="http://schemas.microsoft.com/office/powerpoint/2010/main" val="303854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Each is 64 bits, and total is 512 bits</a:t>
            </a:r>
          </a:p>
          <a:p>
            <a:r>
              <a:rPr lang="en-IN" dirty="0" err="1" smtClean="0"/>
              <a:t>Ho</a:t>
            </a:r>
            <a:r>
              <a:rPr lang="en-IN" dirty="0" smtClean="0"/>
              <a:t> is the </a:t>
            </a:r>
            <a:r>
              <a:rPr lang="en-IN" dirty="0" err="1" smtClean="0"/>
              <a:t>inititaliion</a:t>
            </a:r>
            <a:r>
              <a:rPr lang="en-IN" baseline="0" dirty="0" smtClean="0"/>
              <a:t> vector fed</a:t>
            </a:r>
          </a:p>
          <a:p>
            <a:r>
              <a:rPr lang="en-IN" baseline="0" dirty="0" smtClean="0"/>
              <a:t>T1 and T2 are the 2 computations</a:t>
            </a:r>
          </a:p>
          <a:p>
            <a:r>
              <a:rPr lang="en-IN" baseline="0" dirty="0" smtClean="0"/>
              <a:t>‘</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20</a:t>
            </a:fld>
            <a:endParaRPr lang="en-IN"/>
          </a:p>
        </p:txBody>
      </p:sp>
    </p:spTree>
    <p:extLst>
      <p:ext uri="{BB962C8B-B14F-4D97-AF65-F5344CB8AC3E}">
        <p14:creationId xmlns:p14="http://schemas.microsoft.com/office/powerpoint/2010/main" val="1931745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smtClean="0"/>
              <a:t>Ch</a:t>
            </a:r>
            <a:r>
              <a:rPr lang="en-IN" dirty="0" smtClean="0"/>
              <a:t> is condition function</a:t>
            </a:r>
          </a:p>
          <a:p>
            <a:r>
              <a:rPr lang="en-IN" dirty="0" smtClean="0"/>
              <a:t>Sigma 512 e</a:t>
            </a:r>
          </a:p>
          <a:p>
            <a:r>
              <a:rPr lang="en-IN" dirty="0" smtClean="0"/>
              <a:t>If round1</a:t>
            </a:r>
            <a:r>
              <a:rPr lang="en-IN" baseline="0" dirty="0" smtClean="0"/>
              <a:t> , then W1 and K1</a:t>
            </a:r>
          </a:p>
          <a:p>
            <a:r>
              <a:rPr lang="en-IN" baseline="0" dirty="0" err="1" smtClean="0"/>
              <a:t>e.f,g</a:t>
            </a:r>
            <a:r>
              <a:rPr lang="en-IN" baseline="0" dirty="0" smtClean="0"/>
              <a:t> are from input buffer</a:t>
            </a:r>
          </a:p>
          <a:p>
            <a:endParaRPr lang="en-IN" baseline="0" dirty="0" smtClean="0"/>
          </a:p>
          <a:p>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21</a:t>
            </a:fld>
            <a:endParaRPr lang="en-IN"/>
          </a:p>
        </p:txBody>
      </p:sp>
    </p:spTree>
    <p:extLst>
      <p:ext uri="{BB962C8B-B14F-4D97-AF65-F5344CB8AC3E}">
        <p14:creationId xmlns:p14="http://schemas.microsoft.com/office/powerpoint/2010/main" val="4267157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80 different round constants</a:t>
            </a:r>
          </a:p>
          <a:p>
            <a:r>
              <a:rPr lang="en-IN" dirty="0" smtClean="0"/>
              <a:t>20 round constants in a column</a:t>
            </a:r>
          </a:p>
          <a:p>
            <a:r>
              <a:rPr lang="en-IN" dirty="0" smtClean="0"/>
              <a:t>20 * 4 =80 round constants</a:t>
            </a:r>
          </a:p>
          <a:p>
            <a:r>
              <a:rPr lang="en-IN" dirty="0" smtClean="0"/>
              <a:t>Each</a:t>
            </a:r>
            <a:r>
              <a:rPr lang="en-IN" baseline="0" dirty="0" smtClean="0"/>
              <a:t> 64 bits of round constants</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22</a:t>
            </a:fld>
            <a:endParaRPr lang="en-IN"/>
          </a:p>
        </p:txBody>
      </p:sp>
    </p:spTree>
    <p:extLst>
      <p:ext uri="{BB962C8B-B14F-4D97-AF65-F5344CB8AC3E}">
        <p14:creationId xmlns:p14="http://schemas.microsoft.com/office/powerpoint/2010/main" val="3538921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Majority</a:t>
            </a:r>
            <a:r>
              <a:rPr lang="en-IN" baseline="0" dirty="0" smtClean="0"/>
              <a:t> function that takes </a:t>
            </a:r>
            <a:r>
              <a:rPr lang="en-IN" baseline="0" dirty="0" err="1" smtClean="0"/>
              <a:t>a,b,c</a:t>
            </a:r>
            <a:endParaRPr lang="en-IN" baseline="0" dirty="0" smtClean="0"/>
          </a:p>
          <a:p>
            <a:r>
              <a:rPr lang="en-IN" baseline="0" dirty="0" smtClean="0"/>
              <a:t>A, b c is from input buffer</a:t>
            </a:r>
          </a:p>
          <a:p>
            <a:r>
              <a:rPr lang="en-IN" baseline="0" dirty="0" smtClean="0"/>
              <a:t>---------------</a:t>
            </a:r>
          </a:p>
          <a:p>
            <a:r>
              <a:rPr lang="en-IN" baseline="0" dirty="0" smtClean="0"/>
              <a:t>A is taken move to b</a:t>
            </a:r>
          </a:p>
          <a:p>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23</a:t>
            </a:fld>
            <a:endParaRPr lang="en-IN"/>
          </a:p>
        </p:txBody>
      </p:sp>
    </p:spTree>
    <p:extLst>
      <p:ext uri="{BB962C8B-B14F-4D97-AF65-F5344CB8AC3E}">
        <p14:creationId xmlns:p14="http://schemas.microsoft.com/office/powerpoint/2010/main" val="2315895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Each is 64 bits, and total is 512 bits</a:t>
            </a:r>
          </a:p>
          <a:p>
            <a:r>
              <a:rPr lang="en-IN" dirty="0" err="1" smtClean="0"/>
              <a:t>Ho</a:t>
            </a:r>
            <a:r>
              <a:rPr lang="en-IN" dirty="0" smtClean="0"/>
              <a:t> is the </a:t>
            </a:r>
            <a:r>
              <a:rPr lang="en-IN" dirty="0" err="1" smtClean="0"/>
              <a:t>inititaliion</a:t>
            </a:r>
            <a:r>
              <a:rPr lang="en-IN" baseline="0" dirty="0" smtClean="0"/>
              <a:t> vector fed</a:t>
            </a:r>
          </a:p>
          <a:p>
            <a:r>
              <a:rPr lang="en-IN" baseline="0" dirty="0" smtClean="0"/>
              <a:t>T1 and T2 are the 2 computations</a:t>
            </a:r>
          </a:p>
          <a:p>
            <a:r>
              <a:rPr lang="en-IN" baseline="0" dirty="0" smtClean="0"/>
              <a:t>‘</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24</a:t>
            </a:fld>
            <a:endParaRPr lang="en-IN"/>
          </a:p>
        </p:txBody>
      </p:sp>
    </p:spTree>
    <p:extLst>
      <p:ext uri="{BB962C8B-B14F-4D97-AF65-F5344CB8AC3E}">
        <p14:creationId xmlns:p14="http://schemas.microsoft.com/office/powerpoint/2010/main" val="2677308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 (-M-128) mod 1024 = - 160 mod 1024 = 864.</a:t>
            </a:r>
          </a:p>
          <a:p>
            <a:r>
              <a:rPr lang="en-IN" sz="1200" kern="1200" dirty="0" smtClean="0">
                <a:solidFill>
                  <a:schemeClr val="tx1"/>
                </a:solidFill>
                <a:effectLst/>
                <a:latin typeface="+mn-lt"/>
                <a:ea typeface="+mn-ea"/>
                <a:cs typeface="+mn-cs"/>
              </a:rPr>
              <a:t>1 1 1 0 1 0.</a:t>
            </a:r>
          </a:p>
          <a:p>
            <a:r>
              <a:rPr lang="en-IN" sz="1200" kern="1200" dirty="0" smtClean="0">
                <a:solidFill>
                  <a:schemeClr val="tx1"/>
                </a:solidFill>
                <a:effectLst/>
                <a:latin typeface="+mn-lt"/>
                <a:ea typeface="+mn-ea"/>
                <a:cs typeface="+mn-cs"/>
              </a:rPr>
              <a:t>0 0 1 0 0 1</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27</a:t>
            </a:fld>
            <a:endParaRPr lang="en-IN"/>
          </a:p>
        </p:txBody>
      </p:sp>
    </p:spTree>
    <p:extLst>
      <p:ext uri="{BB962C8B-B14F-4D97-AF65-F5344CB8AC3E}">
        <p14:creationId xmlns:p14="http://schemas.microsoft.com/office/powerpoint/2010/main" val="4294353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 (-M-128) mod 1024 = - 160 mod 1024 = 864.</a:t>
            </a:r>
          </a:p>
          <a:p>
            <a:r>
              <a:rPr lang="en-IN" sz="1200" kern="1200" dirty="0" smtClean="0">
                <a:solidFill>
                  <a:schemeClr val="tx1"/>
                </a:solidFill>
                <a:effectLst/>
                <a:latin typeface="+mn-lt"/>
                <a:ea typeface="+mn-ea"/>
                <a:cs typeface="+mn-cs"/>
              </a:rPr>
              <a:t>1 1 1 0 1 0.</a:t>
            </a:r>
          </a:p>
          <a:p>
            <a:r>
              <a:rPr lang="en-IN" sz="1200" kern="1200" dirty="0" smtClean="0">
                <a:solidFill>
                  <a:schemeClr val="tx1"/>
                </a:solidFill>
                <a:effectLst/>
                <a:latin typeface="+mn-lt"/>
                <a:ea typeface="+mn-ea"/>
                <a:cs typeface="+mn-cs"/>
              </a:rPr>
              <a:t>0 0 1 0 0 1</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28</a:t>
            </a:fld>
            <a:endParaRPr lang="en-IN"/>
          </a:p>
        </p:txBody>
      </p:sp>
    </p:spTree>
    <p:extLst>
      <p:ext uri="{BB962C8B-B14F-4D97-AF65-F5344CB8AC3E}">
        <p14:creationId xmlns:p14="http://schemas.microsoft.com/office/powerpoint/2010/main" val="261912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925823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826219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242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9747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5191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366693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61804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2784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3850736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96027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82968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422902-BD6F-4672-A0A5-93084F3B7D23}" type="datetimeFigureOut">
              <a:rPr lang="en-IN" smtClean="0"/>
              <a:pPr/>
              <a:t>18-03-2025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7C73E-4A13-4C71-B2CA-4FF9ED28A8E8}" type="slidenum">
              <a:rPr lang="en-IN" smtClean="0"/>
              <a:pPr/>
              <a:t>‹#›</a:t>
            </a:fld>
            <a:endParaRPr lang="en-IN"/>
          </a:p>
        </p:txBody>
      </p:sp>
    </p:spTree>
    <p:extLst>
      <p:ext uri="{BB962C8B-B14F-4D97-AF65-F5344CB8AC3E}">
        <p14:creationId xmlns:p14="http://schemas.microsoft.com/office/powerpoint/2010/main" val="441211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1857364"/>
            <a:ext cx="8424936" cy="1470025"/>
          </a:xfrm>
        </p:spPr>
        <p:txBody>
          <a:bodyPr>
            <a:noAutofit/>
          </a:bodyPr>
          <a:lstStyle/>
          <a:p>
            <a:r>
              <a:rPr lang="en-IN" sz="4800" b="1" dirty="0">
                <a:solidFill>
                  <a:srgbClr val="FF0000"/>
                </a:solidFill>
              </a:rPr>
              <a:t/>
            </a:r>
            <a:br>
              <a:rPr lang="en-IN" sz="4800" b="1" dirty="0">
                <a:solidFill>
                  <a:srgbClr val="FF0000"/>
                </a:solidFill>
              </a:rPr>
            </a:br>
            <a:r>
              <a:rPr lang="en-IN" sz="4800" b="1" dirty="0" smtClean="0">
                <a:solidFill>
                  <a:srgbClr val="7030A0"/>
                </a:solidFill>
              </a:rPr>
              <a:t>(Secure </a:t>
            </a:r>
            <a:r>
              <a:rPr lang="en-IN" sz="4800" b="1" dirty="0">
                <a:solidFill>
                  <a:srgbClr val="7030A0"/>
                </a:solidFill>
              </a:rPr>
              <a:t>Hash </a:t>
            </a:r>
            <a:r>
              <a:rPr lang="en-IN" sz="4800" b="1" dirty="0" smtClean="0">
                <a:solidFill>
                  <a:srgbClr val="7030A0"/>
                </a:solidFill>
              </a:rPr>
              <a:t>Algorithm) </a:t>
            </a:r>
            <a:br>
              <a:rPr lang="en-IN" sz="4800" b="1" dirty="0" smtClean="0">
                <a:solidFill>
                  <a:srgbClr val="7030A0"/>
                </a:solidFill>
              </a:rPr>
            </a:br>
            <a:r>
              <a:rPr lang="en-IN" sz="4800" b="1" dirty="0" smtClean="0">
                <a:solidFill>
                  <a:srgbClr val="7030A0"/>
                </a:solidFill>
              </a:rPr>
              <a:t>SHA </a:t>
            </a:r>
            <a:r>
              <a:rPr lang="en-IN" sz="4800" b="1" dirty="0">
                <a:solidFill>
                  <a:srgbClr val="7030A0"/>
                </a:solidFill>
              </a:rPr>
              <a:t>-512</a:t>
            </a:r>
            <a:br>
              <a:rPr lang="en-IN" sz="4800" b="1" dirty="0">
                <a:solidFill>
                  <a:srgbClr val="7030A0"/>
                </a:solidFill>
              </a:rPr>
            </a:br>
            <a:r>
              <a:rPr lang="en-IN" sz="4800" b="1" dirty="0">
                <a:solidFill>
                  <a:srgbClr val="FF0000"/>
                </a:solidFill>
              </a:rPr>
              <a:t> </a:t>
            </a:r>
          </a:p>
        </p:txBody>
      </p:sp>
      <p:pic>
        <p:nvPicPr>
          <p:cNvPr id="3" name="Picture 2"/>
          <p:cNvPicPr>
            <a:picLocks noChangeAspect="1"/>
          </p:cNvPicPr>
          <p:nvPr/>
        </p:nvPicPr>
        <p:blipFill>
          <a:blip r:embed="rId2"/>
          <a:stretch>
            <a:fillRect/>
          </a:stretch>
        </p:blipFill>
        <p:spPr>
          <a:xfrm>
            <a:off x="80208" y="3726730"/>
            <a:ext cx="9036496" cy="1872208"/>
          </a:xfrm>
          <a:prstGeom prst="rect">
            <a:avLst/>
          </a:prstGeom>
        </p:spPr>
      </p:pic>
    </p:spTree>
    <p:extLst>
      <p:ext uri="{BB962C8B-B14F-4D97-AF65-F5344CB8AC3E}">
        <p14:creationId xmlns:p14="http://schemas.microsoft.com/office/powerpoint/2010/main" val="9771604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3EC7369-8C3E-B61F-99B8-FB284D0101F3}"/>
              </a:ext>
            </a:extLst>
          </p:cNvPr>
          <p:cNvSpPr txBox="1"/>
          <p:nvPr/>
        </p:nvSpPr>
        <p:spPr>
          <a:xfrm>
            <a:off x="251520" y="476673"/>
            <a:ext cx="8496944" cy="7171194"/>
          </a:xfrm>
          <a:prstGeom prst="rect">
            <a:avLst/>
          </a:prstGeom>
          <a:noFill/>
        </p:spPr>
        <p:txBody>
          <a:bodyPr wrap="square" rtlCol="0">
            <a:spAutoFit/>
          </a:bodyPr>
          <a:lstStyle/>
          <a:p>
            <a:pPr algn="ctr"/>
            <a:r>
              <a:rPr lang="en-IN" sz="4000" b="1" dirty="0" smtClean="0">
                <a:solidFill>
                  <a:srgbClr val="7030A0"/>
                </a:solidFill>
              </a:rPr>
              <a:t>History of SHA </a:t>
            </a:r>
            <a:r>
              <a:rPr lang="en-IN" sz="4000" b="1" dirty="0">
                <a:solidFill>
                  <a:srgbClr val="7030A0"/>
                </a:solidFill>
              </a:rPr>
              <a:t>-</a:t>
            </a:r>
            <a:r>
              <a:rPr lang="en-IN" sz="4000" b="1" dirty="0" smtClean="0">
                <a:solidFill>
                  <a:srgbClr val="7030A0"/>
                </a:solidFill>
              </a:rPr>
              <a:t>512</a:t>
            </a:r>
            <a:endParaRPr lang="en-IN" sz="4000" b="1" dirty="0">
              <a:solidFill>
                <a:srgbClr val="7030A0"/>
              </a:solidFill>
            </a:endParaRPr>
          </a:p>
          <a:p>
            <a:pPr algn="just"/>
            <a:endParaRPr lang="en-IN" sz="2000" dirty="0"/>
          </a:p>
          <a:p>
            <a:pPr algn="just"/>
            <a:endParaRPr lang="en-IN" sz="2000" dirty="0"/>
          </a:p>
          <a:p>
            <a:pPr algn="just">
              <a:buFont typeface="Arial" pitchFamily="34" charset="0"/>
              <a:buChar char="•"/>
            </a:pPr>
            <a:r>
              <a:rPr lang="en-IN" sz="2800" dirty="0" smtClean="0"/>
              <a:t> The original specification of the algorithm was published in 1993 under the title Secure Hash Standard (SHA-0), by U.S government standards agency NIST.</a:t>
            </a:r>
          </a:p>
          <a:p>
            <a:pPr algn="just">
              <a:buFont typeface="Arial" pitchFamily="34" charset="0"/>
              <a:buChar char="•"/>
            </a:pPr>
            <a:r>
              <a:rPr lang="en-IN" sz="2000" dirty="0" smtClean="0"/>
              <a:t> </a:t>
            </a:r>
            <a:r>
              <a:rPr lang="en-IN" sz="2800" dirty="0" smtClean="0"/>
              <a:t>It was withdrawn by the NSA shortly after publication and was superseded by the revised version, published in and commonly designated SHA-1.</a:t>
            </a:r>
          </a:p>
          <a:p>
            <a:pPr algn="just">
              <a:buFont typeface="Arial" pitchFamily="34" charset="0"/>
              <a:buChar char="•"/>
            </a:pPr>
            <a:r>
              <a:rPr lang="en-IN" sz="2800" dirty="0" smtClean="0"/>
              <a:t> SHA-1  is a cryptography hash function which takes an input and produces a 160-bit hash value known as a message digest – typically rendered as a hexadecimal number, 40 digits long.</a:t>
            </a:r>
            <a:endParaRPr lang="en-IN" sz="2800" dirty="0"/>
          </a:p>
          <a:p>
            <a:pPr algn="just"/>
            <a:endParaRPr lang="en-GB" sz="2000" dirty="0"/>
          </a:p>
          <a:p>
            <a:pPr algn="just"/>
            <a:endParaRPr lang="en-GB" sz="2000" dirty="0"/>
          </a:p>
          <a:p>
            <a:pPr algn="just"/>
            <a:endParaRPr lang="en-IN" sz="2000" b="1" dirty="0"/>
          </a:p>
          <a:p>
            <a:pPr algn="just"/>
            <a:endParaRPr lang="en-IN" sz="2000" dirty="0"/>
          </a:p>
          <a:p>
            <a:pPr marL="342900" indent="-342900" algn="just">
              <a:buAutoNum type="arabicPeriod"/>
            </a:pPr>
            <a:endParaRPr lang="en-IN" sz="2000" dirty="0"/>
          </a:p>
        </p:txBody>
      </p:sp>
    </p:spTree>
    <p:extLst>
      <p:ext uri="{BB962C8B-B14F-4D97-AF65-F5344CB8AC3E}">
        <p14:creationId xmlns:p14="http://schemas.microsoft.com/office/powerpoint/2010/main" val="208407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 calcmode="lin" valueType="num">
                                      <p:cBhvr additive="base">
                                        <p:cTn id="1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3EC7369-8C3E-B61F-99B8-FB284D0101F3}"/>
              </a:ext>
            </a:extLst>
          </p:cNvPr>
          <p:cNvSpPr txBox="1"/>
          <p:nvPr/>
        </p:nvSpPr>
        <p:spPr>
          <a:xfrm>
            <a:off x="179512" y="1124744"/>
            <a:ext cx="8496944" cy="6001643"/>
          </a:xfrm>
          <a:prstGeom prst="rect">
            <a:avLst/>
          </a:prstGeom>
          <a:noFill/>
        </p:spPr>
        <p:txBody>
          <a:bodyPr wrap="square" rtlCol="0">
            <a:spAutoFit/>
          </a:bodyPr>
          <a:lstStyle/>
          <a:p>
            <a:pPr algn="just"/>
            <a:endParaRPr lang="en-IN" dirty="0"/>
          </a:p>
          <a:p>
            <a:pPr algn="just"/>
            <a:endParaRPr lang="en-IN" dirty="0"/>
          </a:p>
          <a:p>
            <a:pPr algn="just">
              <a:buFont typeface="Arial" pitchFamily="34" charset="0"/>
              <a:buChar char="•"/>
            </a:pPr>
            <a:r>
              <a:rPr lang="en-IN" sz="2400" dirty="0" smtClean="0"/>
              <a:t> Since 2005, SHA-1 has not been considered secure against well-funded opponents.</a:t>
            </a:r>
          </a:p>
          <a:p>
            <a:pPr algn="just">
              <a:buFont typeface="Arial" pitchFamily="34" charset="0"/>
              <a:buChar char="•"/>
            </a:pPr>
            <a:r>
              <a:rPr lang="en-IN" sz="2400" dirty="0" smtClean="0"/>
              <a:t> As of 2010 many organizations have recommended its replacement.</a:t>
            </a:r>
          </a:p>
          <a:p>
            <a:pPr algn="just">
              <a:buFont typeface="Arial" pitchFamily="34" charset="0"/>
              <a:buChar char="•"/>
            </a:pPr>
            <a:r>
              <a:rPr lang="en-IN" sz="2400" dirty="0" smtClean="0"/>
              <a:t> NIST formally deprecated use of SHA-1 in 2021 and disallowed its use for digital signature in 2013.</a:t>
            </a:r>
          </a:p>
          <a:p>
            <a:pPr algn="just">
              <a:buFont typeface="Arial" pitchFamily="34" charset="0"/>
              <a:buChar char="•"/>
            </a:pPr>
            <a:r>
              <a:rPr lang="en-IN" sz="2400" dirty="0" smtClean="0"/>
              <a:t> The predecessor is SHA-2. SHA-2 includes significant changes from its predecessor, SHA-1.</a:t>
            </a:r>
          </a:p>
          <a:p>
            <a:pPr algn="just">
              <a:buFont typeface="Arial" pitchFamily="34" charset="0"/>
              <a:buChar char="•"/>
            </a:pPr>
            <a:r>
              <a:rPr lang="en-IN" sz="2400" dirty="0" smtClean="0"/>
              <a:t> The SHA-2 family consists of six hash function with digests (hash values) that are 224, 256, 384, or 512 bits: SHA-224, SHA-256, SHA- 384, SHA- 512, SHA- 512/224, SHA- 512/256. SHA- 256 and SHA- 512 are novel hash functions computed with 32-bit and b4-bit words, respectively.</a:t>
            </a:r>
            <a:endParaRPr lang="en-IN" b="1" dirty="0"/>
          </a:p>
          <a:p>
            <a:pPr algn="just"/>
            <a:endParaRPr lang="en-IN" dirty="0"/>
          </a:p>
          <a:p>
            <a:pPr marL="342900" indent="-342900" algn="just">
              <a:buAutoNum type="arabicPeriod"/>
            </a:pPr>
            <a:endParaRPr lang="en-IN" dirty="0"/>
          </a:p>
        </p:txBody>
      </p:sp>
      <p:sp>
        <p:nvSpPr>
          <p:cNvPr id="3" name="Rectangle 2"/>
          <p:cNvSpPr/>
          <p:nvPr/>
        </p:nvSpPr>
        <p:spPr>
          <a:xfrm>
            <a:off x="2479182" y="332656"/>
            <a:ext cx="3897605" cy="646331"/>
          </a:xfrm>
          <a:prstGeom prst="rect">
            <a:avLst/>
          </a:prstGeom>
        </p:spPr>
        <p:txBody>
          <a:bodyPr wrap="none">
            <a:spAutoFit/>
          </a:bodyPr>
          <a:lstStyle/>
          <a:p>
            <a:pPr algn="ctr"/>
            <a:r>
              <a:rPr lang="en-IN" sz="3600" b="1" dirty="0">
                <a:solidFill>
                  <a:srgbClr val="7030A0"/>
                </a:solidFill>
              </a:rPr>
              <a:t>History of SHA -512</a:t>
            </a:r>
          </a:p>
        </p:txBody>
      </p:sp>
    </p:spTree>
    <p:extLst>
      <p:ext uri="{BB962C8B-B14F-4D97-AF65-F5344CB8AC3E}">
        <p14:creationId xmlns:p14="http://schemas.microsoft.com/office/powerpoint/2010/main" val="208407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3EC7369-8C3E-B61F-99B8-FB284D0101F3}"/>
              </a:ext>
            </a:extLst>
          </p:cNvPr>
          <p:cNvSpPr txBox="1"/>
          <p:nvPr/>
        </p:nvSpPr>
        <p:spPr>
          <a:xfrm>
            <a:off x="251520" y="476673"/>
            <a:ext cx="8496944" cy="3139321"/>
          </a:xfrm>
          <a:prstGeom prst="rect">
            <a:avLst/>
          </a:prstGeom>
          <a:noFill/>
        </p:spPr>
        <p:txBody>
          <a:bodyPr wrap="square" rtlCol="0">
            <a:spAutoFit/>
          </a:bodyPr>
          <a:lstStyle/>
          <a:p>
            <a:pPr algn="ctr"/>
            <a:r>
              <a:rPr lang="en-IN" sz="4800" b="1" dirty="0" smtClean="0">
                <a:solidFill>
                  <a:srgbClr val="7030A0"/>
                </a:solidFill>
              </a:rPr>
              <a:t>Overview of SHA - 512  </a:t>
            </a:r>
            <a:endParaRPr lang="en-IN" sz="4800" b="1" dirty="0">
              <a:solidFill>
                <a:srgbClr val="7030A0"/>
              </a:solidFill>
            </a:endParaRPr>
          </a:p>
          <a:p>
            <a:pPr algn="just"/>
            <a:endParaRPr lang="en-IN" dirty="0"/>
          </a:p>
          <a:p>
            <a:pPr algn="just"/>
            <a:endParaRPr lang="en-IN" dirty="0"/>
          </a:p>
          <a:p>
            <a:pPr algn="just"/>
            <a:endParaRPr lang="en-IN" sz="2400" dirty="0" smtClean="0"/>
          </a:p>
          <a:p>
            <a:pPr algn="just"/>
            <a:endParaRPr lang="en-GB" dirty="0"/>
          </a:p>
          <a:p>
            <a:pPr algn="just"/>
            <a:endParaRPr lang="en-GB" dirty="0"/>
          </a:p>
          <a:p>
            <a:pPr algn="just"/>
            <a:endParaRPr lang="en-IN" b="1" dirty="0"/>
          </a:p>
          <a:p>
            <a:pPr algn="just"/>
            <a:endParaRPr lang="en-IN" dirty="0"/>
          </a:p>
          <a:p>
            <a:pPr marL="342900" indent="-342900" algn="just">
              <a:buAutoNum type="arabicPeriod"/>
            </a:pPr>
            <a:endParaRPr lang="en-IN" dirty="0"/>
          </a:p>
        </p:txBody>
      </p:sp>
      <p:pic>
        <p:nvPicPr>
          <p:cNvPr id="1026" name="Picture 2"/>
          <p:cNvPicPr>
            <a:picLocks noChangeAspect="1" noChangeArrowheads="1"/>
          </p:cNvPicPr>
          <p:nvPr/>
        </p:nvPicPr>
        <p:blipFill>
          <a:blip r:embed="rId2"/>
          <a:srcRect/>
          <a:stretch>
            <a:fillRect/>
          </a:stretch>
        </p:blipFill>
        <p:spPr bwMode="auto">
          <a:xfrm>
            <a:off x="571472" y="1285860"/>
            <a:ext cx="4286280" cy="4214841"/>
          </a:xfrm>
          <a:prstGeom prst="rect">
            <a:avLst/>
          </a:prstGeom>
          <a:noFill/>
          <a:ln w="9525">
            <a:noFill/>
            <a:miter lim="800000"/>
            <a:headEnd/>
            <a:tailEnd/>
          </a:ln>
          <a:effectLst/>
        </p:spPr>
      </p:pic>
      <p:sp>
        <p:nvSpPr>
          <p:cNvPr id="4" name="TextBox 3"/>
          <p:cNvSpPr txBox="1"/>
          <p:nvPr/>
        </p:nvSpPr>
        <p:spPr>
          <a:xfrm>
            <a:off x="4786314" y="2857496"/>
            <a:ext cx="3929090" cy="1429622"/>
          </a:xfrm>
          <a:prstGeom prst="rect">
            <a:avLst/>
          </a:prstGeom>
          <a:noFill/>
        </p:spPr>
        <p:txBody>
          <a:bodyPr wrap="square" rtlCol="0">
            <a:spAutoFit/>
          </a:bodyPr>
          <a:lstStyle/>
          <a:p>
            <a:pPr algn="just">
              <a:lnSpc>
                <a:spcPct val="150000"/>
              </a:lnSpc>
              <a:buFont typeface="Arial" pitchFamily="34" charset="0"/>
              <a:buChar char="•"/>
            </a:pPr>
            <a:r>
              <a:rPr lang="en-IN" sz="2000" dirty="0" smtClean="0"/>
              <a:t> SHA-512 create a digest of 512 bits </a:t>
            </a:r>
          </a:p>
          <a:p>
            <a:pPr algn="just">
              <a:lnSpc>
                <a:spcPct val="150000"/>
              </a:lnSpc>
            </a:pPr>
            <a:r>
              <a:rPr lang="en-IN" sz="2000" dirty="0" smtClean="0"/>
              <a:t>   from multiple block message.</a:t>
            </a:r>
          </a:p>
          <a:p>
            <a:pPr algn="just">
              <a:lnSpc>
                <a:spcPct val="150000"/>
              </a:lnSpc>
              <a:buFont typeface="Arial" pitchFamily="34" charset="0"/>
              <a:buChar char="•"/>
            </a:pPr>
            <a:r>
              <a:rPr lang="en-IN" sz="2000" dirty="0" smtClean="0"/>
              <a:t> Each block is 1024 bits in length.</a:t>
            </a:r>
            <a:endParaRPr lang="en-IN" sz="2000" dirty="0"/>
          </a:p>
        </p:txBody>
      </p:sp>
      <p:pic>
        <p:nvPicPr>
          <p:cNvPr id="3" name="Picture 2"/>
          <p:cNvPicPr>
            <a:picLocks noChangeAspect="1"/>
          </p:cNvPicPr>
          <p:nvPr/>
        </p:nvPicPr>
        <p:blipFill>
          <a:blip r:embed="rId3"/>
          <a:stretch>
            <a:fillRect/>
          </a:stretch>
        </p:blipFill>
        <p:spPr>
          <a:xfrm>
            <a:off x="0" y="5094514"/>
            <a:ext cx="9144000" cy="1763486"/>
          </a:xfrm>
          <a:prstGeom prst="rect">
            <a:avLst/>
          </a:prstGeom>
        </p:spPr>
      </p:pic>
    </p:spTree>
    <p:extLst>
      <p:ext uri="{BB962C8B-B14F-4D97-AF65-F5344CB8AC3E}">
        <p14:creationId xmlns:p14="http://schemas.microsoft.com/office/powerpoint/2010/main" val="20840757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3EC7369-8C3E-B61F-99B8-FB284D0101F3}"/>
              </a:ext>
            </a:extLst>
          </p:cNvPr>
          <p:cNvSpPr txBox="1"/>
          <p:nvPr/>
        </p:nvSpPr>
        <p:spPr>
          <a:xfrm>
            <a:off x="251520" y="476672"/>
            <a:ext cx="8496944" cy="4524315"/>
          </a:xfrm>
          <a:prstGeom prst="rect">
            <a:avLst/>
          </a:prstGeom>
          <a:noFill/>
        </p:spPr>
        <p:txBody>
          <a:bodyPr wrap="square" rtlCol="0">
            <a:spAutoFit/>
          </a:bodyPr>
          <a:lstStyle/>
          <a:p>
            <a:pPr algn="ctr"/>
            <a:r>
              <a:rPr lang="en-IN" sz="3600" b="1" dirty="0">
                <a:solidFill>
                  <a:srgbClr val="7030A0"/>
                </a:solidFill>
              </a:rPr>
              <a:t>SHA -512 </a:t>
            </a:r>
            <a:r>
              <a:rPr lang="en-IN" sz="3600" b="1" dirty="0" smtClean="0">
                <a:solidFill>
                  <a:srgbClr val="7030A0"/>
                </a:solidFill>
              </a:rPr>
              <a:t> (Secure Hash Algorithm)</a:t>
            </a:r>
            <a:endParaRPr lang="en-IN" sz="3600" b="1" dirty="0">
              <a:solidFill>
                <a:srgbClr val="7030A0"/>
              </a:solidFill>
            </a:endParaRPr>
          </a:p>
          <a:p>
            <a:endParaRPr lang="en-IN" dirty="0"/>
          </a:p>
          <a:p>
            <a:endParaRPr lang="en-IN" dirty="0"/>
          </a:p>
          <a:p>
            <a:r>
              <a:rPr lang="en-IN" dirty="0"/>
              <a:t>SHA – 512 does it work in a few stages.</a:t>
            </a:r>
          </a:p>
          <a:p>
            <a:pPr marL="342900" indent="-342900">
              <a:buAutoNum type="arabicPeriod"/>
            </a:pPr>
            <a:r>
              <a:rPr lang="en-IN" dirty="0"/>
              <a:t>Append padding bits</a:t>
            </a:r>
          </a:p>
          <a:p>
            <a:pPr marL="342900" indent="-342900">
              <a:buAutoNum type="arabicPeriod"/>
            </a:pPr>
            <a:r>
              <a:rPr lang="en-IN" dirty="0"/>
              <a:t>Append length</a:t>
            </a:r>
          </a:p>
          <a:p>
            <a:pPr marL="342900" indent="-342900">
              <a:buAutoNum type="arabicPeriod"/>
            </a:pPr>
            <a:r>
              <a:rPr lang="en-IN" dirty="0"/>
              <a:t>Initialize hash buffer</a:t>
            </a:r>
          </a:p>
          <a:p>
            <a:pPr marL="342900" indent="-342900">
              <a:buAutoNum type="arabicPeriod"/>
            </a:pPr>
            <a:r>
              <a:rPr lang="en-IN" dirty="0"/>
              <a:t>Process Message</a:t>
            </a:r>
          </a:p>
          <a:p>
            <a:pPr marL="342900" indent="-342900">
              <a:buAutoNum type="arabicPeriod"/>
            </a:pPr>
            <a:r>
              <a:rPr lang="en-IN" dirty="0"/>
              <a:t>Output</a:t>
            </a:r>
          </a:p>
          <a:p>
            <a:endParaRPr lang="en-IN" dirty="0"/>
          </a:p>
          <a:p>
            <a:endParaRPr lang="en-GB" dirty="0"/>
          </a:p>
          <a:p>
            <a:endParaRPr lang="en-GB" dirty="0"/>
          </a:p>
          <a:p>
            <a:endParaRPr lang="en-IN" b="1" dirty="0"/>
          </a:p>
          <a:p>
            <a:endParaRPr lang="en-IN" dirty="0"/>
          </a:p>
          <a:p>
            <a:pPr marL="342900" indent="-342900">
              <a:buAutoNum type="arabicPeriod"/>
            </a:pPr>
            <a:endParaRPr lang="en-IN" dirty="0"/>
          </a:p>
        </p:txBody>
      </p:sp>
      <p:pic>
        <p:nvPicPr>
          <p:cNvPr id="3" name="Picture 2">
            <a:extLst>
              <a:ext uri="{FF2B5EF4-FFF2-40B4-BE49-F238E27FC236}">
                <a16:creationId xmlns="" xmlns:a16="http://schemas.microsoft.com/office/drawing/2014/main" id="{F0464C34-D30F-34BF-FE5C-08F8986D812E}"/>
              </a:ext>
            </a:extLst>
          </p:cNvPr>
          <p:cNvPicPr>
            <a:picLocks noChangeAspect="1"/>
          </p:cNvPicPr>
          <p:nvPr/>
        </p:nvPicPr>
        <p:blipFill>
          <a:blip r:embed="rId2"/>
          <a:stretch>
            <a:fillRect/>
          </a:stretch>
        </p:blipFill>
        <p:spPr>
          <a:xfrm>
            <a:off x="363835" y="3284984"/>
            <a:ext cx="7220321" cy="2279767"/>
          </a:xfrm>
          <a:prstGeom prst="rect">
            <a:avLst/>
          </a:prstGeom>
        </p:spPr>
      </p:pic>
      <p:sp>
        <p:nvSpPr>
          <p:cNvPr id="4" name="TextBox 3"/>
          <p:cNvSpPr txBox="1"/>
          <p:nvPr/>
        </p:nvSpPr>
        <p:spPr>
          <a:xfrm>
            <a:off x="3000364" y="5643578"/>
            <a:ext cx="2972737" cy="461665"/>
          </a:xfrm>
          <a:prstGeom prst="rect">
            <a:avLst/>
          </a:prstGeom>
          <a:noFill/>
        </p:spPr>
        <p:txBody>
          <a:bodyPr wrap="none" rtlCol="0">
            <a:spAutoFit/>
          </a:bodyPr>
          <a:lstStyle/>
          <a:p>
            <a:r>
              <a:rPr lang="en-IN" sz="2400" b="1" dirty="0" smtClean="0"/>
              <a:t>Characteristics of SHA</a:t>
            </a:r>
            <a:endParaRPr lang="en-IN" sz="2400" b="1" dirty="0"/>
          </a:p>
        </p:txBody>
      </p:sp>
    </p:spTree>
    <p:extLst>
      <p:ext uri="{BB962C8B-B14F-4D97-AF65-F5344CB8AC3E}">
        <p14:creationId xmlns:p14="http://schemas.microsoft.com/office/powerpoint/2010/main" val="20840757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6E94A23-9182-A622-F7F7-40A5C4E9A6AA}"/>
              </a:ext>
            </a:extLst>
          </p:cNvPr>
          <p:cNvSpPr txBox="1"/>
          <p:nvPr/>
        </p:nvSpPr>
        <p:spPr>
          <a:xfrm>
            <a:off x="539552" y="476672"/>
            <a:ext cx="8352928" cy="4401205"/>
          </a:xfrm>
          <a:prstGeom prst="rect">
            <a:avLst/>
          </a:prstGeom>
          <a:noFill/>
        </p:spPr>
        <p:txBody>
          <a:bodyPr wrap="square" rtlCol="0">
            <a:spAutoFit/>
          </a:bodyPr>
          <a:lstStyle/>
          <a:p>
            <a:pPr marL="342900" indent="-342900" algn="ctr"/>
            <a:r>
              <a:rPr lang="en-IN" sz="3200" b="1" dirty="0" smtClean="0">
                <a:solidFill>
                  <a:srgbClr val="7030A0"/>
                </a:solidFill>
              </a:rPr>
              <a:t>Step 1: Message Preparation</a:t>
            </a:r>
          </a:p>
          <a:p>
            <a:pPr marL="342900" indent="-342900"/>
            <a:endParaRPr lang="en-IN" sz="2800"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Rectangle 3"/>
          <p:cNvSpPr/>
          <p:nvPr/>
        </p:nvSpPr>
        <p:spPr>
          <a:xfrm>
            <a:off x="285720" y="1214422"/>
            <a:ext cx="8429684" cy="5170646"/>
          </a:xfrm>
          <a:prstGeom prst="rect">
            <a:avLst/>
          </a:prstGeom>
        </p:spPr>
        <p:txBody>
          <a:bodyPr wrap="square">
            <a:spAutoFit/>
          </a:bodyPr>
          <a:lstStyle/>
          <a:p>
            <a:pPr algn="just">
              <a:lnSpc>
                <a:spcPct val="150000"/>
              </a:lnSpc>
              <a:buFont typeface="Arial" pitchFamily="34" charset="0"/>
              <a:buChar char="•"/>
            </a:pPr>
            <a:r>
              <a:rPr lang="en-GB" sz="2000" dirty="0" smtClean="0"/>
              <a:t> </a:t>
            </a:r>
            <a:r>
              <a:rPr lang="en-IN" sz="2000" dirty="0" smtClean="0"/>
              <a:t>SHA-512 insists that the length of the original message be less than 2</a:t>
            </a:r>
            <a:r>
              <a:rPr lang="en-IN" sz="2000" baseline="30000" dirty="0" smtClean="0"/>
              <a:t>128</a:t>
            </a:r>
            <a:r>
              <a:rPr lang="en-IN" sz="2000" dirty="0" smtClean="0"/>
              <a:t> bits.</a:t>
            </a:r>
          </a:p>
          <a:p>
            <a:pPr algn="just">
              <a:lnSpc>
                <a:spcPct val="150000"/>
              </a:lnSpc>
              <a:buFont typeface="Arial" pitchFamily="34" charset="0"/>
              <a:buChar char="•"/>
            </a:pPr>
            <a:r>
              <a:rPr lang="en-IN" sz="2000" dirty="0" smtClean="0"/>
              <a:t> If the length of a message &gt;= 2</a:t>
            </a:r>
            <a:r>
              <a:rPr lang="en-IN" sz="2000" baseline="30000" dirty="0" smtClean="0"/>
              <a:t>128</a:t>
            </a:r>
            <a:r>
              <a:rPr lang="en-IN" sz="2000" dirty="0" smtClean="0"/>
              <a:t> , it will not be processed.</a:t>
            </a:r>
            <a:r>
              <a:rPr lang="en-GB" sz="2000" dirty="0" smtClean="0"/>
              <a:t> </a:t>
            </a:r>
          </a:p>
          <a:p>
            <a:pPr algn="just">
              <a:lnSpc>
                <a:spcPct val="150000"/>
              </a:lnSpc>
              <a:buFont typeface="Arial" pitchFamily="34" charset="0"/>
              <a:buChar char="•"/>
            </a:pPr>
            <a:r>
              <a:rPr lang="en-GB" sz="2000" b="1" dirty="0" smtClean="0"/>
              <a:t> Padding and length field:</a:t>
            </a:r>
          </a:p>
          <a:p>
            <a:pPr lvl="1" algn="just">
              <a:lnSpc>
                <a:spcPct val="150000"/>
              </a:lnSpc>
              <a:buFont typeface="Arial" pitchFamily="34" charset="0"/>
              <a:buChar char="•"/>
            </a:pPr>
            <a:r>
              <a:rPr lang="en-GB" sz="2000" dirty="0" smtClean="0"/>
              <a:t> </a:t>
            </a:r>
            <a:r>
              <a:rPr lang="en-IN" sz="2000" dirty="0" smtClean="0"/>
              <a:t>we need to pad the original message to make the length a multiple of 1024.</a:t>
            </a:r>
          </a:p>
          <a:p>
            <a:pPr lvl="1" algn="just">
              <a:lnSpc>
                <a:spcPct val="150000"/>
              </a:lnSpc>
              <a:buFont typeface="Arial" pitchFamily="34" charset="0"/>
              <a:buChar char="•"/>
            </a:pPr>
            <a:r>
              <a:rPr lang="en-IN" sz="2000" dirty="0" smtClean="0"/>
              <a:t> The length of the padding field can be calculated as follows:</a:t>
            </a:r>
          </a:p>
          <a:p>
            <a:pPr lvl="1" algn="just">
              <a:lnSpc>
                <a:spcPct val="150000"/>
              </a:lnSpc>
            </a:pPr>
            <a:r>
              <a:rPr lang="en-IN" sz="2000" dirty="0" smtClean="0"/>
              <a:t>(|M| + |P| + 128) = 0 mod 1024</a:t>
            </a:r>
          </a:p>
          <a:p>
            <a:pPr lvl="1" algn="just">
              <a:lnSpc>
                <a:spcPct val="150000"/>
              </a:lnSpc>
            </a:pPr>
            <a:r>
              <a:rPr lang="en-IN" sz="2000" dirty="0" smtClean="0">
                <a:solidFill>
                  <a:srgbClr val="FF0000"/>
                </a:solidFill>
              </a:rPr>
              <a:t>|P| = (-|M| - 128) mod 1024</a:t>
            </a:r>
          </a:p>
          <a:p>
            <a:pPr lvl="1" algn="just">
              <a:lnSpc>
                <a:spcPct val="150000"/>
              </a:lnSpc>
            </a:pPr>
            <a:r>
              <a:rPr lang="en-IN" sz="2000" dirty="0" smtClean="0"/>
              <a:t> where |P| - length of padding bits.</a:t>
            </a:r>
          </a:p>
          <a:p>
            <a:pPr lvl="1" algn="just">
              <a:lnSpc>
                <a:spcPct val="150000"/>
              </a:lnSpc>
            </a:pPr>
            <a:r>
              <a:rPr lang="en-IN" sz="2000" dirty="0" smtClean="0"/>
              <a:t>             |M| - length of original message.</a:t>
            </a:r>
          </a:p>
          <a:p>
            <a:pPr lvl="1" algn="just">
              <a:lnSpc>
                <a:spcPct val="150000"/>
              </a:lnSpc>
              <a:buFont typeface="Arial" pitchFamily="34" charset="0"/>
              <a:buChar char="•"/>
            </a:pPr>
            <a:r>
              <a:rPr lang="en-GB" sz="2000" dirty="0" smtClean="0"/>
              <a:t> After padding, add the length of original message as 128 bits at the end </a:t>
            </a:r>
            <a:endParaRPr lang="en-GB" sz="2000" dirty="0"/>
          </a:p>
        </p:txBody>
      </p:sp>
    </p:spTree>
    <p:extLst>
      <p:ext uri="{BB962C8B-B14F-4D97-AF65-F5344CB8AC3E}">
        <p14:creationId xmlns:p14="http://schemas.microsoft.com/office/powerpoint/2010/main" val="318615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 calcmode="lin" valueType="num">
                                      <p:cBhvr additive="base">
                                        <p:cTn id="4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 calcmode="lin" valueType="num">
                                      <p:cBhvr additive="base">
                                        <p:cTn id="4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anim calcmode="lin" valueType="num">
                                      <p:cBhvr additive="base">
                                        <p:cTn id="5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srcRect/>
          <a:stretch>
            <a:fillRect/>
          </a:stretch>
        </p:blipFill>
        <p:spPr bwMode="auto">
          <a:xfrm>
            <a:off x="323528" y="0"/>
            <a:ext cx="8496944" cy="2247882"/>
          </a:xfrm>
          <a:prstGeom prst="rect">
            <a:avLst/>
          </a:prstGeom>
          <a:noFill/>
          <a:ln w="9525">
            <a:noFill/>
            <a:miter lim="800000"/>
            <a:headEnd/>
            <a:tailEnd/>
          </a:ln>
          <a:effectLst/>
        </p:spPr>
      </p:pic>
      <p:sp>
        <p:nvSpPr>
          <p:cNvPr id="3" name="TextBox 2"/>
          <p:cNvSpPr txBox="1"/>
          <p:nvPr/>
        </p:nvSpPr>
        <p:spPr>
          <a:xfrm>
            <a:off x="179512" y="2564904"/>
            <a:ext cx="8856984" cy="3385542"/>
          </a:xfrm>
          <a:prstGeom prst="rect">
            <a:avLst/>
          </a:prstGeom>
          <a:noFill/>
        </p:spPr>
        <p:txBody>
          <a:bodyPr wrap="square" rtlCol="0">
            <a:spAutoFit/>
          </a:bodyPr>
          <a:lstStyle/>
          <a:p>
            <a:pPr algn="just"/>
            <a:r>
              <a:rPr lang="en-IN" b="1" u="sng" dirty="0" smtClean="0"/>
              <a:t>Example:</a:t>
            </a:r>
          </a:p>
          <a:p>
            <a:pPr algn="just"/>
            <a:r>
              <a:rPr lang="en-IN" dirty="0" smtClean="0"/>
              <a:t>What is the number of padding bits if the original message length is 2348?</a:t>
            </a:r>
          </a:p>
          <a:p>
            <a:pPr algn="just"/>
            <a:endParaRPr lang="en-IN" dirty="0" smtClean="0"/>
          </a:p>
          <a:p>
            <a:pPr marL="0" lvl="1" algn="just"/>
            <a:r>
              <a:rPr lang="en-IN" dirty="0" smtClean="0"/>
              <a:t>Given; </a:t>
            </a:r>
            <a:r>
              <a:rPr lang="en-IN" sz="2000" dirty="0" smtClean="0"/>
              <a:t>M = 2348</a:t>
            </a:r>
          </a:p>
          <a:p>
            <a:pPr marL="0" lvl="1" algn="just"/>
            <a:r>
              <a:rPr lang="en-IN" sz="2000" dirty="0" smtClean="0"/>
              <a:t>|P| = (-|M| - 128) mod 1024</a:t>
            </a:r>
          </a:p>
          <a:p>
            <a:pPr marL="0" lvl="1" algn="just"/>
            <a:r>
              <a:rPr lang="en-IN" sz="2000" dirty="0" smtClean="0"/>
              <a:t>       = (-2348 - 128) mod 1024</a:t>
            </a:r>
          </a:p>
          <a:p>
            <a:pPr marL="0" lvl="1" algn="just"/>
            <a:r>
              <a:rPr lang="en-IN" sz="2000" dirty="0" smtClean="0"/>
              <a:t>       = - 2476  mod 1024 = 1024 – (2476  mod 1024) = 596</a:t>
            </a:r>
          </a:p>
          <a:p>
            <a:pPr marL="0" lvl="1" algn="just"/>
            <a:r>
              <a:rPr lang="en-IN" sz="2000" dirty="0" smtClean="0"/>
              <a:t>Therefore, |P| = 596</a:t>
            </a:r>
          </a:p>
          <a:p>
            <a:pPr marL="0" lvl="1" algn="just"/>
            <a:r>
              <a:rPr lang="en-IN" sz="2000" dirty="0" smtClean="0"/>
              <a:t>Then after padding we add 128 bits at the end to represent the length 2348.</a:t>
            </a:r>
          </a:p>
          <a:p>
            <a:pPr marL="0" lvl="1" algn="just"/>
            <a:r>
              <a:rPr lang="en-IN" sz="2000" dirty="0" smtClean="0"/>
              <a:t>So, total bits will be  2348 + 596+ 128 = 3072 bits</a:t>
            </a:r>
          </a:p>
          <a:p>
            <a:pPr marL="0" lvl="1" algn="just"/>
            <a:r>
              <a:rPr lang="en-IN" sz="2000" dirty="0" smtClean="0"/>
              <a:t>Number of 1024 blocks = 3072/1024 = 3</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srcRect/>
          <a:stretch>
            <a:fillRect/>
          </a:stretch>
        </p:blipFill>
        <p:spPr bwMode="auto">
          <a:xfrm>
            <a:off x="323528" y="0"/>
            <a:ext cx="8496944" cy="2247882"/>
          </a:xfrm>
          <a:prstGeom prst="rect">
            <a:avLst/>
          </a:prstGeom>
          <a:noFill/>
          <a:ln w="9525">
            <a:noFill/>
            <a:miter lim="800000"/>
            <a:headEnd/>
            <a:tailEnd/>
          </a:ln>
          <a:effectLst/>
        </p:spPr>
      </p:pic>
      <p:sp>
        <p:nvSpPr>
          <p:cNvPr id="3" name="TextBox 2"/>
          <p:cNvSpPr txBox="1"/>
          <p:nvPr/>
        </p:nvSpPr>
        <p:spPr>
          <a:xfrm>
            <a:off x="179512" y="2564904"/>
            <a:ext cx="8856984" cy="3385542"/>
          </a:xfrm>
          <a:prstGeom prst="rect">
            <a:avLst/>
          </a:prstGeom>
          <a:noFill/>
        </p:spPr>
        <p:txBody>
          <a:bodyPr wrap="square" rtlCol="0">
            <a:spAutoFit/>
          </a:bodyPr>
          <a:lstStyle/>
          <a:p>
            <a:pPr algn="just"/>
            <a:r>
              <a:rPr lang="en-IN" b="1" u="sng" dirty="0" smtClean="0"/>
              <a:t>Another Approach:</a:t>
            </a:r>
          </a:p>
          <a:p>
            <a:pPr algn="just"/>
            <a:r>
              <a:rPr lang="en-IN" dirty="0" smtClean="0"/>
              <a:t>What is the number of padding bits if the original message length is 24?</a:t>
            </a:r>
          </a:p>
          <a:p>
            <a:pPr algn="just"/>
            <a:endParaRPr lang="en-IN" dirty="0" smtClean="0"/>
          </a:p>
          <a:p>
            <a:pPr marL="0" lvl="1" algn="just"/>
            <a:r>
              <a:rPr lang="en-IN" dirty="0" smtClean="0"/>
              <a:t>Given; </a:t>
            </a:r>
            <a:r>
              <a:rPr lang="en-IN" sz="2000" dirty="0" smtClean="0"/>
              <a:t>M = 24</a:t>
            </a:r>
          </a:p>
          <a:p>
            <a:pPr marL="0" lvl="1" algn="just"/>
            <a:r>
              <a:rPr lang="en-GB" sz="2000" b="1" dirty="0" err="1">
                <a:solidFill>
                  <a:schemeClr val="accent4">
                    <a:lumMod val="50000"/>
                  </a:schemeClr>
                </a:solidFill>
              </a:rPr>
              <a:t>MessageLength</a:t>
            </a:r>
            <a:r>
              <a:rPr lang="en-GB" sz="2000" b="1" dirty="0">
                <a:solidFill>
                  <a:schemeClr val="accent4">
                    <a:lumMod val="50000"/>
                  </a:schemeClr>
                </a:solidFill>
              </a:rPr>
              <a:t> </a:t>
            </a:r>
            <a:r>
              <a:rPr lang="el-GR" sz="2000" b="1" dirty="0">
                <a:solidFill>
                  <a:schemeClr val="accent4">
                    <a:lumMod val="50000"/>
                  </a:schemeClr>
                </a:solidFill>
              </a:rPr>
              <a:t>Ξ</a:t>
            </a:r>
            <a:r>
              <a:rPr lang="en-IN" sz="2000" b="1" dirty="0">
                <a:solidFill>
                  <a:schemeClr val="accent4">
                    <a:lumMod val="50000"/>
                  </a:schemeClr>
                </a:solidFill>
              </a:rPr>
              <a:t> 896 mod 1024</a:t>
            </a:r>
            <a:endParaRPr lang="en-IN" sz="2000" dirty="0" smtClean="0"/>
          </a:p>
          <a:p>
            <a:pPr marL="0" lvl="1" algn="just"/>
            <a:r>
              <a:rPr lang="en-IN" sz="2000" dirty="0" smtClean="0"/>
              <a:t>24 mod 1024 =</a:t>
            </a:r>
            <a:r>
              <a:rPr lang="en-IN" sz="2000" b="1" dirty="0">
                <a:solidFill>
                  <a:schemeClr val="accent4">
                    <a:lumMod val="50000"/>
                  </a:schemeClr>
                </a:solidFill>
              </a:rPr>
              <a:t> 896 mod 1024</a:t>
            </a:r>
            <a:endParaRPr lang="en-IN" sz="2000" dirty="0" smtClean="0"/>
          </a:p>
          <a:p>
            <a:pPr marL="0" lvl="1" algn="just"/>
            <a:r>
              <a:rPr lang="en-IN" sz="2000" dirty="0" smtClean="0"/>
              <a:t>       24+</a:t>
            </a:r>
            <a:r>
              <a:rPr lang="en-IN" sz="2000" b="1" dirty="0" smtClean="0"/>
              <a:t>872</a:t>
            </a:r>
            <a:r>
              <a:rPr lang="en-IN" sz="2000" dirty="0" smtClean="0"/>
              <a:t> = 896 mod 1024</a:t>
            </a:r>
          </a:p>
          <a:p>
            <a:pPr marL="0" lvl="1" algn="just"/>
            <a:r>
              <a:rPr lang="en-IN" sz="2000" dirty="0" smtClean="0"/>
              <a:t>Therefore, |P| = 872</a:t>
            </a:r>
          </a:p>
          <a:p>
            <a:pPr marL="0" lvl="1" algn="just"/>
            <a:r>
              <a:rPr lang="en-IN" sz="2000" dirty="0" smtClean="0"/>
              <a:t>Then after padding we add 128 bits at the end to represent the length 24.</a:t>
            </a:r>
          </a:p>
          <a:p>
            <a:pPr marL="0" lvl="1" algn="just"/>
            <a:r>
              <a:rPr lang="en-IN" sz="2000" dirty="0" smtClean="0"/>
              <a:t>So, total bits will be  24 + 872+ 128 = 1024 bits</a:t>
            </a:r>
          </a:p>
          <a:p>
            <a:pPr marL="0" lvl="1" algn="just"/>
            <a:r>
              <a:rPr lang="en-IN" sz="2000" dirty="0" smtClean="0"/>
              <a:t>Number of 1024 blocks = 1024/1024 = 1</a:t>
            </a:r>
            <a:endParaRPr lang="en-IN" dirty="0"/>
          </a:p>
        </p:txBody>
      </p:sp>
    </p:spTree>
    <p:extLst>
      <p:ext uri="{BB962C8B-B14F-4D97-AF65-F5344CB8AC3E}">
        <p14:creationId xmlns:p14="http://schemas.microsoft.com/office/powerpoint/2010/main" val="78922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27F6BBA-4A05-682C-9120-490233243CA5}"/>
              </a:ext>
            </a:extLst>
          </p:cNvPr>
          <p:cNvSpPr txBox="1"/>
          <p:nvPr/>
        </p:nvSpPr>
        <p:spPr>
          <a:xfrm>
            <a:off x="182171" y="0"/>
            <a:ext cx="8640960" cy="5355312"/>
          </a:xfrm>
          <a:prstGeom prst="rect">
            <a:avLst/>
          </a:prstGeom>
          <a:noFill/>
        </p:spPr>
        <p:txBody>
          <a:bodyPr wrap="square" rtlCol="0">
            <a:spAutoFit/>
          </a:bodyPr>
          <a:lstStyle/>
          <a:p>
            <a:pPr algn="just"/>
            <a:r>
              <a:rPr lang="en-GB" b="1" u="sng" dirty="0" smtClean="0"/>
              <a:t>Example</a:t>
            </a:r>
          </a:p>
          <a:p>
            <a:pPr algn="just"/>
            <a:r>
              <a:rPr lang="en-GB" dirty="0" smtClean="0"/>
              <a:t>ASCII </a:t>
            </a:r>
            <a:r>
              <a:rPr lang="en-GB" dirty="0"/>
              <a:t>characters: </a:t>
            </a:r>
            <a:r>
              <a:rPr lang="en-GB" dirty="0" smtClean="0"/>
              <a:t>“</a:t>
            </a:r>
            <a:r>
              <a:rPr lang="en-GB" dirty="0" err="1" smtClean="0"/>
              <a:t>abc</a:t>
            </a:r>
            <a:r>
              <a:rPr lang="en-GB" dirty="0" smtClean="0"/>
              <a:t>,” </a:t>
            </a:r>
            <a:r>
              <a:rPr lang="en-GB" dirty="0"/>
              <a:t>which is equivalent to the following </a:t>
            </a:r>
            <a:r>
              <a:rPr lang="en-GB" dirty="0" smtClean="0"/>
              <a:t>8 * 3 =24-bit </a:t>
            </a:r>
            <a:r>
              <a:rPr lang="en-GB" dirty="0"/>
              <a:t>binary string: </a:t>
            </a:r>
            <a:endParaRPr lang="en-GB" dirty="0" smtClean="0"/>
          </a:p>
          <a:p>
            <a:pPr algn="just"/>
            <a:r>
              <a:rPr lang="en-GB" dirty="0" smtClean="0">
                <a:solidFill>
                  <a:srgbClr val="C00000"/>
                </a:solidFill>
              </a:rPr>
              <a:t>0110 0001</a:t>
            </a:r>
            <a:r>
              <a:rPr lang="en-GB" dirty="0" smtClean="0">
                <a:solidFill>
                  <a:srgbClr val="7030A0"/>
                </a:solidFill>
              </a:rPr>
              <a:t> 0110 0010</a:t>
            </a:r>
            <a:r>
              <a:rPr lang="en-GB" dirty="0" smtClean="0"/>
              <a:t> </a:t>
            </a:r>
            <a:r>
              <a:rPr lang="en-GB" dirty="0">
                <a:solidFill>
                  <a:srgbClr val="FF0000"/>
                </a:solidFill>
              </a:rPr>
              <a:t>0110 </a:t>
            </a:r>
            <a:r>
              <a:rPr lang="en-GB" dirty="0" smtClean="0">
                <a:solidFill>
                  <a:srgbClr val="FF0000"/>
                </a:solidFill>
              </a:rPr>
              <a:t>0011</a:t>
            </a:r>
          </a:p>
          <a:p>
            <a:pPr algn="just"/>
            <a:r>
              <a:rPr lang="en-GB" b="1" dirty="0" err="1" smtClean="0">
                <a:solidFill>
                  <a:schemeClr val="accent4">
                    <a:lumMod val="50000"/>
                  </a:schemeClr>
                </a:solidFill>
              </a:rPr>
              <a:t>MessageLength</a:t>
            </a:r>
            <a:r>
              <a:rPr lang="en-GB" b="1" dirty="0" smtClean="0">
                <a:solidFill>
                  <a:schemeClr val="accent4">
                    <a:lumMod val="50000"/>
                  </a:schemeClr>
                </a:solidFill>
              </a:rPr>
              <a:t> </a:t>
            </a:r>
            <a:r>
              <a:rPr lang="el-GR" b="1" dirty="0" smtClean="0">
                <a:solidFill>
                  <a:schemeClr val="accent4">
                    <a:lumMod val="50000"/>
                  </a:schemeClr>
                </a:solidFill>
              </a:rPr>
              <a:t>Ξ</a:t>
            </a:r>
            <a:r>
              <a:rPr lang="en-IN" b="1" dirty="0" smtClean="0">
                <a:solidFill>
                  <a:schemeClr val="accent4">
                    <a:lumMod val="50000"/>
                  </a:schemeClr>
                </a:solidFill>
              </a:rPr>
              <a:t> 896 mod 1024, </a:t>
            </a:r>
            <a:r>
              <a:rPr lang="en-IN" b="1" dirty="0" err="1" smtClean="0">
                <a:solidFill>
                  <a:schemeClr val="accent4">
                    <a:lumMod val="50000"/>
                  </a:schemeClr>
                </a:solidFill>
              </a:rPr>
              <a:t>i.e</a:t>
            </a:r>
            <a:r>
              <a:rPr lang="en-IN" b="1" dirty="0" smtClean="0">
                <a:solidFill>
                  <a:schemeClr val="accent4">
                    <a:lumMod val="50000"/>
                  </a:schemeClr>
                </a:solidFill>
              </a:rPr>
              <a:t> 24 </a:t>
            </a:r>
            <a:r>
              <a:rPr lang="el-GR" b="1" dirty="0" smtClean="0">
                <a:solidFill>
                  <a:schemeClr val="accent4">
                    <a:lumMod val="50000"/>
                  </a:schemeClr>
                </a:solidFill>
              </a:rPr>
              <a:t>Ξ</a:t>
            </a:r>
            <a:r>
              <a:rPr lang="en-IN" b="1" dirty="0" smtClean="0">
                <a:solidFill>
                  <a:schemeClr val="accent4">
                    <a:lumMod val="50000"/>
                  </a:schemeClr>
                </a:solidFill>
              </a:rPr>
              <a:t> </a:t>
            </a:r>
            <a:r>
              <a:rPr lang="en-IN" b="1" dirty="0">
                <a:solidFill>
                  <a:schemeClr val="accent4">
                    <a:lumMod val="50000"/>
                  </a:schemeClr>
                </a:solidFill>
              </a:rPr>
              <a:t>896 mod 1024</a:t>
            </a:r>
            <a:endParaRPr lang="en-GB" b="1" dirty="0">
              <a:solidFill>
                <a:schemeClr val="accent4">
                  <a:lumMod val="50000"/>
                </a:schemeClr>
              </a:solidFill>
            </a:endParaRPr>
          </a:p>
          <a:p>
            <a:pPr algn="just"/>
            <a:endParaRPr lang="en-GB" b="1" dirty="0">
              <a:solidFill>
                <a:schemeClr val="accent4">
                  <a:lumMod val="50000"/>
                </a:schemeClr>
              </a:solidFill>
            </a:endParaRPr>
          </a:p>
          <a:p>
            <a:pPr algn="just"/>
            <a:r>
              <a:rPr lang="en-GB" dirty="0" smtClean="0"/>
              <a:t>Padding </a:t>
            </a:r>
            <a:r>
              <a:rPr lang="en-GB" dirty="0"/>
              <a:t>consists of </a:t>
            </a:r>
            <a:r>
              <a:rPr lang="en-IN" b="1" dirty="0">
                <a:solidFill>
                  <a:schemeClr val="accent4">
                    <a:lumMod val="50000"/>
                  </a:schemeClr>
                </a:solidFill>
              </a:rPr>
              <a:t>24 </a:t>
            </a:r>
            <a:r>
              <a:rPr lang="en-IN" b="1" dirty="0" smtClean="0">
                <a:solidFill>
                  <a:schemeClr val="accent4">
                    <a:lumMod val="50000"/>
                  </a:schemeClr>
                </a:solidFill>
              </a:rPr>
              <a:t>+</a:t>
            </a:r>
            <a:r>
              <a:rPr lang="en-IN" b="1" dirty="0" smtClean="0">
                <a:solidFill>
                  <a:srgbClr val="FF0000"/>
                </a:solidFill>
              </a:rPr>
              <a:t>872</a:t>
            </a:r>
            <a:r>
              <a:rPr lang="en-IN" b="1" dirty="0">
                <a:solidFill>
                  <a:schemeClr val="accent4">
                    <a:lumMod val="50000"/>
                  </a:schemeClr>
                </a:solidFill>
              </a:rPr>
              <a:t> </a:t>
            </a:r>
            <a:r>
              <a:rPr lang="en-IN" b="1" dirty="0" smtClean="0">
                <a:solidFill>
                  <a:schemeClr val="accent4">
                    <a:lumMod val="50000"/>
                  </a:schemeClr>
                </a:solidFill>
              </a:rPr>
              <a:t>= </a:t>
            </a:r>
            <a:r>
              <a:rPr lang="en-IN" b="1" dirty="0">
                <a:solidFill>
                  <a:schemeClr val="accent4">
                    <a:lumMod val="50000"/>
                  </a:schemeClr>
                </a:solidFill>
              </a:rPr>
              <a:t>896 mod </a:t>
            </a:r>
            <a:r>
              <a:rPr lang="en-IN" b="1" dirty="0" smtClean="0">
                <a:solidFill>
                  <a:schemeClr val="accent4">
                    <a:lumMod val="50000"/>
                  </a:schemeClr>
                </a:solidFill>
              </a:rPr>
              <a:t>1024. </a:t>
            </a:r>
            <a:endParaRPr lang="en-GB" b="1" dirty="0">
              <a:solidFill>
                <a:schemeClr val="accent4">
                  <a:lumMod val="50000"/>
                </a:schemeClr>
              </a:solidFill>
            </a:endParaRPr>
          </a:p>
          <a:p>
            <a:pPr algn="just"/>
            <a:r>
              <a:rPr lang="en-GB" b="1" dirty="0" smtClean="0">
                <a:solidFill>
                  <a:srgbClr val="7030A0"/>
                </a:solidFill>
              </a:rPr>
              <a:t>872bits</a:t>
            </a:r>
            <a:r>
              <a:rPr lang="en-GB" dirty="0"/>
              <a:t>, consisting of a “1” bit followed by 871 “0” bits. </a:t>
            </a:r>
          </a:p>
          <a:p>
            <a:pPr algn="just"/>
            <a:endParaRPr lang="en-IN" dirty="0"/>
          </a:p>
          <a:p>
            <a:pPr algn="just"/>
            <a:r>
              <a:rPr lang="en-IN" b="1" dirty="0"/>
              <a:t>616263</a:t>
            </a:r>
            <a:r>
              <a:rPr lang="en-IN" b="1" dirty="0">
                <a:solidFill>
                  <a:srgbClr val="FF0000"/>
                </a:solidFill>
              </a:rPr>
              <a:t>8</a:t>
            </a:r>
            <a:r>
              <a:rPr lang="en-IN" dirty="0"/>
              <a:t>000000000 0000000000000000 0000000000000000 0000000000000000 0000000000000000 0000000000000000 0000000000000000 0000000000000000 0000000000000000 0000000000000000 0000000000000000 0000000000000000 0000000000000000 </a:t>
            </a:r>
            <a:r>
              <a:rPr lang="en-IN" dirty="0" smtClean="0"/>
              <a:t>     0000000000000000</a:t>
            </a:r>
            <a:endParaRPr lang="en-IN" dirty="0"/>
          </a:p>
          <a:p>
            <a:pPr algn="just"/>
            <a:endParaRPr lang="en-IN" dirty="0"/>
          </a:p>
          <a:p>
            <a:pPr algn="just">
              <a:buFont typeface="Arial" pitchFamily="34" charset="0"/>
              <a:buChar char="•"/>
            </a:pPr>
            <a:r>
              <a:rPr lang="en-GB" dirty="0" smtClean="0"/>
              <a:t> Then </a:t>
            </a:r>
            <a:r>
              <a:rPr lang="en-GB" dirty="0"/>
              <a:t>a </a:t>
            </a:r>
            <a:r>
              <a:rPr lang="en-GB" dirty="0">
                <a:solidFill>
                  <a:srgbClr val="FF0000"/>
                </a:solidFill>
              </a:rPr>
              <a:t>128-bit</a:t>
            </a:r>
            <a:r>
              <a:rPr lang="en-GB" dirty="0"/>
              <a:t> length value is appended to the message, which contains the length of the original message (before the padding).</a:t>
            </a:r>
            <a:endParaRPr lang="en-IN" dirty="0"/>
          </a:p>
          <a:p>
            <a:pPr algn="just">
              <a:buFont typeface="Arial" pitchFamily="34" charset="0"/>
              <a:buChar char="•"/>
            </a:pPr>
            <a:r>
              <a:rPr lang="en-GB" dirty="0" smtClean="0"/>
              <a:t> The </a:t>
            </a:r>
            <a:r>
              <a:rPr lang="en-GB" dirty="0"/>
              <a:t>original length is </a:t>
            </a:r>
            <a:r>
              <a:rPr lang="en-GB" dirty="0">
                <a:solidFill>
                  <a:srgbClr val="FF0000"/>
                </a:solidFill>
              </a:rPr>
              <a:t>24 bits</a:t>
            </a:r>
            <a:r>
              <a:rPr lang="en-GB" dirty="0"/>
              <a:t>, or a hexadecimal value of </a:t>
            </a:r>
            <a:r>
              <a:rPr lang="en-GB" dirty="0">
                <a:solidFill>
                  <a:srgbClr val="FF0000"/>
                </a:solidFill>
              </a:rPr>
              <a:t>18</a:t>
            </a:r>
            <a:r>
              <a:rPr lang="en-GB" dirty="0"/>
              <a:t>. Putting this all together, the 1024-bit message block, in hexadecimal, </a:t>
            </a:r>
          </a:p>
          <a:p>
            <a:pPr algn="just"/>
            <a:endParaRPr lang="en-IN" dirty="0"/>
          </a:p>
          <a:p>
            <a:pPr algn="just"/>
            <a:endParaRPr lang="en-IN" dirty="0"/>
          </a:p>
        </p:txBody>
      </p:sp>
      <p:pic>
        <p:nvPicPr>
          <p:cNvPr id="1026" name="Picture 2"/>
          <p:cNvPicPr>
            <a:picLocks noChangeAspect="1" noChangeArrowheads="1"/>
          </p:cNvPicPr>
          <p:nvPr/>
        </p:nvPicPr>
        <p:blipFill>
          <a:blip r:embed="rId3"/>
          <a:srcRect/>
          <a:stretch>
            <a:fillRect/>
          </a:stretch>
        </p:blipFill>
        <p:spPr bwMode="auto">
          <a:xfrm>
            <a:off x="464885" y="4840655"/>
            <a:ext cx="8358246" cy="2000264"/>
          </a:xfrm>
          <a:prstGeom prst="rect">
            <a:avLst/>
          </a:prstGeom>
          <a:noFill/>
          <a:ln w="9525">
            <a:noFill/>
            <a:miter lim="800000"/>
            <a:headEnd/>
            <a:tailEnd/>
          </a:ln>
          <a:effectLst/>
        </p:spPr>
      </p:pic>
    </p:spTree>
    <p:extLst>
      <p:ext uri="{BB962C8B-B14F-4D97-AF65-F5344CB8AC3E}">
        <p14:creationId xmlns:p14="http://schemas.microsoft.com/office/powerpoint/2010/main" val="385301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 calcmode="lin" valueType="num">
                                      <p:cBhvr additive="base">
                                        <p:cTn id="2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 calcmode="lin" valueType="num">
                                      <p:cBhvr additive="base">
                                        <p:cTn id="3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
                                            <p:txEl>
                                              <p:pRg st="11" end="11"/>
                                            </p:txEl>
                                          </p:spTgt>
                                        </p:tgtEl>
                                        <p:attrNameLst>
                                          <p:attrName>style.visibility</p:attrName>
                                        </p:attrNameLst>
                                      </p:cBhvr>
                                      <p:to>
                                        <p:strVal val="visible"/>
                                      </p:to>
                                    </p:set>
                                    <p:anim calcmode="lin" valueType="num">
                                      <p:cBhvr additive="base">
                                        <p:cTn id="41"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26"/>
                                        </p:tgtEl>
                                        <p:attrNameLst>
                                          <p:attrName>style.visibility</p:attrName>
                                        </p:attrNameLst>
                                      </p:cBhvr>
                                      <p:to>
                                        <p:strVal val="visible"/>
                                      </p:to>
                                    </p:set>
                                    <p:anim calcmode="lin" valueType="num">
                                      <p:cBhvr additive="base">
                                        <p:cTn id="47" dur="500" fill="hold"/>
                                        <p:tgtEl>
                                          <p:spTgt spid="1026"/>
                                        </p:tgtEl>
                                        <p:attrNameLst>
                                          <p:attrName>ppt_x</p:attrName>
                                        </p:attrNameLst>
                                      </p:cBhvr>
                                      <p:tavLst>
                                        <p:tav tm="0">
                                          <p:val>
                                            <p:strVal val="#ppt_x"/>
                                          </p:val>
                                        </p:tav>
                                        <p:tav tm="100000">
                                          <p:val>
                                            <p:strVal val="#ppt_x"/>
                                          </p:val>
                                        </p:tav>
                                      </p:tavLst>
                                    </p:anim>
                                    <p:anim calcmode="lin" valueType="num">
                                      <p:cBhvr additive="base">
                                        <p:cTn id="4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1844824"/>
            <a:ext cx="8280920" cy="830997"/>
          </a:xfrm>
          <a:prstGeom prst="rect">
            <a:avLst/>
          </a:prstGeom>
        </p:spPr>
        <p:txBody>
          <a:bodyPr wrap="square">
            <a:spAutoFit/>
          </a:bodyPr>
          <a:lstStyle/>
          <a:p>
            <a:r>
              <a:rPr lang="en-IN" sz="2400" dirty="0"/>
              <a:t>How many bits should be padded in SHA-512 for the input message of length 2590 bits?</a:t>
            </a:r>
          </a:p>
        </p:txBody>
      </p:sp>
      <p:sp>
        <p:nvSpPr>
          <p:cNvPr id="3" name="Rectangle 2"/>
          <p:cNvSpPr/>
          <p:nvPr/>
        </p:nvSpPr>
        <p:spPr>
          <a:xfrm>
            <a:off x="1043608" y="521385"/>
            <a:ext cx="4572000" cy="3939540"/>
          </a:xfrm>
          <a:prstGeom prst="rect">
            <a:avLst/>
          </a:prstGeom>
        </p:spPr>
        <p:txBody>
          <a:bodyPr>
            <a:spAutoFit/>
          </a:bodyPr>
          <a:lstStyle/>
          <a:p>
            <a:pPr marL="342900" indent="-342900" algn="ctr"/>
            <a:r>
              <a:rPr lang="en-IN" b="1" dirty="0">
                <a:solidFill>
                  <a:srgbClr val="7030A0"/>
                </a:solidFill>
              </a:rPr>
              <a:t>Step 1: Message Preparation</a:t>
            </a:r>
          </a:p>
          <a:p>
            <a:pPr marL="342900" indent="-342900"/>
            <a:endParaRPr lang="en-IN" sz="1600"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8345667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90ACE1F2-077E-F138-4433-028BACFBB02B}"/>
              </a:ext>
            </a:extLst>
          </p:cNvPr>
          <p:cNvSpPr txBox="1"/>
          <p:nvPr/>
        </p:nvSpPr>
        <p:spPr>
          <a:xfrm>
            <a:off x="323528" y="404664"/>
            <a:ext cx="8280920" cy="584775"/>
          </a:xfrm>
          <a:prstGeom prst="rect">
            <a:avLst/>
          </a:prstGeom>
          <a:noFill/>
        </p:spPr>
        <p:txBody>
          <a:bodyPr wrap="square" rtlCol="0">
            <a:spAutoFit/>
          </a:bodyPr>
          <a:lstStyle/>
          <a:p>
            <a:pPr algn="ctr"/>
            <a:r>
              <a:rPr lang="en-IN" sz="3200" b="1" dirty="0" smtClean="0">
                <a:solidFill>
                  <a:srgbClr val="7030A0"/>
                </a:solidFill>
              </a:rPr>
              <a:t>Overall Block Diagram of </a:t>
            </a:r>
            <a:r>
              <a:rPr lang="en-IN" sz="3200" b="1" dirty="0">
                <a:solidFill>
                  <a:srgbClr val="7030A0"/>
                </a:solidFill>
              </a:rPr>
              <a:t>SHA-512</a:t>
            </a:r>
          </a:p>
        </p:txBody>
      </p:sp>
      <p:pic>
        <p:nvPicPr>
          <p:cNvPr id="5" name="Picture 4"/>
          <p:cNvPicPr>
            <a:picLocks noChangeAspect="1"/>
          </p:cNvPicPr>
          <p:nvPr/>
        </p:nvPicPr>
        <p:blipFill>
          <a:blip r:embed="rId3"/>
          <a:stretch>
            <a:fillRect/>
          </a:stretch>
        </p:blipFill>
        <p:spPr>
          <a:xfrm>
            <a:off x="120588" y="1173088"/>
            <a:ext cx="8905875" cy="5676900"/>
          </a:xfrm>
          <a:prstGeom prst="rect">
            <a:avLst/>
          </a:prstGeom>
        </p:spPr>
      </p:pic>
      <p:pic>
        <p:nvPicPr>
          <p:cNvPr id="3" name="Picture 2"/>
          <p:cNvPicPr>
            <a:picLocks noChangeAspect="1"/>
          </p:cNvPicPr>
          <p:nvPr/>
        </p:nvPicPr>
        <p:blipFill>
          <a:blip r:embed="rId4"/>
          <a:stretch>
            <a:fillRect/>
          </a:stretch>
        </p:blipFill>
        <p:spPr>
          <a:xfrm>
            <a:off x="0" y="4052569"/>
            <a:ext cx="1800225" cy="1666875"/>
          </a:xfrm>
          <a:prstGeom prst="rect">
            <a:avLst/>
          </a:prstGeom>
        </p:spPr>
      </p:pic>
    </p:spTree>
    <p:extLst>
      <p:ext uri="{BB962C8B-B14F-4D97-AF65-F5344CB8AC3E}">
        <p14:creationId xmlns:p14="http://schemas.microsoft.com/office/powerpoint/2010/main" val="217105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1736" y="214290"/>
            <a:ext cx="4380944" cy="1015663"/>
          </a:xfrm>
          <a:prstGeom prst="rect">
            <a:avLst/>
          </a:prstGeom>
          <a:noFill/>
        </p:spPr>
        <p:txBody>
          <a:bodyPr wrap="none" rtlCol="0">
            <a:spAutoFit/>
          </a:bodyPr>
          <a:lstStyle/>
          <a:p>
            <a:pPr algn="ctr"/>
            <a:r>
              <a:rPr lang="en-IN" sz="3200" b="1" dirty="0" smtClean="0">
                <a:solidFill>
                  <a:srgbClr val="7030A0"/>
                </a:solidFill>
              </a:rPr>
              <a:t>Step 2: Words Expansion</a:t>
            </a:r>
          </a:p>
          <a:p>
            <a:pPr algn="ctr"/>
            <a:endParaRPr lang="en-IN" sz="2800" b="1" dirty="0"/>
          </a:p>
        </p:txBody>
      </p:sp>
      <p:sp>
        <p:nvSpPr>
          <p:cNvPr id="5" name="TextBox 4"/>
          <p:cNvSpPr txBox="1"/>
          <p:nvPr/>
        </p:nvSpPr>
        <p:spPr>
          <a:xfrm>
            <a:off x="500034" y="928670"/>
            <a:ext cx="8368943" cy="2677656"/>
          </a:xfrm>
          <a:prstGeom prst="rect">
            <a:avLst/>
          </a:prstGeom>
          <a:noFill/>
        </p:spPr>
        <p:txBody>
          <a:bodyPr wrap="square" rtlCol="0">
            <a:spAutoFit/>
          </a:bodyPr>
          <a:lstStyle/>
          <a:p>
            <a:pPr algn="just">
              <a:buFont typeface="Arial" pitchFamily="34" charset="0"/>
              <a:buChar char="•"/>
            </a:pPr>
            <a:r>
              <a:rPr lang="en-IN" sz="2400" b="1" u="sng" dirty="0" smtClean="0"/>
              <a:t> Words: </a:t>
            </a:r>
          </a:p>
          <a:p>
            <a:pPr lvl="1" algn="just">
              <a:buFont typeface="Arial" pitchFamily="34" charset="0"/>
              <a:buChar char="•"/>
            </a:pPr>
            <a:r>
              <a:rPr lang="en-IN" sz="2400" dirty="0" smtClean="0"/>
              <a:t> SHA-512 operates on words of 64 bits.</a:t>
            </a:r>
          </a:p>
          <a:p>
            <a:pPr lvl="1" algn="just">
              <a:buFont typeface="Arial" pitchFamily="34" charset="0"/>
              <a:buChar char="•"/>
            </a:pPr>
            <a:r>
              <a:rPr lang="en-IN" sz="2400" dirty="0" smtClean="0"/>
              <a:t> This means that after the padding and the length field are added to the message, each block of the message consists of </a:t>
            </a:r>
            <a:r>
              <a:rPr lang="en-IN" sz="2400" b="1" dirty="0" smtClean="0"/>
              <a:t>sixteen</a:t>
            </a:r>
            <a:r>
              <a:rPr lang="en-IN" sz="2400" dirty="0" smtClean="0"/>
              <a:t> </a:t>
            </a:r>
            <a:r>
              <a:rPr lang="en-IN" sz="2400" b="1" dirty="0" smtClean="0"/>
              <a:t>64-bits words</a:t>
            </a:r>
            <a:r>
              <a:rPr lang="en-IN" sz="2400" dirty="0" smtClean="0"/>
              <a:t>.</a:t>
            </a:r>
          </a:p>
          <a:p>
            <a:pPr lvl="1" algn="just">
              <a:buFont typeface="Arial" pitchFamily="34" charset="0"/>
              <a:buChar char="•"/>
            </a:pPr>
            <a:r>
              <a:rPr lang="en-IN" sz="2400" dirty="0" smtClean="0"/>
              <a:t> The message digest also made of 64-bit words, but it is only eight words that named as A, B, C, D, E, F, G, and H.</a:t>
            </a:r>
            <a:endParaRPr lang="en-IN" sz="2400" dirty="0"/>
          </a:p>
        </p:txBody>
      </p:sp>
      <p:pic>
        <p:nvPicPr>
          <p:cNvPr id="8195" name="Picture 3"/>
          <p:cNvPicPr>
            <a:picLocks noChangeAspect="1" noChangeArrowheads="1"/>
          </p:cNvPicPr>
          <p:nvPr/>
        </p:nvPicPr>
        <p:blipFill>
          <a:blip r:embed="rId3"/>
          <a:srcRect/>
          <a:stretch>
            <a:fillRect/>
          </a:stretch>
        </p:blipFill>
        <p:spPr bwMode="auto">
          <a:xfrm>
            <a:off x="785786" y="3643314"/>
            <a:ext cx="7705725" cy="2457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56637" y="428604"/>
            <a:ext cx="4380944" cy="1015663"/>
          </a:xfrm>
          <a:prstGeom prst="rect">
            <a:avLst/>
          </a:prstGeom>
        </p:spPr>
        <p:txBody>
          <a:bodyPr wrap="none">
            <a:spAutoFit/>
          </a:bodyPr>
          <a:lstStyle/>
          <a:p>
            <a:pPr algn="ctr"/>
            <a:r>
              <a:rPr lang="en-IN" sz="3200" b="1" dirty="0">
                <a:solidFill>
                  <a:srgbClr val="7030A0"/>
                </a:solidFill>
              </a:rPr>
              <a:t>Step 2: Words Expansion</a:t>
            </a:r>
          </a:p>
          <a:p>
            <a:pPr algn="ctr"/>
            <a:endParaRPr lang="en-IN" sz="2800" b="1" dirty="0"/>
          </a:p>
        </p:txBody>
      </p:sp>
      <p:sp>
        <p:nvSpPr>
          <p:cNvPr id="4" name="TextBox 3"/>
          <p:cNvSpPr txBox="1"/>
          <p:nvPr/>
        </p:nvSpPr>
        <p:spPr>
          <a:xfrm>
            <a:off x="500034" y="1142984"/>
            <a:ext cx="8143932" cy="3970318"/>
          </a:xfrm>
          <a:prstGeom prst="rect">
            <a:avLst/>
          </a:prstGeom>
          <a:noFill/>
        </p:spPr>
        <p:txBody>
          <a:bodyPr wrap="square" rtlCol="0">
            <a:spAutoFit/>
          </a:bodyPr>
          <a:lstStyle/>
          <a:p>
            <a:pPr algn="just">
              <a:lnSpc>
                <a:spcPct val="150000"/>
              </a:lnSpc>
              <a:buFont typeface="Arial" pitchFamily="34" charset="0"/>
              <a:buChar char="•"/>
            </a:pPr>
            <a:r>
              <a:rPr lang="en-IN" sz="2400" dirty="0" smtClean="0"/>
              <a:t> Before processing, each message block must be expanded to 1024 bits, or sixteen 64-bit words.</a:t>
            </a:r>
          </a:p>
          <a:p>
            <a:pPr algn="just">
              <a:lnSpc>
                <a:spcPct val="150000"/>
              </a:lnSpc>
              <a:buFont typeface="Arial" pitchFamily="34" charset="0"/>
              <a:buChar char="•"/>
            </a:pPr>
            <a:r>
              <a:rPr lang="en-IN" sz="2400" dirty="0" smtClean="0"/>
              <a:t> The 16-word blocks needs to be expanded to </a:t>
            </a:r>
            <a:r>
              <a:rPr lang="en-IN" sz="2400" b="1" dirty="0" smtClean="0"/>
              <a:t>80 words</a:t>
            </a:r>
            <a:r>
              <a:rPr lang="en-IN" sz="2400" dirty="0" smtClean="0"/>
              <a:t>, from W</a:t>
            </a:r>
            <a:r>
              <a:rPr lang="en-IN" sz="2400" baseline="-25000" dirty="0" smtClean="0"/>
              <a:t>0</a:t>
            </a:r>
            <a:r>
              <a:rPr lang="en-IN" sz="2400" dirty="0" smtClean="0"/>
              <a:t> to W</a:t>
            </a:r>
            <a:r>
              <a:rPr lang="en-IN" sz="2400" baseline="-25000" dirty="0" smtClean="0"/>
              <a:t>79</a:t>
            </a:r>
            <a:r>
              <a:rPr lang="en-IN" sz="2400" dirty="0" smtClean="0"/>
              <a:t>.</a:t>
            </a:r>
          </a:p>
          <a:p>
            <a:pPr algn="just">
              <a:lnSpc>
                <a:spcPct val="150000"/>
              </a:lnSpc>
              <a:buFont typeface="Arial" pitchFamily="34" charset="0"/>
              <a:buChar char="•"/>
            </a:pPr>
            <a:r>
              <a:rPr lang="en-IN" sz="2400" dirty="0" smtClean="0"/>
              <a:t> The 1024-bit block become the </a:t>
            </a:r>
            <a:r>
              <a:rPr lang="en-IN" sz="2400" b="1" dirty="0" smtClean="0"/>
              <a:t>first 16 words; </a:t>
            </a:r>
            <a:r>
              <a:rPr lang="en-IN" sz="2400" dirty="0" smtClean="0"/>
              <a:t>the rest of the words come from already-made words according to the operation.</a:t>
            </a:r>
            <a:endParaRPr lang="en-IN"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83568" y="1052736"/>
            <a:ext cx="7632848" cy="4978929"/>
          </a:xfrm>
          <a:prstGeom prst="rect">
            <a:avLst/>
          </a:prstGeom>
        </p:spPr>
      </p:pic>
      <p:sp>
        <p:nvSpPr>
          <p:cNvPr id="3" name="Rectangle 2"/>
          <p:cNvSpPr/>
          <p:nvPr/>
        </p:nvSpPr>
        <p:spPr>
          <a:xfrm>
            <a:off x="2846381" y="142852"/>
            <a:ext cx="3330975" cy="769441"/>
          </a:xfrm>
          <a:prstGeom prst="rect">
            <a:avLst/>
          </a:prstGeom>
        </p:spPr>
        <p:txBody>
          <a:bodyPr wrap="none">
            <a:spAutoFit/>
          </a:bodyPr>
          <a:lstStyle/>
          <a:p>
            <a:pPr algn="ctr"/>
            <a:r>
              <a:rPr lang="en-IN" sz="2400" b="1" dirty="0">
                <a:solidFill>
                  <a:srgbClr val="7030A0"/>
                </a:solidFill>
              </a:rPr>
              <a:t>Step 2: Words Expansion</a:t>
            </a:r>
          </a:p>
          <a:p>
            <a:pPr algn="ctr"/>
            <a:endParaRPr lang="en-IN" sz="2000" b="1" dirty="0"/>
          </a:p>
        </p:txBody>
      </p:sp>
    </p:spTree>
    <p:extLst>
      <p:ext uri="{BB962C8B-B14F-4D97-AF65-F5344CB8AC3E}">
        <p14:creationId xmlns:p14="http://schemas.microsoft.com/office/powerpoint/2010/main" val="15768995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E2349774-855D-3A41-6755-4CFEDE301DC7}"/>
              </a:ext>
            </a:extLst>
          </p:cNvPr>
          <p:cNvSpPr txBox="1"/>
          <p:nvPr/>
        </p:nvSpPr>
        <p:spPr>
          <a:xfrm>
            <a:off x="428596" y="214290"/>
            <a:ext cx="8424936" cy="369332"/>
          </a:xfrm>
          <a:prstGeom prst="rect">
            <a:avLst/>
          </a:prstGeom>
          <a:noFill/>
        </p:spPr>
        <p:txBody>
          <a:bodyPr wrap="square" rtlCol="0">
            <a:spAutoFit/>
          </a:bodyPr>
          <a:lstStyle/>
          <a:p>
            <a:pPr algn="ctr"/>
            <a:r>
              <a:rPr lang="en-IN" b="1" dirty="0" smtClean="0"/>
              <a:t> </a:t>
            </a:r>
            <a:endParaRPr lang="en-IN" b="1" dirty="0"/>
          </a:p>
        </p:txBody>
      </p:sp>
      <p:sp>
        <p:nvSpPr>
          <p:cNvPr id="7" name="Rectangle 6"/>
          <p:cNvSpPr/>
          <p:nvPr/>
        </p:nvSpPr>
        <p:spPr>
          <a:xfrm>
            <a:off x="2846381" y="142852"/>
            <a:ext cx="3330975" cy="769441"/>
          </a:xfrm>
          <a:prstGeom prst="rect">
            <a:avLst/>
          </a:prstGeom>
        </p:spPr>
        <p:txBody>
          <a:bodyPr wrap="none">
            <a:spAutoFit/>
          </a:bodyPr>
          <a:lstStyle/>
          <a:p>
            <a:pPr algn="ctr"/>
            <a:r>
              <a:rPr lang="en-IN" sz="2400" b="1" dirty="0">
                <a:solidFill>
                  <a:srgbClr val="7030A0"/>
                </a:solidFill>
              </a:rPr>
              <a:t>Step 2: Words Expansion</a:t>
            </a:r>
          </a:p>
          <a:p>
            <a:pPr algn="ctr"/>
            <a:endParaRPr lang="en-IN" sz="2000" b="1" dirty="0"/>
          </a:p>
        </p:txBody>
      </p:sp>
      <p:pic>
        <p:nvPicPr>
          <p:cNvPr id="4" name="Picture 3"/>
          <p:cNvPicPr>
            <a:picLocks noChangeAspect="1"/>
          </p:cNvPicPr>
          <p:nvPr/>
        </p:nvPicPr>
        <p:blipFill>
          <a:blip r:embed="rId3"/>
          <a:stretch>
            <a:fillRect/>
          </a:stretch>
        </p:blipFill>
        <p:spPr>
          <a:xfrm>
            <a:off x="577783" y="3933056"/>
            <a:ext cx="6823817" cy="432048"/>
          </a:xfrm>
          <a:prstGeom prst="rect">
            <a:avLst/>
          </a:prstGeom>
        </p:spPr>
      </p:pic>
      <p:pic>
        <p:nvPicPr>
          <p:cNvPr id="5" name="Picture 4"/>
          <p:cNvPicPr>
            <a:picLocks noChangeAspect="1"/>
          </p:cNvPicPr>
          <p:nvPr/>
        </p:nvPicPr>
        <p:blipFill>
          <a:blip r:embed="rId4"/>
          <a:stretch>
            <a:fillRect/>
          </a:stretch>
        </p:blipFill>
        <p:spPr>
          <a:xfrm>
            <a:off x="511150" y="836712"/>
            <a:ext cx="8342382" cy="2880320"/>
          </a:xfrm>
          <a:prstGeom prst="rect">
            <a:avLst/>
          </a:prstGeom>
        </p:spPr>
      </p:pic>
      <p:pic>
        <p:nvPicPr>
          <p:cNvPr id="8" name="Picture 7"/>
          <p:cNvPicPr>
            <a:picLocks noChangeAspect="1"/>
          </p:cNvPicPr>
          <p:nvPr/>
        </p:nvPicPr>
        <p:blipFill>
          <a:blip r:embed="rId5"/>
          <a:stretch>
            <a:fillRect/>
          </a:stretch>
        </p:blipFill>
        <p:spPr>
          <a:xfrm>
            <a:off x="479722" y="4725144"/>
            <a:ext cx="7651427" cy="1944216"/>
          </a:xfrm>
          <a:prstGeom prst="rect">
            <a:avLst/>
          </a:prstGeom>
        </p:spPr>
      </p:pic>
    </p:spTree>
    <p:extLst>
      <p:ext uri="{BB962C8B-B14F-4D97-AF65-F5344CB8AC3E}">
        <p14:creationId xmlns:p14="http://schemas.microsoft.com/office/powerpoint/2010/main" val="405338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500042"/>
            <a:ext cx="7848871" cy="584775"/>
          </a:xfrm>
          <a:prstGeom prst="rect">
            <a:avLst/>
          </a:prstGeom>
        </p:spPr>
        <p:txBody>
          <a:bodyPr wrap="square">
            <a:spAutoFit/>
          </a:bodyPr>
          <a:lstStyle/>
          <a:p>
            <a:pPr algn="ctr"/>
            <a:r>
              <a:rPr lang="en-IN" sz="3200" b="1" dirty="0">
                <a:solidFill>
                  <a:srgbClr val="7030A0"/>
                </a:solidFill>
              </a:rPr>
              <a:t>Step 2: Words </a:t>
            </a:r>
            <a:r>
              <a:rPr lang="en-IN" sz="3200" b="1" dirty="0" smtClean="0">
                <a:solidFill>
                  <a:srgbClr val="7030A0"/>
                </a:solidFill>
              </a:rPr>
              <a:t>Expansion Example </a:t>
            </a:r>
          </a:p>
        </p:txBody>
      </p:sp>
      <p:sp>
        <p:nvSpPr>
          <p:cNvPr id="3" name="TextBox 2"/>
          <p:cNvSpPr txBox="1"/>
          <p:nvPr/>
        </p:nvSpPr>
        <p:spPr>
          <a:xfrm>
            <a:off x="395536" y="1100030"/>
            <a:ext cx="8748464" cy="4154984"/>
          </a:xfrm>
          <a:prstGeom prst="rect">
            <a:avLst/>
          </a:prstGeom>
          <a:noFill/>
        </p:spPr>
        <p:txBody>
          <a:bodyPr wrap="square" rtlCol="0">
            <a:spAutoFit/>
          </a:bodyPr>
          <a:lstStyle/>
          <a:p>
            <a:r>
              <a:rPr lang="en-IN" sz="2400" b="1" dirty="0" smtClean="0"/>
              <a:t>Show how W</a:t>
            </a:r>
            <a:r>
              <a:rPr lang="en-IN" sz="2400" b="1" baseline="-25000" dirty="0" smtClean="0"/>
              <a:t>60 </a:t>
            </a:r>
            <a:r>
              <a:rPr lang="en-IN" sz="2400" b="1" dirty="0" smtClean="0"/>
              <a:t> is made</a:t>
            </a:r>
            <a:r>
              <a:rPr lang="en-IN" sz="2400" dirty="0" smtClean="0"/>
              <a:t>.</a:t>
            </a:r>
          </a:p>
          <a:p>
            <a:endParaRPr lang="en-IN" sz="2400" dirty="0" smtClean="0"/>
          </a:p>
          <a:p>
            <a:r>
              <a:rPr lang="en-IN" sz="2400" dirty="0" smtClean="0"/>
              <a:t>Each word in the range W</a:t>
            </a:r>
            <a:r>
              <a:rPr lang="en-IN" sz="2400" baseline="-25000" dirty="0" smtClean="0"/>
              <a:t>16 </a:t>
            </a:r>
            <a:r>
              <a:rPr lang="en-IN" sz="2400" dirty="0" smtClean="0"/>
              <a:t> to W</a:t>
            </a:r>
            <a:r>
              <a:rPr lang="en-IN" sz="2400" baseline="-25000" dirty="0" smtClean="0"/>
              <a:t>79</a:t>
            </a:r>
            <a:r>
              <a:rPr lang="en-IN" sz="2400" dirty="0" smtClean="0"/>
              <a:t> is made from four previously-made words.</a:t>
            </a:r>
          </a:p>
          <a:p>
            <a:r>
              <a:rPr lang="en-IN" sz="2400" dirty="0" smtClean="0"/>
              <a:t>As we know,</a:t>
            </a:r>
          </a:p>
          <a:p>
            <a:r>
              <a:rPr lang="en-IN" sz="2400" b="1" dirty="0" smtClean="0"/>
              <a:t>     </a:t>
            </a:r>
            <a:r>
              <a:rPr lang="en-IN" sz="2400" b="1" dirty="0" err="1" smtClean="0"/>
              <a:t>W</a:t>
            </a:r>
            <a:r>
              <a:rPr lang="en-IN" sz="2400" b="1" baseline="-25000" dirty="0" err="1"/>
              <a:t>t</a:t>
            </a:r>
            <a:r>
              <a:rPr lang="en-IN" sz="2400" b="1" dirty="0" smtClean="0"/>
              <a:t> = W</a:t>
            </a:r>
            <a:r>
              <a:rPr lang="en-IN" sz="2400" b="1" baseline="-25000" dirty="0"/>
              <a:t>t</a:t>
            </a:r>
            <a:r>
              <a:rPr lang="en-IN" sz="2400" b="1" baseline="-25000" dirty="0" smtClean="0"/>
              <a:t>-16</a:t>
            </a:r>
            <a:r>
              <a:rPr lang="en-IN" sz="2400" b="1" dirty="0" smtClean="0"/>
              <a:t> </a:t>
            </a:r>
            <a:r>
              <a:rPr lang="en-IN" sz="2400" b="1" dirty="0" smtClean="0">
                <a:sym typeface="Symbol"/>
              </a:rPr>
              <a:t></a:t>
            </a:r>
            <a:r>
              <a:rPr lang="en-IN" sz="2400" b="1" dirty="0" smtClean="0"/>
              <a:t> RotShift</a:t>
            </a:r>
            <a:r>
              <a:rPr lang="en-IN" sz="2400" b="1" baseline="-25000" dirty="0" smtClean="0"/>
              <a:t>1-8-7</a:t>
            </a:r>
            <a:r>
              <a:rPr lang="en-IN" sz="2400" b="1" dirty="0" smtClean="0"/>
              <a:t> (W</a:t>
            </a:r>
            <a:r>
              <a:rPr lang="en-IN" sz="2400" b="1" baseline="-25000" dirty="0"/>
              <a:t>t</a:t>
            </a:r>
            <a:r>
              <a:rPr lang="en-IN" sz="2400" b="1" baseline="-25000" dirty="0" smtClean="0"/>
              <a:t>-15</a:t>
            </a:r>
            <a:r>
              <a:rPr lang="en-IN" sz="2400" b="1" dirty="0" smtClean="0"/>
              <a:t>) </a:t>
            </a:r>
            <a:r>
              <a:rPr lang="en-IN" sz="2400" b="1" dirty="0" smtClean="0">
                <a:sym typeface="Symbol"/>
              </a:rPr>
              <a:t></a:t>
            </a:r>
            <a:r>
              <a:rPr lang="en-IN" sz="2400" b="1" dirty="0" smtClean="0"/>
              <a:t> W</a:t>
            </a:r>
            <a:r>
              <a:rPr lang="en-IN" sz="2400" b="1" baseline="-25000" dirty="0" smtClean="0"/>
              <a:t>t-17</a:t>
            </a:r>
            <a:r>
              <a:rPr lang="en-IN" sz="2400" b="1" dirty="0" smtClean="0"/>
              <a:t> </a:t>
            </a:r>
            <a:r>
              <a:rPr lang="en-IN" sz="2400" b="1" dirty="0" smtClean="0">
                <a:sym typeface="Symbol"/>
              </a:rPr>
              <a:t></a:t>
            </a:r>
            <a:r>
              <a:rPr lang="en-IN" sz="2400" b="1" dirty="0" smtClean="0"/>
              <a:t> RotShift</a:t>
            </a:r>
            <a:r>
              <a:rPr lang="en-IN" sz="2400" b="1" baseline="-25000" dirty="0" smtClean="0"/>
              <a:t>19-61-6</a:t>
            </a:r>
            <a:r>
              <a:rPr lang="en-IN" sz="2400" b="1" dirty="0" smtClean="0"/>
              <a:t> (W</a:t>
            </a:r>
            <a:r>
              <a:rPr lang="en-IN" sz="2400" b="1" baseline="-25000" dirty="0"/>
              <a:t>t</a:t>
            </a:r>
            <a:r>
              <a:rPr lang="en-IN" sz="2400" b="1" baseline="-25000" dirty="0" smtClean="0"/>
              <a:t>-2</a:t>
            </a:r>
            <a:r>
              <a:rPr lang="en-IN" sz="2400" b="1" dirty="0" smtClean="0"/>
              <a:t>)</a:t>
            </a:r>
            <a:endParaRPr lang="en-IN" sz="2400" dirty="0" smtClean="0"/>
          </a:p>
          <a:p>
            <a:endParaRPr lang="en-IN" sz="2400" dirty="0" smtClean="0"/>
          </a:p>
          <a:p>
            <a:r>
              <a:rPr lang="en-IN" sz="2400" dirty="0" smtClean="0"/>
              <a:t>W</a:t>
            </a:r>
            <a:r>
              <a:rPr lang="en-IN" sz="2400" baseline="-25000" dirty="0" smtClean="0"/>
              <a:t>60</a:t>
            </a:r>
            <a:r>
              <a:rPr lang="en-IN" sz="2400" dirty="0" smtClean="0"/>
              <a:t> is made as</a:t>
            </a:r>
          </a:p>
          <a:p>
            <a:endParaRPr lang="en-IN" sz="2400" dirty="0" smtClean="0"/>
          </a:p>
          <a:p>
            <a:r>
              <a:rPr lang="en-IN" sz="2400" dirty="0" smtClean="0"/>
              <a:t>      W</a:t>
            </a:r>
            <a:r>
              <a:rPr lang="en-IN" sz="2400" baseline="-25000" dirty="0" smtClean="0"/>
              <a:t>60</a:t>
            </a:r>
            <a:r>
              <a:rPr lang="en-IN" sz="2400" dirty="0" smtClean="0"/>
              <a:t> = W</a:t>
            </a:r>
            <a:r>
              <a:rPr lang="en-IN" sz="2400" baseline="-25000" dirty="0" smtClean="0"/>
              <a:t>44</a:t>
            </a:r>
            <a:r>
              <a:rPr lang="en-IN" sz="2400" dirty="0" smtClean="0"/>
              <a:t> </a:t>
            </a:r>
            <a:r>
              <a:rPr lang="en-IN" sz="2400" dirty="0" smtClean="0">
                <a:sym typeface="Symbol"/>
              </a:rPr>
              <a:t></a:t>
            </a:r>
            <a:r>
              <a:rPr lang="en-IN" sz="2400" dirty="0" smtClean="0"/>
              <a:t> RotShift</a:t>
            </a:r>
            <a:r>
              <a:rPr lang="en-IN" sz="2400" baseline="-25000" dirty="0" smtClean="0"/>
              <a:t>1-8-7</a:t>
            </a:r>
            <a:r>
              <a:rPr lang="en-IN" sz="2400" dirty="0" smtClean="0"/>
              <a:t> (W</a:t>
            </a:r>
            <a:r>
              <a:rPr lang="en-IN" sz="2400" baseline="-25000" dirty="0" smtClean="0"/>
              <a:t>45</a:t>
            </a:r>
            <a:r>
              <a:rPr lang="en-IN" sz="2400" dirty="0" smtClean="0"/>
              <a:t>) </a:t>
            </a:r>
            <a:r>
              <a:rPr lang="en-IN" sz="2400" dirty="0" smtClean="0">
                <a:sym typeface="Symbol"/>
              </a:rPr>
              <a:t></a:t>
            </a:r>
            <a:r>
              <a:rPr lang="en-IN" sz="2400" dirty="0" smtClean="0"/>
              <a:t> W</a:t>
            </a:r>
            <a:r>
              <a:rPr lang="en-IN" sz="2400" baseline="-25000" dirty="0" smtClean="0"/>
              <a:t>53</a:t>
            </a:r>
            <a:r>
              <a:rPr lang="en-IN" sz="2400" dirty="0" smtClean="0"/>
              <a:t> </a:t>
            </a:r>
            <a:r>
              <a:rPr lang="en-IN" sz="2400" dirty="0" smtClean="0">
                <a:sym typeface="Symbol"/>
              </a:rPr>
              <a:t></a:t>
            </a:r>
            <a:r>
              <a:rPr lang="en-IN" sz="2400" dirty="0" smtClean="0"/>
              <a:t> RotShift</a:t>
            </a:r>
            <a:r>
              <a:rPr lang="en-IN" sz="2400" baseline="-25000" dirty="0" smtClean="0"/>
              <a:t>19-61-6</a:t>
            </a:r>
            <a:r>
              <a:rPr lang="en-IN" sz="2400" dirty="0" smtClean="0"/>
              <a:t> (W</a:t>
            </a:r>
            <a:r>
              <a:rPr lang="en-IN" sz="2400" baseline="-25000" dirty="0" smtClean="0"/>
              <a:t>58</a:t>
            </a:r>
            <a:r>
              <a:rPr lang="en-IN" sz="2400" dirty="0" smtClean="0"/>
              <a:t>)</a:t>
            </a:r>
          </a:p>
          <a:p>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7290" y="571480"/>
            <a:ext cx="6303137" cy="584775"/>
          </a:xfrm>
          <a:prstGeom prst="rect">
            <a:avLst/>
          </a:prstGeom>
        </p:spPr>
        <p:txBody>
          <a:bodyPr wrap="none">
            <a:spAutoFit/>
          </a:bodyPr>
          <a:lstStyle/>
          <a:p>
            <a:pPr algn="ctr"/>
            <a:r>
              <a:rPr lang="en-IN" sz="3200" b="1" dirty="0" smtClean="0">
                <a:solidFill>
                  <a:srgbClr val="7030A0"/>
                </a:solidFill>
              </a:rPr>
              <a:t>Step 3: Message Digest Initialization</a:t>
            </a:r>
          </a:p>
        </p:txBody>
      </p:sp>
      <p:sp>
        <p:nvSpPr>
          <p:cNvPr id="3" name="TextBox 2"/>
          <p:cNvSpPr txBox="1"/>
          <p:nvPr/>
        </p:nvSpPr>
        <p:spPr>
          <a:xfrm>
            <a:off x="251520" y="1071546"/>
            <a:ext cx="8640960" cy="2677656"/>
          </a:xfrm>
          <a:prstGeom prst="rect">
            <a:avLst/>
          </a:prstGeom>
          <a:noFill/>
        </p:spPr>
        <p:txBody>
          <a:bodyPr wrap="square" rtlCol="0">
            <a:spAutoFit/>
          </a:bodyPr>
          <a:lstStyle/>
          <a:p>
            <a:pPr algn="just">
              <a:lnSpc>
                <a:spcPct val="150000"/>
              </a:lnSpc>
              <a:buFont typeface="Arial" pitchFamily="34" charset="0"/>
              <a:buChar char="•"/>
            </a:pPr>
            <a:r>
              <a:rPr lang="en-IN" sz="2800" dirty="0" smtClean="0"/>
              <a:t> The algorithm uses eight constant for message digest initialization.</a:t>
            </a:r>
          </a:p>
          <a:p>
            <a:pPr algn="just">
              <a:lnSpc>
                <a:spcPct val="150000"/>
              </a:lnSpc>
              <a:buFont typeface="Arial" pitchFamily="34" charset="0"/>
              <a:buChar char="•"/>
            </a:pPr>
            <a:r>
              <a:rPr lang="en-IN" sz="2800" dirty="0" smtClean="0"/>
              <a:t> We call these constants A</a:t>
            </a:r>
            <a:r>
              <a:rPr lang="en-IN" sz="2800" baseline="-25000" dirty="0" smtClean="0"/>
              <a:t>0</a:t>
            </a:r>
            <a:r>
              <a:rPr lang="en-IN" sz="2800" dirty="0" smtClean="0"/>
              <a:t> to H</a:t>
            </a:r>
            <a:r>
              <a:rPr lang="en-IN" sz="2800" baseline="-25000" dirty="0" smtClean="0"/>
              <a:t>0</a:t>
            </a:r>
            <a:r>
              <a:rPr lang="en-IN" sz="2800" dirty="0" smtClean="0"/>
              <a:t> to match the word naming used for the digest.</a:t>
            </a:r>
            <a:endParaRPr lang="en-IN" sz="2800" dirty="0"/>
          </a:p>
        </p:txBody>
      </p:sp>
      <p:pic>
        <p:nvPicPr>
          <p:cNvPr id="11266" name="Picture 2"/>
          <p:cNvPicPr>
            <a:picLocks noChangeAspect="1" noChangeArrowheads="1"/>
          </p:cNvPicPr>
          <p:nvPr/>
        </p:nvPicPr>
        <p:blipFill>
          <a:blip r:embed="rId3"/>
          <a:srcRect/>
          <a:stretch>
            <a:fillRect/>
          </a:stretch>
        </p:blipFill>
        <p:spPr bwMode="auto">
          <a:xfrm>
            <a:off x="775340" y="4182455"/>
            <a:ext cx="6858048" cy="22145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7293" y="428604"/>
            <a:ext cx="6475234" cy="646331"/>
          </a:xfrm>
          <a:prstGeom prst="rect">
            <a:avLst/>
          </a:prstGeom>
        </p:spPr>
        <p:txBody>
          <a:bodyPr wrap="none">
            <a:spAutoFit/>
          </a:bodyPr>
          <a:lstStyle/>
          <a:p>
            <a:pPr algn="ctr"/>
            <a:r>
              <a:rPr lang="en-IN" sz="3600" b="1" dirty="0" smtClean="0">
                <a:solidFill>
                  <a:srgbClr val="7030A0"/>
                </a:solidFill>
              </a:rPr>
              <a:t>Step 4: Compression Function (F)</a:t>
            </a:r>
          </a:p>
        </p:txBody>
      </p:sp>
      <p:sp>
        <p:nvSpPr>
          <p:cNvPr id="3" name="TextBox 2"/>
          <p:cNvSpPr txBox="1"/>
          <p:nvPr/>
        </p:nvSpPr>
        <p:spPr>
          <a:xfrm>
            <a:off x="323528" y="1412776"/>
            <a:ext cx="8424936" cy="2862322"/>
          </a:xfrm>
          <a:prstGeom prst="rect">
            <a:avLst/>
          </a:prstGeom>
          <a:noFill/>
        </p:spPr>
        <p:txBody>
          <a:bodyPr wrap="square" rtlCol="0">
            <a:spAutoFit/>
          </a:bodyPr>
          <a:lstStyle/>
          <a:p>
            <a:pPr algn="just">
              <a:lnSpc>
                <a:spcPct val="150000"/>
              </a:lnSpc>
              <a:buFont typeface="Arial" pitchFamily="34" charset="0"/>
              <a:buChar char="•"/>
            </a:pPr>
            <a:r>
              <a:rPr lang="en-IN" sz="2400" dirty="0" smtClean="0"/>
              <a:t> SHA-512 creates a 512-bit (eight 64-bit words) message digest from a multiple-block message where each block is 1024 bits.</a:t>
            </a:r>
          </a:p>
          <a:p>
            <a:pPr algn="just">
              <a:lnSpc>
                <a:spcPct val="150000"/>
              </a:lnSpc>
              <a:buFont typeface="Arial" pitchFamily="34" charset="0"/>
              <a:buChar char="•"/>
            </a:pPr>
            <a:r>
              <a:rPr lang="en-IN" sz="2400" dirty="0" smtClean="0"/>
              <a:t> The processing of each block of data in SHA-512 involves 80 rounds.</a:t>
            </a:r>
          </a:p>
          <a:p>
            <a:pPr algn="just">
              <a:lnSpc>
                <a:spcPct val="150000"/>
              </a:lnSpc>
            </a:pPr>
            <a:endParaRPr lang="en-IN"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E38AA33D-AC79-7396-BF37-F9FF58BDC876}"/>
              </a:ext>
            </a:extLst>
          </p:cNvPr>
          <p:cNvSpPr txBox="1"/>
          <p:nvPr/>
        </p:nvSpPr>
        <p:spPr>
          <a:xfrm>
            <a:off x="323528" y="285728"/>
            <a:ext cx="8496944" cy="800219"/>
          </a:xfrm>
          <a:prstGeom prst="rect">
            <a:avLst/>
          </a:prstGeom>
          <a:noFill/>
        </p:spPr>
        <p:txBody>
          <a:bodyPr wrap="square" rtlCol="0">
            <a:spAutoFit/>
          </a:bodyPr>
          <a:lstStyle/>
          <a:p>
            <a:pPr algn="ctr"/>
            <a:r>
              <a:rPr lang="en-IN" sz="2800" b="1" dirty="0" smtClean="0">
                <a:solidFill>
                  <a:srgbClr val="7030A0"/>
                </a:solidFill>
              </a:rPr>
              <a:t> Function (F) – Process of single 1024 block</a:t>
            </a:r>
            <a:endParaRPr lang="en-IN" sz="2800" b="1" dirty="0">
              <a:solidFill>
                <a:srgbClr val="7030A0"/>
              </a:solidFill>
            </a:endParaRPr>
          </a:p>
          <a:p>
            <a:r>
              <a:rPr lang="en-IN" dirty="0"/>
              <a:t>	</a:t>
            </a:r>
          </a:p>
        </p:txBody>
      </p:sp>
      <p:pic>
        <p:nvPicPr>
          <p:cNvPr id="15362" name="Picture 2"/>
          <p:cNvPicPr>
            <a:picLocks noChangeAspect="1" noChangeArrowheads="1"/>
          </p:cNvPicPr>
          <p:nvPr/>
        </p:nvPicPr>
        <p:blipFill>
          <a:blip r:embed="rId3"/>
          <a:srcRect/>
          <a:stretch>
            <a:fillRect/>
          </a:stretch>
        </p:blipFill>
        <p:spPr bwMode="auto">
          <a:xfrm>
            <a:off x="214282" y="1071546"/>
            <a:ext cx="8572560" cy="5786454"/>
          </a:xfrm>
          <a:prstGeom prst="rect">
            <a:avLst/>
          </a:prstGeom>
          <a:noFill/>
          <a:ln w="9525">
            <a:noFill/>
            <a:miter lim="800000"/>
            <a:headEnd/>
            <a:tailEnd/>
          </a:ln>
          <a:effectLst/>
        </p:spPr>
      </p:pic>
      <p:pic>
        <p:nvPicPr>
          <p:cNvPr id="4" name="Picture 3"/>
          <p:cNvPicPr>
            <a:picLocks noChangeAspect="1"/>
          </p:cNvPicPr>
          <p:nvPr/>
        </p:nvPicPr>
        <p:blipFill>
          <a:blip r:embed="rId4"/>
          <a:stretch>
            <a:fillRect/>
          </a:stretch>
        </p:blipFill>
        <p:spPr>
          <a:xfrm>
            <a:off x="2915816" y="1484784"/>
            <a:ext cx="4894643" cy="3120008"/>
          </a:xfrm>
          <a:prstGeom prst="rect">
            <a:avLst/>
          </a:prstGeom>
        </p:spPr>
      </p:pic>
    </p:spTree>
    <p:extLst>
      <p:ext uri="{BB962C8B-B14F-4D97-AF65-F5344CB8AC3E}">
        <p14:creationId xmlns:p14="http://schemas.microsoft.com/office/powerpoint/2010/main" val="308587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3B9ECD5-432E-BECF-8AD9-768794321B52}"/>
              </a:ext>
            </a:extLst>
          </p:cNvPr>
          <p:cNvPicPr>
            <a:picLocks noChangeAspect="1"/>
          </p:cNvPicPr>
          <p:nvPr/>
        </p:nvPicPr>
        <p:blipFill>
          <a:blip r:embed="rId3"/>
          <a:stretch>
            <a:fillRect/>
          </a:stretch>
        </p:blipFill>
        <p:spPr>
          <a:xfrm>
            <a:off x="179512" y="928670"/>
            <a:ext cx="8640960" cy="5929330"/>
          </a:xfrm>
          <a:prstGeom prst="rect">
            <a:avLst/>
          </a:prstGeom>
        </p:spPr>
      </p:pic>
      <p:sp>
        <p:nvSpPr>
          <p:cNvPr id="4" name="TextBox 3">
            <a:extLst>
              <a:ext uri="{FF2B5EF4-FFF2-40B4-BE49-F238E27FC236}">
                <a16:creationId xmlns="" xmlns:a16="http://schemas.microsoft.com/office/drawing/2014/main" id="{1415D955-7851-5AF1-37B7-C897E7DB6484}"/>
              </a:ext>
            </a:extLst>
          </p:cNvPr>
          <p:cNvSpPr txBox="1"/>
          <p:nvPr/>
        </p:nvSpPr>
        <p:spPr>
          <a:xfrm>
            <a:off x="928662" y="357166"/>
            <a:ext cx="7056784" cy="646331"/>
          </a:xfrm>
          <a:prstGeom prst="rect">
            <a:avLst/>
          </a:prstGeom>
          <a:noFill/>
        </p:spPr>
        <p:txBody>
          <a:bodyPr wrap="square" rtlCol="0">
            <a:spAutoFit/>
          </a:bodyPr>
          <a:lstStyle/>
          <a:p>
            <a:pPr algn="ctr"/>
            <a:r>
              <a:rPr lang="en-IN" sz="3600" b="1" dirty="0" smtClean="0">
                <a:solidFill>
                  <a:srgbClr val="7030A0"/>
                </a:solidFill>
              </a:rPr>
              <a:t>Single </a:t>
            </a:r>
            <a:r>
              <a:rPr lang="en-IN" sz="3600" b="1" dirty="0">
                <a:solidFill>
                  <a:srgbClr val="7030A0"/>
                </a:solidFill>
              </a:rPr>
              <a:t>Round Operation</a:t>
            </a:r>
          </a:p>
        </p:txBody>
      </p:sp>
    </p:spTree>
    <p:extLst>
      <p:ext uri="{BB962C8B-B14F-4D97-AF65-F5344CB8AC3E}">
        <p14:creationId xmlns:p14="http://schemas.microsoft.com/office/powerpoint/2010/main" val="3041816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1415D955-7851-5AF1-37B7-C897E7DB6484}"/>
              </a:ext>
            </a:extLst>
          </p:cNvPr>
          <p:cNvSpPr txBox="1"/>
          <p:nvPr/>
        </p:nvSpPr>
        <p:spPr>
          <a:xfrm>
            <a:off x="928662" y="0"/>
            <a:ext cx="7056784" cy="646331"/>
          </a:xfrm>
          <a:prstGeom prst="rect">
            <a:avLst/>
          </a:prstGeom>
          <a:noFill/>
        </p:spPr>
        <p:txBody>
          <a:bodyPr wrap="square" rtlCol="0">
            <a:spAutoFit/>
          </a:bodyPr>
          <a:lstStyle/>
          <a:p>
            <a:pPr algn="ctr"/>
            <a:r>
              <a:rPr lang="en-IN" sz="3600" b="1" dirty="0" smtClean="0">
                <a:solidFill>
                  <a:srgbClr val="7030A0"/>
                </a:solidFill>
              </a:rPr>
              <a:t>Compute T1</a:t>
            </a:r>
            <a:endParaRPr lang="en-IN" sz="3600" b="1" dirty="0">
              <a:solidFill>
                <a:srgbClr val="7030A0"/>
              </a:solidFill>
            </a:endParaRPr>
          </a:p>
        </p:txBody>
      </p:sp>
      <p:pic>
        <p:nvPicPr>
          <p:cNvPr id="2" name="Picture 1"/>
          <p:cNvPicPr>
            <a:picLocks noChangeAspect="1"/>
          </p:cNvPicPr>
          <p:nvPr/>
        </p:nvPicPr>
        <p:blipFill>
          <a:blip r:embed="rId3"/>
          <a:stretch>
            <a:fillRect/>
          </a:stretch>
        </p:blipFill>
        <p:spPr>
          <a:xfrm>
            <a:off x="467544" y="1340768"/>
            <a:ext cx="8352928" cy="3168352"/>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srcRect/>
          <a:stretch>
            <a:fillRect/>
          </a:stretch>
        </p:blipFill>
        <p:spPr bwMode="auto">
          <a:xfrm>
            <a:off x="500034" y="500042"/>
            <a:ext cx="8286808" cy="6000792"/>
          </a:xfrm>
          <a:prstGeom prst="rect">
            <a:avLst/>
          </a:prstGeom>
          <a:noFill/>
          <a:ln w="9525">
            <a:noFill/>
            <a:miter lim="800000"/>
            <a:headEnd/>
            <a:tailEnd/>
          </a:ln>
          <a:effectLst/>
        </p:spPr>
      </p:pic>
    </p:spTree>
    <p:extLst>
      <p:ext uri="{BB962C8B-B14F-4D97-AF65-F5344CB8AC3E}">
        <p14:creationId xmlns:p14="http://schemas.microsoft.com/office/powerpoint/2010/main" val="11596311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07504" y="1003867"/>
            <a:ext cx="8784976" cy="2706397"/>
          </a:xfrm>
          <a:prstGeom prst="rect">
            <a:avLst/>
          </a:prstGeom>
        </p:spPr>
      </p:pic>
      <p:pic>
        <p:nvPicPr>
          <p:cNvPr id="3" name="Picture 2"/>
          <p:cNvPicPr>
            <a:picLocks noChangeAspect="1"/>
          </p:cNvPicPr>
          <p:nvPr/>
        </p:nvPicPr>
        <p:blipFill>
          <a:blip r:embed="rId4"/>
          <a:stretch>
            <a:fillRect/>
          </a:stretch>
        </p:blipFill>
        <p:spPr>
          <a:xfrm>
            <a:off x="2761157" y="3839996"/>
            <a:ext cx="2664296" cy="2541331"/>
          </a:xfrm>
          <a:prstGeom prst="rect">
            <a:avLst/>
          </a:prstGeom>
        </p:spPr>
      </p:pic>
      <p:sp>
        <p:nvSpPr>
          <p:cNvPr id="4" name="Rectangle 3"/>
          <p:cNvSpPr/>
          <p:nvPr/>
        </p:nvSpPr>
        <p:spPr>
          <a:xfrm>
            <a:off x="2653133" y="188640"/>
            <a:ext cx="2757614" cy="707886"/>
          </a:xfrm>
          <a:prstGeom prst="rect">
            <a:avLst/>
          </a:prstGeom>
        </p:spPr>
        <p:txBody>
          <a:bodyPr wrap="none">
            <a:spAutoFit/>
          </a:bodyPr>
          <a:lstStyle/>
          <a:p>
            <a:pPr algn="ctr"/>
            <a:r>
              <a:rPr lang="en-IN" sz="4000" b="1" dirty="0">
                <a:solidFill>
                  <a:srgbClr val="7030A0"/>
                </a:solidFill>
              </a:rPr>
              <a:t>Compute </a:t>
            </a:r>
            <a:r>
              <a:rPr lang="en-IN" sz="4000" b="1" dirty="0" smtClean="0">
                <a:solidFill>
                  <a:srgbClr val="7030A0"/>
                </a:solidFill>
              </a:rPr>
              <a:t>T2</a:t>
            </a:r>
            <a:endParaRPr lang="en-IN" sz="4000" b="1" dirty="0">
              <a:solidFill>
                <a:srgbClr val="7030A0"/>
              </a:solidFill>
            </a:endParaRPr>
          </a:p>
        </p:txBody>
      </p:sp>
      <p:sp>
        <p:nvSpPr>
          <p:cNvPr id="5" name="Rectangle 4"/>
          <p:cNvSpPr/>
          <p:nvPr/>
        </p:nvSpPr>
        <p:spPr>
          <a:xfrm>
            <a:off x="3510002" y="6488668"/>
            <a:ext cx="1043876" cy="369332"/>
          </a:xfrm>
          <a:prstGeom prst="rect">
            <a:avLst/>
          </a:prstGeom>
        </p:spPr>
        <p:txBody>
          <a:bodyPr wrap="none">
            <a:spAutoFit/>
          </a:bodyPr>
          <a:lstStyle/>
          <a:p>
            <a:pPr algn="ctr"/>
            <a:r>
              <a:rPr lang="en-IN" b="1" dirty="0" smtClean="0"/>
              <a:t>a =T1+T2</a:t>
            </a:r>
            <a:endParaRPr lang="en-IN" b="1" dirty="0"/>
          </a:p>
        </p:txBody>
      </p:sp>
    </p:spTree>
    <p:extLst>
      <p:ext uri="{BB962C8B-B14F-4D97-AF65-F5344CB8AC3E}">
        <p14:creationId xmlns:p14="http://schemas.microsoft.com/office/powerpoint/2010/main" val="249194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3B9ECD5-432E-BECF-8AD9-768794321B52}"/>
              </a:ext>
            </a:extLst>
          </p:cNvPr>
          <p:cNvPicPr>
            <a:picLocks noChangeAspect="1"/>
          </p:cNvPicPr>
          <p:nvPr/>
        </p:nvPicPr>
        <p:blipFill>
          <a:blip r:embed="rId3"/>
          <a:stretch>
            <a:fillRect/>
          </a:stretch>
        </p:blipFill>
        <p:spPr>
          <a:xfrm>
            <a:off x="0" y="928670"/>
            <a:ext cx="9144000" cy="5929330"/>
          </a:xfrm>
          <a:prstGeom prst="rect">
            <a:avLst/>
          </a:prstGeom>
        </p:spPr>
      </p:pic>
      <p:sp>
        <p:nvSpPr>
          <p:cNvPr id="4" name="TextBox 3">
            <a:extLst>
              <a:ext uri="{FF2B5EF4-FFF2-40B4-BE49-F238E27FC236}">
                <a16:creationId xmlns="" xmlns:a16="http://schemas.microsoft.com/office/drawing/2014/main" id="{1415D955-7851-5AF1-37B7-C897E7DB6484}"/>
              </a:ext>
            </a:extLst>
          </p:cNvPr>
          <p:cNvSpPr txBox="1"/>
          <p:nvPr/>
        </p:nvSpPr>
        <p:spPr>
          <a:xfrm>
            <a:off x="827584" y="0"/>
            <a:ext cx="7056784" cy="646331"/>
          </a:xfrm>
          <a:prstGeom prst="rect">
            <a:avLst/>
          </a:prstGeom>
          <a:noFill/>
        </p:spPr>
        <p:txBody>
          <a:bodyPr wrap="square" rtlCol="0">
            <a:spAutoFit/>
          </a:bodyPr>
          <a:lstStyle/>
          <a:p>
            <a:pPr algn="ctr"/>
            <a:r>
              <a:rPr lang="en-IN" sz="3600" b="1" dirty="0" smtClean="0">
                <a:solidFill>
                  <a:srgbClr val="7030A0"/>
                </a:solidFill>
              </a:rPr>
              <a:t>Single </a:t>
            </a:r>
            <a:r>
              <a:rPr lang="en-IN" sz="3600" b="1" dirty="0">
                <a:solidFill>
                  <a:srgbClr val="7030A0"/>
                </a:solidFill>
              </a:rPr>
              <a:t>Round Operation</a:t>
            </a:r>
          </a:p>
        </p:txBody>
      </p:sp>
    </p:spTree>
    <p:extLst>
      <p:ext uri="{BB962C8B-B14F-4D97-AF65-F5344CB8AC3E}">
        <p14:creationId xmlns:p14="http://schemas.microsoft.com/office/powerpoint/2010/main" val="11094121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08" y="357166"/>
            <a:ext cx="4572000" cy="584775"/>
          </a:xfrm>
          <a:prstGeom prst="rect">
            <a:avLst/>
          </a:prstGeom>
        </p:spPr>
        <p:txBody>
          <a:bodyPr>
            <a:spAutoFit/>
          </a:bodyPr>
          <a:lstStyle/>
          <a:p>
            <a:pPr algn="ctr"/>
            <a:r>
              <a:rPr lang="en-IN" sz="3200" b="1" dirty="0" smtClean="0">
                <a:solidFill>
                  <a:srgbClr val="7030A0"/>
                </a:solidFill>
              </a:rPr>
              <a:t>Example</a:t>
            </a:r>
            <a:endParaRPr lang="en-IN" sz="3200" b="1" dirty="0">
              <a:solidFill>
                <a:srgbClr val="7030A0"/>
              </a:solidFill>
            </a:endParaRPr>
          </a:p>
        </p:txBody>
      </p:sp>
      <p:sp>
        <p:nvSpPr>
          <p:cNvPr id="3" name="TextBox 2"/>
          <p:cNvSpPr txBox="1"/>
          <p:nvPr/>
        </p:nvSpPr>
        <p:spPr>
          <a:xfrm>
            <a:off x="428596" y="1071546"/>
            <a:ext cx="8143932" cy="5016758"/>
          </a:xfrm>
          <a:prstGeom prst="rect">
            <a:avLst/>
          </a:prstGeom>
          <a:noFill/>
        </p:spPr>
        <p:txBody>
          <a:bodyPr wrap="square" rtlCol="0">
            <a:spAutoFit/>
          </a:bodyPr>
          <a:lstStyle/>
          <a:p>
            <a:pPr algn="just">
              <a:buFont typeface="Arial" pitchFamily="34" charset="0"/>
              <a:buChar char="•"/>
            </a:pPr>
            <a:r>
              <a:rPr lang="en-IN" sz="2000" dirty="0" smtClean="0"/>
              <a:t> </a:t>
            </a:r>
            <a:r>
              <a:rPr lang="en-IN" sz="2000" dirty="0"/>
              <a:t>A</a:t>
            </a:r>
            <a:r>
              <a:rPr lang="en-IN" sz="2000" dirty="0" smtClean="0"/>
              <a:t>pply the Majority function on buffers A, B, and C. If the leftmost hexadecimal digits of these buffers are 0x7, 0xA, and 0xE, respectively, what is the leftmost digit of the result?</a:t>
            </a:r>
          </a:p>
          <a:p>
            <a:pPr algn="just"/>
            <a:endParaRPr lang="en-IN" sz="2000" dirty="0" smtClean="0"/>
          </a:p>
          <a:p>
            <a:pPr algn="just"/>
            <a:r>
              <a:rPr lang="en-IN" sz="2000" b="1" u="sng" dirty="0" smtClean="0"/>
              <a:t>Solution:</a:t>
            </a:r>
          </a:p>
          <a:p>
            <a:pPr algn="just"/>
            <a:r>
              <a:rPr lang="en-IN" sz="2000" dirty="0" smtClean="0"/>
              <a:t>The digits in binary are 0111, 1010, and 1110.</a:t>
            </a:r>
          </a:p>
          <a:p>
            <a:pPr marL="514350" indent="-514350" algn="just">
              <a:buFont typeface="+mj-lt"/>
              <a:buAutoNum type="romanLcPeriod"/>
            </a:pPr>
            <a:r>
              <a:rPr lang="en-IN" sz="2000" dirty="0" smtClean="0"/>
              <a:t>The first bits are 0, 1, and 1. The majority is 1.</a:t>
            </a:r>
          </a:p>
          <a:p>
            <a:pPr marL="514350" indent="-514350" algn="just">
              <a:buFont typeface="+mj-lt"/>
              <a:buAutoNum type="romanLcPeriod"/>
            </a:pPr>
            <a:r>
              <a:rPr lang="en-IN" sz="2000" dirty="0" smtClean="0"/>
              <a:t>The second bits are 1, 0, and 1. The majority is 1.</a:t>
            </a:r>
          </a:p>
          <a:p>
            <a:pPr marL="514350" indent="-514350" algn="just">
              <a:buFont typeface="+mj-lt"/>
              <a:buAutoNum type="romanLcPeriod"/>
            </a:pPr>
            <a:r>
              <a:rPr lang="en-IN" sz="2000" dirty="0" smtClean="0"/>
              <a:t>The third bits are 1, 1, and 1. The majority is 1.</a:t>
            </a:r>
          </a:p>
          <a:p>
            <a:pPr marL="514350" indent="-514350" algn="just">
              <a:buFont typeface="+mj-lt"/>
              <a:buAutoNum type="romanLcPeriod"/>
            </a:pPr>
            <a:r>
              <a:rPr lang="en-IN" sz="2000" dirty="0" smtClean="0"/>
              <a:t>The fourth bits are 1, 0, and 0. The majority is 0.</a:t>
            </a:r>
          </a:p>
          <a:p>
            <a:pPr algn="just"/>
            <a:endParaRPr lang="en-IN" sz="2000" dirty="0" smtClean="0"/>
          </a:p>
          <a:p>
            <a:pPr algn="just"/>
            <a:endParaRPr lang="en-IN" sz="2000" dirty="0" smtClean="0"/>
          </a:p>
          <a:p>
            <a:pPr algn="just"/>
            <a:endParaRPr lang="en-IN" sz="2000" dirty="0" smtClean="0"/>
          </a:p>
          <a:p>
            <a:pPr algn="just"/>
            <a:endParaRPr lang="en-IN" sz="2000" dirty="0" smtClean="0"/>
          </a:p>
          <a:p>
            <a:pPr algn="just"/>
            <a:endParaRPr lang="en-IN" sz="2000" dirty="0" smtClean="0"/>
          </a:p>
          <a:p>
            <a:pPr algn="just"/>
            <a:r>
              <a:rPr lang="en-IN" sz="2000" dirty="0" smtClean="0"/>
              <a:t>The result is 1110, or 0xE in hexadecimal.</a:t>
            </a:r>
            <a:endParaRPr lang="en-IN" sz="2000" dirty="0"/>
          </a:p>
        </p:txBody>
      </p:sp>
      <p:pic>
        <p:nvPicPr>
          <p:cNvPr id="14338" name="Picture 2"/>
          <p:cNvPicPr>
            <a:picLocks noChangeAspect="1" noChangeArrowheads="1"/>
          </p:cNvPicPr>
          <p:nvPr/>
        </p:nvPicPr>
        <p:blipFill>
          <a:blip r:embed="rId2"/>
          <a:srcRect/>
          <a:stretch>
            <a:fillRect/>
          </a:stretch>
        </p:blipFill>
        <p:spPr bwMode="auto">
          <a:xfrm>
            <a:off x="1428728" y="4357694"/>
            <a:ext cx="1643074" cy="128588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4338"/>
                                        </p:tgtEl>
                                        <p:attrNameLst>
                                          <p:attrName>style.visibility</p:attrName>
                                        </p:attrNameLst>
                                      </p:cBhvr>
                                      <p:to>
                                        <p:strVal val="visible"/>
                                      </p:to>
                                    </p:set>
                                    <p:anim calcmode="lin" valueType="num">
                                      <p:cBhvr additive="base">
                                        <p:cTn id="41" dur="500" fill="hold"/>
                                        <p:tgtEl>
                                          <p:spTgt spid="14338"/>
                                        </p:tgtEl>
                                        <p:attrNameLst>
                                          <p:attrName>ppt_x</p:attrName>
                                        </p:attrNameLst>
                                      </p:cBhvr>
                                      <p:tavLst>
                                        <p:tav tm="0">
                                          <p:val>
                                            <p:strVal val="#ppt_x"/>
                                          </p:val>
                                        </p:tav>
                                        <p:tav tm="100000">
                                          <p:val>
                                            <p:strVal val="#ppt_x"/>
                                          </p:val>
                                        </p:tav>
                                      </p:tavLst>
                                    </p:anim>
                                    <p:anim calcmode="lin" valueType="num">
                                      <p:cBhvr additive="base">
                                        <p:cTn id="42" dur="500" fill="hold"/>
                                        <p:tgtEl>
                                          <p:spTgt spid="1433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 calcmode="lin" valueType="num">
                                      <p:cBhvr additive="base">
                                        <p:cTn id="4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08" y="357166"/>
            <a:ext cx="4572000" cy="584775"/>
          </a:xfrm>
          <a:prstGeom prst="rect">
            <a:avLst/>
          </a:prstGeom>
        </p:spPr>
        <p:txBody>
          <a:bodyPr>
            <a:spAutoFit/>
          </a:bodyPr>
          <a:lstStyle/>
          <a:p>
            <a:pPr algn="ctr"/>
            <a:r>
              <a:rPr lang="en-IN" sz="3200" b="1" dirty="0" smtClean="0">
                <a:solidFill>
                  <a:srgbClr val="7030A0"/>
                </a:solidFill>
              </a:rPr>
              <a:t>Example</a:t>
            </a:r>
            <a:endParaRPr lang="en-IN" sz="3200" b="1" dirty="0">
              <a:solidFill>
                <a:srgbClr val="7030A0"/>
              </a:solidFill>
            </a:endParaRPr>
          </a:p>
        </p:txBody>
      </p:sp>
      <p:sp>
        <p:nvSpPr>
          <p:cNvPr id="3" name="TextBox 2"/>
          <p:cNvSpPr txBox="1"/>
          <p:nvPr/>
        </p:nvSpPr>
        <p:spPr>
          <a:xfrm>
            <a:off x="500034" y="1142984"/>
            <a:ext cx="8143932" cy="4708981"/>
          </a:xfrm>
          <a:prstGeom prst="rect">
            <a:avLst/>
          </a:prstGeom>
          <a:noFill/>
        </p:spPr>
        <p:txBody>
          <a:bodyPr wrap="square" rtlCol="0">
            <a:spAutoFit/>
          </a:bodyPr>
          <a:lstStyle/>
          <a:p>
            <a:pPr algn="just">
              <a:lnSpc>
                <a:spcPct val="150000"/>
              </a:lnSpc>
              <a:buFont typeface="Arial" pitchFamily="34" charset="0"/>
              <a:buChar char="•"/>
            </a:pPr>
            <a:r>
              <a:rPr lang="en-IN" sz="2000" dirty="0" smtClean="0"/>
              <a:t> </a:t>
            </a:r>
            <a:r>
              <a:rPr lang="en-IN" sz="2000" dirty="0"/>
              <a:t>A</a:t>
            </a:r>
            <a:r>
              <a:rPr lang="en-IN" sz="2000" dirty="0" smtClean="0"/>
              <a:t>pply the Conditional function on E, F, and G buffers. If the leftmost hexadecimal digits of these buffers are 0x9, 0xA, and 0xF respectively, what is the leftmost digit of the result?</a:t>
            </a:r>
          </a:p>
          <a:p>
            <a:pPr algn="just">
              <a:lnSpc>
                <a:spcPct val="150000"/>
              </a:lnSpc>
            </a:pPr>
            <a:r>
              <a:rPr lang="en-IN" sz="2000" b="1" u="sng" dirty="0" smtClean="0"/>
              <a:t>Solution:</a:t>
            </a:r>
          </a:p>
          <a:p>
            <a:pPr algn="just">
              <a:lnSpc>
                <a:spcPct val="150000"/>
              </a:lnSpc>
            </a:pPr>
            <a:r>
              <a:rPr lang="en-IN" sz="2000" dirty="0" smtClean="0"/>
              <a:t>The digits in binary are 1001, 1010, and 1111.</a:t>
            </a:r>
          </a:p>
          <a:p>
            <a:pPr algn="just">
              <a:lnSpc>
                <a:spcPct val="150000"/>
              </a:lnSpc>
            </a:pPr>
            <a:r>
              <a:rPr lang="en-IN" sz="2000" dirty="0" smtClean="0"/>
              <a:t>a. The first bits are 1, 1, and 1. The result is F1, which is 1.</a:t>
            </a:r>
          </a:p>
          <a:p>
            <a:pPr algn="just">
              <a:lnSpc>
                <a:spcPct val="150000"/>
              </a:lnSpc>
            </a:pPr>
            <a:r>
              <a:rPr lang="en-IN" sz="2000" dirty="0" smtClean="0"/>
              <a:t>b. The second bits are 0, 0, and 1. The result is G2, which is 1.</a:t>
            </a:r>
          </a:p>
          <a:p>
            <a:pPr algn="just">
              <a:lnSpc>
                <a:spcPct val="150000"/>
              </a:lnSpc>
            </a:pPr>
            <a:r>
              <a:rPr lang="en-IN" sz="2000" dirty="0" smtClean="0"/>
              <a:t>c. The third bits are 0, 1, and 1. The result is G3, which is 1.</a:t>
            </a:r>
          </a:p>
          <a:p>
            <a:pPr algn="just">
              <a:lnSpc>
                <a:spcPct val="150000"/>
              </a:lnSpc>
            </a:pPr>
            <a:r>
              <a:rPr lang="en-IN" sz="2000" dirty="0" smtClean="0"/>
              <a:t>d. The fourth bits are 1, 0, and 1. The result is F4, which is 0.</a:t>
            </a:r>
          </a:p>
          <a:p>
            <a:pPr algn="just">
              <a:lnSpc>
                <a:spcPct val="150000"/>
              </a:lnSpc>
            </a:pPr>
            <a:r>
              <a:rPr lang="en-IN" sz="2000" dirty="0" smtClean="0"/>
              <a:t>The result is 1110, or 0xE in hexadecimal.</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08" y="357166"/>
            <a:ext cx="4572000" cy="584775"/>
          </a:xfrm>
          <a:prstGeom prst="rect">
            <a:avLst/>
          </a:prstGeom>
        </p:spPr>
        <p:txBody>
          <a:bodyPr>
            <a:spAutoFit/>
          </a:bodyPr>
          <a:lstStyle/>
          <a:p>
            <a:pPr algn="ctr"/>
            <a:r>
              <a:rPr lang="en-IN" sz="3200" b="1" dirty="0" smtClean="0">
                <a:solidFill>
                  <a:srgbClr val="7030A0"/>
                </a:solidFill>
              </a:rPr>
              <a:t>Example</a:t>
            </a:r>
            <a:endParaRPr lang="en-IN" sz="3200" b="1" dirty="0">
              <a:solidFill>
                <a:srgbClr val="7030A0"/>
              </a:solidFill>
            </a:endParaRPr>
          </a:p>
        </p:txBody>
      </p:sp>
      <p:sp>
        <p:nvSpPr>
          <p:cNvPr id="3" name="TextBox 2"/>
          <p:cNvSpPr txBox="1"/>
          <p:nvPr/>
        </p:nvSpPr>
        <p:spPr>
          <a:xfrm>
            <a:off x="500034" y="1142984"/>
            <a:ext cx="8143932" cy="5016758"/>
          </a:xfrm>
          <a:prstGeom prst="rect">
            <a:avLst/>
          </a:prstGeom>
          <a:noFill/>
        </p:spPr>
        <p:txBody>
          <a:bodyPr wrap="square" rtlCol="0">
            <a:spAutoFit/>
          </a:bodyPr>
          <a:lstStyle/>
          <a:p>
            <a:r>
              <a:rPr lang="en-IN" sz="2000" dirty="0"/>
              <a:t>Consider you wish to hash a one block message consisting of 4 ASCII characters “CDEF” using secure hash algorithm        SHA-512. Note that the ASCII values of C,D,E,F are 67,68,69,70 respectively. </a:t>
            </a:r>
            <a:endParaRPr lang="en-IN" sz="2000" dirty="0" smtClean="0"/>
          </a:p>
          <a:p>
            <a:r>
              <a:rPr lang="en-IN" sz="2000" dirty="0" smtClean="0"/>
              <a:t>Answer </a:t>
            </a:r>
            <a:r>
              <a:rPr lang="en-IN" sz="2000" dirty="0"/>
              <a:t>the following</a:t>
            </a:r>
            <a:r>
              <a:rPr lang="en-IN" sz="2000" dirty="0" smtClean="0"/>
              <a:t>:</a:t>
            </a:r>
          </a:p>
          <a:p>
            <a:endParaRPr lang="en-IN" sz="2000" dirty="0"/>
          </a:p>
          <a:p>
            <a:pPr lvl="0"/>
            <a:r>
              <a:rPr lang="en-IN" sz="2000" dirty="0"/>
              <a:t>Find the number of padding bits.                      </a:t>
            </a:r>
            <a:endParaRPr lang="en-IN" sz="2000" dirty="0" smtClean="0"/>
          </a:p>
          <a:p>
            <a:pPr lvl="0"/>
            <a:r>
              <a:rPr lang="en-IN" sz="2000" dirty="0" smtClean="0"/>
              <a:t> </a:t>
            </a:r>
            <a:endParaRPr lang="en-IN" sz="2000" b="1" dirty="0"/>
          </a:p>
          <a:p>
            <a:pPr lvl="0"/>
            <a:r>
              <a:rPr lang="en-IN" sz="2000" dirty="0" smtClean="0"/>
              <a:t>Show </a:t>
            </a:r>
            <a:r>
              <a:rPr lang="en-IN" sz="2000" dirty="0"/>
              <a:t>the sixteen 64 bit words (W</a:t>
            </a:r>
            <a:r>
              <a:rPr lang="en-IN" sz="2000" baseline="-25000" dirty="0"/>
              <a:t>0</a:t>
            </a:r>
            <a:r>
              <a:rPr lang="en-IN" sz="2000" dirty="0"/>
              <a:t> to W</a:t>
            </a:r>
            <a:r>
              <a:rPr lang="en-IN" sz="2000" baseline="-25000" dirty="0"/>
              <a:t>15</a:t>
            </a:r>
            <a:r>
              <a:rPr lang="en-IN" sz="2000" dirty="0"/>
              <a:t>) in hexa-decimal format. </a:t>
            </a:r>
            <a:endParaRPr lang="en-IN" sz="2000" dirty="0" smtClean="0"/>
          </a:p>
          <a:p>
            <a:pPr lvl="0"/>
            <a:endParaRPr lang="en-IN" sz="2000" dirty="0"/>
          </a:p>
          <a:p>
            <a:pPr lvl="0"/>
            <a:r>
              <a:rPr lang="en-IN" sz="2000" dirty="0" smtClean="0"/>
              <a:t>If </a:t>
            </a:r>
            <a:r>
              <a:rPr lang="en-IN" sz="2000" dirty="0"/>
              <a:t>you apply the majority function of round operation on buffers A, B, and C. If the rightmost binary bits of these buffers are (111010)</a:t>
            </a:r>
            <a:r>
              <a:rPr lang="en-IN" sz="2000" baseline="-25000" dirty="0"/>
              <a:t>2</a:t>
            </a:r>
            <a:r>
              <a:rPr lang="en-IN" sz="2000" dirty="0"/>
              <a:t>, (001100)</a:t>
            </a:r>
            <a:r>
              <a:rPr lang="en-IN" sz="2000" baseline="-25000" dirty="0"/>
              <a:t>2</a:t>
            </a:r>
            <a:r>
              <a:rPr lang="en-IN" sz="2000" dirty="0"/>
              <a:t>, and (110011)</a:t>
            </a:r>
            <a:r>
              <a:rPr lang="en-IN" sz="2000" baseline="-25000" dirty="0"/>
              <a:t>2</a:t>
            </a:r>
            <a:r>
              <a:rPr lang="en-IN" sz="2000" dirty="0"/>
              <a:t>, respectively, what is the rightmost bits of the result?                                                  </a:t>
            </a:r>
          </a:p>
          <a:p>
            <a:pPr lvl="0"/>
            <a:endParaRPr lang="en-IN" sz="2000" dirty="0" smtClean="0"/>
          </a:p>
          <a:p>
            <a:pPr lvl="0"/>
            <a:r>
              <a:rPr lang="en-IN" sz="2000" dirty="0" smtClean="0"/>
              <a:t>If </a:t>
            </a:r>
            <a:r>
              <a:rPr lang="en-IN" sz="2000" dirty="0"/>
              <a:t>you apply the condition function of round operation on buffers E, F, and G. If the leftmost binary bits of these buffers are (111010)</a:t>
            </a:r>
            <a:r>
              <a:rPr lang="en-IN" sz="2000" baseline="-25000" dirty="0"/>
              <a:t>2</a:t>
            </a:r>
            <a:r>
              <a:rPr lang="en-IN" sz="2000" dirty="0"/>
              <a:t>, (001100)</a:t>
            </a:r>
            <a:r>
              <a:rPr lang="en-IN" sz="2000" baseline="-25000" dirty="0"/>
              <a:t>2</a:t>
            </a:r>
            <a:r>
              <a:rPr lang="en-IN" sz="2000" dirty="0"/>
              <a:t>, and (110011)</a:t>
            </a:r>
            <a:r>
              <a:rPr lang="en-IN" sz="2000" baseline="-25000" dirty="0"/>
              <a:t>2</a:t>
            </a:r>
            <a:r>
              <a:rPr lang="en-IN" sz="2000" dirty="0"/>
              <a:t>, respectively, what is the leftmost bits of the result?                                     </a:t>
            </a:r>
          </a:p>
        </p:txBody>
      </p:sp>
    </p:spTree>
    <p:extLst>
      <p:ext uri="{BB962C8B-B14F-4D97-AF65-F5344CB8AC3E}">
        <p14:creationId xmlns:p14="http://schemas.microsoft.com/office/powerpoint/2010/main" val="35061134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08" y="357166"/>
            <a:ext cx="4572000" cy="584775"/>
          </a:xfrm>
          <a:prstGeom prst="rect">
            <a:avLst/>
          </a:prstGeom>
        </p:spPr>
        <p:txBody>
          <a:bodyPr>
            <a:spAutoFit/>
          </a:bodyPr>
          <a:lstStyle/>
          <a:p>
            <a:pPr algn="ctr"/>
            <a:r>
              <a:rPr lang="en-IN" sz="3200" b="1" dirty="0" smtClean="0">
                <a:solidFill>
                  <a:srgbClr val="7030A0"/>
                </a:solidFill>
              </a:rPr>
              <a:t>Example</a:t>
            </a:r>
            <a:endParaRPr lang="en-IN" sz="3200" b="1" dirty="0">
              <a:solidFill>
                <a:srgbClr val="7030A0"/>
              </a:solidFill>
            </a:endParaRPr>
          </a:p>
        </p:txBody>
      </p:sp>
      <p:sp>
        <p:nvSpPr>
          <p:cNvPr id="3" name="TextBox 2"/>
          <p:cNvSpPr txBox="1"/>
          <p:nvPr/>
        </p:nvSpPr>
        <p:spPr>
          <a:xfrm>
            <a:off x="500034" y="1142984"/>
            <a:ext cx="8143932" cy="3970318"/>
          </a:xfrm>
          <a:prstGeom prst="rect">
            <a:avLst/>
          </a:prstGeom>
          <a:noFill/>
        </p:spPr>
        <p:txBody>
          <a:bodyPr wrap="square" rtlCol="0">
            <a:spAutoFit/>
          </a:bodyPr>
          <a:lstStyle/>
          <a:p>
            <a:r>
              <a:rPr lang="en-US" sz="2000" dirty="0"/>
              <a:t>Given a text: “VIT” Create the process of deriving eighty 64-bit words from1024 bits for processing of a single message block of SHA-512 . Show the words W16, W17, W18 and W19. </a:t>
            </a:r>
            <a:endParaRPr lang="en-US" sz="2000" dirty="0" smtClean="0"/>
          </a:p>
          <a:p>
            <a:endParaRPr lang="en-US" sz="2000" dirty="0"/>
          </a:p>
          <a:p>
            <a:endParaRPr lang="en-US" sz="2000" dirty="0" smtClean="0"/>
          </a:p>
          <a:p>
            <a:endParaRPr lang="en-IN" altLang="en-US" sz="1600" dirty="0">
              <a:solidFill>
                <a:srgbClr val="000000"/>
              </a:solidFill>
              <a:latin typeface="Times New Roman" panose="02020603050405020304" pitchFamily="18" charset="0"/>
            </a:endParaRPr>
          </a:p>
          <a:p>
            <a:r>
              <a:rPr lang="en-IN" altLang="en-US" sz="1600" dirty="0">
                <a:solidFill>
                  <a:srgbClr val="000000"/>
                </a:solidFill>
                <a:latin typeface="Times New Roman" panose="02020603050405020304" pitchFamily="18" charset="0"/>
              </a:rPr>
              <a:t> </a:t>
            </a:r>
          </a:p>
          <a:p>
            <a:pPr algn="just"/>
            <a:r>
              <a:rPr lang="en-IN" altLang="en-US" sz="2000" dirty="0">
                <a:solidFill>
                  <a:srgbClr val="FF0000"/>
                </a:solidFill>
                <a:latin typeface="Times New Roman" panose="02020603050405020304" pitchFamily="18" charset="0"/>
              </a:rPr>
              <a:t>Evaluate the value of </a:t>
            </a:r>
            <a:r>
              <a:rPr lang="en-IN" altLang="en-US" sz="2000" dirty="0" err="1">
                <a:solidFill>
                  <a:srgbClr val="FF0000"/>
                </a:solidFill>
                <a:latin typeface="Times New Roman" panose="02020603050405020304" pitchFamily="18" charset="0"/>
              </a:rPr>
              <a:t>Ch</a:t>
            </a:r>
            <a:r>
              <a:rPr lang="en-IN" altLang="en-US" sz="2000">
                <a:solidFill>
                  <a:srgbClr val="FF0000"/>
                </a:solidFill>
                <a:latin typeface="Times New Roman" panose="02020603050405020304" pitchFamily="18" charset="0"/>
              </a:rPr>
              <a:t> (e, f, g), Maj (a, b, c), of SHA512 algorithm for the buffers ‘a’, ‘b’, ‘c’, ‘e’, ‘f’, and ‘g’ that contain the hexa-decimal values as follows: 1111777700001111, FFFF222222221111, BBBB999911112222, CCCC222222220000, 1111DDDD22221111, and 33331111AAAAFFFF, respectively. </a:t>
            </a:r>
          </a:p>
          <a:p>
            <a:r>
              <a:rPr lang="en-US" sz="2000" dirty="0"/>
              <a:t>	</a:t>
            </a:r>
          </a:p>
        </p:txBody>
      </p:sp>
    </p:spTree>
    <p:extLst>
      <p:ext uri="{BB962C8B-B14F-4D97-AF65-F5344CB8AC3E}">
        <p14:creationId xmlns:p14="http://schemas.microsoft.com/office/powerpoint/2010/main" val="8432100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143108" y="357166"/>
            <a:ext cx="5214974" cy="584775"/>
          </a:xfrm>
          <a:prstGeom prst="rect">
            <a:avLst/>
          </a:prstGeom>
        </p:spPr>
        <p:txBody>
          <a:bodyPr wrap="square">
            <a:spAutoFit/>
          </a:bodyPr>
          <a:lstStyle/>
          <a:p>
            <a:pPr algn="ctr"/>
            <a:r>
              <a:rPr lang="en-IN" sz="3200" b="1" dirty="0" smtClean="0">
                <a:solidFill>
                  <a:srgbClr val="7030A0"/>
                </a:solidFill>
              </a:rPr>
              <a:t>Round Constants (K</a:t>
            </a:r>
            <a:r>
              <a:rPr lang="en-IN" sz="3200" b="1" baseline="-25000" dirty="0" smtClean="0">
                <a:solidFill>
                  <a:srgbClr val="7030A0"/>
                </a:solidFill>
              </a:rPr>
              <a:t>0</a:t>
            </a:r>
            <a:r>
              <a:rPr lang="en-IN" sz="3200" b="1" dirty="0" smtClean="0">
                <a:solidFill>
                  <a:srgbClr val="7030A0"/>
                </a:solidFill>
              </a:rPr>
              <a:t> to K</a:t>
            </a:r>
            <a:r>
              <a:rPr lang="en-IN" sz="3200" b="1" baseline="-25000" dirty="0" smtClean="0">
                <a:solidFill>
                  <a:srgbClr val="7030A0"/>
                </a:solidFill>
              </a:rPr>
              <a:t>79 </a:t>
            </a:r>
            <a:r>
              <a:rPr lang="en-IN" sz="3200" b="1" dirty="0" smtClean="0">
                <a:solidFill>
                  <a:srgbClr val="7030A0"/>
                </a:solidFill>
              </a:rPr>
              <a:t>)</a:t>
            </a:r>
            <a:endParaRPr lang="en-IN" sz="3200" b="1" dirty="0">
              <a:solidFill>
                <a:srgbClr val="7030A0"/>
              </a:solidFill>
            </a:endParaRPr>
          </a:p>
        </p:txBody>
      </p:sp>
      <p:sp>
        <p:nvSpPr>
          <p:cNvPr id="3" name="TextBox 2"/>
          <p:cNvSpPr txBox="1"/>
          <p:nvPr/>
        </p:nvSpPr>
        <p:spPr>
          <a:xfrm>
            <a:off x="357159" y="1142984"/>
            <a:ext cx="8143932" cy="4247317"/>
          </a:xfrm>
          <a:prstGeom prst="rect">
            <a:avLst/>
          </a:prstGeom>
          <a:noFill/>
        </p:spPr>
        <p:txBody>
          <a:bodyPr wrap="square" rtlCol="0">
            <a:spAutoFit/>
          </a:bodyPr>
          <a:lstStyle/>
          <a:p>
            <a:pPr algn="just">
              <a:lnSpc>
                <a:spcPct val="150000"/>
              </a:lnSpc>
              <a:buFont typeface="Arial" pitchFamily="34" charset="0"/>
              <a:buChar char="•"/>
            </a:pPr>
            <a:r>
              <a:rPr lang="en-IN" sz="2000" dirty="0" smtClean="0"/>
              <a:t> There are 80 constants, K</a:t>
            </a:r>
            <a:r>
              <a:rPr lang="en-IN" sz="2000" baseline="-25000" dirty="0" smtClean="0"/>
              <a:t>0</a:t>
            </a:r>
            <a:r>
              <a:rPr lang="en-IN" sz="2000" dirty="0" smtClean="0"/>
              <a:t> to K</a:t>
            </a:r>
            <a:r>
              <a:rPr lang="en-IN" sz="2000" baseline="-25000" dirty="0" smtClean="0"/>
              <a:t>79 </a:t>
            </a:r>
            <a:r>
              <a:rPr lang="en-IN" sz="2000" dirty="0" smtClean="0"/>
              <a:t>, each of 64 bits.</a:t>
            </a:r>
          </a:p>
          <a:p>
            <a:pPr algn="just">
              <a:lnSpc>
                <a:spcPct val="150000"/>
              </a:lnSpc>
              <a:buFont typeface="Arial" pitchFamily="34" charset="0"/>
              <a:buChar char="•"/>
            </a:pPr>
            <a:r>
              <a:rPr lang="en-IN" sz="2000" dirty="0" smtClean="0"/>
              <a:t> Similar to the initial values for the eight digest buffer, these values are calculated from the first 80 prime numbers (2, 3, …, 409).</a:t>
            </a:r>
          </a:p>
          <a:p>
            <a:pPr lvl="1" algn="just">
              <a:lnSpc>
                <a:spcPct val="150000"/>
              </a:lnSpc>
              <a:buFont typeface="Arial" pitchFamily="34" charset="0"/>
              <a:buChar char="•"/>
            </a:pPr>
            <a:r>
              <a:rPr lang="en-IN" sz="2000" b="1" dirty="0" smtClean="0"/>
              <a:t>NOTE</a:t>
            </a:r>
            <a:r>
              <a:rPr lang="en-IN" sz="2000" dirty="0" smtClean="0"/>
              <a:t>: Cubic root of prime number, convert to </a:t>
            </a:r>
            <a:r>
              <a:rPr lang="en-IN" sz="2000" dirty="0" err="1" smtClean="0"/>
              <a:t>hexa-deci</a:t>
            </a:r>
            <a:r>
              <a:rPr lang="en-IN" sz="2000" dirty="0" smtClean="0"/>
              <a:t>, then consider the fraction part.</a:t>
            </a:r>
          </a:p>
          <a:p>
            <a:pPr algn="just">
              <a:lnSpc>
                <a:spcPct val="150000"/>
              </a:lnSpc>
              <a:buFont typeface="Arial" pitchFamily="34" charset="0"/>
              <a:buChar char="•"/>
            </a:pPr>
            <a:r>
              <a:rPr lang="en-IN" sz="2000" dirty="0" smtClean="0"/>
              <a:t> For example: The 80th prime is 409, with the cubic root </a:t>
            </a:r>
          </a:p>
          <a:p>
            <a:pPr algn="just">
              <a:lnSpc>
                <a:spcPct val="150000"/>
              </a:lnSpc>
            </a:pPr>
            <a:r>
              <a:rPr lang="en-IN" sz="2000" dirty="0" smtClean="0"/>
              <a:t>                           (409)</a:t>
            </a:r>
            <a:r>
              <a:rPr lang="en-IN" sz="2000" baseline="30000" dirty="0" smtClean="0"/>
              <a:t>1/3</a:t>
            </a:r>
            <a:r>
              <a:rPr lang="en-IN" sz="2000" dirty="0" smtClean="0"/>
              <a:t> = 7.42291412044. </a:t>
            </a:r>
          </a:p>
          <a:p>
            <a:pPr algn="just">
              <a:lnSpc>
                <a:spcPct val="150000"/>
              </a:lnSpc>
              <a:buFont typeface="Arial" pitchFamily="34" charset="0"/>
              <a:buChar char="•"/>
            </a:pPr>
            <a:r>
              <a:rPr lang="en-IN" sz="2000" dirty="0" smtClean="0"/>
              <a:t> Converting this number to binary with only 64 bits in the fraction part, we get:</a:t>
            </a:r>
            <a:endParaRPr lang="en-IN" sz="2000" dirty="0"/>
          </a:p>
        </p:txBody>
      </p:sp>
      <p:pic>
        <p:nvPicPr>
          <p:cNvPr id="12290" name="Picture 2"/>
          <p:cNvPicPr>
            <a:picLocks noChangeAspect="1" noChangeArrowheads="1"/>
          </p:cNvPicPr>
          <p:nvPr/>
        </p:nvPicPr>
        <p:blipFill>
          <a:blip r:embed="rId2"/>
          <a:srcRect/>
          <a:stretch>
            <a:fillRect/>
          </a:stretch>
        </p:blipFill>
        <p:spPr bwMode="auto">
          <a:xfrm>
            <a:off x="1357290" y="4857760"/>
            <a:ext cx="6072230" cy="1071570"/>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500034" y="500042"/>
            <a:ext cx="8286808" cy="60007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3944</TotalTime>
  <Words>2112</Words>
  <Application>Microsoft Office PowerPoint</Application>
  <PresentationFormat>On-screen Show (4:3)</PresentationFormat>
  <Paragraphs>278</Paragraphs>
  <Slides>30</Slides>
  <Notes>18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Symbol</vt:lpstr>
      <vt:lpstr>Times New Roman</vt:lpstr>
      <vt:lpstr>Office Theme</vt:lpstr>
      <vt:lpstr> (Secure Hash Algorithm)  SHA -512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FUNCTIONS</dc:title>
  <dc:creator>Admin</dc:creator>
  <cp:lastModifiedBy>Admin</cp:lastModifiedBy>
  <cp:revision>338</cp:revision>
  <dcterms:created xsi:type="dcterms:W3CDTF">2020-08-25T14:34:42Z</dcterms:created>
  <dcterms:modified xsi:type="dcterms:W3CDTF">2025-03-18T16:35:51Z</dcterms:modified>
</cp:coreProperties>
</file>