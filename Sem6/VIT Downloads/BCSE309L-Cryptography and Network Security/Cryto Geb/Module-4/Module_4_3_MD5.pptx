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9" r:id="rId3"/>
    <p:sldId id="291" r:id="rId4"/>
    <p:sldId id="386" r:id="rId5"/>
    <p:sldId id="385" r:id="rId6"/>
    <p:sldId id="282" r:id="rId7"/>
    <p:sldId id="260" r:id="rId8"/>
    <p:sldId id="283" r:id="rId9"/>
    <p:sldId id="389" r:id="rId10"/>
    <p:sldId id="261" r:id="rId11"/>
    <p:sldId id="284" r:id="rId12"/>
    <p:sldId id="262" r:id="rId13"/>
    <p:sldId id="285" r:id="rId14"/>
    <p:sldId id="263" r:id="rId15"/>
    <p:sldId id="286" r:id="rId16"/>
    <p:sldId id="287" r:id="rId17"/>
    <p:sldId id="290" r:id="rId18"/>
    <p:sldId id="396" r:id="rId19"/>
    <p:sldId id="289" r:id="rId20"/>
    <p:sldId id="266" r:id="rId21"/>
    <p:sldId id="399" r:id="rId22"/>
    <p:sldId id="390" r:id="rId23"/>
    <p:sldId id="391" r:id="rId24"/>
    <p:sldId id="393" r:id="rId25"/>
    <p:sldId id="388" r:id="rId26"/>
    <p:sldId id="397" r:id="rId27"/>
    <p:sldId id="398" r:id="rId28"/>
    <p:sldId id="394" r:id="rId29"/>
    <p:sldId id="39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94" autoAdjust="0"/>
    <p:restoredTop sz="91837" autoAdjust="0"/>
  </p:normalViewPr>
  <p:slideViewPr>
    <p:cSldViewPr snapToGrid="0">
      <p:cViewPr>
        <p:scale>
          <a:sx n="71" d="100"/>
          <a:sy n="71" d="100"/>
        </p:scale>
        <p:origin x="336" y="1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DD8EE-6A38-4BE1-945B-14E18C6767BB}" type="datetimeFigureOut">
              <a:rPr lang="en-IN" smtClean="0"/>
              <a:t>01/05/25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F384C-72B5-4577-9AB8-8A20F434E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032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16 * 32=512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F384C-72B5-4577-9AB8-8A20F434E7A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404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DD32DBD8-F3DB-14C3-6E45-C3A206CA07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0A5BAB3-D7FF-4C23-90E8-AC7788215A08}" type="slidenum">
              <a:rPr lang="en-US" altLang="en-US" sz="1200"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1FC2AE47-78B1-4E56-DB95-50204A2A48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B9DCC71B-4602-2FB9-6773-2EEEA3B0DC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523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81,62</a:t>
            </a:r>
            <a:r>
              <a:rPr lang="en-IN" baseline="0" dirty="0"/>
              <a:t> and63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F384C-72B5-4577-9AB8-8A20F434E7A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08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Size of buffer</a:t>
            </a:r>
            <a:r>
              <a:rPr lang="en-IN" baseline="0" dirty="0"/>
              <a:t> =32 buts</a:t>
            </a:r>
          </a:p>
          <a:p>
            <a:r>
              <a:rPr lang="en-IN" baseline="0" dirty="0"/>
              <a:t>32 *4=128 bits</a:t>
            </a:r>
          </a:p>
          <a:p>
            <a:r>
              <a:rPr lang="en-IN" dirty="0"/>
              <a:t>A=01234567</a:t>
            </a:r>
          </a:p>
          <a:p>
            <a:r>
              <a:rPr lang="en-IN" dirty="0"/>
              <a:t>B=89ABCDEF</a:t>
            </a:r>
          </a:p>
          <a:p>
            <a:r>
              <a:rPr lang="en-IN" dirty="0"/>
              <a:t>C=FEDCBA98</a:t>
            </a:r>
          </a:p>
          <a:p>
            <a:r>
              <a:rPr lang="en-IN" dirty="0"/>
              <a:t>D=76543210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F384C-72B5-4577-9AB8-8A20F434E7A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117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32 * 16=512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F384C-72B5-4577-9AB8-8A20F434E7A0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792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F384C-72B5-4577-9AB8-8A20F434E7A0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368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Little- least significant bits</a:t>
            </a:r>
            <a:r>
              <a:rPr lang="en-IN" baseline="0" dirty="0"/>
              <a:t> are put first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F384C-72B5-4577-9AB8-8A20F434E7A0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184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Little- </a:t>
            </a:r>
            <a:r>
              <a:rPr lang="en-IN"/>
              <a:t>least significant bits</a:t>
            </a:r>
            <a:r>
              <a:rPr lang="en-IN" baseline="0"/>
              <a:t> are put first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F384C-72B5-4577-9AB8-8A20F434E7A0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985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7176E-E91D-F382-F677-FB34535B4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77950-FA7B-DEED-8F1C-58AAE2E353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5D6C3-9733-5699-C2FC-3FACD0E9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DABF-CD8B-45CC-982D-37DE43A87878}" type="datetimeFigureOut">
              <a:rPr lang="en-IN" smtClean="0"/>
              <a:t>01/05/25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6F65-3BE9-438F-8E91-24A09E015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FE8CA-5C20-C75C-2646-00D77B1EC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15F61-53EB-4B0F-BFC0-DCA4DF248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206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85871-660A-0F92-E7A8-BF2D82620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F2F67-1900-732C-6AAE-795B233F7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47C71-0D83-4E3F-F909-11915840F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DABF-CD8B-45CC-982D-37DE43A87878}" type="datetimeFigureOut">
              <a:rPr lang="en-IN" smtClean="0"/>
              <a:t>01/05/25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558A2-0FD5-D31B-B02A-A2150F7A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2535E-1846-B0BB-ADF8-09C45F49E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15F61-53EB-4B0F-BFC0-DCA4DF248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21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E8451-6B2B-55A5-B1B5-F94A64B1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0444E-3611-3BB8-79FA-E24FEC67E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75D9A-AB9B-DAD4-F165-F5441BE9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DABF-CD8B-45CC-982D-37DE43A87878}" type="datetimeFigureOut">
              <a:rPr lang="en-IN" smtClean="0"/>
              <a:t>01/05/25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BF531-3AB8-53FC-1E4B-9C0D7A6B3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1DD80-32A4-E827-1A22-0EA1A2AD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15F61-53EB-4B0F-BFC0-DCA4DF248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358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350CB-2ECE-3D7C-EDDB-AD0457426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500AD-F912-DF04-7B8E-B1B8CD2757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7564A-3C94-1119-95A5-373909BF7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BF88C-F499-9865-C666-DED7F854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DABF-CD8B-45CC-982D-37DE43A87878}" type="datetimeFigureOut">
              <a:rPr lang="en-IN" smtClean="0"/>
              <a:t>01/05/25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07338-83C6-7659-6342-CCEA84556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61A70-7D6B-AECA-C2AA-AB606533B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15F61-53EB-4B0F-BFC0-DCA4DF248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114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BC2E4-BC73-CDFF-F01C-0478B9F3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EEEAE-C39E-711B-17ED-565D11AB8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68537-9D0A-C740-B2C3-FC76DCA8B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727CDF-0E83-4A71-A6D4-34977A5BD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976710-52F7-A5CD-4DE1-15B062DBEB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2751A0-3DC5-1203-6E83-33A00D00A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DABF-CD8B-45CC-982D-37DE43A87878}" type="datetimeFigureOut">
              <a:rPr lang="en-IN" smtClean="0"/>
              <a:t>01/05/25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658C6-5F3C-227A-DAA4-9A55664DB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993E39-D7D4-E51D-D63E-AC0C11058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15F61-53EB-4B0F-BFC0-DCA4DF248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319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459E9-ACB2-CAB4-6799-9ADF17116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0F0CC5-1CB4-55CB-223F-DC04692E4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DABF-CD8B-45CC-982D-37DE43A87878}" type="datetimeFigureOut">
              <a:rPr lang="en-IN" smtClean="0"/>
              <a:t>01/05/25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3E683-F72E-7D3C-FCCD-45E60550B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67F2B-5A9F-F1F2-3898-5C0EFBB3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15F61-53EB-4B0F-BFC0-DCA4DF248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18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52ABB9-4DC6-5089-ED16-FDA78F35C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DABF-CD8B-45CC-982D-37DE43A87878}" type="datetimeFigureOut">
              <a:rPr lang="en-IN" smtClean="0"/>
              <a:t>01/05/25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FAEC11-5815-DAA8-ACA4-DC3D3E57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C998A-2076-5A5B-0837-80F54685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15F61-53EB-4B0F-BFC0-DCA4DF248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45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A7E1D-CFCD-6545-AE0A-0B31E65ED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84100-4B7D-1208-1BE2-94AED92DA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57107-9AA3-4BD2-058E-463A0E3C3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A7C20-BAC2-38E9-EDCD-F398C25A5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DABF-CD8B-45CC-982D-37DE43A87878}" type="datetimeFigureOut">
              <a:rPr lang="en-IN" smtClean="0"/>
              <a:t>01/05/25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E5C5A-C91C-7F05-23D0-3A93A24F5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17580-5E8C-6021-F7B4-AC3D430B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15F61-53EB-4B0F-BFC0-DCA4DF248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BE03D-CFB1-5510-91C7-C7B564337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DBC453-EAF9-33FC-0595-B54D5372BA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A828B-DCD6-C976-D8BE-F9490BAD9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152439-EF1F-58CA-66D8-D21E36F72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DABF-CD8B-45CC-982D-37DE43A87878}" type="datetimeFigureOut">
              <a:rPr lang="en-IN" smtClean="0"/>
              <a:t>01/05/25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E354D-5461-EB45-51A0-4DBB4F3C8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1CE18-1A2E-A9A1-19A4-15FDE3295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15F61-53EB-4B0F-BFC0-DCA4DF248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998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9FAEF-BA1F-84F4-6D1A-0FFF4C9E0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969D1-2210-0F56-6783-DE72CF3A9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DF10A-E3BB-4A8B-31F2-32C63AB7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DABF-CD8B-45CC-982D-37DE43A87878}" type="datetimeFigureOut">
              <a:rPr lang="en-IN" smtClean="0"/>
              <a:t>01/05/25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A0162-E12B-549E-6D46-ABD4F8577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DFC9D-52D7-5C70-D319-66F108428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15F61-53EB-4B0F-BFC0-DCA4DF248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831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EFB99-CC6F-7936-3431-B8E7B89F9C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93E8F-6C3B-0D3B-4C68-F66D2D3BF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C121E-FDCC-E4D2-72EF-C45BDF6B0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DABF-CD8B-45CC-982D-37DE43A87878}" type="datetimeFigureOut">
              <a:rPr lang="en-IN" smtClean="0"/>
              <a:t>01/05/25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04E97-16F3-6748-0859-AC346868A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03B4E-0A3A-B918-2AA3-CFABBCE6C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15F61-53EB-4B0F-BFC0-DCA4DF248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426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65F021-27ED-F217-6208-CD50CC911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25956-3959-3A6F-7865-5B77B69BE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932C2-B08B-9ED2-923D-2AF44AFC6B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0DABF-CD8B-45CC-982D-37DE43A87878}" type="datetimeFigureOut">
              <a:rPr lang="en-IN" smtClean="0"/>
              <a:t>01/05/25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8BC3D-B3E2-DA2D-5393-D29847F60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95167-2570-8584-7699-C79E7CB99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D15F61-53EB-4B0F-BFC0-DCA4DF248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969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vulnerabilities-in-information-security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558B-788B-1F5C-08AC-D923783F6B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MD5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3504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6C527D-45DA-E8E1-3AE0-24B241D00553}"/>
              </a:ext>
            </a:extLst>
          </p:cNvPr>
          <p:cNvSpPr txBox="1"/>
          <p:nvPr/>
        </p:nvSpPr>
        <p:spPr>
          <a:xfrm>
            <a:off x="590551" y="581025"/>
            <a:ext cx="1064895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dirty="0">
                <a:latin typeface="Generic68-Regular"/>
              </a:rPr>
              <a:t>MD-5 </a:t>
            </a:r>
            <a:r>
              <a:rPr lang="en-US" sz="3200" b="0" i="0" u="none" strike="noStrike" baseline="0" dirty="0">
                <a:latin typeface="Generic68-Regular"/>
              </a:rPr>
              <a:t>takes a message of length 512 bits blocks, and produces a message digest of size 128 bits. The input is divided into blocks of size 512 bits each.</a:t>
            </a:r>
          </a:p>
          <a:p>
            <a:pPr algn="l"/>
            <a:endParaRPr lang="en-US" sz="3200" dirty="0">
              <a:latin typeface="Generic68-Regular"/>
            </a:endParaRPr>
          </a:p>
          <a:p>
            <a:r>
              <a:rPr lang="en-US" sz="3200" dirty="0"/>
              <a:t>MD5 is still the most commonly used message digest for non-cryptographic functions, such as used as a </a:t>
            </a:r>
            <a:r>
              <a:rPr lang="en-US" sz="3200" b="1" dirty="0"/>
              <a:t>checksum to verify data integrity, compressing large files into smaller ones securely, etc.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39606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4F54-D489-4180-BC6A-FCA4A6EEC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alibri" panose="020F0502020204030204" pitchFamily="34" charset="0"/>
              </a:rPr>
              <a:t>MD5 Overview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" y="1437322"/>
            <a:ext cx="10942320" cy="526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75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04800" y="-297657"/>
            <a:ext cx="10515600" cy="1325563"/>
          </a:xfrm>
        </p:spPr>
        <p:txBody>
          <a:bodyPr/>
          <a:lstStyle/>
          <a:p>
            <a:r>
              <a:rPr lang="en-US" altLang="en-US" dirty="0">
                <a:latin typeface="Calibri" panose="020F0502020204030204" pitchFamily="34" charset="0"/>
              </a:rPr>
              <a:t>		Hash Algorithm Design </a:t>
            </a:r>
            <a:r>
              <a:rPr lang="en-US" altLang="en-US" dirty="0">
                <a:latin typeface="Times New Roman" panose="02020603050405020304" pitchFamily="18" charset="0"/>
              </a:rPr>
              <a:t>–</a:t>
            </a:r>
            <a:r>
              <a:rPr lang="en-US" altLang="en-US" dirty="0">
                <a:latin typeface="Calibri" panose="020F0502020204030204" pitchFamily="34" charset="0"/>
              </a:rPr>
              <a:t> MD5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299" y="753586"/>
            <a:ext cx="4848977" cy="562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4147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C800C9E1-48C4-6B94-DFD6-6E79A35D31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latin typeface="Calibri" panose="020F0502020204030204" pitchFamily="34" charset="0"/>
              </a:rPr>
              <a:t>		Hash Algorithm Design </a:t>
            </a:r>
            <a:r>
              <a:rPr lang="en-US" altLang="en-US" sz="3600" dirty="0">
                <a:latin typeface="Times New Roman" panose="02020603050405020304" pitchFamily="18" charset="0"/>
              </a:rPr>
              <a:t>–</a:t>
            </a:r>
            <a:r>
              <a:rPr lang="en-US" altLang="en-US" sz="3600" dirty="0">
                <a:latin typeface="Calibri" panose="020F0502020204030204" pitchFamily="34" charset="0"/>
              </a:rPr>
              <a:t> MD5</a:t>
            </a:r>
          </a:p>
        </p:txBody>
      </p:sp>
      <p:pic>
        <p:nvPicPr>
          <p:cNvPr id="59394" name="Picture 3">
            <a:extLst>
              <a:ext uri="{FF2B5EF4-FFF2-40B4-BE49-F238E27FC236}">
                <a16:creationId xmlns:a16="http://schemas.microsoft.com/office/drawing/2014/main" id="{0CBEB552-D1F2-2763-615B-3572DF667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265265"/>
            <a:ext cx="4953000" cy="330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5" name="Picture 4">
            <a:extLst>
              <a:ext uri="{FF2B5EF4-FFF2-40B4-BE49-F238E27FC236}">
                <a16:creationId xmlns:a16="http://schemas.microsoft.com/office/drawing/2014/main" id="{8A2A93D2-036D-3743-D444-D0AC343F3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524000"/>
            <a:ext cx="3886200" cy="487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</p:pic>
      <p:sp>
        <p:nvSpPr>
          <p:cNvPr id="59396" name="AutoShape 5">
            <a:extLst>
              <a:ext uri="{FF2B5EF4-FFF2-40B4-BE49-F238E27FC236}">
                <a16:creationId xmlns:a16="http://schemas.microsoft.com/office/drawing/2014/main" id="{B98C6610-BD5E-A772-AFE9-D750E4C28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295400"/>
            <a:ext cx="4724400" cy="53340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59397" name="AutoShape 6">
            <a:extLst>
              <a:ext uri="{FF2B5EF4-FFF2-40B4-BE49-F238E27FC236}">
                <a16:creationId xmlns:a16="http://schemas.microsoft.com/office/drawing/2014/main" id="{E823E367-2B4A-4069-F94D-EEC2D7A3C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2590800"/>
            <a:ext cx="685800" cy="685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59398" name="Line 7">
            <a:extLst>
              <a:ext uri="{FF2B5EF4-FFF2-40B4-BE49-F238E27FC236}">
                <a16:creationId xmlns:a16="http://schemas.microsoft.com/office/drawing/2014/main" id="{383AE7AB-BC10-863E-EC39-C2ECF7780A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2800" y="3200400"/>
            <a:ext cx="1524000" cy="228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399" name="AutoShape 8">
            <a:extLst>
              <a:ext uri="{FF2B5EF4-FFF2-40B4-BE49-F238E27FC236}">
                <a16:creationId xmlns:a16="http://schemas.microsoft.com/office/drawing/2014/main" id="{CB723F40-B4CB-E38B-53E0-8A312A63A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286000"/>
            <a:ext cx="1905000" cy="53340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00FF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</a:endParaRPr>
          </a:p>
        </p:txBody>
      </p:sp>
      <p:pic>
        <p:nvPicPr>
          <p:cNvPr id="59400" name="Picture 9">
            <a:extLst>
              <a:ext uri="{FF2B5EF4-FFF2-40B4-BE49-F238E27FC236}">
                <a16:creationId xmlns:a16="http://schemas.microsoft.com/office/drawing/2014/main" id="{6EDF20F1-7116-1177-0024-DA364ACCA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964" y="3844926"/>
            <a:ext cx="2713037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</p:pic>
      <p:sp>
        <p:nvSpPr>
          <p:cNvPr id="59401" name="AutoShape 10">
            <a:extLst>
              <a:ext uri="{FF2B5EF4-FFF2-40B4-BE49-F238E27FC236}">
                <a16:creationId xmlns:a16="http://schemas.microsoft.com/office/drawing/2014/main" id="{E9503866-016D-35CD-7E86-1BAC1D322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3657600"/>
            <a:ext cx="2743200" cy="3200400"/>
          </a:xfrm>
          <a:prstGeom prst="roundRect">
            <a:avLst>
              <a:gd name="adj" fmla="val 11319"/>
            </a:avLst>
          </a:prstGeom>
          <a:noFill/>
          <a:ln w="25400">
            <a:solidFill>
              <a:srgbClr val="00FF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59402" name="Line 11">
            <a:extLst>
              <a:ext uri="{FF2B5EF4-FFF2-40B4-BE49-F238E27FC236}">
                <a16:creationId xmlns:a16="http://schemas.microsoft.com/office/drawing/2014/main" id="{E1118BC4-BFEF-C31D-4041-C8E354E669E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819400"/>
            <a:ext cx="2362200" cy="11430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03" name="Text Box 12">
            <a:extLst>
              <a:ext uri="{FF2B5EF4-FFF2-40B4-BE49-F238E27FC236}">
                <a16:creationId xmlns:a16="http://schemas.microsoft.com/office/drawing/2014/main" id="{80BB5E6B-2D4F-7E80-6057-88BB454F0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9201" y="3625850"/>
            <a:ext cx="8731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16 steps</a:t>
            </a:r>
          </a:p>
        </p:txBody>
      </p:sp>
      <p:sp>
        <p:nvSpPr>
          <p:cNvPr id="59404" name="Text Box 13">
            <a:extLst>
              <a:ext uri="{FF2B5EF4-FFF2-40B4-BE49-F238E27FC236}">
                <a16:creationId xmlns:a16="http://schemas.microsoft.com/office/drawing/2014/main" id="{4BEBF935-40C3-1993-3B0E-452D74E46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334001"/>
            <a:ext cx="2127250" cy="276225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 type="none" w="sm" len="lg"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>
                <a:latin typeface="Calibri" panose="020F0502020204030204" pitchFamily="34" charset="0"/>
              </a:rPr>
              <a:t>Constructed from sine function</a:t>
            </a:r>
          </a:p>
        </p:txBody>
      </p:sp>
      <p:sp>
        <p:nvSpPr>
          <p:cNvPr id="59405" name="Line 14">
            <a:extLst>
              <a:ext uri="{FF2B5EF4-FFF2-40B4-BE49-F238E27FC236}">
                <a16:creationId xmlns:a16="http://schemas.microsoft.com/office/drawing/2014/main" id="{84140876-7958-DAA8-2F88-AA5600B761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5181600"/>
            <a:ext cx="3048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06" name="Freeform 15">
            <a:extLst>
              <a:ext uri="{FF2B5EF4-FFF2-40B4-BE49-F238E27FC236}">
                <a16:creationId xmlns:a16="http://schemas.microsoft.com/office/drawing/2014/main" id="{9460F61C-7DFC-DB5B-D9CB-428C26168F6A}"/>
              </a:ext>
            </a:extLst>
          </p:cNvPr>
          <p:cNvSpPr>
            <a:spLocks/>
          </p:cNvSpPr>
          <p:nvPr/>
        </p:nvSpPr>
        <p:spPr bwMode="auto">
          <a:xfrm>
            <a:off x="3429000" y="2514600"/>
            <a:ext cx="4495800" cy="2286000"/>
          </a:xfrm>
          <a:custGeom>
            <a:avLst/>
            <a:gdLst>
              <a:gd name="T0" fmla="*/ 0 w 2832"/>
              <a:gd name="T1" fmla="*/ 0 h 1440"/>
              <a:gd name="T2" fmla="*/ 2147483647 w 2832"/>
              <a:gd name="T3" fmla="*/ 2147483647 h 1440"/>
              <a:gd name="T4" fmla="*/ 2147483647 w 2832"/>
              <a:gd name="T5" fmla="*/ 2147483647 h 1440"/>
              <a:gd name="T6" fmla="*/ 0 60000 65536"/>
              <a:gd name="T7" fmla="*/ 0 60000 65536"/>
              <a:gd name="T8" fmla="*/ 0 60000 65536"/>
              <a:gd name="T9" fmla="*/ 0 w 2832"/>
              <a:gd name="T10" fmla="*/ 0 h 1440"/>
              <a:gd name="T11" fmla="*/ 2832 w 2832"/>
              <a:gd name="T12" fmla="*/ 1440 h 14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2" h="1440">
                <a:moveTo>
                  <a:pt x="0" y="0"/>
                </a:moveTo>
                <a:cubicBezTo>
                  <a:pt x="700" y="456"/>
                  <a:pt x="1400" y="912"/>
                  <a:pt x="1872" y="1152"/>
                </a:cubicBezTo>
                <a:cubicBezTo>
                  <a:pt x="2344" y="1392"/>
                  <a:pt x="2672" y="1392"/>
                  <a:pt x="2832" y="144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407" name="Text Box 16">
            <a:extLst>
              <a:ext uri="{FF2B5EF4-FFF2-40B4-BE49-F238E27FC236}">
                <a16:creationId xmlns:a16="http://schemas.microsoft.com/office/drawing/2014/main" id="{1F80878E-4951-9969-5140-19F0A4953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1" y="4267201"/>
            <a:ext cx="2282825" cy="276225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 type="none" w="sm" len="lg"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>
                <a:latin typeface="Calibri" panose="020F0502020204030204" pitchFamily="34" charset="0"/>
              </a:rPr>
              <a:t>X[k] = M [q*16+k] (32 bit)</a:t>
            </a:r>
          </a:p>
        </p:txBody>
      </p:sp>
      <p:pic>
        <p:nvPicPr>
          <p:cNvPr id="59408" name="Picture 17">
            <a:extLst>
              <a:ext uri="{FF2B5EF4-FFF2-40B4-BE49-F238E27FC236}">
                <a16:creationId xmlns:a16="http://schemas.microsoft.com/office/drawing/2014/main" id="{60A02297-48A8-99EF-5BAD-7C010F4FF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18" y="285750"/>
            <a:ext cx="1909763" cy="123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</p:pic>
      <p:sp>
        <p:nvSpPr>
          <p:cNvPr id="59409" name="Line 18">
            <a:extLst>
              <a:ext uri="{FF2B5EF4-FFF2-40B4-BE49-F238E27FC236}">
                <a16:creationId xmlns:a16="http://schemas.microsoft.com/office/drawing/2014/main" id="{73366AA5-B196-08FE-F54A-4FF74BF931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0046" y="1266826"/>
            <a:ext cx="7123036" cy="31083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6C527D-45DA-E8E1-3AE0-24B241D00553}"/>
              </a:ext>
            </a:extLst>
          </p:cNvPr>
          <p:cNvSpPr txBox="1"/>
          <p:nvPr/>
        </p:nvSpPr>
        <p:spPr>
          <a:xfrm>
            <a:off x="590551" y="581025"/>
            <a:ext cx="1064895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latin typeface="Generic68-Regular"/>
              </a:rPr>
              <a:t>Step 1: Padding</a:t>
            </a:r>
          </a:p>
          <a:p>
            <a:pPr algn="l"/>
            <a:endParaRPr lang="en-US" sz="3200" dirty="0">
              <a:latin typeface="Generic68-Regular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68-Regular"/>
              </a:rPr>
              <a:t>The first step in MD5 is to </a:t>
            </a:r>
            <a:r>
              <a:rPr lang="en-US" sz="2200" b="1" i="0" u="none" strike="noStrike" baseline="0" dirty="0">
                <a:latin typeface="Generic68-Regular"/>
              </a:rPr>
              <a:t>add padding bits to the original message</a:t>
            </a:r>
            <a:r>
              <a:rPr lang="en-US" sz="2200" b="0" i="0" u="none" strike="noStrike" baseline="0" dirty="0">
                <a:latin typeface="Generic68-Regular"/>
              </a:rPr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68-Regular"/>
              </a:rPr>
              <a:t>The aim of this step is to make the length of the original message equal to a value, which is 64 bits less than exact multiple of 512.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68-Regular"/>
              </a:rPr>
              <a:t>For example, if the length of the original message is 1000 bits, we add a padding of 472 bits to make the length of the message 1472 bits. This is because, if we add 64 to 1472, we get 1536, which is a multiple of 512 (because 1536 = 512 </a:t>
            </a:r>
            <a:r>
              <a:rPr lang="en-US" sz="2200" b="0" i="0" u="none" strike="noStrike" baseline="0" dirty="0">
                <a:latin typeface="Generic84-Regular"/>
              </a:rPr>
              <a:t>* </a:t>
            </a:r>
            <a:r>
              <a:rPr lang="en-US" sz="2200" b="0" i="0" u="none" strike="noStrike" baseline="0" dirty="0">
                <a:latin typeface="Generic68-Regular"/>
              </a:rPr>
              <a:t>3).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68-Regular"/>
              </a:rPr>
              <a:t>Thus, after padding, the original message will have a length of 448 bits (64 bits less than 512), 960 bits (64 bits less than 1024), 1472 bits (64 bits less than 1536), etc.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68-Regular"/>
              </a:rPr>
              <a:t>The padding consists of a single 1 bit, followed by as many 0 bits, as required.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latin typeface="Generic68-Regular"/>
              </a:rPr>
              <a:t>Note that padding is always added, even if the message length is already 64 bits less than a multiple of 512. Thus, if the message were already of a length of say 448 bits, we will add a padding of 512 bits to make its length 960 bits. 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6390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71B7B9-8628-5B40-2C42-4CE40044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33412"/>
            <a:ext cx="10906125" cy="647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481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6C527D-45DA-E8E1-3AE0-24B241D00553}"/>
              </a:ext>
            </a:extLst>
          </p:cNvPr>
          <p:cNvSpPr txBox="1"/>
          <p:nvPr/>
        </p:nvSpPr>
        <p:spPr>
          <a:xfrm>
            <a:off x="590551" y="581025"/>
            <a:ext cx="1064895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latin typeface="Generic68-Regular"/>
              </a:rPr>
              <a:t>Step 2: Append Length</a:t>
            </a:r>
          </a:p>
          <a:p>
            <a:pPr algn="l"/>
            <a:endParaRPr lang="en-US" sz="3200" dirty="0">
              <a:latin typeface="Generic68-Regular"/>
            </a:endParaRPr>
          </a:p>
          <a:p>
            <a:pPr algn="l"/>
            <a:r>
              <a:rPr lang="en-US" sz="2400" b="0" i="0" u="none" strike="noStrike" baseline="0" dirty="0">
                <a:latin typeface="Generic68-Regular"/>
              </a:rPr>
              <a:t>After padding bits are added, the next step is to calculate the original length of the message, and add it to the end of the message, after padding. </a:t>
            </a:r>
          </a:p>
          <a:p>
            <a:pPr algn="l"/>
            <a:endParaRPr lang="en-US" sz="2400" b="0" i="0" u="none" strike="noStrike" baseline="0" dirty="0">
              <a:latin typeface="Generic68-Regular"/>
            </a:endParaRPr>
          </a:p>
          <a:p>
            <a:pPr algn="l"/>
            <a:r>
              <a:rPr lang="en-US" sz="2400" b="0" i="0" u="none" strike="noStrike" baseline="0" dirty="0">
                <a:latin typeface="Generic68-Regular"/>
              </a:rPr>
              <a:t>The length of the message is calculated, excluding the padding bits (i.e. it is the length before the padding bits were added).</a:t>
            </a:r>
          </a:p>
          <a:p>
            <a:pPr algn="l"/>
            <a:endParaRPr lang="en-US" sz="2400" b="0" i="0" u="none" strike="noStrike" baseline="0" dirty="0">
              <a:latin typeface="Generic68-Regular"/>
            </a:endParaRPr>
          </a:p>
          <a:p>
            <a:pPr algn="l"/>
            <a:r>
              <a:rPr lang="en-US" sz="2400" b="0" i="0" u="none" strike="noStrike" baseline="0" dirty="0">
                <a:latin typeface="Generic68-Regular"/>
              </a:rPr>
              <a:t>This length of the original message is now expressed as a 64-bit value, and these 64 bits are appended to the end of the original message + padding. </a:t>
            </a:r>
          </a:p>
          <a:p>
            <a:pPr algn="l"/>
            <a:endParaRPr lang="en-US" sz="2400" dirty="0">
              <a:latin typeface="Generic68-Regular"/>
            </a:endParaRPr>
          </a:p>
          <a:p>
            <a:pPr algn="l"/>
            <a:r>
              <a:rPr lang="en-US" sz="2400" b="0" i="0" u="none" strike="noStrike" baseline="0" dirty="0">
                <a:latin typeface="Generic68-Regular"/>
              </a:rPr>
              <a:t>Note that if the length of the message exceeds 2^64 bits, we use only the low-order 64 bits of the length. That is, in effect, we calculate the length mod 2^64 in that case.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61519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6C527D-45DA-E8E1-3AE0-24B241D00553}"/>
              </a:ext>
            </a:extLst>
          </p:cNvPr>
          <p:cNvSpPr txBox="1"/>
          <p:nvPr/>
        </p:nvSpPr>
        <p:spPr>
          <a:xfrm>
            <a:off x="590551" y="581025"/>
            <a:ext cx="106489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latin typeface="Generic68-Regular"/>
              </a:rPr>
              <a:t>Step 1 and 2: Example</a:t>
            </a:r>
          </a:p>
          <a:p>
            <a:pPr algn="l"/>
            <a:endParaRPr lang="en-US" sz="3200" dirty="0">
              <a:latin typeface="Generic68-Regular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03200" y="1485970"/>
            <a:ext cx="10515600" cy="1500187"/>
          </a:xfrm>
        </p:spPr>
        <p:txBody>
          <a:bodyPr>
            <a:noAutofit/>
          </a:bodyPr>
          <a:lstStyle/>
          <a:p>
            <a:r>
              <a:rPr lang="en-IN" sz="2800" b="1" dirty="0"/>
              <a:t>Consider the plain text “</a:t>
            </a:r>
            <a:r>
              <a:rPr lang="en-IN" sz="2800" b="1" dirty="0" err="1"/>
              <a:t>abc</a:t>
            </a:r>
            <a:r>
              <a:rPr lang="en-IN" sz="2800" b="1" dirty="0"/>
              <a:t>”</a:t>
            </a:r>
          </a:p>
          <a:p>
            <a:r>
              <a:rPr lang="en-IN" sz="2800" dirty="0"/>
              <a:t>In 8 bit ASCII , 01100001 01100010 01100011</a:t>
            </a:r>
          </a:p>
          <a:p>
            <a:r>
              <a:rPr lang="en-IN" sz="2800" b="1" dirty="0"/>
              <a:t>Append padding bits</a:t>
            </a:r>
          </a:p>
          <a:p>
            <a:r>
              <a:rPr lang="en-IN" sz="2800" dirty="0"/>
              <a:t>M+P+64= 0 mod 512</a:t>
            </a:r>
          </a:p>
          <a:p>
            <a:r>
              <a:rPr lang="en-IN" sz="2800" dirty="0"/>
              <a:t>P=(-64-24) mod 512</a:t>
            </a:r>
          </a:p>
          <a:p>
            <a:r>
              <a:rPr lang="en-IN" sz="2800" dirty="0"/>
              <a:t>=424 mod 512</a:t>
            </a:r>
          </a:p>
          <a:p>
            <a:r>
              <a:rPr lang="en-IN" sz="2800" b="1" dirty="0"/>
              <a:t>Append length bits</a:t>
            </a:r>
          </a:p>
          <a:p>
            <a:r>
              <a:rPr lang="en-IN" sz="2800" dirty="0"/>
              <a:t>24-&gt; 00011000</a:t>
            </a:r>
          </a:p>
          <a:p>
            <a:r>
              <a:rPr lang="en-IN" sz="2800" dirty="0"/>
              <a:t>512 bit block of “</a:t>
            </a:r>
            <a:r>
              <a:rPr lang="en-IN" sz="2800" dirty="0" err="1"/>
              <a:t>abc</a:t>
            </a:r>
            <a:r>
              <a:rPr lang="en-IN" sz="2800" dirty="0"/>
              <a:t>”</a:t>
            </a:r>
          </a:p>
          <a:p>
            <a:r>
              <a:rPr lang="en-IN" sz="2800" dirty="0">
                <a:solidFill>
                  <a:srgbClr val="FF0000"/>
                </a:solidFill>
              </a:rPr>
              <a:t>01100001 01100010 01100011    </a:t>
            </a:r>
            <a:r>
              <a:rPr lang="en-IN" sz="2800" b="1" dirty="0">
                <a:solidFill>
                  <a:srgbClr val="92D050"/>
                </a:solidFill>
              </a:rPr>
              <a:t>1000….00    </a:t>
            </a:r>
            <a:r>
              <a:rPr lang="en-IN" sz="2800" dirty="0">
                <a:solidFill>
                  <a:srgbClr val="002060"/>
                </a:solidFill>
              </a:rPr>
              <a:t> 000000…11000</a:t>
            </a:r>
          </a:p>
        </p:txBody>
      </p:sp>
    </p:spTree>
    <p:extLst>
      <p:ext uri="{BB962C8B-B14F-4D97-AF65-F5344CB8AC3E}">
        <p14:creationId xmlns:p14="http://schemas.microsoft.com/office/powerpoint/2010/main" val="421754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16063C-FEA9-7C6C-2253-876E3CAE6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76" y="471923"/>
            <a:ext cx="8348662" cy="604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266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6C527D-45DA-E8E1-3AE0-24B241D00553}"/>
              </a:ext>
            </a:extLst>
          </p:cNvPr>
          <p:cNvSpPr txBox="1"/>
          <p:nvPr/>
        </p:nvSpPr>
        <p:spPr>
          <a:xfrm>
            <a:off x="590551" y="581025"/>
            <a:ext cx="1064895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latin typeface="Generic68-Regular"/>
              </a:rPr>
              <a:t>Step 3: </a:t>
            </a:r>
            <a:r>
              <a:rPr lang="en-US" sz="3200" b="1" i="0" u="none" strike="noStrike" baseline="0" dirty="0">
                <a:latin typeface="Generic87-Regular"/>
              </a:rPr>
              <a:t>Divide the Input into 512-bit Blocks</a:t>
            </a:r>
          </a:p>
          <a:p>
            <a:pPr algn="l"/>
            <a:endParaRPr lang="en-US" sz="2400" b="0" i="0" u="none" strike="noStrike" baseline="0" dirty="0">
              <a:latin typeface="Generic87-Regular"/>
            </a:endParaRPr>
          </a:p>
          <a:p>
            <a:pPr algn="l"/>
            <a:r>
              <a:rPr lang="en-US" sz="2400" b="0" i="0" u="none" strike="noStrike" baseline="0" dirty="0">
                <a:latin typeface="Generic68-Regular"/>
              </a:rPr>
              <a:t>The input message is now divided into blocks, each of length 512 bits. These blocks become the input to the message-digest processing logic.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83931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E5DA8E-97B1-BD7A-E89F-436853B74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00" y="1133476"/>
            <a:ext cx="10806900" cy="306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723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6C527D-45DA-E8E1-3AE0-24B241D00553}"/>
              </a:ext>
            </a:extLst>
          </p:cNvPr>
          <p:cNvSpPr txBox="1"/>
          <p:nvPr/>
        </p:nvSpPr>
        <p:spPr>
          <a:xfrm>
            <a:off x="590551" y="581025"/>
            <a:ext cx="106489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latin typeface="Generic68-Regular"/>
              </a:rPr>
              <a:t>Step 4: </a:t>
            </a:r>
            <a:r>
              <a:rPr lang="en-IN" sz="3200" b="1" i="0" u="none" strike="noStrike" baseline="0" dirty="0">
                <a:latin typeface="Generic87-Regular"/>
              </a:rPr>
              <a:t>Initialize Chaining Variables</a:t>
            </a:r>
          </a:p>
          <a:p>
            <a:pPr algn="l"/>
            <a:endParaRPr lang="en-IN" sz="3200" b="1" i="0" u="none" strike="noStrike" baseline="0" dirty="0">
              <a:latin typeface="Generic87-Regular"/>
            </a:endParaRPr>
          </a:p>
          <a:p>
            <a:pPr algn="l"/>
            <a:r>
              <a:rPr lang="en-US" sz="2400" b="0" i="0" u="none" strike="noStrike" baseline="0" dirty="0">
                <a:latin typeface="Generic68-Regular"/>
              </a:rPr>
              <a:t>Now, four </a:t>
            </a:r>
            <a:r>
              <a:rPr lang="en-US" sz="2400" b="0" i="0" u="none" strike="noStrike" baseline="0" dirty="0">
                <a:latin typeface="Generic72-Regular"/>
              </a:rPr>
              <a:t>chaining variables</a:t>
            </a:r>
            <a:r>
              <a:rPr lang="en-US" sz="2400" b="0" i="0" u="none" strike="noStrike" baseline="0" dirty="0">
                <a:latin typeface="Generic68-Regular"/>
              </a:rPr>
              <a:t>, a through </a:t>
            </a:r>
            <a:r>
              <a:rPr lang="en-US" sz="2400" b="0" i="0" u="none" strike="noStrike" baseline="0" dirty="0">
                <a:latin typeface="Generic72-Regular"/>
              </a:rPr>
              <a:t>d</a:t>
            </a:r>
            <a:r>
              <a:rPr lang="en-US" sz="2400" b="0" i="0" u="none" strike="noStrike" baseline="0" dirty="0">
                <a:latin typeface="Generic68-Regular"/>
              </a:rPr>
              <a:t>, are initialized. They are called </a:t>
            </a:r>
            <a:r>
              <a:rPr lang="en-US" sz="2400" b="0" i="0" u="none" strike="noStrike" baseline="0" dirty="0">
                <a:latin typeface="Generic72-Regular"/>
              </a:rPr>
              <a:t>A</a:t>
            </a:r>
            <a:r>
              <a:rPr lang="en-US" sz="2400" b="0" i="0" u="none" strike="noStrike" baseline="0" dirty="0">
                <a:latin typeface="Generic68-Regular"/>
              </a:rPr>
              <a:t>, </a:t>
            </a:r>
            <a:r>
              <a:rPr lang="en-US" sz="2400" b="0" i="0" u="none" strike="noStrike" baseline="0" dirty="0">
                <a:latin typeface="Generic72-Regular"/>
              </a:rPr>
              <a:t>B</a:t>
            </a:r>
            <a:r>
              <a:rPr lang="en-US" sz="2400" b="0" i="0" u="none" strike="noStrike" baseline="0" dirty="0">
                <a:latin typeface="Generic68-Regular"/>
              </a:rPr>
              <a:t>, </a:t>
            </a:r>
            <a:r>
              <a:rPr lang="en-US" sz="2400" b="0" i="0" u="none" strike="noStrike" baseline="0" dirty="0">
                <a:latin typeface="Generic72-Regular"/>
              </a:rPr>
              <a:t>C </a:t>
            </a:r>
            <a:r>
              <a:rPr lang="en-US" sz="2400" b="0" i="0" u="none" strike="noStrike" baseline="0" dirty="0">
                <a:latin typeface="Generic68-Regular"/>
              </a:rPr>
              <a:t>and </a:t>
            </a:r>
            <a:r>
              <a:rPr lang="en-US" sz="2400" b="0" i="0" u="none" strike="noStrike" baseline="0" dirty="0">
                <a:latin typeface="Generic72-Regular"/>
              </a:rPr>
              <a:t>D</a:t>
            </a:r>
            <a:r>
              <a:rPr lang="en-US" sz="2400" b="0" i="0" u="none" strike="noStrike" baseline="0" dirty="0">
                <a:latin typeface="Generic68-Regular"/>
              </a:rPr>
              <a:t>. Each of these is a 32-bit number.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1D07E6-EC53-4EA8-1711-0C40AC767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537" y="3009900"/>
            <a:ext cx="9536137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22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DC4F48-B9C0-91F2-857E-EA90E4DB5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240" y="2867755"/>
            <a:ext cx="7384285" cy="35742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CCF943-E8B4-A2EE-BAEF-C289D11DF098}"/>
              </a:ext>
            </a:extLst>
          </p:cNvPr>
          <p:cNvSpPr txBox="1"/>
          <p:nvPr/>
        </p:nvSpPr>
        <p:spPr>
          <a:xfrm>
            <a:off x="590551" y="581025"/>
            <a:ext cx="1064895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latin typeface="Generic68-Regular"/>
              </a:rPr>
              <a:t>Step 5: </a:t>
            </a:r>
            <a:r>
              <a:rPr lang="en-IN" sz="3200" b="1" i="0" u="none" strike="noStrike" baseline="0" dirty="0">
                <a:latin typeface="Generic87-Regular"/>
              </a:rPr>
              <a:t>Process Blocks</a:t>
            </a:r>
          </a:p>
          <a:p>
            <a:pPr algn="l"/>
            <a:endParaRPr lang="en-IN" sz="3200" b="1" i="0" u="none" strike="noStrike" baseline="0" dirty="0">
              <a:latin typeface="Generic87-Regular"/>
            </a:endParaRPr>
          </a:p>
          <a:p>
            <a:pPr algn="l"/>
            <a:r>
              <a:rPr lang="en-US" sz="2400" b="1" i="0" u="none" strike="noStrike" baseline="0" dirty="0">
                <a:latin typeface="Generic67-Regular"/>
              </a:rPr>
              <a:t>Step 5.1 </a:t>
            </a:r>
            <a:r>
              <a:rPr lang="en-US" sz="2400" b="0" i="0" u="none" strike="noStrike" baseline="0" dirty="0">
                <a:latin typeface="Generic68-Regular"/>
              </a:rPr>
              <a:t>Copy the chaining variables </a:t>
            </a:r>
            <a:r>
              <a:rPr lang="en-US" sz="2400" b="0" i="0" u="none" strike="noStrike" baseline="0" dirty="0">
                <a:latin typeface="Generic72-Regular"/>
              </a:rPr>
              <a:t>A</a:t>
            </a:r>
            <a:r>
              <a:rPr lang="en-US" sz="2400" b="0" i="0" u="none" strike="noStrike" baseline="0" dirty="0">
                <a:latin typeface="Generic68-Regular"/>
              </a:rPr>
              <a:t>-</a:t>
            </a:r>
            <a:r>
              <a:rPr lang="en-US" sz="2400" b="0" i="0" u="none" strike="noStrike" baseline="0" dirty="0">
                <a:latin typeface="Generic72-Regular"/>
              </a:rPr>
              <a:t>D </a:t>
            </a:r>
            <a:r>
              <a:rPr lang="en-US" sz="2400" b="0" i="0" u="none" strike="noStrike" baseline="0" dirty="0">
                <a:latin typeface="Generic68-Regular"/>
              </a:rPr>
              <a:t>into variables </a:t>
            </a:r>
            <a:r>
              <a:rPr lang="en-US" sz="2400" b="0" i="0" u="none" strike="noStrike" baseline="0" dirty="0">
                <a:latin typeface="Generic72-Regular"/>
              </a:rPr>
              <a:t>a</a:t>
            </a:r>
            <a:r>
              <a:rPr lang="en-US" sz="2400" b="0" i="0" u="none" strike="noStrike" baseline="0" dirty="0">
                <a:latin typeface="Generic68-Regular"/>
              </a:rPr>
              <a:t>-</a:t>
            </a:r>
            <a:r>
              <a:rPr lang="en-US" sz="2400" b="0" i="0" u="none" strike="noStrike" baseline="0" dirty="0">
                <a:latin typeface="Generic72-Regular"/>
              </a:rPr>
              <a:t>d</a:t>
            </a:r>
            <a:r>
              <a:rPr lang="en-US" sz="2400" b="0" i="0" u="none" strike="noStrike" baseline="0" dirty="0">
                <a:latin typeface="Generic68-Regular"/>
              </a:rPr>
              <a:t>. The combination of </a:t>
            </a:r>
            <a:r>
              <a:rPr lang="en-US" sz="2400" b="0" i="0" u="none" strike="noStrike" baseline="0" dirty="0">
                <a:latin typeface="Generic72-Regular"/>
              </a:rPr>
              <a:t>a</a:t>
            </a:r>
            <a:r>
              <a:rPr lang="en-US" sz="2400" b="0" i="0" u="none" strike="noStrike" baseline="0" dirty="0">
                <a:latin typeface="Generic68-Regular"/>
              </a:rPr>
              <a:t>-</a:t>
            </a:r>
            <a:r>
              <a:rPr lang="en-US" sz="2400" b="0" i="0" u="none" strike="noStrike" baseline="0" dirty="0">
                <a:latin typeface="Generic72-Regular"/>
              </a:rPr>
              <a:t>d</a:t>
            </a:r>
            <a:r>
              <a:rPr lang="en-US" sz="2400" b="0" i="0" u="none" strike="noStrike" baseline="0" dirty="0">
                <a:latin typeface="Generic68-Regular"/>
              </a:rPr>
              <a:t>, called </a:t>
            </a:r>
            <a:r>
              <a:rPr lang="en-US" sz="2400" b="0" i="0" u="none" strike="noStrike" baseline="0" dirty="0" err="1">
                <a:latin typeface="Generic72-Regular"/>
              </a:rPr>
              <a:t>abcd</a:t>
            </a:r>
            <a:r>
              <a:rPr lang="en-US" sz="2400" b="0" i="0" u="none" strike="noStrike" baseline="0" dirty="0">
                <a:latin typeface="Generic68-Regular"/>
              </a:rPr>
              <a:t>, will be considered as a single register for storing the temporary intermediate as well as the final results.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27909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CCF943-E8B4-A2EE-BAEF-C289D11DF098}"/>
              </a:ext>
            </a:extLst>
          </p:cNvPr>
          <p:cNvSpPr txBox="1"/>
          <p:nvPr/>
        </p:nvSpPr>
        <p:spPr>
          <a:xfrm>
            <a:off x="590551" y="581025"/>
            <a:ext cx="106489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latin typeface="Generic68-Regular"/>
              </a:rPr>
              <a:t>Step 5: </a:t>
            </a:r>
            <a:r>
              <a:rPr lang="en-IN" sz="3200" b="1" i="0" u="none" strike="noStrike" baseline="0" dirty="0">
                <a:latin typeface="Generic87-Regular"/>
              </a:rPr>
              <a:t>Process Blocks</a:t>
            </a:r>
          </a:p>
          <a:p>
            <a:pPr algn="l"/>
            <a:endParaRPr lang="en-IN" sz="3200" b="1" i="0" u="none" strike="noStrike" baseline="0" dirty="0">
              <a:latin typeface="Generic87-Regular"/>
            </a:endParaRPr>
          </a:p>
          <a:p>
            <a:pPr algn="l"/>
            <a:r>
              <a:rPr lang="en-US" sz="2400" b="1" i="0" u="none" strike="noStrike" baseline="0" dirty="0">
                <a:latin typeface="Generic67-Regular"/>
              </a:rPr>
              <a:t>Step 5.2 </a:t>
            </a:r>
            <a:r>
              <a:rPr lang="en-US" sz="2400" b="0" i="0" u="none" strike="noStrike" baseline="0" dirty="0">
                <a:latin typeface="Generic68-Regular"/>
              </a:rPr>
              <a:t>Now, divide the current 512-bit block into 16 sub-blocks, each consisting of 32 bits.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660A78-0D61-C3DF-90AA-470104B61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199" y="2911257"/>
            <a:ext cx="9455893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747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CCF943-E8B4-A2EE-BAEF-C289D11DF098}"/>
              </a:ext>
            </a:extLst>
          </p:cNvPr>
          <p:cNvSpPr txBox="1"/>
          <p:nvPr/>
        </p:nvSpPr>
        <p:spPr>
          <a:xfrm>
            <a:off x="590551" y="581025"/>
            <a:ext cx="1064895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latin typeface="Generic68-Regular"/>
              </a:rPr>
              <a:t>Step 5: </a:t>
            </a:r>
            <a:r>
              <a:rPr lang="en-IN" sz="3200" b="1" i="0" u="none" strike="noStrike" baseline="0" dirty="0">
                <a:latin typeface="Generic87-Regular"/>
              </a:rPr>
              <a:t>Process Blocks</a:t>
            </a:r>
          </a:p>
          <a:p>
            <a:pPr algn="l"/>
            <a:endParaRPr lang="en-IN" sz="3200" b="1" i="0" u="none" strike="noStrike" baseline="0" dirty="0">
              <a:latin typeface="Generic87-Regular"/>
            </a:endParaRPr>
          </a:p>
          <a:p>
            <a:pPr algn="l"/>
            <a:r>
              <a:rPr lang="en-US" sz="2400" b="1" i="0" u="none" strike="noStrike" baseline="0" dirty="0">
                <a:latin typeface="Generic67-Regular"/>
              </a:rPr>
              <a:t>Step 5.3 </a:t>
            </a:r>
            <a:r>
              <a:rPr lang="en-US" sz="2400" b="0" i="0" u="none" strike="noStrike" baseline="0" dirty="0">
                <a:latin typeface="Generic68-Regular"/>
              </a:rPr>
              <a:t>Now, we have four </a:t>
            </a:r>
            <a:r>
              <a:rPr lang="en-US" sz="2400" b="0" i="0" u="none" strike="noStrike" baseline="0" dirty="0">
                <a:latin typeface="Generic72-Regular"/>
              </a:rPr>
              <a:t>rounds</a:t>
            </a:r>
            <a:r>
              <a:rPr lang="en-US" sz="2400" b="0" i="0" u="none" strike="noStrike" baseline="0" dirty="0">
                <a:latin typeface="Generic68-Regular"/>
              </a:rPr>
              <a:t>. In each round, we process all the 16 sub-blocks belonging to a block. The inputs to each round are (a) all the 16 sub-blocks, (b) the variables </a:t>
            </a:r>
            <a:r>
              <a:rPr lang="en-US" sz="2400" b="0" i="0" u="none" strike="noStrike" baseline="0" dirty="0">
                <a:latin typeface="Generic72-Regular"/>
              </a:rPr>
              <a:t>a</a:t>
            </a:r>
            <a:r>
              <a:rPr lang="en-US" sz="2400" b="0" i="0" u="none" strike="noStrike" baseline="0" dirty="0">
                <a:latin typeface="Generic68-Regular"/>
              </a:rPr>
              <a:t>, </a:t>
            </a:r>
            <a:r>
              <a:rPr lang="en-US" sz="2400" b="0" i="0" u="none" strike="noStrike" baseline="0" dirty="0">
                <a:latin typeface="Generic72-Regular"/>
              </a:rPr>
              <a:t>b</a:t>
            </a:r>
            <a:r>
              <a:rPr lang="en-US" sz="2400" b="0" i="0" u="none" strike="noStrike" baseline="0" dirty="0">
                <a:latin typeface="Generic68-Regular"/>
              </a:rPr>
              <a:t>, </a:t>
            </a:r>
            <a:r>
              <a:rPr lang="en-US" sz="2400" b="0" i="0" u="none" strike="noStrike" baseline="0" dirty="0">
                <a:latin typeface="Generic72-Regular"/>
              </a:rPr>
              <a:t>c</a:t>
            </a:r>
            <a:r>
              <a:rPr lang="en-US" sz="2400" b="0" i="0" u="none" strike="noStrike" baseline="0" dirty="0">
                <a:latin typeface="Generic68-Regular"/>
              </a:rPr>
              <a:t>, </a:t>
            </a:r>
            <a:r>
              <a:rPr lang="en-US" sz="2400" b="0" i="0" u="none" strike="noStrike" baseline="0" dirty="0">
                <a:latin typeface="Generic72-Regular"/>
              </a:rPr>
              <a:t>d</a:t>
            </a:r>
            <a:r>
              <a:rPr lang="en-US" sz="2400" b="0" i="0" u="none" strike="noStrike" baseline="0" dirty="0">
                <a:latin typeface="Generic68-Regular"/>
              </a:rPr>
              <a:t>, and (</a:t>
            </a:r>
            <a:r>
              <a:rPr lang="en-US" sz="2400" b="0" i="0" u="none" strike="noStrike" baseline="0" dirty="0">
                <a:latin typeface="Generic72-Regular"/>
              </a:rPr>
              <a:t>c</a:t>
            </a:r>
            <a:r>
              <a:rPr lang="en-US" sz="2400" b="0" i="0" u="none" strike="noStrike" baseline="0" dirty="0">
                <a:latin typeface="Generic68-Regular"/>
              </a:rPr>
              <a:t>) some </a:t>
            </a:r>
            <a:r>
              <a:rPr lang="en-IN" sz="2400" b="0" i="0" u="none" strike="noStrike" baseline="0" dirty="0">
                <a:latin typeface="Generic68-Regular"/>
              </a:rPr>
              <a:t>constants, designated as </a:t>
            </a:r>
            <a:r>
              <a:rPr lang="en-IN" sz="2400" b="0" i="0" u="none" strike="noStrike" baseline="0" dirty="0">
                <a:latin typeface="Generic72-Regular"/>
              </a:rPr>
              <a:t>t</a:t>
            </a:r>
            <a:r>
              <a:rPr lang="en-IN" sz="2400" b="0" i="0" u="none" strike="noStrike" baseline="0" dirty="0">
                <a:latin typeface="Generic68-Regular"/>
              </a:rPr>
              <a:t>.</a:t>
            </a: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9BAD6D-8E4D-816A-7AED-9A52C9823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606" y="2928937"/>
            <a:ext cx="7236895" cy="343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141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CCF943-E8B4-A2EE-BAEF-C289D11DF098}"/>
              </a:ext>
            </a:extLst>
          </p:cNvPr>
          <p:cNvSpPr txBox="1"/>
          <p:nvPr/>
        </p:nvSpPr>
        <p:spPr>
          <a:xfrm>
            <a:off x="361951" y="0"/>
            <a:ext cx="1064895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latin typeface="Generic68-Regular"/>
              </a:rPr>
              <a:t>Step 5: </a:t>
            </a:r>
            <a:r>
              <a:rPr lang="en-IN" sz="3200" b="1" i="0" u="none" strike="noStrike" baseline="0" dirty="0">
                <a:latin typeface="Generic87-Regular"/>
              </a:rPr>
              <a:t>Process Blocks</a:t>
            </a:r>
          </a:p>
          <a:p>
            <a:pPr algn="l"/>
            <a:endParaRPr lang="en-IN" sz="3200" b="1" i="0" u="none" strike="noStrike" baseline="0" dirty="0">
              <a:latin typeface="Generic87-Regular"/>
            </a:endParaRPr>
          </a:p>
          <a:p>
            <a:pPr algn="l"/>
            <a:r>
              <a:rPr lang="en-US" sz="2400" b="0" i="0" u="none" strike="noStrike" baseline="0" dirty="0">
                <a:latin typeface="Generic68-Regular"/>
              </a:rPr>
              <a:t>In each round, we have 16 input sub-blocks, named </a:t>
            </a:r>
            <a:r>
              <a:rPr lang="en-US" sz="2400" b="0" i="0" u="none" strike="noStrike" baseline="0" dirty="0">
                <a:latin typeface="Generic72-Regular"/>
              </a:rPr>
              <a:t>M</a:t>
            </a:r>
            <a:r>
              <a:rPr lang="en-US" sz="2400" b="0" i="0" u="none" strike="noStrike" baseline="0" dirty="0">
                <a:latin typeface="Generic68-Regular"/>
              </a:rPr>
              <a:t>[0], </a:t>
            </a:r>
            <a:r>
              <a:rPr lang="en-US" sz="2400" b="0" i="0" u="none" strike="noStrike" baseline="0" dirty="0">
                <a:latin typeface="Generic72-Regular"/>
              </a:rPr>
              <a:t>M</a:t>
            </a:r>
            <a:r>
              <a:rPr lang="en-US" sz="2400" b="0" i="0" u="none" strike="noStrike" baseline="0" dirty="0">
                <a:latin typeface="Generic68-Regular"/>
              </a:rPr>
              <a:t>[1], …, </a:t>
            </a:r>
            <a:r>
              <a:rPr lang="en-US" sz="2400" b="0" i="0" u="none" strike="noStrike" baseline="0" dirty="0">
                <a:latin typeface="Generic72-Regular"/>
              </a:rPr>
              <a:t>M</a:t>
            </a:r>
            <a:r>
              <a:rPr lang="en-US" sz="2400" b="0" i="0" u="none" strike="noStrike" baseline="0" dirty="0">
                <a:latin typeface="Generic68-Regular"/>
              </a:rPr>
              <a:t>[15], or in general, </a:t>
            </a:r>
            <a:r>
              <a:rPr lang="en-US" sz="2400" b="0" i="0" u="none" strike="noStrike" baseline="0" dirty="0">
                <a:latin typeface="Generic72-Regular"/>
              </a:rPr>
              <a:t>M</a:t>
            </a:r>
            <a:r>
              <a:rPr lang="en-US" sz="2400" b="0" i="0" u="none" strike="noStrike" baseline="0" dirty="0">
                <a:latin typeface="Generic68-Regular"/>
              </a:rPr>
              <a:t>[</a:t>
            </a:r>
            <a:r>
              <a:rPr lang="en-US" sz="2400" b="0" i="0" u="none" strike="noStrike" baseline="0" dirty="0" err="1">
                <a:latin typeface="Generic72-Regular"/>
              </a:rPr>
              <a:t>i</a:t>
            </a:r>
            <a:r>
              <a:rPr lang="en-US" sz="2400" b="0" i="0" u="none" strike="noStrike" baseline="0" dirty="0">
                <a:latin typeface="Generic68-Regular"/>
              </a:rPr>
              <a:t>], where </a:t>
            </a:r>
            <a:r>
              <a:rPr lang="en-US" sz="2400" b="0" i="0" u="none" strike="noStrike" baseline="0" dirty="0" err="1">
                <a:latin typeface="Generic72-Regular"/>
              </a:rPr>
              <a:t>i</a:t>
            </a:r>
            <a:r>
              <a:rPr lang="en-US" sz="2400" b="0" i="0" u="none" strike="noStrike" baseline="0" dirty="0">
                <a:latin typeface="Generic72-Regular"/>
              </a:rPr>
              <a:t> </a:t>
            </a:r>
            <a:r>
              <a:rPr lang="en-US" sz="2400" b="0" i="0" u="none" strike="noStrike" baseline="0" dirty="0">
                <a:latin typeface="Generic68-Regular"/>
              </a:rPr>
              <a:t>varies from 1 to 15. As we know, each sub-block consists of 32 bits.</a:t>
            </a:r>
          </a:p>
          <a:p>
            <a:pPr algn="l"/>
            <a:endParaRPr lang="en-US" sz="2400" b="0" i="0" u="none" strike="noStrike" baseline="0" dirty="0">
              <a:latin typeface="Generic68-Regular"/>
            </a:endParaRPr>
          </a:p>
          <a:p>
            <a:pPr algn="l"/>
            <a:r>
              <a:rPr lang="en-US" sz="2400" b="0" i="0" u="none" strike="noStrike" baseline="0" dirty="0">
                <a:latin typeface="Generic73-Regular"/>
              </a:rPr>
              <a:t>● </a:t>
            </a:r>
            <a:r>
              <a:rPr lang="en-US" sz="2400" b="0" i="0" u="none" strike="noStrike" baseline="0" dirty="0">
                <a:latin typeface="Generic68-Regular"/>
              </a:rPr>
              <a:t>Also, </a:t>
            </a:r>
            <a:r>
              <a:rPr lang="en-US" sz="2400" b="0" i="0" u="none" strike="noStrike" baseline="0" dirty="0">
                <a:latin typeface="Generic72-Regular"/>
              </a:rPr>
              <a:t>t </a:t>
            </a:r>
            <a:r>
              <a:rPr lang="en-US" sz="2400" b="0" i="0" u="none" strike="noStrike" baseline="0" dirty="0">
                <a:latin typeface="Generic68-Regular"/>
              </a:rPr>
              <a:t>is an array of constants. It contains 64 elements, with each element consisting of 32 bits. We denote the elements of this array </a:t>
            </a:r>
            <a:r>
              <a:rPr lang="en-US" sz="2400" b="0" i="0" u="none" strike="noStrike" baseline="0" dirty="0">
                <a:latin typeface="Generic72-Regular"/>
              </a:rPr>
              <a:t>t </a:t>
            </a:r>
            <a:r>
              <a:rPr lang="en-US" sz="2400" b="0" i="0" u="none" strike="noStrike" baseline="0" dirty="0">
                <a:latin typeface="Generic68-Regular"/>
              </a:rPr>
              <a:t>as </a:t>
            </a:r>
            <a:r>
              <a:rPr lang="en-US" sz="2400" b="0" i="0" u="none" strike="noStrike" baseline="0" dirty="0">
                <a:latin typeface="Generic72-Regular"/>
              </a:rPr>
              <a:t>t</a:t>
            </a:r>
            <a:r>
              <a:rPr lang="en-US" sz="2400" b="0" i="0" u="none" strike="noStrike" baseline="0" dirty="0">
                <a:latin typeface="Generic68-Regular"/>
              </a:rPr>
              <a:t>[1], </a:t>
            </a:r>
            <a:r>
              <a:rPr lang="en-US" sz="2400" b="0" i="0" u="none" strike="noStrike" baseline="0" dirty="0">
                <a:latin typeface="Generic72-Regular"/>
              </a:rPr>
              <a:t>t</a:t>
            </a:r>
            <a:r>
              <a:rPr lang="en-US" sz="2400" b="0" i="0" u="none" strike="noStrike" baseline="0" dirty="0">
                <a:latin typeface="Generic68-Regular"/>
              </a:rPr>
              <a:t>[2], … </a:t>
            </a:r>
            <a:r>
              <a:rPr lang="en-US" sz="2400" b="0" i="0" u="none" strike="noStrike" baseline="0" dirty="0">
                <a:latin typeface="Generic72-Regular"/>
              </a:rPr>
              <a:t>t</a:t>
            </a:r>
            <a:r>
              <a:rPr lang="en-US" sz="2400" b="0" i="0" u="none" strike="noStrike" baseline="0" dirty="0">
                <a:latin typeface="Generic68-Regular"/>
              </a:rPr>
              <a:t>[64], or in general as </a:t>
            </a:r>
            <a:r>
              <a:rPr lang="en-US" sz="2400" b="0" i="0" u="none" strike="noStrike" baseline="0" dirty="0">
                <a:latin typeface="Generic72-Regular"/>
              </a:rPr>
              <a:t>t</a:t>
            </a:r>
            <a:r>
              <a:rPr lang="en-US" sz="2400" b="0" i="0" u="none" strike="noStrike" baseline="0" dirty="0">
                <a:latin typeface="Generic68-Regular"/>
              </a:rPr>
              <a:t>[</a:t>
            </a:r>
            <a:r>
              <a:rPr lang="en-US" sz="2400" b="0" i="0" u="none" strike="noStrike" baseline="0" dirty="0">
                <a:latin typeface="Generic72-Regular"/>
              </a:rPr>
              <a:t>k</a:t>
            </a:r>
            <a:r>
              <a:rPr lang="en-US" sz="2400" b="0" i="0" u="none" strike="noStrike" baseline="0" dirty="0">
                <a:latin typeface="Generic68-Regular"/>
              </a:rPr>
              <a:t>], where </a:t>
            </a:r>
            <a:r>
              <a:rPr lang="en-US" sz="2400" b="0" i="0" u="none" strike="noStrike" baseline="0" dirty="0">
                <a:latin typeface="Generic72-Regular"/>
              </a:rPr>
              <a:t>k </a:t>
            </a:r>
            <a:r>
              <a:rPr lang="en-US" sz="2400" b="0" i="0" u="none" strike="noStrike" baseline="0" dirty="0">
                <a:latin typeface="Generic68-Regular"/>
              </a:rPr>
              <a:t>varies from 1 to 64. Since there are four rounds, we use 16 out of the 64 values of </a:t>
            </a:r>
            <a:r>
              <a:rPr lang="en-US" sz="2400" b="0" i="0" u="none" strike="noStrike" baseline="0" dirty="0">
                <a:latin typeface="Generic72-Regular"/>
              </a:rPr>
              <a:t>t </a:t>
            </a:r>
            <a:r>
              <a:rPr lang="en-US" sz="2400" b="0" i="0" u="none" strike="noStrike" baseline="0" dirty="0">
                <a:latin typeface="Generic68-Regular"/>
              </a:rPr>
              <a:t>in each round.</a:t>
            </a:r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548640" y="4489996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273239"/>
                </a:solidFill>
                <a:latin typeface="Nunito"/>
              </a:rPr>
              <a:t>add modulo 2</a:t>
            </a:r>
            <a:r>
              <a:rPr lang="en-US" sz="2400" i="1" baseline="30000" dirty="0">
                <a:solidFill>
                  <a:srgbClr val="273239"/>
                </a:solidFill>
                <a:latin typeface="Nunito"/>
              </a:rPr>
              <a:t>32</a:t>
            </a:r>
            <a:endParaRPr lang="en-US" sz="2400" i="1" dirty="0">
              <a:solidFill>
                <a:srgbClr val="273239"/>
              </a:solidFill>
              <a:latin typeface="Nunito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273239"/>
                </a:solidFill>
                <a:latin typeface="Nunito"/>
              </a:rPr>
              <a:t>M[</a:t>
            </a:r>
            <a:r>
              <a:rPr lang="en-US" sz="2400" i="1" dirty="0" err="1">
                <a:solidFill>
                  <a:srgbClr val="273239"/>
                </a:solidFill>
                <a:latin typeface="Nunito"/>
              </a:rPr>
              <a:t>i</a:t>
            </a:r>
            <a:r>
              <a:rPr lang="en-US" sz="2400" i="1" dirty="0">
                <a:solidFill>
                  <a:srgbClr val="273239"/>
                </a:solidFill>
                <a:latin typeface="Nunito"/>
              </a:rPr>
              <a:t>] – 32 bit message.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273239"/>
                </a:solidFill>
                <a:latin typeface="Nunito"/>
              </a:rPr>
              <a:t>K[</a:t>
            </a:r>
            <a:r>
              <a:rPr lang="en-US" sz="2400" i="1" dirty="0" err="1">
                <a:solidFill>
                  <a:srgbClr val="273239"/>
                </a:solidFill>
                <a:latin typeface="Nunito"/>
              </a:rPr>
              <a:t>i</a:t>
            </a:r>
            <a:r>
              <a:rPr lang="en-US" sz="2400" i="1" dirty="0">
                <a:solidFill>
                  <a:srgbClr val="273239"/>
                </a:solidFill>
                <a:latin typeface="Nunito"/>
              </a:rPr>
              <a:t>] – 32-bit constant.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273239"/>
                </a:solidFill>
                <a:latin typeface="Nunito"/>
              </a:rPr>
              <a:t>&lt;&lt;&lt;n – Left shift by n bits.</a:t>
            </a:r>
            <a:endParaRPr lang="en-US" sz="2400" b="0" i="1" dirty="0">
              <a:solidFill>
                <a:srgbClr val="273239"/>
              </a:solidFill>
              <a:effectLst/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71230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CCF943-E8B4-A2EE-BAEF-C289D11DF098}"/>
              </a:ext>
            </a:extLst>
          </p:cNvPr>
          <p:cNvSpPr txBox="1"/>
          <p:nvPr/>
        </p:nvSpPr>
        <p:spPr>
          <a:xfrm>
            <a:off x="0" y="306705"/>
            <a:ext cx="111175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3200" b="1" dirty="0">
                <a:latin typeface="Generic68-Regular"/>
              </a:rPr>
              <a:t>Step 5: </a:t>
            </a:r>
            <a:r>
              <a:rPr lang="en-IN" sz="3200" b="1" dirty="0">
                <a:latin typeface="Generic87-Regular"/>
              </a:rPr>
              <a:t>Process Blocks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21920"/>
            <a:ext cx="4785360" cy="65379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12503"/>
            <a:ext cx="7269480" cy="303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28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CCF943-E8B4-A2EE-BAEF-C289D11DF098}"/>
              </a:ext>
            </a:extLst>
          </p:cNvPr>
          <p:cNvSpPr txBox="1"/>
          <p:nvPr/>
        </p:nvSpPr>
        <p:spPr>
          <a:xfrm>
            <a:off x="590551" y="581025"/>
            <a:ext cx="106489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0" i="0" u="none" strike="noStrike" baseline="0" dirty="0">
                <a:latin typeface="Generic68-Regular"/>
              </a:rPr>
              <a:t>We can mathematically express a single MD5 operation as follows:</a:t>
            </a:r>
          </a:p>
          <a:p>
            <a:pPr algn="l"/>
            <a:r>
              <a:rPr lang="en-IN" sz="3200" b="0" i="0" u="none" strike="noStrike" baseline="0" dirty="0">
                <a:latin typeface="Generic72-Regular"/>
              </a:rPr>
              <a:t>a </a:t>
            </a:r>
            <a:r>
              <a:rPr lang="en-IN" sz="3200" b="0" i="0" u="none" strike="noStrike" baseline="0" dirty="0">
                <a:latin typeface="Generic68-Regular"/>
              </a:rPr>
              <a:t>= </a:t>
            </a:r>
            <a:r>
              <a:rPr lang="en-IN" sz="3200" b="0" i="0" u="none" strike="noStrike" baseline="0" dirty="0">
                <a:latin typeface="Generic72-Regular"/>
              </a:rPr>
              <a:t>b </a:t>
            </a:r>
            <a:r>
              <a:rPr lang="en-IN" sz="3200" b="0" i="0" u="none" strike="noStrike" baseline="0" dirty="0">
                <a:latin typeface="Generic68-Regular"/>
              </a:rPr>
              <a:t>+ ((</a:t>
            </a:r>
            <a:r>
              <a:rPr lang="en-IN" sz="3200" b="0" i="0" u="none" strike="noStrike" baseline="0" dirty="0">
                <a:latin typeface="Generic72-Regular"/>
              </a:rPr>
              <a:t>a </a:t>
            </a:r>
            <a:r>
              <a:rPr lang="en-IN" sz="3200" b="0" i="0" u="none" strike="noStrike" baseline="0" dirty="0">
                <a:latin typeface="Generic68-Regular"/>
              </a:rPr>
              <a:t>+ Process </a:t>
            </a:r>
            <a:r>
              <a:rPr lang="en-IN" sz="3200" b="0" i="0" u="none" strike="noStrike" baseline="0" dirty="0">
                <a:latin typeface="Generic72-Regular"/>
              </a:rPr>
              <a:t>P </a:t>
            </a:r>
            <a:r>
              <a:rPr lang="en-IN" sz="3200" b="0" i="0" u="none" strike="noStrike" baseline="0" dirty="0">
                <a:latin typeface="Generic68-Regular"/>
              </a:rPr>
              <a:t>(</a:t>
            </a:r>
            <a:r>
              <a:rPr lang="en-IN" sz="3200" b="0" i="0" u="none" strike="noStrike" baseline="0" dirty="0">
                <a:latin typeface="Generic72-Regular"/>
              </a:rPr>
              <a:t>b</a:t>
            </a:r>
            <a:r>
              <a:rPr lang="en-IN" sz="3200" b="0" i="0" u="none" strike="noStrike" baseline="0" dirty="0">
                <a:latin typeface="Generic68-Regular"/>
              </a:rPr>
              <a:t>, </a:t>
            </a:r>
            <a:r>
              <a:rPr lang="en-IN" sz="3200" b="0" i="0" u="none" strike="noStrike" baseline="0" dirty="0">
                <a:latin typeface="Generic72-Regular"/>
              </a:rPr>
              <a:t>c</a:t>
            </a:r>
            <a:r>
              <a:rPr lang="en-IN" sz="3200" b="0" i="0" u="none" strike="noStrike" baseline="0" dirty="0">
                <a:latin typeface="Generic68-Regular"/>
              </a:rPr>
              <a:t>, </a:t>
            </a:r>
            <a:r>
              <a:rPr lang="en-IN" sz="3200" b="0" i="0" u="none" strike="noStrike" baseline="0" dirty="0">
                <a:latin typeface="Generic72-Regular"/>
              </a:rPr>
              <a:t>d</a:t>
            </a:r>
            <a:r>
              <a:rPr lang="en-IN" sz="3200" b="0" i="0" u="none" strike="noStrike" baseline="0" dirty="0">
                <a:latin typeface="Generic68-Regular"/>
              </a:rPr>
              <a:t>) + </a:t>
            </a:r>
            <a:r>
              <a:rPr lang="en-IN" sz="3200" b="0" i="0" u="none" strike="noStrike" baseline="0" dirty="0">
                <a:latin typeface="Generic72-Regular"/>
              </a:rPr>
              <a:t>M</a:t>
            </a:r>
            <a:r>
              <a:rPr lang="en-IN" sz="3200" b="0" i="0" u="none" strike="noStrike" baseline="0" dirty="0">
                <a:latin typeface="Generic68-Regular"/>
              </a:rPr>
              <a:t>[</a:t>
            </a:r>
            <a:r>
              <a:rPr lang="en-IN" sz="3200" b="0" i="0" u="none" strike="noStrike" baseline="0" dirty="0" err="1">
                <a:latin typeface="Generic72-Regular"/>
              </a:rPr>
              <a:t>i</a:t>
            </a:r>
            <a:r>
              <a:rPr lang="en-IN" sz="3200" b="0" i="0" u="none" strike="noStrike" baseline="0" dirty="0">
                <a:latin typeface="Generic68-Regular"/>
              </a:rPr>
              <a:t>] + </a:t>
            </a:r>
            <a:r>
              <a:rPr lang="en-IN" sz="3200" b="0" i="0" u="none" strike="noStrike" baseline="0" dirty="0">
                <a:latin typeface="Generic72-Regular"/>
              </a:rPr>
              <a:t>T</a:t>
            </a:r>
            <a:r>
              <a:rPr lang="en-IN" sz="3200" b="0" i="0" u="none" strike="noStrike" baseline="0" dirty="0">
                <a:latin typeface="Generic68-Regular"/>
              </a:rPr>
              <a:t>[</a:t>
            </a:r>
            <a:r>
              <a:rPr lang="en-IN" sz="3200" b="0" i="0" u="none" strike="noStrike" baseline="0" dirty="0">
                <a:latin typeface="Generic72-Regular"/>
              </a:rPr>
              <a:t>k</a:t>
            </a:r>
            <a:r>
              <a:rPr lang="en-IN" sz="3200" b="0" i="0" u="none" strike="noStrike" baseline="0" dirty="0">
                <a:latin typeface="Generic68-Regular"/>
              </a:rPr>
              <a:t>]) &lt;&lt;&lt; </a:t>
            </a:r>
            <a:r>
              <a:rPr lang="en-IN" sz="3200" b="0" i="0" u="none" strike="noStrike" baseline="0" dirty="0">
                <a:latin typeface="Generic72-Regular"/>
              </a:rPr>
              <a:t>s</a:t>
            </a:r>
            <a:r>
              <a:rPr lang="en-IN" sz="3200" b="0" i="0" u="none" strike="noStrike" baseline="0" dirty="0">
                <a:latin typeface="Generic68-Regular"/>
              </a:rPr>
              <a:t>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334584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165D58-65B1-91A4-1E37-17B72A051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13" y="782894"/>
            <a:ext cx="11419373" cy="2571539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472" y="3354433"/>
            <a:ext cx="7217663" cy="2718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7144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Table T constructed from the sine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637" y="1395412"/>
            <a:ext cx="6497505" cy="535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01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5496"/>
          </a:xfrm>
        </p:spPr>
        <p:txBody>
          <a:bodyPr/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65" y="916472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u="sng" dirty="0"/>
              <a:t>Initialization Buffers:</a:t>
            </a:r>
          </a:p>
          <a:p>
            <a:r>
              <a:rPr lang="en-IN" sz="1800" dirty="0"/>
              <a:t>A=67452301</a:t>
            </a:r>
          </a:p>
          <a:p>
            <a:r>
              <a:rPr lang="en-IN" sz="1800" dirty="0"/>
              <a:t>B=EFCDAB89</a:t>
            </a:r>
          </a:p>
          <a:p>
            <a:r>
              <a:rPr lang="en-IN" sz="1800" dirty="0"/>
              <a:t>C=98BADCFE</a:t>
            </a:r>
          </a:p>
          <a:p>
            <a:r>
              <a:rPr lang="en-IN" sz="1800" dirty="0"/>
              <a:t>D=10325476</a:t>
            </a:r>
          </a:p>
          <a:p>
            <a:r>
              <a:rPr lang="en-IN" sz="1800" dirty="0"/>
              <a:t>F=(B AND C) OR(NOT B AND D)</a:t>
            </a:r>
          </a:p>
          <a:p>
            <a:pPr marL="0" indent="0">
              <a:buNone/>
            </a:pPr>
            <a:r>
              <a:rPr lang="en-IN" sz="1800" b="1" dirty="0"/>
              <a:t>B= 1110 1111 1100 1101 1010 1011 1000 1001</a:t>
            </a:r>
          </a:p>
          <a:p>
            <a:pPr marL="0" indent="0">
              <a:buNone/>
            </a:pPr>
            <a:r>
              <a:rPr lang="en-IN" sz="1800" b="1" dirty="0"/>
              <a:t>C =1001  1000 1011 1010 1101 1100 1111 1110</a:t>
            </a:r>
          </a:p>
          <a:p>
            <a:pPr marL="0" indent="0">
              <a:buNone/>
            </a:pPr>
            <a:r>
              <a:rPr lang="en-IN" sz="1800" b="1" dirty="0"/>
              <a:t>---------------------------------------------------------------------</a:t>
            </a:r>
          </a:p>
          <a:p>
            <a:pPr marL="0" indent="0">
              <a:buNone/>
            </a:pPr>
            <a:r>
              <a:rPr lang="en-IN" sz="1800" b="1" dirty="0"/>
              <a:t>      1000 1000 1000 1000 10001 1000 1000 1000</a:t>
            </a:r>
          </a:p>
          <a:p>
            <a:pPr marL="0" indent="0">
              <a:buNone/>
            </a:pPr>
            <a:r>
              <a:rPr lang="en-IN" sz="1800" b="1" dirty="0"/>
              <a:t>B̅ =0001 0000 0011 0010 0101 0100 0111 0110</a:t>
            </a:r>
          </a:p>
          <a:p>
            <a:pPr marL="0" indent="0">
              <a:buNone/>
            </a:pPr>
            <a:r>
              <a:rPr lang="en-IN" sz="1800" b="1" dirty="0"/>
              <a:t>D=0001  0000 0011 0010 0101 0100 0111 0110</a:t>
            </a:r>
          </a:p>
          <a:p>
            <a:pPr marL="0" indent="0">
              <a:buNone/>
            </a:pPr>
            <a:r>
              <a:rPr lang="en-IN" sz="1800" b="1" dirty="0"/>
              <a:t>  -------------------------------------------------------------------</a:t>
            </a:r>
          </a:p>
          <a:p>
            <a:pPr marL="0" indent="0">
              <a:buNone/>
            </a:pPr>
            <a:r>
              <a:rPr lang="en-IN" sz="1800" b="1" dirty="0"/>
              <a:t>      0001 0000 0011 0010 0101 0100 0111  0110</a:t>
            </a:r>
          </a:p>
          <a:p>
            <a:pPr marL="0" indent="0">
              <a:buNone/>
            </a:pPr>
            <a:r>
              <a:rPr lang="en-IN" sz="1800" b="1" dirty="0"/>
              <a:t>After OR</a:t>
            </a:r>
          </a:p>
          <a:p>
            <a:pPr marL="0" indent="0">
              <a:buNone/>
            </a:pPr>
            <a:r>
              <a:rPr lang="en-IN" sz="1800" b="1" dirty="0"/>
              <a:t>      1001 1000 1011 1010 1101 1100 1111 1110</a:t>
            </a:r>
          </a:p>
          <a:p>
            <a:pPr marL="0" indent="0">
              <a:buNone/>
            </a:pPr>
            <a:endParaRPr lang="en-IN" sz="1800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3672840" y="4389120"/>
            <a:ext cx="990600" cy="1859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4373880" y="6004560"/>
            <a:ext cx="563880" cy="32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67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7226"/>
            <a:ext cx="10515600" cy="66766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974" y="834888"/>
            <a:ext cx="10515600" cy="4351338"/>
          </a:xfrm>
        </p:spPr>
        <p:txBody>
          <a:bodyPr/>
          <a:lstStyle/>
          <a:p>
            <a:r>
              <a:rPr lang="en-IN" b="1" dirty="0"/>
              <a:t>Addition Module with A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39148" y="1676290"/>
            <a:ext cx="6056466" cy="48936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/>
              <a:t>     1001 1000 1011 1010 1101 1100 1111 1110</a:t>
            </a:r>
          </a:p>
          <a:p>
            <a:r>
              <a:rPr lang="en-IN" sz="2400" dirty="0"/>
              <a:t>A=0110 0111 0100 0101 0010 0011 0000 0001</a:t>
            </a:r>
          </a:p>
          <a:p>
            <a:r>
              <a:rPr lang="en-IN" sz="2400" dirty="0"/>
              <a:t>--------------------------------------------------------------</a:t>
            </a:r>
          </a:p>
          <a:p>
            <a:r>
              <a:rPr lang="en-IN" sz="2400" dirty="0"/>
              <a:t>    1111 1111 1111  1111  1111 1111 1111 1111</a:t>
            </a:r>
          </a:p>
          <a:p>
            <a:r>
              <a:rPr lang="en-IN" sz="2400" dirty="0"/>
              <a:t>--------------------------------------------------------------</a:t>
            </a:r>
          </a:p>
          <a:p>
            <a:r>
              <a:rPr lang="en-IN" sz="2400" b="1" dirty="0"/>
              <a:t>Addition modulo with X[32] </a:t>
            </a:r>
          </a:p>
          <a:p>
            <a:r>
              <a:rPr lang="en-IN" sz="2400" dirty="0"/>
              <a:t>In little endian order</a:t>
            </a:r>
          </a:p>
          <a:p>
            <a:r>
              <a:rPr lang="en-IN" sz="2400" dirty="0"/>
              <a:t>80 63 62 61</a:t>
            </a:r>
          </a:p>
          <a:p>
            <a:r>
              <a:rPr lang="en-IN" sz="2400" dirty="0"/>
              <a:t>1000 0000  0110 0011  0110  0010 0110 0001</a:t>
            </a:r>
          </a:p>
          <a:p>
            <a:r>
              <a:rPr lang="en-IN" sz="2400" dirty="0"/>
              <a:t>1111 1111 1111  1111  1111 1111  1111 1111</a:t>
            </a:r>
          </a:p>
          <a:p>
            <a:r>
              <a:rPr lang="en-IN" sz="2400" dirty="0"/>
              <a:t>--------------------------------------------------------------</a:t>
            </a:r>
          </a:p>
          <a:p>
            <a:r>
              <a:rPr lang="en-IN" sz="2400" dirty="0"/>
              <a:t>1000 0000 0110  0011  0110  0010 0110 0000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90888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6464"/>
            <a:ext cx="10515600" cy="68842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486" y="901838"/>
            <a:ext cx="10515600" cy="4351338"/>
          </a:xfrm>
        </p:spPr>
        <p:txBody>
          <a:bodyPr>
            <a:noAutofit/>
          </a:bodyPr>
          <a:lstStyle/>
          <a:p>
            <a:r>
              <a:rPr lang="en-IN" sz="2400" dirty="0"/>
              <a:t>T[1] = DT 6A A1 78</a:t>
            </a:r>
          </a:p>
          <a:p>
            <a:r>
              <a:rPr lang="en-IN" sz="2400" dirty="0"/>
              <a:t>     1000 0000 0110  0011  0110  0010 0110 0000</a:t>
            </a:r>
          </a:p>
          <a:p>
            <a:r>
              <a:rPr lang="en-IN" sz="2400" dirty="0"/>
              <a:t>T= 1101 0111 0110 1010  1010   0100 0111 1000</a:t>
            </a:r>
          </a:p>
          <a:p>
            <a:r>
              <a:rPr lang="en-IN" sz="2400" dirty="0"/>
              <a:t>   = 0101 0111 1100 1100  0000   0110 1101 1000</a:t>
            </a:r>
          </a:p>
          <a:p>
            <a:r>
              <a:rPr lang="en-IN" sz="2400" dirty="0"/>
              <a:t>-----------------------------------------------------------------</a:t>
            </a:r>
          </a:p>
          <a:p>
            <a:r>
              <a:rPr lang="en-IN" sz="2400" b="1" dirty="0"/>
              <a:t>Circular left shift of 7 bits for the 1</a:t>
            </a:r>
            <a:r>
              <a:rPr lang="en-IN" sz="2400" b="1" baseline="30000" dirty="0"/>
              <a:t>st</a:t>
            </a:r>
            <a:r>
              <a:rPr lang="en-IN" sz="2400" b="1" dirty="0"/>
              <a:t> step of Round1</a:t>
            </a:r>
          </a:p>
          <a:p>
            <a:r>
              <a:rPr lang="en-IN" sz="2400" dirty="0"/>
              <a:t>1110 0110 0000 0011 0110 1100 0010 1011</a:t>
            </a:r>
          </a:p>
          <a:p>
            <a:r>
              <a:rPr lang="en-IN" sz="2400" b="1" dirty="0"/>
              <a:t>Addition modulo with B=EFCDAB89</a:t>
            </a:r>
          </a:p>
          <a:p>
            <a:r>
              <a:rPr lang="en-IN" sz="2400" dirty="0"/>
              <a:t>1110 1111 1100 1101 1010 1011 1000 1001</a:t>
            </a:r>
          </a:p>
          <a:p>
            <a:r>
              <a:rPr lang="en-IN" sz="2400" dirty="0"/>
              <a:t>-----------------------------------------------------------------</a:t>
            </a:r>
          </a:p>
          <a:p>
            <a:r>
              <a:rPr lang="en-IN" sz="2400" dirty="0"/>
              <a:t>1101 0110 1101 0001 0001 0111 1011 0100</a:t>
            </a:r>
          </a:p>
          <a:p>
            <a:r>
              <a:rPr lang="en-IN" sz="2400" dirty="0"/>
              <a:t>----------------------------------------------------------------</a:t>
            </a:r>
          </a:p>
          <a:p>
            <a:r>
              <a:rPr lang="en-IN" sz="2400" dirty="0"/>
              <a:t>D6D11784 </a:t>
            </a:r>
            <a:r>
              <a:rPr lang="en-IN" sz="2400" dirty="0">
                <a:sym typeface="Wingdings" panose="05000000000000000000" pitchFamily="2" charset="2"/>
              </a:rPr>
              <a:t>A</a:t>
            </a:r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4569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MD5 vs. MD4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2400" dirty="0"/>
              <a:t>A fourth round has been added.</a:t>
            </a:r>
          </a:p>
          <a:p>
            <a:r>
              <a:rPr lang="en-US" altLang="en-US" sz="2400" dirty="0"/>
              <a:t>Each step has a unique additive constant.</a:t>
            </a:r>
          </a:p>
          <a:p>
            <a:r>
              <a:rPr lang="en-US" altLang="en-US" sz="2400" dirty="0"/>
              <a:t>The function g in round 2 was changed from (XY v XZ v YZ) to (XZ v Y not(Z)).</a:t>
            </a:r>
          </a:p>
          <a:p>
            <a:r>
              <a:rPr lang="en-US" altLang="en-US" sz="2400" dirty="0"/>
              <a:t>Each step adds in the result of the previous step. </a:t>
            </a:r>
          </a:p>
          <a:p>
            <a:r>
              <a:rPr lang="en-US" altLang="en-US" sz="2400" dirty="0"/>
              <a:t>The order in which input words are accessed in rounds 2 and 3 is changed.</a:t>
            </a:r>
          </a:p>
          <a:p>
            <a:r>
              <a:rPr lang="en-US" altLang="en-US" sz="2400" dirty="0"/>
              <a:t>The shift amounts in each round have been optimized. The shifts in different rounds are distinct.</a:t>
            </a:r>
          </a:p>
        </p:txBody>
      </p:sp>
    </p:spTree>
    <p:extLst>
      <p:ext uri="{BB962C8B-B14F-4D97-AF65-F5344CB8AC3E}">
        <p14:creationId xmlns:p14="http://schemas.microsoft.com/office/powerpoint/2010/main" val="29294645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MD5 vs. MD4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2400" dirty="0"/>
              <a:t>A fourth round has been added.</a:t>
            </a:r>
          </a:p>
          <a:p>
            <a:r>
              <a:rPr lang="en-US" altLang="en-US" sz="2400" dirty="0"/>
              <a:t>Each step has a unique additive constant.</a:t>
            </a:r>
          </a:p>
          <a:p>
            <a:r>
              <a:rPr lang="en-US" altLang="en-US" sz="2400" dirty="0"/>
              <a:t>The function g in round 2 was changed from (XY v XZ v YZ) to (XZ v Y not(Z)).</a:t>
            </a:r>
          </a:p>
          <a:p>
            <a:r>
              <a:rPr lang="en-US" altLang="en-US" sz="2400" dirty="0"/>
              <a:t>Each step adds in the result of the previous step. </a:t>
            </a:r>
          </a:p>
          <a:p>
            <a:r>
              <a:rPr lang="en-US" altLang="en-US" sz="2400" dirty="0"/>
              <a:t>The order in which input words are accessed in rounds 2 and 3 is changed.</a:t>
            </a:r>
          </a:p>
          <a:p>
            <a:r>
              <a:rPr lang="en-US" altLang="en-US" sz="2400" dirty="0"/>
              <a:t>The shift amounts in each round have been optimized. The shifts in different rounds are distinct.</a:t>
            </a:r>
          </a:p>
        </p:txBody>
      </p:sp>
    </p:spTree>
    <p:extLst>
      <p:ext uri="{BB962C8B-B14F-4D97-AF65-F5344CB8AC3E}">
        <p14:creationId xmlns:p14="http://schemas.microsoft.com/office/powerpoint/2010/main" val="297674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 of MD5 Algorithm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MD5 is used </a:t>
            </a:r>
            <a:r>
              <a:rPr lang="en-US" b="1" dirty="0"/>
              <a:t>as a checksum to verify the integrity of files </a:t>
            </a:r>
            <a:r>
              <a:rPr lang="en-US" dirty="0"/>
              <a:t>and data by comparing the hash of the original file with the file received to check if the files or data has been altered.</a:t>
            </a:r>
          </a:p>
          <a:p>
            <a:pPr fontAlgn="base"/>
            <a:r>
              <a:rPr lang="en-US" dirty="0"/>
              <a:t>MD5 is used for </a:t>
            </a:r>
            <a:r>
              <a:rPr lang="en-US" b="1" dirty="0"/>
              <a:t>data security and encryption</a:t>
            </a:r>
            <a:r>
              <a:rPr lang="en-US" dirty="0"/>
              <a:t> e.g. </a:t>
            </a:r>
            <a:r>
              <a:rPr lang="en-US" b="1" dirty="0"/>
              <a:t>Secure password of users in database and non-sensitive data.</a:t>
            </a:r>
          </a:p>
          <a:p>
            <a:pPr fontAlgn="base"/>
            <a:r>
              <a:rPr lang="en-US" dirty="0"/>
              <a:t>It is used in </a:t>
            </a:r>
            <a:r>
              <a:rPr lang="en-US" b="1" dirty="0"/>
              <a:t>version control systems to manage different versions of files.</a:t>
            </a:r>
          </a:p>
          <a:p>
            <a:pPr fontAlgn="base"/>
            <a:r>
              <a:rPr lang="en-US" dirty="0"/>
              <a:t>It was earlier </a:t>
            </a:r>
            <a:r>
              <a:rPr lang="en-US" b="1" dirty="0"/>
              <a:t>used in digital signatures </a:t>
            </a:r>
            <a:r>
              <a:rPr lang="en-US" dirty="0"/>
              <a:t>and certificate but due it’s vulnerabilities</a:t>
            </a:r>
            <a:r>
              <a:rPr lang="en-US" u="sng" dirty="0">
                <a:hlinkClick r:id="rId2"/>
              </a:rPr>
              <a:t>,</a:t>
            </a:r>
            <a:r>
              <a:rPr lang="en-US" dirty="0"/>
              <a:t> it has been replaced by more secure algorithms like SHA-256.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4726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Try….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z="2400" dirty="0"/>
              <a:t>In MD5, M= VIT VELLORE; Show the initial message blocks, padding bits and length field. </a:t>
            </a:r>
          </a:p>
          <a:p>
            <a:r>
              <a:rPr lang="en-US" sz="2400" dirty="0"/>
              <a:t>Find the logic functions F,G, H and I only. The buffer values are given: </a:t>
            </a:r>
          </a:p>
          <a:p>
            <a:r>
              <a:rPr lang="en-US" sz="2400" dirty="0"/>
              <a:t>Word A: 10 32 54 76 Word B: </a:t>
            </a:r>
            <a:r>
              <a:rPr lang="en-US" sz="2400" dirty="0" err="1"/>
              <a:t>ba</a:t>
            </a:r>
            <a:r>
              <a:rPr lang="en-US" sz="2400" dirty="0"/>
              <a:t> </a:t>
            </a:r>
            <a:r>
              <a:rPr lang="en-US" sz="2400" dirty="0" err="1"/>
              <a:t>fe</a:t>
            </a:r>
            <a:r>
              <a:rPr lang="en-US" sz="2400" dirty="0"/>
              <a:t> cd 98 Word C: 78 </a:t>
            </a:r>
            <a:r>
              <a:rPr lang="en-US" sz="2400" dirty="0" err="1"/>
              <a:t>ce</a:t>
            </a:r>
            <a:r>
              <a:rPr lang="en-US" sz="2400" dirty="0"/>
              <a:t> ae de Word D: 01 23 45 67 	</a:t>
            </a:r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14036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Try….(</a:t>
            </a:r>
            <a:r>
              <a:rPr lang="en-US" altLang="en-US" sz="3600" dirty="0" err="1"/>
              <a:t>Contd</a:t>
            </a:r>
            <a:r>
              <a:rPr lang="en-US" altLang="en-US" sz="3600"/>
              <a:t>…)</a:t>
            </a:r>
            <a:endParaRPr lang="en-US" altLang="en-US" sz="36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2400" dirty="0"/>
              <a:t>Solution:</a:t>
            </a:r>
          </a:p>
          <a:p>
            <a:endParaRPr lang="en-US" alt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64" y="2743994"/>
            <a:ext cx="10483215" cy="219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116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1624</Words>
  <Application>Microsoft Macintosh PowerPoint</Application>
  <PresentationFormat>Widescreen</PresentationFormat>
  <Paragraphs>157</Paragraphs>
  <Slides>29</Slides>
  <Notes>8</Notes>
  <HiddenSlides>2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Arial</vt:lpstr>
      <vt:lpstr>Calibri</vt:lpstr>
      <vt:lpstr>Calibri Light</vt:lpstr>
      <vt:lpstr>Generic67-Regular</vt:lpstr>
      <vt:lpstr>Generic68-Regular</vt:lpstr>
      <vt:lpstr>Generic72-Regular</vt:lpstr>
      <vt:lpstr>Generic73-Regular</vt:lpstr>
      <vt:lpstr>Generic84-Regular</vt:lpstr>
      <vt:lpstr>Generic87-Regular</vt:lpstr>
      <vt:lpstr>Nunito</vt:lpstr>
      <vt:lpstr>Times New Roman</vt:lpstr>
      <vt:lpstr>Wingdings</vt:lpstr>
      <vt:lpstr>Office Theme</vt:lpstr>
      <vt:lpstr>MD5</vt:lpstr>
      <vt:lpstr>PowerPoint Presentation</vt:lpstr>
      <vt:lpstr>MD5 Overview</vt:lpstr>
      <vt:lpstr>  Hash Algorithm Design – MD5</vt:lpstr>
      <vt:lpstr>  Hash Algorithm Design – MD5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Table T constructed from the sine function</vt:lpstr>
      <vt:lpstr>Example</vt:lpstr>
      <vt:lpstr>Example</vt:lpstr>
      <vt:lpstr>Example</vt:lpstr>
      <vt:lpstr>MD5 vs. MD4</vt:lpstr>
      <vt:lpstr>MD5 vs. MD4</vt:lpstr>
      <vt:lpstr>Applications of MD5 Algorithm </vt:lpstr>
      <vt:lpstr>Try….</vt:lpstr>
      <vt:lpstr>Try….(Contd…)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RAJA S P</dc:creator>
  <cp:lastModifiedBy>Apoorva Karnwal</cp:lastModifiedBy>
  <cp:revision>49</cp:revision>
  <dcterms:created xsi:type="dcterms:W3CDTF">2024-01-23T04:54:37Z</dcterms:created>
  <dcterms:modified xsi:type="dcterms:W3CDTF">2025-05-01T10:51:07Z</dcterms:modified>
</cp:coreProperties>
</file>