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256" r:id="rId2"/>
    <p:sldId id="358" r:id="rId3"/>
    <p:sldId id="342" r:id="rId4"/>
    <p:sldId id="343" r:id="rId5"/>
    <p:sldId id="333" r:id="rId6"/>
    <p:sldId id="359" r:id="rId7"/>
    <p:sldId id="360" r:id="rId8"/>
    <p:sldId id="361" r:id="rId9"/>
    <p:sldId id="334" r:id="rId10"/>
    <p:sldId id="344" r:id="rId11"/>
    <p:sldId id="336" r:id="rId12"/>
    <p:sldId id="335" r:id="rId13"/>
    <p:sldId id="337" r:id="rId14"/>
    <p:sldId id="318" r:id="rId15"/>
    <p:sldId id="362" r:id="rId16"/>
    <p:sldId id="363" r:id="rId17"/>
    <p:sldId id="364" r:id="rId18"/>
    <p:sldId id="365" r:id="rId19"/>
    <p:sldId id="366" r:id="rId20"/>
    <p:sldId id="346" r:id="rId21"/>
    <p:sldId id="367" r:id="rId22"/>
    <p:sldId id="368" r:id="rId23"/>
    <p:sldId id="369" r:id="rId24"/>
    <p:sldId id="370" r:id="rId25"/>
    <p:sldId id="371" r:id="rId26"/>
    <p:sldId id="372" r:id="rId27"/>
    <p:sldId id="338" r:id="rId28"/>
    <p:sldId id="377" r:id="rId29"/>
    <p:sldId id="380" r:id="rId30"/>
    <p:sldId id="379" r:id="rId31"/>
    <p:sldId id="378" r:id="rId32"/>
    <p:sldId id="373" r:id="rId33"/>
    <p:sldId id="374" r:id="rId34"/>
    <p:sldId id="375" r:id="rId35"/>
    <p:sldId id="376" r:id="rId36"/>
    <p:sldId id="385" r:id="rId37"/>
    <p:sldId id="383" r:id="rId3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293"/>
    <p:restoredTop sz="70680" autoAdjust="0"/>
  </p:normalViewPr>
  <p:slideViewPr>
    <p:cSldViewPr>
      <p:cViewPr>
        <p:scale>
          <a:sx n="86" d="100"/>
          <a:sy n="86" d="100"/>
        </p:scale>
        <p:origin x="872" y="24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724B95B-ECA2-47E0-8A1E-AC9B91E69B29}" type="datetimeFigureOut">
              <a:rPr lang="en-IN" smtClean="0"/>
              <a:pPr/>
              <a:t>11/04/25</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EC0EB85-1EFE-43DE-B793-4AB3572B2794}" type="slidenum">
              <a:rPr lang="en-IN" smtClean="0"/>
              <a:pPr/>
              <a:t>‹#›</a:t>
            </a:fld>
            <a:endParaRPr lang="en-IN"/>
          </a:p>
        </p:txBody>
      </p:sp>
    </p:spTree>
    <p:extLst>
      <p:ext uri="{BB962C8B-B14F-4D97-AF65-F5344CB8AC3E}">
        <p14:creationId xmlns:p14="http://schemas.microsoft.com/office/powerpoint/2010/main" val="40659302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File can</a:t>
            </a:r>
            <a:r>
              <a:rPr lang="en-IN" baseline="0" dirty="0"/>
              <a:t> be hacked by the hacker</a:t>
            </a:r>
          </a:p>
          <a:p>
            <a:r>
              <a:rPr lang="en-IN" baseline="0" dirty="0" err="1"/>
              <a:t>Somoeone</a:t>
            </a:r>
            <a:r>
              <a:rPr lang="en-IN" baseline="0" dirty="0"/>
              <a:t> tries to send the message as an </a:t>
            </a:r>
            <a:r>
              <a:rPr lang="en-IN" baseline="0" dirty="0" err="1"/>
              <a:t>legititmate</a:t>
            </a:r>
            <a:r>
              <a:rPr lang="en-IN" baseline="0" dirty="0"/>
              <a:t> user</a:t>
            </a:r>
          </a:p>
          <a:p>
            <a:r>
              <a:rPr lang="en-IN" baseline="0" dirty="0"/>
              <a:t>We need a mechanism to authenticate the message</a:t>
            </a:r>
          </a:p>
          <a:p>
            <a:r>
              <a:rPr lang="en-IN" b="1" baseline="0" dirty="0"/>
              <a:t>Check whether the message is really sent by legitimate user or if the message is altered</a:t>
            </a:r>
          </a:p>
          <a:p>
            <a:r>
              <a:rPr lang="en-IN" dirty="0"/>
              <a:t>Hash function- to verify the users</a:t>
            </a:r>
          </a:p>
        </p:txBody>
      </p:sp>
      <p:sp>
        <p:nvSpPr>
          <p:cNvPr id="4" name="Slide Number Placeholder 3"/>
          <p:cNvSpPr>
            <a:spLocks noGrp="1"/>
          </p:cNvSpPr>
          <p:nvPr>
            <p:ph type="sldNum" sz="quarter" idx="10"/>
          </p:nvPr>
        </p:nvSpPr>
        <p:spPr/>
        <p:txBody>
          <a:bodyPr/>
          <a:lstStyle/>
          <a:p>
            <a:fld id="{FEC0EB85-1EFE-43DE-B793-4AB3572B2794}" type="slidenum">
              <a:rPr lang="en-IN" smtClean="0"/>
              <a:pPr/>
              <a:t>3</a:t>
            </a:fld>
            <a:endParaRPr lang="en-IN"/>
          </a:p>
        </p:txBody>
      </p:sp>
    </p:spTree>
    <p:extLst>
      <p:ext uri="{BB962C8B-B14F-4D97-AF65-F5344CB8AC3E}">
        <p14:creationId xmlns:p14="http://schemas.microsoft.com/office/powerpoint/2010/main" val="7639880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Confidentiality aiming to protect sensitive data from unauthorized access, </a:t>
            </a:r>
          </a:p>
          <a:p>
            <a:r>
              <a:rPr lang="en-US" sz="1200" b="0" i="0" kern="1200" dirty="0" err="1">
                <a:solidFill>
                  <a:schemeClr val="tx1"/>
                </a:solidFill>
                <a:effectLst/>
                <a:latin typeface="+mn-lt"/>
                <a:ea typeface="+mn-ea"/>
                <a:cs typeface="+mn-cs"/>
              </a:rPr>
              <a:t>Authentiation</a:t>
            </a:r>
            <a:r>
              <a:rPr lang="en-US" sz="1200" b="0" i="0" kern="1200" dirty="0">
                <a:solidFill>
                  <a:schemeClr val="tx1"/>
                </a:solidFill>
                <a:effectLst/>
                <a:latin typeface="+mn-lt"/>
                <a:ea typeface="+mn-ea"/>
                <a:cs typeface="+mn-cs"/>
              </a:rPr>
              <a:t>-verifying the identity of a user</a:t>
            </a:r>
          </a:p>
          <a:p>
            <a:r>
              <a:rPr lang="en-US" sz="1200" b="0" i="0" kern="1200" dirty="0">
                <a:solidFill>
                  <a:schemeClr val="tx1"/>
                </a:solidFill>
                <a:effectLst/>
                <a:latin typeface="+mn-lt"/>
                <a:ea typeface="+mn-ea"/>
                <a:cs typeface="+mn-cs"/>
              </a:rPr>
              <a:t>--only legitimate users or entities gain access to protected resources.</a:t>
            </a:r>
            <a:endParaRPr lang="en-IN" dirty="0"/>
          </a:p>
          <a:p>
            <a:endParaRPr lang="en-IN" dirty="0"/>
          </a:p>
        </p:txBody>
      </p:sp>
      <p:sp>
        <p:nvSpPr>
          <p:cNvPr id="4" name="Slide Number Placeholder 3"/>
          <p:cNvSpPr>
            <a:spLocks noGrp="1"/>
          </p:cNvSpPr>
          <p:nvPr>
            <p:ph type="sldNum" sz="quarter" idx="10"/>
          </p:nvPr>
        </p:nvSpPr>
        <p:spPr/>
        <p:txBody>
          <a:bodyPr/>
          <a:lstStyle/>
          <a:p>
            <a:fld id="{FEC0EB85-1EFE-43DE-B793-4AB3572B2794}" type="slidenum">
              <a:rPr lang="en-IN" smtClean="0"/>
              <a:pPr/>
              <a:t>11</a:t>
            </a:fld>
            <a:endParaRPr lang="en-IN"/>
          </a:p>
        </p:txBody>
      </p:sp>
    </p:spTree>
    <p:extLst>
      <p:ext uri="{BB962C8B-B14F-4D97-AF65-F5344CB8AC3E}">
        <p14:creationId xmlns:p14="http://schemas.microsoft.com/office/powerpoint/2010/main" val="33279128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Si – expanded secret key</a:t>
            </a:r>
          </a:p>
          <a:p>
            <a:r>
              <a:rPr lang="en-IN" dirty="0"/>
              <a:t>Secret key is responsible to validate the sender</a:t>
            </a:r>
          </a:p>
          <a:p>
            <a:r>
              <a:rPr lang="en-IN" dirty="0"/>
              <a:t>B=1024</a:t>
            </a:r>
          </a:p>
          <a:p>
            <a:r>
              <a:rPr lang="en-IN" dirty="0"/>
              <a:t>b/8=128</a:t>
            </a:r>
          </a:p>
        </p:txBody>
      </p:sp>
      <p:sp>
        <p:nvSpPr>
          <p:cNvPr id="4" name="Slide Number Placeholder 3"/>
          <p:cNvSpPr>
            <a:spLocks noGrp="1"/>
          </p:cNvSpPr>
          <p:nvPr>
            <p:ph type="sldNum" sz="quarter" idx="10"/>
          </p:nvPr>
        </p:nvSpPr>
        <p:spPr/>
        <p:txBody>
          <a:bodyPr/>
          <a:lstStyle/>
          <a:p>
            <a:fld id="{FEC0EB85-1EFE-43DE-B793-4AB3572B2794}" type="slidenum">
              <a:rPr lang="en-IN" smtClean="0"/>
              <a:pPr/>
              <a:t>15</a:t>
            </a:fld>
            <a:endParaRPr lang="en-IN"/>
          </a:p>
        </p:txBody>
      </p:sp>
    </p:spTree>
    <p:extLst>
      <p:ext uri="{BB962C8B-B14F-4D97-AF65-F5344CB8AC3E}">
        <p14:creationId xmlns:p14="http://schemas.microsoft.com/office/powerpoint/2010/main" val="7102837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b- no of bits in the block-8 * 5=40</a:t>
            </a:r>
          </a:p>
          <a:p>
            <a:r>
              <a:rPr lang="en-IN" dirty="0"/>
              <a:t>L= length of</a:t>
            </a:r>
            <a:r>
              <a:rPr lang="en-IN" baseline="0" dirty="0"/>
              <a:t> hash code</a:t>
            </a:r>
            <a:endParaRPr lang="en-IN" dirty="0"/>
          </a:p>
        </p:txBody>
      </p:sp>
      <p:sp>
        <p:nvSpPr>
          <p:cNvPr id="4" name="Slide Number Placeholder 3"/>
          <p:cNvSpPr>
            <a:spLocks noGrp="1"/>
          </p:cNvSpPr>
          <p:nvPr>
            <p:ph type="sldNum" sz="quarter" idx="10"/>
          </p:nvPr>
        </p:nvSpPr>
        <p:spPr/>
        <p:txBody>
          <a:bodyPr/>
          <a:lstStyle/>
          <a:p>
            <a:fld id="{FEC0EB85-1EFE-43DE-B793-4AB3572B2794}" type="slidenum">
              <a:rPr lang="en-IN" smtClean="0"/>
              <a:pPr/>
              <a:t>29</a:t>
            </a:fld>
            <a:endParaRPr lang="en-IN"/>
          </a:p>
        </p:txBody>
      </p:sp>
    </p:spTree>
    <p:extLst>
      <p:ext uri="{BB962C8B-B14F-4D97-AF65-F5344CB8AC3E}">
        <p14:creationId xmlns:p14="http://schemas.microsoft.com/office/powerpoint/2010/main" val="42934196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Adventure</a:t>
            </a:r>
          </a:p>
          <a:p>
            <a:r>
              <a:rPr lang="en-IN" sz="1200" b="0" i="0" kern="1200" dirty="0">
                <a:solidFill>
                  <a:schemeClr val="tx1"/>
                </a:solidFill>
                <a:effectLst/>
                <a:latin typeface="+mn-lt"/>
                <a:ea typeface="+mn-ea"/>
                <a:cs typeface="+mn-cs"/>
              </a:rPr>
              <a:t>to create fake messages or forge digital signatures.</a:t>
            </a:r>
            <a:endParaRPr lang="en-IN" dirty="0"/>
          </a:p>
        </p:txBody>
      </p:sp>
      <p:sp>
        <p:nvSpPr>
          <p:cNvPr id="4" name="Slide Number Placeholder 3"/>
          <p:cNvSpPr>
            <a:spLocks noGrp="1"/>
          </p:cNvSpPr>
          <p:nvPr>
            <p:ph type="sldNum" sz="quarter" idx="10"/>
          </p:nvPr>
        </p:nvSpPr>
        <p:spPr/>
        <p:txBody>
          <a:bodyPr/>
          <a:lstStyle/>
          <a:p>
            <a:fld id="{FEC0EB85-1EFE-43DE-B793-4AB3572B2794}" type="slidenum">
              <a:rPr lang="en-IN" smtClean="0"/>
              <a:pPr/>
              <a:t>33</a:t>
            </a:fld>
            <a:endParaRPr lang="en-IN"/>
          </a:p>
        </p:txBody>
      </p:sp>
    </p:spTree>
    <p:extLst>
      <p:ext uri="{BB962C8B-B14F-4D97-AF65-F5344CB8AC3E}">
        <p14:creationId xmlns:p14="http://schemas.microsoft.com/office/powerpoint/2010/main" val="23504144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Digital Signatures:</a:t>
            </a:r>
            <a:r>
              <a:rPr lang="en-US" sz="1200" b="0" i="0" kern="1200" dirty="0">
                <a:solidFill>
                  <a:schemeClr val="tx1"/>
                </a:solidFill>
                <a:effectLst/>
                <a:latin typeface="+mn-lt"/>
                <a:ea typeface="+mn-ea"/>
                <a:cs typeface="+mn-cs"/>
              </a:rPr>
              <a:t> If a birthday attack results in </a:t>
            </a:r>
            <a:r>
              <a:rPr lang="en-US" sz="1200" b="1" i="0" kern="1200" dirty="0">
                <a:solidFill>
                  <a:schemeClr val="tx1"/>
                </a:solidFill>
                <a:effectLst/>
                <a:latin typeface="+mn-lt"/>
                <a:ea typeface="+mn-ea"/>
                <a:cs typeface="+mn-cs"/>
              </a:rPr>
              <a:t>two different documents having the same hash, an attacker could forge a digital signature</a:t>
            </a:r>
            <a:r>
              <a:rPr lang="en-US" sz="1200" b="0" i="0" kern="1200" dirty="0">
                <a:solidFill>
                  <a:schemeClr val="tx1"/>
                </a:solidFill>
                <a:effectLst/>
                <a:latin typeface="+mn-lt"/>
                <a:ea typeface="+mn-ea"/>
                <a:cs typeface="+mn-cs"/>
              </a:rPr>
              <a:t>, leading to potentially fraudulent activities being perceived as legitimate.</a:t>
            </a:r>
            <a:br>
              <a:rPr lang="en-US" dirty="0"/>
            </a:b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  Password Storage Systems:</a:t>
            </a:r>
            <a:r>
              <a:rPr lang="en-US" sz="1200" b="0" i="0" kern="1200" dirty="0">
                <a:solidFill>
                  <a:schemeClr val="tx1"/>
                </a:solidFill>
                <a:effectLst/>
                <a:latin typeface="+mn-lt"/>
                <a:ea typeface="+mn-ea"/>
                <a:cs typeface="+mn-cs"/>
              </a:rPr>
              <a:t> A collision here could allow an attacker to gain access by </a:t>
            </a:r>
            <a:r>
              <a:rPr lang="en-US" sz="1200" b="1" i="0" kern="1200" dirty="0">
                <a:solidFill>
                  <a:schemeClr val="tx1"/>
                </a:solidFill>
                <a:effectLst/>
                <a:latin typeface="+mn-lt"/>
                <a:ea typeface="+mn-ea"/>
                <a:cs typeface="+mn-cs"/>
              </a:rPr>
              <a:t>finding a different password that produces the same hash as the original</a:t>
            </a:r>
            <a:r>
              <a:rPr lang="en-US" sz="1200" b="0" i="0" kern="1200" dirty="0">
                <a:solidFill>
                  <a:schemeClr val="tx1"/>
                </a:solidFill>
                <a:effectLst/>
                <a:latin typeface="+mn-lt"/>
                <a:ea typeface="+mn-ea"/>
                <a:cs typeface="+mn-cs"/>
              </a:rPr>
              <a:t>, bypassing security checks without needing the actual password.</a:t>
            </a:r>
            <a:br>
              <a:rPr lang="en-US" dirty="0"/>
            </a:b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  SSL/TLS Certificates:</a:t>
            </a:r>
            <a:r>
              <a:rPr lang="en-US" sz="1200" b="0" i="0" kern="1200" dirty="0">
                <a:solidFill>
                  <a:schemeClr val="tx1"/>
                </a:solidFill>
                <a:effectLst/>
                <a:latin typeface="+mn-lt"/>
                <a:ea typeface="+mn-ea"/>
                <a:cs typeface="+mn-cs"/>
              </a:rPr>
              <a:t> Secure Sockets Layer (SSL) and Transport Layer Security (TLS) certificates use hash functions for internet communication, and collisions in these hash functions could enable attackers to </a:t>
            </a:r>
            <a:r>
              <a:rPr lang="en-US" sz="1200" b="1" i="0" kern="1200" dirty="0">
                <a:solidFill>
                  <a:schemeClr val="tx1"/>
                </a:solidFill>
                <a:effectLst/>
                <a:latin typeface="+mn-lt"/>
                <a:ea typeface="+mn-ea"/>
                <a:cs typeface="+mn-cs"/>
              </a:rPr>
              <a:t>spoof these certificates</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leading to potential man-in-the-middle attacks</a:t>
            </a:r>
            <a:r>
              <a:rPr lang="en-US" sz="1200" b="0" i="0" kern="1200" dirty="0">
                <a:solidFill>
                  <a:schemeClr val="tx1"/>
                </a:solidFill>
                <a:effectLst/>
                <a:latin typeface="+mn-lt"/>
                <a:ea typeface="+mn-ea"/>
                <a:cs typeface="+mn-cs"/>
              </a:rPr>
              <a:t>.</a:t>
            </a:r>
            <a:endParaRPr lang="en-IN" dirty="0"/>
          </a:p>
        </p:txBody>
      </p:sp>
      <p:sp>
        <p:nvSpPr>
          <p:cNvPr id="4" name="Slide Number Placeholder 3"/>
          <p:cNvSpPr>
            <a:spLocks noGrp="1"/>
          </p:cNvSpPr>
          <p:nvPr>
            <p:ph type="sldNum" sz="quarter" idx="10"/>
          </p:nvPr>
        </p:nvSpPr>
        <p:spPr/>
        <p:txBody>
          <a:bodyPr/>
          <a:lstStyle/>
          <a:p>
            <a:fld id="{FEC0EB85-1EFE-43DE-B793-4AB3572B2794}" type="slidenum">
              <a:rPr lang="en-IN" smtClean="0"/>
              <a:pPr/>
              <a:t>36</a:t>
            </a:fld>
            <a:endParaRPr lang="en-IN"/>
          </a:p>
        </p:txBody>
      </p:sp>
    </p:spTree>
    <p:extLst>
      <p:ext uri="{BB962C8B-B14F-4D97-AF65-F5344CB8AC3E}">
        <p14:creationId xmlns:p14="http://schemas.microsoft.com/office/powerpoint/2010/main" val="6381587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87422902-BD6F-4672-A0A5-93084F3B7D23}" type="datetimeFigureOut">
              <a:rPr lang="en-IN" smtClean="0"/>
              <a:pPr/>
              <a:t>11/04/25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67C73E-4A13-4C71-B2CA-4FF9ED28A8E8}" type="slidenum">
              <a:rPr lang="en-IN" smtClean="0"/>
              <a:pPr/>
              <a:t>‹#›</a:t>
            </a:fld>
            <a:endParaRPr lang="en-IN"/>
          </a:p>
        </p:txBody>
      </p:sp>
    </p:spTree>
    <p:extLst>
      <p:ext uri="{BB962C8B-B14F-4D97-AF65-F5344CB8AC3E}">
        <p14:creationId xmlns:p14="http://schemas.microsoft.com/office/powerpoint/2010/main" val="19258238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7422902-BD6F-4672-A0A5-93084F3B7D23}" type="datetimeFigureOut">
              <a:rPr lang="en-IN" smtClean="0"/>
              <a:pPr/>
              <a:t>11/04/25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67C73E-4A13-4C71-B2CA-4FF9ED28A8E8}" type="slidenum">
              <a:rPr lang="en-IN" smtClean="0"/>
              <a:pPr/>
              <a:t>‹#›</a:t>
            </a:fld>
            <a:endParaRPr lang="en-IN"/>
          </a:p>
        </p:txBody>
      </p:sp>
    </p:spTree>
    <p:extLst>
      <p:ext uri="{BB962C8B-B14F-4D97-AF65-F5344CB8AC3E}">
        <p14:creationId xmlns:p14="http://schemas.microsoft.com/office/powerpoint/2010/main" val="28262190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422902-BD6F-4672-A0A5-93084F3B7D23}" type="datetimeFigureOut">
              <a:rPr lang="en-IN" smtClean="0"/>
              <a:pPr/>
              <a:t>11/04/25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67C73E-4A13-4C71-B2CA-4FF9ED28A8E8}" type="slidenum">
              <a:rPr lang="en-IN" smtClean="0"/>
              <a:pPr/>
              <a:t>‹#›</a:t>
            </a:fld>
            <a:endParaRPr lang="en-IN"/>
          </a:p>
        </p:txBody>
      </p:sp>
    </p:spTree>
    <p:extLst>
      <p:ext uri="{BB962C8B-B14F-4D97-AF65-F5344CB8AC3E}">
        <p14:creationId xmlns:p14="http://schemas.microsoft.com/office/powerpoint/2010/main" val="152420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87422902-BD6F-4672-A0A5-93084F3B7D23}" type="datetimeFigureOut">
              <a:rPr lang="en-IN" smtClean="0"/>
              <a:pPr/>
              <a:t>11/04/25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C67C73E-4A13-4C71-B2CA-4FF9ED28A8E8}" type="slidenum">
              <a:rPr lang="en-IN" smtClean="0"/>
              <a:pPr/>
              <a:t>‹#›</a:t>
            </a:fld>
            <a:endParaRPr lang="en-IN"/>
          </a:p>
        </p:txBody>
      </p:sp>
    </p:spTree>
    <p:extLst>
      <p:ext uri="{BB962C8B-B14F-4D97-AF65-F5344CB8AC3E}">
        <p14:creationId xmlns:p14="http://schemas.microsoft.com/office/powerpoint/2010/main" val="2974751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87422902-BD6F-4672-A0A5-93084F3B7D23}" type="datetimeFigureOut">
              <a:rPr lang="en-IN" smtClean="0"/>
              <a:pPr/>
              <a:t>11/04/25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C67C73E-4A13-4C71-B2CA-4FF9ED28A8E8}" type="slidenum">
              <a:rPr lang="en-IN" smtClean="0"/>
              <a:pPr/>
              <a:t>‹#›</a:t>
            </a:fld>
            <a:endParaRPr lang="en-IN"/>
          </a:p>
        </p:txBody>
      </p:sp>
    </p:spTree>
    <p:extLst>
      <p:ext uri="{BB962C8B-B14F-4D97-AF65-F5344CB8AC3E}">
        <p14:creationId xmlns:p14="http://schemas.microsoft.com/office/powerpoint/2010/main" val="15519130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87422902-BD6F-4672-A0A5-93084F3B7D23}" type="datetimeFigureOut">
              <a:rPr lang="en-IN" smtClean="0"/>
              <a:pPr/>
              <a:t>11/04/25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C67C73E-4A13-4C71-B2CA-4FF9ED28A8E8}" type="slidenum">
              <a:rPr lang="en-IN" smtClean="0"/>
              <a:pPr/>
              <a:t>‹#›</a:t>
            </a:fld>
            <a:endParaRPr lang="en-IN"/>
          </a:p>
        </p:txBody>
      </p:sp>
    </p:spTree>
    <p:extLst>
      <p:ext uri="{BB962C8B-B14F-4D97-AF65-F5344CB8AC3E}">
        <p14:creationId xmlns:p14="http://schemas.microsoft.com/office/powerpoint/2010/main" val="36669393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422902-BD6F-4672-A0A5-93084F3B7D23}" type="datetimeFigureOut">
              <a:rPr lang="en-IN" smtClean="0"/>
              <a:pPr/>
              <a:t>11/04/25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C67C73E-4A13-4C71-B2CA-4FF9ED28A8E8}" type="slidenum">
              <a:rPr lang="en-IN" smtClean="0"/>
              <a:pPr/>
              <a:t>‹#›</a:t>
            </a:fld>
            <a:endParaRPr lang="en-IN"/>
          </a:p>
        </p:txBody>
      </p:sp>
    </p:spTree>
    <p:extLst>
      <p:ext uri="{BB962C8B-B14F-4D97-AF65-F5344CB8AC3E}">
        <p14:creationId xmlns:p14="http://schemas.microsoft.com/office/powerpoint/2010/main" val="15618047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7422902-BD6F-4672-A0A5-93084F3B7D23}" type="datetimeFigureOut">
              <a:rPr lang="en-IN" smtClean="0"/>
              <a:pPr/>
              <a:t>11/04/25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C67C73E-4A13-4C71-B2CA-4FF9ED28A8E8}" type="slidenum">
              <a:rPr lang="en-IN" smtClean="0"/>
              <a:pPr/>
              <a:t>‹#›</a:t>
            </a:fld>
            <a:endParaRPr lang="en-IN"/>
          </a:p>
        </p:txBody>
      </p:sp>
    </p:spTree>
    <p:extLst>
      <p:ext uri="{BB962C8B-B14F-4D97-AF65-F5344CB8AC3E}">
        <p14:creationId xmlns:p14="http://schemas.microsoft.com/office/powerpoint/2010/main" val="2278463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7422902-BD6F-4672-A0A5-93084F3B7D23}" type="datetimeFigureOut">
              <a:rPr lang="en-IN" smtClean="0"/>
              <a:pPr/>
              <a:t>11/04/25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C67C73E-4A13-4C71-B2CA-4FF9ED28A8E8}" type="slidenum">
              <a:rPr lang="en-IN" smtClean="0"/>
              <a:pPr/>
              <a:t>‹#›</a:t>
            </a:fld>
            <a:endParaRPr lang="en-IN"/>
          </a:p>
        </p:txBody>
      </p:sp>
    </p:spTree>
    <p:extLst>
      <p:ext uri="{BB962C8B-B14F-4D97-AF65-F5344CB8AC3E}">
        <p14:creationId xmlns:p14="http://schemas.microsoft.com/office/powerpoint/2010/main" val="38507364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7422902-BD6F-4672-A0A5-93084F3B7D23}" type="datetimeFigureOut">
              <a:rPr lang="en-IN" smtClean="0"/>
              <a:pPr/>
              <a:t>11/04/25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67C73E-4A13-4C71-B2CA-4FF9ED28A8E8}" type="slidenum">
              <a:rPr lang="en-IN" smtClean="0"/>
              <a:pPr/>
              <a:t>‹#›</a:t>
            </a:fld>
            <a:endParaRPr lang="en-IN"/>
          </a:p>
        </p:txBody>
      </p:sp>
    </p:spTree>
    <p:extLst>
      <p:ext uri="{BB962C8B-B14F-4D97-AF65-F5344CB8AC3E}">
        <p14:creationId xmlns:p14="http://schemas.microsoft.com/office/powerpoint/2010/main" val="29602767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7422902-BD6F-4672-A0A5-93084F3B7D23}" type="datetimeFigureOut">
              <a:rPr lang="en-IN" smtClean="0"/>
              <a:pPr/>
              <a:t>11/04/25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67C73E-4A13-4C71-B2CA-4FF9ED28A8E8}" type="slidenum">
              <a:rPr lang="en-IN" smtClean="0"/>
              <a:pPr/>
              <a:t>‹#›</a:t>
            </a:fld>
            <a:endParaRPr lang="en-IN"/>
          </a:p>
        </p:txBody>
      </p:sp>
    </p:spTree>
    <p:extLst>
      <p:ext uri="{BB962C8B-B14F-4D97-AF65-F5344CB8AC3E}">
        <p14:creationId xmlns:p14="http://schemas.microsoft.com/office/powerpoint/2010/main" val="18296803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422902-BD6F-4672-A0A5-93084F3B7D23}" type="datetimeFigureOut">
              <a:rPr lang="en-IN" smtClean="0"/>
              <a:pPr/>
              <a:t>11/04/25</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67C73E-4A13-4C71-B2CA-4FF9ED28A8E8}" type="slidenum">
              <a:rPr lang="en-IN" smtClean="0"/>
              <a:pPr/>
              <a:t>‹#›</a:t>
            </a:fld>
            <a:endParaRPr lang="en-IN"/>
          </a:p>
        </p:txBody>
      </p:sp>
    </p:spTree>
    <p:extLst>
      <p:ext uri="{BB962C8B-B14F-4D97-AF65-F5344CB8AC3E}">
        <p14:creationId xmlns:p14="http://schemas.microsoft.com/office/powerpoint/2010/main" val="4412117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00034" y="1928802"/>
            <a:ext cx="8424936" cy="1470025"/>
          </a:xfrm>
        </p:spPr>
        <p:txBody>
          <a:bodyPr>
            <a:normAutofit fontScale="90000"/>
          </a:bodyPr>
          <a:lstStyle/>
          <a:p>
            <a:br>
              <a:rPr lang="en-IN" b="1" dirty="0">
                <a:solidFill>
                  <a:srgbClr val="FF0000"/>
                </a:solidFill>
              </a:rPr>
            </a:br>
            <a:r>
              <a:rPr lang="en-IN" sz="6000" b="1" dirty="0">
                <a:solidFill>
                  <a:srgbClr val="7030A0"/>
                </a:solidFill>
              </a:rPr>
              <a:t>MAC &amp; HMAC</a:t>
            </a:r>
            <a:br>
              <a:rPr lang="en-IN" sz="6000" b="1" dirty="0">
                <a:solidFill>
                  <a:srgbClr val="7030A0"/>
                </a:solidFill>
              </a:rPr>
            </a:br>
            <a:r>
              <a:rPr lang="en-IN" b="1" dirty="0">
                <a:solidFill>
                  <a:srgbClr val="FF0000"/>
                </a:solidFill>
              </a:rPr>
              <a:t> </a:t>
            </a:r>
          </a:p>
        </p:txBody>
      </p:sp>
    </p:spTree>
    <p:extLst>
      <p:ext uri="{BB962C8B-B14F-4D97-AF65-F5344CB8AC3E}">
        <p14:creationId xmlns:p14="http://schemas.microsoft.com/office/powerpoint/2010/main" val="9771604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2910" y="2643182"/>
            <a:ext cx="8229600" cy="1143000"/>
          </a:xfrm>
        </p:spPr>
        <p:txBody>
          <a:bodyPr>
            <a:noAutofit/>
          </a:bodyPr>
          <a:lstStyle/>
          <a:p>
            <a:r>
              <a:rPr lang="en-IN" b="1" dirty="0"/>
              <a:t>MAC </a:t>
            </a:r>
            <a:br>
              <a:rPr lang="en-IN" b="1" dirty="0"/>
            </a:br>
            <a:r>
              <a:rPr lang="en-IN" b="1" dirty="0"/>
              <a:t>(Message Authentication Code)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Message Authentication</a:t>
            </a:r>
          </a:p>
        </p:txBody>
      </p:sp>
      <p:sp>
        <p:nvSpPr>
          <p:cNvPr id="3" name="Content Placeholder 2"/>
          <p:cNvSpPr>
            <a:spLocks noGrp="1"/>
          </p:cNvSpPr>
          <p:nvPr>
            <p:ph idx="1"/>
          </p:nvPr>
        </p:nvSpPr>
        <p:spPr>
          <a:xfrm>
            <a:off x="457200" y="1357298"/>
            <a:ext cx="8229600" cy="4768865"/>
          </a:xfrm>
        </p:spPr>
        <p:txBody>
          <a:bodyPr>
            <a:normAutofit fontScale="92500"/>
          </a:bodyPr>
          <a:lstStyle/>
          <a:p>
            <a:pPr algn="just"/>
            <a:r>
              <a:rPr lang="en-IN" sz="3600" dirty="0"/>
              <a:t>Message Authentication is concerned with:</a:t>
            </a:r>
          </a:p>
          <a:p>
            <a:pPr lvl="1" algn="just"/>
            <a:r>
              <a:rPr lang="en-IN" sz="3200" b="1" dirty="0"/>
              <a:t>Protecting the integrity of the message        </a:t>
            </a:r>
            <a:r>
              <a:rPr lang="en-IN" sz="3200" dirty="0"/>
              <a:t>(i.e., contain no modification, insertion, deletion or replay) </a:t>
            </a:r>
          </a:p>
          <a:p>
            <a:pPr lvl="1" algn="just"/>
            <a:r>
              <a:rPr lang="en-IN" sz="3200" b="1" dirty="0"/>
              <a:t>Validating identity of originator.</a:t>
            </a:r>
          </a:p>
          <a:p>
            <a:pPr algn="just"/>
            <a:r>
              <a:rPr lang="en-IN" sz="3600" dirty="0"/>
              <a:t>It is offered in the following areas;</a:t>
            </a:r>
          </a:p>
          <a:p>
            <a:pPr lvl="1" algn="just"/>
            <a:r>
              <a:rPr lang="en-IN" dirty="0"/>
              <a:t>Message encryption</a:t>
            </a:r>
          </a:p>
          <a:p>
            <a:pPr lvl="1" algn="just"/>
            <a:r>
              <a:rPr lang="en-IN" dirty="0"/>
              <a:t>Hash function</a:t>
            </a:r>
          </a:p>
          <a:p>
            <a:pPr lvl="1" algn="just"/>
            <a:r>
              <a:rPr lang="en-IN" dirty="0"/>
              <a:t>Message Authentication Code (MAC)</a:t>
            </a:r>
          </a:p>
          <a:p>
            <a:pPr algn="just">
              <a:buNone/>
            </a:pPr>
            <a:endParaRPr lang="en-IN" sz="3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14290"/>
            <a:ext cx="8229600" cy="1000132"/>
          </a:xfrm>
        </p:spPr>
        <p:txBody>
          <a:bodyPr>
            <a:normAutofit fontScale="90000"/>
          </a:bodyPr>
          <a:lstStyle/>
          <a:p>
            <a:r>
              <a:rPr lang="en-IN" dirty="0">
                <a:solidFill>
                  <a:srgbClr val="7030A0"/>
                </a:solidFill>
              </a:rPr>
              <a:t>Message Authentication Code (MAC)</a:t>
            </a:r>
            <a:endParaRPr lang="en-IN" dirty="0"/>
          </a:p>
        </p:txBody>
      </p:sp>
      <p:sp>
        <p:nvSpPr>
          <p:cNvPr id="3" name="Content Placeholder 2"/>
          <p:cNvSpPr>
            <a:spLocks noGrp="1"/>
          </p:cNvSpPr>
          <p:nvPr>
            <p:ph idx="1"/>
          </p:nvPr>
        </p:nvSpPr>
        <p:spPr>
          <a:xfrm>
            <a:off x="0" y="1214422"/>
            <a:ext cx="5177272" cy="5429288"/>
          </a:xfrm>
        </p:spPr>
        <p:txBody>
          <a:bodyPr>
            <a:normAutofit fontScale="55000" lnSpcReduction="20000"/>
          </a:bodyPr>
          <a:lstStyle/>
          <a:p>
            <a:pPr>
              <a:defRPr/>
            </a:pPr>
            <a:r>
              <a:rPr lang="en-US" dirty="0">
                <a:latin typeface="Times New Roman" panose="02020603050405020304" pitchFamily="18" charset="0"/>
                <a:cs typeface="Times New Roman" panose="02020603050405020304" pitchFamily="18" charset="0"/>
              </a:rPr>
              <a:t>Message authentication ensures Integrity &amp; source legality.</a:t>
            </a:r>
          </a:p>
          <a:p>
            <a:pPr>
              <a:defRPr/>
            </a:pPr>
            <a:r>
              <a:rPr lang="en-US" dirty="0">
                <a:latin typeface="Times New Roman" panose="02020603050405020304" pitchFamily="18" charset="0"/>
                <a:cs typeface="Times New Roman" panose="02020603050405020304" pitchFamily="18" charset="0"/>
              </a:rPr>
              <a:t>A MAC is an algorithm that requires </a:t>
            </a:r>
            <a:r>
              <a:rPr lang="en-US" b="1" dirty="0">
                <a:latin typeface="Times New Roman" panose="02020603050405020304" pitchFamily="18" charset="0"/>
                <a:cs typeface="Times New Roman" panose="02020603050405020304" pitchFamily="18" charset="0"/>
              </a:rPr>
              <a:t>the use of a secret key.</a:t>
            </a:r>
          </a:p>
          <a:p>
            <a:pPr>
              <a:defRPr/>
            </a:pPr>
            <a:r>
              <a:rPr lang="en-US" dirty="0">
                <a:latin typeface="Times New Roman" panose="02020603050405020304" pitchFamily="18" charset="0"/>
                <a:cs typeface="Times New Roman" panose="02020603050405020304" pitchFamily="18" charset="0"/>
              </a:rPr>
              <a:t>A MAC takes a variable length message &amp; a secret key as Input and produces an authentication code.</a:t>
            </a:r>
          </a:p>
          <a:p>
            <a:pPr>
              <a:defRPr/>
            </a:pPr>
            <a:r>
              <a:rPr lang="en-US" dirty="0">
                <a:latin typeface="Times New Roman" panose="02020603050405020304" pitchFamily="18" charset="0"/>
                <a:cs typeface="Times New Roman" panose="02020603050405020304" pitchFamily="18" charset="0"/>
              </a:rPr>
              <a:t>A recipient is possession of the secret key can generate an authentication code to verify the Integrity of the message</a:t>
            </a:r>
          </a:p>
          <a:p>
            <a:pPr marL="0" indent="0" algn="ctr">
              <a:buNone/>
              <a:defRPr/>
            </a:pPr>
            <a:r>
              <a:rPr lang="en-US" b="1" dirty="0">
                <a:solidFill>
                  <a:srgbClr val="0000FF"/>
                </a:solidFill>
                <a:latin typeface="Times New Roman" panose="02020603050405020304" pitchFamily="18" charset="0"/>
                <a:cs typeface="Times New Roman" panose="02020603050405020304" pitchFamily="18" charset="0"/>
              </a:rPr>
              <a:t>MAC = MAC(K,M)</a:t>
            </a:r>
          </a:p>
          <a:p>
            <a:pPr marL="0" indent="0">
              <a:buNone/>
              <a:defRPr/>
            </a:pPr>
            <a:r>
              <a:rPr lang="en-US" dirty="0">
                <a:latin typeface="Times New Roman" panose="02020603050405020304" pitchFamily="18" charset="0"/>
                <a:cs typeface="Times New Roman" panose="02020603050405020304" pitchFamily="18" charset="0"/>
              </a:rPr>
              <a:t>Finally from Source    M+MAC </a:t>
            </a:r>
            <a:r>
              <a:rPr lang="en-US" dirty="0">
                <a:latin typeface="Times New Roman" panose="02020603050405020304" pitchFamily="18" charset="0"/>
                <a:cs typeface="Times New Roman" panose="02020603050405020304" pitchFamily="18" charset="0"/>
                <a:sym typeface="Wingdings" panose="05000000000000000000" pitchFamily="2" charset="2"/>
              </a:rPr>
              <a:t> Transmitted to destination</a:t>
            </a:r>
          </a:p>
          <a:p>
            <a:pPr marL="0" indent="0">
              <a:buNone/>
              <a:defRPr/>
            </a:pPr>
            <a:r>
              <a:rPr lang="en-US" dirty="0">
                <a:latin typeface="Times New Roman" panose="02020603050405020304" pitchFamily="18" charset="0"/>
                <a:cs typeface="Times New Roman" panose="02020603050405020304" pitchFamily="18" charset="0"/>
                <a:sym typeface="Wingdings" panose="05000000000000000000" pitchFamily="2" charset="2"/>
              </a:rPr>
              <a:t>M Tomorrow is an instructional day           </a:t>
            </a:r>
          </a:p>
          <a:p>
            <a:pPr marL="0" indent="0">
              <a:buNone/>
              <a:defRPr/>
            </a:pPr>
            <a:r>
              <a:rPr lang="en-US" dirty="0">
                <a:latin typeface="Times New Roman" panose="02020603050405020304" pitchFamily="18" charset="0"/>
                <a:cs typeface="Times New Roman" panose="02020603050405020304" pitchFamily="18" charset="0"/>
                <a:sym typeface="Wingdings" panose="05000000000000000000" pitchFamily="2" charset="2"/>
              </a:rPr>
              <a:t>K=53</a:t>
            </a:r>
          </a:p>
          <a:p>
            <a:pPr marL="0" indent="0">
              <a:buNone/>
              <a:defRPr/>
            </a:pPr>
            <a:r>
              <a:rPr lang="en-US" b="1" dirty="0">
                <a:solidFill>
                  <a:srgbClr val="0000FF"/>
                </a:solidFill>
                <a:latin typeface="Times New Roman" panose="02020603050405020304" pitchFamily="18" charset="0"/>
                <a:cs typeface="Times New Roman" panose="02020603050405020304" pitchFamily="18" charset="0"/>
              </a:rPr>
              <a:t>MAC = MAC(K,M)</a:t>
            </a:r>
          </a:p>
          <a:p>
            <a:pPr marL="0" indent="0">
              <a:buNone/>
              <a:defRPr/>
            </a:pPr>
            <a:r>
              <a:rPr lang="en-US" dirty="0">
                <a:latin typeface="Times New Roman" panose="02020603050405020304" pitchFamily="18" charset="0"/>
                <a:cs typeface="Times New Roman" panose="02020603050405020304" pitchFamily="18" charset="0"/>
              </a:rPr>
              <a:t>           = MAC(53,</a:t>
            </a:r>
            <a:r>
              <a:rPr lang="en-US" dirty="0">
                <a:latin typeface="Times New Roman" panose="02020603050405020304" pitchFamily="18" charset="0"/>
                <a:cs typeface="Times New Roman" panose="02020603050405020304" pitchFamily="18" charset="0"/>
                <a:sym typeface="Wingdings" panose="05000000000000000000" pitchFamily="2" charset="2"/>
              </a:rPr>
              <a:t> Tomorrow is an instructional day)</a:t>
            </a:r>
          </a:p>
          <a:p>
            <a:pPr marL="0" indent="0">
              <a:buNone/>
              <a:defRPr/>
            </a:pPr>
            <a:r>
              <a:rPr lang="en-US" dirty="0">
                <a:latin typeface="Times New Roman" panose="02020603050405020304" pitchFamily="18" charset="0"/>
                <a:cs typeface="Times New Roman" panose="02020603050405020304" pitchFamily="18" charset="0"/>
                <a:sym typeface="Wingdings" panose="05000000000000000000" pitchFamily="2" charset="2"/>
              </a:rPr>
              <a:t>           = 12345</a:t>
            </a:r>
          </a:p>
          <a:p>
            <a:pPr marL="0" indent="0">
              <a:buNone/>
              <a:defRPr/>
            </a:pPr>
            <a:r>
              <a:rPr lang="en-US"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Tomorrow is an instructional day+12345    </a:t>
            </a:r>
            <a:r>
              <a:rPr lang="en-US" dirty="0">
                <a:latin typeface="Times New Roman" panose="02020603050405020304" pitchFamily="18" charset="0"/>
                <a:cs typeface="Times New Roman" panose="02020603050405020304" pitchFamily="18" charset="0"/>
                <a:sym typeface="Wingdings" panose="05000000000000000000" pitchFamily="2" charset="2"/>
              </a:rPr>
              <a:t> Transmitted to destination</a:t>
            </a:r>
          </a:p>
          <a:p>
            <a:pPr marL="0" indent="0">
              <a:buNone/>
              <a:defRPr/>
            </a:pPr>
            <a:endParaRPr lang="en-US" dirty="0">
              <a:latin typeface="Times New Roman" panose="02020603050405020304" pitchFamily="18" charset="0"/>
              <a:cs typeface="Times New Roman" panose="02020603050405020304" pitchFamily="18" charset="0"/>
              <a:sym typeface="Wingdings" panose="05000000000000000000" pitchFamily="2" charset="2"/>
            </a:endParaRPr>
          </a:p>
          <a:p>
            <a:pPr marL="0" indent="0">
              <a:buNone/>
              <a:defRPr/>
            </a:pPr>
            <a:endParaRPr lang="en-US"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5177272" y="1484784"/>
            <a:ext cx="3943350" cy="338437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 calcmode="lin" valueType="num">
                                      <p:cBhvr additive="base">
                                        <p:cTn id="4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 calcmode="lin" valueType="num">
                                      <p:cBhvr additive="base">
                                        <p:cTn id="4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8" end="8"/>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3">
                                            <p:txEl>
                                              <p:pRg st="9" end="9"/>
                                            </p:txEl>
                                          </p:spTgt>
                                        </p:tgtEl>
                                        <p:attrNameLst>
                                          <p:attrName>style.visibility</p:attrName>
                                        </p:attrNameLst>
                                      </p:cBhvr>
                                      <p:to>
                                        <p:strVal val="visible"/>
                                      </p:to>
                                    </p:set>
                                    <p:anim calcmode="lin" valueType="num">
                                      <p:cBhvr additive="base">
                                        <p:cTn id="5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9" end="9"/>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3">
                                            <p:txEl>
                                              <p:pRg st="10" end="10"/>
                                            </p:txEl>
                                          </p:spTgt>
                                        </p:tgtEl>
                                        <p:attrNameLst>
                                          <p:attrName>style.visibility</p:attrName>
                                        </p:attrNameLst>
                                      </p:cBhvr>
                                      <p:to>
                                        <p:strVal val="visible"/>
                                      </p:to>
                                    </p:set>
                                    <p:anim calcmode="lin" valueType="num">
                                      <p:cBhvr additive="base">
                                        <p:cTn id="55"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3">
                                            <p:txEl>
                                              <p:pRg st="11" end="11"/>
                                            </p:txEl>
                                          </p:spTgt>
                                        </p:tgtEl>
                                        <p:attrNameLst>
                                          <p:attrName>style.visibility</p:attrName>
                                        </p:attrNameLst>
                                      </p:cBhvr>
                                      <p:to>
                                        <p:strVal val="visible"/>
                                      </p:to>
                                    </p:set>
                                    <p:anim calcmode="lin" valueType="num">
                                      <p:cBhvr additive="base">
                                        <p:cTn id="61"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571480"/>
            <a:ext cx="8229600" cy="989034"/>
          </a:xfrm>
        </p:spPr>
        <p:txBody>
          <a:bodyPr>
            <a:normAutofit fontScale="90000"/>
          </a:bodyPr>
          <a:lstStyle/>
          <a:p>
            <a:r>
              <a:rPr lang="en-IN" b="1" dirty="0"/>
              <a:t>How message authentication code (MAC) works?</a:t>
            </a:r>
            <a:br>
              <a:rPr lang="en-IN" b="1" dirty="0"/>
            </a:br>
            <a:endParaRPr lang="en-IN" dirty="0"/>
          </a:p>
        </p:txBody>
      </p:sp>
      <p:pic>
        <p:nvPicPr>
          <p:cNvPr id="1028" name="Picture 4"/>
          <p:cNvPicPr>
            <a:picLocks noChangeAspect="1" noChangeArrowheads="1"/>
          </p:cNvPicPr>
          <p:nvPr/>
        </p:nvPicPr>
        <p:blipFill>
          <a:blip r:embed="rId2"/>
          <a:srcRect/>
          <a:stretch>
            <a:fillRect/>
          </a:stretch>
        </p:blipFill>
        <p:spPr bwMode="auto">
          <a:xfrm>
            <a:off x="80177" y="2132856"/>
            <a:ext cx="9088078" cy="3084944"/>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r>
              <a:rPr lang="en-US" altLang="en-US" sz="3200" b="1" u="sng">
                <a:solidFill>
                  <a:srgbClr val="C00000"/>
                </a:solidFill>
                <a:latin typeface="Times New Roman" panose="02020603050405020304" pitchFamily="18" charset="0"/>
                <a:cs typeface="Times New Roman" panose="02020603050405020304" pitchFamily="18" charset="0"/>
              </a:rPr>
              <a:t>Message Authentication Code (MAC)</a:t>
            </a:r>
            <a:endParaRPr lang="en-US" altLang="en-US" sz="3200"/>
          </a:p>
        </p:txBody>
      </p:sp>
      <p:sp>
        <p:nvSpPr>
          <p:cNvPr id="9219"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AAA59F51-6127-4809-B8EF-83CF34F251D4}" type="slidenum">
              <a:rPr lang="en-US" altLang="en-US" sz="1200">
                <a:solidFill>
                  <a:srgbClr val="898989"/>
                </a:solidFill>
                <a:latin typeface="Arial" panose="020B0604020202020204" pitchFamily="34" charset="0"/>
              </a:rPr>
              <a:pPr>
                <a:spcBef>
                  <a:spcPct val="0"/>
                </a:spcBef>
                <a:buFontTx/>
                <a:buNone/>
              </a:pPr>
              <a:t>6</a:t>
            </a:fld>
            <a:endParaRPr lang="en-US" altLang="en-US" sz="1200">
              <a:solidFill>
                <a:srgbClr val="898989"/>
              </a:solidFill>
              <a:latin typeface="Arial" panose="020B0604020202020204" pitchFamily="34" charset="0"/>
            </a:endParaRPr>
          </a:p>
        </p:txBody>
      </p:sp>
      <p:pic>
        <p:nvPicPr>
          <p:cNvPr id="5" name="Picture 2"/>
          <p:cNvPicPr>
            <a:picLocks noChangeAspect="1" noChangeArrowheads="1"/>
          </p:cNvPicPr>
          <p:nvPr/>
        </p:nvPicPr>
        <p:blipFill>
          <a:blip r:embed="rId2"/>
          <a:srcRect/>
          <a:stretch>
            <a:fillRect/>
          </a:stretch>
        </p:blipFill>
        <p:spPr bwMode="auto">
          <a:xfrm>
            <a:off x="228600" y="1981200"/>
            <a:ext cx="8686800" cy="3810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9221" name="Rectangle 3"/>
          <p:cNvSpPr>
            <a:spLocks noChangeArrowheads="1"/>
          </p:cNvSpPr>
          <p:nvPr/>
        </p:nvSpPr>
        <p:spPr bwMode="auto">
          <a:xfrm>
            <a:off x="2362200" y="1219200"/>
            <a:ext cx="13716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b="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Tomorrow is an instructional day+12345 </a:t>
            </a:r>
            <a:endParaRPr lang="en-US" altLang="en-US" sz="1200" b="1">
              <a:latin typeface="Arial" panose="020B0604020202020204" pitchFamily="34" charset="0"/>
            </a:endParaRPr>
          </a:p>
        </p:txBody>
      </p:sp>
      <p:cxnSp>
        <p:nvCxnSpPr>
          <p:cNvPr id="8" name="Straight Arrow Connector 7"/>
          <p:cNvCxnSpPr/>
          <p:nvPr/>
        </p:nvCxnSpPr>
        <p:spPr>
          <a:xfrm flipV="1">
            <a:off x="2743200" y="1828800"/>
            <a:ext cx="0" cy="990600"/>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101289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r>
              <a:rPr lang="en-US" altLang="en-US" sz="3200" b="1" u="sng">
                <a:solidFill>
                  <a:srgbClr val="C00000"/>
                </a:solidFill>
                <a:latin typeface="Times New Roman" panose="02020603050405020304" pitchFamily="18" charset="0"/>
                <a:cs typeface="Times New Roman" panose="02020603050405020304" pitchFamily="18" charset="0"/>
              </a:rPr>
              <a:t>Message Authentication Code (MAC)</a:t>
            </a:r>
            <a:endParaRPr lang="en-US" altLang="en-US" sz="3200"/>
          </a:p>
        </p:txBody>
      </p:sp>
      <p:sp>
        <p:nvSpPr>
          <p:cNvPr id="10243"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B50AD27D-CD75-41A2-ADE0-926AE17C4CE1}" type="slidenum">
              <a:rPr lang="en-US" altLang="en-US" sz="1200">
                <a:solidFill>
                  <a:srgbClr val="898989"/>
                </a:solidFill>
                <a:latin typeface="Arial" panose="020B0604020202020204" pitchFamily="34" charset="0"/>
              </a:rPr>
              <a:pPr>
                <a:spcBef>
                  <a:spcPct val="0"/>
                </a:spcBef>
                <a:buFontTx/>
                <a:buNone/>
              </a:pPr>
              <a:t>7</a:t>
            </a:fld>
            <a:endParaRPr lang="en-US" altLang="en-US" sz="1200">
              <a:solidFill>
                <a:srgbClr val="898989"/>
              </a:solidFill>
              <a:latin typeface="Arial" panose="020B0604020202020204" pitchFamily="34" charset="0"/>
            </a:endParaRPr>
          </a:p>
        </p:txBody>
      </p:sp>
      <p:pic>
        <p:nvPicPr>
          <p:cNvPr id="5" name="Picture 2"/>
          <p:cNvPicPr>
            <a:picLocks noChangeAspect="1" noChangeArrowheads="1"/>
          </p:cNvPicPr>
          <p:nvPr/>
        </p:nvPicPr>
        <p:blipFill>
          <a:blip r:embed="rId2"/>
          <a:srcRect/>
          <a:stretch>
            <a:fillRect/>
          </a:stretch>
        </p:blipFill>
        <p:spPr bwMode="auto">
          <a:xfrm>
            <a:off x="228600" y="1981200"/>
            <a:ext cx="8686800" cy="3810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0245" name="Rectangle 2"/>
          <p:cNvSpPr>
            <a:spLocks noChangeArrowheads="1"/>
          </p:cNvSpPr>
          <p:nvPr/>
        </p:nvSpPr>
        <p:spPr bwMode="auto">
          <a:xfrm>
            <a:off x="4533900" y="1376363"/>
            <a:ext cx="11430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b="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Tomorrow is holiday+12345 </a:t>
            </a:r>
            <a:endParaRPr lang="en-US" altLang="en-US" sz="1200" b="1">
              <a:latin typeface="Arial" panose="020B0604020202020204" pitchFamily="34" charset="0"/>
            </a:endParaRPr>
          </a:p>
        </p:txBody>
      </p:sp>
      <p:sp>
        <p:nvSpPr>
          <p:cNvPr id="10246" name="Rectangle 3"/>
          <p:cNvSpPr>
            <a:spLocks noChangeArrowheads="1"/>
          </p:cNvSpPr>
          <p:nvPr/>
        </p:nvSpPr>
        <p:spPr bwMode="auto">
          <a:xfrm>
            <a:off x="2286000" y="1338263"/>
            <a:ext cx="13716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b="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Tomorrow is an instructional day+12345 </a:t>
            </a:r>
            <a:endParaRPr lang="en-US" altLang="en-US" sz="1200" b="1">
              <a:latin typeface="Arial" panose="020B0604020202020204" pitchFamily="34" charset="0"/>
            </a:endParaRPr>
          </a:p>
        </p:txBody>
      </p:sp>
      <p:cxnSp>
        <p:nvCxnSpPr>
          <p:cNvPr id="12" name="Straight Arrow Connector 11"/>
          <p:cNvCxnSpPr/>
          <p:nvPr/>
        </p:nvCxnSpPr>
        <p:spPr>
          <a:xfrm flipV="1">
            <a:off x="2743200" y="1828800"/>
            <a:ext cx="0" cy="990600"/>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V="1">
            <a:off x="4724400" y="1828800"/>
            <a:ext cx="0" cy="1143000"/>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10249" name="TextBox 8"/>
          <p:cNvSpPr txBox="1">
            <a:spLocks noChangeArrowheads="1"/>
          </p:cNvSpPr>
          <p:nvPr/>
        </p:nvSpPr>
        <p:spPr bwMode="auto">
          <a:xfrm>
            <a:off x="3124200" y="2160588"/>
            <a:ext cx="1219200"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100" b="1">
                <a:solidFill>
                  <a:srgbClr val="0000FF"/>
                </a:solidFill>
                <a:latin typeface="Times New Roman" panose="02020603050405020304" pitchFamily="18" charset="0"/>
                <a:cs typeface="Times New Roman" panose="02020603050405020304" pitchFamily="18" charset="0"/>
              </a:rPr>
              <a:t>Hacker – altered the message</a:t>
            </a:r>
          </a:p>
        </p:txBody>
      </p:sp>
    </p:spTree>
    <p:extLst>
      <p:ext uri="{BB962C8B-B14F-4D97-AF65-F5344CB8AC3E}">
        <p14:creationId xmlns:p14="http://schemas.microsoft.com/office/powerpoint/2010/main" val="26568566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r>
              <a:rPr lang="en-US" altLang="en-US" sz="3200" b="1" u="sng">
                <a:solidFill>
                  <a:srgbClr val="C00000"/>
                </a:solidFill>
                <a:latin typeface="Times New Roman" panose="02020603050405020304" pitchFamily="18" charset="0"/>
                <a:cs typeface="Times New Roman" panose="02020603050405020304" pitchFamily="18" charset="0"/>
              </a:rPr>
              <a:t>Message Authentication Code (MAC)</a:t>
            </a:r>
            <a:endParaRPr lang="en-US" altLang="en-US" sz="3200"/>
          </a:p>
        </p:txBody>
      </p:sp>
      <p:sp>
        <p:nvSpPr>
          <p:cNvPr id="11267"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C0D2BF38-E034-4AAD-AA5A-A5523A7895F7}" type="slidenum">
              <a:rPr lang="en-US" altLang="en-US" sz="1200">
                <a:solidFill>
                  <a:srgbClr val="898989"/>
                </a:solidFill>
                <a:latin typeface="Arial" panose="020B0604020202020204" pitchFamily="34" charset="0"/>
              </a:rPr>
              <a:pPr>
                <a:spcBef>
                  <a:spcPct val="0"/>
                </a:spcBef>
                <a:buFontTx/>
                <a:buNone/>
              </a:pPr>
              <a:t>8</a:t>
            </a:fld>
            <a:endParaRPr lang="en-US" altLang="en-US" sz="1200">
              <a:solidFill>
                <a:srgbClr val="898989"/>
              </a:solidFill>
              <a:latin typeface="Arial" panose="020B0604020202020204" pitchFamily="34" charset="0"/>
            </a:endParaRPr>
          </a:p>
        </p:txBody>
      </p:sp>
      <p:pic>
        <p:nvPicPr>
          <p:cNvPr id="5" name="Picture 2"/>
          <p:cNvPicPr>
            <a:picLocks noChangeAspect="1" noChangeArrowheads="1"/>
          </p:cNvPicPr>
          <p:nvPr/>
        </p:nvPicPr>
        <p:blipFill>
          <a:blip r:embed="rId2"/>
          <a:srcRect/>
          <a:stretch>
            <a:fillRect/>
          </a:stretch>
        </p:blipFill>
        <p:spPr bwMode="auto">
          <a:xfrm>
            <a:off x="228600" y="1981200"/>
            <a:ext cx="8686800" cy="3810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1269" name="Rectangle 2"/>
          <p:cNvSpPr>
            <a:spLocks noChangeArrowheads="1"/>
          </p:cNvSpPr>
          <p:nvPr/>
        </p:nvSpPr>
        <p:spPr bwMode="auto">
          <a:xfrm>
            <a:off x="4533900" y="1376363"/>
            <a:ext cx="11430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b="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Tomorrow is holiday+12345 </a:t>
            </a:r>
            <a:endParaRPr lang="en-US" altLang="en-US" sz="1200" b="1">
              <a:latin typeface="Arial" panose="020B0604020202020204" pitchFamily="34" charset="0"/>
            </a:endParaRPr>
          </a:p>
        </p:txBody>
      </p:sp>
      <p:sp>
        <p:nvSpPr>
          <p:cNvPr id="11270" name="Rectangle 3"/>
          <p:cNvSpPr>
            <a:spLocks noChangeArrowheads="1"/>
          </p:cNvSpPr>
          <p:nvPr/>
        </p:nvSpPr>
        <p:spPr bwMode="auto">
          <a:xfrm>
            <a:off x="2286000" y="1338263"/>
            <a:ext cx="13716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b="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Tomorrow is an instructional day+12345 </a:t>
            </a:r>
            <a:endParaRPr lang="en-US" altLang="en-US" sz="1200" b="1">
              <a:latin typeface="Arial" panose="020B0604020202020204" pitchFamily="34" charset="0"/>
            </a:endParaRPr>
          </a:p>
        </p:txBody>
      </p:sp>
      <p:sp>
        <p:nvSpPr>
          <p:cNvPr id="11271" name="Rectangle 5"/>
          <p:cNvSpPr>
            <a:spLocks noChangeArrowheads="1"/>
          </p:cNvSpPr>
          <p:nvPr/>
        </p:nvSpPr>
        <p:spPr bwMode="auto">
          <a:xfrm>
            <a:off x="5867400" y="2286000"/>
            <a:ext cx="18288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b="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Tomorrow is holiday</a:t>
            </a:r>
            <a:endParaRPr lang="en-US" altLang="en-US" sz="1200">
              <a:latin typeface="Arial" panose="020B0604020202020204" pitchFamily="34" charset="0"/>
            </a:endParaRPr>
          </a:p>
        </p:txBody>
      </p:sp>
      <p:sp>
        <p:nvSpPr>
          <p:cNvPr id="11272" name="Rectangle 6"/>
          <p:cNvSpPr>
            <a:spLocks noChangeArrowheads="1"/>
          </p:cNvSpPr>
          <p:nvPr/>
        </p:nvSpPr>
        <p:spPr bwMode="auto">
          <a:xfrm>
            <a:off x="7412038" y="3821113"/>
            <a:ext cx="5683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b="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77234</a:t>
            </a:r>
            <a:endParaRPr lang="en-US" altLang="en-US" sz="1200">
              <a:latin typeface="Arial" panose="020B0604020202020204" pitchFamily="34" charset="0"/>
            </a:endParaRPr>
          </a:p>
        </p:txBody>
      </p:sp>
      <p:sp>
        <p:nvSpPr>
          <p:cNvPr id="11273" name="Rectangle 9"/>
          <p:cNvSpPr>
            <a:spLocks noChangeArrowheads="1"/>
          </p:cNvSpPr>
          <p:nvPr/>
        </p:nvSpPr>
        <p:spPr bwMode="auto">
          <a:xfrm>
            <a:off x="6629400" y="4495800"/>
            <a:ext cx="56991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b="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12345</a:t>
            </a:r>
            <a:endParaRPr lang="en-US" altLang="en-US" sz="1200">
              <a:latin typeface="Arial" panose="020B0604020202020204" pitchFamily="34" charset="0"/>
            </a:endParaRPr>
          </a:p>
        </p:txBody>
      </p:sp>
      <p:sp>
        <p:nvSpPr>
          <p:cNvPr id="11274" name="Rectangle 10"/>
          <p:cNvSpPr>
            <a:spLocks noChangeArrowheads="1"/>
          </p:cNvSpPr>
          <p:nvPr/>
        </p:nvSpPr>
        <p:spPr bwMode="auto">
          <a:xfrm>
            <a:off x="7810500" y="5126038"/>
            <a:ext cx="11049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b="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No matching of hash code</a:t>
            </a:r>
            <a:endParaRPr lang="en-US" altLang="en-US" sz="1200">
              <a:latin typeface="Arial" panose="020B0604020202020204" pitchFamily="34" charset="0"/>
            </a:endParaRPr>
          </a:p>
        </p:txBody>
      </p:sp>
      <p:cxnSp>
        <p:nvCxnSpPr>
          <p:cNvPr id="12" name="Straight Arrow Connector 11"/>
          <p:cNvCxnSpPr/>
          <p:nvPr/>
        </p:nvCxnSpPr>
        <p:spPr>
          <a:xfrm flipV="1">
            <a:off x="2743200" y="1828800"/>
            <a:ext cx="0" cy="990600"/>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V="1">
            <a:off x="4724400" y="1828800"/>
            <a:ext cx="0" cy="1143000"/>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11277" name="TextBox 8"/>
          <p:cNvSpPr txBox="1">
            <a:spLocks noChangeArrowheads="1"/>
          </p:cNvSpPr>
          <p:nvPr/>
        </p:nvSpPr>
        <p:spPr bwMode="auto">
          <a:xfrm>
            <a:off x="3124200" y="2160588"/>
            <a:ext cx="1219200"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100" b="1">
                <a:solidFill>
                  <a:srgbClr val="0000FF"/>
                </a:solidFill>
                <a:latin typeface="Times New Roman" panose="02020603050405020304" pitchFamily="18" charset="0"/>
                <a:cs typeface="Times New Roman" panose="02020603050405020304" pitchFamily="18" charset="0"/>
              </a:rPr>
              <a:t>Hacker – altered the message</a:t>
            </a:r>
          </a:p>
        </p:txBody>
      </p:sp>
    </p:spTree>
    <p:extLst>
      <p:ext uri="{BB962C8B-B14F-4D97-AF65-F5344CB8AC3E}">
        <p14:creationId xmlns:p14="http://schemas.microsoft.com/office/powerpoint/2010/main" val="27664689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42918"/>
            <a:ext cx="8435280" cy="5483245"/>
          </a:xfrm>
        </p:spPr>
        <p:txBody>
          <a:bodyPr>
            <a:noAutofit/>
          </a:bodyPr>
          <a:lstStyle/>
          <a:p>
            <a:pPr marL="571500" indent="-571500" algn="just">
              <a:buFont typeface="+mj-lt"/>
              <a:buAutoNum type="romanLcPeriod"/>
            </a:pPr>
            <a:r>
              <a:rPr lang="en-IN" sz="2400" b="1" dirty="0"/>
              <a:t>The sender and receiver share a same secret key. </a:t>
            </a:r>
          </a:p>
          <a:p>
            <a:pPr marL="571500" indent="-571500" algn="just">
              <a:buFont typeface="+mj-lt"/>
              <a:buAutoNum type="romanLcPeriod"/>
            </a:pPr>
            <a:r>
              <a:rPr lang="en-IN" sz="2400" dirty="0"/>
              <a:t>Produce a MAC with message and secret key as inputs.</a:t>
            </a:r>
          </a:p>
          <a:p>
            <a:pPr marL="571500" indent="-571500" algn="just">
              <a:buFont typeface="+mj-lt"/>
              <a:buAutoNum type="romanLcPeriod"/>
            </a:pPr>
            <a:r>
              <a:rPr lang="en-IN" sz="2400" dirty="0"/>
              <a:t>The generated MAC is appended to the message and sent to the receiver. </a:t>
            </a:r>
          </a:p>
          <a:p>
            <a:pPr marL="571500" indent="-571500" algn="just">
              <a:buFont typeface="+mj-lt"/>
              <a:buAutoNum type="romanLcPeriod"/>
            </a:pPr>
            <a:r>
              <a:rPr lang="en-IN" sz="2400" dirty="0"/>
              <a:t>At the receiving end, the receiver also generates the MAC with the same shared key. </a:t>
            </a:r>
          </a:p>
          <a:p>
            <a:pPr marL="571500" indent="-571500" algn="just">
              <a:buFont typeface="+mj-lt"/>
              <a:buAutoNum type="romanLcPeriod"/>
            </a:pPr>
            <a:r>
              <a:rPr lang="en-IN" sz="2400" dirty="0"/>
              <a:t>Then compared the computed MAC with the received MAC generated by the sender. </a:t>
            </a:r>
          </a:p>
          <a:p>
            <a:pPr marL="571500" indent="-571500" algn="just">
              <a:buFont typeface="+mj-lt"/>
              <a:buAutoNum type="romanLcPeriod"/>
            </a:pPr>
            <a:r>
              <a:rPr lang="en-IN" sz="2400" dirty="0"/>
              <a:t>If both the MACs are equal, then the message is valid and coming from the correct sender, otherwise, the message is invalid.</a:t>
            </a:r>
          </a:p>
          <a:p>
            <a:pPr marL="571500" indent="-571500" algn="just">
              <a:buFont typeface="+mj-lt"/>
              <a:buAutoNum type="romanLcPeriod"/>
            </a:pPr>
            <a:r>
              <a:rPr lang="en-IN" sz="2400" dirty="0"/>
              <a:t>A message’s hash value would be different then it indicating to a receiver that it wasn’t from the original sender.</a:t>
            </a:r>
          </a:p>
          <a:p>
            <a:pPr algn="just"/>
            <a:endParaRPr lang="en-IN" sz="2400" dirty="0"/>
          </a:p>
        </p:txBody>
      </p:sp>
      <p:sp>
        <p:nvSpPr>
          <p:cNvPr id="5" name="TextBox 4"/>
          <p:cNvSpPr txBox="1"/>
          <p:nvPr/>
        </p:nvSpPr>
        <p:spPr>
          <a:xfrm>
            <a:off x="714348" y="214290"/>
            <a:ext cx="1024832" cy="461665"/>
          </a:xfrm>
          <a:prstGeom prst="rect">
            <a:avLst/>
          </a:prstGeom>
          <a:noFill/>
        </p:spPr>
        <p:txBody>
          <a:bodyPr wrap="none" rtlCol="0">
            <a:spAutoFit/>
          </a:bodyPr>
          <a:lstStyle/>
          <a:p>
            <a:r>
              <a:rPr lang="en-IN" sz="2400" b="1" dirty="0"/>
              <a:t>STEPS: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92696"/>
          </a:xfrm>
        </p:spPr>
        <p:txBody>
          <a:bodyPr>
            <a:normAutofit fontScale="90000"/>
          </a:bodyPr>
          <a:lstStyle/>
          <a:p>
            <a:r>
              <a:rPr lang="en-IN" dirty="0"/>
              <a:t>Use of MAC</a:t>
            </a:r>
          </a:p>
        </p:txBody>
      </p:sp>
      <p:sp>
        <p:nvSpPr>
          <p:cNvPr id="3" name="Content Placeholder 2"/>
          <p:cNvSpPr>
            <a:spLocks noGrp="1"/>
          </p:cNvSpPr>
          <p:nvPr>
            <p:ph idx="1"/>
          </p:nvPr>
        </p:nvSpPr>
        <p:spPr>
          <a:xfrm>
            <a:off x="0" y="836712"/>
            <a:ext cx="9144000" cy="5904656"/>
          </a:xfrm>
        </p:spPr>
        <p:txBody>
          <a:bodyPr>
            <a:normAutofit/>
          </a:bodyPr>
          <a:lstStyle/>
          <a:p>
            <a:pPr algn="just"/>
            <a:r>
              <a:rPr lang="en-IN" dirty="0"/>
              <a:t>The receiver is assured that the message has not been altered. If an attacker alters the message but does not alter the MAC, then the receiver’s calculation of the MAC will differ from the received MAC. Because the attacker is assumed not to know the secret key, the attacker cannot alter the MAC to correspond to the alterations in the message.</a:t>
            </a:r>
          </a:p>
          <a:p>
            <a:pPr algn="just"/>
            <a:r>
              <a:rPr lang="en-IN" dirty="0"/>
              <a:t>The receiver is assured that the message is from the trusted sender. Because no one else knows the secret key, no one else could prepare a message with a proper MAC.</a:t>
            </a:r>
          </a:p>
          <a:p>
            <a:pPr algn="just"/>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45BF7-0BE3-0C93-2FBA-DC7E89D946AE}"/>
              </a:ext>
            </a:extLst>
          </p:cNvPr>
          <p:cNvSpPr>
            <a:spLocks noGrp="1"/>
          </p:cNvSpPr>
          <p:nvPr>
            <p:ph type="title"/>
          </p:nvPr>
        </p:nvSpPr>
        <p:spPr>
          <a:xfrm>
            <a:off x="457200" y="274638"/>
            <a:ext cx="8229600" cy="994122"/>
          </a:xfrm>
        </p:spPr>
        <p:txBody>
          <a:bodyPr/>
          <a:lstStyle/>
          <a:p>
            <a:r>
              <a:rPr lang="en-IN" dirty="0">
                <a:solidFill>
                  <a:srgbClr val="7030A0"/>
                </a:solidFill>
              </a:rPr>
              <a:t>Basic use of MAC Functions</a:t>
            </a:r>
          </a:p>
        </p:txBody>
      </p:sp>
      <p:pic>
        <p:nvPicPr>
          <p:cNvPr id="4" name="Content Placeholder 3">
            <a:extLst>
              <a:ext uri="{FF2B5EF4-FFF2-40B4-BE49-F238E27FC236}">
                <a16:creationId xmlns:a16="http://schemas.microsoft.com/office/drawing/2014/main" id="{B57C9524-2F47-1A7A-F8AF-4B4A8A9C8FB1}"/>
              </a:ext>
            </a:extLst>
          </p:cNvPr>
          <p:cNvPicPr>
            <a:picLocks noGrp="1" noChangeAspect="1"/>
          </p:cNvPicPr>
          <p:nvPr>
            <p:ph idx="1"/>
          </p:nvPr>
        </p:nvPicPr>
        <p:blipFill>
          <a:blip r:embed="rId3"/>
          <a:stretch>
            <a:fillRect/>
          </a:stretch>
        </p:blipFill>
        <p:spPr>
          <a:xfrm>
            <a:off x="1250779" y="1214929"/>
            <a:ext cx="6642441" cy="5616624"/>
          </a:xfrm>
          <a:prstGeom prst="rect">
            <a:avLst/>
          </a:prstGeom>
        </p:spPr>
      </p:pic>
    </p:spTree>
    <p:extLst>
      <p:ext uri="{BB962C8B-B14F-4D97-AF65-F5344CB8AC3E}">
        <p14:creationId xmlns:p14="http://schemas.microsoft.com/office/powerpoint/2010/main" val="39667780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MAC types</a:t>
            </a:r>
          </a:p>
        </p:txBody>
      </p:sp>
      <p:sp>
        <p:nvSpPr>
          <p:cNvPr id="3" name="Content Placeholder 2"/>
          <p:cNvSpPr>
            <a:spLocks noGrp="1"/>
          </p:cNvSpPr>
          <p:nvPr>
            <p:ph idx="1"/>
          </p:nvPr>
        </p:nvSpPr>
        <p:spPr/>
        <p:txBody>
          <a:bodyPr/>
          <a:lstStyle/>
          <a:p>
            <a:r>
              <a:rPr lang="en-IN" dirty="0">
                <a:solidFill>
                  <a:srgbClr val="FF0000"/>
                </a:solidFill>
              </a:rPr>
              <a:t>Hash-function based (HMAC)</a:t>
            </a:r>
          </a:p>
          <a:p>
            <a:r>
              <a:rPr lang="en-IN" dirty="0"/>
              <a:t>Stream Cipher-based</a:t>
            </a:r>
          </a:p>
          <a:p>
            <a:r>
              <a:rPr lang="en-IN" dirty="0"/>
              <a:t>Block Cipher-based</a:t>
            </a:r>
          </a:p>
          <a:p>
            <a:endParaRPr lang="en-I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2910" y="2428868"/>
            <a:ext cx="8229600" cy="1143000"/>
          </a:xfrm>
        </p:spPr>
        <p:txBody>
          <a:bodyPr>
            <a:noAutofit/>
          </a:bodyPr>
          <a:lstStyle/>
          <a:p>
            <a:r>
              <a:rPr lang="en-IN" sz="5400" b="1" dirty="0"/>
              <a:t>HMAC – Hash Based Message Authentication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5969C-54BB-6560-E815-1B3F5A162BB0}"/>
              </a:ext>
            </a:extLst>
          </p:cNvPr>
          <p:cNvSpPr>
            <a:spLocks noGrp="1"/>
          </p:cNvSpPr>
          <p:nvPr>
            <p:ph type="title"/>
          </p:nvPr>
        </p:nvSpPr>
        <p:spPr/>
        <p:txBody>
          <a:bodyPr/>
          <a:lstStyle/>
          <a:p>
            <a:r>
              <a:rPr lang="en-IN" dirty="0">
                <a:solidFill>
                  <a:srgbClr val="7030A0"/>
                </a:solidFill>
              </a:rPr>
              <a:t> HMAC </a:t>
            </a:r>
          </a:p>
        </p:txBody>
      </p:sp>
      <p:sp>
        <p:nvSpPr>
          <p:cNvPr id="3" name="Content Placeholder 2">
            <a:extLst>
              <a:ext uri="{FF2B5EF4-FFF2-40B4-BE49-F238E27FC236}">
                <a16:creationId xmlns:a16="http://schemas.microsoft.com/office/drawing/2014/main" id="{2A156B00-9094-4966-90F2-47294F6E3575}"/>
              </a:ext>
            </a:extLst>
          </p:cNvPr>
          <p:cNvSpPr>
            <a:spLocks noGrp="1"/>
          </p:cNvSpPr>
          <p:nvPr>
            <p:ph idx="1"/>
          </p:nvPr>
        </p:nvSpPr>
        <p:spPr>
          <a:xfrm>
            <a:off x="457200" y="1285860"/>
            <a:ext cx="8229600" cy="4840303"/>
          </a:xfrm>
        </p:spPr>
        <p:txBody>
          <a:bodyPr>
            <a:normAutofit/>
          </a:bodyPr>
          <a:lstStyle/>
          <a:p>
            <a:pPr marL="0" indent="0" algn="just"/>
            <a:r>
              <a:rPr lang="en-IN" dirty="0"/>
              <a:t> HMAC (short for "Keyed-Hash Message Authentication Code") is a </a:t>
            </a:r>
            <a:r>
              <a:rPr lang="en-IN" b="1" dirty="0"/>
              <a:t>cryptographic hash function</a:t>
            </a:r>
            <a:r>
              <a:rPr lang="en-IN" dirty="0"/>
              <a:t> that uses a </a:t>
            </a:r>
            <a:r>
              <a:rPr lang="en-IN" b="1" dirty="0"/>
              <a:t>secret key </a:t>
            </a:r>
            <a:r>
              <a:rPr lang="en-IN" dirty="0"/>
              <a:t>as input to the hash function along with the </a:t>
            </a:r>
            <a:r>
              <a:rPr lang="en-IN" b="1" dirty="0"/>
              <a:t>message</a:t>
            </a:r>
            <a:r>
              <a:rPr lang="en-IN" dirty="0"/>
              <a:t> being hashed. </a:t>
            </a:r>
          </a:p>
          <a:p>
            <a:pPr marL="0" indent="0" algn="just"/>
            <a:r>
              <a:rPr lang="en-IN" dirty="0"/>
              <a:t>The </a:t>
            </a:r>
            <a:r>
              <a:rPr lang="en-IN" b="1" dirty="0"/>
              <a:t>resulting hash value is unique to the message </a:t>
            </a:r>
            <a:r>
              <a:rPr lang="en-IN" dirty="0"/>
              <a:t>and the secret key, and can be used to </a:t>
            </a:r>
            <a:r>
              <a:rPr lang="en-IN" b="1" dirty="0"/>
              <a:t>verify the integrity and authenticity of the message.</a:t>
            </a:r>
          </a:p>
        </p:txBody>
      </p:sp>
    </p:spTree>
    <p:extLst>
      <p:ext uri="{BB962C8B-B14F-4D97-AF65-F5344CB8AC3E}">
        <p14:creationId xmlns:p14="http://schemas.microsoft.com/office/powerpoint/2010/main" val="453440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5486400" y="28575"/>
            <a:ext cx="3200400" cy="563563"/>
          </a:xfrm>
        </p:spPr>
        <p:txBody>
          <a:bodyPr>
            <a:normAutofit fontScale="90000"/>
          </a:bodyPr>
          <a:lstStyle/>
          <a:p>
            <a:r>
              <a:rPr lang="en-US" altLang="en-US" sz="3600" b="1" u="sng">
                <a:solidFill>
                  <a:srgbClr val="C00000"/>
                </a:solidFill>
                <a:latin typeface="Times New Roman" panose="02020603050405020304" pitchFamily="18" charset="0"/>
                <a:cs typeface="Times New Roman" panose="02020603050405020304" pitchFamily="18" charset="0"/>
              </a:rPr>
              <a:t>HMAC </a:t>
            </a:r>
            <a:endParaRPr lang="en-US" altLang="en-US" sz="3600"/>
          </a:p>
        </p:txBody>
      </p:sp>
      <p:pic>
        <p:nvPicPr>
          <p:cNvPr id="15363" name="Picture 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6200" y="152400"/>
            <a:ext cx="4648200" cy="6462713"/>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sp>
        <p:nvSpPr>
          <p:cNvPr id="7" name="Rectangle 6"/>
          <p:cNvSpPr/>
          <p:nvPr/>
        </p:nvSpPr>
        <p:spPr>
          <a:xfrm>
            <a:off x="4876800" y="592138"/>
            <a:ext cx="4343400" cy="6186487"/>
          </a:xfrm>
          <a:prstGeom prst="rect">
            <a:avLst/>
          </a:prstGeom>
        </p:spPr>
        <p:txBody>
          <a:bodyPr>
            <a:spAutoFit/>
          </a:bodyPr>
          <a:lstStyle/>
          <a:p>
            <a:pPr>
              <a:defRPr/>
            </a:pPr>
            <a:r>
              <a:rPr lang="en-US" dirty="0">
                <a:solidFill>
                  <a:srgbClr val="0000FF"/>
                </a:solidFill>
                <a:latin typeface="Times New Roman" panose="02020603050405020304" pitchFamily="18" charset="0"/>
                <a:cs typeface="Times New Roman" panose="02020603050405020304" pitchFamily="18" charset="0"/>
              </a:rPr>
              <a:t>IV = initial value input to hash function</a:t>
            </a:r>
          </a:p>
          <a:p>
            <a:pPr>
              <a:defRPr/>
            </a:pPr>
            <a:r>
              <a:rPr lang="en-US" dirty="0">
                <a:solidFill>
                  <a:srgbClr val="0000FF"/>
                </a:solidFill>
                <a:latin typeface="Times New Roman" panose="02020603050405020304" pitchFamily="18" charset="0"/>
                <a:cs typeface="Times New Roman" panose="02020603050405020304" pitchFamily="18" charset="0"/>
              </a:rPr>
              <a:t>M = message input to HMAC</a:t>
            </a:r>
          </a:p>
          <a:p>
            <a:pPr>
              <a:defRPr/>
            </a:pPr>
            <a:r>
              <a:rPr lang="en-US" dirty="0">
                <a:solidFill>
                  <a:srgbClr val="0000FF"/>
                </a:solidFill>
                <a:latin typeface="Times New Roman" panose="02020603050405020304" pitchFamily="18" charset="0"/>
                <a:cs typeface="Times New Roman" panose="02020603050405020304" pitchFamily="18" charset="0"/>
              </a:rPr>
              <a:t>Y – L number of 1024 bit blocks</a:t>
            </a:r>
          </a:p>
          <a:p>
            <a:pPr>
              <a:defRPr/>
            </a:pPr>
            <a:r>
              <a:rPr lang="en-US" dirty="0">
                <a:solidFill>
                  <a:srgbClr val="FF0000"/>
                </a:solidFill>
                <a:latin typeface="Times New Roman" panose="02020603050405020304" pitchFamily="18" charset="0"/>
                <a:cs typeface="Times New Roman" panose="02020603050405020304" pitchFamily="18" charset="0"/>
              </a:rPr>
              <a:t>K</a:t>
            </a:r>
            <a:r>
              <a:rPr lang="en-US" dirty="0">
                <a:solidFill>
                  <a:srgbClr val="0000FF"/>
                </a:solidFill>
                <a:latin typeface="Times New Roman" panose="02020603050405020304" pitchFamily="18" charset="0"/>
                <a:cs typeface="Times New Roman" panose="02020603050405020304" pitchFamily="18" charset="0"/>
              </a:rPr>
              <a:t> = secret key</a:t>
            </a:r>
          </a:p>
          <a:p>
            <a:pPr>
              <a:defRPr/>
            </a:pPr>
            <a:r>
              <a:rPr lang="en-US" dirty="0">
                <a:solidFill>
                  <a:srgbClr val="0000FF"/>
                </a:solidFill>
                <a:latin typeface="Times New Roman" panose="02020603050405020304" pitchFamily="18" charset="0"/>
                <a:cs typeface="Times New Roman" panose="02020603050405020304" pitchFamily="18" charset="0"/>
              </a:rPr>
              <a:t>    = padded zeros to left to make it </a:t>
            </a:r>
            <a:r>
              <a:rPr lang="en-US" dirty="0">
                <a:solidFill>
                  <a:srgbClr val="FF0000"/>
                </a:solidFill>
                <a:latin typeface="Times New Roman" panose="02020603050405020304" pitchFamily="18" charset="0"/>
                <a:cs typeface="Times New Roman" panose="02020603050405020304" pitchFamily="18" charset="0"/>
              </a:rPr>
              <a:t>1024 bits</a:t>
            </a:r>
          </a:p>
          <a:p>
            <a:pPr>
              <a:defRPr/>
            </a:pPr>
            <a:r>
              <a:rPr lang="en-US" dirty="0" err="1">
                <a:solidFill>
                  <a:srgbClr val="0000FF"/>
                </a:solidFill>
                <a:latin typeface="Times New Roman" panose="02020603050405020304" pitchFamily="18" charset="0"/>
                <a:cs typeface="Times New Roman" panose="02020603050405020304" pitchFamily="18" charset="0"/>
              </a:rPr>
              <a:t>ipad</a:t>
            </a:r>
            <a:r>
              <a:rPr lang="en-US" dirty="0">
                <a:solidFill>
                  <a:srgbClr val="0000FF"/>
                </a:solidFill>
                <a:latin typeface="Times New Roman" panose="02020603050405020304" pitchFamily="18" charset="0"/>
                <a:cs typeface="Times New Roman" panose="02020603050405020304" pitchFamily="18" charset="0"/>
              </a:rPr>
              <a:t> = 00110110 repeated b/8 times</a:t>
            </a:r>
          </a:p>
          <a:p>
            <a:pPr>
              <a:defRPr/>
            </a:pPr>
            <a:r>
              <a:rPr lang="en-US" dirty="0" err="1">
                <a:solidFill>
                  <a:srgbClr val="0000FF"/>
                </a:solidFill>
                <a:latin typeface="Times New Roman" panose="02020603050405020304" pitchFamily="18" charset="0"/>
                <a:cs typeface="Times New Roman" panose="02020603050405020304" pitchFamily="18" charset="0"/>
              </a:rPr>
              <a:t>opad</a:t>
            </a:r>
            <a:r>
              <a:rPr lang="en-US" dirty="0">
                <a:solidFill>
                  <a:srgbClr val="0000FF"/>
                </a:solidFill>
                <a:latin typeface="Times New Roman" panose="02020603050405020304" pitchFamily="18" charset="0"/>
                <a:cs typeface="Times New Roman" panose="02020603050405020304" pitchFamily="18" charset="0"/>
              </a:rPr>
              <a:t> = 01011100 repeated b/8 times</a:t>
            </a:r>
          </a:p>
          <a:p>
            <a:pPr>
              <a:defRPr/>
            </a:pPr>
            <a:r>
              <a:rPr lang="en-US" b="1" u="sng" dirty="0">
                <a:latin typeface="Times New Roman" panose="02020603050405020304" pitchFamily="18" charset="0"/>
                <a:cs typeface="Times New Roman" panose="02020603050405020304" pitchFamily="18" charset="0"/>
              </a:rPr>
              <a:t>NOTE:</a:t>
            </a:r>
          </a:p>
          <a:p>
            <a:pPr>
              <a:defRPr/>
            </a:pPr>
            <a:r>
              <a:rPr lang="en-US" dirty="0">
                <a:latin typeface="Times New Roman" panose="02020603050405020304" pitchFamily="18" charset="0"/>
                <a:cs typeface="Times New Roman" panose="02020603050405020304" pitchFamily="18" charset="0"/>
              </a:rPr>
              <a:t>Assume hashing – SHA512. so each block is 1024 bit.</a:t>
            </a:r>
          </a:p>
          <a:p>
            <a:pPr>
              <a:defRPr/>
            </a:pPr>
            <a:endParaRPr lang="en-US" dirty="0">
              <a:latin typeface="Times New Roman" panose="02020603050405020304" pitchFamily="18" charset="0"/>
              <a:cs typeface="Times New Roman" panose="02020603050405020304" pitchFamily="18" charset="0"/>
            </a:endParaRPr>
          </a:p>
          <a:p>
            <a:pPr>
              <a:defRPr/>
            </a:pPr>
            <a:r>
              <a:rPr lang="en-US" dirty="0">
                <a:latin typeface="Times New Roman" panose="02020603050405020304" pitchFamily="18" charset="0"/>
                <a:cs typeface="Times New Roman" panose="02020603050405020304" pitchFamily="18" charset="0"/>
              </a:rPr>
              <a:t>b=1024</a:t>
            </a:r>
          </a:p>
          <a:p>
            <a:pPr>
              <a:defRPr/>
            </a:pPr>
            <a:r>
              <a:rPr lang="en-US" dirty="0">
                <a:latin typeface="Times New Roman" panose="02020603050405020304" pitchFamily="18" charset="0"/>
                <a:cs typeface="Times New Roman" panose="02020603050405020304" pitchFamily="18" charset="0"/>
              </a:rPr>
              <a:t>b/8=128</a:t>
            </a:r>
          </a:p>
          <a:p>
            <a:pPr marL="285750" indent="-285750">
              <a:buFont typeface="Arial" panose="020B0604020202020204" pitchFamily="34" charset="0"/>
              <a:buChar char="•"/>
              <a:defRPr/>
            </a:pPr>
            <a:r>
              <a:rPr lang="en-US" dirty="0">
                <a:latin typeface="Times New Roman" panose="02020603050405020304" pitchFamily="18" charset="0"/>
                <a:cs typeface="Times New Roman" panose="02020603050405020304" pitchFamily="18" charset="0"/>
              </a:rPr>
              <a:t>So 128 times we need to repeat </a:t>
            </a:r>
            <a:r>
              <a:rPr lang="en-US" dirty="0">
                <a:solidFill>
                  <a:srgbClr val="0000FF"/>
                </a:solidFill>
                <a:latin typeface="Times New Roman" panose="02020603050405020304" pitchFamily="18" charset="0"/>
                <a:cs typeface="Times New Roman" panose="02020603050405020304" pitchFamily="18" charset="0"/>
              </a:rPr>
              <a:t>00110110</a:t>
            </a:r>
            <a:r>
              <a:rPr lang="en-US" dirty="0">
                <a:latin typeface="Times New Roman" panose="02020603050405020304" pitchFamily="18" charset="0"/>
                <a:cs typeface="Times New Roman" panose="02020603050405020304" pitchFamily="18" charset="0"/>
              </a:rPr>
              <a:t> to generate </a:t>
            </a:r>
            <a:r>
              <a:rPr lang="en-US" dirty="0" err="1">
                <a:latin typeface="Times New Roman" panose="02020603050405020304" pitchFamily="18" charset="0"/>
                <a:cs typeface="Times New Roman" panose="02020603050405020304" pitchFamily="18" charset="0"/>
              </a:rPr>
              <a:t>ipad</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defRPr/>
            </a:pPr>
            <a:r>
              <a:rPr lang="en-US" dirty="0">
                <a:latin typeface="Times New Roman" panose="02020603050405020304" pitchFamily="18" charset="0"/>
                <a:cs typeface="Times New Roman" panose="02020603050405020304" pitchFamily="18" charset="0"/>
              </a:rPr>
              <a:t>Ex: </a:t>
            </a:r>
            <a:r>
              <a:rPr lang="en-US" dirty="0">
                <a:solidFill>
                  <a:srgbClr val="0000FF"/>
                </a:solidFill>
                <a:latin typeface="Times New Roman" panose="02020603050405020304" pitchFamily="18" charset="0"/>
                <a:cs typeface="Times New Roman" panose="02020603050405020304" pitchFamily="18" charset="0"/>
              </a:rPr>
              <a:t>00110110   00110110   00110110 00110110    00110110 00110110 …</a:t>
            </a:r>
          </a:p>
          <a:p>
            <a:pPr marL="285750" indent="-285750">
              <a:buFont typeface="Arial" panose="020B0604020202020204" pitchFamily="34" charset="0"/>
              <a:buChar char="•"/>
              <a:defRPr/>
            </a:pPr>
            <a:r>
              <a:rPr lang="en-US" dirty="0" err="1">
                <a:solidFill>
                  <a:srgbClr val="FF0000"/>
                </a:solidFill>
                <a:latin typeface="Times New Roman" panose="02020603050405020304" pitchFamily="18" charset="0"/>
                <a:cs typeface="Times New Roman" panose="02020603050405020304" pitchFamily="18" charset="0"/>
              </a:rPr>
              <a:t>ipad</a:t>
            </a:r>
            <a:r>
              <a:rPr lang="en-US" dirty="0">
                <a:solidFill>
                  <a:srgbClr val="0000FF"/>
                </a:solidFill>
                <a:latin typeface="Times New Roman" panose="02020603050405020304" pitchFamily="18" charset="0"/>
                <a:cs typeface="Times New Roman" panose="02020603050405020304" pitchFamily="18" charset="0"/>
              </a:rPr>
              <a:t>= 8*128=</a:t>
            </a:r>
            <a:r>
              <a:rPr lang="en-US" dirty="0">
                <a:solidFill>
                  <a:srgbClr val="FF0000"/>
                </a:solidFill>
                <a:latin typeface="Times New Roman" panose="02020603050405020304" pitchFamily="18" charset="0"/>
                <a:cs typeface="Times New Roman" panose="02020603050405020304" pitchFamily="18" charset="0"/>
              </a:rPr>
              <a:t>1024 bits</a:t>
            </a:r>
          </a:p>
          <a:p>
            <a:pPr marL="285750" indent="-285750">
              <a:buFont typeface="Arial" panose="020B0604020202020204" pitchFamily="34" charset="0"/>
              <a:buChar char="•"/>
              <a:defRPr/>
            </a:pPr>
            <a:r>
              <a:rPr lang="en-US" dirty="0">
                <a:latin typeface="Times New Roman" panose="02020603050405020304" pitchFamily="18" charset="0"/>
                <a:cs typeface="Times New Roman" panose="02020603050405020304" pitchFamily="18" charset="0"/>
              </a:rPr>
              <a:t>128 times we need to repeat </a:t>
            </a:r>
            <a:r>
              <a:rPr lang="en-US" dirty="0">
                <a:solidFill>
                  <a:srgbClr val="0000FF"/>
                </a:solidFill>
                <a:latin typeface="Times New Roman" panose="02020603050405020304" pitchFamily="18" charset="0"/>
                <a:cs typeface="Times New Roman" panose="02020603050405020304" pitchFamily="18" charset="0"/>
              </a:rPr>
              <a:t>01011100</a:t>
            </a:r>
            <a:r>
              <a:rPr lang="en-US" dirty="0">
                <a:latin typeface="Times New Roman" panose="02020603050405020304" pitchFamily="18" charset="0"/>
                <a:cs typeface="Times New Roman" panose="02020603050405020304" pitchFamily="18" charset="0"/>
              </a:rPr>
              <a:t> to generate </a:t>
            </a:r>
            <a:r>
              <a:rPr lang="en-US" dirty="0" err="1">
                <a:latin typeface="Times New Roman" panose="02020603050405020304" pitchFamily="18" charset="0"/>
                <a:cs typeface="Times New Roman" panose="02020603050405020304" pitchFamily="18" charset="0"/>
              </a:rPr>
              <a:t>opad</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defRPr/>
            </a:pPr>
            <a:r>
              <a:rPr lang="en-US" dirty="0">
                <a:solidFill>
                  <a:srgbClr val="0000FF"/>
                </a:solidFill>
                <a:latin typeface="Times New Roman" panose="02020603050405020304" pitchFamily="18" charset="0"/>
                <a:cs typeface="Times New Roman" panose="02020603050405020304" pitchFamily="18" charset="0"/>
              </a:rPr>
              <a:t>Ex: 01011100   01011100    01011100 01011100    01011100     01011100   …  </a:t>
            </a:r>
          </a:p>
        </p:txBody>
      </p:sp>
      <p:sp>
        <p:nvSpPr>
          <p:cNvPr id="15365" name="TextBox 1"/>
          <p:cNvSpPr txBox="1">
            <a:spLocks noChangeArrowheads="1"/>
          </p:cNvSpPr>
          <p:nvPr/>
        </p:nvSpPr>
        <p:spPr bwMode="auto">
          <a:xfrm>
            <a:off x="381000" y="1981200"/>
            <a:ext cx="9144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400" b="1">
                <a:solidFill>
                  <a:srgbClr val="FF0000"/>
                </a:solidFill>
                <a:latin typeface="Times New Roman" panose="02020603050405020304" pitchFamily="18" charset="0"/>
                <a:cs typeface="Times New Roman" panose="02020603050405020304" pitchFamily="18" charset="0"/>
              </a:rPr>
              <a:t>1024 bits</a:t>
            </a:r>
          </a:p>
        </p:txBody>
      </p:sp>
      <p:sp>
        <p:nvSpPr>
          <p:cNvPr id="15366" name="TextBox 5"/>
          <p:cNvSpPr txBox="1">
            <a:spLocks noChangeArrowheads="1"/>
          </p:cNvSpPr>
          <p:nvPr/>
        </p:nvSpPr>
        <p:spPr bwMode="auto">
          <a:xfrm>
            <a:off x="1295400" y="1981200"/>
            <a:ext cx="9144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400" b="1">
                <a:solidFill>
                  <a:srgbClr val="FF0000"/>
                </a:solidFill>
                <a:latin typeface="Times New Roman" panose="02020603050405020304" pitchFamily="18" charset="0"/>
                <a:cs typeface="Times New Roman" panose="02020603050405020304" pitchFamily="18" charset="0"/>
              </a:rPr>
              <a:t>1024 bits</a:t>
            </a:r>
          </a:p>
        </p:txBody>
      </p:sp>
      <p:sp>
        <p:nvSpPr>
          <p:cNvPr id="15367" name="TextBox 7"/>
          <p:cNvSpPr txBox="1">
            <a:spLocks noChangeArrowheads="1"/>
          </p:cNvSpPr>
          <p:nvPr/>
        </p:nvSpPr>
        <p:spPr bwMode="auto">
          <a:xfrm>
            <a:off x="2133600" y="1981200"/>
            <a:ext cx="9144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400" b="1">
                <a:solidFill>
                  <a:srgbClr val="FF0000"/>
                </a:solidFill>
                <a:latin typeface="Times New Roman" panose="02020603050405020304" pitchFamily="18" charset="0"/>
                <a:cs typeface="Times New Roman" panose="02020603050405020304" pitchFamily="18" charset="0"/>
              </a:rPr>
              <a:t>1024 bits</a:t>
            </a:r>
          </a:p>
        </p:txBody>
      </p:sp>
      <p:sp>
        <p:nvSpPr>
          <p:cNvPr id="15368" name="TextBox 8"/>
          <p:cNvSpPr txBox="1">
            <a:spLocks noChangeArrowheads="1"/>
          </p:cNvSpPr>
          <p:nvPr/>
        </p:nvSpPr>
        <p:spPr bwMode="auto">
          <a:xfrm>
            <a:off x="3705225" y="1981200"/>
            <a:ext cx="9144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400" b="1">
                <a:solidFill>
                  <a:srgbClr val="FF0000"/>
                </a:solidFill>
                <a:latin typeface="Times New Roman" panose="02020603050405020304" pitchFamily="18" charset="0"/>
                <a:cs typeface="Times New Roman" panose="02020603050405020304" pitchFamily="18" charset="0"/>
              </a:rPr>
              <a:t>1024 bits</a:t>
            </a:r>
          </a:p>
        </p:txBody>
      </p:sp>
    </p:spTree>
    <p:extLst>
      <p:ext uri="{BB962C8B-B14F-4D97-AF65-F5344CB8AC3E}">
        <p14:creationId xmlns:p14="http://schemas.microsoft.com/office/powerpoint/2010/main" val="31369003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5486400" y="28575"/>
            <a:ext cx="3200400" cy="563563"/>
          </a:xfrm>
        </p:spPr>
        <p:txBody>
          <a:bodyPr>
            <a:normAutofit fontScale="90000"/>
          </a:bodyPr>
          <a:lstStyle/>
          <a:p>
            <a:r>
              <a:rPr lang="en-US" altLang="en-US" sz="3600" b="1" u="sng">
                <a:solidFill>
                  <a:srgbClr val="C00000"/>
                </a:solidFill>
                <a:latin typeface="Times New Roman" panose="02020603050405020304" pitchFamily="18" charset="0"/>
                <a:cs typeface="Times New Roman" panose="02020603050405020304" pitchFamily="18" charset="0"/>
              </a:rPr>
              <a:t>HMAC </a:t>
            </a:r>
            <a:endParaRPr lang="en-US" altLang="en-US" sz="3600"/>
          </a:p>
        </p:txBody>
      </p:sp>
      <p:pic>
        <p:nvPicPr>
          <p:cNvPr id="16387" name="Picture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200" y="152400"/>
            <a:ext cx="4648200" cy="6462713"/>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sp>
        <p:nvSpPr>
          <p:cNvPr id="7" name="Rectangle 6"/>
          <p:cNvSpPr/>
          <p:nvPr/>
        </p:nvSpPr>
        <p:spPr>
          <a:xfrm>
            <a:off x="4876800" y="592138"/>
            <a:ext cx="4343400" cy="6186487"/>
          </a:xfrm>
          <a:prstGeom prst="rect">
            <a:avLst/>
          </a:prstGeom>
        </p:spPr>
        <p:txBody>
          <a:bodyPr>
            <a:spAutoFit/>
          </a:bodyPr>
          <a:lstStyle/>
          <a:p>
            <a:pPr>
              <a:defRPr/>
            </a:pPr>
            <a:r>
              <a:rPr lang="en-US" dirty="0">
                <a:solidFill>
                  <a:srgbClr val="0000FF"/>
                </a:solidFill>
                <a:latin typeface="Times New Roman" panose="02020603050405020304" pitchFamily="18" charset="0"/>
                <a:cs typeface="Times New Roman" panose="02020603050405020304" pitchFamily="18" charset="0"/>
              </a:rPr>
              <a:t>IV = initial value input to hash function</a:t>
            </a:r>
          </a:p>
          <a:p>
            <a:pPr>
              <a:defRPr/>
            </a:pPr>
            <a:r>
              <a:rPr lang="en-US" dirty="0">
                <a:solidFill>
                  <a:srgbClr val="0000FF"/>
                </a:solidFill>
                <a:latin typeface="Times New Roman" panose="02020603050405020304" pitchFamily="18" charset="0"/>
                <a:cs typeface="Times New Roman" panose="02020603050405020304" pitchFamily="18" charset="0"/>
              </a:rPr>
              <a:t>M = message input to HMAC</a:t>
            </a:r>
          </a:p>
          <a:p>
            <a:pPr>
              <a:defRPr/>
            </a:pPr>
            <a:r>
              <a:rPr lang="en-US" dirty="0">
                <a:solidFill>
                  <a:srgbClr val="0000FF"/>
                </a:solidFill>
                <a:latin typeface="Times New Roman" panose="02020603050405020304" pitchFamily="18" charset="0"/>
                <a:cs typeface="Times New Roman" panose="02020603050405020304" pitchFamily="18" charset="0"/>
              </a:rPr>
              <a:t>Y – L number of 1024 bit blocks</a:t>
            </a:r>
          </a:p>
          <a:p>
            <a:pPr>
              <a:defRPr/>
            </a:pPr>
            <a:r>
              <a:rPr lang="en-US" dirty="0">
                <a:solidFill>
                  <a:srgbClr val="FF0000"/>
                </a:solidFill>
                <a:latin typeface="Times New Roman" panose="02020603050405020304" pitchFamily="18" charset="0"/>
                <a:cs typeface="Times New Roman" panose="02020603050405020304" pitchFamily="18" charset="0"/>
              </a:rPr>
              <a:t>K</a:t>
            </a:r>
            <a:r>
              <a:rPr lang="en-US" dirty="0">
                <a:solidFill>
                  <a:srgbClr val="0000FF"/>
                </a:solidFill>
                <a:latin typeface="Times New Roman" panose="02020603050405020304" pitchFamily="18" charset="0"/>
                <a:cs typeface="Times New Roman" panose="02020603050405020304" pitchFamily="18" charset="0"/>
              </a:rPr>
              <a:t> = secret key</a:t>
            </a:r>
          </a:p>
          <a:p>
            <a:pPr>
              <a:defRPr/>
            </a:pPr>
            <a:r>
              <a:rPr lang="en-US" dirty="0">
                <a:solidFill>
                  <a:srgbClr val="0000FF"/>
                </a:solidFill>
                <a:latin typeface="Times New Roman" panose="02020603050405020304" pitchFamily="18" charset="0"/>
                <a:cs typeface="Times New Roman" panose="02020603050405020304" pitchFamily="18" charset="0"/>
              </a:rPr>
              <a:t>    = padded zeros to left to make it </a:t>
            </a:r>
            <a:r>
              <a:rPr lang="en-US" dirty="0">
                <a:solidFill>
                  <a:srgbClr val="FF0000"/>
                </a:solidFill>
                <a:latin typeface="Times New Roman" panose="02020603050405020304" pitchFamily="18" charset="0"/>
                <a:cs typeface="Times New Roman" panose="02020603050405020304" pitchFamily="18" charset="0"/>
              </a:rPr>
              <a:t>1024 bits</a:t>
            </a:r>
          </a:p>
          <a:p>
            <a:pPr>
              <a:defRPr/>
            </a:pPr>
            <a:r>
              <a:rPr lang="en-US" dirty="0" err="1">
                <a:solidFill>
                  <a:srgbClr val="0000FF"/>
                </a:solidFill>
                <a:latin typeface="Times New Roman" panose="02020603050405020304" pitchFamily="18" charset="0"/>
                <a:cs typeface="Times New Roman" panose="02020603050405020304" pitchFamily="18" charset="0"/>
              </a:rPr>
              <a:t>ipad</a:t>
            </a:r>
            <a:r>
              <a:rPr lang="en-US" dirty="0">
                <a:solidFill>
                  <a:srgbClr val="0000FF"/>
                </a:solidFill>
                <a:latin typeface="Times New Roman" panose="02020603050405020304" pitchFamily="18" charset="0"/>
                <a:cs typeface="Times New Roman" panose="02020603050405020304" pitchFamily="18" charset="0"/>
              </a:rPr>
              <a:t> = 00110110 repeated b/8 times</a:t>
            </a:r>
          </a:p>
          <a:p>
            <a:pPr>
              <a:defRPr/>
            </a:pPr>
            <a:r>
              <a:rPr lang="en-US" dirty="0" err="1">
                <a:solidFill>
                  <a:srgbClr val="0000FF"/>
                </a:solidFill>
                <a:latin typeface="Times New Roman" panose="02020603050405020304" pitchFamily="18" charset="0"/>
                <a:cs typeface="Times New Roman" panose="02020603050405020304" pitchFamily="18" charset="0"/>
              </a:rPr>
              <a:t>opad</a:t>
            </a:r>
            <a:r>
              <a:rPr lang="en-US" dirty="0">
                <a:solidFill>
                  <a:srgbClr val="0000FF"/>
                </a:solidFill>
                <a:latin typeface="Times New Roman" panose="02020603050405020304" pitchFamily="18" charset="0"/>
                <a:cs typeface="Times New Roman" panose="02020603050405020304" pitchFamily="18" charset="0"/>
              </a:rPr>
              <a:t> = 01011100 repeated b/8 times</a:t>
            </a:r>
          </a:p>
          <a:p>
            <a:pPr>
              <a:defRPr/>
            </a:pPr>
            <a:r>
              <a:rPr lang="en-US" b="1" u="sng" dirty="0">
                <a:latin typeface="Times New Roman" panose="02020603050405020304" pitchFamily="18" charset="0"/>
                <a:cs typeface="Times New Roman" panose="02020603050405020304" pitchFamily="18" charset="0"/>
              </a:rPr>
              <a:t>NOTE:</a:t>
            </a:r>
          </a:p>
          <a:p>
            <a:pPr>
              <a:defRPr/>
            </a:pPr>
            <a:r>
              <a:rPr lang="en-US" dirty="0">
                <a:latin typeface="Times New Roman" panose="02020603050405020304" pitchFamily="18" charset="0"/>
                <a:cs typeface="Times New Roman" panose="02020603050405020304" pitchFamily="18" charset="0"/>
              </a:rPr>
              <a:t>Assume hashing – SHA512. so each block is 1024 bit.</a:t>
            </a:r>
          </a:p>
          <a:p>
            <a:pPr>
              <a:defRPr/>
            </a:pPr>
            <a:endParaRPr lang="en-US" dirty="0">
              <a:latin typeface="Times New Roman" panose="02020603050405020304" pitchFamily="18" charset="0"/>
              <a:cs typeface="Times New Roman" panose="02020603050405020304" pitchFamily="18" charset="0"/>
            </a:endParaRPr>
          </a:p>
          <a:p>
            <a:pPr>
              <a:defRPr/>
            </a:pPr>
            <a:r>
              <a:rPr lang="en-US" dirty="0">
                <a:latin typeface="Times New Roman" panose="02020603050405020304" pitchFamily="18" charset="0"/>
                <a:cs typeface="Times New Roman" panose="02020603050405020304" pitchFamily="18" charset="0"/>
              </a:rPr>
              <a:t>b=1024</a:t>
            </a:r>
          </a:p>
          <a:p>
            <a:pPr>
              <a:defRPr/>
            </a:pPr>
            <a:r>
              <a:rPr lang="en-US" dirty="0">
                <a:latin typeface="Times New Roman" panose="02020603050405020304" pitchFamily="18" charset="0"/>
                <a:cs typeface="Times New Roman" panose="02020603050405020304" pitchFamily="18" charset="0"/>
              </a:rPr>
              <a:t>b/8=128</a:t>
            </a:r>
          </a:p>
          <a:p>
            <a:pPr marL="285750" indent="-285750">
              <a:buFont typeface="Arial" panose="020B0604020202020204" pitchFamily="34" charset="0"/>
              <a:buChar char="•"/>
              <a:defRPr/>
            </a:pPr>
            <a:r>
              <a:rPr lang="en-US" dirty="0">
                <a:latin typeface="Times New Roman" panose="02020603050405020304" pitchFamily="18" charset="0"/>
                <a:cs typeface="Times New Roman" panose="02020603050405020304" pitchFamily="18" charset="0"/>
              </a:rPr>
              <a:t>So 128 times we need to repeat </a:t>
            </a:r>
            <a:r>
              <a:rPr lang="en-US" dirty="0">
                <a:solidFill>
                  <a:srgbClr val="0000FF"/>
                </a:solidFill>
                <a:latin typeface="Times New Roman" panose="02020603050405020304" pitchFamily="18" charset="0"/>
                <a:cs typeface="Times New Roman" panose="02020603050405020304" pitchFamily="18" charset="0"/>
              </a:rPr>
              <a:t>00110110</a:t>
            </a:r>
            <a:r>
              <a:rPr lang="en-US" dirty="0">
                <a:latin typeface="Times New Roman" panose="02020603050405020304" pitchFamily="18" charset="0"/>
                <a:cs typeface="Times New Roman" panose="02020603050405020304" pitchFamily="18" charset="0"/>
              </a:rPr>
              <a:t> to generate </a:t>
            </a:r>
            <a:r>
              <a:rPr lang="en-US" dirty="0" err="1">
                <a:latin typeface="Times New Roman" panose="02020603050405020304" pitchFamily="18" charset="0"/>
                <a:cs typeface="Times New Roman" panose="02020603050405020304" pitchFamily="18" charset="0"/>
              </a:rPr>
              <a:t>ipad</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defRPr/>
            </a:pPr>
            <a:r>
              <a:rPr lang="en-US" dirty="0">
                <a:latin typeface="Times New Roman" panose="02020603050405020304" pitchFamily="18" charset="0"/>
                <a:cs typeface="Times New Roman" panose="02020603050405020304" pitchFamily="18" charset="0"/>
              </a:rPr>
              <a:t>Ex: </a:t>
            </a:r>
            <a:r>
              <a:rPr lang="en-US" dirty="0">
                <a:solidFill>
                  <a:srgbClr val="0000FF"/>
                </a:solidFill>
                <a:latin typeface="Times New Roman" panose="02020603050405020304" pitchFamily="18" charset="0"/>
                <a:cs typeface="Times New Roman" panose="02020603050405020304" pitchFamily="18" charset="0"/>
              </a:rPr>
              <a:t>00110110   00110110   00110110 00110110    00110110 00110110 …</a:t>
            </a:r>
          </a:p>
          <a:p>
            <a:pPr marL="285750" indent="-285750">
              <a:buFont typeface="Arial" panose="020B0604020202020204" pitchFamily="34" charset="0"/>
              <a:buChar char="•"/>
              <a:defRPr/>
            </a:pPr>
            <a:r>
              <a:rPr lang="en-US" dirty="0" err="1">
                <a:solidFill>
                  <a:srgbClr val="FF0000"/>
                </a:solidFill>
                <a:latin typeface="Times New Roman" panose="02020603050405020304" pitchFamily="18" charset="0"/>
                <a:cs typeface="Times New Roman" panose="02020603050405020304" pitchFamily="18" charset="0"/>
              </a:rPr>
              <a:t>ipad</a:t>
            </a:r>
            <a:r>
              <a:rPr lang="en-US" dirty="0">
                <a:solidFill>
                  <a:srgbClr val="0000FF"/>
                </a:solidFill>
                <a:latin typeface="Times New Roman" panose="02020603050405020304" pitchFamily="18" charset="0"/>
                <a:cs typeface="Times New Roman" panose="02020603050405020304" pitchFamily="18" charset="0"/>
              </a:rPr>
              <a:t>= 8*128=</a:t>
            </a:r>
            <a:r>
              <a:rPr lang="en-US" dirty="0">
                <a:solidFill>
                  <a:srgbClr val="FF0000"/>
                </a:solidFill>
                <a:latin typeface="Times New Roman" panose="02020603050405020304" pitchFamily="18" charset="0"/>
                <a:cs typeface="Times New Roman" panose="02020603050405020304" pitchFamily="18" charset="0"/>
              </a:rPr>
              <a:t>1024 bits</a:t>
            </a:r>
          </a:p>
          <a:p>
            <a:pPr marL="285750" indent="-285750">
              <a:buFont typeface="Arial" panose="020B0604020202020204" pitchFamily="34" charset="0"/>
              <a:buChar char="•"/>
              <a:defRPr/>
            </a:pPr>
            <a:r>
              <a:rPr lang="en-US" dirty="0">
                <a:latin typeface="Times New Roman" panose="02020603050405020304" pitchFamily="18" charset="0"/>
                <a:cs typeface="Times New Roman" panose="02020603050405020304" pitchFamily="18" charset="0"/>
              </a:rPr>
              <a:t>128 times we need to repeat </a:t>
            </a:r>
            <a:r>
              <a:rPr lang="en-US" dirty="0">
                <a:solidFill>
                  <a:srgbClr val="0000FF"/>
                </a:solidFill>
                <a:latin typeface="Times New Roman" panose="02020603050405020304" pitchFamily="18" charset="0"/>
                <a:cs typeface="Times New Roman" panose="02020603050405020304" pitchFamily="18" charset="0"/>
              </a:rPr>
              <a:t>01011100</a:t>
            </a:r>
            <a:r>
              <a:rPr lang="en-US" dirty="0">
                <a:latin typeface="Times New Roman" panose="02020603050405020304" pitchFamily="18" charset="0"/>
                <a:cs typeface="Times New Roman" panose="02020603050405020304" pitchFamily="18" charset="0"/>
              </a:rPr>
              <a:t> to generate </a:t>
            </a:r>
            <a:r>
              <a:rPr lang="en-US" dirty="0" err="1">
                <a:latin typeface="Times New Roman" panose="02020603050405020304" pitchFamily="18" charset="0"/>
                <a:cs typeface="Times New Roman" panose="02020603050405020304" pitchFamily="18" charset="0"/>
              </a:rPr>
              <a:t>ipad</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defRPr/>
            </a:pPr>
            <a:r>
              <a:rPr lang="en-US" dirty="0">
                <a:solidFill>
                  <a:srgbClr val="0000FF"/>
                </a:solidFill>
                <a:latin typeface="Times New Roman" panose="02020603050405020304" pitchFamily="18" charset="0"/>
                <a:cs typeface="Times New Roman" panose="02020603050405020304" pitchFamily="18" charset="0"/>
              </a:rPr>
              <a:t>Ex: 01011100   01011100    01011100 01011100    01011100     01011100   …  </a:t>
            </a:r>
          </a:p>
        </p:txBody>
      </p:sp>
      <p:sp>
        <p:nvSpPr>
          <p:cNvPr id="16389" name="TextBox 1"/>
          <p:cNvSpPr txBox="1">
            <a:spLocks noChangeArrowheads="1"/>
          </p:cNvSpPr>
          <p:nvPr/>
        </p:nvSpPr>
        <p:spPr bwMode="auto">
          <a:xfrm>
            <a:off x="381000" y="1981200"/>
            <a:ext cx="9144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400" b="1">
                <a:solidFill>
                  <a:srgbClr val="FF0000"/>
                </a:solidFill>
                <a:latin typeface="Times New Roman" panose="02020603050405020304" pitchFamily="18" charset="0"/>
                <a:cs typeface="Times New Roman" panose="02020603050405020304" pitchFamily="18" charset="0"/>
              </a:rPr>
              <a:t>1024 bits</a:t>
            </a:r>
          </a:p>
        </p:txBody>
      </p:sp>
      <p:sp>
        <p:nvSpPr>
          <p:cNvPr id="16390" name="TextBox 5"/>
          <p:cNvSpPr txBox="1">
            <a:spLocks noChangeArrowheads="1"/>
          </p:cNvSpPr>
          <p:nvPr/>
        </p:nvSpPr>
        <p:spPr bwMode="auto">
          <a:xfrm>
            <a:off x="1295400" y="1981200"/>
            <a:ext cx="9144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400" b="1">
                <a:solidFill>
                  <a:srgbClr val="FF0000"/>
                </a:solidFill>
                <a:latin typeface="Times New Roman" panose="02020603050405020304" pitchFamily="18" charset="0"/>
                <a:cs typeface="Times New Roman" panose="02020603050405020304" pitchFamily="18" charset="0"/>
              </a:rPr>
              <a:t>1024 bits</a:t>
            </a:r>
          </a:p>
        </p:txBody>
      </p:sp>
      <p:sp>
        <p:nvSpPr>
          <p:cNvPr id="16391" name="TextBox 7"/>
          <p:cNvSpPr txBox="1">
            <a:spLocks noChangeArrowheads="1"/>
          </p:cNvSpPr>
          <p:nvPr/>
        </p:nvSpPr>
        <p:spPr bwMode="auto">
          <a:xfrm>
            <a:off x="2133600" y="1981200"/>
            <a:ext cx="9144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400" b="1">
                <a:solidFill>
                  <a:srgbClr val="FF0000"/>
                </a:solidFill>
                <a:latin typeface="Times New Roman" panose="02020603050405020304" pitchFamily="18" charset="0"/>
                <a:cs typeface="Times New Roman" panose="02020603050405020304" pitchFamily="18" charset="0"/>
              </a:rPr>
              <a:t>1024 bits</a:t>
            </a:r>
          </a:p>
        </p:txBody>
      </p:sp>
      <p:sp>
        <p:nvSpPr>
          <p:cNvPr id="16392" name="TextBox 8"/>
          <p:cNvSpPr txBox="1">
            <a:spLocks noChangeArrowheads="1"/>
          </p:cNvSpPr>
          <p:nvPr/>
        </p:nvSpPr>
        <p:spPr bwMode="auto">
          <a:xfrm>
            <a:off x="3705225" y="1981200"/>
            <a:ext cx="9144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400" b="1">
                <a:solidFill>
                  <a:srgbClr val="FF0000"/>
                </a:solidFill>
                <a:latin typeface="Times New Roman" panose="02020603050405020304" pitchFamily="18" charset="0"/>
                <a:cs typeface="Times New Roman" panose="02020603050405020304" pitchFamily="18" charset="0"/>
              </a:rPr>
              <a:t>1024 bits</a:t>
            </a:r>
          </a:p>
        </p:txBody>
      </p:sp>
      <p:sp>
        <p:nvSpPr>
          <p:cNvPr id="16393" name="TextBox 9"/>
          <p:cNvSpPr txBox="1">
            <a:spLocks noChangeArrowheads="1"/>
          </p:cNvSpPr>
          <p:nvPr/>
        </p:nvSpPr>
        <p:spPr bwMode="auto">
          <a:xfrm>
            <a:off x="-33338" y="742950"/>
            <a:ext cx="914401"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b="1">
                <a:solidFill>
                  <a:srgbClr val="FF0000"/>
                </a:solidFill>
                <a:latin typeface="Times New Roman" panose="02020603050405020304" pitchFamily="18" charset="0"/>
                <a:cs typeface="Times New Roman" panose="02020603050405020304" pitchFamily="18" charset="0"/>
              </a:rPr>
              <a:t>1024 bits</a:t>
            </a:r>
          </a:p>
        </p:txBody>
      </p:sp>
      <p:sp>
        <p:nvSpPr>
          <p:cNvPr id="16394" name="TextBox 10"/>
          <p:cNvSpPr txBox="1">
            <a:spLocks noChangeArrowheads="1"/>
          </p:cNvSpPr>
          <p:nvPr/>
        </p:nvSpPr>
        <p:spPr bwMode="auto">
          <a:xfrm>
            <a:off x="871538" y="742950"/>
            <a:ext cx="9144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b="1">
                <a:solidFill>
                  <a:srgbClr val="FF0000"/>
                </a:solidFill>
                <a:latin typeface="Times New Roman" panose="02020603050405020304" pitchFamily="18" charset="0"/>
                <a:cs typeface="Times New Roman" panose="02020603050405020304" pitchFamily="18" charset="0"/>
              </a:rPr>
              <a:t>1024 bits</a:t>
            </a:r>
          </a:p>
        </p:txBody>
      </p:sp>
    </p:spTree>
    <p:extLst>
      <p:ext uri="{BB962C8B-B14F-4D97-AF65-F5344CB8AC3E}">
        <p14:creationId xmlns:p14="http://schemas.microsoft.com/office/powerpoint/2010/main" val="33114771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a:xfrm>
            <a:off x="5486400" y="28575"/>
            <a:ext cx="3200400" cy="563563"/>
          </a:xfrm>
        </p:spPr>
        <p:txBody>
          <a:bodyPr>
            <a:normAutofit fontScale="90000"/>
          </a:bodyPr>
          <a:lstStyle/>
          <a:p>
            <a:r>
              <a:rPr lang="en-US" altLang="en-US" sz="3600" b="1" u="sng">
                <a:solidFill>
                  <a:srgbClr val="C00000"/>
                </a:solidFill>
                <a:latin typeface="Times New Roman" panose="02020603050405020304" pitchFamily="18" charset="0"/>
                <a:cs typeface="Times New Roman" panose="02020603050405020304" pitchFamily="18" charset="0"/>
              </a:rPr>
              <a:t>HMAC </a:t>
            </a:r>
            <a:endParaRPr lang="en-US" altLang="en-US" sz="3600"/>
          </a:p>
        </p:txBody>
      </p:sp>
      <p:pic>
        <p:nvPicPr>
          <p:cNvPr id="17411" name="Picture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200" y="152400"/>
            <a:ext cx="4648200" cy="6462713"/>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sp>
        <p:nvSpPr>
          <p:cNvPr id="7" name="Rectangle 6"/>
          <p:cNvSpPr/>
          <p:nvPr/>
        </p:nvSpPr>
        <p:spPr>
          <a:xfrm>
            <a:off x="4876800" y="592138"/>
            <a:ext cx="4343400" cy="6186487"/>
          </a:xfrm>
          <a:prstGeom prst="rect">
            <a:avLst/>
          </a:prstGeom>
        </p:spPr>
        <p:txBody>
          <a:bodyPr>
            <a:spAutoFit/>
          </a:bodyPr>
          <a:lstStyle/>
          <a:p>
            <a:pPr>
              <a:defRPr/>
            </a:pPr>
            <a:r>
              <a:rPr lang="en-US" dirty="0">
                <a:solidFill>
                  <a:srgbClr val="0000FF"/>
                </a:solidFill>
                <a:latin typeface="Times New Roman" panose="02020603050405020304" pitchFamily="18" charset="0"/>
                <a:cs typeface="Times New Roman" panose="02020603050405020304" pitchFamily="18" charset="0"/>
              </a:rPr>
              <a:t>IV = initial value input to hash function</a:t>
            </a:r>
          </a:p>
          <a:p>
            <a:pPr>
              <a:defRPr/>
            </a:pPr>
            <a:r>
              <a:rPr lang="en-US" dirty="0">
                <a:solidFill>
                  <a:srgbClr val="0000FF"/>
                </a:solidFill>
                <a:latin typeface="Times New Roman" panose="02020603050405020304" pitchFamily="18" charset="0"/>
                <a:cs typeface="Times New Roman" panose="02020603050405020304" pitchFamily="18" charset="0"/>
              </a:rPr>
              <a:t>M = message input to HMAC</a:t>
            </a:r>
          </a:p>
          <a:p>
            <a:pPr>
              <a:defRPr/>
            </a:pPr>
            <a:r>
              <a:rPr lang="en-US" dirty="0">
                <a:solidFill>
                  <a:srgbClr val="0000FF"/>
                </a:solidFill>
                <a:latin typeface="Times New Roman" panose="02020603050405020304" pitchFamily="18" charset="0"/>
                <a:cs typeface="Times New Roman" panose="02020603050405020304" pitchFamily="18" charset="0"/>
              </a:rPr>
              <a:t>Y – L number of 1024 bit blocks</a:t>
            </a:r>
          </a:p>
          <a:p>
            <a:pPr>
              <a:defRPr/>
            </a:pPr>
            <a:r>
              <a:rPr lang="en-US" dirty="0">
                <a:solidFill>
                  <a:srgbClr val="FF0000"/>
                </a:solidFill>
                <a:latin typeface="Times New Roman" panose="02020603050405020304" pitchFamily="18" charset="0"/>
                <a:cs typeface="Times New Roman" panose="02020603050405020304" pitchFamily="18" charset="0"/>
              </a:rPr>
              <a:t>K</a:t>
            </a:r>
            <a:r>
              <a:rPr lang="en-US" dirty="0">
                <a:solidFill>
                  <a:srgbClr val="0000FF"/>
                </a:solidFill>
                <a:latin typeface="Times New Roman" panose="02020603050405020304" pitchFamily="18" charset="0"/>
                <a:cs typeface="Times New Roman" panose="02020603050405020304" pitchFamily="18" charset="0"/>
              </a:rPr>
              <a:t> = secret key</a:t>
            </a:r>
          </a:p>
          <a:p>
            <a:pPr>
              <a:defRPr/>
            </a:pPr>
            <a:r>
              <a:rPr lang="en-US" dirty="0">
                <a:solidFill>
                  <a:srgbClr val="0000FF"/>
                </a:solidFill>
                <a:latin typeface="Times New Roman" panose="02020603050405020304" pitchFamily="18" charset="0"/>
                <a:cs typeface="Times New Roman" panose="02020603050405020304" pitchFamily="18" charset="0"/>
              </a:rPr>
              <a:t>    = padded zeros to left to make it </a:t>
            </a:r>
            <a:r>
              <a:rPr lang="en-US" dirty="0">
                <a:solidFill>
                  <a:srgbClr val="FF0000"/>
                </a:solidFill>
                <a:latin typeface="Times New Roman" panose="02020603050405020304" pitchFamily="18" charset="0"/>
                <a:cs typeface="Times New Roman" panose="02020603050405020304" pitchFamily="18" charset="0"/>
              </a:rPr>
              <a:t>1024 bits</a:t>
            </a:r>
          </a:p>
          <a:p>
            <a:pPr>
              <a:defRPr/>
            </a:pPr>
            <a:r>
              <a:rPr lang="en-US" dirty="0" err="1">
                <a:solidFill>
                  <a:srgbClr val="0000FF"/>
                </a:solidFill>
                <a:latin typeface="Times New Roman" panose="02020603050405020304" pitchFamily="18" charset="0"/>
                <a:cs typeface="Times New Roman" panose="02020603050405020304" pitchFamily="18" charset="0"/>
              </a:rPr>
              <a:t>ipad</a:t>
            </a:r>
            <a:r>
              <a:rPr lang="en-US" dirty="0">
                <a:solidFill>
                  <a:srgbClr val="0000FF"/>
                </a:solidFill>
                <a:latin typeface="Times New Roman" panose="02020603050405020304" pitchFamily="18" charset="0"/>
                <a:cs typeface="Times New Roman" panose="02020603050405020304" pitchFamily="18" charset="0"/>
              </a:rPr>
              <a:t> = 00110110 repeated b/8 times</a:t>
            </a:r>
          </a:p>
          <a:p>
            <a:pPr>
              <a:defRPr/>
            </a:pPr>
            <a:r>
              <a:rPr lang="en-US" dirty="0" err="1">
                <a:solidFill>
                  <a:srgbClr val="0000FF"/>
                </a:solidFill>
                <a:latin typeface="Times New Roman" panose="02020603050405020304" pitchFamily="18" charset="0"/>
                <a:cs typeface="Times New Roman" panose="02020603050405020304" pitchFamily="18" charset="0"/>
              </a:rPr>
              <a:t>opad</a:t>
            </a:r>
            <a:r>
              <a:rPr lang="en-US" dirty="0">
                <a:solidFill>
                  <a:srgbClr val="0000FF"/>
                </a:solidFill>
                <a:latin typeface="Times New Roman" panose="02020603050405020304" pitchFamily="18" charset="0"/>
                <a:cs typeface="Times New Roman" panose="02020603050405020304" pitchFamily="18" charset="0"/>
              </a:rPr>
              <a:t> = 01011100 repeated b/8 times</a:t>
            </a:r>
          </a:p>
          <a:p>
            <a:pPr>
              <a:defRPr/>
            </a:pPr>
            <a:r>
              <a:rPr lang="en-US" b="1" u="sng" dirty="0">
                <a:latin typeface="Times New Roman" panose="02020603050405020304" pitchFamily="18" charset="0"/>
                <a:cs typeface="Times New Roman" panose="02020603050405020304" pitchFamily="18" charset="0"/>
              </a:rPr>
              <a:t>NOTE:</a:t>
            </a:r>
          </a:p>
          <a:p>
            <a:pPr>
              <a:defRPr/>
            </a:pPr>
            <a:r>
              <a:rPr lang="en-US" dirty="0">
                <a:latin typeface="Times New Roman" panose="02020603050405020304" pitchFamily="18" charset="0"/>
                <a:cs typeface="Times New Roman" panose="02020603050405020304" pitchFamily="18" charset="0"/>
              </a:rPr>
              <a:t>Assume hashing – SHA512. so each block is 1024 bit.</a:t>
            </a:r>
          </a:p>
          <a:p>
            <a:pPr>
              <a:defRPr/>
            </a:pPr>
            <a:endParaRPr lang="en-US" dirty="0">
              <a:latin typeface="Times New Roman" panose="02020603050405020304" pitchFamily="18" charset="0"/>
              <a:cs typeface="Times New Roman" panose="02020603050405020304" pitchFamily="18" charset="0"/>
            </a:endParaRPr>
          </a:p>
          <a:p>
            <a:pPr>
              <a:defRPr/>
            </a:pPr>
            <a:r>
              <a:rPr lang="en-US" dirty="0">
                <a:latin typeface="Times New Roman" panose="02020603050405020304" pitchFamily="18" charset="0"/>
                <a:cs typeface="Times New Roman" panose="02020603050405020304" pitchFamily="18" charset="0"/>
              </a:rPr>
              <a:t>b=1024</a:t>
            </a:r>
          </a:p>
          <a:p>
            <a:pPr>
              <a:defRPr/>
            </a:pPr>
            <a:r>
              <a:rPr lang="en-US" dirty="0">
                <a:latin typeface="Times New Roman" panose="02020603050405020304" pitchFamily="18" charset="0"/>
                <a:cs typeface="Times New Roman" panose="02020603050405020304" pitchFamily="18" charset="0"/>
              </a:rPr>
              <a:t>b/8=128</a:t>
            </a:r>
          </a:p>
          <a:p>
            <a:pPr marL="285750" indent="-285750">
              <a:buFont typeface="Arial" panose="020B0604020202020204" pitchFamily="34" charset="0"/>
              <a:buChar char="•"/>
              <a:defRPr/>
            </a:pPr>
            <a:r>
              <a:rPr lang="en-US" dirty="0">
                <a:latin typeface="Times New Roman" panose="02020603050405020304" pitchFamily="18" charset="0"/>
                <a:cs typeface="Times New Roman" panose="02020603050405020304" pitchFamily="18" charset="0"/>
              </a:rPr>
              <a:t>So 128 times we need to repeat </a:t>
            </a:r>
            <a:r>
              <a:rPr lang="en-US" dirty="0">
                <a:solidFill>
                  <a:srgbClr val="0000FF"/>
                </a:solidFill>
                <a:latin typeface="Times New Roman" panose="02020603050405020304" pitchFamily="18" charset="0"/>
                <a:cs typeface="Times New Roman" panose="02020603050405020304" pitchFamily="18" charset="0"/>
              </a:rPr>
              <a:t>00110110</a:t>
            </a:r>
            <a:r>
              <a:rPr lang="en-US" dirty="0">
                <a:latin typeface="Times New Roman" panose="02020603050405020304" pitchFamily="18" charset="0"/>
                <a:cs typeface="Times New Roman" panose="02020603050405020304" pitchFamily="18" charset="0"/>
              </a:rPr>
              <a:t> to generate </a:t>
            </a:r>
            <a:r>
              <a:rPr lang="en-US" dirty="0" err="1">
                <a:latin typeface="Times New Roman" panose="02020603050405020304" pitchFamily="18" charset="0"/>
                <a:cs typeface="Times New Roman" panose="02020603050405020304" pitchFamily="18" charset="0"/>
              </a:rPr>
              <a:t>ipad</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defRPr/>
            </a:pPr>
            <a:r>
              <a:rPr lang="en-US" dirty="0">
                <a:latin typeface="Times New Roman" panose="02020603050405020304" pitchFamily="18" charset="0"/>
                <a:cs typeface="Times New Roman" panose="02020603050405020304" pitchFamily="18" charset="0"/>
              </a:rPr>
              <a:t>Ex: </a:t>
            </a:r>
            <a:r>
              <a:rPr lang="en-US" dirty="0">
                <a:solidFill>
                  <a:srgbClr val="0000FF"/>
                </a:solidFill>
                <a:latin typeface="Times New Roman" panose="02020603050405020304" pitchFamily="18" charset="0"/>
                <a:cs typeface="Times New Roman" panose="02020603050405020304" pitchFamily="18" charset="0"/>
              </a:rPr>
              <a:t>00110110   00110110   00110110 00110110    00110110 00110110 …</a:t>
            </a:r>
          </a:p>
          <a:p>
            <a:pPr marL="285750" indent="-285750">
              <a:buFont typeface="Arial" panose="020B0604020202020204" pitchFamily="34" charset="0"/>
              <a:buChar char="•"/>
              <a:defRPr/>
            </a:pPr>
            <a:r>
              <a:rPr lang="en-US" dirty="0" err="1">
                <a:solidFill>
                  <a:srgbClr val="FF0000"/>
                </a:solidFill>
                <a:latin typeface="Times New Roman" panose="02020603050405020304" pitchFamily="18" charset="0"/>
                <a:cs typeface="Times New Roman" panose="02020603050405020304" pitchFamily="18" charset="0"/>
              </a:rPr>
              <a:t>ipad</a:t>
            </a:r>
            <a:r>
              <a:rPr lang="en-US" dirty="0">
                <a:solidFill>
                  <a:srgbClr val="0000FF"/>
                </a:solidFill>
                <a:latin typeface="Times New Roman" panose="02020603050405020304" pitchFamily="18" charset="0"/>
                <a:cs typeface="Times New Roman" panose="02020603050405020304" pitchFamily="18" charset="0"/>
              </a:rPr>
              <a:t>= 8*128=</a:t>
            </a:r>
            <a:r>
              <a:rPr lang="en-US" dirty="0">
                <a:solidFill>
                  <a:srgbClr val="FF0000"/>
                </a:solidFill>
                <a:latin typeface="Times New Roman" panose="02020603050405020304" pitchFamily="18" charset="0"/>
                <a:cs typeface="Times New Roman" panose="02020603050405020304" pitchFamily="18" charset="0"/>
              </a:rPr>
              <a:t>1024 bits</a:t>
            </a:r>
          </a:p>
          <a:p>
            <a:pPr marL="285750" indent="-285750">
              <a:buFont typeface="Arial" panose="020B0604020202020204" pitchFamily="34" charset="0"/>
              <a:buChar char="•"/>
              <a:defRPr/>
            </a:pPr>
            <a:r>
              <a:rPr lang="en-US" dirty="0">
                <a:latin typeface="Times New Roman" panose="02020603050405020304" pitchFamily="18" charset="0"/>
                <a:cs typeface="Times New Roman" panose="02020603050405020304" pitchFamily="18" charset="0"/>
              </a:rPr>
              <a:t>128 times we need to repeat </a:t>
            </a:r>
            <a:r>
              <a:rPr lang="en-US" dirty="0">
                <a:solidFill>
                  <a:srgbClr val="0000FF"/>
                </a:solidFill>
                <a:latin typeface="Times New Roman" panose="02020603050405020304" pitchFamily="18" charset="0"/>
                <a:cs typeface="Times New Roman" panose="02020603050405020304" pitchFamily="18" charset="0"/>
              </a:rPr>
              <a:t>01011100</a:t>
            </a:r>
            <a:r>
              <a:rPr lang="en-US" dirty="0">
                <a:latin typeface="Times New Roman" panose="02020603050405020304" pitchFamily="18" charset="0"/>
                <a:cs typeface="Times New Roman" panose="02020603050405020304" pitchFamily="18" charset="0"/>
              </a:rPr>
              <a:t> to generate </a:t>
            </a:r>
            <a:r>
              <a:rPr lang="en-US" dirty="0" err="1">
                <a:latin typeface="Times New Roman" panose="02020603050405020304" pitchFamily="18" charset="0"/>
                <a:cs typeface="Times New Roman" panose="02020603050405020304" pitchFamily="18" charset="0"/>
              </a:rPr>
              <a:t>ipad</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defRPr/>
            </a:pPr>
            <a:r>
              <a:rPr lang="en-US" dirty="0">
                <a:solidFill>
                  <a:srgbClr val="0000FF"/>
                </a:solidFill>
                <a:latin typeface="Times New Roman" panose="02020603050405020304" pitchFamily="18" charset="0"/>
                <a:cs typeface="Times New Roman" panose="02020603050405020304" pitchFamily="18" charset="0"/>
              </a:rPr>
              <a:t>Ex: 01011100   01011100    01011100 01011100    01011100     01011100   …  </a:t>
            </a:r>
          </a:p>
        </p:txBody>
      </p:sp>
      <p:sp>
        <p:nvSpPr>
          <p:cNvPr id="17413" name="TextBox 1"/>
          <p:cNvSpPr txBox="1">
            <a:spLocks noChangeArrowheads="1"/>
          </p:cNvSpPr>
          <p:nvPr/>
        </p:nvSpPr>
        <p:spPr bwMode="auto">
          <a:xfrm>
            <a:off x="381000" y="1981200"/>
            <a:ext cx="9144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400" b="1">
                <a:solidFill>
                  <a:srgbClr val="FF0000"/>
                </a:solidFill>
                <a:latin typeface="Times New Roman" panose="02020603050405020304" pitchFamily="18" charset="0"/>
                <a:cs typeface="Times New Roman" panose="02020603050405020304" pitchFamily="18" charset="0"/>
              </a:rPr>
              <a:t>1024 bits</a:t>
            </a:r>
          </a:p>
        </p:txBody>
      </p:sp>
      <p:sp>
        <p:nvSpPr>
          <p:cNvPr id="17414" name="TextBox 5"/>
          <p:cNvSpPr txBox="1">
            <a:spLocks noChangeArrowheads="1"/>
          </p:cNvSpPr>
          <p:nvPr/>
        </p:nvSpPr>
        <p:spPr bwMode="auto">
          <a:xfrm>
            <a:off x="1295400" y="1981200"/>
            <a:ext cx="9144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400" b="1">
                <a:solidFill>
                  <a:srgbClr val="FF0000"/>
                </a:solidFill>
                <a:latin typeface="Times New Roman" panose="02020603050405020304" pitchFamily="18" charset="0"/>
                <a:cs typeface="Times New Roman" panose="02020603050405020304" pitchFamily="18" charset="0"/>
              </a:rPr>
              <a:t>1024 bits</a:t>
            </a:r>
          </a:p>
        </p:txBody>
      </p:sp>
      <p:sp>
        <p:nvSpPr>
          <p:cNvPr id="17415" name="TextBox 7"/>
          <p:cNvSpPr txBox="1">
            <a:spLocks noChangeArrowheads="1"/>
          </p:cNvSpPr>
          <p:nvPr/>
        </p:nvSpPr>
        <p:spPr bwMode="auto">
          <a:xfrm>
            <a:off x="2133600" y="1981200"/>
            <a:ext cx="9144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400" b="1">
                <a:solidFill>
                  <a:srgbClr val="FF0000"/>
                </a:solidFill>
                <a:latin typeface="Times New Roman" panose="02020603050405020304" pitchFamily="18" charset="0"/>
                <a:cs typeface="Times New Roman" panose="02020603050405020304" pitchFamily="18" charset="0"/>
              </a:rPr>
              <a:t>1024 bits</a:t>
            </a:r>
          </a:p>
        </p:txBody>
      </p:sp>
      <p:sp>
        <p:nvSpPr>
          <p:cNvPr id="17416" name="TextBox 8"/>
          <p:cNvSpPr txBox="1">
            <a:spLocks noChangeArrowheads="1"/>
          </p:cNvSpPr>
          <p:nvPr/>
        </p:nvSpPr>
        <p:spPr bwMode="auto">
          <a:xfrm>
            <a:off x="3705225" y="1981200"/>
            <a:ext cx="9144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400" b="1">
                <a:solidFill>
                  <a:srgbClr val="FF0000"/>
                </a:solidFill>
                <a:latin typeface="Times New Roman" panose="02020603050405020304" pitchFamily="18" charset="0"/>
                <a:cs typeface="Times New Roman" panose="02020603050405020304" pitchFamily="18" charset="0"/>
              </a:rPr>
              <a:t>1024 bits</a:t>
            </a:r>
          </a:p>
        </p:txBody>
      </p:sp>
      <p:sp>
        <p:nvSpPr>
          <p:cNvPr id="17417" name="TextBox 9"/>
          <p:cNvSpPr txBox="1">
            <a:spLocks noChangeArrowheads="1"/>
          </p:cNvSpPr>
          <p:nvPr/>
        </p:nvSpPr>
        <p:spPr bwMode="auto">
          <a:xfrm>
            <a:off x="-33338" y="742950"/>
            <a:ext cx="914401"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b="1">
                <a:solidFill>
                  <a:srgbClr val="FF0000"/>
                </a:solidFill>
                <a:latin typeface="Times New Roman" panose="02020603050405020304" pitchFamily="18" charset="0"/>
                <a:cs typeface="Times New Roman" panose="02020603050405020304" pitchFamily="18" charset="0"/>
              </a:rPr>
              <a:t>1024 bits</a:t>
            </a:r>
          </a:p>
        </p:txBody>
      </p:sp>
      <p:sp>
        <p:nvSpPr>
          <p:cNvPr id="17418" name="TextBox 10"/>
          <p:cNvSpPr txBox="1">
            <a:spLocks noChangeArrowheads="1"/>
          </p:cNvSpPr>
          <p:nvPr/>
        </p:nvSpPr>
        <p:spPr bwMode="auto">
          <a:xfrm>
            <a:off x="871538" y="742950"/>
            <a:ext cx="9144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b="1">
                <a:solidFill>
                  <a:srgbClr val="FF0000"/>
                </a:solidFill>
                <a:latin typeface="Times New Roman" panose="02020603050405020304" pitchFamily="18" charset="0"/>
                <a:cs typeface="Times New Roman" panose="02020603050405020304" pitchFamily="18" charset="0"/>
              </a:rPr>
              <a:t>1024 bits</a:t>
            </a:r>
          </a:p>
        </p:txBody>
      </p:sp>
      <p:sp>
        <p:nvSpPr>
          <p:cNvPr id="17419" name="TextBox 2"/>
          <p:cNvSpPr txBox="1">
            <a:spLocks noChangeArrowheads="1"/>
          </p:cNvSpPr>
          <p:nvPr/>
        </p:nvSpPr>
        <p:spPr bwMode="auto">
          <a:xfrm>
            <a:off x="1825625" y="457200"/>
            <a:ext cx="31654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b="1">
                <a:solidFill>
                  <a:srgbClr val="0000FF"/>
                </a:solidFill>
                <a:latin typeface="Times New Roman" panose="02020603050405020304" pitchFamily="18" charset="0"/>
                <a:cs typeface="Times New Roman" panose="02020603050405020304" pitchFamily="18" charset="0"/>
              </a:rPr>
              <a:t>Expanded Key S</a:t>
            </a:r>
            <a:r>
              <a:rPr lang="en-US" altLang="en-US" sz="1200" b="1" baseline="-25000">
                <a:solidFill>
                  <a:srgbClr val="0000FF"/>
                </a:solidFill>
                <a:latin typeface="Times New Roman" panose="02020603050405020304" pitchFamily="18" charset="0"/>
                <a:cs typeface="Times New Roman" panose="02020603050405020304" pitchFamily="18" charset="0"/>
              </a:rPr>
              <a:t>i   </a:t>
            </a:r>
            <a:r>
              <a:rPr lang="en-US" altLang="en-US" sz="1200" b="1">
                <a:solidFill>
                  <a:srgbClr val="0000FF"/>
                </a:solidFill>
                <a:latin typeface="Times New Roman" panose="02020603050405020304" pitchFamily="18" charset="0"/>
                <a:cs typeface="Times New Roman" panose="02020603050405020304" pitchFamily="18" charset="0"/>
              </a:rPr>
              <a:t>= K</a:t>
            </a:r>
            <a:r>
              <a:rPr lang="en-US" altLang="en-US" sz="1200" b="1" baseline="30000">
                <a:solidFill>
                  <a:srgbClr val="0000FF"/>
                </a:solidFill>
                <a:latin typeface="Times New Roman" panose="02020603050405020304" pitchFamily="18" charset="0"/>
                <a:cs typeface="Times New Roman" panose="02020603050405020304" pitchFamily="18" charset="0"/>
              </a:rPr>
              <a:t>+       </a:t>
            </a:r>
            <a:r>
              <a:rPr lang="en-US" altLang="en-US" sz="1200" b="1">
                <a:solidFill>
                  <a:srgbClr val="0000FF"/>
                </a:solidFill>
                <a:latin typeface="Times New Roman" panose="02020603050405020304" pitchFamily="18" charset="0"/>
                <a:cs typeface="Times New Roman" panose="02020603050405020304" pitchFamily="18" charset="0"/>
              </a:rPr>
              <a:t>XOR     ipad</a:t>
            </a:r>
          </a:p>
          <a:p>
            <a:pPr>
              <a:spcBef>
                <a:spcPct val="0"/>
              </a:spcBef>
              <a:buFontTx/>
              <a:buNone/>
            </a:pPr>
            <a:r>
              <a:rPr lang="en-US" altLang="en-US" sz="1200" b="1">
                <a:solidFill>
                  <a:srgbClr val="0000FF"/>
                </a:solidFill>
                <a:latin typeface="Times New Roman" panose="02020603050405020304" pitchFamily="18" charset="0"/>
                <a:cs typeface="Times New Roman" panose="02020603050405020304" pitchFamily="18" charset="0"/>
              </a:rPr>
              <a:t>                    </a:t>
            </a:r>
          </a:p>
          <a:p>
            <a:pPr>
              <a:spcBef>
                <a:spcPct val="0"/>
              </a:spcBef>
              <a:buFontTx/>
              <a:buNone/>
            </a:pPr>
            <a:r>
              <a:rPr lang="en-US" altLang="en-US" sz="1200" b="1">
                <a:solidFill>
                  <a:srgbClr val="0000FF"/>
                </a:solidFill>
                <a:latin typeface="Times New Roman" panose="02020603050405020304" pitchFamily="18" charset="0"/>
                <a:cs typeface="Times New Roman" panose="02020603050405020304" pitchFamily="18" charset="0"/>
              </a:rPr>
              <a:t>                 1024 bit  1024 bit        1024 bit  </a:t>
            </a:r>
          </a:p>
        </p:txBody>
      </p:sp>
      <p:cxnSp>
        <p:nvCxnSpPr>
          <p:cNvPr id="13" name="Straight Arrow Connector 12"/>
          <p:cNvCxnSpPr/>
          <p:nvPr/>
        </p:nvCxnSpPr>
        <p:spPr>
          <a:xfrm flipH="1">
            <a:off x="1047750" y="712788"/>
            <a:ext cx="1162050" cy="811212"/>
          </a:xfrm>
          <a:prstGeom prst="straightConnector1">
            <a:avLst/>
          </a:prstGeom>
          <a:ln w="127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26673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5486400" y="28575"/>
            <a:ext cx="3200400" cy="428625"/>
          </a:xfrm>
        </p:spPr>
        <p:txBody>
          <a:bodyPr>
            <a:normAutofit fontScale="90000"/>
          </a:bodyPr>
          <a:lstStyle/>
          <a:p>
            <a:r>
              <a:rPr lang="en-US" altLang="en-US" sz="2800" b="1" u="sng">
                <a:solidFill>
                  <a:srgbClr val="C00000"/>
                </a:solidFill>
                <a:latin typeface="Times New Roman" panose="02020603050405020304" pitchFamily="18" charset="0"/>
                <a:cs typeface="Times New Roman" panose="02020603050405020304" pitchFamily="18" charset="0"/>
              </a:rPr>
              <a:t>HMAC </a:t>
            </a:r>
            <a:endParaRPr lang="en-US" altLang="en-US" sz="2800"/>
          </a:p>
        </p:txBody>
      </p:sp>
      <p:pic>
        <p:nvPicPr>
          <p:cNvPr id="18435" name="Picture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200" y="152400"/>
            <a:ext cx="4648200" cy="6462713"/>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sp>
        <p:nvSpPr>
          <p:cNvPr id="7" name="Rectangle 6"/>
          <p:cNvSpPr/>
          <p:nvPr/>
        </p:nvSpPr>
        <p:spPr>
          <a:xfrm>
            <a:off x="4905375" y="457200"/>
            <a:ext cx="4343400" cy="6462713"/>
          </a:xfrm>
          <a:prstGeom prst="rect">
            <a:avLst/>
          </a:prstGeom>
        </p:spPr>
        <p:txBody>
          <a:bodyPr>
            <a:spAutoFit/>
          </a:bodyPr>
          <a:lstStyle/>
          <a:p>
            <a:pPr>
              <a:defRPr/>
            </a:pPr>
            <a:r>
              <a:rPr lang="en-US" dirty="0">
                <a:solidFill>
                  <a:srgbClr val="0000FF"/>
                </a:solidFill>
                <a:latin typeface="Times New Roman" panose="02020603050405020304" pitchFamily="18" charset="0"/>
                <a:cs typeface="Times New Roman" panose="02020603050405020304" pitchFamily="18" charset="0"/>
              </a:rPr>
              <a:t>IV = initial value input to hash function</a:t>
            </a:r>
          </a:p>
          <a:p>
            <a:pPr>
              <a:defRPr/>
            </a:pPr>
            <a:r>
              <a:rPr lang="en-US" dirty="0">
                <a:solidFill>
                  <a:srgbClr val="0000FF"/>
                </a:solidFill>
                <a:latin typeface="Times New Roman" panose="02020603050405020304" pitchFamily="18" charset="0"/>
                <a:cs typeface="Times New Roman" panose="02020603050405020304" pitchFamily="18" charset="0"/>
              </a:rPr>
              <a:t>M = message input to HMAC</a:t>
            </a:r>
          </a:p>
          <a:p>
            <a:pPr>
              <a:defRPr/>
            </a:pPr>
            <a:r>
              <a:rPr lang="en-US" dirty="0">
                <a:solidFill>
                  <a:srgbClr val="0000FF"/>
                </a:solidFill>
                <a:latin typeface="Times New Roman" panose="02020603050405020304" pitchFamily="18" charset="0"/>
                <a:cs typeface="Times New Roman" panose="02020603050405020304" pitchFamily="18" charset="0"/>
              </a:rPr>
              <a:t>Y – L number of 1024 bit blocks</a:t>
            </a:r>
          </a:p>
          <a:p>
            <a:pPr>
              <a:defRPr/>
            </a:pPr>
            <a:r>
              <a:rPr lang="en-US" dirty="0">
                <a:solidFill>
                  <a:srgbClr val="FF0000"/>
                </a:solidFill>
                <a:latin typeface="Times New Roman" panose="02020603050405020304" pitchFamily="18" charset="0"/>
                <a:cs typeface="Times New Roman" panose="02020603050405020304" pitchFamily="18" charset="0"/>
              </a:rPr>
              <a:t>K</a:t>
            </a:r>
            <a:r>
              <a:rPr lang="en-US" dirty="0">
                <a:solidFill>
                  <a:srgbClr val="0000FF"/>
                </a:solidFill>
                <a:latin typeface="Times New Roman" panose="02020603050405020304" pitchFamily="18" charset="0"/>
                <a:cs typeface="Times New Roman" panose="02020603050405020304" pitchFamily="18" charset="0"/>
              </a:rPr>
              <a:t> = secret key</a:t>
            </a:r>
          </a:p>
          <a:p>
            <a:pPr>
              <a:defRPr/>
            </a:pPr>
            <a:r>
              <a:rPr lang="en-US" dirty="0">
                <a:solidFill>
                  <a:srgbClr val="0000FF"/>
                </a:solidFill>
                <a:latin typeface="Times New Roman" panose="02020603050405020304" pitchFamily="18" charset="0"/>
                <a:cs typeface="Times New Roman" panose="02020603050405020304" pitchFamily="18" charset="0"/>
              </a:rPr>
              <a:t>    = padded zeros to left to make it </a:t>
            </a:r>
            <a:r>
              <a:rPr lang="en-US" dirty="0">
                <a:solidFill>
                  <a:srgbClr val="FF0000"/>
                </a:solidFill>
                <a:latin typeface="Times New Roman" panose="02020603050405020304" pitchFamily="18" charset="0"/>
                <a:cs typeface="Times New Roman" panose="02020603050405020304" pitchFamily="18" charset="0"/>
              </a:rPr>
              <a:t>1024 bits</a:t>
            </a:r>
          </a:p>
          <a:p>
            <a:pPr>
              <a:defRPr/>
            </a:pPr>
            <a:r>
              <a:rPr lang="en-US" b="1" dirty="0" err="1">
                <a:solidFill>
                  <a:srgbClr val="0000FF"/>
                </a:solidFill>
                <a:latin typeface="Times New Roman" panose="02020603050405020304" pitchFamily="18" charset="0"/>
                <a:cs typeface="Times New Roman" panose="02020603050405020304" pitchFamily="18" charset="0"/>
              </a:rPr>
              <a:t>ipad</a:t>
            </a:r>
            <a:r>
              <a:rPr lang="en-US" b="1" dirty="0">
                <a:solidFill>
                  <a:srgbClr val="0000FF"/>
                </a:solidFill>
                <a:latin typeface="Times New Roman" panose="02020603050405020304" pitchFamily="18" charset="0"/>
                <a:cs typeface="Times New Roman" panose="02020603050405020304" pitchFamily="18" charset="0"/>
              </a:rPr>
              <a:t> = 00110110 repeated b/8 times</a:t>
            </a:r>
          </a:p>
          <a:p>
            <a:pPr>
              <a:defRPr/>
            </a:pPr>
            <a:r>
              <a:rPr lang="en-US" b="1" dirty="0" err="1">
                <a:solidFill>
                  <a:srgbClr val="0000FF"/>
                </a:solidFill>
                <a:latin typeface="Times New Roman" panose="02020603050405020304" pitchFamily="18" charset="0"/>
                <a:cs typeface="Times New Roman" panose="02020603050405020304" pitchFamily="18" charset="0"/>
              </a:rPr>
              <a:t>opad</a:t>
            </a:r>
            <a:r>
              <a:rPr lang="en-US" b="1" dirty="0">
                <a:solidFill>
                  <a:srgbClr val="0000FF"/>
                </a:solidFill>
                <a:latin typeface="Times New Roman" panose="02020603050405020304" pitchFamily="18" charset="0"/>
                <a:cs typeface="Times New Roman" panose="02020603050405020304" pitchFamily="18" charset="0"/>
              </a:rPr>
              <a:t> = 01011100 repeated b/8 times</a:t>
            </a:r>
          </a:p>
          <a:p>
            <a:pPr>
              <a:defRPr/>
            </a:pPr>
            <a:r>
              <a:rPr lang="en-US" b="1" u="sng" dirty="0">
                <a:latin typeface="Times New Roman" panose="02020603050405020304" pitchFamily="18" charset="0"/>
                <a:cs typeface="Times New Roman" panose="02020603050405020304" pitchFamily="18" charset="0"/>
              </a:rPr>
              <a:t>NOTE:</a:t>
            </a:r>
          </a:p>
          <a:p>
            <a:pPr>
              <a:defRPr/>
            </a:pPr>
            <a:r>
              <a:rPr lang="en-US" dirty="0">
                <a:latin typeface="Times New Roman" panose="02020603050405020304" pitchFamily="18" charset="0"/>
                <a:cs typeface="Times New Roman" panose="02020603050405020304" pitchFamily="18" charset="0"/>
              </a:rPr>
              <a:t>Assume hashing – SHA512. so each block is 1024 bit.</a:t>
            </a:r>
          </a:p>
          <a:p>
            <a:pPr>
              <a:defRPr/>
            </a:pPr>
            <a:r>
              <a:rPr lang="en-US" b="1" u="sng" dirty="0" err="1">
                <a:latin typeface="Times New Roman" panose="02020603050405020304" pitchFamily="18" charset="0"/>
                <a:cs typeface="Times New Roman" panose="02020603050405020304" pitchFamily="18" charset="0"/>
              </a:rPr>
              <a:t>ipad</a:t>
            </a:r>
            <a:r>
              <a:rPr lang="en-US" b="1" u="sng" dirty="0">
                <a:latin typeface="Times New Roman" panose="02020603050405020304" pitchFamily="18" charset="0"/>
                <a:cs typeface="Times New Roman" panose="02020603050405020304" pitchFamily="18" charset="0"/>
              </a:rPr>
              <a:t>:</a:t>
            </a:r>
          </a:p>
          <a:p>
            <a:pPr>
              <a:defRPr/>
            </a:pPr>
            <a:r>
              <a:rPr lang="en-US" dirty="0">
                <a:latin typeface="Times New Roman" panose="02020603050405020304" pitchFamily="18" charset="0"/>
                <a:cs typeface="Times New Roman" panose="02020603050405020304" pitchFamily="18" charset="0"/>
              </a:rPr>
              <a:t>b=1024</a:t>
            </a:r>
          </a:p>
          <a:p>
            <a:pPr>
              <a:defRPr/>
            </a:pPr>
            <a:r>
              <a:rPr lang="en-US" dirty="0">
                <a:latin typeface="Times New Roman" panose="02020603050405020304" pitchFamily="18" charset="0"/>
                <a:cs typeface="Times New Roman" panose="02020603050405020304" pitchFamily="18" charset="0"/>
              </a:rPr>
              <a:t>b/8=128</a:t>
            </a:r>
          </a:p>
          <a:p>
            <a:pPr>
              <a:defRPr/>
            </a:pPr>
            <a:r>
              <a:rPr lang="en-US" dirty="0">
                <a:latin typeface="Times New Roman" panose="02020603050405020304" pitchFamily="18" charset="0"/>
                <a:cs typeface="Times New Roman" panose="02020603050405020304" pitchFamily="18" charset="0"/>
              </a:rPr>
              <a:t>So 128 times we need to repeat </a:t>
            </a:r>
            <a:r>
              <a:rPr lang="en-US" dirty="0">
                <a:solidFill>
                  <a:srgbClr val="0000FF"/>
                </a:solidFill>
                <a:latin typeface="Times New Roman" panose="02020603050405020304" pitchFamily="18" charset="0"/>
                <a:cs typeface="Times New Roman" panose="02020603050405020304" pitchFamily="18" charset="0"/>
              </a:rPr>
              <a:t>00110110</a:t>
            </a:r>
            <a:r>
              <a:rPr lang="en-US" dirty="0">
                <a:latin typeface="Times New Roman" panose="02020603050405020304" pitchFamily="18" charset="0"/>
                <a:cs typeface="Times New Roman" panose="02020603050405020304" pitchFamily="18" charset="0"/>
              </a:rPr>
              <a:t> to generate </a:t>
            </a:r>
            <a:r>
              <a:rPr lang="en-US" dirty="0" err="1">
                <a:latin typeface="Times New Roman" panose="02020603050405020304" pitchFamily="18" charset="0"/>
                <a:cs typeface="Times New Roman" panose="02020603050405020304" pitchFamily="18" charset="0"/>
              </a:rPr>
              <a:t>ipad</a:t>
            </a:r>
            <a:endParaRPr lang="en-US" dirty="0">
              <a:latin typeface="Times New Roman" panose="02020603050405020304" pitchFamily="18" charset="0"/>
              <a:cs typeface="Times New Roman" panose="02020603050405020304" pitchFamily="18" charset="0"/>
            </a:endParaRPr>
          </a:p>
          <a:p>
            <a:pPr>
              <a:defRPr/>
            </a:pPr>
            <a:r>
              <a:rPr lang="en-US" dirty="0">
                <a:latin typeface="Times New Roman" panose="02020603050405020304" pitchFamily="18" charset="0"/>
                <a:cs typeface="Times New Roman" panose="02020603050405020304" pitchFamily="18" charset="0"/>
              </a:rPr>
              <a:t>Ex: </a:t>
            </a:r>
            <a:r>
              <a:rPr lang="en-US" dirty="0">
                <a:solidFill>
                  <a:srgbClr val="0000FF"/>
                </a:solidFill>
                <a:latin typeface="Times New Roman" panose="02020603050405020304" pitchFamily="18" charset="0"/>
                <a:cs typeface="Times New Roman" panose="02020603050405020304" pitchFamily="18" charset="0"/>
              </a:rPr>
              <a:t>00110110   00110110   00110110 00110110    00110110 00110110 …</a:t>
            </a:r>
          </a:p>
          <a:p>
            <a:pPr marL="285750" indent="-285750">
              <a:buFont typeface="Arial" panose="020B0604020202020204" pitchFamily="34" charset="0"/>
              <a:buChar char="•"/>
              <a:defRPr/>
            </a:pPr>
            <a:r>
              <a:rPr lang="en-US" dirty="0" err="1">
                <a:solidFill>
                  <a:srgbClr val="FF0000"/>
                </a:solidFill>
                <a:latin typeface="Times New Roman" panose="02020603050405020304" pitchFamily="18" charset="0"/>
                <a:cs typeface="Times New Roman" panose="02020603050405020304" pitchFamily="18" charset="0"/>
              </a:rPr>
              <a:t>ipad</a:t>
            </a:r>
            <a:r>
              <a:rPr lang="en-US" dirty="0">
                <a:solidFill>
                  <a:srgbClr val="0000FF"/>
                </a:solidFill>
                <a:latin typeface="Times New Roman" panose="02020603050405020304" pitchFamily="18" charset="0"/>
                <a:cs typeface="Times New Roman" panose="02020603050405020304" pitchFamily="18" charset="0"/>
              </a:rPr>
              <a:t>= 8*128=</a:t>
            </a:r>
            <a:r>
              <a:rPr lang="en-US" dirty="0">
                <a:solidFill>
                  <a:srgbClr val="FF0000"/>
                </a:solidFill>
                <a:latin typeface="Times New Roman" panose="02020603050405020304" pitchFamily="18" charset="0"/>
                <a:cs typeface="Times New Roman" panose="02020603050405020304" pitchFamily="18" charset="0"/>
              </a:rPr>
              <a:t>1024 bits</a:t>
            </a:r>
          </a:p>
          <a:p>
            <a:pPr>
              <a:defRPr/>
            </a:pPr>
            <a:r>
              <a:rPr lang="en-US" b="1" u="sng" dirty="0" err="1">
                <a:latin typeface="Times New Roman" panose="02020603050405020304" pitchFamily="18" charset="0"/>
                <a:cs typeface="Times New Roman" panose="02020603050405020304" pitchFamily="18" charset="0"/>
              </a:rPr>
              <a:t>opad</a:t>
            </a:r>
            <a:r>
              <a:rPr lang="en-US" b="1" u="sng"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defRPr/>
            </a:pPr>
            <a:r>
              <a:rPr lang="en-US" dirty="0">
                <a:latin typeface="Times New Roman" panose="02020603050405020304" pitchFamily="18" charset="0"/>
                <a:cs typeface="Times New Roman" panose="02020603050405020304" pitchFamily="18" charset="0"/>
              </a:rPr>
              <a:t>128 times we need to repeat </a:t>
            </a:r>
            <a:r>
              <a:rPr lang="en-US" dirty="0">
                <a:solidFill>
                  <a:srgbClr val="0000FF"/>
                </a:solidFill>
                <a:latin typeface="Times New Roman" panose="02020603050405020304" pitchFamily="18" charset="0"/>
                <a:cs typeface="Times New Roman" panose="02020603050405020304" pitchFamily="18" charset="0"/>
              </a:rPr>
              <a:t>01011100</a:t>
            </a:r>
            <a:r>
              <a:rPr lang="en-US" dirty="0">
                <a:latin typeface="Times New Roman" panose="02020603050405020304" pitchFamily="18" charset="0"/>
                <a:cs typeface="Times New Roman" panose="02020603050405020304" pitchFamily="18" charset="0"/>
              </a:rPr>
              <a:t> to generate </a:t>
            </a:r>
            <a:r>
              <a:rPr lang="en-US" dirty="0" err="1">
                <a:latin typeface="Times New Roman" panose="02020603050405020304" pitchFamily="18" charset="0"/>
                <a:cs typeface="Times New Roman" panose="02020603050405020304" pitchFamily="18" charset="0"/>
              </a:rPr>
              <a:t>ipad</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defRPr/>
            </a:pPr>
            <a:r>
              <a:rPr lang="en-US" dirty="0">
                <a:solidFill>
                  <a:srgbClr val="0000FF"/>
                </a:solidFill>
                <a:latin typeface="Times New Roman" panose="02020603050405020304" pitchFamily="18" charset="0"/>
                <a:cs typeface="Times New Roman" panose="02020603050405020304" pitchFamily="18" charset="0"/>
              </a:rPr>
              <a:t>Ex: 01011100   01011100    01011100 01011100    01011100     01011100   …  </a:t>
            </a:r>
          </a:p>
        </p:txBody>
      </p:sp>
      <p:sp>
        <p:nvSpPr>
          <p:cNvPr id="18437" name="TextBox 2"/>
          <p:cNvSpPr txBox="1">
            <a:spLocks noChangeArrowheads="1"/>
          </p:cNvSpPr>
          <p:nvPr/>
        </p:nvSpPr>
        <p:spPr bwMode="auto">
          <a:xfrm>
            <a:off x="1825625" y="457200"/>
            <a:ext cx="31654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b="1">
                <a:solidFill>
                  <a:srgbClr val="0000FF"/>
                </a:solidFill>
                <a:latin typeface="Times New Roman" panose="02020603050405020304" pitchFamily="18" charset="0"/>
                <a:cs typeface="Times New Roman" panose="02020603050405020304" pitchFamily="18" charset="0"/>
              </a:rPr>
              <a:t>Expanded Key S</a:t>
            </a:r>
            <a:r>
              <a:rPr lang="en-US" altLang="en-US" sz="1200" b="1" baseline="-25000">
                <a:solidFill>
                  <a:srgbClr val="0000FF"/>
                </a:solidFill>
                <a:latin typeface="Times New Roman" panose="02020603050405020304" pitchFamily="18" charset="0"/>
                <a:cs typeface="Times New Roman" panose="02020603050405020304" pitchFamily="18" charset="0"/>
              </a:rPr>
              <a:t>i   </a:t>
            </a:r>
            <a:r>
              <a:rPr lang="en-US" altLang="en-US" sz="1200" b="1">
                <a:solidFill>
                  <a:srgbClr val="0000FF"/>
                </a:solidFill>
                <a:latin typeface="Times New Roman" panose="02020603050405020304" pitchFamily="18" charset="0"/>
                <a:cs typeface="Times New Roman" panose="02020603050405020304" pitchFamily="18" charset="0"/>
              </a:rPr>
              <a:t>= K</a:t>
            </a:r>
            <a:r>
              <a:rPr lang="en-US" altLang="en-US" sz="1200" b="1" baseline="30000">
                <a:solidFill>
                  <a:srgbClr val="0000FF"/>
                </a:solidFill>
                <a:latin typeface="Times New Roman" panose="02020603050405020304" pitchFamily="18" charset="0"/>
                <a:cs typeface="Times New Roman" panose="02020603050405020304" pitchFamily="18" charset="0"/>
              </a:rPr>
              <a:t>+       </a:t>
            </a:r>
            <a:r>
              <a:rPr lang="en-US" altLang="en-US" sz="1200" b="1">
                <a:solidFill>
                  <a:srgbClr val="0000FF"/>
                </a:solidFill>
                <a:latin typeface="Times New Roman" panose="02020603050405020304" pitchFamily="18" charset="0"/>
                <a:cs typeface="Times New Roman" panose="02020603050405020304" pitchFamily="18" charset="0"/>
              </a:rPr>
              <a:t>XOR     ipad</a:t>
            </a:r>
          </a:p>
          <a:p>
            <a:pPr>
              <a:spcBef>
                <a:spcPct val="0"/>
              </a:spcBef>
              <a:buFontTx/>
              <a:buNone/>
            </a:pPr>
            <a:r>
              <a:rPr lang="en-US" altLang="en-US" sz="1200" b="1">
                <a:solidFill>
                  <a:srgbClr val="0000FF"/>
                </a:solidFill>
                <a:latin typeface="Times New Roman" panose="02020603050405020304" pitchFamily="18" charset="0"/>
                <a:cs typeface="Times New Roman" panose="02020603050405020304" pitchFamily="18" charset="0"/>
              </a:rPr>
              <a:t>                    </a:t>
            </a:r>
          </a:p>
          <a:p>
            <a:pPr>
              <a:spcBef>
                <a:spcPct val="0"/>
              </a:spcBef>
              <a:buFontTx/>
              <a:buNone/>
            </a:pPr>
            <a:r>
              <a:rPr lang="en-US" altLang="en-US" sz="1200" b="1">
                <a:solidFill>
                  <a:srgbClr val="0000FF"/>
                </a:solidFill>
                <a:latin typeface="Times New Roman" panose="02020603050405020304" pitchFamily="18" charset="0"/>
                <a:cs typeface="Times New Roman" panose="02020603050405020304" pitchFamily="18" charset="0"/>
              </a:rPr>
              <a:t>                 1024 bit  1024 bit        1024 bit  </a:t>
            </a:r>
          </a:p>
        </p:txBody>
      </p:sp>
      <p:cxnSp>
        <p:nvCxnSpPr>
          <p:cNvPr id="5" name="Straight Arrow Connector 4"/>
          <p:cNvCxnSpPr/>
          <p:nvPr/>
        </p:nvCxnSpPr>
        <p:spPr>
          <a:xfrm flipH="1">
            <a:off x="2819400" y="685800"/>
            <a:ext cx="76200" cy="228600"/>
          </a:xfrm>
          <a:prstGeom prst="straightConnector1">
            <a:avLst/>
          </a:prstGeom>
          <a:ln w="127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3314700" y="712788"/>
            <a:ext cx="93663" cy="201612"/>
          </a:xfrm>
          <a:prstGeom prst="straightConnector1">
            <a:avLst/>
          </a:prstGeom>
          <a:ln w="127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4267200" y="665163"/>
            <a:ext cx="114300" cy="249237"/>
          </a:xfrm>
          <a:prstGeom prst="straightConnector1">
            <a:avLst/>
          </a:prstGeom>
          <a:ln w="127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18441" name="Rectangle 13"/>
          <p:cNvSpPr>
            <a:spLocks noChangeArrowheads="1"/>
          </p:cNvSpPr>
          <p:nvPr/>
        </p:nvSpPr>
        <p:spPr bwMode="auto">
          <a:xfrm>
            <a:off x="3408363" y="2514600"/>
            <a:ext cx="10048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solidFill>
                  <a:srgbClr val="0000FF"/>
                </a:solidFill>
                <a:latin typeface="Times New Roman" panose="02020603050405020304" pitchFamily="18" charset="0"/>
                <a:cs typeface="Times New Roman" panose="02020603050405020304" pitchFamily="18" charset="0"/>
              </a:rPr>
              <a:t>SHA512</a:t>
            </a:r>
            <a:endParaRPr lang="en-US" altLang="en-US" sz="1800">
              <a:solidFill>
                <a:srgbClr val="0000FF"/>
              </a:solidFill>
              <a:latin typeface="Arial" panose="020B0604020202020204" pitchFamily="34" charset="0"/>
            </a:endParaRPr>
          </a:p>
        </p:txBody>
      </p:sp>
      <p:sp>
        <p:nvSpPr>
          <p:cNvPr id="18442" name="TextBox 21"/>
          <p:cNvSpPr txBox="1">
            <a:spLocks noChangeArrowheads="1"/>
          </p:cNvSpPr>
          <p:nvPr/>
        </p:nvSpPr>
        <p:spPr bwMode="auto">
          <a:xfrm>
            <a:off x="381000" y="1981200"/>
            <a:ext cx="9144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400" b="1">
                <a:solidFill>
                  <a:srgbClr val="FF0000"/>
                </a:solidFill>
                <a:latin typeface="Times New Roman" panose="02020603050405020304" pitchFamily="18" charset="0"/>
                <a:cs typeface="Times New Roman" panose="02020603050405020304" pitchFamily="18" charset="0"/>
              </a:rPr>
              <a:t>1024 bits</a:t>
            </a:r>
          </a:p>
        </p:txBody>
      </p:sp>
      <p:sp>
        <p:nvSpPr>
          <p:cNvPr id="18443" name="TextBox 22"/>
          <p:cNvSpPr txBox="1">
            <a:spLocks noChangeArrowheads="1"/>
          </p:cNvSpPr>
          <p:nvPr/>
        </p:nvSpPr>
        <p:spPr bwMode="auto">
          <a:xfrm>
            <a:off x="1295400" y="1981200"/>
            <a:ext cx="9144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400" b="1">
                <a:solidFill>
                  <a:srgbClr val="FF0000"/>
                </a:solidFill>
                <a:latin typeface="Times New Roman" panose="02020603050405020304" pitchFamily="18" charset="0"/>
                <a:cs typeface="Times New Roman" panose="02020603050405020304" pitchFamily="18" charset="0"/>
              </a:rPr>
              <a:t>1024 bits</a:t>
            </a:r>
          </a:p>
        </p:txBody>
      </p:sp>
      <p:sp>
        <p:nvSpPr>
          <p:cNvPr id="18444" name="TextBox 23"/>
          <p:cNvSpPr txBox="1">
            <a:spLocks noChangeArrowheads="1"/>
          </p:cNvSpPr>
          <p:nvPr/>
        </p:nvSpPr>
        <p:spPr bwMode="auto">
          <a:xfrm>
            <a:off x="2133600" y="1981200"/>
            <a:ext cx="9144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400" b="1">
                <a:solidFill>
                  <a:srgbClr val="FF0000"/>
                </a:solidFill>
                <a:latin typeface="Times New Roman" panose="02020603050405020304" pitchFamily="18" charset="0"/>
                <a:cs typeface="Times New Roman" panose="02020603050405020304" pitchFamily="18" charset="0"/>
              </a:rPr>
              <a:t>1024 bits</a:t>
            </a:r>
          </a:p>
        </p:txBody>
      </p:sp>
      <p:sp>
        <p:nvSpPr>
          <p:cNvPr id="18445" name="TextBox 24"/>
          <p:cNvSpPr txBox="1">
            <a:spLocks noChangeArrowheads="1"/>
          </p:cNvSpPr>
          <p:nvPr/>
        </p:nvSpPr>
        <p:spPr bwMode="auto">
          <a:xfrm>
            <a:off x="3705225" y="1981200"/>
            <a:ext cx="9144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400" b="1">
                <a:solidFill>
                  <a:srgbClr val="FF0000"/>
                </a:solidFill>
                <a:latin typeface="Times New Roman" panose="02020603050405020304" pitchFamily="18" charset="0"/>
                <a:cs typeface="Times New Roman" panose="02020603050405020304" pitchFamily="18" charset="0"/>
              </a:rPr>
              <a:t>1024 bits</a:t>
            </a:r>
          </a:p>
        </p:txBody>
      </p:sp>
      <p:cxnSp>
        <p:nvCxnSpPr>
          <p:cNvPr id="3" name="Straight Arrow Connector 2"/>
          <p:cNvCxnSpPr/>
          <p:nvPr/>
        </p:nvCxnSpPr>
        <p:spPr>
          <a:xfrm>
            <a:off x="5334000" y="2209800"/>
            <a:ext cx="1600200" cy="214153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448" name="TextBox 30"/>
          <p:cNvSpPr txBox="1">
            <a:spLocks noChangeArrowheads="1"/>
          </p:cNvSpPr>
          <p:nvPr/>
        </p:nvSpPr>
        <p:spPr bwMode="auto">
          <a:xfrm>
            <a:off x="-1588" y="1141413"/>
            <a:ext cx="914401"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400" b="1">
                <a:solidFill>
                  <a:srgbClr val="FF0000"/>
                </a:solidFill>
                <a:latin typeface="Times New Roman" panose="02020603050405020304" pitchFamily="18" charset="0"/>
                <a:cs typeface="Times New Roman" panose="02020603050405020304" pitchFamily="18" charset="0"/>
              </a:rPr>
              <a:t>1024 bits</a:t>
            </a:r>
          </a:p>
        </p:txBody>
      </p:sp>
      <p:sp>
        <p:nvSpPr>
          <p:cNvPr id="18449" name="TextBox 31"/>
          <p:cNvSpPr txBox="1">
            <a:spLocks noChangeArrowheads="1"/>
          </p:cNvSpPr>
          <p:nvPr/>
        </p:nvSpPr>
        <p:spPr bwMode="auto">
          <a:xfrm>
            <a:off x="-33338" y="742950"/>
            <a:ext cx="914401"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b="1">
                <a:solidFill>
                  <a:srgbClr val="FF0000"/>
                </a:solidFill>
                <a:latin typeface="Times New Roman" panose="02020603050405020304" pitchFamily="18" charset="0"/>
                <a:cs typeface="Times New Roman" panose="02020603050405020304" pitchFamily="18" charset="0"/>
              </a:rPr>
              <a:t>1024 bits</a:t>
            </a:r>
          </a:p>
        </p:txBody>
      </p:sp>
      <p:sp>
        <p:nvSpPr>
          <p:cNvPr id="18450" name="TextBox 32"/>
          <p:cNvSpPr txBox="1">
            <a:spLocks noChangeArrowheads="1"/>
          </p:cNvSpPr>
          <p:nvPr/>
        </p:nvSpPr>
        <p:spPr bwMode="auto">
          <a:xfrm>
            <a:off x="871538" y="742950"/>
            <a:ext cx="9144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b="1">
                <a:solidFill>
                  <a:srgbClr val="FF0000"/>
                </a:solidFill>
                <a:latin typeface="Times New Roman" panose="02020603050405020304" pitchFamily="18" charset="0"/>
                <a:cs typeface="Times New Roman" panose="02020603050405020304" pitchFamily="18" charset="0"/>
              </a:rPr>
              <a:t>1024 bits</a:t>
            </a:r>
          </a:p>
        </p:txBody>
      </p:sp>
      <p:cxnSp>
        <p:nvCxnSpPr>
          <p:cNvPr id="11" name="Straight Arrow Connector 10"/>
          <p:cNvCxnSpPr/>
          <p:nvPr/>
        </p:nvCxnSpPr>
        <p:spPr>
          <a:xfrm flipH="1">
            <a:off x="1047750" y="712788"/>
            <a:ext cx="1162050" cy="811212"/>
          </a:xfrm>
          <a:prstGeom prst="straightConnector1">
            <a:avLst/>
          </a:prstGeom>
          <a:ln w="127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101855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5486400" y="28575"/>
            <a:ext cx="3200400" cy="428625"/>
          </a:xfrm>
        </p:spPr>
        <p:txBody>
          <a:bodyPr>
            <a:normAutofit fontScale="90000"/>
          </a:bodyPr>
          <a:lstStyle/>
          <a:p>
            <a:r>
              <a:rPr lang="en-US" altLang="en-US" sz="2800" b="1" u="sng">
                <a:solidFill>
                  <a:srgbClr val="C00000"/>
                </a:solidFill>
                <a:latin typeface="Times New Roman" panose="02020603050405020304" pitchFamily="18" charset="0"/>
                <a:cs typeface="Times New Roman" panose="02020603050405020304" pitchFamily="18" charset="0"/>
              </a:rPr>
              <a:t>HMAC </a:t>
            </a:r>
            <a:endParaRPr lang="en-US" altLang="en-US" sz="2800"/>
          </a:p>
        </p:txBody>
      </p:sp>
      <p:pic>
        <p:nvPicPr>
          <p:cNvPr id="19459" name="Picture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200" y="152400"/>
            <a:ext cx="4648200" cy="6462713"/>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sp>
        <p:nvSpPr>
          <p:cNvPr id="7" name="Rectangle 6"/>
          <p:cNvSpPr/>
          <p:nvPr/>
        </p:nvSpPr>
        <p:spPr>
          <a:xfrm>
            <a:off x="4905375" y="457200"/>
            <a:ext cx="4343400" cy="6462713"/>
          </a:xfrm>
          <a:prstGeom prst="rect">
            <a:avLst/>
          </a:prstGeom>
        </p:spPr>
        <p:txBody>
          <a:bodyPr>
            <a:spAutoFit/>
          </a:bodyPr>
          <a:lstStyle/>
          <a:p>
            <a:pPr>
              <a:defRPr/>
            </a:pPr>
            <a:r>
              <a:rPr lang="en-US" dirty="0">
                <a:solidFill>
                  <a:srgbClr val="0000FF"/>
                </a:solidFill>
                <a:latin typeface="Times New Roman" panose="02020603050405020304" pitchFamily="18" charset="0"/>
                <a:cs typeface="Times New Roman" panose="02020603050405020304" pitchFamily="18" charset="0"/>
              </a:rPr>
              <a:t>IV = initial value input to hash function</a:t>
            </a:r>
          </a:p>
          <a:p>
            <a:pPr>
              <a:defRPr/>
            </a:pPr>
            <a:r>
              <a:rPr lang="en-US" dirty="0">
                <a:solidFill>
                  <a:srgbClr val="0000FF"/>
                </a:solidFill>
                <a:latin typeface="Times New Roman" panose="02020603050405020304" pitchFamily="18" charset="0"/>
                <a:cs typeface="Times New Roman" panose="02020603050405020304" pitchFamily="18" charset="0"/>
              </a:rPr>
              <a:t>M = message input to HMAC</a:t>
            </a:r>
          </a:p>
          <a:p>
            <a:pPr>
              <a:defRPr/>
            </a:pPr>
            <a:r>
              <a:rPr lang="en-US" dirty="0">
                <a:solidFill>
                  <a:srgbClr val="0000FF"/>
                </a:solidFill>
                <a:latin typeface="Times New Roman" panose="02020603050405020304" pitchFamily="18" charset="0"/>
                <a:cs typeface="Times New Roman" panose="02020603050405020304" pitchFamily="18" charset="0"/>
              </a:rPr>
              <a:t>Y – L number of 1024 bit blocks</a:t>
            </a:r>
          </a:p>
          <a:p>
            <a:pPr>
              <a:defRPr/>
            </a:pPr>
            <a:r>
              <a:rPr lang="en-US" dirty="0">
                <a:solidFill>
                  <a:srgbClr val="FF0000"/>
                </a:solidFill>
                <a:latin typeface="Times New Roman" panose="02020603050405020304" pitchFamily="18" charset="0"/>
                <a:cs typeface="Times New Roman" panose="02020603050405020304" pitchFamily="18" charset="0"/>
              </a:rPr>
              <a:t>K</a:t>
            </a:r>
            <a:r>
              <a:rPr lang="en-US" dirty="0">
                <a:solidFill>
                  <a:srgbClr val="0000FF"/>
                </a:solidFill>
                <a:latin typeface="Times New Roman" panose="02020603050405020304" pitchFamily="18" charset="0"/>
                <a:cs typeface="Times New Roman" panose="02020603050405020304" pitchFamily="18" charset="0"/>
              </a:rPr>
              <a:t> = secret key</a:t>
            </a:r>
          </a:p>
          <a:p>
            <a:pPr>
              <a:defRPr/>
            </a:pPr>
            <a:r>
              <a:rPr lang="en-US" dirty="0">
                <a:solidFill>
                  <a:srgbClr val="0000FF"/>
                </a:solidFill>
                <a:latin typeface="Times New Roman" panose="02020603050405020304" pitchFamily="18" charset="0"/>
                <a:cs typeface="Times New Roman" panose="02020603050405020304" pitchFamily="18" charset="0"/>
              </a:rPr>
              <a:t>    = padded zeros to left to make it </a:t>
            </a:r>
            <a:r>
              <a:rPr lang="en-US" dirty="0">
                <a:solidFill>
                  <a:srgbClr val="FF0000"/>
                </a:solidFill>
                <a:latin typeface="Times New Roman" panose="02020603050405020304" pitchFamily="18" charset="0"/>
                <a:cs typeface="Times New Roman" panose="02020603050405020304" pitchFamily="18" charset="0"/>
              </a:rPr>
              <a:t>1024 bits</a:t>
            </a:r>
          </a:p>
          <a:p>
            <a:pPr>
              <a:defRPr/>
            </a:pPr>
            <a:r>
              <a:rPr lang="en-US" b="1" dirty="0" err="1">
                <a:solidFill>
                  <a:srgbClr val="0000FF"/>
                </a:solidFill>
                <a:latin typeface="Times New Roman" panose="02020603050405020304" pitchFamily="18" charset="0"/>
                <a:cs typeface="Times New Roman" panose="02020603050405020304" pitchFamily="18" charset="0"/>
              </a:rPr>
              <a:t>ipad</a:t>
            </a:r>
            <a:r>
              <a:rPr lang="en-US" b="1" dirty="0">
                <a:solidFill>
                  <a:srgbClr val="0000FF"/>
                </a:solidFill>
                <a:latin typeface="Times New Roman" panose="02020603050405020304" pitchFamily="18" charset="0"/>
                <a:cs typeface="Times New Roman" panose="02020603050405020304" pitchFamily="18" charset="0"/>
              </a:rPr>
              <a:t> = 00110110 repeated b/8 times</a:t>
            </a:r>
          </a:p>
          <a:p>
            <a:pPr>
              <a:defRPr/>
            </a:pPr>
            <a:r>
              <a:rPr lang="en-US" b="1" dirty="0" err="1">
                <a:solidFill>
                  <a:srgbClr val="0000FF"/>
                </a:solidFill>
                <a:latin typeface="Times New Roman" panose="02020603050405020304" pitchFamily="18" charset="0"/>
                <a:cs typeface="Times New Roman" panose="02020603050405020304" pitchFamily="18" charset="0"/>
              </a:rPr>
              <a:t>opad</a:t>
            </a:r>
            <a:r>
              <a:rPr lang="en-US" b="1" dirty="0">
                <a:solidFill>
                  <a:srgbClr val="0000FF"/>
                </a:solidFill>
                <a:latin typeface="Times New Roman" panose="02020603050405020304" pitchFamily="18" charset="0"/>
                <a:cs typeface="Times New Roman" panose="02020603050405020304" pitchFamily="18" charset="0"/>
              </a:rPr>
              <a:t> = 01011100 repeated b/8 times</a:t>
            </a:r>
          </a:p>
          <a:p>
            <a:pPr>
              <a:defRPr/>
            </a:pPr>
            <a:r>
              <a:rPr lang="en-US" b="1" u="sng" dirty="0">
                <a:latin typeface="Times New Roman" panose="02020603050405020304" pitchFamily="18" charset="0"/>
                <a:cs typeface="Times New Roman" panose="02020603050405020304" pitchFamily="18" charset="0"/>
              </a:rPr>
              <a:t>NOTE:</a:t>
            </a:r>
          </a:p>
          <a:p>
            <a:pPr>
              <a:defRPr/>
            </a:pPr>
            <a:r>
              <a:rPr lang="en-US" dirty="0">
                <a:latin typeface="Times New Roman" panose="02020603050405020304" pitchFamily="18" charset="0"/>
                <a:cs typeface="Times New Roman" panose="02020603050405020304" pitchFamily="18" charset="0"/>
              </a:rPr>
              <a:t>Assume hashing – SHA512. so each block is 1024 bit.</a:t>
            </a:r>
          </a:p>
          <a:p>
            <a:pPr>
              <a:defRPr/>
            </a:pPr>
            <a:r>
              <a:rPr lang="en-US" b="1" u="sng" dirty="0" err="1">
                <a:latin typeface="Times New Roman" panose="02020603050405020304" pitchFamily="18" charset="0"/>
                <a:cs typeface="Times New Roman" panose="02020603050405020304" pitchFamily="18" charset="0"/>
              </a:rPr>
              <a:t>ipad</a:t>
            </a:r>
            <a:r>
              <a:rPr lang="en-US" b="1" u="sng" dirty="0">
                <a:latin typeface="Times New Roman" panose="02020603050405020304" pitchFamily="18" charset="0"/>
                <a:cs typeface="Times New Roman" panose="02020603050405020304" pitchFamily="18" charset="0"/>
              </a:rPr>
              <a:t>:</a:t>
            </a:r>
          </a:p>
          <a:p>
            <a:pPr>
              <a:defRPr/>
            </a:pPr>
            <a:r>
              <a:rPr lang="en-US" dirty="0">
                <a:latin typeface="Times New Roman" panose="02020603050405020304" pitchFamily="18" charset="0"/>
                <a:cs typeface="Times New Roman" panose="02020603050405020304" pitchFamily="18" charset="0"/>
              </a:rPr>
              <a:t>b=1024</a:t>
            </a:r>
          </a:p>
          <a:p>
            <a:pPr>
              <a:defRPr/>
            </a:pPr>
            <a:r>
              <a:rPr lang="en-US" dirty="0">
                <a:latin typeface="Times New Roman" panose="02020603050405020304" pitchFamily="18" charset="0"/>
                <a:cs typeface="Times New Roman" panose="02020603050405020304" pitchFamily="18" charset="0"/>
              </a:rPr>
              <a:t>b/8=128</a:t>
            </a:r>
          </a:p>
          <a:p>
            <a:pPr>
              <a:defRPr/>
            </a:pPr>
            <a:r>
              <a:rPr lang="en-US" dirty="0">
                <a:latin typeface="Times New Roman" panose="02020603050405020304" pitchFamily="18" charset="0"/>
                <a:cs typeface="Times New Roman" panose="02020603050405020304" pitchFamily="18" charset="0"/>
              </a:rPr>
              <a:t>So 128 times we need to repeat </a:t>
            </a:r>
            <a:r>
              <a:rPr lang="en-US" dirty="0">
                <a:solidFill>
                  <a:srgbClr val="0000FF"/>
                </a:solidFill>
                <a:latin typeface="Times New Roman" panose="02020603050405020304" pitchFamily="18" charset="0"/>
                <a:cs typeface="Times New Roman" panose="02020603050405020304" pitchFamily="18" charset="0"/>
              </a:rPr>
              <a:t>00110110</a:t>
            </a:r>
            <a:r>
              <a:rPr lang="en-US" dirty="0">
                <a:latin typeface="Times New Roman" panose="02020603050405020304" pitchFamily="18" charset="0"/>
                <a:cs typeface="Times New Roman" panose="02020603050405020304" pitchFamily="18" charset="0"/>
              </a:rPr>
              <a:t> to generate </a:t>
            </a:r>
            <a:r>
              <a:rPr lang="en-US" dirty="0" err="1">
                <a:latin typeface="Times New Roman" panose="02020603050405020304" pitchFamily="18" charset="0"/>
                <a:cs typeface="Times New Roman" panose="02020603050405020304" pitchFamily="18" charset="0"/>
              </a:rPr>
              <a:t>ipad</a:t>
            </a:r>
            <a:endParaRPr lang="en-US" dirty="0">
              <a:latin typeface="Times New Roman" panose="02020603050405020304" pitchFamily="18" charset="0"/>
              <a:cs typeface="Times New Roman" panose="02020603050405020304" pitchFamily="18" charset="0"/>
            </a:endParaRPr>
          </a:p>
          <a:p>
            <a:pPr>
              <a:defRPr/>
            </a:pPr>
            <a:r>
              <a:rPr lang="en-US" dirty="0">
                <a:latin typeface="Times New Roman" panose="02020603050405020304" pitchFamily="18" charset="0"/>
                <a:cs typeface="Times New Roman" panose="02020603050405020304" pitchFamily="18" charset="0"/>
              </a:rPr>
              <a:t>Ex: </a:t>
            </a:r>
            <a:r>
              <a:rPr lang="en-US" dirty="0">
                <a:solidFill>
                  <a:srgbClr val="0000FF"/>
                </a:solidFill>
                <a:latin typeface="Times New Roman" panose="02020603050405020304" pitchFamily="18" charset="0"/>
                <a:cs typeface="Times New Roman" panose="02020603050405020304" pitchFamily="18" charset="0"/>
              </a:rPr>
              <a:t>00110110   00110110   00110110 00110110    00110110 00110110 …</a:t>
            </a:r>
          </a:p>
          <a:p>
            <a:pPr marL="285750" indent="-285750">
              <a:buFont typeface="Arial" panose="020B0604020202020204" pitchFamily="34" charset="0"/>
              <a:buChar char="•"/>
              <a:defRPr/>
            </a:pPr>
            <a:r>
              <a:rPr lang="en-US" dirty="0" err="1">
                <a:solidFill>
                  <a:srgbClr val="FF0000"/>
                </a:solidFill>
                <a:latin typeface="Times New Roman" panose="02020603050405020304" pitchFamily="18" charset="0"/>
                <a:cs typeface="Times New Roman" panose="02020603050405020304" pitchFamily="18" charset="0"/>
              </a:rPr>
              <a:t>ipad</a:t>
            </a:r>
            <a:r>
              <a:rPr lang="en-US" dirty="0">
                <a:solidFill>
                  <a:srgbClr val="0000FF"/>
                </a:solidFill>
                <a:latin typeface="Times New Roman" panose="02020603050405020304" pitchFamily="18" charset="0"/>
                <a:cs typeface="Times New Roman" panose="02020603050405020304" pitchFamily="18" charset="0"/>
              </a:rPr>
              <a:t>= 8*128=</a:t>
            </a:r>
            <a:r>
              <a:rPr lang="en-US" dirty="0">
                <a:solidFill>
                  <a:srgbClr val="FF0000"/>
                </a:solidFill>
                <a:latin typeface="Times New Roman" panose="02020603050405020304" pitchFamily="18" charset="0"/>
                <a:cs typeface="Times New Roman" panose="02020603050405020304" pitchFamily="18" charset="0"/>
              </a:rPr>
              <a:t>1024 bits</a:t>
            </a:r>
          </a:p>
          <a:p>
            <a:pPr>
              <a:defRPr/>
            </a:pPr>
            <a:r>
              <a:rPr lang="en-US" b="1" u="sng" dirty="0" err="1">
                <a:latin typeface="Times New Roman" panose="02020603050405020304" pitchFamily="18" charset="0"/>
                <a:cs typeface="Times New Roman" panose="02020603050405020304" pitchFamily="18" charset="0"/>
              </a:rPr>
              <a:t>opad</a:t>
            </a:r>
            <a:r>
              <a:rPr lang="en-US" b="1" u="sng"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defRPr/>
            </a:pPr>
            <a:r>
              <a:rPr lang="en-US" dirty="0">
                <a:latin typeface="Times New Roman" panose="02020603050405020304" pitchFamily="18" charset="0"/>
                <a:cs typeface="Times New Roman" panose="02020603050405020304" pitchFamily="18" charset="0"/>
              </a:rPr>
              <a:t>128 times we need to repeat </a:t>
            </a:r>
            <a:r>
              <a:rPr lang="en-US" dirty="0">
                <a:solidFill>
                  <a:srgbClr val="0000FF"/>
                </a:solidFill>
                <a:latin typeface="Times New Roman" panose="02020603050405020304" pitchFamily="18" charset="0"/>
                <a:cs typeface="Times New Roman" panose="02020603050405020304" pitchFamily="18" charset="0"/>
              </a:rPr>
              <a:t>01011100</a:t>
            </a:r>
            <a:r>
              <a:rPr lang="en-US" dirty="0">
                <a:latin typeface="Times New Roman" panose="02020603050405020304" pitchFamily="18" charset="0"/>
                <a:cs typeface="Times New Roman" panose="02020603050405020304" pitchFamily="18" charset="0"/>
              </a:rPr>
              <a:t> to generate </a:t>
            </a:r>
            <a:r>
              <a:rPr lang="en-US" dirty="0" err="1">
                <a:latin typeface="Times New Roman" panose="02020603050405020304" pitchFamily="18" charset="0"/>
                <a:cs typeface="Times New Roman" panose="02020603050405020304" pitchFamily="18" charset="0"/>
              </a:rPr>
              <a:t>ipad</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defRPr/>
            </a:pPr>
            <a:r>
              <a:rPr lang="en-US" dirty="0">
                <a:solidFill>
                  <a:srgbClr val="0000FF"/>
                </a:solidFill>
                <a:latin typeface="Times New Roman" panose="02020603050405020304" pitchFamily="18" charset="0"/>
                <a:cs typeface="Times New Roman" panose="02020603050405020304" pitchFamily="18" charset="0"/>
              </a:rPr>
              <a:t>Ex: 01011100   01011100    01011100 01011100    01011100     01011100   …  </a:t>
            </a:r>
          </a:p>
        </p:txBody>
      </p:sp>
      <p:cxnSp>
        <p:nvCxnSpPr>
          <p:cNvPr id="5" name="Straight Arrow Connector 4"/>
          <p:cNvCxnSpPr/>
          <p:nvPr/>
        </p:nvCxnSpPr>
        <p:spPr>
          <a:xfrm flipH="1">
            <a:off x="2819400" y="685800"/>
            <a:ext cx="76200" cy="228600"/>
          </a:xfrm>
          <a:prstGeom prst="straightConnector1">
            <a:avLst/>
          </a:prstGeom>
          <a:ln w="127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3314700" y="712788"/>
            <a:ext cx="93663" cy="201612"/>
          </a:xfrm>
          <a:prstGeom prst="straightConnector1">
            <a:avLst/>
          </a:prstGeom>
          <a:ln w="127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4267200" y="665163"/>
            <a:ext cx="114300" cy="249237"/>
          </a:xfrm>
          <a:prstGeom prst="straightConnector1">
            <a:avLst/>
          </a:prstGeom>
          <a:ln w="127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19464" name="Rectangle 13"/>
          <p:cNvSpPr>
            <a:spLocks noChangeArrowheads="1"/>
          </p:cNvSpPr>
          <p:nvPr/>
        </p:nvSpPr>
        <p:spPr bwMode="auto">
          <a:xfrm>
            <a:off x="3408363" y="2514600"/>
            <a:ext cx="10048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solidFill>
                  <a:srgbClr val="0000FF"/>
                </a:solidFill>
                <a:latin typeface="Times New Roman" panose="02020603050405020304" pitchFamily="18" charset="0"/>
                <a:cs typeface="Times New Roman" panose="02020603050405020304" pitchFamily="18" charset="0"/>
              </a:rPr>
              <a:t>SHA512</a:t>
            </a:r>
            <a:endParaRPr lang="en-US" altLang="en-US" sz="1800">
              <a:solidFill>
                <a:srgbClr val="0000FF"/>
              </a:solidFill>
              <a:latin typeface="Arial" panose="020B0604020202020204" pitchFamily="34" charset="0"/>
            </a:endParaRPr>
          </a:p>
        </p:txBody>
      </p:sp>
      <p:sp>
        <p:nvSpPr>
          <p:cNvPr id="19465" name="Rectangle 15"/>
          <p:cNvSpPr>
            <a:spLocks noChangeArrowheads="1"/>
          </p:cNvSpPr>
          <p:nvPr/>
        </p:nvSpPr>
        <p:spPr bwMode="auto">
          <a:xfrm>
            <a:off x="1047750" y="2260600"/>
            <a:ext cx="7778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400" b="1">
                <a:solidFill>
                  <a:srgbClr val="FF0000"/>
                </a:solidFill>
                <a:latin typeface="Times New Roman" panose="02020603050405020304" pitchFamily="18" charset="0"/>
                <a:cs typeface="Times New Roman" panose="02020603050405020304" pitchFamily="18" charset="0"/>
              </a:rPr>
              <a:t>512 bits</a:t>
            </a:r>
            <a:endParaRPr lang="en-US" altLang="en-US" sz="1400">
              <a:latin typeface="Arial" panose="020B0604020202020204" pitchFamily="34" charset="0"/>
            </a:endParaRPr>
          </a:p>
        </p:txBody>
      </p:sp>
      <p:sp>
        <p:nvSpPr>
          <p:cNvPr id="19466" name="Rectangle 16"/>
          <p:cNvSpPr>
            <a:spLocks noChangeArrowheads="1"/>
          </p:cNvSpPr>
          <p:nvPr/>
        </p:nvSpPr>
        <p:spPr bwMode="auto">
          <a:xfrm>
            <a:off x="1998663" y="2889250"/>
            <a:ext cx="946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solidFill>
                  <a:srgbClr val="FF0000"/>
                </a:solidFill>
                <a:latin typeface="Times New Roman" panose="02020603050405020304" pitchFamily="18" charset="0"/>
                <a:cs typeface="Times New Roman" panose="02020603050405020304" pitchFamily="18" charset="0"/>
              </a:rPr>
              <a:t>512 bits</a:t>
            </a:r>
            <a:endParaRPr lang="en-US" altLang="en-US" sz="1800">
              <a:latin typeface="Arial" panose="020B0604020202020204" pitchFamily="34" charset="0"/>
            </a:endParaRPr>
          </a:p>
        </p:txBody>
      </p:sp>
      <p:sp>
        <p:nvSpPr>
          <p:cNvPr id="19467" name="Rectangle 17"/>
          <p:cNvSpPr>
            <a:spLocks noChangeArrowheads="1"/>
          </p:cNvSpPr>
          <p:nvPr/>
        </p:nvSpPr>
        <p:spPr bwMode="auto">
          <a:xfrm>
            <a:off x="1998663" y="3460750"/>
            <a:ext cx="946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solidFill>
                  <a:srgbClr val="FF0000"/>
                </a:solidFill>
                <a:latin typeface="Times New Roman" panose="02020603050405020304" pitchFamily="18" charset="0"/>
                <a:cs typeface="Times New Roman" panose="02020603050405020304" pitchFamily="18" charset="0"/>
              </a:rPr>
              <a:t>512 bits</a:t>
            </a:r>
            <a:endParaRPr lang="en-US" altLang="en-US" sz="1800">
              <a:latin typeface="Arial" panose="020B0604020202020204" pitchFamily="34" charset="0"/>
            </a:endParaRPr>
          </a:p>
        </p:txBody>
      </p:sp>
      <p:sp>
        <p:nvSpPr>
          <p:cNvPr id="19468" name="Rectangle 18"/>
          <p:cNvSpPr>
            <a:spLocks noChangeArrowheads="1"/>
          </p:cNvSpPr>
          <p:nvPr/>
        </p:nvSpPr>
        <p:spPr bwMode="auto">
          <a:xfrm>
            <a:off x="3289300" y="3981450"/>
            <a:ext cx="10636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solidFill>
                  <a:srgbClr val="FF0000"/>
                </a:solidFill>
                <a:latin typeface="Times New Roman" panose="02020603050405020304" pitchFamily="18" charset="0"/>
                <a:cs typeface="Times New Roman" panose="02020603050405020304" pitchFamily="18" charset="0"/>
              </a:rPr>
              <a:t>1024 bits</a:t>
            </a:r>
            <a:endParaRPr lang="en-US" altLang="en-US" sz="1800">
              <a:latin typeface="Arial" panose="020B0604020202020204" pitchFamily="34" charset="0"/>
            </a:endParaRPr>
          </a:p>
        </p:txBody>
      </p:sp>
      <p:sp>
        <p:nvSpPr>
          <p:cNvPr id="19469" name="Rectangle 19"/>
          <p:cNvSpPr>
            <a:spLocks noChangeArrowheads="1"/>
          </p:cNvSpPr>
          <p:nvPr/>
        </p:nvSpPr>
        <p:spPr bwMode="auto">
          <a:xfrm>
            <a:off x="806450" y="2740025"/>
            <a:ext cx="8667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400" b="1">
                <a:solidFill>
                  <a:srgbClr val="FF0000"/>
                </a:solidFill>
                <a:latin typeface="Times New Roman" panose="02020603050405020304" pitchFamily="18" charset="0"/>
                <a:cs typeface="Times New Roman" panose="02020603050405020304" pitchFamily="18" charset="0"/>
              </a:rPr>
              <a:t>1024 bits</a:t>
            </a:r>
            <a:endParaRPr lang="en-US" altLang="en-US" sz="1400">
              <a:latin typeface="Arial" panose="020B0604020202020204" pitchFamily="34" charset="0"/>
            </a:endParaRPr>
          </a:p>
        </p:txBody>
      </p:sp>
      <p:sp>
        <p:nvSpPr>
          <p:cNvPr id="19470" name="Rectangle 20"/>
          <p:cNvSpPr>
            <a:spLocks noChangeArrowheads="1"/>
          </p:cNvSpPr>
          <p:nvPr/>
        </p:nvSpPr>
        <p:spPr bwMode="auto">
          <a:xfrm>
            <a:off x="92075" y="3995738"/>
            <a:ext cx="10620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solidFill>
                  <a:srgbClr val="FF0000"/>
                </a:solidFill>
                <a:latin typeface="Times New Roman" panose="02020603050405020304" pitchFamily="18" charset="0"/>
                <a:cs typeface="Times New Roman" panose="02020603050405020304" pitchFamily="18" charset="0"/>
              </a:rPr>
              <a:t>1024 bits</a:t>
            </a:r>
            <a:endParaRPr lang="en-US" altLang="en-US" sz="1800">
              <a:latin typeface="Arial" panose="020B0604020202020204" pitchFamily="34" charset="0"/>
            </a:endParaRPr>
          </a:p>
        </p:txBody>
      </p:sp>
      <p:sp>
        <p:nvSpPr>
          <p:cNvPr id="19471" name="Rectangle 21"/>
          <p:cNvSpPr>
            <a:spLocks noChangeArrowheads="1"/>
          </p:cNvSpPr>
          <p:nvPr/>
        </p:nvSpPr>
        <p:spPr bwMode="auto">
          <a:xfrm>
            <a:off x="-19050" y="2681288"/>
            <a:ext cx="9604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400" b="1">
                <a:solidFill>
                  <a:srgbClr val="FF0000"/>
                </a:solidFill>
                <a:latin typeface="Times New Roman" panose="02020603050405020304" pitchFamily="18" charset="0"/>
                <a:cs typeface="Times New Roman" panose="02020603050405020304" pitchFamily="18" charset="0"/>
              </a:rPr>
              <a:t>1024</a:t>
            </a:r>
            <a:r>
              <a:rPr lang="en-US" altLang="en-US" sz="1800" b="1">
                <a:solidFill>
                  <a:srgbClr val="FF0000"/>
                </a:solidFill>
                <a:latin typeface="Times New Roman" panose="02020603050405020304" pitchFamily="18" charset="0"/>
                <a:cs typeface="Times New Roman" panose="02020603050405020304" pitchFamily="18" charset="0"/>
              </a:rPr>
              <a:t> bits</a:t>
            </a:r>
            <a:endParaRPr lang="en-US" altLang="en-US" sz="1800">
              <a:latin typeface="Arial" panose="020B0604020202020204" pitchFamily="34" charset="0"/>
            </a:endParaRPr>
          </a:p>
        </p:txBody>
      </p:sp>
      <p:sp>
        <p:nvSpPr>
          <p:cNvPr id="19472" name="Rectangle 22"/>
          <p:cNvSpPr>
            <a:spLocks noChangeArrowheads="1"/>
          </p:cNvSpPr>
          <p:nvPr/>
        </p:nvSpPr>
        <p:spPr bwMode="auto">
          <a:xfrm>
            <a:off x="2592388" y="4776788"/>
            <a:ext cx="10620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solidFill>
                  <a:srgbClr val="FF0000"/>
                </a:solidFill>
                <a:latin typeface="Times New Roman" panose="02020603050405020304" pitchFamily="18" charset="0"/>
                <a:cs typeface="Times New Roman" panose="02020603050405020304" pitchFamily="18" charset="0"/>
              </a:rPr>
              <a:t>1024 bits</a:t>
            </a:r>
            <a:endParaRPr lang="en-US" altLang="en-US" sz="1800">
              <a:latin typeface="Arial" panose="020B0604020202020204" pitchFamily="34" charset="0"/>
            </a:endParaRPr>
          </a:p>
        </p:txBody>
      </p:sp>
      <p:sp>
        <p:nvSpPr>
          <p:cNvPr id="19473" name="Rectangle 23"/>
          <p:cNvSpPr>
            <a:spLocks noChangeArrowheads="1"/>
          </p:cNvSpPr>
          <p:nvPr/>
        </p:nvSpPr>
        <p:spPr bwMode="auto">
          <a:xfrm>
            <a:off x="1552575" y="4740275"/>
            <a:ext cx="10636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solidFill>
                  <a:srgbClr val="FF0000"/>
                </a:solidFill>
                <a:latin typeface="Times New Roman" panose="02020603050405020304" pitchFamily="18" charset="0"/>
                <a:cs typeface="Times New Roman" panose="02020603050405020304" pitchFamily="18" charset="0"/>
              </a:rPr>
              <a:t>1024 bits</a:t>
            </a:r>
            <a:endParaRPr lang="en-US" altLang="en-US" sz="1800">
              <a:latin typeface="Arial" panose="020B0604020202020204" pitchFamily="34" charset="0"/>
            </a:endParaRPr>
          </a:p>
        </p:txBody>
      </p:sp>
      <p:sp>
        <p:nvSpPr>
          <p:cNvPr id="19474" name="Rectangle 24"/>
          <p:cNvSpPr>
            <a:spLocks noChangeArrowheads="1"/>
          </p:cNvSpPr>
          <p:nvPr/>
        </p:nvSpPr>
        <p:spPr bwMode="auto">
          <a:xfrm>
            <a:off x="3530600" y="5846763"/>
            <a:ext cx="9477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solidFill>
                  <a:srgbClr val="FF0000"/>
                </a:solidFill>
                <a:latin typeface="Times New Roman" panose="02020603050405020304" pitchFamily="18" charset="0"/>
                <a:cs typeface="Times New Roman" panose="02020603050405020304" pitchFamily="18" charset="0"/>
              </a:rPr>
              <a:t>512 bits</a:t>
            </a:r>
            <a:endParaRPr lang="en-US" altLang="en-US" sz="1800">
              <a:latin typeface="Arial" panose="020B0604020202020204" pitchFamily="34" charset="0"/>
            </a:endParaRPr>
          </a:p>
        </p:txBody>
      </p:sp>
      <p:sp>
        <p:nvSpPr>
          <p:cNvPr id="19475" name="Rectangle 25"/>
          <p:cNvSpPr>
            <a:spLocks noChangeArrowheads="1"/>
          </p:cNvSpPr>
          <p:nvPr/>
        </p:nvSpPr>
        <p:spPr bwMode="auto">
          <a:xfrm>
            <a:off x="766763" y="5595938"/>
            <a:ext cx="947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solidFill>
                  <a:srgbClr val="FF0000"/>
                </a:solidFill>
                <a:latin typeface="Times New Roman" panose="02020603050405020304" pitchFamily="18" charset="0"/>
                <a:cs typeface="Times New Roman" panose="02020603050405020304" pitchFamily="18" charset="0"/>
              </a:rPr>
              <a:t>512 bits</a:t>
            </a:r>
            <a:endParaRPr lang="en-US" altLang="en-US" sz="1800">
              <a:latin typeface="Arial" panose="020B0604020202020204" pitchFamily="34" charset="0"/>
            </a:endParaRPr>
          </a:p>
        </p:txBody>
      </p:sp>
      <p:sp>
        <p:nvSpPr>
          <p:cNvPr id="19476" name="TextBox 21"/>
          <p:cNvSpPr txBox="1">
            <a:spLocks noChangeArrowheads="1"/>
          </p:cNvSpPr>
          <p:nvPr/>
        </p:nvSpPr>
        <p:spPr bwMode="auto">
          <a:xfrm>
            <a:off x="381000" y="1981200"/>
            <a:ext cx="9144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400" b="1">
                <a:solidFill>
                  <a:srgbClr val="FF0000"/>
                </a:solidFill>
                <a:latin typeface="Times New Roman" panose="02020603050405020304" pitchFamily="18" charset="0"/>
                <a:cs typeface="Times New Roman" panose="02020603050405020304" pitchFamily="18" charset="0"/>
              </a:rPr>
              <a:t>1024 bits</a:t>
            </a:r>
          </a:p>
        </p:txBody>
      </p:sp>
      <p:sp>
        <p:nvSpPr>
          <p:cNvPr id="19477" name="TextBox 22"/>
          <p:cNvSpPr txBox="1">
            <a:spLocks noChangeArrowheads="1"/>
          </p:cNvSpPr>
          <p:nvPr/>
        </p:nvSpPr>
        <p:spPr bwMode="auto">
          <a:xfrm>
            <a:off x="1295400" y="1981200"/>
            <a:ext cx="9144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400" b="1">
                <a:solidFill>
                  <a:srgbClr val="FF0000"/>
                </a:solidFill>
                <a:latin typeface="Times New Roman" panose="02020603050405020304" pitchFamily="18" charset="0"/>
                <a:cs typeface="Times New Roman" panose="02020603050405020304" pitchFamily="18" charset="0"/>
              </a:rPr>
              <a:t>1024 bits</a:t>
            </a:r>
          </a:p>
        </p:txBody>
      </p:sp>
      <p:sp>
        <p:nvSpPr>
          <p:cNvPr id="19478" name="TextBox 23"/>
          <p:cNvSpPr txBox="1">
            <a:spLocks noChangeArrowheads="1"/>
          </p:cNvSpPr>
          <p:nvPr/>
        </p:nvSpPr>
        <p:spPr bwMode="auto">
          <a:xfrm>
            <a:off x="2133600" y="1981200"/>
            <a:ext cx="9144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400" b="1">
                <a:solidFill>
                  <a:srgbClr val="FF0000"/>
                </a:solidFill>
                <a:latin typeface="Times New Roman" panose="02020603050405020304" pitchFamily="18" charset="0"/>
                <a:cs typeface="Times New Roman" panose="02020603050405020304" pitchFamily="18" charset="0"/>
              </a:rPr>
              <a:t>1024 bits</a:t>
            </a:r>
          </a:p>
        </p:txBody>
      </p:sp>
      <p:sp>
        <p:nvSpPr>
          <p:cNvPr id="19479" name="TextBox 24"/>
          <p:cNvSpPr txBox="1">
            <a:spLocks noChangeArrowheads="1"/>
          </p:cNvSpPr>
          <p:nvPr/>
        </p:nvSpPr>
        <p:spPr bwMode="auto">
          <a:xfrm>
            <a:off x="3705225" y="1981200"/>
            <a:ext cx="9144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400" b="1">
                <a:solidFill>
                  <a:srgbClr val="FF0000"/>
                </a:solidFill>
                <a:latin typeface="Times New Roman" panose="02020603050405020304" pitchFamily="18" charset="0"/>
                <a:cs typeface="Times New Roman" panose="02020603050405020304" pitchFamily="18" charset="0"/>
              </a:rPr>
              <a:t>1024 bits</a:t>
            </a:r>
          </a:p>
        </p:txBody>
      </p:sp>
      <p:sp>
        <p:nvSpPr>
          <p:cNvPr id="19480" name="TextBox 26"/>
          <p:cNvSpPr txBox="1">
            <a:spLocks noChangeArrowheads="1"/>
          </p:cNvSpPr>
          <p:nvPr/>
        </p:nvSpPr>
        <p:spPr bwMode="auto">
          <a:xfrm>
            <a:off x="-33338" y="742950"/>
            <a:ext cx="914401"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b="1">
                <a:solidFill>
                  <a:srgbClr val="FF0000"/>
                </a:solidFill>
                <a:latin typeface="Times New Roman" panose="02020603050405020304" pitchFamily="18" charset="0"/>
                <a:cs typeface="Times New Roman" panose="02020603050405020304" pitchFamily="18" charset="0"/>
              </a:rPr>
              <a:t>1024 bits</a:t>
            </a:r>
          </a:p>
        </p:txBody>
      </p:sp>
      <p:sp>
        <p:nvSpPr>
          <p:cNvPr id="19481" name="TextBox 28"/>
          <p:cNvSpPr txBox="1">
            <a:spLocks noChangeArrowheads="1"/>
          </p:cNvSpPr>
          <p:nvPr/>
        </p:nvSpPr>
        <p:spPr bwMode="auto">
          <a:xfrm>
            <a:off x="871538" y="742950"/>
            <a:ext cx="9144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b="1">
                <a:solidFill>
                  <a:srgbClr val="FF0000"/>
                </a:solidFill>
                <a:latin typeface="Times New Roman" panose="02020603050405020304" pitchFamily="18" charset="0"/>
                <a:cs typeface="Times New Roman" panose="02020603050405020304" pitchFamily="18" charset="0"/>
              </a:rPr>
              <a:t>1024 bits</a:t>
            </a:r>
          </a:p>
        </p:txBody>
      </p:sp>
      <p:sp>
        <p:nvSpPr>
          <p:cNvPr id="19482" name="TextBox 2"/>
          <p:cNvSpPr txBox="1">
            <a:spLocks noChangeArrowheads="1"/>
          </p:cNvSpPr>
          <p:nvPr/>
        </p:nvSpPr>
        <p:spPr bwMode="auto">
          <a:xfrm>
            <a:off x="1825625" y="457200"/>
            <a:ext cx="31654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b="1">
                <a:solidFill>
                  <a:srgbClr val="0000FF"/>
                </a:solidFill>
                <a:latin typeface="Times New Roman" panose="02020603050405020304" pitchFamily="18" charset="0"/>
                <a:cs typeface="Times New Roman" panose="02020603050405020304" pitchFamily="18" charset="0"/>
              </a:rPr>
              <a:t>Expanded Key S</a:t>
            </a:r>
            <a:r>
              <a:rPr lang="en-US" altLang="en-US" sz="1200" b="1" baseline="-25000">
                <a:solidFill>
                  <a:srgbClr val="0000FF"/>
                </a:solidFill>
                <a:latin typeface="Times New Roman" panose="02020603050405020304" pitchFamily="18" charset="0"/>
                <a:cs typeface="Times New Roman" panose="02020603050405020304" pitchFamily="18" charset="0"/>
              </a:rPr>
              <a:t>i   </a:t>
            </a:r>
            <a:r>
              <a:rPr lang="en-US" altLang="en-US" sz="1200" b="1">
                <a:solidFill>
                  <a:srgbClr val="0000FF"/>
                </a:solidFill>
                <a:latin typeface="Times New Roman" panose="02020603050405020304" pitchFamily="18" charset="0"/>
                <a:cs typeface="Times New Roman" panose="02020603050405020304" pitchFamily="18" charset="0"/>
              </a:rPr>
              <a:t>= K</a:t>
            </a:r>
            <a:r>
              <a:rPr lang="en-US" altLang="en-US" sz="1200" b="1" baseline="30000">
                <a:solidFill>
                  <a:srgbClr val="0000FF"/>
                </a:solidFill>
                <a:latin typeface="Times New Roman" panose="02020603050405020304" pitchFamily="18" charset="0"/>
                <a:cs typeface="Times New Roman" panose="02020603050405020304" pitchFamily="18" charset="0"/>
              </a:rPr>
              <a:t>+       </a:t>
            </a:r>
            <a:r>
              <a:rPr lang="en-US" altLang="en-US" sz="1200" b="1">
                <a:solidFill>
                  <a:srgbClr val="0000FF"/>
                </a:solidFill>
                <a:latin typeface="Times New Roman" panose="02020603050405020304" pitchFamily="18" charset="0"/>
                <a:cs typeface="Times New Roman" panose="02020603050405020304" pitchFamily="18" charset="0"/>
              </a:rPr>
              <a:t>XOR     ipad</a:t>
            </a:r>
          </a:p>
          <a:p>
            <a:pPr>
              <a:spcBef>
                <a:spcPct val="0"/>
              </a:spcBef>
              <a:buFontTx/>
              <a:buNone/>
            </a:pPr>
            <a:r>
              <a:rPr lang="en-US" altLang="en-US" sz="1200" b="1">
                <a:solidFill>
                  <a:srgbClr val="0000FF"/>
                </a:solidFill>
                <a:latin typeface="Times New Roman" panose="02020603050405020304" pitchFamily="18" charset="0"/>
                <a:cs typeface="Times New Roman" panose="02020603050405020304" pitchFamily="18" charset="0"/>
              </a:rPr>
              <a:t>                    </a:t>
            </a:r>
          </a:p>
          <a:p>
            <a:pPr>
              <a:spcBef>
                <a:spcPct val="0"/>
              </a:spcBef>
              <a:buFontTx/>
              <a:buNone/>
            </a:pPr>
            <a:r>
              <a:rPr lang="en-US" altLang="en-US" sz="1200" b="1">
                <a:solidFill>
                  <a:srgbClr val="0000FF"/>
                </a:solidFill>
                <a:latin typeface="Times New Roman" panose="02020603050405020304" pitchFamily="18" charset="0"/>
                <a:cs typeface="Times New Roman" panose="02020603050405020304" pitchFamily="18" charset="0"/>
              </a:rPr>
              <a:t>                 1024 bit  1024 bit        1024 bit  </a:t>
            </a:r>
          </a:p>
        </p:txBody>
      </p:sp>
      <p:cxnSp>
        <p:nvCxnSpPr>
          <p:cNvPr id="31" name="Straight Arrow Connector 30"/>
          <p:cNvCxnSpPr/>
          <p:nvPr/>
        </p:nvCxnSpPr>
        <p:spPr>
          <a:xfrm flipH="1">
            <a:off x="1047750" y="712788"/>
            <a:ext cx="1162050" cy="811212"/>
          </a:xfrm>
          <a:prstGeom prst="straightConnector1">
            <a:avLst/>
          </a:prstGeom>
          <a:ln w="127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5402560" y="2514600"/>
            <a:ext cx="609600" cy="327660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65011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126" name="Picture 6"/>
          <p:cNvPicPr>
            <a:picLocks noChangeAspect="1" noChangeArrowheads="1"/>
          </p:cNvPicPr>
          <p:nvPr/>
        </p:nvPicPr>
        <p:blipFill>
          <a:blip r:embed="rId2"/>
          <a:srcRect/>
          <a:stretch>
            <a:fillRect/>
          </a:stretch>
        </p:blipFill>
        <p:spPr bwMode="auto">
          <a:xfrm>
            <a:off x="23813" y="0"/>
            <a:ext cx="9096375" cy="6858000"/>
          </a:xfrm>
          <a:prstGeom prst="rect">
            <a:avLst/>
          </a:prstGeom>
          <a:noFill/>
          <a:ln w="9525">
            <a:noFill/>
            <a:miter lim="800000"/>
            <a:headEnd/>
            <a:tailEnd/>
          </a:ln>
          <a:effectLst/>
        </p:spPr>
      </p:pic>
      <p:sp>
        <p:nvSpPr>
          <p:cNvPr id="12" name="TextBox 11"/>
          <p:cNvSpPr txBox="1"/>
          <p:nvPr/>
        </p:nvSpPr>
        <p:spPr>
          <a:xfrm>
            <a:off x="3000364" y="142852"/>
            <a:ext cx="2251899" cy="461665"/>
          </a:xfrm>
          <a:prstGeom prst="rect">
            <a:avLst/>
          </a:prstGeom>
          <a:noFill/>
        </p:spPr>
        <p:txBody>
          <a:bodyPr wrap="none" rtlCol="0">
            <a:spAutoFit/>
          </a:bodyPr>
          <a:lstStyle/>
          <a:p>
            <a:r>
              <a:rPr lang="en-IN" sz="2400" b="1" dirty="0"/>
              <a:t>HMAC Structure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482" name="Title 1"/>
          <p:cNvSpPr>
            <a:spLocks noGrp="1"/>
          </p:cNvSpPr>
          <p:nvPr>
            <p:ph type="title"/>
          </p:nvPr>
        </p:nvSpPr>
        <p:spPr>
          <a:xfrm>
            <a:off x="457200" y="274638"/>
            <a:ext cx="8229600" cy="639762"/>
          </a:xfrm>
        </p:spPr>
        <p:txBody>
          <a:bodyPr>
            <a:normAutofit fontScale="90000"/>
          </a:bodyPr>
          <a:lstStyle/>
          <a:p>
            <a:r>
              <a:rPr lang="en-US" altLang="en-US" sz="4000" b="1" u="sng">
                <a:solidFill>
                  <a:srgbClr val="C00000"/>
                </a:solidFill>
                <a:latin typeface="Times New Roman" panose="02020603050405020304" pitchFamily="18" charset="0"/>
                <a:cs typeface="Times New Roman" panose="02020603050405020304" pitchFamily="18" charset="0"/>
              </a:rPr>
              <a:t>HMAC</a:t>
            </a:r>
            <a:endParaRPr lang="en-US" altLang="en-US" sz="4000"/>
          </a:p>
        </p:txBody>
      </p:sp>
      <p:sp>
        <p:nvSpPr>
          <p:cNvPr id="20483"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A4909AFF-5CA9-40DD-82AD-0D512D25192D}" type="slidenum">
              <a:rPr lang="en-US" altLang="en-US" sz="1200">
                <a:solidFill>
                  <a:srgbClr val="898989"/>
                </a:solidFill>
                <a:latin typeface="Arial" panose="020B0604020202020204" pitchFamily="34" charset="0"/>
              </a:rPr>
              <a:pPr>
                <a:spcBef>
                  <a:spcPct val="0"/>
                </a:spcBef>
                <a:buFontTx/>
                <a:buNone/>
              </a:pPr>
              <a:t>21</a:t>
            </a:fld>
            <a:endParaRPr lang="en-US" altLang="en-US" sz="1200">
              <a:solidFill>
                <a:srgbClr val="898989"/>
              </a:solidFill>
              <a:latin typeface="Arial" panose="020B0604020202020204" pitchFamily="34" charset="0"/>
            </a:endParaRPr>
          </a:p>
        </p:txBody>
      </p:sp>
      <p:pic>
        <p:nvPicPr>
          <p:cNvPr id="20484" name="Picture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1219200"/>
            <a:ext cx="6400800" cy="550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79141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6" name="Title 1"/>
          <p:cNvSpPr>
            <a:spLocks noGrp="1"/>
          </p:cNvSpPr>
          <p:nvPr>
            <p:ph type="title"/>
          </p:nvPr>
        </p:nvSpPr>
        <p:spPr>
          <a:xfrm>
            <a:off x="457200" y="274638"/>
            <a:ext cx="8229600" cy="639762"/>
          </a:xfrm>
        </p:spPr>
        <p:txBody>
          <a:bodyPr>
            <a:normAutofit fontScale="90000"/>
          </a:bodyPr>
          <a:lstStyle/>
          <a:p>
            <a:r>
              <a:rPr lang="en-US" altLang="en-US" sz="4000" b="1" u="sng">
                <a:solidFill>
                  <a:srgbClr val="C00000"/>
                </a:solidFill>
                <a:latin typeface="Times New Roman" panose="02020603050405020304" pitchFamily="18" charset="0"/>
                <a:cs typeface="Times New Roman" panose="02020603050405020304" pitchFamily="18" charset="0"/>
              </a:rPr>
              <a:t>HMAC</a:t>
            </a:r>
            <a:endParaRPr lang="en-US" altLang="en-US" sz="4000"/>
          </a:p>
        </p:txBody>
      </p:sp>
      <p:sp>
        <p:nvSpPr>
          <p:cNvPr id="21507"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96F09BEF-FD06-4E02-923A-FE93C9580485}" type="slidenum">
              <a:rPr lang="en-US" altLang="en-US" sz="1200">
                <a:solidFill>
                  <a:srgbClr val="898989"/>
                </a:solidFill>
                <a:latin typeface="Arial" panose="020B0604020202020204" pitchFamily="34" charset="0"/>
              </a:rPr>
              <a:pPr>
                <a:spcBef>
                  <a:spcPct val="0"/>
                </a:spcBef>
                <a:buFontTx/>
                <a:buNone/>
              </a:pPr>
              <a:t>22</a:t>
            </a:fld>
            <a:endParaRPr lang="en-US" altLang="en-US" sz="1200">
              <a:solidFill>
                <a:srgbClr val="898989"/>
              </a:solidFill>
              <a:latin typeface="Arial" panose="020B0604020202020204" pitchFamily="34" charset="0"/>
            </a:endParaRPr>
          </a:p>
        </p:txBody>
      </p:sp>
      <p:pic>
        <p:nvPicPr>
          <p:cNvPr id="21508" name="Picture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200" y="1409700"/>
            <a:ext cx="4648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09"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876800" y="1409700"/>
            <a:ext cx="39624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93975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2530" name="Title 1"/>
          <p:cNvSpPr>
            <a:spLocks noGrp="1"/>
          </p:cNvSpPr>
          <p:nvPr>
            <p:ph type="title"/>
          </p:nvPr>
        </p:nvSpPr>
        <p:spPr>
          <a:xfrm>
            <a:off x="457200" y="274638"/>
            <a:ext cx="8229600" cy="639762"/>
          </a:xfrm>
        </p:spPr>
        <p:txBody>
          <a:bodyPr>
            <a:normAutofit fontScale="90000"/>
          </a:bodyPr>
          <a:lstStyle/>
          <a:p>
            <a:r>
              <a:rPr lang="en-US" altLang="en-US" sz="4000" b="1" u="sng">
                <a:solidFill>
                  <a:srgbClr val="C00000"/>
                </a:solidFill>
                <a:latin typeface="Times New Roman" panose="02020603050405020304" pitchFamily="18" charset="0"/>
                <a:cs typeface="Times New Roman" panose="02020603050405020304" pitchFamily="18" charset="0"/>
              </a:rPr>
              <a:t>HMAC</a:t>
            </a:r>
            <a:endParaRPr lang="en-US" altLang="en-US" sz="4000"/>
          </a:p>
        </p:txBody>
      </p:sp>
      <p:sp>
        <p:nvSpPr>
          <p:cNvPr id="22531"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3AB7FF1-80E1-44C4-A5DC-94171EF9A6A3}" type="slidenum">
              <a:rPr lang="en-US" altLang="en-US" sz="1200">
                <a:solidFill>
                  <a:srgbClr val="898989"/>
                </a:solidFill>
                <a:latin typeface="Arial" panose="020B0604020202020204" pitchFamily="34" charset="0"/>
              </a:rPr>
              <a:pPr>
                <a:spcBef>
                  <a:spcPct val="0"/>
                </a:spcBef>
                <a:buFontTx/>
                <a:buNone/>
              </a:pPr>
              <a:t>23</a:t>
            </a:fld>
            <a:endParaRPr lang="en-US" altLang="en-US" sz="1200">
              <a:solidFill>
                <a:srgbClr val="898989"/>
              </a:solidFill>
              <a:latin typeface="Arial" panose="020B0604020202020204" pitchFamily="34" charset="0"/>
            </a:endParaRPr>
          </a:p>
        </p:txBody>
      </p:sp>
      <p:pic>
        <p:nvPicPr>
          <p:cNvPr id="22532" name="Picture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447800"/>
            <a:ext cx="4038600" cy="350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3"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267200" y="1447800"/>
            <a:ext cx="4648200" cy="279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791807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3554" name="Title 1"/>
          <p:cNvSpPr>
            <a:spLocks noGrp="1"/>
          </p:cNvSpPr>
          <p:nvPr>
            <p:ph type="title"/>
          </p:nvPr>
        </p:nvSpPr>
        <p:spPr>
          <a:xfrm>
            <a:off x="457200" y="274638"/>
            <a:ext cx="8229600" cy="639762"/>
          </a:xfrm>
        </p:spPr>
        <p:txBody>
          <a:bodyPr>
            <a:normAutofit fontScale="90000"/>
          </a:bodyPr>
          <a:lstStyle/>
          <a:p>
            <a:r>
              <a:rPr lang="en-US" altLang="en-US" sz="4000" b="1" u="sng">
                <a:solidFill>
                  <a:srgbClr val="C00000"/>
                </a:solidFill>
                <a:latin typeface="Times New Roman" panose="02020603050405020304" pitchFamily="18" charset="0"/>
                <a:cs typeface="Times New Roman" panose="02020603050405020304" pitchFamily="18" charset="0"/>
              </a:rPr>
              <a:t>HMAC</a:t>
            </a:r>
            <a:endParaRPr lang="en-US" altLang="en-US" sz="4000"/>
          </a:p>
        </p:txBody>
      </p:sp>
      <p:sp>
        <p:nvSpPr>
          <p:cNvPr id="23555"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58961C2-9E2C-4C55-B3BE-DF592FBAEAFA}" type="slidenum">
              <a:rPr lang="en-US" altLang="en-US" sz="1200">
                <a:solidFill>
                  <a:srgbClr val="898989"/>
                </a:solidFill>
                <a:latin typeface="Arial" panose="020B0604020202020204" pitchFamily="34" charset="0"/>
              </a:rPr>
              <a:pPr>
                <a:spcBef>
                  <a:spcPct val="0"/>
                </a:spcBef>
                <a:buFontTx/>
                <a:buNone/>
              </a:pPr>
              <a:t>24</a:t>
            </a:fld>
            <a:endParaRPr lang="en-US" altLang="en-US" sz="1200">
              <a:solidFill>
                <a:srgbClr val="898989"/>
              </a:solidFill>
              <a:latin typeface="Arial" panose="020B0604020202020204" pitchFamily="34" charset="0"/>
            </a:endParaRPr>
          </a:p>
        </p:txBody>
      </p:sp>
      <p:pic>
        <p:nvPicPr>
          <p:cNvPr id="23556" name="Picture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600200"/>
            <a:ext cx="8001000"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160111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en-US" altLang="en-US" b="1" u="sng">
                <a:solidFill>
                  <a:srgbClr val="C00000"/>
                </a:solidFill>
                <a:latin typeface="Times New Roman" panose="02020603050405020304" pitchFamily="18" charset="0"/>
                <a:cs typeface="Times New Roman" panose="02020603050405020304" pitchFamily="18" charset="0"/>
              </a:rPr>
              <a:t>HMAC</a:t>
            </a:r>
            <a:endParaRPr lang="en-US" altLang="en-US"/>
          </a:p>
        </p:txBody>
      </p:sp>
      <p:sp>
        <p:nvSpPr>
          <p:cNvPr id="24579"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8447761-2DBC-4C01-AB39-B52021A1846E}" type="slidenum">
              <a:rPr lang="en-US" altLang="en-US" sz="1200">
                <a:solidFill>
                  <a:srgbClr val="898989"/>
                </a:solidFill>
                <a:latin typeface="Arial" panose="020B0604020202020204" pitchFamily="34" charset="0"/>
              </a:rPr>
              <a:pPr>
                <a:spcBef>
                  <a:spcPct val="0"/>
                </a:spcBef>
                <a:buFontTx/>
                <a:buNone/>
              </a:pPr>
              <a:t>25</a:t>
            </a:fld>
            <a:endParaRPr lang="en-US" altLang="en-US" sz="1200">
              <a:solidFill>
                <a:srgbClr val="898989"/>
              </a:solidFill>
              <a:latin typeface="Arial" panose="020B0604020202020204" pitchFamily="34" charset="0"/>
            </a:endParaRPr>
          </a:p>
        </p:txBody>
      </p:sp>
      <p:pic>
        <p:nvPicPr>
          <p:cNvPr id="24580" name="Picture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1676400"/>
            <a:ext cx="7162800" cy="3541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663606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5602" name="Title 1"/>
          <p:cNvSpPr>
            <a:spLocks noGrp="1"/>
          </p:cNvSpPr>
          <p:nvPr>
            <p:ph type="title"/>
          </p:nvPr>
        </p:nvSpPr>
        <p:spPr>
          <a:xfrm>
            <a:off x="457200" y="274638"/>
            <a:ext cx="8229600" cy="487362"/>
          </a:xfrm>
        </p:spPr>
        <p:txBody>
          <a:bodyPr>
            <a:normAutofit fontScale="90000"/>
          </a:bodyPr>
          <a:lstStyle/>
          <a:p>
            <a:r>
              <a:rPr lang="en-US" altLang="en-US" b="1" u="sng">
                <a:solidFill>
                  <a:srgbClr val="C00000"/>
                </a:solidFill>
                <a:latin typeface="Times New Roman" panose="02020603050405020304" pitchFamily="18" charset="0"/>
                <a:cs typeface="Times New Roman" panose="02020603050405020304" pitchFamily="18" charset="0"/>
              </a:rPr>
              <a:t>HMAC</a:t>
            </a:r>
            <a:endParaRPr lang="en-US" altLang="en-US"/>
          </a:p>
        </p:txBody>
      </p:sp>
      <p:sp>
        <p:nvSpPr>
          <p:cNvPr id="25603"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DED02EB-B796-435F-A50E-DC53D10778AA}" type="slidenum">
              <a:rPr lang="en-US" altLang="en-US" sz="1200">
                <a:solidFill>
                  <a:srgbClr val="898989"/>
                </a:solidFill>
                <a:latin typeface="Arial" panose="020B0604020202020204" pitchFamily="34" charset="0"/>
              </a:rPr>
              <a:pPr>
                <a:spcBef>
                  <a:spcPct val="0"/>
                </a:spcBef>
                <a:buFontTx/>
                <a:buNone/>
              </a:pPr>
              <a:t>26</a:t>
            </a:fld>
            <a:endParaRPr lang="en-US" altLang="en-US" sz="1200">
              <a:solidFill>
                <a:srgbClr val="898989"/>
              </a:solidFill>
              <a:latin typeface="Arial" panose="020B0604020202020204" pitchFamily="34" charset="0"/>
            </a:endParaRPr>
          </a:p>
        </p:txBody>
      </p:sp>
      <p:pic>
        <p:nvPicPr>
          <p:cNvPr id="25604" name="Picture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28600" y="2895600"/>
            <a:ext cx="4038600" cy="236220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pic>
        <p:nvPicPr>
          <p:cNvPr id="25605" name="Picture 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343400" y="1295400"/>
            <a:ext cx="4524375" cy="2301875"/>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pic>
      <p:pic>
        <p:nvPicPr>
          <p:cNvPr id="25606" name="Picture 6"/>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343400" y="3733800"/>
            <a:ext cx="4524375" cy="3124200"/>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pic>
      <p:cxnSp>
        <p:nvCxnSpPr>
          <p:cNvPr id="9" name="Straight Arrow Connector 8"/>
          <p:cNvCxnSpPr/>
          <p:nvPr/>
        </p:nvCxnSpPr>
        <p:spPr>
          <a:xfrm flipV="1">
            <a:off x="2057400" y="1828800"/>
            <a:ext cx="2133600" cy="176847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1905000" y="5229225"/>
            <a:ext cx="2286000" cy="120332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67686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HMAC </a:t>
            </a:r>
            <a:r>
              <a:rPr lang="en-IN" dirty="0" err="1"/>
              <a:t>vs</a:t>
            </a:r>
            <a:r>
              <a:rPr lang="en-IN" dirty="0"/>
              <a:t> Digital signature</a:t>
            </a:r>
          </a:p>
        </p:txBody>
      </p:sp>
      <p:sp>
        <p:nvSpPr>
          <p:cNvPr id="3" name="Content Placeholder 2"/>
          <p:cNvSpPr>
            <a:spLocks noGrp="1"/>
          </p:cNvSpPr>
          <p:nvPr>
            <p:ph idx="1"/>
          </p:nvPr>
        </p:nvSpPr>
        <p:spPr/>
        <p:txBody>
          <a:bodyPr/>
          <a:lstStyle/>
          <a:p>
            <a:pPr algn="just"/>
            <a:r>
              <a:rPr lang="en-IN" dirty="0"/>
              <a:t>HMAC is quite similar to Digital signature since both of them use a hash function and a shared key, but the difference between them is that MACs utilize symmetric keys (same key) whereas Digital Signatures use asymmetric keys (two different keys).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a:t>
            </a:r>
          </a:p>
        </p:txBody>
      </p:sp>
      <p:sp>
        <p:nvSpPr>
          <p:cNvPr id="6" name="Content Placeholder 5"/>
          <p:cNvSpPr>
            <a:spLocks noGrp="1"/>
          </p:cNvSpPr>
          <p:nvPr>
            <p:ph idx="1"/>
          </p:nvPr>
        </p:nvSpPr>
        <p:spPr/>
        <p:txBody>
          <a:bodyPr/>
          <a:lstStyle/>
          <a:p>
            <a:r>
              <a:rPr lang="en-IN" dirty="0"/>
              <a:t>Suppose in the HMAC algorithm, the Message M = “Hello” and the Key K = “Hi”. Find out the ‘S</a:t>
            </a:r>
            <a:r>
              <a:rPr lang="en-IN" baseline="-25000" dirty="0"/>
              <a:t>i</a:t>
            </a:r>
            <a:r>
              <a:rPr lang="en-IN" dirty="0"/>
              <a:t>’ and ‘S</a:t>
            </a:r>
            <a:r>
              <a:rPr lang="en-IN" baseline="-25000" dirty="0"/>
              <a:t>o</a:t>
            </a:r>
            <a:r>
              <a:rPr lang="en-IN" dirty="0"/>
              <a:t>’ based on the Hex Conversion of ASCII characters where the length of the hash code ‘n’ is 4 bits. </a:t>
            </a:r>
          </a:p>
        </p:txBody>
      </p:sp>
    </p:spTree>
    <p:extLst>
      <p:ext uri="{BB962C8B-B14F-4D97-AF65-F5344CB8AC3E}">
        <p14:creationId xmlns:p14="http://schemas.microsoft.com/office/powerpoint/2010/main" val="20047891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328" y="-4791"/>
            <a:ext cx="8229600" cy="553471"/>
          </a:xfrm>
        </p:spPr>
        <p:txBody>
          <a:bodyPr>
            <a:normAutofit fontScale="90000"/>
          </a:bodyPr>
          <a:lstStyle/>
          <a:p>
            <a:r>
              <a:rPr lang="en-IN" dirty="0"/>
              <a:t>Example</a:t>
            </a:r>
          </a:p>
        </p:txBody>
      </p:sp>
      <p:sp>
        <p:nvSpPr>
          <p:cNvPr id="6" name="Content Placeholder 5"/>
          <p:cNvSpPr>
            <a:spLocks noGrp="1"/>
          </p:cNvSpPr>
          <p:nvPr>
            <p:ph idx="1"/>
          </p:nvPr>
        </p:nvSpPr>
        <p:spPr>
          <a:xfrm>
            <a:off x="11124" y="271944"/>
            <a:ext cx="4848908" cy="4525963"/>
          </a:xfrm>
        </p:spPr>
        <p:txBody>
          <a:bodyPr>
            <a:noAutofit/>
          </a:bodyPr>
          <a:lstStyle/>
          <a:p>
            <a:r>
              <a:rPr lang="en-IN" sz="2800" b="1" i="1" u="sng" dirty="0"/>
              <a:t>Solution</a:t>
            </a:r>
            <a:endParaRPr lang="en-IN" sz="2800" dirty="0"/>
          </a:p>
          <a:p>
            <a:r>
              <a:rPr lang="en-IN" sz="2700" dirty="0"/>
              <a:t>Message M = “Hello”</a:t>
            </a:r>
          </a:p>
          <a:p>
            <a:r>
              <a:rPr lang="en-IN" sz="2700" dirty="0"/>
              <a:t>M = 48 65 6C </a:t>
            </a:r>
            <a:r>
              <a:rPr lang="en-IN" sz="2700" dirty="0" err="1"/>
              <a:t>6C</a:t>
            </a:r>
            <a:r>
              <a:rPr lang="en-IN" sz="2700" dirty="0"/>
              <a:t> 6F</a:t>
            </a:r>
          </a:p>
          <a:p>
            <a:r>
              <a:rPr lang="en-IN" sz="2700" dirty="0"/>
              <a:t>01001000 01100101 01101100 01101100 01101111</a:t>
            </a:r>
          </a:p>
          <a:p>
            <a:r>
              <a:rPr lang="en-IN" sz="2700" dirty="0"/>
              <a:t>b = 40 bits</a:t>
            </a:r>
          </a:p>
          <a:p>
            <a:r>
              <a:rPr lang="en-IN" sz="2700" dirty="0"/>
              <a:t>K = “Hi”</a:t>
            </a:r>
          </a:p>
          <a:p>
            <a:r>
              <a:rPr lang="en-IN" sz="2700" dirty="0"/>
              <a:t>K = 48 69</a:t>
            </a:r>
          </a:p>
          <a:p>
            <a:r>
              <a:rPr lang="en-IN" sz="2700" dirty="0"/>
              <a:t>01001000 01101001</a:t>
            </a:r>
          </a:p>
          <a:p>
            <a:r>
              <a:rPr lang="en-IN" sz="2700" dirty="0"/>
              <a:t>K = 16 bits</a:t>
            </a:r>
          </a:p>
          <a:p>
            <a:r>
              <a:rPr lang="en-IN" sz="2700" dirty="0"/>
              <a:t>Given n = 4 bits</a:t>
            </a:r>
          </a:p>
          <a:p>
            <a:r>
              <a:rPr lang="en-IN" sz="2700" dirty="0"/>
              <a:t>Now to produce Si, we have K</a:t>
            </a:r>
            <a:r>
              <a:rPr lang="en-IN" sz="2700" baseline="30000" dirty="0"/>
              <a:t>+</a:t>
            </a:r>
            <a:r>
              <a:rPr lang="en-IN" sz="2700" dirty="0"/>
              <a:t> XOR </a:t>
            </a:r>
            <a:r>
              <a:rPr lang="en-IN" sz="2700" dirty="0" err="1"/>
              <a:t>ipad</a:t>
            </a:r>
            <a:endParaRPr lang="en-IN" sz="2700" dirty="0"/>
          </a:p>
        </p:txBody>
      </p:sp>
      <p:sp>
        <p:nvSpPr>
          <p:cNvPr id="3" name="Rectangle 2"/>
          <p:cNvSpPr/>
          <p:nvPr/>
        </p:nvSpPr>
        <p:spPr>
          <a:xfrm>
            <a:off x="4864932" y="548680"/>
            <a:ext cx="4572000" cy="5693866"/>
          </a:xfrm>
          <a:prstGeom prst="rect">
            <a:avLst/>
          </a:prstGeom>
        </p:spPr>
        <p:txBody>
          <a:bodyPr>
            <a:spAutoFit/>
          </a:bodyPr>
          <a:lstStyle/>
          <a:p>
            <a:r>
              <a:rPr lang="en-IN" sz="2800" dirty="0"/>
              <a:t>K</a:t>
            </a:r>
            <a:r>
              <a:rPr lang="en-IN" sz="2800" baseline="30000" dirty="0"/>
              <a:t>+</a:t>
            </a:r>
            <a:r>
              <a:rPr lang="en-IN" sz="2800" dirty="0"/>
              <a:t> = K padded with 0s on the left so that the result is b bits in length</a:t>
            </a:r>
          </a:p>
          <a:p>
            <a:r>
              <a:rPr lang="en-IN" sz="2800" dirty="0" err="1"/>
              <a:t>ipad</a:t>
            </a:r>
            <a:r>
              <a:rPr lang="en-IN" sz="2800" dirty="0"/>
              <a:t> = 00110110 (36 in Hex) repeated b/8 times</a:t>
            </a:r>
          </a:p>
          <a:p>
            <a:r>
              <a:rPr lang="en-IN" sz="2800" dirty="0"/>
              <a:t>K</a:t>
            </a:r>
            <a:r>
              <a:rPr lang="en-IN" sz="2800" baseline="30000" dirty="0"/>
              <a:t>+</a:t>
            </a:r>
            <a:r>
              <a:rPr lang="en-IN" sz="2800" dirty="0"/>
              <a:t>: 00 00 00 48 69 </a:t>
            </a:r>
          </a:p>
          <a:p>
            <a:r>
              <a:rPr lang="en-IN" sz="2800" dirty="0" err="1"/>
              <a:t>ipad</a:t>
            </a:r>
            <a:r>
              <a:rPr lang="en-IN" sz="2800" dirty="0"/>
              <a:t>: 36 36 36 36 36</a:t>
            </a:r>
          </a:p>
          <a:p>
            <a:r>
              <a:rPr lang="en-IN" sz="2800" dirty="0"/>
              <a:t>Hence, Si = </a:t>
            </a:r>
          </a:p>
          <a:p>
            <a:r>
              <a:rPr lang="en-IN" sz="2800" dirty="0"/>
              <a:t>00 00 00 48 69 XOR</a:t>
            </a:r>
          </a:p>
          <a:p>
            <a:r>
              <a:rPr lang="en-IN" sz="2800" dirty="0"/>
              <a:t>36 36 36 36 36</a:t>
            </a:r>
          </a:p>
          <a:p>
            <a:r>
              <a:rPr lang="en-IN" sz="2800" dirty="0"/>
              <a:t>--------------------</a:t>
            </a:r>
          </a:p>
          <a:p>
            <a:r>
              <a:rPr lang="en-IN" sz="2800" dirty="0"/>
              <a:t>36 36 36 7E 5F</a:t>
            </a:r>
          </a:p>
          <a:p>
            <a:r>
              <a:rPr lang="en-IN" sz="2800" dirty="0"/>
              <a:t>--------------------</a:t>
            </a:r>
          </a:p>
        </p:txBody>
      </p:sp>
    </p:spTree>
    <p:extLst>
      <p:ext uri="{BB962C8B-B14F-4D97-AF65-F5344CB8AC3E}">
        <p14:creationId xmlns:p14="http://schemas.microsoft.com/office/powerpoint/2010/main" val="357318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anim calcmode="lin" valueType="num">
                                      <p:cBhvr additive="base">
                                        <p:cTn id="7"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anim calcmode="lin" valueType="num">
                                      <p:cBhvr additive="base">
                                        <p:cTn id="13"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anim calcmode="lin" valueType="num">
                                      <p:cBhvr additive="base">
                                        <p:cTn id="19"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
                                            <p:txEl>
                                              <p:pRg st="5" end="5"/>
                                            </p:txEl>
                                          </p:spTgt>
                                        </p:tgtEl>
                                        <p:attrNameLst>
                                          <p:attrName>style.visibility</p:attrName>
                                        </p:attrNameLst>
                                      </p:cBhvr>
                                      <p:to>
                                        <p:strVal val="visible"/>
                                      </p:to>
                                    </p:set>
                                    <p:anim calcmode="lin" valueType="num">
                                      <p:cBhvr additive="base">
                                        <p:cTn id="25"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anim calcmode="lin" valueType="num">
                                      <p:cBhvr additive="base">
                                        <p:cTn id="31" dur="500" fill="hold"/>
                                        <p:tgtEl>
                                          <p:spTgt spid="6">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6">
                                            <p:txEl>
                                              <p:pRg st="7" end="7"/>
                                            </p:txEl>
                                          </p:spTgt>
                                        </p:tgtEl>
                                        <p:attrNameLst>
                                          <p:attrName>style.visibility</p:attrName>
                                        </p:attrNameLst>
                                      </p:cBhvr>
                                      <p:to>
                                        <p:strVal val="visible"/>
                                      </p:to>
                                    </p:set>
                                    <p:anim calcmode="lin" valueType="num">
                                      <p:cBhvr additive="base">
                                        <p:cTn id="37" dur="500" fill="hold"/>
                                        <p:tgtEl>
                                          <p:spTgt spid="6">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6">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6">
                                            <p:txEl>
                                              <p:pRg st="8" end="8"/>
                                            </p:txEl>
                                          </p:spTgt>
                                        </p:tgtEl>
                                        <p:attrNameLst>
                                          <p:attrName>style.visibility</p:attrName>
                                        </p:attrNameLst>
                                      </p:cBhvr>
                                      <p:to>
                                        <p:strVal val="visible"/>
                                      </p:to>
                                    </p:set>
                                    <p:anim calcmode="lin" valueType="num">
                                      <p:cBhvr additive="base">
                                        <p:cTn id="43" dur="500" fill="hold"/>
                                        <p:tgtEl>
                                          <p:spTgt spid="6">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6">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6">
                                            <p:txEl>
                                              <p:pRg st="9" end="9"/>
                                            </p:txEl>
                                          </p:spTgt>
                                        </p:tgtEl>
                                        <p:attrNameLst>
                                          <p:attrName>style.visibility</p:attrName>
                                        </p:attrNameLst>
                                      </p:cBhvr>
                                      <p:to>
                                        <p:strVal val="visible"/>
                                      </p:to>
                                    </p:set>
                                    <p:anim calcmode="lin" valueType="num">
                                      <p:cBhvr additive="base">
                                        <p:cTn id="49" dur="500" fill="hold"/>
                                        <p:tgtEl>
                                          <p:spTgt spid="6">
                                            <p:txEl>
                                              <p:pRg st="9" end="9"/>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6">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6">
                                            <p:txEl>
                                              <p:pRg st="10" end="10"/>
                                            </p:txEl>
                                          </p:spTgt>
                                        </p:tgtEl>
                                        <p:attrNameLst>
                                          <p:attrName>style.visibility</p:attrName>
                                        </p:attrNameLst>
                                      </p:cBhvr>
                                      <p:to>
                                        <p:strVal val="visible"/>
                                      </p:to>
                                    </p:set>
                                    <p:anim calcmode="lin" valueType="num">
                                      <p:cBhvr additive="base">
                                        <p:cTn id="55" dur="500" fill="hold"/>
                                        <p:tgtEl>
                                          <p:spTgt spid="6">
                                            <p:txEl>
                                              <p:pRg st="10" end="10"/>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6">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3">
                                            <p:txEl>
                                              <p:pRg st="0" end="0"/>
                                            </p:txEl>
                                          </p:spTgt>
                                        </p:tgtEl>
                                        <p:attrNameLst>
                                          <p:attrName>style.visibility</p:attrName>
                                        </p:attrNameLst>
                                      </p:cBhvr>
                                      <p:to>
                                        <p:strVal val="visible"/>
                                      </p:to>
                                    </p:set>
                                    <p:anim calcmode="lin" valueType="num">
                                      <p:cBhvr additive="base">
                                        <p:cTn id="61"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3">
                                            <p:txEl>
                                              <p:pRg st="1" end="1"/>
                                            </p:txEl>
                                          </p:spTgt>
                                        </p:tgtEl>
                                        <p:attrNameLst>
                                          <p:attrName>style.visibility</p:attrName>
                                        </p:attrNameLst>
                                      </p:cBhvr>
                                      <p:to>
                                        <p:strVal val="visible"/>
                                      </p:to>
                                    </p:set>
                                    <p:anim calcmode="lin" valueType="num">
                                      <p:cBhvr additive="base">
                                        <p:cTn id="6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3">
                                            <p:txEl>
                                              <p:pRg st="2" end="2"/>
                                            </p:txEl>
                                          </p:spTgt>
                                        </p:tgtEl>
                                        <p:attrNameLst>
                                          <p:attrName>style.visibility</p:attrName>
                                        </p:attrNameLst>
                                      </p:cBhvr>
                                      <p:to>
                                        <p:strVal val="visible"/>
                                      </p:to>
                                    </p:set>
                                    <p:anim calcmode="lin" valueType="num">
                                      <p:cBhvr additive="base">
                                        <p:cTn id="7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3">
                                            <p:txEl>
                                              <p:pRg st="3" end="3"/>
                                            </p:txEl>
                                          </p:spTgt>
                                        </p:tgtEl>
                                        <p:attrNameLst>
                                          <p:attrName>style.visibility</p:attrName>
                                        </p:attrNameLst>
                                      </p:cBhvr>
                                      <p:to>
                                        <p:strVal val="visible"/>
                                      </p:to>
                                    </p:set>
                                    <p:anim calcmode="lin" valueType="num">
                                      <p:cBhvr additive="base">
                                        <p:cTn id="7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nodeType="clickEffect">
                                  <p:stCondLst>
                                    <p:cond delay="0"/>
                                  </p:stCondLst>
                                  <p:childTnLst>
                                    <p:set>
                                      <p:cBhvr>
                                        <p:cTn id="84" dur="1" fill="hold">
                                          <p:stCondLst>
                                            <p:cond delay="0"/>
                                          </p:stCondLst>
                                        </p:cTn>
                                        <p:tgtEl>
                                          <p:spTgt spid="3">
                                            <p:txEl>
                                              <p:pRg st="4" end="4"/>
                                            </p:txEl>
                                          </p:spTgt>
                                        </p:tgtEl>
                                        <p:attrNameLst>
                                          <p:attrName>style.visibility</p:attrName>
                                        </p:attrNameLst>
                                      </p:cBhvr>
                                      <p:to>
                                        <p:strVal val="visible"/>
                                      </p:to>
                                    </p:set>
                                    <p:anim calcmode="lin" valueType="num">
                                      <p:cBhvr additive="base">
                                        <p:cTn id="8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87" presetID="2" presetClass="entr" presetSubtype="4" fill="hold" nodeType="withEffect">
                                  <p:stCondLst>
                                    <p:cond delay="0"/>
                                  </p:stCondLst>
                                  <p:childTnLst>
                                    <p:set>
                                      <p:cBhvr>
                                        <p:cTn id="88" dur="1" fill="hold">
                                          <p:stCondLst>
                                            <p:cond delay="0"/>
                                          </p:stCondLst>
                                        </p:cTn>
                                        <p:tgtEl>
                                          <p:spTgt spid="3">
                                            <p:txEl>
                                              <p:pRg st="5" end="5"/>
                                            </p:txEl>
                                          </p:spTgt>
                                        </p:tgtEl>
                                        <p:attrNameLst>
                                          <p:attrName>style.visibility</p:attrName>
                                        </p:attrNameLst>
                                      </p:cBhvr>
                                      <p:to>
                                        <p:strVal val="visible"/>
                                      </p:to>
                                    </p:set>
                                    <p:anim calcmode="lin" valueType="num">
                                      <p:cBhvr additive="base">
                                        <p:cTn id="8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9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91" presetID="2" presetClass="entr" presetSubtype="4" fill="hold" nodeType="withEffect">
                                  <p:stCondLst>
                                    <p:cond delay="0"/>
                                  </p:stCondLst>
                                  <p:childTnLst>
                                    <p:set>
                                      <p:cBhvr>
                                        <p:cTn id="92" dur="1" fill="hold">
                                          <p:stCondLst>
                                            <p:cond delay="0"/>
                                          </p:stCondLst>
                                        </p:cTn>
                                        <p:tgtEl>
                                          <p:spTgt spid="3">
                                            <p:txEl>
                                              <p:pRg st="6" end="6"/>
                                            </p:txEl>
                                          </p:spTgt>
                                        </p:tgtEl>
                                        <p:attrNameLst>
                                          <p:attrName>style.visibility</p:attrName>
                                        </p:attrNameLst>
                                      </p:cBhvr>
                                      <p:to>
                                        <p:strVal val="visible"/>
                                      </p:to>
                                    </p:set>
                                    <p:anim calcmode="lin" valueType="num">
                                      <p:cBhvr additive="base">
                                        <p:cTn id="9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9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95" fill="hold">
                      <p:stCondLst>
                        <p:cond delay="indefinite"/>
                      </p:stCondLst>
                      <p:childTnLst>
                        <p:par>
                          <p:cTn id="96" fill="hold">
                            <p:stCondLst>
                              <p:cond delay="0"/>
                            </p:stCondLst>
                            <p:childTnLst>
                              <p:par>
                                <p:cTn id="97" presetID="2" presetClass="entr" presetSubtype="4" fill="hold" nodeType="clickEffect">
                                  <p:stCondLst>
                                    <p:cond delay="0"/>
                                  </p:stCondLst>
                                  <p:childTnLst>
                                    <p:set>
                                      <p:cBhvr>
                                        <p:cTn id="98" dur="1" fill="hold">
                                          <p:stCondLst>
                                            <p:cond delay="0"/>
                                          </p:stCondLst>
                                        </p:cTn>
                                        <p:tgtEl>
                                          <p:spTgt spid="3">
                                            <p:txEl>
                                              <p:pRg st="7" end="7"/>
                                            </p:txEl>
                                          </p:spTgt>
                                        </p:tgtEl>
                                        <p:attrNameLst>
                                          <p:attrName>style.visibility</p:attrName>
                                        </p:attrNameLst>
                                      </p:cBhvr>
                                      <p:to>
                                        <p:strVal val="visible"/>
                                      </p:to>
                                    </p:set>
                                    <p:anim calcmode="lin" valueType="num">
                                      <p:cBhvr additive="base">
                                        <p:cTn id="9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00" dur="500" fill="hold"/>
                                        <p:tgtEl>
                                          <p:spTgt spid="3">
                                            <p:txEl>
                                              <p:pRg st="7" end="7"/>
                                            </p:txEl>
                                          </p:spTgt>
                                        </p:tgtEl>
                                        <p:attrNameLst>
                                          <p:attrName>ppt_y</p:attrName>
                                        </p:attrNameLst>
                                      </p:cBhvr>
                                      <p:tavLst>
                                        <p:tav tm="0">
                                          <p:val>
                                            <p:strVal val="1+#ppt_h/2"/>
                                          </p:val>
                                        </p:tav>
                                        <p:tav tm="100000">
                                          <p:val>
                                            <p:strVal val="#ppt_y"/>
                                          </p:val>
                                        </p:tav>
                                      </p:tavLst>
                                    </p:anim>
                                  </p:childTnLst>
                                </p:cTn>
                              </p:par>
                              <p:par>
                                <p:cTn id="101" presetID="2" presetClass="entr" presetSubtype="4" fill="hold" nodeType="withEffect">
                                  <p:stCondLst>
                                    <p:cond delay="0"/>
                                  </p:stCondLst>
                                  <p:childTnLst>
                                    <p:set>
                                      <p:cBhvr>
                                        <p:cTn id="102" dur="1" fill="hold">
                                          <p:stCondLst>
                                            <p:cond delay="0"/>
                                          </p:stCondLst>
                                        </p:cTn>
                                        <p:tgtEl>
                                          <p:spTgt spid="3">
                                            <p:txEl>
                                              <p:pRg st="8" end="8"/>
                                            </p:txEl>
                                          </p:spTgt>
                                        </p:tgtEl>
                                        <p:attrNameLst>
                                          <p:attrName>style.visibility</p:attrName>
                                        </p:attrNameLst>
                                      </p:cBhvr>
                                      <p:to>
                                        <p:strVal val="visible"/>
                                      </p:to>
                                    </p:set>
                                    <p:anim calcmode="lin" valueType="num">
                                      <p:cBhvr additive="base">
                                        <p:cTn id="10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104" dur="500" fill="hold"/>
                                        <p:tgtEl>
                                          <p:spTgt spid="3">
                                            <p:txEl>
                                              <p:pRg st="8" end="8"/>
                                            </p:txEl>
                                          </p:spTgt>
                                        </p:tgtEl>
                                        <p:attrNameLst>
                                          <p:attrName>ppt_y</p:attrName>
                                        </p:attrNameLst>
                                      </p:cBhvr>
                                      <p:tavLst>
                                        <p:tav tm="0">
                                          <p:val>
                                            <p:strVal val="1+#ppt_h/2"/>
                                          </p:val>
                                        </p:tav>
                                        <p:tav tm="100000">
                                          <p:val>
                                            <p:strVal val="#ppt_y"/>
                                          </p:val>
                                        </p:tav>
                                      </p:tavLst>
                                    </p:anim>
                                  </p:childTnLst>
                                </p:cTn>
                              </p:par>
                              <p:par>
                                <p:cTn id="105" presetID="2" presetClass="entr" presetSubtype="4" fill="hold" nodeType="withEffect">
                                  <p:stCondLst>
                                    <p:cond delay="0"/>
                                  </p:stCondLst>
                                  <p:childTnLst>
                                    <p:set>
                                      <p:cBhvr>
                                        <p:cTn id="106" dur="1" fill="hold">
                                          <p:stCondLst>
                                            <p:cond delay="0"/>
                                          </p:stCondLst>
                                        </p:cTn>
                                        <p:tgtEl>
                                          <p:spTgt spid="3">
                                            <p:txEl>
                                              <p:pRg st="9" end="9"/>
                                            </p:txEl>
                                          </p:spTgt>
                                        </p:tgtEl>
                                        <p:attrNameLst>
                                          <p:attrName>style.visibility</p:attrName>
                                        </p:attrNameLst>
                                      </p:cBhvr>
                                      <p:to>
                                        <p:strVal val="visible"/>
                                      </p:to>
                                    </p:set>
                                    <p:anim calcmode="lin" valueType="num">
                                      <p:cBhvr additive="base">
                                        <p:cTn id="10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108"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328" y="-4791"/>
            <a:ext cx="8229600" cy="553471"/>
          </a:xfrm>
        </p:spPr>
        <p:txBody>
          <a:bodyPr>
            <a:normAutofit fontScale="90000"/>
          </a:bodyPr>
          <a:lstStyle/>
          <a:p>
            <a:r>
              <a:rPr lang="en-IN" dirty="0"/>
              <a:t>Example</a:t>
            </a:r>
          </a:p>
        </p:txBody>
      </p:sp>
      <p:sp>
        <p:nvSpPr>
          <p:cNvPr id="6" name="Content Placeholder 5"/>
          <p:cNvSpPr>
            <a:spLocks noGrp="1"/>
          </p:cNvSpPr>
          <p:nvPr>
            <p:ph idx="1"/>
          </p:nvPr>
        </p:nvSpPr>
        <p:spPr>
          <a:xfrm>
            <a:off x="29488" y="1268760"/>
            <a:ext cx="7998895" cy="4525963"/>
          </a:xfrm>
        </p:spPr>
        <p:txBody>
          <a:bodyPr>
            <a:noAutofit/>
          </a:bodyPr>
          <a:lstStyle/>
          <a:p>
            <a:pPr marL="0" indent="0">
              <a:buNone/>
            </a:pPr>
            <a:r>
              <a:rPr lang="en-IN" sz="2800" dirty="0"/>
              <a:t>Similarly</a:t>
            </a:r>
          </a:p>
          <a:p>
            <a:r>
              <a:rPr lang="en-IN" sz="2800" dirty="0" err="1"/>
              <a:t>opad</a:t>
            </a:r>
            <a:r>
              <a:rPr lang="en-IN" sz="2800" dirty="0"/>
              <a:t> = 01011100 (5C in Hex) repeated b/8 times</a:t>
            </a:r>
          </a:p>
          <a:p>
            <a:r>
              <a:rPr lang="en-IN" sz="2800" dirty="0"/>
              <a:t>K+: 00 00 00 48 69</a:t>
            </a:r>
          </a:p>
          <a:p>
            <a:r>
              <a:rPr lang="en-IN" sz="2800" dirty="0" err="1"/>
              <a:t>opad</a:t>
            </a:r>
            <a:r>
              <a:rPr lang="en-IN" sz="2800" dirty="0"/>
              <a:t>: 5C </a:t>
            </a:r>
            <a:r>
              <a:rPr lang="en-IN" sz="2800" dirty="0" err="1"/>
              <a:t>5C</a:t>
            </a:r>
            <a:r>
              <a:rPr lang="en-IN" sz="2800" dirty="0"/>
              <a:t> </a:t>
            </a:r>
            <a:r>
              <a:rPr lang="en-IN" sz="2800" dirty="0" err="1"/>
              <a:t>5C</a:t>
            </a:r>
            <a:r>
              <a:rPr lang="en-IN" sz="2800" dirty="0"/>
              <a:t> </a:t>
            </a:r>
            <a:r>
              <a:rPr lang="en-IN" sz="2800" dirty="0" err="1"/>
              <a:t>5C</a:t>
            </a:r>
            <a:r>
              <a:rPr lang="en-IN" sz="2800" dirty="0"/>
              <a:t> </a:t>
            </a:r>
            <a:r>
              <a:rPr lang="en-IN" sz="2800" dirty="0" err="1"/>
              <a:t>5C</a:t>
            </a:r>
            <a:endParaRPr lang="en-IN" sz="2800" dirty="0"/>
          </a:p>
          <a:p>
            <a:r>
              <a:rPr lang="en-IN" sz="2800" dirty="0"/>
              <a:t>Hence, So =</a:t>
            </a:r>
          </a:p>
          <a:p>
            <a:r>
              <a:rPr lang="en-IN" sz="2800" dirty="0"/>
              <a:t>00 00 00 48 69 XOR</a:t>
            </a:r>
          </a:p>
          <a:p>
            <a:r>
              <a:rPr lang="en-IN" sz="2800" dirty="0"/>
              <a:t>5C </a:t>
            </a:r>
            <a:r>
              <a:rPr lang="en-IN" sz="2800" dirty="0" err="1"/>
              <a:t>5C</a:t>
            </a:r>
            <a:r>
              <a:rPr lang="en-IN" sz="2800" dirty="0"/>
              <a:t> </a:t>
            </a:r>
            <a:r>
              <a:rPr lang="en-IN" sz="2800" dirty="0" err="1"/>
              <a:t>5C</a:t>
            </a:r>
            <a:r>
              <a:rPr lang="en-IN" sz="2800" dirty="0"/>
              <a:t> </a:t>
            </a:r>
            <a:r>
              <a:rPr lang="en-IN" sz="2800" dirty="0" err="1"/>
              <a:t>5C</a:t>
            </a:r>
            <a:r>
              <a:rPr lang="en-IN" sz="2800" dirty="0"/>
              <a:t> </a:t>
            </a:r>
            <a:r>
              <a:rPr lang="en-IN" sz="2800" dirty="0" err="1"/>
              <a:t>5C</a:t>
            </a:r>
            <a:endParaRPr lang="en-IN" sz="2800" dirty="0"/>
          </a:p>
          <a:p>
            <a:r>
              <a:rPr lang="en-IN" sz="2800" dirty="0"/>
              <a:t>---------------------</a:t>
            </a:r>
          </a:p>
          <a:p>
            <a:r>
              <a:rPr lang="en-IN" sz="2800" dirty="0"/>
              <a:t>5C </a:t>
            </a:r>
            <a:r>
              <a:rPr lang="en-IN" sz="2800" dirty="0" err="1"/>
              <a:t>5C</a:t>
            </a:r>
            <a:r>
              <a:rPr lang="en-IN" sz="2800" dirty="0"/>
              <a:t> </a:t>
            </a:r>
            <a:r>
              <a:rPr lang="en-IN" sz="2800" dirty="0" err="1"/>
              <a:t>5C</a:t>
            </a:r>
            <a:r>
              <a:rPr lang="en-IN" sz="2800" dirty="0"/>
              <a:t> 14 35</a:t>
            </a:r>
          </a:p>
          <a:p>
            <a:r>
              <a:rPr lang="en-IN" sz="2800" dirty="0"/>
              <a:t>---------------------</a:t>
            </a:r>
          </a:p>
        </p:txBody>
      </p:sp>
    </p:spTree>
    <p:extLst>
      <p:ext uri="{BB962C8B-B14F-4D97-AF65-F5344CB8AC3E}">
        <p14:creationId xmlns:p14="http://schemas.microsoft.com/office/powerpoint/2010/main" val="2928683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 calcmode="lin" valueType="num">
                                      <p:cBhvr additive="base">
                                        <p:cTn id="7"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 calcmode="lin" valueType="num">
                                      <p:cBhvr additive="base">
                                        <p:cTn id="13"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 calcmode="lin" valueType="num">
                                      <p:cBhvr additive="base">
                                        <p:cTn id="19"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
                                            <p:txEl>
                                              <p:pRg st="4" end="4"/>
                                            </p:txEl>
                                          </p:spTgt>
                                        </p:tgtEl>
                                        <p:attrNameLst>
                                          <p:attrName>style.visibility</p:attrName>
                                        </p:attrNameLst>
                                      </p:cBhvr>
                                      <p:to>
                                        <p:strVal val="visible"/>
                                      </p:to>
                                    </p:set>
                                    <p:anim calcmode="lin" valueType="num">
                                      <p:cBhvr additive="base">
                                        <p:cTn id="25"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6">
                                            <p:txEl>
                                              <p:pRg st="5" end="5"/>
                                            </p:txEl>
                                          </p:spTgt>
                                        </p:tgtEl>
                                        <p:attrNameLst>
                                          <p:attrName>style.visibility</p:attrName>
                                        </p:attrNameLst>
                                      </p:cBhvr>
                                      <p:to>
                                        <p:strVal val="visible"/>
                                      </p:to>
                                    </p:set>
                                    <p:anim calcmode="lin" valueType="num">
                                      <p:cBhvr additive="base">
                                        <p:cTn id="29"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6">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6">
                                            <p:txEl>
                                              <p:pRg st="6" end="6"/>
                                            </p:txEl>
                                          </p:spTgt>
                                        </p:tgtEl>
                                        <p:attrNameLst>
                                          <p:attrName>style.visibility</p:attrName>
                                        </p:attrNameLst>
                                      </p:cBhvr>
                                      <p:to>
                                        <p:strVal val="visible"/>
                                      </p:to>
                                    </p:set>
                                    <p:anim calcmode="lin" valueType="num">
                                      <p:cBhvr additive="base">
                                        <p:cTn id="33" dur="500" fill="hold"/>
                                        <p:tgtEl>
                                          <p:spTgt spid="6">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6">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6">
                                            <p:txEl>
                                              <p:pRg st="7" end="7"/>
                                            </p:txEl>
                                          </p:spTgt>
                                        </p:tgtEl>
                                        <p:attrNameLst>
                                          <p:attrName>style.visibility</p:attrName>
                                        </p:attrNameLst>
                                      </p:cBhvr>
                                      <p:to>
                                        <p:strVal val="visible"/>
                                      </p:to>
                                    </p:set>
                                    <p:anim calcmode="lin" valueType="num">
                                      <p:cBhvr additive="base">
                                        <p:cTn id="39" dur="500" fill="hold"/>
                                        <p:tgtEl>
                                          <p:spTgt spid="6">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6">
                                            <p:txEl>
                                              <p:pRg st="7" end="7"/>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6">
                                            <p:txEl>
                                              <p:pRg st="8" end="8"/>
                                            </p:txEl>
                                          </p:spTgt>
                                        </p:tgtEl>
                                        <p:attrNameLst>
                                          <p:attrName>style.visibility</p:attrName>
                                        </p:attrNameLst>
                                      </p:cBhvr>
                                      <p:to>
                                        <p:strVal val="visible"/>
                                      </p:to>
                                    </p:set>
                                    <p:anim calcmode="lin" valueType="num">
                                      <p:cBhvr additive="base">
                                        <p:cTn id="43" dur="500" fill="hold"/>
                                        <p:tgtEl>
                                          <p:spTgt spid="6">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6">
                                            <p:txEl>
                                              <p:pRg st="8" end="8"/>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6">
                                            <p:txEl>
                                              <p:pRg st="9" end="9"/>
                                            </p:txEl>
                                          </p:spTgt>
                                        </p:tgtEl>
                                        <p:attrNameLst>
                                          <p:attrName>style.visibility</p:attrName>
                                        </p:attrNameLst>
                                      </p:cBhvr>
                                      <p:to>
                                        <p:strVal val="visible"/>
                                      </p:to>
                                    </p:set>
                                    <p:anim calcmode="lin" valueType="num">
                                      <p:cBhvr additive="base">
                                        <p:cTn id="47" dur="500" fill="hold"/>
                                        <p:tgtEl>
                                          <p:spTgt spid="6">
                                            <p:txEl>
                                              <p:pRg st="9" end="9"/>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6">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405966126"/>
              </p:ext>
            </p:extLst>
          </p:nvPr>
        </p:nvGraphicFramePr>
        <p:xfrm>
          <a:off x="971600" y="620688"/>
          <a:ext cx="7848873" cy="5544615"/>
        </p:xfrm>
        <a:graphic>
          <a:graphicData uri="http://schemas.openxmlformats.org/drawingml/2006/table">
            <a:tbl>
              <a:tblPr firstRow="1" firstCol="1" bandRow="1">
                <a:tableStyleId>{5C22544A-7EE6-4342-B048-85BDC9FD1C3A}</a:tableStyleId>
              </a:tblPr>
              <a:tblGrid>
                <a:gridCol w="1796814">
                  <a:extLst>
                    <a:ext uri="{9D8B030D-6E8A-4147-A177-3AD203B41FA5}">
                      <a16:colId xmlns:a16="http://schemas.microsoft.com/office/drawing/2014/main" val="20000"/>
                    </a:ext>
                  </a:extLst>
                </a:gridCol>
                <a:gridCol w="2017353">
                  <a:extLst>
                    <a:ext uri="{9D8B030D-6E8A-4147-A177-3AD203B41FA5}">
                      <a16:colId xmlns:a16="http://schemas.microsoft.com/office/drawing/2014/main" val="20001"/>
                    </a:ext>
                  </a:extLst>
                </a:gridCol>
                <a:gridCol w="2017353">
                  <a:extLst>
                    <a:ext uri="{9D8B030D-6E8A-4147-A177-3AD203B41FA5}">
                      <a16:colId xmlns:a16="http://schemas.microsoft.com/office/drawing/2014/main" val="20002"/>
                    </a:ext>
                  </a:extLst>
                </a:gridCol>
                <a:gridCol w="2017353">
                  <a:extLst>
                    <a:ext uri="{9D8B030D-6E8A-4147-A177-3AD203B41FA5}">
                      <a16:colId xmlns:a16="http://schemas.microsoft.com/office/drawing/2014/main" val="20003"/>
                    </a:ext>
                  </a:extLst>
                </a:gridCol>
              </a:tblGrid>
              <a:tr h="396043">
                <a:tc>
                  <a:txBody>
                    <a:bodyPr/>
                    <a:lstStyle/>
                    <a:p>
                      <a:pPr>
                        <a:lnSpc>
                          <a:spcPct val="115000"/>
                        </a:lnSpc>
                        <a:spcAft>
                          <a:spcPts val="0"/>
                        </a:spcAft>
                      </a:pPr>
                      <a:r>
                        <a:rPr lang="en-IN" sz="900">
                          <a:effectLst/>
                        </a:rPr>
                        <a:t>ASCII</a:t>
                      </a:r>
                      <a:br>
                        <a:rPr lang="en-IN" sz="900" u="sng">
                          <a:effectLst/>
                        </a:rPr>
                      </a:br>
                      <a:r>
                        <a:rPr lang="en-IN" sz="900">
                          <a:effectLst/>
                        </a:rPr>
                        <a:t>Character</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Hexadecimal</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ASCII</a:t>
                      </a:r>
                      <a:br>
                        <a:rPr lang="en-IN" sz="900" u="sng">
                          <a:effectLst/>
                        </a:rPr>
                      </a:br>
                      <a:r>
                        <a:rPr lang="en-IN" sz="900">
                          <a:effectLst/>
                        </a:rPr>
                        <a:t>Character</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Hexadecimal</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extLst>
                  <a:ext uri="{0D108BD9-81ED-4DB2-BD59-A6C34878D82A}">
                    <a16:rowId xmlns:a16="http://schemas.microsoft.com/office/drawing/2014/main" val="10000"/>
                  </a:ext>
                </a:extLst>
              </a:tr>
              <a:tr h="198022">
                <a:tc>
                  <a:txBody>
                    <a:bodyPr/>
                    <a:lstStyle/>
                    <a:p>
                      <a:pPr>
                        <a:lnSpc>
                          <a:spcPct val="115000"/>
                        </a:lnSpc>
                        <a:spcAft>
                          <a:spcPts val="0"/>
                        </a:spcAft>
                      </a:pPr>
                      <a:r>
                        <a:rPr lang="en-IN" sz="900">
                          <a:effectLst/>
                        </a:rPr>
                        <a:t>A</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41</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a</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61</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extLst>
                  <a:ext uri="{0D108BD9-81ED-4DB2-BD59-A6C34878D82A}">
                    <a16:rowId xmlns:a16="http://schemas.microsoft.com/office/drawing/2014/main" val="10001"/>
                  </a:ext>
                </a:extLst>
              </a:tr>
              <a:tr h="198022">
                <a:tc>
                  <a:txBody>
                    <a:bodyPr/>
                    <a:lstStyle/>
                    <a:p>
                      <a:pPr>
                        <a:lnSpc>
                          <a:spcPct val="115000"/>
                        </a:lnSpc>
                        <a:spcAft>
                          <a:spcPts val="0"/>
                        </a:spcAft>
                      </a:pPr>
                      <a:r>
                        <a:rPr lang="en-IN" sz="900">
                          <a:effectLst/>
                        </a:rPr>
                        <a:t>B</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42</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b</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62</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extLst>
                  <a:ext uri="{0D108BD9-81ED-4DB2-BD59-A6C34878D82A}">
                    <a16:rowId xmlns:a16="http://schemas.microsoft.com/office/drawing/2014/main" val="10002"/>
                  </a:ext>
                </a:extLst>
              </a:tr>
              <a:tr h="198022">
                <a:tc>
                  <a:txBody>
                    <a:bodyPr/>
                    <a:lstStyle/>
                    <a:p>
                      <a:pPr>
                        <a:lnSpc>
                          <a:spcPct val="115000"/>
                        </a:lnSpc>
                        <a:spcAft>
                          <a:spcPts val="0"/>
                        </a:spcAft>
                      </a:pPr>
                      <a:r>
                        <a:rPr lang="en-IN" sz="900">
                          <a:effectLst/>
                        </a:rPr>
                        <a:t>C</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43</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c</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63</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extLst>
                  <a:ext uri="{0D108BD9-81ED-4DB2-BD59-A6C34878D82A}">
                    <a16:rowId xmlns:a16="http://schemas.microsoft.com/office/drawing/2014/main" val="10003"/>
                  </a:ext>
                </a:extLst>
              </a:tr>
              <a:tr h="198022">
                <a:tc>
                  <a:txBody>
                    <a:bodyPr/>
                    <a:lstStyle/>
                    <a:p>
                      <a:pPr>
                        <a:lnSpc>
                          <a:spcPct val="115000"/>
                        </a:lnSpc>
                        <a:spcAft>
                          <a:spcPts val="0"/>
                        </a:spcAft>
                      </a:pPr>
                      <a:r>
                        <a:rPr lang="en-IN" sz="900">
                          <a:effectLst/>
                        </a:rPr>
                        <a:t>D</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44</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d</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64</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extLst>
                  <a:ext uri="{0D108BD9-81ED-4DB2-BD59-A6C34878D82A}">
                    <a16:rowId xmlns:a16="http://schemas.microsoft.com/office/drawing/2014/main" val="10004"/>
                  </a:ext>
                </a:extLst>
              </a:tr>
              <a:tr h="198022">
                <a:tc>
                  <a:txBody>
                    <a:bodyPr/>
                    <a:lstStyle/>
                    <a:p>
                      <a:pPr>
                        <a:lnSpc>
                          <a:spcPct val="115000"/>
                        </a:lnSpc>
                        <a:spcAft>
                          <a:spcPts val="0"/>
                        </a:spcAft>
                      </a:pPr>
                      <a:r>
                        <a:rPr lang="en-IN" sz="900">
                          <a:effectLst/>
                        </a:rPr>
                        <a:t>E</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45</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e</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65</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extLst>
                  <a:ext uri="{0D108BD9-81ED-4DB2-BD59-A6C34878D82A}">
                    <a16:rowId xmlns:a16="http://schemas.microsoft.com/office/drawing/2014/main" val="10005"/>
                  </a:ext>
                </a:extLst>
              </a:tr>
              <a:tr h="198022">
                <a:tc>
                  <a:txBody>
                    <a:bodyPr/>
                    <a:lstStyle/>
                    <a:p>
                      <a:pPr>
                        <a:lnSpc>
                          <a:spcPct val="115000"/>
                        </a:lnSpc>
                        <a:spcAft>
                          <a:spcPts val="0"/>
                        </a:spcAft>
                      </a:pPr>
                      <a:r>
                        <a:rPr lang="en-IN" sz="900">
                          <a:effectLst/>
                        </a:rPr>
                        <a:t>F</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46</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f</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66</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extLst>
                  <a:ext uri="{0D108BD9-81ED-4DB2-BD59-A6C34878D82A}">
                    <a16:rowId xmlns:a16="http://schemas.microsoft.com/office/drawing/2014/main" val="10006"/>
                  </a:ext>
                </a:extLst>
              </a:tr>
              <a:tr h="198022">
                <a:tc>
                  <a:txBody>
                    <a:bodyPr/>
                    <a:lstStyle/>
                    <a:p>
                      <a:pPr>
                        <a:lnSpc>
                          <a:spcPct val="115000"/>
                        </a:lnSpc>
                        <a:spcAft>
                          <a:spcPts val="0"/>
                        </a:spcAft>
                      </a:pPr>
                      <a:r>
                        <a:rPr lang="en-IN" sz="900">
                          <a:effectLst/>
                        </a:rPr>
                        <a:t>G</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47</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g</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67</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extLst>
                  <a:ext uri="{0D108BD9-81ED-4DB2-BD59-A6C34878D82A}">
                    <a16:rowId xmlns:a16="http://schemas.microsoft.com/office/drawing/2014/main" val="10007"/>
                  </a:ext>
                </a:extLst>
              </a:tr>
              <a:tr h="198022">
                <a:tc>
                  <a:txBody>
                    <a:bodyPr/>
                    <a:lstStyle/>
                    <a:p>
                      <a:pPr>
                        <a:lnSpc>
                          <a:spcPct val="115000"/>
                        </a:lnSpc>
                        <a:spcAft>
                          <a:spcPts val="0"/>
                        </a:spcAft>
                      </a:pPr>
                      <a:r>
                        <a:rPr lang="en-IN" sz="900">
                          <a:effectLst/>
                        </a:rPr>
                        <a:t>H</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48</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h</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68</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extLst>
                  <a:ext uri="{0D108BD9-81ED-4DB2-BD59-A6C34878D82A}">
                    <a16:rowId xmlns:a16="http://schemas.microsoft.com/office/drawing/2014/main" val="10008"/>
                  </a:ext>
                </a:extLst>
              </a:tr>
              <a:tr h="198022">
                <a:tc>
                  <a:txBody>
                    <a:bodyPr/>
                    <a:lstStyle/>
                    <a:p>
                      <a:pPr>
                        <a:lnSpc>
                          <a:spcPct val="115000"/>
                        </a:lnSpc>
                        <a:spcAft>
                          <a:spcPts val="0"/>
                        </a:spcAft>
                      </a:pPr>
                      <a:r>
                        <a:rPr lang="en-IN" sz="900">
                          <a:effectLst/>
                        </a:rPr>
                        <a:t>I</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49</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i</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69</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extLst>
                  <a:ext uri="{0D108BD9-81ED-4DB2-BD59-A6C34878D82A}">
                    <a16:rowId xmlns:a16="http://schemas.microsoft.com/office/drawing/2014/main" val="10009"/>
                  </a:ext>
                </a:extLst>
              </a:tr>
              <a:tr h="198022">
                <a:tc>
                  <a:txBody>
                    <a:bodyPr/>
                    <a:lstStyle/>
                    <a:p>
                      <a:pPr>
                        <a:lnSpc>
                          <a:spcPct val="115000"/>
                        </a:lnSpc>
                        <a:spcAft>
                          <a:spcPts val="0"/>
                        </a:spcAft>
                      </a:pPr>
                      <a:r>
                        <a:rPr lang="en-IN" sz="900">
                          <a:effectLst/>
                        </a:rPr>
                        <a:t>J</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4A</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j</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6A</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extLst>
                  <a:ext uri="{0D108BD9-81ED-4DB2-BD59-A6C34878D82A}">
                    <a16:rowId xmlns:a16="http://schemas.microsoft.com/office/drawing/2014/main" val="10010"/>
                  </a:ext>
                </a:extLst>
              </a:tr>
              <a:tr h="198022">
                <a:tc>
                  <a:txBody>
                    <a:bodyPr/>
                    <a:lstStyle/>
                    <a:p>
                      <a:pPr>
                        <a:lnSpc>
                          <a:spcPct val="115000"/>
                        </a:lnSpc>
                        <a:spcAft>
                          <a:spcPts val="0"/>
                        </a:spcAft>
                      </a:pPr>
                      <a:r>
                        <a:rPr lang="en-IN" sz="900">
                          <a:effectLst/>
                        </a:rPr>
                        <a:t>K</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4B</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k</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6B</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extLst>
                  <a:ext uri="{0D108BD9-81ED-4DB2-BD59-A6C34878D82A}">
                    <a16:rowId xmlns:a16="http://schemas.microsoft.com/office/drawing/2014/main" val="10011"/>
                  </a:ext>
                </a:extLst>
              </a:tr>
              <a:tr h="198022">
                <a:tc>
                  <a:txBody>
                    <a:bodyPr/>
                    <a:lstStyle/>
                    <a:p>
                      <a:pPr>
                        <a:lnSpc>
                          <a:spcPct val="115000"/>
                        </a:lnSpc>
                        <a:spcAft>
                          <a:spcPts val="0"/>
                        </a:spcAft>
                      </a:pPr>
                      <a:r>
                        <a:rPr lang="en-IN" sz="900">
                          <a:effectLst/>
                        </a:rPr>
                        <a:t>L</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4C</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l</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6C</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extLst>
                  <a:ext uri="{0D108BD9-81ED-4DB2-BD59-A6C34878D82A}">
                    <a16:rowId xmlns:a16="http://schemas.microsoft.com/office/drawing/2014/main" val="10012"/>
                  </a:ext>
                </a:extLst>
              </a:tr>
              <a:tr h="198022">
                <a:tc>
                  <a:txBody>
                    <a:bodyPr/>
                    <a:lstStyle/>
                    <a:p>
                      <a:pPr>
                        <a:lnSpc>
                          <a:spcPct val="115000"/>
                        </a:lnSpc>
                        <a:spcAft>
                          <a:spcPts val="0"/>
                        </a:spcAft>
                      </a:pPr>
                      <a:r>
                        <a:rPr lang="en-IN" sz="900">
                          <a:effectLst/>
                        </a:rPr>
                        <a:t>M</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4D</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m</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6D</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extLst>
                  <a:ext uri="{0D108BD9-81ED-4DB2-BD59-A6C34878D82A}">
                    <a16:rowId xmlns:a16="http://schemas.microsoft.com/office/drawing/2014/main" val="10013"/>
                  </a:ext>
                </a:extLst>
              </a:tr>
              <a:tr h="198022">
                <a:tc>
                  <a:txBody>
                    <a:bodyPr/>
                    <a:lstStyle/>
                    <a:p>
                      <a:pPr>
                        <a:lnSpc>
                          <a:spcPct val="115000"/>
                        </a:lnSpc>
                        <a:spcAft>
                          <a:spcPts val="0"/>
                        </a:spcAft>
                      </a:pPr>
                      <a:r>
                        <a:rPr lang="en-IN" sz="900">
                          <a:effectLst/>
                        </a:rPr>
                        <a:t>N</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4E</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n</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6E</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extLst>
                  <a:ext uri="{0D108BD9-81ED-4DB2-BD59-A6C34878D82A}">
                    <a16:rowId xmlns:a16="http://schemas.microsoft.com/office/drawing/2014/main" val="10014"/>
                  </a:ext>
                </a:extLst>
              </a:tr>
              <a:tr h="198022">
                <a:tc>
                  <a:txBody>
                    <a:bodyPr/>
                    <a:lstStyle/>
                    <a:p>
                      <a:pPr>
                        <a:lnSpc>
                          <a:spcPct val="115000"/>
                        </a:lnSpc>
                        <a:spcAft>
                          <a:spcPts val="0"/>
                        </a:spcAft>
                      </a:pPr>
                      <a:r>
                        <a:rPr lang="en-IN" sz="900">
                          <a:effectLst/>
                        </a:rPr>
                        <a:t>O</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4F</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o</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6F</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extLst>
                  <a:ext uri="{0D108BD9-81ED-4DB2-BD59-A6C34878D82A}">
                    <a16:rowId xmlns:a16="http://schemas.microsoft.com/office/drawing/2014/main" val="10015"/>
                  </a:ext>
                </a:extLst>
              </a:tr>
              <a:tr h="198022">
                <a:tc>
                  <a:txBody>
                    <a:bodyPr/>
                    <a:lstStyle/>
                    <a:p>
                      <a:pPr>
                        <a:lnSpc>
                          <a:spcPct val="115000"/>
                        </a:lnSpc>
                        <a:spcAft>
                          <a:spcPts val="0"/>
                        </a:spcAft>
                      </a:pPr>
                      <a:r>
                        <a:rPr lang="en-IN" sz="900">
                          <a:effectLst/>
                        </a:rPr>
                        <a:t>P</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50</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p</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70</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extLst>
                  <a:ext uri="{0D108BD9-81ED-4DB2-BD59-A6C34878D82A}">
                    <a16:rowId xmlns:a16="http://schemas.microsoft.com/office/drawing/2014/main" val="10016"/>
                  </a:ext>
                </a:extLst>
              </a:tr>
              <a:tr h="198022">
                <a:tc>
                  <a:txBody>
                    <a:bodyPr/>
                    <a:lstStyle/>
                    <a:p>
                      <a:pPr>
                        <a:lnSpc>
                          <a:spcPct val="115000"/>
                        </a:lnSpc>
                        <a:spcAft>
                          <a:spcPts val="0"/>
                        </a:spcAft>
                      </a:pPr>
                      <a:r>
                        <a:rPr lang="en-IN" sz="900">
                          <a:effectLst/>
                        </a:rPr>
                        <a:t>Q</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51</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q</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71</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extLst>
                  <a:ext uri="{0D108BD9-81ED-4DB2-BD59-A6C34878D82A}">
                    <a16:rowId xmlns:a16="http://schemas.microsoft.com/office/drawing/2014/main" val="10017"/>
                  </a:ext>
                </a:extLst>
              </a:tr>
              <a:tr h="198022">
                <a:tc>
                  <a:txBody>
                    <a:bodyPr/>
                    <a:lstStyle/>
                    <a:p>
                      <a:pPr>
                        <a:lnSpc>
                          <a:spcPct val="115000"/>
                        </a:lnSpc>
                        <a:spcAft>
                          <a:spcPts val="0"/>
                        </a:spcAft>
                      </a:pPr>
                      <a:r>
                        <a:rPr lang="en-IN" sz="900">
                          <a:effectLst/>
                        </a:rPr>
                        <a:t>R</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52</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r</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72</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extLst>
                  <a:ext uri="{0D108BD9-81ED-4DB2-BD59-A6C34878D82A}">
                    <a16:rowId xmlns:a16="http://schemas.microsoft.com/office/drawing/2014/main" val="10018"/>
                  </a:ext>
                </a:extLst>
              </a:tr>
              <a:tr h="198022">
                <a:tc>
                  <a:txBody>
                    <a:bodyPr/>
                    <a:lstStyle/>
                    <a:p>
                      <a:pPr>
                        <a:lnSpc>
                          <a:spcPct val="115000"/>
                        </a:lnSpc>
                        <a:spcAft>
                          <a:spcPts val="0"/>
                        </a:spcAft>
                      </a:pPr>
                      <a:r>
                        <a:rPr lang="en-IN" sz="900">
                          <a:effectLst/>
                        </a:rPr>
                        <a:t>S</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53</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s</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73</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extLst>
                  <a:ext uri="{0D108BD9-81ED-4DB2-BD59-A6C34878D82A}">
                    <a16:rowId xmlns:a16="http://schemas.microsoft.com/office/drawing/2014/main" val="10019"/>
                  </a:ext>
                </a:extLst>
              </a:tr>
              <a:tr h="198022">
                <a:tc>
                  <a:txBody>
                    <a:bodyPr/>
                    <a:lstStyle/>
                    <a:p>
                      <a:pPr>
                        <a:lnSpc>
                          <a:spcPct val="115000"/>
                        </a:lnSpc>
                        <a:spcAft>
                          <a:spcPts val="0"/>
                        </a:spcAft>
                      </a:pPr>
                      <a:r>
                        <a:rPr lang="en-IN" sz="900">
                          <a:effectLst/>
                        </a:rPr>
                        <a:t>T</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54</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t</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74</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extLst>
                  <a:ext uri="{0D108BD9-81ED-4DB2-BD59-A6C34878D82A}">
                    <a16:rowId xmlns:a16="http://schemas.microsoft.com/office/drawing/2014/main" val="10020"/>
                  </a:ext>
                </a:extLst>
              </a:tr>
              <a:tr h="198022">
                <a:tc>
                  <a:txBody>
                    <a:bodyPr/>
                    <a:lstStyle/>
                    <a:p>
                      <a:pPr>
                        <a:lnSpc>
                          <a:spcPct val="115000"/>
                        </a:lnSpc>
                        <a:spcAft>
                          <a:spcPts val="0"/>
                        </a:spcAft>
                      </a:pPr>
                      <a:r>
                        <a:rPr lang="en-IN" sz="900">
                          <a:effectLst/>
                        </a:rPr>
                        <a:t>U</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55</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u</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75</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extLst>
                  <a:ext uri="{0D108BD9-81ED-4DB2-BD59-A6C34878D82A}">
                    <a16:rowId xmlns:a16="http://schemas.microsoft.com/office/drawing/2014/main" val="10021"/>
                  </a:ext>
                </a:extLst>
              </a:tr>
              <a:tr h="198022">
                <a:tc>
                  <a:txBody>
                    <a:bodyPr/>
                    <a:lstStyle/>
                    <a:p>
                      <a:pPr>
                        <a:lnSpc>
                          <a:spcPct val="115000"/>
                        </a:lnSpc>
                        <a:spcAft>
                          <a:spcPts val="0"/>
                        </a:spcAft>
                      </a:pPr>
                      <a:r>
                        <a:rPr lang="en-IN" sz="900">
                          <a:effectLst/>
                        </a:rPr>
                        <a:t>V</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56</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v</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76</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extLst>
                  <a:ext uri="{0D108BD9-81ED-4DB2-BD59-A6C34878D82A}">
                    <a16:rowId xmlns:a16="http://schemas.microsoft.com/office/drawing/2014/main" val="10022"/>
                  </a:ext>
                </a:extLst>
              </a:tr>
              <a:tr h="198022">
                <a:tc>
                  <a:txBody>
                    <a:bodyPr/>
                    <a:lstStyle/>
                    <a:p>
                      <a:pPr>
                        <a:lnSpc>
                          <a:spcPct val="115000"/>
                        </a:lnSpc>
                        <a:spcAft>
                          <a:spcPts val="0"/>
                        </a:spcAft>
                      </a:pPr>
                      <a:r>
                        <a:rPr lang="en-IN" sz="900">
                          <a:effectLst/>
                        </a:rPr>
                        <a:t>W</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57</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w</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77</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extLst>
                  <a:ext uri="{0D108BD9-81ED-4DB2-BD59-A6C34878D82A}">
                    <a16:rowId xmlns:a16="http://schemas.microsoft.com/office/drawing/2014/main" val="10023"/>
                  </a:ext>
                </a:extLst>
              </a:tr>
              <a:tr h="198022">
                <a:tc>
                  <a:txBody>
                    <a:bodyPr/>
                    <a:lstStyle/>
                    <a:p>
                      <a:pPr>
                        <a:lnSpc>
                          <a:spcPct val="115000"/>
                        </a:lnSpc>
                        <a:spcAft>
                          <a:spcPts val="0"/>
                        </a:spcAft>
                      </a:pPr>
                      <a:r>
                        <a:rPr lang="en-IN" sz="900">
                          <a:effectLst/>
                        </a:rPr>
                        <a:t>X</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58</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x</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78</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extLst>
                  <a:ext uri="{0D108BD9-81ED-4DB2-BD59-A6C34878D82A}">
                    <a16:rowId xmlns:a16="http://schemas.microsoft.com/office/drawing/2014/main" val="10024"/>
                  </a:ext>
                </a:extLst>
              </a:tr>
              <a:tr h="198022">
                <a:tc>
                  <a:txBody>
                    <a:bodyPr/>
                    <a:lstStyle/>
                    <a:p>
                      <a:pPr>
                        <a:lnSpc>
                          <a:spcPct val="115000"/>
                        </a:lnSpc>
                        <a:spcAft>
                          <a:spcPts val="0"/>
                        </a:spcAft>
                      </a:pPr>
                      <a:r>
                        <a:rPr lang="en-IN" sz="900">
                          <a:effectLst/>
                        </a:rPr>
                        <a:t>Y</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59</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y</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79</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extLst>
                  <a:ext uri="{0D108BD9-81ED-4DB2-BD59-A6C34878D82A}">
                    <a16:rowId xmlns:a16="http://schemas.microsoft.com/office/drawing/2014/main" val="10025"/>
                  </a:ext>
                </a:extLst>
              </a:tr>
              <a:tr h="198022">
                <a:tc>
                  <a:txBody>
                    <a:bodyPr/>
                    <a:lstStyle/>
                    <a:p>
                      <a:pPr>
                        <a:lnSpc>
                          <a:spcPct val="115000"/>
                        </a:lnSpc>
                        <a:spcAft>
                          <a:spcPts val="0"/>
                        </a:spcAft>
                      </a:pPr>
                      <a:r>
                        <a:rPr lang="en-IN" sz="900">
                          <a:effectLst/>
                        </a:rPr>
                        <a:t>Z</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5A</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a:effectLst/>
                        </a:rPr>
                        <a:t>z</a:t>
                      </a:r>
                      <a:endParaRPr lang="en-IN" sz="90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tc>
                  <a:txBody>
                    <a:bodyPr/>
                    <a:lstStyle/>
                    <a:p>
                      <a:pPr>
                        <a:lnSpc>
                          <a:spcPct val="115000"/>
                        </a:lnSpc>
                        <a:spcAft>
                          <a:spcPts val="0"/>
                        </a:spcAft>
                      </a:pPr>
                      <a:r>
                        <a:rPr lang="en-IN" sz="900" dirty="0">
                          <a:effectLst/>
                        </a:rPr>
                        <a:t>7A</a:t>
                      </a:r>
                      <a:endParaRPr lang="en-IN" sz="900" dirty="0">
                        <a:effectLst/>
                        <a:latin typeface="Calibri" panose="020F0502020204030204" pitchFamily="34" charset="0"/>
                        <a:ea typeface="Times New Roman" panose="02020603050405020304" pitchFamily="18" charset="0"/>
                        <a:cs typeface="Latha" panose="020B0604020202020204" pitchFamily="34" charset="0"/>
                      </a:endParaRPr>
                    </a:p>
                  </a:txBody>
                  <a:tcPr marL="57501" marR="57501" marT="0" marB="0" anchor="ctr"/>
                </a:tc>
                <a:extLst>
                  <a:ext uri="{0D108BD9-81ED-4DB2-BD59-A6C34878D82A}">
                    <a16:rowId xmlns:a16="http://schemas.microsoft.com/office/drawing/2014/main" val="10026"/>
                  </a:ext>
                </a:extLst>
              </a:tr>
            </a:tbl>
          </a:graphicData>
        </a:graphic>
      </p:graphicFrame>
    </p:spTree>
    <p:extLst>
      <p:ext uri="{BB962C8B-B14F-4D97-AF65-F5344CB8AC3E}">
        <p14:creationId xmlns:p14="http://schemas.microsoft.com/office/powerpoint/2010/main" val="23650172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457200" y="3200400"/>
            <a:ext cx="8229600" cy="1143000"/>
          </a:xfrm>
        </p:spPr>
        <p:txBody>
          <a:bodyPr/>
          <a:lstStyle/>
          <a:p>
            <a:r>
              <a:rPr lang="en-US" altLang="en-US" sz="4000" b="1" u="sng">
                <a:solidFill>
                  <a:srgbClr val="C00000"/>
                </a:solidFill>
                <a:latin typeface="Times New Roman" panose="02020603050405020304" pitchFamily="18" charset="0"/>
                <a:cs typeface="Times New Roman" panose="02020603050405020304" pitchFamily="18" charset="0"/>
              </a:rPr>
              <a:t>Birthday Attack</a:t>
            </a:r>
          </a:p>
        </p:txBody>
      </p:sp>
      <p:sp>
        <p:nvSpPr>
          <p:cNvPr id="26627"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D67FF17F-2FB1-4C44-B97C-EBB66E26D10E}" type="slidenum">
              <a:rPr lang="en-US" altLang="en-US" sz="1200">
                <a:solidFill>
                  <a:srgbClr val="898989"/>
                </a:solidFill>
                <a:latin typeface="Arial" panose="020B0604020202020204" pitchFamily="34" charset="0"/>
              </a:rPr>
              <a:pPr>
                <a:spcBef>
                  <a:spcPct val="0"/>
                </a:spcBef>
                <a:buFontTx/>
                <a:buNone/>
              </a:pPr>
              <a:t>32</a:t>
            </a:fld>
            <a:endParaRPr lang="en-US" altLang="en-US" sz="1200">
              <a:solidFill>
                <a:srgbClr val="898989"/>
              </a:solidFill>
              <a:latin typeface="Arial" panose="020B0604020202020204" pitchFamily="34" charset="0"/>
            </a:endParaRPr>
          </a:p>
        </p:txBody>
      </p:sp>
    </p:spTree>
    <p:extLst>
      <p:ext uri="{BB962C8B-B14F-4D97-AF65-F5344CB8AC3E}">
        <p14:creationId xmlns:p14="http://schemas.microsoft.com/office/powerpoint/2010/main" val="1223647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r>
              <a:rPr lang="en-US" altLang="en-US" b="1" u="sng">
                <a:solidFill>
                  <a:srgbClr val="C00000"/>
                </a:solidFill>
                <a:latin typeface="Times New Roman" panose="02020603050405020304" pitchFamily="18" charset="0"/>
                <a:cs typeface="Times New Roman" panose="02020603050405020304" pitchFamily="18" charset="0"/>
              </a:rPr>
              <a:t>Birthday Attack</a:t>
            </a:r>
            <a:endParaRPr lang="en-IN" altLang="en-US"/>
          </a:p>
        </p:txBody>
      </p:sp>
      <p:sp>
        <p:nvSpPr>
          <p:cNvPr id="27651" name="Content Placeholder 2"/>
          <p:cNvSpPr>
            <a:spLocks noGrp="1"/>
          </p:cNvSpPr>
          <p:nvPr>
            <p:ph idx="1"/>
          </p:nvPr>
        </p:nvSpPr>
        <p:spPr/>
        <p:txBody>
          <a:bodyPr>
            <a:normAutofit fontScale="92500"/>
          </a:bodyPr>
          <a:lstStyle/>
          <a:p>
            <a:pPr algn="just"/>
            <a:r>
              <a:rPr lang="en-US" sz="2400" dirty="0"/>
              <a:t>A birthday attack is a type of cryptographic attack that relies on the birthday paradox to </a:t>
            </a:r>
            <a:r>
              <a:rPr lang="en-US" sz="2400" b="1" dirty="0">
                <a:solidFill>
                  <a:srgbClr val="FF0000"/>
                </a:solidFill>
              </a:rPr>
              <a:t>find a collision in a hash function</a:t>
            </a:r>
            <a:r>
              <a:rPr lang="en-US" sz="2400" dirty="0"/>
              <a:t>.</a:t>
            </a:r>
          </a:p>
          <a:p>
            <a:pPr algn="just"/>
            <a:endParaRPr lang="en-US" altLang="en-US" sz="2400" dirty="0"/>
          </a:p>
          <a:p>
            <a:pPr algn="just"/>
            <a:r>
              <a:rPr lang="en-US" altLang="en-US" sz="2400" dirty="0"/>
              <a:t>The birthday problem states that in a </a:t>
            </a:r>
            <a:r>
              <a:rPr lang="en-US" altLang="en-US" sz="2400" dirty="0">
                <a:solidFill>
                  <a:srgbClr val="FF0000"/>
                </a:solidFill>
              </a:rPr>
              <a:t>group of 23 people, there’s a 50% chance that at least two will have the same birthday. </a:t>
            </a:r>
          </a:p>
          <a:p>
            <a:pPr algn="just"/>
            <a:r>
              <a:rPr lang="en-US" altLang="en-US" sz="2400" dirty="0"/>
              <a:t>This probability increases rapidly as the </a:t>
            </a:r>
            <a:r>
              <a:rPr lang="en-US" altLang="en-US" sz="2400" dirty="0">
                <a:solidFill>
                  <a:srgbClr val="FF0000"/>
                </a:solidFill>
              </a:rPr>
              <a:t>group size gets bigger. </a:t>
            </a:r>
            <a:r>
              <a:rPr lang="en-US" altLang="en-US" sz="2400" dirty="0"/>
              <a:t>For instance, </a:t>
            </a:r>
            <a:r>
              <a:rPr lang="en-US" altLang="en-US" sz="2400" dirty="0">
                <a:solidFill>
                  <a:srgbClr val="FF0000"/>
                </a:solidFill>
              </a:rPr>
              <a:t>in a group of 50 people, the likelihood is already over 97%.</a:t>
            </a:r>
          </a:p>
          <a:p>
            <a:pPr algn="just"/>
            <a:endParaRPr lang="en-US" altLang="en-US" sz="2400" dirty="0">
              <a:solidFill>
                <a:srgbClr val="FF0000"/>
              </a:solidFill>
            </a:endParaRPr>
          </a:p>
          <a:p>
            <a:pPr algn="just"/>
            <a:r>
              <a:rPr lang="en-US" sz="2400" dirty="0"/>
              <a:t>A birthday attack takes advantage of this statistical property by trying to </a:t>
            </a:r>
            <a:r>
              <a:rPr lang="en-US" sz="2400" b="1" dirty="0">
                <a:solidFill>
                  <a:srgbClr val="FF0000"/>
                </a:solidFill>
              </a:rPr>
              <a:t>find two different input messages that produce the same hash value. This is called a collision.</a:t>
            </a:r>
            <a:endParaRPr lang="en-IN" altLang="en-US" sz="2400" b="1" dirty="0">
              <a:solidFill>
                <a:srgbClr val="FF0000"/>
              </a:solidFill>
            </a:endParaRPr>
          </a:p>
        </p:txBody>
      </p:sp>
      <p:sp>
        <p:nvSpPr>
          <p:cNvPr id="27652"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9CB6EF3E-ACCE-45BF-9DB6-40050AE06B9E}" type="slidenum">
              <a:rPr lang="en-US" altLang="en-US" sz="1200">
                <a:solidFill>
                  <a:srgbClr val="898989"/>
                </a:solidFill>
                <a:latin typeface="Arial" panose="020B0604020202020204" pitchFamily="34" charset="0"/>
              </a:rPr>
              <a:pPr>
                <a:spcBef>
                  <a:spcPct val="0"/>
                </a:spcBef>
                <a:buFontTx/>
                <a:buNone/>
              </a:pPr>
              <a:t>33</a:t>
            </a:fld>
            <a:endParaRPr lang="en-US" altLang="en-US" sz="1200">
              <a:solidFill>
                <a:srgbClr val="898989"/>
              </a:solidFill>
              <a:latin typeface="Arial" panose="020B0604020202020204" pitchFamily="34" charset="0"/>
            </a:endParaRPr>
          </a:p>
        </p:txBody>
      </p:sp>
    </p:spTree>
    <p:extLst>
      <p:ext uri="{BB962C8B-B14F-4D97-AF65-F5344CB8AC3E}">
        <p14:creationId xmlns:p14="http://schemas.microsoft.com/office/powerpoint/2010/main" val="23807747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457200" y="274638"/>
            <a:ext cx="8229600" cy="715962"/>
          </a:xfrm>
        </p:spPr>
        <p:txBody>
          <a:bodyPr>
            <a:normAutofit fontScale="90000"/>
          </a:bodyPr>
          <a:lstStyle/>
          <a:p>
            <a:r>
              <a:rPr lang="en-US" altLang="en-US" b="1" u="sng" dirty="0">
                <a:solidFill>
                  <a:srgbClr val="C00000"/>
                </a:solidFill>
                <a:latin typeface="Times New Roman" panose="02020603050405020304" pitchFamily="18" charset="0"/>
                <a:cs typeface="Times New Roman" panose="02020603050405020304" pitchFamily="18" charset="0"/>
              </a:rPr>
              <a:t>Birthday Attack</a:t>
            </a:r>
            <a:endParaRPr lang="en-US" altLang="en-US" dirty="0"/>
          </a:p>
        </p:txBody>
      </p:sp>
      <p:sp>
        <p:nvSpPr>
          <p:cNvPr id="3" name="Content Placeholder 2"/>
          <p:cNvSpPr>
            <a:spLocks noGrp="1"/>
          </p:cNvSpPr>
          <p:nvPr>
            <p:ph idx="1"/>
          </p:nvPr>
        </p:nvSpPr>
        <p:spPr>
          <a:xfrm>
            <a:off x="76200" y="1143000"/>
            <a:ext cx="8991600" cy="4525963"/>
          </a:xfrm>
        </p:spPr>
        <p:txBody>
          <a:bodyPr/>
          <a:lstStyle/>
          <a:p>
            <a:pPr>
              <a:defRPr/>
            </a:pPr>
            <a:r>
              <a:rPr lang="en-US" sz="2400" dirty="0">
                <a:latin typeface="Times New Roman" panose="02020603050405020304" pitchFamily="18" charset="0"/>
                <a:cs typeface="Times New Roman" panose="02020603050405020304" pitchFamily="18" charset="0"/>
              </a:rPr>
              <a:t>It is cryptographic attack that belongs to a class of brute force attacks</a:t>
            </a:r>
          </a:p>
          <a:p>
            <a:pPr>
              <a:defRPr/>
            </a:pPr>
            <a:r>
              <a:rPr lang="en-US" sz="2400" dirty="0">
                <a:latin typeface="Times New Roman" panose="02020603050405020304" pitchFamily="18" charset="0"/>
                <a:cs typeface="Times New Roman" panose="02020603050405020304" pitchFamily="18" charset="0"/>
              </a:rPr>
              <a:t>It is used against the cryptographic hash function</a:t>
            </a:r>
          </a:p>
          <a:p>
            <a:pPr marL="0" indent="0">
              <a:buFont typeface="Arial" panose="020B0604020202020204" pitchFamily="34" charset="0"/>
              <a:buNone/>
              <a:defRPr/>
            </a:pPr>
            <a:r>
              <a:rPr lang="en-US" sz="2400" dirty="0">
                <a:solidFill>
                  <a:srgbClr val="FF0000"/>
                </a:solidFill>
                <a:latin typeface="Times New Roman" panose="02020603050405020304" pitchFamily="18" charset="0"/>
                <a:cs typeface="Times New Roman" panose="02020603050405020304" pitchFamily="18" charset="0"/>
              </a:rPr>
              <a:t>Assume Birthday </a:t>
            </a:r>
            <a:r>
              <a:rPr lang="en-US" sz="2400" dirty="0">
                <a:latin typeface="Times New Roman" panose="02020603050405020304" pitchFamily="18" charset="0"/>
                <a:cs typeface="Times New Roman" panose="02020603050405020304" pitchFamily="18" charset="0"/>
              </a:rPr>
              <a:t>of the student </a:t>
            </a:r>
            <a:r>
              <a:rPr lang="en-US" sz="2400" dirty="0">
                <a:latin typeface="Times New Roman" panose="02020603050405020304" pitchFamily="18" charset="0"/>
                <a:cs typeface="Times New Roman" panose="02020603050405020304" pitchFamily="18" charset="0"/>
                <a:sym typeface="Wingdings" panose="05000000000000000000" pitchFamily="2" charset="2"/>
              </a:rPr>
              <a:t></a:t>
            </a:r>
            <a:r>
              <a:rPr lang="en-US" sz="2400" dirty="0">
                <a:latin typeface="Times New Roman" panose="02020603050405020304" pitchFamily="18" charset="0"/>
                <a:cs typeface="Times New Roman" panose="02020603050405020304" pitchFamily="18" charset="0"/>
              </a:rPr>
              <a:t> Day is </a:t>
            </a:r>
            <a:r>
              <a:rPr lang="en-US" sz="2400" b="1" dirty="0">
                <a:solidFill>
                  <a:srgbClr val="0000FF"/>
                </a:solidFill>
                <a:latin typeface="Times New Roman" panose="02020603050405020304" pitchFamily="18" charset="0"/>
                <a:cs typeface="Times New Roman" panose="02020603050405020304" pitchFamily="18" charset="0"/>
              </a:rPr>
              <a:t>March 17</a:t>
            </a:r>
          </a:p>
          <a:p>
            <a:pPr marL="0" indent="0">
              <a:buFont typeface="Arial" panose="020B0604020202020204" pitchFamily="34" charset="0"/>
              <a:buNone/>
              <a:defRPr/>
            </a:pPr>
            <a:r>
              <a:rPr lang="en-US" sz="2400" dirty="0">
                <a:solidFill>
                  <a:srgbClr val="FF0000"/>
                </a:solidFill>
                <a:latin typeface="Times New Roman" panose="02020603050405020304" pitchFamily="18" charset="0"/>
                <a:cs typeface="Times New Roman" panose="02020603050405020304" pitchFamily="18" charset="0"/>
              </a:rPr>
              <a:t>Probability that at least one student </a:t>
            </a:r>
            <a:r>
              <a:rPr lang="en-US" sz="2400" dirty="0">
                <a:latin typeface="Times New Roman" panose="02020603050405020304" pitchFamily="18" charset="0"/>
                <a:cs typeface="Times New Roman" panose="02020603050405020304" pitchFamily="18" charset="0"/>
              </a:rPr>
              <a:t>is born on that day is</a:t>
            </a:r>
          </a:p>
          <a:p>
            <a:pPr marL="0" indent="0">
              <a:buFont typeface="Arial" panose="020B0604020202020204" pitchFamily="34" charset="0"/>
              <a:buNone/>
              <a:defRPr/>
            </a:pPr>
            <a:r>
              <a:rPr lang="en-US" sz="2400" dirty="0">
                <a:latin typeface="Times New Roman" panose="02020603050405020304" pitchFamily="18" charset="0"/>
                <a:cs typeface="Times New Roman" panose="02020603050405020304" pitchFamily="18" charset="0"/>
              </a:rPr>
              <a:t>        </a:t>
            </a:r>
            <a:r>
              <a:rPr lang="en-US" sz="2400" b="1" dirty="0">
                <a:solidFill>
                  <a:srgbClr val="0000FF"/>
                </a:solidFill>
                <a:latin typeface="Times New Roman" panose="02020603050405020304" pitchFamily="18" charset="0"/>
                <a:cs typeface="Times New Roman" panose="02020603050405020304" pitchFamily="18" charset="0"/>
              </a:rPr>
              <a:t>1-(364/365)</a:t>
            </a:r>
            <a:r>
              <a:rPr lang="en-US" sz="2400" b="1" baseline="30000" dirty="0">
                <a:solidFill>
                  <a:srgbClr val="0000FF"/>
                </a:solidFill>
                <a:latin typeface="Times New Roman" panose="02020603050405020304" pitchFamily="18" charset="0"/>
                <a:cs typeface="Times New Roman" panose="02020603050405020304" pitchFamily="18" charset="0"/>
              </a:rPr>
              <a:t>n</a:t>
            </a:r>
            <a:endParaRPr lang="en-US" sz="2400" b="1" dirty="0">
              <a:solidFill>
                <a:srgbClr val="0000FF"/>
              </a:solidFill>
              <a:latin typeface="Times New Roman" panose="02020603050405020304" pitchFamily="18" charset="0"/>
              <a:cs typeface="Times New Roman" panose="02020603050405020304" pitchFamily="18" charset="0"/>
            </a:endParaRPr>
          </a:p>
          <a:p>
            <a:pPr marL="0" indent="0">
              <a:buFont typeface="Arial" panose="020B0604020202020204" pitchFamily="34" charset="0"/>
              <a:buNone/>
              <a:defRPr/>
            </a:pPr>
            <a:r>
              <a:rPr lang="en-US" sz="2400" dirty="0">
                <a:latin typeface="Times New Roman" panose="02020603050405020304" pitchFamily="18" charset="0"/>
                <a:cs typeface="Times New Roman" panose="02020603050405020304" pitchFamily="18" charset="0"/>
              </a:rPr>
              <a:t>Probability that </a:t>
            </a:r>
            <a:r>
              <a:rPr lang="en-US" sz="2400" dirty="0">
                <a:solidFill>
                  <a:srgbClr val="FF0000"/>
                </a:solidFill>
                <a:latin typeface="Times New Roman" panose="02020603050405020304" pitchFamily="18" charset="0"/>
                <a:cs typeface="Times New Roman" panose="02020603050405020304" pitchFamily="18" charset="0"/>
              </a:rPr>
              <a:t>at least one student has the same birthday as any other </a:t>
            </a:r>
            <a:r>
              <a:rPr lang="en-US" sz="2400" dirty="0">
                <a:latin typeface="Times New Roman" panose="02020603050405020304" pitchFamily="18" charset="0"/>
                <a:cs typeface="Times New Roman" panose="02020603050405020304" pitchFamily="18" charset="0"/>
              </a:rPr>
              <a:t>student</a:t>
            </a:r>
          </a:p>
          <a:p>
            <a:pPr marL="0" indent="0">
              <a:buFont typeface="Arial" panose="020B0604020202020204" pitchFamily="34" charset="0"/>
              <a:buNone/>
              <a:defRPr/>
            </a:pPr>
            <a:r>
              <a:rPr lang="en-US" sz="2400" b="1" dirty="0">
                <a:solidFill>
                  <a:srgbClr val="0000FF"/>
                </a:solidFill>
                <a:latin typeface="Times New Roman" panose="02020603050405020304" pitchFamily="18" charset="0"/>
                <a:cs typeface="Times New Roman" panose="02020603050405020304" pitchFamily="18" charset="0"/>
              </a:rPr>
              <a:t>           1 - 365!/((365 - n!) * (365</a:t>
            </a:r>
            <a:r>
              <a:rPr lang="en-US" sz="2400" b="1" baseline="30000" dirty="0">
                <a:solidFill>
                  <a:srgbClr val="0000FF"/>
                </a:solidFill>
                <a:latin typeface="Times New Roman" panose="02020603050405020304" pitchFamily="18" charset="0"/>
                <a:cs typeface="Times New Roman" panose="02020603050405020304" pitchFamily="18" charset="0"/>
              </a:rPr>
              <a:t>n</a:t>
            </a:r>
            <a:r>
              <a:rPr lang="en-US" sz="2400" b="1" dirty="0">
                <a:solidFill>
                  <a:srgbClr val="0000FF"/>
                </a:solidFill>
                <a:latin typeface="Times New Roman" panose="02020603050405020304" pitchFamily="18" charset="0"/>
                <a:cs typeface="Times New Roman" panose="02020603050405020304" pitchFamily="18" charset="0"/>
              </a:rPr>
              <a:t>)) (substituting n = 30 here)</a:t>
            </a:r>
          </a:p>
        </p:txBody>
      </p:sp>
      <p:sp>
        <p:nvSpPr>
          <p:cNvPr id="28676"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A7442AFC-6DD7-4EC6-986A-EF93DE9D9FF3}" type="slidenum">
              <a:rPr lang="en-US" altLang="en-US" sz="1200">
                <a:solidFill>
                  <a:srgbClr val="898989"/>
                </a:solidFill>
                <a:latin typeface="Arial" panose="020B0604020202020204" pitchFamily="34" charset="0"/>
              </a:rPr>
              <a:pPr>
                <a:spcBef>
                  <a:spcPct val="0"/>
                </a:spcBef>
                <a:buFontTx/>
                <a:buNone/>
              </a:pPr>
              <a:t>34</a:t>
            </a:fld>
            <a:endParaRPr lang="en-US" altLang="en-US" sz="1200">
              <a:solidFill>
                <a:srgbClr val="898989"/>
              </a:solidFill>
              <a:latin typeface="Arial" panose="020B0604020202020204" pitchFamily="34" charset="0"/>
            </a:endParaRPr>
          </a:p>
        </p:txBody>
      </p:sp>
    </p:spTree>
    <p:extLst>
      <p:ext uri="{BB962C8B-B14F-4D97-AF65-F5344CB8AC3E}">
        <p14:creationId xmlns:p14="http://schemas.microsoft.com/office/powerpoint/2010/main" val="31692327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r>
              <a:rPr lang="en-US" altLang="en-US" b="1" u="sng" dirty="0">
                <a:solidFill>
                  <a:srgbClr val="C00000"/>
                </a:solidFill>
                <a:latin typeface="Times New Roman" panose="02020603050405020304" pitchFamily="18" charset="0"/>
                <a:cs typeface="Times New Roman" panose="02020603050405020304" pitchFamily="18" charset="0"/>
              </a:rPr>
              <a:t>Birthday Attack</a:t>
            </a:r>
            <a:endParaRPr lang="en-IN" altLang="en-US" dirty="0"/>
          </a:p>
        </p:txBody>
      </p:sp>
      <p:sp>
        <p:nvSpPr>
          <p:cNvPr id="3" name="Content Placeholder 2"/>
          <p:cNvSpPr>
            <a:spLocks noGrp="1"/>
          </p:cNvSpPr>
          <p:nvPr>
            <p:ph idx="1"/>
          </p:nvPr>
        </p:nvSpPr>
        <p:spPr/>
        <p:txBody>
          <a:bodyPr/>
          <a:lstStyle/>
          <a:p>
            <a:pPr>
              <a:defRPr/>
            </a:pPr>
            <a:r>
              <a:rPr lang="en-US" sz="2400" dirty="0">
                <a:solidFill>
                  <a:srgbClr val="FF0000"/>
                </a:solidFill>
                <a:latin typeface="Times New Roman" panose="02020603050405020304" pitchFamily="18" charset="0"/>
                <a:cs typeface="Times New Roman" panose="02020603050405020304" pitchFamily="18" charset="0"/>
              </a:rPr>
              <a:t>Probability that at least one student </a:t>
            </a:r>
            <a:r>
              <a:rPr lang="en-US" sz="2400" dirty="0">
                <a:latin typeface="Times New Roman" panose="02020603050405020304" pitchFamily="18" charset="0"/>
                <a:cs typeface="Times New Roman" panose="02020603050405020304" pitchFamily="18" charset="0"/>
              </a:rPr>
              <a:t>is born on that day is</a:t>
            </a:r>
          </a:p>
          <a:p>
            <a:pPr marL="0" indent="0">
              <a:buFont typeface="Arial" panose="020B0604020202020204" pitchFamily="34" charset="0"/>
              <a:buNone/>
              <a:defRPr/>
            </a:pPr>
            <a:r>
              <a:rPr lang="en-US" sz="2400" dirty="0">
                <a:latin typeface="Times New Roman" panose="02020603050405020304" pitchFamily="18" charset="0"/>
                <a:cs typeface="Times New Roman" panose="02020603050405020304" pitchFamily="18" charset="0"/>
              </a:rPr>
              <a:t>	  </a:t>
            </a:r>
            <a:r>
              <a:rPr lang="en-US" sz="2400" b="1" dirty="0">
                <a:solidFill>
                  <a:srgbClr val="0000FF"/>
                </a:solidFill>
                <a:latin typeface="Times New Roman" panose="02020603050405020304" pitchFamily="18" charset="0"/>
                <a:cs typeface="Times New Roman" panose="02020603050405020304" pitchFamily="18" charset="0"/>
              </a:rPr>
              <a:t>1-(364/365)</a:t>
            </a:r>
            <a:r>
              <a:rPr lang="en-US" sz="2400" b="1" baseline="30000" dirty="0">
                <a:solidFill>
                  <a:srgbClr val="0000FF"/>
                </a:solidFill>
                <a:latin typeface="Times New Roman" panose="02020603050405020304" pitchFamily="18" charset="0"/>
                <a:cs typeface="Times New Roman" panose="02020603050405020304" pitchFamily="18" charset="0"/>
              </a:rPr>
              <a:t>n</a:t>
            </a:r>
          </a:p>
          <a:p>
            <a:pPr algn="just">
              <a:defRPr/>
            </a:pPr>
            <a:r>
              <a:rPr lang="en-US" sz="2400" dirty="0"/>
              <a:t>For example, if the teacher fixes a particular date say </a:t>
            </a:r>
            <a:r>
              <a:rPr lang="en-US" sz="2400" b="1" i="1" dirty="0">
                <a:solidFill>
                  <a:srgbClr val="FF0000"/>
                </a:solidFill>
              </a:rPr>
              <a:t>March 13</a:t>
            </a:r>
            <a:r>
              <a:rPr lang="en-US" sz="2400" dirty="0">
                <a:solidFill>
                  <a:srgbClr val="FF0000"/>
                </a:solidFill>
              </a:rPr>
              <a:t>,</a:t>
            </a:r>
            <a:r>
              <a:rPr lang="en-US" sz="2400" dirty="0"/>
              <a:t> then the probability that at least one student is born on that day is </a:t>
            </a:r>
            <a:r>
              <a:rPr lang="en-US" sz="2400" b="1" i="1" dirty="0">
                <a:solidFill>
                  <a:srgbClr val="FF0000"/>
                </a:solidFill>
              </a:rPr>
              <a:t>1 – (364/365)</a:t>
            </a:r>
            <a:r>
              <a:rPr lang="en-US" sz="2400" b="1" i="1" baseline="30000" dirty="0">
                <a:solidFill>
                  <a:srgbClr val="FF0000"/>
                </a:solidFill>
              </a:rPr>
              <a:t>30</a:t>
            </a:r>
            <a:r>
              <a:rPr lang="en-US" sz="2400" dirty="0"/>
              <a:t> which is about </a:t>
            </a:r>
            <a:r>
              <a:rPr lang="en-US" sz="2400" b="1" i="1" dirty="0"/>
              <a:t>7.9%</a:t>
            </a:r>
            <a:r>
              <a:rPr lang="en-US" sz="2400" dirty="0"/>
              <a:t>.</a:t>
            </a:r>
            <a:endParaRPr lang="en-US" sz="2400" b="1" dirty="0">
              <a:solidFill>
                <a:srgbClr val="0000FF"/>
              </a:solidFill>
              <a:latin typeface="Times New Roman" panose="02020603050405020304" pitchFamily="18" charset="0"/>
              <a:cs typeface="Times New Roman" panose="02020603050405020304" pitchFamily="18" charset="0"/>
            </a:endParaRPr>
          </a:p>
          <a:p>
            <a:pPr>
              <a:defRPr/>
            </a:pPr>
            <a:endParaRPr lang="en-IN" dirty="0"/>
          </a:p>
        </p:txBody>
      </p:sp>
      <p:sp>
        <p:nvSpPr>
          <p:cNvPr id="2970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3585CD8-09D9-4DFE-A71C-4C57D4E463E3}" type="slidenum">
              <a:rPr lang="en-US" altLang="en-US" sz="1200">
                <a:solidFill>
                  <a:srgbClr val="898989"/>
                </a:solidFill>
                <a:latin typeface="Arial" panose="020B0604020202020204" pitchFamily="34" charset="0"/>
              </a:rPr>
              <a:pPr>
                <a:spcBef>
                  <a:spcPct val="0"/>
                </a:spcBef>
                <a:buFontTx/>
                <a:buNone/>
              </a:pPr>
              <a:t>35</a:t>
            </a:fld>
            <a:endParaRPr lang="en-US" altLang="en-US" sz="1200">
              <a:solidFill>
                <a:srgbClr val="898989"/>
              </a:solidFill>
              <a:latin typeface="Arial" panose="020B0604020202020204" pitchFamily="34" charset="0"/>
            </a:endParaRPr>
          </a:p>
        </p:txBody>
      </p:sp>
    </p:spTree>
    <p:extLst>
      <p:ext uri="{BB962C8B-B14F-4D97-AF65-F5344CB8AC3E}">
        <p14:creationId xmlns:p14="http://schemas.microsoft.com/office/powerpoint/2010/main" val="41277281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Digital Signature Susceptibility</a:t>
            </a:r>
            <a:br>
              <a:rPr lang="en-IN" dirty="0"/>
            </a:br>
            <a:endParaRPr lang="en-IN" dirty="0"/>
          </a:p>
        </p:txBody>
      </p:sp>
      <p:sp>
        <p:nvSpPr>
          <p:cNvPr id="3" name="Content Placeholder 2"/>
          <p:cNvSpPr>
            <a:spLocks noGrp="1"/>
          </p:cNvSpPr>
          <p:nvPr>
            <p:ph idx="1"/>
          </p:nvPr>
        </p:nvSpPr>
        <p:spPr>
          <a:xfrm>
            <a:off x="-34280" y="1052736"/>
            <a:ext cx="9178280" cy="4525963"/>
          </a:xfrm>
        </p:spPr>
        <p:txBody>
          <a:bodyPr>
            <a:noAutofit/>
          </a:bodyPr>
          <a:lstStyle/>
          <a:p>
            <a:r>
              <a:rPr lang="en-US" sz="2000" dirty="0"/>
              <a:t>Digital signatures are susceptible to a number of attacks that can compromise their security. Some of the main threats include −</a:t>
            </a:r>
          </a:p>
          <a:p>
            <a:r>
              <a:rPr lang="en-US" sz="2000" b="1" dirty="0"/>
              <a:t>Forgery</a:t>
            </a:r>
            <a:r>
              <a:rPr lang="en-US" sz="2000" dirty="0"/>
              <a:t> − An attacker could create a fake signature and attach it to a message or document in an attempt to make it appear as if it was signed by someone else.</a:t>
            </a:r>
          </a:p>
          <a:p>
            <a:r>
              <a:rPr lang="en-US" sz="2000" b="1" dirty="0"/>
              <a:t>Tampering</a:t>
            </a:r>
            <a:r>
              <a:rPr lang="en-US" sz="2000" dirty="0"/>
              <a:t> − An attacker could alter the content of a message or document after it has been signed, potentially changing the meaning of the message or document.</a:t>
            </a:r>
          </a:p>
          <a:p>
            <a:r>
              <a:rPr lang="en-US" sz="2000" b="1" dirty="0"/>
              <a:t>Repudiation</a:t>
            </a:r>
            <a:r>
              <a:rPr lang="en-US" sz="2000" dirty="0"/>
              <a:t> − An attacker could claim that they did not sign a message or document, even if it is clear that they did.</a:t>
            </a:r>
          </a:p>
          <a:p>
            <a:r>
              <a:rPr lang="en-US" sz="2000" b="1" dirty="0"/>
              <a:t>Key compromise </a:t>
            </a:r>
            <a:r>
              <a:rPr lang="en-US" sz="2000" dirty="0"/>
              <a:t>− If an attacker is able to obtain a private key that is used to create digital signatures, they could use it to create fake signatures or alter signed messages or documents.</a:t>
            </a:r>
          </a:p>
          <a:p>
            <a:r>
              <a:rPr lang="en-US" sz="2000" dirty="0"/>
              <a:t>To protect against these threats, it is important to </a:t>
            </a:r>
            <a:r>
              <a:rPr lang="en-US" sz="2000" b="1" dirty="0"/>
              <a:t>use strong cryptographic techniques</a:t>
            </a:r>
            <a:r>
              <a:rPr lang="en-US" sz="2000" dirty="0"/>
              <a:t> and to securely store and manage private keys used for digital signatures. It is also important to use trusted third parties, such as certificate authorities, to verify the identity of the parties involved in a digital signature.</a:t>
            </a:r>
            <a:endParaRPr lang="en-IN" sz="2000" dirty="0"/>
          </a:p>
        </p:txBody>
      </p:sp>
    </p:spTree>
    <p:extLst>
      <p:ext uri="{BB962C8B-B14F-4D97-AF65-F5344CB8AC3E}">
        <p14:creationId xmlns:p14="http://schemas.microsoft.com/office/powerpoint/2010/main" val="42163686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C00000"/>
                </a:solidFill>
              </a:rPr>
              <a:t>How to Prevent Birthday Attack?</a:t>
            </a:r>
            <a:br>
              <a:rPr lang="en-US" dirty="0">
                <a:solidFill>
                  <a:srgbClr val="C00000"/>
                </a:solidFill>
              </a:rPr>
            </a:br>
            <a:endParaRPr lang="en-IN" dirty="0"/>
          </a:p>
        </p:txBody>
      </p:sp>
      <p:sp>
        <p:nvSpPr>
          <p:cNvPr id="3" name="Content Placeholder 2"/>
          <p:cNvSpPr>
            <a:spLocks noGrp="1"/>
          </p:cNvSpPr>
          <p:nvPr>
            <p:ph idx="1"/>
          </p:nvPr>
        </p:nvSpPr>
        <p:spPr/>
        <p:txBody>
          <a:bodyPr>
            <a:normAutofit fontScale="40000" lnSpcReduction="20000"/>
          </a:bodyPr>
          <a:lstStyle/>
          <a:p>
            <a:r>
              <a:rPr lang="en-US" dirty="0"/>
              <a:t>How to Prevent Birthday Attack?</a:t>
            </a:r>
          </a:p>
          <a:p>
            <a:r>
              <a:rPr lang="en-US" dirty="0"/>
              <a:t>There are several ways to prevent or mitigate the risk of a birthday attack −</a:t>
            </a:r>
          </a:p>
          <a:p>
            <a:endParaRPr lang="en-US" dirty="0"/>
          </a:p>
          <a:p>
            <a:r>
              <a:rPr lang="en-US" dirty="0"/>
              <a:t>Use a hash function with a larger output size −  The larger the output size, the less likely it is that two different input messages will produce the same output. Therefore, using a hash function with a large output size can make it much more difficult for an attacker to find a collision.</a:t>
            </a:r>
          </a:p>
          <a:p>
            <a:endParaRPr lang="en-US" dirty="0"/>
          </a:p>
          <a:p>
            <a:r>
              <a:rPr lang="en-US" dirty="0"/>
              <a:t>Use a different cryptographic technique − Instead of using a hash function, it is possible to use other cryptographic techniques that are not vulnerable to birthday attacks. For example, message authentication codes (MACs) or digital signatures can be used to provide similar functions as hash functions but without the risk of a collision.</a:t>
            </a:r>
          </a:p>
          <a:p>
            <a:endParaRPr lang="en-US" dirty="0"/>
          </a:p>
          <a:p>
            <a:r>
              <a:rPr lang="en-US" dirty="0"/>
              <a:t>Use a salt − A salt is a random value that is added to the input of a hash function before it is hashed. This can help to prevent precomputation attacks, in which an attacker precomputes a table of common inputs and their corresponding hash values. By adding a unique salt to each input, it becomes much more difficult for an attacker to precompute a table of hashes.</a:t>
            </a:r>
          </a:p>
          <a:p>
            <a:endParaRPr lang="en-US" dirty="0"/>
          </a:p>
          <a:p>
            <a:r>
              <a:rPr lang="en-US" dirty="0"/>
              <a:t>Use a keyed hash function − A keyed hash function is a type of hash function that uses a secret key in the hashing process. This makes it much more difficult for an attacker to find a collision, since they would need to know the key in order to generate a collision.</a:t>
            </a:r>
          </a:p>
          <a:p>
            <a:endParaRPr lang="en-US" dirty="0"/>
          </a:p>
          <a:p>
            <a:r>
              <a:rPr lang="en-US" dirty="0"/>
              <a:t>Use multiple hash functions − Instead of using a single hash function, it is possible to use multiple hash functions in parallel. This can make it much more difficult for an attacker to find a collision, since they would need to find collisions in all of the hash functions simultaneously.</a:t>
            </a:r>
            <a:endParaRPr lang="en-IN" dirty="0"/>
          </a:p>
        </p:txBody>
      </p:sp>
    </p:spTree>
    <p:extLst>
      <p:ext uri="{BB962C8B-B14F-4D97-AF65-F5344CB8AC3E}">
        <p14:creationId xmlns:p14="http://schemas.microsoft.com/office/powerpoint/2010/main" val="25845369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3655</TotalTime>
  <Words>2745</Words>
  <Application>Microsoft Macintosh PowerPoint</Application>
  <PresentationFormat>On-screen Show (4:3)</PresentationFormat>
  <Paragraphs>429</Paragraphs>
  <Slides>37</Slides>
  <Notes>6</Notes>
  <HiddenSlides>11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37</vt:i4>
      </vt:variant>
    </vt:vector>
  </HeadingPairs>
  <TitlesOfParts>
    <vt:vector size="41" baseType="lpstr">
      <vt:lpstr>Arial</vt:lpstr>
      <vt:lpstr>Calibri</vt:lpstr>
      <vt:lpstr>Times New Roman</vt:lpstr>
      <vt:lpstr>Office Theme</vt:lpstr>
      <vt:lpstr> MAC &amp; HMAC  </vt:lpstr>
      <vt:lpstr>MAC  (Message Authentication Code)</vt:lpstr>
      <vt:lpstr>Message Authentication</vt:lpstr>
      <vt:lpstr>Message Authentication Code (MAC)</vt:lpstr>
      <vt:lpstr>How message authentication code (MAC) works? </vt:lpstr>
      <vt:lpstr>Message Authentication Code (MAC)</vt:lpstr>
      <vt:lpstr>Message Authentication Code (MAC)</vt:lpstr>
      <vt:lpstr>Message Authentication Code (MAC)</vt:lpstr>
      <vt:lpstr>PowerPoint Presentation</vt:lpstr>
      <vt:lpstr>Use of MAC</vt:lpstr>
      <vt:lpstr>Basic use of MAC Functions</vt:lpstr>
      <vt:lpstr>MAC types</vt:lpstr>
      <vt:lpstr>HMAC – Hash Based Message Authentication</vt:lpstr>
      <vt:lpstr> HMAC </vt:lpstr>
      <vt:lpstr>HMAC </vt:lpstr>
      <vt:lpstr>HMAC </vt:lpstr>
      <vt:lpstr>HMAC </vt:lpstr>
      <vt:lpstr>HMAC </vt:lpstr>
      <vt:lpstr>HMAC </vt:lpstr>
      <vt:lpstr>PowerPoint Presentation</vt:lpstr>
      <vt:lpstr>HMAC</vt:lpstr>
      <vt:lpstr>HMAC</vt:lpstr>
      <vt:lpstr>HMAC</vt:lpstr>
      <vt:lpstr>HMAC</vt:lpstr>
      <vt:lpstr>HMAC</vt:lpstr>
      <vt:lpstr>HMAC</vt:lpstr>
      <vt:lpstr>HMAC vs Digital signature</vt:lpstr>
      <vt:lpstr>Example</vt:lpstr>
      <vt:lpstr>Example</vt:lpstr>
      <vt:lpstr>Example</vt:lpstr>
      <vt:lpstr>PowerPoint Presentation</vt:lpstr>
      <vt:lpstr>Birthday Attack</vt:lpstr>
      <vt:lpstr>Birthday Attack</vt:lpstr>
      <vt:lpstr>Birthday Attack</vt:lpstr>
      <vt:lpstr>Birthday Attack</vt:lpstr>
      <vt:lpstr>Digital Signature Susceptibility </vt:lpstr>
      <vt:lpstr>How to Prevent Birthday Attack? </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HASH FUNCTIONS</dc:title>
  <dc:creator>Admin</dc:creator>
  <cp:lastModifiedBy>Apoorva Karnwal</cp:lastModifiedBy>
  <cp:revision>369</cp:revision>
  <dcterms:created xsi:type="dcterms:W3CDTF">2020-08-25T14:34:42Z</dcterms:created>
  <dcterms:modified xsi:type="dcterms:W3CDTF">2025-04-11T19:32:28Z</dcterms:modified>
</cp:coreProperties>
</file>