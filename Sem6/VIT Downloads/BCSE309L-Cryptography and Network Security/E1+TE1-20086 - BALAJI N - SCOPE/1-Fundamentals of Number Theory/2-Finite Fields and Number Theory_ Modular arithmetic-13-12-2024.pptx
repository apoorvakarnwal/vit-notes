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71" r:id="rId3"/>
    <p:sldId id="272" r:id="rId4"/>
    <p:sldId id="268" r:id="rId5"/>
    <p:sldId id="269" r:id="rId6"/>
    <p:sldId id="273" r:id="rId7"/>
    <p:sldId id="274" r:id="rId8"/>
    <p:sldId id="275" r:id="rId9"/>
    <p:sldId id="276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Modular Exponentiation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>
            <a:normAutofit/>
          </a:bodyPr>
          <a:lstStyle/>
          <a:p>
            <a:r>
              <a:rPr lang="en-IN" sz="3600" dirty="0"/>
              <a:t>Allow us to evaluate a</a:t>
            </a:r>
            <a:r>
              <a:rPr lang="en-IN" sz="3600" baseline="30000" dirty="0"/>
              <a:t>b</a:t>
            </a:r>
            <a:r>
              <a:rPr lang="en-IN" sz="3600" dirty="0"/>
              <a:t> </a:t>
            </a:r>
            <a:r>
              <a:rPr lang="en-IN" sz="3600" dirty="0">
                <a:sym typeface="Symbol"/>
              </a:rPr>
              <a:t> (c </a:t>
            </a:r>
            <a:r>
              <a:rPr lang="en-IN" sz="3600" dirty="0"/>
              <a:t>mod d)</a:t>
            </a:r>
          </a:p>
          <a:p>
            <a:r>
              <a:rPr lang="en-IN" sz="3600" dirty="0"/>
              <a:t>Used in  RSA, El Gamal algorithms.</a:t>
            </a:r>
          </a:p>
          <a:p>
            <a:r>
              <a:rPr lang="en-IN" sz="3600" dirty="0"/>
              <a:t>Methods of computing:</a:t>
            </a:r>
          </a:p>
          <a:p>
            <a:pPr lvl="1"/>
            <a:r>
              <a:rPr lang="en-IN" dirty="0"/>
              <a:t>Brute Force</a:t>
            </a:r>
          </a:p>
          <a:p>
            <a:pPr lvl="1"/>
            <a:r>
              <a:rPr lang="en-IN" dirty="0"/>
              <a:t>Factoring</a:t>
            </a:r>
          </a:p>
          <a:p>
            <a:pPr lvl="1"/>
            <a:r>
              <a:rPr lang="en-IN" dirty="0"/>
              <a:t>Memory efficient</a:t>
            </a:r>
          </a:p>
          <a:p>
            <a:pPr lvl="1"/>
            <a:r>
              <a:rPr lang="en-IN" dirty="0"/>
              <a:t>Successive squaring (Power of 2)</a:t>
            </a:r>
          </a:p>
          <a:p>
            <a:pPr lvl="1"/>
            <a:r>
              <a:rPr lang="en-IN" dirty="0"/>
              <a:t>General fast exponentiation</a:t>
            </a:r>
          </a:p>
          <a:p>
            <a:pPr lvl="1"/>
            <a:endParaRPr lang="en-IN" dirty="0"/>
          </a:p>
          <a:p>
            <a:pPr>
              <a:buFont typeface="Arial" charset="0"/>
              <a:buNone/>
            </a:pPr>
            <a:endParaRPr lang="en-IN" sz="3600" dirty="0"/>
          </a:p>
          <a:p>
            <a:pPr>
              <a:buFont typeface="Arial" charset="0"/>
              <a:buNone/>
            </a:pPr>
            <a:endParaRPr lang="en-IN" sz="3600" dirty="0"/>
          </a:p>
          <a:p>
            <a:pPr>
              <a:buFont typeface="Arial" charset="0"/>
              <a:buNone/>
            </a:pPr>
            <a:endParaRPr lang="en-IN" sz="3600" dirty="0"/>
          </a:p>
          <a:p>
            <a:pPr>
              <a:buFont typeface="Arial" charset="0"/>
              <a:buNone/>
            </a:pPr>
            <a:endParaRPr lang="en-IN" sz="3600" dirty="0"/>
          </a:p>
          <a:p>
            <a:pPr>
              <a:buFont typeface="Arial" charset="0"/>
              <a:buNone/>
            </a:pPr>
            <a:endParaRPr lang="en-IN" sz="3600" dirty="0"/>
          </a:p>
          <a:p>
            <a:pPr>
              <a:buFont typeface="Arial" charset="0"/>
              <a:buNone/>
            </a:pPr>
            <a:endParaRPr lang="en-IN" sz="3600" dirty="0"/>
          </a:p>
          <a:p>
            <a:endParaRPr lang="en-IN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42950" marR="0" lvl="1" indent="-28575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General Method (Most important)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/>
          <a:lstStyle/>
          <a:p>
            <a:r>
              <a:rPr lang="en-IN" sz="2800" dirty="0"/>
              <a:t>23</a:t>
            </a:r>
            <a:r>
              <a:rPr lang="en-IN" sz="2800" baseline="30000" dirty="0"/>
              <a:t>3</a:t>
            </a:r>
            <a:r>
              <a:rPr lang="en-IN" sz="2800" dirty="0"/>
              <a:t> mod 30 ?</a:t>
            </a:r>
          </a:p>
          <a:p>
            <a:pPr>
              <a:buFont typeface="Arial" charset="0"/>
              <a:buNone/>
            </a:pPr>
            <a:r>
              <a:rPr lang="en-IN" sz="2800" dirty="0"/>
              <a:t>    23 mod 30 = </a:t>
            </a:r>
            <a:r>
              <a:rPr lang="en-IN" sz="2800" dirty="0">
                <a:solidFill>
                  <a:srgbClr val="FF0000"/>
                </a:solidFill>
              </a:rPr>
              <a:t>-7</a:t>
            </a:r>
            <a:r>
              <a:rPr lang="en-IN" sz="2800" dirty="0"/>
              <a:t> or 23</a:t>
            </a:r>
          </a:p>
          <a:p>
            <a:pPr>
              <a:buFont typeface="Arial" charset="0"/>
              <a:buNone/>
            </a:pPr>
            <a:r>
              <a:rPr lang="en-IN" sz="2800" dirty="0"/>
              <a:t>    23</a:t>
            </a:r>
            <a:r>
              <a:rPr lang="en-IN" sz="2800" baseline="30000" dirty="0"/>
              <a:t>3</a:t>
            </a:r>
            <a:r>
              <a:rPr lang="en-IN" sz="2800" dirty="0"/>
              <a:t> mod 30 = (-7)</a:t>
            </a:r>
            <a:r>
              <a:rPr lang="en-IN" sz="2800" baseline="30000" dirty="0"/>
              <a:t>3</a:t>
            </a:r>
            <a:r>
              <a:rPr lang="en-IN" sz="2800" dirty="0"/>
              <a:t> mod 30 </a:t>
            </a:r>
          </a:p>
          <a:p>
            <a:pPr>
              <a:buFont typeface="Arial" charset="0"/>
              <a:buNone/>
            </a:pPr>
            <a:r>
              <a:rPr lang="en-IN" sz="2800" dirty="0"/>
              <a:t>                          = (-7)</a:t>
            </a:r>
            <a:r>
              <a:rPr lang="en-IN" sz="2800" baseline="30000" dirty="0"/>
              <a:t>2</a:t>
            </a:r>
            <a:r>
              <a:rPr lang="en-IN" sz="2800" dirty="0"/>
              <a:t> x  -7 mod 30 </a:t>
            </a:r>
          </a:p>
          <a:p>
            <a:pPr>
              <a:buFont typeface="Arial" charset="0"/>
              <a:buNone/>
            </a:pPr>
            <a:r>
              <a:rPr lang="en-IN" sz="2800" dirty="0"/>
              <a:t>                          = 49 x  -7 mod 30 </a:t>
            </a:r>
          </a:p>
          <a:p>
            <a:pPr>
              <a:buFont typeface="Arial" charset="0"/>
              <a:buNone/>
            </a:pPr>
            <a:r>
              <a:rPr lang="en-IN" sz="2800" dirty="0"/>
              <a:t>                          = -133 mod 30 </a:t>
            </a:r>
          </a:p>
          <a:p>
            <a:pPr>
              <a:buFont typeface="Arial" charset="0"/>
              <a:buNone/>
            </a:pPr>
            <a:r>
              <a:rPr lang="en-IN" sz="2800" dirty="0"/>
              <a:t>                          = -13 mod 30 </a:t>
            </a:r>
          </a:p>
          <a:p>
            <a:pPr>
              <a:buFont typeface="Arial" charset="0"/>
              <a:buNone/>
            </a:pPr>
            <a:r>
              <a:rPr lang="en-IN" sz="2800" dirty="0"/>
              <a:t>                          = 17 mod 30</a:t>
            </a:r>
          </a:p>
          <a:p>
            <a:pPr>
              <a:buFont typeface="Arial" charset="0"/>
              <a:buNone/>
            </a:pPr>
            <a:r>
              <a:rPr lang="en-IN" sz="3600" b="1" dirty="0"/>
              <a:t>    23</a:t>
            </a:r>
            <a:r>
              <a:rPr lang="en-IN" sz="3600" b="1" baseline="30000" dirty="0"/>
              <a:t>3</a:t>
            </a:r>
            <a:r>
              <a:rPr lang="en-IN" sz="3600" b="1" dirty="0"/>
              <a:t> mod 30 = 17</a:t>
            </a:r>
          </a:p>
          <a:p>
            <a:pPr>
              <a:buFont typeface="Arial" charset="0"/>
              <a:buNone/>
            </a:pPr>
            <a:endParaRPr lang="en-IN" sz="2800" dirty="0"/>
          </a:p>
          <a:p>
            <a:pPr>
              <a:buFont typeface="Arial" charset="0"/>
              <a:buNone/>
            </a:pPr>
            <a:endParaRPr lang="en-IN" sz="2800" dirty="0"/>
          </a:p>
          <a:p>
            <a:pPr>
              <a:buFont typeface="Arial" charset="0"/>
              <a:buNone/>
            </a:pPr>
            <a:endParaRPr lang="en-IN" sz="2800" dirty="0"/>
          </a:p>
          <a:p>
            <a:pPr>
              <a:buFont typeface="Arial" charset="0"/>
              <a:buNone/>
            </a:pPr>
            <a:endParaRPr lang="en-IN" sz="2800" dirty="0"/>
          </a:p>
          <a:p>
            <a:pPr>
              <a:buFont typeface="Arial" charset="0"/>
              <a:buNone/>
            </a:pPr>
            <a:endParaRPr lang="en-IN" sz="2800" dirty="0"/>
          </a:p>
          <a:p>
            <a:pPr>
              <a:buFont typeface="Arial" charset="0"/>
              <a:buNone/>
            </a:pPr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Exercise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/>
              <a:t>Find 31</a:t>
            </a:r>
            <a:r>
              <a:rPr lang="en-IN" sz="2800" baseline="30000"/>
              <a:t>500</a:t>
            </a:r>
            <a:r>
              <a:rPr lang="en-IN" sz="2800"/>
              <a:t> mod 30, 242</a:t>
            </a:r>
            <a:r>
              <a:rPr lang="en-IN" sz="2800" baseline="30000"/>
              <a:t>329</a:t>
            </a:r>
            <a:r>
              <a:rPr lang="en-IN" sz="2800"/>
              <a:t> mod 243, 11</a:t>
            </a:r>
            <a:r>
              <a:rPr lang="en-IN" sz="2800" baseline="30000"/>
              <a:t>7</a:t>
            </a:r>
            <a:r>
              <a:rPr lang="en-IN" sz="2800"/>
              <a:t> mod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Brute Force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>
            <a:normAutofit/>
          </a:bodyPr>
          <a:lstStyle/>
          <a:p>
            <a:pPr algn="just"/>
            <a:r>
              <a:rPr lang="en-IN" sz="3600" dirty="0"/>
              <a:t>Native approach, simply calculate a</a:t>
            </a:r>
            <a:r>
              <a:rPr lang="en-IN" sz="3600" baseline="30000" dirty="0"/>
              <a:t>b</a:t>
            </a:r>
            <a:r>
              <a:rPr lang="en-IN" sz="3600" dirty="0"/>
              <a:t> </a:t>
            </a:r>
            <a:r>
              <a:rPr lang="en-IN" sz="3600" dirty="0">
                <a:sym typeface="Symbol"/>
              </a:rPr>
              <a:t>then reduce </a:t>
            </a:r>
            <a:r>
              <a:rPr lang="en-IN" sz="3600" dirty="0"/>
              <a:t>mod d.</a:t>
            </a:r>
          </a:p>
          <a:p>
            <a:pPr algn="just"/>
            <a:r>
              <a:rPr lang="en-IN" sz="3600" dirty="0"/>
              <a:t>Example:</a:t>
            </a:r>
          </a:p>
          <a:p>
            <a:pPr lvl="1" algn="just">
              <a:buNone/>
            </a:pPr>
            <a:r>
              <a:rPr lang="en-IN" dirty="0"/>
              <a:t>  3</a:t>
            </a:r>
            <a:r>
              <a:rPr lang="en-IN" baseline="30000" dirty="0"/>
              <a:t>3</a:t>
            </a:r>
            <a:r>
              <a:rPr lang="en-IN" dirty="0"/>
              <a:t> mod 5 = 27 mod 5 = 2.</a:t>
            </a:r>
          </a:p>
          <a:p>
            <a:pPr algn="just"/>
            <a:r>
              <a:rPr lang="en-IN" sz="3600" dirty="0"/>
              <a:t>As the exponent gets larger, this becomes harder to do.</a:t>
            </a:r>
          </a:p>
          <a:p>
            <a:pPr algn="just"/>
            <a:r>
              <a:rPr lang="en-IN" sz="3600" dirty="0"/>
              <a:t>For example, finding 3</a:t>
            </a:r>
            <a:r>
              <a:rPr lang="en-IN" sz="3600" baseline="30000" dirty="0"/>
              <a:t>1024</a:t>
            </a:r>
            <a:r>
              <a:rPr lang="en-IN" sz="3600" dirty="0"/>
              <a:t> mod 5 by using this approach is difficult.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Factoring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81600"/>
          </a:xfrm>
        </p:spPr>
        <p:txBody>
          <a:bodyPr>
            <a:noAutofit/>
          </a:bodyPr>
          <a:lstStyle/>
          <a:p>
            <a:pPr algn="just"/>
            <a:r>
              <a:rPr lang="en-IN" sz="2400" dirty="0"/>
              <a:t>Find the factors of the exponent.</a:t>
            </a:r>
          </a:p>
          <a:p>
            <a:pPr algn="just"/>
            <a:r>
              <a:rPr lang="en-IN" sz="2400" dirty="0"/>
              <a:t>If the factors of the exponent e = xyz, then  a</a:t>
            </a:r>
            <a:r>
              <a:rPr lang="en-IN" sz="2400" baseline="30000" dirty="0"/>
              <a:t>e</a:t>
            </a:r>
            <a:r>
              <a:rPr lang="en-IN" sz="2400" dirty="0"/>
              <a:t> = a</a:t>
            </a:r>
            <a:r>
              <a:rPr lang="en-IN" sz="2400" baseline="30000" dirty="0"/>
              <a:t>xyz</a:t>
            </a:r>
            <a:r>
              <a:rPr lang="en-IN" sz="2400" dirty="0"/>
              <a:t> = (((a</a:t>
            </a:r>
            <a:r>
              <a:rPr lang="en-IN" sz="2400" baseline="30000" dirty="0"/>
              <a:t>x</a:t>
            </a:r>
            <a:r>
              <a:rPr lang="en-IN" sz="2400" dirty="0"/>
              <a:t>)</a:t>
            </a:r>
            <a:r>
              <a:rPr lang="en-IN" sz="2400" baseline="30000" dirty="0"/>
              <a:t>y</a:t>
            </a:r>
            <a:r>
              <a:rPr lang="en-IN" sz="2400" dirty="0"/>
              <a:t>)</a:t>
            </a:r>
            <a:r>
              <a:rPr lang="en-IN" sz="2400" baseline="30000" dirty="0"/>
              <a:t>z</a:t>
            </a:r>
          </a:p>
          <a:p>
            <a:pPr algn="just"/>
            <a:r>
              <a:rPr lang="en-IN" sz="2400" dirty="0"/>
              <a:t>Example:</a:t>
            </a:r>
          </a:p>
          <a:p>
            <a:pPr algn="just">
              <a:buNone/>
            </a:pPr>
            <a:r>
              <a:rPr lang="en-IN" sz="2400" dirty="0"/>
              <a:t>   14</a:t>
            </a:r>
            <a:r>
              <a:rPr lang="en-IN" sz="2400" baseline="30000" dirty="0"/>
              <a:t>105</a:t>
            </a:r>
            <a:r>
              <a:rPr lang="en-IN" sz="2400" dirty="0"/>
              <a:t> mod 5 = (14</a:t>
            </a:r>
            <a:r>
              <a:rPr lang="en-IN" sz="2400" baseline="30000" dirty="0"/>
              <a:t>3x5x7</a:t>
            </a:r>
            <a:r>
              <a:rPr lang="en-IN" sz="2400" dirty="0"/>
              <a:t>)= (((a</a:t>
            </a:r>
            <a:r>
              <a:rPr lang="en-IN" sz="2400" baseline="30000" dirty="0"/>
              <a:t>3</a:t>
            </a:r>
            <a:r>
              <a:rPr lang="en-IN" sz="2400" dirty="0"/>
              <a:t>)</a:t>
            </a:r>
            <a:r>
              <a:rPr lang="en-IN" sz="2400" baseline="30000" dirty="0"/>
              <a:t>5</a:t>
            </a:r>
            <a:r>
              <a:rPr lang="en-IN" sz="2400" dirty="0"/>
              <a:t>)</a:t>
            </a:r>
            <a:r>
              <a:rPr lang="en-IN" sz="2400" baseline="30000" dirty="0"/>
              <a:t>7 </a:t>
            </a:r>
            <a:r>
              <a:rPr lang="en-IN" sz="2400" dirty="0"/>
              <a:t>mod 5, since 105 = 3 x 5 x 7.</a:t>
            </a:r>
          </a:p>
          <a:p>
            <a:pPr algn="just">
              <a:buNone/>
            </a:pPr>
            <a:r>
              <a:rPr lang="en-IN" sz="2400" dirty="0"/>
              <a:t>   14</a:t>
            </a:r>
            <a:r>
              <a:rPr lang="en-IN" sz="2400" baseline="30000" dirty="0"/>
              <a:t>3</a:t>
            </a:r>
            <a:r>
              <a:rPr lang="en-IN" sz="2400" dirty="0"/>
              <a:t>mod 5 = 2744 mod 5 = 4</a:t>
            </a:r>
          </a:p>
          <a:p>
            <a:pPr algn="just">
              <a:buNone/>
            </a:pPr>
            <a:r>
              <a:rPr lang="en-IN" sz="2400" dirty="0"/>
              <a:t>   14</a:t>
            </a:r>
            <a:r>
              <a:rPr lang="en-IN" sz="2400" baseline="30000" dirty="0"/>
              <a:t>5</a:t>
            </a:r>
            <a:r>
              <a:rPr lang="en-IN" sz="2400" dirty="0"/>
              <a:t>mod 5 = 537824 mod 5 = 4</a:t>
            </a:r>
          </a:p>
          <a:p>
            <a:pPr algn="just">
              <a:buNone/>
            </a:pPr>
            <a:r>
              <a:rPr lang="en-IN" sz="2400" dirty="0"/>
              <a:t>   14</a:t>
            </a:r>
            <a:r>
              <a:rPr lang="en-IN" sz="2400" baseline="30000" dirty="0"/>
              <a:t>7</a:t>
            </a:r>
            <a:r>
              <a:rPr lang="en-IN" sz="2400" dirty="0"/>
              <a:t>mod 5 = 105413504 mod 5 = 4</a:t>
            </a:r>
          </a:p>
          <a:p>
            <a:pPr algn="just">
              <a:buNone/>
            </a:pPr>
            <a:r>
              <a:rPr lang="en-IN" sz="2400" dirty="0"/>
              <a:t>Thus, </a:t>
            </a:r>
            <a:r>
              <a:rPr lang="en-IN" sz="2800" b="1" dirty="0"/>
              <a:t>14</a:t>
            </a:r>
            <a:r>
              <a:rPr lang="en-IN" sz="2800" b="1" baseline="30000" dirty="0"/>
              <a:t>105</a:t>
            </a:r>
            <a:r>
              <a:rPr lang="en-IN" sz="2800" b="1" dirty="0"/>
              <a:t> mod 5 =(4*4*4</a:t>
            </a:r>
            <a:r>
              <a:rPr lang="en-IN" sz="2800" b="1"/>
              <a:t>)mod 5= </a:t>
            </a:r>
            <a:r>
              <a:rPr lang="en-IN" sz="2800" b="1" dirty="0"/>
              <a:t>4</a:t>
            </a:r>
          </a:p>
          <a:p>
            <a:pPr algn="just">
              <a:buNone/>
            </a:pPr>
            <a:r>
              <a:rPr lang="en-IN" sz="2800" b="1" dirty="0">
                <a:solidFill>
                  <a:srgbClr val="FF0000"/>
                </a:solidFill>
              </a:rPr>
              <a:t>NOTE: </a:t>
            </a:r>
            <a:r>
              <a:rPr lang="en-IN" sz="2800" dirty="0"/>
              <a:t>but while apply the general method,                   14 mod 5 = 4 mod 5 = -1 then (-1)</a:t>
            </a:r>
            <a:r>
              <a:rPr lang="en-IN" sz="2800" baseline="30000" dirty="0"/>
              <a:t>105</a:t>
            </a:r>
            <a:r>
              <a:rPr lang="en-IN" sz="2800" dirty="0"/>
              <a:t> mod 5 = -1 mod 5 = 4.</a:t>
            </a:r>
          </a:p>
          <a:p>
            <a:pPr algn="just">
              <a:buNone/>
            </a:pPr>
            <a:endParaRPr lang="en-IN" sz="2800" dirty="0"/>
          </a:p>
          <a:p>
            <a:pPr algn="just">
              <a:buNone/>
            </a:pPr>
            <a:r>
              <a:rPr lang="en-IN" sz="2800" dirty="0"/>
              <a:t> </a:t>
            </a:r>
          </a:p>
          <a:p>
            <a:pPr algn="just">
              <a:buNone/>
            </a:pPr>
            <a:endParaRPr lang="en-IN" sz="2400" dirty="0"/>
          </a:p>
          <a:p>
            <a:pPr algn="just">
              <a:buNone/>
            </a:pPr>
            <a:endParaRPr lang="en-IN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Memory Efficient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/>
              <a:t>Simply multiply by the base and reduce each iteration.</a:t>
            </a:r>
          </a:p>
          <a:p>
            <a:pPr algn="just"/>
            <a:r>
              <a:rPr lang="en-IN" dirty="0"/>
              <a:t>Example: 3</a:t>
            </a:r>
            <a:r>
              <a:rPr lang="en-IN" baseline="30000" dirty="0"/>
              <a:t>7</a:t>
            </a:r>
            <a:r>
              <a:rPr lang="en-IN" dirty="0"/>
              <a:t> mod 5 ?</a:t>
            </a:r>
          </a:p>
          <a:p>
            <a:pPr lvl="1" algn="just">
              <a:buNone/>
            </a:pPr>
            <a:r>
              <a:rPr lang="en-IN" dirty="0"/>
              <a:t>3</a:t>
            </a:r>
            <a:r>
              <a:rPr lang="en-IN" baseline="30000" dirty="0"/>
              <a:t>2</a:t>
            </a:r>
            <a:r>
              <a:rPr lang="en-IN" dirty="0"/>
              <a:t> mod 5 = 3 * 3 mod 5 = </a:t>
            </a:r>
            <a:r>
              <a:rPr lang="en-IN" dirty="0">
                <a:solidFill>
                  <a:srgbClr val="FF0000"/>
                </a:solidFill>
              </a:rPr>
              <a:t>4</a:t>
            </a:r>
          </a:p>
          <a:p>
            <a:pPr lvl="1" algn="just">
              <a:buNone/>
            </a:pPr>
            <a:r>
              <a:rPr lang="en-IN" dirty="0"/>
              <a:t>3</a:t>
            </a:r>
            <a:r>
              <a:rPr lang="en-IN" baseline="30000" dirty="0"/>
              <a:t>3</a:t>
            </a:r>
            <a:r>
              <a:rPr lang="en-IN" dirty="0"/>
              <a:t> mod 5 = 3</a:t>
            </a:r>
            <a:r>
              <a:rPr lang="en-IN" baseline="30000" dirty="0"/>
              <a:t>2</a:t>
            </a:r>
            <a:r>
              <a:rPr lang="en-IN" dirty="0"/>
              <a:t> * 3 mod 5 = </a:t>
            </a:r>
            <a:r>
              <a:rPr lang="en-IN" dirty="0">
                <a:solidFill>
                  <a:srgbClr val="FF0000"/>
                </a:solidFill>
              </a:rPr>
              <a:t>4</a:t>
            </a:r>
            <a:r>
              <a:rPr lang="en-IN" dirty="0"/>
              <a:t> * 3 = 12 mod 5 = </a:t>
            </a:r>
            <a:r>
              <a:rPr lang="en-IN" dirty="0">
                <a:solidFill>
                  <a:srgbClr val="FF0000"/>
                </a:solidFill>
              </a:rPr>
              <a:t>2</a:t>
            </a:r>
          </a:p>
          <a:p>
            <a:pPr lvl="1" algn="just">
              <a:buNone/>
            </a:pPr>
            <a:r>
              <a:rPr lang="en-IN" dirty="0"/>
              <a:t>3</a:t>
            </a:r>
            <a:r>
              <a:rPr lang="en-IN" baseline="30000" dirty="0"/>
              <a:t>4</a:t>
            </a:r>
            <a:r>
              <a:rPr lang="en-IN" dirty="0"/>
              <a:t> mod 5 = 3</a:t>
            </a:r>
            <a:r>
              <a:rPr lang="en-IN" baseline="30000" dirty="0"/>
              <a:t>3</a:t>
            </a:r>
            <a:r>
              <a:rPr lang="en-IN" dirty="0"/>
              <a:t> * 3 mod 5 = </a:t>
            </a:r>
            <a:r>
              <a:rPr lang="en-IN" dirty="0">
                <a:solidFill>
                  <a:srgbClr val="FF0000"/>
                </a:solidFill>
              </a:rPr>
              <a:t>2</a:t>
            </a:r>
            <a:r>
              <a:rPr lang="en-IN" dirty="0"/>
              <a:t> * 3 = 6 mod 5 = </a:t>
            </a:r>
            <a:r>
              <a:rPr lang="en-IN" dirty="0">
                <a:solidFill>
                  <a:srgbClr val="FF0000"/>
                </a:solidFill>
              </a:rPr>
              <a:t>1</a:t>
            </a:r>
          </a:p>
          <a:p>
            <a:pPr lvl="1" algn="just">
              <a:buNone/>
            </a:pPr>
            <a:r>
              <a:rPr lang="en-IN" dirty="0"/>
              <a:t>3</a:t>
            </a:r>
            <a:r>
              <a:rPr lang="en-IN" baseline="30000" dirty="0"/>
              <a:t>5</a:t>
            </a:r>
            <a:r>
              <a:rPr lang="en-IN" dirty="0"/>
              <a:t> mod 5 = 3</a:t>
            </a:r>
            <a:r>
              <a:rPr lang="en-IN" baseline="30000" dirty="0"/>
              <a:t>4</a:t>
            </a:r>
            <a:r>
              <a:rPr lang="en-IN" dirty="0"/>
              <a:t> * 3 mod 5 = </a:t>
            </a:r>
            <a:r>
              <a:rPr lang="en-IN" dirty="0">
                <a:solidFill>
                  <a:srgbClr val="FF0000"/>
                </a:solidFill>
              </a:rPr>
              <a:t>1</a:t>
            </a:r>
            <a:r>
              <a:rPr lang="en-IN" dirty="0"/>
              <a:t> * 3 = 3 mod 5 = </a:t>
            </a:r>
            <a:r>
              <a:rPr lang="en-IN" dirty="0">
                <a:solidFill>
                  <a:srgbClr val="FF0000"/>
                </a:solidFill>
              </a:rPr>
              <a:t>3</a:t>
            </a:r>
          </a:p>
          <a:p>
            <a:pPr lvl="1" algn="just">
              <a:buNone/>
            </a:pPr>
            <a:r>
              <a:rPr lang="en-IN" dirty="0"/>
              <a:t>3</a:t>
            </a:r>
            <a:r>
              <a:rPr lang="en-IN" baseline="30000" dirty="0"/>
              <a:t>6</a:t>
            </a:r>
            <a:r>
              <a:rPr lang="en-IN" dirty="0"/>
              <a:t> mod 5 = 3</a:t>
            </a:r>
            <a:r>
              <a:rPr lang="en-IN" baseline="30000" dirty="0"/>
              <a:t>5</a:t>
            </a:r>
            <a:r>
              <a:rPr lang="en-IN" dirty="0"/>
              <a:t> * 3 mod 5 = </a:t>
            </a:r>
            <a:r>
              <a:rPr lang="en-IN" dirty="0">
                <a:solidFill>
                  <a:srgbClr val="FF0000"/>
                </a:solidFill>
              </a:rPr>
              <a:t>3</a:t>
            </a:r>
            <a:r>
              <a:rPr lang="en-IN" dirty="0"/>
              <a:t> * 3 = 9 mod 5 = </a:t>
            </a:r>
            <a:r>
              <a:rPr lang="en-IN" dirty="0">
                <a:solidFill>
                  <a:srgbClr val="FF0000"/>
                </a:solidFill>
              </a:rPr>
              <a:t>4</a:t>
            </a:r>
          </a:p>
          <a:p>
            <a:pPr lvl="1" algn="just">
              <a:buNone/>
            </a:pPr>
            <a:r>
              <a:rPr lang="en-IN" dirty="0"/>
              <a:t>3</a:t>
            </a:r>
            <a:r>
              <a:rPr lang="en-IN" baseline="30000" dirty="0"/>
              <a:t>7</a:t>
            </a:r>
            <a:r>
              <a:rPr lang="en-IN" dirty="0"/>
              <a:t> mod 5 = 3</a:t>
            </a:r>
            <a:r>
              <a:rPr lang="en-IN" baseline="30000" dirty="0"/>
              <a:t>6</a:t>
            </a:r>
            <a:r>
              <a:rPr lang="en-IN" dirty="0"/>
              <a:t> * 3 mod 5 = </a:t>
            </a:r>
            <a:r>
              <a:rPr lang="en-IN" dirty="0">
                <a:solidFill>
                  <a:srgbClr val="FF0000"/>
                </a:solidFill>
              </a:rPr>
              <a:t>4</a:t>
            </a:r>
            <a:r>
              <a:rPr lang="en-IN" dirty="0"/>
              <a:t> * 3 = 12 mod 5 = 2</a:t>
            </a:r>
          </a:p>
          <a:p>
            <a:pPr lvl="1" algn="just">
              <a:buNone/>
            </a:pPr>
            <a:r>
              <a:rPr lang="en-IN" dirty="0"/>
              <a:t>Thus, </a:t>
            </a:r>
            <a:r>
              <a:rPr lang="en-IN" sz="3200" b="1" dirty="0"/>
              <a:t>3</a:t>
            </a:r>
            <a:r>
              <a:rPr lang="en-IN" sz="3200" b="1" baseline="30000" dirty="0"/>
              <a:t>7</a:t>
            </a:r>
            <a:r>
              <a:rPr lang="en-IN" sz="3200" b="1" dirty="0"/>
              <a:t> mod 5 = 2</a:t>
            </a:r>
            <a:endParaRPr lang="en-IN" b="1" dirty="0"/>
          </a:p>
          <a:p>
            <a:pPr lvl="1" algn="just">
              <a:buNone/>
            </a:pPr>
            <a:endParaRPr lang="en-IN" dirty="0"/>
          </a:p>
          <a:p>
            <a:pPr lvl="1" algn="just">
              <a:buNone/>
            </a:pPr>
            <a:endParaRPr lang="en-IN" dirty="0"/>
          </a:p>
          <a:p>
            <a:pPr lvl="1" algn="just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Successive squaring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400" dirty="0"/>
              <a:t>Useful if the exponent is a power of 2.</a:t>
            </a:r>
          </a:p>
          <a:p>
            <a:r>
              <a:rPr lang="en-IN" sz="2400" dirty="0"/>
              <a:t>Example: 3</a:t>
            </a:r>
            <a:r>
              <a:rPr lang="en-IN" sz="2400" baseline="30000" dirty="0"/>
              <a:t>128</a:t>
            </a:r>
            <a:r>
              <a:rPr lang="en-IN" sz="2400" dirty="0"/>
              <a:t> mod 7 ?</a:t>
            </a:r>
          </a:p>
          <a:p>
            <a:pPr marL="342900" lvl="1" indent="-342900">
              <a:buNone/>
            </a:pPr>
            <a:r>
              <a:rPr lang="en-IN" sz="2400" dirty="0"/>
              <a:t>    3</a:t>
            </a:r>
            <a:r>
              <a:rPr lang="en-IN" sz="2400" baseline="30000" dirty="0"/>
              <a:t>2</a:t>
            </a:r>
            <a:r>
              <a:rPr lang="en-IN" sz="2400" dirty="0"/>
              <a:t> mod 7 = 3 * 3 mod 7 = 9 mod 7 = </a:t>
            </a:r>
            <a:r>
              <a:rPr lang="en-IN" sz="2400" dirty="0">
                <a:solidFill>
                  <a:srgbClr val="FF0000"/>
                </a:solidFill>
              </a:rPr>
              <a:t>2</a:t>
            </a:r>
          </a:p>
          <a:p>
            <a:pPr>
              <a:buNone/>
            </a:pPr>
            <a:r>
              <a:rPr lang="en-IN" sz="2400" dirty="0"/>
              <a:t>    3</a:t>
            </a:r>
            <a:r>
              <a:rPr lang="en-IN" sz="2400" baseline="30000" dirty="0"/>
              <a:t>4</a:t>
            </a:r>
            <a:r>
              <a:rPr lang="en-IN" sz="2400" dirty="0"/>
              <a:t> mod 7 = 3</a:t>
            </a:r>
            <a:r>
              <a:rPr lang="en-IN" sz="2400" baseline="30000" dirty="0"/>
              <a:t>2</a:t>
            </a:r>
            <a:r>
              <a:rPr lang="en-IN" sz="2400" dirty="0"/>
              <a:t> * 3</a:t>
            </a:r>
            <a:r>
              <a:rPr lang="en-IN" sz="2400" baseline="30000" dirty="0"/>
              <a:t>2</a:t>
            </a:r>
            <a:r>
              <a:rPr lang="en-IN" sz="2400" dirty="0"/>
              <a:t> mod 7 = </a:t>
            </a:r>
            <a:r>
              <a:rPr lang="en-IN" sz="2400" dirty="0">
                <a:solidFill>
                  <a:srgbClr val="FF0000"/>
                </a:solidFill>
              </a:rPr>
              <a:t>2</a:t>
            </a:r>
            <a:r>
              <a:rPr lang="en-IN" sz="2400" dirty="0"/>
              <a:t> * </a:t>
            </a:r>
            <a:r>
              <a:rPr lang="en-IN" sz="2400" dirty="0">
                <a:solidFill>
                  <a:srgbClr val="FF0000"/>
                </a:solidFill>
              </a:rPr>
              <a:t>2</a:t>
            </a:r>
            <a:r>
              <a:rPr lang="en-IN" sz="2400" dirty="0"/>
              <a:t> mod 7 = 4 mod 7 = </a:t>
            </a:r>
            <a:r>
              <a:rPr lang="en-IN" sz="2400" dirty="0">
                <a:solidFill>
                  <a:srgbClr val="FF0000"/>
                </a:solidFill>
              </a:rPr>
              <a:t>4</a:t>
            </a:r>
          </a:p>
          <a:p>
            <a:pPr>
              <a:buNone/>
            </a:pPr>
            <a:r>
              <a:rPr lang="en-IN" sz="2400" dirty="0"/>
              <a:t>    3</a:t>
            </a:r>
            <a:r>
              <a:rPr lang="en-IN" sz="2400" baseline="30000" dirty="0"/>
              <a:t>8</a:t>
            </a:r>
            <a:r>
              <a:rPr lang="en-IN" sz="2400" dirty="0"/>
              <a:t> mod 7 = 3</a:t>
            </a:r>
            <a:r>
              <a:rPr lang="en-IN" sz="2400" baseline="30000" dirty="0"/>
              <a:t>4</a:t>
            </a:r>
            <a:r>
              <a:rPr lang="en-IN" sz="2400" dirty="0"/>
              <a:t> * 3</a:t>
            </a:r>
            <a:r>
              <a:rPr lang="en-IN" sz="2400" baseline="30000" dirty="0"/>
              <a:t>4</a:t>
            </a:r>
            <a:r>
              <a:rPr lang="en-IN" sz="2400" dirty="0"/>
              <a:t> mod 7 = </a:t>
            </a:r>
            <a:r>
              <a:rPr lang="en-IN" sz="2400" dirty="0">
                <a:solidFill>
                  <a:srgbClr val="FF0000"/>
                </a:solidFill>
              </a:rPr>
              <a:t>4</a:t>
            </a:r>
            <a:r>
              <a:rPr lang="en-IN" sz="2400" dirty="0"/>
              <a:t> * </a:t>
            </a:r>
            <a:r>
              <a:rPr lang="en-IN" sz="2400" dirty="0">
                <a:solidFill>
                  <a:srgbClr val="FF0000"/>
                </a:solidFill>
              </a:rPr>
              <a:t>4</a:t>
            </a:r>
            <a:r>
              <a:rPr lang="en-IN" sz="2400" dirty="0"/>
              <a:t> mod 7 = 16 mod 7 = </a:t>
            </a:r>
            <a:r>
              <a:rPr lang="en-IN" sz="2400" dirty="0">
                <a:solidFill>
                  <a:srgbClr val="FF0000"/>
                </a:solidFill>
              </a:rPr>
              <a:t>2</a:t>
            </a:r>
          </a:p>
          <a:p>
            <a:pPr>
              <a:buNone/>
            </a:pPr>
            <a:r>
              <a:rPr lang="en-IN" sz="2400" dirty="0"/>
              <a:t>    3</a:t>
            </a:r>
            <a:r>
              <a:rPr lang="en-IN" sz="2400" baseline="30000" dirty="0"/>
              <a:t>16</a:t>
            </a:r>
            <a:r>
              <a:rPr lang="en-IN" sz="2400" dirty="0"/>
              <a:t> mod 7 = 3</a:t>
            </a:r>
            <a:r>
              <a:rPr lang="en-IN" sz="2400" baseline="30000" dirty="0"/>
              <a:t>8</a:t>
            </a:r>
            <a:r>
              <a:rPr lang="en-IN" sz="2400" dirty="0"/>
              <a:t> * 3</a:t>
            </a:r>
            <a:r>
              <a:rPr lang="en-IN" sz="2400" baseline="30000" dirty="0"/>
              <a:t>8</a:t>
            </a:r>
            <a:r>
              <a:rPr lang="en-IN" sz="2400" dirty="0"/>
              <a:t> mod 7 = </a:t>
            </a:r>
            <a:r>
              <a:rPr lang="en-IN" sz="2400" dirty="0">
                <a:solidFill>
                  <a:srgbClr val="FF0000"/>
                </a:solidFill>
              </a:rPr>
              <a:t>2</a:t>
            </a:r>
            <a:r>
              <a:rPr lang="en-IN" sz="2400" dirty="0"/>
              <a:t> * </a:t>
            </a:r>
            <a:r>
              <a:rPr lang="en-IN" sz="2400" dirty="0">
                <a:solidFill>
                  <a:srgbClr val="FF0000"/>
                </a:solidFill>
              </a:rPr>
              <a:t>2</a:t>
            </a:r>
            <a:r>
              <a:rPr lang="en-IN" sz="2400" dirty="0"/>
              <a:t> mod 7 = 4 mod 7 = </a:t>
            </a:r>
            <a:r>
              <a:rPr lang="en-IN" sz="2400" dirty="0">
                <a:solidFill>
                  <a:srgbClr val="FF0000"/>
                </a:solidFill>
              </a:rPr>
              <a:t>4</a:t>
            </a:r>
          </a:p>
          <a:p>
            <a:pPr>
              <a:buNone/>
            </a:pPr>
            <a:r>
              <a:rPr lang="en-IN" sz="2400" dirty="0"/>
              <a:t>    3</a:t>
            </a:r>
            <a:r>
              <a:rPr lang="en-IN" sz="2400" baseline="30000" dirty="0"/>
              <a:t>32</a:t>
            </a:r>
            <a:r>
              <a:rPr lang="en-IN" sz="2400" dirty="0"/>
              <a:t> mod 7 = 3</a:t>
            </a:r>
            <a:r>
              <a:rPr lang="en-IN" sz="2400" baseline="30000" dirty="0"/>
              <a:t>16</a:t>
            </a:r>
            <a:r>
              <a:rPr lang="en-IN" sz="2400" dirty="0"/>
              <a:t> * 3</a:t>
            </a:r>
            <a:r>
              <a:rPr lang="en-IN" sz="2400" baseline="30000" dirty="0"/>
              <a:t>16</a:t>
            </a:r>
            <a:r>
              <a:rPr lang="en-IN" sz="2400" dirty="0"/>
              <a:t> mod 7 = </a:t>
            </a:r>
            <a:r>
              <a:rPr lang="en-IN" sz="2400" dirty="0">
                <a:solidFill>
                  <a:srgbClr val="FF0000"/>
                </a:solidFill>
              </a:rPr>
              <a:t>4</a:t>
            </a:r>
            <a:r>
              <a:rPr lang="en-IN" sz="2400" dirty="0"/>
              <a:t> * </a:t>
            </a:r>
            <a:r>
              <a:rPr lang="en-IN" sz="2400" dirty="0">
                <a:solidFill>
                  <a:srgbClr val="FF0000"/>
                </a:solidFill>
              </a:rPr>
              <a:t>4</a:t>
            </a:r>
            <a:r>
              <a:rPr lang="en-IN" sz="2400" dirty="0"/>
              <a:t> mod 7 = 16 mod 7 = </a:t>
            </a:r>
            <a:r>
              <a:rPr lang="en-IN" sz="2400" dirty="0">
                <a:solidFill>
                  <a:srgbClr val="FF0000"/>
                </a:solidFill>
              </a:rPr>
              <a:t>2</a:t>
            </a:r>
          </a:p>
          <a:p>
            <a:pPr>
              <a:buNone/>
            </a:pPr>
            <a:r>
              <a:rPr lang="en-IN" sz="2400" dirty="0"/>
              <a:t>    3</a:t>
            </a:r>
            <a:r>
              <a:rPr lang="en-IN" sz="2400" baseline="30000" dirty="0"/>
              <a:t>64</a:t>
            </a:r>
            <a:r>
              <a:rPr lang="en-IN" sz="2400" dirty="0"/>
              <a:t> mod 7 = 3</a:t>
            </a:r>
            <a:r>
              <a:rPr lang="en-IN" sz="2400" baseline="30000" dirty="0"/>
              <a:t>32</a:t>
            </a:r>
            <a:r>
              <a:rPr lang="en-IN" sz="2400" dirty="0"/>
              <a:t> * 3</a:t>
            </a:r>
            <a:r>
              <a:rPr lang="en-IN" sz="2400" baseline="30000" dirty="0"/>
              <a:t>32</a:t>
            </a:r>
            <a:r>
              <a:rPr lang="en-IN" sz="2400" dirty="0"/>
              <a:t> mod 7 = </a:t>
            </a:r>
            <a:r>
              <a:rPr lang="en-IN" sz="2400" dirty="0">
                <a:solidFill>
                  <a:srgbClr val="FF0000"/>
                </a:solidFill>
              </a:rPr>
              <a:t>2</a:t>
            </a:r>
            <a:r>
              <a:rPr lang="en-IN" sz="2400" dirty="0"/>
              <a:t> * </a:t>
            </a:r>
            <a:r>
              <a:rPr lang="en-IN" sz="2400" dirty="0">
                <a:solidFill>
                  <a:srgbClr val="FF0000"/>
                </a:solidFill>
              </a:rPr>
              <a:t>2</a:t>
            </a:r>
            <a:r>
              <a:rPr lang="en-IN" sz="2400" dirty="0"/>
              <a:t> mod 7 = 4 mod 7 = </a:t>
            </a:r>
            <a:r>
              <a:rPr lang="en-IN" sz="2400" dirty="0">
                <a:solidFill>
                  <a:srgbClr val="FF0000"/>
                </a:solidFill>
              </a:rPr>
              <a:t>4</a:t>
            </a:r>
          </a:p>
          <a:p>
            <a:pPr>
              <a:buNone/>
            </a:pPr>
            <a:r>
              <a:rPr lang="en-IN" sz="2400" dirty="0"/>
              <a:t>    3</a:t>
            </a:r>
            <a:r>
              <a:rPr lang="en-IN" sz="2400" baseline="30000" dirty="0"/>
              <a:t>128</a:t>
            </a:r>
            <a:r>
              <a:rPr lang="en-IN" sz="2400" dirty="0"/>
              <a:t> mod 7 = 3</a:t>
            </a:r>
            <a:r>
              <a:rPr lang="en-IN" sz="2400" baseline="30000" dirty="0"/>
              <a:t>64</a:t>
            </a:r>
            <a:r>
              <a:rPr lang="en-IN" sz="2400" dirty="0"/>
              <a:t> * 3</a:t>
            </a:r>
            <a:r>
              <a:rPr lang="en-IN" sz="2400" baseline="30000" dirty="0"/>
              <a:t>64</a:t>
            </a:r>
            <a:r>
              <a:rPr lang="en-IN" sz="2400" dirty="0"/>
              <a:t> mod 7 = </a:t>
            </a:r>
            <a:r>
              <a:rPr lang="en-IN" sz="2400" dirty="0">
                <a:solidFill>
                  <a:srgbClr val="FF0000"/>
                </a:solidFill>
              </a:rPr>
              <a:t>4</a:t>
            </a:r>
            <a:r>
              <a:rPr lang="en-IN" sz="2400" dirty="0"/>
              <a:t> * </a:t>
            </a:r>
            <a:r>
              <a:rPr lang="en-IN" sz="2400" dirty="0">
                <a:solidFill>
                  <a:srgbClr val="FF0000"/>
                </a:solidFill>
              </a:rPr>
              <a:t>4</a:t>
            </a:r>
            <a:r>
              <a:rPr lang="en-IN" sz="2400" dirty="0"/>
              <a:t> mod 7 = 16 mod 7 = </a:t>
            </a:r>
            <a:r>
              <a:rPr lang="en-IN" sz="2400" dirty="0">
                <a:solidFill>
                  <a:srgbClr val="FF0000"/>
                </a:solidFill>
              </a:rPr>
              <a:t>2</a:t>
            </a:r>
          </a:p>
          <a:p>
            <a:pPr>
              <a:buNone/>
            </a:pPr>
            <a:r>
              <a:rPr lang="en-IN" sz="2400" dirty="0"/>
              <a:t>Thus, </a:t>
            </a:r>
            <a:r>
              <a:rPr lang="en-IN" b="1" dirty="0"/>
              <a:t>3</a:t>
            </a:r>
            <a:r>
              <a:rPr lang="en-IN" b="1" baseline="30000" dirty="0"/>
              <a:t>128</a:t>
            </a:r>
            <a:r>
              <a:rPr lang="en-IN" b="1" dirty="0"/>
              <a:t> mod 7 = 2</a:t>
            </a:r>
            <a:endParaRPr lang="en-IN" sz="2400" b="1" dirty="0"/>
          </a:p>
          <a:p>
            <a:pPr>
              <a:buNone/>
            </a:pPr>
            <a:endParaRPr lang="en-IN" sz="2400" dirty="0"/>
          </a:p>
          <a:p>
            <a:pPr>
              <a:buNone/>
            </a:pPr>
            <a:endParaRPr lang="en-IN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Fast Exponentiation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Find the binary expansion of the exponent.</a:t>
            </a:r>
          </a:p>
          <a:p>
            <a:pPr algn="just"/>
            <a:r>
              <a:rPr lang="en-IN" dirty="0"/>
              <a:t>Write the exponent as the sum of its binary terms.</a:t>
            </a:r>
          </a:p>
          <a:p>
            <a:pPr algn="just"/>
            <a:r>
              <a:rPr lang="en-IN" dirty="0"/>
              <a:t>Express the original exponentiation in terms of this sum.</a:t>
            </a:r>
          </a:p>
          <a:p>
            <a:pPr algn="just"/>
            <a:r>
              <a:rPr lang="en-IN" dirty="0"/>
              <a:t>Compute the factors reduced by the modulus.</a:t>
            </a:r>
          </a:p>
          <a:p>
            <a:pPr algn="just"/>
            <a:r>
              <a:rPr lang="en-IN" dirty="0"/>
              <a:t>Multiply together. (Reducing wherever possible).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Fast Exponentiation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lnSpcReduction="10000"/>
          </a:bodyPr>
          <a:lstStyle/>
          <a:p>
            <a:r>
              <a:rPr lang="en-IN" sz="2800" dirty="0"/>
              <a:t>3</a:t>
            </a:r>
            <a:r>
              <a:rPr lang="en-IN" sz="2800" baseline="30000" dirty="0"/>
              <a:t>133</a:t>
            </a:r>
            <a:r>
              <a:rPr lang="en-IN" sz="2800" dirty="0"/>
              <a:t> mod 7 ?</a:t>
            </a:r>
          </a:p>
          <a:p>
            <a:r>
              <a:rPr lang="en-IN" sz="2800" dirty="0"/>
              <a:t>Solution:</a:t>
            </a:r>
          </a:p>
          <a:p>
            <a:pPr>
              <a:buNone/>
            </a:pPr>
            <a:r>
              <a:rPr lang="en-IN" sz="2800" dirty="0"/>
              <a:t>   133</a:t>
            </a:r>
            <a:r>
              <a:rPr lang="en-IN" sz="2800" baseline="-25000" dirty="0"/>
              <a:t>10</a:t>
            </a:r>
            <a:r>
              <a:rPr lang="en-IN" sz="2800" dirty="0"/>
              <a:t> = 10000101</a:t>
            </a:r>
            <a:r>
              <a:rPr lang="en-IN" sz="2800" baseline="-25000" dirty="0"/>
              <a:t>2</a:t>
            </a:r>
            <a:r>
              <a:rPr lang="en-IN" sz="2800" dirty="0"/>
              <a:t> = 128 + 4 + 1</a:t>
            </a:r>
          </a:p>
          <a:p>
            <a:pPr>
              <a:buNone/>
            </a:pPr>
            <a:r>
              <a:rPr lang="en-IN" sz="2800" dirty="0"/>
              <a:t>   3</a:t>
            </a:r>
            <a:r>
              <a:rPr lang="en-IN" sz="2800" baseline="30000" dirty="0"/>
              <a:t>133  </a:t>
            </a:r>
            <a:r>
              <a:rPr lang="en-IN" sz="2800" dirty="0"/>
              <a:t>= 3</a:t>
            </a:r>
            <a:r>
              <a:rPr lang="en-IN" sz="2800" baseline="30000" dirty="0"/>
              <a:t>128 + 4 + 1  </a:t>
            </a:r>
            <a:r>
              <a:rPr lang="en-IN" sz="2800" dirty="0"/>
              <a:t>= 3</a:t>
            </a:r>
            <a:r>
              <a:rPr lang="en-IN" sz="2800" baseline="30000" dirty="0"/>
              <a:t>128 </a:t>
            </a:r>
            <a:r>
              <a:rPr lang="en-IN" sz="2800" dirty="0"/>
              <a:t>x 3</a:t>
            </a:r>
            <a:r>
              <a:rPr lang="en-IN" sz="2800" baseline="30000" dirty="0"/>
              <a:t>4  </a:t>
            </a:r>
            <a:r>
              <a:rPr lang="en-IN" sz="2800" dirty="0"/>
              <a:t>x 3</a:t>
            </a:r>
            <a:r>
              <a:rPr lang="en-IN" sz="2800" baseline="30000" dirty="0"/>
              <a:t>1</a:t>
            </a:r>
          </a:p>
          <a:p>
            <a:pPr>
              <a:buNone/>
            </a:pPr>
            <a:r>
              <a:rPr lang="en-IN" sz="2800" baseline="30000" dirty="0"/>
              <a:t> </a:t>
            </a:r>
            <a:r>
              <a:rPr lang="en-IN" sz="2800" dirty="0"/>
              <a:t>  As we know;</a:t>
            </a:r>
          </a:p>
          <a:p>
            <a:pPr>
              <a:buNone/>
            </a:pPr>
            <a:r>
              <a:rPr lang="en-IN" sz="2800" dirty="0"/>
              <a:t>   3</a:t>
            </a:r>
            <a:r>
              <a:rPr lang="en-IN" sz="2800" baseline="30000" dirty="0"/>
              <a:t>128</a:t>
            </a:r>
            <a:r>
              <a:rPr lang="en-IN" sz="2800" dirty="0"/>
              <a:t> mod 7 = 2</a:t>
            </a:r>
          </a:p>
          <a:p>
            <a:pPr>
              <a:buNone/>
            </a:pPr>
            <a:r>
              <a:rPr lang="en-IN" sz="2800" dirty="0"/>
              <a:t>   3</a:t>
            </a:r>
            <a:r>
              <a:rPr lang="en-IN" sz="2800" baseline="30000" dirty="0"/>
              <a:t>4</a:t>
            </a:r>
            <a:r>
              <a:rPr lang="en-IN" sz="2800" dirty="0"/>
              <a:t> mod 7 = 4</a:t>
            </a:r>
          </a:p>
          <a:p>
            <a:pPr>
              <a:buNone/>
            </a:pPr>
            <a:r>
              <a:rPr lang="en-IN" sz="2800" dirty="0"/>
              <a:t>Then, </a:t>
            </a:r>
          </a:p>
          <a:p>
            <a:pPr>
              <a:buNone/>
            </a:pPr>
            <a:r>
              <a:rPr lang="en-IN" sz="2800" dirty="0"/>
              <a:t>3</a:t>
            </a:r>
            <a:r>
              <a:rPr lang="en-IN" sz="2800" baseline="30000" dirty="0"/>
              <a:t>133</a:t>
            </a:r>
            <a:r>
              <a:rPr lang="en-IN" sz="2800" dirty="0"/>
              <a:t> mod 7 = 3</a:t>
            </a:r>
            <a:r>
              <a:rPr lang="en-IN" sz="2800" baseline="30000" dirty="0"/>
              <a:t>128 </a:t>
            </a:r>
            <a:r>
              <a:rPr lang="en-IN" sz="2800" dirty="0"/>
              <a:t>x 3</a:t>
            </a:r>
            <a:r>
              <a:rPr lang="en-IN" sz="2800" baseline="30000" dirty="0"/>
              <a:t>4  </a:t>
            </a:r>
            <a:r>
              <a:rPr lang="en-IN" sz="2800" dirty="0"/>
              <a:t>x 3 = 2 x 4 x 3 = 24 mod 7 = 3 Thus, </a:t>
            </a:r>
            <a:r>
              <a:rPr lang="en-IN" sz="3600" b="1" dirty="0"/>
              <a:t>3</a:t>
            </a:r>
            <a:r>
              <a:rPr lang="en-IN" sz="3600" b="1" baseline="30000" dirty="0"/>
              <a:t>133</a:t>
            </a:r>
            <a:r>
              <a:rPr lang="en-IN" sz="3600" b="1" dirty="0"/>
              <a:t> mod 7 = 3</a:t>
            </a:r>
            <a:endParaRPr lang="en-IN" sz="2800" b="1" dirty="0"/>
          </a:p>
          <a:p>
            <a:pPr>
              <a:buNone/>
            </a:pPr>
            <a:endParaRPr lang="en-IN" sz="2800" baseline="30000" dirty="0"/>
          </a:p>
          <a:p>
            <a:pPr>
              <a:buNone/>
            </a:pPr>
            <a:endParaRPr lang="en-IN" sz="2800" dirty="0"/>
          </a:p>
          <a:p>
            <a:pPr>
              <a:buNone/>
            </a:pPr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740</Words>
  <Application>Microsoft Office PowerPoint</Application>
  <PresentationFormat>On-screen Show (4:3)</PresentationFormat>
  <Paragraphs>90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Symbol</vt:lpstr>
      <vt:lpstr>Office Theme</vt:lpstr>
      <vt:lpstr>Modular Exponentiation</vt:lpstr>
      <vt:lpstr>General Method (Most important)</vt:lpstr>
      <vt:lpstr>Exercise</vt:lpstr>
      <vt:lpstr>1. Brute Force</vt:lpstr>
      <vt:lpstr>2. Factoring</vt:lpstr>
      <vt:lpstr>3. Memory Efficient</vt:lpstr>
      <vt:lpstr>4. Successive squaring</vt:lpstr>
      <vt:lpstr>5. Fast Exponentiation</vt:lpstr>
      <vt:lpstr>Fast Exponentiation -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Modular exponentiation</dc:title>
  <dc:creator>god</dc:creator>
  <cp:lastModifiedBy>Pavithra</cp:lastModifiedBy>
  <cp:revision>50</cp:revision>
  <dcterms:created xsi:type="dcterms:W3CDTF">2006-08-16T00:00:00Z</dcterms:created>
  <dcterms:modified xsi:type="dcterms:W3CDTF">2024-02-02T00:10:50Z</dcterms:modified>
</cp:coreProperties>
</file>