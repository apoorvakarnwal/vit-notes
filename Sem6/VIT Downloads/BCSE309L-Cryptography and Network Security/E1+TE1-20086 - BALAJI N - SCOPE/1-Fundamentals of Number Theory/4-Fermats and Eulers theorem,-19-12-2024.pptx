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78" r:id="rId2"/>
    <p:sldId id="309" r:id="rId3"/>
    <p:sldId id="314" r:id="rId4"/>
    <p:sldId id="279" r:id="rId5"/>
    <p:sldId id="327" r:id="rId6"/>
    <p:sldId id="310" r:id="rId7"/>
    <p:sldId id="321" r:id="rId8"/>
    <p:sldId id="311" r:id="rId9"/>
    <p:sldId id="312" r:id="rId10"/>
    <p:sldId id="313" r:id="rId11"/>
    <p:sldId id="328" r:id="rId12"/>
    <p:sldId id="315" r:id="rId13"/>
    <p:sldId id="297" r:id="rId14"/>
    <p:sldId id="298" r:id="rId15"/>
    <p:sldId id="325" r:id="rId16"/>
    <p:sldId id="299" r:id="rId17"/>
    <p:sldId id="307" r:id="rId18"/>
    <p:sldId id="326" r:id="rId19"/>
    <p:sldId id="292" r:id="rId20"/>
    <p:sldId id="293" r:id="rId21"/>
    <p:sldId id="294" r:id="rId22"/>
    <p:sldId id="319" r:id="rId23"/>
    <p:sldId id="295" r:id="rId24"/>
    <p:sldId id="320" r:id="rId25"/>
    <p:sldId id="296" r:id="rId26"/>
    <p:sldId id="329" r:id="rId27"/>
    <p:sldId id="322" r:id="rId28"/>
    <p:sldId id="323" r:id="rId29"/>
    <p:sldId id="330" r:id="rId30"/>
    <p:sldId id="324" r:id="rId31"/>
    <p:sldId id="331" r:id="rId32"/>
    <p:sldId id="332" r:id="rId3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38"/>
    <p:restoredTop sz="94354" autoAdjust="0"/>
  </p:normalViewPr>
  <p:slideViewPr>
    <p:cSldViewPr>
      <p:cViewPr varScale="1">
        <p:scale>
          <a:sx n="78" d="100"/>
          <a:sy n="78" d="100"/>
        </p:scale>
        <p:origin x="168" y="10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547DDA-61D9-5980-C195-44E31D83AE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57F945-85E5-527C-A0DD-522870EBBD1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6C6FA883-CF66-4254-BB43-12ED2DCCB14A}" type="datetimeFigureOut">
              <a:rPr lang="en-US"/>
              <a:pPr>
                <a:defRPr/>
              </a:pPr>
              <a:t>5/1/25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2A1CF95-CE5B-E9A4-31E3-2B4CD906FB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88778E8-F73B-D3DB-0E3D-4C816B423E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93BAE-12C7-D996-6DD7-1649B02EAD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0A8A9-44AE-1342-B641-2B1CF2336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829143C-8D76-4B53-9FC5-918327F4276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FCE97F66-DD79-65D2-408D-3FB3DBCBEB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7947FEBA-D91D-85C1-D10C-E9E3CFC94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43D2DA6D-4947-1E41-7932-41AA077DDA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236E173-0B81-40B6-9223-E3EC42451276}" type="slidenum">
              <a:rPr lang="en-IN" altLang="en-US" smtClean="0"/>
              <a:pPr/>
              <a:t>4</a:t>
            </a:fld>
            <a:endParaRPr lang="en-I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829143C-8D76-4B53-9FC5-918327F42761}" type="slidenum">
              <a:rPr lang="en-IN" altLang="en-US" smtClean="0"/>
              <a:pPr>
                <a:defRPr/>
              </a:pPr>
              <a:t>7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585868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A9DBA5E6-2F24-E5B4-C8A7-3656869E93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30536579-1303-CEED-2A21-0AE365E4826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IN" altLang="en-US"/>
              <a:t>10 is -1 shortage from 11 so we cant write it as -1</a:t>
            </a:r>
            <a:r>
              <a:rPr lang="en-IN" altLang="en-US" baseline="30000">
                <a:cs typeface="Droid Sans" charset="0"/>
              </a:rPr>
              <a:t>10</a:t>
            </a:r>
            <a:r>
              <a:rPr lang="en-IN" altLang="en-US">
                <a:cs typeface="Droid Sans" charset="0"/>
              </a:rPr>
              <a:t> </a:t>
            </a:r>
            <a:r>
              <a:rPr lang="en-US" altLang="en-US">
                <a:latin typeface="Symbol" panose="05050102010706020507" pitchFamily="18" charset="2"/>
                <a:cs typeface="Droid Sans" charset="0"/>
                <a:sym typeface="Symbol" panose="05050102010706020507" pitchFamily="18" charset="2"/>
              </a:rPr>
              <a:t></a:t>
            </a:r>
            <a:r>
              <a:rPr lang="en-US" altLang="en-US">
                <a:latin typeface="Symbol" panose="05050102010706020507" pitchFamily="18" charset="2"/>
                <a:cs typeface="Droid Sans" charset="0"/>
              </a:rPr>
              <a:t> 1 (</a:t>
            </a:r>
            <a:r>
              <a:rPr lang="en-US" altLang="en-US">
                <a:cs typeface="Droid Sans" charset="0"/>
              </a:rPr>
              <a:t>mod 11) and -1 to the power odd number v ll get -1 itself since -1 to the power even number </a:t>
            </a:r>
            <a:endParaRPr lang="en-IN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B708BE9A-D279-8718-3B6B-4AE5417B2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62DBF45-CF5B-411A-B787-449DA9729E66}" type="slidenum">
              <a:rPr lang="en-IN" altLang="en-US" smtClean="0"/>
              <a:pPr/>
              <a:t>28</a:t>
            </a:fld>
            <a:endParaRPr lang="en-I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D575F-5184-3E84-36BD-06A391B7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760F0-4E6F-44AC-AEFA-7AD5589EA242}" type="datetimeFigureOut">
              <a:rPr lang="en-US"/>
              <a:pPr>
                <a:defRPr/>
              </a:pPr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EAD74-C174-969E-5C3A-4587B6FE7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6005C-90CF-27F0-2C33-FBAD4DC1F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F2C8C-E107-42BB-A076-DDE27ED586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197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AAD59-3813-7CE5-3923-245CD0EFC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AECF0-F022-422D-8693-2E887431FA64}" type="datetimeFigureOut">
              <a:rPr lang="en-US"/>
              <a:pPr>
                <a:defRPr/>
              </a:pPr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FA1AD-4054-1FE6-880E-71846AF5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3C2C6-6A9A-7FB9-EC5B-2E38A35A5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CC7E2-DDAF-4560-905F-7211C9EF7F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9680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3ECDE-560B-FBA4-BA8A-5E7E0709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983B2F-18AF-4856-9F6F-1079A523EB73}" type="datetimeFigureOut">
              <a:rPr lang="en-US"/>
              <a:pPr>
                <a:defRPr/>
              </a:pPr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B24F5-E159-25BE-BAAD-1774B29FC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F6A97-93A6-FC83-8B70-5181269FD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97747-FF16-47F6-AD61-76387D14C9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097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574AD02-53B3-44EC-F850-BC416A56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976FF-78DE-4710-B1AC-58B45353B173}" type="datetimeFigureOut">
              <a:rPr lang="en-US"/>
              <a:pPr>
                <a:defRPr/>
              </a:pPr>
              <a:t>5/1/25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C5E2A09-5741-5F2C-03FE-44430ACC1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5CBB8BD-E9E4-BB9C-A5B1-0265EA0B1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DCCDB-D9BB-45EE-A21E-880F709CA5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649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12F3751-8C22-9AF5-E98E-B9C1BF5C6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977A2-197D-42DF-B57E-CEC00515884B}" type="datetimeFigureOut">
              <a:rPr lang="en-US"/>
              <a:pPr>
                <a:defRPr/>
              </a:pPr>
              <a:t>5/1/25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7D24B0-AF20-4665-1FE3-9CD49F3A3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C0EC25E-35F1-5846-8465-C089A5731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38CEA-A854-42DF-B6E9-A254676EAB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972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05EC9D9-1DF3-5ECD-C17C-C58F3ECF1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51DF4-DF4A-4AE8-BA5A-036F23F1A67E}" type="datetimeFigureOut">
              <a:rPr lang="en-US"/>
              <a:pPr>
                <a:defRPr/>
              </a:pPr>
              <a:t>5/1/25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D88EDC-E5FC-87A0-361E-1E6489869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C48623-4237-E625-BE04-7AEBAF33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C8D018-E4DE-4689-B831-4CC62B2A14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8411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C30271F-FBFC-5931-FB48-60FB84CD8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5363A-21BB-4AD7-B497-D6C4C9E8C013}" type="datetimeFigureOut">
              <a:rPr lang="en-US"/>
              <a:pPr>
                <a:defRPr/>
              </a:pPr>
              <a:t>5/1/25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6816468-CB28-0909-BA77-DD95E839C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05281C9-EA8E-F160-8016-FCE1E3231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7D115-14D9-424A-BA81-B1BE49E54A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123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91A73A1-2DEA-00A8-3AAB-3E069FEF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660379-EBFF-4CDE-A133-8ADA99743768}" type="datetimeFigureOut">
              <a:rPr lang="en-US"/>
              <a:pPr>
                <a:defRPr/>
              </a:pPr>
              <a:t>5/1/25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55D6F4-0982-C15D-AE95-DA7EC24E8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70554B9-453F-F081-BB22-8C30064C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CE12CA-9264-4647-AE17-C72E98170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25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D85AF02-785F-A206-C534-94502B41F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BE793-E644-49C2-9CFC-0A49A589E352}" type="datetimeFigureOut">
              <a:rPr lang="en-US"/>
              <a:pPr>
                <a:defRPr/>
              </a:pPr>
              <a:t>5/1/25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653F11F-1E9A-F74B-A2FB-F13D364EC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E5C2420-6373-4A67-A779-9853E7B1A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DADBCB-7C28-4AA3-B505-5FACA2BAA9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9989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802C7-75B2-BA21-6CCE-F5E004BD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28AF39-BD7B-4D97-A03A-AE9C3DB06662}" type="datetimeFigureOut">
              <a:rPr lang="en-US"/>
              <a:pPr>
                <a:defRPr/>
              </a:pPr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634A5-622B-4C9F-25C0-FDA2A7E40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D0A49-01B4-080A-64F7-32E7AD3C1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A70752-2D41-4F61-AB56-07CA2F1D5E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9333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038EA-3002-D8F7-847B-8B0B16F9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6E8559-1A6D-47E4-9CC2-AAF7DC3640DC}" type="datetimeFigureOut">
              <a:rPr lang="en-US"/>
              <a:pPr>
                <a:defRPr/>
              </a:pPr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ABC06-2742-17EB-216E-50CB9CB6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AAB78-B627-8DBA-5DD5-C74D47AD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29E15D-DEB3-4CEB-B370-8A9AC60A26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3215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A2662A6-1670-78F3-6015-DDE87BC53FA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ACF2786-F215-DCCB-F7A6-3896EAFC89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8DDF1-4E44-7052-C19E-76E92FBF4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FF3EF2-7F77-4C6C-B409-5F7D3287AA5A}" type="datetimeFigureOut">
              <a:rPr lang="en-US"/>
              <a:pPr>
                <a:defRPr/>
              </a:pPr>
              <a:t>5/1/25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1C20E-3A69-C5D6-FFDB-7E03C6303B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F3A55-FA0F-E428-1169-B81A854F7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E2562F5-44E8-4FB7-9509-93A7539F6A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ontent Placeholder 2">
            <a:extLst>
              <a:ext uri="{FF2B5EF4-FFF2-40B4-BE49-F238E27FC236}">
                <a16:creationId xmlns:a16="http://schemas.microsoft.com/office/drawing/2014/main" id="{6F71F4BD-1938-9809-3FF6-64D4631F1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Arial" panose="020B0604020202020204" pitchFamily="34" charset="0"/>
              <a:buNone/>
            </a:pPr>
            <a:r>
              <a:rPr lang="en-US" altLang="en-US" sz="4000" b="1">
                <a:solidFill>
                  <a:srgbClr val="7030A0"/>
                </a:solidFill>
              </a:rPr>
              <a:t>Primality Testing</a:t>
            </a:r>
          </a:p>
          <a:p>
            <a:pPr algn="ctr">
              <a:buFont typeface="Arial" panose="020B0604020202020204" pitchFamily="34" charset="0"/>
              <a:buNone/>
            </a:pPr>
            <a:endParaRPr lang="en-US" altLang="en-US" sz="4000" b="1">
              <a:solidFill>
                <a:srgbClr val="7030A0"/>
              </a:solidFill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en-US" altLang="en-US" b="1">
                <a:solidFill>
                  <a:srgbClr val="FF0000"/>
                </a:solidFill>
              </a:rPr>
              <a:t>Fermat’s Theorem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US" altLang="en-US" b="1">
                <a:solidFill>
                  <a:srgbClr val="FF0000"/>
                </a:solidFill>
              </a:rPr>
              <a:t>&amp;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US" altLang="en-US" b="1">
                <a:solidFill>
                  <a:srgbClr val="FF0000"/>
                </a:solidFill>
              </a:rPr>
              <a:t>Euler’s Theorem</a:t>
            </a:r>
            <a:endParaRPr lang="en-US" altLang="en-US">
              <a:solidFill>
                <a:srgbClr val="FF0000"/>
              </a:solidFill>
            </a:endParaRPr>
          </a:p>
          <a:p>
            <a:pPr algn="ctr">
              <a:buFont typeface="Arial" panose="020B0604020202020204" pitchFamily="34" charset="0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F17F29BE-5164-6156-F5D7-5BAB0066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Primality Testing 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AFD46CF3-E005-8DB2-113E-A23655499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 sz="3600"/>
              <a:t>It is an algorithm for determining whether the given input is prime or not.</a:t>
            </a:r>
          </a:p>
          <a:p>
            <a:pPr algn="just"/>
            <a:r>
              <a:rPr lang="en-IN" altLang="en-US" sz="3600" b="1"/>
              <a:t>Algorithm: </a:t>
            </a:r>
          </a:p>
          <a:p>
            <a:pPr lvl="1" algn="just"/>
            <a:r>
              <a:rPr lang="en-IN" altLang="en-US" sz="3200"/>
              <a:t>Fermat’s Theorem</a:t>
            </a:r>
          </a:p>
          <a:p>
            <a:pPr lvl="1" algn="just"/>
            <a:r>
              <a:rPr lang="en-IN" altLang="en-US" sz="3200"/>
              <a:t>Euler’s Theorem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F3DE08CE-C427-45F4-058C-7FC764188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95600"/>
            <a:ext cx="8229600" cy="1143000"/>
          </a:xfrm>
        </p:spPr>
        <p:txBody>
          <a:bodyPr/>
          <a:lstStyle/>
          <a:p>
            <a:r>
              <a:rPr lang="en-US" altLang="en-US" sz="6000" b="1">
                <a:solidFill>
                  <a:srgbClr val="7030A0"/>
                </a:solidFill>
              </a:rPr>
              <a:t>Fermat’s Theorem </a:t>
            </a:r>
            <a:br>
              <a:rPr lang="en-US" altLang="en-US" sz="6000" b="1">
                <a:solidFill>
                  <a:srgbClr val="7030A0"/>
                </a:solidFill>
              </a:rPr>
            </a:br>
            <a:endParaRPr lang="en-IN" altLang="en-US"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58C03D19-D3E2-D5DA-EB34-77377DAD8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 altLang="en-US" sz="3200" b="1">
                <a:solidFill>
                  <a:srgbClr val="7030A0"/>
                </a:solidFill>
              </a:rPr>
              <a:t>Fermat’s Theorem </a:t>
            </a:r>
            <a:br>
              <a:rPr lang="en-US" altLang="en-US" sz="3200" b="1">
                <a:solidFill>
                  <a:srgbClr val="7030A0"/>
                </a:solidFill>
              </a:rPr>
            </a:br>
            <a:r>
              <a:rPr lang="en-US" altLang="en-US" sz="3200" b="1">
                <a:solidFill>
                  <a:srgbClr val="7030A0"/>
                </a:solidFill>
              </a:rPr>
              <a:t>(Fermat’s Primality Test)</a:t>
            </a:r>
            <a:endParaRPr lang="en-US" altLang="en-US" sz="3200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1D7A706E-DF79-5E29-8833-E353E5740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84263"/>
            <a:ext cx="8229600" cy="5773737"/>
          </a:xfrm>
        </p:spPr>
        <p:txBody>
          <a:bodyPr/>
          <a:lstStyle/>
          <a:p>
            <a:pPr marL="0" indent="0" algn="just">
              <a:buFont typeface="Arial" charset="0"/>
              <a:buChar char="•"/>
              <a:defRPr/>
            </a:pPr>
            <a:r>
              <a:rPr lang="en-US" altLang="en-US" sz="2400" dirty="0"/>
              <a:t> It</a:t>
            </a:r>
            <a:r>
              <a:rPr lang="en-US" altLang="en-US" sz="2400" b="1" dirty="0"/>
              <a:t> </a:t>
            </a:r>
            <a:r>
              <a:rPr lang="en-IN" sz="2400" dirty="0"/>
              <a:t>is a probabilistic test to determine whether a number is a probable prime.</a:t>
            </a:r>
            <a:endParaRPr lang="en-US" altLang="en-US" sz="2400" b="1" dirty="0"/>
          </a:p>
          <a:p>
            <a:pPr marL="0" indent="0" algn="just">
              <a:buFont typeface="Arial" charset="0"/>
              <a:buChar char="•"/>
              <a:defRPr/>
            </a:pPr>
            <a:r>
              <a:rPr lang="en-US" sz="2400" dirty="0"/>
              <a:t> It states that, </a:t>
            </a:r>
            <a:r>
              <a:rPr lang="en-US" sz="2400" dirty="0" err="1"/>
              <a:t>i</a:t>
            </a:r>
            <a:r>
              <a:rPr lang="en-IN" sz="2400" dirty="0"/>
              <a:t>f ‘n’ is a prime number, then for every ‘a’, 1 &lt; a &lt;= n-1, then</a:t>
            </a:r>
          </a:p>
          <a:p>
            <a:pPr marL="0" indent="0" algn="ctr">
              <a:buFont typeface="Arial" charset="0"/>
              <a:buNone/>
              <a:defRPr/>
            </a:pPr>
            <a:r>
              <a:rPr lang="en-IN" sz="2400" b="1" dirty="0"/>
              <a:t>a</a:t>
            </a:r>
            <a:r>
              <a:rPr lang="en-IN" sz="2400" b="1" baseline="30000" dirty="0"/>
              <a:t>n-1  </a:t>
            </a:r>
            <a:r>
              <a:rPr lang="en-IN" sz="2400" b="1" dirty="0">
                <a:sym typeface="Symbol"/>
              </a:rPr>
              <a:t> </a:t>
            </a:r>
            <a:r>
              <a:rPr lang="en-IN" sz="2400" b="1" dirty="0"/>
              <a:t>1 (mod n)</a:t>
            </a:r>
          </a:p>
          <a:p>
            <a:pPr marL="0" indent="0" algn="ctr">
              <a:buFont typeface="Arial" charset="0"/>
              <a:buNone/>
              <a:defRPr/>
            </a:pPr>
            <a:r>
              <a:rPr lang="en-IN" sz="2400" dirty="0"/>
              <a:t>(or)</a:t>
            </a:r>
          </a:p>
          <a:p>
            <a:pPr marL="0" indent="0" algn="ctr">
              <a:buFont typeface="Arial" charset="0"/>
              <a:buNone/>
              <a:defRPr/>
            </a:pPr>
            <a:r>
              <a:rPr lang="en-IN" sz="2400" b="1" dirty="0"/>
              <a:t>a</a:t>
            </a:r>
            <a:r>
              <a:rPr lang="en-IN" sz="2400" b="1" baseline="30000" dirty="0"/>
              <a:t>n</a:t>
            </a:r>
            <a:r>
              <a:rPr lang="en-IN" sz="2400" b="1" dirty="0"/>
              <a:t> / a </a:t>
            </a:r>
            <a:r>
              <a:rPr lang="en-IN" sz="2400" b="1" dirty="0">
                <a:sym typeface="Symbol"/>
              </a:rPr>
              <a:t></a:t>
            </a:r>
            <a:r>
              <a:rPr lang="en-IN" sz="2400" b="1" dirty="0"/>
              <a:t> 1 (mod n)</a:t>
            </a:r>
          </a:p>
          <a:p>
            <a:pPr marL="0" indent="0" algn="ctr">
              <a:buFont typeface="Symbol" pitchFamily="16" charset="2"/>
              <a:buChar char="Þ"/>
              <a:defRPr/>
            </a:pPr>
            <a:r>
              <a:rPr lang="en-IN" sz="2400" b="1" dirty="0"/>
              <a:t>a</a:t>
            </a:r>
            <a:r>
              <a:rPr lang="en-IN" sz="2400" b="1" baseline="30000" dirty="0"/>
              <a:t>n</a:t>
            </a:r>
            <a:r>
              <a:rPr lang="en-IN" sz="2400" b="1" dirty="0"/>
              <a:t>  </a:t>
            </a:r>
            <a:r>
              <a:rPr lang="en-IN" sz="2400" b="1" dirty="0">
                <a:sym typeface="Symbol"/>
              </a:rPr>
              <a:t></a:t>
            </a:r>
            <a:r>
              <a:rPr lang="en-IN" sz="2400" b="1" dirty="0"/>
              <a:t> a (mod n)</a:t>
            </a:r>
          </a:p>
          <a:p>
            <a:pPr algn="just">
              <a:buFont typeface="Arial" charset="0"/>
              <a:buChar char="•"/>
              <a:defRPr/>
            </a:pPr>
            <a:r>
              <a:rPr lang="en-IN" altLang="en-US" sz="2400" dirty="0"/>
              <a:t>If </a:t>
            </a:r>
            <a:r>
              <a:rPr lang="en-IN" sz="2400" dirty="0"/>
              <a:t>a</a:t>
            </a:r>
            <a:r>
              <a:rPr lang="en-IN" sz="2400" baseline="30000" dirty="0"/>
              <a:t>n-1 </a:t>
            </a:r>
            <a:r>
              <a:rPr lang="en-IN" sz="2400" dirty="0">
                <a:sym typeface="Symbol"/>
              </a:rPr>
              <a:t></a:t>
            </a:r>
            <a:r>
              <a:rPr lang="en-IN" sz="2400" dirty="0"/>
              <a:t>1(mod n), then we declare ‘n’ is the probable prime number.</a:t>
            </a:r>
          </a:p>
          <a:p>
            <a:pPr algn="just">
              <a:buFont typeface="Arial" charset="0"/>
              <a:buChar char="•"/>
              <a:defRPr/>
            </a:pPr>
            <a:r>
              <a:rPr lang="en-IN" altLang="en-US" sz="2400" dirty="0"/>
              <a:t>If </a:t>
            </a:r>
            <a:r>
              <a:rPr lang="en-IN" sz="2400" dirty="0"/>
              <a:t>a</a:t>
            </a:r>
            <a:r>
              <a:rPr lang="en-IN" sz="2400" baseline="30000" dirty="0"/>
              <a:t>n-1 </a:t>
            </a:r>
            <a:r>
              <a:rPr lang="en-IN" sz="2400" dirty="0">
                <a:sym typeface="Symbol"/>
              </a:rPr>
              <a:t></a:t>
            </a:r>
            <a:r>
              <a:rPr lang="en-IN" sz="2400" dirty="0"/>
              <a:t>1(mod n), then we declare ‘n’ is the composite number.</a:t>
            </a:r>
          </a:p>
          <a:p>
            <a:pPr algn="just">
              <a:buFont typeface="Arial" charset="0"/>
              <a:buChar char="•"/>
              <a:defRPr/>
            </a:pPr>
            <a:r>
              <a:rPr lang="en-IN" sz="2400" dirty="0"/>
              <a:t>A number may pass the Fermat’s test but not a prime, then the number is a Carmichael number.</a:t>
            </a:r>
            <a:endParaRPr lang="en-US" altLang="en-US" sz="2400" b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756845-F7C3-FB48-2463-359B6C9A9768}"/>
              </a:ext>
            </a:extLst>
          </p:cNvPr>
          <p:cNvCxnSpPr/>
          <p:nvPr/>
        </p:nvCxnSpPr>
        <p:spPr>
          <a:xfrm>
            <a:off x="10058400" y="4953000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1D0C5-AA97-B5AF-9031-9D87F259285C}"/>
              </a:ext>
            </a:extLst>
          </p:cNvPr>
          <p:cNvCxnSpPr>
            <a:cxnSpLocks/>
          </p:cNvCxnSpPr>
          <p:nvPr/>
        </p:nvCxnSpPr>
        <p:spPr>
          <a:xfrm flipH="1">
            <a:off x="1981200" y="5345113"/>
            <a:ext cx="76200" cy="255587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4">
            <a:extLst>
              <a:ext uri="{FF2B5EF4-FFF2-40B4-BE49-F238E27FC236}">
                <a16:creationId xmlns:a16="http://schemas.microsoft.com/office/drawing/2014/main" id="{A39EA4FB-A84A-5B1B-5812-EE31223A0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381000"/>
            <a:ext cx="845820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ABF63DD0-623A-964D-6593-9D532A51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Example - 1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CF5D5FAD-BDDD-D5A2-8CE8-B6E8ACA50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algn="just"/>
            <a:r>
              <a:rPr lang="en-IN" altLang="en-US" sz="2800" dirty="0"/>
              <a:t>Is 5 prime?</a:t>
            </a:r>
          </a:p>
          <a:p>
            <a:pPr algn="just"/>
            <a:r>
              <a:rPr lang="en-IN" altLang="en-US" sz="2800" b="1" u="sng" dirty="0"/>
              <a:t>Solution: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IN" altLang="en-US" sz="2400" dirty="0"/>
              <a:t>Check a</a:t>
            </a:r>
            <a:r>
              <a:rPr lang="en-IN" altLang="en-US" sz="2400" baseline="30000" dirty="0"/>
              <a:t>n-1 </a:t>
            </a:r>
            <a:r>
              <a:rPr lang="en-IN" altLang="en-US" sz="2400" dirty="0">
                <a:sym typeface="Symbol" panose="05050102010706020507" pitchFamily="18" charset="2"/>
              </a:rPr>
              <a:t></a:t>
            </a:r>
            <a:r>
              <a:rPr lang="en-IN" altLang="en-US" sz="2400" dirty="0"/>
              <a:t>1(mod n) [or] a</a:t>
            </a:r>
            <a:r>
              <a:rPr lang="en-IN" altLang="en-US" sz="2400" baseline="30000" dirty="0"/>
              <a:t>n-1  </a:t>
            </a:r>
            <a:r>
              <a:rPr lang="en-IN" altLang="en-US" sz="2400" dirty="0"/>
              <a:t>%  n = 1 for every ‘a’, 1 &lt; a &lt;= n-1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IN" altLang="en-US" sz="2400" dirty="0"/>
              <a:t>Given n = 5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IN" altLang="en-US" sz="2400" dirty="0"/>
              <a:t>pick 1 &lt; </a:t>
            </a:r>
            <a:r>
              <a:rPr lang="en-IN" altLang="en-US" sz="2400" i="1" dirty="0"/>
              <a:t>a</a:t>
            </a:r>
            <a:r>
              <a:rPr lang="en-IN" altLang="en-US" sz="2400" dirty="0"/>
              <a:t> &lt; 4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IN" altLang="en-US" sz="2400" dirty="0"/>
              <a:t>2</a:t>
            </a:r>
            <a:r>
              <a:rPr lang="en-IN" altLang="en-US" sz="2400" baseline="30000" dirty="0"/>
              <a:t>4</a:t>
            </a:r>
            <a:r>
              <a:rPr lang="en-IN" altLang="en-US" sz="2400" dirty="0"/>
              <a:t> ≡ 1 (mod 5) [or]  2</a:t>
            </a:r>
            <a:r>
              <a:rPr lang="en-IN" altLang="en-US" sz="2400" baseline="30000" dirty="0"/>
              <a:t>4 </a:t>
            </a:r>
            <a:r>
              <a:rPr lang="en-IN" altLang="en-US" sz="2400" dirty="0"/>
              <a:t>% 5 = 1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IN" altLang="en-US" sz="2400" dirty="0"/>
              <a:t>3</a:t>
            </a:r>
            <a:r>
              <a:rPr lang="en-IN" altLang="en-US" sz="2400" baseline="30000" dirty="0"/>
              <a:t>4</a:t>
            </a:r>
            <a:r>
              <a:rPr lang="en-IN" altLang="en-US" sz="2400" dirty="0"/>
              <a:t> ≡ 1 (mod 5) [or]  3</a:t>
            </a:r>
            <a:r>
              <a:rPr lang="en-IN" altLang="en-US" sz="2400" baseline="30000" dirty="0"/>
              <a:t>4 </a:t>
            </a:r>
            <a:r>
              <a:rPr lang="en-IN" altLang="en-US" sz="2400" dirty="0"/>
              <a:t>% 5 = 1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IN" altLang="en-US" sz="2400" dirty="0"/>
              <a:t>4</a:t>
            </a:r>
            <a:r>
              <a:rPr lang="en-IN" altLang="en-US" sz="2400" baseline="30000" dirty="0"/>
              <a:t>4</a:t>
            </a:r>
            <a:r>
              <a:rPr lang="en-IN" altLang="en-US" sz="2400" dirty="0"/>
              <a:t> ≡ 1 (mod 5) [or]  4</a:t>
            </a:r>
            <a:r>
              <a:rPr lang="en-IN" altLang="en-US" sz="2400" baseline="30000" dirty="0"/>
              <a:t>4 </a:t>
            </a:r>
            <a:r>
              <a:rPr lang="en-IN" altLang="en-US" sz="2400" dirty="0"/>
              <a:t>% 5 = 1</a:t>
            </a:r>
          </a:p>
          <a:p>
            <a:pPr lvl="1" algn="just"/>
            <a:r>
              <a:rPr lang="en-IN" altLang="en-US" sz="2400" dirty="0"/>
              <a:t>Here the condition is always true, therefore the given number 5 is prime.</a:t>
            </a:r>
          </a:p>
          <a:p>
            <a:pPr algn="just">
              <a:buFont typeface="Arial" panose="020B0604020202020204" pitchFamily="34" charset="0"/>
              <a:buNone/>
            </a:pPr>
            <a:endParaRPr lang="en-IN" altLang="en-US" sz="2800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F719F895-539A-BE05-9239-CE457521548C}"/>
              </a:ext>
            </a:extLst>
          </p:cNvPr>
          <p:cNvSpPr/>
          <p:nvPr/>
        </p:nvSpPr>
        <p:spPr>
          <a:xfrm>
            <a:off x="4800600" y="3886200"/>
            <a:ext cx="533400" cy="1524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/>
          </a:p>
        </p:txBody>
      </p:sp>
      <p:sp>
        <p:nvSpPr>
          <p:cNvPr id="9221" name="TextBox 6">
            <a:extLst>
              <a:ext uri="{FF2B5EF4-FFF2-40B4-BE49-F238E27FC236}">
                <a16:creationId xmlns:a16="http://schemas.microsoft.com/office/drawing/2014/main" id="{40EE2E2C-15A6-BC73-C36D-B6E662EC2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495800"/>
            <a:ext cx="2330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True for all the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D01131F9-5555-9832-1A48-697CA8EE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Algorithm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DC1B6EA1-9031-BD8D-3E4E-68EE074DD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pPr algn="just"/>
            <a:r>
              <a:rPr lang="en-IN" altLang="en-US" sz="2400" b="1" dirty="0"/>
              <a:t>Inputs</a:t>
            </a:r>
            <a:r>
              <a:rPr lang="en-IN" altLang="en-US" sz="2400" dirty="0"/>
              <a:t>: </a:t>
            </a:r>
            <a:r>
              <a:rPr lang="en-IN" altLang="en-US" sz="2400" i="1" dirty="0"/>
              <a:t>n - </a:t>
            </a:r>
            <a:r>
              <a:rPr lang="en-IN" altLang="en-US" sz="2400" dirty="0"/>
              <a:t>a value to test for primality where n&gt;3; 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IN" altLang="en-US" sz="2400" i="1" dirty="0"/>
              <a:t>                  k -</a:t>
            </a:r>
            <a:r>
              <a:rPr lang="en-IN" altLang="en-US" sz="2400" dirty="0"/>
              <a:t> a parameter that determines the number of times to test for primality.</a:t>
            </a:r>
          </a:p>
          <a:p>
            <a:pPr algn="just"/>
            <a:r>
              <a:rPr lang="en-IN" altLang="en-US" sz="2400" b="1" dirty="0"/>
              <a:t>Output</a:t>
            </a:r>
            <a:r>
              <a:rPr lang="en-IN" altLang="en-US" sz="2400" dirty="0"/>
              <a:t>: </a:t>
            </a:r>
            <a:r>
              <a:rPr lang="en-IN" altLang="en-US" sz="2400" i="1" dirty="0"/>
              <a:t>composite</a:t>
            </a:r>
            <a:r>
              <a:rPr lang="en-IN" altLang="en-US" sz="2400" dirty="0"/>
              <a:t> if ’</a:t>
            </a:r>
            <a:r>
              <a:rPr lang="en-IN" altLang="en-US" sz="2400" i="1" dirty="0"/>
              <a:t>n’</a:t>
            </a:r>
            <a:r>
              <a:rPr lang="en-IN" altLang="en-US" sz="2400" dirty="0"/>
              <a:t> is composite, otherwise </a:t>
            </a:r>
            <a:r>
              <a:rPr lang="en-IN" altLang="en-US" sz="2400" i="1" dirty="0"/>
              <a:t>probably prime.</a:t>
            </a:r>
          </a:p>
          <a:p>
            <a:pPr algn="just"/>
            <a:r>
              <a:rPr lang="en-IN" altLang="en-US" sz="2400" dirty="0"/>
              <a:t>Repeat </a:t>
            </a:r>
            <a:r>
              <a:rPr lang="en-IN" altLang="en-US" sz="2400" i="1" dirty="0"/>
              <a:t>k</a:t>
            </a:r>
            <a:r>
              <a:rPr lang="en-IN" altLang="en-US" sz="2400" dirty="0"/>
              <a:t> times: </a:t>
            </a:r>
          </a:p>
          <a:p>
            <a:pPr lvl="1" algn="just"/>
            <a:r>
              <a:rPr lang="en-IN" altLang="en-US" sz="2000" dirty="0"/>
              <a:t>Step 1: Pick ’</a:t>
            </a:r>
            <a:r>
              <a:rPr lang="en-IN" altLang="en-US" sz="2000" i="1" dirty="0"/>
              <a:t>a’</a:t>
            </a:r>
            <a:r>
              <a:rPr lang="en-IN" altLang="en-US" sz="2000" dirty="0"/>
              <a:t> randomly in the range [2, </a:t>
            </a:r>
            <a:r>
              <a:rPr lang="en-IN" altLang="en-US" sz="2000" i="1" dirty="0"/>
              <a:t>n</a:t>
            </a:r>
            <a:r>
              <a:rPr lang="en-IN" altLang="en-US" sz="2000" dirty="0"/>
              <a:t> − 2]</a:t>
            </a:r>
          </a:p>
          <a:p>
            <a:pPr lvl="1" algn="just"/>
            <a:r>
              <a:rPr lang="en-IN" altLang="en-US" sz="2000" dirty="0"/>
              <a:t>Step 2: If a</a:t>
            </a:r>
            <a:r>
              <a:rPr lang="en-IN" altLang="en-US" sz="2000" baseline="30000" dirty="0"/>
              <a:t>n-1 </a:t>
            </a:r>
            <a:r>
              <a:rPr lang="en-IN" altLang="en-US" sz="2000" dirty="0">
                <a:sym typeface="Symbol" panose="05050102010706020507" pitchFamily="18" charset="2"/>
              </a:rPr>
              <a:t></a:t>
            </a:r>
            <a:r>
              <a:rPr lang="en-IN" altLang="en-US" sz="2000" dirty="0"/>
              <a:t>1(mod n), then return </a:t>
            </a:r>
            <a:r>
              <a:rPr lang="en-IN" altLang="en-US" sz="2000" i="1" dirty="0"/>
              <a:t>composite.</a:t>
            </a:r>
          </a:p>
          <a:p>
            <a:pPr lvl="1" algn="just"/>
            <a:r>
              <a:rPr lang="en-IN" altLang="en-US" sz="2000" dirty="0"/>
              <a:t>Step 3: If composite is never returned then return </a:t>
            </a:r>
            <a:r>
              <a:rPr lang="en-IN" altLang="en-US" sz="2000" i="1" dirty="0"/>
              <a:t>probably prime.</a:t>
            </a:r>
          </a:p>
          <a:p>
            <a:pPr lvl="1" algn="just">
              <a:buFont typeface="Arial" panose="020B0604020202020204" pitchFamily="34" charset="0"/>
              <a:buNone/>
            </a:pPr>
            <a:endParaRPr lang="en-IN" altLang="en-US" sz="2000" b="1" u="sng" dirty="0"/>
          </a:p>
          <a:p>
            <a:pPr lvl="1" algn="just">
              <a:buFont typeface="Arial" panose="020B0604020202020204" pitchFamily="34" charset="0"/>
              <a:buNone/>
            </a:pPr>
            <a:r>
              <a:rPr lang="en-IN" altLang="en-US" sz="2000" b="1" u="sng" dirty="0"/>
              <a:t>NOTE:</a:t>
            </a:r>
            <a:r>
              <a:rPr lang="en-IN" altLang="en-US" sz="2000" dirty="0"/>
              <a:t> The </a:t>
            </a:r>
            <a:r>
              <a:rPr lang="en-IN" altLang="en-US" sz="2000" i="1" dirty="0"/>
              <a:t>a</a:t>
            </a:r>
            <a:r>
              <a:rPr lang="en-IN" altLang="en-US" sz="2000" dirty="0"/>
              <a:t> values 1 and </a:t>
            </a:r>
            <a:r>
              <a:rPr lang="en-IN" altLang="en-US" sz="2000" i="1" dirty="0"/>
              <a:t>n</a:t>
            </a:r>
            <a:r>
              <a:rPr lang="en-IN" altLang="en-US" sz="2000" dirty="0"/>
              <a:t>-1 are not used as the equality holds for all </a:t>
            </a:r>
            <a:r>
              <a:rPr lang="en-IN" altLang="en-US" sz="2000" i="1" dirty="0"/>
              <a:t>n</a:t>
            </a:r>
            <a:r>
              <a:rPr lang="en-IN" altLang="en-US" sz="2000" dirty="0"/>
              <a:t> and all odd </a:t>
            </a:r>
            <a:r>
              <a:rPr lang="en-IN" altLang="en-US" sz="2000" i="1" dirty="0"/>
              <a:t>n</a:t>
            </a:r>
            <a:r>
              <a:rPr lang="en-IN" altLang="en-US" sz="2000" dirty="0"/>
              <a:t> respectively, hence testing them adds no value.</a:t>
            </a:r>
          </a:p>
          <a:p>
            <a:pPr algn="just"/>
            <a:endParaRPr lang="en-IN" altLang="en-US" sz="2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A59F48F-C499-3BF6-3092-13693552DDA6}"/>
              </a:ext>
            </a:extLst>
          </p:cNvPr>
          <p:cNvCxnSpPr>
            <a:cxnSpLocks/>
          </p:cNvCxnSpPr>
          <p:nvPr/>
        </p:nvCxnSpPr>
        <p:spPr>
          <a:xfrm flipV="1">
            <a:off x="2667000" y="4267200"/>
            <a:ext cx="7620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47B8F0CA-3700-0F20-41B0-495A12E3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Drawbacks of Fermat’s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6B755-0E07-551A-AABC-937053B1C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  <a:defRPr/>
            </a:pPr>
            <a:r>
              <a:rPr lang="en-IN" dirty="0"/>
              <a:t>Complex for large numbers.</a:t>
            </a:r>
          </a:p>
          <a:p>
            <a:pPr>
              <a:buFont typeface="Arial" charset="0"/>
              <a:buChar char="•"/>
              <a:defRPr/>
            </a:pPr>
            <a:r>
              <a:rPr lang="en-IN" dirty="0"/>
              <a:t>Example: is 3753 prime?</a:t>
            </a:r>
          </a:p>
        </p:txBody>
      </p:sp>
      <p:pic>
        <p:nvPicPr>
          <p:cNvPr id="11268" name="Picture 2">
            <a:extLst>
              <a:ext uri="{FF2B5EF4-FFF2-40B4-BE49-F238E27FC236}">
                <a16:creationId xmlns:a16="http://schemas.microsoft.com/office/drawing/2014/main" id="{36242F85-FB5D-2F62-B938-ADBBF451D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590800"/>
            <a:ext cx="7315200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E462E34B-2311-6437-8EC3-73A71B4A5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Drawbacks of Fermat’s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DF08E-B302-A060-D1AB-1D3633692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marL="514350" indent="-514350" algn="just">
              <a:buFont typeface="+mj-lt"/>
              <a:buAutoNum type="arabicPeriod" startAt="2"/>
              <a:defRPr/>
            </a:pPr>
            <a:r>
              <a:rPr lang="en-IN" dirty="0"/>
              <a:t>Lack of accuracy.</a:t>
            </a:r>
          </a:p>
          <a:p>
            <a:pPr algn="just">
              <a:buFont typeface="Arial" charset="0"/>
              <a:buChar char="•"/>
              <a:defRPr/>
            </a:pPr>
            <a:r>
              <a:rPr lang="en-IN" dirty="0"/>
              <a:t>Example: is 561 prime?</a:t>
            </a:r>
          </a:p>
          <a:p>
            <a:pPr lvl="1" algn="just">
              <a:buFont typeface="Arial" charset="0"/>
              <a:buChar char="–"/>
              <a:defRPr/>
            </a:pPr>
            <a:r>
              <a:rPr lang="en-IN" dirty="0"/>
              <a:t>Actual answer is 561 is a composite number and not a prime number, but Fermat’s primality test will say 561 is a prime number.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65F405F4-0C22-7ACB-FD53-551E85D4B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Exercise 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B7146A73-41B0-C97A-C8C3-D298B62E0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/>
              <a:t>Find whether 11 is prime using Fermat’s theorem.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>
            <a:extLst>
              <a:ext uri="{FF2B5EF4-FFF2-40B4-BE49-F238E27FC236}">
                <a16:creationId xmlns:a16="http://schemas.microsoft.com/office/drawing/2014/main" id="{B469C357-E477-2FBC-7E48-C09733D9A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533400"/>
            <a:ext cx="81534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E7FCA99E-B44F-8D01-3F7E-F3825B3B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67000"/>
            <a:ext cx="8229600" cy="1143000"/>
          </a:xfrm>
        </p:spPr>
        <p:txBody>
          <a:bodyPr/>
          <a:lstStyle/>
          <a:p>
            <a:r>
              <a:rPr lang="en-US" altLang="en-US" b="1">
                <a:solidFill>
                  <a:srgbClr val="7030A0"/>
                </a:solidFill>
              </a:rPr>
              <a:t>Euler’s Totient (Phi) function</a:t>
            </a:r>
            <a:endParaRPr lang="en-I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AFD24D0B-19F9-A930-B440-6EF86E5F9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7030A0"/>
                </a:solidFill>
              </a:rPr>
              <a:t>Euler’s Totient (Phi) function</a:t>
            </a:r>
            <a:endParaRPr lang="en-IN" altLang="en-US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44257A9B-4D45-710A-D33D-8E6BD3CDF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/>
              <a:t>Denoted as </a:t>
            </a:r>
            <a:r>
              <a:rPr lang="en-IN" altLang="en-US">
                <a:sym typeface="Symbol" panose="05050102010706020507" pitchFamily="18" charset="2"/>
              </a:rPr>
              <a:t>(n).</a:t>
            </a:r>
          </a:p>
          <a:p>
            <a:pPr algn="just"/>
            <a:r>
              <a:rPr lang="en-IN" altLang="en-US">
                <a:sym typeface="Symbol" panose="05050102010706020507" pitchFamily="18" charset="2"/>
              </a:rPr>
              <a:t>(n) = Number of positive integers less than ‘n’ that are relatively prime to ‘n’ .</a:t>
            </a:r>
          </a:p>
          <a:p>
            <a:pPr algn="just"/>
            <a:r>
              <a:rPr lang="en-IN" altLang="en-US">
                <a:latin typeface="Arial" panose="020B0604020202020204" pitchFamily="34" charset="0"/>
                <a:cs typeface="Droid Sans" charset="0"/>
              </a:rPr>
              <a:t>Counts the number of integers from 1 and up to n-1 which are co-prime to n.</a:t>
            </a:r>
          </a:p>
          <a:p>
            <a:pPr algn="just"/>
            <a:r>
              <a:rPr lang="en-IN" altLang="en-US" u="sng">
                <a:latin typeface="Arial" panose="020B0604020202020204" pitchFamily="34" charset="0"/>
              </a:rPr>
              <a:t>NOTE</a:t>
            </a:r>
            <a:r>
              <a:rPr lang="en-IN" altLang="en-US">
                <a:latin typeface="Arial" panose="020B0604020202020204" pitchFamily="34" charset="0"/>
              </a:rPr>
              <a:t>: x and y are co-prime if GCD(x,y)=1</a:t>
            </a:r>
            <a:endParaRPr lang="en-I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4619187-8ED5-E060-6B63-39D1B68A5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Example - 1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C902E435-00E9-2A03-B391-D377EF236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Find </a:t>
            </a:r>
            <a:r>
              <a:rPr lang="en-IN" altLang="en-US">
                <a:sym typeface="Symbol" panose="05050102010706020507" pitchFamily="18" charset="2"/>
              </a:rPr>
              <a:t>(5).</a:t>
            </a:r>
            <a:endParaRPr lang="en-IN" altLang="en-US"/>
          </a:p>
        </p:txBody>
      </p:sp>
      <p:pic>
        <p:nvPicPr>
          <p:cNvPr id="17412" name="Picture 5">
            <a:extLst>
              <a:ext uri="{FF2B5EF4-FFF2-40B4-BE49-F238E27FC236}">
                <a16:creationId xmlns:a16="http://schemas.microsoft.com/office/drawing/2014/main" id="{421B7A28-A74F-CF28-7835-9C1BCC353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209800"/>
            <a:ext cx="44196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C462E98A-7361-EEFA-DB1E-95A9A510A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Example - 2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0FEEEC9F-8EAB-1B52-A1DC-B7335B08A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Find </a:t>
            </a:r>
            <a:r>
              <a:rPr lang="en-IN" altLang="en-US">
                <a:sym typeface="Symbol" panose="05050102010706020507" pitchFamily="18" charset="2"/>
              </a:rPr>
              <a:t>(8).</a:t>
            </a:r>
            <a:endParaRPr lang="en-IN" altLang="en-US"/>
          </a:p>
          <a:p>
            <a:pPr>
              <a:buFont typeface="Arial" panose="020B0604020202020204" pitchFamily="34" charset="0"/>
              <a:buNone/>
            </a:pPr>
            <a:endParaRPr lang="en-IN" altLang="en-US"/>
          </a:p>
        </p:txBody>
      </p:sp>
      <p:pic>
        <p:nvPicPr>
          <p:cNvPr id="18436" name="Picture 5">
            <a:extLst>
              <a:ext uri="{FF2B5EF4-FFF2-40B4-BE49-F238E27FC236}">
                <a16:creationId xmlns:a16="http://schemas.microsoft.com/office/drawing/2014/main" id="{21BAF18C-A460-B4C3-7E97-8483C7A51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86000"/>
            <a:ext cx="7239000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58EFD4F-51DD-663B-464F-28F0025D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Example - 3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7D53BF6E-DA13-87C5-95F5-245550471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Find </a:t>
            </a:r>
            <a:r>
              <a:rPr lang="en-IN" altLang="en-US">
                <a:sym typeface="Symbol" panose="05050102010706020507" pitchFamily="18" charset="2"/>
              </a:rPr>
              <a:t>(11).</a:t>
            </a:r>
            <a:endParaRPr lang="en-IN" altLang="en-US"/>
          </a:p>
          <a:p>
            <a:pPr>
              <a:buFont typeface="Arial" panose="020B0604020202020204" pitchFamily="34" charset="0"/>
              <a:buNone/>
            </a:pPr>
            <a:r>
              <a:rPr lang="en-IN" altLang="en-US"/>
              <a:t> </a:t>
            </a:r>
          </a:p>
        </p:txBody>
      </p:sp>
      <p:pic>
        <p:nvPicPr>
          <p:cNvPr id="19460" name="Picture 5">
            <a:extLst>
              <a:ext uri="{FF2B5EF4-FFF2-40B4-BE49-F238E27FC236}">
                <a16:creationId xmlns:a16="http://schemas.microsoft.com/office/drawing/2014/main" id="{16171748-4B03-4AD7-BD72-3F29842DA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09800"/>
            <a:ext cx="71628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C86414C-33F4-803D-A67B-5918A8814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Exercise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55D578E2-7D17-1FA6-BE21-EAD1535F4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Find </a:t>
            </a:r>
            <a:r>
              <a:rPr lang="en-IN" altLang="en-US">
                <a:sym typeface="Symbol" panose="05050102010706020507" pitchFamily="18" charset="2"/>
              </a:rPr>
              <a:t>(369) and (372).</a:t>
            </a:r>
            <a:endParaRPr lang="en-I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>
            <a:extLst>
              <a:ext uri="{FF2B5EF4-FFF2-40B4-BE49-F238E27FC236}">
                <a16:creationId xmlns:a16="http://schemas.microsoft.com/office/drawing/2014/main" id="{E9F03613-D0B8-79DD-EC22-607E4576F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838200"/>
            <a:ext cx="3706813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6">
            <a:extLst>
              <a:ext uri="{FF2B5EF4-FFF2-40B4-BE49-F238E27FC236}">
                <a16:creationId xmlns:a16="http://schemas.microsoft.com/office/drawing/2014/main" id="{85F5903B-E20F-4841-45CA-4D9E87D0D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8" y="1573213"/>
            <a:ext cx="8077200" cy="187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D7FB067D-E094-25D0-7B40-78B07D6EC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IN" altLang="en-US" sz="3600">
                <a:solidFill>
                  <a:srgbClr val="7030A0"/>
                </a:solidFill>
              </a:rPr>
              <a:t>Properties of Euler’s Totient Function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F51B7E48-D2CF-7B41-1EE9-BC40599C4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30363"/>
            <a:ext cx="8229600" cy="4525962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IN" altLang="en-US">
                <a:latin typeface="Arial" panose="020B0604020202020204" pitchFamily="34" charset="0"/>
              </a:rPr>
              <a:t>If p is a prime number, then </a:t>
            </a:r>
            <a:r>
              <a:rPr lang="el-GR" altLang="en-US">
                <a:solidFill>
                  <a:srgbClr val="558ED5"/>
                </a:solidFill>
                <a:latin typeface="Arial" panose="020B0604020202020204" pitchFamily="34" charset="0"/>
              </a:rPr>
              <a:t>Φ</a:t>
            </a:r>
            <a:r>
              <a:rPr lang="en-IN" altLang="en-US">
                <a:solidFill>
                  <a:srgbClr val="558ED5"/>
                </a:solidFill>
                <a:latin typeface="Arial" panose="020B0604020202020204" pitchFamily="34" charset="0"/>
              </a:rPr>
              <a:t>(p) = p -1</a:t>
            </a:r>
          </a:p>
          <a:p>
            <a:pPr marL="514350" indent="-514350">
              <a:buFont typeface="Arial" panose="020B0604020202020204" pitchFamily="34" charset="0"/>
              <a:buNone/>
            </a:pPr>
            <a:r>
              <a:rPr lang="en-IN" altLang="en-US">
                <a:latin typeface="Arial" panose="020B0604020202020204" pitchFamily="34" charset="0"/>
              </a:rPr>
              <a:t> Example:</a:t>
            </a:r>
          </a:p>
          <a:p>
            <a:pPr marL="514350" indent="-514350">
              <a:buFont typeface="Arial" panose="020B0604020202020204" pitchFamily="34" charset="0"/>
              <a:buNone/>
            </a:pPr>
            <a:r>
              <a:rPr lang="en-IN" altLang="en-US">
                <a:latin typeface="Arial" panose="020B0604020202020204" pitchFamily="34" charset="0"/>
                <a:cs typeface="Droid Sans" charset="0"/>
              </a:rPr>
              <a:t>      Find </a:t>
            </a:r>
            <a:r>
              <a:rPr lang="el-GR" altLang="en-US">
                <a:latin typeface="Arial" panose="020B0604020202020204" pitchFamily="34" charset="0"/>
                <a:cs typeface="Droid Sans" charset="0"/>
              </a:rPr>
              <a:t>Φ</a:t>
            </a:r>
            <a:r>
              <a:rPr lang="en-IN" altLang="en-US">
                <a:latin typeface="Arial" panose="020B0604020202020204" pitchFamily="34" charset="0"/>
                <a:cs typeface="Droid Sans" charset="0"/>
              </a:rPr>
              <a:t>(7).</a:t>
            </a:r>
          </a:p>
          <a:p>
            <a:pPr marL="514350" indent="-514350">
              <a:buFont typeface="Arial" panose="020B0604020202020204" pitchFamily="34" charset="0"/>
              <a:buNone/>
            </a:pPr>
            <a:r>
              <a:rPr lang="en-IN" altLang="en-US">
                <a:latin typeface="Arial" panose="020B0604020202020204" pitchFamily="34" charset="0"/>
                <a:cs typeface="Droid Sans" charset="0"/>
              </a:rPr>
              <a:t>   Here 7 is a prime number then</a:t>
            </a:r>
          </a:p>
          <a:p>
            <a:pPr marL="514350" indent="-514350">
              <a:buFont typeface="Arial" panose="020B0604020202020204" pitchFamily="34" charset="0"/>
              <a:buNone/>
            </a:pPr>
            <a:r>
              <a:rPr lang="en-IN" altLang="en-US">
                <a:latin typeface="Arial" panose="020B0604020202020204" pitchFamily="34" charset="0"/>
                <a:cs typeface="Droid Sans" charset="0"/>
              </a:rPr>
              <a:t>       </a:t>
            </a:r>
            <a:r>
              <a:rPr lang="el-GR" altLang="en-US">
                <a:latin typeface="Arial" panose="020B0604020202020204" pitchFamily="34" charset="0"/>
                <a:cs typeface="Droid Sans" charset="0"/>
              </a:rPr>
              <a:t>Φ</a:t>
            </a:r>
            <a:r>
              <a:rPr lang="en-IN" altLang="en-US">
                <a:latin typeface="Arial" panose="020B0604020202020204" pitchFamily="34" charset="0"/>
                <a:cs typeface="Droid Sans" charset="0"/>
              </a:rPr>
              <a:t>(7) = 7-1			</a:t>
            </a:r>
          </a:p>
          <a:p>
            <a:pPr marL="514350" indent="-514350">
              <a:buFont typeface="Arial" panose="020B0604020202020204" pitchFamily="34" charset="0"/>
              <a:buNone/>
            </a:pPr>
            <a:r>
              <a:rPr lang="en-IN" altLang="en-US">
                <a:latin typeface="Arial" panose="020B0604020202020204" pitchFamily="34" charset="0"/>
                <a:cs typeface="Droid Sans" charset="0"/>
              </a:rPr>
              <a:t>               = 6.</a:t>
            </a:r>
          </a:p>
          <a:p>
            <a:pPr marL="514350" indent="-514350">
              <a:buFont typeface="Arial" panose="020B0604020202020204" pitchFamily="34" charset="0"/>
              <a:buNone/>
            </a:pPr>
            <a:r>
              <a:rPr lang="en-IN" altLang="en-US">
                <a:latin typeface="Arial" panose="020B0604020202020204" pitchFamily="34" charset="0"/>
                <a:cs typeface="Droid Sans" charset="0"/>
              </a:rPr>
              <a:t>     </a:t>
            </a:r>
          </a:p>
          <a:p>
            <a:pPr marL="514350" indent="-514350">
              <a:buFont typeface="Arial" panose="020B0604020202020204" pitchFamily="34" charset="0"/>
              <a:buNone/>
            </a:pPr>
            <a:endParaRPr lang="en-IN" altLang="en-US">
              <a:latin typeface="Arial" panose="020B0604020202020204" pitchFamily="34" charset="0"/>
              <a:cs typeface="Droid Sans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A1DD92A8-DB35-276A-BC31-30D883976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600">
                <a:solidFill>
                  <a:srgbClr val="7030A0"/>
                </a:solidFill>
              </a:rPr>
              <a:t>Properties of Euler’s Totient Function</a:t>
            </a:r>
            <a:endParaRPr lang="en-IN" altLang="en-US" sz="3600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841AEF0E-A47E-0074-F58C-667F44050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2. If p is a prime number and k&gt;=1, then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	</a:t>
            </a:r>
            <a:r>
              <a:rPr lang="el-GR" altLang="en-US">
                <a:solidFill>
                  <a:srgbClr val="FF0000"/>
                </a:solidFill>
                <a:latin typeface="Arial" panose="020B0604020202020204" pitchFamily="34" charset="0"/>
                <a:cs typeface="Droid Sans" charset="0"/>
              </a:rPr>
              <a:t> Φ</a:t>
            </a:r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cs typeface="Droid Sans" charset="0"/>
              </a:rPr>
              <a:t>(p</a:t>
            </a:r>
            <a:r>
              <a:rPr lang="en-IN" altLang="en-US" baseline="30000">
                <a:solidFill>
                  <a:srgbClr val="FF0000"/>
                </a:solidFill>
                <a:latin typeface="Arial" panose="020B0604020202020204" pitchFamily="34" charset="0"/>
                <a:cs typeface="Droid Sans" charset="0"/>
              </a:rPr>
              <a:t>k</a:t>
            </a:r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cs typeface="Droid Sans" charset="0"/>
              </a:rPr>
              <a:t>)=p</a:t>
            </a:r>
            <a:r>
              <a:rPr lang="en-IN" altLang="en-US" baseline="30000">
                <a:solidFill>
                  <a:srgbClr val="FF0000"/>
                </a:solidFill>
                <a:latin typeface="Arial" panose="020B0604020202020204" pitchFamily="34" charset="0"/>
                <a:cs typeface="Droid Sans" charset="0"/>
              </a:rPr>
              <a:t>k</a:t>
            </a:r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cs typeface="Droid Sans" charset="0"/>
              </a:rPr>
              <a:t>-p</a:t>
            </a:r>
            <a:r>
              <a:rPr lang="en-IN" altLang="en-US" baseline="30000">
                <a:solidFill>
                  <a:srgbClr val="FF0000"/>
                </a:solidFill>
                <a:latin typeface="Arial" panose="020B0604020202020204" pitchFamily="34" charset="0"/>
                <a:cs typeface="Droid Sans" charset="0"/>
              </a:rPr>
              <a:t>k-1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>
                <a:cs typeface="Droid Sans" charset="0"/>
              </a:rPr>
              <a:t>Example: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>
                <a:cs typeface="Droid Sans" charset="0"/>
              </a:rPr>
              <a:t>Find </a:t>
            </a:r>
            <a:r>
              <a:rPr lang="el-GR" altLang="en-US">
                <a:cs typeface="Droid Sans" charset="0"/>
              </a:rPr>
              <a:t>Φ</a:t>
            </a:r>
            <a:r>
              <a:rPr lang="en-IN" altLang="en-US">
                <a:cs typeface="Droid Sans" charset="0"/>
              </a:rPr>
              <a:t>(8).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l-GR" altLang="en-US">
                <a:cs typeface="Droid Sans" charset="0"/>
              </a:rPr>
              <a:t>Φ</a:t>
            </a:r>
            <a:r>
              <a:rPr lang="en-IN" altLang="en-US">
                <a:cs typeface="Droid Sans" charset="0"/>
              </a:rPr>
              <a:t>(8) = </a:t>
            </a:r>
            <a:r>
              <a:rPr lang="el-GR" altLang="en-US">
                <a:cs typeface="Droid Sans" charset="0"/>
              </a:rPr>
              <a:t>Φ</a:t>
            </a:r>
            <a:r>
              <a:rPr lang="en-IN" altLang="en-US">
                <a:cs typeface="Droid Sans" charset="0"/>
              </a:rPr>
              <a:t>(2</a:t>
            </a:r>
            <a:r>
              <a:rPr lang="en-IN" altLang="en-US" baseline="30000">
                <a:cs typeface="Droid Sans" charset="0"/>
              </a:rPr>
              <a:t>3</a:t>
            </a:r>
            <a:r>
              <a:rPr lang="en-IN" altLang="en-US">
                <a:cs typeface="Droid Sans" charset="0"/>
              </a:rPr>
              <a:t>) = 2</a:t>
            </a:r>
            <a:r>
              <a:rPr lang="en-IN" altLang="en-US" baseline="30000">
                <a:cs typeface="Droid Sans" charset="0"/>
              </a:rPr>
              <a:t>3</a:t>
            </a:r>
            <a:r>
              <a:rPr lang="en-IN" altLang="en-US">
                <a:cs typeface="Droid Sans" charset="0"/>
              </a:rPr>
              <a:t>-2</a:t>
            </a:r>
            <a:r>
              <a:rPr lang="en-IN" altLang="en-US" baseline="30000">
                <a:cs typeface="Droid Sans" charset="0"/>
              </a:rPr>
              <a:t>3-1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baseline="30000">
                <a:solidFill>
                  <a:srgbClr val="FF0000"/>
                </a:solidFill>
                <a:cs typeface="Droid Sans" charset="0"/>
              </a:rPr>
              <a:t>	                    </a:t>
            </a:r>
            <a:r>
              <a:rPr lang="en-IN" altLang="en-US">
                <a:cs typeface="Arial" panose="020B0604020202020204" pitchFamily="34" charset="0"/>
              </a:rPr>
              <a:t>= 8 - 4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>
                <a:cs typeface="Arial" panose="020B0604020202020204" pitchFamily="34" charset="0"/>
              </a:rPr>
              <a:t>                       = 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altLang="en-US" baseline="30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E7872461-C51F-1445-8C64-CBF5C5A0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600">
                <a:solidFill>
                  <a:srgbClr val="7030A0"/>
                </a:solidFill>
              </a:rPr>
              <a:t>Properties of Euler’s Totient Function</a:t>
            </a:r>
            <a:endParaRPr lang="en-IN" altLang="en-US" sz="360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84278767-7A17-4F87-6548-A66E2DA32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3. If a and b are relatively prime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>
                <a:solidFill>
                  <a:srgbClr val="FF0000"/>
                </a:solidFill>
                <a:cs typeface="Droid Sans" charset="0"/>
              </a:rPr>
              <a:t>	</a:t>
            </a:r>
            <a:r>
              <a:rPr lang="el-GR" altLang="en-US">
                <a:solidFill>
                  <a:srgbClr val="FF0000"/>
                </a:solidFill>
                <a:cs typeface="Droid Sans" charset="0"/>
              </a:rPr>
              <a:t>Φ</a:t>
            </a:r>
            <a:r>
              <a:rPr lang="en-IN" altLang="en-US">
                <a:solidFill>
                  <a:srgbClr val="FF0000"/>
                </a:solidFill>
                <a:cs typeface="Droid Sans" charset="0"/>
              </a:rPr>
              <a:t>(ab)=</a:t>
            </a:r>
            <a:r>
              <a:rPr lang="el-GR" altLang="en-US">
                <a:solidFill>
                  <a:srgbClr val="FF0000"/>
                </a:solidFill>
                <a:cs typeface="Droid Sans" charset="0"/>
              </a:rPr>
              <a:t> Φ</a:t>
            </a:r>
            <a:r>
              <a:rPr lang="en-IN" altLang="en-US">
                <a:solidFill>
                  <a:srgbClr val="FF0000"/>
                </a:solidFill>
                <a:cs typeface="Droid Sans" charset="0"/>
              </a:rPr>
              <a:t>(a)*</a:t>
            </a:r>
            <a:r>
              <a:rPr lang="el-GR" altLang="en-US">
                <a:solidFill>
                  <a:srgbClr val="FF0000"/>
                </a:solidFill>
                <a:cs typeface="Droid Sans" charset="0"/>
              </a:rPr>
              <a:t> Φ</a:t>
            </a:r>
            <a:r>
              <a:rPr lang="en-IN" altLang="en-US">
                <a:solidFill>
                  <a:srgbClr val="FF0000"/>
                </a:solidFill>
                <a:cs typeface="Droid Sans" charset="0"/>
              </a:rPr>
              <a:t>(b)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Example: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>
                <a:cs typeface="Droid Sans" charset="0"/>
              </a:rPr>
              <a:t>Find </a:t>
            </a:r>
            <a:r>
              <a:rPr lang="el-GR" altLang="en-US">
                <a:cs typeface="Droid Sans" charset="0"/>
              </a:rPr>
              <a:t>Φ</a:t>
            </a:r>
            <a:r>
              <a:rPr lang="en-IN" altLang="en-US">
                <a:cs typeface="Droid Sans" charset="0"/>
              </a:rPr>
              <a:t>(15).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l-GR" altLang="en-US">
                <a:cs typeface="Droid Sans" charset="0"/>
              </a:rPr>
              <a:t>Φ</a:t>
            </a:r>
            <a:r>
              <a:rPr lang="en-IN" altLang="en-US">
                <a:cs typeface="Droid Sans" charset="0"/>
              </a:rPr>
              <a:t>(15)=</a:t>
            </a:r>
            <a:r>
              <a:rPr lang="el-GR" altLang="en-US">
                <a:cs typeface="Droid Sans" charset="0"/>
              </a:rPr>
              <a:t> Φ</a:t>
            </a:r>
            <a:r>
              <a:rPr lang="en-IN" altLang="en-US">
                <a:cs typeface="Droid Sans" charset="0"/>
              </a:rPr>
              <a:t>(3)*</a:t>
            </a:r>
            <a:r>
              <a:rPr lang="el-GR" altLang="en-US">
                <a:cs typeface="Droid Sans" charset="0"/>
              </a:rPr>
              <a:t> Φ</a:t>
            </a:r>
            <a:r>
              <a:rPr lang="en-IN" altLang="en-US">
                <a:cs typeface="Droid Sans" charset="0"/>
              </a:rPr>
              <a:t>(5)		</a:t>
            </a:r>
            <a:r>
              <a:rPr lang="el-GR" altLang="en-US">
                <a:cs typeface="Droid Sans" charset="0"/>
              </a:rPr>
              <a:t> </a:t>
            </a:r>
            <a:endParaRPr lang="en-IN" altLang="en-US">
              <a:cs typeface="Droid Sans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         	 = 2*4			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/>
              <a:t>	 = 8					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0183EB66-A5EE-41C8-8D1D-F187BD4B4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600">
                <a:solidFill>
                  <a:srgbClr val="7030A0"/>
                </a:solidFill>
              </a:rPr>
              <a:t>Properties of Euler’s Totient Function</a:t>
            </a:r>
            <a:endParaRPr lang="en-IN" altLang="en-US" sz="3600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D7C92096-D5F4-13F1-E7E3-DF09B4BFC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 algn="just">
              <a:buFont typeface="Arial" panose="020B0604020202020204" pitchFamily="34" charset="0"/>
              <a:buNone/>
            </a:pPr>
            <a:r>
              <a:rPr lang="en-IN" altLang="en-US"/>
              <a:t>4. If n = a x b, </a:t>
            </a:r>
          </a:p>
        </p:txBody>
      </p:sp>
      <p:pic>
        <p:nvPicPr>
          <p:cNvPr id="25604" name="Picture 3">
            <a:extLst>
              <a:ext uri="{FF2B5EF4-FFF2-40B4-BE49-F238E27FC236}">
                <a16:creationId xmlns:a16="http://schemas.microsoft.com/office/drawing/2014/main" id="{C7A3C372-2859-00F4-0D5C-57AA3D725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10000"/>
            <a:ext cx="340995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6">
            <a:extLst>
              <a:ext uri="{FF2B5EF4-FFF2-40B4-BE49-F238E27FC236}">
                <a16:creationId xmlns:a16="http://schemas.microsoft.com/office/drawing/2014/main" id="{BB2D45E5-2048-C9D4-62F2-EA5C745AD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505200"/>
            <a:ext cx="3810000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1448D3A6-6C7F-B6CF-7FA9-D349E77AB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>
                <a:solidFill>
                  <a:srgbClr val="7030A0"/>
                </a:solidFill>
              </a:rPr>
              <a:t>Exercise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F0D9B331-7B31-BE77-A895-01AF7CF49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l-GR" altLang="en-US">
                <a:cs typeface="Droid Sans" charset="0"/>
              </a:rPr>
              <a:t>Φ</a:t>
            </a:r>
            <a:r>
              <a:rPr lang="en-IN" altLang="en-US">
                <a:cs typeface="Droid Sans" charset="0"/>
              </a:rPr>
              <a:t>(20)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l-GR" altLang="en-US">
                <a:cs typeface="Droid Sans" charset="0"/>
              </a:rPr>
              <a:t>Φ</a:t>
            </a:r>
            <a:r>
              <a:rPr lang="en-IN" altLang="en-US">
                <a:cs typeface="Droid Sans" charset="0"/>
              </a:rPr>
              <a:t>(21)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l-GR" altLang="en-US">
                <a:cs typeface="Droid Sans" charset="0"/>
              </a:rPr>
              <a:t>Φ</a:t>
            </a:r>
            <a:r>
              <a:rPr lang="en-IN" altLang="en-US">
                <a:cs typeface="Droid Sans" charset="0"/>
              </a:rPr>
              <a:t>(19)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l-GR" altLang="en-US">
                <a:cs typeface="Droid Sans" charset="0"/>
              </a:rPr>
              <a:t>Φ</a:t>
            </a:r>
            <a:r>
              <a:rPr lang="en-IN" altLang="en-US">
                <a:cs typeface="Droid Sans" charset="0"/>
              </a:rPr>
              <a:t>(45)</a:t>
            </a:r>
          </a:p>
          <a:p>
            <a:pPr marL="514350" indent="-514350">
              <a:buFont typeface="Arial" panose="020B0604020202020204" pitchFamily="34" charset="0"/>
              <a:buNone/>
            </a:pPr>
            <a:r>
              <a:rPr lang="en-IN" altLang="en-US"/>
              <a:t>Ans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l-GR" altLang="en-US">
                <a:cs typeface="Droid Sans" charset="0"/>
              </a:rPr>
              <a:t>Φ</a:t>
            </a:r>
            <a:r>
              <a:rPr lang="en-IN" altLang="en-US">
                <a:cs typeface="Droid Sans" charset="0"/>
              </a:rPr>
              <a:t>(20) = 8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l-GR" altLang="en-US">
                <a:cs typeface="Droid Sans" charset="0"/>
              </a:rPr>
              <a:t>Φ</a:t>
            </a:r>
            <a:r>
              <a:rPr lang="en-IN" altLang="en-US">
                <a:cs typeface="Droid Sans" charset="0"/>
              </a:rPr>
              <a:t>(21) = 12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l-GR" altLang="en-US">
                <a:cs typeface="Droid Sans" charset="0"/>
              </a:rPr>
              <a:t>Φ</a:t>
            </a:r>
            <a:r>
              <a:rPr lang="en-IN" altLang="en-US">
                <a:cs typeface="Droid Sans" charset="0"/>
              </a:rPr>
              <a:t>(19)= 18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l-GR" altLang="en-US">
                <a:cs typeface="Droid Sans" charset="0"/>
              </a:rPr>
              <a:t>Φ</a:t>
            </a:r>
            <a:r>
              <a:rPr lang="en-IN" altLang="en-US">
                <a:cs typeface="Droid Sans" charset="0"/>
              </a:rPr>
              <a:t>(45)=24 </a:t>
            </a:r>
          </a:p>
          <a:p>
            <a:pPr marL="514350" indent="-514350">
              <a:buFont typeface="Arial" panose="020B0604020202020204" pitchFamily="34" charset="0"/>
              <a:buNone/>
            </a:pPr>
            <a:endParaRPr lang="en-IN" altLang="en-US"/>
          </a:p>
          <a:p>
            <a:pPr marL="514350" indent="-514350">
              <a:buFont typeface="Arial" panose="020B0604020202020204" pitchFamily="34" charset="0"/>
              <a:buNone/>
            </a:pPr>
            <a:endParaRPr lang="en-I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D922E5A6-DA08-B874-85D9-175F7FC6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895600"/>
            <a:ext cx="8229600" cy="1143000"/>
          </a:xfrm>
        </p:spPr>
        <p:txBody>
          <a:bodyPr/>
          <a:lstStyle/>
          <a:p>
            <a:r>
              <a:rPr lang="en-IN" altLang="en-US">
                <a:solidFill>
                  <a:srgbClr val="7030A0"/>
                </a:solidFill>
              </a:rPr>
              <a:t>Euler’s Theorem</a:t>
            </a:r>
            <a:endParaRPr lang="en-I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5EEAD62F-E291-A1CB-69FF-1D9F1C05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altLang="en-US">
                <a:solidFill>
                  <a:srgbClr val="7030A0"/>
                </a:solidFill>
              </a:rPr>
              <a:t>Euler’s Theorem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C01E283C-D3AB-8BC7-5ED0-F129DE01E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 algn="just"/>
            <a:r>
              <a:rPr lang="en-IN" altLang="en-US" sz="2800"/>
              <a:t> Euler’s theorem states that for every possible integers  </a:t>
            </a:r>
            <a:r>
              <a:rPr lang="en-IN" altLang="en-US" sz="2800">
                <a:solidFill>
                  <a:srgbClr val="FF0000"/>
                </a:solidFill>
              </a:rPr>
              <a:t>‘a’</a:t>
            </a:r>
            <a:r>
              <a:rPr lang="en-IN" altLang="en-US" sz="2800"/>
              <a:t> and </a:t>
            </a:r>
            <a:r>
              <a:rPr lang="en-IN" altLang="en-US" sz="2800">
                <a:solidFill>
                  <a:srgbClr val="FF0000"/>
                </a:solidFill>
              </a:rPr>
              <a:t>‘n’</a:t>
            </a:r>
            <a:r>
              <a:rPr lang="en-IN" altLang="en-US" sz="2800"/>
              <a:t> are said to be co-prime then,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altLang="en-US" sz="2800"/>
              <a:t>	</a:t>
            </a:r>
            <a:r>
              <a:rPr lang="en-IN" altLang="en-US" sz="2800" b="1">
                <a:solidFill>
                  <a:srgbClr val="7030A0"/>
                </a:solidFill>
              </a:rPr>
              <a:t>a</a:t>
            </a:r>
            <a:r>
              <a:rPr lang="el-GR" altLang="en-US" sz="2800" b="1">
                <a:solidFill>
                  <a:srgbClr val="7030A0"/>
                </a:solidFill>
                <a:cs typeface="Droid Sans" charset="0"/>
              </a:rPr>
              <a:t> </a:t>
            </a:r>
            <a:r>
              <a:rPr lang="el-GR" altLang="en-US" sz="2800" b="1" baseline="30000">
                <a:solidFill>
                  <a:srgbClr val="7030A0"/>
                </a:solidFill>
                <a:cs typeface="Droid Sans" charset="0"/>
              </a:rPr>
              <a:t>Φ</a:t>
            </a:r>
            <a:r>
              <a:rPr lang="en-IN" altLang="en-US" sz="2800" b="1" baseline="30000">
                <a:solidFill>
                  <a:srgbClr val="7030A0"/>
                </a:solidFill>
                <a:cs typeface="Droid Sans" charset="0"/>
              </a:rPr>
              <a:t>(n)</a:t>
            </a:r>
            <a:r>
              <a:rPr lang="en-IN" altLang="en-US" sz="2800" b="1">
                <a:solidFill>
                  <a:srgbClr val="7030A0"/>
                </a:solidFill>
                <a:cs typeface="Droid Sans" charset="0"/>
              </a:rPr>
              <a:t> </a:t>
            </a:r>
            <a:r>
              <a:rPr lang="en-US" altLang="en-US" sz="2800" b="1">
                <a:solidFill>
                  <a:srgbClr val="7030A0"/>
                </a:solidFill>
                <a:latin typeface="Symbol" panose="05050102010706020507" pitchFamily="18" charset="2"/>
                <a:cs typeface="Droid Sans" charset="0"/>
              </a:rPr>
              <a:t> 1 (</a:t>
            </a:r>
            <a:r>
              <a:rPr lang="en-US" altLang="en-US" sz="2800" b="1">
                <a:solidFill>
                  <a:srgbClr val="7030A0"/>
                </a:solidFill>
                <a:cs typeface="Droid Sans" charset="0"/>
              </a:rPr>
              <a:t>mod n )</a:t>
            </a:r>
          </a:p>
          <a:p>
            <a:pPr marL="0" indent="0" algn="just"/>
            <a:r>
              <a:rPr lang="en-US" altLang="en-US" sz="2800"/>
              <a:t> Example:  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800"/>
              <a:t>   Prove Euler’s theorem hold true for a=3 and n=10.</a:t>
            </a:r>
          </a:p>
          <a:p>
            <a:pPr marL="400050" lvl="1" indent="0" algn="just">
              <a:buFont typeface="Arial" panose="020B0604020202020204" pitchFamily="34" charset="0"/>
              <a:buNone/>
            </a:pPr>
            <a:r>
              <a:rPr lang="en-US" altLang="en-US" sz="2400"/>
              <a:t>Given a=3 and n=10</a:t>
            </a:r>
          </a:p>
          <a:p>
            <a:pPr marL="400050" lvl="1" indent="0" algn="just">
              <a:buFont typeface="Arial" panose="020B0604020202020204" pitchFamily="34" charset="0"/>
              <a:buNone/>
            </a:pPr>
            <a:r>
              <a:rPr lang="en-US" altLang="en-US" sz="2400"/>
              <a:t>Step 1. Check </a:t>
            </a:r>
            <a:r>
              <a:rPr lang="en-IN" altLang="en-US" sz="2400" b="1"/>
              <a:t>a</a:t>
            </a:r>
            <a:r>
              <a:rPr lang="el-GR" altLang="en-US" sz="2400" b="1">
                <a:cs typeface="Droid Sans" charset="0"/>
              </a:rPr>
              <a:t> </a:t>
            </a:r>
            <a:r>
              <a:rPr lang="el-GR" altLang="en-US" sz="2400" b="1" baseline="30000">
                <a:cs typeface="Droid Sans" charset="0"/>
              </a:rPr>
              <a:t>Φ</a:t>
            </a:r>
            <a:r>
              <a:rPr lang="en-IN" altLang="en-US" sz="2400" b="1" baseline="30000">
                <a:cs typeface="Droid Sans" charset="0"/>
              </a:rPr>
              <a:t>(n)</a:t>
            </a:r>
            <a:r>
              <a:rPr lang="en-IN" altLang="en-US" sz="2400" b="1">
                <a:cs typeface="Droid Sans" charset="0"/>
              </a:rPr>
              <a:t> </a:t>
            </a:r>
            <a:r>
              <a:rPr lang="en-US" altLang="en-US" sz="2400" b="1">
                <a:latin typeface="Symbol" panose="05050102010706020507" pitchFamily="18" charset="2"/>
                <a:cs typeface="Droid Sans" charset="0"/>
              </a:rPr>
              <a:t> 1 (</a:t>
            </a:r>
            <a:r>
              <a:rPr lang="en-US" altLang="en-US" sz="2400" b="1">
                <a:cs typeface="Droid Sans" charset="0"/>
              </a:rPr>
              <a:t>mod n ), </a:t>
            </a:r>
            <a:r>
              <a:rPr lang="en-US" altLang="en-US" sz="2400">
                <a:cs typeface="Droid Sans" charset="0"/>
              </a:rPr>
              <a:t>then </a:t>
            </a:r>
            <a:r>
              <a:rPr lang="en-US" altLang="en-US" sz="2400"/>
              <a:t>3</a:t>
            </a:r>
            <a:r>
              <a:rPr lang="el-GR" altLang="en-US" sz="2400" baseline="30000">
                <a:cs typeface="Droid Sans" charset="0"/>
              </a:rPr>
              <a:t>Φ</a:t>
            </a:r>
            <a:r>
              <a:rPr lang="en-IN" altLang="en-US" sz="2400" baseline="30000">
                <a:cs typeface="Droid Sans" charset="0"/>
              </a:rPr>
              <a:t>(10)</a:t>
            </a:r>
            <a:r>
              <a:rPr lang="en-US" altLang="en-US" sz="2400">
                <a:latin typeface="Symbol" panose="05050102010706020507" pitchFamily="18" charset="2"/>
                <a:cs typeface="Droid Sans" charset="0"/>
              </a:rPr>
              <a:t>  1 (</a:t>
            </a:r>
            <a:r>
              <a:rPr lang="en-US" altLang="en-US" sz="2400">
                <a:cs typeface="Droid Sans" charset="0"/>
              </a:rPr>
              <a:t>mod 10)?</a:t>
            </a:r>
          </a:p>
          <a:p>
            <a:pPr marL="400050" lvl="1" indent="0" algn="just">
              <a:buFont typeface="Arial" panose="020B0604020202020204" pitchFamily="34" charset="0"/>
              <a:buNone/>
            </a:pPr>
            <a:r>
              <a:rPr lang="en-IN" altLang="en-US" sz="2400">
                <a:cs typeface="Droid Sans" charset="0"/>
              </a:rPr>
              <a:t>Step 2. Find </a:t>
            </a:r>
            <a:r>
              <a:rPr lang="el-GR" altLang="en-US" sz="2400">
                <a:cs typeface="Droid Sans" charset="0"/>
              </a:rPr>
              <a:t>Φ</a:t>
            </a:r>
            <a:r>
              <a:rPr lang="en-IN" altLang="en-US" sz="2400">
                <a:cs typeface="Droid Sans" charset="0"/>
              </a:rPr>
              <a:t>(10) = </a:t>
            </a:r>
            <a:r>
              <a:rPr lang="el-GR" altLang="en-US" sz="2400">
                <a:cs typeface="Droid Sans" charset="0"/>
              </a:rPr>
              <a:t>Φ</a:t>
            </a:r>
            <a:r>
              <a:rPr lang="en-IN" altLang="en-US" sz="2400">
                <a:cs typeface="Droid Sans" charset="0"/>
              </a:rPr>
              <a:t>(2) * </a:t>
            </a:r>
            <a:r>
              <a:rPr lang="el-GR" altLang="en-US" sz="2400">
                <a:cs typeface="Droid Sans" charset="0"/>
              </a:rPr>
              <a:t>Φ</a:t>
            </a:r>
            <a:r>
              <a:rPr lang="en-IN" altLang="en-US" sz="2400">
                <a:cs typeface="Droid Sans" charset="0"/>
              </a:rPr>
              <a:t>(5) </a:t>
            </a:r>
            <a:r>
              <a:rPr lang="en-US" altLang="en-US" sz="2400">
                <a:cs typeface="Droid Sans" charset="0"/>
              </a:rPr>
              <a:t>= 1*4 = 4	</a:t>
            </a:r>
          </a:p>
          <a:p>
            <a:pPr marL="400050" lvl="1" indent="0" algn="just">
              <a:buFont typeface="Arial" panose="020B0604020202020204" pitchFamily="34" charset="0"/>
              <a:buNone/>
            </a:pPr>
            <a:r>
              <a:rPr lang="en-US" altLang="en-US" sz="2400">
                <a:cs typeface="Droid Sans" charset="0"/>
              </a:rPr>
              <a:t>Step 3. 3</a:t>
            </a:r>
            <a:r>
              <a:rPr lang="en-US" altLang="en-US" sz="2400" baseline="30000">
                <a:cs typeface="Droid Sans" charset="0"/>
              </a:rPr>
              <a:t>4 </a:t>
            </a:r>
            <a:r>
              <a:rPr lang="en-US" altLang="en-US" sz="2400">
                <a:cs typeface="Droid Sans" charset="0"/>
              </a:rPr>
              <a:t> </a:t>
            </a:r>
            <a:r>
              <a:rPr lang="en-US" altLang="en-US" sz="2400">
                <a:latin typeface="Symbol" panose="05050102010706020507" pitchFamily="18" charset="2"/>
                <a:cs typeface="Droid Sans" charset="0"/>
              </a:rPr>
              <a:t>  1</a:t>
            </a:r>
            <a:r>
              <a:rPr lang="en-US" altLang="en-US" sz="2400">
                <a:cs typeface="Droid Sans" charset="0"/>
              </a:rPr>
              <a:t>mod 10			 </a:t>
            </a:r>
          </a:p>
          <a:p>
            <a:pPr marL="400050" lvl="1" indent="0" algn="just">
              <a:buFont typeface="Arial" panose="020B0604020202020204" pitchFamily="34" charset="0"/>
              <a:buNone/>
            </a:pPr>
            <a:r>
              <a:rPr lang="en-US" altLang="en-US" sz="2400">
                <a:cs typeface="Droid Sans" charset="0"/>
              </a:rPr>
              <a:t>Step 4. 81  </a:t>
            </a:r>
            <a:r>
              <a:rPr lang="en-US" altLang="en-US" sz="2400">
                <a:latin typeface="Symbol" panose="05050102010706020507" pitchFamily="18" charset="2"/>
                <a:cs typeface="Droid Sans" charset="0"/>
              </a:rPr>
              <a:t> </a:t>
            </a:r>
            <a:r>
              <a:rPr lang="en-US" altLang="en-US" sz="2400">
                <a:cs typeface="Droid Sans" charset="0"/>
              </a:rPr>
              <a:t>1 mod 10	</a:t>
            </a:r>
          </a:p>
          <a:p>
            <a:pPr marL="400050" lvl="1" indent="0" algn="just">
              <a:buFont typeface="Arial" panose="020B0604020202020204" pitchFamily="34" charset="0"/>
              <a:buNone/>
            </a:pPr>
            <a:r>
              <a:rPr lang="en-US" altLang="en-US" sz="2400">
                <a:cs typeface="Droid Sans" charset="0"/>
              </a:rPr>
              <a:t>Step 5. 1 = 1 </a:t>
            </a:r>
          </a:p>
          <a:p>
            <a:pPr marL="400050" lvl="1" indent="0" algn="just">
              <a:buFont typeface="Arial" panose="020B0604020202020204" pitchFamily="34" charset="0"/>
              <a:buNone/>
            </a:pPr>
            <a:r>
              <a:rPr lang="en-US" altLang="en-US" sz="2400">
                <a:cs typeface="Droid Sans" charset="0"/>
              </a:rPr>
              <a:t>Therefore, 	</a:t>
            </a:r>
            <a:r>
              <a:rPr lang="en-US" altLang="en-US" sz="2400"/>
              <a:t>Euler’s theorem holds true for a=3 and n=10.</a:t>
            </a:r>
          </a:p>
          <a:p>
            <a:pPr marL="400050" lvl="1" indent="0" algn="just">
              <a:buFont typeface="Arial" panose="020B0604020202020204" pitchFamily="34" charset="0"/>
              <a:buNone/>
            </a:pPr>
            <a:r>
              <a:rPr lang="en-US" altLang="en-US" sz="2400">
                <a:cs typeface="Droid Sans" charset="0"/>
              </a:rPr>
              <a:t>	</a:t>
            </a:r>
            <a:endParaRPr lang="en-IN" altLang="en-US"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>
            <a:extLst>
              <a:ext uri="{FF2B5EF4-FFF2-40B4-BE49-F238E27FC236}">
                <a16:creationId xmlns:a16="http://schemas.microsoft.com/office/drawing/2014/main" id="{15F7ACE5-1DC0-15DC-C7B3-2EDF9050F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81000"/>
            <a:ext cx="8388507" cy="54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154D7DE3-3017-1859-D96F-7ADD1CE06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Example - 2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238A2D40-CFE7-E6A4-1BDF-5A96FA2F5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Does Euler’s theorem hold true for a = 2 and n = 10. </a:t>
            </a:r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id="{A594027A-B82C-27B1-7257-33E0AE8E8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667000"/>
            <a:ext cx="7400925" cy="375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FB20A487-2AB9-34B7-7430-DF2D0AC92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Example - 3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0C6C3FAB-5BCF-6AE1-886F-72F644E45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/>
              <a:t>Does Euler’s theorem hold true for a = 10 and n = 11. </a:t>
            </a:r>
          </a:p>
        </p:txBody>
      </p:sp>
      <p:pic>
        <p:nvPicPr>
          <p:cNvPr id="31748" name="Picture 2">
            <a:extLst>
              <a:ext uri="{FF2B5EF4-FFF2-40B4-BE49-F238E27FC236}">
                <a16:creationId xmlns:a16="http://schemas.microsoft.com/office/drawing/2014/main" id="{35F346D8-4D2D-2BFD-FC09-3AF0E6AA0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676525"/>
            <a:ext cx="6143625" cy="398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4">
            <a:extLst>
              <a:ext uri="{FF2B5EF4-FFF2-40B4-BE49-F238E27FC236}">
                <a16:creationId xmlns:a16="http://schemas.microsoft.com/office/drawing/2014/main" id="{2BFC8B85-FCA7-1618-F851-86324E31A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228600"/>
            <a:ext cx="8458200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5" name="Picture 6">
            <a:extLst>
              <a:ext uri="{FF2B5EF4-FFF2-40B4-BE49-F238E27FC236}">
                <a16:creationId xmlns:a16="http://schemas.microsoft.com/office/drawing/2014/main" id="{6EB7E8A1-F031-175C-C7D0-E36F21A2A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70600"/>
            <a:ext cx="83439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F3BE7CF9-7FFF-642E-A11B-6200662B6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Exercise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0B8A5AD1-567C-7603-7EB4-3E16FBA8C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/>
              <a:t>Prove Euler’s theorem does not hold for a = 11 and n = 33.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6">
            <a:extLst>
              <a:ext uri="{FF2B5EF4-FFF2-40B4-BE49-F238E27FC236}">
                <a16:creationId xmlns:a16="http://schemas.microsoft.com/office/drawing/2014/main" id="{6076B4BF-C603-BF33-745A-61EF56CC7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95338"/>
            <a:ext cx="8278813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8">
            <a:extLst>
              <a:ext uri="{FF2B5EF4-FFF2-40B4-BE49-F238E27FC236}">
                <a16:creationId xmlns:a16="http://schemas.microsoft.com/office/drawing/2014/main" id="{F8E78AB1-5186-DD12-DBBA-CF6DEC129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38" y="76200"/>
            <a:ext cx="43719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10">
            <a:extLst>
              <a:ext uri="{FF2B5EF4-FFF2-40B4-BE49-F238E27FC236}">
                <a16:creationId xmlns:a16="http://schemas.microsoft.com/office/drawing/2014/main" id="{6107B633-0647-5897-34FB-FEC7975BE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33600"/>
            <a:ext cx="835501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>
            <a:extLst>
              <a:ext uri="{FF2B5EF4-FFF2-40B4-BE49-F238E27FC236}">
                <a16:creationId xmlns:a16="http://schemas.microsoft.com/office/drawing/2014/main" id="{D0E5B554-A26B-0FF3-7539-77896CF6C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33400"/>
            <a:ext cx="8153400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7" name="Picture 4">
            <a:extLst>
              <a:ext uri="{FF2B5EF4-FFF2-40B4-BE49-F238E27FC236}">
                <a16:creationId xmlns:a16="http://schemas.microsoft.com/office/drawing/2014/main" id="{17CD4223-658C-C2DB-C6AA-99C6DE4FE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09800"/>
            <a:ext cx="8077200" cy="42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1061</Words>
  <Application>Microsoft Macintosh PowerPoint</Application>
  <PresentationFormat>On-screen Show (4:3)</PresentationFormat>
  <Paragraphs>126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Courier New</vt:lpstr>
      <vt:lpstr>Droid Sans</vt:lpstr>
      <vt:lpstr>Symbol</vt:lpstr>
      <vt:lpstr>Office Theme</vt:lpstr>
      <vt:lpstr>PowerPoint Presentation</vt:lpstr>
      <vt:lpstr>Primality Testing </vt:lpstr>
      <vt:lpstr>Fermat’s Theorem  </vt:lpstr>
      <vt:lpstr>Fermat’s Theorem  (Fermat’s Primality Test)</vt:lpstr>
      <vt:lpstr>PowerPoint Presentation</vt:lpstr>
      <vt:lpstr>Example - 1</vt:lpstr>
      <vt:lpstr>Algorithm</vt:lpstr>
      <vt:lpstr>Drawbacks of Fermat’s theorem</vt:lpstr>
      <vt:lpstr>Drawbacks of Fermat’s theorem</vt:lpstr>
      <vt:lpstr>Exercise </vt:lpstr>
      <vt:lpstr>PowerPoint Presentation</vt:lpstr>
      <vt:lpstr>Euler’s Totient (Phi) function</vt:lpstr>
      <vt:lpstr>Euler’s Totient (Phi) function</vt:lpstr>
      <vt:lpstr>Example - 1</vt:lpstr>
      <vt:lpstr>Example - 2</vt:lpstr>
      <vt:lpstr>Example - 3</vt:lpstr>
      <vt:lpstr>Exercise</vt:lpstr>
      <vt:lpstr>PowerPoint Presentation</vt:lpstr>
      <vt:lpstr>Properties of Euler’s Totient Function</vt:lpstr>
      <vt:lpstr>Properties of Euler’s Totient Function</vt:lpstr>
      <vt:lpstr>Properties of Euler’s Totient Function</vt:lpstr>
      <vt:lpstr>Properties of Euler’s Totient Function</vt:lpstr>
      <vt:lpstr>Exercise</vt:lpstr>
      <vt:lpstr>Euler’s Theorem</vt:lpstr>
      <vt:lpstr>Euler’s Theorem</vt:lpstr>
      <vt:lpstr>PowerPoint Presentation</vt:lpstr>
      <vt:lpstr>Example - 2</vt:lpstr>
      <vt:lpstr>Example - 3</vt:lpstr>
      <vt:lpstr>PowerPoint Presentation</vt:lpstr>
      <vt:lpstr>Exercise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Theory</dc:title>
  <dc:creator>ilayaraja</dc:creator>
  <cp:lastModifiedBy>Apoorva Karnwal</cp:lastModifiedBy>
  <cp:revision>259</cp:revision>
  <dcterms:created xsi:type="dcterms:W3CDTF">2022-06-22T01:46:16Z</dcterms:created>
  <dcterms:modified xsi:type="dcterms:W3CDTF">2025-05-01T18:38:19Z</dcterms:modified>
</cp:coreProperties>
</file>