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5" r:id="rId3"/>
    <p:sldId id="327" r:id="rId4"/>
    <p:sldId id="328" r:id="rId5"/>
    <p:sldId id="329" r:id="rId6"/>
    <p:sldId id="309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13" r:id="rId15"/>
    <p:sldId id="334" r:id="rId16"/>
    <p:sldId id="330" r:id="rId17"/>
    <p:sldId id="333" r:id="rId18"/>
    <p:sldId id="331" r:id="rId19"/>
    <p:sldId id="314" r:id="rId20"/>
    <p:sldId id="315" r:id="rId21"/>
    <p:sldId id="320" r:id="rId22"/>
    <p:sldId id="317" r:id="rId23"/>
    <p:sldId id="319" r:id="rId24"/>
    <p:sldId id="324" r:id="rId25"/>
    <p:sldId id="325" r:id="rId26"/>
    <p:sldId id="32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88168-3D34-4E81-A75F-4356C4F19623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Content Placeholder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928694"/>
          </a:xfrm>
        </p:spPr>
        <p:txBody>
          <a:bodyPr>
            <a:noAutofit/>
          </a:bodyPr>
          <a:lstStyle/>
          <a:p>
            <a:pPr algn="ctr">
              <a:buFont typeface="Arial" charset="0"/>
              <a:buNone/>
            </a:pPr>
            <a:r>
              <a:rPr lang="en-US" sz="1400" b="1" dirty="0">
                <a:solidFill>
                  <a:srgbClr val="C00000"/>
                </a:solidFill>
              </a:rPr>
              <a:t>	</a:t>
            </a:r>
          </a:p>
          <a:p>
            <a:pPr algn="ctr">
              <a:buFont typeface="Arial" charset="0"/>
              <a:buNone/>
            </a:pPr>
            <a:r>
              <a:rPr lang="en-US" sz="4800" b="1" dirty="0">
                <a:solidFill>
                  <a:srgbClr val="7030A0"/>
                </a:solidFill>
              </a:rPr>
              <a:t>Euclidean (</a:t>
            </a:r>
            <a:r>
              <a:rPr lang="en-IN" sz="4800" b="1" dirty="0">
                <a:solidFill>
                  <a:srgbClr val="7030A0"/>
                </a:solidFill>
              </a:rPr>
              <a:t>Euclid’s</a:t>
            </a:r>
            <a:r>
              <a:rPr lang="en-US" sz="4800" b="1" dirty="0">
                <a:solidFill>
                  <a:srgbClr val="7030A0"/>
                </a:solidFill>
              </a:rPr>
              <a:t>) Algorithm </a:t>
            </a:r>
            <a:br>
              <a:rPr lang="en-US" sz="5400" b="1" dirty="0">
                <a:solidFill>
                  <a:srgbClr val="7030A0"/>
                </a:solidFill>
              </a:rPr>
            </a:br>
            <a:r>
              <a:rPr lang="en-US" sz="4400" b="1" dirty="0">
                <a:solidFill>
                  <a:srgbClr val="7030A0"/>
                </a:solidFill>
              </a:rPr>
              <a:t>(for finding GCD)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GCD-Example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71744"/>
            <a:ext cx="71151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Euclidean Algorithm for finding GCD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(Method - 1)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Prerequisite: a&gt;b</a:t>
            </a:r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357430"/>
            <a:ext cx="557216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GCD (50,12)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562224"/>
            <a:ext cx="6215106" cy="236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/>
              <a:t>Find GCD(529,123)</a:t>
            </a:r>
          </a:p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166938"/>
            <a:ext cx="5715040" cy="347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9BAC-0C2F-7266-0694-A41F334E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Euclidean Algorithm for finding GCD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(Method - 2)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gcd</a:t>
            </a:r>
            <a:r>
              <a:rPr lang="en-IN" dirty="0"/>
              <a:t>(A,B)=?</a:t>
            </a:r>
          </a:p>
          <a:p>
            <a:pPr lvl="1"/>
            <a:r>
              <a:rPr lang="en-IN" dirty="0"/>
              <a:t>Draw the table with Q, A, B, R columns.</a:t>
            </a:r>
          </a:p>
          <a:p>
            <a:pPr lvl="1"/>
            <a:r>
              <a:rPr lang="en-IN" dirty="0"/>
              <a:t>Ensure A &gt; B.</a:t>
            </a:r>
          </a:p>
          <a:p>
            <a:pPr lvl="1"/>
            <a:r>
              <a:rPr lang="en-IN" dirty="0"/>
              <a:t>Compute Q and R.</a:t>
            </a:r>
          </a:p>
          <a:p>
            <a:pPr lvl="1"/>
            <a:r>
              <a:rPr lang="en-IN" dirty="0"/>
              <a:t>Shift B to A and R to B for next row.</a:t>
            </a:r>
          </a:p>
          <a:p>
            <a:pPr lvl="1"/>
            <a:r>
              <a:rPr lang="en-IN" dirty="0"/>
              <a:t>Repeat until B = 0, then </a:t>
            </a:r>
            <a:r>
              <a:rPr lang="en-IN" dirty="0" err="1"/>
              <a:t>gcd</a:t>
            </a:r>
            <a:r>
              <a:rPr lang="en-IN" dirty="0"/>
              <a:t>(A,B) = 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63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GCD (12,33)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428868"/>
            <a:ext cx="519112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- 2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8338" y="2095500"/>
            <a:ext cx="5267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- 3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5488" y="2133600"/>
            <a:ext cx="51530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- 4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0713" y="2105025"/>
            <a:ext cx="53625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GCD (750, 900) using Euclid’s algorithm.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285992"/>
            <a:ext cx="578647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GCD(252,105)=?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428868"/>
            <a:ext cx="53340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Find GCD of (1005, 105) using Euclid’s algorithm.</a:t>
            </a:r>
          </a:p>
          <a:p>
            <a:pPr algn="just"/>
            <a:r>
              <a:rPr lang="en-US" dirty="0"/>
              <a:t>Find GCD (2740, 1760)</a:t>
            </a:r>
          </a:p>
          <a:p>
            <a:pPr algn="just"/>
            <a:r>
              <a:rPr lang="en-US" dirty="0"/>
              <a:t>Find GCD (25, 60)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07167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Finding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 and </a:t>
            </a:r>
            <a:r>
              <a:rPr lang="en-IN" dirty="0" err="1"/>
              <a:t>x,y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Finding multiplicative inverse.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IN" b="1" dirty="0">
                <a:solidFill>
                  <a:srgbClr val="7030A0"/>
                </a:solidFill>
              </a:rPr>
              <a:t>Finding </a:t>
            </a:r>
            <a:r>
              <a:rPr lang="en-IN" b="1" dirty="0" err="1">
                <a:solidFill>
                  <a:srgbClr val="7030A0"/>
                </a:solidFill>
              </a:rPr>
              <a:t>gcd</a:t>
            </a:r>
            <a:r>
              <a:rPr lang="en-IN" b="1" dirty="0">
                <a:solidFill>
                  <a:srgbClr val="7030A0"/>
                </a:solidFill>
              </a:rPr>
              <a:t>(</a:t>
            </a:r>
            <a:r>
              <a:rPr lang="en-IN" b="1" dirty="0" err="1">
                <a:solidFill>
                  <a:srgbClr val="7030A0"/>
                </a:solidFill>
              </a:rPr>
              <a:t>a,b</a:t>
            </a:r>
            <a:r>
              <a:rPr lang="en-IN" b="1" dirty="0">
                <a:solidFill>
                  <a:srgbClr val="7030A0"/>
                </a:solidFill>
              </a:rPr>
              <a:t>) and </a:t>
            </a:r>
            <a:r>
              <a:rPr lang="en-IN" b="1" dirty="0" err="1">
                <a:solidFill>
                  <a:srgbClr val="7030A0"/>
                </a:solidFill>
              </a:rPr>
              <a:t>x,y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two integers a and b , we often need to find 2 integers x and y such that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/>
              <a:t>ax</a:t>
            </a:r>
            <a:r>
              <a:rPr lang="en-IN" dirty="0"/>
              <a:t> + by =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</a:t>
            </a:r>
          </a:p>
          <a:p>
            <a:r>
              <a:rPr lang="en-IN" dirty="0"/>
              <a:t>So extended </a:t>
            </a:r>
            <a:r>
              <a:rPr lang="en-IN" dirty="0" err="1"/>
              <a:t>ecludian’s</a:t>
            </a:r>
            <a:r>
              <a:rPr lang="en-IN" dirty="0"/>
              <a:t> algorithm used to find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), and the values of x and 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err="1"/>
              <a:t>gcd</a:t>
            </a:r>
            <a:r>
              <a:rPr lang="en-IN" dirty="0"/>
              <a:t>(A,B) =? and </a:t>
            </a:r>
            <a:r>
              <a:rPr lang="en-IN" dirty="0" err="1"/>
              <a:t>x,y</a:t>
            </a:r>
            <a:r>
              <a:rPr lang="en-IN" dirty="0"/>
              <a:t>=?</a:t>
            </a:r>
          </a:p>
          <a:p>
            <a:pPr lvl="1" algn="just"/>
            <a:r>
              <a:rPr lang="en-IN" dirty="0"/>
              <a:t>Draw the table with Q, A, B, R, X1, X2, X, Y1, Y2, and Y columns.</a:t>
            </a:r>
          </a:p>
          <a:p>
            <a:pPr lvl="1" algn="just"/>
            <a:r>
              <a:rPr lang="en-IN" dirty="0"/>
              <a:t>Ensure A &gt; B.</a:t>
            </a:r>
          </a:p>
          <a:p>
            <a:pPr lvl="1" algn="just"/>
            <a:r>
              <a:rPr lang="en-IN" dirty="0"/>
              <a:t>Assign X1=1, X2=0, Y1=0, Y2=1 for first row. Compute Q, R and X = X1-QX2 and Y=Y1-QY2</a:t>
            </a:r>
          </a:p>
          <a:p>
            <a:pPr lvl="1" algn="just"/>
            <a:r>
              <a:rPr lang="en-IN" dirty="0"/>
              <a:t>Shift B to A and R to B , X2 to X1, X to X2, Y2 to Y1, Y to Y2 for next row.</a:t>
            </a:r>
          </a:p>
          <a:p>
            <a:pPr lvl="1" algn="just"/>
            <a:r>
              <a:rPr lang="en-IN" dirty="0"/>
              <a:t>Repeat until B = 0, then </a:t>
            </a:r>
            <a:r>
              <a:rPr lang="en-IN" dirty="0" err="1"/>
              <a:t>gcd</a:t>
            </a:r>
            <a:r>
              <a:rPr lang="en-IN" dirty="0"/>
              <a:t>(A,B) = A, X = X1 and   Y = Y1.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gcd</a:t>
            </a:r>
            <a:r>
              <a:rPr lang="en-IN" dirty="0"/>
              <a:t>(161,28) &amp; the values of x and y.</a:t>
            </a:r>
          </a:p>
          <a:p>
            <a:r>
              <a:rPr lang="en-IN" b="1" dirty="0"/>
              <a:t>Solution: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500306"/>
            <a:ext cx="7358114" cy="285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5852" y="5143512"/>
            <a:ext cx="2118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/>
              <a:t>gcd</a:t>
            </a:r>
            <a:r>
              <a:rPr lang="en-IN" sz="2400" b="1" dirty="0"/>
              <a:t>(161,28) = 7</a:t>
            </a:r>
          </a:p>
          <a:p>
            <a:r>
              <a:rPr lang="en-IN" sz="2400" b="1" dirty="0"/>
              <a:t>X = -1</a:t>
            </a:r>
          </a:p>
          <a:p>
            <a:r>
              <a:rPr lang="en-IN" sz="2400" b="1" dirty="0"/>
              <a:t>Y =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2066" y="5286388"/>
            <a:ext cx="352179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NOTE: </a:t>
            </a:r>
          </a:p>
          <a:p>
            <a:r>
              <a:rPr lang="en-IN" dirty="0" err="1"/>
              <a:t>ax+by</a:t>
            </a:r>
            <a:r>
              <a:rPr lang="en-IN" dirty="0"/>
              <a:t> =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</a:t>
            </a:r>
          </a:p>
          <a:p>
            <a:r>
              <a:rPr lang="en-IN" dirty="0"/>
              <a:t>161*(-1)+28*6 = </a:t>
            </a:r>
            <a:r>
              <a:rPr lang="en-IN" dirty="0" err="1"/>
              <a:t>gcd</a:t>
            </a:r>
            <a:r>
              <a:rPr lang="en-IN" dirty="0"/>
              <a:t>(161,28)</a:t>
            </a:r>
          </a:p>
          <a:p>
            <a:r>
              <a:rPr lang="en-IN" dirty="0"/>
              <a:t>                        7 = 7 </a:t>
            </a:r>
            <a:r>
              <a:rPr lang="en-IN" sz="2000" b="1" dirty="0"/>
              <a:t>Hence Verified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IN" b="1" dirty="0">
                <a:solidFill>
                  <a:srgbClr val="7030A0"/>
                </a:solidFill>
              </a:rPr>
              <a:t>Multiplicative Inverse (M.I)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857364"/>
            <a:ext cx="46386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214818"/>
            <a:ext cx="16573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Modular M.I </a:t>
            </a:r>
            <a:br>
              <a:rPr lang="en-IN" dirty="0"/>
            </a:br>
            <a:r>
              <a:rPr lang="en-IN" dirty="0"/>
              <a:t>(M.I under modular arithmetic)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When            , then we get 1 as remainder. </a:t>
            </a:r>
          </a:p>
          <a:p>
            <a:endParaRPr lang="en-IN" dirty="0"/>
          </a:p>
          <a:p>
            <a:pPr marL="0" indent="0" algn="just"/>
            <a:r>
              <a:rPr lang="en-IN" b="1" dirty="0"/>
              <a:t> </a:t>
            </a:r>
            <a:r>
              <a:rPr lang="en-IN" b="1" u="sng" dirty="0"/>
              <a:t>Definition</a:t>
            </a:r>
            <a:r>
              <a:rPr lang="en-IN" b="1" dirty="0"/>
              <a:t>: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A modular M.I of an integer ‘a’ is an integer </a:t>
            </a:r>
            <a:r>
              <a:rPr lang="en-IN" dirty="0">
                <a:solidFill>
                  <a:srgbClr val="FF0000"/>
                </a:solidFill>
              </a:rPr>
              <a:t>‘x’</a:t>
            </a:r>
            <a:r>
              <a:rPr lang="en-IN" dirty="0"/>
              <a:t> such that the product ‘</a:t>
            </a:r>
            <a:r>
              <a:rPr lang="en-IN" dirty="0" err="1"/>
              <a:t>ax</a:t>
            </a:r>
            <a:r>
              <a:rPr lang="en-IN" dirty="0"/>
              <a:t>’ is congruent to ‘1’ with respect to the modulus ‘m’.</a:t>
            </a:r>
          </a:p>
          <a:p>
            <a:pPr marL="0" indent="0">
              <a:buNone/>
            </a:pPr>
            <a:r>
              <a:rPr lang="en-IN" dirty="0"/>
              <a:t>                        </a:t>
            </a:r>
            <a:r>
              <a:rPr lang="en-IN" dirty="0" err="1"/>
              <a:t>a</a:t>
            </a:r>
            <a:r>
              <a:rPr lang="en-IN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/>
              <a:t> ≡ 1 mod m</a:t>
            </a:r>
          </a:p>
          <a:p>
            <a:pPr marL="0" indent="0">
              <a:buNone/>
            </a:pPr>
            <a:r>
              <a:rPr lang="en-IN" dirty="0"/>
              <a:t>Where </a:t>
            </a:r>
            <a:r>
              <a:rPr lang="en-I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/>
              <a:t>is a multiplicative inverse of a.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43050"/>
            <a:ext cx="23622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2571744"/>
            <a:ext cx="9620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Modular M.I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Examples: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Consider,                          </a:t>
            </a:r>
            <a:r>
              <a:rPr lang="en-IN" dirty="0">
                <a:sym typeface="Wingdings" pitchFamily="2" charset="2"/>
              </a:rPr>
              <a:t> No M.I exists, </a:t>
            </a:r>
            <a:r>
              <a:rPr lang="en-IN" dirty="0"/>
              <a:t>because 5 and 10 are not relatively prime.</a:t>
            </a:r>
          </a:p>
          <a:p>
            <a:pPr algn="just"/>
            <a:r>
              <a:rPr lang="en-IN" dirty="0"/>
              <a:t>If </a:t>
            </a:r>
            <a:r>
              <a:rPr lang="en-IN" dirty="0" err="1"/>
              <a:t>gcd</a:t>
            </a:r>
            <a:r>
              <a:rPr lang="en-IN" dirty="0"/>
              <a:t>(n1,n2) ≠ 1, then it means they are not relatively prime to each other in such cases we will never have a M.I.</a:t>
            </a:r>
          </a:p>
          <a:p>
            <a:endParaRPr lang="en-IN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643050"/>
            <a:ext cx="178595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flipV="1">
            <a:off x="4214810" y="2143116"/>
            <a:ext cx="1057276" cy="14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86380" y="1714488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3,5 are co-prime, therefore multiplicative inverse exist.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814769"/>
            <a:ext cx="2286016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Modular M.I </a:t>
            </a:r>
            <a:br>
              <a:rPr lang="en-IN" dirty="0"/>
            </a:br>
            <a:r>
              <a:rPr lang="en-IN" dirty="0"/>
              <a:t>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…….)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M.I of 2 (mod 5) is 3.</a:t>
            </a:r>
            <a:r>
              <a:rPr lang="en-IN" dirty="0">
                <a:sym typeface="Wingdings" pitchFamily="2" charset="2"/>
              </a:rPr>
              <a:t> 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M.I of 2 (mod 7) is 4.</a:t>
            </a:r>
          </a:p>
          <a:p>
            <a:pPr algn="just"/>
            <a:r>
              <a:rPr lang="en-IN" dirty="0">
                <a:sym typeface="Wingdings" pitchFamily="2" charset="2"/>
              </a:rPr>
              <a:t>Find M.I using Extended Euclidean algorithm. </a:t>
            </a:r>
            <a:endParaRPr lang="en-IN" dirty="0"/>
          </a:p>
          <a:p>
            <a:pPr algn="just"/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357430"/>
            <a:ext cx="278608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/>
              <a:t>What is the multiplicative inverse of 3 mod 5?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000240"/>
            <a:ext cx="82010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pPr algn="just"/>
            <a:r>
              <a:rPr lang="en-IN" dirty="0"/>
              <a:t>What is the multiplicative inverse of 11 mod 13?</a:t>
            </a:r>
          </a:p>
          <a:p>
            <a:pPr algn="just"/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" y="2214554"/>
            <a:ext cx="8272493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pPr algn="just"/>
            <a:r>
              <a:rPr lang="en-IN" dirty="0"/>
              <a:t>What is the multiplicative inverse of 11 mod 26?</a:t>
            </a:r>
          </a:p>
          <a:p>
            <a:pPr algn="just"/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What is the multiplicative inverse of 10 mod 11?</a:t>
            </a:r>
          </a:p>
          <a:p>
            <a:pPr algn="just"/>
            <a:r>
              <a:rPr lang="en-IN" dirty="0"/>
              <a:t>Solution:</a:t>
            </a:r>
          </a:p>
          <a:p>
            <a:pPr algn="just"/>
            <a:r>
              <a:rPr lang="en-IN" dirty="0"/>
              <a:t>(10 x </a:t>
            </a:r>
            <a:r>
              <a:rPr lang="en-IN" u="sng" dirty="0">
                <a:solidFill>
                  <a:srgbClr val="FF0000"/>
                </a:solidFill>
              </a:rPr>
              <a:t>10</a:t>
            </a:r>
            <a:r>
              <a:rPr lang="en-IN" dirty="0"/>
              <a:t>) % 11 = 1</a:t>
            </a:r>
          </a:p>
          <a:p>
            <a:pPr algn="just"/>
            <a:r>
              <a:rPr lang="en-IN" u="sng" dirty="0">
                <a:solidFill>
                  <a:srgbClr val="FF0000"/>
                </a:solidFill>
              </a:rPr>
              <a:t>-1</a:t>
            </a:r>
            <a:r>
              <a:rPr lang="en-IN" dirty="0"/>
              <a:t> mod 11 = 10</a:t>
            </a:r>
          </a:p>
          <a:p>
            <a:pPr algn="just"/>
            <a:endParaRPr lang="en-IN" dirty="0"/>
          </a:p>
        </p:txBody>
      </p:sp>
      <p:sp>
        <p:nvSpPr>
          <p:cNvPr id="4" name="Arc 3"/>
          <p:cNvSpPr/>
          <p:nvPr/>
        </p:nvSpPr>
        <p:spPr>
          <a:xfrm flipV="1">
            <a:off x="1071538" y="4000504"/>
            <a:ext cx="1285884" cy="714380"/>
          </a:xfrm>
          <a:prstGeom prst="arc">
            <a:avLst>
              <a:gd name="adj1" fmla="val 1153765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717</Words>
  <Application>Microsoft Office PowerPoint</Application>
  <PresentationFormat>On-screen Show (4:3)</PresentationFormat>
  <Paragraphs>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PowerPoint Presentation</vt:lpstr>
      <vt:lpstr>GCD-Example</vt:lpstr>
      <vt:lpstr>Euclidean Algorithm for finding GCD (Method - 1)</vt:lpstr>
      <vt:lpstr>Example - 1</vt:lpstr>
      <vt:lpstr>Example - 2</vt:lpstr>
      <vt:lpstr>Euclidean Algorithm for finding GCD (Method - 2)</vt:lpstr>
      <vt:lpstr>Step - 1</vt:lpstr>
      <vt:lpstr>Step - 2</vt:lpstr>
      <vt:lpstr>Step - 3</vt:lpstr>
      <vt:lpstr>Step - 4</vt:lpstr>
      <vt:lpstr>Example - 2</vt:lpstr>
      <vt:lpstr>Example - 3</vt:lpstr>
      <vt:lpstr>Exercise</vt:lpstr>
      <vt:lpstr>Extended Euclidean Algorithm</vt:lpstr>
      <vt:lpstr>Extended Euclidean Algorithm</vt:lpstr>
      <vt:lpstr> Extended Euclidean Algorithm –  Finding gcd(a,b) and x,y </vt:lpstr>
      <vt:lpstr>Steps</vt:lpstr>
      <vt:lpstr>Example</vt:lpstr>
      <vt:lpstr>Extended Euclidean Algorithm –  Multiplicative Inverse (M.I)</vt:lpstr>
      <vt:lpstr>Modular M.I  (M.I under modular arithmetic)</vt:lpstr>
      <vt:lpstr> Modular M.I  </vt:lpstr>
      <vt:lpstr>Modular M.I                                                 (Contd…….)</vt:lpstr>
      <vt:lpstr>Example - 1</vt:lpstr>
      <vt:lpstr>Example - 2</vt:lpstr>
      <vt:lpstr>Example - 3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EUCLIDEAN ALGORITHM</dc:title>
  <dc:creator>ilayaraja</dc:creator>
  <cp:lastModifiedBy>Dr. ISLABUDEEN M</cp:lastModifiedBy>
  <cp:revision>212</cp:revision>
  <dcterms:created xsi:type="dcterms:W3CDTF">2022-07-04T09:32:08Z</dcterms:created>
  <dcterms:modified xsi:type="dcterms:W3CDTF">2024-12-16T06:41:02Z</dcterms:modified>
</cp:coreProperties>
</file>