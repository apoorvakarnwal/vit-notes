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8" r:id="rId2"/>
    <p:sldId id="320" r:id="rId3"/>
    <p:sldId id="318" r:id="rId4"/>
    <p:sldId id="319" r:id="rId5"/>
    <p:sldId id="308" r:id="rId6"/>
    <p:sldId id="321" r:id="rId7"/>
    <p:sldId id="322" r:id="rId8"/>
    <p:sldId id="309" r:id="rId9"/>
    <p:sldId id="315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14" autoAdjust="0"/>
  </p:normalViewPr>
  <p:slideViewPr>
    <p:cSldViewPr>
      <p:cViewPr varScale="1">
        <p:scale>
          <a:sx n="78" d="100"/>
          <a:sy n="78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5F5732-31B3-E405-3E99-D6B0210DB0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A278C-EC73-D81B-FC6C-6BD0615069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A2047A-AFA6-4643-AB83-FCF135A2C844}" type="datetimeFigureOut">
              <a:rPr lang="en-IN"/>
              <a:pPr>
                <a:defRPr/>
              </a:pPr>
              <a:t>11-01-2025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9D2454-7B60-8B78-FD4A-8CAF6BB6E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2143C7-0E3B-6606-85FF-ABC0F6723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05D5-D8E4-C491-C486-C382C059E9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8EBB8-9709-DEC9-7EF7-2C2951DC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D44CDDB-16C9-41CB-9744-35ED06A83CB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0300727D-B9E4-3A38-9376-5A87CA733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F402BE74-A2D9-2653-490B-2436BBC59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CFA9EC25-1B1C-5A68-86B4-B6BBBEF708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F0ED1E2-6F2E-4F18-8812-9244F2D51801}" type="slidenum">
              <a:rPr lang="en-IN" altLang="en-US"/>
              <a:pPr/>
              <a:t>1</a:t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C96C-BBB8-4E1D-2713-421AB6AD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ECF69-806E-4212-A61C-20C2C6C4563A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8B25-085F-A28C-6D16-A6D5596A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A881C-517D-8E4D-F326-F426C029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943E5-DBA0-43C4-B7DC-434D89CDE2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53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40ABB-0862-A98A-B321-D615C750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B5488-EADC-4370-8F28-7722C61A41B0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F6FC-0CAC-2A4E-C707-D36F3489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705C9-05CE-030B-56F9-52F81E66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FDD9D-0399-4237-9847-AD3BFB44E8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07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EF62-CB38-CBE9-0FFC-026A42B0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04D43-535D-4F26-B010-08FDCE7A3839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FF55D-1143-70D2-AF22-B037557B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C2739-6CF3-11E5-C446-07270D96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3216D-6C8B-4919-BBCC-C75EAA2210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84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D4F7F8-54EC-4AD9-3608-FFDAC194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C6A3A-149C-4D2B-AC25-A518780EE07F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F984066-422A-84EC-53B1-49386EC0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BFA20D-2126-6748-D388-5DB542A8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6D1B9-746B-4043-8860-50421A1EC0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76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1566D6-8147-FE46-5043-3F1099C4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57310-4109-435A-BD4B-4B8EE358DCDA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81ACE1A-12B5-1645-A193-E9DBCA14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94C2426-27DE-D088-9E12-6C7CAF83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EA46C-F427-4F8B-B7B5-5AC49E3AF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88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5369939-6727-C0C7-EC08-F2E9F1AB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7E3B6-DB45-468C-BE8D-D2D8F2071774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9B802B-DA16-D3E8-3AF5-10A7C351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9824D82-2BC2-BA79-ABD7-36D5DEA8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30180-6618-4651-B3E1-AC1AE0323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44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95AC75F-A7C9-9A45-EE11-E158F9C3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E3841-330A-4405-9B1F-BC5C1B2EA968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DC994CA-36FB-52CE-FDE0-6A609C46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6BC1A7-B516-96B2-700B-ADE34B43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62299-E570-4FEC-BA16-F36C9573FA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93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D099FA-14A4-1FCB-82AD-4FDB836D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D540C-14F2-40DC-92B7-93C88255664B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2CAA4-2A56-A3BE-5EE3-552EA875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1DFB8D-38E3-5271-4C13-1F883CAA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B1FC0-25EC-47C8-8079-5ED76C2F03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234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89439C-595B-D05D-F615-D5C258A9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76131-2522-4507-A98A-8AD8EA392573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218D6F-9B50-3D6C-AF8A-E5E64746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4F633D-7CB6-5E21-DCDC-9973467B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6A81A-D0EA-4616-91AE-0CD484AB8C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00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3619-62C1-7446-535B-E2F8D51C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9CE13-AAB7-40C8-826E-5C04137D61D3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C918B-46D7-579A-292B-BB9C7026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D16FF-CC0B-D2D3-FF58-C6CFA2C4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B7A27-8D76-40B6-821D-E5B29A667D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90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1638-AE46-E91E-B4C0-0F9267FB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5BF33-FD12-4A0D-8B73-8528C6CBDA9F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EC4FD-B6F9-488E-731E-EA13CB92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8721-EB45-F1C8-A2C8-12BC1984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6430A-E01E-4C94-8141-5A54C26A3A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960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164B09D-8C05-8C4E-8A6E-2C4822BC4B6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6DC5A8E-0971-75A6-D5B4-3079DE1780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FBB9-42DF-A565-5F0D-156A0A0E8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6FDCDA-4199-4BB0-BEC4-9FEE87B9D368}" type="datetimeFigureOut">
              <a:rPr lang="en-US"/>
              <a:pPr>
                <a:defRPr/>
              </a:pPr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57A5-FC6B-FE30-4B2B-D8BDA81F8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7BE5-4DD9-33E0-F643-E703565B9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00A9C8C-9A48-4241-B2C4-273165D4FA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>
            <a:extLst>
              <a:ext uri="{FF2B5EF4-FFF2-40B4-BE49-F238E27FC236}">
                <a16:creationId xmlns:a16="http://schemas.microsoft.com/office/drawing/2014/main" id="{19E17CA5-DBAB-D4EB-7710-435BDBFA2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08025"/>
            <a:ext cx="8229600" cy="5440363"/>
          </a:xfrm>
        </p:spPr>
        <p:txBody>
          <a:bodyPr/>
          <a:lstStyle/>
          <a:p>
            <a:pPr algn="ctr"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7030A0"/>
              </a:solidFill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7030A0"/>
              </a:solidFill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7030A0"/>
              </a:solidFill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7030A0"/>
                </a:solidFill>
              </a:rPr>
              <a:t>Discrete Logarithm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 sz="2800"/>
              <a:t>Discrete logarithms are fundamental to a number of      public-key algorithms, including Diffie-Hellman key exchange and the digital signature algorithm (DSA).</a:t>
            </a:r>
            <a:endParaRPr lang="en-US" altLang="en-US" sz="2800"/>
          </a:p>
          <a:p>
            <a:pPr algn="ctr"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89848DA-8742-BA57-3D1D-CB6C119A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rgbClr val="7030A0"/>
                </a:solidFill>
              </a:rPr>
            </a:br>
            <a:r>
              <a:rPr lang="en-US" altLang="en-US" b="1">
                <a:solidFill>
                  <a:srgbClr val="7030A0"/>
                </a:solidFill>
              </a:rPr>
              <a:t>Logarithm</a:t>
            </a:r>
            <a:br>
              <a:rPr lang="en-US" altLang="en-US" b="1">
                <a:solidFill>
                  <a:srgbClr val="7030A0"/>
                </a:solidFill>
              </a:rPr>
            </a:br>
            <a:endParaRPr lang="en-IN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A456486-2862-F550-39CC-5FC24A96E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2</a:t>
            </a:r>
            <a:r>
              <a:rPr lang="en-IN" altLang="en-US" baseline="30000"/>
              <a:t>5</a:t>
            </a:r>
            <a:r>
              <a:rPr lang="en-IN" altLang="en-US"/>
              <a:t> = 32 (Easy), we can rewrite this as follows;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/>
              <a:t>    5 = log</a:t>
            </a:r>
            <a:r>
              <a:rPr lang="en-IN" altLang="en-US" baseline="-25000"/>
              <a:t>2</a:t>
            </a:r>
            <a:r>
              <a:rPr lang="en-IN" altLang="en-US"/>
              <a:t>(32) </a:t>
            </a:r>
          </a:p>
          <a:p>
            <a:r>
              <a:rPr lang="en-IN" altLang="en-US"/>
              <a:t>3</a:t>
            </a:r>
            <a:r>
              <a:rPr lang="en-IN" altLang="en-US" baseline="30000"/>
              <a:t>?</a:t>
            </a:r>
            <a:r>
              <a:rPr lang="en-IN" altLang="en-US"/>
              <a:t> = 129140163 (finding exponent is Difficult)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/>
              <a:t>    17 = log</a:t>
            </a:r>
            <a:r>
              <a:rPr lang="en-IN" altLang="en-US" baseline="-25000"/>
              <a:t>3</a:t>
            </a:r>
            <a:r>
              <a:rPr lang="en-IN" altLang="en-US"/>
              <a:t>(129140163)</a:t>
            </a:r>
          </a:p>
          <a:p>
            <a:r>
              <a:rPr lang="en-IN" altLang="en-US" b="1" u="sng"/>
              <a:t>General form of Logarithm: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/>
              <a:t>      p</a:t>
            </a:r>
            <a:r>
              <a:rPr lang="en-IN" altLang="en-US" baseline="30000"/>
              <a:t>i</a:t>
            </a:r>
            <a:r>
              <a:rPr lang="en-IN" altLang="en-US"/>
              <a:t> = q, rewrite as follows;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/>
              <a:t>      i = log</a:t>
            </a:r>
            <a:r>
              <a:rPr lang="en-IN" altLang="en-US" baseline="-25000"/>
              <a:t>p</a:t>
            </a:r>
            <a:r>
              <a:rPr lang="en-IN" altLang="en-US"/>
              <a:t>(q)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409E6C8-056D-3AF6-9DDC-F849EBD5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rgbClr val="7030A0"/>
                </a:solidFill>
              </a:rPr>
            </a:br>
            <a:r>
              <a:rPr lang="en-US" altLang="en-US" b="1">
                <a:solidFill>
                  <a:srgbClr val="7030A0"/>
                </a:solidFill>
              </a:rPr>
              <a:t>Discrete Logarithm Problem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A5E957DB-AAA3-BFEB-D879-72522D85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/>
            <a:r>
              <a:rPr lang="en-IN" altLang="en-US" sz="2400" b="1"/>
              <a:t>Modular arithmetic</a:t>
            </a:r>
            <a:r>
              <a:rPr lang="en-IN" altLang="en-US" sz="2400"/>
              <a:t>: 46 mod 12 </a:t>
            </a:r>
            <a:r>
              <a:rPr lang="en-IN" altLang="en-US" sz="2400">
                <a:sym typeface="Symbol" panose="05050102010706020507" pitchFamily="18" charset="2"/>
              </a:rPr>
              <a:t> 10</a:t>
            </a:r>
          </a:p>
          <a:p>
            <a:pPr algn="just"/>
            <a:r>
              <a:rPr lang="en-IN" altLang="en-US" sz="2400">
                <a:sym typeface="Symbol" panose="05050102010706020507" pitchFamily="18" charset="2"/>
              </a:rPr>
              <a:t>Lets consider prime modulus such as 17 and the primitive root of 17 such as 3. </a:t>
            </a:r>
          </a:p>
          <a:p>
            <a:pPr algn="just"/>
            <a:r>
              <a:rPr lang="en-IN" altLang="en-US" sz="2400">
                <a:sym typeface="Symbol" panose="05050102010706020507" pitchFamily="18" charset="2"/>
              </a:rPr>
              <a:t>when primitive root is raised to different exponents                 i.e 3</a:t>
            </a:r>
            <a:r>
              <a:rPr lang="en-IN" altLang="en-US" sz="2400" baseline="30000">
                <a:sym typeface="Symbol" panose="05050102010706020507" pitchFamily="18" charset="2"/>
              </a:rPr>
              <a:t>1</a:t>
            </a:r>
            <a:r>
              <a:rPr lang="en-IN" altLang="en-US" sz="2400">
                <a:sym typeface="Symbol" panose="05050102010706020507" pitchFamily="18" charset="2"/>
              </a:rPr>
              <a:t> mod 17, 3</a:t>
            </a:r>
            <a:r>
              <a:rPr lang="en-IN" altLang="en-US" sz="2400" baseline="30000">
                <a:sym typeface="Symbol" panose="05050102010706020507" pitchFamily="18" charset="2"/>
              </a:rPr>
              <a:t>2</a:t>
            </a:r>
            <a:r>
              <a:rPr lang="en-IN" altLang="en-US" sz="2400">
                <a:sym typeface="Symbol" panose="05050102010706020507" pitchFamily="18" charset="2"/>
              </a:rPr>
              <a:t> mod 17, 3</a:t>
            </a:r>
            <a:r>
              <a:rPr lang="en-IN" altLang="en-US" sz="2400" baseline="30000">
                <a:sym typeface="Symbol" panose="05050102010706020507" pitchFamily="18" charset="2"/>
              </a:rPr>
              <a:t>3</a:t>
            </a:r>
            <a:r>
              <a:rPr lang="en-IN" altLang="en-US" sz="2400">
                <a:sym typeface="Symbol" panose="05050102010706020507" pitchFamily="18" charset="2"/>
              </a:rPr>
              <a:t> mod 17,……. 3</a:t>
            </a:r>
            <a:r>
              <a:rPr lang="en-IN" altLang="en-US" sz="2400" baseline="30000">
                <a:sym typeface="Symbol" panose="05050102010706020507" pitchFamily="18" charset="2"/>
              </a:rPr>
              <a:t>16</a:t>
            </a:r>
            <a:r>
              <a:rPr lang="en-IN" altLang="en-US" sz="2400">
                <a:sym typeface="Symbol" panose="05050102010706020507" pitchFamily="18" charset="2"/>
              </a:rPr>
              <a:t> mod 17,then the solution distributes uniformly around the clock. </a:t>
            </a: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r>
              <a:rPr lang="en-IN" altLang="en-US" sz="2400" b="1" u="sng">
                <a:sym typeface="Symbol" panose="05050102010706020507" pitchFamily="18" charset="2"/>
              </a:rPr>
              <a:t>NOTE:</a:t>
            </a:r>
            <a:r>
              <a:rPr lang="en-IN" altLang="en-US" sz="2400">
                <a:sym typeface="Symbol" panose="05050102010706020507" pitchFamily="18" charset="2"/>
              </a:rPr>
              <a:t> ‘’ is said to be a primitive root of prime number ‘p’, if </a:t>
            </a:r>
            <a:r>
              <a:rPr lang="en-IN" altLang="en-US" sz="2400" baseline="30000">
                <a:sym typeface="Symbol" panose="05050102010706020507" pitchFamily="18" charset="2"/>
              </a:rPr>
              <a:t>1</a:t>
            </a:r>
            <a:r>
              <a:rPr lang="en-IN" altLang="en-US" sz="2400">
                <a:sym typeface="Symbol" panose="05050102010706020507" pitchFamily="18" charset="2"/>
              </a:rPr>
              <a:t> mod p, </a:t>
            </a:r>
            <a:r>
              <a:rPr lang="en-IN" altLang="en-US" sz="2400" baseline="30000">
                <a:sym typeface="Symbol" panose="05050102010706020507" pitchFamily="18" charset="2"/>
              </a:rPr>
              <a:t>2</a:t>
            </a:r>
            <a:r>
              <a:rPr lang="en-IN" altLang="en-US" sz="2400">
                <a:sym typeface="Symbol" panose="05050102010706020507" pitchFamily="18" charset="2"/>
              </a:rPr>
              <a:t> mod p, </a:t>
            </a:r>
            <a:r>
              <a:rPr lang="en-IN" altLang="en-US" sz="2400" baseline="30000">
                <a:sym typeface="Symbol" panose="05050102010706020507" pitchFamily="18" charset="2"/>
              </a:rPr>
              <a:t>3</a:t>
            </a:r>
            <a:r>
              <a:rPr lang="en-IN" altLang="en-US" sz="2400">
                <a:sym typeface="Symbol" panose="05050102010706020507" pitchFamily="18" charset="2"/>
              </a:rPr>
              <a:t> mod p,….. </a:t>
            </a:r>
            <a:r>
              <a:rPr lang="en-IN" altLang="en-US" sz="2400" baseline="30000">
                <a:sym typeface="Symbol" panose="05050102010706020507" pitchFamily="18" charset="2"/>
              </a:rPr>
              <a:t>p-1</a:t>
            </a:r>
            <a:r>
              <a:rPr lang="en-IN" altLang="en-US" sz="2400">
                <a:sym typeface="Symbol" panose="05050102010706020507" pitchFamily="18" charset="2"/>
              </a:rPr>
              <a:t> mod p are distinct.</a:t>
            </a:r>
          </a:p>
          <a:p>
            <a:pPr algn="just"/>
            <a:endParaRPr lang="en-IN" altLang="en-US" sz="2400"/>
          </a:p>
          <a:p>
            <a:pPr algn="just"/>
            <a:endParaRPr lang="en-IN" altLang="en-US" sz="24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9C5C46CE-526C-8F94-C169-4C7EDABF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581400"/>
            <a:ext cx="20478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9573445-CDC5-FDBA-C699-8736C96A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rgbClr val="7030A0"/>
                </a:solidFill>
              </a:rPr>
            </a:br>
            <a:r>
              <a:rPr lang="en-US" altLang="en-US" b="1">
                <a:solidFill>
                  <a:srgbClr val="7030A0"/>
                </a:solidFill>
              </a:rPr>
              <a:t>Discrete Logarithm Problem</a:t>
            </a:r>
            <a:br>
              <a:rPr lang="en-US" altLang="en-US" b="1">
                <a:solidFill>
                  <a:srgbClr val="7030A0"/>
                </a:solidFill>
              </a:rPr>
            </a:br>
            <a:r>
              <a:rPr lang="en-US" altLang="en-US" b="1">
                <a:solidFill>
                  <a:srgbClr val="7030A0"/>
                </a:solidFill>
              </a:rPr>
              <a:t>                                            (Contd…)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96C702F7-3D2A-952B-2BFE-AFC732B2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algn="just"/>
            <a:r>
              <a:rPr lang="en-IN" altLang="en-US" sz="2400">
                <a:sym typeface="Symbol" panose="05050102010706020507" pitchFamily="18" charset="2"/>
              </a:rPr>
              <a:t>Here 3 is a generator, if we raise 3 to any exponent ‘x’, then the solution is equally likely to be an integer between 0 and 17.</a:t>
            </a: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r>
              <a:rPr lang="en-IN" altLang="en-US" sz="2400"/>
              <a:t>3</a:t>
            </a:r>
            <a:r>
              <a:rPr lang="en-IN" altLang="en-US" sz="2400" baseline="30000"/>
              <a:t>29</a:t>
            </a:r>
            <a:r>
              <a:rPr lang="en-IN" altLang="en-US" sz="2400"/>
              <a:t> mod 17 = 12 (Easy)</a:t>
            </a:r>
          </a:p>
          <a:p>
            <a:pPr algn="just"/>
            <a:r>
              <a:rPr lang="en-IN" altLang="en-US" sz="2400"/>
              <a:t>3</a:t>
            </a:r>
            <a:r>
              <a:rPr lang="en-IN" altLang="en-US" sz="2400" baseline="30000"/>
              <a:t>?</a:t>
            </a:r>
            <a:r>
              <a:rPr lang="en-IN" altLang="en-US" sz="2400"/>
              <a:t> mod 17 = 12 (</a:t>
            </a:r>
            <a:r>
              <a:rPr lang="en-IN" altLang="en-US" sz="2400" b="1">
                <a:solidFill>
                  <a:srgbClr val="FF0000"/>
                </a:solidFill>
              </a:rPr>
              <a:t>Hard</a:t>
            </a:r>
            <a:r>
              <a:rPr lang="en-IN" altLang="en-US" sz="2400"/>
              <a:t>)</a:t>
            </a:r>
          </a:p>
          <a:p>
            <a:pPr algn="just"/>
            <a:r>
              <a:rPr lang="en-IN" altLang="en-US" sz="2400" b="1" u="sng">
                <a:sym typeface="Symbol" panose="05050102010706020507" pitchFamily="18" charset="2"/>
              </a:rPr>
              <a:t>General Form: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 sz="2400">
                <a:sym typeface="Symbol" panose="05050102010706020507" pitchFamily="18" charset="2"/>
              </a:rPr>
              <a:t>	b</a:t>
            </a:r>
            <a:r>
              <a:rPr lang="en-IN" altLang="en-US" sz="2400" baseline="30000">
                <a:sym typeface="Symbol" panose="05050102010706020507" pitchFamily="18" charset="2"/>
              </a:rPr>
              <a:t>i</a:t>
            </a:r>
            <a:r>
              <a:rPr lang="en-IN" altLang="en-US" sz="2400">
                <a:sym typeface="Symbol" panose="05050102010706020507" pitchFamily="18" charset="2"/>
              </a:rPr>
              <a:t>(mod m) = a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 sz="2400"/>
              <a:t>	dlog</a:t>
            </a:r>
            <a:r>
              <a:rPr lang="en-IN" altLang="en-US" sz="2400" baseline="-25000"/>
              <a:t>b,m</a:t>
            </a:r>
            <a:r>
              <a:rPr lang="en-IN" altLang="en-US" sz="2400"/>
              <a:t>(a) = i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 sz="2400"/>
              <a:t>     Where ‘b’ is the primitive root of modulo ‘m’.</a:t>
            </a: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>
              <a:sym typeface="Symbol" panose="05050102010706020507" pitchFamily="18" charset="2"/>
            </a:endParaRPr>
          </a:p>
          <a:p>
            <a:pPr algn="just"/>
            <a:endParaRPr lang="en-IN" altLang="en-US" sz="2400"/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822E7FF9-5B06-F7AE-8FB9-1AB951B88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09800"/>
            <a:ext cx="4191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11A901D5-3A49-C70F-DE93-025AAC5B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altLang="en-US">
                <a:solidFill>
                  <a:srgbClr val="7030A0"/>
                </a:solidFill>
              </a:rPr>
              <a:t>Example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7B95CAE0-C7FD-DAED-71B2-E9CF69422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Find ‘i’ in the given equation 8 = 5</a:t>
            </a:r>
            <a:r>
              <a:rPr lang="en-IN" altLang="en-US" baseline="30000"/>
              <a:t>i</a:t>
            </a:r>
            <a:r>
              <a:rPr lang="en-IN" altLang="en-US"/>
              <a:t> mod 13.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b="1" u="sng"/>
              <a:t>Solution: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Given;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i = dlog </a:t>
            </a:r>
            <a:r>
              <a:rPr lang="en-IN" altLang="en-US" baseline="-25000"/>
              <a:t>5,13</a:t>
            </a:r>
            <a:r>
              <a:rPr lang="en-IN" altLang="en-US"/>
              <a:t> (8)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i = 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Go with Brute force attack and try i = 1,2,3,….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When i = 3 then 5</a:t>
            </a:r>
            <a:r>
              <a:rPr lang="en-IN" altLang="en-US" baseline="30000"/>
              <a:t>3</a:t>
            </a:r>
            <a:r>
              <a:rPr lang="en-IN" altLang="en-US"/>
              <a:t> mod 13 = 8 (verified).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Therefore, i =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2800" b="1"/>
              <a:t>NOTE:</a:t>
            </a:r>
            <a:r>
              <a:rPr lang="en-IN" altLang="en-US" sz="2800"/>
              <a:t> consider the case when the dlog given unique values, only then we can use dlog in our algorithm.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A095DCA-F1E8-E04B-1C12-0B9B2E2A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How to identify whether ‘i’ is unique?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8C09C87-EE41-344F-1616-37BC8A88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 </a:t>
            </a:r>
            <a:r>
              <a:rPr lang="en-IN" altLang="en-US">
                <a:sym typeface="Symbol" panose="05050102010706020507" pitchFamily="18" charset="2"/>
              </a:rPr>
              <a:t>b</a:t>
            </a:r>
            <a:r>
              <a:rPr lang="en-IN" altLang="en-US" baseline="30000">
                <a:sym typeface="Symbol" panose="05050102010706020507" pitchFamily="18" charset="2"/>
              </a:rPr>
              <a:t>i</a:t>
            </a:r>
            <a:r>
              <a:rPr lang="en-IN" altLang="en-US">
                <a:sym typeface="Symbol" panose="05050102010706020507" pitchFamily="18" charset="2"/>
              </a:rPr>
              <a:t>(mod m) = a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/>
              <a:t>	 dlog</a:t>
            </a:r>
            <a:r>
              <a:rPr lang="en-IN" altLang="en-US" baseline="-25000"/>
              <a:t>b,m</a:t>
            </a:r>
            <a:r>
              <a:rPr lang="en-IN" altLang="en-US"/>
              <a:t>(a) = i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/>
              <a:t>We can get an unique value of ‘i’ if ‘b’ is the primitive root of prime modulo ‘m’.</a:t>
            </a:r>
          </a:p>
          <a:p>
            <a:pPr algn="just">
              <a:buFont typeface="Arial" panose="020B0604020202020204" pitchFamily="34" charset="0"/>
              <a:buNone/>
            </a:pPr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D0FF316-AAEF-C259-2AC5-97C7776E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>
                <a:solidFill>
                  <a:srgbClr val="7030A0"/>
                </a:solidFill>
              </a:rPr>
              <a:t>Primitive Roots </a:t>
            </a:r>
            <a:br>
              <a:rPr lang="en-IN" altLang="en-US">
                <a:solidFill>
                  <a:srgbClr val="7030A0"/>
                </a:solidFill>
              </a:rPr>
            </a:br>
            <a:r>
              <a:rPr lang="en-IN" altLang="en-US">
                <a:solidFill>
                  <a:srgbClr val="7030A0"/>
                </a:solidFill>
              </a:rPr>
              <a:t> Example -1</a:t>
            </a:r>
            <a:endParaRPr lang="en-IN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27D3174C-06F4-2115-A838-20665447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Find the primitive root of 7.</a:t>
            </a:r>
          </a:p>
          <a:p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5AB93C3-1D95-14BD-560A-A2913DAD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IN" altLang="en-US" sz="3200">
                <a:solidFill>
                  <a:srgbClr val="7030A0"/>
                </a:solidFill>
              </a:rPr>
              <a:t>Primitive Roots </a:t>
            </a:r>
            <a:br>
              <a:rPr lang="en-IN" altLang="en-US" sz="3200">
                <a:solidFill>
                  <a:srgbClr val="7030A0"/>
                </a:solidFill>
              </a:rPr>
            </a:br>
            <a:r>
              <a:rPr lang="en-IN" altLang="en-US" sz="3200">
                <a:solidFill>
                  <a:srgbClr val="7030A0"/>
                </a:solidFill>
              </a:rPr>
              <a:t> Example -2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B9E2ECCC-8B84-27DF-D4F0-D9527259F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9831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sym typeface="Symbol" panose="05050102010706020507" pitchFamily="18" charset="2"/>
              </a:rPr>
              <a:t>    b</a:t>
            </a:r>
            <a:r>
              <a:rPr lang="en-IN" altLang="en-US" baseline="30000">
                <a:sym typeface="Symbol" panose="05050102010706020507" pitchFamily="18" charset="2"/>
              </a:rPr>
              <a:t>i</a:t>
            </a:r>
            <a:r>
              <a:rPr lang="en-IN" altLang="en-US">
                <a:sym typeface="Symbol" panose="05050102010706020507" pitchFamily="18" charset="2"/>
              </a:rPr>
              <a:t>(mod m) = a and consider m =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The primitive root of 13 is </a:t>
            </a:r>
            <a:r>
              <a:rPr lang="en-IN" altLang="en-US">
                <a:solidFill>
                  <a:srgbClr val="FF0000"/>
                </a:solidFill>
              </a:rPr>
              <a:t>2,6, 7 and 11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/>
          </a:p>
        </p:txBody>
      </p:sp>
      <p:pic>
        <p:nvPicPr>
          <p:cNvPr id="11268" name="Content Placeholder 3">
            <a:extLst>
              <a:ext uri="{FF2B5EF4-FFF2-40B4-BE49-F238E27FC236}">
                <a16:creationId xmlns:a16="http://schemas.microsoft.com/office/drawing/2014/main" id="{DDF1F0B1-0666-7CA8-3740-B8C9D8571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6045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1446A1-A6BF-EA2A-F39F-62288F6EA1E4}"/>
              </a:ext>
            </a:extLst>
          </p:cNvPr>
          <p:cNvCxnSpPr/>
          <p:nvPr/>
        </p:nvCxnSpPr>
        <p:spPr>
          <a:xfrm>
            <a:off x="7010400" y="2667000"/>
            <a:ext cx="838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658616-FBDB-752F-2CB5-36E0281112C2}"/>
              </a:ext>
            </a:extLst>
          </p:cNvPr>
          <p:cNvCxnSpPr/>
          <p:nvPr/>
        </p:nvCxnSpPr>
        <p:spPr>
          <a:xfrm rot="5400000" flipH="1" flipV="1">
            <a:off x="7086600" y="2971800"/>
            <a:ext cx="762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0FEA1F-3788-CE5C-CD64-9D0E91823AEE}"/>
              </a:ext>
            </a:extLst>
          </p:cNvPr>
          <p:cNvCxnSpPr/>
          <p:nvPr/>
        </p:nvCxnSpPr>
        <p:spPr>
          <a:xfrm rot="5400000" flipH="1" flipV="1">
            <a:off x="7086600" y="3200400"/>
            <a:ext cx="8382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80EC8F-AA15-7CAB-4111-2060297A6BA1}"/>
              </a:ext>
            </a:extLst>
          </p:cNvPr>
          <p:cNvCxnSpPr/>
          <p:nvPr/>
        </p:nvCxnSpPr>
        <p:spPr>
          <a:xfrm rot="5400000" flipH="1" flipV="1">
            <a:off x="6705600" y="3886200"/>
            <a:ext cx="16002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3" name="TextBox 14">
            <a:extLst>
              <a:ext uri="{FF2B5EF4-FFF2-40B4-BE49-F238E27FC236}">
                <a16:creationId xmlns:a16="http://schemas.microsoft.com/office/drawing/2014/main" id="{BBAC0AE2-5182-8033-BB72-7E9F7888C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895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Unique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4FF236-2A4E-4551-0986-CC163347472B}"/>
              </a:ext>
            </a:extLst>
          </p:cNvPr>
          <p:cNvCxnSpPr/>
          <p:nvPr/>
        </p:nvCxnSpPr>
        <p:spPr>
          <a:xfrm rot="5400000" flipH="1" flipV="1">
            <a:off x="1905000" y="1828800"/>
            <a:ext cx="6096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5" name="TextBox 17">
            <a:extLst>
              <a:ext uri="{FF2B5EF4-FFF2-40B4-BE49-F238E27FC236}">
                <a16:creationId xmlns:a16="http://schemas.microsoft.com/office/drawing/2014/main" id="{674B8AA2-992C-2DC7-1B72-C3EE168A4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524000"/>
            <a:ext cx="121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b</a:t>
            </a:r>
            <a:r>
              <a:rPr lang="en-IN" altLang="en-US" sz="1800" baseline="30000">
                <a:latin typeface="Arial" panose="020B0604020202020204" pitchFamily="34" charset="0"/>
              </a:rPr>
              <a:t>1</a:t>
            </a:r>
            <a:r>
              <a:rPr lang="en-IN" altLang="en-US" sz="1800">
                <a:latin typeface="Arial" panose="020B0604020202020204" pitchFamily="34" charset="0"/>
              </a:rPr>
              <a:t> mod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A6628-18E6-C27E-44A9-282DD588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Discrete Logarithm:</a:t>
            </a:r>
            <a:endParaRPr lang="en-IN" sz="2400" b="1" kern="100" dirty="0">
              <a:solidFill>
                <a:srgbClr val="7030A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If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an arbitrary integer relatively prime to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is a primitive root of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then there exists exactly one number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such that 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= b</a:t>
            </a:r>
            <a:r>
              <a:rPr lang="en-IN" sz="2400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(mod m)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the number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then called the discrete logarithm of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respect to the base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modulo  m 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it is denoted by 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dlog</a:t>
            </a:r>
            <a:r>
              <a:rPr lang="en-IN" sz="2400" kern="100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b,m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(a)</a:t>
            </a:r>
            <a:endParaRPr lang="en-IN" sz="2400" kern="1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Primitive Root</a:t>
            </a:r>
            <a:endParaRPr lang="en-IN" sz="2400" b="1" kern="100" dirty="0">
              <a:solidFill>
                <a:srgbClr val="7030A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If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primitive root of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 m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prime number then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N" sz="2400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 m, b</a:t>
            </a:r>
            <a:r>
              <a:rPr lang="en-IN" sz="2400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 m, b</a:t>
            </a:r>
            <a:r>
              <a:rPr lang="en-IN" sz="2400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 m .. b</a:t>
            </a:r>
            <a:r>
              <a:rPr lang="en-IN" sz="2400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m-1 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 m 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(unique) distinct values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I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579</Words>
  <Application>Microsoft Office PowerPoint</Application>
  <PresentationFormat>On-screen Show (4:3)</PresentationFormat>
  <Paragraphs>71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Symbol</vt:lpstr>
      <vt:lpstr>Times New Roman</vt:lpstr>
      <vt:lpstr>Office Theme</vt:lpstr>
      <vt:lpstr>PowerPoint Presentation</vt:lpstr>
      <vt:lpstr> Logarithm </vt:lpstr>
      <vt:lpstr> Discrete Logarithm Problem </vt:lpstr>
      <vt:lpstr> Discrete Logarithm Problem                                             (Contd…) </vt:lpstr>
      <vt:lpstr>Example</vt:lpstr>
      <vt:lpstr>How to identify whether ‘i’ is unique?</vt:lpstr>
      <vt:lpstr>Primitive Roots   Example -1</vt:lpstr>
      <vt:lpstr>Primitive Roots   Example -2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ilayaraja</dc:creator>
  <cp:lastModifiedBy>Dr. ISLABUDEEN M</cp:lastModifiedBy>
  <cp:revision>240</cp:revision>
  <dcterms:created xsi:type="dcterms:W3CDTF">2022-06-22T01:46:16Z</dcterms:created>
  <dcterms:modified xsi:type="dcterms:W3CDTF">2025-01-10T19:01:07Z</dcterms:modified>
</cp:coreProperties>
</file>