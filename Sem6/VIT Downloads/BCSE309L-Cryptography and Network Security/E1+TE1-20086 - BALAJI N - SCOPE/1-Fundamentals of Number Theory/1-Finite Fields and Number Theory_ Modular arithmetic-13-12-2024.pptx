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9" r:id="rId2"/>
    <p:sldId id="290" r:id="rId3"/>
    <p:sldId id="293" r:id="rId4"/>
    <p:sldId id="294" r:id="rId5"/>
    <p:sldId id="291" r:id="rId6"/>
    <p:sldId id="292" r:id="rId7"/>
    <p:sldId id="295" r:id="rId8"/>
    <p:sldId id="296" r:id="rId9"/>
    <p:sldId id="297" r:id="rId10"/>
    <p:sldId id="278" r:id="rId11"/>
    <p:sldId id="282" r:id="rId12"/>
    <p:sldId id="299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CEC1FB-01C9-457E-B407-32A75D40B513}" type="datetimeFigureOut">
              <a:rPr lang="en-IN" smtClean="0"/>
              <a:pPr/>
              <a:t>24-07-2023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0086C4-F9A6-4544-AD76-EE3F0098DDC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463139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Modular arithmetic or clock arithmetic </a:t>
            </a:r>
          </a:p>
          <a:p>
            <a:r>
              <a:rPr lang="en-IN" dirty="0" smtClean="0"/>
              <a:t>For ex, to find 46 mod 12, v could take a rope of 46 units &amp; rap it around a clock of 12 units, which is called as modulus. And where the rope ends is the solution.</a:t>
            </a:r>
          </a:p>
          <a:p>
            <a:r>
              <a:rPr lang="en-IN" dirty="0" smtClean="0"/>
              <a:t>So v could say 46 mod 12 is congruent to 10.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0086C4-F9A6-4544-AD76-EE3F0098DDC3}" type="slidenum">
              <a:rPr lang="en-IN" smtClean="0"/>
              <a:pPr/>
              <a:t>3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8E7AD-E0D9-48F6-97E4-4C9350FC047A}" type="datetime1">
              <a:rPr lang="en-IN" smtClean="0"/>
              <a:pPr/>
              <a:t>24-07-2023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Satish C J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050D-553B-4C54-8B8E-CAFD011AA2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659768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12476-E0B3-40B1-A870-C39583A9D781}" type="datetime1">
              <a:rPr lang="en-IN" smtClean="0"/>
              <a:pPr/>
              <a:t>24-07-2023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Satish C J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050D-553B-4C54-8B8E-CAFD011AA2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288006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1F21B-F1EC-48C4-A5B2-3AC1BF685E11}" type="datetime1">
              <a:rPr lang="en-IN" smtClean="0"/>
              <a:pPr/>
              <a:t>24-07-2023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Satish C J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050D-553B-4C54-8B8E-CAFD011AA2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703808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A39B4-91E9-485B-9326-2BC3FFF25360}" type="datetime1">
              <a:rPr lang="en-IN" smtClean="0"/>
              <a:pPr/>
              <a:t>24-07-2023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Satish C J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050D-553B-4C54-8B8E-CAFD011AA2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524013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CEA97-6347-4D8C-899F-5EC05F9F3DD2}" type="datetime1">
              <a:rPr lang="en-IN" smtClean="0"/>
              <a:pPr/>
              <a:t>24-07-2023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Satish C J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050D-553B-4C54-8B8E-CAFD011AA2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431921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292AD-3E5C-4ADA-B9B2-861D5C63153D}" type="datetime1">
              <a:rPr lang="en-IN" smtClean="0"/>
              <a:pPr/>
              <a:t>24-07-2023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Satish C J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050D-553B-4C54-8B8E-CAFD011AA2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939830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ECE5C-9547-4405-A48C-CFD72D634A9E}" type="datetime1">
              <a:rPr lang="en-IN" smtClean="0"/>
              <a:pPr/>
              <a:t>24-07-2023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Satish C J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050D-553B-4C54-8B8E-CAFD011AA2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925741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DA64A-06BB-4ACC-8423-FCAF58D67366}" type="datetime1">
              <a:rPr lang="en-IN" smtClean="0"/>
              <a:pPr/>
              <a:t>24-07-2023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Satish C J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050D-553B-4C54-8B8E-CAFD011AA2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716366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51149-9682-426D-81DE-D02BE79C1CDA}" type="datetime1">
              <a:rPr lang="en-IN" smtClean="0"/>
              <a:pPr/>
              <a:t>24-07-2023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Satish C J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050D-553B-4C54-8B8E-CAFD011AA2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517619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ABF8B-417A-44A7-90BA-5ABEDCB2C555}" type="datetime1">
              <a:rPr lang="en-IN" smtClean="0"/>
              <a:pPr/>
              <a:t>24-07-2023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Satish C J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050D-553B-4C54-8B8E-CAFD011AA2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854975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1BCD0-9B0C-4DE4-B815-64672C698251}" type="datetime1">
              <a:rPr lang="en-IN" smtClean="0"/>
              <a:pPr/>
              <a:t>24-07-2023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Satish C J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050D-553B-4C54-8B8E-CAFD011AA2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460818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5AA8FA-7A5C-4399-AC36-FE43B1750EF0}" type="datetime1">
              <a:rPr lang="en-IN" smtClean="0"/>
              <a:pPr/>
              <a:t>24-07-2023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Satish C J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2050D-553B-4C54-8B8E-CAFD011AA2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499626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Modular </a:t>
            </a:r>
            <a:r>
              <a:rPr lang="en-US" dirty="0"/>
              <a:t>Arithmetic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529773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Modular Arithmetic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4929222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 smtClean="0"/>
              <a:t>Central mathematical concept in cryptography.</a:t>
            </a:r>
          </a:p>
          <a:p>
            <a:pPr algn="just"/>
            <a:r>
              <a:rPr lang="en-US" dirty="0" smtClean="0"/>
              <a:t>It </a:t>
            </a:r>
            <a:r>
              <a:rPr lang="en-US" dirty="0" smtClean="0"/>
              <a:t>is an arithmetic for integers that focus on the reminder. </a:t>
            </a:r>
          </a:p>
          <a:p>
            <a:pPr algn="just"/>
            <a:r>
              <a:rPr lang="en-US" dirty="0" smtClean="0"/>
              <a:t>Wrap around after reaching a certain value called a modulus.</a:t>
            </a:r>
          </a:p>
          <a:p>
            <a:pPr algn="just"/>
            <a:r>
              <a:rPr lang="en-US" b="1" dirty="0" smtClean="0"/>
              <a:t>Definition</a:t>
            </a:r>
            <a:r>
              <a:rPr lang="en-US" dirty="0" smtClean="0"/>
              <a:t>: “</a:t>
            </a:r>
            <a:r>
              <a:rPr lang="en-US" altLang="en-US" dirty="0" smtClean="0"/>
              <a:t>If </a:t>
            </a:r>
            <a:r>
              <a:rPr lang="en-US" altLang="en-US" i="1" dirty="0" smtClean="0"/>
              <a:t>a is an integer and n is a positive integer, we define </a:t>
            </a:r>
            <a:r>
              <a:rPr lang="en-US" altLang="en-US" i="1" u="sng" dirty="0" smtClean="0"/>
              <a:t>a mod n </a:t>
            </a:r>
            <a:r>
              <a:rPr lang="en-US" altLang="en-US" i="1" dirty="0" smtClean="0"/>
              <a:t>to be the remainder </a:t>
            </a:r>
            <a:r>
              <a:rPr lang="en-US" altLang="en-US" dirty="0" smtClean="0"/>
              <a:t>when </a:t>
            </a:r>
            <a:r>
              <a:rPr lang="en-US" altLang="en-US" i="1" dirty="0" smtClean="0"/>
              <a:t>a is divided by n”. The integer n is called the </a:t>
            </a:r>
            <a:r>
              <a:rPr lang="en-US" altLang="en-US" b="1" i="1" dirty="0" smtClean="0">
                <a:solidFill>
                  <a:srgbClr val="FF0000"/>
                </a:solidFill>
              </a:rPr>
              <a:t>modulus. </a:t>
            </a:r>
          </a:p>
          <a:p>
            <a:pPr marL="0" indent="0" algn="just">
              <a:buNone/>
            </a:pPr>
            <a:r>
              <a:rPr lang="pt-BR" altLang="en-US" i="1" dirty="0" smtClean="0"/>
              <a:t>               a = qn + r where 0 ≤ r  &lt; n;  q = [a/n];</a:t>
            </a:r>
            <a:endParaRPr lang="en-US" dirty="0" smtClean="0"/>
          </a:p>
          <a:p>
            <a:pPr algn="just"/>
            <a:endParaRPr lang="en-US" dirty="0" smtClean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667040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Modulus with an analogy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58204" cy="4525963"/>
          </a:xfrm>
        </p:spPr>
        <p:txBody>
          <a:bodyPr/>
          <a:lstStyle/>
          <a:p>
            <a:r>
              <a:rPr lang="en-IN" dirty="0" smtClean="0"/>
              <a:t>Clock analogy</a:t>
            </a:r>
          </a:p>
          <a:p>
            <a:pPr>
              <a:buNone/>
            </a:pPr>
            <a:endParaRPr lang="en-IN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28860" y="2285992"/>
            <a:ext cx="3857652" cy="30718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Modulus with an analogy</a:t>
            </a:r>
            <a:endParaRPr lang="en-IN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2428868"/>
            <a:ext cx="3314700" cy="2381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143372" y="2214554"/>
            <a:ext cx="4714908" cy="3429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Congruence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 smtClean="0"/>
              <a:t>In cryptography, congruence (≡) instead of equality (=).</a:t>
            </a:r>
          </a:p>
          <a:p>
            <a:pPr algn="just"/>
            <a:endParaRPr lang="en-IN" dirty="0" smtClean="0"/>
          </a:p>
          <a:p>
            <a:pPr marL="0" indent="0" algn="just">
              <a:buNone/>
            </a:pPr>
            <a:endParaRPr lang="en-IN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2976" y="2857496"/>
            <a:ext cx="6762750" cy="3157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1383177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Valid or invalid ?</a:t>
            </a:r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5852" y="1857364"/>
            <a:ext cx="1866900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Properties of Modular Arithmetic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[(a mod n) + (b mod n)] mod n = (a + b) mod n.</a:t>
            </a:r>
          </a:p>
          <a:p>
            <a:r>
              <a:rPr lang="en-IN" dirty="0" smtClean="0"/>
              <a:t>[(a mod n) - (b mod n)] mod n  = (a - b) mod n.</a:t>
            </a:r>
          </a:p>
          <a:p>
            <a:r>
              <a:rPr lang="en-IN" dirty="0" smtClean="0"/>
              <a:t>[(a mod n) x (b mod n)] mod n = (a x b) mod n.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</a:t>
            </a:r>
            <a:endParaRPr lang="en-IN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24" y="1714488"/>
            <a:ext cx="5019675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928662" y="4572009"/>
            <a:ext cx="5000660" cy="1285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76307" y="3133731"/>
            <a:ext cx="5053015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Properties of Modular Arithmetic</a:t>
            </a:r>
            <a:endParaRPr lang="en-IN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1214414" y="1500174"/>
          <a:ext cx="7215238" cy="40719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7454"/>
                <a:gridCol w="4857784"/>
              </a:tblGrid>
              <a:tr h="457313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Property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Expression</a:t>
                      </a:r>
                      <a:endParaRPr lang="en-IN" dirty="0"/>
                    </a:p>
                  </a:txBody>
                  <a:tcPr/>
                </a:tc>
              </a:tr>
              <a:tr h="789335">
                <a:tc>
                  <a:txBody>
                    <a:bodyPr/>
                    <a:lstStyle/>
                    <a:p>
                      <a:r>
                        <a:rPr lang="en-IN" dirty="0" smtClean="0"/>
                        <a:t>Commutative laws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IN" dirty="0" smtClean="0"/>
                        <a:t> (a + b) mod n = (b + a) mod n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IN" dirty="0" smtClean="0"/>
                        <a:t> (a x b) mod n = (b x a) mod n</a:t>
                      </a:r>
                      <a:endParaRPr lang="en-IN" dirty="0"/>
                    </a:p>
                  </a:txBody>
                  <a:tcPr/>
                </a:tc>
              </a:tr>
              <a:tr h="789335">
                <a:tc>
                  <a:txBody>
                    <a:bodyPr/>
                    <a:lstStyle/>
                    <a:p>
                      <a:r>
                        <a:rPr lang="en-IN" dirty="0" smtClean="0"/>
                        <a:t>Associative laws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IN" dirty="0" smtClean="0"/>
                        <a:t> [(a + b) + c]</a:t>
                      </a:r>
                      <a:r>
                        <a:rPr lang="en-IN" baseline="0" dirty="0" smtClean="0"/>
                        <a:t> mod n = </a:t>
                      </a:r>
                      <a:r>
                        <a:rPr lang="en-IN" dirty="0" smtClean="0"/>
                        <a:t>[a + (b + c)]</a:t>
                      </a:r>
                      <a:r>
                        <a:rPr lang="en-IN" baseline="0" dirty="0" smtClean="0"/>
                        <a:t> mod n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IN" dirty="0" smtClean="0"/>
                        <a:t> [(a x b) x c]</a:t>
                      </a:r>
                      <a:r>
                        <a:rPr lang="en-IN" baseline="0" dirty="0" smtClean="0"/>
                        <a:t> mod n = </a:t>
                      </a:r>
                      <a:r>
                        <a:rPr lang="en-IN" dirty="0" smtClean="0"/>
                        <a:t>[a x (b x c)]</a:t>
                      </a:r>
                      <a:r>
                        <a:rPr lang="en-IN" baseline="0" dirty="0" smtClean="0"/>
                        <a:t> mod n</a:t>
                      </a:r>
                      <a:endParaRPr lang="en-IN" dirty="0"/>
                    </a:p>
                  </a:txBody>
                  <a:tcPr/>
                </a:tc>
              </a:tr>
              <a:tr h="457313">
                <a:tc>
                  <a:txBody>
                    <a:bodyPr/>
                    <a:lstStyle/>
                    <a:p>
                      <a:r>
                        <a:rPr lang="en-IN" dirty="0" smtClean="0"/>
                        <a:t>Distributive law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IN" dirty="0" smtClean="0"/>
                        <a:t> [a x (b + c)] mod n =  [(a x b) + (a x</a:t>
                      </a:r>
                      <a:r>
                        <a:rPr lang="en-IN" baseline="0" dirty="0" smtClean="0"/>
                        <a:t> </a:t>
                      </a:r>
                      <a:r>
                        <a:rPr lang="en-IN" dirty="0" smtClean="0"/>
                        <a:t>c)] mod n</a:t>
                      </a:r>
                      <a:endParaRPr lang="en-IN" dirty="0"/>
                    </a:p>
                  </a:txBody>
                  <a:tcPr/>
                </a:tc>
              </a:tr>
              <a:tr h="789335">
                <a:tc>
                  <a:txBody>
                    <a:bodyPr/>
                    <a:lstStyle/>
                    <a:p>
                      <a:r>
                        <a:rPr lang="en-IN" dirty="0" smtClean="0"/>
                        <a:t>Identities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IN" dirty="0" smtClean="0"/>
                        <a:t> (0 + a) mod n = a mod n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IN" dirty="0" smtClean="0"/>
                        <a:t> (1 x a) mod n = a mod n</a:t>
                      </a:r>
                      <a:endParaRPr lang="en-IN" dirty="0"/>
                    </a:p>
                  </a:txBody>
                  <a:tcPr/>
                </a:tc>
              </a:tr>
              <a:tr h="789335">
                <a:tc>
                  <a:txBody>
                    <a:bodyPr/>
                    <a:lstStyle/>
                    <a:p>
                      <a:r>
                        <a:rPr lang="en-IN" dirty="0" smtClean="0"/>
                        <a:t>Additive inverse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IN" dirty="0" smtClean="0"/>
                        <a:t> For each a </a:t>
                      </a:r>
                      <a:r>
                        <a:rPr lang="en-IN" dirty="0" smtClean="0">
                          <a:sym typeface="Symbol"/>
                        </a:rPr>
                        <a:t> Zn,</a:t>
                      </a:r>
                      <a:r>
                        <a:rPr lang="en-IN" baseline="0" dirty="0" smtClean="0">
                          <a:sym typeface="Symbol"/>
                        </a:rPr>
                        <a:t> there exists a ‘-a’ such that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IN" baseline="0" dirty="0" smtClean="0">
                          <a:sym typeface="Symbol"/>
                        </a:rPr>
                        <a:t>   a + (-a)  0 mod n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18 mod 12</a:t>
            </a:r>
          </a:p>
          <a:p>
            <a:r>
              <a:rPr lang="en-US" dirty="0"/>
              <a:t>24 mod 12</a:t>
            </a:r>
          </a:p>
          <a:p>
            <a:r>
              <a:rPr lang="en-US" dirty="0"/>
              <a:t>32 mod 12</a:t>
            </a:r>
          </a:p>
          <a:p>
            <a:r>
              <a:rPr lang="en-US" dirty="0"/>
              <a:t>4 mod 12</a:t>
            </a:r>
          </a:p>
          <a:p>
            <a:r>
              <a:rPr lang="en-US" dirty="0"/>
              <a:t>8 mod 12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5413675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Congruence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28736"/>
            <a:ext cx="8229600" cy="4697427"/>
          </a:xfrm>
        </p:spPr>
        <p:txBody>
          <a:bodyPr>
            <a:normAutofit/>
          </a:bodyPr>
          <a:lstStyle/>
          <a:p>
            <a:pPr marL="514350" indent="-514350" algn="just">
              <a:buAutoNum type="arabicPeriod"/>
            </a:pPr>
            <a:r>
              <a:rPr lang="en-IN" b="1" dirty="0" smtClean="0">
                <a:solidFill>
                  <a:srgbClr val="0070C0"/>
                </a:solidFill>
              </a:rPr>
              <a:t>a </a:t>
            </a:r>
            <a:r>
              <a:rPr lang="en-IN" b="1" dirty="0">
                <a:solidFill>
                  <a:srgbClr val="0070C0"/>
                </a:solidFill>
              </a:rPr>
              <a:t>≡ r (mod n) </a:t>
            </a:r>
            <a:r>
              <a:rPr lang="en-IN" dirty="0"/>
              <a:t>if r is the remainder obtained by dividing a by n. </a:t>
            </a:r>
          </a:p>
          <a:p>
            <a:pPr marL="514350" indent="-514350" algn="just">
              <a:buFont typeface="Arial" panose="020B0604020202020204" pitchFamily="34" charset="0"/>
              <a:buAutoNum type="arabicPeriod"/>
            </a:pPr>
            <a:r>
              <a:rPr lang="en-IN" dirty="0" smtClean="0"/>
              <a:t>Reflexivity : </a:t>
            </a:r>
            <a:r>
              <a:rPr lang="en-IN" b="1" dirty="0" smtClean="0">
                <a:solidFill>
                  <a:srgbClr val="0070C0"/>
                </a:solidFill>
              </a:rPr>
              <a:t>a </a:t>
            </a:r>
            <a:r>
              <a:rPr lang="en-IN" b="1" dirty="0">
                <a:solidFill>
                  <a:srgbClr val="0070C0"/>
                </a:solidFill>
              </a:rPr>
              <a:t>≡ a (mod n) </a:t>
            </a:r>
            <a:endParaRPr lang="en-IN" b="1" dirty="0" smtClean="0">
              <a:solidFill>
                <a:srgbClr val="0070C0"/>
              </a:solidFill>
            </a:endParaRPr>
          </a:p>
          <a:p>
            <a:pPr marL="514350" indent="-514350" algn="just">
              <a:buFont typeface="Arial" panose="020B0604020202020204" pitchFamily="34" charset="0"/>
              <a:buAutoNum type="arabicPeriod"/>
            </a:pPr>
            <a:r>
              <a:rPr lang="pt-BR" dirty="0" smtClean="0"/>
              <a:t>Symmetry: </a:t>
            </a:r>
          </a:p>
          <a:p>
            <a:pPr marL="914400" lvl="1" indent="-514350" algn="just">
              <a:buNone/>
            </a:pPr>
            <a:r>
              <a:rPr lang="pt-BR" sz="3200" b="1" dirty="0" smtClean="0">
                <a:solidFill>
                  <a:srgbClr val="0070C0"/>
                </a:solidFill>
              </a:rPr>
              <a:t>  a </a:t>
            </a:r>
            <a:r>
              <a:rPr lang="en-IN" sz="3200" b="1" dirty="0" smtClean="0">
                <a:solidFill>
                  <a:srgbClr val="0070C0"/>
                </a:solidFill>
              </a:rPr>
              <a:t>≡</a:t>
            </a:r>
            <a:r>
              <a:rPr lang="pt-BR" sz="3200" b="1" dirty="0" smtClean="0">
                <a:solidFill>
                  <a:srgbClr val="0070C0"/>
                </a:solidFill>
              </a:rPr>
              <a:t> b (mod n) implies b </a:t>
            </a:r>
            <a:r>
              <a:rPr lang="en-IN" sz="3200" b="1" dirty="0" smtClean="0">
                <a:solidFill>
                  <a:srgbClr val="0070C0"/>
                </a:solidFill>
              </a:rPr>
              <a:t>≡</a:t>
            </a:r>
            <a:r>
              <a:rPr lang="pt-BR" sz="3200" b="1" dirty="0" smtClean="0">
                <a:solidFill>
                  <a:srgbClr val="0070C0"/>
                </a:solidFill>
              </a:rPr>
              <a:t> a (mod n) </a:t>
            </a:r>
          </a:p>
          <a:p>
            <a:pPr marL="514350" indent="-514350" algn="just">
              <a:buFont typeface="Arial" panose="020B0604020202020204" pitchFamily="34" charset="0"/>
              <a:buAutoNum type="arabicPeriod"/>
            </a:pPr>
            <a:r>
              <a:rPr lang="pt-BR" dirty="0" smtClean="0"/>
              <a:t>Transitivity: </a:t>
            </a:r>
          </a:p>
          <a:p>
            <a:pPr marL="514350" indent="-514350" algn="just">
              <a:buNone/>
            </a:pPr>
            <a:r>
              <a:rPr lang="pt-BR" i="1" dirty="0" smtClean="0"/>
              <a:t>      </a:t>
            </a:r>
            <a:r>
              <a:rPr lang="pt-BR" b="1" dirty="0" smtClean="0">
                <a:solidFill>
                  <a:srgbClr val="0070C0"/>
                </a:solidFill>
              </a:rPr>
              <a:t>a </a:t>
            </a:r>
            <a:r>
              <a:rPr lang="en-IN" b="1" dirty="0" smtClean="0">
                <a:solidFill>
                  <a:srgbClr val="0070C0"/>
                </a:solidFill>
              </a:rPr>
              <a:t>≡ </a:t>
            </a:r>
            <a:r>
              <a:rPr lang="pt-BR" b="1" dirty="0" smtClean="0">
                <a:solidFill>
                  <a:srgbClr val="0070C0"/>
                </a:solidFill>
              </a:rPr>
              <a:t>b (mod n) and b </a:t>
            </a:r>
            <a:r>
              <a:rPr lang="en-IN" b="1" dirty="0" smtClean="0">
                <a:solidFill>
                  <a:srgbClr val="0070C0"/>
                </a:solidFill>
              </a:rPr>
              <a:t>≡</a:t>
            </a:r>
            <a:r>
              <a:rPr lang="pt-BR" b="1" dirty="0" smtClean="0">
                <a:solidFill>
                  <a:srgbClr val="0070C0"/>
                </a:solidFill>
              </a:rPr>
              <a:t> c (mod n) implies</a:t>
            </a:r>
          </a:p>
          <a:p>
            <a:pPr marL="514350" indent="-514350" algn="just">
              <a:buNone/>
            </a:pPr>
            <a:r>
              <a:rPr lang="pt-BR" b="1" dirty="0" smtClean="0">
                <a:solidFill>
                  <a:srgbClr val="0070C0"/>
                </a:solidFill>
              </a:rPr>
              <a:t>      a </a:t>
            </a:r>
            <a:r>
              <a:rPr lang="en-IN" b="1" dirty="0" smtClean="0">
                <a:solidFill>
                  <a:srgbClr val="0070C0"/>
                </a:solidFill>
              </a:rPr>
              <a:t>≡ </a:t>
            </a:r>
            <a:r>
              <a:rPr lang="pt-BR" b="1" dirty="0" smtClean="0">
                <a:solidFill>
                  <a:srgbClr val="0070C0"/>
                </a:solidFill>
              </a:rPr>
              <a:t>c (mod n). </a:t>
            </a:r>
            <a:endParaRPr lang="en-IN" b="1" dirty="0" smtClean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426461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Points to remember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 smtClean="0"/>
              <a:t>N mod M = Remainder.</a:t>
            </a:r>
          </a:p>
          <a:p>
            <a:pPr algn="just"/>
            <a:r>
              <a:rPr lang="en-IN" dirty="0" smtClean="0"/>
              <a:t>If N is less than M then N mod M = N.</a:t>
            </a:r>
          </a:p>
          <a:p>
            <a:pPr algn="just"/>
            <a:r>
              <a:rPr lang="en-IN" dirty="0" smtClean="0"/>
              <a:t>For negative numbers consider anti-clockwise direction.</a:t>
            </a:r>
          </a:p>
          <a:p>
            <a:pPr algn="just"/>
            <a:endParaRPr lang="en-IN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28926" y="3571876"/>
            <a:ext cx="4200521" cy="22383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533</Words>
  <Application>Microsoft Office PowerPoint</Application>
  <PresentationFormat>On-screen Show (4:3)</PresentationFormat>
  <Paragraphs>57</Paragraphs>
  <Slides>12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Modular Arithmetic  </vt:lpstr>
      <vt:lpstr>Modular Arithmetic </vt:lpstr>
      <vt:lpstr>Modulus with an analogy</vt:lpstr>
      <vt:lpstr>Modulus with an analogy</vt:lpstr>
      <vt:lpstr>Congruence</vt:lpstr>
      <vt:lpstr>Valid or invalid ?</vt:lpstr>
      <vt:lpstr>Properties of Modular Arithmetic</vt:lpstr>
      <vt:lpstr>Example</vt:lpstr>
      <vt:lpstr>Properties of Modular Arithmetic</vt:lpstr>
      <vt:lpstr>Exercise </vt:lpstr>
      <vt:lpstr>Properties of Congruence</vt:lpstr>
      <vt:lpstr>Points to remember 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Cybersecurity - Basics</dc:title>
  <dc:creator>admin</dc:creator>
  <cp:lastModifiedBy>god</cp:lastModifiedBy>
  <cp:revision>167</cp:revision>
  <dcterms:created xsi:type="dcterms:W3CDTF">2020-07-09T05:35:26Z</dcterms:created>
  <dcterms:modified xsi:type="dcterms:W3CDTF">2023-07-24T06:58:40Z</dcterms:modified>
</cp:coreProperties>
</file>