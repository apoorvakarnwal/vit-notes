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308" r:id="rId2"/>
    <p:sldId id="311" r:id="rId3"/>
    <p:sldId id="385" r:id="rId4"/>
    <p:sldId id="386" r:id="rId5"/>
    <p:sldId id="387" r:id="rId6"/>
    <p:sldId id="388" r:id="rId7"/>
    <p:sldId id="389" r:id="rId8"/>
    <p:sldId id="390" r:id="rId9"/>
    <p:sldId id="391" r:id="rId10"/>
    <p:sldId id="392" r:id="rId11"/>
    <p:sldId id="393" r:id="rId12"/>
    <p:sldId id="394" r:id="rId13"/>
    <p:sldId id="335" r:id="rId14"/>
    <p:sldId id="312" r:id="rId15"/>
    <p:sldId id="314" r:id="rId16"/>
    <p:sldId id="336" r:id="rId17"/>
    <p:sldId id="337" r:id="rId18"/>
    <p:sldId id="338" r:id="rId19"/>
    <p:sldId id="339" r:id="rId20"/>
    <p:sldId id="340" r:id="rId21"/>
    <p:sldId id="317" r:id="rId22"/>
    <p:sldId id="342" r:id="rId23"/>
    <p:sldId id="343" r:id="rId24"/>
    <p:sldId id="344" r:id="rId25"/>
    <p:sldId id="345" r:id="rId26"/>
    <p:sldId id="321" r:id="rId27"/>
    <p:sldId id="379" r:id="rId28"/>
    <p:sldId id="381" r:id="rId29"/>
    <p:sldId id="347" r:id="rId30"/>
    <p:sldId id="349" r:id="rId31"/>
    <p:sldId id="350" r:id="rId32"/>
    <p:sldId id="351" r:id="rId33"/>
    <p:sldId id="352" r:id="rId34"/>
    <p:sldId id="353" r:id="rId35"/>
    <p:sldId id="354" r:id="rId36"/>
    <p:sldId id="380" r:id="rId37"/>
    <p:sldId id="355" r:id="rId38"/>
    <p:sldId id="325" r:id="rId39"/>
    <p:sldId id="357" r:id="rId40"/>
    <p:sldId id="358" r:id="rId41"/>
    <p:sldId id="359" r:id="rId42"/>
    <p:sldId id="367" r:id="rId43"/>
    <p:sldId id="368" r:id="rId44"/>
    <p:sldId id="365" r:id="rId45"/>
    <p:sldId id="369" r:id="rId46"/>
    <p:sldId id="370" r:id="rId47"/>
    <p:sldId id="371" r:id="rId48"/>
    <p:sldId id="372" r:id="rId49"/>
    <p:sldId id="373" r:id="rId50"/>
    <p:sldId id="384" r:id="rId51"/>
    <p:sldId id="383" r:id="rId52"/>
    <p:sldId id="330" r:id="rId53"/>
    <p:sldId id="374" r:id="rId54"/>
    <p:sldId id="375" r:id="rId55"/>
    <p:sldId id="376" r:id="rId56"/>
    <p:sldId id="377" r:id="rId57"/>
    <p:sldId id="378" r:id="rId58"/>
    <p:sldId id="395" r:id="rId59"/>
    <p:sldId id="396"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925" autoAdjust="0"/>
  </p:normalViewPr>
  <p:slideViewPr>
    <p:cSldViewPr>
      <p:cViewPr varScale="1">
        <p:scale>
          <a:sx n="78" d="100"/>
          <a:sy n="78" d="100"/>
        </p:scale>
        <p:origin x="152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CEC1FB-01C9-457E-B407-32A75D40B513}" type="datetimeFigureOut">
              <a:rPr lang="en-IN" smtClean="0"/>
              <a:pPr/>
              <a:t>10-01-2025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0086C4-F9A6-4544-AD76-EE3F0098DDC3}" type="slidenum">
              <a:rPr lang="en-IN" smtClean="0"/>
              <a:pPr/>
              <a:t>‹#›</a:t>
            </a:fld>
            <a:endParaRPr lang="en-IN"/>
          </a:p>
        </p:txBody>
      </p:sp>
    </p:spTree>
    <p:extLst>
      <p:ext uri="{BB962C8B-B14F-4D97-AF65-F5344CB8AC3E}">
        <p14:creationId xmlns:p14="http://schemas.microsoft.com/office/powerpoint/2010/main" val="146313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miter lim="800000"/>
            <a:headEnd/>
            <a:tailEnd/>
          </a:ln>
        </p:spPr>
        <p:txBody>
          <a:bodyPr/>
          <a:lstStyle/>
          <a:p>
            <a:fld id="{6809BA1E-2201-4CF7-89FD-43BE5307DF45}" type="slidenum">
              <a:rPr lang="en-AU" altLang="en-US"/>
              <a:pPr/>
              <a:t>15</a:t>
            </a:fld>
            <a:endParaRPr lang="en-AU"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AU" altLang="en-US" dirty="0"/>
              <a:t>Each alphabet is assigned with the number starting form 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dirty="0">
                <a:solidFill>
                  <a:schemeClr val="tx1"/>
                </a:solidFill>
                <a:latin typeface="+mn-lt"/>
                <a:ea typeface="+mn-ea"/>
                <a:cs typeface="+mn-cs"/>
              </a:rPr>
              <a:t>C =  (</a:t>
            </a:r>
            <a:r>
              <a:rPr lang="en-IN" sz="1200" kern="1200" dirty="0" err="1">
                <a:solidFill>
                  <a:schemeClr val="tx1"/>
                </a:solidFill>
                <a:latin typeface="+mn-lt"/>
                <a:ea typeface="+mn-ea"/>
                <a:cs typeface="+mn-cs"/>
              </a:rPr>
              <a:t>p+k</a:t>
            </a:r>
            <a:r>
              <a:rPr lang="en-IN" sz="1200" kern="1200" dirty="0">
                <a:solidFill>
                  <a:schemeClr val="tx1"/>
                </a:solidFill>
                <a:latin typeface="+mn-lt"/>
                <a:ea typeface="+mn-ea"/>
                <a:cs typeface="+mn-cs"/>
              </a:rPr>
              <a:t>) mod 26</a:t>
            </a:r>
          </a:p>
          <a:p>
            <a:r>
              <a:rPr lang="en-IN" sz="1200" kern="1200" dirty="0">
                <a:solidFill>
                  <a:schemeClr val="tx1"/>
                </a:solidFill>
                <a:latin typeface="+mn-lt"/>
                <a:ea typeface="+mn-ea"/>
                <a:cs typeface="+mn-cs"/>
              </a:rPr>
              <a:t>Consider p = n and the letter equivalent to 16 in the table is q.</a:t>
            </a:r>
          </a:p>
          <a:p>
            <a:r>
              <a:rPr lang="en-IN" sz="1200" kern="1200" dirty="0">
                <a:solidFill>
                  <a:schemeClr val="tx1"/>
                </a:solidFill>
                <a:latin typeface="+mn-lt"/>
                <a:ea typeface="+mn-ea"/>
                <a:cs typeface="+mn-cs"/>
              </a:rPr>
              <a:t>C = (13+3) mod 26 = 16 mod 26 = 16</a:t>
            </a:r>
          </a:p>
          <a:p>
            <a:r>
              <a:rPr lang="en-IN" sz="1200" kern="1200" dirty="0">
                <a:solidFill>
                  <a:schemeClr val="tx1"/>
                </a:solidFill>
                <a:latin typeface="+mn-lt"/>
                <a:ea typeface="+mn-ea"/>
                <a:cs typeface="+mn-cs"/>
              </a:rPr>
              <a:t>Letter equivalent to 16 in the table is q.	</a:t>
            </a:r>
            <a:endParaRPr lang="en-IN" dirty="0"/>
          </a:p>
        </p:txBody>
      </p:sp>
      <p:sp>
        <p:nvSpPr>
          <p:cNvPr id="4" name="Slide Number Placeholder 3"/>
          <p:cNvSpPr>
            <a:spLocks noGrp="1"/>
          </p:cNvSpPr>
          <p:nvPr>
            <p:ph type="sldNum" sz="quarter" idx="10"/>
          </p:nvPr>
        </p:nvSpPr>
        <p:spPr/>
        <p:txBody>
          <a:bodyPr/>
          <a:lstStyle/>
          <a:p>
            <a:fld id="{C80086C4-F9A6-4544-AD76-EE3F0098DDC3}" type="slidenum">
              <a:rPr lang="en-IN" smtClean="0"/>
              <a:pPr/>
              <a:t>16</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miter lim="800000"/>
            <a:headEnd/>
            <a:tailEnd/>
          </a:ln>
        </p:spPr>
        <p:txBody>
          <a:bodyPr/>
          <a:lstStyle/>
          <a:p>
            <a:fld id="{9EAE55A8-5027-4972-861B-4F600983A2A5}" type="slidenum">
              <a:rPr lang="en-AU" altLang="en-US"/>
              <a:pPr/>
              <a:t>21</a:t>
            </a:fld>
            <a:endParaRPr lang="en-AU"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altLang="en-US">
                <a:latin typeface="Times-Roman" charset="0"/>
              </a:rPr>
              <a:t>With only 25 possible keys, the Caesar cipher is far from secure. A dramatic increase in the key space can be achieved by allowing an arbitrary substitution, where the translation alphabet can be any permutation of the 26 alphabetic characters.</a:t>
            </a:r>
            <a:endParaRPr lang="en-US" altLang="en-US"/>
          </a:p>
          <a:p>
            <a:pPr eaLnBrk="1" hangingPunct="1"/>
            <a:r>
              <a:rPr lang="en-US" altLang="en-US"/>
              <a:t>See example translation alphabet, and an encrypted message using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dirty="0"/>
              <a:t>We can randomly map it to any letter even a permutation is allowed.</a:t>
            </a:r>
          </a:p>
          <a:p>
            <a:r>
              <a:rPr lang="en-IN" dirty="0"/>
              <a:t>The</a:t>
            </a:r>
            <a:r>
              <a:rPr lang="en-IN" baseline="0" dirty="0"/>
              <a:t> difference b/w the p.txt and c.txt is not uniform unlike shift cipher and </a:t>
            </a:r>
            <a:r>
              <a:rPr lang="en-IN" baseline="0" dirty="0" err="1"/>
              <a:t>caesar</a:t>
            </a:r>
            <a:r>
              <a:rPr lang="en-IN" baseline="0" dirty="0"/>
              <a:t> cipher.</a:t>
            </a:r>
          </a:p>
          <a:p>
            <a:endParaRPr lang="en-IN" dirty="0"/>
          </a:p>
        </p:txBody>
      </p:sp>
      <p:sp>
        <p:nvSpPr>
          <p:cNvPr id="4" name="Slide Number Placeholder 3"/>
          <p:cNvSpPr>
            <a:spLocks noGrp="1"/>
          </p:cNvSpPr>
          <p:nvPr>
            <p:ph type="sldNum" sz="quarter" idx="10"/>
          </p:nvPr>
        </p:nvSpPr>
        <p:spPr/>
        <p:txBody>
          <a:bodyPr/>
          <a:lstStyle/>
          <a:p>
            <a:fld id="{C80086C4-F9A6-4544-AD76-EE3F0098DDC3}" type="slidenum">
              <a:rPr lang="en-IN" smtClean="0"/>
              <a:pPr/>
              <a:t>23</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miter lim="800000"/>
            <a:headEnd/>
            <a:tailEnd/>
          </a:ln>
        </p:spPr>
        <p:txBody>
          <a:bodyPr/>
          <a:lstStyle/>
          <a:p>
            <a:fld id="{F1AABD1B-072B-49CF-9A01-38EAD5B81E6E}" type="slidenum">
              <a:rPr lang="en-AU" altLang="en-US"/>
              <a:pPr/>
              <a:t>24</a:t>
            </a:fld>
            <a:endParaRPr lang="en-AU"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AU"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miter lim="800000"/>
            <a:headEnd/>
            <a:tailEnd/>
          </a:ln>
        </p:spPr>
        <p:txBody>
          <a:bodyPr/>
          <a:lstStyle/>
          <a:p>
            <a:fld id="{DD658BDB-0F42-4748-B3B1-236439BA6930}" type="slidenum">
              <a:rPr lang="en-AU" altLang="en-US"/>
              <a:pPr/>
              <a:t>26</a:t>
            </a:fld>
            <a:endParaRPr lang="en-AU"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AU" altLang="en-US" dirty="0"/>
              <a:t>Lord</a:t>
            </a:r>
            <a:r>
              <a:rPr lang="en-AU" altLang="en-US" baseline="0" dirty="0"/>
              <a:t> </a:t>
            </a:r>
            <a:r>
              <a:rPr lang="en-AU" altLang="en-US" baseline="0" dirty="0" err="1"/>
              <a:t>playfair</a:t>
            </a:r>
            <a:r>
              <a:rPr lang="en-AU" altLang="en-US" baseline="0" dirty="0"/>
              <a:t> for promoting its use.</a:t>
            </a:r>
            <a:endParaRPr lang="en-AU"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miter lim="800000"/>
            <a:headEnd/>
            <a:tailEnd/>
          </a:ln>
        </p:spPr>
        <p:txBody>
          <a:bodyPr/>
          <a:lstStyle/>
          <a:p>
            <a:fld id="{DD658BDB-0F42-4748-B3B1-236439BA6930}" type="slidenum">
              <a:rPr lang="en-AU" altLang="en-US"/>
              <a:pPr/>
              <a:t>29</a:t>
            </a:fld>
            <a:endParaRPr lang="en-AU"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AU" altLang="en-US" dirty="0"/>
              <a:t>Lord</a:t>
            </a:r>
            <a:r>
              <a:rPr lang="en-AU" altLang="en-US" baseline="0" dirty="0"/>
              <a:t> </a:t>
            </a:r>
            <a:r>
              <a:rPr lang="en-AU" altLang="en-US" baseline="0" dirty="0" err="1"/>
              <a:t>playfair</a:t>
            </a:r>
            <a:r>
              <a:rPr lang="en-AU" altLang="en-US" baseline="0" dirty="0"/>
              <a:t> for </a:t>
            </a:r>
            <a:r>
              <a:rPr lang="en-AU" altLang="en-US" baseline="0"/>
              <a:t>promoting its use.</a:t>
            </a:r>
            <a:endParaRPr lang="en-AU"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miter lim="800000"/>
            <a:headEnd/>
            <a:tailEnd/>
          </a:ln>
        </p:spPr>
        <p:txBody>
          <a:bodyPr/>
          <a:lstStyle/>
          <a:p>
            <a:fld id="{61B579CD-422B-4A39-9C4C-6C7EA9F98521}" type="slidenum">
              <a:rPr lang="en-AU" altLang="en-US"/>
              <a:pPr/>
              <a:t>52</a:t>
            </a:fld>
            <a:endParaRPr lang="en-AU" alt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marL="228600" indent="-228600" eaLnBrk="1" hangingPunct="1"/>
            <a:endParaRPr lang="en-AU" altLang="en-US" dirty="0">
              <a:latin typeface="Times-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848E7AD-E0D9-48F6-97E4-4C9350FC047A}" type="datetime1">
              <a:rPr lang="en-IN" smtClean="0"/>
              <a:pPr/>
              <a:t>10-01-2025</a:t>
            </a:fld>
            <a:endParaRPr lang="en-IN"/>
          </a:p>
        </p:txBody>
      </p:sp>
      <p:sp>
        <p:nvSpPr>
          <p:cNvPr id="5" name="Footer Placeholder 4"/>
          <p:cNvSpPr>
            <a:spLocks noGrp="1"/>
          </p:cNvSpPr>
          <p:nvPr>
            <p:ph type="ftr" sz="quarter" idx="11"/>
          </p:nvPr>
        </p:nvSpPr>
        <p:spPr/>
        <p:txBody>
          <a:bodyPr/>
          <a:lstStyle/>
          <a:p>
            <a:r>
              <a:rPr lang="en-IN"/>
              <a:t>Satish C J</a:t>
            </a:r>
          </a:p>
        </p:txBody>
      </p:sp>
      <p:sp>
        <p:nvSpPr>
          <p:cNvPr id="6" name="Slide Number Placeholder 5"/>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3659768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F012476-E0B3-40B1-A870-C39583A9D781}" type="datetime1">
              <a:rPr lang="en-IN" smtClean="0"/>
              <a:pPr/>
              <a:t>10-01-2025</a:t>
            </a:fld>
            <a:endParaRPr lang="en-IN"/>
          </a:p>
        </p:txBody>
      </p:sp>
      <p:sp>
        <p:nvSpPr>
          <p:cNvPr id="5" name="Footer Placeholder 4"/>
          <p:cNvSpPr>
            <a:spLocks noGrp="1"/>
          </p:cNvSpPr>
          <p:nvPr>
            <p:ph type="ftr" sz="quarter" idx="11"/>
          </p:nvPr>
        </p:nvSpPr>
        <p:spPr/>
        <p:txBody>
          <a:bodyPr/>
          <a:lstStyle/>
          <a:p>
            <a:r>
              <a:rPr lang="en-IN"/>
              <a:t>Satish C J</a:t>
            </a:r>
          </a:p>
        </p:txBody>
      </p:sp>
      <p:sp>
        <p:nvSpPr>
          <p:cNvPr id="6" name="Slide Number Placeholder 5"/>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2288006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D1F21B-F1EC-48C4-A5B2-3AC1BF685E11}" type="datetime1">
              <a:rPr lang="en-IN" smtClean="0"/>
              <a:pPr/>
              <a:t>10-01-2025</a:t>
            </a:fld>
            <a:endParaRPr lang="en-IN"/>
          </a:p>
        </p:txBody>
      </p:sp>
      <p:sp>
        <p:nvSpPr>
          <p:cNvPr id="5" name="Footer Placeholder 4"/>
          <p:cNvSpPr>
            <a:spLocks noGrp="1"/>
          </p:cNvSpPr>
          <p:nvPr>
            <p:ph type="ftr" sz="quarter" idx="11"/>
          </p:nvPr>
        </p:nvSpPr>
        <p:spPr/>
        <p:txBody>
          <a:bodyPr/>
          <a:lstStyle/>
          <a:p>
            <a:r>
              <a:rPr lang="en-IN"/>
              <a:t>Satish C J</a:t>
            </a:r>
          </a:p>
        </p:txBody>
      </p:sp>
      <p:sp>
        <p:nvSpPr>
          <p:cNvPr id="6" name="Slide Number Placeholder 5"/>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3703808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BCA39B4-91E9-485B-9326-2BC3FFF25360}" type="datetime1">
              <a:rPr lang="en-IN" smtClean="0"/>
              <a:pPr/>
              <a:t>10-01-2025</a:t>
            </a:fld>
            <a:endParaRPr lang="en-IN"/>
          </a:p>
        </p:txBody>
      </p:sp>
      <p:sp>
        <p:nvSpPr>
          <p:cNvPr id="6" name="Footer Placeholder 5"/>
          <p:cNvSpPr>
            <a:spLocks noGrp="1"/>
          </p:cNvSpPr>
          <p:nvPr>
            <p:ph type="ftr" sz="quarter" idx="11"/>
          </p:nvPr>
        </p:nvSpPr>
        <p:spPr/>
        <p:txBody>
          <a:bodyPr/>
          <a:lstStyle/>
          <a:p>
            <a:r>
              <a:rPr lang="en-IN"/>
              <a:t>Satish C J</a:t>
            </a:r>
          </a:p>
        </p:txBody>
      </p:sp>
      <p:sp>
        <p:nvSpPr>
          <p:cNvPr id="7" name="Slide Number Placeholder 6"/>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1524013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8ECEA97-6347-4D8C-899F-5EC05F9F3DD2}" type="datetime1">
              <a:rPr lang="en-IN" smtClean="0"/>
              <a:pPr/>
              <a:t>10-01-2025</a:t>
            </a:fld>
            <a:endParaRPr lang="en-IN"/>
          </a:p>
        </p:txBody>
      </p:sp>
      <p:sp>
        <p:nvSpPr>
          <p:cNvPr id="8" name="Footer Placeholder 7"/>
          <p:cNvSpPr>
            <a:spLocks noGrp="1"/>
          </p:cNvSpPr>
          <p:nvPr>
            <p:ph type="ftr" sz="quarter" idx="11"/>
          </p:nvPr>
        </p:nvSpPr>
        <p:spPr/>
        <p:txBody>
          <a:bodyPr/>
          <a:lstStyle/>
          <a:p>
            <a:r>
              <a:rPr lang="en-IN"/>
              <a:t>Satish C J</a:t>
            </a:r>
          </a:p>
        </p:txBody>
      </p:sp>
      <p:sp>
        <p:nvSpPr>
          <p:cNvPr id="9" name="Slide Number Placeholder 8"/>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1431921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6A292AD-3E5C-4ADA-B9B2-861D5C63153D}" type="datetime1">
              <a:rPr lang="en-IN" smtClean="0"/>
              <a:pPr/>
              <a:t>10-01-2025</a:t>
            </a:fld>
            <a:endParaRPr lang="en-IN"/>
          </a:p>
        </p:txBody>
      </p:sp>
      <p:sp>
        <p:nvSpPr>
          <p:cNvPr id="4" name="Footer Placeholder 3"/>
          <p:cNvSpPr>
            <a:spLocks noGrp="1"/>
          </p:cNvSpPr>
          <p:nvPr>
            <p:ph type="ftr" sz="quarter" idx="11"/>
          </p:nvPr>
        </p:nvSpPr>
        <p:spPr/>
        <p:txBody>
          <a:bodyPr/>
          <a:lstStyle/>
          <a:p>
            <a:r>
              <a:rPr lang="en-IN"/>
              <a:t>Satish C J</a:t>
            </a:r>
          </a:p>
        </p:txBody>
      </p:sp>
      <p:sp>
        <p:nvSpPr>
          <p:cNvPr id="5" name="Slide Number Placeholder 4"/>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939830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4ECE5C-9547-4405-A48C-CFD72D634A9E}" type="datetime1">
              <a:rPr lang="en-IN" smtClean="0"/>
              <a:pPr/>
              <a:t>10-01-2025</a:t>
            </a:fld>
            <a:endParaRPr lang="en-IN"/>
          </a:p>
        </p:txBody>
      </p:sp>
      <p:sp>
        <p:nvSpPr>
          <p:cNvPr id="3" name="Footer Placeholder 2"/>
          <p:cNvSpPr>
            <a:spLocks noGrp="1"/>
          </p:cNvSpPr>
          <p:nvPr>
            <p:ph type="ftr" sz="quarter" idx="11"/>
          </p:nvPr>
        </p:nvSpPr>
        <p:spPr/>
        <p:txBody>
          <a:bodyPr/>
          <a:lstStyle/>
          <a:p>
            <a:r>
              <a:rPr lang="en-IN"/>
              <a:t>Satish C J</a:t>
            </a:r>
          </a:p>
        </p:txBody>
      </p:sp>
      <p:sp>
        <p:nvSpPr>
          <p:cNvPr id="4" name="Slide Number Placeholder 3"/>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1925741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EDA64A-06BB-4ACC-8423-FCAF58D67366}" type="datetime1">
              <a:rPr lang="en-IN" smtClean="0"/>
              <a:pPr/>
              <a:t>10-01-2025</a:t>
            </a:fld>
            <a:endParaRPr lang="en-IN"/>
          </a:p>
        </p:txBody>
      </p:sp>
      <p:sp>
        <p:nvSpPr>
          <p:cNvPr id="6" name="Footer Placeholder 5"/>
          <p:cNvSpPr>
            <a:spLocks noGrp="1"/>
          </p:cNvSpPr>
          <p:nvPr>
            <p:ph type="ftr" sz="quarter" idx="11"/>
          </p:nvPr>
        </p:nvSpPr>
        <p:spPr/>
        <p:txBody>
          <a:bodyPr/>
          <a:lstStyle/>
          <a:p>
            <a:r>
              <a:rPr lang="en-IN"/>
              <a:t>Satish C J</a:t>
            </a:r>
          </a:p>
        </p:txBody>
      </p:sp>
      <p:sp>
        <p:nvSpPr>
          <p:cNvPr id="7" name="Slide Number Placeholder 6"/>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371636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951149-9682-426D-81DE-D02BE79C1CDA}" type="datetime1">
              <a:rPr lang="en-IN" smtClean="0"/>
              <a:pPr/>
              <a:t>10-01-2025</a:t>
            </a:fld>
            <a:endParaRPr lang="en-IN"/>
          </a:p>
        </p:txBody>
      </p:sp>
      <p:sp>
        <p:nvSpPr>
          <p:cNvPr id="6" name="Footer Placeholder 5"/>
          <p:cNvSpPr>
            <a:spLocks noGrp="1"/>
          </p:cNvSpPr>
          <p:nvPr>
            <p:ph type="ftr" sz="quarter" idx="11"/>
          </p:nvPr>
        </p:nvSpPr>
        <p:spPr/>
        <p:txBody>
          <a:bodyPr/>
          <a:lstStyle/>
          <a:p>
            <a:r>
              <a:rPr lang="en-IN"/>
              <a:t>Satish C J</a:t>
            </a:r>
          </a:p>
        </p:txBody>
      </p:sp>
      <p:sp>
        <p:nvSpPr>
          <p:cNvPr id="7" name="Slide Number Placeholder 6"/>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1517619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F3ABF8B-417A-44A7-90BA-5ABEDCB2C555}" type="datetime1">
              <a:rPr lang="en-IN" smtClean="0"/>
              <a:pPr/>
              <a:t>10-01-2025</a:t>
            </a:fld>
            <a:endParaRPr lang="en-IN"/>
          </a:p>
        </p:txBody>
      </p:sp>
      <p:sp>
        <p:nvSpPr>
          <p:cNvPr id="5" name="Footer Placeholder 4"/>
          <p:cNvSpPr>
            <a:spLocks noGrp="1"/>
          </p:cNvSpPr>
          <p:nvPr>
            <p:ph type="ftr" sz="quarter" idx="11"/>
          </p:nvPr>
        </p:nvSpPr>
        <p:spPr/>
        <p:txBody>
          <a:bodyPr/>
          <a:lstStyle/>
          <a:p>
            <a:r>
              <a:rPr lang="en-IN"/>
              <a:t>Satish C J</a:t>
            </a:r>
          </a:p>
        </p:txBody>
      </p:sp>
      <p:sp>
        <p:nvSpPr>
          <p:cNvPr id="6" name="Slide Number Placeholder 5"/>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85497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5D1BCD0-9B0C-4DE4-B815-64672C698251}" type="datetime1">
              <a:rPr lang="en-IN" smtClean="0"/>
              <a:pPr/>
              <a:t>10-01-2025</a:t>
            </a:fld>
            <a:endParaRPr lang="en-IN"/>
          </a:p>
        </p:txBody>
      </p:sp>
      <p:sp>
        <p:nvSpPr>
          <p:cNvPr id="5" name="Footer Placeholder 4"/>
          <p:cNvSpPr>
            <a:spLocks noGrp="1"/>
          </p:cNvSpPr>
          <p:nvPr>
            <p:ph type="ftr" sz="quarter" idx="11"/>
          </p:nvPr>
        </p:nvSpPr>
        <p:spPr/>
        <p:txBody>
          <a:bodyPr/>
          <a:lstStyle/>
          <a:p>
            <a:r>
              <a:rPr lang="en-IN"/>
              <a:t>Satish C J</a:t>
            </a:r>
          </a:p>
        </p:txBody>
      </p:sp>
      <p:sp>
        <p:nvSpPr>
          <p:cNvPr id="6" name="Slide Number Placeholder 5"/>
          <p:cNvSpPr>
            <a:spLocks noGrp="1"/>
          </p:cNvSpPr>
          <p:nvPr>
            <p:ph type="sldNum" sz="quarter" idx="12"/>
          </p:nvPr>
        </p:nvSpPr>
        <p:spPr/>
        <p:txBody>
          <a:bodyPr/>
          <a:lstStyle/>
          <a:p>
            <a:fld id="{4522050D-553B-4C54-8B8E-CAFD011AA2BD}" type="slidenum">
              <a:rPr lang="en-IN" smtClean="0"/>
              <a:pPr/>
              <a:t>‹#›</a:t>
            </a:fld>
            <a:endParaRPr lang="en-IN"/>
          </a:p>
        </p:txBody>
      </p:sp>
    </p:spTree>
    <p:extLst>
      <p:ext uri="{BB962C8B-B14F-4D97-AF65-F5344CB8AC3E}">
        <p14:creationId xmlns:p14="http://schemas.microsoft.com/office/powerpoint/2010/main" val="3460818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5AA8FA-7A5C-4399-AC36-FE43B1750EF0}" type="datetime1">
              <a:rPr lang="en-IN" smtClean="0"/>
              <a:pPr/>
              <a:t>10-01-2025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Satish C J</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2050D-553B-4C54-8B8E-CAFD011AA2BD}" type="slidenum">
              <a:rPr lang="en-IN" smtClean="0"/>
              <a:pPr/>
              <a:t>‹#›</a:t>
            </a:fld>
            <a:endParaRPr lang="en-IN"/>
          </a:p>
        </p:txBody>
      </p:sp>
    </p:spTree>
    <p:extLst>
      <p:ext uri="{BB962C8B-B14F-4D97-AF65-F5344CB8AC3E}">
        <p14:creationId xmlns:p14="http://schemas.microsoft.com/office/powerpoint/2010/main" val="1499626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a:t>
            </a:r>
          </a:p>
        </p:txBody>
      </p:sp>
      <p:pic>
        <p:nvPicPr>
          <p:cNvPr id="4" name="Picture 2"/>
          <p:cNvPicPr>
            <a:picLocks noChangeAspect="1" noChangeArrowheads="1"/>
          </p:cNvPicPr>
          <p:nvPr/>
        </p:nvPicPr>
        <p:blipFill>
          <a:blip r:embed="rId2"/>
          <a:srcRect/>
          <a:stretch>
            <a:fillRect/>
          </a:stretch>
        </p:blipFill>
        <p:spPr bwMode="auto">
          <a:xfrm>
            <a:off x="285720" y="1381124"/>
            <a:ext cx="8643997" cy="4833957"/>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Types</a:t>
            </a:r>
            <a:endParaRPr lang="en-IN" dirty="0"/>
          </a:p>
        </p:txBody>
      </p:sp>
      <p:pic>
        <p:nvPicPr>
          <p:cNvPr id="3074" name="Picture 2"/>
          <p:cNvPicPr>
            <a:picLocks noChangeAspect="1" noChangeArrowheads="1"/>
          </p:cNvPicPr>
          <p:nvPr/>
        </p:nvPicPr>
        <p:blipFill>
          <a:blip r:embed="rId2"/>
          <a:srcRect/>
          <a:stretch>
            <a:fillRect/>
          </a:stretch>
        </p:blipFill>
        <p:spPr bwMode="auto">
          <a:xfrm>
            <a:off x="1428728" y="1866900"/>
            <a:ext cx="5857916" cy="3919554"/>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80959-A952-BB8C-F2EB-0B16E7390187}"/>
              </a:ext>
            </a:extLst>
          </p:cNvPr>
          <p:cNvSpPr>
            <a:spLocks noGrp="1"/>
          </p:cNvSpPr>
          <p:nvPr>
            <p:ph idx="1"/>
          </p:nvPr>
        </p:nvSpPr>
        <p:spPr>
          <a:xfrm>
            <a:off x="457200" y="548680"/>
            <a:ext cx="8229600" cy="5688632"/>
          </a:xfrm>
        </p:spPr>
        <p:txBody>
          <a:bodyPr>
            <a:normAutofit fontScale="92500" lnSpcReduction="10000"/>
          </a:bodyPr>
          <a:lstStyle/>
          <a:p>
            <a:pPr marL="0" indent="0" algn="l">
              <a:buNone/>
            </a:pPr>
            <a:r>
              <a:rPr lang="en-US" sz="3000" b="1" i="0" u="none" strike="noStrike" baseline="0" dirty="0">
                <a:solidFill>
                  <a:srgbClr val="808080"/>
                </a:solidFill>
                <a:latin typeface="Arial Narrow" panose="020B0606020202030204" pitchFamily="34" charset="0"/>
              </a:rPr>
              <a:t>A Definition of Computer Security</a:t>
            </a:r>
          </a:p>
          <a:p>
            <a:pPr marL="0" indent="0" algn="just">
              <a:buNone/>
            </a:pPr>
            <a:r>
              <a:rPr lang="en-US" sz="2400" b="0" i="0" u="none" strike="noStrike" baseline="0" dirty="0">
                <a:solidFill>
                  <a:srgbClr val="000000"/>
                </a:solidFill>
                <a:latin typeface="Arial Narrow" panose="020B0606020202030204" pitchFamily="34" charset="0"/>
              </a:rPr>
              <a:t>The NIST </a:t>
            </a:r>
            <a:r>
              <a:rPr lang="en-US" sz="2400" b="0" i="1" u="none" strike="noStrike" baseline="0" dirty="0">
                <a:solidFill>
                  <a:srgbClr val="000000"/>
                </a:solidFill>
                <a:latin typeface="Arial Narrow" panose="020B0606020202030204" pitchFamily="34" charset="0"/>
              </a:rPr>
              <a:t>Computer Security Handbook </a:t>
            </a:r>
            <a:r>
              <a:rPr lang="en-US" sz="2400" b="0" i="0" u="none" strike="noStrike" baseline="0" dirty="0">
                <a:solidFill>
                  <a:srgbClr val="000000"/>
                </a:solidFill>
                <a:latin typeface="Arial Narrow" panose="020B0606020202030204" pitchFamily="34" charset="0"/>
              </a:rPr>
              <a:t>[NIST95] defines the term </a:t>
            </a:r>
            <a:r>
              <a:rPr lang="en-US" sz="2400" b="0" i="1" u="none" strike="noStrike" baseline="0" dirty="0">
                <a:solidFill>
                  <a:srgbClr val="000000"/>
                </a:solidFill>
                <a:latin typeface="Arial Narrow" panose="020B0606020202030204" pitchFamily="34" charset="0"/>
              </a:rPr>
              <a:t>computer security</a:t>
            </a:r>
          </a:p>
          <a:p>
            <a:pPr marL="0" indent="0" algn="l">
              <a:buNone/>
            </a:pPr>
            <a:r>
              <a:rPr lang="en-IN" sz="2400" b="0" i="0" u="none" strike="noStrike" baseline="0" dirty="0">
                <a:solidFill>
                  <a:srgbClr val="000000"/>
                </a:solidFill>
                <a:latin typeface="Arial Narrow" panose="020B0606020202030204" pitchFamily="34" charset="0"/>
              </a:rPr>
              <a:t>as follows:</a:t>
            </a:r>
          </a:p>
          <a:p>
            <a:pPr marL="0" indent="0" algn="just">
              <a:lnSpc>
                <a:spcPct val="160000"/>
              </a:lnSpc>
              <a:buNone/>
            </a:pPr>
            <a:r>
              <a:rPr lang="en-US" b="1" i="0" u="none" strike="noStrike" baseline="0" dirty="0">
                <a:solidFill>
                  <a:srgbClr val="000000"/>
                </a:solidFill>
                <a:latin typeface="Arial Narrow" panose="020B0606020202030204" pitchFamily="34" charset="0"/>
              </a:rPr>
              <a:t>Computer Security: </a:t>
            </a:r>
            <a:r>
              <a:rPr lang="en-US" b="0" i="0" u="none" strike="noStrike" baseline="0" dirty="0">
                <a:solidFill>
                  <a:srgbClr val="C00000"/>
                </a:solidFill>
                <a:latin typeface="Arial Narrow" panose="020B0606020202030204" pitchFamily="34" charset="0"/>
              </a:rPr>
              <a:t>The protection afforded to an automated information system in order to attain the applicable objectives of preserving the integrity, availability, and confidentiality of information system resources (includes hardware, software, firmware, information/data, and telecommunications)</a:t>
            </a:r>
            <a:endParaRPr lang="en-IN" dirty="0">
              <a:solidFill>
                <a:srgbClr val="C00000"/>
              </a:solidFill>
              <a:latin typeface="Arial Narrow" panose="020B0606020202030204" pitchFamily="34" charset="0"/>
            </a:endParaRPr>
          </a:p>
        </p:txBody>
      </p:sp>
    </p:spTree>
    <p:extLst>
      <p:ext uri="{BB962C8B-B14F-4D97-AF65-F5344CB8AC3E}">
        <p14:creationId xmlns:p14="http://schemas.microsoft.com/office/powerpoint/2010/main" val="1028518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40A1B8-E447-2793-D114-8535CC2B4DF8}"/>
              </a:ext>
            </a:extLst>
          </p:cNvPr>
          <p:cNvSpPr>
            <a:spLocks noGrp="1"/>
          </p:cNvSpPr>
          <p:nvPr>
            <p:ph idx="1"/>
          </p:nvPr>
        </p:nvSpPr>
        <p:spPr>
          <a:xfrm>
            <a:off x="457200" y="476672"/>
            <a:ext cx="8229600" cy="5649491"/>
          </a:xfrm>
        </p:spPr>
        <p:txBody>
          <a:bodyPr>
            <a:noAutofit/>
          </a:bodyPr>
          <a:lstStyle/>
          <a:p>
            <a:pPr algn="just">
              <a:lnSpc>
                <a:spcPct val="150000"/>
              </a:lnSpc>
              <a:spcBef>
                <a:spcPts val="0"/>
              </a:spcBef>
            </a:pPr>
            <a:r>
              <a:rPr lang="en-US" sz="2000" b="0" i="0" u="none" strike="noStrike" baseline="0" dirty="0">
                <a:latin typeface="Aptos Display" panose="020B0004020202020204" pitchFamily="34" charset="0"/>
              </a:rPr>
              <a:t>An original message is known as the </a:t>
            </a:r>
            <a:r>
              <a:rPr lang="en-US" sz="2000" b="1" i="0" u="none" strike="noStrike" baseline="0" dirty="0">
                <a:latin typeface="Aptos Display" panose="020B0004020202020204" pitchFamily="34" charset="0"/>
              </a:rPr>
              <a:t>plaintext</a:t>
            </a:r>
            <a:r>
              <a:rPr lang="en-US" sz="2000" b="0" i="0" u="none" strike="noStrike" baseline="0" dirty="0">
                <a:latin typeface="Aptos Display" panose="020B0004020202020204" pitchFamily="34" charset="0"/>
              </a:rPr>
              <a:t>, while the coded message is called the </a:t>
            </a:r>
            <a:r>
              <a:rPr lang="en-US" sz="2000" b="1" i="0" u="none" strike="noStrike" baseline="0" dirty="0">
                <a:latin typeface="Aptos Display" panose="020B0004020202020204" pitchFamily="34" charset="0"/>
              </a:rPr>
              <a:t>ciphertext</a:t>
            </a:r>
            <a:r>
              <a:rPr lang="en-US" sz="2000" b="0" i="0" u="none" strike="noStrike" baseline="0" dirty="0">
                <a:latin typeface="Aptos Display" panose="020B0004020202020204" pitchFamily="34" charset="0"/>
              </a:rPr>
              <a:t>. </a:t>
            </a:r>
          </a:p>
          <a:p>
            <a:pPr algn="just">
              <a:lnSpc>
                <a:spcPct val="150000"/>
              </a:lnSpc>
              <a:spcBef>
                <a:spcPts val="0"/>
              </a:spcBef>
            </a:pPr>
            <a:r>
              <a:rPr lang="en-US" sz="2000" b="0" i="0" u="none" strike="noStrike" baseline="0" dirty="0">
                <a:latin typeface="Aptos Display" panose="020B0004020202020204" pitchFamily="34" charset="0"/>
              </a:rPr>
              <a:t>The process of converting from plaintext to ciphertext is known as </a:t>
            </a:r>
            <a:r>
              <a:rPr lang="en-US" sz="2000" b="1" i="0" u="none" strike="noStrike" baseline="0" dirty="0">
                <a:latin typeface="Aptos Display" panose="020B0004020202020204" pitchFamily="34" charset="0"/>
              </a:rPr>
              <a:t>enciphering </a:t>
            </a:r>
            <a:r>
              <a:rPr lang="en-US" sz="2000" b="0" i="0" u="none" strike="noStrike" baseline="0" dirty="0">
                <a:latin typeface="Aptos Display" panose="020B0004020202020204" pitchFamily="34" charset="0"/>
              </a:rPr>
              <a:t>or </a:t>
            </a:r>
            <a:r>
              <a:rPr lang="en-US" sz="2000" b="1" i="0" u="none" strike="noStrike" baseline="0" dirty="0">
                <a:latin typeface="Aptos Display" panose="020B0004020202020204" pitchFamily="34" charset="0"/>
              </a:rPr>
              <a:t>encryption</a:t>
            </a:r>
            <a:r>
              <a:rPr lang="en-US" sz="2000" b="0" i="0" u="none" strike="noStrike" baseline="0" dirty="0">
                <a:latin typeface="Aptos Display" panose="020B0004020202020204" pitchFamily="34" charset="0"/>
              </a:rPr>
              <a:t>; restoring the plaintext from the ciphertext is </a:t>
            </a:r>
            <a:r>
              <a:rPr lang="en-US" sz="2000" b="1" i="0" u="none" strike="noStrike" baseline="0" dirty="0">
                <a:latin typeface="Aptos Display" panose="020B0004020202020204" pitchFamily="34" charset="0"/>
              </a:rPr>
              <a:t>deciphering </a:t>
            </a:r>
            <a:r>
              <a:rPr lang="en-US" sz="2000" b="0" i="0" u="none" strike="noStrike" baseline="0" dirty="0">
                <a:latin typeface="Aptos Display" panose="020B0004020202020204" pitchFamily="34" charset="0"/>
              </a:rPr>
              <a:t>or </a:t>
            </a:r>
            <a:r>
              <a:rPr lang="en-US" sz="2000" b="1" i="0" u="none" strike="noStrike" baseline="0" dirty="0">
                <a:latin typeface="Aptos Display" panose="020B0004020202020204" pitchFamily="34" charset="0"/>
              </a:rPr>
              <a:t>decryption</a:t>
            </a:r>
            <a:r>
              <a:rPr lang="en-US" sz="2000" b="0" i="0" u="none" strike="noStrike" baseline="0" dirty="0">
                <a:latin typeface="Aptos Display" panose="020B0004020202020204" pitchFamily="34" charset="0"/>
              </a:rPr>
              <a:t>. </a:t>
            </a:r>
          </a:p>
          <a:p>
            <a:pPr algn="just">
              <a:lnSpc>
                <a:spcPct val="150000"/>
              </a:lnSpc>
              <a:spcBef>
                <a:spcPts val="0"/>
              </a:spcBef>
            </a:pPr>
            <a:r>
              <a:rPr lang="en-US" sz="2000" b="0" i="0" u="none" strike="noStrike" baseline="0" dirty="0">
                <a:latin typeface="Aptos Display" panose="020B0004020202020204" pitchFamily="34" charset="0"/>
              </a:rPr>
              <a:t>The many schemes used for encryption constitute the area of study known as </a:t>
            </a:r>
            <a:r>
              <a:rPr lang="en-US" sz="2000" b="1" i="0" u="none" strike="noStrike" baseline="0" dirty="0">
                <a:latin typeface="Aptos Display" panose="020B0004020202020204" pitchFamily="34" charset="0"/>
              </a:rPr>
              <a:t>cryptography</a:t>
            </a:r>
            <a:r>
              <a:rPr lang="en-US" sz="2000" b="0" i="0" u="none" strike="noStrike" baseline="0" dirty="0">
                <a:latin typeface="Aptos Display" panose="020B0004020202020204" pitchFamily="34" charset="0"/>
              </a:rPr>
              <a:t>. Such a scheme is known as a </a:t>
            </a:r>
            <a:r>
              <a:rPr lang="en-US" sz="2000" b="1" i="0" u="none" strike="noStrike" baseline="0" dirty="0">
                <a:latin typeface="Aptos Display" panose="020B0004020202020204" pitchFamily="34" charset="0"/>
              </a:rPr>
              <a:t>cryptographic system </a:t>
            </a:r>
            <a:r>
              <a:rPr lang="en-US" sz="2000" b="0" i="0" u="none" strike="noStrike" baseline="0" dirty="0">
                <a:latin typeface="Aptos Display" panose="020B0004020202020204" pitchFamily="34" charset="0"/>
              </a:rPr>
              <a:t>or a </a:t>
            </a:r>
            <a:r>
              <a:rPr lang="en-US" sz="2000" b="1" i="0" u="none" strike="noStrike" baseline="0" dirty="0">
                <a:latin typeface="Aptos Display" panose="020B0004020202020204" pitchFamily="34" charset="0"/>
              </a:rPr>
              <a:t>cipher</a:t>
            </a:r>
            <a:r>
              <a:rPr lang="en-US" sz="2000" b="0" i="0" u="none" strike="noStrike" baseline="0" dirty="0">
                <a:latin typeface="Aptos Display" panose="020B0004020202020204" pitchFamily="34" charset="0"/>
              </a:rPr>
              <a:t>. </a:t>
            </a:r>
          </a:p>
          <a:p>
            <a:pPr algn="just">
              <a:lnSpc>
                <a:spcPct val="150000"/>
              </a:lnSpc>
              <a:spcBef>
                <a:spcPts val="0"/>
              </a:spcBef>
            </a:pPr>
            <a:r>
              <a:rPr lang="en-US" sz="2000" b="0" i="0" u="none" strike="noStrike" baseline="0" dirty="0">
                <a:latin typeface="Aptos Display" panose="020B0004020202020204" pitchFamily="34" charset="0"/>
              </a:rPr>
              <a:t>Techniques used for deciphering a message without any knowledge of the enciphering details fall into the area of </a:t>
            </a:r>
            <a:r>
              <a:rPr lang="en-US" sz="2000" b="1" i="0" u="none" strike="noStrike" baseline="0" dirty="0">
                <a:latin typeface="Aptos Display" panose="020B0004020202020204" pitchFamily="34" charset="0"/>
              </a:rPr>
              <a:t>cryptanalysis</a:t>
            </a:r>
            <a:r>
              <a:rPr lang="en-US" sz="2000" b="0" i="0" u="none" strike="noStrike" baseline="0" dirty="0">
                <a:latin typeface="Aptos Display" panose="020B0004020202020204" pitchFamily="34" charset="0"/>
              </a:rPr>
              <a:t>. </a:t>
            </a:r>
          </a:p>
          <a:p>
            <a:pPr algn="just">
              <a:lnSpc>
                <a:spcPct val="150000"/>
              </a:lnSpc>
              <a:spcBef>
                <a:spcPts val="0"/>
              </a:spcBef>
            </a:pPr>
            <a:r>
              <a:rPr lang="en-US" sz="2000" b="0" i="0" u="none" strike="noStrike" baseline="0" dirty="0">
                <a:latin typeface="Aptos Display" panose="020B0004020202020204" pitchFamily="34" charset="0"/>
              </a:rPr>
              <a:t>Cryptanalysis is what the layperson calls “breaking the code.” The areas of cryptography and cryptanalysis together are called </a:t>
            </a:r>
            <a:r>
              <a:rPr lang="en-US" sz="2000" b="1" i="0" u="none" strike="noStrike" baseline="0" dirty="0">
                <a:latin typeface="Aptos Display" panose="020B0004020202020204" pitchFamily="34" charset="0"/>
              </a:rPr>
              <a:t>cryptology</a:t>
            </a:r>
            <a:r>
              <a:rPr lang="en-US" sz="2000" b="0" i="0" u="none" strike="noStrike" baseline="0" dirty="0">
                <a:latin typeface="Aptos Display" panose="020B0004020202020204" pitchFamily="34" charset="0"/>
              </a:rPr>
              <a:t>.</a:t>
            </a:r>
            <a:endParaRPr lang="en-IN" sz="2000" dirty="0">
              <a:latin typeface="Aptos Display" panose="020B0004020202020204" pitchFamily="34" charset="0"/>
            </a:endParaRPr>
          </a:p>
        </p:txBody>
      </p:sp>
    </p:spTree>
    <p:extLst>
      <p:ext uri="{BB962C8B-B14F-4D97-AF65-F5344CB8AC3E}">
        <p14:creationId xmlns:p14="http://schemas.microsoft.com/office/powerpoint/2010/main" val="2986305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E504-F16C-C255-3186-4E5CC316AA6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5BBDB3D-92E5-DBD3-C436-212FF786D701}"/>
              </a:ext>
            </a:extLst>
          </p:cNvPr>
          <p:cNvPicPr>
            <a:picLocks noChangeAspect="1"/>
          </p:cNvPicPr>
          <p:nvPr/>
        </p:nvPicPr>
        <p:blipFill>
          <a:blip r:embed="rId2"/>
          <a:stretch>
            <a:fillRect/>
          </a:stretch>
        </p:blipFill>
        <p:spPr>
          <a:xfrm>
            <a:off x="683568" y="548680"/>
            <a:ext cx="4153480" cy="371527"/>
          </a:xfrm>
          <a:prstGeom prst="rect">
            <a:avLst/>
          </a:prstGeom>
        </p:spPr>
      </p:pic>
      <p:pic>
        <p:nvPicPr>
          <p:cNvPr id="8" name="Picture 7">
            <a:extLst>
              <a:ext uri="{FF2B5EF4-FFF2-40B4-BE49-F238E27FC236}">
                <a16:creationId xmlns:a16="http://schemas.microsoft.com/office/drawing/2014/main" id="{2D570C22-562D-4CF9-C5F1-9E64E95681E1}"/>
              </a:ext>
            </a:extLst>
          </p:cNvPr>
          <p:cNvPicPr>
            <a:picLocks noChangeAspect="1"/>
          </p:cNvPicPr>
          <p:nvPr/>
        </p:nvPicPr>
        <p:blipFill>
          <a:blip r:embed="rId3"/>
          <a:stretch>
            <a:fillRect/>
          </a:stretch>
        </p:blipFill>
        <p:spPr>
          <a:xfrm>
            <a:off x="683568" y="1124744"/>
            <a:ext cx="8068801" cy="2629267"/>
          </a:xfrm>
          <a:prstGeom prst="rect">
            <a:avLst/>
          </a:prstGeom>
        </p:spPr>
      </p:pic>
      <p:pic>
        <p:nvPicPr>
          <p:cNvPr id="10" name="Picture 9">
            <a:extLst>
              <a:ext uri="{FF2B5EF4-FFF2-40B4-BE49-F238E27FC236}">
                <a16:creationId xmlns:a16="http://schemas.microsoft.com/office/drawing/2014/main" id="{A4EDCBCC-7E5D-6146-96F1-BF76F6316242}"/>
              </a:ext>
            </a:extLst>
          </p:cNvPr>
          <p:cNvPicPr>
            <a:picLocks noChangeAspect="1"/>
          </p:cNvPicPr>
          <p:nvPr/>
        </p:nvPicPr>
        <p:blipFill>
          <a:blip r:embed="rId4"/>
          <a:stretch>
            <a:fillRect/>
          </a:stretch>
        </p:blipFill>
        <p:spPr>
          <a:xfrm>
            <a:off x="697725" y="3789454"/>
            <a:ext cx="8078327" cy="2086266"/>
          </a:xfrm>
          <a:prstGeom prst="rect">
            <a:avLst/>
          </a:prstGeom>
        </p:spPr>
      </p:pic>
    </p:spTree>
    <p:extLst>
      <p:ext uri="{BB962C8B-B14F-4D97-AF65-F5344CB8AC3E}">
        <p14:creationId xmlns:p14="http://schemas.microsoft.com/office/powerpoint/2010/main" val="4849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17544D-D5B1-50DE-BEF4-875B5E0CE151}"/>
              </a:ext>
            </a:extLst>
          </p:cNvPr>
          <p:cNvPicPr>
            <a:picLocks noChangeAspect="1"/>
          </p:cNvPicPr>
          <p:nvPr/>
        </p:nvPicPr>
        <p:blipFill>
          <a:blip r:embed="rId2"/>
          <a:stretch>
            <a:fillRect/>
          </a:stretch>
        </p:blipFill>
        <p:spPr>
          <a:xfrm>
            <a:off x="470915" y="692696"/>
            <a:ext cx="8202170" cy="3672408"/>
          </a:xfrm>
          <a:prstGeom prst="rect">
            <a:avLst/>
          </a:prstGeom>
        </p:spPr>
      </p:pic>
    </p:spTree>
    <p:extLst>
      <p:ext uri="{BB962C8B-B14F-4D97-AF65-F5344CB8AC3E}">
        <p14:creationId xmlns:p14="http://schemas.microsoft.com/office/powerpoint/2010/main" val="1092031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F43267-953B-6FC9-41F4-4189916A9C23}"/>
              </a:ext>
            </a:extLst>
          </p:cNvPr>
          <p:cNvPicPr>
            <a:picLocks noChangeAspect="1"/>
          </p:cNvPicPr>
          <p:nvPr/>
        </p:nvPicPr>
        <p:blipFill>
          <a:blip r:embed="rId2"/>
          <a:stretch>
            <a:fillRect/>
          </a:stretch>
        </p:blipFill>
        <p:spPr>
          <a:xfrm>
            <a:off x="132730" y="1124745"/>
            <a:ext cx="8878539" cy="3966600"/>
          </a:xfrm>
          <a:prstGeom prst="rect">
            <a:avLst/>
          </a:prstGeom>
        </p:spPr>
      </p:pic>
      <p:pic>
        <p:nvPicPr>
          <p:cNvPr id="7" name="Picture 6">
            <a:extLst>
              <a:ext uri="{FF2B5EF4-FFF2-40B4-BE49-F238E27FC236}">
                <a16:creationId xmlns:a16="http://schemas.microsoft.com/office/drawing/2014/main" id="{7FBDA2C9-A079-EA4D-F4E3-114EF8DDBAA7}"/>
              </a:ext>
            </a:extLst>
          </p:cNvPr>
          <p:cNvPicPr>
            <a:picLocks noChangeAspect="1"/>
          </p:cNvPicPr>
          <p:nvPr/>
        </p:nvPicPr>
        <p:blipFill>
          <a:blip r:embed="rId3"/>
          <a:stretch>
            <a:fillRect/>
          </a:stretch>
        </p:blipFill>
        <p:spPr>
          <a:xfrm>
            <a:off x="2843808" y="5399832"/>
            <a:ext cx="3839111" cy="477439"/>
          </a:xfrm>
          <a:prstGeom prst="rect">
            <a:avLst/>
          </a:prstGeom>
        </p:spPr>
      </p:pic>
    </p:spTree>
    <p:extLst>
      <p:ext uri="{BB962C8B-B14F-4D97-AF65-F5344CB8AC3E}">
        <p14:creationId xmlns:p14="http://schemas.microsoft.com/office/powerpoint/2010/main" val="1705654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0B3D8F-89F4-D43C-718C-0A11421B9418}"/>
              </a:ext>
            </a:extLst>
          </p:cNvPr>
          <p:cNvPicPr>
            <a:picLocks noChangeAspect="1"/>
          </p:cNvPicPr>
          <p:nvPr/>
        </p:nvPicPr>
        <p:blipFill>
          <a:blip r:embed="rId2"/>
          <a:stretch>
            <a:fillRect/>
          </a:stretch>
        </p:blipFill>
        <p:spPr>
          <a:xfrm>
            <a:off x="467543" y="332656"/>
            <a:ext cx="8208913" cy="5382376"/>
          </a:xfrm>
          <a:prstGeom prst="rect">
            <a:avLst/>
          </a:prstGeom>
        </p:spPr>
      </p:pic>
      <p:pic>
        <p:nvPicPr>
          <p:cNvPr id="7" name="Picture 6">
            <a:extLst>
              <a:ext uri="{FF2B5EF4-FFF2-40B4-BE49-F238E27FC236}">
                <a16:creationId xmlns:a16="http://schemas.microsoft.com/office/drawing/2014/main" id="{40C7C214-E8E0-5367-D876-AFD6D20157BA}"/>
              </a:ext>
            </a:extLst>
          </p:cNvPr>
          <p:cNvPicPr>
            <a:picLocks noChangeAspect="1"/>
          </p:cNvPicPr>
          <p:nvPr/>
        </p:nvPicPr>
        <p:blipFill>
          <a:blip r:embed="rId3"/>
          <a:stretch>
            <a:fillRect/>
          </a:stretch>
        </p:blipFill>
        <p:spPr>
          <a:xfrm>
            <a:off x="3019207" y="5877272"/>
            <a:ext cx="3280985" cy="367324"/>
          </a:xfrm>
          <a:prstGeom prst="rect">
            <a:avLst/>
          </a:prstGeom>
        </p:spPr>
      </p:pic>
    </p:spTree>
    <p:extLst>
      <p:ext uri="{BB962C8B-B14F-4D97-AF65-F5344CB8AC3E}">
        <p14:creationId xmlns:p14="http://schemas.microsoft.com/office/powerpoint/2010/main" val="1568843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C2515F-1D44-B845-E593-1D9CEBB13A36}"/>
              </a:ext>
            </a:extLst>
          </p:cNvPr>
          <p:cNvPicPr>
            <a:picLocks noChangeAspect="1"/>
          </p:cNvPicPr>
          <p:nvPr/>
        </p:nvPicPr>
        <p:blipFill>
          <a:blip r:embed="rId2"/>
          <a:stretch>
            <a:fillRect/>
          </a:stretch>
        </p:blipFill>
        <p:spPr>
          <a:xfrm>
            <a:off x="328020" y="548680"/>
            <a:ext cx="8487960" cy="5760640"/>
          </a:xfrm>
          <a:prstGeom prst="rect">
            <a:avLst/>
          </a:prstGeom>
        </p:spPr>
      </p:pic>
    </p:spTree>
    <p:extLst>
      <p:ext uri="{BB962C8B-B14F-4D97-AF65-F5344CB8AC3E}">
        <p14:creationId xmlns:p14="http://schemas.microsoft.com/office/powerpoint/2010/main" val="3852652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B685A-DEBD-6F3B-7E4D-7E32DAA07AD0}"/>
              </a:ext>
            </a:extLst>
          </p:cNvPr>
          <p:cNvPicPr>
            <a:picLocks noChangeAspect="1"/>
          </p:cNvPicPr>
          <p:nvPr/>
        </p:nvPicPr>
        <p:blipFill>
          <a:blip r:embed="rId2"/>
          <a:stretch>
            <a:fillRect/>
          </a:stretch>
        </p:blipFill>
        <p:spPr>
          <a:xfrm>
            <a:off x="394704" y="620688"/>
            <a:ext cx="8354591" cy="4085119"/>
          </a:xfrm>
          <a:prstGeom prst="rect">
            <a:avLst/>
          </a:prstGeom>
        </p:spPr>
      </p:pic>
    </p:spTree>
    <p:extLst>
      <p:ext uri="{BB962C8B-B14F-4D97-AF65-F5344CB8AC3E}">
        <p14:creationId xmlns:p14="http://schemas.microsoft.com/office/powerpoint/2010/main" val="156296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54A087-34A2-203B-D646-447FC3A3DFE1}"/>
              </a:ext>
            </a:extLst>
          </p:cNvPr>
          <p:cNvPicPr>
            <a:picLocks noChangeAspect="1"/>
          </p:cNvPicPr>
          <p:nvPr/>
        </p:nvPicPr>
        <p:blipFill>
          <a:blip r:embed="rId2"/>
          <a:stretch>
            <a:fillRect/>
          </a:stretch>
        </p:blipFill>
        <p:spPr>
          <a:xfrm>
            <a:off x="683568" y="404664"/>
            <a:ext cx="4730174" cy="360040"/>
          </a:xfrm>
          <a:prstGeom prst="rect">
            <a:avLst/>
          </a:prstGeom>
        </p:spPr>
      </p:pic>
      <p:pic>
        <p:nvPicPr>
          <p:cNvPr id="7" name="Picture 6">
            <a:extLst>
              <a:ext uri="{FF2B5EF4-FFF2-40B4-BE49-F238E27FC236}">
                <a16:creationId xmlns:a16="http://schemas.microsoft.com/office/drawing/2014/main" id="{4746C9E1-76D5-7649-80BC-23209A6DF978}"/>
              </a:ext>
            </a:extLst>
          </p:cNvPr>
          <p:cNvPicPr>
            <a:picLocks noChangeAspect="1"/>
          </p:cNvPicPr>
          <p:nvPr/>
        </p:nvPicPr>
        <p:blipFill>
          <a:blip r:embed="rId3"/>
          <a:stretch>
            <a:fillRect/>
          </a:stretch>
        </p:blipFill>
        <p:spPr>
          <a:xfrm>
            <a:off x="204847" y="908720"/>
            <a:ext cx="8734306" cy="5688632"/>
          </a:xfrm>
          <a:prstGeom prst="rect">
            <a:avLst/>
          </a:prstGeom>
        </p:spPr>
      </p:pic>
    </p:spTree>
    <p:extLst>
      <p:ext uri="{BB962C8B-B14F-4D97-AF65-F5344CB8AC3E}">
        <p14:creationId xmlns:p14="http://schemas.microsoft.com/office/powerpoint/2010/main" val="310662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9E2296-AD2B-F574-6C60-E2084CD18DC5}"/>
              </a:ext>
            </a:extLst>
          </p:cNvPr>
          <p:cNvPicPr>
            <a:picLocks noChangeAspect="1"/>
          </p:cNvPicPr>
          <p:nvPr/>
        </p:nvPicPr>
        <p:blipFill>
          <a:blip r:embed="rId2"/>
          <a:stretch>
            <a:fillRect/>
          </a:stretch>
        </p:blipFill>
        <p:spPr>
          <a:xfrm>
            <a:off x="539552" y="404664"/>
            <a:ext cx="8185926" cy="2160240"/>
          </a:xfrm>
          <a:prstGeom prst="rect">
            <a:avLst/>
          </a:prstGeom>
        </p:spPr>
      </p:pic>
      <p:pic>
        <p:nvPicPr>
          <p:cNvPr id="9" name="Picture 8">
            <a:extLst>
              <a:ext uri="{FF2B5EF4-FFF2-40B4-BE49-F238E27FC236}">
                <a16:creationId xmlns:a16="http://schemas.microsoft.com/office/drawing/2014/main" id="{49845571-ECA5-4BED-0E56-D62FE8A12875}"/>
              </a:ext>
            </a:extLst>
          </p:cNvPr>
          <p:cNvPicPr>
            <a:picLocks noChangeAspect="1"/>
          </p:cNvPicPr>
          <p:nvPr/>
        </p:nvPicPr>
        <p:blipFill>
          <a:blip r:embed="rId3"/>
          <a:stretch>
            <a:fillRect/>
          </a:stretch>
        </p:blipFill>
        <p:spPr>
          <a:xfrm>
            <a:off x="418522" y="3140968"/>
            <a:ext cx="8401950" cy="2520280"/>
          </a:xfrm>
          <a:prstGeom prst="rect">
            <a:avLst/>
          </a:prstGeom>
        </p:spPr>
      </p:pic>
    </p:spTree>
    <p:extLst>
      <p:ext uri="{BB962C8B-B14F-4D97-AF65-F5344CB8AC3E}">
        <p14:creationId xmlns:p14="http://schemas.microsoft.com/office/powerpoint/2010/main" val="3313688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lstStyle/>
          <a:p>
            <a:r>
              <a:rPr lang="en-IN" b="1" dirty="0"/>
              <a:t>Classical Cryptography</a:t>
            </a:r>
          </a:p>
        </p:txBody>
      </p:sp>
      <p:cxnSp>
        <p:nvCxnSpPr>
          <p:cNvPr id="7" name="Straight Connector 6"/>
          <p:cNvCxnSpPr/>
          <p:nvPr/>
        </p:nvCxnSpPr>
        <p:spPr>
          <a:xfrm rot="5400000">
            <a:off x="2893207" y="3464719"/>
            <a:ext cx="3215504" cy="794"/>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786314" y="2000240"/>
            <a:ext cx="3516347" cy="2142125"/>
          </a:xfrm>
          <a:prstGeom prst="rect">
            <a:avLst/>
          </a:prstGeom>
          <a:noFill/>
        </p:spPr>
        <p:txBody>
          <a:bodyPr wrap="none" rtlCol="0">
            <a:spAutoFit/>
          </a:bodyPr>
          <a:lstStyle/>
          <a:p>
            <a:pPr marL="457200" indent="-457200">
              <a:buAutoNum type="alphaLcParenBoth" startAt="2"/>
            </a:pPr>
            <a:r>
              <a:rPr lang="en-US" altLang="en-US" sz="2400" dirty="0">
                <a:solidFill>
                  <a:srgbClr val="7030A0"/>
                </a:solidFill>
              </a:rPr>
              <a:t>Transposition Ciphers:</a:t>
            </a:r>
          </a:p>
          <a:p>
            <a:pPr marL="857250" lvl="1" indent="-457200" algn="just">
              <a:lnSpc>
                <a:spcPct val="170000"/>
              </a:lnSpc>
              <a:buFont typeface="Arial" pitchFamily="34" charset="0"/>
              <a:buAutoNum type="arabicPeriod"/>
              <a:defRPr/>
            </a:pPr>
            <a:r>
              <a:rPr lang="en-AU" altLang="en-US" dirty="0"/>
              <a:t>Rail Fence</a:t>
            </a:r>
          </a:p>
          <a:p>
            <a:pPr marL="857250" lvl="1" indent="-457200" algn="just">
              <a:lnSpc>
                <a:spcPct val="170000"/>
              </a:lnSpc>
              <a:buFont typeface="Arial" pitchFamily="34" charset="0"/>
              <a:buAutoNum type="arabicPeriod"/>
              <a:defRPr/>
            </a:pPr>
            <a:r>
              <a:rPr lang="en-AU" altLang="en-US" dirty="0"/>
              <a:t>Row column Transposition</a:t>
            </a:r>
          </a:p>
          <a:p>
            <a:pPr marL="457200" indent="-457200"/>
            <a:endParaRPr lang="en-US" altLang="en-US" sz="2400" dirty="0">
              <a:solidFill>
                <a:srgbClr val="7030A0"/>
              </a:solidFill>
            </a:endParaRPr>
          </a:p>
          <a:p>
            <a:pPr marL="342900" indent="-342900"/>
            <a:endParaRPr lang="en-US" altLang="en-US" sz="2400" dirty="0">
              <a:solidFill>
                <a:srgbClr val="7030A0"/>
              </a:solidFill>
            </a:endParaRPr>
          </a:p>
        </p:txBody>
      </p:sp>
      <p:sp>
        <p:nvSpPr>
          <p:cNvPr id="12" name="TextBox 11"/>
          <p:cNvSpPr txBox="1"/>
          <p:nvPr/>
        </p:nvSpPr>
        <p:spPr>
          <a:xfrm>
            <a:off x="1214414" y="1928802"/>
            <a:ext cx="3262816" cy="2816156"/>
          </a:xfrm>
          <a:prstGeom prst="rect">
            <a:avLst/>
          </a:prstGeom>
          <a:noFill/>
        </p:spPr>
        <p:txBody>
          <a:bodyPr wrap="square" rtlCol="0">
            <a:spAutoFit/>
          </a:bodyPr>
          <a:lstStyle/>
          <a:p>
            <a:pPr marL="342900" indent="-342900">
              <a:buAutoNum type="alphaLcParenBoth"/>
            </a:pPr>
            <a:r>
              <a:rPr lang="en-US" altLang="en-US" sz="2400" dirty="0">
                <a:solidFill>
                  <a:srgbClr val="7030A0"/>
                </a:solidFill>
              </a:rPr>
              <a:t>Substitution Ciphers:</a:t>
            </a:r>
          </a:p>
          <a:p>
            <a:pPr marL="857250" lvl="1" indent="-457200" algn="just">
              <a:lnSpc>
                <a:spcPct val="170000"/>
              </a:lnSpc>
              <a:buFont typeface="Arial" pitchFamily="34" charset="0"/>
              <a:buAutoNum type="arabicPeriod"/>
              <a:defRPr/>
            </a:pPr>
            <a:r>
              <a:rPr lang="en-AU" altLang="en-US" dirty="0" err="1"/>
              <a:t>Ceaser</a:t>
            </a:r>
            <a:r>
              <a:rPr lang="en-AU" altLang="en-US" dirty="0"/>
              <a:t> Cipher</a:t>
            </a:r>
          </a:p>
          <a:p>
            <a:pPr marL="857250" lvl="1" indent="-457200" algn="just">
              <a:lnSpc>
                <a:spcPct val="170000"/>
              </a:lnSpc>
              <a:buFont typeface="Arial" pitchFamily="34" charset="0"/>
              <a:buAutoNum type="arabicPeriod"/>
              <a:defRPr/>
            </a:pPr>
            <a:r>
              <a:rPr lang="en-AU" altLang="en-US" dirty="0" err="1"/>
              <a:t>Monoalphabetic</a:t>
            </a:r>
            <a:r>
              <a:rPr lang="en-AU" altLang="en-US" dirty="0"/>
              <a:t> Cipher</a:t>
            </a:r>
          </a:p>
          <a:p>
            <a:pPr marL="857250" lvl="1" indent="-457200" algn="just">
              <a:lnSpc>
                <a:spcPct val="170000"/>
              </a:lnSpc>
              <a:buFont typeface="Arial" pitchFamily="34" charset="0"/>
              <a:buAutoNum type="arabicPeriod"/>
              <a:defRPr/>
            </a:pPr>
            <a:r>
              <a:rPr lang="en-AU" altLang="en-US" dirty="0" err="1"/>
              <a:t>Playfair</a:t>
            </a:r>
            <a:r>
              <a:rPr lang="en-AU" altLang="en-US" dirty="0"/>
              <a:t> Cipher</a:t>
            </a:r>
          </a:p>
          <a:p>
            <a:pPr marL="857250" lvl="1" indent="-457200" algn="just">
              <a:lnSpc>
                <a:spcPct val="170000"/>
              </a:lnSpc>
              <a:buFont typeface="Arial" pitchFamily="34" charset="0"/>
              <a:buAutoNum type="arabicPeriod"/>
              <a:defRPr/>
            </a:pPr>
            <a:r>
              <a:rPr lang="en-AU" altLang="en-US" dirty="0"/>
              <a:t>Hill Cipher</a:t>
            </a:r>
          </a:p>
          <a:p>
            <a:pPr marL="857250" lvl="1" indent="-457200" algn="just">
              <a:lnSpc>
                <a:spcPct val="170000"/>
              </a:lnSpc>
              <a:buFont typeface="Arial" pitchFamily="34" charset="0"/>
              <a:buAutoNum type="arabicPeriod"/>
              <a:defRPr/>
            </a:pPr>
            <a:r>
              <a:rPr lang="en-AU" altLang="en-US" dirty="0" err="1"/>
              <a:t>Polyalphabetic</a:t>
            </a:r>
            <a:r>
              <a:rPr lang="en-AU" altLang="en-US" dirty="0"/>
              <a:t> Cipher</a:t>
            </a:r>
            <a:endParaRPr lang="en-IN"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7030A0"/>
                </a:solidFill>
              </a:rPr>
              <a:t>(a) Substitution Ciphers</a:t>
            </a:r>
            <a:endParaRPr lang="en-IN" dirty="0"/>
          </a:p>
        </p:txBody>
      </p:sp>
      <p:sp>
        <p:nvSpPr>
          <p:cNvPr id="3" name="Content Placeholder 2"/>
          <p:cNvSpPr>
            <a:spLocks noGrp="1"/>
          </p:cNvSpPr>
          <p:nvPr>
            <p:ph idx="1"/>
          </p:nvPr>
        </p:nvSpPr>
        <p:spPr>
          <a:xfrm>
            <a:off x="457200" y="1285860"/>
            <a:ext cx="8229600" cy="5143536"/>
          </a:xfrm>
        </p:spPr>
        <p:txBody>
          <a:bodyPr>
            <a:normAutofit fontScale="70000" lnSpcReduction="20000"/>
          </a:bodyPr>
          <a:lstStyle/>
          <a:p>
            <a:pPr algn="just">
              <a:lnSpc>
                <a:spcPct val="170000"/>
              </a:lnSpc>
              <a:defRPr/>
            </a:pPr>
            <a:r>
              <a:rPr lang="en-US" altLang="en-US" dirty="0"/>
              <a:t>L</a:t>
            </a:r>
            <a:r>
              <a:rPr lang="en-AU" altLang="en-US" dirty="0"/>
              <a:t>etters of plaintext are replaced by other letters or by numbers or symbols </a:t>
            </a:r>
            <a:r>
              <a:rPr lang="en-US" altLang="en-US" dirty="0"/>
              <a:t>or if plaintext is </a:t>
            </a:r>
            <a:r>
              <a:rPr lang="en-AU" altLang="en-US" dirty="0"/>
              <a:t>viewed as a sequence of bits, then substitution involves replacing plaintext bit patterns with </a:t>
            </a:r>
            <a:r>
              <a:rPr lang="en-AU" altLang="en-US" dirty="0" err="1"/>
              <a:t>ciphertext</a:t>
            </a:r>
            <a:r>
              <a:rPr lang="en-AU" altLang="en-US" dirty="0"/>
              <a:t> bit patterns.</a:t>
            </a:r>
          </a:p>
          <a:p>
            <a:pPr marL="857250" lvl="1" indent="-457200" algn="just">
              <a:lnSpc>
                <a:spcPct val="170000"/>
              </a:lnSpc>
              <a:buFont typeface="Arial" pitchFamily="34" charset="0"/>
              <a:buAutoNum type="arabicPeriod"/>
              <a:defRPr/>
            </a:pPr>
            <a:r>
              <a:rPr lang="en-AU" altLang="en-US" dirty="0" err="1"/>
              <a:t>Ceaser</a:t>
            </a:r>
            <a:r>
              <a:rPr lang="en-AU" altLang="en-US" dirty="0"/>
              <a:t> Cipher</a:t>
            </a:r>
          </a:p>
          <a:p>
            <a:pPr marL="857250" lvl="1" indent="-457200" algn="just">
              <a:lnSpc>
                <a:spcPct val="170000"/>
              </a:lnSpc>
              <a:buFont typeface="Arial" pitchFamily="34" charset="0"/>
              <a:buAutoNum type="arabicPeriod"/>
              <a:defRPr/>
            </a:pPr>
            <a:r>
              <a:rPr lang="en-AU" altLang="en-US" dirty="0" err="1"/>
              <a:t>Monoalphabetic</a:t>
            </a:r>
            <a:r>
              <a:rPr lang="en-AU" altLang="en-US" dirty="0"/>
              <a:t> Cipher</a:t>
            </a:r>
          </a:p>
          <a:p>
            <a:pPr marL="857250" lvl="1" indent="-457200" algn="just">
              <a:lnSpc>
                <a:spcPct val="170000"/>
              </a:lnSpc>
              <a:buFont typeface="Arial" pitchFamily="34" charset="0"/>
              <a:buAutoNum type="arabicPeriod"/>
              <a:defRPr/>
            </a:pPr>
            <a:r>
              <a:rPr lang="en-AU" altLang="en-US" dirty="0" err="1"/>
              <a:t>Playfair</a:t>
            </a:r>
            <a:r>
              <a:rPr lang="en-AU" altLang="en-US" dirty="0"/>
              <a:t> Cipher</a:t>
            </a:r>
          </a:p>
          <a:p>
            <a:pPr marL="857250" lvl="1" indent="-457200" algn="just">
              <a:lnSpc>
                <a:spcPct val="170000"/>
              </a:lnSpc>
              <a:buFont typeface="Arial" pitchFamily="34" charset="0"/>
              <a:buAutoNum type="arabicPeriod"/>
              <a:defRPr/>
            </a:pPr>
            <a:r>
              <a:rPr lang="en-AU" altLang="en-US" dirty="0"/>
              <a:t>Hill Cipher</a:t>
            </a:r>
          </a:p>
          <a:p>
            <a:pPr marL="857250" lvl="1" indent="-457200" algn="just">
              <a:lnSpc>
                <a:spcPct val="170000"/>
              </a:lnSpc>
              <a:buFont typeface="Arial" pitchFamily="34" charset="0"/>
              <a:buAutoNum type="arabicPeriod"/>
              <a:defRPr/>
            </a:pPr>
            <a:r>
              <a:rPr lang="en-AU" altLang="en-US" dirty="0" err="1"/>
              <a:t>Polyalphabetic</a:t>
            </a:r>
            <a:r>
              <a:rPr lang="en-AU" altLang="en-US" dirty="0"/>
              <a:t> Cipher</a:t>
            </a:r>
          </a:p>
          <a:p>
            <a:pPr algn="just">
              <a:lnSpc>
                <a:spcPct val="170000"/>
              </a:lnSpc>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AU" altLang="en-US" dirty="0">
                <a:solidFill>
                  <a:srgbClr val="7030A0"/>
                </a:solidFill>
              </a:rPr>
              <a:t>(a.1). Caesar Cipher</a:t>
            </a:r>
          </a:p>
        </p:txBody>
      </p:sp>
      <p:sp>
        <p:nvSpPr>
          <p:cNvPr id="7171" name="Rectangle 3"/>
          <p:cNvSpPr>
            <a:spLocks noGrp="1" noChangeArrowheads="1"/>
          </p:cNvSpPr>
          <p:nvPr>
            <p:ph idx="1"/>
          </p:nvPr>
        </p:nvSpPr>
        <p:spPr>
          <a:xfrm>
            <a:off x="457200" y="1285860"/>
            <a:ext cx="8229600" cy="4840303"/>
          </a:xfrm>
        </p:spPr>
        <p:txBody>
          <a:bodyPr>
            <a:normAutofit/>
          </a:bodyPr>
          <a:lstStyle/>
          <a:p>
            <a:pPr algn="just"/>
            <a:r>
              <a:rPr lang="en-AU" altLang="en-US" sz="2800" dirty="0"/>
              <a:t>The earlier  known and simplest substitution cipher by Julius Caesar. </a:t>
            </a:r>
          </a:p>
          <a:p>
            <a:pPr algn="just" eaLnBrk="1" hangingPunct="1"/>
            <a:r>
              <a:rPr lang="en-AU" altLang="en-US" sz="2800" dirty="0"/>
              <a:t>Letters are replaced by other letters or symbols.</a:t>
            </a:r>
          </a:p>
          <a:p>
            <a:pPr algn="just" eaLnBrk="1" hangingPunct="1"/>
            <a:r>
              <a:rPr lang="en-AU" altLang="en-US" sz="2800" dirty="0"/>
              <a:t>Replacing each letter of alphabet with letter standing three places further down the alphabet.</a:t>
            </a:r>
          </a:p>
          <a:p>
            <a:pPr algn="just" eaLnBrk="1" hangingPunct="1"/>
            <a:r>
              <a:rPr lang="en-US" altLang="en-US" sz="2800" dirty="0"/>
              <a:t>Example:</a:t>
            </a:r>
          </a:p>
          <a:p>
            <a:pPr algn="just" eaLnBrk="1" hangingPunct="1">
              <a:buNone/>
            </a:pPr>
            <a:endParaRPr lang="en-AU" altLang="en-US" sz="2800" dirty="0"/>
          </a:p>
          <a:p>
            <a:pPr algn="just" eaLnBrk="1" hangingPunct="1"/>
            <a:endParaRPr lang="en-AU" altLang="en-US" sz="2800" dirty="0">
              <a:latin typeface="Courier New" pitchFamily="49" charset="0"/>
            </a:endParaRPr>
          </a:p>
        </p:txBody>
      </p:sp>
      <p:pic>
        <p:nvPicPr>
          <p:cNvPr id="1026" name="Picture 2"/>
          <p:cNvPicPr>
            <a:picLocks noChangeAspect="1" noChangeArrowheads="1"/>
          </p:cNvPicPr>
          <p:nvPr/>
        </p:nvPicPr>
        <p:blipFill>
          <a:blip r:embed="rId3"/>
          <a:srcRect/>
          <a:stretch>
            <a:fillRect/>
          </a:stretch>
        </p:blipFill>
        <p:spPr bwMode="auto">
          <a:xfrm>
            <a:off x="1214414" y="4143380"/>
            <a:ext cx="6858048" cy="178595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altLang="en-US" dirty="0">
                <a:solidFill>
                  <a:srgbClr val="7030A0"/>
                </a:solidFill>
              </a:rPr>
              <a:t>Example</a:t>
            </a:r>
            <a:br>
              <a:rPr lang="en-AU" altLang="en-US" dirty="0">
                <a:solidFill>
                  <a:srgbClr val="7030A0"/>
                </a:solidFill>
              </a:rPr>
            </a:br>
            <a:r>
              <a:rPr lang="en-AU" altLang="en-US" dirty="0">
                <a:solidFill>
                  <a:srgbClr val="7030A0"/>
                </a:solidFill>
              </a:rPr>
              <a:t>                                                   (Contd....)</a:t>
            </a:r>
            <a:endParaRPr lang="en-IN" dirty="0"/>
          </a:p>
        </p:txBody>
      </p:sp>
      <p:sp>
        <p:nvSpPr>
          <p:cNvPr id="3" name="Content Placeholder 2"/>
          <p:cNvSpPr>
            <a:spLocks noGrp="1"/>
          </p:cNvSpPr>
          <p:nvPr>
            <p:ph idx="1"/>
          </p:nvPr>
        </p:nvSpPr>
        <p:spPr/>
        <p:txBody>
          <a:bodyPr>
            <a:normAutofit/>
          </a:bodyPr>
          <a:lstStyle/>
          <a:p>
            <a:pPr algn="just"/>
            <a:r>
              <a:rPr lang="en-IN" dirty="0"/>
              <a:t>Encrypt “</a:t>
            </a:r>
            <a:r>
              <a:rPr lang="en-IN" dirty="0" err="1"/>
              <a:t>neso</a:t>
            </a:r>
            <a:r>
              <a:rPr lang="en-IN" dirty="0"/>
              <a:t> academy” using Caesar cipher.</a:t>
            </a:r>
          </a:p>
          <a:p>
            <a:pPr algn="just"/>
            <a:r>
              <a:rPr lang="en-IN" dirty="0"/>
              <a:t>Solution:</a:t>
            </a:r>
          </a:p>
        </p:txBody>
      </p:sp>
      <p:pic>
        <p:nvPicPr>
          <p:cNvPr id="5" name="Picture 2"/>
          <p:cNvPicPr>
            <a:picLocks noChangeAspect="1" noChangeArrowheads="1"/>
          </p:cNvPicPr>
          <p:nvPr/>
        </p:nvPicPr>
        <p:blipFill>
          <a:blip r:embed="rId3"/>
          <a:srcRect/>
          <a:stretch>
            <a:fillRect/>
          </a:stretch>
        </p:blipFill>
        <p:spPr bwMode="auto">
          <a:xfrm>
            <a:off x="1285852" y="2786058"/>
            <a:ext cx="6858048" cy="1785950"/>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1142976" y="4643446"/>
            <a:ext cx="7143800" cy="142876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dirty="0">
                <a:solidFill>
                  <a:srgbClr val="7030A0"/>
                </a:solidFill>
              </a:rPr>
              <a:t>Exercise</a:t>
            </a:r>
          </a:p>
        </p:txBody>
      </p:sp>
      <p:sp>
        <p:nvSpPr>
          <p:cNvPr id="3" name="Content Placeholder 2"/>
          <p:cNvSpPr>
            <a:spLocks noGrp="1"/>
          </p:cNvSpPr>
          <p:nvPr>
            <p:ph idx="1"/>
          </p:nvPr>
        </p:nvSpPr>
        <p:spPr/>
        <p:txBody>
          <a:bodyPr/>
          <a:lstStyle/>
          <a:p>
            <a:r>
              <a:rPr lang="en-IN" dirty="0"/>
              <a:t>Decrypt “QHWZRUN VHFXULWB” using Caesar cipher.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dirty="0">
                <a:solidFill>
                  <a:srgbClr val="7030A0"/>
                </a:solidFill>
              </a:rPr>
              <a:t>Shift cipher</a:t>
            </a:r>
          </a:p>
        </p:txBody>
      </p:sp>
      <p:sp>
        <p:nvSpPr>
          <p:cNvPr id="3" name="Content Placeholder 2"/>
          <p:cNvSpPr>
            <a:spLocks noGrp="1"/>
          </p:cNvSpPr>
          <p:nvPr>
            <p:ph idx="1"/>
          </p:nvPr>
        </p:nvSpPr>
        <p:spPr>
          <a:xfrm>
            <a:off x="457200" y="1285860"/>
            <a:ext cx="8229600" cy="4840303"/>
          </a:xfrm>
        </p:spPr>
        <p:txBody>
          <a:bodyPr>
            <a:normAutofit/>
          </a:bodyPr>
          <a:lstStyle/>
          <a:p>
            <a:pPr algn="just"/>
            <a:r>
              <a:rPr lang="en-IN" sz="2800" dirty="0"/>
              <a:t>Key = 2,3,4,…………</a:t>
            </a:r>
          </a:p>
          <a:p>
            <a:pPr algn="just"/>
            <a:r>
              <a:rPr lang="en-IN" sz="2800" dirty="0"/>
              <a:t>Shift cipher with key = 3 is called as Caesar cipher.</a:t>
            </a:r>
          </a:p>
          <a:p>
            <a:pPr algn="just"/>
            <a:r>
              <a:rPr lang="en-IN" sz="2800" dirty="0"/>
              <a:t>Example:</a:t>
            </a:r>
          </a:p>
          <a:p>
            <a:pPr lvl="1" algn="just"/>
            <a:r>
              <a:rPr lang="en-IN" sz="2000" dirty="0"/>
              <a:t>Plaintext: </a:t>
            </a:r>
            <a:r>
              <a:rPr lang="en-IN" sz="2000" dirty="0" err="1"/>
              <a:t>neso</a:t>
            </a:r>
            <a:endParaRPr lang="en-IN" sz="2000" dirty="0"/>
          </a:p>
          <a:p>
            <a:pPr lvl="1" algn="just"/>
            <a:r>
              <a:rPr lang="en-IN" sz="2000" dirty="0"/>
              <a:t>Key: 4</a:t>
            </a:r>
          </a:p>
          <a:p>
            <a:pPr lvl="1" algn="just"/>
            <a:r>
              <a:rPr lang="en-IN" sz="2000" dirty="0" err="1"/>
              <a:t>Ciphertext</a:t>
            </a:r>
            <a:r>
              <a:rPr lang="en-IN" sz="2000" dirty="0"/>
              <a:t>: RIWS </a:t>
            </a:r>
          </a:p>
          <a:p>
            <a:pPr lvl="1" algn="just"/>
            <a:endParaRPr lang="en-IN" sz="2400" dirty="0"/>
          </a:p>
          <a:p>
            <a:pPr lvl="1" algn="just"/>
            <a:endParaRPr lang="en-IN" sz="2400" dirty="0"/>
          </a:p>
          <a:p>
            <a:pPr algn="just"/>
            <a:endParaRPr lang="en-IN" sz="2800" dirty="0"/>
          </a:p>
        </p:txBody>
      </p:sp>
      <p:pic>
        <p:nvPicPr>
          <p:cNvPr id="2050" name="Picture 2"/>
          <p:cNvPicPr>
            <a:picLocks noChangeAspect="1" noChangeArrowheads="1"/>
          </p:cNvPicPr>
          <p:nvPr/>
        </p:nvPicPr>
        <p:blipFill>
          <a:blip r:embed="rId2"/>
          <a:srcRect/>
          <a:stretch>
            <a:fillRect/>
          </a:stretch>
        </p:blipFill>
        <p:spPr bwMode="auto">
          <a:xfrm>
            <a:off x="928662" y="3857628"/>
            <a:ext cx="6981825" cy="27241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dirty="0">
                <a:solidFill>
                  <a:srgbClr val="7030A0"/>
                </a:solidFill>
              </a:rPr>
              <a:t>Pros and Cons of Caesar cipher</a:t>
            </a:r>
          </a:p>
        </p:txBody>
      </p:sp>
      <p:sp>
        <p:nvSpPr>
          <p:cNvPr id="3" name="Content Placeholder 2"/>
          <p:cNvSpPr>
            <a:spLocks noGrp="1"/>
          </p:cNvSpPr>
          <p:nvPr>
            <p:ph idx="1"/>
          </p:nvPr>
        </p:nvSpPr>
        <p:spPr>
          <a:xfrm>
            <a:off x="457200" y="1357298"/>
            <a:ext cx="8229600" cy="4929222"/>
          </a:xfrm>
        </p:spPr>
        <p:txBody>
          <a:bodyPr>
            <a:normAutofit lnSpcReduction="10000"/>
          </a:bodyPr>
          <a:lstStyle/>
          <a:p>
            <a:pPr algn="just"/>
            <a:r>
              <a:rPr lang="en-IN" dirty="0"/>
              <a:t>Pros:</a:t>
            </a:r>
          </a:p>
          <a:p>
            <a:pPr marL="971550" lvl="1" indent="-514350" algn="just">
              <a:buFont typeface="+mj-lt"/>
              <a:buAutoNum type="arabicPeriod"/>
            </a:pPr>
            <a:r>
              <a:rPr lang="en-IN" dirty="0"/>
              <a:t>Simple</a:t>
            </a:r>
          </a:p>
          <a:p>
            <a:pPr marL="971550" lvl="1" indent="-514350" algn="just">
              <a:buFont typeface="+mj-lt"/>
              <a:buAutoNum type="arabicPeriod"/>
            </a:pPr>
            <a:r>
              <a:rPr lang="en-IN" dirty="0"/>
              <a:t>Easy to implement</a:t>
            </a:r>
          </a:p>
          <a:p>
            <a:pPr algn="just"/>
            <a:r>
              <a:rPr lang="en-IN" dirty="0"/>
              <a:t>Cons:</a:t>
            </a:r>
          </a:p>
          <a:p>
            <a:pPr marL="971550" lvl="1" indent="-514350" algn="just">
              <a:buFont typeface="+mj-lt"/>
              <a:buAutoNum type="arabicPeriod"/>
            </a:pPr>
            <a:r>
              <a:rPr lang="en-IN" dirty="0"/>
              <a:t>The encryption and decryption algorithms are known.</a:t>
            </a:r>
          </a:p>
          <a:p>
            <a:pPr marL="971550" lvl="1" indent="-514350" algn="just">
              <a:buFont typeface="+mj-lt"/>
              <a:buAutoNum type="arabicPeriod"/>
            </a:pPr>
            <a:r>
              <a:rPr lang="en-IN" dirty="0"/>
              <a:t>There are only 25 keys to try. (Vulnerable to Brute force attack).</a:t>
            </a:r>
          </a:p>
          <a:p>
            <a:pPr marL="971550" lvl="1" indent="-514350" algn="just">
              <a:buFont typeface="+mj-lt"/>
              <a:buAutoNum type="arabicPeriod"/>
            </a:pPr>
            <a:r>
              <a:rPr lang="en-IN" dirty="0"/>
              <a:t>The language of the plaintext is known and easily recognizable.</a:t>
            </a:r>
          </a:p>
          <a:p>
            <a:pPr algn="just"/>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dirty="0">
                <a:solidFill>
                  <a:srgbClr val="7030A0"/>
                </a:solidFill>
              </a:rPr>
              <a:t>Exercise</a:t>
            </a:r>
          </a:p>
        </p:txBody>
      </p:sp>
      <p:sp>
        <p:nvSpPr>
          <p:cNvPr id="3" name="Content Placeholder 2"/>
          <p:cNvSpPr>
            <a:spLocks noGrp="1"/>
          </p:cNvSpPr>
          <p:nvPr>
            <p:ph idx="1"/>
          </p:nvPr>
        </p:nvSpPr>
        <p:spPr>
          <a:xfrm>
            <a:off x="457200" y="1357298"/>
            <a:ext cx="8229600" cy="4768865"/>
          </a:xfrm>
        </p:spPr>
        <p:txBody>
          <a:bodyPr/>
          <a:lstStyle/>
          <a:p>
            <a:pPr algn="just"/>
            <a:r>
              <a:rPr lang="en-IN" dirty="0"/>
              <a:t>Encrypt the plaintext “</a:t>
            </a:r>
            <a:r>
              <a:rPr lang="en-IN" dirty="0" err="1"/>
              <a:t>crytography</a:t>
            </a:r>
            <a:r>
              <a:rPr lang="en-IN" dirty="0"/>
              <a:t>” using shift cipher (key = 4).</a:t>
            </a:r>
          </a:p>
          <a:p>
            <a:pPr algn="just"/>
            <a:r>
              <a:rPr lang="en-IN" dirty="0"/>
              <a:t>Encrypt “</a:t>
            </a:r>
            <a:r>
              <a:rPr lang="en-IN" dirty="0" err="1"/>
              <a:t>neso</a:t>
            </a:r>
            <a:r>
              <a:rPr lang="en-IN" dirty="0"/>
              <a:t>” using shift cipher (key = 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AU" altLang="en-US" dirty="0">
                <a:solidFill>
                  <a:srgbClr val="7030A0"/>
                </a:solidFill>
              </a:rPr>
              <a:t>(a.2) </a:t>
            </a:r>
            <a:r>
              <a:rPr lang="en-AU" altLang="en-US" dirty="0" err="1">
                <a:solidFill>
                  <a:srgbClr val="7030A0"/>
                </a:solidFill>
              </a:rPr>
              <a:t>Monoalphabetic</a:t>
            </a:r>
            <a:r>
              <a:rPr lang="en-AU" altLang="en-US" dirty="0">
                <a:solidFill>
                  <a:srgbClr val="7030A0"/>
                </a:solidFill>
              </a:rPr>
              <a:t> Cipher</a:t>
            </a:r>
          </a:p>
        </p:txBody>
      </p:sp>
      <p:sp>
        <p:nvSpPr>
          <p:cNvPr id="70659" name="Rectangle 3"/>
          <p:cNvSpPr>
            <a:spLocks noGrp="1" noChangeArrowheads="1"/>
          </p:cNvSpPr>
          <p:nvPr>
            <p:ph idx="1"/>
          </p:nvPr>
        </p:nvSpPr>
        <p:spPr>
          <a:xfrm>
            <a:off x="457200" y="1214422"/>
            <a:ext cx="8401080" cy="4911741"/>
          </a:xfrm>
        </p:spPr>
        <p:txBody>
          <a:bodyPr rtlCol="0">
            <a:noAutofit/>
          </a:bodyPr>
          <a:lstStyle/>
          <a:p>
            <a:pPr algn="just" eaLnBrk="1" fontAlgn="auto" hangingPunct="1">
              <a:spcAft>
                <a:spcPts val="0"/>
              </a:spcAft>
              <a:defRPr/>
            </a:pPr>
            <a:r>
              <a:rPr lang="en-AU" altLang="en-US" sz="2400" dirty="0"/>
              <a:t>The ‘cipher’ line can be any permutation of the 26 alphabetic characters.</a:t>
            </a:r>
          </a:p>
          <a:p>
            <a:pPr algn="just" eaLnBrk="1" fontAlgn="auto" hangingPunct="1">
              <a:spcAft>
                <a:spcPts val="0"/>
              </a:spcAft>
              <a:defRPr/>
            </a:pPr>
            <a:r>
              <a:rPr lang="en-AU" altLang="en-US" sz="2400" b="1" dirty="0"/>
              <a:t>Permutation:</a:t>
            </a:r>
          </a:p>
          <a:p>
            <a:pPr lvl="1" algn="just">
              <a:defRPr/>
            </a:pPr>
            <a:r>
              <a:rPr lang="en-AU" altLang="en-US" sz="2000" dirty="0"/>
              <a:t>A permutation of a finite set of elements ‘S’ is an ordered sequence of all the elements of ‘S’, with each element appearing exactly once.</a:t>
            </a:r>
          </a:p>
          <a:p>
            <a:pPr lvl="1" algn="just">
              <a:defRPr/>
            </a:pPr>
            <a:r>
              <a:rPr lang="en-AU" altLang="en-US" sz="2000" b="1" dirty="0"/>
              <a:t>Example: </a:t>
            </a:r>
          </a:p>
          <a:p>
            <a:pPr lvl="1" algn="just">
              <a:buNone/>
              <a:defRPr/>
            </a:pPr>
            <a:r>
              <a:rPr lang="en-AU" altLang="en-US" sz="2000" dirty="0"/>
              <a:t>	S = {</a:t>
            </a:r>
            <a:r>
              <a:rPr lang="en-AU" altLang="en-US" sz="2000" dirty="0" err="1"/>
              <a:t>a,b,c</a:t>
            </a:r>
            <a:r>
              <a:rPr lang="en-AU" altLang="en-US" sz="2000" dirty="0"/>
              <a:t>}</a:t>
            </a:r>
          </a:p>
          <a:p>
            <a:pPr lvl="1" algn="just">
              <a:buNone/>
              <a:defRPr/>
            </a:pPr>
            <a:r>
              <a:rPr lang="en-AU" altLang="en-US" sz="2000" dirty="0"/>
              <a:t>	There are six permutations of S </a:t>
            </a:r>
          </a:p>
          <a:p>
            <a:pPr lvl="2" algn="just">
              <a:defRPr/>
            </a:pPr>
            <a:r>
              <a:rPr lang="en-AU" altLang="en-US" sz="1600" dirty="0" err="1"/>
              <a:t>abc</a:t>
            </a:r>
            <a:endParaRPr lang="en-AU" altLang="en-US" sz="1600" dirty="0"/>
          </a:p>
          <a:p>
            <a:pPr lvl="2" algn="just">
              <a:defRPr/>
            </a:pPr>
            <a:r>
              <a:rPr lang="en-AU" altLang="en-US" sz="1600" dirty="0" err="1"/>
              <a:t>acb</a:t>
            </a:r>
            <a:endParaRPr lang="en-AU" altLang="en-US" sz="1600" dirty="0"/>
          </a:p>
          <a:p>
            <a:pPr lvl="2" algn="just">
              <a:defRPr/>
            </a:pPr>
            <a:r>
              <a:rPr lang="en-AU" altLang="en-US" sz="1600" dirty="0" err="1"/>
              <a:t>bac</a:t>
            </a:r>
            <a:endParaRPr lang="en-AU" altLang="en-US" sz="1600" dirty="0"/>
          </a:p>
          <a:p>
            <a:pPr lvl="2" algn="just">
              <a:defRPr/>
            </a:pPr>
            <a:r>
              <a:rPr lang="en-AU" altLang="en-US" sz="1600" dirty="0" err="1"/>
              <a:t>bca</a:t>
            </a:r>
            <a:endParaRPr lang="en-AU" altLang="en-US" sz="1600" dirty="0"/>
          </a:p>
          <a:p>
            <a:pPr lvl="2" algn="just">
              <a:defRPr/>
            </a:pPr>
            <a:r>
              <a:rPr lang="en-AU" altLang="en-US" sz="1600" dirty="0"/>
              <a:t>cab</a:t>
            </a:r>
          </a:p>
          <a:p>
            <a:pPr lvl="2" algn="just">
              <a:defRPr/>
            </a:pPr>
            <a:r>
              <a:rPr lang="en-AU" altLang="en-US" sz="1600" dirty="0" err="1"/>
              <a:t>cba</a:t>
            </a:r>
            <a:endParaRPr lang="en-AU" altLang="en-US" sz="1600" dirty="0"/>
          </a:p>
          <a:p>
            <a:pPr algn="just" eaLnBrk="1" fontAlgn="auto" hangingPunct="1">
              <a:spcAft>
                <a:spcPts val="0"/>
              </a:spcAft>
              <a:defRPr/>
            </a:pPr>
            <a:endParaRPr lang="en-AU" altLang="en-US" sz="2400" dirty="0"/>
          </a:p>
          <a:p>
            <a:pPr algn="just" eaLnBrk="1" fontAlgn="auto" hangingPunct="1">
              <a:spcAft>
                <a:spcPts val="0"/>
              </a:spcAft>
              <a:defRPr/>
            </a:pPr>
            <a:endParaRPr lang="en-AU" altLang="en-US" sz="2400" dirty="0"/>
          </a:p>
        </p:txBody>
      </p:sp>
      <p:sp>
        <p:nvSpPr>
          <p:cNvPr id="4" name="Right Brace 3"/>
          <p:cNvSpPr/>
          <p:nvPr/>
        </p:nvSpPr>
        <p:spPr>
          <a:xfrm>
            <a:off x="1785918" y="4286256"/>
            <a:ext cx="785818" cy="178595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p:cNvSpPr txBox="1"/>
          <p:nvPr/>
        </p:nvSpPr>
        <p:spPr>
          <a:xfrm>
            <a:off x="2571736" y="4929198"/>
            <a:ext cx="5062540" cy="461665"/>
          </a:xfrm>
          <a:prstGeom prst="rect">
            <a:avLst/>
          </a:prstGeom>
          <a:noFill/>
        </p:spPr>
        <p:txBody>
          <a:bodyPr wrap="none" rtlCol="0">
            <a:spAutoFit/>
          </a:bodyPr>
          <a:lstStyle/>
          <a:p>
            <a:r>
              <a:rPr lang="en-IN" sz="2400" dirty="0"/>
              <a:t>There are (3!) 6 possible combinations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642918"/>
            <a:ext cx="7858180" cy="5786478"/>
          </a:xfrm>
        </p:spPr>
        <p:txBody>
          <a:bodyPr>
            <a:noAutofit/>
          </a:bodyPr>
          <a:lstStyle/>
          <a:p>
            <a:pPr algn="just">
              <a:lnSpc>
                <a:spcPct val="170000"/>
              </a:lnSpc>
            </a:pPr>
            <a:r>
              <a:rPr lang="en-AU" altLang="en-US" sz="2400" dirty="0"/>
              <a:t>Each plaintext letter maps to a different random </a:t>
            </a:r>
            <a:r>
              <a:rPr lang="en-AU" altLang="en-US" sz="2400" dirty="0" err="1"/>
              <a:t>ciphertext</a:t>
            </a:r>
            <a:r>
              <a:rPr lang="en-AU" altLang="en-US" sz="2400" dirty="0"/>
              <a:t> letter. </a:t>
            </a:r>
          </a:p>
          <a:p>
            <a:pPr algn="just">
              <a:lnSpc>
                <a:spcPct val="170000"/>
              </a:lnSpc>
            </a:pPr>
            <a:r>
              <a:rPr lang="en-AU" altLang="en-US" sz="2400" dirty="0"/>
              <a:t>Rather than just shifting the alphabet, this could shuffle (jumble) the letters arbitrarily.</a:t>
            </a:r>
          </a:p>
          <a:p>
            <a:pPr algn="just">
              <a:lnSpc>
                <a:spcPct val="170000"/>
              </a:lnSpc>
            </a:pPr>
            <a:r>
              <a:rPr lang="en-IN" sz="2400" dirty="0"/>
              <a:t>No uniform key difference between the plaintext and </a:t>
            </a:r>
            <a:r>
              <a:rPr lang="en-IN" sz="2400" dirty="0" err="1"/>
              <a:t>ciphertex</a:t>
            </a:r>
            <a:r>
              <a:rPr lang="en-IN" sz="2400" dirty="0"/>
              <a:t>, it can be permutation.</a:t>
            </a:r>
          </a:p>
          <a:p>
            <a:pPr algn="just">
              <a:lnSpc>
                <a:spcPct val="170000"/>
              </a:lnSpc>
            </a:pPr>
            <a:r>
              <a:rPr lang="en-IN" sz="2400" dirty="0"/>
              <a:t>Eliminate brute-force techniques for cryptanalysis. </a:t>
            </a:r>
          </a:p>
          <a:p>
            <a:pPr algn="just">
              <a:lnSpc>
                <a:spcPct val="170000"/>
              </a:lnSpc>
            </a:pPr>
            <a:r>
              <a:rPr lang="en-IN" sz="2400" dirty="0"/>
              <a:t>Nature of plain text is known because the language used is English.</a:t>
            </a:r>
          </a:p>
          <a:p>
            <a:pPr algn="just">
              <a:lnSpc>
                <a:spcPct val="170000"/>
              </a:lnSpc>
            </a:pPr>
            <a:endParaRPr lang="en-I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pic>
        <p:nvPicPr>
          <p:cNvPr id="1026" name="Picture 2"/>
          <p:cNvPicPr>
            <a:picLocks noChangeAspect="1" noChangeArrowheads="1"/>
          </p:cNvPicPr>
          <p:nvPr/>
        </p:nvPicPr>
        <p:blipFill>
          <a:blip r:embed="rId3"/>
          <a:srcRect/>
          <a:stretch>
            <a:fillRect/>
          </a:stretch>
        </p:blipFill>
        <p:spPr bwMode="auto">
          <a:xfrm>
            <a:off x="1123950" y="2105025"/>
            <a:ext cx="6896100" cy="264795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IN" dirty="0"/>
              <a:t>Drawback with the nature of the language.</a:t>
            </a:r>
          </a:p>
        </p:txBody>
      </p:sp>
      <p:pic>
        <p:nvPicPr>
          <p:cNvPr id="17411" name="Picture 3"/>
          <p:cNvPicPr>
            <a:picLocks noGrp="1" noChangeAspect="1" noChangeArrowheads="1"/>
          </p:cNvPicPr>
          <p:nvPr>
            <p:ph idx="1"/>
          </p:nvPr>
        </p:nvPicPr>
        <p:blipFill>
          <a:blip r:embed="rId3"/>
          <a:srcRect/>
          <a:stretch>
            <a:fillRect/>
          </a:stretch>
        </p:blipFill>
        <p:spPr>
          <a:xfrm>
            <a:off x="571472" y="1714488"/>
            <a:ext cx="8215370" cy="4429156"/>
          </a:xfrm>
          <a:noFill/>
        </p:spPr>
      </p:pic>
      <p:sp>
        <p:nvSpPr>
          <p:cNvPr id="4" name="TextBox 3"/>
          <p:cNvSpPr txBox="1"/>
          <p:nvPr/>
        </p:nvSpPr>
        <p:spPr>
          <a:xfrm>
            <a:off x="2357422" y="6215082"/>
            <a:ext cx="4707571" cy="461665"/>
          </a:xfrm>
          <a:prstGeom prst="rect">
            <a:avLst/>
          </a:prstGeom>
          <a:noFill/>
        </p:spPr>
        <p:txBody>
          <a:bodyPr wrap="none" rtlCol="0">
            <a:spAutoFit/>
          </a:bodyPr>
          <a:lstStyle/>
          <a:p>
            <a:r>
              <a:rPr lang="en-IN" sz="2400" b="1" dirty="0"/>
              <a:t>Relative frequency of  English letter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and Cons</a:t>
            </a:r>
          </a:p>
        </p:txBody>
      </p:sp>
      <p:sp>
        <p:nvSpPr>
          <p:cNvPr id="3" name="Content Placeholder 2"/>
          <p:cNvSpPr>
            <a:spLocks noGrp="1"/>
          </p:cNvSpPr>
          <p:nvPr>
            <p:ph idx="1"/>
          </p:nvPr>
        </p:nvSpPr>
        <p:spPr>
          <a:xfrm>
            <a:off x="457200" y="1357298"/>
            <a:ext cx="8229600" cy="4768865"/>
          </a:xfrm>
        </p:spPr>
        <p:txBody>
          <a:bodyPr>
            <a:normAutofit lnSpcReduction="10000"/>
          </a:bodyPr>
          <a:lstStyle/>
          <a:p>
            <a:pPr algn="just"/>
            <a:r>
              <a:rPr lang="en-IN" b="1" dirty="0"/>
              <a:t>Pros:</a:t>
            </a:r>
          </a:p>
          <a:p>
            <a:pPr marL="971550" lvl="1" indent="-514350" algn="just">
              <a:buFont typeface="+mj-lt"/>
              <a:buAutoNum type="arabicPeriod"/>
            </a:pPr>
            <a:r>
              <a:rPr lang="en-IN" dirty="0"/>
              <a:t>Better security than Caesar cipher.</a:t>
            </a:r>
          </a:p>
          <a:p>
            <a:pPr algn="just"/>
            <a:r>
              <a:rPr lang="en-IN" b="1" dirty="0"/>
              <a:t>Cons:</a:t>
            </a:r>
          </a:p>
          <a:p>
            <a:pPr marL="971550" lvl="1" indent="-514350" algn="just">
              <a:buFont typeface="+mj-lt"/>
              <a:buAutoNum type="arabicPeriod"/>
            </a:pPr>
            <a:r>
              <a:rPr lang="en-IN" dirty="0"/>
              <a:t>Easy to break because they reflect the frequency data of the original alphabet.</a:t>
            </a:r>
          </a:p>
          <a:p>
            <a:pPr marL="971550" lvl="1" indent="-514350" algn="just">
              <a:buFont typeface="+mj-lt"/>
              <a:buAutoNum type="arabicPeriod"/>
            </a:pPr>
            <a:r>
              <a:rPr lang="en-IN" dirty="0"/>
              <a:t>Prone to guessing attack using the English letter frequency of occurrence of letters.</a:t>
            </a:r>
          </a:p>
          <a:p>
            <a:pPr marL="971550" lvl="1" indent="-514350" algn="just">
              <a:buFont typeface="+mj-lt"/>
              <a:buAutoNum type="arabicPeriod"/>
            </a:pPr>
            <a:r>
              <a:rPr lang="en-IN" dirty="0"/>
              <a:t>A countermeasure is to provide multiple substitutes, know as homophones, for a single letter.</a:t>
            </a:r>
          </a:p>
          <a:p>
            <a:pPr algn="just"/>
            <a:endParaRPr lang="en-IN" dirty="0"/>
          </a:p>
          <a:p>
            <a:pPr algn="just"/>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AU" altLang="en-US" dirty="0"/>
              <a:t>(a.3) </a:t>
            </a:r>
            <a:r>
              <a:rPr lang="en-AU" altLang="en-US" dirty="0" err="1"/>
              <a:t>Playfair</a:t>
            </a:r>
            <a:r>
              <a:rPr lang="en-AU" altLang="en-US" dirty="0"/>
              <a:t> Cipher</a:t>
            </a:r>
          </a:p>
        </p:txBody>
      </p:sp>
      <p:sp>
        <p:nvSpPr>
          <p:cNvPr id="21507" name="Rectangle 3"/>
          <p:cNvSpPr>
            <a:spLocks noGrp="1" noChangeArrowheads="1"/>
          </p:cNvSpPr>
          <p:nvPr>
            <p:ph idx="1"/>
          </p:nvPr>
        </p:nvSpPr>
        <p:spPr/>
        <p:txBody>
          <a:bodyPr/>
          <a:lstStyle/>
          <a:p>
            <a:pPr algn="just" eaLnBrk="1" hangingPunct="1"/>
            <a:r>
              <a:rPr lang="en-AU" altLang="en-US" dirty="0"/>
              <a:t>Aka </a:t>
            </a:r>
            <a:r>
              <a:rPr lang="en-AU" altLang="en-US" dirty="0" err="1"/>
              <a:t>Playfair</a:t>
            </a:r>
            <a:r>
              <a:rPr lang="en-AU" altLang="en-US" dirty="0"/>
              <a:t> square or Wheatstone-</a:t>
            </a:r>
            <a:r>
              <a:rPr lang="en-AU" altLang="en-US" dirty="0" err="1"/>
              <a:t>Playfair</a:t>
            </a:r>
            <a:r>
              <a:rPr lang="en-AU" altLang="en-US" dirty="0"/>
              <a:t> cipher.</a:t>
            </a:r>
          </a:p>
          <a:p>
            <a:pPr algn="just" eaLnBrk="1" hangingPunct="1"/>
            <a:r>
              <a:rPr lang="en-AU" altLang="en-US" dirty="0"/>
              <a:t>Invented in 1854 by Charles Wheatstone.</a:t>
            </a:r>
          </a:p>
          <a:p>
            <a:pPr algn="just" eaLnBrk="1" hangingPunct="1"/>
            <a:r>
              <a:rPr lang="en-AU" altLang="en-US" dirty="0"/>
              <a:t>Manual symmetric encryption technique </a:t>
            </a:r>
            <a:r>
              <a:rPr lang="en-AU" altLang="en-US" dirty="0" err="1"/>
              <a:t>i.e</a:t>
            </a:r>
            <a:r>
              <a:rPr lang="en-AU" altLang="en-US" dirty="0"/>
              <a:t> same key is used for both encryption &amp; decryption.</a:t>
            </a:r>
          </a:p>
          <a:p>
            <a:pPr algn="just" eaLnBrk="1" hangingPunct="1"/>
            <a:r>
              <a:rPr lang="en-AU" altLang="en-US" dirty="0" err="1"/>
              <a:t>Digram</a:t>
            </a:r>
            <a:r>
              <a:rPr lang="en-AU" altLang="en-US" dirty="0"/>
              <a:t> substitution technique.</a:t>
            </a:r>
          </a:p>
          <a:p>
            <a:pPr algn="just" eaLnBrk="1" hangingPunct="1"/>
            <a:endParaRPr lang="en-AU" altLang="en-US" dirty="0"/>
          </a:p>
          <a:p>
            <a:pPr algn="just" eaLnBrk="1" hangingPunct="1"/>
            <a:endParaRPr lang="en-AU" altLang="en-US" dirty="0"/>
          </a:p>
          <a:p>
            <a:pPr algn="just" eaLnBrk="1" hangingPunct="1"/>
            <a:endParaRPr lang="en-AU" altLang="en-US" dirty="0"/>
          </a:p>
          <a:p>
            <a:pPr algn="just" eaLnBrk="1" hangingPunct="1"/>
            <a:endParaRPr lang="en-AU"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IN" dirty="0"/>
              <a:t>Rules</a:t>
            </a:r>
          </a:p>
        </p:txBody>
      </p:sp>
      <p:sp>
        <p:nvSpPr>
          <p:cNvPr id="3" name="Content Placeholder 2"/>
          <p:cNvSpPr>
            <a:spLocks noGrp="1"/>
          </p:cNvSpPr>
          <p:nvPr>
            <p:ph idx="1"/>
          </p:nvPr>
        </p:nvSpPr>
        <p:spPr>
          <a:xfrm>
            <a:off x="457200" y="1071546"/>
            <a:ext cx="8229600" cy="5500726"/>
          </a:xfrm>
        </p:spPr>
        <p:txBody>
          <a:bodyPr>
            <a:noAutofit/>
          </a:bodyPr>
          <a:lstStyle/>
          <a:p>
            <a:pPr algn="just"/>
            <a:r>
              <a:rPr lang="en-IN" b="1" u="sng" dirty="0"/>
              <a:t>Rules to create 5 x 5 key matrix (or) </a:t>
            </a:r>
            <a:r>
              <a:rPr lang="en-IN" b="1" u="sng" dirty="0" err="1"/>
              <a:t>playfair</a:t>
            </a:r>
            <a:r>
              <a:rPr lang="en-IN" b="1" u="sng" dirty="0"/>
              <a:t> square:</a:t>
            </a:r>
          </a:p>
          <a:p>
            <a:pPr lvl="1" algn="just"/>
            <a:r>
              <a:rPr lang="en-IN" sz="2400" dirty="0" err="1"/>
              <a:t>Playfair</a:t>
            </a:r>
            <a:r>
              <a:rPr lang="en-IN" sz="2400" dirty="0"/>
              <a:t> square is filled row-by-row, starting with the keyword followed by the rest of the alphabet.</a:t>
            </a:r>
          </a:p>
          <a:p>
            <a:pPr lvl="1" algn="just"/>
            <a:r>
              <a:rPr lang="en-IN" sz="2400" dirty="0"/>
              <a:t>‘J’ and ‘I’ placed in the same cell of key matrix.</a:t>
            </a:r>
          </a:p>
          <a:p>
            <a:pPr lvl="1" algn="just"/>
            <a:r>
              <a:rPr lang="en-IN" sz="2400" dirty="0"/>
              <a:t>No repeating letters in key matrix.</a:t>
            </a:r>
          </a:p>
          <a:p>
            <a:pPr algn="just"/>
            <a:r>
              <a:rPr lang="en-IN" b="1" u="sng" dirty="0"/>
              <a:t>Rules to prepare message:</a:t>
            </a:r>
          </a:p>
          <a:p>
            <a:pPr lvl="1" algn="just"/>
            <a:r>
              <a:rPr lang="en-IN" sz="2400" dirty="0" err="1"/>
              <a:t>Digrams</a:t>
            </a:r>
            <a:r>
              <a:rPr lang="en-IN" sz="2400" dirty="0"/>
              <a:t> – split the plaintext into pairs.</a:t>
            </a:r>
          </a:p>
          <a:p>
            <a:pPr lvl="1" algn="just"/>
            <a:r>
              <a:rPr lang="en-IN" sz="2400" dirty="0"/>
              <a:t>Split all duplicate letters by inserting filler letter ‘X’.</a:t>
            </a:r>
          </a:p>
          <a:p>
            <a:pPr lvl="1" algn="just"/>
            <a:r>
              <a:rPr lang="en-IN" sz="2400" dirty="0"/>
              <a:t>If there is an odd letter at the end of the message, insert filler letter ‘X’.</a:t>
            </a:r>
          </a:p>
          <a:p>
            <a:pPr lvl="1" algn="just"/>
            <a:r>
              <a:rPr lang="en-IN" sz="2400" dirty="0"/>
              <a:t>Ignore all spaces.</a:t>
            </a:r>
          </a:p>
          <a:p>
            <a:pPr algn="just"/>
            <a:endParaRPr lang="en-IN" sz="2000" dirty="0"/>
          </a:p>
          <a:p>
            <a:pPr algn="just"/>
            <a:endParaRPr lang="en-IN" dirty="0"/>
          </a:p>
          <a:p>
            <a:pPr algn="just"/>
            <a:endParaRPr lang="en-IN" dirty="0"/>
          </a:p>
          <a:p>
            <a:pPr algn="just"/>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IN" dirty="0"/>
              <a:t>Rules</a:t>
            </a:r>
          </a:p>
        </p:txBody>
      </p:sp>
      <p:sp>
        <p:nvSpPr>
          <p:cNvPr id="3" name="Content Placeholder 2"/>
          <p:cNvSpPr>
            <a:spLocks noGrp="1"/>
          </p:cNvSpPr>
          <p:nvPr>
            <p:ph idx="1"/>
          </p:nvPr>
        </p:nvSpPr>
        <p:spPr>
          <a:xfrm>
            <a:off x="457200" y="1071546"/>
            <a:ext cx="8229600" cy="5500726"/>
          </a:xfrm>
        </p:spPr>
        <p:txBody>
          <a:bodyPr>
            <a:noAutofit/>
          </a:bodyPr>
          <a:lstStyle/>
          <a:p>
            <a:pPr algn="just"/>
            <a:r>
              <a:rPr lang="en-IN" sz="2000" b="1" u="sng" dirty="0"/>
              <a:t>Rules to encrypt message:</a:t>
            </a:r>
          </a:p>
          <a:p>
            <a:pPr lvl="1" algn="just"/>
            <a:r>
              <a:rPr lang="en-IN" sz="1600" dirty="0"/>
              <a:t>If the pairs are in same row:</a:t>
            </a:r>
          </a:p>
          <a:p>
            <a:pPr lvl="2" algn="just"/>
            <a:r>
              <a:rPr lang="en-IN" sz="1400" dirty="0"/>
              <a:t>Move each letter |</a:t>
            </a:r>
            <a:r>
              <a:rPr lang="en-IN" sz="1400" dirty="0">
                <a:sym typeface="Symbol"/>
              </a:rPr>
              <a:t></a:t>
            </a:r>
            <a:r>
              <a:rPr lang="en-IN" sz="1400" dirty="0"/>
              <a:t>| right one.</a:t>
            </a:r>
          </a:p>
          <a:p>
            <a:pPr lvl="2" algn="just"/>
            <a:r>
              <a:rPr lang="en-IN" sz="1400" dirty="0"/>
              <a:t>Up on reaching end of the table, wrap around.</a:t>
            </a:r>
          </a:p>
          <a:p>
            <a:pPr lvl="1" algn="just"/>
            <a:r>
              <a:rPr lang="en-IN" sz="1600" dirty="0"/>
              <a:t>If the pairs are in same column:</a:t>
            </a:r>
          </a:p>
          <a:p>
            <a:pPr lvl="2" algn="just"/>
            <a:r>
              <a:rPr lang="en-IN" sz="1400" dirty="0"/>
              <a:t>Move each letter |</a:t>
            </a:r>
            <a:r>
              <a:rPr lang="en-IN" sz="1400" dirty="0">
                <a:sym typeface="Symbol"/>
              </a:rPr>
              <a:t></a:t>
            </a:r>
            <a:r>
              <a:rPr lang="en-IN" sz="1400" dirty="0"/>
              <a:t>| down one.</a:t>
            </a:r>
          </a:p>
          <a:p>
            <a:pPr lvl="2" algn="just"/>
            <a:r>
              <a:rPr lang="en-IN" sz="1400" dirty="0"/>
              <a:t>Up on reaching end of the table, wrap around.</a:t>
            </a:r>
          </a:p>
          <a:p>
            <a:pPr lvl="1" algn="just"/>
            <a:r>
              <a:rPr lang="en-IN" sz="1600" dirty="0"/>
              <a:t>If  the pairs forms a rectangle:</a:t>
            </a:r>
          </a:p>
          <a:p>
            <a:pPr lvl="2" algn="just"/>
            <a:r>
              <a:rPr lang="en-IN" sz="1400" dirty="0"/>
              <a:t>Swap |</a:t>
            </a:r>
            <a:r>
              <a:rPr lang="en-IN" sz="1400" dirty="0">
                <a:sym typeface="Symbol"/>
              </a:rPr>
              <a:t></a:t>
            </a:r>
            <a:r>
              <a:rPr lang="en-IN" sz="1400" dirty="0"/>
              <a:t>|the letters with the ones on the end of the rectangle.</a:t>
            </a:r>
          </a:p>
          <a:p>
            <a:pPr algn="just"/>
            <a:r>
              <a:rPr lang="en-IN" sz="2000" b="1" u="sng" dirty="0"/>
              <a:t>Rules to decrypt message:</a:t>
            </a:r>
          </a:p>
          <a:p>
            <a:pPr lvl="1" algn="just"/>
            <a:r>
              <a:rPr lang="en-IN" sz="1600" dirty="0"/>
              <a:t>If the pairs are in same row:</a:t>
            </a:r>
          </a:p>
          <a:p>
            <a:pPr lvl="2" algn="just"/>
            <a:r>
              <a:rPr lang="en-IN" sz="1400" dirty="0"/>
              <a:t>Move each letter |</a:t>
            </a:r>
            <a:r>
              <a:rPr lang="en-IN" sz="1400" dirty="0">
                <a:sym typeface="Symbol"/>
              </a:rPr>
              <a:t></a:t>
            </a:r>
            <a:r>
              <a:rPr lang="en-IN" sz="1400" dirty="0"/>
              <a:t>| left one.</a:t>
            </a:r>
          </a:p>
          <a:p>
            <a:pPr lvl="2" algn="just"/>
            <a:r>
              <a:rPr lang="en-IN" sz="1400" dirty="0"/>
              <a:t>Up on reaching end of the table, wrap around.</a:t>
            </a:r>
          </a:p>
          <a:p>
            <a:pPr lvl="1" algn="just"/>
            <a:r>
              <a:rPr lang="en-IN" sz="1600" dirty="0"/>
              <a:t>If the pairs are in same column:</a:t>
            </a:r>
          </a:p>
          <a:p>
            <a:pPr lvl="2" algn="just"/>
            <a:r>
              <a:rPr lang="en-IN" sz="1400" dirty="0"/>
              <a:t>Move each letter |</a:t>
            </a:r>
            <a:r>
              <a:rPr lang="en-IN" sz="1400" dirty="0">
                <a:sym typeface="Symbol"/>
              </a:rPr>
              <a:t></a:t>
            </a:r>
            <a:r>
              <a:rPr lang="en-IN" sz="1400" dirty="0"/>
              <a:t>| up one.</a:t>
            </a:r>
          </a:p>
          <a:p>
            <a:pPr lvl="2" algn="just"/>
            <a:r>
              <a:rPr lang="en-IN" sz="1400" dirty="0"/>
              <a:t>Up on reaching end of the table, wrap around.</a:t>
            </a:r>
          </a:p>
          <a:p>
            <a:pPr lvl="1" algn="just"/>
            <a:r>
              <a:rPr lang="en-IN" sz="1600" dirty="0"/>
              <a:t>If  the pairs forms a rectangle:</a:t>
            </a:r>
          </a:p>
          <a:p>
            <a:pPr lvl="2" algn="just"/>
            <a:r>
              <a:rPr lang="en-IN" sz="1400" dirty="0"/>
              <a:t>Swap |</a:t>
            </a:r>
            <a:r>
              <a:rPr lang="en-IN" sz="1400" dirty="0">
                <a:sym typeface="Symbol"/>
              </a:rPr>
              <a:t></a:t>
            </a:r>
            <a:r>
              <a:rPr lang="en-IN" sz="1400" dirty="0"/>
              <a:t>|the letters with the ones on the end of the rectangle.</a:t>
            </a:r>
            <a:endParaRPr lang="en-IN" sz="2000" dirty="0"/>
          </a:p>
          <a:p>
            <a:pPr algn="just"/>
            <a:endParaRPr lang="en-IN" sz="2000" dirty="0"/>
          </a:p>
          <a:p>
            <a:pPr algn="just"/>
            <a:endParaRPr lang="en-IN"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AU" altLang="en-US" dirty="0" err="1"/>
              <a:t>Playfair</a:t>
            </a:r>
            <a:r>
              <a:rPr lang="en-AU" altLang="en-US" dirty="0"/>
              <a:t> Matrix (or) Key Matrix</a:t>
            </a:r>
          </a:p>
        </p:txBody>
      </p:sp>
      <p:sp>
        <p:nvSpPr>
          <p:cNvPr id="21507" name="Rectangle 3"/>
          <p:cNvSpPr>
            <a:spLocks noGrp="1" noChangeArrowheads="1"/>
          </p:cNvSpPr>
          <p:nvPr>
            <p:ph idx="1"/>
          </p:nvPr>
        </p:nvSpPr>
        <p:spPr>
          <a:xfrm>
            <a:off x="457200" y="1428736"/>
            <a:ext cx="8229600" cy="4697427"/>
          </a:xfrm>
        </p:spPr>
        <p:txBody>
          <a:bodyPr/>
          <a:lstStyle/>
          <a:p>
            <a:pPr algn="just" eaLnBrk="1" hangingPunct="1"/>
            <a:r>
              <a:rPr lang="en-AU" altLang="en-US" dirty="0"/>
              <a:t>5 x 5 matrix constructed using a keyword        Example: Monarchy</a:t>
            </a:r>
          </a:p>
          <a:p>
            <a:pPr algn="just" eaLnBrk="1" hangingPunct="1"/>
            <a:endParaRPr lang="en-AU" altLang="en-US" dirty="0"/>
          </a:p>
        </p:txBody>
      </p:sp>
      <p:pic>
        <p:nvPicPr>
          <p:cNvPr id="2050" name="Picture 2"/>
          <p:cNvPicPr>
            <a:picLocks noChangeAspect="1" noChangeArrowheads="1"/>
          </p:cNvPicPr>
          <p:nvPr/>
        </p:nvPicPr>
        <p:blipFill>
          <a:blip r:embed="rId3"/>
          <a:srcRect/>
          <a:stretch>
            <a:fillRect/>
          </a:stretch>
        </p:blipFill>
        <p:spPr bwMode="auto">
          <a:xfrm>
            <a:off x="2714612" y="2857496"/>
            <a:ext cx="3286148" cy="278608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- 1</a:t>
            </a:r>
          </a:p>
        </p:txBody>
      </p:sp>
      <p:sp>
        <p:nvSpPr>
          <p:cNvPr id="3" name="Content Placeholder 2"/>
          <p:cNvSpPr>
            <a:spLocks noGrp="1"/>
          </p:cNvSpPr>
          <p:nvPr>
            <p:ph idx="1"/>
          </p:nvPr>
        </p:nvSpPr>
        <p:spPr>
          <a:xfrm>
            <a:off x="457200" y="1285860"/>
            <a:ext cx="8229600" cy="4840303"/>
          </a:xfrm>
        </p:spPr>
        <p:txBody>
          <a:bodyPr>
            <a:normAutofit/>
          </a:bodyPr>
          <a:lstStyle/>
          <a:p>
            <a:r>
              <a:rPr lang="en-IN" sz="2400" dirty="0"/>
              <a:t>Given;</a:t>
            </a:r>
          </a:p>
          <a:p>
            <a:r>
              <a:rPr lang="en-IN" sz="2400" dirty="0"/>
              <a:t>Key: MONARCHY</a:t>
            </a:r>
          </a:p>
          <a:p>
            <a:r>
              <a:rPr lang="en-IN" sz="2400" dirty="0" err="1"/>
              <a:t>PlainText</a:t>
            </a:r>
            <a:r>
              <a:rPr lang="en-IN" sz="2400" dirty="0"/>
              <a:t>: attack</a:t>
            </a:r>
          </a:p>
          <a:p>
            <a:r>
              <a:rPr lang="en-IN" sz="2400" dirty="0" err="1"/>
              <a:t>Digrams</a:t>
            </a:r>
            <a:r>
              <a:rPr lang="en-IN" sz="2400" dirty="0"/>
              <a:t>:   at   </a:t>
            </a:r>
            <a:r>
              <a:rPr lang="en-IN" sz="2400" dirty="0" err="1"/>
              <a:t>ta</a:t>
            </a:r>
            <a:r>
              <a:rPr lang="en-IN" sz="2400" dirty="0"/>
              <a:t>    ck</a:t>
            </a:r>
          </a:p>
          <a:p>
            <a:pPr>
              <a:buNone/>
            </a:pPr>
            <a:endParaRPr lang="en-IN" sz="2400" dirty="0"/>
          </a:p>
          <a:p>
            <a:pPr>
              <a:buNone/>
            </a:pPr>
            <a:endParaRPr lang="en-IN" sz="2400" dirty="0"/>
          </a:p>
        </p:txBody>
      </p:sp>
      <p:pic>
        <p:nvPicPr>
          <p:cNvPr id="2050" name="Picture 2"/>
          <p:cNvPicPr>
            <a:picLocks noChangeAspect="1" noChangeArrowheads="1"/>
          </p:cNvPicPr>
          <p:nvPr/>
        </p:nvPicPr>
        <p:blipFill>
          <a:blip r:embed="rId2"/>
          <a:srcRect/>
          <a:stretch>
            <a:fillRect/>
          </a:stretch>
        </p:blipFill>
        <p:spPr bwMode="auto">
          <a:xfrm>
            <a:off x="785786" y="3071810"/>
            <a:ext cx="7786742" cy="3000396"/>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42910" y="1785926"/>
            <a:ext cx="8143932" cy="3643337"/>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42910" y="785794"/>
            <a:ext cx="7643866" cy="3214710"/>
          </a:xfrm>
          <a:prstGeom prst="rect">
            <a:avLst/>
          </a:prstGeom>
          <a:noFill/>
          <a:ln w="9525">
            <a:noFill/>
            <a:miter lim="800000"/>
            <a:headEnd/>
            <a:tailEnd/>
          </a:ln>
          <a:effectLst/>
        </p:spPr>
      </p:pic>
      <p:sp>
        <p:nvSpPr>
          <p:cNvPr id="5" name="TextBox 4"/>
          <p:cNvSpPr txBox="1"/>
          <p:nvPr/>
        </p:nvSpPr>
        <p:spPr>
          <a:xfrm>
            <a:off x="1785918" y="4714884"/>
            <a:ext cx="2648289" cy="830997"/>
          </a:xfrm>
          <a:prstGeom prst="rect">
            <a:avLst/>
          </a:prstGeom>
          <a:noFill/>
        </p:spPr>
        <p:txBody>
          <a:bodyPr wrap="none" rtlCol="0">
            <a:spAutoFit/>
          </a:bodyPr>
          <a:lstStyle/>
          <a:p>
            <a:r>
              <a:rPr lang="en-IN" sz="2400" b="1" dirty="0"/>
              <a:t>PlainText: </a:t>
            </a:r>
            <a:r>
              <a:rPr lang="en-IN" sz="2400" dirty="0"/>
              <a:t>attack</a:t>
            </a:r>
          </a:p>
          <a:p>
            <a:r>
              <a:rPr lang="en-IN" sz="2400" b="1" dirty="0" err="1"/>
              <a:t>CipherText</a:t>
            </a:r>
            <a:r>
              <a:rPr lang="en-IN" sz="2400" b="1" dirty="0"/>
              <a:t>:</a:t>
            </a:r>
            <a:r>
              <a:rPr lang="en-IN" sz="2400" dirty="0"/>
              <a:t> RSSRDE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- 2</a:t>
            </a:r>
          </a:p>
        </p:txBody>
      </p:sp>
      <p:sp>
        <p:nvSpPr>
          <p:cNvPr id="3" name="Content Placeholder 2"/>
          <p:cNvSpPr>
            <a:spLocks noGrp="1"/>
          </p:cNvSpPr>
          <p:nvPr>
            <p:ph idx="1"/>
          </p:nvPr>
        </p:nvSpPr>
        <p:spPr/>
        <p:txBody>
          <a:bodyPr/>
          <a:lstStyle/>
          <a:p>
            <a:r>
              <a:rPr lang="en-IN" dirty="0"/>
              <a:t>Plaintext: mosque</a:t>
            </a:r>
          </a:p>
        </p:txBody>
      </p:sp>
      <p:pic>
        <p:nvPicPr>
          <p:cNvPr id="4098" name="Picture 2"/>
          <p:cNvPicPr>
            <a:picLocks noChangeAspect="1" noChangeArrowheads="1"/>
          </p:cNvPicPr>
          <p:nvPr/>
        </p:nvPicPr>
        <p:blipFill>
          <a:blip r:embed="rId2"/>
          <a:srcRect/>
          <a:stretch>
            <a:fillRect/>
          </a:stretch>
        </p:blipFill>
        <p:spPr bwMode="auto">
          <a:xfrm>
            <a:off x="1142976" y="2571744"/>
            <a:ext cx="6896100" cy="23622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123950" y="2224088"/>
            <a:ext cx="6896100" cy="24098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srcRect/>
          <a:stretch>
            <a:fillRect/>
          </a:stretch>
        </p:blipFill>
        <p:spPr bwMode="auto">
          <a:xfrm>
            <a:off x="1095375" y="2105025"/>
            <a:ext cx="6953250" cy="2647950"/>
          </a:xfrm>
          <a:prstGeom prst="rect">
            <a:avLst/>
          </a:prstGeom>
          <a:noFill/>
          <a:ln w="9525">
            <a:noFill/>
            <a:miter lim="800000"/>
            <a:headEnd/>
            <a:tailEnd/>
          </a:ln>
          <a:effectLst/>
        </p:spPr>
      </p:pic>
      <p:sp>
        <p:nvSpPr>
          <p:cNvPr id="6" name="TextBox 5"/>
          <p:cNvSpPr txBox="1"/>
          <p:nvPr/>
        </p:nvSpPr>
        <p:spPr>
          <a:xfrm>
            <a:off x="1428728" y="5214950"/>
            <a:ext cx="2782300" cy="830997"/>
          </a:xfrm>
          <a:prstGeom prst="rect">
            <a:avLst/>
          </a:prstGeom>
          <a:noFill/>
        </p:spPr>
        <p:txBody>
          <a:bodyPr wrap="none" rtlCol="0">
            <a:spAutoFit/>
          </a:bodyPr>
          <a:lstStyle/>
          <a:p>
            <a:r>
              <a:rPr lang="en-IN" sz="2400" b="1" dirty="0"/>
              <a:t>PlainText: </a:t>
            </a:r>
            <a:r>
              <a:rPr lang="en-IN" sz="2400" dirty="0"/>
              <a:t>mosque</a:t>
            </a:r>
          </a:p>
          <a:p>
            <a:r>
              <a:rPr lang="en-IN" sz="2400" b="1" dirty="0" err="1"/>
              <a:t>CipherText</a:t>
            </a:r>
            <a:r>
              <a:rPr lang="en-IN" sz="2400" b="1" dirty="0"/>
              <a:t>:</a:t>
            </a:r>
            <a:r>
              <a:rPr lang="en-IN" sz="2400" dirty="0"/>
              <a:t> ONTSML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a:t>
            </a:r>
          </a:p>
        </p:txBody>
      </p:sp>
      <p:sp>
        <p:nvSpPr>
          <p:cNvPr id="3" name="Content Placeholder 2"/>
          <p:cNvSpPr>
            <a:spLocks noGrp="1"/>
          </p:cNvSpPr>
          <p:nvPr>
            <p:ph idx="1"/>
          </p:nvPr>
        </p:nvSpPr>
        <p:spPr>
          <a:xfrm>
            <a:off x="457200" y="1214422"/>
            <a:ext cx="8229600" cy="4911741"/>
          </a:xfrm>
        </p:spPr>
        <p:txBody>
          <a:bodyPr/>
          <a:lstStyle/>
          <a:p>
            <a:r>
              <a:rPr lang="en-IN" dirty="0"/>
              <a:t>A </a:t>
            </a:r>
            <a:r>
              <a:rPr lang="en-IN" dirty="0" err="1"/>
              <a:t>Playfair</a:t>
            </a:r>
            <a:r>
              <a:rPr lang="en-IN" dirty="0"/>
              <a:t> cipher is given by its key</a:t>
            </a:r>
          </a:p>
          <a:p>
            <a:endParaRPr lang="en-IN" dirty="0"/>
          </a:p>
          <a:p>
            <a:endParaRPr lang="en-IN" dirty="0"/>
          </a:p>
          <a:p>
            <a:endParaRPr lang="en-IN" dirty="0"/>
          </a:p>
          <a:p>
            <a:r>
              <a:rPr lang="en-IN" dirty="0"/>
              <a:t>Encrypt the plaintext: </a:t>
            </a:r>
            <a:r>
              <a:rPr lang="en-IN" sz="2400" dirty="0"/>
              <a:t>COMEQUICKLYWENEEDHELP</a:t>
            </a:r>
            <a:endParaRPr lang="en-IN" dirty="0"/>
          </a:p>
          <a:p>
            <a:r>
              <a:rPr lang="en-IN" dirty="0"/>
              <a:t>Decrypt the </a:t>
            </a:r>
            <a:r>
              <a:rPr lang="en-IN" dirty="0" err="1"/>
              <a:t>cryptotext</a:t>
            </a:r>
            <a:r>
              <a:rPr lang="en-IN" dirty="0"/>
              <a:t>: </a:t>
            </a:r>
            <a:r>
              <a:rPr lang="en-IN" sz="2400" dirty="0"/>
              <a:t>EWWSDSLQHPLIWNFWUNHP</a:t>
            </a:r>
            <a:endParaRPr lang="en-IN" dirty="0"/>
          </a:p>
          <a:p>
            <a:pPr>
              <a:buNone/>
            </a:pPr>
            <a:endParaRPr lang="en-IN" dirty="0"/>
          </a:p>
        </p:txBody>
      </p:sp>
      <p:pic>
        <p:nvPicPr>
          <p:cNvPr id="1027" name="Picture 3"/>
          <p:cNvPicPr>
            <a:picLocks noChangeAspect="1" noChangeArrowheads="1"/>
          </p:cNvPicPr>
          <p:nvPr/>
        </p:nvPicPr>
        <p:blipFill>
          <a:blip r:embed="rId2"/>
          <a:srcRect/>
          <a:stretch>
            <a:fillRect/>
          </a:stretch>
        </p:blipFill>
        <p:spPr bwMode="auto">
          <a:xfrm>
            <a:off x="1643042" y="1928802"/>
            <a:ext cx="2786082" cy="142876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a:t>
            </a:r>
          </a:p>
        </p:txBody>
      </p:sp>
      <p:pic>
        <p:nvPicPr>
          <p:cNvPr id="7170" name="Picture 2"/>
          <p:cNvPicPr>
            <a:picLocks noChangeAspect="1" noChangeArrowheads="1"/>
          </p:cNvPicPr>
          <p:nvPr/>
        </p:nvPicPr>
        <p:blipFill>
          <a:blip r:embed="rId2"/>
          <a:srcRect/>
          <a:stretch>
            <a:fillRect/>
          </a:stretch>
        </p:blipFill>
        <p:spPr bwMode="auto">
          <a:xfrm>
            <a:off x="1571625" y="2071688"/>
            <a:ext cx="6000750" cy="271462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628650" y="352425"/>
            <a:ext cx="7886700" cy="1325563"/>
          </a:xfrm>
        </p:spPr>
        <p:txBody>
          <a:bodyPr/>
          <a:lstStyle/>
          <a:p>
            <a:pPr eaLnBrk="1" hangingPunct="1"/>
            <a:r>
              <a:rPr lang="en-IN" altLang="en-US" b="1" dirty="0">
                <a:solidFill>
                  <a:srgbClr val="7030A0"/>
                </a:solidFill>
              </a:rPr>
              <a:t>(a.4). Hill Cipher</a:t>
            </a:r>
          </a:p>
        </p:txBody>
      </p:sp>
      <p:sp>
        <p:nvSpPr>
          <p:cNvPr id="4" name="Content Placeholder 3"/>
          <p:cNvSpPr>
            <a:spLocks noGrp="1"/>
          </p:cNvSpPr>
          <p:nvPr>
            <p:ph idx="1"/>
          </p:nvPr>
        </p:nvSpPr>
        <p:spPr/>
        <p:txBody>
          <a:bodyPr/>
          <a:lstStyle/>
          <a:p>
            <a:pPr algn="just"/>
            <a:r>
              <a:rPr lang="en-IN" dirty="0"/>
              <a:t>Encrypt group of letters such as </a:t>
            </a:r>
            <a:r>
              <a:rPr lang="en-IN" dirty="0" err="1"/>
              <a:t>digrams</a:t>
            </a:r>
            <a:r>
              <a:rPr lang="en-IN" dirty="0"/>
              <a:t>, </a:t>
            </a:r>
            <a:r>
              <a:rPr lang="en-IN" dirty="0" err="1"/>
              <a:t>trigraphs</a:t>
            </a:r>
            <a:r>
              <a:rPr lang="en-IN" dirty="0"/>
              <a:t>, polygraphs.</a:t>
            </a:r>
          </a:p>
          <a:p>
            <a:pPr algn="just"/>
            <a:r>
              <a:rPr lang="en-IN" dirty="0"/>
              <a:t>Developed by Lester Hill in 1929.</a:t>
            </a:r>
          </a:p>
          <a:p>
            <a:pPr algn="just"/>
            <a:r>
              <a:rPr lang="en-IN" dirty="0"/>
              <a:t>Encrypts a group of letters</a:t>
            </a:r>
            <a:r>
              <a:rPr lang="en-IN"/>
              <a:t>: digraph</a:t>
            </a:r>
            <a:r>
              <a:rPr lang="en-IN" dirty="0"/>
              <a:t>, </a:t>
            </a:r>
            <a:r>
              <a:rPr lang="en-IN" dirty="0" err="1"/>
              <a:t>trigraph</a:t>
            </a:r>
            <a:r>
              <a:rPr lang="en-IN" dirty="0"/>
              <a:t>, or polygraph.</a:t>
            </a:r>
          </a:p>
          <a:p>
            <a:pPr algn="just"/>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Review few terminologies from linear algebra</a:t>
            </a:r>
          </a:p>
        </p:txBody>
      </p:sp>
      <p:sp>
        <p:nvSpPr>
          <p:cNvPr id="3" name="Content Placeholder 2"/>
          <p:cNvSpPr>
            <a:spLocks noGrp="1"/>
          </p:cNvSpPr>
          <p:nvPr>
            <p:ph idx="1"/>
          </p:nvPr>
        </p:nvSpPr>
        <p:spPr/>
        <p:txBody>
          <a:bodyPr/>
          <a:lstStyle/>
          <a:p>
            <a:r>
              <a:rPr lang="en-IN" dirty="0"/>
              <a:t>Concepts to be known:</a:t>
            </a:r>
          </a:p>
          <a:p>
            <a:pPr lvl="1"/>
            <a:r>
              <a:rPr lang="en-IN" dirty="0"/>
              <a:t>Matrix arithmetic modulo 26.</a:t>
            </a:r>
          </a:p>
          <a:p>
            <a:pPr lvl="1"/>
            <a:r>
              <a:rPr lang="en-IN" dirty="0"/>
              <a:t>Square matrix (</a:t>
            </a:r>
            <a:r>
              <a:rPr lang="en-IN" dirty="0" err="1"/>
              <a:t>no.of</a:t>
            </a:r>
            <a:r>
              <a:rPr lang="en-IN" dirty="0"/>
              <a:t> rows = </a:t>
            </a:r>
            <a:r>
              <a:rPr lang="en-IN" dirty="0" err="1"/>
              <a:t>no.of</a:t>
            </a:r>
            <a:r>
              <a:rPr lang="en-IN" dirty="0"/>
              <a:t> columns).</a:t>
            </a:r>
          </a:p>
          <a:p>
            <a:pPr lvl="1"/>
            <a:r>
              <a:rPr lang="en-IN" dirty="0"/>
              <a:t>Determinant.</a:t>
            </a:r>
          </a:p>
          <a:p>
            <a:pPr lvl="1"/>
            <a:r>
              <a:rPr lang="en-IN" dirty="0"/>
              <a:t>Multiplicative inverse.</a:t>
            </a:r>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Hill Algorithm</a:t>
            </a:r>
          </a:p>
        </p:txBody>
      </p:sp>
      <p:sp>
        <p:nvSpPr>
          <p:cNvPr id="3" name="Content Placeholder 2"/>
          <p:cNvSpPr>
            <a:spLocks noGrp="1"/>
          </p:cNvSpPr>
          <p:nvPr>
            <p:ph idx="1"/>
          </p:nvPr>
        </p:nvSpPr>
        <p:spPr>
          <a:xfrm>
            <a:off x="457200" y="1214422"/>
            <a:ext cx="8229600" cy="4911741"/>
          </a:xfrm>
        </p:spPr>
        <p:txBody>
          <a:bodyPr>
            <a:normAutofit/>
          </a:bodyPr>
          <a:lstStyle/>
          <a:p>
            <a:r>
              <a:rPr lang="en-IN" sz="3600" b="1" u="sng" dirty="0"/>
              <a:t>Encryption:</a:t>
            </a:r>
          </a:p>
          <a:p>
            <a:pPr>
              <a:buNone/>
            </a:pPr>
            <a:r>
              <a:rPr lang="en-IN" dirty="0"/>
              <a:t>C = E (K,P) = P x K mod 26</a:t>
            </a:r>
          </a:p>
          <a:p>
            <a:pPr>
              <a:buNone/>
            </a:pPr>
            <a:endParaRPr lang="en-IN" dirty="0"/>
          </a:p>
          <a:p>
            <a:r>
              <a:rPr lang="en-IN" sz="3600" b="1" u="sng" dirty="0"/>
              <a:t>Decryption:</a:t>
            </a:r>
          </a:p>
          <a:p>
            <a:pPr>
              <a:buNone/>
            </a:pPr>
            <a:r>
              <a:rPr lang="en-IN" dirty="0"/>
              <a:t>P = D (K,C) = C x K</a:t>
            </a:r>
            <a:r>
              <a:rPr lang="en-IN" baseline="30000" dirty="0"/>
              <a:t>-1</a:t>
            </a:r>
            <a:r>
              <a:rPr lang="en-IN" dirty="0"/>
              <a:t> mod 26.</a:t>
            </a:r>
          </a:p>
          <a:p>
            <a:pPr marL="0" indent="0">
              <a:buNone/>
            </a:pPr>
            <a:endParaRPr lang="en-IN" sz="3600" dirty="0"/>
          </a:p>
          <a:p>
            <a:pPr>
              <a:buNone/>
            </a:pPr>
            <a:endParaRPr lang="en-IN" sz="3600" dirty="0"/>
          </a:p>
          <a:p>
            <a:endParaRPr lang="en-IN"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IN" dirty="0"/>
              <a:t>Example – Encryption </a:t>
            </a:r>
          </a:p>
        </p:txBody>
      </p:sp>
      <p:sp>
        <p:nvSpPr>
          <p:cNvPr id="3" name="Content Placeholder 2"/>
          <p:cNvSpPr>
            <a:spLocks noGrp="1"/>
          </p:cNvSpPr>
          <p:nvPr>
            <p:ph idx="1"/>
          </p:nvPr>
        </p:nvSpPr>
        <p:spPr>
          <a:xfrm>
            <a:off x="428596" y="1214422"/>
            <a:ext cx="8229600" cy="4983179"/>
          </a:xfrm>
        </p:spPr>
        <p:txBody>
          <a:bodyPr>
            <a:noAutofit/>
          </a:bodyPr>
          <a:lstStyle/>
          <a:p>
            <a:pPr algn="just">
              <a:lnSpc>
                <a:spcPct val="150000"/>
              </a:lnSpc>
            </a:pPr>
            <a:r>
              <a:rPr lang="en-IN" sz="2400" b="1" dirty="0"/>
              <a:t>Given;</a:t>
            </a:r>
            <a:r>
              <a:rPr lang="en-IN" sz="2400" dirty="0"/>
              <a:t>  Plain Text = ATTACK, and key </a:t>
            </a:r>
          </a:p>
          <a:p>
            <a:pPr algn="just">
              <a:lnSpc>
                <a:spcPct val="150000"/>
              </a:lnSpc>
            </a:pPr>
            <a:r>
              <a:rPr lang="en-IN" sz="2400" b="1" u="sng" dirty="0"/>
              <a:t>Step1:</a:t>
            </a:r>
            <a:r>
              <a:rPr lang="en-IN" sz="2400" dirty="0"/>
              <a:t> Key matrix must be a square matrix.</a:t>
            </a:r>
          </a:p>
          <a:p>
            <a:pPr lvl="1" algn="just">
              <a:lnSpc>
                <a:spcPct val="150000"/>
              </a:lnSpc>
            </a:pPr>
            <a:r>
              <a:rPr lang="en-IN" sz="2000" dirty="0"/>
              <a:t>Ex: Consider the key</a:t>
            </a:r>
          </a:p>
          <a:p>
            <a:pPr algn="just">
              <a:lnSpc>
                <a:spcPct val="150000"/>
              </a:lnSpc>
            </a:pPr>
            <a:r>
              <a:rPr lang="en-IN" sz="2400" b="1" u="sng" dirty="0"/>
              <a:t>Step2:</a:t>
            </a:r>
            <a:r>
              <a:rPr lang="en-IN" sz="2400" dirty="0"/>
              <a:t> Divide the plain text into a vector component , where the size is based on key size.</a:t>
            </a:r>
          </a:p>
          <a:p>
            <a:pPr lvl="1" algn="just">
              <a:lnSpc>
                <a:spcPct val="150000"/>
              </a:lnSpc>
            </a:pPr>
            <a:r>
              <a:rPr lang="en-IN" sz="2000" dirty="0"/>
              <a:t>If the key size is 2x2, then consider the vector of length 2, if the size is 3x3, then consider the vector of length 3, and so on.</a:t>
            </a:r>
          </a:p>
          <a:p>
            <a:pPr lvl="1" algn="just">
              <a:lnSpc>
                <a:spcPct val="150000"/>
              </a:lnSpc>
            </a:pPr>
            <a:r>
              <a:rPr lang="en-IN" sz="2000" dirty="0"/>
              <a:t>Ex: consider the plain text P = ATTACK,  then the vector component will be;</a:t>
            </a:r>
          </a:p>
          <a:p>
            <a:pPr algn="just">
              <a:lnSpc>
                <a:spcPct val="150000"/>
              </a:lnSpc>
            </a:pPr>
            <a:endParaRPr lang="en-IN" sz="2400" dirty="0"/>
          </a:p>
          <a:p>
            <a:pPr algn="just">
              <a:lnSpc>
                <a:spcPct val="150000"/>
              </a:lnSpc>
            </a:pPr>
            <a:endParaRPr lang="en-IN" sz="2400" dirty="0"/>
          </a:p>
          <a:p>
            <a:pPr algn="just">
              <a:lnSpc>
                <a:spcPct val="150000"/>
              </a:lnSpc>
            </a:pPr>
            <a:endParaRPr lang="en-IN" sz="2400" dirty="0"/>
          </a:p>
        </p:txBody>
      </p:sp>
      <p:pic>
        <p:nvPicPr>
          <p:cNvPr id="2050" name="Picture 2"/>
          <p:cNvPicPr>
            <a:picLocks noChangeAspect="1" noChangeArrowheads="1"/>
          </p:cNvPicPr>
          <p:nvPr/>
        </p:nvPicPr>
        <p:blipFill>
          <a:blip r:embed="rId2"/>
          <a:srcRect/>
          <a:stretch>
            <a:fillRect/>
          </a:stretch>
        </p:blipFill>
        <p:spPr bwMode="auto">
          <a:xfrm>
            <a:off x="3563888" y="2348880"/>
            <a:ext cx="1814512" cy="785818"/>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2428860" y="5643578"/>
            <a:ext cx="2571768" cy="1000132"/>
          </a:xfrm>
          <a:prstGeom prst="rect">
            <a:avLst/>
          </a:prstGeom>
          <a:noFill/>
          <a:ln w="9525">
            <a:noFill/>
            <a:miter lim="800000"/>
            <a:headEnd/>
            <a:tailEnd/>
          </a:ln>
          <a:effectLst/>
        </p:spPr>
      </p:pic>
      <p:pic>
        <p:nvPicPr>
          <p:cNvPr id="6" name="Picture 2"/>
          <p:cNvPicPr>
            <a:picLocks noChangeAspect="1" noChangeArrowheads="1"/>
          </p:cNvPicPr>
          <p:nvPr/>
        </p:nvPicPr>
        <p:blipFill>
          <a:blip r:embed="rId2"/>
          <a:srcRect/>
          <a:stretch>
            <a:fillRect/>
          </a:stretch>
        </p:blipFill>
        <p:spPr bwMode="auto">
          <a:xfrm>
            <a:off x="5286380" y="1142984"/>
            <a:ext cx="1671636" cy="858338"/>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lstStyle/>
          <a:p>
            <a:r>
              <a:rPr lang="en-IN" b="1" u="sng" dirty="0"/>
              <a:t>Step3:</a:t>
            </a:r>
            <a:r>
              <a:rPr lang="en-IN" dirty="0"/>
              <a:t> Assign numerical equivalent to each letters in plain text.</a:t>
            </a:r>
          </a:p>
          <a:p>
            <a:endParaRPr lang="en-IN" dirty="0"/>
          </a:p>
          <a:p>
            <a:endParaRPr lang="en-IN" dirty="0"/>
          </a:p>
          <a:p>
            <a:endParaRPr lang="en-IN" dirty="0"/>
          </a:p>
          <a:p>
            <a:r>
              <a:rPr lang="en-IN" dirty="0"/>
              <a:t>Ex:  </a:t>
            </a:r>
          </a:p>
        </p:txBody>
      </p:sp>
      <p:pic>
        <p:nvPicPr>
          <p:cNvPr id="4" name="Picture 2"/>
          <p:cNvPicPr>
            <a:picLocks noChangeAspect="1" noChangeArrowheads="1"/>
          </p:cNvPicPr>
          <p:nvPr/>
        </p:nvPicPr>
        <p:blipFill>
          <a:blip r:embed="rId2"/>
          <a:srcRect/>
          <a:stretch>
            <a:fillRect/>
          </a:stretch>
        </p:blipFill>
        <p:spPr bwMode="auto">
          <a:xfrm>
            <a:off x="1357290" y="1928802"/>
            <a:ext cx="6858048" cy="178595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1928794" y="4000504"/>
            <a:ext cx="4071966" cy="2000264"/>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lstStyle/>
          <a:p>
            <a:pPr algn="just"/>
            <a:r>
              <a:rPr lang="en-IN" b="1" u="sng" dirty="0"/>
              <a:t>Step4:</a:t>
            </a:r>
            <a:r>
              <a:rPr lang="en-IN" b="1" dirty="0"/>
              <a:t> </a:t>
            </a:r>
            <a:r>
              <a:rPr lang="en-IN" dirty="0"/>
              <a:t>Convert the cipher text using the following;</a:t>
            </a:r>
          </a:p>
          <a:p>
            <a:pPr algn="just"/>
            <a:r>
              <a:rPr lang="en-IN" dirty="0"/>
              <a:t>C = E (K,P) = P x K mod 26</a:t>
            </a:r>
          </a:p>
          <a:p>
            <a:pPr algn="just"/>
            <a:endParaRPr lang="en-IN" dirty="0"/>
          </a:p>
        </p:txBody>
      </p:sp>
      <p:pic>
        <p:nvPicPr>
          <p:cNvPr id="4098" name="Picture 2"/>
          <p:cNvPicPr>
            <a:picLocks noChangeAspect="1" noChangeArrowheads="1"/>
          </p:cNvPicPr>
          <p:nvPr/>
        </p:nvPicPr>
        <p:blipFill>
          <a:blip r:embed="rId2"/>
          <a:srcRect/>
          <a:stretch>
            <a:fillRect/>
          </a:stretch>
        </p:blipFill>
        <p:spPr bwMode="auto">
          <a:xfrm>
            <a:off x="1428728" y="2357430"/>
            <a:ext cx="5919789" cy="3339273"/>
          </a:xfrm>
          <a:prstGeom prst="rect">
            <a:avLst/>
          </a:prstGeom>
          <a:noFill/>
          <a:ln w="9525">
            <a:noFill/>
            <a:miter lim="800000"/>
            <a:headEnd/>
            <a:tailEnd/>
          </a:ln>
          <a:effectLst/>
        </p:spPr>
      </p:pic>
      <p:sp>
        <p:nvSpPr>
          <p:cNvPr id="5" name="TextBox 4"/>
          <p:cNvSpPr txBox="1"/>
          <p:nvPr/>
        </p:nvSpPr>
        <p:spPr>
          <a:xfrm>
            <a:off x="2500298" y="5786454"/>
            <a:ext cx="2751715" cy="830997"/>
          </a:xfrm>
          <a:prstGeom prst="rect">
            <a:avLst/>
          </a:prstGeom>
          <a:noFill/>
        </p:spPr>
        <p:txBody>
          <a:bodyPr wrap="none" rtlCol="0">
            <a:spAutoFit/>
          </a:bodyPr>
          <a:lstStyle/>
          <a:p>
            <a:r>
              <a:rPr lang="en-IN" sz="2400" b="1" dirty="0"/>
              <a:t>Plain Text:</a:t>
            </a:r>
            <a:r>
              <a:rPr lang="en-IN" sz="2400" dirty="0"/>
              <a:t> ATTACK</a:t>
            </a:r>
          </a:p>
          <a:p>
            <a:r>
              <a:rPr lang="en-IN" sz="2400" b="1" dirty="0"/>
              <a:t>Cipher Text:</a:t>
            </a:r>
            <a:r>
              <a:rPr lang="en-IN" sz="2400" dirty="0"/>
              <a:t> FKMFIO</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Decryption in Hill cipher</a:t>
            </a:r>
          </a:p>
        </p:txBody>
      </p:sp>
      <p:sp>
        <p:nvSpPr>
          <p:cNvPr id="3" name="Content Placeholder 2"/>
          <p:cNvSpPr>
            <a:spLocks noGrp="1"/>
          </p:cNvSpPr>
          <p:nvPr>
            <p:ph idx="1"/>
          </p:nvPr>
        </p:nvSpPr>
        <p:spPr>
          <a:xfrm>
            <a:off x="457200" y="1285860"/>
            <a:ext cx="8229600" cy="4840303"/>
          </a:xfrm>
        </p:spPr>
        <p:txBody>
          <a:bodyPr/>
          <a:lstStyle/>
          <a:p>
            <a:r>
              <a:rPr lang="en-IN" sz="2800" dirty="0"/>
              <a:t>Decryption:</a:t>
            </a:r>
          </a:p>
          <a:p>
            <a:pPr lvl="1"/>
            <a:r>
              <a:rPr lang="en-IN" sz="2400" dirty="0"/>
              <a:t>P = D (K,C) = C x K</a:t>
            </a:r>
            <a:r>
              <a:rPr lang="en-IN" sz="2400" baseline="30000" dirty="0"/>
              <a:t>-1</a:t>
            </a:r>
            <a:r>
              <a:rPr lang="en-IN" sz="2400" dirty="0"/>
              <a:t> mod 26</a:t>
            </a:r>
          </a:p>
          <a:p>
            <a:r>
              <a:rPr lang="en-IN" sz="2800" dirty="0"/>
              <a:t>Decryption requires K</a:t>
            </a:r>
            <a:r>
              <a:rPr lang="en-IN" sz="2800" baseline="30000" dirty="0"/>
              <a:t>-1 </a:t>
            </a:r>
            <a:r>
              <a:rPr lang="en-IN" sz="2800" dirty="0"/>
              <a:t>,the inverse matrix K</a:t>
            </a:r>
          </a:p>
        </p:txBody>
      </p:sp>
      <p:pic>
        <p:nvPicPr>
          <p:cNvPr id="14338" name="Picture 2"/>
          <p:cNvPicPr>
            <a:picLocks noChangeAspect="1" noChangeArrowheads="1"/>
          </p:cNvPicPr>
          <p:nvPr/>
        </p:nvPicPr>
        <p:blipFill>
          <a:blip r:embed="rId2"/>
          <a:srcRect/>
          <a:stretch>
            <a:fillRect/>
          </a:stretch>
        </p:blipFill>
        <p:spPr bwMode="auto">
          <a:xfrm>
            <a:off x="2285984" y="3000372"/>
            <a:ext cx="3643338" cy="1928826"/>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Decryption </a:t>
            </a:r>
          </a:p>
        </p:txBody>
      </p:sp>
      <p:sp>
        <p:nvSpPr>
          <p:cNvPr id="3" name="Content Placeholder 2"/>
          <p:cNvSpPr>
            <a:spLocks noGrp="1"/>
          </p:cNvSpPr>
          <p:nvPr>
            <p:ph idx="1"/>
          </p:nvPr>
        </p:nvSpPr>
        <p:spPr>
          <a:xfrm>
            <a:off x="457200" y="1285860"/>
            <a:ext cx="8229600" cy="4840303"/>
          </a:xfrm>
        </p:spPr>
        <p:txBody>
          <a:bodyPr/>
          <a:lstStyle/>
          <a:p>
            <a:r>
              <a:rPr lang="en-IN" dirty="0"/>
              <a:t>Step1: Consider                   , where   </a:t>
            </a:r>
          </a:p>
          <a:p>
            <a:endParaRPr lang="en-IN" dirty="0"/>
          </a:p>
          <a:p>
            <a:r>
              <a:rPr lang="en-IN" dirty="0"/>
              <a:t>Step2: Find determinant of K </a:t>
            </a:r>
          </a:p>
          <a:p>
            <a:pPr>
              <a:buNone/>
            </a:pPr>
            <a:r>
              <a:rPr lang="en-IN" dirty="0"/>
              <a:t>    </a:t>
            </a:r>
            <a:r>
              <a:rPr lang="en-IN" sz="2400" u="sng" dirty="0"/>
              <a:t>NOTE:</a:t>
            </a:r>
          </a:p>
          <a:p>
            <a:endParaRPr lang="en-IN" dirty="0"/>
          </a:p>
          <a:p>
            <a:endParaRPr lang="en-IN" dirty="0"/>
          </a:p>
          <a:p>
            <a:endParaRPr lang="en-IN" dirty="0"/>
          </a:p>
          <a:p>
            <a:pPr>
              <a:buNone/>
            </a:pPr>
            <a:endParaRPr lang="en-IN" dirty="0"/>
          </a:p>
        </p:txBody>
      </p:sp>
      <p:pic>
        <p:nvPicPr>
          <p:cNvPr id="1026" name="Picture 2"/>
          <p:cNvPicPr>
            <a:picLocks noChangeAspect="1" noChangeArrowheads="1"/>
          </p:cNvPicPr>
          <p:nvPr/>
        </p:nvPicPr>
        <p:blipFill>
          <a:blip r:embed="rId2"/>
          <a:srcRect/>
          <a:stretch>
            <a:fillRect/>
          </a:stretch>
        </p:blipFill>
        <p:spPr bwMode="auto">
          <a:xfrm>
            <a:off x="3500430" y="1400164"/>
            <a:ext cx="1704975" cy="4572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a:srcRect/>
          <a:stretch>
            <a:fillRect/>
          </a:stretch>
        </p:blipFill>
        <p:spPr bwMode="auto">
          <a:xfrm>
            <a:off x="1285852" y="1785926"/>
            <a:ext cx="3362325" cy="609600"/>
          </a:xfrm>
          <a:prstGeom prst="rect">
            <a:avLst/>
          </a:prstGeom>
          <a:noFill/>
          <a:ln w="9525">
            <a:noFill/>
            <a:miter lim="800000"/>
            <a:headEnd/>
            <a:tailEnd/>
          </a:ln>
          <a:effectLst/>
        </p:spPr>
      </p:pic>
      <p:pic>
        <p:nvPicPr>
          <p:cNvPr id="1033" name="Picture 9"/>
          <p:cNvPicPr>
            <a:picLocks noChangeAspect="1" noChangeArrowheads="1"/>
          </p:cNvPicPr>
          <p:nvPr/>
        </p:nvPicPr>
        <p:blipFill>
          <a:blip r:embed="rId4"/>
          <a:srcRect/>
          <a:stretch>
            <a:fillRect/>
          </a:stretch>
        </p:blipFill>
        <p:spPr bwMode="auto">
          <a:xfrm>
            <a:off x="1857356" y="3000372"/>
            <a:ext cx="3819525" cy="876300"/>
          </a:xfrm>
          <a:prstGeom prst="rect">
            <a:avLst/>
          </a:prstGeom>
          <a:noFill/>
          <a:ln w="9525">
            <a:noFill/>
            <a:miter lim="800000"/>
            <a:headEnd/>
            <a:tailEnd/>
          </a:ln>
          <a:effectLst/>
        </p:spPr>
      </p:pic>
      <p:pic>
        <p:nvPicPr>
          <p:cNvPr id="1034" name="Picture 10"/>
          <p:cNvPicPr>
            <a:picLocks noChangeAspect="1" noChangeArrowheads="1"/>
          </p:cNvPicPr>
          <p:nvPr/>
        </p:nvPicPr>
        <p:blipFill>
          <a:blip r:embed="rId5"/>
          <a:srcRect/>
          <a:stretch>
            <a:fillRect/>
          </a:stretch>
        </p:blipFill>
        <p:spPr bwMode="auto">
          <a:xfrm>
            <a:off x="785786" y="3786190"/>
            <a:ext cx="7639050" cy="2276475"/>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714356"/>
            <a:ext cx="8229600" cy="4525963"/>
          </a:xfrm>
        </p:spPr>
        <p:txBody>
          <a:bodyPr/>
          <a:lstStyle/>
          <a:p>
            <a:r>
              <a:rPr lang="en-IN" dirty="0"/>
              <a:t>Step3: Find multiplicative inverse of |K|</a:t>
            </a:r>
          </a:p>
        </p:txBody>
      </p:sp>
      <p:pic>
        <p:nvPicPr>
          <p:cNvPr id="1026" name="Picture 2"/>
          <p:cNvPicPr>
            <a:picLocks noChangeAspect="1" noChangeArrowheads="1"/>
          </p:cNvPicPr>
          <p:nvPr/>
        </p:nvPicPr>
        <p:blipFill>
          <a:blip r:embed="rId2"/>
          <a:srcRect/>
          <a:stretch>
            <a:fillRect/>
          </a:stretch>
        </p:blipFill>
        <p:spPr bwMode="auto">
          <a:xfrm>
            <a:off x="1285852" y="1500174"/>
            <a:ext cx="6019800" cy="360045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lstStyle/>
          <a:p>
            <a:r>
              <a:rPr lang="en-IN" dirty="0"/>
              <a:t>Step4: Find </a:t>
            </a:r>
            <a:r>
              <a:rPr lang="en-IN" dirty="0" err="1"/>
              <a:t>adjoint</a:t>
            </a:r>
            <a:r>
              <a:rPr lang="en-IN" dirty="0"/>
              <a:t> of K</a:t>
            </a:r>
          </a:p>
        </p:txBody>
      </p:sp>
      <p:pic>
        <p:nvPicPr>
          <p:cNvPr id="3076" name="Picture 4"/>
          <p:cNvPicPr>
            <a:picLocks noChangeAspect="1" noChangeArrowheads="1"/>
          </p:cNvPicPr>
          <p:nvPr/>
        </p:nvPicPr>
        <p:blipFill>
          <a:blip r:embed="rId2"/>
          <a:srcRect/>
          <a:stretch>
            <a:fillRect/>
          </a:stretch>
        </p:blipFill>
        <p:spPr bwMode="auto">
          <a:xfrm>
            <a:off x="1714480" y="1214422"/>
            <a:ext cx="4800600" cy="2228850"/>
          </a:xfrm>
          <a:prstGeom prst="rect">
            <a:avLst/>
          </a:prstGeom>
          <a:noFill/>
          <a:ln w="9525">
            <a:noFill/>
            <a:miter lim="800000"/>
            <a:headEnd/>
            <a:tailEnd/>
          </a:ln>
          <a:effectLst/>
        </p:spPr>
      </p:pic>
      <p:pic>
        <p:nvPicPr>
          <p:cNvPr id="3078" name="Picture 6"/>
          <p:cNvPicPr>
            <a:picLocks noChangeAspect="1" noChangeArrowheads="1"/>
          </p:cNvPicPr>
          <p:nvPr/>
        </p:nvPicPr>
        <p:blipFill>
          <a:blip r:embed="rId3"/>
          <a:srcRect/>
          <a:stretch>
            <a:fillRect/>
          </a:stretch>
        </p:blipFill>
        <p:spPr bwMode="auto">
          <a:xfrm>
            <a:off x="571472" y="3500438"/>
            <a:ext cx="7524750" cy="31242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lstStyle/>
          <a:p>
            <a:r>
              <a:rPr lang="en-IN" dirty="0"/>
              <a:t>Step 5:</a:t>
            </a:r>
          </a:p>
        </p:txBody>
      </p:sp>
      <p:pic>
        <p:nvPicPr>
          <p:cNvPr id="4098" name="Picture 2"/>
          <p:cNvPicPr>
            <a:picLocks noChangeAspect="1" noChangeArrowheads="1"/>
          </p:cNvPicPr>
          <p:nvPr/>
        </p:nvPicPr>
        <p:blipFill>
          <a:blip r:embed="rId2"/>
          <a:srcRect/>
          <a:stretch>
            <a:fillRect/>
          </a:stretch>
        </p:blipFill>
        <p:spPr bwMode="auto">
          <a:xfrm>
            <a:off x="2071670" y="357166"/>
            <a:ext cx="5343525" cy="600075"/>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1071538" y="1214422"/>
            <a:ext cx="6429420" cy="3857652"/>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lstStyle/>
          <a:p>
            <a:r>
              <a:rPr lang="en-IN" dirty="0"/>
              <a:t>Step6 : Now we will decrypt using </a:t>
            </a:r>
          </a:p>
          <a:p>
            <a:pPr>
              <a:buNone/>
            </a:pPr>
            <a:endParaRPr lang="en-IN" dirty="0"/>
          </a:p>
        </p:txBody>
      </p:sp>
      <p:pic>
        <p:nvPicPr>
          <p:cNvPr id="5122" name="Picture 2"/>
          <p:cNvPicPr>
            <a:picLocks noChangeAspect="1" noChangeArrowheads="1"/>
          </p:cNvPicPr>
          <p:nvPr/>
        </p:nvPicPr>
        <p:blipFill>
          <a:blip r:embed="rId2"/>
          <a:srcRect/>
          <a:stretch>
            <a:fillRect/>
          </a:stretch>
        </p:blipFill>
        <p:spPr bwMode="auto">
          <a:xfrm>
            <a:off x="6500826" y="785794"/>
            <a:ext cx="1714512" cy="571504"/>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785786" y="1571612"/>
            <a:ext cx="7905755" cy="4448175"/>
          </a:xfrm>
          <a:prstGeom prst="rect">
            <a:avLst/>
          </a:prstGeom>
          <a:noFill/>
          <a:ln w="9525">
            <a:noFill/>
            <a:miter lim="800000"/>
            <a:headEnd/>
            <a:tailEnd/>
          </a:ln>
          <a:effectLst/>
        </p:spPr>
      </p:pic>
      <p:sp>
        <p:nvSpPr>
          <p:cNvPr id="6" name="TextBox 5"/>
          <p:cNvSpPr txBox="1"/>
          <p:nvPr/>
        </p:nvSpPr>
        <p:spPr>
          <a:xfrm>
            <a:off x="2285984" y="5929330"/>
            <a:ext cx="2662011" cy="461665"/>
          </a:xfrm>
          <a:prstGeom prst="rect">
            <a:avLst/>
          </a:prstGeom>
          <a:noFill/>
        </p:spPr>
        <p:txBody>
          <a:bodyPr wrap="none" rtlCol="0">
            <a:spAutoFit/>
          </a:bodyPr>
          <a:lstStyle/>
          <a:p>
            <a:r>
              <a:rPr lang="en-IN" sz="2400" b="1" dirty="0"/>
              <a:t>Plain Text = ATTACK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a:t>
            </a:r>
          </a:p>
        </p:txBody>
      </p:sp>
      <p:sp>
        <p:nvSpPr>
          <p:cNvPr id="3" name="Content Placeholder 2"/>
          <p:cNvSpPr>
            <a:spLocks noGrp="1"/>
          </p:cNvSpPr>
          <p:nvPr>
            <p:ph idx="1"/>
          </p:nvPr>
        </p:nvSpPr>
        <p:spPr/>
        <p:txBody>
          <a:bodyPr/>
          <a:lstStyle/>
          <a:p>
            <a:pPr algn="just"/>
            <a:r>
              <a:rPr lang="en-IN" dirty="0"/>
              <a:t>Consider the following plaintext (M) and key matrix (K), encrypt the message using Hill-Cipher.</a:t>
            </a:r>
          </a:p>
        </p:txBody>
      </p:sp>
      <p:pic>
        <p:nvPicPr>
          <p:cNvPr id="3075" name="Picture 3"/>
          <p:cNvPicPr>
            <a:picLocks noChangeAspect="1" noChangeArrowheads="1"/>
          </p:cNvPicPr>
          <p:nvPr/>
        </p:nvPicPr>
        <p:blipFill>
          <a:blip r:embed="rId2"/>
          <a:srcRect/>
          <a:stretch>
            <a:fillRect/>
          </a:stretch>
        </p:blipFill>
        <p:spPr bwMode="auto">
          <a:xfrm>
            <a:off x="3214678" y="3286124"/>
            <a:ext cx="2209800" cy="12763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a:t>
            </a:r>
          </a:p>
        </p:txBody>
      </p:sp>
      <p:pic>
        <p:nvPicPr>
          <p:cNvPr id="2050" name="Picture 2"/>
          <p:cNvPicPr>
            <a:picLocks noChangeAspect="1" noChangeArrowheads="1"/>
          </p:cNvPicPr>
          <p:nvPr/>
        </p:nvPicPr>
        <p:blipFill>
          <a:blip r:embed="rId2"/>
          <a:srcRect/>
          <a:stretch>
            <a:fillRect/>
          </a:stretch>
        </p:blipFill>
        <p:spPr bwMode="auto">
          <a:xfrm>
            <a:off x="571472" y="1500174"/>
            <a:ext cx="8072494" cy="407196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eaLnBrk="1" hangingPunct="1"/>
            <a:r>
              <a:rPr lang="en-AU" altLang="en-US" b="1" dirty="0">
                <a:solidFill>
                  <a:srgbClr val="7030A0"/>
                </a:solidFill>
              </a:rPr>
              <a:t>(a.5). </a:t>
            </a:r>
            <a:r>
              <a:rPr lang="en-AU" altLang="en-US" b="1" dirty="0" err="1">
                <a:solidFill>
                  <a:srgbClr val="7030A0"/>
                </a:solidFill>
              </a:rPr>
              <a:t>Polyalphabetic</a:t>
            </a:r>
            <a:r>
              <a:rPr lang="en-AU" altLang="en-US" b="1" dirty="0">
                <a:solidFill>
                  <a:srgbClr val="7030A0"/>
                </a:solidFill>
              </a:rPr>
              <a:t> Ciphers</a:t>
            </a:r>
          </a:p>
        </p:txBody>
      </p:sp>
      <p:sp>
        <p:nvSpPr>
          <p:cNvPr id="34819" name="Rectangle 3"/>
          <p:cNvSpPr>
            <a:spLocks noGrp="1" noChangeArrowheads="1"/>
          </p:cNvSpPr>
          <p:nvPr>
            <p:ph idx="1"/>
          </p:nvPr>
        </p:nvSpPr>
        <p:spPr>
          <a:xfrm>
            <a:off x="457200" y="1428736"/>
            <a:ext cx="8229600" cy="4697427"/>
          </a:xfrm>
        </p:spPr>
        <p:txBody>
          <a:bodyPr>
            <a:normAutofit/>
          </a:bodyPr>
          <a:lstStyle/>
          <a:p>
            <a:pPr algn="just" eaLnBrk="1" hangingPunct="1"/>
            <a:r>
              <a:rPr lang="en-AU" altLang="en-US" dirty="0"/>
              <a:t>To improve on the simple </a:t>
            </a:r>
            <a:r>
              <a:rPr lang="en-AU" altLang="en-US" dirty="0" err="1"/>
              <a:t>monoalphabtic</a:t>
            </a:r>
            <a:r>
              <a:rPr lang="en-AU" altLang="en-US" dirty="0"/>
              <a:t> technique.</a:t>
            </a:r>
          </a:p>
          <a:p>
            <a:pPr algn="just" eaLnBrk="1" hangingPunct="1"/>
            <a:r>
              <a:rPr lang="en-AU" altLang="en-US" b="1" u="sng" dirty="0"/>
              <a:t>Features:</a:t>
            </a:r>
          </a:p>
          <a:p>
            <a:pPr lvl="1" algn="just"/>
            <a:r>
              <a:rPr lang="en-AU" altLang="en-US" dirty="0"/>
              <a:t>Symbol in plaintext is mapped to multiple substitution alphabets.</a:t>
            </a:r>
          </a:p>
          <a:p>
            <a:pPr lvl="1" algn="just"/>
            <a:r>
              <a:rPr lang="en-AU" altLang="en-US" dirty="0"/>
              <a:t>The relationship between a character in the plain text and the characters in the cipher text is one to many.</a:t>
            </a:r>
          </a:p>
          <a:p>
            <a:pPr lvl="1" algn="just"/>
            <a:endParaRPr lang="en-AU" altLang="en-US" dirty="0"/>
          </a:p>
          <a:p>
            <a:pPr lvl="1" algn="just"/>
            <a:endParaRPr lang="en-AU"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Vigenere</a:t>
            </a:r>
            <a:r>
              <a:rPr lang="en-IN" dirty="0"/>
              <a:t> Cipher</a:t>
            </a:r>
          </a:p>
        </p:txBody>
      </p:sp>
      <p:sp>
        <p:nvSpPr>
          <p:cNvPr id="3" name="Content Placeholder 2"/>
          <p:cNvSpPr>
            <a:spLocks noGrp="1"/>
          </p:cNvSpPr>
          <p:nvPr>
            <p:ph idx="1"/>
          </p:nvPr>
        </p:nvSpPr>
        <p:spPr>
          <a:xfrm>
            <a:off x="457200" y="1357298"/>
            <a:ext cx="8229600" cy="4768865"/>
          </a:xfrm>
        </p:spPr>
        <p:txBody>
          <a:bodyPr/>
          <a:lstStyle/>
          <a:p>
            <a:pPr algn="just"/>
            <a:r>
              <a:rPr lang="en-IN" dirty="0"/>
              <a:t>It consists of the 26 Caesar ciphers with shifts of 0 through 25.</a:t>
            </a:r>
          </a:p>
          <a:p>
            <a:pPr algn="just"/>
            <a:r>
              <a:rPr lang="en-IN" dirty="0"/>
              <a:t>Encryption process:</a:t>
            </a:r>
          </a:p>
          <a:p>
            <a:pPr lvl="1" algn="just"/>
            <a:r>
              <a:rPr lang="en-IN" dirty="0" err="1"/>
              <a:t>C</a:t>
            </a:r>
            <a:r>
              <a:rPr lang="en-IN" baseline="-25000" dirty="0" err="1"/>
              <a:t>i</a:t>
            </a:r>
            <a:r>
              <a:rPr lang="en-IN" dirty="0"/>
              <a:t> = (P</a:t>
            </a:r>
            <a:r>
              <a:rPr lang="en-IN" baseline="-25000" dirty="0"/>
              <a:t>i</a:t>
            </a:r>
            <a:r>
              <a:rPr lang="en-IN" dirty="0"/>
              <a:t> + K</a:t>
            </a:r>
            <a:r>
              <a:rPr lang="en-IN" baseline="-25000" dirty="0"/>
              <a:t>i mod m</a:t>
            </a:r>
            <a:r>
              <a:rPr lang="en-IN" dirty="0"/>
              <a:t> ) mod 26</a:t>
            </a:r>
          </a:p>
          <a:p>
            <a:pPr lvl="2" algn="just"/>
            <a:r>
              <a:rPr lang="en-IN" dirty="0"/>
              <a:t>Where </a:t>
            </a:r>
            <a:r>
              <a:rPr lang="en-IN" dirty="0" err="1"/>
              <a:t>C</a:t>
            </a:r>
            <a:r>
              <a:rPr lang="en-IN" baseline="-25000" dirty="0" err="1"/>
              <a:t>i</a:t>
            </a:r>
            <a:r>
              <a:rPr lang="en-IN" baseline="-25000" dirty="0"/>
              <a:t> </a:t>
            </a:r>
            <a:r>
              <a:rPr lang="en-IN" dirty="0"/>
              <a:t>is the cipher text at i</a:t>
            </a:r>
            <a:r>
              <a:rPr lang="en-IN" baseline="30000" dirty="0"/>
              <a:t>th</a:t>
            </a:r>
            <a:r>
              <a:rPr lang="en-IN" dirty="0"/>
              <a:t> position.</a:t>
            </a:r>
          </a:p>
          <a:p>
            <a:pPr algn="just"/>
            <a:r>
              <a:rPr lang="en-IN" dirty="0"/>
              <a:t>Decryption process:</a:t>
            </a:r>
          </a:p>
          <a:p>
            <a:pPr lvl="1" algn="just"/>
            <a:r>
              <a:rPr lang="en-IN" dirty="0"/>
              <a:t>P</a:t>
            </a:r>
            <a:r>
              <a:rPr lang="en-IN" baseline="-25000" dirty="0"/>
              <a:t>i</a:t>
            </a:r>
            <a:r>
              <a:rPr lang="en-IN" dirty="0"/>
              <a:t> = (</a:t>
            </a:r>
            <a:r>
              <a:rPr lang="en-IN" dirty="0" err="1"/>
              <a:t>C</a:t>
            </a:r>
            <a:r>
              <a:rPr lang="en-IN" baseline="-25000" dirty="0" err="1"/>
              <a:t>i</a:t>
            </a:r>
            <a:r>
              <a:rPr lang="en-IN" dirty="0"/>
              <a:t> - K</a:t>
            </a:r>
            <a:r>
              <a:rPr lang="en-IN" baseline="-25000" dirty="0"/>
              <a:t>i mod m</a:t>
            </a:r>
            <a:r>
              <a:rPr lang="en-IN" dirty="0"/>
              <a:t> ) mod 26</a:t>
            </a:r>
          </a:p>
          <a:p>
            <a:pPr lvl="1" algn="just"/>
            <a:r>
              <a:rPr lang="en-IN" dirty="0"/>
              <a:t>Where P</a:t>
            </a:r>
            <a:r>
              <a:rPr lang="en-IN" baseline="-25000" dirty="0"/>
              <a:t>i </a:t>
            </a:r>
            <a:r>
              <a:rPr lang="en-IN" dirty="0"/>
              <a:t>is the plain text at i</a:t>
            </a:r>
            <a:r>
              <a:rPr lang="en-IN" baseline="30000" dirty="0"/>
              <a:t>th</a:t>
            </a:r>
            <a:r>
              <a:rPr lang="en-IN" dirty="0"/>
              <a:t> position.</a:t>
            </a:r>
          </a:p>
          <a:p>
            <a:pPr lvl="1" algn="just"/>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a:xfrm>
            <a:off x="457200" y="1357298"/>
            <a:ext cx="8229600" cy="4768865"/>
          </a:xfrm>
        </p:spPr>
        <p:txBody>
          <a:bodyPr/>
          <a:lstStyle/>
          <a:p>
            <a:pPr algn="just"/>
            <a:r>
              <a:rPr lang="en-IN" dirty="0"/>
              <a:t>Given;</a:t>
            </a:r>
          </a:p>
          <a:p>
            <a:pPr lvl="1" algn="just"/>
            <a:r>
              <a:rPr lang="en-IN" dirty="0"/>
              <a:t>PlainText: wearediscoveredsaveyourself</a:t>
            </a:r>
          </a:p>
          <a:p>
            <a:pPr lvl="1" algn="just"/>
            <a:r>
              <a:rPr lang="en-IN" dirty="0"/>
              <a:t>Key: deceptive</a:t>
            </a:r>
          </a:p>
          <a:p>
            <a:pPr algn="just"/>
            <a:r>
              <a:rPr lang="en-IN" dirty="0"/>
              <a:t>Encryption Process:</a:t>
            </a:r>
          </a:p>
          <a:p>
            <a:pPr lvl="1" algn="just"/>
            <a:r>
              <a:rPr lang="en-IN" dirty="0"/>
              <a:t>Step1: Repeat the key as long as plaintext gets extended.</a:t>
            </a:r>
          </a:p>
          <a:p>
            <a:pPr lvl="1" algn="just"/>
            <a:r>
              <a:rPr lang="en-IN" dirty="0"/>
              <a:t>PlainText: </a:t>
            </a:r>
            <a:r>
              <a:rPr lang="en-IN" b="1" dirty="0">
                <a:solidFill>
                  <a:schemeClr val="tx2"/>
                </a:solidFill>
              </a:rPr>
              <a:t>wearediscoveredsaveyourself</a:t>
            </a:r>
          </a:p>
          <a:p>
            <a:pPr lvl="1" algn="just"/>
            <a:r>
              <a:rPr lang="en-IN" dirty="0"/>
              <a:t>Key:           </a:t>
            </a:r>
            <a:r>
              <a:rPr lang="en-IN" b="1" dirty="0" err="1">
                <a:solidFill>
                  <a:schemeClr val="tx2"/>
                </a:solidFill>
              </a:rPr>
              <a:t>deceptivedeceptivedeceptive</a:t>
            </a:r>
            <a:endParaRPr lang="en-IN" b="1" dirty="0">
              <a:solidFill>
                <a:schemeClr val="tx2"/>
              </a:solidFill>
            </a:endParaRPr>
          </a:p>
          <a:p>
            <a:pPr lvl="1" algn="just"/>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lgn="just"/>
            <a:r>
              <a:rPr lang="en-IN" dirty="0"/>
              <a:t>Step2: Assign numerical equivalent to each letters in the key and plain text. </a:t>
            </a:r>
          </a:p>
          <a:p>
            <a:pPr marL="800100" lvl="3" indent="-342900" algn="just"/>
            <a:r>
              <a:rPr lang="en-IN" dirty="0"/>
              <a:t>Then use </a:t>
            </a:r>
            <a:r>
              <a:rPr lang="en-IN" dirty="0" err="1"/>
              <a:t>C</a:t>
            </a:r>
            <a:r>
              <a:rPr lang="en-IN" baseline="-25000" dirty="0" err="1"/>
              <a:t>i</a:t>
            </a:r>
            <a:r>
              <a:rPr lang="en-IN" dirty="0"/>
              <a:t> = (P</a:t>
            </a:r>
            <a:r>
              <a:rPr lang="en-IN" baseline="-25000" dirty="0"/>
              <a:t>i</a:t>
            </a:r>
            <a:r>
              <a:rPr lang="en-IN" dirty="0"/>
              <a:t> + K</a:t>
            </a:r>
            <a:r>
              <a:rPr lang="en-IN" baseline="-25000" dirty="0"/>
              <a:t>i mod m</a:t>
            </a:r>
            <a:r>
              <a:rPr lang="en-IN" dirty="0"/>
              <a:t> ) mod 26</a:t>
            </a:r>
          </a:p>
          <a:p>
            <a:pPr algn="just"/>
            <a:endParaRPr lang="en-IN" dirty="0"/>
          </a:p>
          <a:p>
            <a:pPr algn="just"/>
            <a:endParaRPr lang="en-IN" dirty="0"/>
          </a:p>
          <a:p>
            <a:pPr algn="just"/>
            <a:endParaRPr lang="en-IN" dirty="0"/>
          </a:p>
          <a:p>
            <a:pPr algn="just"/>
            <a:r>
              <a:rPr lang="en-IN" dirty="0"/>
              <a:t>Step3: Replace the numbers in </a:t>
            </a:r>
            <a:r>
              <a:rPr lang="en-IN" dirty="0" err="1"/>
              <a:t>CiperText</a:t>
            </a:r>
            <a:r>
              <a:rPr lang="en-IN" dirty="0"/>
              <a:t> with associated alphabet.</a:t>
            </a:r>
          </a:p>
          <a:p>
            <a:pPr algn="just"/>
            <a:endParaRPr lang="en-IN" dirty="0"/>
          </a:p>
          <a:p>
            <a:pPr algn="just"/>
            <a:endParaRPr lang="en-IN" dirty="0"/>
          </a:p>
          <a:p>
            <a:pPr algn="just"/>
            <a:endParaRPr lang="en-IN" dirty="0"/>
          </a:p>
          <a:p>
            <a:pPr algn="just"/>
            <a:endParaRPr lang="en-IN" dirty="0"/>
          </a:p>
          <a:p>
            <a:pPr algn="just">
              <a:buNone/>
            </a:pPr>
            <a:endParaRPr lang="en-IN" dirty="0"/>
          </a:p>
        </p:txBody>
      </p:sp>
      <p:pic>
        <p:nvPicPr>
          <p:cNvPr id="6148" name="Picture 4"/>
          <p:cNvPicPr>
            <a:picLocks noChangeAspect="1" noChangeArrowheads="1"/>
          </p:cNvPicPr>
          <p:nvPr/>
        </p:nvPicPr>
        <p:blipFill>
          <a:blip r:embed="rId2"/>
          <a:srcRect/>
          <a:stretch>
            <a:fillRect/>
          </a:stretch>
        </p:blipFill>
        <p:spPr bwMode="auto">
          <a:xfrm>
            <a:off x="1285852" y="2000241"/>
            <a:ext cx="6829424" cy="1785950"/>
          </a:xfrm>
          <a:prstGeom prst="rect">
            <a:avLst/>
          </a:prstGeom>
          <a:noFill/>
          <a:ln w="9525">
            <a:noFill/>
            <a:miter lim="800000"/>
            <a:headEnd/>
            <a:tailEnd/>
          </a:ln>
          <a:effectLst/>
        </p:spPr>
      </p:pic>
      <p:pic>
        <p:nvPicPr>
          <p:cNvPr id="6149" name="Picture 5"/>
          <p:cNvPicPr>
            <a:picLocks noChangeAspect="1" noChangeArrowheads="1"/>
          </p:cNvPicPr>
          <p:nvPr/>
        </p:nvPicPr>
        <p:blipFill>
          <a:blip r:embed="rId3"/>
          <a:srcRect/>
          <a:stretch>
            <a:fillRect/>
          </a:stretch>
        </p:blipFill>
        <p:spPr bwMode="auto">
          <a:xfrm>
            <a:off x="1857356" y="4786322"/>
            <a:ext cx="5286412" cy="1071570"/>
          </a:xfrm>
          <a:prstGeom prst="rect">
            <a:avLst/>
          </a:prstGeom>
          <a:noFill/>
          <a:ln w="9525">
            <a:noFill/>
            <a:miter lim="800000"/>
            <a:headEnd/>
            <a:tailEnd/>
          </a:ln>
          <a:effectLst/>
        </p:spPr>
      </p:pic>
      <p:sp>
        <p:nvSpPr>
          <p:cNvPr id="9" name="TextBox 8"/>
          <p:cNvSpPr txBox="1"/>
          <p:nvPr/>
        </p:nvSpPr>
        <p:spPr>
          <a:xfrm>
            <a:off x="1428728" y="5929330"/>
            <a:ext cx="4890313" cy="646331"/>
          </a:xfrm>
          <a:prstGeom prst="rect">
            <a:avLst/>
          </a:prstGeom>
          <a:noFill/>
        </p:spPr>
        <p:txBody>
          <a:bodyPr wrap="none" rtlCol="0">
            <a:spAutoFit/>
          </a:bodyPr>
          <a:lstStyle/>
          <a:p>
            <a:r>
              <a:rPr lang="en-IN" b="1" dirty="0"/>
              <a:t>PlainText:</a:t>
            </a:r>
            <a:r>
              <a:rPr lang="en-IN" dirty="0"/>
              <a:t>     wearediscoveredsaveyourself</a:t>
            </a:r>
          </a:p>
          <a:p>
            <a:r>
              <a:rPr lang="en-IN" b="1" dirty="0" err="1"/>
              <a:t>CipherText</a:t>
            </a:r>
            <a:r>
              <a:rPr lang="en-IN" b="1" dirty="0"/>
              <a:t>:  </a:t>
            </a:r>
            <a:r>
              <a:rPr lang="en-IN" dirty="0"/>
              <a:t>ZICVTWQNGRZGVTWAVZHCQYGLMGJ</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Vigenere</a:t>
            </a:r>
            <a:r>
              <a:rPr lang="en-IN" dirty="0"/>
              <a:t> cipher - Cryptanalysis</a:t>
            </a:r>
          </a:p>
        </p:txBody>
      </p:sp>
      <p:sp>
        <p:nvSpPr>
          <p:cNvPr id="3" name="Content Placeholder 2"/>
          <p:cNvSpPr>
            <a:spLocks noGrp="1"/>
          </p:cNvSpPr>
          <p:nvPr>
            <p:ph idx="1"/>
          </p:nvPr>
        </p:nvSpPr>
        <p:spPr/>
        <p:txBody>
          <a:bodyPr/>
          <a:lstStyle/>
          <a:p>
            <a:pPr algn="just"/>
            <a:r>
              <a:rPr lang="en-IN" dirty="0"/>
              <a:t>Determining the length of the keyword.</a:t>
            </a:r>
          </a:p>
          <a:p>
            <a:pPr algn="just"/>
            <a:r>
              <a:rPr lang="en-IN" dirty="0"/>
              <a:t>Key and the plaintext share the same frequency distribution of letters, a statistical technique can be applied.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IN" dirty="0"/>
              <a:t>Auto key system</a:t>
            </a:r>
          </a:p>
        </p:txBody>
      </p:sp>
      <p:sp>
        <p:nvSpPr>
          <p:cNvPr id="3" name="Content Placeholder 2"/>
          <p:cNvSpPr>
            <a:spLocks noGrp="1"/>
          </p:cNvSpPr>
          <p:nvPr>
            <p:ph idx="1"/>
          </p:nvPr>
        </p:nvSpPr>
        <p:spPr>
          <a:xfrm>
            <a:off x="457200" y="1080286"/>
            <a:ext cx="8229600" cy="5301042"/>
          </a:xfrm>
        </p:spPr>
        <p:txBody>
          <a:bodyPr>
            <a:normAutofit/>
          </a:bodyPr>
          <a:lstStyle/>
          <a:p>
            <a:pPr algn="just"/>
            <a:r>
              <a:rPr lang="en-IN" sz="2600" dirty="0"/>
              <a:t>The periodic nature of the keyword can be eliminated by using a non-repeating keyword that is as long as the message itself.</a:t>
            </a:r>
          </a:p>
          <a:p>
            <a:pPr algn="just"/>
            <a:r>
              <a:rPr lang="en-IN" sz="2600" dirty="0" err="1"/>
              <a:t>Vigenere</a:t>
            </a:r>
            <a:r>
              <a:rPr lang="en-IN" sz="2600" dirty="0"/>
              <a:t> proposed autokey system, in which a keyword is concatenated with the plaintext itself to provide a running key.</a:t>
            </a:r>
          </a:p>
          <a:p>
            <a:pPr lvl="1" algn="just"/>
            <a:r>
              <a:rPr lang="en-IN" sz="2600" dirty="0"/>
              <a:t>Example:</a:t>
            </a:r>
          </a:p>
          <a:p>
            <a:pPr lvl="2" algn="just"/>
            <a:r>
              <a:rPr lang="en-IN" sz="2600" dirty="0"/>
              <a:t>PlainText: </a:t>
            </a:r>
            <a:r>
              <a:rPr lang="en-IN" sz="2600" b="1" dirty="0">
                <a:solidFill>
                  <a:srgbClr val="C00000"/>
                </a:solidFill>
              </a:rPr>
              <a:t>wearediscoveredsav</a:t>
            </a:r>
            <a:r>
              <a:rPr lang="en-IN" sz="2600" b="1" dirty="0">
                <a:solidFill>
                  <a:schemeClr val="tx2"/>
                </a:solidFill>
              </a:rPr>
              <a:t>eyourself</a:t>
            </a:r>
          </a:p>
          <a:p>
            <a:pPr lvl="2" algn="just"/>
            <a:r>
              <a:rPr lang="en-IN" sz="2600" dirty="0"/>
              <a:t>Key:           </a:t>
            </a:r>
            <a:r>
              <a:rPr lang="en-IN" sz="2600" b="1" dirty="0" err="1">
                <a:solidFill>
                  <a:schemeClr val="tx2"/>
                </a:solidFill>
              </a:rPr>
              <a:t>deceptive</a:t>
            </a:r>
            <a:r>
              <a:rPr lang="en-IN" sz="2600" b="1" dirty="0" err="1">
                <a:solidFill>
                  <a:srgbClr val="C00000"/>
                </a:solidFill>
              </a:rPr>
              <a:t>wearediscoveredsav</a:t>
            </a:r>
            <a:endParaRPr lang="en-IN" sz="2600" b="1" dirty="0">
              <a:solidFill>
                <a:srgbClr val="C00000"/>
              </a:solidFill>
            </a:endParaRPr>
          </a:p>
          <a:p>
            <a:pPr marL="228600" lvl="2" algn="just"/>
            <a:r>
              <a:rPr lang="en-IN" sz="2600" dirty="0" err="1"/>
              <a:t>Vigenere</a:t>
            </a:r>
            <a:r>
              <a:rPr lang="en-IN" sz="2600" dirty="0"/>
              <a:t> proposed autokey system, in which a keyword is concatenated with the ciphertext itself to provide a running key.</a:t>
            </a:r>
          </a:p>
          <a:p>
            <a:pPr lvl="2" algn="just"/>
            <a:endParaRPr lang="en-IN" dirty="0">
              <a:solidFill>
                <a:srgbClr val="C00000"/>
              </a:solidFill>
            </a:endParaRPr>
          </a:p>
          <a:p>
            <a:pPr algn="just"/>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9B7C-4477-6604-2DCE-B91B9A6FD628}"/>
              </a:ext>
            </a:extLst>
          </p:cNvPr>
          <p:cNvSpPr>
            <a:spLocks noGrp="1"/>
          </p:cNvSpPr>
          <p:nvPr>
            <p:ph type="title"/>
          </p:nvPr>
        </p:nvSpPr>
        <p:spPr>
          <a:xfrm>
            <a:off x="457200" y="116632"/>
            <a:ext cx="8229600" cy="994122"/>
          </a:xfrm>
        </p:spPr>
        <p:txBody>
          <a:bodyPr/>
          <a:lstStyle/>
          <a:p>
            <a:r>
              <a:rPr lang="en-IN" dirty="0" err="1"/>
              <a:t>Vernam</a:t>
            </a:r>
            <a:r>
              <a:rPr lang="en-IN" dirty="0"/>
              <a:t> Cipher</a:t>
            </a:r>
          </a:p>
        </p:txBody>
      </p:sp>
      <p:pic>
        <p:nvPicPr>
          <p:cNvPr id="5" name="Picture 4">
            <a:extLst>
              <a:ext uri="{FF2B5EF4-FFF2-40B4-BE49-F238E27FC236}">
                <a16:creationId xmlns:a16="http://schemas.microsoft.com/office/drawing/2014/main" id="{6DE8AD48-DC17-07B4-98F7-F6852D409C12}"/>
              </a:ext>
            </a:extLst>
          </p:cNvPr>
          <p:cNvPicPr>
            <a:picLocks noChangeAspect="1"/>
          </p:cNvPicPr>
          <p:nvPr/>
        </p:nvPicPr>
        <p:blipFill>
          <a:blip r:embed="rId2"/>
          <a:stretch>
            <a:fillRect/>
          </a:stretch>
        </p:blipFill>
        <p:spPr>
          <a:xfrm>
            <a:off x="511753" y="1077331"/>
            <a:ext cx="8278380" cy="1296144"/>
          </a:xfrm>
          <a:prstGeom prst="rect">
            <a:avLst/>
          </a:prstGeom>
        </p:spPr>
      </p:pic>
      <p:pic>
        <p:nvPicPr>
          <p:cNvPr id="7" name="Picture 6">
            <a:extLst>
              <a:ext uri="{FF2B5EF4-FFF2-40B4-BE49-F238E27FC236}">
                <a16:creationId xmlns:a16="http://schemas.microsoft.com/office/drawing/2014/main" id="{7F3E6449-7245-5B18-4CF1-37E36AD6CAAB}"/>
              </a:ext>
            </a:extLst>
          </p:cNvPr>
          <p:cNvPicPr>
            <a:picLocks noChangeAspect="1"/>
          </p:cNvPicPr>
          <p:nvPr/>
        </p:nvPicPr>
        <p:blipFill>
          <a:blip r:embed="rId3"/>
          <a:stretch>
            <a:fillRect/>
          </a:stretch>
        </p:blipFill>
        <p:spPr>
          <a:xfrm>
            <a:off x="476865" y="2636912"/>
            <a:ext cx="5179027" cy="2238687"/>
          </a:xfrm>
          <a:prstGeom prst="rect">
            <a:avLst/>
          </a:prstGeom>
        </p:spPr>
      </p:pic>
      <p:pic>
        <p:nvPicPr>
          <p:cNvPr id="9" name="Picture 8">
            <a:extLst>
              <a:ext uri="{FF2B5EF4-FFF2-40B4-BE49-F238E27FC236}">
                <a16:creationId xmlns:a16="http://schemas.microsoft.com/office/drawing/2014/main" id="{7E19E34B-0EF8-05C2-186A-23CDEE52790F}"/>
              </a:ext>
            </a:extLst>
          </p:cNvPr>
          <p:cNvPicPr>
            <a:picLocks noChangeAspect="1"/>
          </p:cNvPicPr>
          <p:nvPr/>
        </p:nvPicPr>
        <p:blipFill>
          <a:blip r:embed="rId4"/>
          <a:stretch>
            <a:fillRect/>
          </a:stretch>
        </p:blipFill>
        <p:spPr>
          <a:xfrm>
            <a:off x="6228184" y="2974134"/>
            <a:ext cx="2310257" cy="720080"/>
          </a:xfrm>
          <a:prstGeom prst="rect">
            <a:avLst/>
          </a:prstGeom>
        </p:spPr>
      </p:pic>
      <p:pic>
        <p:nvPicPr>
          <p:cNvPr id="11" name="Picture 10">
            <a:extLst>
              <a:ext uri="{FF2B5EF4-FFF2-40B4-BE49-F238E27FC236}">
                <a16:creationId xmlns:a16="http://schemas.microsoft.com/office/drawing/2014/main" id="{A9EC8521-0EEB-CF5D-527A-65D2AACC3159}"/>
              </a:ext>
            </a:extLst>
          </p:cNvPr>
          <p:cNvPicPr>
            <a:picLocks noChangeAspect="1"/>
          </p:cNvPicPr>
          <p:nvPr/>
        </p:nvPicPr>
        <p:blipFill>
          <a:blip r:embed="rId5"/>
          <a:stretch>
            <a:fillRect/>
          </a:stretch>
        </p:blipFill>
        <p:spPr>
          <a:xfrm>
            <a:off x="4788024" y="5135316"/>
            <a:ext cx="4239217" cy="1657581"/>
          </a:xfrm>
          <a:prstGeom prst="rect">
            <a:avLst/>
          </a:prstGeom>
        </p:spPr>
      </p:pic>
      <p:pic>
        <p:nvPicPr>
          <p:cNvPr id="13" name="Picture 12">
            <a:extLst>
              <a:ext uri="{FF2B5EF4-FFF2-40B4-BE49-F238E27FC236}">
                <a16:creationId xmlns:a16="http://schemas.microsoft.com/office/drawing/2014/main" id="{57134B56-2499-7744-9049-FF84E07B6033}"/>
              </a:ext>
            </a:extLst>
          </p:cNvPr>
          <p:cNvPicPr>
            <a:picLocks noChangeAspect="1"/>
          </p:cNvPicPr>
          <p:nvPr/>
        </p:nvPicPr>
        <p:blipFill>
          <a:blip r:embed="rId6"/>
          <a:stretch>
            <a:fillRect/>
          </a:stretch>
        </p:blipFill>
        <p:spPr>
          <a:xfrm>
            <a:off x="6228184" y="3756255"/>
            <a:ext cx="2160240" cy="623951"/>
          </a:xfrm>
          <a:prstGeom prst="rect">
            <a:avLst/>
          </a:prstGeom>
        </p:spPr>
      </p:pic>
    </p:spTree>
    <p:extLst>
      <p:ext uri="{BB962C8B-B14F-4D97-AF65-F5344CB8AC3E}">
        <p14:creationId xmlns:p14="http://schemas.microsoft.com/office/powerpoint/2010/main" val="32021165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199CFF-F953-DCA8-3ACE-4746DD8B54EE}"/>
              </a:ext>
            </a:extLst>
          </p:cNvPr>
          <p:cNvPicPr>
            <a:picLocks noChangeAspect="1"/>
          </p:cNvPicPr>
          <p:nvPr/>
        </p:nvPicPr>
        <p:blipFill>
          <a:blip r:embed="rId2"/>
          <a:stretch>
            <a:fillRect/>
          </a:stretch>
        </p:blipFill>
        <p:spPr>
          <a:xfrm>
            <a:off x="370888" y="476672"/>
            <a:ext cx="8402223" cy="2429214"/>
          </a:xfrm>
          <a:prstGeom prst="rect">
            <a:avLst/>
          </a:prstGeom>
        </p:spPr>
      </p:pic>
      <p:pic>
        <p:nvPicPr>
          <p:cNvPr id="9" name="Picture 8">
            <a:extLst>
              <a:ext uri="{FF2B5EF4-FFF2-40B4-BE49-F238E27FC236}">
                <a16:creationId xmlns:a16="http://schemas.microsoft.com/office/drawing/2014/main" id="{B2290560-E122-1647-F322-DE311087C287}"/>
              </a:ext>
            </a:extLst>
          </p:cNvPr>
          <p:cNvPicPr>
            <a:picLocks noChangeAspect="1"/>
          </p:cNvPicPr>
          <p:nvPr/>
        </p:nvPicPr>
        <p:blipFill>
          <a:blip r:embed="rId3"/>
          <a:stretch>
            <a:fillRect/>
          </a:stretch>
        </p:blipFill>
        <p:spPr>
          <a:xfrm>
            <a:off x="466152" y="2847618"/>
            <a:ext cx="8306959" cy="590632"/>
          </a:xfrm>
          <a:prstGeom prst="rect">
            <a:avLst/>
          </a:prstGeom>
        </p:spPr>
      </p:pic>
      <p:pic>
        <p:nvPicPr>
          <p:cNvPr id="11" name="Picture 10">
            <a:extLst>
              <a:ext uri="{FF2B5EF4-FFF2-40B4-BE49-F238E27FC236}">
                <a16:creationId xmlns:a16="http://schemas.microsoft.com/office/drawing/2014/main" id="{F6CFA7DF-0F36-74A2-8BD2-17750723E1F7}"/>
              </a:ext>
            </a:extLst>
          </p:cNvPr>
          <p:cNvPicPr>
            <a:picLocks noChangeAspect="1"/>
          </p:cNvPicPr>
          <p:nvPr/>
        </p:nvPicPr>
        <p:blipFill>
          <a:blip r:embed="rId4"/>
          <a:stretch>
            <a:fillRect/>
          </a:stretch>
        </p:blipFill>
        <p:spPr>
          <a:xfrm>
            <a:off x="539552" y="3861048"/>
            <a:ext cx="2981741" cy="219106"/>
          </a:xfrm>
          <a:prstGeom prst="rect">
            <a:avLst/>
          </a:prstGeom>
        </p:spPr>
      </p:pic>
      <p:pic>
        <p:nvPicPr>
          <p:cNvPr id="13" name="Picture 12">
            <a:extLst>
              <a:ext uri="{FF2B5EF4-FFF2-40B4-BE49-F238E27FC236}">
                <a16:creationId xmlns:a16="http://schemas.microsoft.com/office/drawing/2014/main" id="{07C785FD-9C75-31DA-CCC2-87B3744B3DCA}"/>
              </a:ext>
            </a:extLst>
          </p:cNvPr>
          <p:cNvPicPr>
            <a:picLocks noChangeAspect="1"/>
          </p:cNvPicPr>
          <p:nvPr/>
        </p:nvPicPr>
        <p:blipFill>
          <a:blip r:embed="rId5"/>
          <a:stretch>
            <a:fillRect/>
          </a:stretch>
        </p:blipFill>
        <p:spPr>
          <a:xfrm>
            <a:off x="3429704" y="3847064"/>
            <a:ext cx="3000794" cy="266737"/>
          </a:xfrm>
          <a:prstGeom prst="rect">
            <a:avLst/>
          </a:prstGeom>
        </p:spPr>
      </p:pic>
      <p:pic>
        <p:nvPicPr>
          <p:cNvPr id="15" name="Picture 14">
            <a:extLst>
              <a:ext uri="{FF2B5EF4-FFF2-40B4-BE49-F238E27FC236}">
                <a16:creationId xmlns:a16="http://schemas.microsoft.com/office/drawing/2014/main" id="{17A4A9EA-2DD6-2F83-67C3-0F11C61EEC1E}"/>
              </a:ext>
            </a:extLst>
          </p:cNvPr>
          <p:cNvPicPr>
            <a:picLocks noChangeAspect="1"/>
          </p:cNvPicPr>
          <p:nvPr/>
        </p:nvPicPr>
        <p:blipFill>
          <a:blip r:embed="rId6"/>
          <a:stretch>
            <a:fillRect/>
          </a:stretch>
        </p:blipFill>
        <p:spPr>
          <a:xfrm>
            <a:off x="601766" y="4135986"/>
            <a:ext cx="3238952" cy="276264"/>
          </a:xfrm>
          <a:prstGeom prst="rect">
            <a:avLst/>
          </a:prstGeom>
        </p:spPr>
      </p:pic>
      <p:pic>
        <p:nvPicPr>
          <p:cNvPr id="17" name="Picture 16">
            <a:extLst>
              <a:ext uri="{FF2B5EF4-FFF2-40B4-BE49-F238E27FC236}">
                <a16:creationId xmlns:a16="http://schemas.microsoft.com/office/drawing/2014/main" id="{7201FB00-CF4F-AF59-DEC9-B65DDBA457AA}"/>
              </a:ext>
            </a:extLst>
          </p:cNvPr>
          <p:cNvPicPr>
            <a:picLocks noChangeAspect="1"/>
          </p:cNvPicPr>
          <p:nvPr/>
        </p:nvPicPr>
        <p:blipFill>
          <a:blip r:embed="rId7"/>
          <a:stretch>
            <a:fillRect/>
          </a:stretch>
        </p:blipFill>
        <p:spPr>
          <a:xfrm>
            <a:off x="601766" y="4502952"/>
            <a:ext cx="8106906" cy="1829055"/>
          </a:xfrm>
          <a:prstGeom prst="rect">
            <a:avLst/>
          </a:prstGeom>
        </p:spPr>
      </p:pic>
    </p:spTree>
    <p:extLst>
      <p:ext uri="{BB962C8B-B14F-4D97-AF65-F5344CB8AC3E}">
        <p14:creationId xmlns:p14="http://schemas.microsoft.com/office/powerpoint/2010/main" val="4067044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2189</TotalTime>
  <Words>1856</Words>
  <Application>Microsoft Office PowerPoint</Application>
  <PresentationFormat>On-screen Show (4:3)</PresentationFormat>
  <Paragraphs>260</Paragraphs>
  <Slides>59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Aptos Display</vt:lpstr>
      <vt:lpstr>Arial</vt:lpstr>
      <vt:lpstr>Arial Narrow</vt:lpstr>
      <vt:lpstr>Calibri</vt:lpstr>
      <vt:lpstr>Courier New</vt:lpstr>
      <vt:lpstr>Symbol</vt:lpstr>
      <vt:lpstr>Times-Roman</vt:lpstr>
      <vt:lpstr>Office Theme</vt:lpstr>
      <vt:lpstr>Types</vt:lpstr>
      <vt:lpstr>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Classical Cryptography</vt:lpstr>
      <vt:lpstr>(a) Substitution Ciphers</vt:lpstr>
      <vt:lpstr>(a.1). Caesar Cipher</vt:lpstr>
      <vt:lpstr>Example                                                    (Contd....)</vt:lpstr>
      <vt:lpstr>Exercise</vt:lpstr>
      <vt:lpstr>Shift cipher</vt:lpstr>
      <vt:lpstr>Pros and Cons of Caesar cipher</vt:lpstr>
      <vt:lpstr>Exercise</vt:lpstr>
      <vt:lpstr>(a.2) Monoalphabetic Cipher</vt:lpstr>
      <vt:lpstr>PowerPoint Presentation</vt:lpstr>
      <vt:lpstr>Example</vt:lpstr>
      <vt:lpstr>Drawback with the nature of the language.</vt:lpstr>
      <vt:lpstr>Pros and Cons</vt:lpstr>
      <vt:lpstr>(a.3) Playfair Cipher</vt:lpstr>
      <vt:lpstr>Rules</vt:lpstr>
      <vt:lpstr>Rules</vt:lpstr>
      <vt:lpstr>Playfair Matrix (or) Key Matrix</vt:lpstr>
      <vt:lpstr>Example - 1</vt:lpstr>
      <vt:lpstr>PowerPoint Presentation</vt:lpstr>
      <vt:lpstr>PowerPoint Presentation</vt:lpstr>
      <vt:lpstr>Example - 2</vt:lpstr>
      <vt:lpstr>PowerPoint Presentation</vt:lpstr>
      <vt:lpstr>PowerPoint Presentation</vt:lpstr>
      <vt:lpstr>Exercise</vt:lpstr>
      <vt:lpstr>Exercise</vt:lpstr>
      <vt:lpstr>(a.4). Hill Cipher</vt:lpstr>
      <vt:lpstr>Review few terminologies from linear algebra</vt:lpstr>
      <vt:lpstr>Hill Algorithm</vt:lpstr>
      <vt:lpstr>Example – Encryption </vt:lpstr>
      <vt:lpstr>PowerPoint Presentation</vt:lpstr>
      <vt:lpstr>PowerPoint Presentation</vt:lpstr>
      <vt:lpstr>Decryption in Hill cipher</vt:lpstr>
      <vt:lpstr>Example – Decryption </vt:lpstr>
      <vt:lpstr>PowerPoint Presentation</vt:lpstr>
      <vt:lpstr>PowerPoint Presentation</vt:lpstr>
      <vt:lpstr>PowerPoint Presentation</vt:lpstr>
      <vt:lpstr>PowerPoint Presentation</vt:lpstr>
      <vt:lpstr>Exercise</vt:lpstr>
      <vt:lpstr>Exercise</vt:lpstr>
      <vt:lpstr>(a.5). Polyalphabetic Ciphers</vt:lpstr>
      <vt:lpstr>Vigenere Cipher</vt:lpstr>
      <vt:lpstr>Example</vt:lpstr>
      <vt:lpstr>PowerPoint Presentation</vt:lpstr>
      <vt:lpstr>Vigenere cipher - Cryptanalysis</vt:lpstr>
      <vt:lpstr>Auto key system</vt:lpstr>
      <vt:lpstr>Vernam Cipher</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 Basics</dc:title>
  <dc:creator>admin</dc:creator>
  <cp:lastModifiedBy>Dr. ISLABUDEEN M</cp:lastModifiedBy>
  <cp:revision>504</cp:revision>
  <dcterms:created xsi:type="dcterms:W3CDTF">2020-07-09T05:35:26Z</dcterms:created>
  <dcterms:modified xsi:type="dcterms:W3CDTF">2025-01-09T20:09:23Z</dcterms:modified>
</cp:coreProperties>
</file>