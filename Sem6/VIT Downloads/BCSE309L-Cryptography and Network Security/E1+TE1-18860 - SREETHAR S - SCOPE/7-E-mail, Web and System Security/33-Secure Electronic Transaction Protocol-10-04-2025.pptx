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5843" y="483234"/>
            <a:ext cx="799231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38757"/>
            <a:ext cx="7809230" cy="420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8062" y="210438"/>
            <a:ext cx="702564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51785" marR="5080" indent="-28397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Secure</a:t>
            </a:r>
            <a:r>
              <a:rPr sz="4000" spc="-160" dirty="0"/>
              <a:t> </a:t>
            </a:r>
            <a:r>
              <a:rPr sz="4000" dirty="0"/>
              <a:t>Electronic</a:t>
            </a:r>
            <a:r>
              <a:rPr sz="4000" spc="-225" dirty="0"/>
              <a:t> </a:t>
            </a:r>
            <a:r>
              <a:rPr sz="4000" spc="-10" dirty="0"/>
              <a:t>Transactions (SET)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24736"/>
            <a:ext cx="8030209" cy="44907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open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encryption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security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specification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protect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Internet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credit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card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transactions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developed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1996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Mastercard,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Visa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etc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not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payment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system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rather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security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protocols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&amp;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formats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secure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communications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amongst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parties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trust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X.509v3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certificates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privacy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restricted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those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who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93239">
              <a:lnSpc>
                <a:spcPct val="100000"/>
              </a:lnSpc>
              <a:spcBef>
                <a:spcPts val="105"/>
              </a:spcBef>
            </a:pPr>
            <a:r>
              <a:rPr dirty="0"/>
              <a:t>SET</a:t>
            </a:r>
            <a:r>
              <a:rPr spc="-75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80" y="1677737"/>
            <a:ext cx="8023253" cy="42645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6692" y="483234"/>
            <a:ext cx="41516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SET</a:t>
            </a:r>
            <a:r>
              <a:rPr spc="-160" dirty="0"/>
              <a:t> </a:t>
            </a:r>
            <a:r>
              <a:rPr spc="-10" dirty="0"/>
              <a:t>Transaction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8681"/>
            <a:ext cx="7112000" cy="4293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customer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opens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account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customer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receives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certificate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merchants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own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certificates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customer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places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order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merchant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verified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order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payment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sent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merchant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requests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payment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authorization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merchant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confirms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order</a:t>
            </a:r>
            <a:endParaRPr sz="2800">
              <a:latin typeface="Arial MT"/>
              <a:cs typeface="Arial MT"/>
            </a:endParaRPr>
          </a:p>
          <a:p>
            <a:pPr marL="546100" indent="-533400">
              <a:lnSpc>
                <a:spcPct val="100000"/>
              </a:lnSpc>
              <a:buAutoNum type="arabicPeriod"/>
              <a:tabLst>
                <a:tab pos="546100" algn="l"/>
              </a:tabLst>
            </a:pPr>
            <a:r>
              <a:rPr sz="2800" dirty="0">
                <a:latin typeface="Arial MT"/>
                <a:cs typeface="Arial MT"/>
              </a:rPr>
              <a:t>merchant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provides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service</a:t>
            </a:r>
            <a:endParaRPr sz="2800">
              <a:latin typeface="Arial MT"/>
              <a:cs typeface="Arial MT"/>
            </a:endParaRPr>
          </a:p>
          <a:p>
            <a:pPr marL="544195" indent="-531495">
              <a:lnSpc>
                <a:spcPct val="100000"/>
              </a:lnSpc>
              <a:buAutoNum type="arabicPeriod"/>
              <a:tabLst>
                <a:tab pos="544195" algn="l"/>
              </a:tabLst>
            </a:pPr>
            <a:r>
              <a:rPr sz="2800" dirty="0">
                <a:latin typeface="Arial MT"/>
                <a:cs typeface="Arial MT"/>
              </a:rPr>
              <a:t>merchant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requests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payment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6935">
              <a:lnSpc>
                <a:spcPct val="100000"/>
              </a:lnSpc>
              <a:spcBef>
                <a:spcPts val="105"/>
              </a:spcBef>
            </a:pPr>
            <a:r>
              <a:rPr dirty="0"/>
              <a:t>Dual</a:t>
            </a:r>
            <a:r>
              <a:rPr spc="-15" dirty="0"/>
              <a:t> </a:t>
            </a:r>
            <a:r>
              <a:rPr spc="-10" dirty="0"/>
              <a:t>Signature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071"/>
            <a:ext cx="6939280" cy="39090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Char char="•"/>
              <a:tabLst>
                <a:tab pos="355600" algn="l"/>
                <a:tab pos="469900" algn="l"/>
              </a:tabLst>
            </a:pPr>
            <a:r>
              <a:rPr sz="3200" dirty="0">
                <a:latin typeface="Arial MT"/>
                <a:cs typeface="Arial MT"/>
              </a:rPr>
              <a:t>customer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creates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dual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messages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order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(OI)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merchant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payment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information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(PI)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bank</a:t>
            </a:r>
            <a:endParaRPr sz="2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neither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needs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details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other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but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b="1" dirty="0">
                <a:latin typeface="Arial"/>
                <a:cs typeface="Arial"/>
              </a:rPr>
              <a:t>must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know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linked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use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dual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signature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this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signed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concatenated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hashes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OI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&amp;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PI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"/>
              </a:spcBef>
            </a:pPr>
            <a:r>
              <a:rPr dirty="0"/>
              <a:t>Purchase</a:t>
            </a:r>
            <a:r>
              <a:rPr spc="-20" dirty="0"/>
              <a:t> </a:t>
            </a:r>
            <a:r>
              <a:rPr dirty="0"/>
              <a:t>Request</a:t>
            </a:r>
            <a:r>
              <a:rPr spc="-2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Customer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591" y="1695691"/>
            <a:ext cx="8010468" cy="434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5"/>
              </a:spcBef>
            </a:pPr>
            <a:r>
              <a:rPr dirty="0"/>
              <a:t>Purchase</a:t>
            </a:r>
            <a:r>
              <a:rPr spc="-20" dirty="0"/>
              <a:t> </a:t>
            </a:r>
            <a:r>
              <a:rPr dirty="0"/>
              <a:t>Request</a:t>
            </a:r>
            <a:r>
              <a:rPr spc="-2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Merchant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072" y="1685245"/>
            <a:ext cx="6492251" cy="43278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5"/>
              </a:spcBef>
            </a:pPr>
            <a:r>
              <a:rPr dirty="0"/>
              <a:t>Purchase</a:t>
            </a:r>
            <a:r>
              <a:rPr spc="-20" dirty="0"/>
              <a:t> </a:t>
            </a:r>
            <a:r>
              <a:rPr dirty="0"/>
              <a:t>Request</a:t>
            </a:r>
            <a:r>
              <a:rPr spc="-2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Merchant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46100" indent="-53340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46100" algn="l"/>
              </a:tabLst>
            </a:pPr>
            <a:r>
              <a:rPr dirty="0"/>
              <a:t>verifies</a:t>
            </a:r>
            <a:r>
              <a:rPr spc="-130" dirty="0"/>
              <a:t> </a:t>
            </a:r>
            <a:r>
              <a:rPr dirty="0"/>
              <a:t>cardholder</a:t>
            </a:r>
            <a:r>
              <a:rPr spc="-80" dirty="0"/>
              <a:t> </a:t>
            </a:r>
            <a:r>
              <a:rPr dirty="0"/>
              <a:t>certificates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CA</a:t>
            </a:r>
            <a:r>
              <a:rPr spc="-195" dirty="0"/>
              <a:t> </a:t>
            </a:r>
            <a:r>
              <a:rPr spc="-20" dirty="0"/>
              <a:t>sigs</a:t>
            </a:r>
          </a:p>
          <a:p>
            <a:pPr marL="546100" marR="5080" indent="-534035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46100" algn="l"/>
              </a:tabLst>
            </a:pPr>
            <a:r>
              <a:rPr dirty="0"/>
              <a:t>verifies</a:t>
            </a:r>
            <a:r>
              <a:rPr spc="-95" dirty="0"/>
              <a:t> </a:t>
            </a:r>
            <a:r>
              <a:rPr dirty="0"/>
              <a:t>dual</a:t>
            </a:r>
            <a:r>
              <a:rPr spc="-80" dirty="0"/>
              <a:t> </a:t>
            </a:r>
            <a:r>
              <a:rPr dirty="0"/>
              <a:t>signature</a:t>
            </a:r>
            <a:r>
              <a:rPr spc="-85" dirty="0"/>
              <a:t> </a:t>
            </a:r>
            <a:r>
              <a:rPr dirty="0"/>
              <a:t>using</a:t>
            </a:r>
            <a:r>
              <a:rPr spc="-95" dirty="0"/>
              <a:t> </a:t>
            </a:r>
            <a:r>
              <a:rPr dirty="0"/>
              <a:t>customer's</a:t>
            </a:r>
            <a:r>
              <a:rPr spc="-90" dirty="0"/>
              <a:t> </a:t>
            </a:r>
            <a:r>
              <a:rPr spc="-10" dirty="0"/>
              <a:t>public </a:t>
            </a:r>
            <a:r>
              <a:rPr dirty="0"/>
              <a:t>signature</a:t>
            </a:r>
            <a:r>
              <a:rPr spc="-55" dirty="0"/>
              <a:t> </a:t>
            </a:r>
            <a:r>
              <a:rPr dirty="0"/>
              <a:t>key</a:t>
            </a:r>
            <a:r>
              <a:rPr spc="-6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ensure</a:t>
            </a:r>
            <a:r>
              <a:rPr spc="-55" dirty="0"/>
              <a:t> </a:t>
            </a:r>
            <a:r>
              <a:rPr dirty="0"/>
              <a:t>order</a:t>
            </a:r>
            <a:r>
              <a:rPr spc="-60" dirty="0"/>
              <a:t> </a:t>
            </a:r>
            <a:r>
              <a:rPr dirty="0"/>
              <a:t>has</a:t>
            </a:r>
            <a:r>
              <a:rPr spc="-50" dirty="0"/>
              <a:t> </a:t>
            </a:r>
            <a:r>
              <a:rPr dirty="0"/>
              <a:t>not</a:t>
            </a:r>
            <a:r>
              <a:rPr spc="-65" dirty="0"/>
              <a:t> </a:t>
            </a:r>
            <a:r>
              <a:rPr spc="-20" dirty="0"/>
              <a:t>been </a:t>
            </a:r>
            <a:r>
              <a:rPr dirty="0"/>
              <a:t>tampered</a:t>
            </a:r>
            <a:r>
              <a:rPr spc="-40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transit</a:t>
            </a:r>
            <a:r>
              <a:rPr spc="-55" dirty="0"/>
              <a:t> </a:t>
            </a:r>
            <a:r>
              <a:rPr dirty="0"/>
              <a:t>&amp;</a:t>
            </a:r>
            <a:r>
              <a:rPr spc="-65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it</a:t>
            </a:r>
            <a:r>
              <a:rPr spc="-50" dirty="0"/>
              <a:t> </a:t>
            </a:r>
            <a:r>
              <a:rPr dirty="0"/>
              <a:t>was</a:t>
            </a:r>
            <a:r>
              <a:rPr spc="-35" dirty="0"/>
              <a:t> </a:t>
            </a:r>
            <a:r>
              <a:rPr spc="-10" dirty="0"/>
              <a:t>signed </a:t>
            </a:r>
            <a:r>
              <a:rPr dirty="0"/>
              <a:t>using</a:t>
            </a:r>
            <a:r>
              <a:rPr spc="-100" dirty="0"/>
              <a:t> </a:t>
            </a:r>
            <a:r>
              <a:rPr dirty="0"/>
              <a:t>cardholder's</a:t>
            </a:r>
            <a:r>
              <a:rPr spc="-85" dirty="0"/>
              <a:t> </a:t>
            </a:r>
            <a:r>
              <a:rPr dirty="0"/>
              <a:t>private</a:t>
            </a:r>
            <a:r>
              <a:rPr spc="-85" dirty="0"/>
              <a:t> </a:t>
            </a:r>
            <a:r>
              <a:rPr dirty="0"/>
              <a:t>signature</a:t>
            </a:r>
            <a:r>
              <a:rPr spc="-100" dirty="0"/>
              <a:t> </a:t>
            </a:r>
            <a:r>
              <a:rPr spc="-25" dirty="0"/>
              <a:t>key</a:t>
            </a:r>
          </a:p>
          <a:p>
            <a:pPr marL="546100" marR="480695" indent="-53403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46100" algn="l"/>
              </a:tabLst>
            </a:pPr>
            <a:r>
              <a:rPr dirty="0"/>
              <a:t>processes</a:t>
            </a:r>
            <a:r>
              <a:rPr spc="-65" dirty="0"/>
              <a:t> </a:t>
            </a:r>
            <a:r>
              <a:rPr dirty="0"/>
              <a:t>order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forwards</a:t>
            </a:r>
            <a:r>
              <a:rPr spc="-4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payment </a:t>
            </a:r>
            <a:r>
              <a:rPr dirty="0"/>
              <a:t>information</a:t>
            </a:r>
            <a:r>
              <a:rPr spc="-7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payment</a:t>
            </a:r>
            <a:r>
              <a:rPr spc="-80" dirty="0"/>
              <a:t> </a:t>
            </a:r>
            <a:r>
              <a:rPr dirty="0"/>
              <a:t>gateway</a:t>
            </a:r>
            <a:r>
              <a:rPr spc="-75" dirty="0"/>
              <a:t> </a:t>
            </a:r>
            <a:r>
              <a:rPr spc="-25" dirty="0"/>
              <a:t>for </a:t>
            </a:r>
            <a:r>
              <a:rPr dirty="0"/>
              <a:t>authorization</a:t>
            </a:r>
            <a:r>
              <a:rPr spc="-140" dirty="0"/>
              <a:t> </a:t>
            </a:r>
            <a:r>
              <a:rPr dirty="0"/>
              <a:t>(described</a:t>
            </a:r>
            <a:r>
              <a:rPr spc="-135" dirty="0"/>
              <a:t> </a:t>
            </a:r>
            <a:r>
              <a:rPr spc="-10" dirty="0"/>
              <a:t>later)</a:t>
            </a:r>
          </a:p>
          <a:p>
            <a:pPr marL="546100" indent="-53340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46100" algn="l"/>
              </a:tabLst>
            </a:pPr>
            <a:r>
              <a:rPr dirty="0"/>
              <a:t>sends</a:t>
            </a:r>
            <a:r>
              <a:rPr spc="-6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purchase</a:t>
            </a:r>
            <a:r>
              <a:rPr spc="-70" dirty="0"/>
              <a:t> </a:t>
            </a:r>
            <a:r>
              <a:rPr dirty="0"/>
              <a:t>response</a:t>
            </a:r>
            <a:r>
              <a:rPr spc="-5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cardholder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 Gateway</a:t>
            </a:r>
            <a:r>
              <a:rPr spc="-229" dirty="0"/>
              <a:t> </a:t>
            </a:r>
            <a:r>
              <a:rPr spc="-10" dirty="0"/>
              <a:t>Authorization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2040"/>
            <a:ext cx="8060055" cy="42335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verifies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certificates</a:t>
            </a:r>
            <a:endParaRPr sz="2400">
              <a:latin typeface="Arial MT"/>
              <a:cs typeface="Arial MT"/>
            </a:endParaRPr>
          </a:p>
          <a:p>
            <a:pPr marL="469900" marR="5080" indent="-457834">
              <a:lnSpc>
                <a:spcPts val="2590"/>
              </a:lnSpc>
              <a:spcBef>
                <a:spcPts val="620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decrypts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envelope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authorization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obtain </a:t>
            </a:r>
            <a:r>
              <a:rPr sz="2400" dirty="0">
                <a:latin typeface="Arial MT"/>
                <a:cs typeface="Arial MT"/>
              </a:rPr>
              <a:t>symmetric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decrypts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authorization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verifies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merchant's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authorization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marL="469900" marR="581660" indent="-457834">
              <a:lnSpc>
                <a:spcPts val="2590"/>
              </a:lnSpc>
              <a:spcBef>
                <a:spcPts val="61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decrypts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digital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envelope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obtain </a:t>
            </a:r>
            <a:r>
              <a:rPr sz="2400" dirty="0">
                <a:latin typeface="Arial MT"/>
                <a:cs typeface="Arial MT"/>
              </a:rPr>
              <a:t>symmetric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decrypts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verifies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dual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signature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ts val="2740"/>
              </a:lnSpc>
              <a:spcBef>
                <a:spcPts val="28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verifies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transaction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received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merchant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ts val="2740"/>
              </a:lnSpc>
            </a:pPr>
            <a:r>
              <a:rPr sz="2400" dirty="0">
                <a:latin typeface="Arial MT"/>
                <a:cs typeface="Arial MT"/>
              </a:rPr>
              <a:t>matches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received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(indirectly)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customer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290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requests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receives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authorization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issuer</a:t>
            </a:r>
            <a:endParaRPr sz="24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285"/>
              </a:spcBef>
              <a:buAutoNum type="arabicPeriod" startAt="7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sends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authorization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response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back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merchant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0545">
              <a:lnSpc>
                <a:spcPct val="100000"/>
              </a:lnSpc>
              <a:spcBef>
                <a:spcPts val="105"/>
              </a:spcBef>
            </a:pPr>
            <a:r>
              <a:rPr dirty="0"/>
              <a:t>Payment</a:t>
            </a:r>
            <a:r>
              <a:rPr spc="5" dirty="0"/>
              <a:t> </a:t>
            </a:r>
            <a:r>
              <a:rPr spc="-10" dirty="0"/>
              <a:t>Capture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1663"/>
            <a:ext cx="7790180" cy="324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07415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merchant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sends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payment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gateway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a </a:t>
            </a:r>
            <a:r>
              <a:rPr sz="3200" dirty="0">
                <a:latin typeface="Arial MT"/>
                <a:cs typeface="Arial MT"/>
              </a:rPr>
              <a:t>payment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capture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request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gateway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checks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request</a:t>
            </a:r>
            <a:endParaRPr sz="3200">
              <a:latin typeface="Arial MT"/>
              <a:cs typeface="Arial MT"/>
            </a:endParaRPr>
          </a:p>
          <a:p>
            <a:pPr marL="355600" marR="594995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then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causes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funds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transferred</a:t>
            </a:r>
            <a:r>
              <a:rPr sz="3200" spc="-7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to </a:t>
            </a:r>
            <a:r>
              <a:rPr sz="3200" dirty="0">
                <a:latin typeface="Arial MT"/>
                <a:cs typeface="Arial MT"/>
              </a:rPr>
              <a:t>merchants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account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notifies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merchant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using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capture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response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990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071"/>
            <a:ext cx="7433945" cy="215265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considered:</a:t>
            </a:r>
            <a:endParaRPr sz="32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web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security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SSL/TLS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transport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layer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protocols</a:t>
            </a:r>
            <a:endParaRPr sz="2800">
              <a:latin typeface="Arial MT"/>
              <a:cs typeface="Arial MT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 MT"/>
                <a:cs typeface="Arial MT"/>
              </a:rPr>
              <a:t>SET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credit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card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payment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protocols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341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 MT</vt:lpstr>
      <vt:lpstr>Arial</vt:lpstr>
      <vt:lpstr>Office Theme</vt:lpstr>
      <vt:lpstr>Secure Electronic Transactions (SET)</vt:lpstr>
      <vt:lpstr>SET Components</vt:lpstr>
      <vt:lpstr>SET Transaction</vt:lpstr>
      <vt:lpstr>Dual Signature</vt:lpstr>
      <vt:lpstr>Purchase Request – Customer</vt:lpstr>
      <vt:lpstr>Purchase Request – Merchant</vt:lpstr>
      <vt:lpstr>Purchase Request – Merchant</vt:lpstr>
      <vt:lpstr>Payment Gateway Authorization</vt:lpstr>
      <vt:lpstr>Payment Capture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3/e</dc:title>
  <dc:subject>Lecture Overheads - Ch 17</dc:subject>
  <dc:creator>Dr Lawrie Brown</dc:creator>
  <cp:lastModifiedBy>Sreethar S</cp:lastModifiedBy>
  <cp:revision>2</cp:revision>
  <dcterms:created xsi:type="dcterms:W3CDTF">2024-04-25T16:35:23Z</dcterms:created>
  <dcterms:modified xsi:type="dcterms:W3CDTF">2025-04-03T23:25:25Z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2024-04-25T00:00:00Z</vt:filetime>
  </property>
  <property fmtid="{D5CDD505-2E9C-101B-9397-08002B2CF9AE}" pid="5" name="Producer">
    <vt:lpwstr>Microsoft® PowerPoint® 2016</vt:lpwstr>
  </property>
</Properties>
</file>