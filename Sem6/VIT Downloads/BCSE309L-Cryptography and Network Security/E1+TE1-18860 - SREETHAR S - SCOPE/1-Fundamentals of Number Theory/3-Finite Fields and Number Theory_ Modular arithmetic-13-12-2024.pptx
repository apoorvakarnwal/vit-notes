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90" r:id="rId3"/>
    <p:sldId id="293" r:id="rId4"/>
    <p:sldId id="294" r:id="rId5"/>
    <p:sldId id="291" r:id="rId6"/>
    <p:sldId id="292" r:id="rId7"/>
    <p:sldId id="295" r:id="rId8"/>
    <p:sldId id="296" r:id="rId9"/>
    <p:sldId id="297" r:id="rId10"/>
    <p:sldId id="278" r:id="rId11"/>
    <p:sldId id="300" r:id="rId12"/>
    <p:sldId id="282" r:id="rId13"/>
    <p:sldId id="29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C1FB-01C9-457E-B407-32A75D40B513}" type="datetimeFigureOut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86C4-F9A6-4544-AD76-EE3F0098DD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13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Modular arithmetic or clock arithmetic </a:t>
            </a:r>
          </a:p>
          <a:p>
            <a:r>
              <a:rPr lang="en-IN" dirty="0"/>
              <a:t>For ex, to find 46 mod 12, v could take a rope of 46 units &amp; rap it around a clock of 12 units, which is called as modulus. And where the rope ends is the solution.</a:t>
            </a:r>
          </a:p>
          <a:p>
            <a:r>
              <a:rPr lang="en-IN" dirty="0"/>
              <a:t>So v could say 46 mod 12 is congruent to 10.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E7AD-E0D9-48F6-97E4-4C9350FC047A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6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476-E0B3-40B1-A870-C39583A9D781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00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1F21B-F1EC-48C4-A5B2-3AC1BF685E11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80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39B4-91E9-485B-9326-2BC3FFF25360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1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EA97-6347-4D8C-899F-5EC05F9F3DD2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2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92AD-3E5C-4ADA-B9B2-861D5C63153D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83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ECE5C-9547-4405-A48C-CFD72D634A9E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4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A64A-06BB-4ACC-8423-FCAF58D67366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6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1149-9682-426D-81DE-D02BE79C1CDA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1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BF8B-417A-44A7-90BA-5ABEDCB2C555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7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BCD0-9B0C-4DE4-B815-64672C698251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81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AA8FA-7A5C-4399-AC36-FE43B1750EF0}" type="datetime1">
              <a:rPr lang="en-IN" smtClean="0"/>
              <a:pPr/>
              <a:t>30-01-2024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62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Modular </a:t>
            </a:r>
            <a:r>
              <a:rPr lang="en-US" dirty="0"/>
              <a:t>Arithmetic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77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Arithmetic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292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Central mathematical concept in cryptography.</a:t>
            </a:r>
          </a:p>
          <a:p>
            <a:pPr algn="just"/>
            <a:r>
              <a:rPr lang="en-US" dirty="0"/>
              <a:t>It is an arithmetic for integers that focus on the reminder. </a:t>
            </a:r>
          </a:p>
          <a:p>
            <a:pPr algn="just"/>
            <a:r>
              <a:rPr lang="en-US" dirty="0"/>
              <a:t>Wrap around after reaching a certain value called a modulus.</a:t>
            </a:r>
          </a:p>
          <a:p>
            <a:pPr algn="just"/>
            <a:r>
              <a:rPr lang="en-US" b="1" dirty="0"/>
              <a:t>Definition</a:t>
            </a:r>
            <a:r>
              <a:rPr lang="en-US" dirty="0"/>
              <a:t>: “</a:t>
            </a:r>
            <a:r>
              <a:rPr lang="en-US" altLang="en-US" dirty="0"/>
              <a:t>If </a:t>
            </a:r>
            <a:r>
              <a:rPr lang="en-US" altLang="en-US" i="1" dirty="0"/>
              <a:t>a is an integer and n is a positive integer, we define </a:t>
            </a:r>
            <a:r>
              <a:rPr lang="en-US" altLang="en-US" i="1" u="sng" dirty="0"/>
              <a:t>a mod n </a:t>
            </a:r>
            <a:r>
              <a:rPr lang="en-US" altLang="en-US" i="1" dirty="0"/>
              <a:t>to be the remainder </a:t>
            </a:r>
            <a:r>
              <a:rPr lang="en-US" altLang="en-US" dirty="0"/>
              <a:t>when </a:t>
            </a:r>
            <a:r>
              <a:rPr lang="en-US" altLang="en-US" i="1" dirty="0"/>
              <a:t>a is divided by n”. The integer n is called the </a:t>
            </a:r>
            <a:r>
              <a:rPr lang="en-US" altLang="en-US" b="1" i="1" dirty="0">
                <a:solidFill>
                  <a:srgbClr val="FF0000"/>
                </a:solidFill>
              </a:rPr>
              <a:t>modulus. </a:t>
            </a:r>
          </a:p>
          <a:p>
            <a:pPr marL="0" indent="0" algn="just">
              <a:buNone/>
            </a:pPr>
            <a:r>
              <a:rPr lang="pt-BR" altLang="en-US" i="1" dirty="0"/>
              <a:t>               a = qn + r where 0 ≤ r  &lt; n;  q = [a/n];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4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Modulus with an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58204" cy="4525963"/>
          </a:xfrm>
        </p:spPr>
        <p:txBody>
          <a:bodyPr/>
          <a:lstStyle/>
          <a:p>
            <a:r>
              <a:rPr lang="en-IN" dirty="0"/>
              <a:t>Clock analogy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285992"/>
            <a:ext cx="385765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Modulus with an analogy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428868"/>
            <a:ext cx="33147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2214554"/>
            <a:ext cx="4714908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In cryptography, congruence (≡) instead of equality (=).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857496"/>
            <a:ext cx="6762750" cy="315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8317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 or invalid 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857364"/>
            <a:ext cx="18669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Modular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[(a mod n) + (b mod n)] mod n = (a + b) mod n.</a:t>
            </a:r>
          </a:p>
          <a:p>
            <a:r>
              <a:rPr lang="en-IN" dirty="0"/>
              <a:t>[(a mod n) - (b mod n)] mod n  = (a - b) mod n.</a:t>
            </a:r>
          </a:p>
          <a:p>
            <a:r>
              <a:rPr lang="en-IN" dirty="0"/>
              <a:t>[(a mod n) x (b mod n)] mod n = (a x b) mod 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14488"/>
            <a:ext cx="50196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8662" y="4572009"/>
            <a:ext cx="500066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6307" y="3133731"/>
            <a:ext cx="505301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Modular Arithmetic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14414" y="1500174"/>
          <a:ext cx="7215238" cy="4071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/>
                        <a:t>Commutative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dirty="0"/>
                        <a:t> (a + b) mod n = (b + a)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(a x b) mod n = (b x a) mod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/>
                        <a:t>Associative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[(a + b) + c]</a:t>
                      </a:r>
                      <a:r>
                        <a:rPr lang="en-IN" baseline="0" dirty="0"/>
                        <a:t> mod n = </a:t>
                      </a:r>
                      <a:r>
                        <a:rPr lang="en-IN" dirty="0"/>
                        <a:t>[a + (b + c)]</a:t>
                      </a:r>
                      <a:r>
                        <a:rPr lang="en-IN" baseline="0" dirty="0"/>
                        <a:t>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[(a x b) x c]</a:t>
                      </a:r>
                      <a:r>
                        <a:rPr lang="en-IN" baseline="0" dirty="0"/>
                        <a:t> mod n = </a:t>
                      </a:r>
                      <a:r>
                        <a:rPr lang="en-IN" dirty="0"/>
                        <a:t>[a x (b x c)]</a:t>
                      </a:r>
                      <a:r>
                        <a:rPr lang="en-IN" baseline="0" dirty="0"/>
                        <a:t> mod 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13">
                <a:tc>
                  <a:txBody>
                    <a:bodyPr/>
                    <a:lstStyle/>
                    <a:p>
                      <a:r>
                        <a:rPr lang="en-IN" dirty="0"/>
                        <a:t>Distributive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[a x (b + c)] mod n =  [(a x b) + (a x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c)] mod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/>
                        <a:t>Identities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(0 + a) mod n = a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(1 x a) mod n = a mod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335">
                <a:tc>
                  <a:txBody>
                    <a:bodyPr/>
                    <a:lstStyle/>
                    <a:p>
                      <a:r>
                        <a:rPr lang="en-IN" dirty="0"/>
                        <a:t>Additive inverse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dirty="0"/>
                        <a:t> For each a </a:t>
                      </a:r>
                      <a:r>
                        <a:rPr lang="en-IN" dirty="0">
                          <a:sym typeface="Symbol"/>
                        </a:rPr>
                        <a:t> Zn,</a:t>
                      </a:r>
                      <a:r>
                        <a:rPr lang="en-IN" baseline="0" dirty="0">
                          <a:sym typeface="Symbol"/>
                        </a:rPr>
                        <a:t> there exists a ‘-a’ such that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IN" baseline="0" dirty="0">
                          <a:sym typeface="Symbol"/>
                        </a:rPr>
                        <a:t>   a + (-a)  0 mod 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18 mod 12</a:t>
            </a:r>
          </a:p>
          <a:p>
            <a:r>
              <a:rPr lang="en-US" dirty="0"/>
              <a:t>24 mod 12</a:t>
            </a:r>
          </a:p>
          <a:p>
            <a:r>
              <a:rPr lang="en-US" dirty="0"/>
              <a:t>32 mod 12</a:t>
            </a:r>
          </a:p>
          <a:p>
            <a:r>
              <a:rPr lang="en-US" dirty="0"/>
              <a:t>4 mod 12</a:t>
            </a:r>
          </a:p>
          <a:p>
            <a:r>
              <a:rPr lang="en-US" dirty="0"/>
              <a:t>8 mod 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36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3CC3-9E3D-4A6A-85CF-D36B1561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528E-A35E-48B7-B500-615123B46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5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IN" b="1" dirty="0">
                <a:solidFill>
                  <a:srgbClr val="0070C0"/>
                </a:solidFill>
              </a:rPr>
              <a:t>a ≡ r (mod n) </a:t>
            </a:r>
            <a:r>
              <a:rPr lang="en-IN" dirty="0"/>
              <a:t>if r is the remainder obtained by dividing a by n. 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IN" dirty="0"/>
              <a:t>Reflexivity : </a:t>
            </a:r>
            <a:r>
              <a:rPr lang="en-IN" b="1" dirty="0">
                <a:solidFill>
                  <a:srgbClr val="0070C0"/>
                </a:solidFill>
              </a:rPr>
              <a:t>a ≡ a (mod n) 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dirty="0"/>
              <a:t>Symmetry: </a:t>
            </a:r>
          </a:p>
          <a:p>
            <a:pPr marL="914400" lvl="1" indent="-514350" algn="just">
              <a:buNone/>
            </a:pPr>
            <a:r>
              <a:rPr lang="pt-BR" sz="3200" b="1" dirty="0">
                <a:solidFill>
                  <a:srgbClr val="0070C0"/>
                </a:solidFill>
              </a:rPr>
              <a:t>  a </a:t>
            </a:r>
            <a:r>
              <a:rPr lang="en-IN" sz="3200" b="1" dirty="0">
                <a:solidFill>
                  <a:srgbClr val="0070C0"/>
                </a:solidFill>
              </a:rPr>
              <a:t>≡</a:t>
            </a:r>
            <a:r>
              <a:rPr lang="pt-BR" sz="3200" b="1" dirty="0">
                <a:solidFill>
                  <a:srgbClr val="0070C0"/>
                </a:solidFill>
              </a:rPr>
              <a:t> b (mod n) implies b </a:t>
            </a:r>
            <a:r>
              <a:rPr lang="en-IN" sz="3200" b="1" dirty="0">
                <a:solidFill>
                  <a:srgbClr val="0070C0"/>
                </a:solidFill>
              </a:rPr>
              <a:t>≡</a:t>
            </a:r>
            <a:r>
              <a:rPr lang="pt-BR" sz="3200" b="1" dirty="0">
                <a:solidFill>
                  <a:srgbClr val="0070C0"/>
                </a:solidFill>
              </a:rPr>
              <a:t> a (mod n) 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pt-BR" dirty="0"/>
              <a:t>Transitivity: </a:t>
            </a:r>
          </a:p>
          <a:p>
            <a:pPr marL="514350" indent="-514350" algn="just">
              <a:buNone/>
            </a:pPr>
            <a:r>
              <a:rPr lang="pt-BR" i="1" dirty="0"/>
              <a:t>      </a:t>
            </a:r>
            <a:r>
              <a:rPr lang="pt-BR" b="1" dirty="0">
                <a:solidFill>
                  <a:srgbClr val="0070C0"/>
                </a:solidFill>
              </a:rPr>
              <a:t>a </a:t>
            </a:r>
            <a:r>
              <a:rPr lang="en-IN" b="1" dirty="0">
                <a:solidFill>
                  <a:srgbClr val="0070C0"/>
                </a:solidFill>
              </a:rPr>
              <a:t>≡ </a:t>
            </a:r>
            <a:r>
              <a:rPr lang="pt-BR" b="1" dirty="0">
                <a:solidFill>
                  <a:srgbClr val="0070C0"/>
                </a:solidFill>
              </a:rPr>
              <a:t>b (mod n) and b </a:t>
            </a:r>
            <a:r>
              <a:rPr lang="en-IN" b="1" dirty="0">
                <a:solidFill>
                  <a:srgbClr val="0070C0"/>
                </a:solidFill>
              </a:rPr>
              <a:t>≡</a:t>
            </a:r>
            <a:r>
              <a:rPr lang="pt-BR" b="1" dirty="0">
                <a:solidFill>
                  <a:srgbClr val="0070C0"/>
                </a:solidFill>
              </a:rPr>
              <a:t> c (mod n) implies</a:t>
            </a:r>
          </a:p>
          <a:p>
            <a:pPr marL="514350" indent="-514350" algn="just">
              <a:buNone/>
            </a:pPr>
            <a:r>
              <a:rPr lang="pt-BR" b="1" dirty="0">
                <a:solidFill>
                  <a:srgbClr val="0070C0"/>
                </a:solidFill>
              </a:rPr>
              <a:t>      a </a:t>
            </a:r>
            <a:r>
              <a:rPr lang="en-IN" b="1" dirty="0">
                <a:solidFill>
                  <a:srgbClr val="0070C0"/>
                </a:solidFill>
              </a:rPr>
              <a:t>≡ </a:t>
            </a:r>
            <a:r>
              <a:rPr lang="pt-BR" b="1" dirty="0">
                <a:solidFill>
                  <a:srgbClr val="0070C0"/>
                </a:solidFill>
              </a:rPr>
              <a:t>c (mod n). 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646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Points to remember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N mod M = Remainder.</a:t>
            </a:r>
          </a:p>
          <a:p>
            <a:pPr algn="just"/>
            <a:r>
              <a:rPr lang="en-IN" dirty="0"/>
              <a:t>If N is less than M then N mod M = N.</a:t>
            </a:r>
          </a:p>
          <a:p>
            <a:pPr algn="just"/>
            <a:r>
              <a:rPr lang="en-IN" dirty="0"/>
              <a:t>For negative numbers consider anti-clockwise direction.</a:t>
            </a:r>
          </a:p>
          <a:p>
            <a:pPr algn="just"/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3571876"/>
            <a:ext cx="4200521" cy="2238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535</Words>
  <Application>Microsoft Office PowerPoint</Application>
  <PresentationFormat>On-screen Show (4:3)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Symbol</vt:lpstr>
      <vt:lpstr>Office Theme</vt:lpstr>
      <vt:lpstr>Modular Arithmetic  </vt:lpstr>
      <vt:lpstr>Modular Arithmetic </vt:lpstr>
      <vt:lpstr>Modulus with an analogy</vt:lpstr>
      <vt:lpstr>Modulus with an analogy</vt:lpstr>
      <vt:lpstr>Congruence</vt:lpstr>
      <vt:lpstr>Valid or invalid ?</vt:lpstr>
      <vt:lpstr>Properties of Modular Arithmetic</vt:lpstr>
      <vt:lpstr>Example</vt:lpstr>
      <vt:lpstr>Properties of Modular Arithmetic</vt:lpstr>
      <vt:lpstr>Exercise </vt:lpstr>
      <vt:lpstr>PowerPoint Presentation</vt:lpstr>
      <vt:lpstr>Properties of Congruence</vt:lpstr>
      <vt:lpstr>Points to remember 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- Basics</dc:title>
  <dc:creator>admin</dc:creator>
  <cp:lastModifiedBy>Sreethar S</cp:lastModifiedBy>
  <cp:revision>168</cp:revision>
  <dcterms:created xsi:type="dcterms:W3CDTF">2020-07-09T05:35:26Z</dcterms:created>
  <dcterms:modified xsi:type="dcterms:W3CDTF">2024-01-30T05:31:43Z</dcterms:modified>
</cp:coreProperties>
</file>