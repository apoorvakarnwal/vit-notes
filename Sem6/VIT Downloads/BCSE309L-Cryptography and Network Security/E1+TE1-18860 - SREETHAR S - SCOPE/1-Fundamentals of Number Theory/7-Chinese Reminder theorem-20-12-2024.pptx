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67" r:id="rId3"/>
    <p:sldId id="268" r:id="rId4"/>
    <p:sldId id="269" r:id="rId5"/>
    <p:sldId id="273" r:id="rId6"/>
    <p:sldId id="271" r:id="rId7"/>
    <p:sldId id="272" r:id="rId8"/>
    <p:sldId id="262" r:id="rId9"/>
    <p:sldId id="274" r:id="rId10"/>
    <p:sldId id="277" r:id="rId11"/>
    <p:sldId id="279" r:id="rId12"/>
    <p:sldId id="280" r:id="rId13"/>
    <p:sldId id="281" r:id="rId14"/>
    <p:sldId id="282" r:id="rId15"/>
    <p:sldId id="283" r:id="rId16"/>
    <p:sldId id="263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080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3DA097-50BF-4120-8001-D4A4726E3F95}" type="datetimeFigureOut">
              <a:rPr lang="en-IN" smtClean="0"/>
              <a:pPr/>
              <a:t>31-01-2024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E64609-9959-41A2-91B2-A581E80D383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863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9089-F581-463A-B96A-0E85307335C8}" type="datetimeFigureOut">
              <a:rPr lang="en-IN" smtClean="0"/>
              <a:pPr/>
              <a:t>31-01-2024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43DD-5EE2-41FA-B145-BA228D625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418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9089-F581-463A-B96A-0E85307335C8}" type="datetimeFigureOut">
              <a:rPr lang="en-IN" smtClean="0"/>
              <a:pPr/>
              <a:t>31-01-2024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43DD-5EE2-41FA-B145-BA228D625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2340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9089-F581-463A-B96A-0E85307335C8}" type="datetimeFigureOut">
              <a:rPr lang="en-IN" smtClean="0"/>
              <a:pPr/>
              <a:t>31-01-2024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43DD-5EE2-41FA-B145-BA228D625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942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9089-F581-463A-B96A-0E85307335C8}" type="datetimeFigureOut">
              <a:rPr lang="en-IN" smtClean="0"/>
              <a:pPr/>
              <a:t>31-01-2024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43DD-5EE2-41FA-B145-BA228D625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1445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9089-F581-463A-B96A-0E85307335C8}" type="datetimeFigureOut">
              <a:rPr lang="en-IN" smtClean="0"/>
              <a:pPr/>
              <a:t>31-01-2024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43DD-5EE2-41FA-B145-BA228D625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637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9089-F581-463A-B96A-0E85307335C8}" type="datetimeFigureOut">
              <a:rPr lang="en-IN" smtClean="0"/>
              <a:pPr/>
              <a:t>31-01-2024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43DD-5EE2-41FA-B145-BA228D625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167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9089-F581-463A-B96A-0E85307335C8}" type="datetimeFigureOut">
              <a:rPr lang="en-IN" smtClean="0"/>
              <a:pPr/>
              <a:t>31-01-2024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43DD-5EE2-41FA-B145-BA228D625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529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9089-F581-463A-B96A-0E85307335C8}" type="datetimeFigureOut">
              <a:rPr lang="en-IN" smtClean="0"/>
              <a:pPr/>
              <a:t>31-01-2024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43DD-5EE2-41FA-B145-BA228D625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533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9089-F581-463A-B96A-0E85307335C8}" type="datetimeFigureOut">
              <a:rPr lang="en-IN" smtClean="0"/>
              <a:pPr/>
              <a:t>31-01-2024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43DD-5EE2-41FA-B145-BA228D625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267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9089-F581-463A-B96A-0E85307335C8}" type="datetimeFigureOut">
              <a:rPr lang="en-IN" smtClean="0"/>
              <a:pPr/>
              <a:t>31-01-2024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43DD-5EE2-41FA-B145-BA228D625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806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9089-F581-463A-B96A-0E85307335C8}" type="datetimeFigureOut">
              <a:rPr lang="en-IN" smtClean="0"/>
              <a:pPr/>
              <a:t>31-01-2024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43DD-5EE2-41FA-B145-BA228D625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700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F39089-F581-463A-B96A-0E85307335C8}" type="datetimeFigureOut">
              <a:rPr lang="en-IN" smtClean="0"/>
              <a:pPr/>
              <a:t>31-01-2024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543DD-5EE2-41FA-B145-BA228D625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41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7030A0"/>
                </a:solidFill>
              </a:rPr>
              <a:t>Chinese Remainder Theorem </a:t>
            </a:r>
            <a:endParaRPr lang="en-IN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8139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Chinese Remainder Theorem (CRT)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768865"/>
          </a:xfrm>
        </p:spPr>
        <p:txBody>
          <a:bodyPr>
            <a:normAutofit/>
          </a:bodyPr>
          <a:lstStyle/>
          <a:p>
            <a:pPr algn="just"/>
            <a:r>
              <a:rPr lang="en-IN" sz="2400" dirty="0"/>
              <a:t>The Chinese Remainder Theorem (CRT) is used to solve a </a:t>
            </a:r>
            <a:r>
              <a:rPr lang="en-IN" sz="2400" b="1" dirty="0">
                <a:solidFill>
                  <a:srgbClr val="FF0000"/>
                </a:solidFill>
              </a:rPr>
              <a:t>set of different congruent equations with one variable but different </a:t>
            </a:r>
            <a:r>
              <a:rPr lang="en-IN" sz="2400" b="1" dirty="0" err="1">
                <a:solidFill>
                  <a:srgbClr val="FF0000"/>
                </a:solidFill>
              </a:rPr>
              <a:t>moduli</a:t>
            </a:r>
            <a:r>
              <a:rPr lang="en-IN" sz="2400" b="1" dirty="0">
                <a:solidFill>
                  <a:srgbClr val="FF0000"/>
                </a:solidFill>
              </a:rPr>
              <a:t> which are relatively prime</a:t>
            </a:r>
            <a:r>
              <a:rPr lang="en-IN" sz="2400" dirty="0"/>
              <a:t> as shown below;</a:t>
            </a:r>
          </a:p>
          <a:p>
            <a:pPr marL="1547813" indent="0">
              <a:buNone/>
            </a:pPr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X ≡  a</a:t>
            </a:r>
            <a:r>
              <a:rPr lang="en-IN" sz="2400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 </a:t>
            </a:r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(mod m</a:t>
            </a:r>
            <a:r>
              <a:rPr lang="en-IN" sz="2400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</a:t>
            </a:r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1547813" indent="0">
              <a:buNone/>
            </a:pPr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X ≡  a</a:t>
            </a:r>
            <a:r>
              <a:rPr lang="en-IN" sz="2400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2 </a:t>
            </a:r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(mod m</a:t>
            </a:r>
            <a:r>
              <a:rPr lang="en-IN" sz="2400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2</a:t>
            </a:r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1547813" indent="0">
              <a:buNone/>
            </a:pPr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...</a:t>
            </a:r>
          </a:p>
          <a:p>
            <a:pPr marL="1547813" indent="0">
              <a:buNone/>
            </a:pPr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X ≡ </a:t>
            </a:r>
            <a:r>
              <a:rPr lang="en-IN" sz="2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a</a:t>
            </a:r>
            <a:r>
              <a:rPr lang="en-IN" sz="2400" b="1" baseline="-250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k</a:t>
            </a:r>
            <a:r>
              <a:rPr lang="en-IN" sz="2400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 mod </a:t>
            </a:r>
            <a:r>
              <a:rPr lang="en-IN" sz="2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</a:t>
            </a:r>
            <a:r>
              <a:rPr lang="en-IN" sz="2400" b="1" baseline="-250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k</a:t>
            </a:r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</a:p>
          <a:p>
            <a:pPr algn="just"/>
            <a:r>
              <a:rPr lang="en-IN" sz="2400" dirty="0"/>
              <a:t>CRT states that the above equations have a unique solution of the </a:t>
            </a:r>
            <a:r>
              <a:rPr lang="en-IN" sz="2400" dirty="0" err="1"/>
              <a:t>moduli</a:t>
            </a:r>
            <a:r>
              <a:rPr lang="en-IN" sz="2400" dirty="0"/>
              <a:t> are relatively prime. </a:t>
            </a:r>
          </a:p>
          <a:p>
            <a:pPr algn="just"/>
            <a:r>
              <a:rPr lang="en-IN" sz="2400" b="1" u="sng" dirty="0"/>
              <a:t>Formula for finding X:</a:t>
            </a:r>
          </a:p>
          <a:p>
            <a:pPr marL="342900" lvl="1" indent="-342900" algn="just">
              <a:buNone/>
            </a:pPr>
            <a:r>
              <a:rPr lang="pt-BR" dirty="0"/>
              <a:t>	    </a:t>
            </a:r>
            <a:r>
              <a:rPr lang="pt-B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X = (a</a:t>
            </a:r>
            <a:r>
              <a:rPr lang="pt-BR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</a:t>
            </a:r>
            <a:r>
              <a:rPr lang="pt-B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</a:t>
            </a:r>
            <a:r>
              <a:rPr lang="pt-BR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</a:t>
            </a:r>
            <a:r>
              <a:rPr lang="pt-B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</a:t>
            </a:r>
            <a:r>
              <a:rPr lang="pt-BR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</a:t>
            </a:r>
            <a:r>
              <a:rPr lang="pt-BR" b="1" baseline="30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-1</a:t>
            </a:r>
            <a:r>
              <a:rPr lang="pt-B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+ a</a:t>
            </a:r>
            <a:r>
              <a:rPr lang="pt-BR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2</a:t>
            </a:r>
            <a:r>
              <a:rPr lang="pt-B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</a:t>
            </a:r>
            <a:r>
              <a:rPr lang="pt-BR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2</a:t>
            </a:r>
            <a:r>
              <a:rPr lang="pt-B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</a:t>
            </a:r>
            <a:r>
              <a:rPr lang="pt-BR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2</a:t>
            </a:r>
            <a:r>
              <a:rPr lang="pt-BR" b="1" baseline="30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-1</a:t>
            </a:r>
            <a:r>
              <a:rPr lang="pt-B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+ ... + a</a:t>
            </a:r>
            <a:r>
              <a:rPr lang="pt-BR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</a:t>
            </a:r>
            <a:r>
              <a:rPr lang="pt-B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</a:t>
            </a:r>
            <a:r>
              <a:rPr lang="pt-BR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</a:t>
            </a:r>
            <a:r>
              <a:rPr lang="pt-B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</a:t>
            </a:r>
            <a:r>
              <a:rPr lang="pt-BR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</a:t>
            </a:r>
            <a:r>
              <a:rPr lang="pt-BR" b="1" baseline="30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-1</a:t>
            </a:r>
            <a:r>
              <a:rPr lang="pt-B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)mod M</a:t>
            </a:r>
          </a:p>
          <a:p>
            <a:pPr algn="just"/>
            <a:endParaRPr lang="en-IN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- 1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4911741"/>
          </a:xfrm>
        </p:spPr>
        <p:txBody>
          <a:bodyPr>
            <a:normAutofit lnSpcReduction="10000"/>
          </a:bodyPr>
          <a:lstStyle/>
          <a:p>
            <a:r>
              <a:rPr lang="en-IN" dirty="0"/>
              <a:t>Solve the following equation using CRT.</a:t>
            </a:r>
          </a:p>
          <a:p>
            <a:pPr marL="1547813" indent="0">
              <a:buNone/>
            </a:pPr>
            <a:r>
              <a:rPr lang="en-IN" dirty="0"/>
              <a:t>X ≡  2 (mod 3)</a:t>
            </a:r>
          </a:p>
          <a:p>
            <a:pPr marL="1547813" indent="0">
              <a:buNone/>
            </a:pPr>
            <a:r>
              <a:rPr lang="en-IN" dirty="0"/>
              <a:t>X ≡  3 (mod 5)</a:t>
            </a:r>
          </a:p>
          <a:p>
            <a:pPr marL="1547813" indent="0">
              <a:buNone/>
            </a:pPr>
            <a:r>
              <a:rPr lang="en-IN" dirty="0"/>
              <a:t>X ≡  2 (mod 7)</a:t>
            </a:r>
          </a:p>
          <a:p>
            <a:r>
              <a:rPr lang="en-IN" dirty="0"/>
              <a:t>Solution: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Step 1:</a:t>
            </a:r>
            <a:r>
              <a:rPr lang="en-IN" dirty="0"/>
              <a:t> Checking Relatively Prime</a:t>
            </a:r>
          </a:p>
          <a:p>
            <a:pPr marL="0" indent="0">
              <a:buNone/>
            </a:pPr>
            <a:r>
              <a:rPr lang="en-IN" dirty="0"/>
              <a:t>               (3,5) (5,7) and (7,3) -&gt; </a:t>
            </a:r>
            <a:r>
              <a:rPr lang="en-IN" dirty="0">
                <a:solidFill>
                  <a:srgbClr val="FF0000"/>
                </a:solidFill>
              </a:rPr>
              <a:t>relatively prime</a:t>
            </a:r>
            <a:r>
              <a:rPr lang="en-IN" dirty="0"/>
              <a:t> </a:t>
            </a:r>
          </a:p>
          <a:p>
            <a:endParaRPr lang="en-IN" dirty="0"/>
          </a:p>
          <a:p>
            <a:pPr>
              <a:buNone/>
            </a:pPr>
            <a:r>
              <a:rPr lang="pt-BR" sz="2800" dirty="0"/>
              <a:t>    </a:t>
            </a:r>
            <a:endParaRPr lang="en-IN" dirty="0"/>
          </a:p>
          <a:p>
            <a:pPr marL="1547813" indent="0">
              <a:buNone/>
            </a:pPr>
            <a:endParaRPr lang="en-IN" dirty="0"/>
          </a:p>
          <a:p>
            <a:pPr marL="1547813" indent="0">
              <a:buNone/>
            </a:pPr>
            <a:endParaRPr lang="en-IN" dirty="0"/>
          </a:p>
          <a:p>
            <a:pPr marL="1547813" indent="0">
              <a:buNone/>
            </a:pPr>
            <a:endParaRPr lang="en-IN" dirty="0"/>
          </a:p>
          <a:p>
            <a:endParaRPr lang="en-IN" dirty="0"/>
          </a:p>
          <a:p>
            <a:pPr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Example - 1 </a:t>
            </a:r>
            <a:br>
              <a:rPr lang="en-IN" dirty="0"/>
            </a:br>
            <a:r>
              <a:rPr lang="en-IN" dirty="0"/>
              <a:t>                                                  (</a:t>
            </a:r>
            <a:r>
              <a:rPr lang="en-IN" dirty="0" err="1"/>
              <a:t>Contd</a:t>
            </a:r>
            <a:r>
              <a:rPr lang="en-IN" dirty="0"/>
              <a:t>…..)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857364"/>
            <a:ext cx="7486650" cy="245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Example - 1 </a:t>
            </a:r>
            <a:br>
              <a:rPr lang="en-IN" dirty="0"/>
            </a:br>
            <a:r>
              <a:rPr lang="en-IN" dirty="0"/>
              <a:t>                                                  (</a:t>
            </a:r>
            <a:r>
              <a:rPr lang="en-IN" dirty="0" err="1"/>
              <a:t>Contd</a:t>
            </a:r>
            <a:r>
              <a:rPr lang="en-IN" dirty="0"/>
              <a:t>…..)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469742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dirty="0">
                <a:solidFill>
                  <a:srgbClr val="FF0000"/>
                </a:solidFill>
              </a:rPr>
              <a:t>Step 2:</a:t>
            </a:r>
            <a:r>
              <a:rPr lang="en-IN" dirty="0"/>
              <a:t>  </a:t>
            </a:r>
          </a:p>
          <a:p>
            <a:pPr>
              <a:buNone/>
            </a:pPr>
            <a:r>
              <a:rPr lang="en-IN" dirty="0"/>
              <a:t>   M = m</a:t>
            </a:r>
            <a:r>
              <a:rPr lang="en-IN" baseline="-25000" dirty="0"/>
              <a:t>1 </a:t>
            </a:r>
            <a:r>
              <a:rPr lang="en-IN" dirty="0"/>
              <a:t>x m</a:t>
            </a:r>
            <a:r>
              <a:rPr lang="en-IN" baseline="-25000" dirty="0"/>
              <a:t>2</a:t>
            </a:r>
            <a:r>
              <a:rPr lang="en-IN" dirty="0"/>
              <a:t> x m</a:t>
            </a:r>
            <a:r>
              <a:rPr lang="en-IN" baseline="-25000" dirty="0"/>
              <a:t>3</a:t>
            </a:r>
          </a:p>
          <a:p>
            <a:pPr>
              <a:buNone/>
            </a:pPr>
            <a:r>
              <a:rPr lang="en-IN" dirty="0"/>
              <a:t>        = 3 x 5 x 7 </a:t>
            </a:r>
          </a:p>
          <a:p>
            <a:pPr>
              <a:buNone/>
            </a:pPr>
            <a:r>
              <a:rPr lang="en-IN" dirty="0"/>
              <a:t>        = 105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3786190"/>
            <a:ext cx="7543800" cy="252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Example - 1 </a:t>
            </a:r>
            <a:br>
              <a:rPr lang="en-IN" dirty="0"/>
            </a:br>
            <a:r>
              <a:rPr lang="en-IN" dirty="0"/>
              <a:t>                                                  (</a:t>
            </a:r>
            <a:r>
              <a:rPr lang="en-IN" dirty="0" err="1"/>
              <a:t>Contd</a:t>
            </a:r>
            <a:r>
              <a:rPr lang="en-IN" dirty="0"/>
              <a:t>…..)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1357298"/>
            <a:ext cx="626745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2976" y="3857628"/>
            <a:ext cx="7581900" cy="262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785786" y="1071546"/>
            <a:ext cx="13574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IN" sz="2800" dirty="0">
                <a:solidFill>
                  <a:srgbClr val="FF0000"/>
                </a:solidFill>
              </a:rPr>
              <a:t>Step 3:</a:t>
            </a:r>
            <a:r>
              <a:rPr lang="en-IN" sz="2800" dirty="0"/>
              <a:t>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Example - 1 </a:t>
            </a:r>
            <a:br>
              <a:rPr lang="en-IN" dirty="0"/>
            </a:br>
            <a:r>
              <a:rPr lang="en-IN" dirty="0"/>
              <a:t>                                                  (</a:t>
            </a:r>
            <a:r>
              <a:rPr lang="en-IN" dirty="0" err="1"/>
              <a:t>Contd</a:t>
            </a:r>
            <a:r>
              <a:rPr lang="en-IN" dirty="0"/>
              <a:t>…..)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500174"/>
            <a:ext cx="8467725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24" y="3786190"/>
            <a:ext cx="75438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428596" y="1000108"/>
            <a:ext cx="13574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IN" sz="2800" dirty="0">
                <a:solidFill>
                  <a:srgbClr val="FF0000"/>
                </a:solidFill>
              </a:rPr>
              <a:t>Step 4:</a:t>
            </a:r>
            <a:r>
              <a:rPr lang="en-IN" sz="2800" dirty="0"/>
              <a:t>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77B70-1152-EA49-ADFD-AC1E3207A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Example - 1 </a:t>
            </a:r>
            <a:br>
              <a:rPr lang="en-IN" dirty="0"/>
            </a:br>
            <a:r>
              <a:rPr lang="en-IN" dirty="0"/>
              <a:t>                                                  (</a:t>
            </a:r>
            <a:r>
              <a:rPr lang="en-IN" dirty="0" err="1"/>
              <a:t>Contd</a:t>
            </a:r>
            <a:r>
              <a:rPr lang="en-IN" dirty="0"/>
              <a:t>…..)</a:t>
            </a:r>
            <a:endParaRPr lang="en-IN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9C691-90CE-A932-E7BD-7F3512E61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4697427"/>
          </a:xfrm>
        </p:spPr>
        <p:txBody>
          <a:bodyPr/>
          <a:lstStyle/>
          <a:p>
            <a:pPr marL="457200" lvl="1" indent="0">
              <a:buNone/>
            </a:pPr>
            <a:r>
              <a:rPr lang="pt-BR" sz="3200" dirty="0">
                <a:solidFill>
                  <a:srgbClr val="FF0000"/>
                </a:solidFill>
              </a:rPr>
              <a:t>Step 5:</a:t>
            </a:r>
          </a:p>
          <a:p>
            <a:pPr marL="457200" lvl="1" indent="0">
              <a:buNone/>
            </a:pPr>
            <a:r>
              <a:rPr lang="pt-BR" sz="3200" dirty="0"/>
              <a:t>X = (a</a:t>
            </a:r>
            <a:r>
              <a:rPr lang="pt-BR" sz="3200" baseline="-25000" dirty="0"/>
              <a:t>1</a:t>
            </a:r>
            <a:r>
              <a:rPr lang="pt-BR" sz="3200" dirty="0"/>
              <a:t>M</a:t>
            </a:r>
            <a:r>
              <a:rPr lang="pt-BR" sz="3200" baseline="-25000" dirty="0"/>
              <a:t>1</a:t>
            </a:r>
            <a:r>
              <a:rPr lang="pt-BR" sz="3200" dirty="0"/>
              <a:t>M</a:t>
            </a:r>
            <a:r>
              <a:rPr lang="pt-BR" sz="3200" baseline="-25000" dirty="0"/>
              <a:t>1</a:t>
            </a:r>
            <a:r>
              <a:rPr lang="pt-BR" sz="3200" baseline="30000" dirty="0"/>
              <a:t>-1</a:t>
            </a:r>
            <a:r>
              <a:rPr lang="pt-BR" sz="3200" dirty="0"/>
              <a:t> + a</a:t>
            </a:r>
            <a:r>
              <a:rPr lang="pt-BR" sz="3200" baseline="-25000" dirty="0"/>
              <a:t>2</a:t>
            </a:r>
            <a:r>
              <a:rPr lang="pt-BR" sz="3200" dirty="0"/>
              <a:t>M</a:t>
            </a:r>
            <a:r>
              <a:rPr lang="pt-BR" sz="3200" baseline="-25000" dirty="0"/>
              <a:t>2</a:t>
            </a:r>
            <a:r>
              <a:rPr lang="pt-BR" sz="3200" dirty="0"/>
              <a:t>M</a:t>
            </a:r>
            <a:r>
              <a:rPr lang="pt-BR" sz="3200" baseline="-25000" dirty="0"/>
              <a:t>2</a:t>
            </a:r>
            <a:r>
              <a:rPr lang="pt-BR" sz="3200" baseline="30000" dirty="0"/>
              <a:t>-1</a:t>
            </a:r>
            <a:r>
              <a:rPr lang="pt-BR" sz="3200" dirty="0"/>
              <a:t> + a</a:t>
            </a:r>
            <a:r>
              <a:rPr lang="pt-BR" sz="3200" baseline="-25000" dirty="0"/>
              <a:t>3</a:t>
            </a:r>
            <a:r>
              <a:rPr lang="pt-BR" sz="3200" dirty="0"/>
              <a:t>M</a:t>
            </a:r>
            <a:r>
              <a:rPr lang="pt-BR" sz="3200" baseline="-25000" dirty="0"/>
              <a:t>3</a:t>
            </a:r>
            <a:r>
              <a:rPr lang="pt-BR" sz="3200" dirty="0"/>
              <a:t>M</a:t>
            </a:r>
            <a:r>
              <a:rPr lang="pt-BR" sz="3200" baseline="-25000" dirty="0"/>
              <a:t>3</a:t>
            </a:r>
            <a:r>
              <a:rPr lang="pt-BR" sz="3200" baseline="30000" dirty="0"/>
              <a:t>-1</a:t>
            </a:r>
            <a:r>
              <a:rPr lang="pt-BR" sz="3200" dirty="0"/>
              <a:t> )mod M</a:t>
            </a:r>
          </a:p>
          <a:p>
            <a:pPr marL="457200" lvl="1" indent="0">
              <a:buNone/>
            </a:pPr>
            <a:r>
              <a:rPr lang="pt-BR" sz="3200" dirty="0"/>
              <a:t>   =  (2x35x2    + 3x12x1     + 2x51x1) mod 105</a:t>
            </a:r>
          </a:p>
          <a:p>
            <a:pPr marL="457200" lvl="1" indent="0">
              <a:buNone/>
            </a:pPr>
            <a:r>
              <a:rPr lang="pt-BR" sz="3200" dirty="0"/>
              <a:t>   =  233 mod 105</a:t>
            </a:r>
          </a:p>
          <a:p>
            <a:pPr marL="457200" lvl="1" indent="0">
              <a:buNone/>
            </a:pPr>
            <a:r>
              <a:rPr lang="pt-BR" sz="3200" dirty="0"/>
              <a:t>   = 23</a:t>
            </a:r>
          </a:p>
          <a:p>
            <a:pPr marL="457200" lvl="1" indent="0">
              <a:buNone/>
            </a:pPr>
            <a:endParaRPr lang="pt-BR" sz="3200" dirty="0"/>
          </a:p>
          <a:p>
            <a:pPr marL="457200" lvl="1" indent="0">
              <a:buNone/>
            </a:pPr>
            <a:endParaRPr lang="en-IN" sz="3200" baseline="-25000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1472" y="4429132"/>
            <a:ext cx="80861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Note: </a:t>
            </a:r>
            <a:r>
              <a:rPr lang="en-IN" sz="2400" dirty="0"/>
              <a:t>Finally verify the value of X = 23 in the given equation </a:t>
            </a:r>
            <a:r>
              <a:rPr lang="en-IN" sz="2400" dirty="0" err="1"/>
              <a:t>i.e</a:t>
            </a:r>
            <a:r>
              <a:rPr lang="en-IN" sz="2400" dirty="0"/>
              <a:t>;</a:t>
            </a:r>
          </a:p>
          <a:p>
            <a:r>
              <a:rPr lang="en-IN" sz="2400" dirty="0"/>
              <a:t>    X ≡  2 (mod 3) </a:t>
            </a:r>
            <a:r>
              <a:rPr lang="en-IN" sz="2400" dirty="0">
                <a:sym typeface="Wingdings" pitchFamily="2" charset="2"/>
              </a:rPr>
              <a:t></a:t>
            </a:r>
            <a:r>
              <a:rPr lang="en-IN" sz="2400" dirty="0"/>
              <a:t> 23 ≡  2 (mod 3)  </a:t>
            </a:r>
            <a:r>
              <a:rPr lang="en-IN" sz="2400" dirty="0" err="1"/>
              <a:t>i.e</a:t>
            </a:r>
            <a:r>
              <a:rPr lang="en-IN" sz="2400" dirty="0"/>
              <a:t>  23 % 3 = 2 </a:t>
            </a:r>
          </a:p>
          <a:p>
            <a:r>
              <a:rPr lang="en-IN" sz="2400" dirty="0"/>
              <a:t>    X ≡  3 (mod 5) </a:t>
            </a:r>
            <a:r>
              <a:rPr lang="en-IN" sz="2400" dirty="0">
                <a:sym typeface="Wingdings" pitchFamily="2" charset="2"/>
              </a:rPr>
              <a:t></a:t>
            </a:r>
            <a:r>
              <a:rPr lang="en-IN" sz="2400" dirty="0"/>
              <a:t> 23 ≡  3 (mod 5)  </a:t>
            </a:r>
            <a:r>
              <a:rPr lang="en-IN" sz="2400" dirty="0" err="1"/>
              <a:t>i.e</a:t>
            </a:r>
            <a:r>
              <a:rPr lang="en-IN" sz="2400" dirty="0"/>
              <a:t>  23 % 5 = 3</a:t>
            </a:r>
          </a:p>
          <a:p>
            <a:r>
              <a:rPr lang="en-IN" sz="2400" dirty="0"/>
              <a:t>    X ≡  2 (mod 7) </a:t>
            </a:r>
            <a:r>
              <a:rPr lang="en-IN" sz="2400" dirty="0">
                <a:sym typeface="Wingdings" pitchFamily="2" charset="2"/>
              </a:rPr>
              <a:t></a:t>
            </a:r>
            <a:r>
              <a:rPr lang="en-IN" sz="2400" dirty="0"/>
              <a:t> 23 ≡  2 (mod 7)  </a:t>
            </a:r>
            <a:r>
              <a:rPr lang="en-IN" sz="2400" dirty="0" err="1"/>
              <a:t>i.e</a:t>
            </a:r>
            <a:r>
              <a:rPr lang="en-IN" sz="2400"/>
              <a:t>  23 % 7 </a:t>
            </a:r>
            <a:r>
              <a:rPr lang="en-IN" sz="2400" dirty="0"/>
              <a:t>= 2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57514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- 2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>
            <a:normAutofit/>
          </a:bodyPr>
          <a:lstStyle/>
          <a:p>
            <a:r>
              <a:rPr lang="en-IN" sz="2000" dirty="0"/>
              <a:t>Solve the following equation using CRT.</a:t>
            </a:r>
          </a:p>
          <a:p>
            <a:pPr>
              <a:buNone/>
            </a:pPr>
            <a:r>
              <a:rPr lang="en-IN" sz="2000" dirty="0"/>
              <a:t>			4X ≡  5 (mod 9)</a:t>
            </a:r>
          </a:p>
          <a:p>
            <a:pPr>
              <a:buNone/>
            </a:pPr>
            <a:r>
              <a:rPr lang="en-IN" sz="2000" dirty="0"/>
              <a:t>			2X ≡  6 (mod 20)</a:t>
            </a:r>
          </a:p>
          <a:p>
            <a:pPr>
              <a:buNone/>
            </a:pPr>
            <a:r>
              <a:rPr lang="en-IN" sz="2000" b="1" dirty="0">
                <a:solidFill>
                  <a:srgbClr val="FF0000"/>
                </a:solidFill>
              </a:rPr>
              <a:t>Step 1:</a:t>
            </a:r>
          </a:p>
          <a:p>
            <a:pPr>
              <a:buNone/>
            </a:pPr>
            <a:r>
              <a:rPr lang="en-IN" sz="2000" dirty="0"/>
              <a:t>Rewrite the given equations</a:t>
            </a:r>
          </a:p>
          <a:p>
            <a:endParaRPr lang="en-IN" sz="2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0034" y="3108960"/>
          <a:ext cx="7418578" cy="3505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00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81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43206">
                <a:tc>
                  <a:txBody>
                    <a:bodyPr/>
                    <a:lstStyle/>
                    <a:p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4X ≡  5 (mod 9)</a:t>
                      </a:r>
                    </a:p>
                    <a:p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Multiply by 4</a:t>
                      </a:r>
                      <a:r>
                        <a:rPr lang="en-IN" sz="2000" kern="1200" baseline="30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on both sides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4</a:t>
                      </a:r>
                      <a:r>
                        <a:rPr lang="en-IN" sz="2000" kern="1200" baseline="30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x 4X ≡  4</a:t>
                      </a:r>
                      <a:r>
                        <a:rPr lang="en-IN" sz="2000" kern="1200" baseline="30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x 5 (mod 9)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X ≡  4</a:t>
                      </a:r>
                      <a:r>
                        <a:rPr lang="en-IN" sz="2000" kern="1200" baseline="30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(mod 9) x 5 (mod 9)    Since (4 x 7) % 9 = 1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X ≡  7 x 5 (mod 9)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X ≡  35 (mod 9)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Since 35 % 9 = 8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     X ≡  8 (mod 9)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2X ≡  6 (mod 20)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2X ≡  2 x 3 (mod 20)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kern="1200" noProof="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       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kern="1200" noProof="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        X ≡  3 (mod 20)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sz="3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Connector 6"/>
          <p:cNvCxnSpPr/>
          <p:nvPr/>
        </p:nvCxnSpPr>
        <p:spPr>
          <a:xfrm>
            <a:off x="1214414" y="4357694"/>
            <a:ext cx="1071570" cy="158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Example – 2</a:t>
            </a:r>
            <a:br>
              <a:rPr lang="en-IN" dirty="0"/>
            </a:br>
            <a:r>
              <a:rPr lang="en-IN" dirty="0"/>
              <a:t>                                                (</a:t>
            </a:r>
            <a:r>
              <a:rPr lang="en-IN" dirty="0" err="1"/>
              <a:t>Contd</a:t>
            </a:r>
            <a:r>
              <a:rPr lang="en-IN" dirty="0"/>
              <a:t>…..)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dirty="0">
                <a:solidFill>
                  <a:srgbClr val="FF0000"/>
                </a:solidFill>
              </a:rPr>
              <a:t>Step 2:</a:t>
            </a:r>
          </a:p>
          <a:p>
            <a:pPr marL="342900" lvl="1" indent="-342900">
              <a:buNone/>
            </a:pPr>
            <a:r>
              <a:rPr lang="pt-BR" sz="3200" dirty="0"/>
              <a:t>    X = (a</a:t>
            </a:r>
            <a:r>
              <a:rPr lang="pt-BR" sz="3200" baseline="-25000" dirty="0"/>
              <a:t>1</a:t>
            </a:r>
            <a:r>
              <a:rPr lang="pt-BR" sz="3200" dirty="0"/>
              <a:t>M</a:t>
            </a:r>
            <a:r>
              <a:rPr lang="pt-BR" sz="3200" baseline="-25000" dirty="0"/>
              <a:t>1</a:t>
            </a:r>
            <a:r>
              <a:rPr lang="pt-BR" sz="3200" dirty="0"/>
              <a:t>M</a:t>
            </a:r>
            <a:r>
              <a:rPr lang="pt-BR" sz="3200" baseline="-25000" dirty="0"/>
              <a:t>1</a:t>
            </a:r>
            <a:r>
              <a:rPr lang="pt-BR" sz="3200" baseline="30000" dirty="0"/>
              <a:t>-1</a:t>
            </a:r>
            <a:r>
              <a:rPr lang="pt-BR" sz="3200" dirty="0"/>
              <a:t> + a</a:t>
            </a:r>
            <a:r>
              <a:rPr lang="pt-BR" sz="3200" baseline="-25000" dirty="0"/>
              <a:t>2</a:t>
            </a:r>
            <a:r>
              <a:rPr lang="pt-BR" sz="3200" dirty="0"/>
              <a:t>M</a:t>
            </a:r>
            <a:r>
              <a:rPr lang="pt-BR" sz="3200" baseline="-25000" dirty="0"/>
              <a:t>2</a:t>
            </a:r>
            <a:r>
              <a:rPr lang="pt-BR" sz="3200" dirty="0"/>
              <a:t>M</a:t>
            </a:r>
            <a:r>
              <a:rPr lang="pt-BR" sz="3200" baseline="-25000" dirty="0"/>
              <a:t>2</a:t>
            </a:r>
            <a:r>
              <a:rPr lang="pt-BR" sz="3200" baseline="30000" dirty="0"/>
              <a:t>-1</a:t>
            </a:r>
            <a:r>
              <a:rPr lang="pt-BR" sz="3200" dirty="0"/>
              <a:t> )mod M</a:t>
            </a:r>
          </a:p>
          <a:p>
            <a:endParaRPr lang="en-IN" sz="2000" dirty="0"/>
          </a:p>
          <a:p>
            <a:pPr>
              <a:buNone/>
            </a:pPr>
            <a:r>
              <a:rPr lang="en-IN" sz="2000" dirty="0"/>
              <a:t>		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2643182"/>
            <a:ext cx="7515225" cy="180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Example – 2</a:t>
            </a:r>
            <a:br>
              <a:rPr lang="en-IN" dirty="0"/>
            </a:br>
            <a:r>
              <a:rPr lang="en-IN" dirty="0"/>
              <a:t>                                                (</a:t>
            </a:r>
            <a:r>
              <a:rPr lang="en-IN" dirty="0" err="1"/>
              <a:t>Contd</a:t>
            </a:r>
            <a:r>
              <a:rPr lang="en-IN" dirty="0"/>
              <a:t>…..)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dirty="0">
                <a:solidFill>
                  <a:srgbClr val="FF0000"/>
                </a:solidFill>
              </a:rPr>
              <a:t>Step 3:</a:t>
            </a:r>
          </a:p>
          <a:p>
            <a:pPr marL="342900" lvl="1" indent="-342900">
              <a:buNone/>
            </a:pPr>
            <a:r>
              <a:rPr lang="pt-BR" sz="3200" dirty="0"/>
              <a:t>   </a:t>
            </a:r>
            <a:r>
              <a:rPr lang="en-IN" sz="3200" dirty="0"/>
              <a:t> M = m</a:t>
            </a:r>
            <a:r>
              <a:rPr lang="en-IN" sz="3200" baseline="-25000" dirty="0"/>
              <a:t>1 </a:t>
            </a:r>
            <a:r>
              <a:rPr lang="en-IN" sz="3200" dirty="0"/>
              <a:t>x m</a:t>
            </a:r>
            <a:r>
              <a:rPr lang="en-IN" sz="3200" baseline="-25000" dirty="0"/>
              <a:t>2</a:t>
            </a:r>
            <a:r>
              <a:rPr lang="en-IN" sz="3200" dirty="0"/>
              <a:t> </a:t>
            </a:r>
          </a:p>
          <a:p>
            <a:pPr marL="342900" lvl="1" indent="-342900">
              <a:buNone/>
            </a:pPr>
            <a:r>
              <a:rPr lang="en-IN" sz="3200" dirty="0"/>
              <a:t>         =</a:t>
            </a:r>
            <a:r>
              <a:rPr lang="pt-BR" sz="3200" dirty="0"/>
              <a:t> 9 x 20 = 180</a:t>
            </a:r>
          </a:p>
          <a:p>
            <a:pPr marL="342900" lvl="1" indent="-342900">
              <a:buNone/>
            </a:pPr>
            <a:endParaRPr lang="pt-BR" sz="3200" dirty="0"/>
          </a:p>
          <a:p>
            <a:endParaRPr lang="en-IN" sz="2000" dirty="0"/>
          </a:p>
          <a:p>
            <a:pPr>
              <a:buNone/>
            </a:pPr>
            <a:r>
              <a:rPr lang="en-IN" sz="2000" dirty="0"/>
              <a:t>		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3357562"/>
            <a:ext cx="75438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Example – 2</a:t>
            </a:r>
            <a:br>
              <a:rPr lang="en-IN" dirty="0"/>
            </a:br>
            <a:r>
              <a:rPr lang="en-IN" dirty="0"/>
              <a:t>                                                (</a:t>
            </a:r>
            <a:r>
              <a:rPr lang="en-IN" dirty="0" err="1"/>
              <a:t>Contd</a:t>
            </a:r>
            <a:r>
              <a:rPr lang="en-IN" dirty="0"/>
              <a:t>…..)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dirty="0">
                <a:solidFill>
                  <a:srgbClr val="FF0000"/>
                </a:solidFill>
              </a:rPr>
              <a:t>Step 3:</a:t>
            </a:r>
          </a:p>
          <a:p>
            <a:pPr marL="342900" lvl="1" indent="-342900">
              <a:buNone/>
            </a:pPr>
            <a:r>
              <a:rPr lang="pt-BR" sz="3200" dirty="0"/>
              <a:t>   </a:t>
            </a:r>
            <a:r>
              <a:rPr lang="en-IN" sz="3200" dirty="0"/>
              <a:t> </a:t>
            </a:r>
            <a:r>
              <a:rPr lang="en-IN" sz="2000" dirty="0"/>
              <a:t>		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5984" y="1643050"/>
            <a:ext cx="3200400" cy="24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348" y="4143380"/>
            <a:ext cx="7524750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Example – 2</a:t>
            </a:r>
            <a:br>
              <a:rPr lang="en-IN" dirty="0"/>
            </a:br>
            <a:r>
              <a:rPr lang="en-IN" dirty="0"/>
              <a:t>                                                (</a:t>
            </a:r>
            <a:r>
              <a:rPr lang="en-IN" dirty="0" err="1"/>
              <a:t>Contd</a:t>
            </a:r>
            <a:r>
              <a:rPr lang="en-IN" dirty="0"/>
              <a:t>…..)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dirty="0">
                <a:solidFill>
                  <a:srgbClr val="FF0000"/>
                </a:solidFill>
              </a:rPr>
              <a:t>Step 4:</a:t>
            </a:r>
          </a:p>
          <a:p>
            <a:pPr marL="342900" lvl="1" indent="-342900">
              <a:buNone/>
            </a:pPr>
            <a:r>
              <a:rPr lang="pt-BR" sz="3200" dirty="0"/>
              <a:t>   </a:t>
            </a:r>
            <a:r>
              <a:rPr lang="en-IN" sz="3200" dirty="0"/>
              <a:t> </a:t>
            </a:r>
            <a:r>
              <a:rPr lang="en-IN" sz="2000" dirty="0"/>
              <a:t>		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1428736"/>
            <a:ext cx="55245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5786" y="3929066"/>
            <a:ext cx="7467600" cy="195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77B70-1152-EA49-ADFD-AC1E3207A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Example - 2 </a:t>
            </a:r>
            <a:br>
              <a:rPr lang="en-IN" dirty="0"/>
            </a:br>
            <a:r>
              <a:rPr lang="en-IN" dirty="0"/>
              <a:t>                                                  (</a:t>
            </a:r>
            <a:r>
              <a:rPr lang="en-IN" dirty="0" err="1"/>
              <a:t>Contd</a:t>
            </a:r>
            <a:r>
              <a:rPr lang="en-IN" dirty="0"/>
              <a:t>…..)</a:t>
            </a:r>
            <a:endParaRPr lang="en-IN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9C691-90CE-A932-E7BD-7F3512E61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4697427"/>
          </a:xfrm>
        </p:spPr>
        <p:txBody>
          <a:bodyPr/>
          <a:lstStyle/>
          <a:p>
            <a:pPr marL="457200" lvl="1" indent="0">
              <a:buNone/>
            </a:pPr>
            <a:r>
              <a:rPr lang="pt-BR" sz="3200" dirty="0">
                <a:solidFill>
                  <a:srgbClr val="FF0000"/>
                </a:solidFill>
              </a:rPr>
              <a:t>Step 5:</a:t>
            </a:r>
          </a:p>
          <a:p>
            <a:pPr marL="457200" lvl="1" indent="0">
              <a:buNone/>
            </a:pPr>
            <a:r>
              <a:rPr lang="pt-BR" sz="3200" dirty="0"/>
              <a:t>X = (a</a:t>
            </a:r>
            <a:r>
              <a:rPr lang="pt-BR" sz="3200" baseline="-25000" dirty="0"/>
              <a:t>1</a:t>
            </a:r>
            <a:r>
              <a:rPr lang="pt-BR" sz="3200" dirty="0"/>
              <a:t>M</a:t>
            </a:r>
            <a:r>
              <a:rPr lang="pt-BR" sz="3200" baseline="-25000" dirty="0"/>
              <a:t>1</a:t>
            </a:r>
            <a:r>
              <a:rPr lang="pt-BR" sz="3200" dirty="0"/>
              <a:t>M</a:t>
            </a:r>
            <a:r>
              <a:rPr lang="pt-BR" sz="3200" baseline="-25000" dirty="0"/>
              <a:t>1</a:t>
            </a:r>
            <a:r>
              <a:rPr lang="pt-BR" sz="3200" baseline="30000" dirty="0"/>
              <a:t>-1</a:t>
            </a:r>
            <a:r>
              <a:rPr lang="pt-BR" sz="3200" dirty="0"/>
              <a:t> + a</a:t>
            </a:r>
            <a:r>
              <a:rPr lang="pt-BR" sz="3200" baseline="-25000" dirty="0"/>
              <a:t>2</a:t>
            </a:r>
            <a:r>
              <a:rPr lang="pt-BR" sz="3200" dirty="0"/>
              <a:t>M</a:t>
            </a:r>
            <a:r>
              <a:rPr lang="pt-BR" sz="3200" baseline="-25000" dirty="0"/>
              <a:t>2</a:t>
            </a:r>
            <a:r>
              <a:rPr lang="pt-BR" sz="3200" dirty="0"/>
              <a:t>M</a:t>
            </a:r>
            <a:r>
              <a:rPr lang="pt-BR" sz="3200" baseline="-25000" dirty="0"/>
              <a:t>2</a:t>
            </a:r>
            <a:r>
              <a:rPr lang="pt-BR" sz="3200" baseline="30000" dirty="0"/>
              <a:t>-1</a:t>
            </a:r>
            <a:r>
              <a:rPr lang="pt-BR" sz="3200" dirty="0"/>
              <a:t> )mod M</a:t>
            </a:r>
          </a:p>
          <a:p>
            <a:pPr marL="457200" lvl="1" indent="0">
              <a:buNone/>
            </a:pPr>
            <a:r>
              <a:rPr lang="pt-BR" sz="3200" dirty="0"/>
              <a:t>   =  (8x20x5    + 3x9x9) mod 180</a:t>
            </a:r>
          </a:p>
          <a:p>
            <a:pPr marL="457200" lvl="1" indent="0">
              <a:buNone/>
            </a:pPr>
            <a:r>
              <a:rPr lang="pt-BR" sz="3200" dirty="0"/>
              <a:t>   =  (800 + 243) mod 180</a:t>
            </a:r>
          </a:p>
          <a:p>
            <a:pPr marL="457200" lvl="1" indent="0">
              <a:buNone/>
            </a:pPr>
            <a:r>
              <a:rPr lang="pt-BR" sz="3200" dirty="0"/>
              <a:t>   = 1043 mod 180 = 143</a:t>
            </a:r>
          </a:p>
          <a:p>
            <a:pPr marL="457200" lvl="1" indent="0">
              <a:buNone/>
            </a:pPr>
            <a:endParaRPr lang="pt-BR" sz="3200" dirty="0"/>
          </a:p>
          <a:p>
            <a:pPr marL="457200" lvl="1" indent="0">
              <a:buNone/>
            </a:pPr>
            <a:endParaRPr lang="en-IN" sz="3200" baseline="-25000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7158" y="4429132"/>
            <a:ext cx="83005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Note: </a:t>
            </a:r>
            <a:r>
              <a:rPr lang="en-IN" sz="2400" dirty="0"/>
              <a:t>Finally verify the value of X = 143 in the given equation </a:t>
            </a:r>
            <a:r>
              <a:rPr lang="en-IN" sz="2400" dirty="0" err="1"/>
              <a:t>i.e</a:t>
            </a:r>
            <a:r>
              <a:rPr lang="en-IN" sz="2400" dirty="0"/>
              <a:t>;</a:t>
            </a:r>
          </a:p>
          <a:p>
            <a:r>
              <a:rPr lang="en-IN" sz="2400" dirty="0"/>
              <a:t>    X ≡  8 (mod 9) </a:t>
            </a:r>
            <a:r>
              <a:rPr lang="en-IN" sz="2400" dirty="0">
                <a:sym typeface="Wingdings" pitchFamily="2" charset="2"/>
              </a:rPr>
              <a:t></a:t>
            </a:r>
            <a:r>
              <a:rPr lang="en-IN" sz="2400" dirty="0"/>
              <a:t> 143 ≡  8 (mod 9) </a:t>
            </a:r>
            <a:r>
              <a:rPr lang="en-IN" sz="2400" dirty="0" err="1"/>
              <a:t>i.e</a:t>
            </a:r>
            <a:r>
              <a:rPr lang="en-IN" sz="2400" dirty="0"/>
              <a:t> 143%9 = 8 </a:t>
            </a:r>
          </a:p>
          <a:p>
            <a:r>
              <a:rPr lang="en-IN" sz="2400" dirty="0"/>
              <a:t>    X ≡  3 (mod 20) </a:t>
            </a:r>
            <a:r>
              <a:rPr lang="en-IN" sz="2400" dirty="0">
                <a:sym typeface="Wingdings" pitchFamily="2" charset="2"/>
              </a:rPr>
              <a:t></a:t>
            </a:r>
            <a:r>
              <a:rPr lang="en-IN" sz="2400" dirty="0"/>
              <a:t> 143 ≡  3 (mod 20) </a:t>
            </a:r>
            <a:r>
              <a:rPr lang="en-IN" sz="2400" dirty="0" err="1"/>
              <a:t>i.e</a:t>
            </a:r>
            <a:r>
              <a:rPr lang="en-IN" sz="2400" dirty="0"/>
              <a:t> 143%20 = 3</a:t>
            </a:r>
          </a:p>
          <a:p>
            <a:r>
              <a:rPr lang="en-IN" sz="2400" dirty="0"/>
              <a:t>    </a:t>
            </a:r>
          </a:p>
        </p:txBody>
      </p:sp>
      <p:sp>
        <p:nvSpPr>
          <p:cNvPr id="5" name="Right Brace 4"/>
          <p:cNvSpPr/>
          <p:nvPr/>
        </p:nvSpPr>
        <p:spPr>
          <a:xfrm>
            <a:off x="7072330" y="4857760"/>
            <a:ext cx="142876" cy="71438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7286644" y="4929198"/>
            <a:ext cx="1185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Verified</a:t>
            </a:r>
          </a:p>
        </p:txBody>
      </p:sp>
    </p:spTree>
    <p:extLst>
      <p:ext uri="{BB962C8B-B14F-4D97-AF65-F5344CB8AC3E}">
        <p14:creationId xmlns:p14="http://schemas.microsoft.com/office/powerpoint/2010/main" val="3357514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FD07E-6A15-2BAD-038A-FEA836B11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9E8E4-58EA-5C64-C8A2-8202ABB70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3200" dirty="0"/>
              <a:t>Solve the following equation using CRT.</a:t>
            </a:r>
          </a:p>
          <a:p>
            <a:pPr>
              <a:buNone/>
            </a:pPr>
            <a:r>
              <a:rPr lang="en-IN" dirty="0"/>
              <a:t>           </a:t>
            </a:r>
            <a:r>
              <a:rPr lang="en-IN" sz="3200" dirty="0"/>
              <a:t>X ≡  1(mod 5)</a:t>
            </a:r>
          </a:p>
          <a:p>
            <a:pPr>
              <a:buNone/>
            </a:pPr>
            <a:r>
              <a:rPr lang="en-IN" sz="3200" dirty="0"/>
              <a:t>		 X ≡  2 (mod 7)</a:t>
            </a:r>
          </a:p>
          <a:p>
            <a:pPr>
              <a:buNone/>
            </a:pPr>
            <a:r>
              <a:rPr lang="en-IN" dirty="0"/>
              <a:t>		 X </a:t>
            </a:r>
            <a:r>
              <a:rPr lang="en-IN" sz="3200" dirty="0"/>
              <a:t>≡  3(mod 9)</a:t>
            </a:r>
          </a:p>
          <a:p>
            <a:pPr>
              <a:buNone/>
            </a:pPr>
            <a:r>
              <a:rPr lang="en-IN" dirty="0"/>
              <a:t>		 X</a:t>
            </a:r>
            <a:r>
              <a:rPr lang="en-IN" sz="3200" dirty="0"/>
              <a:t>  ≡ 4(mod 11)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6998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324DB-08ED-16EF-54E0-193CBEC6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7030A0"/>
                </a:solidFill>
              </a:rPr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DE730-0E10-5F1C-EAAC-74797BDC2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7688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1. Find the value of X using CRT. </a:t>
            </a:r>
          </a:p>
          <a:p>
            <a:pPr marL="0" indent="0">
              <a:buNone/>
            </a:pPr>
            <a:r>
              <a:rPr lang="en-IN" sz="2000" dirty="0"/>
              <a:t>                 X ≡  2</a:t>
            </a:r>
            <a:r>
              <a:rPr lang="en-IN" sz="2000" baseline="-25000" dirty="0"/>
              <a:t> </a:t>
            </a:r>
            <a:r>
              <a:rPr lang="en-IN" sz="2000" dirty="0"/>
              <a:t>(mod 3)</a:t>
            </a:r>
          </a:p>
          <a:p>
            <a:pPr marL="0" indent="0">
              <a:buNone/>
            </a:pPr>
            <a:r>
              <a:rPr lang="en-IN" sz="2000" dirty="0"/>
              <a:t>                 X ≡  3</a:t>
            </a:r>
            <a:r>
              <a:rPr lang="en-IN" sz="2000" baseline="-25000" dirty="0"/>
              <a:t> </a:t>
            </a:r>
            <a:r>
              <a:rPr lang="en-IN" sz="2000" dirty="0"/>
              <a:t>(mod 4)</a:t>
            </a:r>
            <a:endParaRPr lang="en-US" sz="2000" dirty="0"/>
          </a:p>
          <a:p>
            <a:pPr marL="0" indent="0">
              <a:buNone/>
            </a:pPr>
            <a:r>
              <a:rPr lang="en-IN" sz="2000" dirty="0"/>
              <a:t>                 X ≡  1 (mod 5) </a:t>
            </a:r>
          </a:p>
          <a:p>
            <a:pPr marL="0" indent="0">
              <a:buNone/>
            </a:pPr>
            <a:r>
              <a:rPr lang="en-IN" sz="2000" dirty="0"/>
              <a:t>2. Find the value of X using CRT. </a:t>
            </a:r>
          </a:p>
          <a:p>
            <a:pPr marL="0" indent="0">
              <a:buNone/>
            </a:pPr>
            <a:r>
              <a:rPr lang="en-IN" sz="2000" dirty="0"/>
              <a:t>                X ≡  3</a:t>
            </a:r>
            <a:r>
              <a:rPr lang="en-IN" sz="2000" baseline="-25000" dirty="0"/>
              <a:t> </a:t>
            </a:r>
            <a:r>
              <a:rPr lang="en-IN" sz="2000" dirty="0"/>
              <a:t>(mod 5) </a:t>
            </a:r>
          </a:p>
          <a:p>
            <a:pPr marL="0" indent="0">
              <a:buNone/>
            </a:pPr>
            <a:r>
              <a:rPr lang="en-IN" sz="2000" dirty="0"/>
              <a:t>                X ≡  1</a:t>
            </a:r>
            <a:r>
              <a:rPr lang="en-IN" sz="2000" baseline="-25000" dirty="0"/>
              <a:t> </a:t>
            </a:r>
            <a:r>
              <a:rPr lang="en-IN" sz="2000" dirty="0"/>
              <a:t>(mod 7)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          </a:t>
            </a:r>
            <a:r>
              <a:rPr lang="en-IN" sz="2000" dirty="0"/>
              <a:t>X ≡  6 (mod 8)</a:t>
            </a:r>
          </a:p>
          <a:p>
            <a:pPr marL="0" indent="0">
              <a:buNone/>
            </a:pPr>
            <a:r>
              <a:rPr lang="en-IN" sz="2000" dirty="0"/>
              <a:t>3. Find the value of X using CRT. </a:t>
            </a:r>
          </a:p>
          <a:p>
            <a:pPr marL="0" indent="0">
              <a:buNone/>
            </a:pPr>
            <a:r>
              <a:rPr lang="en-IN" sz="2000" dirty="0"/>
              <a:t>                X ≡  5</a:t>
            </a:r>
            <a:r>
              <a:rPr lang="en-IN" sz="2000" baseline="-25000" dirty="0"/>
              <a:t> </a:t>
            </a:r>
            <a:r>
              <a:rPr lang="en-IN" sz="2000" dirty="0"/>
              <a:t>(mod 3) </a:t>
            </a:r>
          </a:p>
          <a:p>
            <a:pPr marL="0" indent="0">
              <a:buNone/>
            </a:pPr>
            <a:r>
              <a:rPr lang="en-IN" sz="2000" dirty="0"/>
              <a:t>                X ≡  2</a:t>
            </a:r>
            <a:r>
              <a:rPr lang="en-IN" sz="2000" baseline="-25000" dirty="0"/>
              <a:t> </a:t>
            </a:r>
            <a:r>
              <a:rPr lang="en-IN" sz="2000" dirty="0"/>
              <a:t>(mod 5)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          </a:t>
            </a:r>
            <a:r>
              <a:rPr lang="en-IN" sz="2000" dirty="0"/>
              <a:t>X ≡  1 (mod 11)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19390B-FBB5-0ADD-CD83-7FCCE224FD87}"/>
              </a:ext>
            </a:extLst>
          </p:cNvPr>
          <p:cNvSpPr/>
          <p:nvPr/>
        </p:nvSpPr>
        <p:spPr>
          <a:xfrm>
            <a:off x="3352799" y="3480879"/>
            <a:ext cx="40596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1398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1817</TotalTime>
  <Words>829</Words>
  <Application>Microsoft Office PowerPoint</Application>
  <PresentationFormat>On-screen Show (4:3)</PresentationFormat>
  <Paragraphs>117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Chinese Remainder Theorem </vt:lpstr>
      <vt:lpstr>Chinese Remainder Theorem (CRT)</vt:lpstr>
      <vt:lpstr>Example - 1 </vt:lpstr>
      <vt:lpstr>Example - 1                                                    (Contd…..)</vt:lpstr>
      <vt:lpstr>Example - 1                                                    (Contd…..)</vt:lpstr>
      <vt:lpstr>Example - 1                                                    (Contd…..)</vt:lpstr>
      <vt:lpstr>Example - 1                                                    (Contd…..)</vt:lpstr>
      <vt:lpstr>Example - 1                                                    (Contd…..)</vt:lpstr>
      <vt:lpstr>Example - 2</vt:lpstr>
      <vt:lpstr>Example – 2                                                 (Contd…..)</vt:lpstr>
      <vt:lpstr>Example – 2                                                 (Contd…..)</vt:lpstr>
      <vt:lpstr>Example – 2                                                 (Contd…..)</vt:lpstr>
      <vt:lpstr>Example – 2                                                 (Contd…..)</vt:lpstr>
      <vt:lpstr>Example - 2                                                    (Contd…..)</vt:lpstr>
      <vt:lpstr>Example 3</vt:lpstr>
      <vt:lpstr>Exercise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Sreethar S</cp:lastModifiedBy>
  <cp:revision>186</cp:revision>
  <dcterms:created xsi:type="dcterms:W3CDTF">2020-07-24T08:44:05Z</dcterms:created>
  <dcterms:modified xsi:type="dcterms:W3CDTF">2024-01-31T07:43:07Z</dcterms:modified>
</cp:coreProperties>
</file>