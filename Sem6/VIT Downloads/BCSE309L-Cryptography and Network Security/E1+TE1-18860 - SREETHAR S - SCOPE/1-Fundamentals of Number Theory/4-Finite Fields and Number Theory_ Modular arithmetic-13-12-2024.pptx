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324" r:id="rId4"/>
    <p:sldId id="259" r:id="rId5"/>
    <p:sldId id="260" r:id="rId6"/>
    <p:sldId id="261" r:id="rId7"/>
    <p:sldId id="327" r:id="rId8"/>
    <p:sldId id="32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37A55B-720F-4D57-966A-88CF0952BA4E}" v="4" dt="2024-01-18T23:46:49.0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vithra M" userId="a6749cad4d1b348b" providerId="LiveId" clId="{EE37A55B-720F-4D57-966A-88CF0952BA4E}"/>
    <pc:docChg chg="undo custSel addSld delSld modSld">
      <pc:chgData name="Pavithra M" userId="a6749cad4d1b348b" providerId="LiveId" clId="{EE37A55B-720F-4D57-966A-88CF0952BA4E}" dt="2024-01-18T23:46:49.995" v="6" actId="2696"/>
      <pc:docMkLst>
        <pc:docMk/>
      </pc:docMkLst>
      <pc:sldChg chg="del">
        <pc:chgData name="Pavithra M" userId="a6749cad4d1b348b" providerId="LiveId" clId="{EE37A55B-720F-4D57-966A-88CF0952BA4E}" dt="2024-01-18T04:56:50.608" v="0" actId="47"/>
        <pc:sldMkLst>
          <pc:docMk/>
          <pc:sldMk cId="0" sldId="262"/>
        </pc:sldMkLst>
      </pc:sldChg>
      <pc:sldChg chg="del">
        <pc:chgData name="Pavithra M" userId="a6749cad4d1b348b" providerId="LiveId" clId="{EE37A55B-720F-4D57-966A-88CF0952BA4E}" dt="2024-01-18T04:56:50.608" v="0" actId="47"/>
        <pc:sldMkLst>
          <pc:docMk/>
          <pc:sldMk cId="0" sldId="263"/>
        </pc:sldMkLst>
      </pc:sldChg>
      <pc:sldChg chg="del">
        <pc:chgData name="Pavithra M" userId="a6749cad4d1b348b" providerId="LiveId" clId="{EE37A55B-720F-4D57-966A-88CF0952BA4E}" dt="2024-01-18T04:56:50.608" v="0" actId="47"/>
        <pc:sldMkLst>
          <pc:docMk/>
          <pc:sldMk cId="0" sldId="264"/>
        </pc:sldMkLst>
      </pc:sldChg>
      <pc:sldChg chg="del">
        <pc:chgData name="Pavithra M" userId="a6749cad4d1b348b" providerId="LiveId" clId="{EE37A55B-720F-4D57-966A-88CF0952BA4E}" dt="2024-01-18T04:56:50.608" v="0" actId="47"/>
        <pc:sldMkLst>
          <pc:docMk/>
          <pc:sldMk cId="0" sldId="265"/>
        </pc:sldMkLst>
      </pc:sldChg>
      <pc:sldChg chg="del">
        <pc:chgData name="Pavithra M" userId="a6749cad4d1b348b" providerId="LiveId" clId="{EE37A55B-720F-4D57-966A-88CF0952BA4E}" dt="2024-01-18T04:56:50.608" v="0" actId="47"/>
        <pc:sldMkLst>
          <pc:docMk/>
          <pc:sldMk cId="0" sldId="266"/>
        </pc:sldMkLst>
      </pc:sldChg>
      <pc:sldChg chg="add">
        <pc:chgData name="Pavithra M" userId="a6749cad4d1b348b" providerId="LiveId" clId="{EE37A55B-720F-4D57-966A-88CF0952BA4E}" dt="2024-01-18T23:43:45.987" v="1"/>
        <pc:sldMkLst>
          <pc:docMk/>
          <pc:sldMk cId="0" sldId="323"/>
        </pc:sldMkLst>
      </pc:sldChg>
      <pc:sldChg chg="add del">
        <pc:chgData name="Pavithra M" userId="a6749cad4d1b348b" providerId="LiveId" clId="{EE37A55B-720F-4D57-966A-88CF0952BA4E}" dt="2024-01-18T23:46:49.995" v="6" actId="2696"/>
        <pc:sldMkLst>
          <pc:docMk/>
          <pc:sldMk cId="0" sldId="324"/>
        </pc:sldMkLst>
      </pc:sldChg>
      <pc:sldChg chg="add del">
        <pc:chgData name="Pavithra M" userId="a6749cad4d1b348b" providerId="LiveId" clId="{EE37A55B-720F-4D57-966A-88CF0952BA4E}" dt="2024-01-18T23:46:49.039" v="5"/>
        <pc:sldMkLst>
          <pc:docMk/>
          <pc:sldMk cId="3455866627" sldId="324"/>
        </pc:sldMkLst>
      </pc:sldChg>
      <pc:sldChg chg="add">
        <pc:chgData name="Pavithra M" userId="a6749cad4d1b348b" providerId="LiveId" clId="{EE37A55B-720F-4D57-966A-88CF0952BA4E}" dt="2024-01-18T23:43:45.987" v="1"/>
        <pc:sldMkLst>
          <pc:docMk/>
          <pc:sldMk cId="0" sldId="32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Modular Exponentiation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</a:t>
            </a:r>
            <a:r>
              <a:rPr lang="en-IN" baseline="30000" dirty="0"/>
              <a:t>b</a:t>
            </a:r>
            <a:r>
              <a:rPr lang="en-IN" dirty="0"/>
              <a:t> (mod m)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- 1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Autofit/>
          </a:bodyPr>
          <a:lstStyle/>
          <a:p>
            <a:pPr algn="just"/>
            <a:r>
              <a:rPr lang="en-IN" sz="2800" dirty="0"/>
              <a:t>23 </a:t>
            </a:r>
            <a:r>
              <a:rPr lang="en-IN" sz="2800" baseline="30000" dirty="0"/>
              <a:t>3</a:t>
            </a:r>
            <a:r>
              <a:rPr lang="en-IN" sz="2800" dirty="0"/>
              <a:t> (mod 30) = ?</a:t>
            </a:r>
          </a:p>
          <a:p>
            <a:pPr algn="just"/>
            <a:r>
              <a:rPr lang="en-IN" sz="2800" dirty="0"/>
              <a:t>Solution:</a:t>
            </a:r>
          </a:p>
          <a:p>
            <a:pPr algn="just">
              <a:buNone/>
            </a:pPr>
            <a:r>
              <a:rPr lang="en-IN" sz="2800" dirty="0"/>
              <a:t>Simplify this by finding 23 (mod 30) = 23 or -7</a:t>
            </a:r>
          </a:p>
          <a:p>
            <a:pPr algn="just">
              <a:buNone/>
            </a:pPr>
            <a:r>
              <a:rPr lang="en-IN" sz="2800" dirty="0"/>
              <a:t>Among 23 or -7, -7 is the small number, then</a:t>
            </a:r>
          </a:p>
          <a:p>
            <a:pPr algn="just">
              <a:buNone/>
            </a:pPr>
            <a:r>
              <a:rPr lang="en-IN" sz="2800" dirty="0"/>
              <a:t>23 </a:t>
            </a:r>
            <a:r>
              <a:rPr lang="en-IN" sz="2800" baseline="30000" dirty="0"/>
              <a:t>3</a:t>
            </a:r>
            <a:r>
              <a:rPr lang="en-IN" sz="2800" dirty="0"/>
              <a:t> (mod 30) = (-7) </a:t>
            </a:r>
            <a:r>
              <a:rPr lang="en-IN" sz="2800" baseline="30000" dirty="0"/>
              <a:t>3</a:t>
            </a:r>
            <a:r>
              <a:rPr lang="en-IN" sz="2800" dirty="0"/>
              <a:t> (mod 30) </a:t>
            </a:r>
          </a:p>
          <a:p>
            <a:pPr algn="just">
              <a:buNone/>
            </a:pPr>
            <a:r>
              <a:rPr lang="en-IN" sz="2800" dirty="0"/>
              <a:t>                         = -343 mod 30</a:t>
            </a:r>
          </a:p>
          <a:p>
            <a:pPr algn="just">
              <a:buNone/>
            </a:pPr>
            <a:r>
              <a:rPr lang="en-IN" sz="2800" dirty="0"/>
              <a:t>                         = -13 mod 30 </a:t>
            </a:r>
          </a:p>
          <a:p>
            <a:pPr algn="just">
              <a:buNone/>
            </a:pPr>
            <a:r>
              <a:rPr lang="en-IN" sz="2800" dirty="0"/>
              <a:t>                         = 17 mod 30</a:t>
            </a:r>
          </a:p>
          <a:p>
            <a:pPr algn="just">
              <a:buNone/>
            </a:pPr>
            <a:r>
              <a:rPr lang="en-IN" sz="2800" dirty="0"/>
              <a:t>Therefore, 23 </a:t>
            </a:r>
            <a:r>
              <a:rPr lang="en-IN" sz="2800" baseline="30000" dirty="0"/>
              <a:t>3</a:t>
            </a:r>
            <a:r>
              <a:rPr lang="en-IN" sz="2800" dirty="0"/>
              <a:t> (mod 30) = 17                   </a:t>
            </a:r>
          </a:p>
          <a:p>
            <a:pPr algn="just">
              <a:buNone/>
            </a:pPr>
            <a:r>
              <a:rPr lang="en-IN" sz="2800" dirty="0"/>
              <a:t>                                                     </a:t>
            </a:r>
          </a:p>
          <a:p>
            <a:pPr algn="just"/>
            <a:endParaRPr lang="en-IN" sz="2800" dirty="0"/>
          </a:p>
          <a:p>
            <a:pPr algn="just"/>
            <a:endParaRPr lang="en-IN" sz="2800" dirty="0"/>
          </a:p>
          <a:p>
            <a:pPr algn="just"/>
            <a:endParaRPr lang="en-IN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1ACED6AB-F1BE-847C-92BD-F7AC7601E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Modular Exponentiation</a:t>
            </a:r>
          </a:p>
        </p:txBody>
      </p:sp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id="{7387992D-6D86-AEA5-9C0E-7A07FD6E6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953000"/>
          </a:xfrm>
        </p:spPr>
        <p:txBody>
          <a:bodyPr/>
          <a:lstStyle/>
          <a:p>
            <a:r>
              <a:rPr lang="en-IN" altLang="en-US" sz="2800"/>
              <a:t>23</a:t>
            </a:r>
            <a:r>
              <a:rPr lang="en-IN" altLang="en-US" sz="2800" baseline="30000"/>
              <a:t>3</a:t>
            </a:r>
            <a:r>
              <a:rPr lang="en-IN" altLang="en-US" sz="2800"/>
              <a:t> mod 30 ?</a:t>
            </a:r>
          </a:p>
          <a:p>
            <a:pPr>
              <a:buFont typeface="Arial" panose="020B0604020202020204" pitchFamily="34" charset="0"/>
              <a:buNone/>
            </a:pPr>
            <a:r>
              <a:rPr lang="en-IN" altLang="en-US" sz="2800"/>
              <a:t>    23 mod 30 = </a:t>
            </a:r>
            <a:r>
              <a:rPr lang="en-IN" altLang="en-US" sz="2800">
                <a:solidFill>
                  <a:srgbClr val="FF0000"/>
                </a:solidFill>
              </a:rPr>
              <a:t>-7</a:t>
            </a:r>
            <a:r>
              <a:rPr lang="en-IN" altLang="en-US" sz="2800"/>
              <a:t> or 23</a:t>
            </a:r>
          </a:p>
          <a:p>
            <a:pPr>
              <a:buFont typeface="Arial" panose="020B0604020202020204" pitchFamily="34" charset="0"/>
              <a:buNone/>
            </a:pPr>
            <a:r>
              <a:rPr lang="en-IN" altLang="en-US" sz="2800"/>
              <a:t>    23</a:t>
            </a:r>
            <a:r>
              <a:rPr lang="en-IN" altLang="en-US" sz="2800" baseline="30000"/>
              <a:t>3</a:t>
            </a:r>
            <a:r>
              <a:rPr lang="en-IN" altLang="en-US" sz="2800"/>
              <a:t> mod 30 = (-7)</a:t>
            </a:r>
            <a:r>
              <a:rPr lang="en-IN" altLang="en-US" sz="2800" baseline="30000"/>
              <a:t>3</a:t>
            </a:r>
            <a:r>
              <a:rPr lang="en-IN" altLang="en-US" sz="2800"/>
              <a:t> mod 30 </a:t>
            </a:r>
          </a:p>
          <a:p>
            <a:pPr>
              <a:buFont typeface="Arial" panose="020B0604020202020204" pitchFamily="34" charset="0"/>
              <a:buNone/>
            </a:pPr>
            <a:r>
              <a:rPr lang="en-IN" altLang="en-US" sz="2800"/>
              <a:t>                          = (-7)</a:t>
            </a:r>
            <a:r>
              <a:rPr lang="en-IN" altLang="en-US" sz="2800" baseline="30000"/>
              <a:t>2</a:t>
            </a:r>
            <a:r>
              <a:rPr lang="en-IN" altLang="en-US" sz="2800"/>
              <a:t> x  -7 mod 30 </a:t>
            </a:r>
          </a:p>
          <a:p>
            <a:pPr>
              <a:buFont typeface="Arial" panose="020B0604020202020204" pitchFamily="34" charset="0"/>
              <a:buNone/>
            </a:pPr>
            <a:r>
              <a:rPr lang="en-IN" altLang="en-US" sz="2800"/>
              <a:t>                          = 49 x  -7 mod 30 </a:t>
            </a:r>
          </a:p>
          <a:p>
            <a:pPr>
              <a:buFont typeface="Arial" panose="020B0604020202020204" pitchFamily="34" charset="0"/>
              <a:buNone/>
            </a:pPr>
            <a:r>
              <a:rPr lang="en-IN" altLang="en-US" sz="2800"/>
              <a:t>                          = -133 mod 30 </a:t>
            </a:r>
          </a:p>
          <a:p>
            <a:pPr>
              <a:buFont typeface="Arial" panose="020B0604020202020204" pitchFamily="34" charset="0"/>
              <a:buNone/>
            </a:pPr>
            <a:r>
              <a:rPr lang="en-IN" altLang="en-US" sz="2800"/>
              <a:t>                          = -13 mod 30 </a:t>
            </a:r>
          </a:p>
          <a:p>
            <a:pPr>
              <a:buFont typeface="Arial" panose="020B0604020202020204" pitchFamily="34" charset="0"/>
              <a:buNone/>
            </a:pPr>
            <a:r>
              <a:rPr lang="en-IN" altLang="en-US" sz="2800"/>
              <a:t>                          = 17 mod 30</a:t>
            </a:r>
          </a:p>
          <a:p>
            <a:pPr>
              <a:buFont typeface="Arial" panose="020B0604020202020204" pitchFamily="34" charset="0"/>
              <a:buNone/>
            </a:pPr>
            <a:r>
              <a:rPr lang="en-IN" altLang="en-US" sz="3600" b="1"/>
              <a:t>    23</a:t>
            </a:r>
            <a:r>
              <a:rPr lang="en-IN" altLang="en-US" sz="3600" b="1" baseline="30000"/>
              <a:t>3</a:t>
            </a:r>
            <a:r>
              <a:rPr lang="en-IN" altLang="en-US" sz="3600" b="1"/>
              <a:t> mod 30 = 17</a:t>
            </a:r>
          </a:p>
          <a:p>
            <a:pPr>
              <a:buFont typeface="Arial" panose="020B0604020202020204" pitchFamily="34" charset="0"/>
              <a:buNone/>
            </a:pPr>
            <a:endParaRPr lang="en-IN" altLang="en-US" sz="2800"/>
          </a:p>
          <a:p>
            <a:pPr>
              <a:buFont typeface="Arial" panose="020B0604020202020204" pitchFamily="34" charset="0"/>
              <a:buNone/>
            </a:pPr>
            <a:endParaRPr lang="en-IN" altLang="en-US" sz="2800"/>
          </a:p>
          <a:p>
            <a:pPr>
              <a:buFont typeface="Arial" panose="020B0604020202020204" pitchFamily="34" charset="0"/>
              <a:buNone/>
            </a:pPr>
            <a:endParaRPr lang="en-IN" altLang="en-US" sz="2800"/>
          </a:p>
          <a:p>
            <a:pPr>
              <a:buFont typeface="Arial" panose="020B0604020202020204" pitchFamily="34" charset="0"/>
              <a:buNone/>
            </a:pPr>
            <a:endParaRPr lang="en-IN" altLang="en-US" sz="2800"/>
          </a:p>
          <a:p>
            <a:pPr>
              <a:buFont typeface="Arial" panose="020B0604020202020204" pitchFamily="34" charset="0"/>
              <a:buNone/>
            </a:pPr>
            <a:endParaRPr lang="en-IN" altLang="en-US" sz="2800"/>
          </a:p>
          <a:p>
            <a:pPr>
              <a:buFont typeface="Arial" panose="020B0604020202020204" pitchFamily="34" charset="0"/>
              <a:buNone/>
            </a:pPr>
            <a:endParaRPr lang="en-IN" altLang="en-US" sz="2800"/>
          </a:p>
          <a:p>
            <a:endParaRPr lang="en-IN" altLang="en-US" sz="2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- 2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/>
          </a:bodyPr>
          <a:lstStyle/>
          <a:p>
            <a:pPr algn="just"/>
            <a:r>
              <a:rPr lang="en-IN" dirty="0"/>
              <a:t>31 </a:t>
            </a:r>
            <a:r>
              <a:rPr lang="en-IN" baseline="30000" dirty="0"/>
              <a:t>500</a:t>
            </a:r>
            <a:r>
              <a:rPr lang="en-IN" dirty="0"/>
              <a:t> (mod 30) = ?</a:t>
            </a:r>
          </a:p>
          <a:p>
            <a:pPr algn="just"/>
            <a:r>
              <a:rPr lang="en-IN" dirty="0"/>
              <a:t>Solution:</a:t>
            </a:r>
          </a:p>
          <a:p>
            <a:pPr algn="just">
              <a:buNone/>
            </a:pPr>
            <a:r>
              <a:rPr lang="en-IN" dirty="0"/>
              <a:t>Simplify this by finding 31 (mod 30) = 1</a:t>
            </a:r>
          </a:p>
          <a:p>
            <a:pPr algn="just">
              <a:buNone/>
            </a:pPr>
            <a:r>
              <a:rPr lang="en-IN" dirty="0"/>
              <a:t>31 </a:t>
            </a:r>
            <a:r>
              <a:rPr lang="en-IN" baseline="30000" dirty="0"/>
              <a:t>500</a:t>
            </a:r>
            <a:r>
              <a:rPr lang="en-IN" dirty="0"/>
              <a:t> (mod 30) = 1 </a:t>
            </a:r>
            <a:r>
              <a:rPr lang="en-IN" baseline="30000" dirty="0"/>
              <a:t>500</a:t>
            </a:r>
            <a:r>
              <a:rPr lang="en-IN" dirty="0"/>
              <a:t> (mod 30) </a:t>
            </a:r>
          </a:p>
          <a:p>
            <a:pPr algn="just">
              <a:buNone/>
            </a:pPr>
            <a:r>
              <a:rPr lang="en-IN" dirty="0"/>
              <a:t>                         = 1 mod 30</a:t>
            </a:r>
          </a:p>
          <a:p>
            <a:pPr algn="just">
              <a:buNone/>
            </a:pPr>
            <a:r>
              <a:rPr lang="en-IN" dirty="0"/>
              <a:t>Therefore, 31 </a:t>
            </a:r>
            <a:r>
              <a:rPr lang="en-IN" baseline="30000" dirty="0"/>
              <a:t>500</a:t>
            </a:r>
            <a:r>
              <a:rPr lang="en-IN" dirty="0"/>
              <a:t> (mod 30) = 1</a:t>
            </a:r>
          </a:p>
          <a:p>
            <a:pPr algn="just">
              <a:buNone/>
            </a:pPr>
            <a:r>
              <a:rPr lang="en-IN" dirty="0"/>
              <a:t>                                                     </a:t>
            </a:r>
          </a:p>
          <a:p>
            <a:pPr algn="just"/>
            <a:endParaRPr lang="en-IN" dirty="0"/>
          </a:p>
          <a:p>
            <a:pPr algn="just"/>
            <a:endParaRPr lang="en-IN" dirty="0"/>
          </a:p>
          <a:p>
            <a:pPr algn="just"/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–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rmAutofit/>
          </a:bodyPr>
          <a:lstStyle/>
          <a:p>
            <a:pPr algn="just"/>
            <a:r>
              <a:rPr lang="en-IN" dirty="0"/>
              <a:t>242 </a:t>
            </a:r>
            <a:r>
              <a:rPr lang="en-IN" baseline="30000" dirty="0"/>
              <a:t>329</a:t>
            </a:r>
            <a:r>
              <a:rPr lang="en-IN" dirty="0"/>
              <a:t> (mod 243) = ?</a:t>
            </a:r>
          </a:p>
          <a:p>
            <a:pPr algn="just"/>
            <a:r>
              <a:rPr lang="en-IN" dirty="0"/>
              <a:t>Solution:</a:t>
            </a:r>
          </a:p>
          <a:p>
            <a:pPr algn="just">
              <a:buNone/>
            </a:pPr>
            <a:r>
              <a:rPr lang="en-IN" dirty="0"/>
              <a:t>Simplify this by finding 242 (mod 243) = -1</a:t>
            </a:r>
          </a:p>
          <a:p>
            <a:pPr algn="just">
              <a:buNone/>
            </a:pPr>
            <a:r>
              <a:rPr lang="en-IN" dirty="0"/>
              <a:t>242 </a:t>
            </a:r>
            <a:r>
              <a:rPr lang="en-IN" baseline="30000" dirty="0"/>
              <a:t>329</a:t>
            </a:r>
            <a:r>
              <a:rPr lang="en-IN" dirty="0"/>
              <a:t> (mod 243) = (-1) </a:t>
            </a:r>
            <a:r>
              <a:rPr lang="en-IN" baseline="30000" dirty="0"/>
              <a:t>329</a:t>
            </a:r>
            <a:r>
              <a:rPr lang="en-IN" dirty="0"/>
              <a:t> (mod 243) </a:t>
            </a:r>
          </a:p>
          <a:p>
            <a:pPr algn="just">
              <a:buNone/>
            </a:pPr>
            <a:r>
              <a:rPr lang="en-IN" dirty="0"/>
              <a:t>                         = -1 mod 243</a:t>
            </a:r>
          </a:p>
          <a:p>
            <a:pPr algn="just">
              <a:buNone/>
            </a:pPr>
            <a:r>
              <a:rPr lang="en-IN" dirty="0"/>
              <a:t>                         = 242 </a:t>
            </a:r>
          </a:p>
          <a:p>
            <a:pPr algn="just">
              <a:buNone/>
            </a:pPr>
            <a:r>
              <a:rPr lang="en-IN" dirty="0"/>
              <a:t>Therefore, 242 </a:t>
            </a:r>
            <a:r>
              <a:rPr lang="en-IN" baseline="30000" dirty="0"/>
              <a:t>329</a:t>
            </a:r>
            <a:r>
              <a:rPr lang="en-IN" dirty="0"/>
              <a:t> (mod 243) = 242</a:t>
            </a:r>
          </a:p>
          <a:p>
            <a:pPr algn="just">
              <a:buNone/>
            </a:pPr>
            <a:r>
              <a:rPr lang="en-IN" dirty="0"/>
              <a:t>                                                     </a:t>
            </a:r>
          </a:p>
          <a:p>
            <a:pPr algn="just"/>
            <a:endParaRPr lang="en-IN" dirty="0"/>
          </a:p>
          <a:p>
            <a:pPr algn="just"/>
            <a:endParaRPr lang="en-IN" dirty="0"/>
          </a:p>
          <a:p>
            <a:pPr algn="just"/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- 4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IN" dirty="0"/>
              <a:t>11 </a:t>
            </a:r>
            <a:r>
              <a:rPr lang="en-IN" baseline="30000" dirty="0"/>
              <a:t>7</a:t>
            </a:r>
            <a:r>
              <a:rPr lang="en-IN" dirty="0"/>
              <a:t> (mod 13) = ?</a:t>
            </a:r>
          </a:p>
          <a:p>
            <a:pPr algn="just"/>
            <a:r>
              <a:rPr lang="en-IN" dirty="0"/>
              <a:t>Solution:</a:t>
            </a:r>
          </a:p>
          <a:p>
            <a:pPr algn="just">
              <a:buNone/>
            </a:pPr>
            <a:r>
              <a:rPr lang="en-IN" dirty="0"/>
              <a:t>Simplify this by finding 11(mod 13) = -2</a:t>
            </a:r>
          </a:p>
          <a:p>
            <a:pPr algn="just">
              <a:buNone/>
            </a:pPr>
            <a:r>
              <a:rPr lang="en-IN" dirty="0"/>
              <a:t>11 </a:t>
            </a:r>
            <a:r>
              <a:rPr lang="en-IN" baseline="30000" dirty="0"/>
              <a:t>7</a:t>
            </a:r>
            <a:r>
              <a:rPr lang="en-IN" dirty="0"/>
              <a:t> (mod 13)  = (-2) </a:t>
            </a:r>
            <a:r>
              <a:rPr lang="en-IN" baseline="30000" dirty="0"/>
              <a:t>7</a:t>
            </a:r>
            <a:r>
              <a:rPr lang="en-IN" dirty="0"/>
              <a:t> (mod 13) </a:t>
            </a:r>
          </a:p>
          <a:p>
            <a:pPr algn="just">
              <a:buNone/>
            </a:pPr>
            <a:r>
              <a:rPr lang="en-IN" dirty="0"/>
              <a:t>                         = -128 (mod 13) </a:t>
            </a:r>
          </a:p>
          <a:p>
            <a:pPr algn="just">
              <a:buNone/>
            </a:pPr>
            <a:r>
              <a:rPr lang="en-IN" dirty="0"/>
              <a:t>                         = -11 (mod 13) </a:t>
            </a:r>
          </a:p>
          <a:p>
            <a:pPr algn="just">
              <a:buNone/>
            </a:pPr>
            <a:r>
              <a:rPr lang="en-IN" dirty="0"/>
              <a:t>                         = 2</a:t>
            </a:r>
          </a:p>
          <a:p>
            <a:pPr algn="just">
              <a:buNone/>
            </a:pPr>
            <a:r>
              <a:rPr lang="en-IN" dirty="0"/>
              <a:t>Therefore, 11 </a:t>
            </a:r>
            <a:r>
              <a:rPr lang="en-IN" baseline="30000" dirty="0"/>
              <a:t>7</a:t>
            </a:r>
            <a:r>
              <a:rPr lang="en-IN" dirty="0"/>
              <a:t> (mod 13) = 2</a:t>
            </a:r>
          </a:p>
          <a:p>
            <a:pPr algn="just">
              <a:buNone/>
            </a:pPr>
            <a:r>
              <a:rPr lang="en-IN" dirty="0"/>
              <a:t>                                              </a:t>
            </a:r>
          </a:p>
          <a:p>
            <a:pPr algn="just"/>
            <a:endParaRPr lang="en-IN" dirty="0"/>
          </a:p>
          <a:p>
            <a:pPr algn="just"/>
            <a:endParaRPr lang="en-IN" dirty="0"/>
          </a:p>
          <a:p>
            <a:pPr algn="just"/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3B56FF51-D283-1FEA-7922-63017E39C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Using Fermat’s theorem</a:t>
            </a:r>
            <a:endParaRPr lang="en-IN" altLang="en-US"/>
          </a:p>
        </p:txBody>
      </p:sp>
      <p:sp>
        <p:nvSpPr>
          <p:cNvPr id="12291" name="Content Placeholder 2">
            <a:extLst>
              <a:ext uri="{FF2B5EF4-FFF2-40B4-BE49-F238E27FC236}">
                <a16:creationId xmlns:a16="http://schemas.microsoft.com/office/drawing/2014/main" id="{B1B7682F-3B4C-DA40-30CA-95E7DAA30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/>
          <a:lstStyle/>
          <a:p>
            <a:r>
              <a:rPr lang="en-US" altLang="en-US" sz="2800"/>
              <a:t>Find 7</a:t>
            </a:r>
            <a:r>
              <a:rPr lang="en-US" altLang="en-US" sz="2800" baseline="30000"/>
              <a:t>2019</a:t>
            </a:r>
            <a:r>
              <a:rPr lang="en-US" altLang="en-US" sz="2800"/>
              <a:t> mod 13 using Fermat’s theorem.</a:t>
            </a:r>
          </a:p>
          <a:p>
            <a:r>
              <a:rPr lang="en-US" altLang="en-US" sz="2800" b="1"/>
              <a:t>Solution:</a:t>
            </a:r>
          </a:p>
          <a:p>
            <a:pPr lvl="1">
              <a:buFont typeface="Arial" panose="020B0604020202020204" pitchFamily="34" charset="0"/>
              <a:buNone/>
            </a:pPr>
            <a:r>
              <a:rPr lang="en-US" altLang="en-US" sz="2400"/>
              <a:t>Fermat’s theorem: a</a:t>
            </a:r>
            <a:r>
              <a:rPr lang="en-US" altLang="en-US" sz="2400" baseline="30000"/>
              <a:t>n-1</a:t>
            </a:r>
            <a:r>
              <a:rPr lang="en-US" altLang="en-US" sz="2400"/>
              <a:t> </a:t>
            </a:r>
            <a:r>
              <a:rPr lang="en-US" altLang="en-US" sz="2400">
                <a:sym typeface="Symbol" panose="05050102010706020507" pitchFamily="18" charset="2"/>
              </a:rPr>
              <a:t> 1 mod n</a:t>
            </a:r>
          </a:p>
          <a:p>
            <a:pPr lvl="1">
              <a:buFont typeface="Arial" panose="020B0604020202020204" pitchFamily="34" charset="0"/>
              <a:buNone/>
            </a:pPr>
            <a:r>
              <a:rPr lang="en-US" altLang="en-US" sz="2400">
                <a:sym typeface="Symbol" panose="05050102010706020507" pitchFamily="18" charset="2"/>
              </a:rPr>
              <a:t>Given a = 7 and n = 13 then 7</a:t>
            </a:r>
            <a:r>
              <a:rPr lang="en-US" altLang="en-US" sz="2400" baseline="30000"/>
              <a:t>12</a:t>
            </a:r>
            <a:r>
              <a:rPr lang="en-US" altLang="en-US" sz="2400"/>
              <a:t> </a:t>
            </a:r>
            <a:r>
              <a:rPr lang="en-US" altLang="en-US" sz="2400">
                <a:sym typeface="Symbol" panose="05050102010706020507" pitchFamily="18" charset="2"/>
              </a:rPr>
              <a:t> 1 mod 13</a:t>
            </a:r>
          </a:p>
          <a:p>
            <a:pPr lvl="1">
              <a:buFont typeface="Arial" panose="020B0604020202020204" pitchFamily="34" charset="0"/>
              <a:buNone/>
            </a:pPr>
            <a:r>
              <a:rPr lang="en-US" altLang="en-US" sz="2400"/>
              <a:t>Then    (7</a:t>
            </a:r>
            <a:r>
              <a:rPr lang="en-US" altLang="en-US" sz="2400" baseline="30000"/>
              <a:t>12</a:t>
            </a:r>
            <a:r>
              <a:rPr lang="en-US" altLang="en-US" sz="2400"/>
              <a:t>)</a:t>
            </a:r>
            <a:r>
              <a:rPr lang="en-US" altLang="en-US" sz="2400" baseline="30000"/>
              <a:t>168</a:t>
            </a:r>
            <a:r>
              <a:rPr lang="en-US" altLang="en-US" sz="2400"/>
              <a:t> x  7</a:t>
            </a:r>
            <a:r>
              <a:rPr lang="en-US" altLang="en-US" sz="2400" baseline="30000"/>
              <a:t>3 </a:t>
            </a:r>
            <a:r>
              <a:rPr lang="en-US" altLang="en-US" sz="2400"/>
              <a:t> mod 13</a:t>
            </a:r>
            <a:endParaRPr lang="en-US" altLang="en-US" sz="2400">
              <a:sym typeface="Symbol" panose="05050102010706020507" pitchFamily="18" charset="2"/>
            </a:endParaRPr>
          </a:p>
          <a:p>
            <a:pPr lvl="1">
              <a:buFont typeface="Arial" panose="020B0604020202020204" pitchFamily="34" charset="0"/>
              <a:buNone/>
            </a:pPr>
            <a:r>
              <a:rPr lang="en-US" altLang="en-US" sz="2400"/>
              <a:t>           = (1)</a:t>
            </a:r>
            <a:r>
              <a:rPr lang="en-US" altLang="en-US" sz="2400" baseline="30000"/>
              <a:t>168</a:t>
            </a:r>
            <a:r>
              <a:rPr lang="en-US" altLang="en-US" sz="2400"/>
              <a:t> x  7</a:t>
            </a:r>
            <a:r>
              <a:rPr lang="en-US" altLang="en-US" sz="2400" baseline="30000"/>
              <a:t>3 </a:t>
            </a:r>
            <a:r>
              <a:rPr lang="en-US" altLang="en-US" sz="2400"/>
              <a:t> mod 13</a:t>
            </a:r>
            <a:endParaRPr lang="en-US" altLang="en-US" sz="2400">
              <a:sym typeface="Symbol" panose="05050102010706020507" pitchFamily="18" charset="2"/>
            </a:endParaRPr>
          </a:p>
          <a:p>
            <a:pPr lvl="1">
              <a:buFont typeface="Arial" panose="020B0604020202020204" pitchFamily="34" charset="0"/>
              <a:buNone/>
            </a:pPr>
            <a:r>
              <a:rPr lang="en-US" altLang="en-US" sz="2400"/>
              <a:t>           = 7</a:t>
            </a:r>
            <a:r>
              <a:rPr lang="en-US" altLang="en-US" sz="2400" baseline="30000"/>
              <a:t>3 </a:t>
            </a:r>
            <a:r>
              <a:rPr lang="en-US" altLang="en-US" sz="2400"/>
              <a:t> mod 13</a:t>
            </a:r>
          </a:p>
          <a:p>
            <a:pPr lvl="1">
              <a:buFont typeface="Arial" panose="020B0604020202020204" pitchFamily="34" charset="0"/>
              <a:buNone/>
            </a:pPr>
            <a:r>
              <a:rPr lang="en-US" altLang="en-US" sz="2400">
                <a:sym typeface="Symbol" panose="05050102010706020507" pitchFamily="18" charset="2"/>
              </a:rPr>
              <a:t>           </a:t>
            </a:r>
            <a:r>
              <a:rPr lang="en-US" altLang="en-US" sz="2400"/>
              <a:t>= </a:t>
            </a:r>
            <a:r>
              <a:rPr lang="en-US" altLang="en-US" sz="2400">
                <a:sym typeface="Symbol" panose="05050102010706020507" pitchFamily="18" charset="2"/>
              </a:rPr>
              <a:t>343 mod 13</a:t>
            </a:r>
          </a:p>
          <a:p>
            <a:pPr lvl="1">
              <a:buFont typeface="Arial" panose="020B0604020202020204" pitchFamily="34" charset="0"/>
              <a:buNone/>
            </a:pPr>
            <a:r>
              <a:rPr lang="en-IN" altLang="en-US" sz="2400"/>
              <a:t>           </a:t>
            </a:r>
            <a:r>
              <a:rPr lang="en-US" altLang="en-US" sz="2400"/>
              <a:t>=</a:t>
            </a:r>
            <a:r>
              <a:rPr lang="en-IN" altLang="en-US" sz="2400"/>
              <a:t> 5</a:t>
            </a:r>
          </a:p>
          <a:p>
            <a:pPr lvl="1">
              <a:buFont typeface="Arial" panose="020B0604020202020204" pitchFamily="34" charset="0"/>
              <a:buNone/>
            </a:pPr>
            <a:r>
              <a:rPr lang="en-IN" altLang="en-US" sz="2400"/>
              <a:t>Therefore, </a:t>
            </a:r>
            <a:r>
              <a:rPr lang="en-US" altLang="en-US" sz="3200" b="1"/>
              <a:t>7</a:t>
            </a:r>
            <a:r>
              <a:rPr lang="en-US" altLang="en-US" sz="3200" b="1" baseline="30000"/>
              <a:t>2019</a:t>
            </a:r>
            <a:r>
              <a:rPr lang="en-US" altLang="en-US" sz="3200" b="1"/>
              <a:t> mod 13 = 5</a:t>
            </a:r>
            <a:endParaRPr lang="en-IN" altLang="en-US" sz="2400"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5EE8D7EF-FD25-D671-7F6B-8E920EA93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Exercise</a:t>
            </a:r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9596828F-02A2-A3D6-0360-D6193D66A0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8534400" cy="4906963"/>
          </a:xfrm>
        </p:spPr>
        <p:txBody>
          <a:bodyPr/>
          <a:lstStyle/>
          <a:p>
            <a:pPr algn="just"/>
            <a:r>
              <a:rPr lang="en-US" altLang="en-US" sz="2000"/>
              <a:t>Solve the following equations using modular arithmetic: 31</a:t>
            </a:r>
            <a:r>
              <a:rPr lang="en-US" altLang="en-US" sz="2000" baseline="30000"/>
              <a:t>500</a:t>
            </a:r>
            <a:r>
              <a:rPr lang="en-US" altLang="en-US" sz="2000"/>
              <a:t> mod 30, 88</a:t>
            </a:r>
            <a:r>
              <a:rPr lang="en-US" altLang="en-US" sz="2000" baseline="30000"/>
              <a:t>7</a:t>
            </a:r>
            <a:r>
              <a:rPr lang="en-US" altLang="en-US" sz="2000"/>
              <a:t> mod 187, 3</a:t>
            </a:r>
            <a:r>
              <a:rPr lang="en-US" altLang="en-US" sz="2000" baseline="30000"/>
              <a:t>100</a:t>
            </a:r>
            <a:r>
              <a:rPr lang="en-US" altLang="en-US" sz="2000"/>
              <a:t> mod 29, 2316 mod 30.</a:t>
            </a:r>
          </a:p>
          <a:p>
            <a:pPr algn="just"/>
            <a:r>
              <a:rPr lang="en-US" altLang="en-US" sz="2000"/>
              <a:t>Find each of the following using Fermat’s theorem. 5</a:t>
            </a:r>
            <a:r>
              <a:rPr lang="en-US" altLang="en-US" sz="2000" baseline="30000"/>
              <a:t>60</a:t>
            </a:r>
            <a:r>
              <a:rPr lang="en-US" altLang="en-US" sz="2000"/>
              <a:t> mod 7, 7</a:t>
            </a:r>
            <a:r>
              <a:rPr lang="en-US" altLang="en-US" sz="2000" baseline="30000"/>
              <a:t>2019</a:t>
            </a:r>
            <a:r>
              <a:rPr lang="en-US" altLang="en-US" sz="2000"/>
              <a:t> mod 13, 12</a:t>
            </a:r>
            <a:r>
              <a:rPr lang="en-US" altLang="en-US" sz="2000" baseline="30000"/>
              <a:t>101</a:t>
            </a:r>
            <a:r>
              <a:rPr lang="en-US" altLang="en-US" sz="2000"/>
              <a:t> mod 5.</a:t>
            </a:r>
          </a:p>
          <a:p>
            <a:pPr algn="just"/>
            <a:r>
              <a:rPr lang="en-US" altLang="en-US" sz="2000"/>
              <a:t>Find the value of totient function: </a:t>
            </a:r>
            <a:r>
              <a:rPr lang="en-US" altLang="en-US" sz="2000">
                <a:sym typeface="Symbol" panose="05050102010706020507" pitchFamily="18" charset="2"/>
              </a:rPr>
              <a:t>(240), (12), (35), (7000), (369), (372).</a:t>
            </a:r>
            <a:endParaRPr lang="en-US" altLang="en-US" sz="2000"/>
          </a:p>
          <a:p>
            <a:pPr algn="just"/>
            <a:r>
              <a:rPr lang="en-US" altLang="en-US" sz="2000"/>
              <a:t>Find gcd(3486,10292), gcd(750, 900), gcd(252,105), gcd(1005, 105) using Euclid’s algorithm.</a:t>
            </a:r>
            <a:r>
              <a:rPr lang="en-US" altLang="en-US" sz="2000" b="1"/>
              <a:t>                       </a:t>
            </a:r>
            <a:endParaRPr lang="en-IN" altLang="en-US" sz="2000"/>
          </a:p>
          <a:p>
            <a:pPr algn="just"/>
            <a:r>
              <a:rPr lang="en-US" altLang="en-US" sz="2000"/>
              <a:t>What is the multiplicative inverse of 11 mod 26?</a:t>
            </a:r>
            <a:r>
              <a:rPr lang="en-US" altLang="en-US" sz="2000" b="1"/>
              <a:t> </a:t>
            </a:r>
          </a:p>
          <a:p>
            <a:pPr algn="just"/>
            <a:r>
              <a:rPr lang="en-US" altLang="en-US" sz="2000"/>
              <a:t>Using the Chinese remainder theorem, find the value of x that satisfies the following system of linear congruence: x </a:t>
            </a:r>
            <a:r>
              <a:rPr lang="en-US" altLang="en-US" sz="2000">
                <a:sym typeface="Symbol" panose="05050102010706020507" pitchFamily="18" charset="2"/>
              </a:rPr>
              <a:t></a:t>
            </a:r>
            <a:r>
              <a:rPr lang="en-US" altLang="en-US" sz="2000"/>
              <a:t> 5 (mod 7), x </a:t>
            </a:r>
            <a:r>
              <a:rPr lang="en-US" altLang="en-US" sz="2000">
                <a:sym typeface="Symbol" panose="05050102010706020507" pitchFamily="18" charset="2"/>
              </a:rPr>
              <a:t></a:t>
            </a:r>
            <a:r>
              <a:rPr lang="en-US" altLang="en-US" sz="2000"/>
              <a:t> 2 (mod 3), x </a:t>
            </a:r>
            <a:r>
              <a:rPr lang="en-US" altLang="en-US" sz="2000">
                <a:sym typeface="Symbol" panose="05050102010706020507" pitchFamily="18" charset="2"/>
              </a:rPr>
              <a:t></a:t>
            </a:r>
            <a:r>
              <a:rPr lang="en-US" altLang="en-US" sz="2000"/>
              <a:t> 2 (mod 5).</a:t>
            </a:r>
          </a:p>
          <a:p>
            <a:pPr algn="just"/>
            <a:r>
              <a:rPr lang="en-US" altLang="en-US" sz="2000"/>
              <a:t>Using discrete logarithm, find the value of i : 17</a:t>
            </a:r>
            <a:r>
              <a:rPr lang="en-US" altLang="en-US" sz="2000" baseline="30000"/>
              <a:t>i</a:t>
            </a:r>
            <a:r>
              <a:rPr lang="en-US" altLang="en-US" sz="2000"/>
              <a:t> mod 2111 = 1922,                  5</a:t>
            </a:r>
            <a:r>
              <a:rPr lang="en-US" altLang="en-US" sz="2000" baseline="30000"/>
              <a:t>i</a:t>
            </a:r>
            <a:r>
              <a:rPr lang="en-US" altLang="en-US" sz="2000"/>
              <a:t> mod 13 = 8.</a:t>
            </a:r>
            <a:endParaRPr lang="en-IN" altLang="en-US" sz="2000"/>
          </a:p>
          <a:p>
            <a:pPr algn="just"/>
            <a:endParaRPr lang="en-IN" altLang="en-US"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584</Words>
  <Application>Microsoft Office PowerPoint</Application>
  <PresentationFormat>On-screen Show (4:3)</PresentationFormat>
  <Paragraphs>82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Symbol</vt:lpstr>
      <vt:lpstr>Office Theme</vt:lpstr>
      <vt:lpstr>Modular Exponentiation</vt:lpstr>
      <vt:lpstr>Example - 1</vt:lpstr>
      <vt:lpstr>Modular Exponentiation</vt:lpstr>
      <vt:lpstr>Example - 2</vt:lpstr>
      <vt:lpstr>Example – 3</vt:lpstr>
      <vt:lpstr>Example - 4</vt:lpstr>
      <vt:lpstr>Using Fermat’s theorem</vt:lpstr>
      <vt:lpstr>Exercise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god</dc:creator>
  <cp:lastModifiedBy>Pavithra</cp:lastModifiedBy>
  <cp:revision>25</cp:revision>
  <dcterms:created xsi:type="dcterms:W3CDTF">2006-08-16T00:00:00Z</dcterms:created>
  <dcterms:modified xsi:type="dcterms:W3CDTF">2024-01-18T23:46:57Z</dcterms:modified>
</cp:coreProperties>
</file>