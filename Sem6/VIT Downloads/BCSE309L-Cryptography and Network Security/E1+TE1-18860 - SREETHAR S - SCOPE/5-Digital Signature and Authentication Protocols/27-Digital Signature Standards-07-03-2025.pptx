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78" r:id="rId3"/>
    <p:sldId id="25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6" r:id="rId18"/>
    <p:sldId id="277" r:id="rId19"/>
    <p:sldId id="273" r:id="rId20"/>
    <p:sldId id="274" r:id="rId21"/>
    <p:sldId id="275" r:id="rId22"/>
    <p:sldId id="279" r:id="rId2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52"/>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A8719D4-8D0D-44F9-9390-4D3FEEBE7EA3}" type="datetimeFigureOut">
              <a:rPr lang="en-IN" smtClean="0"/>
              <a:t>04-03-2025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1DB1628-AB75-4338-8BCB-4D102E561AA7}" type="slidenum">
              <a:rPr lang="en-IN" smtClean="0"/>
              <a:t>‹#›</a:t>
            </a:fld>
            <a:endParaRPr lang="en-IN"/>
          </a:p>
        </p:txBody>
      </p:sp>
    </p:spTree>
    <p:extLst>
      <p:ext uri="{BB962C8B-B14F-4D97-AF65-F5344CB8AC3E}">
        <p14:creationId xmlns:p14="http://schemas.microsoft.com/office/powerpoint/2010/main" val="173923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DB1628-AB75-4338-8BCB-4D102E561AA7}" type="slidenum">
              <a:rPr lang="en-IN" smtClean="0"/>
              <a:t>18</a:t>
            </a:fld>
            <a:endParaRPr lang="en-IN"/>
          </a:p>
        </p:txBody>
      </p:sp>
    </p:spTree>
    <p:extLst>
      <p:ext uri="{BB962C8B-B14F-4D97-AF65-F5344CB8AC3E}">
        <p14:creationId xmlns:p14="http://schemas.microsoft.com/office/powerpoint/2010/main" val="2150866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DB1628-AB75-4338-8BCB-4D102E561AA7}" type="slidenum">
              <a:rPr lang="en-IN" smtClean="0"/>
              <a:t>20</a:t>
            </a:fld>
            <a:endParaRPr lang="en-IN"/>
          </a:p>
        </p:txBody>
      </p:sp>
    </p:spTree>
    <p:extLst>
      <p:ext uri="{BB962C8B-B14F-4D97-AF65-F5344CB8AC3E}">
        <p14:creationId xmlns:p14="http://schemas.microsoft.com/office/powerpoint/2010/main" val="1733881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rgbClr val="FC0128"/>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C0128"/>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C0128"/>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6" name="Holder 6"/>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C0128"/>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4" name="Holder 4"/>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3" name="Holder 3"/>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7952" y="241554"/>
            <a:ext cx="8388350" cy="6299200"/>
          </a:xfrm>
          <a:custGeom>
            <a:avLst/>
            <a:gdLst/>
            <a:ahLst/>
            <a:cxnLst/>
            <a:rect l="l" t="t" r="r" b="b"/>
            <a:pathLst>
              <a:path w="8388350" h="6299200">
                <a:moveTo>
                  <a:pt x="0" y="0"/>
                </a:moveTo>
                <a:lnTo>
                  <a:pt x="0" y="6298692"/>
                </a:lnTo>
                <a:lnTo>
                  <a:pt x="8388096" y="6298692"/>
                </a:lnTo>
                <a:lnTo>
                  <a:pt x="8388096" y="0"/>
                </a:lnTo>
                <a:lnTo>
                  <a:pt x="0" y="0"/>
                </a:lnTo>
                <a:close/>
              </a:path>
            </a:pathLst>
          </a:custGeom>
          <a:ln w="25400">
            <a:solidFill>
              <a:srgbClr val="063DE8"/>
            </a:solidFill>
          </a:ln>
        </p:spPr>
        <p:txBody>
          <a:bodyPr wrap="square" lIns="0" tIns="0" rIns="0" bIns="0" rtlCol="0"/>
          <a:lstStyle/>
          <a:p>
            <a:endParaRPr/>
          </a:p>
        </p:txBody>
      </p:sp>
      <p:sp>
        <p:nvSpPr>
          <p:cNvPr id="17" name="bg object 17"/>
          <p:cNvSpPr/>
          <p:nvPr/>
        </p:nvSpPr>
        <p:spPr>
          <a:xfrm>
            <a:off x="8763000" y="1383030"/>
            <a:ext cx="381000" cy="0"/>
          </a:xfrm>
          <a:custGeom>
            <a:avLst/>
            <a:gdLst/>
            <a:ahLst/>
            <a:cxnLst/>
            <a:rect l="l" t="t" r="r" b="b"/>
            <a:pathLst>
              <a:path w="381000">
                <a:moveTo>
                  <a:pt x="0" y="0"/>
                </a:moveTo>
                <a:lnTo>
                  <a:pt x="381000" y="0"/>
                </a:lnTo>
              </a:path>
            </a:pathLst>
          </a:custGeom>
          <a:ln w="6350">
            <a:solidFill>
              <a:srgbClr val="919191"/>
            </a:solidFill>
          </a:ln>
        </p:spPr>
        <p:txBody>
          <a:bodyPr wrap="square" lIns="0" tIns="0" rIns="0" bIns="0" rtlCol="0"/>
          <a:lstStyle/>
          <a:p>
            <a:endParaRPr/>
          </a:p>
        </p:txBody>
      </p:sp>
      <p:sp>
        <p:nvSpPr>
          <p:cNvPr id="18" name="bg object 18"/>
          <p:cNvSpPr/>
          <p:nvPr/>
        </p:nvSpPr>
        <p:spPr>
          <a:xfrm>
            <a:off x="7302245" y="0"/>
            <a:ext cx="0" cy="228600"/>
          </a:xfrm>
          <a:custGeom>
            <a:avLst/>
            <a:gdLst/>
            <a:ahLst/>
            <a:cxnLst/>
            <a:rect l="l" t="t" r="r" b="b"/>
            <a:pathLst>
              <a:path h="228600">
                <a:moveTo>
                  <a:pt x="0" y="228600"/>
                </a:moveTo>
                <a:lnTo>
                  <a:pt x="0" y="0"/>
                </a:lnTo>
              </a:path>
            </a:pathLst>
          </a:custGeom>
          <a:ln w="6350">
            <a:solidFill>
              <a:srgbClr val="919191"/>
            </a:solidFill>
          </a:ln>
        </p:spPr>
        <p:txBody>
          <a:bodyPr wrap="square" lIns="0" tIns="0" rIns="0" bIns="0" rtlCol="0"/>
          <a:lstStyle/>
          <a:p>
            <a:endParaRPr/>
          </a:p>
        </p:txBody>
      </p:sp>
      <p:sp>
        <p:nvSpPr>
          <p:cNvPr id="2" name="Holder 2"/>
          <p:cNvSpPr>
            <a:spLocks noGrp="1"/>
          </p:cNvSpPr>
          <p:nvPr>
            <p:ph type="title"/>
          </p:nvPr>
        </p:nvSpPr>
        <p:spPr>
          <a:xfrm>
            <a:off x="1421993" y="345287"/>
            <a:ext cx="6223000" cy="574040"/>
          </a:xfrm>
          <a:prstGeom prst="rect">
            <a:avLst/>
          </a:prstGeom>
        </p:spPr>
        <p:txBody>
          <a:bodyPr wrap="square" lIns="0" tIns="0" rIns="0" bIns="0">
            <a:spAutoFit/>
          </a:bodyPr>
          <a:lstStyle>
            <a:lvl1pPr>
              <a:defRPr sz="3600" b="1" i="0">
                <a:solidFill>
                  <a:srgbClr val="FC0128"/>
                </a:solidFill>
                <a:latin typeface="Times New Roman"/>
                <a:cs typeface="Times New Roman"/>
              </a:defRPr>
            </a:lvl1pPr>
          </a:lstStyle>
          <a:p>
            <a:endParaRPr/>
          </a:p>
        </p:txBody>
      </p:sp>
      <p:sp>
        <p:nvSpPr>
          <p:cNvPr id="3" name="Holder 3"/>
          <p:cNvSpPr>
            <a:spLocks noGrp="1"/>
          </p:cNvSpPr>
          <p:nvPr>
            <p:ph type="body" idx="1"/>
          </p:nvPr>
        </p:nvSpPr>
        <p:spPr>
          <a:xfrm>
            <a:off x="457454" y="1316227"/>
            <a:ext cx="8017509" cy="446786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627873" y="6368117"/>
            <a:ext cx="981075"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a:xfrm>
            <a:off x="458977" y="6368117"/>
            <a:ext cx="2192020"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endParaRPr spc="-10" dirty="0"/>
          </a:p>
        </p:txBody>
      </p:sp>
      <p:sp>
        <p:nvSpPr>
          <p:cNvPr id="6" name="Holder 6"/>
          <p:cNvSpPr>
            <a:spLocks noGrp="1"/>
          </p:cNvSpPr>
          <p:nvPr>
            <p:ph type="sldNum" sz="quarter" idx="7"/>
          </p:nvPr>
        </p:nvSpPr>
        <p:spPr>
          <a:xfrm>
            <a:off x="4276597" y="6368117"/>
            <a:ext cx="655954" cy="48895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10" dirty="0"/>
              <a:t>CSE571S</a:t>
            </a:r>
          </a:p>
          <a:p>
            <a:pPr marL="66675">
              <a:lnSpc>
                <a:spcPct val="100000"/>
              </a:lnSpc>
              <a:spcBef>
                <a:spcPts val="150"/>
              </a:spcBef>
            </a:pPr>
            <a:r>
              <a:rPr sz="1800" spc="-10" dirty="0"/>
              <a:t>13-</a:t>
            </a:r>
            <a:fld id="{81D60167-4931-47E6-BA6A-407CBD079E47}" type="slidenum">
              <a:rPr sz="1800" spc="-25" dirty="0"/>
              <a:t>‹#›</a:t>
            </a:fld>
            <a:endParaRPr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en.wikipedia.org/wiki/ElGamal_signature_schem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en.wikipedia.org/wiki/Digital_Signature_Algorith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2183" y="340029"/>
            <a:ext cx="6154420" cy="1031240"/>
          </a:xfrm>
          <a:prstGeom prst="rect">
            <a:avLst/>
          </a:prstGeom>
        </p:spPr>
        <p:txBody>
          <a:bodyPr vert="horz" wrap="square" lIns="0" tIns="12700" rIns="0" bIns="0" rtlCol="0">
            <a:spAutoFit/>
          </a:bodyPr>
          <a:lstStyle/>
          <a:p>
            <a:pPr marL="12700">
              <a:lnSpc>
                <a:spcPct val="100000"/>
              </a:lnSpc>
              <a:spcBef>
                <a:spcPts val="100"/>
              </a:spcBef>
              <a:tabLst>
                <a:tab pos="2645410" algn="l"/>
              </a:tabLst>
            </a:pPr>
            <a:r>
              <a:rPr sz="6600" spc="-10" dirty="0"/>
              <a:t>Digital</a:t>
            </a:r>
            <a:r>
              <a:rPr sz="6600" dirty="0"/>
              <a:t>	</a:t>
            </a:r>
            <a:r>
              <a:rPr sz="6600" spc="-10" dirty="0"/>
              <a:t>Signature</a:t>
            </a:r>
            <a:endParaRPr sz="6600"/>
          </a:p>
        </p:txBody>
      </p:sp>
      <p:grpSp>
        <p:nvGrpSpPr>
          <p:cNvPr id="4" name="object 4"/>
          <p:cNvGrpSpPr/>
          <p:nvPr/>
        </p:nvGrpSpPr>
        <p:grpSpPr>
          <a:xfrm>
            <a:off x="3124200" y="2529840"/>
            <a:ext cx="2070735" cy="1798320"/>
            <a:chOff x="3131820" y="1557527"/>
            <a:chExt cx="2070735" cy="1798320"/>
          </a:xfrm>
        </p:grpSpPr>
        <p:pic>
          <p:nvPicPr>
            <p:cNvPr id="5" name="object 5"/>
            <p:cNvPicPr/>
            <p:nvPr/>
          </p:nvPicPr>
          <p:blipFill>
            <a:blip r:embed="rId2" cstate="print"/>
            <a:stretch>
              <a:fillRect/>
            </a:stretch>
          </p:blipFill>
          <p:spPr>
            <a:xfrm>
              <a:off x="3492246" y="1628393"/>
              <a:ext cx="1709927" cy="1727454"/>
            </a:xfrm>
            <a:prstGeom prst="rect">
              <a:avLst/>
            </a:prstGeom>
          </p:spPr>
        </p:pic>
        <p:sp>
          <p:nvSpPr>
            <p:cNvPr id="6" name="object 6"/>
            <p:cNvSpPr/>
            <p:nvPr/>
          </p:nvSpPr>
          <p:spPr>
            <a:xfrm>
              <a:off x="3131820" y="1557527"/>
              <a:ext cx="1080135" cy="431800"/>
            </a:xfrm>
            <a:custGeom>
              <a:avLst/>
              <a:gdLst/>
              <a:ahLst/>
              <a:cxnLst/>
              <a:rect l="l" t="t" r="r" b="b"/>
              <a:pathLst>
                <a:path w="1080135" h="431800">
                  <a:moveTo>
                    <a:pt x="1079753" y="431291"/>
                  </a:moveTo>
                  <a:lnTo>
                    <a:pt x="1079753" y="0"/>
                  </a:lnTo>
                  <a:lnTo>
                    <a:pt x="0" y="0"/>
                  </a:lnTo>
                  <a:lnTo>
                    <a:pt x="0" y="431291"/>
                  </a:lnTo>
                  <a:lnTo>
                    <a:pt x="1079753" y="431291"/>
                  </a:lnTo>
                  <a:close/>
                </a:path>
              </a:pathLst>
            </a:custGeom>
            <a:solidFill>
              <a:srgbClr val="FFFFFF"/>
            </a:solidFill>
          </p:spPr>
          <p:txBody>
            <a:bodyPr wrap="square" lIns="0" tIns="0" rIns="0" bIns="0" rtlCol="0"/>
            <a:lstStyle/>
            <a:p>
              <a:endParaRPr/>
            </a:p>
          </p:txBody>
        </p:sp>
      </p:grpSp>
      <p:sp>
        <p:nvSpPr>
          <p:cNvPr id="10" name="Date Placeholder 9">
            <a:extLst>
              <a:ext uri="{FF2B5EF4-FFF2-40B4-BE49-F238E27FC236}">
                <a16:creationId xmlns:a16="http://schemas.microsoft.com/office/drawing/2014/main" id="{1D4FFA0B-24EE-429A-A819-B732D58DC210}"/>
              </a:ext>
            </a:extLst>
          </p:cNvPr>
          <p:cNvSpPr>
            <a:spLocks noGrp="1"/>
          </p:cNvSpPr>
          <p:nvPr>
            <p:ph type="dt" sz="half" idx="6"/>
          </p:nvPr>
        </p:nvSpPr>
        <p:spPr/>
        <p:txBody>
          <a:bodyPr/>
          <a:lstStyle/>
          <a:p>
            <a:pPr marL="12700">
              <a:lnSpc>
                <a:spcPts val="1410"/>
              </a:lnSpc>
            </a:pPr>
            <a:endParaRPr lang="en-IN" spc="-10" dirty="0"/>
          </a:p>
        </p:txBody>
      </p:sp>
      <p:sp>
        <p:nvSpPr>
          <p:cNvPr id="11" name="Footer Placeholder 10">
            <a:extLst>
              <a:ext uri="{FF2B5EF4-FFF2-40B4-BE49-F238E27FC236}">
                <a16:creationId xmlns:a16="http://schemas.microsoft.com/office/drawing/2014/main" id="{C2A092B5-94C9-4A5A-AC55-1D0DAF391A78}"/>
              </a:ext>
            </a:extLst>
          </p:cNvPr>
          <p:cNvSpPr>
            <a:spLocks noGrp="1"/>
          </p:cNvSpPr>
          <p:nvPr>
            <p:ph type="ftr" sz="quarter" idx="5"/>
          </p:nvPr>
        </p:nvSpPr>
        <p:spPr/>
        <p:txBody>
          <a:bodyPr/>
          <a:lstStyle/>
          <a:p>
            <a:pPr marL="12700">
              <a:lnSpc>
                <a:spcPts val="1410"/>
              </a:lnSpc>
            </a:pPr>
            <a:endParaRPr lang="en-IN" spc="-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EF2715C-AADA-42C9-82F3-73AA107CDD28}"/>
              </a:ext>
            </a:extLst>
          </p:cNvPr>
          <p:cNvSpPr>
            <a:spLocks noGrp="1"/>
          </p:cNvSpPr>
          <p:nvPr>
            <p:ph sz="half" idx="2"/>
          </p:nvPr>
        </p:nvSpPr>
        <p:spPr>
          <a:xfrm>
            <a:off x="458977" y="609600"/>
            <a:ext cx="3977640" cy="6331990"/>
          </a:xfrm>
        </p:spPr>
        <p:txBody>
          <a:bodyPr/>
          <a:lstStyle/>
          <a:p>
            <a:pPr>
              <a:lnSpc>
                <a:spcPct val="115000"/>
              </a:lnSpc>
              <a:spcAft>
                <a:spcPts val="800"/>
              </a:spcAft>
            </a:pPr>
            <a:r>
              <a:rPr lang="en-IN" sz="1800" b="1" kern="100" dirty="0">
                <a:effectLst/>
                <a:latin typeface="Times New Roman" panose="02020603050405020304" pitchFamily="18" charset="0"/>
                <a:ea typeface="Calibri" panose="020F0502020204030204" pitchFamily="34" charset="0"/>
                <a:cs typeface="Cordia New" panose="020B0304020202020204" pitchFamily="34" charset="-34"/>
              </a:rPr>
              <a:t>Unit - III:</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buFont typeface="+mj-lt"/>
              <a:buAutoNum type="arabicPeriod"/>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Asymmetric key cryptographic techniques: principles </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buFont typeface="+mj-lt"/>
              <a:buAutoNum type="arabicPeriod"/>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RSA</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buFont typeface="+mj-lt"/>
              <a:buAutoNum type="arabicPeriod"/>
            </a:pPr>
            <a:r>
              <a:rPr lang="en-IN" sz="1800" kern="100" dirty="0" err="1">
                <a:effectLst/>
                <a:latin typeface="Times New Roman" panose="02020603050405020304" pitchFamily="18" charset="0"/>
                <a:ea typeface="Calibri" panose="020F0502020204030204" pitchFamily="34" charset="0"/>
                <a:cs typeface="Cordia New" panose="020B0304020202020204" pitchFamily="34" charset="-34"/>
              </a:rPr>
              <a:t>ElGamal</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buFont typeface="+mj-lt"/>
              <a:buAutoNum type="arabicPeriod"/>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Elliptic Curve cryptography</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buFont typeface="+mj-lt"/>
              <a:buAutoNum type="arabicPeriod"/>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Secret Sharing, Key distribution and Key exchange protocols</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15000"/>
              </a:lnSpc>
              <a:spcAft>
                <a:spcPts val="800"/>
              </a:spcAft>
              <a:buFont typeface="+mj-lt"/>
              <a:buAutoNum type="arabicPeriod"/>
            </a:pPr>
            <a:r>
              <a:rPr lang="en-IN" sz="1800" kern="100" dirty="0">
                <a:effectLst/>
                <a:latin typeface="Times New Roman" panose="02020603050405020304" pitchFamily="18" charset="0"/>
                <a:ea typeface="Calibri" panose="020F0502020204030204" pitchFamily="34" charset="0"/>
                <a:cs typeface="Cordia New" panose="020B0304020202020204" pitchFamily="34" charset="-34"/>
              </a:rPr>
              <a:t>Diffie-Hellman Key Exchange, Man-in-the-Meddle Attack</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IN" sz="2000" b="1" kern="100" dirty="0">
                <a:effectLst/>
                <a:latin typeface="Times New Roman" panose="02020603050405020304" pitchFamily="18" charset="0"/>
                <a:ea typeface="Calibri" panose="020F0502020204030204" pitchFamily="34" charset="0"/>
                <a:cs typeface="Cordia New" panose="020B0304020202020204" pitchFamily="34" charset="-34"/>
              </a:rPr>
              <a:t>Unit - IV:</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Requirements for Hash Functions</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Security of Hash Functions</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Message Digest (MD5)</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Secure Hash Function (SHA 512)</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Birthday Attack, </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pPr>
            <a:r>
              <a:rPr lang="en-IN" sz="2000" kern="100" dirty="0">
                <a:effectLst/>
                <a:latin typeface="Times New Roman" panose="02020603050405020304" pitchFamily="18" charset="0"/>
                <a:ea typeface="Calibri" panose="020F0502020204030204" pitchFamily="34" charset="0"/>
                <a:cs typeface="Cordia New" panose="020B0304020202020204" pitchFamily="34" charset="-34"/>
              </a:rPr>
              <a:t>HMAC</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IN" dirty="0"/>
          </a:p>
        </p:txBody>
      </p:sp>
      <p:sp>
        <p:nvSpPr>
          <p:cNvPr id="8" name="Content Placeholder 7">
            <a:extLst>
              <a:ext uri="{FF2B5EF4-FFF2-40B4-BE49-F238E27FC236}">
                <a16:creationId xmlns:a16="http://schemas.microsoft.com/office/drawing/2014/main" id="{D1DC5827-C4C6-495A-BADE-B098BF3ACB9A}"/>
              </a:ext>
            </a:extLst>
          </p:cNvPr>
          <p:cNvSpPr>
            <a:spLocks noGrp="1"/>
          </p:cNvSpPr>
          <p:nvPr>
            <p:ph sz="half" idx="3"/>
          </p:nvPr>
        </p:nvSpPr>
        <p:spPr>
          <a:xfrm>
            <a:off x="4631308" y="739930"/>
            <a:ext cx="3977640" cy="5378139"/>
          </a:xfrm>
        </p:spPr>
        <p:txBody>
          <a:bodyPr/>
          <a:lstStyle/>
          <a:p>
            <a:pPr>
              <a:lnSpc>
                <a:spcPct val="107000"/>
              </a:lnSpc>
              <a:spcAft>
                <a:spcPts val="800"/>
              </a:spcAft>
            </a:pPr>
            <a:r>
              <a:rPr lang="en-IN" sz="2400" b="1" kern="100" dirty="0">
                <a:effectLst/>
                <a:latin typeface="Times New Roman" panose="02020603050405020304" pitchFamily="18" charset="0"/>
                <a:ea typeface="Calibri" panose="020F0502020204030204" pitchFamily="34" charset="0"/>
                <a:cs typeface="Cordia New" panose="020B0304020202020204" pitchFamily="34" charset="-34"/>
              </a:rPr>
              <a:t>Unit – V:</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Authentication Requirements</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Authentication Functions</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Message Authentication Codes,</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Digital Signature Authentication</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Authentication Protocols</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Digital Signature Standards, </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buFont typeface="+mj-lt"/>
              <a:buAutoNum type="arabicPeriod"/>
            </a:pP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RSA Digital Signature</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lvl="0" indent="-342900">
              <a:lnSpc>
                <a:spcPct val="107000"/>
              </a:lnSpc>
              <a:spcAft>
                <a:spcPts val="800"/>
              </a:spcAft>
              <a:buFont typeface="+mj-lt"/>
              <a:buAutoNum type="arabicPeriod"/>
            </a:pPr>
            <a:r>
              <a:rPr lang="en-IN" sz="2400" kern="100" dirty="0" err="1">
                <a:effectLst/>
                <a:latin typeface="Times New Roman" panose="02020603050405020304" pitchFamily="18" charset="0"/>
                <a:ea typeface="Calibri" panose="020F0502020204030204" pitchFamily="34" charset="0"/>
                <a:cs typeface="Cordia New" panose="020B0304020202020204" pitchFamily="34" charset="-34"/>
              </a:rPr>
              <a:t>Elgamal</a:t>
            </a:r>
            <a:r>
              <a:rPr lang="en-IN" sz="2400" kern="100" dirty="0">
                <a:effectLst/>
                <a:latin typeface="Times New Roman" panose="02020603050405020304" pitchFamily="18" charset="0"/>
                <a:ea typeface="Calibri" panose="020F0502020204030204" pitchFamily="34" charset="0"/>
                <a:cs typeface="Cordia New" panose="020B0304020202020204" pitchFamily="34" charset="-34"/>
              </a:rPr>
              <a:t> based Digital Signature,</a:t>
            </a:r>
            <a:endParaRPr lang="en-IN" sz="2400" kern="100" dirty="0">
              <a:effectLst/>
              <a:latin typeface="Calibri" panose="020F0502020204030204" pitchFamily="34" charset="0"/>
              <a:ea typeface="Calibri" panose="020F0502020204030204" pitchFamily="34" charset="0"/>
              <a:cs typeface="Cordia New" panose="020B0304020202020204" pitchFamily="34" charset="-34"/>
            </a:endParaRPr>
          </a:p>
          <a:p>
            <a:endParaRPr lang="en-IN" dirty="0"/>
          </a:p>
        </p:txBody>
      </p:sp>
      <p:sp>
        <p:nvSpPr>
          <p:cNvPr id="4" name="Footer Placeholder 3">
            <a:extLst>
              <a:ext uri="{FF2B5EF4-FFF2-40B4-BE49-F238E27FC236}">
                <a16:creationId xmlns:a16="http://schemas.microsoft.com/office/drawing/2014/main" id="{AAD461C4-828F-42DB-A15D-E98082C78916}"/>
              </a:ext>
            </a:extLst>
          </p:cNvPr>
          <p:cNvSpPr>
            <a:spLocks noGrp="1"/>
          </p:cNvSpPr>
          <p:nvPr>
            <p:ph type="ftr" sz="quarter" idx="5"/>
          </p:nvPr>
        </p:nvSpPr>
        <p:spPr/>
        <p:txBody>
          <a:bodyPr/>
          <a:lstStyle/>
          <a:p>
            <a:pPr marL="12700">
              <a:lnSpc>
                <a:spcPts val="1410"/>
              </a:lnSpc>
            </a:pPr>
            <a:endParaRPr lang="en-IN" spc="-20" dirty="0"/>
          </a:p>
        </p:txBody>
      </p:sp>
      <p:sp>
        <p:nvSpPr>
          <p:cNvPr id="5" name="Date Placeholder 4">
            <a:extLst>
              <a:ext uri="{FF2B5EF4-FFF2-40B4-BE49-F238E27FC236}">
                <a16:creationId xmlns:a16="http://schemas.microsoft.com/office/drawing/2014/main" id="{BB32E294-EB03-4496-8DF2-D36161FBDA07}"/>
              </a:ext>
            </a:extLst>
          </p:cNvPr>
          <p:cNvSpPr>
            <a:spLocks noGrp="1"/>
          </p:cNvSpPr>
          <p:nvPr>
            <p:ph type="dt" sz="half" idx="6"/>
          </p:nvPr>
        </p:nvSpPr>
        <p:spPr/>
        <p:txBody>
          <a:bodyPr/>
          <a:lstStyle/>
          <a:p>
            <a:pPr marL="12700">
              <a:lnSpc>
                <a:spcPts val="1410"/>
              </a:lnSpc>
            </a:pPr>
            <a:endParaRPr lang="en-IN" spc="-10" dirty="0"/>
          </a:p>
        </p:txBody>
      </p:sp>
      <p:sp>
        <p:nvSpPr>
          <p:cNvPr id="10" name="TextBox 9">
            <a:extLst>
              <a:ext uri="{FF2B5EF4-FFF2-40B4-BE49-F238E27FC236}">
                <a16:creationId xmlns:a16="http://schemas.microsoft.com/office/drawing/2014/main" id="{D9F77ED6-D60F-413A-B598-57EE0610BF24}"/>
              </a:ext>
            </a:extLst>
          </p:cNvPr>
          <p:cNvSpPr txBox="1"/>
          <p:nvPr/>
        </p:nvSpPr>
        <p:spPr>
          <a:xfrm>
            <a:off x="1984108" y="229222"/>
            <a:ext cx="4576712" cy="593304"/>
          </a:xfrm>
          <a:prstGeom prst="rect">
            <a:avLst/>
          </a:prstGeom>
          <a:noFill/>
        </p:spPr>
        <p:txBody>
          <a:bodyPr wrap="square">
            <a:spAutoFit/>
          </a:bodyPr>
          <a:lstStyle/>
          <a:p>
            <a:pPr lvl="0" algn="ctr">
              <a:lnSpc>
                <a:spcPct val="107000"/>
              </a:lnSpc>
            </a:pPr>
            <a:r>
              <a:rPr lang="en-IN" sz="3200" kern="100" dirty="0">
                <a:latin typeface="Times New Roman" panose="02020603050405020304" pitchFamily="18" charset="0"/>
                <a:ea typeface="Calibri" panose="020F0502020204030204" pitchFamily="34" charset="0"/>
                <a:cs typeface="Cordia New" panose="020B0304020202020204" pitchFamily="34" charset="-34"/>
              </a:rPr>
              <a:t>CAT II Portion</a:t>
            </a:r>
            <a:endParaRPr lang="en-IN" sz="32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407599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0450" y="301497"/>
            <a:ext cx="4955794" cy="2295652"/>
          </a:xfrm>
          <a:prstGeom prst="rect">
            <a:avLst/>
          </a:prstGeom>
        </p:spPr>
      </p:pic>
      <p:sp>
        <p:nvSpPr>
          <p:cNvPr id="3" name="object 3"/>
          <p:cNvSpPr txBox="1">
            <a:spLocks noGrp="1"/>
          </p:cNvSpPr>
          <p:nvPr>
            <p:ph type="title"/>
          </p:nvPr>
        </p:nvSpPr>
        <p:spPr>
          <a:xfrm>
            <a:off x="3581501" y="1665071"/>
            <a:ext cx="1905000" cy="574040"/>
          </a:xfrm>
          <a:prstGeom prst="rect">
            <a:avLst/>
          </a:prstGeom>
        </p:spPr>
        <p:txBody>
          <a:bodyPr vert="horz" wrap="square" lIns="0" tIns="12700" rIns="0" bIns="0" rtlCol="0">
            <a:spAutoFit/>
          </a:bodyPr>
          <a:lstStyle/>
          <a:p>
            <a:pPr marL="12700">
              <a:lnSpc>
                <a:spcPct val="100000"/>
              </a:lnSpc>
              <a:spcBef>
                <a:spcPts val="100"/>
              </a:spcBef>
            </a:pPr>
            <a:r>
              <a:rPr spc="-10" dirty="0"/>
              <a:t>Overview</a:t>
            </a: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4" name="object 4"/>
          <p:cNvSpPr txBox="1"/>
          <p:nvPr/>
        </p:nvSpPr>
        <p:spPr>
          <a:xfrm>
            <a:off x="457454" y="2906827"/>
            <a:ext cx="5559425" cy="1571584"/>
          </a:xfrm>
          <a:prstGeom prst="rect">
            <a:avLst/>
          </a:prstGeom>
        </p:spPr>
        <p:txBody>
          <a:bodyPr vert="horz" wrap="square" lIns="0" tIns="98425" rIns="0" bIns="0" rtlCol="0">
            <a:spAutoFit/>
          </a:bodyPr>
          <a:lstStyle/>
          <a:p>
            <a:pPr marL="545465" indent="-532765">
              <a:lnSpc>
                <a:spcPct val="100000"/>
              </a:lnSpc>
              <a:spcBef>
                <a:spcPts val="775"/>
              </a:spcBef>
              <a:buClr>
                <a:srgbClr val="063DE8"/>
              </a:buClr>
              <a:buSzPct val="75000"/>
              <a:buAutoNum type="arabicPeriod"/>
              <a:tabLst>
                <a:tab pos="545465" algn="l"/>
              </a:tabLst>
            </a:pPr>
            <a:r>
              <a:rPr sz="2800" dirty="0">
                <a:latin typeface="Times New Roman"/>
                <a:cs typeface="Times New Roman"/>
              </a:rPr>
              <a:t>Digital</a:t>
            </a:r>
            <a:r>
              <a:rPr sz="2800" spc="-35" dirty="0">
                <a:latin typeface="Times New Roman"/>
                <a:cs typeface="Times New Roman"/>
              </a:rPr>
              <a:t> </a:t>
            </a:r>
            <a:r>
              <a:rPr sz="2800" spc="-10" dirty="0">
                <a:latin typeface="Times New Roman"/>
                <a:cs typeface="Times New Roman"/>
              </a:rPr>
              <a:t>Signatures</a:t>
            </a:r>
            <a:endParaRPr sz="2800" dirty="0">
              <a:latin typeface="Times New Roman"/>
              <a:cs typeface="Times New Roman"/>
            </a:endParaRPr>
          </a:p>
          <a:p>
            <a:pPr marL="545465" indent="-532765">
              <a:lnSpc>
                <a:spcPct val="100000"/>
              </a:lnSpc>
              <a:spcBef>
                <a:spcPts val="680"/>
              </a:spcBef>
              <a:buClr>
                <a:srgbClr val="063DE8"/>
              </a:buClr>
              <a:buSzPct val="75000"/>
              <a:buAutoNum type="arabicPeriod"/>
              <a:tabLst>
                <a:tab pos="545465" algn="l"/>
              </a:tabLst>
            </a:pPr>
            <a:r>
              <a:rPr sz="2800" dirty="0">
                <a:latin typeface="Times New Roman"/>
                <a:cs typeface="Times New Roman"/>
              </a:rPr>
              <a:t>ElGamal</a:t>
            </a:r>
            <a:r>
              <a:rPr sz="2800" spc="-40" dirty="0">
                <a:latin typeface="Times New Roman"/>
                <a:cs typeface="Times New Roman"/>
              </a:rPr>
              <a:t> </a:t>
            </a:r>
            <a:r>
              <a:rPr sz="2800" dirty="0">
                <a:latin typeface="Times New Roman"/>
                <a:cs typeface="Times New Roman"/>
              </a:rPr>
              <a:t>Digital</a:t>
            </a:r>
            <a:r>
              <a:rPr sz="2800" spc="-40" dirty="0">
                <a:latin typeface="Times New Roman"/>
                <a:cs typeface="Times New Roman"/>
              </a:rPr>
              <a:t> </a:t>
            </a:r>
            <a:r>
              <a:rPr sz="2800" dirty="0">
                <a:latin typeface="Times New Roman"/>
                <a:cs typeface="Times New Roman"/>
              </a:rPr>
              <a:t>Signature</a:t>
            </a:r>
            <a:r>
              <a:rPr sz="2800" spc="-35" dirty="0">
                <a:latin typeface="Times New Roman"/>
                <a:cs typeface="Times New Roman"/>
              </a:rPr>
              <a:t> </a:t>
            </a:r>
            <a:r>
              <a:rPr sz="2800" spc="-10" dirty="0">
                <a:latin typeface="Times New Roman"/>
                <a:cs typeface="Times New Roman"/>
              </a:rPr>
              <a:t>Scheme</a:t>
            </a:r>
            <a:endParaRPr sz="2800" dirty="0">
              <a:latin typeface="Times New Roman"/>
              <a:cs typeface="Times New Roman"/>
            </a:endParaRPr>
          </a:p>
          <a:p>
            <a:pPr marL="545465" indent="-532765">
              <a:lnSpc>
                <a:spcPct val="100000"/>
              </a:lnSpc>
              <a:spcBef>
                <a:spcPts val="680"/>
              </a:spcBef>
              <a:buClr>
                <a:srgbClr val="063DE8"/>
              </a:buClr>
              <a:buSzPct val="75000"/>
              <a:buAutoNum type="arabicPeriod"/>
              <a:tabLst>
                <a:tab pos="545465" algn="l"/>
              </a:tabLst>
            </a:pPr>
            <a:r>
              <a:rPr sz="2800" dirty="0">
                <a:latin typeface="Times New Roman"/>
                <a:cs typeface="Times New Roman"/>
              </a:rPr>
              <a:t>Digital</a:t>
            </a:r>
            <a:r>
              <a:rPr sz="2800" spc="-35" dirty="0">
                <a:latin typeface="Times New Roman"/>
                <a:cs typeface="Times New Roman"/>
              </a:rPr>
              <a:t> </a:t>
            </a:r>
            <a:r>
              <a:rPr sz="2800" dirty="0">
                <a:latin typeface="Times New Roman"/>
                <a:cs typeface="Times New Roman"/>
              </a:rPr>
              <a:t>Signature</a:t>
            </a:r>
            <a:r>
              <a:rPr sz="2800" spc="-35" dirty="0">
                <a:latin typeface="Times New Roman"/>
                <a:cs typeface="Times New Roman"/>
              </a:rPr>
              <a:t> </a:t>
            </a:r>
            <a:r>
              <a:rPr sz="2800" dirty="0">
                <a:latin typeface="Times New Roman"/>
                <a:cs typeface="Times New Roman"/>
              </a:rPr>
              <a:t>Standard</a:t>
            </a:r>
            <a:r>
              <a:rPr sz="2800" spc="-35" dirty="0">
                <a:latin typeface="Times New Roman"/>
                <a:cs typeface="Times New Roman"/>
              </a:rPr>
              <a:t> </a:t>
            </a:r>
            <a:r>
              <a:rPr sz="2800" spc="-10" dirty="0">
                <a:latin typeface="Times New Roman"/>
                <a:cs typeface="Times New Roman"/>
              </a:rPr>
              <a:t>(DSS)</a:t>
            </a:r>
            <a:endParaRPr sz="2800" dirty="0">
              <a:latin typeface="Times New Roman"/>
              <a:cs typeface="Times New Roman"/>
            </a:endParaRPr>
          </a:p>
        </p:txBody>
      </p:sp>
      <p:sp>
        <p:nvSpPr>
          <p:cNvPr id="5" name="object 5"/>
          <p:cNvSpPr txBox="1"/>
          <p:nvPr/>
        </p:nvSpPr>
        <p:spPr>
          <a:xfrm>
            <a:off x="725423" y="5692902"/>
            <a:ext cx="7526655" cy="590550"/>
          </a:xfrm>
          <a:prstGeom prst="rect">
            <a:avLst/>
          </a:prstGeom>
          <a:ln w="9525">
            <a:solidFill>
              <a:srgbClr val="000000"/>
            </a:solidFill>
          </a:ln>
        </p:spPr>
        <p:txBody>
          <a:bodyPr vert="horz" wrap="square" lIns="0" tIns="43180" rIns="0" bIns="0" rtlCol="0">
            <a:spAutoFit/>
          </a:bodyPr>
          <a:lstStyle/>
          <a:p>
            <a:pPr marL="96520" marR="139065">
              <a:lnSpc>
                <a:spcPct val="100000"/>
              </a:lnSpc>
              <a:spcBef>
                <a:spcPts val="340"/>
              </a:spcBef>
            </a:pPr>
            <a:r>
              <a:rPr sz="1600" dirty="0">
                <a:latin typeface="Times New Roman"/>
                <a:cs typeface="Times New Roman"/>
              </a:rPr>
              <a:t>These</a:t>
            </a:r>
            <a:r>
              <a:rPr sz="1600" spc="-35" dirty="0">
                <a:latin typeface="Times New Roman"/>
                <a:cs typeface="Times New Roman"/>
              </a:rPr>
              <a:t> </a:t>
            </a:r>
            <a:r>
              <a:rPr sz="1600" dirty="0">
                <a:latin typeface="Times New Roman"/>
                <a:cs typeface="Times New Roman"/>
              </a:rPr>
              <a:t>slides</a:t>
            </a:r>
            <a:r>
              <a:rPr sz="1600" spc="-30" dirty="0">
                <a:latin typeface="Times New Roman"/>
                <a:cs typeface="Times New Roman"/>
              </a:rPr>
              <a:t> </a:t>
            </a:r>
            <a:r>
              <a:rPr sz="1600" dirty="0">
                <a:latin typeface="Times New Roman"/>
                <a:cs typeface="Times New Roman"/>
              </a:rPr>
              <a:t>are</a:t>
            </a:r>
            <a:r>
              <a:rPr sz="1600" spc="-30" dirty="0">
                <a:latin typeface="Times New Roman"/>
                <a:cs typeface="Times New Roman"/>
              </a:rPr>
              <a:t> </a:t>
            </a:r>
            <a:r>
              <a:rPr sz="1600" dirty="0">
                <a:latin typeface="Times New Roman"/>
                <a:cs typeface="Times New Roman"/>
              </a:rPr>
              <a:t>based</a:t>
            </a:r>
            <a:r>
              <a:rPr sz="1600" spc="-30" dirty="0">
                <a:latin typeface="Times New Roman"/>
                <a:cs typeface="Times New Roman"/>
              </a:rPr>
              <a:t> </a:t>
            </a:r>
            <a:r>
              <a:rPr sz="1600" dirty="0">
                <a:latin typeface="Times New Roman"/>
                <a:cs typeface="Times New Roman"/>
              </a:rPr>
              <a:t>partly</a:t>
            </a:r>
            <a:r>
              <a:rPr sz="1600" spc="-35" dirty="0">
                <a:latin typeface="Times New Roman"/>
                <a:cs typeface="Times New Roman"/>
              </a:rPr>
              <a:t> </a:t>
            </a:r>
            <a:r>
              <a:rPr sz="1600" dirty="0">
                <a:latin typeface="Times New Roman"/>
                <a:cs typeface="Times New Roman"/>
              </a:rPr>
              <a:t>on</a:t>
            </a:r>
            <a:r>
              <a:rPr sz="1600" spc="-30" dirty="0">
                <a:latin typeface="Times New Roman"/>
                <a:cs typeface="Times New Roman"/>
              </a:rPr>
              <a:t> </a:t>
            </a:r>
            <a:r>
              <a:rPr sz="1600" dirty="0">
                <a:latin typeface="Times New Roman"/>
                <a:cs typeface="Times New Roman"/>
              </a:rPr>
              <a:t>Lawrie</a:t>
            </a:r>
            <a:r>
              <a:rPr sz="1600" spc="-30" dirty="0">
                <a:latin typeface="Times New Roman"/>
                <a:cs typeface="Times New Roman"/>
              </a:rPr>
              <a:t> </a:t>
            </a:r>
            <a:r>
              <a:rPr sz="1600" dirty="0">
                <a:latin typeface="Times New Roman"/>
                <a:cs typeface="Times New Roman"/>
              </a:rPr>
              <a:t>Brown</a:t>
            </a:r>
            <a:r>
              <a:rPr sz="1600" dirty="0">
                <a:latin typeface="Arial MT"/>
                <a:cs typeface="Arial MT"/>
              </a:rPr>
              <a:t>’</a:t>
            </a:r>
            <a:r>
              <a:rPr sz="1600" dirty="0">
                <a:latin typeface="Times New Roman"/>
                <a:cs typeface="Times New Roman"/>
              </a:rPr>
              <a:t>s</a:t>
            </a:r>
            <a:r>
              <a:rPr sz="1600" spc="-30" dirty="0">
                <a:latin typeface="Times New Roman"/>
                <a:cs typeface="Times New Roman"/>
              </a:rPr>
              <a:t> </a:t>
            </a:r>
            <a:r>
              <a:rPr sz="1600" dirty="0">
                <a:latin typeface="Times New Roman"/>
                <a:cs typeface="Times New Roman"/>
              </a:rPr>
              <a:t>slides</a:t>
            </a:r>
            <a:r>
              <a:rPr sz="1600" spc="-35" dirty="0">
                <a:latin typeface="Times New Roman"/>
                <a:cs typeface="Times New Roman"/>
              </a:rPr>
              <a:t> </a:t>
            </a:r>
            <a:r>
              <a:rPr sz="1600" dirty="0">
                <a:latin typeface="Times New Roman"/>
                <a:cs typeface="Times New Roman"/>
              </a:rPr>
              <a:t>supplied</a:t>
            </a:r>
            <a:r>
              <a:rPr sz="1600" spc="-30" dirty="0">
                <a:latin typeface="Times New Roman"/>
                <a:cs typeface="Times New Roman"/>
              </a:rPr>
              <a:t> </a:t>
            </a:r>
            <a:r>
              <a:rPr sz="1600" dirty="0">
                <a:latin typeface="Times New Roman"/>
                <a:cs typeface="Times New Roman"/>
              </a:rPr>
              <a:t>with</a:t>
            </a:r>
            <a:r>
              <a:rPr sz="1600" spc="345" dirty="0">
                <a:latin typeface="Times New Roman"/>
                <a:cs typeface="Times New Roman"/>
              </a:rPr>
              <a:t> </a:t>
            </a:r>
            <a:r>
              <a:rPr sz="1600" dirty="0">
                <a:latin typeface="Times New Roman"/>
                <a:cs typeface="Times New Roman"/>
              </a:rPr>
              <a:t>William</a:t>
            </a:r>
            <a:r>
              <a:rPr sz="1600" spc="-35" dirty="0">
                <a:latin typeface="Times New Roman"/>
                <a:cs typeface="Times New Roman"/>
              </a:rPr>
              <a:t> </a:t>
            </a:r>
            <a:r>
              <a:rPr sz="1600" spc="-10" dirty="0">
                <a:latin typeface="Times New Roman"/>
                <a:cs typeface="Times New Roman"/>
              </a:rPr>
              <a:t>Stallings</a:t>
            </a:r>
            <a:r>
              <a:rPr sz="1600" spc="-10" dirty="0">
                <a:latin typeface="Arial MT"/>
                <a:cs typeface="Arial MT"/>
              </a:rPr>
              <a:t>’</a:t>
            </a:r>
            <a:r>
              <a:rPr sz="1600" spc="-10" dirty="0">
                <a:latin typeface="Times New Roman"/>
                <a:cs typeface="Times New Roman"/>
              </a:rPr>
              <a:t>s </a:t>
            </a:r>
            <a:r>
              <a:rPr sz="1600" dirty="0">
                <a:latin typeface="Times New Roman"/>
                <a:cs typeface="Times New Roman"/>
              </a:rPr>
              <a:t>book</a:t>
            </a:r>
            <a:r>
              <a:rPr sz="1600" spc="-30" dirty="0">
                <a:latin typeface="Times New Roman"/>
                <a:cs typeface="Times New Roman"/>
              </a:rPr>
              <a:t> </a:t>
            </a:r>
            <a:r>
              <a:rPr sz="1600" dirty="0">
                <a:latin typeface="Arial MT"/>
                <a:cs typeface="Arial MT"/>
              </a:rPr>
              <a:t>“</a:t>
            </a:r>
            <a:r>
              <a:rPr sz="1600" dirty="0">
                <a:latin typeface="Times New Roman"/>
                <a:cs typeface="Times New Roman"/>
              </a:rPr>
              <a:t>Cryptography</a:t>
            </a:r>
            <a:r>
              <a:rPr sz="1600" spc="-30"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Network</a:t>
            </a:r>
            <a:r>
              <a:rPr sz="1600" spc="-30" dirty="0">
                <a:latin typeface="Times New Roman"/>
                <a:cs typeface="Times New Roman"/>
              </a:rPr>
              <a:t> </a:t>
            </a:r>
            <a:r>
              <a:rPr sz="1600" dirty="0">
                <a:latin typeface="Times New Roman"/>
                <a:cs typeface="Times New Roman"/>
              </a:rPr>
              <a:t>Security:</a:t>
            </a:r>
            <a:r>
              <a:rPr sz="1600" spc="-30" dirty="0">
                <a:latin typeface="Times New Roman"/>
                <a:cs typeface="Times New Roman"/>
              </a:rPr>
              <a:t> </a:t>
            </a:r>
            <a:r>
              <a:rPr sz="1600" dirty="0">
                <a:latin typeface="Times New Roman"/>
                <a:cs typeface="Times New Roman"/>
              </a:rPr>
              <a:t>Principles</a:t>
            </a:r>
            <a:r>
              <a:rPr sz="1600" spc="-25" dirty="0">
                <a:latin typeface="Times New Roman"/>
                <a:cs typeface="Times New Roman"/>
              </a:rPr>
              <a:t>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Practice,</a:t>
            </a:r>
            <a:r>
              <a:rPr sz="1600" dirty="0">
                <a:latin typeface="Arial MT"/>
                <a:cs typeface="Arial MT"/>
              </a:rPr>
              <a:t>”</a:t>
            </a:r>
            <a:r>
              <a:rPr sz="1600" spc="-75" dirty="0">
                <a:latin typeface="Arial MT"/>
                <a:cs typeface="Arial MT"/>
              </a:rPr>
              <a:t> </a:t>
            </a:r>
            <a:r>
              <a:rPr sz="1600" dirty="0">
                <a:latin typeface="Times New Roman"/>
                <a:cs typeface="Times New Roman"/>
              </a:rPr>
              <a:t>6</a:t>
            </a:r>
            <a:r>
              <a:rPr sz="1650" baseline="25252" dirty="0">
                <a:latin typeface="Times New Roman"/>
                <a:cs typeface="Times New Roman"/>
              </a:rPr>
              <a:t>th</a:t>
            </a:r>
            <a:r>
              <a:rPr sz="1650" spc="142" baseline="25252" dirty="0">
                <a:latin typeface="Times New Roman"/>
                <a:cs typeface="Times New Roman"/>
              </a:rPr>
              <a:t> </a:t>
            </a:r>
            <a:r>
              <a:rPr sz="1600" dirty="0">
                <a:latin typeface="Times New Roman"/>
                <a:cs typeface="Times New Roman"/>
              </a:rPr>
              <a:t>Ed,</a:t>
            </a:r>
            <a:r>
              <a:rPr sz="1600" spc="-35" dirty="0">
                <a:latin typeface="Times New Roman"/>
                <a:cs typeface="Times New Roman"/>
              </a:rPr>
              <a:t> </a:t>
            </a:r>
            <a:r>
              <a:rPr sz="1600" spc="-10" dirty="0">
                <a:latin typeface="Times New Roman"/>
                <a:cs typeface="Times New Roman"/>
              </a:rPr>
              <a:t>2013.</a:t>
            </a:r>
            <a:endParaRPr sz="16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352550">
              <a:lnSpc>
                <a:spcPct val="100000"/>
              </a:lnSpc>
              <a:spcBef>
                <a:spcPts val="100"/>
              </a:spcBef>
            </a:pPr>
            <a:r>
              <a:rPr dirty="0"/>
              <a:t>Digital</a:t>
            </a:r>
            <a:r>
              <a:rPr spc="-125" dirty="0"/>
              <a:t> </a:t>
            </a:r>
            <a:r>
              <a:rPr spc="-10" dirty="0"/>
              <a:t>Signatures</a:t>
            </a:r>
          </a:p>
        </p:txBody>
      </p:sp>
      <p:sp>
        <p:nvSpPr>
          <p:cNvPr id="3" name="object 3"/>
          <p:cNvSpPr txBox="1"/>
          <p:nvPr/>
        </p:nvSpPr>
        <p:spPr>
          <a:xfrm>
            <a:off x="458977" y="1253744"/>
            <a:ext cx="6700520" cy="1230630"/>
          </a:xfrm>
          <a:prstGeom prst="rect">
            <a:avLst/>
          </a:prstGeom>
        </p:spPr>
        <p:txBody>
          <a:bodyPr vert="horz" wrap="square" lIns="0" tIns="48260" rIns="0" bIns="0" rtlCol="0">
            <a:spAutoFit/>
          </a:bodyPr>
          <a:lstStyle/>
          <a:p>
            <a:pPr marL="545465" indent="-532765">
              <a:lnSpc>
                <a:spcPct val="100000"/>
              </a:lnSpc>
              <a:spcBef>
                <a:spcPts val="380"/>
              </a:spcBef>
              <a:buClr>
                <a:srgbClr val="063DE8"/>
              </a:buClr>
              <a:buSzPct val="75000"/>
              <a:buFont typeface="Wingdings"/>
              <a:buChar char=""/>
              <a:tabLst>
                <a:tab pos="545465" algn="l"/>
              </a:tabLst>
            </a:pPr>
            <a:r>
              <a:rPr sz="2400" dirty="0">
                <a:latin typeface="Times New Roman"/>
                <a:cs typeface="Times New Roman"/>
              </a:rPr>
              <a:t>Verify</a:t>
            </a:r>
            <a:r>
              <a:rPr sz="2400" spc="-35" dirty="0">
                <a:latin typeface="Times New Roman"/>
                <a:cs typeface="Times New Roman"/>
              </a:rPr>
              <a:t> </a:t>
            </a:r>
            <a:r>
              <a:rPr sz="2400" dirty="0">
                <a:latin typeface="Times New Roman"/>
                <a:cs typeface="Times New Roman"/>
              </a:rPr>
              <a:t>author,</a:t>
            </a:r>
            <a:r>
              <a:rPr sz="2400" spc="-25" dirty="0">
                <a:latin typeface="Times New Roman"/>
                <a:cs typeface="Times New Roman"/>
              </a:rPr>
              <a:t> </a:t>
            </a:r>
            <a:r>
              <a:rPr sz="2400" dirty="0">
                <a:latin typeface="Times New Roman"/>
                <a:cs typeface="Times New Roman"/>
              </a:rPr>
              <a:t>date</a:t>
            </a:r>
            <a:r>
              <a:rPr sz="2400" spc="-20" dirty="0">
                <a:latin typeface="Times New Roman"/>
                <a:cs typeface="Times New Roman"/>
              </a:rPr>
              <a:t> </a:t>
            </a:r>
            <a:r>
              <a:rPr sz="2400" dirty="0">
                <a:latin typeface="Times New Roman"/>
                <a:cs typeface="Times New Roman"/>
              </a:rPr>
              <a:t>&amp;</a:t>
            </a:r>
            <a:r>
              <a:rPr sz="2400" spc="-25" dirty="0">
                <a:latin typeface="Times New Roman"/>
                <a:cs typeface="Times New Roman"/>
              </a:rPr>
              <a:t> </a:t>
            </a:r>
            <a:r>
              <a:rPr sz="2400" dirty="0">
                <a:latin typeface="Times New Roman"/>
                <a:cs typeface="Times New Roman"/>
              </a:rPr>
              <a:t>time</a:t>
            </a:r>
            <a:r>
              <a:rPr sz="2400" spc="-2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spc="-10" dirty="0">
                <a:latin typeface="Times New Roman"/>
                <a:cs typeface="Times New Roman"/>
              </a:rPr>
              <a:t>signature</a:t>
            </a:r>
            <a:endParaRPr sz="2400">
              <a:latin typeface="Times New Roman"/>
              <a:cs typeface="Times New Roman"/>
            </a:endParaRPr>
          </a:p>
          <a:p>
            <a:pPr marL="545465" indent="-532765">
              <a:lnSpc>
                <a:spcPct val="100000"/>
              </a:lnSpc>
              <a:spcBef>
                <a:spcPts val="280"/>
              </a:spcBef>
              <a:buClr>
                <a:srgbClr val="063DE8"/>
              </a:buClr>
              <a:buSzPct val="75000"/>
              <a:buFont typeface="Wingdings"/>
              <a:buChar char=""/>
              <a:tabLst>
                <a:tab pos="545465" algn="l"/>
              </a:tabLst>
            </a:pPr>
            <a:r>
              <a:rPr sz="2400" dirty="0">
                <a:latin typeface="Times New Roman"/>
                <a:cs typeface="Times New Roman"/>
              </a:rPr>
              <a:t>Authenticate</a:t>
            </a:r>
            <a:r>
              <a:rPr sz="2400" spc="-50" dirty="0">
                <a:latin typeface="Times New Roman"/>
                <a:cs typeface="Times New Roman"/>
              </a:rPr>
              <a:t> </a:t>
            </a:r>
            <a:r>
              <a:rPr sz="2400" dirty="0">
                <a:latin typeface="Times New Roman"/>
                <a:cs typeface="Times New Roman"/>
              </a:rPr>
              <a:t>message</a:t>
            </a:r>
            <a:r>
              <a:rPr sz="2400" spc="-45" dirty="0">
                <a:latin typeface="Times New Roman"/>
                <a:cs typeface="Times New Roman"/>
              </a:rPr>
              <a:t> </a:t>
            </a:r>
            <a:r>
              <a:rPr sz="2400" spc="-10" dirty="0">
                <a:latin typeface="Times New Roman"/>
                <a:cs typeface="Times New Roman"/>
              </a:rPr>
              <a:t>contents</a:t>
            </a:r>
            <a:endParaRPr sz="2400">
              <a:latin typeface="Times New Roman"/>
              <a:cs typeface="Times New Roman"/>
            </a:endParaRPr>
          </a:p>
          <a:p>
            <a:pPr marL="545465" indent="-532765">
              <a:lnSpc>
                <a:spcPct val="100000"/>
              </a:lnSpc>
              <a:spcBef>
                <a:spcPts val="285"/>
              </a:spcBef>
              <a:buClr>
                <a:srgbClr val="063DE8"/>
              </a:buClr>
              <a:buSzPct val="75000"/>
              <a:buFont typeface="Wingdings"/>
              <a:buChar char=""/>
              <a:tabLst>
                <a:tab pos="545465" algn="l"/>
              </a:tabLst>
            </a:pP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be</a:t>
            </a:r>
            <a:r>
              <a:rPr sz="2400" spc="-20" dirty="0">
                <a:latin typeface="Times New Roman"/>
                <a:cs typeface="Times New Roman"/>
              </a:rPr>
              <a:t> </a:t>
            </a:r>
            <a:r>
              <a:rPr sz="2400" dirty="0">
                <a:latin typeface="Times New Roman"/>
                <a:cs typeface="Times New Roman"/>
              </a:rPr>
              <a:t>verified</a:t>
            </a:r>
            <a:r>
              <a:rPr sz="2400" spc="-25" dirty="0">
                <a:latin typeface="Times New Roman"/>
                <a:cs typeface="Times New Roman"/>
              </a:rPr>
              <a:t> </a:t>
            </a:r>
            <a:r>
              <a:rPr sz="2400" dirty="0">
                <a:latin typeface="Times New Roman"/>
                <a:cs typeface="Times New Roman"/>
              </a:rPr>
              <a:t>by</a:t>
            </a:r>
            <a:r>
              <a:rPr sz="2400" spc="-20" dirty="0">
                <a:latin typeface="Times New Roman"/>
                <a:cs typeface="Times New Roman"/>
              </a:rPr>
              <a:t> </a:t>
            </a:r>
            <a:r>
              <a:rPr sz="2400" dirty="0">
                <a:latin typeface="Times New Roman"/>
                <a:cs typeface="Times New Roman"/>
              </a:rPr>
              <a:t>third</a:t>
            </a:r>
            <a:r>
              <a:rPr sz="2400" spc="-25" dirty="0">
                <a:latin typeface="Times New Roman"/>
                <a:cs typeface="Times New Roman"/>
              </a:rPr>
              <a:t> </a:t>
            </a:r>
            <a:r>
              <a:rPr sz="2400" dirty="0">
                <a:latin typeface="Times New Roman"/>
                <a:cs typeface="Times New Roman"/>
              </a:rPr>
              <a:t>parties</a:t>
            </a:r>
            <a:r>
              <a:rPr sz="2400" spc="-2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resolve</a:t>
            </a:r>
            <a:r>
              <a:rPr sz="2400" spc="-20" dirty="0">
                <a:latin typeface="Times New Roman"/>
                <a:cs typeface="Times New Roman"/>
              </a:rPr>
              <a:t> </a:t>
            </a:r>
            <a:r>
              <a:rPr sz="2400" spc="-10" dirty="0">
                <a:latin typeface="Times New Roman"/>
                <a:cs typeface="Times New Roman"/>
              </a:rPr>
              <a:t>disputes</a:t>
            </a:r>
            <a:endParaRPr sz="2400">
              <a:latin typeface="Times New Roman"/>
              <a:cs typeface="Times New Roman"/>
            </a:endParaRPr>
          </a:p>
        </p:txBody>
      </p:sp>
      <p:pic>
        <p:nvPicPr>
          <p:cNvPr id="4" name="object 4"/>
          <p:cNvPicPr/>
          <p:nvPr/>
        </p:nvPicPr>
        <p:blipFill>
          <a:blip r:embed="rId2" cstate="print"/>
          <a:stretch>
            <a:fillRect/>
          </a:stretch>
        </p:blipFill>
        <p:spPr>
          <a:xfrm>
            <a:off x="2890032" y="2634989"/>
            <a:ext cx="3411482" cy="316864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61365">
              <a:lnSpc>
                <a:spcPct val="100000"/>
              </a:lnSpc>
              <a:spcBef>
                <a:spcPts val="100"/>
              </a:spcBef>
            </a:pPr>
            <a:r>
              <a:rPr dirty="0"/>
              <a:t>Digital</a:t>
            </a:r>
            <a:r>
              <a:rPr spc="-65" dirty="0"/>
              <a:t> </a:t>
            </a:r>
            <a:r>
              <a:rPr dirty="0"/>
              <a:t>Signature</a:t>
            </a:r>
            <a:r>
              <a:rPr spc="-50" dirty="0"/>
              <a:t> </a:t>
            </a:r>
            <a:r>
              <a:rPr spc="-10" dirty="0"/>
              <a:t>Model</a:t>
            </a:r>
          </a:p>
        </p:txBody>
      </p:sp>
      <p:pic>
        <p:nvPicPr>
          <p:cNvPr id="3" name="object 3"/>
          <p:cNvPicPr/>
          <p:nvPr/>
        </p:nvPicPr>
        <p:blipFill>
          <a:blip r:embed="rId2" cstate="print"/>
          <a:stretch>
            <a:fillRect/>
          </a:stretch>
        </p:blipFill>
        <p:spPr>
          <a:xfrm>
            <a:off x="2024433" y="1261281"/>
            <a:ext cx="4975498" cy="4879360"/>
          </a:xfrm>
          <a:prstGeom prst="rect">
            <a:avLst/>
          </a:prstGeom>
        </p:spPr>
      </p:pic>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362200">
              <a:lnSpc>
                <a:spcPct val="100000"/>
              </a:lnSpc>
              <a:spcBef>
                <a:spcPts val="100"/>
              </a:spcBef>
            </a:pPr>
            <a:r>
              <a:rPr spc="-10" dirty="0"/>
              <a:t>Attacks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8977" y="1245362"/>
            <a:ext cx="8117205" cy="4552315"/>
          </a:xfrm>
          <a:prstGeom prst="rect">
            <a:avLst/>
          </a:prstGeom>
        </p:spPr>
        <p:txBody>
          <a:bodyPr vert="horz" wrap="square" lIns="0" tIns="85090" rIns="0" bIns="0" rtlCol="0">
            <a:spAutoFit/>
          </a:bodyPr>
          <a:lstStyle/>
          <a:p>
            <a:pPr marL="469265" indent="-457200">
              <a:lnSpc>
                <a:spcPct val="100000"/>
              </a:lnSpc>
              <a:spcBef>
                <a:spcPts val="670"/>
              </a:spcBef>
              <a:buClr>
                <a:srgbClr val="063DE8"/>
              </a:buClr>
              <a:buSzPct val="75000"/>
              <a:buFont typeface="Wingdings"/>
              <a:buChar char=""/>
              <a:tabLst>
                <a:tab pos="469265" algn="l"/>
              </a:tabLst>
            </a:pPr>
            <a:r>
              <a:rPr sz="2400" dirty="0">
                <a:latin typeface="Times New Roman"/>
                <a:cs typeface="Times New Roman"/>
              </a:rPr>
              <a:t>In</a:t>
            </a:r>
            <a:r>
              <a:rPr sz="2400" spc="-4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order</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Increasing</a:t>
            </a:r>
            <a:r>
              <a:rPr sz="2400" spc="-30" dirty="0">
                <a:latin typeface="Times New Roman"/>
                <a:cs typeface="Times New Roman"/>
              </a:rPr>
              <a:t> </a:t>
            </a:r>
            <a:r>
              <a:rPr sz="2400" spc="-10" dirty="0">
                <a:latin typeface="Times New Roman"/>
                <a:cs typeface="Times New Roman"/>
              </a:rPr>
              <a:t>severity.</a:t>
            </a:r>
            <a:endParaRPr sz="2400">
              <a:latin typeface="Times New Roman"/>
              <a:cs typeface="Times New Roman"/>
            </a:endParaRPr>
          </a:p>
          <a:p>
            <a:pPr marL="469265" indent="-457200">
              <a:lnSpc>
                <a:spcPct val="100000"/>
              </a:lnSpc>
              <a:spcBef>
                <a:spcPts val="570"/>
              </a:spcBef>
              <a:buClr>
                <a:srgbClr val="063DE8"/>
              </a:buClr>
              <a:buSzPct val="75000"/>
              <a:buFont typeface="Wingdings"/>
              <a:buChar char=""/>
              <a:tabLst>
                <a:tab pos="469265" algn="l"/>
              </a:tabLst>
            </a:pPr>
            <a:r>
              <a:rPr sz="2400" dirty="0">
                <a:latin typeface="Times New Roman"/>
                <a:cs typeface="Times New Roman"/>
              </a:rPr>
              <a:t>C=Attacker,</a:t>
            </a:r>
            <a:r>
              <a:rPr sz="2400" spc="-55" dirty="0">
                <a:latin typeface="Times New Roman"/>
                <a:cs typeface="Times New Roman"/>
              </a:rPr>
              <a:t> </a:t>
            </a:r>
            <a:r>
              <a:rPr sz="2400" spc="-10" dirty="0">
                <a:latin typeface="Times New Roman"/>
                <a:cs typeface="Times New Roman"/>
              </a:rPr>
              <a:t>A=Victim</a:t>
            </a:r>
            <a:endParaRPr sz="2400">
              <a:latin typeface="Times New Roman"/>
              <a:cs typeface="Times New Roman"/>
            </a:endParaRPr>
          </a:p>
          <a:p>
            <a:pPr marL="469265" indent="-457200">
              <a:lnSpc>
                <a:spcPct val="100000"/>
              </a:lnSpc>
              <a:spcBef>
                <a:spcPts val="570"/>
              </a:spcBef>
              <a:buSzPct val="75000"/>
              <a:buAutoNum type="arabicPeriod"/>
              <a:tabLst>
                <a:tab pos="469265" algn="l"/>
              </a:tabLst>
            </a:pPr>
            <a:r>
              <a:rPr sz="2400" b="1" dirty="0">
                <a:solidFill>
                  <a:srgbClr val="063DE8"/>
                </a:solidFill>
                <a:latin typeface="Times New Roman"/>
                <a:cs typeface="Times New Roman"/>
              </a:rPr>
              <a:t>Key-only</a:t>
            </a:r>
            <a:r>
              <a:rPr sz="2400" b="1" spc="-25" dirty="0">
                <a:solidFill>
                  <a:srgbClr val="063DE8"/>
                </a:solidFill>
                <a:latin typeface="Times New Roman"/>
                <a:cs typeface="Times New Roman"/>
              </a:rPr>
              <a:t> </a:t>
            </a:r>
            <a:r>
              <a:rPr sz="2400" b="1" dirty="0">
                <a:solidFill>
                  <a:srgbClr val="063DE8"/>
                </a:solidFill>
                <a:latin typeface="Times New Roman"/>
                <a:cs typeface="Times New Roman"/>
              </a:rPr>
              <a:t>attack</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C</a:t>
            </a:r>
            <a:r>
              <a:rPr sz="2400" spc="-25" dirty="0">
                <a:latin typeface="Times New Roman"/>
                <a:cs typeface="Times New Roman"/>
              </a:rPr>
              <a:t> </a:t>
            </a:r>
            <a:r>
              <a:rPr sz="2400" dirty="0">
                <a:latin typeface="Times New Roman"/>
                <a:cs typeface="Times New Roman"/>
              </a:rPr>
              <a:t>only</a:t>
            </a:r>
            <a:r>
              <a:rPr sz="2400" spc="-25" dirty="0">
                <a:latin typeface="Times New Roman"/>
                <a:cs typeface="Times New Roman"/>
              </a:rPr>
              <a:t> </a:t>
            </a:r>
            <a:r>
              <a:rPr sz="2400" dirty="0">
                <a:latin typeface="Times New Roman"/>
                <a:cs typeface="Times New Roman"/>
              </a:rPr>
              <a:t>knows</a:t>
            </a:r>
            <a:r>
              <a:rPr sz="2400" spc="-25" dirty="0">
                <a:latin typeface="Times New Roman"/>
                <a:cs typeface="Times New Roman"/>
              </a:rPr>
              <a:t> </a:t>
            </a:r>
            <a:r>
              <a:rPr sz="2400" dirty="0">
                <a:latin typeface="Times New Roman"/>
                <a:cs typeface="Times New Roman"/>
              </a:rPr>
              <a:t>A’s</a:t>
            </a:r>
            <a:r>
              <a:rPr sz="2400" spc="-25" dirty="0">
                <a:latin typeface="Times New Roman"/>
                <a:cs typeface="Times New Roman"/>
              </a:rPr>
              <a:t> </a:t>
            </a:r>
            <a:r>
              <a:rPr sz="2400" dirty="0">
                <a:latin typeface="Times New Roman"/>
                <a:cs typeface="Times New Roman"/>
              </a:rPr>
              <a:t>public</a:t>
            </a:r>
            <a:r>
              <a:rPr sz="2400" spc="-25" dirty="0">
                <a:latin typeface="Times New Roman"/>
                <a:cs typeface="Times New Roman"/>
              </a:rPr>
              <a:t> key</a:t>
            </a:r>
            <a:endParaRPr sz="2400">
              <a:latin typeface="Times New Roman"/>
              <a:cs typeface="Times New Roman"/>
            </a:endParaRPr>
          </a:p>
          <a:p>
            <a:pPr marL="469265" indent="-457200">
              <a:lnSpc>
                <a:spcPct val="100000"/>
              </a:lnSpc>
              <a:spcBef>
                <a:spcPts val="570"/>
              </a:spcBef>
              <a:buSzPct val="75000"/>
              <a:buAutoNum type="arabicPeriod"/>
              <a:tabLst>
                <a:tab pos="469265" algn="l"/>
              </a:tabLst>
            </a:pPr>
            <a:r>
              <a:rPr sz="2400" b="1" dirty="0">
                <a:solidFill>
                  <a:srgbClr val="063DE8"/>
                </a:solidFill>
                <a:latin typeface="Times New Roman"/>
                <a:cs typeface="Times New Roman"/>
              </a:rPr>
              <a:t>Known</a:t>
            </a:r>
            <a:r>
              <a:rPr sz="2400" b="1" spc="-40" dirty="0">
                <a:solidFill>
                  <a:srgbClr val="063DE8"/>
                </a:solidFill>
                <a:latin typeface="Times New Roman"/>
                <a:cs typeface="Times New Roman"/>
              </a:rPr>
              <a:t> </a:t>
            </a:r>
            <a:r>
              <a:rPr sz="2400" b="1" dirty="0">
                <a:solidFill>
                  <a:srgbClr val="063DE8"/>
                </a:solidFill>
                <a:latin typeface="Times New Roman"/>
                <a:cs typeface="Times New Roman"/>
              </a:rPr>
              <a:t>message</a:t>
            </a:r>
            <a:r>
              <a:rPr sz="2400" b="1" spc="-35" dirty="0">
                <a:solidFill>
                  <a:srgbClr val="063DE8"/>
                </a:solidFill>
                <a:latin typeface="Times New Roman"/>
                <a:cs typeface="Times New Roman"/>
              </a:rPr>
              <a:t> </a:t>
            </a:r>
            <a:r>
              <a:rPr sz="2400" b="1" dirty="0">
                <a:solidFill>
                  <a:srgbClr val="063DE8"/>
                </a:solidFill>
                <a:latin typeface="Times New Roman"/>
                <a:cs typeface="Times New Roman"/>
              </a:rPr>
              <a:t>attack</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has</a:t>
            </a:r>
            <a:r>
              <a:rPr sz="2400" spc="-3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set</a:t>
            </a:r>
            <a:r>
              <a:rPr sz="2400" spc="-3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messages,</a:t>
            </a:r>
            <a:r>
              <a:rPr sz="2400" spc="-35" dirty="0">
                <a:latin typeface="Times New Roman"/>
                <a:cs typeface="Times New Roman"/>
              </a:rPr>
              <a:t> </a:t>
            </a:r>
            <a:r>
              <a:rPr sz="2400" spc="-10" dirty="0">
                <a:latin typeface="Times New Roman"/>
                <a:cs typeface="Times New Roman"/>
              </a:rPr>
              <a:t>signatures</a:t>
            </a:r>
            <a:endParaRPr sz="2400">
              <a:latin typeface="Times New Roman"/>
              <a:cs typeface="Times New Roman"/>
            </a:endParaRPr>
          </a:p>
          <a:p>
            <a:pPr marL="469265" marR="88900" indent="-457200">
              <a:lnSpc>
                <a:spcPct val="100000"/>
              </a:lnSpc>
              <a:spcBef>
                <a:spcPts val="570"/>
              </a:spcBef>
              <a:buSzPct val="75000"/>
              <a:buAutoNum type="arabicPeriod"/>
              <a:tabLst>
                <a:tab pos="469265" algn="l"/>
              </a:tabLst>
            </a:pPr>
            <a:r>
              <a:rPr sz="2400" b="1" dirty="0">
                <a:solidFill>
                  <a:srgbClr val="063DE8"/>
                </a:solidFill>
                <a:latin typeface="Times New Roman"/>
                <a:cs typeface="Times New Roman"/>
              </a:rPr>
              <a:t>Generic</a:t>
            </a:r>
            <a:r>
              <a:rPr sz="2400" b="1" spc="-40" dirty="0">
                <a:solidFill>
                  <a:srgbClr val="063DE8"/>
                </a:solidFill>
                <a:latin typeface="Times New Roman"/>
                <a:cs typeface="Times New Roman"/>
              </a:rPr>
              <a:t> </a:t>
            </a:r>
            <a:r>
              <a:rPr sz="2400" b="1" dirty="0">
                <a:solidFill>
                  <a:srgbClr val="063DE8"/>
                </a:solidFill>
                <a:latin typeface="Times New Roman"/>
                <a:cs typeface="Times New Roman"/>
              </a:rPr>
              <a:t>chosen</a:t>
            </a:r>
            <a:r>
              <a:rPr sz="2400" b="1" spc="-40" dirty="0">
                <a:solidFill>
                  <a:srgbClr val="063DE8"/>
                </a:solidFill>
                <a:latin typeface="Times New Roman"/>
                <a:cs typeface="Times New Roman"/>
              </a:rPr>
              <a:t> </a:t>
            </a:r>
            <a:r>
              <a:rPr sz="2400" b="1" dirty="0">
                <a:solidFill>
                  <a:srgbClr val="063DE8"/>
                </a:solidFill>
                <a:latin typeface="Times New Roman"/>
                <a:cs typeface="Times New Roman"/>
              </a:rPr>
              <a:t>message</a:t>
            </a:r>
            <a:r>
              <a:rPr sz="2400" b="1" spc="-35" dirty="0">
                <a:solidFill>
                  <a:srgbClr val="063DE8"/>
                </a:solidFill>
                <a:latin typeface="Times New Roman"/>
                <a:cs typeface="Times New Roman"/>
              </a:rPr>
              <a:t> </a:t>
            </a:r>
            <a:r>
              <a:rPr sz="2400" b="1" dirty="0">
                <a:solidFill>
                  <a:srgbClr val="063DE8"/>
                </a:solidFill>
                <a:latin typeface="Times New Roman"/>
                <a:cs typeface="Times New Roman"/>
              </a:rPr>
              <a:t>attack</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obtains</a:t>
            </a:r>
            <a:r>
              <a:rPr sz="2400" spc="-4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signatures</a:t>
            </a:r>
            <a:r>
              <a:rPr sz="2400" spc="-40" dirty="0">
                <a:latin typeface="Times New Roman"/>
                <a:cs typeface="Times New Roman"/>
              </a:rPr>
              <a:t> </a:t>
            </a:r>
            <a:r>
              <a:rPr sz="2400" spc="-25" dirty="0">
                <a:latin typeface="Times New Roman"/>
                <a:cs typeface="Times New Roman"/>
              </a:rPr>
              <a:t>on </a:t>
            </a:r>
            <a:r>
              <a:rPr sz="2400" dirty="0">
                <a:latin typeface="Times New Roman"/>
                <a:cs typeface="Times New Roman"/>
              </a:rPr>
              <a:t>messages</a:t>
            </a:r>
            <a:r>
              <a:rPr sz="2400" spc="-40" dirty="0">
                <a:latin typeface="Times New Roman"/>
                <a:cs typeface="Times New Roman"/>
              </a:rPr>
              <a:t> </a:t>
            </a:r>
            <a:r>
              <a:rPr sz="2400" dirty="0">
                <a:latin typeface="Times New Roman"/>
                <a:cs typeface="Times New Roman"/>
              </a:rPr>
              <a:t>selected</a:t>
            </a:r>
            <a:r>
              <a:rPr sz="2400" spc="-40" dirty="0">
                <a:latin typeface="Times New Roman"/>
                <a:cs typeface="Times New Roman"/>
              </a:rPr>
              <a:t> </a:t>
            </a:r>
            <a:r>
              <a:rPr sz="2400" dirty="0">
                <a:latin typeface="Times New Roman"/>
                <a:cs typeface="Times New Roman"/>
              </a:rPr>
              <a:t>without</a:t>
            </a:r>
            <a:r>
              <a:rPr sz="2400" spc="-40" dirty="0">
                <a:latin typeface="Times New Roman"/>
                <a:cs typeface="Times New Roman"/>
              </a:rPr>
              <a:t> </a:t>
            </a:r>
            <a:r>
              <a:rPr sz="2400" dirty="0">
                <a:latin typeface="Times New Roman"/>
                <a:cs typeface="Times New Roman"/>
              </a:rPr>
              <a:t>knowledge</a:t>
            </a:r>
            <a:r>
              <a:rPr sz="2400" spc="-35"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dirty="0">
                <a:latin typeface="Times New Roman"/>
                <a:cs typeface="Times New Roman"/>
              </a:rPr>
              <a:t>A’s</a:t>
            </a:r>
            <a:r>
              <a:rPr sz="2400" spc="-40" dirty="0">
                <a:latin typeface="Times New Roman"/>
                <a:cs typeface="Times New Roman"/>
              </a:rPr>
              <a:t> </a:t>
            </a:r>
            <a:r>
              <a:rPr sz="2400" dirty="0">
                <a:latin typeface="Times New Roman"/>
                <a:cs typeface="Times New Roman"/>
              </a:rPr>
              <a:t>public</a:t>
            </a:r>
            <a:r>
              <a:rPr sz="2400" spc="-35" dirty="0">
                <a:latin typeface="Times New Roman"/>
                <a:cs typeface="Times New Roman"/>
              </a:rPr>
              <a:t> </a:t>
            </a:r>
            <a:r>
              <a:rPr sz="2400" spc="-25" dirty="0">
                <a:latin typeface="Times New Roman"/>
                <a:cs typeface="Times New Roman"/>
              </a:rPr>
              <a:t>key</a:t>
            </a:r>
            <a:endParaRPr sz="2400">
              <a:latin typeface="Times New Roman"/>
              <a:cs typeface="Times New Roman"/>
            </a:endParaRPr>
          </a:p>
          <a:p>
            <a:pPr marL="469265" marR="5080" indent="-457200">
              <a:lnSpc>
                <a:spcPct val="100000"/>
              </a:lnSpc>
              <a:spcBef>
                <a:spcPts val="560"/>
              </a:spcBef>
              <a:buSzPct val="75000"/>
              <a:buAutoNum type="arabicPeriod"/>
              <a:tabLst>
                <a:tab pos="469265" algn="l"/>
              </a:tabLst>
            </a:pPr>
            <a:r>
              <a:rPr sz="2400" b="1" dirty="0">
                <a:solidFill>
                  <a:srgbClr val="063DE8"/>
                </a:solidFill>
                <a:latin typeface="Times New Roman"/>
                <a:cs typeface="Times New Roman"/>
              </a:rPr>
              <a:t>Directed</a:t>
            </a:r>
            <a:r>
              <a:rPr sz="2400" b="1" spc="-35" dirty="0">
                <a:solidFill>
                  <a:srgbClr val="063DE8"/>
                </a:solidFill>
                <a:latin typeface="Times New Roman"/>
                <a:cs typeface="Times New Roman"/>
              </a:rPr>
              <a:t> </a:t>
            </a:r>
            <a:r>
              <a:rPr sz="2400" b="1" dirty="0">
                <a:solidFill>
                  <a:srgbClr val="063DE8"/>
                </a:solidFill>
                <a:latin typeface="Times New Roman"/>
                <a:cs typeface="Times New Roman"/>
              </a:rPr>
              <a:t>chosen</a:t>
            </a:r>
            <a:r>
              <a:rPr sz="2400" b="1" spc="-35" dirty="0">
                <a:solidFill>
                  <a:srgbClr val="063DE8"/>
                </a:solidFill>
                <a:latin typeface="Times New Roman"/>
                <a:cs typeface="Times New Roman"/>
              </a:rPr>
              <a:t> </a:t>
            </a:r>
            <a:r>
              <a:rPr sz="2400" b="1" dirty="0">
                <a:solidFill>
                  <a:srgbClr val="063DE8"/>
                </a:solidFill>
                <a:latin typeface="Times New Roman"/>
                <a:cs typeface="Times New Roman"/>
              </a:rPr>
              <a:t>message</a:t>
            </a:r>
            <a:r>
              <a:rPr sz="2400" b="1" spc="-30" dirty="0">
                <a:solidFill>
                  <a:srgbClr val="063DE8"/>
                </a:solidFill>
                <a:latin typeface="Times New Roman"/>
                <a:cs typeface="Times New Roman"/>
              </a:rPr>
              <a:t> </a:t>
            </a:r>
            <a:r>
              <a:rPr sz="2400" b="1" dirty="0">
                <a:solidFill>
                  <a:srgbClr val="063DE8"/>
                </a:solidFill>
                <a:latin typeface="Times New Roman"/>
                <a:cs typeface="Times New Roman"/>
              </a:rPr>
              <a:t>attack</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obtains</a:t>
            </a:r>
            <a:r>
              <a:rPr sz="2400" spc="-4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signatures</a:t>
            </a:r>
            <a:r>
              <a:rPr sz="2400" spc="-40" dirty="0">
                <a:latin typeface="Times New Roman"/>
                <a:cs typeface="Times New Roman"/>
              </a:rPr>
              <a:t> </a:t>
            </a:r>
            <a:r>
              <a:rPr sz="2400" spc="-25" dirty="0">
                <a:latin typeface="Times New Roman"/>
                <a:cs typeface="Times New Roman"/>
              </a:rPr>
              <a:t>on </a:t>
            </a:r>
            <a:r>
              <a:rPr sz="2400" dirty="0">
                <a:latin typeface="Times New Roman"/>
                <a:cs typeface="Times New Roman"/>
              </a:rPr>
              <a:t>messages</a:t>
            </a:r>
            <a:r>
              <a:rPr sz="2400" spc="-40" dirty="0">
                <a:latin typeface="Times New Roman"/>
                <a:cs typeface="Times New Roman"/>
              </a:rPr>
              <a:t> </a:t>
            </a:r>
            <a:r>
              <a:rPr sz="2400" dirty="0">
                <a:latin typeface="Times New Roman"/>
                <a:cs typeface="Times New Roman"/>
              </a:rPr>
              <a:t>selected</a:t>
            </a:r>
            <a:r>
              <a:rPr sz="2400" spc="-35" dirty="0">
                <a:latin typeface="Times New Roman"/>
                <a:cs typeface="Times New Roman"/>
              </a:rPr>
              <a:t> </a:t>
            </a:r>
            <a:r>
              <a:rPr sz="2400" dirty="0">
                <a:latin typeface="Times New Roman"/>
                <a:cs typeface="Times New Roman"/>
              </a:rPr>
              <a:t>after</a:t>
            </a:r>
            <a:r>
              <a:rPr sz="2400" spc="-35" dirty="0">
                <a:latin typeface="Times New Roman"/>
                <a:cs typeface="Times New Roman"/>
              </a:rPr>
              <a:t> </a:t>
            </a:r>
            <a:r>
              <a:rPr sz="2400" dirty="0">
                <a:latin typeface="Times New Roman"/>
                <a:cs typeface="Times New Roman"/>
              </a:rPr>
              <a:t>knowing</a:t>
            </a:r>
            <a:r>
              <a:rPr sz="2400" spc="-4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public</a:t>
            </a:r>
            <a:r>
              <a:rPr sz="2400" spc="-35" dirty="0">
                <a:latin typeface="Times New Roman"/>
                <a:cs typeface="Times New Roman"/>
              </a:rPr>
              <a:t> </a:t>
            </a:r>
            <a:r>
              <a:rPr sz="2400" spc="-25" dirty="0">
                <a:latin typeface="Times New Roman"/>
                <a:cs typeface="Times New Roman"/>
              </a:rPr>
              <a:t>key</a:t>
            </a:r>
            <a:endParaRPr sz="2400">
              <a:latin typeface="Times New Roman"/>
              <a:cs typeface="Times New Roman"/>
            </a:endParaRPr>
          </a:p>
          <a:p>
            <a:pPr marL="469265" marR="234315" indent="-457200">
              <a:lnSpc>
                <a:spcPct val="100000"/>
              </a:lnSpc>
              <a:spcBef>
                <a:spcPts val="565"/>
              </a:spcBef>
              <a:buSzPct val="75000"/>
              <a:buAutoNum type="arabicPeriod"/>
              <a:tabLst>
                <a:tab pos="469265" algn="l"/>
              </a:tabLst>
            </a:pPr>
            <a:r>
              <a:rPr sz="2400" b="1" dirty="0">
                <a:solidFill>
                  <a:srgbClr val="063DE8"/>
                </a:solidFill>
                <a:latin typeface="Times New Roman"/>
                <a:cs typeface="Times New Roman"/>
              </a:rPr>
              <a:t>Adaptive</a:t>
            </a:r>
            <a:r>
              <a:rPr sz="2400" b="1" spc="-60" dirty="0">
                <a:solidFill>
                  <a:srgbClr val="063DE8"/>
                </a:solidFill>
                <a:latin typeface="Times New Roman"/>
                <a:cs typeface="Times New Roman"/>
              </a:rPr>
              <a:t> </a:t>
            </a:r>
            <a:r>
              <a:rPr sz="2400" b="1" dirty="0">
                <a:solidFill>
                  <a:srgbClr val="063DE8"/>
                </a:solidFill>
                <a:latin typeface="Times New Roman"/>
                <a:cs typeface="Times New Roman"/>
              </a:rPr>
              <a:t>chosen</a:t>
            </a:r>
            <a:r>
              <a:rPr sz="2400" b="1" spc="-55" dirty="0">
                <a:solidFill>
                  <a:srgbClr val="063DE8"/>
                </a:solidFill>
                <a:latin typeface="Times New Roman"/>
                <a:cs typeface="Times New Roman"/>
              </a:rPr>
              <a:t> </a:t>
            </a:r>
            <a:r>
              <a:rPr sz="2400" b="1" dirty="0">
                <a:solidFill>
                  <a:srgbClr val="063DE8"/>
                </a:solidFill>
                <a:latin typeface="Times New Roman"/>
                <a:cs typeface="Times New Roman"/>
              </a:rPr>
              <a:t>message</a:t>
            </a:r>
            <a:r>
              <a:rPr sz="2400" b="1" spc="-55" dirty="0">
                <a:solidFill>
                  <a:srgbClr val="063DE8"/>
                </a:solidFill>
                <a:latin typeface="Times New Roman"/>
                <a:cs typeface="Times New Roman"/>
              </a:rPr>
              <a:t> </a:t>
            </a:r>
            <a:r>
              <a:rPr sz="2400" b="1" dirty="0">
                <a:solidFill>
                  <a:srgbClr val="063DE8"/>
                </a:solidFill>
                <a:latin typeface="Times New Roman"/>
                <a:cs typeface="Times New Roman"/>
              </a:rPr>
              <a:t>attack</a:t>
            </a:r>
            <a:r>
              <a:rPr sz="2400" dirty="0">
                <a:latin typeface="Times New Roman"/>
                <a:cs typeface="Times New Roman"/>
              </a:rPr>
              <a:t>:</a:t>
            </a:r>
            <a:r>
              <a:rPr sz="2400" spc="-55" dirty="0">
                <a:latin typeface="Times New Roman"/>
                <a:cs typeface="Times New Roman"/>
              </a:rPr>
              <a:t> </a:t>
            </a:r>
            <a:r>
              <a:rPr sz="2400" dirty="0">
                <a:latin typeface="Times New Roman"/>
                <a:cs typeface="Times New Roman"/>
              </a:rPr>
              <a:t>C</a:t>
            </a:r>
            <a:r>
              <a:rPr sz="2400" spc="-55" dirty="0">
                <a:latin typeface="Times New Roman"/>
                <a:cs typeface="Times New Roman"/>
              </a:rPr>
              <a:t> </a:t>
            </a:r>
            <a:r>
              <a:rPr sz="2400" dirty="0">
                <a:latin typeface="Times New Roman"/>
                <a:cs typeface="Times New Roman"/>
              </a:rPr>
              <a:t>may</a:t>
            </a:r>
            <a:r>
              <a:rPr sz="2400" spc="-55" dirty="0">
                <a:latin typeface="Times New Roman"/>
                <a:cs typeface="Times New Roman"/>
              </a:rPr>
              <a:t> </a:t>
            </a:r>
            <a:r>
              <a:rPr sz="2400" dirty="0">
                <a:latin typeface="Times New Roman"/>
                <a:cs typeface="Times New Roman"/>
              </a:rPr>
              <a:t>request</a:t>
            </a:r>
            <a:r>
              <a:rPr sz="2400" spc="-55" dirty="0">
                <a:latin typeface="Times New Roman"/>
                <a:cs typeface="Times New Roman"/>
              </a:rPr>
              <a:t> </a:t>
            </a:r>
            <a:r>
              <a:rPr sz="2400" spc="-10" dirty="0">
                <a:latin typeface="Times New Roman"/>
                <a:cs typeface="Times New Roman"/>
              </a:rPr>
              <a:t>signatures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messages</a:t>
            </a:r>
            <a:r>
              <a:rPr sz="2400" spc="-25" dirty="0">
                <a:latin typeface="Times New Roman"/>
                <a:cs typeface="Times New Roman"/>
              </a:rPr>
              <a:t> </a:t>
            </a:r>
            <a:r>
              <a:rPr sz="2400" dirty="0">
                <a:latin typeface="Times New Roman"/>
                <a:cs typeface="Times New Roman"/>
              </a:rPr>
              <a:t>depending</a:t>
            </a:r>
            <a:r>
              <a:rPr sz="2400" spc="-20" dirty="0">
                <a:latin typeface="Times New Roman"/>
                <a:cs typeface="Times New Roman"/>
              </a:rPr>
              <a:t> </a:t>
            </a:r>
            <a:r>
              <a:rPr sz="2400" dirty="0">
                <a:latin typeface="Times New Roman"/>
                <a:cs typeface="Times New Roman"/>
              </a:rPr>
              <a:t>upon</a:t>
            </a:r>
            <a:r>
              <a:rPr sz="2400" spc="-25" dirty="0">
                <a:latin typeface="Times New Roman"/>
                <a:cs typeface="Times New Roman"/>
              </a:rPr>
              <a:t> </a:t>
            </a:r>
            <a:r>
              <a:rPr sz="2400" dirty="0">
                <a:latin typeface="Times New Roman"/>
                <a:cs typeface="Times New Roman"/>
              </a:rPr>
              <a:t>previous</a:t>
            </a:r>
            <a:r>
              <a:rPr sz="2400" spc="-20" dirty="0">
                <a:latin typeface="Times New Roman"/>
                <a:cs typeface="Times New Roman"/>
              </a:rPr>
              <a:t> </a:t>
            </a:r>
            <a:r>
              <a:rPr sz="2400" spc="-10" dirty="0">
                <a:latin typeface="Times New Roman"/>
                <a:cs typeface="Times New Roman"/>
              </a:rPr>
              <a:t>message-signature pairs</a:t>
            </a:r>
            <a:endParaRPr sz="24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4455" y="445871"/>
            <a:ext cx="1878964" cy="574040"/>
          </a:xfrm>
          <a:prstGeom prst="rect">
            <a:avLst/>
          </a:prstGeom>
        </p:spPr>
        <p:txBody>
          <a:bodyPr vert="horz" wrap="square" lIns="0" tIns="12700" rIns="0" bIns="0" rtlCol="0">
            <a:spAutoFit/>
          </a:bodyPr>
          <a:lstStyle/>
          <a:p>
            <a:pPr marL="12700">
              <a:lnSpc>
                <a:spcPct val="100000"/>
              </a:lnSpc>
              <a:spcBef>
                <a:spcPts val="100"/>
              </a:spcBef>
            </a:pPr>
            <a:r>
              <a:rPr spc="-10" dirty="0"/>
              <a:t>Forgeries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7454" y="1243838"/>
            <a:ext cx="7546975" cy="2873375"/>
          </a:xfrm>
          <a:prstGeom prst="rect">
            <a:avLst/>
          </a:prstGeom>
        </p:spPr>
        <p:txBody>
          <a:bodyPr vert="horz" wrap="square" lIns="0" tIns="85090" rIns="0" bIns="0" rtlCol="0">
            <a:spAutoFit/>
          </a:bodyPr>
          <a:lstStyle/>
          <a:p>
            <a:pPr marL="545465" indent="-532765">
              <a:lnSpc>
                <a:spcPct val="100000"/>
              </a:lnSpc>
              <a:spcBef>
                <a:spcPts val="670"/>
              </a:spcBef>
              <a:buSzPct val="75000"/>
              <a:buAutoNum type="arabicPeriod"/>
              <a:tabLst>
                <a:tab pos="545465" algn="l"/>
              </a:tabLst>
            </a:pPr>
            <a:r>
              <a:rPr sz="2400" b="1" dirty="0">
                <a:solidFill>
                  <a:srgbClr val="063DE8"/>
                </a:solidFill>
                <a:latin typeface="Times New Roman"/>
                <a:cs typeface="Times New Roman"/>
              </a:rPr>
              <a:t>Total</a:t>
            </a:r>
            <a:r>
              <a:rPr sz="2400" b="1" spc="-30" dirty="0">
                <a:solidFill>
                  <a:srgbClr val="063DE8"/>
                </a:solidFill>
                <a:latin typeface="Times New Roman"/>
                <a:cs typeface="Times New Roman"/>
              </a:rPr>
              <a:t> </a:t>
            </a:r>
            <a:r>
              <a:rPr sz="2400" b="1" dirty="0">
                <a:solidFill>
                  <a:srgbClr val="063DE8"/>
                </a:solidFill>
                <a:latin typeface="Times New Roman"/>
                <a:cs typeface="Times New Roman"/>
              </a:rPr>
              <a:t>break</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C</a:t>
            </a:r>
            <a:r>
              <a:rPr sz="2400" spc="-20" dirty="0">
                <a:latin typeface="Times New Roman"/>
                <a:cs typeface="Times New Roman"/>
              </a:rPr>
              <a:t> </a:t>
            </a:r>
            <a:r>
              <a:rPr sz="2400" dirty="0">
                <a:latin typeface="Times New Roman"/>
                <a:cs typeface="Times New Roman"/>
              </a:rPr>
              <a:t>knows</a:t>
            </a:r>
            <a:r>
              <a:rPr sz="2400" spc="-15" dirty="0">
                <a:latin typeface="Times New Roman"/>
                <a:cs typeface="Times New Roman"/>
              </a:rPr>
              <a:t> </a:t>
            </a:r>
            <a:r>
              <a:rPr sz="2400" dirty="0">
                <a:latin typeface="Times New Roman"/>
                <a:cs typeface="Times New Roman"/>
              </a:rPr>
              <a:t>A’s</a:t>
            </a:r>
            <a:r>
              <a:rPr sz="2400" spc="-20" dirty="0">
                <a:latin typeface="Times New Roman"/>
                <a:cs typeface="Times New Roman"/>
              </a:rPr>
              <a:t> </a:t>
            </a:r>
            <a:r>
              <a:rPr sz="2400" dirty="0">
                <a:latin typeface="Times New Roman"/>
                <a:cs typeface="Times New Roman"/>
              </a:rPr>
              <a:t>private</a:t>
            </a:r>
            <a:r>
              <a:rPr sz="2400" spc="-15" dirty="0">
                <a:latin typeface="Times New Roman"/>
                <a:cs typeface="Times New Roman"/>
              </a:rPr>
              <a:t> </a:t>
            </a:r>
            <a:r>
              <a:rPr sz="2400" spc="-25" dirty="0">
                <a:latin typeface="Times New Roman"/>
                <a:cs typeface="Times New Roman"/>
              </a:rPr>
              <a:t>key</a:t>
            </a:r>
            <a:endParaRPr sz="2400">
              <a:latin typeface="Times New Roman"/>
              <a:cs typeface="Times New Roman"/>
            </a:endParaRPr>
          </a:p>
          <a:p>
            <a:pPr marL="546100" marR="5080" indent="-533400">
              <a:lnSpc>
                <a:spcPct val="100000"/>
              </a:lnSpc>
              <a:spcBef>
                <a:spcPts val="570"/>
              </a:spcBef>
              <a:buSzPct val="75000"/>
              <a:buAutoNum type="arabicPeriod"/>
              <a:tabLst>
                <a:tab pos="546100" algn="l"/>
              </a:tabLst>
            </a:pPr>
            <a:r>
              <a:rPr sz="2400" b="1" dirty="0">
                <a:solidFill>
                  <a:srgbClr val="063DE8"/>
                </a:solidFill>
                <a:latin typeface="Times New Roman"/>
                <a:cs typeface="Times New Roman"/>
              </a:rPr>
              <a:t>Universal</a:t>
            </a:r>
            <a:r>
              <a:rPr sz="2400" b="1" spc="-35" dirty="0">
                <a:solidFill>
                  <a:srgbClr val="063DE8"/>
                </a:solidFill>
                <a:latin typeface="Times New Roman"/>
                <a:cs typeface="Times New Roman"/>
              </a:rPr>
              <a:t> </a:t>
            </a:r>
            <a:r>
              <a:rPr sz="2400" b="1" dirty="0">
                <a:solidFill>
                  <a:srgbClr val="063DE8"/>
                </a:solidFill>
                <a:latin typeface="Times New Roman"/>
                <a:cs typeface="Times New Roman"/>
              </a:rPr>
              <a:t>forgery</a:t>
            </a:r>
            <a:r>
              <a:rPr sz="2400" dirty="0">
                <a:latin typeface="Times New Roman"/>
                <a:cs typeface="Times New Roman"/>
              </a:rPr>
              <a:t>:</a:t>
            </a:r>
            <a:r>
              <a:rPr sz="2400" spc="-30"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generate</a:t>
            </a:r>
            <a:r>
              <a:rPr sz="2400" spc="-3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signatures</a:t>
            </a:r>
            <a:r>
              <a:rPr sz="2400" spc="-30"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spc="-25" dirty="0">
                <a:latin typeface="Times New Roman"/>
                <a:cs typeface="Times New Roman"/>
              </a:rPr>
              <a:t>any </a:t>
            </a:r>
            <a:r>
              <a:rPr sz="2400" spc="-10" dirty="0">
                <a:latin typeface="Times New Roman"/>
                <a:cs typeface="Times New Roman"/>
              </a:rPr>
              <a:t>message</a:t>
            </a:r>
            <a:endParaRPr sz="2400">
              <a:latin typeface="Times New Roman"/>
              <a:cs typeface="Times New Roman"/>
            </a:endParaRPr>
          </a:p>
          <a:p>
            <a:pPr marL="545465" marR="499109" indent="-533400">
              <a:lnSpc>
                <a:spcPct val="100000"/>
              </a:lnSpc>
              <a:spcBef>
                <a:spcPts val="560"/>
              </a:spcBef>
              <a:buSzPct val="75000"/>
              <a:buAutoNum type="arabicPeriod"/>
              <a:tabLst>
                <a:tab pos="545465" algn="l"/>
              </a:tabLst>
            </a:pPr>
            <a:r>
              <a:rPr sz="2400" b="1" dirty="0">
                <a:solidFill>
                  <a:srgbClr val="063DE8"/>
                </a:solidFill>
                <a:latin typeface="Times New Roman"/>
                <a:cs typeface="Times New Roman"/>
              </a:rPr>
              <a:t>Selective</a:t>
            </a:r>
            <a:r>
              <a:rPr sz="2400" b="1" spc="-40" dirty="0">
                <a:solidFill>
                  <a:srgbClr val="063DE8"/>
                </a:solidFill>
                <a:latin typeface="Times New Roman"/>
                <a:cs typeface="Times New Roman"/>
              </a:rPr>
              <a:t> </a:t>
            </a:r>
            <a:r>
              <a:rPr sz="2400" b="1" dirty="0">
                <a:solidFill>
                  <a:srgbClr val="063DE8"/>
                </a:solidFill>
                <a:latin typeface="Times New Roman"/>
                <a:cs typeface="Times New Roman"/>
              </a:rPr>
              <a:t>forgery</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generate</a:t>
            </a:r>
            <a:r>
              <a:rPr sz="2400" spc="-35" dirty="0">
                <a:latin typeface="Times New Roman"/>
                <a:cs typeface="Times New Roman"/>
              </a:rPr>
              <a:t> </a:t>
            </a:r>
            <a:r>
              <a:rPr sz="2400" dirty="0">
                <a:latin typeface="Times New Roman"/>
                <a:cs typeface="Times New Roman"/>
              </a:rPr>
              <a:t>A’s</a:t>
            </a:r>
            <a:r>
              <a:rPr sz="2400" spc="-40" dirty="0">
                <a:latin typeface="Times New Roman"/>
                <a:cs typeface="Times New Roman"/>
              </a:rPr>
              <a:t> </a:t>
            </a:r>
            <a:r>
              <a:rPr sz="2400" dirty="0">
                <a:latin typeface="Times New Roman"/>
                <a:cs typeface="Times New Roman"/>
              </a:rPr>
              <a:t>signature</a:t>
            </a:r>
            <a:r>
              <a:rPr sz="2400" spc="-3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spc="-60" dirty="0">
                <a:latin typeface="Times New Roman"/>
                <a:cs typeface="Times New Roman"/>
              </a:rPr>
              <a:t>a </a:t>
            </a:r>
            <a:r>
              <a:rPr sz="2400" dirty="0">
                <a:latin typeface="Times New Roman"/>
                <a:cs typeface="Times New Roman"/>
              </a:rPr>
              <a:t>particular</a:t>
            </a:r>
            <a:r>
              <a:rPr sz="2400" spc="-35" dirty="0">
                <a:latin typeface="Times New Roman"/>
                <a:cs typeface="Times New Roman"/>
              </a:rPr>
              <a:t> </a:t>
            </a:r>
            <a:r>
              <a:rPr sz="2400" dirty="0">
                <a:latin typeface="Times New Roman"/>
                <a:cs typeface="Times New Roman"/>
              </a:rPr>
              <a:t>message</a:t>
            </a:r>
            <a:r>
              <a:rPr sz="2400" spc="-30" dirty="0">
                <a:latin typeface="Times New Roman"/>
                <a:cs typeface="Times New Roman"/>
              </a:rPr>
              <a:t> </a:t>
            </a:r>
            <a:r>
              <a:rPr sz="2400" dirty="0">
                <a:latin typeface="Times New Roman"/>
                <a:cs typeface="Times New Roman"/>
              </a:rPr>
              <a:t>chosen</a:t>
            </a:r>
            <a:r>
              <a:rPr sz="2400" spc="-30" dirty="0">
                <a:latin typeface="Times New Roman"/>
                <a:cs typeface="Times New Roman"/>
              </a:rPr>
              <a:t> </a:t>
            </a:r>
            <a:r>
              <a:rPr sz="2400" dirty="0">
                <a:latin typeface="Times New Roman"/>
                <a:cs typeface="Times New Roman"/>
              </a:rPr>
              <a:t>by</a:t>
            </a:r>
            <a:r>
              <a:rPr sz="2400" spc="-30" dirty="0">
                <a:latin typeface="Times New Roman"/>
                <a:cs typeface="Times New Roman"/>
              </a:rPr>
              <a:t> </a:t>
            </a:r>
            <a:r>
              <a:rPr sz="2400" spc="-50" dirty="0">
                <a:latin typeface="Times New Roman"/>
                <a:cs typeface="Times New Roman"/>
              </a:rPr>
              <a:t>C</a:t>
            </a:r>
            <a:endParaRPr sz="2400">
              <a:latin typeface="Times New Roman"/>
              <a:cs typeface="Times New Roman"/>
            </a:endParaRPr>
          </a:p>
          <a:p>
            <a:pPr marL="546100" marR="242570" indent="-533400">
              <a:lnSpc>
                <a:spcPct val="100000"/>
              </a:lnSpc>
              <a:spcBef>
                <a:spcPts val="565"/>
              </a:spcBef>
              <a:buSzPct val="75000"/>
              <a:buAutoNum type="arabicPeriod"/>
              <a:tabLst>
                <a:tab pos="546100" algn="l"/>
              </a:tabLst>
            </a:pPr>
            <a:r>
              <a:rPr sz="2400" b="1" dirty="0">
                <a:solidFill>
                  <a:srgbClr val="063DE8"/>
                </a:solidFill>
                <a:latin typeface="Times New Roman"/>
                <a:cs typeface="Times New Roman"/>
              </a:rPr>
              <a:t>Existential</a:t>
            </a:r>
            <a:r>
              <a:rPr sz="2400" b="1" spc="-40" dirty="0">
                <a:solidFill>
                  <a:srgbClr val="063DE8"/>
                </a:solidFill>
                <a:latin typeface="Times New Roman"/>
                <a:cs typeface="Times New Roman"/>
              </a:rPr>
              <a:t> </a:t>
            </a:r>
            <a:r>
              <a:rPr sz="2400" b="1" dirty="0">
                <a:solidFill>
                  <a:srgbClr val="063DE8"/>
                </a:solidFill>
                <a:latin typeface="Times New Roman"/>
                <a:cs typeface="Times New Roman"/>
              </a:rPr>
              <a:t>forgery</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C</a:t>
            </a:r>
            <a:r>
              <a:rPr sz="2400" spc="-35"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generate</a:t>
            </a:r>
            <a:r>
              <a:rPr sz="2400" spc="-35" dirty="0">
                <a:latin typeface="Times New Roman"/>
                <a:cs typeface="Times New Roman"/>
              </a:rPr>
              <a:t> </a:t>
            </a:r>
            <a:r>
              <a:rPr sz="2400" dirty="0">
                <a:latin typeface="Times New Roman"/>
                <a:cs typeface="Times New Roman"/>
              </a:rPr>
              <a:t>A’s</a:t>
            </a:r>
            <a:r>
              <a:rPr sz="2400" spc="-40" dirty="0">
                <a:latin typeface="Times New Roman"/>
                <a:cs typeface="Times New Roman"/>
              </a:rPr>
              <a:t> </a:t>
            </a:r>
            <a:r>
              <a:rPr sz="2400" dirty="0">
                <a:latin typeface="Times New Roman"/>
                <a:cs typeface="Times New Roman"/>
              </a:rPr>
              <a:t>signature</a:t>
            </a:r>
            <a:r>
              <a:rPr sz="2400" spc="-3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spc="-50" dirty="0">
                <a:latin typeface="Times New Roman"/>
                <a:cs typeface="Times New Roman"/>
              </a:rPr>
              <a:t>a </a:t>
            </a:r>
            <a:r>
              <a:rPr sz="2400" dirty="0">
                <a:latin typeface="Times New Roman"/>
                <a:cs typeface="Times New Roman"/>
              </a:rPr>
              <a:t>message</a:t>
            </a:r>
            <a:r>
              <a:rPr sz="2400" spc="-35" dirty="0">
                <a:latin typeface="Times New Roman"/>
                <a:cs typeface="Times New Roman"/>
              </a:rPr>
              <a:t> </a:t>
            </a:r>
            <a:r>
              <a:rPr sz="2400" dirty="0">
                <a:latin typeface="Times New Roman"/>
                <a:cs typeface="Times New Roman"/>
              </a:rPr>
              <a:t>not</a:t>
            </a:r>
            <a:r>
              <a:rPr sz="2400" spc="-20" dirty="0">
                <a:latin typeface="Times New Roman"/>
                <a:cs typeface="Times New Roman"/>
              </a:rPr>
              <a:t> </a:t>
            </a:r>
            <a:r>
              <a:rPr sz="2400" dirty="0">
                <a:latin typeface="Times New Roman"/>
                <a:cs typeface="Times New Roman"/>
              </a:rPr>
              <a:t>chosen</a:t>
            </a:r>
            <a:r>
              <a:rPr sz="2400" spc="-25" dirty="0">
                <a:latin typeface="Times New Roman"/>
                <a:cs typeface="Times New Roman"/>
              </a:rPr>
              <a:t> </a:t>
            </a:r>
            <a:r>
              <a:rPr sz="2400" dirty="0">
                <a:latin typeface="Times New Roman"/>
                <a:cs typeface="Times New Roman"/>
              </a:rPr>
              <a:t>by</a:t>
            </a:r>
            <a:r>
              <a:rPr sz="2400" spc="-20" dirty="0">
                <a:latin typeface="Times New Roman"/>
                <a:cs typeface="Times New Roman"/>
              </a:rPr>
              <a:t> </a:t>
            </a:r>
            <a:r>
              <a:rPr sz="2400" spc="-50" dirty="0">
                <a:latin typeface="Times New Roman"/>
                <a:cs typeface="Times New Roman"/>
              </a:rPr>
              <a:t>C</a:t>
            </a:r>
            <a:endParaRPr sz="24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Digital</a:t>
            </a:r>
            <a:r>
              <a:rPr spc="-65" dirty="0"/>
              <a:t> </a:t>
            </a:r>
            <a:r>
              <a:rPr dirty="0"/>
              <a:t>Signature</a:t>
            </a:r>
            <a:r>
              <a:rPr spc="-50" dirty="0"/>
              <a:t> </a:t>
            </a:r>
            <a:r>
              <a:rPr spc="-10" dirty="0"/>
              <a:t>Requirements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8977" y="1245362"/>
            <a:ext cx="7042150" cy="4755789"/>
          </a:xfrm>
          <a:prstGeom prst="rect">
            <a:avLst/>
          </a:prstGeom>
        </p:spPr>
        <p:txBody>
          <a:bodyPr vert="horz" wrap="square" lIns="0" tIns="85090" rIns="0" bIns="0" rtlCol="0">
            <a:spAutoFit/>
          </a:bodyPr>
          <a:lstStyle/>
          <a:p>
            <a:pPr marL="354965" indent="-342265">
              <a:lnSpc>
                <a:spcPct val="100000"/>
              </a:lnSpc>
              <a:spcBef>
                <a:spcPts val="670"/>
              </a:spcBef>
              <a:buClr>
                <a:srgbClr val="063DE8"/>
              </a:buClr>
              <a:buSzPct val="75000"/>
              <a:buFont typeface="Wingdings"/>
              <a:buChar char=""/>
              <a:tabLst>
                <a:tab pos="354965" algn="l"/>
              </a:tabLst>
            </a:pPr>
            <a:r>
              <a:rPr sz="2400" dirty="0">
                <a:latin typeface="Times New Roman"/>
                <a:cs typeface="Times New Roman"/>
              </a:rPr>
              <a:t>Must</a:t>
            </a:r>
            <a:r>
              <a:rPr sz="2400" spc="-35" dirty="0">
                <a:latin typeface="Times New Roman"/>
                <a:cs typeface="Times New Roman"/>
              </a:rPr>
              <a:t> </a:t>
            </a:r>
            <a:r>
              <a:rPr sz="2400" dirty="0">
                <a:latin typeface="Times New Roman"/>
                <a:cs typeface="Times New Roman"/>
              </a:rPr>
              <a:t>depend</a:t>
            </a:r>
            <a:r>
              <a:rPr sz="2400" spc="-30"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message</a:t>
            </a:r>
            <a:r>
              <a:rPr sz="2400" spc="-30" dirty="0">
                <a:latin typeface="Times New Roman"/>
                <a:cs typeface="Times New Roman"/>
              </a:rPr>
              <a:t> </a:t>
            </a:r>
            <a:r>
              <a:rPr sz="2400" spc="-10" dirty="0">
                <a:latin typeface="Times New Roman"/>
                <a:cs typeface="Times New Roman"/>
              </a:rPr>
              <a:t>signed</a:t>
            </a:r>
            <a:endParaRPr sz="2400" dirty="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Must</a:t>
            </a:r>
            <a:r>
              <a:rPr sz="2400" spc="-45" dirty="0">
                <a:latin typeface="Times New Roman"/>
                <a:cs typeface="Times New Roman"/>
              </a:rPr>
              <a:t> </a:t>
            </a:r>
            <a:r>
              <a:rPr sz="2400" dirty="0">
                <a:latin typeface="Times New Roman"/>
                <a:cs typeface="Times New Roman"/>
              </a:rPr>
              <a:t>use</a:t>
            </a:r>
            <a:r>
              <a:rPr sz="2400" spc="-40" dirty="0">
                <a:latin typeface="Times New Roman"/>
                <a:cs typeface="Times New Roman"/>
              </a:rPr>
              <a:t> </a:t>
            </a:r>
            <a:r>
              <a:rPr sz="2400" dirty="0">
                <a:latin typeface="Times New Roman"/>
                <a:cs typeface="Times New Roman"/>
              </a:rPr>
              <a:t>information</a:t>
            </a:r>
            <a:r>
              <a:rPr sz="2400" spc="-45" dirty="0">
                <a:latin typeface="Times New Roman"/>
                <a:cs typeface="Times New Roman"/>
              </a:rPr>
              <a:t> </a:t>
            </a:r>
            <a:r>
              <a:rPr sz="2400" dirty="0">
                <a:latin typeface="Times New Roman"/>
                <a:cs typeface="Times New Roman"/>
              </a:rPr>
              <a:t>unique</a:t>
            </a:r>
            <a:r>
              <a:rPr sz="2400" spc="-4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10" dirty="0">
                <a:latin typeface="Times New Roman"/>
                <a:cs typeface="Times New Roman"/>
              </a:rPr>
              <a:t>sender</a:t>
            </a:r>
            <a:endParaRPr sz="2400" dirty="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prevent</a:t>
            </a:r>
            <a:r>
              <a:rPr sz="2400" spc="-25" dirty="0">
                <a:latin typeface="Times New Roman"/>
                <a:cs typeface="Times New Roman"/>
              </a:rPr>
              <a:t> </a:t>
            </a:r>
            <a:r>
              <a:rPr sz="2400" dirty="0">
                <a:latin typeface="Times New Roman"/>
                <a:cs typeface="Times New Roman"/>
              </a:rPr>
              <a:t>both</a:t>
            </a:r>
            <a:r>
              <a:rPr sz="2400" spc="-20" dirty="0">
                <a:latin typeface="Times New Roman"/>
                <a:cs typeface="Times New Roman"/>
              </a:rPr>
              <a:t> </a:t>
            </a:r>
            <a:r>
              <a:rPr sz="2400" dirty="0">
                <a:latin typeface="Times New Roman"/>
                <a:cs typeface="Times New Roman"/>
              </a:rPr>
              <a:t>forgery</a:t>
            </a:r>
            <a:r>
              <a:rPr sz="2400" spc="-2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spc="-10" dirty="0">
                <a:latin typeface="Times New Roman"/>
                <a:cs typeface="Times New Roman"/>
              </a:rPr>
              <a:t>denial</a:t>
            </a:r>
            <a:endParaRPr sz="2400" dirty="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Must</a:t>
            </a:r>
            <a:r>
              <a:rPr sz="2400" spc="-35" dirty="0">
                <a:latin typeface="Times New Roman"/>
                <a:cs typeface="Times New Roman"/>
              </a:rPr>
              <a:t> </a:t>
            </a:r>
            <a:r>
              <a:rPr sz="2400" dirty="0">
                <a:latin typeface="Times New Roman"/>
                <a:cs typeface="Times New Roman"/>
              </a:rPr>
              <a:t>be</a:t>
            </a:r>
            <a:r>
              <a:rPr sz="2400" spc="-30" dirty="0">
                <a:latin typeface="Times New Roman"/>
                <a:cs typeface="Times New Roman"/>
              </a:rPr>
              <a:t> </a:t>
            </a:r>
            <a:r>
              <a:rPr sz="2400" dirty="0">
                <a:latin typeface="Times New Roman"/>
                <a:cs typeface="Times New Roman"/>
              </a:rPr>
              <a:t>relatively</a:t>
            </a:r>
            <a:r>
              <a:rPr sz="2400" spc="-35" dirty="0">
                <a:latin typeface="Times New Roman"/>
                <a:cs typeface="Times New Roman"/>
              </a:rPr>
              <a:t> </a:t>
            </a:r>
            <a:r>
              <a:rPr sz="2400" dirty="0">
                <a:latin typeface="Times New Roman"/>
                <a:cs typeface="Times New Roman"/>
              </a:rPr>
              <a:t>easy</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10" dirty="0">
                <a:latin typeface="Times New Roman"/>
                <a:cs typeface="Times New Roman"/>
              </a:rPr>
              <a:t>produce</a:t>
            </a:r>
            <a:endParaRPr sz="2400" dirty="0">
              <a:latin typeface="Times New Roman"/>
              <a:cs typeface="Times New Roman"/>
            </a:endParaRPr>
          </a:p>
          <a:p>
            <a:pPr marL="355600" marR="1156335" indent="-342900">
              <a:lnSpc>
                <a:spcPct val="101699"/>
              </a:lnSpc>
              <a:spcBef>
                <a:spcPts val="520"/>
              </a:spcBef>
              <a:buClr>
                <a:srgbClr val="063DE8"/>
              </a:buClr>
              <a:buSzPct val="75000"/>
              <a:buFont typeface="Wingdings"/>
              <a:buChar char=""/>
              <a:tabLst>
                <a:tab pos="355600" algn="l"/>
              </a:tabLst>
            </a:pPr>
            <a:r>
              <a:rPr sz="2400" dirty="0">
                <a:latin typeface="Times New Roman"/>
                <a:cs typeface="Times New Roman"/>
              </a:rPr>
              <a:t>Must</a:t>
            </a:r>
            <a:r>
              <a:rPr sz="2400" spc="-30" dirty="0">
                <a:latin typeface="Times New Roman"/>
                <a:cs typeface="Times New Roman"/>
              </a:rPr>
              <a:t> </a:t>
            </a:r>
            <a:r>
              <a:rPr sz="2400" dirty="0">
                <a:latin typeface="Times New Roman"/>
                <a:cs typeface="Times New Roman"/>
              </a:rPr>
              <a:t>be</a:t>
            </a:r>
            <a:r>
              <a:rPr sz="2400" spc="-30" dirty="0">
                <a:latin typeface="Times New Roman"/>
                <a:cs typeface="Times New Roman"/>
              </a:rPr>
              <a:t> </a:t>
            </a:r>
            <a:r>
              <a:rPr sz="2400" dirty="0">
                <a:latin typeface="Times New Roman"/>
                <a:cs typeface="Times New Roman"/>
              </a:rPr>
              <a:t>relatively</a:t>
            </a:r>
            <a:r>
              <a:rPr sz="2400" spc="-30" dirty="0">
                <a:latin typeface="Times New Roman"/>
                <a:cs typeface="Times New Roman"/>
              </a:rPr>
              <a:t> </a:t>
            </a:r>
            <a:r>
              <a:rPr sz="2400" dirty="0">
                <a:latin typeface="Times New Roman"/>
                <a:cs typeface="Times New Roman"/>
              </a:rPr>
              <a:t>easy</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recognize</a:t>
            </a:r>
            <a:r>
              <a:rPr sz="2400" spc="-30" dirty="0">
                <a:latin typeface="Times New Roman"/>
                <a:cs typeface="Times New Roman"/>
              </a:rPr>
              <a:t> </a:t>
            </a:r>
            <a:r>
              <a:rPr sz="2400" dirty="0">
                <a:latin typeface="Times New Roman"/>
                <a:cs typeface="Times New Roman"/>
              </a:rPr>
              <a:t>&amp;</a:t>
            </a:r>
            <a:r>
              <a:rPr sz="2400" spc="-30" dirty="0">
                <a:latin typeface="Times New Roman"/>
                <a:cs typeface="Times New Roman"/>
              </a:rPr>
              <a:t> </a:t>
            </a:r>
            <a:r>
              <a:rPr sz="2400" spc="-10" dirty="0">
                <a:latin typeface="Times New Roman"/>
                <a:cs typeface="Times New Roman"/>
              </a:rPr>
              <a:t>verify </a:t>
            </a:r>
            <a:r>
              <a:rPr sz="2400" dirty="0">
                <a:latin typeface="Times New Roman"/>
                <a:cs typeface="Times New Roman"/>
              </a:rPr>
              <a:t>Directed</a:t>
            </a:r>
            <a:r>
              <a:rPr sz="2400" spc="-30" dirty="0">
                <a:latin typeface="Times New Roman"/>
                <a:cs typeface="Times New Roman"/>
              </a:rPr>
              <a:t> </a:t>
            </a:r>
            <a:r>
              <a:rPr sz="2400" dirty="0">
                <a:latin typeface="Symbol"/>
                <a:cs typeface="Symbol"/>
              </a:rPr>
              <a:t></a:t>
            </a:r>
            <a:r>
              <a:rPr sz="2400" spc="-25" dirty="0">
                <a:latin typeface="Times New Roman"/>
                <a:cs typeface="Times New Roman"/>
              </a:rPr>
              <a:t> </a:t>
            </a:r>
            <a:r>
              <a:rPr sz="2400" dirty="0">
                <a:latin typeface="Times New Roman"/>
                <a:cs typeface="Times New Roman"/>
              </a:rPr>
              <a:t>Recipient</a:t>
            </a:r>
            <a:r>
              <a:rPr sz="2400" spc="-2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spc="-10" dirty="0">
                <a:latin typeface="Times New Roman"/>
                <a:cs typeface="Times New Roman"/>
              </a:rPr>
              <a:t>verify</a:t>
            </a:r>
            <a:endParaRPr sz="2400" dirty="0">
              <a:latin typeface="Times New Roman"/>
              <a:cs typeface="Times New Roman"/>
            </a:endParaRPr>
          </a:p>
          <a:p>
            <a:pPr marL="354965">
              <a:lnSpc>
                <a:spcPts val="2875"/>
              </a:lnSpc>
            </a:pPr>
            <a:r>
              <a:rPr sz="2400" dirty="0">
                <a:latin typeface="Times New Roman"/>
                <a:cs typeface="Times New Roman"/>
              </a:rPr>
              <a:t>Arbitrated</a:t>
            </a:r>
            <a:r>
              <a:rPr sz="2400" spc="-50" dirty="0">
                <a:latin typeface="Times New Roman"/>
                <a:cs typeface="Times New Roman"/>
              </a:rPr>
              <a:t> </a:t>
            </a:r>
            <a:r>
              <a:rPr sz="2400" dirty="0">
                <a:latin typeface="Symbol"/>
                <a:cs typeface="Symbol"/>
              </a:rPr>
              <a:t></a:t>
            </a:r>
            <a:r>
              <a:rPr sz="2400" spc="-40" dirty="0">
                <a:latin typeface="Times New Roman"/>
                <a:cs typeface="Times New Roman"/>
              </a:rPr>
              <a:t> </a:t>
            </a:r>
            <a:r>
              <a:rPr sz="2400" dirty="0">
                <a:latin typeface="Times New Roman"/>
                <a:cs typeface="Times New Roman"/>
              </a:rPr>
              <a:t>Anyone</a:t>
            </a:r>
            <a:r>
              <a:rPr sz="2400" spc="-45" dirty="0">
                <a:latin typeface="Times New Roman"/>
                <a:cs typeface="Times New Roman"/>
              </a:rPr>
              <a:t> </a:t>
            </a:r>
            <a:r>
              <a:rPr sz="2400" dirty="0">
                <a:latin typeface="Times New Roman"/>
                <a:cs typeface="Times New Roman"/>
              </a:rPr>
              <a:t>can</a:t>
            </a:r>
            <a:r>
              <a:rPr sz="2400" spc="-45" dirty="0">
                <a:latin typeface="Times New Roman"/>
                <a:cs typeface="Times New Roman"/>
              </a:rPr>
              <a:t> </a:t>
            </a:r>
            <a:r>
              <a:rPr sz="2400" spc="-10" dirty="0">
                <a:latin typeface="Times New Roman"/>
                <a:cs typeface="Times New Roman"/>
              </a:rPr>
              <a:t>verify</a:t>
            </a:r>
            <a:endParaRPr sz="2400" dirty="0">
              <a:latin typeface="Times New Roman"/>
              <a:cs typeface="Times New Roman"/>
            </a:endParaRPr>
          </a:p>
          <a:p>
            <a:pPr marL="354965" indent="-342265">
              <a:lnSpc>
                <a:spcPct val="100000"/>
              </a:lnSpc>
              <a:spcBef>
                <a:spcPts val="515"/>
              </a:spcBef>
              <a:buClr>
                <a:srgbClr val="063DE8"/>
              </a:buClr>
              <a:buSzPct val="75000"/>
              <a:buFont typeface="Wingdings"/>
              <a:buChar char=""/>
              <a:tabLst>
                <a:tab pos="354965" algn="l"/>
              </a:tabLst>
            </a:pPr>
            <a:r>
              <a:rPr sz="2400" dirty="0">
                <a:latin typeface="Times New Roman"/>
                <a:cs typeface="Times New Roman"/>
              </a:rPr>
              <a:t>Be</a:t>
            </a:r>
            <a:r>
              <a:rPr sz="2400" spc="-40" dirty="0">
                <a:latin typeface="Times New Roman"/>
                <a:cs typeface="Times New Roman"/>
              </a:rPr>
              <a:t> </a:t>
            </a:r>
            <a:r>
              <a:rPr sz="2400" dirty="0">
                <a:latin typeface="Times New Roman"/>
                <a:cs typeface="Times New Roman"/>
              </a:rPr>
              <a:t>computationally</a:t>
            </a:r>
            <a:r>
              <a:rPr sz="2400" spc="-35" dirty="0">
                <a:latin typeface="Times New Roman"/>
                <a:cs typeface="Times New Roman"/>
              </a:rPr>
              <a:t> </a:t>
            </a:r>
            <a:r>
              <a:rPr sz="2400" dirty="0">
                <a:latin typeface="Times New Roman"/>
                <a:cs typeface="Times New Roman"/>
              </a:rPr>
              <a:t>infeasible</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10" dirty="0">
                <a:latin typeface="Times New Roman"/>
                <a:cs typeface="Times New Roman"/>
              </a:rPr>
              <a:t>forge</a:t>
            </a:r>
            <a:endParaRPr sz="2400" dirty="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With</a:t>
            </a:r>
            <a:r>
              <a:rPr sz="2400" spc="-40" dirty="0">
                <a:latin typeface="Times New Roman"/>
                <a:cs typeface="Times New Roman"/>
              </a:rPr>
              <a:t> </a:t>
            </a:r>
            <a:r>
              <a:rPr sz="2400" dirty="0">
                <a:latin typeface="Times New Roman"/>
                <a:cs typeface="Times New Roman"/>
              </a:rPr>
              <a:t>new</a:t>
            </a:r>
            <a:r>
              <a:rPr sz="2400" spc="-40" dirty="0">
                <a:latin typeface="Times New Roman"/>
                <a:cs typeface="Times New Roman"/>
              </a:rPr>
              <a:t> </a:t>
            </a:r>
            <a:r>
              <a:rPr sz="2400" dirty="0">
                <a:latin typeface="Times New Roman"/>
                <a:cs typeface="Times New Roman"/>
              </a:rPr>
              <a:t>message</a:t>
            </a:r>
            <a:r>
              <a:rPr sz="2400" spc="-35"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existing</a:t>
            </a:r>
            <a:r>
              <a:rPr sz="2400" spc="-35" dirty="0">
                <a:latin typeface="Times New Roman"/>
                <a:cs typeface="Times New Roman"/>
              </a:rPr>
              <a:t> </a:t>
            </a:r>
            <a:r>
              <a:rPr sz="2400" dirty="0">
                <a:latin typeface="Times New Roman"/>
                <a:cs typeface="Times New Roman"/>
              </a:rPr>
              <a:t>digital</a:t>
            </a:r>
            <a:r>
              <a:rPr sz="2400" spc="-40" dirty="0">
                <a:latin typeface="Times New Roman"/>
                <a:cs typeface="Times New Roman"/>
              </a:rPr>
              <a:t> </a:t>
            </a:r>
            <a:r>
              <a:rPr sz="2400" spc="-10" dirty="0">
                <a:latin typeface="Times New Roman"/>
                <a:cs typeface="Times New Roman"/>
              </a:rPr>
              <a:t>signature</a:t>
            </a:r>
            <a:endParaRPr sz="2400" dirty="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With</a:t>
            </a:r>
            <a:r>
              <a:rPr sz="2400" spc="-40" dirty="0">
                <a:latin typeface="Times New Roman"/>
                <a:cs typeface="Times New Roman"/>
              </a:rPr>
              <a:t> </a:t>
            </a:r>
            <a:r>
              <a:rPr sz="2400" dirty="0">
                <a:latin typeface="Times New Roman"/>
                <a:cs typeface="Times New Roman"/>
              </a:rPr>
              <a:t>fraudulent</a:t>
            </a:r>
            <a:r>
              <a:rPr sz="2400" spc="-35" dirty="0">
                <a:latin typeface="Times New Roman"/>
                <a:cs typeface="Times New Roman"/>
              </a:rPr>
              <a:t> </a:t>
            </a:r>
            <a:r>
              <a:rPr sz="2400" dirty="0">
                <a:latin typeface="Times New Roman"/>
                <a:cs typeface="Times New Roman"/>
              </a:rPr>
              <a:t>digital</a:t>
            </a:r>
            <a:r>
              <a:rPr sz="2400" spc="-35" dirty="0">
                <a:latin typeface="Times New Roman"/>
                <a:cs typeface="Times New Roman"/>
              </a:rPr>
              <a:t> </a:t>
            </a:r>
            <a:r>
              <a:rPr sz="2400" dirty="0">
                <a:latin typeface="Times New Roman"/>
                <a:cs typeface="Times New Roman"/>
              </a:rPr>
              <a:t>signature</a:t>
            </a:r>
            <a:r>
              <a:rPr sz="2400" spc="-40"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given</a:t>
            </a:r>
            <a:r>
              <a:rPr sz="2400" spc="-35" dirty="0">
                <a:latin typeface="Times New Roman"/>
                <a:cs typeface="Times New Roman"/>
              </a:rPr>
              <a:t> </a:t>
            </a:r>
            <a:r>
              <a:rPr sz="2400" spc="-10" dirty="0">
                <a:latin typeface="Times New Roman"/>
                <a:cs typeface="Times New Roman"/>
              </a:rPr>
              <a:t>message</a:t>
            </a:r>
            <a:endParaRPr sz="2400" dirty="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Be</a:t>
            </a:r>
            <a:r>
              <a:rPr sz="2400" spc="-30" dirty="0">
                <a:latin typeface="Times New Roman"/>
                <a:cs typeface="Times New Roman"/>
              </a:rPr>
              <a:t> </a:t>
            </a:r>
            <a:r>
              <a:rPr sz="2400" dirty="0">
                <a:latin typeface="Times New Roman"/>
                <a:cs typeface="Times New Roman"/>
              </a:rPr>
              <a:t>able</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retain</a:t>
            </a:r>
            <a:r>
              <a:rPr sz="2400" spc="-2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copy</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signature</a:t>
            </a:r>
            <a:r>
              <a:rPr sz="2400" spc="-2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spc="-10" dirty="0">
                <a:latin typeface="Times New Roman"/>
                <a:cs typeface="Times New Roman"/>
              </a:rPr>
              <a:t>storage</a:t>
            </a:r>
            <a:endParaRPr sz="24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18465">
              <a:lnSpc>
                <a:spcPct val="100000"/>
              </a:lnSpc>
              <a:spcBef>
                <a:spcPts val="100"/>
              </a:spcBef>
            </a:pPr>
            <a:r>
              <a:rPr dirty="0"/>
              <a:t>ElGamal</a:t>
            </a:r>
            <a:r>
              <a:rPr spc="-55" dirty="0"/>
              <a:t> </a:t>
            </a:r>
            <a:r>
              <a:rPr dirty="0"/>
              <a:t>Digital</a:t>
            </a:r>
            <a:r>
              <a:rPr spc="-60" dirty="0"/>
              <a:t> </a:t>
            </a:r>
            <a:r>
              <a:rPr spc="-10" dirty="0"/>
              <a:t>Signatures</a:t>
            </a: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46277" y="1253744"/>
            <a:ext cx="7955915" cy="2844165"/>
          </a:xfrm>
          <a:prstGeom prst="rect">
            <a:avLst/>
          </a:prstGeom>
        </p:spPr>
        <p:txBody>
          <a:bodyPr vert="horz" wrap="square" lIns="0" tIns="48260" rIns="0" bIns="0" rtlCol="0">
            <a:spAutoFit/>
          </a:bodyPr>
          <a:lstStyle/>
          <a:p>
            <a:pPr marL="367665" indent="-342265">
              <a:lnSpc>
                <a:spcPct val="100000"/>
              </a:lnSpc>
              <a:spcBef>
                <a:spcPts val="380"/>
              </a:spcBef>
              <a:buClr>
                <a:srgbClr val="063DE8"/>
              </a:buClr>
              <a:buSzPct val="75000"/>
              <a:buFont typeface="Wingdings"/>
              <a:buChar char=""/>
              <a:tabLst>
                <a:tab pos="367665" algn="l"/>
              </a:tabLst>
            </a:pPr>
            <a:r>
              <a:rPr sz="2400" dirty="0">
                <a:latin typeface="Times New Roman"/>
                <a:cs typeface="Times New Roman"/>
              </a:rPr>
              <a:t>Signature</a:t>
            </a:r>
            <a:r>
              <a:rPr sz="2400" spc="-35" dirty="0">
                <a:latin typeface="Times New Roman"/>
                <a:cs typeface="Times New Roman"/>
              </a:rPr>
              <a:t> </a:t>
            </a:r>
            <a:r>
              <a:rPr sz="2400" dirty="0">
                <a:latin typeface="Times New Roman"/>
                <a:cs typeface="Times New Roman"/>
              </a:rPr>
              <a:t>variant</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ElGamal,</a:t>
            </a:r>
            <a:r>
              <a:rPr sz="2400" spc="-30" dirty="0">
                <a:latin typeface="Times New Roman"/>
                <a:cs typeface="Times New Roman"/>
              </a:rPr>
              <a:t> </a:t>
            </a:r>
            <a:r>
              <a:rPr sz="2400" dirty="0">
                <a:latin typeface="Times New Roman"/>
                <a:cs typeface="Times New Roman"/>
              </a:rPr>
              <a:t>related</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25" dirty="0">
                <a:latin typeface="Times New Roman"/>
                <a:cs typeface="Times New Roman"/>
              </a:rPr>
              <a:t>D-</a:t>
            </a:r>
            <a:r>
              <a:rPr sz="2400" spc="-50" dirty="0">
                <a:latin typeface="Times New Roman"/>
                <a:cs typeface="Times New Roman"/>
              </a:rPr>
              <a:t>H</a:t>
            </a:r>
            <a:endParaRPr sz="2400">
              <a:latin typeface="Times New Roman"/>
              <a:cs typeface="Times New Roman"/>
            </a:endParaRPr>
          </a:p>
          <a:p>
            <a:pPr marL="767715" lvl="1" indent="-285115">
              <a:lnSpc>
                <a:spcPct val="100000"/>
              </a:lnSpc>
              <a:spcBef>
                <a:spcPts val="280"/>
              </a:spcBef>
              <a:buSzPct val="66666"/>
              <a:buFont typeface="Wingdings"/>
              <a:buChar char=""/>
              <a:tabLst>
                <a:tab pos="767715" algn="l"/>
              </a:tabLst>
            </a:pPr>
            <a:r>
              <a:rPr sz="2400" dirty="0">
                <a:latin typeface="Times New Roman"/>
                <a:cs typeface="Times New Roman"/>
              </a:rPr>
              <a:t>Uses</a:t>
            </a:r>
            <a:r>
              <a:rPr sz="2400" spc="-40" dirty="0">
                <a:latin typeface="Times New Roman"/>
                <a:cs typeface="Times New Roman"/>
              </a:rPr>
              <a:t> </a:t>
            </a:r>
            <a:r>
              <a:rPr sz="2400" dirty="0">
                <a:latin typeface="Times New Roman"/>
                <a:cs typeface="Times New Roman"/>
              </a:rPr>
              <a:t>exponentiation</a:t>
            </a:r>
            <a:r>
              <a:rPr sz="2400" spc="-35" dirty="0">
                <a:latin typeface="Times New Roman"/>
                <a:cs typeface="Times New Roman"/>
              </a:rPr>
              <a:t> </a:t>
            </a:r>
            <a:r>
              <a:rPr sz="2400" dirty="0">
                <a:latin typeface="Times New Roman"/>
                <a:cs typeface="Times New Roman"/>
              </a:rPr>
              <a:t>in</a:t>
            </a:r>
            <a:r>
              <a:rPr sz="2400" spc="-40"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finite</a:t>
            </a:r>
            <a:r>
              <a:rPr sz="2400" spc="-35" dirty="0">
                <a:latin typeface="Times New Roman"/>
                <a:cs typeface="Times New Roman"/>
              </a:rPr>
              <a:t> </a:t>
            </a:r>
            <a:r>
              <a:rPr sz="2400" dirty="0">
                <a:latin typeface="Times New Roman"/>
                <a:cs typeface="Times New Roman"/>
              </a:rPr>
              <a:t>(Galois)</a:t>
            </a:r>
            <a:r>
              <a:rPr sz="2400" spc="-40" dirty="0">
                <a:latin typeface="Times New Roman"/>
                <a:cs typeface="Times New Roman"/>
              </a:rPr>
              <a:t> </a:t>
            </a:r>
            <a:r>
              <a:rPr sz="2400" spc="-10" dirty="0">
                <a:latin typeface="Times New Roman"/>
                <a:cs typeface="Times New Roman"/>
              </a:rPr>
              <a:t>field</a:t>
            </a:r>
            <a:endParaRPr sz="2400">
              <a:latin typeface="Times New Roman"/>
              <a:cs typeface="Times New Roman"/>
            </a:endParaRPr>
          </a:p>
          <a:p>
            <a:pPr marL="768350" marR="17780" lvl="1" indent="-285750">
              <a:lnSpc>
                <a:spcPts val="2580"/>
              </a:lnSpc>
              <a:spcBef>
                <a:spcPts val="620"/>
              </a:spcBef>
              <a:buSzPct val="66666"/>
              <a:buFont typeface="Wingdings"/>
              <a:buChar char=""/>
              <a:tabLst>
                <a:tab pos="768350" algn="l"/>
              </a:tabLst>
            </a:pPr>
            <a:r>
              <a:rPr sz="2400" dirty="0">
                <a:latin typeface="Times New Roman"/>
                <a:cs typeface="Times New Roman"/>
              </a:rPr>
              <a:t>Based</a:t>
            </a:r>
            <a:r>
              <a:rPr sz="2400" spc="-40"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difficulty</a:t>
            </a:r>
            <a:r>
              <a:rPr sz="2400" spc="-3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computing</a:t>
            </a:r>
            <a:r>
              <a:rPr sz="2400" spc="-35" dirty="0">
                <a:latin typeface="Times New Roman"/>
                <a:cs typeface="Times New Roman"/>
              </a:rPr>
              <a:t> </a:t>
            </a:r>
            <a:r>
              <a:rPr sz="2400" dirty="0">
                <a:latin typeface="Times New Roman"/>
                <a:cs typeface="Times New Roman"/>
              </a:rPr>
              <a:t>discrete</a:t>
            </a:r>
            <a:r>
              <a:rPr sz="2400" spc="-35" dirty="0">
                <a:latin typeface="Times New Roman"/>
                <a:cs typeface="Times New Roman"/>
              </a:rPr>
              <a:t> </a:t>
            </a:r>
            <a:r>
              <a:rPr sz="2400" dirty="0">
                <a:latin typeface="Times New Roman"/>
                <a:cs typeface="Times New Roman"/>
              </a:rPr>
              <a:t>logarithms,</a:t>
            </a:r>
            <a:r>
              <a:rPr sz="2400" spc="-35"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spc="-25" dirty="0">
                <a:latin typeface="Times New Roman"/>
                <a:cs typeface="Times New Roman"/>
              </a:rPr>
              <a:t>in </a:t>
            </a:r>
            <a:r>
              <a:rPr sz="2400" spc="-20" dirty="0">
                <a:latin typeface="Times New Roman"/>
                <a:cs typeface="Times New Roman"/>
              </a:rPr>
              <a:t>D-</a:t>
            </a:r>
            <a:r>
              <a:rPr sz="2400" spc="-50" dirty="0">
                <a:latin typeface="Times New Roman"/>
                <a:cs typeface="Times New Roman"/>
              </a:rPr>
              <a:t>H</a:t>
            </a:r>
            <a:endParaRPr sz="2400">
              <a:latin typeface="Times New Roman"/>
              <a:cs typeface="Times New Roman"/>
            </a:endParaRPr>
          </a:p>
          <a:p>
            <a:pPr marL="367665" indent="-342265">
              <a:lnSpc>
                <a:spcPct val="100000"/>
              </a:lnSpc>
              <a:spcBef>
                <a:spcPts val="475"/>
              </a:spcBef>
              <a:buClr>
                <a:srgbClr val="063DE8"/>
              </a:buClr>
              <a:buSzPct val="75000"/>
              <a:buFont typeface="Wingdings"/>
              <a:buChar char=""/>
              <a:tabLst>
                <a:tab pos="367665" algn="l"/>
              </a:tabLst>
            </a:pPr>
            <a:r>
              <a:rPr sz="2400" dirty="0">
                <a:latin typeface="Times New Roman"/>
                <a:cs typeface="Times New Roman"/>
              </a:rPr>
              <a:t>Each</a:t>
            </a:r>
            <a:r>
              <a:rPr sz="2400" spc="-40" dirty="0">
                <a:latin typeface="Times New Roman"/>
                <a:cs typeface="Times New Roman"/>
              </a:rPr>
              <a:t> </a:t>
            </a:r>
            <a:r>
              <a:rPr sz="2400" dirty="0">
                <a:latin typeface="Times New Roman"/>
                <a:cs typeface="Times New Roman"/>
              </a:rPr>
              <a:t>user</a:t>
            </a:r>
            <a:r>
              <a:rPr sz="2400" spc="-40" dirty="0">
                <a:latin typeface="Times New Roman"/>
                <a:cs typeface="Times New Roman"/>
              </a:rPr>
              <a:t> </a:t>
            </a:r>
            <a:r>
              <a:rPr sz="2400" dirty="0">
                <a:latin typeface="Times New Roman"/>
                <a:cs typeface="Times New Roman"/>
              </a:rPr>
              <a:t>(e.g.,</a:t>
            </a:r>
            <a:r>
              <a:rPr sz="2400" spc="-35"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generates</a:t>
            </a:r>
            <a:r>
              <a:rPr sz="2400" spc="-35" dirty="0">
                <a:latin typeface="Times New Roman"/>
                <a:cs typeface="Times New Roman"/>
              </a:rPr>
              <a:t> </a:t>
            </a:r>
            <a:r>
              <a:rPr sz="2400" dirty="0">
                <a:latin typeface="Times New Roman"/>
                <a:cs typeface="Times New Roman"/>
              </a:rPr>
              <a:t>his/her</a:t>
            </a:r>
            <a:r>
              <a:rPr sz="2400" spc="-40" dirty="0">
                <a:latin typeface="Times New Roman"/>
                <a:cs typeface="Times New Roman"/>
              </a:rPr>
              <a:t> </a:t>
            </a:r>
            <a:r>
              <a:rPr sz="2400" spc="-25" dirty="0">
                <a:latin typeface="Times New Roman"/>
                <a:cs typeface="Times New Roman"/>
              </a:rPr>
              <a:t>key</a:t>
            </a:r>
            <a:endParaRPr sz="2400">
              <a:latin typeface="Times New Roman"/>
              <a:cs typeface="Times New Roman"/>
            </a:endParaRPr>
          </a:p>
          <a:p>
            <a:pPr marL="767715" lvl="1" indent="-285115">
              <a:lnSpc>
                <a:spcPct val="100000"/>
              </a:lnSpc>
              <a:spcBef>
                <a:spcPts val="570"/>
              </a:spcBef>
              <a:buSzPct val="66666"/>
              <a:buFont typeface="Wingdings"/>
              <a:buChar char=""/>
              <a:tabLst>
                <a:tab pos="767715" algn="l"/>
              </a:tabLst>
            </a:pPr>
            <a:r>
              <a:rPr sz="2400" dirty="0">
                <a:latin typeface="Times New Roman"/>
                <a:cs typeface="Times New Roman"/>
              </a:rPr>
              <a:t>Given</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large</a:t>
            </a:r>
            <a:r>
              <a:rPr sz="2400" spc="-20" dirty="0">
                <a:latin typeface="Times New Roman"/>
                <a:cs typeface="Times New Roman"/>
              </a:rPr>
              <a:t> </a:t>
            </a:r>
            <a:r>
              <a:rPr sz="2400" dirty="0">
                <a:latin typeface="Times New Roman"/>
                <a:cs typeface="Times New Roman"/>
              </a:rPr>
              <a:t>prime</a:t>
            </a:r>
            <a:r>
              <a:rPr sz="2400" spc="-20" dirty="0">
                <a:latin typeface="Times New Roman"/>
                <a:cs typeface="Times New Roman"/>
              </a:rPr>
              <a:t> </a:t>
            </a:r>
            <a:r>
              <a:rPr sz="2400" i="1" dirty="0">
                <a:latin typeface="Times New Roman"/>
                <a:cs typeface="Times New Roman"/>
              </a:rPr>
              <a:t>q</a:t>
            </a:r>
            <a:r>
              <a:rPr sz="2400" i="1" spc="-2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its</a:t>
            </a:r>
            <a:r>
              <a:rPr sz="2400" spc="-25" dirty="0">
                <a:latin typeface="Times New Roman"/>
                <a:cs typeface="Times New Roman"/>
              </a:rPr>
              <a:t> </a:t>
            </a:r>
            <a:r>
              <a:rPr sz="2400" dirty="0">
                <a:latin typeface="Times New Roman"/>
                <a:cs typeface="Times New Roman"/>
              </a:rPr>
              <a:t>primitive</a:t>
            </a:r>
            <a:r>
              <a:rPr sz="2400" spc="-20" dirty="0">
                <a:latin typeface="Times New Roman"/>
                <a:cs typeface="Times New Roman"/>
              </a:rPr>
              <a:t> </a:t>
            </a:r>
            <a:r>
              <a:rPr sz="2400" dirty="0">
                <a:latin typeface="Times New Roman"/>
                <a:cs typeface="Times New Roman"/>
              </a:rPr>
              <a:t>root</a:t>
            </a:r>
            <a:r>
              <a:rPr sz="2400" spc="-20" dirty="0">
                <a:latin typeface="Times New Roman"/>
                <a:cs typeface="Times New Roman"/>
              </a:rPr>
              <a:t> </a:t>
            </a:r>
            <a:r>
              <a:rPr sz="2400" i="1" spc="-50" dirty="0">
                <a:latin typeface="Times New Roman"/>
                <a:cs typeface="Times New Roman"/>
              </a:rPr>
              <a:t>a</a:t>
            </a:r>
            <a:endParaRPr sz="2400">
              <a:latin typeface="Times New Roman"/>
              <a:cs typeface="Times New Roman"/>
            </a:endParaRPr>
          </a:p>
          <a:p>
            <a:pPr marL="767715" lvl="1" indent="-285115">
              <a:lnSpc>
                <a:spcPct val="100000"/>
              </a:lnSpc>
              <a:spcBef>
                <a:spcPts val="405"/>
              </a:spcBef>
              <a:buSzPct val="66666"/>
              <a:buFont typeface="Wingdings"/>
              <a:buChar char=""/>
              <a:tabLst>
                <a:tab pos="767715" algn="l"/>
              </a:tabLst>
            </a:pP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chooses</a:t>
            </a:r>
            <a:r>
              <a:rPr sz="2400" spc="-1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private</a:t>
            </a:r>
            <a:r>
              <a:rPr sz="2400" spc="-15" dirty="0">
                <a:latin typeface="Times New Roman"/>
                <a:cs typeface="Times New Roman"/>
              </a:rPr>
              <a:t> </a:t>
            </a:r>
            <a:r>
              <a:rPr sz="2400" dirty="0">
                <a:latin typeface="Times New Roman"/>
                <a:cs typeface="Times New Roman"/>
              </a:rPr>
              <a:t>key:</a:t>
            </a:r>
            <a:r>
              <a:rPr sz="2400" spc="-15" dirty="0">
                <a:latin typeface="Times New Roman"/>
                <a:cs typeface="Times New Roman"/>
              </a:rPr>
              <a:t> </a:t>
            </a:r>
            <a:r>
              <a:rPr sz="2400" dirty="0">
                <a:latin typeface="Courier New"/>
                <a:cs typeface="Courier New"/>
              </a:rPr>
              <a:t>1</a:t>
            </a:r>
            <a:r>
              <a:rPr sz="2400" spc="-40" dirty="0">
                <a:latin typeface="Courier New"/>
                <a:cs typeface="Courier New"/>
              </a:rPr>
              <a:t> </a:t>
            </a:r>
            <a:r>
              <a:rPr sz="2400" dirty="0">
                <a:latin typeface="Courier New"/>
                <a:cs typeface="Courier New"/>
              </a:rPr>
              <a:t>&lt;</a:t>
            </a:r>
            <a:r>
              <a:rPr sz="2400" spc="-40" dirty="0">
                <a:latin typeface="Courier New"/>
                <a:cs typeface="Courier New"/>
              </a:rPr>
              <a:t> </a:t>
            </a:r>
            <a:r>
              <a:rPr sz="2400" dirty="0">
                <a:latin typeface="Courier New"/>
                <a:cs typeface="Courier New"/>
              </a:rPr>
              <a:t>x</a:t>
            </a:r>
            <a:r>
              <a:rPr sz="2400" baseline="-20833" dirty="0">
                <a:latin typeface="Courier New"/>
                <a:cs typeface="Courier New"/>
              </a:rPr>
              <a:t>A</a:t>
            </a:r>
            <a:r>
              <a:rPr sz="2400" spc="667" baseline="-20833" dirty="0">
                <a:latin typeface="Courier New"/>
                <a:cs typeface="Courier New"/>
              </a:rPr>
              <a:t> </a:t>
            </a:r>
            <a:r>
              <a:rPr sz="2400" dirty="0">
                <a:latin typeface="Courier New"/>
                <a:cs typeface="Courier New"/>
              </a:rPr>
              <a:t>&lt;</a:t>
            </a:r>
            <a:r>
              <a:rPr sz="2400" spc="-35" dirty="0">
                <a:latin typeface="Courier New"/>
                <a:cs typeface="Courier New"/>
              </a:rPr>
              <a:t> </a:t>
            </a:r>
            <a:r>
              <a:rPr sz="2400" spc="-10" dirty="0">
                <a:latin typeface="Courier New"/>
                <a:cs typeface="Courier New"/>
              </a:rPr>
              <a:t>q-</a:t>
            </a:r>
            <a:r>
              <a:rPr sz="2400" spc="-50" dirty="0">
                <a:latin typeface="Courier New"/>
                <a:cs typeface="Courier New"/>
              </a:rPr>
              <a:t>1</a:t>
            </a:r>
            <a:endParaRPr sz="2400">
              <a:latin typeface="Courier New"/>
              <a:cs typeface="Courier New"/>
            </a:endParaRPr>
          </a:p>
        </p:txBody>
      </p:sp>
      <p:sp>
        <p:nvSpPr>
          <p:cNvPr id="4" name="object 4"/>
          <p:cNvSpPr txBox="1"/>
          <p:nvPr/>
        </p:nvSpPr>
        <p:spPr>
          <a:xfrm>
            <a:off x="4864100" y="4322317"/>
            <a:ext cx="147955"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ourier New"/>
                <a:cs typeface="Courier New"/>
              </a:rPr>
              <a:t>A</a:t>
            </a:r>
            <a:endParaRPr sz="1600">
              <a:latin typeface="Courier New"/>
              <a:cs typeface="Courier New"/>
            </a:endParaRPr>
          </a:p>
        </p:txBody>
      </p:sp>
      <p:sp>
        <p:nvSpPr>
          <p:cNvPr id="5" name="object 5"/>
          <p:cNvSpPr txBox="1"/>
          <p:nvPr/>
        </p:nvSpPr>
        <p:spPr>
          <a:xfrm>
            <a:off x="890777" y="4144771"/>
            <a:ext cx="6216650"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 pos="4290695" algn="l"/>
              </a:tabLst>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computes</a:t>
            </a:r>
            <a:r>
              <a:rPr sz="2400" spc="-5" dirty="0">
                <a:latin typeface="Times New Roman"/>
                <a:cs typeface="Times New Roman"/>
              </a:rPr>
              <a:t> </a:t>
            </a:r>
            <a:r>
              <a:rPr sz="2400" dirty="0">
                <a:latin typeface="Times New Roman"/>
                <a:cs typeface="Times New Roman"/>
              </a:rPr>
              <a:t>his</a:t>
            </a:r>
            <a:r>
              <a:rPr sz="2400" spc="-10" dirty="0">
                <a:latin typeface="Times New Roman"/>
                <a:cs typeface="Times New Roman"/>
              </a:rPr>
              <a:t> </a:t>
            </a:r>
            <a:r>
              <a:rPr sz="2400" b="1" dirty="0">
                <a:latin typeface="Times New Roman"/>
                <a:cs typeface="Times New Roman"/>
              </a:rPr>
              <a:t>public key</a:t>
            </a:r>
            <a:r>
              <a:rPr sz="2400" dirty="0">
                <a:latin typeface="Times New Roman"/>
                <a:cs typeface="Times New Roman"/>
              </a:rPr>
              <a:t>:</a:t>
            </a:r>
            <a:r>
              <a:rPr sz="2400" spc="-15" dirty="0">
                <a:latin typeface="Times New Roman"/>
                <a:cs typeface="Times New Roman"/>
              </a:rPr>
              <a:t> </a:t>
            </a:r>
            <a:r>
              <a:rPr sz="2400" spc="-50" dirty="0">
                <a:latin typeface="Courier New"/>
                <a:cs typeface="Courier New"/>
              </a:rPr>
              <a:t>y</a:t>
            </a:r>
            <a:r>
              <a:rPr sz="2400" dirty="0">
                <a:latin typeface="Courier New"/>
                <a:cs typeface="Courier New"/>
              </a:rPr>
              <a:t>	=</a:t>
            </a:r>
            <a:r>
              <a:rPr sz="2400" spc="-25" dirty="0">
                <a:latin typeface="Courier New"/>
                <a:cs typeface="Courier New"/>
              </a:rPr>
              <a:t> </a:t>
            </a:r>
            <a:r>
              <a:rPr sz="2400" dirty="0">
                <a:latin typeface="Courier New"/>
                <a:cs typeface="Courier New"/>
              </a:rPr>
              <a:t>a</a:t>
            </a:r>
            <a:r>
              <a:rPr sz="2400" baseline="48611" dirty="0">
                <a:latin typeface="Courier New"/>
                <a:cs typeface="Courier New"/>
              </a:rPr>
              <a:t>x</a:t>
            </a:r>
            <a:r>
              <a:rPr sz="2400" baseline="34722" dirty="0">
                <a:latin typeface="Courier New"/>
                <a:cs typeface="Courier New"/>
              </a:rPr>
              <a:t>A</a:t>
            </a:r>
            <a:r>
              <a:rPr sz="2400" spc="697" baseline="34722" dirty="0">
                <a:latin typeface="Courier New"/>
                <a:cs typeface="Courier New"/>
              </a:rPr>
              <a:t> </a:t>
            </a:r>
            <a:r>
              <a:rPr sz="2400" dirty="0">
                <a:latin typeface="Courier New"/>
                <a:cs typeface="Courier New"/>
              </a:rPr>
              <a:t>mod</a:t>
            </a:r>
            <a:r>
              <a:rPr sz="2400" spc="-20" dirty="0">
                <a:latin typeface="Courier New"/>
                <a:cs typeface="Courier New"/>
              </a:rPr>
              <a:t> </a:t>
            </a:r>
            <a:r>
              <a:rPr sz="2400" spc="-50" dirty="0">
                <a:latin typeface="Courier New"/>
                <a:cs typeface="Courier New"/>
              </a:rPr>
              <a:t>q</a:t>
            </a:r>
            <a:endParaRPr sz="2400">
              <a:latin typeface="Courier New"/>
              <a:cs typeface="Courier New"/>
            </a:endParaRPr>
          </a:p>
        </p:txBody>
      </p:sp>
      <p:sp>
        <p:nvSpPr>
          <p:cNvPr id="6" name="object 6"/>
          <p:cNvSpPr txBox="1"/>
          <p:nvPr/>
        </p:nvSpPr>
        <p:spPr>
          <a:xfrm>
            <a:off x="526795" y="5876035"/>
            <a:ext cx="504761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Ref:</a:t>
            </a:r>
            <a:r>
              <a:rPr sz="1600" spc="-30" dirty="0">
                <a:latin typeface="Times New Roman"/>
                <a:cs typeface="Times New Roman"/>
              </a:rPr>
              <a:t> </a:t>
            </a:r>
            <a:r>
              <a:rPr sz="1600" u="sng" spc="-10" dirty="0">
                <a:solidFill>
                  <a:srgbClr val="00DFCA"/>
                </a:solidFill>
                <a:uFill>
                  <a:solidFill>
                    <a:srgbClr val="00DFCA"/>
                  </a:solidFill>
                </a:uFill>
                <a:latin typeface="Times New Roman"/>
                <a:cs typeface="Times New Roman"/>
                <a:hlinkClick r:id="rId2"/>
              </a:rPr>
              <a:t>http://en.wikipedia.org/wiki/ElGamal_signature_scheme</a:t>
            </a:r>
            <a:endParaRPr sz="16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08000">
              <a:lnSpc>
                <a:spcPct val="100000"/>
              </a:lnSpc>
              <a:spcBef>
                <a:spcPts val="100"/>
              </a:spcBef>
            </a:pPr>
            <a:r>
              <a:rPr dirty="0"/>
              <a:t>ElGamal</a:t>
            </a:r>
            <a:r>
              <a:rPr spc="-55" dirty="0"/>
              <a:t> </a:t>
            </a:r>
            <a:r>
              <a:rPr dirty="0"/>
              <a:t>Digital</a:t>
            </a:r>
            <a:r>
              <a:rPr spc="-60" dirty="0"/>
              <a:t> </a:t>
            </a:r>
            <a:r>
              <a:rPr spc="-10" dirty="0"/>
              <a:t>Signature</a:t>
            </a:r>
          </a:p>
        </p:txBody>
      </p:sp>
      <p:sp>
        <p:nvSpPr>
          <p:cNvPr id="17" name="object 17"/>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19" name="object 1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8977" y="1259078"/>
            <a:ext cx="8030845" cy="1392555"/>
          </a:xfrm>
          <a:prstGeom prst="rect">
            <a:avLst/>
          </a:prstGeom>
        </p:spPr>
        <p:txBody>
          <a:bodyPr vert="horz" wrap="square" lIns="0" tIns="12700" rIns="0" bIns="0" rtlCol="0">
            <a:spAutoFit/>
          </a:bodyPr>
          <a:lstStyle/>
          <a:p>
            <a:pPr marL="354965" indent="-342265">
              <a:lnSpc>
                <a:spcPts val="2815"/>
              </a:lnSpc>
              <a:spcBef>
                <a:spcPts val="100"/>
              </a:spcBef>
              <a:buClr>
                <a:srgbClr val="063DE8"/>
              </a:buClr>
              <a:buSzPct val="75000"/>
              <a:buFont typeface="Wingdings"/>
              <a:buChar char=""/>
              <a:tabLst>
                <a:tab pos="354965" algn="l"/>
              </a:tabLst>
            </a:pPr>
            <a:r>
              <a:rPr sz="2400" dirty="0">
                <a:latin typeface="Times New Roman"/>
                <a:cs typeface="Times New Roman"/>
              </a:rPr>
              <a:t>Alice</a:t>
            </a:r>
            <a:r>
              <a:rPr sz="2400" spc="-15" dirty="0">
                <a:latin typeface="Times New Roman"/>
                <a:cs typeface="Times New Roman"/>
              </a:rPr>
              <a:t> </a:t>
            </a:r>
            <a:r>
              <a:rPr sz="2400" dirty="0">
                <a:latin typeface="Times New Roman"/>
                <a:cs typeface="Times New Roman"/>
              </a:rPr>
              <a:t>signs</a:t>
            </a:r>
            <a:r>
              <a:rPr sz="2400" spc="-1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message</a:t>
            </a:r>
            <a:r>
              <a:rPr sz="2400" spc="-15" dirty="0">
                <a:latin typeface="Times New Roman"/>
                <a:cs typeface="Times New Roman"/>
              </a:rPr>
              <a:t> </a:t>
            </a:r>
            <a:r>
              <a:rPr sz="2400" dirty="0">
                <a:latin typeface="Times New Roman"/>
                <a:cs typeface="Times New Roman"/>
              </a:rPr>
              <a:t>M</a:t>
            </a:r>
            <a:r>
              <a:rPr sz="2400" spc="-10"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Bob</a:t>
            </a:r>
            <a:r>
              <a:rPr sz="2400" spc="-15" dirty="0">
                <a:latin typeface="Times New Roman"/>
                <a:cs typeface="Times New Roman"/>
              </a:rPr>
              <a:t> </a:t>
            </a:r>
            <a:r>
              <a:rPr sz="2400" dirty="0">
                <a:latin typeface="Times New Roman"/>
                <a:cs typeface="Times New Roman"/>
              </a:rPr>
              <a:t>by</a:t>
            </a:r>
            <a:r>
              <a:rPr sz="2400" spc="-15" dirty="0">
                <a:latin typeface="Times New Roman"/>
                <a:cs typeface="Times New Roman"/>
              </a:rPr>
              <a:t> </a:t>
            </a:r>
            <a:r>
              <a:rPr sz="2400" spc="-10" dirty="0">
                <a:latin typeface="Times New Roman"/>
                <a:cs typeface="Times New Roman"/>
              </a:rPr>
              <a:t>computing</a:t>
            </a:r>
            <a:endParaRPr sz="2400">
              <a:latin typeface="Times New Roman"/>
              <a:cs typeface="Times New Roman"/>
            </a:endParaRPr>
          </a:p>
          <a:p>
            <a:pPr marL="755015" lvl="1" indent="-285115">
              <a:lnSpc>
                <a:spcPts val="2810"/>
              </a:lnSpc>
              <a:buSzPct val="66666"/>
              <a:buFont typeface="Wingdings"/>
              <a:buChar char=""/>
              <a:tabLst>
                <a:tab pos="755015" algn="l"/>
              </a:tabLst>
            </a:pPr>
            <a:r>
              <a:rPr sz="2400" dirty="0">
                <a:latin typeface="Times New Roman"/>
                <a:cs typeface="Times New Roman"/>
              </a:rPr>
              <a:t>Hash</a:t>
            </a:r>
            <a:r>
              <a:rPr sz="2400" spc="-5" dirty="0">
                <a:latin typeface="Times New Roman"/>
                <a:cs typeface="Times New Roman"/>
              </a:rPr>
              <a:t> </a:t>
            </a:r>
            <a:r>
              <a:rPr sz="2400" i="1" dirty="0">
                <a:latin typeface="Courier New"/>
                <a:cs typeface="Courier New"/>
              </a:rPr>
              <a:t>m</a:t>
            </a:r>
            <a:r>
              <a:rPr sz="2400" i="1" spc="-20" dirty="0">
                <a:latin typeface="Courier New"/>
                <a:cs typeface="Courier New"/>
              </a:rPr>
              <a:t> </a:t>
            </a:r>
            <a:r>
              <a:rPr sz="2400" i="1" dirty="0">
                <a:latin typeface="Courier New"/>
                <a:cs typeface="Courier New"/>
              </a:rPr>
              <a:t>=</a:t>
            </a:r>
            <a:r>
              <a:rPr sz="2400" i="1" spc="-20" dirty="0">
                <a:latin typeface="Courier New"/>
                <a:cs typeface="Courier New"/>
              </a:rPr>
              <a:t> </a:t>
            </a:r>
            <a:r>
              <a:rPr sz="2400" i="1" dirty="0">
                <a:latin typeface="Courier New"/>
                <a:cs typeface="Courier New"/>
              </a:rPr>
              <a:t>H(M)</a:t>
            </a:r>
            <a:r>
              <a:rPr sz="2400" dirty="0">
                <a:latin typeface="Courier New"/>
                <a:cs typeface="Courier New"/>
              </a:rPr>
              <a:t>,</a:t>
            </a:r>
            <a:r>
              <a:rPr sz="2400" spc="-15" dirty="0">
                <a:latin typeface="Courier New"/>
                <a:cs typeface="Courier New"/>
              </a:rPr>
              <a:t> </a:t>
            </a:r>
            <a:r>
              <a:rPr sz="2400" dirty="0">
                <a:latin typeface="Courier New"/>
                <a:cs typeface="Courier New"/>
              </a:rPr>
              <a:t>0</a:t>
            </a:r>
            <a:r>
              <a:rPr sz="2400" spc="-20" dirty="0">
                <a:latin typeface="Courier New"/>
                <a:cs typeface="Courier New"/>
              </a:rPr>
              <a:t> </a:t>
            </a:r>
            <a:r>
              <a:rPr sz="2400" dirty="0">
                <a:latin typeface="Courier New"/>
                <a:cs typeface="Courier New"/>
              </a:rPr>
              <a:t>&lt;=</a:t>
            </a:r>
            <a:r>
              <a:rPr sz="2400" spc="-20" dirty="0">
                <a:latin typeface="Courier New"/>
                <a:cs typeface="Courier New"/>
              </a:rPr>
              <a:t> </a:t>
            </a:r>
            <a:r>
              <a:rPr sz="2400" dirty="0">
                <a:latin typeface="Courier New"/>
                <a:cs typeface="Courier New"/>
              </a:rPr>
              <a:t>m</a:t>
            </a:r>
            <a:r>
              <a:rPr sz="2400" spc="-20" dirty="0">
                <a:latin typeface="Courier New"/>
                <a:cs typeface="Courier New"/>
              </a:rPr>
              <a:t> </a:t>
            </a:r>
            <a:r>
              <a:rPr sz="2400" dirty="0">
                <a:latin typeface="Courier New"/>
                <a:cs typeface="Courier New"/>
              </a:rPr>
              <a:t>&lt;=</a:t>
            </a:r>
            <a:r>
              <a:rPr sz="2400" spc="-15" dirty="0">
                <a:latin typeface="Courier New"/>
                <a:cs typeface="Courier New"/>
              </a:rPr>
              <a:t> </a:t>
            </a:r>
            <a:r>
              <a:rPr sz="2400" spc="-10" dirty="0">
                <a:latin typeface="Courier New"/>
                <a:cs typeface="Courier New"/>
              </a:rPr>
              <a:t>(q-</a:t>
            </a:r>
            <a:r>
              <a:rPr sz="2400" spc="-25" dirty="0">
                <a:latin typeface="Courier New"/>
                <a:cs typeface="Courier New"/>
              </a:rPr>
              <a:t>1)</a:t>
            </a:r>
            <a:endParaRPr sz="2400">
              <a:latin typeface="Courier New"/>
              <a:cs typeface="Courier New"/>
            </a:endParaRPr>
          </a:p>
          <a:p>
            <a:pPr marL="755015" lvl="1" indent="-285115">
              <a:lnSpc>
                <a:spcPts val="2565"/>
              </a:lnSpc>
              <a:buSzPct val="66666"/>
              <a:buFont typeface="Wingdings"/>
              <a:buChar char=""/>
              <a:tabLst>
                <a:tab pos="755015" algn="l"/>
              </a:tabLst>
            </a:pPr>
            <a:r>
              <a:rPr sz="2400" dirty="0">
                <a:latin typeface="Times New Roman"/>
                <a:cs typeface="Times New Roman"/>
              </a:rPr>
              <a:t>Choose</a:t>
            </a:r>
            <a:r>
              <a:rPr sz="2400" spc="-25" dirty="0">
                <a:latin typeface="Times New Roman"/>
                <a:cs typeface="Times New Roman"/>
              </a:rPr>
              <a:t> </a:t>
            </a:r>
            <a:r>
              <a:rPr sz="2400" dirty="0">
                <a:latin typeface="Times New Roman"/>
                <a:cs typeface="Times New Roman"/>
              </a:rPr>
              <a:t>random</a:t>
            </a:r>
            <a:r>
              <a:rPr sz="2400" spc="-10" dirty="0">
                <a:latin typeface="Times New Roman"/>
                <a:cs typeface="Times New Roman"/>
              </a:rPr>
              <a:t> </a:t>
            </a:r>
            <a:r>
              <a:rPr sz="2400" dirty="0">
                <a:latin typeface="Times New Roman"/>
                <a:cs typeface="Times New Roman"/>
              </a:rPr>
              <a:t>integer</a:t>
            </a:r>
            <a:r>
              <a:rPr sz="2400" spc="-20" dirty="0">
                <a:latin typeface="Times New Roman"/>
                <a:cs typeface="Times New Roman"/>
              </a:rPr>
              <a:t> </a:t>
            </a:r>
            <a:r>
              <a:rPr sz="2400" dirty="0">
                <a:latin typeface="Courier New"/>
                <a:cs typeface="Courier New"/>
              </a:rPr>
              <a:t>K</a:t>
            </a:r>
            <a:r>
              <a:rPr sz="2400" spc="-15" dirty="0">
                <a:latin typeface="Courier New"/>
                <a:cs typeface="Courier New"/>
              </a:rPr>
              <a:t> </a:t>
            </a:r>
            <a:r>
              <a:rPr sz="2400" dirty="0">
                <a:latin typeface="Times New Roman"/>
                <a:cs typeface="Times New Roman"/>
              </a:rPr>
              <a:t>with</a:t>
            </a:r>
            <a:r>
              <a:rPr sz="2400" spc="-10" dirty="0">
                <a:latin typeface="Times New Roman"/>
                <a:cs typeface="Times New Roman"/>
              </a:rPr>
              <a:t> </a:t>
            </a:r>
            <a:r>
              <a:rPr sz="2400" dirty="0">
                <a:latin typeface="Courier New"/>
                <a:cs typeface="Courier New"/>
              </a:rPr>
              <a:t>1</a:t>
            </a:r>
            <a:r>
              <a:rPr sz="2400" spc="-25" dirty="0">
                <a:latin typeface="Courier New"/>
                <a:cs typeface="Courier New"/>
              </a:rPr>
              <a:t> </a:t>
            </a:r>
            <a:r>
              <a:rPr sz="2400" dirty="0">
                <a:latin typeface="Courier New"/>
                <a:cs typeface="Courier New"/>
              </a:rPr>
              <a:t>&lt;=</a:t>
            </a:r>
            <a:r>
              <a:rPr sz="2400" spc="-20" dirty="0">
                <a:latin typeface="Courier New"/>
                <a:cs typeface="Courier New"/>
              </a:rPr>
              <a:t> </a:t>
            </a:r>
            <a:r>
              <a:rPr sz="2400" dirty="0">
                <a:latin typeface="Courier New"/>
                <a:cs typeface="Courier New"/>
              </a:rPr>
              <a:t>K</a:t>
            </a:r>
            <a:r>
              <a:rPr sz="2400" spc="-25" dirty="0">
                <a:latin typeface="Courier New"/>
                <a:cs typeface="Courier New"/>
              </a:rPr>
              <a:t> </a:t>
            </a:r>
            <a:r>
              <a:rPr sz="2400" dirty="0">
                <a:latin typeface="Courier New"/>
                <a:cs typeface="Courier New"/>
              </a:rPr>
              <a:t>&lt;=</a:t>
            </a:r>
            <a:r>
              <a:rPr sz="2400" spc="-20" dirty="0">
                <a:latin typeface="Courier New"/>
                <a:cs typeface="Courier New"/>
              </a:rPr>
              <a:t> </a:t>
            </a:r>
            <a:r>
              <a:rPr sz="2400" spc="-10" dirty="0">
                <a:latin typeface="Courier New"/>
                <a:cs typeface="Courier New"/>
              </a:rPr>
              <a:t>(q-</a:t>
            </a:r>
            <a:r>
              <a:rPr sz="2400" dirty="0">
                <a:latin typeface="Courier New"/>
                <a:cs typeface="Courier New"/>
              </a:rPr>
              <a:t>1)</a:t>
            </a:r>
            <a:r>
              <a:rPr sz="2400" spc="-15" dirty="0">
                <a:latin typeface="Courier New"/>
                <a:cs typeface="Courier New"/>
              </a:rPr>
              <a:t> </a:t>
            </a:r>
            <a:r>
              <a:rPr sz="2400" spc="-25" dirty="0">
                <a:latin typeface="Times New Roman"/>
                <a:cs typeface="Times New Roman"/>
              </a:rPr>
              <a:t>and</a:t>
            </a:r>
            <a:endParaRPr sz="2400">
              <a:latin typeface="Times New Roman"/>
              <a:cs typeface="Times New Roman"/>
            </a:endParaRPr>
          </a:p>
          <a:p>
            <a:pPr marL="755650">
              <a:lnSpc>
                <a:spcPts val="2570"/>
              </a:lnSpc>
            </a:pPr>
            <a:r>
              <a:rPr sz="2400" spc="-10" dirty="0">
                <a:latin typeface="Courier New"/>
                <a:cs typeface="Courier New"/>
              </a:rPr>
              <a:t>gcd(K,q-</a:t>
            </a:r>
            <a:r>
              <a:rPr sz="2400" dirty="0">
                <a:latin typeface="Courier New"/>
                <a:cs typeface="Courier New"/>
              </a:rPr>
              <a:t>1)=1</a:t>
            </a:r>
            <a:r>
              <a:rPr sz="2400" spc="-30" dirty="0">
                <a:latin typeface="Courier New"/>
                <a:cs typeface="Courier New"/>
              </a:rPr>
              <a:t> </a:t>
            </a:r>
            <a:r>
              <a:rPr sz="2400" dirty="0">
                <a:latin typeface="Courier New"/>
                <a:cs typeface="Courier New"/>
              </a:rPr>
              <a:t>(K</a:t>
            </a:r>
            <a:r>
              <a:rPr sz="2400" spc="-15" dirty="0">
                <a:latin typeface="Courier New"/>
                <a:cs typeface="Courier New"/>
              </a:rPr>
              <a:t> </a:t>
            </a:r>
            <a:r>
              <a:rPr sz="2400" dirty="0">
                <a:latin typeface="Courier New"/>
                <a:cs typeface="Courier New"/>
              </a:rPr>
              <a:t>is</a:t>
            </a:r>
            <a:r>
              <a:rPr sz="2400" spc="-15" dirty="0">
                <a:latin typeface="Courier New"/>
                <a:cs typeface="Courier New"/>
              </a:rPr>
              <a:t> </a:t>
            </a:r>
            <a:r>
              <a:rPr sz="2400" dirty="0">
                <a:latin typeface="Courier New"/>
                <a:cs typeface="Courier New"/>
              </a:rPr>
              <a:t>the</a:t>
            </a:r>
            <a:r>
              <a:rPr sz="2400" spc="-15" dirty="0">
                <a:latin typeface="Courier New"/>
                <a:cs typeface="Courier New"/>
              </a:rPr>
              <a:t> </a:t>
            </a:r>
            <a:r>
              <a:rPr sz="2400" dirty="0">
                <a:latin typeface="Courier New"/>
                <a:cs typeface="Courier New"/>
              </a:rPr>
              <a:t>per</a:t>
            </a:r>
            <a:r>
              <a:rPr sz="2400" spc="-15" dirty="0">
                <a:latin typeface="Courier New"/>
                <a:cs typeface="Courier New"/>
              </a:rPr>
              <a:t> </a:t>
            </a:r>
            <a:r>
              <a:rPr sz="2400" dirty="0">
                <a:latin typeface="Courier New"/>
                <a:cs typeface="Courier New"/>
              </a:rPr>
              <a:t>message</a:t>
            </a:r>
            <a:r>
              <a:rPr sz="2400" spc="-15" dirty="0">
                <a:latin typeface="Courier New"/>
                <a:cs typeface="Courier New"/>
              </a:rPr>
              <a:t> </a:t>
            </a:r>
            <a:r>
              <a:rPr sz="2400" spc="-20" dirty="0">
                <a:latin typeface="Courier New"/>
                <a:cs typeface="Courier New"/>
              </a:rPr>
              <a:t>key)</a:t>
            </a:r>
            <a:endParaRPr sz="2400">
              <a:latin typeface="Courier New"/>
              <a:cs typeface="Courier New"/>
            </a:endParaRPr>
          </a:p>
        </p:txBody>
      </p:sp>
      <p:sp>
        <p:nvSpPr>
          <p:cNvPr id="4" name="object 4"/>
          <p:cNvSpPr txBox="1"/>
          <p:nvPr/>
        </p:nvSpPr>
        <p:spPr>
          <a:xfrm>
            <a:off x="3522217" y="2554477"/>
            <a:ext cx="147955"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ourier New"/>
                <a:cs typeface="Courier New"/>
              </a:rPr>
              <a:t>K</a:t>
            </a:r>
            <a:endParaRPr sz="1600">
              <a:latin typeface="Courier New"/>
              <a:cs typeface="Courier New"/>
            </a:endParaRPr>
          </a:p>
        </p:txBody>
      </p:sp>
      <p:sp>
        <p:nvSpPr>
          <p:cNvPr id="5" name="object 5"/>
          <p:cNvSpPr txBox="1"/>
          <p:nvPr/>
        </p:nvSpPr>
        <p:spPr>
          <a:xfrm>
            <a:off x="890777" y="2630678"/>
            <a:ext cx="3911600"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 pos="1668145" algn="l"/>
                <a:tab pos="2947670" algn="l"/>
              </a:tabLst>
            </a:pPr>
            <a:r>
              <a:rPr sz="2400" spc="-10" dirty="0">
                <a:latin typeface="Times New Roman"/>
                <a:cs typeface="Times New Roman"/>
              </a:rPr>
              <a:t>Compute</a:t>
            </a:r>
            <a:r>
              <a:rPr sz="2400" dirty="0">
                <a:latin typeface="Times New Roman"/>
                <a:cs typeface="Times New Roman"/>
              </a:rPr>
              <a:t>	</a:t>
            </a:r>
            <a:r>
              <a:rPr sz="2400" dirty="0">
                <a:latin typeface="Courier New"/>
                <a:cs typeface="Courier New"/>
              </a:rPr>
              <a:t>S</a:t>
            </a:r>
            <a:r>
              <a:rPr sz="2400" baseline="-20833" dirty="0">
                <a:latin typeface="Courier New"/>
                <a:cs typeface="Courier New"/>
              </a:rPr>
              <a:t>1</a:t>
            </a:r>
            <a:r>
              <a:rPr sz="2400" spc="-15" baseline="-20833" dirty="0">
                <a:latin typeface="Courier New"/>
                <a:cs typeface="Courier New"/>
              </a:rPr>
              <a:t> </a:t>
            </a:r>
            <a:r>
              <a:rPr sz="2400" dirty="0">
                <a:latin typeface="Courier New"/>
                <a:cs typeface="Courier New"/>
              </a:rPr>
              <a:t>=</a:t>
            </a:r>
            <a:r>
              <a:rPr sz="2400" spc="-10" dirty="0">
                <a:latin typeface="Courier New"/>
                <a:cs typeface="Courier New"/>
              </a:rPr>
              <a:t> </a:t>
            </a:r>
            <a:r>
              <a:rPr sz="2400" spc="-50" dirty="0">
                <a:latin typeface="Courier New"/>
                <a:cs typeface="Courier New"/>
              </a:rPr>
              <a:t>a</a:t>
            </a:r>
            <a:r>
              <a:rPr sz="2400" dirty="0">
                <a:latin typeface="Courier New"/>
                <a:cs typeface="Courier New"/>
              </a:rPr>
              <a:t>	mod</a:t>
            </a:r>
            <a:r>
              <a:rPr sz="2400" spc="-30" dirty="0">
                <a:latin typeface="Courier New"/>
                <a:cs typeface="Courier New"/>
              </a:rPr>
              <a:t> </a:t>
            </a:r>
            <a:r>
              <a:rPr sz="2400" spc="-50" dirty="0">
                <a:latin typeface="Courier New"/>
                <a:cs typeface="Courier New"/>
              </a:rPr>
              <a:t>q</a:t>
            </a:r>
            <a:endParaRPr sz="2400">
              <a:latin typeface="Courier New"/>
              <a:cs typeface="Courier New"/>
            </a:endParaRPr>
          </a:p>
        </p:txBody>
      </p:sp>
      <p:sp>
        <p:nvSpPr>
          <p:cNvPr id="6" name="object 6"/>
          <p:cNvSpPr txBox="1"/>
          <p:nvPr/>
        </p:nvSpPr>
        <p:spPr>
          <a:xfrm>
            <a:off x="852677" y="2995676"/>
            <a:ext cx="7419340" cy="1137285"/>
          </a:xfrm>
          <a:prstGeom prst="rect">
            <a:avLst/>
          </a:prstGeom>
        </p:spPr>
        <p:txBody>
          <a:bodyPr vert="horz" wrap="square" lIns="0" tIns="12700" rIns="0" bIns="0" rtlCol="0">
            <a:spAutoFit/>
          </a:bodyPr>
          <a:lstStyle/>
          <a:p>
            <a:pPr marL="361315" indent="-285115">
              <a:lnSpc>
                <a:spcPts val="2875"/>
              </a:lnSpc>
              <a:spcBef>
                <a:spcPts val="100"/>
              </a:spcBef>
              <a:buSzPct val="66666"/>
              <a:buFont typeface="Wingdings"/>
              <a:buChar char=""/>
              <a:tabLst>
                <a:tab pos="361315" algn="l"/>
              </a:tabLst>
            </a:pPr>
            <a:r>
              <a:rPr sz="2400" dirty="0">
                <a:latin typeface="Times New Roman"/>
                <a:cs typeface="Times New Roman"/>
              </a:rPr>
              <a:t>Compute</a:t>
            </a:r>
            <a:r>
              <a:rPr sz="2400" spc="-15" dirty="0">
                <a:latin typeface="Times New Roman"/>
                <a:cs typeface="Times New Roman"/>
              </a:rPr>
              <a:t> </a:t>
            </a:r>
            <a:r>
              <a:rPr sz="2400" spc="-10" dirty="0">
                <a:latin typeface="Courier New"/>
                <a:cs typeface="Courier New"/>
              </a:rPr>
              <a:t>K</a:t>
            </a:r>
            <a:r>
              <a:rPr sz="2400" spc="-15" baseline="24305" dirty="0">
                <a:latin typeface="Courier New"/>
                <a:cs typeface="Courier New"/>
              </a:rPr>
              <a:t>-</a:t>
            </a:r>
            <a:r>
              <a:rPr sz="2400" baseline="24305" dirty="0">
                <a:latin typeface="Courier New"/>
                <a:cs typeface="Courier New"/>
              </a:rPr>
              <a:t>1</a:t>
            </a:r>
            <a:r>
              <a:rPr sz="2400" spc="705" baseline="24305" dirty="0">
                <a:latin typeface="Courier New"/>
                <a:cs typeface="Courier New"/>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inverse</a:t>
            </a:r>
            <a:r>
              <a:rPr sz="2400" spc="-1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Courier New"/>
                <a:cs typeface="Courier New"/>
              </a:rPr>
              <a:t>K</a:t>
            </a:r>
            <a:r>
              <a:rPr sz="2400" spc="-10" dirty="0">
                <a:latin typeface="Courier New"/>
                <a:cs typeface="Courier New"/>
              </a:rPr>
              <a:t> </a:t>
            </a:r>
            <a:r>
              <a:rPr sz="2400" dirty="0">
                <a:latin typeface="Courier New"/>
                <a:cs typeface="Courier New"/>
              </a:rPr>
              <a:t>mod</a:t>
            </a:r>
            <a:r>
              <a:rPr sz="2400" spc="-10" dirty="0">
                <a:latin typeface="Courier New"/>
                <a:cs typeface="Courier New"/>
              </a:rPr>
              <a:t> (q-</a:t>
            </a:r>
            <a:r>
              <a:rPr sz="2400" spc="-25" dirty="0">
                <a:latin typeface="Courier New"/>
                <a:cs typeface="Courier New"/>
              </a:rPr>
              <a:t>1)</a:t>
            </a:r>
            <a:endParaRPr sz="2400">
              <a:latin typeface="Courier New"/>
              <a:cs typeface="Courier New"/>
            </a:endParaRPr>
          </a:p>
          <a:p>
            <a:pPr marL="361315" indent="-285115">
              <a:lnSpc>
                <a:spcPts val="2875"/>
              </a:lnSpc>
              <a:buSzPct val="66666"/>
              <a:buFont typeface="Wingdings"/>
              <a:buChar char=""/>
              <a:tabLst>
                <a:tab pos="361315" algn="l"/>
                <a:tab pos="2897505" algn="l"/>
              </a:tabLst>
            </a:pPr>
            <a:r>
              <a:rPr sz="2400" dirty="0">
                <a:latin typeface="Times New Roman"/>
                <a:cs typeface="Times New Roman"/>
              </a:rPr>
              <a:t>Compute</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value:</a:t>
            </a:r>
            <a:r>
              <a:rPr sz="2400" dirty="0">
                <a:latin typeface="Times New Roman"/>
                <a:cs typeface="Times New Roman"/>
              </a:rPr>
              <a:t>	</a:t>
            </a:r>
            <a:r>
              <a:rPr sz="2400" dirty="0">
                <a:latin typeface="Courier New"/>
                <a:cs typeface="Courier New"/>
              </a:rPr>
              <a:t>S</a:t>
            </a:r>
            <a:r>
              <a:rPr sz="2400" baseline="-20833" dirty="0">
                <a:latin typeface="Courier New"/>
                <a:cs typeface="Courier New"/>
              </a:rPr>
              <a:t>2</a:t>
            </a:r>
            <a:r>
              <a:rPr sz="2400" spc="697" baseline="-20833" dirty="0">
                <a:latin typeface="Courier New"/>
                <a:cs typeface="Courier New"/>
              </a:rPr>
              <a:t> </a:t>
            </a:r>
            <a:r>
              <a:rPr sz="2400" dirty="0">
                <a:latin typeface="Courier New"/>
                <a:cs typeface="Courier New"/>
              </a:rPr>
              <a:t>=</a:t>
            </a:r>
            <a:r>
              <a:rPr sz="2400" spc="-15" dirty="0">
                <a:latin typeface="Courier New"/>
                <a:cs typeface="Courier New"/>
              </a:rPr>
              <a:t> </a:t>
            </a:r>
            <a:r>
              <a:rPr sz="2400" spc="-20" dirty="0">
                <a:latin typeface="Courier New"/>
                <a:cs typeface="Courier New"/>
              </a:rPr>
              <a:t>K</a:t>
            </a:r>
            <a:r>
              <a:rPr sz="2400" spc="-30" baseline="24305" dirty="0">
                <a:latin typeface="Courier New"/>
                <a:cs typeface="Courier New"/>
              </a:rPr>
              <a:t>-</a:t>
            </a:r>
            <a:r>
              <a:rPr sz="2400" spc="-15" baseline="24305" dirty="0">
                <a:latin typeface="Courier New"/>
                <a:cs typeface="Courier New"/>
              </a:rPr>
              <a:t>1</a:t>
            </a:r>
            <a:r>
              <a:rPr sz="2400" spc="-10" dirty="0">
                <a:latin typeface="Courier New"/>
                <a:cs typeface="Courier New"/>
              </a:rPr>
              <a:t>(m-</a:t>
            </a:r>
            <a:r>
              <a:rPr sz="2400" dirty="0">
                <a:latin typeface="Courier New"/>
                <a:cs typeface="Courier New"/>
              </a:rPr>
              <a:t>x</a:t>
            </a:r>
            <a:r>
              <a:rPr sz="2400" baseline="-20833" dirty="0">
                <a:latin typeface="Courier New"/>
                <a:cs typeface="Courier New"/>
              </a:rPr>
              <a:t>A</a:t>
            </a:r>
            <a:r>
              <a:rPr sz="2400" dirty="0">
                <a:latin typeface="Courier New"/>
                <a:cs typeface="Courier New"/>
              </a:rPr>
              <a:t>S</a:t>
            </a:r>
            <a:r>
              <a:rPr sz="2400" baseline="-20833" dirty="0">
                <a:latin typeface="Courier New"/>
                <a:cs typeface="Courier New"/>
              </a:rPr>
              <a:t>1</a:t>
            </a:r>
            <a:r>
              <a:rPr sz="2400" dirty="0">
                <a:latin typeface="Courier New"/>
                <a:cs typeface="Courier New"/>
              </a:rPr>
              <a:t>)</a:t>
            </a:r>
            <a:r>
              <a:rPr sz="2400" spc="-20" dirty="0">
                <a:latin typeface="Courier New"/>
                <a:cs typeface="Courier New"/>
              </a:rPr>
              <a:t> </a:t>
            </a:r>
            <a:r>
              <a:rPr sz="2400" dirty="0">
                <a:latin typeface="Courier New"/>
                <a:cs typeface="Courier New"/>
              </a:rPr>
              <a:t>mod</a:t>
            </a:r>
            <a:r>
              <a:rPr sz="2400" spc="-15" dirty="0">
                <a:latin typeface="Courier New"/>
                <a:cs typeface="Courier New"/>
              </a:rPr>
              <a:t> </a:t>
            </a:r>
            <a:r>
              <a:rPr sz="2400" spc="-10" dirty="0">
                <a:latin typeface="Courier New"/>
                <a:cs typeface="Courier New"/>
              </a:rPr>
              <a:t>(q-</a:t>
            </a:r>
            <a:r>
              <a:rPr sz="2400" spc="-25" dirty="0">
                <a:latin typeface="Courier New"/>
                <a:cs typeface="Courier New"/>
              </a:rPr>
              <a:t>1)</a:t>
            </a:r>
            <a:endParaRPr sz="2400">
              <a:latin typeface="Courier New"/>
              <a:cs typeface="Courier New"/>
            </a:endParaRPr>
          </a:p>
          <a:p>
            <a:pPr marL="361315" indent="-285115">
              <a:lnSpc>
                <a:spcPct val="100000"/>
              </a:lnSpc>
              <a:spcBef>
                <a:spcPts val="120"/>
              </a:spcBef>
              <a:buSzPct val="66666"/>
              <a:buFont typeface="Wingdings"/>
              <a:buChar char=""/>
              <a:tabLst>
                <a:tab pos="361315" algn="l"/>
              </a:tabLst>
            </a:pPr>
            <a:r>
              <a:rPr sz="2400" dirty="0">
                <a:latin typeface="Times New Roman"/>
                <a:cs typeface="Times New Roman"/>
              </a:rPr>
              <a:t>If</a:t>
            </a:r>
            <a:r>
              <a:rPr sz="2400" spc="-20" dirty="0">
                <a:latin typeface="Times New Roman"/>
                <a:cs typeface="Times New Roman"/>
              </a:rPr>
              <a:t> </a:t>
            </a:r>
            <a:r>
              <a:rPr sz="2400" dirty="0">
                <a:latin typeface="Times New Roman"/>
                <a:cs typeface="Times New Roman"/>
              </a:rPr>
              <a:t>S</a:t>
            </a:r>
            <a:r>
              <a:rPr sz="2400" baseline="-20833" dirty="0">
                <a:latin typeface="Times New Roman"/>
                <a:cs typeface="Times New Roman"/>
              </a:rPr>
              <a:t>2</a:t>
            </a:r>
            <a:r>
              <a:rPr sz="2400" spc="270" baseline="-20833"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zero,</a:t>
            </a:r>
            <a:r>
              <a:rPr sz="2400" spc="-20" dirty="0">
                <a:latin typeface="Times New Roman"/>
                <a:cs typeface="Times New Roman"/>
              </a:rPr>
              <a:t> </a:t>
            </a:r>
            <a:r>
              <a:rPr sz="2400" dirty="0">
                <a:latin typeface="Times New Roman"/>
                <a:cs typeface="Times New Roman"/>
              </a:rPr>
              <a:t>start</a:t>
            </a:r>
            <a:r>
              <a:rPr sz="2400" spc="-25"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new</a:t>
            </a:r>
            <a:r>
              <a:rPr sz="2400" spc="-20" dirty="0">
                <a:latin typeface="Times New Roman"/>
                <a:cs typeface="Times New Roman"/>
              </a:rPr>
              <a:t> </a:t>
            </a:r>
            <a:r>
              <a:rPr sz="2400" spc="-50" dirty="0">
                <a:latin typeface="Times New Roman"/>
                <a:cs typeface="Times New Roman"/>
              </a:rPr>
              <a:t>k</a:t>
            </a:r>
            <a:endParaRPr sz="2400">
              <a:latin typeface="Times New Roman"/>
              <a:cs typeface="Times New Roman"/>
            </a:endParaRPr>
          </a:p>
        </p:txBody>
      </p:sp>
      <p:sp>
        <p:nvSpPr>
          <p:cNvPr id="7" name="object 7"/>
          <p:cNvSpPr txBox="1"/>
          <p:nvPr/>
        </p:nvSpPr>
        <p:spPr>
          <a:xfrm>
            <a:off x="2177288" y="4740655"/>
            <a:ext cx="147955"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ourier New"/>
                <a:cs typeface="Courier New"/>
              </a:rPr>
              <a:t>m</a:t>
            </a:r>
            <a:endParaRPr sz="1600">
              <a:latin typeface="Courier New"/>
              <a:cs typeface="Courier New"/>
            </a:endParaRPr>
          </a:p>
        </p:txBody>
      </p:sp>
      <p:sp>
        <p:nvSpPr>
          <p:cNvPr id="8" name="object 8"/>
          <p:cNvSpPr txBox="1"/>
          <p:nvPr/>
        </p:nvSpPr>
        <p:spPr>
          <a:xfrm>
            <a:off x="433577" y="4090670"/>
            <a:ext cx="6510655" cy="1117600"/>
          </a:xfrm>
          <a:prstGeom prst="rect">
            <a:avLst/>
          </a:prstGeom>
        </p:spPr>
        <p:txBody>
          <a:bodyPr vert="horz" wrap="square" lIns="0" tIns="12700" rIns="0" bIns="0" rtlCol="0">
            <a:spAutoFit/>
          </a:bodyPr>
          <a:lstStyle/>
          <a:p>
            <a:pPr marL="780415" indent="-285115">
              <a:lnSpc>
                <a:spcPct val="100000"/>
              </a:lnSpc>
              <a:spcBef>
                <a:spcPts val="100"/>
              </a:spcBef>
              <a:buSzPct val="66666"/>
              <a:buFont typeface="Wingdings"/>
              <a:buChar char=""/>
              <a:tabLst>
                <a:tab pos="780415" algn="l"/>
              </a:tabLst>
            </a:pPr>
            <a:r>
              <a:rPr sz="2400" dirty="0">
                <a:latin typeface="Times New Roman"/>
                <a:cs typeface="Times New Roman"/>
              </a:rPr>
              <a:t>Signature</a:t>
            </a:r>
            <a:r>
              <a:rPr sz="2400" spc="-45" dirty="0">
                <a:latin typeface="Times New Roman"/>
                <a:cs typeface="Times New Roman"/>
              </a:rPr>
              <a:t> </a:t>
            </a:r>
            <a:r>
              <a:rPr sz="2400" spc="-10" dirty="0">
                <a:latin typeface="Times New Roman"/>
                <a:cs typeface="Times New Roman"/>
              </a:rPr>
              <a:t>is:</a:t>
            </a:r>
            <a:r>
              <a:rPr sz="2400" spc="-10" dirty="0">
                <a:latin typeface="Courier New"/>
                <a:cs typeface="Courier New"/>
              </a:rPr>
              <a:t>(S</a:t>
            </a:r>
            <a:r>
              <a:rPr sz="2400" spc="-15" baseline="-20833" dirty="0">
                <a:latin typeface="Courier New"/>
                <a:cs typeface="Courier New"/>
              </a:rPr>
              <a:t>1</a:t>
            </a:r>
            <a:r>
              <a:rPr sz="2400" spc="-10" dirty="0">
                <a:latin typeface="Courier New"/>
                <a:cs typeface="Courier New"/>
              </a:rPr>
              <a:t>,S</a:t>
            </a:r>
            <a:r>
              <a:rPr sz="2400" spc="-15" baseline="-20833" dirty="0">
                <a:latin typeface="Courier New"/>
                <a:cs typeface="Courier New"/>
              </a:rPr>
              <a:t>2</a:t>
            </a:r>
            <a:r>
              <a:rPr sz="2400" spc="-10" dirty="0">
                <a:latin typeface="Courier New"/>
                <a:cs typeface="Courier New"/>
              </a:rPr>
              <a:t>)</a:t>
            </a:r>
            <a:endParaRPr sz="2400">
              <a:latin typeface="Courier New"/>
              <a:cs typeface="Courier New"/>
            </a:endParaRPr>
          </a:p>
          <a:p>
            <a:pPr marL="380365" indent="-342265">
              <a:lnSpc>
                <a:spcPts val="2800"/>
              </a:lnSpc>
              <a:spcBef>
                <a:spcPts val="120"/>
              </a:spcBef>
              <a:buClr>
                <a:srgbClr val="063DE8"/>
              </a:buClr>
              <a:buSzPct val="75000"/>
              <a:buFont typeface="Wingdings"/>
              <a:buChar char=""/>
              <a:tabLst>
                <a:tab pos="380365" algn="l"/>
              </a:tabLst>
            </a:pPr>
            <a:r>
              <a:rPr sz="2400" dirty="0">
                <a:latin typeface="Times New Roman"/>
                <a:cs typeface="Times New Roman"/>
              </a:rPr>
              <a:t>Any</a:t>
            </a:r>
            <a:r>
              <a:rPr sz="2400" spc="-30" dirty="0">
                <a:latin typeface="Times New Roman"/>
                <a:cs typeface="Times New Roman"/>
              </a:rPr>
              <a:t> </a:t>
            </a:r>
            <a:r>
              <a:rPr sz="2400" dirty="0">
                <a:latin typeface="Times New Roman"/>
                <a:cs typeface="Times New Roman"/>
              </a:rPr>
              <a:t>user</a:t>
            </a:r>
            <a:r>
              <a:rPr sz="2400" spc="-30" dirty="0">
                <a:latin typeface="Times New Roman"/>
                <a:cs typeface="Times New Roman"/>
              </a:rPr>
              <a:t> </a:t>
            </a:r>
            <a:r>
              <a:rPr sz="2400" dirty="0">
                <a:latin typeface="Times New Roman"/>
                <a:cs typeface="Times New Roman"/>
              </a:rPr>
              <a:t>B</a:t>
            </a:r>
            <a:r>
              <a:rPr sz="2400" spc="-30"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verify</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signature</a:t>
            </a:r>
            <a:r>
              <a:rPr sz="2400" spc="-30" dirty="0">
                <a:latin typeface="Times New Roman"/>
                <a:cs typeface="Times New Roman"/>
              </a:rPr>
              <a:t> </a:t>
            </a:r>
            <a:r>
              <a:rPr sz="2400" dirty="0">
                <a:latin typeface="Times New Roman"/>
                <a:cs typeface="Times New Roman"/>
              </a:rPr>
              <a:t>by</a:t>
            </a:r>
            <a:r>
              <a:rPr sz="2400" spc="-30" dirty="0">
                <a:latin typeface="Times New Roman"/>
                <a:cs typeface="Times New Roman"/>
              </a:rPr>
              <a:t> </a:t>
            </a:r>
            <a:r>
              <a:rPr sz="2400" spc="-10" dirty="0">
                <a:latin typeface="Times New Roman"/>
                <a:cs typeface="Times New Roman"/>
              </a:rPr>
              <a:t>computing</a:t>
            </a:r>
            <a:endParaRPr sz="2400">
              <a:latin typeface="Times New Roman"/>
              <a:cs typeface="Times New Roman"/>
            </a:endParaRPr>
          </a:p>
          <a:p>
            <a:pPr marL="780415" lvl="1" indent="-285115">
              <a:lnSpc>
                <a:spcPts val="2800"/>
              </a:lnSpc>
              <a:buSzPct val="66666"/>
              <a:buFont typeface="Wingdings"/>
              <a:buChar char=""/>
              <a:tabLst>
                <a:tab pos="780415" algn="l"/>
                <a:tab pos="2059939" algn="l"/>
              </a:tabLst>
            </a:pPr>
            <a:r>
              <a:rPr sz="2400" dirty="0">
                <a:latin typeface="Courier New"/>
                <a:cs typeface="Courier New"/>
              </a:rPr>
              <a:t>V</a:t>
            </a:r>
            <a:r>
              <a:rPr sz="2400" baseline="-20833" dirty="0">
                <a:latin typeface="Courier New"/>
                <a:cs typeface="Courier New"/>
              </a:rPr>
              <a:t>1</a:t>
            </a:r>
            <a:r>
              <a:rPr sz="2400" spc="-22" baseline="-20833" dirty="0">
                <a:latin typeface="Courier New"/>
                <a:cs typeface="Courier New"/>
              </a:rPr>
              <a:t> </a:t>
            </a:r>
            <a:r>
              <a:rPr sz="2400" dirty="0">
                <a:latin typeface="Courier New"/>
                <a:cs typeface="Courier New"/>
              </a:rPr>
              <a:t>=</a:t>
            </a:r>
            <a:r>
              <a:rPr sz="2400" spc="-10" dirty="0">
                <a:latin typeface="Courier New"/>
                <a:cs typeface="Courier New"/>
              </a:rPr>
              <a:t> </a:t>
            </a:r>
            <a:r>
              <a:rPr sz="2400" spc="-50" dirty="0">
                <a:latin typeface="Courier New"/>
                <a:cs typeface="Courier New"/>
              </a:rPr>
              <a:t>a</a:t>
            </a:r>
            <a:r>
              <a:rPr sz="2400" dirty="0">
                <a:latin typeface="Courier New"/>
                <a:cs typeface="Courier New"/>
              </a:rPr>
              <a:t>	mod</a:t>
            </a:r>
            <a:r>
              <a:rPr sz="2400" spc="-20" dirty="0">
                <a:latin typeface="Courier New"/>
                <a:cs typeface="Courier New"/>
              </a:rPr>
              <a:t> </a:t>
            </a:r>
            <a:r>
              <a:rPr sz="2400" spc="-50" dirty="0">
                <a:latin typeface="Courier New"/>
                <a:cs typeface="Courier New"/>
              </a:rPr>
              <a:t>q</a:t>
            </a:r>
            <a:endParaRPr sz="2400">
              <a:latin typeface="Courier New"/>
              <a:cs typeface="Courier New"/>
            </a:endParaRPr>
          </a:p>
        </p:txBody>
      </p:sp>
      <p:sp>
        <p:nvSpPr>
          <p:cNvPr id="9" name="object 9"/>
          <p:cNvSpPr txBox="1"/>
          <p:nvPr/>
        </p:nvSpPr>
        <p:spPr>
          <a:xfrm>
            <a:off x="890777" y="5186426"/>
            <a:ext cx="1703070"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Lst>
            </a:pPr>
            <a:r>
              <a:rPr sz="2400" dirty="0">
                <a:latin typeface="Courier New"/>
                <a:cs typeface="Courier New"/>
              </a:rPr>
              <a:t>V</a:t>
            </a:r>
            <a:r>
              <a:rPr sz="2400" baseline="-20833" dirty="0">
                <a:latin typeface="Courier New"/>
                <a:cs typeface="Courier New"/>
              </a:rPr>
              <a:t>2</a:t>
            </a:r>
            <a:r>
              <a:rPr sz="2400" spc="-22" baseline="-20833" dirty="0">
                <a:latin typeface="Courier New"/>
                <a:cs typeface="Courier New"/>
              </a:rPr>
              <a:t> </a:t>
            </a:r>
            <a:r>
              <a:rPr sz="2400" dirty="0">
                <a:latin typeface="Courier New"/>
                <a:cs typeface="Courier New"/>
              </a:rPr>
              <a:t>=</a:t>
            </a:r>
            <a:r>
              <a:rPr sz="2400" spc="-10" dirty="0">
                <a:latin typeface="Courier New"/>
                <a:cs typeface="Courier New"/>
              </a:rPr>
              <a:t> </a:t>
            </a:r>
            <a:r>
              <a:rPr sz="2400" dirty="0">
                <a:latin typeface="Courier New"/>
                <a:cs typeface="Courier New"/>
              </a:rPr>
              <a:t>y</a:t>
            </a:r>
            <a:r>
              <a:rPr sz="2400" spc="-484" dirty="0">
                <a:latin typeface="Courier New"/>
                <a:cs typeface="Courier New"/>
              </a:rPr>
              <a:t> </a:t>
            </a:r>
            <a:r>
              <a:rPr sz="2400" spc="-37" baseline="24305" dirty="0">
                <a:latin typeface="Courier New"/>
                <a:cs typeface="Courier New"/>
              </a:rPr>
              <a:t>S1</a:t>
            </a:r>
            <a:endParaRPr sz="2400" baseline="24305">
              <a:latin typeface="Courier New"/>
              <a:cs typeface="Courier New"/>
            </a:endParaRPr>
          </a:p>
        </p:txBody>
      </p:sp>
      <p:sp>
        <p:nvSpPr>
          <p:cNvPr id="10" name="object 10"/>
          <p:cNvSpPr txBox="1"/>
          <p:nvPr/>
        </p:nvSpPr>
        <p:spPr>
          <a:xfrm>
            <a:off x="2177288" y="5363971"/>
            <a:ext cx="879475" cy="269875"/>
          </a:xfrm>
          <a:prstGeom prst="rect">
            <a:avLst/>
          </a:prstGeom>
        </p:spPr>
        <p:txBody>
          <a:bodyPr vert="horz" wrap="square" lIns="0" tIns="12700" rIns="0" bIns="0" rtlCol="0">
            <a:spAutoFit/>
          </a:bodyPr>
          <a:lstStyle/>
          <a:p>
            <a:pPr marL="12700">
              <a:lnSpc>
                <a:spcPct val="100000"/>
              </a:lnSpc>
              <a:spcBef>
                <a:spcPts val="100"/>
              </a:spcBef>
              <a:tabLst>
                <a:tab pos="743585" algn="l"/>
              </a:tabLst>
            </a:pPr>
            <a:r>
              <a:rPr sz="1600" spc="-50" dirty="0">
                <a:latin typeface="Courier New"/>
                <a:cs typeface="Courier New"/>
              </a:rPr>
              <a:t>A</a:t>
            </a:r>
            <a:r>
              <a:rPr sz="1600" dirty="0">
                <a:latin typeface="Courier New"/>
                <a:cs typeface="Courier New"/>
              </a:rPr>
              <a:t>	</a:t>
            </a:r>
            <a:r>
              <a:rPr sz="1600" spc="-50" dirty="0">
                <a:latin typeface="Courier New"/>
                <a:cs typeface="Courier New"/>
              </a:rPr>
              <a:t>1</a:t>
            </a:r>
            <a:endParaRPr sz="1600">
              <a:latin typeface="Courier New"/>
              <a:cs typeface="Courier New"/>
            </a:endParaRPr>
          </a:p>
        </p:txBody>
      </p:sp>
      <p:sp>
        <p:nvSpPr>
          <p:cNvPr id="11" name="object 11"/>
          <p:cNvSpPr txBox="1"/>
          <p:nvPr/>
        </p:nvSpPr>
        <p:spPr>
          <a:xfrm>
            <a:off x="2700527" y="5097217"/>
            <a:ext cx="624840" cy="391160"/>
          </a:xfrm>
          <a:prstGeom prst="rect">
            <a:avLst/>
          </a:prstGeom>
        </p:spPr>
        <p:txBody>
          <a:bodyPr vert="horz" wrap="square" lIns="0" tIns="12700" rIns="0" bIns="0" rtlCol="0">
            <a:spAutoFit/>
          </a:bodyPr>
          <a:lstStyle/>
          <a:p>
            <a:pPr marL="38100">
              <a:lnSpc>
                <a:spcPct val="100000"/>
              </a:lnSpc>
              <a:spcBef>
                <a:spcPts val="100"/>
              </a:spcBef>
            </a:pPr>
            <a:r>
              <a:rPr sz="3600" baseline="-16203" dirty="0">
                <a:latin typeface="Courier New"/>
                <a:cs typeface="Courier New"/>
              </a:rPr>
              <a:t>S</a:t>
            </a:r>
            <a:r>
              <a:rPr sz="3600" spc="-727" baseline="-16203" dirty="0">
                <a:latin typeface="Courier New"/>
                <a:cs typeface="Courier New"/>
              </a:rPr>
              <a:t> </a:t>
            </a:r>
            <a:r>
              <a:rPr sz="1600" spc="-25" dirty="0">
                <a:latin typeface="Courier New"/>
                <a:cs typeface="Courier New"/>
              </a:rPr>
              <a:t>S2</a:t>
            </a:r>
            <a:endParaRPr sz="1600">
              <a:latin typeface="Courier New"/>
              <a:cs typeface="Courier New"/>
            </a:endParaRPr>
          </a:p>
        </p:txBody>
      </p:sp>
      <p:sp>
        <p:nvSpPr>
          <p:cNvPr id="12" name="object 12"/>
          <p:cNvSpPr txBox="1"/>
          <p:nvPr/>
        </p:nvSpPr>
        <p:spPr>
          <a:xfrm>
            <a:off x="3457447" y="5186426"/>
            <a:ext cx="9385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urier New"/>
                <a:cs typeface="Courier New"/>
              </a:rPr>
              <a:t>mod</a:t>
            </a:r>
            <a:r>
              <a:rPr sz="2400" spc="-20" dirty="0">
                <a:latin typeface="Courier New"/>
                <a:cs typeface="Courier New"/>
              </a:rPr>
              <a:t> </a:t>
            </a:r>
            <a:r>
              <a:rPr sz="2400" spc="-50" dirty="0">
                <a:latin typeface="Courier New"/>
                <a:cs typeface="Courier New"/>
              </a:rPr>
              <a:t>q</a:t>
            </a:r>
            <a:endParaRPr sz="2400">
              <a:latin typeface="Courier New"/>
              <a:cs typeface="Courier New"/>
            </a:endParaRPr>
          </a:p>
        </p:txBody>
      </p:sp>
      <p:sp>
        <p:nvSpPr>
          <p:cNvPr id="13" name="object 13"/>
          <p:cNvSpPr txBox="1"/>
          <p:nvPr/>
        </p:nvSpPr>
        <p:spPr>
          <a:xfrm>
            <a:off x="890777" y="5551422"/>
            <a:ext cx="3928745"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Lst>
            </a:pPr>
            <a:r>
              <a:rPr sz="2400" dirty="0">
                <a:latin typeface="Times New Roman"/>
                <a:cs typeface="Times New Roman"/>
              </a:rPr>
              <a:t>Signature</a:t>
            </a:r>
            <a:r>
              <a:rPr sz="2400" spc="-2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valid</a:t>
            </a:r>
            <a:r>
              <a:rPr sz="2400" spc="-15" dirty="0">
                <a:latin typeface="Times New Roman"/>
                <a:cs typeface="Times New Roman"/>
              </a:rPr>
              <a:t> </a:t>
            </a:r>
            <a:r>
              <a:rPr sz="2400" dirty="0">
                <a:latin typeface="Times New Roman"/>
                <a:cs typeface="Times New Roman"/>
              </a:rPr>
              <a:t>if</a:t>
            </a:r>
            <a:r>
              <a:rPr sz="2400" spc="-10" dirty="0">
                <a:latin typeface="Times New Roman"/>
                <a:cs typeface="Times New Roman"/>
              </a:rPr>
              <a:t> </a:t>
            </a:r>
            <a:r>
              <a:rPr sz="2400" dirty="0">
                <a:latin typeface="Courier New"/>
                <a:cs typeface="Courier New"/>
              </a:rPr>
              <a:t>V</a:t>
            </a:r>
            <a:r>
              <a:rPr sz="2400" baseline="-20833" dirty="0">
                <a:latin typeface="Courier New"/>
                <a:cs typeface="Courier New"/>
              </a:rPr>
              <a:t>2</a:t>
            </a:r>
            <a:r>
              <a:rPr sz="2400" spc="-22" baseline="-20833" dirty="0">
                <a:latin typeface="Courier New"/>
                <a:cs typeface="Courier New"/>
              </a:rPr>
              <a:t> </a:t>
            </a:r>
            <a:r>
              <a:rPr sz="2400" dirty="0">
                <a:latin typeface="Courier New"/>
                <a:cs typeface="Courier New"/>
              </a:rPr>
              <a:t>=</a:t>
            </a:r>
            <a:r>
              <a:rPr sz="2400" spc="-30" dirty="0">
                <a:latin typeface="Courier New"/>
                <a:cs typeface="Courier New"/>
              </a:rPr>
              <a:t> </a:t>
            </a:r>
            <a:r>
              <a:rPr sz="2400" spc="-25" dirty="0">
                <a:latin typeface="Courier New"/>
                <a:cs typeface="Courier New"/>
              </a:rPr>
              <a:t>V</a:t>
            </a:r>
            <a:r>
              <a:rPr sz="2400" spc="-37" baseline="-20833" dirty="0">
                <a:latin typeface="Courier New"/>
                <a:cs typeface="Courier New"/>
              </a:rPr>
              <a:t>1</a:t>
            </a:r>
            <a:endParaRPr sz="2400" baseline="-20833">
              <a:latin typeface="Courier New"/>
              <a:cs typeface="Courier New"/>
            </a:endParaRPr>
          </a:p>
        </p:txBody>
      </p:sp>
      <p:sp>
        <p:nvSpPr>
          <p:cNvPr id="14" name="object 14"/>
          <p:cNvSpPr txBox="1"/>
          <p:nvPr/>
        </p:nvSpPr>
        <p:spPr>
          <a:xfrm>
            <a:off x="810768" y="6016805"/>
            <a:ext cx="2249170" cy="423545"/>
          </a:xfrm>
          <a:prstGeom prst="rect">
            <a:avLst/>
          </a:prstGeom>
        </p:spPr>
        <p:txBody>
          <a:bodyPr vert="horz" wrap="square" lIns="0" tIns="13970" rIns="0" bIns="0" rtlCol="0">
            <a:spAutoFit/>
          </a:bodyPr>
          <a:lstStyle/>
          <a:p>
            <a:pPr marL="38100">
              <a:lnSpc>
                <a:spcPct val="100000"/>
              </a:lnSpc>
              <a:spcBef>
                <a:spcPts val="110"/>
              </a:spcBef>
            </a:pPr>
            <a:r>
              <a:rPr sz="2600" spc="200" dirty="0">
                <a:latin typeface="Tahoma"/>
                <a:cs typeface="Tahoma"/>
              </a:rPr>
              <a:t>(</a:t>
            </a:r>
            <a:r>
              <a:rPr sz="2600" i="1" spc="200" dirty="0">
                <a:latin typeface="Trebuchet MS"/>
                <a:cs typeface="Trebuchet MS"/>
              </a:rPr>
              <a:t>a</a:t>
            </a:r>
            <a:r>
              <a:rPr sz="2700" i="1" spc="300" baseline="32407" dirty="0">
                <a:latin typeface="Georgia"/>
                <a:cs typeface="Georgia"/>
              </a:rPr>
              <a:t>x</a:t>
            </a:r>
            <a:r>
              <a:rPr sz="1950" spc="300" baseline="34188" dirty="0">
                <a:latin typeface="Arial MT"/>
                <a:cs typeface="Arial MT"/>
              </a:rPr>
              <a:t>A</a:t>
            </a:r>
            <a:r>
              <a:rPr sz="1950" spc="-172" baseline="34188" dirty="0">
                <a:latin typeface="Arial MT"/>
                <a:cs typeface="Arial MT"/>
              </a:rPr>
              <a:t> </a:t>
            </a:r>
            <a:r>
              <a:rPr sz="2600" spc="150" dirty="0">
                <a:latin typeface="Tahoma"/>
                <a:cs typeface="Tahoma"/>
              </a:rPr>
              <a:t>)</a:t>
            </a:r>
            <a:r>
              <a:rPr sz="2700" i="1" spc="225" baseline="40123" dirty="0">
                <a:latin typeface="Georgia"/>
                <a:cs typeface="Georgia"/>
              </a:rPr>
              <a:t>S</a:t>
            </a:r>
            <a:r>
              <a:rPr sz="1950" spc="225" baseline="44871" dirty="0">
                <a:latin typeface="Cambria"/>
                <a:cs typeface="Cambria"/>
              </a:rPr>
              <a:t>1</a:t>
            </a:r>
            <a:r>
              <a:rPr sz="1950" spc="600" baseline="44871" dirty="0">
                <a:latin typeface="Cambria"/>
                <a:cs typeface="Cambria"/>
              </a:rPr>
              <a:t> </a:t>
            </a:r>
            <a:r>
              <a:rPr sz="3900" spc="382" baseline="44871" dirty="0">
                <a:latin typeface="Trebuchet MS"/>
                <a:cs typeface="Trebuchet MS"/>
              </a:rPr>
              <a:t>¡</a:t>
            </a:r>
            <a:r>
              <a:rPr sz="2600" i="1" spc="254" dirty="0">
                <a:latin typeface="Trebuchet MS"/>
                <a:cs typeface="Trebuchet MS"/>
              </a:rPr>
              <a:t>a</a:t>
            </a:r>
            <a:r>
              <a:rPr sz="2700" i="1" spc="382" baseline="32407" dirty="0">
                <a:latin typeface="Georgia"/>
                <a:cs typeface="Georgia"/>
              </a:rPr>
              <a:t>K</a:t>
            </a:r>
            <a:r>
              <a:rPr sz="2700" i="1" spc="-247" baseline="32407" dirty="0">
                <a:latin typeface="Georgia"/>
                <a:cs typeface="Georgia"/>
              </a:rPr>
              <a:t> </a:t>
            </a:r>
            <a:r>
              <a:rPr sz="3900" spc="89" baseline="44871" dirty="0">
                <a:latin typeface="Trebuchet MS"/>
                <a:cs typeface="Trebuchet MS"/>
              </a:rPr>
              <a:t>¢</a:t>
            </a:r>
            <a:r>
              <a:rPr sz="2700" i="1" spc="89" baseline="52469" dirty="0">
                <a:latin typeface="Georgia"/>
                <a:cs typeface="Georgia"/>
              </a:rPr>
              <a:t>S</a:t>
            </a:r>
            <a:r>
              <a:rPr sz="1950" spc="89" baseline="59829" dirty="0">
                <a:latin typeface="Cambria"/>
                <a:cs typeface="Cambria"/>
              </a:rPr>
              <a:t>2</a:t>
            </a:r>
            <a:endParaRPr sz="1950" baseline="59829">
              <a:latin typeface="Cambria"/>
              <a:cs typeface="Cambria"/>
            </a:endParaRPr>
          </a:p>
        </p:txBody>
      </p:sp>
      <p:sp>
        <p:nvSpPr>
          <p:cNvPr id="15" name="object 15"/>
          <p:cNvSpPr txBox="1"/>
          <p:nvPr/>
        </p:nvSpPr>
        <p:spPr>
          <a:xfrm>
            <a:off x="3108960" y="5881170"/>
            <a:ext cx="4514850" cy="423545"/>
          </a:xfrm>
          <a:prstGeom prst="rect">
            <a:avLst/>
          </a:prstGeom>
        </p:spPr>
        <p:txBody>
          <a:bodyPr vert="horz" wrap="square" lIns="0" tIns="13970" rIns="0" bIns="0" rtlCol="0">
            <a:spAutoFit/>
          </a:bodyPr>
          <a:lstStyle/>
          <a:p>
            <a:pPr marL="38100">
              <a:lnSpc>
                <a:spcPct val="100000"/>
              </a:lnSpc>
              <a:spcBef>
                <a:spcPts val="110"/>
              </a:spcBef>
            </a:pPr>
            <a:r>
              <a:rPr sz="3900" spc="195" baseline="-22435" dirty="0">
                <a:latin typeface="Tahoma"/>
                <a:cs typeface="Tahoma"/>
              </a:rPr>
              <a:t>=</a:t>
            </a:r>
            <a:r>
              <a:rPr sz="3900" spc="-112" baseline="-22435" dirty="0">
                <a:latin typeface="Tahoma"/>
                <a:cs typeface="Tahoma"/>
              </a:rPr>
              <a:t> </a:t>
            </a:r>
            <a:r>
              <a:rPr sz="3900" i="1" spc="397" baseline="-22435" dirty="0">
                <a:latin typeface="Trebuchet MS"/>
                <a:cs typeface="Trebuchet MS"/>
              </a:rPr>
              <a:t>a</a:t>
            </a:r>
            <a:r>
              <a:rPr sz="1800" i="1" spc="265" dirty="0">
                <a:latin typeface="Georgia"/>
                <a:cs typeface="Georgia"/>
              </a:rPr>
              <a:t>x</a:t>
            </a:r>
            <a:r>
              <a:rPr sz="1950" spc="397" baseline="-10683" dirty="0">
                <a:latin typeface="Arial MT"/>
                <a:cs typeface="Arial MT"/>
              </a:rPr>
              <a:t>A</a:t>
            </a:r>
            <a:r>
              <a:rPr sz="1950" spc="-330" baseline="-10683" dirty="0">
                <a:latin typeface="Arial MT"/>
                <a:cs typeface="Arial MT"/>
              </a:rPr>
              <a:t> </a:t>
            </a:r>
            <a:r>
              <a:rPr sz="1800" i="1" spc="290" dirty="0">
                <a:latin typeface="Georgia"/>
                <a:cs typeface="Georgia"/>
              </a:rPr>
              <a:t>S</a:t>
            </a:r>
            <a:r>
              <a:rPr sz="1950" spc="434" baseline="-10683" dirty="0">
                <a:latin typeface="Cambria"/>
                <a:cs typeface="Cambria"/>
              </a:rPr>
              <a:t>1</a:t>
            </a:r>
            <a:r>
              <a:rPr sz="1800" spc="290" dirty="0">
                <a:latin typeface="Verdana"/>
                <a:cs typeface="Verdana"/>
              </a:rPr>
              <a:t>+</a:t>
            </a:r>
            <a:r>
              <a:rPr sz="1800" i="1" spc="290" dirty="0">
                <a:latin typeface="Georgia"/>
                <a:cs typeface="Georgia"/>
              </a:rPr>
              <a:t>KS</a:t>
            </a:r>
            <a:r>
              <a:rPr sz="1950" spc="434" baseline="-10683" dirty="0">
                <a:latin typeface="Cambria"/>
                <a:cs typeface="Cambria"/>
              </a:rPr>
              <a:t>2</a:t>
            </a:r>
            <a:r>
              <a:rPr sz="1950" spc="307" baseline="-10683" dirty="0">
                <a:latin typeface="Cambria"/>
                <a:cs typeface="Cambria"/>
              </a:rPr>
              <a:t>  </a:t>
            </a:r>
            <a:r>
              <a:rPr sz="3900" spc="195" baseline="-22435" dirty="0">
                <a:latin typeface="Tahoma"/>
                <a:cs typeface="Tahoma"/>
              </a:rPr>
              <a:t>=</a:t>
            </a:r>
            <a:r>
              <a:rPr sz="3900" spc="-89" baseline="-22435" dirty="0">
                <a:latin typeface="Tahoma"/>
                <a:cs typeface="Tahoma"/>
              </a:rPr>
              <a:t> </a:t>
            </a:r>
            <a:r>
              <a:rPr sz="3900" i="1" spc="419" baseline="-22435" dirty="0">
                <a:latin typeface="Trebuchet MS"/>
                <a:cs typeface="Trebuchet MS"/>
              </a:rPr>
              <a:t>a</a:t>
            </a:r>
            <a:r>
              <a:rPr sz="1800" i="1" spc="280" dirty="0">
                <a:latin typeface="Georgia"/>
                <a:cs typeface="Georgia"/>
              </a:rPr>
              <a:t>x</a:t>
            </a:r>
            <a:r>
              <a:rPr sz="1950" spc="419" baseline="-10683" dirty="0">
                <a:latin typeface="Arial MT"/>
                <a:cs typeface="Arial MT"/>
              </a:rPr>
              <a:t>A</a:t>
            </a:r>
            <a:r>
              <a:rPr sz="1800" i="1" spc="280" dirty="0">
                <a:latin typeface="Georgia"/>
                <a:cs typeface="Georgia"/>
              </a:rPr>
              <a:t>S</a:t>
            </a:r>
            <a:r>
              <a:rPr sz="1950" spc="419" baseline="-10683" dirty="0">
                <a:latin typeface="Cambria"/>
                <a:cs typeface="Cambria"/>
              </a:rPr>
              <a:t>1</a:t>
            </a:r>
            <a:r>
              <a:rPr sz="1800" spc="280" dirty="0">
                <a:latin typeface="Verdana"/>
                <a:cs typeface="Verdana"/>
              </a:rPr>
              <a:t>+</a:t>
            </a:r>
            <a:r>
              <a:rPr sz="1800" i="1" spc="280" dirty="0">
                <a:latin typeface="Georgia"/>
                <a:cs typeface="Georgia"/>
              </a:rPr>
              <a:t>m</a:t>
            </a:r>
            <a:r>
              <a:rPr sz="1800" spc="280" dirty="0">
                <a:latin typeface="Lucida Sans Unicode"/>
                <a:cs typeface="Lucida Sans Unicode"/>
              </a:rPr>
              <a:t>−</a:t>
            </a:r>
            <a:r>
              <a:rPr sz="1800" i="1" spc="280" dirty="0">
                <a:latin typeface="Georgia"/>
                <a:cs typeface="Georgia"/>
              </a:rPr>
              <a:t>x</a:t>
            </a:r>
            <a:r>
              <a:rPr sz="1950" spc="419" baseline="-10683" dirty="0">
                <a:latin typeface="Arial MT"/>
                <a:cs typeface="Arial MT"/>
              </a:rPr>
              <a:t>A</a:t>
            </a:r>
            <a:r>
              <a:rPr sz="1950" spc="-330" baseline="-10683" dirty="0">
                <a:latin typeface="Arial MT"/>
                <a:cs typeface="Arial MT"/>
              </a:rPr>
              <a:t> </a:t>
            </a:r>
            <a:r>
              <a:rPr sz="1800" i="1" spc="190" dirty="0">
                <a:latin typeface="Georgia"/>
                <a:cs typeface="Georgia"/>
              </a:rPr>
              <a:t>S</a:t>
            </a:r>
            <a:r>
              <a:rPr sz="1950" spc="284" baseline="-10683" dirty="0">
                <a:latin typeface="Cambria"/>
                <a:cs typeface="Cambria"/>
              </a:rPr>
              <a:t>1</a:t>
            </a:r>
            <a:endParaRPr sz="1950" baseline="-10683">
              <a:latin typeface="Cambria"/>
              <a:cs typeface="Cambria"/>
            </a:endParaRPr>
          </a:p>
        </p:txBody>
      </p:sp>
      <p:sp>
        <p:nvSpPr>
          <p:cNvPr id="16" name="object 16"/>
          <p:cNvSpPr txBox="1"/>
          <p:nvPr/>
        </p:nvSpPr>
        <p:spPr>
          <a:xfrm>
            <a:off x="7671054" y="6016805"/>
            <a:ext cx="841375" cy="423545"/>
          </a:xfrm>
          <a:prstGeom prst="rect">
            <a:avLst/>
          </a:prstGeom>
        </p:spPr>
        <p:txBody>
          <a:bodyPr vert="horz" wrap="square" lIns="0" tIns="13970" rIns="0" bIns="0" rtlCol="0">
            <a:spAutoFit/>
          </a:bodyPr>
          <a:lstStyle/>
          <a:p>
            <a:pPr marL="38100">
              <a:lnSpc>
                <a:spcPct val="100000"/>
              </a:lnSpc>
              <a:spcBef>
                <a:spcPts val="110"/>
              </a:spcBef>
            </a:pPr>
            <a:r>
              <a:rPr sz="2600" spc="130" dirty="0">
                <a:latin typeface="Tahoma"/>
                <a:cs typeface="Tahoma"/>
              </a:rPr>
              <a:t>=</a:t>
            </a:r>
            <a:r>
              <a:rPr sz="2600" spc="-70" dirty="0">
                <a:latin typeface="Tahoma"/>
                <a:cs typeface="Tahoma"/>
              </a:rPr>
              <a:t> </a:t>
            </a:r>
            <a:r>
              <a:rPr sz="2600" i="1" spc="100" dirty="0">
                <a:latin typeface="Trebuchet MS"/>
                <a:cs typeface="Trebuchet MS"/>
              </a:rPr>
              <a:t>a</a:t>
            </a:r>
            <a:r>
              <a:rPr sz="2700" i="1" spc="150" baseline="32407" dirty="0">
                <a:latin typeface="Georgia"/>
                <a:cs typeface="Georgia"/>
              </a:rPr>
              <a:t>m</a:t>
            </a:r>
            <a:endParaRPr sz="2700" baseline="32407">
              <a:latin typeface="Georgia"/>
              <a:cs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04165">
              <a:lnSpc>
                <a:spcPct val="100000"/>
              </a:lnSpc>
              <a:spcBef>
                <a:spcPts val="100"/>
              </a:spcBef>
            </a:pPr>
            <a:r>
              <a:rPr dirty="0"/>
              <a:t>ElGamal</a:t>
            </a:r>
            <a:r>
              <a:rPr spc="-20" dirty="0"/>
              <a:t> </a:t>
            </a:r>
            <a:r>
              <a:rPr dirty="0"/>
              <a:t>Signature</a:t>
            </a:r>
            <a:r>
              <a:rPr spc="-15" dirty="0"/>
              <a:t> </a:t>
            </a:r>
            <a:r>
              <a:rPr spc="-10" dirty="0"/>
              <a:t>Example</a:t>
            </a:r>
          </a:p>
        </p:txBody>
      </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74980" y="1215644"/>
            <a:ext cx="3503295" cy="773430"/>
          </a:xfrm>
          <a:prstGeom prst="rect">
            <a:avLst/>
          </a:prstGeom>
        </p:spPr>
        <p:txBody>
          <a:bodyPr vert="horz" wrap="square" lIns="0" tIns="12700" rIns="0" bIns="0" rtlCol="0">
            <a:spAutoFit/>
          </a:bodyPr>
          <a:lstStyle/>
          <a:p>
            <a:pPr marL="354965" indent="-342265">
              <a:lnSpc>
                <a:spcPct val="100000"/>
              </a:lnSpc>
              <a:spcBef>
                <a:spcPts val="100"/>
              </a:spcBef>
              <a:buClr>
                <a:srgbClr val="063DE8"/>
              </a:buClr>
              <a:buSzPct val="75000"/>
              <a:buFont typeface="Wingdings"/>
              <a:buChar char=""/>
              <a:tabLst>
                <a:tab pos="354965" algn="l"/>
              </a:tabLst>
            </a:pPr>
            <a:r>
              <a:rPr sz="2400" dirty="0">
                <a:latin typeface="Times New Roman"/>
                <a:cs typeface="Times New Roman"/>
              </a:rPr>
              <a:t>GF(19)</a:t>
            </a:r>
            <a:r>
              <a:rPr sz="2400" spc="-25" dirty="0">
                <a:latin typeface="Times New Roman"/>
                <a:cs typeface="Times New Roman"/>
              </a:rPr>
              <a:t> </a:t>
            </a:r>
            <a:r>
              <a:rPr sz="2400" dirty="0">
                <a:latin typeface="Courier New"/>
                <a:cs typeface="Courier New"/>
              </a:rPr>
              <a:t>q=19</a:t>
            </a:r>
            <a:r>
              <a:rPr sz="2400" spc="-60" dirty="0">
                <a:latin typeface="Courier New"/>
                <a:cs typeface="Courier New"/>
              </a:rPr>
              <a:t> </a:t>
            </a:r>
            <a:r>
              <a:rPr sz="2400" dirty="0">
                <a:latin typeface="Times New Roman"/>
                <a:cs typeface="Times New Roman"/>
              </a:rPr>
              <a:t>and</a:t>
            </a:r>
            <a:r>
              <a:rPr sz="2400" spc="-30" dirty="0">
                <a:latin typeface="Times New Roman"/>
                <a:cs typeface="Times New Roman"/>
              </a:rPr>
              <a:t> </a:t>
            </a:r>
            <a:r>
              <a:rPr sz="2400" spc="-20" dirty="0">
                <a:latin typeface="Courier New"/>
                <a:cs typeface="Courier New"/>
              </a:rPr>
              <a:t>a=10</a:t>
            </a:r>
            <a:endParaRPr sz="2400">
              <a:latin typeface="Courier New"/>
              <a:cs typeface="Courier New"/>
            </a:endParaRPr>
          </a:p>
          <a:p>
            <a:pPr marL="354965" indent="-342265">
              <a:lnSpc>
                <a:spcPct val="100000"/>
              </a:lnSpc>
              <a:spcBef>
                <a:spcPts val="125"/>
              </a:spcBef>
              <a:buClr>
                <a:srgbClr val="063DE8"/>
              </a:buClr>
              <a:buSzPct val="75000"/>
              <a:buFont typeface="Wingdings"/>
              <a:buChar char=""/>
              <a:tabLst>
                <a:tab pos="354965" algn="l"/>
              </a:tabLst>
            </a:pPr>
            <a:r>
              <a:rPr sz="2400" dirty="0">
                <a:latin typeface="Times New Roman"/>
                <a:cs typeface="Times New Roman"/>
              </a:rPr>
              <a:t>Alice</a:t>
            </a:r>
            <a:r>
              <a:rPr sz="2400" spc="-30" dirty="0">
                <a:latin typeface="Times New Roman"/>
                <a:cs typeface="Times New Roman"/>
              </a:rPr>
              <a:t> </a:t>
            </a:r>
            <a:r>
              <a:rPr sz="2400" dirty="0">
                <a:latin typeface="Times New Roman"/>
                <a:cs typeface="Times New Roman"/>
              </a:rPr>
              <a:t>computes</a:t>
            </a:r>
            <a:r>
              <a:rPr sz="2400" spc="-25" dirty="0">
                <a:latin typeface="Times New Roman"/>
                <a:cs typeface="Times New Roman"/>
              </a:rPr>
              <a:t> </a:t>
            </a:r>
            <a:r>
              <a:rPr sz="2400" dirty="0">
                <a:latin typeface="Times New Roman"/>
                <a:cs typeface="Times New Roman"/>
              </a:rPr>
              <a:t>her</a:t>
            </a:r>
            <a:r>
              <a:rPr sz="2400" spc="-25" dirty="0">
                <a:latin typeface="Times New Roman"/>
                <a:cs typeface="Times New Roman"/>
              </a:rPr>
              <a:t> </a:t>
            </a:r>
            <a:r>
              <a:rPr sz="2400" spc="-20" dirty="0">
                <a:latin typeface="Times New Roman"/>
                <a:cs typeface="Times New Roman"/>
              </a:rPr>
              <a:t>key:</a:t>
            </a:r>
            <a:endParaRPr sz="2400">
              <a:latin typeface="Times New Roman"/>
              <a:cs typeface="Times New Roman"/>
            </a:endParaRPr>
          </a:p>
        </p:txBody>
      </p:sp>
      <p:sp>
        <p:nvSpPr>
          <p:cNvPr id="4" name="object 4"/>
          <p:cNvSpPr txBox="1"/>
          <p:nvPr/>
        </p:nvSpPr>
        <p:spPr>
          <a:xfrm>
            <a:off x="6000241" y="1870201"/>
            <a:ext cx="269875" cy="269875"/>
          </a:xfrm>
          <a:prstGeom prst="rect">
            <a:avLst/>
          </a:prstGeom>
        </p:spPr>
        <p:txBody>
          <a:bodyPr vert="horz" wrap="square" lIns="0" tIns="12700" rIns="0" bIns="0" rtlCol="0">
            <a:spAutoFit/>
          </a:bodyPr>
          <a:lstStyle/>
          <a:p>
            <a:pPr marL="12700">
              <a:lnSpc>
                <a:spcPct val="100000"/>
              </a:lnSpc>
              <a:spcBef>
                <a:spcPts val="100"/>
              </a:spcBef>
            </a:pPr>
            <a:r>
              <a:rPr sz="1600" spc="-25" dirty="0">
                <a:latin typeface="Courier New"/>
                <a:cs typeface="Courier New"/>
              </a:rPr>
              <a:t>16</a:t>
            </a:r>
            <a:endParaRPr sz="1600">
              <a:latin typeface="Courier New"/>
              <a:cs typeface="Courier New"/>
            </a:endParaRPr>
          </a:p>
        </p:txBody>
      </p:sp>
      <p:sp>
        <p:nvSpPr>
          <p:cNvPr id="5" name="object 5"/>
          <p:cNvSpPr txBox="1"/>
          <p:nvPr/>
        </p:nvSpPr>
        <p:spPr>
          <a:xfrm>
            <a:off x="894080" y="1946402"/>
            <a:ext cx="7349490" cy="391160"/>
          </a:xfrm>
          <a:prstGeom prst="rect">
            <a:avLst/>
          </a:prstGeom>
        </p:spPr>
        <p:txBody>
          <a:bodyPr vert="horz" wrap="square" lIns="0" tIns="12700" rIns="0" bIns="0" rtlCol="0">
            <a:spAutoFit/>
          </a:bodyPr>
          <a:lstStyle/>
          <a:p>
            <a:pPr marL="335915" indent="-285115">
              <a:lnSpc>
                <a:spcPct val="100000"/>
              </a:lnSpc>
              <a:spcBef>
                <a:spcPts val="100"/>
              </a:spcBef>
              <a:buSzPct val="66666"/>
              <a:buFont typeface="Wingdings"/>
              <a:buChar char=""/>
              <a:tabLst>
                <a:tab pos="335915" algn="l"/>
                <a:tab pos="5484495" algn="l"/>
              </a:tabLst>
            </a:pP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chooses</a:t>
            </a:r>
            <a:r>
              <a:rPr sz="2400" spc="-25" dirty="0">
                <a:latin typeface="Times New Roman"/>
                <a:cs typeface="Times New Roman"/>
              </a:rPr>
              <a:t> </a:t>
            </a:r>
            <a:r>
              <a:rPr sz="2400" dirty="0">
                <a:latin typeface="Courier New"/>
                <a:cs typeface="Courier New"/>
              </a:rPr>
              <a:t>x</a:t>
            </a:r>
            <a:r>
              <a:rPr sz="2400" baseline="-20833" dirty="0">
                <a:latin typeface="Courier New"/>
                <a:cs typeface="Courier New"/>
              </a:rPr>
              <a:t>A</a:t>
            </a:r>
            <a:r>
              <a:rPr sz="2400" dirty="0">
                <a:latin typeface="Courier New"/>
                <a:cs typeface="Courier New"/>
              </a:rPr>
              <a:t>=16</a:t>
            </a:r>
            <a:r>
              <a:rPr sz="2400" spc="-65" dirty="0">
                <a:latin typeface="Courier New"/>
                <a:cs typeface="Courier New"/>
              </a:rPr>
              <a:t> </a:t>
            </a:r>
            <a:r>
              <a:rPr sz="2400" dirty="0">
                <a:latin typeface="Times New Roman"/>
                <a:cs typeface="Times New Roman"/>
              </a:rPr>
              <a:t>&amp;</a:t>
            </a:r>
            <a:r>
              <a:rPr sz="2400" spc="-30" dirty="0">
                <a:latin typeface="Times New Roman"/>
                <a:cs typeface="Times New Roman"/>
              </a:rPr>
              <a:t> </a:t>
            </a:r>
            <a:r>
              <a:rPr sz="2400" dirty="0">
                <a:latin typeface="Times New Roman"/>
                <a:cs typeface="Times New Roman"/>
              </a:rPr>
              <a:t>computes</a:t>
            </a:r>
            <a:r>
              <a:rPr sz="2400" spc="-35" dirty="0">
                <a:latin typeface="Times New Roman"/>
                <a:cs typeface="Times New Roman"/>
              </a:rPr>
              <a:t> </a:t>
            </a:r>
            <a:r>
              <a:rPr sz="2400" spc="-10" dirty="0">
                <a:latin typeface="Courier New"/>
                <a:cs typeface="Courier New"/>
              </a:rPr>
              <a:t>y</a:t>
            </a:r>
            <a:r>
              <a:rPr sz="2400" spc="-15" baseline="-20833" dirty="0">
                <a:latin typeface="Courier New"/>
                <a:cs typeface="Courier New"/>
              </a:rPr>
              <a:t>A</a:t>
            </a:r>
            <a:r>
              <a:rPr sz="2400" spc="-10" dirty="0">
                <a:latin typeface="Courier New"/>
                <a:cs typeface="Courier New"/>
              </a:rPr>
              <a:t>=10</a:t>
            </a:r>
            <a:r>
              <a:rPr sz="2400" dirty="0">
                <a:latin typeface="Courier New"/>
                <a:cs typeface="Courier New"/>
              </a:rPr>
              <a:t>	mod</a:t>
            </a:r>
            <a:r>
              <a:rPr sz="2400" spc="-20" dirty="0">
                <a:latin typeface="Courier New"/>
                <a:cs typeface="Courier New"/>
              </a:rPr>
              <a:t> </a:t>
            </a:r>
            <a:r>
              <a:rPr sz="2400" dirty="0">
                <a:latin typeface="Courier New"/>
                <a:cs typeface="Courier New"/>
              </a:rPr>
              <a:t>19</a:t>
            </a:r>
            <a:r>
              <a:rPr sz="2400" spc="-10" dirty="0">
                <a:latin typeface="Courier New"/>
                <a:cs typeface="Courier New"/>
              </a:rPr>
              <a:t> </a:t>
            </a:r>
            <a:r>
              <a:rPr sz="2400" dirty="0">
                <a:latin typeface="Courier New"/>
                <a:cs typeface="Courier New"/>
              </a:rPr>
              <a:t>=</a:t>
            </a:r>
            <a:r>
              <a:rPr sz="2400" spc="-10" dirty="0">
                <a:latin typeface="Courier New"/>
                <a:cs typeface="Courier New"/>
              </a:rPr>
              <a:t> </a:t>
            </a:r>
            <a:r>
              <a:rPr sz="2400" spc="-50" dirty="0">
                <a:latin typeface="Courier New"/>
                <a:cs typeface="Courier New"/>
              </a:rPr>
              <a:t>4</a:t>
            </a:r>
            <a:endParaRPr sz="2400">
              <a:latin typeface="Courier New"/>
              <a:cs typeface="Courier New"/>
            </a:endParaRPr>
          </a:p>
        </p:txBody>
      </p:sp>
      <p:sp>
        <p:nvSpPr>
          <p:cNvPr id="6" name="object 6"/>
          <p:cNvSpPr txBox="1"/>
          <p:nvPr/>
        </p:nvSpPr>
        <p:spPr>
          <a:xfrm>
            <a:off x="474980" y="2311400"/>
            <a:ext cx="7060565" cy="756285"/>
          </a:xfrm>
          <a:prstGeom prst="rect">
            <a:avLst/>
          </a:prstGeom>
        </p:spPr>
        <p:txBody>
          <a:bodyPr vert="horz" wrap="square" lIns="0" tIns="12700" rIns="0" bIns="0" rtlCol="0">
            <a:spAutoFit/>
          </a:bodyPr>
          <a:lstStyle/>
          <a:p>
            <a:pPr marL="354965" indent="-342265">
              <a:lnSpc>
                <a:spcPts val="2875"/>
              </a:lnSpc>
              <a:spcBef>
                <a:spcPts val="100"/>
              </a:spcBef>
              <a:buClr>
                <a:srgbClr val="063DE8"/>
              </a:buClr>
              <a:buSzPct val="75000"/>
              <a:buFont typeface="Wingdings"/>
              <a:buChar char=""/>
              <a:tabLst>
                <a:tab pos="354965" algn="l"/>
              </a:tabLst>
            </a:pPr>
            <a:r>
              <a:rPr sz="2400" dirty="0">
                <a:latin typeface="Times New Roman"/>
                <a:cs typeface="Times New Roman"/>
              </a:rPr>
              <a:t>Alice</a:t>
            </a:r>
            <a:r>
              <a:rPr sz="2400" spc="-35" dirty="0">
                <a:latin typeface="Times New Roman"/>
                <a:cs typeface="Times New Roman"/>
              </a:rPr>
              <a:t> </a:t>
            </a:r>
            <a:r>
              <a:rPr sz="2400" dirty="0">
                <a:latin typeface="Times New Roman"/>
                <a:cs typeface="Times New Roman"/>
              </a:rPr>
              <a:t>signs</a:t>
            </a:r>
            <a:r>
              <a:rPr sz="2400" spc="-15" dirty="0">
                <a:latin typeface="Times New Roman"/>
                <a:cs typeface="Times New Roman"/>
              </a:rPr>
              <a:t> </a:t>
            </a:r>
            <a:r>
              <a:rPr sz="2400" dirty="0">
                <a:latin typeface="Times New Roman"/>
                <a:cs typeface="Times New Roman"/>
              </a:rPr>
              <a:t>message</a:t>
            </a:r>
            <a:r>
              <a:rPr sz="2400" spc="-20" dirty="0">
                <a:latin typeface="Times New Roman"/>
                <a:cs typeface="Times New Roman"/>
              </a:rPr>
              <a:t> </a:t>
            </a:r>
            <a:r>
              <a:rPr sz="2400" dirty="0">
                <a:latin typeface="Times New Roman"/>
                <a:cs typeface="Times New Roman"/>
              </a:rPr>
              <a:t>with</a:t>
            </a:r>
            <a:r>
              <a:rPr sz="2400" spc="-15" dirty="0">
                <a:latin typeface="Times New Roman"/>
                <a:cs typeface="Times New Roman"/>
              </a:rPr>
              <a:t> </a:t>
            </a:r>
            <a:r>
              <a:rPr sz="2400" dirty="0">
                <a:latin typeface="Times New Roman"/>
                <a:cs typeface="Times New Roman"/>
              </a:rPr>
              <a:t>hash</a:t>
            </a:r>
            <a:r>
              <a:rPr sz="2400" spc="-25" dirty="0">
                <a:latin typeface="Times New Roman"/>
                <a:cs typeface="Times New Roman"/>
              </a:rPr>
              <a:t> </a:t>
            </a:r>
            <a:r>
              <a:rPr sz="2400" spc="-10" dirty="0">
                <a:latin typeface="Courier New"/>
                <a:cs typeface="Courier New"/>
              </a:rPr>
              <a:t>m=14</a:t>
            </a:r>
            <a:r>
              <a:rPr sz="2400" spc="-840" dirty="0">
                <a:latin typeface="Courier New"/>
                <a:cs typeface="Courier New"/>
              </a:rPr>
              <a:t> </a:t>
            </a:r>
            <a:r>
              <a:rPr sz="2400" dirty="0">
                <a:latin typeface="Times New Roman"/>
                <a:cs typeface="Times New Roman"/>
              </a:rPr>
              <a:t>as</a:t>
            </a:r>
            <a:r>
              <a:rPr sz="2400" spc="-10" dirty="0">
                <a:latin typeface="Times New Roman"/>
                <a:cs typeface="Times New Roman"/>
              </a:rPr>
              <a:t> </a:t>
            </a:r>
            <a:r>
              <a:rPr sz="2400" spc="-10" dirty="0">
                <a:latin typeface="Courier New"/>
                <a:cs typeface="Courier New"/>
              </a:rPr>
              <a:t>(3,4)</a:t>
            </a:r>
            <a:r>
              <a:rPr sz="2400" spc="-10" dirty="0">
                <a:latin typeface="Times New Roman"/>
                <a:cs typeface="Times New Roman"/>
              </a:rPr>
              <a:t>:</a:t>
            </a:r>
            <a:endParaRPr sz="2400">
              <a:latin typeface="Times New Roman"/>
              <a:cs typeface="Times New Roman"/>
            </a:endParaRPr>
          </a:p>
          <a:p>
            <a:pPr marL="755015" lvl="1" indent="-285115">
              <a:lnSpc>
                <a:spcPts val="2875"/>
              </a:lnSpc>
              <a:buSzPct val="66666"/>
              <a:buFont typeface="Wingdings"/>
              <a:buChar char=""/>
              <a:tabLst>
                <a:tab pos="755015" algn="l"/>
              </a:tabLst>
            </a:pPr>
            <a:r>
              <a:rPr sz="2400" dirty="0">
                <a:latin typeface="Times New Roman"/>
                <a:cs typeface="Times New Roman"/>
              </a:rPr>
              <a:t>Choosing</a:t>
            </a:r>
            <a:r>
              <a:rPr sz="2400" spc="-30" dirty="0">
                <a:latin typeface="Times New Roman"/>
                <a:cs typeface="Times New Roman"/>
              </a:rPr>
              <a:t> </a:t>
            </a:r>
            <a:r>
              <a:rPr sz="2400" dirty="0">
                <a:latin typeface="Times New Roman"/>
                <a:cs typeface="Times New Roman"/>
              </a:rPr>
              <a:t>random</a:t>
            </a:r>
            <a:r>
              <a:rPr sz="2400" spc="-30" dirty="0">
                <a:latin typeface="Times New Roman"/>
                <a:cs typeface="Times New Roman"/>
              </a:rPr>
              <a:t> </a:t>
            </a:r>
            <a:r>
              <a:rPr sz="2400" dirty="0">
                <a:latin typeface="Courier New"/>
                <a:cs typeface="Courier New"/>
              </a:rPr>
              <a:t>K=5</a:t>
            </a:r>
            <a:r>
              <a:rPr sz="2400" spc="-60" dirty="0">
                <a:latin typeface="Courier New"/>
                <a:cs typeface="Courier New"/>
              </a:rPr>
              <a:t> </a:t>
            </a:r>
            <a:r>
              <a:rPr sz="2400" dirty="0">
                <a:latin typeface="Times New Roman"/>
                <a:cs typeface="Times New Roman"/>
              </a:rPr>
              <a:t>which</a:t>
            </a:r>
            <a:r>
              <a:rPr sz="2400" spc="-25" dirty="0">
                <a:latin typeface="Times New Roman"/>
                <a:cs typeface="Times New Roman"/>
              </a:rPr>
              <a:t> </a:t>
            </a:r>
            <a:r>
              <a:rPr sz="2400" dirty="0">
                <a:latin typeface="Times New Roman"/>
                <a:cs typeface="Times New Roman"/>
              </a:rPr>
              <a:t>has</a:t>
            </a:r>
            <a:r>
              <a:rPr sz="2400" spc="-20" dirty="0">
                <a:latin typeface="Times New Roman"/>
                <a:cs typeface="Times New Roman"/>
              </a:rPr>
              <a:t> </a:t>
            </a:r>
            <a:r>
              <a:rPr sz="2400" spc="-10" dirty="0">
                <a:latin typeface="Courier New"/>
                <a:cs typeface="Courier New"/>
              </a:rPr>
              <a:t>gcd(18,5)=1</a:t>
            </a:r>
            <a:endParaRPr sz="2400">
              <a:latin typeface="Courier New"/>
              <a:cs typeface="Courier New"/>
            </a:endParaRPr>
          </a:p>
        </p:txBody>
      </p:sp>
      <p:sp>
        <p:nvSpPr>
          <p:cNvPr id="7" name="object 7"/>
          <p:cNvSpPr txBox="1"/>
          <p:nvPr/>
        </p:nvSpPr>
        <p:spPr>
          <a:xfrm>
            <a:off x="3822446" y="2965195"/>
            <a:ext cx="147955"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ourier New"/>
                <a:cs typeface="Courier New"/>
              </a:rPr>
              <a:t>5</a:t>
            </a:r>
            <a:endParaRPr sz="1600">
              <a:latin typeface="Courier New"/>
              <a:cs typeface="Courier New"/>
            </a:endParaRPr>
          </a:p>
        </p:txBody>
      </p:sp>
      <p:sp>
        <p:nvSpPr>
          <p:cNvPr id="8" name="object 8"/>
          <p:cNvSpPr txBox="1"/>
          <p:nvPr/>
        </p:nvSpPr>
        <p:spPr>
          <a:xfrm>
            <a:off x="906780" y="3041396"/>
            <a:ext cx="5096510"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 pos="3232150" algn="l"/>
              </a:tabLst>
            </a:pPr>
            <a:r>
              <a:rPr sz="2400" dirty="0">
                <a:latin typeface="Times New Roman"/>
                <a:cs typeface="Times New Roman"/>
              </a:rPr>
              <a:t>Computing</a:t>
            </a:r>
            <a:r>
              <a:rPr sz="2400" spc="-25" dirty="0">
                <a:latin typeface="Times New Roman"/>
                <a:cs typeface="Times New Roman"/>
              </a:rPr>
              <a:t> </a:t>
            </a:r>
            <a:r>
              <a:rPr sz="2400" dirty="0">
                <a:latin typeface="Courier New"/>
                <a:cs typeface="Courier New"/>
              </a:rPr>
              <a:t>S</a:t>
            </a:r>
            <a:r>
              <a:rPr sz="2400" baseline="-20833" dirty="0">
                <a:latin typeface="Courier New"/>
                <a:cs typeface="Courier New"/>
              </a:rPr>
              <a:t>1</a:t>
            </a:r>
            <a:r>
              <a:rPr sz="2400" spc="-30" baseline="-20833" dirty="0">
                <a:latin typeface="Courier New"/>
                <a:cs typeface="Courier New"/>
              </a:rPr>
              <a:t> </a:t>
            </a:r>
            <a:r>
              <a:rPr sz="2400" dirty="0">
                <a:latin typeface="Courier New"/>
                <a:cs typeface="Courier New"/>
              </a:rPr>
              <a:t>=</a:t>
            </a:r>
            <a:r>
              <a:rPr sz="2400" spc="-30" dirty="0">
                <a:latin typeface="Courier New"/>
                <a:cs typeface="Courier New"/>
              </a:rPr>
              <a:t> </a:t>
            </a:r>
            <a:r>
              <a:rPr sz="2400" spc="-25" dirty="0">
                <a:latin typeface="Courier New"/>
                <a:cs typeface="Courier New"/>
              </a:rPr>
              <a:t>10</a:t>
            </a:r>
            <a:r>
              <a:rPr sz="2400" dirty="0">
                <a:latin typeface="Courier New"/>
                <a:cs typeface="Courier New"/>
              </a:rPr>
              <a:t>	mod</a:t>
            </a:r>
            <a:r>
              <a:rPr sz="2400" spc="-25" dirty="0">
                <a:latin typeface="Courier New"/>
                <a:cs typeface="Courier New"/>
              </a:rPr>
              <a:t> </a:t>
            </a:r>
            <a:r>
              <a:rPr sz="2400" dirty="0">
                <a:latin typeface="Courier New"/>
                <a:cs typeface="Courier New"/>
              </a:rPr>
              <a:t>19</a:t>
            </a:r>
            <a:r>
              <a:rPr sz="2400" spc="-15" dirty="0">
                <a:latin typeface="Courier New"/>
                <a:cs typeface="Courier New"/>
              </a:rPr>
              <a:t> </a:t>
            </a:r>
            <a:r>
              <a:rPr sz="2400" dirty="0">
                <a:latin typeface="Courier New"/>
                <a:cs typeface="Courier New"/>
              </a:rPr>
              <a:t>=</a:t>
            </a:r>
            <a:r>
              <a:rPr sz="2400" spc="-15" dirty="0">
                <a:latin typeface="Courier New"/>
                <a:cs typeface="Courier New"/>
              </a:rPr>
              <a:t> </a:t>
            </a:r>
            <a:r>
              <a:rPr sz="2400" spc="-50" dirty="0">
                <a:latin typeface="Courier New"/>
                <a:cs typeface="Courier New"/>
              </a:rPr>
              <a:t>3</a:t>
            </a:r>
            <a:endParaRPr sz="2400">
              <a:latin typeface="Courier New"/>
              <a:cs typeface="Courier New"/>
            </a:endParaRPr>
          </a:p>
        </p:txBody>
      </p:sp>
      <p:sp>
        <p:nvSpPr>
          <p:cNvPr id="9" name="object 9"/>
          <p:cNvSpPr txBox="1"/>
          <p:nvPr/>
        </p:nvSpPr>
        <p:spPr>
          <a:xfrm>
            <a:off x="462280" y="3406394"/>
            <a:ext cx="8072120" cy="1137920"/>
          </a:xfrm>
          <a:prstGeom prst="rect">
            <a:avLst/>
          </a:prstGeom>
        </p:spPr>
        <p:txBody>
          <a:bodyPr vert="horz" wrap="square" lIns="0" tIns="12700" rIns="0" bIns="0" rtlCol="0">
            <a:spAutoFit/>
          </a:bodyPr>
          <a:lstStyle/>
          <a:p>
            <a:pPr marL="767080" indent="-285115">
              <a:lnSpc>
                <a:spcPct val="100000"/>
              </a:lnSpc>
              <a:spcBef>
                <a:spcPts val="100"/>
              </a:spcBef>
              <a:buSzPct val="66666"/>
              <a:buFont typeface="Wingdings"/>
              <a:buChar char=""/>
              <a:tabLst>
                <a:tab pos="767080" algn="l"/>
              </a:tabLst>
            </a:pPr>
            <a:r>
              <a:rPr sz="2400" dirty="0">
                <a:latin typeface="Times New Roman"/>
                <a:cs typeface="Times New Roman"/>
              </a:rPr>
              <a:t>Finding</a:t>
            </a:r>
            <a:r>
              <a:rPr sz="2400" spc="-10" dirty="0">
                <a:latin typeface="Times New Roman"/>
                <a:cs typeface="Times New Roman"/>
              </a:rPr>
              <a:t> </a:t>
            </a:r>
            <a:r>
              <a:rPr sz="2400" spc="-10" dirty="0">
                <a:latin typeface="Courier New"/>
                <a:cs typeface="Courier New"/>
              </a:rPr>
              <a:t>K</a:t>
            </a:r>
            <a:r>
              <a:rPr sz="2400" spc="-15" baseline="24305" dirty="0">
                <a:latin typeface="Courier New"/>
                <a:cs typeface="Courier New"/>
              </a:rPr>
              <a:t>-</a:t>
            </a:r>
            <a:r>
              <a:rPr sz="2400" baseline="24305" dirty="0">
                <a:latin typeface="Courier New"/>
                <a:cs typeface="Courier New"/>
              </a:rPr>
              <a:t>1</a:t>
            </a:r>
            <a:r>
              <a:rPr sz="2400" spc="705" baseline="24305" dirty="0">
                <a:latin typeface="Courier New"/>
                <a:cs typeface="Courier New"/>
              </a:rPr>
              <a:t> </a:t>
            </a:r>
            <a:r>
              <a:rPr sz="2400" dirty="0">
                <a:latin typeface="Courier New"/>
                <a:cs typeface="Courier New"/>
              </a:rPr>
              <a:t>mod</a:t>
            </a:r>
            <a:r>
              <a:rPr sz="2400" spc="-10" dirty="0">
                <a:latin typeface="Courier New"/>
                <a:cs typeface="Courier New"/>
              </a:rPr>
              <a:t> (q-</a:t>
            </a:r>
            <a:r>
              <a:rPr sz="2400" dirty="0">
                <a:latin typeface="Courier New"/>
                <a:cs typeface="Courier New"/>
              </a:rPr>
              <a:t>1)</a:t>
            </a:r>
            <a:r>
              <a:rPr sz="2400" spc="-10" dirty="0">
                <a:latin typeface="Courier New"/>
                <a:cs typeface="Courier New"/>
              </a:rPr>
              <a:t> </a:t>
            </a:r>
            <a:r>
              <a:rPr sz="2400" dirty="0">
                <a:latin typeface="Courier New"/>
                <a:cs typeface="Courier New"/>
              </a:rPr>
              <a:t>=</a:t>
            </a:r>
            <a:r>
              <a:rPr sz="2400" spc="-15" dirty="0">
                <a:latin typeface="Courier New"/>
                <a:cs typeface="Courier New"/>
              </a:rPr>
              <a:t> </a:t>
            </a:r>
            <a:r>
              <a:rPr sz="2400" spc="-20" dirty="0">
                <a:latin typeface="Courier New"/>
                <a:cs typeface="Courier New"/>
              </a:rPr>
              <a:t>5</a:t>
            </a:r>
            <a:r>
              <a:rPr sz="2400" spc="-30" baseline="24305" dirty="0">
                <a:latin typeface="Courier New"/>
                <a:cs typeface="Courier New"/>
              </a:rPr>
              <a:t>-</a:t>
            </a:r>
            <a:r>
              <a:rPr sz="2400" baseline="24305" dirty="0">
                <a:latin typeface="Courier New"/>
                <a:cs typeface="Courier New"/>
              </a:rPr>
              <a:t>1</a:t>
            </a:r>
            <a:r>
              <a:rPr sz="2400" spc="705" baseline="24305" dirty="0">
                <a:latin typeface="Courier New"/>
                <a:cs typeface="Courier New"/>
              </a:rPr>
              <a:t> </a:t>
            </a:r>
            <a:r>
              <a:rPr sz="2400" dirty="0">
                <a:latin typeface="Courier New"/>
                <a:cs typeface="Courier New"/>
              </a:rPr>
              <a:t>mod</a:t>
            </a:r>
            <a:r>
              <a:rPr sz="2400" spc="-15" dirty="0">
                <a:latin typeface="Courier New"/>
                <a:cs typeface="Courier New"/>
              </a:rPr>
              <a:t> </a:t>
            </a:r>
            <a:r>
              <a:rPr sz="2400" dirty="0">
                <a:latin typeface="Courier New"/>
                <a:cs typeface="Courier New"/>
              </a:rPr>
              <a:t>18</a:t>
            </a:r>
            <a:r>
              <a:rPr sz="2400" spc="-15" dirty="0">
                <a:latin typeface="Courier New"/>
                <a:cs typeface="Courier New"/>
              </a:rPr>
              <a:t> </a:t>
            </a:r>
            <a:r>
              <a:rPr sz="2400" dirty="0">
                <a:latin typeface="Courier New"/>
                <a:cs typeface="Courier New"/>
              </a:rPr>
              <a:t>=</a:t>
            </a:r>
            <a:r>
              <a:rPr sz="2400" spc="-15" dirty="0">
                <a:latin typeface="Courier New"/>
                <a:cs typeface="Courier New"/>
              </a:rPr>
              <a:t> </a:t>
            </a:r>
            <a:r>
              <a:rPr sz="2400" spc="-25" dirty="0">
                <a:latin typeface="Courier New"/>
                <a:cs typeface="Courier New"/>
              </a:rPr>
              <a:t>11</a:t>
            </a:r>
            <a:endParaRPr sz="2400" dirty="0">
              <a:latin typeface="Courier New"/>
              <a:cs typeface="Courier New"/>
            </a:endParaRPr>
          </a:p>
          <a:p>
            <a:pPr marL="767715" indent="-285115">
              <a:lnSpc>
                <a:spcPct val="100000"/>
              </a:lnSpc>
              <a:buSzPct val="66666"/>
              <a:buFont typeface="Wingdings"/>
              <a:buChar char=""/>
              <a:tabLst>
                <a:tab pos="767715" algn="l"/>
              </a:tabLst>
            </a:pPr>
            <a:r>
              <a:rPr sz="2400" dirty="0">
                <a:latin typeface="Times New Roman"/>
                <a:cs typeface="Times New Roman"/>
              </a:rPr>
              <a:t>Computing</a:t>
            </a:r>
            <a:r>
              <a:rPr sz="2400" spc="-15" dirty="0">
                <a:latin typeface="Times New Roman"/>
                <a:cs typeface="Times New Roman"/>
              </a:rPr>
              <a:t> </a:t>
            </a:r>
            <a:r>
              <a:rPr sz="2400" dirty="0">
                <a:latin typeface="Courier New"/>
                <a:cs typeface="Courier New"/>
              </a:rPr>
              <a:t>S</a:t>
            </a:r>
            <a:r>
              <a:rPr sz="2400" baseline="-20833" dirty="0">
                <a:latin typeface="Courier New"/>
                <a:cs typeface="Courier New"/>
              </a:rPr>
              <a:t>2</a:t>
            </a:r>
            <a:r>
              <a:rPr sz="2400" spc="705" baseline="-20833" dirty="0">
                <a:latin typeface="Courier New"/>
                <a:cs typeface="Courier New"/>
              </a:rPr>
              <a:t> </a:t>
            </a:r>
            <a:r>
              <a:rPr sz="2400" dirty="0">
                <a:latin typeface="Courier New"/>
                <a:cs typeface="Courier New"/>
              </a:rPr>
              <a:t>=</a:t>
            </a:r>
            <a:r>
              <a:rPr sz="2400" spc="-10" dirty="0">
                <a:latin typeface="Courier New"/>
                <a:cs typeface="Courier New"/>
              </a:rPr>
              <a:t> 11(14-</a:t>
            </a:r>
            <a:r>
              <a:rPr sz="2400" spc="60" dirty="0">
                <a:latin typeface="Courier New"/>
                <a:cs typeface="Courier New"/>
              </a:rPr>
              <a:t>16</a:t>
            </a:r>
            <a:r>
              <a:rPr sz="2400" spc="60" dirty="0">
                <a:latin typeface="Arial MT"/>
                <a:cs typeface="Arial MT"/>
              </a:rPr>
              <a:t>🞨</a:t>
            </a:r>
            <a:r>
              <a:rPr sz="2400" spc="60" dirty="0">
                <a:latin typeface="Courier New"/>
                <a:cs typeface="Courier New"/>
              </a:rPr>
              <a:t>3)</a:t>
            </a:r>
            <a:r>
              <a:rPr sz="2400" spc="-15" dirty="0">
                <a:latin typeface="Courier New"/>
                <a:cs typeface="Courier New"/>
              </a:rPr>
              <a:t> </a:t>
            </a:r>
            <a:r>
              <a:rPr sz="2400" dirty="0">
                <a:latin typeface="Courier New"/>
                <a:cs typeface="Courier New"/>
              </a:rPr>
              <a:t>mod</a:t>
            </a:r>
            <a:r>
              <a:rPr sz="2400" spc="-15" dirty="0">
                <a:latin typeface="Courier New"/>
                <a:cs typeface="Courier New"/>
              </a:rPr>
              <a:t> </a:t>
            </a:r>
            <a:r>
              <a:rPr sz="2400" dirty="0">
                <a:latin typeface="Courier New"/>
                <a:cs typeface="Courier New"/>
              </a:rPr>
              <a:t>18</a:t>
            </a:r>
            <a:r>
              <a:rPr sz="2400" spc="-15" dirty="0">
                <a:latin typeface="Courier New"/>
                <a:cs typeface="Courier New"/>
              </a:rPr>
              <a:t> </a:t>
            </a:r>
            <a:r>
              <a:rPr sz="2400" dirty="0">
                <a:latin typeface="Courier New"/>
                <a:cs typeface="Courier New"/>
              </a:rPr>
              <a:t>=</a:t>
            </a:r>
            <a:r>
              <a:rPr sz="2400" spc="-15" dirty="0">
                <a:latin typeface="Courier New"/>
                <a:cs typeface="Courier New"/>
              </a:rPr>
              <a:t> </a:t>
            </a:r>
            <a:r>
              <a:rPr sz="2400" spc="-50" dirty="0">
                <a:latin typeface="Courier New"/>
                <a:cs typeface="Courier New"/>
              </a:rPr>
              <a:t>4</a:t>
            </a:r>
            <a:endParaRPr sz="2400" dirty="0">
              <a:latin typeface="Courier New"/>
              <a:cs typeface="Courier New"/>
            </a:endParaRPr>
          </a:p>
          <a:p>
            <a:pPr marL="367665" indent="-342265">
              <a:lnSpc>
                <a:spcPct val="100000"/>
              </a:lnSpc>
              <a:spcBef>
                <a:spcPts val="120"/>
              </a:spcBef>
              <a:buClr>
                <a:srgbClr val="063DE8"/>
              </a:buClr>
              <a:buSzPct val="75000"/>
              <a:buFont typeface="Wingdings"/>
              <a:buChar char=""/>
              <a:tabLst>
                <a:tab pos="367665" algn="l"/>
              </a:tabLst>
            </a:pPr>
            <a:r>
              <a:rPr sz="2400" dirty="0">
                <a:latin typeface="Times New Roman"/>
                <a:cs typeface="Times New Roman"/>
              </a:rPr>
              <a:t>Any</a:t>
            </a:r>
            <a:r>
              <a:rPr sz="2400" spc="-30" dirty="0">
                <a:latin typeface="Times New Roman"/>
                <a:cs typeface="Times New Roman"/>
              </a:rPr>
              <a:t> </a:t>
            </a:r>
            <a:r>
              <a:rPr sz="2400" dirty="0">
                <a:latin typeface="Times New Roman"/>
                <a:cs typeface="Times New Roman"/>
              </a:rPr>
              <a:t>user</a:t>
            </a:r>
            <a:r>
              <a:rPr sz="2400" spc="-30" dirty="0">
                <a:latin typeface="Times New Roman"/>
                <a:cs typeface="Times New Roman"/>
              </a:rPr>
              <a:t> </a:t>
            </a:r>
            <a:r>
              <a:rPr sz="2400" dirty="0">
                <a:latin typeface="Times New Roman"/>
                <a:cs typeface="Times New Roman"/>
              </a:rPr>
              <a:t>B</a:t>
            </a:r>
            <a:r>
              <a:rPr sz="2400" spc="-30"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verify</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signature</a:t>
            </a:r>
            <a:r>
              <a:rPr sz="2400" spc="-30" dirty="0">
                <a:latin typeface="Times New Roman"/>
                <a:cs typeface="Times New Roman"/>
              </a:rPr>
              <a:t> </a:t>
            </a:r>
            <a:r>
              <a:rPr sz="2400" dirty="0">
                <a:latin typeface="Times New Roman"/>
                <a:cs typeface="Times New Roman"/>
              </a:rPr>
              <a:t>by</a:t>
            </a:r>
            <a:r>
              <a:rPr sz="2400" spc="-30" dirty="0">
                <a:latin typeface="Times New Roman"/>
                <a:cs typeface="Times New Roman"/>
              </a:rPr>
              <a:t> </a:t>
            </a:r>
            <a:r>
              <a:rPr sz="2400" spc="-10" dirty="0">
                <a:latin typeface="Times New Roman"/>
                <a:cs typeface="Times New Roman"/>
              </a:rPr>
              <a:t>computing</a:t>
            </a:r>
            <a:endParaRPr sz="2400" dirty="0">
              <a:latin typeface="Times New Roman"/>
              <a:cs typeface="Times New Roman"/>
            </a:endParaRPr>
          </a:p>
        </p:txBody>
      </p:sp>
      <p:sp>
        <p:nvSpPr>
          <p:cNvPr id="10" name="object 10"/>
          <p:cNvSpPr txBox="1"/>
          <p:nvPr/>
        </p:nvSpPr>
        <p:spPr>
          <a:xfrm>
            <a:off x="1400810" y="4679696"/>
            <a:ext cx="147955"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ourier New"/>
                <a:cs typeface="Courier New"/>
              </a:rPr>
              <a:t>1</a:t>
            </a:r>
            <a:endParaRPr sz="1600">
              <a:latin typeface="Courier New"/>
              <a:cs typeface="Courier New"/>
            </a:endParaRPr>
          </a:p>
        </p:txBody>
      </p:sp>
      <p:sp>
        <p:nvSpPr>
          <p:cNvPr id="11" name="object 11"/>
          <p:cNvSpPr txBox="1"/>
          <p:nvPr/>
        </p:nvSpPr>
        <p:spPr>
          <a:xfrm>
            <a:off x="915489" y="4487829"/>
            <a:ext cx="5417820" cy="391160"/>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Lst>
            </a:pPr>
            <a:r>
              <a:rPr sz="2400" dirty="0">
                <a:latin typeface="Courier New"/>
                <a:cs typeface="Courier New"/>
              </a:rPr>
              <a:t>V</a:t>
            </a:r>
            <a:r>
              <a:rPr sz="2400" spc="459" dirty="0">
                <a:latin typeface="Courier New"/>
                <a:cs typeface="Courier New"/>
              </a:rPr>
              <a:t> </a:t>
            </a:r>
            <a:r>
              <a:rPr sz="2400" dirty="0">
                <a:latin typeface="Courier New"/>
                <a:cs typeface="Courier New"/>
              </a:rPr>
              <a:t>=</a:t>
            </a:r>
            <a:r>
              <a:rPr sz="2400" spc="-15" dirty="0">
                <a:latin typeface="Courier New"/>
                <a:cs typeface="Courier New"/>
              </a:rPr>
              <a:t> </a:t>
            </a:r>
            <a:r>
              <a:rPr sz="2400" dirty="0">
                <a:latin typeface="Times New Roman"/>
                <a:cs typeface="Times New Roman"/>
              </a:rPr>
              <a:t>a</a:t>
            </a:r>
            <a:r>
              <a:rPr sz="2400" baseline="24305" dirty="0">
                <a:latin typeface="Times New Roman"/>
                <a:cs typeface="Times New Roman"/>
              </a:rPr>
              <a:t>m</a:t>
            </a:r>
            <a:r>
              <a:rPr sz="2400" spc="284" baseline="24305" dirty="0">
                <a:latin typeface="Times New Roman"/>
                <a:cs typeface="Times New Roman"/>
              </a:rPr>
              <a:t> </a:t>
            </a:r>
            <a:r>
              <a:rPr sz="2400" dirty="0">
                <a:latin typeface="Times New Roman"/>
                <a:cs typeface="Times New Roman"/>
              </a:rPr>
              <a:t>mod</a:t>
            </a:r>
            <a:r>
              <a:rPr sz="2400" spc="-10" dirty="0">
                <a:latin typeface="Times New Roman"/>
                <a:cs typeface="Times New Roman"/>
              </a:rPr>
              <a:t> </a:t>
            </a:r>
            <a:r>
              <a:rPr sz="2400" dirty="0">
                <a:latin typeface="Times New Roman"/>
                <a:cs typeface="Times New Roman"/>
              </a:rPr>
              <a:t>q</a:t>
            </a:r>
            <a:r>
              <a:rPr sz="2400" spc="-10"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Courier New"/>
                <a:cs typeface="Courier New"/>
              </a:rPr>
              <a:t>10</a:t>
            </a:r>
            <a:r>
              <a:rPr sz="2400" baseline="48611" dirty="0">
                <a:latin typeface="Courier New"/>
                <a:cs typeface="Courier New"/>
              </a:rPr>
              <a:t>14</a:t>
            </a:r>
            <a:r>
              <a:rPr sz="2400" spc="697" baseline="48611" dirty="0">
                <a:latin typeface="Courier New"/>
                <a:cs typeface="Courier New"/>
              </a:rPr>
              <a:t> </a:t>
            </a:r>
            <a:r>
              <a:rPr sz="2400" dirty="0">
                <a:latin typeface="Courier New"/>
                <a:cs typeface="Courier New"/>
              </a:rPr>
              <a:t>mod</a:t>
            </a:r>
            <a:r>
              <a:rPr sz="2400" spc="-20" dirty="0">
                <a:latin typeface="Courier New"/>
                <a:cs typeface="Courier New"/>
              </a:rPr>
              <a:t> </a:t>
            </a:r>
            <a:r>
              <a:rPr sz="2400" dirty="0">
                <a:latin typeface="Courier New"/>
                <a:cs typeface="Courier New"/>
              </a:rPr>
              <a:t>19</a:t>
            </a:r>
            <a:r>
              <a:rPr sz="2400" spc="-20" dirty="0">
                <a:latin typeface="Courier New"/>
                <a:cs typeface="Courier New"/>
              </a:rPr>
              <a:t> </a:t>
            </a:r>
            <a:r>
              <a:rPr sz="2400" dirty="0">
                <a:latin typeface="Courier New"/>
                <a:cs typeface="Courier New"/>
              </a:rPr>
              <a:t>=</a:t>
            </a:r>
            <a:r>
              <a:rPr sz="2400" spc="-20" dirty="0">
                <a:latin typeface="Courier New"/>
                <a:cs typeface="Courier New"/>
              </a:rPr>
              <a:t> </a:t>
            </a:r>
            <a:r>
              <a:rPr sz="2400" spc="-25" dirty="0">
                <a:latin typeface="Courier New"/>
                <a:cs typeface="Courier New"/>
              </a:rPr>
              <a:t>16</a:t>
            </a:r>
            <a:endParaRPr sz="2400" dirty="0">
              <a:latin typeface="Courier New"/>
              <a:cs typeface="Courier New"/>
            </a:endParaRPr>
          </a:p>
        </p:txBody>
      </p:sp>
      <p:sp>
        <p:nvSpPr>
          <p:cNvPr id="12" name="object 12"/>
          <p:cNvSpPr txBox="1"/>
          <p:nvPr/>
        </p:nvSpPr>
        <p:spPr>
          <a:xfrm>
            <a:off x="2010410" y="5044694"/>
            <a:ext cx="696595" cy="269875"/>
          </a:xfrm>
          <a:prstGeom prst="rect">
            <a:avLst/>
          </a:prstGeom>
        </p:spPr>
        <p:txBody>
          <a:bodyPr vert="horz" wrap="square" lIns="0" tIns="12700" rIns="0" bIns="0" rtlCol="0">
            <a:spAutoFit/>
          </a:bodyPr>
          <a:lstStyle/>
          <a:p>
            <a:pPr marL="12700">
              <a:lnSpc>
                <a:spcPct val="100000"/>
              </a:lnSpc>
              <a:spcBef>
                <a:spcPts val="100"/>
              </a:spcBef>
              <a:tabLst>
                <a:tab pos="560705" algn="l"/>
              </a:tabLst>
            </a:pPr>
            <a:r>
              <a:rPr sz="1600" spc="-50" dirty="0">
                <a:latin typeface="Courier New"/>
                <a:cs typeface="Courier New"/>
              </a:rPr>
              <a:t>A</a:t>
            </a:r>
            <a:r>
              <a:rPr sz="1600" dirty="0">
                <a:latin typeface="Courier New"/>
                <a:cs typeface="Courier New"/>
              </a:rPr>
              <a:t>	</a:t>
            </a:r>
            <a:r>
              <a:rPr sz="1600" spc="-50" dirty="0">
                <a:latin typeface="Courier New"/>
                <a:cs typeface="Courier New"/>
              </a:rPr>
              <a:t>1</a:t>
            </a:r>
            <a:endParaRPr sz="1600">
              <a:latin typeface="Courier New"/>
              <a:cs typeface="Courier New"/>
            </a:endParaRPr>
          </a:p>
        </p:txBody>
      </p:sp>
      <p:sp>
        <p:nvSpPr>
          <p:cNvPr id="13" name="object 13"/>
          <p:cNvSpPr txBox="1"/>
          <p:nvPr/>
        </p:nvSpPr>
        <p:spPr>
          <a:xfrm>
            <a:off x="906780" y="4867147"/>
            <a:ext cx="4579620" cy="382156"/>
          </a:xfrm>
          <a:prstGeom prst="rect">
            <a:avLst/>
          </a:prstGeom>
        </p:spPr>
        <p:txBody>
          <a:bodyPr vert="horz" wrap="square" lIns="0" tIns="12700" rIns="0" bIns="0" rtlCol="0">
            <a:spAutoFit/>
          </a:bodyPr>
          <a:lstStyle/>
          <a:p>
            <a:pPr marL="323215" indent="-285115">
              <a:lnSpc>
                <a:spcPct val="100000"/>
              </a:lnSpc>
              <a:spcBef>
                <a:spcPts val="100"/>
              </a:spcBef>
              <a:buSzPct val="66666"/>
              <a:buFont typeface="Wingdings"/>
              <a:buChar char=""/>
              <a:tabLst>
                <a:tab pos="323215" algn="l"/>
              </a:tabLst>
            </a:pPr>
            <a:r>
              <a:rPr sz="2400" dirty="0">
                <a:latin typeface="Courier New"/>
                <a:cs typeface="Courier New"/>
              </a:rPr>
              <a:t>V</a:t>
            </a:r>
            <a:r>
              <a:rPr sz="2400" baseline="-20833" dirty="0">
                <a:latin typeface="Courier New"/>
                <a:cs typeface="Courier New"/>
              </a:rPr>
              <a:t>2</a:t>
            </a:r>
            <a:r>
              <a:rPr sz="2400" spc="-52" baseline="-20833" dirty="0">
                <a:latin typeface="Courier New"/>
                <a:cs typeface="Courier New"/>
              </a:rPr>
              <a:t> </a:t>
            </a:r>
            <a:r>
              <a:rPr sz="2400" spc="-10" dirty="0">
                <a:latin typeface="Courier New"/>
                <a:cs typeface="Courier New"/>
              </a:rPr>
              <a:t>=y</a:t>
            </a:r>
            <a:r>
              <a:rPr sz="2400" spc="-484" dirty="0">
                <a:latin typeface="Courier New"/>
                <a:cs typeface="Courier New"/>
              </a:rPr>
              <a:t> </a:t>
            </a:r>
            <a:r>
              <a:rPr sz="2400" spc="-15" baseline="24305" dirty="0">
                <a:latin typeface="Courier New"/>
                <a:cs typeface="Courier New"/>
              </a:rPr>
              <a:t>S1</a:t>
            </a:r>
            <a:r>
              <a:rPr sz="2400" spc="-10" dirty="0">
                <a:latin typeface="Courier New"/>
                <a:cs typeface="Courier New"/>
              </a:rPr>
              <a:t>S</a:t>
            </a:r>
            <a:r>
              <a:rPr sz="2400" spc="-484" dirty="0">
                <a:latin typeface="Courier New"/>
                <a:cs typeface="Courier New"/>
              </a:rPr>
              <a:t> </a:t>
            </a:r>
            <a:r>
              <a:rPr sz="2400" baseline="24305" dirty="0">
                <a:latin typeface="Courier New"/>
                <a:cs typeface="Courier New"/>
              </a:rPr>
              <a:t>S2</a:t>
            </a:r>
            <a:r>
              <a:rPr sz="2400" dirty="0">
                <a:latin typeface="Courier New"/>
                <a:cs typeface="Courier New"/>
              </a:rPr>
              <a:t>mod</a:t>
            </a:r>
            <a:r>
              <a:rPr sz="2400" spc="-10" dirty="0">
                <a:latin typeface="Courier New"/>
                <a:cs typeface="Courier New"/>
              </a:rPr>
              <a:t>q=4</a:t>
            </a:r>
            <a:r>
              <a:rPr sz="2400" spc="-15" baseline="24305" dirty="0">
                <a:latin typeface="Courier New"/>
                <a:cs typeface="Courier New"/>
              </a:rPr>
              <a:t>3</a:t>
            </a:r>
            <a:r>
              <a:rPr sz="2400" spc="-10" dirty="0">
                <a:latin typeface="Courier New"/>
                <a:cs typeface="Courier New"/>
              </a:rPr>
              <a:t>3</a:t>
            </a:r>
            <a:r>
              <a:rPr sz="2400" spc="-15" baseline="24305" dirty="0">
                <a:latin typeface="Courier New"/>
                <a:cs typeface="Courier New"/>
              </a:rPr>
              <a:t>4</a:t>
            </a:r>
            <a:r>
              <a:rPr lang="en-IN" sz="2400" spc="-15" baseline="24305" dirty="0">
                <a:latin typeface="Courier New"/>
                <a:cs typeface="Courier New"/>
              </a:rPr>
              <a:t> mod 19 </a:t>
            </a:r>
            <a:endParaRPr sz="2400" baseline="24305" dirty="0">
              <a:latin typeface="Courier New"/>
              <a:cs typeface="Courier New"/>
            </a:endParaRPr>
          </a:p>
        </p:txBody>
      </p:sp>
      <p:sp>
        <p:nvSpPr>
          <p:cNvPr id="14" name="object 14"/>
          <p:cNvSpPr txBox="1"/>
          <p:nvPr/>
        </p:nvSpPr>
        <p:spPr>
          <a:xfrm>
            <a:off x="5390514" y="4867147"/>
            <a:ext cx="3448685"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Courier New"/>
                <a:cs typeface="Courier New"/>
              </a:rPr>
              <a:t>=</a:t>
            </a:r>
            <a:r>
              <a:rPr sz="2400" spc="-20" dirty="0">
                <a:latin typeface="Courier New"/>
                <a:cs typeface="Courier New"/>
              </a:rPr>
              <a:t> </a:t>
            </a:r>
            <a:r>
              <a:rPr sz="2400" dirty="0">
                <a:latin typeface="Courier New"/>
                <a:cs typeface="Courier New"/>
              </a:rPr>
              <a:t>5184</a:t>
            </a:r>
            <a:r>
              <a:rPr sz="2400" spc="-15" dirty="0">
                <a:latin typeface="Courier New"/>
                <a:cs typeface="Courier New"/>
              </a:rPr>
              <a:t> </a:t>
            </a:r>
            <a:r>
              <a:rPr sz="2400" dirty="0">
                <a:latin typeface="Courier New"/>
                <a:cs typeface="Courier New"/>
              </a:rPr>
              <a:t>mod</a:t>
            </a:r>
            <a:r>
              <a:rPr sz="2400" spc="-15" dirty="0">
                <a:latin typeface="Courier New"/>
                <a:cs typeface="Courier New"/>
              </a:rPr>
              <a:t> </a:t>
            </a:r>
            <a:r>
              <a:rPr sz="2400" dirty="0">
                <a:latin typeface="Courier New"/>
                <a:cs typeface="Courier New"/>
              </a:rPr>
              <a:t>19</a:t>
            </a:r>
            <a:r>
              <a:rPr sz="2400" spc="-15" dirty="0">
                <a:latin typeface="Courier New"/>
                <a:cs typeface="Courier New"/>
              </a:rPr>
              <a:t> </a:t>
            </a:r>
            <a:r>
              <a:rPr sz="2400" dirty="0">
                <a:latin typeface="Courier New"/>
                <a:cs typeface="Courier New"/>
              </a:rPr>
              <a:t>=</a:t>
            </a:r>
            <a:r>
              <a:rPr sz="2400" spc="-15" dirty="0">
                <a:latin typeface="Courier New"/>
                <a:cs typeface="Courier New"/>
              </a:rPr>
              <a:t> </a:t>
            </a:r>
            <a:r>
              <a:rPr sz="2400" spc="-25" dirty="0">
                <a:latin typeface="Courier New"/>
                <a:cs typeface="Courier New"/>
              </a:rPr>
              <a:t>16</a:t>
            </a:r>
            <a:endParaRPr sz="2400" dirty="0">
              <a:latin typeface="Courier New"/>
              <a:cs typeface="Courier New"/>
            </a:endParaRPr>
          </a:p>
        </p:txBody>
      </p:sp>
      <p:sp>
        <p:nvSpPr>
          <p:cNvPr id="15" name="object 15"/>
          <p:cNvSpPr txBox="1"/>
          <p:nvPr/>
        </p:nvSpPr>
        <p:spPr>
          <a:xfrm>
            <a:off x="906780" y="5592982"/>
            <a:ext cx="4483735" cy="391160"/>
          </a:xfrm>
          <a:prstGeom prst="rect">
            <a:avLst/>
          </a:prstGeom>
        </p:spPr>
        <p:txBody>
          <a:bodyPr vert="horz" wrap="square" lIns="0" tIns="12700" rIns="0" bIns="0" rtlCol="0">
            <a:spAutoFit/>
          </a:bodyPr>
          <a:lstStyle/>
          <a:p>
            <a:pPr marL="297815" indent="-285115">
              <a:lnSpc>
                <a:spcPct val="100000"/>
              </a:lnSpc>
              <a:spcBef>
                <a:spcPts val="100"/>
              </a:spcBef>
              <a:buSzPct val="66666"/>
              <a:buFont typeface="Wingdings"/>
              <a:buChar char=""/>
              <a:tabLst>
                <a:tab pos="297815" algn="l"/>
              </a:tabLst>
            </a:pPr>
            <a:r>
              <a:rPr sz="2400" dirty="0">
                <a:latin typeface="Times New Roman"/>
                <a:cs typeface="Times New Roman"/>
              </a:rPr>
              <a:t>Since</a:t>
            </a:r>
            <a:r>
              <a:rPr sz="2400" spc="-20" dirty="0">
                <a:latin typeface="Times New Roman"/>
                <a:cs typeface="Times New Roman"/>
              </a:rPr>
              <a:t> </a:t>
            </a:r>
            <a:r>
              <a:rPr sz="2400" spc="-10" dirty="0">
                <a:latin typeface="Courier New"/>
                <a:cs typeface="Courier New"/>
              </a:rPr>
              <a:t>16</a:t>
            </a:r>
            <a:r>
              <a:rPr sz="2400" spc="-484" dirty="0">
                <a:latin typeface="Courier New"/>
                <a:cs typeface="Courier New"/>
              </a:rPr>
              <a:t> </a:t>
            </a:r>
            <a:r>
              <a:rPr sz="2400" dirty="0">
                <a:latin typeface="Courier New"/>
                <a:cs typeface="Courier New"/>
              </a:rPr>
              <a:t>=</a:t>
            </a:r>
            <a:r>
              <a:rPr sz="2400" spc="-10" dirty="0">
                <a:latin typeface="Courier New"/>
                <a:cs typeface="Courier New"/>
              </a:rPr>
              <a:t> 16</a:t>
            </a:r>
            <a:r>
              <a:rPr sz="2400" spc="-490" dirty="0">
                <a:latin typeface="Courier New"/>
                <a:cs typeface="Courier New"/>
              </a:rPr>
              <a:t> </a:t>
            </a:r>
            <a:r>
              <a:rPr sz="2400" dirty="0">
                <a:latin typeface="Times New Roman"/>
                <a:cs typeface="Times New Roman"/>
              </a:rPr>
              <a:t>signature</a:t>
            </a:r>
            <a:r>
              <a:rPr sz="2400" spc="-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spc="-10" dirty="0">
                <a:latin typeface="Times New Roman"/>
                <a:cs typeface="Times New Roman"/>
              </a:rPr>
              <a:t>valid</a:t>
            </a:r>
            <a:endParaRPr sz="24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07010">
              <a:lnSpc>
                <a:spcPct val="100000"/>
              </a:lnSpc>
              <a:spcBef>
                <a:spcPts val="95"/>
              </a:spcBef>
            </a:pPr>
            <a:r>
              <a:rPr sz="3200" dirty="0"/>
              <a:t>Digital</a:t>
            </a:r>
            <a:r>
              <a:rPr sz="3200" spc="-30" dirty="0"/>
              <a:t> </a:t>
            </a:r>
            <a:r>
              <a:rPr sz="3200" dirty="0"/>
              <a:t>Signature</a:t>
            </a:r>
            <a:r>
              <a:rPr sz="3200" spc="-10" dirty="0"/>
              <a:t> </a:t>
            </a:r>
            <a:r>
              <a:rPr sz="3200" dirty="0"/>
              <a:t>Standard</a:t>
            </a:r>
            <a:r>
              <a:rPr sz="3200" spc="-15" dirty="0"/>
              <a:t> </a:t>
            </a:r>
            <a:r>
              <a:rPr sz="3200" spc="-10" dirty="0"/>
              <a:t>(DSS)</a:t>
            </a:r>
            <a:endParaRPr sz="3200"/>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8977" y="1253744"/>
            <a:ext cx="7760970" cy="3567429"/>
          </a:xfrm>
          <a:prstGeom prst="rect">
            <a:avLst/>
          </a:prstGeom>
        </p:spPr>
        <p:txBody>
          <a:bodyPr vert="horz" wrap="square" lIns="0" tIns="48260" rIns="0" bIns="0" rtlCol="0">
            <a:spAutoFit/>
          </a:bodyPr>
          <a:lstStyle/>
          <a:p>
            <a:pPr marL="354965" indent="-342265">
              <a:lnSpc>
                <a:spcPct val="100000"/>
              </a:lnSpc>
              <a:spcBef>
                <a:spcPts val="380"/>
              </a:spcBef>
              <a:buClr>
                <a:srgbClr val="063DE8"/>
              </a:buClr>
              <a:buSzPct val="75000"/>
              <a:buFont typeface="Wingdings"/>
              <a:buChar char=""/>
              <a:tabLst>
                <a:tab pos="354965" algn="l"/>
              </a:tabLst>
            </a:pPr>
            <a:r>
              <a:rPr sz="2400" dirty="0">
                <a:latin typeface="Times New Roman"/>
                <a:cs typeface="Times New Roman"/>
              </a:rPr>
              <a:t>US</a:t>
            </a:r>
            <a:r>
              <a:rPr sz="2400" spc="-40" dirty="0">
                <a:latin typeface="Times New Roman"/>
                <a:cs typeface="Times New Roman"/>
              </a:rPr>
              <a:t> </a:t>
            </a:r>
            <a:r>
              <a:rPr sz="2400" dirty="0">
                <a:latin typeface="Times New Roman"/>
                <a:cs typeface="Times New Roman"/>
              </a:rPr>
              <a:t>Govt</a:t>
            </a:r>
            <a:r>
              <a:rPr sz="2400" spc="-35" dirty="0">
                <a:latin typeface="Times New Roman"/>
                <a:cs typeface="Times New Roman"/>
              </a:rPr>
              <a:t> </a:t>
            </a:r>
            <a:r>
              <a:rPr sz="2400" dirty="0">
                <a:latin typeface="Times New Roman"/>
                <a:cs typeface="Times New Roman"/>
              </a:rPr>
              <a:t>approved</a:t>
            </a:r>
            <a:r>
              <a:rPr sz="2400" spc="-35" dirty="0">
                <a:latin typeface="Times New Roman"/>
                <a:cs typeface="Times New Roman"/>
              </a:rPr>
              <a:t> </a:t>
            </a:r>
            <a:r>
              <a:rPr sz="2400" dirty="0">
                <a:latin typeface="Times New Roman"/>
                <a:cs typeface="Times New Roman"/>
              </a:rPr>
              <a:t>signature</a:t>
            </a:r>
            <a:r>
              <a:rPr sz="2400" spc="-40" dirty="0">
                <a:latin typeface="Times New Roman"/>
                <a:cs typeface="Times New Roman"/>
              </a:rPr>
              <a:t> </a:t>
            </a:r>
            <a:r>
              <a:rPr sz="2400" spc="-10" dirty="0">
                <a:latin typeface="Times New Roman"/>
                <a:cs typeface="Times New Roman"/>
              </a:rPr>
              <a:t>scheme</a:t>
            </a:r>
            <a:endParaRPr sz="2400">
              <a:latin typeface="Times New Roman"/>
              <a:cs typeface="Times New Roman"/>
            </a:endParaRPr>
          </a:p>
          <a:p>
            <a:pPr marL="354965" indent="-342265">
              <a:lnSpc>
                <a:spcPct val="100000"/>
              </a:lnSpc>
              <a:spcBef>
                <a:spcPts val="280"/>
              </a:spcBef>
              <a:buClr>
                <a:srgbClr val="063DE8"/>
              </a:buClr>
              <a:buSzPct val="75000"/>
              <a:buFont typeface="Wingdings"/>
              <a:buChar char=""/>
              <a:tabLst>
                <a:tab pos="354965" algn="l"/>
              </a:tabLst>
            </a:pPr>
            <a:r>
              <a:rPr sz="2400" dirty="0">
                <a:latin typeface="Times New Roman"/>
                <a:cs typeface="Times New Roman"/>
              </a:rPr>
              <a:t>Designed</a:t>
            </a:r>
            <a:r>
              <a:rPr sz="2400" spc="-20" dirty="0">
                <a:latin typeface="Times New Roman"/>
                <a:cs typeface="Times New Roman"/>
              </a:rPr>
              <a:t> </a:t>
            </a:r>
            <a:r>
              <a:rPr sz="2400" dirty="0">
                <a:latin typeface="Times New Roman"/>
                <a:cs typeface="Times New Roman"/>
              </a:rPr>
              <a:t>by</a:t>
            </a:r>
            <a:r>
              <a:rPr sz="2400" spc="-20" dirty="0">
                <a:latin typeface="Times New Roman"/>
                <a:cs typeface="Times New Roman"/>
              </a:rPr>
              <a:t> </a:t>
            </a:r>
            <a:r>
              <a:rPr sz="2400" dirty="0">
                <a:latin typeface="Times New Roman"/>
                <a:cs typeface="Times New Roman"/>
              </a:rPr>
              <a:t>NIST</a:t>
            </a:r>
            <a:r>
              <a:rPr sz="2400" spc="-20" dirty="0">
                <a:latin typeface="Times New Roman"/>
                <a:cs typeface="Times New Roman"/>
              </a:rPr>
              <a:t> </a:t>
            </a:r>
            <a:r>
              <a:rPr sz="2400" dirty="0">
                <a:latin typeface="Times New Roman"/>
                <a:cs typeface="Times New Roman"/>
              </a:rPr>
              <a:t>&amp;</a:t>
            </a:r>
            <a:r>
              <a:rPr sz="2400" spc="-20" dirty="0">
                <a:latin typeface="Times New Roman"/>
                <a:cs typeface="Times New Roman"/>
              </a:rPr>
              <a:t> </a:t>
            </a:r>
            <a:r>
              <a:rPr sz="2400" dirty="0">
                <a:latin typeface="Times New Roman"/>
                <a:cs typeface="Times New Roman"/>
              </a:rPr>
              <a:t>NSA</a:t>
            </a:r>
            <a:r>
              <a:rPr sz="2400" spc="-2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early</a:t>
            </a:r>
            <a:r>
              <a:rPr sz="2400" spc="-20" dirty="0">
                <a:latin typeface="Times New Roman"/>
                <a:cs typeface="Times New Roman"/>
              </a:rPr>
              <a:t> 90's</a:t>
            </a:r>
            <a:endParaRPr sz="2400">
              <a:latin typeface="Times New Roman"/>
              <a:cs typeface="Times New Roman"/>
            </a:endParaRPr>
          </a:p>
          <a:p>
            <a:pPr marL="354965" indent="-342265">
              <a:lnSpc>
                <a:spcPct val="100000"/>
              </a:lnSpc>
              <a:spcBef>
                <a:spcPts val="285"/>
              </a:spcBef>
              <a:buClr>
                <a:srgbClr val="063DE8"/>
              </a:buClr>
              <a:buSzPct val="75000"/>
              <a:buFont typeface="Wingdings"/>
              <a:buChar char=""/>
              <a:tabLst>
                <a:tab pos="354965" algn="l"/>
              </a:tabLst>
            </a:pPr>
            <a:r>
              <a:rPr sz="2400" dirty="0">
                <a:latin typeface="Times New Roman"/>
                <a:cs typeface="Times New Roman"/>
              </a:rPr>
              <a:t>Published</a:t>
            </a:r>
            <a:r>
              <a:rPr sz="2400" spc="-10"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spc="-20" dirty="0">
                <a:latin typeface="Times New Roman"/>
                <a:cs typeface="Times New Roman"/>
              </a:rPr>
              <a:t>FIPS-</a:t>
            </a:r>
            <a:r>
              <a:rPr sz="2400" dirty="0">
                <a:latin typeface="Times New Roman"/>
                <a:cs typeface="Times New Roman"/>
              </a:rPr>
              <a:t>186</a:t>
            </a:r>
            <a:r>
              <a:rPr sz="2400" spc="-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spc="-20" dirty="0">
                <a:latin typeface="Times New Roman"/>
                <a:cs typeface="Times New Roman"/>
              </a:rPr>
              <a:t>1991</a:t>
            </a:r>
            <a:endParaRPr sz="2400">
              <a:latin typeface="Times New Roman"/>
              <a:cs typeface="Times New Roman"/>
            </a:endParaRPr>
          </a:p>
          <a:p>
            <a:pPr marL="354965" indent="-342265">
              <a:lnSpc>
                <a:spcPct val="100000"/>
              </a:lnSpc>
              <a:spcBef>
                <a:spcPts val="280"/>
              </a:spcBef>
              <a:buClr>
                <a:srgbClr val="063DE8"/>
              </a:buClr>
              <a:buSzPct val="75000"/>
              <a:buFont typeface="Wingdings"/>
              <a:buChar char=""/>
              <a:tabLst>
                <a:tab pos="354965" algn="l"/>
              </a:tabLst>
            </a:pPr>
            <a:r>
              <a:rPr sz="2400" dirty="0">
                <a:latin typeface="Times New Roman"/>
                <a:cs typeface="Times New Roman"/>
              </a:rPr>
              <a:t>Revised</a:t>
            </a:r>
            <a:r>
              <a:rPr sz="2400" spc="-3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1993,</a:t>
            </a:r>
            <a:r>
              <a:rPr sz="2400" spc="-20" dirty="0">
                <a:latin typeface="Times New Roman"/>
                <a:cs typeface="Times New Roman"/>
              </a:rPr>
              <a:t> </a:t>
            </a:r>
            <a:r>
              <a:rPr sz="2400" dirty="0">
                <a:latin typeface="Times New Roman"/>
                <a:cs typeface="Times New Roman"/>
              </a:rPr>
              <a:t>1996</a:t>
            </a:r>
            <a:r>
              <a:rPr sz="2400" spc="-20" dirty="0">
                <a:latin typeface="Times New Roman"/>
                <a:cs typeface="Times New Roman"/>
              </a:rPr>
              <a:t> </a:t>
            </a:r>
            <a:r>
              <a:rPr sz="2400" dirty="0">
                <a:latin typeface="Times New Roman"/>
                <a:cs typeface="Times New Roman"/>
              </a:rPr>
              <a:t>&amp;</a:t>
            </a:r>
            <a:r>
              <a:rPr sz="2400" spc="-20" dirty="0">
                <a:latin typeface="Times New Roman"/>
                <a:cs typeface="Times New Roman"/>
              </a:rPr>
              <a:t> </a:t>
            </a:r>
            <a:r>
              <a:rPr sz="2400" dirty="0">
                <a:latin typeface="Times New Roman"/>
                <a:cs typeface="Times New Roman"/>
              </a:rPr>
              <a:t>then</a:t>
            </a:r>
            <a:r>
              <a:rPr sz="2400" spc="-15" dirty="0">
                <a:latin typeface="Times New Roman"/>
                <a:cs typeface="Times New Roman"/>
              </a:rPr>
              <a:t> </a:t>
            </a:r>
            <a:r>
              <a:rPr sz="2400" spc="-20" dirty="0">
                <a:latin typeface="Times New Roman"/>
                <a:cs typeface="Times New Roman"/>
              </a:rPr>
              <a:t>2000</a:t>
            </a:r>
            <a:endParaRPr sz="2400">
              <a:latin typeface="Times New Roman"/>
              <a:cs typeface="Times New Roman"/>
            </a:endParaRPr>
          </a:p>
          <a:p>
            <a:pPr marL="354965" indent="-342265">
              <a:lnSpc>
                <a:spcPct val="100000"/>
              </a:lnSpc>
              <a:spcBef>
                <a:spcPts val="284"/>
              </a:spcBef>
              <a:buClr>
                <a:srgbClr val="063DE8"/>
              </a:buClr>
              <a:buSzPct val="75000"/>
              <a:buFont typeface="Wingdings"/>
              <a:buChar char=""/>
              <a:tabLst>
                <a:tab pos="354965" algn="l"/>
              </a:tabLst>
            </a:pPr>
            <a:r>
              <a:rPr sz="2400" dirty="0">
                <a:latin typeface="Times New Roman"/>
                <a:cs typeface="Times New Roman"/>
              </a:rPr>
              <a:t>Uses</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SHA</a:t>
            </a:r>
            <a:r>
              <a:rPr sz="2400" spc="-35" dirty="0">
                <a:latin typeface="Times New Roman"/>
                <a:cs typeface="Times New Roman"/>
              </a:rPr>
              <a:t> </a:t>
            </a:r>
            <a:r>
              <a:rPr sz="2400" dirty="0">
                <a:latin typeface="Times New Roman"/>
                <a:cs typeface="Times New Roman"/>
              </a:rPr>
              <a:t>hash</a:t>
            </a:r>
            <a:r>
              <a:rPr sz="2400" spc="-35" dirty="0">
                <a:latin typeface="Times New Roman"/>
                <a:cs typeface="Times New Roman"/>
              </a:rPr>
              <a:t> </a:t>
            </a:r>
            <a:r>
              <a:rPr sz="2400" spc="-10" dirty="0">
                <a:latin typeface="Times New Roman"/>
                <a:cs typeface="Times New Roman"/>
              </a:rPr>
              <a:t>algorithm</a:t>
            </a:r>
            <a:endParaRPr sz="2400">
              <a:latin typeface="Times New Roman"/>
              <a:cs typeface="Times New Roman"/>
            </a:endParaRPr>
          </a:p>
          <a:p>
            <a:pPr marL="354965" indent="-342265">
              <a:lnSpc>
                <a:spcPct val="100000"/>
              </a:lnSpc>
              <a:spcBef>
                <a:spcPts val="280"/>
              </a:spcBef>
              <a:buClr>
                <a:srgbClr val="063DE8"/>
              </a:buClr>
              <a:buSzPct val="75000"/>
              <a:buFont typeface="Wingdings"/>
              <a:buChar char=""/>
              <a:tabLst>
                <a:tab pos="354965" algn="l"/>
              </a:tabLst>
            </a:pPr>
            <a:r>
              <a:rPr sz="2400" dirty="0">
                <a:latin typeface="Times New Roman"/>
                <a:cs typeface="Times New Roman"/>
              </a:rPr>
              <a:t>DSS</a:t>
            </a:r>
            <a:r>
              <a:rPr sz="2400" spc="-2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standard,</a:t>
            </a:r>
            <a:r>
              <a:rPr sz="2400" spc="-20" dirty="0">
                <a:latin typeface="Times New Roman"/>
                <a:cs typeface="Times New Roman"/>
              </a:rPr>
              <a:t> </a:t>
            </a:r>
            <a:r>
              <a:rPr sz="2400" dirty="0">
                <a:latin typeface="Times New Roman"/>
                <a:cs typeface="Times New Roman"/>
              </a:rPr>
              <a:t>DSA</a:t>
            </a:r>
            <a:r>
              <a:rPr sz="2400" spc="-2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algorithm</a:t>
            </a:r>
            <a:endParaRPr sz="2400">
              <a:latin typeface="Times New Roman"/>
              <a:cs typeface="Times New Roman"/>
            </a:endParaRPr>
          </a:p>
          <a:p>
            <a:pPr marL="355600" marR="5080" indent="-342900">
              <a:lnSpc>
                <a:spcPts val="2580"/>
              </a:lnSpc>
              <a:spcBef>
                <a:spcPts val="620"/>
              </a:spcBef>
              <a:buClr>
                <a:srgbClr val="063DE8"/>
              </a:buClr>
              <a:buSzPct val="75000"/>
              <a:buFont typeface="Wingdings"/>
              <a:buChar char=""/>
              <a:tabLst>
                <a:tab pos="355600" algn="l"/>
              </a:tabLst>
            </a:pPr>
            <a:r>
              <a:rPr sz="2400" dirty="0">
                <a:latin typeface="Times New Roman"/>
                <a:cs typeface="Times New Roman"/>
              </a:rPr>
              <a:t>FIPS</a:t>
            </a:r>
            <a:r>
              <a:rPr sz="2400" spc="-30" dirty="0">
                <a:latin typeface="Times New Roman"/>
                <a:cs typeface="Times New Roman"/>
              </a:rPr>
              <a:t> </a:t>
            </a:r>
            <a:r>
              <a:rPr sz="2400" spc="-20" dirty="0">
                <a:latin typeface="Times New Roman"/>
                <a:cs typeface="Times New Roman"/>
              </a:rPr>
              <a:t>186-</a:t>
            </a:r>
            <a:r>
              <a:rPr sz="2400" dirty="0">
                <a:latin typeface="Times New Roman"/>
                <a:cs typeface="Times New Roman"/>
              </a:rPr>
              <a:t>2</a:t>
            </a:r>
            <a:r>
              <a:rPr sz="2400" spc="-30" dirty="0">
                <a:latin typeface="Times New Roman"/>
                <a:cs typeface="Times New Roman"/>
              </a:rPr>
              <a:t> </a:t>
            </a:r>
            <a:r>
              <a:rPr sz="2400" dirty="0">
                <a:latin typeface="Times New Roman"/>
                <a:cs typeface="Times New Roman"/>
              </a:rPr>
              <a:t>(2000)</a:t>
            </a:r>
            <a:r>
              <a:rPr sz="2400" spc="-25" dirty="0">
                <a:latin typeface="Times New Roman"/>
                <a:cs typeface="Times New Roman"/>
              </a:rPr>
              <a:t> </a:t>
            </a:r>
            <a:r>
              <a:rPr sz="2400" dirty="0">
                <a:latin typeface="Times New Roman"/>
                <a:cs typeface="Times New Roman"/>
              </a:rPr>
              <a:t>includes</a:t>
            </a:r>
            <a:r>
              <a:rPr sz="2400" spc="-30" dirty="0">
                <a:latin typeface="Times New Roman"/>
                <a:cs typeface="Times New Roman"/>
              </a:rPr>
              <a:t> </a:t>
            </a:r>
            <a:r>
              <a:rPr sz="2400" dirty="0">
                <a:latin typeface="Times New Roman"/>
                <a:cs typeface="Times New Roman"/>
              </a:rPr>
              <a:t>alternative</a:t>
            </a:r>
            <a:r>
              <a:rPr sz="2400" spc="-30" dirty="0">
                <a:latin typeface="Times New Roman"/>
                <a:cs typeface="Times New Roman"/>
              </a:rPr>
              <a:t> </a:t>
            </a:r>
            <a:r>
              <a:rPr sz="2400" dirty="0">
                <a:latin typeface="Times New Roman"/>
                <a:cs typeface="Times New Roman"/>
              </a:rPr>
              <a:t>RSA</a:t>
            </a:r>
            <a:r>
              <a:rPr sz="2400" spc="-35" dirty="0">
                <a:latin typeface="Times New Roman"/>
                <a:cs typeface="Times New Roman"/>
              </a:rPr>
              <a:t> </a:t>
            </a:r>
            <a:r>
              <a:rPr sz="2400" dirty="0">
                <a:latin typeface="Times New Roman"/>
                <a:cs typeface="Times New Roman"/>
              </a:rPr>
              <a:t>&amp;</a:t>
            </a:r>
            <a:r>
              <a:rPr sz="2400" spc="-30" dirty="0">
                <a:latin typeface="Times New Roman"/>
                <a:cs typeface="Times New Roman"/>
              </a:rPr>
              <a:t> </a:t>
            </a:r>
            <a:r>
              <a:rPr sz="2400" dirty="0">
                <a:latin typeface="Times New Roman"/>
                <a:cs typeface="Times New Roman"/>
              </a:rPr>
              <a:t>elliptic</a:t>
            </a:r>
            <a:r>
              <a:rPr sz="2400" spc="-30" dirty="0">
                <a:latin typeface="Times New Roman"/>
                <a:cs typeface="Times New Roman"/>
              </a:rPr>
              <a:t> </a:t>
            </a:r>
            <a:r>
              <a:rPr sz="2400" spc="-10" dirty="0">
                <a:latin typeface="Times New Roman"/>
                <a:cs typeface="Times New Roman"/>
              </a:rPr>
              <a:t>curve </a:t>
            </a:r>
            <a:r>
              <a:rPr sz="2400" dirty="0">
                <a:latin typeface="Times New Roman"/>
                <a:cs typeface="Times New Roman"/>
              </a:rPr>
              <a:t>signature</a:t>
            </a:r>
            <a:r>
              <a:rPr sz="2400" spc="-45" dirty="0">
                <a:latin typeface="Times New Roman"/>
                <a:cs typeface="Times New Roman"/>
              </a:rPr>
              <a:t> </a:t>
            </a:r>
            <a:r>
              <a:rPr sz="2400" spc="-10" dirty="0">
                <a:latin typeface="Times New Roman"/>
                <a:cs typeface="Times New Roman"/>
              </a:rPr>
              <a:t>variants</a:t>
            </a:r>
            <a:endParaRPr sz="2400">
              <a:latin typeface="Times New Roman"/>
              <a:cs typeface="Times New Roman"/>
            </a:endParaRPr>
          </a:p>
          <a:p>
            <a:pPr marL="354965" indent="-342265">
              <a:lnSpc>
                <a:spcPct val="100000"/>
              </a:lnSpc>
              <a:spcBef>
                <a:spcPts val="254"/>
              </a:spcBef>
              <a:buClr>
                <a:srgbClr val="063DE8"/>
              </a:buClr>
              <a:buSzPct val="75000"/>
              <a:buFont typeface="Wingdings"/>
              <a:buChar char=""/>
              <a:tabLst>
                <a:tab pos="354965" algn="l"/>
              </a:tabLst>
            </a:pPr>
            <a:r>
              <a:rPr sz="2400" dirty="0">
                <a:latin typeface="Times New Roman"/>
                <a:cs typeface="Times New Roman"/>
              </a:rPr>
              <a:t>DSA</a:t>
            </a:r>
            <a:r>
              <a:rPr sz="2400" spc="-40"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digital</a:t>
            </a:r>
            <a:r>
              <a:rPr sz="2400" spc="-35" dirty="0">
                <a:latin typeface="Times New Roman"/>
                <a:cs typeface="Times New Roman"/>
              </a:rPr>
              <a:t> </a:t>
            </a:r>
            <a:r>
              <a:rPr sz="2400" dirty="0">
                <a:latin typeface="Times New Roman"/>
                <a:cs typeface="Times New Roman"/>
              </a:rPr>
              <a:t>signature</a:t>
            </a:r>
            <a:r>
              <a:rPr sz="2400" spc="-40" dirty="0">
                <a:latin typeface="Times New Roman"/>
                <a:cs typeface="Times New Roman"/>
              </a:rPr>
              <a:t> </a:t>
            </a:r>
            <a:r>
              <a:rPr sz="2400" spc="-20" dirty="0">
                <a:latin typeface="Times New Roman"/>
                <a:cs typeface="Times New Roman"/>
              </a:rPr>
              <a:t>only</a:t>
            </a:r>
            <a:endParaRPr sz="2400">
              <a:latin typeface="Times New Roman"/>
              <a:cs typeface="Times New Roman"/>
            </a:endParaRPr>
          </a:p>
        </p:txBody>
      </p:sp>
      <p:sp>
        <p:nvSpPr>
          <p:cNvPr id="4" name="object 4"/>
          <p:cNvSpPr txBox="1"/>
          <p:nvPr/>
        </p:nvSpPr>
        <p:spPr>
          <a:xfrm>
            <a:off x="526795" y="5949188"/>
            <a:ext cx="5161280"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Ref:</a:t>
            </a:r>
            <a:r>
              <a:rPr sz="1600" spc="-30" dirty="0">
                <a:latin typeface="Times New Roman"/>
                <a:cs typeface="Times New Roman"/>
              </a:rPr>
              <a:t> </a:t>
            </a:r>
            <a:r>
              <a:rPr sz="1600" u="sng" spc="-10" dirty="0">
                <a:solidFill>
                  <a:srgbClr val="00DFCA"/>
                </a:solidFill>
                <a:uFill>
                  <a:solidFill>
                    <a:srgbClr val="00DFCA"/>
                  </a:solidFill>
                </a:uFill>
                <a:latin typeface="Times New Roman"/>
                <a:cs typeface="Times New Roman"/>
                <a:hlinkClick r:id="rId2"/>
              </a:rPr>
              <a:t>http://en.wikipedia.org/wiki/Digital_Signature_Algorithm</a:t>
            </a:r>
            <a:endParaRPr sz="16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82550">
              <a:lnSpc>
                <a:spcPct val="100000"/>
              </a:lnSpc>
              <a:spcBef>
                <a:spcPts val="95"/>
              </a:spcBef>
            </a:pPr>
            <a:r>
              <a:rPr sz="3200" dirty="0"/>
              <a:t>Digital</a:t>
            </a:r>
            <a:r>
              <a:rPr sz="3200" spc="-55" dirty="0"/>
              <a:t> </a:t>
            </a:r>
            <a:r>
              <a:rPr sz="3200" dirty="0"/>
              <a:t>Signature</a:t>
            </a:r>
            <a:r>
              <a:rPr sz="3200" spc="-45" dirty="0"/>
              <a:t> </a:t>
            </a:r>
            <a:r>
              <a:rPr sz="3200" dirty="0"/>
              <a:t>Algorithm</a:t>
            </a:r>
            <a:r>
              <a:rPr sz="3200" spc="-65" dirty="0"/>
              <a:t> </a:t>
            </a:r>
            <a:r>
              <a:rPr sz="3200" spc="-10" dirty="0"/>
              <a:t>(DSA)</a:t>
            </a:r>
            <a:endParaRPr sz="32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58977" y="1245362"/>
            <a:ext cx="6778625" cy="3019425"/>
          </a:xfrm>
          <a:prstGeom prst="rect">
            <a:avLst/>
          </a:prstGeom>
        </p:spPr>
        <p:txBody>
          <a:bodyPr vert="horz" wrap="square" lIns="0" tIns="85090" rIns="0" bIns="0" rtlCol="0">
            <a:spAutoFit/>
          </a:bodyPr>
          <a:lstStyle/>
          <a:p>
            <a:pPr marL="354965" indent="-342265">
              <a:lnSpc>
                <a:spcPct val="100000"/>
              </a:lnSpc>
              <a:spcBef>
                <a:spcPts val="670"/>
              </a:spcBef>
              <a:buClr>
                <a:srgbClr val="063DE8"/>
              </a:buClr>
              <a:buSzPct val="75000"/>
              <a:buFont typeface="Wingdings"/>
              <a:buChar char=""/>
              <a:tabLst>
                <a:tab pos="354965" algn="l"/>
              </a:tabLst>
            </a:pPr>
            <a:r>
              <a:rPr sz="2400" dirty="0">
                <a:latin typeface="Times New Roman"/>
                <a:cs typeface="Times New Roman"/>
              </a:rPr>
              <a:t>Creates</a:t>
            </a:r>
            <a:r>
              <a:rPr sz="2400" spc="-2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320</a:t>
            </a:r>
            <a:r>
              <a:rPr sz="2400" spc="-20" dirty="0">
                <a:latin typeface="Times New Roman"/>
                <a:cs typeface="Times New Roman"/>
              </a:rPr>
              <a:t> </a:t>
            </a:r>
            <a:r>
              <a:rPr sz="2400" dirty="0">
                <a:latin typeface="Times New Roman"/>
                <a:cs typeface="Times New Roman"/>
              </a:rPr>
              <a:t>bit</a:t>
            </a:r>
            <a:r>
              <a:rPr sz="2400" spc="-15" dirty="0">
                <a:latin typeface="Times New Roman"/>
                <a:cs typeface="Times New Roman"/>
              </a:rPr>
              <a:t> </a:t>
            </a:r>
            <a:r>
              <a:rPr sz="2400" spc="-10" dirty="0">
                <a:latin typeface="Times New Roman"/>
                <a:cs typeface="Times New Roman"/>
              </a:rPr>
              <a:t>signature</a:t>
            </a:r>
            <a:endParaRPr sz="240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With</a:t>
            </a:r>
            <a:r>
              <a:rPr sz="2400" spc="-25" dirty="0">
                <a:latin typeface="Times New Roman"/>
                <a:cs typeface="Times New Roman"/>
              </a:rPr>
              <a:t> </a:t>
            </a:r>
            <a:r>
              <a:rPr sz="2400" spc="-10" dirty="0">
                <a:latin typeface="Times New Roman"/>
                <a:cs typeface="Times New Roman"/>
              </a:rPr>
              <a:t>512-</a:t>
            </a:r>
            <a:r>
              <a:rPr sz="2400" dirty="0">
                <a:latin typeface="Times New Roman"/>
                <a:cs typeface="Times New Roman"/>
              </a:rPr>
              <a:t>1024</a:t>
            </a:r>
            <a:r>
              <a:rPr sz="2400" spc="-10" dirty="0">
                <a:latin typeface="Times New Roman"/>
                <a:cs typeface="Times New Roman"/>
              </a:rPr>
              <a:t> </a:t>
            </a:r>
            <a:r>
              <a:rPr sz="2400" dirty="0">
                <a:latin typeface="Times New Roman"/>
                <a:cs typeface="Times New Roman"/>
              </a:rPr>
              <a:t>bit</a:t>
            </a:r>
            <a:r>
              <a:rPr sz="2400" spc="-10" dirty="0">
                <a:latin typeface="Times New Roman"/>
                <a:cs typeface="Times New Roman"/>
              </a:rPr>
              <a:t> security</a:t>
            </a:r>
            <a:endParaRPr sz="240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Smaller</a:t>
            </a:r>
            <a:r>
              <a:rPr sz="2400" spc="-2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faster</a:t>
            </a:r>
            <a:r>
              <a:rPr sz="2400" spc="-25" dirty="0">
                <a:latin typeface="Times New Roman"/>
                <a:cs typeface="Times New Roman"/>
              </a:rPr>
              <a:t> </a:t>
            </a:r>
            <a:r>
              <a:rPr sz="2400" dirty="0">
                <a:latin typeface="Times New Roman"/>
                <a:cs typeface="Times New Roman"/>
              </a:rPr>
              <a:t>than</a:t>
            </a:r>
            <a:r>
              <a:rPr sz="2400" spc="-25" dirty="0">
                <a:latin typeface="Times New Roman"/>
                <a:cs typeface="Times New Roman"/>
              </a:rPr>
              <a:t> RSA</a:t>
            </a:r>
            <a:endParaRPr sz="2400">
              <a:latin typeface="Times New Roman"/>
              <a:cs typeface="Times New Roman"/>
            </a:endParaRPr>
          </a:p>
          <a:p>
            <a:pPr marL="354965" indent="-342265">
              <a:lnSpc>
                <a:spcPct val="100000"/>
              </a:lnSpc>
              <a:spcBef>
                <a:spcPts val="570"/>
              </a:spcBef>
              <a:buClr>
                <a:srgbClr val="063DE8"/>
              </a:buClr>
              <a:buSzPct val="75000"/>
              <a:buFont typeface="Wingdings"/>
              <a:buChar char=""/>
              <a:tabLst>
                <a:tab pos="354965" algn="l"/>
              </a:tabLst>
            </a:pP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digital</a:t>
            </a:r>
            <a:r>
              <a:rPr sz="2400" spc="-35" dirty="0">
                <a:latin typeface="Times New Roman"/>
                <a:cs typeface="Times New Roman"/>
              </a:rPr>
              <a:t> </a:t>
            </a:r>
            <a:r>
              <a:rPr sz="2400" dirty="0">
                <a:latin typeface="Times New Roman"/>
                <a:cs typeface="Times New Roman"/>
              </a:rPr>
              <a:t>signature</a:t>
            </a:r>
            <a:r>
              <a:rPr sz="2400" spc="-30" dirty="0">
                <a:latin typeface="Times New Roman"/>
                <a:cs typeface="Times New Roman"/>
              </a:rPr>
              <a:t> </a:t>
            </a:r>
            <a:r>
              <a:rPr sz="2400" dirty="0">
                <a:latin typeface="Times New Roman"/>
                <a:cs typeface="Times New Roman"/>
              </a:rPr>
              <a:t>scheme</a:t>
            </a:r>
            <a:r>
              <a:rPr sz="2400" spc="-35" dirty="0">
                <a:latin typeface="Times New Roman"/>
                <a:cs typeface="Times New Roman"/>
              </a:rPr>
              <a:t> </a:t>
            </a:r>
            <a:r>
              <a:rPr sz="2400" spc="-20" dirty="0">
                <a:latin typeface="Times New Roman"/>
                <a:cs typeface="Times New Roman"/>
              </a:rPr>
              <a:t>only</a:t>
            </a:r>
            <a:endParaRPr sz="2400">
              <a:latin typeface="Times New Roman"/>
              <a:cs typeface="Times New Roman"/>
            </a:endParaRPr>
          </a:p>
          <a:p>
            <a:pPr marL="355600" marR="5080" indent="-342900">
              <a:lnSpc>
                <a:spcPct val="100000"/>
              </a:lnSpc>
              <a:spcBef>
                <a:spcPts val="570"/>
              </a:spcBef>
              <a:buClr>
                <a:srgbClr val="063DE8"/>
              </a:buClr>
              <a:buSzPct val="75000"/>
              <a:buFont typeface="Wingdings"/>
              <a:buChar char=""/>
              <a:tabLst>
                <a:tab pos="355600" algn="l"/>
              </a:tabLst>
            </a:pPr>
            <a:r>
              <a:rPr sz="2400" dirty="0">
                <a:latin typeface="Times New Roman"/>
                <a:cs typeface="Times New Roman"/>
              </a:rPr>
              <a:t>Security</a:t>
            </a:r>
            <a:r>
              <a:rPr sz="2400" spc="-35" dirty="0">
                <a:latin typeface="Times New Roman"/>
                <a:cs typeface="Times New Roman"/>
              </a:rPr>
              <a:t> </a:t>
            </a:r>
            <a:r>
              <a:rPr sz="2400" dirty="0">
                <a:latin typeface="Times New Roman"/>
                <a:cs typeface="Times New Roman"/>
              </a:rPr>
              <a:t>depends</a:t>
            </a:r>
            <a:r>
              <a:rPr sz="2400" spc="-35"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difficulty</a:t>
            </a:r>
            <a:r>
              <a:rPr sz="2400" spc="-3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computing</a:t>
            </a:r>
            <a:r>
              <a:rPr sz="2400" spc="-35" dirty="0">
                <a:latin typeface="Times New Roman"/>
                <a:cs typeface="Times New Roman"/>
              </a:rPr>
              <a:t> </a:t>
            </a:r>
            <a:r>
              <a:rPr sz="2400" spc="-10" dirty="0">
                <a:latin typeface="Times New Roman"/>
                <a:cs typeface="Times New Roman"/>
              </a:rPr>
              <a:t>discrete logarithms</a:t>
            </a:r>
            <a:endParaRPr sz="2400">
              <a:latin typeface="Times New Roman"/>
              <a:cs typeface="Times New Roman"/>
            </a:endParaRPr>
          </a:p>
          <a:p>
            <a:pPr marL="354965" indent="-342265">
              <a:lnSpc>
                <a:spcPct val="100000"/>
              </a:lnSpc>
              <a:spcBef>
                <a:spcPts val="560"/>
              </a:spcBef>
              <a:buClr>
                <a:srgbClr val="063DE8"/>
              </a:buClr>
              <a:buSzPct val="75000"/>
              <a:buFont typeface="Wingdings"/>
              <a:buChar char=""/>
              <a:tabLst>
                <a:tab pos="354965" algn="l"/>
              </a:tabLst>
            </a:pPr>
            <a:r>
              <a:rPr sz="2400" dirty="0">
                <a:latin typeface="Times New Roman"/>
                <a:cs typeface="Times New Roman"/>
              </a:rPr>
              <a:t>Variant</a:t>
            </a:r>
            <a:r>
              <a:rPr sz="2400" spc="-45"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ElGamal</a:t>
            </a:r>
            <a:r>
              <a:rPr sz="2400" spc="-45" dirty="0">
                <a:latin typeface="Times New Roman"/>
                <a:cs typeface="Times New Roman"/>
              </a:rPr>
              <a:t> </a:t>
            </a:r>
            <a:r>
              <a:rPr sz="2400" dirty="0">
                <a:latin typeface="Times New Roman"/>
                <a:cs typeface="Times New Roman"/>
              </a:rPr>
              <a:t>&amp;</a:t>
            </a:r>
            <a:r>
              <a:rPr sz="2400" spc="-50" dirty="0">
                <a:latin typeface="Times New Roman"/>
                <a:cs typeface="Times New Roman"/>
              </a:rPr>
              <a:t> </a:t>
            </a:r>
            <a:r>
              <a:rPr sz="2400" dirty="0">
                <a:latin typeface="Times New Roman"/>
                <a:cs typeface="Times New Roman"/>
              </a:rPr>
              <a:t>Schnorr</a:t>
            </a:r>
            <a:r>
              <a:rPr sz="2400" spc="-45" dirty="0">
                <a:latin typeface="Times New Roman"/>
                <a:cs typeface="Times New Roman"/>
              </a:rPr>
              <a:t> </a:t>
            </a:r>
            <a:r>
              <a:rPr sz="2400" spc="-10" dirty="0">
                <a:latin typeface="Times New Roman"/>
                <a:cs typeface="Times New Roman"/>
              </a:rPr>
              <a:t>schemes</a:t>
            </a:r>
            <a:endParaRPr sz="24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41400">
              <a:lnSpc>
                <a:spcPct val="100000"/>
              </a:lnSpc>
              <a:spcBef>
                <a:spcPts val="100"/>
              </a:spcBef>
            </a:pPr>
            <a:r>
              <a:rPr dirty="0"/>
              <a:t>DSA</a:t>
            </a:r>
            <a:r>
              <a:rPr spc="-35" dirty="0"/>
              <a:t> </a:t>
            </a:r>
            <a:r>
              <a:rPr dirty="0"/>
              <a:t>Key</a:t>
            </a:r>
            <a:r>
              <a:rPr spc="-30" dirty="0"/>
              <a:t> </a:t>
            </a:r>
            <a:r>
              <a:rPr spc="-10" dirty="0"/>
              <a:t>Generation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p:nvPr/>
        </p:nvSpPr>
        <p:spPr>
          <a:xfrm>
            <a:off x="408177" y="1253744"/>
            <a:ext cx="7345045" cy="4679950"/>
          </a:xfrm>
          <a:prstGeom prst="rect">
            <a:avLst/>
          </a:prstGeom>
        </p:spPr>
        <p:txBody>
          <a:bodyPr vert="horz" wrap="square" lIns="0" tIns="48260" rIns="0" bIns="0" rtlCol="0">
            <a:spAutoFit/>
          </a:bodyPr>
          <a:lstStyle/>
          <a:p>
            <a:pPr marL="405765" indent="-342900">
              <a:lnSpc>
                <a:spcPct val="100000"/>
              </a:lnSpc>
              <a:spcBef>
                <a:spcPts val="380"/>
              </a:spcBef>
              <a:buClr>
                <a:srgbClr val="063DE8"/>
              </a:buClr>
              <a:buSzPct val="75000"/>
              <a:buFont typeface="Wingdings"/>
              <a:buChar char=""/>
              <a:tabLst>
                <a:tab pos="405765" algn="l"/>
              </a:tabLst>
            </a:pPr>
            <a:r>
              <a:rPr sz="2400" dirty="0">
                <a:latin typeface="Times New Roman"/>
                <a:cs typeface="Times New Roman"/>
              </a:rPr>
              <a:t>Shared</a:t>
            </a:r>
            <a:r>
              <a:rPr sz="2400" spc="-30" dirty="0">
                <a:latin typeface="Times New Roman"/>
                <a:cs typeface="Times New Roman"/>
              </a:rPr>
              <a:t> </a:t>
            </a:r>
            <a:r>
              <a:rPr sz="2400" dirty="0">
                <a:latin typeface="Times New Roman"/>
                <a:cs typeface="Times New Roman"/>
              </a:rPr>
              <a:t>global</a:t>
            </a:r>
            <a:r>
              <a:rPr sz="2400" spc="-25" dirty="0">
                <a:latin typeface="Times New Roman"/>
                <a:cs typeface="Times New Roman"/>
              </a:rPr>
              <a:t> </a:t>
            </a:r>
            <a:r>
              <a:rPr sz="2400" dirty="0">
                <a:latin typeface="Times New Roman"/>
                <a:cs typeface="Times New Roman"/>
              </a:rPr>
              <a:t>public</a:t>
            </a:r>
            <a:r>
              <a:rPr sz="2400" spc="-25" dirty="0">
                <a:latin typeface="Times New Roman"/>
                <a:cs typeface="Times New Roman"/>
              </a:rPr>
              <a:t> </a:t>
            </a:r>
            <a:r>
              <a:rPr sz="2400" dirty="0">
                <a:latin typeface="Times New Roman"/>
                <a:cs typeface="Times New Roman"/>
              </a:rPr>
              <a:t>key</a:t>
            </a:r>
            <a:r>
              <a:rPr sz="2400" spc="-30" dirty="0">
                <a:latin typeface="Times New Roman"/>
                <a:cs typeface="Times New Roman"/>
              </a:rPr>
              <a:t> </a:t>
            </a:r>
            <a:r>
              <a:rPr sz="2400" dirty="0">
                <a:latin typeface="Times New Roman"/>
                <a:cs typeface="Times New Roman"/>
              </a:rPr>
              <a:t>values</a:t>
            </a:r>
            <a:r>
              <a:rPr sz="2400" spc="-25" dirty="0">
                <a:latin typeface="Times New Roman"/>
                <a:cs typeface="Times New Roman"/>
              </a:rPr>
              <a:t> </a:t>
            </a:r>
            <a:r>
              <a:rPr sz="2400" dirty="0">
                <a:latin typeface="Times New Roman"/>
                <a:cs typeface="Times New Roman"/>
              </a:rPr>
              <a:t>(p,</a:t>
            </a:r>
            <a:r>
              <a:rPr sz="2400" spc="-25" dirty="0">
                <a:latin typeface="Times New Roman"/>
                <a:cs typeface="Times New Roman"/>
              </a:rPr>
              <a:t> </a:t>
            </a:r>
            <a:r>
              <a:rPr sz="2400" dirty="0">
                <a:latin typeface="Times New Roman"/>
                <a:cs typeface="Times New Roman"/>
              </a:rPr>
              <a:t>q,</a:t>
            </a:r>
            <a:r>
              <a:rPr sz="2400" spc="-30" dirty="0">
                <a:latin typeface="Times New Roman"/>
                <a:cs typeface="Times New Roman"/>
              </a:rPr>
              <a:t> </a:t>
            </a:r>
            <a:r>
              <a:rPr sz="2400" spc="-25" dirty="0">
                <a:latin typeface="Times New Roman"/>
                <a:cs typeface="Times New Roman"/>
              </a:rPr>
              <a:t>g):</a:t>
            </a:r>
            <a:endParaRPr sz="2400">
              <a:latin typeface="Times New Roman"/>
              <a:cs typeface="Times New Roman"/>
            </a:endParaRPr>
          </a:p>
          <a:p>
            <a:pPr marL="805180" lvl="1" indent="-285115">
              <a:lnSpc>
                <a:spcPct val="100000"/>
              </a:lnSpc>
              <a:spcBef>
                <a:spcPts val="280"/>
              </a:spcBef>
              <a:buSzPct val="66666"/>
              <a:buFont typeface="Wingdings"/>
              <a:buChar char=""/>
              <a:tabLst>
                <a:tab pos="805180" algn="l"/>
                <a:tab pos="4621530" algn="l"/>
              </a:tabLst>
            </a:pPr>
            <a:r>
              <a:rPr sz="2400" dirty="0">
                <a:latin typeface="Times New Roman"/>
                <a:cs typeface="Times New Roman"/>
              </a:rPr>
              <a:t>Choose</a:t>
            </a:r>
            <a:r>
              <a:rPr sz="2400" spc="-20" dirty="0">
                <a:latin typeface="Times New Roman"/>
                <a:cs typeface="Times New Roman"/>
              </a:rPr>
              <a:t> </a:t>
            </a:r>
            <a:r>
              <a:rPr sz="2400" spc="-10" dirty="0">
                <a:latin typeface="Times New Roman"/>
                <a:cs typeface="Times New Roman"/>
              </a:rPr>
              <a:t>160-</a:t>
            </a:r>
            <a:r>
              <a:rPr sz="2400" dirty="0">
                <a:latin typeface="Times New Roman"/>
                <a:cs typeface="Times New Roman"/>
              </a:rPr>
              <a:t>bit</a:t>
            </a:r>
            <a:r>
              <a:rPr sz="2400" spc="-15" dirty="0">
                <a:latin typeface="Times New Roman"/>
                <a:cs typeface="Times New Roman"/>
              </a:rPr>
              <a:t> </a:t>
            </a:r>
            <a:r>
              <a:rPr sz="2400" dirty="0">
                <a:latin typeface="Times New Roman"/>
                <a:cs typeface="Times New Roman"/>
              </a:rPr>
              <a:t>prime</a:t>
            </a:r>
            <a:r>
              <a:rPr sz="2400" spc="-15" dirty="0">
                <a:latin typeface="Times New Roman"/>
                <a:cs typeface="Times New Roman"/>
              </a:rPr>
              <a:t> </a:t>
            </a:r>
            <a:r>
              <a:rPr sz="2400" spc="-10" dirty="0">
                <a:latin typeface="Times New Roman"/>
                <a:cs typeface="Times New Roman"/>
              </a:rPr>
              <a:t>number</a:t>
            </a:r>
            <a:r>
              <a:rPr sz="2400" dirty="0">
                <a:latin typeface="Times New Roman"/>
                <a:cs typeface="Times New Roman"/>
              </a:rPr>
              <a:t>	</a:t>
            </a:r>
            <a:r>
              <a:rPr sz="2400" spc="-50" dirty="0">
                <a:latin typeface="Times New Roman"/>
                <a:cs typeface="Times New Roman"/>
              </a:rPr>
              <a:t>q</a:t>
            </a:r>
            <a:endParaRPr sz="2400">
              <a:latin typeface="Times New Roman"/>
              <a:cs typeface="Times New Roman"/>
            </a:endParaRPr>
          </a:p>
          <a:p>
            <a:pPr marL="805180" lvl="1" indent="-285115">
              <a:lnSpc>
                <a:spcPct val="100000"/>
              </a:lnSpc>
              <a:spcBef>
                <a:spcPts val="135"/>
              </a:spcBef>
              <a:buSzPct val="66666"/>
              <a:buFont typeface="Wingdings"/>
              <a:buChar char=""/>
              <a:tabLst>
                <a:tab pos="805180" algn="l"/>
              </a:tabLst>
            </a:pPr>
            <a:r>
              <a:rPr sz="2400" dirty="0">
                <a:latin typeface="Times New Roman"/>
                <a:cs typeface="Times New Roman"/>
              </a:rPr>
              <a:t>Choose</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large prime</a:t>
            </a:r>
            <a:r>
              <a:rPr sz="2400" spc="-5" dirty="0">
                <a:latin typeface="Times New Roman"/>
                <a:cs typeface="Times New Roman"/>
              </a:rPr>
              <a:t> </a:t>
            </a:r>
            <a:r>
              <a:rPr sz="2400" dirty="0">
                <a:latin typeface="Times New Roman"/>
                <a:cs typeface="Times New Roman"/>
              </a:rPr>
              <a:t>p with</a:t>
            </a:r>
            <a:r>
              <a:rPr sz="2400" spc="-20" dirty="0">
                <a:latin typeface="Times New Roman"/>
                <a:cs typeface="Times New Roman"/>
              </a:rPr>
              <a:t> </a:t>
            </a:r>
            <a:r>
              <a:rPr sz="2400" spc="-20" dirty="0">
                <a:latin typeface="Courier New"/>
                <a:cs typeface="Courier New"/>
              </a:rPr>
              <a:t>2</a:t>
            </a:r>
            <a:r>
              <a:rPr sz="2400" spc="-30" baseline="24305" dirty="0">
                <a:latin typeface="Courier New"/>
                <a:cs typeface="Courier New"/>
              </a:rPr>
              <a:t>L-</a:t>
            </a:r>
            <a:r>
              <a:rPr sz="2400" spc="-15" baseline="24305" dirty="0">
                <a:latin typeface="Courier New"/>
                <a:cs typeface="Courier New"/>
              </a:rPr>
              <a:t>1</a:t>
            </a:r>
            <a:r>
              <a:rPr sz="2400" spc="-540" baseline="24305" dirty="0">
                <a:latin typeface="Courier New"/>
                <a:cs typeface="Courier New"/>
              </a:rPr>
              <a:t> </a:t>
            </a:r>
            <a:r>
              <a:rPr sz="2400" dirty="0">
                <a:latin typeface="Courier New"/>
                <a:cs typeface="Courier New"/>
              </a:rPr>
              <a:t>&lt;</a:t>
            </a:r>
            <a:r>
              <a:rPr sz="2400" spc="-840" dirty="0">
                <a:latin typeface="Courier New"/>
                <a:cs typeface="Courier New"/>
              </a:rPr>
              <a:t> </a:t>
            </a:r>
            <a:r>
              <a:rPr sz="2400" dirty="0">
                <a:latin typeface="Courier New"/>
                <a:cs typeface="Courier New"/>
              </a:rPr>
              <a:t>p &lt;</a:t>
            </a:r>
            <a:r>
              <a:rPr sz="2400" spc="-5" dirty="0">
                <a:latin typeface="Courier New"/>
                <a:cs typeface="Courier New"/>
              </a:rPr>
              <a:t> </a:t>
            </a:r>
            <a:r>
              <a:rPr sz="2400" spc="-25" dirty="0">
                <a:latin typeface="Courier New"/>
                <a:cs typeface="Courier New"/>
              </a:rPr>
              <a:t>2</a:t>
            </a:r>
            <a:r>
              <a:rPr sz="2400" spc="-37" baseline="24305" dirty="0">
                <a:latin typeface="Courier New"/>
                <a:cs typeface="Courier New"/>
              </a:rPr>
              <a:t>L</a:t>
            </a:r>
            <a:endParaRPr sz="2400" baseline="24305">
              <a:latin typeface="Courier New"/>
              <a:cs typeface="Courier New"/>
            </a:endParaRPr>
          </a:p>
          <a:p>
            <a:pPr marL="1205865" marR="30480" lvl="2" indent="-228600">
              <a:lnSpc>
                <a:spcPts val="2580"/>
              </a:lnSpc>
              <a:spcBef>
                <a:spcPts val="765"/>
              </a:spcBef>
              <a:buSzPct val="54166"/>
              <a:buFont typeface="Wingdings"/>
              <a:buChar char=""/>
              <a:tabLst>
                <a:tab pos="1205865" algn="l"/>
              </a:tabLst>
            </a:pPr>
            <a:r>
              <a:rPr sz="2400" dirty="0">
                <a:latin typeface="Times New Roman"/>
                <a:cs typeface="Times New Roman"/>
              </a:rPr>
              <a:t>Where</a:t>
            </a:r>
            <a:r>
              <a:rPr sz="2400" spc="-30" dirty="0">
                <a:latin typeface="Times New Roman"/>
                <a:cs typeface="Times New Roman"/>
              </a:rPr>
              <a:t> </a:t>
            </a:r>
            <a:r>
              <a:rPr sz="2400" dirty="0">
                <a:latin typeface="Times New Roman"/>
                <a:cs typeface="Times New Roman"/>
              </a:rPr>
              <a:t>L=</a:t>
            </a:r>
            <a:r>
              <a:rPr sz="2400" spc="-20" dirty="0">
                <a:latin typeface="Times New Roman"/>
                <a:cs typeface="Times New Roman"/>
              </a:rPr>
              <a:t> </a:t>
            </a:r>
            <a:r>
              <a:rPr sz="2400" dirty="0">
                <a:latin typeface="Times New Roman"/>
                <a:cs typeface="Times New Roman"/>
              </a:rPr>
              <a:t>512</a:t>
            </a:r>
            <a:r>
              <a:rPr sz="2400" spc="-1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1024</a:t>
            </a:r>
            <a:r>
              <a:rPr sz="2400" spc="-20" dirty="0">
                <a:latin typeface="Times New Roman"/>
                <a:cs typeface="Times New Roman"/>
              </a:rPr>
              <a:t> </a:t>
            </a:r>
            <a:r>
              <a:rPr sz="2400" dirty="0">
                <a:latin typeface="Times New Roman"/>
                <a:cs typeface="Times New Roman"/>
              </a:rPr>
              <a:t>bits</a:t>
            </a:r>
            <a:r>
              <a:rPr sz="2400" spc="-1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multiple</a:t>
            </a:r>
            <a:r>
              <a:rPr sz="2400" spc="-2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spc="-25" dirty="0">
                <a:latin typeface="Times New Roman"/>
                <a:cs typeface="Times New Roman"/>
              </a:rPr>
              <a:t>64 </a:t>
            </a:r>
            <a:r>
              <a:rPr sz="2400" dirty="0">
                <a:latin typeface="Times New Roman"/>
                <a:cs typeface="Times New Roman"/>
              </a:rPr>
              <a:t>Now</a:t>
            </a:r>
            <a:r>
              <a:rPr sz="2400" spc="-35" dirty="0">
                <a:latin typeface="Times New Roman"/>
                <a:cs typeface="Times New Roman"/>
              </a:rPr>
              <a:t> </a:t>
            </a:r>
            <a:r>
              <a:rPr sz="2400" dirty="0">
                <a:latin typeface="Times New Roman"/>
                <a:cs typeface="Times New Roman"/>
              </a:rPr>
              <a:t>extended</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2048</a:t>
            </a:r>
            <a:r>
              <a:rPr sz="2400" spc="-30" dirty="0">
                <a:latin typeface="Times New Roman"/>
                <a:cs typeface="Times New Roman"/>
              </a:rPr>
              <a:t> </a:t>
            </a:r>
            <a:r>
              <a:rPr sz="2400" dirty="0">
                <a:latin typeface="Times New Roman"/>
                <a:cs typeface="Times New Roman"/>
              </a:rPr>
              <a:t>or</a:t>
            </a:r>
            <a:r>
              <a:rPr sz="2400" spc="-30" dirty="0">
                <a:latin typeface="Times New Roman"/>
                <a:cs typeface="Times New Roman"/>
              </a:rPr>
              <a:t> </a:t>
            </a:r>
            <a:r>
              <a:rPr sz="2400" dirty="0">
                <a:latin typeface="Times New Roman"/>
                <a:cs typeface="Times New Roman"/>
              </a:rPr>
              <a:t>3072</a:t>
            </a:r>
            <a:r>
              <a:rPr sz="2400" spc="-30" dirty="0">
                <a:latin typeface="Times New Roman"/>
                <a:cs typeface="Times New Roman"/>
              </a:rPr>
              <a:t> </a:t>
            </a:r>
            <a:r>
              <a:rPr sz="2400" spc="-20" dirty="0">
                <a:latin typeface="Times New Roman"/>
                <a:cs typeface="Times New Roman"/>
              </a:rPr>
              <a:t>bits</a:t>
            </a:r>
            <a:endParaRPr sz="2400">
              <a:latin typeface="Times New Roman"/>
              <a:cs typeface="Times New Roman"/>
            </a:endParaRPr>
          </a:p>
          <a:p>
            <a:pPr marL="1205230" lvl="2" indent="-227965">
              <a:lnSpc>
                <a:spcPct val="100000"/>
              </a:lnSpc>
              <a:spcBef>
                <a:spcPts val="105"/>
              </a:spcBef>
              <a:buSzPct val="54166"/>
              <a:buFont typeface="Wingdings"/>
              <a:buChar char=""/>
              <a:tabLst>
                <a:tab pos="1205230" algn="l"/>
              </a:tabLst>
            </a:pPr>
            <a:r>
              <a:rPr sz="2400" dirty="0">
                <a:latin typeface="Times New Roman"/>
                <a:cs typeface="Times New Roman"/>
              </a:rPr>
              <a:t>Such</a:t>
            </a:r>
            <a:r>
              <a:rPr sz="2400" spc="-30" dirty="0">
                <a:latin typeface="Times New Roman"/>
                <a:cs typeface="Times New Roman"/>
              </a:rPr>
              <a:t> </a:t>
            </a:r>
            <a:r>
              <a:rPr sz="2400" dirty="0">
                <a:latin typeface="Times New Roman"/>
                <a:cs typeface="Times New Roman"/>
              </a:rPr>
              <a:t>that</a:t>
            </a:r>
            <a:r>
              <a:rPr sz="2400" spc="-15" dirty="0">
                <a:latin typeface="Times New Roman"/>
                <a:cs typeface="Times New Roman"/>
              </a:rPr>
              <a:t> </a:t>
            </a:r>
            <a:r>
              <a:rPr sz="2400" dirty="0">
                <a:latin typeface="Times New Roman"/>
                <a:cs typeface="Times New Roman"/>
              </a:rPr>
              <a:t>q</a:t>
            </a:r>
            <a:r>
              <a:rPr sz="2400" spc="-15"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160</a:t>
            </a:r>
            <a:r>
              <a:rPr sz="2400" spc="-15" dirty="0">
                <a:latin typeface="Times New Roman"/>
                <a:cs typeface="Times New Roman"/>
              </a:rPr>
              <a:t> </a:t>
            </a:r>
            <a:r>
              <a:rPr sz="2400" dirty="0">
                <a:latin typeface="Times New Roman"/>
                <a:cs typeface="Times New Roman"/>
              </a:rPr>
              <a:t>bit</a:t>
            </a:r>
            <a:r>
              <a:rPr sz="2400" spc="-20" dirty="0">
                <a:latin typeface="Times New Roman"/>
                <a:cs typeface="Times New Roman"/>
              </a:rPr>
              <a:t> </a:t>
            </a:r>
            <a:r>
              <a:rPr sz="2400" dirty="0">
                <a:latin typeface="Times New Roman"/>
                <a:cs typeface="Times New Roman"/>
              </a:rPr>
              <a:t>prime</a:t>
            </a:r>
            <a:r>
              <a:rPr sz="2400" spc="-15" dirty="0">
                <a:latin typeface="Times New Roman"/>
                <a:cs typeface="Times New Roman"/>
              </a:rPr>
              <a:t> </a:t>
            </a:r>
            <a:r>
              <a:rPr sz="2400" dirty="0">
                <a:latin typeface="Times New Roman"/>
                <a:cs typeface="Times New Roman"/>
              </a:rPr>
              <a:t>divisor</a:t>
            </a:r>
            <a:r>
              <a:rPr sz="2400" spc="-1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10" dirty="0">
                <a:latin typeface="Courier New"/>
                <a:cs typeface="Courier New"/>
              </a:rPr>
              <a:t>(p-</a:t>
            </a:r>
            <a:r>
              <a:rPr sz="2400" spc="-25" dirty="0">
                <a:latin typeface="Courier New"/>
                <a:cs typeface="Courier New"/>
              </a:rPr>
              <a:t>1)</a:t>
            </a:r>
            <a:endParaRPr sz="2400">
              <a:latin typeface="Courier New"/>
              <a:cs typeface="Courier New"/>
            </a:endParaRPr>
          </a:p>
          <a:p>
            <a:pPr marL="805180" lvl="1" indent="-285115">
              <a:lnSpc>
                <a:spcPct val="100000"/>
              </a:lnSpc>
              <a:spcBef>
                <a:spcPts val="280"/>
              </a:spcBef>
              <a:buSzPct val="66666"/>
              <a:buFont typeface="Wingdings"/>
              <a:buChar char=""/>
              <a:tabLst>
                <a:tab pos="805180" algn="l"/>
              </a:tabLst>
            </a:pPr>
            <a:r>
              <a:rPr sz="2400" dirty="0">
                <a:latin typeface="Times New Roman"/>
                <a:cs typeface="Times New Roman"/>
              </a:rPr>
              <a:t>Choose</a:t>
            </a:r>
            <a:r>
              <a:rPr sz="2400" spc="5" dirty="0">
                <a:latin typeface="Times New Roman"/>
                <a:cs typeface="Times New Roman"/>
              </a:rPr>
              <a:t> </a:t>
            </a:r>
            <a:r>
              <a:rPr sz="2400" dirty="0">
                <a:latin typeface="Courier New"/>
                <a:cs typeface="Courier New"/>
              </a:rPr>
              <a:t>g =</a:t>
            </a:r>
            <a:r>
              <a:rPr sz="2400" spc="5" dirty="0">
                <a:latin typeface="Courier New"/>
                <a:cs typeface="Courier New"/>
              </a:rPr>
              <a:t> </a:t>
            </a:r>
            <a:r>
              <a:rPr sz="2400" spc="-20" dirty="0">
                <a:latin typeface="Courier New"/>
                <a:cs typeface="Courier New"/>
              </a:rPr>
              <a:t>h</a:t>
            </a:r>
            <a:r>
              <a:rPr sz="2400" spc="-30" baseline="24305" dirty="0">
                <a:latin typeface="Courier New"/>
                <a:cs typeface="Courier New"/>
              </a:rPr>
              <a:t>(p-1)/q</a:t>
            </a:r>
            <a:endParaRPr sz="2400" baseline="24305">
              <a:latin typeface="Courier New"/>
              <a:cs typeface="Courier New"/>
            </a:endParaRPr>
          </a:p>
          <a:p>
            <a:pPr marL="1205865" marR="280670" lvl="2" indent="-228600">
              <a:lnSpc>
                <a:spcPts val="2590"/>
              </a:lnSpc>
              <a:spcBef>
                <a:spcPts val="610"/>
              </a:spcBef>
              <a:buSzPct val="54166"/>
              <a:buFont typeface="Wingdings"/>
              <a:buChar char=""/>
              <a:tabLst>
                <a:tab pos="1205865" algn="l"/>
                <a:tab pos="2171065" algn="l"/>
                <a:tab pos="4252595" algn="l"/>
              </a:tabLst>
            </a:pPr>
            <a:r>
              <a:rPr sz="2400" spc="-10" dirty="0">
                <a:latin typeface="Times New Roman"/>
                <a:cs typeface="Times New Roman"/>
              </a:rPr>
              <a:t>Where</a:t>
            </a:r>
            <a:r>
              <a:rPr sz="2400" dirty="0">
                <a:latin typeface="Times New Roman"/>
                <a:cs typeface="Times New Roman"/>
              </a:rPr>
              <a:t>	</a:t>
            </a:r>
            <a:r>
              <a:rPr sz="2400" spc="-10" dirty="0">
                <a:latin typeface="Courier New"/>
                <a:cs typeface="Courier New"/>
              </a:rPr>
              <a:t>1&lt;h&lt;p-</a:t>
            </a:r>
            <a:r>
              <a:rPr sz="2400" dirty="0">
                <a:latin typeface="Courier New"/>
                <a:cs typeface="Courier New"/>
              </a:rPr>
              <a:t>1</a:t>
            </a:r>
            <a:r>
              <a:rPr sz="2400" spc="15" dirty="0">
                <a:latin typeface="Courier New"/>
                <a:cs typeface="Courier New"/>
              </a:rPr>
              <a:t> </a:t>
            </a:r>
            <a:r>
              <a:rPr sz="2400" spc="-25" dirty="0">
                <a:latin typeface="Times New Roman"/>
                <a:cs typeface="Times New Roman"/>
              </a:rPr>
              <a:t>and</a:t>
            </a:r>
            <a:r>
              <a:rPr sz="2400" dirty="0">
                <a:latin typeface="Times New Roman"/>
                <a:cs typeface="Times New Roman"/>
              </a:rPr>
              <a:t>	</a:t>
            </a:r>
            <a:r>
              <a:rPr sz="2400" spc="-10" dirty="0">
                <a:latin typeface="Courier New"/>
                <a:cs typeface="Courier New"/>
              </a:rPr>
              <a:t>h</a:t>
            </a:r>
            <a:r>
              <a:rPr sz="2400" spc="-15" baseline="24305" dirty="0">
                <a:latin typeface="Courier New"/>
                <a:cs typeface="Courier New"/>
              </a:rPr>
              <a:t>(p-</a:t>
            </a:r>
            <a:r>
              <a:rPr sz="2400" baseline="24305" dirty="0">
                <a:latin typeface="Courier New"/>
                <a:cs typeface="Courier New"/>
              </a:rPr>
              <a:t>1)/q</a:t>
            </a:r>
            <a:r>
              <a:rPr sz="2400" spc="-7" baseline="24305" dirty="0">
                <a:latin typeface="Courier New"/>
                <a:cs typeface="Courier New"/>
              </a:rPr>
              <a:t> </a:t>
            </a:r>
            <a:r>
              <a:rPr sz="2400" dirty="0">
                <a:latin typeface="Courier New"/>
                <a:cs typeface="Courier New"/>
              </a:rPr>
              <a:t>mod</a:t>
            </a:r>
            <a:r>
              <a:rPr sz="2400" spc="-20" dirty="0">
                <a:latin typeface="Courier New"/>
                <a:cs typeface="Courier New"/>
              </a:rPr>
              <a:t> </a:t>
            </a:r>
            <a:r>
              <a:rPr sz="2400" dirty="0">
                <a:latin typeface="Courier New"/>
                <a:cs typeface="Courier New"/>
              </a:rPr>
              <a:t>p</a:t>
            </a:r>
            <a:r>
              <a:rPr sz="2400" spc="-25" dirty="0">
                <a:latin typeface="Courier New"/>
                <a:cs typeface="Courier New"/>
              </a:rPr>
              <a:t> </a:t>
            </a:r>
            <a:r>
              <a:rPr sz="2400" dirty="0">
                <a:latin typeface="Courier New"/>
                <a:cs typeface="Courier New"/>
              </a:rPr>
              <a:t>&gt;</a:t>
            </a:r>
            <a:r>
              <a:rPr sz="2400" spc="-20" dirty="0">
                <a:latin typeface="Courier New"/>
                <a:cs typeface="Courier New"/>
              </a:rPr>
              <a:t> </a:t>
            </a:r>
            <a:r>
              <a:rPr sz="2400" spc="-50" dirty="0">
                <a:latin typeface="Courier New"/>
                <a:cs typeface="Courier New"/>
              </a:rPr>
              <a:t>1 </a:t>
            </a:r>
            <a:r>
              <a:rPr sz="2400" dirty="0">
                <a:latin typeface="Courier New"/>
                <a:cs typeface="Courier New"/>
              </a:rPr>
              <a:t>Commonly</a:t>
            </a:r>
            <a:r>
              <a:rPr sz="2400" spc="-30" dirty="0">
                <a:latin typeface="Courier New"/>
                <a:cs typeface="Courier New"/>
              </a:rPr>
              <a:t> </a:t>
            </a:r>
            <a:r>
              <a:rPr sz="2400" dirty="0">
                <a:latin typeface="Courier New"/>
                <a:cs typeface="Courier New"/>
              </a:rPr>
              <a:t>h=2</a:t>
            </a:r>
            <a:r>
              <a:rPr sz="2400" spc="-25" dirty="0">
                <a:latin typeface="Courier New"/>
                <a:cs typeface="Courier New"/>
              </a:rPr>
              <a:t> </a:t>
            </a:r>
            <a:r>
              <a:rPr sz="2400" dirty="0">
                <a:latin typeface="Courier New"/>
                <a:cs typeface="Courier New"/>
              </a:rPr>
              <a:t>is</a:t>
            </a:r>
            <a:r>
              <a:rPr sz="2400" spc="-25" dirty="0">
                <a:latin typeface="Courier New"/>
                <a:cs typeface="Courier New"/>
              </a:rPr>
              <a:t> </a:t>
            </a:r>
            <a:r>
              <a:rPr sz="2400" spc="-20" dirty="0">
                <a:latin typeface="Courier New"/>
                <a:cs typeface="Courier New"/>
              </a:rPr>
              <a:t>used</a:t>
            </a:r>
            <a:endParaRPr sz="2400">
              <a:latin typeface="Courier New"/>
              <a:cs typeface="Courier New"/>
            </a:endParaRPr>
          </a:p>
          <a:p>
            <a:pPr marL="405765" indent="-342265">
              <a:lnSpc>
                <a:spcPct val="100000"/>
              </a:lnSpc>
              <a:spcBef>
                <a:spcPts val="395"/>
              </a:spcBef>
              <a:buClr>
                <a:srgbClr val="063DE8"/>
              </a:buClr>
              <a:buSzPct val="75000"/>
              <a:buFont typeface="Wingdings"/>
              <a:buChar char=""/>
              <a:tabLst>
                <a:tab pos="405765" algn="l"/>
              </a:tabLst>
            </a:pPr>
            <a:r>
              <a:rPr sz="2400" dirty="0">
                <a:latin typeface="Times New Roman"/>
                <a:cs typeface="Times New Roman"/>
              </a:rPr>
              <a:t>Users</a:t>
            </a:r>
            <a:r>
              <a:rPr sz="2400" spc="-40" dirty="0">
                <a:latin typeface="Times New Roman"/>
                <a:cs typeface="Times New Roman"/>
              </a:rPr>
              <a:t> </a:t>
            </a:r>
            <a:r>
              <a:rPr sz="2400" dirty="0">
                <a:latin typeface="Times New Roman"/>
                <a:cs typeface="Times New Roman"/>
              </a:rPr>
              <a:t>choose</a:t>
            </a:r>
            <a:r>
              <a:rPr sz="2400" spc="-35" dirty="0">
                <a:latin typeface="Times New Roman"/>
                <a:cs typeface="Times New Roman"/>
              </a:rPr>
              <a:t> </a:t>
            </a:r>
            <a:r>
              <a:rPr sz="2400" dirty="0">
                <a:latin typeface="Times New Roman"/>
                <a:cs typeface="Times New Roman"/>
              </a:rPr>
              <a:t>private</a:t>
            </a:r>
            <a:r>
              <a:rPr sz="2400" spc="-35" dirty="0">
                <a:latin typeface="Times New Roman"/>
                <a:cs typeface="Times New Roman"/>
              </a:rPr>
              <a:t> </a:t>
            </a:r>
            <a:r>
              <a:rPr sz="2400" dirty="0">
                <a:latin typeface="Times New Roman"/>
                <a:cs typeface="Times New Roman"/>
              </a:rPr>
              <a:t>&amp;</a:t>
            </a:r>
            <a:r>
              <a:rPr sz="2400" spc="-35" dirty="0">
                <a:latin typeface="Times New Roman"/>
                <a:cs typeface="Times New Roman"/>
              </a:rPr>
              <a:t> </a:t>
            </a:r>
            <a:r>
              <a:rPr sz="2400" dirty="0">
                <a:latin typeface="Times New Roman"/>
                <a:cs typeface="Times New Roman"/>
              </a:rPr>
              <a:t>compute</a:t>
            </a:r>
            <a:r>
              <a:rPr sz="2400" spc="-35" dirty="0">
                <a:latin typeface="Times New Roman"/>
                <a:cs typeface="Times New Roman"/>
              </a:rPr>
              <a:t> </a:t>
            </a:r>
            <a:r>
              <a:rPr sz="2400" dirty="0">
                <a:latin typeface="Times New Roman"/>
                <a:cs typeface="Times New Roman"/>
              </a:rPr>
              <a:t>public</a:t>
            </a:r>
            <a:r>
              <a:rPr sz="2400" spc="-35" dirty="0">
                <a:latin typeface="Times New Roman"/>
                <a:cs typeface="Times New Roman"/>
              </a:rPr>
              <a:t> </a:t>
            </a:r>
            <a:r>
              <a:rPr sz="2400" spc="-20" dirty="0">
                <a:latin typeface="Times New Roman"/>
                <a:cs typeface="Times New Roman"/>
              </a:rPr>
              <a:t>key:</a:t>
            </a:r>
            <a:endParaRPr sz="2400">
              <a:latin typeface="Times New Roman"/>
              <a:cs typeface="Times New Roman"/>
            </a:endParaRPr>
          </a:p>
          <a:p>
            <a:pPr marL="805815" lvl="1" indent="-285115">
              <a:lnSpc>
                <a:spcPct val="100000"/>
              </a:lnSpc>
              <a:spcBef>
                <a:spcPts val="135"/>
              </a:spcBef>
              <a:buSzPct val="66666"/>
              <a:buFont typeface="Wingdings"/>
              <a:buChar char=""/>
              <a:tabLst>
                <a:tab pos="805815" algn="l"/>
                <a:tab pos="4401185" algn="l"/>
              </a:tabLst>
            </a:pPr>
            <a:r>
              <a:rPr sz="2400" dirty="0">
                <a:latin typeface="Times New Roman"/>
                <a:cs typeface="Times New Roman"/>
              </a:rPr>
              <a:t>Choose</a:t>
            </a:r>
            <a:r>
              <a:rPr sz="2400" spc="-5" dirty="0">
                <a:latin typeface="Times New Roman"/>
                <a:cs typeface="Times New Roman"/>
              </a:rPr>
              <a:t> </a:t>
            </a:r>
            <a:r>
              <a:rPr sz="2400" dirty="0">
                <a:latin typeface="Times New Roman"/>
                <a:cs typeface="Times New Roman"/>
              </a:rPr>
              <a:t>random</a:t>
            </a:r>
            <a:r>
              <a:rPr sz="2400" spc="-5" dirty="0">
                <a:latin typeface="Times New Roman"/>
                <a:cs typeface="Times New Roman"/>
              </a:rPr>
              <a:t> </a:t>
            </a:r>
            <a:r>
              <a:rPr sz="2400" dirty="0">
                <a:latin typeface="Times New Roman"/>
                <a:cs typeface="Times New Roman"/>
              </a:rPr>
              <a:t>private</a:t>
            </a:r>
            <a:r>
              <a:rPr sz="2400" spc="-5" dirty="0">
                <a:latin typeface="Times New Roman"/>
                <a:cs typeface="Times New Roman"/>
              </a:rPr>
              <a:t> </a:t>
            </a:r>
            <a:r>
              <a:rPr sz="2400" spc="-20" dirty="0">
                <a:latin typeface="Times New Roman"/>
                <a:cs typeface="Times New Roman"/>
              </a:rPr>
              <a:t>key:</a:t>
            </a:r>
            <a:r>
              <a:rPr sz="2400" dirty="0">
                <a:latin typeface="Times New Roman"/>
                <a:cs typeface="Times New Roman"/>
              </a:rPr>
              <a:t>	</a:t>
            </a:r>
            <a:r>
              <a:rPr sz="2400" spc="-25" dirty="0">
                <a:latin typeface="Courier New"/>
                <a:cs typeface="Courier New"/>
              </a:rPr>
              <a:t>x&lt;q</a:t>
            </a:r>
            <a:endParaRPr sz="2400">
              <a:latin typeface="Courier New"/>
              <a:cs typeface="Courier New"/>
            </a:endParaRPr>
          </a:p>
          <a:p>
            <a:pPr marL="805815" lvl="1" indent="-285115">
              <a:lnSpc>
                <a:spcPct val="100000"/>
              </a:lnSpc>
              <a:spcBef>
                <a:spcPts val="280"/>
              </a:spcBef>
              <a:buSzPct val="66666"/>
              <a:buFont typeface="Wingdings"/>
              <a:buChar char=""/>
              <a:tabLst>
                <a:tab pos="805815" algn="l"/>
              </a:tabLst>
            </a:pPr>
            <a:r>
              <a:rPr sz="2400" dirty="0">
                <a:latin typeface="Times New Roman"/>
                <a:cs typeface="Times New Roman"/>
              </a:rPr>
              <a:t>Compute</a:t>
            </a:r>
            <a:r>
              <a:rPr sz="2400" spc="-15" dirty="0">
                <a:latin typeface="Times New Roman"/>
                <a:cs typeface="Times New Roman"/>
              </a:rPr>
              <a:t> </a:t>
            </a:r>
            <a:r>
              <a:rPr sz="2400" dirty="0">
                <a:latin typeface="Times New Roman"/>
                <a:cs typeface="Times New Roman"/>
              </a:rPr>
              <a:t>public</a:t>
            </a:r>
            <a:r>
              <a:rPr sz="2400" spc="-15" dirty="0">
                <a:latin typeface="Times New Roman"/>
                <a:cs typeface="Times New Roman"/>
              </a:rPr>
              <a:t> </a:t>
            </a:r>
            <a:r>
              <a:rPr sz="2400" dirty="0">
                <a:latin typeface="Times New Roman"/>
                <a:cs typeface="Times New Roman"/>
              </a:rPr>
              <a:t>key:</a:t>
            </a:r>
            <a:r>
              <a:rPr sz="2400" spc="-25" dirty="0">
                <a:latin typeface="Times New Roman"/>
                <a:cs typeface="Times New Roman"/>
              </a:rPr>
              <a:t> </a:t>
            </a:r>
            <a:r>
              <a:rPr sz="2400" dirty="0">
                <a:latin typeface="Courier New"/>
                <a:cs typeface="Courier New"/>
              </a:rPr>
              <a:t>y</a:t>
            </a:r>
            <a:r>
              <a:rPr sz="2400" spc="-30" dirty="0">
                <a:latin typeface="Courier New"/>
                <a:cs typeface="Courier New"/>
              </a:rPr>
              <a:t> </a:t>
            </a:r>
            <a:r>
              <a:rPr sz="2400" dirty="0">
                <a:latin typeface="Courier New"/>
                <a:cs typeface="Courier New"/>
              </a:rPr>
              <a:t>=</a:t>
            </a:r>
            <a:r>
              <a:rPr sz="2400" spc="-30" dirty="0">
                <a:latin typeface="Courier New"/>
                <a:cs typeface="Courier New"/>
              </a:rPr>
              <a:t> </a:t>
            </a:r>
            <a:r>
              <a:rPr sz="2400" dirty="0">
                <a:latin typeface="Courier New"/>
                <a:cs typeface="Courier New"/>
              </a:rPr>
              <a:t>g</a:t>
            </a:r>
            <a:r>
              <a:rPr sz="2400" baseline="24305" dirty="0">
                <a:latin typeface="Courier New"/>
                <a:cs typeface="Courier New"/>
              </a:rPr>
              <a:t>x</a:t>
            </a:r>
            <a:r>
              <a:rPr sz="2400" spc="-22" baseline="24305" dirty="0">
                <a:latin typeface="Courier New"/>
                <a:cs typeface="Courier New"/>
              </a:rPr>
              <a:t> </a:t>
            </a:r>
            <a:r>
              <a:rPr sz="2400" dirty="0">
                <a:latin typeface="Courier New"/>
                <a:cs typeface="Courier New"/>
              </a:rPr>
              <a:t>mod</a:t>
            </a:r>
            <a:r>
              <a:rPr sz="2400" spc="-25" dirty="0">
                <a:latin typeface="Courier New"/>
                <a:cs typeface="Courier New"/>
              </a:rPr>
              <a:t> </a:t>
            </a:r>
            <a:r>
              <a:rPr sz="2400" spc="-50" dirty="0">
                <a:latin typeface="Courier New"/>
                <a:cs typeface="Courier New"/>
              </a:rPr>
              <a:t>p</a:t>
            </a:r>
            <a:endParaRPr sz="240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3265">
              <a:lnSpc>
                <a:spcPct val="100000"/>
              </a:lnSpc>
              <a:spcBef>
                <a:spcPts val="100"/>
              </a:spcBef>
            </a:pPr>
            <a:r>
              <a:rPr dirty="0"/>
              <a:t>DSA Signature </a:t>
            </a:r>
            <a:r>
              <a:rPr spc="-10" dirty="0"/>
              <a:t>Creation</a:t>
            </a:r>
          </a:p>
        </p:txBody>
      </p:sp>
      <p:sp>
        <p:nvSpPr>
          <p:cNvPr id="3" name="object 3"/>
          <p:cNvSpPr txBox="1"/>
          <p:nvPr/>
        </p:nvSpPr>
        <p:spPr>
          <a:xfrm>
            <a:off x="458977" y="1045718"/>
            <a:ext cx="4290060" cy="866775"/>
          </a:xfrm>
          <a:prstGeom prst="rect">
            <a:avLst/>
          </a:prstGeom>
        </p:spPr>
        <p:txBody>
          <a:bodyPr vert="horz" wrap="square" lIns="0" tIns="67310" rIns="0" bIns="0" rtlCol="0">
            <a:spAutoFit/>
          </a:bodyPr>
          <a:lstStyle/>
          <a:p>
            <a:pPr marL="354965" indent="-342265">
              <a:lnSpc>
                <a:spcPct val="100000"/>
              </a:lnSpc>
              <a:spcBef>
                <a:spcPts val="530"/>
              </a:spcBef>
              <a:buClr>
                <a:srgbClr val="063DE8"/>
              </a:buClr>
              <a:buSzPct val="75000"/>
              <a:buFont typeface="Wingdings"/>
              <a:buChar char=""/>
              <a:tabLst>
                <a:tab pos="354965" algn="l"/>
              </a:tabLst>
            </a:pPr>
            <a:r>
              <a:rPr sz="2400" dirty="0">
                <a:latin typeface="Times New Roman"/>
                <a:cs typeface="Times New Roman"/>
              </a:rPr>
              <a:t>To</a:t>
            </a:r>
            <a:r>
              <a:rPr sz="2400" spc="-30" dirty="0">
                <a:latin typeface="Times New Roman"/>
                <a:cs typeface="Times New Roman"/>
              </a:rPr>
              <a:t> </a:t>
            </a:r>
            <a:r>
              <a:rPr sz="2400" b="1" dirty="0">
                <a:latin typeface="Times New Roman"/>
                <a:cs typeface="Times New Roman"/>
              </a:rPr>
              <a:t>sign</a:t>
            </a:r>
            <a:r>
              <a:rPr sz="2400" b="1"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message</a:t>
            </a:r>
            <a:r>
              <a:rPr sz="2400" spc="-15" dirty="0">
                <a:latin typeface="Times New Roman"/>
                <a:cs typeface="Times New Roman"/>
              </a:rPr>
              <a:t> </a:t>
            </a:r>
            <a:r>
              <a:rPr sz="2400" dirty="0">
                <a:latin typeface="Courier New"/>
                <a:cs typeface="Courier New"/>
              </a:rPr>
              <a:t>M</a:t>
            </a:r>
            <a:r>
              <a:rPr sz="2400" spc="-850" dirty="0">
                <a:latin typeface="Courier New"/>
                <a:cs typeface="Courier New"/>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sender:</a:t>
            </a:r>
            <a:endParaRPr sz="2400">
              <a:latin typeface="Times New Roman"/>
              <a:cs typeface="Times New Roman"/>
            </a:endParaRPr>
          </a:p>
          <a:p>
            <a:pPr marL="755015" lvl="1" indent="-285115">
              <a:lnSpc>
                <a:spcPct val="100000"/>
              </a:lnSpc>
              <a:spcBef>
                <a:spcPts val="430"/>
              </a:spcBef>
              <a:buSzPct val="66666"/>
              <a:buFont typeface="Wingdings"/>
              <a:buChar char=""/>
              <a:tabLst>
                <a:tab pos="755015" algn="l"/>
              </a:tabLst>
            </a:pPr>
            <a:r>
              <a:rPr sz="2400" dirty="0">
                <a:latin typeface="Times New Roman"/>
                <a:cs typeface="Times New Roman"/>
              </a:rPr>
              <a:t>Generates</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random</a:t>
            </a:r>
            <a:endParaRPr sz="2400">
              <a:latin typeface="Times New Roman"/>
              <a:cs typeface="Times New Roman"/>
            </a:endParaRPr>
          </a:p>
        </p:txBody>
      </p:sp>
      <p:sp>
        <p:nvSpPr>
          <p:cNvPr id="4" name="object 4"/>
          <p:cNvSpPr txBox="1"/>
          <p:nvPr/>
        </p:nvSpPr>
        <p:spPr>
          <a:xfrm>
            <a:off x="458977" y="1794764"/>
            <a:ext cx="4182110" cy="1906905"/>
          </a:xfrm>
          <a:prstGeom prst="rect">
            <a:avLst/>
          </a:prstGeom>
        </p:spPr>
        <p:txBody>
          <a:bodyPr vert="horz" wrap="square" lIns="0" tIns="48260" rIns="0" bIns="0" rtlCol="0">
            <a:spAutoFit/>
          </a:bodyPr>
          <a:lstStyle/>
          <a:p>
            <a:pPr marL="755015">
              <a:lnSpc>
                <a:spcPct val="100000"/>
              </a:lnSpc>
              <a:spcBef>
                <a:spcPts val="380"/>
              </a:spcBef>
            </a:pPr>
            <a:r>
              <a:rPr sz="2400" dirty="0">
                <a:latin typeface="Times New Roman"/>
                <a:cs typeface="Times New Roman"/>
              </a:rPr>
              <a:t>signature</a:t>
            </a:r>
            <a:r>
              <a:rPr sz="2400" spc="-20" dirty="0">
                <a:latin typeface="Times New Roman"/>
                <a:cs typeface="Times New Roman"/>
              </a:rPr>
              <a:t> </a:t>
            </a:r>
            <a:r>
              <a:rPr sz="2400" dirty="0">
                <a:latin typeface="Times New Roman"/>
                <a:cs typeface="Times New Roman"/>
              </a:rPr>
              <a:t>key</a:t>
            </a:r>
            <a:r>
              <a:rPr sz="2400" spc="-15" dirty="0">
                <a:latin typeface="Times New Roman"/>
                <a:cs typeface="Times New Roman"/>
              </a:rPr>
              <a:t> </a:t>
            </a:r>
            <a:r>
              <a:rPr sz="2400" dirty="0">
                <a:latin typeface="Courier New"/>
                <a:cs typeface="Courier New"/>
              </a:rPr>
              <a:t>k,</a:t>
            </a:r>
            <a:r>
              <a:rPr sz="2400" spc="-40" dirty="0">
                <a:latin typeface="Courier New"/>
                <a:cs typeface="Courier New"/>
              </a:rPr>
              <a:t> </a:t>
            </a:r>
            <a:r>
              <a:rPr sz="2400" spc="-25" dirty="0">
                <a:latin typeface="Courier New"/>
                <a:cs typeface="Courier New"/>
              </a:rPr>
              <a:t>k&lt;q</a:t>
            </a:r>
            <a:endParaRPr sz="2400">
              <a:latin typeface="Courier New"/>
              <a:cs typeface="Courier New"/>
            </a:endParaRPr>
          </a:p>
          <a:p>
            <a:pPr marL="755650" marR="5080" indent="-285750">
              <a:lnSpc>
                <a:spcPct val="92500"/>
              </a:lnSpc>
              <a:spcBef>
                <a:spcPts val="500"/>
              </a:spcBef>
              <a:buSzPct val="66666"/>
              <a:buFont typeface="Wingdings"/>
              <a:buChar char=""/>
              <a:tabLst>
                <a:tab pos="755650" algn="l"/>
              </a:tabLst>
            </a:pPr>
            <a:r>
              <a:rPr sz="2400" dirty="0">
                <a:latin typeface="Times New Roman"/>
                <a:cs typeface="Times New Roman"/>
              </a:rPr>
              <a:t>Note:</a:t>
            </a:r>
            <a:r>
              <a:rPr sz="2400" spc="-35" dirty="0">
                <a:latin typeface="Times New Roman"/>
                <a:cs typeface="Times New Roman"/>
              </a:rPr>
              <a:t> </a:t>
            </a:r>
            <a:r>
              <a:rPr sz="2400" dirty="0">
                <a:latin typeface="Courier New"/>
                <a:cs typeface="Courier New"/>
              </a:rPr>
              <a:t>k</a:t>
            </a:r>
            <a:r>
              <a:rPr sz="2400" spc="-844" dirty="0">
                <a:latin typeface="Courier New"/>
                <a:cs typeface="Courier New"/>
              </a:rPr>
              <a:t> </a:t>
            </a:r>
            <a:r>
              <a:rPr sz="2400" dirty="0">
                <a:latin typeface="Times New Roman"/>
                <a:cs typeface="Times New Roman"/>
              </a:rPr>
              <a:t>must</a:t>
            </a:r>
            <a:r>
              <a:rPr sz="2400" spc="-15"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random,</a:t>
            </a:r>
            <a:r>
              <a:rPr sz="2400" spc="-15" dirty="0">
                <a:latin typeface="Times New Roman"/>
                <a:cs typeface="Times New Roman"/>
              </a:rPr>
              <a:t> </a:t>
            </a:r>
            <a:r>
              <a:rPr sz="2400" spc="-25" dirty="0">
                <a:latin typeface="Times New Roman"/>
                <a:cs typeface="Times New Roman"/>
              </a:rPr>
              <a:t>be </a:t>
            </a:r>
            <a:r>
              <a:rPr sz="2400" dirty="0">
                <a:latin typeface="Times New Roman"/>
                <a:cs typeface="Times New Roman"/>
              </a:rPr>
              <a:t>destroyed</a:t>
            </a:r>
            <a:r>
              <a:rPr sz="2400" spc="-45" dirty="0">
                <a:latin typeface="Times New Roman"/>
                <a:cs typeface="Times New Roman"/>
              </a:rPr>
              <a:t> </a:t>
            </a:r>
            <a:r>
              <a:rPr sz="2400" dirty="0">
                <a:latin typeface="Times New Roman"/>
                <a:cs typeface="Times New Roman"/>
              </a:rPr>
              <a:t>after</a:t>
            </a:r>
            <a:r>
              <a:rPr sz="2400" spc="-45" dirty="0">
                <a:latin typeface="Times New Roman"/>
                <a:cs typeface="Times New Roman"/>
              </a:rPr>
              <a:t> </a:t>
            </a:r>
            <a:r>
              <a:rPr sz="2400" dirty="0">
                <a:latin typeface="Times New Roman"/>
                <a:cs typeface="Times New Roman"/>
              </a:rPr>
              <a:t>use,</a:t>
            </a:r>
            <a:r>
              <a:rPr sz="2400" spc="-40" dirty="0">
                <a:latin typeface="Times New Roman"/>
                <a:cs typeface="Times New Roman"/>
              </a:rPr>
              <a:t> </a:t>
            </a:r>
            <a:r>
              <a:rPr sz="2400" spc="-25" dirty="0">
                <a:latin typeface="Times New Roman"/>
                <a:cs typeface="Times New Roman"/>
              </a:rPr>
              <a:t>and </a:t>
            </a:r>
            <a:r>
              <a:rPr sz="2400" dirty="0">
                <a:latin typeface="Times New Roman"/>
                <a:cs typeface="Times New Roman"/>
              </a:rPr>
              <a:t>never be </a:t>
            </a:r>
            <a:r>
              <a:rPr sz="2400" spc="-10" dirty="0">
                <a:latin typeface="Times New Roman"/>
                <a:cs typeface="Times New Roman"/>
              </a:rPr>
              <a:t>reused</a:t>
            </a:r>
            <a:endParaRPr sz="2400">
              <a:latin typeface="Times New Roman"/>
              <a:cs typeface="Times New Roman"/>
            </a:endParaRPr>
          </a:p>
          <a:p>
            <a:pPr marL="354965" indent="-342265">
              <a:lnSpc>
                <a:spcPct val="100000"/>
              </a:lnSpc>
              <a:spcBef>
                <a:spcPts val="280"/>
              </a:spcBef>
              <a:buClr>
                <a:srgbClr val="063DE8"/>
              </a:buClr>
              <a:buSzPct val="75000"/>
              <a:buFont typeface="Wingdings"/>
              <a:buChar char=""/>
              <a:tabLst>
                <a:tab pos="354965" algn="l"/>
              </a:tabLst>
            </a:pPr>
            <a:r>
              <a:rPr sz="2400" dirty="0">
                <a:latin typeface="Times New Roman"/>
                <a:cs typeface="Times New Roman"/>
              </a:rPr>
              <a:t>Then</a:t>
            </a:r>
            <a:r>
              <a:rPr sz="2400" spc="-45" dirty="0">
                <a:latin typeface="Times New Roman"/>
                <a:cs typeface="Times New Roman"/>
              </a:rPr>
              <a:t> </a:t>
            </a:r>
            <a:r>
              <a:rPr sz="2400" dirty="0">
                <a:latin typeface="Times New Roman"/>
                <a:cs typeface="Times New Roman"/>
              </a:rPr>
              <a:t>computes</a:t>
            </a:r>
            <a:r>
              <a:rPr sz="2400" spc="-35" dirty="0">
                <a:latin typeface="Times New Roman"/>
                <a:cs typeface="Times New Roman"/>
              </a:rPr>
              <a:t> </a:t>
            </a:r>
            <a:r>
              <a:rPr sz="2400" dirty="0">
                <a:latin typeface="Times New Roman"/>
                <a:cs typeface="Times New Roman"/>
              </a:rPr>
              <a:t>signature</a:t>
            </a:r>
            <a:r>
              <a:rPr sz="2400" spc="-35" dirty="0">
                <a:latin typeface="Times New Roman"/>
                <a:cs typeface="Times New Roman"/>
              </a:rPr>
              <a:t> </a:t>
            </a:r>
            <a:r>
              <a:rPr sz="2400" spc="-20" dirty="0">
                <a:latin typeface="Times New Roman"/>
                <a:cs typeface="Times New Roman"/>
              </a:rPr>
              <a:t>pair:</a:t>
            </a:r>
            <a:endParaRPr sz="2400">
              <a:latin typeface="Times New Roman"/>
              <a:cs typeface="Times New Roman"/>
            </a:endParaRPr>
          </a:p>
        </p:txBody>
      </p:sp>
      <p:sp>
        <p:nvSpPr>
          <p:cNvPr id="5" name="object 5"/>
          <p:cNvSpPr txBox="1"/>
          <p:nvPr/>
        </p:nvSpPr>
        <p:spPr>
          <a:xfrm>
            <a:off x="420877" y="3687571"/>
            <a:ext cx="4349750" cy="2459990"/>
          </a:xfrm>
          <a:prstGeom prst="rect">
            <a:avLst/>
          </a:prstGeom>
        </p:spPr>
        <p:txBody>
          <a:bodyPr vert="horz" wrap="square" lIns="0" tIns="12700" rIns="0" bIns="0" rtlCol="0">
            <a:spAutoFit/>
          </a:bodyPr>
          <a:lstStyle/>
          <a:p>
            <a:pPr marL="73660" algn="ctr">
              <a:lnSpc>
                <a:spcPct val="100000"/>
              </a:lnSpc>
              <a:spcBef>
                <a:spcPts val="100"/>
              </a:spcBef>
            </a:pPr>
            <a:r>
              <a:rPr sz="2400" dirty="0">
                <a:latin typeface="Courier New"/>
                <a:cs typeface="Courier New"/>
              </a:rPr>
              <a:t>r</a:t>
            </a:r>
            <a:r>
              <a:rPr sz="2400" spc="-20" dirty="0">
                <a:latin typeface="Courier New"/>
                <a:cs typeface="Courier New"/>
              </a:rPr>
              <a:t> </a:t>
            </a:r>
            <a:r>
              <a:rPr sz="2400" dirty="0">
                <a:latin typeface="Courier New"/>
                <a:cs typeface="Courier New"/>
              </a:rPr>
              <a:t>=</a:t>
            </a:r>
            <a:r>
              <a:rPr sz="2400" spc="-20" dirty="0">
                <a:latin typeface="Courier New"/>
                <a:cs typeface="Courier New"/>
              </a:rPr>
              <a:t> </a:t>
            </a:r>
            <a:r>
              <a:rPr sz="2400" dirty="0">
                <a:latin typeface="Courier New"/>
                <a:cs typeface="Courier New"/>
              </a:rPr>
              <a:t>(g</a:t>
            </a:r>
            <a:r>
              <a:rPr sz="2400" baseline="24305" dirty="0">
                <a:latin typeface="Courier New"/>
                <a:cs typeface="Courier New"/>
              </a:rPr>
              <a:t>k</a:t>
            </a:r>
            <a:r>
              <a:rPr sz="2400" spc="690" baseline="24305" dirty="0">
                <a:latin typeface="Courier New"/>
                <a:cs typeface="Courier New"/>
              </a:rPr>
              <a:t> </a:t>
            </a:r>
            <a:r>
              <a:rPr sz="2400" dirty="0">
                <a:latin typeface="Courier New"/>
                <a:cs typeface="Courier New"/>
              </a:rPr>
              <a:t>mod</a:t>
            </a:r>
            <a:r>
              <a:rPr sz="2400" spc="-25" dirty="0">
                <a:latin typeface="Courier New"/>
                <a:cs typeface="Courier New"/>
              </a:rPr>
              <a:t> </a:t>
            </a:r>
            <a:r>
              <a:rPr sz="2400" dirty="0">
                <a:latin typeface="Courier New"/>
                <a:cs typeface="Courier New"/>
              </a:rPr>
              <a:t>p)mod</a:t>
            </a:r>
            <a:r>
              <a:rPr sz="2400" spc="-15" dirty="0">
                <a:latin typeface="Courier New"/>
                <a:cs typeface="Courier New"/>
              </a:rPr>
              <a:t> </a:t>
            </a:r>
            <a:r>
              <a:rPr sz="2400" spc="-50" dirty="0">
                <a:latin typeface="Courier New"/>
                <a:cs typeface="Courier New"/>
              </a:rPr>
              <a:t>q</a:t>
            </a:r>
            <a:endParaRPr sz="2400">
              <a:latin typeface="Courier New"/>
              <a:cs typeface="Courier New"/>
            </a:endParaRPr>
          </a:p>
          <a:p>
            <a:pPr marL="793115">
              <a:lnSpc>
                <a:spcPct val="100000"/>
              </a:lnSpc>
              <a:spcBef>
                <a:spcPts val="105"/>
              </a:spcBef>
            </a:pPr>
            <a:r>
              <a:rPr sz="2000" dirty="0">
                <a:latin typeface="Courier New"/>
                <a:cs typeface="Courier New"/>
              </a:rPr>
              <a:t>if</a:t>
            </a:r>
            <a:r>
              <a:rPr sz="2000" spc="-55" dirty="0">
                <a:latin typeface="Courier New"/>
                <a:cs typeface="Courier New"/>
              </a:rPr>
              <a:t> </a:t>
            </a:r>
            <a:r>
              <a:rPr sz="2000" dirty="0">
                <a:latin typeface="Courier New"/>
                <a:cs typeface="Courier New"/>
              </a:rPr>
              <a:t>r=0</a:t>
            </a:r>
            <a:r>
              <a:rPr sz="2000" spc="-55" dirty="0">
                <a:latin typeface="Courier New"/>
                <a:cs typeface="Courier New"/>
              </a:rPr>
              <a:t> </a:t>
            </a:r>
            <a:r>
              <a:rPr sz="2000" dirty="0">
                <a:latin typeface="Courier New"/>
                <a:cs typeface="Courier New"/>
              </a:rPr>
              <a:t>choose</a:t>
            </a:r>
            <a:r>
              <a:rPr sz="2000" spc="-55" dirty="0">
                <a:latin typeface="Courier New"/>
                <a:cs typeface="Courier New"/>
              </a:rPr>
              <a:t> </a:t>
            </a:r>
            <a:r>
              <a:rPr sz="2000" dirty="0">
                <a:latin typeface="Courier New"/>
                <a:cs typeface="Courier New"/>
              </a:rPr>
              <a:t>another</a:t>
            </a:r>
            <a:r>
              <a:rPr sz="2000" spc="-55" dirty="0">
                <a:latin typeface="Courier New"/>
                <a:cs typeface="Courier New"/>
              </a:rPr>
              <a:t> </a:t>
            </a:r>
            <a:r>
              <a:rPr sz="2000" spc="-50" dirty="0">
                <a:latin typeface="Courier New"/>
                <a:cs typeface="Courier New"/>
              </a:rPr>
              <a:t>k</a:t>
            </a:r>
            <a:endParaRPr sz="2000">
              <a:latin typeface="Courier New"/>
              <a:cs typeface="Courier New"/>
            </a:endParaRPr>
          </a:p>
          <a:p>
            <a:pPr marL="13970" algn="ctr">
              <a:lnSpc>
                <a:spcPts val="2730"/>
              </a:lnSpc>
              <a:spcBef>
                <a:spcPts val="360"/>
              </a:spcBef>
            </a:pPr>
            <a:r>
              <a:rPr sz="2400" dirty="0">
                <a:latin typeface="Courier New"/>
                <a:cs typeface="Courier New"/>
              </a:rPr>
              <a:t>s</a:t>
            </a:r>
            <a:r>
              <a:rPr sz="2400" spc="-25" dirty="0">
                <a:latin typeface="Courier New"/>
                <a:cs typeface="Courier New"/>
              </a:rPr>
              <a:t> </a:t>
            </a:r>
            <a:r>
              <a:rPr sz="2400" dirty="0">
                <a:latin typeface="Courier New"/>
                <a:cs typeface="Courier New"/>
              </a:rPr>
              <a:t>=</a:t>
            </a:r>
            <a:r>
              <a:rPr sz="2400" spc="-20" dirty="0">
                <a:latin typeface="Courier New"/>
                <a:cs typeface="Courier New"/>
              </a:rPr>
              <a:t> </a:t>
            </a:r>
            <a:r>
              <a:rPr sz="2400" spc="-10" dirty="0">
                <a:latin typeface="Courier New"/>
                <a:cs typeface="Courier New"/>
              </a:rPr>
              <a:t>[k</a:t>
            </a:r>
            <a:r>
              <a:rPr sz="2400" spc="-15" baseline="24305" dirty="0">
                <a:latin typeface="Courier New"/>
                <a:cs typeface="Courier New"/>
              </a:rPr>
              <a:t>-</a:t>
            </a:r>
            <a:r>
              <a:rPr sz="2400" baseline="24305" dirty="0">
                <a:latin typeface="Courier New"/>
                <a:cs typeface="Courier New"/>
              </a:rPr>
              <a:t>1</a:t>
            </a:r>
            <a:r>
              <a:rPr sz="2400" dirty="0">
                <a:latin typeface="Courier New"/>
                <a:cs typeface="Courier New"/>
              </a:rPr>
              <a:t>(H(M)+</a:t>
            </a:r>
            <a:r>
              <a:rPr sz="2400" spc="-20" dirty="0">
                <a:latin typeface="Courier New"/>
                <a:cs typeface="Courier New"/>
              </a:rPr>
              <a:t> xr)]</a:t>
            </a:r>
            <a:endParaRPr sz="2400">
              <a:latin typeface="Courier New"/>
              <a:cs typeface="Courier New"/>
            </a:endParaRPr>
          </a:p>
          <a:p>
            <a:pPr marL="793115">
              <a:lnSpc>
                <a:spcPts val="2650"/>
              </a:lnSpc>
            </a:pPr>
            <a:r>
              <a:rPr sz="2400" dirty="0">
                <a:latin typeface="Courier New"/>
                <a:cs typeface="Courier New"/>
              </a:rPr>
              <a:t>mod</a:t>
            </a:r>
            <a:r>
              <a:rPr sz="2400" spc="-20" dirty="0">
                <a:latin typeface="Courier New"/>
                <a:cs typeface="Courier New"/>
              </a:rPr>
              <a:t> </a:t>
            </a:r>
            <a:r>
              <a:rPr sz="2400" spc="-50" dirty="0">
                <a:latin typeface="Courier New"/>
                <a:cs typeface="Courier New"/>
              </a:rPr>
              <a:t>q</a:t>
            </a:r>
            <a:endParaRPr sz="2400">
              <a:latin typeface="Courier New"/>
              <a:cs typeface="Courier New"/>
            </a:endParaRPr>
          </a:p>
          <a:p>
            <a:pPr marL="793115">
              <a:lnSpc>
                <a:spcPts val="2320"/>
              </a:lnSpc>
            </a:pPr>
            <a:r>
              <a:rPr sz="2000" dirty="0">
                <a:latin typeface="Courier New"/>
                <a:cs typeface="Courier New"/>
              </a:rPr>
              <a:t>if</a:t>
            </a:r>
            <a:r>
              <a:rPr sz="2000" spc="-55" dirty="0">
                <a:latin typeface="Courier New"/>
                <a:cs typeface="Courier New"/>
              </a:rPr>
              <a:t> </a:t>
            </a:r>
            <a:r>
              <a:rPr sz="2000" dirty="0">
                <a:latin typeface="Courier New"/>
                <a:cs typeface="Courier New"/>
              </a:rPr>
              <a:t>s=0</a:t>
            </a:r>
            <a:r>
              <a:rPr sz="2000" spc="-55" dirty="0">
                <a:latin typeface="Courier New"/>
                <a:cs typeface="Courier New"/>
              </a:rPr>
              <a:t> </a:t>
            </a:r>
            <a:r>
              <a:rPr sz="2000" dirty="0">
                <a:latin typeface="Courier New"/>
                <a:cs typeface="Courier New"/>
              </a:rPr>
              <a:t>choose</a:t>
            </a:r>
            <a:r>
              <a:rPr sz="2000" spc="-55" dirty="0">
                <a:latin typeface="Courier New"/>
                <a:cs typeface="Courier New"/>
              </a:rPr>
              <a:t> </a:t>
            </a:r>
            <a:r>
              <a:rPr sz="2000" dirty="0">
                <a:latin typeface="Courier New"/>
                <a:cs typeface="Courier New"/>
              </a:rPr>
              <a:t>another</a:t>
            </a:r>
            <a:r>
              <a:rPr sz="2000" spc="-55" dirty="0">
                <a:latin typeface="Courier New"/>
                <a:cs typeface="Courier New"/>
              </a:rPr>
              <a:t> </a:t>
            </a:r>
            <a:r>
              <a:rPr sz="2000" spc="-50" dirty="0">
                <a:latin typeface="Courier New"/>
                <a:cs typeface="Courier New"/>
              </a:rPr>
              <a:t>k</a:t>
            </a:r>
            <a:endParaRPr sz="2000">
              <a:latin typeface="Courier New"/>
              <a:cs typeface="Courier New"/>
            </a:endParaRPr>
          </a:p>
          <a:p>
            <a:pPr marL="393065" marR="420370" indent="-342900">
              <a:lnSpc>
                <a:spcPts val="2580"/>
              </a:lnSpc>
              <a:spcBef>
                <a:spcPts val="590"/>
              </a:spcBef>
              <a:buClr>
                <a:srgbClr val="063DE8"/>
              </a:buClr>
              <a:buSzPct val="75000"/>
              <a:buFont typeface="Wingdings"/>
              <a:buChar char=""/>
              <a:tabLst>
                <a:tab pos="393065" algn="l"/>
              </a:tabLst>
            </a:pPr>
            <a:r>
              <a:rPr sz="2400" dirty="0">
                <a:latin typeface="Times New Roman"/>
                <a:cs typeface="Times New Roman"/>
              </a:rPr>
              <a:t>Sends</a:t>
            </a:r>
            <a:r>
              <a:rPr sz="2400" spc="-20" dirty="0">
                <a:latin typeface="Times New Roman"/>
                <a:cs typeface="Times New Roman"/>
              </a:rPr>
              <a:t> </a:t>
            </a:r>
            <a:r>
              <a:rPr sz="2400" dirty="0">
                <a:latin typeface="Times New Roman"/>
                <a:cs typeface="Times New Roman"/>
              </a:rPr>
              <a:t>signature</a:t>
            </a:r>
            <a:r>
              <a:rPr sz="2400" spc="-20" dirty="0">
                <a:latin typeface="Times New Roman"/>
                <a:cs typeface="Times New Roman"/>
              </a:rPr>
              <a:t> </a:t>
            </a:r>
            <a:r>
              <a:rPr sz="2400" spc="-10" dirty="0">
                <a:latin typeface="Courier New"/>
                <a:cs typeface="Courier New"/>
              </a:rPr>
              <a:t>(r,s)</a:t>
            </a:r>
            <a:r>
              <a:rPr sz="2400" spc="-844" dirty="0">
                <a:latin typeface="Courier New"/>
                <a:cs typeface="Courier New"/>
              </a:rPr>
              <a:t> </a:t>
            </a:r>
            <a:r>
              <a:rPr sz="2400" spc="-20" dirty="0">
                <a:latin typeface="Times New Roman"/>
                <a:cs typeface="Times New Roman"/>
              </a:rPr>
              <a:t>with </a:t>
            </a:r>
            <a:r>
              <a:rPr sz="2400" dirty="0">
                <a:latin typeface="Times New Roman"/>
                <a:cs typeface="Times New Roman"/>
              </a:rPr>
              <a:t>message</a:t>
            </a:r>
            <a:r>
              <a:rPr sz="2400" spc="-5" dirty="0">
                <a:latin typeface="Times New Roman"/>
                <a:cs typeface="Times New Roman"/>
              </a:rPr>
              <a:t> </a:t>
            </a:r>
            <a:r>
              <a:rPr sz="2400" spc="-50" dirty="0">
                <a:latin typeface="Courier New"/>
                <a:cs typeface="Courier New"/>
              </a:rPr>
              <a:t>M</a:t>
            </a:r>
            <a:endParaRPr sz="2400">
              <a:latin typeface="Courier New"/>
              <a:cs typeface="Courier New"/>
            </a:endParaRPr>
          </a:p>
        </p:txBody>
      </p:sp>
      <p:sp>
        <p:nvSpPr>
          <p:cNvPr id="6" name="object 6"/>
          <p:cNvSpPr txBox="1"/>
          <p:nvPr/>
        </p:nvSpPr>
        <p:spPr>
          <a:xfrm>
            <a:off x="6012179" y="2276094"/>
            <a:ext cx="1779270" cy="361950"/>
          </a:xfrm>
          <a:prstGeom prst="rect">
            <a:avLst/>
          </a:prstGeom>
          <a:ln w="25400">
            <a:solidFill>
              <a:srgbClr val="000000"/>
            </a:solidFill>
          </a:ln>
        </p:spPr>
        <p:txBody>
          <a:bodyPr vert="horz" wrap="square" lIns="0" tIns="50165" rIns="0" bIns="0" rtlCol="0">
            <a:spAutoFit/>
          </a:bodyPr>
          <a:lstStyle/>
          <a:p>
            <a:pPr marL="104139">
              <a:lnSpc>
                <a:spcPct val="100000"/>
              </a:lnSpc>
              <a:spcBef>
                <a:spcPts val="395"/>
              </a:spcBef>
            </a:pPr>
            <a:r>
              <a:rPr sz="1600" dirty="0">
                <a:latin typeface="Times New Roman"/>
                <a:cs typeface="Times New Roman"/>
              </a:rPr>
              <a:t>r=(g</a:t>
            </a:r>
            <a:r>
              <a:rPr sz="1650" baseline="25252" dirty="0">
                <a:latin typeface="Times New Roman"/>
                <a:cs typeface="Times New Roman"/>
              </a:rPr>
              <a:t>k</a:t>
            </a:r>
            <a:r>
              <a:rPr sz="1650" spc="135" baseline="25252" dirty="0">
                <a:latin typeface="Times New Roman"/>
                <a:cs typeface="Times New Roman"/>
              </a:rPr>
              <a:t> </a:t>
            </a:r>
            <a:r>
              <a:rPr sz="1600" dirty="0">
                <a:latin typeface="Times New Roman"/>
                <a:cs typeface="Times New Roman"/>
              </a:rPr>
              <a:t>mod</a:t>
            </a:r>
            <a:r>
              <a:rPr sz="1600" spc="-35" dirty="0">
                <a:latin typeface="Times New Roman"/>
                <a:cs typeface="Times New Roman"/>
              </a:rPr>
              <a:t> </a:t>
            </a:r>
            <a:r>
              <a:rPr sz="1600" dirty="0">
                <a:latin typeface="Times New Roman"/>
                <a:cs typeface="Times New Roman"/>
              </a:rPr>
              <a:t>p)mod</a:t>
            </a:r>
            <a:r>
              <a:rPr sz="1600" spc="-45" dirty="0">
                <a:latin typeface="Times New Roman"/>
                <a:cs typeface="Times New Roman"/>
              </a:rPr>
              <a:t> </a:t>
            </a:r>
            <a:r>
              <a:rPr sz="1600" spc="-50" dirty="0">
                <a:latin typeface="Times New Roman"/>
                <a:cs typeface="Times New Roman"/>
              </a:rPr>
              <a:t>q</a:t>
            </a:r>
            <a:endParaRPr sz="1600">
              <a:latin typeface="Times New Roman"/>
              <a:cs typeface="Times New Roman"/>
            </a:endParaRPr>
          </a:p>
        </p:txBody>
      </p:sp>
      <p:sp>
        <p:nvSpPr>
          <p:cNvPr id="7" name="object 7"/>
          <p:cNvSpPr txBox="1"/>
          <p:nvPr/>
        </p:nvSpPr>
        <p:spPr>
          <a:xfrm>
            <a:off x="6084570" y="3573779"/>
            <a:ext cx="2207260" cy="863600"/>
          </a:xfrm>
          <a:prstGeom prst="rect">
            <a:avLst/>
          </a:prstGeom>
          <a:ln w="25400">
            <a:solidFill>
              <a:srgbClr val="000000"/>
            </a:solidFill>
          </a:ln>
        </p:spPr>
        <p:txBody>
          <a:bodyPr vert="horz" wrap="square" lIns="0" tIns="60325" rIns="0" bIns="0" rtlCol="0">
            <a:spAutoFit/>
          </a:bodyPr>
          <a:lstStyle/>
          <a:p>
            <a:pPr>
              <a:lnSpc>
                <a:spcPct val="100000"/>
              </a:lnSpc>
              <a:spcBef>
                <a:spcPts val="475"/>
              </a:spcBef>
            </a:pPr>
            <a:endParaRPr sz="1600">
              <a:latin typeface="Times New Roman"/>
              <a:cs typeface="Times New Roman"/>
            </a:endParaRPr>
          </a:p>
          <a:p>
            <a:pPr marL="104775">
              <a:lnSpc>
                <a:spcPct val="100000"/>
              </a:lnSpc>
            </a:pPr>
            <a:r>
              <a:rPr sz="1600" spc="-10" dirty="0">
                <a:latin typeface="Times New Roman"/>
                <a:cs typeface="Times New Roman"/>
              </a:rPr>
              <a:t>s=(k</a:t>
            </a:r>
            <a:r>
              <a:rPr sz="1650" spc="-15" baseline="25252" dirty="0">
                <a:latin typeface="Times New Roman"/>
                <a:cs typeface="Times New Roman"/>
              </a:rPr>
              <a:t>-</a:t>
            </a:r>
            <a:r>
              <a:rPr sz="1650" baseline="25252" dirty="0">
                <a:latin typeface="Times New Roman"/>
                <a:cs typeface="Times New Roman"/>
              </a:rPr>
              <a:t>1</a:t>
            </a:r>
            <a:r>
              <a:rPr sz="1600" dirty="0">
                <a:latin typeface="Times New Roman"/>
                <a:cs typeface="Times New Roman"/>
              </a:rPr>
              <a:t>(H(M)+xr))</a:t>
            </a:r>
            <a:r>
              <a:rPr sz="1600" spc="-45" dirty="0">
                <a:latin typeface="Times New Roman"/>
                <a:cs typeface="Times New Roman"/>
              </a:rPr>
              <a:t> </a:t>
            </a:r>
            <a:r>
              <a:rPr sz="1600" dirty="0">
                <a:latin typeface="Times New Roman"/>
                <a:cs typeface="Times New Roman"/>
              </a:rPr>
              <a:t>mod</a:t>
            </a:r>
            <a:r>
              <a:rPr sz="1600" spc="-50" dirty="0">
                <a:latin typeface="Times New Roman"/>
                <a:cs typeface="Times New Roman"/>
              </a:rPr>
              <a:t> q</a:t>
            </a:r>
            <a:endParaRPr sz="1600">
              <a:latin typeface="Times New Roman"/>
              <a:cs typeface="Times New Roman"/>
            </a:endParaRPr>
          </a:p>
        </p:txBody>
      </p:sp>
      <p:sp>
        <p:nvSpPr>
          <p:cNvPr id="8" name="object 8"/>
          <p:cNvSpPr txBox="1"/>
          <p:nvPr/>
        </p:nvSpPr>
        <p:spPr>
          <a:xfrm>
            <a:off x="4859273" y="3861053"/>
            <a:ext cx="481330" cy="482600"/>
          </a:xfrm>
          <a:prstGeom prst="rect">
            <a:avLst/>
          </a:prstGeom>
          <a:ln w="25400">
            <a:solidFill>
              <a:srgbClr val="000000"/>
            </a:solidFill>
          </a:ln>
        </p:spPr>
        <p:txBody>
          <a:bodyPr vert="horz" wrap="square" lIns="0" tIns="43815" rIns="0" bIns="0" rtlCol="0">
            <a:spAutoFit/>
          </a:bodyPr>
          <a:lstStyle/>
          <a:p>
            <a:pPr marL="104775">
              <a:lnSpc>
                <a:spcPct val="100000"/>
              </a:lnSpc>
              <a:spcBef>
                <a:spcPts val="345"/>
              </a:spcBef>
            </a:pPr>
            <a:r>
              <a:rPr sz="2400" spc="-50" dirty="0">
                <a:latin typeface="Times New Roman"/>
                <a:cs typeface="Times New Roman"/>
              </a:rPr>
              <a:t>M</a:t>
            </a:r>
            <a:endParaRPr sz="2400">
              <a:latin typeface="Times New Roman"/>
              <a:cs typeface="Times New Roman"/>
            </a:endParaRPr>
          </a:p>
        </p:txBody>
      </p:sp>
      <p:sp>
        <p:nvSpPr>
          <p:cNvPr id="9" name="object 9"/>
          <p:cNvSpPr/>
          <p:nvPr/>
        </p:nvSpPr>
        <p:spPr>
          <a:xfrm>
            <a:off x="5508497" y="3861053"/>
            <a:ext cx="454659" cy="506095"/>
          </a:xfrm>
          <a:custGeom>
            <a:avLst/>
            <a:gdLst/>
            <a:ahLst/>
            <a:cxnLst/>
            <a:rect l="l" t="t" r="r" b="b"/>
            <a:pathLst>
              <a:path w="454660" h="506095">
                <a:moveTo>
                  <a:pt x="75437" y="0"/>
                </a:moveTo>
                <a:lnTo>
                  <a:pt x="46291" y="5893"/>
                </a:lnTo>
                <a:lnTo>
                  <a:pt x="22288" y="22002"/>
                </a:lnTo>
                <a:lnTo>
                  <a:pt x="6000" y="45970"/>
                </a:lnTo>
                <a:lnTo>
                  <a:pt x="0" y="75438"/>
                </a:lnTo>
                <a:lnTo>
                  <a:pt x="0" y="430530"/>
                </a:lnTo>
                <a:lnTo>
                  <a:pt x="6000" y="459997"/>
                </a:lnTo>
                <a:lnTo>
                  <a:pt x="22288" y="483965"/>
                </a:lnTo>
                <a:lnTo>
                  <a:pt x="46291" y="500074"/>
                </a:lnTo>
                <a:lnTo>
                  <a:pt x="75438" y="505968"/>
                </a:lnTo>
                <a:lnTo>
                  <a:pt x="378714" y="505968"/>
                </a:lnTo>
                <a:lnTo>
                  <a:pt x="408181" y="500074"/>
                </a:lnTo>
                <a:lnTo>
                  <a:pt x="432149" y="483965"/>
                </a:lnTo>
                <a:lnTo>
                  <a:pt x="448258" y="459997"/>
                </a:lnTo>
                <a:lnTo>
                  <a:pt x="454152" y="430530"/>
                </a:lnTo>
                <a:lnTo>
                  <a:pt x="454152" y="75437"/>
                </a:lnTo>
                <a:lnTo>
                  <a:pt x="448258" y="45970"/>
                </a:lnTo>
                <a:lnTo>
                  <a:pt x="432149" y="22002"/>
                </a:lnTo>
                <a:lnTo>
                  <a:pt x="408181" y="5893"/>
                </a:lnTo>
                <a:lnTo>
                  <a:pt x="378713" y="0"/>
                </a:lnTo>
                <a:lnTo>
                  <a:pt x="75437" y="0"/>
                </a:lnTo>
                <a:close/>
              </a:path>
            </a:pathLst>
          </a:custGeom>
          <a:ln w="25400">
            <a:solidFill>
              <a:srgbClr val="000000"/>
            </a:solidFill>
          </a:ln>
        </p:spPr>
        <p:txBody>
          <a:bodyPr wrap="square" lIns="0" tIns="0" rIns="0" bIns="0" rtlCol="0"/>
          <a:lstStyle/>
          <a:p>
            <a:endParaRPr/>
          </a:p>
        </p:txBody>
      </p:sp>
      <p:sp>
        <p:nvSpPr>
          <p:cNvPr id="10" name="object 10"/>
          <p:cNvSpPr txBox="1"/>
          <p:nvPr/>
        </p:nvSpPr>
        <p:spPr>
          <a:xfrm>
            <a:off x="5613146" y="3905504"/>
            <a:ext cx="24574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Times New Roman"/>
                <a:cs typeface="Times New Roman"/>
              </a:rPr>
              <a:t>H</a:t>
            </a:r>
            <a:endParaRPr sz="2400">
              <a:latin typeface="Times New Roman"/>
              <a:cs typeface="Times New Roman"/>
            </a:endParaRPr>
          </a:p>
        </p:txBody>
      </p:sp>
      <p:sp>
        <p:nvSpPr>
          <p:cNvPr id="11" name="object 11"/>
          <p:cNvSpPr txBox="1"/>
          <p:nvPr/>
        </p:nvSpPr>
        <p:spPr>
          <a:xfrm>
            <a:off x="5227573" y="2295550"/>
            <a:ext cx="177800"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Times New Roman"/>
                <a:cs typeface="Times New Roman"/>
              </a:rPr>
              <a:t>k</a:t>
            </a:r>
            <a:endParaRPr sz="2400">
              <a:latin typeface="Times New Roman"/>
              <a:cs typeface="Times New Roman"/>
            </a:endParaRPr>
          </a:p>
        </p:txBody>
      </p:sp>
      <p:sp>
        <p:nvSpPr>
          <p:cNvPr id="12" name="object 12"/>
          <p:cNvSpPr txBox="1"/>
          <p:nvPr/>
        </p:nvSpPr>
        <p:spPr>
          <a:xfrm>
            <a:off x="6522973" y="1647850"/>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p q </a:t>
            </a:r>
            <a:r>
              <a:rPr sz="2400" spc="-50" dirty="0">
                <a:latin typeface="Times New Roman"/>
                <a:cs typeface="Times New Roman"/>
              </a:rPr>
              <a:t>g</a:t>
            </a:r>
            <a:endParaRPr sz="2400">
              <a:latin typeface="Times New Roman"/>
              <a:cs typeface="Times New Roman"/>
            </a:endParaRPr>
          </a:p>
        </p:txBody>
      </p:sp>
      <p:sp>
        <p:nvSpPr>
          <p:cNvPr id="13" name="object 13"/>
          <p:cNvSpPr txBox="1"/>
          <p:nvPr/>
        </p:nvSpPr>
        <p:spPr>
          <a:xfrm>
            <a:off x="6719569" y="2966720"/>
            <a:ext cx="4064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x </a:t>
            </a:r>
            <a:r>
              <a:rPr sz="2400" spc="-50" dirty="0">
                <a:latin typeface="Times New Roman"/>
                <a:cs typeface="Times New Roman"/>
              </a:rPr>
              <a:t>q</a:t>
            </a:r>
            <a:endParaRPr sz="2400">
              <a:latin typeface="Times New Roman"/>
              <a:cs typeface="Times New Roman"/>
            </a:endParaRPr>
          </a:p>
        </p:txBody>
      </p:sp>
      <p:pic>
        <p:nvPicPr>
          <p:cNvPr id="14" name="object 14"/>
          <p:cNvPicPr/>
          <p:nvPr/>
        </p:nvPicPr>
        <p:blipFill>
          <a:blip r:embed="rId2" cstate="print"/>
          <a:stretch>
            <a:fillRect/>
          </a:stretch>
        </p:blipFill>
        <p:spPr>
          <a:xfrm>
            <a:off x="6550152" y="2060448"/>
            <a:ext cx="76200" cy="215645"/>
          </a:xfrm>
          <a:prstGeom prst="rect">
            <a:avLst/>
          </a:prstGeom>
        </p:spPr>
      </p:pic>
      <p:pic>
        <p:nvPicPr>
          <p:cNvPr id="15" name="object 15"/>
          <p:cNvPicPr/>
          <p:nvPr/>
        </p:nvPicPr>
        <p:blipFill>
          <a:blip r:embed="rId3" cstate="print"/>
          <a:stretch>
            <a:fillRect/>
          </a:stretch>
        </p:blipFill>
        <p:spPr>
          <a:xfrm>
            <a:off x="6802373" y="2060448"/>
            <a:ext cx="76200" cy="215645"/>
          </a:xfrm>
          <a:prstGeom prst="rect">
            <a:avLst/>
          </a:prstGeom>
        </p:spPr>
      </p:pic>
      <p:pic>
        <p:nvPicPr>
          <p:cNvPr id="16" name="object 16"/>
          <p:cNvPicPr/>
          <p:nvPr/>
        </p:nvPicPr>
        <p:blipFill>
          <a:blip r:embed="rId4" cstate="print"/>
          <a:stretch>
            <a:fillRect/>
          </a:stretch>
        </p:blipFill>
        <p:spPr>
          <a:xfrm>
            <a:off x="7054595" y="2060448"/>
            <a:ext cx="76200" cy="215645"/>
          </a:xfrm>
          <a:prstGeom prst="rect">
            <a:avLst/>
          </a:prstGeom>
        </p:spPr>
      </p:pic>
      <p:pic>
        <p:nvPicPr>
          <p:cNvPr id="17" name="object 17"/>
          <p:cNvPicPr/>
          <p:nvPr/>
        </p:nvPicPr>
        <p:blipFill>
          <a:blip r:embed="rId5" cstate="print"/>
          <a:stretch>
            <a:fillRect/>
          </a:stretch>
        </p:blipFill>
        <p:spPr>
          <a:xfrm>
            <a:off x="6765797" y="3357371"/>
            <a:ext cx="76200" cy="216407"/>
          </a:xfrm>
          <a:prstGeom prst="rect">
            <a:avLst/>
          </a:prstGeom>
        </p:spPr>
      </p:pic>
      <p:pic>
        <p:nvPicPr>
          <p:cNvPr id="18" name="object 18"/>
          <p:cNvPicPr/>
          <p:nvPr/>
        </p:nvPicPr>
        <p:blipFill>
          <a:blip r:embed="rId6" cstate="print"/>
          <a:stretch>
            <a:fillRect/>
          </a:stretch>
        </p:blipFill>
        <p:spPr>
          <a:xfrm>
            <a:off x="6981443" y="3357371"/>
            <a:ext cx="76200" cy="216407"/>
          </a:xfrm>
          <a:prstGeom prst="rect">
            <a:avLst/>
          </a:prstGeom>
        </p:spPr>
      </p:pic>
      <p:grpSp>
        <p:nvGrpSpPr>
          <p:cNvPr id="19" name="object 19"/>
          <p:cNvGrpSpPr/>
          <p:nvPr/>
        </p:nvGrpSpPr>
        <p:grpSpPr>
          <a:xfrm>
            <a:off x="5508497" y="2454401"/>
            <a:ext cx="576580" cy="1300480"/>
            <a:chOff x="5508497" y="2454401"/>
            <a:chExt cx="576580" cy="1300480"/>
          </a:xfrm>
        </p:grpSpPr>
        <p:sp>
          <p:nvSpPr>
            <p:cNvPr id="20" name="object 20"/>
            <p:cNvSpPr/>
            <p:nvPr/>
          </p:nvSpPr>
          <p:spPr>
            <a:xfrm>
              <a:off x="5508498" y="2454401"/>
              <a:ext cx="576580" cy="1300480"/>
            </a:xfrm>
            <a:custGeom>
              <a:avLst/>
              <a:gdLst/>
              <a:ahLst/>
              <a:cxnLst/>
              <a:rect l="l" t="t" r="r" b="b"/>
              <a:pathLst>
                <a:path w="576579" h="1300479">
                  <a:moveTo>
                    <a:pt x="503682" y="38100"/>
                  </a:moveTo>
                  <a:lnTo>
                    <a:pt x="427482" y="0"/>
                  </a:lnTo>
                  <a:lnTo>
                    <a:pt x="427482" y="25146"/>
                  </a:lnTo>
                  <a:lnTo>
                    <a:pt x="0" y="25146"/>
                  </a:lnTo>
                  <a:lnTo>
                    <a:pt x="0" y="50292"/>
                  </a:lnTo>
                  <a:lnTo>
                    <a:pt x="427482" y="50292"/>
                  </a:lnTo>
                  <a:lnTo>
                    <a:pt x="427482" y="76200"/>
                  </a:lnTo>
                  <a:lnTo>
                    <a:pt x="439674" y="70104"/>
                  </a:lnTo>
                  <a:lnTo>
                    <a:pt x="503682" y="38100"/>
                  </a:lnTo>
                  <a:close/>
                </a:path>
                <a:path w="576579" h="1300479">
                  <a:moveTo>
                    <a:pt x="576072" y="1261872"/>
                  </a:moveTo>
                  <a:lnTo>
                    <a:pt x="499872" y="1223772"/>
                  </a:lnTo>
                  <a:lnTo>
                    <a:pt x="499872" y="1248918"/>
                  </a:lnTo>
                  <a:lnTo>
                    <a:pt x="215646" y="1248918"/>
                  </a:lnTo>
                  <a:lnTo>
                    <a:pt x="215646" y="1274826"/>
                  </a:lnTo>
                  <a:lnTo>
                    <a:pt x="499872" y="1274826"/>
                  </a:lnTo>
                  <a:lnTo>
                    <a:pt x="499872" y="1299972"/>
                  </a:lnTo>
                  <a:lnTo>
                    <a:pt x="512826" y="1293495"/>
                  </a:lnTo>
                  <a:lnTo>
                    <a:pt x="576072" y="1261872"/>
                  </a:lnTo>
                  <a:close/>
                </a:path>
              </a:pathLst>
            </a:custGeom>
            <a:solidFill>
              <a:srgbClr val="000000"/>
            </a:solidFill>
          </p:spPr>
          <p:txBody>
            <a:bodyPr wrap="square" lIns="0" tIns="0" rIns="0" bIns="0" rtlCol="0"/>
            <a:lstStyle/>
            <a:p>
              <a:endParaRPr/>
            </a:p>
          </p:txBody>
        </p:sp>
        <p:sp>
          <p:nvSpPr>
            <p:cNvPr id="21" name="object 21"/>
            <p:cNvSpPr/>
            <p:nvPr/>
          </p:nvSpPr>
          <p:spPr>
            <a:xfrm>
              <a:off x="5724143" y="2492501"/>
              <a:ext cx="0" cy="1224280"/>
            </a:xfrm>
            <a:custGeom>
              <a:avLst/>
              <a:gdLst/>
              <a:ahLst/>
              <a:cxnLst/>
              <a:rect l="l" t="t" r="r" b="b"/>
              <a:pathLst>
                <a:path h="1224279">
                  <a:moveTo>
                    <a:pt x="0" y="1223772"/>
                  </a:moveTo>
                  <a:lnTo>
                    <a:pt x="0" y="0"/>
                  </a:lnTo>
                </a:path>
              </a:pathLst>
            </a:custGeom>
            <a:ln w="25400">
              <a:solidFill>
                <a:srgbClr val="000000"/>
              </a:solidFill>
            </a:ln>
          </p:spPr>
          <p:txBody>
            <a:bodyPr wrap="square" lIns="0" tIns="0" rIns="0" bIns="0" rtlCol="0"/>
            <a:lstStyle/>
            <a:p>
              <a:endParaRPr/>
            </a:p>
          </p:txBody>
        </p:sp>
      </p:grpSp>
      <p:grpSp>
        <p:nvGrpSpPr>
          <p:cNvPr id="22" name="object 22"/>
          <p:cNvGrpSpPr/>
          <p:nvPr/>
        </p:nvGrpSpPr>
        <p:grpSpPr>
          <a:xfrm>
            <a:off x="5364479" y="4038600"/>
            <a:ext cx="720090" cy="76200"/>
            <a:chOff x="5364479" y="4038600"/>
            <a:chExt cx="720090" cy="76200"/>
          </a:xfrm>
        </p:grpSpPr>
        <p:pic>
          <p:nvPicPr>
            <p:cNvPr id="23" name="object 23"/>
            <p:cNvPicPr/>
            <p:nvPr/>
          </p:nvPicPr>
          <p:blipFill>
            <a:blip r:embed="rId7" cstate="print"/>
            <a:stretch>
              <a:fillRect/>
            </a:stretch>
          </p:blipFill>
          <p:spPr>
            <a:xfrm>
              <a:off x="5364479" y="4038600"/>
              <a:ext cx="144018" cy="76200"/>
            </a:xfrm>
            <a:prstGeom prst="rect">
              <a:avLst/>
            </a:prstGeom>
          </p:spPr>
        </p:pic>
        <p:pic>
          <p:nvPicPr>
            <p:cNvPr id="24" name="object 24"/>
            <p:cNvPicPr/>
            <p:nvPr/>
          </p:nvPicPr>
          <p:blipFill>
            <a:blip r:embed="rId7" cstate="print"/>
            <a:stretch>
              <a:fillRect/>
            </a:stretch>
          </p:blipFill>
          <p:spPr>
            <a:xfrm>
              <a:off x="5940551" y="4038600"/>
              <a:ext cx="144018" cy="76200"/>
            </a:xfrm>
            <a:prstGeom prst="rect">
              <a:avLst/>
            </a:prstGeom>
          </p:spPr>
        </p:pic>
      </p:grpSp>
      <p:sp>
        <p:nvSpPr>
          <p:cNvPr id="25" name="object 25"/>
          <p:cNvSpPr/>
          <p:nvPr/>
        </p:nvSpPr>
        <p:spPr>
          <a:xfrm>
            <a:off x="7812024" y="2454401"/>
            <a:ext cx="502920" cy="1119505"/>
          </a:xfrm>
          <a:custGeom>
            <a:avLst/>
            <a:gdLst/>
            <a:ahLst/>
            <a:cxnLst/>
            <a:rect l="l" t="t" r="r" b="b"/>
            <a:pathLst>
              <a:path w="502920" h="1119504">
                <a:moveTo>
                  <a:pt x="502920" y="38100"/>
                </a:moveTo>
                <a:lnTo>
                  <a:pt x="426720" y="0"/>
                </a:lnTo>
                <a:lnTo>
                  <a:pt x="426720" y="25146"/>
                </a:lnTo>
                <a:lnTo>
                  <a:pt x="0" y="25146"/>
                </a:lnTo>
                <a:lnTo>
                  <a:pt x="0" y="50292"/>
                </a:lnTo>
                <a:lnTo>
                  <a:pt x="131826" y="50292"/>
                </a:lnTo>
                <a:lnTo>
                  <a:pt x="131826" y="1043178"/>
                </a:lnTo>
                <a:lnTo>
                  <a:pt x="106680" y="1043178"/>
                </a:lnTo>
                <a:lnTo>
                  <a:pt x="131826" y="1093470"/>
                </a:lnTo>
                <a:lnTo>
                  <a:pt x="144780" y="1119378"/>
                </a:lnTo>
                <a:lnTo>
                  <a:pt x="156972" y="1094994"/>
                </a:lnTo>
                <a:lnTo>
                  <a:pt x="182880" y="1043178"/>
                </a:lnTo>
                <a:lnTo>
                  <a:pt x="156972" y="1043178"/>
                </a:lnTo>
                <a:lnTo>
                  <a:pt x="156972" y="50292"/>
                </a:lnTo>
                <a:lnTo>
                  <a:pt x="426720" y="50292"/>
                </a:lnTo>
                <a:lnTo>
                  <a:pt x="426720" y="76200"/>
                </a:lnTo>
                <a:lnTo>
                  <a:pt x="439674" y="69723"/>
                </a:lnTo>
                <a:lnTo>
                  <a:pt x="502920" y="38100"/>
                </a:lnTo>
                <a:close/>
              </a:path>
            </a:pathLst>
          </a:custGeom>
          <a:solidFill>
            <a:srgbClr val="000000"/>
          </a:solidFill>
        </p:spPr>
        <p:txBody>
          <a:bodyPr wrap="square" lIns="0" tIns="0" rIns="0" bIns="0" rtlCol="0"/>
          <a:lstStyle/>
          <a:p>
            <a:endParaRPr/>
          </a:p>
        </p:txBody>
      </p:sp>
      <p:sp>
        <p:nvSpPr>
          <p:cNvPr id="26" name="object 26"/>
          <p:cNvSpPr txBox="1"/>
          <p:nvPr/>
        </p:nvSpPr>
        <p:spPr>
          <a:xfrm>
            <a:off x="8323580" y="2223770"/>
            <a:ext cx="127000"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Times New Roman"/>
                <a:cs typeface="Times New Roman"/>
              </a:rPr>
              <a:t>r</a:t>
            </a:r>
            <a:endParaRPr sz="2400">
              <a:latin typeface="Times New Roman"/>
              <a:cs typeface="Times New Roman"/>
            </a:endParaRPr>
          </a:p>
        </p:txBody>
      </p:sp>
      <p:pic>
        <p:nvPicPr>
          <p:cNvPr id="27" name="object 27"/>
          <p:cNvPicPr/>
          <p:nvPr/>
        </p:nvPicPr>
        <p:blipFill>
          <a:blip r:embed="rId8" cstate="print"/>
          <a:stretch>
            <a:fillRect/>
          </a:stretch>
        </p:blipFill>
        <p:spPr>
          <a:xfrm>
            <a:off x="8317230" y="4038600"/>
            <a:ext cx="215646" cy="76200"/>
          </a:xfrm>
          <a:prstGeom prst="rect">
            <a:avLst/>
          </a:prstGeom>
        </p:spPr>
      </p:pic>
      <p:sp>
        <p:nvSpPr>
          <p:cNvPr id="28" name="object 28"/>
          <p:cNvSpPr txBox="1"/>
          <p:nvPr/>
        </p:nvSpPr>
        <p:spPr>
          <a:xfrm>
            <a:off x="8539226" y="3832352"/>
            <a:ext cx="14414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Times New Roman"/>
                <a:cs typeface="Times New Roman"/>
              </a:rPr>
              <a:t>s</a:t>
            </a:r>
            <a:endParaRPr sz="2400">
              <a:latin typeface="Times New Roman"/>
              <a:cs typeface="Times New Roman"/>
            </a:endParaRPr>
          </a:p>
        </p:txBody>
      </p:sp>
      <p:sp>
        <p:nvSpPr>
          <p:cNvPr id="29" name="object 2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31" name="object 3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18465">
              <a:lnSpc>
                <a:spcPct val="100000"/>
              </a:lnSpc>
              <a:spcBef>
                <a:spcPts val="100"/>
              </a:spcBef>
            </a:pPr>
            <a:r>
              <a:rPr dirty="0"/>
              <a:t>DSA Signature </a:t>
            </a:r>
            <a:r>
              <a:rPr spc="-10" dirty="0"/>
              <a:t>Verification</a:t>
            </a:r>
          </a:p>
        </p:txBody>
      </p:sp>
      <p:sp>
        <p:nvSpPr>
          <p:cNvPr id="3" name="object 3"/>
          <p:cNvSpPr txBox="1"/>
          <p:nvPr/>
        </p:nvSpPr>
        <p:spPr>
          <a:xfrm>
            <a:off x="408177" y="1317752"/>
            <a:ext cx="4265295" cy="3677285"/>
          </a:xfrm>
          <a:prstGeom prst="rect">
            <a:avLst/>
          </a:prstGeom>
        </p:spPr>
        <p:txBody>
          <a:bodyPr vert="horz" wrap="square" lIns="0" tIns="12700" rIns="0" bIns="0" rtlCol="0">
            <a:spAutoFit/>
          </a:bodyPr>
          <a:lstStyle/>
          <a:p>
            <a:pPr marL="406400" marR="55880" indent="-342900">
              <a:lnSpc>
                <a:spcPct val="100000"/>
              </a:lnSpc>
              <a:spcBef>
                <a:spcPts val="100"/>
              </a:spcBef>
              <a:buClr>
                <a:srgbClr val="063DE8"/>
              </a:buClr>
              <a:buSzPct val="75000"/>
              <a:buFont typeface="Wingdings"/>
              <a:buChar char=""/>
              <a:tabLst>
                <a:tab pos="406400" algn="l"/>
              </a:tabLst>
            </a:pPr>
            <a:r>
              <a:rPr sz="2400" dirty="0">
                <a:latin typeface="Times New Roman"/>
                <a:cs typeface="Times New Roman"/>
              </a:rPr>
              <a:t>To</a:t>
            </a:r>
            <a:r>
              <a:rPr sz="2400" spc="-25" dirty="0">
                <a:latin typeface="Times New Roman"/>
                <a:cs typeface="Times New Roman"/>
              </a:rPr>
              <a:t> </a:t>
            </a:r>
            <a:r>
              <a:rPr sz="2400" b="1" dirty="0">
                <a:latin typeface="Times New Roman"/>
                <a:cs typeface="Times New Roman"/>
              </a:rPr>
              <a:t>verify</a:t>
            </a:r>
            <a:r>
              <a:rPr sz="2400" b="1"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signature,</a:t>
            </a:r>
            <a:r>
              <a:rPr sz="2400" spc="-20" dirty="0">
                <a:latin typeface="Times New Roman"/>
                <a:cs typeface="Times New Roman"/>
              </a:rPr>
              <a:t> </a:t>
            </a:r>
            <a:r>
              <a:rPr sz="2400" spc="-10" dirty="0">
                <a:latin typeface="Times New Roman"/>
                <a:cs typeface="Times New Roman"/>
              </a:rPr>
              <a:t>recipient computes:</a:t>
            </a:r>
            <a:endParaRPr sz="2400">
              <a:latin typeface="Times New Roman"/>
              <a:cs typeface="Times New Roman"/>
            </a:endParaRPr>
          </a:p>
          <a:p>
            <a:pPr marL="520700">
              <a:lnSpc>
                <a:spcPct val="100000"/>
              </a:lnSpc>
              <a:spcBef>
                <a:spcPts val="365"/>
              </a:spcBef>
            </a:pPr>
            <a:r>
              <a:rPr sz="2400" dirty="0">
                <a:latin typeface="Courier New"/>
                <a:cs typeface="Courier New"/>
              </a:rPr>
              <a:t>w</a:t>
            </a:r>
            <a:r>
              <a:rPr sz="2400" spc="-15" dirty="0">
                <a:latin typeface="Courier New"/>
                <a:cs typeface="Courier New"/>
              </a:rPr>
              <a:t> </a:t>
            </a:r>
            <a:r>
              <a:rPr sz="2400" dirty="0">
                <a:latin typeface="Courier New"/>
                <a:cs typeface="Courier New"/>
              </a:rPr>
              <a:t>=</a:t>
            </a:r>
            <a:r>
              <a:rPr sz="2400" spc="-15" dirty="0">
                <a:latin typeface="Courier New"/>
                <a:cs typeface="Courier New"/>
              </a:rPr>
              <a:t> </a:t>
            </a:r>
            <a:r>
              <a:rPr sz="2400" spc="-10" dirty="0">
                <a:latin typeface="Courier New"/>
                <a:cs typeface="Courier New"/>
              </a:rPr>
              <a:t>s</a:t>
            </a:r>
            <a:r>
              <a:rPr sz="2400" spc="-15" baseline="24305" dirty="0">
                <a:latin typeface="Courier New"/>
                <a:cs typeface="Courier New"/>
              </a:rPr>
              <a:t>-</a:t>
            </a:r>
            <a:r>
              <a:rPr sz="2400" baseline="24305" dirty="0">
                <a:latin typeface="Courier New"/>
                <a:cs typeface="Courier New"/>
              </a:rPr>
              <a:t>1</a:t>
            </a:r>
            <a:r>
              <a:rPr sz="2400" spc="-15" baseline="24305" dirty="0">
                <a:latin typeface="Courier New"/>
                <a:cs typeface="Courier New"/>
              </a:rPr>
              <a:t> </a:t>
            </a:r>
            <a:r>
              <a:rPr sz="2400" dirty="0">
                <a:latin typeface="Courier New"/>
                <a:cs typeface="Courier New"/>
              </a:rPr>
              <a:t>mod</a:t>
            </a:r>
            <a:r>
              <a:rPr sz="2400" spc="-10" dirty="0">
                <a:latin typeface="Courier New"/>
                <a:cs typeface="Courier New"/>
              </a:rPr>
              <a:t> </a:t>
            </a:r>
            <a:r>
              <a:rPr sz="2400" spc="-50" dirty="0">
                <a:latin typeface="Courier New"/>
                <a:cs typeface="Courier New"/>
              </a:rPr>
              <a:t>q</a:t>
            </a:r>
            <a:endParaRPr sz="2400">
              <a:latin typeface="Courier New"/>
              <a:cs typeface="Courier New"/>
            </a:endParaRPr>
          </a:p>
          <a:p>
            <a:pPr marL="520065" marR="634365">
              <a:lnSpc>
                <a:spcPts val="3450"/>
              </a:lnSpc>
              <a:spcBef>
                <a:spcPts val="209"/>
              </a:spcBef>
            </a:pPr>
            <a:r>
              <a:rPr sz="2400" dirty="0">
                <a:latin typeface="Courier New"/>
                <a:cs typeface="Courier New"/>
              </a:rPr>
              <a:t>u1=</a:t>
            </a:r>
            <a:r>
              <a:rPr sz="2400" spc="-30" dirty="0">
                <a:latin typeface="Courier New"/>
                <a:cs typeface="Courier New"/>
              </a:rPr>
              <a:t> </a:t>
            </a:r>
            <a:r>
              <a:rPr sz="2400" dirty="0">
                <a:latin typeface="Courier New"/>
                <a:cs typeface="Courier New"/>
              </a:rPr>
              <a:t>[H(M)w</a:t>
            </a:r>
            <a:r>
              <a:rPr sz="2400" spc="-30" dirty="0">
                <a:latin typeface="Courier New"/>
                <a:cs typeface="Courier New"/>
              </a:rPr>
              <a:t> </a:t>
            </a:r>
            <a:r>
              <a:rPr sz="2400" dirty="0">
                <a:latin typeface="Courier New"/>
                <a:cs typeface="Courier New"/>
              </a:rPr>
              <a:t>]mod</a:t>
            </a:r>
            <a:r>
              <a:rPr sz="2400" spc="-25" dirty="0">
                <a:latin typeface="Courier New"/>
                <a:cs typeface="Courier New"/>
              </a:rPr>
              <a:t> </a:t>
            </a:r>
            <a:r>
              <a:rPr sz="2400" spc="-60" dirty="0">
                <a:latin typeface="Courier New"/>
                <a:cs typeface="Courier New"/>
              </a:rPr>
              <a:t>q </a:t>
            </a:r>
            <a:r>
              <a:rPr sz="2400" dirty="0">
                <a:latin typeface="Courier New"/>
                <a:cs typeface="Courier New"/>
              </a:rPr>
              <a:t>u2=</a:t>
            </a:r>
            <a:r>
              <a:rPr sz="2400" spc="-30" dirty="0">
                <a:latin typeface="Courier New"/>
                <a:cs typeface="Courier New"/>
              </a:rPr>
              <a:t> </a:t>
            </a:r>
            <a:r>
              <a:rPr sz="2400" dirty="0">
                <a:latin typeface="Courier New"/>
                <a:cs typeface="Courier New"/>
              </a:rPr>
              <a:t>(rw)mod</a:t>
            </a:r>
            <a:r>
              <a:rPr sz="2400" spc="-35" dirty="0">
                <a:latin typeface="Courier New"/>
                <a:cs typeface="Courier New"/>
              </a:rPr>
              <a:t> </a:t>
            </a:r>
            <a:r>
              <a:rPr sz="2400" spc="-50" dirty="0">
                <a:latin typeface="Courier New"/>
                <a:cs typeface="Courier New"/>
              </a:rPr>
              <a:t>q</a:t>
            </a:r>
            <a:endParaRPr sz="2400">
              <a:latin typeface="Courier New"/>
              <a:cs typeface="Courier New"/>
            </a:endParaRPr>
          </a:p>
          <a:p>
            <a:pPr marL="520065">
              <a:lnSpc>
                <a:spcPts val="2875"/>
              </a:lnSpc>
              <a:spcBef>
                <a:spcPts val="360"/>
              </a:spcBef>
            </a:pPr>
            <a:r>
              <a:rPr sz="2400" dirty="0">
                <a:latin typeface="Courier New"/>
                <a:cs typeface="Courier New"/>
              </a:rPr>
              <a:t>v</a:t>
            </a:r>
            <a:r>
              <a:rPr sz="2400" spc="-35" dirty="0">
                <a:latin typeface="Courier New"/>
                <a:cs typeface="Courier New"/>
              </a:rPr>
              <a:t> </a:t>
            </a:r>
            <a:r>
              <a:rPr sz="2400" dirty="0">
                <a:latin typeface="Courier New"/>
                <a:cs typeface="Courier New"/>
              </a:rPr>
              <a:t>=</a:t>
            </a:r>
            <a:r>
              <a:rPr sz="2400" spc="-30" dirty="0">
                <a:latin typeface="Courier New"/>
                <a:cs typeface="Courier New"/>
              </a:rPr>
              <a:t> </a:t>
            </a:r>
            <a:r>
              <a:rPr sz="2400" dirty="0">
                <a:latin typeface="Courier New"/>
                <a:cs typeface="Courier New"/>
              </a:rPr>
              <a:t>[(g</a:t>
            </a:r>
            <a:r>
              <a:rPr sz="2400" baseline="24305" dirty="0">
                <a:latin typeface="Courier New"/>
                <a:cs typeface="Courier New"/>
              </a:rPr>
              <a:t>u1</a:t>
            </a:r>
            <a:r>
              <a:rPr sz="2400" spc="675" baseline="24305" dirty="0">
                <a:latin typeface="Courier New"/>
                <a:cs typeface="Courier New"/>
              </a:rPr>
              <a:t> </a:t>
            </a:r>
            <a:r>
              <a:rPr sz="2400" dirty="0">
                <a:latin typeface="Courier New"/>
                <a:cs typeface="Courier New"/>
              </a:rPr>
              <a:t>y</a:t>
            </a:r>
            <a:r>
              <a:rPr sz="2400" baseline="24305" dirty="0">
                <a:latin typeface="Courier New"/>
                <a:cs typeface="Courier New"/>
              </a:rPr>
              <a:t>u2</a:t>
            </a:r>
            <a:r>
              <a:rPr sz="2400" dirty="0">
                <a:latin typeface="Courier New"/>
                <a:cs typeface="Courier New"/>
              </a:rPr>
              <a:t>)mod</a:t>
            </a:r>
            <a:r>
              <a:rPr sz="2400" spc="-25" dirty="0">
                <a:latin typeface="Courier New"/>
                <a:cs typeface="Courier New"/>
              </a:rPr>
              <a:t> </a:t>
            </a:r>
            <a:r>
              <a:rPr sz="2400" spc="-50" dirty="0">
                <a:latin typeface="Courier New"/>
                <a:cs typeface="Courier New"/>
              </a:rPr>
              <a:t>p</a:t>
            </a:r>
            <a:endParaRPr sz="2400">
              <a:latin typeface="Courier New"/>
              <a:cs typeface="Courier New"/>
            </a:endParaRPr>
          </a:p>
          <a:p>
            <a:pPr marL="806450">
              <a:lnSpc>
                <a:spcPts val="2875"/>
              </a:lnSpc>
            </a:pPr>
            <a:r>
              <a:rPr sz="2400" dirty="0">
                <a:latin typeface="Courier New"/>
                <a:cs typeface="Courier New"/>
              </a:rPr>
              <a:t>]mod</a:t>
            </a:r>
            <a:r>
              <a:rPr sz="2400" spc="-20" dirty="0">
                <a:latin typeface="Courier New"/>
                <a:cs typeface="Courier New"/>
              </a:rPr>
              <a:t> </a:t>
            </a:r>
            <a:r>
              <a:rPr sz="2400" spc="-50" dirty="0">
                <a:latin typeface="Courier New"/>
                <a:cs typeface="Courier New"/>
              </a:rPr>
              <a:t>q</a:t>
            </a:r>
            <a:endParaRPr sz="2400">
              <a:latin typeface="Courier New"/>
              <a:cs typeface="Courier New"/>
            </a:endParaRPr>
          </a:p>
          <a:p>
            <a:pPr marL="406400" marR="952500" indent="-342900">
              <a:lnSpc>
                <a:spcPct val="105400"/>
              </a:lnSpc>
              <a:spcBef>
                <a:spcPts val="450"/>
              </a:spcBef>
              <a:buClr>
                <a:srgbClr val="063DE8"/>
              </a:buClr>
              <a:buSzPct val="75000"/>
              <a:buFont typeface="Wingdings"/>
              <a:buChar char=""/>
              <a:tabLst>
                <a:tab pos="406400" algn="l"/>
              </a:tabLst>
            </a:pPr>
            <a:r>
              <a:rPr sz="2400" dirty="0">
                <a:latin typeface="Times New Roman"/>
                <a:cs typeface="Times New Roman"/>
              </a:rPr>
              <a:t>If</a:t>
            </a:r>
            <a:r>
              <a:rPr sz="2400" spc="-35" dirty="0">
                <a:latin typeface="Times New Roman"/>
                <a:cs typeface="Times New Roman"/>
              </a:rPr>
              <a:t> </a:t>
            </a:r>
            <a:r>
              <a:rPr sz="2400" spc="-10" dirty="0">
                <a:latin typeface="Courier New"/>
                <a:cs typeface="Courier New"/>
              </a:rPr>
              <a:t>v=r</a:t>
            </a:r>
            <a:r>
              <a:rPr sz="2400" spc="-840" dirty="0">
                <a:latin typeface="Courier New"/>
                <a:cs typeface="Courier New"/>
              </a:rPr>
              <a:t> </a:t>
            </a:r>
            <a:r>
              <a:rPr sz="2400" dirty="0">
                <a:latin typeface="Times New Roman"/>
                <a:cs typeface="Times New Roman"/>
              </a:rPr>
              <a:t>then</a:t>
            </a:r>
            <a:r>
              <a:rPr sz="2400" spc="-20" dirty="0">
                <a:latin typeface="Times New Roman"/>
                <a:cs typeface="Times New Roman"/>
              </a:rPr>
              <a:t> </a:t>
            </a:r>
            <a:r>
              <a:rPr sz="2400" dirty="0">
                <a:latin typeface="Times New Roman"/>
                <a:cs typeface="Times New Roman"/>
              </a:rPr>
              <a:t>signature</a:t>
            </a:r>
            <a:r>
              <a:rPr sz="2400" spc="-20" dirty="0">
                <a:latin typeface="Times New Roman"/>
                <a:cs typeface="Times New Roman"/>
              </a:rPr>
              <a:t> </a:t>
            </a:r>
            <a:r>
              <a:rPr sz="2400" spc="-25" dirty="0">
                <a:latin typeface="Times New Roman"/>
                <a:cs typeface="Times New Roman"/>
              </a:rPr>
              <a:t>is </a:t>
            </a:r>
            <a:r>
              <a:rPr sz="2400" spc="-10" dirty="0">
                <a:latin typeface="Times New Roman"/>
                <a:cs typeface="Times New Roman"/>
              </a:rPr>
              <a:t>verified</a:t>
            </a:r>
            <a:endParaRPr sz="2400">
              <a:latin typeface="Times New Roman"/>
              <a:cs typeface="Times New Roman"/>
            </a:endParaRPr>
          </a:p>
        </p:txBody>
      </p:sp>
      <p:pic>
        <p:nvPicPr>
          <p:cNvPr id="4" name="object 4"/>
          <p:cNvPicPr/>
          <p:nvPr/>
        </p:nvPicPr>
        <p:blipFill>
          <a:blip r:embed="rId2" cstate="print"/>
          <a:stretch>
            <a:fillRect/>
          </a:stretch>
        </p:blipFill>
        <p:spPr>
          <a:xfrm>
            <a:off x="4776978" y="1681365"/>
            <a:ext cx="3638550" cy="3410295"/>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DC2A-7938-4E97-AB0E-8123263DFFB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3339F15-376A-4B45-9DC2-D6DA3F5006D5}"/>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2C135785-F67A-4DFB-B539-5525407AD39A}"/>
              </a:ext>
            </a:extLst>
          </p:cNvPr>
          <p:cNvSpPr>
            <a:spLocks noGrp="1"/>
          </p:cNvSpPr>
          <p:nvPr>
            <p:ph type="ftr" sz="quarter" idx="5"/>
          </p:nvPr>
        </p:nvSpPr>
        <p:spPr/>
        <p:txBody>
          <a:bodyPr/>
          <a:lstStyle/>
          <a:p>
            <a:pPr marL="12700">
              <a:lnSpc>
                <a:spcPts val="1410"/>
              </a:lnSpc>
            </a:pPr>
            <a:endParaRPr lang="en-IN" spc="-20" dirty="0"/>
          </a:p>
        </p:txBody>
      </p:sp>
      <p:sp>
        <p:nvSpPr>
          <p:cNvPr id="5" name="Date Placeholder 4">
            <a:extLst>
              <a:ext uri="{FF2B5EF4-FFF2-40B4-BE49-F238E27FC236}">
                <a16:creationId xmlns:a16="http://schemas.microsoft.com/office/drawing/2014/main" id="{00220224-DBD0-4F35-B35D-CEEB7F350174}"/>
              </a:ext>
            </a:extLst>
          </p:cNvPr>
          <p:cNvSpPr>
            <a:spLocks noGrp="1"/>
          </p:cNvSpPr>
          <p:nvPr>
            <p:ph type="dt" sz="half" idx="6"/>
          </p:nvPr>
        </p:nvSpPr>
        <p:spPr/>
        <p:txBody>
          <a:bodyPr/>
          <a:lstStyle/>
          <a:p>
            <a:pPr marL="12700">
              <a:lnSpc>
                <a:spcPts val="1410"/>
              </a:lnSpc>
            </a:pPr>
            <a:endParaRPr lang="en-IN" spc="-10" dirty="0"/>
          </a:p>
        </p:txBody>
      </p:sp>
      <p:pic>
        <p:nvPicPr>
          <p:cNvPr id="7" name="Picture 6">
            <a:extLst>
              <a:ext uri="{FF2B5EF4-FFF2-40B4-BE49-F238E27FC236}">
                <a16:creationId xmlns:a16="http://schemas.microsoft.com/office/drawing/2014/main" id="{4522D939-0844-4615-8E45-50E82E80CAD7}"/>
              </a:ext>
            </a:extLst>
          </p:cNvPr>
          <p:cNvPicPr>
            <a:picLocks noChangeAspect="1"/>
          </p:cNvPicPr>
          <p:nvPr/>
        </p:nvPicPr>
        <p:blipFill>
          <a:blip r:embed="rId2"/>
          <a:stretch>
            <a:fillRect/>
          </a:stretch>
        </p:blipFill>
        <p:spPr>
          <a:xfrm>
            <a:off x="0" y="345286"/>
            <a:ext cx="9144000" cy="5598313"/>
          </a:xfrm>
          <a:prstGeom prst="rect">
            <a:avLst/>
          </a:prstGeom>
        </p:spPr>
      </p:pic>
    </p:spTree>
    <p:extLst>
      <p:ext uri="{BB962C8B-B14F-4D97-AF65-F5344CB8AC3E}">
        <p14:creationId xmlns:p14="http://schemas.microsoft.com/office/powerpoint/2010/main" val="3046560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C073E-0298-44F7-9415-E633A4AB42A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7C930A5-0DDA-49D5-8886-C998F90FBA34}"/>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3A794039-9267-4E24-9AED-986853D89C6D}"/>
              </a:ext>
            </a:extLst>
          </p:cNvPr>
          <p:cNvSpPr>
            <a:spLocks noGrp="1"/>
          </p:cNvSpPr>
          <p:nvPr>
            <p:ph type="ftr" sz="quarter" idx="5"/>
          </p:nvPr>
        </p:nvSpPr>
        <p:spPr/>
        <p:txBody>
          <a:bodyPr/>
          <a:lstStyle/>
          <a:p>
            <a:pPr marL="12700">
              <a:lnSpc>
                <a:spcPts val="1410"/>
              </a:lnSpc>
            </a:pPr>
            <a:endParaRPr lang="en-IN" spc="-20" dirty="0"/>
          </a:p>
        </p:txBody>
      </p:sp>
      <p:sp>
        <p:nvSpPr>
          <p:cNvPr id="5" name="Date Placeholder 4">
            <a:extLst>
              <a:ext uri="{FF2B5EF4-FFF2-40B4-BE49-F238E27FC236}">
                <a16:creationId xmlns:a16="http://schemas.microsoft.com/office/drawing/2014/main" id="{EA537D6B-8AA6-41FD-934A-13E61A093AD0}"/>
              </a:ext>
            </a:extLst>
          </p:cNvPr>
          <p:cNvSpPr>
            <a:spLocks noGrp="1"/>
          </p:cNvSpPr>
          <p:nvPr>
            <p:ph type="dt" sz="half" idx="6"/>
          </p:nvPr>
        </p:nvSpPr>
        <p:spPr/>
        <p:txBody>
          <a:bodyPr/>
          <a:lstStyle/>
          <a:p>
            <a:pPr marL="12700">
              <a:lnSpc>
                <a:spcPts val="1410"/>
              </a:lnSpc>
            </a:pPr>
            <a:endParaRPr lang="en-IN" spc="-10" dirty="0"/>
          </a:p>
        </p:txBody>
      </p:sp>
      <p:pic>
        <p:nvPicPr>
          <p:cNvPr id="7" name="Picture 6">
            <a:extLst>
              <a:ext uri="{FF2B5EF4-FFF2-40B4-BE49-F238E27FC236}">
                <a16:creationId xmlns:a16="http://schemas.microsoft.com/office/drawing/2014/main" id="{7062BAA7-FFA7-4EC5-9A10-01C1BA8387B4}"/>
              </a:ext>
            </a:extLst>
          </p:cNvPr>
          <p:cNvPicPr>
            <a:picLocks noChangeAspect="1"/>
          </p:cNvPicPr>
          <p:nvPr/>
        </p:nvPicPr>
        <p:blipFill>
          <a:blip r:embed="rId3"/>
          <a:stretch>
            <a:fillRect/>
          </a:stretch>
        </p:blipFill>
        <p:spPr>
          <a:xfrm>
            <a:off x="666549" y="345287"/>
            <a:ext cx="7810901" cy="6022829"/>
          </a:xfrm>
          <a:prstGeom prst="rect">
            <a:avLst/>
          </a:prstGeom>
        </p:spPr>
      </p:pic>
    </p:spTree>
    <p:extLst>
      <p:ext uri="{BB962C8B-B14F-4D97-AF65-F5344CB8AC3E}">
        <p14:creationId xmlns:p14="http://schemas.microsoft.com/office/powerpoint/2010/main" val="3221943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61365">
              <a:lnSpc>
                <a:spcPct val="100000"/>
              </a:lnSpc>
              <a:spcBef>
                <a:spcPts val="100"/>
              </a:spcBef>
            </a:pPr>
            <a:r>
              <a:rPr dirty="0"/>
              <a:t>DSS</a:t>
            </a:r>
            <a:r>
              <a:rPr spc="-10" dirty="0"/>
              <a:t> </a:t>
            </a:r>
            <a:r>
              <a:rPr dirty="0"/>
              <a:t>vs.</a:t>
            </a:r>
            <a:r>
              <a:rPr spc="-10" dirty="0"/>
              <a:t> </a:t>
            </a:r>
            <a:r>
              <a:rPr dirty="0"/>
              <a:t>RSA</a:t>
            </a:r>
            <a:r>
              <a:rPr spc="-10" dirty="0"/>
              <a:t> Signatures</a:t>
            </a:r>
          </a:p>
        </p:txBody>
      </p:sp>
      <p:pic>
        <p:nvPicPr>
          <p:cNvPr id="3" name="object 3"/>
          <p:cNvPicPr/>
          <p:nvPr/>
        </p:nvPicPr>
        <p:blipFill>
          <a:blip r:embed="rId2" cstate="print"/>
          <a:stretch>
            <a:fillRect/>
          </a:stretch>
        </p:blipFill>
        <p:spPr>
          <a:xfrm>
            <a:off x="1068338" y="1404874"/>
            <a:ext cx="7378932" cy="4826000"/>
          </a:xfrm>
          <a:prstGeom prst="rect">
            <a:avLst/>
          </a:prstGeom>
        </p:spPr>
      </p:pic>
      <p:sp>
        <p:nvSpPr>
          <p:cNvPr id="4" name="object 4"/>
          <p:cNvSpPr txBox="1"/>
          <p:nvPr/>
        </p:nvSpPr>
        <p:spPr>
          <a:xfrm>
            <a:off x="3454146" y="5273294"/>
            <a:ext cx="2548255" cy="575310"/>
          </a:xfrm>
          <a:prstGeom prst="rect">
            <a:avLst/>
          </a:prstGeom>
        </p:spPr>
        <p:txBody>
          <a:bodyPr vert="horz" wrap="square" lIns="0" tIns="12700" rIns="0" bIns="0" rtlCol="0">
            <a:spAutoFit/>
          </a:bodyPr>
          <a:lstStyle/>
          <a:p>
            <a:pPr marL="38100" marR="30480">
              <a:lnSpc>
                <a:spcPct val="100000"/>
              </a:lnSpc>
              <a:spcBef>
                <a:spcPts val="100"/>
              </a:spcBef>
            </a:pPr>
            <a:r>
              <a:rPr sz="1800" dirty="0">
                <a:latin typeface="Times New Roman"/>
                <a:cs typeface="Times New Roman"/>
              </a:rPr>
              <a:t>PU</a:t>
            </a:r>
            <a:r>
              <a:rPr sz="1800" baseline="-23148" dirty="0">
                <a:latin typeface="Times New Roman"/>
                <a:cs typeface="Times New Roman"/>
              </a:rPr>
              <a:t>G</a:t>
            </a:r>
            <a:r>
              <a:rPr sz="1800" spc="179" baseline="-23148" dirty="0">
                <a:latin typeface="Times New Roman"/>
                <a:cs typeface="Times New Roman"/>
              </a:rPr>
              <a:t> </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Global</a:t>
            </a:r>
            <a:r>
              <a:rPr sz="1800" spc="-20" dirty="0">
                <a:latin typeface="Times New Roman"/>
                <a:cs typeface="Times New Roman"/>
              </a:rPr>
              <a:t> </a:t>
            </a:r>
            <a:r>
              <a:rPr sz="1800" dirty="0">
                <a:latin typeface="Times New Roman"/>
                <a:cs typeface="Times New Roman"/>
              </a:rPr>
              <a:t>Public</a:t>
            </a:r>
            <a:r>
              <a:rPr sz="1800" spc="-20" dirty="0">
                <a:latin typeface="Times New Roman"/>
                <a:cs typeface="Times New Roman"/>
              </a:rPr>
              <a:t> </a:t>
            </a:r>
            <a:r>
              <a:rPr sz="1800" spc="-25" dirty="0">
                <a:latin typeface="Times New Roman"/>
                <a:cs typeface="Times New Roman"/>
              </a:rPr>
              <a:t>Key</a:t>
            </a:r>
            <a:r>
              <a:rPr sz="1800" spc="500" dirty="0">
                <a:latin typeface="Times New Roman"/>
                <a:cs typeface="Times New Roman"/>
              </a:rPr>
              <a:t> </a:t>
            </a:r>
            <a:r>
              <a:rPr sz="1800" dirty="0">
                <a:latin typeface="Times New Roman"/>
                <a:cs typeface="Times New Roman"/>
              </a:rPr>
              <a:t>k</a:t>
            </a:r>
            <a:r>
              <a:rPr sz="1800" spc="-30"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Per</a:t>
            </a:r>
            <a:r>
              <a:rPr sz="1800" spc="-25" dirty="0">
                <a:latin typeface="Times New Roman"/>
                <a:cs typeface="Times New Roman"/>
              </a:rPr>
              <a:t> </a:t>
            </a:r>
            <a:r>
              <a:rPr sz="1800" dirty="0">
                <a:latin typeface="Times New Roman"/>
                <a:cs typeface="Times New Roman"/>
              </a:rPr>
              <a:t>message</a:t>
            </a:r>
            <a:r>
              <a:rPr sz="1800" spc="-25" dirty="0">
                <a:latin typeface="Times New Roman"/>
                <a:cs typeface="Times New Roman"/>
              </a:rPr>
              <a:t> </a:t>
            </a:r>
            <a:r>
              <a:rPr sz="1800" dirty="0">
                <a:latin typeface="Times New Roman"/>
                <a:cs typeface="Times New Roman"/>
              </a:rPr>
              <a:t>secret</a:t>
            </a:r>
            <a:r>
              <a:rPr sz="1800" spc="-25" dirty="0">
                <a:latin typeface="Times New Roman"/>
                <a:cs typeface="Times New Roman"/>
              </a:rPr>
              <a:t> key</a:t>
            </a:r>
            <a:endParaRPr sz="1800">
              <a:latin typeface="Times New Roman"/>
              <a:cs typeface="Times New Roman"/>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32176" y="972311"/>
            <a:ext cx="2630170" cy="2303145"/>
            <a:chOff x="2932176" y="972311"/>
            <a:chExt cx="2630170" cy="2303145"/>
          </a:xfrm>
        </p:grpSpPr>
        <p:sp>
          <p:nvSpPr>
            <p:cNvPr id="3" name="object 3"/>
            <p:cNvSpPr/>
            <p:nvPr/>
          </p:nvSpPr>
          <p:spPr>
            <a:xfrm>
              <a:off x="4034790" y="972311"/>
              <a:ext cx="1527175" cy="1008380"/>
            </a:xfrm>
            <a:custGeom>
              <a:avLst/>
              <a:gdLst/>
              <a:ahLst/>
              <a:cxnLst/>
              <a:rect l="l" t="t" r="r" b="b"/>
              <a:pathLst>
                <a:path w="1527175" h="1008380">
                  <a:moveTo>
                    <a:pt x="1527048" y="1008126"/>
                  </a:moveTo>
                  <a:lnTo>
                    <a:pt x="1527048" y="0"/>
                  </a:lnTo>
                  <a:lnTo>
                    <a:pt x="0" y="0"/>
                  </a:lnTo>
                  <a:lnTo>
                    <a:pt x="0" y="1008126"/>
                  </a:lnTo>
                  <a:lnTo>
                    <a:pt x="1527048" y="1008126"/>
                  </a:lnTo>
                  <a:close/>
                </a:path>
              </a:pathLst>
            </a:custGeom>
            <a:solidFill>
              <a:srgbClr val="C0C0C0"/>
            </a:solidFill>
          </p:spPr>
          <p:txBody>
            <a:bodyPr wrap="square" lIns="0" tIns="0" rIns="0" bIns="0" rtlCol="0"/>
            <a:lstStyle/>
            <a:p>
              <a:endParaRPr/>
            </a:p>
          </p:txBody>
        </p:sp>
        <p:sp>
          <p:nvSpPr>
            <p:cNvPr id="4" name="object 4"/>
            <p:cNvSpPr/>
            <p:nvPr/>
          </p:nvSpPr>
          <p:spPr>
            <a:xfrm>
              <a:off x="4073652" y="1010411"/>
              <a:ext cx="1432560" cy="923925"/>
            </a:xfrm>
            <a:custGeom>
              <a:avLst/>
              <a:gdLst/>
              <a:ahLst/>
              <a:cxnLst/>
              <a:rect l="l" t="t" r="r" b="b"/>
              <a:pathLst>
                <a:path w="1432560" h="923925">
                  <a:moveTo>
                    <a:pt x="1432560" y="923544"/>
                  </a:moveTo>
                  <a:lnTo>
                    <a:pt x="1432560" y="0"/>
                  </a:lnTo>
                  <a:lnTo>
                    <a:pt x="0" y="0"/>
                  </a:lnTo>
                  <a:lnTo>
                    <a:pt x="0" y="923544"/>
                  </a:lnTo>
                  <a:lnTo>
                    <a:pt x="1432560" y="923544"/>
                  </a:lnTo>
                  <a:close/>
                </a:path>
              </a:pathLst>
            </a:custGeom>
            <a:solidFill>
              <a:srgbClr val="7F7F7F"/>
            </a:solidFill>
          </p:spPr>
          <p:txBody>
            <a:bodyPr wrap="square" lIns="0" tIns="0" rIns="0" bIns="0" rtlCol="0"/>
            <a:lstStyle/>
            <a:p>
              <a:endParaRPr/>
            </a:p>
          </p:txBody>
        </p:sp>
        <p:sp>
          <p:nvSpPr>
            <p:cNvPr id="5" name="object 5"/>
            <p:cNvSpPr/>
            <p:nvPr/>
          </p:nvSpPr>
          <p:spPr>
            <a:xfrm>
              <a:off x="4089654" y="1120901"/>
              <a:ext cx="626110" cy="852169"/>
            </a:xfrm>
            <a:custGeom>
              <a:avLst/>
              <a:gdLst/>
              <a:ahLst/>
              <a:cxnLst/>
              <a:rect l="l" t="t" r="r" b="b"/>
              <a:pathLst>
                <a:path w="626110" h="852169">
                  <a:moveTo>
                    <a:pt x="0" y="851915"/>
                  </a:moveTo>
                  <a:lnTo>
                    <a:pt x="625601" y="0"/>
                  </a:lnTo>
                </a:path>
              </a:pathLst>
            </a:custGeom>
            <a:ln w="41211">
              <a:solidFill>
                <a:srgbClr val="000000"/>
              </a:solidFill>
            </a:ln>
          </p:spPr>
          <p:txBody>
            <a:bodyPr wrap="square" lIns="0" tIns="0" rIns="0" bIns="0" rtlCol="0"/>
            <a:lstStyle/>
            <a:p>
              <a:endParaRPr/>
            </a:p>
          </p:txBody>
        </p:sp>
        <p:sp>
          <p:nvSpPr>
            <p:cNvPr id="6" name="object 6"/>
            <p:cNvSpPr/>
            <p:nvPr/>
          </p:nvSpPr>
          <p:spPr>
            <a:xfrm>
              <a:off x="2955798" y="1323593"/>
              <a:ext cx="1389380" cy="1644014"/>
            </a:xfrm>
            <a:custGeom>
              <a:avLst/>
              <a:gdLst/>
              <a:ahLst/>
              <a:cxnLst/>
              <a:rect l="l" t="t" r="r" b="b"/>
              <a:pathLst>
                <a:path w="1389379" h="1644014">
                  <a:moveTo>
                    <a:pt x="739140" y="199644"/>
                  </a:moveTo>
                  <a:lnTo>
                    <a:pt x="733831" y="154038"/>
                  </a:lnTo>
                  <a:lnTo>
                    <a:pt x="718743" y="112090"/>
                  </a:lnTo>
                  <a:lnTo>
                    <a:pt x="695109" y="75006"/>
                  </a:lnTo>
                  <a:lnTo>
                    <a:pt x="664133" y="44030"/>
                  </a:lnTo>
                  <a:lnTo>
                    <a:pt x="627049" y="20396"/>
                  </a:lnTo>
                  <a:lnTo>
                    <a:pt x="585101" y="5308"/>
                  </a:lnTo>
                  <a:lnTo>
                    <a:pt x="539496" y="0"/>
                  </a:lnTo>
                  <a:lnTo>
                    <a:pt x="493598" y="5308"/>
                  </a:lnTo>
                  <a:lnTo>
                    <a:pt x="451434" y="20396"/>
                  </a:lnTo>
                  <a:lnTo>
                    <a:pt x="414223" y="44030"/>
                  </a:lnTo>
                  <a:lnTo>
                    <a:pt x="383171" y="75006"/>
                  </a:lnTo>
                  <a:lnTo>
                    <a:pt x="359486" y="112090"/>
                  </a:lnTo>
                  <a:lnTo>
                    <a:pt x="344385" y="154038"/>
                  </a:lnTo>
                  <a:lnTo>
                    <a:pt x="339090" y="199644"/>
                  </a:lnTo>
                  <a:lnTo>
                    <a:pt x="344385" y="245503"/>
                  </a:lnTo>
                  <a:lnTo>
                    <a:pt x="359486" y="287553"/>
                  </a:lnTo>
                  <a:lnTo>
                    <a:pt x="383171" y="324612"/>
                  </a:lnTo>
                  <a:lnTo>
                    <a:pt x="414223" y="355511"/>
                  </a:lnTo>
                  <a:lnTo>
                    <a:pt x="451434" y="379044"/>
                  </a:lnTo>
                  <a:lnTo>
                    <a:pt x="493598" y="394030"/>
                  </a:lnTo>
                  <a:lnTo>
                    <a:pt x="539496" y="399288"/>
                  </a:lnTo>
                  <a:lnTo>
                    <a:pt x="585101" y="394030"/>
                  </a:lnTo>
                  <a:lnTo>
                    <a:pt x="627049" y="379044"/>
                  </a:lnTo>
                  <a:lnTo>
                    <a:pt x="664133" y="355511"/>
                  </a:lnTo>
                  <a:lnTo>
                    <a:pt x="695109" y="324612"/>
                  </a:lnTo>
                  <a:lnTo>
                    <a:pt x="718743" y="287553"/>
                  </a:lnTo>
                  <a:lnTo>
                    <a:pt x="733831" y="245503"/>
                  </a:lnTo>
                  <a:lnTo>
                    <a:pt x="739140" y="199644"/>
                  </a:lnTo>
                  <a:close/>
                </a:path>
                <a:path w="1389379" h="1644014">
                  <a:moveTo>
                    <a:pt x="1389126" y="528066"/>
                  </a:moveTo>
                  <a:lnTo>
                    <a:pt x="1183386" y="389382"/>
                  </a:lnTo>
                  <a:lnTo>
                    <a:pt x="1053084" y="561594"/>
                  </a:lnTo>
                  <a:lnTo>
                    <a:pt x="1020318" y="596646"/>
                  </a:lnTo>
                  <a:lnTo>
                    <a:pt x="755142" y="438912"/>
                  </a:lnTo>
                  <a:lnTo>
                    <a:pt x="648462" y="438912"/>
                  </a:lnTo>
                  <a:lnTo>
                    <a:pt x="581406" y="589788"/>
                  </a:lnTo>
                  <a:lnTo>
                    <a:pt x="550926" y="529590"/>
                  </a:lnTo>
                  <a:lnTo>
                    <a:pt x="583692" y="437388"/>
                  </a:lnTo>
                  <a:lnTo>
                    <a:pt x="486918" y="437388"/>
                  </a:lnTo>
                  <a:lnTo>
                    <a:pt x="519684" y="531114"/>
                  </a:lnTo>
                  <a:lnTo>
                    <a:pt x="486918" y="589788"/>
                  </a:lnTo>
                  <a:lnTo>
                    <a:pt x="411480" y="438912"/>
                  </a:lnTo>
                  <a:lnTo>
                    <a:pt x="330708" y="438912"/>
                  </a:lnTo>
                  <a:lnTo>
                    <a:pt x="224790" y="499872"/>
                  </a:lnTo>
                  <a:lnTo>
                    <a:pt x="0" y="821436"/>
                  </a:lnTo>
                  <a:lnTo>
                    <a:pt x="9906" y="969264"/>
                  </a:lnTo>
                  <a:lnTo>
                    <a:pt x="163068" y="1083564"/>
                  </a:lnTo>
                  <a:lnTo>
                    <a:pt x="286512" y="1165860"/>
                  </a:lnTo>
                  <a:lnTo>
                    <a:pt x="438912" y="978408"/>
                  </a:lnTo>
                  <a:lnTo>
                    <a:pt x="377952" y="929640"/>
                  </a:lnTo>
                  <a:lnTo>
                    <a:pt x="332994" y="885444"/>
                  </a:lnTo>
                  <a:lnTo>
                    <a:pt x="434340" y="724662"/>
                  </a:lnTo>
                  <a:lnTo>
                    <a:pt x="733044" y="928116"/>
                  </a:lnTo>
                  <a:lnTo>
                    <a:pt x="441960" y="1326642"/>
                  </a:lnTo>
                  <a:lnTo>
                    <a:pt x="156210" y="1122426"/>
                  </a:lnTo>
                  <a:lnTo>
                    <a:pt x="156210" y="1370838"/>
                  </a:lnTo>
                  <a:lnTo>
                    <a:pt x="199644" y="1370838"/>
                  </a:lnTo>
                  <a:lnTo>
                    <a:pt x="199644" y="1643634"/>
                  </a:lnTo>
                  <a:lnTo>
                    <a:pt x="861822" y="1643634"/>
                  </a:lnTo>
                  <a:lnTo>
                    <a:pt x="861822" y="1372362"/>
                  </a:lnTo>
                  <a:lnTo>
                    <a:pt x="912876" y="1373124"/>
                  </a:lnTo>
                  <a:lnTo>
                    <a:pt x="912876" y="865632"/>
                  </a:lnTo>
                  <a:lnTo>
                    <a:pt x="971550" y="909066"/>
                  </a:lnTo>
                  <a:lnTo>
                    <a:pt x="1098804" y="909066"/>
                  </a:lnTo>
                  <a:lnTo>
                    <a:pt x="1113282" y="890778"/>
                  </a:lnTo>
                  <a:lnTo>
                    <a:pt x="1207770" y="757428"/>
                  </a:lnTo>
                  <a:lnTo>
                    <a:pt x="1389126" y="528066"/>
                  </a:lnTo>
                  <a:close/>
                </a:path>
              </a:pathLst>
            </a:custGeom>
            <a:solidFill>
              <a:srgbClr val="FF0000"/>
            </a:solidFill>
          </p:spPr>
          <p:txBody>
            <a:bodyPr wrap="square" lIns="0" tIns="0" rIns="0" bIns="0" rtlCol="0"/>
            <a:lstStyle/>
            <a:p>
              <a:endParaRPr/>
            </a:p>
          </p:txBody>
        </p:sp>
        <p:pic>
          <p:nvPicPr>
            <p:cNvPr id="7" name="object 7"/>
            <p:cNvPicPr/>
            <p:nvPr/>
          </p:nvPicPr>
          <p:blipFill>
            <a:blip r:embed="rId3" cstate="print"/>
            <a:stretch>
              <a:fillRect/>
            </a:stretch>
          </p:blipFill>
          <p:spPr>
            <a:xfrm>
              <a:off x="3174492" y="1763267"/>
              <a:ext cx="195072" cy="147828"/>
            </a:xfrm>
            <a:prstGeom prst="rect">
              <a:avLst/>
            </a:prstGeom>
          </p:spPr>
        </p:pic>
        <p:pic>
          <p:nvPicPr>
            <p:cNvPr id="8" name="object 8"/>
            <p:cNvPicPr/>
            <p:nvPr/>
          </p:nvPicPr>
          <p:blipFill>
            <a:blip r:embed="rId4" cstate="print"/>
            <a:stretch>
              <a:fillRect/>
            </a:stretch>
          </p:blipFill>
          <p:spPr>
            <a:xfrm>
              <a:off x="2932176" y="2119883"/>
              <a:ext cx="157733" cy="186689"/>
            </a:xfrm>
            <a:prstGeom prst="rect">
              <a:avLst/>
            </a:prstGeom>
          </p:spPr>
        </p:pic>
        <p:pic>
          <p:nvPicPr>
            <p:cNvPr id="9" name="object 9"/>
            <p:cNvPicPr/>
            <p:nvPr/>
          </p:nvPicPr>
          <p:blipFill>
            <a:blip r:embed="rId5" cstate="print"/>
            <a:stretch>
              <a:fillRect/>
            </a:stretch>
          </p:blipFill>
          <p:spPr>
            <a:xfrm>
              <a:off x="3902964" y="2109215"/>
              <a:ext cx="175260" cy="144779"/>
            </a:xfrm>
            <a:prstGeom prst="rect">
              <a:avLst/>
            </a:prstGeom>
          </p:spPr>
        </p:pic>
        <p:sp>
          <p:nvSpPr>
            <p:cNvPr id="10" name="object 10"/>
            <p:cNvSpPr/>
            <p:nvPr/>
          </p:nvSpPr>
          <p:spPr>
            <a:xfrm>
              <a:off x="4099560" y="2125217"/>
              <a:ext cx="648970" cy="1149985"/>
            </a:xfrm>
            <a:custGeom>
              <a:avLst/>
              <a:gdLst/>
              <a:ahLst/>
              <a:cxnLst/>
              <a:rect l="l" t="t" r="r" b="b"/>
              <a:pathLst>
                <a:path w="648970" h="1149985">
                  <a:moveTo>
                    <a:pt x="525780" y="198882"/>
                  </a:moveTo>
                  <a:lnTo>
                    <a:pt x="520509" y="153327"/>
                  </a:lnTo>
                  <a:lnTo>
                    <a:pt x="505536" y="111467"/>
                  </a:lnTo>
                  <a:lnTo>
                    <a:pt x="482041" y="74549"/>
                  </a:lnTo>
                  <a:lnTo>
                    <a:pt x="451231" y="43738"/>
                  </a:lnTo>
                  <a:lnTo>
                    <a:pt x="414312" y="20243"/>
                  </a:lnTo>
                  <a:lnTo>
                    <a:pt x="372452" y="5270"/>
                  </a:lnTo>
                  <a:lnTo>
                    <a:pt x="326898" y="0"/>
                  </a:lnTo>
                  <a:lnTo>
                    <a:pt x="281038" y="5270"/>
                  </a:lnTo>
                  <a:lnTo>
                    <a:pt x="238988" y="20243"/>
                  </a:lnTo>
                  <a:lnTo>
                    <a:pt x="201930" y="43738"/>
                  </a:lnTo>
                  <a:lnTo>
                    <a:pt x="171030" y="74549"/>
                  </a:lnTo>
                  <a:lnTo>
                    <a:pt x="147497" y="111467"/>
                  </a:lnTo>
                  <a:lnTo>
                    <a:pt x="132511" y="153327"/>
                  </a:lnTo>
                  <a:lnTo>
                    <a:pt x="127254" y="198882"/>
                  </a:lnTo>
                  <a:lnTo>
                    <a:pt x="132511" y="244449"/>
                  </a:lnTo>
                  <a:lnTo>
                    <a:pt x="147497" y="286308"/>
                  </a:lnTo>
                  <a:lnTo>
                    <a:pt x="171030" y="323227"/>
                  </a:lnTo>
                  <a:lnTo>
                    <a:pt x="201930" y="354037"/>
                  </a:lnTo>
                  <a:lnTo>
                    <a:pt x="238988" y="377532"/>
                  </a:lnTo>
                  <a:lnTo>
                    <a:pt x="281038" y="392506"/>
                  </a:lnTo>
                  <a:lnTo>
                    <a:pt x="326898" y="397764"/>
                  </a:lnTo>
                  <a:lnTo>
                    <a:pt x="372452" y="392506"/>
                  </a:lnTo>
                  <a:lnTo>
                    <a:pt x="414312" y="377532"/>
                  </a:lnTo>
                  <a:lnTo>
                    <a:pt x="451231" y="354037"/>
                  </a:lnTo>
                  <a:lnTo>
                    <a:pt x="482041" y="323227"/>
                  </a:lnTo>
                  <a:lnTo>
                    <a:pt x="505536" y="286308"/>
                  </a:lnTo>
                  <a:lnTo>
                    <a:pt x="520509" y="244449"/>
                  </a:lnTo>
                  <a:lnTo>
                    <a:pt x="525780" y="198882"/>
                  </a:lnTo>
                  <a:close/>
                </a:path>
                <a:path w="648970" h="1149985">
                  <a:moveTo>
                    <a:pt x="648462" y="572262"/>
                  </a:moveTo>
                  <a:lnTo>
                    <a:pt x="644398" y="572262"/>
                  </a:lnTo>
                  <a:lnTo>
                    <a:pt x="645414" y="566928"/>
                  </a:lnTo>
                  <a:lnTo>
                    <a:pt x="636054" y="516915"/>
                  </a:lnTo>
                  <a:lnTo>
                    <a:pt x="610552" y="475970"/>
                  </a:lnTo>
                  <a:lnTo>
                    <a:pt x="572757" y="448310"/>
                  </a:lnTo>
                  <a:lnTo>
                    <a:pt x="535686" y="440169"/>
                  </a:lnTo>
                  <a:lnTo>
                    <a:pt x="535686" y="439674"/>
                  </a:lnTo>
                  <a:lnTo>
                    <a:pt x="533463" y="439674"/>
                  </a:lnTo>
                  <a:lnTo>
                    <a:pt x="526542" y="438150"/>
                  </a:lnTo>
                  <a:lnTo>
                    <a:pt x="519607" y="439674"/>
                  </a:lnTo>
                  <a:lnTo>
                    <a:pt x="120789" y="439674"/>
                  </a:lnTo>
                  <a:lnTo>
                    <a:pt x="114300" y="438150"/>
                  </a:lnTo>
                  <a:lnTo>
                    <a:pt x="107797" y="439674"/>
                  </a:lnTo>
                  <a:lnTo>
                    <a:pt x="106680" y="439674"/>
                  </a:lnTo>
                  <a:lnTo>
                    <a:pt x="106680" y="439940"/>
                  </a:lnTo>
                  <a:lnTo>
                    <a:pt x="69748" y="448602"/>
                  </a:lnTo>
                  <a:lnTo>
                    <a:pt x="33426" y="477113"/>
                  </a:lnTo>
                  <a:lnTo>
                    <a:pt x="8953" y="519493"/>
                  </a:lnTo>
                  <a:lnTo>
                    <a:pt x="0" y="571500"/>
                  </a:lnTo>
                  <a:lnTo>
                    <a:pt x="762" y="575894"/>
                  </a:lnTo>
                  <a:lnTo>
                    <a:pt x="762" y="1149858"/>
                  </a:lnTo>
                  <a:lnTo>
                    <a:pt x="648462" y="1149858"/>
                  </a:lnTo>
                  <a:lnTo>
                    <a:pt x="648462" y="572262"/>
                  </a:lnTo>
                  <a:close/>
                </a:path>
              </a:pathLst>
            </a:custGeom>
            <a:solidFill>
              <a:srgbClr val="008000"/>
            </a:solidFill>
          </p:spPr>
          <p:txBody>
            <a:bodyPr wrap="square" lIns="0" tIns="0" rIns="0" bIns="0" rtlCol="0"/>
            <a:lstStyle/>
            <a:p>
              <a:endParaRPr/>
            </a:p>
          </p:txBody>
        </p:sp>
        <p:sp>
          <p:nvSpPr>
            <p:cNvPr id="11" name="object 11"/>
            <p:cNvSpPr/>
            <p:nvPr/>
          </p:nvSpPr>
          <p:spPr>
            <a:xfrm>
              <a:off x="4797552" y="2125217"/>
              <a:ext cx="647700" cy="1149985"/>
            </a:xfrm>
            <a:custGeom>
              <a:avLst/>
              <a:gdLst/>
              <a:ahLst/>
              <a:cxnLst/>
              <a:rect l="l" t="t" r="r" b="b"/>
              <a:pathLst>
                <a:path w="647700" h="1149985">
                  <a:moveTo>
                    <a:pt x="525018" y="198882"/>
                  </a:moveTo>
                  <a:lnTo>
                    <a:pt x="519747" y="153327"/>
                  </a:lnTo>
                  <a:lnTo>
                    <a:pt x="504774" y="111467"/>
                  </a:lnTo>
                  <a:lnTo>
                    <a:pt x="481279" y="74549"/>
                  </a:lnTo>
                  <a:lnTo>
                    <a:pt x="450469" y="43738"/>
                  </a:lnTo>
                  <a:lnTo>
                    <a:pt x="413550" y="20243"/>
                  </a:lnTo>
                  <a:lnTo>
                    <a:pt x="371690" y="5270"/>
                  </a:lnTo>
                  <a:lnTo>
                    <a:pt x="326136" y="0"/>
                  </a:lnTo>
                  <a:lnTo>
                    <a:pt x="280276" y="5270"/>
                  </a:lnTo>
                  <a:lnTo>
                    <a:pt x="238226" y="20243"/>
                  </a:lnTo>
                  <a:lnTo>
                    <a:pt x="201168" y="43738"/>
                  </a:lnTo>
                  <a:lnTo>
                    <a:pt x="170268" y="74549"/>
                  </a:lnTo>
                  <a:lnTo>
                    <a:pt x="146735" y="111467"/>
                  </a:lnTo>
                  <a:lnTo>
                    <a:pt x="131749" y="153327"/>
                  </a:lnTo>
                  <a:lnTo>
                    <a:pt x="126492" y="198882"/>
                  </a:lnTo>
                  <a:lnTo>
                    <a:pt x="131749" y="244449"/>
                  </a:lnTo>
                  <a:lnTo>
                    <a:pt x="146735" y="286308"/>
                  </a:lnTo>
                  <a:lnTo>
                    <a:pt x="170268" y="323227"/>
                  </a:lnTo>
                  <a:lnTo>
                    <a:pt x="201168" y="354037"/>
                  </a:lnTo>
                  <a:lnTo>
                    <a:pt x="238226" y="377532"/>
                  </a:lnTo>
                  <a:lnTo>
                    <a:pt x="280276" y="392506"/>
                  </a:lnTo>
                  <a:lnTo>
                    <a:pt x="326136" y="397764"/>
                  </a:lnTo>
                  <a:lnTo>
                    <a:pt x="371690" y="392506"/>
                  </a:lnTo>
                  <a:lnTo>
                    <a:pt x="413550" y="377532"/>
                  </a:lnTo>
                  <a:lnTo>
                    <a:pt x="450469" y="354037"/>
                  </a:lnTo>
                  <a:lnTo>
                    <a:pt x="481279" y="323227"/>
                  </a:lnTo>
                  <a:lnTo>
                    <a:pt x="504774" y="286308"/>
                  </a:lnTo>
                  <a:lnTo>
                    <a:pt x="519747" y="244449"/>
                  </a:lnTo>
                  <a:lnTo>
                    <a:pt x="525018" y="198882"/>
                  </a:lnTo>
                  <a:close/>
                </a:path>
                <a:path w="647700" h="1149985">
                  <a:moveTo>
                    <a:pt x="647700" y="572262"/>
                  </a:moveTo>
                  <a:lnTo>
                    <a:pt x="645160" y="572262"/>
                  </a:lnTo>
                  <a:lnTo>
                    <a:pt x="646176" y="566928"/>
                  </a:lnTo>
                  <a:lnTo>
                    <a:pt x="636816" y="516915"/>
                  </a:lnTo>
                  <a:lnTo>
                    <a:pt x="611314" y="475970"/>
                  </a:lnTo>
                  <a:lnTo>
                    <a:pt x="573519" y="448310"/>
                  </a:lnTo>
                  <a:lnTo>
                    <a:pt x="534924" y="439826"/>
                  </a:lnTo>
                  <a:lnTo>
                    <a:pt x="534924" y="439674"/>
                  </a:lnTo>
                  <a:lnTo>
                    <a:pt x="534225" y="439674"/>
                  </a:lnTo>
                  <a:lnTo>
                    <a:pt x="527304" y="438150"/>
                  </a:lnTo>
                  <a:lnTo>
                    <a:pt x="520293" y="439674"/>
                  </a:lnTo>
                  <a:lnTo>
                    <a:pt x="120726" y="439674"/>
                  </a:lnTo>
                  <a:lnTo>
                    <a:pt x="114300" y="438150"/>
                  </a:lnTo>
                  <a:lnTo>
                    <a:pt x="107797" y="439674"/>
                  </a:lnTo>
                  <a:lnTo>
                    <a:pt x="105156" y="439674"/>
                  </a:lnTo>
                  <a:lnTo>
                    <a:pt x="105156" y="440296"/>
                  </a:lnTo>
                  <a:lnTo>
                    <a:pt x="69748" y="448602"/>
                  </a:lnTo>
                  <a:lnTo>
                    <a:pt x="33426" y="477113"/>
                  </a:lnTo>
                  <a:lnTo>
                    <a:pt x="8953" y="519493"/>
                  </a:lnTo>
                  <a:lnTo>
                    <a:pt x="0" y="571500"/>
                  </a:lnTo>
                  <a:lnTo>
                    <a:pt x="762" y="575894"/>
                  </a:lnTo>
                  <a:lnTo>
                    <a:pt x="762" y="1149858"/>
                  </a:lnTo>
                  <a:lnTo>
                    <a:pt x="647700" y="1149858"/>
                  </a:lnTo>
                  <a:lnTo>
                    <a:pt x="647700" y="572262"/>
                  </a:lnTo>
                  <a:close/>
                </a:path>
              </a:pathLst>
            </a:custGeom>
            <a:solidFill>
              <a:srgbClr val="008080"/>
            </a:solidFill>
          </p:spPr>
          <p:txBody>
            <a:bodyPr wrap="square" lIns="0" tIns="0" rIns="0" bIns="0" rtlCol="0"/>
            <a:lstStyle/>
            <a:p>
              <a:endParaRPr/>
            </a:p>
          </p:txBody>
        </p:sp>
      </p:grpSp>
      <p:sp>
        <p:nvSpPr>
          <p:cNvPr id="12" name="object 12"/>
          <p:cNvSpPr txBox="1">
            <a:spLocks noGrp="1"/>
          </p:cNvSpPr>
          <p:nvPr>
            <p:ph type="title"/>
          </p:nvPr>
        </p:nvSpPr>
        <p:spPr>
          <a:xfrm>
            <a:off x="3555593" y="445871"/>
            <a:ext cx="1955164" cy="574040"/>
          </a:xfrm>
          <a:prstGeom prst="rect">
            <a:avLst/>
          </a:prstGeom>
        </p:spPr>
        <p:txBody>
          <a:bodyPr vert="horz" wrap="square" lIns="0" tIns="12700" rIns="0" bIns="0" rtlCol="0">
            <a:spAutoFit/>
          </a:bodyPr>
          <a:lstStyle/>
          <a:p>
            <a:pPr marL="12700">
              <a:lnSpc>
                <a:spcPct val="100000"/>
              </a:lnSpc>
              <a:spcBef>
                <a:spcPts val="100"/>
              </a:spcBef>
            </a:pPr>
            <a:r>
              <a:rPr spc="-10" dirty="0"/>
              <a:t>Summary</a:t>
            </a:r>
          </a:p>
        </p:txBody>
      </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13" name="object 13"/>
          <p:cNvSpPr txBox="1"/>
          <p:nvPr/>
        </p:nvSpPr>
        <p:spPr>
          <a:xfrm>
            <a:off x="473455" y="3593845"/>
            <a:ext cx="8094345" cy="2363470"/>
          </a:xfrm>
          <a:prstGeom prst="rect">
            <a:avLst/>
          </a:prstGeom>
        </p:spPr>
        <p:txBody>
          <a:bodyPr vert="horz" wrap="square" lIns="0" tIns="12700" rIns="0" bIns="0" rtlCol="0">
            <a:spAutoFit/>
          </a:bodyPr>
          <a:lstStyle/>
          <a:p>
            <a:pPr marL="469900" marR="5080" indent="-457200">
              <a:lnSpc>
                <a:spcPct val="100000"/>
              </a:lnSpc>
              <a:spcBef>
                <a:spcPts val="100"/>
              </a:spcBef>
              <a:buClr>
                <a:srgbClr val="063DE8"/>
              </a:buClr>
              <a:buSzPct val="75000"/>
              <a:buAutoNum type="arabicPeriod"/>
              <a:tabLst>
                <a:tab pos="469900" algn="l"/>
              </a:tabLst>
            </a:pPr>
            <a:r>
              <a:rPr sz="2400" dirty="0">
                <a:latin typeface="Times New Roman"/>
                <a:cs typeface="Times New Roman"/>
              </a:rPr>
              <a:t>Digital</a:t>
            </a:r>
            <a:r>
              <a:rPr sz="2400" spc="-40" dirty="0">
                <a:latin typeface="Times New Roman"/>
                <a:cs typeface="Times New Roman"/>
              </a:rPr>
              <a:t> </a:t>
            </a:r>
            <a:r>
              <a:rPr sz="2400" dirty="0">
                <a:latin typeface="Times New Roman"/>
                <a:cs typeface="Times New Roman"/>
              </a:rPr>
              <a:t>signature</a:t>
            </a:r>
            <a:r>
              <a:rPr sz="2400" spc="-30" dirty="0">
                <a:latin typeface="Times New Roman"/>
                <a:cs typeface="Times New Roman"/>
              </a:rPr>
              <a:t> </a:t>
            </a:r>
            <a:r>
              <a:rPr sz="2400" dirty="0">
                <a:latin typeface="Times New Roman"/>
                <a:cs typeface="Times New Roman"/>
              </a:rPr>
              <a:t>depends</a:t>
            </a:r>
            <a:r>
              <a:rPr sz="2400" spc="-30" dirty="0">
                <a:latin typeface="Times New Roman"/>
                <a:cs typeface="Times New Roman"/>
              </a:rPr>
              <a:t> </a:t>
            </a:r>
            <a:r>
              <a:rPr sz="2400" dirty="0">
                <a:latin typeface="Times New Roman"/>
                <a:cs typeface="Times New Roman"/>
              </a:rPr>
              <a:t>upon</a:t>
            </a:r>
            <a:r>
              <a:rPr sz="2400" spc="-2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message</a:t>
            </a:r>
            <a:r>
              <a:rPr sz="2400" spc="-3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spc="-20" dirty="0">
                <a:latin typeface="Times New Roman"/>
                <a:cs typeface="Times New Roman"/>
              </a:rPr>
              <a:t>some </a:t>
            </a:r>
            <a:r>
              <a:rPr sz="2400" dirty="0">
                <a:latin typeface="Times New Roman"/>
                <a:cs typeface="Times New Roman"/>
              </a:rPr>
              <a:t>information</a:t>
            </a:r>
            <a:r>
              <a:rPr sz="2400" spc="-30" dirty="0">
                <a:latin typeface="Times New Roman"/>
                <a:cs typeface="Times New Roman"/>
              </a:rPr>
              <a:t> </a:t>
            </a:r>
            <a:r>
              <a:rPr sz="2400" dirty="0">
                <a:latin typeface="Times New Roman"/>
                <a:cs typeface="Times New Roman"/>
              </a:rPr>
              <a:t>unique</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signer</a:t>
            </a:r>
            <a:r>
              <a:rPr sz="2400" spc="-3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prevent</a:t>
            </a:r>
            <a:r>
              <a:rPr sz="2400" spc="-25" dirty="0">
                <a:latin typeface="Times New Roman"/>
                <a:cs typeface="Times New Roman"/>
              </a:rPr>
              <a:t> </a:t>
            </a:r>
            <a:r>
              <a:rPr sz="2400" dirty="0">
                <a:latin typeface="Times New Roman"/>
                <a:cs typeface="Times New Roman"/>
              </a:rPr>
              <a:t>forgery</a:t>
            </a:r>
            <a:r>
              <a:rPr sz="2400" spc="-2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spc="-10" dirty="0">
                <a:latin typeface="Times New Roman"/>
                <a:cs typeface="Times New Roman"/>
              </a:rPr>
              <a:t>denial. </a:t>
            </a:r>
            <a:r>
              <a:rPr sz="2400" dirty="0">
                <a:latin typeface="Times New Roman"/>
                <a:cs typeface="Times New Roman"/>
              </a:rPr>
              <a:t>Anyone</a:t>
            </a:r>
            <a:r>
              <a:rPr sz="2400" spc="-40" dirty="0">
                <a:latin typeface="Times New Roman"/>
                <a:cs typeface="Times New Roman"/>
              </a:rPr>
              <a:t> </a:t>
            </a:r>
            <a:r>
              <a:rPr sz="2400" dirty="0">
                <a:latin typeface="Times New Roman"/>
                <a:cs typeface="Times New Roman"/>
              </a:rPr>
              <a:t>should</a:t>
            </a:r>
            <a:r>
              <a:rPr sz="2400" spc="-35" dirty="0">
                <a:latin typeface="Times New Roman"/>
                <a:cs typeface="Times New Roman"/>
              </a:rPr>
              <a:t> </a:t>
            </a:r>
            <a:r>
              <a:rPr sz="2400" dirty="0">
                <a:latin typeface="Times New Roman"/>
                <a:cs typeface="Times New Roman"/>
              </a:rPr>
              <a:t>be</a:t>
            </a:r>
            <a:r>
              <a:rPr sz="2400" spc="-35" dirty="0">
                <a:latin typeface="Times New Roman"/>
                <a:cs typeface="Times New Roman"/>
              </a:rPr>
              <a:t> </a:t>
            </a:r>
            <a:r>
              <a:rPr sz="2400" dirty="0">
                <a:latin typeface="Times New Roman"/>
                <a:cs typeface="Times New Roman"/>
              </a:rPr>
              <a:t>able</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10" dirty="0">
                <a:latin typeface="Times New Roman"/>
                <a:cs typeface="Times New Roman"/>
              </a:rPr>
              <a:t>verify.</a:t>
            </a:r>
            <a:endParaRPr sz="2400">
              <a:latin typeface="Times New Roman"/>
              <a:cs typeface="Times New Roman"/>
            </a:endParaRPr>
          </a:p>
          <a:p>
            <a:pPr marL="469900" marR="399415" indent="-457200">
              <a:lnSpc>
                <a:spcPct val="100000"/>
              </a:lnSpc>
              <a:spcBef>
                <a:spcPts val="555"/>
              </a:spcBef>
              <a:buClr>
                <a:srgbClr val="063DE8"/>
              </a:buClr>
              <a:buSzPct val="75000"/>
              <a:buAutoNum type="arabicPeriod"/>
              <a:tabLst>
                <a:tab pos="469900" algn="l"/>
              </a:tabLst>
            </a:pPr>
            <a:r>
              <a:rPr sz="2400" dirty="0">
                <a:latin typeface="Times New Roman"/>
                <a:cs typeface="Times New Roman"/>
              </a:rPr>
              <a:t>ElGamal/Schnorr/DSA</a:t>
            </a:r>
            <a:r>
              <a:rPr sz="2400" spc="-45" dirty="0">
                <a:latin typeface="Times New Roman"/>
                <a:cs typeface="Times New Roman"/>
              </a:rPr>
              <a:t> </a:t>
            </a:r>
            <a:r>
              <a:rPr sz="2400" dirty="0">
                <a:latin typeface="Times New Roman"/>
                <a:cs typeface="Times New Roman"/>
              </a:rPr>
              <a:t>signatures</a:t>
            </a:r>
            <a:r>
              <a:rPr sz="2400" spc="-45" dirty="0">
                <a:latin typeface="Times New Roman"/>
                <a:cs typeface="Times New Roman"/>
              </a:rPr>
              <a:t> </a:t>
            </a:r>
            <a:r>
              <a:rPr sz="2400" dirty="0">
                <a:latin typeface="Times New Roman"/>
                <a:cs typeface="Times New Roman"/>
              </a:rPr>
              <a:t>use</a:t>
            </a:r>
            <a:r>
              <a:rPr sz="2400" spc="-40" dirty="0">
                <a:latin typeface="Times New Roman"/>
                <a:cs typeface="Times New Roman"/>
              </a:rPr>
              <a:t> </a:t>
            </a:r>
            <a:r>
              <a:rPr sz="2400" dirty="0">
                <a:latin typeface="Times New Roman"/>
                <a:cs typeface="Times New Roman"/>
              </a:rPr>
              <a:t>a</a:t>
            </a:r>
            <a:r>
              <a:rPr sz="2400" spc="-45" dirty="0">
                <a:latin typeface="Times New Roman"/>
                <a:cs typeface="Times New Roman"/>
              </a:rPr>
              <a:t> </a:t>
            </a:r>
            <a:r>
              <a:rPr sz="2400" spc="-10" dirty="0">
                <a:latin typeface="Times New Roman"/>
                <a:cs typeface="Times New Roman"/>
              </a:rPr>
              <a:t>per-</a:t>
            </a:r>
            <a:r>
              <a:rPr sz="2400" dirty="0">
                <a:latin typeface="Times New Roman"/>
                <a:cs typeface="Times New Roman"/>
              </a:rPr>
              <a:t>message</a:t>
            </a:r>
            <a:r>
              <a:rPr sz="2400" spc="-45" dirty="0">
                <a:latin typeface="Times New Roman"/>
                <a:cs typeface="Times New Roman"/>
              </a:rPr>
              <a:t> </a:t>
            </a:r>
            <a:r>
              <a:rPr sz="2400" spc="-10" dirty="0">
                <a:latin typeface="Times New Roman"/>
                <a:cs typeface="Times New Roman"/>
              </a:rPr>
              <a:t>secret </a:t>
            </a:r>
            <a:r>
              <a:rPr sz="2400" dirty="0">
                <a:latin typeface="Times New Roman"/>
                <a:cs typeface="Times New Roman"/>
              </a:rPr>
              <a:t>key</a:t>
            </a:r>
            <a:r>
              <a:rPr sz="2400" spc="-3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are</a:t>
            </a:r>
            <a:r>
              <a:rPr sz="2400" spc="-15" dirty="0">
                <a:latin typeface="Times New Roman"/>
                <a:cs typeface="Times New Roman"/>
              </a:rPr>
              <a:t> </a:t>
            </a:r>
            <a:r>
              <a:rPr sz="2400" dirty="0">
                <a:latin typeface="Times New Roman"/>
                <a:cs typeface="Times New Roman"/>
              </a:rPr>
              <a:t>based</a:t>
            </a:r>
            <a:r>
              <a:rPr sz="2400" spc="-15" dirty="0">
                <a:latin typeface="Times New Roman"/>
                <a:cs typeface="Times New Roman"/>
              </a:rPr>
              <a:t> </a:t>
            </a:r>
            <a:r>
              <a:rPr sz="2400" dirty="0">
                <a:latin typeface="Times New Roman"/>
                <a:cs typeface="Times New Roman"/>
              </a:rPr>
              <a:t>on</a:t>
            </a:r>
            <a:r>
              <a:rPr sz="2400" spc="-15" dirty="0">
                <a:latin typeface="Times New Roman"/>
                <a:cs typeface="Times New Roman"/>
              </a:rPr>
              <a:t> </a:t>
            </a:r>
            <a:r>
              <a:rPr sz="2400" spc="-10" dirty="0">
                <a:latin typeface="Times New Roman"/>
                <a:cs typeface="Times New Roman"/>
              </a:rPr>
              <a:t>exponentiation</a:t>
            </a:r>
            <a:endParaRPr sz="2400">
              <a:latin typeface="Times New Roman"/>
              <a:cs typeface="Times New Roman"/>
            </a:endParaRPr>
          </a:p>
          <a:p>
            <a:pPr marL="469265" indent="-456565">
              <a:lnSpc>
                <a:spcPct val="100000"/>
              </a:lnSpc>
              <a:spcBef>
                <a:spcPts val="570"/>
              </a:spcBef>
              <a:buClr>
                <a:srgbClr val="063DE8"/>
              </a:buClr>
              <a:buSzPct val="75000"/>
              <a:buAutoNum type="arabicPeriod"/>
              <a:tabLst>
                <a:tab pos="469265" algn="l"/>
              </a:tabLst>
            </a:pPr>
            <a:r>
              <a:rPr sz="2400" dirty="0">
                <a:latin typeface="Times New Roman"/>
                <a:cs typeface="Times New Roman"/>
              </a:rPr>
              <a:t>DSA</a:t>
            </a:r>
            <a:r>
              <a:rPr sz="2400" spc="-30" dirty="0">
                <a:latin typeface="Times New Roman"/>
                <a:cs typeface="Times New Roman"/>
              </a:rPr>
              <a:t> </a:t>
            </a:r>
            <a:r>
              <a:rPr sz="2400" dirty="0">
                <a:latin typeface="Times New Roman"/>
                <a:cs typeface="Times New Roman"/>
              </a:rPr>
              <a:t>produces</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320</a:t>
            </a:r>
            <a:r>
              <a:rPr sz="2400" spc="-30" dirty="0">
                <a:latin typeface="Times New Roman"/>
                <a:cs typeface="Times New Roman"/>
              </a:rPr>
              <a:t> </a:t>
            </a:r>
            <a:r>
              <a:rPr sz="2400" dirty="0">
                <a:latin typeface="Times New Roman"/>
                <a:cs typeface="Times New Roman"/>
              </a:rPr>
              <a:t>bit</a:t>
            </a:r>
            <a:r>
              <a:rPr sz="2400" spc="-25" dirty="0">
                <a:latin typeface="Times New Roman"/>
                <a:cs typeface="Times New Roman"/>
              </a:rPr>
              <a:t> </a:t>
            </a:r>
            <a:r>
              <a:rPr sz="2400" spc="-10" dirty="0">
                <a:latin typeface="Times New Roman"/>
                <a:cs typeface="Times New Roman"/>
              </a:rPr>
              <a:t>signature</a:t>
            </a:r>
            <a:endParaRPr sz="24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3351" y="445871"/>
            <a:ext cx="2781300" cy="574040"/>
          </a:xfrm>
          <a:prstGeom prst="rect">
            <a:avLst/>
          </a:prstGeom>
        </p:spPr>
        <p:txBody>
          <a:bodyPr vert="horz" wrap="square" lIns="0" tIns="12700" rIns="0" bIns="0" rtlCol="0">
            <a:spAutoFit/>
          </a:bodyPr>
          <a:lstStyle/>
          <a:p>
            <a:pPr marL="12700">
              <a:lnSpc>
                <a:spcPct val="100000"/>
              </a:lnSpc>
              <a:spcBef>
                <a:spcPts val="100"/>
              </a:spcBef>
            </a:pPr>
            <a:r>
              <a:rPr dirty="0"/>
              <a:t>Homework</a:t>
            </a:r>
            <a:r>
              <a:rPr spc="-175" dirty="0"/>
              <a:t> </a:t>
            </a:r>
            <a:r>
              <a:rPr spc="-25" dirty="0"/>
              <a:t>13</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endParaRPr spc="-10"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endParaRPr spc="-20"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5600" marR="280670" indent="-342900">
              <a:lnSpc>
                <a:spcPct val="100000"/>
              </a:lnSpc>
              <a:spcBef>
                <a:spcPts val="100"/>
              </a:spcBef>
              <a:buClr>
                <a:srgbClr val="063DE8"/>
              </a:buClr>
              <a:buSzPct val="75000"/>
              <a:buFont typeface="Wingdings"/>
              <a:buChar char=""/>
              <a:tabLst>
                <a:tab pos="355600" algn="l"/>
              </a:tabLst>
            </a:pPr>
            <a:r>
              <a:rPr dirty="0"/>
              <a:t>DSA</a:t>
            </a:r>
            <a:r>
              <a:rPr spc="-45" dirty="0"/>
              <a:t> </a:t>
            </a:r>
            <a:r>
              <a:rPr dirty="0"/>
              <a:t>specifies</a:t>
            </a:r>
            <a:r>
              <a:rPr spc="-45" dirty="0"/>
              <a:t> </a:t>
            </a:r>
            <a:r>
              <a:rPr dirty="0"/>
              <a:t>that</a:t>
            </a:r>
            <a:r>
              <a:rPr spc="-40" dirty="0"/>
              <a:t> </a:t>
            </a:r>
            <a:r>
              <a:rPr dirty="0"/>
              <a:t>if</a:t>
            </a:r>
            <a:r>
              <a:rPr spc="-45" dirty="0"/>
              <a:t> </a:t>
            </a:r>
            <a:r>
              <a:rPr dirty="0"/>
              <a:t>signature</a:t>
            </a:r>
            <a:r>
              <a:rPr spc="-45" dirty="0"/>
              <a:t> </a:t>
            </a:r>
            <a:r>
              <a:rPr dirty="0"/>
              <a:t>generation</a:t>
            </a:r>
            <a:r>
              <a:rPr spc="-40" dirty="0"/>
              <a:t> </a:t>
            </a:r>
            <a:r>
              <a:rPr spc="-10" dirty="0"/>
              <a:t>process </a:t>
            </a:r>
            <a:r>
              <a:rPr dirty="0"/>
              <a:t>results</a:t>
            </a:r>
            <a:r>
              <a:rPr spc="-25" dirty="0"/>
              <a:t> </a:t>
            </a:r>
            <a:r>
              <a:rPr dirty="0"/>
              <a:t>in</a:t>
            </a:r>
            <a:r>
              <a:rPr spc="-20" dirty="0"/>
              <a:t> </a:t>
            </a:r>
            <a:r>
              <a:rPr dirty="0"/>
              <a:t>a</a:t>
            </a:r>
            <a:r>
              <a:rPr spc="-20" dirty="0"/>
              <a:t> </a:t>
            </a:r>
            <a:r>
              <a:rPr dirty="0"/>
              <a:t>value</a:t>
            </a:r>
            <a:r>
              <a:rPr spc="-20" dirty="0"/>
              <a:t> </a:t>
            </a:r>
            <a:r>
              <a:rPr dirty="0"/>
              <a:t>of</a:t>
            </a:r>
            <a:r>
              <a:rPr spc="-20" dirty="0"/>
              <a:t> </a:t>
            </a:r>
            <a:r>
              <a:rPr dirty="0"/>
              <a:t>s=0,</a:t>
            </a:r>
            <a:r>
              <a:rPr spc="-20" dirty="0"/>
              <a:t> </a:t>
            </a:r>
            <a:r>
              <a:rPr dirty="0"/>
              <a:t>a</a:t>
            </a:r>
            <a:r>
              <a:rPr spc="-20" dirty="0"/>
              <a:t> </a:t>
            </a:r>
            <a:r>
              <a:rPr dirty="0"/>
              <a:t>new</a:t>
            </a:r>
            <a:r>
              <a:rPr spc="-20" dirty="0"/>
              <a:t> </a:t>
            </a:r>
            <a:r>
              <a:rPr dirty="0"/>
              <a:t>value</a:t>
            </a:r>
            <a:r>
              <a:rPr spc="-20" dirty="0"/>
              <a:t> </a:t>
            </a:r>
            <a:r>
              <a:rPr dirty="0"/>
              <a:t>of</a:t>
            </a:r>
            <a:r>
              <a:rPr spc="-20" dirty="0"/>
              <a:t> </a:t>
            </a:r>
            <a:r>
              <a:rPr dirty="0"/>
              <a:t>k</a:t>
            </a:r>
            <a:r>
              <a:rPr spc="-20" dirty="0"/>
              <a:t> </a:t>
            </a:r>
            <a:r>
              <a:rPr dirty="0"/>
              <a:t>should</a:t>
            </a:r>
            <a:r>
              <a:rPr spc="-20" dirty="0"/>
              <a:t> </a:t>
            </a:r>
            <a:r>
              <a:rPr spc="-25" dirty="0"/>
              <a:t>be </a:t>
            </a:r>
            <a:r>
              <a:rPr dirty="0"/>
              <a:t>generated</a:t>
            </a:r>
            <a:r>
              <a:rPr spc="-30" dirty="0"/>
              <a:t> </a:t>
            </a:r>
            <a:r>
              <a:rPr dirty="0"/>
              <a:t>and</a:t>
            </a:r>
            <a:r>
              <a:rPr spc="-25" dirty="0"/>
              <a:t> </a:t>
            </a:r>
            <a:r>
              <a:rPr dirty="0"/>
              <a:t>the</a:t>
            </a:r>
            <a:r>
              <a:rPr spc="-25" dirty="0"/>
              <a:t> </a:t>
            </a:r>
            <a:r>
              <a:rPr dirty="0"/>
              <a:t>signature</a:t>
            </a:r>
            <a:r>
              <a:rPr spc="-30" dirty="0"/>
              <a:t> </a:t>
            </a:r>
            <a:r>
              <a:rPr dirty="0"/>
              <a:t>should</a:t>
            </a:r>
            <a:r>
              <a:rPr spc="-25" dirty="0"/>
              <a:t> </a:t>
            </a:r>
            <a:r>
              <a:rPr dirty="0"/>
              <a:t>be</a:t>
            </a:r>
            <a:r>
              <a:rPr spc="-25" dirty="0"/>
              <a:t> </a:t>
            </a:r>
            <a:r>
              <a:rPr spc="-10" dirty="0"/>
              <a:t>recalculated. </a:t>
            </a:r>
            <a:r>
              <a:rPr spc="-20" dirty="0"/>
              <a:t>Why?</a:t>
            </a:r>
          </a:p>
          <a:p>
            <a:pPr marL="355600" marR="5080" indent="-342900">
              <a:lnSpc>
                <a:spcPct val="100000"/>
              </a:lnSpc>
              <a:spcBef>
                <a:spcPts val="685"/>
              </a:spcBef>
              <a:buClr>
                <a:srgbClr val="063DE8"/>
              </a:buClr>
              <a:buSzPct val="75000"/>
              <a:buFont typeface="Wingdings"/>
              <a:buChar char=""/>
              <a:tabLst>
                <a:tab pos="355600" algn="l"/>
              </a:tabLst>
            </a:pPr>
            <a:r>
              <a:rPr dirty="0"/>
              <a:t>Suppose</a:t>
            </a:r>
            <a:r>
              <a:rPr spc="-30" dirty="0"/>
              <a:t> </a:t>
            </a:r>
            <a:r>
              <a:rPr dirty="0"/>
              <a:t>Alice</a:t>
            </a:r>
            <a:r>
              <a:rPr spc="-30" dirty="0"/>
              <a:t> </a:t>
            </a:r>
            <a:r>
              <a:rPr dirty="0"/>
              <a:t>signed</a:t>
            </a:r>
            <a:r>
              <a:rPr spc="-25" dirty="0"/>
              <a:t> </a:t>
            </a:r>
            <a:r>
              <a:rPr dirty="0"/>
              <a:t>a</a:t>
            </a:r>
            <a:r>
              <a:rPr spc="-30" dirty="0"/>
              <a:t> </a:t>
            </a:r>
            <a:r>
              <a:rPr dirty="0"/>
              <a:t>message</a:t>
            </a:r>
            <a:r>
              <a:rPr spc="-25" dirty="0"/>
              <a:t> </a:t>
            </a:r>
            <a:r>
              <a:rPr dirty="0"/>
              <a:t>M</a:t>
            </a:r>
            <a:r>
              <a:rPr spc="-30" dirty="0"/>
              <a:t> </a:t>
            </a:r>
            <a:r>
              <a:rPr dirty="0"/>
              <a:t>using</a:t>
            </a:r>
            <a:r>
              <a:rPr spc="-30" dirty="0"/>
              <a:t> </a:t>
            </a:r>
            <a:r>
              <a:rPr dirty="0"/>
              <a:t>DSA</a:t>
            </a:r>
            <a:r>
              <a:rPr spc="-25" dirty="0"/>
              <a:t> </a:t>
            </a:r>
            <a:r>
              <a:rPr dirty="0"/>
              <a:t>with</a:t>
            </a:r>
            <a:r>
              <a:rPr spc="-30" dirty="0"/>
              <a:t> </a:t>
            </a:r>
            <a:r>
              <a:rPr spc="-50" dirty="0"/>
              <a:t>a </a:t>
            </a:r>
            <a:r>
              <a:rPr dirty="0"/>
              <a:t>specific</a:t>
            </a:r>
            <a:r>
              <a:rPr spc="-30" dirty="0"/>
              <a:t> </a:t>
            </a:r>
            <a:r>
              <a:rPr dirty="0"/>
              <a:t>k</a:t>
            </a:r>
            <a:r>
              <a:rPr spc="-20" dirty="0"/>
              <a:t> </a:t>
            </a:r>
            <a:r>
              <a:rPr dirty="0"/>
              <a:t>value</a:t>
            </a:r>
            <a:r>
              <a:rPr spc="-20" dirty="0"/>
              <a:t> </a:t>
            </a:r>
            <a:r>
              <a:rPr dirty="0"/>
              <a:t>and</a:t>
            </a:r>
            <a:r>
              <a:rPr spc="-15" dirty="0"/>
              <a:t> </a:t>
            </a:r>
            <a:r>
              <a:rPr dirty="0"/>
              <a:t>then</a:t>
            </a:r>
            <a:r>
              <a:rPr spc="-20" dirty="0"/>
              <a:t> </a:t>
            </a:r>
            <a:r>
              <a:rPr dirty="0"/>
              <a:t>the</a:t>
            </a:r>
            <a:r>
              <a:rPr spc="-20" dirty="0"/>
              <a:t> </a:t>
            </a:r>
            <a:r>
              <a:rPr dirty="0"/>
              <a:t>k</a:t>
            </a:r>
            <a:r>
              <a:rPr spc="-20" dirty="0"/>
              <a:t> </a:t>
            </a:r>
            <a:r>
              <a:rPr dirty="0"/>
              <a:t>value</a:t>
            </a:r>
            <a:r>
              <a:rPr spc="-15" dirty="0"/>
              <a:t> </a:t>
            </a:r>
            <a:r>
              <a:rPr spc="-25" dirty="0"/>
              <a:t>was </a:t>
            </a:r>
            <a:r>
              <a:rPr dirty="0"/>
              <a:t>compromised.</a:t>
            </a:r>
            <a:r>
              <a:rPr spc="-40" dirty="0"/>
              <a:t> </a:t>
            </a:r>
            <a:r>
              <a:rPr dirty="0"/>
              <a:t>Can</a:t>
            </a:r>
            <a:r>
              <a:rPr spc="-25" dirty="0"/>
              <a:t> </a:t>
            </a:r>
            <a:r>
              <a:rPr dirty="0"/>
              <a:t>Alice</a:t>
            </a:r>
            <a:r>
              <a:rPr spc="-25" dirty="0"/>
              <a:t> </a:t>
            </a:r>
            <a:r>
              <a:rPr dirty="0"/>
              <a:t>still</a:t>
            </a:r>
            <a:r>
              <a:rPr spc="-25" dirty="0"/>
              <a:t> </a:t>
            </a:r>
            <a:r>
              <a:rPr dirty="0"/>
              <a:t>use</a:t>
            </a:r>
            <a:r>
              <a:rPr spc="-25" dirty="0"/>
              <a:t> </a:t>
            </a:r>
            <a:r>
              <a:rPr dirty="0"/>
              <a:t>her</a:t>
            </a:r>
            <a:r>
              <a:rPr spc="-25" dirty="0"/>
              <a:t> </a:t>
            </a:r>
            <a:r>
              <a:rPr dirty="0"/>
              <a:t>private</a:t>
            </a:r>
            <a:r>
              <a:rPr spc="-25" dirty="0"/>
              <a:t> </a:t>
            </a:r>
            <a:r>
              <a:rPr dirty="0"/>
              <a:t>key</a:t>
            </a:r>
            <a:r>
              <a:rPr spc="-25" dirty="0"/>
              <a:t> for </a:t>
            </a:r>
            <a:r>
              <a:rPr dirty="0"/>
              <a:t>future</a:t>
            </a:r>
            <a:r>
              <a:rPr spc="-35" dirty="0"/>
              <a:t> </a:t>
            </a:r>
            <a:r>
              <a:rPr dirty="0"/>
              <a:t>digital</a:t>
            </a:r>
            <a:r>
              <a:rPr spc="-30" dirty="0"/>
              <a:t> </a:t>
            </a:r>
            <a:r>
              <a:rPr spc="-10" dirty="0"/>
              <a:t>signatures?</a:t>
            </a:r>
          </a:p>
          <a:p>
            <a:pPr marL="355600" marR="333375" indent="-342900">
              <a:lnSpc>
                <a:spcPct val="100000"/>
              </a:lnSpc>
              <a:spcBef>
                <a:spcPts val="685"/>
              </a:spcBef>
              <a:buClr>
                <a:srgbClr val="063DE8"/>
              </a:buClr>
              <a:buSzPct val="75000"/>
              <a:buFont typeface="Wingdings"/>
              <a:buChar char=""/>
              <a:tabLst>
                <a:tab pos="355600" algn="l"/>
              </a:tabLst>
            </a:pPr>
            <a:r>
              <a:rPr dirty="0"/>
              <a:t>Hint:</a:t>
            </a:r>
            <a:r>
              <a:rPr spc="-30" dirty="0"/>
              <a:t> </a:t>
            </a:r>
            <a:r>
              <a:rPr dirty="0"/>
              <a:t>Show</a:t>
            </a:r>
            <a:r>
              <a:rPr spc="-30" dirty="0"/>
              <a:t> </a:t>
            </a:r>
            <a:r>
              <a:rPr dirty="0"/>
              <a:t>that</a:t>
            </a:r>
            <a:r>
              <a:rPr spc="-30" dirty="0"/>
              <a:t> </a:t>
            </a:r>
            <a:r>
              <a:rPr dirty="0"/>
              <a:t>the</a:t>
            </a:r>
            <a:r>
              <a:rPr spc="-25" dirty="0"/>
              <a:t> </a:t>
            </a:r>
            <a:r>
              <a:rPr dirty="0"/>
              <a:t>private</a:t>
            </a:r>
            <a:r>
              <a:rPr spc="-30" dirty="0"/>
              <a:t> </a:t>
            </a:r>
            <a:r>
              <a:rPr dirty="0"/>
              <a:t>key</a:t>
            </a:r>
            <a:r>
              <a:rPr spc="-30" dirty="0"/>
              <a:t> </a:t>
            </a:r>
            <a:r>
              <a:rPr dirty="0"/>
              <a:t>of</a:t>
            </a:r>
            <a:r>
              <a:rPr spc="-30" dirty="0"/>
              <a:t> </a:t>
            </a:r>
            <a:r>
              <a:rPr dirty="0"/>
              <a:t>the</a:t>
            </a:r>
            <a:r>
              <a:rPr spc="-25" dirty="0"/>
              <a:t> </a:t>
            </a:r>
            <a:r>
              <a:rPr dirty="0"/>
              <a:t>signer</a:t>
            </a:r>
            <a:r>
              <a:rPr spc="-30" dirty="0"/>
              <a:t> </a:t>
            </a:r>
            <a:r>
              <a:rPr dirty="0"/>
              <a:t>can</a:t>
            </a:r>
            <a:r>
              <a:rPr spc="-30" dirty="0"/>
              <a:t> </a:t>
            </a:r>
            <a:r>
              <a:rPr spc="-25" dirty="0"/>
              <a:t>be </a:t>
            </a:r>
            <a:r>
              <a:rPr dirty="0"/>
              <a:t>easily</a:t>
            </a:r>
            <a:r>
              <a:rPr spc="-25" dirty="0"/>
              <a:t> </a:t>
            </a:r>
            <a:r>
              <a:rPr dirty="0"/>
              <a:t>computed</a:t>
            </a:r>
            <a:r>
              <a:rPr spc="-25" dirty="0"/>
              <a:t> </a:t>
            </a:r>
            <a:r>
              <a:rPr dirty="0"/>
              <a:t>in</a:t>
            </a:r>
            <a:r>
              <a:rPr spc="-25" dirty="0"/>
              <a:t> </a:t>
            </a:r>
            <a:r>
              <a:rPr dirty="0"/>
              <a:t>both</a:t>
            </a:r>
            <a:r>
              <a:rPr spc="-25" dirty="0"/>
              <a:t> </a:t>
            </a:r>
            <a:r>
              <a:rPr dirty="0"/>
              <a:t>of</a:t>
            </a:r>
            <a:r>
              <a:rPr spc="-25" dirty="0"/>
              <a:t> </a:t>
            </a:r>
            <a:r>
              <a:rPr dirty="0"/>
              <a:t>the</a:t>
            </a:r>
            <a:r>
              <a:rPr spc="-25" dirty="0"/>
              <a:t> </a:t>
            </a:r>
            <a:r>
              <a:rPr dirty="0"/>
              <a:t>above</a:t>
            </a:r>
            <a:r>
              <a:rPr spc="-25" dirty="0"/>
              <a:t> </a:t>
            </a:r>
            <a:r>
              <a:rPr spc="-10" dirty="0"/>
              <a:t>cases.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A6EF-80E1-4591-B09E-1309C9EAD23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A8F2E45-64D5-45A4-AF2B-9406211F04FB}"/>
              </a:ext>
            </a:extLst>
          </p:cNvPr>
          <p:cNvSpPr>
            <a:spLocks noGrp="1"/>
          </p:cNvSpPr>
          <p:nvPr>
            <p:ph type="body" idx="1"/>
          </p:nvPr>
        </p:nvSpPr>
        <p:spPr/>
        <p:txBody>
          <a:bodyPr/>
          <a:lstStyle/>
          <a:p>
            <a:endParaRPr lang="en-IN"/>
          </a:p>
        </p:txBody>
      </p:sp>
      <p:sp>
        <p:nvSpPr>
          <p:cNvPr id="4" name="Footer Placeholder 3">
            <a:extLst>
              <a:ext uri="{FF2B5EF4-FFF2-40B4-BE49-F238E27FC236}">
                <a16:creationId xmlns:a16="http://schemas.microsoft.com/office/drawing/2014/main" id="{05394975-A59A-417E-9434-C28986D7BD60}"/>
              </a:ext>
            </a:extLst>
          </p:cNvPr>
          <p:cNvSpPr>
            <a:spLocks noGrp="1"/>
          </p:cNvSpPr>
          <p:nvPr>
            <p:ph type="ftr" sz="quarter" idx="5"/>
          </p:nvPr>
        </p:nvSpPr>
        <p:spPr/>
        <p:txBody>
          <a:bodyPr/>
          <a:lstStyle/>
          <a:p>
            <a:pPr marL="12700">
              <a:lnSpc>
                <a:spcPts val="1410"/>
              </a:lnSpc>
            </a:pPr>
            <a:endParaRPr lang="en-IN" spc="-20" dirty="0"/>
          </a:p>
        </p:txBody>
      </p:sp>
      <p:sp>
        <p:nvSpPr>
          <p:cNvPr id="5" name="Date Placeholder 4">
            <a:extLst>
              <a:ext uri="{FF2B5EF4-FFF2-40B4-BE49-F238E27FC236}">
                <a16:creationId xmlns:a16="http://schemas.microsoft.com/office/drawing/2014/main" id="{9D93AD47-9494-4B17-9D7F-0712C257B80D}"/>
              </a:ext>
            </a:extLst>
          </p:cNvPr>
          <p:cNvSpPr>
            <a:spLocks noGrp="1"/>
          </p:cNvSpPr>
          <p:nvPr>
            <p:ph type="dt" sz="half" idx="6"/>
          </p:nvPr>
        </p:nvSpPr>
        <p:spPr/>
        <p:txBody>
          <a:bodyPr/>
          <a:lstStyle/>
          <a:p>
            <a:pPr marL="12700">
              <a:lnSpc>
                <a:spcPts val="1410"/>
              </a:lnSpc>
            </a:pPr>
            <a:endParaRPr lang="en-IN" spc="-10" dirty="0"/>
          </a:p>
        </p:txBody>
      </p:sp>
      <p:sp>
        <p:nvSpPr>
          <p:cNvPr id="7" name="TextBox 6">
            <a:extLst>
              <a:ext uri="{FF2B5EF4-FFF2-40B4-BE49-F238E27FC236}">
                <a16:creationId xmlns:a16="http://schemas.microsoft.com/office/drawing/2014/main" id="{ECDE3022-EDB9-4554-8D1A-D38800BC095C}"/>
              </a:ext>
            </a:extLst>
          </p:cNvPr>
          <p:cNvSpPr txBox="1"/>
          <p:nvPr/>
        </p:nvSpPr>
        <p:spPr>
          <a:xfrm>
            <a:off x="990600" y="609601"/>
            <a:ext cx="7239000" cy="4985980"/>
          </a:xfrm>
          <a:prstGeom prst="rect">
            <a:avLst/>
          </a:prstGeom>
          <a:noFill/>
        </p:spPr>
        <p:txBody>
          <a:bodyPr wrap="square">
            <a:spAutoFit/>
          </a:bodyPr>
          <a:lstStyle/>
          <a:p>
            <a:pPr algn="l"/>
            <a:endParaRPr lang="en-IN" sz="2000" b="0" i="0" u="none" strike="noStrike" baseline="0" dirty="0">
              <a:solidFill>
                <a:srgbClr val="000000"/>
              </a:solidFill>
              <a:latin typeface="Times New Roman" panose="02020603050405020304" pitchFamily="18" charset="0"/>
            </a:endParaRPr>
          </a:p>
          <a:p>
            <a:r>
              <a:rPr lang="en-US" sz="2000" b="0" i="0" u="none" strike="noStrike" baseline="0" dirty="0">
                <a:solidFill>
                  <a:srgbClr val="000000"/>
                </a:solidFill>
                <a:latin typeface="Times New Roman" panose="02020603050405020304" pitchFamily="18" charset="0"/>
              </a:rPr>
              <a:t> </a:t>
            </a:r>
            <a:r>
              <a:rPr lang="en-US" sz="2800" b="0" i="0" u="none" strike="noStrike" baseline="0" dirty="0">
                <a:solidFill>
                  <a:srgbClr val="000000"/>
                </a:solidFill>
                <a:latin typeface="Times New Roman" panose="02020603050405020304" pitchFamily="18" charset="0"/>
              </a:rPr>
              <a:t>Person A wants to send a message to Person B. Both agreed to use SHA1 for obtaining the message digest. Let the generated message digest for the message be 4. Both agree on the public key components {p, q, h} as {23, 11, 7}. Person A selects his private key as 3. Let the pseudorandom integer k be 5. Demonstrate the step-by-step calculation for the following: </a:t>
            </a:r>
          </a:p>
          <a:p>
            <a:r>
              <a:rPr lang="en-US" sz="2800" b="0" i="0" u="none" strike="noStrike" baseline="0" dirty="0">
                <a:solidFill>
                  <a:srgbClr val="000000"/>
                </a:solidFill>
                <a:latin typeface="Times New Roman" panose="02020603050405020304" pitchFamily="18" charset="0"/>
              </a:rPr>
              <a:t>Generate the digital signature using DSS. </a:t>
            </a:r>
          </a:p>
          <a:p>
            <a:r>
              <a:rPr lang="en-IN" sz="2800" b="0" i="0" u="none" strike="noStrike" baseline="0" dirty="0">
                <a:solidFill>
                  <a:srgbClr val="000000"/>
                </a:solidFill>
                <a:latin typeface="Times New Roman" panose="02020603050405020304" pitchFamily="18" charset="0"/>
              </a:rPr>
              <a:t>Signature Verification </a:t>
            </a:r>
          </a:p>
          <a:p>
            <a:r>
              <a:rPr lang="en-IN" sz="1800"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200916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TotalTime>
  <Words>1428</Words>
  <Application>Microsoft Office PowerPoint</Application>
  <PresentationFormat>On-screen Show (4:3)</PresentationFormat>
  <Paragraphs>183</Paragraphs>
  <Slides>22</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Arial MT</vt:lpstr>
      <vt:lpstr>Calibri</vt:lpstr>
      <vt:lpstr>Cambria</vt:lpstr>
      <vt:lpstr>Courier New</vt:lpstr>
      <vt:lpstr>Georgia</vt:lpstr>
      <vt:lpstr>Lucida Sans Unicode</vt:lpstr>
      <vt:lpstr>Symbol</vt:lpstr>
      <vt:lpstr>Tahoma</vt:lpstr>
      <vt:lpstr>Times New Roman</vt:lpstr>
      <vt:lpstr>Trebuchet MS</vt:lpstr>
      <vt:lpstr>Verdana</vt:lpstr>
      <vt:lpstr>Wingdings</vt:lpstr>
      <vt:lpstr>Office Theme</vt:lpstr>
      <vt:lpstr>Digital Signature</vt:lpstr>
      <vt:lpstr>PowerPoint Presentation</vt:lpstr>
      <vt:lpstr>Overview</vt:lpstr>
      <vt:lpstr>Digital Signatures</vt:lpstr>
      <vt:lpstr>Digital Signature Model</vt:lpstr>
      <vt:lpstr>Attacks</vt:lpstr>
      <vt:lpstr>Forgeries</vt:lpstr>
      <vt:lpstr>Digital Signature Requirements</vt:lpstr>
      <vt:lpstr>ElGamal Digital Signatures</vt:lpstr>
      <vt:lpstr>ElGamal Digital Signature</vt:lpstr>
      <vt:lpstr>ElGamal Signature Example</vt:lpstr>
      <vt:lpstr>Digital Signature Standard (DSS)</vt:lpstr>
      <vt:lpstr>Digital Signature Algorithm (DSA)</vt:lpstr>
      <vt:lpstr>DSA Key Generation</vt:lpstr>
      <vt:lpstr>DSA Signature Creation</vt:lpstr>
      <vt:lpstr>DSA Signature Verification</vt:lpstr>
      <vt:lpstr>PowerPoint Presentation</vt:lpstr>
      <vt:lpstr>PowerPoint Presentation</vt:lpstr>
      <vt:lpstr>DSS vs. RSA Signatures</vt:lpstr>
      <vt:lpstr>Summary</vt:lpstr>
      <vt:lpstr>Homework 13</vt:lpstr>
      <vt:lpstr>PowerPoint Presentation</vt:lpstr>
    </vt:vector>
  </TitlesOfParts>
  <Company>Washington University in Saint Louis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Signature</dc:title>
  <dc:subject>Cryptography and Network Security</dc:subject>
  <dc:creator>Raj Jain</dc:creator>
  <cp:keywords>Digital Signatures, Digital Signature Model, Attacks, Forgeries, Digital Signature Requirements, ElGamal Digital Signatures, ElGamal Digital Signature, ElGamal Signature Example, Schnorr Digital Signatures, Schnorr Signature, Digital Signature Standard (DSS), DSS vs. RSA Signatures, Digital Signature Algorithm (DSA), DSA Key Generation, DSA Signature Creation, DSA Signature Verification</cp:keywords>
  <cp:lastModifiedBy>Sreethar S</cp:lastModifiedBy>
  <cp:revision>7</cp:revision>
  <dcterms:created xsi:type="dcterms:W3CDTF">2024-03-21T04:42:54Z</dcterms:created>
  <dcterms:modified xsi:type="dcterms:W3CDTF">2025-03-04T05:14:49Z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2014-10-13T00:00:00Z</vt:filetime>
  </property>
  <property fmtid="{D5CDD505-2E9C-101B-9397-08002B2CF9AE}" pid="3" name="Creator">
    <vt:lpwstr>Acrobat PDFMaker 10.0 for PowerPoint</vt:lpwstr>
  </property>
  <property fmtid="{D5CDD505-2E9C-101B-9397-08002B2CF9AE}" pid="4" name="LastSaved">
    <vt:filetime>2024-03-21T00:00:00Z</vt:filetime>
  </property>
  <property fmtid="{D5CDD505-2E9C-101B-9397-08002B2CF9AE}" pid="5" name="Producer">
    <vt:lpwstr>Acrobat Distiller 10.0.0 (Windows)</vt:lpwstr>
  </property>
</Properties>
</file>