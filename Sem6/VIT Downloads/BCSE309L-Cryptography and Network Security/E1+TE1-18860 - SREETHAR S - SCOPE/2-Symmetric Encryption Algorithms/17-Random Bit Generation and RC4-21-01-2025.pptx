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08" r:id="rId2"/>
    <p:sldId id="309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24" r:id="rId18"/>
    <p:sldId id="325" r:id="rId19"/>
    <p:sldId id="326" r:id="rId20"/>
    <p:sldId id="327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249" autoAdjust="0"/>
  </p:normalViewPr>
  <p:slideViewPr>
    <p:cSldViewPr>
      <p:cViewPr varScale="1">
        <p:scale>
          <a:sx n="72" d="100"/>
          <a:sy n="72" d="100"/>
        </p:scale>
        <p:origin x="146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D3529-94CF-4E17-BEB5-EC0ADDF5A6E2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9343D-6C3D-4A89-9735-FF8F0E4D31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29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6927" y="83261"/>
            <a:ext cx="7610144" cy="14126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244" y="1510650"/>
            <a:ext cx="8002270" cy="4319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2080895">
              <a:lnSpc>
                <a:spcPct val="100000"/>
              </a:lnSpc>
              <a:spcBef>
                <a:spcPts val="90"/>
              </a:spcBef>
            </a:pPr>
            <a:r>
              <a:rPr dirty="0"/>
              <a:t>Stream</a:t>
            </a:r>
            <a:r>
              <a:rPr spc="-135" dirty="0"/>
              <a:t> </a:t>
            </a:r>
            <a:r>
              <a:rPr spc="-10" dirty="0"/>
              <a:t>Ciphers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144" y="1586506"/>
            <a:ext cx="8241665" cy="402336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94970" indent="-34417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message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(as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stream)</a:t>
            </a:r>
            <a:endParaRPr sz="3200">
              <a:latin typeface="Calibri"/>
              <a:cs typeface="Calibri"/>
            </a:endParaRPr>
          </a:p>
          <a:p>
            <a:pPr marL="3949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have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pseudo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random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keystream</a:t>
            </a:r>
            <a:endParaRPr sz="3200">
              <a:latin typeface="Calibri"/>
              <a:cs typeface="Calibri"/>
            </a:endParaRPr>
          </a:p>
          <a:p>
            <a:pPr marL="3949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combined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(XOR)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plaintext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bit</a:t>
            </a:r>
            <a:endParaRPr sz="3200">
              <a:latin typeface="Calibri"/>
              <a:cs typeface="Calibri"/>
            </a:endParaRPr>
          </a:p>
          <a:p>
            <a:pPr marL="394970" marR="43180" indent="-344805">
              <a:lnSpc>
                <a:spcPts val="3460"/>
              </a:lnSpc>
              <a:spcBef>
                <a:spcPts val="819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spc="-10" dirty="0">
                <a:latin typeface="Calibri"/>
                <a:cs typeface="Calibri"/>
              </a:rPr>
              <a:t>randomness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stream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key</a:t>
            </a:r>
            <a:r>
              <a:rPr sz="3200" b="1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completely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destroys statistically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properties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message</a:t>
            </a:r>
            <a:endParaRPr sz="320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220"/>
              </a:spcBef>
              <a:buFont typeface="Arial MT"/>
              <a:buChar char="–"/>
              <a:tabLst>
                <a:tab pos="793115" algn="l"/>
              </a:tabLst>
            </a:pPr>
            <a:r>
              <a:rPr sz="2400" dirty="0">
                <a:latin typeface="Courier New"/>
                <a:cs typeface="Courier New"/>
              </a:rPr>
              <a:t>C</a:t>
            </a:r>
            <a:r>
              <a:rPr sz="2400" baseline="-20833" dirty="0">
                <a:latin typeface="Courier New"/>
                <a:cs typeface="Courier New"/>
              </a:rPr>
              <a:t>i</a:t>
            </a:r>
            <a:r>
              <a:rPr sz="2400" spc="682" baseline="-20833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M</a:t>
            </a:r>
            <a:r>
              <a:rPr sz="2400" baseline="-20833" dirty="0">
                <a:latin typeface="Courier New"/>
                <a:cs typeface="Courier New"/>
              </a:rPr>
              <a:t>i</a:t>
            </a:r>
            <a:r>
              <a:rPr sz="2400" spc="697" baseline="-20833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XOR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StreamKey</a:t>
            </a:r>
            <a:r>
              <a:rPr sz="2400" spc="-15" baseline="-20833" dirty="0">
                <a:latin typeface="Courier New"/>
                <a:cs typeface="Courier New"/>
              </a:rPr>
              <a:t>i</a:t>
            </a:r>
            <a:endParaRPr sz="2400" baseline="-20833">
              <a:latin typeface="Courier New"/>
              <a:cs typeface="Courier New"/>
            </a:endParaRPr>
          </a:p>
          <a:p>
            <a:pPr marL="394970" indent="-34417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394970" algn="l"/>
              </a:tabLst>
            </a:pPr>
            <a:r>
              <a:rPr sz="3200" dirty="0">
                <a:latin typeface="Calibri"/>
                <a:cs typeface="Calibri"/>
              </a:rPr>
              <a:t>but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never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reuse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stream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key</a:t>
            </a:r>
            <a:endParaRPr sz="3200">
              <a:latin typeface="Calibri"/>
              <a:cs typeface="Calibri"/>
            </a:endParaRPr>
          </a:p>
          <a:p>
            <a:pPr marL="793115" lvl="1" indent="-285115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93115" algn="l"/>
              </a:tabLst>
            </a:pPr>
            <a:r>
              <a:rPr sz="2800" dirty="0">
                <a:latin typeface="Calibri"/>
                <a:cs typeface="Calibri"/>
              </a:rPr>
              <a:t>otherwise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recover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068705">
              <a:lnSpc>
                <a:spcPct val="100000"/>
              </a:lnSpc>
              <a:spcBef>
                <a:spcPts val="90"/>
              </a:spcBef>
            </a:pPr>
            <a:r>
              <a:rPr dirty="0"/>
              <a:t>Stream</a:t>
            </a:r>
            <a:r>
              <a:rPr spc="-110" dirty="0"/>
              <a:t> </a:t>
            </a:r>
            <a:r>
              <a:rPr dirty="0"/>
              <a:t>Cipher</a:t>
            </a:r>
            <a:r>
              <a:rPr spc="-135" dirty="0"/>
              <a:t> </a:t>
            </a:r>
            <a:r>
              <a:rPr spc="-10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636" y="2156326"/>
            <a:ext cx="7981319" cy="36395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949960">
              <a:lnSpc>
                <a:spcPct val="100000"/>
              </a:lnSpc>
              <a:spcBef>
                <a:spcPts val="90"/>
              </a:spcBef>
            </a:pPr>
            <a:r>
              <a:rPr dirty="0"/>
              <a:t>Stream</a:t>
            </a:r>
            <a:r>
              <a:rPr spc="-125" dirty="0"/>
              <a:t> </a:t>
            </a:r>
            <a:r>
              <a:rPr dirty="0"/>
              <a:t>Cipher</a:t>
            </a:r>
            <a:r>
              <a:rPr spc="-135" dirty="0"/>
              <a:t> </a:t>
            </a:r>
            <a:r>
              <a:rPr spc="-10" dirty="0"/>
              <a:t>Properties</a:t>
            </a:r>
          </a:p>
        </p:txBody>
      </p:sp>
      <p:sp>
        <p:nvSpPr>
          <p:cNvPr id="3" name="object 3"/>
          <p:cNvSpPr/>
          <p:nvPr/>
        </p:nvSpPr>
        <p:spPr>
          <a:xfrm>
            <a:off x="583214" y="1734629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69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269" y="2320505"/>
            <a:ext cx="206343" cy="2061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269" y="2832823"/>
            <a:ext cx="206343" cy="2061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6294" y="3344684"/>
            <a:ext cx="206519" cy="206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6294" y="3857002"/>
            <a:ext cx="206519" cy="2063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755650" marR="2293620" indent="-399415">
              <a:lnSpc>
                <a:spcPct val="119000"/>
              </a:lnSpc>
              <a:spcBef>
                <a:spcPts val="140"/>
              </a:spcBef>
            </a:pPr>
            <a:r>
              <a:rPr dirty="0"/>
              <a:t>some</a:t>
            </a:r>
            <a:r>
              <a:rPr spc="-75" dirty="0"/>
              <a:t> </a:t>
            </a:r>
            <a:r>
              <a:rPr dirty="0"/>
              <a:t>design</a:t>
            </a:r>
            <a:r>
              <a:rPr spc="-110" dirty="0"/>
              <a:t> </a:t>
            </a:r>
            <a:r>
              <a:rPr spc="-10" dirty="0"/>
              <a:t>considerations</a:t>
            </a:r>
            <a:r>
              <a:rPr spc="-60" dirty="0"/>
              <a:t> </a:t>
            </a:r>
            <a:r>
              <a:rPr spc="-20" dirty="0"/>
              <a:t>are: </a:t>
            </a:r>
            <a:r>
              <a:rPr sz="2800" dirty="0"/>
              <a:t>long</a:t>
            </a:r>
            <a:r>
              <a:rPr sz="2800" spc="-30" dirty="0"/>
              <a:t> </a:t>
            </a:r>
            <a:r>
              <a:rPr sz="2800" dirty="0"/>
              <a:t>period</a:t>
            </a:r>
            <a:r>
              <a:rPr sz="2800" spc="-20" dirty="0"/>
              <a:t> </a:t>
            </a:r>
            <a:r>
              <a:rPr sz="2800" dirty="0"/>
              <a:t>with</a:t>
            </a:r>
            <a:r>
              <a:rPr sz="2800" spc="-15" dirty="0"/>
              <a:t> </a:t>
            </a:r>
            <a:r>
              <a:rPr sz="2800" dirty="0"/>
              <a:t>no </a:t>
            </a:r>
            <a:r>
              <a:rPr sz="2800" spc="-10" dirty="0"/>
              <a:t>repetitions statistically</a:t>
            </a:r>
            <a:r>
              <a:rPr sz="2800" spc="-95" dirty="0"/>
              <a:t> </a:t>
            </a:r>
            <a:r>
              <a:rPr sz="2800" spc="-10" dirty="0"/>
              <a:t>random</a:t>
            </a:r>
            <a:endParaRPr sz="2800"/>
          </a:p>
          <a:p>
            <a:pPr marL="755650" marR="2956560">
              <a:lnSpc>
                <a:spcPts val="4029"/>
              </a:lnSpc>
              <a:spcBef>
                <a:spcPts val="250"/>
              </a:spcBef>
            </a:pPr>
            <a:r>
              <a:rPr sz="2800" dirty="0"/>
              <a:t>depends</a:t>
            </a:r>
            <a:r>
              <a:rPr sz="2800" spc="-5" dirty="0"/>
              <a:t> </a:t>
            </a:r>
            <a:r>
              <a:rPr sz="2800" dirty="0"/>
              <a:t>on</a:t>
            </a:r>
            <a:r>
              <a:rPr sz="2800" spc="-65" dirty="0"/>
              <a:t> </a:t>
            </a:r>
            <a:r>
              <a:rPr sz="2800" dirty="0"/>
              <a:t>large</a:t>
            </a:r>
            <a:r>
              <a:rPr sz="2800" spc="-60" dirty="0"/>
              <a:t> </a:t>
            </a:r>
            <a:r>
              <a:rPr sz="2800" dirty="0"/>
              <a:t>enough</a:t>
            </a:r>
            <a:r>
              <a:rPr sz="2800" spc="-50" dirty="0"/>
              <a:t> </a:t>
            </a:r>
            <a:r>
              <a:rPr sz="2800" spc="-25" dirty="0"/>
              <a:t>key </a:t>
            </a:r>
            <a:r>
              <a:rPr sz="2800" dirty="0"/>
              <a:t>large</a:t>
            </a:r>
            <a:r>
              <a:rPr sz="2800" spc="-70" dirty="0"/>
              <a:t> </a:t>
            </a:r>
            <a:r>
              <a:rPr sz="2800" dirty="0"/>
              <a:t>linear</a:t>
            </a:r>
            <a:r>
              <a:rPr sz="2800" spc="-40" dirty="0"/>
              <a:t> </a:t>
            </a:r>
            <a:r>
              <a:rPr sz="2800" spc="-10" dirty="0"/>
              <a:t>complexity</a:t>
            </a:r>
            <a:endParaRPr sz="2800"/>
          </a:p>
          <a:p>
            <a:pPr marL="356870" marR="5080">
              <a:lnSpc>
                <a:spcPct val="100000"/>
              </a:lnSpc>
              <a:spcBef>
                <a:spcPts val="515"/>
              </a:spcBef>
            </a:pPr>
            <a:r>
              <a:rPr dirty="0"/>
              <a:t>properly</a:t>
            </a:r>
            <a:r>
              <a:rPr spc="-35" dirty="0"/>
              <a:t> </a:t>
            </a:r>
            <a:r>
              <a:rPr dirty="0"/>
              <a:t>designed,</a:t>
            </a:r>
            <a:r>
              <a:rPr spc="-40" dirty="0"/>
              <a:t> </a:t>
            </a:r>
            <a:r>
              <a:rPr dirty="0"/>
              <a:t>can</a:t>
            </a:r>
            <a:r>
              <a:rPr spc="-75" dirty="0"/>
              <a:t> </a:t>
            </a:r>
            <a:r>
              <a:rPr dirty="0"/>
              <a:t>be</a:t>
            </a:r>
            <a:r>
              <a:rPr spc="-60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secure</a:t>
            </a:r>
            <a:r>
              <a:rPr spc="-40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block </a:t>
            </a:r>
            <a:r>
              <a:rPr dirty="0"/>
              <a:t>cipher</a:t>
            </a:r>
            <a:r>
              <a:rPr spc="-7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same</a:t>
            </a:r>
            <a:r>
              <a:rPr spc="-55" dirty="0"/>
              <a:t> </a:t>
            </a:r>
            <a:r>
              <a:rPr dirty="0"/>
              <a:t>size</a:t>
            </a:r>
            <a:r>
              <a:rPr spc="-70" dirty="0"/>
              <a:t> </a:t>
            </a:r>
            <a:r>
              <a:rPr spc="-25" dirty="0"/>
              <a:t>key</a:t>
            </a:r>
          </a:p>
          <a:p>
            <a:pPr marL="356870">
              <a:lnSpc>
                <a:spcPct val="100000"/>
              </a:lnSpc>
              <a:spcBef>
                <a:spcPts val="770"/>
              </a:spcBef>
            </a:pPr>
            <a:r>
              <a:rPr dirty="0"/>
              <a:t>but</a:t>
            </a:r>
            <a:r>
              <a:rPr spc="-25" dirty="0"/>
              <a:t> </a:t>
            </a:r>
            <a:r>
              <a:rPr dirty="0"/>
              <a:t>usually</a:t>
            </a:r>
            <a:r>
              <a:rPr spc="-55" dirty="0"/>
              <a:t> </a:t>
            </a:r>
            <a:r>
              <a:rPr dirty="0"/>
              <a:t>simpler</a:t>
            </a:r>
            <a:r>
              <a:rPr spc="-2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faster</a:t>
            </a:r>
          </a:p>
        </p:txBody>
      </p:sp>
      <p:sp>
        <p:nvSpPr>
          <p:cNvPr id="9" name="object 9"/>
          <p:cNvSpPr/>
          <p:nvPr/>
        </p:nvSpPr>
        <p:spPr>
          <a:xfrm>
            <a:off x="583214" y="4369371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70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3189" y="5443080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17" y="146474"/>
                </a:lnTo>
                <a:lnTo>
                  <a:pt x="0" y="292950"/>
                </a:lnTo>
                <a:lnTo>
                  <a:pt x="253759" y="146474"/>
                </a:lnTo>
                <a:lnTo>
                  <a:pt x="96000" y="146474"/>
                </a:lnTo>
                <a:lnTo>
                  <a:pt x="26722" y="26517"/>
                </a:lnTo>
                <a:lnTo>
                  <a:pt x="45940" y="26517"/>
                </a:lnTo>
                <a:lnTo>
                  <a:pt x="0" y="0"/>
                </a:lnTo>
                <a:close/>
              </a:path>
              <a:path w="254000" h="293370">
                <a:moveTo>
                  <a:pt x="45940" y="26517"/>
                </a:moveTo>
                <a:lnTo>
                  <a:pt x="26722" y="26517"/>
                </a:lnTo>
                <a:lnTo>
                  <a:pt x="234361" y="146474"/>
                </a:lnTo>
                <a:lnTo>
                  <a:pt x="253759" y="146474"/>
                </a:lnTo>
                <a:lnTo>
                  <a:pt x="45940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336804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RC4</a:t>
            </a:r>
          </a:p>
        </p:txBody>
      </p:sp>
      <p:sp>
        <p:nvSpPr>
          <p:cNvPr id="3" name="object 3"/>
          <p:cNvSpPr/>
          <p:nvPr/>
        </p:nvSpPr>
        <p:spPr>
          <a:xfrm>
            <a:off x="579094" y="1721104"/>
            <a:ext cx="223520" cy="258445"/>
          </a:xfrm>
          <a:custGeom>
            <a:avLst/>
            <a:gdLst/>
            <a:ahLst/>
            <a:cxnLst/>
            <a:rect l="l" t="t" r="r" b="b"/>
            <a:pathLst>
              <a:path w="223520" h="258444">
                <a:moveTo>
                  <a:pt x="0" y="0"/>
                </a:moveTo>
                <a:lnTo>
                  <a:pt x="74590" y="128968"/>
                </a:lnTo>
                <a:lnTo>
                  <a:pt x="0" y="257937"/>
                </a:lnTo>
                <a:lnTo>
                  <a:pt x="223424" y="128968"/>
                </a:lnTo>
                <a:lnTo>
                  <a:pt x="84524" y="128968"/>
                </a:lnTo>
                <a:lnTo>
                  <a:pt x="23528" y="23355"/>
                </a:lnTo>
                <a:lnTo>
                  <a:pt x="40460" y="23355"/>
                </a:lnTo>
                <a:lnTo>
                  <a:pt x="0" y="0"/>
                </a:lnTo>
                <a:close/>
              </a:path>
              <a:path w="223520" h="258444">
                <a:moveTo>
                  <a:pt x="40460" y="23355"/>
                </a:moveTo>
                <a:lnTo>
                  <a:pt x="23528" y="23355"/>
                </a:lnTo>
                <a:lnTo>
                  <a:pt x="206344" y="128968"/>
                </a:lnTo>
                <a:lnTo>
                  <a:pt x="223424" y="128968"/>
                </a:lnTo>
                <a:lnTo>
                  <a:pt x="40460" y="23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775"/>
              </a:spcBef>
            </a:pPr>
            <a:r>
              <a:rPr sz="2800" dirty="0"/>
              <a:t>Stream</a:t>
            </a:r>
            <a:r>
              <a:rPr sz="2800" spc="-80" dirty="0"/>
              <a:t> </a:t>
            </a:r>
            <a:r>
              <a:rPr sz="2800" spc="-10" dirty="0"/>
              <a:t>Cipher</a:t>
            </a:r>
            <a:endParaRPr sz="2800"/>
          </a:p>
          <a:p>
            <a:pPr marL="356870" marR="926465" indent="81915">
              <a:lnSpc>
                <a:spcPct val="120000"/>
              </a:lnSpc>
            </a:pPr>
            <a:r>
              <a:rPr sz="2800" dirty="0"/>
              <a:t>Ron</a:t>
            </a:r>
            <a:r>
              <a:rPr sz="2800" spc="-90" dirty="0"/>
              <a:t> </a:t>
            </a:r>
            <a:r>
              <a:rPr sz="2800" dirty="0"/>
              <a:t>Rivest</a:t>
            </a:r>
            <a:r>
              <a:rPr sz="2800" spc="-85" dirty="0"/>
              <a:t> </a:t>
            </a:r>
            <a:r>
              <a:rPr sz="2800" dirty="0"/>
              <a:t>design,</a:t>
            </a:r>
            <a:r>
              <a:rPr sz="2800" spc="-65" dirty="0"/>
              <a:t> </a:t>
            </a:r>
            <a:r>
              <a:rPr sz="2800" dirty="0"/>
              <a:t>simple</a:t>
            </a:r>
            <a:r>
              <a:rPr sz="2800" spc="-60" dirty="0"/>
              <a:t> </a:t>
            </a:r>
            <a:r>
              <a:rPr sz="2800" dirty="0"/>
              <a:t>but</a:t>
            </a:r>
            <a:r>
              <a:rPr sz="2800" spc="-25" dirty="0"/>
              <a:t> </a:t>
            </a:r>
            <a:r>
              <a:rPr sz="2800" spc="-10" dirty="0"/>
              <a:t>effective </a:t>
            </a:r>
            <a:r>
              <a:rPr sz="2800" dirty="0"/>
              <a:t>variable</a:t>
            </a:r>
            <a:r>
              <a:rPr sz="2800" spc="-120" dirty="0"/>
              <a:t> </a:t>
            </a:r>
            <a:r>
              <a:rPr sz="2800" dirty="0"/>
              <a:t>key</a:t>
            </a:r>
            <a:r>
              <a:rPr sz="2800" spc="-70" dirty="0"/>
              <a:t> </a:t>
            </a:r>
            <a:r>
              <a:rPr sz="2800" dirty="0"/>
              <a:t>size,</a:t>
            </a:r>
            <a:r>
              <a:rPr sz="2800" spc="-100" dirty="0"/>
              <a:t> </a:t>
            </a:r>
            <a:r>
              <a:rPr sz="2800" spc="-20" dirty="0"/>
              <a:t>byte-</a:t>
            </a:r>
            <a:r>
              <a:rPr sz="2800" dirty="0"/>
              <a:t>oriented</a:t>
            </a:r>
            <a:r>
              <a:rPr sz="2800" spc="-120" dirty="0"/>
              <a:t> </a:t>
            </a:r>
            <a:r>
              <a:rPr sz="2800" dirty="0"/>
              <a:t>stream</a:t>
            </a:r>
            <a:r>
              <a:rPr sz="2800" spc="-105" dirty="0"/>
              <a:t> </a:t>
            </a:r>
            <a:r>
              <a:rPr sz="2800" spc="-10" dirty="0"/>
              <a:t>cipher </a:t>
            </a:r>
            <a:r>
              <a:rPr sz="2800" dirty="0"/>
              <a:t>widely</a:t>
            </a:r>
            <a:r>
              <a:rPr sz="2800" spc="-70" dirty="0"/>
              <a:t> </a:t>
            </a:r>
            <a:r>
              <a:rPr sz="2800" dirty="0"/>
              <a:t>used</a:t>
            </a:r>
            <a:r>
              <a:rPr sz="2800" spc="-40" dirty="0"/>
              <a:t> </a:t>
            </a:r>
            <a:r>
              <a:rPr sz="2800" dirty="0"/>
              <a:t>(web</a:t>
            </a:r>
            <a:r>
              <a:rPr sz="2800" spc="-45" dirty="0"/>
              <a:t> </a:t>
            </a:r>
            <a:r>
              <a:rPr sz="2800" dirty="0"/>
              <a:t>SSL/TLS,</a:t>
            </a:r>
            <a:r>
              <a:rPr sz="2800" spc="-75" dirty="0"/>
              <a:t> </a:t>
            </a:r>
            <a:r>
              <a:rPr sz="2800" dirty="0"/>
              <a:t>wireless</a:t>
            </a:r>
            <a:r>
              <a:rPr sz="2800" spc="-65" dirty="0"/>
              <a:t> </a:t>
            </a:r>
            <a:r>
              <a:rPr sz="2800" spc="-30" dirty="0"/>
              <a:t>WEP/WPA)</a:t>
            </a:r>
            <a:endParaRPr sz="2800"/>
          </a:p>
          <a:p>
            <a:pPr marL="356870">
              <a:lnSpc>
                <a:spcPct val="100000"/>
              </a:lnSpc>
              <a:spcBef>
                <a:spcPts val="675"/>
              </a:spcBef>
            </a:pPr>
            <a:r>
              <a:rPr sz="2800" dirty="0"/>
              <a:t>key</a:t>
            </a:r>
            <a:r>
              <a:rPr sz="2800" spc="-55" dirty="0"/>
              <a:t> </a:t>
            </a:r>
            <a:r>
              <a:rPr sz="2800" dirty="0"/>
              <a:t>forms</a:t>
            </a:r>
            <a:r>
              <a:rPr sz="2800" spc="-110" dirty="0"/>
              <a:t> </a:t>
            </a:r>
            <a:r>
              <a:rPr sz="2800" dirty="0"/>
              <a:t>random</a:t>
            </a:r>
            <a:r>
              <a:rPr sz="2800" spc="-75" dirty="0"/>
              <a:t> </a:t>
            </a:r>
            <a:r>
              <a:rPr sz="2800" dirty="0"/>
              <a:t>permutation</a:t>
            </a:r>
            <a:r>
              <a:rPr sz="2800" spc="-80" dirty="0"/>
              <a:t> </a:t>
            </a:r>
            <a:r>
              <a:rPr sz="2800" dirty="0"/>
              <a:t>of</a:t>
            </a:r>
            <a:r>
              <a:rPr sz="2800" spc="-60" dirty="0"/>
              <a:t> </a:t>
            </a:r>
            <a:r>
              <a:rPr sz="2800" dirty="0"/>
              <a:t>all</a:t>
            </a:r>
            <a:r>
              <a:rPr sz="2800" spc="-95" dirty="0"/>
              <a:t> </a:t>
            </a:r>
            <a:r>
              <a:rPr sz="2800" spc="-10" dirty="0"/>
              <a:t>8-</a:t>
            </a:r>
            <a:r>
              <a:rPr sz="2800" dirty="0"/>
              <a:t>bit</a:t>
            </a:r>
            <a:r>
              <a:rPr sz="2800" spc="-45" dirty="0"/>
              <a:t> </a:t>
            </a:r>
            <a:r>
              <a:rPr sz="2800" spc="-10" dirty="0"/>
              <a:t>values</a:t>
            </a:r>
            <a:endParaRPr sz="2800"/>
          </a:p>
          <a:p>
            <a:pPr marL="356870" marR="5080">
              <a:lnSpc>
                <a:spcPct val="100000"/>
              </a:lnSpc>
              <a:spcBef>
                <a:spcPts val="675"/>
              </a:spcBef>
            </a:pPr>
            <a:r>
              <a:rPr sz="2800" dirty="0"/>
              <a:t>uses</a:t>
            </a:r>
            <a:r>
              <a:rPr sz="2800" spc="-50" dirty="0"/>
              <a:t> </a:t>
            </a:r>
            <a:r>
              <a:rPr sz="2800" dirty="0"/>
              <a:t>that</a:t>
            </a:r>
            <a:r>
              <a:rPr sz="2800" spc="-70" dirty="0"/>
              <a:t> </a:t>
            </a:r>
            <a:r>
              <a:rPr sz="2800" dirty="0"/>
              <a:t>permutation</a:t>
            </a:r>
            <a:r>
              <a:rPr sz="2800" spc="-75" dirty="0"/>
              <a:t> </a:t>
            </a:r>
            <a:r>
              <a:rPr sz="2800" dirty="0"/>
              <a:t>to</a:t>
            </a:r>
            <a:r>
              <a:rPr sz="2800" spc="-60" dirty="0"/>
              <a:t> </a:t>
            </a:r>
            <a:r>
              <a:rPr sz="2800" dirty="0"/>
              <a:t>scramble</a:t>
            </a:r>
            <a:r>
              <a:rPr sz="2800" spc="-75" dirty="0"/>
              <a:t> </a:t>
            </a:r>
            <a:r>
              <a:rPr sz="2800" dirty="0"/>
              <a:t>input</a:t>
            </a:r>
            <a:r>
              <a:rPr sz="2800" spc="-30" dirty="0"/>
              <a:t> </a:t>
            </a:r>
            <a:r>
              <a:rPr sz="2800" spc="-10" dirty="0"/>
              <a:t>information </a:t>
            </a:r>
            <a:r>
              <a:rPr sz="2800" dirty="0"/>
              <a:t>processed</a:t>
            </a:r>
            <a:r>
              <a:rPr sz="2800" spc="-65" dirty="0"/>
              <a:t> </a:t>
            </a:r>
            <a:r>
              <a:rPr sz="2800" dirty="0"/>
              <a:t>a</a:t>
            </a:r>
            <a:r>
              <a:rPr sz="2800" spc="-25" dirty="0"/>
              <a:t> </a:t>
            </a:r>
            <a:r>
              <a:rPr sz="2800" dirty="0"/>
              <a:t>byte</a:t>
            </a:r>
            <a:r>
              <a:rPr sz="2800" spc="-50" dirty="0"/>
              <a:t> </a:t>
            </a:r>
            <a:r>
              <a:rPr sz="2800" dirty="0"/>
              <a:t>at</a:t>
            </a:r>
            <a:r>
              <a:rPr sz="2800" spc="-50" dirty="0"/>
              <a:t> </a:t>
            </a:r>
            <a:r>
              <a:rPr sz="2800" dirty="0"/>
              <a:t>a</a:t>
            </a:r>
            <a:r>
              <a:rPr sz="2800" spc="-25" dirty="0"/>
              <a:t> </a:t>
            </a:r>
            <a:r>
              <a:rPr sz="2800" spc="-20" dirty="0"/>
              <a:t>time</a:t>
            </a:r>
            <a:endParaRPr sz="2800"/>
          </a:p>
        </p:txBody>
      </p:sp>
      <p:sp>
        <p:nvSpPr>
          <p:cNvPr id="5" name="object 5"/>
          <p:cNvSpPr/>
          <p:nvPr/>
        </p:nvSpPr>
        <p:spPr>
          <a:xfrm>
            <a:off x="579069" y="2233777"/>
            <a:ext cx="223520" cy="257810"/>
          </a:xfrm>
          <a:custGeom>
            <a:avLst/>
            <a:gdLst/>
            <a:ahLst/>
            <a:cxnLst/>
            <a:rect l="l" t="t" r="r" b="b"/>
            <a:pathLst>
              <a:path w="223520" h="257810">
                <a:moveTo>
                  <a:pt x="0" y="0"/>
                </a:moveTo>
                <a:lnTo>
                  <a:pt x="74527" y="128854"/>
                </a:lnTo>
                <a:lnTo>
                  <a:pt x="0" y="257708"/>
                </a:lnTo>
                <a:lnTo>
                  <a:pt x="223232" y="128854"/>
                </a:lnTo>
                <a:lnTo>
                  <a:pt x="84452" y="128854"/>
                </a:lnTo>
                <a:lnTo>
                  <a:pt x="23507" y="23329"/>
                </a:lnTo>
                <a:lnTo>
                  <a:pt x="40417" y="23329"/>
                </a:lnTo>
                <a:lnTo>
                  <a:pt x="0" y="0"/>
                </a:lnTo>
                <a:close/>
              </a:path>
              <a:path w="223520" h="257810">
                <a:moveTo>
                  <a:pt x="40417" y="23329"/>
                </a:moveTo>
                <a:lnTo>
                  <a:pt x="23507" y="23329"/>
                </a:lnTo>
                <a:lnTo>
                  <a:pt x="206167" y="128854"/>
                </a:lnTo>
                <a:lnTo>
                  <a:pt x="223232" y="128854"/>
                </a:lnTo>
                <a:lnTo>
                  <a:pt x="40417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069" y="2746095"/>
            <a:ext cx="223520" cy="257810"/>
          </a:xfrm>
          <a:custGeom>
            <a:avLst/>
            <a:gdLst/>
            <a:ahLst/>
            <a:cxnLst/>
            <a:rect l="l" t="t" r="r" b="b"/>
            <a:pathLst>
              <a:path w="223520" h="257810">
                <a:moveTo>
                  <a:pt x="0" y="0"/>
                </a:moveTo>
                <a:lnTo>
                  <a:pt x="74527" y="128854"/>
                </a:lnTo>
                <a:lnTo>
                  <a:pt x="0" y="257708"/>
                </a:lnTo>
                <a:lnTo>
                  <a:pt x="223232" y="128854"/>
                </a:lnTo>
                <a:lnTo>
                  <a:pt x="84452" y="128854"/>
                </a:lnTo>
                <a:lnTo>
                  <a:pt x="23507" y="23329"/>
                </a:lnTo>
                <a:lnTo>
                  <a:pt x="40417" y="23329"/>
                </a:lnTo>
                <a:lnTo>
                  <a:pt x="0" y="0"/>
                </a:lnTo>
                <a:close/>
              </a:path>
              <a:path w="223520" h="257810">
                <a:moveTo>
                  <a:pt x="40417" y="23329"/>
                </a:moveTo>
                <a:lnTo>
                  <a:pt x="23507" y="23329"/>
                </a:lnTo>
                <a:lnTo>
                  <a:pt x="206167" y="128854"/>
                </a:lnTo>
                <a:lnTo>
                  <a:pt x="223232" y="128854"/>
                </a:lnTo>
                <a:lnTo>
                  <a:pt x="40417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9094" y="3257930"/>
            <a:ext cx="223520" cy="258445"/>
          </a:xfrm>
          <a:custGeom>
            <a:avLst/>
            <a:gdLst/>
            <a:ahLst/>
            <a:cxnLst/>
            <a:rect l="l" t="t" r="r" b="b"/>
            <a:pathLst>
              <a:path w="223520" h="258445">
                <a:moveTo>
                  <a:pt x="0" y="0"/>
                </a:moveTo>
                <a:lnTo>
                  <a:pt x="74590" y="128968"/>
                </a:lnTo>
                <a:lnTo>
                  <a:pt x="0" y="257937"/>
                </a:lnTo>
                <a:lnTo>
                  <a:pt x="223424" y="128968"/>
                </a:lnTo>
                <a:lnTo>
                  <a:pt x="84524" y="128968"/>
                </a:lnTo>
                <a:lnTo>
                  <a:pt x="23528" y="23355"/>
                </a:lnTo>
                <a:lnTo>
                  <a:pt x="40460" y="23355"/>
                </a:lnTo>
                <a:lnTo>
                  <a:pt x="0" y="0"/>
                </a:lnTo>
                <a:close/>
              </a:path>
              <a:path w="223520" h="258445">
                <a:moveTo>
                  <a:pt x="40460" y="23355"/>
                </a:moveTo>
                <a:lnTo>
                  <a:pt x="23528" y="23355"/>
                </a:lnTo>
                <a:lnTo>
                  <a:pt x="206344" y="128968"/>
                </a:lnTo>
                <a:lnTo>
                  <a:pt x="223424" y="128968"/>
                </a:lnTo>
                <a:lnTo>
                  <a:pt x="40460" y="23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9094" y="3770248"/>
            <a:ext cx="223520" cy="258445"/>
          </a:xfrm>
          <a:custGeom>
            <a:avLst/>
            <a:gdLst/>
            <a:ahLst/>
            <a:cxnLst/>
            <a:rect l="l" t="t" r="r" b="b"/>
            <a:pathLst>
              <a:path w="223520" h="258445">
                <a:moveTo>
                  <a:pt x="0" y="0"/>
                </a:moveTo>
                <a:lnTo>
                  <a:pt x="74590" y="128968"/>
                </a:lnTo>
                <a:lnTo>
                  <a:pt x="0" y="257937"/>
                </a:lnTo>
                <a:lnTo>
                  <a:pt x="223424" y="128968"/>
                </a:lnTo>
                <a:lnTo>
                  <a:pt x="84524" y="128968"/>
                </a:lnTo>
                <a:lnTo>
                  <a:pt x="23528" y="23355"/>
                </a:lnTo>
                <a:lnTo>
                  <a:pt x="40460" y="23355"/>
                </a:lnTo>
                <a:lnTo>
                  <a:pt x="0" y="0"/>
                </a:lnTo>
                <a:close/>
              </a:path>
              <a:path w="223520" h="258445">
                <a:moveTo>
                  <a:pt x="40460" y="23355"/>
                </a:moveTo>
                <a:lnTo>
                  <a:pt x="23528" y="23355"/>
                </a:lnTo>
                <a:lnTo>
                  <a:pt x="206344" y="128968"/>
                </a:lnTo>
                <a:lnTo>
                  <a:pt x="223424" y="128968"/>
                </a:lnTo>
                <a:lnTo>
                  <a:pt x="40460" y="23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9069" y="4282922"/>
            <a:ext cx="223520" cy="257810"/>
          </a:xfrm>
          <a:custGeom>
            <a:avLst/>
            <a:gdLst/>
            <a:ahLst/>
            <a:cxnLst/>
            <a:rect l="l" t="t" r="r" b="b"/>
            <a:pathLst>
              <a:path w="223520" h="257810">
                <a:moveTo>
                  <a:pt x="0" y="0"/>
                </a:moveTo>
                <a:lnTo>
                  <a:pt x="74527" y="128854"/>
                </a:lnTo>
                <a:lnTo>
                  <a:pt x="0" y="257708"/>
                </a:lnTo>
                <a:lnTo>
                  <a:pt x="223232" y="128854"/>
                </a:lnTo>
                <a:lnTo>
                  <a:pt x="84452" y="128854"/>
                </a:lnTo>
                <a:lnTo>
                  <a:pt x="23507" y="23329"/>
                </a:lnTo>
                <a:lnTo>
                  <a:pt x="40417" y="23329"/>
                </a:lnTo>
                <a:lnTo>
                  <a:pt x="0" y="0"/>
                </a:lnTo>
                <a:close/>
              </a:path>
              <a:path w="223520" h="257810">
                <a:moveTo>
                  <a:pt x="40417" y="23329"/>
                </a:moveTo>
                <a:lnTo>
                  <a:pt x="23507" y="23329"/>
                </a:lnTo>
                <a:lnTo>
                  <a:pt x="206167" y="128854"/>
                </a:lnTo>
                <a:lnTo>
                  <a:pt x="223232" y="128854"/>
                </a:lnTo>
                <a:lnTo>
                  <a:pt x="40417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99" y="1657437"/>
            <a:ext cx="6172783" cy="4573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809750">
              <a:lnSpc>
                <a:spcPct val="100000"/>
              </a:lnSpc>
              <a:spcBef>
                <a:spcPts val="90"/>
              </a:spcBef>
            </a:pPr>
            <a:r>
              <a:rPr dirty="0"/>
              <a:t>RC4</a:t>
            </a:r>
            <a:r>
              <a:rPr spc="-120" dirty="0"/>
              <a:t> </a:t>
            </a:r>
            <a:r>
              <a:rPr dirty="0"/>
              <a:t>Key</a:t>
            </a:r>
            <a:r>
              <a:rPr spc="-125" dirty="0"/>
              <a:t>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/>
          <p:nvPr/>
        </p:nvSpPr>
        <p:spPr>
          <a:xfrm>
            <a:off x="583214" y="1762061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69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0668" y="1586506"/>
            <a:ext cx="7722234" cy="3929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35050">
              <a:lnSpc>
                <a:spcPct val="1101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starts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array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numbers: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0..255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temporary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vector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created</a:t>
            </a:r>
            <a:endParaRPr sz="3200">
              <a:latin typeface="Calibri"/>
              <a:cs typeface="Calibri"/>
            </a:endParaRPr>
          </a:p>
          <a:p>
            <a:pPr marL="12700" marR="678180">
              <a:lnSpc>
                <a:spcPts val="3460"/>
              </a:lnSpc>
              <a:spcBef>
                <a:spcPts val="819"/>
              </a:spcBef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length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256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bytes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,then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is </a:t>
            </a:r>
            <a:r>
              <a:rPr sz="3200" spc="-20" dirty="0">
                <a:latin typeface="Calibri"/>
                <a:cs typeface="Calibri"/>
              </a:rPr>
              <a:t>transferred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715"/>
              </a:spcBef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length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‘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keylen’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bytes,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first keylen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elements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copied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&amp;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then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repeated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many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necessary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fill </a:t>
            </a:r>
            <a:r>
              <a:rPr sz="3200" dirty="0">
                <a:latin typeface="Calibri"/>
                <a:cs typeface="Calibri"/>
              </a:rPr>
              <a:t>out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3189" y="2299119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69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3189" y="2835821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69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3214" y="3811206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70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9069" y="1669516"/>
            <a:ext cx="223520" cy="257810"/>
          </a:xfrm>
          <a:custGeom>
            <a:avLst/>
            <a:gdLst/>
            <a:ahLst/>
            <a:cxnLst/>
            <a:rect l="l" t="t" r="r" b="b"/>
            <a:pathLst>
              <a:path w="223520" h="257810">
                <a:moveTo>
                  <a:pt x="0" y="0"/>
                </a:moveTo>
                <a:lnTo>
                  <a:pt x="74527" y="128854"/>
                </a:lnTo>
                <a:lnTo>
                  <a:pt x="0" y="257708"/>
                </a:lnTo>
                <a:lnTo>
                  <a:pt x="223232" y="128854"/>
                </a:lnTo>
                <a:lnTo>
                  <a:pt x="84452" y="128854"/>
                </a:lnTo>
                <a:lnTo>
                  <a:pt x="23507" y="23329"/>
                </a:lnTo>
                <a:lnTo>
                  <a:pt x="40417" y="23329"/>
                </a:lnTo>
                <a:lnTo>
                  <a:pt x="0" y="0"/>
                </a:lnTo>
                <a:close/>
              </a:path>
              <a:path w="223520" h="257810">
                <a:moveTo>
                  <a:pt x="40417" y="23329"/>
                </a:moveTo>
                <a:lnTo>
                  <a:pt x="23507" y="23329"/>
                </a:lnTo>
                <a:lnTo>
                  <a:pt x="206167" y="128854"/>
                </a:lnTo>
                <a:lnTo>
                  <a:pt x="223232" y="128854"/>
                </a:lnTo>
                <a:lnTo>
                  <a:pt x="40417" y="233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0668" y="1508963"/>
            <a:ext cx="3606800" cy="9099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Initialization</a:t>
            </a:r>
            <a:endParaRPr sz="2800">
              <a:latin typeface="Courier New"/>
              <a:cs typeface="Courier New"/>
            </a:endParaRPr>
          </a:p>
          <a:p>
            <a:pPr marL="125095">
              <a:lnSpc>
                <a:spcPct val="100000"/>
              </a:lnSpc>
              <a:spcBef>
                <a:spcPts val="334"/>
              </a:spcBef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0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255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1925" y="2493512"/>
          <a:ext cx="4264023" cy="747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015">
                <a:tc>
                  <a:txBody>
                    <a:bodyPr/>
                    <a:lstStyle/>
                    <a:p>
                      <a:pPr marR="52069" algn="ctr">
                        <a:lnSpc>
                          <a:spcPts val="2480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S[i]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0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i;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R="52705" algn="ctr">
                        <a:lnSpc>
                          <a:spcPts val="2705"/>
                        </a:lnSpc>
                      </a:pPr>
                      <a:r>
                        <a:rPr sz="2400" spc="-20" dirty="0">
                          <a:latin typeface="Courier New"/>
                          <a:cs typeface="Courier New"/>
                        </a:rPr>
                        <a:t>T[i]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05"/>
                        </a:lnSpc>
                      </a:pPr>
                      <a:r>
                        <a:rPr sz="24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705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K[i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705"/>
                        </a:lnSpc>
                      </a:pPr>
                      <a:r>
                        <a:rPr sz="2400" spc="-25" dirty="0">
                          <a:latin typeface="Courier New"/>
                          <a:cs typeface="Courier New"/>
                        </a:rPr>
                        <a:t>mod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705"/>
                        </a:lnSpc>
                      </a:pPr>
                      <a:r>
                        <a:rPr sz="2400" spc="-10" dirty="0">
                          <a:latin typeface="Courier New"/>
                          <a:cs typeface="Courier New"/>
                        </a:rPr>
                        <a:t>keylen];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83214" y="3768534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70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80668" y="3584480"/>
            <a:ext cx="6259195" cy="218884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32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Initial</a:t>
            </a:r>
            <a:r>
              <a:rPr sz="3200" b="1" u="sng" spc="-1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permutation</a:t>
            </a:r>
            <a:r>
              <a:rPr sz="3200" b="1" u="sng" spc="-10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3200" b="1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of</a:t>
            </a:r>
            <a:r>
              <a:rPr sz="3200" b="1" u="sng" spc="-9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3200" b="1" u="sng" spc="-5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S</a:t>
            </a:r>
            <a:endParaRPr sz="3200">
              <a:latin typeface="Courier New"/>
              <a:cs typeface="Courier New"/>
            </a:endParaRPr>
          </a:p>
          <a:p>
            <a:pPr marL="125095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Courier New"/>
                <a:cs typeface="Courier New"/>
              </a:rPr>
              <a:t>j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25095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Courier New"/>
                <a:cs typeface="Courier New"/>
              </a:rPr>
              <a:t>for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i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0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to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255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spc="-25" dirty="0">
                <a:latin typeface="Courier New"/>
                <a:cs typeface="Courier New"/>
              </a:rPr>
              <a:t>do</a:t>
            </a:r>
            <a:endParaRPr sz="2400">
              <a:latin typeface="Courier New"/>
              <a:cs typeface="Courier New"/>
            </a:endParaRPr>
          </a:p>
          <a:p>
            <a:pPr marL="58293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Courier New"/>
                <a:cs typeface="Courier New"/>
              </a:rPr>
              <a:t>j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(j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S[i]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+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T[i])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(mod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256)</a:t>
            </a:r>
            <a:endParaRPr sz="2400">
              <a:latin typeface="Courier New"/>
              <a:cs typeface="Courier New"/>
            </a:endParaRPr>
          </a:p>
          <a:p>
            <a:pPr marL="58293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Courier New"/>
                <a:cs typeface="Courier New"/>
              </a:rPr>
              <a:t>swap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(S[i],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S[j])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703070">
              <a:lnSpc>
                <a:spcPct val="100000"/>
              </a:lnSpc>
              <a:spcBef>
                <a:spcPts val="90"/>
              </a:spcBef>
            </a:pPr>
            <a:r>
              <a:rPr dirty="0"/>
              <a:t>RC4</a:t>
            </a:r>
            <a:r>
              <a:rPr spc="-160" dirty="0"/>
              <a:t> </a:t>
            </a:r>
            <a:r>
              <a:rPr dirty="0"/>
              <a:t>Encryption</a:t>
            </a:r>
            <a:r>
              <a:rPr spc="-114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306"/>
            <a:ext cx="7439025" cy="17735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encryption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continues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shuffling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array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Stream</a:t>
            </a:r>
            <a:r>
              <a:rPr sz="32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Generation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Courier New"/>
                <a:cs typeface="Courier New"/>
              </a:rPr>
              <a:t>i,j</a:t>
            </a:r>
            <a:r>
              <a:rPr sz="2000" spc="-2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5" dirty="0">
                <a:latin typeface="Courier New"/>
                <a:cs typeface="Courier New"/>
              </a:rPr>
              <a:t> 0;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Courier New"/>
                <a:cs typeface="Courier New"/>
              </a:rPr>
              <a:t>While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10" dirty="0">
                <a:latin typeface="Courier New"/>
                <a:cs typeface="Courier New"/>
              </a:rPr>
              <a:t>(true)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31925" y="3344624"/>
          <a:ext cx="3874135" cy="1627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9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1150">
                <a:tc gridSpan="2">
                  <a:txBody>
                    <a:bodyPr/>
                    <a:lstStyle/>
                    <a:p>
                      <a:pPr marL="31750">
                        <a:lnSpc>
                          <a:spcPts val="20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(i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06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1)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mod</a:t>
                      </a:r>
                      <a:r>
                        <a:rPr sz="20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256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 gridSpan="2">
                  <a:txBody>
                    <a:bodyPr/>
                    <a:lstStyle/>
                    <a:p>
                      <a:pPr marL="31750">
                        <a:lnSpc>
                          <a:spcPts val="22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j</a:t>
                      </a:r>
                      <a:r>
                        <a:rPr sz="20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(j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25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S[i])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mod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256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 gridSpan="5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swap(S[i],</a:t>
                      </a:r>
                      <a:r>
                        <a:rPr sz="20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S[j])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08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(S[i]</a:t>
                      </a:r>
                      <a:r>
                        <a:rPr sz="2000" spc="-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+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S[j])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dirty="0">
                          <a:latin typeface="Courier New"/>
                          <a:cs typeface="Courier New"/>
                        </a:rPr>
                        <a:t>mod</a:t>
                      </a:r>
                      <a:r>
                        <a:rPr sz="20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25" dirty="0">
                          <a:latin typeface="Courier New"/>
                          <a:cs typeface="Courier New"/>
                        </a:rPr>
                        <a:t>256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36830" algn="ctr">
                        <a:lnSpc>
                          <a:spcPts val="225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K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50"/>
                        </a:lnSpc>
                      </a:pPr>
                      <a:r>
                        <a:rPr sz="2000" spc="-5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6200">
                        <a:lnSpc>
                          <a:spcPts val="2250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S[t];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1703070">
              <a:lnSpc>
                <a:spcPct val="100000"/>
              </a:lnSpc>
              <a:spcBef>
                <a:spcPts val="90"/>
              </a:spcBef>
            </a:pPr>
            <a:r>
              <a:rPr dirty="0"/>
              <a:t>RC4</a:t>
            </a:r>
            <a:r>
              <a:rPr spc="-160" dirty="0"/>
              <a:t> </a:t>
            </a:r>
            <a:r>
              <a:rPr dirty="0"/>
              <a:t>Encryption</a:t>
            </a:r>
            <a:r>
              <a:rPr spc="-114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609420"/>
            <a:ext cx="725614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4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encrypt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XOR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next </a:t>
            </a:r>
            <a:r>
              <a:rPr sz="3200" dirty="0">
                <a:latin typeface="Calibri"/>
                <a:cs typeface="Calibri"/>
              </a:rPr>
              <a:t>byte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plain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text.</a:t>
            </a:r>
            <a:endParaRPr sz="3200">
              <a:latin typeface="Calibri"/>
              <a:cs typeface="Calibri"/>
            </a:endParaRPr>
          </a:p>
          <a:p>
            <a:pPr marL="356870" marR="5715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spc="-140" dirty="0">
                <a:latin typeface="Calibri"/>
                <a:cs typeface="Calibri"/>
              </a:rPr>
              <a:t>To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decrypt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XOR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next </a:t>
            </a:r>
            <a:r>
              <a:rPr sz="3200" dirty="0">
                <a:latin typeface="Calibri"/>
                <a:cs typeface="Calibri"/>
              </a:rPr>
              <a:t>byte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cipher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220" rIns="0" bIns="0" rtlCol="0">
            <a:spAutoFit/>
          </a:bodyPr>
          <a:lstStyle/>
          <a:p>
            <a:pPr marL="2151380">
              <a:lnSpc>
                <a:spcPct val="100000"/>
              </a:lnSpc>
              <a:spcBef>
                <a:spcPts val="95"/>
              </a:spcBef>
            </a:pPr>
            <a:r>
              <a:rPr dirty="0"/>
              <a:t>RC4</a:t>
            </a:r>
            <a:r>
              <a:rPr spc="-105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1168400"/>
            <a:ext cx="73660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2392045">
              <a:lnSpc>
                <a:spcPct val="100000"/>
              </a:lnSpc>
              <a:spcBef>
                <a:spcPts val="90"/>
              </a:spcBef>
            </a:pPr>
            <a:r>
              <a:rPr dirty="0"/>
              <a:t>RC4</a:t>
            </a:r>
            <a:r>
              <a:rPr spc="-110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3" name="object 3"/>
          <p:cNvSpPr/>
          <p:nvPr/>
        </p:nvSpPr>
        <p:spPr>
          <a:xfrm>
            <a:off x="583214" y="1734629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82" y="146596"/>
                </a:lnTo>
                <a:lnTo>
                  <a:pt x="0" y="293179"/>
                </a:lnTo>
                <a:lnTo>
                  <a:pt x="253951" y="146596"/>
                </a:lnTo>
                <a:lnTo>
                  <a:pt x="96074" y="146596"/>
                </a:lnTo>
                <a:lnTo>
                  <a:pt x="26742" y="26555"/>
                </a:lnTo>
                <a:lnTo>
                  <a:pt x="46003" y="26555"/>
                </a:lnTo>
                <a:lnTo>
                  <a:pt x="0" y="0"/>
                </a:lnTo>
                <a:close/>
              </a:path>
              <a:path w="254000" h="293369">
                <a:moveTo>
                  <a:pt x="46003" y="26555"/>
                </a:moveTo>
                <a:lnTo>
                  <a:pt x="26742" y="26555"/>
                </a:lnTo>
                <a:lnTo>
                  <a:pt x="234538" y="146596"/>
                </a:lnTo>
                <a:lnTo>
                  <a:pt x="253951" y="146596"/>
                </a:lnTo>
                <a:lnTo>
                  <a:pt x="46003" y="265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869"/>
              </a:spcBef>
            </a:pPr>
            <a:r>
              <a:rPr dirty="0"/>
              <a:t>claimed</a:t>
            </a:r>
            <a:r>
              <a:rPr spc="-114" dirty="0"/>
              <a:t> </a:t>
            </a:r>
            <a:r>
              <a:rPr dirty="0"/>
              <a:t>secure</a:t>
            </a:r>
            <a:r>
              <a:rPr spc="-95" dirty="0"/>
              <a:t> </a:t>
            </a:r>
            <a:r>
              <a:rPr dirty="0"/>
              <a:t>against</a:t>
            </a:r>
            <a:r>
              <a:rPr spc="-120" dirty="0"/>
              <a:t> </a:t>
            </a:r>
            <a:r>
              <a:rPr dirty="0"/>
              <a:t>known</a:t>
            </a:r>
            <a:r>
              <a:rPr spc="-75" dirty="0"/>
              <a:t> </a:t>
            </a:r>
            <a:r>
              <a:rPr spc="-10" dirty="0"/>
              <a:t>attacks</a:t>
            </a:r>
          </a:p>
          <a:p>
            <a:pPr marL="469265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have</a:t>
            </a:r>
            <a:r>
              <a:rPr sz="2800" spc="-70" dirty="0"/>
              <a:t> </a:t>
            </a:r>
            <a:r>
              <a:rPr sz="2800" dirty="0"/>
              <a:t>some</a:t>
            </a:r>
            <a:r>
              <a:rPr sz="2800" spc="-55" dirty="0"/>
              <a:t> </a:t>
            </a:r>
            <a:r>
              <a:rPr sz="2800" dirty="0"/>
              <a:t>analysis,</a:t>
            </a:r>
            <a:r>
              <a:rPr sz="2800" spc="-75" dirty="0"/>
              <a:t> </a:t>
            </a:r>
            <a:r>
              <a:rPr sz="2800" dirty="0"/>
              <a:t>none</a:t>
            </a:r>
            <a:r>
              <a:rPr sz="2800" spc="-40" dirty="0"/>
              <a:t> </a:t>
            </a:r>
            <a:r>
              <a:rPr sz="2800" spc="-10" dirty="0"/>
              <a:t>practical</a:t>
            </a:r>
            <a:endParaRPr sz="2800"/>
          </a:p>
          <a:p>
            <a:pPr marL="356870">
              <a:lnSpc>
                <a:spcPct val="100000"/>
              </a:lnSpc>
              <a:spcBef>
                <a:spcPts val="755"/>
              </a:spcBef>
            </a:pPr>
            <a:r>
              <a:rPr dirty="0"/>
              <a:t>result</a:t>
            </a:r>
            <a:r>
              <a:rPr spc="-4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dirty="0"/>
              <a:t>very</a:t>
            </a:r>
            <a:r>
              <a:rPr spc="-50" dirty="0"/>
              <a:t> </a:t>
            </a:r>
            <a:r>
              <a:rPr spc="-10" dirty="0"/>
              <a:t>non-linear</a:t>
            </a:r>
          </a:p>
          <a:p>
            <a:pPr marL="356870" marR="5080">
              <a:lnSpc>
                <a:spcPct val="100000"/>
              </a:lnSpc>
              <a:spcBef>
                <a:spcPts val="770"/>
              </a:spcBef>
            </a:pPr>
            <a:r>
              <a:rPr dirty="0"/>
              <a:t>since</a:t>
            </a:r>
            <a:r>
              <a:rPr spc="-85" dirty="0"/>
              <a:t> </a:t>
            </a:r>
            <a:r>
              <a:rPr dirty="0"/>
              <a:t>RC4</a:t>
            </a:r>
            <a:r>
              <a:rPr spc="-85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stream</a:t>
            </a:r>
            <a:r>
              <a:rPr spc="-60" dirty="0"/>
              <a:t> </a:t>
            </a:r>
            <a:r>
              <a:rPr spc="-30" dirty="0"/>
              <a:t>cipher,</a:t>
            </a:r>
            <a:r>
              <a:rPr spc="-85" dirty="0"/>
              <a:t> </a:t>
            </a:r>
            <a:r>
              <a:rPr dirty="0"/>
              <a:t>must</a:t>
            </a:r>
            <a:r>
              <a:rPr spc="-10" dirty="0"/>
              <a:t> </a:t>
            </a:r>
            <a:r>
              <a:rPr b="1" dirty="0">
                <a:latin typeface="Calibri"/>
                <a:cs typeface="Calibri"/>
              </a:rPr>
              <a:t>never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reuse </a:t>
            </a:r>
            <a:r>
              <a:rPr b="1" dirty="0">
                <a:latin typeface="Calibri"/>
                <a:cs typeface="Calibri"/>
              </a:rPr>
              <a:t>a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key</a:t>
            </a:r>
          </a:p>
        </p:txBody>
      </p:sp>
      <p:sp>
        <p:nvSpPr>
          <p:cNvPr id="5" name="object 5"/>
          <p:cNvSpPr/>
          <p:nvPr/>
        </p:nvSpPr>
        <p:spPr>
          <a:xfrm>
            <a:off x="583189" y="2832773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69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69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3189" y="3418243"/>
            <a:ext cx="254000" cy="293370"/>
          </a:xfrm>
          <a:custGeom>
            <a:avLst/>
            <a:gdLst/>
            <a:ahLst/>
            <a:cxnLst/>
            <a:rect l="l" t="t" r="r" b="b"/>
            <a:pathLst>
              <a:path w="254000" h="293370">
                <a:moveTo>
                  <a:pt x="0" y="0"/>
                </a:moveTo>
                <a:lnTo>
                  <a:pt x="84717" y="146469"/>
                </a:lnTo>
                <a:lnTo>
                  <a:pt x="0" y="292950"/>
                </a:lnTo>
                <a:lnTo>
                  <a:pt x="253759" y="146469"/>
                </a:lnTo>
                <a:lnTo>
                  <a:pt x="96000" y="146469"/>
                </a:lnTo>
                <a:lnTo>
                  <a:pt x="26722" y="26517"/>
                </a:lnTo>
                <a:lnTo>
                  <a:pt x="45942" y="26517"/>
                </a:lnTo>
                <a:lnTo>
                  <a:pt x="0" y="0"/>
                </a:lnTo>
                <a:close/>
              </a:path>
              <a:path w="254000" h="293370">
                <a:moveTo>
                  <a:pt x="45942" y="26517"/>
                </a:moveTo>
                <a:lnTo>
                  <a:pt x="26722" y="26517"/>
                </a:lnTo>
                <a:lnTo>
                  <a:pt x="234361" y="146469"/>
                </a:lnTo>
                <a:lnTo>
                  <a:pt x="253759" y="146469"/>
                </a:lnTo>
                <a:lnTo>
                  <a:pt x="45942" y="265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369" rIns="0" bIns="0" rtlCol="0">
            <a:spAutoFit/>
          </a:bodyPr>
          <a:lstStyle/>
          <a:p>
            <a:pPr marL="336804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RC4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244" y="1510650"/>
            <a:ext cx="7808595" cy="40265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Divided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2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parts</a:t>
            </a:r>
            <a:endParaRPr sz="3200">
              <a:latin typeface="Calibri"/>
              <a:cs typeface="Calibri"/>
            </a:endParaRPr>
          </a:p>
          <a:p>
            <a:pPr marL="535305" lvl="1" indent="-431165">
              <a:lnSpc>
                <a:spcPct val="100000"/>
              </a:lnSpc>
              <a:spcBef>
                <a:spcPts val="770"/>
              </a:spcBef>
              <a:buAutoNum type="romanLcParenBoth"/>
              <a:tabLst>
                <a:tab pos="535305" algn="l"/>
              </a:tabLst>
            </a:pPr>
            <a:r>
              <a:rPr sz="3200" dirty="0">
                <a:latin typeface="Calibri"/>
                <a:cs typeface="Calibri"/>
              </a:rPr>
              <a:t>Key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Scheduling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Algorithm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(KSA)</a:t>
            </a:r>
            <a:endParaRPr sz="3200">
              <a:latin typeface="Calibri"/>
              <a:cs typeface="Calibri"/>
            </a:endParaRPr>
          </a:p>
          <a:p>
            <a:pPr marL="721360" marR="714375" lvl="1" indent="-526415">
              <a:lnSpc>
                <a:spcPts val="4610"/>
              </a:lnSpc>
              <a:spcBef>
                <a:spcPts val="285"/>
              </a:spcBef>
              <a:buAutoNum type="romanLcParenBoth"/>
              <a:tabLst>
                <a:tab pos="842010" algn="l"/>
              </a:tabLst>
            </a:pPr>
            <a:r>
              <a:rPr sz="3200" dirty="0">
                <a:latin typeface="Calibri"/>
                <a:cs typeface="Calibri"/>
              </a:rPr>
              <a:t>Pseudo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Random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Generation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 	(PRGA)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489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Run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PRGA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KSA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output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generate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Key </a:t>
            </a:r>
            <a:r>
              <a:rPr sz="3200" spc="-10" dirty="0">
                <a:latin typeface="Calibri"/>
                <a:cs typeface="Calibri"/>
              </a:rPr>
              <a:t>stream</a:t>
            </a:r>
            <a:endParaRPr sz="3200">
              <a:latin typeface="Calibri"/>
              <a:cs typeface="Calibri"/>
            </a:endParaRPr>
          </a:p>
          <a:p>
            <a:pPr marL="356870" indent="-3441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XOR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332C9-1553-4779-A39D-EAF1A8458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013CD-65EA-4C98-BB1A-C55990E54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1B2EF8-8FFA-4219-A634-9F5EF357E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54" y="533400"/>
            <a:ext cx="8579291" cy="462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87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660C-2C2B-47B3-BE18-4FB6DA54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651E7-96EA-4A41-8641-CBA179F84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45274-43E6-4799-8E71-2892EBF6E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05548"/>
            <a:ext cx="5638800" cy="588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129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ACB4-D87A-486E-98AB-51BFB4755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7A1A0-C3F4-4243-B6D5-16FBECEF1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C36E5-2834-49E8-AB18-0661BB458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5990"/>
            <a:ext cx="6781800" cy="563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124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DCD2-85B9-4DE0-994B-F73E82989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FC275-04A4-4DF5-B376-11C7B5617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AC313E-EA3D-458A-9BC8-FE131642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18" y="609600"/>
            <a:ext cx="8033163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889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C1BA-1F1B-422F-925E-F4879FA7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43876-1726-4CAD-98C6-23BAA07BB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0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653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68B761-1114-4449-8C21-BEAF8CDC5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800"/>
            <a:ext cx="5943600" cy="1936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5E0347-C69F-4F11-9EC4-8FC7463AA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6000"/>
            <a:ext cx="7848600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19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8274D-5574-4C41-8B61-5765EC937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2463B-4F8D-4E9D-970F-E67508622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9144000" cy="617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0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461</Words>
  <Application>Microsoft Office PowerPoint</Application>
  <PresentationFormat>On-screen Show (4:3)</PresentationFormat>
  <Paragraphs>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 MT</vt:lpstr>
      <vt:lpstr>Calibri</vt:lpstr>
      <vt:lpstr>Courier New</vt:lpstr>
      <vt:lpstr>Times New Roman</vt:lpstr>
      <vt:lpstr>Office Theme</vt:lpstr>
      <vt:lpstr>Stream Ciphers</vt:lpstr>
      <vt:lpstr>Stream Cipher Structure</vt:lpstr>
      <vt:lpstr>Stream Cipher Properties</vt:lpstr>
      <vt:lpstr>RC4</vt:lpstr>
      <vt:lpstr>PowerPoint Presentation</vt:lpstr>
      <vt:lpstr>RC4 Key Schedule</vt:lpstr>
      <vt:lpstr>Initialization for i = 0 to 255 do</vt:lpstr>
      <vt:lpstr>RC4 Encryption (1)</vt:lpstr>
      <vt:lpstr>RC4 Encryption (2)</vt:lpstr>
      <vt:lpstr>RC4 Overview</vt:lpstr>
      <vt:lpstr>RC4 Security</vt:lpstr>
      <vt:lpstr>RC4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9d8c6c0c-802a-4dd3-bfee-624cd07ff055.pdf</dc:title>
  <dc:creator>Soda PDF Online</dc:creator>
  <cp:lastModifiedBy>Sreethar S</cp:lastModifiedBy>
  <cp:revision>21</cp:revision>
  <dcterms:created xsi:type="dcterms:W3CDTF">2024-01-23T00:46:42Z</dcterms:created>
  <dcterms:modified xsi:type="dcterms:W3CDTF">2024-02-06T03:59:21Z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2019-09-24T00:00:00Z</vt:filetime>
  </property>
  <property fmtid="{D5CDD505-2E9C-101B-9397-08002B2CF9AE}" pid="3" name="Creator">
    <vt:lpwstr>Soda PDF Online</vt:lpwstr>
  </property>
  <property fmtid="{D5CDD505-2E9C-101B-9397-08002B2CF9AE}" pid="4" name="LastSaved">
    <vt:filetime>2024-01-23T00:00:00Z</vt:filetime>
  </property>
  <property fmtid="{D5CDD505-2E9C-101B-9397-08002B2CF9AE}" pid="5" name="Producer">
    <vt:lpwstr>Soda PDF Online</vt:lpwstr>
  </property>
</Properties>
</file>