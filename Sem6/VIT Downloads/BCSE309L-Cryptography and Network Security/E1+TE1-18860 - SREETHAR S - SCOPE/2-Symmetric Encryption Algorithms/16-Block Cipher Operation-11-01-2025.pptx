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317" r:id="rId3"/>
    <p:sldId id="318" r:id="rId4"/>
    <p:sldId id="319" r:id="rId5"/>
    <p:sldId id="320" r:id="rId6"/>
    <p:sldId id="322" r:id="rId7"/>
    <p:sldId id="321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33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44150-766B-47BD-AC7A-5F404BD471B8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0D7A7-DB14-430E-B43B-C8E71078A3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988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05523DA5-A243-F7AC-27D7-FD98BCBB1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12B6F8A-3058-4F29-842A-C00C8C2C9267}" type="slidenum">
              <a:rPr lang="en-AU" altLang="en-US" sz="1200" baseline="0"/>
              <a:pPr eaLnBrk="1" hangingPunct="1"/>
              <a:t>3</a:t>
            </a:fld>
            <a:endParaRPr lang="en-AU" altLang="en-US" sz="1200" baseline="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4397F4DB-25DD-0136-D8AB-10358507EF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D6AEE4FF-5E6D-5641-4F33-0161CD60BF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EB3D07D5-3E7A-1BE9-0DDA-8FBC3B26D7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549C709-595F-42D5-8DC2-214B33C0157C}" type="slidenum">
              <a:rPr lang="en-AU" altLang="en-US" sz="1200" baseline="0"/>
              <a:pPr eaLnBrk="1" hangingPunct="1"/>
              <a:t>4</a:t>
            </a:fld>
            <a:endParaRPr lang="en-AU" altLang="en-US" sz="1200" baseline="0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8F164F0C-80CA-7377-38A0-D745E79D49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EA8173A0-83AC-5D19-1018-70B4E7497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2736A249-15EE-D93D-ACB9-88909CC213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99713AA-C672-4FEA-8677-47D5C7CC8878}" type="slidenum">
              <a:rPr lang="en-AU" altLang="en-US" sz="1200" baseline="0"/>
              <a:pPr eaLnBrk="1" hangingPunct="1"/>
              <a:t>7</a:t>
            </a:fld>
            <a:endParaRPr lang="en-AU" altLang="en-US" sz="1200" baseline="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A91B29D-305E-01BC-E4DE-B285CC022B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0D92952-B25A-1959-F601-8C80B904C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031">
            <a:extLst>
              <a:ext uri="{FF2B5EF4-FFF2-40B4-BE49-F238E27FC236}">
                <a16:creationId xmlns:a16="http://schemas.microsoft.com/office/drawing/2014/main" id="{8E7A9363-CAA7-F6DC-9831-85941AE975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444B76C-ACF0-4CBC-82C7-9313F95CBD95}" type="slidenum">
              <a:rPr lang="en-AU" altLang="en-US" sz="1200" baseline="0"/>
              <a:pPr eaLnBrk="1" hangingPunct="1"/>
              <a:t>9</a:t>
            </a:fld>
            <a:endParaRPr lang="en-AU" altLang="en-US" sz="1200" baseline="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2F20A5F5-655D-B933-3481-542B584C25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48520FE3-DCF6-8D54-7E4E-4EA5244BB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031">
            <a:extLst>
              <a:ext uri="{FF2B5EF4-FFF2-40B4-BE49-F238E27FC236}">
                <a16:creationId xmlns:a16="http://schemas.microsoft.com/office/drawing/2014/main" id="{5CEF2FA1-58D0-BFF9-BEE7-283C543123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238020B-40C6-46C1-8FF3-968FEA7D511E}" type="slidenum">
              <a:rPr lang="en-AU" altLang="en-US" sz="1200" baseline="0"/>
              <a:pPr eaLnBrk="1" hangingPunct="1"/>
              <a:t>12</a:t>
            </a:fld>
            <a:endParaRPr lang="en-AU" altLang="en-US" sz="1200" baseline="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7A72DF4B-7FEB-323F-39B3-7E44219B3B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AA2B7D17-478F-26D0-9D72-A8CE5B775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1031">
            <a:extLst>
              <a:ext uri="{FF2B5EF4-FFF2-40B4-BE49-F238E27FC236}">
                <a16:creationId xmlns:a16="http://schemas.microsoft.com/office/drawing/2014/main" id="{A712E887-6571-1614-3C5F-C6CF0E623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3D359B8-B6F7-4CDE-BA7A-F516E4CABBCE}" type="slidenum">
              <a:rPr lang="en-AU" altLang="en-US" sz="1200" baseline="0"/>
              <a:pPr eaLnBrk="1" hangingPunct="1"/>
              <a:t>14</a:t>
            </a:fld>
            <a:endParaRPr lang="en-AU" altLang="en-US" sz="1200" baseline="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821B9C96-EC30-4FDE-EFA9-6D6668B789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B8AFFF4F-76A2-3A51-53A2-8C1D9BDC17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031">
            <a:extLst>
              <a:ext uri="{FF2B5EF4-FFF2-40B4-BE49-F238E27FC236}">
                <a16:creationId xmlns:a16="http://schemas.microsoft.com/office/drawing/2014/main" id="{78A0B03A-78DD-0D6A-7408-F5C2D8A81C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6984343-B7C2-48F9-933F-3F5E16DCCE93}" type="slidenum">
              <a:rPr lang="en-AU" altLang="en-US" sz="1200" baseline="0"/>
              <a:pPr eaLnBrk="1" hangingPunct="1"/>
              <a:t>16</a:t>
            </a:fld>
            <a:endParaRPr lang="en-AU" altLang="en-US" sz="1200" baseline="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1989B94D-0954-0C04-B4DC-98BCA42482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C1910BE8-E2FE-FD3D-346C-067A5675F7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9D586-D178-97A7-A3E3-76FC029C8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18384B-CF8A-EEAD-96DF-510CAD7A0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BAEE5-E232-4C0D-637F-62F68E33B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B362F-9CF9-4C76-9FCA-B9B74855936E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692BC-DF55-7CE9-6268-8B58181A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D5C78-4118-DDF8-6ECC-E2097BE99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80767-34D9-4190-B11A-D09651195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598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4C0B-FBC2-D3A1-1D57-A14E847A1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D8EAD-FE13-028B-E6D3-AA30D93A2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C2B25-2FEE-D5F8-5FEA-3C54E3C36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B362F-9CF9-4C76-9FCA-B9B74855936E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280DC-E66F-C363-2F43-93A5C8F8A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83A99-A539-CEF0-EA90-95FE3EE00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80767-34D9-4190-B11A-D09651195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18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105D-EE66-843D-A674-558FB58FA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F380A-03FA-039A-36D0-EE84E13F7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EC010-558A-BFFE-9465-756CB7A38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B362F-9CF9-4C76-9FCA-B9B74855936E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86D73-87E7-12FB-A045-8F13117F9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D57A1-34E9-77CF-0CE8-61146606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80767-34D9-4190-B11A-D09651195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01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D5F0-00CE-2870-2E94-C6D4DCDC6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9494B-57A0-5F8F-B785-77B0A8B93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FBEFC-CF2C-60FF-AFD9-65949A716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3A993-9940-EB97-BFF1-AE81F9FD2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B362F-9CF9-4C76-9FCA-B9B74855936E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183B7-87E1-EB3F-975F-E3CA75BC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980B7-5BF2-2A27-A24E-919E1B6C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80767-34D9-4190-B11A-D09651195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124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7733-D2DB-1740-AF9A-1F40E7D71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171BC-49C5-9AC0-F5F7-1CCDABE4C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1E64F-32B4-C3BA-35E2-F99E0AC8E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94BC68-1652-B11B-3CA6-35BB41B5BF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3F70CE-3683-D975-7A0A-5CFADE39D8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877B26-211A-3513-DADC-83101CBF2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B362F-9CF9-4C76-9FCA-B9B74855936E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D0B845-3242-14FD-F12F-76C11204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81C0D-16CC-CDAB-92A7-1EFAAE2EF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80767-34D9-4190-B11A-D09651195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173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83A5-5873-CFBB-B39D-42F07B486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18927-B983-0B01-20D2-CFE158758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B362F-9CF9-4C76-9FCA-B9B74855936E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255722-7A7B-3FD3-9DEC-B9AD8EB9A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22429-8B0F-520B-C5E2-6894E3801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80767-34D9-4190-B11A-D09651195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758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CF0CAE-5811-D511-83D5-C7491FA18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B362F-9CF9-4C76-9FCA-B9B74855936E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CEB25-891B-059F-C41E-6188053B7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14C66-2287-12CA-CDE6-02F47C46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80767-34D9-4190-B11A-D09651195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298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890FB-C809-C61E-A5BD-A15DC5FD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BE68D-7AF9-9F30-7B3E-B3D4872D6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9E1E1-28D5-5921-1DF7-AEAD0097A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23832-262F-9D8D-392B-633C1193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B362F-9CF9-4C76-9FCA-B9B74855936E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4B8F5-1A8C-F645-F524-04352D57E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C95E0-F74D-ED43-845E-089E71231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80767-34D9-4190-B11A-D09651195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1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7D78C-41B2-8C0F-C464-91A79531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97F424-6ED5-90DB-A5CC-9C552E0C1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4EFA0-34D4-3ED8-C102-BD78E1B74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3EBB7-D898-20CB-E52D-F166102B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B362F-9CF9-4C76-9FCA-B9B74855936E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B3F5B-35CD-8C04-66DF-453D4CFAE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8D70C-FBD5-C758-9D60-3F6113C13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80767-34D9-4190-B11A-D09651195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786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A855-D6A5-D278-80AD-F1C4A739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20A64-B2FA-6E2D-BB1E-1335E8671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ED18F-43F6-1B79-04E3-2DDF57347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B362F-9CF9-4C76-9FCA-B9B74855936E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F773C-100A-B7A7-57B1-05EC0AE70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9F14E-3AF5-5763-CDC8-51274134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80767-34D9-4190-B11A-D09651195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16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849F5C-A2E7-F6D1-C8BD-206B36D99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AEF500-BBB5-FD12-F07E-F7CD6BDF2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85FB1-BE7F-A258-A8D4-48443850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B362F-9CF9-4C76-9FCA-B9B74855936E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4FFA5-2B42-ADB0-22F6-745116478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7787C-8017-C40B-6931-94721899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80767-34D9-4190-B11A-D09651195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68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D381E-7919-E755-E175-60EAE4F19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3B4A7-D730-3DA2-FC17-438ACC80A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73C74-B7D2-7E03-CADC-F3E94ACAE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B362F-9CF9-4C76-9FCA-B9B74855936E}" type="datetimeFigureOut">
              <a:rPr lang="en-IN" smtClean="0"/>
              <a:t>08-02-2024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7D6AC-135C-77D0-280B-3678493DB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8C29F-2E0E-B2AE-F577-398BD87F2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80767-34D9-4190-B11A-D09651195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79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A24E9-1DB6-73D8-414B-A466CD2332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2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1FC0A-0A1E-AD9A-1774-C4522A6D7F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484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9830F6BA-3738-E70A-0ECF-2FCFE67EAB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Cipher Block Modes of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AAC805B-E7F7-C1F5-2A6F-57650F359D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zh-TW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How to use a block cipher?</a:t>
            </a:r>
            <a:endParaRPr lang="en-AU" altLang="en-US"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8952878-3E35-64C0-9236-70E256B64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1600200"/>
            <a:ext cx="86868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Block ciphers encrypt fixed-size blocks</a:t>
            </a:r>
          </a:p>
          <a:p>
            <a:pPr lvl="1" eaLnBrk="1" hangingPunct="1">
              <a:lnSpc>
                <a:spcPct val="140000"/>
              </a:lnSpc>
            </a:pP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e.g. DES encrypts 64-bit blocks 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We need some way to encrypt a message of arbitrary length </a:t>
            </a:r>
          </a:p>
          <a:p>
            <a:pPr lvl="1" eaLnBrk="1" hangingPunct="1">
              <a:lnSpc>
                <a:spcPct val="140000"/>
              </a:lnSpc>
            </a:pP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e.g. a message of 1000 bytes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NIST defines several ways to do it 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called </a:t>
            </a:r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modes of operation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en-AU" altLang="en-US" sz="4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buFontTx/>
              <a:buNone/>
            </a:pPr>
            <a:endParaRPr lang="en-AU" altLang="en-US" sz="1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buFontTx/>
              <a:buNone/>
            </a:pPr>
            <a:endParaRPr lang="en-AU" altLang="en-US" sz="1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buFontTx/>
              <a:buNone/>
            </a:pPr>
            <a:endParaRPr lang="en-AU" altLang="en-US" sz="4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AU" altLang="en-US" sz="2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4" name="Slide Number Placeholder 4">
            <a:extLst>
              <a:ext uri="{FF2B5EF4-FFF2-40B4-BE49-F238E27FC236}">
                <a16:creationId xmlns:a16="http://schemas.microsoft.com/office/drawing/2014/main" id="{70677830-2FE2-300D-CF94-351DDAF9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FFEF789-C27D-4CA4-B0CB-569E25069958}" type="slidenum">
              <a:rPr lang="en-US" altLang="en-US" sz="1400" baseline="0"/>
              <a:pPr eaLnBrk="1" hangingPunct="1"/>
              <a:t>3</a:t>
            </a:fld>
            <a:endParaRPr lang="en-US" altLang="en-US" sz="1400" baseline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4CFB9A56-F825-4572-E55D-0A385EE60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274638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Five Modes of Operation</a:t>
            </a:r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FDA19EB-9549-49EE-5FDB-2FB40BC8B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1600200"/>
            <a:ext cx="8686800" cy="4876800"/>
          </a:xfrm>
        </p:spPr>
        <p:txBody>
          <a:bodyPr/>
          <a:lstStyle/>
          <a:p>
            <a:pPr lvl="1" eaLnBrk="1" hangingPunct="1"/>
            <a:r>
              <a:rPr lang="en-US" altLang="zh-TW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Electronic codebook mode (ECB)</a:t>
            </a:r>
          </a:p>
          <a:p>
            <a:pPr lvl="1" eaLnBrk="1" hangingPunct="1"/>
            <a:r>
              <a:rPr lang="en-US" altLang="zh-TW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Cipher block chaining mode (CBC) – </a:t>
            </a:r>
            <a:r>
              <a:rPr lang="en-US" altLang="zh-TW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most popular</a:t>
            </a:r>
          </a:p>
          <a:p>
            <a:pPr lvl="1" eaLnBrk="1" hangingPunct="1"/>
            <a:r>
              <a:rPr lang="en-US" altLang="zh-TW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Output feedback mode (OFB)</a:t>
            </a:r>
          </a:p>
          <a:p>
            <a:pPr lvl="1" eaLnBrk="1" hangingPunct="1"/>
            <a:r>
              <a:rPr lang="en-US" altLang="zh-TW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Cipher feedback mode (CFB)</a:t>
            </a:r>
          </a:p>
          <a:p>
            <a:pPr lvl="1" eaLnBrk="1" hangingPunct="1"/>
            <a:r>
              <a:rPr lang="en-US" altLang="en-US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Counter mode (CTR)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AU" altLang="en-US" sz="4700"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buFontTx/>
              <a:buNone/>
            </a:pPr>
            <a:endParaRPr lang="en-AU" altLang="en-US" sz="1500"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buFontTx/>
              <a:buNone/>
            </a:pPr>
            <a:endParaRPr lang="en-AU" altLang="en-US" sz="1700"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buFontTx/>
              <a:buNone/>
            </a:pPr>
            <a:endParaRPr lang="en-AU" altLang="en-US" sz="4400"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AU" altLang="en-US" sz="2100"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36868" name="Slide Number Placeholder 4">
            <a:extLst>
              <a:ext uri="{FF2B5EF4-FFF2-40B4-BE49-F238E27FC236}">
                <a16:creationId xmlns:a16="http://schemas.microsoft.com/office/drawing/2014/main" id="{0FE62014-3DB3-4190-9BBD-8335A771E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920F4F5-7F3C-44A3-9845-150CE5C88928}" type="slidenum">
              <a:rPr lang="en-US" altLang="en-US" sz="1400" baseline="0"/>
              <a:pPr eaLnBrk="1" hangingPunct="1"/>
              <a:t>4</a:t>
            </a:fld>
            <a:endParaRPr lang="en-US" altLang="en-US" sz="1400" baseline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E9C0E274-22A7-B9BA-AFA9-F29E37FEE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Electronic Code Book (ECB)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EA07C3FE-14EF-5DF1-9311-585BD7D14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 sz="2500">
                <a:latin typeface="Arial" panose="020B0604020202020204" pitchFamily="34" charset="0"/>
                <a:cs typeface="Arial" panose="020B0604020202020204" pitchFamily="34" charset="0"/>
              </a:rPr>
              <a:t>The plaintext is broken into blocks, P</a:t>
            </a:r>
            <a:r>
              <a:rPr lang="en-AU" altLang="en-US" sz="2500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AU" altLang="en-US" sz="2500">
                <a:latin typeface="Arial" panose="020B0604020202020204" pitchFamily="34" charset="0"/>
                <a:cs typeface="Arial" panose="020B0604020202020204" pitchFamily="34" charset="0"/>
              </a:rPr>
              <a:t>, P</a:t>
            </a:r>
            <a:r>
              <a:rPr lang="en-AU" altLang="en-US" sz="25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AU" altLang="en-US" sz="2500">
                <a:latin typeface="Arial" panose="020B0604020202020204" pitchFamily="34" charset="0"/>
                <a:cs typeface="Arial" panose="020B0604020202020204" pitchFamily="34" charset="0"/>
              </a:rPr>
              <a:t>, P</a:t>
            </a:r>
            <a:r>
              <a:rPr lang="en-AU" altLang="en-US" sz="2500" baseline="-25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AU" altLang="en-US" sz="2500">
                <a:latin typeface="Arial" panose="020B0604020202020204" pitchFamily="34" charset="0"/>
                <a:cs typeface="Arial" panose="020B0604020202020204" pitchFamily="34" charset="0"/>
              </a:rPr>
              <a:t>, ...</a:t>
            </a:r>
          </a:p>
          <a:p>
            <a:pPr eaLnBrk="1" hangingPunct="1"/>
            <a:r>
              <a:rPr lang="en-AU" altLang="en-US" sz="2500">
                <a:latin typeface="Arial" panose="020B0604020202020204" pitchFamily="34" charset="0"/>
                <a:cs typeface="Arial" panose="020B0604020202020204" pitchFamily="34" charset="0"/>
              </a:rPr>
              <a:t>Each block is encrypted independently: </a:t>
            </a:r>
          </a:p>
          <a:p>
            <a:pPr eaLnBrk="1" hangingPunct="1">
              <a:buFontTx/>
              <a:buNone/>
            </a:pPr>
            <a:r>
              <a:rPr lang="en-AU" altLang="en-US" sz="2500">
                <a:latin typeface="Arial" panose="020B0604020202020204" pitchFamily="34" charset="0"/>
                <a:cs typeface="Arial" panose="020B0604020202020204" pitchFamily="34" charset="0"/>
              </a:rPr>
              <a:t>             C</a:t>
            </a:r>
            <a:r>
              <a:rPr lang="en-AU" altLang="en-US" sz="2500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AU" altLang="en-US" sz="2500">
                <a:latin typeface="Arial" panose="020B0604020202020204" pitchFamily="34" charset="0"/>
                <a:cs typeface="Arial" panose="020B0604020202020204" pitchFamily="34" charset="0"/>
              </a:rPr>
              <a:t> = E</a:t>
            </a:r>
            <a:r>
              <a:rPr lang="en-AU" altLang="en-US" sz="2500" baseline="-2500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AU" altLang="en-US" sz="2500">
                <a:latin typeface="Arial" panose="020B0604020202020204" pitchFamily="34" charset="0"/>
                <a:cs typeface="Arial" panose="020B0604020202020204" pitchFamily="34" charset="0"/>
              </a:rPr>
              <a:t>(P</a:t>
            </a:r>
            <a:r>
              <a:rPr lang="en-AU" altLang="en-US" sz="2500" baseline="-25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AU" altLang="en-US" sz="25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eaLnBrk="1" hangingPunct="1"/>
            <a:r>
              <a:rPr lang="en-AU" altLang="en-US" sz="2500">
                <a:latin typeface="Arial" panose="020B0604020202020204" pitchFamily="34" charset="0"/>
                <a:cs typeface="Arial" panose="020B0604020202020204" pitchFamily="34" charset="0"/>
              </a:rPr>
              <a:t>For a given key, this mode behaves like we have a gigantic codebook, in which each plaintext block has an entry, hence the name Electronic Code Book 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20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endParaRPr lang="en-AU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2" name="Slide Number Placeholder 4">
            <a:extLst>
              <a:ext uri="{FF2B5EF4-FFF2-40B4-BE49-F238E27FC236}">
                <a16:creationId xmlns:a16="http://schemas.microsoft.com/office/drawing/2014/main" id="{EE58117B-9D55-07E9-C1FE-B4DABB95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4CC7217-9532-405D-9274-11163E47DB45}" type="slidenum">
              <a:rPr lang="en-US" altLang="en-US" sz="1400" baseline="0"/>
              <a:pPr eaLnBrk="1" hangingPunct="1"/>
              <a:t>5</a:t>
            </a:fld>
            <a:endParaRPr lang="en-US" altLang="en-US" sz="1400" baseline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>
            <a:extLst>
              <a:ext uri="{FF2B5EF4-FFF2-40B4-BE49-F238E27FC236}">
                <a16:creationId xmlns:a16="http://schemas.microsoft.com/office/drawing/2014/main" id="{18865A2F-05DE-0381-47F7-CA69B943A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400" baseline="0" dirty="0"/>
          </a:p>
        </p:txBody>
      </p:sp>
      <p:sp>
        <p:nvSpPr>
          <p:cNvPr id="38915" name="Slide Number Placeholder 4">
            <a:extLst>
              <a:ext uri="{FF2B5EF4-FFF2-40B4-BE49-F238E27FC236}">
                <a16:creationId xmlns:a16="http://schemas.microsoft.com/office/drawing/2014/main" id="{19B158CC-B65A-9230-FD2F-648D760DB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C923892-DC1F-4704-8890-5C52F8875E8B}" type="slidenum">
              <a:rPr lang="en-US" altLang="en-US" sz="1400" baseline="0"/>
              <a:pPr eaLnBrk="1" hangingPunct="1"/>
              <a:t>6</a:t>
            </a:fld>
            <a:endParaRPr lang="en-US" altLang="en-US" sz="1400" baseline="0"/>
          </a:p>
        </p:txBody>
      </p:sp>
      <p:pic>
        <p:nvPicPr>
          <p:cNvPr id="38916" name="Picture 2">
            <a:extLst>
              <a:ext uri="{FF2B5EF4-FFF2-40B4-BE49-F238E27FC236}">
                <a16:creationId xmlns:a16="http://schemas.microsoft.com/office/drawing/2014/main" id="{5D3E698B-4661-E43D-76EA-6BC58461D9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219200"/>
            <a:ext cx="7848600" cy="4876800"/>
          </a:xfr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C450676-ED11-0553-E69F-342BE608E7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219200"/>
          </a:xfrm>
        </p:spPr>
        <p:txBody>
          <a:bodyPr/>
          <a:lstStyle/>
          <a:p>
            <a:pPr eaLnBrk="1" hangingPunct="1"/>
            <a:r>
              <a:rPr lang="en-AU" altLang="en-US" sz="3600">
                <a:latin typeface="Arial" panose="020B0604020202020204" pitchFamily="34" charset="0"/>
                <a:cs typeface="Arial" panose="020B0604020202020204" pitchFamily="34" charset="0"/>
              </a:rPr>
              <a:t>Remarks on ECB</a:t>
            </a:r>
            <a:endParaRPr lang="en-AU" altLang="en-US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3C17418-631C-0CE9-1A7E-A8AAAC6DA9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0"/>
            <a:ext cx="7772400" cy="4724400"/>
          </a:xfrm>
        </p:spPr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Strength: it’s simple.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Weakness: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Repetitive information contained in the plaintext</a:t>
            </a: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 may show in the cipher text, if aligned with blocks.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If the same message is encrypted (with the same key) and sent twice, their cipher texts are the same.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 application: secure transmission of short pieces of information (e.g. a temporary encryption key)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40" name="Slide Number Placeholder 4">
            <a:extLst>
              <a:ext uri="{FF2B5EF4-FFF2-40B4-BE49-F238E27FC236}">
                <a16:creationId xmlns:a16="http://schemas.microsoft.com/office/drawing/2014/main" id="{C51B35BF-8998-9C15-3CE4-5EE3F7BC1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814CB19-1031-4FC2-A2E9-F6CFA543AC44}" type="slidenum">
              <a:rPr lang="en-US" altLang="en-US" sz="1400" baseline="0"/>
              <a:pPr eaLnBrk="1" hangingPunct="1"/>
              <a:t>7</a:t>
            </a:fld>
            <a:endParaRPr lang="en-US" altLang="en-US" sz="1400" baseline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>
            <a:extLst>
              <a:ext uri="{FF2B5EF4-FFF2-40B4-BE49-F238E27FC236}">
                <a16:creationId xmlns:a16="http://schemas.microsoft.com/office/drawing/2014/main" id="{14638FB9-7770-D60C-AD36-DB3F3C894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Cipher Block Chaining (CBC) 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715A7B14-C56D-1FEB-25D3-C4826975E7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6450" y="1644651"/>
          <a:ext cx="8083550" cy="451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22480" imgH="2133360" progId="Equation.DSMT4">
                  <p:embed/>
                </p:oleObj>
              </mc:Choice>
              <mc:Fallback>
                <p:oleObj name="Equation" r:id="rId2" imgW="3822480" imgH="2133360" progId="Equation.DSMT4">
                  <p:embed/>
                  <p:pic>
                    <p:nvPicPr>
                      <p:cNvPr id="3074" name="Object 2">
                        <a:extLst>
                          <a:ext uri="{FF2B5EF4-FFF2-40B4-BE49-F238E27FC236}">
                            <a16:creationId xmlns:a16="http://schemas.microsoft.com/office/drawing/2014/main" id="{715A7B14-C56D-1FEB-25D3-C4826975E7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1644651"/>
                        <a:ext cx="8083550" cy="4511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Slide Number Placeholder 5">
            <a:extLst>
              <a:ext uri="{FF2B5EF4-FFF2-40B4-BE49-F238E27FC236}">
                <a16:creationId xmlns:a16="http://schemas.microsoft.com/office/drawing/2014/main" id="{DE1FB079-4A22-5B38-C2EC-425BA959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72DC79F-8A35-4B8A-AF91-BEFEECEB8779}" type="slidenum">
              <a:rPr lang="en-US" altLang="en-US" sz="1400" baseline="0"/>
              <a:pPr eaLnBrk="1" hangingPunct="1"/>
              <a:t>8</a:t>
            </a:fld>
            <a:endParaRPr lang="en-US" altLang="en-US" sz="1400" baseline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6">
            <a:extLst>
              <a:ext uri="{FF2B5EF4-FFF2-40B4-BE49-F238E27FC236}">
                <a16:creationId xmlns:a16="http://schemas.microsoft.com/office/drawing/2014/main" id="{8C277926-A973-09F8-FA07-6ACCB294F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57201"/>
            <a:ext cx="4865434" cy="543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AU" altLang="en-US" sz="4400">
                <a:solidFill>
                  <a:srgbClr val="1F497D"/>
                </a:solidFill>
              </a:rPr>
              <a:t>Cipher Block Chaining (CBC) </a:t>
            </a:r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40963" name="Slide Number Placeholder 5">
            <a:extLst>
              <a:ext uri="{FF2B5EF4-FFF2-40B4-BE49-F238E27FC236}">
                <a16:creationId xmlns:a16="http://schemas.microsoft.com/office/drawing/2014/main" id="{BC9A4141-7742-55B4-B9C5-F30D3729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80C4B7C-8D89-422A-9522-E37CC0AADF4A}" type="slidenum">
              <a:rPr lang="en-US" altLang="en-US" sz="1400" baseline="0"/>
              <a:pPr eaLnBrk="1" hangingPunct="1"/>
              <a:t>9</a:t>
            </a:fld>
            <a:endParaRPr lang="en-US" altLang="en-US" sz="1400" baseline="0"/>
          </a:p>
        </p:txBody>
      </p:sp>
      <p:pic>
        <p:nvPicPr>
          <p:cNvPr id="40964" name="Picture 5">
            <a:extLst>
              <a:ext uri="{FF2B5EF4-FFF2-40B4-BE49-F238E27FC236}">
                <a16:creationId xmlns:a16="http://schemas.microsoft.com/office/drawing/2014/main" id="{4CAE9BE1-F5A3-0246-9B00-CF9D9A1B9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524000"/>
            <a:ext cx="6986588" cy="496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3E4A8459-EDD8-483F-A6B7-CB029D34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Remarks on CBC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45163B6A-059F-3FED-E0A4-7CB2086BB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AU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AU" altLang="en-US" sz="2700" dirty="0">
                <a:latin typeface="Arial" panose="020B0604020202020204" pitchFamily="34" charset="0"/>
                <a:cs typeface="Arial" panose="020B0604020202020204" pitchFamily="34" charset="0"/>
              </a:rPr>
              <a:t>The encryption of a block depends on the current and </a:t>
            </a:r>
            <a:r>
              <a:rPr lang="en-AU" alt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AU" altLang="en-US" sz="2700" dirty="0">
                <a:latin typeface="Arial" panose="020B0604020202020204" pitchFamily="34" charset="0"/>
                <a:cs typeface="Arial" panose="020B0604020202020204" pitchFamily="34" charset="0"/>
              </a:rPr>
              <a:t> blocks before it.</a:t>
            </a:r>
          </a:p>
          <a:p>
            <a:pPr eaLnBrk="1" hangingPunct="1"/>
            <a:endParaRPr lang="en-AU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AU" altLang="en-US" sz="2700" dirty="0">
                <a:latin typeface="Arial" panose="020B0604020202020204" pitchFamily="34" charset="0"/>
                <a:cs typeface="Arial" panose="020B0604020202020204" pitchFamily="34" charset="0"/>
              </a:rPr>
              <a:t>So, repeated plaintext blocks are encrypted differently.</a:t>
            </a:r>
          </a:p>
          <a:p>
            <a:pPr eaLnBrk="1" hangingPunct="1"/>
            <a:endParaRPr lang="en-AU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AU" altLang="en-US" sz="2700" dirty="0">
                <a:latin typeface="Arial" panose="020B0604020202020204" pitchFamily="34" charset="0"/>
                <a:cs typeface="Arial" panose="020B0604020202020204" pitchFamily="34" charset="0"/>
              </a:rPr>
              <a:t>Initialization Vector (IV)</a:t>
            </a:r>
          </a:p>
          <a:p>
            <a:pPr lvl="1" eaLnBrk="1" hangingPunct="1"/>
            <a:r>
              <a:rPr lang="en-AU" altLang="en-US" dirty="0">
                <a:latin typeface="Arial" panose="020B0604020202020204" pitchFamily="34" charset="0"/>
                <a:cs typeface="Arial" panose="020B0604020202020204" pitchFamily="34" charset="0"/>
              </a:rPr>
              <a:t>Must be known to both the sender &amp; receiver</a:t>
            </a:r>
          </a:p>
          <a:p>
            <a:pPr lvl="1" eaLnBrk="1" hangingPunct="1"/>
            <a:r>
              <a:rPr lang="en-AU" altLang="en-US" dirty="0">
                <a:latin typeface="Arial" panose="020B0604020202020204" pitchFamily="34" charset="0"/>
                <a:cs typeface="Arial" panose="020B0604020202020204" pitchFamily="34" charset="0"/>
              </a:rPr>
              <a:t>Typically,  IV is either a fixed value or is sent encrypted in ECB mode before the rest of ciphertext.</a:t>
            </a:r>
          </a:p>
          <a:p>
            <a:pPr eaLnBrk="1" hangingPunct="1">
              <a:lnSpc>
                <a:spcPct val="90000"/>
              </a:lnSpc>
            </a:pPr>
            <a:endParaRPr lang="en-US" alt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88" name="Slide Number Placeholder 4">
            <a:extLst>
              <a:ext uri="{FF2B5EF4-FFF2-40B4-BE49-F238E27FC236}">
                <a16:creationId xmlns:a16="http://schemas.microsoft.com/office/drawing/2014/main" id="{A1E7E1FB-6BFA-56E0-7269-A439B96D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28A4586-2B3B-40AB-B187-E151BDCC3C0B}" type="slidenum">
              <a:rPr lang="en-US" altLang="en-US" sz="1400" baseline="0"/>
              <a:pPr eaLnBrk="1" hangingPunct="1"/>
              <a:t>10</a:t>
            </a:fld>
            <a:endParaRPr lang="en-US" altLang="en-US" sz="1400" baseline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54238782-F9A0-7DE8-3DB8-24F25CB7C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838200"/>
          </a:xfrm>
        </p:spPr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Cipher Feedback (CFB) Mode</a:t>
            </a:r>
            <a:endParaRPr lang="zh-TW" altLang="en-US"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F40853DE-D4DA-772B-DFE9-9B8D10CA9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301A310-5ACE-4A75-A04A-7B40A757AC97}" type="slidenum">
              <a:rPr lang="en-US" altLang="en-US" sz="1400" baseline="0"/>
              <a:pPr eaLnBrk="1" hangingPunct="1"/>
              <a:t>11</a:t>
            </a:fld>
            <a:endParaRPr lang="en-US" altLang="en-US" sz="1400" baseline="0"/>
          </a:p>
        </p:txBody>
      </p:sp>
      <p:pic>
        <p:nvPicPr>
          <p:cNvPr id="43012" name="Picture 4">
            <a:extLst>
              <a:ext uri="{FF2B5EF4-FFF2-40B4-BE49-F238E27FC236}">
                <a16:creationId xmlns:a16="http://schemas.microsoft.com/office/drawing/2014/main" id="{99D3132D-2915-0B8A-6BFD-DC1CD5B26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143000"/>
            <a:ext cx="7772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858E9B22-B158-5667-3672-9C82C5E65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Remark on CFB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EBC4701-8498-AA51-DD5F-0E8611D1F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25963"/>
          </a:xfrm>
        </p:spPr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The block cipher is used as a stream cipher.  </a:t>
            </a:r>
            <a:endParaRPr lang="en-AU" alt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Appropriate when data arrives in bits/bytes.</a:t>
            </a:r>
            <a:endParaRPr lang="en-AU" alt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s can be any value; a common value is s = 8.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A ciphertext segment depends on the current and all preceding plaintext segments.</a:t>
            </a:r>
            <a:endParaRPr lang="en-AU" alt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A corrupted ciphertext segment during transmission will affect the current and next several plaintext segments.</a:t>
            </a:r>
          </a:p>
          <a:p>
            <a:pPr lvl="1"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How many plaintext segments will be affected?</a:t>
            </a:r>
          </a:p>
        </p:txBody>
      </p:sp>
      <p:sp>
        <p:nvSpPr>
          <p:cNvPr id="44036" name="Slide Number Placeholder 4">
            <a:extLst>
              <a:ext uri="{FF2B5EF4-FFF2-40B4-BE49-F238E27FC236}">
                <a16:creationId xmlns:a16="http://schemas.microsoft.com/office/drawing/2014/main" id="{6C843D78-21BE-86CF-3DF7-98CA59E2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12D5EBC-386D-4072-AB3C-CF5B69EDE0A3}" type="slidenum">
              <a:rPr lang="en-US" altLang="en-US" sz="1400" baseline="0"/>
              <a:pPr eaLnBrk="1" hangingPunct="1"/>
              <a:t>12</a:t>
            </a:fld>
            <a:endParaRPr lang="en-US" altLang="en-US" sz="1400" baseline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3B586C56-BF46-BF92-7A58-1992530FC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r>
              <a:rPr lang="en-AU" altLang="en-US" dirty="0">
                <a:latin typeface="Arial" panose="020B0604020202020204" pitchFamily="34" charset="0"/>
                <a:cs typeface="Arial" panose="020B0604020202020204" pitchFamily="34" charset="0"/>
              </a:rPr>
              <a:t>Output Feedback (OFB) Mode</a:t>
            </a:r>
            <a:endParaRPr lang="en-US" altLang="en-US" dirty="0"/>
          </a:p>
        </p:txBody>
      </p:sp>
      <p:sp>
        <p:nvSpPr>
          <p:cNvPr id="45059" name="Footer Placeholder 3">
            <a:extLst>
              <a:ext uri="{FF2B5EF4-FFF2-40B4-BE49-F238E27FC236}">
                <a16:creationId xmlns:a16="http://schemas.microsoft.com/office/drawing/2014/main" id="{97D6B87A-8B27-C41C-0342-B7F5176F7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 baseline="0"/>
              <a:t>P.Jeevana Jyothi</a:t>
            </a:r>
          </a:p>
        </p:txBody>
      </p:sp>
      <p:sp>
        <p:nvSpPr>
          <p:cNvPr id="45060" name="Slide Number Placeholder 4">
            <a:extLst>
              <a:ext uri="{FF2B5EF4-FFF2-40B4-BE49-F238E27FC236}">
                <a16:creationId xmlns:a16="http://schemas.microsoft.com/office/drawing/2014/main" id="{311E010C-BAEE-46FA-4894-C9D31A50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D15EB96-B87E-431D-9B89-10E5E6AEAAF4}" type="slidenum">
              <a:rPr lang="en-US" altLang="en-US" sz="1400" baseline="0"/>
              <a:pPr eaLnBrk="1" hangingPunct="1"/>
              <a:t>13</a:t>
            </a:fld>
            <a:endParaRPr lang="en-US" altLang="en-US" sz="1400" baseline="0"/>
          </a:p>
        </p:txBody>
      </p:sp>
      <p:pic>
        <p:nvPicPr>
          <p:cNvPr id="45061" name="Picture 3">
            <a:extLst>
              <a:ext uri="{FF2B5EF4-FFF2-40B4-BE49-F238E27FC236}">
                <a16:creationId xmlns:a16="http://schemas.microsoft.com/office/drawing/2014/main" id="{06887236-43D5-A477-7E78-DA65E1525C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0" y="1600200"/>
            <a:ext cx="7543800" cy="4572000"/>
          </a:xfr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EC80FA1-4040-9705-5139-86F01294E8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Remark on OFB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A63660F-ED5C-8D9C-26F7-18CC8EF2B4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25963"/>
          </a:xfrm>
        </p:spPr>
        <p:txBody>
          <a:bodyPr/>
          <a:lstStyle/>
          <a:p>
            <a:pPr eaLnBrk="1" hangingPunct="1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The block cipher is used as a stream cipher.  </a:t>
            </a:r>
          </a:p>
          <a:p>
            <a:pPr eaLnBrk="1" hangingPunct="1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Appropriate when data arrives in bits/bytes.</a:t>
            </a:r>
          </a:p>
          <a:p>
            <a:pPr eaLnBrk="1" hangingPunct="1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Advantage:  </a:t>
            </a:r>
          </a:p>
          <a:p>
            <a:pPr lvl="1" eaLnBrk="1" hangingPunct="1"/>
            <a:r>
              <a:rPr lang="en-AU" altLang="en-US" sz="2000">
                <a:latin typeface="Arial" panose="020B0604020202020204" pitchFamily="34" charset="0"/>
                <a:cs typeface="Arial" panose="020B0604020202020204" pitchFamily="34" charset="0"/>
              </a:rPr>
              <a:t>more resistant to transmission errors; a bit error in a ciphertext segment affects only the decryption of that segment.</a:t>
            </a:r>
          </a:p>
          <a:p>
            <a:pPr eaLnBrk="1" hangingPunct="1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Disadvantage: </a:t>
            </a:r>
          </a:p>
          <a:p>
            <a:pPr lvl="1" eaLnBrk="1" hangingPunct="1"/>
            <a:r>
              <a:rPr lang="en-AU" altLang="en-US" sz="2000">
                <a:latin typeface="Arial" panose="020B0604020202020204" pitchFamily="34" charset="0"/>
                <a:cs typeface="Arial" panose="020B0604020202020204" pitchFamily="34" charset="0"/>
              </a:rPr>
              <a:t>Cannot recover from lost ciphertext segments;  if a ciphertext segment is lost, all following segments will be decrypted incorrectly (if the receiver is not aware of the segment loss).</a:t>
            </a:r>
          </a:p>
          <a:p>
            <a:pPr eaLnBrk="1" hangingPunct="1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IV should be generated randomly each time and sent with the ciphertext.</a:t>
            </a:r>
          </a:p>
          <a:p>
            <a:pPr lvl="1" eaLnBrk="1" hangingPunct="1">
              <a:lnSpc>
                <a:spcPct val="130000"/>
              </a:lnSpc>
            </a:pPr>
            <a:endParaRPr lang="en-AU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4" name="Slide Number Placeholder 4">
            <a:extLst>
              <a:ext uri="{FF2B5EF4-FFF2-40B4-BE49-F238E27FC236}">
                <a16:creationId xmlns:a16="http://schemas.microsoft.com/office/drawing/2014/main" id="{86A0DF8D-B640-40FA-35AE-BB24A087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4C24655-05C0-461E-9865-C10D2AA45A02}" type="slidenum">
              <a:rPr lang="en-US" altLang="en-US" sz="1400" baseline="0"/>
              <a:pPr eaLnBrk="1" hangingPunct="1"/>
              <a:t>14</a:t>
            </a:fld>
            <a:endParaRPr lang="en-US" altLang="en-US" sz="1400" baseline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D9D4512-F72E-AEF7-0407-94DE99764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Counter Mode (CTR)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B700C85-E410-EEB2-DDB8-CE22259BB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29600" cy="4800600"/>
          </a:xfrm>
        </p:spPr>
        <p:txBody>
          <a:bodyPr/>
          <a:lstStyle/>
          <a:p>
            <a:r>
              <a:rPr lang="en-US" altLang="zh-TW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Plaintext blocks:  </a:t>
            </a:r>
            <a:r>
              <a:rPr lang="en-US" altLang="zh-TW" i="1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</a:t>
            </a:r>
            <a:r>
              <a:rPr lang="en-US" altLang="zh-TW" baseline="-2500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1</a:t>
            </a:r>
            <a:r>
              <a:rPr lang="en-US" altLang="zh-TW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, </a:t>
            </a:r>
            <a:r>
              <a:rPr lang="en-US" altLang="zh-TW" i="1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</a:t>
            </a:r>
            <a:r>
              <a:rPr lang="en-US" altLang="zh-TW" baseline="-2500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2</a:t>
            </a:r>
            <a:r>
              <a:rPr lang="en-US" altLang="zh-TW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, </a:t>
            </a:r>
            <a:r>
              <a:rPr lang="en-US" altLang="zh-TW" i="1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p</a:t>
            </a:r>
            <a:r>
              <a:rPr lang="en-US" altLang="zh-TW" baseline="-2500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3</a:t>
            </a:r>
            <a:r>
              <a:rPr lang="en-US" altLang="zh-TW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, …</a:t>
            </a:r>
            <a:r>
              <a:rPr lang="en-US" altLang="zh-TW" baseline="-2500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</a:t>
            </a:r>
          </a:p>
          <a:p>
            <a:r>
              <a:rPr lang="en-US" altLang="zh-TW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Key: </a:t>
            </a:r>
            <a:r>
              <a:rPr lang="en-US" altLang="zh-TW" i="1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k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Encryption:  </a:t>
            </a:r>
          </a:p>
          <a:p>
            <a:pPr lvl="1" eaLnBrk="1" hangingPunct="1">
              <a:buFontTx/>
              <a:buNone/>
            </a:pPr>
            <a:endParaRPr lang="en-AU" altLang="en-US">
              <a:latin typeface="Courier New" panose="02070309020205020404" pitchFamily="49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en-US" sz="1300"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pic>
        <p:nvPicPr>
          <p:cNvPr id="47108" name="Picture 2">
            <a:extLst>
              <a:ext uri="{FF2B5EF4-FFF2-40B4-BE49-F238E27FC236}">
                <a16:creationId xmlns:a16="http://schemas.microsoft.com/office/drawing/2014/main" id="{701DE95A-D3DA-F330-A5BA-A5867F296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276600"/>
            <a:ext cx="67818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9" name="Slide Number Placeholder 5">
            <a:extLst>
              <a:ext uri="{FF2B5EF4-FFF2-40B4-BE49-F238E27FC236}">
                <a16:creationId xmlns:a16="http://schemas.microsoft.com/office/drawing/2014/main" id="{1DED5BE3-B313-B363-F9D6-D4923B06D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00058A5-298B-4762-8023-FA74E9CC73D8}" type="slidenum">
              <a:rPr lang="en-US" altLang="en-US" sz="1400" baseline="0"/>
              <a:pPr eaLnBrk="1" hangingPunct="1"/>
              <a:t>15</a:t>
            </a:fld>
            <a:endParaRPr lang="en-US" altLang="en-US" sz="1400" baseline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1FC48D7-6D61-8E06-1744-D43AA2AC61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Remark on CTR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E1FD505-2009-3C56-FA5A-0D56D013F8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382000" cy="452596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Strengthes:  </a:t>
            </a:r>
          </a:p>
          <a:p>
            <a:pPr lvl="1" eaLnBrk="1" hangingPunct="1">
              <a:lnSpc>
                <a:spcPct val="120000"/>
              </a:lnSpc>
            </a:pP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Needs only the encryption algorithm</a:t>
            </a:r>
          </a:p>
          <a:p>
            <a:pPr lvl="1" eaLnBrk="1" hangingPunct="1">
              <a:lnSpc>
                <a:spcPct val="120000"/>
              </a:lnSpc>
            </a:pP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Fast encryption/decryption; blocks can be processed (encrypted or decrypted) in parallel; good for high speed links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Random access to encrypted data blocks</a:t>
            </a:r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IV should not be reused.</a:t>
            </a:r>
          </a:p>
          <a:p>
            <a:pPr lvl="1" eaLnBrk="1" hangingPunct="1"/>
            <a:endParaRPr lang="en-A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32" name="Slide Number Placeholder 4">
            <a:extLst>
              <a:ext uri="{FF2B5EF4-FFF2-40B4-BE49-F238E27FC236}">
                <a16:creationId xmlns:a16="http://schemas.microsoft.com/office/drawing/2014/main" id="{175A6179-2DE2-FCDE-E1F7-FCBDF9BB4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F6FD1A2-8E22-48BD-8C5B-91F35AA91A72}" type="slidenum">
              <a:rPr lang="en-US" altLang="en-US" sz="1400" baseline="0"/>
              <a:pPr eaLnBrk="1" hangingPunct="1"/>
              <a:t>16</a:t>
            </a:fld>
            <a:endParaRPr lang="en-US" altLang="en-US" sz="1400" baseline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572</Words>
  <Application>Microsoft Office PowerPoint</Application>
  <PresentationFormat>Widescreen</PresentationFormat>
  <Paragraphs>93</Paragraphs>
  <Slides>16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Courier New</vt:lpstr>
      <vt:lpstr>Times New Roman</vt:lpstr>
      <vt:lpstr>Wingdings</vt:lpstr>
      <vt:lpstr>Office Theme</vt:lpstr>
      <vt:lpstr>Equation</vt:lpstr>
      <vt:lpstr>Module 2</vt:lpstr>
      <vt:lpstr>Cipher Block Modes of Operations</vt:lpstr>
      <vt:lpstr>How to use a block cipher?</vt:lpstr>
      <vt:lpstr>Five Modes of Operation</vt:lpstr>
      <vt:lpstr>Electronic Code Book (ECB)</vt:lpstr>
      <vt:lpstr>PowerPoint Presentation</vt:lpstr>
      <vt:lpstr>Remarks on ECB</vt:lpstr>
      <vt:lpstr>Cipher Block Chaining (CBC) </vt:lpstr>
      <vt:lpstr>PowerPoint Presentation</vt:lpstr>
      <vt:lpstr>Remarks on CBC</vt:lpstr>
      <vt:lpstr>Cipher Feedback (CFB) Mode</vt:lpstr>
      <vt:lpstr>Remark on CFB</vt:lpstr>
      <vt:lpstr>Output Feedback (OFB) Mode</vt:lpstr>
      <vt:lpstr>Remark on OFB</vt:lpstr>
      <vt:lpstr>Counter Mode (CTR)</vt:lpstr>
      <vt:lpstr>Remark on CTR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JEEVANAJYOTHI PUJARI 20123</dc:creator>
  <cp:lastModifiedBy>Sreethar S</cp:lastModifiedBy>
  <cp:revision>3</cp:revision>
  <dcterms:created xsi:type="dcterms:W3CDTF">2024-01-23T00:32:45Z</dcterms:created>
  <dcterms:modified xsi:type="dcterms:W3CDTF">2024-02-08T05:17:30Z</dcterms:modified>
</cp:coreProperties>
</file>