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8"/>
  </p:notesMasterIdLst>
  <p:sldIdLst>
    <p:sldId id="256" r:id="rId2"/>
    <p:sldId id="321" r:id="rId3"/>
    <p:sldId id="322" r:id="rId4"/>
    <p:sldId id="323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320" r:id="rId22"/>
    <p:sldId id="324" r:id="rId23"/>
    <p:sldId id="273" r:id="rId24"/>
    <p:sldId id="325" r:id="rId25"/>
    <p:sldId id="327" r:id="rId26"/>
    <p:sldId id="328" r:id="rId27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0" autoAdjust="0"/>
    <p:restoredTop sz="94061" autoAdjust="0"/>
  </p:normalViewPr>
  <p:slideViewPr>
    <p:cSldViewPr>
      <p:cViewPr varScale="1">
        <p:scale>
          <a:sx n="72" d="100"/>
          <a:sy n="72" d="100"/>
        </p:scale>
        <p:origin x="1460" y="7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6D3529-94CF-4E17-BEB5-EC0ADDF5A6E2}" type="datetimeFigureOut">
              <a:rPr lang="en-IN" smtClean="0"/>
              <a:t>31-01-2024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29343D-6C3D-4A89-9735-FF8F0E4D31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22927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29343D-6C3D-4A89-9735-FF8F0E4D315E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70808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1/31/2024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1/31/2024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1/31/2024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1/31/2024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1/31/2024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>
  <p:cSld name="Title and Tex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B5858-FFB0-44DA-7EA3-5BE6878F6D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7710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C67EE0-CD75-D5CA-5800-E603A124F087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8229600" cy="16004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ACD3E7-B77A-5D2B-42BD-CBE68B5AC3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" y="3938590"/>
            <a:ext cx="8229600" cy="16004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9D44A4-BC14-71A0-49FC-9E3B09E0C73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276999"/>
          </a:xfrm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FB3721-20EE-FCB3-7877-09FD82681F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276999"/>
          </a:xfrm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B5944A-324A-29D2-0800-9FB578822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276999"/>
          </a:xfrm>
        </p:spPr>
        <p:txBody>
          <a:bodyPr/>
          <a:lstStyle>
            <a:lvl1pPr>
              <a:defRPr/>
            </a:lvl1pPr>
          </a:lstStyle>
          <a:p>
            <a:fld id="{6947ACC5-52E6-473B-87DF-993362454943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8516135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66927" y="83261"/>
            <a:ext cx="7610144" cy="14126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6244" y="1510650"/>
            <a:ext cx="8002270" cy="4319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1/31/2024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36244" y="1609420"/>
            <a:ext cx="7660640" cy="29521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6870" marR="5080" indent="-34480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6870" algn="l"/>
              </a:tabLst>
            </a:pPr>
            <a:r>
              <a:rPr sz="3200" dirty="0">
                <a:latin typeface="Calibri"/>
                <a:cs typeface="Calibri"/>
              </a:rPr>
              <a:t>IDEA:</a:t>
            </a:r>
            <a:r>
              <a:rPr sz="3200" spc="-12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Primitive</a:t>
            </a:r>
            <a:r>
              <a:rPr sz="3200" spc="-114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operations-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Key</a:t>
            </a:r>
            <a:r>
              <a:rPr sz="3200" spc="-114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expansions- </a:t>
            </a:r>
            <a:r>
              <a:rPr sz="3200" dirty="0">
                <a:latin typeface="Calibri"/>
                <a:cs typeface="Calibri"/>
              </a:rPr>
              <a:t>One</a:t>
            </a:r>
            <a:r>
              <a:rPr sz="3200" spc="-10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round,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Odd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round,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Even</a:t>
            </a:r>
            <a:r>
              <a:rPr sz="3200" spc="-114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Round-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Inverse keys</a:t>
            </a:r>
            <a:r>
              <a:rPr sz="3200" spc="-1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for</a:t>
            </a:r>
            <a:r>
              <a:rPr sz="3200" spc="-1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decryption.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AES:</a:t>
            </a:r>
            <a:r>
              <a:rPr sz="3200" spc="-12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Basic</a:t>
            </a:r>
            <a:r>
              <a:rPr sz="3200" spc="-11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Structure- </a:t>
            </a:r>
            <a:r>
              <a:rPr sz="3200" dirty="0">
                <a:latin typeface="Calibri"/>
                <a:cs typeface="Calibri"/>
              </a:rPr>
              <a:t>Primitive</a:t>
            </a:r>
            <a:r>
              <a:rPr sz="3200" spc="-1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operation-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Inverse</a:t>
            </a:r>
            <a:r>
              <a:rPr sz="3200" spc="-1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Cipher-</a:t>
            </a:r>
            <a:r>
              <a:rPr sz="3200" spc="-11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Key </a:t>
            </a:r>
            <a:r>
              <a:rPr sz="3200" dirty="0">
                <a:latin typeface="Calibri"/>
                <a:cs typeface="Calibri"/>
              </a:rPr>
              <a:t>Expansion,</a:t>
            </a:r>
            <a:r>
              <a:rPr sz="3200" spc="-1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Rounds,</a:t>
            </a:r>
            <a:r>
              <a:rPr sz="3200" spc="-1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Inverse</a:t>
            </a:r>
            <a:r>
              <a:rPr sz="3200" spc="-1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Rounds.</a:t>
            </a:r>
            <a:r>
              <a:rPr sz="3200" spc="-13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Stream </a:t>
            </a:r>
            <a:r>
              <a:rPr sz="3200" dirty="0">
                <a:latin typeface="Calibri"/>
                <a:cs typeface="Calibri"/>
              </a:rPr>
              <a:t>Cipher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–RC4.</a:t>
            </a:r>
            <a:endParaRPr sz="3200" dirty="0">
              <a:latin typeface="Calibri"/>
              <a:cs typeface="Calibri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6F754C35-FE4A-6ACD-B4DB-1E02C3C43DEB}"/>
              </a:ext>
            </a:extLst>
          </p:cNvPr>
          <p:cNvSpPr txBox="1">
            <a:spLocks noChangeArrowheads="1"/>
          </p:cNvSpPr>
          <p:nvPr/>
        </p:nvSpPr>
        <p:spPr>
          <a:xfrm>
            <a:off x="381000" y="57904"/>
            <a:ext cx="8458200" cy="1354217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"/>
                <a:ea typeface="+mj-ea"/>
                <a:cs typeface="Calibri"/>
              </a:defRPr>
            </a:lvl1pPr>
          </a:lstStyle>
          <a:p>
            <a:pPr algn="ctr"/>
            <a:r>
              <a:rPr lang="en-US" altLang="zh-TW" dirty="0">
                <a:ea typeface="新細明體" panose="02020500000000000000" pitchFamily="18" charset="-120"/>
              </a:rPr>
              <a:t>International Data Encryption Algorithm (IDEA)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468554E1-315B-A194-FD1D-E5CCC4949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9680767-34D9-4190-B11A-D09651195677}" type="slidenum">
              <a:rPr lang="en-IN" smtClean="0"/>
              <a:pPr/>
              <a:t>2</a:t>
            </a:fld>
            <a:endParaRPr lang="en-US" altLang="zh-TW"/>
          </a:p>
        </p:txBody>
      </p:sp>
      <p:sp>
        <p:nvSpPr>
          <p:cNvPr id="5122" name="Rectangle 2">
            <a:extLst>
              <a:ext uri="{FF2B5EF4-FFF2-40B4-BE49-F238E27FC236}">
                <a16:creationId xmlns:a16="http://schemas.microsoft.com/office/drawing/2014/main" id="{F72F58D4-5647-5B66-0D77-FD36457F49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6927" y="83261"/>
            <a:ext cx="7610144" cy="677108"/>
          </a:xfrm>
        </p:spPr>
        <p:txBody>
          <a:bodyPr/>
          <a:lstStyle/>
          <a:p>
            <a:r>
              <a:rPr lang="en-US" altLang="zh-TW">
                <a:ea typeface="新細明體" panose="02020500000000000000" pitchFamily="18" charset="-120"/>
              </a:rPr>
              <a:t>Detailed description of IDEA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15272F06-B8A0-ADC6-0BC5-50C56971E4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6244" y="1510650"/>
            <a:ext cx="8074356" cy="3988784"/>
          </a:xfrm>
        </p:spPr>
        <p:txBody>
          <a:bodyPr/>
          <a:lstStyle/>
          <a:p>
            <a:pPr marL="457200" indent="-457200" algn="just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zh-TW" dirty="0">
                <a:ea typeface="新細明體" panose="02020500000000000000" pitchFamily="18" charset="-120"/>
              </a:rPr>
              <a:t>IDEA operates with 64-bit plaintext and cipher text blocks and is controlled by a 128-bit key Completely avoid substitution boxes and table lookups used in the block ciphers.</a:t>
            </a:r>
          </a:p>
          <a:p>
            <a:pPr algn="just">
              <a:lnSpc>
                <a:spcPct val="90000"/>
              </a:lnSpc>
            </a:pPr>
            <a:endParaRPr lang="en-US" altLang="zh-TW" dirty="0">
              <a:ea typeface="新細明體" panose="02020500000000000000" pitchFamily="18" charset="-120"/>
            </a:endParaRPr>
          </a:p>
          <a:p>
            <a:pPr marL="457200" indent="-457200" algn="just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zh-TW" dirty="0">
                <a:ea typeface="新細明體" panose="02020500000000000000" pitchFamily="18" charset="-120"/>
              </a:rPr>
              <a:t>The algorithm structure has been chosen such that when different key sub-blocks are used, the encryption process is identical to the decryption process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3E5D7C9F-5E6D-B5EB-3788-A8521D78E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9680767-34D9-4190-B11A-D09651195677}" type="slidenum">
              <a:rPr lang="en-IN" smtClean="0"/>
              <a:pPr/>
              <a:t>3</a:t>
            </a:fld>
            <a:endParaRPr lang="en-US" altLang="zh-TW"/>
          </a:p>
        </p:txBody>
      </p:sp>
      <p:sp>
        <p:nvSpPr>
          <p:cNvPr id="3074" name="Rectangle 2">
            <a:extLst>
              <a:ext uri="{FF2B5EF4-FFF2-40B4-BE49-F238E27FC236}">
                <a16:creationId xmlns:a16="http://schemas.microsoft.com/office/drawing/2014/main" id="{FB1E5E4B-7E10-0EE9-5989-AA948AABF7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6927" y="83261"/>
            <a:ext cx="7610144" cy="677108"/>
          </a:xfrm>
        </p:spPr>
        <p:txBody>
          <a:bodyPr/>
          <a:lstStyle/>
          <a:p>
            <a:r>
              <a:rPr lang="en-US" altLang="zh-TW">
                <a:ea typeface="新細明體" panose="02020500000000000000" pitchFamily="18" charset="-120"/>
              </a:rPr>
              <a:t>Overview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6EAF1463-0303-D8C0-36E5-9DA0E31302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9601" y="760368"/>
            <a:ext cx="8001000" cy="5041380"/>
          </a:xfrm>
        </p:spPr>
        <p:txBody>
          <a:bodyPr/>
          <a:lstStyle/>
          <a:p>
            <a:pPr marL="457200" indent="-457200" algn="just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zh-TW" sz="2800" dirty="0">
                <a:ea typeface="新細明體" panose="02020500000000000000" pitchFamily="18" charset="-120"/>
              </a:rPr>
              <a:t>DES algorithm has been a popular secret key encryption algorithm and is used in many commercial and financial applications.</a:t>
            </a:r>
          </a:p>
          <a:p>
            <a:pPr marL="457200" indent="-457200" algn="just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zh-TW" sz="2800" dirty="0">
                <a:ea typeface="新細明體" panose="02020500000000000000" pitchFamily="18" charset="-120"/>
              </a:rPr>
              <a:t> However, its key size is too small by current standards and its entire 56 bit key space can be searched in approximately 22 hours.</a:t>
            </a:r>
          </a:p>
          <a:p>
            <a:pPr marL="457200" indent="-457200" algn="just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zh-TW" sz="2800" dirty="0">
                <a:ea typeface="新細明體" panose="02020500000000000000" pitchFamily="18" charset="-120"/>
              </a:rPr>
              <a:t>IDEA</a:t>
            </a:r>
            <a:r>
              <a:rPr lang="en-US" altLang="en-US" sz="2800" dirty="0"/>
              <a:t> is a block cipher designed by </a:t>
            </a:r>
            <a:r>
              <a:rPr lang="en-US" altLang="en-US" sz="2800" dirty="0" err="1"/>
              <a:t>Xuejia</a:t>
            </a:r>
            <a:r>
              <a:rPr lang="en-US" altLang="en-US" sz="2800" dirty="0"/>
              <a:t> Lai and James L. Massey in 1991</a:t>
            </a:r>
            <a:r>
              <a:rPr lang="en-US" altLang="zh-TW" sz="2800" dirty="0">
                <a:ea typeface="新細明體" panose="02020500000000000000" pitchFamily="18" charset="-120"/>
              </a:rPr>
              <a:t> </a:t>
            </a:r>
          </a:p>
          <a:p>
            <a:pPr marL="457200" indent="-457200" algn="just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2800" dirty="0"/>
              <a:t>It is a minor revision of an earlier cipher, PES (</a:t>
            </a:r>
            <a:r>
              <a:rPr lang="en-US" altLang="zh-TW" sz="2800" dirty="0">
                <a:ea typeface="新細明體" panose="02020500000000000000" pitchFamily="18" charset="-120"/>
              </a:rPr>
              <a:t>Proposed Encryption Standard</a:t>
            </a:r>
            <a:r>
              <a:rPr lang="en-US" altLang="en-US" sz="2800" dirty="0"/>
              <a:t>)</a:t>
            </a:r>
            <a:endParaRPr lang="en-US" altLang="zh-TW" sz="2800" dirty="0">
              <a:ea typeface="新細明體" panose="02020500000000000000" pitchFamily="18" charset="-120"/>
            </a:endParaRPr>
          </a:p>
          <a:p>
            <a:pPr marL="457200" indent="-457200" algn="just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2800" dirty="0"/>
              <a:t>IDEA was originally called </a:t>
            </a:r>
            <a:r>
              <a:rPr lang="en-US" altLang="zh-TW" sz="2800" dirty="0">
                <a:ea typeface="新細明體" panose="02020500000000000000" pitchFamily="18" charset="-120"/>
              </a:rPr>
              <a:t>IPES</a:t>
            </a:r>
            <a:r>
              <a:rPr lang="en-US" altLang="en-US" sz="2800" dirty="0"/>
              <a:t> (</a:t>
            </a:r>
            <a:r>
              <a:rPr lang="en-US" altLang="zh-TW" sz="2800" dirty="0">
                <a:ea typeface="新細明體" panose="02020500000000000000" pitchFamily="18" charset="-120"/>
              </a:rPr>
              <a:t>Improved PES) and was developed to replace DES</a:t>
            </a:r>
          </a:p>
          <a:p>
            <a:pPr algn="just">
              <a:lnSpc>
                <a:spcPct val="90000"/>
              </a:lnSpc>
            </a:pPr>
            <a:endParaRPr lang="en-US" altLang="zh-TW" sz="2800" dirty="0"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F918D28A-0D1F-18DD-DBF4-B717BCF66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9680767-34D9-4190-B11A-D09651195677}" type="slidenum">
              <a:rPr lang="en-IN" smtClean="0"/>
              <a:pPr/>
              <a:t>4</a:t>
            </a:fld>
            <a:endParaRPr lang="en-US" altLang="zh-TW"/>
          </a:p>
        </p:txBody>
      </p:sp>
      <p:sp>
        <p:nvSpPr>
          <p:cNvPr id="4098" name="Rectangle 2">
            <a:extLst>
              <a:ext uri="{FF2B5EF4-FFF2-40B4-BE49-F238E27FC236}">
                <a16:creationId xmlns:a16="http://schemas.microsoft.com/office/drawing/2014/main" id="{A24F9B53-33BB-B665-2507-374895E171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6927" y="83261"/>
            <a:ext cx="7610144" cy="677108"/>
          </a:xfrm>
        </p:spPr>
        <p:txBody>
          <a:bodyPr/>
          <a:lstStyle/>
          <a:p>
            <a:r>
              <a:rPr lang="en-US" altLang="zh-TW">
                <a:ea typeface="新細明體" panose="02020500000000000000" pitchFamily="18" charset="-120"/>
              </a:rPr>
              <a:t>Overview (cont’)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0A7D78FE-5C67-23AF-906D-EADE2C3321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828801"/>
            <a:ext cx="8229600" cy="2462213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TW" dirty="0">
                <a:ea typeface="新細明體" panose="02020500000000000000" pitchFamily="18" charset="-120"/>
              </a:rPr>
              <a:t>It entirely avoids the use of any lookup tables or S-boxes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dirty="0"/>
              <a:t>IDEA was used as the symmetric cipher in early versions of the Pretty Good Privacy cryptosystem</a:t>
            </a:r>
            <a:endParaRPr lang="en-US" altLang="zh-TW" dirty="0"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1143000"/>
            <a:ext cx="8229600" cy="506510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93369" rIns="0" bIns="0" rtlCol="0">
            <a:spAutoFit/>
          </a:bodyPr>
          <a:lstStyle/>
          <a:p>
            <a:pPr marL="3270250">
              <a:lnSpc>
                <a:spcPct val="100000"/>
              </a:lnSpc>
              <a:spcBef>
                <a:spcPts val="90"/>
              </a:spcBef>
            </a:pPr>
            <a:r>
              <a:rPr spc="-20" dirty="0"/>
              <a:t>IDEA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6244" y="1510650"/>
            <a:ext cx="6976745" cy="2367915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869"/>
              </a:spcBef>
              <a:buFont typeface="Arial MT"/>
              <a:buChar char="•"/>
              <a:tabLst>
                <a:tab pos="356870" algn="l"/>
              </a:tabLst>
            </a:pPr>
            <a:r>
              <a:rPr sz="3200" spc="-10" dirty="0">
                <a:latin typeface="Calibri"/>
                <a:cs typeface="Calibri"/>
              </a:rPr>
              <a:t>International</a:t>
            </a:r>
            <a:r>
              <a:rPr sz="3200" spc="-12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Data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Encryption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Algorithm</a:t>
            </a:r>
            <a:endParaRPr sz="320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6870" algn="l"/>
              </a:tabLst>
            </a:pPr>
            <a:r>
              <a:rPr sz="3200" dirty="0">
                <a:latin typeface="Calibri"/>
                <a:cs typeface="Calibri"/>
              </a:rPr>
              <a:t>Symmetric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block</a:t>
            </a:r>
            <a:r>
              <a:rPr sz="3200" spc="-14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cipher</a:t>
            </a:r>
            <a:endParaRPr sz="320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6870" algn="l"/>
              </a:tabLst>
            </a:pPr>
            <a:r>
              <a:rPr sz="3200" dirty="0">
                <a:latin typeface="Calibri"/>
                <a:cs typeface="Calibri"/>
              </a:rPr>
              <a:t>128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bit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key</a:t>
            </a:r>
            <a:endParaRPr sz="320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6870" algn="l"/>
              </a:tabLst>
            </a:pPr>
            <a:r>
              <a:rPr sz="3200" dirty="0">
                <a:latin typeface="Calibri"/>
                <a:cs typeface="Calibri"/>
              </a:rPr>
              <a:t>Encrypt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data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in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blocks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64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bits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93369" rIns="0" bIns="0" rtlCol="0">
            <a:spAutoFit/>
          </a:bodyPr>
          <a:lstStyle/>
          <a:p>
            <a:pPr marL="1181735">
              <a:lnSpc>
                <a:spcPct val="100000"/>
              </a:lnSpc>
              <a:spcBef>
                <a:spcPts val="90"/>
              </a:spcBef>
            </a:pPr>
            <a:r>
              <a:rPr spc="-10" dirty="0"/>
              <a:t>Cryptographic</a:t>
            </a:r>
            <a:r>
              <a:rPr spc="-180" dirty="0"/>
              <a:t> </a:t>
            </a:r>
            <a:r>
              <a:rPr spc="-10" dirty="0"/>
              <a:t>Strength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6244" y="1510650"/>
            <a:ext cx="5635956" cy="2367915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869"/>
              </a:spcBef>
              <a:buFont typeface="Arial MT"/>
              <a:buChar char="•"/>
              <a:tabLst>
                <a:tab pos="356870" algn="l"/>
              </a:tabLst>
            </a:pPr>
            <a:r>
              <a:rPr sz="3200" dirty="0">
                <a:latin typeface="Calibri"/>
                <a:cs typeface="Calibri"/>
              </a:rPr>
              <a:t>Block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Length</a:t>
            </a:r>
            <a:r>
              <a:rPr lang="en-US" sz="3200" spc="-10" dirty="0">
                <a:latin typeface="Calibri"/>
                <a:cs typeface="Calibri"/>
              </a:rPr>
              <a:t>:64 bits</a:t>
            </a:r>
            <a:endParaRPr sz="3200" dirty="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6870" algn="l"/>
              </a:tabLst>
            </a:pPr>
            <a:r>
              <a:rPr sz="3200" dirty="0">
                <a:latin typeface="Calibri"/>
                <a:cs typeface="Calibri"/>
              </a:rPr>
              <a:t>Key</a:t>
            </a:r>
            <a:r>
              <a:rPr sz="3200" spc="-114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Length</a:t>
            </a:r>
            <a:r>
              <a:rPr lang="en-US" sz="3200" spc="-10" dirty="0">
                <a:latin typeface="Calibri"/>
                <a:cs typeface="Calibri"/>
              </a:rPr>
              <a:t> :128 bits</a:t>
            </a:r>
            <a:endParaRPr sz="3200" dirty="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6870" algn="l"/>
              </a:tabLst>
            </a:pPr>
            <a:r>
              <a:rPr sz="3200" spc="-10" dirty="0">
                <a:latin typeface="Calibri"/>
                <a:cs typeface="Calibri"/>
              </a:rPr>
              <a:t>Confusion</a:t>
            </a:r>
            <a:endParaRPr sz="3200" dirty="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6870" algn="l"/>
              </a:tabLst>
            </a:pPr>
            <a:r>
              <a:rPr sz="3200" spc="-10" dirty="0">
                <a:latin typeface="Calibri"/>
                <a:cs typeface="Calibri"/>
              </a:rPr>
              <a:t>Diffusion</a:t>
            </a:r>
            <a:endParaRPr sz="3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93369" rIns="0" bIns="0" rtlCol="0">
            <a:spAutoFit/>
          </a:bodyPr>
          <a:lstStyle/>
          <a:p>
            <a:pPr marL="1983739">
              <a:lnSpc>
                <a:spcPct val="100000"/>
              </a:lnSpc>
              <a:spcBef>
                <a:spcPts val="90"/>
              </a:spcBef>
            </a:pPr>
            <a:r>
              <a:rPr dirty="0"/>
              <a:t>IDEA</a:t>
            </a:r>
            <a:r>
              <a:rPr spc="-114" dirty="0"/>
              <a:t> </a:t>
            </a:r>
            <a:r>
              <a:rPr spc="-10" dirty="0"/>
              <a:t>Encryption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6244" y="1510650"/>
            <a:ext cx="8302956" cy="5056511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 marL="356235" indent="-343535" algn="just">
              <a:lnSpc>
                <a:spcPct val="100000"/>
              </a:lnSpc>
              <a:spcBef>
                <a:spcPts val="869"/>
              </a:spcBef>
              <a:buFont typeface="Arial MT"/>
              <a:buChar char="•"/>
              <a:tabLst>
                <a:tab pos="356235" algn="l"/>
              </a:tabLst>
            </a:pPr>
            <a:r>
              <a:rPr sz="3200" dirty="0">
                <a:latin typeface="Calibri"/>
                <a:cs typeface="Calibri"/>
              </a:rPr>
              <a:t>plaintext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–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64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bits</a:t>
            </a:r>
            <a:endParaRPr sz="3200" dirty="0">
              <a:latin typeface="Calibri"/>
              <a:cs typeface="Calibri"/>
            </a:endParaRPr>
          </a:p>
          <a:p>
            <a:pPr marL="356235" indent="-343535" algn="just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6235" algn="l"/>
              </a:tabLst>
            </a:pPr>
            <a:r>
              <a:rPr sz="3200" dirty="0">
                <a:latin typeface="Calibri"/>
                <a:cs typeface="Calibri"/>
              </a:rPr>
              <a:t>Key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–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128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bits</a:t>
            </a:r>
            <a:endParaRPr sz="3200" dirty="0">
              <a:latin typeface="Calibri"/>
              <a:cs typeface="Calibri"/>
            </a:endParaRPr>
          </a:p>
          <a:p>
            <a:pPr marL="355600" marR="5080" indent="-343535" algn="just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6870" algn="l"/>
              </a:tabLst>
            </a:pPr>
            <a:r>
              <a:rPr sz="3200" dirty="0">
                <a:latin typeface="Calibri"/>
                <a:cs typeface="Calibri"/>
              </a:rPr>
              <a:t>8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rounds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followed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by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final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transformation 	function</a:t>
            </a:r>
            <a:endParaRPr lang="en-US" sz="3200" spc="-10" dirty="0">
              <a:latin typeface="Calibri"/>
              <a:cs typeface="Calibri"/>
            </a:endParaRPr>
          </a:p>
          <a:p>
            <a:pPr marL="355600" marR="5080" indent="-343535" algn="just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6870" algn="l"/>
              </a:tabLst>
            </a:pPr>
            <a:r>
              <a:rPr lang="en-IN" sz="3200" spc="-10" dirty="0">
                <a:latin typeface="Calibri"/>
                <a:cs typeface="Calibri"/>
              </a:rPr>
              <a:t>Sub key size :16 bits</a:t>
            </a:r>
          </a:p>
          <a:p>
            <a:pPr marL="355600" marR="5080" indent="-343535" algn="just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6870" algn="l"/>
              </a:tabLst>
            </a:pPr>
            <a:r>
              <a:rPr lang="en-IN" sz="3200" spc="-10" dirty="0">
                <a:latin typeface="Calibri"/>
                <a:cs typeface="Calibri"/>
              </a:rPr>
              <a:t>52 sub keys required</a:t>
            </a:r>
            <a:endParaRPr sz="3200" dirty="0">
              <a:latin typeface="Calibri"/>
              <a:cs typeface="Calibri"/>
            </a:endParaRPr>
          </a:p>
          <a:p>
            <a:pPr marL="355600" marR="5715" indent="-343535" algn="just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6870" algn="l"/>
              </a:tabLst>
            </a:pPr>
            <a:r>
              <a:rPr sz="3200" dirty="0">
                <a:latin typeface="Calibri"/>
                <a:cs typeface="Calibri"/>
              </a:rPr>
              <a:t>Each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rounds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makes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use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six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16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bit 	</a:t>
            </a:r>
            <a:r>
              <a:rPr sz="3200" spc="-10" dirty="0">
                <a:latin typeface="Calibri"/>
                <a:cs typeface="Calibri"/>
              </a:rPr>
              <a:t>subkeys,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where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as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final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transformation 	</a:t>
            </a:r>
            <a:r>
              <a:rPr sz="3200" dirty="0">
                <a:latin typeface="Calibri"/>
                <a:cs typeface="Calibri"/>
              </a:rPr>
              <a:t>uses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four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subkeys,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for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total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52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sub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keys</a:t>
            </a:r>
            <a:endParaRPr sz="3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00" y="0"/>
            <a:ext cx="8915400" cy="6324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93369" rIns="0" bIns="0" rtlCol="0">
            <a:spAutoFit/>
          </a:bodyPr>
          <a:lstStyle/>
          <a:p>
            <a:pPr marL="2788285">
              <a:lnSpc>
                <a:spcPct val="100000"/>
              </a:lnSpc>
              <a:spcBef>
                <a:spcPts val="90"/>
              </a:spcBef>
            </a:pPr>
            <a:r>
              <a:rPr spc="-10" dirty="0"/>
              <a:t>Diffusion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6244" y="1609420"/>
            <a:ext cx="7962900" cy="48063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6870" marR="440055" indent="-34480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6870" algn="l"/>
              </a:tabLst>
            </a:pPr>
            <a:r>
              <a:rPr sz="3200" dirty="0">
                <a:latin typeface="Calibri"/>
                <a:cs typeface="Calibri"/>
              </a:rPr>
              <a:t>Provided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by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basic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building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block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of </a:t>
            </a:r>
            <a:r>
              <a:rPr sz="3200" dirty="0">
                <a:latin typeface="Calibri"/>
                <a:cs typeface="Calibri"/>
              </a:rPr>
              <a:t>algorithm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known</a:t>
            </a:r>
            <a:r>
              <a:rPr sz="3200" spc="-2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as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Multiplication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Addition Structure.</a:t>
            </a:r>
            <a:endParaRPr sz="3200">
              <a:latin typeface="Calibri"/>
              <a:cs typeface="Calibri"/>
            </a:endParaRPr>
          </a:p>
          <a:p>
            <a:pPr marL="356870" marR="5080" indent="-344805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6870" algn="l"/>
              </a:tabLst>
            </a:pPr>
            <a:r>
              <a:rPr sz="3200" spc="-60" dirty="0">
                <a:latin typeface="Calibri"/>
                <a:cs typeface="Calibri"/>
              </a:rPr>
              <a:t>Takes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as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inputs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two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16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bit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values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derived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from </a:t>
            </a:r>
            <a:r>
              <a:rPr sz="3200" dirty="0">
                <a:latin typeface="Calibri"/>
                <a:cs typeface="Calibri"/>
              </a:rPr>
              <a:t>plaintext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&amp;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two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16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bit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subkeys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derived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from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key.</a:t>
            </a:r>
            <a:endParaRPr sz="320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775"/>
              </a:spcBef>
              <a:buFont typeface="Arial MT"/>
              <a:buChar char="•"/>
              <a:tabLst>
                <a:tab pos="356870" algn="l"/>
              </a:tabLst>
            </a:pPr>
            <a:r>
              <a:rPr sz="3200" dirty="0">
                <a:latin typeface="Calibri"/>
                <a:cs typeface="Calibri"/>
              </a:rPr>
              <a:t>Produces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two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16-</a:t>
            </a:r>
            <a:r>
              <a:rPr sz="3200" dirty="0">
                <a:latin typeface="Calibri"/>
                <a:cs typeface="Calibri"/>
              </a:rPr>
              <a:t>bit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outputs</a:t>
            </a:r>
            <a:endParaRPr sz="320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6870" algn="l"/>
              </a:tabLst>
            </a:pPr>
            <a:r>
              <a:rPr sz="3200" dirty="0">
                <a:latin typeface="Calibri"/>
                <a:cs typeface="Calibri"/>
              </a:rPr>
              <a:t>This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structure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is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repeated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8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times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in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algorithm</a:t>
            </a:r>
            <a:endParaRPr sz="320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6870" algn="l"/>
              </a:tabLst>
            </a:pPr>
            <a:r>
              <a:rPr sz="3200" dirty="0">
                <a:latin typeface="Calibri"/>
                <a:cs typeface="Calibri"/>
              </a:rPr>
              <a:t>Provides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very</a:t>
            </a:r>
            <a:r>
              <a:rPr sz="3200" spc="-13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effective</a:t>
            </a:r>
            <a:r>
              <a:rPr sz="3200" spc="-15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diffusion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62200" y="2057400"/>
            <a:ext cx="4953000" cy="356920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99055" marR="5080" indent="-219583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Multiplication</a:t>
            </a:r>
            <a:r>
              <a:rPr spc="-95" dirty="0"/>
              <a:t> </a:t>
            </a:r>
            <a:r>
              <a:rPr dirty="0"/>
              <a:t>Addition</a:t>
            </a:r>
            <a:r>
              <a:rPr spc="-165" dirty="0"/>
              <a:t> </a:t>
            </a:r>
            <a:r>
              <a:rPr spc="-20" dirty="0"/>
              <a:t>(MA) </a:t>
            </a:r>
            <a:r>
              <a:rPr spc="-10" dirty="0"/>
              <a:t>Structure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8166" rIns="0" bIns="0" rtlCol="0">
            <a:spAutoFit/>
          </a:bodyPr>
          <a:lstStyle/>
          <a:p>
            <a:pPr marL="3074670" marR="5080" indent="-2698750">
              <a:lnSpc>
                <a:spcPct val="100000"/>
              </a:lnSpc>
              <a:spcBef>
                <a:spcPts val="95"/>
              </a:spcBef>
            </a:pPr>
            <a:r>
              <a:rPr dirty="0"/>
              <a:t>Details</a:t>
            </a:r>
            <a:r>
              <a:rPr spc="-100" dirty="0"/>
              <a:t> </a:t>
            </a:r>
            <a:r>
              <a:rPr dirty="0"/>
              <a:t>of</a:t>
            </a:r>
            <a:r>
              <a:rPr spc="-110" dirty="0"/>
              <a:t> </a:t>
            </a:r>
            <a:r>
              <a:rPr dirty="0"/>
              <a:t>a</a:t>
            </a:r>
            <a:r>
              <a:rPr spc="-125" dirty="0"/>
              <a:t> </a:t>
            </a:r>
            <a:r>
              <a:rPr dirty="0"/>
              <a:t>Single</a:t>
            </a:r>
            <a:r>
              <a:rPr spc="-75" dirty="0"/>
              <a:t> </a:t>
            </a:r>
            <a:r>
              <a:rPr dirty="0"/>
              <a:t>Round-</a:t>
            </a:r>
            <a:r>
              <a:rPr spc="-90" dirty="0"/>
              <a:t> </a:t>
            </a:r>
            <a:r>
              <a:rPr spc="-25" dirty="0"/>
              <a:t>Odd </a:t>
            </a:r>
            <a:r>
              <a:rPr spc="-10" dirty="0"/>
              <a:t>Round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47800" y="1600200"/>
            <a:ext cx="6477000" cy="4876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8166" rIns="0" bIns="0" rtlCol="0">
            <a:spAutoFit/>
          </a:bodyPr>
          <a:lstStyle/>
          <a:p>
            <a:pPr marL="2699385" marR="5080" indent="-2323465">
              <a:lnSpc>
                <a:spcPct val="100000"/>
              </a:lnSpc>
              <a:spcBef>
                <a:spcPts val="95"/>
              </a:spcBef>
            </a:pPr>
            <a:r>
              <a:rPr dirty="0"/>
              <a:t>Details</a:t>
            </a:r>
            <a:r>
              <a:rPr spc="-100" dirty="0"/>
              <a:t> </a:t>
            </a:r>
            <a:r>
              <a:rPr dirty="0"/>
              <a:t>of</a:t>
            </a:r>
            <a:r>
              <a:rPr spc="-110" dirty="0"/>
              <a:t> </a:t>
            </a:r>
            <a:r>
              <a:rPr dirty="0"/>
              <a:t>a</a:t>
            </a:r>
            <a:r>
              <a:rPr spc="-125" dirty="0"/>
              <a:t> </a:t>
            </a:r>
            <a:r>
              <a:rPr dirty="0"/>
              <a:t>Single</a:t>
            </a:r>
            <a:r>
              <a:rPr spc="-75" dirty="0"/>
              <a:t> </a:t>
            </a:r>
            <a:r>
              <a:rPr dirty="0"/>
              <a:t>Round-</a:t>
            </a:r>
            <a:r>
              <a:rPr spc="-90" dirty="0"/>
              <a:t> </a:t>
            </a:r>
            <a:r>
              <a:rPr spc="-25" dirty="0"/>
              <a:t>Odd </a:t>
            </a:r>
            <a:r>
              <a:rPr dirty="0"/>
              <a:t>Round</a:t>
            </a:r>
            <a:r>
              <a:rPr spc="-210" dirty="0"/>
              <a:t> </a:t>
            </a:r>
            <a:r>
              <a:rPr spc="-25" dirty="0"/>
              <a:t>(1)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869"/>
              </a:spcBef>
              <a:buFont typeface="Arial MT"/>
              <a:buChar char="•"/>
              <a:tabLst>
                <a:tab pos="356870" algn="l"/>
              </a:tabLst>
            </a:pPr>
            <a:r>
              <a:rPr dirty="0"/>
              <a:t>Round</a:t>
            </a:r>
            <a:r>
              <a:rPr spc="-40" dirty="0"/>
              <a:t> </a:t>
            </a:r>
            <a:r>
              <a:rPr dirty="0"/>
              <a:t>begins</a:t>
            </a:r>
            <a:r>
              <a:rPr spc="-60" dirty="0"/>
              <a:t> </a:t>
            </a:r>
            <a:r>
              <a:rPr dirty="0"/>
              <a:t>with</a:t>
            </a:r>
            <a:r>
              <a:rPr spc="-85" dirty="0"/>
              <a:t> </a:t>
            </a:r>
            <a:r>
              <a:rPr dirty="0"/>
              <a:t>a</a:t>
            </a:r>
            <a:r>
              <a:rPr spc="-60" dirty="0"/>
              <a:t> </a:t>
            </a:r>
            <a:r>
              <a:rPr spc="-10" dirty="0"/>
              <a:t>transformation</a:t>
            </a:r>
          </a:p>
          <a:p>
            <a:pPr marL="356870" marR="157480" indent="-344805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6870" algn="l"/>
              </a:tabLst>
            </a:pPr>
            <a:r>
              <a:rPr dirty="0"/>
              <a:t>That</a:t>
            </a:r>
            <a:r>
              <a:rPr spc="-100" dirty="0"/>
              <a:t> </a:t>
            </a:r>
            <a:r>
              <a:rPr dirty="0"/>
              <a:t>combines</a:t>
            </a:r>
            <a:r>
              <a:rPr spc="-70" dirty="0"/>
              <a:t> </a:t>
            </a:r>
            <a:r>
              <a:rPr dirty="0"/>
              <a:t>four</a:t>
            </a:r>
            <a:r>
              <a:rPr spc="-95" dirty="0"/>
              <a:t> </a:t>
            </a:r>
            <a:r>
              <a:rPr dirty="0"/>
              <a:t>input</a:t>
            </a:r>
            <a:r>
              <a:rPr spc="-75" dirty="0"/>
              <a:t> </a:t>
            </a:r>
            <a:r>
              <a:rPr dirty="0"/>
              <a:t>subblocks</a:t>
            </a:r>
            <a:r>
              <a:rPr spc="-70" dirty="0"/>
              <a:t> </a:t>
            </a:r>
            <a:r>
              <a:rPr dirty="0"/>
              <a:t>with</a:t>
            </a:r>
            <a:r>
              <a:rPr spc="-110" dirty="0"/>
              <a:t> </a:t>
            </a:r>
            <a:r>
              <a:rPr spc="-20" dirty="0"/>
              <a:t>four </a:t>
            </a:r>
            <a:r>
              <a:rPr spc="-10" dirty="0"/>
              <a:t>subkeys</a:t>
            </a:r>
          </a:p>
          <a:p>
            <a:pPr marL="356870" indent="-344170">
              <a:lnSpc>
                <a:spcPct val="100000"/>
              </a:lnSpc>
              <a:spcBef>
                <a:spcPts val="775"/>
              </a:spcBef>
              <a:buFont typeface="Arial MT"/>
              <a:buChar char="•"/>
              <a:tabLst>
                <a:tab pos="356870" algn="l"/>
              </a:tabLst>
            </a:pPr>
            <a:r>
              <a:rPr dirty="0"/>
              <a:t>Using</a:t>
            </a:r>
            <a:r>
              <a:rPr spc="-65" dirty="0"/>
              <a:t> </a:t>
            </a:r>
            <a:r>
              <a:rPr dirty="0"/>
              <a:t>the</a:t>
            </a:r>
            <a:r>
              <a:rPr spc="-90" dirty="0"/>
              <a:t> </a:t>
            </a:r>
            <a:r>
              <a:rPr dirty="0"/>
              <a:t>addition</a:t>
            </a:r>
            <a:r>
              <a:rPr spc="-70" dirty="0"/>
              <a:t> </a:t>
            </a:r>
            <a:r>
              <a:rPr dirty="0"/>
              <a:t>&amp;</a:t>
            </a:r>
            <a:r>
              <a:rPr spc="-90" dirty="0"/>
              <a:t> </a:t>
            </a:r>
            <a:r>
              <a:rPr dirty="0"/>
              <a:t>multiplication</a:t>
            </a:r>
            <a:r>
              <a:rPr spc="-70" dirty="0"/>
              <a:t> </a:t>
            </a:r>
            <a:r>
              <a:rPr spc="-10" dirty="0"/>
              <a:t>operations</a:t>
            </a:r>
          </a:p>
          <a:p>
            <a:pPr marL="356870" marR="248920" indent="-344805">
              <a:lnSpc>
                <a:spcPct val="100000"/>
              </a:lnSpc>
              <a:spcBef>
                <a:spcPts val="765"/>
              </a:spcBef>
              <a:buFont typeface="Arial MT"/>
              <a:buChar char="•"/>
              <a:tabLst>
                <a:tab pos="356870" algn="l"/>
                <a:tab pos="5585460" algn="l"/>
              </a:tabLst>
            </a:pPr>
            <a:r>
              <a:rPr dirty="0"/>
              <a:t>Four</a:t>
            </a:r>
            <a:r>
              <a:rPr spc="-100" dirty="0"/>
              <a:t> </a:t>
            </a:r>
            <a:r>
              <a:rPr dirty="0"/>
              <a:t>output</a:t>
            </a:r>
            <a:r>
              <a:rPr spc="-100" dirty="0"/>
              <a:t> </a:t>
            </a:r>
            <a:r>
              <a:rPr dirty="0"/>
              <a:t>blocks</a:t>
            </a:r>
            <a:r>
              <a:rPr spc="-105" dirty="0"/>
              <a:t> </a:t>
            </a:r>
            <a:r>
              <a:rPr dirty="0"/>
              <a:t>produce</a:t>
            </a:r>
            <a:r>
              <a:rPr spc="-95" dirty="0"/>
              <a:t> </a:t>
            </a:r>
            <a:r>
              <a:rPr spc="-25" dirty="0"/>
              <a:t>by</a:t>
            </a:r>
            <a:r>
              <a:rPr dirty="0"/>
              <a:t>	</a:t>
            </a:r>
            <a:r>
              <a:rPr spc="-20" dirty="0"/>
              <a:t>this transformation</a:t>
            </a:r>
            <a:r>
              <a:rPr spc="-60" dirty="0"/>
              <a:t> </a:t>
            </a:r>
            <a:r>
              <a:rPr dirty="0"/>
              <a:t>are</a:t>
            </a:r>
            <a:r>
              <a:rPr spc="-90" dirty="0"/>
              <a:t> </a:t>
            </a:r>
            <a:r>
              <a:rPr dirty="0"/>
              <a:t>then</a:t>
            </a:r>
            <a:r>
              <a:rPr spc="-85" dirty="0"/>
              <a:t> </a:t>
            </a:r>
            <a:r>
              <a:rPr dirty="0"/>
              <a:t>combined</a:t>
            </a:r>
            <a:r>
              <a:rPr spc="-65" dirty="0"/>
              <a:t> </a:t>
            </a:r>
            <a:r>
              <a:rPr dirty="0"/>
              <a:t>using</a:t>
            </a:r>
            <a:r>
              <a:rPr spc="-75" dirty="0"/>
              <a:t> </a:t>
            </a:r>
            <a:r>
              <a:rPr spc="-25" dirty="0"/>
              <a:t>the </a:t>
            </a:r>
            <a:r>
              <a:rPr dirty="0"/>
              <a:t>XOR</a:t>
            </a:r>
            <a:r>
              <a:rPr spc="-60" dirty="0"/>
              <a:t> </a:t>
            </a:r>
            <a:r>
              <a:rPr spc="-10" dirty="0"/>
              <a:t>operation</a:t>
            </a:r>
            <a:r>
              <a:rPr spc="-80" dirty="0"/>
              <a:t> </a:t>
            </a:r>
            <a:r>
              <a:rPr dirty="0"/>
              <a:t>to</a:t>
            </a:r>
            <a:r>
              <a:rPr spc="-95" dirty="0"/>
              <a:t> </a:t>
            </a:r>
            <a:r>
              <a:rPr dirty="0"/>
              <a:t>form</a:t>
            </a:r>
            <a:r>
              <a:rPr spc="-60" dirty="0"/>
              <a:t> </a:t>
            </a:r>
            <a:r>
              <a:rPr dirty="0"/>
              <a:t>two</a:t>
            </a:r>
            <a:r>
              <a:rPr spc="-95" dirty="0"/>
              <a:t> </a:t>
            </a:r>
            <a:r>
              <a:rPr dirty="0"/>
              <a:t>16</a:t>
            </a:r>
            <a:r>
              <a:rPr spc="-65" dirty="0"/>
              <a:t> </a:t>
            </a:r>
            <a:r>
              <a:rPr dirty="0"/>
              <a:t>bit</a:t>
            </a:r>
            <a:r>
              <a:rPr spc="-90" dirty="0"/>
              <a:t> </a:t>
            </a:r>
            <a:r>
              <a:rPr dirty="0"/>
              <a:t>blocks</a:t>
            </a:r>
            <a:r>
              <a:rPr spc="-75" dirty="0"/>
              <a:t> </a:t>
            </a:r>
            <a:r>
              <a:rPr spc="-20" dirty="0"/>
              <a:t>that </a:t>
            </a:r>
            <a:r>
              <a:rPr dirty="0"/>
              <a:t>are</a:t>
            </a:r>
            <a:r>
              <a:rPr spc="-45" dirty="0"/>
              <a:t> </a:t>
            </a:r>
            <a:r>
              <a:rPr dirty="0"/>
              <a:t>input</a:t>
            </a:r>
            <a:r>
              <a:rPr spc="-35" dirty="0"/>
              <a:t> </a:t>
            </a:r>
            <a:r>
              <a:rPr dirty="0"/>
              <a:t>to</a:t>
            </a:r>
            <a:r>
              <a:rPr spc="-55" dirty="0"/>
              <a:t> </a:t>
            </a:r>
            <a:r>
              <a:rPr dirty="0"/>
              <a:t>the</a:t>
            </a:r>
            <a:r>
              <a:rPr spc="-55" dirty="0"/>
              <a:t> </a:t>
            </a:r>
            <a:r>
              <a:rPr dirty="0"/>
              <a:t>MA</a:t>
            </a:r>
            <a:r>
              <a:rPr spc="-40" dirty="0"/>
              <a:t> </a:t>
            </a:r>
            <a:r>
              <a:rPr spc="-10" dirty="0"/>
              <a:t>structure.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8166" rIns="0" bIns="0" rtlCol="0">
            <a:spAutoFit/>
          </a:bodyPr>
          <a:lstStyle/>
          <a:p>
            <a:pPr marL="2699385" marR="5080" indent="-2323465">
              <a:lnSpc>
                <a:spcPct val="100000"/>
              </a:lnSpc>
              <a:spcBef>
                <a:spcPts val="95"/>
              </a:spcBef>
            </a:pPr>
            <a:r>
              <a:rPr dirty="0"/>
              <a:t>Details</a:t>
            </a:r>
            <a:r>
              <a:rPr spc="-100" dirty="0"/>
              <a:t> </a:t>
            </a:r>
            <a:r>
              <a:rPr dirty="0"/>
              <a:t>of</a:t>
            </a:r>
            <a:r>
              <a:rPr spc="-110" dirty="0"/>
              <a:t> </a:t>
            </a:r>
            <a:r>
              <a:rPr dirty="0"/>
              <a:t>a</a:t>
            </a:r>
            <a:r>
              <a:rPr spc="-125" dirty="0"/>
              <a:t> </a:t>
            </a:r>
            <a:r>
              <a:rPr dirty="0"/>
              <a:t>Single</a:t>
            </a:r>
            <a:r>
              <a:rPr spc="-75" dirty="0"/>
              <a:t> </a:t>
            </a:r>
            <a:r>
              <a:rPr dirty="0"/>
              <a:t>Round-</a:t>
            </a:r>
            <a:r>
              <a:rPr spc="-90" dirty="0"/>
              <a:t> </a:t>
            </a:r>
            <a:r>
              <a:rPr spc="-25" dirty="0"/>
              <a:t>Odd </a:t>
            </a:r>
            <a:r>
              <a:rPr dirty="0"/>
              <a:t>Round</a:t>
            </a:r>
            <a:r>
              <a:rPr spc="-210" dirty="0"/>
              <a:t> </a:t>
            </a:r>
            <a:r>
              <a:rPr spc="-25" dirty="0"/>
              <a:t>(2)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23544" y="1510650"/>
            <a:ext cx="7861300" cy="5295265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 marL="368935" indent="-343535" algn="just">
              <a:lnSpc>
                <a:spcPct val="100000"/>
              </a:lnSpc>
              <a:spcBef>
                <a:spcPts val="869"/>
              </a:spcBef>
              <a:buFont typeface="Arial MT"/>
              <a:buChar char="•"/>
              <a:tabLst>
                <a:tab pos="368935" algn="l"/>
              </a:tabLst>
            </a:pPr>
            <a:r>
              <a:rPr sz="3200" dirty="0">
                <a:latin typeface="Calibri"/>
                <a:cs typeface="Calibri"/>
              </a:rPr>
              <a:t>MA</a:t>
            </a:r>
            <a:r>
              <a:rPr sz="3200" spc="-114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structure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also</a:t>
            </a:r>
            <a:r>
              <a:rPr sz="3200" spc="-1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takes</a:t>
            </a:r>
            <a:r>
              <a:rPr sz="3200" spc="-10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two</a:t>
            </a:r>
            <a:r>
              <a:rPr sz="3200" spc="-11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subkeys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as</a:t>
            </a:r>
            <a:r>
              <a:rPr sz="3200" spc="-11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input</a:t>
            </a:r>
            <a:endParaRPr sz="3200">
              <a:latin typeface="Calibri"/>
              <a:cs typeface="Calibri"/>
            </a:endParaRPr>
          </a:p>
          <a:p>
            <a:pPr marL="368300" marR="17780" indent="-343535" algn="just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69570" algn="l"/>
              </a:tabLst>
            </a:pPr>
            <a:r>
              <a:rPr sz="3200" dirty="0">
                <a:latin typeface="Calibri"/>
                <a:cs typeface="Calibri"/>
              </a:rPr>
              <a:t>Combines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these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inputs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to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produce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two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16-</a:t>
            </a:r>
            <a:r>
              <a:rPr sz="3200" spc="-25" dirty="0">
                <a:latin typeface="Calibri"/>
                <a:cs typeface="Calibri"/>
              </a:rPr>
              <a:t>bit 	</a:t>
            </a:r>
            <a:r>
              <a:rPr sz="3200" spc="-10" dirty="0">
                <a:latin typeface="Calibri"/>
                <a:cs typeface="Calibri"/>
              </a:rPr>
              <a:t>outputs</a:t>
            </a:r>
            <a:endParaRPr sz="3200">
              <a:latin typeface="Calibri"/>
              <a:cs typeface="Calibri"/>
            </a:endParaRPr>
          </a:p>
          <a:p>
            <a:pPr marL="368300" marR="340995" indent="-343535" algn="just">
              <a:lnSpc>
                <a:spcPct val="100000"/>
              </a:lnSpc>
              <a:spcBef>
                <a:spcPts val="775"/>
              </a:spcBef>
              <a:buFont typeface="Arial MT"/>
              <a:buChar char="•"/>
              <a:tabLst>
                <a:tab pos="369570" algn="l"/>
              </a:tabLst>
            </a:pPr>
            <a:r>
              <a:rPr sz="3200" dirty="0">
                <a:latin typeface="Calibri"/>
                <a:cs typeface="Calibri"/>
              </a:rPr>
              <a:t>Finally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4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output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blocks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from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upper 	transformation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are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combined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with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two 	</a:t>
            </a:r>
            <a:r>
              <a:rPr sz="3200" dirty="0">
                <a:latin typeface="Calibri"/>
                <a:cs typeface="Calibri"/>
              </a:rPr>
              <a:t>output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blocks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-10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MA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structure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using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XOR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to 	</a:t>
            </a:r>
            <a:r>
              <a:rPr sz="3200" dirty="0">
                <a:latin typeface="Calibri"/>
                <a:cs typeface="Calibri"/>
              </a:rPr>
              <a:t>produce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4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output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blocks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for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this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round.</a:t>
            </a:r>
            <a:endParaRPr sz="3200">
              <a:latin typeface="Calibri"/>
              <a:cs typeface="Calibri"/>
            </a:endParaRPr>
          </a:p>
          <a:p>
            <a:pPr marL="368300" marR="486409" indent="-343535" algn="just">
              <a:lnSpc>
                <a:spcPct val="100000"/>
              </a:lnSpc>
              <a:spcBef>
                <a:spcPts val="775"/>
              </a:spcBef>
              <a:buFont typeface="Arial MT"/>
              <a:buChar char="•"/>
              <a:tabLst>
                <a:tab pos="369570" algn="l"/>
              </a:tabLst>
            </a:pPr>
            <a:r>
              <a:rPr sz="3200" dirty="0">
                <a:latin typeface="Calibri"/>
                <a:cs typeface="Calibri"/>
              </a:rPr>
              <a:t>Second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&amp;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third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inputs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are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interchanged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to 	</a:t>
            </a:r>
            <a:r>
              <a:rPr sz="3200" dirty="0">
                <a:latin typeface="Calibri"/>
                <a:cs typeface="Calibri"/>
              </a:rPr>
              <a:t>produce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second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&amp;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third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output</a:t>
            </a:r>
            <a:r>
              <a:rPr sz="3200" spc="6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(w</a:t>
            </a:r>
            <a:r>
              <a:rPr sz="3150" baseline="-19841" dirty="0">
                <a:latin typeface="Calibri"/>
                <a:cs typeface="Calibri"/>
              </a:rPr>
              <a:t>12</a:t>
            </a:r>
            <a:r>
              <a:rPr sz="3150" spc="300" baseline="-19841" dirty="0">
                <a:latin typeface="Calibri"/>
                <a:cs typeface="Calibri"/>
              </a:rPr>
              <a:t> </a:t>
            </a:r>
            <a:r>
              <a:rPr sz="3200" spc="-50" dirty="0">
                <a:latin typeface="Calibri"/>
                <a:cs typeface="Calibri"/>
              </a:rPr>
              <a:t>&amp; 	</a:t>
            </a:r>
            <a:r>
              <a:rPr sz="3200" spc="-20" dirty="0">
                <a:latin typeface="Calibri"/>
                <a:cs typeface="Calibri"/>
              </a:rPr>
              <a:t>w</a:t>
            </a:r>
            <a:r>
              <a:rPr sz="3150" spc="-30" baseline="-19841" dirty="0">
                <a:latin typeface="Calibri"/>
                <a:cs typeface="Calibri"/>
              </a:rPr>
              <a:t>13</a:t>
            </a:r>
            <a:r>
              <a:rPr sz="3200" spc="-20" dirty="0">
                <a:latin typeface="Calibri"/>
                <a:cs typeface="Calibri"/>
              </a:rPr>
              <a:t>)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93369" rIns="0" bIns="0" rtlCol="0">
            <a:spAutoFit/>
          </a:bodyPr>
          <a:lstStyle/>
          <a:p>
            <a:pPr marL="2471420">
              <a:lnSpc>
                <a:spcPct val="100000"/>
              </a:lnSpc>
              <a:spcBef>
                <a:spcPts val="90"/>
              </a:spcBef>
            </a:pPr>
            <a:r>
              <a:rPr dirty="0"/>
              <a:t>Even</a:t>
            </a:r>
            <a:r>
              <a:rPr spc="-250" dirty="0"/>
              <a:t> </a:t>
            </a:r>
            <a:r>
              <a:rPr spc="-10" dirty="0"/>
              <a:t>Round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6244" y="1609420"/>
            <a:ext cx="7757795" cy="14884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3535" algn="just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6870" algn="l"/>
              </a:tabLst>
            </a:pPr>
            <a:r>
              <a:rPr sz="3200" dirty="0">
                <a:latin typeface="Calibri"/>
                <a:cs typeface="Calibri"/>
              </a:rPr>
              <a:t>Subsequent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rounds</a:t>
            </a:r>
            <a:r>
              <a:rPr sz="3200" spc="-10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have</a:t>
            </a:r>
            <a:r>
              <a:rPr sz="3200" spc="-114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12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same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structure 	</a:t>
            </a:r>
            <a:r>
              <a:rPr sz="3200" dirty="0">
                <a:latin typeface="Calibri"/>
                <a:cs typeface="Calibri"/>
              </a:rPr>
              <a:t>but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with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different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subkey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&amp;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plaintext</a:t>
            </a:r>
            <a:r>
              <a:rPr sz="3200" spc="-10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derived 	inputs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8166" rIns="0" bIns="0" rtlCol="0">
            <a:spAutoFit/>
          </a:bodyPr>
          <a:lstStyle/>
          <a:p>
            <a:pPr marL="1392555" marR="5080" indent="81915">
              <a:lnSpc>
                <a:spcPct val="100000"/>
              </a:lnSpc>
              <a:spcBef>
                <a:spcPts val="95"/>
              </a:spcBef>
            </a:pPr>
            <a:r>
              <a:rPr dirty="0"/>
              <a:t>Ninth</a:t>
            </a:r>
            <a:r>
              <a:rPr spc="-100" dirty="0"/>
              <a:t> </a:t>
            </a:r>
            <a:r>
              <a:rPr dirty="0"/>
              <a:t>stage</a:t>
            </a:r>
            <a:r>
              <a:rPr spc="-114" dirty="0"/>
              <a:t> </a:t>
            </a:r>
            <a:r>
              <a:rPr dirty="0"/>
              <a:t>–</a:t>
            </a:r>
            <a:r>
              <a:rPr spc="-135" dirty="0"/>
              <a:t> </a:t>
            </a:r>
            <a:r>
              <a:rPr spc="-10" dirty="0"/>
              <a:t>output </a:t>
            </a:r>
            <a:r>
              <a:rPr spc="-45" dirty="0"/>
              <a:t>Transformation</a:t>
            </a:r>
            <a:r>
              <a:rPr spc="-150" dirty="0"/>
              <a:t> </a:t>
            </a:r>
            <a:r>
              <a:rPr spc="-10" dirty="0"/>
              <a:t>Stage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00200" y="1600200"/>
            <a:ext cx="6477000" cy="44196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8166" rIns="0" bIns="0" rtlCol="0">
            <a:spAutoFit/>
          </a:bodyPr>
          <a:lstStyle/>
          <a:p>
            <a:pPr marL="1392555" marR="5080" indent="81915">
              <a:lnSpc>
                <a:spcPct val="100000"/>
              </a:lnSpc>
              <a:spcBef>
                <a:spcPts val="95"/>
              </a:spcBef>
            </a:pPr>
            <a:r>
              <a:rPr dirty="0"/>
              <a:t>Ninth</a:t>
            </a:r>
            <a:r>
              <a:rPr spc="-100" dirty="0"/>
              <a:t> </a:t>
            </a:r>
            <a:r>
              <a:rPr dirty="0"/>
              <a:t>stage</a:t>
            </a:r>
            <a:r>
              <a:rPr spc="-114" dirty="0"/>
              <a:t> </a:t>
            </a:r>
            <a:r>
              <a:rPr dirty="0"/>
              <a:t>–</a:t>
            </a:r>
            <a:r>
              <a:rPr spc="-135" dirty="0"/>
              <a:t> </a:t>
            </a:r>
            <a:r>
              <a:rPr spc="-10" dirty="0"/>
              <a:t>output </a:t>
            </a:r>
            <a:r>
              <a:rPr spc="-45" dirty="0"/>
              <a:t>Transformation</a:t>
            </a:r>
            <a:r>
              <a:rPr spc="-150" dirty="0"/>
              <a:t> </a:t>
            </a:r>
            <a:r>
              <a:rPr spc="-10" dirty="0"/>
              <a:t>Stage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6244" y="1609420"/>
            <a:ext cx="8006080" cy="1000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6870" marR="5080" indent="-34480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6870" algn="l"/>
              </a:tabLst>
            </a:pPr>
            <a:r>
              <a:rPr sz="3200" dirty="0">
                <a:latin typeface="Calibri"/>
                <a:cs typeface="Calibri"/>
              </a:rPr>
              <a:t>Second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&amp;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third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inputs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are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interchanged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before </a:t>
            </a:r>
            <a:r>
              <a:rPr sz="3200" dirty="0">
                <a:latin typeface="Calibri"/>
                <a:cs typeface="Calibri"/>
              </a:rPr>
              <a:t>being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applied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to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operational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units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21127" y="465200"/>
            <a:ext cx="4305935" cy="6953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-10" dirty="0"/>
              <a:t>Subkey</a:t>
            </a:r>
            <a:r>
              <a:rPr spc="-195" dirty="0"/>
              <a:t> </a:t>
            </a:r>
            <a:r>
              <a:rPr spc="-10" dirty="0"/>
              <a:t>Generation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2744" y="1609420"/>
            <a:ext cx="8116570" cy="472313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420370" marR="1119505" indent="-344805">
              <a:lnSpc>
                <a:spcPct val="100000"/>
              </a:lnSpc>
              <a:spcBef>
                <a:spcPts val="110"/>
              </a:spcBef>
              <a:buFont typeface="Arial MT"/>
              <a:buChar char="•"/>
              <a:tabLst>
                <a:tab pos="420370" algn="l"/>
              </a:tabLst>
            </a:pPr>
            <a:r>
              <a:rPr sz="2800" dirty="0">
                <a:latin typeface="Calibri"/>
                <a:cs typeface="Calibri"/>
              </a:rPr>
              <a:t>52,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16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bit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subkeys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generated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from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128-</a:t>
            </a:r>
            <a:r>
              <a:rPr sz="2800" spc="-25" dirty="0">
                <a:latin typeface="Calibri"/>
                <a:cs typeface="Calibri"/>
              </a:rPr>
              <a:t>bit </a:t>
            </a:r>
            <a:r>
              <a:rPr sz="2800" dirty="0">
                <a:latin typeface="Calibri"/>
                <a:cs typeface="Calibri"/>
              </a:rPr>
              <a:t>encryption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key</a:t>
            </a:r>
            <a:endParaRPr sz="2800">
              <a:latin typeface="Calibri"/>
              <a:cs typeface="Calibri"/>
            </a:endParaRPr>
          </a:p>
          <a:p>
            <a:pPr marL="420370" marR="294640" indent="-344805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420370" algn="l"/>
                <a:tab pos="6466840" algn="l"/>
              </a:tabLst>
            </a:pPr>
            <a:r>
              <a:rPr sz="2800" dirty="0">
                <a:latin typeface="Calibri"/>
                <a:cs typeface="Calibri"/>
              </a:rPr>
              <a:t>First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eight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subkeys,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labeled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Z</a:t>
            </a:r>
            <a:r>
              <a:rPr sz="2775" spc="-15" baseline="-19519" dirty="0">
                <a:latin typeface="Calibri"/>
                <a:cs typeface="Calibri"/>
              </a:rPr>
              <a:t>1</a:t>
            </a:r>
            <a:r>
              <a:rPr sz="2800" spc="-10" dirty="0">
                <a:latin typeface="Calibri"/>
                <a:cs typeface="Calibri"/>
              </a:rPr>
              <a:t>,Z</a:t>
            </a:r>
            <a:r>
              <a:rPr sz="2775" spc="-15" baseline="-19519" dirty="0">
                <a:latin typeface="Calibri"/>
                <a:cs typeface="Calibri"/>
              </a:rPr>
              <a:t>2</a:t>
            </a:r>
            <a:r>
              <a:rPr sz="2800" spc="-10" dirty="0">
                <a:latin typeface="Calibri"/>
                <a:cs typeface="Calibri"/>
              </a:rPr>
              <a:t>,……….,Z</a:t>
            </a:r>
            <a:r>
              <a:rPr sz="2775" spc="-15" baseline="-19519" dirty="0">
                <a:latin typeface="Calibri"/>
                <a:cs typeface="Calibri"/>
              </a:rPr>
              <a:t>8</a:t>
            </a:r>
            <a:r>
              <a:rPr sz="2775" baseline="-19519" dirty="0">
                <a:latin typeface="Calibri"/>
                <a:cs typeface="Calibri"/>
              </a:rPr>
              <a:t>	</a:t>
            </a:r>
            <a:r>
              <a:rPr sz="2800" dirty="0">
                <a:latin typeface="Calibri"/>
                <a:cs typeface="Calibri"/>
              </a:rPr>
              <a:t>are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30" dirty="0">
                <a:latin typeface="Calibri"/>
                <a:cs typeface="Calibri"/>
              </a:rPr>
              <a:t>taken </a:t>
            </a:r>
            <a:r>
              <a:rPr sz="2800" dirty="0">
                <a:latin typeface="Calibri"/>
                <a:cs typeface="Calibri"/>
              </a:rPr>
              <a:t>directly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from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key</a:t>
            </a:r>
            <a:endParaRPr sz="2800">
              <a:latin typeface="Calibri"/>
              <a:cs typeface="Calibri"/>
            </a:endParaRPr>
          </a:p>
          <a:p>
            <a:pPr marL="420370" indent="-344170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420370" algn="l"/>
              </a:tabLst>
            </a:pPr>
            <a:r>
              <a:rPr sz="2800" dirty="0">
                <a:latin typeface="Calibri"/>
                <a:cs typeface="Calibri"/>
              </a:rPr>
              <a:t>Z</a:t>
            </a:r>
            <a:r>
              <a:rPr sz="2775" baseline="-19519" dirty="0">
                <a:latin typeface="Calibri"/>
                <a:cs typeface="Calibri"/>
              </a:rPr>
              <a:t>1</a:t>
            </a:r>
            <a:r>
              <a:rPr sz="2775" spc="585" baseline="-19519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being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equal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first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16 </a:t>
            </a:r>
            <a:r>
              <a:rPr sz="2800" spc="-20" dirty="0">
                <a:latin typeface="Calibri"/>
                <a:cs typeface="Calibri"/>
              </a:rPr>
              <a:t>bits</a:t>
            </a:r>
            <a:endParaRPr sz="2800">
              <a:latin typeface="Calibri"/>
              <a:cs typeface="Calibri"/>
            </a:endParaRPr>
          </a:p>
          <a:p>
            <a:pPr marL="502284" indent="-426084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502284" algn="l"/>
              </a:tabLst>
            </a:pPr>
            <a:r>
              <a:rPr sz="2800" dirty="0">
                <a:latin typeface="Calibri"/>
                <a:cs typeface="Calibri"/>
              </a:rPr>
              <a:t>Z</a:t>
            </a:r>
            <a:r>
              <a:rPr sz="2775" baseline="-19519" dirty="0">
                <a:latin typeface="Calibri"/>
                <a:cs typeface="Calibri"/>
              </a:rPr>
              <a:t>2</a:t>
            </a:r>
            <a:r>
              <a:rPr sz="2775" spc="-37" baseline="-19519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being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equal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next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16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bits</a:t>
            </a:r>
            <a:endParaRPr sz="2800">
              <a:latin typeface="Calibri"/>
              <a:cs typeface="Calibri"/>
            </a:endParaRPr>
          </a:p>
          <a:p>
            <a:pPr marL="420370" marR="81280" indent="-344805">
              <a:lnSpc>
                <a:spcPct val="100000"/>
              </a:lnSpc>
              <a:spcBef>
                <a:spcPts val="670"/>
              </a:spcBef>
              <a:buChar char="•"/>
              <a:tabLst>
                <a:tab pos="420370" algn="l"/>
                <a:tab pos="502284" algn="l"/>
              </a:tabLst>
            </a:pPr>
            <a:r>
              <a:rPr sz="2800" dirty="0">
                <a:latin typeface="Arial MT"/>
                <a:cs typeface="Arial MT"/>
              </a:rPr>
              <a:t>	</a:t>
            </a:r>
            <a:r>
              <a:rPr sz="2800" dirty="0">
                <a:latin typeface="Calibri"/>
                <a:cs typeface="Calibri"/>
              </a:rPr>
              <a:t>Then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circular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left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shift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25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bit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positions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applied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key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&amp;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next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8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subkeys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extracted</a:t>
            </a:r>
            <a:endParaRPr sz="2800">
              <a:latin typeface="Calibri"/>
              <a:cs typeface="Calibri"/>
            </a:endParaRPr>
          </a:p>
          <a:p>
            <a:pPr marL="420370" marR="416559" indent="-344805">
              <a:lnSpc>
                <a:spcPct val="100000"/>
              </a:lnSpc>
              <a:spcBef>
                <a:spcPts val="680"/>
              </a:spcBef>
              <a:buFont typeface="Arial MT"/>
              <a:buChar char="•"/>
              <a:tabLst>
                <a:tab pos="420370" algn="l"/>
              </a:tabLst>
            </a:pPr>
            <a:r>
              <a:rPr sz="2800" dirty="0">
                <a:latin typeface="Calibri"/>
                <a:cs typeface="Calibri"/>
              </a:rPr>
              <a:t>This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procedure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repeated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untill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all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52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subkeys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are </a:t>
            </a:r>
            <a:r>
              <a:rPr sz="2800" spc="-10" dirty="0">
                <a:latin typeface="Calibri"/>
                <a:cs typeface="Calibri"/>
              </a:rPr>
              <a:t>generated.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14300" y="238123"/>
            <a:ext cx="8915400" cy="6610350"/>
            <a:chOff x="114300" y="238123"/>
            <a:chExt cx="8915400" cy="66103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4300" y="238123"/>
              <a:ext cx="8915400" cy="637222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86350" y="6648448"/>
              <a:ext cx="571500" cy="20002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229600" y="6638923"/>
              <a:ext cx="657225" cy="133350"/>
            </a:xfrm>
            <a:prstGeom prst="rect">
              <a:avLst/>
            </a:prstGeom>
          </p:spPr>
        </p:pic>
      </p:grp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667750" y="47623"/>
            <a:ext cx="419100" cy="13335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50954" y="-52389"/>
            <a:ext cx="317373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75" dirty="0">
                <a:latin typeface="Cambria"/>
                <a:cs typeface="Cambria"/>
              </a:rPr>
              <a:t>Conventional</a:t>
            </a:r>
            <a:r>
              <a:rPr sz="1700" spc="-70" dirty="0">
                <a:latin typeface="Cambria"/>
                <a:cs typeface="Cambria"/>
              </a:rPr>
              <a:t> </a:t>
            </a:r>
            <a:r>
              <a:rPr sz="1700" spc="-85" dirty="0">
                <a:latin typeface="Cambria"/>
                <a:cs typeface="Cambria"/>
              </a:rPr>
              <a:t>Rnciyprron:</a:t>
            </a:r>
            <a:r>
              <a:rPr sz="1700" spc="15" dirty="0">
                <a:latin typeface="Cambria"/>
                <a:cs typeface="Cambria"/>
              </a:rPr>
              <a:t> </a:t>
            </a:r>
            <a:r>
              <a:rPr sz="1700" i="1" spc="-30" dirty="0">
                <a:latin typeface="Cambria"/>
                <a:cs typeface="Cambria"/>
              </a:rPr>
              <a:t>Algorithms</a:t>
            </a:r>
            <a:endParaRPr sz="170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361214" y="-23814"/>
            <a:ext cx="241300" cy="2616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50" spc="-25" dirty="0">
                <a:latin typeface="Cambria"/>
                <a:cs typeface="Cambria"/>
              </a:rPr>
              <a:t>10</a:t>
            </a:r>
            <a:endParaRPr sz="1550">
              <a:latin typeface="Cambria"/>
              <a:cs typeface="Cambria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883480" y="149223"/>
            <a:ext cx="7168515" cy="596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1027430" algn="l"/>
                <a:tab pos="5026660" algn="l"/>
                <a:tab pos="5698490" algn="l"/>
              </a:tabLst>
            </a:pPr>
            <a:r>
              <a:rPr sz="3750" spc="-25" dirty="0">
                <a:solidFill>
                  <a:srgbClr val="088918"/>
                </a:solidFill>
                <a:latin typeface="Arial MT"/>
                <a:cs typeface="Arial MT"/>
              </a:rPr>
              <a:t>Sin</a:t>
            </a:r>
            <a:r>
              <a:rPr sz="3750" dirty="0">
                <a:solidFill>
                  <a:srgbClr val="088918"/>
                </a:solidFill>
                <a:latin typeface="Arial MT"/>
                <a:cs typeface="Arial MT"/>
              </a:rPr>
              <a:t>	</a:t>
            </a:r>
            <a:r>
              <a:rPr lang="en-IN" sz="3750" dirty="0">
                <a:solidFill>
                  <a:srgbClr val="007E0A"/>
                </a:solidFill>
                <a:latin typeface="Arial MT"/>
                <a:cs typeface="Arial MT"/>
              </a:rPr>
              <a:t>l</a:t>
            </a:r>
            <a:r>
              <a:rPr sz="3750" dirty="0">
                <a:solidFill>
                  <a:srgbClr val="007E0A"/>
                </a:solidFill>
                <a:latin typeface="Arial MT"/>
                <a:cs typeface="Arial MT"/>
              </a:rPr>
              <a:t>e</a:t>
            </a:r>
            <a:r>
              <a:rPr sz="3750" spc="80" dirty="0">
                <a:solidFill>
                  <a:srgbClr val="007E0A"/>
                </a:solidFill>
                <a:latin typeface="Arial MT"/>
                <a:cs typeface="Arial MT"/>
              </a:rPr>
              <a:t> </a:t>
            </a:r>
            <a:r>
              <a:rPr sz="3750" dirty="0">
                <a:solidFill>
                  <a:srgbClr val="077C1F"/>
                </a:solidFill>
                <a:latin typeface="Arial MT"/>
                <a:cs typeface="Arial MT"/>
              </a:rPr>
              <a:t>Round</a:t>
            </a:r>
            <a:r>
              <a:rPr sz="3750" spc="165" dirty="0">
                <a:solidFill>
                  <a:srgbClr val="077C1F"/>
                </a:solidFill>
                <a:latin typeface="Arial MT"/>
                <a:cs typeface="Arial MT"/>
              </a:rPr>
              <a:t> </a:t>
            </a:r>
            <a:r>
              <a:rPr sz="3750" spc="90" dirty="0">
                <a:solidFill>
                  <a:srgbClr val="007005"/>
                </a:solidFill>
                <a:latin typeface="Arial MT"/>
                <a:cs typeface="Arial MT"/>
              </a:rPr>
              <a:t>of</a:t>
            </a:r>
            <a:r>
              <a:rPr sz="3750" spc="-150" dirty="0">
                <a:solidFill>
                  <a:srgbClr val="007005"/>
                </a:solidFill>
                <a:latin typeface="Arial MT"/>
                <a:cs typeface="Arial MT"/>
              </a:rPr>
              <a:t> </a:t>
            </a:r>
            <a:r>
              <a:rPr sz="3750" spc="-20" dirty="0">
                <a:solidFill>
                  <a:srgbClr val="008911"/>
                </a:solidFill>
                <a:latin typeface="Arial MT"/>
                <a:cs typeface="Arial MT"/>
              </a:rPr>
              <a:t>IDEA</a:t>
            </a:r>
            <a:r>
              <a:rPr sz="3750" dirty="0">
                <a:solidFill>
                  <a:srgbClr val="008911"/>
                </a:solidFill>
                <a:latin typeface="Arial MT"/>
                <a:cs typeface="Arial MT"/>
              </a:rPr>
              <a:t>	</a:t>
            </a:r>
            <a:r>
              <a:rPr sz="3750" spc="-25" dirty="0">
                <a:solidFill>
                  <a:srgbClr val="00770C"/>
                </a:solidFill>
                <a:latin typeface="Arial MT"/>
                <a:cs typeface="Arial MT"/>
              </a:rPr>
              <a:t>1</a:t>
            </a:r>
            <a:r>
              <a:rPr sz="3750" spc="-37" baseline="24444" dirty="0">
                <a:solidFill>
                  <a:srgbClr val="00770C"/>
                </a:solidFill>
                <a:latin typeface="Arial MT"/>
                <a:cs typeface="Arial MT"/>
              </a:rPr>
              <a:t>st</a:t>
            </a:r>
            <a:r>
              <a:rPr sz="3750" baseline="24444" dirty="0">
                <a:solidFill>
                  <a:srgbClr val="00770C"/>
                </a:solidFill>
                <a:latin typeface="Arial MT"/>
                <a:cs typeface="Arial MT"/>
              </a:rPr>
              <a:t>	</a:t>
            </a:r>
            <a:r>
              <a:rPr sz="3750" spc="-20" dirty="0">
                <a:solidFill>
                  <a:srgbClr val="008A1A"/>
                </a:solidFill>
                <a:latin typeface="Arial MT"/>
                <a:cs typeface="Arial MT"/>
              </a:rPr>
              <a:t>Round</a:t>
            </a:r>
            <a:endParaRPr sz="3750" dirty="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56836" y="6586535"/>
            <a:ext cx="2887980" cy="2616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50" dirty="0">
                <a:latin typeface="Cambria"/>
                <a:cs typeface="Cambria"/>
              </a:rPr>
              <a:t>Cryptograpfiy</a:t>
            </a:r>
            <a:r>
              <a:rPr sz="1550" spc="5" dirty="0">
                <a:latin typeface="Cambria"/>
                <a:cs typeface="Cambria"/>
              </a:rPr>
              <a:t> </a:t>
            </a:r>
            <a:r>
              <a:rPr sz="1550" spc="-130" dirty="0">
                <a:latin typeface="Cambria"/>
                <a:cs typeface="Cambria"/>
              </a:rPr>
              <a:t>&amp;</a:t>
            </a:r>
            <a:r>
              <a:rPr sz="1550" spc="45" dirty="0">
                <a:latin typeface="Cambria"/>
                <a:cs typeface="Cambria"/>
              </a:rPr>
              <a:t> </a:t>
            </a:r>
            <a:r>
              <a:rPr sz="1550" i="1" spc="-150" dirty="0">
                <a:latin typeface="Cambria"/>
                <a:cs typeface="Cambria"/>
              </a:rPr>
              <a:t>I\Network</a:t>
            </a:r>
            <a:r>
              <a:rPr sz="1550" i="1" spc="120" dirty="0">
                <a:latin typeface="Cambria"/>
                <a:cs typeface="Cambria"/>
              </a:rPr>
              <a:t> </a:t>
            </a:r>
            <a:r>
              <a:rPr sz="1550" i="1" spc="-10" dirty="0">
                <a:latin typeface="Cambria"/>
                <a:cs typeface="Cambria"/>
              </a:rPr>
              <a:t>Securfiy</a:t>
            </a:r>
            <a:endParaRPr sz="1550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189947" y="1455736"/>
            <a:ext cx="168783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-10" dirty="0">
                <a:latin typeface="Cambria"/>
                <a:cs typeface="Cambria"/>
              </a:rPr>
              <a:t>Transformation</a:t>
            </a:r>
            <a:endParaRPr sz="1900">
              <a:latin typeface="Cambria"/>
              <a:cs typeface="Cambr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213798" y="3830635"/>
            <a:ext cx="17132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95" dirty="0">
                <a:latin typeface="Cambria"/>
                <a:cs typeface="Cambria"/>
              </a:rPr>
              <a:t>Sub-</a:t>
            </a:r>
            <a:r>
              <a:rPr sz="1800" spc="85" dirty="0">
                <a:latin typeface="Cambria"/>
                <a:cs typeface="Cambria"/>
              </a:rPr>
              <a:t>encryption</a:t>
            </a:r>
            <a:endParaRPr sz="18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>
            <a:extLst>
              <a:ext uri="{FF2B5EF4-FFF2-40B4-BE49-F238E27FC236}">
                <a16:creationId xmlns:a16="http://schemas.microsoft.com/office/drawing/2014/main" id="{7CB10FBC-BA09-F0F9-41C9-FEEC74DA2E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905000" y="1066800"/>
            <a:ext cx="4572000" cy="4282068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6BE523EB-C47A-6923-11B9-64594882E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39169-863C-4CED-ADBF-86426EE6F96D}" type="slidenum">
              <a:rPr lang="zh-TW" altLang="en-US"/>
              <a:pPr/>
              <a:t>21</a:t>
            </a:fld>
            <a:endParaRPr lang="en-US" altLang="zh-TW"/>
          </a:p>
        </p:txBody>
      </p:sp>
      <p:sp>
        <p:nvSpPr>
          <p:cNvPr id="9218" name="Rectangle 2">
            <a:extLst>
              <a:ext uri="{FF2B5EF4-FFF2-40B4-BE49-F238E27FC236}">
                <a16:creationId xmlns:a16="http://schemas.microsoft.com/office/drawing/2014/main" id="{D24D7182-8738-930F-839A-0DD209856E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227741"/>
            <a:ext cx="6172200" cy="461665"/>
          </a:xfrm>
        </p:spPr>
        <p:txBody>
          <a:bodyPr/>
          <a:lstStyle/>
          <a:p>
            <a:r>
              <a:rPr lang="en-US" altLang="zh-TW" sz="3000" dirty="0">
                <a:ea typeface="新細明體" panose="02020500000000000000" pitchFamily="18" charset="-120"/>
              </a:rPr>
              <a:t>Encryption of the key sub-blocks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718E4E98-0850-786C-A60E-15FA3DA6F8D0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294968" y="762828"/>
            <a:ext cx="8229600" cy="1477328"/>
          </a:xfrm>
        </p:spPr>
        <p:txBody>
          <a:bodyPr/>
          <a:lstStyle/>
          <a:p>
            <a:r>
              <a:rPr lang="en-US" altLang="zh-TW" dirty="0">
                <a:ea typeface="新細明體" panose="02020500000000000000" pitchFamily="18" charset="-120"/>
              </a:rPr>
              <a:t>The key sub-blocks used for the encryption and the decryption in the individual rounds are shown in Table 1 </a:t>
            </a:r>
          </a:p>
        </p:txBody>
      </p:sp>
      <p:pic>
        <p:nvPicPr>
          <p:cNvPr id="9221" name="Picture 5">
            <a:extLst>
              <a:ext uri="{FF2B5EF4-FFF2-40B4-BE49-F238E27FC236}">
                <a16:creationId xmlns:a16="http://schemas.microsoft.com/office/drawing/2014/main" id="{E7A9484F-F518-4829-A27A-2CFB03214C79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605549" y="2311120"/>
            <a:ext cx="4572000" cy="428206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7FC6F61E-AD63-E82B-4E22-E19C2929C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fld id="{9C5CDD79-2029-46AC-A17B-37F9AC6E071E}" type="slidenum">
              <a:rPr lang="zh-TW" altLang="en-US" smtClean="0"/>
              <a:pPr/>
              <a:t>22</a:t>
            </a:fld>
            <a:endParaRPr lang="en-US" altLang="zh-TW"/>
          </a:p>
        </p:txBody>
      </p:sp>
      <p:sp>
        <p:nvSpPr>
          <p:cNvPr id="14338" name="Rectangle 2">
            <a:extLst>
              <a:ext uri="{FF2B5EF4-FFF2-40B4-BE49-F238E27FC236}">
                <a16:creationId xmlns:a16="http://schemas.microsoft.com/office/drawing/2014/main" id="{66E8B0B4-8E06-7D96-6C7A-CA8C8F03D3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6927" y="83261"/>
            <a:ext cx="7610144" cy="677108"/>
          </a:xfrm>
        </p:spPr>
        <p:txBody>
          <a:bodyPr/>
          <a:lstStyle/>
          <a:p>
            <a:pPr algn="ctr"/>
            <a:r>
              <a:rPr lang="en-US" altLang="zh-TW" dirty="0">
                <a:ea typeface="新細明體" panose="02020500000000000000" pitchFamily="18" charset="-120"/>
              </a:rPr>
              <a:t>Decryption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3983B9EA-D133-F31A-CA1C-561AA8244B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6244" y="1510650"/>
            <a:ext cx="8002270" cy="4432950"/>
          </a:xfrm>
        </p:spPr>
        <p:txBody>
          <a:bodyPr/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zh-TW" sz="2800" dirty="0">
                <a:ea typeface="新細明體" panose="02020500000000000000" pitchFamily="18" charset="-120"/>
              </a:rPr>
              <a:t>The computational process used for decryption of the ciphertext is essentially the same as that used for encryption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zh-TW" sz="2800" dirty="0">
                <a:ea typeface="新細明體" panose="02020500000000000000" pitchFamily="18" charset="-120"/>
              </a:rPr>
              <a:t>The only difference is that each of the 52 16-bit key sub-blocks used for decryption is the inverse of the key sub-block used during encryption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zh-TW" sz="2800" dirty="0">
                <a:ea typeface="新細明體" panose="02020500000000000000" pitchFamily="18" charset="-120"/>
              </a:rPr>
              <a:t>In addition, the key sub-blocks must be used in the reverse order during decryption in order to reverse the encryption process 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00" y="0"/>
            <a:ext cx="8991600" cy="6477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5116C2C-6E2A-BAF2-89F0-12BE0C73516C}"/>
              </a:ext>
            </a:extLst>
          </p:cNvPr>
          <p:cNvSpPr txBox="1"/>
          <p:nvPr/>
        </p:nvSpPr>
        <p:spPr>
          <a:xfrm>
            <a:off x="1295400" y="1447800"/>
            <a:ext cx="739140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800" b="1" i="0" dirty="0">
                <a:solidFill>
                  <a:srgbClr val="242424"/>
                </a:solidFill>
                <a:effectLst/>
                <a:latin typeface="+mn-lt"/>
              </a:rPr>
              <a:t>Strengths of IDEA Encryption:</a:t>
            </a:r>
          </a:p>
          <a:p>
            <a:pPr algn="l"/>
            <a:r>
              <a:rPr lang="en-US" sz="2800" b="0" i="0" dirty="0">
                <a:solidFill>
                  <a:srgbClr val="242424"/>
                </a:solidFill>
                <a:effectLst/>
                <a:latin typeface="+mn-lt"/>
              </a:rPr>
              <a:t>IDEA encryption offers a number of strengths, which include: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242424"/>
                </a:solidFill>
                <a:effectLst/>
                <a:latin typeface="+mn-lt"/>
              </a:rPr>
              <a:t>Strong Security: IDEA encryption uses a 128-bit key, making it extremely difficult to crack. It is also resistant to differential and linear attacks.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242424"/>
                </a:solidFill>
                <a:effectLst/>
                <a:latin typeface="+mn-lt"/>
              </a:rPr>
              <a:t>Fast Encryption: IDEA encryption is a fast encryption algorithm, making it ideal for use in real-time applications.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242424"/>
                </a:solidFill>
                <a:effectLst/>
                <a:latin typeface="+mn-lt"/>
              </a:rPr>
              <a:t>Simple Design: IDEA encryption uses a simple design, making it easy to implement and use.</a:t>
            </a:r>
          </a:p>
        </p:txBody>
      </p:sp>
    </p:spTree>
    <p:extLst>
      <p:ext uri="{BB962C8B-B14F-4D97-AF65-F5344CB8AC3E}">
        <p14:creationId xmlns:p14="http://schemas.microsoft.com/office/powerpoint/2010/main" val="26137913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571BA-CEF1-91B3-8425-0683331256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927" y="83261"/>
            <a:ext cx="7610144" cy="1354217"/>
          </a:xfrm>
        </p:spPr>
        <p:txBody>
          <a:bodyPr/>
          <a:lstStyle/>
          <a:p>
            <a:r>
              <a:rPr lang="en-US" b="1" i="0" dirty="0">
                <a:solidFill>
                  <a:srgbClr val="242424"/>
                </a:solidFill>
                <a:effectLst/>
                <a:latin typeface="sohne"/>
              </a:rPr>
              <a:t>Weaknesses of IDEA Encryption:</a:t>
            </a:r>
            <a:br>
              <a:rPr lang="en-US" b="1" i="0" dirty="0">
                <a:solidFill>
                  <a:srgbClr val="242424"/>
                </a:solidFill>
                <a:effectLst/>
                <a:latin typeface="sohne"/>
              </a:rPr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B3D2E9-B6D9-F611-1A5F-058F0F6BCC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6244" y="1510650"/>
            <a:ext cx="8002270" cy="4431983"/>
          </a:xfrm>
        </p:spPr>
        <p:txBody>
          <a:bodyPr/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IDEA encryption also has a few weaknesses, which include: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Vulnerable to Brute-Force Attacks: Although IDEA encryption is considered secure, it is still vulnerable to brute-force attacks.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Limited Key Size: IDEA encryption uses a 128-bit key, which is smaller than some other encryption algorithms.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928696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CD123-6724-776A-A5E3-E7AB6F0D2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927" y="83261"/>
            <a:ext cx="7610144" cy="1354217"/>
          </a:xfrm>
        </p:spPr>
        <p:txBody>
          <a:bodyPr/>
          <a:lstStyle/>
          <a:p>
            <a:r>
              <a:rPr lang="en-US" b="1" i="0" dirty="0">
                <a:solidFill>
                  <a:srgbClr val="242424"/>
                </a:solidFill>
                <a:effectLst/>
                <a:latin typeface="sohne"/>
              </a:rPr>
              <a:t>Applications of IDEA Encryption:</a:t>
            </a:r>
            <a:br>
              <a:rPr lang="en-US" b="1" i="0" dirty="0">
                <a:solidFill>
                  <a:srgbClr val="242424"/>
                </a:solidFill>
                <a:effectLst/>
                <a:latin typeface="sohne"/>
              </a:rPr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1D8126-D10A-2ED5-A670-09AAC8DB8D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6244" y="1510650"/>
            <a:ext cx="8002270" cy="5170646"/>
          </a:xfrm>
        </p:spPr>
        <p:txBody>
          <a:bodyPr/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242424"/>
                </a:solidFill>
                <a:effectLst/>
                <a:latin typeface="+mn-lt"/>
              </a:rPr>
              <a:t>IDEA encryption has a wide range of applications, including: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242424"/>
                </a:solidFill>
                <a:effectLst/>
                <a:latin typeface="+mn-lt"/>
              </a:rPr>
              <a:t>Secure Communication: IDEA encryption can be used to secure communication between two parties, such as in email or instant messaging applications.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242424"/>
                </a:solidFill>
                <a:effectLst/>
                <a:latin typeface="+mn-lt"/>
              </a:rPr>
              <a:t>Data Storage: IDEA encryption can be used to encrypt sensitive data stored on a hard drive or other storage devices.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242424"/>
                </a:solidFill>
                <a:effectLst/>
                <a:latin typeface="+mn-lt"/>
              </a:rPr>
              <a:t>Digital Signatures: IDEA encryption can be used to create digital signatures, which can be used to verify the authenticity of digital documents.</a:t>
            </a:r>
          </a:p>
          <a:p>
            <a:pPr algn="just"/>
            <a:endParaRPr lang="en-IN" sz="28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535327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199</TotalTime>
  <Words>992</Words>
  <Application>Microsoft Office PowerPoint</Application>
  <PresentationFormat>On-screen Show (4:3)</PresentationFormat>
  <Paragraphs>94</Paragraphs>
  <Slides>26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4" baseType="lpstr">
      <vt:lpstr>Aptos</vt:lpstr>
      <vt:lpstr>Arial MT</vt:lpstr>
      <vt:lpstr>sohne</vt:lpstr>
      <vt:lpstr>source-serif-pro</vt:lpstr>
      <vt:lpstr>Arial</vt:lpstr>
      <vt:lpstr>Calibri</vt:lpstr>
      <vt:lpstr>Cambria</vt:lpstr>
      <vt:lpstr>Office Theme</vt:lpstr>
      <vt:lpstr>PowerPoint Presentation</vt:lpstr>
      <vt:lpstr>Detailed description of IDEA</vt:lpstr>
      <vt:lpstr>Overview</vt:lpstr>
      <vt:lpstr>Overview (cont’)</vt:lpstr>
      <vt:lpstr>PowerPoint Presentation</vt:lpstr>
      <vt:lpstr>IDEA</vt:lpstr>
      <vt:lpstr>Cryptographic Strength</vt:lpstr>
      <vt:lpstr>IDEA Encryption</vt:lpstr>
      <vt:lpstr>PowerPoint Presentation</vt:lpstr>
      <vt:lpstr>Diffusion</vt:lpstr>
      <vt:lpstr>Multiplication Addition (MA) Structure</vt:lpstr>
      <vt:lpstr>Details of a Single Round- Odd Round</vt:lpstr>
      <vt:lpstr>Details of a Single Round- Odd Round (1)</vt:lpstr>
      <vt:lpstr>Details of a Single Round- Odd Round (2)</vt:lpstr>
      <vt:lpstr>Even Round</vt:lpstr>
      <vt:lpstr>Ninth stage – output Transformation Stage</vt:lpstr>
      <vt:lpstr>Ninth stage – output Transformation Stage</vt:lpstr>
      <vt:lpstr>Subkey Generation</vt:lpstr>
      <vt:lpstr>Sin le Round of IDEA 1st Round</vt:lpstr>
      <vt:lpstr>PowerPoint Presentation</vt:lpstr>
      <vt:lpstr>Encryption of the key sub-blocks</vt:lpstr>
      <vt:lpstr>Decryption</vt:lpstr>
      <vt:lpstr>PowerPoint Presentation</vt:lpstr>
      <vt:lpstr>PowerPoint Presentation</vt:lpstr>
      <vt:lpstr>Weaknesses of IDEA Encryption: </vt:lpstr>
      <vt:lpstr>Applications of IDEA Encryption: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9d8c6c0c-802a-4dd3-bfee-624cd07ff055.pdf</dc:title>
  <dc:creator>Soda PDF Online</dc:creator>
  <cp:lastModifiedBy>Sreethar S</cp:lastModifiedBy>
  <cp:revision>18</cp:revision>
  <dcterms:created xsi:type="dcterms:W3CDTF">2024-01-23T00:46:42Z</dcterms:created>
  <dcterms:modified xsi:type="dcterms:W3CDTF">2024-01-31T13:31:46Z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2019-09-24T00:00:00Z</vt:filetime>
  </property>
  <property fmtid="{D5CDD505-2E9C-101B-9397-08002B2CF9AE}" pid="3" name="Creator">
    <vt:lpwstr>Soda PDF Online</vt:lpwstr>
  </property>
  <property fmtid="{D5CDD505-2E9C-101B-9397-08002B2CF9AE}" pid="4" name="LastSaved">
    <vt:filetime>2024-01-23T00:00:00Z</vt:filetime>
  </property>
  <property fmtid="{D5CDD505-2E9C-101B-9397-08002B2CF9AE}" pid="5" name="Producer">
    <vt:lpwstr>Soda PDF Online</vt:lpwstr>
  </property>
</Properties>
</file>