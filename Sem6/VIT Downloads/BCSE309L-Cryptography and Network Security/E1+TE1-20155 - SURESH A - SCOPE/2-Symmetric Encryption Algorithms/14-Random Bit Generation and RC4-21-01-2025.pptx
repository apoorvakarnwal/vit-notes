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8" r:id="rId2"/>
    <p:sldId id="309" r:id="rId3"/>
    <p:sldId id="320" r:id="rId4"/>
    <p:sldId id="32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2" autoAdjust="0"/>
    <p:restoredTop sz="94061" autoAdjust="0"/>
  </p:normalViewPr>
  <p:slideViewPr>
    <p:cSldViewPr>
      <p:cViewPr varScale="1">
        <p:scale>
          <a:sx n="84" d="100"/>
          <a:sy n="84" d="100"/>
        </p:scale>
        <p:origin x="1243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D3529-94CF-4E17-BEB5-EC0ADDF5A6E2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9343D-6C3D-4A89-9735-FF8F0E4D3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29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6927" y="83261"/>
            <a:ext cx="7610144" cy="14126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510650"/>
            <a:ext cx="8002270" cy="4319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927" y="83261"/>
            <a:ext cx="7610144" cy="1074319"/>
          </a:xfrm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2080895">
              <a:lnSpc>
                <a:spcPct val="100000"/>
              </a:lnSpc>
              <a:spcBef>
                <a:spcPts val="90"/>
              </a:spcBef>
            </a:pPr>
            <a:r>
              <a:rPr b="1" dirty="0">
                <a:solidFill>
                  <a:srgbClr val="FF0000"/>
                </a:solidFill>
              </a:rPr>
              <a:t>Stream</a:t>
            </a:r>
            <a:r>
              <a:rPr b="1" spc="-135" dirty="0">
                <a:solidFill>
                  <a:srgbClr val="FF0000"/>
                </a:solidFill>
              </a:rPr>
              <a:t> </a:t>
            </a:r>
            <a:r>
              <a:rPr b="1" spc="-10" dirty="0">
                <a:solidFill>
                  <a:srgbClr val="FF0000"/>
                </a:solidFill>
              </a:rPr>
              <a:t>Ciphers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144" y="1586506"/>
            <a:ext cx="8241665" cy="4063933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94970" indent="-344170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message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32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3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32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(as</a:t>
            </a:r>
            <a:r>
              <a:rPr sz="3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stream)</a:t>
            </a:r>
            <a:endParaRPr sz="3200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94970" indent="-34417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have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pseudo</a:t>
            </a:r>
            <a:r>
              <a:rPr sz="32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random</a:t>
            </a:r>
            <a:r>
              <a:rPr sz="3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keystream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94970" indent="-34417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combined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(XOR)</a:t>
            </a:r>
            <a:r>
              <a:rPr sz="3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32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plaintext</a:t>
            </a:r>
            <a:r>
              <a:rPr sz="32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32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3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endParaRPr sz="3200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94970" marR="43180" indent="-344805">
              <a:lnSpc>
                <a:spcPts val="3460"/>
              </a:lnSpc>
              <a:spcBef>
                <a:spcPts val="819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spc="-10" dirty="0">
                <a:latin typeface="Calibri"/>
                <a:cs typeface="Calibri"/>
              </a:rPr>
              <a:t>randomness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stream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key</a:t>
            </a:r>
            <a:r>
              <a:rPr sz="3200" b="1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completely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destroys</a:t>
            </a:r>
            <a:r>
              <a:rPr sz="3200" spc="-10" dirty="0">
                <a:latin typeface="Calibri"/>
                <a:cs typeface="Calibri"/>
              </a:rPr>
              <a:t> statistically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properties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endParaRPr sz="3200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93115" algn="l"/>
              </a:tabLst>
            </a:pPr>
            <a:r>
              <a:rPr sz="2400" dirty="0">
                <a:latin typeface="Courier New"/>
                <a:cs typeface="Courier New"/>
              </a:rPr>
              <a:t>C</a:t>
            </a:r>
            <a:r>
              <a:rPr sz="2400" baseline="-20833" dirty="0">
                <a:latin typeface="Courier New"/>
                <a:cs typeface="Courier New"/>
              </a:rPr>
              <a:t>i</a:t>
            </a:r>
            <a:r>
              <a:rPr sz="2400" spc="682" baseline="-20833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</a:t>
            </a:r>
            <a:r>
              <a:rPr sz="2400" baseline="-20833" dirty="0">
                <a:latin typeface="Courier New"/>
                <a:cs typeface="Courier New"/>
              </a:rPr>
              <a:t>i</a:t>
            </a:r>
            <a:r>
              <a:rPr sz="2400" spc="697" baseline="-20833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XOR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StreamKey</a:t>
            </a:r>
            <a:r>
              <a:rPr sz="2400" spc="-15" baseline="-20833" dirty="0">
                <a:latin typeface="Courier New"/>
                <a:cs typeface="Courier New"/>
              </a:rPr>
              <a:t>i</a:t>
            </a:r>
            <a:endParaRPr sz="2400" baseline="-20833" dirty="0">
              <a:latin typeface="Courier New"/>
              <a:cs typeface="Courier New"/>
            </a:endParaRPr>
          </a:p>
          <a:p>
            <a:pPr marL="394970" indent="-34417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but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must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never</a:t>
            </a:r>
            <a:r>
              <a:rPr sz="32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reuse</a:t>
            </a:r>
            <a:r>
              <a:rPr sz="3200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stream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FF0000"/>
                </a:solidFill>
                <a:latin typeface="Calibri"/>
                <a:cs typeface="Calibri"/>
              </a:rPr>
              <a:t>key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therwise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recover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messages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927" y="83261"/>
            <a:ext cx="7610144" cy="1074319"/>
          </a:xfrm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068705">
              <a:lnSpc>
                <a:spcPct val="100000"/>
              </a:lnSpc>
              <a:spcBef>
                <a:spcPts val="90"/>
              </a:spcBef>
            </a:pPr>
            <a:r>
              <a:rPr b="1" dirty="0">
                <a:solidFill>
                  <a:srgbClr val="FF0000"/>
                </a:solidFill>
              </a:rPr>
              <a:t>Stream</a:t>
            </a:r>
            <a:r>
              <a:rPr b="1" spc="-110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Cipher</a:t>
            </a:r>
            <a:r>
              <a:rPr b="1" spc="-135" dirty="0">
                <a:solidFill>
                  <a:srgbClr val="FF0000"/>
                </a:solidFill>
              </a:rPr>
              <a:t> </a:t>
            </a:r>
            <a:r>
              <a:rPr b="1" spc="-10" dirty="0">
                <a:solidFill>
                  <a:srgbClr val="FF0000"/>
                </a:solidFill>
              </a:rPr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636" y="2156326"/>
            <a:ext cx="7981319" cy="36395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2443"/>
          </a:xfrm>
        </p:spPr>
        <p:txBody>
          <a:bodyPr/>
          <a:lstStyle/>
          <a:p>
            <a:pPr eaLnBrk="1" hangingPunct="1"/>
            <a:r>
              <a:rPr lang="en-US" sz="3200" b="1" dirty="0" smtClean="0">
                <a:solidFill>
                  <a:srgbClr val="FF0000"/>
                </a:solidFill>
              </a:rPr>
              <a:t>RC4- </a:t>
            </a:r>
            <a:r>
              <a:rPr lang="en-US" sz="3200" b="1" dirty="0" err="1">
                <a:solidFill>
                  <a:srgbClr val="FF0000"/>
                </a:solidFill>
              </a:rPr>
              <a:t>Rivest</a:t>
            </a:r>
            <a:r>
              <a:rPr lang="en-US" sz="3200" b="1" dirty="0">
                <a:solidFill>
                  <a:srgbClr val="FF0000"/>
                </a:solidFill>
              </a:rPr>
              <a:t> Cipher</a:t>
            </a:r>
            <a:endParaRPr lang="en-US" sz="3200" b="1" dirty="0" smtClean="0">
              <a:solidFill>
                <a:srgbClr val="FF0000"/>
              </a:solidFill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739759"/>
          </a:xfrm>
        </p:spPr>
        <p:txBody>
          <a:bodyPr/>
          <a:lstStyle/>
          <a:p>
            <a:pPr algn="just"/>
            <a:r>
              <a:rPr lang="en-US" sz="2800" dirty="0" smtClean="0"/>
              <a:t>RC4 (</a:t>
            </a:r>
            <a:r>
              <a:rPr lang="en-US" sz="2800" dirty="0" err="1" smtClean="0">
                <a:solidFill>
                  <a:srgbClr val="FF0000"/>
                </a:solidFill>
              </a:rPr>
              <a:t>Rivest</a:t>
            </a:r>
            <a:r>
              <a:rPr lang="en-US" sz="2800" dirty="0" smtClean="0">
                <a:solidFill>
                  <a:srgbClr val="FF0000"/>
                </a:solidFill>
              </a:rPr>
              <a:t> Cipher)</a:t>
            </a:r>
            <a:r>
              <a:rPr lang="en-US" sz="2800" dirty="0" smtClean="0"/>
              <a:t> is a </a:t>
            </a:r>
            <a:r>
              <a:rPr lang="en-US" sz="2800" dirty="0" smtClean="0">
                <a:solidFill>
                  <a:srgbClr val="FF0000"/>
                </a:solidFill>
              </a:rPr>
              <a:t>stream cipher</a:t>
            </a:r>
            <a:r>
              <a:rPr lang="en-US" sz="2800" dirty="0" smtClean="0"/>
              <a:t> that was designed in 1984 by </a:t>
            </a:r>
            <a:r>
              <a:rPr lang="en-US" sz="2800" dirty="0" smtClean="0">
                <a:solidFill>
                  <a:srgbClr val="FF0000"/>
                </a:solidFill>
              </a:rPr>
              <a:t>Ronald </a:t>
            </a:r>
            <a:r>
              <a:rPr lang="en-US" sz="2800" dirty="0" err="1" smtClean="0">
                <a:solidFill>
                  <a:srgbClr val="FF0000"/>
                </a:solidFill>
              </a:rPr>
              <a:t>Rivest</a:t>
            </a:r>
            <a:r>
              <a:rPr lang="en-US" sz="2800" dirty="0" smtClean="0"/>
              <a:t> for RSA Data Security. </a:t>
            </a:r>
          </a:p>
          <a:p>
            <a:pPr algn="just"/>
            <a:r>
              <a:rPr lang="en-US" sz="2800" dirty="0" smtClean="0"/>
              <a:t>RC4 is used in many data communication and networking protocols, </a:t>
            </a:r>
            <a:r>
              <a:rPr lang="en-US" sz="2800" dirty="0" smtClean="0">
                <a:solidFill>
                  <a:srgbClr val="FF0000"/>
                </a:solidFill>
              </a:rPr>
              <a:t>including SSL/TLS and the IEEE802.11 wireless LAN standard.</a:t>
            </a:r>
          </a:p>
          <a:p>
            <a:pPr algn="just"/>
            <a:r>
              <a:rPr lang="en-US" sz="2800" dirty="0" smtClean="0"/>
              <a:t>RC4 is a </a:t>
            </a:r>
            <a:r>
              <a:rPr lang="en-US" sz="2800" dirty="0" smtClean="0">
                <a:solidFill>
                  <a:srgbClr val="FF0000"/>
                </a:solidFill>
              </a:rPr>
              <a:t>byte-oriented stream cipher </a:t>
            </a:r>
            <a:r>
              <a:rPr lang="en-US" sz="2800" dirty="0" smtClean="0"/>
              <a:t>in which a byte (8 bits) of a </a:t>
            </a:r>
            <a:r>
              <a:rPr lang="en-US" sz="2800" b="1" dirty="0" smtClean="0">
                <a:solidFill>
                  <a:srgbClr val="FF0000"/>
                </a:solidFill>
              </a:rPr>
              <a:t>plaintext is exclusive-</a:t>
            </a:r>
            <a:r>
              <a:rPr lang="en-US" sz="2800" b="1" dirty="0" err="1" smtClean="0">
                <a:solidFill>
                  <a:srgbClr val="FF0000"/>
                </a:solidFill>
              </a:rPr>
              <a:t>ored</a:t>
            </a:r>
            <a:r>
              <a:rPr lang="en-US" sz="2800" b="1" dirty="0" smtClean="0">
                <a:solidFill>
                  <a:srgbClr val="FF0000"/>
                </a:solidFill>
              </a:rPr>
              <a:t> with a byte of key to produce a byte of a </a:t>
            </a:r>
            <a:r>
              <a:rPr lang="en-US" sz="2800" b="1" dirty="0" err="1" smtClean="0">
                <a:solidFill>
                  <a:srgbClr val="FF0000"/>
                </a:solidFill>
              </a:rPr>
              <a:t>ciphertext</a:t>
            </a:r>
            <a:r>
              <a:rPr lang="en-US" sz="2800" b="1" dirty="0" smtClean="0">
                <a:solidFill>
                  <a:srgbClr val="FF0000"/>
                </a:solidFill>
              </a:rPr>
              <a:t>. </a:t>
            </a:r>
          </a:p>
          <a:p>
            <a:pPr algn="just"/>
            <a:r>
              <a:rPr lang="en-US" sz="2800" dirty="0" smtClean="0"/>
              <a:t>The secret key, from which the </a:t>
            </a:r>
            <a:r>
              <a:rPr lang="en-US" sz="2800" b="1" dirty="0" smtClean="0">
                <a:solidFill>
                  <a:srgbClr val="FF0000"/>
                </a:solidFill>
              </a:rPr>
              <a:t>one-byte keys </a:t>
            </a:r>
            <a:r>
              <a:rPr lang="en-US" sz="2800" dirty="0" smtClean="0"/>
              <a:t>in the key stream are generated, can contain anywhere from 1 to 256 bytes.</a:t>
            </a:r>
          </a:p>
        </p:txBody>
      </p:sp>
    </p:spTree>
    <p:extLst>
      <p:ext uri="{BB962C8B-B14F-4D97-AF65-F5344CB8AC3E}">
        <p14:creationId xmlns:p14="http://schemas.microsoft.com/office/powerpoint/2010/main" val="30637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200" b="1" smtClean="0">
                <a:solidFill>
                  <a:srgbClr val="7030A0"/>
                </a:solidFill>
              </a:rPr>
              <a:t>State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78313"/>
          </a:xfrm>
        </p:spPr>
        <p:txBody>
          <a:bodyPr/>
          <a:lstStyle/>
          <a:p>
            <a:pPr algn="just"/>
            <a:r>
              <a:rPr lang="en-US" sz="3300" dirty="0" smtClean="0"/>
              <a:t>RC4 is </a:t>
            </a:r>
            <a:r>
              <a:rPr lang="en-US" sz="3300" dirty="0" smtClean="0">
                <a:solidFill>
                  <a:srgbClr val="FF0000"/>
                </a:solidFill>
              </a:rPr>
              <a:t>based on the concept of a state.</a:t>
            </a:r>
            <a:r>
              <a:rPr lang="en-US" sz="3300" dirty="0" smtClean="0"/>
              <a:t> At each moment, a state of 256 bytes is active, from which </a:t>
            </a:r>
            <a:r>
              <a:rPr lang="en-US" sz="3300" dirty="0" smtClean="0">
                <a:solidFill>
                  <a:srgbClr val="FF0000"/>
                </a:solidFill>
              </a:rPr>
              <a:t>one of the bytes is randomly selected to serve as the key </a:t>
            </a:r>
            <a:r>
              <a:rPr lang="en-US" sz="3300" dirty="0" smtClean="0"/>
              <a:t>for encryption.</a:t>
            </a:r>
          </a:p>
          <a:p>
            <a:pPr algn="just"/>
            <a:r>
              <a:rPr lang="en-US" sz="3300" dirty="0" smtClean="0">
                <a:solidFill>
                  <a:srgbClr val="FF0000"/>
                </a:solidFill>
              </a:rPr>
              <a:t>The idea can be shown as an array of bytes:</a:t>
            </a:r>
          </a:p>
          <a:p>
            <a:pPr lvl="2" algn="just"/>
            <a:r>
              <a:rPr lang="en-US" sz="3300" dirty="0" smtClean="0">
                <a:solidFill>
                  <a:srgbClr val="FF0000"/>
                </a:solidFill>
              </a:rPr>
              <a:t>S[0] S[1] S[2] … S[255]</a:t>
            </a:r>
          </a:p>
          <a:p>
            <a:pPr algn="just"/>
            <a:r>
              <a:rPr lang="en-US" sz="3300" dirty="0" smtClean="0"/>
              <a:t>Note that the indices of the elements </a:t>
            </a:r>
            <a:r>
              <a:rPr lang="en-US" sz="3300" dirty="0" smtClean="0">
                <a:solidFill>
                  <a:srgbClr val="FF0000"/>
                </a:solidFill>
              </a:rPr>
              <a:t>range between 0 and 255.</a:t>
            </a:r>
            <a:r>
              <a:rPr lang="en-US" sz="3300" dirty="0" smtClean="0"/>
              <a:t> The contents of each element is also a byte (8 bits) that can be interpreted as an integer between 0 to 255.</a:t>
            </a:r>
          </a:p>
        </p:txBody>
      </p:sp>
    </p:spTree>
    <p:extLst>
      <p:ext uri="{BB962C8B-B14F-4D97-AF65-F5344CB8AC3E}">
        <p14:creationId xmlns:p14="http://schemas.microsoft.com/office/powerpoint/2010/main" val="275155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762000"/>
            <a:ext cx="6172783" cy="4573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927" y="83261"/>
            <a:ext cx="7610144" cy="1074319"/>
          </a:xfrm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80975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RC4</a:t>
            </a:r>
            <a:r>
              <a:rPr spc="-1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Key</a:t>
            </a:r>
            <a:r>
              <a:rPr spc="-12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Schedule</a:t>
            </a:r>
          </a:p>
        </p:txBody>
      </p:sp>
      <p:sp>
        <p:nvSpPr>
          <p:cNvPr id="3" name="object 3"/>
          <p:cNvSpPr/>
          <p:nvPr/>
        </p:nvSpPr>
        <p:spPr>
          <a:xfrm>
            <a:off x="583214" y="1762061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69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0668" y="1586506"/>
            <a:ext cx="7958532" cy="3959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35050">
              <a:lnSpc>
                <a:spcPct val="110100"/>
              </a:lnSpc>
              <a:spcBef>
                <a:spcPts val="100"/>
              </a:spcBef>
            </a:pPr>
            <a:r>
              <a:rPr lang="en-US" sz="3200" dirty="0">
                <a:latin typeface="Calibri"/>
                <a:cs typeface="Calibri"/>
              </a:rPr>
              <a:t>S</a:t>
            </a:r>
            <a:r>
              <a:rPr sz="3200" dirty="0" smtClean="0">
                <a:latin typeface="Calibri"/>
                <a:cs typeface="Calibri"/>
              </a:rPr>
              <a:t>tarts</a:t>
            </a:r>
            <a:r>
              <a:rPr sz="3200" spc="-80" dirty="0" smtClean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array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32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32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numbers:</a:t>
            </a:r>
            <a:r>
              <a:rPr sz="3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0..255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temporary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vector</a:t>
            </a:r>
            <a:r>
              <a:rPr sz="32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3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32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also</a:t>
            </a:r>
            <a:r>
              <a:rPr sz="32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created</a:t>
            </a:r>
            <a:endParaRPr sz="3200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 marR="678180">
              <a:lnSpc>
                <a:spcPts val="3460"/>
              </a:lnSpc>
              <a:spcBef>
                <a:spcPts val="819"/>
              </a:spcBef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length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32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32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256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bytes</a:t>
            </a:r>
            <a:r>
              <a:rPr sz="32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,then</a:t>
            </a:r>
            <a:r>
              <a:rPr sz="3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32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transferred</a:t>
            </a:r>
            <a:r>
              <a:rPr sz="32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32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endParaRPr sz="3200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  <a:spcBef>
                <a:spcPts val="715"/>
              </a:spcBef>
            </a:pPr>
            <a:r>
              <a:rPr sz="3200" dirty="0">
                <a:latin typeface="Calibri"/>
                <a:cs typeface="Calibri"/>
              </a:rPr>
              <a:t>For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length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‘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keylen’</a:t>
            </a:r>
            <a:r>
              <a:rPr sz="3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bytes,</a:t>
            </a:r>
            <a:r>
              <a:rPr sz="32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first keylen</a:t>
            </a:r>
            <a:r>
              <a:rPr sz="3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elements</a:t>
            </a:r>
            <a:r>
              <a:rPr sz="32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32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3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copied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then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32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3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repeated</a:t>
            </a:r>
            <a:r>
              <a:rPr sz="3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3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many</a:t>
            </a:r>
            <a:r>
              <a:rPr sz="3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times</a:t>
            </a:r>
            <a:r>
              <a:rPr sz="3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3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necessary</a:t>
            </a:r>
            <a:r>
              <a:rPr sz="3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32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fill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out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3200" spc="-25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3189" y="2299119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17" y="146469"/>
                </a:lnTo>
                <a:lnTo>
                  <a:pt x="0" y="292950"/>
                </a:lnTo>
                <a:lnTo>
                  <a:pt x="253759" y="146469"/>
                </a:lnTo>
                <a:lnTo>
                  <a:pt x="96000" y="146469"/>
                </a:lnTo>
                <a:lnTo>
                  <a:pt x="26722" y="26517"/>
                </a:lnTo>
                <a:lnTo>
                  <a:pt x="45942" y="26517"/>
                </a:lnTo>
                <a:lnTo>
                  <a:pt x="0" y="0"/>
                </a:lnTo>
                <a:close/>
              </a:path>
              <a:path w="254000" h="293369">
                <a:moveTo>
                  <a:pt x="45942" y="26517"/>
                </a:moveTo>
                <a:lnTo>
                  <a:pt x="26722" y="26517"/>
                </a:lnTo>
                <a:lnTo>
                  <a:pt x="234361" y="146469"/>
                </a:lnTo>
                <a:lnTo>
                  <a:pt x="253759" y="146469"/>
                </a:lnTo>
                <a:lnTo>
                  <a:pt x="45942" y="26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3189" y="2835821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17" y="146469"/>
                </a:lnTo>
                <a:lnTo>
                  <a:pt x="0" y="292950"/>
                </a:lnTo>
                <a:lnTo>
                  <a:pt x="253759" y="146469"/>
                </a:lnTo>
                <a:lnTo>
                  <a:pt x="96000" y="146469"/>
                </a:lnTo>
                <a:lnTo>
                  <a:pt x="26722" y="26517"/>
                </a:lnTo>
                <a:lnTo>
                  <a:pt x="45942" y="26517"/>
                </a:lnTo>
                <a:lnTo>
                  <a:pt x="0" y="0"/>
                </a:lnTo>
                <a:close/>
              </a:path>
              <a:path w="254000" h="293369">
                <a:moveTo>
                  <a:pt x="45942" y="26517"/>
                </a:moveTo>
                <a:lnTo>
                  <a:pt x="26722" y="26517"/>
                </a:lnTo>
                <a:lnTo>
                  <a:pt x="234361" y="146469"/>
                </a:lnTo>
                <a:lnTo>
                  <a:pt x="253759" y="146469"/>
                </a:lnTo>
                <a:lnTo>
                  <a:pt x="45942" y="26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3214" y="3811206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70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70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069" y="1669516"/>
            <a:ext cx="223520" cy="257810"/>
          </a:xfrm>
          <a:custGeom>
            <a:avLst/>
            <a:gdLst/>
            <a:ahLst/>
            <a:cxnLst/>
            <a:rect l="l" t="t" r="r" b="b"/>
            <a:pathLst>
              <a:path w="223520" h="257810">
                <a:moveTo>
                  <a:pt x="0" y="0"/>
                </a:moveTo>
                <a:lnTo>
                  <a:pt x="74527" y="128854"/>
                </a:lnTo>
                <a:lnTo>
                  <a:pt x="0" y="257708"/>
                </a:lnTo>
                <a:lnTo>
                  <a:pt x="223232" y="128854"/>
                </a:lnTo>
                <a:lnTo>
                  <a:pt x="84452" y="128854"/>
                </a:lnTo>
                <a:lnTo>
                  <a:pt x="23507" y="23329"/>
                </a:lnTo>
                <a:lnTo>
                  <a:pt x="40417" y="23329"/>
                </a:lnTo>
                <a:lnTo>
                  <a:pt x="0" y="0"/>
                </a:lnTo>
                <a:close/>
              </a:path>
              <a:path w="223520" h="257810">
                <a:moveTo>
                  <a:pt x="40417" y="23329"/>
                </a:moveTo>
                <a:lnTo>
                  <a:pt x="23507" y="23329"/>
                </a:lnTo>
                <a:lnTo>
                  <a:pt x="206167" y="128854"/>
                </a:lnTo>
                <a:lnTo>
                  <a:pt x="223232" y="128854"/>
                </a:lnTo>
                <a:lnTo>
                  <a:pt x="40417" y="23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0668" y="1508963"/>
            <a:ext cx="3606800" cy="9099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Initialization</a:t>
            </a:r>
            <a:endParaRPr sz="2800">
              <a:latin typeface="Courier New"/>
              <a:cs typeface="Courier New"/>
            </a:endParaRPr>
          </a:p>
          <a:p>
            <a:pPr marL="125095">
              <a:lnSpc>
                <a:spcPct val="100000"/>
              </a:lnSpc>
              <a:spcBef>
                <a:spcPts val="334"/>
              </a:spcBef>
            </a:pP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0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255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31925" y="2493512"/>
          <a:ext cx="4264023" cy="747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7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8178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4015">
                <a:tc>
                  <a:txBody>
                    <a:bodyPr/>
                    <a:lstStyle/>
                    <a:p>
                      <a:pPr marR="52069" algn="ctr">
                        <a:lnSpc>
                          <a:spcPts val="2480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S[i]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i;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R="52705" algn="ctr">
                        <a:lnSpc>
                          <a:spcPts val="2705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T[i]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705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K[i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705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mod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705"/>
                        </a:lnSpc>
                      </a:pPr>
                      <a:r>
                        <a:rPr sz="2400" spc="-10" dirty="0">
                          <a:latin typeface="Courier New"/>
                          <a:cs typeface="Courier New"/>
                        </a:rPr>
                        <a:t>keylen];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83214" y="3768534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70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70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0668" y="3584480"/>
            <a:ext cx="6259195" cy="218884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32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Initial</a:t>
            </a:r>
            <a:r>
              <a:rPr sz="3200" b="1" u="sng" spc="-1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permutation</a:t>
            </a:r>
            <a:r>
              <a:rPr sz="3200" b="1" u="sng" spc="-1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3200" b="1" u="sng" spc="-9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3200" b="1" u="sng" spc="-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</a:t>
            </a:r>
            <a:endParaRPr sz="3200">
              <a:latin typeface="Courier New"/>
              <a:cs typeface="Courier New"/>
            </a:endParaRPr>
          </a:p>
          <a:p>
            <a:pPr marL="125095">
              <a:lnSpc>
                <a:spcPct val="100000"/>
              </a:lnSpc>
              <a:spcBef>
                <a:spcPts val="350"/>
              </a:spcBef>
            </a:pPr>
            <a:r>
              <a:rPr sz="2400" dirty="0">
                <a:latin typeface="Courier New"/>
                <a:cs typeface="Courier New"/>
              </a:rPr>
              <a:t>j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125095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0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255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58293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Courier New"/>
                <a:cs typeface="Courier New"/>
              </a:rPr>
              <a:t>j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(j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+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S[i]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+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T[i])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(mod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256)</a:t>
            </a:r>
            <a:endParaRPr sz="2400">
              <a:latin typeface="Courier New"/>
              <a:cs typeface="Courier New"/>
            </a:endParaRPr>
          </a:p>
          <a:p>
            <a:pPr marL="58293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Courier New"/>
                <a:cs typeface="Courier New"/>
              </a:rPr>
              <a:t>swap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(S[i],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S[j])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927" y="83261"/>
            <a:ext cx="7610144" cy="1074319"/>
          </a:xfrm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70307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RC4</a:t>
            </a:r>
            <a:r>
              <a:rPr spc="-1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Encryption</a:t>
            </a:r>
            <a:r>
              <a:rPr spc="-114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0306"/>
            <a:ext cx="7439025" cy="17735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encryption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continues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shuffling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array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values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Stream</a:t>
            </a:r>
            <a:r>
              <a:rPr sz="32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Generation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Courier New"/>
                <a:cs typeface="Courier New"/>
              </a:rPr>
              <a:t>i,j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5" dirty="0">
                <a:latin typeface="Courier New"/>
                <a:cs typeface="Courier New"/>
              </a:rPr>
              <a:t> 0;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Courier New"/>
                <a:cs typeface="Courier New"/>
              </a:rPr>
              <a:t>While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(true)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31925" y="3344624"/>
          <a:ext cx="3874135" cy="1627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08978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11150">
                <a:tc gridSpan="2">
                  <a:txBody>
                    <a:bodyPr/>
                    <a:lstStyle/>
                    <a:p>
                      <a:pPr marL="31750">
                        <a:lnSpc>
                          <a:spcPts val="206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(i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ts val="206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1)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mod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256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0515">
                <a:tc gridSpan="2">
                  <a:txBody>
                    <a:bodyPr/>
                    <a:lstStyle/>
                    <a:p>
                      <a:pPr marL="31750">
                        <a:lnSpc>
                          <a:spcPts val="225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j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(j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ts val="225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S[i])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mod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256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5280">
                <a:tc gridSpan="5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swap(S[i],</a:t>
                      </a:r>
                      <a:r>
                        <a:rPr sz="20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S[j])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0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(S[i]</a:t>
                      </a:r>
                      <a:r>
                        <a:rPr sz="2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S[j])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mod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256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R="36830" algn="ctr">
                        <a:lnSpc>
                          <a:spcPts val="225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ts val="225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S[t];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927" y="83261"/>
            <a:ext cx="7610144" cy="1074319"/>
          </a:xfrm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70307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RC4</a:t>
            </a:r>
            <a:r>
              <a:rPr spc="-1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Encryption</a:t>
            </a:r>
            <a:r>
              <a:rPr spc="-114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256145" cy="2073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spc="-14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encrypt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XOR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next </a:t>
            </a:r>
            <a:r>
              <a:rPr sz="3200" dirty="0">
                <a:latin typeface="Calibri"/>
                <a:cs typeface="Calibri"/>
              </a:rPr>
              <a:t>byte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plain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text.</a:t>
            </a:r>
            <a:endParaRPr sz="3200">
              <a:latin typeface="Calibri"/>
              <a:cs typeface="Calibri"/>
            </a:endParaRPr>
          </a:p>
          <a:p>
            <a:pPr marL="356870" marR="5715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spc="-14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decrypt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XOR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next </a:t>
            </a:r>
            <a:r>
              <a:rPr sz="3200" dirty="0">
                <a:latin typeface="Calibri"/>
                <a:cs typeface="Calibri"/>
              </a:rPr>
              <a:t>byte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cipher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text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927" y="83261"/>
            <a:ext cx="7610144" cy="795473"/>
          </a:xfrm>
          <a:prstGeom prst="rect">
            <a:avLst/>
          </a:prstGeom>
        </p:spPr>
        <p:txBody>
          <a:bodyPr vert="horz" wrap="square" lIns="0" tIns="117220" rIns="0" bIns="0" rtlCol="0">
            <a:spAutoFit/>
          </a:bodyPr>
          <a:lstStyle/>
          <a:p>
            <a:pPr marL="215138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0000"/>
                </a:solidFill>
              </a:rPr>
              <a:t>RC4</a:t>
            </a:r>
            <a:r>
              <a:rPr spc="-10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" y="1168400"/>
            <a:ext cx="736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927" y="83261"/>
            <a:ext cx="7610144" cy="1074319"/>
          </a:xfrm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2392045">
              <a:lnSpc>
                <a:spcPct val="100000"/>
              </a:lnSpc>
              <a:spcBef>
                <a:spcPts val="90"/>
              </a:spcBef>
            </a:pPr>
            <a:r>
              <a:rPr b="1" dirty="0">
                <a:solidFill>
                  <a:srgbClr val="FF0000"/>
                </a:solidFill>
              </a:rPr>
              <a:t>RC4</a:t>
            </a:r>
            <a:r>
              <a:rPr b="1" spc="-110" dirty="0">
                <a:solidFill>
                  <a:srgbClr val="FF0000"/>
                </a:solidFill>
              </a:rPr>
              <a:t> </a:t>
            </a:r>
            <a:r>
              <a:rPr b="1" spc="-10" dirty="0">
                <a:solidFill>
                  <a:srgbClr val="FF0000"/>
                </a:solidFill>
              </a:rPr>
              <a:t>Security</a:t>
            </a:r>
          </a:p>
        </p:txBody>
      </p:sp>
      <p:sp>
        <p:nvSpPr>
          <p:cNvPr id="3" name="object 3"/>
          <p:cNvSpPr/>
          <p:nvPr/>
        </p:nvSpPr>
        <p:spPr>
          <a:xfrm>
            <a:off x="583214" y="1734629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69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36244" y="1510650"/>
            <a:ext cx="8002270" cy="280717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algn="just">
              <a:lnSpc>
                <a:spcPct val="100000"/>
              </a:lnSpc>
              <a:spcBef>
                <a:spcPts val="869"/>
              </a:spcBef>
            </a:pPr>
            <a:r>
              <a:rPr lang="en-US" dirty="0"/>
              <a:t>C</a:t>
            </a:r>
            <a:r>
              <a:rPr dirty="0" smtClean="0"/>
              <a:t>laimed</a:t>
            </a:r>
            <a:r>
              <a:rPr spc="-114" dirty="0" smtClean="0"/>
              <a:t> </a:t>
            </a:r>
            <a:r>
              <a:rPr dirty="0"/>
              <a:t>secure</a:t>
            </a:r>
            <a:r>
              <a:rPr spc="-95" dirty="0"/>
              <a:t> </a:t>
            </a:r>
            <a:r>
              <a:rPr dirty="0"/>
              <a:t>against</a:t>
            </a:r>
            <a:r>
              <a:rPr spc="-120" dirty="0"/>
              <a:t> </a:t>
            </a:r>
            <a:r>
              <a:rPr dirty="0"/>
              <a:t>known</a:t>
            </a:r>
            <a:r>
              <a:rPr spc="-75" dirty="0"/>
              <a:t> </a:t>
            </a:r>
            <a:r>
              <a:rPr spc="-10" dirty="0"/>
              <a:t>attacks</a:t>
            </a:r>
          </a:p>
          <a:p>
            <a:pPr marL="469265" algn="just">
              <a:lnSpc>
                <a:spcPct val="100000"/>
              </a:lnSpc>
              <a:spcBef>
                <a:spcPts val="690"/>
              </a:spcBef>
            </a:pPr>
            <a:r>
              <a:rPr sz="2800" dirty="0"/>
              <a:t>have</a:t>
            </a:r>
            <a:r>
              <a:rPr sz="2800" spc="-70" dirty="0"/>
              <a:t> </a:t>
            </a:r>
            <a:r>
              <a:rPr sz="2800" dirty="0"/>
              <a:t>some</a:t>
            </a:r>
            <a:r>
              <a:rPr sz="2800" spc="-55" dirty="0"/>
              <a:t> </a:t>
            </a:r>
            <a:r>
              <a:rPr sz="2800" dirty="0"/>
              <a:t>analysis,</a:t>
            </a:r>
            <a:r>
              <a:rPr sz="2800" spc="-75" dirty="0"/>
              <a:t> </a:t>
            </a:r>
            <a:r>
              <a:rPr sz="2800" dirty="0"/>
              <a:t>none</a:t>
            </a:r>
            <a:r>
              <a:rPr sz="2800" spc="-40" dirty="0"/>
              <a:t> </a:t>
            </a:r>
            <a:r>
              <a:rPr sz="2800" spc="-10" dirty="0"/>
              <a:t>practical</a:t>
            </a:r>
            <a:endParaRPr sz="2800" dirty="0"/>
          </a:p>
          <a:p>
            <a:pPr marL="356870" algn="just">
              <a:lnSpc>
                <a:spcPct val="100000"/>
              </a:lnSpc>
              <a:spcBef>
                <a:spcPts val="755"/>
              </a:spcBef>
            </a:pPr>
            <a:r>
              <a:rPr lang="en-US" dirty="0"/>
              <a:t>R</a:t>
            </a:r>
            <a:r>
              <a:rPr dirty="0" smtClean="0"/>
              <a:t>esult</a:t>
            </a:r>
            <a:r>
              <a:rPr spc="-45" dirty="0" smtClean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very</a:t>
            </a:r>
            <a:r>
              <a:rPr spc="-50" dirty="0"/>
              <a:t> </a:t>
            </a:r>
            <a:r>
              <a:rPr spc="-10" dirty="0"/>
              <a:t>non-linear</a:t>
            </a:r>
          </a:p>
          <a:p>
            <a:pPr marL="356870" marR="5080" algn="just">
              <a:lnSpc>
                <a:spcPct val="100000"/>
              </a:lnSpc>
              <a:spcBef>
                <a:spcPts val="770"/>
              </a:spcBef>
            </a:pPr>
            <a:r>
              <a:rPr lang="en-US" dirty="0"/>
              <a:t>S</a:t>
            </a:r>
            <a:r>
              <a:rPr dirty="0" smtClean="0"/>
              <a:t>ince</a:t>
            </a:r>
            <a:r>
              <a:rPr spc="-85" dirty="0" smtClean="0"/>
              <a:t> </a:t>
            </a:r>
            <a:r>
              <a:rPr dirty="0"/>
              <a:t>RC4</a:t>
            </a:r>
            <a:r>
              <a:rPr spc="-85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stream</a:t>
            </a:r>
            <a:r>
              <a:rPr spc="-60" dirty="0"/>
              <a:t> </a:t>
            </a:r>
            <a:r>
              <a:rPr spc="-30" dirty="0"/>
              <a:t>cipher,</a:t>
            </a:r>
            <a:r>
              <a:rPr spc="-85" dirty="0"/>
              <a:t> </a:t>
            </a:r>
            <a:r>
              <a:rPr dirty="0"/>
              <a:t>must</a:t>
            </a:r>
            <a:r>
              <a:rPr spc="-10" dirty="0"/>
              <a:t> </a:t>
            </a:r>
            <a:r>
              <a:rPr b="1" dirty="0">
                <a:latin typeface="Calibri"/>
                <a:cs typeface="Calibri"/>
              </a:rPr>
              <a:t>never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reuse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key</a:t>
            </a:r>
          </a:p>
        </p:txBody>
      </p:sp>
      <p:sp>
        <p:nvSpPr>
          <p:cNvPr id="5" name="object 5"/>
          <p:cNvSpPr/>
          <p:nvPr/>
        </p:nvSpPr>
        <p:spPr>
          <a:xfrm>
            <a:off x="583189" y="2832773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17" y="146469"/>
                </a:lnTo>
                <a:lnTo>
                  <a:pt x="0" y="292950"/>
                </a:lnTo>
                <a:lnTo>
                  <a:pt x="253759" y="146469"/>
                </a:lnTo>
                <a:lnTo>
                  <a:pt x="96000" y="146469"/>
                </a:lnTo>
                <a:lnTo>
                  <a:pt x="26722" y="26517"/>
                </a:lnTo>
                <a:lnTo>
                  <a:pt x="45942" y="26517"/>
                </a:lnTo>
                <a:lnTo>
                  <a:pt x="0" y="0"/>
                </a:lnTo>
                <a:close/>
              </a:path>
              <a:path w="254000" h="293369">
                <a:moveTo>
                  <a:pt x="45942" y="26517"/>
                </a:moveTo>
                <a:lnTo>
                  <a:pt x="26722" y="26517"/>
                </a:lnTo>
                <a:lnTo>
                  <a:pt x="234361" y="146469"/>
                </a:lnTo>
                <a:lnTo>
                  <a:pt x="253759" y="146469"/>
                </a:lnTo>
                <a:lnTo>
                  <a:pt x="45942" y="26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3189" y="3418243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70">
                <a:moveTo>
                  <a:pt x="0" y="0"/>
                </a:moveTo>
                <a:lnTo>
                  <a:pt x="84717" y="146469"/>
                </a:lnTo>
                <a:lnTo>
                  <a:pt x="0" y="292950"/>
                </a:lnTo>
                <a:lnTo>
                  <a:pt x="253759" y="146469"/>
                </a:lnTo>
                <a:lnTo>
                  <a:pt x="96000" y="146469"/>
                </a:lnTo>
                <a:lnTo>
                  <a:pt x="26722" y="26517"/>
                </a:lnTo>
                <a:lnTo>
                  <a:pt x="45942" y="26517"/>
                </a:lnTo>
                <a:lnTo>
                  <a:pt x="0" y="0"/>
                </a:lnTo>
                <a:close/>
              </a:path>
              <a:path w="254000" h="293370">
                <a:moveTo>
                  <a:pt x="45942" y="26517"/>
                </a:moveTo>
                <a:lnTo>
                  <a:pt x="26722" y="26517"/>
                </a:lnTo>
                <a:lnTo>
                  <a:pt x="234361" y="146469"/>
                </a:lnTo>
                <a:lnTo>
                  <a:pt x="253759" y="146469"/>
                </a:lnTo>
                <a:lnTo>
                  <a:pt x="45942" y="26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927" y="83261"/>
            <a:ext cx="7610144" cy="1074319"/>
          </a:xfrm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3368040">
              <a:lnSpc>
                <a:spcPct val="100000"/>
              </a:lnSpc>
              <a:spcBef>
                <a:spcPts val="90"/>
              </a:spcBef>
            </a:pPr>
            <a:r>
              <a:rPr spc="-25" dirty="0">
                <a:solidFill>
                  <a:srgbClr val="FF0000"/>
                </a:solidFill>
              </a:rPr>
              <a:t>RC4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0650"/>
            <a:ext cx="7808595" cy="402653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Divided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parts</a:t>
            </a:r>
            <a:endParaRPr sz="3200">
              <a:latin typeface="Calibri"/>
              <a:cs typeface="Calibri"/>
            </a:endParaRPr>
          </a:p>
          <a:p>
            <a:pPr marL="535305" lvl="1" indent="-431165">
              <a:lnSpc>
                <a:spcPct val="100000"/>
              </a:lnSpc>
              <a:spcBef>
                <a:spcPts val="770"/>
              </a:spcBef>
              <a:buAutoNum type="romanLcParenBoth"/>
              <a:tabLst>
                <a:tab pos="535305" algn="l"/>
              </a:tabLst>
            </a:pPr>
            <a:r>
              <a:rPr sz="3200" dirty="0">
                <a:latin typeface="Calibri"/>
                <a:cs typeface="Calibri"/>
              </a:rPr>
              <a:t>Key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Scheduling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Algorithm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(KSA)</a:t>
            </a:r>
            <a:endParaRPr sz="3200">
              <a:latin typeface="Calibri"/>
              <a:cs typeface="Calibri"/>
            </a:endParaRPr>
          </a:p>
          <a:p>
            <a:pPr marL="721360" marR="714375" lvl="1" indent="-526415">
              <a:lnSpc>
                <a:spcPts val="4610"/>
              </a:lnSpc>
              <a:spcBef>
                <a:spcPts val="285"/>
              </a:spcBef>
              <a:buAutoNum type="romanLcParenBoth"/>
              <a:tabLst>
                <a:tab pos="842010" algn="l"/>
              </a:tabLst>
            </a:pPr>
            <a:r>
              <a:rPr sz="3200" dirty="0">
                <a:latin typeface="Calibri"/>
                <a:cs typeface="Calibri"/>
              </a:rPr>
              <a:t>Pseudo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Random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Generation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Algorithm 	(PRGA)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48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Run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PRGA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KSA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generate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Key </a:t>
            </a:r>
            <a:r>
              <a:rPr sz="3200" spc="-10" dirty="0">
                <a:latin typeface="Calibri"/>
                <a:cs typeface="Calibri"/>
              </a:rPr>
              <a:t>stream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XOR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</TotalTime>
  <Words>521</Words>
  <Application>Microsoft Office PowerPoint</Application>
  <PresentationFormat>On-screen Show (4:3)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 MT</vt:lpstr>
      <vt:lpstr>Calibri</vt:lpstr>
      <vt:lpstr>Courier New</vt:lpstr>
      <vt:lpstr>Times New Roman</vt:lpstr>
      <vt:lpstr>Office Theme</vt:lpstr>
      <vt:lpstr>Stream Ciphers</vt:lpstr>
      <vt:lpstr>Stream Cipher Structure</vt:lpstr>
      <vt:lpstr>RC4- Rivest Cipher</vt:lpstr>
      <vt:lpstr>State</vt:lpstr>
      <vt:lpstr>PowerPoint Presentation</vt:lpstr>
      <vt:lpstr>RC4 Key Schedule</vt:lpstr>
      <vt:lpstr>Initialization for i = 0 to 255 do</vt:lpstr>
      <vt:lpstr>RC4 Encryption (1)</vt:lpstr>
      <vt:lpstr>RC4 Encryption (2)</vt:lpstr>
      <vt:lpstr>RC4 Overview</vt:lpstr>
      <vt:lpstr>RC4 Security</vt:lpstr>
      <vt:lpstr>RC4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9d8c6c0c-802a-4dd3-bfee-624cd07ff055.pdf</dc:title>
  <dc:creator>Soda PDF Online</dc:creator>
  <cp:lastModifiedBy>lenovo</cp:lastModifiedBy>
  <cp:revision>27</cp:revision>
  <dcterms:created xsi:type="dcterms:W3CDTF">2024-01-23T00:46:42Z</dcterms:created>
  <dcterms:modified xsi:type="dcterms:W3CDTF">2025-01-09T16:44:14Z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2019-09-24T00:00:00Z</vt:filetime>
  </property>
  <property fmtid="{D5CDD505-2E9C-101B-9397-08002B2CF9AE}" pid="3" name="Creator">
    <vt:lpwstr>Soda PDF Online</vt:lpwstr>
  </property>
  <property fmtid="{D5CDD505-2E9C-101B-9397-08002B2CF9AE}" pid="4" name="LastSaved">
    <vt:filetime>2024-01-23T00:00:00Z</vt:filetime>
  </property>
  <property fmtid="{D5CDD505-2E9C-101B-9397-08002B2CF9AE}" pid="5" name="Producer">
    <vt:lpwstr>Soda PDF Online</vt:lpwstr>
  </property>
</Properties>
</file>