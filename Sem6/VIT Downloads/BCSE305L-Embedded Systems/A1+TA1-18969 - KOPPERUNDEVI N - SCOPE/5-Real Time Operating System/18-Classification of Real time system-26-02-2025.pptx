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8" r:id="rId7"/>
    <p:sldId id="267" r:id="rId8"/>
    <p:sldId id="261" r:id="rId9"/>
    <p:sldId id="269" r:id="rId10"/>
    <p:sldId id="262" r:id="rId11"/>
    <p:sldId id="263" r:id="rId12"/>
    <p:sldId id="359" r:id="rId13"/>
    <p:sldId id="362" r:id="rId14"/>
    <p:sldId id="363" r:id="rId15"/>
    <p:sldId id="365" r:id="rId16"/>
    <p:sldId id="364" r:id="rId17"/>
    <p:sldId id="366" r:id="rId18"/>
    <p:sldId id="264" r:id="rId19"/>
    <p:sldId id="367" r:id="rId20"/>
    <p:sldId id="368" r:id="rId21"/>
    <p:sldId id="369" r:id="rId22"/>
    <p:sldId id="265" r:id="rId23"/>
    <p:sldId id="345" r:id="rId24"/>
    <p:sldId id="335" r:id="rId25"/>
    <p:sldId id="336" r:id="rId26"/>
    <p:sldId id="337" r:id="rId27"/>
    <p:sldId id="338" r:id="rId28"/>
    <p:sldId id="339" r:id="rId29"/>
    <p:sldId id="340" r:id="rId30"/>
    <p:sldId id="342" r:id="rId31"/>
    <p:sldId id="343" r:id="rId32"/>
    <p:sldId id="344" r:id="rId33"/>
    <p:sldId id="346" r:id="rId34"/>
    <p:sldId id="347" r:id="rId35"/>
    <p:sldId id="348" r:id="rId36"/>
    <p:sldId id="34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8BFF26-7E31-4CA1-9045-4E2C73297E6B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662AD-D54A-41BF-B0BF-064420A37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12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21D2E85A-AF88-E484-8456-1D8C761DB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3897227-1E1B-4A7D-BD93-D541C67F3B82}" type="slidenum">
              <a:rPr lang="zh-TW" altLang="en-US" sz="1200"/>
              <a:pPr>
                <a:spcBef>
                  <a:spcPct val="0"/>
                </a:spcBef>
              </a:pPr>
              <a:t>23</a:t>
            </a:fld>
            <a:endParaRPr lang="en-US" altLang="zh-TW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BCFD1E7E-7613-7F83-744F-11B5D5C518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8A3FF804-B844-5AFB-2F78-2F43445E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is the comparison of hard and soft real-time systems.</a:t>
            </a:r>
          </a:p>
          <a:p>
            <a:r>
              <a:rPr lang="en-US" altLang="zh-TW"/>
              <a:t>X-axis denotes the time while Y-axis denotes the value.</a:t>
            </a:r>
          </a:p>
          <a:p>
            <a:r>
              <a:rPr lang="en-US" altLang="zh-TW"/>
              <a:t>For hard RTS, once missing deadline, the system’s value is negative, which means the system is damaged. In contrast, in a soft RTS, the value is still positive after missing deadline. However, if the finish time is far behind deadline, the value would also become negative.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6806F68-1EB4-2B8F-56B5-A33BA5DFD3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433A6B5-17EC-48FC-8E3C-F59614275BAC}" type="slidenum">
              <a:rPr lang="zh-TW" altLang="en-US" sz="1200"/>
              <a:pPr>
                <a:spcBef>
                  <a:spcPct val="0"/>
                </a:spcBef>
              </a:pPr>
              <a:t>24</a:t>
            </a:fld>
            <a:endParaRPr lang="en-US" altLang="zh-TW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8723F16-B5F9-3FD5-AB94-0EC60EEA7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BF19BBB-AEC7-F900-E48B-4E76F0692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We assume that system activation entities consists of Job and Task.</a:t>
            </a:r>
          </a:p>
          <a:p>
            <a:r>
              <a:rPr lang="en-US" altLang="zh-TW"/>
              <a:t>Job denotes a set of execution flow while Tasks denotes a set of related jobs that cooperate to provide a specific system function.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5CC2257-5C25-47CD-04C4-0B6CED8E37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49AC71D-D90E-4EED-A280-1B6EB74BFF0F}" type="slidenum">
              <a:rPr lang="zh-TW" altLang="en-US" sz="1200"/>
              <a:pPr>
                <a:spcBef>
                  <a:spcPct val="0"/>
                </a:spcBef>
              </a:pPr>
              <a:t>25</a:t>
            </a:fld>
            <a:endParaRPr lang="en-US" altLang="zh-TW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FEE50AB1-7841-021B-AC48-D669AC620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A67DBAB-B598-C98C-6924-EE7D316081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This and following slides shows the job’s timing characteristics, including release time, response time, relative deadlines and (absolute deadline)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FBC465D2-B7BD-F13F-BE9D-2836C6678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4884BF-8BF7-4500-9D34-5436BBCC1ADD}" type="slidenum">
              <a:rPr lang="zh-TW" altLang="en-US" sz="1200"/>
              <a:pPr>
                <a:spcBef>
                  <a:spcPct val="0"/>
                </a:spcBef>
              </a:pPr>
              <a:t>26</a:t>
            </a:fld>
            <a:endParaRPr lang="en-US" altLang="zh-TW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9A27001-F033-A10B-0E92-113F9E45DE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1C01AF7-3D9D-884C-3E0F-BEF817C5E4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542EEB5E-ECBF-DD49-E4EE-748BEA20C1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D0B2549-9236-48F4-94CF-8D293775D0A5}" type="slidenum">
              <a:rPr lang="zh-TW" altLang="en-US" sz="1200" smtClean="0"/>
              <a:pPr/>
              <a:t>27</a:t>
            </a:fld>
            <a:endParaRPr lang="en-US" altLang="zh-TW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707FB35C-984C-B4B3-A5E3-2A88C27749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492DBE3-A3B5-778A-D080-B2563E8839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B4635C3F-B36A-4070-30F8-598602571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6D555FD-DDC9-4F8A-9429-27442F975118}" type="slidenum">
              <a:rPr lang="zh-TW" altLang="en-US" sz="1200" smtClean="0"/>
              <a:pPr/>
              <a:t>28</a:t>
            </a:fld>
            <a:endParaRPr lang="en-US" altLang="zh-TW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B604835-4BC4-2814-B39B-3A68073DE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23576041-30A5-7F04-22A9-F42CDF4A4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According to the regularity of task’s activation, we divide the tasks into two sets: on is the periodic task and the other is the aperiodic task.</a:t>
            </a:r>
          </a:p>
          <a:p>
            <a:r>
              <a:rPr lang="en-US" altLang="zh-TW"/>
              <a:t>Periodic tasks are regularly activated at a constant rate. Each invocation activity is called a job or an instance.</a:t>
            </a:r>
          </a:p>
          <a:p>
            <a:r>
              <a:rPr lang="en-US" altLang="zh-TW"/>
              <a:t>In contrast, the invocation of aperiodic tasks are not regular and undetermined. Thus, it is often event-driven.</a:t>
            </a:r>
          </a:p>
          <a:p>
            <a:r>
              <a:rPr lang="en-US" altLang="zh-TW"/>
              <a:t>Notably, since the uncertainly of tasks’ invocations, to off-line guarantee of aperiodic tasks’ execution, we may assume a maximum arrival rate for each event. A aperiodic task that is characterized by a minimum interval time is called a sporadic task.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C5763AB-0B1F-4DD8-4095-537AE8408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8A5798-DC3F-4B64-9483-EA1DFBAAB15E}" type="slidenum">
              <a:rPr lang="zh-TW" altLang="en-US" sz="1200" smtClean="0"/>
              <a:pPr/>
              <a:t>29</a:t>
            </a:fld>
            <a:endParaRPr lang="en-US" altLang="zh-TW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2F34F207-452E-D5FE-3ECE-0CF6BCE21F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4447F0F-985C-10B3-F7DD-29033DC848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/>
            <a:r>
              <a:rPr lang="en-US" altLang="zh-TW"/>
              <a:t>The scheduling algorithms can be classified as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Preemptive or nonpreemptive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Static or dynamic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Off-line or on-line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Optimal or heuristic</a:t>
            </a:r>
          </a:p>
          <a:p>
            <a:pPr marL="228600" indent="-228600">
              <a:buFontTx/>
              <a:buAutoNum type="arabicPeriod"/>
            </a:pPr>
            <a:r>
              <a:rPr lang="en-US" altLang="zh-TW"/>
              <a:t>Dynamic or fixed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B776CC7B-5E32-7F7D-5086-7109E884AE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71DD17-B736-48BC-81DC-DEBF3FFB7982}" type="slidenum">
              <a:rPr lang="zh-TW" altLang="en-US" sz="1200" smtClean="0"/>
              <a:pPr/>
              <a:t>30</a:t>
            </a:fld>
            <a:endParaRPr lang="en-US" altLang="zh-TW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1F8290A9-7AB0-B64F-05FA-F964CD3112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466233C1-303A-E6C0-1E1F-C401BE3FA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C032C25C-C14D-F920-B915-BB3002B83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5EB936F-A146-4A45-B077-EF74192E1406}" type="slidenum">
              <a:rPr lang="zh-TW" altLang="en-US" sz="1200" smtClean="0"/>
              <a:pPr/>
              <a:t>31</a:t>
            </a:fld>
            <a:endParaRPr lang="en-US" altLang="zh-TW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568D895-48A1-EF1B-FA44-307EAE00DF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1DC1C435-A506-C720-C1EE-49D9ED35B8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97B107D8-3AD4-0D15-6133-1DD90B880F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BACF4C-73BB-449D-9DFD-9AC34206636D}" type="slidenum">
              <a:rPr lang="zh-TW" altLang="en-US" sz="1200" smtClean="0"/>
              <a:pPr/>
              <a:t>32</a:t>
            </a:fld>
            <a:endParaRPr lang="en-US" altLang="zh-TW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659F0E6-8AFB-710F-25B8-A6CE914D8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0E203BA0-8ED3-8E53-2D97-7DD3101F1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To evaluate a hard real-time system, the metrics may be schedulability, optimality etc.</a:t>
            </a:r>
          </a:p>
          <a:p>
            <a:r>
              <a:rPr lang="en-US" altLang="zh-TW"/>
              <a:t>In contrast, to evaluate a soft real-time system, the metrics may be miss ratio, response time, etc.</a:t>
            </a:r>
          </a:p>
          <a:p>
            <a:r>
              <a:rPr lang="en-US" altLang="zh-TW"/>
              <a:t>Other metrics, including the completion time, jitter, may also be applied in the evaluation of a hard or soft real-time system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488A3DF-71A2-6005-5E5C-3D13BC254D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F1DC8A3-39C3-4870-A5FE-E7F2EB5D0CFE}" type="slidenum">
              <a:rPr lang="zh-TW" altLang="en-US" sz="1200" smtClean="0"/>
              <a:pPr/>
              <a:t>33</a:t>
            </a:fld>
            <a:endParaRPr lang="en-US" altLang="zh-TW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259B6378-BDFD-EAD6-8E7C-1C47184E2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1F66EAF2-C4A7-E5F3-C9E8-2BC41585F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The approaches to implement a real-time scheduling algorithm, depending on its characteristics, may be clock-driven or priority-driven.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348175C-D78C-4A6E-7A14-EA7B29528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D70A1D-631B-4134-BE61-21CB659A4638}" type="slidenum">
              <a:rPr lang="zh-TW" altLang="en-US" sz="1200" smtClean="0"/>
              <a:pPr/>
              <a:t>34</a:t>
            </a:fld>
            <a:endParaRPr lang="en-US" altLang="zh-TW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36EFB19-6AE6-4F5A-DE9D-2F97A30EAC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2F74EFE-7F2A-A3C0-1B99-3393F36A0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Clock-driven approach is also called time-driven. To adopt the clock-driven approach, the system must be deterministic. For example, the scheduling algorithm for periodic tasks may use the clock-driven approach since their parameters are know a priori. As a result, the scheduler often constructed by a static schedule off time. </a:t>
            </a:r>
          </a:p>
          <a:p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F28D571-55FE-D783-6FB7-D59839016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1DC470-B213-431F-B5F7-A312670369F3}" type="slidenum">
              <a:rPr lang="zh-TW" altLang="en-US" sz="1200" smtClean="0"/>
              <a:pPr/>
              <a:t>35</a:t>
            </a:fld>
            <a:endParaRPr lang="en-US" altLang="zh-TW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AFB8D631-9BAD-84E9-F476-08AAD13D9E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C8EC49F-BB77-854A-29E2-A979AC228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Priority-driven approach assigns each task a different priority and schedules tasks on the basis of their priority. </a:t>
            </a:r>
          </a:p>
          <a:p>
            <a:r>
              <a:rPr lang="en-US" altLang="zh-TW"/>
              <a:t>To assign a task’s priority, we may choose a task’s real-time or deadlines to determine its priority. Thus, priority-driven algorithms are event-driven and the event are tasks’ priority.</a:t>
            </a:r>
          </a:p>
          <a:p>
            <a:r>
              <a:rPr lang="en-US" altLang="zh-TW"/>
              <a:t>Some well-known priority-driven algorithms are FIFO and SETF.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6CFE0A32-0D7B-0F00-6E37-66A29C62B4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6D9E113-E4FC-4073-BE13-B6187D7BC7DF}" type="slidenum">
              <a:rPr lang="zh-TW" altLang="en-US" sz="1200" smtClean="0"/>
              <a:pPr/>
              <a:t>36</a:t>
            </a:fld>
            <a:endParaRPr lang="en-US" altLang="zh-TW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87D8480-B7F9-AF91-B4FE-DB3B19590C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42A07898-FF9F-D7D7-9EE4-59F3497BA0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zh-TW"/>
              <a:t>For real-time systems, depending on whether dynamic or fixed or not, the priority-driven approaches may be dynamic-priority or fixed-priority.</a:t>
            </a:r>
          </a:p>
          <a:p>
            <a:r>
              <a:rPr lang="en-US" altLang="zh-TW"/>
              <a:t>The well-known EDF algorithm is a dynamic-priority driven algorithm. In contrast the RM is a fixed-priority driven algorithm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31BD4-2437-BF79-5D87-C7D98C4D2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3FAC4-E873-2F65-2501-AC342774F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034D-8B2E-5773-C90F-4B27F06B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C1DC-6017-8141-7E21-E2C218900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190CF-9942-13D7-71FF-3CBA0938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3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F1B1-52E7-CD68-3E29-A3E301121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8DE8-CAF3-A547-8083-96FA208DE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33636-0157-2266-657B-8C54181F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83895-34A9-910B-F443-82F98290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1C8F7-9FDF-31DD-6A69-97DB94D2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61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BE09-64D5-5C34-605D-6C3BBDAA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34C59-470F-33C2-56AB-1A57058AD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EBDA-91C4-DC9D-575B-A379BDD3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14-1610-8844-4131-602011AA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0BAF4-065D-A106-5464-BBD2F119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09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92BA-C86C-9319-8453-59212D34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7F58C-7939-776C-E673-36D5E2730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D7EE8-27F1-A55B-FDF1-AAA114EF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1753C-E02F-0AC0-8702-845C3E65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9012C-1202-F41A-A220-E5C920BBA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2063F-FD3F-9639-88A8-C3CBC347D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95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B680-66C3-B141-A1EF-D639F8C9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6B93-D19B-DDF1-DD62-56A48958F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E59C72-8EA3-525E-9556-2E24EE54D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7A605-A16E-024A-7A38-BCDE9CE4C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49D624-FC70-2C3B-858B-4646EE17C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1CCCC-C606-5D42-7413-8E0BF3B3B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861535-7AE4-6704-FA11-9330AA9C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53FFE-5ECE-935A-2B20-9D9ECFBD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46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7610-6F56-DE60-7DC6-78EE7C037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1B360-EF89-DF41-57E0-0B2CACCE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023F4-D683-D549-6554-74DCB679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55E39-7882-C18E-BC72-266A70B9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6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235CBA-1B12-EBC5-FD20-43FD4C298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EA885-B463-9523-43F1-7E8D0E56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0AF1F-7629-A781-4F12-DCE52EA2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8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B33E-E13D-BB22-D997-36AE94ED7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FE19C-7F30-5824-6799-0D82D3918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20EC5-2549-DDB6-C380-FFB5E1116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49C0F-D142-1E74-6A26-2CD3C3BB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EA5514-CB6C-B907-3439-CC5F2A0A9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71082-941F-AE36-E3F0-3D34AAA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66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5396C-3F24-E061-61CC-30BDB146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99712C-0D55-D193-65D0-077137E987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44798-0DCA-560A-5DA0-3EB1D72AF1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375D14-F3ED-ADB6-7D04-AF2E28F3A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94C20-D130-05CB-C0E6-9ADF27D9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0C7BA-3E2D-289F-F7A1-E265A6BA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6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5861-BA39-C848-F073-BC564FCEC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FBC2A-2CEB-F4D8-48F8-F11BD7D2B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DD9DA-190E-65FA-FD0C-A2CC78D82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D7607-FA87-8CFF-6B11-94957123C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F8B3F-0783-9F3C-7C97-E560044E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67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E70EB-5241-B1B8-9522-720E70866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04024-429E-94F7-72E0-799095F05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71D3-D474-AF67-E1D0-0ED9D384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F8DEA-0B5F-03A4-3006-E2FDA01FC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3CC43-67DB-6EB3-B078-884A955C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85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5EC66F-4BE9-E130-6F4A-D232FA09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7F29E-6677-6C14-DDC1-6C60DB056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05D8-B3E3-92B4-0212-0672E95D6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0FAEF-A5C8-4F49-8F57-40A1EA4967AF}" type="datetimeFigureOut">
              <a:rPr lang="en-IN" smtClean="0"/>
              <a:t>09-02-2025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39A70-8724-717E-0DF2-B741B31BA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7011-35B0-85D7-E1E0-0F985A820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0D414-216E-4E8A-9D5A-C27FB59CF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56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551D-539F-629E-AB8B-6B3F362AB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 5</a:t>
            </a:r>
            <a:br>
              <a:rPr lang="en-IN" dirty="0"/>
            </a:br>
            <a:r>
              <a:rPr lang="en-IN" dirty="0"/>
              <a:t>Real Time 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727A91-5970-4EEF-5F0E-03241CD1F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47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C2F3E-268F-013D-7506-DA32BB44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6252-40DD-556B-41BC-1AAB42E13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Functional Requirements</a:t>
            </a:r>
          </a:p>
          <a:p>
            <a:pPr algn="l" fontAlgn="base">
              <a:buFont typeface="+mj-lt"/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of Micro-controllers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2961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9665F-CC22-DE92-5EB4-3353B401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15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Functional Requirements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1E4C3-0238-3593-E408-698CC0DA6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Based on Performance and Functional Requirements it is divided into 4 types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Real-Time Embedded Systems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Stand Alone Embedded Systems</a:t>
            </a:r>
            <a:endParaRPr lang="en-US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Networked Embedded Systems</a:t>
            </a:r>
            <a:endParaRPr lang="en-US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Mobile 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615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10BC-CFFA-9EFE-BB65-C2F651F8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Performance and micro-controller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486F9-8D18-060A-0558-479FCF1EA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Based on Performance and micro-controller it is divided into 3 types  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Small Scale Embedded Systems </a:t>
            </a:r>
          </a:p>
          <a:p>
            <a:pPr lvl="1"/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Medium Scale Embedded Systems</a:t>
            </a:r>
            <a:endParaRPr lang="en-IN" dirty="0">
              <a:solidFill>
                <a:srgbClr val="273239"/>
              </a:solidFill>
              <a:latin typeface="Nunito" pitchFamily="2" charset="0"/>
            </a:endParaRPr>
          </a:p>
          <a:p>
            <a:pPr lvl="1"/>
            <a:r>
              <a:rPr lang="en-US" i="0" dirty="0">
                <a:solidFill>
                  <a:srgbClr val="273239"/>
                </a:solidFill>
                <a:effectLst/>
                <a:latin typeface="Nunito" pitchFamily="2" charset="0"/>
              </a:rPr>
              <a:t>Sophisticated or Complex Embedded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733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4894-4D6F-CA1C-39CD-DDCF678BC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Structure of Embedded Real-time System 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2FA5F6-66C5-7FE3-763F-E490D5215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0783" y="1941528"/>
            <a:ext cx="7312666" cy="3936223"/>
          </a:xfrm>
        </p:spPr>
      </p:pic>
    </p:spTree>
    <p:extLst>
      <p:ext uri="{BB962C8B-B14F-4D97-AF65-F5344CB8AC3E}">
        <p14:creationId xmlns:p14="http://schemas.microsoft.com/office/powerpoint/2010/main" val="796933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644E1-F051-702D-8C35-E4677DCFA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3410B-16A5-97BA-9F7C-C8BC78C62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34299D-539F-4380-ABA8-DA9D505A2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463" y="1516626"/>
            <a:ext cx="9616872" cy="529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422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D4E9-CA11-8760-3A0E-640409C5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0E39-6F17-2936-D72A-C89E41326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164DC-659C-B46F-94DF-960D05FA2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332" y="1478855"/>
            <a:ext cx="875211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3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10F3A-DA58-F1DE-C9B5-E145459CA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0" dirty="0">
                <a:solidFill>
                  <a:srgbClr val="273239"/>
                </a:solidFill>
                <a:effectLst/>
                <a:latin typeface="Nunito" pitchFamily="2" charset="0"/>
              </a:rPr>
              <a:t>Real-Time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80055-C78D-E7E6-1C88-4D5B021AD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Real time system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defined as a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system in which job has deadline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job has to finished by the deadline (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strictly finished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). If a result is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delayed, huge loss may happen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 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 real-time operating system (RTOS) is a type of o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perating system that is designed to meet strict time constraints, with a guaranteed response time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for critical tasks.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 example of an RTOS is the Free RTOS, which is widely used in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embedded systems, IoT devices, and industrial control systems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pPr algn="l" fontAlgn="base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Free RTOS provides a set of real-time kernel services, such as </a:t>
            </a:r>
            <a:r>
              <a:rPr lang="en-US" b="0" i="0" dirty="0">
                <a:solidFill>
                  <a:srgbClr val="00B0F0"/>
                </a:solidFill>
                <a:effectLst/>
                <a:latin typeface="Nunito" pitchFamily="2" charset="0"/>
              </a:rPr>
              <a:t>task management, inter-task communication, and time management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to help developers create reliable and deterministic real-time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187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9C3B-7B0D-38CE-4C04-86EB119D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Real-Time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F1BE-A922-75A4-BD20-47D8562F1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1C094B-3129-F5FA-2F44-1EBF6BE3887C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549891"/>
            <a:ext cx="8229600" cy="1150937"/>
          </a:xfrm>
          <a:prstGeom prst="rect">
            <a:avLst/>
          </a:prstGeo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>
                <a:ea typeface="新細明體" panose="02020500000000000000" pitchFamily="18" charset="-120"/>
              </a:rPr>
              <a:t>The structure of a real-time system is a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controlling system</a:t>
            </a:r>
            <a:r>
              <a:rPr lang="en-US" altLang="zh-TW">
                <a:ea typeface="新細明體" panose="02020500000000000000" pitchFamily="18" charset="-120"/>
              </a:rPr>
              <a:t> and at least one </a:t>
            </a:r>
            <a:r>
              <a:rPr lang="en-US" altLang="zh-TW" i="1">
                <a:solidFill>
                  <a:schemeClr val="hlink"/>
                </a:solidFill>
                <a:ea typeface="新細明體" panose="02020500000000000000" pitchFamily="18" charset="-120"/>
              </a:rPr>
              <a:t>controlled system</a:t>
            </a:r>
            <a:endParaRPr lang="en-US" altLang="zh-TW" i="1" dirty="0">
              <a:solidFill>
                <a:schemeClr val="hlink"/>
              </a:solidFill>
              <a:ea typeface="新細明體" panose="02020500000000000000" pitchFamily="18" charset="-120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94272C1-CD68-F92E-8965-966E92455994}"/>
              </a:ext>
            </a:extLst>
          </p:cNvPr>
          <p:cNvGrpSpPr>
            <a:grpSpLocks/>
          </p:cNvGrpSpPr>
          <p:nvPr/>
        </p:nvGrpSpPr>
        <p:grpSpPr bwMode="auto">
          <a:xfrm>
            <a:off x="2131212" y="2852936"/>
            <a:ext cx="7753350" cy="3514725"/>
            <a:chOff x="340" y="2024"/>
            <a:chExt cx="4884" cy="2127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2AB59839-601B-4847-BF84-D5B97F52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2160"/>
              <a:ext cx="817" cy="440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Controlling 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D93B2801-AA6E-7186-4C66-00D295D31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2795"/>
              <a:ext cx="817" cy="44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CBC54E9A-2142-7CD7-3E8F-23C6C726F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1" y="3249"/>
              <a:ext cx="817" cy="40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454836E-874F-60E4-4B85-9A2E1F408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2795"/>
              <a:ext cx="817" cy="40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Controlled</a:t>
              </a:r>
            </a:p>
            <a:p>
              <a:pPr algn="ctr"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System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2F06E101-A483-A6AE-5852-2221AFF0C0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37" y="2568"/>
              <a:ext cx="544" cy="4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63D196F5-C725-7E62-8A40-0416E99B8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568"/>
              <a:ext cx="498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1CDFF38D-0A2D-0389-10FB-9E68E81A6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9" y="2614"/>
              <a:ext cx="0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B6C764E7-5CFF-C26D-60EA-8A84611248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F74D518A-6D05-EC42-566A-E968618366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2024"/>
              <a:ext cx="385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EEB4469B-2C01-741F-C3D5-AFD3BE4CA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2024"/>
              <a:ext cx="0" cy="18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A88AC3B9-007B-B0AC-C403-976E0D790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9" y="3884"/>
              <a:ext cx="39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4A2D7136-5F41-1789-D318-DE6759300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3022"/>
              <a:ext cx="54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98ED594F-58A9-CD5E-E093-E72B353C63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976"/>
              <a:ext cx="5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061388AE-19A0-7E4A-FD8A-78675ED104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A90170E4-567D-CF11-E9EF-5CFD5BFA95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657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761FA11B-84E6-2CAA-A8E0-B551BF9D3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750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3873EAD7-FBD7-4BF2-64C9-0377188787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2704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  <p:sp>
          <p:nvSpPr>
            <p:cNvPr id="23" name="Text Box 23">
              <a:extLst>
                <a:ext uri="{FF2B5EF4-FFF2-40B4-BE49-F238E27FC236}">
                  <a16:creationId xmlns:a16="http://schemas.microsoft.com/office/drawing/2014/main" id="{E0D8CC7F-92E5-9C0C-6B7A-A9B3A2DE4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929"/>
              <a:ext cx="484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output</a:t>
              </a:r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457E0E88-A57F-11FE-0EFB-6209B91DD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3929"/>
              <a:ext cx="412" cy="2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5000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</a:pPr>
              <a:r>
                <a:rPr kumimoji="1" lang="en-US" altLang="zh-TW" sz="1800">
                  <a:ea typeface="新細明體" panose="02020500000000000000" pitchFamily="18" charset="-120"/>
                </a:rPr>
                <a:t>input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997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83DB-DB50-8ADB-A479-533C69A2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TIME SYSTEM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F3F67-826B-70BF-0CAA-A0D077C8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Hard Real Time System</a:t>
            </a:r>
          </a:p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0"/>
              </a:rPr>
              <a:t>Soft Real Time System: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403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18BF4-4D64-9434-F144-2FDB30F38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real time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82BC-B579-9E5D-EDDF-6F41BC48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6189"/>
            <a:ext cx="10908323" cy="532562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Hard real time is a system whose operation is incorrect when result is </a:t>
            </a:r>
            <a:r>
              <a:rPr lang="en-US" dirty="0">
                <a:solidFill>
                  <a:srgbClr val="FF0000"/>
                </a:solidFill>
              </a:rPr>
              <a:t>not produce according to time constraint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In hard real-time systems, timing constraints are </a:t>
            </a:r>
            <a:r>
              <a:rPr lang="en-US" dirty="0">
                <a:solidFill>
                  <a:srgbClr val="FF0000"/>
                </a:solidFill>
              </a:rPr>
              <a:t>extremely strict </a:t>
            </a:r>
            <a:r>
              <a:rPr lang="en-US" dirty="0"/>
              <a:t>and failure to meet a deadline can have serious consequences, such as human injury or equipment damage. These systems typically require deterministic and predictable behavior, with a guaranteed response time for critical tasks. Examples include medical equipment, military defense systems, and industrial control systems.</a:t>
            </a:r>
            <a:endParaRPr lang="en-IN" dirty="0"/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dirty="0"/>
              <a:t>1. Air Traffic Control</a:t>
            </a:r>
          </a:p>
          <a:p>
            <a:pPr marL="0" indent="0" algn="just">
              <a:buNone/>
            </a:pPr>
            <a:r>
              <a:rPr lang="en-US" dirty="0"/>
              <a:t>2. Medical System </a:t>
            </a:r>
          </a:p>
        </p:txBody>
      </p:sp>
    </p:spTree>
    <p:extLst>
      <p:ext uri="{BB962C8B-B14F-4D97-AF65-F5344CB8AC3E}">
        <p14:creationId xmlns:p14="http://schemas.microsoft.com/office/powerpoint/2010/main" val="3724752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8F9CE9FD-121D-690C-7CA3-9C1B7B55C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D45218-33C1-4344-B906-217427ECD17A}" type="slidenum">
              <a:rPr lang="zh-TW" altLang="en-US" sz="1400"/>
              <a:pPr/>
              <a:t>12</a:t>
            </a:fld>
            <a:endParaRPr lang="en-US" altLang="zh-TW" sz="1400"/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35A69E9A-2EB9-ABA8-3A77-C3865709C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Hard Real-Time System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1BF2C5C-355E-0986-AF5F-BD84966CE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Degree of tolerance of missed deadline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Extremely small or zero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Usefulness of computed results after missed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Likely useless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Severity of the penalty incurred for failing to meet deadlines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catastrophe</a:t>
            </a:r>
          </a:p>
          <a:p>
            <a:endParaRPr lang="zh-TW" altLang="en-US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6CAF-4CC7-23EF-150C-62CE4D427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B12F535-6E5D-E95E-D8FA-AE17808A1E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5DAD54E-96DF-4B2F-91EC-7B8A4FF58FC2}" type="slidenum">
              <a:rPr lang="zh-TW" altLang="en-US" sz="1400"/>
              <a:pPr/>
              <a:t>13</a:t>
            </a:fld>
            <a:endParaRPr lang="en-US" altLang="zh-TW" sz="1400"/>
          </a:p>
        </p:txBody>
      </p:sp>
      <p:pic>
        <p:nvPicPr>
          <p:cNvPr id="31748" name="Picture 5">
            <a:extLst>
              <a:ext uri="{FF2B5EF4-FFF2-40B4-BE49-F238E27FC236}">
                <a16:creationId xmlns:a16="http://schemas.microsoft.com/office/drawing/2014/main" id="{1CB01839-1C6C-7584-190A-C22FF0788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1290639"/>
            <a:ext cx="77851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6F73-BF0E-96FC-09FC-1059AB4EB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2771" name="Slide Number Placeholder 3">
            <a:extLst>
              <a:ext uri="{FF2B5EF4-FFF2-40B4-BE49-F238E27FC236}">
                <a16:creationId xmlns:a16="http://schemas.microsoft.com/office/drawing/2014/main" id="{9130512C-7F9A-9BA5-CDE7-420489C8F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1B94202-6FBB-47E9-82EE-21918B11DDF3}" type="slidenum">
              <a:rPr lang="zh-TW" altLang="en-US" sz="1400"/>
              <a:pPr/>
              <a:t>14</a:t>
            </a:fld>
            <a:endParaRPr lang="en-US" altLang="zh-TW" sz="1400"/>
          </a:p>
        </p:txBody>
      </p:sp>
      <p:pic>
        <p:nvPicPr>
          <p:cNvPr id="32772" name="Picture 5">
            <a:extLst>
              <a:ext uri="{FF2B5EF4-FFF2-40B4-BE49-F238E27FC236}">
                <a16:creationId xmlns:a16="http://schemas.microsoft.com/office/drawing/2014/main" id="{163686ED-25EC-6550-E6B0-E7BF2225C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3375"/>
            <a:ext cx="914400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3674-33AE-95DC-C447-21D85CDF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HArd</a:t>
            </a:r>
            <a:r>
              <a:rPr lang="en-US" dirty="0"/>
              <a:t> Real-Time System</a:t>
            </a:r>
            <a:endParaRPr lang="en-IN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0ABD396-A32F-EDE3-5083-D3B19D3A4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F5C736-A9F9-4124-B741-9825BE53BE0C}" type="slidenum">
              <a:rPr lang="zh-TW" altLang="en-US" sz="1400"/>
              <a:pPr/>
              <a:t>15</a:t>
            </a:fld>
            <a:endParaRPr lang="en-US" altLang="zh-TW" sz="1400"/>
          </a:p>
        </p:txBody>
      </p:sp>
      <p:pic>
        <p:nvPicPr>
          <p:cNvPr id="33796" name="Picture 5">
            <a:extLst>
              <a:ext uri="{FF2B5EF4-FFF2-40B4-BE49-F238E27FC236}">
                <a16:creationId xmlns:a16="http://schemas.microsoft.com/office/drawing/2014/main" id="{188BF10B-D805-A051-53AC-22558BB4F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168" y="1571042"/>
            <a:ext cx="8924925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CBE0-B096-8B9E-29F5-6CA5392E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Hard Real-Time System</a:t>
            </a:r>
            <a:endParaRPr lang="en-IN" dirty="0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8B81E03B-3071-7176-ADE9-017542A32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B803CDE-3A3C-46C4-B22E-714A351C90B8}" type="slidenum">
              <a:rPr lang="zh-TW" altLang="en-US" sz="1400"/>
              <a:pPr/>
              <a:t>16</a:t>
            </a:fld>
            <a:endParaRPr lang="en-US" altLang="zh-TW" sz="1400"/>
          </a:p>
        </p:txBody>
      </p:sp>
      <p:pic>
        <p:nvPicPr>
          <p:cNvPr id="34820" name="Picture 5">
            <a:extLst>
              <a:ext uri="{FF2B5EF4-FFF2-40B4-BE49-F238E27FC236}">
                <a16:creationId xmlns:a16="http://schemas.microsoft.com/office/drawing/2014/main" id="{1B22358B-39E4-9814-DFAE-2E0757CE7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9" y="1428750"/>
            <a:ext cx="79724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26C49-B67E-745F-F841-64080EDA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C15295C7-A5A6-2F25-7CEE-B29714E44F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6D9F3A1-DF47-9ACA-64D5-45C92AF26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9FD8356-BA6A-4A91-BDDD-DDC523CD6F98}" type="slidenum">
              <a:rPr lang="zh-TW" altLang="en-US" sz="1400"/>
              <a:pPr/>
              <a:t>17</a:t>
            </a:fld>
            <a:endParaRPr lang="en-US" altLang="zh-TW" sz="1400"/>
          </a:p>
        </p:txBody>
      </p:sp>
      <p:pic>
        <p:nvPicPr>
          <p:cNvPr id="35845" name="Picture 5">
            <a:extLst>
              <a:ext uri="{FF2B5EF4-FFF2-40B4-BE49-F238E27FC236}">
                <a16:creationId xmlns:a16="http://schemas.microsoft.com/office/drawing/2014/main" id="{B953446B-4E6B-1AF5-958A-7411B61FF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1947863"/>
            <a:ext cx="70866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CE0E-637F-0C48-6B71-D94843B4C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 real time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9277F-189F-CFAD-C16B-E001D0A4D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 real time system is a system whose operation is degrade if results are not produce according to the specified timing requirement. </a:t>
            </a:r>
          </a:p>
          <a:p>
            <a:r>
              <a:rPr lang="en-US" dirty="0"/>
              <a:t>For example,</a:t>
            </a:r>
          </a:p>
          <a:p>
            <a:endParaRPr lang="en-US" dirty="0"/>
          </a:p>
          <a:p>
            <a:r>
              <a:rPr lang="en-US" dirty="0"/>
              <a:t>1. Multimedia Transmission and Reception</a:t>
            </a:r>
          </a:p>
          <a:p>
            <a:r>
              <a:rPr lang="en-US" dirty="0"/>
              <a:t>2. Computer Games </a:t>
            </a:r>
          </a:p>
          <a:p>
            <a:r>
              <a:rPr lang="en-US" dirty="0"/>
              <a:t>  3. Communication system like voice over Ip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075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1E57-FF1B-5ACB-DB81-B4BBA208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DF815B64-0E97-5578-776B-F375571041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6B9804F-6A99-4F0D-A804-16594C8D301E}" type="slidenum">
              <a:rPr lang="zh-TW" altLang="en-US" sz="1400"/>
              <a:pPr/>
              <a:t>19</a:t>
            </a:fld>
            <a:endParaRPr lang="en-US" altLang="zh-TW" sz="1400"/>
          </a:p>
        </p:txBody>
      </p:sp>
      <p:pic>
        <p:nvPicPr>
          <p:cNvPr id="39940" name="Picture 5">
            <a:extLst>
              <a:ext uri="{FF2B5EF4-FFF2-40B4-BE49-F238E27FC236}">
                <a16:creationId xmlns:a16="http://schemas.microsoft.com/office/drawing/2014/main" id="{CCD954AD-4C92-570B-D3DD-E7AB76D8D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4" y="1185864"/>
            <a:ext cx="73056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CAB4-C36D-3F27-76FD-5F52E9E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0963" name="Slide Number Placeholder 3">
            <a:extLst>
              <a:ext uri="{FF2B5EF4-FFF2-40B4-BE49-F238E27FC236}">
                <a16:creationId xmlns:a16="http://schemas.microsoft.com/office/drawing/2014/main" id="{8F5E5F1A-7D77-F2CA-0454-57F9474A94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D20A007-4106-4162-B19B-0F3C6707D504}" type="slidenum">
              <a:rPr lang="zh-TW" altLang="en-US" sz="1400"/>
              <a:pPr/>
              <a:t>20</a:t>
            </a:fld>
            <a:endParaRPr lang="en-US" altLang="zh-TW" sz="1400"/>
          </a:p>
        </p:txBody>
      </p:sp>
      <p:pic>
        <p:nvPicPr>
          <p:cNvPr id="40964" name="Picture 5">
            <a:extLst>
              <a:ext uri="{FF2B5EF4-FFF2-40B4-BE49-F238E27FC236}">
                <a16:creationId xmlns:a16="http://schemas.microsoft.com/office/drawing/2014/main" id="{DB5CDFF0-D3CD-82C6-F4A1-33F2019D2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585914"/>
            <a:ext cx="8096250" cy="368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44B9-48B6-E18F-2556-7AC7FE5B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Soft Real-Time System</a:t>
            </a:r>
            <a:endParaRPr lang="en-IN" dirty="0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C00DAB1A-88BC-07C1-32A6-603728F5B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E037F7C-6FC7-4277-9769-C373FA0DE2A8}" type="slidenum">
              <a:rPr lang="zh-TW" altLang="en-US" sz="1400"/>
              <a:pPr/>
              <a:t>21</a:t>
            </a:fld>
            <a:endParaRPr lang="en-US" altLang="zh-TW" sz="1400"/>
          </a:p>
        </p:txBody>
      </p:sp>
      <p:pic>
        <p:nvPicPr>
          <p:cNvPr id="41988" name="Picture 5">
            <a:extLst>
              <a:ext uri="{FF2B5EF4-FFF2-40B4-BE49-F238E27FC236}">
                <a16:creationId xmlns:a16="http://schemas.microsoft.com/office/drawing/2014/main" id="{32CE8D08-3045-0B0F-0F8A-D18DD8B43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385889"/>
            <a:ext cx="908685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452A0D-1899-5D35-C137-04276D3A00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072784"/>
              </p:ext>
            </p:extLst>
          </p:nvPr>
        </p:nvGraphicFramePr>
        <p:xfrm>
          <a:off x="120580" y="0"/>
          <a:ext cx="12071420" cy="7125563"/>
        </p:xfrm>
        <a:graphic>
          <a:graphicData uri="http://schemas.openxmlformats.org/drawingml/2006/table">
            <a:tbl>
              <a:tblPr/>
              <a:tblGrid>
                <a:gridCol w="6035710">
                  <a:extLst>
                    <a:ext uri="{9D8B030D-6E8A-4147-A177-3AD203B41FA5}">
                      <a16:colId xmlns:a16="http://schemas.microsoft.com/office/drawing/2014/main" val="3963270604"/>
                    </a:ext>
                  </a:extLst>
                </a:gridCol>
                <a:gridCol w="6035710">
                  <a:extLst>
                    <a:ext uri="{9D8B030D-6E8A-4147-A177-3AD203B41FA5}">
                      <a16:colId xmlns:a16="http://schemas.microsoft.com/office/drawing/2014/main" val="3065279889"/>
                    </a:ext>
                  </a:extLst>
                </a:gridCol>
              </a:tblGrid>
              <a:tr h="44884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HARD REAL TIME SYSTEM</a:t>
                      </a:r>
                    </a:p>
                  </a:txBody>
                  <a:tcPr marL="30817" marR="30817" marT="61634" marB="616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SOFT REAL TIME SYSTEM</a:t>
                      </a:r>
                    </a:p>
                  </a:txBody>
                  <a:tcPr marL="61634" marR="61634" marT="61634" marB="616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757736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hard real time system, the size of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data file is small </a:t>
                      </a:r>
                      <a:r>
                        <a:rPr lang="en-US" sz="1800" b="0" dirty="0">
                          <a:effectLst/>
                        </a:rPr>
                        <a:t>or medium.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soft real time system, the size of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data file is large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296339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system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response time is in millisecond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system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response time are higher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100069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Peak load </a:t>
                      </a:r>
                      <a:r>
                        <a:rPr lang="en-US" sz="1800" b="0" dirty="0">
                          <a:effectLst/>
                        </a:rPr>
                        <a:t>performance should be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predictable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soft real time system,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peak load can be tolerated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362024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system safety is critical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this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system safety is not critical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998275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A hard real time system is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very restrictive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A Soft real time system is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less restrictive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80930"/>
                  </a:ext>
                </a:extLst>
              </a:tr>
              <a:tr h="7293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case of an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error</a:t>
                      </a:r>
                      <a:r>
                        <a:rPr lang="en-US" sz="1800" b="0" dirty="0">
                          <a:effectLst/>
                        </a:rPr>
                        <a:t> in a hard real time system, the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computation is rolled back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In case of an soft real time system,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computation is rolled back to previously established a checkpoint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329525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dirty="0">
                          <a:solidFill>
                            <a:srgbClr val="00B0F0"/>
                          </a:solidFill>
                          <a:effectLst/>
                        </a:rPr>
                        <a:t>Satellite launch, Railway </a:t>
                      </a:r>
                      <a:r>
                        <a:rPr lang="en-IN" sz="1800" b="0" dirty="0" err="1">
                          <a:solidFill>
                            <a:srgbClr val="00B0F0"/>
                          </a:solidFill>
                          <a:effectLst/>
                        </a:rPr>
                        <a:t>signaling</a:t>
                      </a:r>
                      <a:r>
                        <a:rPr lang="en-IN" sz="1800" b="0" dirty="0">
                          <a:solidFill>
                            <a:srgbClr val="00B0F0"/>
                          </a:solidFill>
                          <a:effectLst/>
                        </a:rPr>
                        <a:t> </a:t>
                      </a:r>
                      <a:r>
                        <a:rPr lang="en-IN" sz="1800" b="0" dirty="0">
                          <a:effectLst/>
                        </a:rPr>
                        <a:t>system etc.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DVD player, telephone switches</a:t>
                      </a:r>
                      <a:r>
                        <a:rPr lang="en-US" sz="1800" b="0" dirty="0">
                          <a:effectLst/>
                        </a:rPr>
                        <a:t>, electronic games etc.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097232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Guarantees response within a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specific deadline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Does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not</a:t>
                      </a:r>
                      <a:r>
                        <a:rPr lang="en-US" sz="1800" b="0" dirty="0">
                          <a:effectLst/>
                        </a:rPr>
                        <a:t> guarantee response within a </a:t>
                      </a:r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specific deadline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656538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Catastrophic or </a:t>
                      </a:r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severe consequences </a:t>
                      </a:r>
                      <a:r>
                        <a:rPr lang="en-US" sz="1800" b="0" dirty="0">
                          <a:effectLst/>
                        </a:rPr>
                        <a:t>(e.g., loss of life or property damage).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rgbClr val="00B050"/>
                          </a:solidFill>
                          <a:effectLst/>
                        </a:rPr>
                        <a:t>Minor consequences </a:t>
                      </a:r>
                      <a:r>
                        <a:rPr lang="en-US" sz="1800" b="0" dirty="0">
                          <a:effectLst/>
                        </a:rPr>
                        <a:t>(e.g., degraded performance or reduced quality).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306870"/>
                  </a:ext>
                </a:extLst>
              </a:tr>
              <a:tr h="495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Focused on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processing critical tasks with high priority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</a:rPr>
                        <a:t>Focused on </a:t>
                      </a:r>
                      <a:r>
                        <a:rPr lang="en-US" sz="1800" b="0" dirty="0">
                          <a:solidFill>
                            <a:srgbClr val="00B0F0"/>
                          </a:solidFill>
                          <a:effectLst/>
                        </a:rPr>
                        <a:t>processing tasks with lower priority</a:t>
                      </a:r>
                      <a:r>
                        <a:rPr lang="en-US" sz="1800" b="0" dirty="0">
                          <a:effectLst/>
                        </a:rPr>
                        <a:t>.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62425"/>
                  </a:ext>
                </a:extLst>
              </a:tr>
              <a:tr h="9631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Highly predictable</a:t>
                      </a:r>
                      <a:r>
                        <a:rPr lang="en-US" sz="1800" b="0" dirty="0">
                          <a:effectLst/>
                        </a:rPr>
                        <a:t>, with well-defined and deterministic behavior. 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solidFill>
                            <a:srgbClr val="FF0000"/>
                          </a:solidFill>
                          <a:effectLst/>
                        </a:rPr>
                        <a:t>Less predictable</a:t>
                      </a:r>
                      <a:r>
                        <a:rPr lang="en-US" sz="1800" b="0" dirty="0">
                          <a:effectLst/>
                        </a:rPr>
                        <a:t>, with behavior that may vary depending on system load or conditions.</a:t>
                      </a:r>
                      <a:br>
                        <a:rPr lang="en-US" sz="1800" b="0" dirty="0">
                          <a:effectLst/>
                        </a:rPr>
                      </a:br>
                      <a:r>
                        <a:rPr lang="en-US" sz="1800" b="0" dirty="0">
                          <a:effectLst/>
                        </a:rPr>
                        <a:t> </a:t>
                      </a:r>
                    </a:p>
                  </a:txBody>
                  <a:tcPr marL="61634" marR="61634" marT="86287" marB="8628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437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0536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242DA43A-2CDF-CD42-6797-3F03FC854B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8450938-6EEC-47E5-8C29-D158DCC101AB}" type="slidenum">
              <a:rPr lang="zh-TW" altLang="en-US" sz="1400"/>
              <a:pPr/>
              <a:t>23</a:t>
            </a:fld>
            <a:endParaRPr lang="en-US" altLang="zh-TW" sz="1400"/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F5CB39B8-4814-3427-534B-E0F096587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Comparison</a:t>
            </a:r>
          </a:p>
        </p:txBody>
      </p:sp>
      <p:sp>
        <p:nvSpPr>
          <p:cNvPr id="43012" name="Line 5">
            <a:extLst>
              <a:ext uri="{FF2B5EF4-FFF2-40B4-BE49-F238E27FC236}">
                <a16:creationId xmlns:a16="http://schemas.microsoft.com/office/drawing/2014/main" id="{1A45B710-51BD-6800-78D6-27B0381440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5550" y="2398713"/>
            <a:ext cx="0" cy="36941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3" name="Line 6">
            <a:extLst>
              <a:ext uri="{FF2B5EF4-FFF2-40B4-BE49-F238E27FC236}">
                <a16:creationId xmlns:a16="http://schemas.microsoft.com/office/drawing/2014/main" id="{590BE7AB-C3A2-8155-C705-5CF79DDB70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4275" y="4295775"/>
            <a:ext cx="5251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4" name="Text Box 7">
            <a:extLst>
              <a:ext uri="{FF2B5EF4-FFF2-40B4-BE49-F238E27FC236}">
                <a16:creationId xmlns:a16="http://schemas.microsoft.com/office/drawing/2014/main" id="{1CC05475-9554-73D3-0921-B27B57643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2538" y="3995739"/>
            <a:ext cx="82391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Time</a:t>
            </a:r>
          </a:p>
        </p:txBody>
      </p:sp>
      <p:sp>
        <p:nvSpPr>
          <p:cNvPr id="43015" name="Text Box 8">
            <a:extLst>
              <a:ext uri="{FF2B5EF4-FFF2-40B4-BE49-F238E27FC236}">
                <a16:creationId xmlns:a16="http://schemas.microsoft.com/office/drawing/2014/main" id="{C7CE8AE7-E3BD-0896-0454-CCB903F9E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776" y="1700213"/>
            <a:ext cx="911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>
                <a:ea typeface="新細明體" panose="02020500000000000000" pitchFamily="18" charset="-120"/>
              </a:rPr>
              <a:t>Value</a:t>
            </a:r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4632D584-A7C9-1D43-C4C9-2C1B4983F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113" y="3259138"/>
            <a:ext cx="1117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rgbClr val="0000FF"/>
                </a:solidFill>
                <a:ea typeface="新細明體" panose="02020500000000000000" pitchFamily="18" charset="-120"/>
              </a:rPr>
              <a:t>Hard RTS</a:t>
            </a:r>
            <a:endParaRPr kumimoji="1" lang="en-US" altLang="zh-TW" sz="1800">
              <a:ea typeface="新細明體" panose="02020500000000000000" pitchFamily="18" charset="-120"/>
            </a:endParaRPr>
          </a:p>
        </p:txBody>
      </p:sp>
      <p:sp>
        <p:nvSpPr>
          <p:cNvPr id="43017" name="Text Box 10">
            <a:extLst>
              <a:ext uri="{FF2B5EF4-FFF2-40B4-BE49-F238E27FC236}">
                <a16:creationId xmlns:a16="http://schemas.microsoft.com/office/drawing/2014/main" id="{45C62CEF-EA35-EA37-BFB9-DEA486064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3" y="2871788"/>
            <a:ext cx="1041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Soft RTS</a:t>
            </a:r>
          </a:p>
        </p:txBody>
      </p:sp>
      <p:sp>
        <p:nvSpPr>
          <p:cNvPr id="43018" name="Line 12">
            <a:extLst>
              <a:ext uri="{FF2B5EF4-FFF2-40B4-BE49-F238E27FC236}">
                <a16:creationId xmlns:a16="http://schemas.microsoft.com/office/drawing/2014/main" id="{D732E31E-BDFA-4BEE-2BA9-53B9FC128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013" y="2398713"/>
            <a:ext cx="0" cy="3694112"/>
          </a:xfrm>
          <a:prstGeom prst="line">
            <a:avLst/>
          </a:prstGeom>
          <a:noFill/>
          <a:ln w="15875">
            <a:solidFill>
              <a:srgbClr val="FF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19" name="Text Box 13">
            <a:extLst>
              <a:ext uri="{FF2B5EF4-FFF2-40B4-BE49-F238E27FC236}">
                <a16:creationId xmlns:a16="http://schemas.microsoft.com/office/drawing/2014/main" id="{E36151ED-4695-4D4E-77AC-CBBD35DEF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4200" y="1989138"/>
            <a:ext cx="10096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kumimoji="1" lang="en-US" altLang="zh-TW" sz="1800">
                <a:solidFill>
                  <a:schemeClr val="hlink"/>
                </a:solidFill>
                <a:ea typeface="新細明體" panose="02020500000000000000" pitchFamily="18" charset="-120"/>
              </a:rPr>
              <a:t>Deadline</a:t>
            </a:r>
          </a:p>
        </p:txBody>
      </p:sp>
      <p:sp>
        <p:nvSpPr>
          <p:cNvPr id="43020" name="Line 15">
            <a:extLst>
              <a:ext uri="{FF2B5EF4-FFF2-40B4-BE49-F238E27FC236}">
                <a16:creationId xmlns:a16="http://schemas.microsoft.com/office/drawing/2014/main" id="{A27D605F-0F37-23AF-6004-DCB78CD43F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1901" y="3522664"/>
            <a:ext cx="2411413" cy="158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21" name="Line 16">
            <a:extLst>
              <a:ext uri="{FF2B5EF4-FFF2-40B4-BE49-F238E27FC236}">
                <a16:creationId xmlns:a16="http://schemas.microsoft.com/office/drawing/2014/main" id="{7E607CF8-2CB6-FAFD-9885-AECA82B5A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6013" y="5635625"/>
            <a:ext cx="2430462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3022" name="Freeform 17">
            <a:extLst>
              <a:ext uri="{FF2B5EF4-FFF2-40B4-BE49-F238E27FC236}">
                <a16:creationId xmlns:a16="http://schemas.microsoft.com/office/drawing/2014/main" id="{D7C6FCF1-F6AA-750B-5B2D-D326DB3F422B}"/>
              </a:ext>
            </a:extLst>
          </p:cNvPr>
          <p:cNvSpPr>
            <a:spLocks/>
          </p:cNvSpPr>
          <p:nvPr/>
        </p:nvSpPr>
        <p:spPr bwMode="auto">
          <a:xfrm>
            <a:off x="3786189" y="2182813"/>
            <a:ext cx="5005387" cy="3783012"/>
          </a:xfrm>
          <a:custGeom>
            <a:avLst/>
            <a:gdLst>
              <a:gd name="T0" fmla="*/ 0 w 2400"/>
              <a:gd name="T1" fmla="*/ 965320 h 1160"/>
              <a:gd name="T2" fmla="*/ 600646 w 2400"/>
              <a:gd name="T3" fmla="*/ 965320 h 1160"/>
              <a:gd name="T4" fmla="*/ 1101185 w 2400"/>
              <a:gd name="T5" fmla="*/ 182628 h 1160"/>
              <a:gd name="T6" fmla="*/ 1601724 w 2400"/>
              <a:gd name="T7" fmla="*/ 808782 h 1160"/>
              <a:gd name="T8" fmla="*/ 2102263 w 2400"/>
              <a:gd name="T9" fmla="*/ 495705 h 1160"/>
              <a:gd name="T10" fmla="*/ 5005387 w 2400"/>
              <a:gd name="T11" fmla="*/ 3783012 h 11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00" h="1160">
                <a:moveTo>
                  <a:pt x="0" y="296"/>
                </a:moveTo>
                <a:cubicBezTo>
                  <a:pt x="100" y="316"/>
                  <a:pt x="200" y="336"/>
                  <a:pt x="288" y="296"/>
                </a:cubicBezTo>
                <a:cubicBezTo>
                  <a:pt x="376" y="256"/>
                  <a:pt x="448" y="64"/>
                  <a:pt x="528" y="56"/>
                </a:cubicBezTo>
                <a:cubicBezTo>
                  <a:pt x="608" y="48"/>
                  <a:pt x="688" y="232"/>
                  <a:pt x="768" y="248"/>
                </a:cubicBezTo>
                <a:cubicBezTo>
                  <a:pt x="848" y="264"/>
                  <a:pt x="736" y="0"/>
                  <a:pt x="1008" y="152"/>
                </a:cubicBezTo>
                <a:cubicBezTo>
                  <a:pt x="1280" y="304"/>
                  <a:pt x="1840" y="732"/>
                  <a:pt x="2400" y="1160"/>
                </a:cubicBezTo>
              </a:path>
            </a:pathLst>
          </a:custGeom>
          <a:noFill/>
          <a:ln w="25400">
            <a:solidFill>
              <a:srgbClr val="FF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FE3416A5-6FCC-F94F-A0AF-0D5F101E7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273518-A044-4706-A9F6-8C525403DD6C}" type="slidenum">
              <a:rPr lang="zh-TW" altLang="en-US" sz="1400"/>
              <a:pPr/>
              <a:t>24</a:t>
            </a:fld>
            <a:endParaRPr lang="en-US" altLang="zh-TW" sz="14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57329E62-A7DB-1369-B702-59E0B676B4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Job versus Task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0A3F2C-79B6-9943-71A3-9B8FA42EFF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Job: unit of work that is scheduled and executed by the system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Computation of a FFT (Fast Fourier Transform)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Transmission of a data packet</a:t>
            </a:r>
          </a:p>
          <a:p>
            <a:endParaRPr lang="zh-TW" altLang="en-US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Task: a set of related jobs which jointly provide some system function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CE25131B-288E-0C76-2A0C-F6DE97A0FB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2A570D-4099-4FDA-918F-C1CBC85625AC}" type="slidenum">
              <a:rPr lang="zh-TW" altLang="en-US" sz="1400"/>
              <a:pPr/>
              <a:t>25</a:t>
            </a:fld>
            <a:endParaRPr lang="en-US" altLang="zh-TW" sz="14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E1DFE5E0-586A-B5C3-805D-7387259631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17880D4-013F-F027-5411-A36EDF4C0C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Release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instant of time at which the job becomes available for execution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Jobs have no release time if all the jobs are released when the system begins execution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Response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length of time from the release time of the job to the instant when it completes</a:t>
            </a:r>
          </a:p>
          <a:p>
            <a:endParaRPr lang="en-US" altLang="zh-TW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0B1CBC58-D96B-008D-A6C1-766E1BF07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50000"/>
              </a:spcBef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E065C2F-78BD-4ADE-BF28-085C853B986A}" type="slidenum">
              <a:rPr lang="zh-TW" altLang="en-US" sz="1400"/>
              <a:pPr/>
              <a:t>26</a:t>
            </a:fld>
            <a:endParaRPr lang="en-US" altLang="zh-TW" sz="14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10C65EEB-3221-1EC2-B7F5-A36022ED9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Release Time and Deadlines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B7622B67-28A3-579B-0FF5-6D92ADA9A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Relative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maximum allowable response time of a job</a:t>
            </a:r>
          </a:p>
          <a:p>
            <a:pPr marL="0" indent="0">
              <a:buNone/>
            </a:pPr>
            <a:endParaRPr lang="en-US" altLang="zh-TW" dirty="0">
              <a:ea typeface="新細明體" panose="02020500000000000000" pitchFamily="18" charset="-120"/>
            </a:endParaRPr>
          </a:p>
          <a:p>
            <a:r>
              <a:rPr lang="en-US" altLang="zh-TW" dirty="0">
                <a:ea typeface="新細明體" panose="02020500000000000000" pitchFamily="18" charset="-120"/>
              </a:rPr>
              <a:t>Deadline or Absolute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 instant of time by which its execution is required to be completed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Equal to the release time plus the relative deadline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A job has no deadline if its deadline is at infinity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963DDE7A-1872-C520-A983-1753B4006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728DEA24-D9AE-4D91-8347-2C22314516E0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27</a:t>
            </a:fld>
            <a:endParaRPr kumimoji="0" lang="en-US" altLang="zh-TW" sz="1400"/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DE30FD76-3152-05C1-C429-10AF6AE97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Feasibility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ED48373-996E-3B0F-E6B2-A1CA8D54B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constraints imposed on the timing behavior of a job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Specified in terms of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Release time</a:t>
            </a:r>
          </a:p>
          <a:p>
            <a:pPr lvl="2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Relative deadline or absolute deadline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The set of rules that determines the order in which tasks are executed is called a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scheduling algorithm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schedule is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feasible</a:t>
            </a:r>
            <a:r>
              <a:rPr lang="en-US" altLang="zh-TW" dirty="0">
                <a:ea typeface="新細明體" panose="02020500000000000000" pitchFamily="18" charset="-120"/>
              </a:rPr>
              <a:t> if all tasks can be completed according to the timing constraints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 set of tasks is </a:t>
            </a:r>
            <a:r>
              <a:rPr lang="en-US" altLang="zh-TW" i="1" dirty="0">
                <a:solidFill>
                  <a:srgbClr val="CC0000"/>
                </a:solidFill>
                <a:ea typeface="新細明體" panose="02020500000000000000" pitchFamily="18" charset="-120"/>
              </a:rPr>
              <a:t>schedulable</a:t>
            </a:r>
            <a:r>
              <a:rPr lang="en-US" altLang="zh-TW" dirty="0">
                <a:ea typeface="新細明體" panose="02020500000000000000" pitchFamily="18" charset="-120"/>
              </a:rPr>
              <a:t> if there exists at least one algorithm that can produce a feasible schedule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4532B398-9AB5-2E81-0FB3-1B99F2DB0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0C7191B4-6CD6-492D-A625-BF8B945D6CEC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28</a:t>
            </a:fld>
            <a:endParaRPr kumimoji="0" lang="en-US" altLang="zh-TW" sz="14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84022A44-F7D9-4EE7-63CC-CF1630931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Type of Tasks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5A9E4AB-3590-A741-ADC2-CBD0B0C3E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i="1" dirty="0">
                <a:ea typeface="新細明體" panose="02020500000000000000" pitchFamily="18" charset="-12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ea typeface="新細明體" panose="02020500000000000000" pitchFamily="18" charset="-120"/>
              </a:rPr>
              <a:t>Periodic task </a:t>
            </a:r>
            <a:r>
              <a:rPr lang="en-US" altLang="zh-TW" sz="2400" dirty="0">
                <a:ea typeface="新細明體" panose="02020500000000000000" pitchFamily="18" charset="-120"/>
              </a:rPr>
              <a:t>is executed </a:t>
            </a:r>
            <a:r>
              <a:rPr lang="en-US" altLang="zh-TW" sz="2400" dirty="0" err="1">
                <a:ea typeface="新細明體" panose="02020500000000000000" pitchFamily="18" charset="-120"/>
              </a:rPr>
              <a:t>repeatly</a:t>
            </a:r>
            <a:r>
              <a:rPr lang="en-US" altLang="zh-TW" sz="2400" dirty="0">
                <a:ea typeface="新細明體" panose="02020500000000000000" pitchFamily="18" charset="-120"/>
              </a:rPr>
              <a:t> at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regular time intervals</a:t>
            </a:r>
            <a:r>
              <a:rPr lang="en-US" altLang="zh-TW" sz="2400" i="1" dirty="0">
                <a:ea typeface="新細明體" panose="02020500000000000000" pitchFamily="18" charset="-120"/>
              </a:rPr>
              <a:t>, </a:t>
            </a:r>
            <a:r>
              <a:rPr lang="en-US" altLang="zh-TW" sz="2400" dirty="0">
                <a:ea typeface="新細明體" panose="02020500000000000000" pitchFamily="18" charset="-120"/>
              </a:rPr>
              <a:t>and each invocation is called a </a:t>
            </a:r>
            <a:r>
              <a:rPr lang="en-US" altLang="zh-TW" sz="2400" i="1" dirty="0">
                <a:ea typeface="新細明體" panose="02020500000000000000" pitchFamily="18" charset="-120"/>
              </a:rPr>
              <a:t>job</a:t>
            </a:r>
            <a:r>
              <a:rPr lang="en-US" altLang="zh-TW" sz="2400" dirty="0">
                <a:ea typeface="新細明體" panose="02020500000000000000" pitchFamily="18" charset="-120"/>
              </a:rPr>
              <a:t> or </a:t>
            </a:r>
            <a:r>
              <a:rPr lang="en-US" altLang="zh-TW" sz="2400" i="1" dirty="0">
                <a:ea typeface="新細明體" panose="02020500000000000000" pitchFamily="18" charset="-120"/>
              </a:rPr>
              <a:t>instance.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Often </a:t>
            </a:r>
            <a:r>
              <a:rPr lang="en-US" altLang="zh-TW" sz="2000" i="1" dirty="0">
                <a:ea typeface="新細明體" panose="02020500000000000000" pitchFamily="18" charset="-120"/>
              </a:rPr>
              <a:t>time-driven</a:t>
            </a:r>
          </a:p>
          <a:p>
            <a:r>
              <a:rPr lang="en-US" altLang="zh-TW" sz="2400" i="1" dirty="0">
                <a:ea typeface="新細明體" panose="02020500000000000000" pitchFamily="18" charset="-12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ea typeface="新細明體" panose="02020500000000000000" pitchFamily="18" charset="-120"/>
              </a:rPr>
              <a:t>Aperiodic task </a:t>
            </a:r>
            <a:r>
              <a:rPr lang="en-US" altLang="zh-TW" sz="2400" dirty="0">
                <a:ea typeface="新細明體" panose="02020500000000000000" pitchFamily="18" charset="-120"/>
              </a:rPr>
              <a:t>is executed to response to external events, and to respond, it executes aperiodic jobs </a:t>
            </a:r>
            <a:r>
              <a:rPr lang="en-US" altLang="zh-TW" sz="2400" dirty="0">
                <a:solidFill>
                  <a:srgbClr val="FF0000"/>
                </a:solidFill>
                <a:ea typeface="新細明體" panose="02020500000000000000" pitchFamily="18" charset="-120"/>
              </a:rPr>
              <a:t>whose release time are not known prior.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Often </a:t>
            </a:r>
            <a:r>
              <a:rPr lang="en-US" altLang="zh-TW" sz="2000" i="1" dirty="0">
                <a:ea typeface="新細明體" panose="02020500000000000000" pitchFamily="18" charset="-120"/>
              </a:rPr>
              <a:t>event-driven</a:t>
            </a:r>
          </a:p>
          <a:p>
            <a:pPr lvl="1"/>
            <a:r>
              <a:rPr lang="en-US" altLang="zh-TW" sz="2000" dirty="0">
                <a:ea typeface="新細明體" panose="02020500000000000000" pitchFamily="18" charset="-120"/>
              </a:rPr>
              <a:t>Off-line guarantee of aperiodic tasks must make proper assumptions on the environments; that is, by assuming a maximum arrival rate for each event (i.e., minimum interarrival time)</a:t>
            </a:r>
          </a:p>
          <a:p>
            <a:pPr lvl="2"/>
            <a:r>
              <a:rPr lang="en-US" altLang="zh-TW" sz="1800" dirty="0">
                <a:ea typeface="新細明體" panose="02020500000000000000" pitchFamily="18" charset="-120"/>
              </a:rPr>
              <a:t>Aperiodic tasks characterized by a minimum interarrival time are called </a:t>
            </a:r>
            <a:r>
              <a:rPr lang="en-US" altLang="zh-TW" sz="1800" i="1" dirty="0">
                <a:solidFill>
                  <a:srgbClr val="FF0000"/>
                </a:solidFill>
                <a:ea typeface="新細明體" panose="02020500000000000000" pitchFamily="18" charset="-120"/>
              </a:rPr>
              <a:t>sporadic tasks</a:t>
            </a:r>
            <a:endParaRPr lang="en-US" altLang="zh-TW" sz="1800" dirty="0">
              <a:solidFill>
                <a:srgbClr val="FF00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01D3E0B9-387B-E11E-1FEE-94DEA007E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E6D0D69-BF98-4035-B8B8-5B2D1B80543D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29</a:t>
            </a:fld>
            <a:endParaRPr kumimoji="0" lang="en-US" altLang="zh-TW" sz="1400"/>
          </a:p>
        </p:txBody>
      </p:sp>
      <p:sp>
        <p:nvSpPr>
          <p:cNvPr id="157698" name="Rectangle 2">
            <a:extLst>
              <a:ext uri="{FF2B5EF4-FFF2-40B4-BE49-F238E27FC236}">
                <a16:creationId xmlns:a16="http://schemas.microsoft.com/office/drawing/2014/main" id="{5FF6052D-C061-90A1-DC64-91200A268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Classification of Scheduling Algorithm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AD34565-D05F-6006-5114-5FBD7B7C7B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Preemptive</a:t>
            </a:r>
            <a:r>
              <a:rPr lang="en-US" altLang="zh-TW">
                <a:ea typeface="新細明體" panose="02020500000000000000" pitchFamily="18" charset="-120"/>
              </a:rPr>
              <a:t>/Non-preemptive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Preemptive: the running tasks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can be interrupted </a:t>
            </a:r>
            <a:r>
              <a:rPr lang="en-US" altLang="zh-TW" dirty="0">
                <a:ea typeface="新細明體" panose="02020500000000000000" pitchFamily="18" charset="-120"/>
              </a:rPr>
              <a:t>to assign the processor to another task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Non-preemptive: A task, once started, is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executed until completion</a:t>
            </a:r>
            <a:r>
              <a:rPr lang="en-US" altLang="zh-TW" dirty="0">
                <a:ea typeface="新細明體" panose="02020500000000000000" pitchFamily="18" charset="-120"/>
              </a:rPr>
              <a:t>.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Static/Dynamic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Static: the scheduling decisions are based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on fixed parameters </a:t>
            </a:r>
            <a:r>
              <a:rPr lang="en-US" altLang="zh-TW" dirty="0">
                <a:ea typeface="新細明體" panose="02020500000000000000" pitchFamily="18" charset="-120"/>
              </a:rPr>
              <a:t>and assigned to tasks before their activation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Dynamic: the scheduling decisions are based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on dynamic parameters </a:t>
            </a:r>
            <a:r>
              <a:rPr lang="en-US" altLang="zh-TW" dirty="0">
                <a:ea typeface="新細明體" panose="02020500000000000000" pitchFamily="18" charset="-120"/>
              </a:rPr>
              <a:t>that may change during system evolution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>
            <a:extLst>
              <a:ext uri="{FF2B5EF4-FFF2-40B4-BE49-F238E27FC236}">
                <a16:creationId xmlns:a16="http://schemas.microsoft.com/office/drawing/2014/main" id="{B1EDE4A1-2535-ACF5-062F-86E1C450DF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0F3AB043-F79F-41FC-9A66-6E125966C86A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30</a:t>
            </a:fld>
            <a:endParaRPr kumimoji="0" lang="en-US" altLang="zh-TW" sz="1400"/>
          </a:p>
        </p:txBody>
      </p:sp>
      <p:sp>
        <p:nvSpPr>
          <p:cNvPr id="161794" name="Rectangle 2">
            <a:extLst>
              <a:ext uri="{FF2B5EF4-FFF2-40B4-BE49-F238E27FC236}">
                <a16:creationId xmlns:a16="http://schemas.microsoft.com/office/drawing/2014/main" id="{0BF0474D-80FA-0F59-5B66-159134B21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F985CDE5-08EE-6DDC-50EC-E69913DE1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Off-line/On-line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Off-line: a scheduling algorithm is executed on the entire task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set before </a:t>
            </a:r>
            <a:r>
              <a:rPr lang="en-US" altLang="zh-TW" dirty="0">
                <a:ea typeface="新細明體" panose="02020500000000000000" pitchFamily="18" charset="-120"/>
              </a:rPr>
              <a:t>actual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task activation</a:t>
            </a:r>
            <a:r>
              <a:rPr lang="en-US" altLang="zh-TW" dirty="0">
                <a:ea typeface="新細明體" panose="02020500000000000000" pitchFamily="18" charset="-120"/>
              </a:rPr>
              <a:t>. The schedule may be stored in a table and later executed by a dispatcher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On-line: scheduling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decisions are taken at runtime</a:t>
            </a:r>
            <a:r>
              <a:rPr lang="en-US" altLang="zh-TW" dirty="0">
                <a:ea typeface="新細明體" panose="02020500000000000000" pitchFamily="18" charset="-120"/>
              </a:rPr>
              <a:t> every time a new task enter the system or when a running task terminates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8B9774D1-FFAC-0887-3687-0C626D26D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ED9F8470-1D3D-4810-9123-F953937388DA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31</a:t>
            </a:fld>
            <a:endParaRPr kumimoji="0" lang="en-US" altLang="zh-TW" sz="14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2C45F023-D54E-8F87-3B59-0D061CCD93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Classification of Scheduling Algorithm (Cont.)</a:t>
            </a:r>
            <a:endParaRPr lang="zh-TW" altLang="en-US" sz="3200">
              <a:ea typeface="新細明體" panose="02020500000000000000" pitchFamily="18" charset="-120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31C12B79-5CBC-7E3E-7CB8-9810FFB2BC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Optimal/Heuristic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Optimal: an algorithm is optimal if it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minimizes some given cost function </a:t>
            </a:r>
            <a:r>
              <a:rPr lang="en-US" altLang="zh-TW" dirty="0">
                <a:ea typeface="新細明體" panose="02020500000000000000" pitchFamily="18" charset="-120"/>
              </a:rPr>
              <a:t>defined over the task set. 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Heuristic: an algorithm is heuristic if it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tends toward but does not guarantee </a:t>
            </a:r>
            <a:r>
              <a:rPr lang="en-US" altLang="zh-TW" dirty="0">
                <a:ea typeface="新細明體" panose="02020500000000000000" pitchFamily="18" charset="-120"/>
              </a:rPr>
              <a:t>to find the optimal schedule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Dynamic/Fixed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Fixed: in which the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</a:rPr>
              <a:t>priority of each process is fixed </a:t>
            </a:r>
            <a:r>
              <a:rPr lang="en-US" altLang="zh-TW" dirty="0">
                <a:ea typeface="新細明體" panose="02020500000000000000" pitchFamily="18" charset="-120"/>
              </a:rPr>
              <a:t>for any instantiation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Dynamic: priority changes</a:t>
            </a:r>
            <a:endParaRPr lang="zh-TW" altLang="en-US" dirty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B12AAE02-BB76-793A-5479-E11196CB9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71A54449-1F66-4B84-BDBA-F37E47061B50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32</a:t>
            </a:fld>
            <a:endParaRPr kumimoji="0" lang="en-US" altLang="zh-TW" sz="1400"/>
          </a:p>
        </p:txBody>
      </p:sp>
      <p:sp>
        <p:nvSpPr>
          <p:cNvPr id="163842" name="Rectangle 2">
            <a:extLst>
              <a:ext uri="{FF2B5EF4-FFF2-40B4-BE49-F238E27FC236}">
                <a16:creationId xmlns:a16="http://schemas.microsoft.com/office/drawing/2014/main" id="{2142DB55-B178-D5CA-1EAA-5A4F59EB67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Metrics for Performance Evaluation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8C99D4B-F9E4-6F62-F0D6-35A3FABDE1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Metrics for hard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 dirty="0" err="1">
                <a:ea typeface="新細明體" panose="02020500000000000000" pitchFamily="18" charset="-120"/>
              </a:rPr>
              <a:t>Schedulability</a:t>
            </a:r>
            <a:endParaRPr lang="en-US" altLang="zh-TW" dirty="0">
              <a:ea typeface="新細明體" panose="02020500000000000000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Optimality, etc.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Metrics for soft real-time system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Miss ratio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Response time, etc.</a:t>
            </a:r>
          </a:p>
          <a:p>
            <a:pPr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Other metrics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Completion time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Jitter, etc.</a:t>
            </a:r>
          </a:p>
          <a:p>
            <a:pPr lvl="1">
              <a:lnSpc>
                <a:spcPct val="9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Combination of metrics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1D68F6E2-D59C-3AB9-5185-52B858103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A07F39D2-2F29-4413-8333-393BF8CB3C35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33</a:t>
            </a:fld>
            <a:endParaRPr kumimoji="0" lang="en-US" altLang="zh-TW" sz="1400"/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ED976FA6-D743-0006-8E1D-4EB28A0AF5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sz="3200">
                <a:ea typeface="新細明體" panose="02020500000000000000" pitchFamily="18" charset="-120"/>
              </a:rPr>
              <a:t>Commonly Used Approaches to Real-Time Scheduling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58B7A9D2-9F76-E7F2-3E99-78DFDBEDF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Clock-Driven</a:t>
            </a:r>
          </a:p>
          <a:p>
            <a:endParaRPr lang="en-US" altLang="zh-TW">
              <a:ea typeface="新細明體" panose="02020500000000000000" pitchFamily="18" charset="-120"/>
            </a:endParaRPr>
          </a:p>
          <a:p>
            <a:r>
              <a:rPr lang="en-US" altLang="zh-TW">
                <a:ea typeface="新細明體" panose="02020500000000000000" pitchFamily="18" charset="-120"/>
              </a:rPr>
              <a:t>Priority-Driven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4BB01272-5D53-F7AD-30D5-78B6EC4AA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CE05FE29-FF98-4BC6-BA4D-7E1D9D1AFB56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34</a:t>
            </a:fld>
            <a:endParaRPr kumimoji="0" lang="en-US" altLang="zh-TW" sz="1400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6A350338-2BD3-E710-B906-5CBD5ED33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Clock-Driven Approach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779C5DD-20F8-3FD7-483B-1BF1B6A8FC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Also called time-driven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Because each scheduling decision is make at a specific time, independent of events, such as job releases or completions, in the system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Applicable only when the system is deterministic, except for a few aperiodic jobs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 parameters of all periodic tasks are known a priori</a:t>
            </a:r>
          </a:p>
          <a:p>
            <a:pPr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Therefore, the scheduler is often constructed by a </a:t>
            </a:r>
            <a:r>
              <a:rPr lang="en-US" altLang="zh-TW" i="1">
                <a:ea typeface="新細明體" panose="02020500000000000000" pitchFamily="18" charset="-120"/>
              </a:rPr>
              <a:t>static schedule</a:t>
            </a:r>
            <a:r>
              <a:rPr lang="en-US" altLang="zh-TW">
                <a:ea typeface="新細明體" panose="02020500000000000000" pitchFamily="18" charset="-120"/>
              </a:rPr>
              <a:t> of the jobs off-line</a:t>
            </a:r>
          </a:p>
          <a:p>
            <a:pPr lvl="1">
              <a:lnSpc>
                <a:spcPct val="90000"/>
              </a:lnSpc>
            </a:pPr>
            <a:r>
              <a:rPr lang="en-US" altLang="zh-TW">
                <a:ea typeface="新細明體" panose="02020500000000000000" pitchFamily="18" charset="-120"/>
              </a:rPr>
              <a:t>Use a hardware timer to trigger the scheduling decision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8408BF1D-59AF-F728-EE1F-A683149D26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8EBE4C31-B804-4E59-A94D-D6DFA3AC8939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35</a:t>
            </a:fld>
            <a:endParaRPr kumimoji="0" lang="en-US" altLang="zh-TW" sz="14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2F651932-00A2-BCFB-DA62-02078870E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12BD9BEC-BEE2-AA46-62BB-8CE697A6BD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ea typeface="新細明體" panose="02020500000000000000" pitchFamily="18" charset="-120"/>
              </a:rPr>
              <a:t>Scheduling decisions are made when events, such as release and completions of job occurs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Therefore, priority-driven algorithms are </a:t>
            </a:r>
            <a:r>
              <a:rPr lang="en-US" altLang="zh-TW" i="1" dirty="0">
                <a:ea typeface="新細明體" panose="02020500000000000000" pitchFamily="18" charset="-120"/>
              </a:rPr>
              <a:t>event-driven</a:t>
            </a:r>
          </a:p>
          <a:p>
            <a:r>
              <a:rPr lang="en-US" altLang="zh-TW" dirty="0">
                <a:ea typeface="新細明體" panose="02020500000000000000" pitchFamily="18" charset="-120"/>
              </a:rPr>
              <a:t>Many non-real-time scheduling algorithms are priority-driven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FIFO (First-In-First-Out)</a:t>
            </a:r>
          </a:p>
          <a:p>
            <a:pPr lvl="2"/>
            <a:r>
              <a:rPr lang="en-US" altLang="zh-TW" dirty="0">
                <a:ea typeface="新細明體" panose="02020500000000000000" pitchFamily="18" charset="-120"/>
              </a:rPr>
              <a:t>Assign priority according to the release time</a:t>
            </a:r>
          </a:p>
          <a:p>
            <a:pPr lvl="1"/>
            <a:r>
              <a:rPr lang="en-US" altLang="zh-TW" dirty="0">
                <a:ea typeface="新細明體" panose="02020500000000000000" pitchFamily="18" charset="-120"/>
              </a:rPr>
              <a:t>SETF (Shortest-Execution-Time-First)</a:t>
            </a:r>
          </a:p>
          <a:p>
            <a:pPr lvl="2"/>
            <a:r>
              <a:rPr lang="en-US" altLang="zh-TW" dirty="0">
                <a:ea typeface="新細明體" panose="02020500000000000000" pitchFamily="18" charset="-120"/>
              </a:rPr>
              <a:t>Assign priority on the basis of job execution times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id="{B075ED19-46B2-E43D-A2D8-CB360EFD06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FFCA4867-C4A7-406E-AFC0-889C395509AE}" type="slidenum">
              <a:rPr kumimoji="0" lang="zh-TW" altLang="en-US" sz="1400"/>
              <a:pPr>
                <a:spcBef>
                  <a:spcPct val="50000"/>
                </a:spcBef>
                <a:buFontTx/>
                <a:buNone/>
              </a:pPr>
              <a:t>36</a:t>
            </a:fld>
            <a:endParaRPr kumimoji="0" lang="en-US" altLang="zh-TW" sz="1400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E52C906D-B819-D8E5-3914-614E1BADB8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panose="02020500000000000000" pitchFamily="18" charset="-120"/>
              </a:rPr>
              <a:t>Priority-Driven Approach (Cont.)</a:t>
            </a:r>
            <a:endParaRPr lang="zh-TW" altLang="en-US">
              <a:ea typeface="新細明體" panose="02020500000000000000" pitchFamily="18" charset="-120"/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BBE7505-A600-8D38-F2D1-1AF712D27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ea typeface="新細明體" panose="02020500000000000000" pitchFamily="18" charset="-120"/>
              </a:rPr>
              <a:t>Priority-driven real-time scheduling algorithms</a:t>
            </a: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Dynamic-priority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EDF (Earliest Deadline First)</a:t>
            </a:r>
          </a:p>
          <a:p>
            <a:pPr lvl="1"/>
            <a:endParaRPr lang="en-US" altLang="zh-TW">
              <a:ea typeface="新細明體" panose="02020500000000000000" pitchFamily="18" charset="-120"/>
            </a:endParaRPr>
          </a:p>
          <a:p>
            <a:pPr lvl="1"/>
            <a:r>
              <a:rPr lang="en-US" altLang="zh-TW">
                <a:ea typeface="新細明體" panose="02020500000000000000" pitchFamily="18" charset="-120"/>
              </a:rPr>
              <a:t>Fixed-priority</a:t>
            </a:r>
          </a:p>
          <a:p>
            <a:pPr lvl="2"/>
            <a:r>
              <a:rPr lang="en-US" altLang="zh-TW">
                <a:ea typeface="新細明體" panose="02020500000000000000" pitchFamily="18" charset="-120"/>
              </a:rPr>
              <a:t>e.g. RM (Rate Monotonic)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1994</Words>
  <Application>Microsoft Office PowerPoint</Application>
  <PresentationFormat>Widescreen</PresentationFormat>
  <Paragraphs>254</Paragraphs>
  <Slides>36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新細明體</vt:lpstr>
      <vt:lpstr>Arial</vt:lpstr>
      <vt:lpstr>Calibri</vt:lpstr>
      <vt:lpstr>Calibri Light</vt:lpstr>
      <vt:lpstr>Nunito</vt:lpstr>
      <vt:lpstr>Office Theme</vt:lpstr>
      <vt:lpstr>Module 5 Real Time Operating System</vt:lpstr>
      <vt:lpstr>Embedded classification</vt:lpstr>
      <vt:lpstr>Performance and Functional Requirements</vt:lpstr>
      <vt:lpstr>Performance and micro-controller</vt:lpstr>
      <vt:lpstr>Structure of Embedded Real-time System </vt:lpstr>
      <vt:lpstr>ENGINE SPECIFICATION</vt:lpstr>
      <vt:lpstr>EVENT PROCESS</vt:lpstr>
      <vt:lpstr>Real-Time Embedded Systems</vt:lpstr>
      <vt:lpstr>Real-Time Systems</vt:lpstr>
      <vt:lpstr>REAL TIME SYSTEM TYPES</vt:lpstr>
      <vt:lpstr>Hard real time</vt:lpstr>
      <vt:lpstr>Hard Real-Time System</vt:lpstr>
      <vt:lpstr>Hard Real-Time System</vt:lpstr>
      <vt:lpstr>Hard Real-Time System</vt:lpstr>
      <vt:lpstr>HArd Real-Time System</vt:lpstr>
      <vt:lpstr>Hard Real-Time System</vt:lpstr>
      <vt:lpstr>PowerPoint Presentation</vt:lpstr>
      <vt:lpstr>Soft real time system</vt:lpstr>
      <vt:lpstr>Soft Real-Time System</vt:lpstr>
      <vt:lpstr>Soft Real-Time System</vt:lpstr>
      <vt:lpstr>Soft Real-Time System</vt:lpstr>
      <vt:lpstr>PowerPoint Presentation</vt:lpstr>
      <vt:lpstr>Comparison</vt:lpstr>
      <vt:lpstr>Job versus Task</vt:lpstr>
      <vt:lpstr>Release Time and Deadlines</vt:lpstr>
      <vt:lpstr>Release Time and Deadlines (Cont.)</vt:lpstr>
      <vt:lpstr>Feasibility</vt:lpstr>
      <vt:lpstr>Type of Tasks</vt:lpstr>
      <vt:lpstr>Classification of Scheduling Algorithm</vt:lpstr>
      <vt:lpstr>Classification of Scheduling Algorithm (Cont.)</vt:lpstr>
      <vt:lpstr>Classification of Scheduling Algorithm (Cont.)</vt:lpstr>
      <vt:lpstr>Metrics for Performance Evaluation</vt:lpstr>
      <vt:lpstr>Commonly Used Approaches to Real-Time Scheduling</vt:lpstr>
      <vt:lpstr>Clock-Driven Approach</vt:lpstr>
      <vt:lpstr>Priority-Driven Approach</vt:lpstr>
      <vt:lpstr>Priority-Driven Approach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Real Time Operating System</dc:title>
  <dc:creator>KOPPERUNDEVI RAJAJI</dc:creator>
  <cp:lastModifiedBy>KOPPERUNDEVI RAJAJI</cp:lastModifiedBy>
  <cp:revision>19</cp:revision>
  <dcterms:created xsi:type="dcterms:W3CDTF">2024-02-19T07:46:21Z</dcterms:created>
  <dcterms:modified xsi:type="dcterms:W3CDTF">2025-02-09T16:16:36Z</dcterms:modified>
</cp:coreProperties>
</file>