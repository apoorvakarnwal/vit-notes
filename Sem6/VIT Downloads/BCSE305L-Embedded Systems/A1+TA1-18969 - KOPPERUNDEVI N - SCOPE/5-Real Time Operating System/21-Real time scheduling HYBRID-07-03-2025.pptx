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4" r:id="rId7"/>
    <p:sldId id="262" r:id="rId8"/>
    <p:sldId id="263" r:id="rId9"/>
    <p:sldId id="261"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76" d="100"/>
          <a:sy n="76" d="100"/>
        </p:scale>
        <p:origin x="946"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7C004-F777-1A37-B343-128C74CBDC1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44D02C3-B694-8AC1-1EA1-024BFEA274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DBC7CDB-13AE-82BB-7141-3A8280FADD06}"/>
              </a:ext>
            </a:extLst>
          </p:cNvPr>
          <p:cNvSpPr>
            <a:spLocks noGrp="1"/>
          </p:cNvSpPr>
          <p:nvPr>
            <p:ph type="dt" sz="half" idx="10"/>
          </p:nvPr>
        </p:nvSpPr>
        <p:spPr/>
        <p:txBody>
          <a:bodyPr/>
          <a:lstStyle/>
          <a:p>
            <a:fld id="{D1CEE4B4-8DFC-496C-ACDB-DE9B07B08855}" type="datetimeFigureOut">
              <a:rPr lang="en-IN" smtClean="0"/>
              <a:t>06-03-2024</a:t>
            </a:fld>
            <a:endParaRPr lang="en-IN"/>
          </a:p>
        </p:txBody>
      </p:sp>
      <p:sp>
        <p:nvSpPr>
          <p:cNvPr id="5" name="Footer Placeholder 4">
            <a:extLst>
              <a:ext uri="{FF2B5EF4-FFF2-40B4-BE49-F238E27FC236}">
                <a16:creationId xmlns:a16="http://schemas.microsoft.com/office/drawing/2014/main" id="{ED6092D3-FD28-1996-22A8-16B45C857DF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425FBF9-3365-B159-2F28-21AEEAC5E318}"/>
              </a:ext>
            </a:extLst>
          </p:cNvPr>
          <p:cNvSpPr>
            <a:spLocks noGrp="1"/>
          </p:cNvSpPr>
          <p:nvPr>
            <p:ph type="sldNum" sz="quarter" idx="12"/>
          </p:nvPr>
        </p:nvSpPr>
        <p:spPr/>
        <p:txBody>
          <a:bodyPr/>
          <a:lstStyle/>
          <a:p>
            <a:fld id="{9EE5A429-B798-40AE-BF72-BC288C3B1417}" type="slidenum">
              <a:rPr lang="en-IN" smtClean="0"/>
              <a:t>‹#›</a:t>
            </a:fld>
            <a:endParaRPr lang="en-IN"/>
          </a:p>
        </p:txBody>
      </p:sp>
    </p:spTree>
    <p:extLst>
      <p:ext uri="{BB962C8B-B14F-4D97-AF65-F5344CB8AC3E}">
        <p14:creationId xmlns:p14="http://schemas.microsoft.com/office/powerpoint/2010/main" val="33840034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9093E-D223-DBBD-8AEA-5BBF24DFE01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CEC05B6-F754-9375-2EE6-89CA04E9645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19BEDD7-D6F2-0310-5F00-E8E1364C7700}"/>
              </a:ext>
            </a:extLst>
          </p:cNvPr>
          <p:cNvSpPr>
            <a:spLocks noGrp="1"/>
          </p:cNvSpPr>
          <p:nvPr>
            <p:ph type="dt" sz="half" idx="10"/>
          </p:nvPr>
        </p:nvSpPr>
        <p:spPr/>
        <p:txBody>
          <a:bodyPr/>
          <a:lstStyle/>
          <a:p>
            <a:fld id="{D1CEE4B4-8DFC-496C-ACDB-DE9B07B08855}" type="datetimeFigureOut">
              <a:rPr lang="en-IN" smtClean="0"/>
              <a:t>06-03-2024</a:t>
            </a:fld>
            <a:endParaRPr lang="en-IN"/>
          </a:p>
        </p:txBody>
      </p:sp>
      <p:sp>
        <p:nvSpPr>
          <p:cNvPr id="5" name="Footer Placeholder 4">
            <a:extLst>
              <a:ext uri="{FF2B5EF4-FFF2-40B4-BE49-F238E27FC236}">
                <a16:creationId xmlns:a16="http://schemas.microsoft.com/office/drawing/2014/main" id="{1020D3BB-2EF3-7CBE-C3D3-0BDACC9938A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AABA4F6-1A98-9C86-2F41-4E992DD0277F}"/>
              </a:ext>
            </a:extLst>
          </p:cNvPr>
          <p:cNvSpPr>
            <a:spLocks noGrp="1"/>
          </p:cNvSpPr>
          <p:nvPr>
            <p:ph type="sldNum" sz="quarter" idx="12"/>
          </p:nvPr>
        </p:nvSpPr>
        <p:spPr/>
        <p:txBody>
          <a:bodyPr/>
          <a:lstStyle/>
          <a:p>
            <a:fld id="{9EE5A429-B798-40AE-BF72-BC288C3B1417}" type="slidenum">
              <a:rPr lang="en-IN" smtClean="0"/>
              <a:t>‹#›</a:t>
            </a:fld>
            <a:endParaRPr lang="en-IN"/>
          </a:p>
        </p:txBody>
      </p:sp>
    </p:spTree>
    <p:extLst>
      <p:ext uri="{BB962C8B-B14F-4D97-AF65-F5344CB8AC3E}">
        <p14:creationId xmlns:p14="http://schemas.microsoft.com/office/powerpoint/2010/main" val="14983199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1169F-5E6E-3181-A579-91853453000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5E8BD02-3350-189B-F17B-478DA8C4FC2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A8A44BF-5897-D0A9-1125-97DA0788D43A}"/>
              </a:ext>
            </a:extLst>
          </p:cNvPr>
          <p:cNvSpPr>
            <a:spLocks noGrp="1"/>
          </p:cNvSpPr>
          <p:nvPr>
            <p:ph type="dt" sz="half" idx="10"/>
          </p:nvPr>
        </p:nvSpPr>
        <p:spPr/>
        <p:txBody>
          <a:bodyPr/>
          <a:lstStyle/>
          <a:p>
            <a:fld id="{D1CEE4B4-8DFC-496C-ACDB-DE9B07B08855}" type="datetimeFigureOut">
              <a:rPr lang="en-IN" smtClean="0"/>
              <a:t>06-03-2024</a:t>
            </a:fld>
            <a:endParaRPr lang="en-IN"/>
          </a:p>
        </p:txBody>
      </p:sp>
      <p:sp>
        <p:nvSpPr>
          <p:cNvPr id="5" name="Footer Placeholder 4">
            <a:extLst>
              <a:ext uri="{FF2B5EF4-FFF2-40B4-BE49-F238E27FC236}">
                <a16:creationId xmlns:a16="http://schemas.microsoft.com/office/drawing/2014/main" id="{57B783FF-C5E5-EFE9-B265-AA7818E9C6E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75A842D-D582-7EC1-E065-0F6D24670170}"/>
              </a:ext>
            </a:extLst>
          </p:cNvPr>
          <p:cNvSpPr>
            <a:spLocks noGrp="1"/>
          </p:cNvSpPr>
          <p:nvPr>
            <p:ph type="sldNum" sz="quarter" idx="12"/>
          </p:nvPr>
        </p:nvSpPr>
        <p:spPr/>
        <p:txBody>
          <a:bodyPr/>
          <a:lstStyle/>
          <a:p>
            <a:fld id="{9EE5A429-B798-40AE-BF72-BC288C3B1417}" type="slidenum">
              <a:rPr lang="en-IN" smtClean="0"/>
              <a:t>‹#›</a:t>
            </a:fld>
            <a:endParaRPr lang="en-IN"/>
          </a:p>
        </p:txBody>
      </p:sp>
    </p:spTree>
    <p:extLst>
      <p:ext uri="{BB962C8B-B14F-4D97-AF65-F5344CB8AC3E}">
        <p14:creationId xmlns:p14="http://schemas.microsoft.com/office/powerpoint/2010/main" val="30191207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D38E6-99D2-10AB-61D7-48F910FAEEC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BFB5DAA-5889-8A87-1BF1-03F1B48A7BC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9B0DAB9-CDBF-F3AE-EBEE-996461CB6FD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0B967B7-FB1D-4808-8720-AE74886AE26F}"/>
              </a:ext>
            </a:extLst>
          </p:cNvPr>
          <p:cNvSpPr>
            <a:spLocks noGrp="1"/>
          </p:cNvSpPr>
          <p:nvPr>
            <p:ph type="dt" sz="half" idx="10"/>
          </p:nvPr>
        </p:nvSpPr>
        <p:spPr/>
        <p:txBody>
          <a:bodyPr/>
          <a:lstStyle/>
          <a:p>
            <a:fld id="{D1CEE4B4-8DFC-496C-ACDB-DE9B07B08855}" type="datetimeFigureOut">
              <a:rPr lang="en-IN" smtClean="0"/>
              <a:t>06-03-2024</a:t>
            </a:fld>
            <a:endParaRPr lang="en-IN"/>
          </a:p>
        </p:txBody>
      </p:sp>
      <p:sp>
        <p:nvSpPr>
          <p:cNvPr id="6" name="Footer Placeholder 5">
            <a:extLst>
              <a:ext uri="{FF2B5EF4-FFF2-40B4-BE49-F238E27FC236}">
                <a16:creationId xmlns:a16="http://schemas.microsoft.com/office/drawing/2014/main" id="{CDDEB8C8-160A-44C7-F3F3-BBDF2A8E412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3C3D85E-715C-CFE8-68A7-A5B8F60B58B7}"/>
              </a:ext>
            </a:extLst>
          </p:cNvPr>
          <p:cNvSpPr>
            <a:spLocks noGrp="1"/>
          </p:cNvSpPr>
          <p:nvPr>
            <p:ph type="sldNum" sz="quarter" idx="12"/>
          </p:nvPr>
        </p:nvSpPr>
        <p:spPr/>
        <p:txBody>
          <a:bodyPr/>
          <a:lstStyle/>
          <a:p>
            <a:fld id="{9EE5A429-B798-40AE-BF72-BC288C3B1417}" type="slidenum">
              <a:rPr lang="en-IN" smtClean="0"/>
              <a:t>‹#›</a:t>
            </a:fld>
            <a:endParaRPr lang="en-IN"/>
          </a:p>
        </p:txBody>
      </p:sp>
    </p:spTree>
    <p:extLst>
      <p:ext uri="{BB962C8B-B14F-4D97-AF65-F5344CB8AC3E}">
        <p14:creationId xmlns:p14="http://schemas.microsoft.com/office/powerpoint/2010/main" val="17925874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64F522-994A-7749-6C10-423E602DC0A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C12CA0F-6586-D029-0E8B-243AE660D84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C324DFD-B73F-C628-8362-BF0B6FB6574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91E6502-49AD-4F21-829A-AA20C1571CE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056CA3D-9DAA-C1FE-C673-94A9B0F7E1C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6C90B79-0EFE-C2F1-957D-1B1847A210FD}"/>
              </a:ext>
            </a:extLst>
          </p:cNvPr>
          <p:cNvSpPr>
            <a:spLocks noGrp="1"/>
          </p:cNvSpPr>
          <p:nvPr>
            <p:ph type="dt" sz="half" idx="10"/>
          </p:nvPr>
        </p:nvSpPr>
        <p:spPr/>
        <p:txBody>
          <a:bodyPr/>
          <a:lstStyle/>
          <a:p>
            <a:fld id="{D1CEE4B4-8DFC-496C-ACDB-DE9B07B08855}" type="datetimeFigureOut">
              <a:rPr lang="en-IN" smtClean="0"/>
              <a:t>06-03-2024</a:t>
            </a:fld>
            <a:endParaRPr lang="en-IN"/>
          </a:p>
        </p:txBody>
      </p:sp>
      <p:sp>
        <p:nvSpPr>
          <p:cNvPr id="8" name="Footer Placeholder 7">
            <a:extLst>
              <a:ext uri="{FF2B5EF4-FFF2-40B4-BE49-F238E27FC236}">
                <a16:creationId xmlns:a16="http://schemas.microsoft.com/office/drawing/2014/main" id="{DD2D1992-8C83-2D93-2839-32A735F61C1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C8D5EC0-97CD-097E-7645-08090980A984}"/>
              </a:ext>
            </a:extLst>
          </p:cNvPr>
          <p:cNvSpPr>
            <a:spLocks noGrp="1"/>
          </p:cNvSpPr>
          <p:nvPr>
            <p:ph type="sldNum" sz="quarter" idx="12"/>
          </p:nvPr>
        </p:nvSpPr>
        <p:spPr/>
        <p:txBody>
          <a:bodyPr/>
          <a:lstStyle/>
          <a:p>
            <a:fld id="{9EE5A429-B798-40AE-BF72-BC288C3B1417}" type="slidenum">
              <a:rPr lang="en-IN" smtClean="0"/>
              <a:t>‹#›</a:t>
            </a:fld>
            <a:endParaRPr lang="en-IN"/>
          </a:p>
        </p:txBody>
      </p:sp>
    </p:spTree>
    <p:extLst>
      <p:ext uri="{BB962C8B-B14F-4D97-AF65-F5344CB8AC3E}">
        <p14:creationId xmlns:p14="http://schemas.microsoft.com/office/powerpoint/2010/main" val="428892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273FF-99F5-11E9-1D30-031F67E7FBB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46EC33A-36CC-726F-6D49-28E927EC97CE}"/>
              </a:ext>
            </a:extLst>
          </p:cNvPr>
          <p:cNvSpPr>
            <a:spLocks noGrp="1"/>
          </p:cNvSpPr>
          <p:nvPr>
            <p:ph type="dt" sz="half" idx="10"/>
          </p:nvPr>
        </p:nvSpPr>
        <p:spPr/>
        <p:txBody>
          <a:bodyPr/>
          <a:lstStyle/>
          <a:p>
            <a:fld id="{D1CEE4B4-8DFC-496C-ACDB-DE9B07B08855}" type="datetimeFigureOut">
              <a:rPr lang="en-IN" smtClean="0"/>
              <a:t>06-03-2024</a:t>
            </a:fld>
            <a:endParaRPr lang="en-IN"/>
          </a:p>
        </p:txBody>
      </p:sp>
      <p:sp>
        <p:nvSpPr>
          <p:cNvPr id="4" name="Footer Placeholder 3">
            <a:extLst>
              <a:ext uri="{FF2B5EF4-FFF2-40B4-BE49-F238E27FC236}">
                <a16:creationId xmlns:a16="http://schemas.microsoft.com/office/drawing/2014/main" id="{54BEB128-B747-DC62-E610-40313AE7941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05C9C1D-F03C-0554-4A94-AFB7F9AB3479}"/>
              </a:ext>
            </a:extLst>
          </p:cNvPr>
          <p:cNvSpPr>
            <a:spLocks noGrp="1"/>
          </p:cNvSpPr>
          <p:nvPr>
            <p:ph type="sldNum" sz="quarter" idx="12"/>
          </p:nvPr>
        </p:nvSpPr>
        <p:spPr/>
        <p:txBody>
          <a:bodyPr/>
          <a:lstStyle/>
          <a:p>
            <a:fld id="{9EE5A429-B798-40AE-BF72-BC288C3B1417}" type="slidenum">
              <a:rPr lang="en-IN" smtClean="0"/>
              <a:t>‹#›</a:t>
            </a:fld>
            <a:endParaRPr lang="en-IN"/>
          </a:p>
        </p:txBody>
      </p:sp>
    </p:spTree>
    <p:extLst>
      <p:ext uri="{BB962C8B-B14F-4D97-AF65-F5344CB8AC3E}">
        <p14:creationId xmlns:p14="http://schemas.microsoft.com/office/powerpoint/2010/main" val="10140618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5F9C4AE-D849-3676-CA21-10AC6ABDD77C}"/>
              </a:ext>
            </a:extLst>
          </p:cNvPr>
          <p:cNvSpPr>
            <a:spLocks noGrp="1"/>
          </p:cNvSpPr>
          <p:nvPr>
            <p:ph type="dt" sz="half" idx="10"/>
          </p:nvPr>
        </p:nvSpPr>
        <p:spPr/>
        <p:txBody>
          <a:bodyPr/>
          <a:lstStyle/>
          <a:p>
            <a:fld id="{D1CEE4B4-8DFC-496C-ACDB-DE9B07B08855}" type="datetimeFigureOut">
              <a:rPr lang="en-IN" smtClean="0"/>
              <a:t>06-03-2024</a:t>
            </a:fld>
            <a:endParaRPr lang="en-IN"/>
          </a:p>
        </p:txBody>
      </p:sp>
      <p:sp>
        <p:nvSpPr>
          <p:cNvPr id="3" name="Footer Placeholder 2">
            <a:extLst>
              <a:ext uri="{FF2B5EF4-FFF2-40B4-BE49-F238E27FC236}">
                <a16:creationId xmlns:a16="http://schemas.microsoft.com/office/drawing/2014/main" id="{FFD20EA2-0018-7670-506B-42D25F00E4C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55EE1E0-6FAD-1B4F-A9CB-71F37AD059B9}"/>
              </a:ext>
            </a:extLst>
          </p:cNvPr>
          <p:cNvSpPr>
            <a:spLocks noGrp="1"/>
          </p:cNvSpPr>
          <p:nvPr>
            <p:ph type="sldNum" sz="quarter" idx="12"/>
          </p:nvPr>
        </p:nvSpPr>
        <p:spPr/>
        <p:txBody>
          <a:bodyPr/>
          <a:lstStyle/>
          <a:p>
            <a:fld id="{9EE5A429-B798-40AE-BF72-BC288C3B1417}" type="slidenum">
              <a:rPr lang="en-IN" smtClean="0"/>
              <a:t>‹#›</a:t>
            </a:fld>
            <a:endParaRPr lang="en-IN"/>
          </a:p>
        </p:txBody>
      </p:sp>
    </p:spTree>
    <p:extLst>
      <p:ext uri="{BB962C8B-B14F-4D97-AF65-F5344CB8AC3E}">
        <p14:creationId xmlns:p14="http://schemas.microsoft.com/office/powerpoint/2010/main" val="39546755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57CD6-F4DB-022E-4EB9-560CB34B2EC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FECBA62-F346-371B-7DF0-F2722C3B488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71C27B2-3BEF-33F1-4736-BEEFF4F68A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A3D679-8D4F-D915-F018-D98C2CF04F7B}"/>
              </a:ext>
            </a:extLst>
          </p:cNvPr>
          <p:cNvSpPr>
            <a:spLocks noGrp="1"/>
          </p:cNvSpPr>
          <p:nvPr>
            <p:ph type="dt" sz="half" idx="10"/>
          </p:nvPr>
        </p:nvSpPr>
        <p:spPr/>
        <p:txBody>
          <a:bodyPr/>
          <a:lstStyle/>
          <a:p>
            <a:fld id="{D1CEE4B4-8DFC-496C-ACDB-DE9B07B08855}" type="datetimeFigureOut">
              <a:rPr lang="en-IN" smtClean="0"/>
              <a:t>06-03-2024</a:t>
            </a:fld>
            <a:endParaRPr lang="en-IN"/>
          </a:p>
        </p:txBody>
      </p:sp>
      <p:sp>
        <p:nvSpPr>
          <p:cNvPr id="6" name="Footer Placeholder 5">
            <a:extLst>
              <a:ext uri="{FF2B5EF4-FFF2-40B4-BE49-F238E27FC236}">
                <a16:creationId xmlns:a16="http://schemas.microsoft.com/office/drawing/2014/main" id="{B7519658-4943-C363-476C-D5904AEED01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23306B4-1532-DF30-E9FF-4FB070810A22}"/>
              </a:ext>
            </a:extLst>
          </p:cNvPr>
          <p:cNvSpPr>
            <a:spLocks noGrp="1"/>
          </p:cNvSpPr>
          <p:nvPr>
            <p:ph type="sldNum" sz="quarter" idx="12"/>
          </p:nvPr>
        </p:nvSpPr>
        <p:spPr/>
        <p:txBody>
          <a:bodyPr/>
          <a:lstStyle/>
          <a:p>
            <a:fld id="{9EE5A429-B798-40AE-BF72-BC288C3B1417}" type="slidenum">
              <a:rPr lang="en-IN" smtClean="0"/>
              <a:t>‹#›</a:t>
            </a:fld>
            <a:endParaRPr lang="en-IN"/>
          </a:p>
        </p:txBody>
      </p:sp>
    </p:spTree>
    <p:extLst>
      <p:ext uri="{BB962C8B-B14F-4D97-AF65-F5344CB8AC3E}">
        <p14:creationId xmlns:p14="http://schemas.microsoft.com/office/powerpoint/2010/main" val="340177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53A35-4D3F-C8F5-4D59-4CB222F52A7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02163B6-5A1D-A9BD-CA2F-E3BC1B89B94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AA00DA5-A01C-AFDC-81EE-B1CB7F3C14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03B427-206F-6A39-4CAC-571B0DBBB036}"/>
              </a:ext>
            </a:extLst>
          </p:cNvPr>
          <p:cNvSpPr>
            <a:spLocks noGrp="1"/>
          </p:cNvSpPr>
          <p:nvPr>
            <p:ph type="dt" sz="half" idx="10"/>
          </p:nvPr>
        </p:nvSpPr>
        <p:spPr/>
        <p:txBody>
          <a:bodyPr/>
          <a:lstStyle/>
          <a:p>
            <a:fld id="{D1CEE4B4-8DFC-496C-ACDB-DE9B07B08855}" type="datetimeFigureOut">
              <a:rPr lang="en-IN" smtClean="0"/>
              <a:t>06-03-2024</a:t>
            </a:fld>
            <a:endParaRPr lang="en-IN"/>
          </a:p>
        </p:txBody>
      </p:sp>
      <p:sp>
        <p:nvSpPr>
          <p:cNvPr id="6" name="Footer Placeholder 5">
            <a:extLst>
              <a:ext uri="{FF2B5EF4-FFF2-40B4-BE49-F238E27FC236}">
                <a16:creationId xmlns:a16="http://schemas.microsoft.com/office/drawing/2014/main" id="{308F6B88-E64C-312A-C733-C5A3445691D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C3DA037-20FC-7607-2AE3-11A926BDD150}"/>
              </a:ext>
            </a:extLst>
          </p:cNvPr>
          <p:cNvSpPr>
            <a:spLocks noGrp="1"/>
          </p:cNvSpPr>
          <p:nvPr>
            <p:ph type="sldNum" sz="quarter" idx="12"/>
          </p:nvPr>
        </p:nvSpPr>
        <p:spPr/>
        <p:txBody>
          <a:bodyPr/>
          <a:lstStyle/>
          <a:p>
            <a:fld id="{9EE5A429-B798-40AE-BF72-BC288C3B1417}" type="slidenum">
              <a:rPr lang="en-IN" smtClean="0"/>
              <a:t>‹#›</a:t>
            </a:fld>
            <a:endParaRPr lang="en-IN"/>
          </a:p>
        </p:txBody>
      </p:sp>
    </p:spTree>
    <p:extLst>
      <p:ext uri="{BB962C8B-B14F-4D97-AF65-F5344CB8AC3E}">
        <p14:creationId xmlns:p14="http://schemas.microsoft.com/office/powerpoint/2010/main" val="14009446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0B4F8-F15E-D162-6E0B-0E31F191361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CAF4203-267A-8D86-C0A9-019D0ACAB0C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55CB915-D895-53C6-3EC2-C1120348F7A2}"/>
              </a:ext>
            </a:extLst>
          </p:cNvPr>
          <p:cNvSpPr>
            <a:spLocks noGrp="1"/>
          </p:cNvSpPr>
          <p:nvPr>
            <p:ph type="dt" sz="half" idx="10"/>
          </p:nvPr>
        </p:nvSpPr>
        <p:spPr/>
        <p:txBody>
          <a:bodyPr/>
          <a:lstStyle/>
          <a:p>
            <a:fld id="{D1CEE4B4-8DFC-496C-ACDB-DE9B07B08855}" type="datetimeFigureOut">
              <a:rPr lang="en-IN" smtClean="0"/>
              <a:t>06-03-2024</a:t>
            </a:fld>
            <a:endParaRPr lang="en-IN"/>
          </a:p>
        </p:txBody>
      </p:sp>
      <p:sp>
        <p:nvSpPr>
          <p:cNvPr id="5" name="Footer Placeholder 4">
            <a:extLst>
              <a:ext uri="{FF2B5EF4-FFF2-40B4-BE49-F238E27FC236}">
                <a16:creationId xmlns:a16="http://schemas.microsoft.com/office/drawing/2014/main" id="{4F212A77-58EF-5D8A-B39D-5512535FFE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D6BFF6A-BF4C-B2E8-232D-9C76E3B7F9AD}"/>
              </a:ext>
            </a:extLst>
          </p:cNvPr>
          <p:cNvSpPr>
            <a:spLocks noGrp="1"/>
          </p:cNvSpPr>
          <p:nvPr>
            <p:ph type="sldNum" sz="quarter" idx="12"/>
          </p:nvPr>
        </p:nvSpPr>
        <p:spPr/>
        <p:txBody>
          <a:bodyPr/>
          <a:lstStyle/>
          <a:p>
            <a:fld id="{9EE5A429-B798-40AE-BF72-BC288C3B1417}" type="slidenum">
              <a:rPr lang="en-IN" smtClean="0"/>
              <a:t>‹#›</a:t>
            </a:fld>
            <a:endParaRPr lang="en-IN"/>
          </a:p>
        </p:txBody>
      </p:sp>
    </p:spTree>
    <p:extLst>
      <p:ext uri="{BB962C8B-B14F-4D97-AF65-F5344CB8AC3E}">
        <p14:creationId xmlns:p14="http://schemas.microsoft.com/office/powerpoint/2010/main" val="41666166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A9E6809-C99B-6693-9F0B-A1C543A5987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85E7DD2-B96A-65B7-0D78-2E599929A97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17781A4-2682-EF95-8600-990C719A5501}"/>
              </a:ext>
            </a:extLst>
          </p:cNvPr>
          <p:cNvSpPr>
            <a:spLocks noGrp="1"/>
          </p:cNvSpPr>
          <p:nvPr>
            <p:ph type="dt" sz="half" idx="10"/>
          </p:nvPr>
        </p:nvSpPr>
        <p:spPr/>
        <p:txBody>
          <a:bodyPr/>
          <a:lstStyle/>
          <a:p>
            <a:fld id="{D1CEE4B4-8DFC-496C-ACDB-DE9B07B08855}" type="datetimeFigureOut">
              <a:rPr lang="en-IN" smtClean="0"/>
              <a:t>06-03-2024</a:t>
            </a:fld>
            <a:endParaRPr lang="en-IN"/>
          </a:p>
        </p:txBody>
      </p:sp>
      <p:sp>
        <p:nvSpPr>
          <p:cNvPr id="5" name="Footer Placeholder 4">
            <a:extLst>
              <a:ext uri="{FF2B5EF4-FFF2-40B4-BE49-F238E27FC236}">
                <a16:creationId xmlns:a16="http://schemas.microsoft.com/office/drawing/2014/main" id="{8640ACC5-D0D4-495B-5C63-5988C15E262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46A8990-E770-35DE-3F18-9449E8BDE004}"/>
              </a:ext>
            </a:extLst>
          </p:cNvPr>
          <p:cNvSpPr>
            <a:spLocks noGrp="1"/>
          </p:cNvSpPr>
          <p:nvPr>
            <p:ph type="sldNum" sz="quarter" idx="12"/>
          </p:nvPr>
        </p:nvSpPr>
        <p:spPr/>
        <p:txBody>
          <a:bodyPr/>
          <a:lstStyle/>
          <a:p>
            <a:fld id="{9EE5A429-B798-40AE-BF72-BC288C3B1417}" type="slidenum">
              <a:rPr lang="en-IN" smtClean="0"/>
              <a:t>‹#›</a:t>
            </a:fld>
            <a:endParaRPr lang="en-IN"/>
          </a:p>
        </p:txBody>
      </p:sp>
    </p:spTree>
    <p:extLst>
      <p:ext uri="{BB962C8B-B14F-4D97-AF65-F5344CB8AC3E}">
        <p14:creationId xmlns:p14="http://schemas.microsoft.com/office/powerpoint/2010/main" val="20008374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17E1FB7-7258-F959-344D-5B1F57962EE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A62C2D6-90A4-EEE9-70F3-A99EA99CBC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C0272BD-6090-7E1E-EB4A-155C68B8B05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1CEE4B4-8DFC-496C-ACDB-DE9B07B08855}" type="datetimeFigureOut">
              <a:rPr lang="en-IN" smtClean="0"/>
              <a:t>06-03-2024</a:t>
            </a:fld>
            <a:endParaRPr lang="en-IN"/>
          </a:p>
        </p:txBody>
      </p:sp>
      <p:sp>
        <p:nvSpPr>
          <p:cNvPr id="5" name="Footer Placeholder 4">
            <a:extLst>
              <a:ext uri="{FF2B5EF4-FFF2-40B4-BE49-F238E27FC236}">
                <a16:creationId xmlns:a16="http://schemas.microsoft.com/office/drawing/2014/main" id="{83A902F0-AA30-4D3C-78F9-9AFEA21602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A12BE2D-83F0-8335-C4D3-423B8945461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EE5A429-B798-40AE-BF72-BC288C3B1417}" type="slidenum">
              <a:rPr lang="en-IN" smtClean="0"/>
              <a:t>‹#›</a:t>
            </a:fld>
            <a:endParaRPr lang="en-IN"/>
          </a:p>
        </p:txBody>
      </p:sp>
    </p:spTree>
    <p:extLst>
      <p:ext uri="{BB962C8B-B14F-4D97-AF65-F5344CB8AC3E}">
        <p14:creationId xmlns:p14="http://schemas.microsoft.com/office/powerpoint/2010/main" val="40792672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03C39-9554-1AF8-AA9B-B36D15E13136}"/>
              </a:ext>
            </a:extLst>
          </p:cNvPr>
          <p:cNvSpPr>
            <a:spLocks noGrp="1"/>
          </p:cNvSpPr>
          <p:nvPr>
            <p:ph type="ctrTitle"/>
          </p:nvPr>
        </p:nvSpPr>
        <p:spPr/>
        <p:txBody>
          <a:bodyPr/>
          <a:lstStyle/>
          <a:p>
            <a:r>
              <a:rPr lang="en-US" dirty="0"/>
              <a:t>Hybrid techniques </a:t>
            </a:r>
            <a:endParaRPr lang="en-IN" dirty="0"/>
          </a:p>
        </p:txBody>
      </p:sp>
      <p:sp>
        <p:nvSpPr>
          <p:cNvPr id="3" name="Subtitle 2">
            <a:extLst>
              <a:ext uri="{FF2B5EF4-FFF2-40B4-BE49-F238E27FC236}">
                <a16:creationId xmlns:a16="http://schemas.microsoft.com/office/drawing/2014/main" id="{00826061-8D56-2578-933A-597F1214C4C9}"/>
              </a:ext>
            </a:extLst>
          </p:cNvPr>
          <p:cNvSpPr>
            <a:spLocks noGrp="1"/>
          </p:cNvSpPr>
          <p:nvPr>
            <p:ph type="subTitle" idx="1"/>
          </p:nvPr>
        </p:nvSpPr>
        <p:spPr/>
        <p:txBody>
          <a:bodyPr/>
          <a:lstStyle/>
          <a:p>
            <a:r>
              <a:rPr lang="en-US" dirty="0"/>
              <a:t>Scheduling algorithm</a:t>
            </a:r>
            <a:endParaRPr lang="en-IN" dirty="0"/>
          </a:p>
        </p:txBody>
      </p:sp>
    </p:spTree>
    <p:extLst>
      <p:ext uri="{BB962C8B-B14F-4D97-AF65-F5344CB8AC3E}">
        <p14:creationId xmlns:p14="http://schemas.microsoft.com/office/powerpoint/2010/main" val="28106409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D141B-D1B0-D90F-F403-CBAB72470414}"/>
              </a:ext>
            </a:extLst>
          </p:cNvPr>
          <p:cNvSpPr>
            <a:spLocks noGrp="1"/>
          </p:cNvSpPr>
          <p:nvPr>
            <p:ph type="title"/>
          </p:nvPr>
        </p:nvSpPr>
        <p:spPr/>
        <p:txBody>
          <a:bodyPr/>
          <a:lstStyle/>
          <a:p>
            <a:r>
              <a:rPr lang="en-US" dirty="0"/>
              <a:t>ROUND ROBIN METHOD</a:t>
            </a:r>
            <a:endParaRPr lang="en-IN" dirty="0"/>
          </a:p>
        </p:txBody>
      </p:sp>
      <p:sp>
        <p:nvSpPr>
          <p:cNvPr id="3" name="Content Placeholder 2">
            <a:extLst>
              <a:ext uri="{FF2B5EF4-FFF2-40B4-BE49-F238E27FC236}">
                <a16:creationId xmlns:a16="http://schemas.microsoft.com/office/drawing/2014/main" id="{45D6C006-A36E-5F72-D828-82620DE0E7D3}"/>
              </a:ext>
            </a:extLst>
          </p:cNvPr>
          <p:cNvSpPr>
            <a:spLocks noGrp="1"/>
          </p:cNvSpPr>
          <p:nvPr>
            <p:ph idx="1"/>
          </p:nvPr>
        </p:nvSpPr>
        <p:spPr>
          <a:xfrm>
            <a:off x="838199" y="1825625"/>
            <a:ext cx="11008807" cy="4351338"/>
          </a:xfrm>
        </p:spPr>
        <p:txBody>
          <a:bodyPr/>
          <a:lstStyle/>
          <a:p>
            <a:pPr algn="l"/>
            <a:r>
              <a:rPr lang="en-US" b="0" i="0" dirty="0">
                <a:solidFill>
                  <a:srgbClr val="222222"/>
                </a:solidFill>
                <a:effectLst/>
                <a:latin typeface="Source Sans Pro" panose="020B0503030403020204" pitchFamily="34" charset="0"/>
              </a:rPr>
              <a:t>The name of this algorithm comes from the round-robin principle, where each person gets an equal share of something in turns.</a:t>
            </a:r>
          </a:p>
          <a:p>
            <a:pPr algn="l"/>
            <a:r>
              <a:rPr lang="en-US" b="0" i="0" dirty="0">
                <a:solidFill>
                  <a:srgbClr val="222222"/>
                </a:solidFill>
                <a:effectLst/>
                <a:latin typeface="Source Sans Pro" panose="020B0503030403020204" pitchFamily="34" charset="0"/>
              </a:rPr>
              <a:t> It is the oldest, simplest scheduling algorithm, which is mostly used for multitasking.</a:t>
            </a:r>
          </a:p>
          <a:p>
            <a:pPr algn="l"/>
            <a:r>
              <a:rPr lang="en-US" b="0" i="0" dirty="0">
                <a:solidFill>
                  <a:srgbClr val="222222"/>
                </a:solidFill>
                <a:effectLst/>
                <a:latin typeface="Source Sans Pro" panose="020B0503030403020204" pitchFamily="34" charset="0"/>
              </a:rPr>
              <a:t>In Round-robin scheduling, each ready task runs turn by turn only in a cyclic queue for a limited time slice. </a:t>
            </a:r>
          </a:p>
          <a:p>
            <a:pPr algn="l"/>
            <a:r>
              <a:rPr lang="en-US" b="0" i="0" dirty="0">
                <a:solidFill>
                  <a:srgbClr val="222222"/>
                </a:solidFill>
                <a:effectLst/>
                <a:latin typeface="Source Sans Pro" panose="020B0503030403020204" pitchFamily="34" charset="0"/>
              </a:rPr>
              <a:t>This algorithm also offers starvation free execution of processes.</a:t>
            </a:r>
          </a:p>
          <a:p>
            <a:endParaRPr lang="en-IN" dirty="0"/>
          </a:p>
        </p:txBody>
      </p:sp>
    </p:spTree>
    <p:extLst>
      <p:ext uri="{BB962C8B-B14F-4D97-AF65-F5344CB8AC3E}">
        <p14:creationId xmlns:p14="http://schemas.microsoft.com/office/powerpoint/2010/main" val="30318648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03D08-8585-5256-E76E-FFE68834FD02}"/>
              </a:ext>
            </a:extLst>
          </p:cNvPr>
          <p:cNvSpPr>
            <a:spLocks noGrp="1"/>
          </p:cNvSpPr>
          <p:nvPr>
            <p:ph type="title"/>
          </p:nvPr>
        </p:nvSpPr>
        <p:spPr/>
        <p:txBody>
          <a:bodyPr/>
          <a:lstStyle/>
          <a:p>
            <a:r>
              <a:rPr lang="en-US" dirty="0"/>
              <a:t>CHARACTERISTICS</a:t>
            </a:r>
            <a:endParaRPr lang="en-IN" dirty="0"/>
          </a:p>
        </p:txBody>
      </p:sp>
      <p:sp>
        <p:nvSpPr>
          <p:cNvPr id="3" name="Content Placeholder 2">
            <a:extLst>
              <a:ext uri="{FF2B5EF4-FFF2-40B4-BE49-F238E27FC236}">
                <a16:creationId xmlns:a16="http://schemas.microsoft.com/office/drawing/2014/main" id="{9EB6FB34-313C-A680-A06F-5B31C34D2D46}"/>
              </a:ext>
            </a:extLst>
          </p:cNvPr>
          <p:cNvSpPr>
            <a:spLocks noGrp="1"/>
          </p:cNvSpPr>
          <p:nvPr>
            <p:ph idx="1"/>
          </p:nvPr>
        </p:nvSpPr>
        <p:spPr/>
        <p:txBody>
          <a:bodyPr>
            <a:normAutofit lnSpcReduction="10000"/>
          </a:bodyPr>
          <a:lstStyle/>
          <a:p>
            <a:pPr algn="l">
              <a:buFont typeface="Arial" panose="020B0604020202020204" pitchFamily="34" charset="0"/>
              <a:buChar char="•"/>
            </a:pPr>
            <a:r>
              <a:rPr lang="en-US" b="0" i="0" dirty="0">
                <a:solidFill>
                  <a:srgbClr val="222222"/>
                </a:solidFill>
                <a:effectLst/>
                <a:latin typeface="Source Sans Pro" panose="020B0503030403020204" pitchFamily="34" charset="0"/>
              </a:rPr>
              <a:t>Round robin is a pre-emptive algorithm</a:t>
            </a:r>
          </a:p>
          <a:p>
            <a:pPr algn="l">
              <a:buFont typeface="Arial" panose="020B0604020202020204" pitchFamily="34" charset="0"/>
              <a:buChar char="•"/>
            </a:pPr>
            <a:r>
              <a:rPr lang="en-US" b="0" i="0" dirty="0">
                <a:solidFill>
                  <a:srgbClr val="222222"/>
                </a:solidFill>
                <a:effectLst/>
                <a:latin typeface="Source Sans Pro" panose="020B0503030403020204" pitchFamily="34" charset="0"/>
              </a:rPr>
              <a:t>The CPU is shifted to the next process after fixed interval time, which is called time quantum/time slice.</a:t>
            </a:r>
          </a:p>
          <a:p>
            <a:pPr algn="l">
              <a:buFont typeface="Arial" panose="020B0604020202020204" pitchFamily="34" charset="0"/>
              <a:buChar char="•"/>
            </a:pPr>
            <a:r>
              <a:rPr lang="en-US" b="0" i="0" dirty="0">
                <a:solidFill>
                  <a:srgbClr val="222222"/>
                </a:solidFill>
                <a:effectLst/>
                <a:latin typeface="Source Sans Pro" panose="020B0503030403020204" pitchFamily="34" charset="0"/>
              </a:rPr>
              <a:t>The process that is preempted is added to the end of the queue.</a:t>
            </a:r>
          </a:p>
          <a:p>
            <a:pPr algn="l">
              <a:buFont typeface="Arial" panose="020B0604020202020204" pitchFamily="34" charset="0"/>
              <a:buChar char="•"/>
            </a:pPr>
            <a:r>
              <a:rPr lang="en-US" b="0" i="0" dirty="0">
                <a:solidFill>
                  <a:srgbClr val="222222"/>
                </a:solidFill>
                <a:effectLst/>
                <a:latin typeface="Source Sans Pro" panose="020B0503030403020204" pitchFamily="34" charset="0"/>
              </a:rPr>
              <a:t>Round robin is a hybrid model which is clock-driven</a:t>
            </a:r>
          </a:p>
          <a:p>
            <a:pPr algn="l">
              <a:buFont typeface="Arial" panose="020B0604020202020204" pitchFamily="34" charset="0"/>
              <a:buChar char="•"/>
            </a:pPr>
            <a:r>
              <a:rPr lang="en-US" b="0" i="0" dirty="0">
                <a:solidFill>
                  <a:srgbClr val="222222"/>
                </a:solidFill>
                <a:effectLst/>
                <a:latin typeface="Source Sans Pro" panose="020B0503030403020204" pitchFamily="34" charset="0"/>
              </a:rPr>
              <a:t>Time slice should be minimum, which is assigned for a specific task that needs to be processed. However, it may differ OS to OS.</a:t>
            </a:r>
          </a:p>
          <a:p>
            <a:pPr algn="l">
              <a:buFont typeface="Arial" panose="020B0604020202020204" pitchFamily="34" charset="0"/>
              <a:buChar char="•"/>
            </a:pPr>
            <a:r>
              <a:rPr lang="en-US" b="0" i="0" dirty="0">
                <a:solidFill>
                  <a:srgbClr val="222222"/>
                </a:solidFill>
                <a:effectLst/>
                <a:latin typeface="Source Sans Pro" panose="020B0503030403020204" pitchFamily="34" charset="0"/>
              </a:rPr>
              <a:t>It is a real time algorithm which responds to the event within a specific time limit.</a:t>
            </a:r>
          </a:p>
          <a:p>
            <a:pPr algn="l">
              <a:buFont typeface="Arial" panose="020B0604020202020204" pitchFamily="34" charset="0"/>
              <a:buChar char="•"/>
            </a:pPr>
            <a:r>
              <a:rPr lang="en-US" b="0" i="0" dirty="0">
                <a:solidFill>
                  <a:srgbClr val="222222"/>
                </a:solidFill>
                <a:effectLst/>
                <a:latin typeface="Source Sans Pro" panose="020B0503030403020204" pitchFamily="34" charset="0"/>
              </a:rPr>
              <a:t>Round robin is one of the oldest, fairest, and easiest algorithm.</a:t>
            </a:r>
          </a:p>
          <a:p>
            <a:endParaRPr lang="en-IN" dirty="0"/>
          </a:p>
        </p:txBody>
      </p:sp>
    </p:spTree>
    <p:extLst>
      <p:ext uri="{BB962C8B-B14F-4D97-AF65-F5344CB8AC3E}">
        <p14:creationId xmlns:p14="http://schemas.microsoft.com/office/powerpoint/2010/main" val="23281826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6B9B3-E94C-D4CE-BD30-F055019384B7}"/>
              </a:ext>
            </a:extLst>
          </p:cNvPr>
          <p:cNvSpPr>
            <a:spLocks noGrp="1"/>
          </p:cNvSpPr>
          <p:nvPr>
            <p:ph type="title"/>
          </p:nvPr>
        </p:nvSpPr>
        <p:spPr/>
        <p:txBody>
          <a:bodyPr/>
          <a:lstStyle/>
          <a:p>
            <a:r>
              <a:rPr lang="en-US" dirty="0"/>
              <a:t>EXAMPLE</a:t>
            </a:r>
            <a:endParaRPr lang="en-IN" dirty="0"/>
          </a:p>
        </p:txBody>
      </p:sp>
      <p:graphicFrame>
        <p:nvGraphicFramePr>
          <p:cNvPr id="4" name="Content Placeholder 3">
            <a:extLst>
              <a:ext uri="{FF2B5EF4-FFF2-40B4-BE49-F238E27FC236}">
                <a16:creationId xmlns:a16="http://schemas.microsoft.com/office/drawing/2014/main" id="{CDDE3D43-72D3-8EFC-5F90-4E750909EA63}"/>
              </a:ext>
            </a:extLst>
          </p:cNvPr>
          <p:cNvGraphicFramePr>
            <a:graphicFrameLocks noGrp="1"/>
          </p:cNvGraphicFramePr>
          <p:nvPr>
            <p:ph idx="1"/>
            <p:extLst>
              <p:ext uri="{D42A27DB-BD31-4B8C-83A1-F6EECF244321}">
                <p14:modId xmlns:p14="http://schemas.microsoft.com/office/powerpoint/2010/main" val="1563818423"/>
              </p:ext>
            </p:extLst>
          </p:nvPr>
        </p:nvGraphicFramePr>
        <p:xfrm>
          <a:off x="1599086" y="1690687"/>
          <a:ext cx="8278442" cy="1997056"/>
        </p:xfrm>
        <a:graphic>
          <a:graphicData uri="http://schemas.openxmlformats.org/drawingml/2006/table">
            <a:tbl>
              <a:tblPr/>
              <a:tblGrid>
                <a:gridCol w="4139221">
                  <a:extLst>
                    <a:ext uri="{9D8B030D-6E8A-4147-A177-3AD203B41FA5}">
                      <a16:colId xmlns:a16="http://schemas.microsoft.com/office/drawing/2014/main" val="3306033161"/>
                    </a:ext>
                  </a:extLst>
                </a:gridCol>
                <a:gridCol w="4139221">
                  <a:extLst>
                    <a:ext uri="{9D8B030D-6E8A-4147-A177-3AD203B41FA5}">
                      <a16:colId xmlns:a16="http://schemas.microsoft.com/office/drawing/2014/main" val="3650207323"/>
                    </a:ext>
                  </a:extLst>
                </a:gridCol>
              </a:tblGrid>
              <a:tr h="499264">
                <a:tc>
                  <a:txBody>
                    <a:bodyPr/>
                    <a:lstStyle/>
                    <a:p>
                      <a:pPr algn="ctr"/>
                      <a:r>
                        <a:rPr lang="en-IN" sz="2000" b="1" dirty="0">
                          <a:effectLst/>
                        </a:rPr>
                        <a:t>Process Queue</a:t>
                      </a:r>
                    </a:p>
                  </a:txBody>
                  <a:tcPr anchor="ctr">
                    <a:lnL>
                      <a:noFill/>
                    </a:lnL>
                    <a:lnR>
                      <a:noFill/>
                    </a:lnR>
                    <a:lnT>
                      <a:noFill/>
                    </a:lnT>
                    <a:lnB w="7620" cap="flat" cmpd="sng" algn="ctr">
                      <a:solidFill>
                        <a:srgbClr val="EEEEEE"/>
                      </a:solidFill>
                      <a:prstDash val="solid"/>
                      <a:round/>
                      <a:headEnd type="none" w="med" len="med"/>
                      <a:tailEnd type="none" w="med" len="med"/>
                    </a:lnB>
                    <a:solidFill>
                      <a:srgbClr val="F9F9F9"/>
                    </a:solidFill>
                  </a:tcPr>
                </a:tc>
                <a:tc>
                  <a:txBody>
                    <a:bodyPr/>
                    <a:lstStyle/>
                    <a:p>
                      <a:pPr algn="ctr"/>
                      <a:r>
                        <a:rPr lang="en-IN" sz="2000" b="1" dirty="0">
                          <a:effectLst/>
                        </a:rPr>
                        <a:t>Burst time</a:t>
                      </a:r>
                    </a:p>
                  </a:txBody>
                  <a:tcPr anchor="ctr">
                    <a:lnL>
                      <a:noFill/>
                    </a:lnL>
                    <a:lnR>
                      <a:noFill/>
                    </a:lnR>
                    <a:lnT>
                      <a:noFill/>
                    </a:lnT>
                    <a:lnB w="7620" cap="flat" cmpd="sng" algn="ctr">
                      <a:solidFill>
                        <a:srgbClr val="EEEEEE"/>
                      </a:solidFill>
                      <a:prstDash val="solid"/>
                      <a:round/>
                      <a:headEnd type="none" w="med" len="med"/>
                      <a:tailEnd type="none" w="med" len="med"/>
                    </a:lnB>
                    <a:solidFill>
                      <a:srgbClr val="F9F9F9"/>
                    </a:solidFill>
                  </a:tcPr>
                </a:tc>
                <a:extLst>
                  <a:ext uri="{0D108BD9-81ED-4DB2-BD59-A6C34878D82A}">
                    <a16:rowId xmlns:a16="http://schemas.microsoft.com/office/drawing/2014/main" val="2913725799"/>
                  </a:ext>
                </a:extLst>
              </a:tr>
              <a:tr h="499264">
                <a:tc>
                  <a:txBody>
                    <a:bodyPr/>
                    <a:lstStyle/>
                    <a:p>
                      <a:pPr algn="ctr"/>
                      <a:r>
                        <a:rPr lang="en-IN" sz="2000" dirty="0">
                          <a:effectLst/>
                        </a:rPr>
                        <a:t>P1</a:t>
                      </a:r>
                    </a:p>
                  </a:txBody>
                  <a:tcPr anchor="ctr">
                    <a:lnL>
                      <a:noFill/>
                    </a:lnL>
                    <a:lnR>
                      <a:noFill/>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9F9F9"/>
                    </a:solidFill>
                  </a:tcPr>
                </a:tc>
                <a:tc>
                  <a:txBody>
                    <a:bodyPr/>
                    <a:lstStyle/>
                    <a:p>
                      <a:pPr algn="ctr"/>
                      <a:r>
                        <a:rPr lang="en-IN" sz="2000" dirty="0">
                          <a:effectLst/>
                        </a:rPr>
                        <a:t>4</a:t>
                      </a:r>
                    </a:p>
                  </a:txBody>
                  <a:tcPr anchor="ctr">
                    <a:lnL>
                      <a:noFill/>
                    </a:lnL>
                    <a:lnR>
                      <a:noFill/>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9F9F9"/>
                    </a:solidFill>
                  </a:tcPr>
                </a:tc>
                <a:extLst>
                  <a:ext uri="{0D108BD9-81ED-4DB2-BD59-A6C34878D82A}">
                    <a16:rowId xmlns:a16="http://schemas.microsoft.com/office/drawing/2014/main" val="3676050872"/>
                  </a:ext>
                </a:extLst>
              </a:tr>
              <a:tr h="499264">
                <a:tc>
                  <a:txBody>
                    <a:bodyPr/>
                    <a:lstStyle/>
                    <a:p>
                      <a:pPr algn="ctr"/>
                      <a:r>
                        <a:rPr lang="en-IN" sz="2000">
                          <a:effectLst/>
                        </a:rPr>
                        <a:t>P2</a:t>
                      </a:r>
                    </a:p>
                  </a:txBody>
                  <a:tcPr anchor="ctr">
                    <a:lnL>
                      <a:noFill/>
                    </a:lnL>
                    <a:lnR>
                      <a:noFill/>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tc>
                  <a:txBody>
                    <a:bodyPr/>
                    <a:lstStyle/>
                    <a:p>
                      <a:pPr algn="ctr"/>
                      <a:r>
                        <a:rPr lang="en-IN" sz="2000" dirty="0">
                          <a:effectLst/>
                        </a:rPr>
                        <a:t>3</a:t>
                      </a:r>
                    </a:p>
                  </a:txBody>
                  <a:tcPr anchor="ctr">
                    <a:lnL>
                      <a:noFill/>
                    </a:lnL>
                    <a:lnR>
                      <a:noFill/>
                    </a:lnR>
                    <a:lnT w="7620" cap="flat" cmpd="sng" algn="ctr">
                      <a:solidFill>
                        <a:srgbClr val="EEEEEE"/>
                      </a:solidFill>
                      <a:prstDash val="solid"/>
                      <a:round/>
                      <a:headEnd type="none" w="med" len="med"/>
                      <a:tailEnd type="none" w="med" len="med"/>
                    </a:lnT>
                    <a:lnB w="762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717777801"/>
                  </a:ext>
                </a:extLst>
              </a:tr>
              <a:tr h="499264">
                <a:tc>
                  <a:txBody>
                    <a:bodyPr/>
                    <a:lstStyle/>
                    <a:p>
                      <a:pPr algn="ctr"/>
                      <a:r>
                        <a:rPr lang="en-IN" sz="2000">
                          <a:effectLst/>
                        </a:rPr>
                        <a:t>P3</a:t>
                      </a:r>
                    </a:p>
                  </a:txBody>
                  <a:tcPr anchor="ctr">
                    <a:lnL>
                      <a:noFill/>
                    </a:lnL>
                    <a:lnR>
                      <a:noFill/>
                    </a:lnR>
                    <a:lnT w="7620" cap="flat" cmpd="sng" algn="ctr">
                      <a:solidFill>
                        <a:srgbClr val="EEEEEE"/>
                      </a:solidFill>
                      <a:prstDash val="solid"/>
                      <a:round/>
                      <a:headEnd type="none" w="med" len="med"/>
                      <a:tailEnd type="none" w="med" len="med"/>
                    </a:lnT>
                    <a:lnB>
                      <a:noFill/>
                    </a:lnB>
                    <a:solidFill>
                      <a:srgbClr val="F9F9F9"/>
                    </a:solidFill>
                  </a:tcPr>
                </a:tc>
                <a:tc>
                  <a:txBody>
                    <a:bodyPr/>
                    <a:lstStyle/>
                    <a:p>
                      <a:pPr algn="ctr"/>
                      <a:r>
                        <a:rPr lang="en-IN" sz="2000" dirty="0">
                          <a:effectLst/>
                        </a:rPr>
                        <a:t>5</a:t>
                      </a:r>
                    </a:p>
                  </a:txBody>
                  <a:tcPr anchor="ctr">
                    <a:lnL>
                      <a:noFill/>
                    </a:lnL>
                    <a:lnR>
                      <a:noFill/>
                    </a:lnR>
                    <a:lnT w="7620" cap="flat" cmpd="sng" algn="ctr">
                      <a:solidFill>
                        <a:srgbClr val="EEEEEE"/>
                      </a:solidFill>
                      <a:prstDash val="solid"/>
                      <a:round/>
                      <a:headEnd type="none" w="med" len="med"/>
                      <a:tailEnd type="none" w="med" len="med"/>
                    </a:lnT>
                    <a:lnB>
                      <a:noFill/>
                    </a:lnB>
                    <a:solidFill>
                      <a:srgbClr val="F9F9F9"/>
                    </a:solidFill>
                  </a:tcPr>
                </a:tc>
                <a:extLst>
                  <a:ext uri="{0D108BD9-81ED-4DB2-BD59-A6C34878D82A}">
                    <a16:rowId xmlns:a16="http://schemas.microsoft.com/office/drawing/2014/main" val="869199119"/>
                  </a:ext>
                </a:extLst>
              </a:tr>
            </a:tbl>
          </a:graphicData>
        </a:graphic>
      </p:graphicFrame>
      <p:pic>
        <p:nvPicPr>
          <p:cNvPr id="6" name="Picture 5">
            <a:extLst>
              <a:ext uri="{FF2B5EF4-FFF2-40B4-BE49-F238E27FC236}">
                <a16:creationId xmlns:a16="http://schemas.microsoft.com/office/drawing/2014/main" id="{9C340599-415F-A8E5-21F1-2BF9AC82347B}"/>
              </a:ext>
            </a:extLst>
          </p:cNvPr>
          <p:cNvPicPr>
            <a:picLocks noChangeAspect="1"/>
          </p:cNvPicPr>
          <p:nvPr/>
        </p:nvPicPr>
        <p:blipFill>
          <a:blip r:embed="rId2"/>
          <a:stretch>
            <a:fillRect/>
          </a:stretch>
        </p:blipFill>
        <p:spPr>
          <a:xfrm>
            <a:off x="1734936" y="4179588"/>
            <a:ext cx="1828958" cy="548688"/>
          </a:xfrm>
          <a:prstGeom prst="rect">
            <a:avLst/>
          </a:prstGeom>
        </p:spPr>
      </p:pic>
    </p:spTree>
    <p:extLst>
      <p:ext uri="{BB962C8B-B14F-4D97-AF65-F5344CB8AC3E}">
        <p14:creationId xmlns:p14="http://schemas.microsoft.com/office/powerpoint/2010/main" val="33249820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03D1D-E1F8-DD0E-935F-727F149BAE05}"/>
              </a:ext>
            </a:extLst>
          </p:cNvPr>
          <p:cNvSpPr>
            <a:spLocks noGrp="1"/>
          </p:cNvSpPr>
          <p:nvPr>
            <p:ph type="title"/>
          </p:nvPr>
        </p:nvSpPr>
        <p:spPr/>
        <p:txBody>
          <a:bodyPr/>
          <a:lstStyle/>
          <a:p>
            <a:r>
              <a:rPr lang="en-US" dirty="0"/>
              <a:t>GANTT CHART</a:t>
            </a:r>
            <a:endParaRPr lang="en-IN" dirty="0"/>
          </a:p>
        </p:txBody>
      </p:sp>
      <p:pic>
        <p:nvPicPr>
          <p:cNvPr id="7" name="Content Placeholder 6">
            <a:extLst>
              <a:ext uri="{FF2B5EF4-FFF2-40B4-BE49-F238E27FC236}">
                <a16:creationId xmlns:a16="http://schemas.microsoft.com/office/drawing/2014/main" id="{8C7EF8ED-B025-6248-801E-2AF00286C558}"/>
              </a:ext>
            </a:extLst>
          </p:cNvPr>
          <p:cNvPicPr>
            <a:picLocks noGrp="1" noChangeAspect="1"/>
          </p:cNvPicPr>
          <p:nvPr>
            <p:ph idx="1"/>
          </p:nvPr>
        </p:nvPicPr>
        <p:blipFill>
          <a:blip r:embed="rId2"/>
          <a:stretch>
            <a:fillRect/>
          </a:stretch>
        </p:blipFill>
        <p:spPr>
          <a:xfrm>
            <a:off x="4175946" y="3429000"/>
            <a:ext cx="2837804" cy="2938129"/>
          </a:xfrm>
        </p:spPr>
      </p:pic>
      <p:pic>
        <p:nvPicPr>
          <p:cNvPr id="5" name="Picture 4">
            <a:extLst>
              <a:ext uri="{FF2B5EF4-FFF2-40B4-BE49-F238E27FC236}">
                <a16:creationId xmlns:a16="http://schemas.microsoft.com/office/drawing/2014/main" id="{EFA695DF-78C0-8E84-B067-82061AEA84B1}"/>
              </a:ext>
            </a:extLst>
          </p:cNvPr>
          <p:cNvPicPr>
            <a:picLocks noChangeAspect="1"/>
          </p:cNvPicPr>
          <p:nvPr/>
        </p:nvPicPr>
        <p:blipFill>
          <a:blip r:embed="rId3"/>
          <a:stretch>
            <a:fillRect/>
          </a:stretch>
        </p:blipFill>
        <p:spPr>
          <a:xfrm>
            <a:off x="2261023" y="1589022"/>
            <a:ext cx="7308213" cy="1806097"/>
          </a:xfrm>
          <a:prstGeom prst="rect">
            <a:avLst/>
          </a:prstGeom>
        </p:spPr>
      </p:pic>
    </p:spTree>
    <p:extLst>
      <p:ext uri="{BB962C8B-B14F-4D97-AF65-F5344CB8AC3E}">
        <p14:creationId xmlns:p14="http://schemas.microsoft.com/office/powerpoint/2010/main" val="31509884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8000C-6998-FBAC-65F3-31B3092F2CAA}"/>
              </a:ext>
            </a:extLst>
          </p:cNvPr>
          <p:cNvSpPr>
            <a:spLocks noGrp="1"/>
          </p:cNvSpPr>
          <p:nvPr>
            <p:ph type="title"/>
          </p:nvPr>
        </p:nvSpPr>
        <p:spPr>
          <a:xfrm>
            <a:off x="419100" y="240601"/>
            <a:ext cx="11353800" cy="880871"/>
          </a:xfrm>
        </p:spPr>
        <p:txBody>
          <a:bodyPr>
            <a:normAutofit fontScale="90000"/>
          </a:bodyPr>
          <a:lstStyle/>
          <a:p>
            <a:r>
              <a:rPr lang="en-US" b="1" i="0" dirty="0">
                <a:solidFill>
                  <a:srgbClr val="273239"/>
                </a:solidFill>
                <a:effectLst/>
                <a:latin typeface="Source Sans 3"/>
              </a:rPr>
              <a:t>Round Robin Scheduling with different arrival times</a:t>
            </a:r>
            <a:br>
              <a:rPr lang="en-US" b="1" i="0" dirty="0">
                <a:solidFill>
                  <a:srgbClr val="273239"/>
                </a:solidFill>
                <a:effectLst/>
                <a:latin typeface="Source Sans 3"/>
              </a:rPr>
            </a:br>
            <a:endParaRPr lang="en-IN" dirty="0"/>
          </a:p>
        </p:txBody>
      </p:sp>
      <p:sp>
        <p:nvSpPr>
          <p:cNvPr id="3" name="Content Placeholder 2">
            <a:extLst>
              <a:ext uri="{FF2B5EF4-FFF2-40B4-BE49-F238E27FC236}">
                <a16:creationId xmlns:a16="http://schemas.microsoft.com/office/drawing/2014/main" id="{F9034193-EA10-5665-8724-70F8B24BDF7A}"/>
              </a:ext>
            </a:extLst>
          </p:cNvPr>
          <p:cNvSpPr>
            <a:spLocks noGrp="1"/>
          </p:cNvSpPr>
          <p:nvPr>
            <p:ph idx="1"/>
          </p:nvPr>
        </p:nvSpPr>
        <p:spPr>
          <a:xfrm>
            <a:off x="291402" y="803868"/>
            <a:ext cx="11062398" cy="6219930"/>
          </a:xfrm>
        </p:spPr>
        <p:txBody>
          <a:bodyPr>
            <a:normAutofit fontScale="77500" lnSpcReduction="20000"/>
          </a:bodyPr>
          <a:lstStyle/>
          <a:p>
            <a:pPr marL="0" indent="0" algn="just" rtl="0" fontAlgn="base">
              <a:buNone/>
            </a:pPr>
            <a:r>
              <a:rPr lang="en-US" b="1" i="0" dirty="0">
                <a:solidFill>
                  <a:srgbClr val="273239"/>
                </a:solidFill>
                <a:effectLst/>
                <a:latin typeface="Nunito" pitchFamily="2" charset="0"/>
              </a:rPr>
              <a:t>How to compute these process requests:-</a:t>
            </a:r>
            <a:r>
              <a:rPr lang="en-US" b="0" i="0" dirty="0">
                <a:solidFill>
                  <a:srgbClr val="273239"/>
                </a:solidFill>
                <a:effectLst/>
                <a:latin typeface="Nunito" pitchFamily="2" charset="0"/>
              </a:rPr>
              <a:t>  </a:t>
            </a:r>
          </a:p>
          <a:p>
            <a:pPr algn="l" fontAlgn="base">
              <a:buFont typeface="+mj-lt"/>
              <a:buAutoNum type="arabicPeriod"/>
            </a:pPr>
            <a:r>
              <a:rPr lang="en-US" b="0" i="0" dirty="0">
                <a:solidFill>
                  <a:srgbClr val="273239"/>
                </a:solidFill>
                <a:effectLst/>
                <a:latin typeface="Nunito" pitchFamily="2" charset="0"/>
              </a:rPr>
              <a:t>Take the process which occurs first and start executing the process(for quantum time only).</a:t>
            </a:r>
          </a:p>
          <a:p>
            <a:pPr algn="l" fontAlgn="base">
              <a:buFont typeface="+mj-lt"/>
              <a:buAutoNum type="arabicPeriod" startAt="2"/>
            </a:pPr>
            <a:r>
              <a:rPr lang="en-US" b="0" i="0" dirty="0">
                <a:solidFill>
                  <a:srgbClr val="273239"/>
                </a:solidFill>
                <a:effectLst/>
                <a:latin typeface="Nunito" pitchFamily="2" charset="0"/>
              </a:rPr>
              <a:t>Check if any other process request has arrived. If a process request arrives during the quantum time in which another process is executing, then add the new process to the Ready queue</a:t>
            </a:r>
          </a:p>
          <a:p>
            <a:pPr algn="l" fontAlgn="base">
              <a:buFont typeface="+mj-lt"/>
              <a:buAutoNum type="arabicPeriod" startAt="3"/>
            </a:pPr>
            <a:r>
              <a:rPr lang="en-US" b="0" i="0" dirty="0">
                <a:solidFill>
                  <a:srgbClr val="273239"/>
                </a:solidFill>
                <a:effectLst/>
                <a:latin typeface="Nunito" pitchFamily="2" charset="0"/>
              </a:rPr>
              <a:t>After the quantum time has passed, check for any processes in the Ready queue. If the ready queue is empty then continue the current process. If the queue not empty and the current process is not complete, then add the current process to the end of the ready queue.</a:t>
            </a:r>
          </a:p>
          <a:p>
            <a:pPr algn="l" fontAlgn="base">
              <a:buFont typeface="+mj-lt"/>
              <a:buAutoNum type="arabicPeriod" startAt="4"/>
            </a:pPr>
            <a:r>
              <a:rPr lang="en-US" b="0" i="0" dirty="0">
                <a:solidFill>
                  <a:srgbClr val="273239"/>
                </a:solidFill>
                <a:effectLst/>
                <a:latin typeface="Nunito" pitchFamily="2" charset="0"/>
              </a:rPr>
              <a:t>Take the first process from the Ready queue and start executing it (same rules)</a:t>
            </a:r>
          </a:p>
          <a:p>
            <a:pPr algn="l" fontAlgn="base">
              <a:buFont typeface="+mj-lt"/>
              <a:buAutoNum type="arabicPeriod" startAt="5"/>
            </a:pPr>
            <a:r>
              <a:rPr lang="en-US" b="0" i="0" dirty="0">
                <a:solidFill>
                  <a:srgbClr val="273239"/>
                </a:solidFill>
                <a:effectLst/>
                <a:latin typeface="Nunito" pitchFamily="2" charset="0"/>
              </a:rPr>
              <a:t>Repeat all steps above from 2-4</a:t>
            </a:r>
          </a:p>
          <a:p>
            <a:pPr algn="l" fontAlgn="base">
              <a:buFont typeface="+mj-lt"/>
              <a:buAutoNum type="arabicPeriod" startAt="6"/>
            </a:pPr>
            <a:r>
              <a:rPr lang="en-US" b="0" i="0" dirty="0">
                <a:solidFill>
                  <a:srgbClr val="273239"/>
                </a:solidFill>
                <a:effectLst/>
                <a:latin typeface="Nunito" pitchFamily="2" charset="0"/>
              </a:rPr>
              <a:t>If the process is complete and the ready queue is empty then the task is complete</a:t>
            </a:r>
          </a:p>
          <a:p>
            <a:pPr marL="0" indent="0" algn="l" fontAlgn="base">
              <a:buNone/>
            </a:pPr>
            <a:endParaRPr lang="en-US" b="0" i="0" dirty="0">
              <a:solidFill>
                <a:srgbClr val="273239"/>
              </a:solidFill>
              <a:effectLst/>
              <a:latin typeface="Nunito" pitchFamily="2" charset="0"/>
            </a:endParaRPr>
          </a:p>
          <a:p>
            <a:pPr algn="l" fontAlgn="base">
              <a:buFont typeface="+mj-lt"/>
              <a:buAutoNum type="arabicPeriod"/>
            </a:pPr>
            <a:r>
              <a:rPr lang="en-US" b="1" i="0" dirty="0">
                <a:solidFill>
                  <a:srgbClr val="273239"/>
                </a:solidFill>
                <a:effectLst/>
                <a:latin typeface="Nunito" pitchFamily="2" charset="0"/>
              </a:rPr>
              <a:t>Completion Time:</a:t>
            </a:r>
            <a:r>
              <a:rPr lang="en-US" b="0" i="0" dirty="0">
                <a:solidFill>
                  <a:srgbClr val="273239"/>
                </a:solidFill>
                <a:effectLst/>
                <a:latin typeface="Nunito" pitchFamily="2" charset="0"/>
              </a:rPr>
              <a:t> the time taken for a process to complete.</a:t>
            </a:r>
          </a:p>
          <a:p>
            <a:pPr algn="l" fontAlgn="base">
              <a:buFont typeface="+mj-lt"/>
              <a:buAutoNum type="arabicPeriod" startAt="2"/>
            </a:pPr>
            <a:r>
              <a:rPr lang="en-US" b="1" i="0" dirty="0">
                <a:solidFill>
                  <a:srgbClr val="273239"/>
                </a:solidFill>
                <a:effectLst/>
                <a:latin typeface="Nunito" pitchFamily="2" charset="0"/>
              </a:rPr>
              <a:t>Turn Around Time:</a:t>
            </a:r>
            <a:r>
              <a:rPr lang="en-US" b="0" i="0" dirty="0">
                <a:solidFill>
                  <a:srgbClr val="273239"/>
                </a:solidFill>
                <a:effectLst/>
                <a:latin typeface="Nunito" pitchFamily="2" charset="0"/>
              </a:rPr>
              <a:t> total time the process exists in the system. (completion time – arrival time).</a:t>
            </a:r>
          </a:p>
          <a:p>
            <a:pPr algn="l" fontAlgn="base">
              <a:buFont typeface="+mj-lt"/>
              <a:buAutoNum type="arabicPeriod" startAt="3"/>
            </a:pPr>
            <a:r>
              <a:rPr lang="en-US" b="1" i="0" dirty="0">
                <a:solidFill>
                  <a:srgbClr val="273239"/>
                </a:solidFill>
                <a:effectLst/>
                <a:latin typeface="Nunito" pitchFamily="2" charset="0"/>
              </a:rPr>
              <a:t>Waiting Time:</a:t>
            </a:r>
            <a:r>
              <a:rPr lang="en-US" b="0" i="0" dirty="0">
                <a:solidFill>
                  <a:srgbClr val="273239"/>
                </a:solidFill>
                <a:effectLst/>
                <a:latin typeface="Nunito" pitchFamily="2" charset="0"/>
              </a:rPr>
              <a:t> total time waiting for their complete execution. (turn around time – burst time )</a:t>
            </a:r>
          </a:p>
          <a:p>
            <a:endParaRPr lang="en-IN" dirty="0"/>
          </a:p>
        </p:txBody>
      </p:sp>
    </p:spTree>
    <p:extLst>
      <p:ext uri="{BB962C8B-B14F-4D97-AF65-F5344CB8AC3E}">
        <p14:creationId xmlns:p14="http://schemas.microsoft.com/office/powerpoint/2010/main" val="16560910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BE880-A508-F94E-C730-62FDC1CECEB4}"/>
              </a:ext>
            </a:extLst>
          </p:cNvPr>
          <p:cNvSpPr>
            <a:spLocks noGrp="1"/>
          </p:cNvSpPr>
          <p:nvPr>
            <p:ph type="title"/>
          </p:nvPr>
        </p:nvSpPr>
        <p:spPr/>
        <p:txBody>
          <a:bodyPr>
            <a:normAutofit fontScale="90000"/>
          </a:bodyPr>
          <a:lstStyle/>
          <a:p>
            <a:r>
              <a:rPr lang="en-US" b="0" i="0" dirty="0">
                <a:solidFill>
                  <a:srgbClr val="303030"/>
                </a:solidFill>
                <a:effectLst/>
                <a:latin typeface="Arimo"/>
              </a:rPr>
              <a:t>If the CPU scheduling policy is Round Robin with time quantum = 2 unit, calculate the average waiting time and average turn around time.</a:t>
            </a:r>
            <a:endParaRPr lang="en-IN" dirty="0"/>
          </a:p>
        </p:txBody>
      </p:sp>
      <p:graphicFrame>
        <p:nvGraphicFramePr>
          <p:cNvPr id="4" name="Content Placeholder 3">
            <a:extLst>
              <a:ext uri="{FF2B5EF4-FFF2-40B4-BE49-F238E27FC236}">
                <a16:creationId xmlns:a16="http://schemas.microsoft.com/office/drawing/2014/main" id="{B8799B02-8E42-8239-40B2-E5329B014979}"/>
              </a:ext>
            </a:extLst>
          </p:cNvPr>
          <p:cNvGraphicFramePr>
            <a:graphicFrameLocks noGrp="1"/>
          </p:cNvGraphicFramePr>
          <p:nvPr>
            <p:ph idx="1"/>
            <p:extLst>
              <p:ext uri="{D42A27DB-BD31-4B8C-83A1-F6EECF244321}">
                <p14:modId xmlns:p14="http://schemas.microsoft.com/office/powerpoint/2010/main" val="3704435584"/>
              </p:ext>
            </p:extLst>
          </p:nvPr>
        </p:nvGraphicFramePr>
        <p:xfrm>
          <a:off x="985440" y="1923797"/>
          <a:ext cx="5355069" cy="3496218"/>
        </p:xfrm>
        <a:graphic>
          <a:graphicData uri="http://schemas.openxmlformats.org/drawingml/2006/table">
            <a:tbl>
              <a:tblPr/>
              <a:tblGrid>
                <a:gridCol w="1785023">
                  <a:extLst>
                    <a:ext uri="{9D8B030D-6E8A-4147-A177-3AD203B41FA5}">
                      <a16:colId xmlns:a16="http://schemas.microsoft.com/office/drawing/2014/main" val="3400750589"/>
                    </a:ext>
                  </a:extLst>
                </a:gridCol>
                <a:gridCol w="1785023">
                  <a:extLst>
                    <a:ext uri="{9D8B030D-6E8A-4147-A177-3AD203B41FA5}">
                      <a16:colId xmlns:a16="http://schemas.microsoft.com/office/drawing/2014/main" val="3192335404"/>
                    </a:ext>
                  </a:extLst>
                </a:gridCol>
                <a:gridCol w="1785023">
                  <a:extLst>
                    <a:ext uri="{9D8B030D-6E8A-4147-A177-3AD203B41FA5}">
                      <a16:colId xmlns:a16="http://schemas.microsoft.com/office/drawing/2014/main" val="1752751205"/>
                    </a:ext>
                  </a:extLst>
                </a:gridCol>
              </a:tblGrid>
              <a:tr h="448218">
                <a:tc>
                  <a:txBody>
                    <a:bodyPr/>
                    <a:lstStyle/>
                    <a:p>
                      <a:pPr algn="ctr"/>
                      <a:r>
                        <a:rPr lang="en-IN" sz="2000" b="1">
                          <a:effectLst/>
                        </a:rPr>
                        <a:t>Process Id</a:t>
                      </a:r>
                      <a:endParaRPr lang="en-IN" sz="3200">
                        <a:effectLst/>
                      </a:endParaRPr>
                    </a:p>
                  </a:txBody>
                  <a:tcPr marL="76200" marR="76200" marT="60960" marB="609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FFFFFF"/>
                    </a:solidFill>
                  </a:tcPr>
                </a:tc>
                <a:tc>
                  <a:txBody>
                    <a:bodyPr/>
                    <a:lstStyle/>
                    <a:p>
                      <a:pPr algn="ctr"/>
                      <a:r>
                        <a:rPr lang="en-IN" sz="2000" b="1">
                          <a:effectLst/>
                        </a:rPr>
                        <a:t>Arrival time</a:t>
                      </a:r>
                      <a:endParaRPr lang="en-IN" sz="3200">
                        <a:effectLst/>
                      </a:endParaRPr>
                    </a:p>
                  </a:txBody>
                  <a:tcPr marL="76200" marR="76200" marT="60960" marB="609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FFFFFF"/>
                    </a:solidFill>
                  </a:tcPr>
                </a:tc>
                <a:tc>
                  <a:txBody>
                    <a:bodyPr/>
                    <a:lstStyle/>
                    <a:p>
                      <a:pPr algn="ctr"/>
                      <a:r>
                        <a:rPr lang="en-IN" sz="2000" b="1">
                          <a:effectLst/>
                        </a:rPr>
                        <a:t>Burst time</a:t>
                      </a:r>
                      <a:endParaRPr lang="en-IN" sz="3200">
                        <a:effectLst/>
                      </a:endParaRPr>
                    </a:p>
                  </a:txBody>
                  <a:tcPr marL="76200" marR="76200" marT="60960" marB="609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FFFFFF"/>
                    </a:solidFill>
                  </a:tcPr>
                </a:tc>
                <a:extLst>
                  <a:ext uri="{0D108BD9-81ED-4DB2-BD59-A6C34878D82A}">
                    <a16:rowId xmlns:a16="http://schemas.microsoft.com/office/drawing/2014/main" val="2637491264"/>
                  </a:ext>
                </a:extLst>
              </a:tr>
              <a:tr h="582683">
                <a:tc>
                  <a:txBody>
                    <a:bodyPr/>
                    <a:lstStyle/>
                    <a:p>
                      <a:pPr algn="ctr"/>
                      <a:r>
                        <a:rPr lang="en-IN" sz="3200">
                          <a:effectLst/>
                        </a:rPr>
                        <a:t>P1</a:t>
                      </a:r>
                    </a:p>
                  </a:txBody>
                  <a:tcPr marL="76200" marR="76200" marT="60960" marB="609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FFFFFF"/>
                    </a:solidFill>
                  </a:tcPr>
                </a:tc>
                <a:tc>
                  <a:txBody>
                    <a:bodyPr/>
                    <a:lstStyle/>
                    <a:p>
                      <a:pPr algn="ctr"/>
                      <a:r>
                        <a:rPr lang="en-IN" sz="3200" dirty="0">
                          <a:effectLst/>
                        </a:rPr>
                        <a:t>0</a:t>
                      </a:r>
                    </a:p>
                  </a:txBody>
                  <a:tcPr marL="76200" marR="76200" marT="60960" marB="609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FFFFFF"/>
                    </a:solidFill>
                  </a:tcPr>
                </a:tc>
                <a:tc>
                  <a:txBody>
                    <a:bodyPr/>
                    <a:lstStyle/>
                    <a:p>
                      <a:pPr algn="ctr"/>
                      <a:r>
                        <a:rPr lang="en-IN" sz="3200">
                          <a:effectLst/>
                        </a:rPr>
                        <a:t>5</a:t>
                      </a:r>
                    </a:p>
                  </a:txBody>
                  <a:tcPr marL="76200" marR="76200" marT="60960" marB="609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FFFFFF"/>
                    </a:solidFill>
                  </a:tcPr>
                </a:tc>
                <a:extLst>
                  <a:ext uri="{0D108BD9-81ED-4DB2-BD59-A6C34878D82A}">
                    <a16:rowId xmlns:a16="http://schemas.microsoft.com/office/drawing/2014/main" val="199158132"/>
                  </a:ext>
                </a:extLst>
              </a:tr>
              <a:tr h="582683">
                <a:tc>
                  <a:txBody>
                    <a:bodyPr/>
                    <a:lstStyle/>
                    <a:p>
                      <a:pPr algn="ctr"/>
                      <a:r>
                        <a:rPr lang="en-IN" sz="3200">
                          <a:effectLst/>
                        </a:rPr>
                        <a:t>P2</a:t>
                      </a:r>
                    </a:p>
                  </a:txBody>
                  <a:tcPr marL="76200" marR="76200" marT="60960" marB="609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FFFFFF"/>
                    </a:solidFill>
                  </a:tcPr>
                </a:tc>
                <a:tc>
                  <a:txBody>
                    <a:bodyPr/>
                    <a:lstStyle/>
                    <a:p>
                      <a:pPr algn="ctr"/>
                      <a:r>
                        <a:rPr lang="en-IN" sz="3200">
                          <a:effectLst/>
                        </a:rPr>
                        <a:t>1</a:t>
                      </a:r>
                    </a:p>
                  </a:txBody>
                  <a:tcPr marL="76200" marR="76200" marT="60960" marB="609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FFFFFF"/>
                    </a:solidFill>
                  </a:tcPr>
                </a:tc>
                <a:tc>
                  <a:txBody>
                    <a:bodyPr/>
                    <a:lstStyle/>
                    <a:p>
                      <a:pPr algn="ctr"/>
                      <a:r>
                        <a:rPr lang="en-IN" sz="3200" dirty="0">
                          <a:effectLst/>
                        </a:rPr>
                        <a:t>3</a:t>
                      </a:r>
                    </a:p>
                  </a:txBody>
                  <a:tcPr marL="76200" marR="76200" marT="60960" marB="609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FFFFFF"/>
                    </a:solidFill>
                  </a:tcPr>
                </a:tc>
                <a:extLst>
                  <a:ext uri="{0D108BD9-81ED-4DB2-BD59-A6C34878D82A}">
                    <a16:rowId xmlns:a16="http://schemas.microsoft.com/office/drawing/2014/main" val="327588937"/>
                  </a:ext>
                </a:extLst>
              </a:tr>
              <a:tr h="582683">
                <a:tc>
                  <a:txBody>
                    <a:bodyPr/>
                    <a:lstStyle/>
                    <a:p>
                      <a:pPr algn="ctr"/>
                      <a:r>
                        <a:rPr lang="en-IN" sz="3200">
                          <a:effectLst/>
                        </a:rPr>
                        <a:t>P3</a:t>
                      </a:r>
                    </a:p>
                  </a:txBody>
                  <a:tcPr marL="76200" marR="76200" marT="60960" marB="609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FFFFFF"/>
                    </a:solidFill>
                  </a:tcPr>
                </a:tc>
                <a:tc>
                  <a:txBody>
                    <a:bodyPr/>
                    <a:lstStyle/>
                    <a:p>
                      <a:pPr algn="ctr"/>
                      <a:r>
                        <a:rPr lang="en-IN" sz="3200">
                          <a:effectLst/>
                        </a:rPr>
                        <a:t>2</a:t>
                      </a:r>
                    </a:p>
                  </a:txBody>
                  <a:tcPr marL="76200" marR="76200" marT="60960" marB="609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FFFFFF"/>
                    </a:solidFill>
                  </a:tcPr>
                </a:tc>
                <a:tc>
                  <a:txBody>
                    <a:bodyPr/>
                    <a:lstStyle/>
                    <a:p>
                      <a:pPr algn="ctr"/>
                      <a:r>
                        <a:rPr lang="en-IN" sz="3200">
                          <a:effectLst/>
                        </a:rPr>
                        <a:t>1</a:t>
                      </a:r>
                    </a:p>
                  </a:txBody>
                  <a:tcPr marL="76200" marR="76200" marT="60960" marB="609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FFFFFF"/>
                    </a:solidFill>
                  </a:tcPr>
                </a:tc>
                <a:extLst>
                  <a:ext uri="{0D108BD9-81ED-4DB2-BD59-A6C34878D82A}">
                    <a16:rowId xmlns:a16="http://schemas.microsoft.com/office/drawing/2014/main" val="3474608908"/>
                  </a:ext>
                </a:extLst>
              </a:tr>
              <a:tr h="582683">
                <a:tc>
                  <a:txBody>
                    <a:bodyPr/>
                    <a:lstStyle/>
                    <a:p>
                      <a:pPr algn="ctr"/>
                      <a:r>
                        <a:rPr lang="en-IN" sz="3200">
                          <a:effectLst/>
                        </a:rPr>
                        <a:t>P4</a:t>
                      </a:r>
                    </a:p>
                  </a:txBody>
                  <a:tcPr marL="76200" marR="76200" marT="60960" marB="609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FFFFFF"/>
                    </a:solidFill>
                  </a:tcPr>
                </a:tc>
                <a:tc>
                  <a:txBody>
                    <a:bodyPr/>
                    <a:lstStyle/>
                    <a:p>
                      <a:pPr algn="ctr"/>
                      <a:r>
                        <a:rPr lang="en-IN" sz="3200">
                          <a:effectLst/>
                        </a:rPr>
                        <a:t>3</a:t>
                      </a:r>
                    </a:p>
                  </a:txBody>
                  <a:tcPr marL="76200" marR="76200" marT="60960" marB="609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FFFFFF"/>
                    </a:solidFill>
                  </a:tcPr>
                </a:tc>
                <a:tc>
                  <a:txBody>
                    <a:bodyPr/>
                    <a:lstStyle/>
                    <a:p>
                      <a:pPr algn="ctr"/>
                      <a:r>
                        <a:rPr lang="en-IN" sz="3200">
                          <a:effectLst/>
                        </a:rPr>
                        <a:t>2</a:t>
                      </a:r>
                    </a:p>
                  </a:txBody>
                  <a:tcPr marL="76200" marR="76200" marT="60960" marB="609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FFFFFF"/>
                    </a:solidFill>
                  </a:tcPr>
                </a:tc>
                <a:extLst>
                  <a:ext uri="{0D108BD9-81ED-4DB2-BD59-A6C34878D82A}">
                    <a16:rowId xmlns:a16="http://schemas.microsoft.com/office/drawing/2014/main" val="958298714"/>
                  </a:ext>
                </a:extLst>
              </a:tr>
              <a:tr h="582683">
                <a:tc>
                  <a:txBody>
                    <a:bodyPr/>
                    <a:lstStyle/>
                    <a:p>
                      <a:pPr algn="ctr"/>
                      <a:r>
                        <a:rPr lang="en-IN" sz="3200">
                          <a:effectLst/>
                        </a:rPr>
                        <a:t>P5</a:t>
                      </a:r>
                    </a:p>
                  </a:txBody>
                  <a:tcPr marL="76200" marR="76200" marT="60960" marB="609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FFFFFF"/>
                    </a:solidFill>
                  </a:tcPr>
                </a:tc>
                <a:tc>
                  <a:txBody>
                    <a:bodyPr/>
                    <a:lstStyle/>
                    <a:p>
                      <a:pPr algn="ctr"/>
                      <a:r>
                        <a:rPr lang="en-IN" sz="3200">
                          <a:effectLst/>
                        </a:rPr>
                        <a:t>4</a:t>
                      </a:r>
                    </a:p>
                  </a:txBody>
                  <a:tcPr marL="76200" marR="76200" marT="60960" marB="609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FFFFFF"/>
                    </a:solidFill>
                  </a:tcPr>
                </a:tc>
                <a:tc>
                  <a:txBody>
                    <a:bodyPr/>
                    <a:lstStyle/>
                    <a:p>
                      <a:pPr algn="ctr"/>
                      <a:r>
                        <a:rPr lang="en-IN" sz="3200" dirty="0">
                          <a:effectLst/>
                        </a:rPr>
                        <a:t>3</a:t>
                      </a:r>
                    </a:p>
                  </a:txBody>
                  <a:tcPr marL="76200" marR="76200" marT="60960" marB="609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FFFFFF"/>
                    </a:solidFill>
                  </a:tcPr>
                </a:tc>
                <a:extLst>
                  <a:ext uri="{0D108BD9-81ED-4DB2-BD59-A6C34878D82A}">
                    <a16:rowId xmlns:a16="http://schemas.microsoft.com/office/drawing/2014/main" val="3484777609"/>
                  </a:ext>
                </a:extLst>
              </a:tr>
            </a:tbl>
          </a:graphicData>
        </a:graphic>
      </p:graphicFrame>
    </p:spTree>
    <p:extLst>
      <p:ext uri="{BB962C8B-B14F-4D97-AF65-F5344CB8AC3E}">
        <p14:creationId xmlns:p14="http://schemas.microsoft.com/office/powerpoint/2010/main" val="12222177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CBE248F-4833-7F3C-2EE2-A5F440DCF100}"/>
              </a:ext>
            </a:extLst>
          </p:cNvPr>
          <p:cNvPicPr>
            <a:picLocks noChangeAspect="1"/>
          </p:cNvPicPr>
          <p:nvPr/>
        </p:nvPicPr>
        <p:blipFill>
          <a:blip r:embed="rId2"/>
          <a:stretch>
            <a:fillRect/>
          </a:stretch>
        </p:blipFill>
        <p:spPr>
          <a:xfrm>
            <a:off x="2293118" y="1033370"/>
            <a:ext cx="7384420" cy="1539373"/>
          </a:xfrm>
          <a:prstGeom prst="rect">
            <a:avLst/>
          </a:prstGeom>
        </p:spPr>
      </p:pic>
      <p:sp>
        <p:nvSpPr>
          <p:cNvPr id="7" name="TextBox 6">
            <a:extLst>
              <a:ext uri="{FF2B5EF4-FFF2-40B4-BE49-F238E27FC236}">
                <a16:creationId xmlns:a16="http://schemas.microsoft.com/office/drawing/2014/main" id="{E9FAA190-52EF-6177-F618-9F86E9AEAB84}"/>
              </a:ext>
            </a:extLst>
          </p:cNvPr>
          <p:cNvSpPr txBox="1"/>
          <p:nvPr/>
        </p:nvSpPr>
        <p:spPr>
          <a:xfrm>
            <a:off x="1680308" y="2539533"/>
            <a:ext cx="8610041" cy="954107"/>
          </a:xfrm>
          <a:prstGeom prst="rect">
            <a:avLst/>
          </a:prstGeom>
          <a:noFill/>
        </p:spPr>
        <p:txBody>
          <a:bodyPr wrap="square">
            <a:spAutoFit/>
          </a:bodyPr>
          <a:lstStyle/>
          <a:p>
            <a:pPr algn="l">
              <a:buFont typeface="Arial" panose="020B0604020202020204" pitchFamily="34" charset="0"/>
              <a:buChar char="•"/>
            </a:pPr>
            <a:r>
              <a:rPr lang="en-US" sz="2800" b="0" i="0" dirty="0">
                <a:solidFill>
                  <a:srgbClr val="303030"/>
                </a:solidFill>
                <a:effectLst/>
                <a:latin typeface="Arimo"/>
              </a:rPr>
              <a:t>Turn Around time = Exit time – Arrival time</a:t>
            </a:r>
          </a:p>
          <a:p>
            <a:pPr algn="l">
              <a:buFont typeface="Arial" panose="020B0604020202020204" pitchFamily="34" charset="0"/>
              <a:buChar char="•"/>
            </a:pPr>
            <a:r>
              <a:rPr lang="en-US" sz="2800" b="0" i="0" dirty="0">
                <a:solidFill>
                  <a:srgbClr val="303030"/>
                </a:solidFill>
                <a:effectLst/>
                <a:latin typeface="Arimo"/>
              </a:rPr>
              <a:t>Waiting time = Turn Around time – Burst time</a:t>
            </a:r>
          </a:p>
        </p:txBody>
      </p:sp>
      <p:graphicFrame>
        <p:nvGraphicFramePr>
          <p:cNvPr id="8" name="Table 7">
            <a:extLst>
              <a:ext uri="{FF2B5EF4-FFF2-40B4-BE49-F238E27FC236}">
                <a16:creationId xmlns:a16="http://schemas.microsoft.com/office/drawing/2014/main" id="{99A35CFD-3EB8-A5E6-2D61-F757250420F1}"/>
              </a:ext>
            </a:extLst>
          </p:cNvPr>
          <p:cNvGraphicFramePr>
            <a:graphicFrameLocks noGrp="1"/>
          </p:cNvGraphicFramePr>
          <p:nvPr>
            <p:extLst>
              <p:ext uri="{D42A27DB-BD31-4B8C-83A1-F6EECF244321}">
                <p14:modId xmlns:p14="http://schemas.microsoft.com/office/powerpoint/2010/main" val="2776577771"/>
              </p:ext>
            </p:extLst>
          </p:nvPr>
        </p:nvGraphicFramePr>
        <p:xfrm>
          <a:off x="280977" y="3575845"/>
          <a:ext cx="5834980" cy="3048000"/>
        </p:xfrm>
        <a:graphic>
          <a:graphicData uri="http://schemas.openxmlformats.org/drawingml/2006/table">
            <a:tbl>
              <a:tblPr/>
              <a:tblGrid>
                <a:gridCol w="1071929">
                  <a:extLst>
                    <a:ext uri="{9D8B030D-6E8A-4147-A177-3AD203B41FA5}">
                      <a16:colId xmlns:a16="http://schemas.microsoft.com/office/drawing/2014/main" val="2058956839"/>
                    </a:ext>
                  </a:extLst>
                </a:gridCol>
                <a:gridCol w="1147953">
                  <a:extLst>
                    <a:ext uri="{9D8B030D-6E8A-4147-A177-3AD203B41FA5}">
                      <a16:colId xmlns:a16="http://schemas.microsoft.com/office/drawing/2014/main" val="2669885140"/>
                    </a:ext>
                  </a:extLst>
                </a:gridCol>
                <a:gridCol w="1632094">
                  <a:extLst>
                    <a:ext uri="{9D8B030D-6E8A-4147-A177-3AD203B41FA5}">
                      <a16:colId xmlns:a16="http://schemas.microsoft.com/office/drawing/2014/main" val="1145167408"/>
                    </a:ext>
                  </a:extLst>
                </a:gridCol>
                <a:gridCol w="1983004">
                  <a:extLst>
                    <a:ext uri="{9D8B030D-6E8A-4147-A177-3AD203B41FA5}">
                      <a16:colId xmlns:a16="http://schemas.microsoft.com/office/drawing/2014/main" val="534695968"/>
                    </a:ext>
                  </a:extLst>
                </a:gridCol>
              </a:tblGrid>
              <a:tr h="289274">
                <a:tc>
                  <a:txBody>
                    <a:bodyPr/>
                    <a:lstStyle/>
                    <a:p>
                      <a:pPr algn="ctr"/>
                      <a:r>
                        <a:rPr lang="en-IN" sz="1600" b="1">
                          <a:effectLst/>
                        </a:rPr>
                        <a:t>Process Id</a:t>
                      </a:r>
                      <a:endParaRPr lang="en-IN" sz="2400">
                        <a:effectLst/>
                      </a:endParaRPr>
                    </a:p>
                  </a:txBody>
                  <a:tcPr marL="76200" marR="76200" marT="60960" marB="609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FFFFFF"/>
                    </a:solidFill>
                  </a:tcPr>
                </a:tc>
                <a:tc>
                  <a:txBody>
                    <a:bodyPr/>
                    <a:lstStyle/>
                    <a:p>
                      <a:pPr algn="ctr"/>
                      <a:r>
                        <a:rPr lang="en-IN" sz="1600" b="1" dirty="0">
                          <a:effectLst/>
                        </a:rPr>
                        <a:t>Exit time</a:t>
                      </a:r>
                      <a:endParaRPr lang="en-IN" sz="2400" dirty="0">
                        <a:effectLst/>
                      </a:endParaRPr>
                    </a:p>
                  </a:txBody>
                  <a:tcPr marL="76200" marR="76200" marT="60960" marB="609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FFFFFF"/>
                    </a:solidFill>
                  </a:tcPr>
                </a:tc>
                <a:tc>
                  <a:txBody>
                    <a:bodyPr/>
                    <a:lstStyle/>
                    <a:p>
                      <a:pPr algn="ctr"/>
                      <a:r>
                        <a:rPr lang="en-IN" sz="1600" b="1">
                          <a:effectLst/>
                        </a:rPr>
                        <a:t>Turn Around time</a:t>
                      </a:r>
                      <a:endParaRPr lang="en-IN" sz="2400">
                        <a:effectLst/>
                      </a:endParaRPr>
                    </a:p>
                  </a:txBody>
                  <a:tcPr marL="76200" marR="76200" marT="60960" marB="609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FFFFFF"/>
                    </a:solidFill>
                  </a:tcPr>
                </a:tc>
                <a:tc>
                  <a:txBody>
                    <a:bodyPr/>
                    <a:lstStyle/>
                    <a:p>
                      <a:pPr algn="ctr"/>
                      <a:r>
                        <a:rPr lang="en-IN" sz="1600" b="1">
                          <a:effectLst/>
                        </a:rPr>
                        <a:t>Waiting time</a:t>
                      </a:r>
                      <a:endParaRPr lang="en-IN" sz="2400">
                        <a:effectLst/>
                      </a:endParaRPr>
                    </a:p>
                  </a:txBody>
                  <a:tcPr marL="76200" marR="76200" marT="60960" marB="609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FFFFFF"/>
                    </a:solidFill>
                  </a:tcPr>
                </a:tc>
                <a:extLst>
                  <a:ext uri="{0D108BD9-81ED-4DB2-BD59-A6C34878D82A}">
                    <a16:rowId xmlns:a16="http://schemas.microsoft.com/office/drawing/2014/main" val="521428684"/>
                  </a:ext>
                </a:extLst>
              </a:tr>
              <a:tr h="479922">
                <a:tc>
                  <a:txBody>
                    <a:bodyPr/>
                    <a:lstStyle/>
                    <a:p>
                      <a:pPr algn="ctr"/>
                      <a:r>
                        <a:rPr lang="en-IN" sz="2400">
                          <a:effectLst/>
                        </a:rPr>
                        <a:t>P1</a:t>
                      </a:r>
                    </a:p>
                  </a:txBody>
                  <a:tcPr marL="76200" marR="76200" marT="60960" marB="609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FFFFFF"/>
                    </a:solidFill>
                  </a:tcPr>
                </a:tc>
                <a:tc>
                  <a:txBody>
                    <a:bodyPr/>
                    <a:lstStyle/>
                    <a:p>
                      <a:pPr algn="ctr"/>
                      <a:r>
                        <a:rPr lang="en-IN" sz="2400">
                          <a:effectLst/>
                        </a:rPr>
                        <a:t>13</a:t>
                      </a:r>
                    </a:p>
                  </a:txBody>
                  <a:tcPr marL="76200" marR="76200" marT="60960" marB="609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FFFFFF"/>
                    </a:solidFill>
                  </a:tcPr>
                </a:tc>
                <a:tc>
                  <a:txBody>
                    <a:bodyPr/>
                    <a:lstStyle/>
                    <a:p>
                      <a:pPr algn="ctr"/>
                      <a:r>
                        <a:rPr lang="en-IN" sz="2400">
                          <a:effectLst/>
                        </a:rPr>
                        <a:t>13 – 0 = 13</a:t>
                      </a:r>
                    </a:p>
                  </a:txBody>
                  <a:tcPr marL="76200" marR="76200" marT="60960" marB="609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FFFFFF"/>
                    </a:solidFill>
                  </a:tcPr>
                </a:tc>
                <a:tc>
                  <a:txBody>
                    <a:bodyPr/>
                    <a:lstStyle/>
                    <a:p>
                      <a:pPr algn="ctr"/>
                      <a:r>
                        <a:rPr lang="en-IN" sz="2400">
                          <a:effectLst/>
                        </a:rPr>
                        <a:t>13 – 5 = 8</a:t>
                      </a:r>
                    </a:p>
                  </a:txBody>
                  <a:tcPr marL="76200" marR="76200" marT="60960" marB="609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FFFFFF"/>
                    </a:solidFill>
                  </a:tcPr>
                </a:tc>
                <a:extLst>
                  <a:ext uri="{0D108BD9-81ED-4DB2-BD59-A6C34878D82A}">
                    <a16:rowId xmlns:a16="http://schemas.microsoft.com/office/drawing/2014/main" val="4048802399"/>
                  </a:ext>
                </a:extLst>
              </a:tr>
              <a:tr h="479922">
                <a:tc>
                  <a:txBody>
                    <a:bodyPr/>
                    <a:lstStyle/>
                    <a:p>
                      <a:pPr algn="ctr"/>
                      <a:r>
                        <a:rPr lang="en-IN" sz="2400">
                          <a:effectLst/>
                        </a:rPr>
                        <a:t>P2</a:t>
                      </a:r>
                    </a:p>
                  </a:txBody>
                  <a:tcPr marL="76200" marR="76200" marT="60960" marB="609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FFFFFF"/>
                    </a:solidFill>
                  </a:tcPr>
                </a:tc>
                <a:tc>
                  <a:txBody>
                    <a:bodyPr/>
                    <a:lstStyle/>
                    <a:p>
                      <a:pPr algn="ctr"/>
                      <a:r>
                        <a:rPr lang="en-IN" sz="2400">
                          <a:effectLst/>
                        </a:rPr>
                        <a:t>12</a:t>
                      </a:r>
                    </a:p>
                  </a:txBody>
                  <a:tcPr marL="76200" marR="76200" marT="60960" marB="609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FFFFFF"/>
                    </a:solidFill>
                  </a:tcPr>
                </a:tc>
                <a:tc>
                  <a:txBody>
                    <a:bodyPr/>
                    <a:lstStyle/>
                    <a:p>
                      <a:pPr algn="ctr"/>
                      <a:r>
                        <a:rPr lang="en-IN" sz="2400" dirty="0">
                          <a:effectLst/>
                        </a:rPr>
                        <a:t>12 – 1 = 11</a:t>
                      </a:r>
                    </a:p>
                  </a:txBody>
                  <a:tcPr marL="76200" marR="76200" marT="60960" marB="609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FFFFFF"/>
                    </a:solidFill>
                  </a:tcPr>
                </a:tc>
                <a:tc>
                  <a:txBody>
                    <a:bodyPr/>
                    <a:lstStyle/>
                    <a:p>
                      <a:pPr algn="ctr"/>
                      <a:r>
                        <a:rPr lang="en-IN" sz="2400">
                          <a:effectLst/>
                        </a:rPr>
                        <a:t>11 – 3 = 8</a:t>
                      </a:r>
                    </a:p>
                  </a:txBody>
                  <a:tcPr marL="76200" marR="76200" marT="60960" marB="609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FFFFFF"/>
                    </a:solidFill>
                  </a:tcPr>
                </a:tc>
                <a:extLst>
                  <a:ext uri="{0D108BD9-81ED-4DB2-BD59-A6C34878D82A}">
                    <a16:rowId xmlns:a16="http://schemas.microsoft.com/office/drawing/2014/main" val="2263230827"/>
                  </a:ext>
                </a:extLst>
              </a:tr>
              <a:tr h="479922">
                <a:tc>
                  <a:txBody>
                    <a:bodyPr/>
                    <a:lstStyle/>
                    <a:p>
                      <a:pPr algn="ctr"/>
                      <a:r>
                        <a:rPr lang="en-IN" sz="2400">
                          <a:effectLst/>
                        </a:rPr>
                        <a:t>P3</a:t>
                      </a:r>
                    </a:p>
                  </a:txBody>
                  <a:tcPr marL="76200" marR="76200" marT="60960" marB="609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FFFFFF"/>
                    </a:solidFill>
                  </a:tcPr>
                </a:tc>
                <a:tc>
                  <a:txBody>
                    <a:bodyPr/>
                    <a:lstStyle/>
                    <a:p>
                      <a:pPr algn="ctr"/>
                      <a:r>
                        <a:rPr lang="en-IN" sz="2400">
                          <a:effectLst/>
                        </a:rPr>
                        <a:t>5</a:t>
                      </a:r>
                    </a:p>
                  </a:txBody>
                  <a:tcPr marL="76200" marR="76200" marT="60960" marB="609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FFFFFF"/>
                    </a:solidFill>
                  </a:tcPr>
                </a:tc>
                <a:tc>
                  <a:txBody>
                    <a:bodyPr/>
                    <a:lstStyle/>
                    <a:p>
                      <a:pPr algn="ctr"/>
                      <a:r>
                        <a:rPr lang="en-IN" sz="2400">
                          <a:effectLst/>
                        </a:rPr>
                        <a:t>5 – 2 = 3</a:t>
                      </a:r>
                    </a:p>
                  </a:txBody>
                  <a:tcPr marL="76200" marR="76200" marT="60960" marB="609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FFFFFF"/>
                    </a:solidFill>
                  </a:tcPr>
                </a:tc>
                <a:tc>
                  <a:txBody>
                    <a:bodyPr/>
                    <a:lstStyle/>
                    <a:p>
                      <a:pPr algn="ctr"/>
                      <a:r>
                        <a:rPr lang="en-IN" sz="2400">
                          <a:effectLst/>
                        </a:rPr>
                        <a:t>3 – 1 = 2</a:t>
                      </a:r>
                    </a:p>
                  </a:txBody>
                  <a:tcPr marL="76200" marR="76200" marT="60960" marB="609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FFFFFF"/>
                    </a:solidFill>
                  </a:tcPr>
                </a:tc>
                <a:extLst>
                  <a:ext uri="{0D108BD9-81ED-4DB2-BD59-A6C34878D82A}">
                    <a16:rowId xmlns:a16="http://schemas.microsoft.com/office/drawing/2014/main" val="2882258169"/>
                  </a:ext>
                </a:extLst>
              </a:tr>
              <a:tr h="479922">
                <a:tc>
                  <a:txBody>
                    <a:bodyPr/>
                    <a:lstStyle/>
                    <a:p>
                      <a:pPr algn="ctr"/>
                      <a:r>
                        <a:rPr lang="en-IN" sz="2400">
                          <a:effectLst/>
                        </a:rPr>
                        <a:t>P4</a:t>
                      </a:r>
                    </a:p>
                  </a:txBody>
                  <a:tcPr marL="76200" marR="76200" marT="60960" marB="609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FFFFFF"/>
                    </a:solidFill>
                  </a:tcPr>
                </a:tc>
                <a:tc>
                  <a:txBody>
                    <a:bodyPr/>
                    <a:lstStyle/>
                    <a:p>
                      <a:pPr algn="ctr"/>
                      <a:r>
                        <a:rPr lang="en-IN" sz="2400">
                          <a:effectLst/>
                        </a:rPr>
                        <a:t>9</a:t>
                      </a:r>
                    </a:p>
                  </a:txBody>
                  <a:tcPr marL="76200" marR="76200" marT="60960" marB="609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FFFFFF"/>
                    </a:solidFill>
                  </a:tcPr>
                </a:tc>
                <a:tc>
                  <a:txBody>
                    <a:bodyPr/>
                    <a:lstStyle/>
                    <a:p>
                      <a:pPr algn="ctr"/>
                      <a:r>
                        <a:rPr lang="en-IN" sz="2400">
                          <a:effectLst/>
                        </a:rPr>
                        <a:t>9 – 3 = 6</a:t>
                      </a:r>
                    </a:p>
                  </a:txBody>
                  <a:tcPr marL="76200" marR="76200" marT="60960" marB="609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FFFFFF"/>
                    </a:solidFill>
                  </a:tcPr>
                </a:tc>
                <a:tc>
                  <a:txBody>
                    <a:bodyPr/>
                    <a:lstStyle/>
                    <a:p>
                      <a:pPr algn="ctr"/>
                      <a:r>
                        <a:rPr lang="en-IN" sz="2400">
                          <a:effectLst/>
                        </a:rPr>
                        <a:t>6 – 2 = 4</a:t>
                      </a:r>
                    </a:p>
                  </a:txBody>
                  <a:tcPr marL="76200" marR="76200" marT="60960" marB="609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FFFFFF"/>
                    </a:solidFill>
                  </a:tcPr>
                </a:tc>
                <a:extLst>
                  <a:ext uri="{0D108BD9-81ED-4DB2-BD59-A6C34878D82A}">
                    <a16:rowId xmlns:a16="http://schemas.microsoft.com/office/drawing/2014/main" val="3996309187"/>
                  </a:ext>
                </a:extLst>
              </a:tr>
              <a:tr h="479922">
                <a:tc>
                  <a:txBody>
                    <a:bodyPr/>
                    <a:lstStyle/>
                    <a:p>
                      <a:pPr algn="ctr"/>
                      <a:r>
                        <a:rPr lang="en-IN" sz="2400">
                          <a:effectLst/>
                        </a:rPr>
                        <a:t>P5</a:t>
                      </a:r>
                    </a:p>
                  </a:txBody>
                  <a:tcPr marL="76200" marR="76200" marT="60960" marB="609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FFFFFF"/>
                    </a:solidFill>
                  </a:tcPr>
                </a:tc>
                <a:tc>
                  <a:txBody>
                    <a:bodyPr/>
                    <a:lstStyle/>
                    <a:p>
                      <a:pPr algn="ctr"/>
                      <a:r>
                        <a:rPr lang="en-IN" sz="2400">
                          <a:effectLst/>
                        </a:rPr>
                        <a:t>14</a:t>
                      </a:r>
                    </a:p>
                  </a:txBody>
                  <a:tcPr marL="76200" marR="76200" marT="60960" marB="609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FFFFFF"/>
                    </a:solidFill>
                  </a:tcPr>
                </a:tc>
                <a:tc>
                  <a:txBody>
                    <a:bodyPr/>
                    <a:lstStyle/>
                    <a:p>
                      <a:pPr algn="ctr"/>
                      <a:r>
                        <a:rPr lang="en-IN" sz="2400">
                          <a:effectLst/>
                        </a:rPr>
                        <a:t>14 – 4 = 10</a:t>
                      </a:r>
                    </a:p>
                  </a:txBody>
                  <a:tcPr marL="76200" marR="76200" marT="60960" marB="609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FFFFFF"/>
                    </a:solidFill>
                  </a:tcPr>
                </a:tc>
                <a:tc>
                  <a:txBody>
                    <a:bodyPr/>
                    <a:lstStyle/>
                    <a:p>
                      <a:pPr algn="ctr"/>
                      <a:r>
                        <a:rPr lang="en-IN" sz="2400" dirty="0">
                          <a:effectLst/>
                        </a:rPr>
                        <a:t>10 – 3 = 7</a:t>
                      </a:r>
                    </a:p>
                  </a:txBody>
                  <a:tcPr marL="76200" marR="76200" marT="60960" marB="60960" anchor="ctr">
                    <a:lnL w="7620" cap="flat" cmpd="sng" algn="ctr">
                      <a:solidFill>
                        <a:srgbClr val="AAAAAA"/>
                      </a:solidFill>
                      <a:prstDash val="solid"/>
                      <a:round/>
                      <a:headEnd type="none" w="med" len="med"/>
                      <a:tailEnd type="none" w="med" len="med"/>
                    </a:lnL>
                    <a:lnR w="7620" cap="flat" cmpd="sng" algn="ctr">
                      <a:solidFill>
                        <a:srgbClr val="AAAAAA"/>
                      </a:solidFill>
                      <a:prstDash val="solid"/>
                      <a:round/>
                      <a:headEnd type="none" w="med" len="med"/>
                      <a:tailEnd type="none" w="med" len="med"/>
                    </a:lnR>
                    <a:lnT w="7620" cap="flat" cmpd="sng" algn="ctr">
                      <a:solidFill>
                        <a:srgbClr val="AAAAAA"/>
                      </a:solidFill>
                      <a:prstDash val="solid"/>
                      <a:round/>
                      <a:headEnd type="none" w="med" len="med"/>
                      <a:tailEnd type="none" w="med" len="med"/>
                    </a:lnT>
                    <a:lnB w="7620" cap="flat" cmpd="sng" algn="ctr">
                      <a:solidFill>
                        <a:srgbClr val="AAAAAA"/>
                      </a:solidFill>
                      <a:prstDash val="solid"/>
                      <a:round/>
                      <a:headEnd type="none" w="med" len="med"/>
                      <a:tailEnd type="none" w="med" len="med"/>
                    </a:lnB>
                    <a:solidFill>
                      <a:srgbClr val="FFFFFF"/>
                    </a:solidFill>
                  </a:tcPr>
                </a:tc>
                <a:extLst>
                  <a:ext uri="{0D108BD9-81ED-4DB2-BD59-A6C34878D82A}">
                    <a16:rowId xmlns:a16="http://schemas.microsoft.com/office/drawing/2014/main" val="4282948748"/>
                  </a:ext>
                </a:extLst>
              </a:tr>
            </a:tbl>
          </a:graphicData>
        </a:graphic>
      </p:graphicFrame>
      <p:sp>
        <p:nvSpPr>
          <p:cNvPr id="10" name="TextBox 9">
            <a:extLst>
              <a:ext uri="{FF2B5EF4-FFF2-40B4-BE49-F238E27FC236}">
                <a16:creationId xmlns:a16="http://schemas.microsoft.com/office/drawing/2014/main" id="{03DCCCD9-169A-36BC-1F78-5DF7B7BC2EA6}"/>
              </a:ext>
            </a:extLst>
          </p:cNvPr>
          <p:cNvSpPr txBox="1"/>
          <p:nvPr/>
        </p:nvSpPr>
        <p:spPr>
          <a:xfrm>
            <a:off x="6238909" y="4933617"/>
            <a:ext cx="6094324" cy="1323439"/>
          </a:xfrm>
          <a:prstGeom prst="rect">
            <a:avLst/>
          </a:prstGeom>
          <a:noFill/>
        </p:spPr>
        <p:txBody>
          <a:bodyPr wrap="square">
            <a:spAutoFit/>
          </a:bodyPr>
          <a:lstStyle/>
          <a:p>
            <a:pPr algn="l">
              <a:buFont typeface="Arial" panose="020B0604020202020204" pitchFamily="34" charset="0"/>
              <a:buChar char="•"/>
            </a:pPr>
            <a:r>
              <a:rPr lang="en-US" sz="2000" b="0" i="0" dirty="0">
                <a:solidFill>
                  <a:srgbClr val="303030"/>
                </a:solidFill>
                <a:effectLst/>
                <a:latin typeface="Arimo"/>
              </a:rPr>
              <a:t>Average Turn Around time </a:t>
            </a:r>
          </a:p>
          <a:p>
            <a:pPr algn="l"/>
            <a:r>
              <a:rPr lang="en-US" sz="2000" b="0" i="0" dirty="0">
                <a:solidFill>
                  <a:srgbClr val="303030"/>
                </a:solidFill>
                <a:effectLst/>
                <a:latin typeface="Arimo"/>
              </a:rPr>
              <a:t>= (13 + 11 + 3 + 6 + 10) / 5 = 43 / 5 = 8.6 unit</a:t>
            </a:r>
          </a:p>
          <a:p>
            <a:pPr algn="l">
              <a:buFont typeface="Arial" panose="020B0604020202020204" pitchFamily="34" charset="0"/>
              <a:buChar char="•"/>
            </a:pPr>
            <a:r>
              <a:rPr lang="en-US" sz="2000" b="0" i="0" dirty="0">
                <a:solidFill>
                  <a:srgbClr val="303030"/>
                </a:solidFill>
                <a:effectLst/>
                <a:latin typeface="Arimo"/>
              </a:rPr>
              <a:t>Average waiting time </a:t>
            </a:r>
          </a:p>
          <a:p>
            <a:pPr algn="l"/>
            <a:r>
              <a:rPr lang="en-US" sz="2000" b="0" i="0" dirty="0">
                <a:solidFill>
                  <a:srgbClr val="303030"/>
                </a:solidFill>
                <a:effectLst/>
                <a:latin typeface="Arimo"/>
              </a:rPr>
              <a:t>= (8 + 8 + 2 + 4 + 7) / 5 = 29 / 5 = 5.8 unit</a:t>
            </a:r>
          </a:p>
        </p:txBody>
      </p:sp>
      <p:graphicFrame>
        <p:nvGraphicFramePr>
          <p:cNvPr id="3" name="Table 2">
            <a:extLst>
              <a:ext uri="{FF2B5EF4-FFF2-40B4-BE49-F238E27FC236}">
                <a16:creationId xmlns:a16="http://schemas.microsoft.com/office/drawing/2014/main" id="{E0F5294C-6769-8A9A-80B2-8EA9C1787C02}"/>
              </a:ext>
            </a:extLst>
          </p:cNvPr>
          <p:cNvGraphicFramePr>
            <a:graphicFrameLocks noGrp="1"/>
          </p:cNvGraphicFramePr>
          <p:nvPr>
            <p:extLst>
              <p:ext uri="{D42A27DB-BD31-4B8C-83A1-F6EECF244321}">
                <p14:modId xmlns:p14="http://schemas.microsoft.com/office/powerpoint/2010/main" val="670310956"/>
              </p:ext>
            </p:extLst>
          </p:nvPr>
        </p:nvGraphicFramePr>
        <p:xfrm>
          <a:off x="2032000" y="719666"/>
          <a:ext cx="8128000" cy="370840"/>
        </p:xfrm>
        <a:graphic>
          <a:graphicData uri="http://schemas.openxmlformats.org/drawingml/2006/table">
            <a:tbl>
              <a:tblPr firstRow="1" bandRow="1">
                <a:tableStyleId>{5C22544A-7EE6-4342-B048-85BDC9FD1C3A}</a:tableStyleId>
              </a:tblPr>
              <a:tblGrid>
                <a:gridCol w="812800">
                  <a:extLst>
                    <a:ext uri="{9D8B030D-6E8A-4147-A177-3AD203B41FA5}">
                      <a16:colId xmlns:a16="http://schemas.microsoft.com/office/drawing/2014/main" val="2255154076"/>
                    </a:ext>
                  </a:extLst>
                </a:gridCol>
                <a:gridCol w="812800">
                  <a:extLst>
                    <a:ext uri="{9D8B030D-6E8A-4147-A177-3AD203B41FA5}">
                      <a16:colId xmlns:a16="http://schemas.microsoft.com/office/drawing/2014/main" val="3647218429"/>
                    </a:ext>
                  </a:extLst>
                </a:gridCol>
                <a:gridCol w="812800">
                  <a:extLst>
                    <a:ext uri="{9D8B030D-6E8A-4147-A177-3AD203B41FA5}">
                      <a16:colId xmlns:a16="http://schemas.microsoft.com/office/drawing/2014/main" val="2914725078"/>
                    </a:ext>
                  </a:extLst>
                </a:gridCol>
                <a:gridCol w="812800">
                  <a:extLst>
                    <a:ext uri="{9D8B030D-6E8A-4147-A177-3AD203B41FA5}">
                      <a16:colId xmlns:a16="http://schemas.microsoft.com/office/drawing/2014/main" val="4020103910"/>
                    </a:ext>
                  </a:extLst>
                </a:gridCol>
                <a:gridCol w="812800">
                  <a:extLst>
                    <a:ext uri="{9D8B030D-6E8A-4147-A177-3AD203B41FA5}">
                      <a16:colId xmlns:a16="http://schemas.microsoft.com/office/drawing/2014/main" val="3090870862"/>
                    </a:ext>
                  </a:extLst>
                </a:gridCol>
                <a:gridCol w="812800">
                  <a:extLst>
                    <a:ext uri="{9D8B030D-6E8A-4147-A177-3AD203B41FA5}">
                      <a16:colId xmlns:a16="http://schemas.microsoft.com/office/drawing/2014/main" val="1199543757"/>
                    </a:ext>
                  </a:extLst>
                </a:gridCol>
                <a:gridCol w="812800">
                  <a:extLst>
                    <a:ext uri="{9D8B030D-6E8A-4147-A177-3AD203B41FA5}">
                      <a16:colId xmlns:a16="http://schemas.microsoft.com/office/drawing/2014/main" val="849957994"/>
                    </a:ext>
                  </a:extLst>
                </a:gridCol>
                <a:gridCol w="812800">
                  <a:extLst>
                    <a:ext uri="{9D8B030D-6E8A-4147-A177-3AD203B41FA5}">
                      <a16:colId xmlns:a16="http://schemas.microsoft.com/office/drawing/2014/main" val="3120418730"/>
                    </a:ext>
                  </a:extLst>
                </a:gridCol>
                <a:gridCol w="812800">
                  <a:extLst>
                    <a:ext uri="{9D8B030D-6E8A-4147-A177-3AD203B41FA5}">
                      <a16:colId xmlns:a16="http://schemas.microsoft.com/office/drawing/2014/main" val="590701777"/>
                    </a:ext>
                  </a:extLst>
                </a:gridCol>
                <a:gridCol w="812800">
                  <a:extLst>
                    <a:ext uri="{9D8B030D-6E8A-4147-A177-3AD203B41FA5}">
                      <a16:colId xmlns:a16="http://schemas.microsoft.com/office/drawing/2014/main" val="2046259059"/>
                    </a:ext>
                  </a:extLst>
                </a:gridCol>
              </a:tblGrid>
              <a:tr h="370840">
                <a:tc>
                  <a:txBody>
                    <a:bodyPr/>
                    <a:lstStyle/>
                    <a:p>
                      <a:pPr algn="ctr"/>
                      <a:r>
                        <a:rPr lang="en-US" dirty="0">
                          <a:solidFill>
                            <a:schemeClr val="tx1"/>
                          </a:solidFill>
                        </a:rPr>
                        <a:t>P1</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P2</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P3</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P1</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P4</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P5</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P2</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P1</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dirty="0">
                          <a:solidFill>
                            <a:schemeClr val="tx1"/>
                          </a:solidFill>
                        </a:rPr>
                        <a:t>P5</a:t>
                      </a:r>
                      <a:endParaRPr lang="en-IN"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61950842"/>
                  </a:ext>
                </a:extLst>
              </a:tr>
            </a:tbl>
          </a:graphicData>
        </a:graphic>
      </p:graphicFrame>
      <p:sp>
        <p:nvSpPr>
          <p:cNvPr id="4" name="TextBox 3">
            <a:extLst>
              <a:ext uri="{FF2B5EF4-FFF2-40B4-BE49-F238E27FC236}">
                <a16:creationId xmlns:a16="http://schemas.microsoft.com/office/drawing/2014/main" id="{06600B25-1895-584C-D302-BBA0987400B4}"/>
              </a:ext>
            </a:extLst>
          </p:cNvPr>
          <p:cNvSpPr txBox="1"/>
          <p:nvPr/>
        </p:nvSpPr>
        <p:spPr>
          <a:xfrm>
            <a:off x="5443242" y="268129"/>
            <a:ext cx="1591333" cy="369332"/>
          </a:xfrm>
          <a:prstGeom prst="rect">
            <a:avLst/>
          </a:prstGeom>
          <a:noFill/>
        </p:spPr>
        <p:txBody>
          <a:bodyPr wrap="none" rtlCol="0">
            <a:spAutoFit/>
          </a:bodyPr>
          <a:lstStyle/>
          <a:p>
            <a:r>
              <a:rPr lang="en-US" dirty="0"/>
              <a:t>QUEUE STATUS</a:t>
            </a:r>
            <a:endParaRPr lang="en-IN" dirty="0"/>
          </a:p>
        </p:txBody>
      </p:sp>
    </p:spTree>
    <p:extLst>
      <p:ext uri="{BB962C8B-B14F-4D97-AF65-F5344CB8AC3E}">
        <p14:creationId xmlns:p14="http://schemas.microsoft.com/office/powerpoint/2010/main" val="7793377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C4964-3D75-070D-E5FD-DB3D45F0E862}"/>
              </a:ext>
            </a:extLst>
          </p:cNvPr>
          <p:cNvSpPr>
            <a:spLocks noGrp="1"/>
          </p:cNvSpPr>
          <p:nvPr>
            <p:ph type="title"/>
          </p:nvPr>
        </p:nvSpPr>
        <p:spPr/>
        <p:txBody>
          <a:bodyPr/>
          <a:lstStyle/>
          <a:p>
            <a:r>
              <a:rPr lang="en-US" dirty="0"/>
              <a:t>EXAMPLE </a:t>
            </a:r>
            <a:endParaRPr lang="en-IN" dirty="0"/>
          </a:p>
        </p:txBody>
      </p:sp>
      <p:pic>
        <p:nvPicPr>
          <p:cNvPr id="9" name="Content Placeholder 8">
            <a:extLst>
              <a:ext uri="{FF2B5EF4-FFF2-40B4-BE49-F238E27FC236}">
                <a16:creationId xmlns:a16="http://schemas.microsoft.com/office/drawing/2014/main" id="{877C3C5B-59DB-6C0C-1CA0-1A997E733EB8}"/>
              </a:ext>
            </a:extLst>
          </p:cNvPr>
          <p:cNvPicPr>
            <a:picLocks noGrp="1" noChangeAspect="1"/>
          </p:cNvPicPr>
          <p:nvPr>
            <p:ph idx="1"/>
          </p:nvPr>
        </p:nvPicPr>
        <p:blipFill>
          <a:blip r:embed="rId2"/>
          <a:stretch>
            <a:fillRect/>
          </a:stretch>
        </p:blipFill>
        <p:spPr>
          <a:xfrm>
            <a:off x="3943456" y="5191744"/>
            <a:ext cx="6294665" cy="1059272"/>
          </a:xfrm>
        </p:spPr>
      </p:pic>
      <p:pic>
        <p:nvPicPr>
          <p:cNvPr id="12" name="Picture 11">
            <a:extLst>
              <a:ext uri="{FF2B5EF4-FFF2-40B4-BE49-F238E27FC236}">
                <a16:creationId xmlns:a16="http://schemas.microsoft.com/office/drawing/2014/main" id="{5CB73D99-31EB-D001-A2C4-68445503847A}"/>
              </a:ext>
            </a:extLst>
          </p:cNvPr>
          <p:cNvPicPr>
            <a:picLocks noChangeAspect="1"/>
          </p:cNvPicPr>
          <p:nvPr/>
        </p:nvPicPr>
        <p:blipFill>
          <a:blip r:embed="rId3"/>
          <a:stretch>
            <a:fillRect/>
          </a:stretch>
        </p:blipFill>
        <p:spPr>
          <a:xfrm>
            <a:off x="670425" y="445512"/>
            <a:ext cx="8684590" cy="4435619"/>
          </a:xfrm>
          <a:prstGeom prst="rect">
            <a:avLst/>
          </a:prstGeom>
        </p:spPr>
      </p:pic>
    </p:spTree>
    <p:extLst>
      <p:ext uri="{BB962C8B-B14F-4D97-AF65-F5344CB8AC3E}">
        <p14:creationId xmlns:p14="http://schemas.microsoft.com/office/powerpoint/2010/main" val="2874079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TotalTime>
  <Words>607</Words>
  <Application>Microsoft Office PowerPoint</Application>
  <PresentationFormat>Widescreen</PresentationFormat>
  <Paragraphs>97</Paragraphs>
  <Slides>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Arial</vt:lpstr>
      <vt:lpstr>Arimo</vt:lpstr>
      <vt:lpstr>Calibri</vt:lpstr>
      <vt:lpstr>Calibri Light</vt:lpstr>
      <vt:lpstr>Nunito</vt:lpstr>
      <vt:lpstr>Source Sans 3</vt:lpstr>
      <vt:lpstr>Source Sans Pro</vt:lpstr>
      <vt:lpstr>Office Theme</vt:lpstr>
      <vt:lpstr>Hybrid techniques </vt:lpstr>
      <vt:lpstr>ROUND ROBIN METHOD</vt:lpstr>
      <vt:lpstr>CHARACTERISTICS</vt:lpstr>
      <vt:lpstr>EXAMPLE</vt:lpstr>
      <vt:lpstr>GANTT CHART</vt:lpstr>
      <vt:lpstr>Round Robin Scheduling with different arrival times </vt:lpstr>
      <vt:lpstr>If the CPU scheduling policy is Round Robin with time quantum = 2 unit, calculate the average waiting time and average turn around time.</vt:lpstr>
      <vt:lpstr>PowerPoint Presentation</vt:lpstr>
      <vt:lpstr>EXAMPLE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Hybrid techniques </dc:title>
  <dc:creator>KOPPERUNDEVI RAJAJI</dc:creator>
  <cp:lastModifiedBy>KOPPERUNDEVI RAJAJI</cp:lastModifiedBy>
  <cp:revision>11</cp:revision>
  <dcterms:created xsi:type="dcterms:W3CDTF">2024-03-05T16:21:27Z</dcterms:created>
  <dcterms:modified xsi:type="dcterms:W3CDTF">2024-03-06T06:33:25Z</dcterms:modified>
</cp:coreProperties>
</file>