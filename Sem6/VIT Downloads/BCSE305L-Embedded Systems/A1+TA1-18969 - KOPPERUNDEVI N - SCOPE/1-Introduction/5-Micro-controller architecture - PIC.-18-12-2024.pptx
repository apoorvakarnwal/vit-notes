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62" r:id="rId4"/>
    <p:sldId id="263" r:id="rId5"/>
    <p:sldId id="264" r:id="rId6"/>
    <p:sldId id="258" r:id="rId7"/>
    <p:sldId id="259" r:id="rId8"/>
    <p:sldId id="260" r:id="rId9"/>
    <p:sldId id="261" r:id="rId1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72" autoAdjust="0"/>
    <p:restoredTop sz="94660"/>
  </p:normalViewPr>
  <p:slideViewPr>
    <p:cSldViewPr snapToGrid="0">
      <p:cViewPr varScale="1">
        <p:scale>
          <a:sx n="82" d="100"/>
          <a:sy n="82" d="100"/>
        </p:scale>
        <p:origin x="720" y="7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1A8951-E78E-51A1-BB30-5976B1C640BD}"/>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A1B5C086-C748-03DC-F2E4-CA48108562BF}"/>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DF7DB193-AB0F-D4A0-78D9-A61C47668487}"/>
              </a:ext>
            </a:extLst>
          </p:cNvPr>
          <p:cNvSpPr>
            <a:spLocks noGrp="1"/>
          </p:cNvSpPr>
          <p:nvPr>
            <p:ph type="dt" sz="half" idx="10"/>
          </p:nvPr>
        </p:nvSpPr>
        <p:spPr/>
        <p:txBody>
          <a:bodyPr/>
          <a:lstStyle/>
          <a:p>
            <a:fld id="{66C466ED-55D9-4506-A24E-11C0988F2626}" type="datetimeFigureOut">
              <a:rPr lang="en-IN" smtClean="0"/>
              <a:t>04-01-2025</a:t>
            </a:fld>
            <a:endParaRPr lang="en-IN"/>
          </a:p>
        </p:txBody>
      </p:sp>
      <p:sp>
        <p:nvSpPr>
          <p:cNvPr id="5" name="Footer Placeholder 4">
            <a:extLst>
              <a:ext uri="{FF2B5EF4-FFF2-40B4-BE49-F238E27FC236}">
                <a16:creationId xmlns:a16="http://schemas.microsoft.com/office/drawing/2014/main" id="{E77D4CAC-CD70-F92F-F4A3-39281A84ACBE}"/>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3B74FFEB-C9A6-582D-C5A8-A5E8E9D3DECA}"/>
              </a:ext>
            </a:extLst>
          </p:cNvPr>
          <p:cNvSpPr>
            <a:spLocks noGrp="1"/>
          </p:cNvSpPr>
          <p:nvPr>
            <p:ph type="sldNum" sz="quarter" idx="12"/>
          </p:nvPr>
        </p:nvSpPr>
        <p:spPr/>
        <p:txBody>
          <a:bodyPr/>
          <a:lstStyle/>
          <a:p>
            <a:fld id="{6ABFEBD6-03AE-4DE6-A977-D8CFEDB53D61}" type="slidenum">
              <a:rPr lang="en-IN" smtClean="0"/>
              <a:t>‹#›</a:t>
            </a:fld>
            <a:endParaRPr lang="en-IN"/>
          </a:p>
        </p:txBody>
      </p:sp>
    </p:spTree>
    <p:extLst>
      <p:ext uri="{BB962C8B-B14F-4D97-AF65-F5344CB8AC3E}">
        <p14:creationId xmlns:p14="http://schemas.microsoft.com/office/powerpoint/2010/main" val="369511907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94AE5F-B538-B644-0A4E-B9FD4977D9B8}"/>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2A0A2AA6-F219-0A40-37EC-249DB0A3DD14}"/>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06D05D78-C41E-72A1-F8DA-5EA1E22E2BDD}"/>
              </a:ext>
            </a:extLst>
          </p:cNvPr>
          <p:cNvSpPr>
            <a:spLocks noGrp="1"/>
          </p:cNvSpPr>
          <p:nvPr>
            <p:ph type="dt" sz="half" idx="10"/>
          </p:nvPr>
        </p:nvSpPr>
        <p:spPr/>
        <p:txBody>
          <a:bodyPr/>
          <a:lstStyle/>
          <a:p>
            <a:fld id="{66C466ED-55D9-4506-A24E-11C0988F2626}" type="datetimeFigureOut">
              <a:rPr lang="en-IN" smtClean="0"/>
              <a:t>04-01-2025</a:t>
            </a:fld>
            <a:endParaRPr lang="en-IN"/>
          </a:p>
        </p:txBody>
      </p:sp>
      <p:sp>
        <p:nvSpPr>
          <p:cNvPr id="5" name="Footer Placeholder 4">
            <a:extLst>
              <a:ext uri="{FF2B5EF4-FFF2-40B4-BE49-F238E27FC236}">
                <a16:creationId xmlns:a16="http://schemas.microsoft.com/office/drawing/2014/main" id="{28772CC4-1CC5-C36C-EA1B-0CEB638C1B86}"/>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CF05FEE1-F1D1-1920-F276-A87722EAB0BD}"/>
              </a:ext>
            </a:extLst>
          </p:cNvPr>
          <p:cNvSpPr>
            <a:spLocks noGrp="1"/>
          </p:cNvSpPr>
          <p:nvPr>
            <p:ph type="sldNum" sz="quarter" idx="12"/>
          </p:nvPr>
        </p:nvSpPr>
        <p:spPr/>
        <p:txBody>
          <a:bodyPr/>
          <a:lstStyle/>
          <a:p>
            <a:fld id="{6ABFEBD6-03AE-4DE6-A977-D8CFEDB53D61}" type="slidenum">
              <a:rPr lang="en-IN" smtClean="0"/>
              <a:t>‹#›</a:t>
            </a:fld>
            <a:endParaRPr lang="en-IN"/>
          </a:p>
        </p:txBody>
      </p:sp>
    </p:spTree>
    <p:extLst>
      <p:ext uri="{BB962C8B-B14F-4D97-AF65-F5344CB8AC3E}">
        <p14:creationId xmlns:p14="http://schemas.microsoft.com/office/powerpoint/2010/main" val="185224138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94C30C-8200-0F65-5129-947E62F7C965}"/>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2048922D-62B1-5106-FAE1-FE1CA22A12B3}"/>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334D7F8F-8798-1F8A-C8F2-29360E222095}"/>
              </a:ext>
            </a:extLst>
          </p:cNvPr>
          <p:cNvSpPr>
            <a:spLocks noGrp="1"/>
          </p:cNvSpPr>
          <p:nvPr>
            <p:ph type="dt" sz="half" idx="10"/>
          </p:nvPr>
        </p:nvSpPr>
        <p:spPr/>
        <p:txBody>
          <a:bodyPr/>
          <a:lstStyle/>
          <a:p>
            <a:fld id="{66C466ED-55D9-4506-A24E-11C0988F2626}" type="datetimeFigureOut">
              <a:rPr lang="en-IN" smtClean="0"/>
              <a:t>04-01-2025</a:t>
            </a:fld>
            <a:endParaRPr lang="en-IN"/>
          </a:p>
        </p:txBody>
      </p:sp>
      <p:sp>
        <p:nvSpPr>
          <p:cNvPr id="5" name="Footer Placeholder 4">
            <a:extLst>
              <a:ext uri="{FF2B5EF4-FFF2-40B4-BE49-F238E27FC236}">
                <a16:creationId xmlns:a16="http://schemas.microsoft.com/office/drawing/2014/main" id="{45DA2AE5-BBDB-0F37-D2B1-27E71B6154D1}"/>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2318BA75-F787-FF54-17A3-726E261EA6AE}"/>
              </a:ext>
            </a:extLst>
          </p:cNvPr>
          <p:cNvSpPr>
            <a:spLocks noGrp="1"/>
          </p:cNvSpPr>
          <p:nvPr>
            <p:ph type="sldNum" sz="quarter" idx="12"/>
          </p:nvPr>
        </p:nvSpPr>
        <p:spPr/>
        <p:txBody>
          <a:bodyPr/>
          <a:lstStyle/>
          <a:p>
            <a:fld id="{6ABFEBD6-03AE-4DE6-A977-D8CFEDB53D61}" type="slidenum">
              <a:rPr lang="en-IN" smtClean="0"/>
              <a:t>‹#›</a:t>
            </a:fld>
            <a:endParaRPr lang="en-IN"/>
          </a:p>
        </p:txBody>
      </p:sp>
    </p:spTree>
    <p:extLst>
      <p:ext uri="{BB962C8B-B14F-4D97-AF65-F5344CB8AC3E}">
        <p14:creationId xmlns:p14="http://schemas.microsoft.com/office/powerpoint/2010/main" val="169575706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5F9D8C-CB03-CB8C-AADC-A6DEF1C69FED}"/>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1E6838AB-BFAD-4F99-9590-8C922F926527}"/>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0B3D9873-D8D4-2199-5DD3-8AB27B4EEA5C}"/>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4B062177-99D6-0DB5-65BE-5D247CF33219}"/>
              </a:ext>
            </a:extLst>
          </p:cNvPr>
          <p:cNvSpPr>
            <a:spLocks noGrp="1"/>
          </p:cNvSpPr>
          <p:nvPr>
            <p:ph type="dt" sz="half" idx="10"/>
          </p:nvPr>
        </p:nvSpPr>
        <p:spPr/>
        <p:txBody>
          <a:bodyPr/>
          <a:lstStyle/>
          <a:p>
            <a:fld id="{66C466ED-55D9-4506-A24E-11C0988F2626}" type="datetimeFigureOut">
              <a:rPr lang="en-IN" smtClean="0"/>
              <a:t>04-01-2025</a:t>
            </a:fld>
            <a:endParaRPr lang="en-IN"/>
          </a:p>
        </p:txBody>
      </p:sp>
      <p:sp>
        <p:nvSpPr>
          <p:cNvPr id="6" name="Footer Placeholder 5">
            <a:extLst>
              <a:ext uri="{FF2B5EF4-FFF2-40B4-BE49-F238E27FC236}">
                <a16:creationId xmlns:a16="http://schemas.microsoft.com/office/drawing/2014/main" id="{9BCB9C0F-7613-2F15-5F9A-C5EB5EEFFDCB}"/>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7187BDAF-FC08-81AF-C8C7-5C254F98F6A8}"/>
              </a:ext>
            </a:extLst>
          </p:cNvPr>
          <p:cNvSpPr>
            <a:spLocks noGrp="1"/>
          </p:cNvSpPr>
          <p:nvPr>
            <p:ph type="sldNum" sz="quarter" idx="12"/>
          </p:nvPr>
        </p:nvSpPr>
        <p:spPr/>
        <p:txBody>
          <a:bodyPr/>
          <a:lstStyle/>
          <a:p>
            <a:fld id="{6ABFEBD6-03AE-4DE6-A977-D8CFEDB53D61}" type="slidenum">
              <a:rPr lang="en-IN" smtClean="0"/>
              <a:t>‹#›</a:t>
            </a:fld>
            <a:endParaRPr lang="en-IN"/>
          </a:p>
        </p:txBody>
      </p:sp>
    </p:spTree>
    <p:extLst>
      <p:ext uri="{BB962C8B-B14F-4D97-AF65-F5344CB8AC3E}">
        <p14:creationId xmlns:p14="http://schemas.microsoft.com/office/powerpoint/2010/main" val="46790713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8B2BB4-E27F-0BC8-DA19-6742D309EB71}"/>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2589D427-612A-4285-2A6B-F56A9B7589BA}"/>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98B95137-B1CD-6147-93E5-02A303E1CD6D}"/>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E556E678-6178-731B-9291-39C43D0F9877}"/>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8601EB75-83C2-E803-6C9F-D64072CC01A3}"/>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A7AA01D6-4EB6-8C87-90B6-BA881292B7C0}"/>
              </a:ext>
            </a:extLst>
          </p:cNvPr>
          <p:cNvSpPr>
            <a:spLocks noGrp="1"/>
          </p:cNvSpPr>
          <p:nvPr>
            <p:ph type="dt" sz="half" idx="10"/>
          </p:nvPr>
        </p:nvSpPr>
        <p:spPr/>
        <p:txBody>
          <a:bodyPr/>
          <a:lstStyle/>
          <a:p>
            <a:fld id="{66C466ED-55D9-4506-A24E-11C0988F2626}" type="datetimeFigureOut">
              <a:rPr lang="en-IN" smtClean="0"/>
              <a:t>04-01-2025</a:t>
            </a:fld>
            <a:endParaRPr lang="en-IN"/>
          </a:p>
        </p:txBody>
      </p:sp>
      <p:sp>
        <p:nvSpPr>
          <p:cNvPr id="8" name="Footer Placeholder 7">
            <a:extLst>
              <a:ext uri="{FF2B5EF4-FFF2-40B4-BE49-F238E27FC236}">
                <a16:creationId xmlns:a16="http://schemas.microsoft.com/office/drawing/2014/main" id="{4966A4D2-2D2E-BCAB-BA58-AC022C72FCB0}"/>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48ECC51E-5809-48F8-25FF-296D7FD649F9}"/>
              </a:ext>
            </a:extLst>
          </p:cNvPr>
          <p:cNvSpPr>
            <a:spLocks noGrp="1"/>
          </p:cNvSpPr>
          <p:nvPr>
            <p:ph type="sldNum" sz="quarter" idx="12"/>
          </p:nvPr>
        </p:nvSpPr>
        <p:spPr/>
        <p:txBody>
          <a:bodyPr/>
          <a:lstStyle/>
          <a:p>
            <a:fld id="{6ABFEBD6-03AE-4DE6-A977-D8CFEDB53D61}" type="slidenum">
              <a:rPr lang="en-IN" smtClean="0"/>
              <a:t>‹#›</a:t>
            </a:fld>
            <a:endParaRPr lang="en-IN"/>
          </a:p>
        </p:txBody>
      </p:sp>
    </p:spTree>
    <p:extLst>
      <p:ext uri="{BB962C8B-B14F-4D97-AF65-F5344CB8AC3E}">
        <p14:creationId xmlns:p14="http://schemas.microsoft.com/office/powerpoint/2010/main" val="350063768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6CB1BA-1C49-45C5-4784-996A9F6E1114}"/>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312AB5AB-8A2A-9917-CACA-C1B7D78CEA6A}"/>
              </a:ext>
            </a:extLst>
          </p:cNvPr>
          <p:cNvSpPr>
            <a:spLocks noGrp="1"/>
          </p:cNvSpPr>
          <p:nvPr>
            <p:ph type="dt" sz="half" idx="10"/>
          </p:nvPr>
        </p:nvSpPr>
        <p:spPr/>
        <p:txBody>
          <a:bodyPr/>
          <a:lstStyle/>
          <a:p>
            <a:fld id="{66C466ED-55D9-4506-A24E-11C0988F2626}" type="datetimeFigureOut">
              <a:rPr lang="en-IN" smtClean="0"/>
              <a:t>04-01-2025</a:t>
            </a:fld>
            <a:endParaRPr lang="en-IN"/>
          </a:p>
        </p:txBody>
      </p:sp>
      <p:sp>
        <p:nvSpPr>
          <p:cNvPr id="4" name="Footer Placeholder 3">
            <a:extLst>
              <a:ext uri="{FF2B5EF4-FFF2-40B4-BE49-F238E27FC236}">
                <a16:creationId xmlns:a16="http://schemas.microsoft.com/office/drawing/2014/main" id="{732824DC-E52F-D341-844C-2FE1E5B7F3F8}"/>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7188A8D7-7B86-E164-130E-D1FF72CAADA7}"/>
              </a:ext>
            </a:extLst>
          </p:cNvPr>
          <p:cNvSpPr>
            <a:spLocks noGrp="1"/>
          </p:cNvSpPr>
          <p:nvPr>
            <p:ph type="sldNum" sz="quarter" idx="12"/>
          </p:nvPr>
        </p:nvSpPr>
        <p:spPr/>
        <p:txBody>
          <a:bodyPr/>
          <a:lstStyle/>
          <a:p>
            <a:fld id="{6ABFEBD6-03AE-4DE6-A977-D8CFEDB53D61}" type="slidenum">
              <a:rPr lang="en-IN" smtClean="0"/>
              <a:t>‹#›</a:t>
            </a:fld>
            <a:endParaRPr lang="en-IN"/>
          </a:p>
        </p:txBody>
      </p:sp>
    </p:spTree>
    <p:extLst>
      <p:ext uri="{BB962C8B-B14F-4D97-AF65-F5344CB8AC3E}">
        <p14:creationId xmlns:p14="http://schemas.microsoft.com/office/powerpoint/2010/main" val="426230080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7ABA25A5-A712-0617-B4BE-B4452D4C4248}"/>
              </a:ext>
            </a:extLst>
          </p:cNvPr>
          <p:cNvSpPr>
            <a:spLocks noGrp="1"/>
          </p:cNvSpPr>
          <p:nvPr>
            <p:ph type="dt" sz="half" idx="10"/>
          </p:nvPr>
        </p:nvSpPr>
        <p:spPr/>
        <p:txBody>
          <a:bodyPr/>
          <a:lstStyle/>
          <a:p>
            <a:fld id="{66C466ED-55D9-4506-A24E-11C0988F2626}" type="datetimeFigureOut">
              <a:rPr lang="en-IN" smtClean="0"/>
              <a:t>04-01-2025</a:t>
            </a:fld>
            <a:endParaRPr lang="en-IN"/>
          </a:p>
        </p:txBody>
      </p:sp>
      <p:sp>
        <p:nvSpPr>
          <p:cNvPr id="3" name="Footer Placeholder 2">
            <a:extLst>
              <a:ext uri="{FF2B5EF4-FFF2-40B4-BE49-F238E27FC236}">
                <a16:creationId xmlns:a16="http://schemas.microsoft.com/office/drawing/2014/main" id="{9349F4DA-ED06-602B-C877-7398BCC67A53}"/>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D5BEF26F-D585-A087-98F6-0362C987E799}"/>
              </a:ext>
            </a:extLst>
          </p:cNvPr>
          <p:cNvSpPr>
            <a:spLocks noGrp="1"/>
          </p:cNvSpPr>
          <p:nvPr>
            <p:ph type="sldNum" sz="quarter" idx="12"/>
          </p:nvPr>
        </p:nvSpPr>
        <p:spPr/>
        <p:txBody>
          <a:bodyPr/>
          <a:lstStyle/>
          <a:p>
            <a:fld id="{6ABFEBD6-03AE-4DE6-A977-D8CFEDB53D61}" type="slidenum">
              <a:rPr lang="en-IN" smtClean="0"/>
              <a:t>‹#›</a:t>
            </a:fld>
            <a:endParaRPr lang="en-IN"/>
          </a:p>
        </p:txBody>
      </p:sp>
    </p:spTree>
    <p:extLst>
      <p:ext uri="{BB962C8B-B14F-4D97-AF65-F5344CB8AC3E}">
        <p14:creationId xmlns:p14="http://schemas.microsoft.com/office/powerpoint/2010/main" val="115089152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DF4B39-C423-FA3D-8127-2849AE923BFC}"/>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CA2E9052-D8F8-D865-7ECF-3BD747697690}"/>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2D8093D2-0686-F30D-6EF5-535B4F0576F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8387A8CE-3436-A266-A8E7-B22E96198D07}"/>
              </a:ext>
            </a:extLst>
          </p:cNvPr>
          <p:cNvSpPr>
            <a:spLocks noGrp="1"/>
          </p:cNvSpPr>
          <p:nvPr>
            <p:ph type="dt" sz="half" idx="10"/>
          </p:nvPr>
        </p:nvSpPr>
        <p:spPr/>
        <p:txBody>
          <a:bodyPr/>
          <a:lstStyle/>
          <a:p>
            <a:fld id="{66C466ED-55D9-4506-A24E-11C0988F2626}" type="datetimeFigureOut">
              <a:rPr lang="en-IN" smtClean="0"/>
              <a:t>04-01-2025</a:t>
            </a:fld>
            <a:endParaRPr lang="en-IN"/>
          </a:p>
        </p:txBody>
      </p:sp>
      <p:sp>
        <p:nvSpPr>
          <p:cNvPr id="6" name="Footer Placeholder 5">
            <a:extLst>
              <a:ext uri="{FF2B5EF4-FFF2-40B4-BE49-F238E27FC236}">
                <a16:creationId xmlns:a16="http://schemas.microsoft.com/office/drawing/2014/main" id="{A9E279AE-C3CE-1B63-BE35-2B658CB5E09F}"/>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B3ADDC79-558F-E631-63CE-52FBC516CC94}"/>
              </a:ext>
            </a:extLst>
          </p:cNvPr>
          <p:cNvSpPr>
            <a:spLocks noGrp="1"/>
          </p:cNvSpPr>
          <p:nvPr>
            <p:ph type="sldNum" sz="quarter" idx="12"/>
          </p:nvPr>
        </p:nvSpPr>
        <p:spPr/>
        <p:txBody>
          <a:bodyPr/>
          <a:lstStyle/>
          <a:p>
            <a:fld id="{6ABFEBD6-03AE-4DE6-A977-D8CFEDB53D61}" type="slidenum">
              <a:rPr lang="en-IN" smtClean="0"/>
              <a:t>‹#›</a:t>
            </a:fld>
            <a:endParaRPr lang="en-IN"/>
          </a:p>
        </p:txBody>
      </p:sp>
    </p:spTree>
    <p:extLst>
      <p:ext uri="{BB962C8B-B14F-4D97-AF65-F5344CB8AC3E}">
        <p14:creationId xmlns:p14="http://schemas.microsoft.com/office/powerpoint/2010/main" val="404316269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859FBE-AD41-3764-45CB-38B606497C4E}"/>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4B6570F8-D8BB-717F-8ABB-A7B4E6B71BA6}"/>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45A291C5-3DE8-AEAA-CC38-763710466D9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3EE5C2FE-49DD-DAB8-F752-31501108A2FD}"/>
              </a:ext>
            </a:extLst>
          </p:cNvPr>
          <p:cNvSpPr>
            <a:spLocks noGrp="1"/>
          </p:cNvSpPr>
          <p:nvPr>
            <p:ph type="dt" sz="half" idx="10"/>
          </p:nvPr>
        </p:nvSpPr>
        <p:spPr/>
        <p:txBody>
          <a:bodyPr/>
          <a:lstStyle/>
          <a:p>
            <a:fld id="{66C466ED-55D9-4506-A24E-11C0988F2626}" type="datetimeFigureOut">
              <a:rPr lang="en-IN" smtClean="0"/>
              <a:t>04-01-2025</a:t>
            </a:fld>
            <a:endParaRPr lang="en-IN"/>
          </a:p>
        </p:txBody>
      </p:sp>
      <p:sp>
        <p:nvSpPr>
          <p:cNvPr id="6" name="Footer Placeholder 5">
            <a:extLst>
              <a:ext uri="{FF2B5EF4-FFF2-40B4-BE49-F238E27FC236}">
                <a16:creationId xmlns:a16="http://schemas.microsoft.com/office/drawing/2014/main" id="{C189340D-B102-D0B7-4017-31DE1FDE5866}"/>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EF1997A4-D5E4-8069-0662-8D022FE108D1}"/>
              </a:ext>
            </a:extLst>
          </p:cNvPr>
          <p:cNvSpPr>
            <a:spLocks noGrp="1"/>
          </p:cNvSpPr>
          <p:nvPr>
            <p:ph type="sldNum" sz="quarter" idx="12"/>
          </p:nvPr>
        </p:nvSpPr>
        <p:spPr/>
        <p:txBody>
          <a:bodyPr/>
          <a:lstStyle/>
          <a:p>
            <a:fld id="{6ABFEBD6-03AE-4DE6-A977-D8CFEDB53D61}" type="slidenum">
              <a:rPr lang="en-IN" smtClean="0"/>
              <a:t>‹#›</a:t>
            </a:fld>
            <a:endParaRPr lang="en-IN"/>
          </a:p>
        </p:txBody>
      </p:sp>
    </p:spTree>
    <p:extLst>
      <p:ext uri="{BB962C8B-B14F-4D97-AF65-F5344CB8AC3E}">
        <p14:creationId xmlns:p14="http://schemas.microsoft.com/office/powerpoint/2010/main" val="171138640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76C0D8-BC7B-3E97-4A30-CFFCE8317C10}"/>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F8D1813A-639D-2B1D-A66B-E7679CCB6E34}"/>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D26607DE-C2AE-5D32-EE6D-AFFE74C6562D}"/>
              </a:ext>
            </a:extLst>
          </p:cNvPr>
          <p:cNvSpPr>
            <a:spLocks noGrp="1"/>
          </p:cNvSpPr>
          <p:nvPr>
            <p:ph type="dt" sz="half" idx="10"/>
          </p:nvPr>
        </p:nvSpPr>
        <p:spPr/>
        <p:txBody>
          <a:bodyPr/>
          <a:lstStyle/>
          <a:p>
            <a:fld id="{66C466ED-55D9-4506-A24E-11C0988F2626}" type="datetimeFigureOut">
              <a:rPr lang="en-IN" smtClean="0"/>
              <a:t>04-01-2025</a:t>
            </a:fld>
            <a:endParaRPr lang="en-IN"/>
          </a:p>
        </p:txBody>
      </p:sp>
      <p:sp>
        <p:nvSpPr>
          <p:cNvPr id="5" name="Footer Placeholder 4">
            <a:extLst>
              <a:ext uri="{FF2B5EF4-FFF2-40B4-BE49-F238E27FC236}">
                <a16:creationId xmlns:a16="http://schemas.microsoft.com/office/drawing/2014/main" id="{5B08D7A0-0145-E332-76A0-0D5F5B3C05F6}"/>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6BEB4B03-24A5-1FD1-5150-F328F01E10D3}"/>
              </a:ext>
            </a:extLst>
          </p:cNvPr>
          <p:cNvSpPr>
            <a:spLocks noGrp="1"/>
          </p:cNvSpPr>
          <p:nvPr>
            <p:ph type="sldNum" sz="quarter" idx="12"/>
          </p:nvPr>
        </p:nvSpPr>
        <p:spPr/>
        <p:txBody>
          <a:bodyPr/>
          <a:lstStyle/>
          <a:p>
            <a:fld id="{6ABFEBD6-03AE-4DE6-A977-D8CFEDB53D61}" type="slidenum">
              <a:rPr lang="en-IN" smtClean="0"/>
              <a:t>‹#›</a:t>
            </a:fld>
            <a:endParaRPr lang="en-IN"/>
          </a:p>
        </p:txBody>
      </p:sp>
    </p:spTree>
    <p:extLst>
      <p:ext uri="{BB962C8B-B14F-4D97-AF65-F5344CB8AC3E}">
        <p14:creationId xmlns:p14="http://schemas.microsoft.com/office/powerpoint/2010/main" val="240242348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E1F5F1B7-CD4D-268A-C0F4-E5F57FD0C60D}"/>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51480B5F-33C8-4E01-5494-47AE4086B2C8}"/>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82641EEA-39D6-1DF7-F3CC-63B7BA22371E}"/>
              </a:ext>
            </a:extLst>
          </p:cNvPr>
          <p:cNvSpPr>
            <a:spLocks noGrp="1"/>
          </p:cNvSpPr>
          <p:nvPr>
            <p:ph type="dt" sz="half" idx="10"/>
          </p:nvPr>
        </p:nvSpPr>
        <p:spPr/>
        <p:txBody>
          <a:bodyPr/>
          <a:lstStyle/>
          <a:p>
            <a:fld id="{66C466ED-55D9-4506-A24E-11C0988F2626}" type="datetimeFigureOut">
              <a:rPr lang="en-IN" smtClean="0"/>
              <a:t>04-01-2025</a:t>
            </a:fld>
            <a:endParaRPr lang="en-IN"/>
          </a:p>
        </p:txBody>
      </p:sp>
      <p:sp>
        <p:nvSpPr>
          <p:cNvPr id="5" name="Footer Placeholder 4">
            <a:extLst>
              <a:ext uri="{FF2B5EF4-FFF2-40B4-BE49-F238E27FC236}">
                <a16:creationId xmlns:a16="http://schemas.microsoft.com/office/drawing/2014/main" id="{D7BE105F-9888-67B0-C6D7-2F73F92DDAE8}"/>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76AC7A13-AD6F-4C21-8AE8-077AF626AF84}"/>
              </a:ext>
            </a:extLst>
          </p:cNvPr>
          <p:cNvSpPr>
            <a:spLocks noGrp="1"/>
          </p:cNvSpPr>
          <p:nvPr>
            <p:ph type="sldNum" sz="quarter" idx="12"/>
          </p:nvPr>
        </p:nvSpPr>
        <p:spPr/>
        <p:txBody>
          <a:bodyPr/>
          <a:lstStyle/>
          <a:p>
            <a:fld id="{6ABFEBD6-03AE-4DE6-A977-D8CFEDB53D61}" type="slidenum">
              <a:rPr lang="en-IN" smtClean="0"/>
              <a:t>‹#›</a:t>
            </a:fld>
            <a:endParaRPr lang="en-IN"/>
          </a:p>
        </p:txBody>
      </p:sp>
    </p:spTree>
    <p:extLst>
      <p:ext uri="{BB962C8B-B14F-4D97-AF65-F5344CB8AC3E}">
        <p14:creationId xmlns:p14="http://schemas.microsoft.com/office/powerpoint/2010/main" val="123336380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12150D40-4CF7-5200-4306-652501DB58FE}"/>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A25CB98C-0CBC-C054-A6EB-78EA1341B549}"/>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DF7A2B1B-A0AF-E62F-62C5-5A6EEA1E4B67}"/>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66C466ED-55D9-4506-A24E-11C0988F2626}" type="datetimeFigureOut">
              <a:rPr lang="en-IN" smtClean="0"/>
              <a:t>04-01-2025</a:t>
            </a:fld>
            <a:endParaRPr lang="en-IN"/>
          </a:p>
        </p:txBody>
      </p:sp>
      <p:sp>
        <p:nvSpPr>
          <p:cNvPr id="5" name="Footer Placeholder 4">
            <a:extLst>
              <a:ext uri="{FF2B5EF4-FFF2-40B4-BE49-F238E27FC236}">
                <a16:creationId xmlns:a16="http://schemas.microsoft.com/office/drawing/2014/main" id="{657891E2-758F-DC60-BEF6-CE20916F8E68}"/>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58BFE01D-609F-1F16-56B3-AB35D98C60AB}"/>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6ABFEBD6-03AE-4DE6-A977-D8CFEDB53D61}" type="slidenum">
              <a:rPr lang="en-IN" smtClean="0"/>
              <a:t>‹#›</a:t>
            </a:fld>
            <a:endParaRPr lang="en-IN"/>
          </a:p>
        </p:txBody>
      </p:sp>
    </p:spTree>
    <p:extLst>
      <p:ext uri="{BB962C8B-B14F-4D97-AF65-F5344CB8AC3E}">
        <p14:creationId xmlns:p14="http://schemas.microsoft.com/office/powerpoint/2010/main" val="389519535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5FBDB5-E0F1-211B-9B6E-12E03140E428}"/>
              </a:ext>
            </a:extLst>
          </p:cNvPr>
          <p:cNvSpPr>
            <a:spLocks noGrp="1"/>
          </p:cNvSpPr>
          <p:nvPr>
            <p:ph type="ctrTitle"/>
          </p:nvPr>
        </p:nvSpPr>
        <p:spPr/>
        <p:txBody>
          <a:bodyPr/>
          <a:lstStyle/>
          <a:p>
            <a:r>
              <a:rPr lang="en-US" dirty="0"/>
              <a:t>ARM PROCESSOR</a:t>
            </a:r>
            <a:endParaRPr lang="en-IN" dirty="0"/>
          </a:p>
        </p:txBody>
      </p:sp>
      <p:sp>
        <p:nvSpPr>
          <p:cNvPr id="3" name="Subtitle 2">
            <a:extLst>
              <a:ext uri="{FF2B5EF4-FFF2-40B4-BE49-F238E27FC236}">
                <a16:creationId xmlns:a16="http://schemas.microsoft.com/office/drawing/2014/main" id="{72960E44-5E06-3815-1051-3FAD9A3B9E2D}"/>
              </a:ext>
            </a:extLst>
          </p:cNvPr>
          <p:cNvSpPr>
            <a:spLocks noGrp="1"/>
          </p:cNvSpPr>
          <p:nvPr>
            <p:ph type="subTitle" idx="1"/>
          </p:nvPr>
        </p:nvSpPr>
        <p:spPr/>
        <p:txBody>
          <a:bodyPr/>
          <a:lstStyle/>
          <a:p>
            <a:endParaRPr lang="en-IN"/>
          </a:p>
        </p:txBody>
      </p:sp>
    </p:spTree>
    <p:extLst>
      <p:ext uri="{BB962C8B-B14F-4D97-AF65-F5344CB8AC3E}">
        <p14:creationId xmlns:p14="http://schemas.microsoft.com/office/powerpoint/2010/main" val="158078697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4A0B88-3E22-B2B7-C246-5FA08B72B17A}"/>
              </a:ext>
            </a:extLst>
          </p:cNvPr>
          <p:cNvSpPr>
            <a:spLocks noGrp="1"/>
          </p:cNvSpPr>
          <p:nvPr>
            <p:ph type="title"/>
          </p:nvPr>
        </p:nvSpPr>
        <p:spPr>
          <a:xfrm>
            <a:off x="486507" y="317801"/>
            <a:ext cx="10515600" cy="468888"/>
          </a:xfrm>
        </p:spPr>
        <p:txBody>
          <a:bodyPr>
            <a:normAutofit fontScale="90000"/>
          </a:bodyPr>
          <a:lstStyle/>
          <a:p>
            <a:r>
              <a:rPr lang="en-US" dirty="0"/>
              <a:t>8051 VS ARM</a:t>
            </a:r>
            <a:endParaRPr lang="en-IN" dirty="0"/>
          </a:p>
        </p:txBody>
      </p:sp>
      <p:graphicFrame>
        <p:nvGraphicFramePr>
          <p:cNvPr id="4" name="Content Placeholder 3">
            <a:extLst>
              <a:ext uri="{FF2B5EF4-FFF2-40B4-BE49-F238E27FC236}">
                <a16:creationId xmlns:a16="http://schemas.microsoft.com/office/drawing/2014/main" id="{4A2ED7EC-DCB5-53A5-8B91-396512B20B5F}"/>
              </a:ext>
            </a:extLst>
          </p:cNvPr>
          <p:cNvGraphicFramePr>
            <a:graphicFrameLocks noGrp="1"/>
          </p:cNvGraphicFramePr>
          <p:nvPr>
            <p:ph idx="1"/>
            <p:extLst>
              <p:ext uri="{D42A27DB-BD31-4B8C-83A1-F6EECF244321}">
                <p14:modId xmlns:p14="http://schemas.microsoft.com/office/powerpoint/2010/main" val="2042580534"/>
              </p:ext>
            </p:extLst>
          </p:nvPr>
        </p:nvGraphicFramePr>
        <p:xfrm>
          <a:off x="486507" y="858416"/>
          <a:ext cx="11196734" cy="5609217"/>
        </p:xfrm>
        <a:graphic>
          <a:graphicData uri="http://schemas.openxmlformats.org/drawingml/2006/table">
            <a:tbl>
              <a:tblPr firstRow="1" bandRow="1">
                <a:tableStyleId>{073A0DAA-6AF3-43AB-8588-CEC1D06C72B9}</a:tableStyleId>
              </a:tblPr>
              <a:tblGrid>
                <a:gridCol w="5646964">
                  <a:extLst>
                    <a:ext uri="{9D8B030D-6E8A-4147-A177-3AD203B41FA5}">
                      <a16:colId xmlns:a16="http://schemas.microsoft.com/office/drawing/2014/main" val="3770062741"/>
                    </a:ext>
                  </a:extLst>
                </a:gridCol>
                <a:gridCol w="5549770">
                  <a:extLst>
                    <a:ext uri="{9D8B030D-6E8A-4147-A177-3AD203B41FA5}">
                      <a16:colId xmlns:a16="http://schemas.microsoft.com/office/drawing/2014/main" val="2873447787"/>
                    </a:ext>
                  </a:extLst>
                </a:gridCol>
              </a:tblGrid>
              <a:tr h="681821">
                <a:tc>
                  <a:txBody>
                    <a:bodyPr/>
                    <a:lstStyle/>
                    <a:p>
                      <a:pPr algn="ctr"/>
                      <a:r>
                        <a:rPr lang="en-US" dirty="0"/>
                        <a:t>8051</a:t>
                      </a:r>
                      <a:endParaRPr lang="en-IN" dirty="0"/>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dirty="0"/>
                        <a:t>ARM</a:t>
                      </a:r>
                      <a:endParaRPr lang="en-IN" dirty="0"/>
                    </a:p>
                    <a:p>
                      <a:pPr algn="ctr"/>
                      <a:endParaRPr lang="en-IN" dirty="0"/>
                    </a:p>
                  </a:txBody>
                  <a:tcPr/>
                </a:tc>
                <a:extLst>
                  <a:ext uri="{0D108BD9-81ED-4DB2-BD59-A6C34878D82A}">
                    <a16:rowId xmlns:a16="http://schemas.microsoft.com/office/drawing/2014/main" val="1953051868"/>
                  </a:ext>
                </a:extLst>
              </a:tr>
              <a:tr h="692405">
                <a:tc>
                  <a:txBody>
                    <a:bodyPr/>
                    <a:lstStyle/>
                    <a:p>
                      <a:pPr algn="l" fontAlgn="base"/>
                      <a:r>
                        <a:rPr lang="en-US" b="1" dirty="0">
                          <a:solidFill>
                            <a:srgbClr val="FF0000"/>
                          </a:solidFill>
                          <a:effectLst/>
                        </a:rPr>
                        <a:t>8 bit </a:t>
                      </a:r>
                      <a:r>
                        <a:rPr lang="en-US" b="1" dirty="0">
                          <a:effectLst/>
                        </a:rPr>
                        <a:t>for standard core bus width is present in 8051 micro-controller.</a:t>
                      </a:r>
                    </a:p>
                  </a:txBody>
                  <a:tcPr marL="50688" marR="50688" marT="50688" marB="50688" anchor="ctr"/>
                </a:tc>
                <a:tc>
                  <a:txBody>
                    <a:bodyPr/>
                    <a:lstStyle/>
                    <a:p>
                      <a:pPr algn="l" fontAlgn="base"/>
                      <a:r>
                        <a:rPr lang="en-US" b="1" dirty="0">
                          <a:effectLst/>
                        </a:rPr>
                        <a:t>Mostly </a:t>
                      </a:r>
                      <a:r>
                        <a:rPr lang="en-US" b="1" dirty="0">
                          <a:solidFill>
                            <a:srgbClr val="FF0000"/>
                          </a:solidFill>
                          <a:effectLst/>
                        </a:rPr>
                        <a:t>32bit</a:t>
                      </a:r>
                      <a:r>
                        <a:rPr lang="en-US" b="1" dirty="0">
                          <a:effectLst/>
                        </a:rPr>
                        <a:t> bus width is present in ARM micro-controller and also 64-bit is available.</a:t>
                      </a:r>
                    </a:p>
                  </a:txBody>
                  <a:tcPr marL="50688" marR="50688" marT="50688" marB="50688" anchor="ctr"/>
                </a:tc>
                <a:extLst>
                  <a:ext uri="{0D108BD9-81ED-4DB2-BD59-A6C34878D82A}">
                    <a16:rowId xmlns:a16="http://schemas.microsoft.com/office/drawing/2014/main" val="1362289121"/>
                  </a:ext>
                </a:extLst>
              </a:tr>
              <a:tr h="603864">
                <a:tc>
                  <a:txBody>
                    <a:bodyPr/>
                    <a:lstStyle/>
                    <a:p>
                      <a:pPr algn="l" fontAlgn="base"/>
                      <a:r>
                        <a:rPr lang="en-US" b="1" dirty="0">
                          <a:effectLst/>
                        </a:rPr>
                        <a:t>Its speed is </a:t>
                      </a:r>
                      <a:r>
                        <a:rPr lang="en-US" b="1" dirty="0">
                          <a:solidFill>
                            <a:srgbClr val="FF0000"/>
                          </a:solidFill>
                          <a:effectLst/>
                        </a:rPr>
                        <a:t>12 clock cycles per machine cycle</a:t>
                      </a:r>
                      <a:r>
                        <a:rPr lang="en-US" b="1" dirty="0">
                          <a:effectLst/>
                        </a:rPr>
                        <a:t>.</a:t>
                      </a:r>
                    </a:p>
                  </a:txBody>
                  <a:tcPr marL="50688" marR="50688" marT="50688" marB="50688" anchor="ctr"/>
                </a:tc>
                <a:tc>
                  <a:txBody>
                    <a:bodyPr/>
                    <a:lstStyle/>
                    <a:p>
                      <a:pPr algn="l" fontAlgn="base"/>
                      <a:r>
                        <a:rPr lang="en-US" b="1" dirty="0">
                          <a:effectLst/>
                        </a:rPr>
                        <a:t>Its speed is </a:t>
                      </a:r>
                      <a:r>
                        <a:rPr lang="en-US" b="1" dirty="0">
                          <a:solidFill>
                            <a:srgbClr val="FF0000"/>
                          </a:solidFill>
                          <a:effectLst/>
                        </a:rPr>
                        <a:t>1 clock cycle per machine cycle.</a:t>
                      </a:r>
                    </a:p>
                  </a:txBody>
                  <a:tcPr marL="50688" marR="50688" marT="50688" marB="50688" anchor="ctr"/>
                </a:tc>
                <a:extLst>
                  <a:ext uri="{0D108BD9-81ED-4DB2-BD59-A6C34878D82A}">
                    <a16:rowId xmlns:a16="http://schemas.microsoft.com/office/drawing/2014/main" val="271291894"/>
                  </a:ext>
                </a:extLst>
              </a:tr>
              <a:tr h="548900">
                <a:tc>
                  <a:txBody>
                    <a:bodyPr/>
                    <a:lstStyle/>
                    <a:p>
                      <a:pPr algn="l" fontAlgn="base"/>
                      <a:r>
                        <a:rPr lang="en-US" b="1" dirty="0">
                          <a:effectLst/>
                        </a:rPr>
                        <a:t> is based </a:t>
                      </a:r>
                      <a:r>
                        <a:rPr lang="en-US" b="1" dirty="0">
                          <a:solidFill>
                            <a:srgbClr val="FF0000"/>
                          </a:solidFill>
                          <a:effectLst/>
                        </a:rPr>
                        <a:t>on CISC Instruction </a:t>
                      </a:r>
                      <a:r>
                        <a:rPr lang="en-US" b="1" dirty="0">
                          <a:effectLst/>
                        </a:rPr>
                        <a:t>set Architecture.</a:t>
                      </a:r>
                    </a:p>
                  </a:txBody>
                  <a:tcPr marL="50688" marR="50688" marT="50688" marB="50688" anchor="ctr"/>
                </a:tc>
                <a:tc>
                  <a:txBody>
                    <a:bodyPr/>
                    <a:lstStyle/>
                    <a:p>
                      <a:pPr algn="l" fontAlgn="base"/>
                      <a:r>
                        <a:rPr lang="en-US" b="1" dirty="0">
                          <a:effectLst/>
                        </a:rPr>
                        <a:t>It is based on </a:t>
                      </a:r>
                      <a:r>
                        <a:rPr lang="en-US" b="1" dirty="0">
                          <a:solidFill>
                            <a:srgbClr val="FF0000"/>
                          </a:solidFill>
                          <a:effectLst/>
                        </a:rPr>
                        <a:t>RISC Instruction </a:t>
                      </a:r>
                      <a:r>
                        <a:rPr lang="en-US" b="1" dirty="0">
                          <a:effectLst/>
                        </a:rPr>
                        <a:t>Set Architecture.</a:t>
                      </a:r>
                    </a:p>
                  </a:txBody>
                  <a:tcPr marL="50688" marR="50688" marT="50688" marB="50688" anchor="ctr"/>
                </a:tc>
                <a:extLst>
                  <a:ext uri="{0D108BD9-81ED-4DB2-BD59-A6C34878D82A}">
                    <a16:rowId xmlns:a16="http://schemas.microsoft.com/office/drawing/2014/main" val="375992975"/>
                  </a:ext>
                </a:extLst>
              </a:tr>
              <a:tr h="932474">
                <a:tc>
                  <a:txBody>
                    <a:bodyPr/>
                    <a:lstStyle/>
                    <a:p>
                      <a:r>
                        <a:rPr lang="en-US" sz="1800" b="1" i="0" kern="1200" dirty="0">
                          <a:solidFill>
                            <a:schemeClr val="dk1"/>
                          </a:solidFill>
                          <a:effectLst/>
                          <a:latin typeface="+mn-lt"/>
                          <a:ea typeface="+mn-ea"/>
                          <a:cs typeface="+mn-cs"/>
                        </a:rPr>
                        <a:t>8051 micro-controller is a </a:t>
                      </a:r>
                      <a:r>
                        <a:rPr lang="en-US" sz="1800" b="1" i="0" kern="1200" dirty="0">
                          <a:solidFill>
                            <a:srgbClr val="FF0000"/>
                          </a:solidFill>
                          <a:effectLst/>
                          <a:latin typeface="+mn-lt"/>
                          <a:ea typeface="+mn-ea"/>
                          <a:cs typeface="+mn-cs"/>
                        </a:rPr>
                        <a:t>Harvard-based architecture</a:t>
                      </a:r>
                      <a:r>
                        <a:rPr lang="en-US" sz="1800" b="1" i="0" kern="1200" dirty="0">
                          <a:solidFill>
                            <a:schemeClr val="dk1"/>
                          </a:solidFill>
                          <a:effectLst/>
                          <a:latin typeface="+mn-lt"/>
                          <a:ea typeface="+mn-ea"/>
                          <a:cs typeface="+mn-cs"/>
                        </a:rPr>
                        <a:t>, but it allows us to connect external memory and simulate von Neumann’s architecture.</a:t>
                      </a:r>
                      <a:endParaRPr lang="en-IN" dirty="0"/>
                    </a:p>
                  </a:txBody>
                  <a:tcPr/>
                </a:tc>
                <a:tc>
                  <a:txBody>
                    <a:bodyPr/>
                    <a:lstStyle/>
                    <a:p>
                      <a:r>
                        <a:rPr lang="en-US" b="1" dirty="0"/>
                        <a:t>ARM </a:t>
                      </a:r>
                      <a:r>
                        <a:rPr lang="en-US" sz="1800" b="1" i="0" kern="1200" dirty="0">
                          <a:solidFill>
                            <a:schemeClr val="dk1"/>
                          </a:solidFill>
                          <a:effectLst/>
                          <a:latin typeface="+mn-lt"/>
                          <a:ea typeface="+mn-ea"/>
                          <a:cs typeface="+mn-cs"/>
                        </a:rPr>
                        <a:t>micro-controller is based on Harvard architecture.</a:t>
                      </a:r>
                      <a:endParaRPr lang="en-IN" dirty="0"/>
                    </a:p>
                  </a:txBody>
                  <a:tcPr/>
                </a:tc>
                <a:extLst>
                  <a:ext uri="{0D108BD9-81ED-4DB2-BD59-A6C34878D82A}">
                    <a16:rowId xmlns:a16="http://schemas.microsoft.com/office/drawing/2014/main" val="1955845286"/>
                  </a:ext>
                </a:extLst>
              </a:tr>
              <a:tr h="494523">
                <a:tc>
                  <a:txBody>
                    <a:bodyPr/>
                    <a:lstStyle/>
                    <a:p>
                      <a:pPr algn="l" fontAlgn="base"/>
                      <a:r>
                        <a:rPr lang="en-US" b="1" dirty="0">
                          <a:effectLst/>
                        </a:rPr>
                        <a:t>Power consumption of 8051 micro-controller is </a:t>
                      </a:r>
                      <a:r>
                        <a:rPr lang="en-US" b="1" dirty="0">
                          <a:solidFill>
                            <a:srgbClr val="FF0000"/>
                          </a:solidFill>
                          <a:effectLst/>
                        </a:rPr>
                        <a:t>average.</a:t>
                      </a:r>
                    </a:p>
                  </a:txBody>
                  <a:tcPr marL="50688" marR="50688" marT="50688" marB="50688" anchor="ctr"/>
                </a:tc>
                <a:tc>
                  <a:txBody>
                    <a:bodyPr/>
                    <a:lstStyle/>
                    <a:p>
                      <a:pPr algn="l" fontAlgn="base"/>
                      <a:r>
                        <a:rPr lang="en-US" b="1" dirty="0">
                          <a:effectLst/>
                        </a:rPr>
                        <a:t>Power consumption of ARM micro-controller </a:t>
                      </a:r>
                      <a:r>
                        <a:rPr lang="en-US" b="1" dirty="0">
                          <a:solidFill>
                            <a:srgbClr val="FF0000"/>
                          </a:solidFill>
                          <a:effectLst/>
                        </a:rPr>
                        <a:t>is low.</a:t>
                      </a:r>
                    </a:p>
                  </a:txBody>
                  <a:tcPr marL="50688" marR="50688" marT="50688" marB="50688" anchor="ctr"/>
                </a:tc>
                <a:extLst>
                  <a:ext uri="{0D108BD9-81ED-4DB2-BD59-A6C34878D82A}">
                    <a16:rowId xmlns:a16="http://schemas.microsoft.com/office/drawing/2014/main" val="2952115829"/>
                  </a:ext>
                </a:extLst>
              </a:tr>
              <a:tr h="670615">
                <a:tc>
                  <a:txBody>
                    <a:bodyPr/>
                    <a:lstStyle/>
                    <a:p>
                      <a:pPr algn="l" fontAlgn="base"/>
                      <a:r>
                        <a:rPr lang="en-US" b="1" dirty="0">
                          <a:effectLst/>
                        </a:rPr>
                        <a:t>Its manufacturers are Atmel, NXP, Silicon Labs, Dallas, Cyprus, Infineon, etc.</a:t>
                      </a:r>
                    </a:p>
                  </a:txBody>
                  <a:tcPr marL="50688" marR="50688" marT="50688" marB="50688" anchor="ctr"/>
                </a:tc>
                <a:tc>
                  <a:txBody>
                    <a:bodyPr/>
                    <a:lstStyle/>
                    <a:p>
                      <a:pPr algn="l" fontAlgn="base"/>
                      <a:r>
                        <a:rPr lang="en-US" b="1" dirty="0">
                          <a:effectLst/>
                        </a:rPr>
                        <a:t>Its manufacturers are Nvidia, Qualcomm, Apple, Samsung Electronics, and TI etc.</a:t>
                      </a:r>
                    </a:p>
                  </a:txBody>
                  <a:tcPr marL="50688" marR="50688" marT="50688" marB="50688" anchor="ctr"/>
                </a:tc>
                <a:extLst>
                  <a:ext uri="{0D108BD9-81ED-4DB2-BD59-A6C34878D82A}">
                    <a16:rowId xmlns:a16="http://schemas.microsoft.com/office/drawing/2014/main" val="353289335"/>
                  </a:ext>
                </a:extLst>
              </a:tr>
              <a:tr h="984615">
                <a:tc>
                  <a:txBody>
                    <a:bodyPr/>
                    <a:lstStyle/>
                    <a:p>
                      <a:pPr algn="l" fontAlgn="base"/>
                      <a:r>
                        <a:rPr lang="en-IN" b="1" dirty="0">
                          <a:effectLst/>
                        </a:rPr>
                        <a:t>Popular micro-controllers include AT89C51, P89v51, etc.</a:t>
                      </a:r>
                    </a:p>
                  </a:txBody>
                  <a:tcPr marL="50688" marR="50688" marT="50688" marB="50688" anchor="ctr"/>
                </a:tc>
                <a:tc>
                  <a:txBody>
                    <a:bodyPr/>
                    <a:lstStyle/>
                    <a:p>
                      <a:pPr algn="l" fontAlgn="base"/>
                      <a:r>
                        <a:rPr lang="pt-BR" b="1" dirty="0">
                          <a:effectLst/>
                        </a:rPr>
                        <a:t>Popular micro-controllers include ARM Cortex-M0 to ARM Cortex-M7, etc.</a:t>
                      </a:r>
                    </a:p>
                  </a:txBody>
                  <a:tcPr marL="50688" marR="50688" marT="50688" marB="50688" anchor="ctr"/>
                </a:tc>
                <a:extLst>
                  <a:ext uri="{0D108BD9-81ED-4DB2-BD59-A6C34878D82A}">
                    <a16:rowId xmlns:a16="http://schemas.microsoft.com/office/drawing/2014/main" val="1652433780"/>
                  </a:ext>
                </a:extLst>
              </a:tr>
            </a:tbl>
          </a:graphicData>
        </a:graphic>
      </p:graphicFrame>
    </p:spTree>
    <p:extLst>
      <p:ext uri="{BB962C8B-B14F-4D97-AF65-F5344CB8AC3E}">
        <p14:creationId xmlns:p14="http://schemas.microsoft.com/office/powerpoint/2010/main" val="293726916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D59BD5-EB77-D25A-9ED1-0A61442CB0BB}"/>
              </a:ext>
            </a:extLst>
          </p:cNvPr>
          <p:cNvSpPr>
            <a:spLocks noGrp="1"/>
          </p:cNvSpPr>
          <p:nvPr>
            <p:ph type="title"/>
          </p:nvPr>
        </p:nvSpPr>
        <p:spPr/>
        <p:txBody>
          <a:bodyPr/>
          <a:lstStyle/>
          <a:p>
            <a:r>
              <a:rPr lang="en-US" dirty="0"/>
              <a:t>BRIEF OF ARM</a:t>
            </a:r>
            <a:endParaRPr lang="en-IN" dirty="0"/>
          </a:p>
        </p:txBody>
      </p:sp>
      <p:sp>
        <p:nvSpPr>
          <p:cNvPr id="3" name="Content Placeholder 2">
            <a:extLst>
              <a:ext uri="{FF2B5EF4-FFF2-40B4-BE49-F238E27FC236}">
                <a16:creationId xmlns:a16="http://schemas.microsoft.com/office/drawing/2014/main" id="{E3DEEFBD-7592-9378-AE96-DFABB41CBDD7}"/>
              </a:ext>
            </a:extLst>
          </p:cNvPr>
          <p:cNvSpPr>
            <a:spLocks noGrp="1"/>
          </p:cNvSpPr>
          <p:nvPr>
            <p:ph idx="1"/>
          </p:nvPr>
        </p:nvSpPr>
        <p:spPr/>
        <p:txBody>
          <a:bodyPr/>
          <a:lstStyle/>
          <a:p>
            <a:endParaRPr lang="en-IN"/>
          </a:p>
        </p:txBody>
      </p:sp>
      <p:pic>
        <p:nvPicPr>
          <p:cNvPr id="5" name="Picture 4">
            <a:extLst>
              <a:ext uri="{FF2B5EF4-FFF2-40B4-BE49-F238E27FC236}">
                <a16:creationId xmlns:a16="http://schemas.microsoft.com/office/drawing/2014/main" id="{893C84D1-327F-3E41-00A0-1FE41D2DD988}"/>
              </a:ext>
            </a:extLst>
          </p:cNvPr>
          <p:cNvPicPr>
            <a:picLocks noChangeAspect="1"/>
          </p:cNvPicPr>
          <p:nvPr/>
        </p:nvPicPr>
        <p:blipFill>
          <a:blip r:embed="rId2"/>
          <a:stretch>
            <a:fillRect/>
          </a:stretch>
        </p:blipFill>
        <p:spPr>
          <a:xfrm>
            <a:off x="2069962" y="1907724"/>
            <a:ext cx="7177954" cy="4187140"/>
          </a:xfrm>
          <a:prstGeom prst="rect">
            <a:avLst/>
          </a:prstGeom>
        </p:spPr>
      </p:pic>
    </p:spTree>
    <p:extLst>
      <p:ext uri="{BB962C8B-B14F-4D97-AF65-F5344CB8AC3E}">
        <p14:creationId xmlns:p14="http://schemas.microsoft.com/office/powerpoint/2010/main" val="298173230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DF9588-2BBA-97A6-383B-A68A43132297}"/>
              </a:ext>
            </a:extLst>
          </p:cNvPr>
          <p:cNvSpPr>
            <a:spLocks noGrp="1"/>
          </p:cNvSpPr>
          <p:nvPr>
            <p:ph type="title"/>
          </p:nvPr>
        </p:nvSpPr>
        <p:spPr/>
        <p:txBody>
          <a:bodyPr/>
          <a:lstStyle/>
          <a:p>
            <a:r>
              <a:rPr lang="en-US" dirty="0"/>
              <a:t>LATEST PIC OF ARM</a:t>
            </a:r>
            <a:endParaRPr lang="en-IN" dirty="0"/>
          </a:p>
        </p:txBody>
      </p:sp>
      <p:sp>
        <p:nvSpPr>
          <p:cNvPr id="3" name="Content Placeholder 2">
            <a:extLst>
              <a:ext uri="{FF2B5EF4-FFF2-40B4-BE49-F238E27FC236}">
                <a16:creationId xmlns:a16="http://schemas.microsoft.com/office/drawing/2014/main" id="{C60D675C-A53F-5E1E-F9BD-DB887E6CC0AF}"/>
              </a:ext>
            </a:extLst>
          </p:cNvPr>
          <p:cNvSpPr>
            <a:spLocks noGrp="1"/>
          </p:cNvSpPr>
          <p:nvPr>
            <p:ph idx="1"/>
          </p:nvPr>
        </p:nvSpPr>
        <p:spPr/>
        <p:txBody>
          <a:bodyPr/>
          <a:lstStyle/>
          <a:p>
            <a:endParaRPr lang="en-IN" dirty="0"/>
          </a:p>
        </p:txBody>
      </p:sp>
      <p:pic>
        <p:nvPicPr>
          <p:cNvPr id="5" name="Picture 4">
            <a:extLst>
              <a:ext uri="{FF2B5EF4-FFF2-40B4-BE49-F238E27FC236}">
                <a16:creationId xmlns:a16="http://schemas.microsoft.com/office/drawing/2014/main" id="{93DD76DB-55F1-5AF8-8B47-2424B150D017}"/>
              </a:ext>
            </a:extLst>
          </p:cNvPr>
          <p:cNvPicPr>
            <a:picLocks noChangeAspect="1"/>
          </p:cNvPicPr>
          <p:nvPr/>
        </p:nvPicPr>
        <p:blipFill>
          <a:blip r:embed="rId2"/>
          <a:stretch>
            <a:fillRect/>
          </a:stretch>
        </p:blipFill>
        <p:spPr>
          <a:xfrm>
            <a:off x="2182644" y="1312690"/>
            <a:ext cx="7345591" cy="5377208"/>
          </a:xfrm>
          <a:prstGeom prst="rect">
            <a:avLst/>
          </a:prstGeom>
        </p:spPr>
      </p:pic>
    </p:spTree>
    <p:extLst>
      <p:ext uri="{BB962C8B-B14F-4D97-AF65-F5344CB8AC3E}">
        <p14:creationId xmlns:p14="http://schemas.microsoft.com/office/powerpoint/2010/main" val="310074338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0BB207-F650-FC74-C01E-2C05FC07F0A6}"/>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41CFC883-5412-197D-CCB4-FA8E174CC4A2}"/>
              </a:ext>
            </a:extLst>
          </p:cNvPr>
          <p:cNvSpPr>
            <a:spLocks noGrp="1"/>
          </p:cNvSpPr>
          <p:nvPr>
            <p:ph idx="1"/>
          </p:nvPr>
        </p:nvSpPr>
        <p:spPr/>
        <p:txBody>
          <a:bodyPr/>
          <a:lstStyle/>
          <a:p>
            <a:endParaRPr lang="en-IN" dirty="0"/>
          </a:p>
        </p:txBody>
      </p:sp>
      <p:pic>
        <p:nvPicPr>
          <p:cNvPr id="5" name="Picture 4">
            <a:extLst>
              <a:ext uri="{FF2B5EF4-FFF2-40B4-BE49-F238E27FC236}">
                <a16:creationId xmlns:a16="http://schemas.microsoft.com/office/drawing/2014/main" id="{53CFFAFA-DF0F-2F29-FD22-7D9C20BD42A5}"/>
              </a:ext>
            </a:extLst>
          </p:cNvPr>
          <p:cNvPicPr>
            <a:picLocks noChangeAspect="1"/>
          </p:cNvPicPr>
          <p:nvPr/>
        </p:nvPicPr>
        <p:blipFill>
          <a:blip r:embed="rId2"/>
          <a:stretch>
            <a:fillRect/>
          </a:stretch>
        </p:blipFill>
        <p:spPr>
          <a:xfrm>
            <a:off x="516654" y="315297"/>
            <a:ext cx="10049628" cy="5907458"/>
          </a:xfrm>
          <a:prstGeom prst="rect">
            <a:avLst/>
          </a:prstGeom>
        </p:spPr>
      </p:pic>
      <p:sp>
        <p:nvSpPr>
          <p:cNvPr id="6" name="TextBox 5">
            <a:extLst>
              <a:ext uri="{FF2B5EF4-FFF2-40B4-BE49-F238E27FC236}">
                <a16:creationId xmlns:a16="http://schemas.microsoft.com/office/drawing/2014/main" id="{AEE8FA4B-851D-63FF-4434-3243115A1AF6}"/>
              </a:ext>
            </a:extLst>
          </p:cNvPr>
          <p:cNvSpPr txBox="1"/>
          <p:nvPr/>
        </p:nvSpPr>
        <p:spPr>
          <a:xfrm>
            <a:off x="3328696" y="6176963"/>
            <a:ext cx="6097554" cy="369332"/>
          </a:xfrm>
          <a:prstGeom prst="rect">
            <a:avLst/>
          </a:prstGeom>
          <a:noFill/>
        </p:spPr>
        <p:txBody>
          <a:bodyPr wrap="square">
            <a:spAutoFit/>
          </a:bodyPr>
          <a:lstStyle/>
          <a:p>
            <a:r>
              <a:rPr lang="en-US" b="1" i="0" dirty="0">
                <a:solidFill>
                  <a:srgbClr val="000000"/>
                </a:solidFill>
                <a:effectLst/>
                <a:latin typeface="Arial" panose="020B0604020202020204" pitchFamily="34" charset="0"/>
              </a:rPr>
              <a:t>Cortex M55, M85, and M52 </a:t>
            </a:r>
            <a:endParaRPr lang="en-IN" b="1" dirty="0"/>
          </a:p>
        </p:txBody>
      </p:sp>
    </p:spTree>
    <p:extLst>
      <p:ext uri="{BB962C8B-B14F-4D97-AF65-F5344CB8AC3E}">
        <p14:creationId xmlns:p14="http://schemas.microsoft.com/office/powerpoint/2010/main" val="180656947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0A3193-8948-A1DD-F382-4D5C54E71E42}"/>
              </a:ext>
            </a:extLst>
          </p:cNvPr>
          <p:cNvSpPr>
            <a:spLocks noGrp="1"/>
          </p:cNvSpPr>
          <p:nvPr>
            <p:ph type="title"/>
          </p:nvPr>
        </p:nvSpPr>
        <p:spPr/>
        <p:txBody>
          <a:bodyPr/>
          <a:lstStyle/>
          <a:p>
            <a:r>
              <a:rPr lang="en-US" dirty="0"/>
              <a:t>FEATURES OF ARM</a:t>
            </a:r>
            <a:endParaRPr lang="en-IN" dirty="0"/>
          </a:p>
        </p:txBody>
      </p:sp>
      <p:sp>
        <p:nvSpPr>
          <p:cNvPr id="3" name="Content Placeholder 2">
            <a:extLst>
              <a:ext uri="{FF2B5EF4-FFF2-40B4-BE49-F238E27FC236}">
                <a16:creationId xmlns:a16="http://schemas.microsoft.com/office/drawing/2014/main" id="{EADF3D71-4BF0-BC6E-C7B2-5304106475CC}"/>
              </a:ext>
            </a:extLst>
          </p:cNvPr>
          <p:cNvSpPr>
            <a:spLocks noGrp="1"/>
          </p:cNvSpPr>
          <p:nvPr>
            <p:ph idx="1"/>
          </p:nvPr>
        </p:nvSpPr>
        <p:spPr>
          <a:xfrm>
            <a:off x="231112" y="1393545"/>
            <a:ext cx="11122688" cy="5099329"/>
          </a:xfrm>
        </p:spPr>
        <p:txBody>
          <a:bodyPr>
            <a:normAutofit/>
          </a:bodyPr>
          <a:lstStyle/>
          <a:p>
            <a:pPr algn="just" fontAlgn="base"/>
            <a:r>
              <a:rPr lang="en-US" b="1" i="0" dirty="0">
                <a:solidFill>
                  <a:srgbClr val="FF0000"/>
                </a:solidFill>
                <a:effectLst/>
                <a:latin typeface="Nunito" pitchFamily="2" charset="0"/>
              </a:rPr>
              <a:t>Advanced RISC Machine (ARM)</a:t>
            </a:r>
            <a:r>
              <a:rPr lang="en-US" b="0" i="0" dirty="0">
                <a:solidFill>
                  <a:srgbClr val="FF0000"/>
                </a:solidFill>
                <a:effectLst/>
                <a:latin typeface="Nunito" pitchFamily="2" charset="0"/>
              </a:rPr>
              <a:t> </a:t>
            </a:r>
            <a:r>
              <a:rPr lang="en-US" b="0" i="0" dirty="0">
                <a:solidFill>
                  <a:srgbClr val="273239"/>
                </a:solidFill>
                <a:effectLst/>
                <a:latin typeface="Nunito" pitchFamily="2" charset="0"/>
              </a:rPr>
              <a:t>Processor is considered to be a family of </a:t>
            </a:r>
            <a:r>
              <a:rPr lang="en-US" b="0" i="0" dirty="0">
                <a:solidFill>
                  <a:srgbClr val="0070C0"/>
                </a:solidFill>
                <a:effectLst/>
                <a:latin typeface="Nunito" pitchFamily="2" charset="0"/>
              </a:rPr>
              <a:t>Central Processing Units</a:t>
            </a:r>
            <a:r>
              <a:rPr lang="en-US" b="0" i="0" dirty="0">
                <a:solidFill>
                  <a:srgbClr val="273239"/>
                </a:solidFill>
                <a:effectLst/>
                <a:latin typeface="Nunito" pitchFamily="2" charset="0"/>
              </a:rPr>
              <a:t> that are used in music players, smartphones, wearables, tablets, and other consumer electronic devices.</a:t>
            </a:r>
          </a:p>
          <a:p>
            <a:pPr algn="just" fontAlgn="base"/>
            <a:r>
              <a:rPr lang="en-US" b="0" i="0" dirty="0">
                <a:solidFill>
                  <a:srgbClr val="273239"/>
                </a:solidFill>
                <a:effectLst/>
                <a:latin typeface="Nunito" pitchFamily="2" charset="0"/>
              </a:rPr>
              <a:t>Advanced RISC Machines create the ARM processor architecture, hence the name ARM. This needs very </a:t>
            </a:r>
            <a:r>
              <a:rPr lang="en-US" b="0" i="0" dirty="0">
                <a:solidFill>
                  <a:srgbClr val="FF0000"/>
                </a:solidFill>
                <a:effectLst/>
                <a:latin typeface="Nunito" pitchFamily="2" charset="0"/>
              </a:rPr>
              <a:t>few instruction sets </a:t>
            </a:r>
            <a:r>
              <a:rPr lang="en-US" b="0" i="0" dirty="0">
                <a:solidFill>
                  <a:srgbClr val="273239"/>
                </a:solidFill>
                <a:effectLst/>
                <a:latin typeface="Nunito" pitchFamily="2" charset="0"/>
              </a:rPr>
              <a:t>and transistors. It has </a:t>
            </a:r>
            <a:r>
              <a:rPr lang="en-US" b="0" i="0" dirty="0">
                <a:solidFill>
                  <a:srgbClr val="FF0000"/>
                </a:solidFill>
                <a:effectLst/>
                <a:latin typeface="Nunito" pitchFamily="2" charset="0"/>
              </a:rPr>
              <a:t>very small in size</a:t>
            </a:r>
            <a:r>
              <a:rPr lang="en-US" b="0" i="0" dirty="0">
                <a:solidFill>
                  <a:srgbClr val="273239"/>
                </a:solidFill>
                <a:effectLst/>
                <a:latin typeface="Nunito" pitchFamily="2" charset="0"/>
              </a:rPr>
              <a:t>. This is the reason that it is a perfect fit for small-size devices. It has </a:t>
            </a:r>
            <a:r>
              <a:rPr lang="en-US" b="0" i="0" dirty="0">
                <a:solidFill>
                  <a:srgbClr val="FF0000"/>
                </a:solidFill>
                <a:effectLst/>
                <a:latin typeface="Nunito" pitchFamily="2" charset="0"/>
              </a:rPr>
              <a:t>less power consumption </a:t>
            </a:r>
            <a:r>
              <a:rPr lang="en-US" b="0" i="0" dirty="0">
                <a:solidFill>
                  <a:srgbClr val="273239"/>
                </a:solidFill>
                <a:effectLst/>
                <a:latin typeface="Nunito" pitchFamily="2" charset="0"/>
              </a:rPr>
              <a:t>along with </a:t>
            </a:r>
            <a:r>
              <a:rPr lang="en-US" b="0" i="0" dirty="0">
                <a:solidFill>
                  <a:srgbClr val="FF0000"/>
                </a:solidFill>
                <a:effectLst/>
                <a:latin typeface="Nunito" pitchFamily="2" charset="0"/>
              </a:rPr>
              <a:t>reduced complexity </a:t>
            </a:r>
            <a:r>
              <a:rPr lang="en-US" b="0" i="0" dirty="0">
                <a:solidFill>
                  <a:srgbClr val="273239"/>
                </a:solidFill>
                <a:effectLst/>
                <a:latin typeface="Nunito" pitchFamily="2" charset="0"/>
              </a:rPr>
              <a:t>in its circuits. </a:t>
            </a:r>
          </a:p>
          <a:p>
            <a:pPr algn="just" fontAlgn="base"/>
            <a:r>
              <a:rPr lang="en-US" b="0" i="0" dirty="0">
                <a:solidFill>
                  <a:srgbClr val="273239"/>
                </a:solidFill>
                <a:effectLst/>
                <a:latin typeface="Nunito" pitchFamily="2" charset="0"/>
              </a:rPr>
              <a:t>They can be applied to various designs such as </a:t>
            </a:r>
            <a:r>
              <a:rPr lang="en-US" b="0" i="0" dirty="0">
                <a:solidFill>
                  <a:srgbClr val="FF0000"/>
                </a:solidFill>
                <a:effectLst/>
                <a:latin typeface="Nunito" pitchFamily="2" charset="0"/>
              </a:rPr>
              <a:t>32-bit devices </a:t>
            </a:r>
            <a:r>
              <a:rPr lang="en-US" b="0" i="0" dirty="0">
                <a:solidFill>
                  <a:srgbClr val="273239"/>
                </a:solidFill>
                <a:effectLst/>
                <a:latin typeface="Nunito" pitchFamily="2" charset="0"/>
              </a:rPr>
              <a:t>and embedded systems. They can even be upgraded according to user needs</a:t>
            </a:r>
          </a:p>
          <a:p>
            <a:endParaRPr lang="en-IN" dirty="0"/>
          </a:p>
        </p:txBody>
      </p:sp>
    </p:spTree>
    <p:extLst>
      <p:ext uri="{BB962C8B-B14F-4D97-AF65-F5344CB8AC3E}">
        <p14:creationId xmlns:p14="http://schemas.microsoft.com/office/powerpoint/2010/main" val="39451604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2CE942-BD68-71B4-A8DE-7AE2D96A407B}"/>
              </a:ext>
            </a:extLst>
          </p:cNvPr>
          <p:cNvSpPr>
            <a:spLocks noGrp="1"/>
          </p:cNvSpPr>
          <p:nvPr>
            <p:ph type="title"/>
          </p:nvPr>
        </p:nvSpPr>
        <p:spPr>
          <a:xfrm>
            <a:off x="0" y="103867"/>
            <a:ext cx="10515600" cy="1325563"/>
          </a:xfrm>
        </p:spPr>
        <p:txBody>
          <a:bodyPr/>
          <a:lstStyle/>
          <a:p>
            <a:r>
              <a:rPr lang="en-US" dirty="0"/>
              <a:t>ARM ARCHITECTURE</a:t>
            </a:r>
            <a:endParaRPr lang="en-IN" dirty="0"/>
          </a:p>
        </p:txBody>
      </p:sp>
      <p:pic>
        <p:nvPicPr>
          <p:cNvPr id="5" name="Content Placeholder 4">
            <a:extLst>
              <a:ext uri="{FF2B5EF4-FFF2-40B4-BE49-F238E27FC236}">
                <a16:creationId xmlns:a16="http://schemas.microsoft.com/office/drawing/2014/main" id="{DC88DB0D-254D-46F2-986E-32948825D299}"/>
              </a:ext>
            </a:extLst>
          </p:cNvPr>
          <p:cNvPicPr>
            <a:picLocks noGrp="1" noChangeAspect="1"/>
          </p:cNvPicPr>
          <p:nvPr>
            <p:ph idx="1"/>
          </p:nvPr>
        </p:nvPicPr>
        <p:blipFill>
          <a:blip r:embed="rId2"/>
          <a:stretch>
            <a:fillRect/>
          </a:stretch>
        </p:blipFill>
        <p:spPr>
          <a:xfrm>
            <a:off x="4778638" y="575636"/>
            <a:ext cx="6948386" cy="5997793"/>
          </a:xfrm>
        </p:spPr>
      </p:pic>
      <p:sp>
        <p:nvSpPr>
          <p:cNvPr id="3" name="TextBox 2">
            <a:extLst>
              <a:ext uri="{FF2B5EF4-FFF2-40B4-BE49-F238E27FC236}">
                <a16:creationId xmlns:a16="http://schemas.microsoft.com/office/drawing/2014/main" id="{0219A9B9-955A-0150-BED0-50D224C99B55}"/>
              </a:ext>
            </a:extLst>
          </p:cNvPr>
          <p:cNvSpPr txBox="1"/>
          <p:nvPr/>
        </p:nvSpPr>
        <p:spPr>
          <a:xfrm>
            <a:off x="209309" y="1366897"/>
            <a:ext cx="3986797" cy="1569660"/>
          </a:xfrm>
          <a:prstGeom prst="rect">
            <a:avLst/>
          </a:prstGeom>
          <a:noFill/>
        </p:spPr>
        <p:txBody>
          <a:bodyPr wrap="none" rtlCol="0">
            <a:spAutoFit/>
          </a:bodyPr>
          <a:lstStyle/>
          <a:p>
            <a:pPr marL="457200" indent="-457200">
              <a:buFont typeface="Arial" panose="020B0604020202020204" pitchFamily="34" charset="0"/>
              <a:buChar char="•"/>
            </a:pPr>
            <a:r>
              <a:rPr lang="en-US" sz="3200" dirty="0"/>
              <a:t>Executes operations</a:t>
            </a:r>
          </a:p>
          <a:p>
            <a:pPr marL="457200" indent="-457200">
              <a:buFont typeface="Arial" panose="020B0604020202020204" pitchFamily="34" charset="0"/>
              <a:buChar char="•"/>
            </a:pPr>
            <a:r>
              <a:rPr lang="en-US" sz="3200" dirty="0"/>
              <a:t>Load</a:t>
            </a:r>
          </a:p>
          <a:p>
            <a:pPr marL="457200" indent="-457200">
              <a:buFont typeface="Arial" panose="020B0604020202020204" pitchFamily="34" charset="0"/>
              <a:buChar char="•"/>
            </a:pPr>
            <a:r>
              <a:rPr lang="en-US" sz="3200" dirty="0"/>
              <a:t>Store</a:t>
            </a:r>
          </a:p>
        </p:txBody>
      </p:sp>
    </p:spTree>
    <p:extLst>
      <p:ext uri="{BB962C8B-B14F-4D97-AF65-F5344CB8AC3E}">
        <p14:creationId xmlns:p14="http://schemas.microsoft.com/office/powerpoint/2010/main" val="393432060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3ED3D8-F365-EB3C-DFD8-7CBF43929C79}"/>
              </a:ext>
            </a:extLst>
          </p:cNvPr>
          <p:cNvSpPr>
            <a:spLocks noGrp="1"/>
          </p:cNvSpPr>
          <p:nvPr>
            <p:ph type="title"/>
          </p:nvPr>
        </p:nvSpPr>
        <p:spPr/>
        <p:txBody>
          <a:bodyPr/>
          <a:lstStyle/>
          <a:p>
            <a:r>
              <a:rPr lang="en-US" dirty="0"/>
              <a:t>ARM OPERATIONS</a:t>
            </a:r>
            <a:endParaRPr lang="en-IN" dirty="0"/>
          </a:p>
        </p:txBody>
      </p:sp>
      <p:sp>
        <p:nvSpPr>
          <p:cNvPr id="3" name="Content Placeholder 2">
            <a:extLst>
              <a:ext uri="{FF2B5EF4-FFF2-40B4-BE49-F238E27FC236}">
                <a16:creationId xmlns:a16="http://schemas.microsoft.com/office/drawing/2014/main" id="{0B76030C-8797-658E-7DA4-D6758C95187B}"/>
              </a:ext>
            </a:extLst>
          </p:cNvPr>
          <p:cNvSpPr>
            <a:spLocks noGrp="1"/>
          </p:cNvSpPr>
          <p:nvPr>
            <p:ph idx="1"/>
          </p:nvPr>
        </p:nvSpPr>
        <p:spPr/>
        <p:txBody>
          <a:bodyPr>
            <a:normAutofit fontScale="92500"/>
          </a:bodyPr>
          <a:lstStyle/>
          <a:p>
            <a:pPr algn="l">
              <a:buFont typeface="Arial" panose="020B0604020202020204" pitchFamily="34" charset="0"/>
              <a:buChar char="•"/>
            </a:pPr>
            <a:r>
              <a:rPr lang="en-US" b="0" i="0" dirty="0">
                <a:solidFill>
                  <a:srgbClr val="222222"/>
                </a:solidFill>
                <a:effectLst/>
                <a:latin typeface="Roboto" panose="02000000000000000000" pitchFamily="2" charset="0"/>
              </a:rPr>
              <a:t>Arithmetic Logic Unit</a:t>
            </a:r>
          </a:p>
          <a:p>
            <a:pPr marL="0" indent="0" algn="l">
              <a:buNone/>
            </a:pPr>
            <a:r>
              <a:rPr lang="en-US" b="0" i="0" dirty="0">
                <a:solidFill>
                  <a:srgbClr val="222222"/>
                </a:solidFill>
                <a:effectLst/>
                <a:latin typeface="Roboto" panose="02000000000000000000" pitchFamily="2" charset="0"/>
              </a:rPr>
              <a:t>	all logical operations</a:t>
            </a:r>
          </a:p>
          <a:p>
            <a:pPr algn="l">
              <a:buFont typeface="Arial" panose="020B0604020202020204" pitchFamily="34" charset="0"/>
              <a:buChar char="•"/>
            </a:pPr>
            <a:r>
              <a:rPr lang="en-US" b="0" i="0" dirty="0">
                <a:solidFill>
                  <a:srgbClr val="222222"/>
                </a:solidFill>
                <a:effectLst/>
                <a:latin typeface="Roboto" panose="02000000000000000000" pitchFamily="2" charset="0"/>
              </a:rPr>
              <a:t>MAC</a:t>
            </a:r>
          </a:p>
          <a:p>
            <a:pPr marL="0" indent="0" algn="l">
              <a:buNone/>
            </a:pPr>
            <a:r>
              <a:rPr lang="en-US" b="0" i="0" dirty="0">
                <a:solidFill>
                  <a:srgbClr val="222222"/>
                </a:solidFill>
                <a:effectLst/>
                <a:latin typeface="Roboto" panose="02000000000000000000" pitchFamily="2" charset="0"/>
              </a:rPr>
              <a:t> 	</a:t>
            </a:r>
            <a:r>
              <a:rPr lang="en-US" b="0" i="0" dirty="0" err="1">
                <a:solidFill>
                  <a:srgbClr val="222222"/>
                </a:solidFill>
                <a:effectLst/>
                <a:latin typeface="Roboto" panose="02000000000000000000" pitchFamily="2" charset="0"/>
              </a:rPr>
              <a:t>Multilply</a:t>
            </a:r>
            <a:r>
              <a:rPr lang="en-US" b="0" i="0" dirty="0">
                <a:solidFill>
                  <a:srgbClr val="222222"/>
                </a:solidFill>
                <a:effectLst/>
                <a:latin typeface="Roboto" panose="02000000000000000000" pitchFamily="2" charset="0"/>
              </a:rPr>
              <a:t> and accumulate</a:t>
            </a:r>
          </a:p>
          <a:p>
            <a:pPr algn="l">
              <a:buFont typeface="Arial" panose="020B0604020202020204" pitchFamily="34" charset="0"/>
              <a:buChar char="•"/>
            </a:pPr>
            <a:r>
              <a:rPr lang="en-US" b="0" i="0" dirty="0">
                <a:solidFill>
                  <a:srgbClr val="222222"/>
                </a:solidFill>
                <a:effectLst/>
                <a:latin typeface="Roboto" panose="02000000000000000000" pitchFamily="2" charset="0"/>
              </a:rPr>
              <a:t>Barrel shifter</a:t>
            </a:r>
          </a:p>
          <a:p>
            <a:pPr marL="0" indent="0" algn="l">
              <a:buNone/>
            </a:pPr>
            <a:r>
              <a:rPr lang="en-US" dirty="0">
                <a:solidFill>
                  <a:srgbClr val="222222"/>
                </a:solidFill>
                <a:latin typeface="Roboto" panose="02000000000000000000" pitchFamily="2" charset="0"/>
              </a:rPr>
              <a:t>	</a:t>
            </a:r>
            <a:r>
              <a:rPr lang="en-US" b="0" i="0" dirty="0">
                <a:solidFill>
                  <a:srgbClr val="222222"/>
                </a:solidFill>
                <a:effectLst/>
                <a:latin typeface="Roboto" panose="02000000000000000000" pitchFamily="2" charset="0"/>
              </a:rPr>
              <a:t>This  field indicates the kind  of  shift  to  be  performed  (logical  left  or  right, arithmetic right or rotate right). The quantity by which the register ought to be shifted is contained in an immediate field within the instruction or it might be the lower 6 bits of a register within the register file.</a:t>
            </a:r>
          </a:p>
          <a:p>
            <a:endParaRPr lang="en-IN" dirty="0"/>
          </a:p>
        </p:txBody>
      </p:sp>
    </p:spTree>
    <p:extLst>
      <p:ext uri="{BB962C8B-B14F-4D97-AF65-F5344CB8AC3E}">
        <p14:creationId xmlns:p14="http://schemas.microsoft.com/office/powerpoint/2010/main" val="191526504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9E9A2B-E9EC-3C83-67CA-64D8BC8D278C}"/>
              </a:ext>
            </a:extLst>
          </p:cNvPr>
          <p:cNvSpPr>
            <a:spLocks noGrp="1"/>
          </p:cNvSpPr>
          <p:nvPr>
            <p:ph type="title"/>
          </p:nvPr>
        </p:nvSpPr>
        <p:spPr/>
        <p:txBody>
          <a:bodyPr/>
          <a:lstStyle/>
          <a:p>
            <a:r>
              <a:rPr lang="en-US" dirty="0"/>
              <a:t>Control unit </a:t>
            </a:r>
            <a:endParaRPr lang="en-IN" dirty="0"/>
          </a:p>
        </p:txBody>
      </p:sp>
      <p:sp>
        <p:nvSpPr>
          <p:cNvPr id="3" name="Content Placeholder 2">
            <a:extLst>
              <a:ext uri="{FF2B5EF4-FFF2-40B4-BE49-F238E27FC236}">
                <a16:creationId xmlns:a16="http://schemas.microsoft.com/office/drawing/2014/main" id="{6664CF76-3CF3-F5D8-E7BB-EFD94D85FA96}"/>
              </a:ext>
            </a:extLst>
          </p:cNvPr>
          <p:cNvSpPr>
            <a:spLocks noGrp="1"/>
          </p:cNvSpPr>
          <p:nvPr>
            <p:ph idx="1"/>
          </p:nvPr>
        </p:nvSpPr>
        <p:spPr/>
        <p:txBody>
          <a:bodyPr/>
          <a:lstStyle/>
          <a:p>
            <a:pPr algn="just"/>
            <a:r>
              <a:rPr lang="en-US" b="0" i="0" dirty="0">
                <a:solidFill>
                  <a:srgbClr val="222222"/>
                </a:solidFill>
                <a:effectLst/>
                <a:latin typeface="Roboto" panose="02000000000000000000" pitchFamily="2" charset="0"/>
              </a:rPr>
              <a:t>For any microprocessor, control unit is the heart of the whole process and it is responsible for the system operation, so the control unit design is the most important part within the whole design. The control unit is sometimes a pure combinational circuit design. Here, the control unit is implemented by easy state machine. The processor timing is additionally included within the control unit. Signals from the control unit are connected to each component within the processor to supervise its operation.</a:t>
            </a:r>
            <a:endParaRPr lang="en-IN" dirty="0"/>
          </a:p>
        </p:txBody>
      </p:sp>
    </p:spTree>
    <p:extLst>
      <p:ext uri="{BB962C8B-B14F-4D97-AF65-F5344CB8AC3E}">
        <p14:creationId xmlns:p14="http://schemas.microsoft.com/office/powerpoint/2010/main" val="2046190385"/>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71</TotalTime>
  <Words>478</Words>
  <Application>Microsoft Office PowerPoint</Application>
  <PresentationFormat>Widescreen</PresentationFormat>
  <Paragraphs>38</Paragraphs>
  <Slides>9</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9</vt:i4>
      </vt:variant>
    </vt:vector>
  </HeadingPairs>
  <TitlesOfParts>
    <vt:vector size="15" baseType="lpstr">
      <vt:lpstr>Arial</vt:lpstr>
      <vt:lpstr>Calibri</vt:lpstr>
      <vt:lpstr>Calibri Light</vt:lpstr>
      <vt:lpstr>Nunito</vt:lpstr>
      <vt:lpstr>Roboto</vt:lpstr>
      <vt:lpstr>Office Theme</vt:lpstr>
      <vt:lpstr>ARM PROCESSOR</vt:lpstr>
      <vt:lpstr>8051 VS ARM</vt:lpstr>
      <vt:lpstr>BRIEF OF ARM</vt:lpstr>
      <vt:lpstr>LATEST PIC OF ARM</vt:lpstr>
      <vt:lpstr>PowerPoint Presentation</vt:lpstr>
      <vt:lpstr>FEATURES OF ARM</vt:lpstr>
      <vt:lpstr>ARM ARCHITECTURE</vt:lpstr>
      <vt:lpstr>ARM OPERATIONS</vt:lpstr>
      <vt:lpstr>Control unit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ARM PROCESSOR</dc:title>
  <dc:creator>KOPPERUNDEVI RAJAJI</dc:creator>
  <cp:lastModifiedBy>KOPPERUNDEVI RAJAJI</cp:lastModifiedBy>
  <cp:revision>9</cp:revision>
  <dcterms:created xsi:type="dcterms:W3CDTF">2024-01-10T02:00:03Z</dcterms:created>
  <dcterms:modified xsi:type="dcterms:W3CDTF">2025-01-04T02:46:33Z</dcterms:modified>
</cp:coreProperties>
</file>