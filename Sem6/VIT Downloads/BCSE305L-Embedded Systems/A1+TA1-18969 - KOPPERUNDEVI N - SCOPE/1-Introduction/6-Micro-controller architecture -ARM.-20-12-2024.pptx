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6" r:id="rId9"/>
    <p:sldId id="267" r:id="rId10"/>
    <p:sldId id="268" r:id="rId11"/>
    <p:sldId id="269"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08" autoAdjust="0"/>
    <p:restoredTop sz="94602" autoAdjust="0"/>
  </p:normalViewPr>
  <p:slideViewPr>
    <p:cSldViewPr>
      <p:cViewPr varScale="1">
        <p:scale>
          <a:sx n="72" d="100"/>
          <a:sy n="72" d="100"/>
        </p:scale>
        <p:origin x="134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electronicshub.org/8051-microcontroller-introduction/" TargetMode="External"/><Relationship Id="rId2" Type="http://schemas.openxmlformats.org/officeDocument/2006/relationships/hyperlink" Target="http://microcontrollerslab.com/pic-microcontroller-tutorials-beginner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watelectronics.com/classification-of-embedded-system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PIC MICRO-CONTROLLER</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617552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fontScale="92500" lnSpcReduction="10000"/>
          </a:bodyPr>
          <a:lstStyle/>
          <a:p>
            <a:pPr marL="0" indent="0">
              <a:buNone/>
            </a:pPr>
            <a:r>
              <a:rPr lang="en-US" b="1" dirty="0">
                <a:hlinkClick r:id="rId2"/>
              </a:rPr>
              <a:t>PIC MICROCONTROLLER </a:t>
            </a:r>
            <a:endParaRPr lang="en-US" b="1" dirty="0"/>
          </a:p>
          <a:p>
            <a:pPr algn="just">
              <a:spcAft>
                <a:spcPts val="200"/>
              </a:spcAft>
            </a:pPr>
            <a:r>
              <a:rPr lang="en-US" sz="2400" dirty="0">
                <a:latin typeface="Times New Roman" pitchFamily="18" charset="0"/>
                <a:cs typeface="Times New Roman" pitchFamily="18" charset="0"/>
              </a:rPr>
              <a:t>PIC stands for </a:t>
            </a:r>
            <a:r>
              <a:rPr lang="en-US" sz="2400" b="1" dirty="0">
                <a:solidFill>
                  <a:srgbClr val="FF0000"/>
                </a:solidFill>
                <a:latin typeface="Times New Roman" pitchFamily="18" charset="0"/>
                <a:cs typeface="Times New Roman" pitchFamily="18" charset="0"/>
              </a:rPr>
              <a:t>Peripheral Interface Controller. </a:t>
            </a:r>
          </a:p>
          <a:p>
            <a:pPr algn="just">
              <a:spcAft>
                <a:spcPts val="200"/>
              </a:spcAft>
            </a:pPr>
            <a:r>
              <a:rPr lang="en-US" sz="2400" dirty="0">
                <a:latin typeface="Times New Roman" pitchFamily="18" charset="0"/>
                <a:cs typeface="Times New Roman" pitchFamily="18" charset="0"/>
              </a:rPr>
              <a:t>PIC microcontroller was developed by </a:t>
            </a:r>
            <a:r>
              <a:rPr lang="en-US" sz="2400" dirty="0">
                <a:solidFill>
                  <a:srgbClr val="7030A0"/>
                </a:solidFill>
                <a:latin typeface="Times New Roman" pitchFamily="18" charset="0"/>
                <a:cs typeface="Times New Roman" pitchFamily="18" charset="0"/>
              </a:rPr>
              <a:t>microchip technology in 1993</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It was developed for supporting PDP computers to </a:t>
            </a:r>
            <a:r>
              <a:rPr lang="en-US" sz="2400" dirty="0">
                <a:solidFill>
                  <a:srgbClr val="7030A0"/>
                </a:solidFill>
                <a:latin typeface="Times New Roman" pitchFamily="18" charset="0"/>
                <a:cs typeface="Times New Roman" pitchFamily="18" charset="0"/>
              </a:rPr>
              <a:t>control its peripheral devices </a:t>
            </a:r>
            <a:r>
              <a:rPr lang="en-US" sz="2400" dirty="0">
                <a:latin typeface="Times New Roman" pitchFamily="18" charset="0"/>
                <a:cs typeface="Times New Roman" pitchFamily="18" charset="0"/>
              </a:rPr>
              <a:t>and that’s why it was named Peripheral Interface Controller. </a:t>
            </a:r>
          </a:p>
          <a:p>
            <a:pPr algn="just">
              <a:spcAft>
                <a:spcPts val="200"/>
              </a:spcAft>
            </a:pPr>
            <a:r>
              <a:rPr lang="en-US" sz="2400" dirty="0">
                <a:latin typeface="Times New Roman" pitchFamily="18" charset="0"/>
                <a:cs typeface="Times New Roman" pitchFamily="18" charset="0"/>
              </a:rPr>
              <a:t>PIC microcontrollers are of </a:t>
            </a:r>
            <a:r>
              <a:rPr lang="en-US" sz="2400" dirty="0">
                <a:solidFill>
                  <a:srgbClr val="7030A0"/>
                </a:solidFill>
                <a:latin typeface="Times New Roman" pitchFamily="18" charset="0"/>
                <a:cs typeface="Times New Roman" pitchFamily="18" charset="0"/>
              </a:rPr>
              <a:t>low cost, very fast and easy for the programming and execution of program </a:t>
            </a:r>
            <a:r>
              <a:rPr lang="en-US" sz="2400" dirty="0"/>
              <a:t>when we compare other </a:t>
            </a:r>
            <a:r>
              <a:rPr lang="en-US" sz="2400" dirty="0">
                <a:hlinkClick r:id="rId3"/>
              </a:rPr>
              <a:t>microcontrollers like 8051</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Their </a:t>
            </a:r>
            <a:r>
              <a:rPr lang="en-US" sz="2400" dirty="0">
                <a:solidFill>
                  <a:srgbClr val="7030A0"/>
                </a:solidFill>
                <a:latin typeface="Times New Roman" pitchFamily="18" charset="0"/>
                <a:cs typeface="Times New Roman" pitchFamily="18" charset="0"/>
              </a:rPr>
              <a:t>interfacing with other peripherals is also very easy</a:t>
            </a:r>
            <a:r>
              <a:rPr lang="en-US" sz="2400" dirty="0">
                <a:latin typeface="Times New Roman" pitchFamily="18" charset="0"/>
                <a:cs typeface="Times New Roman" pitchFamily="18" charset="0"/>
              </a:rPr>
              <a:t>. </a:t>
            </a:r>
          </a:p>
          <a:p>
            <a:pPr algn="just">
              <a:spcAft>
                <a:spcPts val="200"/>
              </a:spcAft>
            </a:pPr>
            <a:r>
              <a:rPr lang="en-US" sz="2400" dirty="0">
                <a:latin typeface="Times New Roman" pitchFamily="18" charset="0"/>
                <a:cs typeface="Times New Roman" pitchFamily="18" charset="0"/>
              </a:rPr>
              <a:t>PIC Microcontrollers from Microchip Company are divided into 4 large families.</a:t>
            </a:r>
          </a:p>
          <a:p>
            <a:pPr lvl="2" algn="just">
              <a:spcAft>
                <a:spcPts val="200"/>
              </a:spcAft>
            </a:pPr>
            <a:r>
              <a:rPr lang="en-US" dirty="0">
                <a:latin typeface="Times New Roman" pitchFamily="18" charset="0"/>
                <a:cs typeface="Times New Roman" pitchFamily="18" charset="0"/>
              </a:rPr>
              <a:t>First family:             PIC10 (10FXXX) called Low End</a:t>
            </a:r>
          </a:p>
          <a:p>
            <a:pPr lvl="2" algn="just">
              <a:spcAft>
                <a:spcPts val="200"/>
              </a:spcAft>
            </a:pPr>
            <a:r>
              <a:rPr lang="en-US" dirty="0">
                <a:latin typeface="Times New Roman" pitchFamily="18" charset="0"/>
                <a:cs typeface="Times New Roman" pitchFamily="18" charset="0"/>
              </a:rPr>
              <a:t>Second family: PIC12 (PIC12FXXX) called Mid-Range</a:t>
            </a:r>
          </a:p>
          <a:p>
            <a:pPr lvl="2" algn="just">
              <a:spcAft>
                <a:spcPts val="200"/>
              </a:spcAft>
            </a:pPr>
            <a:r>
              <a:rPr lang="en-US" dirty="0">
                <a:latin typeface="Times New Roman" pitchFamily="18" charset="0"/>
                <a:cs typeface="Times New Roman" pitchFamily="18" charset="0"/>
              </a:rPr>
              <a:t>Third family:             PIC16 (16FXXX)</a:t>
            </a:r>
          </a:p>
          <a:p>
            <a:pPr lvl="2" algn="just">
              <a:spcAft>
                <a:spcPts val="200"/>
              </a:spcAft>
            </a:pPr>
            <a:r>
              <a:rPr lang="en-US" dirty="0">
                <a:latin typeface="Times New Roman" pitchFamily="18" charset="0"/>
                <a:cs typeface="Times New Roman" pitchFamily="18" charset="0"/>
              </a:rPr>
              <a:t>Fourth family: PIC 17/18 (18FXXX)</a:t>
            </a:r>
          </a:p>
        </p:txBody>
      </p:sp>
    </p:spTree>
    <p:extLst>
      <p:ext uri="{BB962C8B-B14F-4D97-AF65-F5344CB8AC3E}">
        <p14:creationId xmlns:p14="http://schemas.microsoft.com/office/powerpoint/2010/main" val="1124681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fontScale="92500"/>
          </a:bodyPr>
          <a:lstStyle/>
          <a:p>
            <a:pPr algn="just">
              <a:spcAft>
                <a:spcPts val="600"/>
              </a:spcAft>
            </a:pPr>
            <a:r>
              <a:rPr lang="en-US" sz="2400" dirty="0">
                <a:latin typeface="Times New Roman" pitchFamily="18" charset="0"/>
                <a:cs typeface="Times New Roman" pitchFamily="18" charset="0"/>
              </a:rPr>
              <a:t>Each family has a </a:t>
            </a:r>
            <a:r>
              <a:rPr lang="en-US" sz="2400" dirty="0">
                <a:solidFill>
                  <a:srgbClr val="7030A0"/>
                </a:solidFill>
                <a:latin typeface="Times New Roman" pitchFamily="18" charset="0"/>
                <a:cs typeface="Times New Roman" pitchFamily="18" charset="0"/>
              </a:rPr>
              <a:t>variety of components along with built in special features</a:t>
            </a:r>
            <a:r>
              <a:rPr lang="en-US" sz="2400" dirty="0">
                <a:latin typeface="Times New Roman" pitchFamily="18" charset="0"/>
                <a:cs typeface="Times New Roman" pitchFamily="18" charset="0"/>
              </a:rPr>
              <a:t>. It offers a </a:t>
            </a:r>
            <a:r>
              <a:rPr lang="en-US" sz="2400" dirty="0">
                <a:solidFill>
                  <a:srgbClr val="FF0000"/>
                </a:solidFill>
                <a:latin typeface="Times New Roman" pitchFamily="18" charset="0"/>
                <a:cs typeface="Times New Roman" pitchFamily="18" charset="0"/>
              </a:rPr>
              <a:t>lot of memory sizes and pin packages </a:t>
            </a:r>
            <a:r>
              <a:rPr lang="en-US" sz="2400" dirty="0">
                <a:latin typeface="Times New Roman" pitchFamily="18" charset="0"/>
                <a:cs typeface="Times New Roman" pitchFamily="18" charset="0"/>
              </a:rPr>
              <a:t>and different clock ratings.</a:t>
            </a:r>
          </a:p>
          <a:p>
            <a:pPr algn="just">
              <a:spcAft>
                <a:spcPts val="600"/>
              </a:spcAft>
            </a:pPr>
            <a:r>
              <a:rPr lang="en-IN" sz="2400" dirty="0">
                <a:latin typeface="Times New Roman" pitchFamily="18" charset="0"/>
                <a:cs typeface="Times New Roman" pitchFamily="18" charset="0"/>
              </a:rPr>
              <a:t>PIC Microcontroller architecture is based on </a:t>
            </a:r>
            <a:r>
              <a:rPr lang="en-IN" sz="2400" dirty="0">
                <a:solidFill>
                  <a:srgbClr val="FF0000"/>
                </a:solidFill>
                <a:latin typeface="Times New Roman" pitchFamily="18" charset="0"/>
                <a:cs typeface="Times New Roman" pitchFamily="18" charset="0"/>
              </a:rPr>
              <a:t>Harvard architecture and supports RISC architecture</a:t>
            </a:r>
            <a:r>
              <a:rPr lang="en-IN" sz="2400" dirty="0">
                <a:latin typeface="Times New Roman" pitchFamily="18" charset="0"/>
                <a:cs typeface="Times New Roman" pitchFamily="18" charset="0"/>
              </a:rPr>
              <a:t> (Reduced Instruction Set Computer). </a:t>
            </a:r>
          </a:p>
          <a:p>
            <a:pPr algn="just">
              <a:spcAft>
                <a:spcPts val="600"/>
              </a:spcAft>
            </a:pPr>
            <a:r>
              <a:rPr lang="en-IN" sz="2400" dirty="0">
                <a:latin typeface="Times New Roman" pitchFamily="18" charset="0"/>
                <a:cs typeface="Times New Roman" pitchFamily="18" charset="0"/>
              </a:rPr>
              <a:t>PIC microcontroller architecture consists of </a:t>
            </a:r>
            <a:r>
              <a:rPr lang="en-IN" sz="2400" dirty="0">
                <a:solidFill>
                  <a:srgbClr val="00B050"/>
                </a:solidFill>
                <a:latin typeface="Times New Roman" pitchFamily="18" charset="0"/>
                <a:cs typeface="Times New Roman" pitchFamily="18" charset="0"/>
              </a:rPr>
              <a:t>memory organization (ram, rom, stack), CPU, timers, counter, ADC, DAC, serial communication, CCP module and I/O ports. </a:t>
            </a:r>
          </a:p>
          <a:p>
            <a:pPr algn="just">
              <a:spcAft>
                <a:spcPts val="600"/>
              </a:spcAft>
            </a:pPr>
            <a:r>
              <a:rPr lang="en-IN" sz="2400" dirty="0">
                <a:latin typeface="Times New Roman" pitchFamily="18" charset="0"/>
                <a:cs typeface="Times New Roman" pitchFamily="18" charset="0"/>
              </a:rPr>
              <a:t>PIC microcontroller also </a:t>
            </a:r>
            <a:r>
              <a:rPr lang="en-IN" sz="2400" dirty="0">
                <a:solidFill>
                  <a:srgbClr val="FF0000"/>
                </a:solidFill>
                <a:latin typeface="Times New Roman" pitchFamily="18" charset="0"/>
                <a:cs typeface="Times New Roman" pitchFamily="18" charset="0"/>
              </a:rPr>
              <a:t>supports the protocols like CAN, SPI, UART for interfacing with other peripherals.</a:t>
            </a:r>
          </a:p>
          <a:p>
            <a:pPr algn="just">
              <a:spcAft>
                <a:spcPts val="600"/>
              </a:spcAft>
            </a:pPr>
            <a:r>
              <a:rPr lang="en-US" sz="2400" dirty="0">
                <a:latin typeface="Times New Roman" pitchFamily="18" charset="0"/>
                <a:cs typeface="Times New Roman" pitchFamily="18" charset="0"/>
              </a:rPr>
              <a:t>PIC (Programmable Interface Controllers) microcontrollers are the </a:t>
            </a:r>
            <a:r>
              <a:rPr lang="en-US" sz="2400" dirty="0">
                <a:solidFill>
                  <a:srgbClr val="FF0000"/>
                </a:solidFill>
                <a:latin typeface="Times New Roman" pitchFamily="18" charset="0"/>
                <a:cs typeface="Times New Roman" pitchFamily="18" charset="0"/>
              </a:rPr>
              <a:t>worlds smallest microcontrollers</a:t>
            </a:r>
            <a:r>
              <a:rPr lang="en-US" sz="2400" dirty="0">
                <a:latin typeface="Times New Roman" pitchFamily="18" charset="0"/>
                <a:cs typeface="Times New Roman" pitchFamily="18" charset="0"/>
              </a:rPr>
              <a:t> that can be programmed to carry out a huge range of tasks. </a:t>
            </a:r>
          </a:p>
          <a:p>
            <a:pPr algn="just">
              <a:spcAft>
                <a:spcPts val="600"/>
              </a:spcAft>
            </a:pPr>
            <a:r>
              <a:rPr lang="en-US" sz="2400" dirty="0">
                <a:latin typeface="Times New Roman" pitchFamily="18" charset="0"/>
                <a:cs typeface="Times New Roman" pitchFamily="18" charset="0"/>
              </a:rPr>
              <a:t>These microcontrollers are found in many electronic devices such as </a:t>
            </a:r>
            <a:r>
              <a:rPr lang="en-US" sz="2400" dirty="0">
                <a:solidFill>
                  <a:srgbClr val="0070C0"/>
                </a:solidFill>
                <a:latin typeface="Times New Roman" pitchFamily="18" charset="0"/>
                <a:cs typeface="Times New Roman" pitchFamily="18" charset="0"/>
              </a:rPr>
              <a:t>phones, computer control systems, alarm systems</a:t>
            </a:r>
            <a:r>
              <a:rPr lang="en-US" sz="2400" dirty="0">
                <a:latin typeface="Times New Roman" pitchFamily="18" charset="0"/>
                <a:cs typeface="Times New Roman" pitchFamily="18" charset="0"/>
              </a:rPr>
              <a:t>, </a:t>
            </a:r>
            <a:r>
              <a:rPr lang="en-US" sz="2400" dirty="0">
                <a:latin typeface="Times New Roman" pitchFamily="18" charset="0"/>
                <a:cs typeface="Times New Roman" pitchFamily="18" charset="0"/>
                <a:hlinkClick r:id="rId2"/>
              </a:rPr>
              <a:t>embedded systems</a:t>
            </a:r>
            <a:r>
              <a:rPr lang="en-US" sz="2400" dirty="0">
                <a:latin typeface="Times New Roman" pitchFamily="18" charset="0"/>
                <a:cs typeface="Times New Roman" pitchFamily="18" charset="0"/>
              </a:rPr>
              <a:t>, etc.</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53969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marL="0" indent="0" algn="ctr">
              <a:buNone/>
            </a:pPr>
            <a:r>
              <a:rPr lang="en-IN" sz="2400" b="1" dirty="0">
                <a:solidFill>
                  <a:srgbClr val="C00000"/>
                </a:solidFill>
              </a:rPr>
              <a:t>PIC MICROCONTROLLER ARCHITECTURE</a:t>
            </a:r>
          </a:p>
          <a:p>
            <a:pPr marL="0" indent="0" algn="ctr">
              <a:buNone/>
            </a:pPr>
            <a:endParaRPr lang="en-IN" sz="2400" dirty="0">
              <a:solidFill>
                <a:srgbClr val="C00000"/>
              </a:solidFill>
            </a:endParaRPr>
          </a:p>
        </p:txBody>
      </p:sp>
      <p:pic>
        <p:nvPicPr>
          <p:cNvPr id="4" name="Picture 4" descr="What is a PIC Microcontroller? Definition, Architecture, Advantgaes and  Disadvantages of PIC Microcontroller - Electronics Desk"/>
          <p:cNvPicPr>
            <a:picLocks noChangeAspect="1" noChangeArrowheads="1"/>
          </p:cNvPicPr>
          <p:nvPr/>
        </p:nvPicPr>
        <p:blipFill rotWithShape="1">
          <a:blip r:embed="rId2">
            <a:extLst>
              <a:ext uri="{28A0092B-C50C-407E-A947-70E740481C1C}">
                <a14:useLocalDpi xmlns:a14="http://schemas.microsoft.com/office/drawing/2010/main" val="0"/>
              </a:ext>
            </a:extLst>
          </a:blip>
          <a:srcRect b="4202"/>
          <a:stretch/>
        </p:blipFill>
        <p:spPr bwMode="auto">
          <a:xfrm>
            <a:off x="381000" y="990599"/>
            <a:ext cx="8229600" cy="5295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6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marL="0" indent="0">
              <a:buNone/>
            </a:pPr>
            <a:r>
              <a:rPr lang="en-US" sz="2400" b="1" dirty="0">
                <a:latin typeface="Times New Roman" pitchFamily="18" charset="0"/>
                <a:cs typeface="Times New Roman" pitchFamily="18" charset="0"/>
              </a:rPr>
              <a:t>CPU: </a:t>
            </a:r>
          </a:p>
          <a:p>
            <a:pPr algn="just">
              <a:spcAft>
                <a:spcPts val="600"/>
              </a:spcAft>
            </a:pPr>
            <a:r>
              <a:rPr lang="en-US" sz="2400" dirty="0">
                <a:latin typeface="Times New Roman" pitchFamily="18" charset="0"/>
                <a:cs typeface="Times New Roman" pitchFamily="18" charset="0"/>
              </a:rPr>
              <a:t>CPU is not different from other microcontrollers CPU. </a:t>
            </a:r>
          </a:p>
          <a:p>
            <a:pPr algn="just">
              <a:spcAft>
                <a:spcPts val="600"/>
              </a:spcAft>
            </a:pPr>
            <a:r>
              <a:rPr lang="en-US" sz="2400" dirty="0">
                <a:latin typeface="Times New Roman" pitchFamily="18" charset="0"/>
                <a:cs typeface="Times New Roman" pitchFamily="18" charset="0"/>
              </a:rPr>
              <a:t>PIC microcontroller CPU consists of </a:t>
            </a:r>
            <a:r>
              <a:rPr lang="en-US" sz="2400" dirty="0">
                <a:solidFill>
                  <a:srgbClr val="FF0000"/>
                </a:solidFill>
                <a:latin typeface="Times New Roman" pitchFamily="18" charset="0"/>
                <a:cs typeface="Times New Roman" pitchFamily="18" charset="0"/>
              </a:rPr>
              <a:t>Arithmetic logic unit (ALU), memory unit (MU), control unit (CU), Accumulator etc</a:t>
            </a:r>
            <a:r>
              <a:rPr lang="en-US" sz="2400" dirty="0">
                <a:latin typeface="Times New Roman" pitchFamily="18" charset="0"/>
                <a:cs typeface="Times New Roman" pitchFamily="18" charset="0"/>
              </a:rPr>
              <a:t>. </a:t>
            </a:r>
          </a:p>
          <a:p>
            <a:pPr algn="just">
              <a:spcAft>
                <a:spcPts val="600"/>
              </a:spcAft>
            </a:pPr>
            <a:r>
              <a:rPr lang="en-US" sz="2400" b="1" dirty="0">
                <a:latin typeface="Times New Roman" pitchFamily="18" charset="0"/>
                <a:cs typeface="Times New Roman" pitchFamily="18" charset="0"/>
              </a:rPr>
              <a:t>ALU</a:t>
            </a:r>
            <a:r>
              <a:rPr lang="en-US" sz="2400" dirty="0">
                <a:latin typeface="Times New Roman" pitchFamily="18" charset="0"/>
                <a:cs typeface="Times New Roman" pitchFamily="18" charset="0"/>
              </a:rPr>
              <a:t> mainly used for arithmetic operations and taking the logical decisions </a:t>
            </a:r>
          </a:p>
          <a:p>
            <a:pPr algn="just">
              <a:spcAft>
                <a:spcPts val="600"/>
              </a:spcAft>
            </a:pPr>
            <a:r>
              <a:rPr lang="en-US" sz="2400" b="1" dirty="0">
                <a:latin typeface="Times New Roman" pitchFamily="18" charset="0"/>
                <a:cs typeface="Times New Roman" pitchFamily="18" charset="0"/>
              </a:rPr>
              <a:t>memory </a:t>
            </a:r>
            <a:r>
              <a:rPr lang="en-US" sz="2400" dirty="0">
                <a:latin typeface="Times New Roman" pitchFamily="18" charset="0"/>
                <a:cs typeface="Times New Roman" pitchFamily="18" charset="0"/>
              </a:rPr>
              <a:t>used for </a:t>
            </a:r>
            <a:r>
              <a:rPr lang="en-US" sz="2400" dirty="0">
                <a:solidFill>
                  <a:srgbClr val="7030A0"/>
                </a:solidFill>
                <a:latin typeface="Times New Roman" pitchFamily="18" charset="0"/>
                <a:cs typeface="Times New Roman" pitchFamily="18" charset="0"/>
              </a:rPr>
              <a:t>storing the instruction which is to processed and also storing the instructions after processing</a:t>
            </a:r>
          </a:p>
          <a:p>
            <a:pPr algn="just">
              <a:spcAft>
                <a:spcPts val="600"/>
              </a:spcAft>
            </a:pPr>
            <a:r>
              <a:rPr lang="en-US" sz="2400" b="1" dirty="0">
                <a:latin typeface="Times New Roman" pitchFamily="18" charset="0"/>
                <a:cs typeface="Times New Roman" pitchFamily="18" charset="0"/>
              </a:rPr>
              <a:t>Control unit </a:t>
            </a:r>
            <a:r>
              <a:rPr lang="en-US" sz="2400" dirty="0">
                <a:latin typeface="Times New Roman" pitchFamily="18" charset="0"/>
                <a:cs typeface="Times New Roman" pitchFamily="18" charset="0"/>
              </a:rPr>
              <a:t>is used for </a:t>
            </a:r>
            <a:r>
              <a:rPr lang="en-US" sz="2400" dirty="0">
                <a:solidFill>
                  <a:srgbClr val="7030A0"/>
                </a:solidFill>
                <a:latin typeface="Times New Roman" pitchFamily="18" charset="0"/>
                <a:cs typeface="Times New Roman" pitchFamily="18" charset="0"/>
              </a:rPr>
              <a:t>controlling the all the peripherals which are connected to the CPU </a:t>
            </a:r>
            <a:r>
              <a:rPr lang="en-US" sz="2400" dirty="0">
                <a:latin typeface="Times New Roman" pitchFamily="18" charset="0"/>
                <a:cs typeface="Times New Roman" pitchFamily="18" charset="0"/>
              </a:rPr>
              <a:t>both internal peripherals and external peripherals. </a:t>
            </a:r>
          </a:p>
          <a:p>
            <a:pPr algn="just">
              <a:spcAft>
                <a:spcPts val="600"/>
              </a:spcAft>
            </a:pPr>
            <a:r>
              <a:rPr lang="en-US" sz="2400" b="1" dirty="0">
                <a:latin typeface="Times New Roman" pitchFamily="18" charset="0"/>
                <a:cs typeface="Times New Roman" pitchFamily="18" charset="0"/>
              </a:rPr>
              <a:t>Accumulator</a:t>
            </a:r>
            <a:r>
              <a:rPr lang="en-US" sz="2400" dirty="0">
                <a:latin typeface="Times New Roman" pitchFamily="18" charset="0"/>
                <a:cs typeface="Times New Roman" pitchFamily="18" charset="0"/>
              </a:rPr>
              <a:t> is used for </a:t>
            </a:r>
            <a:r>
              <a:rPr lang="en-US" sz="2400" dirty="0">
                <a:solidFill>
                  <a:srgbClr val="7030A0"/>
                </a:solidFill>
                <a:latin typeface="Times New Roman" pitchFamily="18" charset="0"/>
                <a:cs typeface="Times New Roman" pitchFamily="18" charset="0"/>
              </a:rPr>
              <a:t>storing the results and used for further processing. </a:t>
            </a:r>
            <a:endParaRPr lang="en-IN" sz="2400" dirty="0">
              <a:solidFill>
                <a:srgbClr val="7030A0"/>
              </a:solidFill>
              <a:latin typeface="Times New Roman" pitchFamily="18" charset="0"/>
              <a:cs typeface="Times New Roman" pitchFamily="18" charset="0"/>
            </a:endParaRPr>
          </a:p>
        </p:txBody>
      </p:sp>
    </p:spTree>
    <p:extLst>
      <p:ext uri="{BB962C8B-B14F-4D97-AF65-F5344CB8AC3E}">
        <p14:creationId xmlns:p14="http://schemas.microsoft.com/office/powerpoint/2010/main" val="153969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algn="just"/>
            <a:r>
              <a:rPr lang="en-US" sz="2400" dirty="0">
                <a:latin typeface="Times New Roman" pitchFamily="18" charset="0"/>
                <a:cs typeface="Times New Roman" pitchFamily="18" charset="0"/>
              </a:rPr>
              <a:t>PIC micro controller supports the RISC architecture that is reduced instruction set computer</a:t>
            </a:r>
          </a:p>
          <a:p>
            <a:pPr lvl="1" algn="just" fontAlgn="base"/>
            <a:r>
              <a:rPr lang="en-US" sz="2200" dirty="0">
                <a:latin typeface="Times New Roman" pitchFamily="18" charset="0"/>
                <a:cs typeface="Times New Roman" pitchFamily="18" charset="0"/>
              </a:rPr>
              <a:t>RISC has </a:t>
            </a:r>
            <a:r>
              <a:rPr lang="en-US" sz="2200" dirty="0">
                <a:solidFill>
                  <a:srgbClr val="7030A0"/>
                </a:solidFill>
                <a:latin typeface="Times New Roman" pitchFamily="18" charset="0"/>
                <a:cs typeface="Times New Roman" pitchFamily="18" charset="0"/>
              </a:rPr>
              <a:t>very few instructions </a:t>
            </a:r>
            <a:r>
              <a:rPr lang="en-US" sz="2200" dirty="0">
                <a:latin typeface="Times New Roman" pitchFamily="18" charset="0"/>
                <a:cs typeface="Times New Roman" pitchFamily="18" charset="0"/>
              </a:rPr>
              <a:t>(approx. ~ 35) which are used in the program.</a:t>
            </a:r>
          </a:p>
          <a:p>
            <a:pPr lvl="1" algn="just" fontAlgn="base"/>
            <a:r>
              <a:rPr lang="en-US" sz="2200" dirty="0">
                <a:solidFill>
                  <a:srgbClr val="7030A0"/>
                </a:solidFill>
                <a:latin typeface="Times New Roman" pitchFamily="18" charset="0"/>
                <a:cs typeface="Times New Roman" pitchFamily="18" charset="0"/>
              </a:rPr>
              <a:t>Length of the instruction is small </a:t>
            </a:r>
            <a:r>
              <a:rPr lang="en-US" sz="2200" dirty="0">
                <a:latin typeface="Times New Roman" pitchFamily="18" charset="0"/>
                <a:cs typeface="Times New Roman" pitchFamily="18" charset="0"/>
              </a:rPr>
              <a:t>and fixed and takes same amount of time for processing.</a:t>
            </a:r>
          </a:p>
          <a:p>
            <a:pPr lvl="1" algn="just" fontAlgn="base"/>
            <a:r>
              <a:rPr lang="en-US" sz="2200" dirty="0">
                <a:latin typeface="Times New Roman" pitchFamily="18" charset="0"/>
                <a:cs typeface="Times New Roman" pitchFamily="18" charset="0"/>
              </a:rPr>
              <a:t>As the instruction is small</a:t>
            </a:r>
            <a:r>
              <a:rPr lang="en-US" sz="2200" dirty="0">
                <a:solidFill>
                  <a:srgbClr val="7030A0"/>
                </a:solidFill>
                <a:latin typeface="Times New Roman" pitchFamily="18" charset="0"/>
                <a:cs typeface="Times New Roman" pitchFamily="18" charset="0"/>
              </a:rPr>
              <a:t> it will take less time to process </a:t>
            </a:r>
            <a:r>
              <a:rPr lang="en-US" sz="2200" dirty="0">
                <a:latin typeface="Times New Roman" pitchFamily="18" charset="0"/>
                <a:cs typeface="Times New Roman" pitchFamily="18" charset="0"/>
              </a:rPr>
              <a:t>another words CPU will be fast.</a:t>
            </a:r>
          </a:p>
          <a:p>
            <a:pPr lvl="1" algn="just" fontAlgn="base"/>
            <a:r>
              <a:rPr lang="en-US" sz="2200" dirty="0">
                <a:latin typeface="Times New Roman" pitchFamily="18" charset="0"/>
                <a:cs typeface="Times New Roman" pitchFamily="18" charset="0"/>
              </a:rPr>
              <a:t>Compiler need not be complex and debugging will be very easy in the programmer point of view.</a:t>
            </a:r>
          </a:p>
          <a:p>
            <a:pPr marL="0" indent="0" algn="just" fontAlgn="base">
              <a:buNone/>
            </a:pPr>
            <a:endParaRPr lang="en-US" dirty="0">
              <a:latin typeface="Times New Roman" pitchFamily="18" charset="0"/>
              <a:cs typeface="Times New Roman" pitchFamily="18" charset="0"/>
            </a:endParaRPr>
          </a:p>
          <a:p>
            <a:pPr marL="0" indent="0" algn="just" fontAlgn="base">
              <a:buNone/>
            </a:pPr>
            <a:r>
              <a:rPr lang="en-US" sz="2800" b="1" dirty="0"/>
              <a:t>Memory: </a:t>
            </a:r>
          </a:p>
          <a:p>
            <a:pPr algn="just" fontAlgn="base"/>
            <a:r>
              <a:rPr lang="en-US" sz="2400" dirty="0"/>
              <a:t>Memory module in the PIC consists of RAM, ROM and STACK</a:t>
            </a:r>
            <a:endParaRPr lang="en-IN" sz="2400" dirty="0"/>
          </a:p>
        </p:txBody>
      </p:sp>
    </p:spTree>
    <p:extLst>
      <p:ext uri="{BB962C8B-B14F-4D97-AF65-F5344CB8AC3E}">
        <p14:creationId xmlns:p14="http://schemas.microsoft.com/office/powerpoint/2010/main" val="153969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324600"/>
          </a:xfrm>
        </p:spPr>
        <p:txBody>
          <a:bodyPr>
            <a:normAutofit/>
          </a:bodyPr>
          <a:lstStyle/>
          <a:p>
            <a:pPr algn="just">
              <a:lnSpc>
                <a:spcPct val="120000"/>
              </a:lnSpc>
            </a:pPr>
            <a:r>
              <a:rPr lang="en-US" sz="2200" b="1" dirty="0">
                <a:latin typeface="Times New Roman" pitchFamily="18" charset="0"/>
                <a:cs typeface="Times New Roman" pitchFamily="18" charset="0"/>
              </a:rPr>
              <a:t>RAM:</a:t>
            </a:r>
            <a:r>
              <a:rPr lang="en-US" sz="2200" dirty="0">
                <a:latin typeface="Times New Roman" pitchFamily="18" charset="0"/>
                <a:cs typeface="Times New Roman" pitchFamily="18" charset="0"/>
              </a:rPr>
              <a:t> RAM (Random Access Memory)  is a volatile memory used for storing the data temporarily in its registers. </a:t>
            </a:r>
            <a:r>
              <a:rPr lang="en-US" sz="2200" dirty="0">
                <a:solidFill>
                  <a:srgbClr val="7030A0"/>
                </a:solidFill>
                <a:latin typeface="Times New Roman" pitchFamily="18" charset="0"/>
                <a:cs typeface="Times New Roman" pitchFamily="18" charset="0"/>
              </a:rPr>
              <a:t>RAM memory is divided in to Banks, in each banks we have number of registers</a:t>
            </a:r>
            <a:r>
              <a:rPr lang="en-US" sz="2200" dirty="0">
                <a:latin typeface="Times New Roman" pitchFamily="18" charset="0"/>
                <a:cs typeface="Times New Roman" pitchFamily="18" charset="0"/>
              </a:rPr>
              <a:t>. The RAM registers is divided into 2 types. They are </a:t>
            </a:r>
          </a:p>
          <a:p>
            <a:pPr lvl="2" algn="just">
              <a:lnSpc>
                <a:spcPct val="120000"/>
              </a:lnSpc>
            </a:pPr>
            <a:r>
              <a:rPr lang="en-US" sz="2200" dirty="0">
                <a:latin typeface="Times New Roman" pitchFamily="18" charset="0"/>
                <a:cs typeface="Times New Roman" pitchFamily="18" charset="0"/>
              </a:rPr>
              <a:t>General purpose registers (GPR) </a:t>
            </a:r>
          </a:p>
          <a:p>
            <a:pPr lvl="2" algn="just">
              <a:lnSpc>
                <a:spcPct val="120000"/>
              </a:lnSpc>
            </a:pPr>
            <a:r>
              <a:rPr lang="en-US" sz="2200" dirty="0">
                <a:latin typeface="Times New Roman" pitchFamily="18" charset="0"/>
                <a:cs typeface="Times New Roman" pitchFamily="18" charset="0"/>
              </a:rPr>
              <a:t>Special purpose registers (SPR).</a:t>
            </a:r>
          </a:p>
          <a:p>
            <a:pPr lvl="2" algn="just">
              <a:lnSpc>
                <a:spcPct val="120000"/>
              </a:lnSpc>
            </a:pPr>
            <a:endParaRPr lang="en-US" sz="2200" dirty="0">
              <a:latin typeface="Times New Roman" pitchFamily="18" charset="0"/>
              <a:cs typeface="Times New Roman" pitchFamily="18" charset="0"/>
            </a:endParaRPr>
          </a:p>
          <a:p>
            <a:pPr algn="just" fontAlgn="base">
              <a:lnSpc>
                <a:spcPct val="120000"/>
              </a:lnSpc>
            </a:pPr>
            <a:r>
              <a:rPr lang="en-US" sz="2200" b="1" dirty="0">
                <a:latin typeface="Times New Roman" pitchFamily="18" charset="0"/>
                <a:cs typeface="Times New Roman" pitchFamily="18" charset="0"/>
              </a:rPr>
              <a:t>GPR:</a:t>
            </a:r>
            <a:r>
              <a:rPr lang="en-US" sz="2200" dirty="0">
                <a:latin typeface="Times New Roman" pitchFamily="18" charset="0"/>
                <a:cs typeface="Times New Roman" pitchFamily="18" charset="0"/>
              </a:rPr>
              <a:t> general purpose registers as the name implies for general usage. For example </a:t>
            </a:r>
            <a:r>
              <a:rPr lang="en-US" sz="2200" dirty="0">
                <a:solidFill>
                  <a:srgbClr val="7030A0"/>
                </a:solidFill>
                <a:latin typeface="Times New Roman" pitchFamily="18" charset="0"/>
                <a:cs typeface="Times New Roman" pitchFamily="18" charset="0"/>
              </a:rPr>
              <a:t>if we want to multiply any two numbers using PIC we generally take two registers for storing the numbers and multiply the two numbers and store the result in other registers</a:t>
            </a:r>
            <a:r>
              <a:rPr lang="en-US" sz="2200" dirty="0">
                <a:latin typeface="Times New Roman" pitchFamily="18" charset="0"/>
                <a:cs typeface="Times New Roman" pitchFamily="18" charset="0"/>
              </a:rPr>
              <a:t>. So general purpose registers will not have any special function or any special permission, CPU can easily access the data in the registers.</a:t>
            </a:r>
          </a:p>
          <a:p>
            <a:endParaRPr lang="en-IN" dirty="0"/>
          </a:p>
        </p:txBody>
      </p:sp>
    </p:spTree>
    <p:extLst>
      <p:ext uri="{BB962C8B-B14F-4D97-AF65-F5344CB8AC3E}">
        <p14:creationId xmlns:p14="http://schemas.microsoft.com/office/powerpoint/2010/main" val="153969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lstStyle/>
          <a:p>
            <a:pPr algn="just"/>
            <a:r>
              <a:rPr lang="en-US" sz="2400" b="1" dirty="0">
                <a:latin typeface="Times New Roman" pitchFamily="18" charset="0"/>
                <a:cs typeface="Times New Roman" pitchFamily="18" charset="0"/>
              </a:rPr>
              <a:t>SPR:</a:t>
            </a:r>
            <a:r>
              <a:rPr lang="en-US" sz="2400" dirty="0">
                <a:latin typeface="Times New Roman" pitchFamily="18" charset="0"/>
                <a:cs typeface="Times New Roman" pitchFamily="18" charset="0"/>
              </a:rPr>
              <a:t> Special function registers are having the specific functions, </a:t>
            </a:r>
            <a:r>
              <a:rPr lang="en-US" sz="2400" dirty="0">
                <a:solidFill>
                  <a:srgbClr val="7030A0"/>
                </a:solidFill>
                <a:latin typeface="Times New Roman" pitchFamily="18" charset="0"/>
                <a:cs typeface="Times New Roman" pitchFamily="18" charset="0"/>
              </a:rPr>
              <a:t>when we use this register they will act according to the functions assigned to them</a:t>
            </a:r>
            <a:r>
              <a:rPr lang="en-US" sz="2400" dirty="0">
                <a:latin typeface="Times New Roman" pitchFamily="18" charset="0"/>
                <a:cs typeface="Times New Roman" pitchFamily="18" charset="0"/>
              </a:rPr>
              <a:t>. </a:t>
            </a:r>
            <a:r>
              <a:rPr lang="en-US" sz="2400" dirty="0">
                <a:solidFill>
                  <a:srgbClr val="0070C0"/>
                </a:solidFill>
                <a:latin typeface="Times New Roman" pitchFamily="18" charset="0"/>
                <a:cs typeface="Times New Roman" pitchFamily="18" charset="0"/>
              </a:rPr>
              <a:t>They cannot be used like normal registers</a:t>
            </a:r>
            <a:r>
              <a:rPr lang="en-US" sz="2400" dirty="0">
                <a:latin typeface="Times New Roman" pitchFamily="18" charset="0"/>
                <a:cs typeface="Times New Roman" pitchFamily="18" charset="0"/>
              </a:rPr>
              <a:t>. For example you cannot use STATUS register for storing the data, </a:t>
            </a:r>
            <a:r>
              <a:rPr lang="en-US" sz="2400" dirty="0">
                <a:solidFill>
                  <a:srgbClr val="7030A0"/>
                </a:solidFill>
                <a:latin typeface="Times New Roman" pitchFamily="18" charset="0"/>
                <a:cs typeface="Times New Roman" pitchFamily="18" charset="0"/>
              </a:rPr>
              <a:t>STATUS registers are used for showing the status of the program or operation.</a:t>
            </a:r>
            <a:r>
              <a:rPr lang="en-US" sz="2400" dirty="0">
                <a:latin typeface="Times New Roman" pitchFamily="18" charset="0"/>
                <a:cs typeface="Times New Roman" pitchFamily="18" charset="0"/>
              </a:rPr>
              <a:t> </a:t>
            </a:r>
            <a:r>
              <a:rPr lang="en-US" sz="2400" dirty="0">
                <a:solidFill>
                  <a:srgbClr val="FF0000"/>
                </a:solidFill>
                <a:latin typeface="Times New Roman" pitchFamily="18" charset="0"/>
                <a:cs typeface="Times New Roman" pitchFamily="18" charset="0"/>
              </a:rPr>
              <a:t>User cannot change the function of the Special function register;</a:t>
            </a:r>
            <a:r>
              <a:rPr lang="en-US" sz="2400" dirty="0">
                <a:latin typeface="Times New Roman" pitchFamily="18" charset="0"/>
                <a:cs typeface="Times New Roman" pitchFamily="18" charset="0"/>
              </a:rPr>
              <a:t> </a:t>
            </a:r>
            <a:r>
              <a:rPr lang="en-US" sz="2400" dirty="0">
                <a:solidFill>
                  <a:srgbClr val="00B050"/>
                </a:solidFill>
                <a:latin typeface="Times New Roman" pitchFamily="18" charset="0"/>
                <a:cs typeface="Times New Roman" pitchFamily="18" charset="0"/>
              </a:rPr>
              <a:t>the function is given by the vendor at the manufacturing time.</a:t>
            </a:r>
          </a:p>
          <a:p>
            <a:endParaRPr lang="en-IN" dirty="0"/>
          </a:p>
        </p:txBody>
      </p:sp>
    </p:spTree>
    <p:extLst>
      <p:ext uri="{BB962C8B-B14F-4D97-AF65-F5344CB8AC3E}">
        <p14:creationId xmlns:p14="http://schemas.microsoft.com/office/powerpoint/2010/main" val="2618375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Autofit/>
          </a:bodyPr>
          <a:lstStyle/>
          <a:p>
            <a:pPr algn="just"/>
            <a:r>
              <a:rPr lang="en-US" sz="2200" b="1" dirty="0">
                <a:latin typeface="Times New Roman" pitchFamily="18" charset="0"/>
                <a:cs typeface="Times New Roman" pitchFamily="18" charset="0"/>
              </a:rPr>
              <a:t>ROM:</a:t>
            </a:r>
            <a:r>
              <a:rPr lang="en-US" sz="2200" dirty="0">
                <a:latin typeface="Times New Roman" pitchFamily="18" charset="0"/>
                <a:cs typeface="Times New Roman" pitchFamily="18" charset="0"/>
              </a:rPr>
              <a:t> we know that ROM (Read Only memory) is a non volatile memory used for storing the data permanently. In microcontroller ROM will store the complete instructions or program, according the program microcontroller will act. Rom is also called program memory in this memory user will write the program for microcontroller and save it permanently and get executed by the CPU. According to the instruction executed by the CPU the PIC microcontroller will perform the task. In ROM there are different types which are used in different PIC microcontrollers.</a:t>
            </a:r>
          </a:p>
          <a:p>
            <a:pPr lvl="1" algn="just" fontAlgn="base"/>
            <a:r>
              <a:rPr lang="en-US" sz="2200" b="1" dirty="0">
                <a:latin typeface="Times New Roman" pitchFamily="18" charset="0"/>
                <a:cs typeface="Times New Roman" pitchFamily="18" charset="0"/>
              </a:rPr>
              <a:t>EEPROM:</a:t>
            </a:r>
            <a:r>
              <a:rPr lang="en-US" sz="2200" dirty="0">
                <a:latin typeface="Times New Roman" pitchFamily="18" charset="0"/>
                <a:cs typeface="Times New Roman" pitchFamily="18" charset="0"/>
              </a:rPr>
              <a:t> In the normal ROM we can write the program for only one time we cannot reuse the Microcontroller for another time where as in the EEPROM (Electrically Erasable Programmable Read Only Memory) we can program the ROM for number of times.</a:t>
            </a:r>
          </a:p>
          <a:p>
            <a:pPr lvl="1" algn="just" fontAlgn="base"/>
            <a:r>
              <a:rPr lang="en-US" sz="2200" b="1" dirty="0">
                <a:latin typeface="Times New Roman" pitchFamily="18" charset="0"/>
                <a:cs typeface="Times New Roman" pitchFamily="18" charset="0"/>
              </a:rPr>
              <a:t>Flash Memory:</a:t>
            </a:r>
            <a:r>
              <a:rPr lang="en-US" sz="2200" dirty="0">
                <a:latin typeface="Times New Roman" pitchFamily="18" charset="0"/>
                <a:cs typeface="Times New Roman" pitchFamily="18" charset="0"/>
              </a:rPr>
              <a:t> flash memory is also PROM in which we can read write and erase the program more than 10,000 times. Mostly PIC microcontroller uses this type of ROM.</a:t>
            </a:r>
          </a:p>
          <a:p>
            <a:pPr marL="0" indent="0" algn="just">
              <a:buNone/>
            </a:pP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1837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a:bodyPr>
          <a:lstStyle/>
          <a:p>
            <a:pPr algn="just"/>
            <a:r>
              <a:rPr lang="en-US" sz="2200" b="1" dirty="0">
                <a:latin typeface="Times New Roman" pitchFamily="18" charset="0"/>
                <a:cs typeface="Times New Roman" pitchFamily="18" charset="0"/>
              </a:rPr>
              <a:t>Stac</a:t>
            </a:r>
            <a:r>
              <a:rPr lang="en-US" sz="2400" b="1" dirty="0">
                <a:latin typeface="Times New Roman" pitchFamily="18" charset="0"/>
                <a:cs typeface="Times New Roman" pitchFamily="18" charset="0"/>
              </a:rPr>
              <a:t>k:</a:t>
            </a:r>
            <a:r>
              <a:rPr lang="en-US" sz="2400" dirty="0">
                <a:latin typeface="Times New Roman" pitchFamily="18" charset="0"/>
                <a:cs typeface="Times New Roman" pitchFamily="18" charset="0"/>
              </a:rPr>
              <a:t> when an interrupt occur PIC has to first execute the interrupt and the existing process address which is being executed is stored in the stack. After completing the interrupt execution, PIC will call the process with the help of address which is stored in stack and get executing the process.</a:t>
            </a:r>
          </a:p>
          <a:p>
            <a:pPr algn="just"/>
            <a:endParaRPr lang="en-US" sz="2400" b="1" dirty="0">
              <a:latin typeface="Times New Roman" pitchFamily="18" charset="0"/>
              <a:cs typeface="Times New Roman" pitchFamily="18" charset="0"/>
            </a:endParaRPr>
          </a:p>
          <a:p>
            <a:pPr algn="just"/>
            <a:r>
              <a:rPr lang="en-US" sz="2400" b="1" dirty="0">
                <a:latin typeface="Times New Roman" pitchFamily="18" charset="0"/>
                <a:cs typeface="Times New Roman" pitchFamily="18" charset="0"/>
              </a:rPr>
              <a:t>Bus: </a:t>
            </a:r>
            <a:r>
              <a:rPr lang="en-US" sz="2400" dirty="0">
                <a:latin typeface="Times New Roman" pitchFamily="18" charset="0"/>
                <a:cs typeface="Times New Roman" pitchFamily="18" charset="0"/>
              </a:rPr>
              <a:t>Bus is mainly used for transferring and receiving the data from one peripheral to another. There are two types of buses.</a:t>
            </a:r>
          </a:p>
          <a:p>
            <a:pPr lvl="1" algn="just" fontAlgn="base"/>
            <a:r>
              <a:rPr lang="en-US" sz="2400" dirty="0">
                <a:latin typeface="Times New Roman" pitchFamily="18" charset="0"/>
                <a:cs typeface="Times New Roman" pitchFamily="18" charset="0"/>
              </a:rPr>
              <a:t>Data Bus: It is used to transfer/receive only the data.</a:t>
            </a:r>
          </a:p>
          <a:p>
            <a:pPr lvl="1" algn="just" fontAlgn="base"/>
            <a:r>
              <a:rPr lang="en-US" sz="2400" dirty="0">
                <a:latin typeface="Times New Roman" pitchFamily="18" charset="0"/>
                <a:cs typeface="Times New Roman" pitchFamily="18" charset="0"/>
              </a:rPr>
              <a:t>Address Bus: is used to transmit the memory address from peripherals to CPU.</a:t>
            </a:r>
          </a:p>
          <a:p>
            <a:pPr lvl="1" algn="just"/>
            <a:r>
              <a:rPr lang="en-US" sz="2400" dirty="0">
                <a:latin typeface="Times New Roman" pitchFamily="18" charset="0"/>
                <a:cs typeface="Times New Roman" pitchFamily="18" charset="0"/>
              </a:rPr>
              <a:t>I/O pins are used for interfacing the external peripherals, UART and USART is serial communication protocol which is used for interfacing serial devices like GPS, GSM, IR, Bluetooth </a:t>
            </a:r>
            <a:r>
              <a:rPr lang="en-US" sz="1800" dirty="0">
                <a:latin typeface="Times New Roman" pitchFamily="18" charset="0"/>
                <a:cs typeface="Times New Roman" pitchFamily="18" charset="0"/>
              </a:rPr>
              <a:t>etc.</a:t>
            </a:r>
          </a:p>
          <a:p>
            <a:pPr algn="just"/>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2618375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lnSpcReduction="10000"/>
          </a:bodyPr>
          <a:lstStyle/>
          <a:p>
            <a:pPr marL="0" indent="0">
              <a:buNone/>
            </a:pPr>
            <a:r>
              <a:rPr lang="en-US" b="1" dirty="0">
                <a:latin typeface="Times New Roman" pitchFamily="18" charset="0"/>
                <a:cs typeface="Times New Roman" pitchFamily="18" charset="0"/>
              </a:rPr>
              <a:t>Advantages of PIC Microcontroller:</a:t>
            </a:r>
          </a:p>
          <a:p>
            <a:pPr algn="just" fontAlgn="base"/>
            <a:r>
              <a:rPr lang="en-US" sz="2600" dirty="0">
                <a:latin typeface="Times New Roman" pitchFamily="18" charset="0"/>
                <a:cs typeface="Times New Roman" pitchFamily="18" charset="0"/>
              </a:rPr>
              <a:t>They are </a:t>
            </a:r>
            <a:r>
              <a:rPr lang="en-US" sz="2600" dirty="0">
                <a:solidFill>
                  <a:srgbClr val="FF0000"/>
                </a:solidFill>
                <a:latin typeface="Times New Roman" pitchFamily="18" charset="0"/>
                <a:cs typeface="Times New Roman" pitchFamily="18" charset="0"/>
              </a:rPr>
              <a:t>reliable </a:t>
            </a:r>
            <a:r>
              <a:rPr lang="en-US" sz="2600" dirty="0">
                <a:latin typeface="Times New Roman" pitchFamily="18" charset="0"/>
                <a:cs typeface="Times New Roman" pitchFamily="18" charset="0"/>
              </a:rPr>
              <a:t>and </a:t>
            </a:r>
            <a:r>
              <a:rPr lang="en-US" sz="2600" dirty="0">
                <a:solidFill>
                  <a:srgbClr val="FF0000"/>
                </a:solidFill>
                <a:latin typeface="Times New Roman" pitchFamily="18" charset="0"/>
                <a:cs typeface="Times New Roman" pitchFamily="18" charset="0"/>
              </a:rPr>
              <a:t>malfunctioning</a:t>
            </a:r>
            <a:r>
              <a:rPr lang="en-US" sz="2600" dirty="0">
                <a:latin typeface="Times New Roman" pitchFamily="18" charset="0"/>
                <a:cs typeface="Times New Roman" pitchFamily="18" charset="0"/>
              </a:rPr>
              <a:t> of PIC percentage is very</a:t>
            </a:r>
            <a:r>
              <a:rPr lang="en-US" sz="2600" dirty="0">
                <a:solidFill>
                  <a:srgbClr val="FF0000"/>
                </a:solidFill>
                <a:latin typeface="Times New Roman" pitchFamily="18" charset="0"/>
                <a:cs typeface="Times New Roman" pitchFamily="18" charset="0"/>
              </a:rPr>
              <a:t> less</a:t>
            </a:r>
            <a:r>
              <a:rPr lang="en-US" sz="2600" dirty="0">
                <a:latin typeface="Times New Roman" pitchFamily="18" charset="0"/>
                <a:cs typeface="Times New Roman" pitchFamily="18" charset="0"/>
              </a:rPr>
              <a:t>. And performance of the PIC is very fast because of using RISC architecture.</a:t>
            </a:r>
          </a:p>
          <a:p>
            <a:pPr algn="just" fontAlgn="base"/>
            <a:r>
              <a:rPr lang="en-US" sz="2600" dirty="0">
                <a:solidFill>
                  <a:srgbClr val="FF0000"/>
                </a:solidFill>
                <a:latin typeface="Times New Roman" pitchFamily="18" charset="0"/>
                <a:cs typeface="Times New Roman" pitchFamily="18" charset="0"/>
              </a:rPr>
              <a:t>Power conception is also very less</a:t>
            </a:r>
            <a:r>
              <a:rPr lang="en-US" sz="2600" dirty="0">
                <a:latin typeface="Times New Roman" pitchFamily="18" charset="0"/>
                <a:cs typeface="Times New Roman" pitchFamily="18" charset="0"/>
              </a:rPr>
              <a:t> when compared to other micro controllers. When we see in the programmer point of view </a:t>
            </a:r>
            <a:r>
              <a:rPr lang="en-US" sz="2600" dirty="0">
                <a:solidFill>
                  <a:srgbClr val="FF0000"/>
                </a:solidFill>
                <a:latin typeface="Times New Roman" pitchFamily="18" charset="0"/>
                <a:cs typeface="Times New Roman" pitchFamily="18" charset="0"/>
              </a:rPr>
              <a:t>interfacing is very easy</a:t>
            </a:r>
            <a:r>
              <a:rPr lang="en-US" sz="2600" dirty="0">
                <a:latin typeface="Times New Roman" pitchFamily="18" charset="0"/>
                <a:cs typeface="Times New Roman" pitchFamily="18" charset="0"/>
              </a:rPr>
              <a:t>, also we can connect analog devices directly with out any extra circuitry and use them. </a:t>
            </a:r>
            <a:r>
              <a:rPr lang="en-US" sz="2600" dirty="0">
                <a:solidFill>
                  <a:srgbClr val="FF0000"/>
                </a:solidFill>
                <a:latin typeface="Times New Roman" pitchFamily="18" charset="0"/>
                <a:cs typeface="Times New Roman" pitchFamily="18" charset="0"/>
              </a:rPr>
              <a:t>Programming is also very easy </a:t>
            </a:r>
            <a:r>
              <a:rPr lang="en-US" sz="2600" dirty="0">
                <a:latin typeface="Times New Roman" pitchFamily="18" charset="0"/>
                <a:cs typeface="Times New Roman" pitchFamily="18" charset="0"/>
              </a:rPr>
              <a:t>when compared to other microcontrollers.</a:t>
            </a:r>
          </a:p>
          <a:p>
            <a:pPr marL="0" indent="0">
              <a:buNone/>
            </a:pPr>
            <a:r>
              <a:rPr lang="en-US" b="1" dirty="0">
                <a:latin typeface="Times New Roman" pitchFamily="18" charset="0"/>
                <a:cs typeface="Times New Roman" pitchFamily="18" charset="0"/>
              </a:rPr>
              <a:t>Disadvantages of PIC Microcontroller:</a:t>
            </a:r>
          </a:p>
          <a:p>
            <a:pPr algn="just" fontAlgn="base"/>
            <a:r>
              <a:rPr lang="en-US" sz="2400" dirty="0">
                <a:latin typeface="Times New Roman" pitchFamily="18" charset="0"/>
                <a:cs typeface="Times New Roman" pitchFamily="18" charset="0"/>
              </a:rPr>
              <a:t>The </a:t>
            </a:r>
            <a:r>
              <a:rPr lang="en-US" sz="2400" dirty="0">
                <a:solidFill>
                  <a:srgbClr val="FF0000"/>
                </a:solidFill>
                <a:latin typeface="Times New Roman" pitchFamily="18" charset="0"/>
                <a:cs typeface="Times New Roman" pitchFamily="18" charset="0"/>
              </a:rPr>
              <a:t>length of the program will be big </a:t>
            </a:r>
            <a:r>
              <a:rPr lang="en-US" sz="2400" dirty="0">
                <a:latin typeface="Times New Roman" pitchFamily="18" charset="0"/>
                <a:cs typeface="Times New Roman" pitchFamily="18" charset="0"/>
              </a:rPr>
              <a:t>because of using RISC (35 instructions).</a:t>
            </a:r>
          </a:p>
          <a:p>
            <a:pPr algn="just" fontAlgn="base"/>
            <a:r>
              <a:rPr lang="en-US" sz="2400" dirty="0">
                <a:solidFill>
                  <a:srgbClr val="FF0000"/>
                </a:solidFill>
                <a:latin typeface="Times New Roman" pitchFamily="18" charset="0"/>
                <a:cs typeface="Times New Roman" pitchFamily="18" charset="0"/>
              </a:rPr>
              <a:t>Program memory is not accessible </a:t>
            </a:r>
            <a:r>
              <a:rPr lang="en-US" sz="2400" dirty="0">
                <a:latin typeface="Times New Roman" pitchFamily="18" charset="0"/>
                <a:cs typeface="Times New Roman" pitchFamily="18" charset="0"/>
              </a:rPr>
              <a:t>and only </a:t>
            </a:r>
            <a:r>
              <a:rPr lang="en-US" sz="2400" dirty="0">
                <a:solidFill>
                  <a:srgbClr val="FF0000"/>
                </a:solidFill>
                <a:latin typeface="Times New Roman" pitchFamily="18" charset="0"/>
                <a:cs typeface="Times New Roman" pitchFamily="18" charset="0"/>
              </a:rPr>
              <a:t>one single accumulator</a:t>
            </a:r>
            <a:r>
              <a:rPr lang="en-US" sz="2400" dirty="0">
                <a:latin typeface="Times New Roman" pitchFamily="18" charset="0"/>
                <a:cs typeface="Times New Roman" pitchFamily="18" charset="0"/>
              </a:rPr>
              <a:t> is present.</a:t>
            </a:r>
          </a:p>
          <a:p>
            <a:endParaRPr lang="en-IN" dirty="0"/>
          </a:p>
        </p:txBody>
      </p:sp>
    </p:spTree>
    <p:extLst>
      <p:ext uri="{BB962C8B-B14F-4D97-AF65-F5344CB8AC3E}">
        <p14:creationId xmlns:p14="http://schemas.microsoft.com/office/powerpoint/2010/main" val="26183758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1133</Words>
  <Application>Microsoft Office PowerPoint</Application>
  <PresentationFormat>On-screen Show (4:3)</PresentationFormat>
  <Paragraphs>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PIC MICRO-CONTROLLER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KOPPERUNDEVI RAJAJI</cp:lastModifiedBy>
  <cp:revision>9</cp:revision>
  <dcterms:created xsi:type="dcterms:W3CDTF">2006-08-16T00:00:00Z</dcterms:created>
  <dcterms:modified xsi:type="dcterms:W3CDTF">2024-04-14T14:55:01Z</dcterms:modified>
</cp:coreProperties>
</file>