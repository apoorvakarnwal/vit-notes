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74" r:id="rId5"/>
    <p:sldId id="275" r:id="rId6"/>
    <p:sldId id="276" r:id="rId7"/>
    <p:sldId id="260" r:id="rId8"/>
    <p:sldId id="259" r:id="rId9"/>
    <p:sldId id="261" r:id="rId10"/>
    <p:sldId id="368" r:id="rId11"/>
    <p:sldId id="369" r:id="rId12"/>
    <p:sldId id="370" r:id="rId13"/>
    <p:sldId id="367" r:id="rId14"/>
    <p:sldId id="366" r:id="rId15"/>
    <p:sldId id="365" r:id="rId16"/>
    <p:sldId id="302" r:id="rId17"/>
    <p:sldId id="323" r:id="rId18"/>
    <p:sldId id="315" r:id="rId19"/>
    <p:sldId id="316" r:id="rId20"/>
    <p:sldId id="278" r:id="rId21"/>
    <p:sldId id="326" r:id="rId22"/>
    <p:sldId id="327" r:id="rId23"/>
    <p:sldId id="328" r:id="rId24"/>
    <p:sldId id="329" r:id="rId25"/>
    <p:sldId id="330" r:id="rId26"/>
    <p:sldId id="331" r:id="rId27"/>
    <p:sldId id="375" r:id="rId28"/>
    <p:sldId id="377" r:id="rId29"/>
    <p:sldId id="376" r:id="rId30"/>
    <p:sldId id="378" r:id="rId31"/>
    <p:sldId id="372" r:id="rId32"/>
    <p:sldId id="373" r:id="rId33"/>
    <p:sldId id="379" r:id="rId34"/>
    <p:sldId id="380" r:id="rId35"/>
    <p:sldId id="374" r:id="rId36"/>
    <p:sldId id="37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42" autoAdjust="0"/>
    <p:restoredTop sz="94660"/>
  </p:normalViewPr>
  <p:slideViewPr>
    <p:cSldViewPr snapToGrid="0">
      <p:cViewPr>
        <p:scale>
          <a:sx n="82" d="100"/>
          <a:sy n="82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F6CD-0B21-9575-9EC5-011BCFD1D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18BC3-8994-9AB1-3D26-FF120A39B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B384D-8780-82F8-B5C0-8AEB2E1A7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C1B42-0687-CA69-EF23-24916D949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3758D-A3A1-9465-5332-1719BE2C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839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13D3-C71D-DEDF-F262-38073F77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50CEF-28D9-4697-54A8-736DB0ADD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A1734-C9D4-826D-1E58-2BB964DB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12C9-A806-4B25-157D-D5D6C914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DBAF1-8B28-C42C-E777-49C08EEF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56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CE462-D2A1-2BC6-A2D0-8E306015A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EA97A-A6CF-6C99-DF63-29B56598D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11BAF-A50A-1491-27C6-3191CA96A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2937-813C-3192-5519-0A5765951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C75E0-975A-D00E-E999-8F51D444A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81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C64EF-E7FF-D3A7-3FA0-984872FC8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77223-E099-0C3E-5851-726CBD358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D139A-57A6-032C-F706-431F373F4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B7B63-68BC-DDFA-3783-63EED273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9AC77-D4AE-6A6C-B4AD-247F5A66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D16EB-58A7-25EA-444D-B56BEE88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168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1A3B-CC4A-8A30-29EE-EB15D0A0D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B113F-60D3-F176-0107-18370251C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C8F6C-72A9-00EC-332B-CF79A31BF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9B8765-E56F-A0DD-1552-CC7ABFCA8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697873-4127-FCD6-40EF-520079EC9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B48677-47F9-B46C-7207-80E611A28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EA4CE3-B38F-6205-D231-8B9EB274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73CA3-D7DD-5F7B-95C7-6C9843EB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13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205D2-71D4-569D-6D23-BD96C7DB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667BB4-79E5-5F51-2BCD-B0D7A1ADA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FED67-E67D-10EB-51DB-C8F19449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9B784-AFD0-890F-1435-F9857B04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515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31FA3-2511-D7F6-0980-0C0351D71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0E4642-27F0-CD4F-41FB-2CDE2C9E7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4BB59-011A-36E1-0E7E-512B8130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214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8BA8-8942-7938-512E-968951985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66A8A-FA57-060F-63E1-E3F422919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D7EA5-C01D-DF8F-8283-0AF82A8A4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419A3-B6D6-911A-BAA8-A3670CF7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1D5B1-ECD9-6BAC-6308-0A15151FC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5040A-0F61-53E4-0CE3-0BFBF181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979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61D0-4EF1-1BBB-C02E-F9F5EE67E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DA418-02DE-DFD8-6986-853BE36D0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3ED7B0-6815-5F95-BF96-49AE374F8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FFF28-D319-9122-DB28-4657A766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BF143-0B81-6768-A955-8BC8A7E1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16BAC-DBB2-7FFD-DE6B-D6658434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74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C52D0-7612-CB8E-361E-811CE2B97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16A4-8F19-5022-50AB-89A0BE17B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07769-FDF0-0A4F-9B77-666B910E4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B590F-058B-5E91-F75C-F218D4D5E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70350-E11A-C20F-5FA0-E2A35C23A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565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2E58B-2804-276E-7225-23E85836F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C377F-4EE7-A247-F45E-1A71E4649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50689-A592-FF8E-9646-5601D466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5FE7F-A64A-B6D4-3466-8ECA39F6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16BFF-7107-CB5D-204A-09E304A8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3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AC7DB9-1A33-BABD-6083-26868130D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BA12F-6CBD-D943-440C-FA84A4377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7D39D-683C-08A1-F2F8-73D30C8D4A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C7592-D36E-4805-8A2E-5E970AE8ED88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E4601-19EA-BDF7-519A-FD4D8058C1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B4154-52E3-31E8-B99F-128FB1AE9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57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A8BB-9297-725A-C7DC-1F2A91E4C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 1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79919-61D4-540E-D58C-DB28DA5CD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15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9416E-2084-5BF1-A99D-136C1DB83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258A5-B6E4-FCCC-850F-DF4E67912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cap="small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 System? 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Way of doing one or more task(s) according to the fixed program/plan.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Example</a:t>
            </a:r>
          </a:p>
          <a:p>
            <a:pPr marL="742950" lvl="1" indent="-285750" algn="l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Time display system – A watch</a:t>
            </a:r>
          </a:p>
          <a:p>
            <a:pPr marL="742950" lvl="1" indent="-285750" algn="l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Automatic cloth washing system – A washing machine</a:t>
            </a:r>
            <a:endParaRPr lang="en-US" sz="2000" b="1" cap="small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01079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79400"/>
            <a:ext cx="8534400" cy="629920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What is an Embedded System?</a:t>
            </a:r>
          </a:p>
          <a:p>
            <a:pPr marL="0" indent="0" algn="just">
              <a:buNone/>
            </a:pPr>
            <a:r>
              <a:rPr lang="en-US" sz="2667" dirty="0"/>
              <a:t>“An embedded system is a </a:t>
            </a:r>
            <a:r>
              <a:rPr lang="en-US" sz="2667" dirty="0">
                <a:solidFill>
                  <a:srgbClr val="CC0066"/>
                </a:solidFill>
              </a:rPr>
              <a:t>system that has software embedded into computer-hardware</a:t>
            </a:r>
            <a:r>
              <a:rPr lang="en-US" sz="2667" dirty="0"/>
              <a:t>, which makes a </a:t>
            </a:r>
            <a:r>
              <a:rPr lang="en-US" sz="2667" dirty="0">
                <a:solidFill>
                  <a:srgbClr val="000099"/>
                </a:solidFill>
              </a:rPr>
              <a:t>system dedicated for an application(s) or specific part of an application or product </a:t>
            </a:r>
            <a:r>
              <a:rPr lang="en-US" sz="2667" dirty="0"/>
              <a:t>or part of a larger system.”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20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79400"/>
            <a:ext cx="8636000" cy="629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Embedded System - Definitions</a:t>
            </a:r>
          </a:p>
          <a:p>
            <a:pPr algn="just"/>
            <a:r>
              <a:rPr lang="en-US" sz="2667" dirty="0">
                <a:latin typeface="Times New Roman" pitchFamily="18" charset="0"/>
                <a:cs typeface="Times New Roman" pitchFamily="18" charset="0"/>
              </a:rPr>
              <a:t>An Embedded system is computing system other than a desktop computers- </a:t>
            </a:r>
            <a:r>
              <a:rPr lang="en-US" sz="2667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Frank </a:t>
            </a:r>
            <a:r>
              <a:rPr lang="en-US" sz="2667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Vahid</a:t>
            </a:r>
            <a:r>
              <a:rPr lang="en-US" sz="2667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/Tony</a:t>
            </a:r>
          </a:p>
          <a:p>
            <a:pPr algn="just"/>
            <a:endParaRPr lang="en-US" sz="2667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667" dirty="0">
                <a:latin typeface="Times New Roman" pitchFamily="18" charset="0"/>
                <a:cs typeface="Times New Roman" pitchFamily="18" charset="0"/>
              </a:rPr>
              <a:t>An embedded system is the one that has computer hardware with software embedded in it as one of its most important component. </a:t>
            </a:r>
          </a:p>
          <a:p>
            <a:pPr algn="just"/>
            <a:r>
              <a:rPr lang="en-US" sz="2667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It is any device that includes a programmable computer but is not itself intended to be  a general purpose computer</a:t>
            </a:r>
            <a:r>
              <a:rPr lang="en-US" sz="2667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667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Wayne Wolf</a:t>
            </a:r>
          </a:p>
          <a:p>
            <a:pPr>
              <a:buFontTx/>
              <a:buNone/>
            </a:pPr>
            <a:endParaRPr lang="en-US" sz="2667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2667" b="1" dirty="0"/>
          </a:p>
        </p:txBody>
      </p:sp>
    </p:spTree>
    <p:extLst>
      <p:ext uri="{BB962C8B-B14F-4D97-AF65-F5344CB8AC3E}">
        <p14:creationId xmlns:p14="http://schemas.microsoft.com/office/powerpoint/2010/main" val="64004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79400"/>
            <a:ext cx="8636000" cy="62992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Embedded System are electronics systems that contain a Microprocessor, Micro Controller, but we don’t think of them as computer. The computer is hidden in the system-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Todd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D.Mortan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An embedded system is  a System whose principle function is not computational, but which is controlled by computer embedded with in it. –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Tim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Wilmshurst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667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44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13600" y="6477001"/>
            <a:ext cx="3454400" cy="381001"/>
          </a:xfrm>
        </p:spPr>
        <p:txBody>
          <a:bodyPr>
            <a:noAutofit/>
          </a:bodyPr>
          <a:lstStyle/>
          <a:p>
            <a:r>
              <a:rPr lang="en-US" sz="1333" b="1" cap="sm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 What is an Embedded System?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657183"/>
            <a:ext cx="88392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b="1" cap="small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General-Purpose Computers</a:t>
            </a:r>
            <a:endParaRPr lang="en-US" sz="2933" b="1" cap="small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828800" y="1190663"/>
            <a:ext cx="8534400" cy="5286336"/>
          </a:xfrm>
          <a:prstGeom prst="rect">
            <a:avLst/>
          </a:prstGeom>
        </p:spPr>
        <p:txBody>
          <a:bodyPr vert="horz" lIns="121920" tIns="60960" rIns="121920" bIns="60960" numCol="2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Able to run a variety of software.</a:t>
            </a:r>
          </a:p>
          <a:p>
            <a:pPr marL="380990" indent="-380990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 relatively high-performance hardware components (fast processors, data &amp; program storage).</a:t>
            </a:r>
          </a:p>
          <a:p>
            <a:pPr marL="380990" indent="-380990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 an operating system (OS).</a:t>
            </a: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8940800" y="5556278"/>
            <a:ext cx="430107" cy="543559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ubtitle 2"/>
          <p:cNvSpPr txBox="1">
            <a:spLocks/>
          </p:cNvSpPr>
          <p:nvPr/>
        </p:nvSpPr>
        <p:spPr>
          <a:xfrm>
            <a:off x="4153747" y="6021154"/>
            <a:ext cx="4267200" cy="479383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Courtesy of </a:t>
            </a:r>
          </a:p>
          <a:p>
            <a:pPr algn="r"/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Recording Connection of Canada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4814F2AF-DFF0-40F2-A7C9-C5369ED2F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524001"/>
            <a:ext cx="4064000" cy="3556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25600" y="62148"/>
            <a:ext cx="8839200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67" b="1" cap="sm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Embedded Systems</a:t>
            </a:r>
            <a:endParaRPr lang="en-IN" sz="2667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760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13600" y="6477001"/>
            <a:ext cx="3454400" cy="381001"/>
          </a:xfrm>
        </p:spPr>
        <p:txBody>
          <a:bodyPr>
            <a:noAutofit/>
          </a:bodyPr>
          <a:lstStyle/>
          <a:p>
            <a:r>
              <a:rPr lang="en-US" sz="1333" b="1" cap="sm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 What is an Embedded System?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657183"/>
            <a:ext cx="88392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b="1" cap="small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General-Purpose Computers</a:t>
            </a:r>
            <a:endParaRPr lang="en-US" sz="2933" b="1" cap="small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625600" y="1190663"/>
            <a:ext cx="8839200" cy="5361469"/>
          </a:xfrm>
          <a:prstGeom prst="rect">
            <a:avLst/>
          </a:prstGeom>
        </p:spPr>
        <p:txBody>
          <a:bodyPr vert="horz" lIns="121920" tIns="60960" rIns="121920" bIns="60960" numCol="2" spcCol="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 for heavy user interaction.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a variety of peripherals (displays, keyboards, mice, internet connections, wireless communication capability).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Expensive ($100s - $1000s).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a group of integrated circuits or chips (ICs).</a:t>
            </a:r>
          </a:p>
          <a:p>
            <a:pPr marL="241294" lvl="1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implements the central processing unit (CPU).</a:t>
            </a:r>
          </a:p>
          <a:p>
            <a:pPr marL="241294" lvl="1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Several implement data memory and program storage.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Possesses a </a:t>
            </a:r>
            <a:r>
              <a:rPr lang="en-US" sz="2133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</a:t>
            </a: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architecture (full functionality of the computer is spread across multiple IC chips).</a:t>
            </a: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8940800" y="5556278"/>
            <a:ext cx="430107" cy="543559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ubtitle 2"/>
          <p:cNvSpPr txBox="1">
            <a:spLocks/>
          </p:cNvSpPr>
          <p:nvPr/>
        </p:nvSpPr>
        <p:spPr>
          <a:xfrm>
            <a:off x="4153747" y="6021154"/>
            <a:ext cx="4267200" cy="479383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Courtesy of </a:t>
            </a:r>
          </a:p>
          <a:p>
            <a:pPr algn="r"/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Recording Connection of Canada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DC3E91-404D-4F0B-8BC3-EC73609F7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63888"/>
            <a:ext cx="3658243" cy="319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10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13600" y="6477001"/>
            <a:ext cx="3454400" cy="381001"/>
          </a:xfrm>
        </p:spPr>
        <p:txBody>
          <a:bodyPr>
            <a:noAutofit/>
          </a:bodyPr>
          <a:lstStyle/>
          <a:p>
            <a:r>
              <a:rPr lang="en-US" sz="1333" b="1" cap="sm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 What is an Embedded System?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657183"/>
            <a:ext cx="88392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b="1" cap="small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Embedded Computers</a:t>
            </a:r>
            <a:endParaRPr lang="en-US" sz="2933" b="1" cap="small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778000" y="1193540"/>
            <a:ext cx="3911600" cy="5007277"/>
          </a:xfrm>
          <a:prstGeom prst="rect">
            <a:avLst/>
          </a:prstGeom>
        </p:spPr>
        <p:txBody>
          <a:bodyPr vert="horz" lIns="121920" tIns="60960" rIns="121920" bIns="60960" numCol="1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Resources can be implemented on a single IC.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a variety of peripherals (timers, analog-to-digital converters, digital-to-analog converters, serial interfaces).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size makes them very versatile.</a:t>
            </a:r>
          </a:p>
        </p:txBody>
      </p:sp>
      <p:sp>
        <p:nvSpPr>
          <p:cNvPr id="16" name="Subtitle 2"/>
          <p:cNvSpPr txBox="1">
            <a:spLocks/>
          </p:cNvSpPr>
          <p:nvPr/>
        </p:nvSpPr>
        <p:spPr>
          <a:xfrm>
            <a:off x="2821093" y="5241662"/>
            <a:ext cx="4267200" cy="481012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Courtesy of </a:t>
            </a:r>
          </a:p>
          <a:p>
            <a:pPr algn="r"/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Recording Connection of Canada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EFEDA2-FDDC-426D-9DE8-6967BEF22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405" y="1135327"/>
            <a:ext cx="4925995" cy="36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97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13600" y="6477001"/>
            <a:ext cx="3454400" cy="381001"/>
          </a:xfrm>
        </p:spPr>
        <p:txBody>
          <a:bodyPr>
            <a:noAutofit/>
          </a:bodyPr>
          <a:lstStyle/>
          <a:p>
            <a:r>
              <a:rPr lang="en-US" sz="1333" b="1" cap="sm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 What is an Embedded System?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657183"/>
            <a:ext cx="88392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b="1" cap="small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Embedded Computers</a:t>
            </a:r>
            <a:endParaRPr lang="en-US" sz="2933" b="1" cap="small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242"/>
            <a:ext cx="9144000" cy="615473"/>
          </a:xfrm>
        </p:spPr>
        <p:txBody>
          <a:bodyPr anchor="ctr">
            <a:noAutofit/>
          </a:bodyPr>
          <a:lstStyle/>
          <a:p>
            <a:pPr algn="l"/>
            <a:r>
              <a:rPr lang="en-US" sz="2133" cap="sm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Ch. 1: Introduction to Embedded Systems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778000" y="1193540"/>
            <a:ext cx="4013200" cy="5007277"/>
          </a:xfrm>
          <a:prstGeom prst="rect">
            <a:avLst/>
          </a:prstGeom>
        </p:spPr>
        <p:txBody>
          <a:bodyPr vert="horz" lIns="121920" tIns="60960" rIns="121920" bIns="60960" numCol="1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firmware (only the </a:t>
            </a:r>
            <a:r>
              <a:rPr lang="en-US" sz="2133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needed</a:t>
            </a: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 which is not intended to be changed frequently).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contain Real Time Operating Systems (RTOS) which are used as a task scheduler.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cost (10s of cents to a few dollars).</a:t>
            </a:r>
          </a:p>
        </p:txBody>
      </p:sp>
      <p:sp>
        <p:nvSpPr>
          <p:cNvPr id="16" name="Subtitle 2"/>
          <p:cNvSpPr txBox="1">
            <a:spLocks/>
          </p:cNvSpPr>
          <p:nvPr/>
        </p:nvSpPr>
        <p:spPr>
          <a:xfrm>
            <a:off x="2821093" y="5241662"/>
            <a:ext cx="4267200" cy="481012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Courtesy of </a:t>
            </a:r>
          </a:p>
          <a:p>
            <a:pPr algn="r"/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Recording Connection of Canada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8DF9A8-AC66-46A9-BDC2-81DB6598B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203" y="1135327"/>
            <a:ext cx="4925995" cy="36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76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BC933-32FB-6D2A-838F-957367AC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5147"/>
            <a:ext cx="10515600" cy="1325563"/>
          </a:xfrm>
        </p:spPr>
        <p:txBody>
          <a:bodyPr/>
          <a:lstStyle/>
          <a:p>
            <a:r>
              <a:rPr lang="en-IN" dirty="0"/>
              <a:t>HISTORY OF 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D099A0-EA3E-CB0F-F49E-039E37127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14" t="1689" r="20661" b="398"/>
          <a:stretch/>
        </p:blipFill>
        <p:spPr>
          <a:xfrm>
            <a:off x="1587640" y="902228"/>
            <a:ext cx="8591340" cy="5408137"/>
          </a:xfrm>
        </p:spPr>
      </p:pic>
    </p:spTree>
    <p:extLst>
      <p:ext uri="{BB962C8B-B14F-4D97-AF65-F5344CB8AC3E}">
        <p14:creationId xmlns:p14="http://schemas.microsoft.com/office/powerpoint/2010/main" val="1294986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324CA-09CC-3841-D361-4217DC19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53ECE8-411B-CA5C-6D6E-C07A6F43E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2" r="20349"/>
          <a:stretch/>
        </p:blipFill>
        <p:spPr>
          <a:xfrm>
            <a:off x="2168532" y="350158"/>
            <a:ext cx="8000401" cy="6142717"/>
          </a:xfrm>
        </p:spPr>
      </p:pic>
    </p:spTree>
    <p:extLst>
      <p:ext uri="{BB962C8B-B14F-4D97-AF65-F5344CB8AC3E}">
        <p14:creationId xmlns:p14="http://schemas.microsoft.com/office/powerpoint/2010/main" val="454211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07B93-3283-D48F-D4F3-960F352D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E32D57-EB8A-E2A4-2DD0-3DEAC1091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6" t="1458" r="20349" b="5479"/>
          <a:stretch/>
        </p:blipFill>
        <p:spPr>
          <a:xfrm>
            <a:off x="1530102" y="446331"/>
            <a:ext cx="8407718" cy="5965337"/>
          </a:xfrm>
        </p:spPr>
      </p:pic>
    </p:spTree>
    <p:extLst>
      <p:ext uri="{BB962C8B-B14F-4D97-AF65-F5344CB8AC3E}">
        <p14:creationId xmlns:p14="http://schemas.microsoft.com/office/powerpoint/2010/main" val="1555329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385D-72CB-58C6-8FB0-030CE8196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95" y="44084"/>
            <a:ext cx="10515600" cy="1325563"/>
          </a:xfrm>
        </p:spPr>
        <p:txBody>
          <a:bodyPr/>
          <a:lstStyle/>
          <a:p>
            <a:r>
              <a:rPr lang="en-IN" dirty="0"/>
              <a:t>GROWTH OF 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8280-25C1-F533-B714-58F14963E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 descr="Embedded System Market Trends, Statistics, Industry Analysis Report ...">
            <a:extLst>
              <a:ext uri="{FF2B5EF4-FFF2-40B4-BE49-F238E27FC236}">
                <a16:creationId xmlns:a16="http://schemas.microsoft.com/office/drawing/2014/main" id="{ADD480D2-3CEE-3E2F-C994-C463723AD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04" y="1068090"/>
            <a:ext cx="10445191" cy="56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748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C23832B-45DA-0655-42F2-A61775324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258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Vs Microcontroller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BEABA0C-BF4E-1CE8-51EB-F2507FCEF3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5851" y="743579"/>
            <a:ext cx="4575349" cy="567731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1800" b="1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Microprocessor</a:t>
            </a: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Collection of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on/off SWI</a:t>
            </a: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on Silicon for computations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CPU is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stand-alone</a:t>
            </a: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,  RAM, ROM, I/O, timer are separate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designer can decide on the 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amount of ROM</a:t>
            </a: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, RAM and I/O ports.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Expandable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8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Expensive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8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High Speed</a:t>
            </a: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(1000 MIPS)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8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General purpose and Versatile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8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Large Architecture (32b, 64b)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800" dirty="0">
              <a:solidFill>
                <a:srgbClr val="FF0000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Lots of IO and Peripherals</a:t>
            </a: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externally connected</a:t>
            </a:r>
            <a:endParaRPr lang="en-US" altLang="en-US" sz="18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EE4BB3A5-5A5C-806D-C59B-6978AA5B6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914401"/>
            <a:ext cx="4495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kumimoji="1"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Microcontroller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Small and self-suffice </a:t>
            </a: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SoC</a:t>
            </a: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 to control devices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CPU, RAM, ROM, I/O and timer are all on a </a:t>
            </a: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single chip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fix amount</a:t>
            </a: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 of on-chip ROM, RAM, I/O ports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Not Expandable</a:t>
            </a:r>
            <a:r>
              <a:rPr kumimoji="1" lang="en-US" altLang="zh-TW" sz="2000" dirty="0">
                <a:latin typeface="Times New Roman" panose="02020603050405020304" pitchFamily="18" charset="0"/>
                <a:ea typeface="標楷體" pitchFamily="65" charset="-128"/>
              </a:rPr>
              <a:t> – no external bus interface  </a:t>
            </a:r>
            <a:endParaRPr kumimoji="1"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8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for applications in which </a:t>
            </a: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cost, power and space</a:t>
            </a: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 are critical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Low speed</a:t>
            </a:r>
            <a:r>
              <a:rPr kumimoji="1"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</a:rPr>
              <a:t>, on the order of 10 </a:t>
            </a:r>
            <a:r>
              <a:rPr kumimoji="1" lang="en-US" altLang="zh-TW" sz="2000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KHz</a:t>
            </a:r>
            <a:r>
              <a:rPr kumimoji="1"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</a:rPr>
              <a:t> – 20 MHz</a:t>
            </a:r>
            <a:endParaRPr kumimoji="1"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8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single-purpose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Small usually an 8b</a:t>
            </a:r>
            <a:endParaRPr kumimoji="1"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8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Limited</a:t>
            </a: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 IO, enough for intended app</a:t>
            </a:r>
          </a:p>
        </p:txBody>
      </p:sp>
    </p:spTree>
    <p:extLst>
      <p:ext uri="{BB962C8B-B14F-4D97-AF65-F5344CB8AC3E}">
        <p14:creationId xmlns:p14="http://schemas.microsoft.com/office/powerpoint/2010/main" val="2056649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8F3B7C53-7B8C-65DE-1DBF-9FA3E4D55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3349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– Fundamental Components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A314D8C0-3080-5A7F-43E6-D6C3865E98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838201"/>
            <a:ext cx="8686800" cy="4648200"/>
          </a:xfrm>
        </p:spPr>
        <p:txBody>
          <a:bodyPr/>
          <a:lstStyle/>
          <a:p>
            <a:pPr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incorporates onto the same microchip the following:</a:t>
            </a: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core</a:t>
            </a: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(both ROM and RAM)</a:t>
            </a: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parallel digital I/O</a:t>
            </a:r>
          </a:p>
          <a:p>
            <a:pPr marL="0" indent="0">
              <a:buClr>
                <a:srgbClr val="008000"/>
              </a:buClr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Microcontrollers will also combine other devices such as:</a:t>
            </a: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Timer module to allow the microcontroller to perform tasks for certain time periods. </a:t>
            </a: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serial I/O port to allow data to flow between the microcontroller and other devices such as a PC or another microcontroller. </a:t>
            </a: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ADC to allow the microcontroller to accept analogue input data for processing.</a:t>
            </a:r>
          </a:p>
        </p:txBody>
      </p:sp>
      <p:pic>
        <p:nvPicPr>
          <p:cNvPr id="61444" name="Picture 4" descr="Microcontroller Components">
            <a:extLst>
              <a:ext uri="{FF2B5EF4-FFF2-40B4-BE49-F238E27FC236}">
                <a16:creationId xmlns:a16="http://schemas.microsoft.com/office/drawing/2014/main" id="{260FF57C-37D9-2148-BF6D-3796EE5BF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1" y="1447800"/>
            <a:ext cx="2335213" cy="119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39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Automotive embedded systems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667" dirty="0">
                <a:latin typeface="Times New Roman" pitchFamily="18" charset="0"/>
                <a:cs typeface="Times New Roman" pitchFamily="18" charset="0"/>
              </a:rPr>
              <a:t>Today’s high-end automobile may have 100 microprocessors, but even inexpensive cars today use 40 microprocessors. </a:t>
            </a:r>
          </a:p>
          <a:p>
            <a:pPr lvl="1" algn="just"/>
            <a:r>
              <a:rPr lang="en-US" altLang="en-US" sz="2667" dirty="0">
                <a:latin typeface="Times New Roman" pitchFamily="18" charset="0"/>
                <a:cs typeface="Times New Roman" pitchFamily="18" charset="0"/>
              </a:rPr>
              <a:t>4-bit microcontroller checks seat belt;</a:t>
            </a:r>
          </a:p>
          <a:p>
            <a:pPr lvl="1" algn="just"/>
            <a:r>
              <a:rPr lang="en-US" altLang="en-US" sz="2667" dirty="0">
                <a:latin typeface="Times New Roman" pitchFamily="18" charset="0"/>
                <a:cs typeface="Times New Roman" pitchFamily="18" charset="0"/>
              </a:rPr>
              <a:t>microcontrollers run dashboard devices;</a:t>
            </a:r>
          </a:p>
          <a:p>
            <a:pPr lvl="1" algn="just"/>
            <a:r>
              <a:rPr lang="en-US" altLang="en-US" sz="2667" dirty="0">
                <a:latin typeface="Times New Roman" pitchFamily="18" charset="0"/>
                <a:cs typeface="Times New Roman" pitchFamily="18" charset="0"/>
              </a:rPr>
              <a:t>16/32-bit microprocessor controls engine.</a:t>
            </a:r>
          </a:p>
          <a:p>
            <a:pPr lvl="1" algn="just"/>
            <a:r>
              <a:rPr lang="en-US" altLang="en-US" sz="2667" dirty="0">
                <a:latin typeface="Times New Roman" pitchFamily="18" charset="0"/>
                <a:cs typeface="Times New Roman" pitchFamily="18" charset="0"/>
              </a:rPr>
              <a:t>Others control critical functions such as the ignition and braking systems.</a:t>
            </a:r>
          </a:p>
        </p:txBody>
      </p:sp>
    </p:spTree>
    <p:extLst>
      <p:ext uri="{BB962C8B-B14F-4D97-AF65-F5344CB8AC3E}">
        <p14:creationId xmlns:p14="http://schemas.microsoft.com/office/powerpoint/2010/main" val="573680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8E77950-1E69-45BA-AD6A-BABB1553E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4110" y="274637"/>
            <a:ext cx="9356690" cy="56356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Embedded System</a:t>
            </a:r>
            <a:endParaRPr lang="en-US" altLang="en-US" sz="2400" b="1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29CA78B-70A0-221E-E45D-74E8909FC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932" y="838201"/>
            <a:ext cx="9490668" cy="5745161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Functional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cannot be programmed to do different things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pagers and mobile phones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Resources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fixed RAM, ROM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secondary storage CD-ROM, FDD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against deadlines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Real Time systems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deadline cause catastrophe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constrained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Battery powered products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reliable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No 3 finger salute – cannot afford to reset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 environment conditions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Temperature and humidity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sensitive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CE - Millions of units sold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Diversified processors and OS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unlike desktop (intel + MS - Wintel)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to chose right platform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0" y="177801"/>
            <a:ext cx="8940800" cy="63945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67" b="1" dirty="0">
                <a:solidFill>
                  <a:srgbClr val="FF0000"/>
                </a:solidFill>
                <a:latin typeface="Bookman Old Style" pitchFamily="18" charset="0"/>
              </a:rPr>
              <a:t>Challenges in Embedded Computing System Design:</a:t>
            </a:r>
          </a:p>
          <a:p>
            <a:r>
              <a:rPr lang="en-US" sz="2400" dirty="0">
                <a:latin typeface="Bookman Old Style" pitchFamily="18" charset="0"/>
              </a:rPr>
              <a:t>How much hardware do we need ?</a:t>
            </a:r>
          </a:p>
          <a:p>
            <a:r>
              <a:rPr lang="en-US" sz="2400" dirty="0">
                <a:latin typeface="Bookman Old Style" pitchFamily="18" charset="0"/>
              </a:rPr>
              <a:t>How to meet deadlines ?</a:t>
            </a:r>
          </a:p>
          <a:p>
            <a:r>
              <a:rPr lang="en-US" sz="2400" dirty="0">
                <a:latin typeface="Bookman Old Style" pitchFamily="18" charset="0"/>
              </a:rPr>
              <a:t>How to minimize power consumption ?</a:t>
            </a:r>
          </a:p>
          <a:p>
            <a:r>
              <a:rPr lang="en-US" sz="2400" dirty="0">
                <a:latin typeface="Bookman Old Style" pitchFamily="18" charset="0"/>
              </a:rPr>
              <a:t>How to upgrade ?</a:t>
            </a:r>
          </a:p>
          <a:p>
            <a:r>
              <a:rPr lang="en-US" sz="2400" dirty="0">
                <a:latin typeface="Bookman Old Style" pitchFamily="18" charset="0"/>
              </a:rPr>
              <a:t>Does it really work ?</a:t>
            </a:r>
          </a:p>
          <a:p>
            <a:pPr lvl="1"/>
            <a:r>
              <a:rPr lang="en-US" dirty="0">
                <a:latin typeface="Bookman Old Style" pitchFamily="18" charset="0"/>
              </a:rPr>
              <a:t>Is the specification correct?</a:t>
            </a:r>
          </a:p>
          <a:p>
            <a:pPr lvl="1"/>
            <a:r>
              <a:rPr lang="en-US" dirty="0">
                <a:latin typeface="Bookman Old Style" pitchFamily="18" charset="0"/>
              </a:rPr>
              <a:t>Does the implementation meet the specification?</a:t>
            </a:r>
          </a:p>
          <a:p>
            <a:pPr lvl="1"/>
            <a:r>
              <a:rPr lang="en-US" dirty="0">
                <a:latin typeface="Bookman Old Style" pitchFamily="18" charset="0"/>
              </a:rPr>
              <a:t>How do we test for real-time characteristics?</a:t>
            </a:r>
          </a:p>
          <a:p>
            <a:pPr lvl="1"/>
            <a:r>
              <a:rPr lang="en-US" dirty="0">
                <a:latin typeface="Bookman Old Style" pitchFamily="18" charset="0"/>
              </a:rPr>
              <a:t>How do we test on real data?</a:t>
            </a:r>
          </a:p>
          <a:p>
            <a:r>
              <a:rPr lang="en-US" sz="2400" dirty="0">
                <a:latin typeface="Bookman Old Style" pitchFamily="18" charset="0"/>
              </a:rPr>
              <a:t>How do we work on the system?</a:t>
            </a:r>
          </a:p>
          <a:p>
            <a:pPr lvl="1"/>
            <a:r>
              <a:rPr lang="en-US" dirty="0" err="1">
                <a:latin typeface="Bookman Old Style" pitchFamily="18" charset="0"/>
              </a:rPr>
              <a:t>Observability</a:t>
            </a:r>
            <a:r>
              <a:rPr lang="en-US" dirty="0">
                <a:latin typeface="Bookman Old Style" pitchFamily="18" charset="0"/>
              </a:rPr>
              <a:t>, Controllability?</a:t>
            </a:r>
          </a:p>
          <a:p>
            <a:pPr lvl="1"/>
            <a:r>
              <a:rPr lang="en-US" dirty="0">
                <a:latin typeface="Bookman Old Style" pitchFamily="18" charset="0"/>
              </a:rPr>
              <a:t>What is our development platform?</a:t>
            </a:r>
          </a:p>
          <a:p>
            <a:endParaRPr lang="en-IN" sz="2533" dirty="0">
              <a:latin typeface="Bookman Old Style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949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77800"/>
            <a:ext cx="9144000" cy="508000"/>
          </a:xfrm>
        </p:spPr>
        <p:txBody>
          <a:bodyPr>
            <a:noAutofit/>
          </a:bodyPr>
          <a:lstStyle/>
          <a:p>
            <a:r>
              <a:rPr lang="en-US" sz="2667" b="1" dirty="0">
                <a:solidFill>
                  <a:srgbClr val="FF0000"/>
                </a:solidFill>
                <a:latin typeface="Bookman Old Style" pitchFamily="18" charset="0"/>
                <a:ea typeface="+mn-ea"/>
                <a:cs typeface="+mn-cs"/>
              </a:rPr>
              <a:t>Challenges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2667" b="1" dirty="0">
                <a:solidFill>
                  <a:srgbClr val="FF0000"/>
                </a:solidFill>
                <a:latin typeface="Bookman Old Style" pitchFamily="18" charset="0"/>
                <a:ea typeface="+mn-ea"/>
                <a:cs typeface="+mn-cs"/>
              </a:rPr>
              <a:t>in Embedded Computing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690" y="787400"/>
            <a:ext cx="9591710" cy="537224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Hardware: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(Memory,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Microprcossor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Peripheral Device)</a:t>
            </a: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power consumption, Performance deadline and manufacturing cost are based on hardware unit.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Minimizing hardware-fail to meet deadline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Maximizing hardware – too much expensive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Deadlines:</a:t>
            </a: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speed up the hardware so that the program run faster.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that makes the system more expensive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Power consumption:</a:t>
            </a: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Battery powered and non battery powered applications</a:t>
            </a: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non battery applications, excessive power consumption can increase heat dissipation.</a:t>
            </a: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Careful design is required to slow down the power consumption.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Design for upgradeability</a:t>
            </a: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Adding features for different applications</a:t>
            </a:r>
          </a:p>
        </p:txBody>
      </p:sp>
    </p:spTree>
    <p:extLst>
      <p:ext uri="{BB962C8B-B14F-4D97-AF65-F5344CB8AC3E}">
        <p14:creationId xmlns:p14="http://schemas.microsoft.com/office/powerpoint/2010/main" val="333018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79400"/>
            <a:ext cx="8636000" cy="4523712"/>
          </a:xfrm>
        </p:spPr>
        <p:txBody>
          <a:bodyPr/>
          <a:lstStyle/>
          <a:p>
            <a:pPr marL="0" indent="0">
              <a:buNone/>
            </a:pPr>
            <a:r>
              <a:rPr lang="en-IN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Reliability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Reliability is always important when selling products - customers rightly expect that products they buy will work.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Reliability is especially important in some applications, such as safety-critical systems</a:t>
            </a:r>
          </a:p>
          <a:p>
            <a:pPr marL="0" indent="0">
              <a:buNone/>
            </a:pP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Security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Security is a key concern for modern embedded system design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Attacks on embedded systems can not only gain access to personal data but also cause the physical systems controlled by those embedded computers to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perform dangerous acts.</a:t>
            </a:r>
          </a:p>
        </p:txBody>
      </p:sp>
    </p:spTree>
    <p:extLst>
      <p:ext uri="{BB962C8B-B14F-4D97-AF65-F5344CB8AC3E}">
        <p14:creationId xmlns:p14="http://schemas.microsoft.com/office/powerpoint/2010/main" val="3661979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6632"/>
            <a:ext cx="9144000" cy="994123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Bookman Old Style" pitchFamily="18" charset="0"/>
              </a:rPr>
              <a:t>Design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504" y="1124746"/>
            <a:ext cx="8856984" cy="5602487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It is a  </a:t>
            </a:r>
            <a:r>
              <a:rPr lang="en-US" sz="3067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procedure for designing</a:t>
            </a:r>
            <a:r>
              <a:rPr lang="en-US" sz="3067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a system.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A design methodology is important for three reasons.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First, It allows us to keep a scorecard on a </a:t>
            </a:r>
            <a:r>
              <a:rPr lang="en-US" sz="3067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design to ensure</a:t>
            </a:r>
            <a:r>
              <a:rPr lang="en-US" sz="3067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that we have done everything we need to do.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Second, It allows us to develop </a:t>
            </a:r>
            <a:r>
              <a:rPr lang="en-US" sz="3067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computer-aided design tools.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Third, A design methodology makes it much easier for members of a </a:t>
            </a:r>
            <a:r>
              <a:rPr lang="en-US" sz="3067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design team to communicate</a:t>
            </a:r>
            <a:r>
              <a:rPr lang="en-US" sz="3067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sz="3067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645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6632"/>
            <a:ext cx="9144000" cy="994123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0070C0"/>
                </a:solidFill>
                <a:latin typeface="Bookman Old Style" pitchFamily="18" charset="0"/>
              </a:rPr>
              <a:t>Embedded System Design 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7888" y="1916833"/>
            <a:ext cx="5508104" cy="2677656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285744" indent="-285744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Top-down design:</a:t>
            </a:r>
          </a:p>
          <a:p>
            <a:pPr marL="800080" lvl="1" indent="-342891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will begin with the most abstract description of the system and conclude with concrete details.</a:t>
            </a:r>
          </a:p>
          <a:p>
            <a:pPr marL="285744" indent="-285744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Bottom-up design:</a:t>
            </a:r>
          </a:p>
          <a:p>
            <a:pPr marL="800080" lvl="1" indent="-342891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start with components to build a system.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87568-D1C8-ACAD-1AC9-DF3819CE9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3C0D2A-73F3-5C87-F11E-C826099C4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2567"/>
            <a:ext cx="4988574" cy="460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84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692697"/>
            <a:ext cx="8640960" cy="543346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Bookman Old Style" pitchFamily="18" charset="0"/>
              </a:rPr>
              <a:t>Major Goals of the Design:</a:t>
            </a:r>
            <a:endParaRPr lang="en-IN" b="1" dirty="0">
              <a:latin typeface="Bookman Old Style" pitchFamily="18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Manufacturing Cost.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Performance Speed.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Power Consumption.</a:t>
            </a:r>
          </a:p>
          <a:p>
            <a:pPr marL="0" indent="0">
              <a:lnSpc>
                <a:spcPct val="120000"/>
              </a:lnSpc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At each Step in the design,</a:t>
            </a:r>
          </a:p>
          <a:p>
            <a:pPr algn="just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We must </a:t>
            </a: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analyze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design at each step to determine how we can meet the specifications.</a:t>
            </a:r>
          </a:p>
          <a:p>
            <a:pPr algn="just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We must then </a:t>
            </a: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refine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design to add detail.</a:t>
            </a:r>
          </a:p>
          <a:p>
            <a:pPr algn="just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And we must </a:t>
            </a: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verify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design to ensure that it still meets all system goals, such as cost, speed, and so on.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733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6632"/>
            <a:ext cx="9144000" cy="994123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Bookman Old Style" pitchFamily="18" charset="0"/>
              </a:rP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124747"/>
            <a:ext cx="8640960" cy="355778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Plain language description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what the user wants and expects to get.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May be developed in several ways:</a:t>
            </a:r>
          </a:p>
          <a:p>
            <a:pPr lvl="1" algn="just"/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talking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directly to customers</a:t>
            </a:r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.</a:t>
            </a:r>
          </a:p>
          <a:p>
            <a:pPr lvl="1" algn="just"/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talking to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marketing representatives</a:t>
            </a:r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.</a:t>
            </a:r>
          </a:p>
          <a:p>
            <a:pPr lvl="1" algn="just"/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providing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prototypes</a:t>
            </a:r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 to users for comment</a:t>
            </a:r>
            <a:r>
              <a:rPr lang="en-US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150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6632"/>
            <a:ext cx="9144000" cy="994123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Bookman Old Style" pitchFamily="18" charset="0"/>
              </a:rP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1124746"/>
            <a:ext cx="8229600" cy="5400599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Functional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requirements: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output as a function of input.</a:t>
            </a:r>
          </a:p>
          <a:p>
            <a:pPr marL="457189" lvl="1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Non-functional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requirements: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Performance - time required to compute output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Cost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Size, Weight, etc.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Power consumption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Reliability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etc.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28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6632"/>
            <a:ext cx="9144000" cy="994123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Bookman Old Style" pitchFamily="18" charset="0"/>
              </a:rPr>
              <a:t>Requirement Form</a:t>
            </a:r>
          </a:p>
        </p:txBody>
      </p:sp>
      <p:graphicFrame>
        <p:nvGraphicFramePr>
          <p:cNvPr id="8" name="Content Placeholder 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0781955"/>
              </p:ext>
            </p:extLst>
          </p:nvPr>
        </p:nvGraphicFramePr>
        <p:xfrm>
          <a:off x="1664678" y="1028779"/>
          <a:ext cx="7954964" cy="5121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763027" imgH="5642382" progId="Word.Document.8">
                  <p:embed/>
                </p:oleObj>
              </mc:Choice>
              <mc:Fallback>
                <p:oleObj name="Document" r:id="rId2" imgW="8763027" imgH="5642382" progId="Word.Document.8">
                  <p:embed/>
                  <p:pic>
                    <p:nvPicPr>
                      <p:cNvPr id="8" name="Content Placeholder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678" y="1028779"/>
                        <a:ext cx="7954964" cy="51219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7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6485-6F1B-A191-C8B8-F5377FD67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GPS REQUIREMENT FORM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E1FD8-C68D-AAD7-7542-54BAEFC70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816" y="1825625"/>
            <a:ext cx="11468722" cy="466370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36A84-7E5C-126B-C4FE-F408D2EC9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62" y="1503206"/>
            <a:ext cx="10543341" cy="466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90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D3773-87C1-A506-FBA6-1AAA6CFB6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CE081A-0BD5-C24A-BC3E-F8D9983F89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51" y="1458603"/>
            <a:ext cx="9293244" cy="5034272"/>
          </a:xfrm>
        </p:spPr>
      </p:pic>
    </p:spTree>
    <p:extLst>
      <p:ext uri="{BB962C8B-B14F-4D97-AF65-F5344CB8AC3E}">
        <p14:creationId xmlns:p14="http://schemas.microsoft.com/office/powerpoint/2010/main" val="2323663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275E-4C33-EB83-D471-70D8906B5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F41FFE-CAC9-8332-00E7-70CF09255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99" y="1756002"/>
            <a:ext cx="9182896" cy="3604572"/>
          </a:xfrm>
        </p:spPr>
      </p:pic>
    </p:spTree>
    <p:extLst>
      <p:ext uri="{BB962C8B-B14F-4D97-AF65-F5344CB8AC3E}">
        <p14:creationId xmlns:p14="http://schemas.microsoft.com/office/powerpoint/2010/main" val="26925889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55594-D842-7E5B-B761-E2D73972B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A2E477-3D92-C42C-EF14-E635EAC9D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774" y="1825625"/>
            <a:ext cx="9124452" cy="4351338"/>
          </a:xfrm>
        </p:spPr>
      </p:pic>
    </p:spTree>
    <p:extLst>
      <p:ext uri="{BB962C8B-B14F-4D97-AF65-F5344CB8AC3E}">
        <p14:creationId xmlns:p14="http://schemas.microsoft.com/office/powerpoint/2010/main" val="35015670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7E845-1641-721C-2DBE-B20B14B1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667C0-2EAB-A311-A9CE-E19E894FE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3308B-5E6E-BBE1-5357-56304B5CD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6"/>
            <a:ext cx="10621120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8366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A815-C875-2BA1-B77B-F9256DEA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A0B8C-5C32-5586-1D86-E44B20724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6E215-059A-9D01-B03D-16F9E5510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41" y="300719"/>
            <a:ext cx="10269414" cy="625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520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60653-D000-EC80-9807-3E54E31A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integration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1C344A-5CA7-8339-A34D-F8D292600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44" y="1959193"/>
            <a:ext cx="8770774" cy="4533682"/>
          </a:xfrm>
        </p:spPr>
      </p:pic>
    </p:spTree>
    <p:extLst>
      <p:ext uri="{BB962C8B-B14F-4D97-AF65-F5344CB8AC3E}">
        <p14:creationId xmlns:p14="http://schemas.microsoft.com/office/powerpoint/2010/main" val="1887597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99112-86C3-0DCD-1489-0982E3BEC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C262AC-2EC6-5379-57DD-47C3BD4B1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81" y="1231641"/>
            <a:ext cx="11233899" cy="4917232"/>
          </a:xfrm>
        </p:spPr>
      </p:pic>
    </p:spTree>
    <p:extLst>
      <p:ext uri="{BB962C8B-B14F-4D97-AF65-F5344CB8AC3E}">
        <p14:creationId xmlns:p14="http://schemas.microsoft.com/office/powerpoint/2010/main" val="4189616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3E42-77FD-7302-4AD3-AC7B5543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system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0BF8A-032F-98EF-8B48-5EB916D2A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CD3D9B8-25D9-C653-B236-E41CFFFA7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54319"/>
            <a:ext cx="10730013" cy="4745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02764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5C7CE-1FA8-ADFD-ADF0-9E62E5A67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605" y="-56891"/>
            <a:ext cx="10515600" cy="1325563"/>
          </a:xfrm>
        </p:spPr>
        <p:txBody>
          <a:bodyPr/>
          <a:lstStyle/>
          <a:p>
            <a:r>
              <a:rPr lang="en-IN" dirty="0"/>
              <a:t>EMBEDDED PROCESSOR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5EF5C-D5D1-39F1-493E-713FE868A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F488A-C6DC-075C-7352-5792AEDB7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816"/>
            <a:ext cx="12486174" cy="613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85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1398</Words>
  <Application>Microsoft Office PowerPoint</Application>
  <PresentationFormat>Widescreen</PresentationFormat>
  <Paragraphs>207</Paragraphs>
  <Slides>36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Bookman Old Style</vt:lpstr>
      <vt:lpstr>Calibri</vt:lpstr>
      <vt:lpstr>Calibri Light</vt:lpstr>
      <vt:lpstr>Cambria</vt:lpstr>
      <vt:lpstr>Times New Roman</vt:lpstr>
      <vt:lpstr>Wingdings</vt:lpstr>
      <vt:lpstr>Office Theme</vt:lpstr>
      <vt:lpstr>Document</vt:lpstr>
      <vt:lpstr>MODULE 1</vt:lpstr>
      <vt:lpstr>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Ch. 1: Introduction to Embedded Systems</vt:lpstr>
      <vt:lpstr>HISTORY OF ES</vt:lpstr>
      <vt:lpstr>PowerPoint Presentation</vt:lpstr>
      <vt:lpstr>PowerPoint Presentation</vt:lpstr>
      <vt:lpstr>GROWTH OF ES</vt:lpstr>
      <vt:lpstr>Microprocessor Vs Microcontroller</vt:lpstr>
      <vt:lpstr>Microcontroller – Fundamental Components</vt:lpstr>
      <vt:lpstr>Automotive embedded systems</vt:lpstr>
      <vt:lpstr>Characteristics of Embedded System</vt:lpstr>
      <vt:lpstr>PowerPoint Presentation</vt:lpstr>
      <vt:lpstr>Challenges in Embedded Computing System Design</vt:lpstr>
      <vt:lpstr>PowerPoint Presentation</vt:lpstr>
      <vt:lpstr>Design methodologies</vt:lpstr>
      <vt:lpstr>Embedded System Design Process</vt:lpstr>
      <vt:lpstr>PowerPoint Presentation</vt:lpstr>
      <vt:lpstr>Requirements</vt:lpstr>
      <vt:lpstr>Requirements</vt:lpstr>
      <vt:lpstr>Requirement Form</vt:lpstr>
      <vt:lpstr>GPS REQUIREMENT FORM</vt:lpstr>
      <vt:lpstr>Specification </vt:lpstr>
      <vt:lpstr>Specification </vt:lpstr>
      <vt:lpstr>Architecture </vt:lpstr>
      <vt:lpstr>ARCHITECTURE DESIGN</vt:lpstr>
      <vt:lpstr>PowerPoint Presentation</vt:lpstr>
      <vt:lpstr>System integration</vt:lpstr>
      <vt:lpstr>Overview </vt:lpstr>
      <vt:lpstr>Embedded system architecture</vt:lpstr>
      <vt:lpstr>EMBEDDED PROCESSOR TECHNOLOGY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KOPPERUNDEVI RAJAJI</dc:creator>
  <cp:lastModifiedBy>KOPPERUNDEVI RAJAJI</cp:lastModifiedBy>
  <cp:revision>19</cp:revision>
  <dcterms:created xsi:type="dcterms:W3CDTF">2024-01-04T13:45:07Z</dcterms:created>
  <dcterms:modified xsi:type="dcterms:W3CDTF">2024-12-18T01:46:14Z</dcterms:modified>
</cp:coreProperties>
</file>