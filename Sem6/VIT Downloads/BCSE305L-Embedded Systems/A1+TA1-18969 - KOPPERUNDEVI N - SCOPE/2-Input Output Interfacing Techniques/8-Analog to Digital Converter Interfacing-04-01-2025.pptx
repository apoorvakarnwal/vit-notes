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5" r:id="rId3"/>
    <p:sldId id="257" r:id="rId4"/>
    <p:sldId id="258" r:id="rId5"/>
    <p:sldId id="259" r:id="rId6"/>
    <p:sldId id="260" r:id="rId7"/>
    <p:sldId id="388" r:id="rId8"/>
    <p:sldId id="269" r:id="rId9"/>
    <p:sldId id="261" r:id="rId10"/>
    <p:sldId id="270" r:id="rId11"/>
    <p:sldId id="271" r:id="rId12"/>
    <p:sldId id="386" r:id="rId13"/>
    <p:sldId id="3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42AD2-B81D-6EF4-F9A2-667B5D199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80A8E-00C4-DD2D-A7DD-1DB88D8FF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9DFD8-180F-9648-F30C-1341B1955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870E6-C09F-934F-BB6A-7C749C74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94CE9-ACE7-2466-DF18-2745E1A60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71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2836-4CA5-C441-E4B6-28FCC1297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65740-D616-6A3A-82BB-B338B13BC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1560D-2285-4892-9895-D9CE3017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3364F-4705-52F4-D137-00BB46910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35F57-92F6-31CD-793C-BEAEFC8EE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078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0870B-1A71-9AF9-60B1-44CA8B24C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CD492-F593-0438-C85F-C4D1266B7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425E3-74A6-0912-1497-2BDD2D67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BAF84-E5C9-EDE1-6EB1-9F702270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A8614-65F7-3F58-B34D-26E24DEAC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135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7132-3095-A8D9-576D-D4ACE03C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60DB3-1D12-E3FF-43E6-04F985696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B85C-0BE9-5BA9-2D3F-893BE8B11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A1C9B-40FF-D200-7277-529CADDD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7BDAC-7341-7AE3-2ECC-BA15A1024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348DF-0D30-F321-A0E1-CFEE1FBF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432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27635-DC0B-9E55-39DA-D7B5B8C6C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84E19-FE02-50B3-56EC-49B2DB986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85CF6-947B-AEE9-0518-D5102671D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3C6179-0498-9EA7-5E29-D09ECAB29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0DE21-0555-189E-8847-8822A59BD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88E680-7911-2619-5DD3-7CF00E6C7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27AE4-467A-BB52-6781-F8BD23A4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4BC860-5821-3CAE-4645-FE5BF9FF2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994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4066F-B425-C2A4-A473-C35D80AF2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61C25-B54D-94C1-CF25-2044762BC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E6964-D304-87FE-3777-97C811B8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AE1C44-DA99-03AE-4F46-96A11A93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99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348D77-0D4D-ACB8-3BD9-F5F6F7467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B6B4CF-1F70-86E1-A434-2204B8527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D48C1-762A-90E4-6EE5-763B355D6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70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0E53-E7FD-54EF-E828-57AF9E783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15E9A-DE85-0138-FCD3-BF671675B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5B6A3-6721-54C6-C12D-DD2D8C239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A303B-D11E-EB43-AF51-7557080EF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33CE0-C84B-A448-D7C1-4A94FC63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42A73-78C2-E87B-DC11-505716D62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803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9B76-BA57-2A84-4065-3832F9BD4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36A77D-D35B-556A-9A11-011689FEB7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4DC66-79FF-65AB-1999-826979554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CE32E-2DA6-5C1B-F16A-14FD3744E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CDAB3-C4D1-46BF-9998-A6B15A39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FD5ED-DD7D-C233-63DB-76B3A991C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272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4E31-DCF1-6C8F-A2FC-247E66D11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6EAF9-CCEB-A1AE-2F91-B3F6C9D0B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7D996-F39E-B6DA-878D-9353519A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0DD3B-D6F1-5829-7BCF-445F953A2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EE7DA-F8D6-FC03-E568-355F66C9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63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4B771-3B22-91E2-9ACF-E86A201A8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73205-8967-7E4B-09CA-79185F047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00040-3E61-09F8-7560-6A322511C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A9EA-CE6F-4D35-9391-715856EE06DA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23805-3DC8-3D91-0372-92E1118C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0D2AD-8C26-6C80-7BD5-7DA684906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92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13B18B-C363-C8FC-4952-922B1920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ECE7D-E32B-2FEC-F6EF-ED27F666F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1CD06-DBAA-B777-ACED-E70D908D1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4A9EA-CE6F-4D35-9391-715856EE06DA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6C9B4-2785-5144-660D-75FCF8385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71AD0-00B5-A588-BB32-8EF2046AE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76203-5519-4457-ADD3-50649D365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86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microsoft.com/office/2007/relationships/hdphoto" Target="../media/hdphoto5.wdp"/><Relationship Id="rId1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12" Type="http://schemas.openxmlformats.org/officeDocument/2006/relationships/image" Target="../media/image14.png"/><Relationship Id="rId17" Type="http://schemas.microsoft.com/office/2007/relationships/hdphoto" Target="../media/hdphoto7.wdp"/><Relationship Id="rId2" Type="http://schemas.openxmlformats.org/officeDocument/2006/relationships/image" Target="../media/image9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5" Type="http://schemas.microsoft.com/office/2007/relationships/hdphoto" Target="../media/hdphoto6.wdp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microsoft.com/office/2007/relationships/hdphoto" Target="../media/hdphoto3.wdp"/><Relationship Id="rId1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07/relationships/hdphoto" Target="../media/hdphoto8.wdp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1F8CF-C853-DB91-A9D3-A6F83D090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Timers and counters in 8051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11F12-1B7B-1E8E-630F-74395F606C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820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B2BEB-511A-3082-71A5-59579A2FC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8051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4A4B5-5F18-294E-E39F-2268A00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4EE6A7-4916-6976-D3D1-CE56CF383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738" y="1313162"/>
            <a:ext cx="9355015" cy="540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488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BE6AC-5387-49A7-8DB7-FF2E7460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105"/>
            <a:ext cx="10515600" cy="819863"/>
          </a:xfrm>
        </p:spPr>
        <p:txBody>
          <a:bodyPr/>
          <a:lstStyle/>
          <a:p>
            <a:r>
              <a:rPr lang="en-US" dirty="0"/>
              <a:t>In 8051…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7D9D9-7F5A-0BE7-010E-0C9A8D4A8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4870677"/>
          </a:xfrm>
        </p:spPr>
        <p:txBody>
          <a:bodyPr>
            <a:normAutofit/>
          </a:bodyPr>
          <a:lstStyle/>
          <a:p>
            <a:r>
              <a:rPr lang="en-US" dirty="0"/>
              <a:t>The 8051 has two counters/timers which can be used either as </a:t>
            </a:r>
            <a:r>
              <a:rPr lang="en-US" dirty="0">
                <a:solidFill>
                  <a:srgbClr val="FF0000"/>
                </a:solidFill>
              </a:rPr>
              <a:t>timer to generate a time delay </a:t>
            </a:r>
            <a:r>
              <a:rPr lang="en-US" dirty="0"/>
              <a:t>or as </a:t>
            </a:r>
            <a:r>
              <a:rPr lang="en-US" dirty="0">
                <a:solidFill>
                  <a:srgbClr val="FF0000"/>
                </a:solidFill>
              </a:rPr>
              <a:t>counter to count events happening outside the </a:t>
            </a:r>
            <a:r>
              <a:rPr lang="en-US" dirty="0"/>
              <a:t>microcontroller.</a:t>
            </a:r>
          </a:p>
          <a:p>
            <a:r>
              <a:rPr lang="en-US" dirty="0"/>
              <a:t>The 8051 has two timers: </a:t>
            </a:r>
            <a:r>
              <a:rPr lang="en-US" dirty="0">
                <a:solidFill>
                  <a:srgbClr val="FF0000"/>
                </a:solidFill>
              </a:rPr>
              <a:t>timer0 and timer1. </a:t>
            </a:r>
          </a:p>
          <a:p>
            <a:r>
              <a:rPr lang="en-US" dirty="0"/>
              <a:t>Mostly </a:t>
            </a:r>
            <a:r>
              <a:rPr lang="en-US" dirty="0">
                <a:solidFill>
                  <a:srgbClr val="FF0000"/>
                </a:solidFill>
              </a:rPr>
              <a:t>internal clock- timer</a:t>
            </a:r>
          </a:p>
          <a:p>
            <a:r>
              <a:rPr lang="en-US" dirty="0">
                <a:solidFill>
                  <a:srgbClr val="FF0000"/>
                </a:solidFill>
              </a:rPr>
              <a:t>External clock-counter</a:t>
            </a:r>
          </a:p>
          <a:p>
            <a:r>
              <a:rPr lang="en-US" dirty="0"/>
              <a:t>Configured by TMOD register</a:t>
            </a:r>
          </a:p>
          <a:p>
            <a:r>
              <a:rPr lang="en-US" dirty="0"/>
              <a:t>Both timers are </a:t>
            </a:r>
            <a:r>
              <a:rPr lang="en-US" dirty="0">
                <a:solidFill>
                  <a:srgbClr val="FF0000"/>
                </a:solidFill>
              </a:rPr>
              <a:t>16 bits wide</a:t>
            </a:r>
          </a:p>
          <a:p>
            <a:r>
              <a:rPr lang="en-US" dirty="0"/>
              <a:t>Each 16-bit is accessed as two separate registers of low byte and high byte.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5685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6C04-BF3B-E497-275D-3AE7102A7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31D47DF-F489-AF82-7401-D025C9D79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6584" y="3057071"/>
            <a:ext cx="7978831" cy="220999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02AA83-317F-4A11-CF2F-B01FFAC03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165" y="936253"/>
            <a:ext cx="7171041" cy="195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76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8A442-F836-B7E9-3224-D4775962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counter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36578-80CD-1742-8658-9565B2E9A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timer is set as up counter.</a:t>
            </a:r>
          </a:p>
          <a:p>
            <a:r>
              <a:rPr lang="en-US" dirty="0"/>
              <a:t>Every clock it will increment by 1.</a:t>
            </a:r>
          </a:p>
          <a:p>
            <a:r>
              <a:rPr lang="en-IN" dirty="0"/>
              <a:t>When it reaches FFFF H it will roll back to 0000 H, generating Timer overflow interrupt.(+1)</a:t>
            </a:r>
          </a:p>
          <a:p>
            <a:r>
              <a:rPr lang="en-IN" dirty="0">
                <a:solidFill>
                  <a:srgbClr val="FF0000"/>
                </a:solidFill>
              </a:rPr>
              <a:t>Count = FFFF-value +1</a:t>
            </a:r>
          </a:p>
          <a:p>
            <a:r>
              <a:rPr lang="en-IN" dirty="0"/>
              <a:t>To count 8: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Count = FFFF-8+1= FFF8 H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IF TIMER 0 then TH0-FF H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		       TL0-F8 H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8300E-651D-4883-B169-554B30F14E91}"/>
              </a:ext>
            </a:extLst>
          </p:cNvPr>
          <p:cNvSpPr txBox="1"/>
          <p:nvPr/>
        </p:nvSpPr>
        <p:spPr>
          <a:xfrm>
            <a:off x="5941088" y="4756277"/>
            <a:ext cx="60943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CODE:</a:t>
            </a:r>
          </a:p>
          <a:p>
            <a:r>
              <a:rPr lang="en-US" sz="2800" dirty="0"/>
              <a:t>MOV TH0, #FFH</a:t>
            </a:r>
          </a:p>
          <a:p>
            <a:r>
              <a:rPr lang="en-US" sz="2800" dirty="0"/>
              <a:t>MOV TL0, #F8H</a:t>
            </a:r>
          </a:p>
        </p:txBody>
      </p:sp>
    </p:spTree>
    <p:extLst>
      <p:ext uri="{BB962C8B-B14F-4D97-AF65-F5344CB8AC3E}">
        <p14:creationId xmlns:p14="http://schemas.microsoft.com/office/powerpoint/2010/main" val="3019830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3B60-5525-0226-D541-2E3DB56AA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counter/timer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8983E-4F32-1C25-B674-8BFD00A7F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Counter is loaded </a:t>
            </a:r>
            <a:r>
              <a:rPr lang="en-US" dirty="0"/>
              <a:t>in T0 or T1</a:t>
            </a:r>
          </a:p>
          <a:p>
            <a:r>
              <a:rPr lang="en-US" dirty="0"/>
              <a:t>For every clock it </a:t>
            </a:r>
            <a:r>
              <a:rPr lang="en-US" dirty="0">
                <a:solidFill>
                  <a:srgbClr val="FF0000"/>
                </a:solidFill>
              </a:rPr>
              <a:t>rolls by 1 bit</a:t>
            </a:r>
            <a:r>
              <a:rPr lang="en-US" dirty="0"/>
              <a:t>, means counts by 1 bit.</a:t>
            </a:r>
          </a:p>
          <a:p>
            <a:r>
              <a:rPr lang="en-US" dirty="0"/>
              <a:t>Once </a:t>
            </a:r>
            <a:r>
              <a:rPr lang="en-US" dirty="0">
                <a:solidFill>
                  <a:srgbClr val="FF0000"/>
                </a:solidFill>
              </a:rPr>
              <a:t>FFFF</a:t>
            </a:r>
            <a:r>
              <a:rPr lang="en-US" dirty="0"/>
              <a:t> is reached, </a:t>
            </a:r>
            <a:r>
              <a:rPr lang="en-IN" dirty="0">
                <a:solidFill>
                  <a:srgbClr val="FF0000"/>
                </a:solidFill>
              </a:rPr>
              <a:t>Timer overflow interrupt bit is set to 1</a:t>
            </a:r>
            <a:r>
              <a:rPr lang="en-IN" dirty="0"/>
              <a:t>(TF0/TF1)</a:t>
            </a:r>
          </a:p>
          <a:p>
            <a:r>
              <a:rPr lang="en-IN" dirty="0"/>
              <a:t>Now </a:t>
            </a:r>
            <a:r>
              <a:rPr lang="en-IN" dirty="0">
                <a:solidFill>
                  <a:srgbClr val="FF0000"/>
                </a:solidFill>
              </a:rPr>
              <a:t>PC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INTERUPT SERVICE ROUTINE </a:t>
            </a:r>
            <a:r>
              <a:rPr lang="en-IN" dirty="0">
                <a:sym typeface="Wingdings" panose="05000000000000000000" pitchFamily="2" charset="2"/>
              </a:rPr>
              <a:t>addresses the interrupt and gives </a:t>
            </a:r>
            <a:r>
              <a:rPr lang="en-IN" dirty="0">
                <a:solidFill>
                  <a:srgbClr val="FF0000"/>
                </a:solidFill>
                <a:sym typeface="Wingdings" panose="05000000000000000000" pitchFamily="2" charset="2"/>
              </a:rPr>
              <a:t>RETI</a:t>
            </a:r>
            <a:r>
              <a:rPr lang="en-IN" dirty="0">
                <a:sym typeface="Wingdings" panose="05000000000000000000" pitchFamily="2" charset="2"/>
              </a:rPr>
              <a:t>(return Interrupt).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4263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CBE0A-4584-E49F-42AB-53F548084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7389"/>
            <a:ext cx="10515600" cy="1325563"/>
          </a:xfrm>
        </p:spPr>
        <p:txBody>
          <a:bodyPr/>
          <a:lstStyle/>
          <a:p>
            <a:r>
              <a:rPr lang="en-IN" dirty="0"/>
              <a:t>Working principle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D1BD46-343A-C72A-71F5-774518CB05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10" y="1289471"/>
            <a:ext cx="10059680" cy="4836432"/>
          </a:xfrm>
        </p:spPr>
      </p:pic>
    </p:spTree>
    <p:extLst>
      <p:ext uri="{BB962C8B-B14F-4D97-AF65-F5344CB8AC3E}">
        <p14:creationId xmlns:p14="http://schemas.microsoft.com/office/powerpoint/2010/main" val="384791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B2DD-7CFD-DA89-F247-39757D266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1A0FB-F775-9F7B-E44E-B2A164884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3EC5CC-E388-CA9C-38F2-E0E38792E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97" y="365125"/>
            <a:ext cx="8972486" cy="589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82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D242-02D6-8D8B-AE8A-BF553F524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481"/>
            <a:ext cx="3555346" cy="612949"/>
          </a:xfrm>
        </p:spPr>
        <p:txBody>
          <a:bodyPr>
            <a:normAutofit fontScale="90000"/>
          </a:bodyPr>
          <a:lstStyle/>
          <a:p>
            <a:r>
              <a:rPr lang="en-US" dirty="0"/>
              <a:t>TCON Register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AA4BDD-8C2E-F680-BF76-665FA1B6A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1420" y="90100"/>
            <a:ext cx="7541383" cy="1451653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BA1C912-FDBE-7176-9AA8-E58C013E2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67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D4367-1D5A-4FC0-BD17-BA850710B93E}"/>
              </a:ext>
            </a:extLst>
          </p:cNvPr>
          <p:cNvSpPr txBox="1"/>
          <p:nvPr/>
        </p:nvSpPr>
        <p:spPr>
          <a:xfrm>
            <a:off x="613080" y="1120364"/>
            <a:ext cx="1114342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303030"/>
              </a:solidFill>
              <a:effectLst/>
              <a:latin typeface="inheri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solidFill>
                <a:srgbClr val="303030"/>
              </a:solidFill>
              <a:latin typeface="inheri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nherit"/>
              </a:rPr>
              <a:t>BIT          Symbol                                  Functions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3030"/>
              </a:solidFill>
              <a:effectLst/>
              <a:latin typeface="inheri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7              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TF1                         Timer1 over flow flag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. Set when timer rolls from all 1s to 0. Cleared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                                                When the processor vectors to execute interrupt service routine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                                                Located at program address 001Bh/ 000Bh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6            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  TR1                         Timer 1 run control bit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. Set to 1 by programmer to enable timer to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3030"/>
              </a:solidFill>
              <a:effectLst/>
              <a:latin typeface="inheri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                                             count; Cleared to 0 by program to halt timer.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5              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TF0                        Timer 0 over flow flag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. Same as TF1.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4              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TR0                       Timer 0 run control bit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.  Same as TR1.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3030"/>
              </a:solidFill>
              <a:effectLst/>
              <a:latin typeface="inheri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3              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IE1                          External interrupt 1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Edge flag. INT1/INT0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2             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  IT1                         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External interrupt1 signal type control bit. Set to 1 by program to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                                                Enable external interrupt 1 to be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triggered by a falling edge signal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. Set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                                                To 0 by program to enable a low level signal on external interrupt1 to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                                                generate an interrupt.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03030"/>
              </a:solidFill>
              <a:effectLst/>
              <a:latin typeface="inheri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1              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IE0                         External interrupt 0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Edge flag. INT1/INT0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0             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BM Plex Sans" panose="020B0503050203000203" pitchFamily="34" charset="0"/>
              </a:rPr>
              <a:t>  IT0                         External interrupt 0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signal type control bit. Same as IT0.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14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F7A03-00C2-F3F7-CB46-D7DDD001B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TMOD Register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78834E-5ED5-4CA0-A420-9DE1BC29A1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8856" y="499142"/>
            <a:ext cx="6692901" cy="215218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F29D46-43E4-648D-BF02-245475B5224F}"/>
              </a:ext>
            </a:extLst>
          </p:cNvPr>
          <p:cNvSpPr txBox="1"/>
          <p:nvPr/>
        </p:nvSpPr>
        <p:spPr>
          <a:xfrm>
            <a:off x="436402" y="3429000"/>
            <a:ext cx="1104383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IN" sz="2000" b="1" i="0" dirty="0">
                <a:solidFill>
                  <a:srgbClr val="303030"/>
                </a:solidFill>
                <a:effectLst/>
                <a:latin typeface="inherit"/>
              </a:rPr>
              <a:t> M0       M1          Mode                                                   Operating Mode</a:t>
            </a:r>
            <a:endParaRPr lang="en-IN" sz="2000" b="0" i="0" dirty="0">
              <a:solidFill>
                <a:srgbClr val="303030"/>
              </a:solidFill>
              <a:effectLst/>
              <a:latin typeface="IBM Plex Sans" panose="020B0503050203000203" pitchFamily="34" charset="0"/>
            </a:endParaRPr>
          </a:p>
          <a:p>
            <a:pPr algn="just" fontAlgn="base"/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0             0              0             13-bit timer mode, 8-bit timer/counter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THx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 and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TLx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 as 5-bit 				  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prescalar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.</a:t>
            </a:r>
          </a:p>
          <a:p>
            <a:pPr algn="just" fontAlgn="base"/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0             1            1             16-bit timer mode, 16-bit timer/counters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THx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 and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TLx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 are cascaded; 			    There are  no 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prescalar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.</a:t>
            </a:r>
          </a:p>
          <a:p>
            <a:pPr algn="just" fontAlgn="base"/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1             0             2             8-bit auto reload mode, 8-bit auto reload timer/counter;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THx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 holds a 			     value which is to be reloaded into </a:t>
            </a:r>
            <a:r>
              <a:rPr lang="en-IN" sz="2000" b="0" i="0" dirty="0" err="1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TLx</a:t>
            </a:r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 each  time it overflows.</a:t>
            </a:r>
          </a:p>
          <a:p>
            <a:pPr algn="just" fontAlgn="base"/>
            <a:r>
              <a:rPr lang="en-IN" sz="2000" b="0" i="0" dirty="0">
                <a:solidFill>
                  <a:srgbClr val="303030"/>
                </a:solidFill>
                <a:effectLst/>
                <a:latin typeface="IBM Plex Sans" panose="020B0503050203000203" pitchFamily="34" charset="0"/>
              </a:rPr>
              <a:t>  1             1             3              Spilt timer mode.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38DF7-AC7D-7DF0-50B2-A5A34DB60B68}"/>
              </a:ext>
            </a:extLst>
          </p:cNvPr>
          <p:cNvSpPr txBox="1"/>
          <p:nvPr/>
        </p:nvSpPr>
        <p:spPr>
          <a:xfrm>
            <a:off x="673240" y="2632668"/>
            <a:ext cx="4957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C/T’</a:t>
            </a:r>
            <a:r>
              <a:rPr lang="en-US" dirty="0">
                <a:sym typeface="Wingdings" panose="05000000000000000000" pitchFamily="2" charset="2"/>
              </a:rPr>
              <a:t> Counter/ Timer</a:t>
            </a:r>
          </a:p>
          <a:p>
            <a:r>
              <a:rPr lang="en-US" dirty="0">
                <a:sym typeface="Wingdings" panose="05000000000000000000" pitchFamily="2" charset="2"/>
              </a:rPr>
              <a:t>Gate  enable control-external/internal interrupts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5769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6882D-9E32-32F3-CB53-E452D5B3B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95B8D8D-714D-34D4-0000-ABE16C5EFD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456" y="2710585"/>
            <a:ext cx="9243102" cy="3804811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1A2105-F387-BA37-0E2B-CE3EED42E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91" y="365125"/>
            <a:ext cx="9281176" cy="234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96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E700-98ED-9CB6-AED6-334B97D6B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21" y="95245"/>
            <a:ext cx="10515600" cy="37654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30A14-B971-0F59-E2F0-4EC070501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7763"/>
            <a:ext cx="9682424" cy="4351338"/>
          </a:xfrm>
        </p:spPr>
        <p:txBody>
          <a:bodyPr/>
          <a:lstStyle/>
          <a:p>
            <a:r>
              <a:rPr lang="en-US" dirty="0"/>
              <a:t>Write a program to generate a delay of 20 µsec and send logic 1 on P2.0. Assume </a:t>
            </a:r>
            <a:r>
              <a:rPr lang="en-US" dirty="0" err="1"/>
              <a:t>Fosc</a:t>
            </a:r>
            <a:r>
              <a:rPr lang="en-US" dirty="0"/>
              <a:t>= 12MHZ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33BA1-5143-1096-9984-0F865BC4F5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440"/>
          <a:stretch/>
        </p:blipFill>
        <p:spPr>
          <a:xfrm>
            <a:off x="6429839" y="125297"/>
            <a:ext cx="5245360" cy="102810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D332F9-A5EE-F196-40A5-64392F7EC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839" y="1218987"/>
            <a:ext cx="5341048" cy="1028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CD1284-B8A1-1E97-1BD8-C3757B172D4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6309" y="3152633"/>
            <a:ext cx="6256562" cy="3353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BA01BA-AC5E-75BE-26E4-87D13209684D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9306" y="3649759"/>
            <a:ext cx="5044877" cy="281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8D65EC-9A0E-DF6A-0D0E-6A65654ED12A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9306" y="4143489"/>
            <a:ext cx="4983912" cy="3353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3DEACF-24DF-C174-C335-5BE5089F274D}"/>
              </a:ext>
            </a:extLst>
          </p:cNvPr>
          <p:cNvPicPr>
            <a:picLocks noChangeAspect="1"/>
          </p:cNvPicPr>
          <p:nvPr/>
        </p:nvPicPr>
        <p:blipFill>
          <a:blip r:embed="rId10">
            <a:biLevel thresh="7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8360" y="4488580"/>
            <a:ext cx="5593565" cy="7011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7AFCCD-E703-59C0-3182-F146C9FF078D}"/>
              </a:ext>
            </a:extLst>
          </p:cNvPr>
          <p:cNvPicPr>
            <a:picLocks noChangeAspect="1"/>
          </p:cNvPicPr>
          <p:nvPr/>
        </p:nvPicPr>
        <p:blipFill>
          <a:blip r:embed="rId12">
            <a:biLevel thresh="7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1083" y="5306605"/>
            <a:ext cx="6241321" cy="6020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606D28-0ABD-331D-0509-D7CF405E6E61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204" y="6136868"/>
            <a:ext cx="5944115" cy="3353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3184DCD-59E9-F2D1-E27C-0D37C74CFF41}"/>
              </a:ext>
            </a:extLst>
          </p:cNvPr>
          <p:cNvPicPr>
            <a:picLocks noChangeAspect="1"/>
          </p:cNvPicPr>
          <p:nvPr/>
        </p:nvPicPr>
        <p:blipFill>
          <a:blip r:embed="rId16">
            <a:biLevel thresh="75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12871" y="3449139"/>
            <a:ext cx="5341048" cy="2647099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AF54922-BC4F-B57E-1DD0-08B0A5298B5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01355" y="687647"/>
            <a:ext cx="4347574" cy="139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70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C2085-5C8D-E118-185C-50BEB72E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8BD8F-6A2C-EA90-6750-AD2C0CEC3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47" y="2237763"/>
            <a:ext cx="10515600" cy="4351338"/>
          </a:xfrm>
        </p:spPr>
        <p:txBody>
          <a:bodyPr/>
          <a:lstStyle/>
          <a:p>
            <a:r>
              <a:rPr lang="en-US" dirty="0"/>
              <a:t>Write a program to generate a square wave of 1 KHZ on TXD pin, Assume </a:t>
            </a:r>
            <a:r>
              <a:rPr lang="en-US" dirty="0" err="1"/>
              <a:t>Fosc</a:t>
            </a:r>
            <a:r>
              <a:rPr lang="en-US" dirty="0"/>
              <a:t>= 12MHZ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298BA9-C921-B834-7526-FF3E10B6C7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440"/>
          <a:stretch/>
        </p:blipFill>
        <p:spPr>
          <a:xfrm>
            <a:off x="6429839" y="125297"/>
            <a:ext cx="5245360" cy="102810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5CE967-F9B6-B910-5F66-3082FB45D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839" y="1209656"/>
            <a:ext cx="5341048" cy="1028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E0B741-9219-8746-4E5E-224EACD65E50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071198"/>
            <a:ext cx="6645216" cy="34216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619375-6F02-3773-735A-F4564A901A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408" y="3229638"/>
            <a:ext cx="5582592" cy="263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7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565</Words>
  <Application>Microsoft Office PowerPoint</Application>
  <PresentationFormat>Widescreen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IBM Plex Sans</vt:lpstr>
      <vt:lpstr>inherit</vt:lpstr>
      <vt:lpstr>Wingdings</vt:lpstr>
      <vt:lpstr>Office Theme</vt:lpstr>
      <vt:lpstr>Timers and counters in 8051</vt:lpstr>
      <vt:lpstr>8051 ARCHITECTURE</vt:lpstr>
      <vt:lpstr>In 8051…</vt:lpstr>
      <vt:lpstr>PowerPoint Presentation</vt:lpstr>
      <vt:lpstr>Loading counter</vt:lpstr>
      <vt:lpstr>Working of counter/timer</vt:lpstr>
      <vt:lpstr>Working principle</vt:lpstr>
      <vt:lpstr>PowerPoint Presentation</vt:lpstr>
      <vt:lpstr>TCON Register</vt:lpstr>
      <vt:lpstr>TMOD Register</vt:lpstr>
      <vt:lpstr>PowerPoint Presentation</vt:lpstr>
      <vt:lpstr>PROBLEM 1</vt:lpstr>
      <vt:lpstr>Problem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Timers and counters in 8051</dc:title>
  <dc:creator>KOPPERUNDEVI RAJAJI</dc:creator>
  <cp:lastModifiedBy>KOPPERUNDEVI RAJAJI</cp:lastModifiedBy>
  <cp:revision>28</cp:revision>
  <dcterms:created xsi:type="dcterms:W3CDTF">2024-01-28T15:53:18Z</dcterms:created>
  <dcterms:modified xsi:type="dcterms:W3CDTF">2025-01-20T01:59:39Z</dcterms:modified>
</cp:coreProperties>
</file>