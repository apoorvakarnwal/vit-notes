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7ECC8-021D-076E-113A-FDCB640F9F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3DCBF0-2F9C-4D94-750E-7C39C9FC86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36FF8ED-AD56-7481-FCDA-BD05CDF4BB3A}"/>
              </a:ext>
            </a:extLst>
          </p:cNvPr>
          <p:cNvSpPr>
            <a:spLocks noGrp="1"/>
          </p:cNvSpPr>
          <p:nvPr>
            <p:ph type="dt" sz="half" idx="10"/>
          </p:nvPr>
        </p:nvSpPr>
        <p:spPr/>
        <p:txBody>
          <a:bodyPr/>
          <a:lstStyle/>
          <a:p>
            <a:fld id="{DC19C618-876E-4BAC-B68F-A49FEA6F9CBD}" type="datetimeFigureOut">
              <a:rPr lang="en-IN" smtClean="0"/>
              <a:t>21-01-2025</a:t>
            </a:fld>
            <a:endParaRPr lang="en-IN"/>
          </a:p>
        </p:txBody>
      </p:sp>
      <p:sp>
        <p:nvSpPr>
          <p:cNvPr id="5" name="Footer Placeholder 4">
            <a:extLst>
              <a:ext uri="{FF2B5EF4-FFF2-40B4-BE49-F238E27FC236}">
                <a16:creationId xmlns:a16="http://schemas.microsoft.com/office/drawing/2014/main" id="{C160BE38-6FA7-B23A-8E98-DDC0C6E46D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2D29B0-DC53-DA14-3D2F-AC2E846D761A}"/>
              </a:ext>
            </a:extLst>
          </p:cNvPr>
          <p:cNvSpPr>
            <a:spLocks noGrp="1"/>
          </p:cNvSpPr>
          <p:nvPr>
            <p:ph type="sldNum" sz="quarter" idx="12"/>
          </p:nvPr>
        </p:nvSpPr>
        <p:spPr/>
        <p:txBody>
          <a:bodyPr/>
          <a:lstStyle/>
          <a:p>
            <a:fld id="{69B351A5-0AEB-4AF0-AFCA-7E34192B310E}" type="slidenum">
              <a:rPr lang="en-IN" smtClean="0"/>
              <a:t>‹#›</a:t>
            </a:fld>
            <a:endParaRPr lang="en-IN"/>
          </a:p>
        </p:txBody>
      </p:sp>
    </p:spTree>
    <p:extLst>
      <p:ext uri="{BB962C8B-B14F-4D97-AF65-F5344CB8AC3E}">
        <p14:creationId xmlns:p14="http://schemas.microsoft.com/office/powerpoint/2010/main" val="2822216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A7FBF-9BAC-1EEB-5D13-FA0E884485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983232-8A2C-924D-4398-962F695D54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758F58-1248-C920-D44E-5B29347D6FF8}"/>
              </a:ext>
            </a:extLst>
          </p:cNvPr>
          <p:cNvSpPr>
            <a:spLocks noGrp="1"/>
          </p:cNvSpPr>
          <p:nvPr>
            <p:ph type="dt" sz="half" idx="10"/>
          </p:nvPr>
        </p:nvSpPr>
        <p:spPr/>
        <p:txBody>
          <a:bodyPr/>
          <a:lstStyle/>
          <a:p>
            <a:fld id="{DC19C618-876E-4BAC-B68F-A49FEA6F9CBD}" type="datetimeFigureOut">
              <a:rPr lang="en-IN" smtClean="0"/>
              <a:t>21-01-2025</a:t>
            </a:fld>
            <a:endParaRPr lang="en-IN"/>
          </a:p>
        </p:txBody>
      </p:sp>
      <p:sp>
        <p:nvSpPr>
          <p:cNvPr id="5" name="Footer Placeholder 4">
            <a:extLst>
              <a:ext uri="{FF2B5EF4-FFF2-40B4-BE49-F238E27FC236}">
                <a16:creationId xmlns:a16="http://schemas.microsoft.com/office/drawing/2014/main" id="{CDD9D2F6-560C-77C0-AE1E-B6BB0323A6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1EDD25-9BB8-C02C-B420-81D4797256D9}"/>
              </a:ext>
            </a:extLst>
          </p:cNvPr>
          <p:cNvSpPr>
            <a:spLocks noGrp="1"/>
          </p:cNvSpPr>
          <p:nvPr>
            <p:ph type="sldNum" sz="quarter" idx="12"/>
          </p:nvPr>
        </p:nvSpPr>
        <p:spPr/>
        <p:txBody>
          <a:bodyPr/>
          <a:lstStyle/>
          <a:p>
            <a:fld id="{69B351A5-0AEB-4AF0-AFCA-7E34192B310E}" type="slidenum">
              <a:rPr lang="en-IN" smtClean="0"/>
              <a:t>‹#›</a:t>
            </a:fld>
            <a:endParaRPr lang="en-IN"/>
          </a:p>
        </p:txBody>
      </p:sp>
    </p:spTree>
    <p:extLst>
      <p:ext uri="{BB962C8B-B14F-4D97-AF65-F5344CB8AC3E}">
        <p14:creationId xmlns:p14="http://schemas.microsoft.com/office/powerpoint/2010/main" val="210949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23BFD-B0D4-8439-8ED6-33A99BA2D0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D16A553-A1D3-3DAF-5450-943F976B76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096670-14DA-580E-E3D1-03DCDBFBB15C}"/>
              </a:ext>
            </a:extLst>
          </p:cNvPr>
          <p:cNvSpPr>
            <a:spLocks noGrp="1"/>
          </p:cNvSpPr>
          <p:nvPr>
            <p:ph type="dt" sz="half" idx="10"/>
          </p:nvPr>
        </p:nvSpPr>
        <p:spPr/>
        <p:txBody>
          <a:bodyPr/>
          <a:lstStyle/>
          <a:p>
            <a:fld id="{DC19C618-876E-4BAC-B68F-A49FEA6F9CBD}" type="datetimeFigureOut">
              <a:rPr lang="en-IN" smtClean="0"/>
              <a:t>21-01-2025</a:t>
            </a:fld>
            <a:endParaRPr lang="en-IN"/>
          </a:p>
        </p:txBody>
      </p:sp>
      <p:sp>
        <p:nvSpPr>
          <p:cNvPr id="5" name="Footer Placeholder 4">
            <a:extLst>
              <a:ext uri="{FF2B5EF4-FFF2-40B4-BE49-F238E27FC236}">
                <a16:creationId xmlns:a16="http://schemas.microsoft.com/office/drawing/2014/main" id="{51F4CB84-6175-D766-149A-02E61D58BB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CFC7B9-318C-6D57-FCD0-A90CBCDB897B}"/>
              </a:ext>
            </a:extLst>
          </p:cNvPr>
          <p:cNvSpPr>
            <a:spLocks noGrp="1"/>
          </p:cNvSpPr>
          <p:nvPr>
            <p:ph type="sldNum" sz="quarter" idx="12"/>
          </p:nvPr>
        </p:nvSpPr>
        <p:spPr/>
        <p:txBody>
          <a:bodyPr/>
          <a:lstStyle/>
          <a:p>
            <a:fld id="{69B351A5-0AEB-4AF0-AFCA-7E34192B310E}" type="slidenum">
              <a:rPr lang="en-IN" smtClean="0"/>
              <a:t>‹#›</a:t>
            </a:fld>
            <a:endParaRPr lang="en-IN"/>
          </a:p>
        </p:txBody>
      </p:sp>
    </p:spTree>
    <p:extLst>
      <p:ext uri="{BB962C8B-B14F-4D97-AF65-F5344CB8AC3E}">
        <p14:creationId xmlns:p14="http://schemas.microsoft.com/office/powerpoint/2010/main" val="2106113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D2CEE-9AC0-10C3-93FD-12A2F70446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BC09AB-DA71-BDA8-C1F6-F7C9AA4517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CB2834-7B51-01A2-2381-B340D65803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5DE7FF8-8D59-0739-5A41-43128A44D6D6}"/>
              </a:ext>
            </a:extLst>
          </p:cNvPr>
          <p:cNvSpPr>
            <a:spLocks noGrp="1"/>
          </p:cNvSpPr>
          <p:nvPr>
            <p:ph type="dt" sz="half" idx="10"/>
          </p:nvPr>
        </p:nvSpPr>
        <p:spPr/>
        <p:txBody>
          <a:bodyPr/>
          <a:lstStyle/>
          <a:p>
            <a:fld id="{DC19C618-876E-4BAC-B68F-A49FEA6F9CBD}" type="datetimeFigureOut">
              <a:rPr lang="en-IN" smtClean="0"/>
              <a:t>21-01-2025</a:t>
            </a:fld>
            <a:endParaRPr lang="en-IN"/>
          </a:p>
        </p:txBody>
      </p:sp>
      <p:sp>
        <p:nvSpPr>
          <p:cNvPr id="6" name="Footer Placeholder 5">
            <a:extLst>
              <a:ext uri="{FF2B5EF4-FFF2-40B4-BE49-F238E27FC236}">
                <a16:creationId xmlns:a16="http://schemas.microsoft.com/office/drawing/2014/main" id="{D5CFD848-FEFE-C7A5-0D87-196358A2E2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68243D-612A-18BD-CC39-7769AB023B93}"/>
              </a:ext>
            </a:extLst>
          </p:cNvPr>
          <p:cNvSpPr>
            <a:spLocks noGrp="1"/>
          </p:cNvSpPr>
          <p:nvPr>
            <p:ph type="sldNum" sz="quarter" idx="12"/>
          </p:nvPr>
        </p:nvSpPr>
        <p:spPr/>
        <p:txBody>
          <a:bodyPr/>
          <a:lstStyle/>
          <a:p>
            <a:fld id="{69B351A5-0AEB-4AF0-AFCA-7E34192B310E}" type="slidenum">
              <a:rPr lang="en-IN" smtClean="0"/>
              <a:t>‹#›</a:t>
            </a:fld>
            <a:endParaRPr lang="en-IN"/>
          </a:p>
        </p:txBody>
      </p:sp>
    </p:spTree>
    <p:extLst>
      <p:ext uri="{BB962C8B-B14F-4D97-AF65-F5344CB8AC3E}">
        <p14:creationId xmlns:p14="http://schemas.microsoft.com/office/powerpoint/2010/main" val="2178786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3E2E5-FF6D-8500-AE04-07EAF934E3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44983F-B4A6-86B5-507B-B42F76A9D8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9183A6-36A7-FE3F-D3C6-4A1131332B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7C4ADD1-9189-29E4-6B23-32D5BE94AA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9FF1D4-CA99-A3BA-2ABD-85B66494A9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BF00692-3C08-A403-543C-B66EB40B58B1}"/>
              </a:ext>
            </a:extLst>
          </p:cNvPr>
          <p:cNvSpPr>
            <a:spLocks noGrp="1"/>
          </p:cNvSpPr>
          <p:nvPr>
            <p:ph type="dt" sz="half" idx="10"/>
          </p:nvPr>
        </p:nvSpPr>
        <p:spPr/>
        <p:txBody>
          <a:bodyPr/>
          <a:lstStyle/>
          <a:p>
            <a:fld id="{DC19C618-876E-4BAC-B68F-A49FEA6F9CBD}" type="datetimeFigureOut">
              <a:rPr lang="en-IN" smtClean="0"/>
              <a:t>21-01-2025</a:t>
            </a:fld>
            <a:endParaRPr lang="en-IN"/>
          </a:p>
        </p:txBody>
      </p:sp>
      <p:sp>
        <p:nvSpPr>
          <p:cNvPr id="8" name="Footer Placeholder 7">
            <a:extLst>
              <a:ext uri="{FF2B5EF4-FFF2-40B4-BE49-F238E27FC236}">
                <a16:creationId xmlns:a16="http://schemas.microsoft.com/office/drawing/2014/main" id="{F65C3267-226F-01B5-6CBC-A277D2D4E3F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BA39829-771A-94FD-6F09-AA05E9A70826}"/>
              </a:ext>
            </a:extLst>
          </p:cNvPr>
          <p:cNvSpPr>
            <a:spLocks noGrp="1"/>
          </p:cNvSpPr>
          <p:nvPr>
            <p:ph type="sldNum" sz="quarter" idx="12"/>
          </p:nvPr>
        </p:nvSpPr>
        <p:spPr/>
        <p:txBody>
          <a:bodyPr/>
          <a:lstStyle/>
          <a:p>
            <a:fld id="{69B351A5-0AEB-4AF0-AFCA-7E34192B310E}" type="slidenum">
              <a:rPr lang="en-IN" smtClean="0"/>
              <a:t>‹#›</a:t>
            </a:fld>
            <a:endParaRPr lang="en-IN"/>
          </a:p>
        </p:txBody>
      </p:sp>
    </p:spTree>
    <p:extLst>
      <p:ext uri="{BB962C8B-B14F-4D97-AF65-F5344CB8AC3E}">
        <p14:creationId xmlns:p14="http://schemas.microsoft.com/office/powerpoint/2010/main" val="4212412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CBB04-B3D4-DF35-3E2C-3A23BBE0203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C8FE83D-A6DB-9658-CFD3-0605B395B5EE}"/>
              </a:ext>
            </a:extLst>
          </p:cNvPr>
          <p:cNvSpPr>
            <a:spLocks noGrp="1"/>
          </p:cNvSpPr>
          <p:nvPr>
            <p:ph type="dt" sz="half" idx="10"/>
          </p:nvPr>
        </p:nvSpPr>
        <p:spPr/>
        <p:txBody>
          <a:bodyPr/>
          <a:lstStyle/>
          <a:p>
            <a:fld id="{DC19C618-876E-4BAC-B68F-A49FEA6F9CBD}" type="datetimeFigureOut">
              <a:rPr lang="en-IN" smtClean="0"/>
              <a:t>21-01-2025</a:t>
            </a:fld>
            <a:endParaRPr lang="en-IN"/>
          </a:p>
        </p:txBody>
      </p:sp>
      <p:sp>
        <p:nvSpPr>
          <p:cNvPr id="4" name="Footer Placeholder 3">
            <a:extLst>
              <a:ext uri="{FF2B5EF4-FFF2-40B4-BE49-F238E27FC236}">
                <a16:creationId xmlns:a16="http://schemas.microsoft.com/office/drawing/2014/main" id="{672FD106-3E03-D7F2-949E-3624A18AA30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6EBD498-E91B-2EC2-5FC4-88EBFABBDCDA}"/>
              </a:ext>
            </a:extLst>
          </p:cNvPr>
          <p:cNvSpPr>
            <a:spLocks noGrp="1"/>
          </p:cNvSpPr>
          <p:nvPr>
            <p:ph type="sldNum" sz="quarter" idx="12"/>
          </p:nvPr>
        </p:nvSpPr>
        <p:spPr/>
        <p:txBody>
          <a:bodyPr/>
          <a:lstStyle/>
          <a:p>
            <a:fld id="{69B351A5-0AEB-4AF0-AFCA-7E34192B310E}" type="slidenum">
              <a:rPr lang="en-IN" smtClean="0"/>
              <a:t>‹#›</a:t>
            </a:fld>
            <a:endParaRPr lang="en-IN"/>
          </a:p>
        </p:txBody>
      </p:sp>
    </p:spTree>
    <p:extLst>
      <p:ext uri="{BB962C8B-B14F-4D97-AF65-F5344CB8AC3E}">
        <p14:creationId xmlns:p14="http://schemas.microsoft.com/office/powerpoint/2010/main" val="3668703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DB6BBE-90D9-E1F3-7A04-CE8149A18E31}"/>
              </a:ext>
            </a:extLst>
          </p:cNvPr>
          <p:cNvSpPr>
            <a:spLocks noGrp="1"/>
          </p:cNvSpPr>
          <p:nvPr>
            <p:ph type="dt" sz="half" idx="10"/>
          </p:nvPr>
        </p:nvSpPr>
        <p:spPr/>
        <p:txBody>
          <a:bodyPr/>
          <a:lstStyle/>
          <a:p>
            <a:fld id="{DC19C618-876E-4BAC-B68F-A49FEA6F9CBD}" type="datetimeFigureOut">
              <a:rPr lang="en-IN" smtClean="0"/>
              <a:t>21-01-2025</a:t>
            </a:fld>
            <a:endParaRPr lang="en-IN"/>
          </a:p>
        </p:txBody>
      </p:sp>
      <p:sp>
        <p:nvSpPr>
          <p:cNvPr id="3" name="Footer Placeholder 2">
            <a:extLst>
              <a:ext uri="{FF2B5EF4-FFF2-40B4-BE49-F238E27FC236}">
                <a16:creationId xmlns:a16="http://schemas.microsoft.com/office/drawing/2014/main" id="{1C990623-7A8F-4A67-FBBF-F5C0C7A45DA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9070EB-FEE7-5993-2B5D-8B55851068C7}"/>
              </a:ext>
            </a:extLst>
          </p:cNvPr>
          <p:cNvSpPr>
            <a:spLocks noGrp="1"/>
          </p:cNvSpPr>
          <p:nvPr>
            <p:ph type="sldNum" sz="quarter" idx="12"/>
          </p:nvPr>
        </p:nvSpPr>
        <p:spPr/>
        <p:txBody>
          <a:bodyPr/>
          <a:lstStyle/>
          <a:p>
            <a:fld id="{69B351A5-0AEB-4AF0-AFCA-7E34192B310E}" type="slidenum">
              <a:rPr lang="en-IN" smtClean="0"/>
              <a:t>‹#›</a:t>
            </a:fld>
            <a:endParaRPr lang="en-IN"/>
          </a:p>
        </p:txBody>
      </p:sp>
    </p:spTree>
    <p:extLst>
      <p:ext uri="{BB962C8B-B14F-4D97-AF65-F5344CB8AC3E}">
        <p14:creationId xmlns:p14="http://schemas.microsoft.com/office/powerpoint/2010/main" val="1098571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19964-79B7-E54F-B137-39BF979059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B389AF8-5420-3DD1-F01A-058C4D5E05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A8DB40-D39B-36DE-32EE-149C07121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C41DA9-C566-0317-AE31-E70DCD91BE9A}"/>
              </a:ext>
            </a:extLst>
          </p:cNvPr>
          <p:cNvSpPr>
            <a:spLocks noGrp="1"/>
          </p:cNvSpPr>
          <p:nvPr>
            <p:ph type="dt" sz="half" idx="10"/>
          </p:nvPr>
        </p:nvSpPr>
        <p:spPr/>
        <p:txBody>
          <a:bodyPr/>
          <a:lstStyle/>
          <a:p>
            <a:fld id="{DC19C618-876E-4BAC-B68F-A49FEA6F9CBD}" type="datetimeFigureOut">
              <a:rPr lang="en-IN" smtClean="0"/>
              <a:t>21-01-2025</a:t>
            </a:fld>
            <a:endParaRPr lang="en-IN"/>
          </a:p>
        </p:txBody>
      </p:sp>
      <p:sp>
        <p:nvSpPr>
          <p:cNvPr id="6" name="Footer Placeholder 5">
            <a:extLst>
              <a:ext uri="{FF2B5EF4-FFF2-40B4-BE49-F238E27FC236}">
                <a16:creationId xmlns:a16="http://schemas.microsoft.com/office/drawing/2014/main" id="{2468A81A-9A3A-2FBF-B32D-8DC6E91B6A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4CDE1A-9C2D-2E08-0FA3-7CC9D9D37546}"/>
              </a:ext>
            </a:extLst>
          </p:cNvPr>
          <p:cNvSpPr>
            <a:spLocks noGrp="1"/>
          </p:cNvSpPr>
          <p:nvPr>
            <p:ph type="sldNum" sz="quarter" idx="12"/>
          </p:nvPr>
        </p:nvSpPr>
        <p:spPr/>
        <p:txBody>
          <a:bodyPr/>
          <a:lstStyle/>
          <a:p>
            <a:fld id="{69B351A5-0AEB-4AF0-AFCA-7E34192B310E}" type="slidenum">
              <a:rPr lang="en-IN" smtClean="0"/>
              <a:t>‹#›</a:t>
            </a:fld>
            <a:endParaRPr lang="en-IN"/>
          </a:p>
        </p:txBody>
      </p:sp>
    </p:spTree>
    <p:extLst>
      <p:ext uri="{BB962C8B-B14F-4D97-AF65-F5344CB8AC3E}">
        <p14:creationId xmlns:p14="http://schemas.microsoft.com/office/powerpoint/2010/main" val="1158694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97C50-DDC3-308A-00C7-201A882447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FECC7FA-2717-CBC8-45EE-D1D774848B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69D8CA8-49CD-BF66-ADE8-29E2C49C99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EE2B2B-55DC-D8A8-EE8F-98B09B2FD73F}"/>
              </a:ext>
            </a:extLst>
          </p:cNvPr>
          <p:cNvSpPr>
            <a:spLocks noGrp="1"/>
          </p:cNvSpPr>
          <p:nvPr>
            <p:ph type="dt" sz="half" idx="10"/>
          </p:nvPr>
        </p:nvSpPr>
        <p:spPr/>
        <p:txBody>
          <a:bodyPr/>
          <a:lstStyle/>
          <a:p>
            <a:fld id="{DC19C618-876E-4BAC-B68F-A49FEA6F9CBD}" type="datetimeFigureOut">
              <a:rPr lang="en-IN" smtClean="0"/>
              <a:t>21-01-2025</a:t>
            </a:fld>
            <a:endParaRPr lang="en-IN"/>
          </a:p>
        </p:txBody>
      </p:sp>
      <p:sp>
        <p:nvSpPr>
          <p:cNvPr id="6" name="Footer Placeholder 5">
            <a:extLst>
              <a:ext uri="{FF2B5EF4-FFF2-40B4-BE49-F238E27FC236}">
                <a16:creationId xmlns:a16="http://schemas.microsoft.com/office/drawing/2014/main" id="{34A91AB7-3C5D-E111-96B0-8C9A0B3638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893DBA-E584-248E-48E8-B6D8A1D5C5AA}"/>
              </a:ext>
            </a:extLst>
          </p:cNvPr>
          <p:cNvSpPr>
            <a:spLocks noGrp="1"/>
          </p:cNvSpPr>
          <p:nvPr>
            <p:ph type="sldNum" sz="quarter" idx="12"/>
          </p:nvPr>
        </p:nvSpPr>
        <p:spPr/>
        <p:txBody>
          <a:bodyPr/>
          <a:lstStyle/>
          <a:p>
            <a:fld id="{69B351A5-0AEB-4AF0-AFCA-7E34192B310E}" type="slidenum">
              <a:rPr lang="en-IN" smtClean="0"/>
              <a:t>‹#›</a:t>
            </a:fld>
            <a:endParaRPr lang="en-IN"/>
          </a:p>
        </p:txBody>
      </p:sp>
    </p:spTree>
    <p:extLst>
      <p:ext uri="{BB962C8B-B14F-4D97-AF65-F5344CB8AC3E}">
        <p14:creationId xmlns:p14="http://schemas.microsoft.com/office/powerpoint/2010/main" val="3975626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7F6DE-A01C-8AB5-2FA2-511BB1A56B8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C8F1DE-20B4-315D-2359-6FB41D9E91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F96193-88F2-08C5-FCDE-A27A43F6CED3}"/>
              </a:ext>
            </a:extLst>
          </p:cNvPr>
          <p:cNvSpPr>
            <a:spLocks noGrp="1"/>
          </p:cNvSpPr>
          <p:nvPr>
            <p:ph type="dt" sz="half" idx="10"/>
          </p:nvPr>
        </p:nvSpPr>
        <p:spPr/>
        <p:txBody>
          <a:bodyPr/>
          <a:lstStyle/>
          <a:p>
            <a:fld id="{DC19C618-876E-4BAC-B68F-A49FEA6F9CBD}" type="datetimeFigureOut">
              <a:rPr lang="en-IN" smtClean="0"/>
              <a:t>21-01-2025</a:t>
            </a:fld>
            <a:endParaRPr lang="en-IN"/>
          </a:p>
        </p:txBody>
      </p:sp>
      <p:sp>
        <p:nvSpPr>
          <p:cNvPr id="5" name="Footer Placeholder 4">
            <a:extLst>
              <a:ext uri="{FF2B5EF4-FFF2-40B4-BE49-F238E27FC236}">
                <a16:creationId xmlns:a16="http://schemas.microsoft.com/office/drawing/2014/main" id="{9678F38B-1373-006A-08C6-F59DEB8546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1557C4-EF5A-5822-F49B-884F25DBC79B}"/>
              </a:ext>
            </a:extLst>
          </p:cNvPr>
          <p:cNvSpPr>
            <a:spLocks noGrp="1"/>
          </p:cNvSpPr>
          <p:nvPr>
            <p:ph type="sldNum" sz="quarter" idx="12"/>
          </p:nvPr>
        </p:nvSpPr>
        <p:spPr/>
        <p:txBody>
          <a:bodyPr/>
          <a:lstStyle/>
          <a:p>
            <a:fld id="{69B351A5-0AEB-4AF0-AFCA-7E34192B310E}" type="slidenum">
              <a:rPr lang="en-IN" smtClean="0"/>
              <a:t>‹#›</a:t>
            </a:fld>
            <a:endParaRPr lang="en-IN"/>
          </a:p>
        </p:txBody>
      </p:sp>
    </p:spTree>
    <p:extLst>
      <p:ext uri="{BB962C8B-B14F-4D97-AF65-F5344CB8AC3E}">
        <p14:creationId xmlns:p14="http://schemas.microsoft.com/office/powerpoint/2010/main" val="1386655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6BA6C8-6C83-D598-8B3E-97A3CD3166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029700-AE87-C6EE-71F3-3B8EDB1269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916DC5-81C1-011C-1539-B9E7F0E2F3BD}"/>
              </a:ext>
            </a:extLst>
          </p:cNvPr>
          <p:cNvSpPr>
            <a:spLocks noGrp="1"/>
          </p:cNvSpPr>
          <p:nvPr>
            <p:ph type="dt" sz="half" idx="10"/>
          </p:nvPr>
        </p:nvSpPr>
        <p:spPr/>
        <p:txBody>
          <a:bodyPr/>
          <a:lstStyle/>
          <a:p>
            <a:fld id="{DC19C618-876E-4BAC-B68F-A49FEA6F9CBD}" type="datetimeFigureOut">
              <a:rPr lang="en-IN" smtClean="0"/>
              <a:t>21-01-2025</a:t>
            </a:fld>
            <a:endParaRPr lang="en-IN"/>
          </a:p>
        </p:txBody>
      </p:sp>
      <p:sp>
        <p:nvSpPr>
          <p:cNvPr id="5" name="Footer Placeholder 4">
            <a:extLst>
              <a:ext uri="{FF2B5EF4-FFF2-40B4-BE49-F238E27FC236}">
                <a16:creationId xmlns:a16="http://schemas.microsoft.com/office/drawing/2014/main" id="{EED3BE24-CC60-8965-9314-39A1556EDF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D78D40-B7E9-D1E6-4D28-E4F2861A22A1}"/>
              </a:ext>
            </a:extLst>
          </p:cNvPr>
          <p:cNvSpPr>
            <a:spLocks noGrp="1"/>
          </p:cNvSpPr>
          <p:nvPr>
            <p:ph type="sldNum" sz="quarter" idx="12"/>
          </p:nvPr>
        </p:nvSpPr>
        <p:spPr/>
        <p:txBody>
          <a:bodyPr/>
          <a:lstStyle/>
          <a:p>
            <a:fld id="{69B351A5-0AEB-4AF0-AFCA-7E34192B310E}" type="slidenum">
              <a:rPr lang="en-IN" smtClean="0"/>
              <a:t>‹#›</a:t>
            </a:fld>
            <a:endParaRPr lang="en-IN"/>
          </a:p>
        </p:txBody>
      </p:sp>
    </p:spTree>
    <p:extLst>
      <p:ext uri="{BB962C8B-B14F-4D97-AF65-F5344CB8AC3E}">
        <p14:creationId xmlns:p14="http://schemas.microsoft.com/office/powerpoint/2010/main" val="3525093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3F5B21-0B21-68CD-E3E2-3B9ADD4EDD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70F369-4136-C7CE-1322-EE34F6963C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4B086E-1DD2-82FE-E1D3-41CF36E197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19C618-876E-4BAC-B68F-A49FEA6F9CBD}" type="datetimeFigureOut">
              <a:rPr lang="en-IN" smtClean="0"/>
              <a:t>21-01-2025</a:t>
            </a:fld>
            <a:endParaRPr lang="en-IN"/>
          </a:p>
        </p:txBody>
      </p:sp>
      <p:sp>
        <p:nvSpPr>
          <p:cNvPr id="5" name="Footer Placeholder 4">
            <a:extLst>
              <a:ext uri="{FF2B5EF4-FFF2-40B4-BE49-F238E27FC236}">
                <a16:creationId xmlns:a16="http://schemas.microsoft.com/office/drawing/2014/main" id="{7FF6F1A2-1D29-C6E4-6FD5-4D8E9DD9EC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923CEAE-4C97-D62B-25BF-270655EC3E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B351A5-0AEB-4AF0-AFCA-7E34192B310E}" type="slidenum">
              <a:rPr lang="en-IN" smtClean="0"/>
              <a:t>‹#›</a:t>
            </a:fld>
            <a:endParaRPr lang="en-IN"/>
          </a:p>
        </p:txBody>
      </p:sp>
    </p:spTree>
    <p:extLst>
      <p:ext uri="{BB962C8B-B14F-4D97-AF65-F5344CB8AC3E}">
        <p14:creationId xmlns:p14="http://schemas.microsoft.com/office/powerpoint/2010/main" val="841472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10F4C-1243-2382-8706-34D3CB1E720F}"/>
              </a:ext>
            </a:extLst>
          </p:cNvPr>
          <p:cNvSpPr>
            <a:spLocks noGrp="1"/>
          </p:cNvSpPr>
          <p:nvPr>
            <p:ph type="ctrTitle"/>
          </p:nvPr>
        </p:nvSpPr>
        <p:spPr/>
        <p:txBody>
          <a:bodyPr/>
          <a:lstStyle/>
          <a:p>
            <a:r>
              <a:rPr lang="en-US" dirty="0"/>
              <a:t>Serial communication</a:t>
            </a:r>
            <a:endParaRPr lang="en-IN" dirty="0"/>
          </a:p>
        </p:txBody>
      </p:sp>
      <p:sp>
        <p:nvSpPr>
          <p:cNvPr id="3" name="Subtitle 2">
            <a:extLst>
              <a:ext uri="{FF2B5EF4-FFF2-40B4-BE49-F238E27FC236}">
                <a16:creationId xmlns:a16="http://schemas.microsoft.com/office/drawing/2014/main" id="{CCD9600E-E8C3-20A1-E38C-D59CBCFD610F}"/>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231117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1175-0CDA-5144-E0FE-CB9A887767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ABD5B7C-0D80-B1D4-0019-BCFB4BC1EFC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AE628F5-B5F8-0F50-E3F8-7325E8CB9167}"/>
              </a:ext>
            </a:extLst>
          </p:cNvPr>
          <p:cNvPicPr>
            <a:picLocks noChangeAspect="1"/>
          </p:cNvPicPr>
          <p:nvPr/>
        </p:nvPicPr>
        <p:blipFill>
          <a:blip r:embed="rId2"/>
          <a:stretch>
            <a:fillRect/>
          </a:stretch>
        </p:blipFill>
        <p:spPr>
          <a:xfrm>
            <a:off x="1135464" y="792251"/>
            <a:ext cx="9224387" cy="5273497"/>
          </a:xfrm>
          <a:prstGeom prst="rect">
            <a:avLst/>
          </a:prstGeom>
        </p:spPr>
      </p:pic>
    </p:spTree>
    <p:extLst>
      <p:ext uri="{BB962C8B-B14F-4D97-AF65-F5344CB8AC3E}">
        <p14:creationId xmlns:p14="http://schemas.microsoft.com/office/powerpoint/2010/main" val="1720401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F386B-EE5F-143C-5E5B-6FED15BDDE18}"/>
              </a:ext>
            </a:extLst>
          </p:cNvPr>
          <p:cNvSpPr>
            <a:spLocks noGrp="1"/>
          </p:cNvSpPr>
          <p:nvPr>
            <p:ph type="title"/>
          </p:nvPr>
        </p:nvSpPr>
        <p:spPr>
          <a:xfrm>
            <a:off x="576943" y="0"/>
            <a:ext cx="10515600" cy="770339"/>
          </a:xfrm>
        </p:spPr>
        <p:txBody>
          <a:bodyPr/>
          <a:lstStyle/>
          <a:p>
            <a:r>
              <a:rPr lang="en-US" dirty="0"/>
              <a:t>Serial communication</a:t>
            </a:r>
            <a:endParaRPr lang="en-IN" dirty="0"/>
          </a:p>
        </p:txBody>
      </p:sp>
      <p:sp>
        <p:nvSpPr>
          <p:cNvPr id="3" name="Content Placeholder 2">
            <a:extLst>
              <a:ext uri="{FF2B5EF4-FFF2-40B4-BE49-F238E27FC236}">
                <a16:creationId xmlns:a16="http://schemas.microsoft.com/office/drawing/2014/main" id="{CFE822DA-F17F-F806-7560-85FFA4E6E808}"/>
              </a:ext>
            </a:extLst>
          </p:cNvPr>
          <p:cNvSpPr>
            <a:spLocks noGrp="1"/>
          </p:cNvSpPr>
          <p:nvPr>
            <p:ph idx="1"/>
          </p:nvPr>
        </p:nvSpPr>
        <p:spPr>
          <a:xfrm>
            <a:off x="838200" y="1055077"/>
            <a:ext cx="10515600" cy="5707464"/>
          </a:xfrm>
        </p:spPr>
        <p:txBody>
          <a:bodyPr>
            <a:normAutofit lnSpcReduction="10000"/>
          </a:bodyPr>
          <a:lstStyle/>
          <a:p>
            <a:r>
              <a:rPr lang="en-US" dirty="0">
                <a:solidFill>
                  <a:srgbClr val="FF0000"/>
                </a:solidFill>
              </a:rPr>
              <a:t>Serial</a:t>
            </a:r>
            <a:r>
              <a:rPr lang="en-US" dirty="0"/>
              <a:t> communication means to transfer data </a:t>
            </a:r>
            <a:r>
              <a:rPr lang="en-US" dirty="0">
                <a:solidFill>
                  <a:srgbClr val="FF0000"/>
                </a:solidFill>
              </a:rPr>
              <a:t>bit by bit serially </a:t>
            </a:r>
            <a:r>
              <a:rPr lang="en-US" dirty="0"/>
              <a:t>at a time, whereas in </a:t>
            </a:r>
            <a:r>
              <a:rPr lang="en-US" dirty="0">
                <a:solidFill>
                  <a:srgbClr val="FF0000"/>
                </a:solidFill>
              </a:rPr>
              <a:t>parallel</a:t>
            </a:r>
            <a:r>
              <a:rPr lang="en-US" dirty="0"/>
              <a:t> communication, the </a:t>
            </a:r>
            <a:r>
              <a:rPr lang="en-US" dirty="0">
                <a:solidFill>
                  <a:srgbClr val="FF0000"/>
                </a:solidFill>
              </a:rPr>
              <a:t>number of bits that can be transferred at a time</a:t>
            </a:r>
            <a:r>
              <a:rPr lang="en-US" dirty="0"/>
              <a:t> depends upon the number of data lines available for communication.</a:t>
            </a:r>
          </a:p>
          <a:p>
            <a:endParaRPr lang="en-US" dirty="0"/>
          </a:p>
          <a:p>
            <a:pPr marL="0" indent="0">
              <a:buNone/>
            </a:pPr>
            <a:r>
              <a:rPr lang="en-US" dirty="0"/>
              <a:t>Two methods of serial communication are</a:t>
            </a:r>
          </a:p>
          <a:p>
            <a:endParaRPr lang="en-US" dirty="0"/>
          </a:p>
          <a:p>
            <a:r>
              <a:rPr lang="en-US" dirty="0"/>
              <a:t>Synchronous Communication: Transfer of </a:t>
            </a:r>
            <a:r>
              <a:rPr lang="en-US" dirty="0">
                <a:solidFill>
                  <a:srgbClr val="0070C0"/>
                </a:solidFill>
              </a:rPr>
              <a:t>bulk data </a:t>
            </a:r>
            <a:r>
              <a:rPr lang="en-US" dirty="0"/>
              <a:t>in the framed structure at a time</a:t>
            </a:r>
          </a:p>
          <a:p>
            <a:r>
              <a:rPr lang="en-US" dirty="0"/>
              <a:t>Asynchronous Communication: Transfer of a </a:t>
            </a:r>
            <a:r>
              <a:rPr lang="en-US" dirty="0">
                <a:solidFill>
                  <a:srgbClr val="0070C0"/>
                </a:solidFill>
              </a:rPr>
              <a:t>byte data</a:t>
            </a:r>
            <a:r>
              <a:rPr lang="en-US" dirty="0"/>
              <a:t> in the framed structure at a time</a:t>
            </a:r>
          </a:p>
          <a:p>
            <a:r>
              <a:rPr lang="en-US" dirty="0"/>
              <a:t>8051 has built-in UART with RXD (serial data receive pin) and TXD (serial data transmit pin) on PORT3.0 and PORT3.1 respectively.</a:t>
            </a:r>
            <a:endParaRPr lang="en-IN" dirty="0"/>
          </a:p>
        </p:txBody>
      </p:sp>
    </p:spTree>
    <p:extLst>
      <p:ext uri="{BB962C8B-B14F-4D97-AF65-F5344CB8AC3E}">
        <p14:creationId xmlns:p14="http://schemas.microsoft.com/office/powerpoint/2010/main" val="3633061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A803C-A15C-7FF5-B5F6-4614C6DFC36D}"/>
              </a:ext>
            </a:extLst>
          </p:cNvPr>
          <p:cNvSpPr>
            <a:spLocks noGrp="1"/>
          </p:cNvSpPr>
          <p:nvPr>
            <p:ph type="title"/>
          </p:nvPr>
        </p:nvSpPr>
        <p:spPr/>
        <p:txBody>
          <a:bodyPr/>
          <a:lstStyle/>
          <a:p>
            <a:r>
              <a:rPr lang="en-IN" b="1" i="0" dirty="0">
                <a:solidFill>
                  <a:srgbClr val="212121"/>
                </a:solidFill>
                <a:effectLst/>
                <a:latin typeface="Roboto" panose="02000000000000000000" pitchFamily="2" charset="0"/>
              </a:rPr>
              <a:t>Asynchronous communication</a:t>
            </a:r>
            <a:endParaRPr lang="en-IN" dirty="0"/>
          </a:p>
        </p:txBody>
      </p:sp>
      <p:sp>
        <p:nvSpPr>
          <p:cNvPr id="3" name="Content Placeholder 2">
            <a:extLst>
              <a:ext uri="{FF2B5EF4-FFF2-40B4-BE49-F238E27FC236}">
                <a16:creationId xmlns:a16="http://schemas.microsoft.com/office/drawing/2014/main" id="{FA950576-02A3-ADBB-F957-76CF04DD2D03}"/>
              </a:ext>
            </a:extLst>
          </p:cNvPr>
          <p:cNvSpPr>
            <a:spLocks noGrp="1"/>
          </p:cNvSpPr>
          <p:nvPr>
            <p:ph idx="1"/>
          </p:nvPr>
        </p:nvSpPr>
        <p:spPr>
          <a:xfrm>
            <a:off x="838200" y="1426866"/>
            <a:ext cx="10515600" cy="5066009"/>
          </a:xfrm>
        </p:spPr>
        <p:txBody>
          <a:bodyPr>
            <a:normAutofit fontScale="92500" lnSpcReduction="20000"/>
          </a:bodyPr>
          <a:lstStyle/>
          <a:p>
            <a:r>
              <a:rPr lang="en-US" dirty="0"/>
              <a:t>Asynchronous serial communication is widely used for byte-oriented transmission.</a:t>
            </a:r>
          </a:p>
          <a:p>
            <a:endParaRPr lang="en-US" dirty="0"/>
          </a:p>
          <a:p>
            <a:r>
              <a:rPr lang="en-US" dirty="0"/>
              <a:t>Frame structure in Asynchronous communication:</a:t>
            </a:r>
          </a:p>
          <a:p>
            <a:endParaRPr lang="en-US" dirty="0"/>
          </a:p>
          <a:p>
            <a:r>
              <a:rPr lang="en-US" dirty="0">
                <a:solidFill>
                  <a:srgbClr val="FF0000"/>
                </a:solidFill>
              </a:rPr>
              <a:t>START bit</a:t>
            </a:r>
            <a:r>
              <a:rPr lang="en-US" dirty="0"/>
              <a:t>: It is a bit with which serial communication starts and it is always low.</a:t>
            </a:r>
          </a:p>
          <a:p>
            <a:r>
              <a:rPr lang="en-US" dirty="0">
                <a:solidFill>
                  <a:srgbClr val="FF0000"/>
                </a:solidFill>
              </a:rPr>
              <a:t>Data bits packet: </a:t>
            </a:r>
            <a:r>
              <a:rPr lang="en-US" dirty="0"/>
              <a:t>Data bits can be 5 to 9 bits packet. Normally we use 8 data bit packet, which is always sent after the START bit.</a:t>
            </a:r>
          </a:p>
          <a:p>
            <a:r>
              <a:rPr lang="en-US" dirty="0">
                <a:solidFill>
                  <a:srgbClr val="FF0000"/>
                </a:solidFill>
              </a:rPr>
              <a:t>STOP bit</a:t>
            </a:r>
            <a:r>
              <a:rPr lang="en-US" dirty="0"/>
              <a:t>: This is one or two bits. It is sent after the data bits packet to indicate the end of the frame. The stop bit is always logic high.</a:t>
            </a:r>
          </a:p>
          <a:p>
            <a:r>
              <a:rPr lang="en-US" dirty="0"/>
              <a:t>In an asynchronous serial communication frame, the first START bit followed by the data byte and at last STOP bit forms a 10-bit frame. Sometimes the last bit is also used as a parity bit</a:t>
            </a:r>
            <a:endParaRPr lang="en-IN" dirty="0"/>
          </a:p>
        </p:txBody>
      </p:sp>
    </p:spTree>
    <p:extLst>
      <p:ext uri="{BB962C8B-B14F-4D97-AF65-F5344CB8AC3E}">
        <p14:creationId xmlns:p14="http://schemas.microsoft.com/office/powerpoint/2010/main" val="2694117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B8701-8DB9-B424-E062-5385F051AC96}"/>
              </a:ext>
            </a:extLst>
          </p:cNvPr>
          <p:cNvSpPr>
            <a:spLocks noGrp="1"/>
          </p:cNvSpPr>
          <p:nvPr>
            <p:ph type="title"/>
          </p:nvPr>
        </p:nvSpPr>
        <p:spPr/>
        <p:txBody>
          <a:bodyPr/>
          <a:lstStyle/>
          <a:p>
            <a:r>
              <a:rPr lang="en-IN" b="1" i="0" dirty="0">
                <a:solidFill>
                  <a:srgbClr val="212121"/>
                </a:solidFill>
                <a:effectLst/>
                <a:latin typeface="Roboto" panose="02000000000000000000" pitchFamily="2" charset="0"/>
              </a:rPr>
              <a:t>8051 Serial communication Registers</a:t>
            </a:r>
            <a:endParaRPr lang="en-IN" dirty="0"/>
          </a:p>
        </p:txBody>
      </p:sp>
      <p:sp>
        <p:nvSpPr>
          <p:cNvPr id="3" name="Content Placeholder 2">
            <a:extLst>
              <a:ext uri="{FF2B5EF4-FFF2-40B4-BE49-F238E27FC236}">
                <a16:creationId xmlns:a16="http://schemas.microsoft.com/office/drawing/2014/main" id="{A2FF07CA-96DF-534D-A4F9-08B9DE034CE6}"/>
              </a:ext>
            </a:extLst>
          </p:cNvPr>
          <p:cNvSpPr>
            <a:spLocks noGrp="1"/>
          </p:cNvSpPr>
          <p:nvPr>
            <p:ph idx="1"/>
          </p:nvPr>
        </p:nvSpPr>
        <p:spPr>
          <a:xfrm>
            <a:off x="667378" y="1534223"/>
            <a:ext cx="10515600" cy="4351338"/>
          </a:xfrm>
        </p:spPr>
        <p:txBody>
          <a:bodyPr>
            <a:normAutofit/>
          </a:bodyPr>
          <a:lstStyle/>
          <a:p>
            <a:pPr marL="0" indent="0">
              <a:buNone/>
            </a:pPr>
            <a:r>
              <a:rPr lang="en-US" b="1" dirty="0"/>
              <a:t>SBUF: Serial Buffer Register</a:t>
            </a:r>
          </a:p>
          <a:p>
            <a:r>
              <a:rPr lang="en-US" dirty="0"/>
              <a:t>This is the serial communication data register used to transmit or receive data through it.</a:t>
            </a:r>
          </a:p>
          <a:p>
            <a:endParaRPr lang="en-US" dirty="0"/>
          </a:p>
          <a:p>
            <a:pPr marL="0" indent="0">
              <a:buNone/>
            </a:pPr>
            <a:endParaRPr lang="en-US" b="1" dirty="0"/>
          </a:p>
          <a:p>
            <a:pPr marL="0" indent="0">
              <a:buNone/>
            </a:pPr>
            <a:r>
              <a:rPr lang="en-US" b="1" dirty="0"/>
              <a:t>SCON: Serial Control Register</a:t>
            </a:r>
            <a:endParaRPr lang="en-US" dirty="0"/>
          </a:p>
          <a:p>
            <a:r>
              <a:rPr lang="en-US" dirty="0"/>
              <a:t>Serial control register SCON is used to set serial communication operation modes. Also it is used to control transmit and receive operations.</a:t>
            </a:r>
            <a:endParaRPr lang="en-IN" dirty="0"/>
          </a:p>
        </p:txBody>
      </p:sp>
      <p:pic>
        <p:nvPicPr>
          <p:cNvPr id="9" name="Picture 8">
            <a:extLst>
              <a:ext uri="{FF2B5EF4-FFF2-40B4-BE49-F238E27FC236}">
                <a16:creationId xmlns:a16="http://schemas.microsoft.com/office/drawing/2014/main" id="{F3DEB7B3-AF16-450B-AE86-02372745D34E}"/>
              </a:ext>
            </a:extLst>
          </p:cNvPr>
          <p:cNvPicPr>
            <a:picLocks noChangeAspect="1"/>
          </p:cNvPicPr>
          <p:nvPr/>
        </p:nvPicPr>
        <p:blipFill>
          <a:blip r:embed="rId2"/>
          <a:stretch>
            <a:fillRect/>
          </a:stretch>
        </p:blipFill>
        <p:spPr>
          <a:xfrm>
            <a:off x="1965071" y="2859786"/>
            <a:ext cx="6995766" cy="762066"/>
          </a:xfrm>
          <a:prstGeom prst="rect">
            <a:avLst/>
          </a:prstGeom>
        </p:spPr>
      </p:pic>
      <p:pic>
        <p:nvPicPr>
          <p:cNvPr id="11" name="Picture 10">
            <a:extLst>
              <a:ext uri="{FF2B5EF4-FFF2-40B4-BE49-F238E27FC236}">
                <a16:creationId xmlns:a16="http://schemas.microsoft.com/office/drawing/2014/main" id="{0700DB28-338B-A610-D27A-19FE751C8AAD}"/>
              </a:ext>
            </a:extLst>
          </p:cNvPr>
          <p:cNvPicPr>
            <a:picLocks noChangeAspect="1"/>
          </p:cNvPicPr>
          <p:nvPr/>
        </p:nvPicPr>
        <p:blipFill>
          <a:blip r:embed="rId3"/>
          <a:stretch>
            <a:fillRect/>
          </a:stretch>
        </p:blipFill>
        <p:spPr>
          <a:xfrm>
            <a:off x="2070072" y="5680961"/>
            <a:ext cx="7087214" cy="746825"/>
          </a:xfrm>
          <a:prstGeom prst="rect">
            <a:avLst/>
          </a:prstGeom>
        </p:spPr>
      </p:pic>
    </p:spTree>
    <p:extLst>
      <p:ext uri="{BB962C8B-B14F-4D97-AF65-F5344CB8AC3E}">
        <p14:creationId xmlns:p14="http://schemas.microsoft.com/office/powerpoint/2010/main" val="565574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2C577-88B8-F179-AF3C-40AA1111153A}"/>
              </a:ext>
            </a:extLst>
          </p:cNvPr>
          <p:cNvSpPr>
            <a:spLocks noGrp="1"/>
          </p:cNvSpPr>
          <p:nvPr>
            <p:ph type="title"/>
          </p:nvPr>
        </p:nvSpPr>
        <p:spPr>
          <a:xfrm>
            <a:off x="0" y="-128868"/>
            <a:ext cx="10515600" cy="1325563"/>
          </a:xfrm>
        </p:spPr>
        <p:txBody>
          <a:bodyPr/>
          <a:lstStyle/>
          <a:p>
            <a:r>
              <a:rPr lang="en-IN" dirty="0"/>
              <a:t>SCON </a:t>
            </a:r>
          </a:p>
        </p:txBody>
      </p:sp>
      <p:pic>
        <p:nvPicPr>
          <p:cNvPr id="5" name="Content Placeholder 4">
            <a:extLst>
              <a:ext uri="{FF2B5EF4-FFF2-40B4-BE49-F238E27FC236}">
                <a16:creationId xmlns:a16="http://schemas.microsoft.com/office/drawing/2014/main" id="{A9FD1ECE-30F9-ED50-687F-ACBB3FDB41B1}"/>
              </a:ext>
            </a:extLst>
          </p:cNvPr>
          <p:cNvPicPr>
            <a:picLocks noGrp="1" noChangeAspect="1"/>
          </p:cNvPicPr>
          <p:nvPr>
            <p:ph idx="1"/>
          </p:nvPr>
        </p:nvPicPr>
        <p:blipFill>
          <a:blip r:embed="rId2"/>
          <a:stretch>
            <a:fillRect/>
          </a:stretch>
        </p:blipFill>
        <p:spPr>
          <a:xfrm>
            <a:off x="2210748" y="975631"/>
            <a:ext cx="7810327" cy="823024"/>
          </a:xfrm>
        </p:spPr>
      </p:pic>
      <p:pic>
        <p:nvPicPr>
          <p:cNvPr id="7" name="Picture 6">
            <a:extLst>
              <a:ext uri="{FF2B5EF4-FFF2-40B4-BE49-F238E27FC236}">
                <a16:creationId xmlns:a16="http://schemas.microsoft.com/office/drawing/2014/main" id="{3BEF8FE0-E532-A6F8-90CC-539D2ABBF960}"/>
              </a:ext>
            </a:extLst>
          </p:cNvPr>
          <p:cNvPicPr>
            <a:picLocks noChangeAspect="1"/>
          </p:cNvPicPr>
          <p:nvPr/>
        </p:nvPicPr>
        <p:blipFill>
          <a:blip r:embed="rId3"/>
          <a:stretch>
            <a:fillRect/>
          </a:stretch>
        </p:blipFill>
        <p:spPr>
          <a:xfrm>
            <a:off x="1442848" y="1798655"/>
            <a:ext cx="8895996" cy="3089017"/>
          </a:xfrm>
          <a:prstGeom prst="rect">
            <a:avLst/>
          </a:prstGeom>
        </p:spPr>
      </p:pic>
    </p:spTree>
    <p:extLst>
      <p:ext uri="{BB962C8B-B14F-4D97-AF65-F5344CB8AC3E}">
        <p14:creationId xmlns:p14="http://schemas.microsoft.com/office/powerpoint/2010/main" val="1046371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746B9E-61B5-8F09-253A-8E378221C8F1}"/>
              </a:ext>
            </a:extLst>
          </p:cNvPr>
          <p:cNvSpPr>
            <a:spLocks noGrp="1"/>
          </p:cNvSpPr>
          <p:nvPr>
            <p:ph idx="1"/>
          </p:nvPr>
        </p:nvSpPr>
        <p:spPr>
          <a:xfrm>
            <a:off x="271305" y="776637"/>
            <a:ext cx="11816861" cy="6081363"/>
          </a:xfrm>
        </p:spPr>
        <p:txBody>
          <a:bodyPr>
            <a:normAutofit fontScale="77500" lnSpcReduction="20000"/>
          </a:bodyPr>
          <a:lstStyle/>
          <a:p>
            <a:pPr marL="0" indent="0" algn="l">
              <a:buNone/>
            </a:pPr>
            <a:r>
              <a:rPr lang="en-US" b="1" i="0" dirty="0">
                <a:solidFill>
                  <a:srgbClr val="333333"/>
                </a:solidFill>
                <a:effectLst/>
                <a:latin typeface="Roboto" panose="02000000000000000000" pitchFamily="2" charset="0"/>
              </a:rPr>
              <a:t>Bit 5 - SM2:</a:t>
            </a:r>
            <a:r>
              <a:rPr lang="en-US" b="0" i="0" dirty="0">
                <a:solidFill>
                  <a:srgbClr val="333333"/>
                </a:solidFill>
                <a:effectLst/>
                <a:latin typeface="Roboto" panose="02000000000000000000" pitchFamily="2" charset="0"/>
              </a:rPr>
              <a:t> for </a:t>
            </a:r>
            <a:r>
              <a:rPr lang="en-US" b="0" i="0" dirty="0">
                <a:solidFill>
                  <a:srgbClr val="FF0000"/>
                </a:solidFill>
                <a:effectLst/>
                <a:latin typeface="Roboto" panose="02000000000000000000" pitchFamily="2" charset="0"/>
              </a:rPr>
              <a:t>Multiprocessor Communication</a:t>
            </a:r>
          </a:p>
          <a:p>
            <a:pPr marL="0" indent="0" algn="l">
              <a:buNone/>
            </a:pPr>
            <a:r>
              <a:rPr lang="en-US" b="0" i="0" dirty="0">
                <a:solidFill>
                  <a:srgbClr val="333333"/>
                </a:solidFill>
                <a:effectLst/>
                <a:latin typeface="Roboto" panose="02000000000000000000" pitchFamily="2" charset="0"/>
              </a:rPr>
              <a:t>        This bit enables a multiprocessor communication feature in mode 2 &amp; 3.</a:t>
            </a:r>
          </a:p>
          <a:p>
            <a:pPr marL="0" indent="0" algn="l">
              <a:buNone/>
            </a:pPr>
            <a:r>
              <a:rPr lang="en-US" b="1" i="0" dirty="0">
                <a:solidFill>
                  <a:srgbClr val="333333"/>
                </a:solidFill>
                <a:effectLst/>
                <a:latin typeface="Roboto" panose="02000000000000000000" pitchFamily="2" charset="0"/>
              </a:rPr>
              <a:t>Bit 4 - </a:t>
            </a:r>
            <a:r>
              <a:rPr lang="en-US" b="1" i="0" dirty="0">
                <a:solidFill>
                  <a:srgbClr val="FF0000"/>
                </a:solidFill>
                <a:effectLst/>
                <a:latin typeface="Roboto" panose="02000000000000000000" pitchFamily="2" charset="0"/>
              </a:rPr>
              <a:t>REN:</a:t>
            </a:r>
            <a:r>
              <a:rPr lang="en-US" b="0" i="0" dirty="0">
                <a:solidFill>
                  <a:srgbClr val="FF0000"/>
                </a:solidFill>
                <a:effectLst/>
                <a:latin typeface="Roboto" panose="02000000000000000000" pitchFamily="2" charset="0"/>
              </a:rPr>
              <a:t> Receive Enable</a:t>
            </a:r>
          </a:p>
          <a:p>
            <a:pPr marL="0" indent="0" algn="l">
              <a:buNone/>
            </a:pPr>
            <a:r>
              <a:rPr lang="en-US" b="0" i="0" dirty="0">
                <a:solidFill>
                  <a:srgbClr val="333333"/>
                </a:solidFill>
                <a:effectLst/>
                <a:latin typeface="Roboto" panose="02000000000000000000" pitchFamily="2" charset="0"/>
              </a:rPr>
              <a:t>        1 = Receive enable</a:t>
            </a:r>
          </a:p>
          <a:p>
            <a:pPr marL="0" indent="0" algn="l">
              <a:buNone/>
            </a:pPr>
            <a:r>
              <a:rPr lang="en-US" b="0" i="0" dirty="0">
                <a:solidFill>
                  <a:srgbClr val="333333"/>
                </a:solidFill>
                <a:effectLst/>
                <a:latin typeface="Roboto" panose="02000000000000000000" pitchFamily="2" charset="0"/>
              </a:rPr>
              <a:t>        0 = Receive disable</a:t>
            </a:r>
          </a:p>
          <a:p>
            <a:pPr marL="0" indent="0" algn="l">
              <a:buNone/>
            </a:pPr>
            <a:r>
              <a:rPr lang="en-US" b="1" i="0" dirty="0">
                <a:solidFill>
                  <a:srgbClr val="333333"/>
                </a:solidFill>
                <a:effectLst/>
                <a:latin typeface="Roboto" panose="02000000000000000000" pitchFamily="2" charset="0"/>
              </a:rPr>
              <a:t>Bit 3 - TB8: </a:t>
            </a:r>
            <a:r>
              <a:rPr lang="en-US" b="0" i="0" dirty="0">
                <a:solidFill>
                  <a:srgbClr val="333333"/>
                </a:solidFill>
                <a:effectLst/>
                <a:latin typeface="Roboto" panose="02000000000000000000" pitchFamily="2" charset="0"/>
              </a:rPr>
              <a:t>9th Transmit Bit</a:t>
            </a:r>
          </a:p>
          <a:p>
            <a:pPr marL="0" indent="0" algn="l">
              <a:buNone/>
            </a:pPr>
            <a:r>
              <a:rPr lang="en-US" b="0" i="0" dirty="0">
                <a:solidFill>
                  <a:srgbClr val="333333"/>
                </a:solidFill>
                <a:effectLst/>
                <a:latin typeface="Roboto" panose="02000000000000000000" pitchFamily="2" charset="0"/>
              </a:rPr>
              <a:t>        This is the </a:t>
            </a:r>
            <a:r>
              <a:rPr lang="en-US" b="0" i="0" dirty="0">
                <a:solidFill>
                  <a:srgbClr val="FF0000"/>
                </a:solidFill>
                <a:effectLst/>
                <a:latin typeface="Roboto" panose="02000000000000000000" pitchFamily="2" charset="0"/>
              </a:rPr>
              <a:t>9th bit which is to be transmitted in mode 2 &amp; 3 </a:t>
            </a:r>
            <a:r>
              <a:rPr lang="en-US" b="0" i="0" dirty="0">
                <a:solidFill>
                  <a:srgbClr val="333333"/>
                </a:solidFill>
                <a:effectLst/>
                <a:latin typeface="Roboto" panose="02000000000000000000" pitchFamily="2" charset="0"/>
              </a:rPr>
              <a:t>(9-bit mode)</a:t>
            </a:r>
          </a:p>
          <a:p>
            <a:pPr marL="0" indent="0" algn="l">
              <a:buNone/>
            </a:pPr>
            <a:r>
              <a:rPr lang="en-US" b="1" i="0" dirty="0">
                <a:solidFill>
                  <a:srgbClr val="333333"/>
                </a:solidFill>
                <a:effectLst/>
                <a:latin typeface="Roboto" panose="02000000000000000000" pitchFamily="2" charset="0"/>
              </a:rPr>
              <a:t>Bit 2 - RB8: </a:t>
            </a:r>
            <a:r>
              <a:rPr lang="en-US" b="0" i="0" dirty="0">
                <a:solidFill>
                  <a:srgbClr val="333333"/>
                </a:solidFill>
                <a:effectLst/>
                <a:latin typeface="Roboto" panose="02000000000000000000" pitchFamily="2" charset="0"/>
              </a:rPr>
              <a:t>9th Receive Bit</a:t>
            </a:r>
          </a:p>
          <a:p>
            <a:pPr marL="0" indent="0" algn="l">
              <a:buNone/>
            </a:pPr>
            <a:r>
              <a:rPr lang="en-US" b="0" i="0" dirty="0">
                <a:solidFill>
                  <a:srgbClr val="333333"/>
                </a:solidFill>
                <a:effectLst/>
                <a:latin typeface="Roboto" panose="02000000000000000000" pitchFamily="2" charset="0"/>
              </a:rPr>
              <a:t>This is the </a:t>
            </a:r>
            <a:r>
              <a:rPr lang="en-US" b="0" i="0" dirty="0">
                <a:solidFill>
                  <a:srgbClr val="FF0000"/>
                </a:solidFill>
                <a:effectLst/>
                <a:latin typeface="Roboto" panose="02000000000000000000" pitchFamily="2" charset="0"/>
              </a:rPr>
              <a:t>9th received bit in mode 2 &amp; 3 (9-bit mode), </a:t>
            </a:r>
            <a:r>
              <a:rPr lang="en-US" b="0" i="0" dirty="0">
                <a:solidFill>
                  <a:srgbClr val="333333"/>
                </a:solidFill>
                <a:effectLst/>
                <a:latin typeface="Roboto" panose="02000000000000000000" pitchFamily="2" charset="0"/>
              </a:rPr>
              <a:t>whereas in mode 1 if SM2 = 0 then RB8 hold the stop bit that received</a:t>
            </a:r>
          </a:p>
          <a:p>
            <a:pPr marL="0" indent="0" algn="l">
              <a:buNone/>
            </a:pPr>
            <a:r>
              <a:rPr lang="en-US" b="1" i="0" dirty="0">
                <a:solidFill>
                  <a:srgbClr val="333333"/>
                </a:solidFill>
                <a:effectLst/>
                <a:latin typeface="Roboto" panose="02000000000000000000" pitchFamily="2" charset="0"/>
              </a:rPr>
              <a:t>Bit 1 - TI: </a:t>
            </a:r>
            <a:r>
              <a:rPr lang="en-US" b="0" i="0" dirty="0">
                <a:solidFill>
                  <a:srgbClr val="FF0000"/>
                </a:solidFill>
                <a:effectLst/>
                <a:latin typeface="Roboto" panose="02000000000000000000" pitchFamily="2" charset="0"/>
              </a:rPr>
              <a:t>Transmit Interrupt Flag</a:t>
            </a:r>
          </a:p>
          <a:p>
            <a:pPr marL="0" indent="0" algn="l">
              <a:buNone/>
            </a:pPr>
            <a:r>
              <a:rPr lang="en-US" b="0" i="0" dirty="0">
                <a:solidFill>
                  <a:srgbClr val="333333"/>
                </a:solidFill>
                <a:effectLst/>
                <a:latin typeface="Roboto" panose="02000000000000000000" pitchFamily="2" charset="0"/>
              </a:rPr>
              <a:t>This bit indicates the transmission is complete and gets set after transmitting the byte from the buffer. Normally TI (Transmit Interrupt Flag) is set by hardware at the end of the 8th bit in mode 0 and at the beginning of stop bit in other modes.</a:t>
            </a:r>
          </a:p>
          <a:p>
            <a:pPr marL="0" indent="0" algn="l">
              <a:buNone/>
            </a:pPr>
            <a:r>
              <a:rPr lang="en-US" b="1" i="0" dirty="0">
                <a:solidFill>
                  <a:srgbClr val="333333"/>
                </a:solidFill>
                <a:effectLst/>
                <a:latin typeface="Roboto" panose="02000000000000000000" pitchFamily="2" charset="0"/>
              </a:rPr>
              <a:t>Bit 0 – RI: </a:t>
            </a:r>
            <a:r>
              <a:rPr lang="en-US" b="0" i="0" dirty="0">
                <a:solidFill>
                  <a:srgbClr val="FF0000"/>
                </a:solidFill>
                <a:effectLst/>
                <a:latin typeface="Roboto" panose="02000000000000000000" pitchFamily="2" charset="0"/>
              </a:rPr>
              <a:t>Receive Interrupt Flag</a:t>
            </a:r>
          </a:p>
          <a:p>
            <a:pPr marL="0" indent="0" algn="l">
              <a:buNone/>
            </a:pPr>
            <a:r>
              <a:rPr lang="en-US" b="0" i="0" dirty="0">
                <a:solidFill>
                  <a:srgbClr val="333333"/>
                </a:solidFill>
                <a:effectLst/>
                <a:latin typeface="Roboto" panose="02000000000000000000" pitchFamily="2" charset="0"/>
              </a:rPr>
              <a:t>This bit indicates reception is complete and gets set after receiving the complete byte in the buffer. Normally RI (Receive Interrupt Flag) is set by hardware in receiving mode at the end of the 8th bit in mode 0 and at the stop bit receive time in other modes.</a:t>
            </a:r>
          </a:p>
        </p:txBody>
      </p:sp>
      <p:pic>
        <p:nvPicPr>
          <p:cNvPr id="4" name="Content Placeholder 4">
            <a:extLst>
              <a:ext uri="{FF2B5EF4-FFF2-40B4-BE49-F238E27FC236}">
                <a16:creationId xmlns:a16="http://schemas.microsoft.com/office/drawing/2014/main" id="{92A1AE2D-4364-A22E-F30A-C53990DC8B10}"/>
              </a:ext>
            </a:extLst>
          </p:cNvPr>
          <p:cNvPicPr>
            <a:picLocks noChangeAspect="1"/>
          </p:cNvPicPr>
          <p:nvPr/>
        </p:nvPicPr>
        <p:blipFill>
          <a:blip r:embed="rId2"/>
          <a:stretch>
            <a:fillRect/>
          </a:stretch>
        </p:blipFill>
        <p:spPr>
          <a:xfrm>
            <a:off x="2120498" y="-46387"/>
            <a:ext cx="7810327" cy="823024"/>
          </a:xfrm>
          <a:prstGeom prst="rect">
            <a:avLst/>
          </a:prstGeom>
        </p:spPr>
      </p:pic>
    </p:spTree>
    <p:extLst>
      <p:ext uri="{BB962C8B-B14F-4D97-AF65-F5344CB8AC3E}">
        <p14:creationId xmlns:p14="http://schemas.microsoft.com/office/powerpoint/2010/main" val="2834078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BBC06-ACEC-03FD-C912-882F494E710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79CBB6C-8FB3-D147-A9C9-3D2899555A4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EE8C4A1-3E19-6BB2-AB33-8BD65F3F9381}"/>
              </a:ext>
            </a:extLst>
          </p:cNvPr>
          <p:cNvPicPr>
            <a:picLocks noChangeAspect="1"/>
          </p:cNvPicPr>
          <p:nvPr/>
        </p:nvPicPr>
        <p:blipFill>
          <a:blip r:embed="rId2"/>
          <a:stretch>
            <a:fillRect/>
          </a:stretch>
        </p:blipFill>
        <p:spPr>
          <a:xfrm>
            <a:off x="432768" y="18662"/>
            <a:ext cx="11022353" cy="6727396"/>
          </a:xfrm>
          <a:prstGeom prst="rect">
            <a:avLst/>
          </a:prstGeom>
        </p:spPr>
      </p:pic>
    </p:spTree>
    <p:extLst>
      <p:ext uri="{BB962C8B-B14F-4D97-AF65-F5344CB8AC3E}">
        <p14:creationId xmlns:p14="http://schemas.microsoft.com/office/powerpoint/2010/main" val="2238030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58D94-0FBF-2E81-692B-5F1F812B3C41}"/>
              </a:ext>
            </a:extLst>
          </p:cNvPr>
          <p:cNvSpPr>
            <a:spLocks noGrp="1"/>
          </p:cNvSpPr>
          <p:nvPr>
            <p:ph type="title"/>
          </p:nvPr>
        </p:nvSpPr>
        <p:spPr/>
        <p:txBody>
          <a:bodyPr/>
          <a:lstStyle/>
          <a:p>
            <a:endParaRPr lang="en-IN" dirty="0"/>
          </a:p>
        </p:txBody>
      </p:sp>
      <p:pic>
        <p:nvPicPr>
          <p:cNvPr id="6" name="Content Placeholder 5">
            <a:extLst>
              <a:ext uri="{FF2B5EF4-FFF2-40B4-BE49-F238E27FC236}">
                <a16:creationId xmlns:a16="http://schemas.microsoft.com/office/drawing/2014/main" id="{6D75DEB0-6414-367A-BD7C-29703B5D50C6}"/>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2903" t="3846" r="2777" b="11117"/>
          <a:stretch/>
        </p:blipFill>
        <p:spPr>
          <a:xfrm>
            <a:off x="838200" y="1511558"/>
            <a:ext cx="9755378" cy="4105469"/>
          </a:xfrm>
        </p:spPr>
      </p:pic>
    </p:spTree>
    <p:extLst>
      <p:ext uri="{BB962C8B-B14F-4D97-AF65-F5344CB8AC3E}">
        <p14:creationId xmlns:p14="http://schemas.microsoft.com/office/powerpoint/2010/main" val="1843506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849A-C222-E559-200F-5F7CCBF1F57B}"/>
              </a:ext>
            </a:extLst>
          </p:cNvPr>
          <p:cNvSpPr>
            <a:spLocks noGrp="1"/>
          </p:cNvSpPr>
          <p:nvPr>
            <p:ph type="title"/>
          </p:nvPr>
        </p:nvSpPr>
        <p:spPr/>
        <p:txBody>
          <a:bodyPr/>
          <a:lstStyle/>
          <a:p>
            <a:r>
              <a:rPr lang="en-IN" dirty="0"/>
              <a:t>SERIAL TRANSMISSION</a:t>
            </a:r>
          </a:p>
        </p:txBody>
      </p:sp>
      <p:sp>
        <p:nvSpPr>
          <p:cNvPr id="3" name="Content Placeholder 2">
            <a:extLst>
              <a:ext uri="{FF2B5EF4-FFF2-40B4-BE49-F238E27FC236}">
                <a16:creationId xmlns:a16="http://schemas.microsoft.com/office/drawing/2014/main" id="{6E0798B7-5A86-E19D-63D6-60BB8F3B1F2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CAF1DC2-D9BF-1CF2-7155-93F9F46358CF}"/>
              </a:ext>
            </a:extLst>
          </p:cNvPr>
          <p:cNvPicPr>
            <a:picLocks noChangeAspect="1"/>
          </p:cNvPicPr>
          <p:nvPr/>
        </p:nvPicPr>
        <p:blipFill>
          <a:blip r:embed="rId2"/>
          <a:stretch>
            <a:fillRect/>
          </a:stretch>
        </p:blipFill>
        <p:spPr>
          <a:xfrm>
            <a:off x="1607701" y="1710784"/>
            <a:ext cx="9262933" cy="4351338"/>
          </a:xfrm>
          <a:prstGeom prst="rect">
            <a:avLst/>
          </a:prstGeom>
        </p:spPr>
      </p:pic>
    </p:spTree>
    <p:extLst>
      <p:ext uri="{BB962C8B-B14F-4D97-AF65-F5344CB8AC3E}">
        <p14:creationId xmlns:p14="http://schemas.microsoft.com/office/powerpoint/2010/main" val="2042650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2E48C-F465-2660-EBE0-AAA5AF21B4A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288125-7AAD-9629-B161-65FB81D62EE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8BFBD4E-61DF-DBD9-82B0-03DFF2699CAD}"/>
              </a:ext>
            </a:extLst>
          </p:cNvPr>
          <p:cNvPicPr>
            <a:picLocks noChangeAspect="1"/>
          </p:cNvPicPr>
          <p:nvPr/>
        </p:nvPicPr>
        <p:blipFill>
          <a:blip r:embed="rId2"/>
          <a:stretch>
            <a:fillRect/>
          </a:stretch>
        </p:blipFill>
        <p:spPr>
          <a:xfrm>
            <a:off x="1050671" y="122757"/>
            <a:ext cx="9396098" cy="6479009"/>
          </a:xfrm>
          <a:prstGeom prst="rect">
            <a:avLst/>
          </a:prstGeom>
        </p:spPr>
      </p:pic>
    </p:spTree>
    <p:extLst>
      <p:ext uri="{BB962C8B-B14F-4D97-AF65-F5344CB8AC3E}">
        <p14:creationId xmlns:p14="http://schemas.microsoft.com/office/powerpoint/2010/main" val="2575780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1F549-BFC2-4B58-C950-AF61DC30D7DD}"/>
              </a:ext>
            </a:extLst>
          </p:cNvPr>
          <p:cNvSpPr>
            <a:spLocks noGrp="1"/>
          </p:cNvSpPr>
          <p:nvPr>
            <p:ph type="title"/>
          </p:nvPr>
        </p:nvSpPr>
        <p:spPr/>
        <p:txBody>
          <a:bodyPr/>
          <a:lstStyle/>
          <a:p>
            <a:r>
              <a:rPr lang="en-IN" dirty="0"/>
              <a:t>Serial Reception</a:t>
            </a:r>
          </a:p>
        </p:txBody>
      </p:sp>
      <p:sp>
        <p:nvSpPr>
          <p:cNvPr id="3" name="Content Placeholder 2">
            <a:extLst>
              <a:ext uri="{FF2B5EF4-FFF2-40B4-BE49-F238E27FC236}">
                <a16:creationId xmlns:a16="http://schemas.microsoft.com/office/drawing/2014/main" id="{AFB6D57D-AEE6-74E8-91AE-A994045DAA11}"/>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90091A7F-11A3-5697-A5F4-F924AB744E25}"/>
              </a:ext>
            </a:extLst>
          </p:cNvPr>
          <p:cNvPicPr>
            <a:picLocks noChangeAspect="1"/>
          </p:cNvPicPr>
          <p:nvPr/>
        </p:nvPicPr>
        <p:blipFill>
          <a:blip r:embed="rId2"/>
          <a:stretch>
            <a:fillRect/>
          </a:stretch>
        </p:blipFill>
        <p:spPr>
          <a:xfrm>
            <a:off x="1762463" y="1475645"/>
            <a:ext cx="8386372" cy="5051298"/>
          </a:xfrm>
          <a:prstGeom prst="rect">
            <a:avLst/>
          </a:prstGeom>
        </p:spPr>
      </p:pic>
    </p:spTree>
    <p:extLst>
      <p:ext uri="{BB962C8B-B14F-4D97-AF65-F5344CB8AC3E}">
        <p14:creationId xmlns:p14="http://schemas.microsoft.com/office/powerpoint/2010/main" val="13175274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TotalTime>
  <Words>528</Words>
  <Application>Microsoft Office PowerPoint</Application>
  <PresentationFormat>Widescreen</PresentationFormat>
  <Paragraphs>41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Roboto</vt:lpstr>
      <vt:lpstr>Office Theme</vt:lpstr>
      <vt:lpstr>Serial communication</vt:lpstr>
      <vt:lpstr>PowerPoint Presentation</vt:lpstr>
      <vt:lpstr>Serial communication</vt:lpstr>
      <vt:lpstr>Asynchronous communication</vt:lpstr>
      <vt:lpstr>8051 Serial communication Registers</vt:lpstr>
      <vt:lpstr>SCON </vt:lpstr>
      <vt:lpstr>PowerPoint Presentation</vt:lpstr>
      <vt:lpstr>PowerPoint Presentation</vt:lpstr>
      <vt:lpstr>PowerPoint Presentation</vt:lpstr>
      <vt:lpstr>SERIAL TRANSMISSION</vt:lpstr>
      <vt:lpstr>PowerPoint Presentation</vt:lpstr>
      <vt:lpstr>Serial Reception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Serial communication</dc:title>
  <dc:creator>KOPPERUNDEVI RAJAJI</dc:creator>
  <cp:lastModifiedBy>KOPPERUNDEVI RAJAJI</cp:lastModifiedBy>
  <cp:revision>10</cp:revision>
  <dcterms:created xsi:type="dcterms:W3CDTF">2024-02-01T12:35:34Z</dcterms:created>
  <dcterms:modified xsi:type="dcterms:W3CDTF">2025-01-21T17:08:58Z</dcterms:modified>
</cp:coreProperties>
</file>