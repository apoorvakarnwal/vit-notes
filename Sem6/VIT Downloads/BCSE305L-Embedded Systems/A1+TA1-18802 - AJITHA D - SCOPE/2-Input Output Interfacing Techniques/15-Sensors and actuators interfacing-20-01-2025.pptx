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88" r:id="rId3"/>
    <p:sldId id="389" r:id="rId4"/>
    <p:sldId id="390" r:id="rId5"/>
    <p:sldId id="331" r:id="rId6"/>
    <p:sldId id="329" r:id="rId7"/>
    <p:sldId id="328" r:id="rId8"/>
    <p:sldId id="391" r:id="rId9"/>
    <p:sldId id="387" r:id="rId10"/>
    <p:sldId id="393" r:id="rId11"/>
    <p:sldId id="394" r:id="rId12"/>
    <p:sldId id="392" r:id="rId13"/>
    <p:sldId id="334" r:id="rId14"/>
    <p:sldId id="33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7712" autoAdjust="0"/>
  </p:normalViewPr>
  <p:slideViewPr>
    <p:cSldViewPr snapToGrid="0">
      <p:cViewPr varScale="1">
        <p:scale>
          <a:sx n="72" d="100"/>
          <a:sy n="72" d="100"/>
        </p:scale>
        <p:origin x="110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0E3D1D-3F07-4F25-B799-E0D6E214A81B}" type="datetimeFigureOut">
              <a:rPr lang="en-IN" smtClean="0"/>
              <a:pPr/>
              <a:t>01-09-2024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D8D91-2A3C-4866-AAE4-EDC330400194}" type="slidenum">
              <a:rPr lang="en-IN" smtClean="0"/>
              <a:pPr/>
              <a:t>‹#›</a:t>
            </a:fld>
            <a:endParaRPr lang="en-IN"/>
          </a:p>
        </p:txBody>
      </p:sp>
    </p:spTree>
    <p:extLst>
      <p:ext uri="{BB962C8B-B14F-4D97-AF65-F5344CB8AC3E}">
        <p14:creationId xmlns:p14="http://schemas.microsoft.com/office/powerpoint/2010/main" val="248051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highlight>
                  <a:srgbClr val="FFFFFF"/>
                </a:highlight>
                <a:latin typeface="Google Sans"/>
              </a:rPr>
              <a:t>Application. Sensors are often used </a:t>
            </a:r>
            <a:r>
              <a:rPr lang="en-US" b="0" i="0" dirty="0">
                <a:solidFill>
                  <a:srgbClr val="040C28"/>
                </a:solidFill>
                <a:effectLst/>
                <a:highlight>
                  <a:srgbClr val="D3E3FD"/>
                </a:highlight>
                <a:latin typeface="Google Sans"/>
              </a:rPr>
              <a:t>to measure asset temperature, vibration, pressure or fluid levels</a:t>
            </a:r>
            <a:r>
              <a:rPr lang="en-US" b="0" i="0" dirty="0">
                <a:solidFill>
                  <a:srgbClr val="474747"/>
                </a:solidFill>
                <a:effectLst/>
                <a:highlight>
                  <a:srgbClr val="FFFFFF"/>
                </a:highlight>
                <a:latin typeface="Google Sans"/>
              </a:rPr>
              <a:t>. Industrial applications of actuators include operating dampers, valves, and couplings.</a:t>
            </a:r>
            <a:endParaRPr lang="en-IN" dirty="0"/>
          </a:p>
        </p:txBody>
      </p:sp>
      <p:sp>
        <p:nvSpPr>
          <p:cNvPr id="4" name="Slide Number Placeholder 3"/>
          <p:cNvSpPr>
            <a:spLocks noGrp="1"/>
          </p:cNvSpPr>
          <p:nvPr>
            <p:ph type="sldNum" sz="quarter" idx="5"/>
          </p:nvPr>
        </p:nvSpPr>
        <p:spPr/>
        <p:txBody>
          <a:bodyPr/>
          <a:lstStyle/>
          <a:p>
            <a:fld id="{35AD8D91-2A3C-4866-AAE4-EDC330400194}" type="slidenum">
              <a:rPr lang="en-IN" smtClean="0"/>
              <a:pPr/>
              <a:t>3</a:t>
            </a:fld>
            <a:endParaRPr lang="en-IN"/>
          </a:p>
        </p:txBody>
      </p:sp>
    </p:spTree>
    <p:extLst>
      <p:ext uri="{BB962C8B-B14F-4D97-AF65-F5344CB8AC3E}">
        <p14:creationId xmlns:p14="http://schemas.microsoft.com/office/powerpoint/2010/main" val="246599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https://kanchiuniv.ac.in/wp-content/uploads/2021/05/BMTF183T60-SENSORS-AND-ACTUATORS-1.pdf</a:t>
            </a:r>
          </a:p>
        </p:txBody>
      </p:sp>
      <p:sp>
        <p:nvSpPr>
          <p:cNvPr id="4" name="Slide Number Placeholder 3"/>
          <p:cNvSpPr>
            <a:spLocks noGrp="1"/>
          </p:cNvSpPr>
          <p:nvPr>
            <p:ph type="sldNum" sz="quarter" idx="5"/>
          </p:nvPr>
        </p:nvSpPr>
        <p:spPr/>
        <p:txBody>
          <a:bodyPr/>
          <a:lstStyle/>
          <a:p>
            <a:fld id="{35AD8D91-2A3C-4866-AAE4-EDC330400194}" type="slidenum">
              <a:rPr lang="en-IN" smtClean="0"/>
              <a:pPr/>
              <a:t>4</a:t>
            </a:fld>
            <a:endParaRPr lang="en-IN"/>
          </a:p>
        </p:txBody>
      </p:sp>
    </p:spTree>
    <p:extLst>
      <p:ext uri="{BB962C8B-B14F-4D97-AF65-F5344CB8AC3E}">
        <p14:creationId xmlns:p14="http://schemas.microsoft.com/office/powerpoint/2010/main" val="350789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The baud rate is </a:t>
            </a:r>
            <a:r>
              <a:rPr lang="en-US" sz="1200" b="1" i="0" kern="1200" dirty="0">
                <a:solidFill>
                  <a:schemeClr val="tx1"/>
                </a:solidFill>
                <a:latin typeface="+mn-lt"/>
                <a:ea typeface="+mn-ea"/>
                <a:cs typeface="+mn-cs"/>
              </a:rPr>
              <a:t>the rate at which information is transferred in a communication channel, </a:t>
            </a:r>
          </a:p>
          <a:p>
            <a:r>
              <a:rPr lang="en-US" sz="1200" b="0" i="0" kern="1200" dirty="0">
                <a:solidFill>
                  <a:schemeClr val="tx1"/>
                </a:solidFill>
                <a:latin typeface="+mn-lt"/>
                <a:ea typeface="+mn-ea"/>
                <a:cs typeface="+mn-cs"/>
              </a:rPr>
              <a:t>Baud rate is the measure of the number of changes to the signal (per second) that propagate through a transmission medium. The baud rate may be higher or lower than the bit rate, which is the number of bits per second that the user can push through the transmission system</a:t>
            </a:r>
          </a:p>
          <a:p>
            <a:endParaRPr lang="en-US" dirty="0"/>
          </a:p>
        </p:txBody>
      </p:sp>
      <p:sp>
        <p:nvSpPr>
          <p:cNvPr id="4" name="Slide Number Placeholder 3"/>
          <p:cNvSpPr>
            <a:spLocks noGrp="1"/>
          </p:cNvSpPr>
          <p:nvPr>
            <p:ph type="sldNum" sz="quarter" idx="10"/>
          </p:nvPr>
        </p:nvSpPr>
        <p:spPr/>
        <p:txBody>
          <a:bodyPr/>
          <a:lstStyle/>
          <a:p>
            <a:fld id="{22766DB1-A26B-4A33-9851-7FADE3DBD1A2}"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highlight>
                  <a:srgbClr val="FFFFFF"/>
                </a:highlight>
                <a:latin typeface="Roboto" panose="02000000000000000000" pitchFamily="2" charset="0"/>
              </a:rPr>
              <a:t>If PWM with 50% duty cycle as shown in above figure it will provide average ≈50% voltage to the motor terminal.</a:t>
            </a:r>
          </a:p>
          <a:p>
            <a:pPr algn="l"/>
            <a:r>
              <a:rPr lang="en-US" b="0" i="0" dirty="0">
                <a:solidFill>
                  <a:srgbClr val="333333"/>
                </a:solidFill>
                <a:effectLst/>
                <a:highlight>
                  <a:srgbClr val="FFFFFF"/>
                </a:highlight>
                <a:latin typeface="Roboto" panose="02000000000000000000" pitchFamily="2" charset="0"/>
              </a:rPr>
              <a:t>So in this way we get simple DC motor speed control using PWM method.</a:t>
            </a:r>
          </a:p>
          <a:p>
            <a:pPr algn="l"/>
            <a:r>
              <a:rPr lang="en-US" b="0" i="0" dirty="0">
                <a:solidFill>
                  <a:srgbClr val="333333"/>
                </a:solidFill>
                <a:effectLst/>
                <a:highlight>
                  <a:srgbClr val="FFFFFF"/>
                </a:highlight>
                <a:latin typeface="Roboto" panose="02000000000000000000" pitchFamily="2" charset="0"/>
              </a:rPr>
              <a:t>Higher duty cycle gives higher speed and lower duty cycle gives lower speed.</a:t>
            </a:r>
          </a:p>
          <a:p>
            <a:pPr algn="l"/>
            <a:r>
              <a:rPr lang="en-US" b="0" i="0" dirty="0">
                <a:solidFill>
                  <a:srgbClr val="333333"/>
                </a:solidFill>
                <a:effectLst/>
                <a:highlight>
                  <a:srgbClr val="FFFFFF"/>
                </a:highlight>
                <a:latin typeface="Roboto" panose="02000000000000000000" pitchFamily="2" charset="0"/>
              </a:rPr>
              <a:t>We can vary pulse width precisely using Microcontroller to get fine control over DC motor.</a:t>
            </a:r>
          </a:p>
          <a:p>
            <a:pPr algn="l"/>
            <a:r>
              <a:rPr lang="en-US" b="0" i="0" dirty="0">
                <a:solidFill>
                  <a:srgbClr val="333333"/>
                </a:solidFill>
                <a:effectLst/>
                <a:highlight>
                  <a:srgbClr val="FFFFFF"/>
                </a:highlight>
                <a:latin typeface="Roboto" panose="02000000000000000000" pitchFamily="2" charset="0"/>
              </a:rPr>
              <a:t>Now, we will see how to change rotational directions of DC motors.</a:t>
            </a:r>
          </a:p>
          <a:p>
            <a:endParaRPr lang="en-IN" dirty="0"/>
          </a:p>
        </p:txBody>
      </p:sp>
      <p:sp>
        <p:nvSpPr>
          <p:cNvPr id="4" name="Slide Number Placeholder 3"/>
          <p:cNvSpPr>
            <a:spLocks noGrp="1"/>
          </p:cNvSpPr>
          <p:nvPr>
            <p:ph type="sldNum" sz="quarter" idx="5"/>
          </p:nvPr>
        </p:nvSpPr>
        <p:spPr/>
        <p:txBody>
          <a:bodyPr/>
          <a:lstStyle/>
          <a:p>
            <a:fld id="{35AD8D91-2A3C-4866-AAE4-EDC330400194}" type="slidenum">
              <a:rPr lang="en-IN" smtClean="0"/>
              <a:pPr/>
              <a:t>12</a:t>
            </a:fld>
            <a:endParaRPr lang="en-IN"/>
          </a:p>
        </p:txBody>
      </p:sp>
    </p:spTree>
    <p:extLst>
      <p:ext uri="{BB962C8B-B14F-4D97-AF65-F5344CB8AC3E}">
        <p14:creationId xmlns:p14="http://schemas.microsoft.com/office/powerpoint/2010/main" val="1743321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713F-287B-9AD8-D3B3-FDF5A5E21C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09A3B1-7CF8-6A1C-2377-165B4E7E9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2F55B5-A8A2-44E0-7658-28F102002152}"/>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CCC37AF6-AB69-E7B6-9B9C-2EE091DAFE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1F30DE-847E-EF5F-C358-BF94CBD622EC}"/>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207914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9381D-087C-CE6D-94E2-328D49A06E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A110CB-D33E-C022-2663-08543543B8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855872-1380-9108-FB1A-9AEA5B9385E9}"/>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07234266-F965-6ACD-CAD6-4DE4D44B0F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2BF2AD-2B6E-CFB0-FA82-865D7E9DE9A2}"/>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3126772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69220-66E4-C056-4D9B-CC64C888FC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0E7ECC-DC4C-955A-A5C9-EA394A093B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81E317-136E-361E-986C-8B4AD3C95F85}"/>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1E759502-3F12-9506-F0BA-AAA70F551C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D84E6-2B0B-1005-16FD-5B50483CF2A4}"/>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3411974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A072-4912-6C55-9208-93A262E74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53A8D-F21F-8CEB-DEBA-77AE1043B1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0DB1B6-9E1F-424F-8EE5-0715D2BC5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74CBB2-E88B-E2D5-85D3-377B48620418}"/>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6" name="Footer Placeholder 5">
            <a:extLst>
              <a:ext uri="{FF2B5EF4-FFF2-40B4-BE49-F238E27FC236}">
                <a16:creationId xmlns:a16="http://schemas.microsoft.com/office/drawing/2014/main" id="{2BF5B925-10C1-9AFE-FF77-F1E5F3DE8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278050-EA27-F098-D70B-EF742457513F}"/>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1776852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C298-A933-8490-BD1C-E7E43CB722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91887E-C3BF-7A20-CC1C-3C95880592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ED2CDB-14BF-534E-EC09-24FB3BB42F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21A0ED-4A7E-5623-7A9F-FFDA87C699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2DDAA4-1E5C-E362-B457-F39D3EC64F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C14FE7-D126-5950-5BBC-11FAABBB6F76}"/>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8" name="Footer Placeholder 7">
            <a:extLst>
              <a:ext uri="{FF2B5EF4-FFF2-40B4-BE49-F238E27FC236}">
                <a16:creationId xmlns:a16="http://schemas.microsoft.com/office/drawing/2014/main" id="{F12D9DB8-1B23-F74C-8401-DBC024C3B5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D72C10-216C-1B88-8007-BDC279F2E7B8}"/>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3725257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B2875-1EF1-95B1-F06A-9ECF1BDA4D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98F9C9-57E4-E53A-4DD3-AAEA8CA855B6}"/>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4" name="Footer Placeholder 3">
            <a:extLst>
              <a:ext uri="{FF2B5EF4-FFF2-40B4-BE49-F238E27FC236}">
                <a16:creationId xmlns:a16="http://schemas.microsoft.com/office/drawing/2014/main" id="{E6CE7BB9-1AE1-0DEA-7F1B-AE852271B6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2AD98E-A822-0313-B699-EC943A4A00CD}"/>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348877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DB6875-1661-30AD-B0F5-93482C11471C}"/>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3" name="Footer Placeholder 2">
            <a:extLst>
              <a:ext uri="{FF2B5EF4-FFF2-40B4-BE49-F238E27FC236}">
                <a16:creationId xmlns:a16="http://schemas.microsoft.com/office/drawing/2014/main" id="{29CFA939-5A0B-A4EC-D4C5-FEB475DF7CE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B532DF-95B5-094A-5FA3-1CF09A1CEADE}"/>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3051825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F5EF-30E5-3C91-C4CA-FEA37D6D7E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159337-E085-5610-82CB-9C2D5169CE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4CE2A8-C9E7-EA99-6C35-BCFDD6F5F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17652-B7E2-CCF5-88BB-9CD0F03C3DB4}"/>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6" name="Footer Placeholder 5">
            <a:extLst>
              <a:ext uri="{FF2B5EF4-FFF2-40B4-BE49-F238E27FC236}">
                <a16:creationId xmlns:a16="http://schemas.microsoft.com/office/drawing/2014/main" id="{59A13416-D86C-4401-4BF1-192710F995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13D958-415D-5355-213C-DE9179F77CEF}"/>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4189966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E8A0-8DD7-6404-5299-F30D8CB941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13AB92-9DDF-10D1-6565-0786090E4D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356E4F-852C-94C0-434B-6537DBD29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68BE4-B921-61F6-45BC-E569369DB24D}"/>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6" name="Footer Placeholder 5">
            <a:extLst>
              <a:ext uri="{FF2B5EF4-FFF2-40B4-BE49-F238E27FC236}">
                <a16:creationId xmlns:a16="http://schemas.microsoft.com/office/drawing/2014/main" id="{34F7D35E-0CB4-24BD-48B6-5668C8163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8989C5-0854-0BDF-A26F-3FDA0C8B860D}"/>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2845969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48F5-C5E1-5D90-9052-83FD98AA51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08B19B-550F-B243-E688-8675746A2D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DBD0B7-E6E3-98F1-D512-7D184808D500}"/>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34DC9D22-8BBE-0B91-B127-18953722E3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DADAD0-223C-F21D-8CFB-B680E1FDE1C4}"/>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865823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A60D5B-419A-1CD4-3114-0CEB98FDC04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8DBD11-99B0-07C3-02E6-BEBD69E1A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E1F171-0B93-7DB3-FAD6-6F784F72522C}"/>
              </a:ext>
            </a:extLst>
          </p:cNvPr>
          <p:cNvSpPr>
            <a:spLocks noGrp="1"/>
          </p:cNvSpPr>
          <p:nvPr>
            <p:ph type="dt" sz="half" idx="10"/>
          </p:nvPr>
        </p:nvSpPr>
        <p:spPr/>
        <p:txBody>
          <a:body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F6D8C917-01AA-0F8E-1FCB-562E972DB8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468523-4521-B045-6757-E121A1790271}"/>
              </a:ext>
            </a:extLst>
          </p:cNvPr>
          <p:cNvSpPr>
            <a:spLocks noGrp="1"/>
          </p:cNvSpPr>
          <p:nvPr>
            <p:ph type="sldNum" sz="quarter" idx="12"/>
          </p:nvPr>
        </p:nvSpPr>
        <p:spPr/>
        <p:txBody>
          <a:bodyPr/>
          <a:lstStyle/>
          <a:p>
            <a:fld id="{5F14E8CA-6853-4D8E-A454-9BEE8CCEC6C2}" type="slidenum">
              <a:rPr lang="en-IN" smtClean="0"/>
              <a:pPr/>
              <a:t>‹#›</a:t>
            </a:fld>
            <a:endParaRPr lang="en-IN"/>
          </a:p>
        </p:txBody>
      </p:sp>
    </p:spTree>
    <p:extLst>
      <p:ext uri="{BB962C8B-B14F-4D97-AF65-F5344CB8AC3E}">
        <p14:creationId xmlns:p14="http://schemas.microsoft.com/office/powerpoint/2010/main" val="2383342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9B3E1C-3D08-23B9-E0CE-5FFA596259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4A24E5-8C6D-96B6-9B25-AA33F4B3A6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5746B7-3CAB-DB97-C3B2-CFB7935CF7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614E2D-F6DF-4F63-BA55-3B82D0BBDE35}" type="datetimeFigureOut">
              <a:rPr lang="en-IN" smtClean="0"/>
              <a:pPr/>
              <a:t>01-09-2024</a:t>
            </a:fld>
            <a:endParaRPr lang="en-IN"/>
          </a:p>
        </p:txBody>
      </p:sp>
      <p:sp>
        <p:nvSpPr>
          <p:cNvPr id="5" name="Footer Placeholder 4">
            <a:extLst>
              <a:ext uri="{FF2B5EF4-FFF2-40B4-BE49-F238E27FC236}">
                <a16:creationId xmlns:a16="http://schemas.microsoft.com/office/drawing/2014/main" id="{35E349E9-6E10-7BD2-61DE-81AA270070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7B089D6-97D3-9D18-5EB5-F8E098A765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14E8CA-6853-4D8E-A454-9BEE8CCEC6C2}" type="slidenum">
              <a:rPr lang="en-IN" smtClean="0"/>
              <a:pPr/>
              <a:t>‹#›</a:t>
            </a:fld>
            <a:endParaRPr lang="en-IN"/>
          </a:p>
        </p:txBody>
      </p:sp>
    </p:spTree>
    <p:extLst>
      <p:ext uri="{BB962C8B-B14F-4D97-AF65-F5344CB8AC3E}">
        <p14:creationId xmlns:p14="http://schemas.microsoft.com/office/powerpoint/2010/main" val="2157587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lectronicwings.com/8051/dc-motor-interfacing-with-8051" TargetMode="External"/><Relationship Id="rId2" Type="http://schemas.openxmlformats.org/officeDocument/2006/relationships/hyperlink" Target="https://www.electronicwings.com/8051/ultrasonic-module-hc-sr04-interfacing-with-8051" TargetMode="External"/><Relationship Id="rId1" Type="http://schemas.openxmlformats.org/officeDocument/2006/relationships/slideLayout" Target="../slideLayouts/slideLayout1.xml"/><Relationship Id="rId4" Type="http://schemas.openxmlformats.org/officeDocument/2006/relationships/hyperlink" Target="https://webbylab.com/blog/actuators-in-iot-guide/#:~:text=Different%20Types%20of%20Actuators%20in%20IoT,-IoT%20systems%20integrate&amp;text=The%20actuator%20transforms%20mechanical%20motion,on%20the%20IoT%20device%20requirements."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dzone.com/articles/type-of-sensors-and-actuators-in-iot"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26506-7FFB-F02F-BEA6-AA1A43C22DC8}"/>
              </a:ext>
            </a:extLst>
          </p:cNvPr>
          <p:cNvSpPr>
            <a:spLocks noGrp="1"/>
          </p:cNvSpPr>
          <p:nvPr>
            <p:ph type="ctrTitle"/>
          </p:nvPr>
        </p:nvSpPr>
        <p:spPr>
          <a:xfrm>
            <a:off x="1566529" y="121037"/>
            <a:ext cx="9710057" cy="2387600"/>
          </a:xfrm>
        </p:spPr>
        <p:txBody>
          <a:bodyPr/>
          <a:lstStyle/>
          <a:p>
            <a:r>
              <a:rPr lang="en-GB"/>
              <a:t>SENSOR and DC MOTOR</a:t>
            </a:r>
            <a:endParaRPr lang="en-IN" dirty="0"/>
          </a:p>
        </p:txBody>
      </p:sp>
      <p:sp>
        <p:nvSpPr>
          <p:cNvPr id="4" name="TextBox 3">
            <a:extLst>
              <a:ext uri="{FF2B5EF4-FFF2-40B4-BE49-F238E27FC236}">
                <a16:creationId xmlns:a16="http://schemas.microsoft.com/office/drawing/2014/main" id="{A310261F-528F-426C-2D5D-EC63CFF90F79}"/>
              </a:ext>
            </a:extLst>
          </p:cNvPr>
          <p:cNvSpPr txBox="1"/>
          <p:nvPr/>
        </p:nvSpPr>
        <p:spPr>
          <a:xfrm>
            <a:off x="877078" y="4318814"/>
            <a:ext cx="10161036" cy="369332"/>
          </a:xfrm>
          <a:prstGeom prst="rect">
            <a:avLst/>
          </a:prstGeom>
          <a:noFill/>
        </p:spPr>
        <p:txBody>
          <a:bodyPr wrap="square">
            <a:spAutoFit/>
          </a:bodyPr>
          <a:lstStyle/>
          <a:p>
            <a:r>
              <a:rPr lang="en-IN" b="1" dirty="0">
                <a:hlinkClick r:id="rId2"/>
              </a:rPr>
              <a:t>https://www.electronicwings.com/8051/ultrasonic-module-hc-sr04-interfacing-with-8051</a:t>
            </a:r>
            <a:endParaRPr lang="en-IN" b="1" dirty="0"/>
          </a:p>
        </p:txBody>
      </p:sp>
      <p:sp>
        <p:nvSpPr>
          <p:cNvPr id="6" name="TextBox 5">
            <a:hlinkClick r:id="rId3"/>
            <a:extLst>
              <a:ext uri="{FF2B5EF4-FFF2-40B4-BE49-F238E27FC236}">
                <a16:creationId xmlns:a16="http://schemas.microsoft.com/office/drawing/2014/main" id="{BFC79F5D-D8E8-5D21-FFEC-56BD65EA3B75}"/>
              </a:ext>
            </a:extLst>
          </p:cNvPr>
          <p:cNvSpPr txBox="1"/>
          <p:nvPr/>
        </p:nvSpPr>
        <p:spPr>
          <a:xfrm>
            <a:off x="1163994" y="5173831"/>
            <a:ext cx="9780814" cy="369332"/>
          </a:xfrm>
          <a:prstGeom prst="rect">
            <a:avLst/>
          </a:prstGeom>
          <a:noFill/>
        </p:spPr>
        <p:txBody>
          <a:bodyPr wrap="square">
            <a:spAutoFit/>
          </a:bodyPr>
          <a:lstStyle/>
          <a:p>
            <a:r>
              <a:rPr lang="en-IN" dirty="0">
                <a:hlinkClick r:id="rId3"/>
              </a:rPr>
              <a:t>https://www.electronicwings.com/8051/dc-motor-interfacing-with-8051</a:t>
            </a:r>
            <a:endParaRPr lang="en-IN" dirty="0"/>
          </a:p>
        </p:txBody>
      </p:sp>
      <p:sp>
        <p:nvSpPr>
          <p:cNvPr id="8" name="TextBox 7">
            <a:extLst>
              <a:ext uri="{FF2B5EF4-FFF2-40B4-BE49-F238E27FC236}">
                <a16:creationId xmlns:a16="http://schemas.microsoft.com/office/drawing/2014/main" id="{8C83A903-C66C-4CEA-03AC-C80C2228750B}"/>
              </a:ext>
            </a:extLst>
          </p:cNvPr>
          <p:cNvSpPr txBox="1"/>
          <p:nvPr/>
        </p:nvSpPr>
        <p:spPr>
          <a:xfrm>
            <a:off x="877078" y="3544566"/>
            <a:ext cx="6097554" cy="369332"/>
          </a:xfrm>
          <a:prstGeom prst="rect">
            <a:avLst/>
          </a:prstGeom>
          <a:noFill/>
        </p:spPr>
        <p:txBody>
          <a:bodyPr wrap="square">
            <a:spAutoFit/>
          </a:bodyPr>
          <a:lstStyle/>
          <a:p>
            <a:r>
              <a:rPr lang="en-IN" dirty="0">
                <a:hlinkClick r:id="rId3"/>
              </a:rPr>
              <a:t>https://www.electronicwings.com/8051</a:t>
            </a:r>
            <a:endParaRPr lang="en-IN" dirty="0"/>
          </a:p>
        </p:txBody>
      </p:sp>
      <p:sp>
        <p:nvSpPr>
          <p:cNvPr id="5" name="TextBox 4">
            <a:extLst>
              <a:ext uri="{FF2B5EF4-FFF2-40B4-BE49-F238E27FC236}">
                <a16:creationId xmlns:a16="http://schemas.microsoft.com/office/drawing/2014/main" id="{B7E1A82B-AB73-C3A9-BA56-210BC06408E7}"/>
              </a:ext>
            </a:extLst>
          </p:cNvPr>
          <p:cNvSpPr txBox="1"/>
          <p:nvPr/>
        </p:nvSpPr>
        <p:spPr>
          <a:xfrm>
            <a:off x="648586" y="5538544"/>
            <a:ext cx="11259879" cy="1200329"/>
          </a:xfrm>
          <a:prstGeom prst="rect">
            <a:avLst/>
          </a:prstGeom>
          <a:noFill/>
        </p:spPr>
        <p:txBody>
          <a:bodyPr wrap="square">
            <a:spAutoFit/>
          </a:bodyPr>
          <a:lstStyle/>
          <a:p>
            <a:r>
              <a:rPr lang="en-IN" dirty="0">
                <a:hlinkClick r:id="rId4"/>
              </a:rPr>
              <a:t>https://webbylab.com/blog/actuators-in-iot-guide/#:~:text=Different%20Types%20of%20Actuators%20in%20IoT,-IoT%20systems%20integrate&amp;text=The%20actuator%20transforms%20mechanical%20motion,on%20the%20IoT%20device%20requirements.</a:t>
            </a:r>
            <a:endParaRPr lang="en-IN" dirty="0"/>
          </a:p>
        </p:txBody>
      </p:sp>
    </p:spTree>
    <p:extLst>
      <p:ext uri="{BB962C8B-B14F-4D97-AF65-F5344CB8AC3E}">
        <p14:creationId xmlns:p14="http://schemas.microsoft.com/office/powerpoint/2010/main" val="245578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280" y="1287419"/>
            <a:ext cx="9653451" cy="1951496"/>
          </a:xfrm>
          <a:prstGeom prst="rect">
            <a:avLst/>
          </a:prstGeom>
        </p:spPr>
        <p:txBody>
          <a:bodyPr wrap="square">
            <a:spAutoFit/>
          </a:bodyPr>
          <a:lstStyle/>
          <a:p>
            <a:pPr>
              <a:lnSpc>
                <a:spcPct val="150000"/>
              </a:lnSpc>
              <a:buFont typeface="Wingdings" pitchFamily="2" charset="2"/>
              <a:buChar char="Ø"/>
            </a:pPr>
            <a:r>
              <a:rPr lang="en-GB" sz="2800" dirty="0"/>
              <a:t> Sensors and Actuators-what is the difference?</a:t>
            </a:r>
          </a:p>
          <a:p>
            <a:pPr>
              <a:lnSpc>
                <a:spcPct val="150000"/>
              </a:lnSpc>
              <a:buFont typeface="Wingdings" pitchFamily="2" charset="2"/>
              <a:buChar char="Ø"/>
            </a:pPr>
            <a:r>
              <a:rPr lang="en-GB" sz="2800" dirty="0"/>
              <a:t> Examples?</a:t>
            </a:r>
          </a:p>
          <a:p>
            <a:pPr>
              <a:lnSpc>
                <a:spcPct val="150000"/>
              </a:lnSpc>
              <a:buFont typeface="Wingdings" pitchFamily="2" charset="2"/>
              <a:buChar char="Ø"/>
            </a:pPr>
            <a:r>
              <a:rPr lang="en-GB" sz="2800" dirty="0"/>
              <a:t> Applications</a:t>
            </a:r>
            <a:endParaRPr lang="en-US" sz="2800" dirty="0"/>
          </a:p>
        </p:txBody>
      </p:sp>
      <p:sp>
        <p:nvSpPr>
          <p:cNvPr id="4" name="TextBox 3">
            <a:extLst>
              <a:ext uri="{FF2B5EF4-FFF2-40B4-BE49-F238E27FC236}">
                <a16:creationId xmlns:a16="http://schemas.microsoft.com/office/drawing/2014/main" id="{45295D18-F64B-DED8-BEF5-E5E8EE986807}"/>
              </a:ext>
            </a:extLst>
          </p:cNvPr>
          <p:cNvSpPr txBox="1"/>
          <p:nvPr/>
        </p:nvSpPr>
        <p:spPr>
          <a:xfrm>
            <a:off x="1613489" y="4998431"/>
            <a:ext cx="8402379" cy="369332"/>
          </a:xfrm>
          <a:prstGeom prst="rect">
            <a:avLst/>
          </a:prstGeom>
          <a:noFill/>
        </p:spPr>
        <p:txBody>
          <a:bodyPr wrap="square">
            <a:spAutoFit/>
          </a:bodyPr>
          <a:lstStyle/>
          <a:p>
            <a:r>
              <a:rPr lang="en-IN" dirty="0">
                <a:solidFill>
                  <a:srgbClr val="FF0000"/>
                </a:solidFill>
                <a:hlinkClick r:id="rId2">
                  <a:extLst>
                    <a:ext uri="{A12FA001-AC4F-418D-AE19-62706E023703}">
                      <ahyp:hlinkClr xmlns:ahyp="http://schemas.microsoft.com/office/drawing/2018/hyperlinkcolor" val="tx"/>
                    </a:ext>
                  </a:extLst>
                </a:hlinkClick>
              </a:rPr>
              <a:t>https://dzone.com/articles/type-of-sensors-and-actuators-in-iot</a:t>
            </a:r>
            <a:endParaRPr lang="en-IN" dirty="0">
              <a:solidFill>
                <a:srgbClr val="FF0000"/>
              </a:solidFill>
            </a:endParaRPr>
          </a:p>
        </p:txBody>
      </p:sp>
    </p:spTree>
    <p:extLst>
      <p:ext uri="{BB962C8B-B14F-4D97-AF65-F5344CB8AC3E}">
        <p14:creationId xmlns:p14="http://schemas.microsoft.com/office/powerpoint/2010/main" val="2455785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358D20-1092-3ACB-A02E-6C9D133EC07E}"/>
              </a:ext>
            </a:extLst>
          </p:cNvPr>
          <p:cNvSpPr txBox="1"/>
          <p:nvPr/>
        </p:nvSpPr>
        <p:spPr>
          <a:xfrm>
            <a:off x="138404" y="174952"/>
            <a:ext cx="11915191" cy="6683048"/>
          </a:xfrm>
          <a:prstGeom prst="rect">
            <a:avLst/>
          </a:prstGeom>
          <a:noFill/>
        </p:spPr>
        <p:txBody>
          <a:bodyPr wrap="square">
            <a:spAutoFit/>
          </a:bodyPr>
          <a:lstStyle/>
          <a:p>
            <a:pPr algn="just" fontAlgn="ctr">
              <a:lnSpc>
                <a:spcPct val="150000"/>
              </a:lnSpc>
            </a:pPr>
            <a:r>
              <a:rPr lang="en-US" sz="2400" b="0" i="0" dirty="0">
                <a:solidFill>
                  <a:srgbClr val="001D35"/>
                </a:solidFill>
                <a:effectLst/>
                <a:highlight>
                  <a:srgbClr val="FFFFFF"/>
                </a:highlight>
                <a:latin typeface="Google Sans"/>
              </a:rPr>
              <a:t>Sensors and actuators are two different components that often work together in equipment and systems to ensure they function effectively. They are opposite in terms of their functionality, but they can be found in the same areas and complement each other: </a:t>
            </a:r>
          </a:p>
          <a:p>
            <a:pPr algn="just">
              <a:lnSpc>
                <a:spcPct val="150000"/>
              </a:lnSpc>
              <a:buFont typeface="Arial" panose="020B0604020202020204" pitchFamily="34" charset="0"/>
              <a:buChar char="•"/>
            </a:pPr>
            <a:r>
              <a:rPr lang="en-US" sz="2400" b="1" i="0" dirty="0">
                <a:solidFill>
                  <a:srgbClr val="FF0000"/>
                </a:solidFill>
                <a:effectLst/>
                <a:highlight>
                  <a:srgbClr val="FFFFFF"/>
                </a:highlight>
                <a:latin typeface="Google Sans"/>
              </a:rPr>
              <a:t>Sensors</a:t>
            </a:r>
          </a:p>
          <a:p>
            <a:pPr algn="just" fontAlgn="ctr">
              <a:lnSpc>
                <a:spcPct val="150000"/>
              </a:lnSpc>
              <a:buFont typeface="Arial" panose="020B0604020202020204" pitchFamily="34" charset="0"/>
              <a:buChar char="•"/>
            </a:pPr>
            <a:r>
              <a:rPr lang="en-US" sz="2400" b="0" i="0" dirty="0">
                <a:solidFill>
                  <a:srgbClr val="001D35"/>
                </a:solidFill>
                <a:effectLst/>
                <a:highlight>
                  <a:srgbClr val="FFFFFF"/>
                </a:highlight>
                <a:latin typeface="Google Sans"/>
              </a:rPr>
              <a:t>Convert physical activity or changes into electrical signals. For example, sensors in security systems can detect unknown objects and raise alarms. Other examples include cameras, microphones, and home security systems. </a:t>
            </a:r>
          </a:p>
          <a:p>
            <a:pPr algn="just">
              <a:lnSpc>
                <a:spcPct val="150000"/>
              </a:lnSpc>
              <a:buFont typeface="Arial" panose="020B0604020202020204" pitchFamily="34" charset="0"/>
              <a:buChar char="•"/>
            </a:pPr>
            <a:r>
              <a:rPr lang="en-US" sz="2400" b="1" i="0" dirty="0">
                <a:solidFill>
                  <a:srgbClr val="FF0000"/>
                </a:solidFill>
                <a:effectLst/>
                <a:highlight>
                  <a:srgbClr val="FFFFFF"/>
                </a:highlight>
                <a:latin typeface="Google Sans"/>
              </a:rPr>
              <a:t>Actuators</a:t>
            </a:r>
          </a:p>
          <a:p>
            <a:pPr algn="just">
              <a:lnSpc>
                <a:spcPct val="150000"/>
              </a:lnSpc>
              <a:buFont typeface="Arial" panose="020B0604020202020204" pitchFamily="34" charset="0"/>
              <a:buChar char="•"/>
            </a:pPr>
            <a:r>
              <a:rPr lang="en-US" sz="2400" b="0" i="0" dirty="0">
                <a:solidFill>
                  <a:srgbClr val="001D35"/>
                </a:solidFill>
                <a:effectLst/>
                <a:highlight>
                  <a:srgbClr val="FFFFFF"/>
                </a:highlight>
                <a:latin typeface="Google Sans"/>
              </a:rPr>
              <a:t>Take one form of energy as input and produce some form of motion, movement, or action. For example, actuators can regulate the flow of fuel to a gas turbine, operate valves and hydraulic cylinders in industrial plants, or drive events within equipment. Other examples include motor controllers, LED, and lasers.</a:t>
            </a:r>
          </a:p>
        </p:txBody>
      </p:sp>
    </p:spTree>
    <p:extLst>
      <p:ext uri="{BB962C8B-B14F-4D97-AF65-F5344CB8AC3E}">
        <p14:creationId xmlns:p14="http://schemas.microsoft.com/office/powerpoint/2010/main" val="78433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77E967-7225-036F-CE7F-AB79FB155D18}"/>
              </a:ext>
            </a:extLst>
          </p:cNvPr>
          <p:cNvPicPr>
            <a:picLocks noChangeAspect="1"/>
          </p:cNvPicPr>
          <p:nvPr/>
        </p:nvPicPr>
        <p:blipFill>
          <a:blip r:embed="rId3"/>
          <a:stretch>
            <a:fillRect/>
          </a:stretch>
        </p:blipFill>
        <p:spPr>
          <a:xfrm>
            <a:off x="648585" y="202019"/>
            <a:ext cx="10568763" cy="6264865"/>
          </a:xfrm>
          <a:prstGeom prst="rect">
            <a:avLst/>
          </a:prstGeom>
        </p:spPr>
      </p:pic>
    </p:spTree>
    <p:extLst>
      <p:ext uri="{BB962C8B-B14F-4D97-AF65-F5344CB8AC3E}">
        <p14:creationId xmlns:p14="http://schemas.microsoft.com/office/powerpoint/2010/main" val="484277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mall blue circuit board with three round holes&#10;&#10;Description automatically generated">
            <a:extLst>
              <a:ext uri="{FF2B5EF4-FFF2-40B4-BE49-F238E27FC236}">
                <a16:creationId xmlns:a16="http://schemas.microsoft.com/office/drawing/2014/main" id="{A6E57B29-0B1F-9ADC-0283-E8EF391B3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958" y="371475"/>
            <a:ext cx="6350000" cy="6350000"/>
          </a:xfrm>
          <a:prstGeom prst="rect">
            <a:avLst/>
          </a:prstGeom>
        </p:spPr>
      </p:pic>
      <p:sp>
        <p:nvSpPr>
          <p:cNvPr id="4" name="TextBox 3">
            <a:extLst>
              <a:ext uri="{FF2B5EF4-FFF2-40B4-BE49-F238E27FC236}">
                <a16:creationId xmlns:a16="http://schemas.microsoft.com/office/drawing/2014/main" id="{79AEF87A-1408-EC72-B0CE-3C1EC227017E}"/>
              </a:ext>
            </a:extLst>
          </p:cNvPr>
          <p:cNvSpPr txBox="1"/>
          <p:nvPr/>
        </p:nvSpPr>
        <p:spPr>
          <a:xfrm>
            <a:off x="5568802" y="136525"/>
            <a:ext cx="6097772" cy="2954655"/>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Roboto" panose="02000000000000000000" pitchFamily="2" charset="0"/>
              </a:rPr>
              <a:t>VCC:</a:t>
            </a:r>
            <a:r>
              <a:rPr lang="en-US" b="0" i="0" dirty="0">
                <a:solidFill>
                  <a:srgbClr val="333333"/>
                </a:solidFill>
                <a:effectLst/>
                <a:highlight>
                  <a:srgbClr val="FFFFFF"/>
                </a:highlight>
                <a:latin typeface="Roboto" panose="02000000000000000000" pitchFamily="2" charset="0"/>
              </a:rPr>
              <a:t> +5 V supply</a:t>
            </a:r>
          </a:p>
          <a:p>
            <a:pPr algn="just">
              <a:lnSpc>
                <a:spcPct val="150000"/>
              </a:lnSpc>
            </a:pPr>
            <a:r>
              <a:rPr lang="en-US" b="1" i="0" dirty="0">
                <a:solidFill>
                  <a:srgbClr val="333333"/>
                </a:solidFill>
                <a:effectLst/>
                <a:highlight>
                  <a:srgbClr val="FFFFFF"/>
                </a:highlight>
                <a:latin typeface="Roboto" panose="02000000000000000000" pitchFamily="2" charset="0"/>
              </a:rPr>
              <a:t>TRIG:</a:t>
            </a:r>
            <a:r>
              <a:rPr lang="en-US" b="0" i="0" dirty="0">
                <a:solidFill>
                  <a:srgbClr val="333333"/>
                </a:solidFill>
                <a:effectLst/>
                <a:highlight>
                  <a:srgbClr val="FFFFFF"/>
                </a:highlight>
                <a:latin typeface="Roboto" panose="02000000000000000000" pitchFamily="2" charset="0"/>
              </a:rPr>
              <a:t> Trigger input of sensor. Microcontroller applies 10 us trigger pulse to the HC-SR04 ultrasonic module.</a:t>
            </a:r>
          </a:p>
          <a:p>
            <a:pPr algn="just">
              <a:lnSpc>
                <a:spcPct val="150000"/>
              </a:lnSpc>
            </a:pPr>
            <a:r>
              <a:rPr lang="en-US" b="1" i="0" dirty="0">
                <a:solidFill>
                  <a:srgbClr val="333333"/>
                </a:solidFill>
                <a:effectLst/>
                <a:highlight>
                  <a:srgbClr val="FFFFFF"/>
                </a:highlight>
                <a:latin typeface="Roboto" panose="02000000000000000000" pitchFamily="2" charset="0"/>
              </a:rPr>
              <a:t>ECHO: </a:t>
            </a:r>
            <a:r>
              <a:rPr lang="en-US" b="0" i="0" dirty="0">
                <a:solidFill>
                  <a:srgbClr val="333333"/>
                </a:solidFill>
                <a:effectLst/>
                <a:highlight>
                  <a:srgbClr val="FFFFFF"/>
                </a:highlight>
                <a:latin typeface="Roboto" panose="02000000000000000000" pitchFamily="2" charset="0"/>
              </a:rPr>
              <a:t>Echo output of sensor. Microcontroller reads/monitors this pin to detect the obstacle or to find the distance.</a:t>
            </a:r>
          </a:p>
          <a:p>
            <a:pPr algn="just">
              <a:lnSpc>
                <a:spcPct val="150000"/>
              </a:lnSpc>
            </a:pPr>
            <a:r>
              <a:rPr lang="en-US" b="1" i="0" dirty="0">
                <a:solidFill>
                  <a:srgbClr val="333333"/>
                </a:solidFill>
                <a:effectLst/>
                <a:highlight>
                  <a:srgbClr val="FFFFFF"/>
                </a:highlight>
                <a:latin typeface="Roboto" panose="02000000000000000000" pitchFamily="2" charset="0"/>
              </a:rPr>
              <a:t>GND:</a:t>
            </a:r>
            <a:r>
              <a:rPr lang="en-US" b="0" i="0" dirty="0">
                <a:solidFill>
                  <a:srgbClr val="333333"/>
                </a:solidFill>
                <a:effectLst/>
                <a:highlight>
                  <a:srgbClr val="FFFFFF"/>
                </a:highlight>
                <a:latin typeface="Roboto" panose="02000000000000000000" pitchFamily="2" charset="0"/>
              </a:rPr>
              <a:t> Ground</a:t>
            </a:r>
          </a:p>
        </p:txBody>
      </p:sp>
      <p:pic>
        <p:nvPicPr>
          <p:cNvPr id="2050" name="Picture 2" descr="This picture shows Front and back side of Ultrasonic Module">
            <a:extLst>
              <a:ext uri="{FF2B5EF4-FFF2-40B4-BE49-F238E27FC236}">
                <a16:creationId xmlns:a16="http://schemas.microsoft.com/office/drawing/2014/main" id="{736C7B88-1672-5D37-E1F2-2D40E6640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6951" y="3691890"/>
            <a:ext cx="4963412"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22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85272E-57E3-0732-2061-840F656D6F6F}"/>
              </a:ext>
            </a:extLst>
          </p:cNvPr>
          <p:cNvSpPr>
            <a:spLocks noGrp="1"/>
          </p:cNvSpPr>
          <p:nvPr>
            <p:ph type="ftr" sz="quarter" idx="11"/>
          </p:nvPr>
        </p:nvSpPr>
        <p:spPr/>
        <p:txBody>
          <a:bodyPr/>
          <a:lstStyle/>
          <a:p>
            <a:r>
              <a:rPr lang="en-US"/>
              <a:t>Computers as Components 5e © 2022 Marilyn Wolf</a:t>
            </a:r>
          </a:p>
        </p:txBody>
      </p:sp>
      <p:pic>
        <p:nvPicPr>
          <p:cNvPr id="8" name="Picture 7" descr="A diagram of a computer&#10;&#10;Description automatically generated">
            <a:extLst>
              <a:ext uri="{FF2B5EF4-FFF2-40B4-BE49-F238E27FC236}">
                <a16:creationId xmlns:a16="http://schemas.microsoft.com/office/drawing/2014/main" id="{476C9BF6-78BB-2216-FDE6-743702025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472" y="0"/>
            <a:ext cx="10297055" cy="6858000"/>
          </a:xfrm>
          <a:prstGeom prst="rect">
            <a:avLst/>
          </a:prstGeom>
        </p:spPr>
      </p:pic>
    </p:spTree>
    <p:extLst>
      <p:ext uri="{BB962C8B-B14F-4D97-AF65-F5344CB8AC3E}">
        <p14:creationId xmlns:p14="http://schemas.microsoft.com/office/powerpoint/2010/main" val="2163906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E046134-BC6C-3836-8363-857924D0BDB5}"/>
              </a:ext>
            </a:extLst>
          </p:cNvPr>
          <p:cNvSpPr>
            <a:spLocks noGrp="1"/>
          </p:cNvSpPr>
          <p:nvPr>
            <p:ph type="ftr" sz="quarter" idx="11"/>
          </p:nvPr>
        </p:nvSpPr>
        <p:spPr/>
        <p:txBody>
          <a:bodyPr/>
          <a:lstStyle/>
          <a:p>
            <a:r>
              <a:rPr lang="en-US"/>
              <a:t>Computers as Components 5e © 2022 Marilyn Wolf</a:t>
            </a:r>
          </a:p>
        </p:txBody>
      </p:sp>
      <p:sp>
        <p:nvSpPr>
          <p:cNvPr id="5" name="Rectangle 1">
            <a:extLst>
              <a:ext uri="{FF2B5EF4-FFF2-40B4-BE49-F238E27FC236}">
                <a16:creationId xmlns:a16="http://schemas.microsoft.com/office/drawing/2014/main" id="{7954ECA4-1170-0C50-E622-A20E2F409D4E}"/>
              </a:ext>
            </a:extLst>
          </p:cNvPr>
          <p:cNvSpPr>
            <a:spLocks noChangeArrowheads="1"/>
          </p:cNvSpPr>
          <p:nvPr/>
        </p:nvSpPr>
        <p:spPr bwMode="auto">
          <a:xfrm>
            <a:off x="0" y="-5947769"/>
            <a:ext cx="12444432" cy="11895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Steps of Programming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8051 microcontroller needs to transmit at least 10 us trigger pulse to the HC-SR04 Trig Pin.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After getting a trigger pulse,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HC-SR04 automatically sends eight 40 kHz sound waves and waits for rising edge output </a:t>
            </a:r>
          </a:p>
          <a:p>
            <a:pPr marL="0" marR="0" lvl="0" indent="0" algn="l" defTabSz="914400" rtl="0" eaLnBrk="0" fontAlgn="base" latinLnBrk="0" hangingPunct="0">
              <a:lnSpc>
                <a:spcPct val="100000"/>
              </a:lnSpc>
              <a:spcBef>
                <a:spcPct val="0"/>
              </a:spcBef>
              <a:spcAft>
                <a:spcPct val="0"/>
              </a:spcAft>
              <a:buClrTx/>
              <a:buSzTx/>
              <a:tabLst/>
            </a:pPr>
            <a:r>
              <a:rPr lang="en-US" altLang="en-US" dirty="0">
                <a:highlight>
                  <a:srgbClr val="FFFF00"/>
                </a:highlight>
                <a:latin typeface="Arial" panose="020B0604020202020204" pitchFamily="34" charset="0"/>
              </a:rPr>
              <a:t>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at the Echo pin.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When the rising edge capture occurs at the Echo pin which is connected to the input of 8051,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start Timer of 8051 and again wait for the falling edge on the Echo pin.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As soon as the falling edge is captured at the Echo pin, the microcontroller reads the count of the Timer. </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This time count is used to calculate the distance to an object.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Calculation (distance in cm)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Where,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Sound Velocity =</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34300 (in cm per second)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 the oscillator frequency of AT89S52 (8051) is 11.0592 MHz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9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large Distance = \tfrac{Sound Velocity \ast Time}{2}">
            <a:extLst>
              <a:ext uri="{FF2B5EF4-FFF2-40B4-BE49-F238E27FC236}">
                <a16:creationId xmlns:a16="http://schemas.microsoft.com/office/drawing/2014/main" id="{E30D5A76-A780-3B5B-8529-CCF23B34F0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6126" y="2860158"/>
            <a:ext cx="5502059" cy="568842"/>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large = \frac{34300\ast TimerCount \ast 1.085\ast 10^{-6}}{2}">
            <a:extLst>
              <a:ext uri="{FF2B5EF4-FFF2-40B4-BE49-F238E27FC236}">
                <a16:creationId xmlns:a16="http://schemas.microsoft.com/office/drawing/2014/main" id="{E82D6D3F-52F2-2475-E3D6-3A4C28E57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6163" y="3837555"/>
            <a:ext cx="3362325" cy="46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13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is picture shows Timing Diagram of HC-SR04 Ultrasonic Module">
            <a:extLst>
              <a:ext uri="{FF2B5EF4-FFF2-40B4-BE49-F238E27FC236}">
                <a16:creationId xmlns:a16="http://schemas.microsoft.com/office/drawing/2014/main" id="{CFFA9D53-C807-61DC-BFA9-1EFD3C3D7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0" y="3007610"/>
            <a:ext cx="6667500" cy="36997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BED8C5-7732-5AE2-0836-D015DFA93F13}"/>
              </a:ext>
            </a:extLst>
          </p:cNvPr>
          <p:cNvSpPr txBox="1"/>
          <p:nvPr/>
        </p:nvSpPr>
        <p:spPr>
          <a:xfrm>
            <a:off x="0" y="3850390"/>
            <a:ext cx="6097772" cy="369332"/>
          </a:xfrm>
          <a:prstGeom prst="rect">
            <a:avLst/>
          </a:prstGeom>
          <a:noFill/>
        </p:spPr>
        <p:txBody>
          <a:bodyPr wrap="square">
            <a:spAutoFit/>
          </a:bodyPr>
          <a:lstStyle/>
          <a:p>
            <a:pPr algn="l"/>
            <a:r>
              <a:rPr lang="en-US" b="1" i="0" dirty="0">
                <a:solidFill>
                  <a:srgbClr val="212121"/>
                </a:solidFill>
                <a:effectLst/>
                <a:highlight>
                  <a:srgbClr val="FFFFFF"/>
                </a:highlight>
                <a:latin typeface="Roboto" panose="02000000000000000000" pitchFamily="2" charset="0"/>
              </a:rPr>
              <a:t>Ultrasonic Sensor HC-SR04 Working Principle</a:t>
            </a:r>
            <a:endParaRPr lang="en-US" b="1" i="0" dirty="0">
              <a:solidFill>
                <a:srgbClr val="333333"/>
              </a:solidFill>
              <a:effectLst/>
              <a:highlight>
                <a:srgbClr val="FFFFFF"/>
              </a:highlight>
              <a:latin typeface="Roboto" panose="02000000000000000000" pitchFamily="2" charset="0"/>
            </a:endParaRPr>
          </a:p>
        </p:txBody>
      </p:sp>
      <p:pic>
        <p:nvPicPr>
          <p:cNvPr id="1028" name="Picture 4" descr="The following picture shows How ultrasonic sensor works">
            <a:extLst>
              <a:ext uri="{FF2B5EF4-FFF2-40B4-BE49-F238E27FC236}">
                <a16:creationId xmlns:a16="http://schemas.microsoft.com/office/drawing/2014/main" id="{A3C2C165-0BB9-900E-8AB0-7B9759EF97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 y="115186"/>
            <a:ext cx="54102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446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a:xfrm>
            <a:off x="2752531" y="0"/>
            <a:ext cx="8880669" cy="667512"/>
          </a:xfrm>
          <a:noFill/>
        </p:spPr>
        <p:txBody>
          <a:bodyPr>
            <a:normAutofit/>
          </a:bodyPr>
          <a:lstStyle/>
          <a:p>
            <a:pPr eaLnBrk="1" hangingPunct="1"/>
            <a:r>
              <a:rPr lang="en-US" sz="2400" dirty="0">
                <a:latin typeface="PalatinoLinotype-Italic" charset="0"/>
              </a:rPr>
              <a:t>DC MOTOR INTERFACING</a:t>
            </a:r>
          </a:p>
        </p:txBody>
      </p:sp>
      <p:pic>
        <p:nvPicPr>
          <p:cNvPr id="5" name="Picture 4" descr="A small electric motor with a metal rod&#10;&#10;Description automatically generated">
            <a:extLst>
              <a:ext uri="{FF2B5EF4-FFF2-40B4-BE49-F238E27FC236}">
                <a16:creationId xmlns:a16="http://schemas.microsoft.com/office/drawing/2014/main" id="{4686A0D2-6C7D-DC87-2605-3658CE01D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9125" y="2052637"/>
            <a:ext cx="3333750" cy="2752725"/>
          </a:xfrm>
          <a:prstGeom prst="rect">
            <a:avLst/>
          </a:prstGeom>
        </p:spPr>
      </p:pic>
      <p:sp>
        <p:nvSpPr>
          <p:cNvPr id="6" name="Rectangle 2">
            <a:extLst>
              <a:ext uri="{FF2B5EF4-FFF2-40B4-BE49-F238E27FC236}">
                <a16:creationId xmlns:a16="http://schemas.microsoft.com/office/drawing/2014/main" id="{374158ED-572F-E010-D99A-1AD9340284BC}"/>
              </a:ext>
            </a:extLst>
          </p:cNvPr>
          <p:cNvSpPr txBox="1">
            <a:spLocks noRot="1" noChangeArrowheads="1"/>
          </p:cNvSpPr>
          <p:nvPr/>
        </p:nvSpPr>
        <p:spPr>
          <a:xfrm>
            <a:off x="6096000" y="1206760"/>
            <a:ext cx="5091404" cy="66751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PalatinoLinotype-Italic" charset="0"/>
              </a:rPr>
              <a:t>5v dc motor</a:t>
            </a:r>
          </a:p>
          <a:p>
            <a:r>
              <a:rPr lang="en-US" sz="2400" dirty="0">
                <a:latin typeface="PalatinoLinotype-Italic" charset="0"/>
              </a:rPr>
              <a:t>1000 rpm</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onnection of DC motor to 8051 using Motor Driver IC L293D">
            <a:extLst>
              <a:ext uri="{FF2B5EF4-FFF2-40B4-BE49-F238E27FC236}">
                <a16:creationId xmlns:a16="http://schemas.microsoft.com/office/drawing/2014/main" id="{E22AE3AF-01CF-1CD4-670E-93C3018B1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813" y="0"/>
            <a:ext cx="80803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545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02BB0C-BD21-FF6C-B592-8423F0D52E6A}"/>
              </a:ext>
            </a:extLst>
          </p:cNvPr>
          <p:cNvSpPr txBox="1"/>
          <p:nvPr/>
        </p:nvSpPr>
        <p:spPr>
          <a:xfrm>
            <a:off x="627322" y="1443841"/>
            <a:ext cx="10664456" cy="3370153"/>
          </a:xfrm>
          <a:prstGeom prst="rect">
            <a:avLst/>
          </a:prstGeom>
          <a:noFill/>
        </p:spPr>
        <p:txBody>
          <a:bodyPr wrap="square">
            <a:spAutoFit/>
          </a:bodyPr>
          <a:lstStyle/>
          <a:p>
            <a:pPr algn="just">
              <a:lnSpc>
                <a:spcPct val="150000"/>
              </a:lnSpc>
              <a:buFont typeface="Arial" panose="020B0604020202020204" pitchFamily="34" charset="0"/>
              <a:buChar char="•"/>
            </a:pPr>
            <a:r>
              <a:rPr lang="en-US" b="0" i="0" dirty="0">
                <a:solidFill>
                  <a:srgbClr val="333333"/>
                </a:solidFill>
                <a:effectLst/>
                <a:highlight>
                  <a:srgbClr val="FFFFFF"/>
                </a:highlight>
                <a:latin typeface="Roboto" panose="02000000000000000000" pitchFamily="2" charset="0"/>
              </a:rPr>
              <a:t>As shown in the above figure we have connected two toggle switches on the P1.0 and P1.1 pin of the AT89S52 microcontroller to change the speed of the DC motor by 10%.</a:t>
            </a:r>
          </a:p>
          <a:p>
            <a:pPr algn="l">
              <a:lnSpc>
                <a:spcPct val="150000"/>
              </a:lnSpc>
              <a:buFont typeface="Arial" panose="020B0604020202020204" pitchFamily="34" charset="0"/>
              <a:buChar char="•"/>
            </a:pPr>
            <a:r>
              <a:rPr lang="en-US" b="0" i="0" dirty="0">
                <a:solidFill>
                  <a:srgbClr val="333333"/>
                </a:solidFill>
                <a:effectLst/>
                <a:highlight>
                  <a:srgbClr val="FFFFFF"/>
                </a:highlight>
                <a:latin typeface="Roboto" panose="02000000000000000000" pitchFamily="2" charset="0"/>
              </a:rPr>
              <a:t>One toggle switch at pin P1.2 controls the motor's rotating direction.</a:t>
            </a:r>
          </a:p>
          <a:p>
            <a:pPr algn="l">
              <a:lnSpc>
                <a:spcPct val="150000"/>
              </a:lnSpc>
              <a:buFont typeface="Arial" panose="020B0604020202020204" pitchFamily="34" charset="0"/>
              <a:buChar char="•"/>
            </a:pPr>
            <a:r>
              <a:rPr lang="en-US" b="0" i="0" dirty="0">
                <a:solidFill>
                  <a:srgbClr val="333333"/>
                </a:solidFill>
                <a:effectLst/>
                <a:highlight>
                  <a:srgbClr val="FFFFFF"/>
                </a:highlight>
                <a:latin typeface="Roboto" panose="02000000000000000000" pitchFamily="2" charset="0"/>
              </a:rPr>
              <a:t>P1.6 and P1.7 pins are used as output direction control pins. It provides control to motor1 input pins of the L293D motor driver which rotate the motor clockwise and anticlockwise by changing their terminal polarity.</a:t>
            </a:r>
          </a:p>
          <a:p>
            <a:pPr algn="l">
              <a:lnSpc>
                <a:spcPct val="150000"/>
              </a:lnSpc>
              <a:buFont typeface="Arial" panose="020B0604020202020204" pitchFamily="34" charset="0"/>
              <a:buChar char="•"/>
            </a:pPr>
            <a:r>
              <a:rPr lang="en-US" b="0" i="0" dirty="0">
                <a:solidFill>
                  <a:srgbClr val="333333"/>
                </a:solidFill>
                <a:effectLst/>
                <a:highlight>
                  <a:srgbClr val="FFFFFF"/>
                </a:highlight>
                <a:latin typeface="Roboto" panose="02000000000000000000" pitchFamily="2" charset="0"/>
              </a:rPr>
              <a:t>And Speed of the DC Motor is varied through PWM Out pin P2.0.</a:t>
            </a:r>
          </a:p>
          <a:p>
            <a:pPr algn="l">
              <a:lnSpc>
                <a:spcPct val="150000"/>
              </a:lnSpc>
              <a:buFont typeface="Arial" panose="020B0604020202020204" pitchFamily="34" charset="0"/>
              <a:buChar char="•"/>
            </a:pPr>
            <a:r>
              <a:rPr lang="en-US" b="0" i="0" dirty="0">
                <a:solidFill>
                  <a:srgbClr val="333333"/>
                </a:solidFill>
                <a:effectLst/>
                <a:highlight>
                  <a:srgbClr val="FFFFFF"/>
                </a:highlight>
                <a:latin typeface="Roboto" panose="02000000000000000000" pitchFamily="2" charset="0"/>
              </a:rPr>
              <a:t>Here we are using the timer of AT89S52 to generate PWM.</a:t>
            </a:r>
          </a:p>
        </p:txBody>
      </p:sp>
      <p:sp>
        <p:nvSpPr>
          <p:cNvPr id="8" name="TextBox 7">
            <a:extLst>
              <a:ext uri="{FF2B5EF4-FFF2-40B4-BE49-F238E27FC236}">
                <a16:creationId xmlns:a16="http://schemas.microsoft.com/office/drawing/2014/main" id="{D1CE08EC-EBA4-ADA4-250F-922C3AE9A6C7}"/>
              </a:ext>
            </a:extLst>
          </p:cNvPr>
          <p:cNvSpPr txBox="1"/>
          <p:nvPr/>
        </p:nvSpPr>
        <p:spPr>
          <a:xfrm>
            <a:off x="933006" y="628449"/>
            <a:ext cx="10815971" cy="646331"/>
          </a:xfrm>
          <a:prstGeom prst="rect">
            <a:avLst/>
          </a:prstGeom>
          <a:noFill/>
        </p:spPr>
        <p:txBody>
          <a:bodyPr wrap="square">
            <a:spAutoFit/>
          </a:bodyPr>
          <a:lstStyle/>
          <a:p>
            <a:pPr algn="just"/>
            <a:r>
              <a:rPr lang="en-US" b="0" i="0" dirty="0">
                <a:solidFill>
                  <a:srgbClr val="333333"/>
                </a:solidFill>
                <a:effectLst/>
                <a:highlight>
                  <a:srgbClr val="FFFFFF"/>
                </a:highlight>
                <a:latin typeface="Roboto" panose="02000000000000000000" pitchFamily="2" charset="0"/>
              </a:rPr>
              <a:t> L293D motor driver IC to control the DC motor movement in both directions. It has an in-built H-bridge motor drive.</a:t>
            </a:r>
            <a:endParaRPr lang="en-IN" dirty="0"/>
          </a:p>
        </p:txBody>
      </p:sp>
    </p:spTree>
    <p:extLst>
      <p:ext uri="{BB962C8B-B14F-4D97-AF65-F5344CB8AC3E}">
        <p14:creationId xmlns:p14="http://schemas.microsoft.com/office/powerpoint/2010/main" val="4042192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is is the picture of PWM Waveform">
            <a:extLst>
              <a:ext uri="{FF2B5EF4-FFF2-40B4-BE49-F238E27FC236}">
                <a16:creationId xmlns:a16="http://schemas.microsoft.com/office/drawing/2014/main" id="{C00B2DCE-D7A1-5277-6A69-01BC785FC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25" y="0"/>
            <a:ext cx="85407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907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7AF074-6AB4-D68C-BAF5-4B4757D521FD}"/>
              </a:ext>
            </a:extLst>
          </p:cNvPr>
          <p:cNvSpPr>
            <a:spLocks noGrp="1"/>
          </p:cNvSpPr>
          <p:nvPr>
            <p:ph type="ftr" sz="quarter" idx="11"/>
          </p:nvPr>
        </p:nvSpPr>
        <p:spPr/>
        <p:txBody>
          <a:bodyPr/>
          <a:lstStyle/>
          <a:p>
            <a:r>
              <a:rPr lang="en-US"/>
              <a:t>Computers as Components 5e © 2022 Marilyn Wolf</a:t>
            </a:r>
          </a:p>
        </p:txBody>
      </p:sp>
      <p:pic>
        <p:nvPicPr>
          <p:cNvPr id="12" name="Picture 11" descr="A small electric motor with a metal rod&#10;&#10;Description automatically generated">
            <a:extLst>
              <a:ext uri="{FF2B5EF4-FFF2-40B4-BE49-F238E27FC236}">
                <a16:creationId xmlns:a16="http://schemas.microsoft.com/office/drawing/2014/main" id="{7634879B-417C-465A-AB2F-BCDDCF9D1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4400" y="1833562"/>
            <a:ext cx="3333750" cy="2752725"/>
          </a:xfrm>
          <a:prstGeom prst="rect">
            <a:avLst/>
          </a:prstGeom>
        </p:spPr>
      </p:pic>
      <p:sp>
        <p:nvSpPr>
          <p:cNvPr id="13" name="Rectangle 12">
            <a:extLst>
              <a:ext uri="{FF2B5EF4-FFF2-40B4-BE49-F238E27FC236}">
                <a16:creationId xmlns:a16="http://schemas.microsoft.com/office/drawing/2014/main" id="{DACDBD8D-433B-28EA-A57B-71E208F93B0C}"/>
              </a:ext>
            </a:extLst>
          </p:cNvPr>
          <p:cNvSpPr/>
          <p:nvPr/>
        </p:nvSpPr>
        <p:spPr>
          <a:xfrm>
            <a:off x="6019800" y="2038350"/>
            <a:ext cx="1714500" cy="2457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6948EE9B-AD52-2A37-6135-5924C01CB063}"/>
              </a:ext>
            </a:extLst>
          </p:cNvPr>
          <p:cNvSpPr/>
          <p:nvPr/>
        </p:nvSpPr>
        <p:spPr>
          <a:xfrm>
            <a:off x="2066731" y="1981199"/>
            <a:ext cx="1714500" cy="2457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extBox 14">
            <a:extLst>
              <a:ext uri="{FF2B5EF4-FFF2-40B4-BE49-F238E27FC236}">
                <a16:creationId xmlns:a16="http://schemas.microsoft.com/office/drawing/2014/main" id="{EB5B1B7D-A2E2-EB60-6A21-FFF5C2FC5B8B}"/>
              </a:ext>
            </a:extLst>
          </p:cNvPr>
          <p:cNvSpPr txBox="1"/>
          <p:nvPr/>
        </p:nvSpPr>
        <p:spPr>
          <a:xfrm>
            <a:off x="2593910" y="3144416"/>
            <a:ext cx="678391" cy="369332"/>
          </a:xfrm>
          <a:prstGeom prst="rect">
            <a:avLst/>
          </a:prstGeom>
          <a:noFill/>
        </p:spPr>
        <p:txBody>
          <a:bodyPr wrap="none" rtlCol="0">
            <a:spAutoFit/>
          </a:bodyPr>
          <a:lstStyle/>
          <a:p>
            <a:r>
              <a:rPr lang="en-GB" dirty="0"/>
              <a:t>8051</a:t>
            </a:r>
            <a:endParaRPr lang="en-IN" dirty="0"/>
          </a:p>
        </p:txBody>
      </p:sp>
      <p:sp>
        <p:nvSpPr>
          <p:cNvPr id="16" name="TextBox 15">
            <a:extLst>
              <a:ext uri="{FF2B5EF4-FFF2-40B4-BE49-F238E27FC236}">
                <a16:creationId xmlns:a16="http://schemas.microsoft.com/office/drawing/2014/main" id="{D2CFF371-5E89-C1CB-AA6A-C25784EE0234}"/>
              </a:ext>
            </a:extLst>
          </p:cNvPr>
          <p:cNvSpPr txBox="1"/>
          <p:nvPr/>
        </p:nvSpPr>
        <p:spPr>
          <a:xfrm>
            <a:off x="6537854" y="2959750"/>
            <a:ext cx="630685" cy="369332"/>
          </a:xfrm>
          <a:prstGeom prst="rect">
            <a:avLst/>
          </a:prstGeom>
          <a:noFill/>
        </p:spPr>
        <p:txBody>
          <a:bodyPr wrap="none" rtlCol="0">
            <a:spAutoFit/>
          </a:bodyPr>
          <a:lstStyle/>
          <a:p>
            <a:r>
              <a:rPr lang="en-GB" dirty="0"/>
              <a:t>DAC</a:t>
            </a:r>
            <a:endParaRPr lang="en-IN" dirty="0"/>
          </a:p>
        </p:txBody>
      </p:sp>
      <p:sp>
        <p:nvSpPr>
          <p:cNvPr id="17" name="Arrow: Right 16">
            <a:extLst>
              <a:ext uri="{FF2B5EF4-FFF2-40B4-BE49-F238E27FC236}">
                <a16:creationId xmlns:a16="http://schemas.microsoft.com/office/drawing/2014/main" id="{FE1C4781-5607-77D0-4DDB-E78589BF9375}"/>
              </a:ext>
            </a:extLst>
          </p:cNvPr>
          <p:cNvSpPr/>
          <p:nvPr/>
        </p:nvSpPr>
        <p:spPr>
          <a:xfrm>
            <a:off x="3781231" y="2799184"/>
            <a:ext cx="2238569" cy="3452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4ECB397-A1F3-CDB7-4245-6D5718BD353B}"/>
              </a:ext>
            </a:extLst>
          </p:cNvPr>
          <p:cNvSpPr txBox="1"/>
          <p:nvPr/>
        </p:nvSpPr>
        <p:spPr>
          <a:xfrm>
            <a:off x="4502592" y="2503714"/>
            <a:ext cx="1088760" cy="369332"/>
          </a:xfrm>
          <a:prstGeom prst="rect">
            <a:avLst/>
          </a:prstGeom>
          <a:noFill/>
        </p:spPr>
        <p:txBody>
          <a:bodyPr wrap="none" rtlCol="0">
            <a:spAutoFit/>
          </a:bodyPr>
          <a:lstStyle/>
          <a:p>
            <a:r>
              <a:rPr lang="en-GB" dirty="0"/>
              <a:t>Data Bus</a:t>
            </a:r>
            <a:endParaRPr lang="en-IN" dirty="0"/>
          </a:p>
        </p:txBody>
      </p:sp>
      <p:cxnSp>
        <p:nvCxnSpPr>
          <p:cNvPr id="20" name="Connector: Elbow 19">
            <a:extLst>
              <a:ext uri="{FF2B5EF4-FFF2-40B4-BE49-F238E27FC236}">
                <a16:creationId xmlns:a16="http://schemas.microsoft.com/office/drawing/2014/main" id="{4BE5362A-1E15-80D8-F76F-730E9C003074}"/>
              </a:ext>
            </a:extLst>
          </p:cNvPr>
          <p:cNvCxnSpPr/>
          <p:nvPr/>
        </p:nvCxnSpPr>
        <p:spPr>
          <a:xfrm>
            <a:off x="7734300" y="2503714"/>
            <a:ext cx="924508" cy="295470"/>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35ADA148-30D0-5F7C-A7D5-DBC2CCE49550}"/>
              </a:ext>
            </a:extLst>
          </p:cNvPr>
          <p:cNvCxnSpPr>
            <a:cxnSpLocks/>
          </p:cNvCxnSpPr>
          <p:nvPr/>
        </p:nvCxnSpPr>
        <p:spPr>
          <a:xfrm>
            <a:off x="7734299" y="3428999"/>
            <a:ext cx="3984950" cy="928397"/>
          </a:xfrm>
          <a:prstGeom prst="bentConnector3">
            <a:avLst>
              <a:gd name="adj1" fmla="val 1394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7673DD59-A1D6-D83C-6128-A63D2F31603B}"/>
              </a:ext>
            </a:extLst>
          </p:cNvPr>
          <p:cNvSpPr txBox="1"/>
          <p:nvPr/>
        </p:nvSpPr>
        <p:spPr>
          <a:xfrm>
            <a:off x="7686593" y="2840592"/>
            <a:ext cx="639727" cy="369332"/>
          </a:xfrm>
          <a:prstGeom prst="rect">
            <a:avLst/>
          </a:prstGeom>
          <a:noFill/>
        </p:spPr>
        <p:txBody>
          <a:bodyPr wrap="none" rtlCol="0">
            <a:spAutoFit/>
          </a:bodyPr>
          <a:lstStyle/>
          <a:p>
            <a:r>
              <a:rPr lang="en-GB" dirty="0" err="1"/>
              <a:t>Vout</a:t>
            </a:r>
            <a:endParaRPr lang="en-IN" dirty="0"/>
          </a:p>
        </p:txBody>
      </p:sp>
      <p:sp>
        <p:nvSpPr>
          <p:cNvPr id="28" name="TextBox 27">
            <a:extLst>
              <a:ext uri="{FF2B5EF4-FFF2-40B4-BE49-F238E27FC236}">
                <a16:creationId xmlns:a16="http://schemas.microsoft.com/office/drawing/2014/main" id="{3DC1D877-451D-043C-B307-AC4730611B0D}"/>
              </a:ext>
            </a:extLst>
          </p:cNvPr>
          <p:cNvSpPr txBox="1"/>
          <p:nvPr/>
        </p:nvSpPr>
        <p:spPr>
          <a:xfrm>
            <a:off x="3301250" y="2775084"/>
            <a:ext cx="534121" cy="369332"/>
          </a:xfrm>
          <a:prstGeom prst="rect">
            <a:avLst/>
          </a:prstGeom>
          <a:noFill/>
        </p:spPr>
        <p:txBody>
          <a:bodyPr wrap="none" rtlCol="0">
            <a:spAutoFit/>
          </a:bodyPr>
          <a:lstStyle/>
          <a:p>
            <a:r>
              <a:rPr lang="en-GB" dirty="0"/>
              <a:t>  P1</a:t>
            </a:r>
            <a:endParaRPr lang="en-IN" dirty="0"/>
          </a:p>
        </p:txBody>
      </p:sp>
    </p:spTree>
    <p:extLst>
      <p:ext uri="{BB962C8B-B14F-4D97-AF65-F5344CB8AC3E}">
        <p14:creationId xmlns:p14="http://schemas.microsoft.com/office/powerpoint/2010/main" val="72831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66A6C-4B28-F920-00A0-1A8BC3F5B66B}"/>
              </a:ext>
            </a:extLst>
          </p:cNvPr>
          <p:cNvSpPr txBox="1"/>
          <p:nvPr/>
        </p:nvSpPr>
        <p:spPr>
          <a:xfrm>
            <a:off x="509666" y="449704"/>
            <a:ext cx="9863527" cy="461665"/>
          </a:xfrm>
          <a:prstGeom prst="rect">
            <a:avLst/>
          </a:prstGeom>
          <a:noFill/>
        </p:spPr>
        <p:txBody>
          <a:bodyPr wrap="square">
            <a:spAutoFit/>
          </a:bodyPr>
          <a:lstStyle/>
          <a:p>
            <a:pPr marL="38100"/>
            <a:r>
              <a:rPr lang="en-GB" sz="2400" b="1" dirty="0">
                <a:solidFill>
                  <a:srgbClr val="000000"/>
                </a:solidFill>
              </a:rPr>
              <a:t>STEPS     FOR  CONTROLLING SPEED OF DC MOTOR</a:t>
            </a:r>
          </a:p>
        </p:txBody>
      </p:sp>
      <p:sp>
        <p:nvSpPr>
          <p:cNvPr id="4" name="TextBox 3">
            <a:extLst>
              <a:ext uri="{FF2B5EF4-FFF2-40B4-BE49-F238E27FC236}">
                <a16:creationId xmlns:a16="http://schemas.microsoft.com/office/drawing/2014/main" id="{DAC63BA3-77B0-B8A3-AC11-32E43760E462}"/>
              </a:ext>
            </a:extLst>
          </p:cNvPr>
          <p:cNvSpPr txBox="1"/>
          <p:nvPr/>
        </p:nvSpPr>
        <p:spPr>
          <a:xfrm>
            <a:off x="462193" y="4231889"/>
            <a:ext cx="9863527" cy="461665"/>
          </a:xfrm>
          <a:prstGeom prst="rect">
            <a:avLst/>
          </a:prstGeom>
          <a:noFill/>
        </p:spPr>
        <p:txBody>
          <a:bodyPr wrap="square">
            <a:spAutoFit/>
          </a:bodyPr>
          <a:lstStyle/>
          <a:p>
            <a:pPr marL="38100"/>
            <a:r>
              <a:rPr lang="en-GB" sz="2400" dirty="0">
                <a:solidFill>
                  <a:srgbClr val="000000"/>
                </a:solidFill>
              </a:rPr>
              <a:t>3. Send the value through Port 1 </a:t>
            </a:r>
          </a:p>
        </p:txBody>
      </p:sp>
      <p:sp>
        <p:nvSpPr>
          <p:cNvPr id="5" name="TextBox 4">
            <a:extLst>
              <a:ext uri="{FF2B5EF4-FFF2-40B4-BE49-F238E27FC236}">
                <a16:creationId xmlns:a16="http://schemas.microsoft.com/office/drawing/2014/main" id="{53ED1EB8-187F-AD9E-8743-657B9006EBC5}"/>
              </a:ext>
            </a:extLst>
          </p:cNvPr>
          <p:cNvSpPr txBox="1"/>
          <p:nvPr/>
        </p:nvSpPr>
        <p:spPr>
          <a:xfrm>
            <a:off x="509666" y="1162885"/>
            <a:ext cx="9863527" cy="1200329"/>
          </a:xfrm>
          <a:prstGeom prst="rect">
            <a:avLst/>
          </a:prstGeom>
          <a:noFill/>
        </p:spPr>
        <p:txBody>
          <a:bodyPr wrap="square">
            <a:spAutoFit/>
          </a:bodyPr>
          <a:lstStyle/>
          <a:p>
            <a:pPr marL="495300" indent="-457200">
              <a:buAutoNum type="arabicPeriod"/>
            </a:pPr>
            <a:r>
              <a:rPr lang="en-GB" sz="2400" dirty="0">
                <a:solidFill>
                  <a:srgbClr val="000000"/>
                </a:solidFill>
              </a:rPr>
              <a:t>Find the range of the DAC (8 bit), with 5v o/p</a:t>
            </a:r>
          </a:p>
          <a:p>
            <a:pPr marL="38100"/>
            <a:r>
              <a:rPr lang="en-GB" sz="2400" dirty="0">
                <a:solidFill>
                  <a:srgbClr val="000000"/>
                </a:solidFill>
              </a:rPr>
              <a:t>Therefore I/P range =00 to FF</a:t>
            </a:r>
          </a:p>
          <a:p>
            <a:pPr marL="38100"/>
            <a:r>
              <a:rPr lang="en-GB" sz="2400" dirty="0">
                <a:solidFill>
                  <a:srgbClr val="000000"/>
                </a:solidFill>
              </a:rPr>
              <a:t>O/P range = 0-5V</a:t>
            </a:r>
          </a:p>
        </p:txBody>
      </p:sp>
      <p:sp>
        <p:nvSpPr>
          <p:cNvPr id="6" name="TextBox 5">
            <a:extLst>
              <a:ext uri="{FF2B5EF4-FFF2-40B4-BE49-F238E27FC236}">
                <a16:creationId xmlns:a16="http://schemas.microsoft.com/office/drawing/2014/main" id="{B2A6CC2F-1C4C-E28C-BC9F-EE57F3104625}"/>
              </a:ext>
            </a:extLst>
          </p:cNvPr>
          <p:cNvSpPr txBox="1"/>
          <p:nvPr/>
        </p:nvSpPr>
        <p:spPr>
          <a:xfrm>
            <a:off x="462192" y="3013501"/>
            <a:ext cx="9863527" cy="1200329"/>
          </a:xfrm>
          <a:prstGeom prst="rect">
            <a:avLst/>
          </a:prstGeom>
          <a:noFill/>
        </p:spPr>
        <p:txBody>
          <a:bodyPr wrap="square">
            <a:spAutoFit/>
          </a:bodyPr>
          <a:lstStyle/>
          <a:p>
            <a:pPr marL="495300" indent="-457200">
              <a:buAutoNum type="arabicPeriod" startAt="2"/>
            </a:pPr>
            <a:r>
              <a:rPr lang="en-GB" sz="2400" dirty="0">
                <a:solidFill>
                  <a:srgbClr val="000000"/>
                </a:solidFill>
              </a:rPr>
              <a:t>Find the    digital value relevant to the speed</a:t>
            </a:r>
          </a:p>
          <a:p>
            <a:pPr marL="38100"/>
            <a:r>
              <a:rPr lang="en-GB" sz="2400" dirty="0">
                <a:solidFill>
                  <a:srgbClr val="000000"/>
                </a:solidFill>
              </a:rPr>
              <a:t> </a:t>
            </a:r>
          </a:p>
          <a:p>
            <a:pPr marL="38100"/>
            <a:r>
              <a:rPr lang="en-GB" sz="2400" dirty="0">
                <a:solidFill>
                  <a:srgbClr val="000000"/>
                </a:solidFill>
              </a:rPr>
              <a:t>FF=max speed =1000 rpm</a:t>
            </a:r>
          </a:p>
        </p:txBody>
      </p:sp>
    </p:spTree>
    <p:extLst>
      <p:ext uri="{BB962C8B-B14F-4D97-AF65-F5344CB8AC3E}">
        <p14:creationId xmlns:p14="http://schemas.microsoft.com/office/powerpoint/2010/main" val="179894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10414</TotalTime>
  <Words>896</Words>
  <Application>Microsoft Office PowerPoint</Application>
  <PresentationFormat>Widescreen</PresentationFormat>
  <Paragraphs>99</Paragraphs>
  <Slides>14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Google Sans</vt:lpstr>
      <vt:lpstr>PalatinoLinotype-Italic</vt:lpstr>
      <vt:lpstr>Roboto</vt:lpstr>
      <vt:lpstr>Wingdings</vt:lpstr>
      <vt:lpstr>Office Theme</vt:lpstr>
      <vt:lpstr>SENSOR and DC MOTOR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DC MOTOR INTERFACING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8051 TIMERS</dc:title>
  <dc:creator>Shobha Rekh</dc:creator>
  <cp:lastModifiedBy>Dr.D. Ajitha</cp:lastModifiedBy>
  <cp:revision>61</cp:revision>
  <dcterms:created xsi:type="dcterms:W3CDTF">2024-01-19T08:28:46Z</dcterms:created>
  <dcterms:modified xsi:type="dcterms:W3CDTF">2024-09-01T09:53:38Z</dcterms:modified>
</cp:coreProperties>
</file>