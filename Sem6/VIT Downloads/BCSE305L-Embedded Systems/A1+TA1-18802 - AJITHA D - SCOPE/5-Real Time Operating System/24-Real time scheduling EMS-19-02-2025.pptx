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4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580"/>
    <p:restoredTop sz="72313" autoAdjust="0"/>
  </p:normalViewPr>
  <p:slideViewPr>
    <p:cSldViewPr snapToGrid="0">
      <p:cViewPr varScale="1">
        <p:scale>
          <a:sx n="29" d="100"/>
          <a:sy n="29" d="100"/>
        </p:scale>
        <p:origin x="216" y="1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67C6E-86F5-4E49-90F1-D4AE4E27E94A}" type="datetimeFigureOut">
              <a:rPr lang="en-IN" smtClean="0"/>
              <a:t>19/04/25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EC1DFD-C9BC-4174-8EC9-4F0DD089FF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63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C1DFD-C9BC-4174-8EC9-4F0DD089FF7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324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"Slack time" in scheduling refers to </a:t>
            </a:r>
            <a:r>
              <a:rPr lang="en-US" dirty="0"/>
              <a:t>the amount of extra time available to complete a task without impacting the overall project deadline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,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C1DFD-C9BC-4174-8EC9-4F0DD089FF7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050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1D35"/>
                </a:solidFill>
                <a:effectLst/>
                <a:latin typeface="Google Sans"/>
              </a:rPr>
              <a:t>, some common hybrid scheduling algorithms include "</a:t>
            </a:r>
            <a:r>
              <a:rPr lang="en-IN" dirty="0"/>
              <a:t>Earliest Deadline First with Priority Ceiling Protocol (EDF-PCP)", "Rate Monotonic with Deadline Monitoring (RM-DM)", "Least Laxity First with Priority Inheritance (LLF-PI)", and "Adaptive Priority Scheduling with Deadline Adjustment (AP-DA)"</a:t>
            </a:r>
            <a:r>
              <a:rPr lang="en-IN" b="0" i="0" dirty="0">
                <a:solidFill>
                  <a:srgbClr val="001D35"/>
                </a:solidFill>
                <a:effectLst/>
                <a:latin typeface="Google Sans"/>
              </a:rPr>
              <a:t>;</a:t>
            </a: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LLF-PI:</a:t>
            </a:r>
            <a:endParaRPr lang="en-US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l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Leverages the Least Laxity First approach (prioritizing tasks based on their "laxity" - time until deadline minus remaining execution time) along with Priority Inheritance to handle priority inversions.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EC1DFD-C9BC-4174-8EC9-4F0DD089FF7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505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B67E2-112E-08D0-5FEA-F4A08CC873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5229D-F8F9-557A-9C41-2FF5FBC77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400B0-3BE7-91A6-48A9-78F492578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4B32-01CC-4A2E-8C2F-CDA330D2C496}" type="datetimeFigureOut">
              <a:rPr lang="en-IN" smtClean="0"/>
              <a:t>19/04/25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E6A86-A985-7221-3CEE-BA234E821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4BB6D-4788-5825-4082-04E0D8074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779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F956E-D29D-F406-C2FA-C4BBC5FF0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4F937-291D-1ADC-8F4A-4C32FBF4D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70C36-4AE0-2AA1-55BE-3AC35F8FD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4B32-01CC-4A2E-8C2F-CDA330D2C496}" type="datetimeFigureOut">
              <a:rPr lang="en-IN" smtClean="0"/>
              <a:t>19/04/25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9FBAC-C17C-5B14-E032-01247281A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559F7-A70C-E486-F1D3-7A2D04570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33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AE4B0-6A1A-1B3F-A253-39A3C530A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62D92-B680-905E-5F49-9E7E8B8DE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90EDE-A317-EC66-BD69-DF33A6426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4B32-01CC-4A2E-8C2F-CDA330D2C496}" type="datetimeFigureOut">
              <a:rPr lang="en-IN" smtClean="0"/>
              <a:t>19/04/25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9BAEE-54DD-BA0C-4FFB-C784377F5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F8DDC-5066-3965-25D8-A9F7A9F61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48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AB803-3894-3040-B30F-E1F5AE987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91DFC-7DDD-7540-5A39-CFCD8D04BE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1E211-9706-92AC-65C9-F4CAB0F4F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72C05-506E-CBD9-7618-B1D0219C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4B32-01CC-4A2E-8C2F-CDA330D2C496}" type="datetimeFigureOut">
              <a:rPr lang="en-IN" smtClean="0"/>
              <a:t>19/04/25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439A43-90CD-F0C6-F739-69279079C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3CB4F-EF7B-0884-5464-08C94C43D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85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672A8-E5DC-C0D3-0C06-6EDB6EDB3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6FB42-E8AD-BDB2-D461-58498476B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9A043-B70E-F6A7-00E2-6282186E6A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4E0104-F8BC-0B22-0EA2-D0584B7D7A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F976A9-B996-3314-770B-025244CBD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6A776C-E47F-6593-63B1-1F3FBF30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4B32-01CC-4A2E-8C2F-CDA330D2C496}" type="datetimeFigureOut">
              <a:rPr lang="en-IN" smtClean="0"/>
              <a:t>19/04/25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0F6F4-CC29-018A-C35E-81D770537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485C04-095B-5434-69A3-5C5054AEC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972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F8B40-04D6-1E1B-6C3F-743CBEB6D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AACB83-EEDC-04BB-8F6A-618579055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4B32-01CC-4A2E-8C2F-CDA330D2C496}" type="datetimeFigureOut">
              <a:rPr lang="en-IN" smtClean="0"/>
              <a:t>19/04/25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8E33A3-4F99-7CA7-4019-36C297DF1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21880A-97D3-9DF2-116E-FA71942F4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031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6A8F78-E813-71E1-9D3A-2E692458F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4B32-01CC-4A2E-8C2F-CDA330D2C496}" type="datetimeFigureOut">
              <a:rPr lang="en-IN" smtClean="0"/>
              <a:t>19/04/25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98B6A8-2F5C-5336-9DA2-9E2F04762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5881D-4069-CFE1-15FD-084674CBA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18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5670A-D48F-AD6A-474B-C9264BE3F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F35B4-D48A-4FD2-0C71-5E0751F10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ED1B3-EE0D-7474-C084-F63B81E0E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794CD-4E4A-E791-6E2C-382614652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4B32-01CC-4A2E-8C2F-CDA330D2C496}" type="datetimeFigureOut">
              <a:rPr lang="en-IN" smtClean="0"/>
              <a:t>19/04/25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0E90E-579F-4E48-3765-009997E1B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176F6-ACF0-6E9F-434C-C2DC73378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380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99E15-DA2B-F9FD-36E8-00003E5A9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78CD05-6C43-FC8E-9465-DAB952300A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E2D7A-7893-A498-4236-21D10D738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7F866-C6F6-71F1-6F56-7CA6BBC3D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4B32-01CC-4A2E-8C2F-CDA330D2C496}" type="datetimeFigureOut">
              <a:rPr lang="en-IN" smtClean="0"/>
              <a:t>19/04/25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51A5A7-9C86-9CAE-C1F0-F39C1A153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8B7C1-EC98-21EE-70F4-E5B5A49B6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893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F80A7-9993-B385-C1E0-10F820A22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C21955-5A12-BDED-B2EC-5B7A3C8E13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F24F2-93DF-EC9B-4AFA-4B60EE0C0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4B32-01CC-4A2E-8C2F-CDA330D2C496}" type="datetimeFigureOut">
              <a:rPr lang="en-IN" smtClean="0"/>
              <a:t>19/04/25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4F359-566A-2775-24F5-2BBD89582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702D3-AFE1-7D01-A708-6228C74A6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486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ED3DAD-5158-CFE6-24D8-088CD4159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A3DBA-E3E7-2042-393E-29E57AD8D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00C2F-38F0-5515-1B14-09025027C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34B32-01CC-4A2E-8C2F-CDA330D2C496}" type="datetimeFigureOut">
              <a:rPr lang="en-IN" smtClean="0"/>
              <a:t>19/04/25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E13F1-5C53-B350-69D4-BA88F2AE4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3374F-9ACB-C7C6-C79C-7D9C83ACD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596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CC9EF9-582A-D0B2-2234-B80E8E1F0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3FCDC-4F66-2C4D-0502-195D9A2CC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1E789-C586-434C-E393-4981A7AB9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34B32-01CC-4A2E-8C2F-CDA330D2C496}" type="datetimeFigureOut">
              <a:rPr lang="en-IN" smtClean="0"/>
              <a:t>19/04/25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1208F-E352-7B1E-BE79-8EBA93CF6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BE2CB-CA92-0DC4-6DF2-592419E06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4F059B-A8B8-4A3C-8182-FEDEA29B5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434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least-slack-time-lst-scheduling-algorithm-in-real-time-system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difference-between-edf-and-lst-cpu-scheduling-algorithms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F9A68B-91CC-5790-A596-4E02684836B8}"/>
              </a:ext>
            </a:extLst>
          </p:cNvPr>
          <p:cNvSpPr txBox="1"/>
          <p:nvPr/>
        </p:nvSpPr>
        <p:spPr>
          <a:xfrm>
            <a:off x="2890684" y="51342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r>
              <a:rPr lang="en-IN" sz="3200" b="0" i="0" u="sng" dirty="0">
                <a:solidFill>
                  <a:srgbClr val="273239"/>
                </a:solidFill>
                <a:effectLst/>
                <a:latin typeface="Nunito" pitchFamily="2" charset="0"/>
                <a:hlinkClick r:id="rId3"/>
              </a:rPr>
              <a:t>Least Slack Time (LST)</a:t>
            </a:r>
            <a:r>
              <a:rPr lang="en-IN" sz="3200" b="1" i="0" dirty="0">
                <a:solidFill>
                  <a:srgbClr val="273239"/>
                </a:solidFill>
                <a:effectLst/>
                <a:latin typeface="Nunito" pitchFamily="2" charset="0"/>
              </a:rPr>
              <a:t> </a:t>
            </a:r>
            <a:endParaRPr lang="en-IN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B6E897-9193-9FF6-9DCF-A1B62019F5D4}"/>
              </a:ext>
            </a:extLst>
          </p:cNvPr>
          <p:cNvSpPr txBox="1"/>
          <p:nvPr/>
        </p:nvSpPr>
        <p:spPr>
          <a:xfrm>
            <a:off x="1268361" y="2115235"/>
            <a:ext cx="9979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https://www.geeksforgeeks.org/difference-between-edf-and-lst-cpu-scheduling-algorithms/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28099B-14B6-7533-F9A1-B37B60031452}"/>
              </a:ext>
            </a:extLst>
          </p:cNvPr>
          <p:cNvSpPr txBox="1"/>
          <p:nvPr/>
        </p:nvSpPr>
        <p:spPr>
          <a:xfrm>
            <a:off x="1268360" y="3009970"/>
            <a:ext cx="10245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3"/>
              </a:rPr>
              <a:t>https://www.geeksforgeeks.org/least-slack-time-lst-scheduling-algorithm-in-real-time-systems/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C60763-454F-3682-E128-F5BCE1A83F48}"/>
              </a:ext>
            </a:extLst>
          </p:cNvPr>
          <p:cNvSpPr txBox="1"/>
          <p:nvPr/>
        </p:nvSpPr>
        <p:spPr>
          <a:xfrm>
            <a:off x="816077" y="5343768"/>
            <a:ext cx="10245214" cy="110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1D35"/>
                </a:solidFill>
                <a:effectLst/>
                <a:latin typeface="Google Sans"/>
              </a:rPr>
              <a:t>LLF-PI:</a:t>
            </a:r>
            <a:endParaRPr lang="en-US" b="0" i="0" dirty="0">
              <a:solidFill>
                <a:srgbClr val="001D35"/>
              </a:solidFill>
              <a:effectLst/>
              <a:latin typeface="Google Sans"/>
            </a:endParaRPr>
          </a:p>
          <a:p>
            <a:pPr algn="just"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Leverages the Least Laxity First approach (prioritizing tasks based on their "laxity" - time until deadline minus remaining execution time) along with Priority Inheritance to handle priority inversions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7A1FC2-06F2-690B-0B18-2A7F117DC5B9}"/>
              </a:ext>
            </a:extLst>
          </p:cNvPr>
          <p:cNvSpPr txBox="1"/>
          <p:nvPr/>
        </p:nvSpPr>
        <p:spPr>
          <a:xfrm>
            <a:off x="772885" y="3838535"/>
            <a:ext cx="106462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dirty="0">
                <a:solidFill>
                  <a:srgbClr val="474747"/>
                </a:solidFill>
                <a:effectLst/>
                <a:highlight>
                  <a:srgbClr val="FFFF00"/>
                </a:highlight>
                <a:latin typeface="Google Sans"/>
              </a:rPr>
              <a:t>Least slack time (LST) scheduling is </a:t>
            </a:r>
            <a:r>
              <a:rPr lang="en-US" sz="1800" b="0" i="0" dirty="0">
                <a:solidFill>
                  <a:srgbClr val="040C28"/>
                </a:solidFill>
                <a:effectLst/>
                <a:highlight>
                  <a:srgbClr val="FFFF00"/>
                </a:highlight>
                <a:latin typeface="Google Sans"/>
              </a:rPr>
              <a:t>an algorithm for dynamic priority scheduling</a:t>
            </a:r>
            <a:r>
              <a:rPr lang="en-US" sz="1800" b="0" i="0" dirty="0">
                <a:solidFill>
                  <a:srgbClr val="474747"/>
                </a:solidFill>
                <a:effectLst/>
                <a:highlight>
                  <a:srgbClr val="FFFF00"/>
                </a:highlight>
                <a:latin typeface="Google Sans"/>
              </a:rPr>
              <a:t>. </a:t>
            </a:r>
            <a:r>
              <a:rPr lang="en-US" sz="1800" b="0" i="0" dirty="0">
                <a:solidFill>
                  <a:srgbClr val="474747"/>
                </a:solidFill>
                <a:effectLst/>
                <a:latin typeface="Google Sans"/>
              </a:rPr>
              <a:t>It assigns priorities to processes based on their slack time. Slack time is the amount of time left after a job if the job was started now. This algorithm is also known as </a:t>
            </a:r>
            <a:r>
              <a:rPr lang="en-US" sz="1800" b="0" i="0" dirty="0">
                <a:solidFill>
                  <a:srgbClr val="474747"/>
                </a:solidFill>
                <a:effectLst/>
                <a:highlight>
                  <a:srgbClr val="FFFF00"/>
                </a:highlight>
                <a:latin typeface="Google Sans"/>
              </a:rPr>
              <a:t>least laxity first</a:t>
            </a:r>
            <a:r>
              <a:rPr lang="en-US" sz="1800" b="0" i="0" dirty="0">
                <a:solidFill>
                  <a:srgbClr val="474747"/>
                </a:solidFill>
                <a:effectLst/>
                <a:latin typeface="Google Sans"/>
              </a:rPr>
              <a:t>.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4A56A8-269C-AAD4-3346-02910E24CF17}"/>
              </a:ext>
            </a:extLst>
          </p:cNvPr>
          <p:cNvSpPr txBox="1"/>
          <p:nvPr/>
        </p:nvSpPr>
        <p:spPr>
          <a:xfrm>
            <a:off x="816077" y="4729651"/>
            <a:ext cx="10432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i="0" dirty="0">
                <a:solidFill>
                  <a:srgbClr val="FF0000"/>
                </a:solidFill>
                <a:effectLst/>
                <a:latin typeface="Google Sans"/>
              </a:rPr>
              <a:t>The task having minimum slack time will be considered the highest priority.</a:t>
            </a:r>
            <a:endParaRPr lang="en-IN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793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9F70A-8B03-BDF6-B5E5-A8DB64E26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52251B-E628-C75B-8356-3B2E1A771557}"/>
              </a:ext>
            </a:extLst>
          </p:cNvPr>
          <p:cNvSpPr txBox="1"/>
          <p:nvPr/>
        </p:nvSpPr>
        <p:spPr>
          <a:xfrm>
            <a:off x="688258" y="418999"/>
            <a:ext cx="110416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Least Slack Time (LST) is a dynamic priority-driven scheduling algorithm used in real-time systems.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 LST, all the tasks in the system are assigned some priority according to their slack time. The task which has the least slack time has the highest priority and vice versa.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Priorities to the tasks are assigned dynamically.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CD49E1-ECA2-B719-F57C-50AED4ED3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926" y="2522021"/>
            <a:ext cx="6292645" cy="181395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Slack time can be calculated using the equation: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slack_time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= ( D - t - e' )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Here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D 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 Deadline of the task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    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t 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 Real time when the cycle starts.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    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e’ 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73239"/>
                </a:solidFill>
                <a:effectLst/>
                <a:latin typeface="Nunito" pitchFamily="2" charset="0"/>
              </a:rPr>
              <a:t> Remaining Execution Time of the task.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25AD5-6D9A-C6EA-322B-1DA2BE36E935}"/>
              </a:ext>
            </a:extLst>
          </p:cNvPr>
          <p:cNvSpPr txBox="1"/>
          <p:nvPr/>
        </p:nvSpPr>
        <p:spPr>
          <a:xfrm>
            <a:off x="688259" y="5582470"/>
            <a:ext cx="11041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Hyper Period (HP) is the time period of the Gantt chart which is equal to the LCM of the periods of all the tasks in the system.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AF805F-9D2F-F268-20C2-66A918293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859" y="2063373"/>
            <a:ext cx="6063061" cy="289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502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9F23B-0A8F-F82F-9661-F0A9D4C10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C5AD5E-6332-F94E-F067-28608E8DD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5890" y="368209"/>
            <a:ext cx="9155430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Slack Time (S)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:Slack Time = Deadline−(Current Time + Remaining Task Time)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Deadline (D)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time by which the task must be finished.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Remaining Task Time (T)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time needed to complete the task.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Time (C)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present time in the scheduling process.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2930C6-104C-EE84-BCE7-99AE0699F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8270" y="3813934"/>
            <a:ext cx="9395460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Slack Time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all tasks at each scheduling step.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the task with the smallest slack time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Preemptive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Non-preemptive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Can be used in either scenario.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D62102-5167-BF02-3797-58EF2F3B2C26}"/>
              </a:ext>
            </a:extLst>
          </p:cNvPr>
          <p:cNvSpPr txBox="1"/>
          <p:nvPr/>
        </p:nvSpPr>
        <p:spPr>
          <a:xfrm>
            <a:off x="734785" y="5447624"/>
            <a:ext cx="109303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Least Slack Time scheduling algorithm works optimally only when preemption is allowed. It can produce a feasible schedule if and only if a feasible schedule exists for the set of tasks that are runnable.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4647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E03B9C-A614-10FF-31F5-FB55C485C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564609"/>
              </p:ext>
            </p:extLst>
          </p:nvPr>
        </p:nvGraphicFramePr>
        <p:xfrm>
          <a:off x="238121" y="228176"/>
          <a:ext cx="11715757" cy="20692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2786">
                  <a:extLst>
                    <a:ext uri="{9D8B030D-6E8A-4147-A177-3AD203B41FA5}">
                      <a16:colId xmlns:a16="http://schemas.microsoft.com/office/drawing/2014/main" val="3235155024"/>
                    </a:ext>
                  </a:extLst>
                </a:gridCol>
                <a:gridCol w="443700">
                  <a:extLst>
                    <a:ext uri="{9D8B030D-6E8A-4147-A177-3AD203B41FA5}">
                      <a16:colId xmlns:a16="http://schemas.microsoft.com/office/drawing/2014/main" val="939219593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1858468557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2739703833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3016485572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323848882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3366901219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513102809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466557833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1475212267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1158730410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3829960141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2304640320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4210396016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487749785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1047402475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3811660037"/>
                    </a:ext>
                  </a:extLst>
                </a:gridCol>
                <a:gridCol w="558243">
                  <a:extLst>
                    <a:ext uri="{9D8B030D-6E8A-4147-A177-3AD203B41FA5}">
                      <a16:colId xmlns:a16="http://schemas.microsoft.com/office/drawing/2014/main" val="1607033192"/>
                    </a:ext>
                  </a:extLst>
                </a:gridCol>
                <a:gridCol w="615816">
                  <a:extLst>
                    <a:ext uri="{9D8B030D-6E8A-4147-A177-3AD203B41FA5}">
                      <a16:colId xmlns:a16="http://schemas.microsoft.com/office/drawing/2014/main" val="3388535004"/>
                    </a:ext>
                  </a:extLst>
                </a:gridCol>
                <a:gridCol w="1051567">
                  <a:extLst>
                    <a:ext uri="{9D8B030D-6E8A-4147-A177-3AD203B41FA5}">
                      <a16:colId xmlns:a16="http://schemas.microsoft.com/office/drawing/2014/main" val="3281798741"/>
                    </a:ext>
                  </a:extLst>
                </a:gridCol>
              </a:tblGrid>
              <a:tr h="1034627">
                <a:tc>
                  <a:txBody>
                    <a:bodyPr/>
                    <a:lstStyle/>
                    <a:p>
                      <a:r>
                        <a:rPr lang="en-IN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/>
                        <a:t>P1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/>
                        <a:t>P1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P2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413068"/>
                  </a:ext>
                </a:extLst>
              </a:tr>
              <a:tr h="1034627">
                <a:tc>
                  <a:txBody>
                    <a:bodyPr/>
                    <a:lstStyle/>
                    <a:p>
                      <a:r>
                        <a:rPr lang="en-IN"/>
                        <a:t>0     1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19        20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6195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0E27670-2C1F-662E-0CE3-499744474704}"/>
              </a:ext>
            </a:extLst>
          </p:cNvPr>
          <p:cNvSpPr txBox="1"/>
          <p:nvPr/>
        </p:nvSpPr>
        <p:spPr>
          <a:xfrm>
            <a:off x="354330" y="2390092"/>
            <a:ext cx="188595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0. </a:t>
            </a:r>
            <a:r>
              <a:rPr lang="en-IN" dirty="0"/>
              <a:t>P1=7-0-3=4          </a:t>
            </a:r>
          </a:p>
          <a:p>
            <a:r>
              <a:rPr lang="en-IN" dirty="0"/>
              <a:t>     P2=4-0-2=2</a:t>
            </a:r>
          </a:p>
          <a:p>
            <a:r>
              <a:rPr lang="en-IN" dirty="0"/>
              <a:t>     P3=8-0-2=6</a:t>
            </a:r>
          </a:p>
          <a:p>
            <a:endParaRPr lang="en-IN" dirty="0"/>
          </a:p>
          <a:p>
            <a:r>
              <a:rPr lang="en-IN" dirty="0">
                <a:highlight>
                  <a:srgbClr val="FFFF00"/>
                </a:highlight>
              </a:rPr>
              <a:t>1. </a:t>
            </a:r>
            <a:r>
              <a:rPr lang="en-IN" dirty="0"/>
              <a:t>P1=7-1-3=3</a:t>
            </a:r>
          </a:p>
          <a:p>
            <a:r>
              <a:rPr lang="en-IN" dirty="0"/>
              <a:t>     P2=4-1-1=2</a:t>
            </a:r>
          </a:p>
          <a:p>
            <a:r>
              <a:rPr lang="en-IN" dirty="0"/>
              <a:t>      P3=8-1-2=5</a:t>
            </a:r>
          </a:p>
          <a:p>
            <a:endParaRPr lang="en-IN" dirty="0"/>
          </a:p>
          <a:p>
            <a:r>
              <a:rPr lang="en-IN" dirty="0">
                <a:highlight>
                  <a:srgbClr val="FFFF00"/>
                </a:highlight>
              </a:rPr>
              <a:t>2. </a:t>
            </a:r>
            <a:r>
              <a:rPr lang="en-IN" dirty="0"/>
              <a:t>P1=7-2-3=2</a:t>
            </a:r>
          </a:p>
          <a:p>
            <a:r>
              <a:rPr lang="en-IN" dirty="0"/>
              <a:t>     P3=8-2-2=4</a:t>
            </a:r>
          </a:p>
          <a:p>
            <a:r>
              <a:rPr lang="en-IN" dirty="0">
                <a:highlight>
                  <a:srgbClr val="FFFF00"/>
                </a:highlight>
              </a:rPr>
              <a:t>3. </a:t>
            </a:r>
            <a:r>
              <a:rPr lang="en-IN" dirty="0"/>
              <a:t>P1=7-3-2=2</a:t>
            </a:r>
          </a:p>
          <a:p>
            <a:r>
              <a:rPr lang="en-IN" dirty="0"/>
              <a:t>     P3=8-3-2=3</a:t>
            </a:r>
          </a:p>
          <a:p>
            <a:r>
              <a:rPr lang="en-IN" dirty="0">
                <a:highlight>
                  <a:srgbClr val="FFFF00"/>
                </a:highlight>
              </a:rPr>
              <a:t>4. </a:t>
            </a:r>
            <a:r>
              <a:rPr lang="en-IN" dirty="0"/>
              <a:t>P1=7-4-1=2</a:t>
            </a:r>
          </a:p>
          <a:p>
            <a:r>
              <a:rPr lang="en-IN" dirty="0"/>
              <a:t>     P3=8-4-2=2 continue with Ex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C3D832-5460-6A8E-B0A8-612F2E2B2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0930" y="2886076"/>
            <a:ext cx="4751070" cy="33489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C40A71-977F-220C-F43C-FE61D0AB9CF3}"/>
              </a:ext>
            </a:extLst>
          </p:cNvPr>
          <p:cNvSpPr txBox="1"/>
          <p:nvPr/>
        </p:nvSpPr>
        <p:spPr>
          <a:xfrm>
            <a:off x="2084722" y="2390092"/>
            <a:ext cx="21607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5. </a:t>
            </a:r>
            <a:r>
              <a:rPr lang="en-IN" dirty="0"/>
              <a:t>P2=4-0-2=2</a:t>
            </a:r>
          </a:p>
          <a:p>
            <a:r>
              <a:rPr lang="en-IN" dirty="0"/>
              <a:t>      P3=8-5-2=1</a:t>
            </a:r>
          </a:p>
          <a:p>
            <a:r>
              <a:rPr lang="en-IN" dirty="0">
                <a:highlight>
                  <a:srgbClr val="FFFF00"/>
                </a:highlight>
              </a:rPr>
              <a:t>6. </a:t>
            </a:r>
            <a:r>
              <a:rPr lang="en-IN" dirty="0"/>
              <a:t>P2=4-1-2=1</a:t>
            </a:r>
          </a:p>
          <a:p>
            <a:r>
              <a:rPr lang="en-IN" dirty="0"/>
              <a:t>     P3=8-6-2=1</a:t>
            </a:r>
          </a:p>
          <a:p>
            <a:r>
              <a:rPr lang="en-IN" dirty="0">
                <a:highlight>
                  <a:srgbClr val="FFFF00"/>
                </a:highlight>
              </a:rPr>
              <a:t>7. </a:t>
            </a:r>
          </a:p>
          <a:p>
            <a:endParaRPr lang="en-IN" dirty="0">
              <a:highlight>
                <a:srgbClr val="FFFF00"/>
              </a:highlight>
            </a:endParaRPr>
          </a:p>
          <a:p>
            <a:endParaRPr lang="en-IN" dirty="0">
              <a:highlight>
                <a:srgbClr val="FFFF00"/>
              </a:highlight>
            </a:endParaRPr>
          </a:p>
          <a:p>
            <a:endParaRPr lang="en-IN" dirty="0">
              <a:highlight>
                <a:srgbClr val="FFFF00"/>
              </a:highlight>
            </a:endParaRPr>
          </a:p>
          <a:p>
            <a:endParaRPr lang="en-IN" dirty="0">
              <a:highlight>
                <a:srgbClr val="FFFF00"/>
              </a:highlight>
            </a:endParaRPr>
          </a:p>
          <a:p>
            <a:r>
              <a:rPr lang="en-IN" dirty="0">
                <a:highlight>
                  <a:srgbClr val="FFFF00"/>
                </a:highlight>
              </a:rPr>
              <a:t>10. </a:t>
            </a:r>
            <a:r>
              <a:rPr lang="en-IN" dirty="0"/>
              <a:t>P2=4-0-2=2</a:t>
            </a:r>
          </a:p>
          <a:p>
            <a:r>
              <a:rPr lang="en-IN" dirty="0"/>
              <a:t>       P3=8-0-2=6</a:t>
            </a:r>
          </a:p>
          <a:p>
            <a:r>
              <a:rPr lang="en-IN" dirty="0">
                <a:highlight>
                  <a:srgbClr val="FFFF00"/>
                </a:highlight>
              </a:rPr>
              <a:t>11</a:t>
            </a:r>
            <a:r>
              <a:rPr lang="en-IN" dirty="0"/>
              <a:t>. P2=4-1-2=1</a:t>
            </a:r>
          </a:p>
          <a:p>
            <a:r>
              <a:rPr lang="en-IN" dirty="0"/>
              <a:t>       P3=8-1-2=5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1466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08B22-8DB4-2403-176E-51D49D714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863537-36B1-6D4C-81B0-172A6DB8FC32}"/>
              </a:ext>
            </a:extLst>
          </p:cNvPr>
          <p:cNvSpPr txBox="1"/>
          <p:nvPr/>
        </p:nvSpPr>
        <p:spPr>
          <a:xfrm>
            <a:off x="637223" y="352544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Consider 4 tasks with the following parameters: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C19498-9AD9-E45A-663F-172432C30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809" y="1267805"/>
            <a:ext cx="8430802" cy="305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754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5546B-4DA5-6B7B-4A98-EC8EF3267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A40BC2-BE67-85F4-6D62-3F6061753BFC}"/>
              </a:ext>
            </a:extLst>
          </p:cNvPr>
          <p:cNvSpPr txBox="1"/>
          <p:nvPr/>
        </p:nvSpPr>
        <p:spPr>
          <a:xfrm>
            <a:off x="305752" y="228868"/>
            <a:ext cx="11181397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Initial Task Information</a:t>
            </a:r>
            <a:r>
              <a:rPr lang="en-US" dirty="0"/>
              <a:t> (at time 0):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Calculate slack time for each task.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Slack Time for T1 = 10 - (0 + 4) = 6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Slack Time for T2 = 9 - (0 + 3) = 6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Slack Time for T3 = 8 - (0 + 2) = 6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Slack Time for T4 = 12 - (0 + 5) = 7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Choose T1, T2, or T3 (all have same slack time) but schedule T1 first as it arrives earliest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F1CA7D-5576-C6E3-B0D6-E1688DCFA56F}"/>
              </a:ext>
            </a:extLst>
          </p:cNvPr>
          <p:cNvSpPr txBox="1"/>
          <p:nvPr/>
        </p:nvSpPr>
        <p:spPr>
          <a:xfrm>
            <a:off x="305752" y="3510247"/>
            <a:ext cx="8826817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After Task T1 is scheduled</a:t>
            </a:r>
            <a:r>
              <a:rPr lang="en-US" dirty="0"/>
              <a:t> (Time = 4):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Recalculate slack times for remaining tasks.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Task T1 has been completed, so it’s removed from the queue.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Continue this process until all tasks are completed.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4A6A51-E69B-ACEF-6E3A-C70BA4975188}"/>
              </a:ext>
            </a:extLst>
          </p:cNvPr>
          <p:cNvSpPr txBox="1"/>
          <p:nvPr/>
        </p:nvSpPr>
        <p:spPr>
          <a:xfrm>
            <a:off x="5531169" y="228868"/>
            <a:ext cx="635507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At time 0, T1, T2, and T3 all have the same slack time of 6. We’ll pick </a:t>
            </a:r>
            <a:r>
              <a:rPr lang="en-US" b="1" dirty="0"/>
              <a:t>T1</a:t>
            </a:r>
            <a:r>
              <a:rPr lang="en-US" dirty="0"/>
              <a:t> since it arrives first. After that, we calculate the slack time for the remaining tasks.</a:t>
            </a:r>
          </a:p>
          <a:p>
            <a:pPr algn="just"/>
            <a:r>
              <a:rPr lang="en-US" b="1" dirty="0"/>
              <a:t>After T1 finishes (at Time 4):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Remaining Slack Time for T2</a:t>
            </a:r>
            <a:r>
              <a:rPr lang="en-US" dirty="0"/>
              <a:t>: 9 - (4 + 3) = 2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Remaining Slack Time for T3</a:t>
            </a:r>
            <a:r>
              <a:rPr lang="en-US" dirty="0"/>
              <a:t>: 8 - (4 + 2) = 2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Remaining Slack Time for T4</a:t>
            </a:r>
            <a:r>
              <a:rPr lang="en-US" dirty="0"/>
              <a:t>: 12 - (4 + 5) = 3</a:t>
            </a:r>
          </a:p>
          <a:p>
            <a:pPr algn="just"/>
            <a:r>
              <a:rPr lang="en-US" dirty="0"/>
              <a:t>Now, we’ll pick </a:t>
            </a:r>
            <a:r>
              <a:rPr lang="en-US" b="1" dirty="0"/>
              <a:t>T2</a:t>
            </a:r>
            <a:r>
              <a:rPr lang="en-US" dirty="0"/>
              <a:t> because it has the smallest slack time, followed by </a:t>
            </a:r>
            <a:r>
              <a:rPr lang="en-US" b="1" dirty="0"/>
              <a:t>T3</a:t>
            </a:r>
            <a:r>
              <a:rPr lang="en-US" dirty="0"/>
              <a:t>, and finally, </a:t>
            </a:r>
            <a:r>
              <a:rPr lang="en-US" b="1" dirty="0"/>
              <a:t>T4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4740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0EE60-6A37-D110-AC5A-698350163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081F6A-86C6-151A-7DED-4EA30C5FA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268" y="1258168"/>
            <a:ext cx="9789463" cy="17022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126F26-C372-4BFF-1695-7FFAD44EF599}"/>
              </a:ext>
            </a:extLst>
          </p:cNvPr>
          <p:cNvSpPr txBox="1"/>
          <p:nvPr/>
        </p:nvSpPr>
        <p:spPr>
          <a:xfrm>
            <a:off x="2466023" y="3325050"/>
            <a:ext cx="5089207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Gantt chart showing task execution over time. </a:t>
            </a:r>
            <a:r>
              <a:rPr lang="en-US" b="1" dirty="0"/>
              <a:t>Task T1</a:t>
            </a:r>
            <a:r>
              <a:rPr lang="en-US" dirty="0"/>
              <a:t> runs first from time 0 to 4.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Task T2</a:t>
            </a:r>
            <a:r>
              <a:rPr lang="en-US" dirty="0"/>
              <a:t> runs next from time 4 to 7.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Task T3</a:t>
            </a:r>
            <a:r>
              <a:rPr lang="en-US" dirty="0"/>
              <a:t> runs from time 7 to 9.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Task T4</a:t>
            </a:r>
            <a:r>
              <a:rPr lang="en-US" dirty="0"/>
              <a:t> runs last from time 9 to 12.</a:t>
            </a:r>
          </a:p>
        </p:txBody>
      </p:sp>
    </p:spTree>
    <p:extLst>
      <p:ext uri="{BB962C8B-B14F-4D97-AF65-F5344CB8AC3E}">
        <p14:creationId xmlns:p14="http://schemas.microsoft.com/office/powerpoint/2010/main" val="2468548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CF3EF-972E-0335-C30A-E51C83079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795D86-FE59-36D6-9A11-B9CD6D380404}"/>
              </a:ext>
            </a:extLst>
          </p:cNvPr>
          <p:cNvSpPr txBox="1"/>
          <p:nvPr/>
        </p:nvSpPr>
        <p:spPr>
          <a:xfrm>
            <a:off x="1017270" y="909816"/>
            <a:ext cx="8346757" cy="503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highlight>
                  <a:srgbClr val="FFFF00"/>
                </a:highlight>
              </a:rPr>
              <a:t>Advantages of LST Scheduling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Efficient use of time</a:t>
            </a:r>
            <a:r>
              <a:rPr lang="en-US" dirty="0"/>
              <a:t>: Prioritizing tasks that are most critical.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Meets deadlines</a:t>
            </a:r>
            <a:r>
              <a:rPr lang="en-US" dirty="0"/>
              <a:t>: Reduces the risk of missing deadlines.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Dynamic</a:t>
            </a:r>
            <a:r>
              <a:rPr lang="en-US" dirty="0"/>
              <a:t>: Adapts based on remaining task times and deadlines.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highlight>
                  <a:srgbClr val="FFFF00"/>
                </a:highlight>
              </a:rPr>
              <a:t>Disadvantages of LST Scheduling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Complexity</a:t>
            </a:r>
            <a:r>
              <a:rPr lang="en-US" dirty="0"/>
              <a:t>: Requires calculating slack time for each task at every decision point.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Not always optimal</a:t>
            </a:r>
            <a:r>
              <a:rPr lang="en-US" dirty="0"/>
              <a:t>: Can be less efficient when tasks have very tight deadlines or execution times.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highlight>
                  <a:srgbClr val="FFFF00"/>
                </a:highlight>
              </a:rPr>
              <a:t>Applications of LST Scheduling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Real-time systems</a:t>
            </a:r>
            <a:r>
              <a:rPr lang="en-US" dirty="0"/>
              <a:t>: Scheduling tasks where deadlines are critical.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Job shops and manufacturing</a:t>
            </a:r>
            <a:r>
              <a:rPr lang="en-US" dirty="0"/>
              <a:t>: Ensuring critical tasks are completed first.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Embedded systems</a:t>
            </a:r>
            <a:r>
              <a:rPr lang="en-US" dirty="0"/>
              <a:t>: Where task deadlines must be strictly followed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775E19-C0CD-9707-59B6-DFDC2A5FEBFE}"/>
              </a:ext>
            </a:extLst>
          </p:cNvPr>
          <p:cNvSpPr txBox="1"/>
          <p:nvPr/>
        </p:nvSpPr>
        <p:spPr>
          <a:xfrm>
            <a:off x="3291840" y="-297180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75656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1768</TotalTime>
  <Words>1009</Words>
  <Application>Microsoft Macintosh PowerPoint</Application>
  <PresentationFormat>Widescreen</PresentationFormat>
  <Paragraphs>127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Google Sans</vt:lpstr>
      <vt:lpstr>Nunito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Dr.D. Ajitha</dc:creator>
  <cp:lastModifiedBy>Apoorva Karnwal</cp:lastModifiedBy>
  <cp:revision>14</cp:revision>
  <dcterms:created xsi:type="dcterms:W3CDTF">2025-03-06T10:11:38Z</dcterms:created>
  <dcterms:modified xsi:type="dcterms:W3CDTF">2025-04-20T17:49:17Z</dcterms:modified>
</cp:coreProperties>
</file>