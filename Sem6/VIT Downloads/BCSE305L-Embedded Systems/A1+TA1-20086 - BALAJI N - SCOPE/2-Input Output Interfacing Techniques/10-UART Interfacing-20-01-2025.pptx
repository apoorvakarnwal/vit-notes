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6" r:id="rId2"/>
    <p:sldId id="389" r:id="rId3"/>
    <p:sldId id="390" r:id="rId4"/>
    <p:sldId id="391" r:id="rId5"/>
    <p:sldId id="392" r:id="rId6"/>
    <p:sldId id="387" r:id="rId7"/>
    <p:sldId id="402" r:id="rId8"/>
    <p:sldId id="403" r:id="rId9"/>
    <p:sldId id="404" r:id="rId10"/>
    <p:sldId id="405" r:id="rId11"/>
    <p:sldId id="423" r:id="rId12"/>
    <p:sldId id="407" r:id="rId13"/>
    <p:sldId id="408" r:id="rId14"/>
    <p:sldId id="409" r:id="rId15"/>
    <p:sldId id="410" r:id="rId16"/>
    <p:sldId id="388" r:id="rId17"/>
    <p:sldId id="393" r:id="rId18"/>
    <p:sldId id="394" r:id="rId19"/>
    <p:sldId id="395" r:id="rId20"/>
    <p:sldId id="418" r:id="rId21"/>
    <p:sldId id="396" r:id="rId22"/>
    <p:sldId id="397" r:id="rId23"/>
    <p:sldId id="398" r:id="rId24"/>
    <p:sldId id="399" r:id="rId25"/>
    <p:sldId id="419" r:id="rId26"/>
    <p:sldId id="420" r:id="rId27"/>
    <p:sldId id="421" r:id="rId28"/>
    <p:sldId id="422" r:id="rId29"/>
    <p:sldId id="414" r:id="rId30"/>
    <p:sldId id="415" r:id="rId31"/>
    <p:sldId id="413" r:id="rId32"/>
    <p:sldId id="416" r:id="rId33"/>
    <p:sldId id="41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10" autoAdjust="0"/>
  </p:normalViewPr>
  <p:slideViewPr>
    <p:cSldViewPr snapToGrid="0">
      <p:cViewPr varScale="1">
        <p:scale>
          <a:sx n="84" d="100"/>
          <a:sy n="84" d="100"/>
        </p:scale>
        <p:origin x="624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B5D712-3697-65C0-1CA5-AA2A43309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5FBB794-EBA4-127F-C2D6-CF97C7778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A379DF-6BF5-FDB3-E03A-8030342F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1C7331-5ACB-95CF-2402-37B1ACDF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B1E8FC-5480-5B14-467D-E9FD7F80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3B971E-CECB-0937-E64B-6FF4461AA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C7E6B0-D38B-641A-1ECD-06D19E00A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93A353-22DF-2452-5F56-8BFD3665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17A96CD-F55B-D581-F691-ED14F9B4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51AD98A-A1CB-46F0-1FCE-2AD3DE9C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95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0F3DF2-3992-D684-9B3F-EDF2A42B0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51EB534-BB07-BFB6-4A4A-5421EB641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B92C51-1283-6156-0FD9-22D84790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0794836-66E1-7F15-AC0E-ED7243D5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CA101C-9410-F480-CCF1-D41237448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42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2E19EF-2471-11B3-F299-984CF39F6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B65C36-250A-DD7F-AAB3-30620303D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08A5ADF-EF8A-ECD1-9AE3-891B7F395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B111C52-D777-6014-B63D-6AD340CC2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1A82F9A-2758-3D53-40C3-BD7FAB33B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539F188-75FA-01F4-B66E-F49BCEA91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77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5A0E1-D73D-EC5F-A938-0BC091DD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F8C45A4-98D4-7BA8-F2D2-3359138F5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1409AE-E9F5-B75D-CF93-FF6B255C8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AAAC386-5303-FE38-8F65-760662CCE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0373181-FFED-6BBB-3D4A-AF97DC5CD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58D9DB9-0764-655C-5EF5-BDC65F5D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5C99366-2698-C4C8-CD51-7A55B149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85C8AFB-6530-5E43-1971-1EE2FA3B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49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6A4BAA-1304-62AD-27B6-A636B34BE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E5CCB30-0D18-076F-5C97-633D61E1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DE4E511-39AB-EA55-635F-25F1397C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86CFB76-9AAE-D76C-7D8F-56AC754A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019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84BB51B-1DF1-6B6E-18B6-FCB2AB3D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67AF930-F315-8404-5114-0188322D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C02DEB7-9904-5F69-2C18-3BCA2AF8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74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7FAA11-7BE0-3E5F-0C69-6275798E8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368CCA-A42D-AE47-F5DE-68DE62457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43D06AE-34CD-9A9F-71DF-6E872F0C4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F40D122-82CD-A6AB-0342-A82A5C15A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3EFDDFF-C54D-5268-BE6E-D4B26C80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3044A9B-DE0E-8156-50EE-610B888A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69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623A0B-630C-96FE-C54D-A4428C428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59CA7AA-691F-B59A-78E6-1F18EDCF49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6FF2B8B-D7BD-2C76-85A6-368AF6B4A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52034D1-2296-21D2-62D7-2FEF5018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DF4FEBA-83F8-5C7B-9630-3BFF8A6C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4EECE1-9DFC-B996-D9AB-4A5BF671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8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916A18-E7B8-6073-779A-8EAD8C8E7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F5B847B-3BDA-6FDC-C074-C892AF63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66FF575-6D8C-2852-6880-EA84D89F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3B2D3E-5E13-D4F6-8F06-8D5D1855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30CF80-3A49-857C-BB66-5A2CEDC83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46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7A06D08-8A74-66A3-867B-FF1F3180C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AB87D3C-F077-B5E6-B181-236142ADC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769C42-F70D-6259-44D8-C469CFC9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47C770-C0C6-EC1E-4E6B-1BAA2FF27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A98FA23-8DDE-B536-F75B-21E396B3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25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920CBD1-8848-7F66-2FF8-CD4364BA4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9FFA142-8271-B979-8A85-CC4F5F148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3E2220-5974-2C2C-5E7B-7B0FD1C4C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A78F4-B737-4CF5-9869-68CF1AFCF6B2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F90699-24F8-FDAF-A277-C5701EC4B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42AE4B-869F-8016-5151-79AF7A69E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9A6D6-AE0B-4A5B-B835-2E1F75815D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305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MODULE 2- SYLLABUS - I/O </a:t>
            </a:r>
            <a:r>
              <a:rPr lang="en-US" b="1" dirty="0">
                <a:solidFill>
                  <a:srgbClr val="FF0000"/>
                </a:solidFill>
              </a:rPr>
              <a:t>Interfacing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smtClean="0"/>
              <a:t>UART(Universal </a:t>
            </a:r>
            <a:r>
              <a:rPr lang="en-US" sz="4400" dirty="0"/>
              <a:t>Asynchronous Receiver/Transmitter</a:t>
            </a:r>
            <a:r>
              <a:rPr lang="en-US" sz="4400" dirty="0" smtClean="0"/>
              <a:t>)</a:t>
            </a:r>
          </a:p>
          <a:p>
            <a:pPr algn="ctr"/>
            <a:endParaRPr lang="en-US" sz="4400" dirty="0"/>
          </a:p>
          <a:p>
            <a:pPr algn="ctr"/>
            <a:r>
              <a:rPr lang="en-US" sz="4400" dirty="0" smtClean="0"/>
              <a:t>8251 IC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72923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SERIAL COMMUNICATIONS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serial communication is used for </a:t>
            </a:r>
            <a:r>
              <a:rPr lang="en-US" b="1" dirty="0">
                <a:solidFill>
                  <a:srgbClr val="FF0000"/>
                </a:solidFill>
              </a:rPr>
              <a:t>transferring data between </a:t>
            </a:r>
            <a:r>
              <a:rPr lang="en-US" dirty="0"/>
              <a:t>two </a:t>
            </a:r>
            <a:r>
              <a:rPr lang="en-US" b="1" dirty="0">
                <a:solidFill>
                  <a:srgbClr val="FF0000"/>
                </a:solidFill>
              </a:rPr>
              <a:t>systems l</a:t>
            </a:r>
            <a:r>
              <a:rPr lang="en-US" dirty="0"/>
              <a:t>ocated at distances of hundreds of feet to millions of miles apart.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3452501"/>
            <a:ext cx="9429750" cy="285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15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SERIAL COMMUNICATIONS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Since serial communication uses </a:t>
            </a:r>
            <a:r>
              <a:rPr lang="en-US" b="1" dirty="0">
                <a:solidFill>
                  <a:srgbClr val="FF0000"/>
                </a:solidFill>
              </a:rPr>
              <a:t>single data line </a:t>
            </a:r>
            <a:r>
              <a:rPr lang="en-US" dirty="0"/>
              <a:t>instead of the 8-bit data line of parallel communication,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much cheaper and also it enables two computers located in two different cities to communicate over the </a:t>
            </a:r>
            <a:r>
              <a:rPr lang="en-US" b="1" dirty="0" smtClean="0">
                <a:solidFill>
                  <a:srgbClr val="FF0000"/>
                </a:solidFill>
              </a:rPr>
              <a:t>telephone.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For serial communication to work, </a:t>
            </a:r>
            <a:r>
              <a:rPr lang="en-US" b="1" dirty="0">
                <a:solidFill>
                  <a:srgbClr val="FF0000"/>
                </a:solidFill>
              </a:rPr>
              <a:t>byte of data </a:t>
            </a:r>
            <a:r>
              <a:rPr lang="en-US" dirty="0"/>
              <a:t>must be </a:t>
            </a:r>
            <a:r>
              <a:rPr lang="en-US" b="1" dirty="0">
                <a:solidFill>
                  <a:srgbClr val="FF0000"/>
                </a:solidFill>
              </a:rPr>
              <a:t>converted</a:t>
            </a:r>
            <a:r>
              <a:rPr lang="en-US" dirty="0"/>
              <a:t> to serial bits using a </a:t>
            </a:r>
            <a:r>
              <a:rPr lang="en-US" b="1" dirty="0">
                <a:solidFill>
                  <a:srgbClr val="FF0000"/>
                </a:solidFill>
              </a:rPr>
              <a:t>parallel in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serial out shift register</a:t>
            </a:r>
            <a:r>
              <a:rPr lang="en-US" dirty="0"/>
              <a:t>, then it can be </a:t>
            </a:r>
            <a:r>
              <a:rPr lang="en-US" b="1" dirty="0">
                <a:solidFill>
                  <a:srgbClr val="FF0000"/>
                </a:solidFill>
              </a:rPr>
              <a:t>transmitted</a:t>
            </a:r>
            <a:r>
              <a:rPr lang="en-US" dirty="0"/>
              <a:t> over a single data line.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93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SERIAL COMMUNICATIONS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At the </a:t>
            </a:r>
            <a:r>
              <a:rPr lang="en-US" b="1" dirty="0">
                <a:solidFill>
                  <a:srgbClr val="FF0000"/>
                </a:solidFill>
              </a:rPr>
              <a:t>receiving end</a:t>
            </a:r>
            <a:r>
              <a:rPr lang="en-US" dirty="0"/>
              <a:t>, there must be a </a:t>
            </a:r>
            <a:r>
              <a:rPr lang="en-US" b="1" dirty="0">
                <a:solidFill>
                  <a:srgbClr val="FF0000"/>
                </a:solidFill>
              </a:rPr>
              <a:t>serial in parallel out shift register</a:t>
            </a:r>
            <a:r>
              <a:rPr lang="en-US" dirty="0"/>
              <a:t> to receive the serial data and </a:t>
            </a:r>
            <a:r>
              <a:rPr lang="en-US" b="1" dirty="0">
                <a:solidFill>
                  <a:srgbClr val="FF0000"/>
                </a:solidFill>
              </a:rPr>
              <a:t>pack</a:t>
            </a:r>
            <a:r>
              <a:rPr lang="en-US" dirty="0"/>
              <a:t> them </a:t>
            </a:r>
            <a:r>
              <a:rPr lang="en-US" b="1" dirty="0">
                <a:solidFill>
                  <a:srgbClr val="FF0000"/>
                </a:solidFill>
              </a:rPr>
              <a:t>into a </a:t>
            </a:r>
            <a:r>
              <a:rPr lang="en-US" b="1" dirty="0" smtClean="0">
                <a:solidFill>
                  <a:srgbClr val="FF0000"/>
                </a:solidFill>
              </a:rPr>
              <a:t>byte.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Serial </a:t>
            </a:r>
            <a:r>
              <a:rPr lang="en-US" dirty="0"/>
              <a:t>data communication uses 2 methods, </a:t>
            </a:r>
            <a:r>
              <a:rPr lang="en-US" b="1" dirty="0">
                <a:solidFill>
                  <a:srgbClr val="FF0000"/>
                </a:solidFill>
              </a:rPr>
              <a:t>synchronous and </a:t>
            </a:r>
            <a:r>
              <a:rPr lang="en-US" b="1" dirty="0" smtClean="0">
                <a:solidFill>
                  <a:srgbClr val="FF0000"/>
                </a:solidFill>
              </a:rPr>
              <a:t>asynchronous.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synchronous method </a:t>
            </a:r>
            <a:r>
              <a:rPr lang="en-US" dirty="0"/>
              <a:t>transfers a </a:t>
            </a:r>
            <a:r>
              <a:rPr lang="en-US" b="1" dirty="0">
                <a:solidFill>
                  <a:srgbClr val="FF0000"/>
                </a:solidFill>
              </a:rPr>
              <a:t>block of data(characters</a:t>
            </a:r>
            <a:r>
              <a:rPr lang="en-US" dirty="0"/>
              <a:t>) at a time, while the </a:t>
            </a:r>
            <a:r>
              <a:rPr lang="en-US" b="1" dirty="0">
                <a:solidFill>
                  <a:srgbClr val="FF0000"/>
                </a:solidFill>
              </a:rPr>
              <a:t>asynchronous method </a:t>
            </a:r>
            <a:r>
              <a:rPr lang="en-US" dirty="0"/>
              <a:t>transfers a </a:t>
            </a:r>
            <a:r>
              <a:rPr lang="en-US" b="1" dirty="0">
                <a:solidFill>
                  <a:srgbClr val="FF0000"/>
                </a:solidFill>
              </a:rPr>
              <a:t>single byte </a:t>
            </a:r>
            <a:r>
              <a:rPr lang="en-US" dirty="0"/>
              <a:t>at a </a:t>
            </a:r>
            <a:r>
              <a:rPr lang="en-US" b="1" dirty="0">
                <a:solidFill>
                  <a:srgbClr val="FF0000"/>
                </a:solidFill>
              </a:rPr>
              <a:t>time </a:t>
            </a:r>
          </a:p>
        </p:txBody>
      </p:sp>
    </p:spTree>
    <p:extLst>
      <p:ext uri="{BB962C8B-B14F-4D97-AF65-F5344CB8AC3E}">
        <p14:creationId xmlns:p14="http://schemas.microsoft.com/office/powerpoint/2010/main" val="355822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Asynchronous serial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It is difficult to make sense of the data unless </a:t>
            </a:r>
            <a:r>
              <a:rPr lang="en-US" b="1" dirty="0">
                <a:solidFill>
                  <a:srgbClr val="FF0000"/>
                </a:solidFill>
              </a:rPr>
              <a:t>sender and receiver </a:t>
            </a:r>
            <a:r>
              <a:rPr lang="en-US" dirty="0"/>
              <a:t>agree on a </a:t>
            </a:r>
            <a:r>
              <a:rPr lang="en-US" b="1" dirty="0">
                <a:solidFill>
                  <a:srgbClr val="FF0000"/>
                </a:solidFill>
              </a:rPr>
              <a:t>set of rules</a:t>
            </a:r>
            <a:r>
              <a:rPr lang="en-US" dirty="0"/>
              <a:t>, a protocol, on how the data is packed, how </a:t>
            </a:r>
            <a:r>
              <a:rPr lang="en-US" b="1" dirty="0">
                <a:solidFill>
                  <a:srgbClr val="FF0000"/>
                </a:solidFill>
              </a:rPr>
              <a:t>many bits </a:t>
            </a:r>
            <a:r>
              <a:rPr lang="en-US" dirty="0"/>
              <a:t>constitute a character, and when the </a:t>
            </a:r>
            <a:r>
              <a:rPr lang="en-US" b="1" dirty="0">
                <a:solidFill>
                  <a:srgbClr val="FF0000"/>
                </a:solidFill>
              </a:rPr>
              <a:t>data begins and </a:t>
            </a:r>
            <a:r>
              <a:rPr lang="en-US" b="1" dirty="0" smtClean="0">
                <a:solidFill>
                  <a:srgbClr val="FF0000"/>
                </a:solidFill>
              </a:rPr>
              <a:t>ends.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Asynchronous </a:t>
            </a:r>
            <a:r>
              <a:rPr lang="en-US" dirty="0"/>
              <a:t>serial data communication is widely used for </a:t>
            </a:r>
            <a:r>
              <a:rPr lang="en-US" b="1" dirty="0">
                <a:solidFill>
                  <a:srgbClr val="FF0000"/>
                </a:solidFill>
              </a:rPr>
              <a:t>character-oriented transmissions</a:t>
            </a:r>
            <a:r>
              <a:rPr lang="en-US" dirty="0"/>
              <a:t>, while block-oriented data transfers use the </a:t>
            </a:r>
            <a:r>
              <a:rPr lang="en-US" dirty="0" smtClean="0"/>
              <a:t>synchronous.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In the asynchronous method, </a:t>
            </a:r>
            <a:r>
              <a:rPr lang="en-US" b="1" dirty="0">
                <a:solidFill>
                  <a:srgbClr val="FF0000"/>
                </a:solidFill>
              </a:rPr>
              <a:t>each character </a:t>
            </a:r>
            <a:r>
              <a:rPr lang="en-US" dirty="0"/>
              <a:t>is placed between </a:t>
            </a:r>
            <a:r>
              <a:rPr lang="en-US" b="1" dirty="0">
                <a:solidFill>
                  <a:srgbClr val="FF0000"/>
                </a:solidFill>
              </a:rPr>
              <a:t>start and stop </a:t>
            </a:r>
            <a:r>
              <a:rPr lang="en-US" b="1" dirty="0" smtClean="0">
                <a:solidFill>
                  <a:srgbClr val="FF0000"/>
                </a:solidFill>
              </a:rPr>
              <a:t>bits.</a:t>
            </a:r>
            <a:endParaRPr lang="en-US" b="1" dirty="0">
              <a:solidFill>
                <a:srgbClr val="FF0000"/>
              </a:solidFill>
            </a:endParaRPr>
          </a:p>
          <a:p>
            <a:pPr algn="just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582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UART </a:t>
            </a:r>
            <a:r>
              <a:rPr lang="en-US" dirty="0"/>
              <a:t>stands for </a:t>
            </a:r>
            <a:r>
              <a:rPr lang="en-US" b="1" dirty="0">
                <a:solidFill>
                  <a:srgbClr val="FF0000"/>
                </a:solidFill>
              </a:rPr>
              <a:t>Universal Asynchronous Receiver/Transmitter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8051 has built in </a:t>
            </a:r>
            <a:r>
              <a:rPr lang="en-US" b="1" dirty="0">
                <a:solidFill>
                  <a:srgbClr val="FF0000"/>
                </a:solidFill>
              </a:rPr>
              <a:t>UART, </a:t>
            </a:r>
            <a:r>
              <a:rPr lang="en-US" dirty="0"/>
              <a:t>communication circuit </a:t>
            </a:r>
            <a:r>
              <a:rPr lang="en-US" b="1" dirty="0">
                <a:solidFill>
                  <a:srgbClr val="FF0000"/>
                </a:solidFill>
              </a:rPr>
              <a:t>use SUBF register </a:t>
            </a:r>
            <a:r>
              <a:rPr lang="en-US" dirty="0"/>
              <a:t>to hold the data.</a:t>
            </a:r>
            <a:endParaRPr lang="en-US" b="1" dirty="0">
              <a:solidFill>
                <a:srgbClr val="FF0000"/>
              </a:solidFill>
            </a:endParaRP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UART’s main purpose is to </a:t>
            </a:r>
            <a:r>
              <a:rPr lang="en-US" b="1" dirty="0">
                <a:solidFill>
                  <a:srgbClr val="FF0000"/>
                </a:solidFill>
              </a:rPr>
              <a:t>transmit and receive serial data</a:t>
            </a:r>
          </a:p>
        </p:txBody>
      </p:sp>
    </p:spTree>
    <p:extLst>
      <p:ext uri="{BB962C8B-B14F-4D97-AF65-F5344CB8AC3E}">
        <p14:creationId xmlns:p14="http://schemas.microsoft.com/office/powerpoint/2010/main" val="1059371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UART communication, two UARTs communicate directly with each other.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b="1" dirty="0">
                <a:solidFill>
                  <a:srgbClr val="FF0000"/>
                </a:solidFill>
              </a:rPr>
              <a:t>transmitting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UART converts parallel data</a:t>
            </a:r>
            <a:r>
              <a:rPr lang="en-US" dirty="0"/>
              <a:t> from a controlling device like a CPU into </a:t>
            </a:r>
            <a:r>
              <a:rPr lang="en-US" b="1" dirty="0">
                <a:solidFill>
                  <a:srgbClr val="FF0000"/>
                </a:solidFill>
              </a:rPr>
              <a:t>serial form</a:t>
            </a:r>
            <a:r>
              <a:rPr lang="en-US" dirty="0" smtClean="0"/>
              <a:t>,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</a:t>
            </a:r>
            <a:r>
              <a:rPr lang="en-US" dirty="0"/>
              <a:t>transmits it in serial to the </a:t>
            </a:r>
            <a:r>
              <a:rPr lang="en-US" b="1" dirty="0">
                <a:solidFill>
                  <a:srgbClr val="FF0000"/>
                </a:solidFill>
              </a:rPr>
              <a:t>receiving UART</a:t>
            </a:r>
            <a:r>
              <a:rPr lang="en-US" dirty="0"/>
              <a:t>, which then </a:t>
            </a:r>
            <a:r>
              <a:rPr lang="en-US" b="1" dirty="0">
                <a:solidFill>
                  <a:srgbClr val="FF0000"/>
                </a:solidFill>
              </a:rPr>
              <a:t>converts </a:t>
            </a: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serial data back into parallel data </a:t>
            </a:r>
            <a:r>
              <a:rPr lang="en-US" dirty="0"/>
              <a:t>for the receiving device.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18877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Only </a:t>
            </a:r>
            <a:r>
              <a:rPr lang="en-US" dirty="0"/>
              <a:t>two wires are needed to transmit data between two UARTs. Data flows from the </a:t>
            </a:r>
            <a:r>
              <a:rPr lang="en-US" dirty="0" err="1"/>
              <a:t>Tx</a:t>
            </a:r>
            <a:r>
              <a:rPr lang="en-US" dirty="0"/>
              <a:t> pin of the transmitting UART to the Rx pin of the receiving UART: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608" y="2732591"/>
            <a:ext cx="4371975" cy="2714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819" y="3303572"/>
            <a:ext cx="4420572" cy="214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79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UARTs transmit data asynchronously</a:t>
            </a:r>
            <a:r>
              <a:rPr lang="en-US" dirty="0"/>
              <a:t>, which means there is </a:t>
            </a:r>
            <a:r>
              <a:rPr lang="en-US" b="1" dirty="0">
                <a:solidFill>
                  <a:srgbClr val="FF0000"/>
                </a:solidFill>
              </a:rPr>
              <a:t>no clock signal to synchronize </a:t>
            </a:r>
            <a:r>
              <a:rPr lang="en-US" dirty="0"/>
              <a:t>the output of </a:t>
            </a:r>
            <a:r>
              <a:rPr lang="en-US" b="1" dirty="0">
                <a:solidFill>
                  <a:srgbClr val="FF0000"/>
                </a:solidFill>
              </a:rPr>
              <a:t>bits</a:t>
            </a:r>
            <a:r>
              <a:rPr lang="en-US" dirty="0"/>
              <a:t> from the transmitting UART to the sampling of bits by the receiving UART.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b="1" dirty="0" smtClean="0">
                <a:solidFill>
                  <a:srgbClr val="FF0000"/>
                </a:solidFill>
              </a:rPr>
              <a:t>Instead</a:t>
            </a:r>
            <a:r>
              <a:rPr lang="en-US" dirty="0" smtClean="0"/>
              <a:t> </a:t>
            </a:r>
            <a:r>
              <a:rPr lang="en-US" dirty="0"/>
              <a:t>of a </a:t>
            </a:r>
            <a:r>
              <a:rPr lang="en-US" b="1" dirty="0">
                <a:solidFill>
                  <a:srgbClr val="FF0000"/>
                </a:solidFill>
              </a:rPr>
              <a:t>clock</a:t>
            </a:r>
            <a:r>
              <a:rPr lang="en-US" dirty="0"/>
              <a:t> signal, the transmitting UART </a:t>
            </a:r>
            <a:r>
              <a:rPr lang="en-US" b="1" dirty="0">
                <a:solidFill>
                  <a:srgbClr val="FF0000"/>
                </a:solidFill>
              </a:rPr>
              <a:t>adds start and stop bits </a:t>
            </a:r>
            <a:r>
              <a:rPr lang="en-US" dirty="0"/>
              <a:t>to the data packet being transferred.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bits define the </a:t>
            </a:r>
            <a:r>
              <a:rPr lang="en-US" b="1" dirty="0">
                <a:solidFill>
                  <a:srgbClr val="FF0000"/>
                </a:solidFill>
              </a:rPr>
              <a:t>beginning and end </a:t>
            </a:r>
            <a:r>
              <a:rPr lang="en-US" dirty="0"/>
              <a:t>of the data packet so the receiving UART knows when to start reading the bits.</a:t>
            </a:r>
          </a:p>
        </p:txBody>
      </p:sp>
    </p:spTree>
    <p:extLst>
      <p:ext uri="{BB962C8B-B14F-4D97-AF65-F5344CB8AC3E}">
        <p14:creationId xmlns:p14="http://schemas.microsoft.com/office/powerpoint/2010/main" val="2842709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When the receiving UART detects a </a:t>
            </a:r>
            <a:r>
              <a:rPr lang="en-US" b="1" dirty="0">
                <a:solidFill>
                  <a:srgbClr val="FF0000"/>
                </a:solidFill>
              </a:rPr>
              <a:t>start bit, </a:t>
            </a:r>
            <a:r>
              <a:rPr lang="en-US" dirty="0"/>
              <a:t>it starts to </a:t>
            </a:r>
            <a:r>
              <a:rPr lang="en-US" b="1" dirty="0">
                <a:solidFill>
                  <a:srgbClr val="FF0000"/>
                </a:solidFill>
              </a:rPr>
              <a:t>read</a:t>
            </a:r>
            <a:r>
              <a:rPr lang="en-US" dirty="0"/>
              <a:t> the incoming bits at a </a:t>
            </a:r>
            <a:r>
              <a:rPr lang="en-US" b="1" dirty="0">
                <a:solidFill>
                  <a:srgbClr val="FF0000"/>
                </a:solidFill>
              </a:rPr>
              <a:t>specific frequency </a:t>
            </a:r>
            <a:r>
              <a:rPr lang="en-US" dirty="0"/>
              <a:t>known as the </a:t>
            </a:r>
            <a:r>
              <a:rPr lang="en-US" b="1" dirty="0">
                <a:solidFill>
                  <a:srgbClr val="FF0000"/>
                </a:solidFill>
              </a:rPr>
              <a:t>baud rate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 </a:t>
            </a:r>
            <a:r>
              <a:rPr lang="en-US" dirty="0"/>
              <a:t>Baud rate is a measure of the speed of data transfer, expressed in </a:t>
            </a:r>
            <a:r>
              <a:rPr lang="en-US" b="1" dirty="0">
                <a:solidFill>
                  <a:srgbClr val="FF0000"/>
                </a:solidFill>
              </a:rPr>
              <a:t>bits per second (bps</a:t>
            </a:r>
            <a:r>
              <a:rPr lang="en-US" b="1" dirty="0" smtClean="0">
                <a:solidFill>
                  <a:srgbClr val="FF0000"/>
                </a:solidFill>
              </a:rPr>
              <a:t>).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 </a:t>
            </a:r>
            <a:r>
              <a:rPr lang="en-US" b="1" dirty="0">
                <a:solidFill>
                  <a:srgbClr val="FF0000"/>
                </a:solidFill>
              </a:rPr>
              <a:t>Both UARTs </a:t>
            </a:r>
            <a:r>
              <a:rPr lang="en-US" dirty="0"/>
              <a:t>must operate at about the </a:t>
            </a:r>
            <a:r>
              <a:rPr lang="en-US" b="1" dirty="0">
                <a:solidFill>
                  <a:srgbClr val="FF0000"/>
                </a:solidFill>
              </a:rPr>
              <a:t>same baud rate</a:t>
            </a:r>
            <a:r>
              <a:rPr lang="en-US" dirty="0"/>
              <a:t>. The baud rate between the transmitting and receiving UARTs can only differ by about 10% before the timing of bits gets too far off.</a:t>
            </a:r>
          </a:p>
        </p:txBody>
      </p:sp>
    </p:spTree>
    <p:extLst>
      <p:ext uri="{BB962C8B-B14F-4D97-AF65-F5344CB8AC3E}">
        <p14:creationId xmlns:p14="http://schemas.microsoft.com/office/powerpoint/2010/main" val="3589020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7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UART</a:t>
            </a:r>
            <a:r>
              <a:rPr lang="en-US" b="1" dirty="0" smtClean="0">
                <a:solidFill>
                  <a:srgbClr val="FF0000"/>
                </a:solidFill>
                <a:ea typeface="Calibri" pitchFamily="34" charset="0"/>
              </a:rPr>
              <a:t>– </a:t>
            </a:r>
            <a:r>
              <a:rPr lang="en-US" b="1" dirty="0" smtClean="0">
                <a:solidFill>
                  <a:srgbClr val="FF0000"/>
                </a:solidFill>
                <a:ea typeface="Calibri" pitchFamily="34" charset="0"/>
              </a:rPr>
              <a:t>Start &amp; Stop Bit</a:t>
            </a:r>
          </a:p>
        </p:txBody>
      </p:sp>
      <p:sp>
        <p:nvSpPr>
          <p:cNvPr id="82948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4291014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Dr.K.Ragavan, SCOPE, VIT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A44AD53-58B6-4777-8AC0-AFE4A63B0D8C}" type="slidenum">
              <a:rPr lang="en-US"/>
              <a:pPr>
                <a:defRPr/>
              </a:pPr>
              <a:t>11</a:t>
            </a:fld>
            <a:endParaRPr lang="en-US"/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6828" y="1227138"/>
            <a:ext cx="9750582" cy="484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57397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BIT</a:t>
            </a:r>
          </a:p>
          <a:p>
            <a:pPr algn="just"/>
            <a:r>
              <a:rPr lang="en-US" dirty="0" smtClean="0"/>
              <a:t>When </a:t>
            </a:r>
            <a:r>
              <a:rPr lang="en-US" dirty="0"/>
              <a:t>there is </a:t>
            </a:r>
            <a:r>
              <a:rPr lang="en-US" b="1" dirty="0">
                <a:solidFill>
                  <a:srgbClr val="FF0000"/>
                </a:solidFill>
              </a:rPr>
              <a:t>no transfer</a:t>
            </a:r>
            <a:r>
              <a:rPr lang="en-US" dirty="0"/>
              <a:t>, the </a:t>
            </a:r>
            <a:r>
              <a:rPr lang="en-US" b="1" dirty="0">
                <a:solidFill>
                  <a:srgbClr val="FF0000"/>
                </a:solidFill>
              </a:rPr>
              <a:t>signal is 1 – referred </a:t>
            </a:r>
            <a:r>
              <a:rPr lang="en-US" dirty="0"/>
              <a:t>to as mark. The 0 is referred to as </a:t>
            </a:r>
            <a:r>
              <a:rPr lang="en-US" dirty="0" smtClean="0"/>
              <a:t>space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(</a:t>
            </a: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UART</a:t>
            </a:r>
            <a:r>
              <a:rPr lang="en-US" dirty="0"/>
              <a:t> data transmission line is normally held at a </a:t>
            </a:r>
            <a:r>
              <a:rPr lang="en-US" b="1" dirty="0">
                <a:solidFill>
                  <a:srgbClr val="FF0000"/>
                </a:solidFill>
              </a:rPr>
              <a:t>high voltage </a:t>
            </a:r>
            <a:r>
              <a:rPr lang="en-US" dirty="0"/>
              <a:t>level when it’s </a:t>
            </a:r>
            <a:r>
              <a:rPr lang="en-US" b="1" dirty="0">
                <a:solidFill>
                  <a:srgbClr val="FF0000"/>
                </a:solidFill>
              </a:rPr>
              <a:t>not transmitting </a:t>
            </a:r>
            <a:r>
              <a:rPr lang="en-US" b="1" dirty="0" smtClean="0">
                <a:solidFill>
                  <a:srgbClr val="FF0000"/>
                </a:solidFill>
              </a:rPr>
              <a:t>data</a:t>
            </a:r>
            <a:r>
              <a:rPr lang="en-US" dirty="0" smtClean="0"/>
              <a:t>)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To </a:t>
            </a:r>
            <a:r>
              <a:rPr lang="en-US" dirty="0"/>
              <a:t>start the </a:t>
            </a:r>
            <a:r>
              <a:rPr lang="en-US" b="1" dirty="0">
                <a:solidFill>
                  <a:srgbClr val="FF0000"/>
                </a:solidFill>
              </a:rPr>
              <a:t>transfer of data, </a:t>
            </a:r>
            <a:r>
              <a:rPr lang="en-US" dirty="0"/>
              <a:t>the transmitting </a:t>
            </a:r>
            <a:r>
              <a:rPr lang="en-US" b="1" dirty="0">
                <a:solidFill>
                  <a:srgbClr val="FF0000"/>
                </a:solidFill>
              </a:rPr>
              <a:t>UART </a:t>
            </a:r>
            <a:r>
              <a:rPr lang="en-US" dirty="0"/>
              <a:t>pulls the transmission line from </a:t>
            </a:r>
            <a:r>
              <a:rPr lang="en-US" b="1" dirty="0">
                <a:solidFill>
                  <a:srgbClr val="FF0000"/>
                </a:solidFill>
              </a:rPr>
              <a:t>high to low for one clock </a:t>
            </a:r>
            <a:r>
              <a:rPr lang="en-US" b="1" dirty="0" smtClean="0">
                <a:solidFill>
                  <a:srgbClr val="FF0000"/>
                </a:solidFill>
              </a:rPr>
              <a:t>cycle</a:t>
            </a:r>
          </a:p>
          <a:p>
            <a:pPr algn="just"/>
            <a:endParaRPr lang="en-US" b="1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When the </a:t>
            </a:r>
            <a:r>
              <a:rPr lang="en-US" b="1" dirty="0">
                <a:solidFill>
                  <a:srgbClr val="FF0000"/>
                </a:solidFill>
              </a:rPr>
              <a:t>receiving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UART</a:t>
            </a:r>
            <a:r>
              <a:rPr lang="en-US" dirty="0"/>
              <a:t> detects the </a:t>
            </a:r>
            <a:r>
              <a:rPr lang="en-US" b="1" dirty="0">
                <a:solidFill>
                  <a:srgbClr val="FF0000"/>
                </a:solidFill>
              </a:rPr>
              <a:t>high to low voltage transition</a:t>
            </a:r>
            <a:r>
              <a:rPr lang="en-US" dirty="0"/>
              <a:t>, it begins </a:t>
            </a:r>
            <a:r>
              <a:rPr lang="en-US" b="1" dirty="0">
                <a:solidFill>
                  <a:srgbClr val="FF0000"/>
                </a:solidFill>
              </a:rPr>
              <a:t>reading the bits </a:t>
            </a:r>
            <a:r>
              <a:rPr lang="en-US" dirty="0"/>
              <a:t>in the </a:t>
            </a:r>
            <a:r>
              <a:rPr lang="en-US" b="1" dirty="0">
                <a:solidFill>
                  <a:srgbClr val="FF0000"/>
                </a:solidFill>
              </a:rPr>
              <a:t>data frame</a:t>
            </a:r>
            <a:r>
              <a:rPr lang="en-US" dirty="0"/>
              <a:t> at the </a:t>
            </a:r>
            <a:r>
              <a:rPr lang="en-US" b="1" dirty="0">
                <a:solidFill>
                  <a:srgbClr val="FF0000"/>
                </a:solidFill>
              </a:rPr>
              <a:t>frequency</a:t>
            </a:r>
            <a:r>
              <a:rPr lang="en-US" dirty="0"/>
              <a:t> of the </a:t>
            </a:r>
            <a:r>
              <a:rPr lang="en-US" b="1" dirty="0">
                <a:solidFill>
                  <a:srgbClr val="FF0000"/>
                </a:solidFill>
              </a:rPr>
              <a:t>baud rate.</a:t>
            </a:r>
          </a:p>
        </p:txBody>
      </p:sp>
    </p:spTree>
    <p:extLst>
      <p:ext uri="{BB962C8B-B14F-4D97-AF65-F5344CB8AC3E}">
        <p14:creationId xmlns:p14="http://schemas.microsoft.com/office/powerpoint/2010/main" val="1704602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UART-Data </a:t>
            </a:r>
            <a:r>
              <a:rPr lang="en-US" b="1" dirty="0">
                <a:solidFill>
                  <a:srgbClr val="FF0000"/>
                </a:solidFill>
              </a:rPr>
              <a:t>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128" y="2252662"/>
            <a:ext cx="8489822" cy="29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55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Data </a:t>
            </a:r>
            <a:r>
              <a:rPr lang="en-US" b="1" dirty="0" smtClean="0">
                <a:solidFill>
                  <a:srgbClr val="FF0000"/>
                </a:solidFill>
              </a:rPr>
              <a:t>Frame: </a:t>
            </a:r>
            <a:r>
              <a:rPr lang="en-US" dirty="0" smtClean="0"/>
              <a:t>The </a:t>
            </a:r>
            <a:r>
              <a:rPr lang="en-US" dirty="0"/>
              <a:t>data frame contains the actual data being transferred. It can be </a:t>
            </a:r>
            <a:r>
              <a:rPr lang="en-US" b="1" dirty="0">
                <a:solidFill>
                  <a:srgbClr val="FF0000"/>
                </a:solidFill>
              </a:rPr>
              <a:t>5 bits up to 9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bits </a:t>
            </a:r>
            <a:r>
              <a:rPr lang="en-US" dirty="0"/>
              <a:t>long if a parity bit is used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If </a:t>
            </a:r>
            <a:r>
              <a:rPr lang="en-US" b="1" dirty="0">
                <a:solidFill>
                  <a:srgbClr val="FF0000"/>
                </a:solidFill>
              </a:rPr>
              <a:t>no parity bit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used, the data frame can be </a:t>
            </a:r>
            <a:r>
              <a:rPr lang="en-US" b="1" dirty="0" smtClean="0">
                <a:solidFill>
                  <a:srgbClr val="FF0000"/>
                </a:solidFill>
              </a:rPr>
              <a:t>8 </a:t>
            </a:r>
            <a:r>
              <a:rPr lang="en-US" b="1" dirty="0">
                <a:solidFill>
                  <a:srgbClr val="FF0000"/>
                </a:solidFill>
              </a:rPr>
              <a:t>bits long</a:t>
            </a:r>
            <a:r>
              <a:rPr lang="en-US" dirty="0"/>
              <a:t>. In most cases, the data is sent with the least significant bit first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>
                <a:solidFill>
                  <a:srgbClr val="FF0000"/>
                </a:solidFill>
              </a:rPr>
              <a:t>PARITY BITS</a:t>
            </a:r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The parity bit is a way for the receiving UART to </a:t>
            </a:r>
            <a:r>
              <a:rPr lang="en-US" b="1" dirty="0">
                <a:solidFill>
                  <a:srgbClr val="FF0000"/>
                </a:solidFill>
              </a:rPr>
              <a:t>tell</a:t>
            </a:r>
            <a:r>
              <a:rPr lang="en-US" dirty="0"/>
              <a:t> if </a:t>
            </a:r>
            <a:r>
              <a:rPr lang="en-US" b="1" dirty="0">
                <a:solidFill>
                  <a:srgbClr val="FF0000"/>
                </a:solidFill>
              </a:rPr>
              <a:t>any data </a:t>
            </a:r>
            <a:r>
              <a:rPr lang="en-US" dirty="0"/>
              <a:t>has </a:t>
            </a:r>
            <a:r>
              <a:rPr lang="en-US" b="1" dirty="0">
                <a:solidFill>
                  <a:srgbClr val="FF0000"/>
                </a:solidFill>
              </a:rPr>
              <a:t>changed</a:t>
            </a:r>
            <a:r>
              <a:rPr lang="en-US" dirty="0"/>
              <a:t> during transmission. </a:t>
            </a:r>
            <a:endParaRPr lang="en-US" dirty="0" smtClean="0"/>
          </a:p>
          <a:p>
            <a:pPr algn="just"/>
            <a:r>
              <a:rPr lang="en-US" dirty="0" smtClean="0"/>
              <a:t>Bits </a:t>
            </a:r>
            <a:r>
              <a:rPr lang="en-US" dirty="0"/>
              <a:t>can be changed by </a:t>
            </a:r>
            <a:r>
              <a:rPr lang="en-US" b="1" dirty="0">
                <a:solidFill>
                  <a:srgbClr val="FF0000"/>
                </a:solidFill>
              </a:rPr>
              <a:t>electromagnetic radiation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mismatched baud rates, or long distance data transfers</a:t>
            </a:r>
          </a:p>
        </p:txBody>
      </p:sp>
    </p:spTree>
    <p:extLst>
      <p:ext uri="{BB962C8B-B14F-4D97-AF65-F5344CB8AC3E}">
        <p14:creationId xmlns:p14="http://schemas.microsoft.com/office/powerpoint/2010/main" val="315575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STOP BIT</a:t>
            </a:r>
          </a:p>
          <a:p>
            <a:pPr algn="just"/>
            <a:r>
              <a:rPr lang="en-US" dirty="0"/>
              <a:t>To signal the end of the data packet, the sending UART drives the data transmission line from </a:t>
            </a:r>
            <a:r>
              <a:rPr lang="en-US" b="1" dirty="0">
                <a:solidFill>
                  <a:srgbClr val="FF0000"/>
                </a:solidFill>
              </a:rPr>
              <a:t>a low voltage to a high voltage </a:t>
            </a:r>
            <a:r>
              <a:rPr lang="en-US" dirty="0"/>
              <a:t>for at least </a:t>
            </a:r>
            <a:r>
              <a:rPr lang="en-US" b="1" dirty="0">
                <a:solidFill>
                  <a:srgbClr val="FF0000"/>
                </a:solidFill>
              </a:rPr>
              <a:t>two bit durations</a:t>
            </a:r>
          </a:p>
        </p:txBody>
      </p:sp>
    </p:spTree>
    <p:extLst>
      <p:ext uri="{BB962C8B-B14F-4D97-AF65-F5344CB8AC3E}">
        <p14:creationId xmlns:p14="http://schemas.microsoft.com/office/powerpoint/2010/main" val="3844405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Serial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serial port of 8051 is full duplex, i.e., it can transmit and receive simultaneously.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</a:rPr>
              <a:t>SBUF is used to hold the data. </a:t>
            </a:r>
            <a:endParaRPr lang="en-US" b="1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The </a:t>
            </a:r>
            <a:r>
              <a:rPr lang="en-US" b="1" dirty="0">
                <a:solidFill>
                  <a:srgbClr val="FF0000"/>
                </a:solidFill>
              </a:rPr>
              <a:t>special function register SBUF </a:t>
            </a:r>
            <a:r>
              <a:rPr lang="en-US" dirty="0"/>
              <a:t>is physically two registers. </a:t>
            </a:r>
            <a:endParaRPr lang="en-US" dirty="0" smtClean="0"/>
          </a:p>
          <a:p>
            <a:pPr algn="just"/>
            <a:r>
              <a:rPr lang="en-US" dirty="0" smtClean="0"/>
              <a:t> </a:t>
            </a:r>
            <a:r>
              <a:rPr lang="en-US" dirty="0"/>
              <a:t>One is, write-only and is used to hold data to be </a:t>
            </a:r>
            <a:r>
              <a:rPr lang="en-US" b="1" dirty="0">
                <a:solidFill>
                  <a:srgbClr val="FF0000"/>
                </a:solidFill>
              </a:rPr>
              <a:t>transmitted out </a:t>
            </a:r>
            <a:r>
              <a:rPr lang="en-US" dirty="0"/>
              <a:t>of the 8051 via </a:t>
            </a:r>
            <a:r>
              <a:rPr lang="en-US" b="1" dirty="0">
                <a:solidFill>
                  <a:srgbClr val="FF0000"/>
                </a:solidFill>
              </a:rPr>
              <a:t>TXD.</a:t>
            </a:r>
            <a:r>
              <a:rPr lang="en-US" dirty="0"/>
              <a:t>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other is, read-only and holds the </a:t>
            </a:r>
            <a:r>
              <a:rPr lang="en-US" b="1" dirty="0">
                <a:solidFill>
                  <a:srgbClr val="FF0000"/>
                </a:solidFill>
              </a:rPr>
              <a:t>received data </a:t>
            </a:r>
            <a:r>
              <a:rPr lang="en-US" dirty="0"/>
              <a:t>from external sources via </a:t>
            </a:r>
            <a:r>
              <a:rPr lang="en-US" b="1" dirty="0">
                <a:solidFill>
                  <a:srgbClr val="FF0000"/>
                </a:solidFill>
              </a:rPr>
              <a:t>RXD</a:t>
            </a:r>
            <a:r>
              <a:rPr lang="en-US" dirty="0"/>
              <a:t>. •Both </a:t>
            </a:r>
            <a:r>
              <a:rPr lang="en-US" b="1" dirty="0">
                <a:solidFill>
                  <a:srgbClr val="FF0000"/>
                </a:solidFill>
              </a:rPr>
              <a:t>mutually exclusive registers </a:t>
            </a:r>
            <a:r>
              <a:rPr lang="en-US" dirty="0"/>
              <a:t>have the same address 099H.</a:t>
            </a:r>
          </a:p>
        </p:txBody>
      </p:sp>
    </p:spTree>
    <p:extLst>
      <p:ext uri="{BB962C8B-B14F-4D97-AF65-F5344CB8AC3E}">
        <p14:creationId xmlns:p14="http://schemas.microsoft.com/office/powerpoint/2010/main" val="3762796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SBUF REGISTER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76" y="1825625"/>
            <a:ext cx="10240223" cy="447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21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solidFill>
                  <a:srgbClr val="FF0000"/>
                </a:solidFill>
              </a:rPr>
              <a:t>Serial Port Control Register (SCON)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Register SCON controls serial data communication. Address: 098H (Bit addressable)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This </a:t>
            </a:r>
            <a:r>
              <a:rPr lang="en-US" b="1" dirty="0">
                <a:solidFill>
                  <a:srgbClr val="FF0000"/>
                </a:solidFill>
              </a:rPr>
              <a:t>special function register (SFR) controls </a:t>
            </a:r>
            <a:r>
              <a:rPr lang="en-US" dirty="0"/>
              <a:t>the operations of the serial port.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This </a:t>
            </a:r>
            <a:r>
              <a:rPr lang="en-US" b="1" dirty="0">
                <a:solidFill>
                  <a:srgbClr val="FF0000"/>
                </a:solidFill>
              </a:rPr>
              <a:t>register is used to define the </a:t>
            </a:r>
            <a:r>
              <a:rPr lang="en-US" b="1" dirty="0" smtClean="0">
                <a:solidFill>
                  <a:srgbClr val="FF0000"/>
                </a:solidFill>
              </a:rPr>
              <a:t>operating modes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also receives the </a:t>
            </a:r>
            <a:r>
              <a:rPr lang="en-US" b="1" dirty="0">
                <a:solidFill>
                  <a:srgbClr val="FF0000"/>
                </a:solidFill>
              </a:rPr>
              <a:t>9th bit </a:t>
            </a:r>
            <a:r>
              <a:rPr lang="en-US" dirty="0"/>
              <a:t>and contains the transmit and receive </a:t>
            </a:r>
            <a:r>
              <a:rPr lang="en-US" b="1" dirty="0">
                <a:solidFill>
                  <a:srgbClr val="FF0000"/>
                </a:solidFill>
              </a:rPr>
              <a:t>interrupt flags </a:t>
            </a:r>
            <a:r>
              <a:rPr lang="en-US" dirty="0" smtClean="0"/>
              <a:t>as well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88695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solidFill>
                  <a:srgbClr val="FF0000"/>
                </a:solidFill>
              </a:rPr>
              <a:t>Serial Port Control Register (SCON)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828800"/>
            <a:ext cx="10591800" cy="396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27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7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ea typeface="Calibri" pitchFamily="34" charset="0"/>
              </a:rPr>
              <a:t>SCON Register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E7F44D-44B6-423D-9EC3-B8FCAED25624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2600325" y="1484314"/>
            <a:ext cx="6337300" cy="12969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2400" dirty="0"/>
              <a:t>SM0 </a:t>
            </a:r>
            <a:r>
              <a:rPr lang="en-US" sz="2400" dirty="0" smtClean="0"/>
              <a:t>   </a:t>
            </a:r>
            <a:r>
              <a:rPr lang="en-US" sz="2400" dirty="0"/>
              <a:t>SM1   </a:t>
            </a:r>
            <a:r>
              <a:rPr lang="en-US" sz="2400" dirty="0" smtClean="0"/>
              <a:t>  SM2     REN     TB8     </a:t>
            </a:r>
            <a:r>
              <a:rPr lang="en-US" sz="2400" dirty="0"/>
              <a:t>RB8   </a:t>
            </a:r>
            <a:r>
              <a:rPr lang="en-US" sz="2400" dirty="0" smtClean="0"/>
              <a:t>   </a:t>
            </a:r>
            <a:r>
              <a:rPr lang="en-US" sz="2400" dirty="0"/>
              <a:t>TI    RI</a:t>
            </a:r>
          </a:p>
        </p:txBody>
      </p:sp>
      <p:sp>
        <p:nvSpPr>
          <p:cNvPr id="89094" name="Line 6"/>
          <p:cNvSpPr>
            <a:spLocks noChangeShapeType="1"/>
          </p:cNvSpPr>
          <p:nvPr/>
        </p:nvSpPr>
        <p:spPr bwMode="auto">
          <a:xfrm>
            <a:off x="3392488" y="1484314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095" name="Line 7"/>
          <p:cNvSpPr>
            <a:spLocks noChangeShapeType="1"/>
          </p:cNvSpPr>
          <p:nvPr/>
        </p:nvSpPr>
        <p:spPr bwMode="auto">
          <a:xfrm>
            <a:off x="4256088" y="1484314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096" name="Line 8"/>
          <p:cNvSpPr>
            <a:spLocks noChangeShapeType="1"/>
          </p:cNvSpPr>
          <p:nvPr/>
        </p:nvSpPr>
        <p:spPr bwMode="auto">
          <a:xfrm>
            <a:off x="5121275" y="1484314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097" name="Line 9"/>
          <p:cNvSpPr>
            <a:spLocks noChangeShapeType="1"/>
          </p:cNvSpPr>
          <p:nvPr/>
        </p:nvSpPr>
        <p:spPr bwMode="auto">
          <a:xfrm>
            <a:off x="6056313" y="1484314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098" name="Line 10"/>
          <p:cNvSpPr>
            <a:spLocks noChangeShapeType="1"/>
          </p:cNvSpPr>
          <p:nvPr/>
        </p:nvSpPr>
        <p:spPr bwMode="auto">
          <a:xfrm>
            <a:off x="6848475" y="1484314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099" name="Line 11"/>
          <p:cNvSpPr>
            <a:spLocks noChangeShapeType="1"/>
          </p:cNvSpPr>
          <p:nvPr/>
        </p:nvSpPr>
        <p:spPr bwMode="auto">
          <a:xfrm>
            <a:off x="7713663" y="1484314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100" name="Line 12"/>
          <p:cNvSpPr>
            <a:spLocks noChangeShapeType="1"/>
          </p:cNvSpPr>
          <p:nvPr/>
        </p:nvSpPr>
        <p:spPr bwMode="auto">
          <a:xfrm>
            <a:off x="8289925" y="1484314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2" name="Line 14"/>
          <p:cNvSpPr>
            <a:spLocks noChangeShapeType="1"/>
          </p:cNvSpPr>
          <p:nvPr/>
        </p:nvSpPr>
        <p:spPr bwMode="auto">
          <a:xfrm>
            <a:off x="3032125" y="2781300"/>
            <a:ext cx="0" cy="2873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sz="2200"/>
          </a:p>
        </p:txBody>
      </p:sp>
      <p:sp>
        <p:nvSpPr>
          <p:cNvPr id="43" name="Line 15"/>
          <p:cNvSpPr>
            <a:spLocks noChangeShapeType="1"/>
          </p:cNvSpPr>
          <p:nvPr/>
        </p:nvSpPr>
        <p:spPr bwMode="auto">
          <a:xfrm>
            <a:off x="3032126" y="3068638"/>
            <a:ext cx="792163" cy="0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sz="2200"/>
          </a:p>
        </p:txBody>
      </p:sp>
      <p:sp>
        <p:nvSpPr>
          <p:cNvPr id="44" name="Line 16"/>
          <p:cNvSpPr>
            <a:spLocks noChangeShapeType="1"/>
          </p:cNvSpPr>
          <p:nvPr/>
        </p:nvSpPr>
        <p:spPr bwMode="auto">
          <a:xfrm flipV="1">
            <a:off x="3824288" y="2781300"/>
            <a:ext cx="0" cy="2873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sz="2200"/>
          </a:p>
        </p:txBody>
      </p:sp>
      <p:sp>
        <p:nvSpPr>
          <p:cNvPr id="45" name="Line 17"/>
          <p:cNvSpPr>
            <a:spLocks noChangeShapeType="1"/>
          </p:cNvSpPr>
          <p:nvPr/>
        </p:nvSpPr>
        <p:spPr bwMode="auto">
          <a:xfrm flipH="1">
            <a:off x="3032126" y="3068639"/>
            <a:ext cx="360363" cy="288925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 sz="2200"/>
          </a:p>
        </p:txBody>
      </p:sp>
      <p:sp>
        <p:nvSpPr>
          <p:cNvPr id="46" name="Rectangle 18"/>
          <p:cNvSpPr>
            <a:spLocks noChangeArrowheads="1"/>
          </p:cNvSpPr>
          <p:nvPr/>
        </p:nvSpPr>
        <p:spPr bwMode="auto">
          <a:xfrm>
            <a:off x="2025651" y="4870450"/>
            <a:ext cx="2951163" cy="863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200"/>
              <a:t>Enable Multiprocessor</a:t>
            </a:r>
          </a:p>
          <a:p>
            <a:pPr algn="ctr"/>
            <a:r>
              <a:rPr lang="en-US" sz="2200"/>
              <a:t>Communication Mode</a:t>
            </a:r>
          </a:p>
        </p:txBody>
      </p:sp>
      <p:sp>
        <p:nvSpPr>
          <p:cNvPr id="47" name="Rectangle 20"/>
          <p:cNvSpPr>
            <a:spLocks noChangeArrowheads="1"/>
          </p:cNvSpPr>
          <p:nvPr/>
        </p:nvSpPr>
        <p:spPr bwMode="auto">
          <a:xfrm>
            <a:off x="4473575" y="3500438"/>
            <a:ext cx="1728788" cy="12239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2200" dirty="0"/>
              <a:t>Set to Enable</a:t>
            </a:r>
          </a:p>
          <a:p>
            <a:r>
              <a:rPr lang="en-US" sz="2200" dirty="0"/>
              <a:t>Serial Data </a:t>
            </a:r>
          </a:p>
          <a:p>
            <a:r>
              <a:rPr lang="en-US" sz="2200" dirty="0"/>
              <a:t>reception</a:t>
            </a:r>
          </a:p>
        </p:txBody>
      </p:sp>
      <p:sp>
        <p:nvSpPr>
          <p:cNvPr id="48" name="Line 21"/>
          <p:cNvSpPr>
            <a:spLocks noChangeShapeType="1"/>
          </p:cNvSpPr>
          <p:nvPr/>
        </p:nvSpPr>
        <p:spPr bwMode="auto">
          <a:xfrm flipH="1">
            <a:off x="4095751" y="2786064"/>
            <a:ext cx="500063" cy="2071687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 sz="2200"/>
          </a:p>
        </p:txBody>
      </p:sp>
      <p:sp>
        <p:nvSpPr>
          <p:cNvPr id="49" name="Line 22"/>
          <p:cNvSpPr>
            <a:spLocks noChangeShapeType="1"/>
          </p:cNvSpPr>
          <p:nvPr/>
        </p:nvSpPr>
        <p:spPr bwMode="auto">
          <a:xfrm>
            <a:off x="5553075" y="2781300"/>
            <a:ext cx="0" cy="7191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 sz="2200"/>
          </a:p>
        </p:txBody>
      </p:sp>
      <p:sp>
        <p:nvSpPr>
          <p:cNvPr id="50" name="Rectangle 23"/>
          <p:cNvSpPr>
            <a:spLocks noChangeArrowheads="1"/>
          </p:cNvSpPr>
          <p:nvPr/>
        </p:nvSpPr>
        <p:spPr bwMode="auto">
          <a:xfrm>
            <a:off x="5048250" y="4868864"/>
            <a:ext cx="2160588" cy="8651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2200"/>
              <a:t>9</a:t>
            </a:r>
            <a:r>
              <a:rPr lang="en-US" sz="2200" baseline="30000"/>
              <a:t>th</a:t>
            </a:r>
            <a:r>
              <a:rPr lang="en-US" sz="2200"/>
              <a:t> Data Bit </a:t>
            </a:r>
          </a:p>
          <a:p>
            <a:r>
              <a:rPr lang="en-US" sz="2200"/>
              <a:t>Sent in Mode 2,3 </a:t>
            </a:r>
          </a:p>
        </p:txBody>
      </p:sp>
      <p:sp>
        <p:nvSpPr>
          <p:cNvPr id="51" name="Rectangle 24"/>
          <p:cNvSpPr>
            <a:spLocks noChangeArrowheads="1"/>
          </p:cNvSpPr>
          <p:nvPr/>
        </p:nvSpPr>
        <p:spPr bwMode="auto">
          <a:xfrm>
            <a:off x="7280275" y="4868864"/>
            <a:ext cx="4344278" cy="8651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2200" dirty="0"/>
              <a:t>9</a:t>
            </a:r>
            <a:r>
              <a:rPr lang="en-US" sz="2200" baseline="30000" dirty="0"/>
              <a:t>th</a:t>
            </a:r>
            <a:r>
              <a:rPr lang="en-US" sz="2200" dirty="0"/>
              <a:t> Data Bit </a:t>
            </a:r>
          </a:p>
          <a:p>
            <a:r>
              <a:rPr lang="en-US" sz="2200" dirty="0"/>
              <a:t>Received in Mode 2,3 </a:t>
            </a:r>
          </a:p>
        </p:txBody>
      </p:sp>
      <p:sp>
        <p:nvSpPr>
          <p:cNvPr id="52" name="Line 25"/>
          <p:cNvSpPr>
            <a:spLocks noChangeShapeType="1"/>
          </p:cNvSpPr>
          <p:nvPr/>
        </p:nvSpPr>
        <p:spPr bwMode="auto">
          <a:xfrm>
            <a:off x="6453188" y="2781301"/>
            <a:ext cx="0" cy="2087563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 sz="2200"/>
          </a:p>
        </p:txBody>
      </p:sp>
      <p:sp>
        <p:nvSpPr>
          <p:cNvPr id="53" name="Line 26"/>
          <p:cNvSpPr>
            <a:spLocks noChangeShapeType="1"/>
          </p:cNvSpPr>
          <p:nvPr/>
        </p:nvSpPr>
        <p:spPr bwMode="auto">
          <a:xfrm>
            <a:off x="7239000" y="2786063"/>
            <a:ext cx="185738" cy="2082800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 sz="2200"/>
          </a:p>
        </p:txBody>
      </p:sp>
      <p:sp>
        <p:nvSpPr>
          <p:cNvPr id="54" name="Rectangle 27"/>
          <p:cNvSpPr>
            <a:spLocks noChangeArrowheads="1"/>
          </p:cNvSpPr>
          <p:nvPr/>
        </p:nvSpPr>
        <p:spPr bwMode="auto">
          <a:xfrm>
            <a:off x="7543801" y="4149725"/>
            <a:ext cx="3010710" cy="6477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2200" dirty="0"/>
              <a:t>Set when Stop bit </a:t>
            </a:r>
            <a:r>
              <a:rPr lang="en-US" sz="2200" dirty="0" err="1"/>
              <a:t>Txed</a:t>
            </a:r>
            <a:endParaRPr lang="en-US" sz="2200" dirty="0"/>
          </a:p>
        </p:txBody>
      </p:sp>
      <p:sp>
        <p:nvSpPr>
          <p:cNvPr id="55" name="Rectangle 28"/>
          <p:cNvSpPr>
            <a:spLocks noChangeArrowheads="1"/>
          </p:cNvSpPr>
          <p:nvPr/>
        </p:nvSpPr>
        <p:spPr bwMode="auto">
          <a:xfrm>
            <a:off x="8178801" y="3068639"/>
            <a:ext cx="2998280" cy="936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2200" dirty="0"/>
              <a:t>Set when a Cha-</a:t>
            </a:r>
          </a:p>
          <a:p>
            <a:r>
              <a:rPr lang="en-US" sz="2200" dirty="0" err="1"/>
              <a:t>ractor</a:t>
            </a:r>
            <a:r>
              <a:rPr lang="en-US" sz="2200" dirty="0"/>
              <a:t> received</a:t>
            </a:r>
          </a:p>
        </p:txBody>
      </p:sp>
      <p:sp>
        <p:nvSpPr>
          <p:cNvPr id="56" name="Line 29"/>
          <p:cNvSpPr>
            <a:spLocks noChangeShapeType="1"/>
          </p:cNvSpPr>
          <p:nvPr/>
        </p:nvSpPr>
        <p:spPr bwMode="auto">
          <a:xfrm>
            <a:off x="8024813" y="2781301"/>
            <a:ext cx="0" cy="1368425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 sz="2200"/>
          </a:p>
        </p:txBody>
      </p:sp>
      <p:sp>
        <p:nvSpPr>
          <p:cNvPr id="57" name="Line 30"/>
          <p:cNvSpPr>
            <a:spLocks noChangeShapeType="1"/>
          </p:cNvSpPr>
          <p:nvPr/>
        </p:nvSpPr>
        <p:spPr bwMode="auto">
          <a:xfrm>
            <a:off x="8596313" y="2781300"/>
            <a:ext cx="0" cy="2873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 sz="2200"/>
          </a:p>
        </p:txBody>
      </p:sp>
      <p:pic>
        <p:nvPicPr>
          <p:cNvPr id="58" name="Picture 3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8314" y="3357563"/>
            <a:ext cx="2232025" cy="143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7327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FF0000"/>
                </a:solidFill>
              </a:rPr>
              <a:t>(SCON)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SM2 : </a:t>
            </a:r>
            <a:r>
              <a:rPr lang="en-US" dirty="0"/>
              <a:t>used for multi processor </a:t>
            </a:r>
            <a:r>
              <a:rPr lang="en-US" dirty="0" smtClean="0"/>
              <a:t>communication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REN : </a:t>
            </a:r>
            <a:r>
              <a:rPr lang="en-US" dirty="0"/>
              <a:t>receive enable (by software enable/disable</a:t>
            </a:r>
            <a:r>
              <a:rPr lang="en-US" dirty="0" smtClean="0"/>
              <a:t>)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TB8 : </a:t>
            </a:r>
            <a:r>
              <a:rPr lang="en-US" dirty="0">
                <a:solidFill>
                  <a:srgbClr val="FF0000"/>
                </a:solidFill>
              </a:rPr>
              <a:t>transmit </a:t>
            </a:r>
            <a:r>
              <a:rPr lang="en-US" dirty="0" smtClean="0">
                <a:solidFill>
                  <a:srgbClr val="FF0000"/>
                </a:solidFill>
              </a:rPr>
              <a:t>bit </a:t>
            </a:r>
            <a:r>
              <a:rPr lang="en-US" dirty="0" smtClean="0"/>
              <a:t>8-used </a:t>
            </a:r>
            <a:r>
              <a:rPr lang="en-US" dirty="0"/>
              <a:t>for serial mode 2 &amp; </a:t>
            </a:r>
            <a:r>
              <a:rPr lang="en-US" dirty="0" smtClean="0"/>
              <a:t>3 </a:t>
            </a:r>
            <a:r>
              <a:rPr lang="en-US" dirty="0" smtClean="0">
                <a:solidFill>
                  <a:srgbClr val="FF0000"/>
                </a:solidFill>
              </a:rPr>
              <a:t>(start bit)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RB8 : </a:t>
            </a:r>
            <a:r>
              <a:rPr lang="en-US" dirty="0">
                <a:solidFill>
                  <a:srgbClr val="FF0000"/>
                </a:solidFill>
              </a:rPr>
              <a:t>receive bit </a:t>
            </a:r>
            <a:r>
              <a:rPr lang="en-US" dirty="0"/>
              <a:t>8-In serial mode 1, this bit gets a copy of the </a:t>
            </a:r>
            <a:r>
              <a:rPr lang="en-US" dirty="0">
                <a:solidFill>
                  <a:srgbClr val="FF0000"/>
                </a:solidFill>
              </a:rPr>
              <a:t>stop bit </a:t>
            </a:r>
            <a:r>
              <a:rPr lang="en-US" dirty="0"/>
              <a:t>when an 8-bit data is received </a:t>
            </a:r>
          </a:p>
        </p:txBody>
      </p:sp>
    </p:spTree>
    <p:extLst>
      <p:ext uri="{BB962C8B-B14F-4D97-AF65-F5344CB8AC3E}">
        <p14:creationId xmlns:p14="http://schemas.microsoft.com/office/powerpoint/2010/main" val="3474869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FF0000"/>
                </a:solidFill>
              </a:rPr>
              <a:t>(SCON)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TI : transmit interrupt flag set by </a:t>
            </a:r>
            <a:r>
              <a:rPr lang="en-US" b="1" dirty="0" smtClean="0">
                <a:solidFill>
                  <a:srgbClr val="FF0000"/>
                </a:solidFill>
              </a:rPr>
              <a:t>Hardware </a:t>
            </a:r>
            <a:r>
              <a:rPr lang="en-US" b="1" dirty="0">
                <a:solidFill>
                  <a:srgbClr val="FF0000"/>
                </a:solidFill>
              </a:rPr>
              <a:t>after send </a:t>
            </a:r>
            <a:r>
              <a:rPr lang="en-US" dirty="0"/>
              <a:t>, clear by </a:t>
            </a:r>
            <a:r>
              <a:rPr lang="en-US" dirty="0" smtClean="0"/>
              <a:t>Software-when </a:t>
            </a:r>
            <a:r>
              <a:rPr lang="en-US" dirty="0"/>
              <a:t>the 8051 finishes the transfer of the 8-bit character,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raises the </a:t>
            </a:r>
            <a:r>
              <a:rPr lang="en-US" b="1" dirty="0">
                <a:solidFill>
                  <a:srgbClr val="FF0000"/>
                </a:solidFill>
              </a:rPr>
              <a:t>TI flag </a:t>
            </a:r>
            <a:r>
              <a:rPr lang="en-US" dirty="0"/>
              <a:t>to indicate that </a:t>
            </a:r>
            <a:r>
              <a:rPr lang="en-US" dirty="0" smtClean="0"/>
              <a:t>it </a:t>
            </a:r>
            <a:r>
              <a:rPr lang="en-US" dirty="0"/>
              <a:t>is ready to transfer another </a:t>
            </a:r>
            <a:r>
              <a:rPr lang="en-US" dirty="0" smtClean="0"/>
              <a:t>byte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RI : receive interrupt flag set by </a:t>
            </a:r>
            <a:r>
              <a:rPr lang="en-US" b="1" dirty="0" smtClean="0">
                <a:solidFill>
                  <a:srgbClr val="FF0000"/>
                </a:solidFill>
              </a:rPr>
              <a:t>Hardware </a:t>
            </a:r>
            <a:r>
              <a:rPr lang="en-US" b="1" dirty="0">
                <a:solidFill>
                  <a:srgbClr val="FF0000"/>
                </a:solidFill>
              </a:rPr>
              <a:t>after received </a:t>
            </a:r>
            <a:r>
              <a:rPr lang="en-US" dirty="0"/>
              <a:t>,clear by </a:t>
            </a:r>
            <a:r>
              <a:rPr lang="en-US" dirty="0" smtClean="0"/>
              <a:t>Software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When </a:t>
            </a:r>
            <a:r>
              <a:rPr lang="en-US" dirty="0"/>
              <a:t>the 8051 receives data serially via </a:t>
            </a:r>
            <a:r>
              <a:rPr lang="en-US" dirty="0" err="1"/>
              <a:t>RxD</a:t>
            </a:r>
            <a:r>
              <a:rPr lang="en-US" dirty="0"/>
              <a:t>, it gets rid of the start and stop bits and places the byte in SBUF register</a:t>
            </a:r>
          </a:p>
        </p:txBody>
      </p:sp>
    </p:spTree>
    <p:extLst>
      <p:ext uri="{BB962C8B-B14F-4D97-AF65-F5344CB8AC3E}">
        <p14:creationId xmlns:p14="http://schemas.microsoft.com/office/powerpoint/2010/main" val="154583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FF0000"/>
                </a:solidFill>
              </a:rPr>
              <a:t>(SCON)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Bits </a:t>
            </a:r>
            <a:r>
              <a:rPr lang="en-US" b="1" dirty="0">
                <a:solidFill>
                  <a:srgbClr val="FF0000"/>
                </a:solidFill>
              </a:rPr>
              <a:t>SM0 and SM1 </a:t>
            </a:r>
            <a:r>
              <a:rPr lang="en-US" dirty="0"/>
              <a:t>let us set the serial mode to a </a:t>
            </a:r>
            <a:r>
              <a:rPr lang="en-US" b="1" dirty="0">
                <a:solidFill>
                  <a:srgbClr val="FF0000"/>
                </a:solidFill>
              </a:rPr>
              <a:t>value </a:t>
            </a:r>
            <a:r>
              <a:rPr lang="en-US" dirty="0"/>
              <a:t>between </a:t>
            </a:r>
            <a:r>
              <a:rPr lang="en-US" b="1" dirty="0">
                <a:solidFill>
                  <a:srgbClr val="FF0000"/>
                </a:solidFill>
              </a:rPr>
              <a:t>0 and 3, inclusive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When </a:t>
            </a:r>
            <a:r>
              <a:rPr lang="en-US" b="1" dirty="0">
                <a:solidFill>
                  <a:srgbClr val="FF0000"/>
                </a:solidFill>
              </a:rPr>
              <a:t>SM2 is set </a:t>
            </a:r>
            <a:r>
              <a:rPr lang="en-US" dirty="0"/>
              <a:t>the "</a:t>
            </a:r>
            <a:r>
              <a:rPr lang="en-US" b="1" dirty="0">
                <a:solidFill>
                  <a:srgbClr val="FF0000"/>
                </a:solidFill>
              </a:rPr>
              <a:t>RI" flag </a:t>
            </a:r>
            <a:r>
              <a:rPr lang="en-US" dirty="0"/>
              <a:t>will only be </a:t>
            </a:r>
            <a:r>
              <a:rPr lang="en-US" b="1" dirty="0">
                <a:solidFill>
                  <a:srgbClr val="FF0000"/>
                </a:solidFill>
              </a:rPr>
              <a:t>triggered</a:t>
            </a:r>
            <a:r>
              <a:rPr lang="en-US" dirty="0"/>
              <a:t> if the </a:t>
            </a:r>
            <a:r>
              <a:rPr lang="en-US" b="1" dirty="0">
                <a:solidFill>
                  <a:srgbClr val="FF0000"/>
                </a:solidFill>
              </a:rPr>
              <a:t>9th bit </a:t>
            </a:r>
            <a:r>
              <a:rPr lang="en-US" dirty="0"/>
              <a:t>received </a:t>
            </a:r>
            <a:r>
              <a:rPr lang="en-US" dirty="0" smtClean="0"/>
              <a:t>the interrupt signal (As “1”).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The next bit</a:t>
            </a:r>
            <a:r>
              <a:rPr lang="en-US" b="1" dirty="0">
                <a:solidFill>
                  <a:srgbClr val="FF0000"/>
                </a:solidFill>
              </a:rPr>
              <a:t>, REN, is "Receiver Enable</a:t>
            </a:r>
            <a:r>
              <a:rPr lang="en-US" dirty="0"/>
              <a:t>." This bit is very straightforward: If you want to </a:t>
            </a:r>
            <a:r>
              <a:rPr lang="en-US" b="1" dirty="0">
                <a:solidFill>
                  <a:srgbClr val="FF0000"/>
                </a:solidFill>
              </a:rPr>
              <a:t>receive data via the serial port</a:t>
            </a:r>
            <a:r>
              <a:rPr lang="en-US" dirty="0"/>
              <a:t>, set this bit. You will almost always want to </a:t>
            </a:r>
            <a:r>
              <a:rPr lang="en-US" b="1" dirty="0">
                <a:solidFill>
                  <a:srgbClr val="FF0000"/>
                </a:solidFill>
              </a:rPr>
              <a:t>set </a:t>
            </a:r>
            <a:r>
              <a:rPr lang="en-US" dirty="0"/>
              <a:t>this bit.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204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FF0000"/>
                </a:solidFill>
              </a:rPr>
              <a:t>(SCON)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TB8 bit </a:t>
            </a:r>
            <a:r>
              <a:rPr lang="en-US" dirty="0"/>
              <a:t>is used in modes 2 and 3. In modes 2 and 3, a total of nine </a:t>
            </a:r>
            <a:r>
              <a:rPr lang="en-US" b="1" dirty="0">
                <a:solidFill>
                  <a:srgbClr val="FF0000"/>
                </a:solidFill>
              </a:rPr>
              <a:t>data bits are transmitted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The RB8</a:t>
            </a:r>
            <a:r>
              <a:rPr lang="en-US" dirty="0"/>
              <a:t> also operates in modes 2 and 3 and functions essentially the same way as TB8, but on the </a:t>
            </a:r>
            <a:r>
              <a:rPr lang="en-US" b="1" dirty="0">
                <a:solidFill>
                  <a:srgbClr val="FF0000"/>
                </a:solidFill>
              </a:rPr>
              <a:t>reception side. </a:t>
            </a:r>
            <a:endParaRPr lang="en-US" b="1" dirty="0" smtClean="0">
              <a:solidFill>
                <a:srgbClr val="FF0000"/>
              </a:solidFill>
            </a:endParaRP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When a byte is received in modes 2 or 3, a total of </a:t>
            </a:r>
            <a:r>
              <a:rPr lang="en-US" dirty="0">
                <a:solidFill>
                  <a:srgbClr val="FF0000"/>
                </a:solidFill>
              </a:rPr>
              <a:t>nine bits are </a:t>
            </a:r>
            <a:r>
              <a:rPr lang="en-US" b="1" dirty="0">
                <a:solidFill>
                  <a:srgbClr val="FF0000"/>
                </a:solidFill>
              </a:rPr>
              <a:t>received.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696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5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b="1" dirty="0" smtClean="0">
                <a:solidFill>
                  <a:srgbClr val="FF0000"/>
                </a:solidFill>
                <a:ea typeface="Calibri" pitchFamily="34" charset="0"/>
              </a:rPr>
              <a:t>8051 Serial Port – Mode 0</a:t>
            </a:r>
          </a:p>
        </p:txBody>
      </p:sp>
      <p:sp>
        <p:nvSpPr>
          <p:cNvPr id="90115" name="Content Placeholder 6"/>
          <p:cNvSpPr>
            <a:spLocks noGrp="1"/>
          </p:cNvSpPr>
          <p:nvPr>
            <p:ph idx="1"/>
          </p:nvPr>
        </p:nvSpPr>
        <p:spPr>
          <a:xfrm>
            <a:off x="661481" y="1214438"/>
            <a:ext cx="10846340" cy="464161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808080"/>
                </a:solidFill>
                <a:ea typeface="Calibri" pitchFamily="34" charset="0"/>
              </a:rPr>
              <a:t>The Serial Port in Mode-0 has the following features:</a:t>
            </a:r>
          </a:p>
          <a:p>
            <a:pPr marL="0" indent="0"/>
            <a:endParaRPr lang="en-US" b="1" dirty="0" smtClean="0">
              <a:solidFill>
                <a:srgbClr val="808080"/>
              </a:solidFill>
              <a:ea typeface="Calibri" pitchFamily="34" charset="0"/>
            </a:endParaRPr>
          </a:p>
          <a:p>
            <a:pPr marL="0" indent="0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Serial data </a:t>
            </a:r>
            <a:r>
              <a:rPr lang="en-US" sz="2400" b="1" dirty="0">
                <a:solidFill>
                  <a:srgbClr val="CC99FF"/>
                </a:solidFill>
                <a:ea typeface="Calibri" pitchFamily="34" charset="0"/>
              </a:rPr>
              <a:t>enters and exits through RXD</a:t>
            </a:r>
          </a:p>
          <a:p>
            <a:pPr marL="0" indent="0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</a:t>
            </a:r>
            <a:r>
              <a:rPr lang="en-US" sz="2400" b="1" dirty="0">
                <a:solidFill>
                  <a:srgbClr val="CC99FF"/>
                </a:solidFill>
                <a:ea typeface="Calibri" pitchFamily="34" charset="0"/>
              </a:rPr>
              <a:t>TXD</a:t>
            </a:r>
            <a:r>
              <a:rPr lang="en-US" sz="2400" b="1" dirty="0">
                <a:ea typeface="Calibri" pitchFamily="34" charset="0"/>
              </a:rPr>
              <a:t> outputs the </a:t>
            </a:r>
            <a:r>
              <a:rPr lang="en-US" sz="2400" b="1" dirty="0">
                <a:solidFill>
                  <a:srgbClr val="CC99FF"/>
                </a:solidFill>
                <a:ea typeface="Calibri" pitchFamily="34" charset="0"/>
              </a:rPr>
              <a:t>clock</a:t>
            </a:r>
          </a:p>
          <a:p>
            <a:pPr marL="0" indent="0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8 bits are transmitted / received</a:t>
            </a:r>
          </a:p>
          <a:p>
            <a:pPr marL="0" indent="0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The baud rate is fixed at (1/12) of the oscillator frequency</a:t>
            </a:r>
          </a:p>
          <a:p>
            <a:pPr marL="0" indent="0"/>
            <a:endParaRPr lang="en-US" dirty="0" smtClean="0">
              <a:ea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261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5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b="1" dirty="0" smtClean="0">
                <a:solidFill>
                  <a:srgbClr val="FF0000"/>
                </a:solidFill>
                <a:ea typeface="Calibri" pitchFamily="34" charset="0"/>
              </a:rPr>
              <a:t>8051 Serial Port – Mode 1</a:t>
            </a:r>
          </a:p>
        </p:txBody>
      </p:sp>
      <p:sp>
        <p:nvSpPr>
          <p:cNvPr id="91139" name="Content Placeholder 6"/>
          <p:cNvSpPr>
            <a:spLocks noGrp="1"/>
          </p:cNvSpPr>
          <p:nvPr>
            <p:ph idx="1"/>
          </p:nvPr>
        </p:nvSpPr>
        <p:spPr>
          <a:xfrm>
            <a:off x="603115" y="1214438"/>
            <a:ext cx="11021438" cy="51435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808080"/>
                </a:solidFill>
                <a:ea typeface="Calibri" pitchFamily="34" charset="0"/>
              </a:rPr>
              <a:t>The Serial Port in Mode-1 has the following features:</a:t>
            </a:r>
          </a:p>
          <a:p>
            <a:pPr marL="0" indent="0"/>
            <a:endParaRPr lang="en-US" b="1" dirty="0" smtClean="0">
              <a:solidFill>
                <a:srgbClr val="808080"/>
              </a:solidFill>
              <a:ea typeface="Calibri" pitchFamily="34" charset="0"/>
            </a:endParaRPr>
          </a:p>
          <a:p>
            <a:pPr marL="0" indent="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Serial data </a:t>
            </a:r>
            <a:r>
              <a:rPr lang="en-US" sz="2400" b="1" dirty="0">
                <a:solidFill>
                  <a:srgbClr val="CC99FF"/>
                </a:solidFill>
                <a:ea typeface="Calibri" pitchFamily="34" charset="0"/>
              </a:rPr>
              <a:t>enters through RXD</a:t>
            </a:r>
          </a:p>
          <a:p>
            <a:pPr marL="0" indent="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Serial data </a:t>
            </a:r>
            <a:r>
              <a:rPr lang="en-US" sz="2400" b="1" dirty="0">
                <a:solidFill>
                  <a:srgbClr val="CC99FF"/>
                </a:solidFill>
                <a:ea typeface="Calibri" pitchFamily="34" charset="0"/>
              </a:rPr>
              <a:t>exits through TXD</a:t>
            </a:r>
          </a:p>
          <a:p>
            <a:pPr marL="0" indent="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On receive, the stop bit goes into RB8 in SCON</a:t>
            </a:r>
          </a:p>
          <a:p>
            <a:pPr marL="0" indent="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b="1" dirty="0">
                <a:solidFill>
                  <a:srgbClr val="CC99FF"/>
                </a:solidFill>
                <a:ea typeface="Calibri" pitchFamily="34" charset="0"/>
              </a:rPr>
              <a:t> 10 bits </a:t>
            </a:r>
            <a:r>
              <a:rPr lang="en-US" sz="2400" b="1" dirty="0">
                <a:ea typeface="Calibri" pitchFamily="34" charset="0"/>
              </a:rPr>
              <a:t>are transmitted / received</a:t>
            </a:r>
          </a:p>
          <a:p>
            <a:pPr marL="400050" lvl="1" indent="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000" b="1" i="1" dirty="0">
                <a:solidFill>
                  <a:srgbClr val="00B0F0"/>
                </a:solidFill>
                <a:ea typeface="Calibri" pitchFamily="34" charset="0"/>
              </a:rPr>
              <a:t> Start bit (0)</a:t>
            </a:r>
          </a:p>
          <a:p>
            <a:pPr marL="400050" lvl="1" indent="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000" b="1" i="1" dirty="0">
                <a:solidFill>
                  <a:srgbClr val="00B0F0"/>
                </a:solidFill>
                <a:ea typeface="Calibri" pitchFamily="34" charset="0"/>
              </a:rPr>
              <a:t> Data bits (8)</a:t>
            </a:r>
          </a:p>
          <a:p>
            <a:pPr marL="400050" lvl="1" indent="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000" b="1" i="1" dirty="0">
                <a:solidFill>
                  <a:srgbClr val="00B0F0"/>
                </a:solidFill>
                <a:ea typeface="Calibri" pitchFamily="34" charset="0"/>
              </a:rPr>
              <a:t> Stop Bit (1)</a:t>
            </a:r>
          </a:p>
          <a:p>
            <a:pPr marL="0" indent="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Baud rate is determined by the Timer 1 over flow rate.</a:t>
            </a:r>
          </a:p>
          <a:p>
            <a:pPr marL="0" indent="0"/>
            <a:endParaRPr lang="en-US" dirty="0" smtClean="0">
              <a:ea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34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5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b="1" dirty="0" smtClean="0">
                <a:solidFill>
                  <a:srgbClr val="FF0000"/>
                </a:solidFill>
                <a:ea typeface="Calibri" pitchFamily="34" charset="0"/>
              </a:rPr>
              <a:t>8051 Serial Port – Mode 2</a:t>
            </a:r>
          </a:p>
        </p:txBody>
      </p:sp>
      <p:sp>
        <p:nvSpPr>
          <p:cNvPr id="92163" name="Content Placeholder 6"/>
          <p:cNvSpPr>
            <a:spLocks noGrp="1"/>
          </p:cNvSpPr>
          <p:nvPr>
            <p:ph idx="1"/>
          </p:nvPr>
        </p:nvSpPr>
        <p:spPr>
          <a:xfrm>
            <a:off x="787941" y="1214438"/>
            <a:ext cx="10340502" cy="51435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808080"/>
                </a:solidFill>
                <a:ea typeface="Calibri" pitchFamily="34" charset="0"/>
              </a:rPr>
              <a:t>The Serial Port in Mode-2 has the following features:</a:t>
            </a:r>
          </a:p>
          <a:p>
            <a:pPr marL="0" indent="0"/>
            <a:endParaRPr lang="en-US" b="1" dirty="0" smtClean="0">
              <a:solidFill>
                <a:srgbClr val="808080"/>
              </a:solidFill>
              <a:ea typeface="Calibri" pitchFamily="34" charset="0"/>
            </a:endParaRP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Serial data 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enters through RXD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Serial data 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exits through TXD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9th data bit (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TB8</a:t>
            </a:r>
            <a:r>
              <a:rPr lang="en-US" sz="2400" b="1" dirty="0">
                <a:ea typeface="Calibri" pitchFamily="34" charset="0"/>
              </a:rPr>
              <a:t>) can be assign value 0 or 1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On receive, the 9th data  bit goes into 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RB8</a:t>
            </a:r>
            <a:r>
              <a:rPr lang="en-US" sz="2400" b="1" dirty="0">
                <a:ea typeface="Calibri" pitchFamily="34" charset="0"/>
              </a:rPr>
              <a:t> in SCON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11 bits </a:t>
            </a:r>
            <a:r>
              <a:rPr lang="en-US" sz="2400" b="1" dirty="0">
                <a:ea typeface="Calibri" pitchFamily="34" charset="0"/>
              </a:rPr>
              <a:t>are transmitted / received</a:t>
            </a:r>
          </a:p>
          <a:p>
            <a:pPr marL="400050" lvl="1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b="1" dirty="0">
                <a:ea typeface="Calibri" pitchFamily="34" charset="0"/>
              </a:rPr>
              <a:t>Start bit (0)</a:t>
            </a:r>
          </a:p>
          <a:p>
            <a:pPr marL="400050" lvl="1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b="1" dirty="0">
                <a:ea typeface="Calibri" pitchFamily="34" charset="0"/>
              </a:rPr>
              <a:t>Data bits (9)</a:t>
            </a:r>
          </a:p>
          <a:p>
            <a:pPr marL="400050" lvl="1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b="1" dirty="0">
                <a:ea typeface="Calibri" pitchFamily="34" charset="0"/>
              </a:rPr>
              <a:t>Stop Bit (1)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b="1" dirty="0">
                <a:ea typeface="Calibri" pitchFamily="34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Baud rate </a:t>
            </a:r>
            <a:r>
              <a:rPr lang="en-US" sz="2400" b="1" dirty="0">
                <a:ea typeface="Calibri" pitchFamily="34" charset="0"/>
              </a:rPr>
              <a:t>is programmable</a:t>
            </a:r>
          </a:p>
          <a:p>
            <a:pPr marL="0" indent="0"/>
            <a:endParaRPr lang="en-US" dirty="0" smtClean="0">
              <a:ea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81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5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b="1" dirty="0" smtClean="0">
                <a:solidFill>
                  <a:srgbClr val="FF0000"/>
                </a:solidFill>
                <a:ea typeface="Calibri" pitchFamily="34" charset="0"/>
              </a:rPr>
              <a:t>8051 Serial Port – Mode 3</a:t>
            </a:r>
          </a:p>
        </p:txBody>
      </p:sp>
      <p:sp>
        <p:nvSpPr>
          <p:cNvPr id="93187" name="Content Placeholder 6"/>
          <p:cNvSpPr>
            <a:spLocks noGrp="1"/>
          </p:cNvSpPr>
          <p:nvPr>
            <p:ph idx="1"/>
          </p:nvPr>
        </p:nvSpPr>
        <p:spPr>
          <a:xfrm>
            <a:off x="1001949" y="1214438"/>
            <a:ext cx="9961123" cy="51435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ea typeface="Calibri" pitchFamily="34" charset="0"/>
              </a:rPr>
              <a:t>The Serial Port in Mode-3 has the following features:</a:t>
            </a:r>
          </a:p>
          <a:p>
            <a:pPr marL="0" indent="0"/>
            <a:endParaRPr lang="en-US" dirty="0" smtClean="0">
              <a:solidFill>
                <a:srgbClr val="808080"/>
              </a:solidFill>
              <a:ea typeface="Calibri" pitchFamily="34" charset="0"/>
            </a:endParaRP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dirty="0">
                <a:ea typeface="Calibri" pitchFamily="34" charset="0"/>
              </a:rPr>
              <a:t> Serial data 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enters through RXD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dirty="0">
                <a:ea typeface="Calibri" pitchFamily="34" charset="0"/>
              </a:rPr>
              <a:t> Serial data 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exits through TXD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dirty="0">
                <a:ea typeface="Calibri" pitchFamily="34" charset="0"/>
              </a:rPr>
              <a:t> 9th data bit (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TB8</a:t>
            </a:r>
            <a:r>
              <a:rPr lang="en-US" sz="2400" dirty="0">
                <a:ea typeface="Calibri" pitchFamily="34" charset="0"/>
              </a:rPr>
              <a:t>) can be assign value 0 or 1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dirty="0">
                <a:ea typeface="Calibri" pitchFamily="34" charset="0"/>
              </a:rPr>
              <a:t> On receive, the 9th data  bit goes into 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RB8</a:t>
            </a:r>
            <a:r>
              <a:rPr lang="en-US" sz="2400" dirty="0">
                <a:ea typeface="Calibri" pitchFamily="34" charset="0"/>
              </a:rPr>
              <a:t> in SCON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dirty="0">
                <a:ea typeface="Calibri" pitchFamily="34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11 bits </a:t>
            </a:r>
            <a:r>
              <a:rPr lang="en-US" sz="2400" dirty="0">
                <a:ea typeface="Calibri" pitchFamily="34" charset="0"/>
              </a:rPr>
              <a:t>are transmitted / received</a:t>
            </a:r>
          </a:p>
          <a:p>
            <a:pPr marL="400050" lvl="1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dirty="0">
                <a:ea typeface="Calibri" pitchFamily="34" charset="0"/>
              </a:rPr>
              <a:t>Start bit (0)</a:t>
            </a:r>
          </a:p>
          <a:p>
            <a:pPr marL="400050" lvl="1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dirty="0">
                <a:ea typeface="Calibri" pitchFamily="34" charset="0"/>
              </a:rPr>
              <a:t>Data bits (9)</a:t>
            </a:r>
          </a:p>
          <a:p>
            <a:pPr marL="400050" lvl="1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dirty="0">
                <a:ea typeface="Calibri" pitchFamily="34" charset="0"/>
              </a:rPr>
              <a:t>Stop Bit (1)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dirty="0">
                <a:ea typeface="Calibri" pitchFamily="34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ea typeface="Calibri" pitchFamily="34" charset="0"/>
              </a:rPr>
              <a:t>Baud rate </a:t>
            </a:r>
            <a:r>
              <a:rPr lang="en-US" sz="2400" dirty="0">
                <a:ea typeface="Calibri" pitchFamily="34" charset="0"/>
              </a:rPr>
              <a:t>is determined by Timer 1 overflow rate.</a:t>
            </a:r>
          </a:p>
          <a:p>
            <a:pPr marL="0" indent="0"/>
            <a:endParaRPr lang="en-US" dirty="0" smtClean="0">
              <a:ea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21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641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UART-8051 </a:t>
            </a:r>
            <a:r>
              <a:rPr lang="en-US" b="1" dirty="0">
                <a:solidFill>
                  <a:srgbClr val="FF0000"/>
                </a:solidFill>
              </a:rPr>
              <a:t>Microcontroller Programming steps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1541"/>
            <a:ext cx="10515600" cy="4715422"/>
          </a:xfrm>
        </p:spPr>
        <p:txBody>
          <a:bodyPr>
            <a:normAutofit/>
          </a:bodyPr>
          <a:lstStyle/>
          <a:p>
            <a:r>
              <a:rPr lang="en-US" dirty="0"/>
              <a:t>Configure </a:t>
            </a:r>
            <a:r>
              <a:rPr lang="en-US" b="1" dirty="0">
                <a:solidFill>
                  <a:srgbClr val="FF0000"/>
                </a:solidFill>
              </a:rPr>
              <a:t>Timer 1</a:t>
            </a:r>
            <a:r>
              <a:rPr lang="en-US" dirty="0"/>
              <a:t> in </a:t>
            </a:r>
            <a:r>
              <a:rPr lang="en-US" b="1" dirty="0">
                <a:solidFill>
                  <a:srgbClr val="FF0000"/>
                </a:solidFill>
              </a:rPr>
              <a:t>auto-reload mode.</a:t>
            </a:r>
          </a:p>
          <a:p>
            <a:r>
              <a:rPr lang="en-US" b="1" dirty="0">
                <a:solidFill>
                  <a:srgbClr val="FF0000"/>
                </a:solidFill>
              </a:rPr>
              <a:t>Load TH1 </a:t>
            </a:r>
            <a:r>
              <a:rPr lang="en-US" dirty="0"/>
              <a:t>with value as per required </a:t>
            </a:r>
            <a:r>
              <a:rPr lang="en-US" b="1" dirty="0">
                <a:solidFill>
                  <a:srgbClr val="FF0000"/>
                </a:solidFill>
              </a:rPr>
              <a:t>baud rate </a:t>
            </a:r>
            <a:r>
              <a:rPr lang="en-US" dirty="0"/>
              <a:t>e.g. for 9600 baud rate load 0xFD. (-3 in decimal)</a:t>
            </a:r>
          </a:p>
          <a:p>
            <a:r>
              <a:rPr lang="en-US" b="1" dirty="0">
                <a:solidFill>
                  <a:srgbClr val="FF0000"/>
                </a:solidFill>
              </a:rPr>
              <a:t>Load SCON </a:t>
            </a:r>
            <a:r>
              <a:rPr lang="en-US" dirty="0"/>
              <a:t>with serial mode and </a:t>
            </a:r>
            <a:r>
              <a:rPr lang="en-US" b="1" dirty="0">
                <a:solidFill>
                  <a:srgbClr val="FF0000"/>
                </a:solidFill>
              </a:rPr>
              <a:t>control bits</a:t>
            </a:r>
            <a:r>
              <a:rPr lang="en-US" dirty="0"/>
              <a:t>. e.g. for mode 1 and enable reception, load 0x50.</a:t>
            </a:r>
          </a:p>
          <a:p>
            <a:r>
              <a:rPr lang="en-US" dirty="0"/>
              <a:t>Start timer1 by setting </a:t>
            </a:r>
            <a:r>
              <a:rPr lang="en-US" b="1" dirty="0">
                <a:solidFill>
                  <a:srgbClr val="FF0000"/>
                </a:solidFill>
              </a:rPr>
              <a:t>TR1 bit to 1.</a:t>
            </a:r>
          </a:p>
          <a:p>
            <a:r>
              <a:rPr lang="en-US" b="1" dirty="0">
                <a:solidFill>
                  <a:srgbClr val="FF0000"/>
                </a:solidFill>
              </a:rPr>
              <a:t>Load</a:t>
            </a:r>
            <a:r>
              <a:rPr lang="en-US" dirty="0"/>
              <a:t> transmitting data in the </a:t>
            </a:r>
            <a:r>
              <a:rPr lang="en-US" dirty="0">
                <a:solidFill>
                  <a:srgbClr val="FF0000"/>
                </a:solidFill>
              </a:rPr>
              <a:t>SBUF register.</a:t>
            </a:r>
          </a:p>
          <a:p>
            <a:r>
              <a:rPr lang="en-US" dirty="0"/>
              <a:t>Wait until loaded data is completely transmitted by polling the </a:t>
            </a:r>
            <a:r>
              <a:rPr lang="en-US" b="1" dirty="0">
                <a:solidFill>
                  <a:srgbClr val="FF0000"/>
                </a:solidFill>
              </a:rPr>
              <a:t>TI flag.</a:t>
            </a:r>
          </a:p>
          <a:p>
            <a:r>
              <a:rPr lang="en-US" dirty="0"/>
              <a:t>When the TI flag is </a:t>
            </a:r>
            <a:r>
              <a:rPr lang="en-US" b="1" dirty="0">
                <a:solidFill>
                  <a:srgbClr val="FF0000"/>
                </a:solidFill>
              </a:rPr>
              <a:t>set,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clear it, </a:t>
            </a:r>
            <a:r>
              <a:rPr lang="en-US" dirty="0"/>
              <a:t>and repeat from step 5 to transmit more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506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>
                <a:solidFill>
                  <a:srgbClr val="FF0000"/>
                </a:solidFill>
              </a:rPr>
              <a:t>Let's Program 8051 (here AT89C51) to send character data “test” serially at 9600 baud rate in mode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63" y="1825625"/>
            <a:ext cx="10210801" cy="25312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64" y="4428565"/>
            <a:ext cx="10210800" cy="18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284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46" y="365125"/>
            <a:ext cx="10633953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1443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Advantages </a:t>
            </a:r>
            <a:r>
              <a:rPr lang="en-US" b="1" dirty="0" smtClean="0">
                <a:solidFill>
                  <a:srgbClr val="FF0000"/>
                </a:solidFill>
              </a:rPr>
              <a:t>of </a:t>
            </a:r>
            <a:r>
              <a:rPr lang="en-US" b="1" dirty="0">
                <a:solidFill>
                  <a:srgbClr val="FF0000"/>
                </a:solidFill>
              </a:rPr>
              <a:t>UARTs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Only uses </a:t>
            </a:r>
            <a:r>
              <a:rPr lang="en-US" dirty="0">
                <a:solidFill>
                  <a:srgbClr val="FF0000"/>
                </a:solidFill>
              </a:rPr>
              <a:t>two wires </a:t>
            </a:r>
            <a:endParaRPr lang="en-US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No </a:t>
            </a:r>
            <a:r>
              <a:rPr lang="en-US" dirty="0">
                <a:solidFill>
                  <a:srgbClr val="FF0000"/>
                </a:solidFill>
              </a:rPr>
              <a:t>clock signal i</a:t>
            </a:r>
            <a:r>
              <a:rPr lang="en-US" dirty="0"/>
              <a:t>s necessary </a:t>
            </a:r>
            <a:endParaRPr lang="en-US" dirty="0" smtClean="0"/>
          </a:p>
          <a:p>
            <a:pPr algn="just"/>
            <a:r>
              <a:rPr lang="en-US" dirty="0" smtClean="0"/>
              <a:t>Has </a:t>
            </a: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parity bit </a:t>
            </a:r>
            <a:r>
              <a:rPr lang="en-US" dirty="0"/>
              <a:t>to allow for error checking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>
                <a:solidFill>
                  <a:srgbClr val="FF0000"/>
                </a:solidFill>
              </a:rPr>
              <a:t>structure </a:t>
            </a:r>
            <a:r>
              <a:rPr lang="en-US" dirty="0"/>
              <a:t>of the data packet can be changed as long as both sides are set up for it </a:t>
            </a:r>
            <a:endParaRPr lang="en-US" dirty="0" smtClean="0"/>
          </a:p>
          <a:p>
            <a:pPr algn="just"/>
            <a:r>
              <a:rPr lang="en-US" dirty="0" smtClean="0"/>
              <a:t>Well </a:t>
            </a:r>
            <a:r>
              <a:rPr lang="en-US" dirty="0"/>
              <a:t>documented and widely used method</a:t>
            </a:r>
          </a:p>
        </p:txBody>
      </p:sp>
    </p:spTree>
    <p:extLst>
      <p:ext uri="{BB962C8B-B14F-4D97-AF65-F5344CB8AC3E}">
        <p14:creationId xmlns:p14="http://schemas.microsoft.com/office/powerpoint/2010/main" val="110522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Disadvantages of UART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size of the data frame is limited to a maximum of 9 bits 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Doesn’t </a:t>
            </a:r>
            <a:r>
              <a:rPr lang="en-US" dirty="0">
                <a:solidFill>
                  <a:srgbClr val="FF0000"/>
                </a:solidFill>
              </a:rPr>
              <a:t>support multiple</a:t>
            </a:r>
            <a:r>
              <a:rPr lang="en-US" dirty="0"/>
              <a:t> slave or multiple master systems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baud rates of each UART must be within 10% of each other</a:t>
            </a:r>
          </a:p>
        </p:txBody>
      </p:sp>
    </p:spTree>
    <p:extLst>
      <p:ext uri="{BB962C8B-B14F-4D97-AF65-F5344CB8AC3E}">
        <p14:creationId xmlns:p14="http://schemas.microsoft.com/office/powerpoint/2010/main" val="3066097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</TotalTime>
  <Words>1808</Words>
  <Application>Microsoft Office PowerPoint</Application>
  <PresentationFormat>Widescreen</PresentationFormat>
  <Paragraphs>196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Office Theme</vt:lpstr>
      <vt:lpstr>MODULE 2- SYLLABUS - I/O Interfacing Techniques</vt:lpstr>
      <vt:lpstr>SERIAL COMMUNICATIONS</vt:lpstr>
      <vt:lpstr>SERIAL COMMUNICATIONS</vt:lpstr>
      <vt:lpstr>SERIAL COMMUNICATIONS</vt:lpstr>
      <vt:lpstr>Asynchronous serial communication</vt:lpstr>
      <vt:lpstr>UART</vt:lpstr>
      <vt:lpstr>UART</vt:lpstr>
      <vt:lpstr>UART</vt:lpstr>
      <vt:lpstr>UART</vt:lpstr>
      <vt:lpstr>UART</vt:lpstr>
      <vt:lpstr>UART– Start &amp; Stop Bit</vt:lpstr>
      <vt:lpstr>UART</vt:lpstr>
      <vt:lpstr>UART-Data Frame</vt:lpstr>
      <vt:lpstr>UART</vt:lpstr>
      <vt:lpstr>UART</vt:lpstr>
      <vt:lpstr>Serial Interface</vt:lpstr>
      <vt:lpstr>SBUF REGISTER</vt:lpstr>
      <vt:lpstr>Serial Port Control Register (SCON)</vt:lpstr>
      <vt:lpstr>Serial Port Control Register (SCON)</vt:lpstr>
      <vt:lpstr>SCON Register</vt:lpstr>
      <vt:lpstr>(SCON)</vt:lpstr>
      <vt:lpstr>(SCON)</vt:lpstr>
      <vt:lpstr>(SCON)</vt:lpstr>
      <vt:lpstr>(SCON)</vt:lpstr>
      <vt:lpstr>8051 Serial Port – Mode 0</vt:lpstr>
      <vt:lpstr>8051 Serial Port – Mode 1</vt:lpstr>
      <vt:lpstr>8051 Serial Port – Mode 2</vt:lpstr>
      <vt:lpstr>8051 Serial Port – Mode 3</vt:lpstr>
      <vt:lpstr>UART-8051 Microcontroller Programming steps </vt:lpstr>
      <vt:lpstr>Let's Program 8051 (here AT89C51) to send character data “test” serially at 9600 baud rate in mode 1</vt:lpstr>
      <vt:lpstr>PowerPoint Presentation</vt:lpstr>
      <vt:lpstr>Advantages of UARTs</vt:lpstr>
      <vt:lpstr>Disadvantages of UART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creator>KOPPERUNDEVI RAJAJI</dc:creator>
  <cp:lastModifiedBy>lenovo</cp:lastModifiedBy>
  <cp:revision>104</cp:revision>
  <dcterms:created xsi:type="dcterms:W3CDTF">2024-01-18T17:05:19Z</dcterms:created>
  <dcterms:modified xsi:type="dcterms:W3CDTF">2024-01-30T12:57:17Z</dcterms:modified>
</cp:coreProperties>
</file>