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85" r:id="rId3"/>
    <p:sldId id="257" r:id="rId4"/>
    <p:sldId id="258" r:id="rId5"/>
    <p:sldId id="259" r:id="rId6"/>
    <p:sldId id="261" r:id="rId7"/>
    <p:sldId id="260" r:id="rId8"/>
    <p:sldId id="262" r:id="rId9"/>
    <p:sldId id="264" r:id="rId10"/>
    <p:sldId id="263"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0" r:id="rId26"/>
    <p:sldId id="279" r:id="rId27"/>
    <p:sldId id="281"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p:scale>
          <a:sx n="76" d="100"/>
          <a:sy n="76" d="100"/>
        </p:scale>
        <p:origin x="-504" y="-3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B5D712-3697-65C0-1CA5-AA2A43309F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75FBB794-EBA4-127F-C2D6-CF97C7778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0A379DF-6BF5-FDB3-E03A-8030342FC0B7}"/>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5" name="Footer Placeholder 4">
            <a:extLst>
              <a:ext uri="{FF2B5EF4-FFF2-40B4-BE49-F238E27FC236}">
                <a16:creationId xmlns="" xmlns:a16="http://schemas.microsoft.com/office/drawing/2014/main" id="{BA1C7331-5ACB-95CF-2402-37B1ACDFCE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2B1E8FC-5480-5B14-467D-E9FD7F809AE1}"/>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3726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3B971E-CECB-0937-E64B-6FF4461AA0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7C7E6B0-D38B-641A-1ECD-06D19E00A0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A93A353-22DF-2452-5F56-8BFD36650E47}"/>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5" name="Footer Placeholder 4">
            <a:extLst>
              <a:ext uri="{FF2B5EF4-FFF2-40B4-BE49-F238E27FC236}">
                <a16:creationId xmlns="" xmlns:a16="http://schemas.microsoft.com/office/drawing/2014/main" id="{517A96CD-F55B-D581-F691-ED14F9B4DD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51AD98A-A1CB-46F0-1FCE-2AD3DE9CD346}"/>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3554952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0F3DF2-3992-D684-9B3F-EDF2A42B00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51EB534-BB07-BFB6-4A4A-5421EB6415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C2B92C51-1283-6156-0FD9-22D84790FCAA}"/>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5" name="Footer Placeholder 4">
            <a:extLst>
              <a:ext uri="{FF2B5EF4-FFF2-40B4-BE49-F238E27FC236}">
                <a16:creationId xmlns="" xmlns:a16="http://schemas.microsoft.com/office/drawing/2014/main" id="{40794836-66E1-7F15-AC0E-ED7243D5A5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5CA101C-9410-F480-CCF1-D41237448FDB}"/>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3826428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12E19EF-2471-11B3-F299-984CF39F64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EB65C36-250A-DD7F-AAB3-30620303D0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208A5ADF-EF8A-ECD1-9AE3-891B7F395B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8B111C52-D777-6014-B63D-6AD340CC2042}"/>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6" name="Footer Placeholder 5">
            <a:extLst>
              <a:ext uri="{FF2B5EF4-FFF2-40B4-BE49-F238E27FC236}">
                <a16:creationId xmlns="" xmlns:a16="http://schemas.microsoft.com/office/drawing/2014/main" id="{01A82F9A-2758-3D53-40C3-BD7FAB33B2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539F188-75FA-01F4-B66E-F49BCEA91B4D}"/>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3423770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65A0E1-D73D-EC5F-A938-0BC091DD790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F8C45A4-98D4-7BA8-F2D2-3359138F5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9A1409AE-E9F5-B75D-CF93-FF6B255C8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3AAAC386-5303-FE38-8F65-760662CCED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F0373181-FFED-6BBB-3D4A-AF97DC5CD1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458D9DB9-0764-655C-5EF5-BDC65F5DD7BF}"/>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8" name="Footer Placeholder 7">
            <a:extLst>
              <a:ext uri="{FF2B5EF4-FFF2-40B4-BE49-F238E27FC236}">
                <a16:creationId xmlns="" xmlns:a16="http://schemas.microsoft.com/office/drawing/2014/main" id="{B5C99366-2698-C4C8-CD51-7A55B149FA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285C8AFB-6530-5E43-1971-1EE2FA3B00E1}"/>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2361490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6A4BAA-1304-62AD-27B6-A636B34BE75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5E5CCB30-0D18-076F-5C97-633D61E17DA7}"/>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4" name="Footer Placeholder 3">
            <a:extLst>
              <a:ext uri="{FF2B5EF4-FFF2-40B4-BE49-F238E27FC236}">
                <a16:creationId xmlns="" xmlns:a16="http://schemas.microsoft.com/office/drawing/2014/main" id="{5DE4E511-39AB-EA55-635F-25F1397C1F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B86CFB76-9AAE-D76C-7D8F-56AC754A182A}"/>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3357019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84BB51B-1DF1-6B6E-18B6-FCB2AB3D7DDF}"/>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3" name="Footer Placeholder 2">
            <a:extLst>
              <a:ext uri="{FF2B5EF4-FFF2-40B4-BE49-F238E27FC236}">
                <a16:creationId xmlns="" xmlns:a16="http://schemas.microsoft.com/office/drawing/2014/main" id="{D67AF930-F315-8404-5114-0188322D4D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AC02DEB7-9904-5F69-2C18-3BCA2AF8BED1}"/>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2391743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7FAA11-7BE0-3E5F-0C69-6275798E8C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D368CCA-A42D-AE47-F5DE-68DE62457A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F43D06AE-34CD-9A9F-71DF-6E872F0C4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F40D122-82CD-A6AB-0342-A82A5C15A179}"/>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6" name="Footer Placeholder 5">
            <a:extLst>
              <a:ext uri="{FF2B5EF4-FFF2-40B4-BE49-F238E27FC236}">
                <a16:creationId xmlns="" xmlns:a16="http://schemas.microsoft.com/office/drawing/2014/main" id="{F3EFDDFF-C54D-5268-BE6E-D4B26C80D0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3044A9B-DE0E-8156-50EE-610B888A5E94}"/>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2423693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23A0B-630C-96FE-C54D-A4428C428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B59CA7AA-691F-B59A-78E6-1F18EDCF49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46FF2B8B-D7BD-2C76-85A6-368AF6B4A0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52034D1-2296-21D2-62D7-2FEF50189814}"/>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6" name="Footer Placeholder 5">
            <a:extLst>
              <a:ext uri="{FF2B5EF4-FFF2-40B4-BE49-F238E27FC236}">
                <a16:creationId xmlns="" xmlns:a16="http://schemas.microsoft.com/office/drawing/2014/main" id="{BDF4FEBA-83F8-5C7B-9630-3BFF8A6CFC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14EECE1-9DFC-B996-D9AB-4A5BF671C4EE}"/>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298986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916A18-E7B8-6073-779A-8EAD8C8E79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0F5B847B-3BDA-6FDC-C074-C892AF63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66FF575-6D8C-2852-6880-EA84D89F2798}"/>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5" name="Footer Placeholder 4">
            <a:extLst>
              <a:ext uri="{FF2B5EF4-FFF2-40B4-BE49-F238E27FC236}">
                <a16:creationId xmlns="" xmlns:a16="http://schemas.microsoft.com/office/drawing/2014/main" id="{8B3B2D3E-5E13-D4F6-8F06-8D5D1855E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930CF80-3A49-857C-BB66-5A2CEDC83FDF}"/>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1657462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C7A06D08-8A74-66A3-867B-FF1F3180CB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8AB87D3C-F077-B5E6-B181-236142ADC9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C769C42-F70D-6259-44D8-C469CFC99D46}"/>
              </a:ext>
            </a:extLst>
          </p:cNvPr>
          <p:cNvSpPr>
            <a:spLocks noGrp="1"/>
          </p:cNvSpPr>
          <p:nvPr>
            <p:ph type="dt" sz="half" idx="10"/>
          </p:nvPr>
        </p:nvSpPr>
        <p:spPr/>
        <p:txBody>
          <a:bodyPr/>
          <a:lstStyle/>
          <a:p>
            <a:fld id="{E5CA78F4-B737-4CF5-9869-68CF1AFCF6B2}" type="datetimeFigureOut">
              <a:rPr lang="en-IN" smtClean="0"/>
              <a:pPr/>
              <a:t>21-01-2025</a:t>
            </a:fld>
            <a:endParaRPr lang="en-IN"/>
          </a:p>
        </p:txBody>
      </p:sp>
      <p:sp>
        <p:nvSpPr>
          <p:cNvPr id="5" name="Footer Placeholder 4">
            <a:extLst>
              <a:ext uri="{FF2B5EF4-FFF2-40B4-BE49-F238E27FC236}">
                <a16:creationId xmlns="" xmlns:a16="http://schemas.microsoft.com/office/drawing/2014/main" id="{E647C770-C0C6-EC1E-4E6B-1BAA2FF273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A98FA23-8DDE-B536-F75B-21E396B331A2}"/>
              </a:ext>
            </a:extLst>
          </p:cNvPr>
          <p:cNvSpPr>
            <a:spLocks noGrp="1"/>
          </p:cNvSpPr>
          <p:nvPr>
            <p:ph type="sldNum" sz="quarter" idx="12"/>
          </p:nvPr>
        </p:nvSpPr>
        <p:spPr/>
        <p:txBody>
          <a:body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1914256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920CBD1-8848-7F66-2FF8-CD4364BA4C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D9FFA142-8271-B979-8A85-CC4F5F1481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D3E2220-5974-2C2C-5E7B-7B0FD1C4C5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CA78F4-B737-4CF5-9869-68CF1AFCF6B2}" type="datetimeFigureOut">
              <a:rPr lang="en-IN" smtClean="0"/>
              <a:pPr/>
              <a:t>21-01-2025</a:t>
            </a:fld>
            <a:endParaRPr lang="en-IN"/>
          </a:p>
        </p:txBody>
      </p:sp>
      <p:sp>
        <p:nvSpPr>
          <p:cNvPr id="5" name="Footer Placeholder 4">
            <a:extLst>
              <a:ext uri="{FF2B5EF4-FFF2-40B4-BE49-F238E27FC236}">
                <a16:creationId xmlns="" xmlns:a16="http://schemas.microsoft.com/office/drawing/2014/main" id="{02F90699-24F8-FDAF-A277-C5701EC4B7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0E42AE4B-869F-8016-5151-79AF7A69EC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59A6D6-AE0B-4A5B-B835-2E1F75815D1C}" type="slidenum">
              <a:rPr lang="en-IN" smtClean="0"/>
              <a:pPr/>
              <a:t>‹#›</a:t>
            </a:fld>
            <a:endParaRPr lang="en-IN"/>
          </a:p>
        </p:txBody>
      </p:sp>
    </p:spTree>
    <p:extLst>
      <p:ext uri="{BB962C8B-B14F-4D97-AF65-F5344CB8AC3E}">
        <p14:creationId xmlns="" xmlns:p14="http://schemas.microsoft.com/office/powerpoint/2010/main" val="3529305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FCA36D-B9E2-EE0E-66A1-E11F3B0CB473}"/>
              </a:ext>
            </a:extLst>
          </p:cNvPr>
          <p:cNvSpPr>
            <a:spLocks noGrp="1"/>
          </p:cNvSpPr>
          <p:nvPr>
            <p:ph type="ctrTitle"/>
          </p:nvPr>
        </p:nvSpPr>
        <p:spPr/>
        <p:txBody>
          <a:bodyPr/>
          <a:lstStyle/>
          <a:p>
            <a:r>
              <a:rPr lang="en-US" dirty="0"/>
              <a:t>Module 2</a:t>
            </a:r>
            <a:endParaRPr lang="en-IN" dirty="0"/>
          </a:p>
        </p:txBody>
      </p:sp>
      <p:sp>
        <p:nvSpPr>
          <p:cNvPr id="3" name="Subtitle 2">
            <a:extLst>
              <a:ext uri="{FF2B5EF4-FFF2-40B4-BE49-F238E27FC236}">
                <a16:creationId xmlns="" xmlns:a16="http://schemas.microsoft.com/office/drawing/2014/main" id="{B127D3D7-072D-AD3E-6512-3B936FD9EB75}"/>
              </a:ext>
            </a:extLst>
          </p:cNvPr>
          <p:cNvSpPr>
            <a:spLocks noGrp="1"/>
          </p:cNvSpPr>
          <p:nvPr>
            <p:ph type="subTitle" idx="1"/>
          </p:nvPr>
        </p:nvSpPr>
        <p:spPr>
          <a:xfrm>
            <a:off x="1524000" y="3627090"/>
            <a:ext cx="9144000" cy="1655762"/>
          </a:xfrm>
        </p:spPr>
        <p:txBody>
          <a:bodyPr/>
          <a:lstStyle/>
          <a:p>
            <a:r>
              <a:rPr lang="en-US" b="1" i="0" dirty="0">
                <a:effectLst/>
                <a:latin typeface="Roboto Condensed" panose="020F0502020204030204" pitchFamily="2" charset="0"/>
              </a:rPr>
              <a:t>Memory Organization of 8051 Microcontroller</a:t>
            </a:r>
          </a:p>
          <a:p>
            <a:endParaRPr lang="en-IN" dirty="0"/>
          </a:p>
        </p:txBody>
      </p:sp>
    </p:spTree>
    <p:extLst>
      <p:ext uri="{BB962C8B-B14F-4D97-AF65-F5344CB8AC3E}">
        <p14:creationId xmlns="" xmlns:p14="http://schemas.microsoft.com/office/powerpoint/2010/main" val="34030433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8B2BEB-511A-3082-71A5-59579A2FCE71}"/>
              </a:ext>
            </a:extLst>
          </p:cNvPr>
          <p:cNvSpPr>
            <a:spLocks noGrp="1"/>
          </p:cNvSpPr>
          <p:nvPr>
            <p:ph type="title"/>
          </p:nvPr>
        </p:nvSpPr>
        <p:spPr/>
        <p:txBody>
          <a:bodyPr/>
          <a:lstStyle/>
          <a:p>
            <a:r>
              <a:rPr lang="en-IN" dirty="0"/>
              <a:t>8051 ARCHITECTURE</a:t>
            </a:r>
          </a:p>
        </p:txBody>
      </p:sp>
      <p:sp>
        <p:nvSpPr>
          <p:cNvPr id="3" name="Content Placeholder 2">
            <a:extLst>
              <a:ext uri="{FF2B5EF4-FFF2-40B4-BE49-F238E27FC236}">
                <a16:creationId xmlns="" xmlns:a16="http://schemas.microsoft.com/office/drawing/2014/main" id="{C544A4B5-5F18-294E-E39F-2268A001111A}"/>
              </a:ext>
            </a:extLst>
          </p:cNvPr>
          <p:cNvSpPr>
            <a:spLocks noGrp="1"/>
          </p:cNvSpPr>
          <p:nvPr>
            <p:ph idx="1"/>
          </p:nvPr>
        </p:nvSpPr>
        <p:spPr/>
        <p:txBody>
          <a:bodyPr/>
          <a:lstStyle/>
          <a:p>
            <a:endParaRPr lang="en-IN" dirty="0"/>
          </a:p>
        </p:txBody>
      </p:sp>
      <p:pic>
        <p:nvPicPr>
          <p:cNvPr id="1026" name="Picture 2">
            <a:extLst>
              <a:ext uri="{FF2B5EF4-FFF2-40B4-BE49-F238E27FC236}">
                <a16:creationId xmlns="" xmlns:a16="http://schemas.microsoft.com/office/drawing/2014/main" id="{5A4EE6A7-4916-6976-D3D1-CE56CF383A28}"/>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984738" y="1313162"/>
            <a:ext cx="9355015" cy="540733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1984889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514B813-828B-1FFC-AD09-538E3030F470}"/>
              </a:ext>
            </a:extLst>
          </p:cNvPr>
          <p:cNvSpPr>
            <a:spLocks noGrp="1"/>
          </p:cNvSpPr>
          <p:nvPr>
            <p:ph type="title"/>
          </p:nvPr>
        </p:nvSpPr>
        <p:spPr/>
        <p:txBody>
          <a:bodyPr/>
          <a:lstStyle/>
          <a:p>
            <a:r>
              <a:rPr lang="en-US" dirty="0"/>
              <a:t>MEMORY ORGANIZATION-8051</a:t>
            </a:r>
            <a:endParaRPr lang="en-IN" dirty="0"/>
          </a:p>
        </p:txBody>
      </p:sp>
      <p:sp>
        <p:nvSpPr>
          <p:cNvPr id="5" name="Content Placeholder 4">
            <a:extLst>
              <a:ext uri="{FF2B5EF4-FFF2-40B4-BE49-F238E27FC236}">
                <a16:creationId xmlns="" xmlns:a16="http://schemas.microsoft.com/office/drawing/2014/main" id="{F886C7CB-74C1-F450-07EC-B43009378F29}"/>
              </a:ext>
            </a:extLst>
          </p:cNvPr>
          <p:cNvSpPr>
            <a:spLocks noGrp="1"/>
          </p:cNvSpPr>
          <p:nvPr>
            <p:ph idx="1"/>
          </p:nvPr>
        </p:nvSpPr>
        <p:spPr/>
        <p:txBody>
          <a:bodyPr>
            <a:normAutofit/>
          </a:bodyPr>
          <a:lstStyle/>
          <a:p>
            <a:r>
              <a:rPr lang="en-US" dirty="0"/>
              <a:t>The 8051 has two types of memory and these are </a:t>
            </a:r>
            <a:r>
              <a:rPr lang="en-US" dirty="0">
                <a:solidFill>
                  <a:srgbClr val="C00000"/>
                </a:solidFill>
              </a:rPr>
              <a:t>Program Memory</a:t>
            </a:r>
            <a:r>
              <a:rPr lang="en-US" dirty="0"/>
              <a:t> and </a:t>
            </a:r>
            <a:r>
              <a:rPr lang="en-US" dirty="0">
                <a:solidFill>
                  <a:srgbClr val="C00000"/>
                </a:solidFill>
              </a:rPr>
              <a:t>Data Memory</a:t>
            </a:r>
            <a:r>
              <a:rPr lang="en-US" dirty="0"/>
              <a:t>.</a:t>
            </a:r>
          </a:p>
          <a:p>
            <a:r>
              <a:rPr lang="en-US" dirty="0">
                <a:solidFill>
                  <a:srgbClr val="C00000"/>
                </a:solidFill>
              </a:rPr>
              <a:t>Program Memory (ROM</a:t>
            </a:r>
            <a:r>
              <a:rPr lang="en-US" dirty="0"/>
              <a:t>) is used to permanently save the program being executed, while </a:t>
            </a:r>
            <a:r>
              <a:rPr lang="en-US" dirty="0">
                <a:solidFill>
                  <a:srgbClr val="C00000"/>
                </a:solidFill>
              </a:rPr>
              <a:t>Data Memory (RAM) </a:t>
            </a:r>
            <a:r>
              <a:rPr lang="en-US" dirty="0"/>
              <a:t>is used for temporarily storing data and intermediate results created and used during the operation of the microcontroller.</a:t>
            </a:r>
          </a:p>
          <a:p>
            <a:r>
              <a:rPr lang="en-US" dirty="0"/>
              <a:t>Depending on the model in use 8051 microcontroller family in general have at most a </a:t>
            </a:r>
            <a:r>
              <a:rPr lang="en-US" dirty="0">
                <a:solidFill>
                  <a:srgbClr val="C00000"/>
                </a:solidFill>
              </a:rPr>
              <a:t>few KB of ROM and 128 or 256 bytes of RAM is used.</a:t>
            </a:r>
          </a:p>
          <a:p>
            <a:r>
              <a:rPr lang="en-US" dirty="0"/>
              <a:t>All 8051 microcontrollers have a </a:t>
            </a:r>
            <a:r>
              <a:rPr lang="en-US" dirty="0">
                <a:solidFill>
                  <a:srgbClr val="C00000"/>
                </a:solidFill>
              </a:rPr>
              <a:t>16-bit addressing bus </a:t>
            </a:r>
            <a:r>
              <a:rPr lang="en-US" dirty="0"/>
              <a:t>and are capable of addressing </a:t>
            </a:r>
            <a:r>
              <a:rPr lang="en-US" dirty="0">
                <a:solidFill>
                  <a:srgbClr val="C00000"/>
                </a:solidFill>
              </a:rPr>
              <a:t>64 kB memory</a:t>
            </a:r>
            <a:r>
              <a:rPr lang="en-US" dirty="0"/>
              <a:t>.</a:t>
            </a:r>
            <a:endParaRPr lang="en-IN" dirty="0"/>
          </a:p>
        </p:txBody>
      </p:sp>
    </p:spTree>
    <p:extLst>
      <p:ext uri="{BB962C8B-B14F-4D97-AF65-F5344CB8AC3E}">
        <p14:creationId xmlns="" xmlns:p14="http://schemas.microsoft.com/office/powerpoint/2010/main" val="35036438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46C889-8556-AB3A-DAE1-8C3A54D3137F}"/>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1D4ECF7D-3253-88E8-4128-7FE86999FAC9}"/>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D7178A5E-64FE-1BDE-D407-DC6B204E728D}"/>
              </a:ext>
            </a:extLst>
          </p:cNvPr>
          <p:cNvPicPr>
            <a:picLocks noChangeAspect="1"/>
          </p:cNvPicPr>
          <p:nvPr/>
        </p:nvPicPr>
        <p:blipFill>
          <a:blip r:embed="rId2"/>
          <a:stretch>
            <a:fillRect/>
          </a:stretch>
        </p:blipFill>
        <p:spPr>
          <a:xfrm>
            <a:off x="622515" y="1938651"/>
            <a:ext cx="10293633" cy="3602771"/>
          </a:xfrm>
          <a:prstGeom prst="rect">
            <a:avLst/>
          </a:prstGeom>
        </p:spPr>
      </p:pic>
    </p:spTree>
    <p:extLst>
      <p:ext uri="{BB962C8B-B14F-4D97-AF65-F5344CB8AC3E}">
        <p14:creationId xmlns="" xmlns:p14="http://schemas.microsoft.com/office/powerpoint/2010/main" val="17120135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118EF19-B2FB-6B3D-4B3A-982B931463B2}"/>
              </a:ext>
            </a:extLst>
          </p:cNvPr>
          <p:cNvSpPr>
            <a:spLocks noGrp="1"/>
          </p:cNvSpPr>
          <p:nvPr>
            <p:ph idx="1"/>
          </p:nvPr>
        </p:nvSpPr>
        <p:spPr>
          <a:xfrm>
            <a:off x="516653" y="268129"/>
            <a:ext cx="10515600" cy="5921655"/>
          </a:xfrm>
        </p:spPr>
        <p:txBody>
          <a:bodyPr>
            <a:normAutofit/>
          </a:bodyPr>
          <a:lstStyle/>
          <a:p>
            <a:r>
              <a:rPr lang="en-US" dirty="0"/>
              <a:t>The </a:t>
            </a:r>
            <a:r>
              <a:rPr lang="en-US" dirty="0">
                <a:solidFill>
                  <a:srgbClr val="C00000"/>
                </a:solidFill>
              </a:rPr>
              <a:t>first models </a:t>
            </a:r>
            <a:r>
              <a:rPr lang="en-US" dirty="0"/>
              <a:t>of the 8051 microcontroller family </a:t>
            </a:r>
            <a:r>
              <a:rPr lang="en-US" dirty="0">
                <a:solidFill>
                  <a:srgbClr val="C00000"/>
                </a:solidFill>
              </a:rPr>
              <a:t>did not have internal program memory</a:t>
            </a:r>
            <a:r>
              <a:rPr lang="en-US" dirty="0"/>
              <a:t>. It was </a:t>
            </a:r>
            <a:r>
              <a:rPr lang="en-US" dirty="0">
                <a:solidFill>
                  <a:srgbClr val="C00000"/>
                </a:solidFill>
              </a:rPr>
              <a:t>added </a:t>
            </a:r>
            <a:r>
              <a:rPr lang="en-US" dirty="0"/>
              <a:t>as an external </a:t>
            </a:r>
            <a:r>
              <a:rPr lang="en-US" dirty="0">
                <a:solidFill>
                  <a:srgbClr val="C00000"/>
                </a:solidFill>
              </a:rPr>
              <a:t>separate chip</a:t>
            </a:r>
            <a:r>
              <a:rPr lang="en-US" dirty="0"/>
              <a:t>.</a:t>
            </a:r>
          </a:p>
          <a:p>
            <a:r>
              <a:rPr lang="en-US" dirty="0">
                <a:solidFill>
                  <a:srgbClr val="C00000"/>
                </a:solidFill>
              </a:rPr>
              <a:t>Even though </a:t>
            </a:r>
            <a:r>
              <a:rPr lang="en-US" dirty="0"/>
              <a:t>such an amount of memory is </a:t>
            </a:r>
            <a:r>
              <a:rPr lang="en-US" dirty="0">
                <a:solidFill>
                  <a:srgbClr val="C00000"/>
                </a:solidFill>
              </a:rPr>
              <a:t>sufficient</a:t>
            </a:r>
            <a:r>
              <a:rPr lang="en-US" dirty="0"/>
              <a:t> for writing most of the programs, there are situations when it is necessary to use additional memory as well. A </a:t>
            </a:r>
            <a:r>
              <a:rPr lang="en-US" dirty="0">
                <a:solidFill>
                  <a:srgbClr val="C00000"/>
                </a:solidFill>
              </a:rPr>
              <a:t>typical example is so called lookup tables.</a:t>
            </a:r>
          </a:p>
          <a:p>
            <a:r>
              <a:rPr lang="en-US" dirty="0"/>
              <a:t>They are used in cases </a:t>
            </a:r>
            <a:r>
              <a:rPr lang="en-US" dirty="0">
                <a:solidFill>
                  <a:srgbClr val="C00000"/>
                </a:solidFill>
              </a:rPr>
              <a:t>when equations describing </a:t>
            </a:r>
            <a:r>
              <a:rPr lang="en-US" dirty="0"/>
              <a:t>some processes are </a:t>
            </a:r>
            <a:r>
              <a:rPr lang="en-US" dirty="0">
                <a:solidFill>
                  <a:srgbClr val="C00000"/>
                </a:solidFill>
              </a:rPr>
              <a:t>too complicated </a:t>
            </a:r>
            <a:r>
              <a:rPr lang="en-US" dirty="0"/>
              <a:t>or when there is </a:t>
            </a:r>
            <a:r>
              <a:rPr lang="en-US" dirty="0">
                <a:solidFill>
                  <a:srgbClr val="C00000"/>
                </a:solidFill>
              </a:rPr>
              <a:t>no time for solving them</a:t>
            </a:r>
            <a:r>
              <a:rPr lang="en-US" dirty="0"/>
              <a:t>. In such cases all necessary estimates and approximates are </a:t>
            </a:r>
            <a:r>
              <a:rPr lang="en-US" dirty="0">
                <a:solidFill>
                  <a:srgbClr val="C00000"/>
                </a:solidFill>
              </a:rPr>
              <a:t>executed in advance</a:t>
            </a:r>
            <a:r>
              <a:rPr lang="en-US" dirty="0"/>
              <a:t> and the </a:t>
            </a:r>
            <a:r>
              <a:rPr lang="en-US" dirty="0">
                <a:solidFill>
                  <a:srgbClr val="C00000"/>
                </a:solidFill>
              </a:rPr>
              <a:t>final results are put in the tables </a:t>
            </a:r>
            <a:r>
              <a:rPr lang="en-US" dirty="0"/>
              <a:t>(similar to logarithmic tables).</a:t>
            </a:r>
            <a:endParaRPr lang="en-IN" dirty="0"/>
          </a:p>
        </p:txBody>
      </p:sp>
    </p:spTree>
    <p:extLst>
      <p:ext uri="{BB962C8B-B14F-4D97-AF65-F5344CB8AC3E}">
        <p14:creationId xmlns="" xmlns:p14="http://schemas.microsoft.com/office/powerpoint/2010/main" val="13956558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EAD7C62-3639-D327-5409-907E5903F67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966C5812-1D4D-D0C0-4596-9435607B968D}"/>
              </a:ext>
            </a:extLst>
          </p:cNvPr>
          <p:cNvSpPr>
            <a:spLocks noGrp="1"/>
          </p:cNvSpPr>
          <p:nvPr>
            <p:ph idx="1"/>
          </p:nvPr>
        </p:nvSpPr>
        <p:spPr/>
        <p:txBody>
          <a:bodyPr/>
          <a:lstStyle/>
          <a:p>
            <a:r>
              <a:rPr lang="en-US" dirty="0"/>
              <a:t>EA=0 In this case, the microcontroller completely ignores internal program memory and executes only the program stored in external memory.</a:t>
            </a:r>
          </a:p>
          <a:p>
            <a:endParaRPr lang="en-US" dirty="0"/>
          </a:p>
          <a:p>
            <a:r>
              <a:rPr lang="en-US" dirty="0"/>
              <a:t>EA=1 In this case, the microcontroller executes first the program from built-in ROM, then the program stored in external memory</a:t>
            </a:r>
            <a:endParaRPr lang="en-IN" dirty="0"/>
          </a:p>
        </p:txBody>
      </p:sp>
    </p:spTree>
    <p:extLst>
      <p:ext uri="{BB962C8B-B14F-4D97-AF65-F5344CB8AC3E}">
        <p14:creationId xmlns="" xmlns:p14="http://schemas.microsoft.com/office/powerpoint/2010/main" val="4205702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AFDBCC-B06E-EFF9-E911-0D8E973EDAC5}"/>
              </a:ext>
            </a:extLst>
          </p:cNvPr>
          <p:cNvSpPr>
            <a:spLocks noGrp="1"/>
          </p:cNvSpPr>
          <p:nvPr>
            <p:ph type="title"/>
          </p:nvPr>
        </p:nvSpPr>
        <p:spPr>
          <a:xfrm>
            <a:off x="727668" y="0"/>
            <a:ext cx="10515600" cy="1325563"/>
          </a:xfrm>
        </p:spPr>
        <p:txBody>
          <a:bodyPr/>
          <a:lstStyle/>
          <a:p>
            <a:r>
              <a:rPr lang="en-US" dirty="0"/>
              <a:t>MEMOERY ORGANIZATION-ROM</a:t>
            </a:r>
            <a:endParaRPr lang="en-IN" dirty="0"/>
          </a:p>
        </p:txBody>
      </p:sp>
      <p:sp>
        <p:nvSpPr>
          <p:cNvPr id="3" name="Content Placeholder 2">
            <a:extLst>
              <a:ext uri="{FF2B5EF4-FFF2-40B4-BE49-F238E27FC236}">
                <a16:creationId xmlns="" xmlns:a16="http://schemas.microsoft.com/office/drawing/2014/main" id="{E10B2AD6-24CD-BE3D-FB17-F0789578EBD8}"/>
              </a:ext>
            </a:extLst>
          </p:cNvPr>
          <p:cNvSpPr>
            <a:spLocks noGrp="1"/>
          </p:cNvSpPr>
          <p:nvPr>
            <p:ph idx="1"/>
          </p:nvPr>
        </p:nvSpPr>
        <p:spPr/>
        <p:txBody>
          <a:bodyPr/>
          <a:lstStyle/>
          <a:p>
            <a:endParaRPr lang="en-IN" dirty="0"/>
          </a:p>
        </p:txBody>
      </p:sp>
      <p:pic>
        <p:nvPicPr>
          <p:cNvPr id="5" name="Picture 4">
            <a:extLst>
              <a:ext uri="{FF2B5EF4-FFF2-40B4-BE49-F238E27FC236}">
                <a16:creationId xmlns="" xmlns:a16="http://schemas.microsoft.com/office/drawing/2014/main" id="{36A98F05-24B5-C952-A195-CA3068BBCAF4}"/>
              </a:ext>
            </a:extLst>
          </p:cNvPr>
          <p:cNvPicPr>
            <a:picLocks noChangeAspect="1"/>
          </p:cNvPicPr>
          <p:nvPr/>
        </p:nvPicPr>
        <p:blipFill>
          <a:blip r:embed="rId2"/>
          <a:stretch>
            <a:fillRect/>
          </a:stretch>
        </p:blipFill>
        <p:spPr>
          <a:xfrm>
            <a:off x="1051073" y="1483179"/>
            <a:ext cx="9198246" cy="5036230"/>
          </a:xfrm>
          <a:prstGeom prst="rect">
            <a:avLst/>
          </a:prstGeom>
        </p:spPr>
      </p:pic>
      <p:pic>
        <p:nvPicPr>
          <p:cNvPr id="7" name="Picture 6">
            <a:extLst>
              <a:ext uri="{FF2B5EF4-FFF2-40B4-BE49-F238E27FC236}">
                <a16:creationId xmlns="" xmlns:a16="http://schemas.microsoft.com/office/drawing/2014/main" id="{7A6B6F58-2AB0-C8BD-9887-059F089E3B05}"/>
              </a:ext>
            </a:extLst>
          </p:cNvPr>
          <p:cNvPicPr>
            <a:picLocks noChangeAspect="1"/>
          </p:cNvPicPr>
          <p:nvPr/>
        </p:nvPicPr>
        <p:blipFill>
          <a:blip r:embed="rId3"/>
          <a:stretch>
            <a:fillRect/>
          </a:stretch>
        </p:blipFill>
        <p:spPr>
          <a:xfrm>
            <a:off x="5710485" y="1162592"/>
            <a:ext cx="4368011" cy="5609724"/>
          </a:xfrm>
          <a:prstGeom prst="rect">
            <a:avLst/>
          </a:prstGeom>
        </p:spPr>
      </p:pic>
      <p:pic>
        <p:nvPicPr>
          <p:cNvPr id="11" name="Picture 10">
            <a:extLst>
              <a:ext uri="{FF2B5EF4-FFF2-40B4-BE49-F238E27FC236}">
                <a16:creationId xmlns="" xmlns:a16="http://schemas.microsoft.com/office/drawing/2014/main" id="{8A335D6C-0682-153B-C3DA-258799F9FD3E}"/>
              </a:ext>
            </a:extLst>
          </p:cNvPr>
          <p:cNvPicPr>
            <a:picLocks noChangeAspect="1"/>
          </p:cNvPicPr>
          <p:nvPr/>
        </p:nvPicPr>
        <p:blipFill>
          <a:blip r:embed="rId4"/>
          <a:stretch>
            <a:fillRect/>
          </a:stretch>
        </p:blipFill>
        <p:spPr>
          <a:xfrm>
            <a:off x="1664376" y="3461043"/>
            <a:ext cx="2740661" cy="3184819"/>
          </a:xfrm>
          <a:prstGeom prst="rect">
            <a:avLst/>
          </a:prstGeom>
        </p:spPr>
      </p:pic>
    </p:spTree>
    <p:extLst>
      <p:ext uri="{BB962C8B-B14F-4D97-AF65-F5344CB8AC3E}">
        <p14:creationId xmlns="" xmlns:p14="http://schemas.microsoft.com/office/powerpoint/2010/main" val="567811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EAD7C62-3639-D327-5409-907E5903F67B}"/>
              </a:ext>
            </a:extLst>
          </p:cNvPr>
          <p:cNvSpPr>
            <a:spLocks noGrp="1"/>
          </p:cNvSpPr>
          <p:nvPr>
            <p:ph type="title"/>
          </p:nvPr>
        </p:nvSpPr>
        <p:spPr/>
        <p:txBody>
          <a:bodyPr/>
          <a:lstStyle/>
          <a:p>
            <a:r>
              <a:rPr lang="en-US" i="0" dirty="0">
                <a:effectLst/>
                <a:latin typeface="+mn-lt"/>
              </a:rPr>
              <a:t>Data Memory Organization of 8051</a:t>
            </a:r>
            <a:endParaRPr lang="en-IN" dirty="0">
              <a:latin typeface="+mn-lt"/>
            </a:endParaRPr>
          </a:p>
        </p:txBody>
      </p:sp>
      <p:sp>
        <p:nvSpPr>
          <p:cNvPr id="3" name="Content Placeholder 2">
            <a:extLst>
              <a:ext uri="{FF2B5EF4-FFF2-40B4-BE49-F238E27FC236}">
                <a16:creationId xmlns="" xmlns:a16="http://schemas.microsoft.com/office/drawing/2014/main" id="{966C5812-1D4D-D0C0-4596-9435607B968D}"/>
              </a:ext>
            </a:extLst>
          </p:cNvPr>
          <p:cNvSpPr>
            <a:spLocks noGrp="1"/>
          </p:cNvSpPr>
          <p:nvPr>
            <p:ph idx="1"/>
          </p:nvPr>
        </p:nvSpPr>
        <p:spPr/>
        <p:txBody>
          <a:bodyPr>
            <a:normAutofit lnSpcReduction="10000"/>
          </a:bodyPr>
          <a:lstStyle/>
          <a:p>
            <a:pPr marL="0" indent="0">
              <a:buNone/>
            </a:pPr>
            <a:r>
              <a:rPr lang="en-IN" b="1" dirty="0">
                <a:solidFill>
                  <a:srgbClr val="C00000"/>
                </a:solidFill>
              </a:rPr>
              <a:t>RAM ORGANIZATION</a:t>
            </a:r>
          </a:p>
          <a:p>
            <a:r>
              <a:rPr lang="en-US" dirty="0"/>
              <a:t>This part of RAM is divided in several blocks.</a:t>
            </a:r>
          </a:p>
          <a:p>
            <a:endParaRPr lang="en-US" dirty="0"/>
          </a:p>
          <a:p>
            <a:r>
              <a:rPr lang="en-US" dirty="0"/>
              <a:t>The first block consists of 4 banks each including 8 registers denoted by R0-R7. The </a:t>
            </a:r>
            <a:r>
              <a:rPr lang="en-US" dirty="0">
                <a:solidFill>
                  <a:srgbClr val="C00000"/>
                </a:solidFill>
              </a:rPr>
              <a:t>PSW</a:t>
            </a:r>
            <a:r>
              <a:rPr lang="en-US" dirty="0"/>
              <a:t> has two bits for identifying the register bank, i.e., 00 represents bank 0, 01 represents bank 1, 10 represents bank 2, and 11 represents bank 3.</a:t>
            </a:r>
          </a:p>
          <a:p>
            <a:endParaRPr lang="en-US" dirty="0"/>
          </a:p>
          <a:p>
            <a:r>
              <a:rPr lang="en-US" dirty="0"/>
              <a:t>Prior to accessing any of these registers, it is necessary to select the bank containing it.</a:t>
            </a:r>
          </a:p>
          <a:p>
            <a:endParaRPr lang="en-US" dirty="0"/>
          </a:p>
          <a:p>
            <a:endParaRPr lang="en-IN" dirty="0"/>
          </a:p>
        </p:txBody>
      </p:sp>
    </p:spTree>
    <p:extLst>
      <p:ext uri="{BB962C8B-B14F-4D97-AF65-F5344CB8AC3E}">
        <p14:creationId xmlns="" xmlns:p14="http://schemas.microsoft.com/office/powerpoint/2010/main" val="28031501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B6C2D9-AB9C-FA01-852D-722461A8D6A5}"/>
              </a:ext>
            </a:extLst>
          </p:cNvPr>
          <p:cNvSpPr>
            <a:spLocks noGrp="1"/>
          </p:cNvSpPr>
          <p:nvPr>
            <p:ph type="title"/>
          </p:nvPr>
        </p:nvSpPr>
        <p:spPr/>
        <p:txBody>
          <a:bodyPr/>
          <a:lstStyle/>
          <a:p>
            <a:r>
              <a:rPr lang="en-IN" dirty="0"/>
              <a:t>REGISTER BANKS</a:t>
            </a:r>
          </a:p>
        </p:txBody>
      </p:sp>
      <p:sp>
        <p:nvSpPr>
          <p:cNvPr id="3" name="Content Placeholder 2">
            <a:extLst>
              <a:ext uri="{FF2B5EF4-FFF2-40B4-BE49-F238E27FC236}">
                <a16:creationId xmlns="" xmlns:a16="http://schemas.microsoft.com/office/drawing/2014/main" id="{3ABA4485-D11C-658D-F317-84E97F2A9996}"/>
              </a:ext>
            </a:extLst>
          </p:cNvPr>
          <p:cNvSpPr>
            <a:spLocks noGrp="1"/>
          </p:cNvSpPr>
          <p:nvPr>
            <p:ph idx="1"/>
          </p:nvPr>
        </p:nvSpPr>
        <p:spPr/>
        <p:txBody>
          <a:bodyPr/>
          <a:lstStyle/>
          <a:p>
            <a:endParaRPr lang="en-IN" dirty="0"/>
          </a:p>
        </p:txBody>
      </p:sp>
      <p:pic>
        <p:nvPicPr>
          <p:cNvPr id="5" name="Picture 4">
            <a:extLst>
              <a:ext uri="{FF2B5EF4-FFF2-40B4-BE49-F238E27FC236}">
                <a16:creationId xmlns="" xmlns:a16="http://schemas.microsoft.com/office/drawing/2014/main" id="{C6D71E66-1B46-C521-37D5-733682D77240}"/>
              </a:ext>
            </a:extLst>
          </p:cNvPr>
          <p:cNvPicPr>
            <a:picLocks noChangeAspect="1"/>
          </p:cNvPicPr>
          <p:nvPr/>
        </p:nvPicPr>
        <p:blipFill>
          <a:blip r:embed="rId2"/>
          <a:stretch>
            <a:fillRect/>
          </a:stretch>
        </p:blipFill>
        <p:spPr>
          <a:xfrm>
            <a:off x="5108491" y="609125"/>
            <a:ext cx="5331746" cy="5567838"/>
          </a:xfrm>
          <a:prstGeom prst="rect">
            <a:avLst/>
          </a:prstGeom>
        </p:spPr>
      </p:pic>
    </p:spTree>
    <p:extLst>
      <p:ext uri="{BB962C8B-B14F-4D97-AF65-F5344CB8AC3E}">
        <p14:creationId xmlns="" xmlns:p14="http://schemas.microsoft.com/office/powerpoint/2010/main" val="8429994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ABA4485-D11C-658D-F317-84E97F2A9996}"/>
              </a:ext>
            </a:extLst>
          </p:cNvPr>
          <p:cNvSpPr>
            <a:spLocks noGrp="1"/>
          </p:cNvSpPr>
          <p:nvPr>
            <p:ph idx="1"/>
          </p:nvPr>
        </p:nvSpPr>
        <p:spPr>
          <a:xfrm>
            <a:off x="466411" y="378662"/>
            <a:ext cx="10515600" cy="4351338"/>
          </a:xfrm>
        </p:spPr>
        <p:txBody>
          <a:bodyPr/>
          <a:lstStyle/>
          <a:p>
            <a:r>
              <a:rPr lang="en-US" b="1" i="0" dirty="0">
                <a:solidFill>
                  <a:srgbClr val="584D66"/>
                </a:solidFill>
                <a:effectLst/>
                <a:latin typeface="Roboto" panose="02000000000000000000" pitchFamily="2" charset="0"/>
              </a:rPr>
              <a:t>The next memory block</a:t>
            </a:r>
            <a:r>
              <a:rPr lang="en-US" b="0" i="0" dirty="0">
                <a:solidFill>
                  <a:srgbClr val="584D66"/>
                </a:solidFill>
                <a:effectLst/>
                <a:latin typeface="Roboto" panose="02000000000000000000" pitchFamily="2" charset="0"/>
              </a:rPr>
              <a:t> (address 20H-2FH) is bit- addressable, which means that each bit has its own address (0-7FH). The bit-addressable memory is both bit-addressable (from 00H to 7FH) and byte-addressable (from 20H to 2FH). Bit operations are helpful in many control algorithms.</a:t>
            </a:r>
            <a:endParaRPr lang="en-IN" dirty="0"/>
          </a:p>
        </p:txBody>
      </p:sp>
      <p:pic>
        <p:nvPicPr>
          <p:cNvPr id="5" name="Picture 4">
            <a:extLst>
              <a:ext uri="{FF2B5EF4-FFF2-40B4-BE49-F238E27FC236}">
                <a16:creationId xmlns="" xmlns:a16="http://schemas.microsoft.com/office/drawing/2014/main" id="{BB353D97-30F2-C86D-A967-A585B571AC33}"/>
              </a:ext>
            </a:extLst>
          </p:cNvPr>
          <p:cNvPicPr>
            <a:picLocks noChangeAspect="1"/>
          </p:cNvPicPr>
          <p:nvPr/>
        </p:nvPicPr>
        <p:blipFill>
          <a:blip r:embed="rId2"/>
          <a:stretch>
            <a:fillRect/>
          </a:stretch>
        </p:blipFill>
        <p:spPr>
          <a:xfrm>
            <a:off x="1209989" y="2642254"/>
            <a:ext cx="8085685" cy="3688208"/>
          </a:xfrm>
          <a:prstGeom prst="rect">
            <a:avLst/>
          </a:prstGeom>
        </p:spPr>
      </p:pic>
    </p:spTree>
    <p:extLst>
      <p:ext uri="{BB962C8B-B14F-4D97-AF65-F5344CB8AC3E}">
        <p14:creationId xmlns="" xmlns:p14="http://schemas.microsoft.com/office/powerpoint/2010/main" val="12954982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20304B-AD6F-3A87-A0EE-1B5A7C3C87E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EC9E1A2E-ECFE-6C54-8142-D623CEB9C1A7}"/>
              </a:ext>
            </a:extLst>
          </p:cNvPr>
          <p:cNvSpPr>
            <a:spLocks noGrp="1"/>
          </p:cNvSpPr>
          <p:nvPr>
            <p:ph idx="1"/>
          </p:nvPr>
        </p:nvSpPr>
        <p:spPr/>
        <p:txBody>
          <a:bodyPr/>
          <a:lstStyle/>
          <a:p>
            <a:r>
              <a:rPr lang="en-US" b="1" i="0" dirty="0">
                <a:solidFill>
                  <a:srgbClr val="584D66"/>
                </a:solidFill>
                <a:effectLst/>
                <a:latin typeface="Roboto" panose="02000000000000000000" pitchFamily="2" charset="0"/>
              </a:rPr>
              <a:t>The third group</a:t>
            </a:r>
            <a:r>
              <a:rPr lang="en-US" b="0" i="0" dirty="0">
                <a:solidFill>
                  <a:srgbClr val="584D66"/>
                </a:solidFill>
                <a:effectLst/>
                <a:latin typeface="Roboto" panose="02000000000000000000" pitchFamily="2" charset="0"/>
              </a:rPr>
              <a:t> of registers occupies addresses 2FH-7FH, i.e. 80 locations, and does not have any special functions or features.</a:t>
            </a:r>
            <a:endParaRPr lang="en-IN" dirty="0"/>
          </a:p>
        </p:txBody>
      </p:sp>
      <p:pic>
        <p:nvPicPr>
          <p:cNvPr id="5" name="Picture 4">
            <a:extLst>
              <a:ext uri="{FF2B5EF4-FFF2-40B4-BE49-F238E27FC236}">
                <a16:creationId xmlns="" xmlns:a16="http://schemas.microsoft.com/office/drawing/2014/main" id="{2A8C6E7A-5EBD-E4FF-5BB8-E082418D6B02}"/>
              </a:ext>
            </a:extLst>
          </p:cNvPr>
          <p:cNvPicPr>
            <a:picLocks noChangeAspect="1"/>
          </p:cNvPicPr>
          <p:nvPr/>
        </p:nvPicPr>
        <p:blipFill>
          <a:blip r:embed="rId2"/>
          <a:stretch>
            <a:fillRect/>
          </a:stretch>
        </p:blipFill>
        <p:spPr>
          <a:xfrm>
            <a:off x="3027148" y="3014815"/>
            <a:ext cx="4647198" cy="3648777"/>
          </a:xfrm>
          <a:prstGeom prst="rect">
            <a:avLst/>
          </a:prstGeom>
        </p:spPr>
      </p:pic>
    </p:spTree>
    <p:extLst>
      <p:ext uri="{BB962C8B-B14F-4D97-AF65-F5344CB8AC3E}">
        <p14:creationId xmlns="" xmlns:p14="http://schemas.microsoft.com/office/powerpoint/2010/main" val="28226320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E2C824-172C-3616-EDF2-CC55677A72E2}"/>
              </a:ext>
            </a:extLst>
          </p:cNvPr>
          <p:cNvSpPr>
            <a:spLocks noGrp="1"/>
          </p:cNvSpPr>
          <p:nvPr>
            <p:ph type="title"/>
          </p:nvPr>
        </p:nvSpPr>
        <p:spPr/>
        <p:txBody>
          <a:bodyPr/>
          <a:lstStyle/>
          <a:p>
            <a:r>
              <a:rPr lang="en-IN" dirty="0"/>
              <a:t>RAM MEMORY</a:t>
            </a:r>
          </a:p>
        </p:txBody>
      </p:sp>
      <p:sp>
        <p:nvSpPr>
          <p:cNvPr id="3" name="Content Placeholder 2">
            <a:extLst>
              <a:ext uri="{FF2B5EF4-FFF2-40B4-BE49-F238E27FC236}">
                <a16:creationId xmlns="" xmlns:a16="http://schemas.microsoft.com/office/drawing/2014/main" id="{5F8C827C-7F0E-5EBE-55A6-C68DBE39975C}"/>
              </a:ext>
            </a:extLst>
          </p:cNvPr>
          <p:cNvSpPr>
            <a:spLocks noGrp="1"/>
          </p:cNvSpPr>
          <p:nvPr>
            <p:ph idx="1"/>
          </p:nvPr>
        </p:nvSpPr>
        <p:spPr/>
        <p:txBody>
          <a:bodyPr/>
          <a:lstStyle/>
          <a:p>
            <a:endParaRPr lang="en-IN" dirty="0"/>
          </a:p>
        </p:txBody>
      </p:sp>
      <p:pic>
        <p:nvPicPr>
          <p:cNvPr id="5" name="Picture 4">
            <a:extLst>
              <a:ext uri="{FF2B5EF4-FFF2-40B4-BE49-F238E27FC236}">
                <a16:creationId xmlns="" xmlns:a16="http://schemas.microsoft.com/office/drawing/2014/main" id="{09968D14-496A-30D0-412A-3ADD37788632}"/>
              </a:ext>
            </a:extLst>
          </p:cNvPr>
          <p:cNvPicPr>
            <a:picLocks noChangeAspect="1"/>
          </p:cNvPicPr>
          <p:nvPr/>
        </p:nvPicPr>
        <p:blipFill rotWithShape="1">
          <a:blip r:embed="rId2"/>
          <a:srcRect r="47711"/>
          <a:stretch/>
        </p:blipFill>
        <p:spPr>
          <a:xfrm>
            <a:off x="7737232" y="-98538"/>
            <a:ext cx="4056183" cy="6956538"/>
          </a:xfrm>
          <a:prstGeom prst="rect">
            <a:avLst/>
          </a:prstGeom>
        </p:spPr>
      </p:pic>
    </p:spTree>
    <p:extLst>
      <p:ext uri="{BB962C8B-B14F-4D97-AF65-F5344CB8AC3E}">
        <p14:creationId xmlns="" xmlns:p14="http://schemas.microsoft.com/office/powerpoint/2010/main" val="4471370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39C40A-FB04-FB2E-7061-879024AB6D38}"/>
              </a:ext>
            </a:extLst>
          </p:cNvPr>
          <p:cNvSpPr>
            <a:spLocks noGrp="1"/>
          </p:cNvSpPr>
          <p:nvPr>
            <p:ph type="title"/>
          </p:nvPr>
        </p:nvSpPr>
        <p:spPr/>
        <p:txBody>
          <a:bodyPr/>
          <a:lstStyle/>
          <a:p>
            <a:r>
              <a:rPr lang="en-IN" b="1" i="0" dirty="0">
                <a:effectLst/>
                <a:latin typeface="Roboto Condensed" panose="02000000000000000000" pitchFamily="2" charset="0"/>
              </a:rPr>
              <a:t>Special Function Registers (SFRs)</a:t>
            </a:r>
            <a:endParaRPr lang="en-IN" dirty="0"/>
          </a:p>
        </p:txBody>
      </p:sp>
      <p:sp>
        <p:nvSpPr>
          <p:cNvPr id="3" name="Content Placeholder 2">
            <a:extLst>
              <a:ext uri="{FF2B5EF4-FFF2-40B4-BE49-F238E27FC236}">
                <a16:creationId xmlns="" xmlns:a16="http://schemas.microsoft.com/office/drawing/2014/main" id="{9DFEEB28-5EF7-9D95-0B0A-5EBB98A0C042}"/>
              </a:ext>
            </a:extLst>
          </p:cNvPr>
          <p:cNvSpPr>
            <a:spLocks noGrp="1"/>
          </p:cNvSpPr>
          <p:nvPr>
            <p:ph idx="1"/>
          </p:nvPr>
        </p:nvSpPr>
        <p:spPr>
          <a:xfrm>
            <a:off x="70337" y="1376624"/>
            <a:ext cx="11796765" cy="5717512"/>
          </a:xfrm>
        </p:spPr>
        <p:txBody>
          <a:bodyPr>
            <a:normAutofit/>
          </a:bodyPr>
          <a:lstStyle/>
          <a:p>
            <a:pPr algn="l" fontAlgn="base">
              <a:buFont typeface="Arial" panose="020B0604020202020204" pitchFamily="34" charset="0"/>
              <a:buChar char="•"/>
            </a:pPr>
            <a:r>
              <a:rPr lang="en-US" b="0" i="0" dirty="0">
                <a:solidFill>
                  <a:srgbClr val="584D66"/>
                </a:solidFill>
                <a:effectLst/>
                <a:latin typeface="Roboto" panose="02000000000000000000" pitchFamily="2" charset="0"/>
              </a:rPr>
              <a:t>SFR, which occupies upper 128 bytes of internal memory are the registers, that control the entire processor</a:t>
            </a:r>
          </a:p>
          <a:p>
            <a:pPr algn="l" fontAlgn="base">
              <a:buFont typeface="Arial" panose="020B0604020202020204" pitchFamily="34" charset="0"/>
              <a:buChar char="•"/>
            </a:pPr>
            <a:r>
              <a:rPr lang="en-US" b="0" i="0" dirty="0">
                <a:solidFill>
                  <a:srgbClr val="584D66"/>
                </a:solidFill>
                <a:effectLst/>
                <a:latin typeface="Roboto" panose="02000000000000000000" pitchFamily="2" charset="0"/>
              </a:rPr>
              <a:t>They can be accessed by DIRECT addressing.</a:t>
            </a:r>
          </a:p>
          <a:p>
            <a:pPr algn="l" fontAlgn="base">
              <a:buFont typeface="Arial" panose="020B0604020202020204" pitchFamily="34" charset="0"/>
              <a:buChar char="•"/>
            </a:pPr>
            <a:r>
              <a:rPr lang="en-US" b="0" i="0" dirty="0">
                <a:solidFill>
                  <a:srgbClr val="584D66"/>
                </a:solidFill>
                <a:effectLst/>
                <a:latin typeface="Roboto" panose="02000000000000000000" pitchFamily="2" charset="0"/>
              </a:rPr>
              <a:t>Programmers should not use the addresses in the range 80H to FFH (other than SFR) as it is used by INTEL CORPORATION for expansion functions of 8051.</a:t>
            </a:r>
          </a:p>
        </p:txBody>
      </p:sp>
    </p:spTree>
    <p:extLst>
      <p:ext uri="{BB962C8B-B14F-4D97-AF65-F5344CB8AC3E}">
        <p14:creationId xmlns="" xmlns:p14="http://schemas.microsoft.com/office/powerpoint/2010/main" val="34102710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53DF61-0BB0-9924-1698-59B8E0BAF61E}"/>
              </a:ext>
            </a:extLst>
          </p:cNvPr>
          <p:cNvSpPr>
            <a:spLocks noGrp="1"/>
          </p:cNvSpPr>
          <p:nvPr>
            <p:ph type="title"/>
          </p:nvPr>
        </p:nvSpPr>
        <p:spPr/>
        <p:txBody>
          <a:bodyPr/>
          <a:lstStyle/>
          <a:p>
            <a:r>
              <a:rPr lang="en-IN" dirty="0"/>
              <a:t>SFR’s</a:t>
            </a:r>
          </a:p>
        </p:txBody>
      </p:sp>
      <p:sp>
        <p:nvSpPr>
          <p:cNvPr id="3" name="Content Placeholder 2">
            <a:extLst>
              <a:ext uri="{FF2B5EF4-FFF2-40B4-BE49-F238E27FC236}">
                <a16:creationId xmlns="" xmlns:a16="http://schemas.microsoft.com/office/drawing/2014/main" id="{14ADD007-3054-6626-E133-608D6A9A22FE}"/>
              </a:ext>
            </a:extLst>
          </p:cNvPr>
          <p:cNvSpPr>
            <a:spLocks noGrp="1"/>
          </p:cNvSpPr>
          <p:nvPr>
            <p:ph idx="1"/>
          </p:nvPr>
        </p:nvSpPr>
        <p:spPr/>
        <p:txBody>
          <a:bodyPr>
            <a:normAutofit fontScale="85000" lnSpcReduction="20000"/>
          </a:bodyPr>
          <a:lstStyle/>
          <a:p>
            <a:pPr marL="0" indent="0" algn="l" fontAlgn="base">
              <a:buNone/>
            </a:pPr>
            <a:r>
              <a:rPr lang="en-US" b="0" i="0" dirty="0">
                <a:solidFill>
                  <a:srgbClr val="584D66"/>
                </a:solidFill>
                <a:effectLst/>
                <a:latin typeface="Roboto" panose="02000000000000000000" pitchFamily="2" charset="0"/>
              </a:rPr>
              <a:t>The registers available in the 8051 are as follows:</a:t>
            </a:r>
          </a:p>
          <a:p>
            <a:pPr algn="l" fontAlgn="base">
              <a:buFont typeface="+mj-lt"/>
              <a:buAutoNum type="arabicPeriod"/>
            </a:pPr>
            <a:r>
              <a:rPr lang="en-US" b="0" i="0" dirty="0">
                <a:solidFill>
                  <a:srgbClr val="584D66"/>
                </a:solidFill>
                <a:effectLst/>
                <a:latin typeface="Roboto" panose="02000000000000000000" pitchFamily="2" charset="0"/>
              </a:rPr>
              <a:t>Accumulators – A and B</a:t>
            </a:r>
          </a:p>
          <a:p>
            <a:pPr algn="l" fontAlgn="base">
              <a:buFont typeface="+mj-lt"/>
              <a:buAutoNum type="arabicPeriod"/>
            </a:pPr>
            <a:r>
              <a:rPr lang="en-US" b="0" i="0" dirty="0">
                <a:solidFill>
                  <a:srgbClr val="584D66"/>
                </a:solidFill>
                <a:effectLst/>
                <a:latin typeface="Roboto" panose="02000000000000000000" pitchFamily="2" charset="0"/>
              </a:rPr>
              <a:t>Process Status Word – PSW</a:t>
            </a:r>
          </a:p>
          <a:p>
            <a:pPr algn="l" fontAlgn="base">
              <a:buFont typeface="+mj-lt"/>
              <a:buAutoNum type="arabicPeriod"/>
            </a:pPr>
            <a:r>
              <a:rPr lang="en-US" b="0" i="0" dirty="0">
                <a:solidFill>
                  <a:srgbClr val="584D66"/>
                </a:solidFill>
                <a:effectLst/>
                <a:latin typeface="Roboto" panose="02000000000000000000" pitchFamily="2" charset="0"/>
              </a:rPr>
              <a:t>I/O port registers – P0, P1, P2, P3</a:t>
            </a:r>
          </a:p>
          <a:p>
            <a:pPr algn="l" fontAlgn="base">
              <a:buFont typeface="+mj-lt"/>
              <a:buAutoNum type="arabicPeriod"/>
            </a:pPr>
            <a:r>
              <a:rPr lang="en-US" b="0" i="0" dirty="0">
                <a:solidFill>
                  <a:srgbClr val="584D66"/>
                </a:solidFill>
                <a:effectLst/>
                <a:latin typeface="Roboto" panose="02000000000000000000" pitchFamily="2" charset="0"/>
              </a:rPr>
              <a:t>Data pointers – DPH and DPL</a:t>
            </a:r>
          </a:p>
          <a:p>
            <a:pPr algn="l" fontAlgn="base">
              <a:buFont typeface="+mj-lt"/>
              <a:buAutoNum type="arabicPeriod"/>
            </a:pPr>
            <a:r>
              <a:rPr lang="en-US" b="0" i="0" dirty="0">
                <a:solidFill>
                  <a:srgbClr val="584D66"/>
                </a:solidFill>
                <a:effectLst/>
                <a:latin typeface="Roboto" panose="02000000000000000000" pitchFamily="2" charset="0"/>
              </a:rPr>
              <a:t>Serial data buffer register – SBUF</a:t>
            </a:r>
          </a:p>
          <a:p>
            <a:pPr algn="l" fontAlgn="base">
              <a:buFont typeface="+mj-lt"/>
              <a:buAutoNum type="arabicPeriod"/>
            </a:pPr>
            <a:r>
              <a:rPr lang="en-US" b="0" i="0" dirty="0">
                <a:solidFill>
                  <a:srgbClr val="584D66"/>
                </a:solidFill>
                <a:effectLst/>
                <a:latin typeface="Roboto" panose="02000000000000000000" pitchFamily="2" charset="0"/>
              </a:rPr>
              <a:t>Stack pointer – SP</a:t>
            </a:r>
          </a:p>
          <a:p>
            <a:pPr algn="l" fontAlgn="base">
              <a:buFont typeface="+mj-lt"/>
              <a:buAutoNum type="arabicPeriod"/>
            </a:pPr>
            <a:r>
              <a:rPr lang="en-US" b="0" i="0" dirty="0">
                <a:solidFill>
                  <a:srgbClr val="584D66"/>
                </a:solidFill>
                <a:effectLst/>
                <a:latin typeface="Roboto" panose="02000000000000000000" pitchFamily="2" charset="0"/>
              </a:rPr>
              <a:t>Timer registers – TH0, TH1 and TL0, TL1</a:t>
            </a:r>
          </a:p>
          <a:p>
            <a:pPr algn="l" fontAlgn="base">
              <a:buFont typeface="+mj-lt"/>
              <a:buAutoNum type="arabicPeriod"/>
            </a:pPr>
            <a:r>
              <a:rPr lang="en-US" b="0" i="0" dirty="0">
                <a:solidFill>
                  <a:srgbClr val="584D66"/>
                </a:solidFill>
                <a:effectLst/>
                <a:latin typeface="Roboto" panose="02000000000000000000" pitchFamily="2" charset="0"/>
              </a:rPr>
              <a:t>Timer Control Registers – TCON, TMOD</a:t>
            </a:r>
          </a:p>
          <a:p>
            <a:pPr algn="l" fontAlgn="base">
              <a:buFont typeface="+mj-lt"/>
              <a:buAutoNum type="arabicPeriod"/>
            </a:pPr>
            <a:r>
              <a:rPr lang="en-US" b="0" i="0" dirty="0">
                <a:solidFill>
                  <a:srgbClr val="584D66"/>
                </a:solidFill>
                <a:effectLst/>
                <a:latin typeface="Roboto" panose="02000000000000000000" pitchFamily="2" charset="0"/>
              </a:rPr>
              <a:t>Power and Port control – PCON, SCON</a:t>
            </a:r>
          </a:p>
          <a:p>
            <a:pPr algn="l" fontAlgn="base">
              <a:buFont typeface="+mj-lt"/>
              <a:buAutoNum type="arabicPeriod"/>
            </a:pPr>
            <a:r>
              <a:rPr lang="en-US" b="0" i="0" dirty="0">
                <a:solidFill>
                  <a:srgbClr val="584D66"/>
                </a:solidFill>
                <a:effectLst/>
                <a:latin typeface="Roboto" panose="02000000000000000000" pitchFamily="2" charset="0"/>
              </a:rPr>
              <a:t>Interrupt Control Registers – IP, IE.</a:t>
            </a:r>
          </a:p>
          <a:p>
            <a:endParaRPr lang="en-IN" dirty="0"/>
          </a:p>
        </p:txBody>
      </p:sp>
    </p:spTree>
    <p:extLst>
      <p:ext uri="{BB962C8B-B14F-4D97-AF65-F5344CB8AC3E}">
        <p14:creationId xmlns="" xmlns:p14="http://schemas.microsoft.com/office/powerpoint/2010/main" val="604455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C1B2DD-7CFD-DA89-F247-39757D2663DE}"/>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DF31A0FB-F775-9F7B-E44E-B2A164884887}"/>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863EC5CC-E388-CA9C-38F2-E0E38792EE21}"/>
              </a:ext>
            </a:extLst>
          </p:cNvPr>
          <p:cNvPicPr>
            <a:picLocks noChangeAspect="1"/>
          </p:cNvPicPr>
          <p:nvPr/>
        </p:nvPicPr>
        <p:blipFill>
          <a:blip r:embed="rId2"/>
          <a:stretch>
            <a:fillRect/>
          </a:stretch>
        </p:blipFill>
        <p:spPr>
          <a:xfrm>
            <a:off x="1375296" y="377651"/>
            <a:ext cx="10374117" cy="5890474"/>
          </a:xfrm>
          <a:prstGeom prst="rect">
            <a:avLst/>
          </a:prstGeom>
        </p:spPr>
      </p:pic>
    </p:spTree>
    <p:extLst>
      <p:ext uri="{BB962C8B-B14F-4D97-AF65-F5344CB8AC3E}">
        <p14:creationId xmlns="" xmlns:p14="http://schemas.microsoft.com/office/powerpoint/2010/main" val="13457824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581FAD-3C7B-3E81-075C-7FF12AB92F53}"/>
              </a:ext>
            </a:extLst>
          </p:cNvPr>
          <p:cNvSpPr>
            <a:spLocks noGrp="1"/>
          </p:cNvSpPr>
          <p:nvPr>
            <p:ph type="title"/>
          </p:nvPr>
        </p:nvSpPr>
        <p:spPr/>
        <p:txBody>
          <a:bodyPr/>
          <a:lstStyle/>
          <a:p>
            <a:r>
              <a:rPr lang="en-IN" b="1" i="0" dirty="0">
                <a:solidFill>
                  <a:srgbClr val="34444C"/>
                </a:solidFill>
                <a:effectLst/>
                <a:latin typeface="Open Sans" panose="020F0502020204030204" pitchFamily="34" charset="0"/>
              </a:rPr>
              <a:t>A or Accumulator (ACC)</a:t>
            </a:r>
            <a:endParaRPr lang="en-IN" dirty="0"/>
          </a:p>
        </p:txBody>
      </p:sp>
      <p:sp>
        <p:nvSpPr>
          <p:cNvPr id="3" name="Content Placeholder 2">
            <a:extLst>
              <a:ext uri="{FF2B5EF4-FFF2-40B4-BE49-F238E27FC236}">
                <a16:creationId xmlns="" xmlns:a16="http://schemas.microsoft.com/office/drawing/2014/main" id="{878E8088-CC96-07B5-4600-52F7237A5C45}"/>
              </a:ext>
            </a:extLst>
          </p:cNvPr>
          <p:cNvSpPr>
            <a:spLocks noGrp="1"/>
          </p:cNvSpPr>
          <p:nvPr>
            <p:ph idx="1"/>
          </p:nvPr>
        </p:nvSpPr>
        <p:spPr/>
        <p:txBody>
          <a:bodyPr/>
          <a:lstStyle/>
          <a:p>
            <a:r>
              <a:rPr lang="en-US" dirty="0"/>
              <a:t>Arithmetic Operations like Addition, Subtraction, Multiplication etc.</a:t>
            </a:r>
          </a:p>
          <a:p>
            <a:r>
              <a:rPr lang="en-US" dirty="0"/>
              <a:t>Logical Operations like AND, OR, NOT etc.</a:t>
            </a:r>
          </a:p>
          <a:p>
            <a:r>
              <a:rPr lang="en-US" dirty="0"/>
              <a:t>Data Transfer Operations (between 8051 and External Memory)</a:t>
            </a:r>
          </a:p>
          <a:p>
            <a:r>
              <a:rPr lang="en-US" dirty="0"/>
              <a:t>The name “Accumulator” came from the fact this register is used to accumulate (or store) the result of all Arithmetic and most of the Logical Operations.</a:t>
            </a:r>
            <a:endParaRPr lang="en-IN" dirty="0"/>
          </a:p>
        </p:txBody>
      </p:sp>
      <p:pic>
        <p:nvPicPr>
          <p:cNvPr id="5" name="Picture 4">
            <a:extLst>
              <a:ext uri="{FF2B5EF4-FFF2-40B4-BE49-F238E27FC236}">
                <a16:creationId xmlns="" xmlns:a16="http://schemas.microsoft.com/office/drawing/2014/main" id="{D0BB5DF7-A5B1-58F1-B462-0B8CCC3063CF}"/>
              </a:ext>
            </a:extLst>
          </p:cNvPr>
          <p:cNvPicPr>
            <a:picLocks noChangeAspect="1"/>
          </p:cNvPicPr>
          <p:nvPr/>
        </p:nvPicPr>
        <p:blipFill>
          <a:blip r:embed="rId2"/>
          <a:stretch>
            <a:fillRect/>
          </a:stretch>
        </p:blipFill>
        <p:spPr>
          <a:xfrm>
            <a:off x="1332991" y="4961122"/>
            <a:ext cx="8862828" cy="1531753"/>
          </a:xfrm>
          <a:prstGeom prst="rect">
            <a:avLst/>
          </a:prstGeom>
        </p:spPr>
      </p:pic>
    </p:spTree>
    <p:extLst>
      <p:ext uri="{BB962C8B-B14F-4D97-AF65-F5344CB8AC3E}">
        <p14:creationId xmlns="" xmlns:p14="http://schemas.microsoft.com/office/powerpoint/2010/main" val="481616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1733DD-16A3-8DF1-C011-B3CF51E7F6EE}"/>
              </a:ext>
            </a:extLst>
          </p:cNvPr>
          <p:cNvSpPr>
            <a:spLocks noGrp="1"/>
          </p:cNvSpPr>
          <p:nvPr>
            <p:ph type="title"/>
          </p:nvPr>
        </p:nvSpPr>
        <p:spPr/>
        <p:txBody>
          <a:bodyPr/>
          <a:lstStyle/>
          <a:p>
            <a:r>
              <a:rPr lang="en-IN" b="1" i="0" dirty="0">
                <a:solidFill>
                  <a:srgbClr val="34444C"/>
                </a:solidFill>
                <a:effectLst/>
                <a:latin typeface="Open Sans" panose="020B0606030504020204" pitchFamily="34" charset="0"/>
              </a:rPr>
              <a:t>B (Register B)</a:t>
            </a:r>
            <a:endParaRPr lang="en-IN" dirty="0"/>
          </a:p>
        </p:txBody>
      </p:sp>
      <p:sp>
        <p:nvSpPr>
          <p:cNvPr id="3" name="Content Placeholder 2">
            <a:extLst>
              <a:ext uri="{FF2B5EF4-FFF2-40B4-BE49-F238E27FC236}">
                <a16:creationId xmlns="" xmlns:a16="http://schemas.microsoft.com/office/drawing/2014/main" id="{3D06A86A-D85E-AAD9-60A6-78F7D9339DD1}"/>
              </a:ext>
            </a:extLst>
          </p:cNvPr>
          <p:cNvSpPr>
            <a:spLocks noGrp="1"/>
          </p:cNvSpPr>
          <p:nvPr>
            <p:ph idx="1"/>
          </p:nvPr>
        </p:nvSpPr>
        <p:spPr>
          <a:xfrm>
            <a:off x="566894" y="1253331"/>
            <a:ext cx="10515600" cy="4351338"/>
          </a:xfrm>
        </p:spPr>
        <p:txBody>
          <a:bodyPr>
            <a:normAutofit/>
          </a:bodyPr>
          <a:lstStyle/>
          <a:p>
            <a:r>
              <a:rPr lang="en-US" dirty="0"/>
              <a:t>The B Register is used along with the ACC in Multiplication and Division operations. These two operations are performed on data that are stored only in Registers A and B. During Multiplication Operation, one of the operand (multiplier or multiplicand) is stores in B Register and also the higher byte of the result.</a:t>
            </a:r>
          </a:p>
          <a:p>
            <a:r>
              <a:rPr lang="en-US" dirty="0"/>
              <a:t>In case of Division Operation, the B Register holds the divisor and also the remainder of the result. It can also be used as a General Purpose Register for normal operations and is often used as an Auxiliary Register by Programmers to store temporary results.</a:t>
            </a:r>
          </a:p>
          <a:p>
            <a:r>
              <a:rPr lang="en-US" dirty="0"/>
              <a:t>Register B is located at the address F0H of the SFR Address Space.</a:t>
            </a:r>
            <a:endParaRPr lang="en-IN" dirty="0"/>
          </a:p>
        </p:txBody>
      </p:sp>
      <p:pic>
        <p:nvPicPr>
          <p:cNvPr id="5" name="Picture 4">
            <a:extLst>
              <a:ext uri="{FF2B5EF4-FFF2-40B4-BE49-F238E27FC236}">
                <a16:creationId xmlns="" xmlns:a16="http://schemas.microsoft.com/office/drawing/2014/main" id="{D119F03D-3543-8CA7-50EA-DCB59D85B0A4}"/>
              </a:ext>
            </a:extLst>
          </p:cNvPr>
          <p:cNvPicPr>
            <a:picLocks noChangeAspect="1"/>
          </p:cNvPicPr>
          <p:nvPr/>
        </p:nvPicPr>
        <p:blipFill>
          <a:blip r:embed="rId2"/>
          <a:stretch>
            <a:fillRect/>
          </a:stretch>
        </p:blipFill>
        <p:spPr>
          <a:xfrm>
            <a:off x="1320917" y="5532436"/>
            <a:ext cx="9228620" cy="1325564"/>
          </a:xfrm>
          <a:prstGeom prst="rect">
            <a:avLst/>
          </a:prstGeom>
        </p:spPr>
      </p:pic>
    </p:spTree>
    <p:extLst>
      <p:ext uri="{BB962C8B-B14F-4D97-AF65-F5344CB8AC3E}">
        <p14:creationId xmlns="" xmlns:p14="http://schemas.microsoft.com/office/powerpoint/2010/main" val="3419917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2CF3F7-C5A4-3AC8-7379-3FF0AB21DBCF}"/>
              </a:ext>
            </a:extLst>
          </p:cNvPr>
          <p:cNvSpPr>
            <a:spLocks noGrp="1"/>
          </p:cNvSpPr>
          <p:nvPr>
            <p:ph type="title"/>
          </p:nvPr>
        </p:nvSpPr>
        <p:spPr>
          <a:xfrm>
            <a:off x="0" y="1"/>
            <a:ext cx="10515600" cy="994786"/>
          </a:xfrm>
        </p:spPr>
        <p:txBody>
          <a:bodyPr/>
          <a:lstStyle/>
          <a:p>
            <a:r>
              <a:rPr lang="en-IN" b="1" i="0" dirty="0">
                <a:solidFill>
                  <a:srgbClr val="34444C"/>
                </a:solidFill>
                <a:effectLst/>
                <a:latin typeface="Open Sans" panose="020B0606030504020204" pitchFamily="34" charset="0"/>
              </a:rPr>
              <a:t>Program Status Word (PSW)</a:t>
            </a:r>
            <a:endParaRPr lang="en-IN" dirty="0"/>
          </a:p>
        </p:txBody>
      </p:sp>
      <p:sp>
        <p:nvSpPr>
          <p:cNvPr id="3" name="Content Placeholder 2">
            <a:extLst>
              <a:ext uri="{FF2B5EF4-FFF2-40B4-BE49-F238E27FC236}">
                <a16:creationId xmlns="" xmlns:a16="http://schemas.microsoft.com/office/drawing/2014/main" id="{B4C72EF9-9FC6-C887-674B-C6563211E089}"/>
              </a:ext>
            </a:extLst>
          </p:cNvPr>
          <p:cNvSpPr>
            <a:spLocks noGrp="1"/>
          </p:cNvSpPr>
          <p:nvPr>
            <p:ph idx="1"/>
          </p:nvPr>
        </p:nvSpPr>
        <p:spPr>
          <a:xfrm>
            <a:off x="104670" y="680113"/>
            <a:ext cx="10515600" cy="4351338"/>
          </a:xfrm>
        </p:spPr>
        <p:txBody>
          <a:bodyPr/>
          <a:lstStyle/>
          <a:p>
            <a:r>
              <a:rPr lang="en-US" dirty="0"/>
              <a:t>The PSW or Program Status Word Register is also called as Flag Register and is one of the important SFRs. The PSW Register consists of Flag Bits, which help the programmer in checking the condition of the result and also make decisions.</a:t>
            </a:r>
          </a:p>
          <a:p>
            <a:endParaRPr lang="en-US" dirty="0"/>
          </a:p>
          <a:p>
            <a:r>
              <a:rPr lang="en-US" dirty="0"/>
              <a:t>Flags are 1-bit storage elements that store and indicate the nature of the result that is generated by execution of certain instructions. The following image shows the contents of the PSW Register.</a:t>
            </a:r>
            <a:endParaRPr lang="en-IN" dirty="0"/>
          </a:p>
        </p:txBody>
      </p:sp>
    </p:spTree>
    <p:extLst>
      <p:ext uri="{BB962C8B-B14F-4D97-AF65-F5344CB8AC3E}">
        <p14:creationId xmlns="" xmlns:p14="http://schemas.microsoft.com/office/powerpoint/2010/main" val="3501199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D0EED2-68E5-5AB9-8BB7-5A4B88BD19CF}"/>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B6A0250F-859C-1478-F2FA-58A297C3C9A2}"/>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0832539C-2132-E6A8-C000-65F3DD908102}"/>
              </a:ext>
            </a:extLst>
          </p:cNvPr>
          <p:cNvPicPr>
            <a:picLocks noChangeAspect="1"/>
          </p:cNvPicPr>
          <p:nvPr/>
        </p:nvPicPr>
        <p:blipFill>
          <a:blip r:embed="rId2"/>
          <a:stretch>
            <a:fillRect/>
          </a:stretch>
        </p:blipFill>
        <p:spPr>
          <a:xfrm>
            <a:off x="1279305" y="-16904"/>
            <a:ext cx="9030483" cy="2339543"/>
          </a:xfrm>
          <a:prstGeom prst="rect">
            <a:avLst/>
          </a:prstGeom>
        </p:spPr>
      </p:pic>
      <p:pic>
        <p:nvPicPr>
          <p:cNvPr id="7" name="Picture 6">
            <a:extLst>
              <a:ext uri="{FF2B5EF4-FFF2-40B4-BE49-F238E27FC236}">
                <a16:creationId xmlns="" xmlns:a16="http://schemas.microsoft.com/office/drawing/2014/main" id="{7F98DB1A-9297-380A-8B0C-88364DE3BCCF}"/>
              </a:ext>
            </a:extLst>
          </p:cNvPr>
          <p:cNvPicPr>
            <a:picLocks noChangeAspect="1"/>
          </p:cNvPicPr>
          <p:nvPr/>
        </p:nvPicPr>
        <p:blipFill>
          <a:blip r:embed="rId3"/>
          <a:stretch>
            <a:fillRect/>
          </a:stretch>
        </p:blipFill>
        <p:spPr>
          <a:xfrm>
            <a:off x="1462200" y="2172957"/>
            <a:ext cx="8664691" cy="4724809"/>
          </a:xfrm>
          <a:prstGeom prst="rect">
            <a:avLst/>
          </a:prstGeom>
        </p:spPr>
      </p:pic>
    </p:spTree>
    <p:extLst>
      <p:ext uri="{BB962C8B-B14F-4D97-AF65-F5344CB8AC3E}">
        <p14:creationId xmlns="" xmlns:p14="http://schemas.microsoft.com/office/powerpoint/2010/main" val="929548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2D6572-0CCF-F557-16F3-0DBB4CF00134}"/>
              </a:ext>
            </a:extLst>
          </p:cNvPr>
          <p:cNvSpPr>
            <a:spLocks noGrp="1"/>
          </p:cNvSpPr>
          <p:nvPr>
            <p:ph type="title"/>
          </p:nvPr>
        </p:nvSpPr>
        <p:spPr>
          <a:xfrm>
            <a:off x="0" y="0"/>
            <a:ext cx="10515600" cy="944545"/>
          </a:xfrm>
        </p:spPr>
        <p:txBody>
          <a:bodyPr/>
          <a:lstStyle/>
          <a:p>
            <a:r>
              <a:rPr lang="en-IN" b="1" i="0" dirty="0">
                <a:solidFill>
                  <a:srgbClr val="34444C"/>
                </a:solidFill>
                <a:effectLst/>
                <a:latin typeface="Open Sans" panose="020B0606030504020204" pitchFamily="34" charset="0"/>
              </a:rPr>
              <a:t>Pointer Registers</a:t>
            </a:r>
            <a:endParaRPr lang="en-IN" dirty="0"/>
          </a:p>
        </p:txBody>
      </p:sp>
      <p:sp>
        <p:nvSpPr>
          <p:cNvPr id="3" name="Content Placeholder 2">
            <a:extLst>
              <a:ext uri="{FF2B5EF4-FFF2-40B4-BE49-F238E27FC236}">
                <a16:creationId xmlns="" xmlns:a16="http://schemas.microsoft.com/office/drawing/2014/main" id="{FF4B1FC7-CC13-0394-5CA0-2F5DB882971A}"/>
              </a:ext>
            </a:extLst>
          </p:cNvPr>
          <p:cNvSpPr>
            <a:spLocks noGrp="1"/>
          </p:cNvSpPr>
          <p:nvPr>
            <p:ph idx="1"/>
          </p:nvPr>
        </p:nvSpPr>
        <p:spPr>
          <a:xfrm>
            <a:off x="315267" y="1624657"/>
            <a:ext cx="11561466" cy="4484739"/>
          </a:xfrm>
        </p:spPr>
        <p:txBody>
          <a:bodyPr>
            <a:normAutofit/>
          </a:bodyPr>
          <a:lstStyle/>
          <a:p>
            <a:pPr marL="0" indent="0">
              <a:buNone/>
            </a:pPr>
            <a:r>
              <a:rPr lang="en-US" b="1" dirty="0"/>
              <a:t>Data Pointer (DPTR – DPL and DPH)</a:t>
            </a:r>
          </a:p>
          <a:p>
            <a:r>
              <a:rPr lang="en-US" dirty="0"/>
              <a:t>The Data Pointer is a 16-bit Register and is physically the combination of DPL (Data Pointer Low) and DPH (Data Pointer High) SFRs. The Data Pointer can be used as a single 16-bit register (as DPTR) or two 8-bit registers (as DPL and DPH).</a:t>
            </a:r>
          </a:p>
          <a:p>
            <a:pPr marL="0" indent="0">
              <a:buNone/>
            </a:pPr>
            <a:endParaRPr lang="en-US" dirty="0"/>
          </a:p>
          <a:p>
            <a:r>
              <a:rPr lang="en-US" dirty="0"/>
              <a:t>The DPTR Register is used by the programmer addressing external memory (Program – ROM or Data – RAM).</a:t>
            </a:r>
            <a:endParaRPr lang="en-IN" dirty="0"/>
          </a:p>
        </p:txBody>
      </p:sp>
    </p:spTree>
    <p:extLst>
      <p:ext uri="{BB962C8B-B14F-4D97-AF65-F5344CB8AC3E}">
        <p14:creationId xmlns="" xmlns:p14="http://schemas.microsoft.com/office/powerpoint/2010/main" val="944466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32CE96-37AF-3055-E428-BCE9532057B1}"/>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A1027E2C-ADD1-4ACE-93C4-42B63EC85620}"/>
              </a:ext>
            </a:extLst>
          </p:cNvPr>
          <p:cNvSpPr>
            <a:spLocks noGrp="1"/>
          </p:cNvSpPr>
          <p:nvPr>
            <p:ph idx="1"/>
          </p:nvPr>
        </p:nvSpPr>
        <p:spPr/>
        <p:txBody>
          <a:bodyPr/>
          <a:lstStyle/>
          <a:p>
            <a:endParaRPr lang="en-IN"/>
          </a:p>
        </p:txBody>
      </p:sp>
      <p:pic>
        <p:nvPicPr>
          <p:cNvPr id="5" name="Picture 4">
            <a:extLst>
              <a:ext uri="{FF2B5EF4-FFF2-40B4-BE49-F238E27FC236}">
                <a16:creationId xmlns="" xmlns:a16="http://schemas.microsoft.com/office/drawing/2014/main" id="{92435221-8E5C-87EA-4B3B-8CA5C683A22C}"/>
              </a:ext>
            </a:extLst>
          </p:cNvPr>
          <p:cNvPicPr>
            <a:picLocks noChangeAspect="1"/>
          </p:cNvPicPr>
          <p:nvPr/>
        </p:nvPicPr>
        <p:blipFill>
          <a:blip r:embed="rId2"/>
          <a:stretch>
            <a:fillRect/>
          </a:stretch>
        </p:blipFill>
        <p:spPr>
          <a:xfrm>
            <a:off x="1121086" y="681037"/>
            <a:ext cx="10232714" cy="5582279"/>
          </a:xfrm>
          <a:prstGeom prst="rect">
            <a:avLst/>
          </a:prstGeom>
        </p:spPr>
      </p:pic>
    </p:spTree>
    <p:extLst>
      <p:ext uri="{BB962C8B-B14F-4D97-AF65-F5344CB8AC3E}">
        <p14:creationId xmlns="" xmlns:p14="http://schemas.microsoft.com/office/powerpoint/2010/main" val="3581775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A9BB25-B417-9BC6-ADB3-2B68C9612D64}"/>
              </a:ext>
            </a:extLst>
          </p:cNvPr>
          <p:cNvSpPr>
            <a:spLocks noGrp="1"/>
          </p:cNvSpPr>
          <p:nvPr>
            <p:ph type="title"/>
          </p:nvPr>
        </p:nvSpPr>
        <p:spPr/>
        <p:txBody>
          <a:bodyPr/>
          <a:lstStyle/>
          <a:p>
            <a:r>
              <a:rPr lang="en-IN" b="1" i="0" dirty="0">
                <a:solidFill>
                  <a:srgbClr val="34444C"/>
                </a:solidFill>
                <a:effectLst/>
                <a:latin typeface="Open Sans" panose="020B0606030504020204" pitchFamily="34" charset="0"/>
              </a:rPr>
              <a:t>Stack Pointer (SP)</a:t>
            </a:r>
            <a:endParaRPr lang="en-IN" dirty="0"/>
          </a:p>
        </p:txBody>
      </p:sp>
      <p:sp>
        <p:nvSpPr>
          <p:cNvPr id="3" name="Content Placeholder 2">
            <a:extLst>
              <a:ext uri="{FF2B5EF4-FFF2-40B4-BE49-F238E27FC236}">
                <a16:creationId xmlns="" xmlns:a16="http://schemas.microsoft.com/office/drawing/2014/main" id="{2D189A9A-13E8-05E6-CA68-111D0519A016}"/>
              </a:ext>
            </a:extLst>
          </p:cNvPr>
          <p:cNvSpPr>
            <a:spLocks noGrp="1"/>
          </p:cNvSpPr>
          <p:nvPr>
            <p:ph idx="1"/>
          </p:nvPr>
        </p:nvSpPr>
        <p:spPr/>
        <p:txBody>
          <a:bodyPr/>
          <a:lstStyle/>
          <a:p>
            <a:r>
              <a:rPr lang="en-US" dirty="0"/>
              <a:t>SP or Stack Pointer points out to the top of the Stack and it indicates the next data to be accessed. Stack Pointer can be accesses using PUSH, POP, CALL and RET Instructions. The Stack Pointer is an 8-bit register and upon reset, the Stack Pointer is initialized with 07H.</a:t>
            </a:r>
            <a:endParaRPr lang="en-IN" dirty="0"/>
          </a:p>
        </p:txBody>
      </p:sp>
      <p:pic>
        <p:nvPicPr>
          <p:cNvPr id="5" name="Picture 4">
            <a:extLst>
              <a:ext uri="{FF2B5EF4-FFF2-40B4-BE49-F238E27FC236}">
                <a16:creationId xmlns="" xmlns:a16="http://schemas.microsoft.com/office/drawing/2014/main" id="{B6726FE3-EB5B-FA5F-9FDE-A065D7FF1058}"/>
              </a:ext>
            </a:extLst>
          </p:cNvPr>
          <p:cNvPicPr>
            <a:picLocks noChangeAspect="1"/>
          </p:cNvPicPr>
          <p:nvPr/>
        </p:nvPicPr>
        <p:blipFill>
          <a:blip r:embed="rId2"/>
          <a:stretch>
            <a:fillRect/>
          </a:stretch>
        </p:blipFill>
        <p:spPr>
          <a:xfrm>
            <a:off x="1347556" y="4001294"/>
            <a:ext cx="8954276" cy="1935648"/>
          </a:xfrm>
          <a:prstGeom prst="rect">
            <a:avLst/>
          </a:prstGeom>
        </p:spPr>
      </p:pic>
    </p:spTree>
    <p:extLst>
      <p:ext uri="{BB962C8B-B14F-4D97-AF65-F5344CB8AC3E}">
        <p14:creationId xmlns="" xmlns:p14="http://schemas.microsoft.com/office/powerpoint/2010/main" val="1899665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B4C886-623A-05D6-42B1-A21427C2E88D}"/>
              </a:ext>
            </a:extLst>
          </p:cNvPr>
          <p:cNvSpPr>
            <a:spLocks noGrp="1"/>
          </p:cNvSpPr>
          <p:nvPr>
            <p:ph type="title"/>
          </p:nvPr>
        </p:nvSpPr>
        <p:spPr/>
        <p:txBody>
          <a:bodyPr/>
          <a:lstStyle/>
          <a:p>
            <a:r>
              <a:rPr lang="en-US" b="1" i="0" dirty="0">
                <a:solidFill>
                  <a:srgbClr val="34444C"/>
                </a:solidFill>
                <a:effectLst/>
                <a:latin typeface="Open Sans" panose="020B0606030504020204" pitchFamily="34" charset="0"/>
              </a:rPr>
              <a:t>I/O Port Registers (P0, P1, P2 and P3)</a:t>
            </a:r>
            <a:endParaRPr lang="en-IN" dirty="0"/>
          </a:p>
        </p:txBody>
      </p:sp>
      <p:sp>
        <p:nvSpPr>
          <p:cNvPr id="3" name="Content Placeholder 2">
            <a:extLst>
              <a:ext uri="{FF2B5EF4-FFF2-40B4-BE49-F238E27FC236}">
                <a16:creationId xmlns="" xmlns:a16="http://schemas.microsoft.com/office/drawing/2014/main" id="{F28C70A0-46FD-6D05-FAA6-E4AFD962768E}"/>
              </a:ext>
            </a:extLst>
          </p:cNvPr>
          <p:cNvSpPr>
            <a:spLocks noGrp="1"/>
          </p:cNvSpPr>
          <p:nvPr>
            <p:ph idx="1"/>
          </p:nvPr>
        </p:nvSpPr>
        <p:spPr/>
        <p:txBody>
          <a:bodyPr/>
          <a:lstStyle/>
          <a:p>
            <a:r>
              <a:rPr lang="en-US" dirty="0"/>
              <a:t>The 8051 Microcontroller four Ports which can be used as Input and/or Output. These four ports are P0, P1, P2 and P3. Each Port has a corresponding register with same names (the Port Registers are also P0, P1, P2 and P3). The addresses of the Port Registers are as follows: P0 – 80H, P1 – 90H, P2 – A0H and P2 – B0H.</a:t>
            </a:r>
          </a:p>
          <a:p>
            <a:endParaRPr lang="en-US" dirty="0"/>
          </a:p>
          <a:p>
            <a:r>
              <a:rPr lang="en-US" dirty="0"/>
              <a:t>Each bit in these SFRs corresponds to one physical Pin in the 8051 Microcontroller. All these Port Registers are </a:t>
            </a:r>
            <a:r>
              <a:rPr lang="en-US" dirty="0">
                <a:solidFill>
                  <a:srgbClr val="C00000"/>
                </a:solidFill>
              </a:rPr>
              <a:t>both Bit Addressable and Byte Addressable. Writing 1 or 0 on a Port Register Bit will reflect as an appropriate voltage (5V and 0V) on the corresponding Pin.</a:t>
            </a:r>
            <a:endParaRPr lang="en-IN" dirty="0">
              <a:solidFill>
                <a:srgbClr val="C00000"/>
              </a:solidFill>
            </a:endParaRPr>
          </a:p>
        </p:txBody>
      </p:sp>
    </p:spTree>
    <p:extLst>
      <p:ext uri="{BB962C8B-B14F-4D97-AF65-F5344CB8AC3E}">
        <p14:creationId xmlns="" xmlns:p14="http://schemas.microsoft.com/office/powerpoint/2010/main" val="2845189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D8EB75-E089-D8D4-E041-FC6F54EAE98C}"/>
              </a:ext>
            </a:extLst>
          </p:cNvPr>
          <p:cNvSpPr>
            <a:spLocks noGrp="1"/>
          </p:cNvSpPr>
          <p:nvPr>
            <p:ph type="title"/>
          </p:nvPr>
        </p:nvSpPr>
        <p:spPr/>
        <p:txBody>
          <a:bodyPr/>
          <a:lstStyle/>
          <a:p>
            <a:r>
              <a:rPr lang="en-IN" b="1" i="0" dirty="0">
                <a:solidFill>
                  <a:srgbClr val="34444C"/>
                </a:solidFill>
                <a:effectLst/>
                <a:latin typeface="Open Sans" panose="020B0606030504020204" pitchFamily="34" charset="0"/>
              </a:rPr>
              <a:t>Peripheral Control Registers</a:t>
            </a:r>
            <a:endParaRPr lang="en-IN" dirty="0"/>
          </a:p>
        </p:txBody>
      </p:sp>
      <p:sp>
        <p:nvSpPr>
          <p:cNvPr id="3" name="Content Placeholder 2">
            <a:extLst>
              <a:ext uri="{FF2B5EF4-FFF2-40B4-BE49-F238E27FC236}">
                <a16:creationId xmlns="" xmlns:a16="http://schemas.microsoft.com/office/drawing/2014/main" id="{43CD9215-B5B5-2D94-28B1-3929584EA294}"/>
              </a:ext>
            </a:extLst>
          </p:cNvPr>
          <p:cNvSpPr>
            <a:spLocks noGrp="1"/>
          </p:cNvSpPr>
          <p:nvPr>
            <p:ph idx="1"/>
          </p:nvPr>
        </p:nvSpPr>
        <p:spPr/>
        <p:txBody>
          <a:bodyPr>
            <a:normAutofit fontScale="92500" lnSpcReduction="10000"/>
          </a:bodyPr>
          <a:lstStyle/>
          <a:p>
            <a:r>
              <a:rPr lang="en-US" dirty="0"/>
              <a:t>The PCON or Power Control register, as the name suggests is used to control the 8051 Microcontroller’s Power Modes and is located at 87H of the SFR Memory Space. Using two bits in the PCON Register, the microcontroller can be set to Idle Mode and Power Down Mode.</a:t>
            </a:r>
          </a:p>
          <a:p>
            <a:r>
              <a:rPr lang="en-US" dirty="0"/>
              <a:t>During </a:t>
            </a:r>
            <a:r>
              <a:rPr lang="en-US" dirty="0">
                <a:solidFill>
                  <a:srgbClr val="C00000"/>
                </a:solidFill>
              </a:rPr>
              <a:t>Idle Mode</a:t>
            </a:r>
            <a:r>
              <a:rPr lang="en-US" dirty="0"/>
              <a:t>, the Microcontroller will </a:t>
            </a:r>
            <a:r>
              <a:rPr lang="en-US" dirty="0">
                <a:solidFill>
                  <a:srgbClr val="C00000"/>
                </a:solidFill>
              </a:rPr>
              <a:t>stop the Clock Signal to the ALU </a:t>
            </a:r>
            <a:r>
              <a:rPr lang="en-US" dirty="0"/>
              <a:t>(CPU) but it is </a:t>
            </a:r>
            <a:r>
              <a:rPr lang="en-US" dirty="0">
                <a:solidFill>
                  <a:srgbClr val="C00000"/>
                </a:solidFill>
              </a:rPr>
              <a:t>given to other peripherals like Timer, Serial, Interrupts</a:t>
            </a:r>
            <a:r>
              <a:rPr lang="en-US" dirty="0"/>
              <a:t>, etc. In order to terminate the Idle Mode, you have to use an Interrupt or Hardware Reset.</a:t>
            </a:r>
          </a:p>
          <a:p>
            <a:endParaRPr lang="en-US" dirty="0"/>
          </a:p>
          <a:p>
            <a:r>
              <a:rPr lang="en-US" dirty="0"/>
              <a:t>In the </a:t>
            </a:r>
            <a:r>
              <a:rPr lang="en-US" dirty="0">
                <a:solidFill>
                  <a:srgbClr val="C00000"/>
                </a:solidFill>
              </a:rPr>
              <a:t>Power Down Mode</a:t>
            </a:r>
            <a:r>
              <a:rPr lang="en-US" dirty="0"/>
              <a:t>, the </a:t>
            </a:r>
            <a:r>
              <a:rPr lang="en-US" dirty="0">
                <a:solidFill>
                  <a:srgbClr val="C00000"/>
                </a:solidFill>
              </a:rPr>
              <a:t>oscillator will be stopped </a:t>
            </a:r>
            <a:r>
              <a:rPr lang="en-US" dirty="0"/>
              <a:t>and the power will be </a:t>
            </a:r>
            <a:r>
              <a:rPr lang="en-US" dirty="0">
                <a:solidFill>
                  <a:srgbClr val="C00000"/>
                </a:solidFill>
              </a:rPr>
              <a:t>reduced to 2V</a:t>
            </a:r>
            <a:r>
              <a:rPr lang="en-US" dirty="0"/>
              <a:t>. To terminate the Power Down Mode, you have to use the Hardware Reset.</a:t>
            </a:r>
            <a:endParaRPr lang="en-IN" dirty="0"/>
          </a:p>
        </p:txBody>
      </p:sp>
    </p:spTree>
    <p:extLst>
      <p:ext uri="{BB962C8B-B14F-4D97-AF65-F5344CB8AC3E}">
        <p14:creationId xmlns="" xmlns:p14="http://schemas.microsoft.com/office/powerpoint/2010/main" val="1568359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895CF9-A3DC-4E92-1F57-A60B25E1D63A}"/>
              </a:ext>
            </a:extLst>
          </p:cNvPr>
          <p:cNvSpPr>
            <a:spLocks noGrp="1"/>
          </p:cNvSpPr>
          <p:nvPr>
            <p:ph type="title"/>
          </p:nvPr>
        </p:nvSpPr>
        <p:spPr/>
        <p:txBody>
          <a:bodyPr/>
          <a:lstStyle/>
          <a:p>
            <a:endParaRPr lang="en-IN"/>
          </a:p>
        </p:txBody>
      </p:sp>
      <p:graphicFrame>
        <p:nvGraphicFramePr>
          <p:cNvPr id="6" name="Content Placeholder 5">
            <a:extLst>
              <a:ext uri="{FF2B5EF4-FFF2-40B4-BE49-F238E27FC236}">
                <a16:creationId xmlns="" xmlns:a16="http://schemas.microsoft.com/office/drawing/2014/main" id="{2F39BD81-27BD-E174-F2E0-F54C32D4E4D0}"/>
              </a:ext>
            </a:extLst>
          </p:cNvPr>
          <p:cNvGraphicFramePr>
            <a:graphicFrameLocks noGrp="1"/>
          </p:cNvGraphicFramePr>
          <p:nvPr>
            <p:ph idx="1"/>
            <p:extLst>
              <p:ext uri="{D42A27DB-BD31-4B8C-83A1-F6EECF244321}">
                <p14:modId xmlns="" xmlns:p14="http://schemas.microsoft.com/office/powerpoint/2010/main" val="3669373180"/>
              </p:ext>
            </p:extLst>
          </p:nvPr>
        </p:nvGraphicFramePr>
        <p:xfrm>
          <a:off x="1457011" y="2035333"/>
          <a:ext cx="8753751" cy="4457540"/>
        </p:xfrm>
        <a:graphic>
          <a:graphicData uri="http://schemas.openxmlformats.org/drawingml/2006/table">
            <a:tbl>
              <a:tblPr/>
              <a:tblGrid>
                <a:gridCol w="886634">
                  <a:extLst>
                    <a:ext uri="{9D8B030D-6E8A-4147-A177-3AD203B41FA5}">
                      <a16:colId xmlns="" xmlns:a16="http://schemas.microsoft.com/office/drawing/2014/main" val="4079053423"/>
                    </a:ext>
                  </a:extLst>
                </a:gridCol>
                <a:gridCol w="900708">
                  <a:extLst>
                    <a:ext uri="{9D8B030D-6E8A-4147-A177-3AD203B41FA5}">
                      <a16:colId xmlns="" xmlns:a16="http://schemas.microsoft.com/office/drawing/2014/main" val="2931892835"/>
                    </a:ext>
                  </a:extLst>
                </a:gridCol>
                <a:gridCol w="3532462">
                  <a:extLst>
                    <a:ext uri="{9D8B030D-6E8A-4147-A177-3AD203B41FA5}">
                      <a16:colId xmlns="" xmlns:a16="http://schemas.microsoft.com/office/drawing/2014/main" val="178229705"/>
                    </a:ext>
                  </a:extLst>
                </a:gridCol>
                <a:gridCol w="3433947">
                  <a:extLst>
                    <a:ext uri="{9D8B030D-6E8A-4147-A177-3AD203B41FA5}">
                      <a16:colId xmlns="" xmlns:a16="http://schemas.microsoft.com/office/drawing/2014/main" val="295647858"/>
                    </a:ext>
                  </a:extLst>
                </a:gridCol>
              </a:tblGrid>
              <a:tr h="725646">
                <a:tc>
                  <a:txBody>
                    <a:bodyPr/>
                    <a:lstStyle/>
                    <a:p>
                      <a:pPr algn="ctr" fontAlgn="t"/>
                      <a:r>
                        <a:rPr lang="en-IN" b="1">
                          <a:effectLst/>
                        </a:rPr>
                        <a:t>Bit</a:t>
                      </a:r>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b="1">
                          <a:effectLst/>
                        </a:rPr>
                        <a:t>Symbol</a:t>
                      </a:r>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b="1">
                          <a:effectLst/>
                        </a:rPr>
                        <a:t>Description</a:t>
                      </a:r>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b="1">
                          <a:effectLst/>
                        </a:rPr>
                        <a:t>Additional Info</a:t>
                      </a:r>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1418044874"/>
                  </a:ext>
                </a:extLst>
              </a:tr>
              <a:tr h="1036637">
                <a:tc>
                  <a:txBody>
                    <a:bodyPr/>
                    <a:lstStyle/>
                    <a:p>
                      <a:pPr algn="ctr" fontAlgn="t"/>
                      <a:r>
                        <a:rPr lang="en-IN">
                          <a:effectLst/>
                        </a:rPr>
                        <a:t>7</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a:effectLst/>
                        </a:rPr>
                        <a:t>SMOD</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US">
                          <a:effectLst/>
                        </a:rPr>
                        <a:t>Serial Comm. Baud Rate Modify Bit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US">
                          <a:effectLst/>
                        </a:rPr>
                        <a:t>If 1, doubles the baud rate using Timer 1. If 0, normal timer 1 baud rate.</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extLst>
                  <a:ext uri="{0D108BD9-81ED-4DB2-BD59-A6C34878D82A}">
                    <a16:rowId xmlns="" xmlns:a16="http://schemas.microsoft.com/office/drawing/2014/main" val="2271489374"/>
                  </a:ext>
                </a:extLst>
              </a:tr>
              <a:tr h="414655">
                <a:tc>
                  <a:txBody>
                    <a:bodyPr/>
                    <a:lstStyle/>
                    <a:p>
                      <a:pPr algn="ctr" fontAlgn="t"/>
                      <a:r>
                        <a:rPr lang="en-IN">
                          <a:effectLst/>
                        </a:rPr>
                        <a:t>6 – 4</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325110216"/>
                  </a:ext>
                </a:extLst>
              </a:tr>
              <a:tr h="414655">
                <a:tc>
                  <a:txBody>
                    <a:bodyPr/>
                    <a:lstStyle/>
                    <a:p>
                      <a:pPr algn="ctr" fontAlgn="t"/>
                      <a:r>
                        <a:rPr lang="en-IN">
                          <a:effectLst/>
                        </a:rPr>
                        <a:t>3</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a:effectLst/>
                        </a:rPr>
                        <a:t>GF1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a:effectLst/>
                        </a:rPr>
                        <a:t>General Purpose User Flag (Bit 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fontAlgn="t"/>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extLst>
                  <a:ext uri="{0D108BD9-81ED-4DB2-BD59-A6C34878D82A}">
                    <a16:rowId xmlns="" xmlns:a16="http://schemas.microsoft.com/office/drawing/2014/main" val="1266478881"/>
                  </a:ext>
                </a:extLst>
              </a:tr>
              <a:tr h="414655">
                <a:tc>
                  <a:txBody>
                    <a:bodyPr/>
                    <a:lstStyle/>
                    <a:p>
                      <a:pPr algn="ctr" fontAlgn="t"/>
                      <a:r>
                        <a:rPr lang="en-IN">
                          <a:effectLst/>
                        </a:rPr>
                        <a:t>2</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GF0</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General Purpose User Flag (Bit 0)</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endParaRPr lang="en-IN">
                        <a:effectLst/>
                      </a:endParaRP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2414053129"/>
                  </a:ext>
                </a:extLst>
              </a:tr>
              <a:tr h="725646">
                <a:tc>
                  <a:txBody>
                    <a:bodyPr/>
                    <a:lstStyle/>
                    <a:p>
                      <a:pPr algn="ctr" fontAlgn="t"/>
                      <a:r>
                        <a:rPr lang="en-IN">
                          <a:effectLst/>
                        </a:rPr>
                        <a:t>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a:effectLst/>
                        </a:rPr>
                        <a:t>PD</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IN" dirty="0">
                          <a:effectLst/>
                        </a:rPr>
                        <a:t>Power Down Bit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tc>
                  <a:txBody>
                    <a:bodyPr/>
                    <a:lstStyle/>
                    <a:p>
                      <a:pPr algn="ctr" fontAlgn="t"/>
                      <a:r>
                        <a:rPr lang="en-US">
                          <a:effectLst/>
                        </a:rPr>
                        <a:t>To enter Power Down Mode, set to 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7F7F7"/>
                    </a:solidFill>
                  </a:tcPr>
                </a:tc>
                <a:extLst>
                  <a:ext uri="{0D108BD9-81ED-4DB2-BD59-A6C34878D82A}">
                    <a16:rowId xmlns="" xmlns:a16="http://schemas.microsoft.com/office/drawing/2014/main" val="308318167"/>
                  </a:ext>
                </a:extLst>
              </a:tr>
              <a:tr h="725646">
                <a:tc>
                  <a:txBody>
                    <a:bodyPr/>
                    <a:lstStyle/>
                    <a:p>
                      <a:pPr algn="ctr" fontAlgn="t"/>
                      <a:r>
                        <a:rPr lang="en-IN">
                          <a:effectLst/>
                        </a:rPr>
                        <a:t>0</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IDL</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IN">
                          <a:effectLst/>
                        </a:rPr>
                        <a:t>Idle Mode Bit</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dirty="0">
                          <a:effectLst/>
                        </a:rPr>
                        <a:t>To enter Idle Down Mode, set to 1</a:t>
                      </a:r>
                    </a:p>
                  </a:txBody>
                  <a:tcP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 xmlns:a16="http://schemas.microsoft.com/office/drawing/2014/main" val="1089533796"/>
                  </a:ext>
                </a:extLst>
              </a:tr>
            </a:tbl>
          </a:graphicData>
        </a:graphic>
      </p:graphicFrame>
      <p:pic>
        <p:nvPicPr>
          <p:cNvPr id="5" name="Picture 4">
            <a:extLst>
              <a:ext uri="{FF2B5EF4-FFF2-40B4-BE49-F238E27FC236}">
                <a16:creationId xmlns="" xmlns:a16="http://schemas.microsoft.com/office/drawing/2014/main" id="{5E18CF3F-00DC-9585-7E78-B846714BD1B5}"/>
              </a:ext>
            </a:extLst>
          </p:cNvPr>
          <p:cNvPicPr>
            <a:picLocks noChangeAspect="1"/>
          </p:cNvPicPr>
          <p:nvPr/>
        </p:nvPicPr>
        <p:blipFill>
          <a:blip r:embed="rId2"/>
          <a:stretch>
            <a:fillRect/>
          </a:stretch>
        </p:blipFill>
        <p:spPr>
          <a:xfrm>
            <a:off x="1186718" y="319184"/>
            <a:ext cx="8512278" cy="1417443"/>
          </a:xfrm>
          <a:prstGeom prst="rect">
            <a:avLst/>
          </a:prstGeom>
        </p:spPr>
      </p:pic>
    </p:spTree>
    <p:extLst>
      <p:ext uri="{BB962C8B-B14F-4D97-AF65-F5344CB8AC3E}">
        <p14:creationId xmlns="" xmlns:p14="http://schemas.microsoft.com/office/powerpoint/2010/main" val="4117244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895CF9-A3DC-4E92-1F57-A60B25E1D63A}"/>
              </a:ext>
            </a:extLst>
          </p:cNvPr>
          <p:cNvSpPr>
            <a:spLocks noGrp="1"/>
          </p:cNvSpPr>
          <p:nvPr>
            <p:ph type="title"/>
          </p:nvPr>
        </p:nvSpPr>
        <p:spPr>
          <a:xfrm>
            <a:off x="1109506" y="1263738"/>
            <a:ext cx="10515600" cy="484675"/>
          </a:xfrm>
        </p:spPr>
        <p:txBody>
          <a:bodyPr>
            <a:normAutofit/>
          </a:bodyPr>
          <a:lstStyle/>
          <a:p>
            <a:r>
              <a:rPr lang="en-IN" sz="2800" b="1" i="0" dirty="0">
                <a:solidFill>
                  <a:srgbClr val="34444C"/>
                </a:solidFill>
                <a:effectLst/>
                <a:latin typeface="Open Sans" panose="020B0606030504020204" pitchFamily="34" charset="0"/>
              </a:rPr>
              <a:t>SCON (Serial Control)</a:t>
            </a:r>
            <a:endParaRPr lang="en-IN" sz="2800" dirty="0"/>
          </a:p>
        </p:txBody>
      </p:sp>
      <p:sp>
        <p:nvSpPr>
          <p:cNvPr id="3" name="Content Placeholder 2">
            <a:extLst>
              <a:ext uri="{FF2B5EF4-FFF2-40B4-BE49-F238E27FC236}">
                <a16:creationId xmlns="" xmlns:a16="http://schemas.microsoft.com/office/drawing/2014/main" id="{A9D1BB77-0D45-05FE-4027-AB3E562F98D9}"/>
              </a:ext>
            </a:extLst>
          </p:cNvPr>
          <p:cNvSpPr>
            <a:spLocks noGrp="1"/>
          </p:cNvSpPr>
          <p:nvPr>
            <p:ph idx="1"/>
          </p:nvPr>
        </p:nvSpPr>
        <p:spPr>
          <a:xfrm>
            <a:off x="838200" y="1825624"/>
            <a:ext cx="10515600" cy="4816335"/>
          </a:xfrm>
        </p:spPr>
        <p:txBody>
          <a:bodyPr>
            <a:normAutofit fontScale="92500" lnSpcReduction="10000"/>
          </a:bodyPr>
          <a:lstStyle/>
          <a:p>
            <a:r>
              <a:rPr lang="en-US" dirty="0"/>
              <a:t>The Serial Control or SCON SFR is used to control the 8051 Microcontroller’s Serial Port. It is located as an address of 98H. Using SCON, you can control the Operation Modes of the Serial Port, Baud Rate of the Serial Port and Send or Receive Data using Serial Port.</a:t>
            </a:r>
          </a:p>
          <a:p>
            <a:pPr marL="0" indent="0" algn="l">
              <a:buNone/>
            </a:pPr>
            <a:r>
              <a:rPr lang="en-US" b="1" i="0" dirty="0">
                <a:solidFill>
                  <a:srgbClr val="34444C"/>
                </a:solidFill>
                <a:effectLst/>
                <a:latin typeface="Open Sans" panose="020B0606030504020204" pitchFamily="34" charset="0"/>
              </a:rPr>
              <a:t>TCON (Timer Control)</a:t>
            </a:r>
          </a:p>
          <a:p>
            <a:pPr algn="l"/>
            <a:r>
              <a:rPr lang="en-US" b="0" i="0" dirty="0">
                <a:solidFill>
                  <a:srgbClr val="34444C"/>
                </a:solidFill>
                <a:effectLst/>
                <a:latin typeface="Open Sans" panose="020B0606030504020204" pitchFamily="34" charset="0"/>
              </a:rPr>
              <a:t>Timer Control or TCON Register is used to start or stop the Timers of 8051 Microcontroller. It also contains bits to indicate if the Timers has overflowed. The TCON SFR also consists of Interrupt related bits.</a:t>
            </a:r>
          </a:p>
          <a:p>
            <a:pPr marL="0" indent="0" algn="l">
              <a:buNone/>
            </a:pPr>
            <a:r>
              <a:rPr lang="en-US" b="1" i="0" dirty="0">
                <a:solidFill>
                  <a:srgbClr val="34444C"/>
                </a:solidFill>
                <a:effectLst/>
                <a:latin typeface="Open Sans" panose="020B0606030504020204" pitchFamily="34" charset="0"/>
              </a:rPr>
              <a:t>TMOD (Timer Mode)</a:t>
            </a:r>
          </a:p>
          <a:p>
            <a:pPr algn="l"/>
            <a:r>
              <a:rPr lang="en-US" b="0" i="0" dirty="0">
                <a:solidFill>
                  <a:srgbClr val="34444C"/>
                </a:solidFill>
                <a:effectLst/>
                <a:latin typeface="Open Sans" panose="020B0606030504020204" pitchFamily="34" charset="0"/>
              </a:rPr>
              <a:t>The TMOD or Timer Mode register or SFR is used to set the Operating Modes of the Timers T0 and T1. The lower four bits are used to configure Timer0 and the higher four bits are used to configure Timer1.</a:t>
            </a:r>
          </a:p>
          <a:p>
            <a:pPr marL="0" indent="0">
              <a:buNone/>
            </a:pPr>
            <a:endParaRPr lang="en-IN" dirty="0"/>
          </a:p>
        </p:txBody>
      </p:sp>
    </p:spTree>
    <p:extLst>
      <p:ext uri="{BB962C8B-B14F-4D97-AF65-F5344CB8AC3E}">
        <p14:creationId xmlns="" xmlns:p14="http://schemas.microsoft.com/office/powerpoint/2010/main" val="2035328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B590F86-BC46-32CA-AAD2-C3156E943577}"/>
              </a:ext>
            </a:extLst>
          </p:cNvPr>
          <p:cNvSpPr>
            <a:spLocks noGrp="1"/>
          </p:cNvSpPr>
          <p:nvPr>
            <p:ph idx="1"/>
          </p:nvPr>
        </p:nvSpPr>
        <p:spPr>
          <a:xfrm>
            <a:off x="657329" y="1544271"/>
            <a:ext cx="10515600" cy="4351338"/>
          </a:xfrm>
        </p:spPr>
        <p:txBody>
          <a:bodyPr>
            <a:normAutofit lnSpcReduction="10000"/>
          </a:bodyPr>
          <a:lstStyle/>
          <a:p>
            <a:pPr marL="0" indent="0">
              <a:buNone/>
            </a:pPr>
            <a:r>
              <a:rPr lang="en-US" b="1" dirty="0">
                <a:solidFill>
                  <a:srgbClr val="C00000"/>
                </a:solidFill>
              </a:rPr>
              <a:t>IE (Interrupt Enable)</a:t>
            </a:r>
          </a:p>
          <a:p>
            <a:r>
              <a:rPr lang="en-US" dirty="0"/>
              <a:t>The IE or Interrupt Enable Register is used to enable or disable individual interrupts. If a bit is SET, the corresponding interrupt is enabled and if the bit is cleared, the interrupt is disabled. The Bit7 of the IE register i.e., EA bit is used to enable or disable all the interrupts.</a:t>
            </a:r>
          </a:p>
          <a:p>
            <a:pPr marL="0" indent="0">
              <a:buNone/>
            </a:pPr>
            <a:r>
              <a:rPr lang="en-US" b="1" dirty="0">
                <a:solidFill>
                  <a:srgbClr val="C00000"/>
                </a:solidFill>
              </a:rPr>
              <a:t>IP (Interrupt Priority)</a:t>
            </a:r>
          </a:p>
          <a:p>
            <a:r>
              <a:rPr lang="en-US" dirty="0"/>
              <a:t>The IP or Interrupt Priority Register is used to set the priority of the interrupt as High or Low. If a bit is CLEARED, the corresponding interrupt is assigned low priority and if the bit is SET, the interrupt is assigned high priority.</a:t>
            </a:r>
            <a:endParaRPr lang="en-IN" dirty="0"/>
          </a:p>
        </p:txBody>
      </p:sp>
    </p:spTree>
    <p:extLst>
      <p:ext uri="{BB962C8B-B14F-4D97-AF65-F5344CB8AC3E}">
        <p14:creationId xmlns="" xmlns:p14="http://schemas.microsoft.com/office/powerpoint/2010/main" val="1243792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55339A-95B6-A856-3ADD-1785546FAB98}"/>
              </a:ext>
            </a:extLst>
          </p:cNvPr>
          <p:cNvSpPr>
            <a:spLocks noGrp="1"/>
          </p:cNvSpPr>
          <p:nvPr>
            <p:ph type="title"/>
          </p:nvPr>
        </p:nvSpPr>
        <p:spPr/>
        <p:txBody>
          <a:bodyPr>
            <a:normAutofit/>
          </a:bodyPr>
          <a:lstStyle/>
          <a:p>
            <a:r>
              <a:rPr lang="en-IN" b="1" i="0" dirty="0">
                <a:solidFill>
                  <a:srgbClr val="34444C"/>
                </a:solidFill>
                <a:effectLst/>
                <a:latin typeface="Open Sans" panose="020B0606030504020204" pitchFamily="34" charset="0"/>
              </a:rPr>
              <a:t>Peripheral Data Registers</a:t>
            </a:r>
            <a:endParaRPr lang="en-IN" dirty="0"/>
          </a:p>
        </p:txBody>
      </p:sp>
      <p:sp>
        <p:nvSpPr>
          <p:cNvPr id="3" name="Content Placeholder 2">
            <a:extLst>
              <a:ext uri="{FF2B5EF4-FFF2-40B4-BE49-F238E27FC236}">
                <a16:creationId xmlns="" xmlns:a16="http://schemas.microsoft.com/office/drawing/2014/main" id="{2573F19C-D3A4-DF30-6D9C-53628A3D0139}"/>
              </a:ext>
            </a:extLst>
          </p:cNvPr>
          <p:cNvSpPr>
            <a:spLocks noGrp="1"/>
          </p:cNvSpPr>
          <p:nvPr>
            <p:ph idx="1"/>
          </p:nvPr>
        </p:nvSpPr>
        <p:spPr/>
        <p:txBody>
          <a:bodyPr>
            <a:normAutofit/>
          </a:bodyPr>
          <a:lstStyle/>
          <a:p>
            <a:pPr marL="0" indent="0" algn="l">
              <a:buNone/>
            </a:pPr>
            <a:r>
              <a:rPr lang="en-US" b="1" i="0" dirty="0">
                <a:solidFill>
                  <a:srgbClr val="34444C"/>
                </a:solidFill>
                <a:effectLst/>
                <a:latin typeface="Open Sans" panose="020B0606030504020204" pitchFamily="34" charset="0"/>
              </a:rPr>
              <a:t>SBUF (Serial Data Buffer)</a:t>
            </a:r>
          </a:p>
          <a:p>
            <a:pPr algn="l"/>
            <a:r>
              <a:rPr lang="en-US" b="0" i="0" dirty="0">
                <a:solidFill>
                  <a:srgbClr val="34444C"/>
                </a:solidFill>
                <a:effectLst/>
                <a:latin typeface="Open Sans" panose="020B0606030504020204" pitchFamily="34" charset="0"/>
              </a:rPr>
              <a:t>The Serial Buffer or SBUF register is used to hold the serial data while transmission or reception.</a:t>
            </a:r>
          </a:p>
          <a:p>
            <a:pPr marL="0" indent="0" algn="l">
              <a:buNone/>
            </a:pPr>
            <a:r>
              <a:rPr lang="en-US" b="1" i="0" dirty="0">
                <a:solidFill>
                  <a:srgbClr val="34444C"/>
                </a:solidFill>
                <a:effectLst/>
                <a:latin typeface="Open Sans" panose="020B0606030504020204" pitchFamily="34" charset="0"/>
              </a:rPr>
              <a:t>TL0/TH0 (Timer 0 Low/High)</a:t>
            </a:r>
          </a:p>
          <a:p>
            <a:pPr algn="l"/>
            <a:r>
              <a:rPr lang="en-US" b="0" i="0" dirty="0">
                <a:solidFill>
                  <a:srgbClr val="34444C"/>
                </a:solidFill>
                <a:effectLst/>
                <a:latin typeface="Open Sans" panose="020B0606030504020204" pitchFamily="34" charset="0"/>
              </a:rPr>
              <a:t>The Timer 0 consists of two SFRs: TL0 and TH0. The TL0 is the lower byte and the TH0 is the higher byte and together they form a 16-bit Timer0 Register.</a:t>
            </a:r>
          </a:p>
          <a:p>
            <a:pPr marL="0" indent="0" algn="l">
              <a:buNone/>
            </a:pPr>
            <a:r>
              <a:rPr lang="en-US" b="1" i="0" dirty="0">
                <a:solidFill>
                  <a:srgbClr val="34444C"/>
                </a:solidFill>
                <a:effectLst/>
                <a:latin typeface="Open Sans" panose="020B0606030504020204" pitchFamily="34" charset="0"/>
              </a:rPr>
              <a:t>TL1/TH1 (Timer 1 Low/High)</a:t>
            </a:r>
          </a:p>
          <a:p>
            <a:pPr algn="l"/>
            <a:r>
              <a:rPr lang="en-US" b="0" i="0" dirty="0">
                <a:solidFill>
                  <a:srgbClr val="34444C"/>
                </a:solidFill>
                <a:effectLst/>
                <a:latin typeface="Open Sans" panose="020B0606030504020204" pitchFamily="34" charset="0"/>
              </a:rPr>
              <a:t>The TL1 and TH1 are the lower and higher bytes of the Timer 0</a:t>
            </a:r>
          </a:p>
          <a:p>
            <a:endParaRPr lang="en-IN" dirty="0"/>
          </a:p>
        </p:txBody>
      </p:sp>
    </p:spTree>
    <p:extLst>
      <p:ext uri="{BB962C8B-B14F-4D97-AF65-F5344CB8AC3E}">
        <p14:creationId xmlns="" xmlns:p14="http://schemas.microsoft.com/office/powerpoint/2010/main" val="1257104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922</TotalTime>
  <Words>1653</Words>
  <Application>Microsoft Office PowerPoint</Application>
  <PresentationFormat>Custom</PresentationFormat>
  <Paragraphs>113</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Module 2</vt:lpstr>
      <vt:lpstr>8051 ARCHITECTURE</vt:lpstr>
      <vt:lpstr>MEMORY ORGANIZATION-8051</vt:lpstr>
      <vt:lpstr>Slide 4</vt:lpstr>
      <vt:lpstr>Slide 5</vt:lpstr>
      <vt:lpstr>Slide 6</vt:lpstr>
      <vt:lpstr>MEMOERY ORGANIZATION-ROM</vt:lpstr>
      <vt:lpstr>Data Memory Organization of 8051</vt:lpstr>
      <vt:lpstr>REGISTER BANKS</vt:lpstr>
      <vt:lpstr>Slide 10</vt:lpstr>
      <vt:lpstr>Slide 11</vt:lpstr>
      <vt:lpstr>RAM MEMORY</vt:lpstr>
      <vt:lpstr>Special Function Registers (SFRs)</vt:lpstr>
      <vt:lpstr>SFR’s</vt:lpstr>
      <vt:lpstr>Slide 15</vt:lpstr>
      <vt:lpstr>A or Accumulator (ACC)</vt:lpstr>
      <vt:lpstr>B (Register B)</vt:lpstr>
      <vt:lpstr>Program Status Word (PSW)</vt:lpstr>
      <vt:lpstr>Slide 19</vt:lpstr>
      <vt:lpstr>Pointer Registers</vt:lpstr>
      <vt:lpstr>Slide 21</vt:lpstr>
      <vt:lpstr>Stack Pointer (SP)</vt:lpstr>
      <vt:lpstr>I/O Port Registers (P0, P1, P2 and P3)</vt:lpstr>
      <vt:lpstr>Peripheral Control Registers</vt:lpstr>
      <vt:lpstr>Slide 25</vt:lpstr>
      <vt:lpstr>SCON (Serial Control)</vt:lpstr>
      <vt:lpstr>Slide 27</vt:lpstr>
      <vt:lpstr>Peripheral Data Registers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KOPPERUNDEVI RAJAJI</dc:creator>
  <cp:lastModifiedBy>Admin</cp:lastModifiedBy>
  <cp:revision>26</cp:revision>
  <dcterms:created xsi:type="dcterms:W3CDTF">2024-01-18T17:05:19Z</dcterms:created>
  <dcterms:modified xsi:type="dcterms:W3CDTF">2025-01-21T08:34:32Z</dcterms:modified>
</cp:coreProperties>
</file>