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3"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p:scale>
          <a:sx n="76" d="100"/>
          <a:sy n="76" d="100"/>
        </p:scale>
        <p:origin x="8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B946-E22C-F557-8547-B8AC8F33DB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3CBB21-AE24-67EB-B627-3CB8117AD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8BF45E-B976-639B-AF49-01712B3FE9B1}"/>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5" name="Footer Placeholder 4">
            <a:extLst>
              <a:ext uri="{FF2B5EF4-FFF2-40B4-BE49-F238E27FC236}">
                <a16:creationId xmlns:a16="http://schemas.microsoft.com/office/drawing/2014/main" id="{9DDFC5A3-E8AE-A805-753E-5C15DE77B3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252A90-8FE5-BA97-7AB6-4EFB67105F1B}"/>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717033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38350-50A1-796F-0BC0-856056A9F0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EBEFC9-4C5D-9516-FFB8-99C891CB6E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1BA6B-71DF-760D-300A-CE48891DC92A}"/>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5" name="Footer Placeholder 4">
            <a:extLst>
              <a:ext uri="{FF2B5EF4-FFF2-40B4-BE49-F238E27FC236}">
                <a16:creationId xmlns:a16="http://schemas.microsoft.com/office/drawing/2014/main" id="{3886442C-B127-639D-E883-5C3F9BBC13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9AE8F4-FA17-C9BD-D0E3-F34383826E64}"/>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91788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E257B-7308-6B71-B95B-A5DEC71DE1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FB154C-CCFA-2699-6556-3B5AABFBC9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2326CE-D3CF-80C9-1ACD-F68653F5CD24}"/>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5" name="Footer Placeholder 4">
            <a:extLst>
              <a:ext uri="{FF2B5EF4-FFF2-40B4-BE49-F238E27FC236}">
                <a16:creationId xmlns:a16="http://schemas.microsoft.com/office/drawing/2014/main" id="{F823C3AA-41D7-0E3C-5C2A-0C0CC74B8C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9AC38D-778C-4B7A-789E-210757B1AD8F}"/>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3841821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0C2F-9210-2D76-B0F8-8268949A60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C8FA84-5B43-C19A-E69F-19FD5E367E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591DFD-FE29-24E2-C9AC-E48C6D39A5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E693DA-FB6C-A71B-353A-ACDA6BE12D74}"/>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6" name="Footer Placeholder 5">
            <a:extLst>
              <a:ext uri="{FF2B5EF4-FFF2-40B4-BE49-F238E27FC236}">
                <a16:creationId xmlns:a16="http://schemas.microsoft.com/office/drawing/2014/main" id="{43A04251-FA9D-4292-A475-8B128E9117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A268A4-9D1E-24A4-398B-F8C8F93B67FA}"/>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70124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0FB8B-7014-379E-0B24-271D175D04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029C8B-AE92-0442-ABE9-7C4002D70C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F7831B-526B-8AB3-1F95-C0960334D3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95F22A-F947-4426-50A3-82BE184C7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2D342B-9C0C-6872-1CD7-E8A6FC0F66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AE682B-E03B-AD2B-EA73-58ABE8B664F0}"/>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8" name="Footer Placeholder 7">
            <a:extLst>
              <a:ext uri="{FF2B5EF4-FFF2-40B4-BE49-F238E27FC236}">
                <a16:creationId xmlns:a16="http://schemas.microsoft.com/office/drawing/2014/main" id="{5F22298B-9B2B-7F6A-CBE1-7563A65C2C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8C0C47-8B01-2D1B-BE45-619B0E261ABA}"/>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78014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5B37D-FAE3-622B-253A-003BAB0F71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36A4596-B236-69BF-E11A-457CC9599D8B}"/>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4" name="Footer Placeholder 3">
            <a:extLst>
              <a:ext uri="{FF2B5EF4-FFF2-40B4-BE49-F238E27FC236}">
                <a16:creationId xmlns:a16="http://schemas.microsoft.com/office/drawing/2014/main" id="{F126102A-7BE9-8979-90B1-FFFE089499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0C681C-1ABF-4E8A-6715-6B93B803BA86}"/>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1434674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95D97B-9FDF-3235-CE1D-02CE5E7A6812}"/>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3" name="Footer Placeholder 2">
            <a:extLst>
              <a:ext uri="{FF2B5EF4-FFF2-40B4-BE49-F238E27FC236}">
                <a16:creationId xmlns:a16="http://schemas.microsoft.com/office/drawing/2014/main" id="{BC6C14D4-3B66-205A-3DF6-E58C60AE55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8AEC4F-2C7B-5E21-C632-8370D09CAAC2}"/>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1394324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E03C0-A31B-FDB5-A294-A142F2C10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60D159-41B5-CDDC-033E-1FC73D4A36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A5ABAC-C6C6-62E0-F0F1-8D3D7FE5A3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E6BA82-B8DB-64AB-EB96-4979F0FF6B62}"/>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6" name="Footer Placeholder 5">
            <a:extLst>
              <a:ext uri="{FF2B5EF4-FFF2-40B4-BE49-F238E27FC236}">
                <a16:creationId xmlns:a16="http://schemas.microsoft.com/office/drawing/2014/main" id="{B5825681-BB1E-3249-6C1A-6E8E504F16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30F15E-4670-A4A5-6340-75599D17F06D}"/>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429313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F2A20-B66D-02D9-6CE5-9644028EE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544266F-487F-F84C-D1DC-51F26A976A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613D2B-D117-5775-0830-0889B4FD2F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F89F7-637A-16D2-CC06-2962F05808CE}"/>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6" name="Footer Placeholder 5">
            <a:extLst>
              <a:ext uri="{FF2B5EF4-FFF2-40B4-BE49-F238E27FC236}">
                <a16:creationId xmlns:a16="http://schemas.microsoft.com/office/drawing/2014/main" id="{FD58AE1C-472A-F584-B366-91B2FC7EE9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E64011-8F6A-03FA-EBA9-506A8C5EA21F}"/>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3093919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5465B-B85D-6C70-44A1-0499FD20BB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718FC6-96E1-EB6D-8F88-66902EBB03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044699-2B30-59CD-7D1A-DD36DEFFC7CB}"/>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5" name="Footer Placeholder 4">
            <a:extLst>
              <a:ext uri="{FF2B5EF4-FFF2-40B4-BE49-F238E27FC236}">
                <a16:creationId xmlns:a16="http://schemas.microsoft.com/office/drawing/2014/main" id="{2F6F2160-4BB6-4653-8BCC-C83490FD8D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32A366-6F1B-811F-7DDC-A74624BDFF00}"/>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558009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7B2EA4-5807-E40C-8820-E6A1B47F9A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E52E9B-5C4F-02C9-7ED7-B70EC1044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0EAF8A-53CF-5E34-67D6-6E81F5995305}"/>
              </a:ext>
            </a:extLst>
          </p:cNvPr>
          <p:cNvSpPr>
            <a:spLocks noGrp="1"/>
          </p:cNvSpPr>
          <p:nvPr>
            <p:ph type="dt" sz="half" idx="10"/>
          </p:nvPr>
        </p:nvSpPr>
        <p:spPr/>
        <p:txBody>
          <a:bodyPr/>
          <a:lstStyle/>
          <a:p>
            <a:fld id="{2E76087A-C6E2-4915-8A66-645682B41CE9}" type="datetimeFigureOut">
              <a:rPr lang="en-IN" smtClean="0"/>
              <a:t>25-02-2024</a:t>
            </a:fld>
            <a:endParaRPr lang="en-IN"/>
          </a:p>
        </p:txBody>
      </p:sp>
      <p:sp>
        <p:nvSpPr>
          <p:cNvPr id="5" name="Footer Placeholder 4">
            <a:extLst>
              <a:ext uri="{FF2B5EF4-FFF2-40B4-BE49-F238E27FC236}">
                <a16:creationId xmlns:a16="http://schemas.microsoft.com/office/drawing/2014/main" id="{0D8CF5E9-E529-D50F-B556-0A6F4CF7F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826EDA-0899-6A38-5EBD-6A9F71554ABF}"/>
              </a:ext>
            </a:extLst>
          </p:cNvPr>
          <p:cNvSpPr>
            <a:spLocks noGrp="1"/>
          </p:cNvSpPr>
          <p:nvPr>
            <p:ph type="sldNum" sz="quarter" idx="12"/>
          </p:nvPr>
        </p:nvSpPr>
        <p:spPr/>
        <p:txBody>
          <a:bodyPr/>
          <a:lstStyle/>
          <a:p>
            <a:fld id="{50A0A00A-EDAE-41BF-8031-68DEE0C2BAAB}" type="slidenum">
              <a:rPr lang="en-IN" smtClean="0"/>
              <a:t>‹#›</a:t>
            </a:fld>
            <a:endParaRPr lang="en-IN"/>
          </a:p>
        </p:txBody>
      </p:sp>
    </p:spTree>
    <p:extLst>
      <p:ext uri="{BB962C8B-B14F-4D97-AF65-F5344CB8AC3E}">
        <p14:creationId xmlns:p14="http://schemas.microsoft.com/office/powerpoint/2010/main" val="2085636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392298-DD98-F146-CDF3-A09588BCFF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4CD21A-BF5C-E079-FDE7-6069CCB918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918752-B3CD-AB4C-CDCD-C29368A5D1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6087A-C6E2-4915-8A66-645682B41CE9}" type="datetimeFigureOut">
              <a:rPr lang="en-IN" smtClean="0"/>
              <a:t>25-02-2024</a:t>
            </a:fld>
            <a:endParaRPr lang="en-IN"/>
          </a:p>
        </p:txBody>
      </p:sp>
      <p:sp>
        <p:nvSpPr>
          <p:cNvPr id="5" name="Footer Placeholder 4">
            <a:extLst>
              <a:ext uri="{FF2B5EF4-FFF2-40B4-BE49-F238E27FC236}">
                <a16:creationId xmlns:a16="http://schemas.microsoft.com/office/drawing/2014/main" id="{D143E140-83D4-C627-3A50-5C10CE40C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BCBC02-DD4F-734D-386C-A20EF671C2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A0A00A-EDAE-41BF-8031-68DEE0C2BAAB}" type="slidenum">
              <a:rPr lang="en-IN" smtClean="0"/>
              <a:t>‹#›</a:t>
            </a:fld>
            <a:endParaRPr lang="en-IN"/>
          </a:p>
        </p:txBody>
      </p:sp>
    </p:spTree>
    <p:extLst>
      <p:ext uri="{BB962C8B-B14F-4D97-AF65-F5344CB8AC3E}">
        <p14:creationId xmlns:p14="http://schemas.microsoft.com/office/powerpoint/2010/main" val="879144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baeldung.com/cs/process-schedul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real-time-operating-system-rto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5BD1D-A53B-D04B-A441-74ACEE7F985D}"/>
              </a:ext>
            </a:extLst>
          </p:cNvPr>
          <p:cNvSpPr>
            <a:spLocks noGrp="1"/>
          </p:cNvSpPr>
          <p:nvPr>
            <p:ph type="ctrTitle"/>
          </p:nvPr>
        </p:nvSpPr>
        <p:spPr/>
        <p:txBody>
          <a:bodyPr/>
          <a:lstStyle/>
          <a:p>
            <a:r>
              <a:rPr lang="en-US" dirty="0"/>
              <a:t>Earliest Dead Line First Scheduling</a:t>
            </a:r>
            <a:endParaRPr lang="en-IN" dirty="0"/>
          </a:p>
        </p:txBody>
      </p:sp>
    </p:spTree>
    <p:extLst>
      <p:ext uri="{BB962C8B-B14F-4D97-AF65-F5344CB8AC3E}">
        <p14:creationId xmlns:p14="http://schemas.microsoft.com/office/powerpoint/2010/main" val="3918405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E63DE-13D5-FE12-7AAB-3E84E532BAEF}"/>
              </a:ext>
            </a:extLst>
          </p:cNvPr>
          <p:cNvSpPr>
            <a:spLocks noGrp="1"/>
          </p:cNvSpPr>
          <p:nvPr>
            <p:ph idx="1"/>
          </p:nvPr>
        </p:nvSpPr>
        <p:spPr>
          <a:xfrm>
            <a:off x="838200" y="548640"/>
            <a:ext cx="10515600" cy="6066845"/>
          </a:xfrm>
        </p:spPr>
        <p:txBody>
          <a:bodyPr>
            <a:normAutofit lnSpcReduction="10000"/>
          </a:bodyPr>
          <a:lstStyle/>
          <a:p>
            <a:pPr algn="l"/>
            <a:r>
              <a:rPr lang="en-US" i="0" dirty="0">
                <a:effectLst/>
                <a:latin typeface="Cambria" panose="02040503050406030204" pitchFamily="18" charset="0"/>
                <a:ea typeface="Cambria" panose="02040503050406030204" pitchFamily="18" charset="0"/>
              </a:rPr>
              <a:t>Earliest deadline first (EDF) comes under the category of the </a:t>
            </a:r>
            <a:r>
              <a:rPr lang="en-US" i="0" strike="noStrike" dirty="0">
                <a:solidFill>
                  <a:srgbClr val="FF0000"/>
                </a:solidFill>
                <a:effectLst/>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dynamic scheduling algorithm</a:t>
            </a:r>
            <a:r>
              <a:rPr lang="en-US" i="0" dirty="0">
                <a:solidFill>
                  <a:srgbClr val="FF0000"/>
                </a:solidFill>
                <a:effectLst/>
                <a:latin typeface="Cambria" panose="02040503050406030204" pitchFamily="18" charset="0"/>
                <a:ea typeface="Cambria" panose="02040503050406030204" pitchFamily="18" charset="0"/>
              </a:rPr>
              <a:t>. </a:t>
            </a:r>
          </a:p>
          <a:p>
            <a:pPr algn="l"/>
            <a:r>
              <a:rPr lang="en-US" i="0" dirty="0">
                <a:effectLst/>
                <a:latin typeface="Cambria" panose="02040503050406030204" pitchFamily="18" charset="0"/>
                <a:ea typeface="Cambria" panose="02040503050406030204" pitchFamily="18" charset="0"/>
              </a:rPr>
              <a:t>We can use it in real-time operating systems for scheduling tasks as well as processes with specific deadlines. </a:t>
            </a:r>
          </a:p>
          <a:p>
            <a:pPr algn="l"/>
            <a:r>
              <a:rPr lang="en-US" i="0" dirty="0">
                <a:effectLst/>
                <a:latin typeface="Cambria" panose="02040503050406030204" pitchFamily="18" charset="0"/>
                <a:ea typeface="Cambria" panose="02040503050406030204" pitchFamily="18" charset="0"/>
              </a:rPr>
              <a:t>It’s a priority-based algorithm where we assign the </a:t>
            </a:r>
            <a:r>
              <a:rPr lang="en-US" i="0" dirty="0">
                <a:solidFill>
                  <a:srgbClr val="FF0000"/>
                </a:solidFill>
                <a:effectLst/>
                <a:latin typeface="Cambria" panose="02040503050406030204" pitchFamily="18" charset="0"/>
                <a:ea typeface="Cambria" panose="02040503050406030204" pitchFamily="18" charset="0"/>
              </a:rPr>
              <a:t>highest priority</a:t>
            </a:r>
            <a:r>
              <a:rPr lang="en-US" i="0" dirty="0">
                <a:effectLst/>
                <a:latin typeface="Cambria" panose="02040503050406030204" pitchFamily="18" charset="0"/>
                <a:ea typeface="Cambria" panose="02040503050406030204" pitchFamily="18" charset="0"/>
              </a:rPr>
              <a:t> to the tasks with the </a:t>
            </a:r>
            <a:r>
              <a:rPr lang="en-US" i="0" dirty="0">
                <a:solidFill>
                  <a:srgbClr val="FF0000"/>
                </a:solidFill>
                <a:effectLst/>
                <a:latin typeface="Cambria" panose="02040503050406030204" pitchFamily="18" charset="0"/>
                <a:ea typeface="Cambria" panose="02040503050406030204" pitchFamily="18" charset="0"/>
              </a:rPr>
              <a:t>earliest deadline. </a:t>
            </a:r>
          </a:p>
          <a:p>
            <a:pPr algn="l"/>
            <a:r>
              <a:rPr lang="en-US" i="0" dirty="0">
                <a:effectLst/>
                <a:latin typeface="Cambria" panose="02040503050406030204" pitchFamily="18" charset="0"/>
                <a:ea typeface="Cambria" panose="02040503050406030204" pitchFamily="18" charset="0"/>
              </a:rPr>
              <a:t>Additionally, the CPU executes the scheduled tasks based on priority.</a:t>
            </a:r>
          </a:p>
          <a:p>
            <a:pPr algn="l"/>
            <a:r>
              <a:rPr lang="en-US" i="0" dirty="0">
                <a:effectLst/>
                <a:latin typeface="Cambria" panose="02040503050406030204" pitchFamily="18" charset="0"/>
                <a:ea typeface="Cambria" panose="02040503050406030204" pitchFamily="18" charset="0"/>
              </a:rPr>
              <a:t>Additionally, if multiple tasks have the same deadline, the CPU executes the task with the highest priority.</a:t>
            </a:r>
          </a:p>
          <a:p>
            <a:pPr algn="l"/>
            <a:r>
              <a:rPr lang="en-US" i="0" dirty="0">
                <a:effectLst/>
                <a:latin typeface="Cambria" panose="02040503050406030204" pitchFamily="18" charset="0"/>
                <a:ea typeface="Cambria" panose="02040503050406030204" pitchFamily="18" charset="0"/>
              </a:rPr>
              <a:t>EDF is an optimal algorithm for scheduling a set of periodic tasks with known deadlines and execution times as long as the total utilization of the tasks doesn’t exceed unity. </a:t>
            </a:r>
          </a:p>
          <a:p>
            <a:pPr algn="l"/>
            <a:r>
              <a:rPr lang="en-US" i="0" dirty="0">
                <a:effectLst/>
                <a:latin typeface="Cambria" panose="02040503050406030204" pitchFamily="18" charset="0"/>
                <a:ea typeface="Cambria" panose="02040503050406030204" pitchFamily="18" charset="0"/>
              </a:rPr>
              <a:t>Hence, the total execution time of all tasks should be less than the total available time</a:t>
            </a: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829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eduling algorithm">
            <a:extLst>
              <a:ext uri="{FF2B5EF4-FFF2-40B4-BE49-F238E27FC236}">
                <a16:creationId xmlns:a16="http://schemas.microsoft.com/office/drawing/2014/main" id="{80BFEB01-A284-DE61-B329-1689F6666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63" y="1027906"/>
            <a:ext cx="9570866" cy="4884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12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CD980-2C4B-99D6-CEED-ECE3BEA504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588CC0-F068-D5B7-5D5A-6552E0003442}"/>
              </a:ext>
            </a:extLst>
          </p:cNvPr>
          <p:cNvSpPr>
            <a:spLocks noGrp="1"/>
          </p:cNvSpPr>
          <p:nvPr>
            <p:ph idx="1"/>
          </p:nvPr>
        </p:nvSpPr>
        <p:spPr>
          <a:xfrm>
            <a:off x="838199" y="644056"/>
            <a:ext cx="10918371" cy="5957711"/>
          </a:xfrm>
        </p:spPr>
        <p:txBody>
          <a:bodyPr>
            <a:normAutofit/>
          </a:bodyPr>
          <a:lstStyle/>
          <a:p>
            <a:pPr algn="l"/>
            <a:r>
              <a:rPr lang="en-US" sz="2400" i="0" dirty="0">
                <a:solidFill>
                  <a:srgbClr val="000000"/>
                </a:solidFill>
                <a:effectLst/>
                <a:latin typeface="Cambria" panose="02040503050406030204" pitchFamily="18" charset="0"/>
                <a:ea typeface="Cambria" panose="02040503050406030204" pitchFamily="18" charset="0"/>
              </a:rPr>
              <a:t>The earliest deadline first scheduling algorithm consists of four steps: initialization, task prioritization, task scheduling, and task execution.</a:t>
            </a:r>
          </a:p>
          <a:p>
            <a:pPr algn="l"/>
            <a:r>
              <a:rPr lang="en-US" sz="2400" i="0" dirty="0">
                <a:solidFill>
                  <a:srgbClr val="000000"/>
                </a:solidFill>
                <a:effectLst/>
                <a:latin typeface="Cambria" panose="02040503050406030204" pitchFamily="18" charset="0"/>
                <a:ea typeface="Cambria" panose="02040503050406030204" pitchFamily="18" charset="0"/>
              </a:rPr>
              <a:t>The first step is to initialize the available tasks. Additionally, along with initialization, we assign each task a deadline based on completion requirements. The next step is to assign priority to each task. The system sorts the tasks in order of their deadlines, with the task having the earliest deadline assigned the highest priority.</a:t>
            </a:r>
          </a:p>
          <a:p>
            <a:pPr algn="l"/>
            <a:r>
              <a:rPr lang="en-US" sz="2400" i="0" dirty="0">
                <a:solidFill>
                  <a:srgbClr val="000000"/>
                </a:solidFill>
                <a:effectLst/>
                <a:latin typeface="Cambria" panose="02040503050406030204" pitchFamily="18" charset="0"/>
                <a:ea typeface="Cambria" panose="02040503050406030204" pitchFamily="18" charset="0"/>
              </a:rPr>
              <a:t>Furthermore, the system selects the task with the earliest deadline for execution. If multiple tasks have the same deadline, we select the task with the highest priority.</a:t>
            </a:r>
          </a:p>
          <a:p>
            <a:pPr algn="l"/>
            <a:r>
              <a:rPr lang="en-US" sz="2400" i="0" dirty="0">
                <a:solidFill>
                  <a:srgbClr val="000000"/>
                </a:solidFill>
                <a:effectLst/>
                <a:latin typeface="Cambria" panose="02040503050406030204" pitchFamily="18" charset="0"/>
                <a:ea typeface="Cambria" panose="02040503050406030204" pitchFamily="18" charset="0"/>
              </a:rPr>
              <a:t>Finally, the CPU executes the selected task until completed or the deadline is reached. If the task is completed before its deadline, the system returns to the task prioritization step to select the next task for execution. If the deadline is reached, the task is considered to be missed.</a:t>
            </a:r>
          </a:p>
        </p:txBody>
      </p:sp>
    </p:spTree>
    <p:extLst>
      <p:ext uri="{BB962C8B-B14F-4D97-AF65-F5344CB8AC3E}">
        <p14:creationId xmlns:p14="http://schemas.microsoft.com/office/powerpoint/2010/main" val="56137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F009E-989B-4826-019F-353C340ECE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4C8C6-E479-8CE6-CFE4-8A16F2197FAA}"/>
              </a:ext>
            </a:extLst>
          </p:cNvPr>
          <p:cNvSpPr>
            <a:spLocks noGrp="1"/>
          </p:cNvSpPr>
          <p:nvPr>
            <p:ph idx="1"/>
          </p:nvPr>
        </p:nvSpPr>
        <p:spPr>
          <a:xfrm>
            <a:off x="679173" y="473904"/>
            <a:ext cx="10515600" cy="6014360"/>
          </a:xfrm>
        </p:spPr>
        <p:txBody>
          <a:bodyPr>
            <a:normAutofit/>
          </a:bodyPr>
          <a:lstStyle/>
          <a:p>
            <a:pPr algn="l"/>
            <a:r>
              <a:rPr lang="en-US" b="0" i="0" dirty="0">
                <a:solidFill>
                  <a:srgbClr val="000000"/>
                </a:solidFill>
                <a:effectLst/>
                <a:latin typeface="Cambria" panose="02040503050406030204" pitchFamily="18" charset="0"/>
                <a:ea typeface="Cambria" panose="02040503050406030204" pitchFamily="18" charset="0"/>
              </a:rPr>
              <a:t>Now before the algorithm terminates, we need to check two conditions. </a:t>
            </a:r>
          </a:p>
          <a:p>
            <a:pPr algn="l"/>
            <a:r>
              <a:rPr lang="en-US" b="0" i="0" dirty="0">
                <a:solidFill>
                  <a:srgbClr val="000000"/>
                </a:solidFill>
                <a:effectLst/>
                <a:latin typeface="Cambria" panose="02040503050406030204" pitchFamily="18" charset="0"/>
                <a:ea typeface="Cambria" panose="02040503050406030204" pitchFamily="18" charset="0"/>
              </a:rPr>
              <a:t>First, we need to </a:t>
            </a:r>
            <a:r>
              <a:rPr lang="en-US" b="0" i="0" dirty="0">
                <a:solidFill>
                  <a:srgbClr val="FF0000"/>
                </a:solidFill>
                <a:effectLst/>
                <a:latin typeface="Cambria" panose="02040503050406030204" pitchFamily="18" charset="0"/>
                <a:ea typeface="Cambria" panose="02040503050406030204" pitchFamily="18" charset="0"/>
              </a:rPr>
              <a:t>check whether all the tasks are executed.</a:t>
            </a:r>
          </a:p>
          <a:p>
            <a:pPr algn="l"/>
            <a:r>
              <a:rPr lang="en-US" b="0" i="0" dirty="0">
                <a:solidFill>
                  <a:srgbClr val="000000"/>
                </a:solidFill>
                <a:effectLst/>
                <a:latin typeface="Cambria" panose="02040503050406030204" pitchFamily="18" charset="0"/>
                <a:ea typeface="Cambria" panose="02040503050406030204" pitchFamily="18" charset="0"/>
              </a:rPr>
              <a:t>Additionally, we check if all </a:t>
            </a:r>
            <a:r>
              <a:rPr lang="en-US" b="0" i="0" dirty="0">
                <a:solidFill>
                  <a:srgbClr val="FF0000"/>
                </a:solidFill>
                <a:effectLst/>
                <a:latin typeface="Cambria" panose="02040503050406030204" pitchFamily="18" charset="0"/>
                <a:ea typeface="Cambria" panose="02040503050406030204" pitchFamily="18" charset="0"/>
              </a:rPr>
              <a:t>deadlines have been missed</a:t>
            </a:r>
            <a:r>
              <a:rPr lang="en-US" b="0" i="0" dirty="0">
                <a:solidFill>
                  <a:srgbClr val="000000"/>
                </a:solidFill>
                <a:effectLst/>
                <a:latin typeface="Cambria" panose="02040503050406030204" pitchFamily="18" charset="0"/>
                <a:ea typeface="Cambria" panose="02040503050406030204" pitchFamily="18" charset="0"/>
              </a:rPr>
              <a:t>. If one of these conditions is met, we need to go back to the task prioritization step and repeat the steps until the algorithm terminates.</a:t>
            </a:r>
          </a:p>
          <a:p>
            <a:pPr algn="l"/>
            <a:r>
              <a:rPr lang="en-US" b="0" i="0" dirty="0">
                <a:solidFill>
                  <a:srgbClr val="000000"/>
                </a:solidFill>
                <a:effectLst/>
                <a:latin typeface="Cambria" panose="02040503050406030204" pitchFamily="18" charset="0"/>
                <a:ea typeface="Cambria" panose="02040503050406030204" pitchFamily="18" charset="0"/>
              </a:rPr>
              <a:t>EDF is a dynamic scheduling algorithm where the task priority can change over time as deadlines approach. </a:t>
            </a:r>
          </a:p>
          <a:p>
            <a:pPr algn="l"/>
            <a:r>
              <a:rPr lang="en-US" b="0" i="0" dirty="0">
                <a:solidFill>
                  <a:srgbClr val="000000"/>
                </a:solidFill>
                <a:effectLst/>
                <a:latin typeface="Cambria" panose="02040503050406030204" pitchFamily="18" charset="0"/>
                <a:ea typeface="Cambria" panose="02040503050406030204" pitchFamily="18" charset="0"/>
              </a:rPr>
              <a:t>Hence, the algorithm continually updates the priority of tasks based on their deadlines and selects the task with the earliest deadline for execution. </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34957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CAA66-1E3C-5902-E5B7-515AF76E0639}"/>
              </a:ext>
            </a:extLst>
          </p:cNvPr>
          <p:cNvSpPr>
            <a:spLocks noGrp="1"/>
          </p:cNvSpPr>
          <p:nvPr>
            <p:ph type="title"/>
          </p:nvPr>
        </p:nvSpPr>
        <p:spPr/>
        <p:txBody>
          <a:bodyPr/>
          <a:lstStyle/>
          <a:p>
            <a:r>
              <a:rPr lang="en-IN" dirty="0"/>
              <a:t>.</a:t>
            </a:r>
          </a:p>
        </p:txBody>
      </p:sp>
      <p:pic>
        <p:nvPicPr>
          <p:cNvPr id="5" name="Content Placeholder 4">
            <a:extLst>
              <a:ext uri="{FF2B5EF4-FFF2-40B4-BE49-F238E27FC236}">
                <a16:creationId xmlns:a16="http://schemas.microsoft.com/office/drawing/2014/main" id="{2E58F370-1D0D-34E1-3F5A-7BD2BF900AD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3144" t="3305" r="12036" b="5709"/>
          <a:stretch/>
        </p:blipFill>
        <p:spPr>
          <a:xfrm>
            <a:off x="838200" y="497393"/>
            <a:ext cx="10956214" cy="5995482"/>
          </a:xfrm>
        </p:spPr>
      </p:pic>
    </p:spTree>
    <p:extLst>
      <p:ext uri="{BB962C8B-B14F-4D97-AF65-F5344CB8AC3E}">
        <p14:creationId xmlns:p14="http://schemas.microsoft.com/office/powerpoint/2010/main" val="1356998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762B-0227-6C9C-DBED-6562BC1A766E}"/>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10D4BA5-751C-EDE7-2C90-0E4C743589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9874" y="246490"/>
            <a:ext cx="5348759" cy="7103822"/>
          </a:xfrm>
        </p:spPr>
      </p:pic>
    </p:spTree>
    <p:extLst>
      <p:ext uri="{BB962C8B-B14F-4D97-AF65-F5344CB8AC3E}">
        <p14:creationId xmlns:p14="http://schemas.microsoft.com/office/powerpoint/2010/main" val="266776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7DCE5-4D8B-FD58-0F3F-62461E0CCF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76CC9-DBE3-91C4-7DC1-6F0256AEFD3A}"/>
              </a:ext>
            </a:extLst>
          </p:cNvPr>
          <p:cNvSpPr>
            <a:spLocks noGrp="1"/>
          </p:cNvSpPr>
          <p:nvPr>
            <p:ph idx="1"/>
          </p:nvPr>
        </p:nvSpPr>
        <p:spPr/>
        <p:txBody>
          <a:bodyPr/>
          <a:lstStyle/>
          <a:p>
            <a:r>
              <a:rPr lang="en-US" dirty="0"/>
              <a:t>CPU utilization </a:t>
            </a:r>
          </a:p>
          <a:p>
            <a:pPr lvl="1"/>
            <a:r>
              <a:rPr lang="en-US" dirty="0"/>
              <a:t>Total time availability is 20</a:t>
            </a:r>
          </a:p>
          <a:p>
            <a:pPr lvl="1"/>
            <a:r>
              <a:rPr lang="en-US" dirty="0"/>
              <a:t>P1=1*3=3</a:t>
            </a:r>
          </a:p>
          <a:p>
            <a:pPr lvl="1"/>
            <a:r>
              <a:rPr lang="en-US" dirty="0"/>
              <a:t>P2=4*2=8</a:t>
            </a:r>
          </a:p>
          <a:p>
            <a:pPr lvl="1"/>
            <a:r>
              <a:rPr lang="en-US" dirty="0"/>
              <a:t>P3=2*2=4</a:t>
            </a:r>
          </a:p>
          <a:p>
            <a:pPr lvl="1"/>
            <a:r>
              <a:rPr lang="en-US" dirty="0"/>
              <a:t>Usability is 3+8+4=15</a:t>
            </a:r>
          </a:p>
          <a:p>
            <a:pPr lvl="1"/>
            <a:r>
              <a:rPr lang="en-US" dirty="0"/>
              <a:t>CPU utilization is 15/20=75%</a:t>
            </a:r>
            <a:endParaRPr lang="en-IN" dirty="0"/>
          </a:p>
        </p:txBody>
      </p:sp>
      <p:pic>
        <p:nvPicPr>
          <p:cNvPr id="2" name="Content Placeholder 4">
            <a:extLst>
              <a:ext uri="{FF2B5EF4-FFF2-40B4-BE49-F238E27FC236}">
                <a16:creationId xmlns:a16="http://schemas.microsoft.com/office/drawing/2014/main" id="{7560EF00-1BDE-6D00-58A2-5CEDAFFC8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7502" y="167337"/>
            <a:ext cx="4911680" cy="6523326"/>
          </a:xfrm>
          <a:prstGeom prst="rect">
            <a:avLst/>
          </a:prstGeom>
        </p:spPr>
      </p:pic>
    </p:spTree>
    <p:extLst>
      <p:ext uri="{BB962C8B-B14F-4D97-AF65-F5344CB8AC3E}">
        <p14:creationId xmlns:p14="http://schemas.microsoft.com/office/powerpoint/2010/main" val="3776870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3A567-E9A5-B88E-515B-2B2E02403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7345D-8B4D-D291-AE78-A02060A37DA3}"/>
              </a:ext>
            </a:extLst>
          </p:cNvPr>
          <p:cNvSpPr>
            <a:spLocks noGrp="1"/>
          </p:cNvSpPr>
          <p:nvPr>
            <p:ph type="title"/>
          </p:nvPr>
        </p:nvSpPr>
        <p:spPr>
          <a:xfrm>
            <a:off x="1021080" y="2026948"/>
            <a:ext cx="10515600" cy="1325563"/>
          </a:xfrm>
        </p:spPr>
        <p:txBody>
          <a:bodyPr/>
          <a:lstStyle/>
          <a:p>
            <a:r>
              <a:rPr lang="en-IN" b="1" i="0" dirty="0">
                <a:solidFill>
                  <a:srgbClr val="273239"/>
                </a:solidFill>
                <a:effectLst/>
                <a:latin typeface="Source Sans 3"/>
              </a:rPr>
              <a:t>Rate-monotonic scheduling</a:t>
            </a:r>
            <a:endParaRPr lang="en-IN" dirty="0"/>
          </a:p>
        </p:txBody>
      </p:sp>
    </p:spTree>
    <p:extLst>
      <p:ext uri="{BB962C8B-B14F-4D97-AF65-F5344CB8AC3E}">
        <p14:creationId xmlns:p14="http://schemas.microsoft.com/office/powerpoint/2010/main" val="2671359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899D8-DF60-E628-DFFA-5CEF70319C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2F687-7924-70B9-5089-6B4E4F31B005}"/>
              </a:ext>
            </a:extLst>
          </p:cNvPr>
          <p:cNvSpPr>
            <a:spLocks noGrp="1"/>
          </p:cNvSpPr>
          <p:nvPr>
            <p:ph idx="1"/>
          </p:nvPr>
        </p:nvSpPr>
        <p:spPr>
          <a:xfrm>
            <a:off x="838200" y="437322"/>
            <a:ext cx="10515600" cy="5739641"/>
          </a:xfrm>
        </p:spPr>
        <p:txBody>
          <a:bodyPr/>
          <a:lstStyle/>
          <a:p>
            <a:r>
              <a:rPr lang="en-US" b="1" i="0" dirty="0">
                <a:effectLst/>
                <a:latin typeface="Nunito" pitchFamily="2" charset="0"/>
              </a:rPr>
              <a:t>Rate monotonic scheduling</a:t>
            </a:r>
            <a:r>
              <a:rPr lang="en-US" b="0" i="0" dirty="0">
                <a:effectLst/>
                <a:latin typeface="Nunito" pitchFamily="2" charset="0"/>
              </a:rPr>
              <a:t> is a priority algorithm that belongs to the static priority scheduling category of </a:t>
            </a:r>
            <a:r>
              <a:rPr lang="en-US" b="0" i="0" u="sng" dirty="0">
                <a:effectLst/>
                <a:latin typeface="Nunito" pitchFamily="2" charset="0"/>
                <a:hlinkClick r:id="rId2">
                  <a:extLst>
                    <a:ext uri="{A12FA001-AC4F-418D-AE19-62706E023703}">
                      <ahyp:hlinkClr xmlns:ahyp="http://schemas.microsoft.com/office/drawing/2018/hyperlinkcolor" val="tx"/>
                    </a:ext>
                  </a:extLst>
                </a:hlinkClick>
              </a:rPr>
              <a:t>Real Time Operating Systems</a:t>
            </a:r>
            <a:r>
              <a:rPr lang="en-US" b="0" i="0" u="sng" dirty="0">
                <a:effectLst/>
                <a:latin typeface="Nunito" pitchFamily="2" charset="0"/>
              </a:rPr>
              <a:t>. </a:t>
            </a:r>
          </a:p>
          <a:p>
            <a:r>
              <a:rPr lang="en-US" b="0" i="0" dirty="0">
                <a:effectLst/>
                <a:latin typeface="Nunito" pitchFamily="2" charset="0"/>
              </a:rPr>
              <a:t>It is preemptive in nature. </a:t>
            </a:r>
          </a:p>
          <a:p>
            <a:r>
              <a:rPr lang="en-US" b="0" i="0" dirty="0">
                <a:effectLst/>
                <a:latin typeface="Nunito" pitchFamily="2" charset="0"/>
              </a:rPr>
              <a:t>The </a:t>
            </a:r>
            <a:r>
              <a:rPr lang="en-US" b="0" i="0" dirty="0">
                <a:solidFill>
                  <a:srgbClr val="FF0000"/>
                </a:solidFill>
                <a:effectLst/>
                <a:latin typeface="Nunito" pitchFamily="2" charset="0"/>
              </a:rPr>
              <a:t>priority is decided according to the cycle time </a:t>
            </a:r>
            <a:r>
              <a:rPr lang="en-US" b="0" i="0" dirty="0">
                <a:effectLst/>
                <a:latin typeface="Nunito" pitchFamily="2" charset="0"/>
              </a:rPr>
              <a:t>of the processes that are involved. </a:t>
            </a:r>
          </a:p>
          <a:p>
            <a:r>
              <a:rPr lang="en-US" b="0" i="0" dirty="0">
                <a:effectLst/>
                <a:latin typeface="Nunito" pitchFamily="2" charset="0"/>
              </a:rPr>
              <a:t>If the process has a </a:t>
            </a:r>
            <a:r>
              <a:rPr lang="en-US" b="0" i="0" dirty="0">
                <a:solidFill>
                  <a:srgbClr val="FF0000"/>
                </a:solidFill>
                <a:effectLst/>
                <a:latin typeface="Nunito" pitchFamily="2" charset="0"/>
              </a:rPr>
              <a:t>small job</a:t>
            </a:r>
            <a:r>
              <a:rPr lang="en-US" b="0" i="0" dirty="0">
                <a:effectLst/>
                <a:latin typeface="Nunito" pitchFamily="2" charset="0"/>
              </a:rPr>
              <a:t> duration, then it has the </a:t>
            </a:r>
            <a:r>
              <a:rPr lang="en-US" b="0" i="0" dirty="0">
                <a:solidFill>
                  <a:srgbClr val="FF0000"/>
                </a:solidFill>
                <a:effectLst/>
                <a:latin typeface="Nunito" pitchFamily="2" charset="0"/>
              </a:rPr>
              <a:t>highest priority. </a:t>
            </a:r>
          </a:p>
          <a:p>
            <a:r>
              <a:rPr lang="en-US" b="0" i="0" dirty="0">
                <a:effectLst/>
                <a:latin typeface="Nunito" pitchFamily="2" charset="0"/>
              </a:rPr>
              <a:t>Thus if a process with highest priority starts execution, it will preempt the other running processes. </a:t>
            </a:r>
          </a:p>
          <a:p>
            <a:r>
              <a:rPr lang="en-US" b="0" i="0" dirty="0">
                <a:effectLst/>
                <a:latin typeface="Nunito" pitchFamily="2" charset="0"/>
              </a:rPr>
              <a:t>The priority of a process is inversely proportional to the period it will run for. </a:t>
            </a:r>
            <a:endParaRPr lang="en-IN" dirty="0"/>
          </a:p>
        </p:txBody>
      </p:sp>
    </p:spTree>
    <p:extLst>
      <p:ext uri="{BB962C8B-B14F-4D97-AF65-F5344CB8AC3E}">
        <p14:creationId xmlns:p14="http://schemas.microsoft.com/office/powerpoint/2010/main" val="1520970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BC715-59B3-B083-7EFB-715934FEF0D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6317540-1BC1-EC53-8424-B2931625665D}"/>
              </a:ext>
            </a:extLst>
          </p:cNvPr>
          <p:cNvSpPr>
            <a:spLocks noGrp="1"/>
          </p:cNvSpPr>
          <p:nvPr>
            <p:ph idx="1"/>
          </p:nvPr>
        </p:nvSpPr>
        <p:spPr>
          <a:xfrm>
            <a:off x="838200" y="1857430"/>
            <a:ext cx="10515600" cy="4351338"/>
          </a:xfrm>
        </p:spPr>
        <p:txBody>
          <a:bodyPr/>
          <a:lstStyle/>
          <a:p>
            <a:r>
              <a:rPr lang="en-US" b="0" i="0" dirty="0">
                <a:solidFill>
                  <a:srgbClr val="273239"/>
                </a:solidFill>
                <a:effectLst/>
                <a:latin typeface="Nunito" pitchFamily="2" charset="0"/>
              </a:rPr>
              <a:t>A set of processes can be scheduled only if they satisfy the following equation: </a:t>
            </a:r>
            <a:endParaRPr lang="en-IN" dirty="0"/>
          </a:p>
        </p:txBody>
      </p:sp>
      <p:pic>
        <p:nvPicPr>
          <p:cNvPr id="8" name="Picture 7">
            <a:extLst>
              <a:ext uri="{FF2B5EF4-FFF2-40B4-BE49-F238E27FC236}">
                <a16:creationId xmlns:a16="http://schemas.microsoft.com/office/drawing/2014/main" id="{7F5E7409-67B6-4031-9742-45CDC602C61A}"/>
              </a:ext>
            </a:extLst>
          </p:cNvPr>
          <p:cNvPicPr>
            <a:picLocks noChangeAspect="1"/>
          </p:cNvPicPr>
          <p:nvPr/>
        </p:nvPicPr>
        <p:blipFill>
          <a:blip r:embed="rId2"/>
          <a:stretch>
            <a:fillRect/>
          </a:stretch>
        </p:blipFill>
        <p:spPr>
          <a:xfrm>
            <a:off x="2769662" y="3429000"/>
            <a:ext cx="4219575" cy="1400175"/>
          </a:xfrm>
          <a:prstGeom prst="rect">
            <a:avLst/>
          </a:prstGeom>
        </p:spPr>
      </p:pic>
      <p:sp>
        <p:nvSpPr>
          <p:cNvPr id="10" name="TextBox 9">
            <a:extLst>
              <a:ext uri="{FF2B5EF4-FFF2-40B4-BE49-F238E27FC236}">
                <a16:creationId xmlns:a16="http://schemas.microsoft.com/office/drawing/2014/main" id="{CEB784CE-1299-61C4-3C6B-70DB2D6DB0D8}"/>
              </a:ext>
            </a:extLst>
          </p:cNvPr>
          <p:cNvSpPr txBox="1"/>
          <p:nvPr/>
        </p:nvSpPr>
        <p:spPr>
          <a:xfrm>
            <a:off x="1488881" y="5057306"/>
            <a:ext cx="9627042" cy="646331"/>
          </a:xfrm>
          <a:prstGeom prst="rect">
            <a:avLst/>
          </a:prstGeom>
          <a:noFill/>
        </p:spPr>
        <p:txBody>
          <a:bodyPr wrap="square">
            <a:spAutoFit/>
          </a:bodyPr>
          <a:lstStyle/>
          <a:p>
            <a:r>
              <a:rPr lang="en-US" b="0" i="0" dirty="0">
                <a:solidFill>
                  <a:srgbClr val="273239"/>
                </a:solidFill>
                <a:effectLst/>
                <a:latin typeface="Nunito" pitchFamily="2" charset="0"/>
              </a:rPr>
              <a:t>Where n is the number of processes in the process set, C</a:t>
            </a:r>
            <a:r>
              <a:rPr lang="en-US" b="0" i="0" baseline="-25000" dirty="0">
                <a:solidFill>
                  <a:srgbClr val="273239"/>
                </a:solidFill>
                <a:effectLst/>
                <a:latin typeface="Nunito" pitchFamily="2" charset="0"/>
              </a:rPr>
              <a:t>i</a:t>
            </a:r>
            <a:r>
              <a:rPr lang="en-US" b="0" i="0" dirty="0">
                <a:solidFill>
                  <a:srgbClr val="273239"/>
                </a:solidFill>
                <a:effectLst/>
                <a:latin typeface="Nunito" pitchFamily="2" charset="0"/>
              </a:rPr>
              <a:t> is the computation time of the process, T</a:t>
            </a:r>
            <a:r>
              <a:rPr lang="en-US" b="0" i="0" baseline="-25000" dirty="0">
                <a:solidFill>
                  <a:srgbClr val="273239"/>
                </a:solidFill>
                <a:effectLst/>
                <a:latin typeface="Nunito" pitchFamily="2" charset="0"/>
              </a:rPr>
              <a:t>i</a:t>
            </a:r>
            <a:r>
              <a:rPr lang="en-US" b="0" i="0" dirty="0">
                <a:solidFill>
                  <a:srgbClr val="273239"/>
                </a:solidFill>
                <a:effectLst/>
                <a:latin typeface="Nunito" pitchFamily="2" charset="0"/>
              </a:rPr>
              <a:t> is the Time period for the process to run and U is the processor utilization. </a:t>
            </a:r>
            <a:endParaRPr lang="en-IN" dirty="0"/>
          </a:p>
        </p:txBody>
      </p:sp>
    </p:spTree>
    <p:extLst>
      <p:ext uri="{BB962C8B-B14F-4D97-AF65-F5344CB8AC3E}">
        <p14:creationId xmlns:p14="http://schemas.microsoft.com/office/powerpoint/2010/main" val="2760159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F9899-A812-13CD-33B7-A34D9F785A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51BF29-0E6A-6CD5-DD00-164D0F99C697}"/>
              </a:ext>
            </a:extLst>
          </p:cNvPr>
          <p:cNvSpPr>
            <a:spLocks noGrp="1"/>
          </p:cNvSpPr>
          <p:nvPr>
            <p:ph idx="1"/>
          </p:nvPr>
        </p:nvSpPr>
        <p:spPr>
          <a:xfrm>
            <a:off x="541912" y="365870"/>
            <a:ext cx="12029661" cy="10550180"/>
          </a:xfrm>
        </p:spPr>
        <p:txBody>
          <a:bodyPr/>
          <a:lstStyle/>
          <a:p>
            <a:pPr marL="0" indent="0">
              <a:buNone/>
            </a:pPr>
            <a:r>
              <a:rPr lang="en-US" dirty="0"/>
              <a:t>Example</a:t>
            </a:r>
          </a:p>
          <a:p>
            <a:endParaRPr lang="en-IN" dirty="0"/>
          </a:p>
        </p:txBody>
      </p:sp>
      <p:pic>
        <p:nvPicPr>
          <p:cNvPr id="5" name="Picture 4">
            <a:extLst>
              <a:ext uri="{FF2B5EF4-FFF2-40B4-BE49-F238E27FC236}">
                <a16:creationId xmlns:a16="http://schemas.microsoft.com/office/drawing/2014/main" id="{5B49645F-BBFC-EB60-37B0-77F416470848}"/>
              </a:ext>
            </a:extLst>
          </p:cNvPr>
          <p:cNvPicPr>
            <a:picLocks noChangeAspect="1"/>
          </p:cNvPicPr>
          <p:nvPr/>
        </p:nvPicPr>
        <p:blipFill>
          <a:blip r:embed="rId2"/>
          <a:stretch>
            <a:fillRect/>
          </a:stretch>
        </p:blipFill>
        <p:spPr>
          <a:xfrm>
            <a:off x="670151" y="878990"/>
            <a:ext cx="10067925" cy="2714625"/>
          </a:xfrm>
          <a:prstGeom prst="rect">
            <a:avLst/>
          </a:prstGeom>
        </p:spPr>
      </p:pic>
      <p:sp>
        <p:nvSpPr>
          <p:cNvPr id="6" name="Rectangle 1">
            <a:extLst>
              <a:ext uri="{FF2B5EF4-FFF2-40B4-BE49-F238E27FC236}">
                <a16:creationId xmlns:a16="http://schemas.microsoft.com/office/drawing/2014/main" id="{C8B18FA8-5FBE-5B23-8638-02739EAEAF51}"/>
              </a:ext>
            </a:extLst>
          </p:cNvPr>
          <p:cNvSpPr>
            <a:spLocks noChangeArrowheads="1"/>
          </p:cNvSpPr>
          <p:nvPr/>
        </p:nvSpPr>
        <p:spPr bwMode="auto">
          <a:xfrm>
            <a:off x="5530401" y="4284448"/>
            <a:ext cx="6119687" cy="618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n( 2^1/n - 1 ) = 3 ( 2^1/3 - 1 ) = 0.7977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onsolas" panose="020B0609020204030204" pitchFamily="49" charset="0"/>
              </a:rPr>
              <a:t>U = 3/20 + 2/5 + 2/10 = 0.75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C7A95D7-430E-E3E3-F638-4F26E4CE69E8}"/>
              </a:ext>
            </a:extLst>
          </p:cNvPr>
          <p:cNvSpPr txBox="1"/>
          <p:nvPr/>
        </p:nvSpPr>
        <p:spPr>
          <a:xfrm>
            <a:off x="974035" y="5568800"/>
            <a:ext cx="10531502" cy="923330"/>
          </a:xfrm>
          <a:prstGeom prst="rect">
            <a:avLst/>
          </a:prstGeom>
          <a:noFill/>
        </p:spPr>
        <p:txBody>
          <a:bodyPr wrap="square">
            <a:spAutoFit/>
          </a:bodyPr>
          <a:lstStyle/>
          <a:p>
            <a:r>
              <a:rPr lang="en-US" b="0" i="0" dirty="0">
                <a:solidFill>
                  <a:srgbClr val="273239"/>
                </a:solidFill>
                <a:effectLst/>
                <a:latin typeface="Nunito" pitchFamily="2" charset="0"/>
              </a:rPr>
              <a:t>It is less than 1 or 100% utilization. The combined utilization of three processes is less than the threshold of these processes which means the above set of processes is schedulable and thus satisfies the above equation of the algorithm.</a:t>
            </a:r>
            <a:endParaRPr lang="en-IN" dirty="0"/>
          </a:p>
        </p:txBody>
      </p:sp>
      <p:pic>
        <p:nvPicPr>
          <p:cNvPr id="2" name="Picture 1">
            <a:extLst>
              <a:ext uri="{FF2B5EF4-FFF2-40B4-BE49-F238E27FC236}">
                <a16:creationId xmlns:a16="http://schemas.microsoft.com/office/drawing/2014/main" id="{23E75B2A-F510-F6E2-21DC-158CB14047FB}"/>
              </a:ext>
            </a:extLst>
          </p:cNvPr>
          <p:cNvPicPr>
            <a:picLocks noChangeAspect="1"/>
          </p:cNvPicPr>
          <p:nvPr/>
        </p:nvPicPr>
        <p:blipFill>
          <a:blip r:embed="rId3"/>
          <a:stretch>
            <a:fillRect/>
          </a:stretch>
        </p:blipFill>
        <p:spPr>
          <a:xfrm>
            <a:off x="541912" y="3825377"/>
            <a:ext cx="4779481" cy="1585967"/>
          </a:xfrm>
          <a:prstGeom prst="rect">
            <a:avLst/>
          </a:prstGeom>
        </p:spPr>
      </p:pic>
    </p:spTree>
    <p:extLst>
      <p:ext uri="{BB962C8B-B14F-4D97-AF65-F5344CB8AC3E}">
        <p14:creationId xmlns:p14="http://schemas.microsoft.com/office/powerpoint/2010/main" val="2290290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0E55CE-1810-0391-FE80-49C30121E99D}"/>
              </a:ext>
            </a:extLst>
          </p:cNvPr>
          <p:cNvSpPr>
            <a:spLocks noGrp="1"/>
          </p:cNvSpPr>
          <p:nvPr>
            <p:ph idx="1"/>
          </p:nvPr>
        </p:nvSpPr>
        <p:spPr/>
        <p:txBody>
          <a:bodyPr/>
          <a:lstStyle/>
          <a:p>
            <a:pPr algn="l" fontAlgn="base">
              <a:buFont typeface="+mj-lt"/>
              <a:buAutoNum type="arabicPeriod"/>
            </a:pPr>
            <a:r>
              <a:rPr lang="en-US" b="1" i="0" dirty="0">
                <a:solidFill>
                  <a:srgbClr val="273239"/>
                </a:solidFill>
                <a:effectLst/>
                <a:latin typeface="Nunito" pitchFamily="2" charset="0"/>
              </a:rPr>
              <a:t>Scheduling time –</a:t>
            </a:r>
            <a:r>
              <a:rPr lang="en-US" b="0" i="0" dirty="0">
                <a:solidFill>
                  <a:srgbClr val="273239"/>
                </a:solidFill>
                <a:effectLst/>
                <a:latin typeface="Nunito" pitchFamily="2" charset="0"/>
              </a:rPr>
              <a:t> For calculating the Scheduling time of the algorithm we have to take the LCM of the Time period of all the processes. LCM ( 20, 5, 10 ) of the above example is 20. Thus we can schedule it by 20-time units.</a:t>
            </a:r>
          </a:p>
          <a:p>
            <a:pPr algn="l" fontAlgn="base">
              <a:buFont typeface="+mj-lt"/>
              <a:buAutoNum type="arabicPeriod"/>
            </a:pPr>
            <a:r>
              <a:rPr lang="en-US" b="1" i="0" dirty="0">
                <a:solidFill>
                  <a:srgbClr val="273239"/>
                </a:solidFill>
                <a:effectLst/>
                <a:latin typeface="Nunito" pitchFamily="2" charset="0"/>
              </a:rPr>
              <a:t>Priority –</a:t>
            </a:r>
            <a:r>
              <a:rPr lang="en-US" b="0" i="0" dirty="0">
                <a:solidFill>
                  <a:srgbClr val="273239"/>
                </a:solidFill>
                <a:effectLst/>
                <a:latin typeface="Nunito" pitchFamily="2" charset="0"/>
              </a:rPr>
              <a:t> As discussed above, the priority will be the highest for the process which has the least running time period. Thus P2 will have the highest priority, and after that P3 and lastly P1.</a:t>
            </a:r>
          </a:p>
          <a:p>
            <a:pPr marL="1371600" lvl="3" indent="0" fontAlgn="base">
              <a:buNone/>
            </a:pPr>
            <a:r>
              <a:rPr lang="en-US" b="0" i="0" dirty="0">
                <a:solidFill>
                  <a:srgbClr val="273239"/>
                </a:solidFill>
                <a:effectLst/>
                <a:latin typeface="Nunito" pitchFamily="2" charset="0"/>
              </a:rPr>
              <a:t>P2 &gt; P3 &gt; P1</a:t>
            </a:r>
          </a:p>
          <a:p>
            <a:pPr marL="0" indent="0">
              <a:buNone/>
            </a:pPr>
            <a:endParaRPr lang="en-IN" dirty="0"/>
          </a:p>
        </p:txBody>
      </p:sp>
    </p:spTree>
    <p:extLst>
      <p:ext uri="{BB962C8B-B14F-4D97-AF65-F5344CB8AC3E}">
        <p14:creationId xmlns:p14="http://schemas.microsoft.com/office/powerpoint/2010/main" val="3052427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851A837-6EAB-6C08-5627-8F022B3DFB9B}"/>
              </a:ext>
            </a:extLst>
          </p:cNvPr>
          <p:cNvPicPr>
            <a:picLocks noGrp="1" noChangeAspect="1"/>
          </p:cNvPicPr>
          <p:nvPr>
            <p:ph idx="1"/>
          </p:nvPr>
        </p:nvPicPr>
        <p:blipFill>
          <a:blip r:embed="rId2"/>
          <a:stretch>
            <a:fillRect/>
          </a:stretch>
        </p:blipFill>
        <p:spPr>
          <a:xfrm>
            <a:off x="1166812" y="2205831"/>
            <a:ext cx="9858375" cy="3590925"/>
          </a:xfrm>
        </p:spPr>
      </p:pic>
    </p:spTree>
    <p:extLst>
      <p:ext uri="{BB962C8B-B14F-4D97-AF65-F5344CB8AC3E}">
        <p14:creationId xmlns:p14="http://schemas.microsoft.com/office/powerpoint/2010/main" val="346429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E837C9-642F-1773-63AB-5ED789C01766}"/>
              </a:ext>
            </a:extLst>
          </p:cNvPr>
          <p:cNvSpPr>
            <a:spLocks noGrp="1"/>
          </p:cNvSpPr>
          <p:nvPr>
            <p:ph idx="1"/>
          </p:nvPr>
        </p:nvSpPr>
        <p:spPr>
          <a:xfrm>
            <a:off x="838200" y="469127"/>
            <a:ext cx="10515600" cy="5707836"/>
          </a:xfrm>
        </p:spPr>
        <p:txBody>
          <a:bodyPr/>
          <a:lstStyle/>
          <a:p>
            <a:r>
              <a:rPr lang="en-US" b="0" i="0" dirty="0">
                <a:solidFill>
                  <a:srgbClr val="273239"/>
                </a:solidFill>
                <a:effectLst/>
                <a:latin typeface="Nunito" pitchFamily="2" charset="0"/>
              </a:rPr>
              <a:t>The above figure says that Process P2 will execute two times for every 5 time units, Process P3 will execute two times for every 10 time units and Process P1 will execute three times in 20 time units. This has to be kept in mind for understanding the entire execution of the algorithm below.</a:t>
            </a:r>
            <a:endParaRPr lang="en-IN" dirty="0"/>
          </a:p>
        </p:txBody>
      </p:sp>
      <p:pic>
        <p:nvPicPr>
          <p:cNvPr id="5" name="Picture 4">
            <a:extLst>
              <a:ext uri="{FF2B5EF4-FFF2-40B4-BE49-F238E27FC236}">
                <a16:creationId xmlns:a16="http://schemas.microsoft.com/office/drawing/2014/main" id="{CF8DC290-E0DF-C68A-2DBE-0A5F28F98DE8}"/>
              </a:ext>
            </a:extLst>
          </p:cNvPr>
          <p:cNvPicPr>
            <a:picLocks noChangeAspect="1"/>
          </p:cNvPicPr>
          <p:nvPr/>
        </p:nvPicPr>
        <p:blipFill>
          <a:blip r:embed="rId2"/>
          <a:stretch>
            <a:fillRect/>
          </a:stretch>
        </p:blipFill>
        <p:spPr>
          <a:xfrm>
            <a:off x="847725" y="2867025"/>
            <a:ext cx="10496550" cy="1123950"/>
          </a:xfrm>
          <a:prstGeom prst="rect">
            <a:avLst/>
          </a:prstGeom>
        </p:spPr>
      </p:pic>
    </p:spTree>
    <p:extLst>
      <p:ext uri="{BB962C8B-B14F-4D97-AF65-F5344CB8AC3E}">
        <p14:creationId xmlns:p14="http://schemas.microsoft.com/office/powerpoint/2010/main" val="3303311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B892FD-1D2F-DE79-8283-79D46E559A2D}"/>
              </a:ext>
            </a:extLst>
          </p:cNvPr>
          <p:cNvSpPr>
            <a:spLocks noGrp="1"/>
          </p:cNvSpPr>
          <p:nvPr>
            <p:ph idx="1"/>
          </p:nvPr>
        </p:nvSpPr>
        <p:spPr>
          <a:xfrm>
            <a:off x="838200" y="198782"/>
            <a:ext cx="10515600" cy="6543923"/>
          </a:xfrm>
        </p:spPr>
        <p:txBody>
          <a:bodyPr>
            <a:normAutofit fontScale="77500" lnSpcReduction="20000"/>
          </a:bodyPr>
          <a:lstStyle/>
          <a:p>
            <a:r>
              <a:rPr lang="en-US" b="0" i="0" dirty="0">
                <a:solidFill>
                  <a:srgbClr val="273239"/>
                </a:solidFill>
                <a:effectLst/>
                <a:latin typeface="Nunito" pitchFamily="2" charset="0"/>
              </a:rPr>
              <a:t>Process P2 will run first for 2 time units because it has the highest priority. </a:t>
            </a:r>
          </a:p>
          <a:p>
            <a:r>
              <a:rPr lang="en-US" b="0" i="0" dirty="0">
                <a:solidFill>
                  <a:srgbClr val="273239"/>
                </a:solidFill>
                <a:effectLst/>
                <a:latin typeface="Nunito" pitchFamily="2" charset="0"/>
              </a:rPr>
              <a:t>After completing its two units, P3 will get the chance and thus it will run for 2 time units. </a:t>
            </a:r>
          </a:p>
          <a:p>
            <a:r>
              <a:rPr lang="en-US" b="0" i="0" dirty="0">
                <a:solidFill>
                  <a:srgbClr val="273239"/>
                </a:solidFill>
                <a:effectLst/>
                <a:latin typeface="Nunito" pitchFamily="2" charset="0"/>
              </a:rPr>
              <a:t>As we know that process P2 will run 2 times in the interval of 5 time units and process P3 will run 2 times in the interval of 10 time units, they have fulfilled the criteria and thus now process P1 which has the least priority will get the chance and it will run for 1 time.</a:t>
            </a:r>
          </a:p>
          <a:p>
            <a:r>
              <a:rPr lang="en-US" b="0" i="0" dirty="0">
                <a:solidFill>
                  <a:srgbClr val="273239"/>
                </a:solidFill>
                <a:effectLst/>
                <a:latin typeface="Nunito" pitchFamily="2" charset="0"/>
              </a:rPr>
              <a:t>And here the interval of five time units have completed. </a:t>
            </a:r>
          </a:p>
          <a:p>
            <a:r>
              <a:rPr lang="en-US" b="0" i="0" dirty="0">
                <a:solidFill>
                  <a:srgbClr val="273239"/>
                </a:solidFill>
                <a:effectLst/>
                <a:latin typeface="Nunito" pitchFamily="2" charset="0"/>
              </a:rPr>
              <a:t>Because of its priority P2 will preempt P1 and thus will run 2 times.</a:t>
            </a:r>
          </a:p>
          <a:p>
            <a:r>
              <a:rPr lang="en-US" b="0" i="0" dirty="0">
                <a:solidFill>
                  <a:srgbClr val="273239"/>
                </a:solidFill>
                <a:effectLst/>
                <a:latin typeface="Nunito" pitchFamily="2" charset="0"/>
              </a:rPr>
              <a:t> As P3 have completed its 2 time units for its interval of 10 time units, P1 will get chance and it will run for the remaining 2 times, completing its execution which was thrice in 20 time units. </a:t>
            </a:r>
          </a:p>
          <a:p>
            <a:r>
              <a:rPr lang="en-US" b="0" i="0" dirty="0">
                <a:solidFill>
                  <a:srgbClr val="273239"/>
                </a:solidFill>
                <a:effectLst/>
                <a:latin typeface="Nunito" pitchFamily="2" charset="0"/>
              </a:rPr>
              <a:t>Now 9-10 interval remains idle as no process needs it. </a:t>
            </a:r>
          </a:p>
          <a:p>
            <a:r>
              <a:rPr lang="en-US" b="0" i="0" dirty="0">
                <a:solidFill>
                  <a:srgbClr val="273239"/>
                </a:solidFill>
                <a:effectLst/>
                <a:latin typeface="Nunito" pitchFamily="2" charset="0"/>
              </a:rPr>
              <a:t>At 10 time units, process P2 will run for 2 times completing its criteria for the third interval ( 10-15 ). </a:t>
            </a:r>
          </a:p>
          <a:p>
            <a:r>
              <a:rPr lang="en-US" b="0" i="0" dirty="0">
                <a:solidFill>
                  <a:srgbClr val="273239"/>
                </a:solidFill>
                <a:effectLst/>
                <a:latin typeface="Nunito" pitchFamily="2" charset="0"/>
              </a:rPr>
              <a:t>Process P3 will now run for two times completing its execution. Interval 14-15 will again remain idle for the same reason mentioned above. </a:t>
            </a:r>
          </a:p>
          <a:p>
            <a:r>
              <a:rPr lang="en-US" b="0" i="0" dirty="0">
                <a:solidFill>
                  <a:srgbClr val="273239"/>
                </a:solidFill>
                <a:effectLst/>
                <a:latin typeface="Nunito" pitchFamily="2" charset="0"/>
              </a:rPr>
              <a:t>At 15 time unit, process P2 will execute for two times completing its execution.</a:t>
            </a:r>
          </a:p>
          <a:p>
            <a:r>
              <a:rPr lang="en-US" b="0" i="0" dirty="0">
                <a:solidFill>
                  <a:srgbClr val="273239"/>
                </a:solidFill>
                <a:effectLst/>
                <a:latin typeface="Nunito" pitchFamily="2" charset="0"/>
              </a:rPr>
              <a:t>This is how the rate monotonic scheduling works.</a:t>
            </a:r>
            <a:endParaRPr lang="en-IN" dirty="0"/>
          </a:p>
        </p:txBody>
      </p:sp>
    </p:spTree>
    <p:extLst>
      <p:ext uri="{BB962C8B-B14F-4D97-AF65-F5344CB8AC3E}">
        <p14:creationId xmlns:p14="http://schemas.microsoft.com/office/powerpoint/2010/main" val="224128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320E30-8E83-4788-3947-7C29416985F5}"/>
              </a:ext>
            </a:extLst>
          </p:cNvPr>
          <p:cNvSpPr>
            <a:spLocks noGrp="1"/>
          </p:cNvSpPr>
          <p:nvPr>
            <p:ph idx="1"/>
          </p:nvPr>
        </p:nvSpPr>
        <p:spPr>
          <a:xfrm>
            <a:off x="838200" y="182880"/>
            <a:ext cx="10515600" cy="5994083"/>
          </a:xfrm>
        </p:spPr>
        <p:txBody>
          <a:bodyPr/>
          <a:lstStyle/>
          <a:p>
            <a:r>
              <a:rPr lang="en-US" b="1" i="0" dirty="0">
                <a:solidFill>
                  <a:srgbClr val="273239"/>
                </a:solidFill>
                <a:effectLst/>
                <a:latin typeface="Nunito" pitchFamily="2" charset="0"/>
              </a:rPr>
              <a:t>Conditions:</a:t>
            </a:r>
            <a:r>
              <a:rPr lang="en-US" b="0" i="0" dirty="0">
                <a:solidFill>
                  <a:srgbClr val="273239"/>
                </a:solidFill>
                <a:effectLst/>
                <a:latin typeface="Nunito" pitchFamily="2" charset="0"/>
              </a:rPr>
              <a:t> </a:t>
            </a:r>
          </a:p>
          <a:p>
            <a:pPr marL="0" indent="0">
              <a:buNone/>
            </a:pPr>
            <a:r>
              <a:rPr lang="en-US" dirty="0">
                <a:solidFill>
                  <a:srgbClr val="273239"/>
                </a:solidFill>
                <a:latin typeface="Nunito" pitchFamily="2" charset="0"/>
              </a:rPr>
              <a:t>	</a:t>
            </a:r>
            <a:r>
              <a:rPr lang="en-US" b="0" i="0" dirty="0">
                <a:solidFill>
                  <a:srgbClr val="273239"/>
                </a:solidFill>
                <a:effectLst/>
                <a:latin typeface="Nunito" pitchFamily="2" charset="0"/>
              </a:rPr>
              <a:t>The analysis of Rate monotonic scheduling assumes few properties that every process should possess. They are </a:t>
            </a:r>
          </a:p>
          <a:p>
            <a:pPr algn="just" fontAlgn="base">
              <a:buFont typeface="+mj-lt"/>
              <a:buAutoNum type="arabicPeriod"/>
            </a:pPr>
            <a:r>
              <a:rPr lang="en-US" b="0" i="0" dirty="0">
                <a:solidFill>
                  <a:srgbClr val="273239"/>
                </a:solidFill>
                <a:effectLst/>
                <a:latin typeface="Nunito" pitchFamily="2" charset="0"/>
              </a:rPr>
              <a:t>Processes involved should not share the resources with other processes.</a:t>
            </a:r>
          </a:p>
          <a:p>
            <a:pPr algn="just" fontAlgn="base">
              <a:buFont typeface="+mj-lt"/>
              <a:buAutoNum type="arabicPeriod"/>
            </a:pPr>
            <a:r>
              <a:rPr lang="en-US" b="0" i="0" dirty="0">
                <a:solidFill>
                  <a:srgbClr val="273239"/>
                </a:solidFill>
                <a:effectLst/>
                <a:latin typeface="Nunito" pitchFamily="2" charset="0"/>
              </a:rPr>
              <a:t>Deadlines must be similar to the time periods. Deadlines are deterministic.</a:t>
            </a:r>
          </a:p>
          <a:p>
            <a:pPr algn="just" fontAlgn="base">
              <a:buFont typeface="+mj-lt"/>
              <a:buAutoNum type="arabicPeriod"/>
            </a:pPr>
            <a:r>
              <a:rPr lang="en-US" b="0" i="0" dirty="0">
                <a:solidFill>
                  <a:srgbClr val="273239"/>
                </a:solidFill>
                <a:effectLst/>
                <a:latin typeface="Nunito" pitchFamily="2" charset="0"/>
              </a:rPr>
              <a:t>Process running with highest priority that needs to run, will preempt all the other processes.</a:t>
            </a:r>
          </a:p>
          <a:p>
            <a:pPr algn="just" fontAlgn="base">
              <a:buFont typeface="+mj-lt"/>
              <a:buAutoNum type="arabicPeriod"/>
            </a:pPr>
            <a:r>
              <a:rPr lang="en-US" b="0" i="0" dirty="0">
                <a:solidFill>
                  <a:srgbClr val="273239"/>
                </a:solidFill>
                <a:effectLst/>
                <a:latin typeface="Nunito" pitchFamily="2" charset="0"/>
              </a:rPr>
              <a:t>Priorities must be assigned to all the processes according to the protocol of Rate monotonic scheduling.</a:t>
            </a:r>
          </a:p>
          <a:p>
            <a:pPr marL="0" indent="0">
              <a:buNone/>
            </a:pPr>
            <a:endParaRPr lang="en-IN" dirty="0"/>
          </a:p>
        </p:txBody>
      </p:sp>
    </p:spTree>
    <p:extLst>
      <p:ext uri="{BB962C8B-B14F-4D97-AF65-F5344CB8AC3E}">
        <p14:creationId xmlns:p14="http://schemas.microsoft.com/office/powerpoint/2010/main" val="4281968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623BAB-4462-56DF-A34E-94090073C78B}"/>
              </a:ext>
            </a:extLst>
          </p:cNvPr>
          <p:cNvSpPr>
            <a:spLocks noGrp="1"/>
          </p:cNvSpPr>
          <p:nvPr>
            <p:ph idx="1"/>
          </p:nvPr>
        </p:nvSpPr>
        <p:spPr/>
        <p:txBody>
          <a:bodyPr/>
          <a:lstStyle/>
          <a:p>
            <a:r>
              <a:rPr lang="en-US" dirty="0"/>
              <a:t>CPU utilization </a:t>
            </a:r>
          </a:p>
          <a:p>
            <a:pPr lvl="1"/>
            <a:r>
              <a:rPr lang="en-US" dirty="0"/>
              <a:t>Total time availability is 20</a:t>
            </a:r>
          </a:p>
          <a:p>
            <a:pPr lvl="1"/>
            <a:r>
              <a:rPr lang="en-US" dirty="0"/>
              <a:t>P1=1*3=3</a:t>
            </a:r>
          </a:p>
          <a:p>
            <a:pPr lvl="1"/>
            <a:r>
              <a:rPr lang="en-US" dirty="0"/>
              <a:t>P2=4*2=8</a:t>
            </a:r>
          </a:p>
          <a:p>
            <a:pPr lvl="1"/>
            <a:r>
              <a:rPr lang="en-US" dirty="0"/>
              <a:t>P3=2*2=4</a:t>
            </a:r>
          </a:p>
          <a:p>
            <a:pPr lvl="1"/>
            <a:r>
              <a:rPr lang="en-US" dirty="0"/>
              <a:t>Usability is 3+8+4=15</a:t>
            </a:r>
          </a:p>
          <a:p>
            <a:pPr lvl="1"/>
            <a:r>
              <a:rPr lang="en-US" dirty="0"/>
              <a:t>CPU utilization is 15/20=75%</a:t>
            </a:r>
            <a:endParaRPr lang="en-IN" dirty="0"/>
          </a:p>
          <a:p>
            <a:endParaRPr lang="en-IN" dirty="0"/>
          </a:p>
        </p:txBody>
      </p:sp>
    </p:spTree>
    <p:extLst>
      <p:ext uri="{BB962C8B-B14F-4D97-AF65-F5344CB8AC3E}">
        <p14:creationId xmlns:p14="http://schemas.microsoft.com/office/powerpoint/2010/main" val="399624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TotalTime>
  <Words>1146</Words>
  <Application>Microsoft Office PowerPoint</Application>
  <PresentationFormat>Widescreen</PresentationFormat>
  <Paragraphs>66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vt:lpstr>
      <vt:lpstr>Consolas</vt:lpstr>
      <vt:lpstr>Nunito</vt:lpstr>
      <vt:lpstr>Source Sans 3</vt:lpstr>
      <vt:lpstr>Office Theme</vt:lpstr>
      <vt:lpstr>Earliest Dead Line First Scheduling</vt:lpstr>
      <vt:lpstr>PowerPoint Presentation</vt:lpstr>
      <vt:lpstr>PowerPoint Presentation</vt:lpstr>
      <vt:lpstr>PowerPoint Presentation</vt:lpstr>
      <vt:lpstr>PowerPoint Presentation</vt:lpstr>
      <vt:lpstr>.</vt:lpstr>
      <vt:lpstr>PowerPoint Presentation</vt:lpstr>
      <vt:lpstr>PowerPoint Presentation</vt:lpstr>
      <vt:lpstr>Rate-monotonic scheduling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Earliest Dead Line First Scheduling</dc:title>
  <dc:creator>Thurai Pandian</dc:creator>
  <cp:lastModifiedBy>KOPPERUNDEVI RAJAJI</cp:lastModifiedBy>
  <cp:revision>7</cp:revision>
  <dcterms:created xsi:type="dcterms:W3CDTF">2024-02-20T13:54:37Z</dcterms:created>
  <dcterms:modified xsi:type="dcterms:W3CDTF">2024-02-25T17:38:52Z</dcterms:modified>
</cp:coreProperties>
</file>