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8" r:id="rId23"/>
    <p:sldId id="277"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B8A1BD-3750-440F-AA56-68B2FBB32824}" type="datetimeFigureOut">
              <a:rPr lang="en-IN" smtClean="0"/>
              <a:t>28-04-2024</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3B96D7-997D-431A-97B4-96C0D17EA28D}" type="slidenum">
              <a:rPr lang="en-IN" smtClean="0"/>
              <a:t>‹#›</a:t>
            </a:fld>
            <a:endParaRPr lang="en-IN"/>
          </a:p>
        </p:txBody>
      </p:sp>
    </p:spTree>
    <p:extLst>
      <p:ext uri="{BB962C8B-B14F-4D97-AF65-F5344CB8AC3E}">
        <p14:creationId xmlns:p14="http://schemas.microsoft.com/office/powerpoint/2010/main" val="1141956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affinityvr.com/vr-aid-agriculture-in-future/"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hlinkClick r:id="rId3"/>
              </a:rPr>
              <a:t>https://www.affinityvr.com/vr-aid-agriculture-in-future/</a:t>
            </a:r>
            <a:endParaRPr lang="en-IN" dirty="0"/>
          </a:p>
          <a:p>
            <a:endParaRPr lang="en-IN" dirty="0"/>
          </a:p>
        </p:txBody>
      </p:sp>
      <p:sp>
        <p:nvSpPr>
          <p:cNvPr id="4" name="Slide Number Placeholder 3"/>
          <p:cNvSpPr>
            <a:spLocks noGrp="1"/>
          </p:cNvSpPr>
          <p:nvPr>
            <p:ph type="sldNum" sz="quarter" idx="5"/>
          </p:nvPr>
        </p:nvSpPr>
        <p:spPr/>
        <p:txBody>
          <a:bodyPr/>
          <a:lstStyle/>
          <a:p>
            <a:fld id="{BC3B96D7-997D-431A-97B4-96C0D17EA28D}" type="slidenum">
              <a:rPr lang="en-IN" smtClean="0"/>
              <a:t>22</a:t>
            </a:fld>
            <a:endParaRPr lang="en-IN"/>
          </a:p>
        </p:txBody>
      </p:sp>
    </p:spTree>
    <p:extLst>
      <p:ext uri="{BB962C8B-B14F-4D97-AF65-F5344CB8AC3E}">
        <p14:creationId xmlns:p14="http://schemas.microsoft.com/office/powerpoint/2010/main" val="39511324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4/28/2024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hyperlink" Target="http://dl.ifip.org/db/conf/ifip12/ccta2007-1/Li07.pdf"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agsnap.com/virtual-reality-in-agriculture/"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6F5A962-2B76-A912-B190-4831FACF514E}"/>
              </a:ext>
            </a:extLst>
          </p:cNvPr>
          <p:cNvSpPr txBox="1"/>
          <p:nvPr/>
        </p:nvSpPr>
        <p:spPr>
          <a:xfrm>
            <a:off x="1022555" y="3246792"/>
            <a:ext cx="5835445" cy="646331"/>
          </a:xfrm>
          <a:prstGeom prst="rect">
            <a:avLst/>
          </a:prstGeom>
          <a:noFill/>
        </p:spPr>
        <p:txBody>
          <a:bodyPr wrap="square">
            <a:spAutoFit/>
          </a:bodyPr>
          <a:lstStyle/>
          <a:p>
            <a:pPr algn="l"/>
            <a:r>
              <a:rPr lang="en-IN" sz="3600" b="1" i="0" dirty="0">
                <a:effectLst/>
                <a:highlight>
                  <a:srgbClr val="FFFFFF"/>
                </a:highlight>
                <a:latin typeface="__Source_Sans_3_f93b20"/>
              </a:rPr>
              <a:t>weather monitoring 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weather-monitoiring-systempptx-2-638.jpg"/>
          <p:cNvPicPr>
            <a:picLocks noChangeAspect="1"/>
          </p:cNvPicPr>
          <p:nvPr/>
        </p:nvPicPr>
        <p:blipFill>
          <a:blip r:embed="rId2"/>
          <a:stretch>
            <a:fillRect/>
          </a:stretch>
        </p:blipFill>
        <p:spPr>
          <a:xfrm>
            <a:off x="117987" y="0"/>
            <a:ext cx="9144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3-weather-monitoiring-systempptx-3-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4-weather-monitoiring-systempptx-4-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5-weather-monitoiring-systempptx-5-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6-weather-monitoiring-systempptx-6-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7-weather-monitoiring-systempptx-7-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8-weather-monitoiring-systempptx-8-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9-weather-monitoiring-systempptx-9-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0-weather-monitoiring-systempptx-10-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1-weather-monitoiring-systempptx-11-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2-weather-monitoiring-systempptx-12-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3-weather-monitoiring-systempptx-13-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4-weather-monitoiring-systempptx-14-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5-weather-monitoiring-systempptx-15-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6-weather-monitoiring-systempptx-16-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7-weather-monitoiring-systempptx-17-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8-weather-monitoiring-systempptx-18-638.jpg"/>
          <p:cNvPicPr>
            <a:picLocks noChangeAspect="1"/>
          </p:cNvPicPr>
          <p:nvPr/>
        </p:nvPicPr>
        <p:blipFill>
          <a:blip r:embed="rId2"/>
          <a:stretch>
            <a:fillRect/>
          </a:stretch>
        </p:blipFill>
        <p:spPr>
          <a:xfrm>
            <a:off x="-1288026" y="284693"/>
            <a:ext cx="10668000"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9-weather-monitoiring-systempptx-19-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0-weather-monitoiring-systempptx-20-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1-weather-monitoiring-systempptx-21-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68F84BC-77A1-D347-4BA6-F5345373EFA3}"/>
              </a:ext>
            </a:extLst>
          </p:cNvPr>
          <p:cNvSpPr txBox="1"/>
          <p:nvPr/>
        </p:nvSpPr>
        <p:spPr>
          <a:xfrm>
            <a:off x="0" y="0"/>
            <a:ext cx="9144000" cy="6832640"/>
          </a:xfrm>
          <a:prstGeom prst="rect">
            <a:avLst/>
          </a:prstGeom>
          <a:noFill/>
        </p:spPr>
        <p:txBody>
          <a:bodyPr wrap="square">
            <a:spAutoFit/>
          </a:bodyPr>
          <a:lstStyle/>
          <a:p>
            <a:pPr algn="l" fontAlgn="base"/>
            <a:r>
              <a:rPr lang="en-US" b="1" i="0" dirty="0">
                <a:solidFill>
                  <a:srgbClr val="19232D"/>
                </a:solidFill>
                <a:effectLst/>
                <a:highlight>
                  <a:srgbClr val="FFFFFF"/>
                </a:highlight>
                <a:latin typeface="Open Sans" panose="020B0606030504020204" pitchFamily="34" charset="0"/>
              </a:rPr>
              <a:t>Potential of VR in agriculture</a:t>
            </a:r>
          </a:p>
          <a:p>
            <a:pPr algn="just" fontAlgn="base"/>
            <a:r>
              <a:rPr lang="en-US" sz="1600" b="0" i="0" dirty="0">
                <a:solidFill>
                  <a:srgbClr val="3B3B3B"/>
                </a:solidFill>
                <a:effectLst/>
                <a:highlight>
                  <a:srgbClr val="FFFFFF"/>
                </a:highlight>
                <a:latin typeface="Open Sans" panose="020B0606030504020204" pitchFamily="34" charset="0"/>
              </a:rPr>
              <a:t>VR can solve these problems in a jiffy if its applications are brought in agriculture. VR is cheaper than most of the current agricultural technologies. Furthermore, it doesn’t need a huge technical know-how of its usage. Its simple user interface and great immersive technology is an additional advantage. Overall, VR in agriculture is promising and could improve its practices manifold.</a:t>
            </a:r>
          </a:p>
          <a:p>
            <a:pPr algn="just" fontAlgn="base"/>
            <a:r>
              <a:rPr lang="en-US" sz="1600" b="0" i="1" dirty="0">
                <a:solidFill>
                  <a:srgbClr val="3B3B3B"/>
                </a:solidFill>
                <a:effectLst/>
                <a:highlight>
                  <a:srgbClr val="FFFFFF"/>
                </a:highlight>
                <a:latin typeface="inherit"/>
              </a:rPr>
              <a:t>Let us take a look at some of the applications VR can have in future:</a:t>
            </a:r>
            <a:endParaRPr lang="en-US" sz="1600" b="0" i="0" dirty="0">
              <a:solidFill>
                <a:srgbClr val="3B3B3B"/>
              </a:solidFill>
              <a:effectLst/>
              <a:highlight>
                <a:srgbClr val="FFFFFF"/>
              </a:highlight>
              <a:latin typeface="Open Sans" panose="020B0606030504020204" pitchFamily="34" charset="0"/>
            </a:endParaRPr>
          </a:p>
          <a:p>
            <a:pPr algn="just" fontAlgn="base"/>
            <a:r>
              <a:rPr lang="en-US" sz="1600" b="1" i="0" u="none" strike="noStrike" dirty="0">
                <a:solidFill>
                  <a:srgbClr val="E54E53"/>
                </a:solidFill>
                <a:effectLst/>
                <a:highlight>
                  <a:srgbClr val="FFFFFF"/>
                </a:highlight>
                <a:latin typeface="inherit"/>
                <a:hlinkClick r:id="rId3"/>
              </a:rPr>
              <a:t>Virtual Crops</a:t>
            </a:r>
            <a:endParaRPr lang="en-US" sz="1600" b="1" i="0" dirty="0">
              <a:solidFill>
                <a:srgbClr val="19232D"/>
              </a:solidFill>
              <a:effectLst/>
              <a:highlight>
                <a:srgbClr val="FFFFFF"/>
              </a:highlight>
              <a:latin typeface="Open Sans" panose="020B0606030504020204" pitchFamily="34" charset="0"/>
            </a:endParaRPr>
          </a:p>
          <a:p>
            <a:pPr algn="just" fontAlgn="base"/>
            <a:r>
              <a:rPr lang="en-US" sz="1400" b="0" i="0" dirty="0">
                <a:solidFill>
                  <a:srgbClr val="3B3B3B"/>
                </a:solidFill>
                <a:effectLst/>
                <a:highlight>
                  <a:srgbClr val="FFFFFF"/>
                </a:highlight>
                <a:latin typeface="Open Sans" panose="020B0606030504020204" pitchFamily="34" charset="0"/>
              </a:rPr>
              <a:t>VR can help </a:t>
            </a:r>
            <a:r>
              <a:rPr lang="en-US" sz="1400" b="0" i="0" dirty="0" err="1">
                <a:solidFill>
                  <a:srgbClr val="3B3B3B"/>
                </a:solidFill>
                <a:effectLst/>
                <a:highlight>
                  <a:srgbClr val="FFFFFF"/>
                </a:highlight>
                <a:latin typeface="Open Sans" panose="020B0606030504020204" pitchFamily="34" charset="0"/>
              </a:rPr>
              <a:t>visualise</a:t>
            </a:r>
            <a:r>
              <a:rPr lang="en-US" sz="1400" b="0" i="0" dirty="0">
                <a:solidFill>
                  <a:srgbClr val="3B3B3B"/>
                </a:solidFill>
                <a:effectLst/>
                <a:highlight>
                  <a:srgbClr val="FFFFFF"/>
                </a:highlight>
                <a:latin typeface="Open Sans" panose="020B0606030504020204" pitchFamily="34" charset="0"/>
              </a:rPr>
              <a:t> crop patterns into </a:t>
            </a:r>
            <a:r>
              <a:rPr lang="en-US" sz="1400" b="0" i="0" dirty="0" err="1">
                <a:solidFill>
                  <a:srgbClr val="3B3B3B"/>
                </a:solidFill>
                <a:effectLst/>
                <a:highlight>
                  <a:srgbClr val="FFFFFF"/>
                </a:highlight>
                <a:latin typeface="Open Sans" panose="020B0606030504020204" pitchFamily="34" charset="0"/>
              </a:rPr>
              <a:t>future.Additionally</a:t>
            </a:r>
            <a:r>
              <a:rPr lang="en-US" sz="1400" b="0" i="0" dirty="0">
                <a:solidFill>
                  <a:srgbClr val="3B3B3B"/>
                </a:solidFill>
                <a:effectLst/>
                <a:highlight>
                  <a:srgbClr val="FFFFFF"/>
                </a:highlight>
                <a:latin typeface="Open Sans" panose="020B0606030504020204" pitchFamily="34" charset="0"/>
              </a:rPr>
              <a:t>, it could show crop growth based on weather patterns, practices etc. Researchers can collect data, test and observe the crop growth and suggest changes in practices. This will  help farmers prepare their crops against any unwelcome environmental changes.</a:t>
            </a:r>
          </a:p>
          <a:p>
            <a:pPr algn="just" fontAlgn="base"/>
            <a:r>
              <a:rPr lang="en-US" sz="1400" b="1" i="0" u="none" strike="noStrike" dirty="0">
                <a:solidFill>
                  <a:srgbClr val="E54E53"/>
                </a:solidFill>
                <a:effectLst/>
                <a:highlight>
                  <a:srgbClr val="FFFFFF"/>
                </a:highlight>
                <a:latin typeface="inherit"/>
                <a:hlinkClick r:id="rId4"/>
              </a:rPr>
              <a:t>Virtual crop monitoring:</a:t>
            </a:r>
            <a:endParaRPr lang="en-US" sz="1400" b="1" i="0" dirty="0">
              <a:solidFill>
                <a:srgbClr val="19232D"/>
              </a:solidFill>
              <a:effectLst/>
              <a:highlight>
                <a:srgbClr val="FFFFFF"/>
              </a:highlight>
              <a:latin typeface="Open Sans" panose="020B0606030504020204" pitchFamily="34" charset="0"/>
            </a:endParaRPr>
          </a:p>
          <a:p>
            <a:pPr algn="just" fontAlgn="base"/>
            <a:r>
              <a:rPr lang="en-US" sz="1400" b="0" i="0" dirty="0">
                <a:solidFill>
                  <a:srgbClr val="3B3B3B"/>
                </a:solidFill>
                <a:effectLst/>
                <a:highlight>
                  <a:srgbClr val="FFFFFF"/>
                </a:highlight>
                <a:latin typeface="Open Sans" panose="020B0606030504020204" pitchFamily="34" charset="0"/>
              </a:rPr>
              <a:t>Drones having 360 degree camera can give virtual tours of the crop area. Immersive technology of VR could help farmers monitor the crop. Furthermore they could check damages, keep a tab on the state of crop growth etc.</a:t>
            </a:r>
          </a:p>
          <a:p>
            <a:pPr algn="just" fontAlgn="base"/>
            <a:r>
              <a:rPr lang="en-US" sz="1400" b="1" i="0" dirty="0">
                <a:solidFill>
                  <a:srgbClr val="19232D"/>
                </a:solidFill>
                <a:effectLst/>
                <a:highlight>
                  <a:srgbClr val="FFFFFF"/>
                </a:highlight>
                <a:latin typeface="Open Sans" panose="020B0606030504020204" pitchFamily="34" charset="0"/>
              </a:rPr>
              <a:t>Equipment check-ups</a:t>
            </a:r>
          </a:p>
          <a:p>
            <a:pPr algn="just" fontAlgn="base"/>
            <a:r>
              <a:rPr lang="en-US" sz="1400" b="0" i="0" dirty="0">
                <a:solidFill>
                  <a:srgbClr val="3B3B3B"/>
                </a:solidFill>
                <a:effectLst/>
                <a:highlight>
                  <a:srgbClr val="FFFFFF"/>
                </a:highlight>
                <a:latin typeface="Open Sans" panose="020B0606030504020204" pitchFamily="34" charset="0"/>
              </a:rPr>
              <a:t>Some equipment are complex and dangerous to handle. This makes it difficult for regular maintenance and surveying. Hence, VR could help </a:t>
            </a:r>
            <a:r>
              <a:rPr lang="en-US" sz="1400" b="0" i="0" dirty="0" err="1">
                <a:solidFill>
                  <a:srgbClr val="3B3B3B"/>
                </a:solidFill>
                <a:effectLst/>
                <a:highlight>
                  <a:srgbClr val="FFFFFF"/>
                </a:highlight>
                <a:latin typeface="Open Sans" panose="020B0606030504020204" pitchFamily="34" charset="0"/>
              </a:rPr>
              <a:t>realise</a:t>
            </a:r>
            <a:r>
              <a:rPr lang="en-US" sz="1400" b="0" i="0" dirty="0">
                <a:solidFill>
                  <a:srgbClr val="3B3B3B"/>
                </a:solidFill>
                <a:effectLst/>
                <a:highlight>
                  <a:srgbClr val="FFFFFF"/>
                </a:highlight>
                <a:latin typeface="Open Sans" panose="020B0606030504020204" pitchFamily="34" charset="0"/>
              </a:rPr>
              <a:t> the working of the equipment, and to give an immersive view of its condition and smaller components.</a:t>
            </a:r>
          </a:p>
          <a:p>
            <a:pPr algn="just" fontAlgn="base"/>
            <a:r>
              <a:rPr lang="en-US" sz="1400" b="1" i="0" dirty="0">
                <a:solidFill>
                  <a:srgbClr val="19232D"/>
                </a:solidFill>
                <a:effectLst/>
                <a:highlight>
                  <a:srgbClr val="FFFFFF"/>
                </a:highlight>
                <a:latin typeface="Open Sans" panose="020B0606030504020204" pitchFamily="34" charset="0"/>
              </a:rPr>
              <a:t>Weather forecast</a:t>
            </a:r>
          </a:p>
          <a:p>
            <a:pPr algn="just" fontAlgn="base"/>
            <a:r>
              <a:rPr lang="en-US" sz="1400" b="0" i="0" dirty="0">
                <a:solidFill>
                  <a:srgbClr val="3B3B3B"/>
                </a:solidFill>
                <a:effectLst/>
                <a:highlight>
                  <a:srgbClr val="FFFFFF"/>
                </a:highlight>
                <a:latin typeface="Open Sans" panose="020B0606030504020204" pitchFamily="34" charset="0"/>
              </a:rPr>
              <a:t>VR can step up the weather forecast by giving weather conditions that could stimulate or stunt the crop growth. With satellite technology and readings, farmers and researchers could forecast droughts or floods alongside their effects on the land.</a:t>
            </a:r>
          </a:p>
          <a:p>
            <a:pPr algn="just" fontAlgn="base"/>
            <a:r>
              <a:rPr lang="en-US" sz="1400" b="1" i="0" dirty="0">
                <a:solidFill>
                  <a:srgbClr val="19232D"/>
                </a:solidFill>
                <a:effectLst/>
                <a:highlight>
                  <a:srgbClr val="FFFFFF"/>
                </a:highlight>
                <a:latin typeface="Open Sans" panose="020B0606030504020204" pitchFamily="34" charset="0"/>
              </a:rPr>
              <a:t>Checks on livestock</a:t>
            </a:r>
          </a:p>
          <a:p>
            <a:pPr algn="just" fontAlgn="base"/>
            <a:r>
              <a:rPr lang="en-US" sz="1400" b="0" i="0" dirty="0">
                <a:solidFill>
                  <a:srgbClr val="3B3B3B"/>
                </a:solidFill>
                <a:effectLst/>
                <a:highlight>
                  <a:srgbClr val="FFFFFF"/>
                </a:highlight>
                <a:latin typeface="Open Sans" panose="020B0606030504020204" pitchFamily="34" charset="0"/>
              </a:rPr>
              <a:t>Farmers maintaining livestock over large areas could also benefit from VR. They can keep a check on the health of the livestock, as well as keep a count or see for looming threats. This will benefit a whole different industry in general. Furthermore, VR equipment don’t cost much thus making it more profitable option. There are various other applications which VR could have in agriculture. Agriculture is a huge field, and with increasing potential and development of VR we are going to see a major technological upheaval in the near future.</a:t>
            </a:r>
          </a:p>
        </p:txBody>
      </p:sp>
    </p:spTree>
    <p:extLst>
      <p:ext uri="{BB962C8B-B14F-4D97-AF65-F5344CB8AC3E}">
        <p14:creationId xmlns:p14="http://schemas.microsoft.com/office/powerpoint/2010/main" val="5008402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4C5FCED-7B68-0DEC-E53E-60F306E19555}"/>
              </a:ext>
            </a:extLst>
          </p:cNvPr>
          <p:cNvSpPr txBox="1"/>
          <p:nvPr/>
        </p:nvSpPr>
        <p:spPr>
          <a:xfrm>
            <a:off x="820992" y="1073016"/>
            <a:ext cx="7349613" cy="369332"/>
          </a:xfrm>
          <a:prstGeom prst="rect">
            <a:avLst/>
          </a:prstGeom>
          <a:noFill/>
        </p:spPr>
        <p:txBody>
          <a:bodyPr wrap="square">
            <a:spAutoFit/>
          </a:bodyPr>
          <a:lstStyle/>
          <a:p>
            <a:r>
              <a:rPr lang="en-IN" dirty="0"/>
              <a:t>https://rawe2020.in/wp-content/uploads/2022/10/final-report.pdf</a:t>
            </a:r>
          </a:p>
        </p:txBody>
      </p:sp>
      <p:sp>
        <p:nvSpPr>
          <p:cNvPr id="8" name="TextBox 7">
            <a:extLst>
              <a:ext uri="{FF2B5EF4-FFF2-40B4-BE49-F238E27FC236}">
                <a16:creationId xmlns:a16="http://schemas.microsoft.com/office/drawing/2014/main" id="{76C08A51-8AB6-25E0-A59C-35BA1C302E11}"/>
              </a:ext>
            </a:extLst>
          </p:cNvPr>
          <p:cNvSpPr txBox="1"/>
          <p:nvPr/>
        </p:nvSpPr>
        <p:spPr>
          <a:xfrm>
            <a:off x="958644" y="2389690"/>
            <a:ext cx="7506929" cy="646331"/>
          </a:xfrm>
          <a:prstGeom prst="rect">
            <a:avLst/>
          </a:prstGeom>
          <a:noFill/>
        </p:spPr>
        <p:txBody>
          <a:bodyPr wrap="square">
            <a:spAutoFit/>
          </a:bodyPr>
          <a:lstStyle/>
          <a:p>
            <a:r>
              <a:rPr lang="en-IN" dirty="0"/>
              <a:t>https://www.slideshare.net/RedmondRaminShamshir/digital-agriculture-virtual-reality-agricultural-robotics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TotalTime>
  <Words>422</Words>
  <Application>Microsoft Office PowerPoint</Application>
  <PresentationFormat>On-screen Show (4:3)</PresentationFormat>
  <Paragraphs>18</Paragraphs>
  <Slides>23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__Source_Sans_3_f93b20</vt:lpstr>
      <vt:lpstr>Aptos</vt:lpstr>
      <vt:lpstr>Arial</vt:lpstr>
      <vt:lpstr>Calibri</vt:lpstr>
      <vt:lpstr>inherit</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Dr.D. Ajitha</cp:lastModifiedBy>
  <cp:revision>5</cp:revision>
  <dcterms:created xsi:type="dcterms:W3CDTF">2013-01-27T09:14:16Z</dcterms:created>
  <dcterms:modified xsi:type="dcterms:W3CDTF">2024-04-28T11:48:31Z</dcterms:modified>
  <cp:category/>
</cp:coreProperties>
</file>