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  <a:srgbClr val="33CCFF"/>
    <a:srgbClr val="99FF66"/>
    <a:srgbClr val="99CC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A:\paint.GIF">
            <a:extLst>
              <a:ext uri="{FF2B5EF4-FFF2-40B4-BE49-F238E27FC236}">
                <a16:creationId xmlns:a16="http://schemas.microsoft.com/office/drawing/2014/main" id="{BB485DE2-62BA-5533-4DFE-DA28893456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28800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7721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3886200"/>
            <a:ext cx="6400800" cy="1771650"/>
          </a:xfrm>
        </p:spPr>
        <p:txBody>
          <a:bodyPr/>
          <a:lstStyle>
            <a:lvl1pPr marL="0" indent="0">
              <a:buFont typeface="Monotype Sorts" pitchFamily="2" charset="2"/>
              <a:buNone/>
              <a:defRPr>
                <a:latin typeface="Arial Black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863DB0-4A17-5BD1-721D-369B699E20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11200" y="6229350"/>
            <a:ext cx="1930400" cy="514350"/>
          </a:xfrm>
        </p:spPr>
        <p:txBody>
          <a:bodyPr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FBF20E-864E-8887-F7F2-43D8C7DF11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49600" y="6229350"/>
            <a:ext cx="2844800" cy="514350"/>
          </a:xfrm>
        </p:spPr>
        <p:txBody>
          <a:bodyPr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4814B2-EBAB-2C0D-7C6A-A33AA27CFE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04000" y="6229350"/>
            <a:ext cx="1828800" cy="514350"/>
          </a:xfrm>
        </p:spPr>
        <p:txBody>
          <a:bodyPr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fld id="{F7FB5A96-184E-40AB-B614-32542A6DB5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5779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4140F3-3E0F-BB2E-2C74-D8F08ADD25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Morgan Kaufman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17A5B86-8CAF-F5C8-EDF1-A71D0C5703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</a:t>
            </a:r>
            <a:r>
              <a:rPr lang="en-US" i="1"/>
              <a:t>Computers as Components</a:t>
            </a: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00FE5B4-EC7D-1A08-4B8E-8AA9C89BC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1A264E-52CC-4F92-BABB-7E736DEC238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596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47F8D31-FCB7-AA17-8812-0FD9E70A2C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Morgan Kaufman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0336DF5-6CF1-CC73-91EE-B28251B39A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</a:t>
            </a:r>
            <a:r>
              <a:rPr lang="en-US" i="1"/>
              <a:t>Computers as Components</a:t>
            </a: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39CE7FE-EB94-CA1A-2169-E7824E39B4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8D46D2-D295-4B32-A706-C4CA1292ED9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8430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85950"/>
            <a:ext cx="4013200" cy="4171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2800" y="1885950"/>
            <a:ext cx="4013200" cy="4171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3D685A-9BF2-8722-61A5-68548F00DE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Morgan Kaufman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5ED7DA-57D3-61FE-FD43-92C9BC69CA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</a:t>
            </a:r>
            <a:r>
              <a:rPr lang="en-US" i="1"/>
              <a:t>Computers as Components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B9942F-BC87-403F-7AD0-19263CE260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F86D45-254E-4F9C-8655-98E936C25E1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857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3F7505A-6A5A-0F2B-A1AA-C88E65929C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Morgan Kaufman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12D6470-1595-4127-0C1B-BAFB2AF73B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</a:t>
            </a:r>
            <a:r>
              <a:rPr lang="en-US" i="1"/>
              <a:t>Computers as Components</a:t>
            </a: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503AD5A-4B5E-3452-8DD8-5EA00771E9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04DCD6-CC0C-49AD-9B22-7FFF37FC2F8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6032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314DB47-08B6-E499-21D4-0A5A3177CD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Morgan Kaufman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265F72D-C098-6EB1-357E-EF8905E082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</a:t>
            </a:r>
            <a:r>
              <a:rPr lang="en-US" i="1"/>
              <a:t>Computers as Components</a:t>
            </a: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F226A7A-6CA0-0612-6BA9-FFB7E22012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BEE7A1-D6D1-493D-A8E5-F8F0B830FED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5709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AC6C2AD-A36E-A938-865F-36EB8D1145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Morgan Kaufman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9352E15-3FA6-025F-B1F4-2A6A348892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</a:t>
            </a:r>
            <a:r>
              <a:rPr lang="en-US" i="1"/>
              <a:t>Computers as Components</a:t>
            </a: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71FC6A7-817E-B88E-F8DA-987DCE5BC6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80A87F-67BD-4176-93CD-C1156AE1D00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5458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203EF1-CA36-1001-0836-3E2FF1A0EF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Morgan Kaufman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8E1C59-ED02-DB82-1710-8696263594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</a:t>
            </a:r>
            <a:r>
              <a:rPr lang="en-US" i="1"/>
              <a:t>Computers as Components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1CDC08-AC13-45D7-3CD0-26B9702FA5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7FDFA7-CC0E-4B3C-B5BC-CFE157FBFB7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9044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2A62B7-7267-2324-AA22-B46CF0ECAE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Morgan Kaufman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37C556-B7D4-FE3E-4711-AC9AAF95C9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</a:t>
            </a:r>
            <a:r>
              <a:rPr lang="en-US" i="1"/>
              <a:t>Computers as Components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A50AE4-ED66-DB12-C812-DE21F9A3BF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FD8F76-6DCB-4411-BCEC-E482F8510FE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6365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FAD9D23-47B1-8053-2AD0-CEB57742F1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Morgan Kaufman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8BE24FD-7948-260B-3EE7-AEC0B72F0A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</a:t>
            </a:r>
            <a:r>
              <a:rPr lang="en-US" i="1"/>
              <a:t>Computers as Components</a:t>
            </a: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1CCAB63-54D7-E503-00A9-5779783551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E1CA6A-2A61-4F38-8D47-1D80BF5CAFC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4674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8600" y="228600"/>
            <a:ext cx="2057400" cy="5829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6400" y="228600"/>
            <a:ext cx="6019800" cy="582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B6E047-6D09-6BBF-C5DA-C837123DFF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Morgan Kaufman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8C49E5E-B176-F167-59BC-09C87A0966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</a:t>
            </a:r>
            <a:r>
              <a:rPr lang="en-US" i="1"/>
              <a:t>Computers as Components</a:t>
            </a: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27B14D8-1A9E-21E3-800A-FB9D8467E4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D1EAEF-F211-4DDE-948F-7C31A213A0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8393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885950"/>
            <a:ext cx="8178800" cy="417195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23600B1-5691-E08F-0990-1A38695D76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Morgan Kaufman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2C7E00E-F6D8-66CB-4BFF-957D146CE2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</a:t>
            </a:r>
            <a:r>
              <a:rPr lang="en-US" i="1"/>
              <a:t>Computers as Components</a:t>
            </a: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A0A58B2-7A6D-8984-6350-41CD4D69E5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A53D69-9ACF-4E70-9305-239A6C558E4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8283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650E8EB-0F83-E5D3-2133-A002DA3CAC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819DBFD-EE6D-6D77-C480-410AEE4B6A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85950"/>
            <a:ext cx="8178800" cy="417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D01B7B8E-F899-760B-C975-DC78B69210F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31800" y="622935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solidFill>
                  <a:schemeClr val="bg2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© 2000 Morgan Kaufman</a:t>
            </a: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64A92DCA-DAC2-2C39-AC13-A1A7D7BA014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2935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solidFill>
                  <a:schemeClr val="bg2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Overheads for </a:t>
            </a:r>
            <a:r>
              <a:rPr lang="en-US" i="1"/>
              <a:t>Computers as Components</a:t>
            </a:r>
            <a:endParaRPr lang="en-US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648DAF74-E1FB-F04B-33B4-135FF6C47B2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1000" y="622935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fld id="{AF8539CF-07D4-4E2C-B47E-E63C6DABCE28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2055" name="Picture 7" descr="A:\paint.GIF">
            <a:extLst>
              <a:ext uri="{FF2B5EF4-FFF2-40B4-BE49-F238E27FC236}">
                <a16:creationId xmlns:a16="http://schemas.microsoft.com/office/drawing/2014/main" id="{8EF760EA-AE46-F0F3-78C8-B350DE6EF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314450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Monotype Sorts" pitchFamily="2" charset="2"/>
        <a:buChar char="z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Monotype Sorts" pitchFamily="2" charset="2"/>
        <a:buChar char="y"/>
        <a:defRPr kumimoji="1"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Monotype Sorts" pitchFamily="2" charset="2"/>
        <a:buChar char="x"/>
        <a:defRPr kumimoji="1"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Date Placeholder 3">
            <a:extLst>
              <a:ext uri="{FF2B5EF4-FFF2-40B4-BE49-F238E27FC236}">
                <a16:creationId xmlns:a16="http://schemas.microsoft.com/office/drawing/2014/main" id="{82342E67-3436-63D6-6541-EB5447DDE4E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4099" name="Footer Placeholder 4">
            <a:extLst>
              <a:ext uri="{FF2B5EF4-FFF2-40B4-BE49-F238E27FC236}">
                <a16:creationId xmlns:a16="http://schemas.microsoft.com/office/drawing/2014/main" id="{A5825BF9-2586-2E79-07F7-BF8C56D06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100" name="Rectangle 2">
            <a:extLst>
              <a:ext uri="{FF2B5EF4-FFF2-40B4-BE49-F238E27FC236}">
                <a16:creationId xmlns:a16="http://schemas.microsoft.com/office/drawing/2014/main" id="{F6D657DD-EBDC-52A1-707C-A825AC1F28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CPUs</a:t>
            </a:r>
          </a:p>
        </p:txBody>
      </p:sp>
      <p:sp>
        <p:nvSpPr>
          <p:cNvPr id="4101" name="Rectangle 3">
            <a:extLst>
              <a:ext uri="{FF2B5EF4-FFF2-40B4-BE49-F238E27FC236}">
                <a16:creationId xmlns:a16="http://schemas.microsoft.com/office/drawing/2014/main" id="{BBAE79C0-0A32-E2C7-B7B8-ED2122BC73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Example: data compressor.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Date Placeholder 3">
            <a:extLst>
              <a:ext uri="{FF2B5EF4-FFF2-40B4-BE49-F238E27FC236}">
                <a16:creationId xmlns:a16="http://schemas.microsoft.com/office/drawing/2014/main" id="{AF242977-758A-6288-E431-AC9E777968C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5123" name="Footer Placeholder 4">
            <a:extLst>
              <a:ext uri="{FF2B5EF4-FFF2-40B4-BE49-F238E27FC236}">
                <a16:creationId xmlns:a16="http://schemas.microsoft.com/office/drawing/2014/main" id="{06D415C4-0820-462E-C513-4B9271D04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5124" name="Rectangle 2">
            <a:extLst>
              <a:ext uri="{FF2B5EF4-FFF2-40B4-BE49-F238E27FC236}">
                <a16:creationId xmlns:a16="http://schemas.microsoft.com/office/drawing/2014/main" id="{0DBEC8AE-1784-1024-46BB-8CB9B416DA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Goals</a:t>
            </a:r>
          </a:p>
        </p:txBody>
      </p:sp>
      <p:sp>
        <p:nvSpPr>
          <p:cNvPr id="5125" name="Rectangle 3">
            <a:extLst>
              <a:ext uri="{FF2B5EF4-FFF2-40B4-BE49-F238E27FC236}">
                <a16:creationId xmlns:a16="http://schemas.microsoft.com/office/drawing/2014/main" id="{860E3EA2-3B95-6FFC-FD86-675967E07D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Compress data transmitted over serial line.</a:t>
            </a:r>
          </a:p>
          <a:p>
            <a:pPr lvl="1"/>
            <a:r>
              <a:rPr lang="en-US" altLang="en-US"/>
              <a:t>Receives byte-size input symbols.</a:t>
            </a:r>
          </a:p>
          <a:p>
            <a:pPr lvl="1"/>
            <a:r>
              <a:rPr lang="en-US" altLang="en-US"/>
              <a:t>Produces output symbols packed into bytes.</a:t>
            </a:r>
          </a:p>
          <a:p>
            <a:r>
              <a:rPr lang="en-US" altLang="en-US"/>
              <a:t>Will build software module only 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Date Placeholder 3">
            <a:extLst>
              <a:ext uri="{FF2B5EF4-FFF2-40B4-BE49-F238E27FC236}">
                <a16:creationId xmlns:a16="http://schemas.microsoft.com/office/drawing/2014/main" id="{CF2E7E9F-6B1C-9FF9-309B-97C1B95C909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6147" name="Footer Placeholder 4">
            <a:extLst>
              <a:ext uri="{FF2B5EF4-FFF2-40B4-BE49-F238E27FC236}">
                <a16:creationId xmlns:a16="http://schemas.microsoft.com/office/drawing/2014/main" id="{50F09B18-378F-A9BD-E526-C05AE040A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B2324EF8-07EE-1BFD-DBF3-216FE239A7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Collaboration diagram for compressor</a:t>
            </a:r>
          </a:p>
        </p:txBody>
      </p:sp>
      <p:sp>
        <p:nvSpPr>
          <p:cNvPr id="6149" name="Rectangle 4">
            <a:extLst>
              <a:ext uri="{FF2B5EF4-FFF2-40B4-BE49-F238E27FC236}">
                <a16:creationId xmlns:a16="http://schemas.microsoft.com/office/drawing/2014/main" id="{225FA265-F259-4D86-A641-20488332B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971800"/>
            <a:ext cx="1143000" cy="838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u="sng"/>
              <a:t>:input</a:t>
            </a:r>
          </a:p>
        </p:txBody>
      </p:sp>
      <p:sp>
        <p:nvSpPr>
          <p:cNvPr id="6150" name="Rectangle 5">
            <a:extLst>
              <a:ext uri="{FF2B5EF4-FFF2-40B4-BE49-F238E27FC236}">
                <a16:creationId xmlns:a16="http://schemas.microsoft.com/office/drawing/2014/main" id="{1C797318-16DA-714D-82BC-2E5F5E1B9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971800"/>
            <a:ext cx="2362200" cy="838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u="sng"/>
              <a:t>:data compressor</a:t>
            </a:r>
          </a:p>
        </p:txBody>
      </p:sp>
      <p:sp>
        <p:nvSpPr>
          <p:cNvPr id="6151" name="Rectangle 6">
            <a:extLst>
              <a:ext uri="{FF2B5EF4-FFF2-40B4-BE49-F238E27FC236}">
                <a16:creationId xmlns:a16="http://schemas.microsoft.com/office/drawing/2014/main" id="{16411136-6E77-182A-DAFF-70768A3B2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2971800"/>
            <a:ext cx="1143000" cy="838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u="sng"/>
              <a:t>:output</a:t>
            </a:r>
          </a:p>
        </p:txBody>
      </p:sp>
      <p:sp>
        <p:nvSpPr>
          <p:cNvPr id="6152" name="Line 7">
            <a:extLst>
              <a:ext uri="{FF2B5EF4-FFF2-40B4-BE49-F238E27FC236}">
                <a16:creationId xmlns:a16="http://schemas.microsoft.com/office/drawing/2014/main" id="{5A711D8C-1E4B-DF91-4831-BD6D684DD86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3352800"/>
            <a:ext cx="152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3" name="Line 8">
            <a:extLst>
              <a:ext uri="{FF2B5EF4-FFF2-40B4-BE49-F238E27FC236}">
                <a16:creationId xmlns:a16="http://schemas.microsoft.com/office/drawing/2014/main" id="{52CEA3D0-3092-8E49-3A26-459109E17079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3429000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4" name="Text Box 9">
            <a:extLst>
              <a:ext uri="{FF2B5EF4-FFF2-40B4-BE49-F238E27FC236}">
                <a16:creationId xmlns:a16="http://schemas.microsoft.com/office/drawing/2014/main" id="{6F73C789-4F62-2548-9509-456819020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925" y="2479675"/>
            <a:ext cx="14271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1..n: input</a:t>
            </a:r>
          </a:p>
          <a:p>
            <a:r>
              <a:rPr lang="en-US" altLang="en-US"/>
              <a:t>symbols</a:t>
            </a:r>
          </a:p>
        </p:txBody>
      </p:sp>
      <p:sp>
        <p:nvSpPr>
          <p:cNvPr id="6155" name="Text Box 10">
            <a:extLst>
              <a:ext uri="{FF2B5EF4-FFF2-40B4-BE49-F238E27FC236}">
                <a16:creationId xmlns:a16="http://schemas.microsoft.com/office/drawing/2014/main" id="{6EE86BCC-4CED-0756-D776-36D123D62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2133600"/>
            <a:ext cx="1747838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1..m: packed</a:t>
            </a:r>
          </a:p>
          <a:p>
            <a:r>
              <a:rPr lang="en-US" altLang="en-US"/>
              <a:t>output</a:t>
            </a:r>
          </a:p>
          <a:p>
            <a:r>
              <a:rPr lang="en-US" altLang="en-US"/>
              <a:t>symbols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>
            <a:extLst>
              <a:ext uri="{FF2B5EF4-FFF2-40B4-BE49-F238E27FC236}">
                <a16:creationId xmlns:a16="http://schemas.microsoft.com/office/drawing/2014/main" id="{FC5D9A8C-2321-9097-E02C-31C73B370B4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7171" name="Footer Placeholder 4">
            <a:extLst>
              <a:ext uri="{FF2B5EF4-FFF2-40B4-BE49-F238E27FC236}">
                <a16:creationId xmlns:a16="http://schemas.microsoft.com/office/drawing/2014/main" id="{E878C7F1-C924-E635-4994-8A13EA6B6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F764FFEB-05BD-4F1B-621F-5DC9F729FF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Huffman coding</a:t>
            </a:r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871976BC-1AAC-68DF-F06A-87388532B4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/>
              <a:t>Early statistical text compression algorithm.</a:t>
            </a:r>
          </a:p>
          <a:p>
            <a:r>
              <a:rPr lang="en-US" altLang="en-US" sz="2800"/>
              <a:t>Select non-uniform size codes.</a:t>
            </a:r>
          </a:p>
          <a:p>
            <a:pPr lvl="1"/>
            <a:r>
              <a:rPr lang="en-US" altLang="en-US" sz="2400"/>
              <a:t>Use shorter codes for more common symbols.</a:t>
            </a:r>
          </a:p>
          <a:p>
            <a:pPr lvl="1"/>
            <a:r>
              <a:rPr lang="en-US" altLang="en-US" sz="2400"/>
              <a:t>Use longer codes for less common symbols.</a:t>
            </a:r>
          </a:p>
          <a:p>
            <a:r>
              <a:rPr lang="en-US" altLang="en-US" sz="2800"/>
              <a:t>To allow decoding, codes must have unique prefixes.</a:t>
            </a:r>
          </a:p>
          <a:p>
            <a:pPr lvl="1"/>
            <a:r>
              <a:rPr lang="en-US" altLang="en-US" sz="2400"/>
              <a:t>No code can be a prefix of a longer valid 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Date Placeholder 4">
            <a:extLst>
              <a:ext uri="{FF2B5EF4-FFF2-40B4-BE49-F238E27FC236}">
                <a16:creationId xmlns:a16="http://schemas.microsoft.com/office/drawing/2014/main" id="{20B89C44-DF47-8298-661A-9CF17ECA3D7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v</a:t>
            </a:r>
          </a:p>
        </p:txBody>
      </p:sp>
      <p:sp>
        <p:nvSpPr>
          <p:cNvPr id="8195" name="Footer Placeholder 5">
            <a:extLst>
              <a:ext uri="{FF2B5EF4-FFF2-40B4-BE49-F238E27FC236}">
                <a16:creationId xmlns:a16="http://schemas.microsoft.com/office/drawing/2014/main" id="{A64E4950-3D12-A004-D479-C504D1A94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CFC679CA-9B98-3F36-D515-0C303022F5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Huffman example</a:t>
            </a:r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84CBD135-D061-D497-FD68-B6850C53354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>
                <a:solidFill>
                  <a:srgbClr val="FF0000"/>
                </a:solidFill>
              </a:rPr>
              <a:t>character	P</a:t>
            </a:r>
            <a:endParaRPr lang="en-US" altLang="en-US"/>
          </a:p>
          <a:p>
            <a:pPr>
              <a:buFont typeface="Monotype Sorts" pitchFamily="2" charset="2"/>
              <a:buNone/>
            </a:pPr>
            <a:r>
              <a:rPr lang="en-US" altLang="en-US"/>
              <a:t>a			.45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b			.24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c			.11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d			.08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e			.07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f			.05</a:t>
            </a:r>
          </a:p>
        </p:txBody>
      </p:sp>
      <p:grpSp>
        <p:nvGrpSpPr>
          <p:cNvPr id="2" name="Group 36">
            <a:extLst>
              <a:ext uri="{FF2B5EF4-FFF2-40B4-BE49-F238E27FC236}">
                <a16:creationId xmlns:a16="http://schemas.microsoft.com/office/drawing/2014/main" id="{3BD75EFB-101A-3FA8-C2AF-0A2168D82761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2209800"/>
            <a:ext cx="5386388" cy="1031875"/>
            <a:chOff x="1872" y="1392"/>
            <a:chExt cx="3393" cy="650"/>
          </a:xfrm>
        </p:grpSpPr>
        <p:sp>
          <p:nvSpPr>
            <p:cNvPr id="8220" name="AutoShape 10">
              <a:extLst>
                <a:ext uri="{FF2B5EF4-FFF2-40B4-BE49-F238E27FC236}">
                  <a16:creationId xmlns:a16="http://schemas.microsoft.com/office/drawing/2014/main" id="{25B02608-E50C-0ADE-28CA-0F23EE944A7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464" y="1440"/>
              <a:ext cx="432" cy="336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221" name="Line 24">
              <a:extLst>
                <a:ext uri="{FF2B5EF4-FFF2-40B4-BE49-F238E27FC236}">
                  <a16:creationId xmlns:a16="http://schemas.microsoft.com/office/drawing/2014/main" id="{A6063A2D-F796-0B5A-9909-24A03F783C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680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8222" name="AutoShape 25">
              <a:extLst>
                <a:ext uri="{FF2B5EF4-FFF2-40B4-BE49-F238E27FC236}">
                  <a16:creationId xmlns:a16="http://schemas.microsoft.com/office/drawing/2014/main" id="{7F1BFF0B-187D-A494-6E85-5DFD1A2108A9}"/>
                </a:ext>
              </a:extLst>
            </p:cNvPr>
            <p:cNvCxnSpPr>
              <a:cxnSpLocks noChangeShapeType="1"/>
              <a:stCxn id="8215" idx="0"/>
              <a:endCxn id="8220" idx="2"/>
            </p:cNvCxnSpPr>
            <p:nvPr/>
          </p:nvCxnSpPr>
          <p:spPr bwMode="auto">
            <a:xfrm flipV="1">
              <a:off x="4031" y="1392"/>
              <a:ext cx="480" cy="647"/>
            </a:xfrm>
            <a:prstGeom prst="bentConnector3">
              <a:avLst>
                <a:gd name="adj1" fmla="val 50208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223" name="Line 26">
              <a:extLst>
                <a:ext uri="{FF2B5EF4-FFF2-40B4-BE49-F238E27FC236}">
                  <a16:creationId xmlns:a16="http://schemas.microsoft.com/office/drawing/2014/main" id="{514C1062-21F4-1E47-08A6-8237B9E4EA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163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24" name="Text Box 27">
              <a:extLst>
                <a:ext uri="{FF2B5EF4-FFF2-40B4-BE49-F238E27FC236}">
                  <a16:creationId xmlns:a16="http://schemas.microsoft.com/office/drawing/2014/main" id="{FCE6C80D-BA3D-6A1D-DD6E-C3EBADEE2E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8" y="1754"/>
              <a:ext cx="4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>
                  <a:solidFill>
                    <a:srgbClr val="3366FF"/>
                  </a:solidFill>
                </a:rPr>
                <a:t>P=1</a:t>
              </a:r>
            </a:p>
          </p:txBody>
        </p:sp>
      </p:grpSp>
      <p:grpSp>
        <p:nvGrpSpPr>
          <p:cNvPr id="3" name="Group 35">
            <a:extLst>
              <a:ext uri="{FF2B5EF4-FFF2-40B4-BE49-F238E27FC236}">
                <a16:creationId xmlns:a16="http://schemas.microsoft.com/office/drawing/2014/main" id="{78899EB7-2AA2-D4CD-5D23-7BACBE238DB7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895600"/>
            <a:ext cx="4259263" cy="838200"/>
            <a:chOff x="1968" y="1824"/>
            <a:chExt cx="2683" cy="528"/>
          </a:xfrm>
        </p:grpSpPr>
        <p:sp>
          <p:nvSpPr>
            <p:cNvPr id="8215" name="AutoShape 9">
              <a:extLst>
                <a:ext uri="{FF2B5EF4-FFF2-40B4-BE49-F238E27FC236}">
                  <a16:creationId xmlns:a16="http://schemas.microsoft.com/office/drawing/2014/main" id="{497C792D-BB28-7FC5-2108-B88BA67A771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648" y="1872"/>
              <a:ext cx="432" cy="336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cxnSp>
          <p:nvCxnSpPr>
            <p:cNvPr id="8216" name="AutoShape 19">
              <a:extLst>
                <a:ext uri="{FF2B5EF4-FFF2-40B4-BE49-F238E27FC236}">
                  <a16:creationId xmlns:a16="http://schemas.microsoft.com/office/drawing/2014/main" id="{7A9D084B-63E8-74D3-1B26-ED4DA060DAD5}"/>
                </a:ext>
              </a:extLst>
            </p:cNvPr>
            <p:cNvCxnSpPr>
              <a:cxnSpLocks noChangeShapeType="1"/>
              <a:stCxn id="8211" idx="0"/>
              <a:endCxn id="8215" idx="2"/>
            </p:cNvCxnSpPr>
            <p:nvPr/>
          </p:nvCxnSpPr>
          <p:spPr bwMode="auto">
            <a:xfrm flipV="1">
              <a:off x="3263" y="1824"/>
              <a:ext cx="432" cy="455"/>
            </a:xfrm>
            <a:prstGeom prst="bentConnector3">
              <a:avLst>
                <a:gd name="adj1" fmla="val 50231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217" name="Line 21">
              <a:extLst>
                <a:ext uri="{FF2B5EF4-FFF2-40B4-BE49-F238E27FC236}">
                  <a16:creationId xmlns:a16="http://schemas.microsoft.com/office/drawing/2014/main" id="{079BF680-9C40-BB49-BBF0-ACE885D746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1968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8" name="Line 23">
              <a:extLst>
                <a:ext uri="{FF2B5EF4-FFF2-40B4-BE49-F238E27FC236}">
                  <a16:creationId xmlns:a16="http://schemas.microsoft.com/office/drawing/2014/main" id="{161E1792-6F5C-FABD-E58E-D5EB8A1D0D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968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9" name="Text Box 28">
              <a:extLst>
                <a:ext uri="{FF2B5EF4-FFF2-40B4-BE49-F238E27FC236}">
                  <a16:creationId xmlns:a16="http://schemas.microsoft.com/office/drawing/2014/main" id="{FA6A6C1D-938C-A283-8B7D-9AC4D771FE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2064"/>
              <a:ext cx="57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>
                  <a:solidFill>
                    <a:srgbClr val="3366FF"/>
                  </a:solidFill>
                </a:rPr>
                <a:t>P=.55</a:t>
              </a:r>
            </a:p>
          </p:txBody>
        </p:sp>
      </p:grpSp>
      <p:grpSp>
        <p:nvGrpSpPr>
          <p:cNvPr id="4" name="Group 34">
            <a:extLst>
              <a:ext uri="{FF2B5EF4-FFF2-40B4-BE49-F238E27FC236}">
                <a16:creationId xmlns:a16="http://schemas.microsoft.com/office/drawing/2014/main" id="{16C9BC9C-C0A6-A29C-45E1-BD9756D83D27}"/>
              </a:ext>
            </a:extLst>
          </p:cNvPr>
          <p:cNvGrpSpPr>
            <a:grpSpLocks/>
          </p:cNvGrpSpPr>
          <p:nvPr/>
        </p:nvGrpSpPr>
        <p:grpSpPr bwMode="auto">
          <a:xfrm>
            <a:off x="3884613" y="3276600"/>
            <a:ext cx="2127250" cy="1712913"/>
            <a:chOff x="2447" y="2064"/>
            <a:chExt cx="1340" cy="1079"/>
          </a:xfrm>
        </p:grpSpPr>
        <p:sp>
          <p:nvSpPr>
            <p:cNvPr id="8211" name="AutoShape 8">
              <a:extLst>
                <a:ext uri="{FF2B5EF4-FFF2-40B4-BE49-F238E27FC236}">
                  <a16:creationId xmlns:a16="http://schemas.microsoft.com/office/drawing/2014/main" id="{55B393FF-5FF4-A6A1-1FEA-3BBAFCDFF39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880" y="2112"/>
              <a:ext cx="432" cy="336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cxnSp>
          <p:nvCxnSpPr>
            <p:cNvPr id="8212" name="AutoShape 16">
              <a:extLst>
                <a:ext uri="{FF2B5EF4-FFF2-40B4-BE49-F238E27FC236}">
                  <a16:creationId xmlns:a16="http://schemas.microsoft.com/office/drawing/2014/main" id="{A501B130-FCCD-FBE6-13AF-4A38DD89BBE4}"/>
                </a:ext>
              </a:extLst>
            </p:cNvPr>
            <p:cNvCxnSpPr>
              <a:cxnSpLocks noChangeShapeType="1"/>
              <a:stCxn id="8203" idx="0"/>
              <a:endCxn id="8211" idx="4"/>
            </p:cNvCxnSpPr>
            <p:nvPr/>
          </p:nvCxnSpPr>
          <p:spPr bwMode="auto">
            <a:xfrm flipV="1">
              <a:off x="2447" y="2495"/>
              <a:ext cx="480" cy="648"/>
            </a:xfrm>
            <a:prstGeom prst="bentConnector3">
              <a:avLst>
                <a:gd name="adj1" fmla="val 50208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13" name="AutoShape 17">
              <a:extLst>
                <a:ext uri="{FF2B5EF4-FFF2-40B4-BE49-F238E27FC236}">
                  <a16:creationId xmlns:a16="http://schemas.microsoft.com/office/drawing/2014/main" id="{BB5D7EDB-5A4C-5612-45F0-178B344D2489}"/>
                </a:ext>
              </a:extLst>
            </p:cNvPr>
            <p:cNvCxnSpPr>
              <a:cxnSpLocks noChangeShapeType="1"/>
              <a:stCxn id="8207" idx="0"/>
              <a:endCxn id="8211" idx="2"/>
            </p:cNvCxnSpPr>
            <p:nvPr/>
          </p:nvCxnSpPr>
          <p:spPr bwMode="auto">
            <a:xfrm flipV="1">
              <a:off x="2447" y="2064"/>
              <a:ext cx="480" cy="455"/>
            </a:xfrm>
            <a:prstGeom prst="bentConnector3">
              <a:avLst>
                <a:gd name="adj1" fmla="val 50208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214" name="Text Box 29">
              <a:extLst>
                <a:ext uri="{FF2B5EF4-FFF2-40B4-BE49-F238E27FC236}">
                  <a16:creationId xmlns:a16="http://schemas.microsoft.com/office/drawing/2014/main" id="{AD96278C-B0AE-1393-FF0A-5B2A0B6BFA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400"/>
              <a:ext cx="57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>
                  <a:solidFill>
                    <a:srgbClr val="3366FF"/>
                  </a:solidFill>
                </a:rPr>
                <a:t>P=.31</a:t>
              </a:r>
            </a:p>
          </p:txBody>
        </p:sp>
      </p:grpSp>
      <p:grpSp>
        <p:nvGrpSpPr>
          <p:cNvPr id="5" name="Group 33">
            <a:extLst>
              <a:ext uri="{FF2B5EF4-FFF2-40B4-BE49-F238E27FC236}">
                <a16:creationId xmlns:a16="http://schemas.microsoft.com/office/drawing/2014/main" id="{BEE69750-3C7E-DE1C-35D4-D2C80862BA19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3657600"/>
            <a:ext cx="1363663" cy="914400"/>
            <a:chOff x="1920" y="2304"/>
            <a:chExt cx="859" cy="576"/>
          </a:xfrm>
        </p:grpSpPr>
        <p:sp>
          <p:nvSpPr>
            <p:cNvPr id="8207" name="AutoShape 7">
              <a:extLst>
                <a:ext uri="{FF2B5EF4-FFF2-40B4-BE49-F238E27FC236}">
                  <a16:creationId xmlns:a16="http://schemas.microsoft.com/office/drawing/2014/main" id="{A3864685-9F87-BF56-390B-31A1D05EC5E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064" y="2352"/>
              <a:ext cx="432" cy="336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208" name="Line 13">
              <a:extLst>
                <a:ext uri="{FF2B5EF4-FFF2-40B4-BE49-F238E27FC236}">
                  <a16:creationId xmlns:a16="http://schemas.microsoft.com/office/drawing/2014/main" id="{A13F6115-7E9D-3308-82F2-82143EEDF8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68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9" name="Line 15">
              <a:extLst>
                <a:ext uri="{FF2B5EF4-FFF2-40B4-BE49-F238E27FC236}">
                  <a16:creationId xmlns:a16="http://schemas.microsoft.com/office/drawing/2014/main" id="{DBBEC3ED-B1D9-6078-66A0-6E817BF6B9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35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0" name="Text Box 30">
              <a:extLst>
                <a:ext uri="{FF2B5EF4-FFF2-40B4-BE49-F238E27FC236}">
                  <a16:creationId xmlns:a16="http://schemas.microsoft.com/office/drawing/2014/main" id="{8A3E3C17-482F-1B57-BA8A-7E9FA3577D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2592"/>
              <a:ext cx="57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>
                  <a:solidFill>
                    <a:srgbClr val="3366FF"/>
                  </a:solidFill>
                </a:rPr>
                <a:t>P=.19</a:t>
              </a:r>
            </a:p>
          </p:txBody>
        </p:sp>
      </p:grpSp>
      <p:grpSp>
        <p:nvGrpSpPr>
          <p:cNvPr id="6" name="Group 32">
            <a:extLst>
              <a:ext uri="{FF2B5EF4-FFF2-40B4-BE49-F238E27FC236}">
                <a16:creationId xmlns:a16="http://schemas.microsoft.com/office/drawing/2014/main" id="{D660B2E1-EF78-8FD9-DE03-4DB199FAE5C6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4648200"/>
            <a:ext cx="1363663" cy="990600"/>
            <a:chOff x="1920" y="2928"/>
            <a:chExt cx="859" cy="624"/>
          </a:xfrm>
        </p:grpSpPr>
        <p:sp>
          <p:nvSpPr>
            <p:cNvPr id="8203" name="AutoShape 6">
              <a:extLst>
                <a:ext uri="{FF2B5EF4-FFF2-40B4-BE49-F238E27FC236}">
                  <a16:creationId xmlns:a16="http://schemas.microsoft.com/office/drawing/2014/main" id="{1BF7A53F-E915-2381-C3C5-9068587B19D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064" y="2976"/>
              <a:ext cx="432" cy="336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204" name="Line 11">
              <a:extLst>
                <a:ext uri="{FF2B5EF4-FFF2-40B4-BE49-F238E27FC236}">
                  <a16:creationId xmlns:a16="http://schemas.microsoft.com/office/drawing/2014/main" id="{B1E4D8A7-5759-5A7C-2EAC-45D49A0AD2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331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5" name="Line 12">
              <a:extLst>
                <a:ext uri="{FF2B5EF4-FFF2-40B4-BE49-F238E27FC236}">
                  <a16:creationId xmlns:a16="http://schemas.microsoft.com/office/drawing/2014/main" id="{5BD27019-1578-1663-4964-041D225879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97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6" name="Text Box 31">
              <a:extLst>
                <a:ext uri="{FF2B5EF4-FFF2-40B4-BE49-F238E27FC236}">
                  <a16:creationId xmlns:a16="http://schemas.microsoft.com/office/drawing/2014/main" id="{B6078EE8-E72E-BE0E-F682-BF553B259C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3264"/>
              <a:ext cx="57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>
                  <a:solidFill>
                    <a:srgbClr val="3366FF"/>
                  </a:solidFill>
                </a:rPr>
                <a:t>P=.12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Date Placeholder 3">
            <a:extLst>
              <a:ext uri="{FF2B5EF4-FFF2-40B4-BE49-F238E27FC236}">
                <a16:creationId xmlns:a16="http://schemas.microsoft.com/office/drawing/2014/main" id="{4B76B929-9659-B523-FE80-669637C132A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9219" name="Footer Placeholder 4">
            <a:extLst>
              <a:ext uri="{FF2B5EF4-FFF2-40B4-BE49-F238E27FC236}">
                <a16:creationId xmlns:a16="http://schemas.microsoft.com/office/drawing/2014/main" id="{98747DF8-3219-F304-4CFA-66DB10265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2936A521-911E-26F1-2F27-152D25A822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Huffman code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7AA841C0-702C-2260-BEA1-A4764BEA91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Read code from root to leaves: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	</a:t>
            </a:r>
            <a:r>
              <a:rPr lang="en-US" altLang="en-US">
                <a:solidFill>
                  <a:srgbClr val="FF0000"/>
                </a:solidFill>
              </a:rPr>
              <a:t>a		</a:t>
            </a:r>
            <a:r>
              <a:rPr lang="en-US" altLang="en-US"/>
              <a:t>1</a:t>
            </a:r>
          </a:p>
          <a:p>
            <a:pPr>
              <a:buFont typeface="Monotype Sorts" pitchFamily="2" charset="2"/>
              <a:buNone/>
            </a:pPr>
            <a:r>
              <a:rPr lang="en-US" altLang="en-US">
                <a:solidFill>
                  <a:srgbClr val="FF0000"/>
                </a:solidFill>
              </a:rPr>
              <a:t>	b		</a:t>
            </a:r>
            <a:r>
              <a:rPr lang="en-US" altLang="en-US"/>
              <a:t>01</a:t>
            </a:r>
            <a:endParaRPr lang="en-US" altLang="en-US">
              <a:solidFill>
                <a:srgbClr val="FF0000"/>
              </a:solidFill>
            </a:endParaRPr>
          </a:p>
          <a:p>
            <a:pPr>
              <a:buFont typeface="Monotype Sorts" pitchFamily="2" charset="2"/>
              <a:buNone/>
            </a:pPr>
            <a:r>
              <a:rPr lang="en-US" altLang="en-US">
                <a:solidFill>
                  <a:srgbClr val="FF0000"/>
                </a:solidFill>
              </a:rPr>
              <a:t>	c		</a:t>
            </a:r>
            <a:r>
              <a:rPr lang="en-US" altLang="en-US"/>
              <a:t>0000</a:t>
            </a:r>
            <a:endParaRPr lang="en-US" altLang="en-US">
              <a:solidFill>
                <a:srgbClr val="FF0000"/>
              </a:solidFill>
            </a:endParaRPr>
          </a:p>
          <a:p>
            <a:pPr>
              <a:buFont typeface="Monotype Sorts" pitchFamily="2" charset="2"/>
              <a:buNone/>
            </a:pPr>
            <a:r>
              <a:rPr lang="en-US" altLang="en-US">
                <a:solidFill>
                  <a:srgbClr val="FF0000"/>
                </a:solidFill>
              </a:rPr>
              <a:t>	d		</a:t>
            </a:r>
            <a:r>
              <a:rPr lang="en-US" altLang="en-US"/>
              <a:t>0001</a:t>
            </a:r>
            <a:endParaRPr lang="en-US" altLang="en-US">
              <a:solidFill>
                <a:srgbClr val="FF0000"/>
              </a:solidFill>
            </a:endParaRPr>
          </a:p>
          <a:p>
            <a:pPr>
              <a:buFont typeface="Monotype Sorts" pitchFamily="2" charset="2"/>
              <a:buNone/>
            </a:pPr>
            <a:r>
              <a:rPr lang="en-US" altLang="en-US">
                <a:solidFill>
                  <a:srgbClr val="FF0000"/>
                </a:solidFill>
              </a:rPr>
              <a:t>	e		</a:t>
            </a:r>
            <a:r>
              <a:rPr lang="en-US" altLang="en-US"/>
              <a:t>0010</a:t>
            </a:r>
            <a:endParaRPr lang="en-US" altLang="en-US">
              <a:solidFill>
                <a:srgbClr val="FF0000"/>
              </a:solidFill>
            </a:endParaRPr>
          </a:p>
          <a:p>
            <a:pPr>
              <a:buFont typeface="Monotype Sorts" pitchFamily="2" charset="2"/>
              <a:buNone/>
            </a:pPr>
            <a:r>
              <a:rPr lang="en-US" altLang="en-US">
                <a:solidFill>
                  <a:srgbClr val="FF0000"/>
                </a:solidFill>
              </a:rPr>
              <a:t>	f		</a:t>
            </a:r>
            <a:r>
              <a:rPr lang="en-US" altLang="en-US"/>
              <a:t>0011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 bldLvl="2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Date Placeholder 3">
            <a:extLst>
              <a:ext uri="{FF2B5EF4-FFF2-40B4-BE49-F238E27FC236}">
                <a16:creationId xmlns:a16="http://schemas.microsoft.com/office/drawing/2014/main" id="{1510E1AB-6CA4-280E-0D52-17FC5DB4CB3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1028" name="Footer Placeholder 4">
            <a:extLst>
              <a:ext uri="{FF2B5EF4-FFF2-40B4-BE49-F238E27FC236}">
                <a16:creationId xmlns:a16="http://schemas.microsoft.com/office/drawing/2014/main" id="{10C393B1-5D99-D165-94CC-0FE173DA8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029" name="Rectangle 2">
            <a:extLst>
              <a:ext uri="{FF2B5EF4-FFF2-40B4-BE49-F238E27FC236}">
                <a16:creationId xmlns:a16="http://schemas.microsoft.com/office/drawing/2014/main" id="{F8CD47D3-D6E9-4DC7-AE7C-7A5B226B8F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Huffman coder requirements table</a:t>
            </a:r>
          </a:p>
        </p:txBody>
      </p:sp>
      <p:graphicFrame>
        <p:nvGraphicFramePr>
          <p:cNvPr id="1026" name="Object 3">
            <a:extLst>
              <a:ext uri="{FF2B5EF4-FFF2-40B4-BE49-F238E27FC236}">
                <a16:creationId xmlns:a16="http://schemas.microsoft.com/office/drawing/2014/main" id="{8502C854-3158-DEEC-9FC8-3FAB469DAC97}"/>
              </a:ext>
            </a:extLst>
          </p:cNvPr>
          <p:cNvGraphicFramePr>
            <a:graphicFrameLocks noGrp="1" noChangeAspect="1"/>
          </p:cNvGraphicFramePr>
          <p:nvPr>
            <p:ph type="tbl" idx="1"/>
          </p:nvPr>
        </p:nvGraphicFramePr>
        <p:xfrm>
          <a:off x="1473200" y="1885950"/>
          <a:ext cx="6145213" cy="417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Document" r:id="rId3" imgW="8319240" imgH="5649120" progId="Word.Document.8">
                  <p:embed/>
                </p:oleObj>
              </mc:Choice>
              <mc:Fallback>
                <p:oleObj name="Document" r:id="rId3" imgW="8319240" imgH="5649120" progId="Word.Document.8">
                  <p:embed/>
                  <p:pic>
                    <p:nvPicPr>
                      <p:cNvPr id="1026" name="Object 3">
                        <a:extLst>
                          <a:ext uri="{FF2B5EF4-FFF2-40B4-BE49-F238E27FC236}">
                            <a16:creationId xmlns:a16="http://schemas.microsoft.com/office/drawing/2014/main" id="{8502C854-3158-DEEC-9FC8-3FAB469DAC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3200" y="1885950"/>
                        <a:ext cx="6145213" cy="417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Date Placeholder 3">
            <a:extLst>
              <a:ext uri="{FF2B5EF4-FFF2-40B4-BE49-F238E27FC236}">
                <a16:creationId xmlns:a16="http://schemas.microsoft.com/office/drawing/2014/main" id="{3C894C75-6251-F14F-37B6-1451EE2E8E9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10243" name="Footer Placeholder 4">
            <a:extLst>
              <a:ext uri="{FF2B5EF4-FFF2-40B4-BE49-F238E27FC236}">
                <a16:creationId xmlns:a16="http://schemas.microsoft.com/office/drawing/2014/main" id="{055229BD-BDCE-177E-A3A8-EA498ED52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0244" name="Rectangle 2">
            <a:extLst>
              <a:ext uri="{FF2B5EF4-FFF2-40B4-BE49-F238E27FC236}">
                <a16:creationId xmlns:a16="http://schemas.microsoft.com/office/drawing/2014/main" id="{B098B8C6-7566-A7BB-BF4B-6260760DE6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Building a specification</a:t>
            </a:r>
          </a:p>
        </p:txBody>
      </p:sp>
      <p:sp>
        <p:nvSpPr>
          <p:cNvPr id="10245" name="Rectangle 3">
            <a:extLst>
              <a:ext uri="{FF2B5EF4-FFF2-40B4-BE49-F238E27FC236}">
                <a16:creationId xmlns:a16="http://schemas.microsoft.com/office/drawing/2014/main" id="{53FAD7EC-4867-1E7F-EE19-4085573CC6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Collaboration diagram shows only steady-state input/output.</a:t>
            </a:r>
          </a:p>
          <a:p>
            <a:r>
              <a:rPr lang="en-US" altLang="en-US"/>
              <a:t>A real system must:</a:t>
            </a:r>
          </a:p>
          <a:p>
            <a:pPr lvl="1"/>
            <a:r>
              <a:rPr lang="en-US" altLang="en-US"/>
              <a:t>Accept an encoding table.</a:t>
            </a:r>
          </a:p>
          <a:p>
            <a:pPr lvl="1"/>
            <a:r>
              <a:rPr lang="en-US" altLang="en-US"/>
              <a:t>Allow a system reset that flushes the compression buffer.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Date Placeholder 3">
            <a:extLst>
              <a:ext uri="{FF2B5EF4-FFF2-40B4-BE49-F238E27FC236}">
                <a16:creationId xmlns:a16="http://schemas.microsoft.com/office/drawing/2014/main" id="{75327AF4-40CD-92B1-2F9E-9834A306151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11267" name="Footer Placeholder 4">
            <a:extLst>
              <a:ext uri="{FF2B5EF4-FFF2-40B4-BE49-F238E27FC236}">
                <a16:creationId xmlns:a16="http://schemas.microsoft.com/office/drawing/2014/main" id="{5A2B4F49-0EA2-0CDD-3692-B745ECC5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1268" name="Rectangle 2">
            <a:extLst>
              <a:ext uri="{FF2B5EF4-FFF2-40B4-BE49-F238E27FC236}">
                <a16:creationId xmlns:a16="http://schemas.microsoft.com/office/drawing/2014/main" id="{5249518D-EBE8-A345-EC49-54AB01894B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data-compressor class</a:t>
            </a:r>
          </a:p>
        </p:txBody>
      </p:sp>
      <p:sp>
        <p:nvSpPr>
          <p:cNvPr id="11269" name="Rectangle 4">
            <a:extLst>
              <a:ext uri="{FF2B5EF4-FFF2-40B4-BE49-F238E27FC236}">
                <a16:creationId xmlns:a16="http://schemas.microsoft.com/office/drawing/2014/main" id="{93DE7DF4-2A1C-95B1-1285-EE51E834A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981200"/>
            <a:ext cx="3124200" cy="533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u="sng"/>
              <a:t>data-compressor</a:t>
            </a:r>
            <a:endParaRPr lang="en-US" altLang="en-US"/>
          </a:p>
        </p:txBody>
      </p:sp>
      <p:sp>
        <p:nvSpPr>
          <p:cNvPr id="11270" name="Rectangle 5">
            <a:extLst>
              <a:ext uri="{FF2B5EF4-FFF2-40B4-BE49-F238E27FC236}">
                <a16:creationId xmlns:a16="http://schemas.microsoft.com/office/drawing/2014/main" id="{BA9453E2-2C52-C741-B14F-2DCED3573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2514600"/>
            <a:ext cx="3124200" cy="1371600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buffer: data-buffer</a:t>
            </a:r>
          </a:p>
          <a:p>
            <a:r>
              <a:rPr lang="en-US" altLang="en-US"/>
              <a:t>table: symbol-table</a:t>
            </a:r>
          </a:p>
          <a:p>
            <a:r>
              <a:rPr lang="en-US" altLang="en-US"/>
              <a:t>current-bit: integer</a:t>
            </a:r>
          </a:p>
        </p:txBody>
      </p:sp>
      <p:sp>
        <p:nvSpPr>
          <p:cNvPr id="11271" name="Rectangle 6">
            <a:extLst>
              <a:ext uri="{FF2B5EF4-FFF2-40B4-BE49-F238E27FC236}">
                <a16:creationId xmlns:a16="http://schemas.microsoft.com/office/drawing/2014/main" id="{E9B68AEF-3812-B386-0133-11A455361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886200"/>
            <a:ext cx="3124200" cy="1752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encode(): boolean,</a:t>
            </a:r>
          </a:p>
          <a:p>
            <a:r>
              <a:rPr lang="en-US" altLang="en-US"/>
              <a:t>	data-buffer</a:t>
            </a:r>
          </a:p>
          <a:p>
            <a:r>
              <a:rPr lang="en-US" altLang="en-US"/>
              <a:t>flush()</a:t>
            </a:r>
          </a:p>
          <a:p>
            <a:r>
              <a:rPr lang="en-US" altLang="en-US"/>
              <a:t>new-symbol-table()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Date Placeholder 3">
            <a:extLst>
              <a:ext uri="{FF2B5EF4-FFF2-40B4-BE49-F238E27FC236}">
                <a16:creationId xmlns:a16="http://schemas.microsoft.com/office/drawing/2014/main" id="{676BE113-5882-5A3E-EB14-3775F96096B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12291" name="Footer Placeholder 4">
            <a:extLst>
              <a:ext uri="{FF2B5EF4-FFF2-40B4-BE49-F238E27FC236}">
                <a16:creationId xmlns:a16="http://schemas.microsoft.com/office/drawing/2014/main" id="{8F75C0A9-24C7-B5E4-20EB-080173B5B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2292" name="Rectangle 2">
            <a:extLst>
              <a:ext uri="{FF2B5EF4-FFF2-40B4-BE49-F238E27FC236}">
                <a16:creationId xmlns:a16="http://schemas.microsoft.com/office/drawing/2014/main" id="{0C7614DA-A75A-2BA6-1ED6-2E59A13C3D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data-compressor behaviors</a:t>
            </a:r>
          </a:p>
        </p:txBody>
      </p:sp>
      <p:sp>
        <p:nvSpPr>
          <p:cNvPr id="12293" name="Rectangle 3">
            <a:extLst>
              <a:ext uri="{FF2B5EF4-FFF2-40B4-BE49-F238E27FC236}">
                <a16:creationId xmlns:a16="http://schemas.microsoft.com/office/drawing/2014/main" id="{B75F3710-70EC-32AD-7B22-0D9FD4086B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solidFill>
                  <a:srgbClr val="FF0000"/>
                </a:solidFill>
              </a:rPr>
              <a:t>encode</a:t>
            </a:r>
            <a:r>
              <a:rPr lang="en-US" altLang="en-US"/>
              <a:t>: Takes one-byte input, generates packed encoded symbols and a Boolean indicating whether the buffer is full.</a:t>
            </a:r>
          </a:p>
          <a:p>
            <a:r>
              <a:rPr lang="en-US" altLang="en-US">
                <a:solidFill>
                  <a:srgbClr val="FF0000"/>
                </a:solidFill>
              </a:rPr>
              <a:t>new-symbol-table</a:t>
            </a:r>
            <a:r>
              <a:rPr lang="en-US" altLang="en-US"/>
              <a:t>: installs new symbol table in object, throws away old table.</a:t>
            </a:r>
          </a:p>
          <a:p>
            <a:r>
              <a:rPr lang="en-US" altLang="en-US">
                <a:solidFill>
                  <a:srgbClr val="FF0000"/>
                </a:solidFill>
              </a:rPr>
              <a:t>flush</a:t>
            </a:r>
            <a:r>
              <a:rPr lang="en-US" altLang="en-US"/>
              <a:t>: returns current state of buffer, including number of valid bits in buffer.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Date Placeholder 3">
            <a:extLst>
              <a:ext uri="{FF2B5EF4-FFF2-40B4-BE49-F238E27FC236}">
                <a16:creationId xmlns:a16="http://schemas.microsoft.com/office/drawing/2014/main" id="{E788D501-F91D-9F8D-DAD8-A1CE3B7F4C8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13315" name="Footer Placeholder 4">
            <a:extLst>
              <a:ext uri="{FF2B5EF4-FFF2-40B4-BE49-F238E27FC236}">
                <a16:creationId xmlns:a16="http://schemas.microsoft.com/office/drawing/2014/main" id="{8D8E92BE-0EAF-BA08-5CE8-CB762AFCF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4A3AE4EC-49AC-8E0C-F7D5-00D7204555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Auxiliary classes</a:t>
            </a:r>
          </a:p>
        </p:txBody>
      </p:sp>
      <p:sp>
        <p:nvSpPr>
          <p:cNvPr id="13317" name="Rectangle 4">
            <a:extLst>
              <a:ext uri="{FF2B5EF4-FFF2-40B4-BE49-F238E27FC236}">
                <a16:creationId xmlns:a16="http://schemas.microsoft.com/office/drawing/2014/main" id="{1529A664-5DDB-285B-3396-418F70293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09800"/>
            <a:ext cx="3124200" cy="533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u="sng"/>
              <a:t>data-buffer</a:t>
            </a:r>
            <a:endParaRPr lang="en-US" altLang="en-US"/>
          </a:p>
        </p:txBody>
      </p:sp>
      <p:sp>
        <p:nvSpPr>
          <p:cNvPr id="13318" name="Rectangle 5">
            <a:extLst>
              <a:ext uri="{FF2B5EF4-FFF2-40B4-BE49-F238E27FC236}">
                <a16:creationId xmlns:a16="http://schemas.microsoft.com/office/drawing/2014/main" id="{5174ECBE-2F7B-2830-3031-79395F639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743200"/>
            <a:ext cx="3124200" cy="1371600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databuf[databuflen] :</a:t>
            </a:r>
          </a:p>
          <a:p>
            <a:r>
              <a:rPr lang="en-US" altLang="en-US"/>
              <a:t>	character</a:t>
            </a:r>
          </a:p>
          <a:p>
            <a:r>
              <a:rPr lang="en-US" altLang="en-US"/>
              <a:t>len : integer</a:t>
            </a:r>
          </a:p>
        </p:txBody>
      </p:sp>
      <p:sp>
        <p:nvSpPr>
          <p:cNvPr id="13319" name="Rectangle 6">
            <a:extLst>
              <a:ext uri="{FF2B5EF4-FFF2-40B4-BE49-F238E27FC236}">
                <a16:creationId xmlns:a16="http://schemas.microsoft.com/office/drawing/2014/main" id="{E9BD5559-D2EA-39FE-1943-3D204A625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114800"/>
            <a:ext cx="3124200" cy="12192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insert()</a:t>
            </a:r>
          </a:p>
          <a:p>
            <a:r>
              <a:rPr lang="en-US" altLang="en-US"/>
              <a:t>length() : integer</a:t>
            </a:r>
          </a:p>
        </p:txBody>
      </p:sp>
      <p:sp>
        <p:nvSpPr>
          <p:cNvPr id="13320" name="Rectangle 7">
            <a:extLst>
              <a:ext uri="{FF2B5EF4-FFF2-40B4-BE49-F238E27FC236}">
                <a16:creationId xmlns:a16="http://schemas.microsoft.com/office/drawing/2014/main" id="{25347DF3-2BDF-29CD-F5C2-28AF157DF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2209800"/>
            <a:ext cx="3124200" cy="533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u="sng"/>
              <a:t>symbol-table</a:t>
            </a:r>
            <a:endParaRPr lang="en-US" altLang="en-US"/>
          </a:p>
        </p:txBody>
      </p:sp>
      <p:sp>
        <p:nvSpPr>
          <p:cNvPr id="13321" name="Rectangle 8">
            <a:extLst>
              <a:ext uri="{FF2B5EF4-FFF2-40B4-BE49-F238E27FC236}">
                <a16:creationId xmlns:a16="http://schemas.microsoft.com/office/drawing/2014/main" id="{00DE1F09-19C5-F658-8C10-7F876EB50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2743200"/>
            <a:ext cx="3124200" cy="1371600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symbols[nsymbols] :</a:t>
            </a:r>
          </a:p>
          <a:p>
            <a:r>
              <a:rPr lang="en-US" altLang="en-US"/>
              <a:t>	data-buffer</a:t>
            </a:r>
          </a:p>
          <a:p>
            <a:r>
              <a:rPr lang="en-US" altLang="en-US"/>
              <a:t>len : integer</a:t>
            </a:r>
          </a:p>
        </p:txBody>
      </p:sp>
      <p:sp>
        <p:nvSpPr>
          <p:cNvPr id="13322" name="Rectangle 9">
            <a:extLst>
              <a:ext uri="{FF2B5EF4-FFF2-40B4-BE49-F238E27FC236}">
                <a16:creationId xmlns:a16="http://schemas.microsoft.com/office/drawing/2014/main" id="{422710C2-D95F-5B54-8B93-C03970AA1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114800"/>
            <a:ext cx="3124200" cy="12192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value() : symbol</a:t>
            </a:r>
          </a:p>
          <a:p>
            <a:r>
              <a:rPr lang="en-US" altLang="en-US"/>
              <a:t>load()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Date Placeholder 3">
            <a:extLst>
              <a:ext uri="{FF2B5EF4-FFF2-40B4-BE49-F238E27FC236}">
                <a16:creationId xmlns:a16="http://schemas.microsoft.com/office/drawing/2014/main" id="{51C7A53B-0542-25A2-A26D-87CF24EED65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14339" name="Footer Placeholder 4">
            <a:extLst>
              <a:ext uri="{FF2B5EF4-FFF2-40B4-BE49-F238E27FC236}">
                <a16:creationId xmlns:a16="http://schemas.microsoft.com/office/drawing/2014/main" id="{9B78AF9C-0E41-7715-79C5-3AD661A58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4340" name="Rectangle 2">
            <a:extLst>
              <a:ext uri="{FF2B5EF4-FFF2-40B4-BE49-F238E27FC236}">
                <a16:creationId xmlns:a16="http://schemas.microsoft.com/office/drawing/2014/main" id="{BB859187-9514-A7A0-82F8-EE2EC4DCBD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Auxiliary class roles</a:t>
            </a:r>
          </a:p>
        </p:txBody>
      </p:sp>
      <p:sp>
        <p:nvSpPr>
          <p:cNvPr id="14341" name="Rectangle 3">
            <a:extLst>
              <a:ext uri="{FF2B5EF4-FFF2-40B4-BE49-F238E27FC236}">
                <a16:creationId xmlns:a16="http://schemas.microsoft.com/office/drawing/2014/main" id="{587715B9-31E2-95DA-9061-F9DB03339A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data-buffer holds both packed and unpacked symbols.</a:t>
            </a:r>
          </a:p>
          <a:p>
            <a:pPr lvl="1"/>
            <a:r>
              <a:rPr lang="en-US" altLang="en-US"/>
              <a:t>Longest Huffman code for 8-bit inputs is 256 bits.</a:t>
            </a:r>
          </a:p>
          <a:p>
            <a:r>
              <a:rPr lang="en-US" altLang="en-US"/>
              <a:t>symbol-table indexes encoded verison of each symbol.</a:t>
            </a:r>
          </a:p>
          <a:p>
            <a:pPr lvl="1"/>
            <a:r>
              <a:rPr lang="en-US" altLang="en-US"/>
              <a:t>load() puts data in a new symbol table.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Date Placeholder 3">
            <a:extLst>
              <a:ext uri="{FF2B5EF4-FFF2-40B4-BE49-F238E27FC236}">
                <a16:creationId xmlns:a16="http://schemas.microsoft.com/office/drawing/2014/main" id="{BC996433-6AA8-D1EA-BFD4-E386C030E03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15363" name="Footer Placeholder 4">
            <a:extLst>
              <a:ext uri="{FF2B5EF4-FFF2-40B4-BE49-F238E27FC236}">
                <a16:creationId xmlns:a16="http://schemas.microsoft.com/office/drawing/2014/main" id="{63624BA6-413F-9B1E-8E50-23FC22F47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D26CB3B7-1065-BD0E-83EB-360FC76798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Class relationships</a:t>
            </a:r>
          </a:p>
        </p:txBody>
      </p:sp>
      <p:sp>
        <p:nvSpPr>
          <p:cNvPr id="15365" name="Rectangle 4">
            <a:extLst>
              <a:ext uri="{FF2B5EF4-FFF2-40B4-BE49-F238E27FC236}">
                <a16:creationId xmlns:a16="http://schemas.microsoft.com/office/drawing/2014/main" id="{B3DBBF8E-400A-7CBF-862A-BCD91572F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3657600"/>
            <a:ext cx="3124200" cy="533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u="sng"/>
              <a:t>symbol-table</a:t>
            </a:r>
            <a:endParaRPr lang="en-US" altLang="en-US"/>
          </a:p>
        </p:txBody>
      </p:sp>
      <p:sp>
        <p:nvSpPr>
          <p:cNvPr id="15366" name="Rectangle 7">
            <a:extLst>
              <a:ext uri="{FF2B5EF4-FFF2-40B4-BE49-F238E27FC236}">
                <a16:creationId xmlns:a16="http://schemas.microsoft.com/office/drawing/2014/main" id="{90ED2418-77E6-A1AF-A3A5-4D5A37ADB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2286000"/>
            <a:ext cx="3124200" cy="533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u="sng"/>
              <a:t>data-compressor</a:t>
            </a:r>
            <a:endParaRPr lang="en-US" altLang="en-US"/>
          </a:p>
        </p:txBody>
      </p:sp>
      <p:sp>
        <p:nvSpPr>
          <p:cNvPr id="15367" name="Rectangle 8">
            <a:extLst>
              <a:ext uri="{FF2B5EF4-FFF2-40B4-BE49-F238E27FC236}">
                <a16:creationId xmlns:a16="http://schemas.microsoft.com/office/drawing/2014/main" id="{813C9BF4-C182-A758-FD04-D4DC8A992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657600"/>
            <a:ext cx="2133600" cy="533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u="sng"/>
              <a:t>data-buffer</a:t>
            </a:r>
            <a:endParaRPr lang="en-US" altLang="en-US"/>
          </a:p>
        </p:txBody>
      </p:sp>
      <p:sp>
        <p:nvSpPr>
          <p:cNvPr id="15368" name="Line 9">
            <a:extLst>
              <a:ext uri="{FF2B5EF4-FFF2-40B4-BE49-F238E27FC236}">
                <a16:creationId xmlns:a16="http://schemas.microsoft.com/office/drawing/2014/main" id="{91BA0EA1-F6E5-4922-322C-EDD8BF62BA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4600" y="2819400"/>
            <a:ext cx="762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9" name="Line 10">
            <a:extLst>
              <a:ext uri="{FF2B5EF4-FFF2-40B4-BE49-F238E27FC236}">
                <a16:creationId xmlns:a16="http://schemas.microsoft.com/office/drawing/2014/main" id="{5DB722BA-5221-A04F-C4D1-9D3916C7AC5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2819400"/>
            <a:ext cx="685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0" name="Text Box 11">
            <a:extLst>
              <a:ext uri="{FF2B5EF4-FFF2-40B4-BE49-F238E27FC236}">
                <a16:creationId xmlns:a16="http://schemas.microsoft.com/office/drawing/2014/main" id="{5AC32A43-26AD-2AE6-5B64-8850A068F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0125" y="31654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1</a:t>
            </a:r>
          </a:p>
        </p:txBody>
      </p:sp>
      <p:sp>
        <p:nvSpPr>
          <p:cNvPr id="15371" name="Text Box 12">
            <a:extLst>
              <a:ext uri="{FF2B5EF4-FFF2-40B4-BE49-F238E27FC236}">
                <a16:creationId xmlns:a16="http://schemas.microsoft.com/office/drawing/2014/main" id="{A28588D4-2130-DA54-9EAF-D001B0326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125" y="25558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1</a:t>
            </a:r>
          </a:p>
        </p:txBody>
      </p:sp>
      <p:sp>
        <p:nvSpPr>
          <p:cNvPr id="15372" name="Text Box 13">
            <a:extLst>
              <a:ext uri="{FF2B5EF4-FFF2-40B4-BE49-F238E27FC236}">
                <a16:creationId xmlns:a16="http://schemas.microsoft.com/office/drawing/2014/main" id="{ECC9F893-2783-8133-97B5-2157EB58B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1525" y="31654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1</a:t>
            </a:r>
          </a:p>
        </p:txBody>
      </p:sp>
      <p:sp>
        <p:nvSpPr>
          <p:cNvPr id="15373" name="Text Box 14">
            <a:extLst>
              <a:ext uri="{FF2B5EF4-FFF2-40B4-BE49-F238E27FC236}">
                <a16:creationId xmlns:a16="http://schemas.microsoft.com/office/drawing/2014/main" id="{40B6F678-88CB-768D-3441-8D2B4DB44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0525" y="2708275"/>
            <a:ext cx="396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Date Placeholder 3">
            <a:extLst>
              <a:ext uri="{FF2B5EF4-FFF2-40B4-BE49-F238E27FC236}">
                <a16:creationId xmlns:a16="http://schemas.microsoft.com/office/drawing/2014/main" id="{4DDF3A03-534C-782B-48E8-79D4B4C0400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16387" name="Footer Placeholder 4">
            <a:extLst>
              <a:ext uri="{FF2B5EF4-FFF2-40B4-BE49-F238E27FC236}">
                <a16:creationId xmlns:a16="http://schemas.microsoft.com/office/drawing/2014/main" id="{A52F4CA5-7D18-0A67-0C1F-AEC1AE5EE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7E72970F-C982-08B9-651A-1D2546D712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Encode behavior</a:t>
            </a:r>
          </a:p>
        </p:txBody>
      </p:sp>
      <p:sp>
        <p:nvSpPr>
          <p:cNvPr id="16389" name="AutoShape 4">
            <a:extLst>
              <a:ext uri="{FF2B5EF4-FFF2-40B4-BE49-F238E27FC236}">
                <a16:creationId xmlns:a16="http://schemas.microsoft.com/office/drawing/2014/main" id="{34C6A872-B44C-2B84-BC0A-A838A429A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3505200"/>
            <a:ext cx="990600" cy="5334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encode</a:t>
            </a:r>
          </a:p>
        </p:txBody>
      </p:sp>
      <p:sp>
        <p:nvSpPr>
          <p:cNvPr id="16390" name="AutoShape 5">
            <a:extLst>
              <a:ext uri="{FF2B5EF4-FFF2-40B4-BE49-F238E27FC236}">
                <a16:creationId xmlns:a16="http://schemas.microsoft.com/office/drawing/2014/main" id="{38D0FAA3-B686-040C-29D7-DA475CB59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286000"/>
            <a:ext cx="2438400" cy="9144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create new buffer</a:t>
            </a:r>
          </a:p>
          <a:p>
            <a:pPr algn="ctr"/>
            <a:r>
              <a:rPr lang="en-US" altLang="en-US"/>
              <a:t>add to buffers</a:t>
            </a:r>
          </a:p>
        </p:txBody>
      </p:sp>
      <p:sp>
        <p:nvSpPr>
          <p:cNvPr id="16391" name="AutoShape 6">
            <a:extLst>
              <a:ext uri="{FF2B5EF4-FFF2-40B4-BE49-F238E27FC236}">
                <a16:creationId xmlns:a16="http://schemas.microsoft.com/office/drawing/2014/main" id="{16559ED6-55C5-47A6-4039-EF2BB8C6D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4419600"/>
            <a:ext cx="1752600" cy="5334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add to buffer</a:t>
            </a:r>
          </a:p>
        </p:txBody>
      </p:sp>
      <p:sp>
        <p:nvSpPr>
          <p:cNvPr id="16392" name="AutoShape 7">
            <a:extLst>
              <a:ext uri="{FF2B5EF4-FFF2-40B4-BE49-F238E27FC236}">
                <a16:creationId xmlns:a16="http://schemas.microsoft.com/office/drawing/2014/main" id="{99874048-9AE1-6599-6FAA-76A53933B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2438400"/>
            <a:ext cx="1752600" cy="5334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return true</a:t>
            </a:r>
          </a:p>
        </p:txBody>
      </p:sp>
      <p:sp>
        <p:nvSpPr>
          <p:cNvPr id="16393" name="AutoShape 8">
            <a:extLst>
              <a:ext uri="{FF2B5EF4-FFF2-40B4-BE49-F238E27FC236}">
                <a16:creationId xmlns:a16="http://schemas.microsoft.com/office/drawing/2014/main" id="{5C58D8B4-10F4-64A2-293F-39433F0D0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4419600"/>
            <a:ext cx="1752600" cy="5334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return false</a:t>
            </a:r>
          </a:p>
        </p:txBody>
      </p:sp>
      <p:sp>
        <p:nvSpPr>
          <p:cNvPr id="16394" name="Oval 9">
            <a:extLst>
              <a:ext uri="{FF2B5EF4-FFF2-40B4-BE49-F238E27FC236}">
                <a16:creationId xmlns:a16="http://schemas.microsoft.com/office/drawing/2014/main" id="{C0A88F45-4E09-1E8D-B32C-6D1B1ADD2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657600"/>
            <a:ext cx="304800" cy="304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6395" name="Line 10">
            <a:extLst>
              <a:ext uri="{FF2B5EF4-FFF2-40B4-BE49-F238E27FC236}">
                <a16:creationId xmlns:a16="http://schemas.microsoft.com/office/drawing/2014/main" id="{9FC1CE46-B4F7-1ED1-DB5B-8D63273DA3A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3810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6" name="AutoShape 11">
            <a:extLst>
              <a:ext uri="{FF2B5EF4-FFF2-40B4-BE49-F238E27FC236}">
                <a16:creationId xmlns:a16="http://schemas.microsoft.com/office/drawing/2014/main" id="{CCAD2E1E-867D-153F-EE6A-487810EEC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352800"/>
            <a:ext cx="762000" cy="7620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6397" name="Oval 12">
            <a:extLst>
              <a:ext uri="{FF2B5EF4-FFF2-40B4-BE49-F238E27FC236}">
                <a16:creationId xmlns:a16="http://schemas.microsoft.com/office/drawing/2014/main" id="{CD5CFD2C-924A-636E-84DB-5FF69C975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3581400"/>
            <a:ext cx="304800" cy="304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6398" name="Oval 13">
            <a:extLst>
              <a:ext uri="{FF2B5EF4-FFF2-40B4-BE49-F238E27FC236}">
                <a16:creationId xmlns:a16="http://schemas.microsoft.com/office/drawing/2014/main" id="{7A96D428-E34B-B5BD-8EB3-FCB1F4E41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3505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6399" name="Line 14">
            <a:extLst>
              <a:ext uri="{FF2B5EF4-FFF2-40B4-BE49-F238E27FC236}">
                <a16:creationId xmlns:a16="http://schemas.microsoft.com/office/drawing/2014/main" id="{C9097993-BAF1-05C6-3764-68706959A41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733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0" name="Line 15">
            <a:extLst>
              <a:ext uri="{FF2B5EF4-FFF2-40B4-BE49-F238E27FC236}">
                <a16:creationId xmlns:a16="http://schemas.microsoft.com/office/drawing/2014/main" id="{2FC9599F-B9DD-2ABE-EF11-09958AA65F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3200400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1" name="Line 16">
            <a:extLst>
              <a:ext uri="{FF2B5EF4-FFF2-40B4-BE49-F238E27FC236}">
                <a16:creationId xmlns:a16="http://schemas.microsoft.com/office/drawing/2014/main" id="{6C252E8F-E74D-D75A-4F12-8B23602A67E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4114800"/>
            <a:ext cx="457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2" name="Line 17">
            <a:extLst>
              <a:ext uri="{FF2B5EF4-FFF2-40B4-BE49-F238E27FC236}">
                <a16:creationId xmlns:a16="http://schemas.microsoft.com/office/drawing/2014/main" id="{4612F033-6D9D-05BB-FF74-C06FA174261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47244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3" name="Line 18">
            <a:extLst>
              <a:ext uri="{FF2B5EF4-FFF2-40B4-BE49-F238E27FC236}">
                <a16:creationId xmlns:a16="http://schemas.microsoft.com/office/drawing/2014/main" id="{2C22F325-6D5D-B413-1662-5CEF317A424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2667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4" name="Line 19">
            <a:extLst>
              <a:ext uri="{FF2B5EF4-FFF2-40B4-BE49-F238E27FC236}">
                <a16:creationId xmlns:a16="http://schemas.microsoft.com/office/drawing/2014/main" id="{4EDC5486-0688-D6AF-0322-C49A4F4A31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7600" y="3962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5" name="Line 20">
            <a:extLst>
              <a:ext uri="{FF2B5EF4-FFF2-40B4-BE49-F238E27FC236}">
                <a16:creationId xmlns:a16="http://schemas.microsoft.com/office/drawing/2014/main" id="{FA0786B1-BEF6-A59D-0FD2-5170C47A9F3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971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6" name="Text Box 21">
            <a:extLst>
              <a:ext uri="{FF2B5EF4-FFF2-40B4-BE49-F238E27FC236}">
                <a16:creationId xmlns:a16="http://schemas.microsoft.com/office/drawing/2014/main" id="{774D4D01-AD1F-8551-CC9F-BEDBD93DB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971800"/>
            <a:ext cx="1782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input symbol</a:t>
            </a:r>
          </a:p>
        </p:txBody>
      </p:sp>
      <p:sp>
        <p:nvSpPr>
          <p:cNvPr id="16407" name="Text Box 22">
            <a:extLst>
              <a:ext uri="{FF2B5EF4-FFF2-40B4-BE49-F238E27FC236}">
                <a16:creationId xmlns:a16="http://schemas.microsoft.com/office/drawing/2014/main" id="{1979BD62-B030-2B4D-A99B-54C38E515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125" y="3546475"/>
            <a:ext cx="1781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buffer filled?</a:t>
            </a:r>
          </a:p>
        </p:txBody>
      </p:sp>
      <p:sp>
        <p:nvSpPr>
          <p:cNvPr id="16408" name="Text Box 23">
            <a:extLst>
              <a:ext uri="{FF2B5EF4-FFF2-40B4-BE49-F238E27FC236}">
                <a16:creationId xmlns:a16="http://schemas.microsoft.com/office/drawing/2014/main" id="{BEA123D7-2AA7-45D9-CB71-59A301758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8325" y="2708275"/>
            <a:ext cx="36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T</a:t>
            </a:r>
          </a:p>
        </p:txBody>
      </p:sp>
      <p:sp>
        <p:nvSpPr>
          <p:cNvPr id="16409" name="Text Box 24">
            <a:extLst>
              <a:ext uri="{FF2B5EF4-FFF2-40B4-BE49-F238E27FC236}">
                <a16:creationId xmlns:a16="http://schemas.microsoft.com/office/drawing/2014/main" id="{E9A92A46-8777-7FDD-E783-2191B3271B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2125" y="4308475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Date Placeholder 3">
            <a:extLst>
              <a:ext uri="{FF2B5EF4-FFF2-40B4-BE49-F238E27FC236}">
                <a16:creationId xmlns:a16="http://schemas.microsoft.com/office/drawing/2014/main" id="{FF6EF985-9BAB-43BC-7F70-621FF8849DE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17411" name="Footer Placeholder 4">
            <a:extLst>
              <a:ext uri="{FF2B5EF4-FFF2-40B4-BE49-F238E27FC236}">
                <a16:creationId xmlns:a16="http://schemas.microsoft.com/office/drawing/2014/main" id="{C19B01E6-8064-CEAE-D52D-5A2599DE7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4787F270-F544-A718-0FCD-90DC6268B1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Insert behavior</a:t>
            </a:r>
          </a:p>
        </p:txBody>
      </p:sp>
      <p:sp>
        <p:nvSpPr>
          <p:cNvPr id="17413" name="AutoShape 4">
            <a:extLst>
              <a:ext uri="{FF2B5EF4-FFF2-40B4-BE49-F238E27FC236}">
                <a16:creationId xmlns:a16="http://schemas.microsoft.com/office/drawing/2014/main" id="{8DE216AA-D74D-D728-4AB6-85A49B30F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2362200"/>
            <a:ext cx="1600200" cy="9144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pack into</a:t>
            </a:r>
          </a:p>
          <a:p>
            <a:pPr algn="ctr"/>
            <a:r>
              <a:rPr lang="en-US" altLang="en-US"/>
              <a:t>this buffer</a:t>
            </a:r>
          </a:p>
        </p:txBody>
      </p:sp>
      <p:sp>
        <p:nvSpPr>
          <p:cNvPr id="17414" name="Oval 5">
            <a:extLst>
              <a:ext uri="{FF2B5EF4-FFF2-40B4-BE49-F238E27FC236}">
                <a16:creationId xmlns:a16="http://schemas.microsoft.com/office/drawing/2014/main" id="{FA175607-9DC0-4710-6735-FB2B8779B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657600"/>
            <a:ext cx="304800" cy="304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7415" name="Oval 6">
            <a:extLst>
              <a:ext uri="{FF2B5EF4-FFF2-40B4-BE49-F238E27FC236}">
                <a16:creationId xmlns:a16="http://schemas.microsoft.com/office/drawing/2014/main" id="{5E8AC9D2-A429-EB37-4B2F-0BF4FDCCCD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581400"/>
            <a:ext cx="304800" cy="304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7416" name="Oval 7">
            <a:extLst>
              <a:ext uri="{FF2B5EF4-FFF2-40B4-BE49-F238E27FC236}">
                <a16:creationId xmlns:a16="http://schemas.microsoft.com/office/drawing/2014/main" id="{2FC044C8-9965-1D5B-5BB4-6AAEF2E0E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3505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7417" name="AutoShape 8">
            <a:extLst>
              <a:ext uri="{FF2B5EF4-FFF2-40B4-BE49-F238E27FC236}">
                <a16:creationId xmlns:a16="http://schemas.microsoft.com/office/drawing/2014/main" id="{6BE54489-C53D-95C3-D07D-3DE008023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429000"/>
            <a:ext cx="762000" cy="7620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7418" name="AutoShape 9">
            <a:extLst>
              <a:ext uri="{FF2B5EF4-FFF2-40B4-BE49-F238E27FC236}">
                <a16:creationId xmlns:a16="http://schemas.microsoft.com/office/drawing/2014/main" id="{E64715D5-6E21-A4FE-00CF-D40AE9956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343400"/>
            <a:ext cx="2438400" cy="16002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pack bottom bits</a:t>
            </a:r>
          </a:p>
          <a:p>
            <a:pPr algn="ctr"/>
            <a:r>
              <a:rPr lang="en-US" altLang="en-US"/>
              <a:t>into this buffer,</a:t>
            </a:r>
          </a:p>
          <a:p>
            <a:pPr algn="ctr"/>
            <a:r>
              <a:rPr lang="en-US" altLang="en-US"/>
              <a:t>top bits into</a:t>
            </a:r>
          </a:p>
          <a:p>
            <a:pPr algn="ctr"/>
            <a:r>
              <a:rPr lang="en-US" altLang="en-US"/>
              <a:t>overflow buffer</a:t>
            </a:r>
          </a:p>
        </p:txBody>
      </p:sp>
      <p:sp>
        <p:nvSpPr>
          <p:cNvPr id="17419" name="AutoShape 10">
            <a:extLst>
              <a:ext uri="{FF2B5EF4-FFF2-40B4-BE49-F238E27FC236}">
                <a16:creationId xmlns:a16="http://schemas.microsoft.com/office/drawing/2014/main" id="{09D49CDC-F753-5FA6-D6FC-B5CD01003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352800"/>
            <a:ext cx="1219200" cy="8382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update</a:t>
            </a:r>
          </a:p>
          <a:p>
            <a:pPr algn="ctr"/>
            <a:r>
              <a:rPr lang="en-US" altLang="en-US"/>
              <a:t>length</a:t>
            </a:r>
          </a:p>
        </p:txBody>
      </p:sp>
      <p:sp>
        <p:nvSpPr>
          <p:cNvPr id="17420" name="Line 11">
            <a:extLst>
              <a:ext uri="{FF2B5EF4-FFF2-40B4-BE49-F238E27FC236}">
                <a16:creationId xmlns:a16="http://schemas.microsoft.com/office/drawing/2014/main" id="{8997806B-1DB4-31D1-4266-6B93FAA23435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38100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1" name="Line 12">
            <a:extLst>
              <a:ext uri="{FF2B5EF4-FFF2-40B4-BE49-F238E27FC236}">
                <a16:creationId xmlns:a16="http://schemas.microsoft.com/office/drawing/2014/main" id="{E713576A-61D6-B8B1-B0F1-CE153C0CB5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3600" y="2895600"/>
            <a:ext cx="1295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2" name="Line 13">
            <a:extLst>
              <a:ext uri="{FF2B5EF4-FFF2-40B4-BE49-F238E27FC236}">
                <a16:creationId xmlns:a16="http://schemas.microsoft.com/office/drawing/2014/main" id="{DD430BEE-4370-37CD-21DE-664CEEE138D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4191000"/>
            <a:ext cx="762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3" name="Line 14">
            <a:extLst>
              <a:ext uri="{FF2B5EF4-FFF2-40B4-BE49-F238E27FC236}">
                <a16:creationId xmlns:a16="http://schemas.microsoft.com/office/drawing/2014/main" id="{EE2C1AEB-38E5-FD30-1669-E0AC73BAD3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4000" y="4191000"/>
            <a:ext cx="990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4" name="Line 15">
            <a:extLst>
              <a:ext uri="{FF2B5EF4-FFF2-40B4-BE49-F238E27FC236}">
                <a16:creationId xmlns:a16="http://schemas.microsoft.com/office/drawing/2014/main" id="{4EB882A0-60DB-E632-AE88-DE2A6F95688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3200400"/>
            <a:ext cx="1295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5" name="Line 16">
            <a:extLst>
              <a:ext uri="{FF2B5EF4-FFF2-40B4-BE49-F238E27FC236}">
                <a16:creationId xmlns:a16="http://schemas.microsoft.com/office/drawing/2014/main" id="{6BB4A992-57F8-22F8-556B-23B9D1424E22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3733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6" name="Text Box 17">
            <a:extLst>
              <a:ext uri="{FF2B5EF4-FFF2-40B4-BE49-F238E27FC236}">
                <a16:creationId xmlns:a16="http://schemas.microsoft.com/office/drawing/2014/main" id="{EE26ED5C-020A-357C-C923-AE13E7ACEA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743200"/>
            <a:ext cx="108108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input</a:t>
            </a:r>
          </a:p>
          <a:p>
            <a:r>
              <a:rPr lang="en-US" altLang="en-US"/>
              <a:t>symbol</a:t>
            </a:r>
          </a:p>
        </p:txBody>
      </p:sp>
      <p:sp>
        <p:nvSpPr>
          <p:cNvPr id="17427" name="Text Box 18">
            <a:extLst>
              <a:ext uri="{FF2B5EF4-FFF2-40B4-BE49-F238E27FC236}">
                <a16:creationId xmlns:a16="http://schemas.microsoft.com/office/drawing/2014/main" id="{A32C0B08-D430-7E02-2B3B-BBB87C36F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325" y="3546475"/>
            <a:ext cx="1612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fills buffer?</a:t>
            </a:r>
          </a:p>
        </p:txBody>
      </p:sp>
      <p:sp>
        <p:nvSpPr>
          <p:cNvPr id="17428" name="Text Box 19">
            <a:extLst>
              <a:ext uri="{FF2B5EF4-FFF2-40B4-BE49-F238E27FC236}">
                <a16:creationId xmlns:a16="http://schemas.microsoft.com/office/drawing/2014/main" id="{AAB179EE-4DD1-7B13-EF93-E3503026A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2784475"/>
            <a:ext cx="36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T</a:t>
            </a:r>
          </a:p>
        </p:txBody>
      </p:sp>
      <p:sp>
        <p:nvSpPr>
          <p:cNvPr id="17429" name="Text Box 20">
            <a:extLst>
              <a:ext uri="{FF2B5EF4-FFF2-40B4-BE49-F238E27FC236}">
                <a16:creationId xmlns:a16="http://schemas.microsoft.com/office/drawing/2014/main" id="{03B4D40B-A82D-37EB-185D-C7664A491B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325" y="4384675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Date Placeholder 3">
            <a:extLst>
              <a:ext uri="{FF2B5EF4-FFF2-40B4-BE49-F238E27FC236}">
                <a16:creationId xmlns:a16="http://schemas.microsoft.com/office/drawing/2014/main" id="{B4117EE2-DBA0-83AB-49A7-165CF7E76A9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18435" name="Footer Placeholder 4">
            <a:extLst>
              <a:ext uri="{FF2B5EF4-FFF2-40B4-BE49-F238E27FC236}">
                <a16:creationId xmlns:a16="http://schemas.microsoft.com/office/drawing/2014/main" id="{65A1F10A-01D7-4AE0-7A7B-FFFB5D74A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698E260C-5421-7252-7A43-AFB48DA40B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Program design</a:t>
            </a:r>
          </a:p>
        </p:txBody>
      </p:sp>
      <p:sp>
        <p:nvSpPr>
          <p:cNvPr id="18437" name="Rectangle 3">
            <a:extLst>
              <a:ext uri="{FF2B5EF4-FFF2-40B4-BE49-F238E27FC236}">
                <a16:creationId xmlns:a16="http://schemas.microsoft.com/office/drawing/2014/main" id="{143FDEB2-8BB4-E5EC-9AFB-7C60B6EE41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In an object-oriented language, we can reflect the UML specification in the code more directly.</a:t>
            </a:r>
          </a:p>
          <a:p>
            <a:r>
              <a:rPr lang="en-US" altLang="en-US"/>
              <a:t>In a non-object-oriented language, we must either:</a:t>
            </a:r>
          </a:p>
          <a:p>
            <a:pPr lvl="1"/>
            <a:r>
              <a:rPr lang="en-US" altLang="en-US"/>
              <a:t>add code to provide object-oriented features;</a:t>
            </a:r>
          </a:p>
          <a:p>
            <a:pPr lvl="1"/>
            <a:r>
              <a:rPr lang="en-US" altLang="en-US"/>
              <a:t>diverge from the specification structure.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Date Placeholder 3">
            <a:extLst>
              <a:ext uri="{FF2B5EF4-FFF2-40B4-BE49-F238E27FC236}">
                <a16:creationId xmlns:a16="http://schemas.microsoft.com/office/drawing/2014/main" id="{5ECBDA98-3D4F-6E79-E808-18CF0F98480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19459" name="Footer Placeholder 4">
            <a:extLst>
              <a:ext uri="{FF2B5EF4-FFF2-40B4-BE49-F238E27FC236}">
                <a16:creationId xmlns:a16="http://schemas.microsoft.com/office/drawing/2014/main" id="{A952FB07-BD31-F263-AB15-023181C1A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DC80474E-3F3F-F9C4-0653-DDECB87CF5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C++ classes</a:t>
            </a:r>
          </a:p>
        </p:txBody>
      </p:sp>
      <p:sp>
        <p:nvSpPr>
          <p:cNvPr id="19461" name="Rectangle 3">
            <a:extLst>
              <a:ext uri="{FF2B5EF4-FFF2-40B4-BE49-F238E27FC236}">
                <a16:creationId xmlns:a16="http://schemas.microsoft.com/office/drawing/2014/main" id="{336F9D7F-F676-90D9-B6C4-A828822F7B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 sz="2400"/>
              <a:t>Class data_buffer {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	char databuf[databuflen];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	int len;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	int length_in_chars() { return len/bitsperbyte; }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public: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	void insert(data_buffer,data_buffer&amp;);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	int length() { return len; }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	int length_in_bytes() { return (int)ceil(len/8.0); }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	int initialize(); 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	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Date Placeholder 3">
            <a:extLst>
              <a:ext uri="{FF2B5EF4-FFF2-40B4-BE49-F238E27FC236}">
                <a16:creationId xmlns:a16="http://schemas.microsoft.com/office/drawing/2014/main" id="{8245BBCE-7694-1ED1-B9D7-CF4F8F986BE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20483" name="Footer Placeholder 4">
            <a:extLst>
              <a:ext uri="{FF2B5EF4-FFF2-40B4-BE49-F238E27FC236}">
                <a16:creationId xmlns:a16="http://schemas.microsoft.com/office/drawing/2014/main" id="{09B3215D-0FDF-058E-7804-03A49CD2A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1EE642D1-AC7A-47D0-592B-B30EBB42C7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C++ classes, cont’d.</a:t>
            </a:r>
          </a:p>
        </p:txBody>
      </p:sp>
      <p:sp>
        <p:nvSpPr>
          <p:cNvPr id="20485" name="Rectangle 3">
            <a:extLst>
              <a:ext uri="{FF2B5EF4-FFF2-40B4-BE49-F238E27FC236}">
                <a16:creationId xmlns:a16="http://schemas.microsoft.com/office/drawing/2014/main" id="{0E892276-A1F8-2F40-ECBC-5DD498E3EA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 sz="2000"/>
              <a:t>class data_compressor {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	data_buffer buffer;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	int current_bit;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	symbol_table table;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public: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	boolean encode(char,data_buffer&amp;);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	void new_symbol_table(symbol_table);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	int flush(data_buffer&amp;);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	data_compressor();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	~data_compressor();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	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Date Placeholder 3">
            <a:extLst>
              <a:ext uri="{FF2B5EF4-FFF2-40B4-BE49-F238E27FC236}">
                <a16:creationId xmlns:a16="http://schemas.microsoft.com/office/drawing/2014/main" id="{167BF38E-231A-8715-F1F1-98E0A46BBFD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21507" name="Footer Placeholder 4">
            <a:extLst>
              <a:ext uri="{FF2B5EF4-FFF2-40B4-BE49-F238E27FC236}">
                <a16:creationId xmlns:a16="http://schemas.microsoft.com/office/drawing/2014/main" id="{2D813FA6-3A0B-5362-7A46-CEECCA83F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2C827D06-D36D-3789-6D34-F739A9BD72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 code</a:t>
            </a:r>
          </a:p>
        </p:txBody>
      </p:sp>
      <p:sp>
        <p:nvSpPr>
          <p:cNvPr id="21509" name="Rectangle 3">
            <a:extLst>
              <a:ext uri="{FF2B5EF4-FFF2-40B4-BE49-F238E27FC236}">
                <a16:creationId xmlns:a16="http://schemas.microsoft.com/office/drawing/2014/main" id="{39D1A0DC-774D-99A8-4513-E210C49F9F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 sz="2400"/>
              <a:t>struct data_compressor_struct {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	data_buffer buffer;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	int current_bit;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	sym_table table;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}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typedef struct data_compressor_struct data_compressor,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	*data_compressor_ptr;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boolean data_compressor_encode(data_compressor_ptr mycmptrs, char isymbol, data_buffer *fullbuf) 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Date Placeholder 3">
            <a:extLst>
              <a:ext uri="{FF2B5EF4-FFF2-40B4-BE49-F238E27FC236}">
                <a16:creationId xmlns:a16="http://schemas.microsoft.com/office/drawing/2014/main" id="{C685F1AC-FC4D-3E8B-3867-FE3F37ABBB2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22531" name="Footer Placeholder 4">
            <a:extLst>
              <a:ext uri="{FF2B5EF4-FFF2-40B4-BE49-F238E27FC236}">
                <a16:creationId xmlns:a16="http://schemas.microsoft.com/office/drawing/2014/main" id="{03F0FD0F-B4AB-7966-3720-D135CD0E3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FDBED39D-122B-E855-0884-C373FE341E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Testing</a:t>
            </a:r>
          </a:p>
        </p:txBody>
      </p:sp>
      <p:sp>
        <p:nvSpPr>
          <p:cNvPr id="22533" name="Rectangle 3">
            <a:extLst>
              <a:ext uri="{FF2B5EF4-FFF2-40B4-BE49-F238E27FC236}">
                <a16:creationId xmlns:a16="http://schemas.microsoft.com/office/drawing/2014/main" id="{DD573BEC-9BD2-76E4-68D3-19A9A1BA56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885950"/>
            <a:ext cx="8178800" cy="781050"/>
          </a:xfrm>
        </p:spPr>
        <p:txBody>
          <a:bodyPr/>
          <a:lstStyle/>
          <a:p>
            <a:r>
              <a:rPr lang="en-US" altLang="en-US"/>
              <a:t>Test by encoding, then decoding:</a:t>
            </a:r>
          </a:p>
        </p:txBody>
      </p:sp>
      <p:sp>
        <p:nvSpPr>
          <p:cNvPr id="22534" name="Oval 4">
            <a:extLst>
              <a:ext uri="{FF2B5EF4-FFF2-40B4-BE49-F238E27FC236}">
                <a16:creationId xmlns:a16="http://schemas.microsoft.com/office/drawing/2014/main" id="{B06202DF-29A4-107D-D56C-E8BBA30A5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962400"/>
            <a:ext cx="1905000" cy="609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input symbols</a:t>
            </a:r>
          </a:p>
        </p:txBody>
      </p:sp>
      <p:sp>
        <p:nvSpPr>
          <p:cNvPr id="22535" name="Oval 5">
            <a:extLst>
              <a:ext uri="{FF2B5EF4-FFF2-40B4-BE49-F238E27FC236}">
                <a16:creationId xmlns:a16="http://schemas.microsoft.com/office/drawing/2014/main" id="{4CC0D38E-8680-30D9-53A9-37F97CAF5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2819400"/>
            <a:ext cx="2133600" cy="533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symbol table</a:t>
            </a:r>
          </a:p>
        </p:txBody>
      </p:sp>
      <p:sp>
        <p:nvSpPr>
          <p:cNvPr id="22536" name="Rectangle 6">
            <a:extLst>
              <a:ext uri="{FF2B5EF4-FFF2-40B4-BE49-F238E27FC236}">
                <a16:creationId xmlns:a16="http://schemas.microsoft.com/office/drawing/2014/main" id="{2B924C79-5EB6-ED93-AE62-9EB66851B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962400"/>
            <a:ext cx="1295400" cy="6096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encoder</a:t>
            </a:r>
          </a:p>
        </p:txBody>
      </p:sp>
      <p:sp>
        <p:nvSpPr>
          <p:cNvPr id="22537" name="Rectangle 7">
            <a:extLst>
              <a:ext uri="{FF2B5EF4-FFF2-40B4-BE49-F238E27FC236}">
                <a16:creationId xmlns:a16="http://schemas.microsoft.com/office/drawing/2014/main" id="{B18C2F7B-A1BA-58BA-358B-2CCDC5EFD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962400"/>
            <a:ext cx="1295400" cy="6096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decoder</a:t>
            </a:r>
          </a:p>
        </p:txBody>
      </p:sp>
      <p:sp>
        <p:nvSpPr>
          <p:cNvPr id="22538" name="Rectangle 8">
            <a:extLst>
              <a:ext uri="{FF2B5EF4-FFF2-40B4-BE49-F238E27FC236}">
                <a16:creationId xmlns:a16="http://schemas.microsoft.com/office/drawing/2014/main" id="{EAD40ED5-B1CA-EE05-2122-D389555FF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5105400"/>
            <a:ext cx="1295400" cy="6096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compare</a:t>
            </a:r>
          </a:p>
        </p:txBody>
      </p:sp>
      <p:sp>
        <p:nvSpPr>
          <p:cNvPr id="22539" name="Oval 9">
            <a:extLst>
              <a:ext uri="{FF2B5EF4-FFF2-40B4-BE49-F238E27FC236}">
                <a16:creationId xmlns:a16="http://schemas.microsoft.com/office/drawing/2014/main" id="{C5A48D15-E24C-2817-79BB-17FBD4BD4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3886200"/>
            <a:ext cx="1295400" cy="609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result</a:t>
            </a:r>
          </a:p>
        </p:txBody>
      </p:sp>
      <p:sp>
        <p:nvSpPr>
          <p:cNvPr id="22540" name="Line 10">
            <a:extLst>
              <a:ext uri="{FF2B5EF4-FFF2-40B4-BE49-F238E27FC236}">
                <a16:creationId xmlns:a16="http://schemas.microsoft.com/office/drawing/2014/main" id="{EE3326B6-6DBF-1C90-6BE0-19613BD04BC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4267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1" name="Line 11">
            <a:extLst>
              <a:ext uri="{FF2B5EF4-FFF2-40B4-BE49-F238E27FC236}">
                <a16:creationId xmlns:a16="http://schemas.microsoft.com/office/drawing/2014/main" id="{44835447-B48C-889D-3C05-4DBFD962C3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8600" y="3352800"/>
            <a:ext cx="152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2" name="Line 12">
            <a:extLst>
              <a:ext uri="{FF2B5EF4-FFF2-40B4-BE49-F238E27FC236}">
                <a16:creationId xmlns:a16="http://schemas.microsoft.com/office/drawing/2014/main" id="{B9F344E1-8B2E-28A7-B74A-B6D1CE528889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3276600"/>
            <a:ext cx="609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3" name="Line 14">
            <a:extLst>
              <a:ext uri="{FF2B5EF4-FFF2-40B4-BE49-F238E27FC236}">
                <a16:creationId xmlns:a16="http://schemas.microsoft.com/office/drawing/2014/main" id="{A8104540-3163-4165-A7A3-71CCF2523B1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4267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4" name="Line 15">
            <a:extLst>
              <a:ext uri="{FF2B5EF4-FFF2-40B4-BE49-F238E27FC236}">
                <a16:creationId xmlns:a16="http://schemas.microsoft.com/office/drawing/2014/main" id="{39BE294E-C5AC-C1A4-CDDD-502E491D2DF1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4267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5" name="Line 16">
            <a:extLst>
              <a:ext uri="{FF2B5EF4-FFF2-40B4-BE49-F238E27FC236}">
                <a16:creationId xmlns:a16="http://schemas.microsoft.com/office/drawing/2014/main" id="{3B5B02E6-02A3-D25D-88F7-A6CF48897C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4572000"/>
            <a:ext cx="2743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6" name="Line 17">
            <a:extLst>
              <a:ext uri="{FF2B5EF4-FFF2-40B4-BE49-F238E27FC236}">
                <a16:creationId xmlns:a16="http://schemas.microsoft.com/office/drawing/2014/main" id="{92724DBE-DF2E-A264-C287-5A62C4230A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86400" y="4495800"/>
            <a:ext cx="25908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Date Placeholder 3">
            <a:extLst>
              <a:ext uri="{FF2B5EF4-FFF2-40B4-BE49-F238E27FC236}">
                <a16:creationId xmlns:a16="http://schemas.microsoft.com/office/drawing/2014/main" id="{749F8623-EF87-F79E-ADE6-F7EDCE5FE50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23555" name="Footer Placeholder 4">
            <a:extLst>
              <a:ext uri="{FF2B5EF4-FFF2-40B4-BE49-F238E27FC236}">
                <a16:creationId xmlns:a16="http://schemas.microsoft.com/office/drawing/2014/main" id="{A3494558-6E25-6B9A-4817-57EB4F600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61AC1E26-5C93-DBB1-3896-7322CA5BD6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Code inspection tests</a:t>
            </a:r>
          </a:p>
        </p:txBody>
      </p:sp>
      <p:sp>
        <p:nvSpPr>
          <p:cNvPr id="23557" name="Rectangle 3">
            <a:extLst>
              <a:ext uri="{FF2B5EF4-FFF2-40B4-BE49-F238E27FC236}">
                <a16:creationId xmlns:a16="http://schemas.microsoft.com/office/drawing/2014/main" id="{1B074393-043D-69C7-A2B4-92BA4636A9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Look at the code for potential problems:</a:t>
            </a:r>
          </a:p>
          <a:p>
            <a:pPr lvl="1"/>
            <a:r>
              <a:rPr lang="en-US" altLang="en-US"/>
              <a:t>Can we run past end of symbol table?</a:t>
            </a:r>
          </a:p>
          <a:p>
            <a:pPr lvl="1"/>
            <a:r>
              <a:rPr lang="en-US" altLang="en-US"/>
              <a:t>What happens when the next symbol does not fill the buffer? Does fill it?</a:t>
            </a:r>
          </a:p>
          <a:p>
            <a:pPr lvl="1"/>
            <a:r>
              <a:rPr lang="en-US" altLang="en-US"/>
              <a:t>Do very long encoded symbols work properly? Very short symbols?</a:t>
            </a:r>
          </a:p>
          <a:p>
            <a:pPr lvl="1"/>
            <a:r>
              <a:rPr lang="en-US" altLang="en-US"/>
              <a:t>Does flush() work properly?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emporary Portrait">
  <a:themeElements>
    <a:clrScheme name="Contemporary Portrait 2">
      <a:dk1>
        <a:srgbClr val="000000"/>
      </a:dk1>
      <a:lt1>
        <a:srgbClr val="FFFFFF"/>
      </a:lt1>
      <a:dk2>
        <a:srgbClr val="000000"/>
      </a:dk2>
      <a:lt2>
        <a:srgbClr val="5E574E"/>
      </a:lt2>
      <a:accent1>
        <a:srgbClr val="FF66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FFB8AA"/>
      </a:accent5>
      <a:accent6>
        <a:srgbClr val="E7B900"/>
      </a:accent6>
      <a:hlink>
        <a:srgbClr val="996633"/>
      </a:hlink>
      <a:folHlink>
        <a:srgbClr val="808000"/>
      </a:folHlink>
    </a:clrScheme>
    <a:fontScheme name="Contemporary Portrait">
      <a:majorFont>
        <a:latin typeface="Arial Black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Contemporary Portrait 1">
        <a:dk1>
          <a:srgbClr val="5E574E"/>
        </a:dk1>
        <a:lt1>
          <a:srgbClr val="FFFFCC"/>
        </a:lt1>
        <a:dk2>
          <a:srgbClr val="0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AA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mporary Portrait 2">
        <a:dk1>
          <a:srgbClr val="000000"/>
        </a:dk1>
        <a:lt1>
          <a:srgbClr val="FFFFFF"/>
        </a:lt1>
        <a:dk2>
          <a:srgbClr val="0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996633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mporary Portrait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mporary Portrait 4">
        <a:dk1>
          <a:srgbClr val="000000"/>
        </a:dk1>
        <a:lt1>
          <a:srgbClr val="FFFFFF"/>
        </a:lt1>
        <a:dk2>
          <a:srgbClr val="8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FF00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mporary Portrait 5">
        <a:dk1>
          <a:srgbClr val="000066"/>
        </a:dk1>
        <a:lt1>
          <a:srgbClr val="FFFFFF"/>
        </a:lt1>
        <a:dk2>
          <a:srgbClr val="0000FF"/>
        </a:dk2>
        <a:lt2>
          <a:srgbClr val="000000"/>
        </a:lt2>
        <a:accent1>
          <a:srgbClr val="0066FF"/>
        </a:accent1>
        <a:accent2>
          <a:srgbClr val="33CCCC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mporary Portrait 6">
        <a:dk1>
          <a:srgbClr val="000000"/>
        </a:dk1>
        <a:lt1>
          <a:srgbClr val="FFFFFF"/>
        </a:lt1>
        <a:dk2>
          <a:srgbClr val="000066"/>
        </a:dk2>
        <a:lt2>
          <a:srgbClr val="FFCC00"/>
        </a:lt2>
        <a:accent1>
          <a:srgbClr val="0066FF"/>
        </a:accent1>
        <a:accent2>
          <a:srgbClr val="33CCCC"/>
        </a:accent2>
        <a:accent3>
          <a:srgbClr val="AAAAB8"/>
        </a:accent3>
        <a:accent4>
          <a:srgbClr val="DADADA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mporary Portrait 7">
        <a:dk1>
          <a:srgbClr val="5E574E"/>
        </a:dk1>
        <a:lt1>
          <a:srgbClr val="FFFFCC"/>
        </a:lt1>
        <a:dk2>
          <a:srgbClr val="8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C0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Designs\Contemporary Portrait.pot</Template>
  <TotalTime>178</TotalTime>
  <Words>1035</Words>
  <Application>Microsoft Office PowerPoint</Application>
  <PresentationFormat>On-screen Show (4:3)</PresentationFormat>
  <Paragraphs>207</Paragraphs>
  <Slides>21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Arial Black</vt:lpstr>
      <vt:lpstr>Monotype Sorts</vt:lpstr>
      <vt:lpstr>Tahoma</vt:lpstr>
      <vt:lpstr>Times New Roman</vt:lpstr>
      <vt:lpstr>Contemporary Portrait</vt:lpstr>
      <vt:lpstr>Document</vt:lpstr>
      <vt:lpstr>CPUs</vt:lpstr>
      <vt:lpstr>Goals</vt:lpstr>
      <vt:lpstr>Collaboration diagram for compressor</vt:lpstr>
      <vt:lpstr>Huffman coding</vt:lpstr>
      <vt:lpstr>Huffman example</vt:lpstr>
      <vt:lpstr>Example Huffman code</vt:lpstr>
      <vt:lpstr>Huffman coder requirements table</vt:lpstr>
      <vt:lpstr>Building a specification</vt:lpstr>
      <vt:lpstr>data-compressor class</vt:lpstr>
      <vt:lpstr>data-compressor behaviors</vt:lpstr>
      <vt:lpstr>Auxiliary classes</vt:lpstr>
      <vt:lpstr>Auxiliary class roles</vt:lpstr>
      <vt:lpstr>Class relationships</vt:lpstr>
      <vt:lpstr>Encode behavior</vt:lpstr>
      <vt:lpstr>Insert behavior</vt:lpstr>
      <vt:lpstr>Program design</vt:lpstr>
      <vt:lpstr>C++ classes</vt:lpstr>
      <vt:lpstr>C++ classes, cont’d.</vt:lpstr>
      <vt:lpstr>C code</vt:lpstr>
      <vt:lpstr>Testing</vt:lpstr>
      <vt:lpstr>Code inspection tests</vt:lpstr>
    </vt:vector>
  </TitlesOfParts>
  <Company>Princeton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Wayne Wolf</dc:creator>
  <cp:lastModifiedBy>Anusha N</cp:lastModifiedBy>
  <cp:revision>45</cp:revision>
  <dcterms:created xsi:type="dcterms:W3CDTF">2000-07-09T10:33:27Z</dcterms:created>
  <dcterms:modified xsi:type="dcterms:W3CDTF">2025-02-03T03:18:25Z</dcterms:modified>
</cp:coreProperties>
</file>