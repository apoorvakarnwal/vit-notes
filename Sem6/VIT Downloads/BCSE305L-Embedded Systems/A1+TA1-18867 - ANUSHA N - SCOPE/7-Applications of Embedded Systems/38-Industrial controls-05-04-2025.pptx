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5" r:id="rId9"/>
    <p:sldId id="264"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7D253-03F4-3DE0-CA89-9EFAB15868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24F050-CD1A-5C94-53BC-C4FA0B99C7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190B25-C107-A48D-2D67-FC4ABE99D5CA}"/>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5" name="Footer Placeholder 4">
            <a:extLst>
              <a:ext uri="{FF2B5EF4-FFF2-40B4-BE49-F238E27FC236}">
                <a16:creationId xmlns:a16="http://schemas.microsoft.com/office/drawing/2014/main" id="{78BBF3DE-D5B4-46BD-C34F-59567FC29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503A3B-7D13-72DB-080E-6C3B844EEE6B}"/>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1470697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5FE6B-385E-3478-CBC2-FF18CBF19BE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2FB84B-C5B9-A406-3542-A909BBB4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3801AF-77B1-9D50-630A-2ED212CCA980}"/>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5" name="Footer Placeholder 4">
            <a:extLst>
              <a:ext uri="{FF2B5EF4-FFF2-40B4-BE49-F238E27FC236}">
                <a16:creationId xmlns:a16="http://schemas.microsoft.com/office/drawing/2014/main" id="{F1B2C426-926C-28E5-C5BC-3B15C9B2EA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B26978-EE13-CC18-3478-CBC53E702B63}"/>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882263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AF037-ED04-97A7-5EB2-5AED517D66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20B894-3704-534F-6201-1E287395981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C1F8E9-2817-09F7-9589-ECC363E7C2D9}"/>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5" name="Footer Placeholder 4">
            <a:extLst>
              <a:ext uri="{FF2B5EF4-FFF2-40B4-BE49-F238E27FC236}">
                <a16:creationId xmlns:a16="http://schemas.microsoft.com/office/drawing/2014/main" id="{9EBEC5DC-1ECB-C573-6C92-43FCD35125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AA4467-4F90-EE86-3A49-B51AA2292363}"/>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287295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7BF40-8480-FC34-3EA3-590CC75B70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849A157-2416-152D-FB6B-E010F986DD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A1A81D-AC12-0CFA-6EAA-AA0FD65844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5ECBCD-0291-E376-ECA0-41482DB73D1A}"/>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6" name="Footer Placeholder 5">
            <a:extLst>
              <a:ext uri="{FF2B5EF4-FFF2-40B4-BE49-F238E27FC236}">
                <a16:creationId xmlns:a16="http://schemas.microsoft.com/office/drawing/2014/main" id="{2458CA4C-1A64-F319-A745-E348D9686F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174E04-6261-870F-F575-ACABEC340FF9}"/>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30663676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CC6B-C387-67EC-D4CA-99769761F29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858562-D5A5-87E6-8812-29B1CD52C6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7C76CA-427A-6C53-45CC-D20D7537DC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B19A2A-8122-836A-9A2B-82FFC709ED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5EE7A5-09B2-31D7-E46D-CFD57B5647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D942F18-DCCA-A6A6-3D1A-BC6EEF8190AB}"/>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8" name="Footer Placeholder 7">
            <a:extLst>
              <a:ext uri="{FF2B5EF4-FFF2-40B4-BE49-F238E27FC236}">
                <a16:creationId xmlns:a16="http://schemas.microsoft.com/office/drawing/2014/main" id="{3AD4A591-5736-2B5D-D0B3-C382721B07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465B2F-E0E5-F3D2-4134-268870B6A1D0}"/>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103554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F8DC3-57FC-02E2-EDA8-4910EB312A0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292AA03-AF91-7449-84AE-AD3BC61A7F3E}"/>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4" name="Footer Placeholder 3">
            <a:extLst>
              <a:ext uri="{FF2B5EF4-FFF2-40B4-BE49-F238E27FC236}">
                <a16:creationId xmlns:a16="http://schemas.microsoft.com/office/drawing/2014/main" id="{1299735F-703E-58F8-791C-D719C13B813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94D95A-7D72-2A3A-0DEA-42461B658329}"/>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2514786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ACDA06-8B93-3A06-EB07-EE90FDB8D142}"/>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3" name="Footer Placeholder 2">
            <a:extLst>
              <a:ext uri="{FF2B5EF4-FFF2-40B4-BE49-F238E27FC236}">
                <a16:creationId xmlns:a16="http://schemas.microsoft.com/office/drawing/2014/main" id="{991ABB6D-FE1F-C22D-8DC0-43FE440D59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007DBB6-68DA-7E5A-E701-B343D50E83DF}"/>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476983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941F3-3F57-1CB2-ED77-C81EB6AD94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39F8F2-92A7-18B8-1AC4-8A605875B0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0413AA-AD36-4829-E104-1C5920B421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EF2BC4-5C60-F834-3DE3-FC140778FE71}"/>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6" name="Footer Placeholder 5">
            <a:extLst>
              <a:ext uri="{FF2B5EF4-FFF2-40B4-BE49-F238E27FC236}">
                <a16:creationId xmlns:a16="http://schemas.microsoft.com/office/drawing/2014/main" id="{25308686-D6F6-6FC2-6B29-A673751BF0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93394F-A1E6-17CB-80EB-682DB6849D7A}"/>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594976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9067C-56D0-4F1D-24A7-694839B752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1C9AB2-BF78-73E4-81BE-4BEB8B099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A39ECB2-7678-B8F6-9FD6-7CB731F7C1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822B63-6676-2787-49E9-E88EFD291A3F}"/>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6" name="Footer Placeholder 5">
            <a:extLst>
              <a:ext uri="{FF2B5EF4-FFF2-40B4-BE49-F238E27FC236}">
                <a16:creationId xmlns:a16="http://schemas.microsoft.com/office/drawing/2014/main" id="{F35FD940-66A8-C56B-9837-9E46864359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CB833B-1DF3-E53E-4F4A-AD5EBCB797F8}"/>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3779132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56537-E031-4A18-D66D-841598EE5C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83EC4B3-2E09-6601-A278-A819325FD4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CF0164-A4E0-BEA4-38AA-C28342B2A9DB}"/>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5" name="Footer Placeholder 4">
            <a:extLst>
              <a:ext uri="{FF2B5EF4-FFF2-40B4-BE49-F238E27FC236}">
                <a16:creationId xmlns:a16="http://schemas.microsoft.com/office/drawing/2014/main" id="{33F9AFA6-ACF9-ACB9-4C3C-0969905EEA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4ADEB-14E0-34D7-6A90-4D4722A1C1BE}"/>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1908141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E1040C-7742-31CB-34F5-FC3AC18C4B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F6B39B-64DE-90BE-C0EC-B7D0BD3FD3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C6D12C-6839-8B41-D96C-B7F59E7081A5}"/>
              </a:ext>
            </a:extLst>
          </p:cNvPr>
          <p:cNvSpPr>
            <a:spLocks noGrp="1"/>
          </p:cNvSpPr>
          <p:nvPr>
            <p:ph type="dt" sz="half" idx="10"/>
          </p:nvPr>
        </p:nvSpPr>
        <p:spPr/>
        <p:txBody>
          <a:bodyPr/>
          <a:lstStyle/>
          <a:p>
            <a:fld id="{451DC540-2B7D-41A2-8189-2D3184EA65BB}" type="datetimeFigureOut">
              <a:rPr lang="en-IN" smtClean="0"/>
              <a:t>29-04-2024</a:t>
            </a:fld>
            <a:endParaRPr lang="en-IN"/>
          </a:p>
        </p:txBody>
      </p:sp>
      <p:sp>
        <p:nvSpPr>
          <p:cNvPr id="5" name="Footer Placeholder 4">
            <a:extLst>
              <a:ext uri="{FF2B5EF4-FFF2-40B4-BE49-F238E27FC236}">
                <a16:creationId xmlns:a16="http://schemas.microsoft.com/office/drawing/2014/main" id="{CC6D9AC4-2211-73A0-9156-2971B5206D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2A8FA8-A8CD-D3C8-6FA1-8702BEE5E027}"/>
              </a:ext>
            </a:extLst>
          </p:cNvPr>
          <p:cNvSpPr>
            <a:spLocks noGrp="1"/>
          </p:cNvSpPr>
          <p:nvPr>
            <p:ph type="sldNum" sz="quarter" idx="12"/>
          </p:nvPr>
        </p:nvSpPr>
        <p:spPr/>
        <p:txBody>
          <a:bodyPr/>
          <a:lstStyle/>
          <a:p>
            <a:fld id="{9F8CFF5B-360D-4E86-A3B1-CC679C56143F}" type="slidenum">
              <a:rPr lang="en-IN" smtClean="0"/>
              <a:t>‹#›</a:t>
            </a:fld>
            <a:endParaRPr lang="en-IN"/>
          </a:p>
        </p:txBody>
      </p:sp>
    </p:spTree>
    <p:extLst>
      <p:ext uri="{BB962C8B-B14F-4D97-AF65-F5344CB8AC3E}">
        <p14:creationId xmlns:p14="http://schemas.microsoft.com/office/powerpoint/2010/main" val="1792038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7F32B-5F25-319B-E601-E41E4FD0BE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8B4080-37A5-E23D-6644-9AC1E875D2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222CC7-F830-50E2-3F5B-E0346DAC9A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1DC540-2B7D-41A2-8189-2D3184EA65BB}" type="datetimeFigureOut">
              <a:rPr lang="en-IN" smtClean="0"/>
              <a:t>29-04-2024</a:t>
            </a:fld>
            <a:endParaRPr lang="en-IN"/>
          </a:p>
        </p:txBody>
      </p:sp>
      <p:sp>
        <p:nvSpPr>
          <p:cNvPr id="5" name="Footer Placeholder 4">
            <a:extLst>
              <a:ext uri="{FF2B5EF4-FFF2-40B4-BE49-F238E27FC236}">
                <a16:creationId xmlns:a16="http://schemas.microsoft.com/office/drawing/2014/main" id="{AF3ADDF5-FE0D-06E8-D19F-35A5F9A22B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1D8B367-0204-BD71-B6A8-D6043B1E49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8CFF5B-360D-4E86-A3B1-CC679C56143F}" type="slidenum">
              <a:rPr lang="en-IN" smtClean="0"/>
              <a:t>‹#›</a:t>
            </a:fld>
            <a:endParaRPr lang="en-IN"/>
          </a:p>
        </p:txBody>
      </p:sp>
    </p:spTree>
    <p:extLst>
      <p:ext uri="{BB962C8B-B14F-4D97-AF65-F5344CB8AC3E}">
        <p14:creationId xmlns:p14="http://schemas.microsoft.com/office/powerpoint/2010/main" val="639631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orthogone.com/industries/medical-devices/?trk=article-ssr-frontend-pulse_little-text-block" TargetMode="External"/><Relationship Id="rId2" Type="http://schemas.openxmlformats.org/officeDocument/2006/relationships/hyperlink" Target="https://www.who.int/news-room/fact-sheets/detail/noncommunicable-diseases?trk=article-ssr-frontend-pulse_little-text-block"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orthogone.com/drive-software-product-development-innovation-with-technical-experts/?trk=article-ssr-frontend-pulse_little-text-block"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slideplayer.com/slide/12441676/"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slideshare.net/slideshow/ch-5-industrial-control-systemsppt/253413672" TargetMode="External"/><Relationship Id="rId2" Type="http://schemas.openxmlformats.org/officeDocument/2006/relationships/hyperlink" Target="https://slideplayer.com/slide/10976069/"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022F-3FC7-4C83-AFE6-0CF82593DEA0}"/>
              </a:ext>
            </a:extLst>
          </p:cNvPr>
          <p:cNvSpPr>
            <a:spLocks noGrp="1"/>
          </p:cNvSpPr>
          <p:nvPr>
            <p:ph type="ctrTitle"/>
          </p:nvPr>
        </p:nvSpPr>
        <p:spPr/>
        <p:txBody>
          <a:bodyPr/>
          <a:lstStyle/>
          <a:p>
            <a:r>
              <a:rPr lang="en-US" dirty="0">
                <a:solidFill>
                  <a:srgbClr val="C00000"/>
                </a:solidFill>
                <a:latin typeface="Arial" panose="020B0604020202020204" pitchFamily="34" charset="0"/>
                <a:cs typeface="Arial" panose="020B0604020202020204" pitchFamily="34" charset="0"/>
              </a:rPr>
              <a:t>Embedded in Healthcare &amp; Industrial applications</a:t>
            </a:r>
          </a:p>
        </p:txBody>
      </p:sp>
      <p:sp>
        <p:nvSpPr>
          <p:cNvPr id="3" name="Subtitle 2">
            <a:extLst>
              <a:ext uri="{FF2B5EF4-FFF2-40B4-BE49-F238E27FC236}">
                <a16:creationId xmlns:a16="http://schemas.microsoft.com/office/drawing/2014/main" id="{E8BA870B-D822-4D33-97F8-8CDFCC2E990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24036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5EAD50-0F12-2AAD-FB3D-15E9AEACB9CF}"/>
              </a:ext>
            </a:extLst>
          </p:cNvPr>
          <p:cNvSpPr txBox="1"/>
          <p:nvPr/>
        </p:nvSpPr>
        <p:spPr>
          <a:xfrm>
            <a:off x="501445" y="289679"/>
            <a:ext cx="10648335" cy="5632311"/>
          </a:xfrm>
          <a:prstGeom prst="rect">
            <a:avLst/>
          </a:prstGeom>
          <a:noFill/>
        </p:spPr>
        <p:txBody>
          <a:bodyPr wrap="square">
            <a:spAutoFit/>
          </a:bodyPr>
          <a:lstStyle/>
          <a:p>
            <a:pPr marL="342900" indent="-342900" algn="just" fontAlgn="auto">
              <a:buFont typeface="Arial" panose="020B0604020202020204" pitchFamily="34" charset="0"/>
              <a:buChar char="•"/>
            </a:pPr>
            <a:r>
              <a:rPr lang="en-US" sz="2400" b="1" i="0" dirty="0">
                <a:effectLst/>
                <a:latin typeface="-apple-system"/>
              </a:rPr>
              <a:t>Embedded Systems in Medical Applications</a:t>
            </a:r>
            <a:r>
              <a:rPr lang="en-US" sz="2400" b="0" i="0" dirty="0">
                <a:effectLst/>
                <a:latin typeface="-apple-system"/>
              </a:rPr>
              <a:t>: </a:t>
            </a:r>
          </a:p>
          <a:p>
            <a:pPr marL="342900" indent="-342900" algn="just" fontAlgn="auto">
              <a:buFont typeface="Arial" panose="020B0604020202020204" pitchFamily="34" charset="0"/>
              <a:buChar char="•"/>
            </a:pPr>
            <a:r>
              <a:rPr lang="en-US" sz="2400" b="0" i="0" dirty="0">
                <a:effectLst/>
                <a:latin typeface="-apple-system"/>
              </a:rPr>
              <a:t>the rapid adoption of artificial intelligence (AI) and Internet of Things (IoT) devices is transforming the industrial landscape. The trend is only beginning. </a:t>
            </a:r>
          </a:p>
          <a:p>
            <a:pPr marL="342900" indent="-342900" algn="just" fontAlgn="auto">
              <a:buFont typeface="Arial" panose="020B0604020202020204" pitchFamily="34" charset="0"/>
              <a:buChar char="•"/>
            </a:pPr>
            <a:r>
              <a:rPr lang="en-US" sz="2400" b="0" i="0" dirty="0">
                <a:effectLst/>
                <a:latin typeface="-apple-system"/>
              </a:rPr>
              <a:t>A revolution is underway in advancing mobile communications, smart cities, connected transport, advanced manufacturing, and </a:t>
            </a:r>
            <a:r>
              <a:rPr lang="en-US" sz="2400" b="1" i="0" dirty="0">
                <a:effectLst/>
                <a:latin typeface="-apple-system"/>
              </a:rPr>
              <a:t>connected healthcare</a:t>
            </a:r>
            <a:r>
              <a:rPr lang="en-US" sz="2400" dirty="0">
                <a:latin typeface="-apple-system"/>
              </a:rPr>
              <a:t>.</a:t>
            </a:r>
          </a:p>
          <a:p>
            <a:pPr marL="342900" indent="-342900" algn="just" fontAlgn="auto">
              <a:buFont typeface="Arial" panose="020B0604020202020204" pitchFamily="34" charset="0"/>
              <a:buChar char="•"/>
            </a:pPr>
            <a:r>
              <a:rPr lang="en-US" sz="2400" b="0" i="0" dirty="0">
                <a:effectLst/>
                <a:latin typeface="-apple-system"/>
              </a:rPr>
              <a:t>The advent of 5G networks enables new types of devices and high data transfer volumes. In healthcare, this is changing the </a:t>
            </a:r>
            <a:r>
              <a:rPr lang="en-US" sz="2400" b="1" i="0" dirty="0">
                <a:effectLst/>
                <a:latin typeface="-apple-system"/>
              </a:rPr>
              <a:t>development of electronic medical device design</a:t>
            </a:r>
            <a:r>
              <a:rPr lang="en-US" sz="2400" b="0" i="0" dirty="0">
                <a:effectLst/>
                <a:latin typeface="-apple-system"/>
              </a:rPr>
              <a:t>.</a:t>
            </a:r>
          </a:p>
          <a:p>
            <a:pPr algn="just" fontAlgn="auto"/>
            <a:r>
              <a:rPr lang="en-US" sz="2400" b="1" i="0" dirty="0">
                <a:effectLst/>
                <a:latin typeface="-apple-system"/>
              </a:rPr>
              <a:t>How?</a:t>
            </a:r>
          </a:p>
          <a:p>
            <a:pPr algn="just" fontAlgn="auto"/>
            <a:r>
              <a:rPr lang="en-US" sz="2400" b="0" i="0" dirty="0">
                <a:effectLst/>
                <a:latin typeface="-apple-system"/>
              </a:rPr>
              <a:t>The convergence of IoT with </a:t>
            </a:r>
            <a:r>
              <a:rPr lang="en-US" sz="2400" b="1" i="0" dirty="0">
                <a:effectLst/>
                <a:latin typeface="-apple-system"/>
              </a:rPr>
              <a:t>embedded systems</a:t>
            </a:r>
            <a:r>
              <a:rPr lang="en-US" sz="2400" b="0" i="0" dirty="0">
                <a:effectLst/>
                <a:latin typeface="-apple-system"/>
              </a:rPr>
              <a:t> is creating new applications that will change the face of patient care. </a:t>
            </a:r>
          </a:p>
          <a:p>
            <a:pPr algn="just" fontAlgn="auto"/>
            <a:r>
              <a:rPr lang="en-US" sz="2400" b="0" i="0" dirty="0">
                <a:effectLst/>
                <a:latin typeface="-apple-system"/>
              </a:rPr>
              <a:t>The rise of chronic illnesses and aging populations are changing the approaches to health services. </a:t>
            </a:r>
          </a:p>
          <a:p>
            <a:pPr algn="just" fontAlgn="auto"/>
            <a:r>
              <a:rPr lang="en-US" sz="2400" b="0" i="0" dirty="0">
                <a:effectLst/>
                <a:latin typeface="-apple-system"/>
              </a:rPr>
              <a:t>Heart attacks, cancer, and diabetes </a:t>
            </a:r>
            <a:r>
              <a:rPr lang="en-US" sz="2400" b="1" i="0" u="none" strike="noStrike" dirty="0">
                <a:effectLst/>
                <a:latin typeface="-apple-system"/>
                <a:hlinkClick r:id="rId2"/>
              </a:rPr>
              <a:t>kill 41 million people</a:t>
            </a:r>
            <a:r>
              <a:rPr lang="en-US" sz="2400" b="0" i="0" dirty="0">
                <a:effectLst/>
                <a:latin typeface="-apple-system"/>
              </a:rPr>
              <a:t> annually. That accounts for 71% of all deaths. How can </a:t>
            </a:r>
            <a:r>
              <a:rPr lang="en-US" sz="2400" b="1" i="0" u="none" strike="noStrike" dirty="0">
                <a:effectLst/>
                <a:latin typeface="-apple-system"/>
                <a:hlinkClick r:id="rId3"/>
              </a:rPr>
              <a:t>medical electronics</a:t>
            </a:r>
            <a:r>
              <a:rPr lang="en-US" sz="2400" b="0" i="0" dirty="0">
                <a:effectLst/>
                <a:latin typeface="-apple-system"/>
              </a:rPr>
              <a:t> help</a:t>
            </a:r>
          </a:p>
        </p:txBody>
      </p:sp>
    </p:spTree>
    <p:extLst>
      <p:ext uri="{BB962C8B-B14F-4D97-AF65-F5344CB8AC3E}">
        <p14:creationId xmlns:p14="http://schemas.microsoft.com/office/powerpoint/2010/main" val="3948751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7B097C-D7EF-F764-3FD9-4D28F82FBFB7}"/>
              </a:ext>
            </a:extLst>
          </p:cNvPr>
          <p:cNvSpPr txBox="1"/>
          <p:nvPr/>
        </p:nvSpPr>
        <p:spPr>
          <a:xfrm>
            <a:off x="521110" y="338304"/>
            <a:ext cx="10972800" cy="6001643"/>
          </a:xfrm>
          <a:prstGeom prst="rect">
            <a:avLst/>
          </a:prstGeom>
          <a:noFill/>
        </p:spPr>
        <p:txBody>
          <a:bodyPr wrap="square">
            <a:spAutoFit/>
          </a:bodyPr>
          <a:lstStyle/>
          <a:p>
            <a:pPr algn="just" fontAlgn="auto"/>
            <a:r>
              <a:rPr lang="en-US" sz="2400" b="1" i="0" dirty="0">
                <a:effectLst/>
                <a:latin typeface="-apple-system"/>
              </a:rPr>
              <a:t>Embedded systems in healthcare are not a new concept</a:t>
            </a:r>
            <a:r>
              <a:rPr lang="en-US" sz="2400" b="0" i="0" dirty="0">
                <a:effectLst/>
                <a:latin typeface="-apple-system"/>
              </a:rPr>
              <a:t>. They are part of larger operating systems that track vital signs, amplify sounds, and run imaging scans. Magnetic resonance imaging (MRI), X-ray scanners, and pulse oximeters have long been used in medical treatment. However, the adoption of IoT is increasing the use of advanced portable devices. One way to control chronic illnesses is to reduce risk factors. Investing in managing these diseases by detecting, screening, and treating them early is critical. </a:t>
            </a:r>
          </a:p>
          <a:p>
            <a:pPr algn="just" fontAlgn="auto"/>
            <a:r>
              <a:rPr lang="en-US" sz="2400" b="1" i="0" dirty="0">
                <a:effectLst/>
                <a:latin typeface="-apple-system"/>
              </a:rPr>
              <a:t>Where do embedded systems come in?</a:t>
            </a:r>
            <a:r>
              <a:rPr lang="en-US" sz="2400" b="0" i="0" dirty="0">
                <a:effectLst/>
                <a:latin typeface="-apple-system"/>
              </a:rPr>
              <a:t> They can track patients as they go about their daily lives and provide insights into their symptoms. Patients are now given glucose monitors, pacemakers, and connected inhalers to manage their conditions. Wearable biosensors can detect the early onset of illness. And smartwatches that track exercise, sleep patterns, and vital signs are becoming popular among consumers. Advances in </a:t>
            </a:r>
            <a:r>
              <a:rPr lang="en-US" sz="2400" b="1" i="0" u="none" strike="noStrike" dirty="0">
                <a:effectLst/>
                <a:latin typeface="-apple-system"/>
                <a:hlinkClick r:id="rId2"/>
              </a:rPr>
              <a:t>semiconductor technology</a:t>
            </a:r>
            <a:r>
              <a:rPr lang="en-US" sz="2400" b="0" i="0" dirty="0">
                <a:effectLst/>
                <a:latin typeface="-apple-system"/>
              </a:rPr>
              <a:t> have increased the complexity of embedded systems. This creates new possibilities for patient care. Devices are now small enough to be worn as jewelry or implanted under the skin. They use little power, so they require only small batteries. This makes new forms of treatment a reality.</a:t>
            </a:r>
          </a:p>
        </p:txBody>
      </p:sp>
    </p:spTree>
    <p:extLst>
      <p:ext uri="{BB962C8B-B14F-4D97-AF65-F5344CB8AC3E}">
        <p14:creationId xmlns:p14="http://schemas.microsoft.com/office/powerpoint/2010/main" val="1659276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F9B1A9-B0D6-2626-67BF-73E9CE4D941C}"/>
              </a:ext>
            </a:extLst>
          </p:cNvPr>
          <p:cNvSpPr txBox="1"/>
          <p:nvPr/>
        </p:nvSpPr>
        <p:spPr>
          <a:xfrm>
            <a:off x="383458" y="405270"/>
            <a:ext cx="6096000" cy="369332"/>
          </a:xfrm>
          <a:prstGeom prst="rect">
            <a:avLst/>
          </a:prstGeom>
          <a:noFill/>
        </p:spPr>
        <p:txBody>
          <a:bodyPr wrap="square">
            <a:spAutoFit/>
          </a:bodyPr>
          <a:lstStyle/>
          <a:p>
            <a:r>
              <a:rPr lang="en-IN" b="1" i="0" dirty="0">
                <a:effectLst/>
                <a:latin typeface="-apple-system"/>
              </a:rPr>
              <a:t>1. </a:t>
            </a:r>
            <a:r>
              <a:rPr lang="en-IN" b="1" i="0" dirty="0">
                <a:effectLst/>
                <a:highlight>
                  <a:srgbClr val="FFFF00"/>
                </a:highlight>
                <a:latin typeface="-apple-system"/>
              </a:rPr>
              <a:t>Connected Inhalers</a:t>
            </a:r>
            <a:endParaRPr lang="en-IN" dirty="0">
              <a:highlight>
                <a:srgbClr val="FFFF00"/>
              </a:highlight>
            </a:endParaRPr>
          </a:p>
        </p:txBody>
      </p:sp>
      <p:sp>
        <p:nvSpPr>
          <p:cNvPr id="5" name="TextBox 4">
            <a:extLst>
              <a:ext uri="{FF2B5EF4-FFF2-40B4-BE49-F238E27FC236}">
                <a16:creationId xmlns:a16="http://schemas.microsoft.com/office/drawing/2014/main" id="{5E7EA781-29F3-26BE-C048-AB8E085DC371}"/>
              </a:ext>
            </a:extLst>
          </p:cNvPr>
          <p:cNvSpPr txBox="1"/>
          <p:nvPr/>
        </p:nvSpPr>
        <p:spPr>
          <a:xfrm>
            <a:off x="383457" y="1040127"/>
            <a:ext cx="11159613" cy="1200329"/>
          </a:xfrm>
          <a:prstGeom prst="rect">
            <a:avLst/>
          </a:prstGeom>
          <a:noFill/>
        </p:spPr>
        <p:txBody>
          <a:bodyPr wrap="square">
            <a:spAutoFit/>
          </a:bodyPr>
          <a:lstStyle/>
          <a:p>
            <a:pPr algn="just"/>
            <a:r>
              <a:rPr lang="en-US" b="0" i="0" dirty="0">
                <a:effectLst/>
                <a:latin typeface="-apple-system"/>
              </a:rPr>
              <a:t>Smart inhalers can help track medication and provide alerts when the patient needs to take a dose. Connected apps can guide patients on how they use the inhaler and offer insights like allergen forecasts. Sensors can track the patient’s breathing and alert their doctor if there are problems. The doctor can then adjust their treatment as necessary.</a:t>
            </a:r>
            <a:endParaRPr lang="en-IN" dirty="0"/>
          </a:p>
        </p:txBody>
      </p:sp>
      <p:sp>
        <p:nvSpPr>
          <p:cNvPr id="7" name="TextBox 6">
            <a:extLst>
              <a:ext uri="{FF2B5EF4-FFF2-40B4-BE49-F238E27FC236}">
                <a16:creationId xmlns:a16="http://schemas.microsoft.com/office/drawing/2014/main" id="{5144FC3D-F908-3882-DA0C-441C86901D72}"/>
              </a:ext>
            </a:extLst>
          </p:cNvPr>
          <p:cNvSpPr txBox="1"/>
          <p:nvPr/>
        </p:nvSpPr>
        <p:spPr>
          <a:xfrm>
            <a:off x="452283" y="2240456"/>
            <a:ext cx="11356260" cy="3693319"/>
          </a:xfrm>
          <a:prstGeom prst="rect">
            <a:avLst/>
          </a:prstGeom>
          <a:noFill/>
        </p:spPr>
        <p:txBody>
          <a:bodyPr wrap="square">
            <a:spAutoFit/>
          </a:bodyPr>
          <a:lstStyle/>
          <a:p>
            <a:pPr algn="just" fontAlgn="auto"/>
            <a:r>
              <a:rPr lang="en-US" b="1" i="0" dirty="0">
                <a:effectLst/>
                <a:latin typeface="-apple-system"/>
              </a:rPr>
              <a:t>2. </a:t>
            </a:r>
            <a:r>
              <a:rPr lang="en-US" b="1" i="0" dirty="0">
                <a:effectLst/>
                <a:highlight>
                  <a:srgbClr val="FFFF00"/>
                </a:highlight>
                <a:latin typeface="-apple-system"/>
              </a:rPr>
              <a:t>Glucose Monitors and Pumps</a:t>
            </a:r>
            <a:endParaRPr lang="en-US" b="0" i="0" dirty="0">
              <a:effectLst/>
              <a:highlight>
                <a:srgbClr val="FFFF00"/>
              </a:highlight>
              <a:latin typeface="-apple-system"/>
            </a:endParaRPr>
          </a:p>
          <a:p>
            <a:pPr algn="just" fontAlgn="auto"/>
            <a:r>
              <a:rPr lang="en-US" b="0" i="0" dirty="0">
                <a:effectLst/>
                <a:latin typeface="-apple-system"/>
              </a:rPr>
              <a:t>Patches or implants that contain </a:t>
            </a:r>
            <a:r>
              <a:rPr lang="en-US" b="1" i="0" dirty="0">
                <a:effectLst/>
                <a:latin typeface="-apple-system"/>
              </a:rPr>
              <a:t>smart sensors</a:t>
            </a:r>
            <a:r>
              <a:rPr lang="en-US" b="0" i="0" dirty="0">
                <a:effectLst/>
                <a:latin typeface="-apple-system"/>
              </a:rPr>
              <a:t> can measure blood glucose painlessly. Patients no longer have to prick their fingers or have blood drawn to test their glucose levels. Insulin delivery systems deliver a continuous flow of insulin using an automatic pump. This makes it easier for patients to manage their disease at home and better control their health. They can avoid extreme blood sugar highs and lows, reducing the burden on the healthcare system.</a:t>
            </a:r>
          </a:p>
          <a:p>
            <a:pPr algn="just" fontAlgn="auto"/>
            <a:r>
              <a:rPr lang="en-US" b="1" i="0" dirty="0">
                <a:effectLst/>
                <a:latin typeface="-apple-system"/>
              </a:rPr>
              <a:t>3. </a:t>
            </a:r>
            <a:r>
              <a:rPr lang="en-US" b="1" i="0" dirty="0">
                <a:effectLst/>
                <a:highlight>
                  <a:srgbClr val="FFFF00"/>
                </a:highlight>
                <a:latin typeface="-apple-system"/>
              </a:rPr>
              <a:t>Fitness Trackers</a:t>
            </a:r>
            <a:endParaRPr lang="en-US" b="0" i="0" dirty="0">
              <a:effectLst/>
              <a:highlight>
                <a:srgbClr val="FFFF00"/>
              </a:highlight>
              <a:latin typeface="-apple-system"/>
            </a:endParaRPr>
          </a:p>
          <a:p>
            <a:pPr algn="just" fontAlgn="auto"/>
            <a:r>
              <a:rPr lang="en-US" b="0" i="0" dirty="0">
                <a:effectLst/>
                <a:latin typeface="-apple-system"/>
              </a:rPr>
              <a:t>Smartwatches no longer only count steps. They can collect various </a:t>
            </a:r>
            <a:r>
              <a:rPr lang="en-US" b="1" i="0" dirty="0">
                <a:effectLst/>
                <a:latin typeface="-apple-system"/>
              </a:rPr>
              <a:t>biomedical data</a:t>
            </a:r>
            <a:r>
              <a:rPr lang="en-US" b="0" i="0" dirty="0">
                <a:effectLst/>
                <a:latin typeface="-apple-system"/>
              </a:rPr>
              <a:t> from heart rate to calorie intake and loss, water consumption, and sleep patterns. Some technologies use sensors that send microcurrents through the body to measure a patient’s health.</a:t>
            </a:r>
          </a:p>
          <a:p>
            <a:pPr algn="just" fontAlgn="auto"/>
            <a:r>
              <a:rPr lang="en-US" b="1" i="0" dirty="0">
                <a:effectLst/>
                <a:latin typeface="-apple-system"/>
              </a:rPr>
              <a:t>4. </a:t>
            </a:r>
            <a:r>
              <a:rPr lang="en-US" b="1" i="0" dirty="0">
                <a:effectLst/>
                <a:highlight>
                  <a:srgbClr val="FFFF00"/>
                </a:highlight>
                <a:latin typeface="-apple-system"/>
              </a:rPr>
              <a:t>Smart Hospital Beds</a:t>
            </a:r>
            <a:endParaRPr lang="en-US" b="0" i="0" dirty="0">
              <a:effectLst/>
              <a:highlight>
                <a:srgbClr val="FFFF00"/>
              </a:highlight>
              <a:latin typeface="-apple-system"/>
            </a:endParaRPr>
          </a:p>
          <a:p>
            <a:pPr algn="just" fontAlgn="auto"/>
            <a:r>
              <a:rPr lang="en-US" b="0" i="0" dirty="0">
                <a:effectLst/>
                <a:latin typeface="-apple-system"/>
              </a:rPr>
              <a:t>Embedded sensor apps in </a:t>
            </a:r>
            <a:r>
              <a:rPr lang="en-US" b="1" i="0" dirty="0">
                <a:effectLst/>
                <a:latin typeface="-apple-system"/>
              </a:rPr>
              <a:t>smart beds</a:t>
            </a:r>
            <a:r>
              <a:rPr lang="en-US" b="0" i="0" dirty="0">
                <a:effectLst/>
                <a:latin typeface="-apple-system"/>
              </a:rPr>
              <a:t> can continuously track a patient’s vital signs and alert healthcare staff if there are changes. This can help them respond to emergencies immediately and achieve better outcomes. Smart beds can also adjust to the most comfortable position for the patient.</a:t>
            </a:r>
          </a:p>
        </p:txBody>
      </p:sp>
    </p:spTree>
    <p:extLst>
      <p:ext uri="{BB962C8B-B14F-4D97-AF65-F5344CB8AC3E}">
        <p14:creationId xmlns:p14="http://schemas.microsoft.com/office/powerpoint/2010/main" val="830887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1CF86E-76F9-A4D6-D026-D5EC436714AD}"/>
              </a:ext>
            </a:extLst>
          </p:cNvPr>
          <p:cNvSpPr txBox="1"/>
          <p:nvPr/>
        </p:nvSpPr>
        <p:spPr>
          <a:xfrm>
            <a:off x="285134" y="0"/>
            <a:ext cx="11690555" cy="6740307"/>
          </a:xfrm>
          <a:prstGeom prst="rect">
            <a:avLst/>
          </a:prstGeom>
          <a:noFill/>
        </p:spPr>
        <p:txBody>
          <a:bodyPr wrap="square">
            <a:spAutoFit/>
          </a:bodyPr>
          <a:lstStyle/>
          <a:p>
            <a:pPr algn="just" fontAlgn="auto"/>
            <a:r>
              <a:rPr lang="en-US" sz="2400" b="1" i="0" dirty="0">
                <a:effectLst/>
                <a:latin typeface="-apple-system"/>
              </a:rPr>
              <a:t>5. </a:t>
            </a:r>
            <a:r>
              <a:rPr lang="en-US" sz="2400" b="1" i="0" dirty="0">
                <a:effectLst/>
                <a:highlight>
                  <a:srgbClr val="FFFF00"/>
                </a:highlight>
                <a:latin typeface="-apple-system"/>
              </a:rPr>
              <a:t>Preventive Care</a:t>
            </a:r>
            <a:endParaRPr lang="en-US" sz="2400" b="0" i="0" dirty="0">
              <a:effectLst/>
              <a:highlight>
                <a:srgbClr val="FFFF00"/>
              </a:highlight>
              <a:latin typeface="-apple-system"/>
            </a:endParaRPr>
          </a:p>
          <a:p>
            <a:pPr algn="just" fontAlgn="auto"/>
            <a:r>
              <a:rPr lang="en-US" sz="2400" b="0" i="0" dirty="0">
                <a:effectLst/>
                <a:latin typeface="-apple-system"/>
              </a:rPr>
              <a:t>Doctors are expanding their focus beyond emergency care to address</a:t>
            </a:r>
            <a:r>
              <a:rPr lang="en-US" sz="2400" b="1" i="0" dirty="0">
                <a:effectLst/>
                <a:latin typeface="-apple-system"/>
              </a:rPr>
              <a:t> the needs of aging populations</a:t>
            </a:r>
            <a:r>
              <a:rPr lang="en-US" sz="2400" b="0" i="0" dirty="0">
                <a:effectLst/>
                <a:latin typeface="-apple-system"/>
              </a:rPr>
              <a:t>. Medical devices that track a patient’s vital signs can identify potential illnesses as they develop. Doctors can intervene early, helping to prevent chronic conditions. This reduces hospital admissions and leads to better use of resources. In </a:t>
            </a:r>
            <a:r>
              <a:rPr lang="en-US" sz="2400" b="1" i="0" dirty="0">
                <a:effectLst/>
                <a:latin typeface="-apple-system"/>
              </a:rPr>
              <a:t>embedded systems</a:t>
            </a:r>
            <a:r>
              <a:rPr lang="en-US" sz="2400" b="0" i="0" dirty="0">
                <a:effectLst/>
                <a:latin typeface="-apple-system"/>
              </a:rPr>
              <a:t>, the hardware and software need to work together. Medical devices need specific software to process and </a:t>
            </a:r>
            <a:r>
              <a:rPr lang="en-US" sz="2400" b="1" i="0" dirty="0">
                <a:effectLst/>
                <a:latin typeface="-apple-system"/>
              </a:rPr>
              <a:t>analyze the data they collect</a:t>
            </a:r>
            <a:r>
              <a:rPr lang="en-US" sz="2400" b="0" i="0" dirty="0">
                <a:effectLst/>
                <a:latin typeface="-apple-system"/>
              </a:rPr>
              <a:t>. The software must track and control various devices, wearables, and other biomedical equipment. The hardware must be robust and reliable. </a:t>
            </a:r>
            <a:r>
              <a:rPr lang="en-US" sz="2400" b="1" i="0" dirty="0">
                <a:effectLst/>
                <a:latin typeface="-apple-system"/>
              </a:rPr>
              <a:t>The devices must deliver data</a:t>
            </a:r>
            <a:r>
              <a:rPr lang="en-US" sz="2400" b="0" i="0" dirty="0">
                <a:effectLst/>
                <a:latin typeface="-apple-system"/>
              </a:rPr>
              <a:t> clearly for doctors and patients to interpret. They must also be </a:t>
            </a:r>
            <a:r>
              <a:rPr lang="en-US" sz="2400" b="1" i="0" dirty="0">
                <a:effectLst/>
                <a:latin typeface="-apple-system"/>
              </a:rPr>
              <a:t>checked regularly</a:t>
            </a:r>
            <a:r>
              <a:rPr lang="en-US" sz="2400" b="0" i="0" dirty="0">
                <a:effectLst/>
                <a:latin typeface="-apple-system"/>
              </a:rPr>
              <a:t> to ensure the </a:t>
            </a:r>
            <a:r>
              <a:rPr lang="en-US" sz="2400" b="1" i="0" dirty="0">
                <a:effectLst/>
                <a:latin typeface="-apple-system"/>
              </a:rPr>
              <a:t>sensors work as they should.</a:t>
            </a:r>
            <a:endParaRPr lang="en-US" sz="2400" b="0" i="0" dirty="0">
              <a:effectLst/>
              <a:latin typeface="-apple-system"/>
            </a:endParaRPr>
          </a:p>
          <a:p>
            <a:pPr algn="just" fontAlgn="auto"/>
            <a:r>
              <a:rPr lang="en-US" sz="2400" b="1" i="0" dirty="0">
                <a:effectLst/>
                <a:latin typeface="-apple-system"/>
              </a:rPr>
              <a:t>The Future of Medical and IoT Devices</a:t>
            </a:r>
          </a:p>
          <a:p>
            <a:pPr algn="just" fontAlgn="auto"/>
            <a:r>
              <a:rPr lang="en-US" sz="2400" b="0" i="0" dirty="0">
                <a:effectLst/>
                <a:latin typeface="-apple-system"/>
              </a:rPr>
              <a:t>The next generation of </a:t>
            </a:r>
            <a:r>
              <a:rPr lang="en-US" sz="2400" b="1" i="0" dirty="0">
                <a:effectLst/>
                <a:latin typeface="-apple-system"/>
              </a:rPr>
              <a:t>electronic medical device design</a:t>
            </a:r>
            <a:r>
              <a:rPr lang="en-US" sz="2400" b="0" i="0" dirty="0">
                <a:effectLst/>
                <a:latin typeface="-apple-system"/>
              </a:rPr>
              <a:t> is emerging that will take healthcare to the next level. For example, wearable devices can inject patients with medication based on their medical condition. The </a:t>
            </a:r>
            <a:r>
              <a:rPr lang="en-US" sz="2400" b="1" i="0" dirty="0">
                <a:effectLst/>
                <a:latin typeface="-apple-system"/>
              </a:rPr>
              <a:t>electronic and embedded software for medical devices</a:t>
            </a:r>
            <a:r>
              <a:rPr lang="en-US" sz="2400" b="0" i="0" dirty="0">
                <a:effectLst/>
                <a:latin typeface="-apple-system"/>
              </a:rPr>
              <a:t> is becoming ever more complex. It is also essential that IoT devices keep the personal data they collect secure to protect patient privacy. </a:t>
            </a:r>
            <a:r>
              <a:rPr lang="en-US" sz="2400" b="1" i="0" dirty="0">
                <a:effectLst/>
                <a:latin typeface="-apple-system"/>
              </a:rPr>
              <a:t>Development teams must have the right experience</a:t>
            </a:r>
            <a:r>
              <a:rPr lang="en-US" sz="2400" b="0" i="0" dirty="0">
                <a:effectLst/>
                <a:latin typeface="-apple-system"/>
              </a:rPr>
              <a:t> to deliver high-quality solutions with minimal risk while meeting the highest medical certification standards</a:t>
            </a:r>
          </a:p>
        </p:txBody>
      </p:sp>
    </p:spTree>
    <p:extLst>
      <p:ext uri="{BB962C8B-B14F-4D97-AF65-F5344CB8AC3E}">
        <p14:creationId xmlns:p14="http://schemas.microsoft.com/office/powerpoint/2010/main" val="2161304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F4EA71-2857-B54C-3800-5B8F02F2620B}"/>
              </a:ext>
            </a:extLst>
          </p:cNvPr>
          <p:cNvSpPr txBox="1"/>
          <p:nvPr/>
        </p:nvSpPr>
        <p:spPr>
          <a:xfrm>
            <a:off x="1376516" y="3108293"/>
            <a:ext cx="7767484" cy="369332"/>
          </a:xfrm>
          <a:prstGeom prst="rect">
            <a:avLst/>
          </a:prstGeom>
          <a:noFill/>
        </p:spPr>
        <p:txBody>
          <a:bodyPr wrap="square">
            <a:spAutoFit/>
          </a:bodyPr>
          <a:lstStyle/>
          <a:p>
            <a:r>
              <a:rPr lang="en-IN" dirty="0"/>
              <a:t>https://drttit.gvet.edu.in/Naac-Docs/Criteria1/1-3-3/Hemanth-Kumar.pdf</a:t>
            </a:r>
          </a:p>
        </p:txBody>
      </p:sp>
      <p:sp>
        <p:nvSpPr>
          <p:cNvPr id="5" name="TextBox 4">
            <a:extLst>
              <a:ext uri="{FF2B5EF4-FFF2-40B4-BE49-F238E27FC236}">
                <a16:creationId xmlns:a16="http://schemas.microsoft.com/office/drawing/2014/main" id="{892CC289-D72B-4A05-379A-94E07C4B32FD}"/>
              </a:ext>
            </a:extLst>
          </p:cNvPr>
          <p:cNvSpPr txBox="1"/>
          <p:nvPr/>
        </p:nvSpPr>
        <p:spPr>
          <a:xfrm>
            <a:off x="1553497" y="3994044"/>
            <a:ext cx="6096000" cy="369332"/>
          </a:xfrm>
          <a:prstGeom prst="rect">
            <a:avLst/>
          </a:prstGeom>
          <a:noFill/>
        </p:spPr>
        <p:txBody>
          <a:bodyPr wrap="square">
            <a:spAutoFit/>
          </a:bodyPr>
          <a:lstStyle/>
          <a:p>
            <a:r>
              <a:rPr lang="en-IN" dirty="0">
                <a:hlinkClick r:id="rId2"/>
              </a:rPr>
              <a:t>https://slideplayer.com/slide/12441676/</a:t>
            </a:r>
            <a:endParaRPr lang="en-IN" dirty="0"/>
          </a:p>
        </p:txBody>
      </p:sp>
      <p:sp>
        <p:nvSpPr>
          <p:cNvPr id="7" name="TextBox 6">
            <a:extLst>
              <a:ext uri="{FF2B5EF4-FFF2-40B4-BE49-F238E27FC236}">
                <a16:creationId xmlns:a16="http://schemas.microsoft.com/office/drawing/2014/main" id="{7FC8F28D-6751-7F2D-F2CF-8F1D479B23CA}"/>
              </a:ext>
            </a:extLst>
          </p:cNvPr>
          <p:cNvSpPr txBox="1"/>
          <p:nvPr/>
        </p:nvSpPr>
        <p:spPr>
          <a:xfrm>
            <a:off x="2212258" y="1575308"/>
            <a:ext cx="6096000" cy="369332"/>
          </a:xfrm>
          <a:prstGeom prst="rect">
            <a:avLst/>
          </a:prstGeom>
          <a:noFill/>
        </p:spPr>
        <p:txBody>
          <a:bodyPr wrap="square">
            <a:spAutoFit/>
          </a:bodyPr>
          <a:lstStyle/>
          <a:p>
            <a:pPr algn="l"/>
            <a:r>
              <a:rPr lang="en-IN" b="0" i="0" dirty="0">
                <a:solidFill>
                  <a:srgbClr val="444444"/>
                </a:solidFill>
                <a:effectLst/>
                <a:highlight>
                  <a:srgbClr val="FFFF00"/>
                </a:highlight>
                <a:latin typeface="Open Sans" panose="020B0606030504020204" pitchFamily="34" charset="0"/>
              </a:rPr>
              <a:t>Automatic Pill Dispenser</a:t>
            </a:r>
          </a:p>
        </p:txBody>
      </p:sp>
    </p:spTree>
    <p:extLst>
      <p:ext uri="{BB962C8B-B14F-4D97-AF65-F5344CB8AC3E}">
        <p14:creationId xmlns:p14="http://schemas.microsoft.com/office/powerpoint/2010/main" val="1341067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8FC573C-AB5D-CEEC-37F0-3C9B0C9457EC}"/>
              </a:ext>
            </a:extLst>
          </p:cNvPr>
          <p:cNvSpPr txBox="1"/>
          <p:nvPr/>
        </p:nvSpPr>
        <p:spPr>
          <a:xfrm>
            <a:off x="540774" y="192857"/>
            <a:ext cx="10491020" cy="3917034"/>
          </a:xfrm>
          <a:prstGeom prst="rect">
            <a:avLst/>
          </a:prstGeom>
          <a:noFill/>
        </p:spPr>
        <p:txBody>
          <a:bodyPr wrap="square">
            <a:spAutoFit/>
          </a:bodyPr>
          <a:lstStyle/>
          <a:p>
            <a:pPr algn="just">
              <a:lnSpc>
                <a:spcPct val="150000"/>
              </a:lnSpc>
            </a:pPr>
            <a:r>
              <a:rPr lang="en-US" sz="2400" b="1" dirty="0">
                <a:highlight>
                  <a:srgbClr val="FFFF00"/>
                </a:highlight>
              </a:rPr>
              <a:t>Industrial Automation</a:t>
            </a:r>
          </a:p>
          <a:p>
            <a:pPr algn="just">
              <a:lnSpc>
                <a:spcPct val="150000"/>
              </a:lnSpc>
            </a:pPr>
            <a:r>
              <a:rPr lang="en-US" sz="2400" dirty="0"/>
              <a:t>•Typical application domains of industrial automation are in control of industrial processes, power supply, industrial robots. Industrial automation domain comprises a large area of control, monitoring and optimization systems</a:t>
            </a:r>
          </a:p>
          <a:p>
            <a:pPr algn="just">
              <a:lnSpc>
                <a:spcPct val="150000"/>
              </a:lnSpc>
            </a:pPr>
            <a:r>
              <a:rPr lang="en-US" sz="2400" dirty="0"/>
              <a:t>• Most control systems are manufactured in rather large volumes, and must to a large extent be configurable to suit a variety of customer contexts.</a:t>
            </a:r>
            <a:endParaRPr lang="en-IN" sz="2400" dirty="0"/>
          </a:p>
        </p:txBody>
      </p:sp>
    </p:spTree>
    <p:extLst>
      <p:ext uri="{BB962C8B-B14F-4D97-AF65-F5344CB8AC3E}">
        <p14:creationId xmlns:p14="http://schemas.microsoft.com/office/powerpoint/2010/main" val="903056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DE5117-1778-B241-16DE-E83053E67F28}"/>
              </a:ext>
            </a:extLst>
          </p:cNvPr>
          <p:cNvSpPr txBox="1"/>
          <p:nvPr/>
        </p:nvSpPr>
        <p:spPr>
          <a:xfrm>
            <a:off x="914399" y="289679"/>
            <a:ext cx="11080955" cy="5025030"/>
          </a:xfrm>
          <a:prstGeom prst="rect">
            <a:avLst/>
          </a:prstGeom>
          <a:noFill/>
        </p:spPr>
        <p:txBody>
          <a:bodyPr wrap="square">
            <a:spAutoFit/>
          </a:bodyPr>
          <a:lstStyle/>
          <a:p>
            <a:pPr algn="just">
              <a:lnSpc>
                <a:spcPct val="150000"/>
              </a:lnSpc>
            </a:pPr>
            <a:r>
              <a:rPr lang="en-US" sz="2400" dirty="0"/>
              <a:t>• They can be classified according to different levels of control:</a:t>
            </a:r>
          </a:p>
          <a:p>
            <a:pPr algn="just">
              <a:lnSpc>
                <a:spcPct val="150000"/>
              </a:lnSpc>
            </a:pPr>
            <a:r>
              <a:rPr lang="en-US" sz="2400" dirty="0" err="1"/>
              <a:t>i</a:t>
            </a:r>
            <a:r>
              <a:rPr lang="en-US" sz="2400" dirty="0"/>
              <a:t>) Process level (for example, a valve in a water pipeline, a boiler, etc.)</a:t>
            </a:r>
          </a:p>
          <a:p>
            <a:pPr algn="just">
              <a:lnSpc>
                <a:spcPct val="150000"/>
              </a:lnSpc>
            </a:pPr>
            <a:r>
              <a:rPr lang="en-US" sz="2400" dirty="0"/>
              <a:t>(ii) Field level that concerns sensors, actuators, drivers, </a:t>
            </a:r>
            <a:r>
              <a:rPr lang="en-US" sz="2400" dirty="0" err="1"/>
              <a:t>etc</a:t>
            </a:r>
            <a:endParaRPr lang="en-US" sz="2400" dirty="0"/>
          </a:p>
          <a:p>
            <a:pPr algn="just">
              <a:lnSpc>
                <a:spcPct val="150000"/>
              </a:lnSpc>
            </a:pPr>
            <a:r>
              <a:rPr lang="en-US" sz="2400" dirty="0"/>
              <a:t>(iii) Group control level that concerns controller devices and applications which control a group of related process level devices in a closed-loop fashion</a:t>
            </a:r>
          </a:p>
          <a:p>
            <a:pPr algn="just">
              <a:lnSpc>
                <a:spcPct val="150000"/>
              </a:lnSpc>
            </a:pPr>
            <a:r>
              <a:rPr lang="en-US" sz="2400" dirty="0"/>
              <a:t>(iv) Process control level </a:t>
            </a:r>
            <a:r>
              <a:rPr lang="en-US" sz="2400" dirty="0" err="1"/>
              <a:t>i.s</a:t>
            </a:r>
            <a:r>
              <a:rPr lang="en-US" sz="2400" dirty="0"/>
              <a:t>. operator stations and processing systems with their applications for plant-wide remote supervision and control</a:t>
            </a:r>
          </a:p>
          <a:p>
            <a:pPr algn="just">
              <a:lnSpc>
                <a:spcPct val="150000"/>
              </a:lnSpc>
            </a:pPr>
            <a:r>
              <a:rPr lang="en-US" sz="2400" dirty="0"/>
              <a:t>(v)Production or manufacturing management level that includes systems and applications for production planning</a:t>
            </a:r>
            <a:endParaRPr lang="en-IN" sz="2400" dirty="0"/>
          </a:p>
        </p:txBody>
      </p:sp>
    </p:spTree>
    <p:extLst>
      <p:ext uri="{BB962C8B-B14F-4D97-AF65-F5344CB8AC3E}">
        <p14:creationId xmlns:p14="http://schemas.microsoft.com/office/powerpoint/2010/main" val="1798925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1CAF50-8EC2-46EB-BD96-5AE444614A56}"/>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1488098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2E5A8A-863D-02B1-C7BA-A1618C825881}"/>
              </a:ext>
            </a:extLst>
          </p:cNvPr>
          <p:cNvSpPr txBox="1"/>
          <p:nvPr/>
        </p:nvSpPr>
        <p:spPr>
          <a:xfrm>
            <a:off x="3048000" y="3246792"/>
            <a:ext cx="6096000" cy="369332"/>
          </a:xfrm>
          <a:prstGeom prst="rect">
            <a:avLst/>
          </a:prstGeom>
          <a:noFill/>
        </p:spPr>
        <p:txBody>
          <a:bodyPr wrap="square">
            <a:spAutoFit/>
          </a:bodyPr>
          <a:lstStyle/>
          <a:p>
            <a:r>
              <a:rPr lang="en-IN" dirty="0">
                <a:hlinkClick r:id="rId2"/>
              </a:rPr>
              <a:t>https://slideplayer.com/slide/10976069/</a:t>
            </a:r>
            <a:endParaRPr lang="en-IN" dirty="0"/>
          </a:p>
        </p:txBody>
      </p:sp>
      <p:sp>
        <p:nvSpPr>
          <p:cNvPr id="4" name="TextBox 3">
            <a:extLst>
              <a:ext uri="{FF2B5EF4-FFF2-40B4-BE49-F238E27FC236}">
                <a16:creationId xmlns:a16="http://schemas.microsoft.com/office/drawing/2014/main" id="{D13C8367-7E68-575F-DA6A-18998E19252F}"/>
              </a:ext>
            </a:extLst>
          </p:cNvPr>
          <p:cNvSpPr txBox="1"/>
          <p:nvPr/>
        </p:nvSpPr>
        <p:spPr>
          <a:xfrm>
            <a:off x="1111045" y="1564629"/>
            <a:ext cx="9989574" cy="369332"/>
          </a:xfrm>
          <a:prstGeom prst="rect">
            <a:avLst/>
          </a:prstGeom>
          <a:noFill/>
        </p:spPr>
        <p:txBody>
          <a:bodyPr wrap="square">
            <a:spAutoFit/>
          </a:bodyPr>
          <a:lstStyle/>
          <a:p>
            <a:r>
              <a:rPr lang="en-IN" dirty="0">
                <a:hlinkClick r:id="rId3"/>
              </a:rPr>
              <a:t>https://www.slideshare.net/slideshow/ch-5-industrial-control-systemsppt/253413672</a:t>
            </a:r>
            <a:endParaRPr lang="en-IN" dirty="0"/>
          </a:p>
        </p:txBody>
      </p:sp>
    </p:spTree>
    <p:extLst>
      <p:ext uri="{BB962C8B-B14F-4D97-AF65-F5344CB8AC3E}">
        <p14:creationId xmlns:p14="http://schemas.microsoft.com/office/powerpoint/2010/main" val="3569571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1095</Words>
  <Application>Microsoft Office PowerPoint</Application>
  <PresentationFormat>Widescreen</PresentationFormat>
  <Paragraphs>37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-apple-system</vt:lpstr>
      <vt:lpstr>Aptos</vt:lpstr>
      <vt:lpstr>Aptos Display</vt:lpstr>
      <vt:lpstr>Arial</vt:lpstr>
      <vt:lpstr>Open Sans</vt:lpstr>
      <vt:lpstr>Office Theme</vt:lpstr>
      <vt:lpstr>Embedded in Healthcare &amp; Industrial applications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Dr.D. Ajitha</dc:creator>
  <cp:lastModifiedBy>Anusha N</cp:lastModifiedBy>
  <cp:revision>6</cp:revision>
  <dcterms:created xsi:type="dcterms:W3CDTF">2024-04-28T12:06:27Z</dcterms:created>
  <dcterms:modified xsi:type="dcterms:W3CDTF">2024-04-29T02:34:18Z</dcterms:modified>
</cp:coreProperties>
</file>