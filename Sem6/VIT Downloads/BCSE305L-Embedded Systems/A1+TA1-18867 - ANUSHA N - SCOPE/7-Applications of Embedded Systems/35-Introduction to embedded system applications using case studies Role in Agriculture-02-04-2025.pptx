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300" r:id="rId9"/>
    <p:sldId id="263" r:id="rId10"/>
    <p:sldId id="266" r:id="rId11"/>
    <p:sldId id="268" r:id="rId12"/>
    <p:sldId id="267" r:id="rId13"/>
    <p:sldId id="269" r:id="rId14"/>
    <p:sldId id="271"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3" r:id="rId30"/>
    <p:sldId id="286" r:id="rId31"/>
    <p:sldId id="288" r:id="rId32"/>
    <p:sldId id="287" r:id="rId33"/>
    <p:sldId id="301" r:id="rId34"/>
    <p:sldId id="289" r:id="rId35"/>
    <p:sldId id="290" r:id="rId36"/>
    <p:sldId id="291" r:id="rId37"/>
    <p:sldId id="292" r:id="rId38"/>
    <p:sldId id="302" r:id="rId39"/>
    <p:sldId id="293" r:id="rId40"/>
    <p:sldId id="294" r:id="rId41"/>
    <p:sldId id="295" r:id="rId42"/>
    <p:sldId id="296" r:id="rId43"/>
    <p:sldId id="297" r:id="rId44"/>
    <p:sldId id="298" r:id="rId45"/>
    <p:sldId id="29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B048-02A4-4051-9A2D-6C93A2FE9A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42F402-0E71-4986-B8DA-544A3D6606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936FD9-C0B8-4086-8CC8-D3090E27261A}"/>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C649087D-7C42-437E-9D96-9838E6C7EA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743D11-83D3-4FCA-9778-85609CCD65EB}"/>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1138262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BA76-6C4E-4515-90EE-EAB001CF4C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E9FBA4-6F68-4F8B-B9B8-B868E616EC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65EB3-441A-4F68-B188-F65A9C78BE04}"/>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F1E888D0-B5C5-4984-8D3C-324A614A7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2C5CA-A4D6-4076-A163-7910B42B65F8}"/>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961470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C4CAD-3F25-4122-BB13-F1AC23B909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FA5A6D-6170-4737-B6E0-A77BDEC94A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D42774-586E-4C19-8C6A-AA17FA866E15}"/>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DF3B7A10-C38F-45A4-969E-0CA3ABEE0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E744D-80C5-4109-AE71-44179844A260}"/>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646693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7375-84C7-4EF4-9D0F-01E15CA8B3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BEF641-F41C-4202-88E7-91283EFB7D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697427-8159-41F2-BDC2-A1F1797469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4D6E60-BC57-4AFD-899D-723E18557AAB}"/>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6" name="Footer Placeholder 5">
            <a:extLst>
              <a:ext uri="{FF2B5EF4-FFF2-40B4-BE49-F238E27FC236}">
                <a16:creationId xmlns:a16="http://schemas.microsoft.com/office/drawing/2014/main" id="{E23C6F4E-73AE-4663-9F90-97B8CA4937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53174B-4AF9-4C66-B82E-42F6B1F271AC}"/>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487600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9661-AE17-4D8A-A2F2-DD5076565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D94C02-F933-459D-86C7-0FAD8F8571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6CE52B-8BA4-4204-A81E-E6DB7B66B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23CE6-1467-4B91-BDEB-99801AAA7B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2D4D6-7874-47E0-808B-36408AD30D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1789F-F73A-4AC1-AE93-17983EBAA465}"/>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8" name="Footer Placeholder 7">
            <a:extLst>
              <a:ext uri="{FF2B5EF4-FFF2-40B4-BE49-F238E27FC236}">
                <a16:creationId xmlns:a16="http://schemas.microsoft.com/office/drawing/2014/main" id="{4A529682-AA96-45A0-828B-50F56049AC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4F7441-78D9-4FAF-B964-42E89DC0AA5A}"/>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363987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8484-0800-459F-AA0E-CE0BBF684A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041AEC-1FD5-499E-A599-891A84C9C8A9}"/>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4" name="Footer Placeholder 3">
            <a:extLst>
              <a:ext uri="{FF2B5EF4-FFF2-40B4-BE49-F238E27FC236}">
                <a16:creationId xmlns:a16="http://schemas.microsoft.com/office/drawing/2014/main" id="{0414C773-19EE-469B-94C4-745C5FB871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4AC93A-BF7D-456A-9743-D53C41EB62DF}"/>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629194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C59BF-03C1-4AA7-B214-70CB6038348A}"/>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3" name="Footer Placeholder 2">
            <a:extLst>
              <a:ext uri="{FF2B5EF4-FFF2-40B4-BE49-F238E27FC236}">
                <a16:creationId xmlns:a16="http://schemas.microsoft.com/office/drawing/2014/main" id="{7B997DD0-A48F-4096-8FBD-F88E64D35A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31659E-8265-43FA-B13D-C22E8932B9F3}"/>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592437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C5B8-6742-4826-B869-9E30DF6DEB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FEDBA-6A11-4467-BBCC-6186819556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97E3D9-0497-45E8-B9AB-DEF0E80A4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FBE10D-3E2E-451E-97EA-FEB295DAEC39}"/>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6" name="Footer Placeholder 5">
            <a:extLst>
              <a:ext uri="{FF2B5EF4-FFF2-40B4-BE49-F238E27FC236}">
                <a16:creationId xmlns:a16="http://schemas.microsoft.com/office/drawing/2014/main" id="{D47A86A5-FF99-4C4C-83F1-2AA017DE6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589C74-909A-4B00-BF49-07A9B34FA088}"/>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857413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09E17-7E47-4BC6-AC57-29611BFC74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59E4CD-67E8-4B1A-A5B9-B048BBC5F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DA32BF-40F8-44B3-9057-E3A89B49E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07F4DB-38CA-434F-934D-34F5CE163CDE}"/>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6" name="Footer Placeholder 5">
            <a:extLst>
              <a:ext uri="{FF2B5EF4-FFF2-40B4-BE49-F238E27FC236}">
                <a16:creationId xmlns:a16="http://schemas.microsoft.com/office/drawing/2014/main" id="{DCE9E421-AF89-4194-912B-D81DC5B48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4FE5A4-BD27-4F85-8DDE-6E486D5C0DA1}"/>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10063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0D48-B0D0-4126-A60D-1076C599A1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A87689-83CF-4DDF-89A9-143F915F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CE514-890E-4A8E-BF5D-3823EF6D5A06}"/>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E51A3031-0472-4B23-9817-0F721DCD9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4390-A618-4488-815D-A4CAE1222393}"/>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359112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901443-97D9-48BE-A648-4E631D6279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86820D-C3FE-42A9-9F1C-E2472C75D0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D5770-A9EA-49D9-AC42-A8BFEDB4DCE6}"/>
              </a:ext>
            </a:extLst>
          </p:cNvPr>
          <p:cNvSpPr>
            <a:spLocks noGrp="1"/>
          </p:cNvSpPr>
          <p:nvPr>
            <p:ph type="dt" sz="half" idx="10"/>
          </p:nvPr>
        </p:nvSpPr>
        <p:spPr/>
        <p:txBody>
          <a:body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5B3035DB-67FC-43A3-B05E-C5D6EF809A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05180-B05F-4A07-8051-2536EAECA32E}"/>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341460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5D871E-3CBF-4FB5-9D50-98D4FB9DAE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B3A260-81AC-4273-93FA-66B625BAC2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23A84-A38D-4A01-8C11-46838FE0D1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98BE7D-7D6A-4C0F-B2A6-137C0F5F5EE0}" type="datetimeFigureOut">
              <a:rPr lang="en-US" smtClean="0"/>
              <a:t>4/7/2025</a:t>
            </a:fld>
            <a:endParaRPr lang="en-US"/>
          </a:p>
        </p:txBody>
      </p:sp>
      <p:sp>
        <p:nvSpPr>
          <p:cNvPr id="5" name="Footer Placeholder 4">
            <a:extLst>
              <a:ext uri="{FF2B5EF4-FFF2-40B4-BE49-F238E27FC236}">
                <a16:creationId xmlns:a16="http://schemas.microsoft.com/office/drawing/2014/main" id="{A61D80D4-4C42-4AB8-913D-201F2FD478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73EA21-53F7-41F7-8AE8-0CDA64CEBD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C3907-EB42-4B6A-9882-8F97144E5FC0}" type="slidenum">
              <a:rPr lang="en-US" smtClean="0"/>
              <a:t>‹#›</a:t>
            </a:fld>
            <a:endParaRPr lang="en-US"/>
          </a:p>
        </p:txBody>
      </p:sp>
    </p:spTree>
    <p:extLst>
      <p:ext uri="{BB962C8B-B14F-4D97-AF65-F5344CB8AC3E}">
        <p14:creationId xmlns:p14="http://schemas.microsoft.com/office/powerpoint/2010/main" val="485050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D6FC2-60A1-4C05-8A60-BF65001D5990}"/>
              </a:ext>
            </a:extLst>
          </p:cNvPr>
          <p:cNvSpPr>
            <a:spLocks noGrp="1"/>
          </p:cNvSpPr>
          <p:nvPr>
            <p:ph type="ctr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p>
        </p:txBody>
      </p:sp>
      <p:sp>
        <p:nvSpPr>
          <p:cNvPr id="3" name="Subtitle 2">
            <a:extLst>
              <a:ext uri="{FF2B5EF4-FFF2-40B4-BE49-F238E27FC236}">
                <a16:creationId xmlns:a16="http://schemas.microsoft.com/office/drawing/2014/main" id="{79F9F0C4-7C0A-4FB9-91FF-8A89B2382A11}"/>
              </a:ext>
            </a:extLst>
          </p:cNvPr>
          <p:cNvSpPr>
            <a:spLocks noGrp="1"/>
          </p:cNvSpPr>
          <p:nvPr>
            <p:ph type="subTitle" idx="1"/>
          </p:nvPr>
        </p:nvSpPr>
        <p:spPr/>
        <p:txBody>
          <a:bodyPr/>
          <a:lstStyle/>
          <a:p>
            <a:r>
              <a:rPr lang="en-US" dirty="0"/>
              <a:t>Anusha N</a:t>
            </a:r>
          </a:p>
        </p:txBody>
      </p:sp>
    </p:spTree>
    <p:extLst>
      <p:ext uri="{BB962C8B-B14F-4D97-AF65-F5344CB8AC3E}">
        <p14:creationId xmlns:p14="http://schemas.microsoft.com/office/powerpoint/2010/main" val="3234070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876E7-2431-4C1C-86DF-67370E74908B}"/>
              </a:ext>
            </a:extLst>
          </p:cNvPr>
          <p:cNvSpPr>
            <a:spLocks noGrp="1"/>
          </p:cNvSpPr>
          <p:nvPr>
            <p:ph type="title"/>
          </p:nvPr>
        </p:nvSpPr>
        <p:spPr>
          <a:xfrm>
            <a:off x="838200" y="365126"/>
            <a:ext cx="10515600" cy="889934"/>
          </a:xfrm>
        </p:spPr>
        <p:txBody>
          <a:bodyPr/>
          <a:lstStyle/>
          <a:p>
            <a:r>
              <a:rPr lang="en-US" dirty="0">
                <a:solidFill>
                  <a:srgbClr val="C00000"/>
                </a:solidFill>
                <a:latin typeface="Arial" panose="020B0604020202020204" pitchFamily="34" charset="0"/>
                <a:cs typeface="Arial" panose="020B0604020202020204" pitchFamily="34" charset="0"/>
              </a:rPr>
              <a:t>Sensors</a:t>
            </a:r>
            <a:endParaRPr lang="en-US" dirty="0"/>
          </a:p>
        </p:txBody>
      </p:sp>
      <p:sp>
        <p:nvSpPr>
          <p:cNvPr id="3" name="Content Placeholder 2">
            <a:extLst>
              <a:ext uri="{FF2B5EF4-FFF2-40B4-BE49-F238E27FC236}">
                <a16:creationId xmlns:a16="http://schemas.microsoft.com/office/drawing/2014/main" id="{D3C57045-408C-4D53-BC03-8AFB95EC5A0B}"/>
              </a:ext>
            </a:extLst>
          </p:cNvPr>
          <p:cNvSpPr>
            <a:spLocks noGrp="1"/>
          </p:cNvSpPr>
          <p:nvPr>
            <p:ph idx="1"/>
          </p:nvPr>
        </p:nvSpPr>
        <p:spPr>
          <a:xfrm>
            <a:off x="838200" y="1093694"/>
            <a:ext cx="10515600" cy="5083269"/>
          </a:xfrm>
        </p:spPr>
        <p:txBody>
          <a:bodyPr>
            <a:normAutofit fontScale="85000" lnSpcReduction="10000"/>
          </a:bodyPr>
          <a:lstStyle/>
          <a:p>
            <a:pPr algn="just"/>
            <a:r>
              <a:rPr lang="en-US" i="0" dirty="0">
                <a:solidFill>
                  <a:srgbClr val="222222"/>
                </a:solidFill>
                <a:effectLst/>
                <a:latin typeface="Arial" panose="020B0604020202020204" pitchFamily="34" charset="0"/>
                <a:cs typeface="Arial" panose="020B0604020202020204" pitchFamily="34" charset="0"/>
              </a:rPr>
              <a:t>A Sensor is an electronic device that is used to measure some sort of physical parameters (e.g. temperature, pressure, light intensity, </a:t>
            </a:r>
            <a:r>
              <a:rPr lang="en-US" i="0" dirty="0" err="1">
                <a:solidFill>
                  <a:srgbClr val="222222"/>
                </a:solidFill>
                <a:effectLst/>
                <a:latin typeface="Arial" panose="020B0604020202020204" pitchFamily="34" charset="0"/>
                <a:cs typeface="Arial" panose="020B0604020202020204" pitchFamily="34" charset="0"/>
              </a:rPr>
              <a:t>etc</a:t>
            </a:r>
            <a:r>
              <a:rPr lang="en-US" i="0" dirty="0">
                <a:solidFill>
                  <a:srgbClr val="222222"/>
                </a:solidFill>
                <a:effectLst/>
                <a:latin typeface="Arial" panose="020B0604020202020204" pitchFamily="34" charset="0"/>
                <a:cs typeface="Arial" panose="020B0604020202020204" pitchFamily="34" charset="0"/>
              </a:rPr>
              <a:t>). </a:t>
            </a:r>
          </a:p>
          <a:p>
            <a:pPr algn="just"/>
            <a:r>
              <a:rPr lang="en-US" i="0" dirty="0">
                <a:solidFill>
                  <a:srgbClr val="222222"/>
                </a:solidFill>
                <a:effectLst/>
                <a:latin typeface="Arial" panose="020B0604020202020204" pitchFamily="34" charset="0"/>
                <a:cs typeface="Arial" panose="020B0604020202020204" pitchFamily="34" charset="0"/>
              </a:rPr>
              <a:t>The output of an electronic sensor is an electrical signal that is either analog or digital. </a:t>
            </a:r>
          </a:p>
          <a:p>
            <a:pPr algn="just"/>
            <a:r>
              <a:rPr lang="en-US" i="0" dirty="0">
                <a:solidFill>
                  <a:srgbClr val="222222"/>
                </a:solidFill>
                <a:effectLst/>
                <a:latin typeface="Arial" panose="020B0604020202020204" pitchFamily="34" charset="0"/>
                <a:cs typeface="Arial" panose="020B0604020202020204" pitchFamily="34" charset="0"/>
              </a:rPr>
              <a:t>Processing the sensor’s output can be done in hardware (using discrete electronic elements) or in software (using some sort of microcontrollers or MPUs).</a:t>
            </a:r>
          </a:p>
          <a:p>
            <a:pPr algn="just"/>
            <a:r>
              <a:rPr lang="en-US" i="0" dirty="0">
                <a:solidFill>
                  <a:srgbClr val="222222"/>
                </a:solidFill>
                <a:effectLst/>
                <a:latin typeface="Arial" panose="020B0604020202020204" pitchFamily="34" charset="0"/>
                <a:cs typeface="Arial" panose="020B0604020202020204" pitchFamily="34" charset="0"/>
              </a:rPr>
              <a:t>Each sensor has a different working principle depending on the physical construction and the physical parameter it’s actually measuring. </a:t>
            </a:r>
          </a:p>
          <a:p>
            <a:pPr algn="just"/>
            <a:r>
              <a:rPr lang="en-US" i="0" dirty="0">
                <a:solidFill>
                  <a:srgbClr val="222222"/>
                </a:solidFill>
                <a:effectLst/>
                <a:latin typeface="Arial" panose="020B0604020202020204" pitchFamily="34" charset="0"/>
                <a:cs typeface="Arial" panose="020B0604020202020204" pitchFamily="34" charset="0"/>
              </a:rPr>
              <a:t>The common thing between all sensors is they all convert a physical parameter (such as temperature) to an electric signal. But each one has a specific transfer function (for analog) or a specific communication bus as SPI, UART, </a:t>
            </a:r>
            <a:r>
              <a:rPr lang="en-US" i="0" dirty="0" err="1">
                <a:solidFill>
                  <a:srgbClr val="222222"/>
                </a:solidFill>
                <a:effectLst/>
                <a:latin typeface="Arial" panose="020B0604020202020204" pitchFamily="34" charset="0"/>
                <a:cs typeface="Arial" panose="020B0604020202020204" pitchFamily="34" charset="0"/>
              </a:rPr>
              <a:t>etc</a:t>
            </a:r>
            <a:r>
              <a:rPr lang="en-US" i="0" dirty="0">
                <a:solidFill>
                  <a:srgbClr val="222222"/>
                </a:solidFill>
                <a:effectLst/>
                <a:latin typeface="Arial" panose="020B0604020202020204" pitchFamily="34" charset="0"/>
                <a:cs typeface="Arial" panose="020B0604020202020204" pitchFamily="34" charset="0"/>
              </a:rPr>
              <a:t> (for digital). These specific details are demonstrated completely in the datasheet for each sensor with the typical connection diagram and how to interface it.</a:t>
            </a:r>
          </a:p>
          <a:p>
            <a:endParaRPr lang="en-US" dirty="0"/>
          </a:p>
        </p:txBody>
      </p:sp>
    </p:spTree>
    <p:extLst>
      <p:ext uri="{BB962C8B-B14F-4D97-AF65-F5344CB8AC3E}">
        <p14:creationId xmlns:p14="http://schemas.microsoft.com/office/powerpoint/2010/main" val="126248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876E7-2431-4C1C-86DF-67370E74908B}"/>
              </a:ext>
            </a:extLst>
          </p:cNvPr>
          <p:cNvSpPr>
            <a:spLocks noGrp="1"/>
          </p:cNvSpPr>
          <p:nvPr>
            <p:ph type="title"/>
          </p:nvPr>
        </p:nvSpPr>
        <p:spPr>
          <a:xfrm>
            <a:off x="838200" y="365126"/>
            <a:ext cx="10515600" cy="764428"/>
          </a:xfrm>
        </p:spPr>
        <p:txBody>
          <a:bodyPr/>
          <a:lstStyle/>
          <a:p>
            <a:r>
              <a:rPr lang="en-US" dirty="0">
                <a:solidFill>
                  <a:srgbClr val="C00000"/>
                </a:solidFill>
                <a:latin typeface="Arial" panose="020B0604020202020204" pitchFamily="34" charset="0"/>
                <a:cs typeface="Arial" panose="020B0604020202020204" pitchFamily="34" charset="0"/>
              </a:rPr>
              <a:t>Sensors</a:t>
            </a:r>
            <a:endParaRPr lang="en-US" dirty="0"/>
          </a:p>
        </p:txBody>
      </p:sp>
      <p:sp>
        <p:nvSpPr>
          <p:cNvPr id="3" name="Content Placeholder 2">
            <a:extLst>
              <a:ext uri="{FF2B5EF4-FFF2-40B4-BE49-F238E27FC236}">
                <a16:creationId xmlns:a16="http://schemas.microsoft.com/office/drawing/2014/main" id="{D3C57045-408C-4D53-BC03-8AFB95EC5A0B}"/>
              </a:ext>
            </a:extLst>
          </p:cNvPr>
          <p:cNvSpPr>
            <a:spLocks noGrp="1"/>
          </p:cNvSpPr>
          <p:nvPr>
            <p:ph idx="1"/>
          </p:nvPr>
        </p:nvSpPr>
        <p:spPr>
          <a:xfrm>
            <a:off x="838200" y="1326776"/>
            <a:ext cx="10515600" cy="4850187"/>
          </a:xfrm>
        </p:spPr>
        <p:txBody>
          <a:bodyPr>
            <a:normAutofit/>
          </a:bodyPr>
          <a:lstStyle/>
          <a:p>
            <a:pPr algn="just"/>
            <a:r>
              <a:rPr lang="en-US" b="1" i="0" dirty="0">
                <a:solidFill>
                  <a:srgbClr val="222222"/>
                </a:solidFill>
                <a:effectLst/>
                <a:latin typeface="-apple-system"/>
              </a:rPr>
              <a:t>A Sensor is an electronic device that is used to measure some sort of physical parameters (e.g. temperature, pressure, light intensity, </a:t>
            </a:r>
            <a:r>
              <a:rPr lang="en-US" b="1" i="0" dirty="0" err="1">
                <a:solidFill>
                  <a:srgbClr val="222222"/>
                </a:solidFill>
                <a:effectLst/>
                <a:latin typeface="-apple-system"/>
              </a:rPr>
              <a:t>etc</a:t>
            </a:r>
            <a:r>
              <a:rPr lang="en-US" b="1" i="0" dirty="0">
                <a:solidFill>
                  <a:srgbClr val="222222"/>
                </a:solidFill>
                <a:effectLst/>
                <a:latin typeface="-apple-system"/>
              </a:rPr>
              <a:t>). The output of an electronic sensor is an electrical signal that is either analog or digital. Processing the sensor’s output can be done in hardware (using discrete electronic elements) or in software (using some sort of microcontrollers or MPUs).</a:t>
            </a:r>
            <a:endParaRPr lang="en-US" b="0" i="0" dirty="0">
              <a:solidFill>
                <a:srgbClr val="222222"/>
              </a:solidFill>
              <a:effectLst/>
              <a:latin typeface="-apple-system"/>
            </a:endParaRPr>
          </a:p>
          <a:p>
            <a:endParaRPr lang="en-US" dirty="0"/>
          </a:p>
        </p:txBody>
      </p:sp>
    </p:spTree>
    <p:extLst>
      <p:ext uri="{BB962C8B-B14F-4D97-AF65-F5344CB8AC3E}">
        <p14:creationId xmlns:p14="http://schemas.microsoft.com/office/powerpoint/2010/main" val="206378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0F4E2-6E0F-4160-8891-D4C9485D9357}"/>
              </a:ext>
            </a:extLst>
          </p:cNvPr>
          <p:cNvSpPr>
            <a:spLocks noGrp="1"/>
          </p:cNvSpPr>
          <p:nvPr>
            <p:ph type="title"/>
          </p:nvPr>
        </p:nvSpPr>
        <p:spPr>
          <a:xfrm>
            <a:off x="838200" y="365125"/>
            <a:ext cx="10515600" cy="800287"/>
          </a:xfrm>
        </p:spPr>
        <p:txBody>
          <a:bodyPr/>
          <a:lstStyle/>
          <a:p>
            <a:r>
              <a:rPr lang="en-US" dirty="0">
                <a:solidFill>
                  <a:srgbClr val="C00000"/>
                </a:solidFill>
                <a:latin typeface="Arial" panose="020B0604020202020204" pitchFamily="34" charset="0"/>
                <a:cs typeface="Arial" panose="020B0604020202020204" pitchFamily="34" charset="0"/>
              </a:rPr>
              <a:t>Sensors -Types</a:t>
            </a:r>
            <a:endParaRPr lang="en-US" dirty="0"/>
          </a:p>
        </p:txBody>
      </p:sp>
      <p:graphicFrame>
        <p:nvGraphicFramePr>
          <p:cNvPr id="4" name="Content Placeholder 3">
            <a:extLst>
              <a:ext uri="{FF2B5EF4-FFF2-40B4-BE49-F238E27FC236}">
                <a16:creationId xmlns:a16="http://schemas.microsoft.com/office/drawing/2014/main" id="{6C2668EF-5937-4116-AE2D-545E93788DA3}"/>
              </a:ext>
            </a:extLst>
          </p:cNvPr>
          <p:cNvGraphicFramePr>
            <a:graphicFrameLocks noGrp="1"/>
          </p:cNvGraphicFramePr>
          <p:nvPr>
            <p:ph idx="1"/>
            <p:extLst>
              <p:ext uri="{D42A27DB-BD31-4B8C-83A1-F6EECF244321}">
                <p14:modId xmlns:p14="http://schemas.microsoft.com/office/powerpoint/2010/main" val="1440079383"/>
              </p:ext>
            </p:extLst>
          </p:nvPr>
        </p:nvGraphicFramePr>
        <p:xfrm>
          <a:off x="1559858" y="1550894"/>
          <a:ext cx="8884024" cy="4643718"/>
        </p:xfrm>
        <a:graphic>
          <a:graphicData uri="http://schemas.openxmlformats.org/drawingml/2006/table">
            <a:tbl>
              <a:tblPr/>
              <a:tblGrid>
                <a:gridCol w="4442012">
                  <a:extLst>
                    <a:ext uri="{9D8B030D-6E8A-4147-A177-3AD203B41FA5}">
                      <a16:colId xmlns:a16="http://schemas.microsoft.com/office/drawing/2014/main" val="58736734"/>
                    </a:ext>
                  </a:extLst>
                </a:gridCol>
                <a:gridCol w="4442012">
                  <a:extLst>
                    <a:ext uri="{9D8B030D-6E8A-4147-A177-3AD203B41FA5}">
                      <a16:colId xmlns:a16="http://schemas.microsoft.com/office/drawing/2014/main" val="2499961312"/>
                    </a:ext>
                  </a:extLst>
                </a:gridCol>
              </a:tblGrid>
              <a:tr h="503069">
                <a:tc>
                  <a:txBody>
                    <a:bodyPr/>
                    <a:lstStyle/>
                    <a:p>
                      <a:pPr algn="ctr"/>
                      <a:r>
                        <a:rPr lang="en-US" b="1">
                          <a:solidFill>
                            <a:srgbClr val="000000"/>
                          </a:solidFill>
                          <a:effectLst/>
                        </a:rPr>
                        <a:t>Analog Output</a:t>
                      </a:r>
                      <a:endParaRPr lang="en-US">
                        <a:effectLst/>
                      </a:endParaRPr>
                    </a:p>
                  </a:txBody>
                  <a:tcPr marL="60960" marR="60960" marT="60960" marB="60960" anchor="ctr">
                    <a:lnL w="7620" cap="flat" cmpd="sng" algn="ctr">
                      <a:solidFill>
                        <a:srgbClr val="90ED6D"/>
                      </a:solidFill>
                      <a:prstDash val="solid"/>
                      <a:round/>
                      <a:headEnd type="none" w="med" len="med"/>
                      <a:tailEnd type="none" w="med" len="med"/>
                    </a:lnL>
                    <a:lnR w="7620" cap="flat" cmpd="sng" algn="ctr">
                      <a:solidFill>
                        <a:srgbClr val="10E96D"/>
                      </a:solidFill>
                      <a:prstDash val="solid"/>
                      <a:round/>
                      <a:headEnd type="none" w="med" len="med"/>
                      <a:tailEnd type="none" w="med" len="med"/>
                    </a:lnR>
                    <a:lnT w="7620" cap="flat" cmpd="sng" algn="ctr">
                      <a:solidFill>
                        <a:srgbClr val="90ED6D"/>
                      </a:solidFill>
                      <a:prstDash val="solid"/>
                      <a:round/>
                      <a:headEnd type="none" w="med" len="med"/>
                      <a:tailEnd type="none" w="med" len="med"/>
                    </a:lnT>
                    <a:lnB w="7620" cap="flat" cmpd="sng" algn="ctr">
                      <a:solidFill>
                        <a:srgbClr val="80F76D"/>
                      </a:solidFill>
                      <a:prstDash val="solid"/>
                      <a:round/>
                      <a:headEnd type="none" w="med" len="med"/>
                      <a:tailEnd type="none" w="med" len="med"/>
                    </a:lnB>
                    <a:solidFill>
                      <a:srgbClr val="FFFFFF"/>
                    </a:solidFill>
                  </a:tcPr>
                </a:tc>
                <a:tc>
                  <a:txBody>
                    <a:bodyPr/>
                    <a:lstStyle/>
                    <a:p>
                      <a:pPr algn="ctr"/>
                      <a:r>
                        <a:rPr lang="en-US" b="1" dirty="0">
                          <a:solidFill>
                            <a:srgbClr val="000000"/>
                          </a:solidFill>
                          <a:effectLst/>
                        </a:rPr>
                        <a:t>Digital Output</a:t>
                      </a:r>
                      <a:endParaRPr lang="en-US" dirty="0">
                        <a:effectLst/>
                      </a:endParaRPr>
                    </a:p>
                  </a:txBody>
                  <a:tcPr marL="60960" marR="60960" marT="60960" marB="60960" anchor="ctr">
                    <a:lnL w="7620" cap="flat" cmpd="sng" algn="ctr">
                      <a:solidFill>
                        <a:srgbClr val="10E96D"/>
                      </a:solidFill>
                      <a:prstDash val="solid"/>
                      <a:round/>
                      <a:headEnd type="none" w="med" len="med"/>
                      <a:tailEnd type="none" w="med" len="med"/>
                    </a:lnL>
                    <a:lnR w="7620" cap="flat" cmpd="sng" algn="ctr">
                      <a:solidFill>
                        <a:srgbClr val="10E96D"/>
                      </a:solidFill>
                      <a:prstDash val="solid"/>
                      <a:round/>
                      <a:headEnd type="none" w="med" len="med"/>
                      <a:tailEnd type="none" w="med" len="med"/>
                    </a:lnR>
                    <a:lnT w="7620" cap="flat" cmpd="sng" algn="ctr">
                      <a:solidFill>
                        <a:srgbClr val="10E96D"/>
                      </a:solidFill>
                      <a:prstDash val="solid"/>
                      <a:round/>
                      <a:headEnd type="none" w="med" len="med"/>
                      <a:tailEnd type="none" w="med" len="med"/>
                    </a:lnT>
                    <a:lnB w="7620" cap="flat" cmpd="sng" algn="ctr">
                      <a:solidFill>
                        <a:srgbClr val="D0F56D"/>
                      </a:solidFill>
                      <a:prstDash val="solid"/>
                      <a:round/>
                      <a:headEnd type="none" w="med" len="med"/>
                      <a:tailEnd type="none" w="med" len="med"/>
                    </a:lnB>
                    <a:solidFill>
                      <a:srgbClr val="FFFFFF"/>
                    </a:solidFill>
                  </a:tcPr>
                </a:tc>
                <a:extLst>
                  <a:ext uri="{0D108BD9-81ED-4DB2-BD59-A6C34878D82A}">
                    <a16:rowId xmlns:a16="http://schemas.microsoft.com/office/drawing/2014/main" val="587890095"/>
                  </a:ext>
                </a:extLst>
              </a:tr>
              <a:tr h="2592743">
                <a:tc>
                  <a:txBody>
                    <a:bodyPr/>
                    <a:lstStyle/>
                    <a:p>
                      <a:pPr algn="just"/>
                      <a:r>
                        <a:rPr lang="en-US" dirty="0">
                          <a:solidFill>
                            <a:srgbClr val="000000"/>
                          </a:solidFill>
                          <a:effectLst/>
                        </a:rPr>
                        <a:t>The output of these sensors is an analog voltage that you can measure then determine the desired physical parameter using the sensor’s transfer function. It may also be capacitive or resistive or anything analog.</a:t>
                      </a:r>
                      <a:endParaRPr lang="en-US" dirty="0">
                        <a:effectLst/>
                      </a:endParaRPr>
                    </a:p>
                  </a:txBody>
                  <a:tcPr marL="60960" marR="60960" marT="60960" marB="60960" anchor="ctr">
                    <a:lnL w="7620" cap="flat" cmpd="sng" algn="ctr">
                      <a:solidFill>
                        <a:srgbClr val="80F76D"/>
                      </a:solidFill>
                      <a:prstDash val="solid"/>
                      <a:round/>
                      <a:headEnd type="none" w="med" len="med"/>
                      <a:tailEnd type="none" w="med" len="med"/>
                    </a:lnL>
                    <a:lnR w="7620" cap="flat" cmpd="sng" algn="ctr">
                      <a:solidFill>
                        <a:srgbClr val="D0F56D"/>
                      </a:solidFill>
                      <a:prstDash val="solid"/>
                      <a:round/>
                      <a:headEnd type="none" w="med" len="med"/>
                      <a:tailEnd type="none" w="med" len="med"/>
                    </a:lnR>
                    <a:lnT w="7620" cap="flat" cmpd="sng" algn="ctr">
                      <a:solidFill>
                        <a:srgbClr val="80F76D"/>
                      </a:solidFill>
                      <a:prstDash val="solid"/>
                      <a:round/>
                      <a:headEnd type="none" w="med" len="med"/>
                      <a:tailEnd type="none" w="med" len="med"/>
                    </a:lnT>
                    <a:lnB w="7620" cap="flat" cmpd="sng" algn="ctr">
                      <a:solidFill>
                        <a:srgbClr val="00F66D"/>
                      </a:solidFill>
                      <a:prstDash val="solid"/>
                      <a:round/>
                      <a:headEnd type="none" w="med" len="med"/>
                      <a:tailEnd type="none" w="med" len="med"/>
                    </a:lnB>
                    <a:solidFill>
                      <a:srgbClr val="FFFFFF"/>
                    </a:solidFill>
                  </a:tcPr>
                </a:tc>
                <a:tc>
                  <a:txBody>
                    <a:bodyPr/>
                    <a:lstStyle/>
                    <a:p>
                      <a:pPr algn="just"/>
                      <a:r>
                        <a:rPr lang="en-US" dirty="0">
                          <a:solidFill>
                            <a:srgbClr val="000000"/>
                          </a:solidFill>
                          <a:effectLst/>
                        </a:rPr>
                        <a:t>The output of these sensors is digital data that you can read via serial or parallel communication buses (as UART, SPI, I2C, </a:t>
                      </a:r>
                      <a:r>
                        <a:rPr lang="en-US" dirty="0" err="1">
                          <a:solidFill>
                            <a:srgbClr val="000000"/>
                          </a:solidFill>
                          <a:effectLst/>
                        </a:rPr>
                        <a:t>etc</a:t>
                      </a:r>
                      <a:r>
                        <a:rPr lang="en-US" dirty="0">
                          <a:solidFill>
                            <a:srgbClr val="000000"/>
                          </a:solidFill>
                          <a:effectLst/>
                        </a:rPr>
                        <a:t>). The typical format for the data is demonstrated exactly in the sensor’s datasheet.</a:t>
                      </a:r>
                      <a:endParaRPr lang="en-US" dirty="0">
                        <a:effectLst/>
                      </a:endParaRPr>
                    </a:p>
                  </a:txBody>
                  <a:tcPr marL="60960" marR="60960" marT="60960" marB="60960" anchor="ctr">
                    <a:lnL w="7620" cap="flat" cmpd="sng" algn="ctr">
                      <a:solidFill>
                        <a:srgbClr val="D0F56D"/>
                      </a:solidFill>
                      <a:prstDash val="solid"/>
                      <a:round/>
                      <a:headEnd type="none" w="med" len="med"/>
                      <a:tailEnd type="none" w="med" len="med"/>
                    </a:lnL>
                    <a:lnR w="7620" cap="flat" cmpd="sng" algn="ctr">
                      <a:solidFill>
                        <a:srgbClr val="D0F56D"/>
                      </a:solidFill>
                      <a:prstDash val="solid"/>
                      <a:round/>
                      <a:headEnd type="none" w="med" len="med"/>
                      <a:tailEnd type="none" w="med" len="med"/>
                    </a:lnR>
                    <a:lnT w="7620" cap="flat" cmpd="sng" algn="ctr">
                      <a:solidFill>
                        <a:srgbClr val="D0F56D"/>
                      </a:solidFill>
                      <a:prstDash val="solid"/>
                      <a:round/>
                      <a:headEnd type="none" w="med" len="med"/>
                      <a:tailEnd type="none" w="med" len="med"/>
                    </a:lnT>
                    <a:lnB w="7620" cap="flat" cmpd="sng" algn="ctr">
                      <a:solidFill>
                        <a:srgbClr val="80096E"/>
                      </a:solidFill>
                      <a:prstDash val="solid"/>
                      <a:round/>
                      <a:headEnd type="none" w="med" len="med"/>
                      <a:tailEnd type="none" w="med" len="med"/>
                    </a:lnB>
                    <a:solidFill>
                      <a:srgbClr val="FFFFFF"/>
                    </a:solidFill>
                  </a:tcPr>
                </a:tc>
                <a:extLst>
                  <a:ext uri="{0D108BD9-81ED-4DB2-BD59-A6C34878D82A}">
                    <a16:rowId xmlns:a16="http://schemas.microsoft.com/office/drawing/2014/main" val="286218928"/>
                  </a:ext>
                </a:extLst>
              </a:tr>
              <a:tr h="1547906">
                <a:tc>
                  <a:txBody>
                    <a:bodyPr/>
                    <a:lstStyle/>
                    <a:p>
                      <a:pPr algn="just"/>
                      <a:r>
                        <a:rPr lang="en-US" b="1">
                          <a:solidFill>
                            <a:srgbClr val="000000"/>
                          </a:solidFill>
                          <a:effectLst/>
                        </a:rPr>
                        <a:t>Example</a:t>
                      </a:r>
                      <a:r>
                        <a:rPr lang="en-US">
                          <a:solidFill>
                            <a:srgbClr val="000000"/>
                          </a:solidFill>
                          <a:effectLst/>
                        </a:rPr>
                        <a:t>: The temperature sensor (specifically LM35) is an analog sensor whose output</a:t>
                      </a:r>
                      <a:endParaRPr lang="en-US">
                        <a:effectLst/>
                      </a:endParaRPr>
                    </a:p>
                  </a:txBody>
                  <a:tcPr marL="60960" marR="60960" marT="60960" marB="60960" anchor="ctr">
                    <a:lnL w="7620" cap="flat" cmpd="sng" algn="ctr">
                      <a:solidFill>
                        <a:srgbClr val="00F66D"/>
                      </a:solidFill>
                      <a:prstDash val="solid"/>
                      <a:round/>
                      <a:headEnd type="none" w="med" len="med"/>
                      <a:tailEnd type="none" w="med" len="med"/>
                    </a:lnL>
                    <a:lnR w="7620" cap="flat" cmpd="sng" algn="ctr">
                      <a:solidFill>
                        <a:srgbClr val="80096E"/>
                      </a:solidFill>
                      <a:prstDash val="solid"/>
                      <a:round/>
                      <a:headEnd type="none" w="med" len="med"/>
                      <a:tailEnd type="none" w="med" len="med"/>
                    </a:lnR>
                    <a:lnT w="7620" cap="flat" cmpd="sng" algn="ctr">
                      <a:solidFill>
                        <a:srgbClr val="00F66D"/>
                      </a:solidFill>
                      <a:prstDash val="solid"/>
                      <a:round/>
                      <a:headEnd type="none" w="med" len="med"/>
                      <a:tailEnd type="none" w="med" len="med"/>
                    </a:lnT>
                    <a:lnB w="7620" cap="flat" cmpd="sng" algn="ctr">
                      <a:solidFill>
                        <a:srgbClr val="00F66D"/>
                      </a:solidFill>
                      <a:prstDash val="solid"/>
                      <a:round/>
                      <a:headEnd type="none" w="med" len="med"/>
                      <a:tailEnd type="none" w="med" len="med"/>
                    </a:lnB>
                    <a:solidFill>
                      <a:srgbClr val="FFFFFF"/>
                    </a:solidFill>
                  </a:tcPr>
                </a:tc>
                <a:tc>
                  <a:txBody>
                    <a:bodyPr/>
                    <a:lstStyle/>
                    <a:p>
                      <a:pPr algn="just"/>
                      <a:r>
                        <a:rPr lang="en-US" b="1" dirty="0">
                          <a:solidFill>
                            <a:srgbClr val="000000"/>
                          </a:solidFill>
                          <a:effectLst/>
                        </a:rPr>
                        <a:t>Example</a:t>
                      </a:r>
                      <a:r>
                        <a:rPr lang="en-US" dirty="0">
                          <a:solidFill>
                            <a:srgbClr val="000000"/>
                          </a:solidFill>
                          <a:effectLst/>
                        </a:rPr>
                        <a:t>: The accelerometer sensor (ADXL345) is a digital sensor that sends out its output data via the I2C two-wire bus.</a:t>
                      </a:r>
                      <a:endParaRPr lang="en-US" dirty="0">
                        <a:effectLst/>
                      </a:endParaRPr>
                    </a:p>
                  </a:txBody>
                  <a:tcPr marL="60960" marR="60960" marT="60960" marB="60960" anchor="ctr">
                    <a:lnL w="7620" cap="flat" cmpd="sng" algn="ctr">
                      <a:solidFill>
                        <a:srgbClr val="80096E"/>
                      </a:solidFill>
                      <a:prstDash val="solid"/>
                      <a:round/>
                      <a:headEnd type="none" w="med" len="med"/>
                      <a:tailEnd type="none" w="med" len="med"/>
                    </a:lnL>
                    <a:lnR w="7620" cap="flat" cmpd="sng" algn="ctr">
                      <a:solidFill>
                        <a:srgbClr val="80096E"/>
                      </a:solidFill>
                      <a:prstDash val="solid"/>
                      <a:round/>
                      <a:headEnd type="none" w="med" len="med"/>
                      <a:tailEnd type="none" w="med" len="med"/>
                    </a:lnR>
                    <a:lnT w="7620" cap="flat" cmpd="sng" algn="ctr">
                      <a:solidFill>
                        <a:srgbClr val="80096E"/>
                      </a:solidFill>
                      <a:prstDash val="solid"/>
                      <a:round/>
                      <a:headEnd type="none" w="med" len="med"/>
                      <a:tailEnd type="none" w="med" len="med"/>
                    </a:lnT>
                    <a:lnB w="7620" cap="flat" cmpd="sng" algn="ctr">
                      <a:solidFill>
                        <a:srgbClr val="80096E"/>
                      </a:solidFill>
                      <a:prstDash val="solid"/>
                      <a:round/>
                      <a:headEnd type="none" w="med" len="med"/>
                      <a:tailEnd type="none" w="med" len="med"/>
                    </a:lnB>
                    <a:solidFill>
                      <a:srgbClr val="FFFFFF"/>
                    </a:solidFill>
                  </a:tcPr>
                </a:tc>
                <a:extLst>
                  <a:ext uri="{0D108BD9-81ED-4DB2-BD59-A6C34878D82A}">
                    <a16:rowId xmlns:a16="http://schemas.microsoft.com/office/drawing/2014/main" val="2371710967"/>
                  </a:ext>
                </a:extLst>
              </a:tr>
            </a:tbl>
          </a:graphicData>
        </a:graphic>
      </p:graphicFrame>
    </p:spTree>
    <p:extLst>
      <p:ext uri="{BB962C8B-B14F-4D97-AF65-F5344CB8AC3E}">
        <p14:creationId xmlns:p14="http://schemas.microsoft.com/office/powerpoint/2010/main" val="392867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A1E67-61C1-4BF1-B4AD-19F01A281294}"/>
              </a:ext>
            </a:extLst>
          </p:cNvPr>
          <p:cNvSpPr>
            <a:spLocks noGrp="1"/>
          </p:cNvSpPr>
          <p:nvPr>
            <p:ph type="title"/>
          </p:nvPr>
        </p:nvSpPr>
        <p:spPr>
          <a:xfrm>
            <a:off x="838200" y="365126"/>
            <a:ext cx="10515600" cy="486522"/>
          </a:xfrm>
        </p:spPr>
        <p:txBody>
          <a:bodyPr>
            <a:normAutofit fontScale="90000"/>
          </a:bodyPr>
          <a:lstStyle/>
          <a:p>
            <a:br>
              <a:rPr lang="en-US" sz="1800" b="1" i="0" dirty="0">
                <a:solidFill>
                  <a:srgbClr val="40B2F5"/>
                </a:solidFill>
                <a:effectLst/>
                <a:latin typeface="-apple-system"/>
              </a:rPr>
            </a:br>
            <a:br>
              <a:rPr lang="en-US" sz="1800" b="1" i="0" dirty="0">
                <a:solidFill>
                  <a:srgbClr val="40B2F5"/>
                </a:solidFill>
                <a:effectLst/>
                <a:latin typeface="-apple-system"/>
              </a:rPr>
            </a:br>
            <a:br>
              <a:rPr lang="en-US" sz="1800" b="1" i="0" dirty="0">
                <a:solidFill>
                  <a:srgbClr val="40B2F5"/>
                </a:solidFill>
                <a:effectLst/>
                <a:latin typeface="-apple-system"/>
              </a:rPr>
            </a:br>
            <a:br>
              <a:rPr lang="en-US" sz="1800" b="1" i="0" dirty="0">
                <a:solidFill>
                  <a:srgbClr val="40B2F5"/>
                </a:solidFill>
                <a:effectLst/>
                <a:latin typeface="-apple-system"/>
              </a:rPr>
            </a:br>
            <a:r>
              <a:rPr lang="en-US" sz="2700" b="1" i="0" dirty="0">
                <a:solidFill>
                  <a:srgbClr val="C00000"/>
                </a:solidFill>
                <a:effectLst/>
                <a:latin typeface="Arial" panose="020B0604020202020204" pitchFamily="34" charset="0"/>
                <a:cs typeface="Arial" panose="020B0604020202020204" pitchFamily="34" charset="0"/>
              </a:rPr>
              <a:t>Sensor’s Physical Parameter Classification</a:t>
            </a:r>
            <a:br>
              <a:rPr lang="en-US" b="0" i="0" dirty="0">
                <a:solidFill>
                  <a:srgbClr val="222222"/>
                </a:solidFill>
                <a:effectLst/>
                <a:latin typeface="-apple-system"/>
              </a:rPr>
            </a:br>
            <a:br>
              <a:rPr lang="en-US" b="0" i="0" dirty="0">
                <a:solidFill>
                  <a:srgbClr val="222222"/>
                </a:solidFill>
                <a:effectLst/>
                <a:latin typeface="-apple-system"/>
              </a:rPr>
            </a:br>
            <a:endParaRPr lang="en-US" dirty="0"/>
          </a:p>
        </p:txBody>
      </p:sp>
      <p:graphicFrame>
        <p:nvGraphicFramePr>
          <p:cNvPr id="4" name="Content Placeholder 3">
            <a:extLst>
              <a:ext uri="{FF2B5EF4-FFF2-40B4-BE49-F238E27FC236}">
                <a16:creationId xmlns:a16="http://schemas.microsoft.com/office/drawing/2014/main" id="{AD00C714-1B7C-4DDC-957B-E599A0498FF4}"/>
              </a:ext>
            </a:extLst>
          </p:cNvPr>
          <p:cNvGraphicFramePr>
            <a:graphicFrameLocks noGrp="1"/>
          </p:cNvGraphicFramePr>
          <p:nvPr>
            <p:ph idx="1"/>
            <p:extLst>
              <p:ext uri="{D42A27DB-BD31-4B8C-83A1-F6EECF244321}">
                <p14:modId xmlns:p14="http://schemas.microsoft.com/office/powerpoint/2010/main" val="1190029311"/>
              </p:ext>
            </p:extLst>
          </p:nvPr>
        </p:nvGraphicFramePr>
        <p:xfrm>
          <a:off x="1640541" y="1371600"/>
          <a:ext cx="7709491" cy="4832901"/>
        </p:xfrm>
        <a:graphic>
          <a:graphicData uri="http://schemas.openxmlformats.org/drawingml/2006/table">
            <a:tbl>
              <a:tblPr/>
              <a:tblGrid>
                <a:gridCol w="1927317">
                  <a:extLst>
                    <a:ext uri="{9D8B030D-6E8A-4147-A177-3AD203B41FA5}">
                      <a16:colId xmlns:a16="http://schemas.microsoft.com/office/drawing/2014/main" val="3599486063"/>
                    </a:ext>
                  </a:extLst>
                </a:gridCol>
                <a:gridCol w="1927317">
                  <a:extLst>
                    <a:ext uri="{9D8B030D-6E8A-4147-A177-3AD203B41FA5}">
                      <a16:colId xmlns:a16="http://schemas.microsoft.com/office/drawing/2014/main" val="1098853014"/>
                    </a:ext>
                  </a:extLst>
                </a:gridCol>
                <a:gridCol w="1927317">
                  <a:extLst>
                    <a:ext uri="{9D8B030D-6E8A-4147-A177-3AD203B41FA5}">
                      <a16:colId xmlns:a16="http://schemas.microsoft.com/office/drawing/2014/main" val="3410242962"/>
                    </a:ext>
                  </a:extLst>
                </a:gridCol>
                <a:gridCol w="1927540">
                  <a:extLst>
                    <a:ext uri="{9D8B030D-6E8A-4147-A177-3AD203B41FA5}">
                      <a16:colId xmlns:a16="http://schemas.microsoft.com/office/drawing/2014/main" val="399478815"/>
                    </a:ext>
                  </a:extLst>
                </a:gridCol>
              </a:tblGrid>
              <a:tr h="733396">
                <a:tc>
                  <a:txBody>
                    <a:bodyPr/>
                    <a:lstStyle/>
                    <a:p>
                      <a:r>
                        <a:rPr lang="en-US" sz="1800">
                          <a:solidFill>
                            <a:srgbClr val="000000"/>
                          </a:solidFill>
                          <a:effectLst/>
                        </a:rPr>
                        <a:t>Temperature Sensors</a:t>
                      </a:r>
                      <a:endParaRPr lang="en-US" sz="1800">
                        <a:effectLst/>
                      </a:endParaRPr>
                    </a:p>
                  </a:txBody>
                  <a:tcPr marL="60018" marR="60018" marT="60018" marB="60018" anchor="ctr">
                    <a:lnL w="7620" cap="flat" cmpd="sng" algn="ctr">
                      <a:solidFill>
                        <a:srgbClr val="10E519"/>
                      </a:solidFill>
                      <a:prstDash val="solid"/>
                      <a:round/>
                      <a:headEnd type="none" w="med" len="med"/>
                      <a:tailEnd type="none" w="med" len="med"/>
                    </a:lnL>
                    <a:lnR w="7620" cap="flat" cmpd="sng" algn="ctr">
                      <a:solidFill>
                        <a:srgbClr val="20EA19"/>
                      </a:solidFill>
                      <a:prstDash val="solid"/>
                      <a:round/>
                      <a:headEnd type="none" w="med" len="med"/>
                      <a:tailEnd type="none" w="med" len="med"/>
                    </a:lnR>
                    <a:lnT w="7620" cap="flat" cmpd="sng" algn="ctr">
                      <a:solidFill>
                        <a:srgbClr val="10E519"/>
                      </a:solidFill>
                      <a:prstDash val="solid"/>
                      <a:round/>
                      <a:headEnd type="none" w="med" len="med"/>
                      <a:tailEnd type="none" w="med" len="med"/>
                    </a:lnT>
                    <a:lnB w="7620" cap="flat" cmpd="sng" algn="ctr">
                      <a:solidFill>
                        <a:srgbClr val="80F019"/>
                      </a:solidFill>
                      <a:prstDash val="solid"/>
                      <a:round/>
                      <a:headEnd type="none" w="med" len="med"/>
                      <a:tailEnd type="none" w="med" len="med"/>
                    </a:lnB>
                    <a:solidFill>
                      <a:srgbClr val="FFFFFF"/>
                    </a:solidFill>
                  </a:tcPr>
                </a:tc>
                <a:tc>
                  <a:txBody>
                    <a:bodyPr/>
                    <a:lstStyle/>
                    <a:p>
                      <a:r>
                        <a:rPr lang="en-US" sz="1800" dirty="0">
                          <a:solidFill>
                            <a:srgbClr val="000000"/>
                          </a:solidFill>
                          <a:effectLst/>
                        </a:rPr>
                        <a:t>Chemical Sensors</a:t>
                      </a:r>
                      <a:endParaRPr lang="en-US" sz="1800" dirty="0">
                        <a:effectLst/>
                      </a:endParaRPr>
                    </a:p>
                  </a:txBody>
                  <a:tcPr marL="60018" marR="60018" marT="60018" marB="60018" anchor="ctr">
                    <a:lnL w="7620" cap="flat" cmpd="sng" algn="ctr">
                      <a:solidFill>
                        <a:srgbClr val="20EA19"/>
                      </a:solidFill>
                      <a:prstDash val="solid"/>
                      <a:round/>
                      <a:headEnd type="none" w="med" len="med"/>
                      <a:tailEnd type="none" w="med" len="med"/>
                    </a:lnL>
                    <a:lnR w="7620" cap="flat" cmpd="sng" algn="ctr">
                      <a:solidFill>
                        <a:srgbClr val="90E919"/>
                      </a:solidFill>
                      <a:prstDash val="solid"/>
                      <a:round/>
                      <a:headEnd type="none" w="med" len="med"/>
                      <a:tailEnd type="none" w="med" len="med"/>
                    </a:lnR>
                    <a:lnT w="7620" cap="flat" cmpd="sng" algn="ctr">
                      <a:solidFill>
                        <a:srgbClr val="20EA19"/>
                      </a:solidFill>
                      <a:prstDash val="solid"/>
                      <a:round/>
                      <a:headEnd type="none" w="med" len="med"/>
                      <a:tailEnd type="none" w="med" len="med"/>
                    </a:lnT>
                    <a:lnB w="7620" cap="flat" cmpd="sng" algn="ctr">
                      <a:solidFill>
                        <a:srgbClr val="50051A"/>
                      </a:solidFill>
                      <a:prstDash val="solid"/>
                      <a:round/>
                      <a:headEnd type="none" w="med" len="med"/>
                      <a:tailEnd type="none" w="med" len="med"/>
                    </a:lnB>
                    <a:solidFill>
                      <a:srgbClr val="FFFFFF"/>
                    </a:solidFill>
                  </a:tcPr>
                </a:tc>
                <a:tc>
                  <a:txBody>
                    <a:bodyPr/>
                    <a:lstStyle/>
                    <a:p>
                      <a:r>
                        <a:rPr lang="en-US" sz="1800">
                          <a:solidFill>
                            <a:srgbClr val="000000"/>
                          </a:solidFill>
                          <a:effectLst/>
                        </a:rPr>
                        <a:t>Proximity Sensors</a:t>
                      </a:r>
                      <a:endParaRPr lang="en-US" sz="1800">
                        <a:effectLst/>
                      </a:endParaRPr>
                    </a:p>
                  </a:txBody>
                  <a:tcPr marL="60018" marR="60018" marT="60018" marB="60018" anchor="ctr">
                    <a:lnL w="7620" cap="flat" cmpd="sng" algn="ctr">
                      <a:solidFill>
                        <a:srgbClr val="90E919"/>
                      </a:solidFill>
                      <a:prstDash val="solid"/>
                      <a:round/>
                      <a:headEnd type="none" w="med" len="med"/>
                      <a:tailEnd type="none" w="med" len="med"/>
                    </a:lnL>
                    <a:lnR w="7620" cap="flat" cmpd="sng" algn="ctr">
                      <a:solidFill>
                        <a:srgbClr val="90F819"/>
                      </a:solidFill>
                      <a:prstDash val="solid"/>
                      <a:round/>
                      <a:headEnd type="none" w="med" len="med"/>
                      <a:tailEnd type="none" w="med" len="med"/>
                    </a:lnR>
                    <a:lnT w="7620" cap="flat" cmpd="sng" algn="ctr">
                      <a:solidFill>
                        <a:srgbClr val="90E919"/>
                      </a:solidFill>
                      <a:prstDash val="solid"/>
                      <a:round/>
                      <a:headEnd type="none" w="med" len="med"/>
                      <a:tailEnd type="none" w="med" len="med"/>
                    </a:lnT>
                    <a:lnB w="7620" cap="flat" cmpd="sng" algn="ctr">
                      <a:solidFill>
                        <a:srgbClr val="E06F19"/>
                      </a:solidFill>
                      <a:prstDash val="solid"/>
                      <a:round/>
                      <a:headEnd type="none" w="med" len="med"/>
                      <a:tailEnd type="none" w="med" len="med"/>
                    </a:lnB>
                    <a:solidFill>
                      <a:srgbClr val="FFFFFF"/>
                    </a:solidFill>
                  </a:tcPr>
                </a:tc>
                <a:tc>
                  <a:txBody>
                    <a:bodyPr/>
                    <a:lstStyle/>
                    <a:p>
                      <a:r>
                        <a:rPr lang="en-US" sz="1800">
                          <a:solidFill>
                            <a:srgbClr val="000000"/>
                          </a:solidFill>
                          <a:effectLst/>
                        </a:rPr>
                        <a:t>Touch Sensors</a:t>
                      </a:r>
                      <a:endParaRPr lang="en-US" sz="1800">
                        <a:effectLst/>
                      </a:endParaRPr>
                    </a:p>
                  </a:txBody>
                  <a:tcPr marL="60018" marR="60018" marT="60018" marB="60018" anchor="ctr">
                    <a:lnL w="7620" cap="flat" cmpd="sng" algn="ctr">
                      <a:solidFill>
                        <a:srgbClr val="90F819"/>
                      </a:solidFill>
                      <a:prstDash val="solid"/>
                      <a:round/>
                      <a:headEnd type="none" w="med" len="med"/>
                      <a:tailEnd type="none" w="med" len="med"/>
                    </a:lnL>
                    <a:lnR w="7620" cap="flat" cmpd="sng" algn="ctr">
                      <a:solidFill>
                        <a:srgbClr val="90F819"/>
                      </a:solidFill>
                      <a:prstDash val="solid"/>
                      <a:round/>
                      <a:headEnd type="none" w="med" len="med"/>
                      <a:tailEnd type="none" w="med" len="med"/>
                    </a:lnR>
                    <a:lnT w="7620" cap="flat" cmpd="sng" algn="ctr">
                      <a:solidFill>
                        <a:srgbClr val="90F819"/>
                      </a:solidFill>
                      <a:prstDash val="solid"/>
                      <a:round/>
                      <a:headEnd type="none" w="med" len="med"/>
                      <a:tailEnd type="none" w="med" len="med"/>
                    </a:lnT>
                    <a:lnB w="7620" cap="flat" cmpd="sng" algn="ctr">
                      <a:solidFill>
                        <a:srgbClr val="008919"/>
                      </a:solidFill>
                      <a:prstDash val="solid"/>
                      <a:round/>
                      <a:headEnd type="none" w="med" len="med"/>
                      <a:tailEnd type="none" w="med" len="med"/>
                    </a:lnB>
                    <a:solidFill>
                      <a:srgbClr val="FFFFFF"/>
                    </a:solidFill>
                  </a:tcPr>
                </a:tc>
                <a:extLst>
                  <a:ext uri="{0D108BD9-81ED-4DB2-BD59-A6C34878D82A}">
                    <a16:rowId xmlns:a16="http://schemas.microsoft.com/office/drawing/2014/main" val="2312253280"/>
                  </a:ext>
                </a:extLst>
              </a:tr>
              <a:tr h="432525">
                <a:tc>
                  <a:txBody>
                    <a:bodyPr/>
                    <a:lstStyle/>
                    <a:p>
                      <a:r>
                        <a:rPr lang="en-US" sz="1800">
                          <a:solidFill>
                            <a:srgbClr val="000000"/>
                          </a:solidFill>
                          <a:effectLst/>
                        </a:rPr>
                        <a:t>Light Sensors</a:t>
                      </a:r>
                      <a:endParaRPr lang="en-US" sz="1800">
                        <a:effectLst/>
                      </a:endParaRPr>
                    </a:p>
                  </a:txBody>
                  <a:tcPr marL="60018" marR="60018" marT="60018" marB="60018" anchor="ctr">
                    <a:lnL w="7620" cap="flat" cmpd="sng" algn="ctr">
                      <a:solidFill>
                        <a:srgbClr val="80F019"/>
                      </a:solidFill>
                      <a:prstDash val="solid"/>
                      <a:round/>
                      <a:headEnd type="none" w="med" len="med"/>
                      <a:tailEnd type="none" w="med" len="med"/>
                    </a:lnL>
                    <a:lnR w="7620" cap="flat" cmpd="sng" algn="ctr">
                      <a:solidFill>
                        <a:srgbClr val="50051A"/>
                      </a:solidFill>
                      <a:prstDash val="solid"/>
                      <a:round/>
                      <a:headEnd type="none" w="med" len="med"/>
                      <a:tailEnd type="none" w="med" len="med"/>
                    </a:lnR>
                    <a:lnT w="7620" cap="flat" cmpd="sng" algn="ctr">
                      <a:solidFill>
                        <a:srgbClr val="80F019"/>
                      </a:solidFill>
                      <a:prstDash val="solid"/>
                      <a:round/>
                      <a:headEnd type="none" w="med" len="med"/>
                      <a:tailEnd type="none" w="med" len="med"/>
                    </a:lnT>
                    <a:lnB w="7620" cap="flat" cmpd="sng" algn="ctr">
                      <a:solidFill>
                        <a:srgbClr val="208D19"/>
                      </a:solidFill>
                      <a:prstDash val="solid"/>
                      <a:round/>
                      <a:headEnd type="none" w="med" len="med"/>
                      <a:tailEnd type="none" w="med" len="med"/>
                    </a:lnB>
                    <a:solidFill>
                      <a:srgbClr val="FFFFFF"/>
                    </a:solidFill>
                  </a:tcPr>
                </a:tc>
                <a:tc>
                  <a:txBody>
                    <a:bodyPr/>
                    <a:lstStyle/>
                    <a:p>
                      <a:r>
                        <a:rPr lang="en-US" sz="1800">
                          <a:solidFill>
                            <a:srgbClr val="000000"/>
                          </a:solidFill>
                          <a:effectLst/>
                        </a:rPr>
                        <a:t>Tilt Sensor</a:t>
                      </a:r>
                      <a:endParaRPr lang="en-US" sz="1800">
                        <a:effectLst/>
                      </a:endParaRPr>
                    </a:p>
                  </a:txBody>
                  <a:tcPr marL="60018" marR="60018" marT="60018" marB="60018" anchor="ctr">
                    <a:lnL w="7620" cap="flat" cmpd="sng" algn="ctr">
                      <a:solidFill>
                        <a:srgbClr val="50051A"/>
                      </a:solidFill>
                      <a:prstDash val="solid"/>
                      <a:round/>
                      <a:headEnd type="none" w="med" len="med"/>
                      <a:tailEnd type="none" w="med" len="med"/>
                    </a:lnL>
                    <a:lnR w="7620" cap="flat" cmpd="sng" algn="ctr">
                      <a:solidFill>
                        <a:srgbClr val="E06F19"/>
                      </a:solidFill>
                      <a:prstDash val="solid"/>
                      <a:round/>
                      <a:headEnd type="none" w="med" len="med"/>
                      <a:tailEnd type="none" w="med" len="med"/>
                    </a:lnR>
                    <a:lnT w="7620" cap="flat" cmpd="sng" algn="ctr">
                      <a:solidFill>
                        <a:srgbClr val="50051A"/>
                      </a:solidFill>
                      <a:prstDash val="solid"/>
                      <a:round/>
                      <a:headEnd type="none" w="med" len="med"/>
                      <a:tailEnd type="none" w="med" len="med"/>
                    </a:lnT>
                    <a:lnB w="7620" cap="flat" cmpd="sng" algn="ctr">
                      <a:solidFill>
                        <a:srgbClr val="308919"/>
                      </a:solidFill>
                      <a:prstDash val="solid"/>
                      <a:round/>
                      <a:headEnd type="none" w="med" len="med"/>
                      <a:tailEnd type="none" w="med" len="med"/>
                    </a:lnB>
                    <a:solidFill>
                      <a:srgbClr val="FFFFFF"/>
                    </a:solidFill>
                  </a:tcPr>
                </a:tc>
                <a:tc>
                  <a:txBody>
                    <a:bodyPr/>
                    <a:lstStyle/>
                    <a:p>
                      <a:r>
                        <a:rPr lang="en-US" sz="1800">
                          <a:solidFill>
                            <a:srgbClr val="000000"/>
                          </a:solidFill>
                          <a:effectLst/>
                        </a:rPr>
                        <a:t>Metal Detectors</a:t>
                      </a:r>
                      <a:endParaRPr lang="en-US" sz="1800">
                        <a:effectLst/>
                      </a:endParaRPr>
                    </a:p>
                  </a:txBody>
                  <a:tcPr marL="60018" marR="60018" marT="60018" marB="60018" anchor="ctr">
                    <a:lnL w="7620" cap="flat" cmpd="sng" algn="ctr">
                      <a:solidFill>
                        <a:srgbClr val="E06F19"/>
                      </a:solidFill>
                      <a:prstDash val="solid"/>
                      <a:round/>
                      <a:headEnd type="none" w="med" len="med"/>
                      <a:tailEnd type="none" w="med" len="med"/>
                    </a:lnL>
                    <a:lnR w="7620" cap="flat" cmpd="sng" algn="ctr">
                      <a:solidFill>
                        <a:srgbClr val="008919"/>
                      </a:solidFill>
                      <a:prstDash val="solid"/>
                      <a:round/>
                      <a:headEnd type="none" w="med" len="med"/>
                      <a:tailEnd type="none" w="med" len="med"/>
                    </a:lnR>
                    <a:lnT w="7620" cap="flat" cmpd="sng" algn="ctr">
                      <a:solidFill>
                        <a:srgbClr val="E06F19"/>
                      </a:solidFill>
                      <a:prstDash val="solid"/>
                      <a:round/>
                      <a:headEnd type="none" w="med" len="med"/>
                      <a:tailEnd type="none" w="med" len="med"/>
                    </a:lnT>
                    <a:lnB w="7620" cap="flat" cmpd="sng" algn="ctr">
                      <a:solidFill>
                        <a:srgbClr val="308919"/>
                      </a:solidFill>
                      <a:prstDash val="solid"/>
                      <a:round/>
                      <a:headEnd type="none" w="med" len="med"/>
                      <a:tailEnd type="none" w="med" len="med"/>
                    </a:lnB>
                    <a:solidFill>
                      <a:srgbClr val="FFFFFF"/>
                    </a:solidFill>
                  </a:tcPr>
                </a:tc>
                <a:tc>
                  <a:txBody>
                    <a:bodyPr/>
                    <a:lstStyle/>
                    <a:p>
                      <a:r>
                        <a:rPr lang="en-US" sz="1800">
                          <a:solidFill>
                            <a:srgbClr val="000000"/>
                          </a:solidFill>
                          <a:effectLst/>
                        </a:rPr>
                        <a:t>Cameras</a:t>
                      </a:r>
                      <a:endParaRPr lang="en-US" sz="1800">
                        <a:effectLst/>
                      </a:endParaRPr>
                    </a:p>
                  </a:txBody>
                  <a:tcPr marL="60018" marR="60018" marT="60018" marB="60018" anchor="ctr">
                    <a:lnL w="7620" cap="flat" cmpd="sng" algn="ctr">
                      <a:solidFill>
                        <a:srgbClr val="008919"/>
                      </a:solidFill>
                      <a:prstDash val="solid"/>
                      <a:round/>
                      <a:headEnd type="none" w="med" len="med"/>
                      <a:tailEnd type="none" w="med" len="med"/>
                    </a:lnL>
                    <a:lnR w="7620" cap="flat" cmpd="sng" algn="ctr">
                      <a:solidFill>
                        <a:srgbClr val="008919"/>
                      </a:solidFill>
                      <a:prstDash val="solid"/>
                      <a:round/>
                      <a:headEnd type="none" w="med" len="med"/>
                      <a:tailEnd type="none" w="med" len="med"/>
                    </a:lnR>
                    <a:lnT w="7620" cap="flat" cmpd="sng" algn="ctr">
                      <a:solidFill>
                        <a:srgbClr val="008919"/>
                      </a:solidFill>
                      <a:prstDash val="solid"/>
                      <a:round/>
                      <a:headEnd type="none" w="med" len="med"/>
                      <a:tailEnd type="none" w="med" len="med"/>
                    </a:lnT>
                    <a:lnB w="7620" cap="flat" cmpd="sng" algn="ctr">
                      <a:solidFill>
                        <a:srgbClr val="408519"/>
                      </a:solidFill>
                      <a:prstDash val="solid"/>
                      <a:round/>
                      <a:headEnd type="none" w="med" len="med"/>
                      <a:tailEnd type="none" w="med" len="med"/>
                    </a:lnB>
                    <a:solidFill>
                      <a:srgbClr val="FFFFFF"/>
                    </a:solidFill>
                  </a:tcPr>
                </a:tc>
                <a:extLst>
                  <a:ext uri="{0D108BD9-81ED-4DB2-BD59-A6C34878D82A}">
                    <a16:rowId xmlns:a16="http://schemas.microsoft.com/office/drawing/2014/main" val="1282977525"/>
                  </a:ext>
                </a:extLst>
              </a:tr>
              <a:tr h="733396">
                <a:tc>
                  <a:txBody>
                    <a:bodyPr/>
                    <a:lstStyle/>
                    <a:p>
                      <a:r>
                        <a:rPr lang="en-US" sz="1800">
                          <a:solidFill>
                            <a:srgbClr val="000000"/>
                          </a:solidFill>
                          <a:effectLst/>
                        </a:rPr>
                        <a:t>Humidity Sensor</a:t>
                      </a:r>
                      <a:endParaRPr lang="en-US" sz="1800">
                        <a:effectLst/>
                      </a:endParaRPr>
                    </a:p>
                  </a:txBody>
                  <a:tcPr marL="60018" marR="60018" marT="60018" marB="60018" anchor="ctr">
                    <a:lnL w="7620" cap="flat" cmpd="sng" algn="ctr">
                      <a:solidFill>
                        <a:srgbClr val="208D19"/>
                      </a:solidFill>
                      <a:prstDash val="solid"/>
                      <a:round/>
                      <a:headEnd type="none" w="med" len="med"/>
                      <a:tailEnd type="none" w="med" len="med"/>
                    </a:lnL>
                    <a:lnR w="7620" cap="flat" cmpd="sng" algn="ctr">
                      <a:solidFill>
                        <a:srgbClr val="308919"/>
                      </a:solidFill>
                      <a:prstDash val="solid"/>
                      <a:round/>
                      <a:headEnd type="none" w="med" len="med"/>
                      <a:tailEnd type="none" w="med" len="med"/>
                    </a:lnR>
                    <a:lnT w="7620" cap="flat" cmpd="sng" algn="ctr">
                      <a:solidFill>
                        <a:srgbClr val="208D19"/>
                      </a:solidFill>
                      <a:prstDash val="solid"/>
                      <a:round/>
                      <a:headEnd type="none" w="med" len="med"/>
                      <a:tailEnd type="none" w="med" len="med"/>
                    </a:lnT>
                    <a:lnB w="7620" cap="flat" cmpd="sng" algn="ctr">
                      <a:solidFill>
                        <a:srgbClr val="609B19"/>
                      </a:solidFill>
                      <a:prstDash val="solid"/>
                      <a:round/>
                      <a:headEnd type="none" w="med" len="med"/>
                      <a:tailEnd type="none" w="med" len="med"/>
                    </a:lnB>
                    <a:solidFill>
                      <a:srgbClr val="FFFFFF"/>
                    </a:solidFill>
                  </a:tcPr>
                </a:tc>
                <a:tc>
                  <a:txBody>
                    <a:bodyPr/>
                    <a:lstStyle/>
                    <a:p>
                      <a:r>
                        <a:rPr lang="en-US" sz="1800">
                          <a:solidFill>
                            <a:srgbClr val="000000"/>
                          </a:solidFill>
                          <a:effectLst/>
                        </a:rPr>
                        <a:t>Vibration Sensor</a:t>
                      </a:r>
                      <a:endParaRPr lang="en-US" sz="1800">
                        <a:effectLst/>
                      </a:endParaRPr>
                    </a:p>
                  </a:txBody>
                  <a:tcPr marL="60018" marR="60018" marT="60018" marB="60018" anchor="ctr">
                    <a:lnL w="7620" cap="flat" cmpd="sng" algn="ctr">
                      <a:solidFill>
                        <a:srgbClr val="308919"/>
                      </a:solidFill>
                      <a:prstDash val="solid"/>
                      <a:round/>
                      <a:headEnd type="none" w="med" len="med"/>
                      <a:tailEnd type="none" w="med" len="med"/>
                    </a:lnL>
                    <a:lnR w="7620" cap="flat" cmpd="sng" algn="ctr">
                      <a:solidFill>
                        <a:srgbClr val="308919"/>
                      </a:solidFill>
                      <a:prstDash val="solid"/>
                      <a:round/>
                      <a:headEnd type="none" w="med" len="med"/>
                      <a:tailEnd type="none" w="med" len="med"/>
                    </a:lnR>
                    <a:lnT w="7620" cap="flat" cmpd="sng" algn="ctr">
                      <a:solidFill>
                        <a:srgbClr val="308919"/>
                      </a:solidFill>
                      <a:prstDash val="solid"/>
                      <a:round/>
                      <a:headEnd type="none" w="med" len="med"/>
                      <a:tailEnd type="none" w="med" len="med"/>
                    </a:lnT>
                    <a:lnB w="7620" cap="flat" cmpd="sng" algn="ctr">
                      <a:solidFill>
                        <a:srgbClr val="A09719"/>
                      </a:solidFill>
                      <a:prstDash val="solid"/>
                      <a:round/>
                      <a:headEnd type="none" w="med" len="med"/>
                      <a:tailEnd type="none" w="med" len="med"/>
                    </a:lnB>
                    <a:solidFill>
                      <a:srgbClr val="FFFFFF"/>
                    </a:solidFill>
                  </a:tcPr>
                </a:tc>
                <a:tc>
                  <a:txBody>
                    <a:bodyPr/>
                    <a:lstStyle/>
                    <a:p>
                      <a:r>
                        <a:rPr lang="en-US" sz="1800">
                          <a:solidFill>
                            <a:srgbClr val="000000"/>
                          </a:solidFill>
                          <a:effectLst/>
                        </a:rPr>
                        <a:t>Magnetic Sensor</a:t>
                      </a:r>
                      <a:endParaRPr lang="en-US" sz="1800">
                        <a:effectLst/>
                      </a:endParaRPr>
                    </a:p>
                  </a:txBody>
                  <a:tcPr marL="60018" marR="60018" marT="60018" marB="60018" anchor="ctr">
                    <a:lnL w="7620" cap="flat" cmpd="sng" algn="ctr">
                      <a:solidFill>
                        <a:srgbClr val="308919"/>
                      </a:solidFill>
                      <a:prstDash val="solid"/>
                      <a:round/>
                      <a:headEnd type="none" w="med" len="med"/>
                      <a:tailEnd type="none" w="med" len="med"/>
                    </a:lnL>
                    <a:lnR w="7620" cap="flat" cmpd="sng" algn="ctr">
                      <a:solidFill>
                        <a:srgbClr val="408519"/>
                      </a:solidFill>
                      <a:prstDash val="solid"/>
                      <a:round/>
                      <a:headEnd type="none" w="med" len="med"/>
                      <a:tailEnd type="none" w="med" len="med"/>
                    </a:lnR>
                    <a:lnT w="7620" cap="flat" cmpd="sng" algn="ctr">
                      <a:solidFill>
                        <a:srgbClr val="308919"/>
                      </a:solidFill>
                      <a:prstDash val="solid"/>
                      <a:round/>
                      <a:headEnd type="none" w="med" len="med"/>
                      <a:tailEnd type="none" w="med" len="med"/>
                    </a:lnT>
                    <a:lnB w="7620" cap="flat" cmpd="sng" algn="ctr">
                      <a:solidFill>
                        <a:srgbClr val="E0A519"/>
                      </a:solidFill>
                      <a:prstDash val="solid"/>
                      <a:round/>
                      <a:headEnd type="none" w="med" len="med"/>
                      <a:tailEnd type="none" w="med" len="med"/>
                    </a:lnB>
                    <a:solidFill>
                      <a:srgbClr val="FFFFFF"/>
                    </a:solidFill>
                  </a:tcPr>
                </a:tc>
                <a:tc>
                  <a:txBody>
                    <a:bodyPr/>
                    <a:lstStyle/>
                    <a:p>
                      <a:r>
                        <a:rPr lang="en-US" sz="1800">
                          <a:solidFill>
                            <a:srgbClr val="000000"/>
                          </a:solidFill>
                          <a:effectLst/>
                        </a:rPr>
                        <a:t>Color Sensor</a:t>
                      </a:r>
                      <a:endParaRPr lang="en-US" sz="1800">
                        <a:effectLst/>
                      </a:endParaRPr>
                    </a:p>
                  </a:txBody>
                  <a:tcPr marL="60018" marR="60018" marT="60018" marB="60018" anchor="ctr">
                    <a:lnL w="7620" cap="flat" cmpd="sng" algn="ctr">
                      <a:solidFill>
                        <a:srgbClr val="408519"/>
                      </a:solidFill>
                      <a:prstDash val="solid"/>
                      <a:round/>
                      <a:headEnd type="none" w="med" len="med"/>
                      <a:tailEnd type="none" w="med" len="med"/>
                    </a:lnL>
                    <a:lnR w="7620" cap="flat" cmpd="sng" algn="ctr">
                      <a:solidFill>
                        <a:srgbClr val="408519"/>
                      </a:solidFill>
                      <a:prstDash val="solid"/>
                      <a:round/>
                      <a:headEnd type="none" w="med" len="med"/>
                      <a:tailEnd type="none" w="med" len="med"/>
                    </a:lnR>
                    <a:lnT w="7620" cap="flat" cmpd="sng" algn="ctr">
                      <a:solidFill>
                        <a:srgbClr val="408519"/>
                      </a:solidFill>
                      <a:prstDash val="solid"/>
                      <a:round/>
                      <a:headEnd type="none" w="med" len="med"/>
                      <a:tailEnd type="none" w="med" len="med"/>
                    </a:lnT>
                    <a:lnB w="7620" cap="flat" cmpd="sng" algn="ctr">
                      <a:solidFill>
                        <a:srgbClr val="C0B319"/>
                      </a:solidFill>
                      <a:prstDash val="solid"/>
                      <a:round/>
                      <a:headEnd type="none" w="med" len="med"/>
                      <a:tailEnd type="none" w="med" len="med"/>
                    </a:lnB>
                    <a:solidFill>
                      <a:srgbClr val="FFFFFF"/>
                    </a:solidFill>
                  </a:tcPr>
                </a:tc>
                <a:extLst>
                  <a:ext uri="{0D108BD9-81ED-4DB2-BD59-A6C34878D82A}">
                    <a16:rowId xmlns:a16="http://schemas.microsoft.com/office/drawing/2014/main" val="3465828592"/>
                  </a:ext>
                </a:extLst>
              </a:tr>
              <a:tr h="733396">
                <a:tc>
                  <a:txBody>
                    <a:bodyPr/>
                    <a:lstStyle/>
                    <a:p>
                      <a:r>
                        <a:rPr lang="en-US" sz="1800">
                          <a:solidFill>
                            <a:srgbClr val="000000"/>
                          </a:solidFill>
                          <a:effectLst/>
                        </a:rPr>
                        <a:t>Current Sensor</a:t>
                      </a:r>
                      <a:endParaRPr lang="en-US" sz="1800">
                        <a:effectLst/>
                      </a:endParaRPr>
                    </a:p>
                  </a:txBody>
                  <a:tcPr marL="60018" marR="60018" marT="60018" marB="60018" anchor="ctr">
                    <a:lnL w="7620" cap="flat" cmpd="sng" algn="ctr">
                      <a:solidFill>
                        <a:srgbClr val="609B19"/>
                      </a:solidFill>
                      <a:prstDash val="solid"/>
                      <a:round/>
                      <a:headEnd type="none" w="med" len="med"/>
                      <a:tailEnd type="none" w="med" len="med"/>
                    </a:lnL>
                    <a:lnR w="7620" cap="flat" cmpd="sng" algn="ctr">
                      <a:solidFill>
                        <a:srgbClr val="A09719"/>
                      </a:solidFill>
                      <a:prstDash val="solid"/>
                      <a:round/>
                      <a:headEnd type="none" w="med" len="med"/>
                      <a:tailEnd type="none" w="med" len="med"/>
                    </a:lnR>
                    <a:lnT w="7620" cap="flat" cmpd="sng" algn="ctr">
                      <a:solidFill>
                        <a:srgbClr val="609B19"/>
                      </a:solidFill>
                      <a:prstDash val="solid"/>
                      <a:round/>
                      <a:headEnd type="none" w="med" len="med"/>
                      <a:tailEnd type="none" w="med" len="med"/>
                    </a:lnT>
                    <a:lnB w="7620" cap="flat" cmpd="sng" algn="ctr">
                      <a:solidFill>
                        <a:srgbClr val="70C555"/>
                      </a:solidFill>
                      <a:prstDash val="solid"/>
                      <a:round/>
                      <a:headEnd type="none" w="med" len="med"/>
                      <a:tailEnd type="none" w="med" len="med"/>
                    </a:lnB>
                    <a:solidFill>
                      <a:srgbClr val="FFFFFF"/>
                    </a:solidFill>
                  </a:tcPr>
                </a:tc>
                <a:tc>
                  <a:txBody>
                    <a:bodyPr/>
                    <a:lstStyle/>
                    <a:p>
                      <a:r>
                        <a:rPr lang="en-US" sz="1800">
                          <a:solidFill>
                            <a:srgbClr val="000000"/>
                          </a:solidFill>
                          <a:effectLst/>
                        </a:rPr>
                        <a:t>Pressure Sensor</a:t>
                      </a:r>
                      <a:endParaRPr lang="en-US" sz="1800">
                        <a:effectLst/>
                      </a:endParaRPr>
                    </a:p>
                  </a:txBody>
                  <a:tcPr marL="60018" marR="60018" marT="60018" marB="60018" anchor="ctr">
                    <a:lnL w="7620" cap="flat" cmpd="sng" algn="ctr">
                      <a:solidFill>
                        <a:srgbClr val="A09719"/>
                      </a:solidFill>
                      <a:prstDash val="solid"/>
                      <a:round/>
                      <a:headEnd type="none" w="med" len="med"/>
                      <a:tailEnd type="none" w="med" len="med"/>
                    </a:lnL>
                    <a:lnR w="7620" cap="flat" cmpd="sng" algn="ctr">
                      <a:solidFill>
                        <a:srgbClr val="E0A519"/>
                      </a:solidFill>
                      <a:prstDash val="solid"/>
                      <a:round/>
                      <a:headEnd type="none" w="med" len="med"/>
                      <a:tailEnd type="none" w="med" len="med"/>
                    </a:lnR>
                    <a:lnT w="7620" cap="flat" cmpd="sng" algn="ctr">
                      <a:solidFill>
                        <a:srgbClr val="A09719"/>
                      </a:solidFill>
                      <a:prstDash val="solid"/>
                      <a:round/>
                      <a:headEnd type="none" w="med" len="med"/>
                      <a:tailEnd type="none" w="med" len="med"/>
                    </a:lnT>
                    <a:lnB w="7620" cap="flat" cmpd="sng" algn="ctr">
                      <a:solidFill>
                        <a:srgbClr val="A0C855"/>
                      </a:solidFill>
                      <a:prstDash val="solid"/>
                      <a:round/>
                      <a:headEnd type="none" w="med" len="med"/>
                      <a:tailEnd type="none" w="med" len="med"/>
                    </a:lnB>
                    <a:solidFill>
                      <a:srgbClr val="FFFFFF"/>
                    </a:solidFill>
                  </a:tcPr>
                </a:tc>
                <a:tc>
                  <a:txBody>
                    <a:bodyPr/>
                    <a:lstStyle/>
                    <a:p>
                      <a:r>
                        <a:rPr lang="en-US" sz="1800">
                          <a:solidFill>
                            <a:srgbClr val="000000"/>
                          </a:solidFill>
                          <a:effectLst/>
                        </a:rPr>
                        <a:t>Fingerprint Sensor</a:t>
                      </a:r>
                      <a:endParaRPr lang="en-US" sz="1800">
                        <a:effectLst/>
                      </a:endParaRPr>
                    </a:p>
                  </a:txBody>
                  <a:tcPr marL="60018" marR="60018" marT="60018" marB="60018" anchor="ctr">
                    <a:lnL w="7620" cap="flat" cmpd="sng" algn="ctr">
                      <a:solidFill>
                        <a:srgbClr val="E0A519"/>
                      </a:solidFill>
                      <a:prstDash val="solid"/>
                      <a:round/>
                      <a:headEnd type="none" w="med" len="med"/>
                      <a:tailEnd type="none" w="med" len="med"/>
                    </a:lnL>
                    <a:lnR w="7620" cap="flat" cmpd="sng" algn="ctr">
                      <a:solidFill>
                        <a:srgbClr val="C0B319"/>
                      </a:solidFill>
                      <a:prstDash val="solid"/>
                      <a:round/>
                      <a:headEnd type="none" w="med" len="med"/>
                      <a:tailEnd type="none" w="med" len="med"/>
                    </a:lnR>
                    <a:lnT w="7620" cap="flat" cmpd="sng" algn="ctr">
                      <a:solidFill>
                        <a:srgbClr val="E0A519"/>
                      </a:solidFill>
                      <a:prstDash val="solid"/>
                      <a:round/>
                      <a:headEnd type="none" w="med" len="med"/>
                      <a:tailEnd type="none" w="med" len="med"/>
                    </a:lnT>
                    <a:lnB w="7620" cap="flat" cmpd="sng" algn="ctr">
                      <a:solidFill>
                        <a:srgbClr val="70CB55"/>
                      </a:solidFill>
                      <a:prstDash val="solid"/>
                      <a:round/>
                      <a:headEnd type="none" w="med" len="med"/>
                      <a:tailEnd type="none" w="med" len="med"/>
                    </a:lnB>
                    <a:solidFill>
                      <a:srgbClr val="FFFFFF"/>
                    </a:solidFill>
                  </a:tcPr>
                </a:tc>
                <a:tc>
                  <a:txBody>
                    <a:bodyPr/>
                    <a:lstStyle/>
                    <a:p>
                      <a:r>
                        <a:rPr lang="en-US" sz="1800">
                          <a:solidFill>
                            <a:srgbClr val="000000"/>
                          </a:solidFill>
                          <a:effectLst/>
                        </a:rPr>
                        <a:t>GPS</a:t>
                      </a:r>
                      <a:endParaRPr lang="en-US" sz="1800">
                        <a:effectLst/>
                      </a:endParaRPr>
                    </a:p>
                  </a:txBody>
                  <a:tcPr marL="60018" marR="60018" marT="60018" marB="60018" anchor="ctr">
                    <a:lnL w="7620" cap="flat" cmpd="sng" algn="ctr">
                      <a:solidFill>
                        <a:srgbClr val="C0B319"/>
                      </a:solidFill>
                      <a:prstDash val="solid"/>
                      <a:round/>
                      <a:headEnd type="none" w="med" len="med"/>
                      <a:tailEnd type="none" w="med" len="med"/>
                    </a:lnL>
                    <a:lnR w="7620" cap="flat" cmpd="sng" algn="ctr">
                      <a:solidFill>
                        <a:srgbClr val="C0B319"/>
                      </a:solidFill>
                      <a:prstDash val="solid"/>
                      <a:round/>
                      <a:headEnd type="none" w="med" len="med"/>
                      <a:tailEnd type="none" w="med" len="med"/>
                    </a:lnR>
                    <a:lnT w="7620" cap="flat" cmpd="sng" algn="ctr">
                      <a:solidFill>
                        <a:srgbClr val="C0B319"/>
                      </a:solidFill>
                      <a:prstDash val="solid"/>
                      <a:round/>
                      <a:headEnd type="none" w="med" len="med"/>
                      <a:tailEnd type="none" w="med" len="med"/>
                    </a:lnT>
                    <a:lnB w="7620" cap="flat" cmpd="sng" algn="ctr">
                      <a:solidFill>
                        <a:srgbClr val="60CC55"/>
                      </a:solidFill>
                      <a:prstDash val="solid"/>
                      <a:round/>
                      <a:headEnd type="none" w="med" len="med"/>
                      <a:tailEnd type="none" w="med" len="med"/>
                    </a:lnB>
                    <a:solidFill>
                      <a:srgbClr val="FFFFFF"/>
                    </a:solidFill>
                  </a:tcPr>
                </a:tc>
                <a:extLst>
                  <a:ext uri="{0D108BD9-81ED-4DB2-BD59-A6C34878D82A}">
                    <a16:rowId xmlns:a16="http://schemas.microsoft.com/office/drawing/2014/main" val="2885434324"/>
                  </a:ext>
                </a:extLst>
              </a:tr>
              <a:tr h="733396">
                <a:tc>
                  <a:txBody>
                    <a:bodyPr/>
                    <a:lstStyle/>
                    <a:p>
                      <a:r>
                        <a:rPr lang="en-US" sz="1800">
                          <a:solidFill>
                            <a:srgbClr val="000000"/>
                          </a:solidFill>
                          <a:effectLst/>
                        </a:rPr>
                        <a:t>Motor Speed Sensor</a:t>
                      </a:r>
                      <a:endParaRPr lang="en-US" sz="1800">
                        <a:effectLst/>
                      </a:endParaRPr>
                    </a:p>
                  </a:txBody>
                  <a:tcPr marL="60018" marR="60018" marT="60018" marB="60018" anchor="ctr">
                    <a:lnL w="7620" cap="flat" cmpd="sng" algn="ctr">
                      <a:solidFill>
                        <a:srgbClr val="70C555"/>
                      </a:solidFill>
                      <a:prstDash val="solid"/>
                      <a:round/>
                      <a:headEnd type="none" w="med" len="med"/>
                      <a:tailEnd type="none" w="med" len="med"/>
                    </a:lnL>
                    <a:lnR w="7620" cap="flat" cmpd="sng" algn="ctr">
                      <a:solidFill>
                        <a:srgbClr val="A0C855"/>
                      </a:solidFill>
                      <a:prstDash val="solid"/>
                      <a:round/>
                      <a:headEnd type="none" w="med" len="med"/>
                      <a:tailEnd type="none" w="med" len="med"/>
                    </a:lnR>
                    <a:lnT w="7620" cap="flat" cmpd="sng" algn="ctr">
                      <a:solidFill>
                        <a:srgbClr val="70C555"/>
                      </a:solidFill>
                      <a:prstDash val="solid"/>
                      <a:round/>
                      <a:headEnd type="none" w="med" len="med"/>
                      <a:tailEnd type="none" w="med" len="med"/>
                    </a:lnT>
                    <a:lnB w="7620" cap="flat" cmpd="sng" algn="ctr">
                      <a:solidFill>
                        <a:srgbClr val="701F56"/>
                      </a:solidFill>
                      <a:prstDash val="solid"/>
                      <a:round/>
                      <a:headEnd type="none" w="med" len="med"/>
                      <a:tailEnd type="none" w="med" len="med"/>
                    </a:lnB>
                    <a:solidFill>
                      <a:srgbClr val="FFFFFF"/>
                    </a:solidFill>
                  </a:tcPr>
                </a:tc>
                <a:tc>
                  <a:txBody>
                    <a:bodyPr/>
                    <a:lstStyle/>
                    <a:p>
                      <a:r>
                        <a:rPr lang="en-US" sz="1800">
                          <a:solidFill>
                            <a:srgbClr val="000000"/>
                          </a:solidFill>
                          <a:effectLst/>
                        </a:rPr>
                        <a:t>Bending Sensor</a:t>
                      </a:r>
                      <a:endParaRPr lang="en-US" sz="1800">
                        <a:effectLst/>
                      </a:endParaRPr>
                    </a:p>
                  </a:txBody>
                  <a:tcPr marL="60018" marR="60018" marT="60018" marB="60018" anchor="ctr">
                    <a:lnL w="7620" cap="flat" cmpd="sng" algn="ctr">
                      <a:solidFill>
                        <a:srgbClr val="A0C855"/>
                      </a:solidFill>
                      <a:prstDash val="solid"/>
                      <a:round/>
                      <a:headEnd type="none" w="med" len="med"/>
                      <a:tailEnd type="none" w="med" len="med"/>
                    </a:lnL>
                    <a:lnR w="7620" cap="flat" cmpd="sng" algn="ctr">
                      <a:solidFill>
                        <a:srgbClr val="70CB55"/>
                      </a:solidFill>
                      <a:prstDash val="solid"/>
                      <a:round/>
                      <a:headEnd type="none" w="med" len="med"/>
                      <a:tailEnd type="none" w="med" len="med"/>
                    </a:lnR>
                    <a:lnT w="7620" cap="flat" cmpd="sng" algn="ctr">
                      <a:solidFill>
                        <a:srgbClr val="A0C855"/>
                      </a:solidFill>
                      <a:prstDash val="solid"/>
                      <a:round/>
                      <a:headEnd type="none" w="med" len="med"/>
                      <a:tailEnd type="none" w="med" len="med"/>
                    </a:lnT>
                    <a:lnB w="7620" cap="flat" cmpd="sng" algn="ctr">
                      <a:solidFill>
                        <a:srgbClr val="A01F56"/>
                      </a:solidFill>
                      <a:prstDash val="solid"/>
                      <a:round/>
                      <a:headEnd type="none" w="med" len="med"/>
                      <a:tailEnd type="none" w="med" len="med"/>
                    </a:lnB>
                    <a:solidFill>
                      <a:srgbClr val="FFFFFF"/>
                    </a:solidFill>
                  </a:tcPr>
                </a:tc>
                <a:tc>
                  <a:txBody>
                    <a:bodyPr/>
                    <a:lstStyle/>
                    <a:p>
                      <a:r>
                        <a:rPr lang="en-US" sz="1800">
                          <a:solidFill>
                            <a:srgbClr val="000000"/>
                          </a:solidFill>
                          <a:effectLst/>
                        </a:rPr>
                        <a:t>PIR Sensor</a:t>
                      </a:r>
                      <a:endParaRPr lang="en-US" sz="1800">
                        <a:effectLst/>
                      </a:endParaRPr>
                    </a:p>
                  </a:txBody>
                  <a:tcPr marL="60018" marR="60018" marT="60018" marB="60018" anchor="ctr">
                    <a:lnL w="7620" cap="flat" cmpd="sng" algn="ctr">
                      <a:solidFill>
                        <a:srgbClr val="70CB55"/>
                      </a:solidFill>
                      <a:prstDash val="solid"/>
                      <a:round/>
                      <a:headEnd type="none" w="med" len="med"/>
                      <a:tailEnd type="none" w="med" len="med"/>
                    </a:lnL>
                    <a:lnR w="7620" cap="flat" cmpd="sng" algn="ctr">
                      <a:solidFill>
                        <a:srgbClr val="60CC55"/>
                      </a:solidFill>
                      <a:prstDash val="solid"/>
                      <a:round/>
                      <a:headEnd type="none" w="med" len="med"/>
                      <a:tailEnd type="none" w="med" len="med"/>
                    </a:lnR>
                    <a:lnT w="7620" cap="flat" cmpd="sng" algn="ctr">
                      <a:solidFill>
                        <a:srgbClr val="70CB55"/>
                      </a:solidFill>
                      <a:prstDash val="solid"/>
                      <a:round/>
                      <a:headEnd type="none" w="med" len="med"/>
                      <a:tailEnd type="none" w="med" len="med"/>
                    </a:lnT>
                    <a:lnB w="7620" cap="flat" cmpd="sng" algn="ctr">
                      <a:solidFill>
                        <a:srgbClr val="302F56"/>
                      </a:solidFill>
                      <a:prstDash val="solid"/>
                      <a:round/>
                      <a:headEnd type="none" w="med" len="med"/>
                      <a:tailEnd type="none" w="med" len="med"/>
                    </a:lnB>
                    <a:solidFill>
                      <a:srgbClr val="FFFFFF"/>
                    </a:solidFill>
                  </a:tcPr>
                </a:tc>
                <a:tc>
                  <a:txBody>
                    <a:bodyPr/>
                    <a:lstStyle/>
                    <a:p>
                      <a:r>
                        <a:rPr lang="en-US" sz="1800">
                          <a:solidFill>
                            <a:srgbClr val="000000"/>
                          </a:solidFill>
                          <a:effectLst/>
                        </a:rPr>
                        <a:t>Position Sensor</a:t>
                      </a:r>
                      <a:endParaRPr lang="en-US" sz="1800">
                        <a:effectLst/>
                      </a:endParaRPr>
                    </a:p>
                  </a:txBody>
                  <a:tcPr marL="60018" marR="60018" marT="60018" marB="60018" anchor="ctr">
                    <a:lnL w="7620" cap="flat" cmpd="sng" algn="ctr">
                      <a:solidFill>
                        <a:srgbClr val="60CC55"/>
                      </a:solidFill>
                      <a:prstDash val="solid"/>
                      <a:round/>
                      <a:headEnd type="none" w="med" len="med"/>
                      <a:tailEnd type="none" w="med" len="med"/>
                    </a:lnL>
                    <a:lnR w="7620" cap="flat" cmpd="sng" algn="ctr">
                      <a:solidFill>
                        <a:srgbClr val="60CC55"/>
                      </a:solidFill>
                      <a:prstDash val="solid"/>
                      <a:round/>
                      <a:headEnd type="none" w="med" len="med"/>
                      <a:tailEnd type="none" w="med" len="med"/>
                    </a:lnR>
                    <a:lnT w="7620" cap="flat" cmpd="sng" algn="ctr">
                      <a:solidFill>
                        <a:srgbClr val="60CC55"/>
                      </a:solidFill>
                      <a:prstDash val="solid"/>
                      <a:round/>
                      <a:headEnd type="none" w="med" len="med"/>
                      <a:tailEnd type="none" w="med" len="med"/>
                    </a:lnT>
                    <a:lnB w="7620" cap="flat" cmpd="sng" algn="ctr">
                      <a:solidFill>
                        <a:srgbClr val="B05156"/>
                      </a:solidFill>
                      <a:prstDash val="solid"/>
                      <a:round/>
                      <a:headEnd type="none" w="med" len="med"/>
                      <a:tailEnd type="none" w="med" len="med"/>
                    </a:lnB>
                    <a:solidFill>
                      <a:srgbClr val="FFFFFF"/>
                    </a:solidFill>
                  </a:tcPr>
                </a:tc>
                <a:extLst>
                  <a:ext uri="{0D108BD9-81ED-4DB2-BD59-A6C34878D82A}">
                    <a16:rowId xmlns:a16="http://schemas.microsoft.com/office/drawing/2014/main" val="1716404426"/>
                  </a:ext>
                </a:extLst>
              </a:tr>
              <a:tr h="733396">
                <a:tc>
                  <a:txBody>
                    <a:bodyPr/>
                    <a:lstStyle/>
                    <a:p>
                      <a:r>
                        <a:rPr lang="en-US" sz="1800">
                          <a:solidFill>
                            <a:srgbClr val="000000"/>
                          </a:solidFill>
                          <a:effectLst/>
                        </a:rPr>
                        <a:t>Lidar Sensor</a:t>
                      </a:r>
                      <a:endParaRPr lang="en-US" sz="1800">
                        <a:effectLst/>
                      </a:endParaRPr>
                    </a:p>
                  </a:txBody>
                  <a:tcPr marL="60018" marR="60018" marT="60018" marB="60018" anchor="ctr">
                    <a:lnL w="7620" cap="flat" cmpd="sng" algn="ctr">
                      <a:solidFill>
                        <a:srgbClr val="701F56"/>
                      </a:solidFill>
                      <a:prstDash val="solid"/>
                      <a:round/>
                      <a:headEnd type="none" w="med" len="med"/>
                      <a:tailEnd type="none" w="med" len="med"/>
                    </a:lnL>
                    <a:lnR w="7620" cap="flat" cmpd="sng" algn="ctr">
                      <a:solidFill>
                        <a:srgbClr val="A01F56"/>
                      </a:solidFill>
                      <a:prstDash val="solid"/>
                      <a:round/>
                      <a:headEnd type="none" w="med" len="med"/>
                      <a:tailEnd type="none" w="med" len="med"/>
                    </a:lnR>
                    <a:lnT w="7620" cap="flat" cmpd="sng" algn="ctr">
                      <a:solidFill>
                        <a:srgbClr val="701F56"/>
                      </a:solidFill>
                      <a:prstDash val="solid"/>
                      <a:round/>
                      <a:headEnd type="none" w="med" len="med"/>
                      <a:tailEnd type="none" w="med" len="med"/>
                    </a:lnT>
                    <a:lnB w="7620" cap="flat" cmpd="sng" algn="ctr">
                      <a:solidFill>
                        <a:srgbClr val="905356"/>
                      </a:solidFill>
                      <a:prstDash val="solid"/>
                      <a:round/>
                      <a:headEnd type="none" w="med" len="med"/>
                      <a:tailEnd type="none" w="med" len="med"/>
                    </a:lnB>
                    <a:solidFill>
                      <a:srgbClr val="FFFFFF"/>
                    </a:solidFill>
                  </a:tcPr>
                </a:tc>
                <a:tc>
                  <a:txBody>
                    <a:bodyPr/>
                    <a:lstStyle/>
                    <a:p>
                      <a:r>
                        <a:rPr lang="en-US" sz="1800">
                          <a:solidFill>
                            <a:srgbClr val="000000"/>
                          </a:solidFill>
                          <a:effectLst/>
                        </a:rPr>
                        <a:t>Ultrasonic Sensor</a:t>
                      </a:r>
                      <a:endParaRPr lang="en-US" sz="1800">
                        <a:effectLst/>
                      </a:endParaRPr>
                    </a:p>
                  </a:txBody>
                  <a:tcPr marL="60018" marR="60018" marT="60018" marB="60018" anchor="ctr">
                    <a:lnL w="7620" cap="flat" cmpd="sng" algn="ctr">
                      <a:solidFill>
                        <a:srgbClr val="A01F56"/>
                      </a:solidFill>
                      <a:prstDash val="solid"/>
                      <a:round/>
                      <a:headEnd type="none" w="med" len="med"/>
                      <a:tailEnd type="none" w="med" len="med"/>
                    </a:lnL>
                    <a:lnR w="7620" cap="flat" cmpd="sng" algn="ctr">
                      <a:solidFill>
                        <a:srgbClr val="302F56"/>
                      </a:solidFill>
                      <a:prstDash val="solid"/>
                      <a:round/>
                      <a:headEnd type="none" w="med" len="med"/>
                      <a:tailEnd type="none" w="med" len="med"/>
                    </a:lnR>
                    <a:lnT w="7620" cap="flat" cmpd="sng" algn="ctr">
                      <a:solidFill>
                        <a:srgbClr val="A01F56"/>
                      </a:solidFill>
                      <a:prstDash val="solid"/>
                      <a:round/>
                      <a:headEnd type="none" w="med" len="med"/>
                      <a:tailEnd type="none" w="med" len="med"/>
                    </a:lnT>
                    <a:lnB w="7620" cap="flat" cmpd="sng" algn="ctr">
                      <a:solidFill>
                        <a:srgbClr val="105256"/>
                      </a:solidFill>
                      <a:prstDash val="solid"/>
                      <a:round/>
                      <a:headEnd type="none" w="med" len="med"/>
                      <a:tailEnd type="none" w="med" len="med"/>
                    </a:lnB>
                    <a:solidFill>
                      <a:srgbClr val="FFFFFF"/>
                    </a:solidFill>
                  </a:tcPr>
                </a:tc>
                <a:tc>
                  <a:txBody>
                    <a:bodyPr/>
                    <a:lstStyle/>
                    <a:p>
                      <a:r>
                        <a:rPr lang="en-US" sz="1800">
                          <a:solidFill>
                            <a:srgbClr val="000000"/>
                          </a:solidFill>
                          <a:effectLst/>
                        </a:rPr>
                        <a:t>Gyroscope Sensor</a:t>
                      </a:r>
                      <a:endParaRPr lang="en-US" sz="1800">
                        <a:effectLst/>
                      </a:endParaRPr>
                    </a:p>
                  </a:txBody>
                  <a:tcPr marL="60018" marR="60018" marT="60018" marB="60018" anchor="ctr">
                    <a:lnL w="7620" cap="flat" cmpd="sng" algn="ctr">
                      <a:solidFill>
                        <a:srgbClr val="302F56"/>
                      </a:solidFill>
                      <a:prstDash val="solid"/>
                      <a:round/>
                      <a:headEnd type="none" w="med" len="med"/>
                      <a:tailEnd type="none" w="med" len="med"/>
                    </a:lnL>
                    <a:lnR w="7620" cap="flat" cmpd="sng" algn="ctr">
                      <a:solidFill>
                        <a:srgbClr val="B05156"/>
                      </a:solidFill>
                      <a:prstDash val="solid"/>
                      <a:round/>
                      <a:headEnd type="none" w="med" len="med"/>
                      <a:tailEnd type="none" w="med" len="med"/>
                    </a:lnR>
                    <a:lnT w="7620" cap="flat" cmpd="sng" algn="ctr">
                      <a:solidFill>
                        <a:srgbClr val="302F56"/>
                      </a:solidFill>
                      <a:prstDash val="solid"/>
                      <a:round/>
                      <a:headEnd type="none" w="med" len="med"/>
                      <a:tailEnd type="none" w="med" len="med"/>
                    </a:lnT>
                    <a:lnB w="7620" cap="flat" cmpd="sng" algn="ctr">
                      <a:solidFill>
                        <a:srgbClr val="B05A56"/>
                      </a:solidFill>
                      <a:prstDash val="solid"/>
                      <a:round/>
                      <a:headEnd type="none" w="med" len="med"/>
                      <a:tailEnd type="none" w="med" len="med"/>
                    </a:lnB>
                    <a:solidFill>
                      <a:srgbClr val="FFFFFF"/>
                    </a:solidFill>
                  </a:tcPr>
                </a:tc>
                <a:tc>
                  <a:txBody>
                    <a:bodyPr/>
                    <a:lstStyle/>
                    <a:p>
                      <a:r>
                        <a:rPr lang="en-US" sz="1800">
                          <a:solidFill>
                            <a:srgbClr val="000000"/>
                          </a:solidFill>
                          <a:effectLst/>
                        </a:rPr>
                        <a:t>Accelerometer Sensor</a:t>
                      </a:r>
                      <a:endParaRPr lang="en-US" sz="1800">
                        <a:effectLst/>
                      </a:endParaRPr>
                    </a:p>
                  </a:txBody>
                  <a:tcPr marL="60018" marR="60018" marT="60018" marB="60018" anchor="ctr">
                    <a:lnL w="7620" cap="flat" cmpd="sng" algn="ctr">
                      <a:solidFill>
                        <a:srgbClr val="B05156"/>
                      </a:solidFill>
                      <a:prstDash val="solid"/>
                      <a:round/>
                      <a:headEnd type="none" w="med" len="med"/>
                      <a:tailEnd type="none" w="med" len="med"/>
                    </a:lnL>
                    <a:lnR w="7620" cap="flat" cmpd="sng" algn="ctr">
                      <a:solidFill>
                        <a:srgbClr val="B05156"/>
                      </a:solidFill>
                      <a:prstDash val="solid"/>
                      <a:round/>
                      <a:headEnd type="none" w="med" len="med"/>
                      <a:tailEnd type="none" w="med" len="med"/>
                    </a:lnR>
                    <a:lnT w="7620" cap="flat" cmpd="sng" algn="ctr">
                      <a:solidFill>
                        <a:srgbClr val="B05156"/>
                      </a:solidFill>
                      <a:prstDash val="solid"/>
                      <a:round/>
                      <a:headEnd type="none" w="med" len="med"/>
                      <a:tailEnd type="none" w="med" len="med"/>
                    </a:lnT>
                    <a:lnB w="7620" cap="flat" cmpd="sng" algn="ctr">
                      <a:solidFill>
                        <a:srgbClr val="E0A856"/>
                      </a:solidFill>
                      <a:prstDash val="solid"/>
                      <a:round/>
                      <a:headEnd type="none" w="med" len="med"/>
                      <a:tailEnd type="none" w="med" len="med"/>
                    </a:lnB>
                    <a:solidFill>
                      <a:srgbClr val="FFFFFF"/>
                    </a:solidFill>
                  </a:tcPr>
                </a:tc>
                <a:extLst>
                  <a:ext uri="{0D108BD9-81ED-4DB2-BD59-A6C34878D82A}">
                    <a16:rowId xmlns:a16="http://schemas.microsoft.com/office/drawing/2014/main" val="3449916986"/>
                  </a:ext>
                </a:extLst>
              </a:tr>
              <a:tr h="733396">
                <a:tc>
                  <a:txBody>
                    <a:bodyPr/>
                    <a:lstStyle/>
                    <a:p>
                      <a:r>
                        <a:rPr lang="en-US" sz="1800">
                          <a:solidFill>
                            <a:srgbClr val="000000"/>
                          </a:solidFill>
                          <a:effectLst/>
                        </a:rPr>
                        <a:t>Digital Compass Sensor</a:t>
                      </a:r>
                      <a:endParaRPr lang="en-US" sz="1800">
                        <a:effectLst/>
                      </a:endParaRPr>
                    </a:p>
                  </a:txBody>
                  <a:tcPr marL="60018" marR="60018" marT="60018" marB="60018" anchor="ctr">
                    <a:lnL w="7620" cap="flat" cmpd="sng" algn="ctr">
                      <a:solidFill>
                        <a:srgbClr val="905356"/>
                      </a:solidFill>
                      <a:prstDash val="solid"/>
                      <a:round/>
                      <a:headEnd type="none" w="med" len="med"/>
                      <a:tailEnd type="none" w="med" len="med"/>
                    </a:lnL>
                    <a:lnR w="7620" cap="flat" cmpd="sng" algn="ctr">
                      <a:solidFill>
                        <a:srgbClr val="105256"/>
                      </a:solidFill>
                      <a:prstDash val="solid"/>
                      <a:round/>
                      <a:headEnd type="none" w="med" len="med"/>
                      <a:tailEnd type="none" w="med" len="med"/>
                    </a:lnR>
                    <a:lnT w="7620" cap="flat" cmpd="sng" algn="ctr">
                      <a:solidFill>
                        <a:srgbClr val="905356"/>
                      </a:solidFill>
                      <a:prstDash val="solid"/>
                      <a:round/>
                      <a:headEnd type="none" w="med" len="med"/>
                      <a:tailEnd type="none" w="med" len="med"/>
                    </a:lnT>
                    <a:lnB w="7620" cap="flat" cmpd="sng" algn="ctr">
                      <a:solidFill>
                        <a:srgbClr val="905356"/>
                      </a:solidFill>
                      <a:prstDash val="solid"/>
                      <a:round/>
                      <a:headEnd type="none" w="med" len="med"/>
                      <a:tailEnd type="none" w="med" len="med"/>
                    </a:lnB>
                    <a:solidFill>
                      <a:srgbClr val="FFFFFF"/>
                    </a:solidFill>
                  </a:tcPr>
                </a:tc>
                <a:tc>
                  <a:txBody>
                    <a:bodyPr/>
                    <a:lstStyle/>
                    <a:p>
                      <a:r>
                        <a:rPr lang="en-US" sz="1800">
                          <a:solidFill>
                            <a:srgbClr val="000000"/>
                          </a:solidFill>
                          <a:effectLst/>
                        </a:rPr>
                        <a:t>Sound Sensor (Mic.)</a:t>
                      </a:r>
                      <a:endParaRPr lang="en-US" sz="1800">
                        <a:effectLst/>
                      </a:endParaRPr>
                    </a:p>
                  </a:txBody>
                  <a:tcPr marL="60018" marR="60018" marT="60018" marB="60018" anchor="ctr">
                    <a:lnL w="7620" cap="flat" cmpd="sng" algn="ctr">
                      <a:solidFill>
                        <a:srgbClr val="105256"/>
                      </a:solidFill>
                      <a:prstDash val="solid"/>
                      <a:round/>
                      <a:headEnd type="none" w="med" len="med"/>
                      <a:tailEnd type="none" w="med" len="med"/>
                    </a:lnL>
                    <a:lnR w="7620" cap="flat" cmpd="sng" algn="ctr">
                      <a:solidFill>
                        <a:srgbClr val="B05A56"/>
                      </a:solidFill>
                      <a:prstDash val="solid"/>
                      <a:round/>
                      <a:headEnd type="none" w="med" len="med"/>
                      <a:tailEnd type="none" w="med" len="med"/>
                    </a:lnR>
                    <a:lnT w="7620" cap="flat" cmpd="sng" algn="ctr">
                      <a:solidFill>
                        <a:srgbClr val="105256"/>
                      </a:solidFill>
                      <a:prstDash val="solid"/>
                      <a:round/>
                      <a:headEnd type="none" w="med" len="med"/>
                      <a:tailEnd type="none" w="med" len="med"/>
                    </a:lnT>
                    <a:lnB w="7620" cap="flat" cmpd="sng" algn="ctr">
                      <a:solidFill>
                        <a:srgbClr val="105256"/>
                      </a:solidFill>
                      <a:prstDash val="solid"/>
                      <a:round/>
                      <a:headEnd type="none" w="med" len="med"/>
                      <a:tailEnd type="none" w="med" len="med"/>
                    </a:lnB>
                    <a:solidFill>
                      <a:srgbClr val="FFFFFF"/>
                    </a:solidFill>
                  </a:tcPr>
                </a:tc>
                <a:tc>
                  <a:txBody>
                    <a:bodyPr/>
                    <a:lstStyle/>
                    <a:p>
                      <a:r>
                        <a:rPr lang="en-US" sz="1800">
                          <a:solidFill>
                            <a:srgbClr val="000000"/>
                          </a:solidFill>
                          <a:effectLst/>
                        </a:rPr>
                        <a:t>IR Sensor</a:t>
                      </a:r>
                      <a:endParaRPr lang="en-US" sz="1800">
                        <a:effectLst/>
                      </a:endParaRPr>
                    </a:p>
                  </a:txBody>
                  <a:tcPr marL="60018" marR="60018" marT="60018" marB="60018" anchor="ctr">
                    <a:lnL w="7620" cap="flat" cmpd="sng" algn="ctr">
                      <a:solidFill>
                        <a:srgbClr val="B05A56"/>
                      </a:solidFill>
                      <a:prstDash val="solid"/>
                      <a:round/>
                      <a:headEnd type="none" w="med" len="med"/>
                      <a:tailEnd type="none" w="med" len="med"/>
                    </a:lnL>
                    <a:lnR w="7620" cap="flat" cmpd="sng" algn="ctr">
                      <a:solidFill>
                        <a:srgbClr val="E0A856"/>
                      </a:solidFill>
                      <a:prstDash val="solid"/>
                      <a:round/>
                      <a:headEnd type="none" w="med" len="med"/>
                      <a:tailEnd type="none" w="med" len="med"/>
                    </a:lnR>
                    <a:lnT w="7620" cap="flat" cmpd="sng" algn="ctr">
                      <a:solidFill>
                        <a:srgbClr val="B05A56"/>
                      </a:solidFill>
                      <a:prstDash val="solid"/>
                      <a:round/>
                      <a:headEnd type="none" w="med" len="med"/>
                      <a:tailEnd type="none" w="med" len="med"/>
                    </a:lnT>
                    <a:lnB w="7620" cap="flat" cmpd="sng" algn="ctr">
                      <a:solidFill>
                        <a:srgbClr val="B05A56"/>
                      </a:solidFill>
                      <a:prstDash val="solid"/>
                      <a:round/>
                      <a:headEnd type="none" w="med" len="med"/>
                      <a:tailEnd type="none" w="med" len="med"/>
                    </a:lnB>
                    <a:solidFill>
                      <a:srgbClr val="FFFFFF"/>
                    </a:solidFill>
                  </a:tcPr>
                </a:tc>
                <a:tc>
                  <a:txBody>
                    <a:bodyPr/>
                    <a:lstStyle/>
                    <a:p>
                      <a:r>
                        <a:rPr lang="en-US" sz="1800" dirty="0">
                          <a:solidFill>
                            <a:srgbClr val="000000"/>
                          </a:solidFill>
                          <a:effectLst/>
                        </a:rPr>
                        <a:t>Odometer Sensor</a:t>
                      </a:r>
                      <a:endParaRPr lang="en-US" sz="1800" dirty="0">
                        <a:effectLst/>
                      </a:endParaRPr>
                    </a:p>
                  </a:txBody>
                  <a:tcPr marL="60018" marR="60018" marT="60018" marB="60018" anchor="ctr">
                    <a:lnL w="7620" cap="flat" cmpd="sng" algn="ctr">
                      <a:solidFill>
                        <a:srgbClr val="E0A856"/>
                      </a:solidFill>
                      <a:prstDash val="solid"/>
                      <a:round/>
                      <a:headEnd type="none" w="med" len="med"/>
                      <a:tailEnd type="none" w="med" len="med"/>
                    </a:lnL>
                    <a:lnR w="7620" cap="flat" cmpd="sng" algn="ctr">
                      <a:solidFill>
                        <a:srgbClr val="E0A856"/>
                      </a:solidFill>
                      <a:prstDash val="solid"/>
                      <a:round/>
                      <a:headEnd type="none" w="med" len="med"/>
                      <a:tailEnd type="none" w="med" len="med"/>
                    </a:lnR>
                    <a:lnT w="7620" cap="flat" cmpd="sng" algn="ctr">
                      <a:solidFill>
                        <a:srgbClr val="E0A856"/>
                      </a:solidFill>
                      <a:prstDash val="solid"/>
                      <a:round/>
                      <a:headEnd type="none" w="med" len="med"/>
                      <a:tailEnd type="none" w="med" len="med"/>
                    </a:lnT>
                    <a:lnB w="7620" cap="flat" cmpd="sng" algn="ctr">
                      <a:solidFill>
                        <a:srgbClr val="E0A856"/>
                      </a:solidFill>
                      <a:prstDash val="solid"/>
                      <a:round/>
                      <a:headEnd type="none" w="med" len="med"/>
                      <a:tailEnd type="none" w="med" len="med"/>
                    </a:lnB>
                    <a:solidFill>
                      <a:srgbClr val="FFFFFF"/>
                    </a:solidFill>
                  </a:tcPr>
                </a:tc>
                <a:extLst>
                  <a:ext uri="{0D108BD9-81ED-4DB2-BD59-A6C34878D82A}">
                    <a16:rowId xmlns:a16="http://schemas.microsoft.com/office/drawing/2014/main" val="2033114724"/>
                  </a:ext>
                </a:extLst>
              </a:tr>
            </a:tbl>
          </a:graphicData>
        </a:graphic>
      </p:graphicFrame>
    </p:spTree>
    <p:extLst>
      <p:ext uri="{BB962C8B-B14F-4D97-AF65-F5344CB8AC3E}">
        <p14:creationId xmlns:p14="http://schemas.microsoft.com/office/powerpoint/2010/main" val="1852204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1CB4A-9077-46D3-9899-ACC08B691ED3}"/>
              </a:ext>
            </a:extLst>
          </p:cNvPr>
          <p:cNvSpPr>
            <a:spLocks noGrp="1"/>
          </p:cNvSpPr>
          <p:nvPr>
            <p:ph type="title"/>
          </p:nvPr>
        </p:nvSpPr>
        <p:spPr>
          <a:xfrm>
            <a:off x="838200" y="365125"/>
            <a:ext cx="10515600" cy="755463"/>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Applications For Sensors</a:t>
            </a:r>
            <a:br>
              <a:rPr lang="en-US" dirty="0"/>
            </a:br>
            <a:endParaRPr lang="en-US" dirty="0"/>
          </a:p>
        </p:txBody>
      </p:sp>
      <p:sp>
        <p:nvSpPr>
          <p:cNvPr id="3" name="Content Placeholder 2">
            <a:extLst>
              <a:ext uri="{FF2B5EF4-FFF2-40B4-BE49-F238E27FC236}">
                <a16:creationId xmlns:a16="http://schemas.microsoft.com/office/drawing/2014/main" id="{55837D7C-061B-4634-9B95-A57010D9D256}"/>
              </a:ext>
            </a:extLst>
          </p:cNvPr>
          <p:cNvSpPr>
            <a:spLocks noGrp="1"/>
          </p:cNvSpPr>
          <p:nvPr>
            <p:ph idx="1"/>
          </p:nvPr>
        </p:nvSpPr>
        <p:spPr>
          <a:xfrm>
            <a:off x="838200" y="806824"/>
            <a:ext cx="10515600" cy="5370139"/>
          </a:xfrm>
        </p:spPr>
        <p:txBody>
          <a:bodyPr>
            <a:normAutofit fontScale="85000" lnSpcReduction="20000"/>
          </a:bodyPr>
          <a:lstStyle/>
          <a:p>
            <a:r>
              <a:rPr lang="en-US" dirty="0">
                <a:latin typeface="Arial" panose="020B0604020202020204" pitchFamily="34" charset="0"/>
                <a:cs typeface="Arial" panose="020B0604020202020204" pitchFamily="34" charset="0"/>
              </a:rPr>
              <a:t>Automation</a:t>
            </a:r>
          </a:p>
          <a:p>
            <a:r>
              <a:rPr lang="en-US" dirty="0">
                <a:latin typeface="Arial" panose="020B0604020202020204" pitchFamily="34" charset="0"/>
                <a:cs typeface="Arial" panose="020B0604020202020204" pitchFamily="34" charset="0"/>
              </a:rPr>
              <a:t>Robotics</a:t>
            </a:r>
          </a:p>
          <a:p>
            <a:r>
              <a:rPr lang="en-US" dirty="0">
                <a:latin typeface="Arial" panose="020B0604020202020204" pitchFamily="34" charset="0"/>
                <a:cs typeface="Arial" panose="020B0604020202020204" pitchFamily="34" charset="0"/>
              </a:rPr>
              <a:t>Embedded Systems</a:t>
            </a:r>
          </a:p>
          <a:p>
            <a:r>
              <a:rPr lang="en-US" dirty="0">
                <a:latin typeface="Arial" panose="020B0604020202020204" pitchFamily="34" charset="0"/>
                <a:cs typeface="Arial" panose="020B0604020202020204" pitchFamily="34" charset="0"/>
              </a:rPr>
              <a:t>Computers</a:t>
            </a:r>
          </a:p>
          <a:p>
            <a:r>
              <a:rPr lang="en-US" dirty="0">
                <a:latin typeface="Arial" panose="020B0604020202020204" pitchFamily="34" charset="0"/>
                <a:cs typeface="Arial" panose="020B0604020202020204" pitchFamily="34" charset="0"/>
              </a:rPr>
              <a:t>Smart Cars</a:t>
            </a:r>
          </a:p>
          <a:p>
            <a:r>
              <a:rPr lang="en-US" dirty="0">
                <a:latin typeface="Arial" panose="020B0604020202020204" pitchFamily="34" charset="0"/>
                <a:cs typeface="Arial" panose="020B0604020202020204" pitchFamily="34" charset="0"/>
              </a:rPr>
              <a:t>Avionics</a:t>
            </a:r>
          </a:p>
          <a:p>
            <a:r>
              <a:rPr lang="en-US" dirty="0">
                <a:latin typeface="Arial" panose="020B0604020202020204" pitchFamily="34" charset="0"/>
                <a:cs typeface="Arial" panose="020B0604020202020204" pitchFamily="34" charset="0"/>
              </a:rPr>
              <a:t>Satellites</a:t>
            </a:r>
          </a:p>
          <a:p>
            <a:r>
              <a:rPr lang="en-US" dirty="0">
                <a:latin typeface="Arial" panose="020B0604020202020204" pitchFamily="34" charset="0"/>
                <a:cs typeface="Arial" panose="020B0604020202020204" pitchFamily="34" charset="0"/>
              </a:rPr>
              <a:t>Smart Homes</a:t>
            </a:r>
          </a:p>
          <a:p>
            <a:r>
              <a:rPr lang="en-US" dirty="0">
                <a:latin typeface="Arial" panose="020B0604020202020204" pitchFamily="34" charset="0"/>
                <a:cs typeface="Arial" panose="020B0604020202020204" pitchFamily="34" charset="0"/>
              </a:rPr>
              <a:t>Smartphones</a:t>
            </a:r>
          </a:p>
          <a:p>
            <a:r>
              <a:rPr lang="en-US" dirty="0">
                <a:latin typeface="Arial" panose="020B0604020202020204" pitchFamily="34" charset="0"/>
                <a:cs typeface="Arial" panose="020B0604020202020204" pitchFamily="34" charset="0"/>
              </a:rPr>
              <a:t>Smart Watches</a:t>
            </a:r>
          </a:p>
          <a:p>
            <a:r>
              <a:rPr lang="en-US" dirty="0">
                <a:latin typeface="Arial" panose="020B0604020202020204" pitchFamily="34" charset="0"/>
                <a:cs typeface="Arial" panose="020B0604020202020204" pitchFamily="34" charset="0"/>
              </a:rPr>
              <a:t>Energy plants</a:t>
            </a:r>
          </a:p>
          <a:p>
            <a:r>
              <a:rPr lang="en-US" dirty="0">
                <a:latin typeface="Arial" panose="020B0604020202020204" pitchFamily="34" charset="0"/>
                <a:cs typeface="Arial" panose="020B0604020202020204" pitchFamily="34" charset="0"/>
              </a:rPr>
              <a:t>Remote Sensing</a:t>
            </a:r>
          </a:p>
          <a:p>
            <a:r>
              <a:rPr lang="en-US" dirty="0">
                <a:latin typeface="Arial" panose="020B0604020202020204" pitchFamily="34" charset="0"/>
                <a:cs typeface="Arial" panose="020B0604020202020204" pitchFamily="34" charset="0"/>
              </a:rPr>
              <a:t>Communication</a:t>
            </a:r>
          </a:p>
        </p:txBody>
      </p:sp>
    </p:spTree>
    <p:extLst>
      <p:ext uri="{BB962C8B-B14F-4D97-AF65-F5344CB8AC3E}">
        <p14:creationId xmlns:p14="http://schemas.microsoft.com/office/powerpoint/2010/main" val="36736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D962-E813-4694-B605-DF5506156818}"/>
              </a:ext>
            </a:extLst>
          </p:cNvPr>
          <p:cNvSpPr>
            <a:spLocks noGrp="1"/>
          </p:cNvSpPr>
          <p:nvPr>
            <p:ph type="title"/>
          </p:nvPr>
        </p:nvSpPr>
        <p:spPr>
          <a:xfrm>
            <a:off x="838200" y="365126"/>
            <a:ext cx="10515600" cy="638922"/>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1875320C-5366-448A-9CB3-B03BFB5B659B}"/>
              </a:ext>
            </a:extLst>
          </p:cNvPr>
          <p:cNvSpPr>
            <a:spLocks noGrp="1"/>
          </p:cNvSpPr>
          <p:nvPr>
            <p:ph idx="1"/>
          </p:nvPr>
        </p:nvSpPr>
        <p:spPr>
          <a:xfrm>
            <a:off x="838200" y="1004048"/>
            <a:ext cx="10515600" cy="5172915"/>
          </a:xfrm>
        </p:spPr>
        <p:txBody>
          <a:bodyPr/>
          <a:lstStyle/>
          <a:p>
            <a:pPr algn="l"/>
            <a:r>
              <a:rPr lang="en-US" b="1" i="0" dirty="0">
                <a:solidFill>
                  <a:srgbClr val="222222"/>
                </a:solidFill>
                <a:effectLst/>
                <a:latin typeface="Arial" panose="020B0604020202020204" pitchFamily="34" charset="0"/>
                <a:cs typeface="Arial" panose="020B0604020202020204" pitchFamily="34" charset="0"/>
              </a:rPr>
              <a:t>Range of Operation</a:t>
            </a:r>
            <a:endParaRPr lang="en-US" b="0" i="0" dirty="0">
              <a:solidFill>
                <a:srgbClr val="222222"/>
              </a:solidFill>
              <a:effectLst/>
              <a:latin typeface="Arial" panose="020B0604020202020204" pitchFamily="34" charset="0"/>
              <a:cs typeface="Arial" panose="020B0604020202020204" pitchFamily="34" charset="0"/>
            </a:endParaRPr>
          </a:p>
          <a:p>
            <a:r>
              <a:rPr lang="en-US" b="1" i="0" dirty="0">
                <a:solidFill>
                  <a:srgbClr val="222222"/>
                </a:solidFill>
                <a:effectLst/>
                <a:latin typeface="Arial" panose="020B0604020202020204" pitchFamily="34" charset="0"/>
                <a:cs typeface="Arial" panose="020B0604020202020204" pitchFamily="34" charset="0"/>
              </a:rPr>
              <a:t>Accuracy (Resolution)</a:t>
            </a:r>
          </a:p>
          <a:p>
            <a:r>
              <a:rPr lang="en-US" b="1" i="0" dirty="0">
                <a:solidFill>
                  <a:srgbClr val="222222"/>
                </a:solidFill>
                <a:effectLst/>
                <a:latin typeface="Arial" panose="020B0604020202020204" pitchFamily="34" charset="0"/>
                <a:cs typeface="Arial" panose="020B0604020202020204" pitchFamily="34" charset="0"/>
              </a:rPr>
              <a:t>Total Cost</a:t>
            </a:r>
          </a:p>
          <a:p>
            <a:r>
              <a:rPr lang="en-US" dirty="0">
                <a:latin typeface="Arial" panose="020B0604020202020204" pitchFamily="34" charset="0"/>
                <a:cs typeface="Arial" panose="020B0604020202020204" pitchFamily="34" charset="0"/>
              </a:rPr>
              <a:t>Interfacing Method</a:t>
            </a:r>
          </a:p>
          <a:p>
            <a:r>
              <a:rPr lang="en-US" b="1" i="0" dirty="0">
                <a:solidFill>
                  <a:srgbClr val="222222"/>
                </a:solidFill>
                <a:effectLst/>
                <a:latin typeface="-apple-system"/>
              </a:rPr>
              <a:t>Data Rate (For Digital Sensors)</a:t>
            </a:r>
            <a:endParaRPr lang="en-US" b="0" i="0" dirty="0">
              <a:solidFill>
                <a:srgbClr val="222222"/>
              </a:solidFill>
              <a:effectLst/>
              <a:latin typeface="-apple-system"/>
            </a:endParaRPr>
          </a:p>
          <a:p>
            <a:endParaRPr lang="en-US" dirty="0">
              <a:latin typeface="Arial" panose="020B0604020202020204" pitchFamily="34" charset="0"/>
              <a:cs typeface="Arial" panose="020B0604020202020204" pitchFamily="34" charset="0"/>
            </a:endParaRPr>
          </a:p>
          <a:p>
            <a:endParaRPr lang="en-US" b="0" i="0" dirty="0">
              <a:solidFill>
                <a:srgbClr val="222222"/>
              </a:solidFill>
              <a:effectLst/>
              <a:latin typeface="-apple-system"/>
            </a:endParaRPr>
          </a:p>
          <a:p>
            <a:endParaRPr lang="en-US" b="0" i="0" dirty="0">
              <a:solidFill>
                <a:srgbClr val="222222"/>
              </a:solidFill>
              <a:effectLst/>
              <a:latin typeface="-apple-system"/>
            </a:endParaRPr>
          </a:p>
          <a:p>
            <a:endParaRPr lang="en-US" dirty="0"/>
          </a:p>
        </p:txBody>
      </p:sp>
    </p:spTree>
    <p:extLst>
      <p:ext uri="{BB962C8B-B14F-4D97-AF65-F5344CB8AC3E}">
        <p14:creationId xmlns:p14="http://schemas.microsoft.com/office/powerpoint/2010/main" val="57791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D962-E813-4694-B605-DF5506156818}"/>
              </a:ext>
            </a:extLst>
          </p:cNvPr>
          <p:cNvSpPr>
            <a:spLocks noGrp="1"/>
          </p:cNvSpPr>
          <p:nvPr>
            <p:ph type="title"/>
          </p:nvPr>
        </p:nvSpPr>
        <p:spPr>
          <a:xfrm>
            <a:off x="838200" y="365126"/>
            <a:ext cx="10515600" cy="638922"/>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1875320C-5366-448A-9CB3-B03BFB5B659B}"/>
              </a:ext>
            </a:extLst>
          </p:cNvPr>
          <p:cNvSpPr>
            <a:spLocks noGrp="1"/>
          </p:cNvSpPr>
          <p:nvPr>
            <p:ph idx="1"/>
          </p:nvPr>
        </p:nvSpPr>
        <p:spPr>
          <a:xfrm>
            <a:off x="838200" y="1004048"/>
            <a:ext cx="10515600" cy="5172915"/>
          </a:xfrm>
        </p:spPr>
        <p:txBody>
          <a:bodyPr/>
          <a:lstStyle/>
          <a:p>
            <a:pPr algn="l"/>
            <a:r>
              <a:rPr lang="en-US" b="1" i="0" dirty="0">
                <a:solidFill>
                  <a:srgbClr val="222222"/>
                </a:solidFill>
                <a:effectLst/>
                <a:latin typeface="-apple-system"/>
              </a:rPr>
              <a:t>Range of Operation</a:t>
            </a:r>
            <a:endParaRPr lang="en-US" b="0" i="0" dirty="0">
              <a:solidFill>
                <a:srgbClr val="222222"/>
              </a:solidFill>
              <a:effectLst/>
              <a:latin typeface="-apple-system"/>
            </a:endParaRPr>
          </a:p>
          <a:p>
            <a:pPr algn="just"/>
            <a:r>
              <a:rPr lang="en-US" b="0" i="0" dirty="0">
                <a:solidFill>
                  <a:srgbClr val="222222"/>
                </a:solidFill>
                <a:effectLst/>
                <a:latin typeface="-apple-system"/>
              </a:rPr>
              <a:t>The most important factor to consider in a sensor is the operating range. </a:t>
            </a:r>
          </a:p>
          <a:p>
            <a:pPr algn="just"/>
            <a:r>
              <a:rPr lang="en-US" b="0" i="0" dirty="0">
                <a:solidFill>
                  <a:srgbClr val="222222"/>
                </a:solidFill>
                <a:effectLst/>
                <a:latin typeface="-apple-system"/>
              </a:rPr>
              <a:t>If you’re designing a boiler system that will control some liquid boiling at 500°c, You shouldn’t use a small LM35 sensor that can only read up to 150°c. </a:t>
            </a:r>
          </a:p>
          <a:p>
            <a:pPr algn="just"/>
            <a:r>
              <a:rPr lang="en-US" b="0" i="0" dirty="0">
                <a:solidFill>
                  <a:srgbClr val="222222"/>
                </a:solidFill>
                <a:effectLst/>
                <a:latin typeface="-apple-system"/>
              </a:rPr>
              <a:t>You should make sure that the sensor meets the range requirement of your application in order to get the right sensor for it.</a:t>
            </a:r>
          </a:p>
          <a:p>
            <a:endParaRPr lang="en-US" dirty="0"/>
          </a:p>
        </p:txBody>
      </p:sp>
    </p:spTree>
    <p:extLst>
      <p:ext uri="{BB962C8B-B14F-4D97-AF65-F5344CB8AC3E}">
        <p14:creationId xmlns:p14="http://schemas.microsoft.com/office/powerpoint/2010/main" val="661554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9185D-27F5-4ED8-9E57-81E1182B4C63}"/>
              </a:ext>
            </a:extLst>
          </p:cNvPr>
          <p:cNvSpPr>
            <a:spLocks noGrp="1"/>
          </p:cNvSpPr>
          <p:nvPr>
            <p:ph type="title"/>
          </p:nvPr>
        </p:nvSpPr>
        <p:spPr>
          <a:xfrm>
            <a:off x="838200" y="365125"/>
            <a:ext cx="10515600" cy="746499"/>
          </a:xfrm>
        </p:spPr>
        <p:txBody>
          <a:bodyPr/>
          <a:lstStyle/>
          <a:p>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B0CD2049-F58C-44EA-BC2B-525248531B64}"/>
              </a:ext>
            </a:extLst>
          </p:cNvPr>
          <p:cNvSpPr>
            <a:spLocks noGrp="1"/>
          </p:cNvSpPr>
          <p:nvPr>
            <p:ph idx="1"/>
          </p:nvPr>
        </p:nvSpPr>
        <p:spPr>
          <a:xfrm>
            <a:off x="838200" y="1389529"/>
            <a:ext cx="10515600" cy="4787434"/>
          </a:xfrm>
        </p:spPr>
        <p:txBody>
          <a:bodyPr/>
          <a:lstStyle/>
          <a:p>
            <a:pPr algn="l"/>
            <a:r>
              <a:rPr lang="en-US" b="1" i="0" dirty="0">
                <a:solidFill>
                  <a:srgbClr val="222222"/>
                </a:solidFill>
                <a:effectLst/>
                <a:latin typeface="-apple-system"/>
              </a:rPr>
              <a:t>Accuracy (Resolution)</a:t>
            </a:r>
            <a:endParaRPr lang="en-US" b="0" i="0" dirty="0">
              <a:solidFill>
                <a:srgbClr val="222222"/>
              </a:solidFill>
              <a:effectLst/>
              <a:latin typeface="-apple-system"/>
            </a:endParaRPr>
          </a:p>
          <a:p>
            <a:pPr algn="just"/>
            <a:r>
              <a:rPr lang="en-US" b="0" i="0" dirty="0">
                <a:solidFill>
                  <a:srgbClr val="222222"/>
                </a:solidFill>
                <a:effectLst/>
                <a:latin typeface="-apple-system"/>
              </a:rPr>
              <a:t>Decide on the required resolution (accuracy) of the sensor your applications need prior to choosing a sensor. </a:t>
            </a:r>
          </a:p>
          <a:p>
            <a:pPr algn="just"/>
            <a:r>
              <a:rPr lang="en-US" b="0" i="0" dirty="0">
                <a:solidFill>
                  <a:srgbClr val="222222"/>
                </a:solidFill>
                <a:effectLst/>
                <a:latin typeface="-apple-system"/>
              </a:rPr>
              <a:t>For example, a temperature sensor with an accuracy of  1°c will be sufficient for a boiler embedded system’s design.</a:t>
            </a:r>
          </a:p>
          <a:p>
            <a:pPr algn="just"/>
            <a:r>
              <a:rPr lang="en-US" b="0" i="0" dirty="0">
                <a:solidFill>
                  <a:srgbClr val="222222"/>
                </a:solidFill>
                <a:effectLst/>
                <a:latin typeface="-apple-system"/>
              </a:rPr>
              <a:t> However, the same sensor with the same accuracy may not be sufficient for some critical scientific experiments or devices that require an accuracy of 0.1°c. </a:t>
            </a:r>
          </a:p>
          <a:p>
            <a:pPr algn="just"/>
            <a:r>
              <a:rPr lang="en-US" b="0" i="0" dirty="0">
                <a:solidFill>
                  <a:srgbClr val="222222"/>
                </a:solidFill>
                <a:effectLst/>
                <a:latin typeface="-apple-system"/>
              </a:rPr>
              <a:t>So, there is a trade-off and you have to make your own decision based on your system’s specifications.</a:t>
            </a:r>
          </a:p>
          <a:p>
            <a:endParaRPr lang="en-US" dirty="0"/>
          </a:p>
        </p:txBody>
      </p:sp>
    </p:spTree>
    <p:extLst>
      <p:ext uri="{BB962C8B-B14F-4D97-AF65-F5344CB8AC3E}">
        <p14:creationId xmlns:p14="http://schemas.microsoft.com/office/powerpoint/2010/main" val="2672072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7530-8B54-47F8-9ED3-0144CA7C3FB8}"/>
              </a:ext>
            </a:extLst>
          </p:cNvPr>
          <p:cNvSpPr>
            <a:spLocks noGrp="1"/>
          </p:cNvSpPr>
          <p:nvPr>
            <p:ph type="title"/>
          </p:nvPr>
        </p:nvSpPr>
        <p:spPr>
          <a:xfrm>
            <a:off x="838200" y="365125"/>
            <a:ext cx="10515600" cy="907863"/>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Sensors - Parameters</a:t>
            </a:r>
            <a:br>
              <a:rPr lang="en-US" dirty="0"/>
            </a:br>
            <a:endParaRPr lang="en-US" dirty="0"/>
          </a:p>
        </p:txBody>
      </p:sp>
      <p:sp>
        <p:nvSpPr>
          <p:cNvPr id="3" name="Content Placeholder 2">
            <a:extLst>
              <a:ext uri="{FF2B5EF4-FFF2-40B4-BE49-F238E27FC236}">
                <a16:creationId xmlns:a16="http://schemas.microsoft.com/office/drawing/2014/main" id="{16D4270A-7642-413A-824E-CDE3A3678FA7}"/>
              </a:ext>
            </a:extLst>
          </p:cNvPr>
          <p:cNvSpPr>
            <a:spLocks noGrp="1"/>
          </p:cNvSpPr>
          <p:nvPr>
            <p:ph idx="1"/>
          </p:nvPr>
        </p:nvSpPr>
        <p:spPr>
          <a:xfrm>
            <a:off x="838200" y="1272988"/>
            <a:ext cx="10515600" cy="4903975"/>
          </a:xfrm>
        </p:spPr>
        <p:txBody>
          <a:bodyPr/>
          <a:lstStyle/>
          <a:p>
            <a:pPr algn="l"/>
            <a:r>
              <a:rPr lang="en-US" b="1" i="0" dirty="0">
                <a:solidFill>
                  <a:srgbClr val="222222"/>
                </a:solidFill>
                <a:effectLst/>
                <a:latin typeface="-apple-system"/>
              </a:rPr>
              <a:t>Data Rate (For Digital Sensors)</a:t>
            </a:r>
            <a:endParaRPr lang="en-US" b="0" i="0" dirty="0">
              <a:solidFill>
                <a:srgbClr val="222222"/>
              </a:solidFill>
              <a:effectLst/>
              <a:latin typeface="-apple-system"/>
            </a:endParaRPr>
          </a:p>
          <a:p>
            <a:pPr algn="just"/>
            <a:r>
              <a:rPr lang="en-US" b="0" i="0" dirty="0">
                <a:solidFill>
                  <a:srgbClr val="222222"/>
                </a:solidFill>
                <a:effectLst/>
                <a:latin typeface="-apple-system"/>
              </a:rPr>
              <a:t>Digital sensors can send you readings (data) at a rate we call the sampling rate. </a:t>
            </a:r>
          </a:p>
          <a:p>
            <a:pPr algn="just"/>
            <a:r>
              <a:rPr lang="en-US" b="0" i="0" dirty="0">
                <a:solidFill>
                  <a:srgbClr val="222222"/>
                </a:solidFill>
                <a:effectLst/>
                <a:latin typeface="-apple-system"/>
              </a:rPr>
              <a:t>Typically sensors’ rate is defined by </a:t>
            </a:r>
            <a:r>
              <a:rPr lang="en-US" b="0" i="0" dirty="0" err="1">
                <a:solidFill>
                  <a:srgbClr val="222222"/>
                </a:solidFill>
                <a:effectLst/>
                <a:latin typeface="-apple-system"/>
              </a:rPr>
              <a:t>ksp</a:t>
            </a:r>
            <a:r>
              <a:rPr lang="en-US" b="0" i="0" dirty="0">
                <a:solidFill>
                  <a:srgbClr val="222222"/>
                </a:solidFill>
                <a:effectLst/>
                <a:latin typeface="-apple-system"/>
              </a:rPr>
              <a:t>/s (kilo samples per second) which is a thousand sample points (readings) in a second. </a:t>
            </a:r>
          </a:p>
          <a:p>
            <a:pPr algn="just"/>
            <a:r>
              <a:rPr lang="en-US" b="0" i="0" dirty="0">
                <a:solidFill>
                  <a:srgbClr val="222222"/>
                </a:solidFill>
                <a:effectLst/>
                <a:latin typeface="-apple-system"/>
              </a:rPr>
              <a:t>Some sensors can supply up to a few </a:t>
            </a:r>
            <a:r>
              <a:rPr lang="en-US" b="0" i="0" dirty="0" err="1">
                <a:solidFill>
                  <a:srgbClr val="222222"/>
                </a:solidFill>
                <a:effectLst/>
                <a:latin typeface="-apple-system"/>
              </a:rPr>
              <a:t>Msp</a:t>
            </a:r>
            <a:r>
              <a:rPr lang="en-US" b="0" i="0" dirty="0">
                <a:solidFill>
                  <a:srgbClr val="222222"/>
                </a:solidFill>
                <a:effectLst/>
                <a:latin typeface="-apple-system"/>
              </a:rPr>
              <a:t>/s. Most of the time, it’s a programmable feature in sensor modules. And you have to check whether this rate of data supplies your MCU with the information it needs to run the algorithm or perform the required calculations flawlessly.</a:t>
            </a:r>
          </a:p>
          <a:p>
            <a:endParaRPr lang="en-US" dirty="0"/>
          </a:p>
        </p:txBody>
      </p:sp>
    </p:spTree>
    <p:extLst>
      <p:ext uri="{BB962C8B-B14F-4D97-AF65-F5344CB8AC3E}">
        <p14:creationId xmlns:p14="http://schemas.microsoft.com/office/powerpoint/2010/main" val="354948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6F9A7F-A5B6-4537-B016-1D01738917AD}"/>
              </a:ext>
            </a:extLst>
          </p:cNvPr>
          <p:cNvSpPr>
            <a:spLocks noGrp="1"/>
          </p:cNvSpPr>
          <p:nvPr>
            <p:ph type="title"/>
          </p:nvPr>
        </p:nvSpPr>
        <p:spPr>
          <a:xfrm>
            <a:off x="838200" y="365125"/>
            <a:ext cx="10515600" cy="594099"/>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sp>
        <p:nvSpPr>
          <p:cNvPr id="4" name="Content Placeholder 3">
            <a:extLst>
              <a:ext uri="{FF2B5EF4-FFF2-40B4-BE49-F238E27FC236}">
                <a16:creationId xmlns:a16="http://schemas.microsoft.com/office/drawing/2014/main" id="{AFB50263-867D-41E8-9348-ED0EC028B5AA}"/>
              </a:ext>
            </a:extLst>
          </p:cNvPr>
          <p:cNvSpPr>
            <a:spLocks noGrp="1"/>
          </p:cNvSpPr>
          <p:nvPr>
            <p:ph idx="1"/>
          </p:nvPr>
        </p:nvSpPr>
        <p:spPr>
          <a:xfrm>
            <a:off x="838200" y="1246094"/>
            <a:ext cx="10515600" cy="4930869"/>
          </a:xfrm>
        </p:spPr>
        <p:txBody>
          <a:bodyPr>
            <a:normAutofit fontScale="92500" lnSpcReduction="20000"/>
          </a:bodyPr>
          <a:lstStyle/>
          <a:p>
            <a:pPr algn="just"/>
            <a:r>
              <a:rPr lang="en-US" b="1" i="0" dirty="0">
                <a:solidFill>
                  <a:srgbClr val="993300"/>
                </a:solidFill>
                <a:effectLst/>
                <a:latin typeface="-apple-system"/>
              </a:rPr>
              <a:t>Semiconductor Temperature Sensors</a:t>
            </a:r>
            <a:r>
              <a:rPr lang="en-US" b="0" i="0" dirty="0">
                <a:solidFill>
                  <a:srgbClr val="222222"/>
                </a:solidFill>
                <a:effectLst/>
                <a:latin typeface="-apple-system"/>
              </a:rPr>
              <a:t> are the devices that come in the form of integrated circuits i.e. ICs hence, popularly known as IC temperature sensors. </a:t>
            </a:r>
          </a:p>
          <a:p>
            <a:pPr algn="just"/>
            <a:r>
              <a:rPr lang="en-US" b="0" i="0" dirty="0">
                <a:solidFill>
                  <a:srgbClr val="222222"/>
                </a:solidFill>
                <a:effectLst/>
                <a:latin typeface="-apple-system"/>
              </a:rPr>
              <a:t>These are the electronic devices manufactured in an identical fashion to present-day electronic semiconductor devices like microprocessors. </a:t>
            </a:r>
          </a:p>
          <a:p>
            <a:pPr algn="just"/>
            <a:r>
              <a:rPr lang="en-US" b="0" i="0" dirty="0">
                <a:solidFill>
                  <a:srgbClr val="222222"/>
                </a:solidFill>
                <a:effectLst/>
                <a:latin typeface="-apple-system"/>
              </a:rPr>
              <a:t>More than thousands of devices can be fabricated upon thin silicon wafers. </a:t>
            </a:r>
          </a:p>
          <a:p>
            <a:pPr algn="just"/>
            <a:r>
              <a:rPr lang="en-US" b="0" i="0" dirty="0">
                <a:solidFill>
                  <a:srgbClr val="222222"/>
                </a:solidFill>
                <a:effectLst/>
                <a:latin typeface="-apple-system"/>
              </a:rPr>
              <a:t>A whole new range of semiconductor temperature sensors is arriving from different manufacturers. </a:t>
            </a:r>
          </a:p>
          <a:p>
            <a:pPr algn="just"/>
            <a:r>
              <a:rPr lang="en-US" b="0" i="0" dirty="0">
                <a:solidFill>
                  <a:srgbClr val="222222"/>
                </a:solidFill>
                <a:effectLst/>
                <a:latin typeface="-apple-system"/>
              </a:rPr>
              <a:t>However, the most popular ones include AD590 and LM35.</a:t>
            </a:r>
            <a:br>
              <a:rPr lang="en-US" dirty="0"/>
            </a:br>
            <a:endParaRPr lang="en-US" dirty="0"/>
          </a:p>
          <a:p>
            <a:pPr algn="just"/>
            <a:r>
              <a:rPr lang="en-US" b="0" i="0" dirty="0">
                <a:solidFill>
                  <a:srgbClr val="222222"/>
                </a:solidFill>
                <a:effectLst/>
                <a:latin typeface="-apple-system"/>
              </a:rPr>
              <a:t>Their design results from the fact that semiconductor diodes have temperature-sensitive voltage vs. current characteristics. When two identical transistors are operated at a constant ratio of collector current densities, the difference in base-emitter voltages is directly proportional to the absolute temperature</a:t>
            </a:r>
            <a:endParaRPr lang="en-US" dirty="0"/>
          </a:p>
        </p:txBody>
      </p:sp>
    </p:spTree>
    <p:extLst>
      <p:ext uri="{BB962C8B-B14F-4D97-AF65-F5344CB8AC3E}">
        <p14:creationId xmlns:p14="http://schemas.microsoft.com/office/powerpoint/2010/main" val="2956624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EABFFC-865D-498F-91BC-EE3D0AFDD3D7}"/>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pic>
        <p:nvPicPr>
          <p:cNvPr id="3074" name="Picture 2" descr="Types of Temperature Sensors and their ...">
            <a:extLst>
              <a:ext uri="{FF2B5EF4-FFF2-40B4-BE49-F238E27FC236}">
                <a16:creationId xmlns:a16="http://schemas.microsoft.com/office/drawing/2014/main" id="{BF807A6C-F53F-4964-BD5C-DF3151CDD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97" y="2212576"/>
            <a:ext cx="4224098" cy="23734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emperature Sensor types &amp; their use with Arduino, ESP8266, and ESP32">
            <a:extLst>
              <a:ext uri="{FF2B5EF4-FFF2-40B4-BE49-F238E27FC236}">
                <a16:creationId xmlns:a16="http://schemas.microsoft.com/office/drawing/2014/main" id="{33D39162-A5A2-47D8-BE7B-9A24553CA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95" y="2406131"/>
            <a:ext cx="7432109" cy="3905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04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A82B-6A8A-4F64-AF7D-69B5C2673E73}"/>
              </a:ext>
            </a:extLst>
          </p:cNvPr>
          <p:cNvSpPr>
            <a:spLocks noGrp="1"/>
          </p:cNvSpPr>
          <p:nvPr>
            <p:ph type="title"/>
          </p:nvPr>
        </p:nvSpPr>
        <p:spPr/>
        <p:txBody>
          <a:bodyPr/>
          <a:lstStyle/>
          <a:p>
            <a:r>
              <a:rPr lang="en-US" b="1" i="0" dirty="0">
                <a:solidFill>
                  <a:srgbClr val="993300"/>
                </a:solidFill>
                <a:effectLst/>
                <a:latin typeface="-apple-system"/>
              </a:rPr>
              <a:t>Temperature Sensors</a:t>
            </a:r>
            <a:r>
              <a:rPr lang="en-US" b="0" i="0" dirty="0">
                <a:solidFill>
                  <a:srgbClr val="222222"/>
                </a:solidFill>
                <a:effectLst/>
                <a:latin typeface="-apple-system"/>
              </a:rPr>
              <a:t> </a:t>
            </a:r>
            <a:endParaRPr lang="en-US" dirty="0"/>
          </a:p>
        </p:txBody>
      </p:sp>
      <p:sp>
        <p:nvSpPr>
          <p:cNvPr id="3" name="Content Placeholder 2">
            <a:extLst>
              <a:ext uri="{FF2B5EF4-FFF2-40B4-BE49-F238E27FC236}">
                <a16:creationId xmlns:a16="http://schemas.microsoft.com/office/drawing/2014/main" id="{ED0E4200-613B-4483-8BFA-94279A0F710A}"/>
              </a:ext>
            </a:extLst>
          </p:cNvPr>
          <p:cNvSpPr>
            <a:spLocks noGrp="1"/>
          </p:cNvSpPr>
          <p:nvPr>
            <p:ph idx="1"/>
          </p:nvPr>
        </p:nvSpPr>
        <p:spPr>
          <a:xfrm>
            <a:off x="838200" y="1326776"/>
            <a:ext cx="10515600" cy="4850187"/>
          </a:xfrm>
        </p:spPr>
        <p:txBody>
          <a:bodyPr>
            <a:normAutofit fontScale="92500" lnSpcReduction="20000"/>
          </a:bodyPr>
          <a:lstStyle/>
          <a:p>
            <a:pPr algn="just"/>
            <a:r>
              <a:rPr lang="en-US" b="1" i="0" dirty="0">
                <a:solidFill>
                  <a:srgbClr val="993300"/>
                </a:solidFill>
                <a:effectLst/>
                <a:latin typeface="Arial" panose="020B0604020202020204" pitchFamily="34" charset="0"/>
                <a:cs typeface="Arial" panose="020B0604020202020204" pitchFamily="34" charset="0"/>
              </a:rPr>
              <a:t>Negative Temperature Coefficient</a:t>
            </a:r>
            <a:r>
              <a:rPr lang="en-US" b="0" i="0" dirty="0">
                <a:solidFill>
                  <a:srgbClr val="993300"/>
                </a:solidFill>
                <a:effectLst/>
                <a:latin typeface="Arial" panose="020B0604020202020204" pitchFamily="34" charset="0"/>
                <a:cs typeface="Arial" panose="020B0604020202020204" pitchFamily="34" charset="0"/>
              </a:rPr>
              <a:t> (</a:t>
            </a:r>
            <a:r>
              <a:rPr lang="en-US" b="1" i="0" dirty="0">
                <a:solidFill>
                  <a:srgbClr val="993300"/>
                </a:solidFill>
                <a:effectLst/>
                <a:latin typeface="Arial" panose="020B0604020202020204" pitchFamily="34" charset="0"/>
                <a:cs typeface="Arial" panose="020B0604020202020204" pitchFamily="34" charset="0"/>
              </a:rPr>
              <a:t>NTC</a:t>
            </a:r>
            <a:r>
              <a:rPr lang="en-US" b="0" i="0" dirty="0">
                <a:solidFill>
                  <a:srgbClr val="993300"/>
                </a:solidFill>
                <a:effectLst/>
                <a:latin typeface="Arial" panose="020B0604020202020204" pitchFamily="34" charset="0"/>
                <a:cs typeface="Arial" panose="020B0604020202020204" pitchFamily="34" charset="0"/>
              </a:rPr>
              <a:t>)</a:t>
            </a:r>
            <a:r>
              <a:rPr lang="en-US" b="0" i="0" dirty="0">
                <a:solidFill>
                  <a:srgbClr val="222222"/>
                </a:solidFill>
                <a:effectLst/>
                <a:latin typeface="Arial" panose="020B0604020202020204" pitchFamily="34" charset="0"/>
                <a:cs typeface="Arial" panose="020B0604020202020204" pitchFamily="34" charset="0"/>
              </a:rPr>
              <a:t> thermistor. The effective operating range is -50 to 250 °C.</a:t>
            </a:r>
          </a:p>
          <a:p>
            <a:pPr algn="just"/>
            <a:r>
              <a:rPr lang="en-US" b="1" i="0" dirty="0">
                <a:solidFill>
                  <a:srgbClr val="993300"/>
                </a:solidFill>
                <a:effectLst/>
                <a:latin typeface="Arial" panose="020B0604020202020204" pitchFamily="34" charset="0"/>
                <a:cs typeface="Arial" panose="020B0604020202020204" pitchFamily="34" charset="0"/>
              </a:rPr>
              <a:t>Resistance Temperature Detector</a:t>
            </a:r>
            <a:r>
              <a:rPr lang="en-US" b="0" i="0" dirty="0">
                <a:solidFill>
                  <a:srgbClr val="993300"/>
                </a:solidFill>
                <a:effectLst/>
                <a:latin typeface="Arial" panose="020B0604020202020204" pitchFamily="34" charset="0"/>
                <a:cs typeface="Arial" panose="020B0604020202020204" pitchFamily="34" charset="0"/>
              </a:rPr>
              <a:t> (</a:t>
            </a:r>
            <a:r>
              <a:rPr lang="en-US" b="1" i="0" dirty="0">
                <a:solidFill>
                  <a:srgbClr val="993300"/>
                </a:solidFill>
                <a:effectLst/>
                <a:latin typeface="Arial" panose="020B0604020202020204" pitchFamily="34" charset="0"/>
                <a:cs typeface="Arial" panose="020B0604020202020204" pitchFamily="34" charset="0"/>
              </a:rPr>
              <a:t>RTD</a:t>
            </a:r>
            <a:r>
              <a:rPr lang="en-US" b="0" i="0" dirty="0">
                <a:solidFill>
                  <a:srgbClr val="993300"/>
                </a:solidFill>
                <a:effectLst/>
                <a:latin typeface="Arial" panose="020B0604020202020204" pitchFamily="34" charset="0"/>
                <a:cs typeface="Arial" panose="020B0604020202020204" pitchFamily="34" charset="0"/>
              </a:rPr>
              <a:t>)</a:t>
            </a:r>
            <a:r>
              <a:rPr lang="en-US" b="0" i="0" dirty="0">
                <a:solidFill>
                  <a:srgbClr val="222222"/>
                </a:solidFill>
                <a:effectLst/>
                <a:latin typeface="Arial" panose="020B0604020202020204" pitchFamily="34" charset="0"/>
                <a:cs typeface="Arial" panose="020B0604020202020204" pitchFamily="34" charset="0"/>
              </a:rPr>
              <a:t>, also known as a resistance thermometer. Platinum RTDs offer a fairly linear output that is highly accurate (0.1 to 1 °C) across -200 to 600 °C. While providing the greatest accuracy, RTDs also tend to be the most expensive of temperature sensors.</a:t>
            </a:r>
            <a:endParaRPr lang="en-US" dirty="0">
              <a:solidFill>
                <a:srgbClr val="222222"/>
              </a:solidFill>
              <a:latin typeface="Arial" panose="020B0604020202020204" pitchFamily="34" charset="0"/>
              <a:cs typeface="Arial" panose="020B0604020202020204" pitchFamily="34" charset="0"/>
            </a:endParaRPr>
          </a:p>
          <a:p>
            <a:pPr algn="just"/>
            <a:r>
              <a:rPr lang="en-US" b="1" i="0" dirty="0">
                <a:solidFill>
                  <a:srgbClr val="993300"/>
                </a:solidFill>
                <a:effectLst/>
                <a:latin typeface="Arial" panose="020B0604020202020204" pitchFamily="34" charset="0"/>
                <a:cs typeface="Arial" panose="020B0604020202020204" pitchFamily="34" charset="0"/>
              </a:rPr>
              <a:t>Thermocouple</a:t>
            </a:r>
            <a:r>
              <a:rPr lang="en-US" b="0" i="0" dirty="0">
                <a:solidFill>
                  <a:srgbClr val="222222"/>
                </a:solidFill>
                <a:effectLst/>
                <a:latin typeface="Arial" panose="020B0604020202020204" pitchFamily="34" charset="0"/>
                <a:cs typeface="Arial" panose="020B0604020202020204" pitchFamily="34" charset="0"/>
              </a:rPr>
              <a:t>. A thermocouple is an electrical device consisting of two dissimilar electrical conductors forming electrical junctions at differing temperatures. A thermocouple produces a temperature-dependent voltage as a result of the thermoelectric effect, and this voltage can be interpreted to measure temperature. Thermocouples are a widely used type of temperature sensor.</a:t>
            </a:r>
          </a:p>
          <a:p>
            <a:pPr algn="just"/>
            <a:br>
              <a:rPr lang="en-US" b="0" i="0" dirty="0">
                <a:solidFill>
                  <a:srgbClr val="222222"/>
                </a:solidFill>
                <a:effectLst/>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5044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E52C-F822-4DFF-B7D1-1DCD8664C67E}"/>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 </a:t>
            </a:r>
            <a:r>
              <a:rPr lang="en-US" b="0" i="0" dirty="0">
                <a:solidFill>
                  <a:srgbClr val="C00000"/>
                </a:solidFill>
                <a:effectLst/>
                <a:latin typeface="Arial" panose="020B0604020202020204" pitchFamily="34" charset="0"/>
                <a:cs typeface="Arial" panose="020B0604020202020204" pitchFamily="34" charset="0"/>
              </a:rPr>
              <a:t>Pressure sensors</a:t>
            </a: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86C3996-EADD-4B88-BBB5-1699DD3F6C07}"/>
              </a:ext>
            </a:extLst>
          </p:cNvPr>
          <p:cNvSpPr>
            <a:spLocks noGrp="1"/>
          </p:cNvSpPr>
          <p:nvPr>
            <p:ph idx="1"/>
          </p:nvPr>
        </p:nvSpPr>
        <p:spPr/>
        <p:txBody>
          <a:bodyPr/>
          <a:lstStyle/>
          <a:p>
            <a:pPr algn="just"/>
            <a:r>
              <a:rPr lang="en-US" b="0" i="0" dirty="0">
                <a:solidFill>
                  <a:srgbClr val="222222"/>
                </a:solidFill>
                <a:effectLst/>
                <a:latin typeface="Arial" panose="020B0604020202020204" pitchFamily="34" charset="0"/>
                <a:cs typeface="Arial" panose="020B0604020202020204" pitchFamily="34" charset="0"/>
              </a:rPr>
              <a:t>Pressure sensors are used for measuring the pressure of gases and liquids.</a:t>
            </a:r>
          </a:p>
          <a:p>
            <a:pPr algn="just"/>
            <a:r>
              <a:rPr lang="en-US" b="0" i="0" dirty="0">
                <a:solidFill>
                  <a:srgbClr val="222222"/>
                </a:solidFill>
                <a:effectLst/>
                <a:latin typeface="Arial" panose="020B0604020202020204" pitchFamily="34" charset="0"/>
                <a:cs typeface="Arial" panose="020B0604020202020204" pitchFamily="34" charset="0"/>
              </a:rPr>
              <a:t> Pressure sensors are used for control and monitoring in thousands of everyday applications. Pressure sensors can also be used to indirectly measure other variables such as fluid/gas flow, speed, water level, and altitude.</a:t>
            </a:r>
          </a:p>
          <a:p>
            <a:pPr algn="just"/>
            <a:br>
              <a:rPr lang="en-US" b="0" i="0" dirty="0">
                <a:solidFill>
                  <a:srgbClr val="222222"/>
                </a:solidFill>
                <a:effectLst/>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3692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95DED4-0CBD-448D-9DA1-92589E0079B7}"/>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pic>
        <p:nvPicPr>
          <p:cNvPr id="5122" name="Picture 2" descr="What is a Pressure Sensor? - RealPars">
            <a:extLst>
              <a:ext uri="{FF2B5EF4-FFF2-40B4-BE49-F238E27FC236}">
                <a16:creationId xmlns:a16="http://schemas.microsoft.com/office/drawing/2014/main" id="{505880D2-A58C-4B1B-882C-8A15787D3D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531" y="1766801"/>
            <a:ext cx="6678704" cy="371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696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612FF-72EC-46E2-AA88-C8D6DC85EB1B}"/>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br>
              <a:rPr lang="en-US" b="0" i="0" dirty="0">
                <a:solidFill>
                  <a:srgbClr val="222222"/>
                </a:solidFill>
                <a:effectLst/>
                <a:latin typeface="-apple-system"/>
              </a:rPr>
            </a:br>
            <a:endParaRPr lang="en-US" dirty="0"/>
          </a:p>
        </p:txBody>
      </p:sp>
      <p:sp>
        <p:nvSpPr>
          <p:cNvPr id="4" name="Content Placeholder 3">
            <a:extLst>
              <a:ext uri="{FF2B5EF4-FFF2-40B4-BE49-F238E27FC236}">
                <a16:creationId xmlns:a16="http://schemas.microsoft.com/office/drawing/2014/main" id="{7B0480E0-DD75-41AC-929B-7A8EC1BB663C}"/>
              </a:ext>
            </a:extLst>
          </p:cNvPr>
          <p:cNvSpPr>
            <a:spLocks noGrp="1"/>
          </p:cNvSpPr>
          <p:nvPr>
            <p:ph idx="1"/>
          </p:nvPr>
        </p:nvSpPr>
        <p:spPr/>
        <p:txBody>
          <a:bodyPr/>
          <a:lstStyle/>
          <a:p>
            <a:pPr algn="just"/>
            <a:r>
              <a:rPr lang="en-US" b="0" i="0" dirty="0">
                <a:solidFill>
                  <a:srgbClr val="222222"/>
                </a:solidFill>
                <a:effectLst/>
                <a:latin typeface="-apple-system"/>
              </a:rPr>
              <a:t>Pressure sensors can be classified in terms of pressure ranges they measure temperature ranges of operation, and most importantly the type of pressure they measure. Pressure sensors are variously named according to their purpose, but the same technology may be used under different names.</a:t>
            </a:r>
          </a:p>
          <a:p>
            <a:br>
              <a:rPr lang="en-US" b="0" i="0" dirty="0">
                <a:solidFill>
                  <a:srgbClr val="222222"/>
                </a:solidFill>
                <a:effectLst/>
                <a:latin typeface="-apple-system"/>
              </a:rPr>
            </a:br>
            <a:endParaRPr lang="en-US" dirty="0"/>
          </a:p>
        </p:txBody>
      </p:sp>
    </p:spTree>
    <p:extLst>
      <p:ext uri="{BB962C8B-B14F-4D97-AF65-F5344CB8AC3E}">
        <p14:creationId xmlns:p14="http://schemas.microsoft.com/office/powerpoint/2010/main" val="3279612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92500" lnSpcReduction="10000"/>
          </a:bodyPr>
          <a:lstStyle/>
          <a:p>
            <a:r>
              <a:rPr lang="en-US" b="1" i="0" dirty="0">
                <a:solidFill>
                  <a:srgbClr val="222222"/>
                </a:solidFill>
                <a:effectLst/>
                <a:latin typeface="-apple-system"/>
              </a:rPr>
              <a:t>1 Absolute pressure sensor</a:t>
            </a:r>
            <a:br>
              <a:rPr lang="en-US" b="0" i="0" dirty="0">
                <a:solidFill>
                  <a:srgbClr val="222222"/>
                </a:solidFill>
                <a:effectLst/>
                <a:latin typeface="-apple-system"/>
              </a:rPr>
            </a:br>
            <a:r>
              <a:rPr lang="en-US" b="0" i="0" dirty="0">
                <a:solidFill>
                  <a:srgbClr val="222222"/>
                </a:solidFill>
                <a:effectLst/>
                <a:latin typeface="-apple-system"/>
              </a:rPr>
              <a:t>This sensor measures the pressure relative to a perfect vacuum.</a:t>
            </a:r>
          </a:p>
          <a:p>
            <a:r>
              <a:rPr lang="en-US" b="1" i="0" dirty="0">
                <a:solidFill>
                  <a:srgbClr val="222222"/>
                </a:solidFill>
                <a:effectLst/>
                <a:latin typeface="-apple-system"/>
              </a:rPr>
              <a:t>2 Gauge pressure sensor</a:t>
            </a:r>
            <a:br>
              <a:rPr lang="en-US" b="0" i="0" dirty="0">
                <a:solidFill>
                  <a:srgbClr val="222222"/>
                </a:solidFill>
                <a:effectLst/>
                <a:latin typeface="-apple-system"/>
              </a:rPr>
            </a:br>
            <a:r>
              <a:rPr lang="en-US" b="0" i="0" dirty="0">
                <a:solidFill>
                  <a:srgbClr val="222222"/>
                </a:solidFill>
                <a:effectLst/>
                <a:latin typeface="-apple-system"/>
              </a:rPr>
              <a:t>This sensor measures the pressure relative to atmospheric pressure. A tire pressure gauge is an example of gauge pressure measurement; when it indicates zero, then the pressure it is measuring is the same as the ambient pressure.</a:t>
            </a:r>
          </a:p>
          <a:p>
            <a:r>
              <a:rPr lang="en-US" b="1" i="0" dirty="0">
                <a:solidFill>
                  <a:srgbClr val="222222"/>
                </a:solidFill>
                <a:effectLst/>
                <a:latin typeface="-apple-system"/>
              </a:rPr>
              <a:t>3 Vacuum pressure sensor</a:t>
            </a:r>
            <a:br>
              <a:rPr lang="en-US" b="0" i="0" dirty="0">
                <a:solidFill>
                  <a:srgbClr val="222222"/>
                </a:solidFill>
                <a:effectLst/>
                <a:latin typeface="-apple-system"/>
              </a:rPr>
            </a:br>
            <a:r>
              <a:rPr lang="en-US" b="0" i="0" dirty="0">
                <a:solidFill>
                  <a:srgbClr val="222222"/>
                </a:solidFill>
                <a:effectLst/>
                <a:latin typeface="-apple-system"/>
              </a:rPr>
              <a:t>This term can cause confusion. It may be used to describe a sensor that measures pressures below atmospheric pressure, showing the difference between low-pressure and atmospheric pressure, but it may also be used to describe a sensor that measures absolute pressure relative to a vacuum.</a:t>
            </a:r>
          </a:p>
          <a:p>
            <a:endParaRPr lang="en-US" dirty="0"/>
          </a:p>
        </p:txBody>
      </p:sp>
    </p:spTree>
    <p:extLst>
      <p:ext uri="{BB962C8B-B14F-4D97-AF65-F5344CB8AC3E}">
        <p14:creationId xmlns:p14="http://schemas.microsoft.com/office/powerpoint/2010/main" val="2817578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92500"/>
          </a:bodyPr>
          <a:lstStyle/>
          <a:p>
            <a:r>
              <a:rPr lang="en-US" b="1" i="0" dirty="0">
                <a:solidFill>
                  <a:srgbClr val="222222"/>
                </a:solidFill>
                <a:effectLst/>
                <a:latin typeface="Arial" panose="020B0604020202020204" pitchFamily="34" charset="0"/>
                <a:cs typeface="Arial" panose="020B0604020202020204" pitchFamily="34" charset="0"/>
              </a:rPr>
              <a:t>4 Differential pressure sensor</a:t>
            </a:r>
            <a:br>
              <a:rPr lang="en-US" dirty="0">
                <a:latin typeface="Arial" panose="020B0604020202020204" pitchFamily="34" charset="0"/>
                <a:cs typeface="Arial" panose="020B0604020202020204" pitchFamily="34" charset="0"/>
              </a:rPr>
            </a:br>
            <a:r>
              <a:rPr lang="en-US" b="0" i="0" dirty="0">
                <a:solidFill>
                  <a:srgbClr val="222222"/>
                </a:solidFill>
                <a:effectLst/>
                <a:latin typeface="Arial" panose="020B0604020202020204" pitchFamily="34" charset="0"/>
                <a:cs typeface="Arial" panose="020B0604020202020204" pitchFamily="34" charset="0"/>
              </a:rPr>
              <a:t>This sensor measures the difference between two pressures, one connected to each side of the sensor. </a:t>
            </a:r>
          </a:p>
          <a:p>
            <a:pPr algn="just"/>
            <a:r>
              <a:rPr lang="en-US" b="0" i="0" dirty="0">
                <a:solidFill>
                  <a:srgbClr val="222222"/>
                </a:solidFill>
                <a:effectLst/>
                <a:latin typeface="Arial" panose="020B0604020202020204" pitchFamily="34" charset="0"/>
                <a:cs typeface="Arial" panose="020B0604020202020204" pitchFamily="34" charset="0"/>
              </a:rPr>
              <a:t>Differential pressure sensors are used to measure many properties, such as pressure drops across oil filters or air filters, fluid levels (by comparing the pressure above and below the liquid), or flow rates (by measuring the change in pressure across a restriction). </a:t>
            </a:r>
          </a:p>
          <a:p>
            <a:pPr algn="just"/>
            <a:r>
              <a:rPr lang="en-US" b="0" i="0" dirty="0">
                <a:solidFill>
                  <a:srgbClr val="222222"/>
                </a:solidFill>
                <a:effectLst/>
                <a:latin typeface="Arial" panose="020B0604020202020204" pitchFamily="34" charset="0"/>
                <a:cs typeface="Arial" panose="020B0604020202020204" pitchFamily="34" charset="0"/>
              </a:rPr>
              <a:t>Technically speaking, most pressure sensors are really differential pressure sensors; for example, a gauge pressure sensor is merely a differential pressure sensor in which one side is open to the ambient atmosphere.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8530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pPr algn="l"/>
            <a:r>
              <a:rPr lang="en-US" b="1" i="0" dirty="0">
                <a:solidFill>
                  <a:srgbClr val="222222"/>
                </a:solidFill>
                <a:effectLst/>
                <a:latin typeface="-apple-system"/>
              </a:rPr>
              <a:t>Chemical Sensors</a:t>
            </a:r>
            <a:endParaRPr lang="en-US" b="0" i="0" dirty="0">
              <a:solidFill>
                <a:srgbClr val="222222"/>
              </a:solidFill>
              <a:effectLst/>
              <a:latin typeface="-apple-system"/>
            </a:endParaRPr>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85000" lnSpcReduction="20000"/>
          </a:bodyPr>
          <a:lstStyle/>
          <a:p>
            <a:pPr algn="just"/>
            <a:r>
              <a:rPr lang="en-US" b="0" i="0" dirty="0">
                <a:solidFill>
                  <a:srgbClr val="222222"/>
                </a:solidFill>
                <a:effectLst/>
                <a:latin typeface="-apple-system"/>
              </a:rPr>
              <a:t>A chemical sensor is a self-contained analytical device that can provide information about the chemical composition of its environment, that is, a liquid or a gas phase. The information is provided in the form of a measurable physical signal that is correlated with the concentration of a certain chemical species. Chemical sensors include the gas sensor, methane sensor, hydrogen sensor, Carbon dioxide sensor, etc.</a:t>
            </a:r>
          </a:p>
          <a:p>
            <a:pPr algn="just"/>
            <a:r>
              <a:rPr lang="en-US" b="0" i="0" dirty="0">
                <a:solidFill>
                  <a:srgbClr val="222222"/>
                </a:solidFill>
                <a:effectLst/>
                <a:latin typeface="-apple-system"/>
              </a:rPr>
              <a:t>Chemical sensors are widely used in biomedical sensing and diagnosing devices. This type of sensors is used for the diagnostics of gaseous issues such as the concentration of chemicals in human bodies. The monitoring purposes of chemical activities in the body are measured by chemical sensors. The high chemical sensitivity of graphene enables it to be the most desirable component in biomedical devices.</a:t>
            </a:r>
          </a:p>
          <a:p>
            <a:br>
              <a:rPr lang="en-US" b="0" i="0" dirty="0">
                <a:solidFill>
                  <a:srgbClr val="222222"/>
                </a:solidFill>
                <a:effectLst/>
                <a:latin typeface="-apple-system"/>
              </a:rPr>
            </a:br>
            <a:endParaRPr lang="en-US" dirty="0"/>
          </a:p>
        </p:txBody>
      </p:sp>
    </p:spTree>
    <p:extLst>
      <p:ext uri="{BB962C8B-B14F-4D97-AF65-F5344CB8AC3E}">
        <p14:creationId xmlns:p14="http://schemas.microsoft.com/office/powerpoint/2010/main" val="2414841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4655DC6-65EA-4B4A-A874-09D8DB87CB11}"/>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graphicFrame>
        <p:nvGraphicFramePr>
          <p:cNvPr id="23" name="Content Placeholder 22">
            <a:extLst>
              <a:ext uri="{FF2B5EF4-FFF2-40B4-BE49-F238E27FC236}">
                <a16:creationId xmlns:a16="http://schemas.microsoft.com/office/drawing/2014/main" id="{D42D3D7E-DFB2-41F9-BCDC-19FA482F2194}"/>
              </a:ext>
            </a:extLst>
          </p:cNvPr>
          <p:cNvGraphicFramePr>
            <a:graphicFrameLocks noGrp="1"/>
          </p:cNvGraphicFramePr>
          <p:nvPr>
            <p:ph idx="1"/>
            <p:extLst>
              <p:ext uri="{D42A27DB-BD31-4B8C-83A1-F6EECF244321}">
                <p14:modId xmlns:p14="http://schemas.microsoft.com/office/powerpoint/2010/main" val="3623585328"/>
              </p:ext>
            </p:extLst>
          </p:nvPr>
        </p:nvGraphicFramePr>
        <p:xfrm>
          <a:off x="2635623" y="1981200"/>
          <a:ext cx="6595671" cy="670560"/>
        </p:xfrm>
        <a:graphic>
          <a:graphicData uri="http://schemas.openxmlformats.org/drawingml/2006/table">
            <a:tbl>
              <a:tblPr/>
              <a:tblGrid>
                <a:gridCol w="1643355">
                  <a:extLst>
                    <a:ext uri="{9D8B030D-6E8A-4147-A177-3AD203B41FA5}">
                      <a16:colId xmlns:a16="http://schemas.microsoft.com/office/drawing/2014/main" val="3897056090"/>
                    </a:ext>
                  </a:extLst>
                </a:gridCol>
                <a:gridCol w="1643355">
                  <a:extLst>
                    <a:ext uri="{9D8B030D-6E8A-4147-A177-3AD203B41FA5}">
                      <a16:colId xmlns:a16="http://schemas.microsoft.com/office/drawing/2014/main" val="1168953518"/>
                    </a:ext>
                  </a:extLst>
                </a:gridCol>
                <a:gridCol w="1665135">
                  <a:extLst>
                    <a:ext uri="{9D8B030D-6E8A-4147-A177-3AD203B41FA5}">
                      <a16:colId xmlns:a16="http://schemas.microsoft.com/office/drawing/2014/main" val="385485722"/>
                    </a:ext>
                  </a:extLst>
                </a:gridCol>
                <a:gridCol w="1643826">
                  <a:extLst>
                    <a:ext uri="{9D8B030D-6E8A-4147-A177-3AD203B41FA5}">
                      <a16:colId xmlns:a16="http://schemas.microsoft.com/office/drawing/2014/main" val="2356819243"/>
                    </a:ext>
                  </a:extLst>
                </a:gridCol>
              </a:tblGrid>
              <a:tr h="655612">
                <a:tc>
                  <a:txBody>
                    <a:bodyPr/>
                    <a:lstStyle/>
                    <a:p>
                      <a:pPr algn="ctr"/>
                      <a:r>
                        <a:rPr lang="en-US" dirty="0">
                          <a:effectLst/>
                        </a:rPr>
                        <a:t>Gas Sensor</a:t>
                      </a:r>
                    </a:p>
                  </a:txBody>
                  <a:tcPr marL="60960" marR="60960" marT="60960" marB="60960" anchor="ctr">
                    <a:lnL w="7620" cap="flat" cmpd="sng" algn="ctr">
                      <a:solidFill>
                        <a:srgbClr val="70058B"/>
                      </a:solidFill>
                      <a:prstDash val="solid"/>
                      <a:round/>
                      <a:headEnd type="none" w="med" len="med"/>
                      <a:tailEnd type="none" w="med" len="med"/>
                    </a:lnL>
                    <a:lnR w="7620" cap="flat" cmpd="sng" algn="ctr">
                      <a:solidFill>
                        <a:srgbClr val="80048B"/>
                      </a:solidFill>
                      <a:prstDash val="solid"/>
                      <a:round/>
                      <a:headEnd type="none" w="med" len="med"/>
                      <a:tailEnd type="none" w="med" len="med"/>
                    </a:lnR>
                    <a:lnT w="7620" cap="flat" cmpd="sng" algn="ctr">
                      <a:solidFill>
                        <a:srgbClr val="70058B"/>
                      </a:solidFill>
                      <a:prstDash val="solid"/>
                      <a:round/>
                      <a:headEnd type="none" w="med" len="med"/>
                      <a:tailEnd type="none" w="med" len="med"/>
                    </a:lnT>
                    <a:lnB w="7620" cap="flat" cmpd="sng" algn="ctr">
                      <a:solidFill>
                        <a:srgbClr val="70058B"/>
                      </a:solidFill>
                      <a:prstDash val="solid"/>
                      <a:round/>
                      <a:headEnd type="none" w="med" len="med"/>
                      <a:tailEnd type="none" w="med" len="med"/>
                    </a:lnB>
                    <a:solidFill>
                      <a:srgbClr val="FFFFFF"/>
                    </a:solidFill>
                  </a:tcPr>
                </a:tc>
                <a:tc>
                  <a:txBody>
                    <a:bodyPr/>
                    <a:lstStyle/>
                    <a:p>
                      <a:pPr algn="ctr"/>
                      <a:r>
                        <a:rPr lang="en-US" dirty="0">
                          <a:effectLst/>
                        </a:rPr>
                        <a:t>Carbon Dioxide Sensor</a:t>
                      </a:r>
                    </a:p>
                  </a:txBody>
                  <a:tcPr marL="60960" marR="60960" marT="60960" marB="60960" anchor="ctr">
                    <a:lnL w="7620" cap="flat" cmpd="sng" algn="ctr">
                      <a:solidFill>
                        <a:srgbClr val="80048B"/>
                      </a:solidFill>
                      <a:prstDash val="solid"/>
                      <a:round/>
                      <a:headEnd type="none" w="med" len="med"/>
                      <a:tailEnd type="none" w="med" len="med"/>
                    </a:lnL>
                    <a:lnR w="7620" cap="flat" cmpd="sng" algn="ctr">
                      <a:solidFill>
                        <a:srgbClr val="10178B"/>
                      </a:solidFill>
                      <a:prstDash val="solid"/>
                      <a:round/>
                      <a:headEnd type="none" w="med" len="med"/>
                      <a:tailEnd type="none" w="med" len="med"/>
                    </a:lnR>
                    <a:lnT w="7620" cap="flat" cmpd="sng" algn="ctr">
                      <a:solidFill>
                        <a:srgbClr val="80048B"/>
                      </a:solidFill>
                      <a:prstDash val="solid"/>
                      <a:round/>
                      <a:headEnd type="none" w="med" len="med"/>
                      <a:tailEnd type="none" w="med" len="med"/>
                    </a:lnT>
                    <a:lnB w="7620" cap="flat" cmpd="sng" algn="ctr">
                      <a:solidFill>
                        <a:srgbClr val="80048B"/>
                      </a:solidFill>
                      <a:prstDash val="solid"/>
                      <a:round/>
                      <a:headEnd type="none" w="med" len="med"/>
                      <a:tailEnd type="none" w="med" len="med"/>
                    </a:lnB>
                    <a:solidFill>
                      <a:srgbClr val="FFFFFF"/>
                    </a:solidFill>
                  </a:tcPr>
                </a:tc>
                <a:tc>
                  <a:txBody>
                    <a:bodyPr/>
                    <a:lstStyle/>
                    <a:p>
                      <a:pPr algn="ctr"/>
                      <a:r>
                        <a:rPr lang="en-US" dirty="0">
                          <a:effectLst/>
                        </a:rPr>
                        <a:t>Alcohol Sensor</a:t>
                      </a:r>
                    </a:p>
                  </a:txBody>
                  <a:tcPr marL="60960" marR="60960" marT="60960" marB="60960" anchor="ctr">
                    <a:lnL w="7620" cap="flat" cmpd="sng" algn="ctr">
                      <a:solidFill>
                        <a:srgbClr val="10178B"/>
                      </a:solidFill>
                      <a:prstDash val="solid"/>
                      <a:round/>
                      <a:headEnd type="none" w="med" len="med"/>
                      <a:tailEnd type="none" w="med" len="med"/>
                    </a:lnL>
                    <a:lnR w="7620" cap="flat" cmpd="sng" algn="ctr">
                      <a:solidFill>
                        <a:srgbClr val="B0138B"/>
                      </a:solidFill>
                      <a:prstDash val="solid"/>
                      <a:round/>
                      <a:headEnd type="none" w="med" len="med"/>
                      <a:tailEnd type="none" w="med" len="med"/>
                    </a:lnR>
                    <a:lnT w="7620" cap="flat" cmpd="sng" algn="ctr">
                      <a:solidFill>
                        <a:srgbClr val="10178B"/>
                      </a:solidFill>
                      <a:prstDash val="solid"/>
                      <a:round/>
                      <a:headEnd type="none" w="med" len="med"/>
                      <a:tailEnd type="none" w="med" len="med"/>
                    </a:lnT>
                    <a:lnB w="7620" cap="flat" cmpd="sng" algn="ctr">
                      <a:solidFill>
                        <a:srgbClr val="10178B"/>
                      </a:solidFill>
                      <a:prstDash val="solid"/>
                      <a:round/>
                      <a:headEnd type="none" w="med" len="med"/>
                      <a:tailEnd type="none" w="med" len="med"/>
                    </a:lnB>
                    <a:solidFill>
                      <a:srgbClr val="FFFFFF"/>
                    </a:solidFill>
                  </a:tcPr>
                </a:tc>
                <a:tc>
                  <a:txBody>
                    <a:bodyPr/>
                    <a:lstStyle/>
                    <a:p>
                      <a:pPr algn="ctr"/>
                      <a:r>
                        <a:rPr lang="en-US" dirty="0">
                          <a:effectLst/>
                        </a:rPr>
                        <a:t>Methane Sensor</a:t>
                      </a:r>
                    </a:p>
                  </a:txBody>
                  <a:tcPr marL="60960" marR="60960" marT="60960" marB="60960" anchor="ctr">
                    <a:lnL w="7620" cap="flat" cmpd="sng" algn="ctr">
                      <a:solidFill>
                        <a:srgbClr val="B0138B"/>
                      </a:solidFill>
                      <a:prstDash val="solid"/>
                      <a:round/>
                      <a:headEnd type="none" w="med" len="med"/>
                      <a:tailEnd type="none" w="med" len="med"/>
                    </a:lnL>
                    <a:lnR w="7620" cap="flat" cmpd="sng" algn="ctr">
                      <a:solidFill>
                        <a:srgbClr val="B0138B"/>
                      </a:solidFill>
                      <a:prstDash val="solid"/>
                      <a:round/>
                      <a:headEnd type="none" w="med" len="med"/>
                      <a:tailEnd type="none" w="med" len="med"/>
                    </a:lnR>
                    <a:lnT w="7620" cap="flat" cmpd="sng" algn="ctr">
                      <a:solidFill>
                        <a:srgbClr val="B0138B"/>
                      </a:solidFill>
                      <a:prstDash val="solid"/>
                      <a:round/>
                      <a:headEnd type="none" w="med" len="med"/>
                      <a:tailEnd type="none" w="med" len="med"/>
                    </a:lnT>
                    <a:lnB w="7620" cap="flat" cmpd="sng" algn="ctr">
                      <a:solidFill>
                        <a:srgbClr val="B0138B"/>
                      </a:solidFill>
                      <a:prstDash val="solid"/>
                      <a:round/>
                      <a:headEnd type="none" w="med" len="med"/>
                      <a:tailEnd type="none" w="med" len="med"/>
                    </a:lnB>
                    <a:solidFill>
                      <a:srgbClr val="FFFFFF"/>
                    </a:solidFill>
                  </a:tcPr>
                </a:tc>
                <a:extLst>
                  <a:ext uri="{0D108BD9-81ED-4DB2-BD59-A6C34878D82A}">
                    <a16:rowId xmlns:a16="http://schemas.microsoft.com/office/drawing/2014/main" val="69464146"/>
                  </a:ext>
                </a:extLst>
              </a:tr>
            </a:tbl>
          </a:graphicData>
        </a:graphic>
      </p:graphicFrame>
      <p:pic>
        <p:nvPicPr>
          <p:cNvPr id="6158" name="Picture 14" descr="MQ-135 gas Sensor Screen2: Various kinds of gas sensors in the market">
            <a:extLst>
              <a:ext uri="{FF2B5EF4-FFF2-40B4-BE49-F238E27FC236}">
                <a16:creationId xmlns:a16="http://schemas.microsoft.com/office/drawing/2014/main" id="{5EB1986F-C373-4B32-A103-4FF43F979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1711" y="2942272"/>
            <a:ext cx="4410075"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468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A schematic of gas sensor fabrication (a) and gas sensing testing set... |  Download Scientific Diagram">
            <a:extLst>
              <a:ext uri="{FF2B5EF4-FFF2-40B4-BE49-F238E27FC236}">
                <a16:creationId xmlns:a16="http://schemas.microsoft.com/office/drawing/2014/main" id="{D9DA95E9-3351-4F3F-B3D7-19FB12789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741" y="365125"/>
            <a:ext cx="9126071" cy="5986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613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Next-Generation MEMS Multi-Gas Sensing - Tech Briefs">
            <a:extLst>
              <a:ext uri="{FF2B5EF4-FFF2-40B4-BE49-F238E27FC236}">
                <a16:creationId xmlns:a16="http://schemas.microsoft.com/office/drawing/2014/main" id="{06C36922-F9E3-49E5-AAC0-508DB5E4E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635" y="959225"/>
            <a:ext cx="10304930" cy="5405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507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A6C3-996F-4945-9D83-A8E6842AA0FF}"/>
              </a:ext>
            </a:extLst>
          </p:cNvPr>
          <p:cNvSpPr>
            <a:spLocks noGrp="1"/>
          </p:cNvSpPr>
          <p:nvPr>
            <p:ph type="title"/>
          </p:nvPr>
        </p:nvSpPr>
        <p:spPr/>
        <p:txBody>
          <a:bodyPr/>
          <a:lstStyle/>
          <a:p>
            <a:r>
              <a:rPr lang="en-US" b="1" i="0" dirty="0">
                <a:solidFill>
                  <a:srgbClr val="222222"/>
                </a:solidFill>
                <a:effectLst/>
                <a:latin typeface="-apple-system"/>
              </a:rPr>
              <a:t>Humidity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083BD67-0D02-4F00-AB4F-4C44A057AAD4}"/>
              </a:ext>
            </a:extLst>
          </p:cNvPr>
          <p:cNvSpPr>
            <a:spLocks noGrp="1"/>
          </p:cNvSpPr>
          <p:nvPr>
            <p:ph idx="1"/>
          </p:nvPr>
        </p:nvSpPr>
        <p:spPr/>
        <p:txBody>
          <a:bodyPr/>
          <a:lstStyle/>
          <a:p>
            <a:r>
              <a:rPr lang="en-US" b="0" i="0" dirty="0">
                <a:solidFill>
                  <a:srgbClr val="222222"/>
                </a:solidFill>
                <a:effectLst/>
                <a:latin typeface="-apple-system"/>
              </a:rPr>
              <a:t>The definition of humidity asserts that it’s the percentage of H2O presence in the atmosphere (air), it’s the amount of water vapor existing in the air of a specific area. </a:t>
            </a:r>
          </a:p>
          <a:p>
            <a:r>
              <a:rPr lang="en-US" b="0" i="0" dirty="0">
                <a:solidFill>
                  <a:srgbClr val="222222"/>
                </a:solidFill>
                <a:effectLst/>
                <a:latin typeface="-apple-system"/>
              </a:rPr>
              <a:t>Humidity measurement in industries is critical because it may affect the business cost of the product and the health and safety of the personnel. Hence, humidity sensing is very important, especially in the control systems for industrial processes and human comfort</a:t>
            </a:r>
            <a:endParaRPr lang="en-US" dirty="0"/>
          </a:p>
        </p:txBody>
      </p:sp>
    </p:spTree>
    <p:extLst>
      <p:ext uri="{BB962C8B-B14F-4D97-AF65-F5344CB8AC3E}">
        <p14:creationId xmlns:p14="http://schemas.microsoft.com/office/powerpoint/2010/main" val="2044139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A6C3-996F-4945-9D83-A8E6842AA0FF}"/>
              </a:ext>
            </a:extLst>
          </p:cNvPr>
          <p:cNvSpPr>
            <a:spLocks noGrp="1"/>
          </p:cNvSpPr>
          <p:nvPr>
            <p:ph type="title"/>
          </p:nvPr>
        </p:nvSpPr>
        <p:spPr/>
        <p:txBody>
          <a:bodyPr/>
          <a:lstStyle/>
          <a:p>
            <a:r>
              <a:rPr lang="en-US" b="1" i="0" dirty="0">
                <a:solidFill>
                  <a:srgbClr val="222222"/>
                </a:solidFill>
                <a:effectLst/>
                <a:latin typeface="-apple-system"/>
              </a:rPr>
              <a:t>Humidity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083BD67-0D02-4F00-AB4F-4C44A057AAD4}"/>
              </a:ext>
            </a:extLst>
          </p:cNvPr>
          <p:cNvSpPr>
            <a:spLocks noGrp="1"/>
          </p:cNvSpPr>
          <p:nvPr>
            <p:ph idx="1"/>
          </p:nvPr>
        </p:nvSpPr>
        <p:spPr/>
        <p:txBody>
          <a:bodyPr/>
          <a:lstStyle/>
          <a:p>
            <a:r>
              <a:rPr lang="en-US" b="0" i="0" dirty="0">
                <a:solidFill>
                  <a:srgbClr val="222222"/>
                </a:solidFill>
                <a:effectLst/>
                <a:latin typeface="-apple-system"/>
              </a:rPr>
              <a:t>Humidity also can affect and damage metallic equipment by accelerating the chemical corrosion process. In these areas, high humidity is not desirable at all. However, in some applications like farming the humidity is a good thing for several plants and hence it could be actually a good thing.</a:t>
            </a:r>
            <a:endParaRPr lang="en-US" dirty="0"/>
          </a:p>
        </p:txBody>
      </p:sp>
    </p:spTree>
    <p:extLst>
      <p:ext uri="{BB962C8B-B14F-4D97-AF65-F5344CB8AC3E}">
        <p14:creationId xmlns:p14="http://schemas.microsoft.com/office/powerpoint/2010/main" val="2546777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C14A1-F81D-44CF-AC53-FCEA71785DF4}"/>
              </a:ext>
            </a:extLst>
          </p:cNvPr>
          <p:cNvSpPr>
            <a:spLocks noGrp="1"/>
          </p:cNvSpPr>
          <p:nvPr>
            <p:ph type="title"/>
          </p:nvPr>
        </p:nvSpPr>
        <p:spPr/>
        <p:txBody>
          <a:bodyPr/>
          <a:lstStyle/>
          <a:p>
            <a:r>
              <a:rPr lang="en-US" dirty="0"/>
              <a:t> </a:t>
            </a:r>
          </a:p>
        </p:txBody>
      </p:sp>
      <p:pic>
        <p:nvPicPr>
          <p:cNvPr id="9218" name="Picture 2" descr="Temperature Humidity Sensor 3.3V-5V ...">
            <a:extLst>
              <a:ext uri="{FF2B5EF4-FFF2-40B4-BE49-F238E27FC236}">
                <a16:creationId xmlns:a16="http://schemas.microsoft.com/office/drawing/2014/main" id="{D7B7B494-C7B7-4FD5-8631-82FD2BF450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73250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Humidity sensors – do you know what's inside? | Vaisala">
            <a:extLst>
              <a:ext uri="{FF2B5EF4-FFF2-40B4-BE49-F238E27FC236}">
                <a16:creationId xmlns:a16="http://schemas.microsoft.com/office/drawing/2014/main" id="{5CD387DA-3A79-4F40-B3A1-56009106D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288" y="1276350"/>
            <a:ext cx="4543425"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27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32EB-E549-450D-ADE7-3F50566B021C}"/>
              </a:ext>
            </a:extLst>
          </p:cNvPr>
          <p:cNvSpPr>
            <a:spLocks noGrp="1"/>
          </p:cNvSpPr>
          <p:nvPr>
            <p:ph type="title"/>
          </p:nvPr>
        </p:nvSpPr>
        <p:spPr/>
        <p:txBody>
          <a:bodyPr/>
          <a:lstStyle/>
          <a:p>
            <a:r>
              <a:rPr lang="en-US" b="1" i="0" dirty="0">
                <a:solidFill>
                  <a:srgbClr val="222222"/>
                </a:solidFill>
                <a:effectLst/>
                <a:latin typeface="-apple-system"/>
              </a:rPr>
              <a:t>Current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A8B8C4A-363C-4A1B-B2FD-D7B817A278F5}"/>
              </a:ext>
            </a:extLst>
          </p:cNvPr>
          <p:cNvSpPr>
            <a:spLocks noGrp="1"/>
          </p:cNvSpPr>
          <p:nvPr>
            <p:ph idx="1"/>
          </p:nvPr>
        </p:nvSpPr>
        <p:spPr/>
        <p:txBody>
          <a:bodyPr/>
          <a:lstStyle/>
          <a:p>
            <a:pPr algn="just"/>
            <a:r>
              <a:rPr lang="en-US" b="0" i="0" dirty="0">
                <a:solidFill>
                  <a:srgbClr val="222222"/>
                </a:solidFill>
                <a:effectLst/>
                <a:latin typeface="-apple-system"/>
              </a:rPr>
              <a:t>A current sensor is an electronic device that can detect electric current DC or AC in a wire, and generates a signal proportional to that current. </a:t>
            </a:r>
          </a:p>
          <a:p>
            <a:pPr algn="just"/>
            <a:r>
              <a:rPr lang="en-US" b="0" i="0" dirty="0">
                <a:solidFill>
                  <a:srgbClr val="222222"/>
                </a:solidFill>
                <a:effectLst/>
                <a:latin typeface="-apple-system"/>
              </a:rPr>
              <a:t>The generated signal could be analog voltage or current or even a digital output. </a:t>
            </a:r>
          </a:p>
          <a:p>
            <a:pPr algn="just"/>
            <a:r>
              <a:rPr lang="en-US" b="0" i="0" dirty="0">
                <a:solidFill>
                  <a:srgbClr val="222222"/>
                </a:solidFill>
                <a:effectLst/>
                <a:latin typeface="-apple-system"/>
              </a:rPr>
              <a:t>The generated signal can be then used to display the measured current in an ammeter, or can be stored for further analysis in a data acquisition system, or can be used for the purpose of control.</a:t>
            </a:r>
          </a:p>
          <a:p>
            <a:endParaRPr lang="en-US" dirty="0"/>
          </a:p>
        </p:txBody>
      </p:sp>
    </p:spTree>
    <p:extLst>
      <p:ext uri="{BB962C8B-B14F-4D97-AF65-F5344CB8AC3E}">
        <p14:creationId xmlns:p14="http://schemas.microsoft.com/office/powerpoint/2010/main" val="243374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32EB-E549-450D-ADE7-3F50566B021C}"/>
              </a:ext>
            </a:extLst>
          </p:cNvPr>
          <p:cNvSpPr>
            <a:spLocks noGrp="1"/>
          </p:cNvSpPr>
          <p:nvPr>
            <p:ph type="title"/>
          </p:nvPr>
        </p:nvSpPr>
        <p:spPr/>
        <p:txBody>
          <a:bodyPr/>
          <a:lstStyle/>
          <a:p>
            <a:r>
              <a:rPr lang="en-US" b="1" i="0" dirty="0">
                <a:solidFill>
                  <a:srgbClr val="222222"/>
                </a:solidFill>
                <a:effectLst/>
                <a:latin typeface="-apple-system"/>
              </a:rPr>
              <a:t>Current Sensors</a:t>
            </a:r>
            <a:br>
              <a:rPr lang="en-US" b="0" i="0" dirty="0">
                <a:solidFill>
                  <a:srgbClr val="222222"/>
                </a:solidFill>
                <a:effectLst/>
                <a:latin typeface="-apple-system"/>
              </a:rPr>
            </a:br>
            <a:endParaRPr lang="en-US" dirty="0"/>
          </a:p>
        </p:txBody>
      </p:sp>
      <p:pic>
        <p:nvPicPr>
          <p:cNvPr id="10242" name="Picture 2" descr="CURRENT SENSORS, For Solar Inverters &amp; Ev Charger at best price in Vasai  Virar">
            <a:extLst>
              <a:ext uri="{FF2B5EF4-FFF2-40B4-BE49-F238E27FC236}">
                <a16:creationId xmlns:a16="http://schemas.microsoft.com/office/drawing/2014/main" id="{9EBD8425-C577-4660-B9B9-9C73F62F0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9243" y="1690688"/>
            <a:ext cx="6029885" cy="4281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692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6A21AB-024C-428D-8871-C8F111365594}"/>
              </a:ext>
            </a:extLst>
          </p:cNvPr>
          <p:cNvSpPr>
            <a:spLocks noGrp="1"/>
          </p:cNvSpPr>
          <p:nvPr>
            <p:ph type="title"/>
          </p:nvPr>
        </p:nvSpPr>
        <p:spPr/>
        <p:txBody>
          <a:bodyPr/>
          <a:lstStyle/>
          <a:p>
            <a:r>
              <a:rPr lang="en-US" b="1" i="0" dirty="0">
                <a:solidFill>
                  <a:srgbClr val="222222"/>
                </a:solidFill>
                <a:effectLst/>
                <a:latin typeface="-apple-system"/>
              </a:rPr>
              <a:t>Vibration Sensor</a:t>
            </a:r>
            <a:br>
              <a:rPr lang="en-US" b="0" i="0" dirty="0">
                <a:solidFill>
                  <a:srgbClr val="222222"/>
                </a:solidFill>
                <a:effectLst/>
                <a:latin typeface="-apple-system"/>
              </a:rPr>
            </a:br>
            <a:endParaRPr lang="en-US" dirty="0"/>
          </a:p>
        </p:txBody>
      </p:sp>
      <p:sp>
        <p:nvSpPr>
          <p:cNvPr id="4" name="Content Placeholder 3">
            <a:extLst>
              <a:ext uri="{FF2B5EF4-FFF2-40B4-BE49-F238E27FC236}">
                <a16:creationId xmlns:a16="http://schemas.microsoft.com/office/drawing/2014/main" id="{F7779517-402F-4881-B001-4F8BFE4B27C4}"/>
              </a:ext>
            </a:extLst>
          </p:cNvPr>
          <p:cNvSpPr>
            <a:spLocks noGrp="1"/>
          </p:cNvSpPr>
          <p:nvPr>
            <p:ph idx="1"/>
          </p:nvPr>
        </p:nvSpPr>
        <p:spPr>
          <a:xfrm>
            <a:off x="838200" y="1264024"/>
            <a:ext cx="10515600" cy="4912939"/>
          </a:xfrm>
        </p:spPr>
        <p:txBody>
          <a:bodyPr>
            <a:normAutofit fontScale="92500" lnSpcReduction="20000"/>
          </a:bodyPr>
          <a:lstStyle/>
          <a:p>
            <a:pPr algn="just"/>
            <a:r>
              <a:rPr lang="en-US" b="0" i="0" dirty="0">
                <a:solidFill>
                  <a:srgbClr val="222222"/>
                </a:solidFill>
                <a:effectLst/>
                <a:latin typeface="-apple-system"/>
              </a:rPr>
              <a:t>There are typically three different types of sensors that are being used in vibration detection: displacement, velocity, and acceleration. </a:t>
            </a:r>
          </a:p>
          <a:p>
            <a:pPr algn="just"/>
            <a:r>
              <a:rPr lang="en-US" b="0" i="0" dirty="0">
                <a:solidFill>
                  <a:srgbClr val="222222"/>
                </a:solidFill>
                <a:effectLst/>
                <a:latin typeface="-apple-system"/>
              </a:rPr>
              <a:t>Displacement sensors measure changes in distance between a machine’s rotating element and its stationary housing (frame).</a:t>
            </a:r>
          </a:p>
          <a:p>
            <a:pPr algn="just"/>
            <a:r>
              <a:rPr lang="en-US" b="0" i="0" dirty="0">
                <a:solidFill>
                  <a:srgbClr val="222222"/>
                </a:solidFill>
                <a:effectLst/>
                <a:latin typeface="-apple-system"/>
              </a:rPr>
              <a:t> Displacement sensors come in the form of a probe that threads into a hole drilled and tapped in the machine’s frame, just above the surface of a rotating shaft. </a:t>
            </a:r>
          </a:p>
          <a:p>
            <a:pPr algn="just"/>
            <a:r>
              <a:rPr lang="en-US" b="0" i="0" dirty="0">
                <a:solidFill>
                  <a:srgbClr val="222222"/>
                </a:solidFill>
                <a:effectLst/>
                <a:latin typeface="-apple-system"/>
              </a:rPr>
              <a:t>Velocity and acceleration sensors, by contrast, measure the velocity or acceleration of whatever element the sensor is attached to, which is usually some external part of the machine frame.</a:t>
            </a:r>
          </a:p>
          <a:p>
            <a:pPr algn="just"/>
            <a:r>
              <a:rPr lang="en-US" b="0" i="0" dirty="0">
                <a:solidFill>
                  <a:srgbClr val="222222"/>
                </a:solidFill>
                <a:effectLst/>
                <a:latin typeface="-apple-system"/>
              </a:rPr>
              <a:t>There are many applications that you can design and make using the vibration sensor and it ranges from small wearables to HVAC systems, other examples include: Automotive industrial applications and motor control and monitoring systems.</a:t>
            </a:r>
          </a:p>
          <a:p>
            <a:endParaRPr lang="en-US" dirty="0"/>
          </a:p>
        </p:txBody>
      </p:sp>
    </p:spTree>
    <p:extLst>
      <p:ext uri="{BB962C8B-B14F-4D97-AF65-F5344CB8AC3E}">
        <p14:creationId xmlns:p14="http://schemas.microsoft.com/office/powerpoint/2010/main" val="2281039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1AF4-D951-4A22-A590-2CD060FD0F4B}"/>
              </a:ext>
            </a:extLst>
          </p:cNvPr>
          <p:cNvSpPr>
            <a:spLocks noGrp="1"/>
          </p:cNvSpPr>
          <p:nvPr>
            <p:ph type="title"/>
          </p:nvPr>
        </p:nvSpPr>
        <p:spPr/>
        <p:txBody>
          <a:bodyPr/>
          <a:lstStyle/>
          <a:p>
            <a:r>
              <a:rPr lang="en-US" b="1" i="0" dirty="0">
                <a:solidFill>
                  <a:srgbClr val="222222"/>
                </a:solidFill>
                <a:effectLst/>
                <a:latin typeface="-apple-system"/>
              </a:rPr>
              <a:t>Vibration Sensor</a:t>
            </a:r>
            <a:endParaRPr lang="en-US" dirty="0"/>
          </a:p>
        </p:txBody>
      </p:sp>
      <p:sp>
        <p:nvSpPr>
          <p:cNvPr id="3" name="Content Placeholder 2">
            <a:extLst>
              <a:ext uri="{FF2B5EF4-FFF2-40B4-BE49-F238E27FC236}">
                <a16:creationId xmlns:a16="http://schemas.microsoft.com/office/drawing/2014/main" id="{FCCE5ABD-3680-44D9-A406-85E9FCB62F12}"/>
              </a:ext>
            </a:extLst>
          </p:cNvPr>
          <p:cNvSpPr>
            <a:spLocks noGrp="1"/>
          </p:cNvSpPr>
          <p:nvPr>
            <p:ph idx="1"/>
          </p:nvPr>
        </p:nvSpPr>
        <p:spPr>
          <a:xfrm>
            <a:off x="649941" y="1335741"/>
            <a:ext cx="10515600" cy="5011551"/>
          </a:xfrm>
        </p:spPr>
        <p:txBody>
          <a:bodyPr/>
          <a:lstStyle/>
          <a:p>
            <a:r>
              <a:rPr lang="en-US" b="0" i="0" dirty="0">
                <a:solidFill>
                  <a:srgbClr val="222222"/>
                </a:solidFill>
                <a:effectLst/>
                <a:latin typeface="-apple-system"/>
              </a:rPr>
              <a:t>Vibration sensing could be also useful for robotics especially mobile robots. You can tell if your robot did crash into something or whether it’s moving over a smooth or rough road. There are many possibilities and different ways to make use of the vibration sensor</a:t>
            </a:r>
            <a:endParaRPr lang="en-US" dirty="0"/>
          </a:p>
        </p:txBody>
      </p:sp>
      <p:pic>
        <p:nvPicPr>
          <p:cNvPr id="11268" name="Picture 4" descr="Vibration Sensor with Digital Output for Arduino &amp; Raspberry Pi">
            <a:extLst>
              <a:ext uri="{FF2B5EF4-FFF2-40B4-BE49-F238E27FC236}">
                <a16:creationId xmlns:a16="http://schemas.microsoft.com/office/drawing/2014/main" id="{28104EB6-4E8D-4278-BF82-ADB6FBE24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778" y="2886637"/>
            <a:ext cx="3182469" cy="3182469"/>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Vibration Sensor Types and Where to Buy Them">
            <a:extLst>
              <a:ext uri="{FF2B5EF4-FFF2-40B4-BE49-F238E27FC236}">
                <a16:creationId xmlns:a16="http://schemas.microsoft.com/office/drawing/2014/main" id="{6F7A24E9-A3FE-4F33-808D-8CA438748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7247" y="3429000"/>
            <a:ext cx="7667625" cy="256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775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222222"/>
                </a:solidFill>
                <a:effectLst/>
                <a:latin typeface="-apple-system"/>
              </a:rPr>
              <a:t>Sound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a:bodyPr>
          <a:lstStyle/>
          <a:p>
            <a:pPr algn="just"/>
            <a:r>
              <a:rPr lang="en-US" b="0" i="0" dirty="0">
                <a:solidFill>
                  <a:srgbClr val="222222"/>
                </a:solidFill>
                <a:effectLst/>
                <a:latin typeface="-apple-system"/>
              </a:rPr>
              <a:t>There are many applications where you need to make your system sound-aware. Maybe respond to some sort of sound signals or voice commands or whatever. </a:t>
            </a:r>
          </a:p>
          <a:p>
            <a:pPr algn="just"/>
            <a:r>
              <a:rPr lang="en-US" b="0" i="0" dirty="0">
                <a:solidFill>
                  <a:srgbClr val="222222"/>
                </a:solidFill>
                <a:effectLst/>
                <a:latin typeface="-apple-system"/>
              </a:rPr>
              <a:t>There are many types of sound sensing devices, </a:t>
            </a:r>
          </a:p>
          <a:p>
            <a:pPr algn="just"/>
            <a:r>
              <a:rPr lang="en-US" b="0" i="0" dirty="0">
                <a:solidFill>
                  <a:srgbClr val="222222"/>
                </a:solidFill>
                <a:effectLst/>
                <a:latin typeface="-apple-system"/>
              </a:rPr>
              <a:t>First of which is the microphones which are the most common devices to pick up sound waves and turns it into an electric signal. And the second type is the piezoelectric elements that also converts the pressure into small electric signals. The sound travels through the air as a wave of pressure and that’s exactly what causes the piezoelectric elements to generate a </a:t>
            </a:r>
            <a:r>
              <a:rPr lang="en-US" b="0" i="0" dirty="0" err="1">
                <a:solidFill>
                  <a:srgbClr val="222222"/>
                </a:solidFill>
                <a:effectLst/>
                <a:latin typeface="-apple-system"/>
              </a:rPr>
              <a:t>simial</a:t>
            </a:r>
            <a:r>
              <a:rPr lang="en-US" b="0" i="0" dirty="0">
                <a:solidFill>
                  <a:srgbClr val="222222"/>
                </a:solidFill>
                <a:effectLst/>
                <a:latin typeface="-apple-system"/>
              </a:rPr>
              <a:t> wave but in the form of an electric signal.</a:t>
            </a:r>
          </a:p>
          <a:p>
            <a:endParaRPr lang="en-US" dirty="0"/>
          </a:p>
        </p:txBody>
      </p:sp>
    </p:spTree>
    <p:extLst>
      <p:ext uri="{BB962C8B-B14F-4D97-AF65-F5344CB8AC3E}">
        <p14:creationId xmlns:p14="http://schemas.microsoft.com/office/powerpoint/2010/main" val="3165656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ound Sensor Module LM393 Black">
            <a:extLst>
              <a:ext uri="{FF2B5EF4-FFF2-40B4-BE49-F238E27FC236}">
                <a16:creationId xmlns:a16="http://schemas.microsoft.com/office/drawing/2014/main" id="{B2526191-230A-41F6-9BBB-ECA3193903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871" y="1255059"/>
            <a:ext cx="3039035" cy="303903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All You Need to Know About Sound Sensors - RAYPCB">
            <a:extLst>
              <a:ext uri="{FF2B5EF4-FFF2-40B4-BE49-F238E27FC236}">
                <a16:creationId xmlns:a16="http://schemas.microsoft.com/office/drawing/2014/main" id="{0351CF88-4F46-43E1-8F4E-19B4585EA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9611" y="1663698"/>
            <a:ext cx="7234518" cy="301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38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FF0000"/>
                </a:solidFill>
                <a:effectLst/>
                <a:latin typeface="-apple-system"/>
              </a:rPr>
              <a:t>Microphones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fontScale="85000" lnSpcReduction="20000"/>
          </a:bodyPr>
          <a:lstStyle/>
          <a:p>
            <a:pPr algn="just"/>
            <a:r>
              <a:rPr lang="en-US" b="0" i="0" dirty="0">
                <a:solidFill>
                  <a:srgbClr val="222222"/>
                </a:solidFill>
                <a:effectLst/>
                <a:latin typeface="-apple-system"/>
              </a:rPr>
              <a:t>A microphone is the most common sound sensor in the world.</a:t>
            </a:r>
          </a:p>
          <a:p>
            <a:pPr algn="just"/>
            <a:r>
              <a:rPr lang="en-US" b="0" i="0" dirty="0">
                <a:solidFill>
                  <a:srgbClr val="222222"/>
                </a:solidFill>
                <a:effectLst/>
                <a:latin typeface="-apple-system"/>
              </a:rPr>
              <a:t> It does exist in our smartphones, laptops, and all sound systems whether it’s embedded or standalone. </a:t>
            </a:r>
          </a:p>
          <a:p>
            <a:pPr algn="just"/>
            <a:r>
              <a:rPr lang="en-US" b="0" i="0" dirty="0">
                <a:solidFill>
                  <a:srgbClr val="222222"/>
                </a:solidFill>
                <a:effectLst/>
                <a:latin typeface="-apple-system"/>
              </a:rPr>
              <a:t>A typical microphone transforms the sound waves into electric signals that could be amplified or sent to a DSP (digital signal processor) for further processing or analysis. </a:t>
            </a:r>
          </a:p>
          <a:p>
            <a:pPr algn="just"/>
            <a:r>
              <a:rPr lang="en-US" b="0" i="0" dirty="0">
                <a:solidFill>
                  <a:srgbClr val="222222"/>
                </a:solidFill>
                <a:effectLst/>
                <a:latin typeface="-apple-system"/>
              </a:rPr>
              <a:t>There are different types of microphone depending on the construction and the working principle of it.</a:t>
            </a:r>
          </a:p>
          <a:p>
            <a:pPr algn="just"/>
            <a:r>
              <a:rPr lang="en-US" b="0" i="0" dirty="0">
                <a:solidFill>
                  <a:srgbClr val="222222"/>
                </a:solidFill>
                <a:effectLst/>
                <a:latin typeface="-apple-system"/>
              </a:rPr>
              <a:t>An electret microphone is a type of electrostatic capacitor-based microphone, which eliminates the need for a polarizing power supply by using a permanently charged material. An electret is a stable dielectric material with a permanently embedded static electric dipole moment (which, due to the high resistance and chemical stability of the material, will not decay for hundreds of years). The name comes from electrostatic and magnet; drawing the analogy to the formation of a magnet by the alignment of magnetic domains in a piece of iron.</a:t>
            </a:r>
          </a:p>
          <a:p>
            <a:endParaRPr lang="en-US" dirty="0"/>
          </a:p>
        </p:txBody>
      </p:sp>
    </p:spTree>
    <p:extLst>
      <p:ext uri="{BB962C8B-B14F-4D97-AF65-F5344CB8AC3E}">
        <p14:creationId xmlns:p14="http://schemas.microsoft.com/office/powerpoint/2010/main" val="490756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FF0000"/>
                </a:solidFill>
                <a:effectLst/>
                <a:latin typeface="-apple-system"/>
              </a:rPr>
              <a:t>Microphones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a:bodyPr>
          <a:lstStyle/>
          <a:p>
            <a:pPr algn="just"/>
            <a:r>
              <a:rPr lang="en-US" b="0" i="0" dirty="0">
                <a:solidFill>
                  <a:srgbClr val="222222"/>
                </a:solidFill>
                <a:effectLst/>
                <a:latin typeface="-apple-system"/>
              </a:rPr>
              <a:t>An electret microphone is a type of electrostatic capacitor-based microphone, which eliminates the need for a polarizing power supply by using a permanently charged material. </a:t>
            </a:r>
          </a:p>
          <a:p>
            <a:pPr algn="just"/>
            <a:r>
              <a:rPr lang="en-US" b="0" i="0" dirty="0">
                <a:solidFill>
                  <a:srgbClr val="222222"/>
                </a:solidFill>
                <a:effectLst/>
                <a:latin typeface="-apple-system"/>
              </a:rPr>
              <a:t>An electret is a stable dielectric material with a permanently embedded static electric dipole moment (which, due to the high resistance and chemical stability of the material, will not decay for hundreds of years). The name comes from electrostatic and magnet; drawing the analogy to the formation of a magnet by the alignment of magnetic domains in a piece of iron.</a:t>
            </a:r>
          </a:p>
          <a:p>
            <a:endParaRPr lang="en-US" dirty="0"/>
          </a:p>
        </p:txBody>
      </p:sp>
    </p:spTree>
    <p:extLst>
      <p:ext uri="{BB962C8B-B14F-4D97-AF65-F5344CB8AC3E}">
        <p14:creationId xmlns:p14="http://schemas.microsoft.com/office/powerpoint/2010/main" val="2514427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B248-ED6B-4400-AFF8-392DD50F3824}"/>
              </a:ext>
            </a:extLst>
          </p:cNvPr>
          <p:cNvSpPr>
            <a:spLocks noGrp="1"/>
          </p:cNvSpPr>
          <p:nvPr>
            <p:ph type="title"/>
          </p:nvPr>
        </p:nvSpPr>
        <p:spPr>
          <a:xfrm>
            <a:off x="838200" y="365125"/>
            <a:ext cx="10515600" cy="594099"/>
          </a:xfrm>
        </p:spPr>
        <p:txBody>
          <a:bodyPr>
            <a:normAutofit fontScale="90000"/>
          </a:bodyPr>
          <a:lstStyle/>
          <a:p>
            <a:r>
              <a:rPr lang="en-US" sz="4400" b="1" i="0" dirty="0">
                <a:solidFill>
                  <a:srgbClr val="FF0000"/>
                </a:solidFill>
                <a:effectLst/>
                <a:latin typeface="-apple-system"/>
              </a:rPr>
              <a:t>Piezoelectric Elements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E31FD64-72FA-4639-80F7-A2CAFCF47A74}"/>
              </a:ext>
            </a:extLst>
          </p:cNvPr>
          <p:cNvSpPr>
            <a:spLocks noGrp="1"/>
          </p:cNvSpPr>
          <p:nvPr>
            <p:ph idx="1"/>
          </p:nvPr>
        </p:nvSpPr>
        <p:spPr>
          <a:xfrm>
            <a:off x="838200" y="959224"/>
            <a:ext cx="10515600" cy="5217739"/>
          </a:xfrm>
        </p:spPr>
        <p:txBody>
          <a:bodyPr>
            <a:normAutofit/>
          </a:bodyPr>
          <a:lstStyle/>
          <a:p>
            <a:pPr algn="just"/>
            <a:r>
              <a:rPr lang="en-US" b="0" i="0" dirty="0">
                <a:solidFill>
                  <a:srgbClr val="222222"/>
                </a:solidFill>
                <a:effectLst/>
                <a:latin typeface="-apple-system"/>
              </a:rPr>
              <a:t>A piezoelectric sensor is a device that uses the piezoelectric effect, to measure changes in pressure, acceleration, temperature, strain, or force by converting them to an electrical charge. Piezoelectric sensors are versatile tools for the measurement of various processes. They are used for quality assurance, process control, and for research and development in many industries.</a:t>
            </a:r>
          </a:p>
          <a:p>
            <a:pPr algn="just"/>
            <a:r>
              <a:rPr lang="en-US" b="0" i="0" dirty="0">
                <a:solidFill>
                  <a:srgbClr val="222222"/>
                </a:solidFill>
                <a:effectLst/>
                <a:latin typeface="-apple-system"/>
              </a:rPr>
              <a:t>They have been successfully used in various applications, such as in medical, aerospace, nuclear instrumentation, and as a tilt sensor in consumer electronics or a pressure sensor in the touchpads of mobile phones. In the automotive industry, piezoelectric elements are used to monitor combustion when developing internal combustion engines.</a:t>
            </a:r>
          </a:p>
          <a:p>
            <a:endParaRPr lang="en-US" dirty="0"/>
          </a:p>
        </p:txBody>
      </p:sp>
    </p:spTree>
    <p:extLst>
      <p:ext uri="{BB962C8B-B14F-4D97-AF65-F5344CB8AC3E}">
        <p14:creationId xmlns:p14="http://schemas.microsoft.com/office/powerpoint/2010/main" val="4137607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lobal Piezoelectric Sensor Market Demand, Future Trends, Size, Share and  Outlook till 2030">
            <a:extLst>
              <a:ext uri="{FF2B5EF4-FFF2-40B4-BE49-F238E27FC236}">
                <a16:creationId xmlns:a16="http://schemas.microsoft.com/office/drawing/2014/main" id="{9025DD44-B085-4F6E-9F6F-499A59D7D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719138"/>
            <a:ext cx="7534275" cy="541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956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70B6-94F5-4FB7-866A-773CF1C83D4D}"/>
              </a:ext>
            </a:extLst>
          </p:cNvPr>
          <p:cNvSpPr>
            <a:spLocks noGrp="1"/>
          </p:cNvSpPr>
          <p:nvPr>
            <p:ph type="title"/>
          </p:nvPr>
        </p:nvSpPr>
        <p:spPr/>
        <p:txBody>
          <a:bodyPr/>
          <a:lstStyle/>
          <a:p>
            <a:r>
              <a:rPr lang="en-US" b="1" i="0" dirty="0">
                <a:solidFill>
                  <a:srgbClr val="222222"/>
                </a:solidFill>
                <a:effectLst/>
                <a:latin typeface="-apple-system"/>
              </a:rPr>
              <a:t>Light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E4945F0A-481F-4B53-8EE3-DBCD8E272583}"/>
              </a:ext>
            </a:extLst>
          </p:cNvPr>
          <p:cNvSpPr>
            <a:spLocks noGrp="1"/>
          </p:cNvSpPr>
          <p:nvPr>
            <p:ph idx="1"/>
          </p:nvPr>
        </p:nvSpPr>
        <p:spPr/>
        <p:txBody>
          <a:bodyPr/>
          <a:lstStyle/>
          <a:p>
            <a:pPr algn="just"/>
            <a:r>
              <a:rPr lang="en-US" b="0" i="0" dirty="0">
                <a:solidFill>
                  <a:srgbClr val="222222"/>
                </a:solidFill>
                <a:effectLst/>
                <a:latin typeface="-apple-system"/>
              </a:rPr>
              <a:t>Light sensors are the type of sensors that can detect the light intensity in the surrounding environment. There are many types of light sensors depending on the principle of operation and the type of light energy it can detect (ambient light, IR, laser, </a:t>
            </a:r>
            <a:r>
              <a:rPr lang="en-US" b="0" i="0" dirty="0" err="1">
                <a:solidFill>
                  <a:srgbClr val="222222"/>
                </a:solidFill>
                <a:effectLst/>
                <a:latin typeface="-apple-system"/>
              </a:rPr>
              <a:t>etc</a:t>
            </a:r>
            <a:r>
              <a:rPr lang="en-US" b="0" i="0" dirty="0">
                <a:solidFill>
                  <a:srgbClr val="222222"/>
                </a:solidFill>
                <a:effectLst/>
                <a:latin typeface="-apple-system"/>
              </a:rPr>
              <a:t>). In this article, I’ll mention a couple of light sensors, the LDR (light dependent resistance) and the photoconductive cell.</a:t>
            </a:r>
          </a:p>
          <a:p>
            <a:endParaRPr lang="en-US" dirty="0"/>
          </a:p>
        </p:txBody>
      </p:sp>
    </p:spTree>
    <p:extLst>
      <p:ext uri="{BB962C8B-B14F-4D97-AF65-F5344CB8AC3E}">
        <p14:creationId xmlns:p14="http://schemas.microsoft.com/office/powerpoint/2010/main" val="538488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D1C8-889E-4521-BAAC-129A0D7EE3C9}"/>
              </a:ext>
            </a:extLst>
          </p:cNvPr>
          <p:cNvSpPr>
            <a:spLocks noGrp="1"/>
          </p:cNvSpPr>
          <p:nvPr>
            <p:ph type="title"/>
          </p:nvPr>
        </p:nvSpPr>
        <p:spPr/>
        <p:txBody>
          <a:bodyPr/>
          <a:lstStyle/>
          <a:p>
            <a:r>
              <a:rPr lang="en-US" b="1" i="0" dirty="0">
                <a:solidFill>
                  <a:srgbClr val="222222"/>
                </a:solidFill>
                <a:effectLst/>
                <a:latin typeface="-apple-system"/>
              </a:rPr>
              <a:t>Accelerometer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B9A107F-BB59-43F7-B4CA-2D8F5576FC7A}"/>
              </a:ext>
            </a:extLst>
          </p:cNvPr>
          <p:cNvSpPr>
            <a:spLocks noGrp="1"/>
          </p:cNvSpPr>
          <p:nvPr>
            <p:ph idx="1"/>
          </p:nvPr>
        </p:nvSpPr>
        <p:spPr>
          <a:xfrm>
            <a:off x="838200" y="1264024"/>
            <a:ext cx="10515600" cy="4912939"/>
          </a:xfrm>
        </p:spPr>
        <p:txBody>
          <a:bodyPr>
            <a:normAutofit fontScale="92500" lnSpcReduction="20000"/>
          </a:bodyPr>
          <a:lstStyle/>
          <a:p>
            <a:pPr algn="just"/>
            <a:r>
              <a:rPr lang="en-US" b="0" i="0" dirty="0">
                <a:solidFill>
                  <a:srgbClr val="222222"/>
                </a:solidFill>
                <a:effectLst/>
                <a:latin typeface="-apple-system"/>
              </a:rPr>
              <a:t>Accelerometers are electronic sensors that measure acceleration, which is the rate of change of the velocity of an object. </a:t>
            </a:r>
          </a:p>
          <a:p>
            <a:pPr algn="just"/>
            <a:r>
              <a:rPr lang="en-US" b="0" i="0" dirty="0">
                <a:solidFill>
                  <a:srgbClr val="222222"/>
                </a:solidFill>
                <a:effectLst/>
                <a:latin typeface="-apple-system"/>
              </a:rPr>
              <a:t>They measure in meters per second squared (m/s</a:t>
            </a:r>
            <a:r>
              <a:rPr lang="en-US" b="0" i="0" baseline="30000" dirty="0">
                <a:solidFill>
                  <a:srgbClr val="222222"/>
                </a:solidFill>
                <a:effectLst/>
                <a:latin typeface="-apple-system"/>
              </a:rPr>
              <a:t>2</a:t>
            </a:r>
            <a:r>
              <a:rPr lang="en-US" b="0" i="0" dirty="0">
                <a:solidFill>
                  <a:srgbClr val="222222"/>
                </a:solidFill>
                <a:effectLst/>
                <a:latin typeface="-apple-system"/>
              </a:rPr>
              <a:t>) or in G-forces (g). A single G-force for us here on planet Earth is equivalent to 9.8 m/s</a:t>
            </a:r>
            <a:r>
              <a:rPr lang="en-US" b="0" i="0" baseline="30000" dirty="0">
                <a:solidFill>
                  <a:srgbClr val="222222"/>
                </a:solidFill>
                <a:effectLst/>
                <a:latin typeface="-apple-system"/>
              </a:rPr>
              <a:t>2</a:t>
            </a:r>
            <a:r>
              <a:rPr lang="en-US" b="0" i="0" dirty="0">
                <a:solidFill>
                  <a:srgbClr val="222222"/>
                </a:solidFill>
                <a:effectLst/>
                <a:latin typeface="-apple-system"/>
              </a:rPr>
              <a:t>, but this does vary slightly with elevation (and will be a different value on different planets due to variations in gravitational pull). </a:t>
            </a:r>
          </a:p>
          <a:p>
            <a:pPr algn="just"/>
            <a:r>
              <a:rPr lang="en-US" b="0" i="0" dirty="0">
                <a:solidFill>
                  <a:srgbClr val="222222"/>
                </a:solidFill>
                <a:effectLst/>
                <a:latin typeface="-apple-system"/>
              </a:rPr>
              <a:t>Accelerometers are useful for sensing vibrations in systems or for orientation applications.</a:t>
            </a:r>
          </a:p>
          <a:p>
            <a:pPr algn="just"/>
            <a:r>
              <a:rPr lang="en-US" b="0" i="0" dirty="0">
                <a:solidFill>
                  <a:srgbClr val="222222"/>
                </a:solidFill>
                <a:effectLst/>
                <a:latin typeface="-apple-system"/>
              </a:rPr>
              <a:t>Accelerometers can measure acceleration on one, two, or three axes. 3-axis units are becoming more common as the cost of development for them decreases. Generally, accelerometers contain capacitive plates internally. Some of these are fixed, while others are attached to minuscule springs that move internally as acceleration forces act upon the sensor. As these plates move in relation to each other, the capacitance between them changes. From these changes in capacitance, the acceleration can be determined</a:t>
            </a:r>
          </a:p>
          <a:p>
            <a:endParaRPr lang="en-US" dirty="0"/>
          </a:p>
        </p:txBody>
      </p:sp>
    </p:spTree>
    <p:extLst>
      <p:ext uri="{BB962C8B-B14F-4D97-AF65-F5344CB8AC3E}">
        <p14:creationId xmlns:p14="http://schemas.microsoft.com/office/powerpoint/2010/main" val="1314050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D1C8-889E-4521-BAAC-129A0D7EE3C9}"/>
              </a:ext>
            </a:extLst>
          </p:cNvPr>
          <p:cNvSpPr>
            <a:spLocks noGrp="1"/>
          </p:cNvSpPr>
          <p:nvPr>
            <p:ph type="title"/>
          </p:nvPr>
        </p:nvSpPr>
        <p:spPr/>
        <p:txBody>
          <a:bodyPr/>
          <a:lstStyle/>
          <a:p>
            <a:r>
              <a:rPr lang="en-US" b="1" i="0" dirty="0">
                <a:solidFill>
                  <a:srgbClr val="222222"/>
                </a:solidFill>
                <a:effectLst/>
                <a:latin typeface="-apple-system"/>
              </a:rPr>
              <a:t>Accelerometer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B9A107F-BB59-43F7-B4CA-2D8F5576FC7A}"/>
              </a:ext>
            </a:extLst>
          </p:cNvPr>
          <p:cNvSpPr>
            <a:spLocks noGrp="1"/>
          </p:cNvSpPr>
          <p:nvPr>
            <p:ph idx="1"/>
          </p:nvPr>
        </p:nvSpPr>
        <p:spPr>
          <a:xfrm>
            <a:off x="838200" y="1264024"/>
            <a:ext cx="10515600" cy="4912939"/>
          </a:xfrm>
        </p:spPr>
        <p:txBody>
          <a:bodyPr>
            <a:normAutofit/>
          </a:bodyPr>
          <a:lstStyle/>
          <a:p>
            <a:pPr algn="just"/>
            <a:r>
              <a:rPr lang="en-US" b="0" i="0" dirty="0">
                <a:solidFill>
                  <a:srgbClr val="222222"/>
                </a:solidFill>
                <a:effectLst/>
                <a:latin typeface="-apple-system"/>
              </a:rPr>
              <a:t>Accelerometers can measure acceleration on one, two, or three axes. 3-axis units are becoming more common as the cost of development for them decreases. </a:t>
            </a:r>
          </a:p>
          <a:p>
            <a:pPr algn="just"/>
            <a:r>
              <a:rPr lang="en-US" b="0" i="0" dirty="0">
                <a:solidFill>
                  <a:srgbClr val="222222"/>
                </a:solidFill>
                <a:effectLst/>
                <a:latin typeface="-apple-system"/>
              </a:rPr>
              <a:t>Generally, accelerometers contain capacitive plates internally. Some of these are fixed, while others are attached to minuscule springs that move internally as acceleration forces act upon the sensor. </a:t>
            </a:r>
          </a:p>
          <a:p>
            <a:pPr algn="just"/>
            <a:r>
              <a:rPr lang="en-US" b="0" i="0" dirty="0">
                <a:solidFill>
                  <a:srgbClr val="222222"/>
                </a:solidFill>
                <a:effectLst/>
                <a:latin typeface="-apple-system"/>
              </a:rPr>
              <a:t>As these plates move in relation to each other, the capacitance between them changes. From these changes in capacitance, the acceleration can be determined</a:t>
            </a:r>
          </a:p>
          <a:p>
            <a:endParaRPr lang="en-US" dirty="0"/>
          </a:p>
        </p:txBody>
      </p:sp>
    </p:spTree>
    <p:extLst>
      <p:ext uri="{BB962C8B-B14F-4D97-AF65-F5344CB8AC3E}">
        <p14:creationId xmlns:p14="http://schemas.microsoft.com/office/powerpoint/2010/main" val="16110623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0CA0-C3ED-435F-A689-48F58B21E690}"/>
              </a:ext>
            </a:extLst>
          </p:cNvPr>
          <p:cNvSpPr>
            <a:spLocks noGrp="1"/>
          </p:cNvSpPr>
          <p:nvPr>
            <p:ph type="title"/>
          </p:nvPr>
        </p:nvSpPr>
        <p:spPr/>
        <p:txBody>
          <a:bodyPr/>
          <a:lstStyle/>
          <a:p>
            <a:r>
              <a:rPr lang="en-US" b="1" i="0" dirty="0">
                <a:solidFill>
                  <a:srgbClr val="222222"/>
                </a:solidFill>
                <a:effectLst/>
                <a:latin typeface="-apple-system"/>
              </a:rPr>
              <a:t>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8BD8C69-CF24-4931-97D0-9FCAE2D4C162}"/>
              </a:ext>
            </a:extLst>
          </p:cNvPr>
          <p:cNvSpPr>
            <a:spLocks noGrp="1"/>
          </p:cNvSpPr>
          <p:nvPr>
            <p:ph idx="1"/>
          </p:nvPr>
        </p:nvSpPr>
        <p:spPr>
          <a:xfrm>
            <a:off x="838200" y="1272988"/>
            <a:ext cx="10515600" cy="4903975"/>
          </a:xfrm>
        </p:spPr>
        <p:txBody>
          <a:bodyPr>
            <a:normAutofit/>
          </a:bodyPr>
          <a:lstStyle/>
          <a:p>
            <a:pPr algn="just"/>
            <a:r>
              <a:rPr lang="en-US" b="0" i="0" dirty="0">
                <a:solidFill>
                  <a:srgbClr val="222222"/>
                </a:solidFill>
                <a:effectLst/>
                <a:latin typeface="-apple-system"/>
              </a:rPr>
              <a:t>There are different sensors that depend on the infrared light as a working principle for them. </a:t>
            </a:r>
          </a:p>
          <a:p>
            <a:pPr algn="just"/>
            <a:r>
              <a:rPr lang="en-US" b="0" i="0" dirty="0">
                <a:solidFill>
                  <a:srgbClr val="222222"/>
                </a:solidFill>
                <a:effectLst/>
                <a:latin typeface="-apple-system"/>
              </a:rPr>
              <a:t>This includes the photo-interrupter that consists of an IR LED and a photodiode that responds to IR light. </a:t>
            </a:r>
          </a:p>
          <a:p>
            <a:pPr algn="just"/>
            <a:r>
              <a:rPr lang="en-US" b="0" i="0" dirty="0">
                <a:solidFill>
                  <a:srgbClr val="222222"/>
                </a:solidFill>
                <a:effectLst/>
                <a:latin typeface="-apple-system"/>
              </a:rPr>
              <a:t>The most important and common example we see every day is the remote controls for TVs, </a:t>
            </a:r>
            <a:r>
              <a:rPr lang="en-US" b="0" i="0" dirty="0" err="1">
                <a:solidFill>
                  <a:srgbClr val="222222"/>
                </a:solidFill>
                <a:effectLst/>
                <a:latin typeface="-apple-system"/>
              </a:rPr>
              <a:t>Airconditioners</a:t>
            </a:r>
            <a:r>
              <a:rPr lang="en-US" b="0" i="0" dirty="0">
                <a:solidFill>
                  <a:srgbClr val="222222"/>
                </a:solidFill>
                <a:effectLst/>
                <a:latin typeface="-apple-system"/>
              </a:rPr>
              <a:t>, etc. The remote control is typically an IR transmitter LED sending bursts of IR light (data) and the receiver has a photodiode that detects these IR messages and responds correspondingly.</a:t>
            </a:r>
          </a:p>
          <a:p>
            <a:endParaRPr lang="en-US" dirty="0"/>
          </a:p>
        </p:txBody>
      </p:sp>
    </p:spTree>
    <p:extLst>
      <p:ext uri="{BB962C8B-B14F-4D97-AF65-F5344CB8AC3E}">
        <p14:creationId xmlns:p14="http://schemas.microsoft.com/office/powerpoint/2010/main" val="2949357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0CA0-C3ED-435F-A689-48F58B21E690}"/>
              </a:ext>
            </a:extLst>
          </p:cNvPr>
          <p:cNvSpPr>
            <a:spLocks noGrp="1"/>
          </p:cNvSpPr>
          <p:nvPr>
            <p:ph type="title"/>
          </p:nvPr>
        </p:nvSpPr>
        <p:spPr/>
        <p:txBody>
          <a:bodyPr/>
          <a:lstStyle/>
          <a:p>
            <a:r>
              <a:rPr lang="en-US" b="1" i="0" dirty="0">
                <a:solidFill>
                  <a:srgbClr val="222222"/>
                </a:solidFill>
                <a:effectLst/>
                <a:latin typeface="-apple-system"/>
              </a:rPr>
              <a:t>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8BD8C69-CF24-4931-97D0-9FCAE2D4C162}"/>
              </a:ext>
            </a:extLst>
          </p:cNvPr>
          <p:cNvSpPr>
            <a:spLocks noGrp="1"/>
          </p:cNvSpPr>
          <p:nvPr>
            <p:ph idx="1"/>
          </p:nvPr>
        </p:nvSpPr>
        <p:spPr>
          <a:xfrm>
            <a:off x="838200" y="1237129"/>
            <a:ext cx="10515600" cy="4939834"/>
          </a:xfrm>
        </p:spPr>
        <p:txBody>
          <a:bodyPr>
            <a:normAutofit/>
          </a:bodyPr>
          <a:lstStyle/>
          <a:p>
            <a:pPr algn="just"/>
            <a:r>
              <a:rPr lang="en-US" b="0" i="0" dirty="0">
                <a:solidFill>
                  <a:srgbClr val="222222"/>
                </a:solidFill>
                <a:effectLst/>
                <a:latin typeface="-apple-system"/>
              </a:rPr>
              <a:t>An IR LED is a type of diode or simple semiconductor. </a:t>
            </a:r>
          </a:p>
          <a:p>
            <a:pPr algn="just"/>
            <a:r>
              <a:rPr lang="en-US" b="0" i="0" dirty="0">
                <a:solidFill>
                  <a:srgbClr val="222222"/>
                </a:solidFill>
                <a:effectLst/>
                <a:latin typeface="-apple-system"/>
              </a:rPr>
              <a:t>Electric current is allowed to flow in only one direction in diodes. Emitting infrared rays ranging from 700 nm to 1 mm wavelength.</a:t>
            </a:r>
          </a:p>
          <a:p>
            <a:pPr algn="just"/>
            <a:r>
              <a:rPr lang="en-US" b="0" i="0" dirty="0">
                <a:solidFill>
                  <a:srgbClr val="222222"/>
                </a:solidFill>
                <a:effectLst/>
                <a:latin typeface="-apple-system"/>
              </a:rPr>
              <a:t> Different IR LEDs may produce infrared light of differing wavelengths, just like different LEDs produce light of different colors. </a:t>
            </a:r>
          </a:p>
          <a:p>
            <a:pPr algn="just"/>
            <a:r>
              <a:rPr lang="en-US" b="0" i="0" dirty="0">
                <a:solidFill>
                  <a:srgbClr val="222222"/>
                </a:solidFill>
                <a:effectLst/>
                <a:latin typeface="-apple-system"/>
              </a:rPr>
              <a:t>An IR sensor is an electronic device that detects IR radiation falling on it. Proximity sensors (used in touchscreen phones and edge avoiding robots), contrast sensors (used in line following robots) and obstruction counters/sensors (used for counting goods and in burglar alarms) are some applications involving IR sensors.</a:t>
            </a:r>
          </a:p>
          <a:p>
            <a:endParaRPr lang="en-US" dirty="0"/>
          </a:p>
        </p:txBody>
      </p:sp>
    </p:spTree>
    <p:extLst>
      <p:ext uri="{BB962C8B-B14F-4D97-AF65-F5344CB8AC3E}">
        <p14:creationId xmlns:p14="http://schemas.microsoft.com/office/powerpoint/2010/main" val="1537912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72988"/>
            <a:ext cx="10515600" cy="4903975"/>
          </a:xfrm>
        </p:spPr>
        <p:txBody>
          <a:bodyPr/>
          <a:lstStyle/>
          <a:p>
            <a:pPr algn="just"/>
            <a:r>
              <a:rPr lang="en-US" b="0" i="0" dirty="0">
                <a:solidFill>
                  <a:srgbClr val="222222"/>
                </a:solidFill>
                <a:effectLst/>
                <a:latin typeface="-apple-system"/>
              </a:rPr>
              <a:t>A proximity sensor is a sensor able to detect the presence of nearby objects without any physical contact. </a:t>
            </a:r>
          </a:p>
          <a:p>
            <a:pPr algn="just"/>
            <a:r>
              <a:rPr lang="en-US" b="0" i="0" dirty="0">
                <a:solidFill>
                  <a:srgbClr val="222222"/>
                </a:solidFill>
                <a:effectLst/>
                <a:latin typeface="-apple-system"/>
              </a:rPr>
              <a:t>A proximity sensor often emits an electromagnetic field or a beam of electromagnetic radiation (infrared, for instance), and looks for changes in the field or return signal. </a:t>
            </a:r>
          </a:p>
          <a:p>
            <a:pPr algn="just"/>
            <a:r>
              <a:rPr lang="en-US" b="0" i="0" dirty="0">
                <a:solidFill>
                  <a:srgbClr val="222222"/>
                </a:solidFill>
                <a:effectLst/>
                <a:latin typeface="-apple-system"/>
              </a:rPr>
              <a:t>The object being sensed is often referred to as the proximity sensor’s target. Different proximity sensor targets demand different sensors. For example, a capacitive proximity sensor or photoelectric sensor might be suitable for a plastic target; an inductive proximity sensor always requires a metal target.</a:t>
            </a:r>
          </a:p>
          <a:p>
            <a:endParaRPr lang="en-US" dirty="0"/>
          </a:p>
        </p:txBody>
      </p:sp>
    </p:spTree>
    <p:extLst>
      <p:ext uri="{BB962C8B-B14F-4D97-AF65-F5344CB8AC3E}">
        <p14:creationId xmlns:p14="http://schemas.microsoft.com/office/powerpoint/2010/main" val="636500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 Types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10235"/>
            <a:ext cx="10515600" cy="4966728"/>
          </a:xfrm>
        </p:spPr>
        <p:txBody>
          <a:bodyPr>
            <a:normAutofit/>
          </a:bodyPr>
          <a:lstStyle/>
          <a:p>
            <a:pPr algn="l"/>
            <a:r>
              <a:rPr lang="en-US" sz="1800" b="1" i="0" dirty="0">
                <a:solidFill>
                  <a:srgbClr val="FF0000"/>
                </a:solidFill>
                <a:effectLst/>
                <a:latin typeface="-apple-system"/>
              </a:rPr>
              <a:t>Capacitive Proximity Sensing</a:t>
            </a:r>
            <a:endParaRPr lang="en-US" b="0" i="0" dirty="0">
              <a:solidFill>
                <a:srgbClr val="222222"/>
              </a:solidFill>
              <a:effectLst/>
              <a:latin typeface="-apple-system"/>
            </a:endParaRPr>
          </a:p>
          <a:p>
            <a:pPr algn="just"/>
            <a:r>
              <a:rPr lang="en-US" b="0" i="0" dirty="0">
                <a:solidFill>
                  <a:srgbClr val="222222"/>
                </a:solidFill>
                <a:effectLst/>
                <a:latin typeface="-apple-system"/>
              </a:rPr>
              <a:t>Capacitive proximity sensors can detect both metallic and non-metallic targets in powder, granulate, liquid, and solid form. </a:t>
            </a:r>
          </a:p>
          <a:p>
            <a:pPr algn="just"/>
            <a:r>
              <a:rPr lang="en-US" b="0" i="0" dirty="0">
                <a:solidFill>
                  <a:srgbClr val="222222"/>
                </a:solidFill>
                <a:effectLst/>
                <a:latin typeface="-apple-system"/>
              </a:rPr>
              <a:t>This, along with their ability to sense through nonferrous materials, makes them ideal for sight glass monitoring, tank liquid level detection, and hopper powder level recognition.</a:t>
            </a:r>
          </a:p>
          <a:p>
            <a:pPr algn="just"/>
            <a:r>
              <a:rPr lang="en-US" b="0" i="0" dirty="0">
                <a:solidFill>
                  <a:srgbClr val="222222"/>
                </a:solidFill>
                <a:effectLst/>
                <a:latin typeface="-apple-system"/>
              </a:rPr>
              <a:t>In capacitive sensors, the two conductive plates (at different potentials) are housed in the sensing head and positioned to operate as an open capacitor. Air acts as an insulator; at rest, there is little capacitance between the two plates. </a:t>
            </a:r>
            <a:endParaRPr lang="en-US" dirty="0"/>
          </a:p>
        </p:txBody>
      </p:sp>
    </p:spTree>
    <p:extLst>
      <p:ext uri="{BB962C8B-B14F-4D97-AF65-F5344CB8AC3E}">
        <p14:creationId xmlns:p14="http://schemas.microsoft.com/office/powerpoint/2010/main" val="3348451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 Types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10235"/>
            <a:ext cx="10515600" cy="4966728"/>
          </a:xfrm>
        </p:spPr>
        <p:txBody>
          <a:bodyPr>
            <a:normAutofit fontScale="92500"/>
          </a:bodyPr>
          <a:lstStyle/>
          <a:p>
            <a:pPr algn="l"/>
            <a:r>
              <a:rPr lang="en-US" sz="1800" b="1" i="0" dirty="0">
                <a:solidFill>
                  <a:srgbClr val="FF0000"/>
                </a:solidFill>
                <a:effectLst/>
                <a:latin typeface="-apple-system"/>
              </a:rPr>
              <a:t>Inductive Proximity Sensing</a:t>
            </a:r>
            <a:endParaRPr lang="en-US" b="0" i="0" dirty="0">
              <a:solidFill>
                <a:srgbClr val="222222"/>
              </a:solidFill>
              <a:effectLst/>
              <a:latin typeface="-apple-system"/>
            </a:endParaRPr>
          </a:p>
          <a:p>
            <a:pPr algn="just"/>
            <a:r>
              <a:rPr lang="en-US" b="0" i="0" dirty="0">
                <a:solidFill>
                  <a:srgbClr val="222222"/>
                </a:solidFill>
                <a:effectLst/>
                <a:latin typeface="-apple-system"/>
              </a:rPr>
              <a:t>These non-contact proximity sensors detect ferrous targets, ideally mild steel thicker than one millimeter. </a:t>
            </a:r>
          </a:p>
          <a:p>
            <a:pPr algn="just"/>
            <a:r>
              <a:rPr lang="en-US" b="0" i="0" dirty="0">
                <a:solidFill>
                  <a:srgbClr val="222222"/>
                </a:solidFill>
                <a:effectLst/>
                <a:latin typeface="-apple-system"/>
              </a:rPr>
              <a:t>They consist of four major components: a ferrite core with coils, an oscillator, a Schmitt trigger, and an output amplifier. The oscillator creates a symmetrical, oscillating magnetic field that radiates from the ferrite core and coil array at the sensing face. </a:t>
            </a:r>
          </a:p>
          <a:p>
            <a:pPr algn="just"/>
            <a:r>
              <a:rPr lang="en-US" b="0" i="0" dirty="0">
                <a:solidFill>
                  <a:srgbClr val="222222"/>
                </a:solidFill>
                <a:effectLst/>
                <a:latin typeface="-apple-system"/>
              </a:rPr>
              <a:t>When a ferrous target enters this magnetic field, small independent electrical currents called eddy currents are induced on the metal’s surface. </a:t>
            </a:r>
          </a:p>
          <a:p>
            <a:pPr algn="just"/>
            <a:r>
              <a:rPr lang="en-US" b="0" i="0" dirty="0">
                <a:solidFill>
                  <a:srgbClr val="222222"/>
                </a:solidFill>
                <a:effectLst/>
                <a:latin typeface="-apple-system"/>
              </a:rPr>
              <a:t>This changes the reluctance (natural frequency) of the magnetic circuit, which in turn reduces the oscillation amplitude. As more metal enters the sensing field the oscillation amplitude shrinks and eventually collapses.</a:t>
            </a:r>
          </a:p>
          <a:p>
            <a:endParaRPr lang="en-US" dirty="0"/>
          </a:p>
        </p:txBody>
      </p:sp>
    </p:spTree>
    <p:extLst>
      <p:ext uri="{BB962C8B-B14F-4D97-AF65-F5344CB8AC3E}">
        <p14:creationId xmlns:p14="http://schemas.microsoft.com/office/powerpoint/2010/main" val="40995491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43D9D-7EC8-4C9A-AE36-D5709C4CD07A}"/>
              </a:ext>
            </a:extLst>
          </p:cNvPr>
          <p:cNvSpPr>
            <a:spLocks noGrp="1"/>
          </p:cNvSpPr>
          <p:nvPr>
            <p:ph type="title"/>
          </p:nvPr>
        </p:nvSpPr>
        <p:spPr/>
        <p:txBody>
          <a:bodyPr/>
          <a:lstStyle/>
          <a:p>
            <a:r>
              <a:rPr lang="en-US" b="1" i="0" dirty="0">
                <a:solidFill>
                  <a:srgbClr val="222222"/>
                </a:solidFill>
                <a:effectLst/>
                <a:latin typeface="-apple-system"/>
              </a:rPr>
              <a:t>PIR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A87A83A1-5197-4BC0-9D9D-BA7B6B788325}"/>
              </a:ext>
            </a:extLst>
          </p:cNvPr>
          <p:cNvSpPr>
            <a:spLocks noGrp="1"/>
          </p:cNvSpPr>
          <p:nvPr>
            <p:ph idx="1"/>
          </p:nvPr>
        </p:nvSpPr>
        <p:spPr>
          <a:xfrm>
            <a:off x="838200" y="1210235"/>
            <a:ext cx="10515600" cy="4966728"/>
          </a:xfrm>
        </p:spPr>
        <p:txBody>
          <a:bodyPr>
            <a:normAutofit/>
          </a:bodyPr>
          <a:lstStyle/>
          <a:p>
            <a:pPr algn="just"/>
            <a:r>
              <a:rPr lang="en-US" b="0" i="0" dirty="0">
                <a:solidFill>
                  <a:srgbClr val="222222"/>
                </a:solidFill>
                <a:effectLst/>
                <a:latin typeface="-apple-system"/>
              </a:rPr>
              <a:t>A passive infrared sensor (PIR sensor) is an electronic sensor that measures infrared (IR) light radiating from objects in its field of view. They are most often used in PIR-based motion detectors. PIR sensors are commonly used in security alarms and automatic lighting applications. PIR sensors detect general movement but do not give information on who or what moved. For that purpose, an active IR sensor is required.</a:t>
            </a:r>
          </a:p>
          <a:p>
            <a:pPr algn="just"/>
            <a:r>
              <a:rPr lang="en-US" b="0" i="0" dirty="0">
                <a:solidFill>
                  <a:srgbClr val="222222"/>
                </a:solidFill>
                <a:effectLst/>
                <a:latin typeface="-apple-system"/>
              </a:rPr>
              <a:t>PIR sensors are commonly called simply PIR. The term passive refers to the fact that PIR devices do not radiate energy for detection purposes. They work entirely by detecting infrared radiation (radiant heat) emitted by or reflected from objects.</a:t>
            </a:r>
          </a:p>
          <a:p>
            <a:endParaRPr lang="en-US" dirty="0"/>
          </a:p>
        </p:txBody>
      </p:sp>
    </p:spTree>
    <p:extLst>
      <p:ext uri="{BB962C8B-B14F-4D97-AF65-F5344CB8AC3E}">
        <p14:creationId xmlns:p14="http://schemas.microsoft.com/office/powerpoint/2010/main" val="4143103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AE7B-4738-4BA1-A01D-A5CAF72FD7D2}"/>
              </a:ext>
            </a:extLst>
          </p:cNvPr>
          <p:cNvSpPr>
            <a:spLocks noGrp="1"/>
          </p:cNvSpPr>
          <p:nvPr>
            <p:ph type="title"/>
          </p:nvPr>
        </p:nvSpPr>
        <p:spPr/>
        <p:txBody>
          <a:bodyPr/>
          <a:lstStyle/>
          <a:p>
            <a:r>
              <a:rPr lang="en-US" b="1" i="0" dirty="0">
                <a:solidFill>
                  <a:srgbClr val="222222"/>
                </a:solidFill>
                <a:effectLst/>
                <a:latin typeface="-apple-system"/>
              </a:rPr>
              <a:t>Heartbeat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53739BB2-F227-4CAC-935C-452925DF9602}"/>
              </a:ext>
            </a:extLst>
          </p:cNvPr>
          <p:cNvSpPr>
            <a:spLocks noGrp="1"/>
          </p:cNvSpPr>
          <p:nvPr>
            <p:ph idx="1"/>
          </p:nvPr>
        </p:nvSpPr>
        <p:spPr/>
        <p:txBody>
          <a:bodyPr/>
          <a:lstStyle/>
          <a:p>
            <a:pPr algn="just"/>
            <a:r>
              <a:rPr lang="en-US" b="0" i="0" dirty="0">
                <a:solidFill>
                  <a:srgbClr val="222222"/>
                </a:solidFill>
                <a:effectLst/>
                <a:latin typeface="-apple-system"/>
              </a:rPr>
              <a:t>A heartbeat sensor is designed to give a digital output of heat beat when a finger is placed on it. When the heartbeat detector is working, the beat LED flashes in unison with each heartbeat. This digital output can be connected to the microcontroller directly to measure the Beats Per Minute (BPM) rate.</a:t>
            </a:r>
          </a:p>
          <a:p>
            <a:endParaRPr lang="en-US" dirty="0"/>
          </a:p>
        </p:txBody>
      </p:sp>
    </p:spTree>
    <p:extLst>
      <p:ext uri="{BB962C8B-B14F-4D97-AF65-F5344CB8AC3E}">
        <p14:creationId xmlns:p14="http://schemas.microsoft.com/office/powerpoint/2010/main" val="1929577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3572</Words>
  <Application>Microsoft Office PowerPoint</Application>
  <PresentationFormat>Widescreen</PresentationFormat>
  <Paragraphs>197</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-apple-system</vt:lpstr>
      <vt:lpstr>Arial</vt:lpstr>
      <vt:lpstr>Calibri</vt:lpstr>
      <vt:lpstr>Calibri Light</vt:lpstr>
      <vt:lpstr>Office Theme</vt:lpstr>
      <vt:lpstr>Types of Sensors</vt:lpstr>
      <vt:lpstr>Sensors</vt:lpstr>
      <vt:lpstr>Sensors</vt:lpstr>
      <vt:lpstr>Sensors -Types</vt:lpstr>
      <vt:lpstr>    Sensor’s Physical Parameter Classification  </vt:lpstr>
      <vt:lpstr>Applications For Sensors </vt:lpstr>
      <vt:lpstr>Sensors - Parameters</vt:lpstr>
      <vt:lpstr>Sensors - Parameters</vt:lpstr>
      <vt:lpstr>Sensors - Parameters</vt:lpstr>
      <vt:lpstr> Sensors - Parameters </vt:lpstr>
      <vt:lpstr>Types of Sensors</vt:lpstr>
      <vt:lpstr>Types of Sensors</vt:lpstr>
      <vt:lpstr>Temperature Sensors </vt:lpstr>
      <vt:lpstr>Types of Sensors Pressure sensors</vt:lpstr>
      <vt:lpstr>Different Types Of Pressure Sensors</vt:lpstr>
      <vt:lpstr>Different Types Of Pressure Sensors </vt:lpstr>
      <vt:lpstr>Different Types Of Pressure Sensors</vt:lpstr>
      <vt:lpstr>Different Types Of Pressure Sensors</vt:lpstr>
      <vt:lpstr>Chemical Sensors</vt:lpstr>
      <vt:lpstr>Types of Sensors</vt:lpstr>
      <vt:lpstr>PowerPoint Presentation</vt:lpstr>
      <vt:lpstr>PowerPoint Presentation</vt:lpstr>
      <vt:lpstr>Humidity Sensor </vt:lpstr>
      <vt:lpstr>Humidity Sensor </vt:lpstr>
      <vt:lpstr> </vt:lpstr>
      <vt:lpstr>Current Sensors </vt:lpstr>
      <vt:lpstr>Current Sensors </vt:lpstr>
      <vt:lpstr>Vibration Sensor </vt:lpstr>
      <vt:lpstr>Vibration Sensor</vt:lpstr>
      <vt:lpstr>Sound Sensors </vt:lpstr>
      <vt:lpstr>PowerPoint Presentation</vt:lpstr>
      <vt:lpstr>Microphones </vt:lpstr>
      <vt:lpstr>Microphones </vt:lpstr>
      <vt:lpstr>Piezoelectric Elements </vt:lpstr>
      <vt:lpstr>PowerPoint Presentation</vt:lpstr>
      <vt:lpstr>Light Sensor </vt:lpstr>
      <vt:lpstr>Accelerometer Sensor </vt:lpstr>
      <vt:lpstr>Accelerometer Sensor </vt:lpstr>
      <vt:lpstr>IR Sensor </vt:lpstr>
      <vt:lpstr>IR Sensor </vt:lpstr>
      <vt:lpstr>Proximity Sensors </vt:lpstr>
      <vt:lpstr>Proximity Sensors Types </vt:lpstr>
      <vt:lpstr>Proximity Sensors Types </vt:lpstr>
      <vt:lpstr>PIR Sensor </vt:lpstr>
      <vt:lpstr>Heartbeat Sensor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Anusha N</dc:creator>
  <cp:lastModifiedBy>Anusha N</cp:lastModifiedBy>
  <cp:revision>9</cp:revision>
  <dcterms:created xsi:type="dcterms:W3CDTF">2024-04-26T00:32:05Z</dcterms:created>
  <dcterms:modified xsi:type="dcterms:W3CDTF">2025-04-07T03:17:24Z</dcterms:modified>
</cp:coreProperties>
</file>