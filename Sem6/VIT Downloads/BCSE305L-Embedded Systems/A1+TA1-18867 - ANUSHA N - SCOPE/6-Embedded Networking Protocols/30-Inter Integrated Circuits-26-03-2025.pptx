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94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33CC33"/>
    <a:srgbClr val="FFCC66"/>
    <a:srgbClr val="FFCC99"/>
    <a:srgbClr val="3399FF"/>
    <a:srgbClr val="CCCCFF"/>
    <a:srgbClr val="CC00CC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:\paint.GIF">
            <a:extLst>
              <a:ext uri="{FF2B5EF4-FFF2-40B4-BE49-F238E27FC236}">
                <a16:creationId xmlns:a16="http://schemas.microsoft.com/office/drawing/2014/main" id="{CB08061E-0A1A-1207-7F16-41674DD69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439DA-E5FE-10A4-A7FB-CF18A2497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622D7-6E0F-11E8-1C57-AC489227A4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5DD1F-8381-F481-9E45-41BC1358E0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AD178BBC-16A6-4A05-9515-3E8E6F1B76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803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82AF69-BE23-FEF9-3D1D-0C1D701D61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7A8A47-72DD-EE6F-5B55-5666AB3BDB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6B0587-5CBE-B791-746F-700F365799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22EF60-E82A-44A3-810F-300C6B69E5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06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5F7FC2-9B1E-769F-B24C-38FD42C782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8AA3F0-C235-6832-A286-97B53DB869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B6BAC2-8115-3BCE-E6DE-FB7D7D4DD1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50A2F2-3BF1-4AD1-A574-2DEA5D3C5E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65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97F47A-DDFB-DB18-56EE-8ACAAA5BD9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A05BB7-4838-526E-EE35-61F0E2A4F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59978-4969-29CA-477B-4E1308F73B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BCA93F-FA79-45F8-8D98-E606569401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30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8DAD1E2-2009-D1F6-DB78-6A55FEB666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838A63E-75A4-1951-89AA-8B839A61C1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052A780-1E0B-9E41-64AA-F8106B1250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46FB64-7ECF-4397-A5E9-838F175806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79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0DF1785-3CC0-CBDE-C7BD-4492D74393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528821-5BAE-8B47-7BCD-1ABBFE4BC2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F458D4-2A1B-8C4C-C191-1E84FA8B6C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7BD2BF-F733-44C8-9478-6B0536743D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09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D4D4AC8-B478-D4BA-E5DC-458776A466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CA3B072-8110-FE15-F11B-A8862B334F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2A649-0D6B-ECE7-E070-523C2669EC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E5117D-A087-4488-9913-66E78C6FFE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091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FB0F72-3BF6-ABEF-B971-61874ECA5E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60A30-35BF-3D7F-9EEC-51EFFF6C7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006E5E-E7CE-D258-E64C-16537B72DC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7EAE1-AF1C-4667-A881-2E0CAC6723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045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EA9B3-B3A9-C85C-A7C7-35836DD802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AC792-112B-0BEF-0A29-E81D6DBC4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2AD22A-24B5-01F7-3CA1-AAA816819E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C38648-1BED-4D4A-BAD4-BE7A365900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329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AB6DB2-531F-A480-6F3C-80F6DBFFE6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C228B0-E022-7983-D01E-3FAC1CDDA4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2874C4-2740-75DF-20C3-478A40B990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C953C9-3F17-44F0-96F8-15FBAAD477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683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A2CFAE-EC02-EECA-E17D-80F67DB635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D60E21-9B66-F1FA-9EB0-41DAB13B44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C005C5-FF2A-DCEB-B95F-F19B098D9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033804-456E-48CA-B761-73FDD08ABC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631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20A671-32ED-8372-A62E-03C7F54A6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14C7C3-8989-B546-8896-3ECF18817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D59378B-0857-216C-57EE-E1EB8B1A2E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7058CBC8-0582-4F40-674C-E2BA4B8E72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42E984E-57C1-0FDB-DB62-CE336C4557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2EC1415C-68F2-44AF-A559-00EF1EE5EEA9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7" descr="A:\paint.GIF">
            <a:extLst>
              <a:ext uri="{FF2B5EF4-FFF2-40B4-BE49-F238E27FC236}">
                <a16:creationId xmlns:a16="http://schemas.microsoft.com/office/drawing/2014/main" id="{CE8E9A02-3DBF-EE6A-5407-356DA5495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z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y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x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Date Placeholder 3">
            <a:extLst>
              <a:ext uri="{FF2B5EF4-FFF2-40B4-BE49-F238E27FC236}">
                <a16:creationId xmlns:a16="http://schemas.microsoft.com/office/drawing/2014/main" id="{A8787018-7792-A45E-593D-E7035DCA1C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075" name="Footer Placeholder 4">
            <a:extLst>
              <a:ext uri="{FF2B5EF4-FFF2-40B4-BE49-F238E27FC236}">
                <a16:creationId xmlns:a16="http://schemas.microsoft.com/office/drawing/2014/main" id="{F344D1C0-99BE-5B1C-C6B9-BF2DB379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BCE55526-6381-BC06-9D5D-BB6BF4BFB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Networking for Embedded Systems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8FCBE63A-378D-0843-A92A-DD660B76F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Why we use networks.</a:t>
            </a:r>
          </a:p>
          <a:p>
            <a:r>
              <a:rPr lang="en-US" altLang="en-US"/>
              <a:t>Network abstractions.</a:t>
            </a:r>
          </a:p>
          <a:p>
            <a:r>
              <a:rPr lang="en-US" altLang="en-US"/>
              <a:t>Example networks.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>
            <a:extLst>
              <a:ext uri="{FF2B5EF4-FFF2-40B4-BE49-F238E27FC236}">
                <a16:creationId xmlns:a16="http://schemas.microsoft.com/office/drawing/2014/main" id="{6151383A-5600-4917-7119-66E4C95F1C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099" name="Footer Placeholder 4">
            <a:extLst>
              <a:ext uri="{FF2B5EF4-FFF2-40B4-BE49-F238E27FC236}">
                <a16:creationId xmlns:a16="http://schemas.microsoft.com/office/drawing/2014/main" id="{FD2FB512-14E3-75CB-ACF7-B5C3B1A1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807E9AB3-5435-F907-252F-99CE15563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elements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A7489A2C-62D0-DDB2-7606-B35AA43C7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514600"/>
            <a:ext cx="9906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</a:t>
            </a:r>
          </a:p>
        </p:txBody>
      </p:sp>
      <p:sp>
        <p:nvSpPr>
          <p:cNvPr id="4102" name="Rectangle 5">
            <a:extLst>
              <a:ext uri="{FF2B5EF4-FFF2-40B4-BE49-F238E27FC236}">
                <a16:creationId xmlns:a16="http://schemas.microsoft.com/office/drawing/2014/main" id="{969DE921-81C1-443B-73D5-AE3521BE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971800"/>
            <a:ext cx="60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</a:t>
            </a:r>
          </a:p>
        </p:txBody>
      </p:sp>
      <p:sp>
        <p:nvSpPr>
          <p:cNvPr id="4103" name="Rectangle 6">
            <a:extLst>
              <a:ext uri="{FF2B5EF4-FFF2-40B4-BE49-F238E27FC236}">
                <a16:creationId xmlns:a16="http://schemas.microsoft.com/office/drawing/2014/main" id="{11F64C8B-24E2-2468-8736-39682E60C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953000"/>
            <a:ext cx="12192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8999FD4C-CBE7-411B-D0FB-0190FB982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267200"/>
            <a:ext cx="1600200" cy="8382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network</a:t>
            </a:r>
          </a:p>
        </p:txBody>
      </p:sp>
      <p:sp>
        <p:nvSpPr>
          <p:cNvPr id="4105" name="Line 9">
            <a:extLst>
              <a:ext uri="{FF2B5EF4-FFF2-40B4-BE49-F238E27FC236}">
                <a16:creationId xmlns:a16="http://schemas.microsoft.com/office/drawing/2014/main" id="{A86FDEB4-2AD7-EE04-375F-7F32DD145A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09800" y="34290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Line 10">
            <a:extLst>
              <a:ext uri="{FF2B5EF4-FFF2-40B4-BE49-F238E27FC236}">
                <a16:creationId xmlns:a16="http://schemas.microsoft.com/office/drawing/2014/main" id="{B7617528-C31D-AC25-E51F-AA728ABBDB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35814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Line 11">
            <a:extLst>
              <a:ext uri="{FF2B5EF4-FFF2-40B4-BE49-F238E27FC236}">
                <a16:creationId xmlns:a16="http://schemas.microsoft.com/office/drawing/2014/main" id="{93EAB80C-4A68-6D7D-21AA-93A25ABCA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105400"/>
            <a:ext cx="2667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Text Box 12">
            <a:extLst>
              <a:ext uri="{FF2B5EF4-FFF2-40B4-BE49-F238E27FC236}">
                <a16:creationId xmlns:a16="http://schemas.microsoft.com/office/drawing/2014/main" id="{5E4CC9EA-216E-8B9A-BCE9-D4C832EDC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3927475"/>
            <a:ext cx="262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communication link</a:t>
            </a:r>
          </a:p>
        </p:txBody>
      </p:sp>
      <p:sp>
        <p:nvSpPr>
          <p:cNvPr id="4109" name="Line 13">
            <a:extLst>
              <a:ext uri="{FF2B5EF4-FFF2-40B4-BE49-F238E27FC236}">
                <a16:creationId xmlns:a16="http://schemas.microsoft.com/office/drawing/2014/main" id="{338757C0-A3F9-55BC-15FA-721CA5EE58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3886200"/>
            <a:ext cx="685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4">
            <a:extLst>
              <a:ext uri="{FF2B5EF4-FFF2-40B4-BE49-F238E27FC236}">
                <a16:creationId xmlns:a16="http://schemas.microsoft.com/office/drawing/2014/main" id="{FA756CF3-A8C1-527D-A536-A64E130D64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3434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">
            <a:extLst>
              <a:ext uri="{FF2B5EF4-FFF2-40B4-BE49-F238E27FC236}">
                <a16:creationId xmlns:a16="http://schemas.microsoft.com/office/drawing/2014/main" id="{EBF5B281-3EBD-C5A0-83C3-537F668201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9400" y="4038600"/>
            <a:ext cx="2514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6">
            <a:extLst>
              <a:ext uri="{FF2B5EF4-FFF2-40B4-BE49-F238E27FC236}">
                <a16:creationId xmlns:a16="http://schemas.microsoft.com/office/drawing/2014/main" id="{1B0BF289-8A30-81EC-98D7-10B15B034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905000"/>
            <a:ext cx="4071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distributed computing platform:</a:t>
            </a:r>
          </a:p>
        </p:txBody>
      </p:sp>
      <p:sp>
        <p:nvSpPr>
          <p:cNvPr id="5137" name="Text Box 17">
            <a:extLst>
              <a:ext uri="{FF2B5EF4-FFF2-40B4-BE49-F238E27FC236}">
                <a16:creationId xmlns:a16="http://schemas.microsoft.com/office/drawing/2014/main" id="{5984F2FE-7942-6C8B-EF27-2BF665C6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5638800"/>
            <a:ext cx="370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PEs may be CPUs or ASICs.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>
            <a:extLst>
              <a:ext uri="{FF2B5EF4-FFF2-40B4-BE49-F238E27FC236}">
                <a16:creationId xmlns:a16="http://schemas.microsoft.com/office/drawing/2014/main" id="{FC269221-6FA3-E8AB-84BF-0490B35E97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123" name="Footer Placeholder 4">
            <a:extLst>
              <a:ext uri="{FF2B5EF4-FFF2-40B4-BE49-F238E27FC236}">
                <a16:creationId xmlns:a16="http://schemas.microsoft.com/office/drawing/2014/main" id="{D2A1F25F-154D-234D-A251-9995AE39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49226F9D-9699-7CF6-27CA-05DD1B014E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Networks in embedded systems</a:t>
            </a: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DE5C6B5E-B340-AC78-1DD7-79984079C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76600"/>
            <a:ext cx="12954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</a:t>
            </a: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1E9B2CD3-A765-C2C9-090B-7E4924B9D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200400"/>
            <a:ext cx="60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</a:t>
            </a:r>
          </a:p>
        </p:txBody>
      </p:sp>
      <p:sp>
        <p:nvSpPr>
          <p:cNvPr id="5127" name="Line 6">
            <a:extLst>
              <a:ext uri="{FF2B5EF4-FFF2-40B4-BE49-F238E27FC236}">
                <a16:creationId xmlns:a16="http://schemas.microsoft.com/office/drawing/2014/main" id="{91C0E0E0-5B82-BD8D-1213-D51A85712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667000"/>
            <a:ext cx="0" cy="297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Line 7">
            <a:extLst>
              <a:ext uri="{FF2B5EF4-FFF2-40B4-BE49-F238E27FC236}">
                <a16:creationId xmlns:a16="http://schemas.microsoft.com/office/drawing/2014/main" id="{D966156F-5DE0-52BF-15E3-00D70EFAF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810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Line 8">
            <a:extLst>
              <a:ext uri="{FF2B5EF4-FFF2-40B4-BE49-F238E27FC236}">
                <a16:creationId xmlns:a16="http://schemas.microsoft.com/office/drawing/2014/main" id="{8B33784D-CD8F-9C1D-ED63-CB69F0BCB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5052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Rectangle 9">
            <a:extLst>
              <a:ext uri="{FF2B5EF4-FFF2-40B4-BE49-F238E27FC236}">
                <a16:creationId xmlns:a16="http://schemas.microsoft.com/office/drawing/2014/main" id="{06F420B7-D612-196D-3C0F-7CF68940E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0400"/>
            <a:ext cx="12192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sensor</a:t>
            </a:r>
          </a:p>
        </p:txBody>
      </p:sp>
      <p:sp>
        <p:nvSpPr>
          <p:cNvPr id="5131" name="Line 10">
            <a:extLst>
              <a:ext uri="{FF2B5EF4-FFF2-40B4-BE49-F238E27FC236}">
                <a16:creationId xmlns:a16="http://schemas.microsoft.com/office/drawing/2014/main" id="{667CC30E-6F37-7A88-4038-BF29C66C7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505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Rectangle 11">
            <a:extLst>
              <a:ext uri="{FF2B5EF4-FFF2-40B4-BE49-F238E27FC236}">
                <a16:creationId xmlns:a16="http://schemas.microsoft.com/office/drawing/2014/main" id="{848EB30E-03A1-6E1C-091A-3B8F25ACD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648200"/>
            <a:ext cx="609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</a:t>
            </a:r>
          </a:p>
        </p:txBody>
      </p:sp>
      <p:sp>
        <p:nvSpPr>
          <p:cNvPr id="5133" name="Line 12">
            <a:extLst>
              <a:ext uri="{FF2B5EF4-FFF2-40B4-BE49-F238E27FC236}">
                <a16:creationId xmlns:a16="http://schemas.microsoft.com/office/drawing/2014/main" id="{50F03FC2-2695-7896-DAAA-1621CD62F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953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4" name="Rectangle 13">
            <a:extLst>
              <a:ext uri="{FF2B5EF4-FFF2-40B4-BE49-F238E27FC236}">
                <a16:creationId xmlns:a16="http://schemas.microsoft.com/office/drawing/2014/main" id="{47BF2C3D-0B81-A61A-9028-584EBE321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648200"/>
            <a:ext cx="12192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actuator</a:t>
            </a:r>
          </a:p>
        </p:txBody>
      </p:sp>
      <p:sp>
        <p:nvSpPr>
          <p:cNvPr id="5135" name="Line 14">
            <a:extLst>
              <a:ext uri="{FF2B5EF4-FFF2-40B4-BE49-F238E27FC236}">
                <a16:creationId xmlns:a16="http://schemas.microsoft.com/office/drawing/2014/main" id="{98069625-96D2-C3A0-FEBD-E6EEC1BBA8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953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BF9B882C-4808-5044-5CC8-66A1DCEC39BF}"/>
              </a:ext>
            </a:extLst>
          </p:cNvPr>
          <p:cNvGrpSpPr>
            <a:grpSpLocks/>
          </p:cNvGrpSpPr>
          <p:nvPr/>
        </p:nvGrpSpPr>
        <p:grpSpPr bwMode="auto">
          <a:xfrm>
            <a:off x="5775325" y="2251075"/>
            <a:ext cx="2271713" cy="644525"/>
            <a:chOff x="3734" y="1178"/>
            <a:chExt cx="1431" cy="406"/>
          </a:xfrm>
        </p:grpSpPr>
        <p:sp>
          <p:nvSpPr>
            <p:cNvPr id="5140" name="Line 15">
              <a:extLst>
                <a:ext uri="{FF2B5EF4-FFF2-40B4-BE49-F238E27FC236}">
                  <a16:creationId xmlns:a16="http://schemas.microsoft.com/office/drawing/2014/main" id="{861147AC-E6FF-4FDB-FF01-F83DC46737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158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Text Box 16">
              <a:extLst>
                <a:ext uri="{FF2B5EF4-FFF2-40B4-BE49-F238E27FC236}">
                  <a16:creationId xmlns:a16="http://schemas.microsoft.com/office/drawing/2014/main" id="{BF3443BA-CCDA-B27D-059D-D788B6729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4" y="1178"/>
              <a:ext cx="14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initial processing</a:t>
              </a:r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6821085B-3AFB-B52C-9EB9-3E6F885D76CC}"/>
              </a:ext>
            </a:extLst>
          </p:cNvPr>
          <p:cNvGrpSpPr>
            <a:grpSpLocks/>
          </p:cNvGrpSpPr>
          <p:nvPr/>
        </p:nvGrpSpPr>
        <p:grpSpPr bwMode="auto">
          <a:xfrm>
            <a:off x="2346325" y="2708275"/>
            <a:ext cx="2189163" cy="873125"/>
            <a:chOff x="1574" y="1466"/>
            <a:chExt cx="1379" cy="550"/>
          </a:xfrm>
        </p:grpSpPr>
        <p:sp>
          <p:nvSpPr>
            <p:cNvPr id="5138" name="Line 18">
              <a:extLst>
                <a:ext uri="{FF2B5EF4-FFF2-40B4-BE49-F238E27FC236}">
                  <a16:creationId xmlns:a16="http://schemas.microsoft.com/office/drawing/2014/main" id="{CD037E1A-3C1D-7178-F390-CB1B1FAB76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1728"/>
              <a:ext cx="12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Text Box 19">
              <a:extLst>
                <a:ext uri="{FF2B5EF4-FFF2-40B4-BE49-F238E27FC236}">
                  <a16:creationId xmlns:a16="http://schemas.microsoft.com/office/drawing/2014/main" id="{FD8695E1-5F19-4205-A288-27B5E8DDD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1466"/>
              <a:ext cx="13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more processing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AB4F53CA-03EB-8321-7325-CE5BB88475E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849BECF6-CD3A-9FA9-EC87-AC8D5A55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592E94B-7D02-2C26-A26D-9464C4FD2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distributed?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38B46B6A-1FB0-66D5-7823-0E82819FF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Higher performance at lower cost.</a:t>
            </a:r>
          </a:p>
          <a:p>
            <a:r>
              <a:rPr lang="en-US" altLang="en-US"/>
              <a:t>Physically distributed activities---time constants may not allow transmission to central site.</a:t>
            </a:r>
          </a:p>
          <a:p>
            <a:r>
              <a:rPr lang="en-US" altLang="en-US"/>
              <a:t>Improved debugging---use one CPU in network to debug others.</a:t>
            </a:r>
          </a:p>
          <a:p>
            <a:r>
              <a:rPr lang="en-US" altLang="en-US"/>
              <a:t>May buy subsystems that have embedded processors.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E93044C8-3836-0165-370B-576F17F5B4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C402842B-6C7D-58A4-0CE4-C5D74614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DD8E3FE9-6D8D-3FB8-7BA6-18FE7102C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abstractions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8837D5AD-C0CD-1351-3825-01F7BC71B1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International Standards Organization (ISO) developed the </a:t>
            </a:r>
            <a:r>
              <a:rPr lang="en-US" altLang="en-US">
                <a:solidFill>
                  <a:srgbClr val="FF3300"/>
                </a:solidFill>
              </a:rPr>
              <a:t>Open Systems Interconnection</a:t>
            </a:r>
            <a:r>
              <a:rPr lang="en-US" altLang="en-US"/>
              <a:t> (</a:t>
            </a:r>
            <a:r>
              <a:rPr lang="en-US" altLang="en-US">
                <a:solidFill>
                  <a:srgbClr val="FF3300"/>
                </a:solidFill>
              </a:rPr>
              <a:t>OSI</a:t>
            </a:r>
            <a:r>
              <a:rPr lang="en-US" altLang="en-US"/>
              <a:t>) model to describe networks:</a:t>
            </a:r>
          </a:p>
          <a:p>
            <a:pPr lvl="1"/>
            <a:r>
              <a:rPr lang="en-US" altLang="en-US"/>
              <a:t>7-layer model.</a:t>
            </a:r>
          </a:p>
          <a:p>
            <a:r>
              <a:rPr lang="en-US" altLang="en-US"/>
              <a:t>Provides a standard way to classify network components and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>
            <a:extLst>
              <a:ext uri="{FF2B5EF4-FFF2-40B4-BE49-F238E27FC236}">
                <a16:creationId xmlns:a16="http://schemas.microsoft.com/office/drawing/2014/main" id="{A7E8A637-DC67-A538-45B3-7AD667A96C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195" name="Footer Placeholder 4">
            <a:extLst>
              <a:ext uri="{FF2B5EF4-FFF2-40B4-BE49-F238E27FC236}">
                <a16:creationId xmlns:a16="http://schemas.microsoft.com/office/drawing/2014/main" id="{7F46FC84-176B-E90A-B3D5-42EFC8A2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48B2FA58-5043-6C80-527A-77E9A7DA5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OSI model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59C08756-F3DC-393A-18DB-D53C7F8C0694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5257800"/>
            <a:ext cx="6186488" cy="533400"/>
            <a:chOff x="1440" y="3312"/>
            <a:chExt cx="3897" cy="336"/>
          </a:xfrm>
        </p:grpSpPr>
        <p:sp>
          <p:nvSpPr>
            <p:cNvPr id="8216" name="Rectangle 4">
              <a:extLst>
                <a:ext uri="{FF2B5EF4-FFF2-40B4-BE49-F238E27FC236}">
                  <a16:creationId xmlns:a16="http://schemas.microsoft.com/office/drawing/2014/main" id="{0F24CA67-2F98-EC4E-7755-4F378E7A4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312"/>
              <a:ext cx="206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physical</a:t>
              </a:r>
              <a:endParaRPr lang="en-US" altLang="en-US"/>
            </a:p>
          </p:txBody>
        </p:sp>
        <p:sp>
          <p:nvSpPr>
            <p:cNvPr id="8217" name="Text Box 11">
              <a:extLst>
                <a:ext uri="{FF2B5EF4-FFF2-40B4-BE49-F238E27FC236}">
                  <a16:creationId xmlns:a16="http://schemas.microsoft.com/office/drawing/2014/main" id="{FABF5FDE-5436-D43D-B873-227AFB9EB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360"/>
              <a:ext cx="17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mechanical, electrical</a:t>
              </a:r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7B0CAFC2-CF9C-506C-7BFE-366B8DE65689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724400"/>
            <a:ext cx="6189663" cy="533400"/>
            <a:chOff x="1440" y="2976"/>
            <a:chExt cx="3899" cy="336"/>
          </a:xfrm>
        </p:grpSpPr>
        <p:sp>
          <p:nvSpPr>
            <p:cNvPr id="8214" name="Rectangle 5">
              <a:extLst>
                <a:ext uri="{FF2B5EF4-FFF2-40B4-BE49-F238E27FC236}">
                  <a16:creationId xmlns:a16="http://schemas.microsoft.com/office/drawing/2014/main" id="{7EA05E9B-5D29-05B2-32C3-12A97AC17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976"/>
              <a:ext cx="2064" cy="336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data link</a:t>
              </a:r>
            </a:p>
          </p:txBody>
        </p:sp>
        <p:sp>
          <p:nvSpPr>
            <p:cNvPr id="8215" name="Text Box 12">
              <a:extLst>
                <a:ext uri="{FF2B5EF4-FFF2-40B4-BE49-F238E27FC236}">
                  <a16:creationId xmlns:a16="http://schemas.microsoft.com/office/drawing/2014/main" id="{77BAD870-A8D4-5785-0619-5EC6C054B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976"/>
              <a:ext cx="17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reliable data transport</a:t>
              </a:r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269A64F0-8BA6-1C09-B35B-4AAAF9FFE42A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191000"/>
            <a:ext cx="5794375" cy="533400"/>
            <a:chOff x="1440" y="2640"/>
            <a:chExt cx="3650" cy="336"/>
          </a:xfrm>
        </p:grpSpPr>
        <p:sp>
          <p:nvSpPr>
            <p:cNvPr id="8212" name="Rectangle 6">
              <a:extLst>
                <a:ext uri="{FF2B5EF4-FFF2-40B4-BE49-F238E27FC236}">
                  <a16:creationId xmlns:a16="http://schemas.microsoft.com/office/drawing/2014/main" id="{776EE2FB-5CFB-57E2-1EA9-912ABC5EB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0"/>
              <a:ext cx="2064" cy="336"/>
            </a:xfrm>
            <a:prstGeom prst="rect">
              <a:avLst/>
            </a:prstGeom>
            <a:solidFill>
              <a:srgbClr val="FF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network</a:t>
              </a:r>
              <a:endParaRPr lang="en-US" altLang="en-US"/>
            </a:p>
          </p:txBody>
        </p:sp>
        <p:sp>
          <p:nvSpPr>
            <p:cNvPr id="8213" name="Text Box 13">
              <a:extLst>
                <a:ext uri="{FF2B5EF4-FFF2-40B4-BE49-F238E27FC236}">
                  <a16:creationId xmlns:a16="http://schemas.microsoft.com/office/drawing/2014/main" id="{2DE7F189-4D41-3965-0CBF-C210706A7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640"/>
              <a:ext cx="15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end-to-end service</a:t>
              </a:r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900622D1-74EC-D178-2543-E03CEECAA96F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657600"/>
            <a:ext cx="4991100" cy="533400"/>
            <a:chOff x="1440" y="2304"/>
            <a:chExt cx="3144" cy="336"/>
          </a:xfrm>
        </p:grpSpPr>
        <p:sp>
          <p:nvSpPr>
            <p:cNvPr id="8210" name="Rectangle 7">
              <a:extLst>
                <a:ext uri="{FF2B5EF4-FFF2-40B4-BE49-F238E27FC236}">
                  <a16:creationId xmlns:a16="http://schemas.microsoft.com/office/drawing/2014/main" id="{521A12A3-CBC0-36F4-4E1D-371400E23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304"/>
              <a:ext cx="2064" cy="336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transport</a:t>
              </a:r>
              <a:endParaRPr lang="en-US" altLang="en-US"/>
            </a:p>
          </p:txBody>
        </p:sp>
        <p:sp>
          <p:nvSpPr>
            <p:cNvPr id="8211" name="Text Box 14">
              <a:extLst>
                <a:ext uri="{FF2B5EF4-FFF2-40B4-BE49-F238E27FC236}">
                  <a16:creationId xmlns:a16="http://schemas.microsoft.com/office/drawing/2014/main" id="{EDEB548F-03C5-E4C4-94D3-226BD2704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304"/>
              <a:ext cx="10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connections</a:t>
              </a:r>
            </a:p>
          </p:txBody>
        </p:sp>
      </p:grpSp>
      <p:grpSp>
        <p:nvGrpSpPr>
          <p:cNvPr id="6" name="Group 23">
            <a:extLst>
              <a:ext uri="{FF2B5EF4-FFF2-40B4-BE49-F238E27FC236}">
                <a16:creationId xmlns:a16="http://schemas.microsoft.com/office/drawing/2014/main" id="{89749D6E-1BA2-20A9-54ED-7598B7181C8E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590800"/>
            <a:ext cx="4930775" cy="533400"/>
            <a:chOff x="1440" y="1632"/>
            <a:chExt cx="3106" cy="336"/>
          </a:xfrm>
        </p:grpSpPr>
        <p:sp>
          <p:nvSpPr>
            <p:cNvPr id="8208" name="Rectangle 9">
              <a:extLst>
                <a:ext uri="{FF2B5EF4-FFF2-40B4-BE49-F238E27FC236}">
                  <a16:creationId xmlns:a16="http://schemas.microsoft.com/office/drawing/2014/main" id="{5A1F44E1-B469-0ECF-579F-A85638FE6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632"/>
              <a:ext cx="2064" cy="336"/>
            </a:xfrm>
            <a:prstGeom prst="rect">
              <a:avLst/>
            </a:prstGeom>
            <a:solidFill>
              <a:srgbClr val="99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presentation</a:t>
              </a:r>
            </a:p>
          </p:txBody>
        </p:sp>
        <p:sp>
          <p:nvSpPr>
            <p:cNvPr id="8209" name="Text Box 15">
              <a:extLst>
                <a:ext uri="{FF2B5EF4-FFF2-40B4-BE49-F238E27FC236}">
                  <a16:creationId xmlns:a16="http://schemas.microsoft.com/office/drawing/2014/main" id="{74DD151A-9A94-2B95-C854-2667DC171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632"/>
              <a:ext cx="9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data format</a:t>
              </a:r>
            </a:p>
          </p:txBody>
        </p:sp>
      </p:grpSp>
      <p:grpSp>
        <p:nvGrpSpPr>
          <p:cNvPr id="7" name="Group 22">
            <a:extLst>
              <a:ext uri="{FF2B5EF4-FFF2-40B4-BE49-F238E27FC236}">
                <a16:creationId xmlns:a16="http://schemas.microsoft.com/office/drawing/2014/main" id="{E5D3BF60-AE72-C3E6-FCB3-E8CA285C931A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124200"/>
            <a:ext cx="6662738" cy="533400"/>
            <a:chOff x="1440" y="1968"/>
            <a:chExt cx="4197" cy="336"/>
          </a:xfrm>
        </p:grpSpPr>
        <p:sp>
          <p:nvSpPr>
            <p:cNvPr id="8206" name="Rectangle 8">
              <a:extLst>
                <a:ext uri="{FF2B5EF4-FFF2-40B4-BE49-F238E27FC236}">
                  <a16:creationId xmlns:a16="http://schemas.microsoft.com/office/drawing/2014/main" id="{014C858B-1EE0-CEB4-0B05-558AF46E8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968"/>
              <a:ext cx="2064" cy="336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session</a:t>
              </a:r>
              <a:endParaRPr lang="en-US" altLang="en-US"/>
            </a:p>
          </p:txBody>
        </p:sp>
        <p:sp>
          <p:nvSpPr>
            <p:cNvPr id="8207" name="Text Box 16">
              <a:extLst>
                <a:ext uri="{FF2B5EF4-FFF2-40B4-BE49-F238E27FC236}">
                  <a16:creationId xmlns:a16="http://schemas.microsoft.com/office/drawing/2014/main" id="{238FF4C6-0F1C-8D92-D837-DF9220B97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016"/>
              <a:ext cx="20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application dialog control</a:t>
              </a:r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78C1E6AE-A9AD-03DA-ACD1-C991797E99E0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057400"/>
            <a:ext cx="5624513" cy="533400"/>
            <a:chOff x="1440" y="1296"/>
            <a:chExt cx="3543" cy="336"/>
          </a:xfrm>
        </p:grpSpPr>
        <p:sp>
          <p:nvSpPr>
            <p:cNvPr id="8204" name="Rectangle 10">
              <a:extLst>
                <a:ext uri="{FF2B5EF4-FFF2-40B4-BE49-F238E27FC236}">
                  <a16:creationId xmlns:a16="http://schemas.microsoft.com/office/drawing/2014/main" id="{B4581A94-B230-720E-8FD2-78DF9CFAB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296"/>
              <a:ext cx="2064" cy="336"/>
            </a:xfrm>
            <a:prstGeom prst="rect">
              <a:avLst/>
            </a:prstGeom>
            <a:solidFill>
              <a:srgbClr val="66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application</a:t>
              </a:r>
            </a:p>
          </p:txBody>
        </p:sp>
        <p:sp>
          <p:nvSpPr>
            <p:cNvPr id="8205" name="Text Box 17">
              <a:extLst>
                <a:ext uri="{FF2B5EF4-FFF2-40B4-BE49-F238E27FC236}">
                  <a16:creationId xmlns:a16="http://schemas.microsoft.com/office/drawing/2014/main" id="{7B44BC25-2D58-C788-D748-8D337C2FD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296"/>
              <a:ext cx="14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end-use interface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>
            <a:extLst>
              <a:ext uri="{FF2B5EF4-FFF2-40B4-BE49-F238E27FC236}">
                <a16:creationId xmlns:a16="http://schemas.microsoft.com/office/drawing/2014/main" id="{FDF1D717-1229-5C04-07C5-FC562DE3258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9219" name="Footer Placeholder 4">
            <a:extLst>
              <a:ext uri="{FF2B5EF4-FFF2-40B4-BE49-F238E27FC236}">
                <a16:creationId xmlns:a16="http://schemas.microsoft.com/office/drawing/2014/main" id="{349352A2-EEBC-6664-5E52-E2CDB6F9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303F72D-E911-8439-770A-F53A60E8B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OSI layers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D3609CE3-321C-F50C-C00F-96E93A91C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3300"/>
                </a:solidFill>
              </a:rPr>
              <a:t>Physical</a:t>
            </a:r>
            <a:r>
              <a:rPr lang="en-US" altLang="en-US"/>
              <a:t>: connectors, bit formats, etc.</a:t>
            </a:r>
          </a:p>
          <a:p>
            <a:r>
              <a:rPr lang="en-US" altLang="en-US">
                <a:solidFill>
                  <a:srgbClr val="FF3300"/>
                </a:solidFill>
              </a:rPr>
              <a:t>Data link</a:t>
            </a:r>
            <a:r>
              <a:rPr lang="en-US" altLang="en-US"/>
              <a:t>: error detection and control across a single link (single hop).</a:t>
            </a:r>
          </a:p>
          <a:p>
            <a:r>
              <a:rPr lang="en-US" altLang="en-US">
                <a:solidFill>
                  <a:srgbClr val="FF3300"/>
                </a:solidFill>
              </a:rPr>
              <a:t>Network</a:t>
            </a:r>
            <a:r>
              <a:rPr lang="en-US" altLang="en-US"/>
              <a:t>: end-to-end multi-hop data communication.</a:t>
            </a:r>
          </a:p>
          <a:p>
            <a:r>
              <a:rPr lang="en-US" altLang="en-US">
                <a:solidFill>
                  <a:srgbClr val="FF3300"/>
                </a:solidFill>
              </a:rPr>
              <a:t>Transport</a:t>
            </a:r>
            <a:r>
              <a:rPr lang="en-US" altLang="en-US"/>
              <a:t>: provides connections; may optimize network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>
            <a:extLst>
              <a:ext uri="{FF2B5EF4-FFF2-40B4-BE49-F238E27FC236}">
                <a16:creationId xmlns:a16="http://schemas.microsoft.com/office/drawing/2014/main" id="{8DAB6D37-2615-0D35-9683-2E2C346350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0243" name="Footer Placeholder 4">
            <a:extLst>
              <a:ext uri="{FF2B5EF4-FFF2-40B4-BE49-F238E27FC236}">
                <a16:creationId xmlns:a16="http://schemas.microsoft.com/office/drawing/2014/main" id="{C698E3FA-14BD-A92B-C7ED-565CA343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82D751A9-95D9-F034-29A3-115F6744B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OSI layers, cont’d.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746E7C39-658F-E212-0BAE-AAD126874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3300"/>
                </a:solidFill>
              </a:rPr>
              <a:t>Session</a:t>
            </a:r>
            <a:r>
              <a:rPr lang="en-US" altLang="en-US"/>
              <a:t>: services for end-user applications: data grouping, checkpointing, etc.</a:t>
            </a:r>
          </a:p>
          <a:p>
            <a:r>
              <a:rPr lang="en-US" altLang="en-US">
                <a:solidFill>
                  <a:srgbClr val="FF3300"/>
                </a:solidFill>
              </a:rPr>
              <a:t>Presentation</a:t>
            </a:r>
            <a:r>
              <a:rPr lang="en-US" altLang="en-US"/>
              <a:t>: data formats, transformation services.</a:t>
            </a:r>
          </a:p>
          <a:p>
            <a:r>
              <a:rPr lang="en-US" altLang="en-US">
                <a:solidFill>
                  <a:srgbClr val="FF3300"/>
                </a:solidFill>
              </a:rPr>
              <a:t>Application</a:t>
            </a:r>
            <a:r>
              <a:rPr lang="en-US" altLang="en-US"/>
              <a:t>: interface between network and end-user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>
            <a:extLst>
              <a:ext uri="{FF2B5EF4-FFF2-40B4-BE49-F238E27FC236}">
                <a16:creationId xmlns:a16="http://schemas.microsoft.com/office/drawing/2014/main" id="{7344D496-F541-C1B9-C8EB-8FC4B05B336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1267" name="Footer Placeholder 4">
            <a:extLst>
              <a:ext uri="{FF2B5EF4-FFF2-40B4-BE49-F238E27FC236}">
                <a16:creationId xmlns:a16="http://schemas.microsoft.com/office/drawing/2014/main" id="{9F6B8666-D3E0-846F-7D3E-C9FABBE3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83C91EC7-4327-C39D-1CDA-4C17761EE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Hardware architectures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CFA28708-429E-746A-6468-0EABBA90E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Many different types of networks:</a:t>
            </a:r>
          </a:p>
          <a:p>
            <a:pPr lvl="1"/>
            <a:r>
              <a:rPr lang="en-US" altLang="en-US"/>
              <a:t>topology;</a:t>
            </a:r>
          </a:p>
          <a:p>
            <a:pPr lvl="1"/>
            <a:r>
              <a:rPr lang="en-US" altLang="en-US"/>
              <a:t>scheduling of communication;</a:t>
            </a:r>
          </a:p>
          <a:p>
            <a:pPr lvl="1"/>
            <a:r>
              <a:rPr lang="en-US" altLang="en-US"/>
              <a:t>routing.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>
            <a:extLst>
              <a:ext uri="{FF2B5EF4-FFF2-40B4-BE49-F238E27FC236}">
                <a16:creationId xmlns:a16="http://schemas.microsoft.com/office/drawing/2014/main" id="{43D2AD80-F2F8-77E9-7546-A845ACA46AE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2291" name="Footer Placeholder 4">
            <a:extLst>
              <a:ext uri="{FF2B5EF4-FFF2-40B4-BE49-F238E27FC236}">
                <a16:creationId xmlns:a16="http://schemas.microsoft.com/office/drawing/2014/main" id="{D6528CE4-998A-1E22-E4E4-69857895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D88A1FB8-3EBA-FFBE-9F38-B17FBA13C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Point-to-point networks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FA376646-5B5A-1E0C-E2F5-31FC0DE72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One source, one or more destinations, no data switching (serial port):</a:t>
            </a: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554A31AE-0BD6-BAA0-4BD8-CAE9AA21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581400"/>
            <a:ext cx="12954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 1</a:t>
            </a:r>
          </a:p>
        </p:txBody>
      </p:sp>
      <p:sp>
        <p:nvSpPr>
          <p:cNvPr id="12295" name="Rectangle 5">
            <a:extLst>
              <a:ext uri="{FF2B5EF4-FFF2-40B4-BE49-F238E27FC236}">
                <a16:creationId xmlns:a16="http://schemas.microsoft.com/office/drawing/2014/main" id="{1786F9B6-3839-7378-D935-7346A396D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657600"/>
            <a:ext cx="11430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 2</a:t>
            </a:r>
          </a:p>
        </p:txBody>
      </p:sp>
      <p:sp>
        <p:nvSpPr>
          <p:cNvPr id="12296" name="Rectangle 6">
            <a:extLst>
              <a:ext uri="{FF2B5EF4-FFF2-40B4-BE49-F238E27FC236}">
                <a16:creationId xmlns:a16="http://schemas.microsoft.com/office/drawing/2014/main" id="{5314AF18-0638-DEDE-CA49-86EF80733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429000"/>
            <a:ext cx="1524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 3</a:t>
            </a:r>
          </a:p>
        </p:txBody>
      </p:sp>
      <p:sp>
        <p:nvSpPr>
          <p:cNvPr id="12297" name="Line 7">
            <a:extLst>
              <a:ext uri="{FF2B5EF4-FFF2-40B4-BE49-F238E27FC236}">
                <a16:creationId xmlns:a16="http://schemas.microsoft.com/office/drawing/2014/main" id="{9C979983-604D-7E71-A738-2DAF53040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267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8">
            <a:extLst>
              <a:ext uri="{FF2B5EF4-FFF2-40B4-BE49-F238E27FC236}">
                <a16:creationId xmlns:a16="http://schemas.microsoft.com/office/drawing/2014/main" id="{7CDDCEBB-F9F0-1F02-24AE-BB77A86F6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267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Text Box 9">
            <a:extLst>
              <a:ext uri="{FF2B5EF4-FFF2-40B4-BE49-F238E27FC236}">
                <a16:creationId xmlns:a16="http://schemas.microsoft.com/office/drawing/2014/main" id="{AFE5DA4E-49F7-647B-D024-AB1C6C08E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537075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link 1</a:t>
            </a:r>
          </a:p>
        </p:txBody>
      </p:sp>
      <p:sp>
        <p:nvSpPr>
          <p:cNvPr id="12300" name="Text Box 10">
            <a:extLst>
              <a:ext uri="{FF2B5EF4-FFF2-40B4-BE49-F238E27FC236}">
                <a16:creationId xmlns:a16="http://schemas.microsoft.com/office/drawing/2014/main" id="{BD4F90D6-4CEC-111E-A168-76D7B2F11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572000"/>
            <a:ext cx="88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link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>
            <a:extLst>
              <a:ext uri="{FF2B5EF4-FFF2-40B4-BE49-F238E27FC236}">
                <a16:creationId xmlns:a16="http://schemas.microsoft.com/office/drawing/2014/main" id="{8B594457-8E66-4BB4-081E-E2C2A7FFE6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3315" name="Footer Placeholder 4">
            <a:extLst>
              <a:ext uri="{FF2B5EF4-FFF2-40B4-BE49-F238E27FC236}">
                <a16:creationId xmlns:a16="http://schemas.microsoft.com/office/drawing/2014/main" id="{853E8D40-53F7-5B2A-1926-5C48627B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40F66D2F-355F-8532-116C-C2237E646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Bus networks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F5919B6E-04B7-B383-38A1-E49E23257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Common physical connection:</a:t>
            </a:r>
          </a:p>
        </p:txBody>
      </p:sp>
      <p:sp>
        <p:nvSpPr>
          <p:cNvPr id="13318" name="Rectangle 4">
            <a:extLst>
              <a:ext uri="{FF2B5EF4-FFF2-40B4-BE49-F238E27FC236}">
                <a16:creationId xmlns:a16="http://schemas.microsoft.com/office/drawing/2014/main" id="{6BB4C729-2A01-5CE1-E30D-EDB99B48D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00400"/>
            <a:ext cx="9906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 1</a:t>
            </a:r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FCFAC582-E946-4F69-5E76-D190BE262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00400"/>
            <a:ext cx="9906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 2</a:t>
            </a:r>
          </a:p>
        </p:txBody>
      </p:sp>
      <p:sp>
        <p:nvSpPr>
          <p:cNvPr id="13320" name="Rectangle 6">
            <a:extLst>
              <a:ext uri="{FF2B5EF4-FFF2-40B4-BE49-F238E27FC236}">
                <a16:creationId xmlns:a16="http://schemas.microsoft.com/office/drawing/2014/main" id="{144FBBF3-A813-30E3-050B-7E2257CF3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200400"/>
            <a:ext cx="9906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 3</a:t>
            </a:r>
          </a:p>
        </p:txBody>
      </p:sp>
      <p:sp>
        <p:nvSpPr>
          <p:cNvPr id="13321" name="Rectangle 7">
            <a:extLst>
              <a:ext uri="{FF2B5EF4-FFF2-40B4-BE49-F238E27FC236}">
                <a16:creationId xmlns:a16="http://schemas.microsoft.com/office/drawing/2014/main" id="{C3772D3A-FED6-D11B-07E2-3FDDD51C7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00400"/>
            <a:ext cx="9906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PE 4</a:t>
            </a:r>
          </a:p>
        </p:txBody>
      </p:sp>
      <p:sp>
        <p:nvSpPr>
          <p:cNvPr id="13322" name="Line 8">
            <a:extLst>
              <a:ext uri="{FF2B5EF4-FFF2-40B4-BE49-F238E27FC236}">
                <a16:creationId xmlns:a16="http://schemas.microsoft.com/office/drawing/2014/main" id="{C0CC04F3-16C2-D4A5-0A9F-205A0C8E1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800600"/>
            <a:ext cx="6858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9">
            <a:extLst>
              <a:ext uri="{FF2B5EF4-FFF2-40B4-BE49-F238E27FC236}">
                <a16:creationId xmlns:a16="http://schemas.microsoft.com/office/drawing/2014/main" id="{26B81E23-22E2-A54A-5EF6-87549646C6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191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Line 10">
            <a:extLst>
              <a:ext uri="{FF2B5EF4-FFF2-40B4-BE49-F238E27FC236}">
                <a16:creationId xmlns:a16="http://schemas.microsoft.com/office/drawing/2014/main" id="{5EDB038D-8D7D-599F-7135-D155786FD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191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Line 11">
            <a:extLst>
              <a:ext uri="{FF2B5EF4-FFF2-40B4-BE49-F238E27FC236}">
                <a16:creationId xmlns:a16="http://schemas.microsoft.com/office/drawing/2014/main" id="{26E35765-E788-2F20-8206-62820E933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191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6" name="Line 12">
            <a:extLst>
              <a:ext uri="{FF2B5EF4-FFF2-40B4-BE49-F238E27FC236}">
                <a16:creationId xmlns:a16="http://schemas.microsoft.com/office/drawing/2014/main" id="{7744148C-9C5F-24FD-FE13-9E5F64170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191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3CEEE7B0-768E-0A57-178D-ECBD502A9A20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800600"/>
            <a:ext cx="6954838" cy="914400"/>
            <a:chOff x="960" y="3024"/>
            <a:chExt cx="4381" cy="576"/>
          </a:xfrm>
        </p:grpSpPr>
        <p:sp>
          <p:nvSpPr>
            <p:cNvPr id="13328" name="Rectangle 13">
              <a:extLst>
                <a:ext uri="{FF2B5EF4-FFF2-40B4-BE49-F238E27FC236}">
                  <a16:creationId xmlns:a16="http://schemas.microsoft.com/office/drawing/2014/main" id="{E5D30C88-AB3C-9ABA-31D3-5C4AAEDE3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264"/>
              <a:ext cx="576" cy="3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header</a:t>
              </a:r>
            </a:p>
          </p:txBody>
        </p:sp>
        <p:sp>
          <p:nvSpPr>
            <p:cNvPr id="13329" name="Rectangle 14">
              <a:extLst>
                <a:ext uri="{FF2B5EF4-FFF2-40B4-BE49-F238E27FC236}">
                  <a16:creationId xmlns:a16="http://schemas.microsoft.com/office/drawing/2014/main" id="{4F88DDFB-D999-1EB9-03B5-9BA075D15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264"/>
              <a:ext cx="912" cy="336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address</a:t>
              </a:r>
            </a:p>
          </p:txBody>
        </p:sp>
        <p:sp>
          <p:nvSpPr>
            <p:cNvPr id="13330" name="Rectangle 15">
              <a:extLst>
                <a:ext uri="{FF2B5EF4-FFF2-40B4-BE49-F238E27FC236}">
                  <a16:creationId xmlns:a16="http://schemas.microsoft.com/office/drawing/2014/main" id="{A2EFF0F0-C1B4-181C-EF48-2CD6C53B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264"/>
              <a:ext cx="1008" cy="33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data</a:t>
              </a:r>
            </a:p>
          </p:txBody>
        </p:sp>
        <p:sp>
          <p:nvSpPr>
            <p:cNvPr id="13331" name="Rectangle 16">
              <a:extLst>
                <a:ext uri="{FF2B5EF4-FFF2-40B4-BE49-F238E27FC236}">
                  <a16:creationId xmlns:a16="http://schemas.microsoft.com/office/drawing/2014/main" id="{B337B6F4-A91C-8056-1A91-E5AD95D5F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264"/>
              <a:ext cx="624" cy="336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ECC</a:t>
              </a:r>
            </a:p>
          </p:txBody>
        </p:sp>
        <p:sp>
          <p:nvSpPr>
            <p:cNvPr id="13332" name="Line 17">
              <a:extLst>
                <a:ext uri="{FF2B5EF4-FFF2-40B4-BE49-F238E27FC236}">
                  <a16:creationId xmlns:a16="http://schemas.microsoft.com/office/drawing/2014/main" id="{94646CC0-E217-5CF3-2C39-8ACE331617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3024"/>
              <a:ext cx="864" cy="2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Line 18">
              <a:extLst>
                <a:ext uri="{FF2B5EF4-FFF2-40B4-BE49-F238E27FC236}">
                  <a16:creationId xmlns:a16="http://schemas.microsoft.com/office/drawing/2014/main" id="{0CACD685-273E-AAA5-6C14-E5D5D25B5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" y="3024"/>
              <a:ext cx="1200" cy="2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Text Box 19">
              <a:extLst>
                <a:ext uri="{FF2B5EF4-FFF2-40B4-BE49-F238E27FC236}">
                  <a16:creationId xmlns:a16="http://schemas.microsoft.com/office/drawing/2014/main" id="{2A18C50A-036A-EB3C-C671-065030997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3290"/>
              <a:ext cx="11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packet format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>
            <a:extLst>
              <a:ext uri="{FF2B5EF4-FFF2-40B4-BE49-F238E27FC236}">
                <a16:creationId xmlns:a16="http://schemas.microsoft.com/office/drawing/2014/main" id="{821431A6-A426-A757-4CC1-B1D03E4E57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4339" name="Footer Placeholder 4">
            <a:extLst>
              <a:ext uri="{FF2B5EF4-FFF2-40B4-BE49-F238E27FC236}">
                <a16:creationId xmlns:a16="http://schemas.microsoft.com/office/drawing/2014/main" id="{142C111C-9AB9-A92B-E63F-86A6E49B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C54B93DC-812C-1511-B6B2-113512305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Bus arbitration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A7F39C3D-99FD-BD9A-7353-2C3832344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3300"/>
                </a:solidFill>
              </a:rPr>
              <a:t>Fixed</a:t>
            </a:r>
            <a:r>
              <a:rPr lang="en-US" altLang="en-US"/>
              <a:t>: Same order of resolution every time.</a:t>
            </a:r>
          </a:p>
          <a:p>
            <a:r>
              <a:rPr lang="en-US" altLang="en-US">
                <a:solidFill>
                  <a:srgbClr val="FF3300"/>
                </a:solidFill>
              </a:rPr>
              <a:t>Fair</a:t>
            </a:r>
            <a:r>
              <a:rPr lang="en-US" altLang="en-US"/>
              <a:t>: every PE has same access over long periods.</a:t>
            </a:r>
          </a:p>
          <a:p>
            <a:pPr lvl="1"/>
            <a:r>
              <a:rPr lang="en-US" altLang="en-US">
                <a:solidFill>
                  <a:srgbClr val="FF3300"/>
                </a:solidFill>
              </a:rPr>
              <a:t>round-robin</a:t>
            </a:r>
            <a:r>
              <a:rPr lang="en-US" altLang="en-US"/>
              <a:t>: rotate top priority among Pes.</a:t>
            </a: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1121F776-0F70-5119-8767-A08BB1753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791200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Line 6">
            <a:extLst>
              <a:ext uri="{FF2B5EF4-FFF2-40B4-BE49-F238E27FC236}">
                <a16:creationId xmlns:a16="http://schemas.microsoft.com/office/drawing/2014/main" id="{0A951821-7221-F97B-360F-E054EF00CD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577691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Line 7">
            <a:extLst>
              <a:ext uri="{FF2B5EF4-FFF2-40B4-BE49-F238E27FC236}">
                <a16:creationId xmlns:a16="http://schemas.microsoft.com/office/drawing/2014/main" id="{355D713A-2398-EBBA-159F-B48F181F5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791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Text Box 8">
            <a:extLst>
              <a:ext uri="{FF2B5EF4-FFF2-40B4-BE49-F238E27FC236}">
                <a16:creationId xmlns:a16="http://schemas.microsoft.com/office/drawing/2014/main" id="{A10A3421-64D7-593A-D78D-8A406B409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867400"/>
            <a:ext cx="835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A,B,C</a:t>
            </a:r>
            <a:endParaRPr lang="en-US" altLang="en-US"/>
          </a:p>
        </p:txBody>
      </p:sp>
      <p:sp>
        <p:nvSpPr>
          <p:cNvPr id="14346" name="Text Box 9">
            <a:extLst>
              <a:ext uri="{FF2B5EF4-FFF2-40B4-BE49-F238E27FC236}">
                <a16:creationId xmlns:a16="http://schemas.microsoft.com/office/drawing/2014/main" id="{3E8FC11A-04E3-0BF5-D139-ACFA1A0BF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943600"/>
            <a:ext cx="835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A,B,C</a:t>
            </a:r>
            <a:endParaRPr lang="en-US" altLang="en-US"/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844FE79A-8A16-2107-D109-651D2D966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0"/>
            <a:ext cx="704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fixed</a:t>
            </a:r>
            <a:endParaRPr lang="en-US" altLang="en-US"/>
          </a:p>
        </p:txBody>
      </p:sp>
      <p:sp>
        <p:nvSpPr>
          <p:cNvPr id="14348" name="Text Box 12">
            <a:extLst>
              <a:ext uri="{FF2B5EF4-FFF2-40B4-BE49-F238E27FC236}">
                <a16:creationId xmlns:a16="http://schemas.microsoft.com/office/drawing/2014/main" id="{28074535-C0F0-DC7C-9183-EF65BD902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5119688"/>
            <a:ext cx="1395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round-robin</a:t>
            </a:r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25F8B8B9-4BBA-CDB9-8239-917BD994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14350" name="Rectangle 15">
            <a:extLst>
              <a:ext uri="{FF2B5EF4-FFF2-40B4-BE49-F238E27FC236}">
                <a16:creationId xmlns:a16="http://schemas.microsoft.com/office/drawing/2014/main" id="{E1B335DD-4499-CC9E-E077-556B8E6E1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648200"/>
            <a:ext cx="914400" cy="3810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14351" name="Rectangle 16">
            <a:extLst>
              <a:ext uri="{FF2B5EF4-FFF2-40B4-BE49-F238E27FC236}">
                <a16:creationId xmlns:a16="http://schemas.microsoft.com/office/drawing/2014/main" id="{614C5837-C52F-97A3-24A1-78A1CE9B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648200"/>
            <a:ext cx="914400" cy="381000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</a:t>
            </a: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4C3F7DB6-2A32-5807-7047-6DEE5A09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48200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7CEEB53C-B076-E4AC-32FE-2E1F4C3FF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648200"/>
            <a:ext cx="914400" cy="3810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14354" name="Rectangle 19">
            <a:extLst>
              <a:ext uri="{FF2B5EF4-FFF2-40B4-BE49-F238E27FC236}">
                <a16:creationId xmlns:a16="http://schemas.microsoft.com/office/drawing/2014/main" id="{5AEFEBEF-4565-2B67-205F-C81538B81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648200"/>
            <a:ext cx="914400" cy="381000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</a:t>
            </a:r>
          </a:p>
        </p:txBody>
      </p:sp>
      <p:sp>
        <p:nvSpPr>
          <p:cNvPr id="14355" name="Rectangle 20">
            <a:extLst>
              <a:ext uri="{FF2B5EF4-FFF2-40B4-BE49-F238E27FC236}">
                <a16:creationId xmlns:a16="http://schemas.microsoft.com/office/drawing/2014/main" id="{556F343A-C294-BE65-6047-2F8FDB12F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334000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14356" name="Rectangle 21">
            <a:extLst>
              <a:ext uri="{FF2B5EF4-FFF2-40B4-BE49-F238E27FC236}">
                <a16:creationId xmlns:a16="http://schemas.microsoft.com/office/drawing/2014/main" id="{588E4EB1-6695-991E-EC87-27CB86FA3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334000"/>
            <a:ext cx="914400" cy="3810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14357" name="Rectangle 22">
            <a:extLst>
              <a:ext uri="{FF2B5EF4-FFF2-40B4-BE49-F238E27FC236}">
                <a16:creationId xmlns:a16="http://schemas.microsoft.com/office/drawing/2014/main" id="{275C94DE-73A1-0C78-9EC1-B2DDBC22E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334000"/>
            <a:ext cx="914400" cy="381000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</a:t>
            </a:r>
          </a:p>
        </p:txBody>
      </p:sp>
      <p:sp>
        <p:nvSpPr>
          <p:cNvPr id="14358" name="Rectangle 23">
            <a:extLst>
              <a:ext uri="{FF2B5EF4-FFF2-40B4-BE49-F238E27FC236}">
                <a16:creationId xmlns:a16="http://schemas.microsoft.com/office/drawing/2014/main" id="{ED8D4180-C819-D994-643B-3B087F7B8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334000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14359" name="Rectangle 24">
            <a:extLst>
              <a:ext uri="{FF2B5EF4-FFF2-40B4-BE49-F238E27FC236}">
                <a16:creationId xmlns:a16="http://schemas.microsoft.com/office/drawing/2014/main" id="{81197766-5C3C-166B-843F-45334C16F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334000"/>
            <a:ext cx="914400" cy="3810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14360" name="Rectangle 25">
            <a:extLst>
              <a:ext uri="{FF2B5EF4-FFF2-40B4-BE49-F238E27FC236}">
                <a16:creationId xmlns:a16="http://schemas.microsoft.com/office/drawing/2014/main" id="{90BE0B60-2717-69BC-5EF9-4E2DCF6C7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334000"/>
            <a:ext cx="914400" cy="381000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>
            <a:extLst>
              <a:ext uri="{FF2B5EF4-FFF2-40B4-BE49-F238E27FC236}">
                <a16:creationId xmlns:a16="http://schemas.microsoft.com/office/drawing/2014/main" id="{BA54D66A-4CB9-8599-746D-9F70E46D055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5363" name="Footer Placeholder 4">
            <a:extLst>
              <a:ext uri="{FF2B5EF4-FFF2-40B4-BE49-F238E27FC236}">
                <a16:creationId xmlns:a16="http://schemas.microsoft.com/office/drawing/2014/main" id="{9279BB77-7B68-99DB-63A7-B1245579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969D7900-69A3-F624-E92E-7E5CA3B11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Crossbar</a:t>
            </a:r>
          </a:p>
        </p:txBody>
      </p:sp>
      <p:grpSp>
        <p:nvGrpSpPr>
          <p:cNvPr id="15365" name="Group 8">
            <a:extLst>
              <a:ext uri="{FF2B5EF4-FFF2-40B4-BE49-F238E27FC236}">
                <a16:creationId xmlns:a16="http://schemas.microsoft.com/office/drawing/2014/main" id="{D2671A92-534B-0E4B-E470-1477A9D280D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286000"/>
            <a:ext cx="2514600" cy="3276600"/>
            <a:chOff x="1968" y="1440"/>
            <a:chExt cx="1584" cy="2064"/>
          </a:xfrm>
        </p:grpSpPr>
        <p:sp>
          <p:nvSpPr>
            <p:cNvPr id="15431" name="Line 4">
              <a:extLst>
                <a:ext uri="{FF2B5EF4-FFF2-40B4-BE49-F238E27FC236}">
                  <a16:creationId xmlns:a16="http://schemas.microsoft.com/office/drawing/2014/main" id="{E8C22BDD-4280-4348-5F74-D34439E7D2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2" name="Line 5">
              <a:extLst>
                <a:ext uri="{FF2B5EF4-FFF2-40B4-BE49-F238E27FC236}">
                  <a16:creationId xmlns:a16="http://schemas.microsoft.com/office/drawing/2014/main" id="{79490021-C8FD-EB97-EE80-48EF2078C9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3" name="Line 6">
              <a:extLst>
                <a:ext uri="{FF2B5EF4-FFF2-40B4-BE49-F238E27FC236}">
                  <a16:creationId xmlns:a16="http://schemas.microsoft.com/office/drawing/2014/main" id="{C541E3B8-AC1E-3F4E-07BC-87C2CB6640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4" name="Line 7">
              <a:extLst>
                <a:ext uri="{FF2B5EF4-FFF2-40B4-BE49-F238E27FC236}">
                  <a16:creationId xmlns:a16="http://schemas.microsoft.com/office/drawing/2014/main" id="{176DA343-8763-A63F-19C4-F36E9298B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66" name="Group 9">
            <a:extLst>
              <a:ext uri="{FF2B5EF4-FFF2-40B4-BE49-F238E27FC236}">
                <a16:creationId xmlns:a16="http://schemas.microsoft.com/office/drawing/2014/main" id="{49720D59-FA1A-A54F-854B-EF6CADBB02DA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3200400" y="2362200"/>
            <a:ext cx="2514600" cy="3276600"/>
            <a:chOff x="1968" y="1440"/>
            <a:chExt cx="1584" cy="2064"/>
          </a:xfrm>
        </p:grpSpPr>
        <p:sp>
          <p:nvSpPr>
            <p:cNvPr id="15427" name="Line 10">
              <a:extLst>
                <a:ext uri="{FF2B5EF4-FFF2-40B4-BE49-F238E27FC236}">
                  <a16:creationId xmlns:a16="http://schemas.microsoft.com/office/drawing/2014/main" id="{B66172A7-ADDF-83E6-343A-4B14ABED2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8" name="Line 11">
              <a:extLst>
                <a:ext uri="{FF2B5EF4-FFF2-40B4-BE49-F238E27FC236}">
                  <a16:creationId xmlns:a16="http://schemas.microsoft.com/office/drawing/2014/main" id="{D7CEC985-6161-A61D-DCB0-BF52AE2A8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9" name="Line 12">
              <a:extLst>
                <a:ext uri="{FF2B5EF4-FFF2-40B4-BE49-F238E27FC236}">
                  <a16:creationId xmlns:a16="http://schemas.microsoft.com/office/drawing/2014/main" id="{8FB7145C-94EB-DFCF-73C5-DAFD20EE14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30" name="Line 13">
              <a:extLst>
                <a:ext uri="{FF2B5EF4-FFF2-40B4-BE49-F238E27FC236}">
                  <a16:creationId xmlns:a16="http://schemas.microsoft.com/office/drawing/2014/main" id="{35BAC75B-E372-CCF2-854C-D0A2B9127E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440"/>
              <a:ext cx="0" cy="20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67" name="Group 16">
            <a:extLst>
              <a:ext uri="{FF2B5EF4-FFF2-40B4-BE49-F238E27FC236}">
                <a16:creationId xmlns:a16="http://schemas.microsoft.com/office/drawing/2014/main" id="{2A808563-4302-4AB6-456D-29F1A703EACD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819400"/>
            <a:ext cx="228600" cy="228600"/>
            <a:chOff x="2016" y="1776"/>
            <a:chExt cx="144" cy="144"/>
          </a:xfrm>
        </p:grpSpPr>
        <p:sp>
          <p:nvSpPr>
            <p:cNvPr id="15425" name="Line 14">
              <a:extLst>
                <a:ext uri="{FF2B5EF4-FFF2-40B4-BE49-F238E27FC236}">
                  <a16:creationId xmlns:a16="http://schemas.microsoft.com/office/drawing/2014/main" id="{9071B334-DCC9-B6BD-254E-9B3DA0A37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6" name="Line 15">
              <a:extLst>
                <a:ext uri="{FF2B5EF4-FFF2-40B4-BE49-F238E27FC236}">
                  <a16:creationId xmlns:a16="http://schemas.microsoft.com/office/drawing/2014/main" id="{81E65FBE-4231-883E-F48A-DEED45FEE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68" name="Group 17">
            <a:extLst>
              <a:ext uri="{FF2B5EF4-FFF2-40B4-BE49-F238E27FC236}">
                <a16:creationId xmlns:a16="http://schemas.microsoft.com/office/drawing/2014/main" id="{8E975AEC-651A-11D6-48A4-C6A8F0835410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819400"/>
            <a:ext cx="228600" cy="228600"/>
            <a:chOff x="2016" y="1776"/>
            <a:chExt cx="144" cy="144"/>
          </a:xfrm>
        </p:grpSpPr>
        <p:sp>
          <p:nvSpPr>
            <p:cNvPr id="15423" name="Line 18">
              <a:extLst>
                <a:ext uri="{FF2B5EF4-FFF2-40B4-BE49-F238E27FC236}">
                  <a16:creationId xmlns:a16="http://schemas.microsoft.com/office/drawing/2014/main" id="{EE1E7E2E-B601-7A99-6672-C9DE6294DD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4" name="Line 19">
              <a:extLst>
                <a:ext uri="{FF2B5EF4-FFF2-40B4-BE49-F238E27FC236}">
                  <a16:creationId xmlns:a16="http://schemas.microsoft.com/office/drawing/2014/main" id="{E22D3499-ABD6-65ED-889C-DB2250308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69" name="Group 20">
            <a:extLst>
              <a:ext uri="{FF2B5EF4-FFF2-40B4-BE49-F238E27FC236}">
                <a16:creationId xmlns:a16="http://schemas.microsoft.com/office/drawing/2014/main" id="{21E968BF-697D-90C7-A319-ED7CA6D5B4E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819400"/>
            <a:ext cx="228600" cy="228600"/>
            <a:chOff x="2016" y="1776"/>
            <a:chExt cx="144" cy="144"/>
          </a:xfrm>
        </p:grpSpPr>
        <p:sp>
          <p:nvSpPr>
            <p:cNvPr id="15421" name="Line 21">
              <a:extLst>
                <a:ext uri="{FF2B5EF4-FFF2-40B4-BE49-F238E27FC236}">
                  <a16:creationId xmlns:a16="http://schemas.microsoft.com/office/drawing/2014/main" id="{12C43251-F2A3-6F28-11A0-D8447AF52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2" name="Line 22">
              <a:extLst>
                <a:ext uri="{FF2B5EF4-FFF2-40B4-BE49-F238E27FC236}">
                  <a16:creationId xmlns:a16="http://schemas.microsoft.com/office/drawing/2014/main" id="{FCE17300-6141-2F17-79F0-F3D70E75B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0" name="Group 23">
            <a:extLst>
              <a:ext uri="{FF2B5EF4-FFF2-40B4-BE49-F238E27FC236}">
                <a16:creationId xmlns:a16="http://schemas.microsoft.com/office/drawing/2014/main" id="{ED1B6606-D687-278A-3C9C-173ED7E55FD6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819400"/>
            <a:ext cx="228600" cy="228600"/>
            <a:chOff x="2016" y="1776"/>
            <a:chExt cx="144" cy="144"/>
          </a:xfrm>
        </p:grpSpPr>
        <p:sp>
          <p:nvSpPr>
            <p:cNvPr id="15419" name="Line 24">
              <a:extLst>
                <a:ext uri="{FF2B5EF4-FFF2-40B4-BE49-F238E27FC236}">
                  <a16:creationId xmlns:a16="http://schemas.microsoft.com/office/drawing/2014/main" id="{86C834EE-0A85-C249-B325-1068E1664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0" name="Line 25">
              <a:extLst>
                <a:ext uri="{FF2B5EF4-FFF2-40B4-BE49-F238E27FC236}">
                  <a16:creationId xmlns:a16="http://schemas.microsoft.com/office/drawing/2014/main" id="{65FFF693-22CD-54B6-E8B5-31EE4B421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1" name="Group 26">
            <a:extLst>
              <a:ext uri="{FF2B5EF4-FFF2-40B4-BE49-F238E27FC236}">
                <a16:creationId xmlns:a16="http://schemas.microsoft.com/office/drawing/2014/main" id="{C14AB6C9-2016-4256-9E4F-BFCCEC26BFE8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657600"/>
            <a:ext cx="228600" cy="228600"/>
            <a:chOff x="2016" y="1776"/>
            <a:chExt cx="144" cy="144"/>
          </a:xfrm>
        </p:grpSpPr>
        <p:sp>
          <p:nvSpPr>
            <p:cNvPr id="15417" name="Line 27">
              <a:extLst>
                <a:ext uri="{FF2B5EF4-FFF2-40B4-BE49-F238E27FC236}">
                  <a16:creationId xmlns:a16="http://schemas.microsoft.com/office/drawing/2014/main" id="{7238EF9F-5C98-9D1B-A6B8-C62DCEFF54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8" name="Line 28">
              <a:extLst>
                <a:ext uri="{FF2B5EF4-FFF2-40B4-BE49-F238E27FC236}">
                  <a16:creationId xmlns:a16="http://schemas.microsoft.com/office/drawing/2014/main" id="{166846D6-A7F7-AAC1-9257-0B10732BF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2" name="Group 29">
            <a:extLst>
              <a:ext uri="{FF2B5EF4-FFF2-40B4-BE49-F238E27FC236}">
                <a16:creationId xmlns:a16="http://schemas.microsoft.com/office/drawing/2014/main" id="{C3C0FB42-7B82-481C-8A5D-981740144010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3657600"/>
            <a:ext cx="228600" cy="228600"/>
            <a:chOff x="2016" y="1776"/>
            <a:chExt cx="144" cy="144"/>
          </a:xfrm>
        </p:grpSpPr>
        <p:sp>
          <p:nvSpPr>
            <p:cNvPr id="15415" name="Line 30">
              <a:extLst>
                <a:ext uri="{FF2B5EF4-FFF2-40B4-BE49-F238E27FC236}">
                  <a16:creationId xmlns:a16="http://schemas.microsoft.com/office/drawing/2014/main" id="{C0C331AE-F3ED-9EF4-FFCA-E951D2C1BD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6" name="Line 31">
              <a:extLst>
                <a:ext uri="{FF2B5EF4-FFF2-40B4-BE49-F238E27FC236}">
                  <a16:creationId xmlns:a16="http://schemas.microsoft.com/office/drawing/2014/main" id="{22054266-8D91-49FF-9D57-4CCC88A27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3" name="Group 32">
            <a:extLst>
              <a:ext uri="{FF2B5EF4-FFF2-40B4-BE49-F238E27FC236}">
                <a16:creationId xmlns:a16="http://schemas.microsoft.com/office/drawing/2014/main" id="{95EB89F2-5DBF-50C7-AD14-2EDB2F74CFF5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657600"/>
            <a:ext cx="228600" cy="228600"/>
            <a:chOff x="2016" y="1776"/>
            <a:chExt cx="144" cy="144"/>
          </a:xfrm>
        </p:grpSpPr>
        <p:sp>
          <p:nvSpPr>
            <p:cNvPr id="15413" name="Line 33">
              <a:extLst>
                <a:ext uri="{FF2B5EF4-FFF2-40B4-BE49-F238E27FC236}">
                  <a16:creationId xmlns:a16="http://schemas.microsoft.com/office/drawing/2014/main" id="{40F1F072-5AB5-22B0-5F69-2321E89523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4" name="Line 34">
              <a:extLst>
                <a:ext uri="{FF2B5EF4-FFF2-40B4-BE49-F238E27FC236}">
                  <a16:creationId xmlns:a16="http://schemas.microsoft.com/office/drawing/2014/main" id="{A420269F-8222-04AD-EACA-380FD8D9F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4" name="Group 35">
            <a:extLst>
              <a:ext uri="{FF2B5EF4-FFF2-40B4-BE49-F238E27FC236}">
                <a16:creationId xmlns:a16="http://schemas.microsoft.com/office/drawing/2014/main" id="{8E07AC13-5158-0681-CC13-ADFDF4B37582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657600"/>
            <a:ext cx="228600" cy="228600"/>
            <a:chOff x="2016" y="1776"/>
            <a:chExt cx="144" cy="144"/>
          </a:xfrm>
        </p:grpSpPr>
        <p:sp>
          <p:nvSpPr>
            <p:cNvPr id="15411" name="Line 36">
              <a:extLst>
                <a:ext uri="{FF2B5EF4-FFF2-40B4-BE49-F238E27FC236}">
                  <a16:creationId xmlns:a16="http://schemas.microsoft.com/office/drawing/2014/main" id="{99F99E0C-B79B-7A02-334A-74834052E6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2" name="Line 37">
              <a:extLst>
                <a:ext uri="{FF2B5EF4-FFF2-40B4-BE49-F238E27FC236}">
                  <a16:creationId xmlns:a16="http://schemas.microsoft.com/office/drawing/2014/main" id="{255F728D-52BA-3828-B388-E5166C954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5" name="Group 38">
            <a:extLst>
              <a:ext uri="{FF2B5EF4-FFF2-40B4-BE49-F238E27FC236}">
                <a16:creationId xmlns:a16="http://schemas.microsoft.com/office/drawing/2014/main" id="{0BF3C437-0A9A-47A7-808A-9331686EC9E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495800"/>
            <a:ext cx="228600" cy="228600"/>
            <a:chOff x="2016" y="1776"/>
            <a:chExt cx="144" cy="144"/>
          </a:xfrm>
        </p:grpSpPr>
        <p:sp>
          <p:nvSpPr>
            <p:cNvPr id="15409" name="Line 39">
              <a:extLst>
                <a:ext uri="{FF2B5EF4-FFF2-40B4-BE49-F238E27FC236}">
                  <a16:creationId xmlns:a16="http://schemas.microsoft.com/office/drawing/2014/main" id="{2FE8D62B-32FC-49B3-5065-4AD25A4D16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10" name="Line 40">
              <a:extLst>
                <a:ext uri="{FF2B5EF4-FFF2-40B4-BE49-F238E27FC236}">
                  <a16:creationId xmlns:a16="http://schemas.microsoft.com/office/drawing/2014/main" id="{2407731C-9DFF-BB2A-9CCF-ACBB3251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6" name="Group 41">
            <a:extLst>
              <a:ext uri="{FF2B5EF4-FFF2-40B4-BE49-F238E27FC236}">
                <a16:creationId xmlns:a16="http://schemas.microsoft.com/office/drawing/2014/main" id="{9A2F7CFB-80AA-F0ED-9649-971FE477D534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4495800"/>
            <a:ext cx="228600" cy="228600"/>
            <a:chOff x="2016" y="1776"/>
            <a:chExt cx="144" cy="144"/>
          </a:xfrm>
        </p:grpSpPr>
        <p:sp>
          <p:nvSpPr>
            <p:cNvPr id="15407" name="Line 42">
              <a:extLst>
                <a:ext uri="{FF2B5EF4-FFF2-40B4-BE49-F238E27FC236}">
                  <a16:creationId xmlns:a16="http://schemas.microsoft.com/office/drawing/2014/main" id="{8969655F-67A3-9CD7-3AEB-031E131A5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8" name="Line 43">
              <a:extLst>
                <a:ext uri="{FF2B5EF4-FFF2-40B4-BE49-F238E27FC236}">
                  <a16:creationId xmlns:a16="http://schemas.microsoft.com/office/drawing/2014/main" id="{02BF1EB5-A037-6842-01CA-E30940C48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7" name="Group 44">
            <a:extLst>
              <a:ext uri="{FF2B5EF4-FFF2-40B4-BE49-F238E27FC236}">
                <a16:creationId xmlns:a16="http://schemas.microsoft.com/office/drawing/2014/main" id="{ABA8EE29-DAD3-D42A-DCDE-AE406B925989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495800"/>
            <a:ext cx="228600" cy="228600"/>
            <a:chOff x="2016" y="1776"/>
            <a:chExt cx="144" cy="144"/>
          </a:xfrm>
        </p:grpSpPr>
        <p:sp>
          <p:nvSpPr>
            <p:cNvPr id="15405" name="Line 45">
              <a:extLst>
                <a:ext uri="{FF2B5EF4-FFF2-40B4-BE49-F238E27FC236}">
                  <a16:creationId xmlns:a16="http://schemas.microsoft.com/office/drawing/2014/main" id="{60236D33-1D59-673B-A0F5-526BEA4E0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6" name="Line 46">
              <a:extLst>
                <a:ext uri="{FF2B5EF4-FFF2-40B4-BE49-F238E27FC236}">
                  <a16:creationId xmlns:a16="http://schemas.microsoft.com/office/drawing/2014/main" id="{07093583-EA4B-3EFC-BF3C-D93613BC6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8" name="Group 47">
            <a:extLst>
              <a:ext uri="{FF2B5EF4-FFF2-40B4-BE49-F238E27FC236}">
                <a16:creationId xmlns:a16="http://schemas.microsoft.com/office/drawing/2014/main" id="{4656F2C2-8FC0-5D0A-CD39-6D8E4A764AA5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4495800"/>
            <a:ext cx="228600" cy="228600"/>
            <a:chOff x="2016" y="1776"/>
            <a:chExt cx="144" cy="144"/>
          </a:xfrm>
        </p:grpSpPr>
        <p:sp>
          <p:nvSpPr>
            <p:cNvPr id="15403" name="Line 48">
              <a:extLst>
                <a:ext uri="{FF2B5EF4-FFF2-40B4-BE49-F238E27FC236}">
                  <a16:creationId xmlns:a16="http://schemas.microsoft.com/office/drawing/2014/main" id="{AEB9E56F-D79F-6B93-96EC-4C23085B36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4" name="Line 49">
              <a:extLst>
                <a:ext uri="{FF2B5EF4-FFF2-40B4-BE49-F238E27FC236}">
                  <a16:creationId xmlns:a16="http://schemas.microsoft.com/office/drawing/2014/main" id="{521DB7F2-1FDB-CB58-7061-F58615FEE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79" name="Group 50">
            <a:extLst>
              <a:ext uri="{FF2B5EF4-FFF2-40B4-BE49-F238E27FC236}">
                <a16:creationId xmlns:a16="http://schemas.microsoft.com/office/drawing/2014/main" id="{1D06951E-E885-0716-C186-21EBE0DD78CC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5334000"/>
            <a:ext cx="228600" cy="228600"/>
            <a:chOff x="2016" y="1776"/>
            <a:chExt cx="144" cy="144"/>
          </a:xfrm>
        </p:grpSpPr>
        <p:sp>
          <p:nvSpPr>
            <p:cNvPr id="15401" name="Line 51">
              <a:extLst>
                <a:ext uri="{FF2B5EF4-FFF2-40B4-BE49-F238E27FC236}">
                  <a16:creationId xmlns:a16="http://schemas.microsoft.com/office/drawing/2014/main" id="{9BE86015-B05E-967A-CCB9-E39745A0B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2" name="Line 52">
              <a:extLst>
                <a:ext uri="{FF2B5EF4-FFF2-40B4-BE49-F238E27FC236}">
                  <a16:creationId xmlns:a16="http://schemas.microsoft.com/office/drawing/2014/main" id="{C86E4882-8B28-F6BB-29EF-360DC54CF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80" name="Group 53">
            <a:extLst>
              <a:ext uri="{FF2B5EF4-FFF2-40B4-BE49-F238E27FC236}">
                <a16:creationId xmlns:a16="http://schemas.microsoft.com/office/drawing/2014/main" id="{56753CB6-A588-D591-1794-992C5C65B231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5334000"/>
            <a:ext cx="228600" cy="228600"/>
            <a:chOff x="2016" y="1776"/>
            <a:chExt cx="144" cy="144"/>
          </a:xfrm>
        </p:grpSpPr>
        <p:sp>
          <p:nvSpPr>
            <p:cNvPr id="15399" name="Line 54">
              <a:extLst>
                <a:ext uri="{FF2B5EF4-FFF2-40B4-BE49-F238E27FC236}">
                  <a16:creationId xmlns:a16="http://schemas.microsoft.com/office/drawing/2014/main" id="{71111872-775E-3A08-BD75-E0BB806E3D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00" name="Line 55">
              <a:extLst>
                <a:ext uri="{FF2B5EF4-FFF2-40B4-BE49-F238E27FC236}">
                  <a16:creationId xmlns:a16="http://schemas.microsoft.com/office/drawing/2014/main" id="{5DD5521E-5A83-F32E-8954-28479471F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81" name="Group 56">
            <a:extLst>
              <a:ext uri="{FF2B5EF4-FFF2-40B4-BE49-F238E27FC236}">
                <a16:creationId xmlns:a16="http://schemas.microsoft.com/office/drawing/2014/main" id="{65DBB4A0-3419-8E54-FD75-69970940EFD4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5334000"/>
            <a:ext cx="228600" cy="228600"/>
            <a:chOff x="2016" y="1776"/>
            <a:chExt cx="144" cy="144"/>
          </a:xfrm>
        </p:grpSpPr>
        <p:sp>
          <p:nvSpPr>
            <p:cNvPr id="15397" name="Line 57">
              <a:extLst>
                <a:ext uri="{FF2B5EF4-FFF2-40B4-BE49-F238E27FC236}">
                  <a16:creationId xmlns:a16="http://schemas.microsoft.com/office/drawing/2014/main" id="{258000A7-E8A5-2EBA-DA61-2EE5CC019D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8" name="Line 58">
              <a:extLst>
                <a:ext uri="{FF2B5EF4-FFF2-40B4-BE49-F238E27FC236}">
                  <a16:creationId xmlns:a16="http://schemas.microsoft.com/office/drawing/2014/main" id="{0B4701D4-2152-BAD4-1EF5-2D6A50DFC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82" name="Group 59">
            <a:extLst>
              <a:ext uri="{FF2B5EF4-FFF2-40B4-BE49-F238E27FC236}">
                <a16:creationId xmlns:a16="http://schemas.microsoft.com/office/drawing/2014/main" id="{5AE52A10-6D6C-534B-6640-8D49FD7150A9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5334000"/>
            <a:ext cx="228600" cy="228600"/>
            <a:chOff x="2016" y="1776"/>
            <a:chExt cx="144" cy="144"/>
          </a:xfrm>
        </p:grpSpPr>
        <p:sp>
          <p:nvSpPr>
            <p:cNvPr id="15395" name="Line 60">
              <a:extLst>
                <a:ext uri="{FF2B5EF4-FFF2-40B4-BE49-F238E27FC236}">
                  <a16:creationId xmlns:a16="http://schemas.microsoft.com/office/drawing/2014/main" id="{E5E737DE-8D3B-7E31-99BA-D3DEB365E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77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6" name="Line 61">
              <a:extLst>
                <a:ext uri="{FF2B5EF4-FFF2-40B4-BE49-F238E27FC236}">
                  <a16:creationId xmlns:a16="http://schemas.microsoft.com/office/drawing/2014/main" id="{426A6CFB-0CBA-F770-4560-ECE0176BC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7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383" name="Text Box 62">
            <a:extLst>
              <a:ext uri="{FF2B5EF4-FFF2-40B4-BE49-F238E27FC236}">
                <a16:creationId xmlns:a16="http://schemas.microsoft.com/office/drawing/2014/main" id="{546B48C5-5748-40D2-DCFC-31ABDAD0A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603875"/>
            <a:ext cx="57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9933FF"/>
                </a:solidFill>
              </a:rPr>
              <a:t>in1</a:t>
            </a:r>
            <a:endParaRPr lang="en-US" altLang="en-US"/>
          </a:p>
        </p:txBody>
      </p:sp>
      <p:sp>
        <p:nvSpPr>
          <p:cNvPr id="15384" name="Text Box 63">
            <a:extLst>
              <a:ext uri="{FF2B5EF4-FFF2-40B4-BE49-F238E27FC236}">
                <a16:creationId xmlns:a16="http://schemas.microsoft.com/office/drawing/2014/main" id="{7335F80C-BDA7-A7C8-088A-CC482AC33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5603875"/>
            <a:ext cx="57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9933FF"/>
                </a:solidFill>
              </a:rPr>
              <a:t>in2</a:t>
            </a:r>
            <a:endParaRPr lang="en-US" altLang="en-US"/>
          </a:p>
        </p:txBody>
      </p:sp>
      <p:sp>
        <p:nvSpPr>
          <p:cNvPr id="15385" name="Text Box 64">
            <a:extLst>
              <a:ext uri="{FF2B5EF4-FFF2-40B4-BE49-F238E27FC236}">
                <a16:creationId xmlns:a16="http://schemas.microsoft.com/office/drawing/2014/main" id="{642F24BE-8D85-FFB9-82A5-7AA8E227D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638800"/>
            <a:ext cx="57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9933FF"/>
                </a:solidFill>
              </a:rPr>
              <a:t>in3</a:t>
            </a:r>
            <a:endParaRPr lang="en-US" altLang="en-US"/>
          </a:p>
        </p:txBody>
      </p:sp>
      <p:sp>
        <p:nvSpPr>
          <p:cNvPr id="15386" name="Text Box 65">
            <a:extLst>
              <a:ext uri="{FF2B5EF4-FFF2-40B4-BE49-F238E27FC236}">
                <a16:creationId xmlns:a16="http://schemas.microsoft.com/office/drawing/2014/main" id="{711F12D1-CFDC-2023-EBEA-786612168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5603875"/>
            <a:ext cx="57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9933FF"/>
                </a:solidFill>
              </a:rPr>
              <a:t>in4</a:t>
            </a:r>
            <a:endParaRPr lang="en-US" altLang="en-US"/>
          </a:p>
        </p:txBody>
      </p:sp>
      <p:sp>
        <p:nvSpPr>
          <p:cNvPr id="15387" name="Text Box 66">
            <a:extLst>
              <a:ext uri="{FF2B5EF4-FFF2-40B4-BE49-F238E27FC236}">
                <a16:creationId xmlns:a16="http://schemas.microsoft.com/office/drawing/2014/main" id="{8A46F6FF-5962-A281-5D78-7D847CB2A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029200"/>
            <a:ext cx="72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5050"/>
                </a:solidFill>
              </a:rPr>
              <a:t>out1</a:t>
            </a:r>
            <a:endParaRPr lang="en-US" altLang="en-US"/>
          </a:p>
        </p:txBody>
      </p:sp>
      <p:sp>
        <p:nvSpPr>
          <p:cNvPr id="15388" name="Text Box 67">
            <a:extLst>
              <a:ext uri="{FF2B5EF4-FFF2-40B4-BE49-F238E27FC236}">
                <a16:creationId xmlns:a16="http://schemas.microsoft.com/office/drawing/2014/main" id="{592E1098-4252-593B-3A23-346F35F05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191000"/>
            <a:ext cx="72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5050"/>
                </a:solidFill>
              </a:rPr>
              <a:t>out2</a:t>
            </a:r>
            <a:endParaRPr lang="en-US" altLang="en-US"/>
          </a:p>
        </p:txBody>
      </p:sp>
      <p:sp>
        <p:nvSpPr>
          <p:cNvPr id="15389" name="Text Box 68">
            <a:extLst>
              <a:ext uri="{FF2B5EF4-FFF2-40B4-BE49-F238E27FC236}">
                <a16:creationId xmlns:a16="http://schemas.microsoft.com/office/drawing/2014/main" id="{284F30CD-9E88-7E93-FA40-EE691A174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3317875"/>
            <a:ext cx="72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5050"/>
                </a:solidFill>
              </a:rPr>
              <a:t>out3</a:t>
            </a:r>
            <a:endParaRPr lang="en-US" altLang="en-US"/>
          </a:p>
        </p:txBody>
      </p:sp>
      <p:sp>
        <p:nvSpPr>
          <p:cNvPr id="15390" name="Text Box 69">
            <a:extLst>
              <a:ext uri="{FF2B5EF4-FFF2-40B4-BE49-F238E27FC236}">
                <a16:creationId xmlns:a16="http://schemas.microsoft.com/office/drawing/2014/main" id="{600CC67B-CBF6-C5FB-A2B6-BC3B21C26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2479675"/>
            <a:ext cx="72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5050"/>
                </a:solidFill>
              </a:rPr>
              <a:t>out4</a:t>
            </a:r>
            <a:endParaRPr lang="en-US" altLang="en-US"/>
          </a:p>
        </p:txBody>
      </p:sp>
      <p:grpSp>
        <p:nvGrpSpPr>
          <p:cNvPr id="20" name="Group 74">
            <a:extLst>
              <a:ext uri="{FF2B5EF4-FFF2-40B4-BE49-F238E27FC236}">
                <a16:creationId xmlns:a16="http://schemas.microsoft.com/office/drawing/2014/main" id="{48682912-49A5-332F-4A12-73CF469BB2B1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343400"/>
            <a:ext cx="3124200" cy="1295400"/>
            <a:chOff x="1920" y="2736"/>
            <a:chExt cx="1968" cy="816"/>
          </a:xfrm>
        </p:grpSpPr>
        <p:sp>
          <p:nvSpPr>
            <p:cNvPr id="15392" name="Line 70">
              <a:extLst>
                <a:ext uri="{FF2B5EF4-FFF2-40B4-BE49-F238E27FC236}">
                  <a16:creationId xmlns:a16="http://schemas.microsoft.com/office/drawing/2014/main" id="{90FCF68B-9A35-9A3A-3C79-8D8E3E16D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784"/>
              <a:ext cx="19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3" name="Line 72">
              <a:extLst>
                <a:ext uri="{FF2B5EF4-FFF2-40B4-BE49-F238E27FC236}">
                  <a16:creationId xmlns:a16="http://schemas.microsoft.com/office/drawing/2014/main" id="{31B1B945-BDBD-2D9F-9F57-C7C3E6ADE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2736"/>
              <a:ext cx="0" cy="816"/>
            </a:xfrm>
            <a:prstGeom prst="line">
              <a:avLst/>
            </a:prstGeom>
            <a:noFill/>
            <a:ln w="28575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4" name="Line 73">
              <a:extLst>
                <a:ext uri="{FF2B5EF4-FFF2-40B4-BE49-F238E27FC236}">
                  <a16:creationId xmlns:a16="http://schemas.microsoft.com/office/drawing/2014/main" id="{CAB120BE-025D-DAAB-F57F-82EB17716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736"/>
              <a:ext cx="1968" cy="0"/>
            </a:xfrm>
            <a:prstGeom prst="line">
              <a:avLst/>
            </a:prstGeom>
            <a:noFill/>
            <a:ln w="28575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>
            <a:extLst>
              <a:ext uri="{FF2B5EF4-FFF2-40B4-BE49-F238E27FC236}">
                <a16:creationId xmlns:a16="http://schemas.microsoft.com/office/drawing/2014/main" id="{8B74E840-0421-31F1-5435-227A6739E5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F7CB3E27-0774-563D-ED6A-B6C4E99B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3F1A9C32-70A9-4342-64F4-65A93D343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Crossbar characteristics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B596AF07-E740-C5A6-EF9C-F17BFF3E6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Non-blocking.</a:t>
            </a:r>
          </a:p>
          <a:p>
            <a:r>
              <a:rPr lang="en-US" altLang="en-US"/>
              <a:t>Can handle arbitrary multi-cast combinations.</a:t>
            </a:r>
          </a:p>
          <a:p>
            <a:r>
              <a:rPr lang="en-US" altLang="en-US"/>
              <a:t>Size proportional to n</a:t>
            </a:r>
            <a:r>
              <a:rPr lang="en-US" altLang="en-US" baseline="30000"/>
              <a:t>2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>
            <a:extLst>
              <a:ext uri="{FF2B5EF4-FFF2-40B4-BE49-F238E27FC236}">
                <a16:creationId xmlns:a16="http://schemas.microsoft.com/office/drawing/2014/main" id="{EB914029-A996-C1BF-6235-AEC531D25B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7411" name="Footer Placeholder 4">
            <a:extLst>
              <a:ext uri="{FF2B5EF4-FFF2-40B4-BE49-F238E27FC236}">
                <a16:creationId xmlns:a16="http://schemas.microsoft.com/office/drawing/2014/main" id="{BDAF1D72-7378-DD49-9E5D-441B33D9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C0DF9946-CC29-7A48-101A-EA324B005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Multi-stage networks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B3BED387-7656-5246-FF69-BA0103CF9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several stages of switching elements.</a:t>
            </a:r>
          </a:p>
          <a:p>
            <a:r>
              <a:rPr lang="en-US" altLang="en-US"/>
              <a:t>Often blocking.</a:t>
            </a:r>
          </a:p>
          <a:p>
            <a:r>
              <a:rPr lang="en-US" altLang="en-US"/>
              <a:t>Often smaller than crossbar.</a:t>
            </a:r>
          </a:p>
        </p:txBody>
      </p:sp>
      <p:sp>
        <p:nvSpPr>
          <p:cNvPr id="17414" name="Rectangle 4">
            <a:extLst>
              <a:ext uri="{FF2B5EF4-FFF2-40B4-BE49-F238E27FC236}">
                <a16:creationId xmlns:a16="http://schemas.microsoft.com/office/drawing/2014/main" id="{99D587AD-6986-83D5-77DE-4072AA819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33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5" name="Rectangle 5">
            <a:extLst>
              <a:ext uri="{FF2B5EF4-FFF2-40B4-BE49-F238E27FC236}">
                <a16:creationId xmlns:a16="http://schemas.microsoft.com/office/drawing/2014/main" id="{110EB5AE-C8E8-044A-3204-5230E5A47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343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6" name="Rectangle 6">
            <a:extLst>
              <a:ext uri="{FF2B5EF4-FFF2-40B4-BE49-F238E27FC236}">
                <a16:creationId xmlns:a16="http://schemas.microsoft.com/office/drawing/2014/main" id="{0C9598CF-4E8D-BEE2-3589-6DBBB18F2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9530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7" name="Rectangle 7">
            <a:extLst>
              <a:ext uri="{FF2B5EF4-FFF2-40B4-BE49-F238E27FC236}">
                <a16:creationId xmlns:a16="http://schemas.microsoft.com/office/drawing/2014/main" id="{AA6E9F27-C48A-14B9-453D-F2F0D9A47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5626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8" name="Rectangle 8">
            <a:extLst>
              <a:ext uri="{FF2B5EF4-FFF2-40B4-BE49-F238E27FC236}">
                <a16:creationId xmlns:a16="http://schemas.microsoft.com/office/drawing/2014/main" id="{D57B9A00-039C-48E8-9ACD-86CB8303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733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9" name="Rectangle 9">
            <a:extLst>
              <a:ext uri="{FF2B5EF4-FFF2-40B4-BE49-F238E27FC236}">
                <a16:creationId xmlns:a16="http://schemas.microsoft.com/office/drawing/2014/main" id="{9FD52542-261F-9187-D5D9-CF62F971E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343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20" name="Rectangle 10">
            <a:extLst>
              <a:ext uri="{FF2B5EF4-FFF2-40B4-BE49-F238E27FC236}">
                <a16:creationId xmlns:a16="http://schemas.microsoft.com/office/drawing/2014/main" id="{6B15182B-C112-9F83-3F02-2696AEC74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9530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21" name="Rectangle 11">
            <a:extLst>
              <a:ext uri="{FF2B5EF4-FFF2-40B4-BE49-F238E27FC236}">
                <a16:creationId xmlns:a16="http://schemas.microsoft.com/office/drawing/2014/main" id="{2AC23CB4-37FC-35B9-039B-F234B563E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5626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22" name="Line 12">
            <a:extLst>
              <a:ext uri="{FF2B5EF4-FFF2-40B4-BE49-F238E27FC236}">
                <a16:creationId xmlns:a16="http://schemas.microsoft.com/office/drawing/2014/main" id="{164C63AA-BFE7-5D11-E809-85BD2347D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886200"/>
            <a:ext cx="3657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Line 13">
            <a:extLst>
              <a:ext uri="{FF2B5EF4-FFF2-40B4-BE49-F238E27FC236}">
                <a16:creationId xmlns:a16="http://schemas.microsoft.com/office/drawing/2014/main" id="{616408C9-D7D9-47A9-E870-B9F145592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572000"/>
            <a:ext cx="3657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4">
            <a:extLst>
              <a:ext uri="{FF2B5EF4-FFF2-40B4-BE49-F238E27FC236}">
                <a16:creationId xmlns:a16="http://schemas.microsoft.com/office/drawing/2014/main" id="{433AFD37-356B-ACF8-930E-FF9AF17F5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105400"/>
            <a:ext cx="3657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5">
            <a:extLst>
              <a:ext uri="{FF2B5EF4-FFF2-40B4-BE49-F238E27FC236}">
                <a16:creationId xmlns:a16="http://schemas.microsoft.com/office/drawing/2014/main" id="{71856213-4459-7B39-A244-AAB7A052A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791200"/>
            <a:ext cx="3657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Line 16">
            <a:extLst>
              <a:ext uri="{FF2B5EF4-FFF2-40B4-BE49-F238E27FC236}">
                <a16:creationId xmlns:a16="http://schemas.microsoft.com/office/drawing/2014/main" id="{3B420ECC-1AA6-04CB-0242-21C5C21C6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886200"/>
            <a:ext cx="8382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Line 17">
            <a:extLst>
              <a:ext uri="{FF2B5EF4-FFF2-40B4-BE49-F238E27FC236}">
                <a16:creationId xmlns:a16="http://schemas.microsoft.com/office/drawing/2014/main" id="{F240F892-324A-4B33-42F4-BBA39D7577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886200"/>
            <a:ext cx="762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8" name="Oval 18">
            <a:extLst>
              <a:ext uri="{FF2B5EF4-FFF2-40B4-BE49-F238E27FC236}">
                <a16:creationId xmlns:a16="http://schemas.microsoft.com/office/drawing/2014/main" id="{459841BE-1AB7-5B06-9BE1-EF681382F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100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29" name="Oval 19">
            <a:extLst>
              <a:ext uri="{FF2B5EF4-FFF2-40B4-BE49-F238E27FC236}">
                <a16:creationId xmlns:a16="http://schemas.microsoft.com/office/drawing/2014/main" id="{C14917F2-A9A8-7AA1-0923-8DAD6065B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958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30" name="Line 20">
            <a:extLst>
              <a:ext uri="{FF2B5EF4-FFF2-40B4-BE49-F238E27FC236}">
                <a16:creationId xmlns:a16="http://schemas.microsoft.com/office/drawing/2014/main" id="{6DFCFF08-B47E-60EB-1E1D-35689B682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105400"/>
            <a:ext cx="8382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1">
            <a:extLst>
              <a:ext uri="{FF2B5EF4-FFF2-40B4-BE49-F238E27FC236}">
                <a16:creationId xmlns:a16="http://schemas.microsoft.com/office/drawing/2014/main" id="{9B57B1F3-B1C8-7A62-1817-DC8C2F224A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5105400"/>
            <a:ext cx="762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Oval 22">
            <a:extLst>
              <a:ext uri="{FF2B5EF4-FFF2-40B4-BE49-F238E27FC236}">
                <a16:creationId xmlns:a16="http://schemas.microsoft.com/office/drawing/2014/main" id="{0DB24F45-AEF6-22EC-2483-12D22305E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0292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33" name="Oval 23">
            <a:extLst>
              <a:ext uri="{FF2B5EF4-FFF2-40B4-BE49-F238E27FC236}">
                <a16:creationId xmlns:a16="http://schemas.microsoft.com/office/drawing/2014/main" id="{292E3C1F-7296-8724-3DCE-82DF2876E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7150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34" name="Line 24">
            <a:extLst>
              <a:ext uri="{FF2B5EF4-FFF2-40B4-BE49-F238E27FC236}">
                <a16:creationId xmlns:a16="http://schemas.microsoft.com/office/drawing/2014/main" id="{D17E48C1-8E89-A109-6258-39B03351C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962400"/>
            <a:ext cx="274320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Line 25">
            <a:extLst>
              <a:ext uri="{FF2B5EF4-FFF2-40B4-BE49-F238E27FC236}">
                <a16:creationId xmlns:a16="http://schemas.microsoft.com/office/drawing/2014/main" id="{2154CAAA-AA60-B317-2D23-CAC709F9D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572000"/>
            <a:ext cx="274320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Line 26">
            <a:extLst>
              <a:ext uri="{FF2B5EF4-FFF2-40B4-BE49-F238E27FC236}">
                <a16:creationId xmlns:a16="http://schemas.microsoft.com/office/drawing/2014/main" id="{6D48F857-0BBD-E935-3671-FE013A37B9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4572000"/>
            <a:ext cx="274320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Line 27">
            <a:extLst>
              <a:ext uri="{FF2B5EF4-FFF2-40B4-BE49-F238E27FC236}">
                <a16:creationId xmlns:a16="http://schemas.microsoft.com/office/drawing/2014/main" id="{3CF837A7-A478-F405-146D-E098EF1E65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3886200"/>
            <a:ext cx="274320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8" name="Oval 28">
            <a:extLst>
              <a:ext uri="{FF2B5EF4-FFF2-40B4-BE49-F238E27FC236}">
                <a16:creationId xmlns:a16="http://schemas.microsoft.com/office/drawing/2014/main" id="{8346479A-D7B4-1524-6A1B-D9F5FB6EF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8100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39" name="Oval 29">
            <a:extLst>
              <a:ext uri="{FF2B5EF4-FFF2-40B4-BE49-F238E27FC236}">
                <a16:creationId xmlns:a16="http://schemas.microsoft.com/office/drawing/2014/main" id="{E9CD401E-282B-F4DD-CCBD-A4B837CAA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4958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40" name="Oval 30">
            <a:extLst>
              <a:ext uri="{FF2B5EF4-FFF2-40B4-BE49-F238E27FC236}">
                <a16:creationId xmlns:a16="http://schemas.microsoft.com/office/drawing/2014/main" id="{94DCC4F3-DD76-296E-4EDB-2430BF0DF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0292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41" name="Oval 31">
            <a:extLst>
              <a:ext uri="{FF2B5EF4-FFF2-40B4-BE49-F238E27FC236}">
                <a16:creationId xmlns:a16="http://schemas.microsoft.com/office/drawing/2014/main" id="{E5648091-91D1-27F1-2D57-9E8406362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7150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42" name="Oval 32">
            <a:extLst>
              <a:ext uri="{FF2B5EF4-FFF2-40B4-BE49-F238E27FC236}">
                <a16:creationId xmlns:a16="http://schemas.microsoft.com/office/drawing/2014/main" id="{9BE6B318-592A-2C42-65EC-C33CD44A7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100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43" name="Oval 33">
            <a:extLst>
              <a:ext uri="{FF2B5EF4-FFF2-40B4-BE49-F238E27FC236}">
                <a16:creationId xmlns:a16="http://schemas.microsoft.com/office/drawing/2014/main" id="{C4A18674-F3C6-7BBD-F2AA-B79D0F330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4958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44" name="Oval 34">
            <a:extLst>
              <a:ext uri="{FF2B5EF4-FFF2-40B4-BE49-F238E27FC236}">
                <a16:creationId xmlns:a16="http://schemas.microsoft.com/office/drawing/2014/main" id="{25912BB0-9562-6FCC-DCF2-7D80ED65A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0292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45" name="Oval 35">
            <a:extLst>
              <a:ext uri="{FF2B5EF4-FFF2-40B4-BE49-F238E27FC236}">
                <a16:creationId xmlns:a16="http://schemas.microsoft.com/office/drawing/2014/main" id="{FA1E2783-916A-7141-D6F3-2A7AD50DA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715000"/>
            <a:ext cx="152400" cy="152400"/>
          </a:xfrm>
          <a:prstGeom prst="ellipse">
            <a:avLst/>
          </a:prstGeom>
          <a:solidFill>
            <a:srgbClr val="6600CC"/>
          </a:solidFill>
          <a:ln w="9525">
            <a:solidFill>
              <a:srgbClr val="6600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>
            <a:extLst>
              <a:ext uri="{FF2B5EF4-FFF2-40B4-BE49-F238E27FC236}">
                <a16:creationId xmlns:a16="http://schemas.microsoft.com/office/drawing/2014/main" id="{B6B0791B-5099-A97C-9680-91C9940B3B3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8435" name="Footer Placeholder 4">
            <a:extLst>
              <a:ext uri="{FF2B5EF4-FFF2-40B4-BE49-F238E27FC236}">
                <a16:creationId xmlns:a16="http://schemas.microsoft.com/office/drawing/2014/main" id="{142E3934-5E47-F4CF-88B6-655271C01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8D1F0E67-A693-4FED-121F-A9898B5E3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Message-based programming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81C2F41F-7638-C783-BB4D-9839837B6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Transport layer provides message-based programming interface: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send_msg(adrs,data1);</a:t>
            </a:r>
            <a:endParaRPr lang="en-US" altLang="en-US"/>
          </a:p>
          <a:p>
            <a:r>
              <a:rPr lang="en-US" altLang="en-US"/>
              <a:t>Data must be broken into packets at source, reassembled at destination.</a:t>
            </a:r>
          </a:p>
          <a:p>
            <a:r>
              <a:rPr lang="en-US" altLang="en-US">
                <a:solidFill>
                  <a:srgbClr val="FF5050"/>
                </a:solidFill>
              </a:rPr>
              <a:t>Data-push programming</a:t>
            </a:r>
            <a:r>
              <a:rPr lang="en-US" altLang="en-US"/>
              <a:t>: make things happen in network based on data transfers.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>
            <a:extLst>
              <a:ext uri="{FF2B5EF4-FFF2-40B4-BE49-F238E27FC236}">
                <a16:creationId xmlns:a16="http://schemas.microsoft.com/office/drawing/2014/main" id="{C52FEFB0-D60C-F86F-DEF5-F73380E21E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9459" name="Footer Placeholder 4">
            <a:extLst>
              <a:ext uri="{FF2B5EF4-FFF2-40B4-BE49-F238E27FC236}">
                <a16:creationId xmlns:a16="http://schemas.microsoft.com/office/drawing/2014/main" id="{1AFFF80D-D35B-FA57-253D-D4605B259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E5BF2560-0834-5957-C80A-E088DA5AA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bus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24E01678-BC5B-24F7-F79A-3487AE92D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Designed for low-cost, medium data rate applications.</a:t>
            </a:r>
          </a:p>
          <a:p>
            <a:r>
              <a:rPr lang="en-US" altLang="en-US"/>
              <a:t>Characteristics:</a:t>
            </a:r>
          </a:p>
          <a:p>
            <a:pPr lvl="1"/>
            <a:r>
              <a:rPr lang="en-US" altLang="en-US"/>
              <a:t>serial;</a:t>
            </a:r>
          </a:p>
          <a:p>
            <a:pPr lvl="1"/>
            <a:r>
              <a:rPr lang="en-US" altLang="en-US"/>
              <a:t>multiple-master;</a:t>
            </a:r>
          </a:p>
          <a:p>
            <a:pPr lvl="1"/>
            <a:r>
              <a:rPr lang="en-US" altLang="en-US"/>
              <a:t>fixed-priority arbitration.</a:t>
            </a:r>
          </a:p>
          <a:p>
            <a:r>
              <a:rPr lang="en-US" altLang="en-US"/>
              <a:t>Several microcontrollers come with built-in I</a:t>
            </a:r>
            <a:r>
              <a:rPr lang="en-US" altLang="en-US" baseline="30000"/>
              <a:t>2</a:t>
            </a:r>
            <a:r>
              <a:rPr lang="en-US" altLang="en-US"/>
              <a:t>C controllers.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>
            <a:extLst>
              <a:ext uri="{FF2B5EF4-FFF2-40B4-BE49-F238E27FC236}">
                <a16:creationId xmlns:a16="http://schemas.microsoft.com/office/drawing/2014/main" id="{503E29C0-4C7A-1353-398F-EF1642DB8E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0483" name="Footer Placeholder 4">
            <a:extLst>
              <a:ext uri="{FF2B5EF4-FFF2-40B4-BE49-F238E27FC236}">
                <a16:creationId xmlns:a16="http://schemas.microsoft.com/office/drawing/2014/main" id="{2081CB54-1BE8-87D6-F5A1-6FF7AF37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4973B42D-09FE-6738-38D4-5CAA6DBE7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physical layer</a:t>
            </a: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9961F412-BFCF-9A0E-A64A-93EC6BF50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514600"/>
            <a:ext cx="1219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master 1</a:t>
            </a: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4C762542-64DA-F6E6-8ED5-90FA94912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514600"/>
            <a:ext cx="1219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master 2</a:t>
            </a: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CDEE669B-D299-5507-8A5C-E910D364D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267200"/>
            <a:ext cx="1219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slave 1</a:t>
            </a: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7308586D-2334-4BED-DFB8-06AFA0666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267200"/>
            <a:ext cx="1219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slave 2</a:t>
            </a:r>
          </a:p>
        </p:txBody>
      </p:sp>
      <p:sp>
        <p:nvSpPr>
          <p:cNvPr id="20489" name="Line 8">
            <a:extLst>
              <a:ext uri="{FF2B5EF4-FFF2-40B4-BE49-F238E27FC236}">
                <a16:creationId xmlns:a16="http://schemas.microsoft.com/office/drawing/2014/main" id="{D90AF752-E4A9-90BC-96A6-BD987A45F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429000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Line 9">
            <a:extLst>
              <a:ext uri="{FF2B5EF4-FFF2-40B4-BE49-F238E27FC236}">
                <a16:creationId xmlns:a16="http://schemas.microsoft.com/office/drawing/2014/main" id="{D73EB9AD-4169-57DC-41FB-6DDFAAD1E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962400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Line 10">
            <a:extLst>
              <a:ext uri="{FF2B5EF4-FFF2-40B4-BE49-F238E27FC236}">
                <a16:creationId xmlns:a16="http://schemas.microsoft.com/office/drawing/2014/main" id="{AC2D6BFE-610C-83D3-4748-9AB113EB0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Line 11">
            <a:extLst>
              <a:ext uri="{FF2B5EF4-FFF2-40B4-BE49-F238E27FC236}">
                <a16:creationId xmlns:a16="http://schemas.microsoft.com/office/drawing/2014/main" id="{8C0CB2CA-34DD-1F51-A112-9BE3BF98F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200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Line 12">
            <a:extLst>
              <a:ext uri="{FF2B5EF4-FFF2-40B4-BE49-F238E27FC236}">
                <a16:creationId xmlns:a16="http://schemas.microsoft.com/office/drawing/2014/main" id="{4E92C849-6E28-C382-AF0C-54ECF1F1AF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3429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3">
            <a:extLst>
              <a:ext uri="{FF2B5EF4-FFF2-40B4-BE49-F238E27FC236}">
                <a16:creationId xmlns:a16="http://schemas.microsoft.com/office/drawing/2014/main" id="{087E86EF-66FA-52B5-4ABB-A815B57425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Line 14">
            <a:extLst>
              <a:ext uri="{FF2B5EF4-FFF2-40B4-BE49-F238E27FC236}">
                <a16:creationId xmlns:a16="http://schemas.microsoft.com/office/drawing/2014/main" id="{F029B0AB-FCEA-6B91-EB02-A7832D089F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3429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5">
            <a:extLst>
              <a:ext uri="{FF2B5EF4-FFF2-40B4-BE49-F238E27FC236}">
                <a16:creationId xmlns:a16="http://schemas.microsoft.com/office/drawing/2014/main" id="{599807BA-7D46-51E2-E93F-D980995EB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7" name="Line 16">
            <a:extLst>
              <a:ext uri="{FF2B5EF4-FFF2-40B4-BE49-F238E27FC236}">
                <a16:creationId xmlns:a16="http://schemas.microsoft.com/office/drawing/2014/main" id="{9C179361-9567-AB28-88D8-B208D9038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200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Line 17">
            <a:extLst>
              <a:ext uri="{FF2B5EF4-FFF2-40B4-BE49-F238E27FC236}">
                <a16:creationId xmlns:a16="http://schemas.microsoft.com/office/drawing/2014/main" id="{F107C041-CFA4-ED7C-9F06-92EF2E5C6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00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9" name="Text Box 18">
            <a:extLst>
              <a:ext uri="{FF2B5EF4-FFF2-40B4-BE49-F238E27FC236}">
                <a16:creationId xmlns:a16="http://schemas.microsoft.com/office/drawing/2014/main" id="{1F1B1B32-4344-CB1C-4F17-9C70D0A66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733800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5050"/>
                </a:solidFill>
              </a:rPr>
              <a:t>SCL</a:t>
            </a:r>
            <a:endParaRPr lang="en-US" altLang="en-US"/>
          </a:p>
        </p:txBody>
      </p:sp>
      <p:sp>
        <p:nvSpPr>
          <p:cNvPr id="20500" name="Text Box 19">
            <a:extLst>
              <a:ext uri="{FF2B5EF4-FFF2-40B4-BE49-F238E27FC236}">
                <a16:creationId xmlns:a16="http://schemas.microsoft.com/office/drawing/2014/main" id="{4EB23774-8FA0-4AAA-7491-88BA9DDCC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3089275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5050"/>
                </a:solidFill>
              </a:rPr>
              <a:t>SDL</a:t>
            </a:r>
            <a:endParaRPr lang="en-US" altLang="en-US"/>
          </a:p>
        </p:txBody>
      </p:sp>
      <p:sp>
        <p:nvSpPr>
          <p:cNvPr id="20501" name="Text Box 20">
            <a:extLst>
              <a:ext uri="{FF2B5EF4-FFF2-40B4-BE49-F238E27FC236}">
                <a16:creationId xmlns:a16="http://schemas.microsoft.com/office/drawing/2014/main" id="{E520C29B-1CC3-5AD4-3593-3478368A2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325" y="2860675"/>
            <a:ext cx="1222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data line</a:t>
            </a:r>
          </a:p>
        </p:txBody>
      </p:sp>
      <p:sp>
        <p:nvSpPr>
          <p:cNvPr id="20502" name="Text Box 21">
            <a:extLst>
              <a:ext uri="{FF2B5EF4-FFF2-40B4-BE49-F238E27FC236}">
                <a16:creationId xmlns:a16="http://schemas.microsoft.com/office/drawing/2014/main" id="{B7302330-675B-C807-938A-727E1CB5F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3546475"/>
            <a:ext cx="137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clock 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>
            <a:extLst>
              <a:ext uri="{FF2B5EF4-FFF2-40B4-BE49-F238E27FC236}">
                <a16:creationId xmlns:a16="http://schemas.microsoft.com/office/drawing/2014/main" id="{0387D20A-C0A6-5021-58E6-267B217487B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1507" name="Footer Placeholder 4">
            <a:extLst>
              <a:ext uri="{FF2B5EF4-FFF2-40B4-BE49-F238E27FC236}">
                <a16:creationId xmlns:a16="http://schemas.microsoft.com/office/drawing/2014/main" id="{E1FDA104-D779-97F2-AA8C-1C3EB070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BD49F2A7-A064-4CC6-8E17-8FB2F27D9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data format</a:t>
            </a:r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C5BA4D21-1448-3EFE-FD79-CC4CCDC86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2632075"/>
            <a:ext cx="74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SCL</a:t>
            </a:r>
          </a:p>
        </p:txBody>
      </p:sp>
      <p:sp>
        <p:nvSpPr>
          <p:cNvPr id="21510" name="Text Box 5">
            <a:extLst>
              <a:ext uri="{FF2B5EF4-FFF2-40B4-BE49-F238E27FC236}">
                <a16:creationId xmlns:a16="http://schemas.microsoft.com/office/drawing/2014/main" id="{5B00500C-41A3-77FC-6D45-C925BEFBE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4384675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SDL</a:t>
            </a:r>
          </a:p>
        </p:txBody>
      </p:sp>
      <p:sp>
        <p:nvSpPr>
          <p:cNvPr id="21511" name="Line 6">
            <a:extLst>
              <a:ext uri="{FF2B5EF4-FFF2-40B4-BE49-F238E27FC236}">
                <a16:creationId xmlns:a16="http://schemas.microsoft.com/office/drawing/2014/main" id="{EED2F11D-8489-D4F1-641D-CE6080A99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352800"/>
            <a:ext cx="6629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7">
            <a:extLst>
              <a:ext uri="{FF2B5EF4-FFF2-40B4-BE49-F238E27FC236}">
                <a16:creationId xmlns:a16="http://schemas.microsoft.com/office/drawing/2014/main" id="{AE991887-DDA1-91DE-AE1A-A76007B3A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953000"/>
            <a:ext cx="6629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8">
            <a:extLst>
              <a:ext uri="{FF2B5EF4-FFF2-40B4-BE49-F238E27FC236}">
                <a16:creationId xmlns:a16="http://schemas.microsoft.com/office/drawing/2014/main" id="{E3028841-7A5D-F0DC-AB45-6C0A81D1D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2590800"/>
            <a:ext cx="381000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14" name="Group 13">
            <a:extLst>
              <a:ext uri="{FF2B5EF4-FFF2-40B4-BE49-F238E27FC236}">
                <a16:creationId xmlns:a16="http://schemas.microsoft.com/office/drawing/2014/main" id="{C4E12DBD-F83F-6C24-80F4-971D92CC901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590800"/>
            <a:ext cx="1524000" cy="685800"/>
            <a:chOff x="1296" y="1584"/>
            <a:chExt cx="960" cy="432"/>
          </a:xfrm>
        </p:grpSpPr>
        <p:sp>
          <p:nvSpPr>
            <p:cNvPr id="21555" name="Line 9">
              <a:extLst>
                <a:ext uri="{FF2B5EF4-FFF2-40B4-BE49-F238E27FC236}">
                  <a16:creationId xmlns:a16="http://schemas.microsoft.com/office/drawing/2014/main" id="{77C7DAE8-34FD-9F90-97E7-9AD78AA13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84"/>
              <a:ext cx="96" cy="43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6" name="Line 10">
              <a:extLst>
                <a:ext uri="{FF2B5EF4-FFF2-40B4-BE49-F238E27FC236}">
                  <a16:creationId xmlns:a16="http://schemas.microsoft.com/office/drawing/2014/main" id="{1ECCA164-A9E4-E905-2CEA-0BDC17FD8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384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7" name="Line 11">
              <a:extLst>
                <a:ext uri="{FF2B5EF4-FFF2-40B4-BE49-F238E27FC236}">
                  <a16:creationId xmlns:a16="http://schemas.microsoft.com/office/drawing/2014/main" id="{B9800556-97F3-7D2B-06E4-DE9ADB18A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584"/>
              <a:ext cx="96" cy="43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8" name="Line 12">
              <a:extLst>
                <a:ext uri="{FF2B5EF4-FFF2-40B4-BE49-F238E27FC236}">
                  <a16:creationId xmlns:a16="http://schemas.microsoft.com/office/drawing/2014/main" id="{22284548-38EA-EE3B-29E6-3B9EE6C599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584"/>
              <a:ext cx="384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515" name="Group 14">
            <a:extLst>
              <a:ext uri="{FF2B5EF4-FFF2-40B4-BE49-F238E27FC236}">
                <a16:creationId xmlns:a16="http://schemas.microsoft.com/office/drawing/2014/main" id="{85398AB5-FF89-62AF-8768-1B218462C1D2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590800"/>
            <a:ext cx="1524000" cy="685800"/>
            <a:chOff x="1296" y="1584"/>
            <a:chExt cx="960" cy="432"/>
          </a:xfrm>
        </p:grpSpPr>
        <p:sp>
          <p:nvSpPr>
            <p:cNvPr id="21551" name="Line 15">
              <a:extLst>
                <a:ext uri="{FF2B5EF4-FFF2-40B4-BE49-F238E27FC236}">
                  <a16:creationId xmlns:a16="http://schemas.microsoft.com/office/drawing/2014/main" id="{E7ED01FD-41C6-F666-B051-D896CBFCC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84"/>
              <a:ext cx="96" cy="43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2" name="Line 16">
              <a:extLst>
                <a:ext uri="{FF2B5EF4-FFF2-40B4-BE49-F238E27FC236}">
                  <a16:creationId xmlns:a16="http://schemas.microsoft.com/office/drawing/2014/main" id="{63FDECD0-7693-D962-7012-62EF78D23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384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3" name="Line 17">
              <a:extLst>
                <a:ext uri="{FF2B5EF4-FFF2-40B4-BE49-F238E27FC236}">
                  <a16:creationId xmlns:a16="http://schemas.microsoft.com/office/drawing/2014/main" id="{26FCD072-1564-812A-C386-BD81C45DD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584"/>
              <a:ext cx="96" cy="43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4" name="Line 18">
              <a:extLst>
                <a:ext uri="{FF2B5EF4-FFF2-40B4-BE49-F238E27FC236}">
                  <a16:creationId xmlns:a16="http://schemas.microsoft.com/office/drawing/2014/main" id="{31EC2AF7-A443-BC7F-2131-978D28EDE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584"/>
              <a:ext cx="384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516" name="Group 24">
            <a:extLst>
              <a:ext uri="{FF2B5EF4-FFF2-40B4-BE49-F238E27FC236}">
                <a16:creationId xmlns:a16="http://schemas.microsoft.com/office/drawing/2014/main" id="{D5794675-25CA-BEEF-8B13-027D21D17F65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590800"/>
            <a:ext cx="1524000" cy="685800"/>
            <a:chOff x="1296" y="1584"/>
            <a:chExt cx="960" cy="432"/>
          </a:xfrm>
        </p:grpSpPr>
        <p:sp>
          <p:nvSpPr>
            <p:cNvPr id="21547" name="Line 25">
              <a:extLst>
                <a:ext uri="{FF2B5EF4-FFF2-40B4-BE49-F238E27FC236}">
                  <a16:creationId xmlns:a16="http://schemas.microsoft.com/office/drawing/2014/main" id="{779D55CF-3BF3-828F-83B1-371828280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84"/>
              <a:ext cx="96" cy="43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Line 26">
              <a:extLst>
                <a:ext uri="{FF2B5EF4-FFF2-40B4-BE49-F238E27FC236}">
                  <a16:creationId xmlns:a16="http://schemas.microsoft.com/office/drawing/2014/main" id="{E4246B65-C8D5-90E7-56F7-BC9CD391F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384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9" name="Line 27">
              <a:extLst>
                <a:ext uri="{FF2B5EF4-FFF2-40B4-BE49-F238E27FC236}">
                  <a16:creationId xmlns:a16="http://schemas.microsoft.com/office/drawing/2014/main" id="{0BF37B56-361C-34B8-B556-83B0FF8C30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584"/>
              <a:ext cx="96" cy="43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0" name="Line 28">
              <a:extLst>
                <a:ext uri="{FF2B5EF4-FFF2-40B4-BE49-F238E27FC236}">
                  <a16:creationId xmlns:a16="http://schemas.microsoft.com/office/drawing/2014/main" id="{D238B7AE-EB07-CE37-B6A9-C81781583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584"/>
              <a:ext cx="384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17" name="Text Box 29">
            <a:extLst>
              <a:ext uri="{FF2B5EF4-FFF2-40B4-BE49-F238E27FC236}">
                <a16:creationId xmlns:a16="http://schemas.microsoft.com/office/drawing/2014/main" id="{51D65F9A-1864-9960-A18F-16E94A90E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25" y="2708275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...</a:t>
            </a:r>
          </a:p>
        </p:txBody>
      </p:sp>
      <p:sp>
        <p:nvSpPr>
          <p:cNvPr id="21518" name="Line 30">
            <a:extLst>
              <a:ext uri="{FF2B5EF4-FFF2-40B4-BE49-F238E27FC236}">
                <a16:creationId xmlns:a16="http://schemas.microsoft.com/office/drawing/2014/main" id="{B5F86C9A-97AF-003E-4B7B-0FCD9C4E5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191000"/>
            <a:ext cx="76200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32">
            <a:extLst>
              <a:ext uri="{FF2B5EF4-FFF2-40B4-BE49-F238E27FC236}">
                <a16:creationId xmlns:a16="http://schemas.microsoft.com/office/drawing/2014/main" id="{3A5E6302-D265-A1AC-38A9-EE84D6B22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191000"/>
            <a:ext cx="152400" cy="68580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33">
            <a:extLst>
              <a:ext uri="{FF2B5EF4-FFF2-40B4-BE49-F238E27FC236}">
                <a16:creationId xmlns:a16="http://schemas.microsoft.com/office/drawing/2014/main" id="{136BD7E4-69DE-8B2D-99BA-380D2BE26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876800"/>
            <a:ext cx="914400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21" name="Group 58">
            <a:extLst>
              <a:ext uri="{FF2B5EF4-FFF2-40B4-BE49-F238E27FC236}">
                <a16:creationId xmlns:a16="http://schemas.microsoft.com/office/drawing/2014/main" id="{D75F695B-6EED-1CFD-F175-315089FD8E3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191000"/>
            <a:ext cx="1447800" cy="685800"/>
            <a:chOff x="1824" y="2592"/>
            <a:chExt cx="912" cy="432"/>
          </a:xfrm>
        </p:grpSpPr>
        <p:sp>
          <p:nvSpPr>
            <p:cNvPr id="21541" name="Line 34">
              <a:extLst>
                <a:ext uri="{FF2B5EF4-FFF2-40B4-BE49-F238E27FC236}">
                  <a16:creationId xmlns:a16="http://schemas.microsoft.com/office/drawing/2014/main" id="{161FA673-E96D-8D1A-4FF4-16183E40E3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2592"/>
              <a:ext cx="48" cy="24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2" name="Line 35">
              <a:extLst>
                <a:ext uri="{FF2B5EF4-FFF2-40B4-BE49-F238E27FC236}">
                  <a16:creationId xmlns:a16="http://schemas.microsoft.com/office/drawing/2014/main" id="{FAD21A02-F5C7-DE3F-E17F-DE9C9F810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592"/>
              <a:ext cx="816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3" name="Line 37">
              <a:extLst>
                <a:ext uri="{FF2B5EF4-FFF2-40B4-BE49-F238E27FC236}">
                  <a16:creationId xmlns:a16="http://schemas.microsoft.com/office/drawing/2014/main" id="{4EBDEEB0-21BD-E785-8699-3731DE604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832"/>
              <a:ext cx="96" cy="19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4" name="Line 38">
              <a:extLst>
                <a:ext uri="{FF2B5EF4-FFF2-40B4-BE49-F238E27FC236}">
                  <a16:creationId xmlns:a16="http://schemas.microsoft.com/office/drawing/2014/main" id="{4DAACE46-940E-329C-39C0-00D510C0E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024"/>
              <a:ext cx="768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5" name="Line 39">
              <a:extLst>
                <a:ext uri="{FF2B5EF4-FFF2-40B4-BE49-F238E27FC236}">
                  <a16:creationId xmlns:a16="http://schemas.microsoft.com/office/drawing/2014/main" id="{FCE63785-1F10-EEBD-574A-858ECC3C4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2784"/>
              <a:ext cx="48" cy="24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6" name="Line 40">
              <a:extLst>
                <a:ext uri="{FF2B5EF4-FFF2-40B4-BE49-F238E27FC236}">
                  <a16:creationId xmlns:a16="http://schemas.microsoft.com/office/drawing/2014/main" id="{EF91E3AB-B3F8-1495-4FBB-54BD34ABD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592"/>
              <a:ext cx="48" cy="19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22" name="Text Box 56">
            <a:extLst>
              <a:ext uri="{FF2B5EF4-FFF2-40B4-BE49-F238E27FC236}">
                <a16:creationId xmlns:a16="http://schemas.microsoft.com/office/drawing/2014/main" id="{FE8050BE-6E68-66E8-575D-68E3E2D9E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5299075"/>
            <a:ext cx="828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MSB</a:t>
            </a:r>
          </a:p>
        </p:txBody>
      </p:sp>
      <p:sp>
        <p:nvSpPr>
          <p:cNvPr id="21523" name="Text Box 57">
            <a:extLst>
              <a:ext uri="{FF2B5EF4-FFF2-40B4-BE49-F238E27FC236}">
                <a16:creationId xmlns:a16="http://schemas.microsoft.com/office/drawing/2014/main" id="{232DD20B-4755-4083-F61E-C36ED8423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5299075"/>
            <a:ext cx="70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start</a:t>
            </a:r>
          </a:p>
        </p:txBody>
      </p:sp>
      <p:sp>
        <p:nvSpPr>
          <p:cNvPr id="21524" name="Line 59">
            <a:extLst>
              <a:ext uri="{FF2B5EF4-FFF2-40B4-BE49-F238E27FC236}">
                <a16:creationId xmlns:a16="http://schemas.microsoft.com/office/drawing/2014/main" id="{247DEE18-3621-0C0F-DE04-A7AE8DCCFE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4572000"/>
            <a:ext cx="76200" cy="30480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25" name="Group 60">
            <a:extLst>
              <a:ext uri="{FF2B5EF4-FFF2-40B4-BE49-F238E27FC236}">
                <a16:creationId xmlns:a16="http://schemas.microsoft.com/office/drawing/2014/main" id="{528B9B6A-F04A-ADAB-A060-13225BDEBE86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191000"/>
            <a:ext cx="1447800" cy="685800"/>
            <a:chOff x="1824" y="2592"/>
            <a:chExt cx="912" cy="432"/>
          </a:xfrm>
        </p:grpSpPr>
        <p:sp>
          <p:nvSpPr>
            <p:cNvPr id="21535" name="Line 61">
              <a:extLst>
                <a:ext uri="{FF2B5EF4-FFF2-40B4-BE49-F238E27FC236}">
                  <a16:creationId xmlns:a16="http://schemas.microsoft.com/office/drawing/2014/main" id="{C9D44FDD-8452-8242-2F98-15F89DF63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2592"/>
              <a:ext cx="48" cy="24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6" name="Line 62">
              <a:extLst>
                <a:ext uri="{FF2B5EF4-FFF2-40B4-BE49-F238E27FC236}">
                  <a16:creationId xmlns:a16="http://schemas.microsoft.com/office/drawing/2014/main" id="{F3C70EAA-8489-C79A-82EB-F843A7707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592"/>
              <a:ext cx="816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7" name="Line 63">
              <a:extLst>
                <a:ext uri="{FF2B5EF4-FFF2-40B4-BE49-F238E27FC236}">
                  <a16:creationId xmlns:a16="http://schemas.microsoft.com/office/drawing/2014/main" id="{27B37BB3-8169-0090-8A38-3B3488C5E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832"/>
              <a:ext cx="96" cy="19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8" name="Line 64">
              <a:extLst>
                <a:ext uri="{FF2B5EF4-FFF2-40B4-BE49-F238E27FC236}">
                  <a16:creationId xmlns:a16="http://schemas.microsoft.com/office/drawing/2014/main" id="{913ACD8F-F28F-DAC1-C45C-E629939F8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024"/>
              <a:ext cx="768" cy="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9" name="Line 65">
              <a:extLst>
                <a:ext uri="{FF2B5EF4-FFF2-40B4-BE49-F238E27FC236}">
                  <a16:creationId xmlns:a16="http://schemas.microsoft.com/office/drawing/2014/main" id="{E958125D-9FC8-B269-14A0-9DCA4DF16C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2784"/>
              <a:ext cx="48" cy="240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0" name="Line 66">
              <a:extLst>
                <a:ext uri="{FF2B5EF4-FFF2-40B4-BE49-F238E27FC236}">
                  <a16:creationId xmlns:a16="http://schemas.microsoft.com/office/drawing/2014/main" id="{E8395A53-5C07-5739-8749-3FEAAC481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592"/>
              <a:ext cx="48" cy="192"/>
            </a:xfrm>
            <a:prstGeom prst="line">
              <a:avLst/>
            </a:prstGeom>
            <a:noFill/>
            <a:ln w="1905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26" name="Text Box 81">
            <a:extLst>
              <a:ext uri="{FF2B5EF4-FFF2-40B4-BE49-F238E27FC236}">
                <a16:creationId xmlns:a16="http://schemas.microsoft.com/office/drawing/2014/main" id="{2A7C0FC7-4FE5-15A2-E469-C62F76F4A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2672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...</a:t>
            </a:r>
          </a:p>
        </p:txBody>
      </p:sp>
      <p:sp>
        <p:nvSpPr>
          <p:cNvPr id="21527" name="Line 82">
            <a:extLst>
              <a:ext uri="{FF2B5EF4-FFF2-40B4-BE49-F238E27FC236}">
                <a16:creationId xmlns:a16="http://schemas.microsoft.com/office/drawing/2014/main" id="{250F4AE4-92ED-9D19-784E-FF821D4AF7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191000"/>
            <a:ext cx="381000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Line 83">
            <a:extLst>
              <a:ext uri="{FF2B5EF4-FFF2-40B4-BE49-F238E27FC236}">
                <a16:creationId xmlns:a16="http://schemas.microsoft.com/office/drawing/2014/main" id="{23288C8F-36CB-DAA3-A87D-11214D7AE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191000"/>
            <a:ext cx="152400" cy="68580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9" name="Line 84">
            <a:extLst>
              <a:ext uri="{FF2B5EF4-FFF2-40B4-BE49-F238E27FC236}">
                <a16:creationId xmlns:a16="http://schemas.microsoft.com/office/drawing/2014/main" id="{3E5BE2A5-65A1-F135-7E22-D5D452DFB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4876800"/>
            <a:ext cx="609600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0" name="Line 85">
            <a:extLst>
              <a:ext uri="{FF2B5EF4-FFF2-40B4-BE49-F238E27FC236}">
                <a16:creationId xmlns:a16="http://schemas.microsoft.com/office/drawing/2014/main" id="{0B4506E8-8687-79E4-F265-839125D319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4572000"/>
            <a:ext cx="76200" cy="30480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1" name="Text Box 86">
            <a:extLst>
              <a:ext uri="{FF2B5EF4-FFF2-40B4-BE49-F238E27FC236}">
                <a16:creationId xmlns:a16="http://schemas.microsoft.com/office/drawing/2014/main" id="{3E8E5ECF-2561-D4B2-55D6-0D0B93C0A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5222875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ack</a:t>
            </a:r>
          </a:p>
        </p:txBody>
      </p:sp>
      <p:sp>
        <p:nvSpPr>
          <p:cNvPr id="21532" name="Line 87">
            <a:extLst>
              <a:ext uri="{FF2B5EF4-FFF2-40B4-BE49-F238E27FC236}">
                <a16:creationId xmlns:a16="http://schemas.microsoft.com/office/drawing/2014/main" id="{AFB3F041-8549-B1F2-93D5-47F5DEEB4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590800"/>
            <a:ext cx="152400" cy="68580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3" name="Line 88">
            <a:extLst>
              <a:ext uri="{FF2B5EF4-FFF2-40B4-BE49-F238E27FC236}">
                <a16:creationId xmlns:a16="http://schemas.microsoft.com/office/drawing/2014/main" id="{A2118AF5-3143-0A72-FF97-4690C3F9C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276600"/>
            <a:ext cx="609600" cy="0"/>
          </a:xfrm>
          <a:prstGeom prst="line">
            <a:avLst/>
          </a:prstGeom>
          <a:noFill/>
          <a:ln w="19050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4" name="Text Box 89">
            <a:extLst>
              <a:ext uri="{FF2B5EF4-FFF2-40B4-BE49-F238E27FC236}">
                <a16:creationId xmlns:a16="http://schemas.microsoft.com/office/drawing/2014/main" id="{01CA0E30-8A2D-3854-F543-F72183637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5908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>
            <a:extLst>
              <a:ext uri="{FF2B5EF4-FFF2-40B4-BE49-F238E27FC236}">
                <a16:creationId xmlns:a16="http://schemas.microsoft.com/office/drawing/2014/main" id="{8B4B7C6C-E32F-B897-0933-7D2E199C38D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2531" name="Footer Placeholder 4">
            <a:extLst>
              <a:ext uri="{FF2B5EF4-FFF2-40B4-BE49-F238E27FC236}">
                <a16:creationId xmlns:a16="http://schemas.microsoft.com/office/drawing/2014/main" id="{98B14700-59E7-552F-D1DD-D887E5B0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FC026CB0-3C91-FB6F-EA9E-1DCC54618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electrical interface</a:t>
            </a:r>
          </a:p>
        </p:txBody>
      </p:sp>
      <p:sp>
        <p:nvSpPr>
          <p:cNvPr id="22533" name="Line 4">
            <a:extLst>
              <a:ext uri="{FF2B5EF4-FFF2-40B4-BE49-F238E27FC236}">
                <a16:creationId xmlns:a16="http://schemas.microsoft.com/office/drawing/2014/main" id="{B998C5E8-7B5A-DAB6-DA4F-DDE1851F9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3200400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Text Box 5">
            <a:extLst>
              <a:ext uri="{FF2B5EF4-FFF2-40B4-BE49-F238E27FC236}">
                <a16:creationId xmlns:a16="http://schemas.microsoft.com/office/drawing/2014/main" id="{F5326069-DDF6-28E7-9AFC-C4199D925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2936875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SDL</a:t>
            </a:r>
          </a:p>
        </p:txBody>
      </p:sp>
      <p:sp>
        <p:nvSpPr>
          <p:cNvPr id="22535" name="Line 6">
            <a:extLst>
              <a:ext uri="{FF2B5EF4-FFF2-40B4-BE49-F238E27FC236}">
                <a16:creationId xmlns:a16="http://schemas.microsoft.com/office/drawing/2014/main" id="{FFAC2C01-EE7E-6FF6-AD63-33E4E5CEA6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2895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Line 7">
            <a:extLst>
              <a:ext uri="{FF2B5EF4-FFF2-40B4-BE49-F238E27FC236}">
                <a16:creationId xmlns:a16="http://schemas.microsoft.com/office/drawing/2014/main" id="{6A811875-77BE-5FF9-D559-0FF0DDAB97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28194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Line 8">
            <a:extLst>
              <a:ext uri="{FF2B5EF4-FFF2-40B4-BE49-F238E27FC236}">
                <a16:creationId xmlns:a16="http://schemas.microsoft.com/office/drawing/2014/main" id="{9AAF8EEA-47F0-97AA-B8B2-A161F57875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5200" y="26670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9">
            <a:extLst>
              <a:ext uri="{FF2B5EF4-FFF2-40B4-BE49-F238E27FC236}">
                <a16:creationId xmlns:a16="http://schemas.microsoft.com/office/drawing/2014/main" id="{352B36D0-6B5C-C2E4-ED6A-6DF1363959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25146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Line 10">
            <a:extLst>
              <a:ext uri="{FF2B5EF4-FFF2-40B4-BE49-F238E27FC236}">
                <a16:creationId xmlns:a16="http://schemas.microsoft.com/office/drawing/2014/main" id="{70741C85-B009-B3BB-4FE2-B4FC752EC1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5200" y="2438400"/>
            <a:ext cx="457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Line 11">
            <a:extLst>
              <a:ext uri="{FF2B5EF4-FFF2-40B4-BE49-F238E27FC236}">
                <a16:creationId xmlns:a16="http://schemas.microsoft.com/office/drawing/2014/main" id="{A004F43D-ACAC-4301-6607-26E2421227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22860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Line 12">
            <a:extLst>
              <a:ext uri="{FF2B5EF4-FFF2-40B4-BE49-F238E27FC236}">
                <a16:creationId xmlns:a16="http://schemas.microsoft.com/office/drawing/2014/main" id="{F79EA983-F49F-F593-37DC-38292A6029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2133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Text Box 13">
            <a:extLst>
              <a:ext uri="{FF2B5EF4-FFF2-40B4-BE49-F238E27FC236}">
                <a16:creationId xmlns:a16="http://schemas.microsoft.com/office/drawing/2014/main" id="{76251E06-F015-4BCE-1494-62A6A8C02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725" y="1946275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+</a:t>
            </a:r>
          </a:p>
        </p:txBody>
      </p:sp>
      <p:sp>
        <p:nvSpPr>
          <p:cNvPr id="22543" name="Rectangle 14">
            <a:extLst>
              <a:ext uri="{FF2B5EF4-FFF2-40B4-BE49-F238E27FC236}">
                <a16:creationId xmlns:a16="http://schemas.microsoft.com/office/drawing/2014/main" id="{4741BA74-9480-2B6E-C291-9D1C27BC2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178800" cy="4171950"/>
          </a:xfrm>
        </p:spPr>
        <p:txBody>
          <a:bodyPr/>
          <a:lstStyle/>
          <a:p>
            <a:r>
              <a:rPr lang="en-US" altLang="en-US"/>
              <a:t>Open collector interface:</a:t>
            </a:r>
          </a:p>
        </p:txBody>
      </p:sp>
      <p:sp>
        <p:nvSpPr>
          <p:cNvPr id="22544" name="Line 15">
            <a:extLst>
              <a:ext uri="{FF2B5EF4-FFF2-40B4-BE49-F238E27FC236}">
                <a16:creationId xmlns:a16="http://schemas.microsoft.com/office/drawing/2014/main" id="{682CA75D-9708-1100-1047-C37B46D53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683125"/>
            <a:ext cx="693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Text Box 16">
            <a:extLst>
              <a:ext uri="{FF2B5EF4-FFF2-40B4-BE49-F238E27FC236}">
                <a16:creationId xmlns:a16="http://schemas.microsoft.com/office/drawing/2014/main" id="{6A78E230-E1E3-DC5F-D52D-7D57E83C8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4419600"/>
            <a:ext cx="74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SCL</a:t>
            </a:r>
          </a:p>
        </p:txBody>
      </p:sp>
      <p:sp>
        <p:nvSpPr>
          <p:cNvPr id="22546" name="Line 17">
            <a:extLst>
              <a:ext uri="{FF2B5EF4-FFF2-40B4-BE49-F238E27FC236}">
                <a16:creationId xmlns:a16="http://schemas.microsoft.com/office/drawing/2014/main" id="{4D2B2864-4267-C547-D45D-A914855884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437832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Line 18">
            <a:extLst>
              <a:ext uri="{FF2B5EF4-FFF2-40B4-BE49-F238E27FC236}">
                <a16:creationId xmlns:a16="http://schemas.microsoft.com/office/drawing/2014/main" id="{AE840C1C-2724-BAD2-3BE6-D7F1ECCDA7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4302125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8" name="Line 19">
            <a:extLst>
              <a:ext uri="{FF2B5EF4-FFF2-40B4-BE49-F238E27FC236}">
                <a16:creationId xmlns:a16="http://schemas.microsoft.com/office/drawing/2014/main" id="{2C85864B-9864-BCD5-6ADE-D108C0F20C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5200" y="4149725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Line 20">
            <a:extLst>
              <a:ext uri="{FF2B5EF4-FFF2-40B4-BE49-F238E27FC236}">
                <a16:creationId xmlns:a16="http://schemas.microsoft.com/office/drawing/2014/main" id="{1DD95C44-CFDF-076A-E9D5-826F4BDDFD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997325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1">
            <a:extLst>
              <a:ext uri="{FF2B5EF4-FFF2-40B4-BE49-F238E27FC236}">
                <a16:creationId xmlns:a16="http://schemas.microsoft.com/office/drawing/2014/main" id="{D9DE21E9-C3FC-8EEA-EB97-9E33135937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15200" y="3921125"/>
            <a:ext cx="457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Line 22">
            <a:extLst>
              <a:ext uri="{FF2B5EF4-FFF2-40B4-BE49-F238E27FC236}">
                <a16:creationId xmlns:a16="http://schemas.microsoft.com/office/drawing/2014/main" id="{2C86B3A5-5082-8299-84AB-15B99400AA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768725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2" name="Line 23">
            <a:extLst>
              <a:ext uri="{FF2B5EF4-FFF2-40B4-BE49-F238E27FC236}">
                <a16:creationId xmlns:a16="http://schemas.microsoft.com/office/drawing/2014/main" id="{DE629CD9-91C3-B3DF-006F-015DE46341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361632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Text Box 24">
            <a:extLst>
              <a:ext uri="{FF2B5EF4-FFF2-40B4-BE49-F238E27FC236}">
                <a16:creationId xmlns:a16="http://schemas.microsoft.com/office/drawing/2014/main" id="{062E3874-6E00-1F28-4CDE-343BC92CF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725" y="34290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+</a:t>
            </a:r>
          </a:p>
        </p:txBody>
      </p:sp>
      <p:grpSp>
        <p:nvGrpSpPr>
          <p:cNvPr id="22554" name="Group 33">
            <a:extLst>
              <a:ext uri="{FF2B5EF4-FFF2-40B4-BE49-F238E27FC236}">
                <a16:creationId xmlns:a16="http://schemas.microsoft.com/office/drawing/2014/main" id="{B3C83C98-5A2F-16EF-914D-AB41D855B706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200400"/>
            <a:ext cx="685800" cy="990600"/>
            <a:chOff x="1680" y="2016"/>
            <a:chExt cx="432" cy="624"/>
          </a:xfrm>
        </p:grpSpPr>
        <p:sp>
          <p:nvSpPr>
            <p:cNvPr id="22565" name="Line 25">
              <a:extLst>
                <a:ext uri="{FF2B5EF4-FFF2-40B4-BE49-F238E27FC236}">
                  <a16:creationId xmlns:a16="http://schemas.microsoft.com/office/drawing/2014/main" id="{EFE24C58-D473-8FAB-FDFB-DD4A3040B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6" name="Line 26">
              <a:extLst>
                <a:ext uri="{FF2B5EF4-FFF2-40B4-BE49-F238E27FC236}">
                  <a16:creationId xmlns:a16="http://schemas.microsoft.com/office/drawing/2014/main" id="{2E225184-43E8-FA1D-578A-D680216E0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16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7" name="Line 27">
              <a:extLst>
                <a:ext uri="{FF2B5EF4-FFF2-40B4-BE49-F238E27FC236}">
                  <a16:creationId xmlns:a16="http://schemas.microsoft.com/office/drawing/2014/main" id="{A5152FAC-1CA4-A67F-25F6-7ADDF5F02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1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8" name="Line 28">
              <a:extLst>
                <a:ext uri="{FF2B5EF4-FFF2-40B4-BE49-F238E27FC236}">
                  <a16:creationId xmlns:a16="http://schemas.microsoft.com/office/drawing/2014/main" id="{68464E91-DF7E-A30D-9DC0-D66360600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9" name="Line 29">
              <a:extLst>
                <a:ext uri="{FF2B5EF4-FFF2-40B4-BE49-F238E27FC236}">
                  <a16:creationId xmlns:a16="http://schemas.microsoft.com/office/drawing/2014/main" id="{0DB8C9A5-43BC-D355-55ED-779F1DC51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0" name="AutoShape 30">
              <a:extLst>
                <a:ext uri="{FF2B5EF4-FFF2-40B4-BE49-F238E27FC236}">
                  <a16:creationId xmlns:a16="http://schemas.microsoft.com/office/drawing/2014/main" id="{AF8A5F4F-F4F9-2D4E-D73D-1F825FCD43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16" y="2544"/>
              <a:ext cx="96" cy="9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571" name="Line 31">
              <a:extLst>
                <a:ext uri="{FF2B5EF4-FFF2-40B4-BE49-F238E27FC236}">
                  <a16:creationId xmlns:a16="http://schemas.microsoft.com/office/drawing/2014/main" id="{B3B40502-9CB7-8CD4-CC23-6DBF4A64A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1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2" name="Line 32">
              <a:extLst>
                <a:ext uri="{FF2B5EF4-FFF2-40B4-BE49-F238E27FC236}">
                  <a16:creationId xmlns:a16="http://schemas.microsoft.com/office/drawing/2014/main" id="{09AD0BBE-465B-51AF-9177-80CB8B905A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555" name="Group 34">
            <a:extLst>
              <a:ext uri="{FF2B5EF4-FFF2-40B4-BE49-F238E27FC236}">
                <a16:creationId xmlns:a16="http://schemas.microsoft.com/office/drawing/2014/main" id="{5B7A5F6A-9CBB-74B6-4EA2-14655F21AB4F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724400"/>
            <a:ext cx="685800" cy="990600"/>
            <a:chOff x="1680" y="2016"/>
            <a:chExt cx="432" cy="624"/>
          </a:xfrm>
        </p:grpSpPr>
        <p:sp>
          <p:nvSpPr>
            <p:cNvPr id="22557" name="Line 35">
              <a:extLst>
                <a:ext uri="{FF2B5EF4-FFF2-40B4-BE49-F238E27FC236}">
                  <a16:creationId xmlns:a16="http://schemas.microsoft.com/office/drawing/2014/main" id="{9A7D8406-F244-1AC4-F449-F8496F8AD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01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8" name="Line 36">
              <a:extLst>
                <a:ext uri="{FF2B5EF4-FFF2-40B4-BE49-F238E27FC236}">
                  <a16:creationId xmlns:a16="http://schemas.microsoft.com/office/drawing/2014/main" id="{54B3676B-1FF0-60BF-7450-2FC84DC44C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16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9" name="Line 37">
              <a:extLst>
                <a:ext uri="{FF2B5EF4-FFF2-40B4-BE49-F238E27FC236}">
                  <a16:creationId xmlns:a16="http://schemas.microsoft.com/office/drawing/2014/main" id="{53561FED-2A76-FFB0-CF0E-4DA11A577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1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0" name="Line 38">
              <a:extLst>
                <a:ext uri="{FF2B5EF4-FFF2-40B4-BE49-F238E27FC236}">
                  <a16:creationId xmlns:a16="http://schemas.microsoft.com/office/drawing/2014/main" id="{AD2CA9E3-6DEC-4D58-F39F-E58617D30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Line 39">
              <a:extLst>
                <a:ext uri="{FF2B5EF4-FFF2-40B4-BE49-F238E27FC236}">
                  <a16:creationId xmlns:a16="http://schemas.microsoft.com/office/drawing/2014/main" id="{68A9C2CA-ED5A-B32B-01EE-E110FACE6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4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2" name="AutoShape 40">
              <a:extLst>
                <a:ext uri="{FF2B5EF4-FFF2-40B4-BE49-F238E27FC236}">
                  <a16:creationId xmlns:a16="http://schemas.microsoft.com/office/drawing/2014/main" id="{C5575BAA-0792-D26C-FFA9-4EFA21A285D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16" y="2544"/>
              <a:ext cx="96" cy="9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563" name="Line 41">
              <a:extLst>
                <a:ext uri="{FF2B5EF4-FFF2-40B4-BE49-F238E27FC236}">
                  <a16:creationId xmlns:a16="http://schemas.microsoft.com/office/drawing/2014/main" id="{E5DDFBD6-CB4B-DF80-306B-D63FB12EB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1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4" name="Line 42">
              <a:extLst>
                <a:ext uri="{FF2B5EF4-FFF2-40B4-BE49-F238E27FC236}">
                  <a16:creationId xmlns:a16="http://schemas.microsoft.com/office/drawing/2014/main" id="{3A2EADF1-E703-9CD5-0F9A-375A218DD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56" name="Line 43">
            <a:extLst>
              <a:ext uri="{FF2B5EF4-FFF2-40B4-BE49-F238E27FC236}">
                <a16:creationId xmlns:a16="http://schemas.microsoft.com/office/drawing/2014/main" id="{5A40EF11-D3F7-A414-AB62-05BF92F921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648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>
            <a:extLst>
              <a:ext uri="{FF2B5EF4-FFF2-40B4-BE49-F238E27FC236}">
                <a16:creationId xmlns:a16="http://schemas.microsoft.com/office/drawing/2014/main" id="{B6EAF1A0-5A81-6C38-E2DF-6E29FF89DA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3555" name="Footer Placeholder 4">
            <a:extLst>
              <a:ext uri="{FF2B5EF4-FFF2-40B4-BE49-F238E27FC236}">
                <a16:creationId xmlns:a16="http://schemas.microsoft.com/office/drawing/2014/main" id="{23283221-E0CF-BD2B-AFC5-567D7DDB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DBB28A46-37AF-52AD-61C6-A51A690F3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signaling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C8065F11-A469-7786-2ED8-DE94B7934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Sender pulls down bus for 0.</a:t>
            </a:r>
          </a:p>
          <a:p>
            <a:r>
              <a:rPr lang="en-US" altLang="en-US"/>
              <a:t>Sender listens to bus---if it tried to send a 1 and heard a 0, someone else is simultaneously transmitting.</a:t>
            </a:r>
          </a:p>
          <a:p>
            <a:r>
              <a:rPr lang="en-US" altLang="en-US"/>
              <a:t>Transmissions occur in 8-bit bytes.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>
            <a:extLst>
              <a:ext uri="{FF2B5EF4-FFF2-40B4-BE49-F238E27FC236}">
                <a16:creationId xmlns:a16="http://schemas.microsoft.com/office/drawing/2014/main" id="{8D001B14-B078-FF5D-0F24-1D8BCD57E8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4579" name="Footer Placeholder 4">
            <a:extLst>
              <a:ext uri="{FF2B5EF4-FFF2-40B4-BE49-F238E27FC236}">
                <a16:creationId xmlns:a16="http://schemas.microsoft.com/office/drawing/2014/main" id="{5973716D-0C99-5A3C-374E-C0F4FDF1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7811B4DE-E523-3953-A8EA-3A321956A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data link layer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93AB510F-4A90-047D-353A-59110CA56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Every device has an address (7 bits in standard, 10 bits in extension).</a:t>
            </a:r>
          </a:p>
          <a:p>
            <a:pPr lvl="1"/>
            <a:r>
              <a:rPr lang="en-US" altLang="en-US"/>
              <a:t>Bit 8 of address signals read or write.</a:t>
            </a:r>
          </a:p>
          <a:p>
            <a:r>
              <a:rPr lang="en-US" altLang="en-US"/>
              <a:t>General call address allows broadcast.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>
            <a:extLst>
              <a:ext uri="{FF2B5EF4-FFF2-40B4-BE49-F238E27FC236}">
                <a16:creationId xmlns:a16="http://schemas.microsoft.com/office/drawing/2014/main" id="{986A6698-EB1F-79BD-1B29-07B7A1D43F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5603" name="Footer Placeholder 4">
            <a:extLst>
              <a:ext uri="{FF2B5EF4-FFF2-40B4-BE49-F238E27FC236}">
                <a16:creationId xmlns:a16="http://schemas.microsoft.com/office/drawing/2014/main" id="{FC58F2DE-97F6-97EF-32D4-60518C38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0F92CB65-F0F9-D473-A4B3-F9E448589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bus arbitration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8190F578-71FC-FEFB-4F61-33F59B00D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Sender listens while sending address.</a:t>
            </a:r>
          </a:p>
          <a:p>
            <a:r>
              <a:rPr lang="en-US" altLang="en-US"/>
              <a:t>When sender hears a conflict, if its address is higher, it stops signaling.</a:t>
            </a:r>
          </a:p>
          <a:p>
            <a:r>
              <a:rPr lang="en-US" altLang="en-US"/>
              <a:t>Low-priority senders relinquish control early enough in clock cycle to allow bit to be transmitted reliably.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>
            <a:extLst>
              <a:ext uri="{FF2B5EF4-FFF2-40B4-BE49-F238E27FC236}">
                <a16:creationId xmlns:a16="http://schemas.microsoft.com/office/drawing/2014/main" id="{8F4C79CF-ABF2-3EBE-E9D3-8B9B3CFFDCE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6627" name="Footer Placeholder 4">
            <a:extLst>
              <a:ext uri="{FF2B5EF4-FFF2-40B4-BE49-F238E27FC236}">
                <a16:creationId xmlns:a16="http://schemas.microsoft.com/office/drawing/2014/main" id="{841F86BC-E84C-4797-1118-3F8AE7ED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CC84EFD9-D9AB-B134-BA44-0DD7A9BAC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</a:t>
            </a:r>
            <a:r>
              <a:rPr lang="en-US" altLang="en-US" baseline="30000"/>
              <a:t>2</a:t>
            </a:r>
            <a:r>
              <a:rPr lang="en-US" altLang="en-US"/>
              <a:t>C transmissions</a:t>
            </a:r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585B134B-AE00-3307-B1E0-BCF634B7D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2022475"/>
            <a:ext cx="2152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multi-byte write</a:t>
            </a:r>
          </a:p>
        </p:txBody>
      </p:sp>
      <p:sp>
        <p:nvSpPr>
          <p:cNvPr id="26630" name="Text Box 5">
            <a:extLst>
              <a:ext uri="{FF2B5EF4-FFF2-40B4-BE49-F238E27FC236}">
                <a16:creationId xmlns:a16="http://schemas.microsoft.com/office/drawing/2014/main" id="{1B312C0F-2D55-F0C7-10EF-19BE54111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276600"/>
            <a:ext cx="2078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read from slave</a:t>
            </a:r>
          </a:p>
        </p:txBody>
      </p:sp>
      <p:sp>
        <p:nvSpPr>
          <p:cNvPr id="26631" name="Text Box 6">
            <a:extLst>
              <a:ext uri="{FF2B5EF4-FFF2-40B4-BE49-F238E27FC236}">
                <a16:creationId xmlns:a16="http://schemas.microsoft.com/office/drawing/2014/main" id="{952AA512-DE08-56FB-2ADD-FF344C78F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765675"/>
            <a:ext cx="208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write, then read</a:t>
            </a:r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3F134CA1-A3D8-D215-0387-C86A2D9D3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590800"/>
            <a:ext cx="457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</a:t>
            </a:r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186B68B5-1266-95D3-B338-28D7613D4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590800"/>
            <a:ext cx="1219200" cy="609600"/>
          </a:xfrm>
          <a:prstGeom prst="rect">
            <a:avLst/>
          </a:prstGeom>
          <a:solidFill>
            <a:srgbClr val="66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adrs</a:t>
            </a:r>
            <a:endParaRPr lang="en-US" altLang="en-US"/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6ADCCB18-07E4-A16E-4A28-FD071A08A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590800"/>
            <a:ext cx="457200" cy="6096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0</a:t>
            </a:r>
          </a:p>
        </p:txBody>
      </p:sp>
      <p:sp>
        <p:nvSpPr>
          <p:cNvPr id="26635" name="Rectangle 10">
            <a:extLst>
              <a:ext uri="{FF2B5EF4-FFF2-40B4-BE49-F238E27FC236}">
                <a16:creationId xmlns:a16="http://schemas.microsoft.com/office/drawing/2014/main" id="{8E5EB09E-994B-2251-A901-F01ABC83D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590800"/>
            <a:ext cx="1371600" cy="6096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</p:txBody>
      </p:sp>
      <p:sp>
        <p:nvSpPr>
          <p:cNvPr id="26636" name="Rectangle 11">
            <a:extLst>
              <a:ext uri="{FF2B5EF4-FFF2-40B4-BE49-F238E27FC236}">
                <a16:creationId xmlns:a16="http://schemas.microsoft.com/office/drawing/2014/main" id="{B1F56E37-596E-0A63-B1D5-7C530CA1E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590800"/>
            <a:ext cx="1371600" cy="6096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</p:txBody>
      </p:sp>
      <p:sp>
        <p:nvSpPr>
          <p:cNvPr id="26637" name="Rectangle 12">
            <a:extLst>
              <a:ext uri="{FF2B5EF4-FFF2-40B4-BE49-F238E27FC236}">
                <a16:creationId xmlns:a16="http://schemas.microsoft.com/office/drawing/2014/main" id="{04E89DCF-503F-8A2C-7AFA-BAEB63B31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90800"/>
            <a:ext cx="457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</a:t>
            </a:r>
          </a:p>
        </p:txBody>
      </p:sp>
      <p:sp>
        <p:nvSpPr>
          <p:cNvPr id="26638" name="Rectangle 13">
            <a:extLst>
              <a:ext uri="{FF2B5EF4-FFF2-40B4-BE49-F238E27FC236}">
                <a16:creationId xmlns:a16="http://schemas.microsoft.com/office/drawing/2014/main" id="{9497DB78-BCBD-959B-AAA2-58CF62BF6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886200"/>
            <a:ext cx="457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</a:t>
            </a:r>
          </a:p>
        </p:txBody>
      </p:sp>
      <p:sp>
        <p:nvSpPr>
          <p:cNvPr id="26639" name="Rectangle 14">
            <a:extLst>
              <a:ext uri="{FF2B5EF4-FFF2-40B4-BE49-F238E27FC236}">
                <a16:creationId xmlns:a16="http://schemas.microsoft.com/office/drawing/2014/main" id="{BB3FC2B2-B633-F698-5443-5856D75A3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886200"/>
            <a:ext cx="1219200" cy="609600"/>
          </a:xfrm>
          <a:prstGeom prst="rect">
            <a:avLst/>
          </a:prstGeom>
          <a:solidFill>
            <a:srgbClr val="66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adrs</a:t>
            </a:r>
            <a:endParaRPr lang="en-US" altLang="en-US"/>
          </a:p>
        </p:txBody>
      </p:sp>
      <p:sp>
        <p:nvSpPr>
          <p:cNvPr id="26640" name="Rectangle 15">
            <a:extLst>
              <a:ext uri="{FF2B5EF4-FFF2-40B4-BE49-F238E27FC236}">
                <a16:creationId xmlns:a16="http://schemas.microsoft.com/office/drawing/2014/main" id="{2DC5126D-2A33-4C71-FB4A-15200FA60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886200"/>
            <a:ext cx="457200" cy="6096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1</a:t>
            </a:r>
          </a:p>
        </p:txBody>
      </p:sp>
      <p:sp>
        <p:nvSpPr>
          <p:cNvPr id="26641" name="Rectangle 16">
            <a:extLst>
              <a:ext uri="{FF2B5EF4-FFF2-40B4-BE49-F238E27FC236}">
                <a16:creationId xmlns:a16="http://schemas.microsoft.com/office/drawing/2014/main" id="{34E887C7-6780-675A-1017-A41ED50C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886200"/>
            <a:ext cx="14478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</p:txBody>
      </p:sp>
      <p:sp>
        <p:nvSpPr>
          <p:cNvPr id="26642" name="Rectangle 17">
            <a:extLst>
              <a:ext uri="{FF2B5EF4-FFF2-40B4-BE49-F238E27FC236}">
                <a16:creationId xmlns:a16="http://schemas.microsoft.com/office/drawing/2014/main" id="{067A059E-B6F3-1179-B693-F63540CE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886200"/>
            <a:ext cx="457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</a:t>
            </a:r>
          </a:p>
        </p:txBody>
      </p:sp>
      <p:sp>
        <p:nvSpPr>
          <p:cNvPr id="26643" name="Rectangle 18">
            <a:extLst>
              <a:ext uri="{FF2B5EF4-FFF2-40B4-BE49-F238E27FC236}">
                <a16:creationId xmlns:a16="http://schemas.microsoft.com/office/drawing/2014/main" id="{528C626C-4445-7828-5590-680B84D2F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181600"/>
            <a:ext cx="457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</a:t>
            </a:r>
          </a:p>
        </p:txBody>
      </p:sp>
      <p:sp>
        <p:nvSpPr>
          <p:cNvPr id="26644" name="Rectangle 19">
            <a:extLst>
              <a:ext uri="{FF2B5EF4-FFF2-40B4-BE49-F238E27FC236}">
                <a16:creationId xmlns:a16="http://schemas.microsoft.com/office/drawing/2014/main" id="{F71E7C7E-C997-2670-CA6B-F7BCE698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181600"/>
            <a:ext cx="1219200" cy="609600"/>
          </a:xfrm>
          <a:prstGeom prst="rect">
            <a:avLst/>
          </a:prstGeom>
          <a:solidFill>
            <a:srgbClr val="66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adrs</a:t>
            </a:r>
            <a:endParaRPr lang="en-US" altLang="en-US"/>
          </a:p>
        </p:txBody>
      </p:sp>
      <p:sp>
        <p:nvSpPr>
          <p:cNvPr id="26645" name="Rectangle 20">
            <a:extLst>
              <a:ext uri="{FF2B5EF4-FFF2-40B4-BE49-F238E27FC236}">
                <a16:creationId xmlns:a16="http://schemas.microsoft.com/office/drawing/2014/main" id="{D14638A1-1BEF-4174-82DD-051F2263B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181600"/>
            <a:ext cx="457200" cy="6096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0</a:t>
            </a:r>
          </a:p>
        </p:txBody>
      </p:sp>
      <p:sp>
        <p:nvSpPr>
          <p:cNvPr id="26646" name="Rectangle 21">
            <a:extLst>
              <a:ext uri="{FF2B5EF4-FFF2-40B4-BE49-F238E27FC236}">
                <a16:creationId xmlns:a16="http://schemas.microsoft.com/office/drawing/2014/main" id="{879B2710-A6AF-3B9E-5A0E-18AD3A903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181600"/>
            <a:ext cx="1371600" cy="6096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</p:txBody>
      </p:sp>
      <p:sp>
        <p:nvSpPr>
          <p:cNvPr id="26647" name="Rectangle 22">
            <a:extLst>
              <a:ext uri="{FF2B5EF4-FFF2-40B4-BE49-F238E27FC236}">
                <a16:creationId xmlns:a16="http://schemas.microsoft.com/office/drawing/2014/main" id="{1C14901D-56C8-87B9-A09B-3DE98E568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181600"/>
            <a:ext cx="457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</a:t>
            </a:r>
          </a:p>
        </p:txBody>
      </p:sp>
      <p:sp>
        <p:nvSpPr>
          <p:cNvPr id="26648" name="Rectangle 23">
            <a:extLst>
              <a:ext uri="{FF2B5EF4-FFF2-40B4-BE49-F238E27FC236}">
                <a16:creationId xmlns:a16="http://schemas.microsoft.com/office/drawing/2014/main" id="{0B81F9DB-4E75-6056-C6A7-CCBB13AF5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181600"/>
            <a:ext cx="1219200" cy="609600"/>
          </a:xfrm>
          <a:prstGeom prst="rect">
            <a:avLst/>
          </a:prstGeom>
          <a:solidFill>
            <a:srgbClr val="66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adrs</a:t>
            </a:r>
            <a:endParaRPr lang="en-US" altLang="en-US"/>
          </a:p>
        </p:txBody>
      </p:sp>
      <p:sp>
        <p:nvSpPr>
          <p:cNvPr id="26649" name="Rectangle 24">
            <a:extLst>
              <a:ext uri="{FF2B5EF4-FFF2-40B4-BE49-F238E27FC236}">
                <a16:creationId xmlns:a16="http://schemas.microsoft.com/office/drawing/2014/main" id="{059544C7-4D20-F5A6-E78C-ABE12218A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181600"/>
            <a:ext cx="457200" cy="6096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1</a:t>
            </a:r>
          </a:p>
        </p:txBody>
      </p:sp>
      <p:sp>
        <p:nvSpPr>
          <p:cNvPr id="26650" name="Rectangle 25">
            <a:extLst>
              <a:ext uri="{FF2B5EF4-FFF2-40B4-BE49-F238E27FC236}">
                <a16:creationId xmlns:a16="http://schemas.microsoft.com/office/drawing/2014/main" id="{3DBDEEE4-CB86-E793-275F-FFE69DD37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181600"/>
            <a:ext cx="14478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</p:txBody>
      </p:sp>
      <p:sp>
        <p:nvSpPr>
          <p:cNvPr id="26651" name="Rectangle 26">
            <a:extLst>
              <a:ext uri="{FF2B5EF4-FFF2-40B4-BE49-F238E27FC236}">
                <a16:creationId xmlns:a16="http://schemas.microsoft.com/office/drawing/2014/main" id="{245E41A1-202C-ABB8-614F-BD0E05F9D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5181600"/>
            <a:ext cx="457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>
            <a:extLst>
              <a:ext uri="{FF2B5EF4-FFF2-40B4-BE49-F238E27FC236}">
                <a16:creationId xmlns:a16="http://schemas.microsoft.com/office/drawing/2014/main" id="{2E63AD30-C9B6-1400-EDAD-32C3D8D97D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7651" name="Footer Placeholder 4">
            <a:extLst>
              <a:ext uri="{FF2B5EF4-FFF2-40B4-BE49-F238E27FC236}">
                <a16:creationId xmlns:a16="http://schemas.microsoft.com/office/drawing/2014/main" id="{A60FAA6C-BCBA-0EBE-39FB-73782516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B59B8FB6-8F43-2D75-18F5-7F2DD6ECB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Ethernet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46F6FD3F-60C0-4FFB-CC6E-B0191FF47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Dominant non-telephone LAN.</a:t>
            </a:r>
          </a:p>
          <a:p>
            <a:r>
              <a:rPr lang="en-US" altLang="en-US"/>
              <a:t>Versions: 10 Mb/s, 100 Mb/s, 1 Gb/s</a:t>
            </a:r>
          </a:p>
          <a:p>
            <a:r>
              <a:rPr lang="en-US" altLang="en-US"/>
              <a:t>Goal: reliable communication over an unreliable medium.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>
            <a:extLst>
              <a:ext uri="{FF2B5EF4-FFF2-40B4-BE49-F238E27FC236}">
                <a16:creationId xmlns:a16="http://schemas.microsoft.com/office/drawing/2014/main" id="{16C65ED7-5F50-9608-ACE3-A5F424C81E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8675" name="Footer Placeholder 4">
            <a:extLst>
              <a:ext uri="{FF2B5EF4-FFF2-40B4-BE49-F238E27FC236}">
                <a16:creationId xmlns:a16="http://schemas.microsoft.com/office/drawing/2014/main" id="{DBA6506C-653B-2A0E-7675-77786AEBA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F072DFEE-8C40-96B7-2EEF-10302918E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Ethernet topology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521A55B4-C072-1135-D644-BEECA2FEF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Bus-based system, several possible physical layers:</a:t>
            </a:r>
          </a:p>
        </p:txBody>
      </p:sp>
      <p:sp>
        <p:nvSpPr>
          <p:cNvPr id="28678" name="Rectangle 4">
            <a:extLst>
              <a:ext uri="{FF2B5EF4-FFF2-40B4-BE49-F238E27FC236}">
                <a16:creationId xmlns:a16="http://schemas.microsoft.com/office/drawing/2014/main" id="{B0274681-2BB0-8FAE-10B1-8FE16C93B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429000"/>
            <a:ext cx="838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28679" name="Rectangle 5">
            <a:extLst>
              <a:ext uri="{FF2B5EF4-FFF2-40B4-BE49-F238E27FC236}">
                <a16:creationId xmlns:a16="http://schemas.microsoft.com/office/drawing/2014/main" id="{29648C1A-CA63-756A-F0B3-CAEFA21C3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429000"/>
            <a:ext cx="838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28680" name="Rectangle 6">
            <a:extLst>
              <a:ext uri="{FF2B5EF4-FFF2-40B4-BE49-F238E27FC236}">
                <a16:creationId xmlns:a16="http://schemas.microsoft.com/office/drawing/2014/main" id="{B5270E24-B54B-215F-F525-88E0AF06B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429000"/>
            <a:ext cx="838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</a:t>
            </a:r>
          </a:p>
        </p:txBody>
      </p:sp>
      <p:sp>
        <p:nvSpPr>
          <p:cNvPr id="28681" name="Line 7">
            <a:extLst>
              <a:ext uri="{FF2B5EF4-FFF2-40B4-BE49-F238E27FC236}">
                <a16:creationId xmlns:a16="http://schemas.microsoft.com/office/drawing/2014/main" id="{DB591620-0D28-2626-90EE-E7F3D9F8E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800600"/>
            <a:ext cx="594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8">
            <a:extLst>
              <a:ext uri="{FF2B5EF4-FFF2-40B4-BE49-F238E27FC236}">
                <a16:creationId xmlns:a16="http://schemas.microsoft.com/office/drawing/2014/main" id="{D4E1CB35-1A9E-A907-30A5-3D6610BF9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191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Line 9">
            <a:extLst>
              <a:ext uri="{FF2B5EF4-FFF2-40B4-BE49-F238E27FC236}">
                <a16:creationId xmlns:a16="http://schemas.microsoft.com/office/drawing/2014/main" id="{9B2C1BCB-0793-AAF6-FE1F-9BF244C97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191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0">
            <a:extLst>
              <a:ext uri="{FF2B5EF4-FFF2-40B4-BE49-F238E27FC236}">
                <a16:creationId xmlns:a16="http://schemas.microsoft.com/office/drawing/2014/main" id="{762D6711-D790-3734-7B1F-8324820EE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191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>
            <a:extLst>
              <a:ext uri="{FF2B5EF4-FFF2-40B4-BE49-F238E27FC236}">
                <a16:creationId xmlns:a16="http://schemas.microsoft.com/office/drawing/2014/main" id="{08DDB397-ED47-9B17-E12A-34D5FC5BFA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9699" name="Footer Placeholder 4">
            <a:extLst>
              <a:ext uri="{FF2B5EF4-FFF2-40B4-BE49-F238E27FC236}">
                <a16:creationId xmlns:a16="http://schemas.microsoft.com/office/drawing/2014/main" id="{72DAE746-60C4-A558-0F12-279CF5AD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16D92E0C-84A1-68E5-A83F-431AB5528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CSMA/CD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987DC9EE-FF33-8D95-8152-78EA9714A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Carrier sense multiple access with collision detection:</a:t>
            </a:r>
          </a:p>
          <a:p>
            <a:pPr lvl="1"/>
            <a:r>
              <a:rPr lang="en-US" altLang="en-US"/>
              <a:t>sense collisions;</a:t>
            </a:r>
          </a:p>
          <a:p>
            <a:pPr lvl="1"/>
            <a:r>
              <a:rPr lang="en-US" altLang="en-US"/>
              <a:t>exponentially back off in time;</a:t>
            </a:r>
          </a:p>
          <a:p>
            <a:pPr lvl="1"/>
            <a:r>
              <a:rPr lang="en-US" altLang="en-US"/>
              <a:t>retransmit.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3">
            <a:extLst>
              <a:ext uri="{FF2B5EF4-FFF2-40B4-BE49-F238E27FC236}">
                <a16:creationId xmlns:a16="http://schemas.microsoft.com/office/drawing/2014/main" id="{4EE9163B-558B-D787-4EB1-6AF15C5F1D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0723" name="Footer Placeholder 4">
            <a:extLst>
              <a:ext uri="{FF2B5EF4-FFF2-40B4-BE49-F238E27FC236}">
                <a16:creationId xmlns:a16="http://schemas.microsoft.com/office/drawing/2014/main" id="{C1D0637A-8872-A4F6-38F3-BB43F3D0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C15F7169-1004-0B7F-B9BC-C83DE046B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Exponential back-off times</a:t>
            </a:r>
          </a:p>
        </p:txBody>
      </p:sp>
      <p:sp>
        <p:nvSpPr>
          <p:cNvPr id="30725" name="Line 4">
            <a:extLst>
              <a:ext uri="{FF2B5EF4-FFF2-40B4-BE49-F238E27FC236}">
                <a16:creationId xmlns:a16="http://schemas.microsoft.com/office/drawing/2014/main" id="{00AC8466-8E71-B94E-4DAD-8F72A5DA36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410200"/>
            <a:ext cx="533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02EA69FB-0722-0B2A-89C4-373B0C3098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1981200"/>
            <a:ext cx="0" cy="3429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Text Box 6">
            <a:extLst>
              <a:ext uri="{FF2B5EF4-FFF2-40B4-BE49-F238E27FC236}">
                <a16:creationId xmlns:a16="http://schemas.microsoft.com/office/drawing/2014/main" id="{547DE195-761E-F961-677C-40A1734F4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562600"/>
            <a:ext cx="723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time</a:t>
            </a:r>
          </a:p>
        </p:txBody>
      </p:sp>
      <p:sp>
        <p:nvSpPr>
          <p:cNvPr id="30728" name="Line 7">
            <a:extLst>
              <a:ext uri="{FF2B5EF4-FFF2-40B4-BE49-F238E27FC236}">
                <a16:creationId xmlns:a16="http://schemas.microsoft.com/office/drawing/2014/main" id="{43A35772-D941-9FA9-F74B-DC7DC055D8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5257800"/>
            <a:ext cx="914400" cy="152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8">
            <a:extLst>
              <a:ext uri="{FF2B5EF4-FFF2-40B4-BE49-F238E27FC236}">
                <a16:creationId xmlns:a16="http://schemas.microsoft.com/office/drawing/2014/main" id="{FF5CC04D-4672-B9FF-7106-1A17D86D02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4648200"/>
            <a:ext cx="990600" cy="6096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Line 9">
            <a:extLst>
              <a:ext uri="{FF2B5EF4-FFF2-40B4-BE49-F238E27FC236}">
                <a16:creationId xmlns:a16="http://schemas.microsoft.com/office/drawing/2014/main" id="{FD543FAF-DC03-E6E1-8A49-556DC9D49D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3048000"/>
            <a:ext cx="1371600" cy="16002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Line 10">
            <a:extLst>
              <a:ext uri="{FF2B5EF4-FFF2-40B4-BE49-F238E27FC236}">
                <a16:creationId xmlns:a16="http://schemas.microsoft.com/office/drawing/2014/main" id="{EA060B68-5BB2-4BA7-D0C3-3317D7EBA2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600200"/>
            <a:ext cx="838200" cy="14478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Line 11">
            <a:extLst>
              <a:ext uri="{FF2B5EF4-FFF2-40B4-BE49-F238E27FC236}">
                <a16:creationId xmlns:a16="http://schemas.microsoft.com/office/drawing/2014/main" id="{8B473016-40F2-BB6C-F4E2-1EB8AFF23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5105400"/>
            <a:ext cx="838200" cy="30480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3" name="Line 12">
            <a:extLst>
              <a:ext uri="{FF2B5EF4-FFF2-40B4-BE49-F238E27FC236}">
                <a16:creationId xmlns:a16="http://schemas.microsoft.com/office/drawing/2014/main" id="{99AF2995-A683-0F22-FA68-D2416D9466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4800600"/>
            <a:ext cx="1295400" cy="30480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Line 13">
            <a:extLst>
              <a:ext uri="{FF2B5EF4-FFF2-40B4-BE49-F238E27FC236}">
                <a16:creationId xmlns:a16="http://schemas.microsoft.com/office/drawing/2014/main" id="{DD346B80-81CD-CCEB-7636-D14949BE3A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2743200"/>
            <a:ext cx="914400" cy="205740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Line 14">
            <a:extLst>
              <a:ext uri="{FF2B5EF4-FFF2-40B4-BE49-F238E27FC236}">
                <a16:creationId xmlns:a16="http://schemas.microsoft.com/office/drawing/2014/main" id="{522F103C-ED17-D5D5-0FB8-C3088F3EB5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1524000"/>
            <a:ext cx="914400" cy="121920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>
            <a:extLst>
              <a:ext uri="{FF2B5EF4-FFF2-40B4-BE49-F238E27FC236}">
                <a16:creationId xmlns:a16="http://schemas.microsoft.com/office/drawing/2014/main" id="{1C2D25DE-72F3-F934-4152-87453C1886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1747" name="Footer Placeholder 4">
            <a:extLst>
              <a:ext uri="{FF2B5EF4-FFF2-40B4-BE49-F238E27FC236}">
                <a16:creationId xmlns:a16="http://schemas.microsoft.com/office/drawing/2014/main" id="{3F3D34E9-5746-D0B8-FBAA-B783FDE8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32B7B96-3E54-450B-0FC7-9046F6C9A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Ethernet packet format</a:t>
            </a: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A7BBAC44-3CC6-8597-27EF-701D306A1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76600"/>
            <a:ext cx="1143000" cy="914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preamble</a:t>
            </a:r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7F8F785E-8B59-EA39-6FB1-3E6162974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276600"/>
            <a:ext cx="1447800" cy="9144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start</a:t>
            </a:r>
          </a:p>
          <a:p>
            <a:pPr algn="ctr"/>
            <a:r>
              <a:rPr lang="en-US" altLang="en-US"/>
              <a:t>frame</a:t>
            </a: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3F75A6C6-BC92-7387-87F8-8E0F48B61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76600"/>
            <a:ext cx="1143000" cy="914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source</a:t>
            </a:r>
          </a:p>
          <a:p>
            <a:pPr algn="ctr"/>
            <a:r>
              <a:rPr lang="en-US" altLang="en-US"/>
              <a:t>adrs</a:t>
            </a:r>
          </a:p>
        </p:txBody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0D882DE6-E627-2550-2C8F-6B5BD05F1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276600"/>
            <a:ext cx="914400" cy="9144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dest</a:t>
            </a:r>
          </a:p>
          <a:p>
            <a:pPr algn="ctr"/>
            <a:r>
              <a:rPr lang="en-US" altLang="en-US"/>
              <a:t>adrs</a:t>
            </a:r>
          </a:p>
        </p:txBody>
      </p:sp>
      <p:sp>
        <p:nvSpPr>
          <p:cNvPr id="31753" name="Rectangle 8">
            <a:extLst>
              <a:ext uri="{FF2B5EF4-FFF2-40B4-BE49-F238E27FC236}">
                <a16:creationId xmlns:a16="http://schemas.microsoft.com/office/drawing/2014/main" id="{7510BD6C-DDFA-8794-2849-6BE56AC56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276600"/>
            <a:ext cx="1219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  <a:p>
            <a:pPr algn="ctr"/>
            <a:r>
              <a:rPr lang="en-US" altLang="en-US"/>
              <a:t>payload</a:t>
            </a:r>
          </a:p>
        </p:txBody>
      </p:sp>
      <p:sp>
        <p:nvSpPr>
          <p:cNvPr id="31754" name="Rectangle 9">
            <a:extLst>
              <a:ext uri="{FF2B5EF4-FFF2-40B4-BE49-F238E27FC236}">
                <a16:creationId xmlns:a16="http://schemas.microsoft.com/office/drawing/2014/main" id="{797DD928-3088-CEBB-9019-66F1D4D48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76600"/>
            <a:ext cx="914400" cy="914400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length</a:t>
            </a:r>
            <a:endParaRPr lang="en-US" altLang="en-US"/>
          </a:p>
        </p:txBody>
      </p:sp>
      <p:sp>
        <p:nvSpPr>
          <p:cNvPr id="31755" name="Rectangle 10">
            <a:extLst>
              <a:ext uri="{FF2B5EF4-FFF2-40B4-BE49-F238E27FC236}">
                <a16:creationId xmlns:a16="http://schemas.microsoft.com/office/drawing/2014/main" id="{325AF681-7702-65FB-3C19-6ACEA1D73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276600"/>
            <a:ext cx="990600" cy="914400"/>
          </a:xfrm>
          <a:prstGeom prst="rect">
            <a:avLst/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padding</a:t>
            </a:r>
          </a:p>
        </p:txBody>
      </p:sp>
      <p:sp>
        <p:nvSpPr>
          <p:cNvPr id="31756" name="Rectangle 11">
            <a:extLst>
              <a:ext uri="{FF2B5EF4-FFF2-40B4-BE49-F238E27FC236}">
                <a16:creationId xmlns:a16="http://schemas.microsoft.com/office/drawing/2014/main" id="{FC7EFDDF-0D55-F0ED-DB51-249744B86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276600"/>
            <a:ext cx="685800" cy="914400"/>
          </a:xfrm>
          <a:prstGeom prst="rect">
            <a:avLst/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CRC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3">
            <a:extLst>
              <a:ext uri="{FF2B5EF4-FFF2-40B4-BE49-F238E27FC236}">
                <a16:creationId xmlns:a16="http://schemas.microsoft.com/office/drawing/2014/main" id="{A5678F7E-5C6E-6612-1DA1-620D4FB323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2771" name="Footer Placeholder 4">
            <a:extLst>
              <a:ext uri="{FF2B5EF4-FFF2-40B4-BE49-F238E27FC236}">
                <a16:creationId xmlns:a16="http://schemas.microsoft.com/office/drawing/2014/main" id="{0CC0641A-99DD-9DC7-81F9-464F4FAF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445F4150-156A-127A-1B11-A802521E0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Ethernet performance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025FF277-CE2B-F491-29D3-3EF6FC9E0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Quality-of-service tends to non-linearly decrease at high load levels.</a:t>
            </a:r>
          </a:p>
          <a:p>
            <a:r>
              <a:rPr lang="en-US" altLang="en-US"/>
              <a:t>Can’t guarantee real-time deadlines. However, may provide very good service at proper load levels.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3">
            <a:extLst>
              <a:ext uri="{FF2B5EF4-FFF2-40B4-BE49-F238E27FC236}">
                <a16:creationId xmlns:a16="http://schemas.microsoft.com/office/drawing/2014/main" id="{A6901D9A-31C4-53DE-77CB-D0460F4B80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3795" name="Footer Placeholder 4">
            <a:extLst>
              <a:ext uri="{FF2B5EF4-FFF2-40B4-BE49-F238E27FC236}">
                <a16:creationId xmlns:a16="http://schemas.microsoft.com/office/drawing/2014/main" id="{350FB9DA-1A20-7159-CE7A-1EE20612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139DD57E-B775-2C22-5650-FBE4F1B6B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Fieldbus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1D34D8D7-6A71-1922-5C21-E55C9E60C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Used for industrial control and instrumentation---factories, etc.</a:t>
            </a:r>
          </a:p>
          <a:p>
            <a:r>
              <a:rPr lang="en-US" altLang="en-US"/>
              <a:t>H1 standard based on 31.25 MB/s twisted pair medium.</a:t>
            </a:r>
          </a:p>
          <a:p>
            <a:r>
              <a:rPr lang="en-US" altLang="en-US"/>
              <a:t>High Speed Ethernet (HSE) standard based on 100 Mb/s Ethernet.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mporary Portrait">
  <a:themeElements>
    <a:clrScheme name="Contemporary Portrai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emporary Portrait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ntemporary Portrai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591</TotalTime>
  <Words>1142</Words>
  <Application>Microsoft Office PowerPoint</Application>
  <PresentationFormat>On-screen Show (4:3)</PresentationFormat>
  <Paragraphs>283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Contemporary Portrait</vt:lpstr>
      <vt:lpstr>Networking for Embedded Systems</vt:lpstr>
      <vt:lpstr>Network elements</vt:lpstr>
      <vt:lpstr>Networks in embedded systems</vt:lpstr>
      <vt:lpstr>Why distributed?</vt:lpstr>
      <vt:lpstr>Network abstractions</vt:lpstr>
      <vt:lpstr>OSI model</vt:lpstr>
      <vt:lpstr>OSI layers</vt:lpstr>
      <vt:lpstr>OSI layers, cont’d.</vt:lpstr>
      <vt:lpstr>Hardware architectures</vt:lpstr>
      <vt:lpstr>Point-to-point networks</vt:lpstr>
      <vt:lpstr>Bus networks</vt:lpstr>
      <vt:lpstr>Bus arbitration</vt:lpstr>
      <vt:lpstr>Crossbar</vt:lpstr>
      <vt:lpstr>Crossbar characteristics</vt:lpstr>
      <vt:lpstr>Multi-stage networks</vt:lpstr>
      <vt:lpstr>Message-based programming</vt:lpstr>
      <vt:lpstr>I2C bus</vt:lpstr>
      <vt:lpstr>I2C physical layer</vt:lpstr>
      <vt:lpstr>I2C data format</vt:lpstr>
      <vt:lpstr>I2C electrical interface</vt:lpstr>
      <vt:lpstr>I2C signaling</vt:lpstr>
      <vt:lpstr>I2C data link layer</vt:lpstr>
      <vt:lpstr>I2C bus arbitration</vt:lpstr>
      <vt:lpstr>I2C transmissions</vt:lpstr>
      <vt:lpstr>Ethernet</vt:lpstr>
      <vt:lpstr>Ethernet topology</vt:lpstr>
      <vt:lpstr>CSMA/CD</vt:lpstr>
      <vt:lpstr>Exponential back-off times</vt:lpstr>
      <vt:lpstr>Ethernet packet format</vt:lpstr>
      <vt:lpstr>Ethernet performance</vt:lpstr>
      <vt:lpstr>Fieldbus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for Embedded Systems</dc:title>
  <dc:creator>Preferred Customer</dc:creator>
  <cp:lastModifiedBy>Unknown User</cp:lastModifiedBy>
  <cp:revision>39</cp:revision>
  <dcterms:created xsi:type="dcterms:W3CDTF">2000-02-07T23:54:30Z</dcterms:created>
  <dcterms:modified xsi:type="dcterms:W3CDTF">2024-03-20T00:27:39Z</dcterms:modified>
</cp:coreProperties>
</file>